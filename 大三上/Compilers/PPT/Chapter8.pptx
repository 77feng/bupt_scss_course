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handoutMasterIdLst>
    <p:handoutMasterId r:id="rId7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9144000" cy="6858000" type="screen4x3"/>
  <p:notesSz cx="9144000" cy="6858000"/>
  <p:custDataLst>
    <p:tags r:id="rId77"/>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24" userDrawn="1">
          <p15:clr>
            <a:srgbClr val="A4A3A4"/>
          </p15:clr>
        </p15:guide>
        <p15:guide id="2" pos="21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615" autoAdjust="0"/>
  </p:normalViewPr>
  <p:slideViewPr>
    <p:cSldViewPr showGuides="1">
      <p:cViewPr varScale="1">
        <p:scale>
          <a:sx n="66" d="100"/>
          <a:sy n="66" d="100"/>
        </p:scale>
        <p:origin x="1496" y="52"/>
      </p:cViewPr>
      <p:guideLst>
        <p:guide orient="horz" pos="2824"/>
        <p:guide pos="219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675"/>
            </a:lvl1pPr>
          </a:lstStyle>
          <a:p>
            <a:endParaRPr lang="zh-CN" altLang="en-US"/>
          </a:p>
        </p:txBody>
      </p:sp>
      <p:sp>
        <p:nvSpPr>
          <p:cNvPr id="3" name="日期占位符 2"/>
          <p:cNvSpPr>
            <a:spLocks noGrp="1"/>
          </p:cNvSpPr>
          <p:nvPr>
            <p:ph type="dt" sz="quarter" idx="1"/>
          </p:nvPr>
        </p:nvSpPr>
        <p:spPr>
          <a:xfrm>
            <a:off x="6905979" y="0"/>
            <a:ext cx="5283200" cy="258068"/>
          </a:xfrm>
          <a:prstGeom prst="rect">
            <a:avLst/>
          </a:prstGeom>
        </p:spPr>
        <p:txBody>
          <a:bodyPr vert="horz" lIns="91440" tIns="45720" rIns="91440" bIns="45720" rtlCol="0"/>
          <a:lstStyle>
            <a:lvl1pPr algn="r">
              <a:defRPr sz="675"/>
            </a:lvl1pPr>
          </a:lstStyle>
          <a:p>
            <a:fld id="{0F9B84EA-7D68-4D60-9CB1-D50884785D1C}" type="datetimeFigureOut">
              <a:rPr lang="zh-CN" altLang="en-US" smtClean="0"/>
              <a:t>2024/12/20</a:t>
            </a:fld>
            <a:endParaRPr lang="zh-CN" altLang="en-US"/>
          </a:p>
        </p:txBody>
      </p:sp>
      <p:sp>
        <p:nvSpPr>
          <p:cNvPr id="4" name="页脚占位符 3"/>
          <p:cNvSpPr>
            <a:spLocks noGrp="1"/>
          </p:cNvSpPr>
          <p:nvPr>
            <p:ph type="ftr" sz="quarter" idx="2"/>
          </p:nvPr>
        </p:nvSpPr>
        <p:spPr>
          <a:xfrm>
            <a:off x="0" y="4885432"/>
            <a:ext cx="5283200" cy="258068"/>
          </a:xfrm>
          <a:prstGeom prst="rect">
            <a:avLst/>
          </a:prstGeom>
        </p:spPr>
        <p:txBody>
          <a:bodyPr vert="horz" lIns="91440" tIns="45720" rIns="91440" bIns="45720" rtlCol="0" anchor="b"/>
          <a:lstStyle>
            <a:lvl1pPr algn="l">
              <a:defRPr sz="675"/>
            </a:lvl1pPr>
          </a:lstStyle>
          <a:p>
            <a:endParaRPr lang="zh-CN" altLang="en-US"/>
          </a:p>
        </p:txBody>
      </p:sp>
      <p:sp>
        <p:nvSpPr>
          <p:cNvPr id="5" name="灯片编号占位符 4"/>
          <p:cNvSpPr>
            <a:spLocks noGrp="1"/>
          </p:cNvSpPr>
          <p:nvPr>
            <p:ph type="sldNum" sz="quarter" idx="3"/>
          </p:nvPr>
        </p:nvSpPr>
        <p:spPr>
          <a:xfrm>
            <a:off x="6905979" y="4885432"/>
            <a:ext cx="5283200" cy="258068"/>
          </a:xfrm>
          <a:prstGeom prst="rect">
            <a:avLst/>
          </a:prstGeom>
        </p:spPr>
        <p:txBody>
          <a:bodyPr vert="horz" lIns="91440" tIns="45720" rIns="91440" bIns="45720" rtlCol="0" anchor="b"/>
          <a:lstStyle>
            <a:lvl1pPr algn="r">
              <a:defRPr sz="67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2024/12/20</a:t>
            </a:fld>
            <a:endParaRPr lang="zh-CN" altLang="en-US"/>
          </a:p>
        </p:txBody>
      </p:sp>
      <p:sp>
        <p:nvSpPr>
          <p:cNvPr id="4" name="幻灯片图像占位符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果我们简单地将每个高级语言结构独立地翻译成机器代码，可能会带来大量的运行时开销。本章讨论如何消除许多此类低效率问题。消除目标代码中不必要的指令，或者用执行相同操作的更快指令序列替换一个指令序列通常称为“代码改进”或“代码优化”。局部代码优化（基本块内的代码改进）在第</a:t>
            </a:r>
            <a:r>
              <a:rPr lang="en-US" altLang="zh-CN" sz="1200" kern="1200" dirty="0">
                <a:solidFill>
                  <a:schemeClr val="tx1"/>
                </a:solidFill>
                <a:effectLst/>
                <a:latin typeface="+mn-lt"/>
                <a:ea typeface="+mn-ea"/>
                <a:cs typeface="+mn-cs"/>
              </a:rPr>
              <a:t> 8.5 </a:t>
            </a:r>
            <a:r>
              <a:rPr lang="zh-CN" altLang="zh-CN" sz="1200" kern="1200" dirty="0">
                <a:solidFill>
                  <a:schemeClr val="tx1"/>
                </a:solidFill>
                <a:effectLst/>
                <a:latin typeface="+mn-lt"/>
                <a:ea typeface="+mn-ea"/>
                <a:cs typeface="+mn-cs"/>
              </a:rPr>
              <a:t>节中介绍。本章讨论全局代码优化，其中改进考虑多个基本块中发生的情况。</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910857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我们从第</a:t>
            </a:r>
            <a:r>
              <a:rPr lang="en-US" altLang="zh-CN" sz="1200" kern="1200" dirty="0">
                <a:solidFill>
                  <a:schemeClr val="tx1"/>
                </a:solidFill>
                <a:effectLst/>
                <a:latin typeface="+mn-lt"/>
                <a:ea typeface="+mn-ea"/>
                <a:cs typeface="+mn-cs"/>
              </a:rPr>
              <a:t> 9.1 </a:t>
            </a:r>
            <a:r>
              <a:rPr lang="zh-CN" altLang="zh-CN" sz="1200" kern="1200" dirty="0">
                <a:solidFill>
                  <a:schemeClr val="tx1"/>
                </a:solidFill>
                <a:effectLst/>
                <a:latin typeface="+mn-lt"/>
                <a:ea typeface="+mn-ea"/>
                <a:cs typeface="+mn-cs"/>
              </a:rPr>
              <a:t>节开始讨论代码改进的主要机会。</a:t>
            </a:r>
          </a:p>
          <a:p>
            <a:r>
              <a:rPr lang="zh-CN" altLang="zh-CN" sz="1200" kern="1200" dirty="0">
                <a:solidFill>
                  <a:schemeClr val="tx1"/>
                </a:solidFill>
                <a:effectLst/>
                <a:latin typeface="+mn-lt"/>
                <a:ea typeface="+mn-ea"/>
                <a:cs typeface="+mn-cs"/>
              </a:rPr>
              <a:t>大多数全局优化都基于数据流分析，数据流分析是收集程序信息的算法。所有数据流分析的结果都具有相同的形式：对于程序中的每条指令，它们描述了该指令每次执行时必然成立的一些性质。不同性质的分析方法各不相同。例如，常数传播分析要判断在程序中的每个点上，程序使用的</a:t>
            </a:r>
            <a:r>
              <a:rPr lang="zh-CN" altLang="en-US" sz="1200" kern="1200" dirty="0">
                <a:solidFill>
                  <a:schemeClr val="tx1"/>
                </a:solidFill>
                <a:effectLst/>
                <a:latin typeface="+mn-lt"/>
                <a:ea typeface="+mn-ea"/>
                <a:cs typeface="+mn-cs"/>
              </a:rPr>
              <a:t>各</a:t>
            </a:r>
            <a:r>
              <a:rPr lang="zh-CN" altLang="zh-CN" sz="1200" kern="1200" dirty="0">
                <a:solidFill>
                  <a:schemeClr val="tx1"/>
                </a:solidFill>
                <a:effectLst/>
                <a:latin typeface="+mn-lt"/>
                <a:ea typeface="+mn-ea"/>
                <a:cs typeface="+mn-cs"/>
              </a:rPr>
              <a:t>个变量是否在该点上具有唯一的常量值。例如，该信息可用于把变量引用替换为常量值。另一个示例，活跃性分析确定在程序中的每个点上，在某个变量中所保存的值是否回在读取之前被覆盖掉。如果是这样，我们就不需要将该值保留在寄存器或内存位置中。</a:t>
            </a:r>
          </a:p>
          <a:p>
            <a:r>
              <a:rPr lang="zh-CN" altLang="zh-CN" sz="1200" kern="1200" dirty="0">
                <a:solidFill>
                  <a:schemeClr val="tx1"/>
                </a:solidFill>
                <a:effectLst/>
                <a:latin typeface="+mn-lt"/>
                <a:ea typeface="+mn-ea"/>
                <a:cs typeface="+mn-cs"/>
              </a:rPr>
              <a:t>我们在第</a:t>
            </a:r>
            <a:r>
              <a:rPr lang="en-US" altLang="zh-CN" sz="1200" kern="1200" dirty="0">
                <a:solidFill>
                  <a:schemeClr val="tx1"/>
                </a:solidFill>
                <a:effectLst/>
                <a:latin typeface="+mn-lt"/>
                <a:ea typeface="+mn-ea"/>
                <a:cs typeface="+mn-cs"/>
              </a:rPr>
              <a:t> 9.2 </a:t>
            </a:r>
            <a:r>
              <a:rPr lang="zh-CN" altLang="zh-CN" sz="1200" kern="1200" dirty="0">
                <a:solidFill>
                  <a:schemeClr val="tx1"/>
                </a:solidFill>
                <a:effectLst/>
                <a:latin typeface="+mn-lt"/>
                <a:ea typeface="+mn-ea"/>
                <a:cs typeface="+mn-cs"/>
              </a:rPr>
              <a:t>节中介绍了数据流分析，其中还包括几个重要的例子，说明我们如何使用在全局范围内收集到的信息来改进代码。第</a:t>
            </a:r>
            <a:r>
              <a:rPr lang="en-US" altLang="zh-CN" sz="1200" kern="1200" dirty="0">
                <a:solidFill>
                  <a:schemeClr val="tx1"/>
                </a:solidFill>
                <a:effectLst/>
                <a:latin typeface="+mn-lt"/>
                <a:ea typeface="+mn-ea"/>
                <a:cs typeface="+mn-cs"/>
              </a:rPr>
              <a:t>9.3</a:t>
            </a:r>
            <a:r>
              <a:rPr lang="zh-CN" altLang="zh-CN" sz="1200" kern="1200" dirty="0">
                <a:solidFill>
                  <a:schemeClr val="tx1"/>
                </a:solidFill>
                <a:effectLst/>
                <a:latin typeface="+mn-lt"/>
                <a:ea typeface="+mn-ea"/>
                <a:cs typeface="+mn-cs"/>
              </a:rPr>
              <a:t>节介绍了一个数据流框架的总体思想，第</a:t>
            </a:r>
            <a:r>
              <a:rPr lang="en-US" altLang="zh-CN" sz="1200" kern="1200" dirty="0">
                <a:solidFill>
                  <a:schemeClr val="tx1"/>
                </a:solidFill>
                <a:effectLst/>
                <a:latin typeface="+mn-lt"/>
                <a:ea typeface="+mn-ea"/>
                <a:cs typeface="+mn-cs"/>
              </a:rPr>
              <a:t>9.2</a:t>
            </a:r>
            <a:r>
              <a:rPr lang="zh-CN" altLang="zh-CN" sz="1200" kern="1200" dirty="0">
                <a:solidFill>
                  <a:schemeClr val="tx1"/>
                </a:solidFill>
                <a:effectLst/>
                <a:latin typeface="+mn-lt"/>
                <a:ea typeface="+mn-ea"/>
                <a:cs typeface="+mn-cs"/>
              </a:rPr>
              <a:t>节中的数据流分析是其中的特例。我们可以对所有这些数据流分析实例使用本质上相同的算法，并且我们可以衡量这些算法的性能，并在所有实例上显示它们的正确性。</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94031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代码优化（或代码改进）</a:t>
            </a:r>
          </a:p>
          <a:p>
            <a:pPr lvl="1"/>
            <a:r>
              <a:rPr lang="zh-CN" altLang="en-US" dirty="0"/>
              <a:t>消除目标代码中不必要的指令</a:t>
            </a:r>
          </a:p>
          <a:p>
            <a:pPr lvl="1"/>
            <a:r>
              <a:rPr lang="zh-CN" altLang="en-US" dirty="0"/>
              <a:t>用做同样事情的更快指令序列替代一个指令序列</a:t>
            </a:r>
          </a:p>
          <a:p>
            <a:r>
              <a:rPr lang="zh-CN" altLang="en-US" dirty="0"/>
              <a:t>全局优化</a:t>
            </a:r>
          </a:p>
          <a:p>
            <a:pPr lvl="1"/>
            <a:r>
              <a:rPr lang="zh-CN" altLang="en-US" dirty="0"/>
              <a:t>大多数全局优化都基于数据流分析</a:t>
            </a:r>
          </a:p>
          <a:p>
            <a:pPr lvl="1"/>
            <a:r>
              <a:rPr lang="zh-CN" altLang="en-US" dirty="0"/>
              <a:t>数据流分析：收集程序信息的算法</a:t>
            </a:r>
          </a:p>
          <a:p>
            <a:r>
              <a:rPr lang="zh-CN" altLang="en-US" dirty="0"/>
              <a:t>编译器只知道如何应用相对低级的语义转换来优化代码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典型的程序中存在很多冗余操作。</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有时，在源代码中会用到冗余。例如，程序员可能会发现重新计算某些结果更加直接和方便，而让编译器去发现实际上只需要进行一次这样的计算。</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但更多的时候，冗余是使用高级语言编写程序的副产品。</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在大多数语言中（</a:t>
            </a:r>
            <a:r>
              <a:rPr lang="zh-CN" altLang="en-US" sz="1200" kern="1200" dirty="0">
                <a:solidFill>
                  <a:schemeClr val="tx1"/>
                </a:solidFill>
                <a:effectLst/>
                <a:latin typeface="+mn-lt"/>
                <a:ea typeface="+mn-ea"/>
                <a:cs typeface="+mn-cs"/>
              </a:rPr>
              <a:t>不包含</a:t>
            </a:r>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C++</a:t>
            </a:r>
            <a:r>
              <a:rPr lang="zh-CN" altLang="en-US" sz="1200" kern="1200" dirty="0">
                <a:solidFill>
                  <a:schemeClr val="tx1"/>
                </a:solidFill>
                <a:effectLst/>
                <a:latin typeface="+mn-lt"/>
                <a:ea typeface="+mn-ea"/>
                <a:cs typeface="+mn-cs"/>
              </a:rPr>
              <a:t>，它们</a:t>
            </a:r>
            <a:r>
              <a:rPr lang="zh-CN" altLang="zh-CN" sz="1200" kern="1200" dirty="0">
                <a:solidFill>
                  <a:schemeClr val="tx1"/>
                </a:solidFill>
                <a:effectLst/>
                <a:latin typeface="+mn-lt"/>
                <a:ea typeface="+mn-ea"/>
                <a:cs typeface="+mn-cs"/>
              </a:rPr>
              <a:t>允许</a:t>
            </a:r>
            <a:r>
              <a:rPr lang="zh-CN" altLang="en-US" sz="1200" kern="1200" dirty="0">
                <a:solidFill>
                  <a:schemeClr val="tx1"/>
                </a:solidFill>
                <a:effectLst/>
                <a:latin typeface="+mn-lt"/>
                <a:ea typeface="+mn-ea"/>
                <a:cs typeface="+mn-cs"/>
              </a:rPr>
              <a:t>对</a:t>
            </a:r>
            <a:r>
              <a:rPr lang="zh-CN" altLang="zh-CN" sz="1200" kern="1200" dirty="0">
                <a:solidFill>
                  <a:schemeClr val="tx1"/>
                </a:solidFill>
                <a:effectLst/>
                <a:latin typeface="+mn-lt"/>
                <a:ea typeface="+mn-ea"/>
                <a:cs typeface="+mn-cs"/>
              </a:rPr>
              <a:t>指针</a:t>
            </a:r>
            <a:r>
              <a:rPr lang="zh-CN" altLang="en-US" sz="1200" kern="1200" dirty="0">
                <a:solidFill>
                  <a:schemeClr val="tx1"/>
                </a:solidFill>
                <a:effectLst/>
                <a:latin typeface="+mn-lt"/>
                <a:ea typeface="+mn-ea"/>
                <a:cs typeface="+mn-cs"/>
              </a:rPr>
              <a:t>进行</a:t>
            </a:r>
            <a:r>
              <a:rPr lang="zh-CN" altLang="zh-CN" sz="1200" kern="1200" dirty="0">
                <a:solidFill>
                  <a:schemeClr val="tx1"/>
                </a:solidFill>
                <a:effectLst/>
                <a:latin typeface="+mn-lt"/>
                <a:ea typeface="+mn-ea"/>
                <a:cs typeface="+mn-cs"/>
              </a:rPr>
              <a:t>算术</a:t>
            </a:r>
            <a:r>
              <a:rPr lang="zh-CN" altLang="en-US" sz="1200" kern="1200" dirty="0">
                <a:solidFill>
                  <a:schemeClr val="tx1"/>
                </a:solidFill>
                <a:effectLst/>
                <a:latin typeface="+mn-lt"/>
                <a:ea typeface="+mn-ea"/>
                <a:cs typeface="+mn-cs"/>
              </a:rPr>
              <a:t>运算</a:t>
            </a:r>
            <a:r>
              <a:rPr lang="zh-CN" altLang="zh-CN" sz="1200" kern="1200" dirty="0">
                <a:solidFill>
                  <a:schemeClr val="tx1"/>
                </a:solidFill>
                <a:effectLst/>
                <a:latin typeface="+mn-lt"/>
                <a:ea typeface="+mn-ea"/>
                <a:cs typeface="+mn-cs"/>
              </a:rPr>
              <a:t>），程序员别无选择，只能通过</a:t>
            </a:r>
            <a:r>
              <a:rPr lang="en-US" altLang="zh-CN" sz="1200" kern="1200" dirty="0">
                <a:solidFill>
                  <a:schemeClr val="tx1"/>
                </a:solidFill>
                <a:effectLst/>
                <a:latin typeface="+mn-lt"/>
                <a:ea typeface="+mn-ea"/>
                <a:cs typeface="+mn-cs"/>
              </a:rPr>
              <a:t> A[</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][j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X</a:t>
            </a:r>
            <a:r>
              <a:rPr lang="zh-CN" altLang="en-US" dirty="0"/>
              <a:t>→ 𝑓1</a:t>
            </a:r>
            <a:r>
              <a:rPr lang="zh-CN" altLang="zh-CN" sz="1200" kern="1200" dirty="0">
                <a:solidFill>
                  <a:schemeClr val="tx1"/>
                </a:solidFill>
                <a:effectLst/>
                <a:latin typeface="+mn-lt"/>
                <a:ea typeface="+mn-ea"/>
                <a:cs typeface="+mn-cs"/>
              </a:rPr>
              <a:t>之类的访问来引用数组的元素或结构中的字段。</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当程序被编译时，每一个这样的高级数据结构访问都会被扩展为多个低层次的算术运算，例如计算一个矩阵</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的第</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j) </a:t>
            </a:r>
            <a:r>
              <a:rPr lang="zh-CN" altLang="zh-CN" sz="1200" kern="1200" dirty="0">
                <a:solidFill>
                  <a:schemeClr val="tx1"/>
                </a:solidFill>
                <a:effectLst/>
                <a:latin typeface="+mn-lt"/>
                <a:ea typeface="+mn-ea"/>
                <a:cs typeface="+mn-cs"/>
              </a:rPr>
              <a:t>个元素的位置的运算。</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对于同一个数据结构的访问通常共享许多公共的低级运算。程序员不知道这些低级运算，也无法自行消除这些冗余。事实上，从软件工程的角度来看，程序员最好只通过数据元素的高级名字来访问它们。</a:t>
            </a:r>
            <a:r>
              <a:rPr lang="zh-CN" altLang="en-US" sz="1200" kern="1200" dirty="0">
                <a:solidFill>
                  <a:schemeClr val="tx1"/>
                </a:solidFill>
                <a:effectLst/>
                <a:latin typeface="+mn-lt"/>
                <a:ea typeface="+mn-ea"/>
                <a:cs typeface="+mn-cs"/>
              </a:rPr>
              <a:t>这样</a:t>
            </a:r>
            <a:r>
              <a:rPr lang="zh-CN" altLang="zh-CN" sz="1200" kern="1200" dirty="0">
                <a:solidFill>
                  <a:schemeClr val="tx1"/>
                </a:solidFill>
                <a:effectLst/>
                <a:latin typeface="+mn-lt"/>
                <a:ea typeface="+mn-ea"/>
                <a:cs typeface="+mn-cs"/>
              </a:rPr>
              <a:t>程序更容易编写，更重要的是，更容易理解和演化。通过让编译器消除冗余，我们可以两全其美：程序既高效又易于维护。</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altLang="zh-CN" dirty="0"/>
          </a:p>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接下来，我们将使用名为快速排序的排序程序片段来说明几个重要的可以改进代码的转换。</a:t>
            </a:r>
            <a:endParaRPr lang="en-US" altLang="zh-CN" dirty="0"/>
          </a:p>
          <a:p>
            <a:r>
              <a:rPr lang="zh-CN" altLang="en-US" dirty="0"/>
              <a:t>图 </a:t>
            </a:r>
            <a:r>
              <a:rPr lang="en-US" altLang="zh-CN" dirty="0"/>
              <a:t>9.1 </a:t>
            </a:r>
            <a:r>
              <a:rPr lang="zh-CN" altLang="en-US" dirty="0"/>
              <a:t>中的 </a:t>
            </a:r>
            <a:r>
              <a:rPr lang="en-US" altLang="zh-CN" dirty="0"/>
              <a:t>C </a:t>
            </a:r>
            <a:r>
              <a:rPr lang="zh-CN" altLang="en-US" dirty="0"/>
              <a:t>程序源自 </a:t>
            </a:r>
            <a:r>
              <a:rPr lang="en-US" altLang="zh-CN" dirty="0"/>
              <a:t>Sedgewick</a:t>
            </a:r>
            <a:r>
              <a:rPr lang="zh-CN" altLang="en-US" dirty="0"/>
              <a:t>，它讨论了如何对这样一个程序进行手工优化。我们不会在这里讨论这个程序在算法方面的所有微妙的细节，例如，</a:t>
            </a:r>
            <a:r>
              <a:rPr lang="en-US" altLang="zh-CN" dirty="0"/>
              <a:t>a[0] </a:t>
            </a:r>
            <a:r>
              <a:rPr lang="zh-CN" altLang="en-US" dirty="0"/>
              <a:t>必然存放着已排好序的元素的最小者，而 </a:t>
            </a:r>
            <a:r>
              <a:rPr lang="en-US" altLang="zh-CN" dirty="0"/>
              <a:t>a[max]</a:t>
            </a:r>
            <a:r>
              <a:rPr lang="zh-CN" altLang="en-US" dirty="0"/>
              <a:t>则存放最大的元素。</a:t>
            </a:r>
            <a:endParaRPr lang="en-US" altLang="zh-CN" dirty="0"/>
          </a:p>
          <a:p>
            <a:r>
              <a:rPr lang="zh-CN" altLang="zh-CN" sz="1200" kern="1200" dirty="0">
                <a:solidFill>
                  <a:schemeClr val="tx1"/>
                </a:solidFill>
                <a:effectLst/>
                <a:latin typeface="+mn-lt"/>
                <a:ea typeface="+mn-ea"/>
                <a:cs typeface="+mn-cs"/>
              </a:rPr>
              <a:t>在我们可以优化掉地址计算中的冗余之前，必须首先将程序中的地址运算分解为低级算术运算，这样才能暴露处冗余之处。在本章的其余部分中，我们假设中间表示形式由三地址语句组成，其中所有中间表达式的结果都由临时变量来保存。图</a:t>
            </a:r>
            <a:r>
              <a:rPr lang="en-US" altLang="zh-CN" sz="1200" kern="1200" dirty="0">
                <a:solidFill>
                  <a:schemeClr val="tx1"/>
                </a:solidFill>
                <a:effectLst/>
                <a:latin typeface="+mn-lt"/>
                <a:ea typeface="+mn-ea"/>
                <a:cs typeface="+mn-cs"/>
              </a:rPr>
              <a:t>9.1</a:t>
            </a:r>
            <a:r>
              <a:rPr lang="zh-CN" altLang="zh-CN" sz="1200" kern="1200" dirty="0">
                <a:solidFill>
                  <a:schemeClr val="tx1"/>
                </a:solidFill>
                <a:effectLst/>
                <a:latin typeface="+mn-lt"/>
                <a:ea typeface="+mn-ea"/>
                <a:cs typeface="+mn-cs"/>
              </a:rPr>
              <a:t>中标记的程序片段的中间代码如图</a:t>
            </a:r>
            <a:r>
              <a:rPr lang="en-US" altLang="zh-CN" sz="1200" kern="1200" dirty="0">
                <a:solidFill>
                  <a:schemeClr val="tx1"/>
                </a:solidFill>
                <a:effectLst/>
                <a:latin typeface="+mn-lt"/>
                <a:ea typeface="+mn-ea"/>
                <a:cs typeface="+mn-cs"/>
              </a:rPr>
              <a:t>9.2</a:t>
            </a:r>
            <a:r>
              <a:rPr lang="zh-CN" altLang="zh-CN" sz="1200" kern="1200" dirty="0">
                <a:solidFill>
                  <a:schemeClr val="tx1"/>
                </a:solidFill>
                <a:effectLst/>
                <a:latin typeface="+mn-lt"/>
                <a:ea typeface="+mn-ea"/>
                <a:cs typeface="+mn-cs"/>
              </a:rPr>
              <a:t>所示。</a:t>
            </a:r>
          </a:p>
          <a:p>
            <a:r>
              <a:rPr lang="zh-CN" altLang="zh-CN" sz="1200" kern="1200" dirty="0">
                <a:solidFill>
                  <a:schemeClr val="tx1"/>
                </a:solidFill>
                <a:effectLst/>
                <a:latin typeface="+mn-lt"/>
                <a:ea typeface="+mn-ea"/>
                <a:cs typeface="+mn-cs"/>
              </a:rPr>
              <a:t>在这个例子中，我们假设整数占用四个字节。</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331848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赋值</a:t>
            </a:r>
            <a:r>
              <a:rPr lang="zh-CN" altLang="en-US" sz="1200" kern="1200" dirty="0">
                <a:solidFill>
                  <a:schemeClr val="tx1"/>
                </a:solidFill>
                <a:effectLst/>
                <a:latin typeface="+mn-lt"/>
                <a:ea typeface="+mn-ea"/>
                <a:cs typeface="+mn-cs"/>
              </a:rPr>
              <a:t>运算</a:t>
            </a:r>
            <a:r>
              <a:rPr lang="en-US" altLang="zh-CN" sz="1200" kern="1200" dirty="0">
                <a:solidFill>
                  <a:schemeClr val="tx1"/>
                </a:solidFill>
                <a:effectLst/>
                <a:latin typeface="+mn-lt"/>
                <a:ea typeface="+mn-ea"/>
                <a:cs typeface="+mn-cs"/>
              </a:rPr>
              <a:t> x = a[</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按照第</a:t>
            </a:r>
            <a:r>
              <a:rPr lang="en-US" altLang="zh-CN" sz="1200" kern="1200" dirty="0">
                <a:solidFill>
                  <a:schemeClr val="tx1"/>
                </a:solidFill>
                <a:effectLst/>
                <a:latin typeface="+mn-lt"/>
                <a:ea typeface="+mn-ea"/>
                <a:cs typeface="+mn-cs"/>
              </a:rPr>
              <a:t> 6.4.4 </a:t>
            </a:r>
            <a:r>
              <a:rPr lang="zh-CN" altLang="zh-CN" sz="1200" kern="1200" dirty="0">
                <a:solidFill>
                  <a:schemeClr val="tx1"/>
                </a:solidFill>
                <a:effectLst/>
                <a:latin typeface="+mn-lt"/>
                <a:ea typeface="+mn-ea"/>
                <a:cs typeface="+mn-cs"/>
              </a:rPr>
              <a:t>节翻译为两个三地址语句</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15</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类似的，</a:t>
            </a:r>
            <a:r>
              <a:rPr lang="en-US" altLang="zh-CN" sz="1200" spc="-5" dirty="0">
                <a:solidFill>
                  <a:srgbClr val="FF0000"/>
                </a:solidFill>
                <a:latin typeface="Consolas" panose="020B0609020204030204"/>
                <a:cs typeface="Consolas" panose="020B0609020204030204"/>
              </a:rPr>
              <a:t>a[j]</a:t>
            </a:r>
            <a:r>
              <a:rPr lang="en-US" altLang="zh-CN" sz="1200" spc="-50" dirty="0">
                <a:solidFill>
                  <a:srgbClr val="FF0000"/>
                </a:solidFill>
                <a:latin typeface="Consolas" panose="020B0609020204030204"/>
                <a:cs typeface="Consolas" panose="020B0609020204030204"/>
              </a:rPr>
              <a:t> </a:t>
            </a:r>
            <a:r>
              <a:rPr lang="en-US" altLang="zh-CN" sz="1200" dirty="0">
                <a:solidFill>
                  <a:srgbClr val="FF0000"/>
                </a:solidFill>
                <a:latin typeface="Consolas" panose="020B0609020204030204"/>
                <a:cs typeface="Consolas" panose="020B0609020204030204"/>
              </a:rPr>
              <a:t>=</a:t>
            </a:r>
            <a:r>
              <a:rPr lang="en-US" altLang="zh-CN" sz="1200" spc="-50" dirty="0">
                <a:solidFill>
                  <a:srgbClr val="FF0000"/>
                </a:solidFill>
                <a:latin typeface="Consolas" panose="020B0609020204030204"/>
                <a:cs typeface="Consolas" panose="020B0609020204030204"/>
              </a:rPr>
              <a:t> </a:t>
            </a:r>
            <a:r>
              <a:rPr lang="en-US" altLang="zh-CN" sz="1200" dirty="0">
                <a:solidFill>
                  <a:srgbClr val="FF0000"/>
                </a:solidFill>
                <a:latin typeface="Consolas" panose="020B0609020204030204"/>
                <a:cs typeface="Consolas" panose="020B0609020204030204"/>
              </a:rPr>
              <a:t>x</a:t>
            </a:r>
            <a:r>
              <a:rPr lang="zh-CN" altLang="en-US" sz="1200" dirty="0">
                <a:solidFill>
                  <a:srgbClr val="FF0000"/>
                </a:solidFill>
                <a:latin typeface="Consolas" panose="020B0609020204030204"/>
                <a:cs typeface="Consolas" panose="020B0609020204030204"/>
              </a:rPr>
              <a:t>变成了（</a:t>
            </a:r>
            <a:r>
              <a:rPr lang="en-US" altLang="zh-CN" sz="1200" dirty="0">
                <a:solidFill>
                  <a:srgbClr val="FF0000"/>
                </a:solidFill>
                <a:latin typeface="Consolas" panose="020B0609020204030204"/>
                <a:cs typeface="Consolas" panose="020B0609020204030204"/>
              </a:rPr>
              <a:t>20</a:t>
            </a:r>
            <a:r>
              <a:rPr lang="zh-CN" altLang="en-US" sz="1200" dirty="0">
                <a:solidFill>
                  <a:srgbClr val="FF0000"/>
                </a:solidFill>
                <a:latin typeface="Consolas" panose="020B0609020204030204"/>
                <a:cs typeface="Consolas" panose="020B0609020204030204"/>
              </a:rPr>
              <a:t>）、（</a:t>
            </a:r>
            <a:r>
              <a:rPr lang="en-US" altLang="zh-CN" sz="1200" dirty="0">
                <a:solidFill>
                  <a:srgbClr val="FF0000"/>
                </a:solidFill>
                <a:latin typeface="Consolas" panose="020B0609020204030204"/>
                <a:cs typeface="Consolas" panose="020B0609020204030204"/>
              </a:rPr>
              <a:t>21</a:t>
            </a:r>
            <a:r>
              <a:rPr lang="zh-CN" altLang="en-US" sz="1200" dirty="0">
                <a:solidFill>
                  <a:srgbClr val="FF0000"/>
                </a:solidFill>
                <a:latin typeface="Consolas" panose="020B0609020204030204"/>
                <a:cs typeface="Consolas" panose="020B0609020204030204"/>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请注意，原始程序中的每个数组访问都会转换为一对语句，包括</a:t>
            </a:r>
            <a:r>
              <a:rPr lang="zh-CN" altLang="en-US" sz="1200" kern="1200" dirty="0">
                <a:solidFill>
                  <a:schemeClr val="tx1"/>
                </a:solidFill>
                <a:effectLst/>
                <a:latin typeface="+mn-lt"/>
                <a:ea typeface="+mn-ea"/>
                <a:cs typeface="+mn-cs"/>
              </a:rPr>
              <a:t>一个</a:t>
            </a:r>
            <a:r>
              <a:rPr lang="zh-CN" altLang="zh-CN" sz="1200" kern="1200" dirty="0">
                <a:solidFill>
                  <a:schemeClr val="tx1"/>
                </a:solidFill>
                <a:effectLst/>
                <a:latin typeface="+mn-lt"/>
                <a:ea typeface="+mn-ea"/>
                <a:cs typeface="+mn-cs"/>
              </a:rPr>
              <a:t>乘法和</a:t>
            </a:r>
            <a:r>
              <a:rPr lang="zh-CN" altLang="en-US" sz="1200" kern="1200" dirty="0">
                <a:solidFill>
                  <a:schemeClr val="tx1"/>
                </a:solidFill>
                <a:effectLst/>
                <a:latin typeface="+mn-lt"/>
                <a:ea typeface="+mn-ea"/>
                <a:cs typeface="+mn-cs"/>
              </a:rPr>
              <a:t>一个</a:t>
            </a:r>
            <a:r>
              <a:rPr lang="zh-CN" altLang="zh-CN" sz="1200" kern="1200" dirty="0">
                <a:solidFill>
                  <a:schemeClr val="tx1"/>
                </a:solidFill>
                <a:effectLst/>
                <a:latin typeface="+mn-lt"/>
                <a:ea typeface="+mn-ea"/>
                <a:cs typeface="+mn-cs"/>
              </a:rPr>
              <a:t>数组下标运算。结果，这个短</a:t>
            </a:r>
            <a:r>
              <a:rPr lang="zh-CN" altLang="en-US" sz="1200" kern="1200" dirty="0">
                <a:solidFill>
                  <a:schemeClr val="tx1"/>
                </a:solidFill>
                <a:effectLst/>
                <a:latin typeface="+mn-lt"/>
                <a:ea typeface="+mn-ea"/>
                <a:cs typeface="+mn-cs"/>
              </a:rPr>
              <a:t>短</a:t>
            </a:r>
            <a:r>
              <a:rPr lang="zh-CN" altLang="zh-CN" sz="1200" kern="1200" dirty="0">
                <a:solidFill>
                  <a:schemeClr val="tx1"/>
                </a:solidFill>
                <a:effectLst/>
                <a:latin typeface="+mn-lt"/>
                <a:ea typeface="+mn-ea"/>
                <a:cs typeface="+mn-cs"/>
              </a:rPr>
              <a:t>的程序片段被翻译成一个相当长的三地址运算序列。</a:t>
            </a: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557789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9.3 </a:t>
            </a:r>
            <a:r>
              <a:rPr lang="zh-CN" altLang="zh-CN" sz="1200" kern="1200" dirty="0">
                <a:solidFill>
                  <a:schemeClr val="tx1"/>
                </a:solidFill>
                <a:effectLst/>
                <a:latin typeface="+mn-lt"/>
                <a:ea typeface="+mn-ea"/>
                <a:cs typeface="+mn-cs"/>
              </a:rPr>
              <a:t>是图</a:t>
            </a:r>
            <a:r>
              <a:rPr lang="en-US" altLang="zh-CN" sz="1200" kern="1200" dirty="0">
                <a:solidFill>
                  <a:schemeClr val="tx1"/>
                </a:solidFill>
                <a:effectLst/>
                <a:latin typeface="+mn-lt"/>
                <a:ea typeface="+mn-ea"/>
                <a:cs typeface="+mn-cs"/>
              </a:rPr>
              <a:t> 9.2 </a:t>
            </a:r>
            <a:r>
              <a:rPr lang="zh-CN" altLang="zh-CN" sz="1200" kern="1200" dirty="0">
                <a:solidFill>
                  <a:schemeClr val="tx1"/>
                </a:solidFill>
                <a:effectLst/>
                <a:latin typeface="+mn-lt"/>
                <a:ea typeface="+mn-ea"/>
                <a:cs typeface="+mn-cs"/>
              </a:rPr>
              <a:t>中程序的流图。</a:t>
            </a:r>
            <a:r>
              <a:rPr lang="en-US" altLang="zh-CN"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B1 </a:t>
            </a:r>
            <a:r>
              <a:rPr lang="zh-CN" altLang="zh-CN" sz="1200" kern="1200" dirty="0">
                <a:solidFill>
                  <a:schemeClr val="tx1"/>
                </a:solidFill>
                <a:effectLst/>
                <a:latin typeface="+mn-lt"/>
                <a:ea typeface="+mn-ea"/>
                <a:cs typeface="+mn-cs"/>
              </a:rPr>
              <a:t>块是其入口结点。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8.4</a:t>
            </a:r>
            <a:r>
              <a:rPr lang="zh-CN" altLang="zh-CN" sz="1200" kern="1200" dirty="0">
                <a:solidFill>
                  <a:schemeClr val="tx1"/>
                </a:solidFill>
                <a:effectLst/>
                <a:latin typeface="+mn-lt"/>
                <a:ea typeface="+mn-ea"/>
                <a:cs typeface="+mn-cs"/>
              </a:rPr>
              <a:t>节介绍过，图</a:t>
            </a:r>
            <a:r>
              <a:rPr lang="en-US" altLang="zh-CN" sz="1200" kern="1200" dirty="0">
                <a:solidFill>
                  <a:schemeClr val="tx1"/>
                </a:solidFill>
                <a:effectLst/>
                <a:latin typeface="+mn-lt"/>
                <a:ea typeface="+mn-ea"/>
                <a:cs typeface="+mn-cs"/>
              </a:rPr>
              <a:t> 9.2 </a:t>
            </a:r>
            <a:r>
              <a:rPr lang="zh-CN" altLang="zh-CN" sz="1200" kern="1200" dirty="0">
                <a:solidFill>
                  <a:schemeClr val="tx1"/>
                </a:solidFill>
                <a:effectLst/>
                <a:latin typeface="+mn-lt"/>
                <a:ea typeface="+mn-ea"/>
                <a:cs typeface="+mn-cs"/>
              </a:rPr>
              <a:t>中所有条件和无条件跳转语句的目标在图</a:t>
            </a:r>
            <a:r>
              <a:rPr lang="en-US" altLang="zh-CN" sz="1200" kern="1200" dirty="0">
                <a:solidFill>
                  <a:schemeClr val="tx1"/>
                </a:solidFill>
                <a:effectLst/>
                <a:latin typeface="+mn-lt"/>
                <a:ea typeface="+mn-ea"/>
                <a:cs typeface="+mn-cs"/>
              </a:rPr>
              <a:t> 9.3 </a:t>
            </a:r>
            <a:r>
              <a:rPr lang="zh-CN" altLang="zh-CN" sz="1200" kern="1200" dirty="0">
                <a:solidFill>
                  <a:schemeClr val="tx1"/>
                </a:solidFill>
                <a:effectLst/>
                <a:latin typeface="+mn-lt"/>
                <a:ea typeface="+mn-ea"/>
                <a:cs typeface="+mn-cs"/>
              </a:rPr>
              <a:t>中都被替换为以它们的为目标语句为首语句的基本块。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 9.3 </a:t>
            </a:r>
            <a:r>
              <a:rPr lang="zh-CN" altLang="zh-CN" sz="1200" kern="1200" dirty="0">
                <a:solidFill>
                  <a:schemeClr val="tx1"/>
                </a:solidFill>
                <a:effectLst/>
                <a:latin typeface="+mn-lt"/>
                <a:ea typeface="+mn-ea"/>
                <a:cs typeface="+mn-cs"/>
              </a:rPr>
              <a:t>中有</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个循环。块</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本身就是循环。块</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B4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一起形成一个循环，其中</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是唯一的入口点。</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634799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9.1.3 </a:t>
            </a:r>
            <a:r>
              <a:rPr lang="zh-CN" altLang="zh-CN" sz="1200" kern="1200" dirty="0">
                <a:solidFill>
                  <a:schemeClr val="tx1"/>
                </a:solidFill>
                <a:effectLst/>
                <a:latin typeface="+mn-lt"/>
                <a:ea typeface="+mn-ea"/>
                <a:cs typeface="+mn-cs"/>
              </a:rPr>
              <a:t>保持语义不变的转换</a:t>
            </a:r>
          </a:p>
          <a:p>
            <a:r>
              <a:rPr lang="zh-CN" altLang="zh-CN" sz="1200" kern="1200" dirty="0">
                <a:solidFill>
                  <a:schemeClr val="tx1"/>
                </a:solidFill>
                <a:effectLst/>
                <a:latin typeface="+mn-lt"/>
                <a:ea typeface="+mn-ea"/>
                <a:cs typeface="+mn-cs"/>
              </a:rPr>
              <a:t>编译器可以使用多种方法改进一个程序，但不改变程序所计算的函数。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公共子表达式消除、复制传播、死代码消除和常量折叠都是这样的函数不变（或者说语义不变）转换的常见例子。我们将逐一介绍这些方法。</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63415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局部公共子表达删除：</a:t>
            </a:r>
            <a:r>
              <a:rPr lang="zh-CN" altLang="zh-CN" sz="1200" kern="1200" dirty="0">
                <a:solidFill>
                  <a:schemeClr val="tx1"/>
                </a:solidFill>
                <a:effectLst/>
                <a:latin typeface="+mn-lt"/>
                <a:ea typeface="+mn-ea"/>
                <a:cs typeface="+mn-cs"/>
              </a:rPr>
              <a:t>通常，程序会包含</a:t>
            </a:r>
            <a:r>
              <a:rPr lang="zh-CN" altLang="en-US" sz="1200" kern="1200" dirty="0">
                <a:solidFill>
                  <a:schemeClr val="tx1"/>
                </a:solidFill>
                <a:effectLst/>
                <a:latin typeface="+mn-lt"/>
                <a:ea typeface="+mn-ea"/>
                <a:cs typeface="+mn-cs"/>
              </a:rPr>
              <a:t>对</a:t>
            </a:r>
            <a:r>
              <a:rPr lang="zh-CN" altLang="zh-CN" sz="1200" kern="1200" dirty="0">
                <a:solidFill>
                  <a:schemeClr val="tx1"/>
                </a:solidFill>
                <a:effectLst/>
                <a:latin typeface="+mn-lt"/>
                <a:ea typeface="+mn-ea"/>
                <a:cs typeface="+mn-cs"/>
              </a:rPr>
              <a:t>相同值的多次计算，例如</a:t>
            </a:r>
            <a:r>
              <a:rPr lang="zh-CN" altLang="en-US" sz="1200" kern="1200" dirty="0">
                <a:solidFill>
                  <a:schemeClr val="tx1"/>
                </a:solidFill>
                <a:effectLst/>
                <a:latin typeface="+mn-lt"/>
                <a:ea typeface="+mn-ea"/>
                <a:cs typeface="+mn-cs"/>
              </a:rPr>
              <a:t>计算</a:t>
            </a:r>
            <a:r>
              <a:rPr lang="zh-CN" altLang="zh-CN" sz="1200" kern="1200" dirty="0">
                <a:solidFill>
                  <a:schemeClr val="tx1"/>
                </a:solidFill>
                <a:effectLst/>
                <a:latin typeface="+mn-lt"/>
                <a:ea typeface="+mn-ea"/>
                <a:cs typeface="+mn-cs"/>
              </a:rPr>
              <a:t>数组中的偏移量。例如，图</a:t>
            </a:r>
            <a:r>
              <a:rPr lang="en-US" altLang="zh-CN" sz="1200" kern="1200" dirty="0">
                <a:solidFill>
                  <a:schemeClr val="tx1"/>
                </a:solidFill>
                <a:effectLst/>
                <a:latin typeface="+mn-lt"/>
                <a:ea typeface="+mn-ea"/>
                <a:cs typeface="+mn-cs"/>
              </a:rPr>
              <a:t> 9.4(a) </a:t>
            </a:r>
            <a:r>
              <a:rPr lang="zh-CN" altLang="zh-CN" sz="1200" kern="1200" dirty="0">
                <a:solidFill>
                  <a:schemeClr val="tx1"/>
                </a:solidFill>
                <a:effectLst/>
                <a:latin typeface="+mn-lt"/>
                <a:ea typeface="+mn-ea"/>
                <a:cs typeface="+mn-cs"/>
              </a:rPr>
              <a:t>中所示的块</a:t>
            </a:r>
            <a:r>
              <a:rPr lang="en-US" altLang="zh-CN" sz="1200" kern="1200" dirty="0">
                <a:solidFill>
                  <a:schemeClr val="tx1"/>
                </a:solidFill>
                <a:effectLst/>
                <a:latin typeface="+mn-lt"/>
                <a:ea typeface="+mn-ea"/>
                <a:cs typeface="+mn-cs"/>
              </a:rPr>
              <a:t> B5</a:t>
            </a:r>
            <a:r>
              <a:rPr lang="zh-CN" altLang="zh-CN" sz="1200" kern="1200" dirty="0">
                <a:solidFill>
                  <a:schemeClr val="tx1"/>
                </a:solidFill>
                <a:effectLst/>
                <a:latin typeface="+mn-lt"/>
                <a:ea typeface="+mn-ea"/>
                <a:cs typeface="+mn-cs"/>
              </a:rPr>
              <a:t>中对</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进行了重复计算 ，尽管这些计算全都不是程序员显式要求的。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740949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正如第</a:t>
            </a:r>
            <a:r>
              <a:rPr lang="en-US" altLang="zh-CN" sz="1200" kern="1200" dirty="0">
                <a:solidFill>
                  <a:schemeClr val="tx1"/>
                </a:solidFill>
                <a:effectLst/>
                <a:latin typeface="+mn-lt"/>
                <a:ea typeface="+mn-ea"/>
                <a:cs typeface="+mn-cs"/>
              </a:rPr>
              <a:t> 9.1.2 </a:t>
            </a:r>
            <a:r>
              <a:rPr lang="zh-CN" altLang="zh-CN" sz="1200" kern="1200" dirty="0">
                <a:solidFill>
                  <a:schemeClr val="tx1"/>
                </a:solidFill>
                <a:effectLst/>
                <a:latin typeface="+mn-lt"/>
                <a:ea typeface="+mn-ea"/>
                <a:cs typeface="+mn-cs"/>
              </a:rPr>
              <a:t>节中提到的，某些这样的重复计算，不可能由程序员来避免，因为这些计算过程处于可在源语言中处理的细节的更下层。如果表达式</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是先前计算过的，并且</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中变量的值自上次计算以来没有改变，则表达式</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的</a:t>
            </a:r>
            <a:r>
              <a:rPr lang="zh-CN" altLang="en-US" sz="1200" kern="1200" dirty="0">
                <a:solidFill>
                  <a:schemeClr val="tx1"/>
                </a:solidFill>
                <a:effectLst/>
                <a:latin typeface="+mn-lt"/>
                <a:ea typeface="+mn-ea"/>
                <a:cs typeface="+mn-cs"/>
              </a:rPr>
              <a:t>该次</a:t>
            </a:r>
            <a:r>
              <a:rPr lang="zh-CN" altLang="zh-CN" sz="1200" kern="1200" dirty="0">
                <a:solidFill>
                  <a:schemeClr val="tx1"/>
                </a:solidFill>
                <a:effectLst/>
                <a:latin typeface="+mn-lt"/>
                <a:ea typeface="+mn-ea"/>
                <a:cs typeface="+mn-cs"/>
              </a:rPr>
              <a:t>出现</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称为公共子表达式。如果将</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的上一次计算结果赋予变量</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，且</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的值在此期间没有改变，我们就可以使用前面计算得到的值，从而避免重新计算</a:t>
            </a:r>
            <a:r>
              <a:rPr lang="en-US" altLang="zh-CN" sz="1200" kern="1200" dirty="0">
                <a:solidFill>
                  <a:schemeClr val="tx1"/>
                </a:solidFill>
                <a:effectLst/>
                <a:latin typeface="+mn-lt"/>
                <a:ea typeface="+mn-ea"/>
                <a:cs typeface="+mn-cs"/>
              </a:rPr>
              <a:t> E</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9.1</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9.4(a) </a:t>
            </a:r>
            <a:r>
              <a:rPr lang="zh-CN" altLang="zh-CN" sz="1200" kern="1200" dirty="0">
                <a:solidFill>
                  <a:schemeClr val="tx1"/>
                </a:solidFill>
                <a:effectLst/>
                <a:latin typeface="+mn-lt"/>
                <a:ea typeface="+mn-ea"/>
                <a:cs typeface="+mn-cs"/>
              </a:rPr>
              <a:t>中对</a:t>
            </a:r>
            <a:r>
              <a:rPr lang="en-US" altLang="zh-CN" sz="1200" kern="1200" dirty="0">
                <a:solidFill>
                  <a:schemeClr val="tx1"/>
                </a:solidFill>
                <a:effectLst/>
                <a:latin typeface="+mn-lt"/>
                <a:ea typeface="+mn-ea"/>
                <a:cs typeface="+mn-cs"/>
              </a:rPr>
              <a:t> t7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t10 </a:t>
            </a:r>
            <a:r>
              <a:rPr lang="zh-CN" altLang="zh-CN" sz="1200" kern="1200" dirty="0">
                <a:solidFill>
                  <a:schemeClr val="tx1"/>
                </a:solidFill>
                <a:effectLst/>
                <a:latin typeface="+mn-lt"/>
                <a:ea typeface="+mn-ea"/>
                <a:cs typeface="+mn-cs"/>
              </a:rPr>
              <a:t>的赋值，分别计算了公共子表达式</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。这些步骤已经在图</a:t>
            </a:r>
            <a:r>
              <a:rPr lang="en-US" altLang="zh-CN" sz="1200" kern="1200" dirty="0">
                <a:solidFill>
                  <a:schemeClr val="tx1"/>
                </a:solidFill>
                <a:effectLst/>
                <a:latin typeface="+mn-lt"/>
                <a:ea typeface="+mn-ea"/>
                <a:cs typeface="+mn-cs"/>
              </a:rPr>
              <a:t> 9.4(b) </a:t>
            </a:r>
            <a:r>
              <a:rPr lang="zh-CN" altLang="zh-CN" sz="1200" kern="1200" dirty="0">
                <a:solidFill>
                  <a:schemeClr val="tx1"/>
                </a:solidFill>
                <a:effectLst/>
                <a:latin typeface="+mn-lt"/>
                <a:ea typeface="+mn-ea"/>
                <a:cs typeface="+mn-cs"/>
              </a:rPr>
              <a:t>中被消除了。消除后的代码使用</a:t>
            </a:r>
            <a:r>
              <a:rPr lang="en-US" altLang="zh-CN" sz="1200" kern="1200" dirty="0">
                <a:solidFill>
                  <a:schemeClr val="tx1"/>
                </a:solidFill>
                <a:effectLst/>
                <a:latin typeface="+mn-lt"/>
                <a:ea typeface="+mn-ea"/>
                <a:cs typeface="+mn-cs"/>
              </a:rPr>
              <a:t> t6 </a:t>
            </a:r>
            <a:r>
              <a:rPr lang="zh-CN" altLang="zh-CN" sz="1200" kern="1200" dirty="0">
                <a:solidFill>
                  <a:schemeClr val="tx1"/>
                </a:solidFill>
                <a:effectLst/>
                <a:latin typeface="+mn-lt"/>
                <a:ea typeface="+mn-ea"/>
                <a:cs typeface="+mn-cs"/>
              </a:rPr>
              <a:t>代替</a:t>
            </a:r>
            <a:r>
              <a:rPr lang="en-US" altLang="zh-CN" sz="1200" kern="1200" dirty="0">
                <a:solidFill>
                  <a:schemeClr val="tx1"/>
                </a:solidFill>
                <a:effectLst/>
                <a:latin typeface="+mn-lt"/>
                <a:ea typeface="+mn-ea"/>
                <a:cs typeface="+mn-cs"/>
              </a:rPr>
              <a:t> t7</a:t>
            </a:r>
            <a:r>
              <a:rPr lang="zh-CN" altLang="zh-CN" sz="1200" kern="1200" dirty="0">
                <a:solidFill>
                  <a:schemeClr val="tx1"/>
                </a:solidFill>
                <a:effectLst/>
                <a:latin typeface="+mn-lt"/>
                <a:ea typeface="+mn-ea"/>
                <a:cs typeface="+mn-cs"/>
              </a:rPr>
              <a:t>，使用</a:t>
            </a:r>
            <a:r>
              <a:rPr lang="en-US" altLang="zh-CN" sz="1200" kern="1200" dirty="0">
                <a:solidFill>
                  <a:schemeClr val="tx1"/>
                </a:solidFill>
                <a:effectLst/>
                <a:latin typeface="+mn-lt"/>
                <a:ea typeface="+mn-ea"/>
                <a:cs typeface="+mn-cs"/>
              </a:rPr>
              <a:t> t8 </a:t>
            </a:r>
            <a:r>
              <a:rPr lang="zh-CN" altLang="zh-CN" sz="1200" kern="1200" dirty="0">
                <a:solidFill>
                  <a:schemeClr val="tx1"/>
                </a:solidFill>
                <a:effectLst/>
                <a:latin typeface="+mn-lt"/>
                <a:ea typeface="+mn-ea"/>
                <a:cs typeface="+mn-cs"/>
              </a:rPr>
              <a:t>代替</a:t>
            </a:r>
            <a:r>
              <a:rPr lang="en-US" altLang="zh-CN" sz="1200" kern="1200" dirty="0">
                <a:solidFill>
                  <a:schemeClr val="tx1"/>
                </a:solidFill>
                <a:effectLst/>
                <a:latin typeface="+mn-lt"/>
                <a:ea typeface="+mn-ea"/>
                <a:cs typeface="+mn-cs"/>
              </a:rPr>
              <a:t> t10</a:t>
            </a:r>
            <a:r>
              <a:rPr lang="zh-CN" altLang="zh-CN" sz="1200" kern="1200" dirty="0">
                <a:solidFill>
                  <a:schemeClr val="tx1"/>
                </a:solidFill>
                <a:effectLst/>
                <a:latin typeface="+mn-lt"/>
                <a:ea typeface="+mn-ea"/>
                <a:cs typeface="+mn-cs"/>
              </a:rPr>
              <a:t>。</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全局公共子表达式删除：</a:t>
            </a:r>
            <a:r>
              <a:rPr lang="zh-CN" altLang="zh-CN" sz="1200" kern="1200" dirty="0">
                <a:solidFill>
                  <a:schemeClr val="tx1"/>
                </a:solidFill>
                <a:effectLst/>
                <a:latin typeface="+mn-lt"/>
                <a:ea typeface="+mn-ea"/>
                <a:cs typeface="+mn-cs"/>
              </a:rPr>
              <a:t>我们首先讨论</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的转换，然后再讨论一些涉及数组相关的精妙之处。</a:t>
            </a:r>
          </a:p>
          <a:p>
            <a:r>
              <a:rPr lang="zh-CN" altLang="zh-CN" sz="1200" kern="1200" dirty="0">
                <a:solidFill>
                  <a:schemeClr val="tx1"/>
                </a:solidFill>
                <a:effectLst/>
                <a:latin typeface="+mn-lt"/>
                <a:ea typeface="+mn-ea"/>
                <a:cs typeface="+mn-cs"/>
              </a:rPr>
              <a:t>消除局部公共子表达式后，</a:t>
            </a:r>
            <a:r>
              <a:rPr lang="en-US" altLang="zh-CN" sz="1200" kern="1200" dirty="0">
                <a:solidFill>
                  <a:schemeClr val="tx1"/>
                </a:solidFill>
                <a:effectLst/>
                <a:latin typeface="+mn-lt"/>
                <a:ea typeface="+mn-ea"/>
                <a:cs typeface="+mn-cs"/>
              </a:rPr>
              <a:t>B5 </a:t>
            </a:r>
            <a:r>
              <a:rPr lang="zh-CN" altLang="zh-CN" sz="1200" kern="1200" dirty="0">
                <a:solidFill>
                  <a:schemeClr val="tx1"/>
                </a:solidFill>
                <a:effectLst/>
                <a:latin typeface="+mn-lt"/>
                <a:ea typeface="+mn-ea"/>
                <a:cs typeface="+mn-cs"/>
              </a:rPr>
              <a:t>仍对</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j </a:t>
            </a:r>
            <a:r>
              <a:rPr lang="zh-CN" altLang="zh-CN" sz="1200" kern="1200" dirty="0">
                <a:solidFill>
                  <a:schemeClr val="tx1"/>
                </a:solidFill>
                <a:effectLst/>
                <a:latin typeface="+mn-lt"/>
                <a:ea typeface="+mn-ea"/>
                <a:cs typeface="+mn-cs"/>
              </a:rPr>
              <a:t>进行求值，如图</a:t>
            </a:r>
            <a:r>
              <a:rPr lang="en-US" altLang="zh-CN" sz="1200" kern="1200" dirty="0">
                <a:solidFill>
                  <a:schemeClr val="tx1"/>
                </a:solidFill>
                <a:effectLst/>
                <a:latin typeface="+mn-lt"/>
                <a:ea typeface="+mn-ea"/>
                <a:cs typeface="+mn-cs"/>
              </a:rPr>
              <a:t> 9.4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）所示。两者都是公共子表达式；更明确的讲，使用块</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中计算得到的</a:t>
            </a:r>
            <a:r>
              <a:rPr lang="en-US" altLang="zh-CN" sz="1200" kern="1200" dirty="0">
                <a:solidFill>
                  <a:schemeClr val="tx1"/>
                </a:solidFill>
                <a:effectLst/>
                <a:latin typeface="+mn-lt"/>
                <a:ea typeface="+mn-ea"/>
                <a:cs typeface="+mn-cs"/>
              </a:rPr>
              <a:t> t4</a:t>
            </a:r>
            <a:r>
              <a:rPr lang="zh-CN" altLang="zh-CN" sz="1200" kern="1200" dirty="0">
                <a:solidFill>
                  <a:schemeClr val="tx1"/>
                </a:solidFill>
                <a:effectLst/>
                <a:latin typeface="+mn-lt"/>
                <a:ea typeface="+mn-ea"/>
                <a:cs typeface="+mn-cs"/>
              </a:rPr>
              <a:t>的值，</a:t>
            </a:r>
            <a:r>
              <a:rPr lang="en-US" altLang="zh-CN" sz="1200" kern="1200" dirty="0">
                <a:solidFill>
                  <a:schemeClr val="tx1"/>
                </a:solidFill>
                <a:effectLst/>
                <a:latin typeface="+mn-lt"/>
                <a:ea typeface="+mn-ea"/>
                <a:cs typeface="+mn-cs"/>
              </a:rPr>
              <a:t>B5</a:t>
            </a:r>
            <a:r>
              <a:rPr lang="zh-CN" altLang="zh-CN" sz="1200" kern="1200" dirty="0">
                <a:solidFill>
                  <a:schemeClr val="tx1"/>
                </a:solidFill>
                <a:effectLst/>
                <a:latin typeface="+mn-lt"/>
                <a:ea typeface="+mn-ea"/>
                <a:cs typeface="+mn-cs"/>
              </a:rPr>
              <a:t>中的三个语句</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t8=4*j</a:t>
            </a:r>
          </a:p>
          <a:p>
            <a:r>
              <a:rPr lang="en-US" altLang="zh-CN" sz="1200" kern="1200" dirty="0">
                <a:solidFill>
                  <a:schemeClr val="tx1"/>
                </a:solidFill>
                <a:effectLst/>
                <a:latin typeface="+mn-lt"/>
                <a:ea typeface="+mn-ea"/>
                <a:cs typeface="+mn-cs"/>
              </a:rPr>
              <a:t>t9=a[t8]</a:t>
            </a:r>
          </a:p>
          <a:p>
            <a:r>
              <a:rPr lang="en-US" altLang="zh-CN" sz="1200" kern="1200" dirty="0">
                <a:solidFill>
                  <a:schemeClr val="tx1"/>
                </a:solidFill>
                <a:effectLst/>
                <a:latin typeface="+mn-lt"/>
                <a:ea typeface="+mn-ea"/>
                <a:cs typeface="+mn-cs"/>
              </a:rPr>
              <a:t>A[t8]=x</a:t>
            </a:r>
          </a:p>
          <a:p>
            <a:r>
              <a:rPr lang="zh-CN" altLang="en-US" sz="1200" kern="1200" dirty="0">
                <a:solidFill>
                  <a:schemeClr val="tx1"/>
                </a:solidFill>
                <a:effectLst/>
                <a:latin typeface="+mn-lt"/>
                <a:ea typeface="+mn-ea"/>
                <a:cs typeface="+mn-cs"/>
              </a:rPr>
              <a:t>可以替换为</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t9=a[t4]</a:t>
            </a:r>
          </a:p>
          <a:p>
            <a:r>
              <a:rPr lang="en-US" altLang="zh-CN" sz="1200" kern="1200" dirty="0">
                <a:solidFill>
                  <a:schemeClr val="tx1"/>
                </a:solidFill>
                <a:effectLst/>
                <a:latin typeface="+mn-lt"/>
                <a:ea typeface="+mn-ea"/>
                <a:cs typeface="+mn-cs"/>
              </a:rPr>
              <a:t>a[t4]=x</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 9.5 </a:t>
            </a:r>
            <a:r>
              <a:rPr lang="zh-CN" altLang="zh-CN" sz="1200" kern="1200" dirty="0">
                <a:solidFill>
                  <a:schemeClr val="tx1"/>
                </a:solidFill>
                <a:effectLst/>
                <a:latin typeface="+mn-lt"/>
                <a:ea typeface="+mn-ea"/>
                <a:cs typeface="+mn-cs"/>
              </a:rPr>
              <a:t>中，观察到当控制从</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中计算</a:t>
            </a:r>
            <a:r>
              <a:rPr lang="en-US" altLang="zh-CN" sz="1200" kern="1200" dirty="0">
                <a:solidFill>
                  <a:schemeClr val="tx1"/>
                </a:solidFill>
                <a:effectLst/>
                <a:latin typeface="+mn-lt"/>
                <a:ea typeface="+mn-ea"/>
                <a:cs typeface="+mn-cs"/>
              </a:rPr>
              <a:t>4*j </a:t>
            </a:r>
            <a:r>
              <a:rPr lang="zh-CN" altLang="zh-CN" sz="1200" kern="1200" dirty="0">
                <a:solidFill>
                  <a:schemeClr val="tx1"/>
                </a:solidFill>
                <a:effectLst/>
                <a:latin typeface="+mn-lt"/>
                <a:ea typeface="+mn-ea"/>
                <a:cs typeface="+mn-cs"/>
              </a:rPr>
              <a:t>的点传递到</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中时，</a:t>
            </a:r>
            <a:r>
              <a:rPr lang="en-US" altLang="zh-CN" sz="1200" kern="1200" dirty="0">
                <a:solidFill>
                  <a:schemeClr val="tx1"/>
                </a:solidFill>
                <a:effectLst/>
                <a:latin typeface="+mn-lt"/>
                <a:ea typeface="+mn-ea"/>
                <a:cs typeface="+mn-cs"/>
              </a:rPr>
              <a:t>j </a:t>
            </a:r>
            <a:r>
              <a:rPr lang="zh-CN" altLang="zh-CN" sz="1200" kern="1200" dirty="0">
                <a:solidFill>
                  <a:schemeClr val="tx1"/>
                </a:solidFill>
                <a:effectLst/>
                <a:latin typeface="+mn-lt"/>
                <a:ea typeface="+mn-ea"/>
                <a:cs typeface="+mn-cs"/>
              </a:rPr>
              <a:t>没有变化，</a:t>
            </a:r>
            <a:r>
              <a:rPr lang="en-US" altLang="zh-CN" sz="1200" kern="1200" dirty="0">
                <a:solidFill>
                  <a:schemeClr val="tx1"/>
                </a:solidFill>
                <a:effectLst/>
                <a:latin typeface="+mn-lt"/>
                <a:ea typeface="+mn-ea"/>
                <a:cs typeface="+mn-cs"/>
              </a:rPr>
              <a:t>t4 </a:t>
            </a:r>
            <a:r>
              <a:rPr lang="zh-CN" altLang="zh-CN" sz="1200" kern="1200" dirty="0">
                <a:solidFill>
                  <a:schemeClr val="tx1"/>
                </a:solidFill>
                <a:effectLst/>
                <a:latin typeface="+mn-lt"/>
                <a:ea typeface="+mn-ea"/>
                <a:cs typeface="+mn-cs"/>
              </a:rPr>
              <a:t>也没有变化，因此如果需要</a:t>
            </a:r>
            <a:r>
              <a:rPr lang="en-US" altLang="zh-CN" sz="1200" kern="1200" dirty="0">
                <a:solidFill>
                  <a:schemeClr val="tx1"/>
                </a:solidFill>
                <a:effectLst/>
                <a:latin typeface="+mn-lt"/>
                <a:ea typeface="+mn-ea"/>
                <a:cs typeface="+mn-cs"/>
              </a:rPr>
              <a:t> 4*j</a:t>
            </a:r>
            <a:r>
              <a:rPr lang="zh-CN" altLang="en-US" sz="1200" kern="1200" dirty="0">
                <a:solidFill>
                  <a:schemeClr val="tx1"/>
                </a:solidFill>
                <a:effectLst/>
                <a:latin typeface="+mn-lt"/>
                <a:ea typeface="+mn-ea"/>
                <a:cs typeface="+mn-cs"/>
              </a:rPr>
              <a:t>时</a:t>
            </a:r>
            <a:r>
              <a:rPr lang="zh-CN" altLang="zh-CN" sz="1200" kern="1200" dirty="0">
                <a:solidFill>
                  <a:schemeClr val="tx1"/>
                </a:solidFill>
                <a:effectLst/>
                <a:latin typeface="+mn-lt"/>
                <a:ea typeface="+mn-ea"/>
                <a:cs typeface="+mn-cs"/>
              </a:rPr>
              <a:t>，可以使用</a:t>
            </a:r>
            <a:r>
              <a:rPr lang="en-US" altLang="zh-CN" sz="1200" kern="1200" dirty="0">
                <a:solidFill>
                  <a:schemeClr val="tx1"/>
                </a:solidFill>
                <a:effectLst/>
                <a:latin typeface="+mn-lt"/>
                <a:ea typeface="+mn-ea"/>
                <a:cs typeface="+mn-cs"/>
              </a:rPr>
              <a:t> t4</a:t>
            </a:r>
            <a:r>
              <a:rPr lang="zh-CN" altLang="zh-CN" sz="1200" kern="1200" dirty="0">
                <a:solidFill>
                  <a:schemeClr val="tx1"/>
                </a:solidFill>
                <a:effectLst/>
                <a:latin typeface="+mn-lt"/>
                <a:ea typeface="+mn-ea"/>
                <a:cs typeface="+mn-cs"/>
              </a:rPr>
              <a:t>来替代。</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755667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 用</a:t>
            </a:r>
            <a:r>
              <a:rPr lang="en-US" altLang="zh-CN" sz="1200" kern="1200" dirty="0">
                <a:solidFill>
                  <a:schemeClr val="tx1"/>
                </a:solidFill>
                <a:effectLst/>
                <a:latin typeface="+mn-lt"/>
                <a:ea typeface="+mn-ea"/>
                <a:cs typeface="+mn-cs"/>
              </a:rPr>
              <a:t>t4 </a:t>
            </a:r>
            <a:r>
              <a:rPr lang="zh-CN" altLang="zh-CN" sz="1200" kern="1200" dirty="0">
                <a:solidFill>
                  <a:schemeClr val="tx1"/>
                </a:solidFill>
                <a:effectLst/>
                <a:latin typeface="+mn-lt"/>
                <a:ea typeface="+mn-ea"/>
                <a:cs typeface="+mn-cs"/>
              </a:rPr>
              <a:t>替换</a:t>
            </a:r>
            <a:r>
              <a:rPr lang="en-US" altLang="zh-CN" sz="1200" kern="1200" dirty="0">
                <a:solidFill>
                  <a:schemeClr val="tx1"/>
                </a:solidFill>
                <a:effectLst/>
                <a:latin typeface="+mn-lt"/>
                <a:ea typeface="+mn-ea"/>
                <a:cs typeface="+mn-cs"/>
              </a:rPr>
              <a:t> t8 </a:t>
            </a:r>
            <a:r>
              <a:rPr lang="zh-CN" altLang="zh-CN" sz="1200" kern="1200" dirty="0">
                <a:solidFill>
                  <a:schemeClr val="tx1"/>
                </a:solidFill>
                <a:effectLst/>
                <a:latin typeface="+mn-lt"/>
                <a:ea typeface="+mn-ea"/>
                <a:cs typeface="+mn-cs"/>
              </a:rPr>
              <a:t>后，</a:t>
            </a:r>
            <a:r>
              <a:rPr lang="en-US" altLang="zh-CN" sz="1200" kern="1200" dirty="0">
                <a:solidFill>
                  <a:schemeClr val="tx1"/>
                </a:solidFill>
                <a:effectLst/>
                <a:latin typeface="+mn-lt"/>
                <a:ea typeface="+mn-ea"/>
                <a:cs typeface="+mn-cs"/>
              </a:rPr>
              <a:t>B5 </a:t>
            </a:r>
            <a:r>
              <a:rPr lang="zh-CN" altLang="zh-CN" sz="1200" kern="1200" dirty="0">
                <a:solidFill>
                  <a:schemeClr val="tx1"/>
                </a:solidFill>
                <a:effectLst/>
                <a:latin typeface="+mn-lt"/>
                <a:ea typeface="+mn-ea"/>
                <a:cs typeface="+mn-cs"/>
              </a:rPr>
              <a:t>中出现了另一个公共的子表达式</a:t>
            </a:r>
            <a:r>
              <a:rPr lang="en-US" altLang="zh-CN" sz="1200" spc="-5" dirty="0">
                <a:solidFill>
                  <a:srgbClr val="0432FF"/>
                </a:solidFill>
                <a:latin typeface="Consolas" panose="020B0609020204030204"/>
                <a:cs typeface="Consolas" panose="020B0609020204030204"/>
              </a:rPr>
              <a:t>a[t4] </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987157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新的子表达式</a:t>
            </a:r>
            <a:r>
              <a:rPr lang="en-US" altLang="zh-CN" sz="1200" kern="1200" dirty="0">
                <a:solidFill>
                  <a:schemeClr val="tx1"/>
                </a:solidFill>
                <a:effectLst/>
                <a:latin typeface="+mn-lt"/>
                <a:ea typeface="+mn-ea"/>
                <a:cs typeface="+mn-cs"/>
              </a:rPr>
              <a:t> a[t4] </a:t>
            </a:r>
            <a:r>
              <a:rPr lang="zh-CN" altLang="zh-CN" sz="1200" kern="1200" dirty="0">
                <a:solidFill>
                  <a:schemeClr val="tx1"/>
                </a:solidFill>
                <a:effectLst/>
                <a:latin typeface="+mn-lt"/>
                <a:ea typeface="+mn-ea"/>
                <a:cs typeface="+mn-cs"/>
              </a:rPr>
              <a:t>对应于源代码层次上的值</a:t>
            </a:r>
            <a:r>
              <a:rPr lang="en-US" altLang="zh-CN" sz="1200" kern="1200" dirty="0">
                <a:solidFill>
                  <a:schemeClr val="tx1"/>
                </a:solidFill>
                <a:effectLst/>
                <a:latin typeface="+mn-lt"/>
                <a:ea typeface="+mn-ea"/>
                <a:cs typeface="+mn-cs"/>
              </a:rPr>
              <a:t> a[j]</a:t>
            </a:r>
            <a:r>
              <a:rPr lang="zh-CN" altLang="zh-CN" sz="1200" kern="1200" dirty="0">
                <a:solidFill>
                  <a:schemeClr val="tx1"/>
                </a:solidFill>
                <a:effectLst/>
                <a:latin typeface="+mn-lt"/>
                <a:ea typeface="+mn-ea"/>
                <a:cs typeface="+mn-cs"/>
              </a:rPr>
              <a:t>。当控制离开</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然后进入</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时， 不仅仅</a:t>
            </a:r>
            <a:r>
              <a:rPr lang="en-US" altLang="zh-CN" sz="1200" kern="1200" dirty="0">
                <a:solidFill>
                  <a:schemeClr val="tx1"/>
                </a:solidFill>
                <a:effectLst/>
                <a:latin typeface="+mn-lt"/>
                <a:ea typeface="+mn-ea"/>
                <a:cs typeface="+mn-cs"/>
              </a:rPr>
              <a:t> j</a:t>
            </a:r>
            <a:r>
              <a:rPr lang="zh-CN" altLang="zh-CN" sz="1200" kern="1200" dirty="0">
                <a:solidFill>
                  <a:schemeClr val="tx1"/>
                </a:solidFill>
                <a:effectLst/>
                <a:latin typeface="+mn-lt"/>
                <a:ea typeface="+mn-ea"/>
                <a:cs typeface="+mn-cs"/>
              </a:rPr>
              <a:t>保留了它的值，而且</a:t>
            </a:r>
            <a:r>
              <a:rPr lang="en-US" altLang="zh-CN" sz="1200" kern="1200" dirty="0">
                <a:solidFill>
                  <a:schemeClr val="tx1"/>
                </a:solidFill>
                <a:effectLst/>
                <a:latin typeface="+mn-lt"/>
                <a:ea typeface="+mn-ea"/>
                <a:cs typeface="+mn-cs"/>
              </a:rPr>
              <a:t>a[j]</a:t>
            </a:r>
            <a:r>
              <a:rPr lang="zh-CN" altLang="zh-CN" sz="1200" kern="1200" dirty="0">
                <a:solidFill>
                  <a:schemeClr val="tx1"/>
                </a:solidFill>
                <a:effectLst/>
                <a:latin typeface="+mn-lt"/>
                <a:ea typeface="+mn-ea"/>
                <a:cs typeface="+mn-cs"/>
              </a:rPr>
              <a:t>也保留了原来的值。这个值在计算出来之后保存到临时变量</a:t>
            </a:r>
            <a:r>
              <a:rPr lang="en-US" altLang="zh-CN" sz="1200" kern="1200" dirty="0">
                <a:solidFill>
                  <a:schemeClr val="tx1"/>
                </a:solidFill>
                <a:effectLst/>
                <a:latin typeface="+mn-lt"/>
                <a:ea typeface="+mn-ea"/>
                <a:cs typeface="+mn-cs"/>
              </a:rPr>
              <a:t> t5 </a:t>
            </a:r>
            <a:r>
              <a:rPr lang="zh-CN" altLang="zh-CN" sz="1200" kern="1200" dirty="0">
                <a:solidFill>
                  <a:schemeClr val="tx1"/>
                </a:solidFill>
                <a:effectLst/>
                <a:latin typeface="+mn-lt"/>
                <a:ea typeface="+mn-ea"/>
                <a:cs typeface="+mn-cs"/>
              </a:rPr>
              <a:t>中。因为在此期间没有对数组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的元素进行赋值。因此，</a:t>
            </a:r>
            <a:r>
              <a:rPr lang="en-US" altLang="zh-CN" sz="1200" kern="1200" dirty="0">
                <a:solidFill>
                  <a:schemeClr val="tx1"/>
                </a:solidFill>
                <a:effectLst/>
                <a:latin typeface="+mn-lt"/>
                <a:ea typeface="+mn-ea"/>
                <a:cs typeface="+mn-cs"/>
              </a:rPr>
              <a:t>a[j]</a:t>
            </a:r>
            <a:r>
              <a:rPr lang="zh-CN" altLang="zh-CN" sz="1200" kern="1200" dirty="0">
                <a:solidFill>
                  <a:schemeClr val="tx1"/>
                </a:solidFill>
                <a:effectLst/>
                <a:latin typeface="+mn-lt"/>
                <a:ea typeface="+mn-ea"/>
                <a:cs typeface="+mn-cs"/>
              </a:rPr>
              <a:t>的值不变。</a:t>
            </a:r>
            <a:r>
              <a:rPr lang="en-US" altLang="zh-CN" sz="1200" kern="1200" dirty="0">
                <a:solidFill>
                  <a:schemeClr val="tx1"/>
                </a:solidFill>
                <a:effectLst/>
                <a:latin typeface="+mn-lt"/>
                <a:ea typeface="+mn-ea"/>
                <a:cs typeface="+mn-cs"/>
              </a:rPr>
              <a:t>B5 </a:t>
            </a:r>
            <a:r>
              <a:rPr lang="zh-CN" altLang="zh-CN" sz="1200" kern="1200" dirty="0">
                <a:solidFill>
                  <a:schemeClr val="tx1"/>
                </a:solidFill>
                <a:effectLst/>
                <a:latin typeface="+mn-lt"/>
                <a:ea typeface="+mn-ea"/>
                <a:cs typeface="+mn-cs"/>
              </a:rPr>
              <a:t>中的语句</a:t>
            </a:r>
            <a:r>
              <a:rPr lang="en-US" altLang="zh-CN" sz="1200" kern="1200" dirty="0">
                <a:solidFill>
                  <a:schemeClr val="tx1"/>
                </a:solidFill>
                <a:effectLst/>
                <a:latin typeface="+mn-lt"/>
                <a:ea typeface="+mn-ea"/>
                <a:cs typeface="+mn-cs"/>
              </a:rPr>
              <a:t> a[t6] = t9 </a:t>
            </a:r>
            <a:r>
              <a:rPr lang="zh-CN" altLang="zh-CN" sz="1200" kern="1200" dirty="0">
                <a:solidFill>
                  <a:schemeClr val="tx1"/>
                </a:solidFill>
                <a:effectLst/>
                <a:latin typeface="+mn-lt"/>
                <a:ea typeface="+mn-ea"/>
                <a:cs typeface="+mn-cs"/>
              </a:rPr>
              <a:t>可以被替换为</a:t>
            </a:r>
            <a:r>
              <a:rPr lang="en-US" altLang="zh-CN" sz="1200" kern="1200" dirty="0">
                <a:solidFill>
                  <a:schemeClr val="tx1"/>
                </a:solidFill>
                <a:effectLst/>
                <a:latin typeface="+mn-lt"/>
                <a:ea typeface="+mn-ea"/>
                <a:cs typeface="+mn-cs"/>
              </a:rPr>
              <a:t> a[t6] = t5 </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1236060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类似地，在图</a:t>
            </a:r>
            <a:r>
              <a:rPr lang="en-US" altLang="zh-CN" sz="1200" kern="1200" dirty="0">
                <a:solidFill>
                  <a:schemeClr val="tx1"/>
                </a:solidFill>
                <a:effectLst/>
                <a:latin typeface="+mn-lt"/>
                <a:ea typeface="+mn-ea"/>
                <a:cs typeface="+mn-cs"/>
              </a:rPr>
              <a:t> 9.4(b) </a:t>
            </a:r>
            <a:r>
              <a:rPr lang="zh-CN" altLang="zh-CN" sz="1200" kern="1200" dirty="0">
                <a:solidFill>
                  <a:schemeClr val="tx1"/>
                </a:solidFill>
                <a:effectLst/>
                <a:latin typeface="+mn-lt"/>
                <a:ea typeface="+mn-ea"/>
                <a:cs typeface="+mn-cs"/>
              </a:rPr>
              <a:t>的块</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中赋给</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的值</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x=a[t6])</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中赋给</a:t>
            </a:r>
            <a:r>
              <a:rPr lang="en-US" altLang="zh-CN" sz="1200" kern="1200" dirty="0">
                <a:solidFill>
                  <a:schemeClr val="tx1"/>
                </a:solidFill>
                <a:effectLst/>
                <a:latin typeface="+mn-lt"/>
                <a:ea typeface="+mn-ea"/>
                <a:cs typeface="+mn-cs"/>
              </a:rPr>
              <a:t>t3</a:t>
            </a:r>
            <a:r>
              <a:rPr lang="zh-CN" altLang="zh-CN" sz="1200" kern="1200" dirty="0">
                <a:solidFill>
                  <a:schemeClr val="tx1"/>
                </a:solidFill>
                <a:effectLst/>
                <a:latin typeface="+mn-lt"/>
                <a:ea typeface="+mn-ea"/>
                <a:cs typeface="+mn-cs"/>
              </a:rPr>
              <a:t>的值</a:t>
            </a:r>
            <a:r>
              <a:rPr lang="en-US" altLang="zh-CN" sz="1200" kern="1200" dirty="0">
                <a:solidFill>
                  <a:schemeClr val="tx1"/>
                </a:solidFill>
                <a:effectLst/>
                <a:latin typeface="+mn-lt"/>
                <a:ea typeface="+mn-ea"/>
                <a:cs typeface="+mn-cs"/>
              </a:rPr>
              <a:t>(t3=a[t2])</a:t>
            </a:r>
            <a:r>
              <a:rPr lang="zh-CN" altLang="zh-CN" sz="1200" kern="1200" dirty="0">
                <a:solidFill>
                  <a:schemeClr val="tx1"/>
                </a:solidFill>
                <a:effectLst/>
                <a:latin typeface="+mn-lt"/>
                <a:ea typeface="+mn-ea"/>
                <a:cs typeface="+mn-cs"/>
              </a:rPr>
              <a:t>相同。图</a:t>
            </a:r>
            <a:r>
              <a:rPr lang="en-US" altLang="zh-CN" sz="1200" kern="1200" dirty="0">
                <a:solidFill>
                  <a:schemeClr val="tx1"/>
                </a:solidFill>
                <a:effectLst/>
                <a:latin typeface="+mn-lt"/>
                <a:ea typeface="+mn-ea"/>
                <a:cs typeface="+mn-cs"/>
              </a:rPr>
              <a:t>9.5</a:t>
            </a:r>
            <a:r>
              <a:rPr lang="zh-CN" altLang="zh-CN" sz="1200" kern="1200" dirty="0">
                <a:solidFill>
                  <a:schemeClr val="tx1"/>
                </a:solidFill>
                <a:effectLst/>
                <a:latin typeface="+mn-lt"/>
                <a:ea typeface="+mn-ea"/>
                <a:cs typeface="+mn-cs"/>
              </a:rPr>
              <a:t>中的块</a:t>
            </a:r>
            <a:r>
              <a:rPr lang="en-US" altLang="zh-CN" sz="1200" kern="1200" dirty="0">
                <a:solidFill>
                  <a:schemeClr val="tx1"/>
                </a:solidFill>
                <a:effectLst/>
                <a:latin typeface="+mn-lt"/>
                <a:ea typeface="+mn-ea"/>
                <a:cs typeface="+mn-cs"/>
              </a:rPr>
              <a:t>B5</a:t>
            </a:r>
            <a:r>
              <a:rPr lang="zh-CN" altLang="zh-CN" sz="1200" kern="1200" dirty="0">
                <a:solidFill>
                  <a:schemeClr val="tx1"/>
                </a:solidFill>
                <a:effectLst/>
                <a:latin typeface="+mn-lt"/>
                <a:ea typeface="+mn-ea"/>
                <a:cs typeface="+mn-cs"/>
              </a:rPr>
              <a:t>是从图</a:t>
            </a:r>
            <a:r>
              <a:rPr lang="en-US" altLang="zh-CN" sz="1200" kern="1200" dirty="0">
                <a:solidFill>
                  <a:schemeClr val="tx1"/>
                </a:solidFill>
                <a:effectLst/>
                <a:latin typeface="+mn-lt"/>
                <a:ea typeface="+mn-ea"/>
                <a:cs typeface="+mn-cs"/>
              </a:rPr>
              <a:t>9.4(b)</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B5</a:t>
            </a:r>
            <a:r>
              <a:rPr lang="zh-CN" altLang="zh-CN" sz="1200" kern="1200" dirty="0">
                <a:solidFill>
                  <a:schemeClr val="tx1"/>
                </a:solidFill>
                <a:effectLst/>
                <a:latin typeface="+mn-lt"/>
                <a:ea typeface="+mn-ea"/>
                <a:cs typeface="+mn-cs"/>
              </a:rPr>
              <a:t>中消除了与源代码级表达式</a:t>
            </a:r>
            <a:r>
              <a:rPr lang="en-US" altLang="zh-CN" sz="1200" kern="1200" dirty="0">
                <a:solidFill>
                  <a:schemeClr val="tx1"/>
                </a:solidFill>
                <a:effectLst/>
                <a:latin typeface="+mn-lt"/>
                <a:ea typeface="+mn-ea"/>
                <a:cs typeface="+mn-cs"/>
              </a:rPr>
              <a:t>a[</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a[j]</a:t>
            </a:r>
            <a:r>
              <a:rPr lang="zh-CN" altLang="zh-CN" sz="1200" kern="1200" dirty="0">
                <a:solidFill>
                  <a:schemeClr val="tx1"/>
                </a:solidFill>
                <a:effectLst/>
                <a:latin typeface="+mn-lt"/>
                <a:ea typeface="+mn-ea"/>
                <a:cs typeface="+mn-cs"/>
              </a:rPr>
              <a:t>的值对应的公共子表达式之后的结果。图</a:t>
            </a:r>
            <a:r>
              <a:rPr lang="en-US" altLang="zh-CN" sz="1200" kern="1200" dirty="0">
                <a:solidFill>
                  <a:schemeClr val="tx1"/>
                </a:solidFill>
                <a:effectLst/>
                <a:latin typeface="+mn-lt"/>
                <a:ea typeface="+mn-ea"/>
                <a:cs typeface="+mn-cs"/>
              </a:rPr>
              <a:t> 9.5 </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 B6 </a:t>
            </a:r>
            <a:r>
              <a:rPr lang="zh-CN" altLang="zh-CN" sz="1200" kern="1200" dirty="0">
                <a:solidFill>
                  <a:schemeClr val="tx1"/>
                </a:solidFill>
                <a:effectLst/>
                <a:latin typeface="+mn-lt"/>
                <a:ea typeface="+mn-ea"/>
                <a:cs typeface="+mn-cs"/>
              </a:rPr>
              <a:t>也进行了一系列类似的变换。</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9.5 </a:t>
            </a:r>
            <a:r>
              <a:rPr lang="zh-CN" altLang="zh-CN" sz="1200" kern="1200" dirty="0">
                <a:solidFill>
                  <a:schemeClr val="tx1"/>
                </a:solidFill>
                <a:effectLst/>
                <a:latin typeface="+mn-lt"/>
                <a:ea typeface="+mn-ea"/>
                <a:cs typeface="+mn-cs"/>
              </a:rPr>
              <a:t>的块</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B6 </a:t>
            </a:r>
            <a:r>
              <a:rPr lang="zh-CN" altLang="zh-CN" sz="1200" kern="1200" dirty="0">
                <a:solidFill>
                  <a:schemeClr val="tx1"/>
                </a:solidFill>
                <a:effectLst/>
                <a:latin typeface="+mn-lt"/>
                <a:ea typeface="+mn-ea"/>
                <a:cs typeface="+mn-cs"/>
              </a:rPr>
              <a:t>中的表达式</a:t>
            </a:r>
            <a:r>
              <a:rPr lang="en-US" altLang="zh-CN" sz="1200" kern="1200" dirty="0">
                <a:solidFill>
                  <a:schemeClr val="tx1"/>
                </a:solidFill>
                <a:effectLst/>
                <a:latin typeface="+mn-lt"/>
                <a:ea typeface="+mn-ea"/>
                <a:cs typeface="+mn-cs"/>
              </a:rPr>
              <a:t> a[t1] </a:t>
            </a:r>
            <a:r>
              <a:rPr lang="zh-CN" altLang="zh-CN" sz="1200" kern="1200" dirty="0">
                <a:solidFill>
                  <a:schemeClr val="tx1"/>
                </a:solidFill>
                <a:effectLst/>
                <a:latin typeface="+mn-lt"/>
                <a:ea typeface="+mn-ea"/>
                <a:cs typeface="+mn-cs"/>
              </a:rPr>
              <a:t>不被视为公共子表达式，尽管</a:t>
            </a:r>
            <a:r>
              <a:rPr lang="en-US" altLang="zh-CN" sz="1200" kern="1200" dirty="0">
                <a:solidFill>
                  <a:schemeClr val="tx1"/>
                </a:solidFill>
                <a:effectLst/>
                <a:latin typeface="+mn-lt"/>
                <a:ea typeface="+mn-ea"/>
                <a:cs typeface="+mn-cs"/>
              </a:rPr>
              <a:t> t1 </a:t>
            </a:r>
            <a:r>
              <a:rPr lang="zh-CN" altLang="zh-CN" sz="1200" kern="1200" dirty="0">
                <a:solidFill>
                  <a:schemeClr val="tx1"/>
                </a:solidFill>
                <a:effectLst/>
                <a:latin typeface="+mn-lt"/>
                <a:ea typeface="+mn-ea"/>
                <a:cs typeface="+mn-cs"/>
              </a:rPr>
              <a:t>可以在两个地方使用。在控制离开</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后、到达</a:t>
            </a:r>
            <a:r>
              <a:rPr lang="en-US" altLang="zh-CN" sz="1200" kern="1200" dirty="0">
                <a:solidFill>
                  <a:schemeClr val="tx1"/>
                </a:solidFill>
                <a:effectLst/>
                <a:latin typeface="+mn-lt"/>
                <a:ea typeface="+mn-ea"/>
                <a:cs typeface="+mn-cs"/>
              </a:rPr>
              <a:t> B6 </a:t>
            </a:r>
            <a:r>
              <a:rPr lang="zh-CN" altLang="zh-CN" sz="1200" kern="1200" dirty="0">
                <a:solidFill>
                  <a:schemeClr val="tx1"/>
                </a:solidFill>
                <a:effectLst/>
                <a:latin typeface="+mn-lt"/>
                <a:ea typeface="+mn-ea"/>
                <a:cs typeface="+mn-cs"/>
              </a:rPr>
              <a:t>之前，它还可能经过</a:t>
            </a:r>
            <a:r>
              <a:rPr lang="en-US" altLang="zh-CN" sz="1200" kern="1200" dirty="0">
                <a:solidFill>
                  <a:schemeClr val="tx1"/>
                </a:solidFill>
                <a:effectLst/>
                <a:latin typeface="+mn-lt"/>
                <a:ea typeface="+mn-ea"/>
                <a:cs typeface="+mn-cs"/>
              </a:rPr>
              <a:t> B5</a:t>
            </a:r>
            <a:r>
              <a:rPr lang="zh-CN" altLang="zh-CN" sz="1200" kern="1200" dirty="0">
                <a:solidFill>
                  <a:schemeClr val="tx1"/>
                </a:solidFill>
                <a:effectLst/>
                <a:latin typeface="+mn-lt"/>
                <a:ea typeface="+mn-ea"/>
                <a:cs typeface="+mn-cs"/>
              </a:rPr>
              <a:t>，而</a:t>
            </a:r>
            <a:r>
              <a:rPr lang="en-US" altLang="zh-CN" sz="1200" kern="1200" dirty="0">
                <a:solidFill>
                  <a:schemeClr val="tx1"/>
                </a:solidFill>
                <a:effectLst/>
                <a:latin typeface="+mn-lt"/>
                <a:ea typeface="+mn-ea"/>
                <a:cs typeface="+mn-cs"/>
              </a:rPr>
              <a:t>B5</a:t>
            </a:r>
            <a:r>
              <a:rPr lang="zh-CN" altLang="zh-CN" sz="1200" kern="1200" dirty="0">
                <a:solidFill>
                  <a:schemeClr val="tx1"/>
                </a:solidFill>
                <a:effectLst/>
                <a:latin typeface="+mn-lt"/>
                <a:ea typeface="+mn-ea"/>
                <a:cs typeface="+mn-cs"/>
              </a:rPr>
              <a:t>中有对</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的赋值。因此，</a:t>
            </a:r>
            <a:r>
              <a:rPr lang="en-US" altLang="zh-CN" sz="1200" kern="1200" dirty="0">
                <a:solidFill>
                  <a:schemeClr val="tx1"/>
                </a:solidFill>
                <a:effectLst/>
                <a:latin typeface="+mn-lt"/>
                <a:ea typeface="+mn-ea"/>
                <a:cs typeface="+mn-cs"/>
              </a:rPr>
              <a:t> a[t1] </a:t>
            </a:r>
            <a:r>
              <a:rPr lang="zh-CN" altLang="zh-CN" sz="1200" kern="1200" dirty="0">
                <a:solidFill>
                  <a:schemeClr val="tx1"/>
                </a:solidFill>
                <a:effectLst/>
                <a:latin typeface="+mn-lt"/>
                <a:ea typeface="+mn-ea"/>
                <a:cs typeface="+mn-cs"/>
              </a:rPr>
              <a:t>在到达</a:t>
            </a:r>
            <a:r>
              <a:rPr lang="en-US" altLang="zh-CN" sz="1200" kern="1200" dirty="0">
                <a:solidFill>
                  <a:schemeClr val="tx1"/>
                </a:solidFill>
                <a:effectLst/>
                <a:latin typeface="+mn-lt"/>
                <a:ea typeface="+mn-ea"/>
                <a:cs typeface="+mn-cs"/>
              </a:rPr>
              <a:t> B6 </a:t>
            </a:r>
            <a:r>
              <a:rPr lang="zh-CN" altLang="zh-CN" sz="1200" kern="1200" dirty="0">
                <a:solidFill>
                  <a:schemeClr val="tx1"/>
                </a:solidFill>
                <a:effectLst/>
                <a:latin typeface="+mn-lt"/>
                <a:ea typeface="+mn-ea"/>
                <a:cs typeface="+mn-cs"/>
              </a:rPr>
              <a:t>时可能和它离开</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时的值不同。将</a:t>
            </a:r>
            <a:r>
              <a:rPr lang="en-US" altLang="zh-CN" sz="1200" kern="1200" dirty="0">
                <a:solidFill>
                  <a:schemeClr val="tx1"/>
                </a:solidFill>
                <a:effectLst/>
                <a:latin typeface="+mn-lt"/>
                <a:ea typeface="+mn-ea"/>
                <a:cs typeface="+mn-cs"/>
              </a:rPr>
              <a:t> a[t1] </a:t>
            </a:r>
            <a:r>
              <a:rPr lang="zh-CN" altLang="zh-CN" sz="1200" kern="1200" dirty="0">
                <a:solidFill>
                  <a:schemeClr val="tx1"/>
                </a:solidFill>
                <a:effectLst/>
                <a:latin typeface="+mn-lt"/>
                <a:ea typeface="+mn-ea"/>
                <a:cs typeface="+mn-cs"/>
              </a:rPr>
              <a:t>视为公共子表达式是不安全的。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9.5 </a:t>
            </a:r>
            <a:r>
              <a:rPr lang="zh-CN" altLang="zh-CN" sz="1200" kern="1200" dirty="0">
                <a:solidFill>
                  <a:schemeClr val="tx1"/>
                </a:solidFill>
                <a:effectLst/>
                <a:latin typeface="+mn-lt"/>
                <a:ea typeface="+mn-ea"/>
                <a:cs typeface="+mn-cs"/>
              </a:rPr>
              <a:t>中的块</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可以通过使用两个新的变换消除</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，从而得到进一步改进。其中一个转化考虑形如</a:t>
            </a:r>
            <a:r>
              <a:rPr lang="en-US" altLang="zh-CN" sz="1200" kern="1200" dirty="0">
                <a:solidFill>
                  <a:schemeClr val="tx1"/>
                </a:solidFill>
                <a:effectLst/>
                <a:latin typeface="+mn-lt"/>
                <a:ea typeface="+mn-ea"/>
                <a:cs typeface="+mn-cs"/>
              </a:rPr>
              <a:t> u = v </a:t>
            </a:r>
            <a:r>
              <a:rPr lang="zh-CN" altLang="zh-CN" sz="1200" kern="1200" dirty="0">
                <a:solidFill>
                  <a:schemeClr val="tx1"/>
                </a:solidFill>
                <a:effectLst/>
                <a:latin typeface="+mn-lt"/>
                <a:ea typeface="+mn-ea"/>
                <a:cs typeface="+mn-cs"/>
              </a:rPr>
              <a:t>的赋值表达式，这种表达式被称为复制语句，简称复制。如果我们在例</a:t>
            </a:r>
            <a:r>
              <a:rPr lang="en-US" altLang="zh-CN" sz="1200" kern="1200" dirty="0">
                <a:solidFill>
                  <a:schemeClr val="tx1"/>
                </a:solidFill>
                <a:effectLst/>
                <a:latin typeface="+mn-lt"/>
                <a:ea typeface="+mn-ea"/>
                <a:cs typeface="+mn-cs"/>
              </a:rPr>
              <a:t> 9.2 </a:t>
            </a:r>
            <a:r>
              <a:rPr lang="zh-CN" altLang="zh-CN" sz="1200" kern="1200" dirty="0">
                <a:solidFill>
                  <a:schemeClr val="tx1"/>
                </a:solidFill>
                <a:effectLst/>
                <a:latin typeface="+mn-lt"/>
                <a:ea typeface="+mn-ea"/>
                <a:cs typeface="+mn-cs"/>
              </a:rPr>
              <a:t>中更详细地讨论，很快就会发现一些复制语句。因为消除公共子表达式的常用算法会引入复制语句，其他几种优化算法也会引入这样的语句。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60918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去掉公共同子表达式 d+e 后，就引入了复制语句 c = t</a:t>
            </a:r>
            <a:r>
              <a:rPr lang="en-US" altLang="zh-CN" dirty="0"/>
              <a:t>(</a:t>
            </a:r>
            <a:r>
              <a:rPr lang="zh-CN" altLang="en-US" sz="1200" b="1" dirty="0">
                <a:solidFill>
                  <a:schemeClr val="tx2">
                    <a:lumMod val="60000"/>
                    <a:lumOff val="40000"/>
                  </a:schemeClr>
                </a:solidFill>
              </a:rPr>
              <a:t>复制语句，</a:t>
            </a:r>
            <a:r>
              <a:rPr lang="zh-CN" altLang="en-US" sz="1200" b="1" dirty="0">
                <a:solidFill>
                  <a:schemeClr val="tx1"/>
                </a:solidFill>
                <a:latin typeface="楷体" panose="02010609060101010101" pitchFamily="49" charset="-122"/>
                <a:cs typeface="Times New Roman" panose="02020603050405020304" pitchFamily="18" charset="0"/>
              </a:rPr>
              <a:t>即</a:t>
            </a:r>
            <a:r>
              <a:rPr lang="zh-CN" altLang="en-US" sz="1200" b="1" dirty="0">
                <a:solidFill>
                  <a:schemeClr val="tx1"/>
                </a:solidFill>
                <a:cs typeface="Times New Roman" panose="02020603050405020304" pitchFamily="18" charset="0"/>
              </a:rPr>
              <a:t>形如</a:t>
            </a:r>
            <a:r>
              <a:rPr lang="en-US" altLang="zh-CN" sz="1200" b="1" i="1" dirty="0">
                <a:solidFill>
                  <a:schemeClr val="tx1"/>
                </a:solidFill>
                <a:cs typeface="Times New Roman" panose="02020603050405020304" pitchFamily="18" charset="0"/>
              </a:rPr>
              <a:t>x</a:t>
            </a:r>
            <a:r>
              <a:rPr lang="en-US" altLang="zh-CN" sz="1200" b="1" dirty="0">
                <a:solidFill>
                  <a:schemeClr val="tx1"/>
                </a:solidFill>
                <a:cs typeface="Times New Roman" panose="02020603050405020304" pitchFamily="18" charset="0"/>
              </a:rPr>
              <a:t> = </a:t>
            </a:r>
            <a:r>
              <a:rPr lang="en-US" altLang="zh-CN" sz="1200" b="1" i="1" dirty="0">
                <a:solidFill>
                  <a:schemeClr val="tx1"/>
                </a:solidFill>
                <a:cs typeface="Times New Roman" panose="02020603050405020304" pitchFamily="18" charset="0"/>
              </a:rPr>
              <a:t>y</a:t>
            </a:r>
            <a:r>
              <a:rPr lang="zh-CN" altLang="en-US" sz="1200" b="1" dirty="0">
                <a:solidFill>
                  <a:schemeClr val="tx1"/>
                </a:solidFill>
                <a:cs typeface="Times New Roman" panose="02020603050405020304" pitchFamily="18" charset="0"/>
              </a:rPr>
              <a:t>的赋值语句</a:t>
            </a:r>
            <a:r>
              <a:rPr lang="en-US" altLang="zh-CN" sz="1200" b="1" dirty="0">
                <a:solidFill>
                  <a:schemeClr val="tx1"/>
                </a:solidFill>
                <a:cs typeface="Times New Roman" panose="02020603050405020304" pitchFamily="18" charset="0"/>
              </a:rPr>
              <a:t>)</a:t>
            </a:r>
          </a:p>
          <a:p>
            <a:r>
              <a:rPr lang="zh-CN" altLang="en-US" dirty="0"/>
              <a:t>常用的公共子表达式消除算法和其它一些优化算法会引入一些复制语句</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9.3</a:t>
            </a:r>
            <a:r>
              <a:rPr lang="zh-CN" altLang="zh-CN" sz="1200" kern="1200" dirty="0">
                <a:solidFill>
                  <a:schemeClr val="tx1"/>
                </a:solidFill>
                <a:effectLst/>
                <a:latin typeface="+mn-lt"/>
                <a:ea typeface="+mn-ea"/>
                <a:cs typeface="+mn-cs"/>
              </a:rPr>
              <a:t>：为了消除图</a:t>
            </a:r>
            <a:r>
              <a:rPr lang="en-US" altLang="zh-CN" sz="1200" kern="1200" dirty="0">
                <a:solidFill>
                  <a:schemeClr val="tx1"/>
                </a:solidFill>
                <a:effectLst/>
                <a:latin typeface="+mn-lt"/>
                <a:ea typeface="+mn-ea"/>
                <a:cs typeface="+mn-cs"/>
              </a:rPr>
              <a:t> 9.6(a) </a:t>
            </a:r>
            <a:r>
              <a:rPr lang="zh-CN" altLang="zh-CN" sz="1200" kern="1200" dirty="0">
                <a:solidFill>
                  <a:schemeClr val="tx1"/>
                </a:solidFill>
                <a:effectLst/>
                <a:latin typeface="+mn-lt"/>
                <a:ea typeface="+mn-ea"/>
                <a:cs typeface="+mn-cs"/>
              </a:rPr>
              <a:t>中的公共子表达式语句</a:t>
            </a:r>
            <a:r>
              <a:rPr lang="en-US" altLang="zh-CN" sz="1200" kern="1200" dirty="0">
                <a:solidFill>
                  <a:schemeClr val="tx1"/>
                </a:solidFill>
                <a:effectLst/>
                <a:latin typeface="+mn-lt"/>
                <a:ea typeface="+mn-ea"/>
                <a:cs typeface="+mn-cs"/>
              </a:rPr>
              <a:t> c = </a:t>
            </a:r>
            <a:r>
              <a:rPr lang="en-US" altLang="zh-CN" sz="1200" kern="1200" dirty="0" err="1">
                <a:solidFill>
                  <a:schemeClr val="tx1"/>
                </a:solidFill>
                <a:effectLst/>
                <a:latin typeface="+mn-lt"/>
                <a:ea typeface="+mn-ea"/>
                <a:cs typeface="+mn-cs"/>
              </a:rPr>
              <a:t>d+e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，我们必须使用一个新变量</a:t>
            </a:r>
            <a:r>
              <a:rPr lang="en-US" altLang="zh-CN" sz="1200" kern="1200" dirty="0">
                <a:solidFill>
                  <a:schemeClr val="tx1"/>
                </a:solidFill>
                <a:effectLst/>
                <a:latin typeface="+mn-lt"/>
                <a:ea typeface="+mn-ea"/>
                <a:cs typeface="+mn-cs"/>
              </a:rPr>
              <a:t> t </a:t>
            </a:r>
            <a:r>
              <a:rPr lang="zh-CN" altLang="zh-CN" sz="1200" kern="1200" dirty="0">
                <a:solidFill>
                  <a:schemeClr val="tx1"/>
                </a:solidFill>
                <a:effectLst/>
                <a:latin typeface="+mn-lt"/>
                <a:ea typeface="+mn-ea"/>
                <a:cs typeface="+mn-cs"/>
              </a:rPr>
              <a:t>来保存</a:t>
            </a:r>
            <a:r>
              <a:rPr lang="en-US" altLang="zh-CN" sz="1200" kern="1200" dirty="0">
                <a:solidFill>
                  <a:schemeClr val="tx1"/>
                </a:solidFill>
                <a:effectLst/>
                <a:latin typeface="+mn-lt"/>
                <a:ea typeface="+mn-ea"/>
                <a:cs typeface="+mn-cs"/>
              </a:rPr>
              <a:t> d + e </a:t>
            </a:r>
            <a:r>
              <a:rPr lang="zh-CN" altLang="zh-CN" sz="1200" kern="1200" dirty="0">
                <a:solidFill>
                  <a:schemeClr val="tx1"/>
                </a:solidFill>
                <a:effectLst/>
                <a:latin typeface="+mn-lt"/>
                <a:ea typeface="+mn-ea"/>
                <a:cs typeface="+mn-cs"/>
              </a:rPr>
              <a:t>的值。在图</a:t>
            </a:r>
            <a:r>
              <a:rPr lang="en-US" altLang="zh-CN" sz="1200" kern="1200" dirty="0">
                <a:solidFill>
                  <a:schemeClr val="tx1"/>
                </a:solidFill>
                <a:effectLst/>
                <a:latin typeface="+mn-lt"/>
                <a:ea typeface="+mn-ea"/>
                <a:cs typeface="+mn-cs"/>
              </a:rPr>
              <a:t> 9.6(b) </a:t>
            </a:r>
            <a:r>
              <a:rPr lang="zh-CN" altLang="zh-CN" sz="1200" kern="1200" dirty="0">
                <a:solidFill>
                  <a:schemeClr val="tx1"/>
                </a:solidFill>
                <a:effectLst/>
                <a:latin typeface="+mn-lt"/>
                <a:ea typeface="+mn-ea"/>
                <a:cs typeface="+mn-cs"/>
              </a:rPr>
              <a:t>中，变量</a:t>
            </a:r>
            <a:r>
              <a:rPr lang="en-US" altLang="zh-CN" sz="1200" kern="1200" dirty="0">
                <a:solidFill>
                  <a:schemeClr val="tx1"/>
                </a:solidFill>
                <a:effectLst/>
                <a:latin typeface="+mn-lt"/>
                <a:ea typeface="+mn-ea"/>
                <a:cs typeface="+mn-cs"/>
              </a:rPr>
              <a:t> t </a:t>
            </a:r>
            <a:r>
              <a:rPr lang="zh-CN" altLang="zh-CN" sz="1200" kern="1200" dirty="0">
                <a:solidFill>
                  <a:schemeClr val="tx1"/>
                </a:solidFill>
                <a:effectLst/>
                <a:latin typeface="+mn-lt"/>
                <a:ea typeface="+mn-ea"/>
                <a:cs typeface="+mn-cs"/>
              </a:rPr>
              <a:t>的值而不是表达式</a:t>
            </a:r>
            <a:r>
              <a:rPr lang="en-US" altLang="zh-CN" sz="1200" kern="1200" dirty="0">
                <a:solidFill>
                  <a:schemeClr val="tx1"/>
                </a:solidFill>
                <a:effectLst/>
                <a:latin typeface="+mn-lt"/>
                <a:ea typeface="+mn-ea"/>
                <a:cs typeface="+mn-cs"/>
              </a:rPr>
              <a:t> d + e </a:t>
            </a:r>
            <a:r>
              <a:rPr lang="zh-CN" altLang="zh-CN" sz="1200" kern="1200" dirty="0">
                <a:solidFill>
                  <a:schemeClr val="tx1"/>
                </a:solidFill>
                <a:effectLst/>
                <a:latin typeface="+mn-lt"/>
                <a:ea typeface="+mn-ea"/>
                <a:cs typeface="+mn-cs"/>
              </a:rPr>
              <a:t>的值被赋给</a:t>
            </a:r>
            <a:r>
              <a:rPr lang="en-US" altLang="zh-CN" sz="1200" kern="1200" dirty="0">
                <a:solidFill>
                  <a:schemeClr val="tx1"/>
                </a:solidFill>
                <a:effectLst/>
                <a:latin typeface="+mn-lt"/>
                <a:ea typeface="+mn-ea"/>
                <a:cs typeface="+mn-cs"/>
              </a:rPr>
              <a:t> c</a:t>
            </a:r>
            <a:r>
              <a:rPr lang="zh-CN" altLang="zh-CN" sz="1200" kern="1200" dirty="0">
                <a:solidFill>
                  <a:schemeClr val="tx1"/>
                </a:solidFill>
                <a:effectLst/>
                <a:latin typeface="+mn-lt"/>
                <a:ea typeface="+mn-ea"/>
                <a:cs typeface="+mn-cs"/>
              </a:rPr>
              <a:t>。由于控制可能经过对</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的赋值到达</a:t>
            </a:r>
            <a:r>
              <a:rPr lang="en-US" altLang="zh-CN" sz="1200" kern="1200" dirty="0">
                <a:solidFill>
                  <a:schemeClr val="tx1"/>
                </a:solidFill>
                <a:effectLst/>
                <a:latin typeface="+mn-lt"/>
                <a:ea typeface="+mn-ea"/>
                <a:cs typeface="+mn-cs"/>
              </a:rPr>
              <a:t> c = </a:t>
            </a:r>
            <a:r>
              <a:rPr lang="en-US" altLang="zh-CN" sz="1200" kern="1200" dirty="0" err="1">
                <a:solidFill>
                  <a:schemeClr val="tx1"/>
                </a:solidFill>
                <a:effectLst/>
                <a:latin typeface="+mn-lt"/>
                <a:ea typeface="+mn-ea"/>
                <a:cs typeface="+mn-cs"/>
              </a:rPr>
              <a:t>d+e</a:t>
            </a:r>
            <a:r>
              <a:rPr lang="zh-CN" altLang="zh-CN" sz="1200" kern="1200" dirty="0">
                <a:solidFill>
                  <a:schemeClr val="tx1"/>
                </a:solidFill>
                <a:effectLst/>
                <a:latin typeface="+mn-lt"/>
                <a:ea typeface="+mn-ea"/>
                <a:cs typeface="+mn-cs"/>
              </a:rPr>
              <a:t>处，也可能经过对 </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的赋值到达</a:t>
            </a:r>
            <a:r>
              <a:rPr lang="en-US" altLang="zh-CN" sz="1200" kern="1200" dirty="0">
                <a:solidFill>
                  <a:schemeClr val="tx1"/>
                </a:solidFill>
                <a:effectLst/>
                <a:latin typeface="+mn-lt"/>
                <a:ea typeface="+mn-ea"/>
                <a:cs typeface="+mn-cs"/>
              </a:rPr>
              <a:t> c = </a:t>
            </a:r>
            <a:r>
              <a:rPr lang="en-US" altLang="zh-CN" sz="1200" kern="1200" dirty="0" err="1">
                <a:solidFill>
                  <a:schemeClr val="tx1"/>
                </a:solidFill>
                <a:effectLst/>
                <a:latin typeface="+mn-lt"/>
                <a:ea typeface="+mn-ea"/>
                <a:cs typeface="+mn-cs"/>
              </a:rPr>
              <a:t>d+e</a:t>
            </a:r>
            <a:r>
              <a:rPr lang="zh-CN" altLang="zh-CN" sz="1200" kern="1200" dirty="0">
                <a:solidFill>
                  <a:schemeClr val="tx1"/>
                </a:solidFill>
                <a:effectLst/>
                <a:latin typeface="+mn-lt"/>
                <a:ea typeface="+mn-ea"/>
                <a:cs typeface="+mn-cs"/>
              </a:rPr>
              <a:t>处，因此用</a:t>
            </a:r>
            <a:r>
              <a:rPr lang="en-US" altLang="zh-CN" sz="1200" kern="1200" dirty="0">
                <a:solidFill>
                  <a:schemeClr val="tx1"/>
                </a:solidFill>
                <a:effectLst/>
                <a:latin typeface="+mn-lt"/>
                <a:ea typeface="+mn-ea"/>
                <a:cs typeface="+mn-cs"/>
              </a:rPr>
              <a:t> c = a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c = b </a:t>
            </a:r>
            <a:r>
              <a:rPr lang="zh-CN" altLang="zh-CN" sz="1200" kern="1200" dirty="0">
                <a:solidFill>
                  <a:schemeClr val="tx1"/>
                </a:solidFill>
                <a:effectLst/>
                <a:latin typeface="+mn-lt"/>
                <a:ea typeface="+mn-ea"/>
                <a:cs typeface="+mn-cs"/>
              </a:rPr>
              <a:t>替换</a:t>
            </a:r>
            <a:r>
              <a:rPr lang="en-US" altLang="zh-CN" sz="1200" kern="1200" dirty="0">
                <a:solidFill>
                  <a:schemeClr val="tx1"/>
                </a:solidFill>
                <a:effectLst/>
                <a:latin typeface="+mn-lt"/>
                <a:ea typeface="+mn-ea"/>
                <a:cs typeface="+mn-cs"/>
              </a:rPr>
              <a:t> c = </a:t>
            </a:r>
            <a:r>
              <a:rPr lang="en-US" altLang="zh-CN" sz="1200" kern="1200" dirty="0" err="1">
                <a:solidFill>
                  <a:schemeClr val="tx1"/>
                </a:solidFill>
                <a:effectLst/>
                <a:latin typeface="+mn-lt"/>
                <a:ea typeface="+mn-ea"/>
                <a:cs typeface="+mn-cs"/>
              </a:rPr>
              <a:t>d+e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是不正确的。</a:t>
            </a:r>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复制传播变换背后的思想是在复制语句</a:t>
            </a:r>
            <a:r>
              <a:rPr lang="en-US" altLang="zh-CN" sz="1200" kern="1200" dirty="0">
                <a:solidFill>
                  <a:schemeClr val="tx1"/>
                </a:solidFill>
                <a:effectLst/>
                <a:latin typeface="+mn-lt"/>
                <a:ea typeface="+mn-ea"/>
                <a:cs typeface="+mn-cs"/>
              </a:rPr>
              <a:t> u = v </a:t>
            </a:r>
            <a:r>
              <a:rPr lang="zh-CN" altLang="zh-CN" sz="1200" kern="1200" dirty="0">
                <a:solidFill>
                  <a:schemeClr val="tx1"/>
                </a:solidFill>
                <a:effectLst/>
                <a:latin typeface="+mn-lt"/>
                <a:ea typeface="+mn-ea"/>
                <a:cs typeface="+mn-cs"/>
              </a:rPr>
              <a:t>之后尽可能使用</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代替</a:t>
            </a:r>
            <a:r>
              <a:rPr lang="en-US" altLang="zh-CN" sz="1200" kern="1200" dirty="0">
                <a:solidFill>
                  <a:schemeClr val="tx1"/>
                </a:solidFill>
                <a:effectLst/>
                <a:latin typeface="+mn-lt"/>
                <a:ea typeface="+mn-ea"/>
                <a:cs typeface="+mn-cs"/>
              </a:rPr>
              <a:t> u</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例如，图</a:t>
            </a:r>
            <a:r>
              <a:rPr lang="en-US" altLang="zh-CN" sz="1200" kern="1200" dirty="0">
                <a:solidFill>
                  <a:schemeClr val="tx1"/>
                </a:solidFill>
                <a:effectLst/>
                <a:latin typeface="+mn-lt"/>
                <a:ea typeface="+mn-ea"/>
                <a:cs typeface="+mn-cs"/>
              </a:rPr>
              <a:t> 9.5 </a:t>
            </a:r>
            <a:r>
              <a:rPr lang="zh-CN" altLang="zh-CN" sz="1200" kern="1200" dirty="0">
                <a:solidFill>
                  <a:schemeClr val="tx1"/>
                </a:solidFill>
                <a:effectLst/>
                <a:latin typeface="+mn-lt"/>
                <a:ea typeface="+mn-ea"/>
                <a:cs typeface="+mn-cs"/>
              </a:rPr>
              <a:t>的块</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中的赋值语句</a:t>
            </a:r>
            <a:r>
              <a:rPr lang="en-US" altLang="zh-CN" sz="1200" kern="1200" dirty="0">
                <a:solidFill>
                  <a:schemeClr val="tx1"/>
                </a:solidFill>
                <a:effectLst/>
                <a:latin typeface="+mn-lt"/>
                <a:ea typeface="+mn-ea"/>
                <a:cs typeface="+mn-cs"/>
              </a:rPr>
              <a:t> x = t3 </a:t>
            </a:r>
            <a:r>
              <a:rPr lang="zh-CN" altLang="zh-CN" sz="1200" kern="1200" dirty="0">
                <a:solidFill>
                  <a:schemeClr val="tx1"/>
                </a:solidFill>
                <a:effectLst/>
                <a:latin typeface="+mn-lt"/>
                <a:ea typeface="+mn-ea"/>
                <a:cs typeface="+mn-cs"/>
              </a:rPr>
              <a:t>是一个复制语句。应用于</a:t>
            </a:r>
            <a:r>
              <a:rPr lang="en-US" altLang="zh-CN" sz="1200" kern="1200" dirty="0">
                <a:solidFill>
                  <a:schemeClr val="tx1"/>
                </a:solidFill>
                <a:effectLst/>
                <a:latin typeface="+mn-lt"/>
                <a:ea typeface="+mn-ea"/>
                <a:cs typeface="+mn-cs"/>
              </a:rPr>
              <a:t> B5 </a:t>
            </a:r>
            <a:r>
              <a:rPr lang="zh-CN" altLang="zh-CN" sz="1200" kern="1200" dirty="0">
                <a:solidFill>
                  <a:schemeClr val="tx1"/>
                </a:solidFill>
                <a:effectLst/>
                <a:latin typeface="+mn-lt"/>
                <a:ea typeface="+mn-ea"/>
                <a:cs typeface="+mn-cs"/>
              </a:rPr>
              <a:t>的复制传播产生图</a:t>
            </a:r>
            <a:r>
              <a:rPr lang="en-US" altLang="zh-CN" sz="1200" kern="1200" dirty="0">
                <a:solidFill>
                  <a:schemeClr val="tx1"/>
                </a:solidFill>
                <a:effectLst/>
                <a:latin typeface="+mn-lt"/>
                <a:ea typeface="+mn-ea"/>
                <a:cs typeface="+mn-cs"/>
              </a:rPr>
              <a:t> 9.7 </a:t>
            </a:r>
            <a:r>
              <a:rPr lang="zh-CN" altLang="zh-CN" sz="1200" kern="1200" dirty="0">
                <a:solidFill>
                  <a:schemeClr val="tx1"/>
                </a:solidFill>
                <a:effectLst/>
                <a:latin typeface="+mn-lt"/>
                <a:ea typeface="+mn-ea"/>
                <a:cs typeface="+mn-cs"/>
              </a:rPr>
              <a:t>中的代码。这一变化可能看起来不是一种改进，但是，正如我们将在第</a:t>
            </a:r>
            <a:r>
              <a:rPr lang="en-US" altLang="zh-CN" sz="1200" kern="1200" dirty="0">
                <a:solidFill>
                  <a:schemeClr val="tx1"/>
                </a:solidFill>
                <a:effectLst/>
                <a:latin typeface="+mn-lt"/>
                <a:ea typeface="+mn-ea"/>
                <a:cs typeface="+mn-cs"/>
              </a:rPr>
              <a:t> 9.1.6 </a:t>
            </a:r>
            <a:r>
              <a:rPr lang="zh-CN" altLang="zh-CN" sz="1200" kern="1200" dirty="0">
                <a:solidFill>
                  <a:schemeClr val="tx1"/>
                </a:solidFill>
                <a:effectLst/>
                <a:latin typeface="+mn-lt"/>
                <a:ea typeface="+mn-ea"/>
                <a:cs typeface="+mn-cs"/>
              </a:rPr>
              <a:t>节中看到的，它为我们提供了消除对</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赋值的语句的机会。</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如果一个变量在某一程序点上的值可能会在以后使用，那么我们就说这个变量在该点上是活跃的。否则，它在该点就是死的。与此相关的一个想法就是死（或无用）代码。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所谓死代码就是其计算结果永远都不会被使用的语句。</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虽然程序员不太可能故意引入死代码，死代码多半是因为前面执行过的某些转换而造成的。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复制传播的优点之一是它经常将复制语句变成死代码。例如，先进行复制传播再进行死代码消除，就可以去掉图</a:t>
            </a:r>
            <a:r>
              <a:rPr lang="en-US" altLang="zh-CN" sz="1200" kern="1200" dirty="0">
                <a:solidFill>
                  <a:schemeClr val="tx1"/>
                </a:solidFill>
                <a:effectLst/>
                <a:latin typeface="+mn-lt"/>
                <a:ea typeface="+mn-ea"/>
                <a:cs typeface="+mn-cs"/>
              </a:rPr>
              <a:t> 9.7 (</a:t>
            </a:r>
            <a:r>
              <a:rPr lang="zh-CN" altLang="en-US" sz="1200" kern="1200" dirty="0">
                <a:solidFill>
                  <a:schemeClr val="tx1"/>
                </a:solidFill>
                <a:effectLst/>
                <a:latin typeface="+mn-lt"/>
                <a:ea typeface="+mn-ea"/>
                <a:cs typeface="+mn-cs"/>
              </a:rPr>
              <a:t>左图）</a:t>
            </a:r>
            <a:r>
              <a:rPr lang="zh-CN" altLang="zh-CN" sz="1200" kern="1200" dirty="0">
                <a:solidFill>
                  <a:schemeClr val="tx1"/>
                </a:solidFill>
                <a:effectLst/>
                <a:latin typeface="+mn-lt"/>
                <a:ea typeface="+mn-ea"/>
                <a:cs typeface="+mn-cs"/>
              </a:rPr>
              <a:t>中的代码对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的赋值，并将转换为</a:t>
            </a:r>
            <a:r>
              <a:rPr lang="zh-CN" altLang="en-US" sz="1200" kern="1200" dirty="0">
                <a:solidFill>
                  <a:schemeClr val="tx1"/>
                </a:solidFill>
                <a:effectLst/>
                <a:latin typeface="+mn-lt"/>
                <a:ea typeface="+mn-ea"/>
                <a:cs typeface="+mn-cs"/>
              </a:rPr>
              <a:t>（右图）</a:t>
            </a:r>
            <a:endParaRPr lang="zh-CN" altLang="zh-CN" sz="1200" kern="1200" dirty="0">
              <a:solidFill>
                <a:schemeClr val="tx1"/>
              </a:solidFill>
              <a:effectLst/>
              <a:latin typeface="+mn-lt"/>
              <a:ea typeface="+mn-ea"/>
              <a:cs typeface="+mn-cs"/>
            </a:endParaRPr>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循环是优化的一个非常重要的地方，特别是程序往往花费大量时间的内部循环。如果我们减少内部循环中的指令数量，即使我们增加该循环外部的代码量，程序的运行时间也可能会得到改善。</a:t>
            </a:r>
          </a:p>
          <a:p>
            <a:r>
              <a:rPr lang="zh-CN" altLang="zh-CN" sz="1200" kern="1200" dirty="0">
                <a:solidFill>
                  <a:schemeClr val="tx1"/>
                </a:solidFill>
                <a:effectLst/>
                <a:latin typeface="+mn-lt"/>
                <a:ea typeface="+mn-ea"/>
                <a:cs typeface="+mn-cs"/>
              </a:rPr>
              <a:t>减少循环内部代码数量一个重要改动是代码移动。此转换处理的是那些不管循环执行多少次都得到相同结果的表达式（循环不变计算），在进入循环之前就对它们求值。</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请注意，概念 “在循环之前</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的说法假定存在一个循环入口。所谓循环入口就是一个基本块（请参见第</a:t>
            </a:r>
            <a:r>
              <a:rPr lang="en-US" altLang="zh-CN" sz="1200" kern="1200" dirty="0">
                <a:solidFill>
                  <a:schemeClr val="tx1"/>
                </a:solidFill>
                <a:effectLst/>
                <a:latin typeface="+mn-lt"/>
                <a:ea typeface="+mn-ea"/>
                <a:cs typeface="+mn-cs"/>
              </a:rPr>
              <a:t> 8.4.5 </a:t>
            </a:r>
            <a:r>
              <a:rPr lang="zh-CN" altLang="zh-CN" sz="1200" kern="1200" dirty="0">
                <a:solidFill>
                  <a:schemeClr val="tx1"/>
                </a:solidFill>
                <a:effectLst/>
                <a:latin typeface="+mn-lt"/>
                <a:ea typeface="+mn-ea"/>
                <a:cs typeface="+mn-cs"/>
              </a:rPr>
              <a:t>节）所有循环外部到循环的跳转指令都以它为目标。</a:t>
            </a:r>
            <a:endParaRPr lang="en-US" altLang="zh-CN" dirty="0"/>
          </a:p>
          <a:p>
            <a:endParaRPr lang="en-US" altLang="zh-CN" dirty="0"/>
          </a:p>
          <a:p>
            <a:r>
              <a:rPr lang="zh-CN" altLang="zh-CN" sz="1200" kern="1200" dirty="0">
                <a:solidFill>
                  <a:schemeClr val="tx1"/>
                </a:solidFill>
                <a:effectLst/>
                <a:latin typeface="+mn-lt"/>
                <a:ea typeface="+mn-ea"/>
                <a:cs typeface="+mn-cs"/>
              </a:rPr>
              <a:t>示例</a:t>
            </a:r>
            <a:r>
              <a:rPr lang="en-US" altLang="zh-CN" sz="1200" kern="1200" dirty="0">
                <a:solidFill>
                  <a:schemeClr val="tx1"/>
                </a:solidFill>
                <a:effectLst/>
                <a:latin typeface="+mn-lt"/>
                <a:ea typeface="+mn-ea"/>
                <a:cs typeface="+mn-cs"/>
              </a:rPr>
              <a:t> 9.5</a:t>
            </a:r>
            <a:r>
              <a:rPr lang="zh-CN" altLang="zh-CN" sz="1200" kern="1200" dirty="0">
                <a:solidFill>
                  <a:schemeClr val="tx1"/>
                </a:solidFill>
                <a:effectLst/>
                <a:latin typeface="+mn-lt"/>
                <a:ea typeface="+mn-ea"/>
                <a:cs typeface="+mn-cs"/>
              </a:rPr>
              <a:t>：在下面的</a:t>
            </a:r>
            <a:r>
              <a:rPr lang="en-US" altLang="zh-CN" sz="1200" kern="1200" dirty="0">
                <a:solidFill>
                  <a:schemeClr val="tx1"/>
                </a:solidFill>
                <a:effectLst/>
                <a:latin typeface="+mn-lt"/>
                <a:ea typeface="+mn-ea"/>
                <a:cs typeface="+mn-cs"/>
              </a:rPr>
              <a:t>while</a:t>
            </a:r>
            <a:r>
              <a:rPr lang="zh-CN" altLang="zh-CN" sz="1200" kern="1200" dirty="0">
                <a:solidFill>
                  <a:schemeClr val="tx1"/>
                </a:solidFill>
                <a:effectLst/>
                <a:latin typeface="+mn-lt"/>
                <a:ea typeface="+mn-ea"/>
                <a:cs typeface="+mn-cs"/>
              </a:rPr>
              <a:t>语句中，对</a:t>
            </a:r>
            <a:r>
              <a:rPr lang="en-US" altLang="zh-CN" sz="1200" kern="1200" dirty="0">
                <a:solidFill>
                  <a:schemeClr val="tx1"/>
                </a:solidFill>
                <a:effectLst/>
                <a:latin typeface="+mn-lt"/>
                <a:ea typeface="+mn-ea"/>
                <a:cs typeface="+mn-cs"/>
              </a:rPr>
              <a:t>limit- 2 </a:t>
            </a:r>
            <a:r>
              <a:rPr lang="zh-CN" altLang="zh-CN" sz="1200" kern="1200" dirty="0">
                <a:solidFill>
                  <a:schemeClr val="tx1"/>
                </a:solidFill>
                <a:effectLst/>
                <a:latin typeface="+mn-lt"/>
                <a:ea typeface="+mn-ea"/>
                <a:cs typeface="+mn-cs"/>
              </a:rPr>
              <a:t>的求值是一个循环不变计算：</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现在，</a:t>
            </a:r>
            <a:r>
              <a:rPr lang="en-US" altLang="zh-CN" sz="1200" kern="1200" dirty="0">
                <a:solidFill>
                  <a:schemeClr val="tx1"/>
                </a:solidFill>
                <a:effectLst/>
                <a:latin typeface="+mn-lt"/>
                <a:ea typeface="+mn-ea"/>
                <a:cs typeface="+mn-cs"/>
              </a:rPr>
              <a:t>limit- 2 </a:t>
            </a:r>
            <a:r>
              <a:rPr lang="zh-CN" altLang="zh-CN" sz="1200" kern="1200" dirty="0">
                <a:solidFill>
                  <a:schemeClr val="tx1"/>
                </a:solidFill>
                <a:effectLst/>
                <a:latin typeface="+mn-lt"/>
                <a:ea typeface="+mn-ea"/>
                <a:cs typeface="+mn-cs"/>
              </a:rPr>
              <a:t>的计算只在进入循环之前被执行一次。之前，如果我们重复循环体</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次，将会对</a:t>
            </a:r>
            <a:r>
              <a:rPr lang="en-US" altLang="zh-CN" sz="1200" kern="1200" dirty="0">
                <a:solidFill>
                  <a:schemeClr val="tx1"/>
                </a:solidFill>
                <a:effectLst/>
                <a:latin typeface="+mn-lt"/>
                <a:ea typeface="+mn-ea"/>
                <a:cs typeface="+mn-cs"/>
              </a:rPr>
              <a:t> limit -2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n + 1 </a:t>
            </a:r>
            <a:r>
              <a:rPr lang="zh-CN" altLang="zh-CN" sz="1200" kern="1200" dirty="0">
                <a:solidFill>
                  <a:schemeClr val="tx1"/>
                </a:solidFill>
                <a:effectLst/>
                <a:latin typeface="+mn-lt"/>
                <a:ea typeface="+mn-ea"/>
                <a:cs typeface="+mn-cs"/>
              </a:rPr>
              <a:t>次。</a:t>
            </a:r>
          </a:p>
          <a:p>
            <a:endParaRPr lang="en-US" altLang="zh-CN" dirty="0"/>
          </a:p>
          <a:p>
            <a:endParaRPr lang="en-US" altLang="zh-CN" dirty="0"/>
          </a:p>
          <a:p>
            <a:endParaRPr lang="en-US" altLang="zh-CN" dirty="0"/>
          </a:p>
          <a:p>
            <a:r>
              <a:rPr lang="zh-CN" altLang="en-US" dirty="0"/>
              <a:t>环是进行优化的重要场所</a:t>
            </a:r>
          </a:p>
          <a:p>
            <a:r>
              <a:rPr lang="zh-CN" altLang="en-US" dirty="0"/>
              <a:t>循环不变式：无论循环执行多少次，结果都相同的表达式</a:t>
            </a:r>
          </a:p>
          <a:p>
            <a:r>
              <a:rPr lang="zh-CN" altLang="en-US" dirty="0"/>
              <a:t>移动循环不变式并在循环前对其进行评估可减少程序的运行时间</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数据流分析</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是指</a:t>
            </a:r>
            <a:r>
              <a:rPr lang="zh-CN" altLang="en-US" sz="1200" kern="1200" dirty="0">
                <a:solidFill>
                  <a:schemeClr val="tx1"/>
                </a:solidFill>
                <a:effectLst/>
                <a:latin typeface="+mn-lt"/>
                <a:ea typeface="+mn-ea"/>
                <a:cs typeface="+mn-cs"/>
              </a:rPr>
              <a:t>一组用来获取有关数据如何沿着</a:t>
            </a:r>
            <a:r>
              <a:rPr lang="zh-CN" altLang="zh-CN" sz="1200" kern="1200" dirty="0">
                <a:solidFill>
                  <a:schemeClr val="tx1"/>
                </a:solidFill>
                <a:effectLst/>
                <a:latin typeface="+mn-lt"/>
                <a:ea typeface="+mn-ea"/>
                <a:cs typeface="+mn-cs"/>
              </a:rPr>
              <a:t>程序执行</a:t>
            </a:r>
            <a:r>
              <a:rPr lang="zh-CN" altLang="en-US" sz="1200" kern="1200" dirty="0">
                <a:solidFill>
                  <a:schemeClr val="tx1"/>
                </a:solidFill>
                <a:effectLst/>
                <a:latin typeface="+mn-lt"/>
                <a:ea typeface="+mn-ea"/>
                <a:cs typeface="+mn-cs"/>
              </a:rPr>
              <a:t>路径流动的相关信息的</a:t>
            </a:r>
            <a:r>
              <a:rPr lang="zh-CN" altLang="zh-CN" sz="1200" kern="1200" dirty="0">
                <a:solidFill>
                  <a:schemeClr val="tx1"/>
                </a:solidFill>
                <a:effectLst/>
                <a:latin typeface="+mn-lt"/>
                <a:ea typeface="+mn-ea"/>
                <a:cs typeface="+mn-cs"/>
              </a:rPr>
              <a:t>技术。</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例如，实现全局公共子表达式消除的一种方法要求我们确定在程序的任何可能的执行路径上，两个字面相同的表达式是否会给出相同的值。</a:t>
            </a:r>
            <a:r>
              <a:rPr lang="zh-CN" altLang="en-US" dirty="0">
                <a:sym typeface="+mn-ea"/>
              </a:rPr>
              <a:t>(找出共同的子表达式）</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另一个例子</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，如果某一个赋值语句的结果在任何后续执行路径中都没有被使用，那么我们可以将赋值作为死代码消除。</a:t>
            </a:r>
            <a:r>
              <a:rPr lang="zh-CN" altLang="en-US" dirty="0">
                <a:sym typeface="+mn-ea"/>
              </a:rPr>
              <a:t>？(消除死代码）</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这些和许多其他重要问题都可以通过数据流分析来回答。</a:t>
            </a:r>
            <a:r>
              <a:rPr lang="zh-CN" altLang="en-US" dirty="0">
                <a:sym typeface="+mn-ea"/>
              </a:rPr>
              <a:t>数据流分析是许多优化的基础。</a:t>
            </a:r>
            <a:endParaRPr lang="zh-CN" altLang="en-US" dirty="0"/>
          </a:p>
          <a:p>
            <a:endParaRPr lang="en-US" altLang="zh-CN" sz="1200" kern="1200" dirty="0">
              <a:solidFill>
                <a:schemeClr val="tx1"/>
              </a:solidFill>
              <a:effectLst/>
              <a:latin typeface="+mn-lt"/>
              <a:ea typeface="+mn-ea"/>
              <a:cs typeface="+mn-cs"/>
            </a:endParaRPr>
          </a:p>
          <a:p>
            <a:endParaRPr lang="zh-CN" altLang="en-US" dirty="0"/>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数据流抽象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程序的执行可以看作是对程序状态的一系列转换。程序状态由程序中的所有变量的值组成，同时包括运行时刻的栈顶之下各个帧的相关值。一个中间代码语句的每次执行都会把一个输入状态转换成一个新的输出状态。这个输出状态和处于该语句之前的程序点相关联，而输出状态和该语句之后的程序点相关联。</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我们分析程序的行为时，我们必须考虑程序执行时可能采取的各种通过程序的流图的程序点序列（“路径“）。然后，我们从各个程序点上可能的程序状态中提取需要的信息，解决特定的数据流分析问题。在更复杂的分析中，我们必须考虑在调用和返回执行时会形成在各种不同过程的流图之间跳转的路径。但是，要刚开始我们的分析研究时，我们将关注穿越单个过程的单个流图的路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让我们看看流图会告诉哪些关于可能执行路径的信息。</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在一个基本块内，一条语句之后的程序点是与它的下一条语句之前的程序点相同</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如果从块</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到块</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之间有一条边，则 </a:t>
            </a:r>
            <a:r>
              <a:rPr lang="en-US" altLang="zh-CN" sz="1200" kern="1200" dirty="0">
                <a:solidFill>
                  <a:schemeClr val="tx1"/>
                </a:solidFill>
                <a:effectLst/>
                <a:latin typeface="+mn-lt"/>
                <a:ea typeface="+mn-ea"/>
                <a:cs typeface="+mn-cs"/>
              </a:rPr>
              <a:t>B2 </a:t>
            </a:r>
            <a:r>
              <a:rPr lang="zh-CN" altLang="zh-CN" sz="1200" kern="1200" dirty="0">
                <a:solidFill>
                  <a:schemeClr val="tx1"/>
                </a:solidFill>
                <a:effectLst/>
                <a:latin typeface="+mn-lt"/>
                <a:ea typeface="+mn-ea"/>
                <a:cs typeface="+mn-cs"/>
              </a:rPr>
              <a:t>的第一个语句之前的程序点可能紧跟在</a:t>
            </a:r>
            <a:r>
              <a:rPr lang="en-US" altLang="zh-CN" sz="1200" kern="1200" dirty="0">
                <a:solidFill>
                  <a:schemeClr val="tx1"/>
                </a:solidFill>
                <a:effectLst/>
                <a:latin typeface="+mn-lt"/>
                <a:ea typeface="+mn-ea"/>
                <a:cs typeface="+mn-cs"/>
              </a:rPr>
              <a:t>B1 </a:t>
            </a:r>
            <a:r>
              <a:rPr lang="zh-CN" altLang="zh-CN" sz="1200" kern="1200" dirty="0">
                <a:solidFill>
                  <a:schemeClr val="tx1"/>
                </a:solidFill>
                <a:effectLst/>
                <a:latin typeface="+mn-lt"/>
                <a:ea typeface="+mn-ea"/>
                <a:cs typeface="+mn-cs"/>
              </a:rPr>
              <a:t>的最后一条语句的程序点之后。</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因此，我们可以把从点</a:t>
            </a:r>
            <a:r>
              <a:rPr lang="en-US" altLang="zh-CN" sz="1200" kern="1200" dirty="0">
                <a:solidFill>
                  <a:schemeClr val="tx1"/>
                </a:solidFill>
                <a:effectLst/>
                <a:latin typeface="+mn-lt"/>
                <a:ea typeface="+mn-ea"/>
                <a:cs typeface="+mn-cs"/>
              </a:rPr>
              <a:t> p1 </a:t>
            </a:r>
            <a:r>
              <a:rPr lang="zh-CN" altLang="zh-CN" sz="1200" kern="1200" dirty="0">
                <a:solidFill>
                  <a:schemeClr val="tx1"/>
                </a:solidFill>
                <a:effectLst/>
                <a:latin typeface="+mn-lt"/>
                <a:ea typeface="+mn-ea"/>
                <a:cs typeface="+mn-cs"/>
              </a:rPr>
              <a:t>到点</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pn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的一个执行路径（简称路径）定</a:t>
            </a:r>
            <a:r>
              <a:rPr lang="zh-CN" altLang="en-US" sz="1200" kern="1200" dirty="0">
                <a:solidFill>
                  <a:schemeClr val="tx1"/>
                </a:solidFill>
                <a:effectLst/>
                <a:latin typeface="+mn-lt"/>
                <a:ea typeface="+mn-ea"/>
                <a:cs typeface="+mn-cs"/>
              </a:rPr>
              <a:t>义</a:t>
            </a:r>
            <a:r>
              <a:rPr lang="zh-CN" altLang="zh-CN" sz="1200" kern="1200" dirty="0">
                <a:solidFill>
                  <a:schemeClr val="tx1"/>
                </a:solidFill>
                <a:effectLst/>
                <a:latin typeface="+mn-lt"/>
                <a:ea typeface="+mn-ea"/>
                <a:cs typeface="+mn-cs"/>
              </a:rPr>
              <a:t>为满足下列条件的点的序列点</a:t>
            </a:r>
            <a:r>
              <a:rPr lang="en-US" altLang="zh-CN" sz="1200" kern="1200" dirty="0">
                <a:solidFill>
                  <a:schemeClr val="tx1"/>
                </a:solidFill>
                <a:effectLst/>
                <a:latin typeface="+mn-lt"/>
                <a:ea typeface="+mn-ea"/>
                <a:cs typeface="+mn-cs"/>
              </a:rPr>
              <a:t> p1 ;p2 ;::: ;</a:t>
            </a:r>
            <a:r>
              <a:rPr lang="en-US" altLang="zh-CN" sz="1200" kern="1200" dirty="0" err="1">
                <a:solidFill>
                  <a:schemeClr val="tx1"/>
                </a:solidFill>
                <a:effectLst/>
                <a:latin typeface="+mn-lt"/>
                <a:ea typeface="+mn-ea"/>
                <a:cs typeface="+mn-cs"/>
              </a:rPr>
              <a:t>pn</a:t>
            </a:r>
            <a:r>
              <a:rPr lang="zh-CN" altLang="zh-CN" sz="1200" kern="1200" dirty="0">
                <a:solidFill>
                  <a:schemeClr val="tx1"/>
                </a:solidFill>
                <a:effectLst/>
                <a:latin typeface="+mn-lt"/>
                <a:ea typeface="+mn-ea"/>
                <a:cs typeface="+mn-cs"/>
              </a:rPr>
              <a:t>：对于每个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=1; 2;::: ;n -1</a:t>
            </a:r>
            <a:r>
              <a:rPr lang="zh-CN" altLang="zh-CN"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要么</a:t>
            </a:r>
            <a:r>
              <a:rPr lang="en-US" altLang="zh-CN" sz="1200" kern="1200" dirty="0">
                <a:solidFill>
                  <a:schemeClr val="tx1"/>
                </a:solidFill>
                <a:effectLst/>
                <a:latin typeface="+mn-lt"/>
                <a:ea typeface="+mn-ea"/>
                <a:cs typeface="+mn-cs"/>
              </a:rPr>
              <a:t> pi </a:t>
            </a:r>
            <a:r>
              <a:rPr lang="zh-CN" altLang="zh-CN" sz="1200" kern="1200" dirty="0">
                <a:solidFill>
                  <a:schemeClr val="tx1"/>
                </a:solidFill>
                <a:effectLst/>
                <a:latin typeface="+mn-lt"/>
                <a:ea typeface="+mn-ea"/>
                <a:cs typeface="+mn-cs"/>
              </a:rPr>
              <a:t>是紧接在一条语句之前的点，并且</a:t>
            </a:r>
            <a:r>
              <a:rPr lang="en-US" altLang="zh-CN" sz="1200" kern="1200" dirty="0">
                <a:solidFill>
                  <a:schemeClr val="tx1"/>
                </a:solidFill>
                <a:effectLst/>
                <a:latin typeface="+mn-lt"/>
                <a:ea typeface="+mn-ea"/>
                <a:cs typeface="+mn-cs"/>
              </a:rPr>
              <a:t> pi+1 </a:t>
            </a:r>
            <a:r>
              <a:rPr lang="zh-CN" altLang="zh-CN" sz="1200" kern="1200" dirty="0">
                <a:solidFill>
                  <a:schemeClr val="tx1"/>
                </a:solidFill>
                <a:effectLst/>
                <a:latin typeface="+mn-lt"/>
                <a:ea typeface="+mn-ea"/>
                <a:cs typeface="+mn-cs"/>
              </a:rPr>
              <a:t>是紧接在该语句之后的点，</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要么</a:t>
            </a:r>
            <a:r>
              <a:rPr lang="en-US" altLang="zh-CN" sz="1200" kern="1200" dirty="0">
                <a:solidFill>
                  <a:schemeClr val="tx1"/>
                </a:solidFill>
                <a:effectLst/>
                <a:latin typeface="+mn-lt"/>
                <a:ea typeface="+mn-ea"/>
                <a:cs typeface="+mn-cs"/>
              </a:rPr>
              <a:t>pi </a:t>
            </a:r>
            <a:r>
              <a:rPr lang="zh-CN" altLang="zh-CN" sz="1200" kern="1200" dirty="0">
                <a:solidFill>
                  <a:schemeClr val="tx1"/>
                </a:solidFill>
                <a:effectLst/>
                <a:latin typeface="+mn-lt"/>
                <a:ea typeface="+mn-ea"/>
                <a:cs typeface="+mn-cs"/>
              </a:rPr>
              <a:t>是某个块的末尾，并且</a:t>
            </a:r>
            <a:r>
              <a:rPr lang="en-US" altLang="zh-CN" sz="1200" kern="1200" dirty="0">
                <a:solidFill>
                  <a:schemeClr val="tx1"/>
                </a:solidFill>
                <a:effectLst/>
                <a:latin typeface="+mn-lt"/>
                <a:ea typeface="+mn-ea"/>
                <a:cs typeface="+mn-cs"/>
              </a:rPr>
              <a:t> pi+1</a:t>
            </a:r>
            <a:r>
              <a:rPr lang="zh-CN" altLang="zh-CN" sz="1200" kern="1200" dirty="0">
                <a:solidFill>
                  <a:schemeClr val="tx1"/>
                </a:solidFill>
                <a:effectLst/>
                <a:latin typeface="+mn-lt"/>
                <a:ea typeface="+mn-ea"/>
                <a:cs typeface="+mn-cs"/>
              </a:rPr>
              <a:t>是该基本块的一个后继块的开始。</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般来说，程序中可能存在无穷多条可能的执行路径，并且执行路径的长度并没有上限。程序分析把可能出现在某个程序点的所有程序状态总结为有穷的特性集合。不同的分析可以选择抽象掉不同的信息，并且一般来说，没有哪个分析会给出状态的完全表示。</a:t>
            </a:r>
          </a:p>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9.8</a:t>
            </a:r>
            <a:r>
              <a:rPr lang="zh-CN" altLang="zh-CN" sz="1200" kern="1200" dirty="0">
                <a:solidFill>
                  <a:schemeClr val="tx1"/>
                </a:solidFill>
                <a:effectLst/>
                <a:latin typeface="+mn-lt"/>
                <a:ea typeface="+mn-ea"/>
                <a:cs typeface="+mn-cs"/>
              </a:rPr>
              <a:t>：即使是图</a:t>
            </a:r>
            <a:r>
              <a:rPr lang="en-US" altLang="zh-CN" sz="1200" kern="1200" dirty="0">
                <a:solidFill>
                  <a:schemeClr val="tx1"/>
                </a:solidFill>
                <a:effectLst/>
                <a:latin typeface="+mn-lt"/>
                <a:ea typeface="+mn-ea"/>
                <a:cs typeface="+mn-cs"/>
              </a:rPr>
              <a:t> 9.12 </a:t>
            </a:r>
            <a:r>
              <a:rPr lang="zh-CN" altLang="zh-CN" sz="1200" kern="1200" dirty="0">
                <a:solidFill>
                  <a:schemeClr val="tx1"/>
                </a:solidFill>
                <a:effectLst/>
                <a:latin typeface="+mn-lt"/>
                <a:ea typeface="+mn-ea"/>
                <a:cs typeface="+mn-cs"/>
              </a:rPr>
              <a:t>中的简单程序也描述了无限多个执行路径。最短的完整执行路径由程序点（</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）组成，它不进入任何循环。次短的路径执行一次循环，它由程序点</a:t>
            </a:r>
            <a:r>
              <a:rPr lang="en-US" altLang="zh-CN" sz="1200" kern="1200" dirty="0">
                <a:solidFill>
                  <a:schemeClr val="tx1"/>
                </a:solidFill>
                <a:effectLst/>
                <a:latin typeface="+mn-lt"/>
                <a:ea typeface="+mn-ea"/>
                <a:cs typeface="+mn-cs"/>
              </a:rPr>
              <a:t> (1; 2; 3; 4; 5; 6; 7; 8; 3; 4; 9) </a:t>
            </a:r>
            <a:r>
              <a:rPr lang="zh-CN" altLang="zh-CN" sz="1200" kern="1200" dirty="0">
                <a:solidFill>
                  <a:schemeClr val="tx1"/>
                </a:solidFill>
                <a:effectLst/>
                <a:latin typeface="+mn-lt"/>
                <a:ea typeface="+mn-ea"/>
                <a:cs typeface="+mn-cs"/>
              </a:rPr>
              <a:t>组成。在这个例子中，我们知道在第一次执行程序点</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时，由于</a:t>
            </a:r>
            <a:r>
              <a:rPr lang="en-US" altLang="zh-CN" sz="1200" kern="1200" dirty="0">
                <a:solidFill>
                  <a:schemeClr val="tx1"/>
                </a:solidFill>
                <a:effectLst/>
                <a:latin typeface="+mn-lt"/>
                <a:ea typeface="+mn-ea"/>
                <a:cs typeface="+mn-cs"/>
              </a:rPr>
              <a:t>d1</a:t>
            </a:r>
            <a:r>
              <a:rPr lang="zh-CN" altLang="zh-CN" sz="1200" kern="1200" dirty="0">
                <a:solidFill>
                  <a:schemeClr val="tx1"/>
                </a:solidFill>
                <a:effectLst/>
                <a:latin typeface="+mn-lt"/>
                <a:ea typeface="+mn-ea"/>
                <a:cs typeface="+mn-cs"/>
              </a:rPr>
              <a:t>的定值，</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的值必然为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。我们说</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在第一次迭代的时候到达了点</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。在后续迭代中，</a:t>
            </a:r>
            <a:r>
              <a:rPr lang="en-US" altLang="zh-CN" sz="1200" kern="1200" dirty="0">
                <a:solidFill>
                  <a:schemeClr val="tx1"/>
                </a:solidFill>
                <a:effectLst/>
                <a:latin typeface="+mn-lt"/>
                <a:ea typeface="+mn-ea"/>
                <a:cs typeface="+mn-cs"/>
              </a:rPr>
              <a:t>d3 </a:t>
            </a:r>
            <a:r>
              <a:rPr lang="zh-CN" altLang="zh-CN" sz="1200" kern="1200" dirty="0">
                <a:solidFill>
                  <a:schemeClr val="tx1"/>
                </a:solidFill>
                <a:effectLst/>
                <a:latin typeface="+mn-lt"/>
                <a:ea typeface="+mn-ea"/>
                <a:cs typeface="+mn-cs"/>
              </a:rPr>
              <a:t>到达了点</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的值为</a:t>
            </a:r>
            <a:r>
              <a:rPr lang="en-US" altLang="zh-CN" sz="1200" kern="1200" dirty="0">
                <a:solidFill>
                  <a:schemeClr val="tx1"/>
                </a:solidFill>
                <a:effectLst/>
                <a:latin typeface="+mn-lt"/>
                <a:ea typeface="+mn-ea"/>
                <a:cs typeface="+mn-cs"/>
              </a:rPr>
              <a:t> 243</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程序执行可视为程序状态（所有变量的值）的一系列转换</a:t>
            </a:r>
          </a:p>
          <a:p>
            <a:pPr indent="457200"/>
            <a:r>
              <a:rPr lang="zh-CN" altLang="en-US" dirty="0"/>
              <a:t>中间代码语句的每次执行都会将输入状态转换为新的输出状态</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分析程序时，我们必须考虑流图中所有可能的执行路径</a:t>
            </a:r>
          </a:p>
          <a:p>
            <a:pPr indent="457200"/>
            <a:r>
              <a:rPr lang="zh-CN" altLang="en-US" dirty="0"/>
              <a:t>一般来说，由于循环（和递归）的存在，可能存在无限多的路径</a:t>
            </a:r>
          </a:p>
          <a:p>
            <a:r>
              <a:rPr lang="zh-CN" altLang="en-US" dirty="0"/>
              <a:t>数据流分析用一组有限的事实概括了程序点上可能出现的所有程序状态</a:t>
            </a:r>
          </a:p>
          <a:p>
            <a:pPr lvl="1"/>
            <a:r>
              <a:rPr lang="zh-CN" altLang="en-US" dirty="0"/>
              <a:t>不同的分析可能会选择抽取不同的信息</a:t>
            </a:r>
          </a:p>
          <a:p>
            <a:pPr lvl="1"/>
            <a:r>
              <a:rPr lang="zh-CN" altLang="en-US" dirty="0"/>
              <a:t>一般来说，任何分析都不一定能完美地反映现状</a:t>
            </a:r>
            <a:endParaRPr lang="en-US" altLang="zh-CN" dirty="0"/>
          </a:p>
          <a:p>
            <a:pPr lvl="1"/>
            <a:endParaRPr lang="en-US" altLang="zh-CN" dirty="0"/>
          </a:p>
          <a:p>
            <a:r>
              <a:rPr lang="zh-CN" altLang="zh-CN" sz="1200" kern="1200" dirty="0">
                <a:solidFill>
                  <a:schemeClr val="tx1"/>
                </a:solidFill>
                <a:effectLst/>
                <a:latin typeface="+mn-lt"/>
                <a:ea typeface="+mn-ea"/>
                <a:cs typeface="+mn-cs"/>
              </a:rPr>
              <a:t>一般来说，跟踪所有可能路径的所有程序状态</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不可能。在数据流分析中，我们不区分到达</a:t>
            </a:r>
            <a:r>
              <a:rPr lang="zh-CN" altLang="en-US" sz="1200" kern="1200" dirty="0">
                <a:solidFill>
                  <a:schemeClr val="tx1"/>
                </a:solidFill>
                <a:effectLst/>
                <a:latin typeface="+mn-lt"/>
                <a:ea typeface="+mn-ea"/>
                <a:cs typeface="+mn-cs"/>
              </a:rPr>
              <a:t>一个</a:t>
            </a:r>
            <a:r>
              <a:rPr lang="zh-CN" altLang="zh-CN" sz="1200" kern="1200" dirty="0">
                <a:solidFill>
                  <a:schemeClr val="tx1"/>
                </a:solidFill>
                <a:effectLst/>
                <a:latin typeface="+mn-lt"/>
                <a:ea typeface="+mn-ea"/>
                <a:cs typeface="+mn-cs"/>
              </a:rPr>
              <a:t>程序点的路径之间的差异。此外，我们</a:t>
            </a:r>
            <a:r>
              <a:rPr lang="zh-CN" altLang="en-US" sz="1200" kern="1200" dirty="0">
                <a:solidFill>
                  <a:schemeClr val="tx1"/>
                </a:solidFill>
                <a:effectLst/>
                <a:latin typeface="+mn-lt"/>
                <a:ea typeface="+mn-ea"/>
                <a:cs typeface="+mn-cs"/>
              </a:rPr>
              <a:t>并</a:t>
            </a:r>
            <a:r>
              <a:rPr lang="zh-CN" altLang="zh-CN" sz="1200" kern="1200" dirty="0">
                <a:solidFill>
                  <a:schemeClr val="tx1"/>
                </a:solidFill>
                <a:effectLst/>
                <a:latin typeface="+mn-lt"/>
                <a:ea typeface="+mn-ea"/>
                <a:cs typeface="+mn-cs"/>
              </a:rPr>
              <a:t>不跟踪整个状态；相反，我们抽象出某些细节，只保留分析所需的数据。两个例子将说明一个程序点上的同一个状态可以导出不同的抽象信息。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到达定值：</a:t>
            </a:r>
            <a:r>
              <a:rPr lang="zh-CN" altLang="zh-CN" sz="1200" kern="1200" dirty="0">
                <a:solidFill>
                  <a:schemeClr val="tx1"/>
                </a:solidFill>
                <a:effectLst/>
                <a:latin typeface="+mn-lt"/>
                <a:ea typeface="+mn-ea"/>
                <a:cs typeface="+mn-cs"/>
              </a:rPr>
              <a:t>可能沿着某些路径到达某个程序点的定值称为到达定值。</a:t>
            </a:r>
          </a:p>
          <a:p>
            <a:r>
              <a:rPr lang="zh-CN" altLang="zh-CN" sz="1200" kern="1200" dirty="0">
                <a:solidFill>
                  <a:schemeClr val="tx1"/>
                </a:solidFill>
                <a:effectLst/>
                <a:latin typeface="+mn-lt"/>
                <a:ea typeface="+mn-ea"/>
                <a:cs typeface="+mn-cs"/>
              </a:rPr>
              <a:t>为了帮助用户调试程序，我们可能希望找出变量在某个程序点上可能具有哪些值，以及这些值可能在哪里定值。例如，</a:t>
            </a:r>
            <a:endParaRPr lang="zh-CN" altLang="en-US" dirty="0"/>
          </a:p>
          <a:p>
            <a:r>
              <a:rPr lang="zh-CN" altLang="en-US" dirty="0"/>
              <a:t>在执行第一个时间点 (5) 时，a 的值为 1（即定值d1 在第一次迭代中达到 (5)</a:t>
            </a:r>
          </a:p>
          <a:p>
            <a:r>
              <a:rPr lang="zh-CN" altLang="en-US" dirty="0"/>
              <a:t>在随后的迭代中，d3 到达点 (5)，a 值为 243</a:t>
            </a:r>
          </a:p>
          <a:p>
            <a:r>
              <a:rPr lang="zh-CN" altLang="en-US" dirty="0"/>
              <a:t>因此，我们可以</a:t>
            </a:r>
            <a:r>
              <a:rPr lang="zh-CN" altLang="zh-CN" sz="1200" kern="1200" dirty="0">
                <a:solidFill>
                  <a:schemeClr val="tx1"/>
                </a:solidFill>
                <a:effectLst/>
                <a:latin typeface="+mn-lt"/>
                <a:ea typeface="+mn-ea"/>
                <a:cs typeface="+mn-cs"/>
              </a:rPr>
              <a:t>对在程序点（</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）上的所有程序状态进行如下总结：</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的值总是</a:t>
            </a:r>
            <a:r>
              <a:rPr lang="en-US" altLang="zh-CN" sz="1200" kern="1200" dirty="0">
                <a:solidFill>
                  <a:schemeClr val="tx1"/>
                </a:solidFill>
                <a:effectLst/>
                <a:latin typeface="+mn-lt"/>
                <a:ea typeface="+mn-ea"/>
                <a:cs typeface="+mn-cs"/>
              </a:rPr>
              <a:t>{1, 243}</a:t>
            </a:r>
            <a:r>
              <a:rPr lang="zh-CN" altLang="zh-CN" sz="1200" kern="1200" dirty="0">
                <a:solidFill>
                  <a:schemeClr val="tx1"/>
                </a:solidFill>
                <a:effectLst/>
                <a:latin typeface="+mn-lt"/>
                <a:ea typeface="+mn-ea"/>
                <a:cs typeface="+mn-cs"/>
              </a:rPr>
              <a:t>中的一个，并且它由 </a:t>
            </a:r>
            <a:r>
              <a:rPr lang="en-US" altLang="zh-CN" sz="1200" kern="1200" dirty="0">
                <a:solidFill>
                  <a:schemeClr val="tx1"/>
                </a:solidFill>
                <a:effectLst/>
                <a:latin typeface="+mn-lt"/>
                <a:ea typeface="+mn-ea"/>
                <a:cs typeface="+mn-cs"/>
              </a:rPr>
              <a:t>{d1;d3}</a:t>
            </a:r>
            <a:r>
              <a:rPr lang="zh-CN" altLang="zh-CN" sz="1200" kern="1200" dirty="0">
                <a:solidFill>
                  <a:schemeClr val="tx1"/>
                </a:solidFill>
                <a:effectLst/>
                <a:latin typeface="+mn-lt"/>
                <a:ea typeface="+mn-ea"/>
                <a:cs typeface="+mn-cs"/>
              </a:rPr>
              <a:t>中的一个定值。</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lvl="0"/>
            <a:r>
              <a:rPr lang="zh-CN" altLang="zh-CN" sz="1200" kern="1200" dirty="0">
                <a:solidFill>
                  <a:schemeClr val="tx1"/>
                </a:solidFill>
                <a:effectLst/>
                <a:latin typeface="+mn-lt"/>
                <a:ea typeface="+mn-ea"/>
                <a:cs typeface="+mn-cs"/>
              </a:rPr>
              <a:t>常量折叠。</a:t>
            </a:r>
            <a:endParaRPr lang="en-US" altLang="zh-C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如果对变量</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的某次使用只有一个定值可以到达，并且该定值把一个常量赋值给</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，那么我们可以简单地把</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替换为该常量。另一方面，如果有多个对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的定值可以到达某个程序点，那么我们就无法对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执行常量折叠转换。因此，</a:t>
            </a:r>
            <a:r>
              <a:rPr lang="zh-CN" altLang="en-US" sz="1200" kern="1200" dirty="0">
                <a:solidFill>
                  <a:schemeClr val="tx1"/>
                </a:solidFill>
                <a:effectLst/>
                <a:latin typeface="+mn-lt"/>
                <a:ea typeface="+mn-ea"/>
                <a:cs typeface="+mn-cs"/>
              </a:rPr>
              <a:t>为了进行</a:t>
            </a:r>
            <a:r>
              <a:rPr lang="zh-CN" altLang="zh-CN" sz="1200" kern="1200" dirty="0">
                <a:solidFill>
                  <a:schemeClr val="tx1"/>
                </a:solidFill>
                <a:effectLst/>
                <a:latin typeface="+mn-lt"/>
                <a:ea typeface="+mn-ea"/>
                <a:cs typeface="+mn-cs"/>
              </a:rPr>
              <a:t>常量折叠，我们希望找到这样的定值：对于某个给定的程序点，不管执行哪条路径，它们都是唯一到达该点的对相应变量的定值。</a:t>
            </a:r>
            <a:endParaRPr lang="en-US" altLang="zh-C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对于图</a:t>
            </a:r>
            <a:r>
              <a:rPr lang="en-US" altLang="zh-CN" sz="1200" kern="1200" dirty="0">
                <a:solidFill>
                  <a:schemeClr val="tx1"/>
                </a:solidFill>
                <a:effectLst/>
                <a:latin typeface="+mn-lt"/>
                <a:ea typeface="+mn-ea"/>
                <a:cs typeface="+mn-cs"/>
              </a:rPr>
              <a:t> 9.12 </a:t>
            </a:r>
            <a:r>
              <a:rPr lang="zh-CN" altLang="zh-CN" sz="1200" kern="1200" dirty="0">
                <a:solidFill>
                  <a:schemeClr val="tx1"/>
                </a:solidFill>
                <a:effectLst/>
                <a:latin typeface="+mn-lt"/>
                <a:ea typeface="+mn-ea"/>
                <a:cs typeface="+mn-cs"/>
              </a:rPr>
              <a:t>的点</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，没有哪个定值是到达该点的对</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的唯一定值，因此对于点</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上的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来说，该集合是空的。即使一个变量在某个点上被唯一定值，该定值必须把为一个常量赋值给该变量，才可能进行常量折叠。这样，我们可以简单地把某些变量描述为“非常量</a:t>
            </a:r>
            <a:r>
              <a:rPr lang="en-US" altLang="zh-CN" sz="1200" kern="1200" dirty="0">
                <a:solidFill>
                  <a:schemeClr val="tx1"/>
                </a:solidFill>
                <a:effectLst/>
                <a:latin typeface="+mn-lt"/>
                <a:ea typeface="+mn-ea"/>
                <a:cs typeface="+mn-cs"/>
              </a:rPr>
              <a:t>NAC</a:t>
            </a:r>
            <a:r>
              <a:rPr lang="zh-CN" altLang="zh-CN" sz="1200" kern="1200" dirty="0">
                <a:solidFill>
                  <a:schemeClr val="tx1"/>
                </a:solidFill>
                <a:effectLst/>
                <a:latin typeface="+mn-lt"/>
                <a:ea typeface="+mn-ea"/>
                <a:cs typeface="+mn-cs"/>
              </a:rPr>
              <a:t>”，而不是记录它们所有可能的取值或所有可能的定值。</a:t>
            </a:r>
          </a:p>
          <a:p>
            <a:r>
              <a:rPr lang="zh-CN" altLang="zh-CN" sz="1200" kern="1200" dirty="0">
                <a:solidFill>
                  <a:schemeClr val="tx1"/>
                </a:solidFill>
                <a:effectLst/>
                <a:latin typeface="+mn-lt"/>
                <a:ea typeface="+mn-ea"/>
                <a:cs typeface="+mn-cs"/>
              </a:rPr>
              <a:t>因此，我们看到，根据分析目的，相同的信息可以通过不同的方式进行概</a:t>
            </a:r>
            <a:r>
              <a:rPr lang="zh-CN" altLang="en-US" sz="1200" kern="1200" dirty="0">
                <a:solidFill>
                  <a:schemeClr val="tx1"/>
                </a:solidFill>
                <a:effectLst/>
                <a:latin typeface="+mn-lt"/>
                <a:ea typeface="+mn-ea"/>
                <a:cs typeface="+mn-cs"/>
              </a:rPr>
              <a:t>括</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0" indent="0" algn="l">
              <a:buFont typeface="Arial" panose="020B0604020202020204" pitchFamily="34" charset="0"/>
              <a:buNone/>
            </a:pPr>
            <a:r>
              <a:rPr lang="zh-CN" altLang="en-US" dirty="0"/>
              <a:t>在所有数据流分析应用中，我们都会把每个程序点与一个数据流值相关联，这个值是在该点可能观察到的所有程序状态的集合的抽象表示。所有可能的数据流值集合称为这个数据流应用的域。</a:t>
            </a:r>
            <a:endParaRPr lang="en-US" altLang="zh-CN" dirty="0"/>
          </a:p>
          <a:p>
            <a:pPr marL="0" indent="0" algn="l">
              <a:buFont typeface="Arial" panose="020B0604020202020204" pitchFamily="34" charset="0"/>
              <a:buNone/>
            </a:pPr>
            <a:r>
              <a:rPr lang="zh-CN" altLang="en-US" dirty="0"/>
              <a:t>例如，用于达到定值的数据流值的域是程序的定值集合的所有子集的集合。某个数据流值是一个定值的集合，我们希望将程序中的每个点与可能到达该点的定值的精确集合关联起来。</a:t>
            </a:r>
            <a:endParaRPr lang="en-US" altLang="zh-CN" dirty="0"/>
          </a:p>
          <a:p>
            <a:pPr marL="0" indent="0" algn="l">
              <a:buFont typeface="Arial" panose="020B0604020202020204" pitchFamily="34" charset="0"/>
              <a:buNone/>
            </a:pPr>
            <a:r>
              <a:rPr lang="zh-CN" altLang="en-US" dirty="0"/>
              <a:t>达到定值：</a:t>
            </a:r>
            <a:endParaRPr lang="en-US" altLang="zh-CN" dirty="0"/>
          </a:p>
          <a:p>
            <a:pPr marL="0" indent="0" algn="l">
              <a:buFont typeface="Arial" panose="020B0604020202020204" pitchFamily="34" charset="0"/>
              <a:buNone/>
            </a:pPr>
            <a:r>
              <a:rPr lang="zh-CN" altLang="en-US" dirty="0"/>
              <a:t>常量折叠：</a:t>
            </a:r>
            <a:endParaRPr lang="en-US" altLang="zh-CN" dirty="0"/>
          </a:p>
          <a:p>
            <a:pPr marL="0" indent="0" algn="l">
              <a:buFont typeface="Arial" panose="020B0604020202020204" pitchFamily="34" charset="0"/>
              <a:buNone/>
            </a:pPr>
            <a:r>
              <a:rPr lang="zh-CN" altLang="en-US" dirty="0"/>
              <a:t>如上所述，对于抽象方式的的选择取决于分析的目标。为了提高效率，我们只跟踪相关的信息。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IN[s]：语句 s 之前的数据流值</a:t>
            </a:r>
          </a:p>
          <a:p>
            <a:r>
              <a:rPr lang="zh-CN" altLang="en-US" dirty="0"/>
              <a:t>OUT[s]：语句 s 之后的数据流值</a:t>
            </a:r>
          </a:p>
          <a:p>
            <a:r>
              <a:rPr lang="zh-CN" altLang="en-US" dirty="0"/>
              <a:t>数据流问题是为所有语句 s 的 IN[s]'s 和 OUT[s]'s 找到一组约束条件的解决方案。</a:t>
            </a:r>
          </a:p>
          <a:p>
            <a:pPr lvl="1"/>
            <a:r>
              <a:rPr lang="zh-CN" altLang="en-US" dirty="0"/>
              <a:t>基于语句语义的限制（“传递函数”）</a:t>
            </a:r>
          </a:p>
          <a:p>
            <a:pPr lvl="1"/>
            <a:r>
              <a:rPr lang="zh-CN" altLang="en-US" dirty="0"/>
              <a:t>基于控制流的限制</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语句前后的数据流值受语句语义的限制。例如，假设我们的数据流分析涉及确定各个程序点处各变量的常量值。如果变量</a:t>
            </a:r>
            <a:r>
              <a:rPr lang="en-US" altLang="zh-CN" dirty="0"/>
              <a:t>a</a:t>
            </a:r>
            <a:r>
              <a:rPr lang="zh-CN" altLang="en-US" dirty="0"/>
              <a:t>在执行语句 </a:t>
            </a:r>
            <a:r>
              <a:rPr lang="en-US" altLang="zh-CN" dirty="0"/>
              <a:t>b = a </a:t>
            </a:r>
            <a:r>
              <a:rPr lang="zh-CN" altLang="en-US" dirty="0"/>
              <a:t>之前的值为</a:t>
            </a:r>
            <a:r>
              <a:rPr lang="en-US" altLang="zh-CN" dirty="0"/>
              <a:t>v</a:t>
            </a:r>
            <a:r>
              <a:rPr lang="zh-CN" altLang="en-US" dirty="0"/>
              <a:t>，那么在该语句之后</a:t>
            </a:r>
            <a:r>
              <a:rPr lang="en-US" altLang="zh-CN" dirty="0"/>
              <a:t>a </a:t>
            </a:r>
            <a:r>
              <a:rPr lang="zh-CN" altLang="en-US" dirty="0"/>
              <a:t>和 </a:t>
            </a:r>
            <a:r>
              <a:rPr lang="en-US" altLang="zh-CN" dirty="0"/>
              <a:t>b </a:t>
            </a:r>
            <a:r>
              <a:rPr lang="zh-CN" altLang="en-US" dirty="0"/>
              <a:t>的值都为 </a:t>
            </a:r>
            <a:r>
              <a:rPr lang="en-US" altLang="zh-CN" dirty="0"/>
              <a:t>v</a:t>
            </a:r>
            <a:r>
              <a:rPr lang="zh-CN" altLang="en-US" dirty="0"/>
              <a:t>。一个赋值语句之前和之后的数据流值的关系被称为传递函数。</a:t>
            </a:r>
          </a:p>
          <a:p>
            <a:r>
              <a:rPr lang="zh-CN" altLang="en-US" dirty="0"/>
              <a:t>示例：考虑常量折叠情况（分析变量在程序点是否为常量）</a:t>
            </a:r>
          </a:p>
          <a:p>
            <a:pPr lvl="1"/>
            <a:r>
              <a:rPr lang="zh-CN" altLang="en-US" dirty="0"/>
              <a:t>语句 s：x = 3</a:t>
            </a:r>
          </a:p>
          <a:p>
            <a:pPr lvl="1"/>
            <a:r>
              <a:rPr lang="zh-CN" altLang="en-US" dirty="0"/>
              <a:t>三个变量：x、y、z</a:t>
            </a:r>
          </a:p>
          <a:p>
            <a:pPr lvl="1"/>
            <a:r>
              <a:rPr lang="zh-CN" altLang="en-US" dirty="0"/>
              <a:t>如果 IN[s] 是 x：NAC; y：7; z: 3，则 OUT[s] 为 x：3; y:7; z: 3</a:t>
            </a:r>
          </a:p>
          <a:p>
            <a:pPr lvl="1"/>
            <a:r>
              <a:rPr lang="zh-CN" altLang="en-US" dirty="0"/>
              <a:t>如果语句是 x = y + z 或 x = x + y 呢？</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每条语句前后的数据流值之间的关系称为传递函数</a:t>
            </a:r>
          </a:p>
          <a:p>
            <a:r>
              <a:rPr lang="zh-CN" altLang="en-US" dirty="0"/>
              <a:t>在前向数据流问题（信息沿执行路径向前传播）中，一个语句</a:t>
            </a:r>
            <a:r>
              <a:rPr lang="en-US" altLang="zh-CN" dirty="0"/>
              <a:t>s</a:t>
            </a:r>
            <a:r>
              <a:rPr lang="zh-CN" altLang="en-US" dirty="0"/>
              <a:t>的传递函数 fs以语句 s 之前的数据流值作为输入，并产生语句 s 之后的新的数据流值。</a:t>
            </a:r>
          </a:p>
          <a:p>
            <a:pPr indent="457200"/>
            <a:r>
              <a:rPr lang="zh-CN" altLang="en-US" dirty="0"/>
              <a:t>OUT[s] = fs (IN[s])</a:t>
            </a:r>
          </a:p>
          <a:p>
            <a:endParaRPr lang="zh-CN" altLang="en-US" dirty="0"/>
          </a:p>
          <a:p>
            <a:r>
              <a:rPr lang="zh-CN" altLang="en-US" dirty="0"/>
              <a:t>在逆向数据流问题（信息流沿着执行路径逆向流动）中，一个语句</a:t>
            </a:r>
            <a:r>
              <a:rPr lang="en-US" altLang="zh-CN" dirty="0"/>
              <a:t>s</a:t>
            </a:r>
            <a:r>
              <a:rPr lang="zh-CN" altLang="en-US" dirty="0"/>
              <a:t>的传递函数 fs 把一个语句 s之后的数据流值转变成为语句之前的新的数据流值。</a:t>
            </a:r>
          </a:p>
          <a:p>
            <a:pPr indent="457200"/>
            <a:r>
              <a:rPr lang="zh-CN" altLang="en-US" dirty="0"/>
              <a:t>IN[s] = fs (OUT[s])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关于数据流值的约束是从控制流中得到的。</a:t>
            </a:r>
            <a:endParaRPr lang="en-US" altLang="zh-CN" dirty="0"/>
          </a:p>
          <a:p>
            <a:r>
              <a:rPr lang="zh-CN" altLang="en-US" dirty="0"/>
              <a:t>在基本块内控制流很简单。如果块 </a:t>
            </a:r>
            <a:r>
              <a:rPr lang="en-US" altLang="zh-CN" dirty="0"/>
              <a:t>B </a:t>
            </a:r>
            <a:r>
              <a:rPr lang="zh-CN" altLang="en-US" dirty="0"/>
              <a:t>按该顺序由语句 </a:t>
            </a:r>
            <a:r>
              <a:rPr lang="en-US" altLang="zh-CN" dirty="0"/>
              <a:t>s1 ;s2 ;::: ;</a:t>
            </a:r>
            <a:r>
              <a:rPr lang="en-US" altLang="zh-CN" dirty="0" err="1"/>
              <a:t>sn</a:t>
            </a:r>
            <a:r>
              <a:rPr lang="en-US" altLang="zh-CN" dirty="0"/>
              <a:t> </a:t>
            </a:r>
            <a:r>
              <a:rPr lang="zh-CN" altLang="en-US" dirty="0"/>
              <a:t>组成，则 </a:t>
            </a:r>
            <a:r>
              <a:rPr lang="en-US" altLang="zh-CN" dirty="0" err="1"/>
              <a:t>si</a:t>
            </a:r>
            <a:r>
              <a:rPr lang="en-US" altLang="zh-CN" dirty="0"/>
              <a:t> </a:t>
            </a:r>
            <a:r>
              <a:rPr lang="zh-CN" altLang="en-US" dirty="0"/>
              <a:t>输出的控制流值和 输入</a:t>
            </a:r>
            <a:r>
              <a:rPr lang="en-US" altLang="zh-CN" dirty="0"/>
              <a:t>si+1 </a:t>
            </a:r>
            <a:r>
              <a:rPr lang="zh-CN" altLang="en-US" dirty="0"/>
              <a:t>的控制流值相同。即，</a:t>
            </a:r>
            <a:r>
              <a:rPr lang="en-US" altLang="zh-CN" dirty="0"/>
              <a:t>IN[si+1]=OUT[</a:t>
            </a:r>
            <a:r>
              <a:rPr lang="en-US" altLang="zh-CN" dirty="0" err="1"/>
              <a:t>si</a:t>
            </a:r>
            <a:r>
              <a:rPr lang="en-US" altLang="zh-CN" dirty="0"/>
              <a:t>]</a:t>
            </a:r>
            <a:r>
              <a:rPr lang="zh-CN" altLang="en-US" dirty="0"/>
              <a:t>，对于所有</a:t>
            </a:r>
            <a:r>
              <a:rPr lang="en-US" altLang="zh-CN" dirty="0" err="1"/>
              <a:t>i</a:t>
            </a:r>
            <a:r>
              <a:rPr lang="en-US" altLang="zh-CN" dirty="0"/>
              <a:t>=1</a:t>
            </a:r>
            <a:r>
              <a:rPr lang="zh-CN" altLang="en-US" dirty="0"/>
              <a:t>； </a:t>
            </a:r>
            <a:r>
              <a:rPr lang="en-US" altLang="zh-CN" dirty="0"/>
              <a:t>2;::: ;n 1. </a:t>
            </a:r>
          </a:p>
          <a:p>
            <a:r>
              <a:rPr lang="zh-CN" altLang="en-US" dirty="0"/>
              <a:t>然而，基本块之间的控制流边会生成一个基本块的最后一个语句和后继基本块的第一个语句之间的约束，这些约束更加复杂。 例如，如果对可能达到一个程序点的所有定值感兴趣，那么到达基本块的首语句的定值的集合就是到达它的各个前驱基本块的最后一个语句之后的定值的集合。下一节详细介绍数据如何在块之间流动。</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2109898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从技术上讲，数据流模式涉及程序中每个点的数据流值，但我们如果认识到块内的数据流处理通常很简单，就可以节约数据流分析所需的时间和空间。</a:t>
            </a:r>
            <a:r>
              <a:rPr lang="zh-CN" altLang="en-US" dirty="0"/>
              <a:t>在一个基本程序块内，控制从开始流向结束，没有中断或分支。</a:t>
            </a:r>
            <a:endParaRPr lang="en-US" altLang="zh-CN" dirty="0"/>
          </a:p>
          <a:p>
            <a:r>
              <a:rPr lang="zh-CN" altLang="en-US" dirty="0"/>
              <a:t>这样，我们就可以根据数据流值进出数据块（而不是每条语句之前/之后）来重述数据流模式。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假设块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按顺序由语句</a:t>
            </a:r>
            <a:r>
              <a:rPr lang="en-US" altLang="zh-CN" sz="1200" kern="1200" dirty="0">
                <a:solidFill>
                  <a:schemeClr val="tx1"/>
                </a:solidFill>
                <a:effectLst/>
                <a:latin typeface="+mn-lt"/>
                <a:ea typeface="+mn-ea"/>
                <a:cs typeface="+mn-cs"/>
              </a:rPr>
              <a:t> s1 ;::: ;</a:t>
            </a:r>
            <a:r>
              <a:rPr lang="en-US" altLang="zh-CN" sz="1200" kern="1200" dirty="0" err="1">
                <a:solidFill>
                  <a:schemeClr val="tx1"/>
                </a:solidFill>
                <a:effectLst/>
                <a:latin typeface="+mn-lt"/>
                <a:ea typeface="+mn-ea"/>
                <a:cs typeface="+mn-cs"/>
              </a:rPr>
              <a:t>sn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组成。</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s1</a:t>
            </a:r>
            <a:r>
              <a:rPr lang="zh-CN" altLang="zh-CN" sz="1200" kern="1200" dirty="0">
                <a:solidFill>
                  <a:schemeClr val="tx1"/>
                </a:solidFill>
                <a:effectLst/>
                <a:latin typeface="+mn-lt"/>
                <a:ea typeface="+mn-ea"/>
                <a:cs typeface="+mn-cs"/>
              </a:rPr>
              <a:t>是基本块</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的第一条语句，则</a:t>
            </a:r>
            <a:r>
              <a:rPr lang="en-US" altLang="zh-CN" sz="1200" kern="1200" dirty="0">
                <a:solidFill>
                  <a:schemeClr val="tx1"/>
                </a:solidFill>
                <a:effectLst/>
                <a:latin typeface="+mn-lt"/>
                <a:ea typeface="+mn-ea"/>
                <a:cs typeface="+mn-cs"/>
              </a:rPr>
              <a:t>IN[B]=IN[s1]</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同理，如果</a:t>
            </a:r>
            <a:r>
              <a:rPr lang="en-US" altLang="zh-CN" sz="1200" kern="1200" dirty="0" err="1">
                <a:solidFill>
                  <a:schemeClr val="tx1"/>
                </a:solidFill>
                <a:effectLst/>
                <a:latin typeface="+mn-lt"/>
                <a:ea typeface="+mn-ea"/>
                <a:cs typeface="+mn-cs"/>
              </a:rPr>
              <a:t>sn</a:t>
            </a:r>
            <a:r>
              <a:rPr lang="zh-CN" altLang="zh-CN" sz="1200" kern="1200" dirty="0">
                <a:solidFill>
                  <a:schemeClr val="tx1"/>
                </a:solidFill>
                <a:effectLst/>
                <a:latin typeface="+mn-lt"/>
                <a:ea typeface="+mn-ea"/>
                <a:cs typeface="+mn-cs"/>
              </a:rPr>
              <a:t>是基本块</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的最后一条语句，则</a:t>
            </a:r>
            <a:r>
              <a:rPr lang="en-US" altLang="zh-CN" sz="1200" kern="1200" dirty="0">
                <a:solidFill>
                  <a:schemeClr val="tx1"/>
                </a:solidFill>
                <a:effectLst/>
                <a:latin typeface="+mn-lt"/>
                <a:ea typeface="+mn-ea"/>
                <a:cs typeface="+mn-cs"/>
              </a:rPr>
              <a:t>OUT[B]=OUT[</a:t>
            </a:r>
            <a:r>
              <a:rPr lang="en-US" altLang="zh-CN" sz="1200" kern="1200" dirty="0" err="1">
                <a:solidFill>
                  <a:schemeClr val="tx1"/>
                </a:solidFill>
                <a:effectLst/>
                <a:latin typeface="+mn-lt"/>
                <a:ea typeface="+mn-ea"/>
                <a:cs typeface="+mn-cs"/>
              </a:rPr>
              <a:t>sn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基本块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的传递函数（用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表示）可以通过组合块中语句的传递函数来导出。也就是说，令</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fsi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的传递函数，那么</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fB</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fsn</a:t>
            </a:r>
            <a:r>
              <a:rPr lang="en-US" altLang="zh-CN" sz="1200" kern="1200" dirty="0">
                <a:solidFill>
                  <a:schemeClr val="tx1"/>
                </a:solidFill>
                <a:effectLst/>
                <a:latin typeface="+mn-lt"/>
                <a:ea typeface="+mn-ea"/>
                <a:cs typeface="+mn-cs"/>
              </a:rPr>
              <a:t> ::: fs2 fs1 </a:t>
            </a:r>
            <a:r>
              <a:rPr lang="zh-CN" altLang="zh-CN" sz="1200" kern="1200" dirty="0">
                <a:solidFill>
                  <a:schemeClr val="tx1"/>
                </a:solidFill>
                <a:effectLst/>
                <a:latin typeface="+mn-lt"/>
                <a:ea typeface="+mn-ea"/>
                <a:cs typeface="+mn-cs"/>
              </a:rPr>
              <a:t>。块的开始和结束之间的数据流值关系为</a:t>
            </a:r>
            <a:r>
              <a:rPr lang="en-US" altLang="zh-CN" sz="1200" kern="1200" dirty="0">
                <a:solidFill>
                  <a:schemeClr val="tx1"/>
                </a:solidFill>
                <a:effectLst/>
                <a:latin typeface="+mn-lt"/>
                <a:ea typeface="+mn-ea"/>
                <a:cs typeface="+mn-cs"/>
              </a:rPr>
              <a:t> OUT[B ]=</a:t>
            </a:r>
            <a:r>
              <a:rPr lang="en-US" altLang="zh-CN" sz="1200" kern="1200" dirty="0" err="1">
                <a:solidFill>
                  <a:schemeClr val="tx1"/>
                </a:solidFill>
                <a:effectLst/>
                <a:latin typeface="+mn-lt"/>
                <a:ea typeface="+mn-ea"/>
                <a:cs typeface="+mn-cs"/>
              </a:rPr>
              <a:t>fB</a:t>
            </a:r>
            <a:r>
              <a:rPr lang="en-US" altLang="zh-CN" sz="1200" kern="1200" dirty="0">
                <a:solidFill>
                  <a:schemeClr val="tx1"/>
                </a:solidFill>
                <a:effectLst/>
                <a:latin typeface="+mn-lt"/>
                <a:ea typeface="+mn-ea"/>
                <a:cs typeface="+mn-cs"/>
              </a:rPr>
              <a:t> (IN[B ])</a:t>
            </a:r>
            <a:r>
              <a:rPr lang="zh-CN" altLang="zh-CN" sz="1200" kern="1200" dirty="0">
                <a:solidFill>
                  <a:schemeClr val="tx1"/>
                </a:solidFill>
                <a:effectLst/>
                <a:latin typeface="+mn-lt"/>
                <a:ea typeface="+mn-ea"/>
                <a:cs typeface="+mn-cs"/>
              </a:rPr>
              <a:t>：</a:t>
            </a:r>
          </a:p>
          <a:p>
            <a:endParaRPr lang="en-US" altLang="zh-CN" dirty="0"/>
          </a:p>
          <a:p>
            <a:endParaRPr lang="zh-CN" altLang="en-US" dirty="0"/>
          </a:p>
          <a:p>
            <a:r>
              <a:rPr lang="zh-CN" altLang="en-US" dirty="0"/>
              <a:t>对于由语句 s1 , s2 , ..., sn 组成的基本块 B，我们有*</a:t>
            </a:r>
          </a:p>
          <a:p>
            <a:pPr lvl="1"/>
            <a:r>
              <a:rPr lang="zh-CN" altLang="en-US" dirty="0"/>
              <a:t>IN[B] = IN[s1 ]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zh-CN" altLang="en-US" dirty="0"/>
              <a:t>OUT[B] = OUT[sn ] </a:t>
            </a:r>
            <a:endParaRPr lang="en-US" altLang="zh-CN"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zh-CN" altLang="en-US" dirty="0"/>
              <a:t>OUT[B] = fB (IN[B])，其中 fB = fs n ◦ ... ◦ fs 2 ◦ fs 1（组合传递函数）</a:t>
            </a:r>
          </a:p>
          <a:p>
            <a:endParaRPr lang="zh-CN" altLang="en-US" dirty="0"/>
          </a:p>
          <a:p>
            <a:r>
              <a:rPr lang="zh-CN" altLang="en-US" dirty="0"/>
              <a:t>* 对于后向流动问题，IN[B] = fB (OUT[B])，其中 fB = fs 1 ◦ fs 2 ◦ ... ◦ f ns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因基本块之间的控制流而产生的约束可以很容易地通过重写得到，把原来约束中的</a:t>
            </a:r>
            <a:r>
              <a:rPr lang="en-US" altLang="zh-CN" sz="1200" kern="1200" dirty="0">
                <a:solidFill>
                  <a:schemeClr val="tx1"/>
                </a:solidFill>
                <a:effectLst/>
                <a:latin typeface="+mn-lt"/>
                <a:ea typeface="+mn-ea"/>
                <a:cs typeface="+mn-cs"/>
              </a:rPr>
              <a:t>IN[B]</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OUT[B]</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IN[s1]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OUT[</a:t>
            </a:r>
            <a:r>
              <a:rPr lang="en-US" altLang="zh-CN" sz="1200" kern="1200" dirty="0" err="1">
                <a:solidFill>
                  <a:schemeClr val="tx1"/>
                </a:solidFill>
                <a:effectLst/>
                <a:latin typeface="+mn-lt"/>
                <a:ea typeface="+mn-ea"/>
                <a:cs typeface="+mn-cs"/>
              </a:rPr>
              <a:t>sn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代替即可。例如，如果一个数据流值表示的是可能被赋予某个变量的常量集合，那么我们就得到一个前向流问题，其中</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700" spc="-5" dirty="0">
                <a:latin typeface="Cambria Math" panose="02040503050406030204"/>
                <a:cs typeface="Cambria Math" panose="02040503050406030204"/>
              </a:rPr>
              <a:t>IN</a:t>
            </a:r>
            <a:r>
              <a:rPr lang="zh-CN" altLang="en-US" sz="1700" dirty="0">
                <a:latin typeface="Cambria Math" panose="02040503050406030204"/>
                <a:cs typeface="Cambria Math" panose="02040503050406030204"/>
              </a:rPr>
              <a:t>𝐵</a:t>
            </a:r>
            <a:r>
              <a:rPr lang="en-US" altLang="zh-CN" sz="1700" dirty="0">
                <a:latin typeface="Cambria Math" panose="02040503050406030204"/>
                <a:cs typeface="Cambria Math" panose="02040503050406030204"/>
              </a:rPr>
              <a:t>=</a:t>
            </a:r>
            <a:r>
              <a:rPr lang="en-US" altLang="zh-CN" sz="1700" spc="100" dirty="0">
                <a:latin typeface="Cambria Math" panose="02040503050406030204"/>
                <a:cs typeface="Cambria Math" panose="02040503050406030204"/>
              </a:rPr>
              <a:t> </a:t>
            </a:r>
            <a:r>
              <a:rPr lang="en-US" altLang="zh-CN" sz="1700" spc="850" dirty="0">
                <a:latin typeface="Cambria Math" panose="02040503050406030204"/>
                <a:cs typeface="Cambria Math" panose="02040503050406030204"/>
              </a:rPr>
              <a:t>U          </a:t>
            </a:r>
            <a:r>
              <a:rPr lang="en-US" altLang="zh-CN" sz="1700" spc="5" dirty="0">
                <a:latin typeface="Cambria Math" panose="02040503050406030204"/>
                <a:cs typeface="Cambria Math" panose="02040503050406030204"/>
              </a:rPr>
              <a:t>OUT[</a:t>
            </a:r>
            <a:r>
              <a:rPr lang="zh-CN" altLang="en-US" sz="1700" spc="5" dirty="0">
                <a:latin typeface="Cambria Math" panose="02040503050406030204"/>
                <a:cs typeface="Cambria Math" panose="02040503050406030204"/>
              </a:rPr>
              <a:t>𝑃</a:t>
            </a:r>
            <a:r>
              <a:rPr lang="en-US" altLang="zh-CN" sz="1700" spc="5" dirty="0">
                <a:latin typeface="Cambria Math" panose="02040503050406030204"/>
                <a:cs typeface="Cambria Math" panose="02040503050406030204"/>
              </a:rPr>
              <a:t>]</a:t>
            </a:r>
            <a:endParaRPr lang="en-US" altLang="zh-CN" sz="1700" spc="0" dirty="0">
              <a:latin typeface="Cambria Math" panose="02040503050406030204"/>
              <a:cs typeface="Cambria Math" panose="02040503050406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700" spc="0" dirty="0">
                <a:latin typeface="Cambria Math" panose="02040503050406030204"/>
                <a:cs typeface="Cambria Math" panose="02040503050406030204"/>
              </a:rPr>
              <a:t>             </a:t>
            </a:r>
            <a:r>
              <a:rPr lang="zh-CN" altLang="en-US" sz="1200" spc="30" dirty="0">
                <a:latin typeface="Cambria Math" panose="02040503050406030204"/>
                <a:cs typeface="Cambria Math" panose="02040503050406030204"/>
              </a:rPr>
              <a:t>𝑃</a:t>
            </a:r>
            <a:r>
              <a:rPr lang="en-US" altLang="zh-CN" sz="1200" spc="30" dirty="0">
                <a:latin typeface="Cambria Math" panose="02040503050406030204"/>
                <a:cs typeface="Cambria Math" panose="02040503050406030204"/>
              </a:rPr>
              <a:t> a predecessor of B</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我们将在活跃变量分析时看到逆向数据流问题，逆向数据流问题的方程是相似的，但</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的角色</a:t>
            </a:r>
            <a:r>
              <a:rPr lang="zh-CN" altLang="en-US" sz="1200" kern="1200" dirty="0">
                <a:solidFill>
                  <a:schemeClr val="tx1"/>
                </a:solidFill>
                <a:effectLst/>
                <a:latin typeface="+mn-lt"/>
                <a:ea typeface="+mn-ea"/>
                <a:cs typeface="+mn-cs"/>
              </a:rPr>
              <a:t>被调换了</a:t>
            </a:r>
            <a:r>
              <a:rPr lang="zh-CN" altLang="zh-CN" sz="1200" kern="1200" dirty="0">
                <a:solidFill>
                  <a:schemeClr val="tx1"/>
                </a:solidFill>
                <a:effectLst/>
                <a:latin typeface="+mn-lt"/>
                <a:ea typeface="+mn-ea"/>
                <a:cs typeface="+mn-cs"/>
              </a:rPr>
              <a:t>。即</a:t>
            </a:r>
            <a:endParaRPr lang="en-US" altLang="zh-CN" sz="1200" kern="1200" dirty="0">
              <a:solidFill>
                <a:schemeClr val="tx1"/>
              </a:solidFill>
              <a:effectLst/>
              <a:latin typeface="+mn-lt"/>
              <a:ea typeface="+mn-ea"/>
              <a:cs typeface="+mn-cs"/>
            </a:endParaRPr>
          </a:p>
          <a:p>
            <a:r>
              <a:rPr lang="en-US" altLang="zh-CN" sz="1700" spc="-5" dirty="0">
                <a:latin typeface="Cambria Math" panose="02040503050406030204"/>
                <a:cs typeface="Cambria Math" panose="02040503050406030204"/>
              </a:rPr>
              <a:t>OUT</a:t>
            </a:r>
            <a:r>
              <a:rPr lang="zh-CN" altLang="en-US" sz="1700" dirty="0">
                <a:latin typeface="Cambria Math" panose="02040503050406030204"/>
                <a:cs typeface="Cambria Math" panose="02040503050406030204"/>
              </a:rPr>
              <a:t>𝐵</a:t>
            </a:r>
            <a:r>
              <a:rPr lang="en-US" altLang="zh-CN" sz="1700" dirty="0">
                <a:latin typeface="Cambria Math" panose="02040503050406030204"/>
                <a:cs typeface="Cambria Math" panose="02040503050406030204"/>
              </a:rPr>
              <a:t>=</a:t>
            </a:r>
            <a:r>
              <a:rPr lang="en-US" altLang="zh-CN" sz="1700" spc="100" dirty="0">
                <a:latin typeface="Cambria Math" panose="02040503050406030204"/>
                <a:cs typeface="Cambria Math" panose="02040503050406030204"/>
              </a:rPr>
              <a:t> </a:t>
            </a:r>
            <a:r>
              <a:rPr lang="en-US" altLang="zh-CN" sz="1700" spc="850" dirty="0">
                <a:latin typeface="Cambria Math" panose="02040503050406030204"/>
                <a:cs typeface="Cambria Math" panose="02040503050406030204"/>
              </a:rPr>
              <a:t>U         </a:t>
            </a:r>
            <a:r>
              <a:rPr lang="en-US" altLang="zh-CN" sz="1700" spc="5" dirty="0">
                <a:latin typeface="Cambria Math" panose="02040503050406030204"/>
                <a:cs typeface="Cambria Math" panose="02040503050406030204"/>
              </a:rPr>
              <a:t>IN[</a:t>
            </a:r>
            <a:r>
              <a:rPr lang="zh-CN" altLang="en-US" sz="1700" spc="5" dirty="0">
                <a:latin typeface="Cambria Math" panose="02040503050406030204"/>
                <a:cs typeface="Cambria Math" panose="02040503050406030204"/>
              </a:rPr>
              <a:t>𝑆</a:t>
            </a:r>
            <a:r>
              <a:rPr lang="en-US" altLang="zh-CN" sz="1700" spc="5" dirty="0">
                <a:latin typeface="Cambria Math" panose="02040503050406030204"/>
                <a:cs typeface="Cambria Math" panose="02040503050406030204"/>
              </a:rPr>
              <a:t>]</a:t>
            </a:r>
            <a:endParaRPr lang="en-US" altLang="zh-CN" sz="1700" spc="0" dirty="0">
              <a:latin typeface="Cambria Math" panose="02040503050406030204"/>
              <a:cs typeface="Cambria Math" panose="02040503050406030204"/>
            </a:endParaRPr>
          </a:p>
          <a:p>
            <a:r>
              <a:rPr lang="en-US" altLang="zh-CN" sz="1700" spc="0" dirty="0">
                <a:latin typeface="Cambria Math" panose="02040503050406030204"/>
                <a:cs typeface="Cambria Math" panose="02040503050406030204"/>
              </a:rPr>
              <a:t>                </a:t>
            </a:r>
            <a:r>
              <a:rPr lang="zh-CN" altLang="en-US" sz="1200" spc="25" dirty="0">
                <a:latin typeface="Cambria Math" panose="02040503050406030204"/>
                <a:cs typeface="Cambria Math" panose="02040503050406030204"/>
              </a:rPr>
              <a:t>𝑆</a:t>
            </a:r>
            <a:r>
              <a:rPr lang="en-US" altLang="zh-CN" sz="1200" spc="310" dirty="0">
                <a:latin typeface="Cambria Math" panose="02040503050406030204"/>
                <a:cs typeface="Cambria Math" panose="02040503050406030204"/>
              </a:rPr>
              <a:t> </a:t>
            </a:r>
            <a:r>
              <a:rPr lang="en-US" altLang="zh-CN" sz="1200" spc="75" dirty="0">
                <a:latin typeface="Cambria Math" panose="02040503050406030204"/>
                <a:cs typeface="Cambria Math" panose="02040503050406030204"/>
              </a:rPr>
              <a:t>a</a:t>
            </a:r>
            <a:r>
              <a:rPr lang="en-US" altLang="zh-CN" sz="1200" spc="30" dirty="0">
                <a:latin typeface="Cambria Math" panose="02040503050406030204"/>
                <a:cs typeface="Cambria Math" panose="02040503050406030204"/>
              </a:rPr>
              <a:t> </a:t>
            </a:r>
            <a:r>
              <a:rPr lang="en-US" altLang="zh-CN" sz="1200" spc="45" dirty="0">
                <a:latin typeface="Cambria Math" panose="02040503050406030204"/>
                <a:cs typeface="Cambria Math" panose="02040503050406030204"/>
              </a:rPr>
              <a:t>successor of</a:t>
            </a:r>
            <a:r>
              <a:rPr lang="en-US" altLang="zh-CN" sz="1200" spc="15" dirty="0">
                <a:latin typeface="Cambria Math" panose="02040503050406030204"/>
                <a:cs typeface="Cambria Math" panose="02040503050406030204"/>
              </a:rPr>
              <a:t> </a:t>
            </a:r>
            <a:r>
              <a:rPr lang="zh-CN" altLang="en-US" sz="1200" spc="25" dirty="0">
                <a:latin typeface="Cambria Math" panose="02040503050406030204"/>
                <a:cs typeface="Cambria Math" panose="02040503050406030204"/>
              </a:rPr>
              <a:t>𝐵</a:t>
            </a:r>
            <a:endParaRPr lang="en-US" altLang="zh-CN" sz="1200" dirty="0">
              <a:latin typeface="Cambria Math" panose="02040503050406030204"/>
              <a:cs typeface="Cambria Math" panose="02040503050406030204"/>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33495936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常量折叠问题 </a:t>
            </a:r>
            <a:r>
              <a:rPr lang="en-US" altLang="zh-CN" dirty="0"/>
              <a:t>NAC </a:t>
            </a:r>
            <a:r>
              <a:rPr lang="zh-CN" altLang="en-US" dirty="0"/>
              <a:t>非常量  </a:t>
            </a:r>
            <a:r>
              <a:rPr lang="en-US" altLang="zh-CN" dirty="0"/>
              <a:t>not a</a:t>
            </a:r>
            <a:r>
              <a:rPr lang="zh-CN" altLang="en-US" dirty="0"/>
              <a:t> </a:t>
            </a:r>
            <a:r>
              <a:rPr lang="en-US" altLang="zh-CN" dirty="0"/>
              <a:t>constant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11252644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与线性算术方程不同，数据流方程通常没有唯一解。</a:t>
            </a:r>
            <a:r>
              <a:rPr lang="zh-CN" altLang="en-US" dirty="0"/>
              <a:t>所有数据流模式都计算基本事实的近似值。</a:t>
            </a:r>
          </a:p>
          <a:p>
            <a:r>
              <a:rPr lang="zh-CN" altLang="en-US" dirty="0"/>
              <a:t>我们的目标是找到一个最 “精确的 ”的解决方案，同时满足控制流和传输约束条件。</a:t>
            </a:r>
            <a:r>
              <a:rPr lang="zh-CN" altLang="zh-CN" sz="1200" kern="1200" dirty="0">
                <a:solidFill>
                  <a:schemeClr val="tx1"/>
                </a:solidFill>
                <a:effectLst/>
                <a:latin typeface="+mn-lt"/>
                <a:ea typeface="+mn-ea"/>
                <a:cs typeface="+mn-cs"/>
              </a:rPr>
              <a:t>也就是说，我们需要一个解，它能够支持有效的代码改进，但是又不会导致不安全的转换。这些不安全的转换改变了程序计算的内容。</a:t>
            </a:r>
            <a:endParaRPr lang="zh-CN" altLang="en-US" dirty="0"/>
          </a:p>
          <a:p>
            <a:pPr lvl="1"/>
            <a:r>
              <a:rPr lang="zh-CN" altLang="en-US" dirty="0"/>
              <a:t>精确的代码可实现有效的代码改进（一般来说，精确度越高，改进效果越好）</a:t>
            </a:r>
          </a:p>
          <a:p>
            <a:pPr lvl="1"/>
            <a:r>
              <a:rPr lang="zh-CN" altLang="en-US" dirty="0"/>
              <a:t>满足约束条件可保证转换的安全性（不改变程序语义）</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到达定值</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是最常见和最有用的数据流模式之一。通过了解当控制到达每个点时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每个变量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可能在程序中的何处定值，我们可以确定许多有关</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的性质。</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如果有一条从紧随定值</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之后的程序点到达某一程序点</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的路径，并且在这条路径上</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没有被“杀死“，我们说定值</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到达程序点</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。如果在这条路径上有对变量</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的其他定值，我们就说变量</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的这个定值被杀死了。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直观地说，如果某个变量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的一个定值</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到达点</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p </a:t>
            </a:r>
            <a:r>
              <a:rPr lang="zh-CN" altLang="zh-CN" sz="1200" kern="1200" dirty="0">
                <a:solidFill>
                  <a:schemeClr val="tx1"/>
                </a:solidFill>
                <a:effectLst/>
                <a:latin typeface="+mn-lt"/>
                <a:ea typeface="+mn-ea"/>
                <a:cs typeface="+mn-cs"/>
              </a:rPr>
              <a:t>处使用的</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的值可能就是由</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最后定值的。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的一个定值（可能）将一个值赋给</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的语句。过程参数、数组访问和间接引用都可能有别名，因此指出一个语句是否指向特定程序变量</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赋值并不是件容易的事情。程序分析必须保守；如果我们不知道一个语句</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是否给</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赋了一个值，我们必须假设它可能对</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赋值；也就是说，语句</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之后，变量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的值可能还是</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执行之前的原值，但也可能变成了</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所产生的新值。为了简单起见，本章的其余部分假设我们只处理没有别名的变量。此类变量包括大多数语言中的所有局部标量变量；对于</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C++</a:t>
            </a:r>
            <a:r>
              <a:rPr lang="zh-CN" altLang="zh-CN" sz="1200" kern="1200" dirty="0">
                <a:solidFill>
                  <a:schemeClr val="tx1"/>
                </a:solidFill>
                <a:effectLst/>
                <a:latin typeface="+mn-lt"/>
                <a:ea typeface="+mn-ea"/>
                <a:cs typeface="+mn-cs"/>
              </a:rPr>
              <a:t>，有些局部变量的地址会被计算出来，这种局部变量不属于这类变量。</a:t>
            </a:r>
          </a:p>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9.13 </a:t>
            </a:r>
            <a:r>
              <a:rPr lang="zh-CN" altLang="zh-CN" sz="1200" kern="1200" dirty="0">
                <a:solidFill>
                  <a:schemeClr val="tx1"/>
                </a:solidFill>
                <a:effectLst/>
                <a:latin typeface="+mn-lt"/>
                <a:ea typeface="+mn-ea"/>
                <a:cs typeface="+mn-cs"/>
              </a:rPr>
              <a:t>所示是一个有</a:t>
            </a:r>
            <a:r>
              <a:rPr lang="en-US" altLang="zh-CN" sz="1200" kern="1200" dirty="0">
                <a:solidFill>
                  <a:schemeClr val="tx1"/>
                </a:solidFill>
                <a:effectLst/>
                <a:latin typeface="+mn-lt"/>
                <a:ea typeface="+mn-ea"/>
                <a:cs typeface="+mn-cs"/>
              </a:rPr>
              <a:t> 7 </a:t>
            </a:r>
            <a:r>
              <a:rPr lang="zh-CN" altLang="zh-CN" sz="1200" kern="1200" dirty="0">
                <a:solidFill>
                  <a:schemeClr val="tx1"/>
                </a:solidFill>
                <a:effectLst/>
                <a:latin typeface="+mn-lt"/>
                <a:ea typeface="+mn-ea"/>
                <a:cs typeface="+mn-cs"/>
              </a:rPr>
              <a:t>个定值的流图。</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让我们关注所有到达块</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的定值。所有在块</a:t>
            </a:r>
            <a:r>
              <a:rPr lang="en-US" altLang="zh-CN" sz="1200" kern="1200" dirty="0">
                <a:solidFill>
                  <a:schemeClr val="tx1"/>
                </a:solidFill>
                <a:effectLst/>
                <a:latin typeface="+mn-lt"/>
                <a:ea typeface="+mn-ea"/>
                <a:cs typeface="+mn-cs"/>
              </a:rPr>
              <a:t>B1</a:t>
            </a:r>
            <a:r>
              <a:rPr lang="zh-CN" altLang="zh-CN" sz="1200" kern="1200" dirty="0">
                <a:solidFill>
                  <a:schemeClr val="tx1"/>
                </a:solidFill>
                <a:effectLst/>
                <a:latin typeface="+mn-lt"/>
                <a:ea typeface="+mn-ea"/>
                <a:cs typeface="+mn-cs"/>
              </a:rPr>
              <a:t>中的定值都到达了块</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的开头。</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因为在转回基本块</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的循环中找不到其他对</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的定值，块</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中的定值</a:t>
            </a:r>
            <a:r>
              <a:rPr lang="en-US" altLang="zh-CN" sz="1200" kern="1200" dirty="0">
                <a:solidFill>
                  <a:schemeClr val="tx1"/>
                </a:solidFill>
                <a:effectLst/>
                <a:latin typeface="+mn-lt"/>
                <a:ea typeface="+mn-ea"/>
                <a:cs typeface="+mn-cs"/>
              </a:rPr>
              <a:t>d5</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j=j-1 </a:t>
            </a:r>
            <a:r>
              <a:rPr lang="zh-CN" altLang="zh-CN" sz="1200" kern="1200" dirty="0">
                <a:solidFill>
                  <a:schemeClr val="tx1"/>
                </a:solidFill>
                <a:effectLst/>
                <a:latin typeface="+mn-lt"/>
                <a:ea typeface="+mn-ea"/>
                <a:cs typeface="+mn-cs"/>
              </a:rPr>
              <a:t>也可以到达基本块</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的开头。但，这个定值杀死了定值</a:t>
            </a:r>
            <a:r>
              <a:rPr lang="en-US" altLang="zh-CN" sz="1200" kern="1200" dirty="0">
                <a:solidFill>
                  <a:schemeClr val="tx1"/>
                </a:solidFill>
                <a:effectLst/>
                <a:latin typeface="+mn-lt"/>
                <a:ea typeface="+mn-ea"/>
                <a:cs typeface="+mn-cs"/>
              </a:rPr>
              <a:t> d2 : j = n </a:t>
            </a:r>
            <a:r>
              <a:rPr lang="zh-CN" altLang="zh-CN" sz="1200" kern="1200" dirty="0">
                <a:solidFill>
                  <a:schemeClr val="tx1"/>
                </a:solidFill>
                <a:effectLst/>
                <a:latin typeface="+mn-lt"/>
                <a:ea typeface="+mn-ea"/>
                <a:cs typeface="+mn-cs"/>
              </a:rPr>
              <a:t>，使得</a:t>
            </a:r>
            <a:r>
              <a:rPr lang="en-US" altLang="zh-CN" sz="1200" kern="1200" dirty="0">
                <a:solidFill>
                  <a:schemeClr val="tx1"/>
                </a:solidFill>
                <a:effectLst/>
                <a:latin typeface="+mn-lt"/>
                <a:ea typeface="+mn-ea"/>
                <a:cs typeface="+mn-cs"/>
              </a:rPr>
              <a:t>d2</a:t>
            </a:r>
            <a:r>
              <a:rPr lang="zh-CN" altLang="zh-CN" sz="1200" kern="1200" dirty="0">
                <a:solidFill>
                  <a:schemeClr val="tx1"/>
                </a:solidFill>
                <a:effectLst/>
                <a:latin typeface="+mn-lt"/>
                <a:ea typeface="+mn-ea"/>
                <a:cs typeface="+mn-cs"/>
              </a:rPr>
              <a:t>不能到达</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B4 </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B2 </a:t>
            </a:r>
            <a:r>
              <a:rPr lang="zh-CN" altLang="zh-CN" sz="1200" kern="1200" dirty="0">
                <a:solidFill>
                  <a:schemeClr val="tx1"/>
                </a:solidFill>
                <a:effectLst/>
                <a:latin typeface="+mn-lt"/>
                <a:ea typeface="+mn-ea"/>
                <a:cs typeface="+mn-cs"/>
              </a:rPr>
              <a:t>中的语句</a:t>
            </a:r>
            <a:r>
              <a:rPr lang="en-US" altLang="zh-CN" sz="1200" kern="1200" dirty="0">
                <a:solidFill>
                  <a:schemeClr val="tx1"/>
                </a:solidFill>
                <a:effectLst/>
                <a:latin typeface="+mn-lt"/>
                <a:ea typeface="+mn-ea"/>
                <a:cs typeface="+mn-cs"/>
              </a:rPr>
              <a:t> d4 :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 i+1 </a:t>
            </a:r>
            <a:r>
              <a:rPr lang="zh-CN" altLang="zh-CN" sz="1200" kern="1200" dirty="0">
                <a:solidFill>
                  <a:schemeClr val="tx1"/>
                </a:solidFill>
                <a:effectLst/>
                <a:latin typeface="+mn-lt"/>
                <a:ea typeface="+mn-ea"/>
                <a:cs typeface="+mn-cs"/>
              </a:rPr>
              <a:t>并未到达</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的开头，这是因为变量</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总是被</a:t>
            </a:r>
            <a:r>
              <a:rPr lang="en-US" altLang="zh-CN" sz="1200" kern="1200" dirty="0">
                <a:solidFill>
                  <a:schemeClr val="tx1"/>
                </a:solidFill>
                <a:effectLst/>
                <a:latin typeface="+mn-lt"/>
                <a:ea typeface="+mn-ea"/>
                <a:cs typeface="+mn-cs"/>
              </a:rPr>
              <a:t> d7 :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 u3 </a:t>
            </a:r>
            <a:r>
              <a:rPr lang="zh-CN" altLang="zh-CN" sz="1200" kern="1200" dirty="0">
                <a:solidFill>
                  <a:schemeClr val="tx1"/>
                </a:solidFill>
                <a:effectLst/>
                <a:latin typeface="+mn-lt"/>
                <a:ea typeface="+mn-ea"/>
                <a:cs typeface="+mn-cs"/>
              </a:rPr>
              <a:t>重新定值。</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最后，定值</a:t>
            </a:r>
            <a:r>
              <a:rPr lang="en-US" altLang="zh-CN" sz="1200" kern="1200" dirty="0">
                <a:solidFill>
                  <a:schemeClr val="tx1"/>
                </a:solidFill>
                <a:effectLst/>
                <a:latin typeface="+mn-lt"/>
                <a:ea typeface="+mn-ea"/>
                <a:cs typeface="+mn-cs"/>
              </a:rPr>
              <a:t> d6:a=u2 </a:t>
            </a:r>
            <a:r>
              <a:rPr lang="zh-CN" altLang="zh-CN" sz="1200" kern="1200" dirty="0">
                <a:solidFill>
                  <a:schemeClr val="tx1"/>
                </a:solidFill>
                <a:effectLst/>
                <a:latin typeface="+mn-lt"/>
                <a:ea typeface="+mn-ea"/>
                <a:cs typeface="+mn-cs"/>
              </a:rPr>
              <a:t>也能够到达块</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的开头</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10606925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我们在前面定义的到达定值，有时会允许一定的不精确。但是，它们都是在“安全”或“保守”的方向上不精确。例如，请注意我们假设一个流图的所有边都可以通过。在实践中这一假设可能并不成立。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般来说，决定流图中的每条路径是否可以被执行是一个不可判定的问题。因此，我们简单地假设流图中的每条路径都可能在程序的某些执行时通过。在大部分到达定值的应用中，在一个定值不可能到达某个点的情况下，假设其能够到达是保守的。因此，我们可以允许在程序实际执行中根本不会被遍历的路径，我们也可以安全地允许定值穿越</a:t>
            </a:r>
            <a:r>
              <a:rPr lang="zh-CN" altLang="en-US" sz="1200" kern="1200" dirty="0">
                <a:solidFill>
                  <a:schemeClr val="tx1"/>
                </a:solidFill>
                <a:effectLst/>
                <a:latin typeface="+mn-lt"/>
                <a:ea typeface="+mn-ea"/>
                <a:cs typeface="+mn-cs"/>
              </a:rPr>
              <a:t>某个</a:t>
            </a:r>
            <a:r>
              <a:rPr lang="zh-CN" altLang="zh-CN" sz="1200" kern="1200" dirty="0">
                <a:solidFill>
                  <a:schemeClr val="tx1"/>
                </a:solidFill>
                <a:effectLst/>
                <a:latin typeface="+mn-lt"/>
                <a:ea typeface="+mn-ea"/>
                <a:cs typeface="+mn-cs"/>
              </a:rPr>
              <a:t>对同一变量的</a:t>
            </a:r>
            <a:r>
              <a:rPr lang="zh-CN" altLang="en-US" sz="1200" kern="1200" dirty="0">
                <a:solidFill>
                  <a:schemeClr val="tx1"/>
                </a:solidFill>
                <a:effectLst/>
                <a:latin typeface="+mn-lt"/>
                <a:ea typeface="+mn-ea"/>
                <a:cs typeface="+mn-cs"/>
              </a:rPr>
              <a:t>不明确</a:t>
            </a:r>
            <a:r>
              <a:rPr lang="zh-CN" altLang="zh-CN" sz="1200" kern="1200" dirty="0">
                <a:solidFill>
                  <a:schemeClr val="tx1"/>
                </a:solidFill>
                <a:effectLst/>
                <a:latin typeface="+mn-lt"/>
                <a:ea typeface="+mn-ea"/>
                <a:cs typeface="+mn-cs"/>
              </a:rPr>
              <a:t>定值。</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达到定值的传递方程 我们现在将为达到定值问题设置约束。我们首先检查单个语句的细节。考虑一个定值 </a:t>
            </a:r>
            <a:r>
              <a:rPr lang="en-US" altLang="zh-CN" dirty="0"/>
              <a:t>d</a:t>
            </a:r>
            <a:r>
              <a:rPr lang="zh-CN" altLang="en-US" dirty="0"/>
              <a:t>： </a:t>
            </a:r>
            <a:r>
              <a:rPr lang="en-US" altLang="zh-CN" dirty="0"/>
              <a:t>u = </a:t>
            </a:r>
            <a:r>
              <a:rPr lang="en-US" altLang="zh-CN" dirty="0" err="1"/>
              <a:t>v+w</a:t>
            </a:r>
            <a:r>
              <a:rPr lang="en-US" altLang="zh-CN" dirty="0"/>
              <a:t> </a:t>
            </a:r>
            <a:r>
              <a:rPr lang="zh-CN" altLang="en-US" dirty="0"/>
              <a:t>在这里，以及在下面的内容中，</a:t>
            </a:r>
            <a:r>
              <a:rPr lang="en-US" altLang="zh-CN" dirty="0"/>
              <a:t>+</a:t>
            </a:r>
            <a:r>
              <a:rPr lang="zh-CN" altLang="en-US" dirty="0"/>
              <a:t>经常代表了一个一般性的二元运算符。以后我们经常这样做。</a:t>
            </a:r>
            <a:endParaRPr lang="en-US" altLang="zh-CN" dirty="0"/>
          </a:p>
          <a:p>
            <a:r>
              <a:rPr lang="zh-CN" altLang="en-US" dirty="0"/>
              <a:t>该语句“生成”一个变量 </a:t>
            </a:r>
            <a:r>
              <a:rPr lang="en-US" altLang="zh-CN" dirty="0"/>
              <a:t>u </a:t>
            </a:r>
            <a:r>
              <a:rPr lang="zh-CN" altLang="en-US" dirty="0"/>
              <a:t>的定值并“杀死”程序中其他对</a:t>
            </a:r>
            <a:r>
              <a:rPr lang="en-US" altLang="zh-CN" dirty="0"/>
              <a:t>u</a:t>
            </a:r>
            <a:r>
              <a:rPr lang="zh-CN" altLang="en-US" dirty="0"/>
              <a:t>的定值，而进入这个语句的其他定值不受影响。因此，定值 </a:t>
            </a:r>
            <a:r>
              <a:rPr lang="en-US" altLang="zh-CN" dirty="0"/>
              <a:t>d </a:t>
            </a:r>
            <a:r>
              <a:rPr lang="zh-CN" altLang="en-US" dirty="0"/>
              <a:t>的传递函数可以表示为𝑓𝑑 （ 𝑥）</a:t>
            </a:r>
            <a:r>
              <a:rPr lang="en-US" altLang="zh-CN" dirty="0"/>
              <a:t>= </a:t>
            </a:r>
            <a:r>
              <a:rPr lang="zh-CN" altLang="en-US" dirty="0"/>
              <a:t>𝑔𝑒𝑛𝑑 𝖴 </a:t>
            </a:r>
            <a:r>
              <a:rPr lang="en-US" altLang="zh-CN" dirty="0"/>
              <a:t>(</a:t>
            </a:r>
            <a:r>
              <a:rPr lang="zh-CN" altLang="en-US" dirty="0"/>
              <a:t>𝑥 − 𝑘𝑖𝑙𝑙𝑑</a:t>
            </a:r>
            <a:r>
              <a:rPr lang="en-US" altLang="zh-CN" dirty="0"/>
              <a:t>)</a:t>
            </a:r>
          </a:p>
          <a:p>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是该语句前的数据流值</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gend</a:t>
            </a:r>
            <a:r>
              <a:rPr lang="en-US" altLang="zh-CN" sz="1200" kern="1200" dirty="0">
                <a:solidFill>
                  <a:schemeClr val="tx1"/>
                </a:solidFill>
                <a:effectLst/>
                <a:latin typeface="+mn-lt"/>
                <a:ea typeface="+mn-ea"/>
                <a:cs typeface="+mn-cs"/>
              </a:rPr>
              <a:t> = {d}</a:t>
            </a:r>
            <a:r>
              <a:rPr lang="zh-CN" altLang="zh-CN" sz="1200" kern="1200" dirty="0">
                <a:solidFill>
                  <a:schemeClr val="tx1"/>
                </a:solidFill>
                <a:effectLst/>
                <a:latin typeface="+mn-lt"/>
                <a:ea typeface="+mn-ea"/>
                <a:cs typeface="+mn-cs"/>
              </a:rPr>
              <a:t>，即由该语句生成的定值集合，</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killd</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是程序中所有其他对</a:t>
            </a:r>
            <a:r>
              <a:rPr lang="en-US" altLang="zh-CN" sz="1200" kern="1200" dirty="0">
                <a:solidFill>
                  <a:schemeClr val="tx1"/>
                </a:solidFill>
                <a:effectLst/>
                <a:latin typeface="+mn-lt"/>
                <a:ea typeface="+mn-ea"/>
                <a:cs typeface="+mn-cs"/>
              </a:rPr>
              <a:t>u</a:t>
            </a:r>
            <a:r>
              <a:rPr lang="zh-CN" altLang="zh-CN" sz="1200" kern="1200" dirty="0">
                <a:solidFill>
                  <a:schemeClr val="tx1"/>
                </a:solidFill>
                <a:effectLst/>
                <a:latin typeface="+mn-lt"/>
                <a:ea typeface="+mn-ea"/>
                <a:cs typeface="+mn-cs"/>
              </a:rPr>
              <a:t>的定值</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41024407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基本块的传递函数可以通过把它包含的所有语句的传递函数组合起来而构造得到。</a:t>
            </a:r>
            <a:r>
              <a:rPr lang="en-US" altLang="zh-CN" sz="1200" kern="1200" dirty="0">
                <a:solidFill>
                  <a:schemeClr val="tx1"/>
                </a:solidFill>
                <a:effectLst/>
                <a:latin typeface="+mn-lt"/>
                <a:ea typeface="+mn-ea"/>
                <a:cs typeface="+mn-cs"/>
              </a:rPr>
              <a:t> (9.1) </a:t>
            </a:r>
            <a:r>
              <a:rPr lang="zh-CN" altLang="zh-CN" sz="1200" kern="1200" dirty="0">
                <a:solidFill>
                  <a:schemeClr val="tx1"/>
                </a:solidFill>
                <a:effectLst/>
                <a:latin typeface="+mn-lt"/>
                <a:ea typeface="+mn-ea"/>
                <a:cs typeface="+mn-cs"/>
              </a:rPr>
              <a:t>形式的函数组合，我们将其称为“生成</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杀死“形式，</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2036444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该规则可以扩展到由任意多个语句组成的块。假设块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 n </a:t>
            </a:r>
            <a:r>
              <a:rPr lang="zh-CN" altLang="zh-CN" sz="1200" kern="1200" dirty="0">
                <a:solidFill>
                  <a:schemeClr val="tx1"/>
                </a:solidFill>
                <a:effectLst/>
                <a:latin typeface="+mn-lt"/>
                <a:ea typeface="+mn-ea"/>
                <a:cs typeface="+mn-cs"/>
              </a:rPr>
              <a:t>个语句，而第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个语句的传递传递函数为为</a:t>
            </a:r>
            <a:r>
              <a:rPr lang="en-US" altLang="zh-CN" sz="1200" kern="1200" dirty="0">
                <a:solidFill>
                  <a:schemeClr val="tx1"/>
                </a:solidFill>
                <a:effectLst/>
                <a:latin typeface="+mn-lt"/>
                <a:ea typeface="+mn-ea"/>
                <a:cs typeface="+mn-cs"/>
              </a:rPr>
              <a:t> fi (x)=</a:t>
            </a:r>
            <a:r>
              <a:rPr lang="en-US" altLang="zh-CN" sz="1200" kern="1200" dirty="0" err="1">
                <a:solidFill>
                  <a:schemeClr val="tx1"/>
                </a:solidFill>
                <a:effectLst/>
                <a:latin typeface="+mn-lt"/>
                <a:ea typeface="+mn-ea"/>
                <a:cs typeface="+mn-cs"/>
              </a:rPr>
              <a:t>geni</a:t>
            </a:r>
            <a:r>
              <a:rPr lang="en-US" altLang="zh-CN" sz="1200" kern="1200" dirty="0">
                <a:solidFill>
                  <a:schemeClr val="tx1"/>
                </a:solidFill>
                <a:effectLst/>
                <a:latin typeface="+mn-lt"/>
                <a:ea typeface="+mn-ea"/>
                <a:cs typeface="+mn-cs"/>
              </a:rPr>
              <a:t> </a:t>
            </a:r>
            <a:r>
              <a:rPr lang="zh-CN" altLang="en-US" sz="1200" spc="120" dirty="0">
                <a:latin typeface="Cambria Math" panose="02040503050406030204"/>
                <a:cs typeface="Cambria Math" panose="02040503050406030204"/>
              </a:rPr>
              <a:t>𝖴</a:t>
            </a:r>
            <a:r>
              <a:rPr lang="en-US" altLang="zh-CN" sz="1200" kern="1200" dirty="0">
                <a:solidFill>
                  <a:schemeClr val="tx1"/>
                </a:solidFill>
                <a:effectLst/>
                <a:latin typeface="+mn-lt"/>
                <a:ea typeface="+mn-ea"/>
                <a:cs typeface="+mn-cs"/>
              </a:rPr>
              <a:t>(x -</a:t>
            </a:r>
            <a:r>
              <a:rPr lang="en-US" altLang="zh-CN" sz="1200" kern="1200" dirty="0" err="1">
                <a:solidFill>
                  <a:schemeClr val="tx1"/>
                </a:solidFill>
                <a:effectLst/>
                <a:latin typeface="+mn-lt"/>
                <a:ea typeface="+mn-ea"/>
                <a:cs typeface="+mn-cs"/>
              </a:rPr>
              <a:t>Killi</a:t>
            </a:r>
            <a:r>
              <a:rPr lang="en-US" altLang="zh-CN" sz="1200" kern="1200" dirty="0">
                <a:solidFill>
                  <a:schemeClr val="tx1"/>
                </a:solidFill>
                <a:effectLst/>
                <a:latin typeface="+mn-lt"/>
                <a:ea typeface="+mn-ea"/>
                <a:cs typeface="+mn-cs"/>
              </a:rPr>
              <a:t> ) for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。那么块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的传递函数可以写为：</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因此，和单个语句一样，一个基本块也会生成一个定值集合并杀死一个定值集合。</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集合</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中包含了所有在紧靠块之后的点上“可见“的该基本块中的定值——我们将它们称为向下可见。在一个基本块中，一个定值是向下可见的，仅当它没有被同一个基本块中较后的对同一变量的定值”杀死“。</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一个基本块的</a:t>
            </a:r>
            <a:r>
              <a:rPr lang="en-US" altLang="zh-CN" sz="1200" kern="1200" dirty="0">
                <a:solidFill>
                  <a:schemeClr val="tx1"/>
                </a:solidFill>
                <a:effectLst/>
                <a:latin typeface="+mn-lt"/>
                <a:ea typeface="+mn-ea"/>
                <a:cs typeface="+mn-cs"/>
              </a:rPr>
              <a:t>kill</a:t>
            </a:r>
            <a:r>
              <a:rPr lang="zh-CN" altLang="zh-CN" sz="1200" kern="1200" dirty="0">
                <a:solidFill>
                  <a:schemeClr val="tx1"/>
                </a:solidFill>
                <a:effectLst/>
                <a:latin typeface="+mn-lt"/>
                <a:ea typeface="+mn-ea"/>
                <a:cs typeface="+mn-cs"/>
              </a:rPr>
              <a:t>集就是所有被块中各个语句杀死的定值的集合。请注意，一个定值可能会同时出现在基本块的</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集和</a:t>
            </a:r>
            <a:r>
              <a:rPr lang="en-US" altLang="zh-CN" sz="1200" kern="1200" dirty="0">
                <a:solidFill>
                  <a:schemeClr val="tx1"/>
                </a:solidFill>
                <a:effectLst/>
                <a:latin typeface="+mn-lt"/>
                <a:ea typeface="+mn-ea"/>
                <a:cs typeface="+mn-cs"/>
              </a:rPr>
              <a:t>kill</a:t>
            </a:r>
            <a:r>
              <a:rPr lang="zh-CN" altLang="zh-CN" sz="1200" kern="1200" dirty="0">
                <a:solidFill>
                  <a:schemeClr val="tx1"/>
                </a:solidFill>
                <a:effectLst/>
                <a:latin typeface="+mn-lt"/>
                <a:ea typeface="+mn-ea"/>
                <a:cs typeface="+mn-cs"/>
              </a:rPr>
              <a:t>集中。在这种情况下，该定值会被这个基本块生成，即优先考虑该定值是否在</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集中。这是因为在</a:t>
            </a:r>
            <a:r>
              <a:rPr lang="en-US" altLang="zh-CN" sz="1200" kern="1200" dirty="0">
                <a:solidFill>
                  <a:schemeClr val="tx1"/>
                </a:solidFill>
                <a:effectLst/>
                <a:latin typeface="+mn-lt"/>
                <a:ea typeface="+mn-ea"/>
                <a:cs typeface="+mn-cs"/>
              </a:rPr>
              <a:t> gen-kill </a:t>
            </a:r>
            <a:r>
              <a:rPr lang="zh-CN" altLang="zh-CN" sz="1200" kern="1200" dirty="0">
                <a:solidFill>
                  <a:schemeClr val="tx1"/>
                </a:solidFill>
                <a:effectLst/>
                <a:latin typeface="+mn-lt"/>
                <a:ea typeface="+mn-ea"/>
                <a:cs typeface="+mn-cs"/>
              </a:rPr>
              <a:t>形式中，</a:t>
            </a:r>
            <a:r>
              <a:rPr lang="en-US" altLang="zh-CN" sz="1200" kern="1200" dirty="0">
                <a:solidFill>
                  <a:schemeClr val="tx1"/>
                </a:solidFill>
                <a:effectLst/>
                <a:latin typeface="+mn-lt"/>
                <a:ea typeface="+mn-ea"/>
                <a:cs typeface="+mn-cs"/>
              </a:rPr>
              <a:t>kill </a:t>
            </a:r>
            <a:r>
              <a:rPr lang="zh-CN" altLang="zh-CN" sz="1200" kern="1200" dirty="0">
                <a:solidFill>
                  <a:schemeClr val="tx1"/>
                </a:solidFill>
                <a:effectLst/>
                <a:latin typeface="+mn-lt"/>
                <a:ea typeface="+mn-ea"/>
                <a:cs typeface="+mn-cs"/>
              </a:rPr>
              <a:t>集在</a:t>
            </a:r>
            <a:r>
              <a:rPr lang="en-US" altLang="zh-CN" sz="1200" kern="1200" dirty="0">
                <a:solidFill>
                  <a:schemeClr val="tx1"/>
                </a:solidFill>
                <a:effectLst/>
                <a:latin typeface="+mn-lt"/>
                <a:ea typeface="+mn-ea"/>
                <a:cs typeface="+mn-cs"/>
              </a:rPr>
              <a:t> gen </a:t>
            </a:r>
            <a:r>
              <a:rPr lang="zh-CN" altLang="zh-CN" sz="1200" kern="1200" dirty="0">
                <a:solidFill>
                  <a:schemeClr val="tx1"/>
                </a:solidFill>
                <a:effectLst/>
                <a:latin typeface="+mn-lt"/>
                <a:ea typeface="+mn-ea"/>
                <a:cs typeface="+mn-cs"/>
              </a:rPr>
              <a:t>集之前被应用。</a:t>
            </a:r>
          </a:p>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基本块</a:t>
            </a:r>
            <a:r>
              <a:rPr lang="en-US" altLang="zh-CN" sz="1200" kern="1200" dirty="0">
                <a:solidFill>
                  <a:schemeClr val="tx1"/>
                </a:solidFill>
                <a:effectLst/>
                <a:latin typeface="+mn-lt"/>
                <a:ea typeface="+mn-ea"/>
                <a:cs typeface="+mn-cs"/>
              </a:rPr>
              <a:t> d1 : a = 3 d2 : a = 4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集是 </a:t>
            </a:r>
            <a:r>
              <a:rPr lang="en-US" altLang="zh-CN" sz="1200" kern="1200" dirty="0">
                <a:solidFill>
                  <a:schemeClr val="tx1"/>
                </a:solidFill>
                <a:effectLst/>
                <a:latin typeface="+mn-lt"/>
                <a:ea typeface="+mn-ea"/>
                <a:cs typeface="+mn-cs"/>
              </a:rPr>
              <a:t>{d2}</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不是向下可见的。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基本块</a:t>
            </a:r>
            <a:r>
              <a:rPr lang="en-US" altLang="zh-CN" sz="1200" kern="1200" dirty="0">
                <a:solidFill>
                  <a:schemeClr val="tx1"/>
                </a:solidFill>
                <a:effectLst/>
                <a:latin typeface="+mn-lt"/>
                <a:ea typeface="+mn-ea"/>
                <a:cs typeface="+mn-cs"/>
              </a:rPr>
              <a:t>kill</a:t>
            </a:r>
            <a:r>
              <a:rPr lang="zh-CN" altLang="zh-CN" sz="1200" kern="1200" dirty="0">
                <a:solidFill>
                  <a:schemeClr val="tx1"/>
                </a:solidFill>
                <a:effectLst/>
                <a:latin typeface="+mn-lt"/>
                <a:ea typeface="+mn-ea"/>
                <a:cs typeface="+mn-cs"/>
              </a:rPr>
              <a:t>集包含了</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d2 </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杀死了</a:t>
            </a:r>
            <a:r>
              <a:rPr lang="en-US" altLang="zh-CN" sz="1200" kern="1200" dirty="0">
                <a:solidFill>
                  <a:schemeClr val="tx1"/>
                </a:solidFill>
                <a:effectLst/>
                <a:latin typeface="+mn-lt"/>
                <a:ea typeface="+mn-ea"/>
                <a:cs typeface="+mn-cs"/>
              </a:rPr>
              <a:t>d2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d2 </a:t>
            </a:r>
            <a:r>
              <a:rPr lang="zh-CN" altLang="zh-CN" sz="1200" kern="1200" dirty="0">
                <a:solidFill>
                  <a:schemeClr val="tx1"/>
                </a:solidFill>
                <a:effectLst/>
                <a:latin typeface="+mn-lt"/>
                <a:ea typeface="+mn-ea"/>
                <a:cs typeface="+mn-cs"/>
              </a:rPr>
              <a:t>杀死了</a:t>
            </a:r>
            <a:r>
              <a:rPr lang="en-US" altLang="zh-CN" sz="1200" kern="1200" dirty="0">
                <a:solidFill>
                  <a:schemeClr val="tx1"/>
                </a:solidFill>
                <a:effectLst/>
                <a:latin typeface="+mn-lt"/>
                <a:ea typeface="+mn-ea"/>
                <a:cs typeface="+mn-cs"/>
              </a:rPr>
              <a:t>d1 </a:t>
            </a:r>
            <a:r>
              <a:rPr lang="zh-CN" altLang="zh-CN" sz="1200" kern="1200" dirty="0">
                <a:solidFill>
                  <a:schemeClr val="tx1"/>
                </a:solidFill>
                <a:effectLst/>
                <a:latin typeface="+mn-lt"/>
                <a:ea typeface="+mn-ea"/>
                <a:cs typeface="+mn-cs"/>
              </a:rPr>
              <a:t>。尽管如此，由于减去</a:t>
            </a:r>
            <a:r>
              <a:rPr lang="en-US" altLang="zh-CN" sz="1200" kern="1200" dirty="0">
                <a:solidFill>
                  <a:schemeClr val="tx1"/>
                </a:solidFill>
                <a:effectLst/>
                <a:latin typeface="+mn-lt"/>
                <a:ea typeface="+mn-ea"/>
                <a:cs typeface="+mn-cs"/>
              </a:rPr>
              <a:t>kill</a:t>
            </a:r>
            <a:r>
              <a:rPr lang="zh-CN" altLang="zh-CN" sz="1200" kern="1200" dirty="0">
                <a:solidFill>
                  <a:schemeClr val="tx1"/>
                </a:solidFill>
                <a:effectLst/>
                <a:latin typeface="+mn-lt"/>
                <a:ea typeface="+mn-ea"/>
                <a:cs typeface="+mn-cs"/>
              </a:rPr>
              <a:t>集的运算先于和</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集的并集运算，因此该块的传递函数的结果中总是包含定值</a:t>
            </a:r>
            <a:r>
              <a:rPr lang="en-US" altLang="zh-CN" sz="1200" kern="1200" dirty="0">
                <a:solidFill>
                  <a:schemeClr val="tx1"/>
                </a:solidFill>
                <a:effectLst/>
                <a:latin typeface="+mn-lt"/>
                <a:ea typeface="+mn-ea"/>
                <a:cs typeface="+mn-cs"/>
              </a:rPr>
              <a:t> d2</a:t>
            </a:r>
            <a:endParaRPr lang="en-US"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控制流方程 接下来，我们考虑从基本块之间的控制流得到的约束的集合。因为只有一个定值能够沿着至少一条路径到达某个程序点，那么这个定值就到达该程序点。</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因此只要存在一条从</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的控制边，就会出现</a:t>
            </a:r>
            <a:r>
              <a:rPr lang="en-US" altLang="zh-CN" sz="1200" kern="1200" dirty="0">
                <a:solidFill>
                  <a:schemeClr val="tx1"/>
                </a:solidFill>
                <a:effectLst/>
                <a:latin typeface="+mn-lt"/>
                <a:ea typeface="+mn-ea"/>
                <a:cs typeface="+mn-cs"/>
              </a:rPr>
              <a:t> OUT[P]</a:t>
            </a:r>
            <a:r>
              <a:rPr lang="zh-CN" altLang="en-US" dirty="0"/>
              <a:t> ⊆</a:t>
            </a:r>
            <a:r>
              <a:rPr lang="en-US" altLang="zh-CN" sz="1200" kern="1200" dirty="0">
                <a:solidFill>
                  <a:schemeClr val="tx1"/>
                </a:solidFill>
                <a:effectLst/>
                <a:latin typeface="+mn-lt"/>
                <a:ea typeface="+mn-ea"/>
                <a:cs typeface="+mn-cs"/>
              </a:rPr>
              <a:t> IN[B]</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然而，一个定值到达某个程序点的必要条件是它能够沿着某条路径到达这个程序点，因此</a:t>
            </a:r>
            <a:r>
              <a:rPr lang="en-US" altLang="zh-CN" sz="1200" kern="1200" dirty="0">
                <a:solidFill>
                  <a:schemeClr val="tx1"/>
                </a:solidFill>
                <a:effectLst/>
                <a:latin typeface="+mn-lt"/>
                <a:ea typeface="+mn-ea"/>
                <a:cs typeface="+mn-cs"/>
              </a:rPr>
              <a:t>IN[B]</a:t>
            </a:r>
            <a:r>
              <a:rPr lang="zh-CN" altLang="zh-CN" sz="1200" kern="1200" dirty="0">
                <a:solidFill>
                  <a:schemeClr val="tx1"/>
                </a:solidFill>
                <a:effectLst/>
                <a:latin typeface="+mn-lt"/>
                <a:ea typeface="+mn-ea"/>
                <a:cs typeface="+mn-cs"/>
              </a:rPr>
              <a:t>不应该大于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的所有前驱基本块出口点的到达定值的并集。也就是说，可以安全地假设如下的方程式成立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我们将并集运算称为达到定值的交汇</a:t>
            </a:r>
            <a:r>
              <a:rPr lang="en-US" altLang="zh-CN" sz="1200" kern="1200" dirty="0">
                <a:solidFill>
                  <a:schemeClr val="tx1"/>
                </a:solidFill>
                <a:effectLst/>
                <a:latin typeface="+mn-lt"/>
                <a:ea typeface="+mn-ea"/>
                <a:cs typeface="+mn-cs"/>
              </a:rPr>
              <a:t>meet</a:t>
            </a:r>
            <a:r>
              <a:rPr lang="zh-CN" altLang="zh-CN" sz="1200" kern="1200" dirty="0">
                <a:solidFill>
                  <a:schemeClr val="tx1"/>
                </a:solidFill>
                <a:effectLst/>
                <a:latin typeface="+mn-lt"/>
                <a:ea typeface="+mn-ea"/>
                <a:cs typeface="+mn-cs"/>
              </a:rPr>
              <a:t>运算。在任何数据流模式中，我们使用交</a:t>
            </a:r>
            <a:r>
              <a:rPr lang="zh-CN" altLang="en-US" sz="1200" kern="1200" dirty="0">
                <a:solidFill>
                  <a:schemeClr val="tx1"/>
                </a:solidFill>
                <a:effectLst/>
                <a:latin typeface="+mn-lt"/>
                <a:ea typeface="+mn-ea"/>
                <a:cs typeface="+mn-cs"/>
              </a:rPr>
              <a:t>汇</a:t>
            </a:r>
            <a:r>
              <a:rPr lang="en-US" altLang="zh-CN" sz="1200" kern="1200" dirty="0">
                <a:solidFill>
                  <a:schemeClr val="tx1"/>
                </a:solidFill>
                <a:effectLst/>
                <a:latin typeface="+mn-lt"/>
                <a:ea typeface="+mn-ea"/>
                <a:cs typeface="+mn-cs"/>
              </a:rPr>
              <a:t>meet</a:t>
            </a:r>
            <a:r>
              <a:rPr lang="zh-CN" altLang="zh-CN" sz="1200" kern="1200" dirty="0">
                <a:solidFill>
                  <a:schemeClr val="tx1"/>
                </a:solidFill>
                <a:effectLst/>
                <a:latin typeface="+mn-lt"/>
                <a:ea typeface="+mn-ea"/>
                <a:cs typeface="+mn-cs"/>
              </a:rPr>
              <a:t>运算符来汇总各条路径会合点上不同路径所作的贡献。</a:t>
            </a:r>
          </a:p>
          <a:p>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我们假设每个控制流图都有两个空的基本块，一个入口节点（代表图的起始点）和一个出口节点（所有离开图的控制流都流向它） 。由于没有定值到达图的开头，因此基本块</a:t>
            </a:r>
            <a:r>
              <a:rPr lang="en-US" altLang="zh-CN" dirty="0"/>
              <a:t>ENREY</a:t>
            </a:r>
            <a:r>
              <a:rPr lang="zh-CN" altLang="en-US" dirty="0"/>
              <a:t>的传递函数是一个简单的常函数，它返回空集，即 </a:t>
            </a:r>
            <a:r>
              <a:rPr lang="en-US" altLang="zh-CN" dirty="0"/>
              <a:t>OUT[entry]=;</a:t>
            </a:r>
            <a:r>
              <a:rPr lang="zh-CN" altLang="en-US" dirty="0"/>
              <a:t>。</a:t>
            </a:r>
            <a:endParaRPr lang="en-US" altLang="zh-CN" dirty="0"/>
          </a:p>
          <a:p>
            <a:r>
              <a:rPr lang="zh-CN" altLang="en-US" dirty="0"/>
              <a:t>到达定值问题使用下面的方程定义：</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算法的结果是方程的最小不动点，即，对于各个</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，这个解给出的值总是此方程组的其他解所给出的值的子集。下面的算法的结果是可接受的，因为在某个集合</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或 集合</a:t>
            </a:r>
            <a:r>
              <a:rPr lang="en-US" altLang="zh-CN" sz="1200" kern="1200" dirty="0">
                <a:solidFill>
                  <a:schemeClr val="tx1"/>
                </a:solidFill>
                <a:effectLst/>
                <a:latin typeface="+mn-lt"/>
                <a:ea typeface="+mn-ea"/>
                <a:cs typeface="+mn-cs"/>
              </a:rPr>
              <a:t>OUT</a:t>
            </a:r>
            <a:r>
              <a:rPr lang="zh-CN" altLang="zh-CN" sz="1200" kern="1200" dirty="0">
                <a:solidFill>
                  <a:schemeClr val="tx1"/>
                </a:solidFill>
                <a:effectLst/>
                <a:latin typeface="+mn-lt"/>
                <a:ea typeface="+mn-ea"/>
                <a:cs typeface="+mn-cs"/>
              </a:rPr>
              <a:t>中的定值确实可以到达到该</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OUT</a:t>
            </a:r>
            <a:r>
              <a:rPr lang="zh-CN" altLang="zh-CN" sz="1200" kern="1200" dirty="0">
                <a:solidFill>
                  <a:schemeClr val="tx1"/>
                </a:solidFill>
                <a:effectLst/>
                <a:latin typeface="+mn-lt"/>
                <a:ea typeface="+mn-ea"/>
                <a:cs typeface="+mn-cs"/>
              </a:rPr>
              <a:t>所描述的程序点。这</a:t>
            </a:r>
            <a:r>
              <a:rPr lang="zh-CN" altLang="en-US" sz="1200" kern="1200" dirty="0">
                <a:solidFill>
                  <a:schemeClr val="tx1"/>
                </a:solidFill>
                <a:effectLst/>
                <a:latin typeface="+mn-lt"/>
                <a:ea typeface="+mn-ea"/>
                <a:cs typeface="+mn-cs"/>
              </a:rPr>
              <a:t>个解也是我们所期望的</a:t>
            </a:r>
            <a:r>
              <a:rPr lang="zh-CN" altLang="zh-CN" sz="1200" kern="1200" dirty="0">
                <a:solidFill>
                  <a:schemeClr val="tx1"/>
                </a:solidFill>
                <a:effectLst/>
                <a:latin typeface="+mn-lt"/>
                <a:ea typeface="+mn-ea"/>
                <a:cs typeface="+mn-cs"/>
              </a:rPr>
              <a:t>，因为它不包含任何我们确</a:t>
            </a:r>
            <a:r>
              <a:rPr lang="zh-CN" altLang="en-US" sz="1200" kern="1200" dirty="0">
                <a:solidFill>
                  <a:schemeClr val="tx1"/>
                </a:solidFill>
                <a:effectLst/>
                <a:latin typeface="+mn-lt"/>
                <a:ea typeface="+mn-ea"/>
                <a:cs typeface="+mn-cs"/>
              </a:rPr>
              <a:t>定不会到达</a:t>
            </a:r>
            <a:r>
              <a:rPr lang="zh-CN" altLang="zh-CN" sz="1200" kern="1200" dirty="0">
                <a:solidFill>
                  <a:schemeClr val="tx1"/>
                </a:solidFill>
                <a:effectLst/>
                <a:latin typeface="+mn-lt"/>
                <a:ea typeface="+mn-ea"/>
                <a:cs typeface="+mn-cs"/>
              </a:rPr>
              <a:t>的定值。</a:t>
            </a:r>
          </a:p>
          <a:p>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 9.11</a:t>
            </a:r>
            <a:r>
              <a:rPr lang="zh-CN" altLang="zh-CN" sz="1200" kern="1200" dirty="0">
                <a:solidFill>
                  <a:schemeClr val="tx1"/>
                </a:solidFill>
                <a:effectLst/>
                <a:latin typeface="+mn-lt"/>
                <a:ea typeface="+mn-ea"/>
                <a:cs typeface="+mn-cs"/>
              </a:rPr>
              <a:t>：达到定值。</a:t>
            </a:r>
          </a:p>
          <a:p>
            <a:r>
              <a:rPr lang="zh-CN" altLang="zh-CN" sz="1200" kern="1200" dirty="0">
                <a:solidFill>
                  <a:schemeClr val="tx1"/>
                </a:solidFill>
                <a:effectLst/>
                <a:latin typeface="+mn-lt"/>
                <a:ea typeface="+mn-ea"/>
                <a:cs typeface="+mn-cs"/>
              </a:rPr>
              <a:t>输入：一个流图，其中每个块</a:t>
            </a:r>
            <a:r>
              <a:rPr lang="en-US" altLang="zh-CN" sz="1200" kern="1200" dirty="0">
                <a:solidFill>
                  <a:schemeClr val="tx1"/>
                </a:solidFill>
                <a:effectLst/>
                <a:latin typeface="+mn-lt"/>
                <a:ea typeface="+mn-ea"/>
                <a:cs typeface="+mn-cs"/>
              </a:rPr>
              <a:t> B </a:t>
            </a:r>
            <a:r>
              <a:rPr lang="en-US" altLang="zh-CN" sz="1200" kern="1200" dirty="0" err="1">
                <a:solidFill>
                  <a:schemeClr val="tx1"/>
                </a:solidFill>
                <a:effectLst/>
                <a:latin typeface="+mn-lt"/>
                <a:ea typeface="+mn-ea"/>
                <a:cs typeface="+mn-cs"/>
              </a:rPr>
              <a:t>killB</a:t>
            </a:r>
            <a:r>
              <a:rPr lang="zh-CN" altLang="zh-CN" sz="1200" kern="1200" dirty="0">
                <a:solidFill>
                  <a:schemeClr val="tx1"/>
                </a:solidFill>
                <a:effectLst/>
                <a:latin typeface="+mn-lt"/>
                <a:ea typeface="+mn-ea"/>
                <a:cs typeface="+mn-cs"/>
              </a:rPr>
              <a:t>集 和</a:t>
            </a:r>
            <a:r>
              <a:rPr lang="en-US" altLang="zh-CN" sz="1200" kern="1200" dirty="0" err="1">
                <a:solidFill>
                  <a:schemeClr val="tx1"/>
                </a:solidFill>
                <a:effectLst/>
                <a:latin typeface="+mn-lt"/>
                <a:ea typeface="+mn-ea"/>
                <a:cs typeface="+mn-cs"/>
              </a:rPr>
              <a:t>genB</a:t>
            </a:r>
            <a:r>
              <a:rPr lang="zh-CN" altLang="zh-CN" sz="1200" kern="1200" dirty="0">
                <a:solidFill>
                  <a:schemeClr val="tx1"/>
                </a:solidFill>
                <a:effectLst/>
                <a:latin typeface="+mn-lt"/>
                <a:ea typeface="+mn-ea"/>
                <a:cs typeface="+mn-cs"/>
              </a:rPr>
              <a:t>集都已计算出来。</a:t>
            </a:r>
          </a:p>
          <a:p>
            <a:r>
              <a:rPr lang="zh-CN" altLang="zh-CN" sz="1200" kern="1200" dirty="0">
                <a:solidFill>
                  <a:schemeClr val="tx1"/>
                </a:solidFill>
                <a:effectLst/>
                <a:latin typeface="+mn-lt"/>
                <a:ea typeface="+mn-ea"/>
                <a:cs typeface="+mn-cs"/>
              </a:rPr>
              <a:t>输出：到达流图中各个基本块</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的入口点和出口点的定值的集合，即</a:t>
            </a:r>
            <a:r>
              <a:rPr lang="en-US" altLang="zh-CN" sz="1200" kern="1200" dirty="0">
                <a:solidFill>
                  <a:schemeClr val="tx1"/>
                </a:solidFill>
                <a:effectLst/>
                <a:latin typeface="+mn-lt"/>
                <a:ea typeface="+mn-ea"/>
                <a:cs typeface="+mn-cs"/>
              </a:rPr>
              <a:t>IN[B]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OUT[B]</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方法：我们使用迭代方法求解。一开始，我们估计对于所有</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都有</a:t>
            </a:r>
            <a:r>
              <a:rPr lang="en-US" altLang="zh-CN" sz="1200" kern="1200" dirty="0">
                <a:solidFill>
                  <a:schemeClr val="tx1"/>
                </a:solidFill>
                <a:effectLst/>
                <a:latin typeface="+mn-lt"/>
                <a:ea typeface="+mn-ea"/>
                <a:cs typeface="+mn-cs"/>
              </a:rPr>
              <a:t> OUT[B ] =</a:t>
            </a:r>
            <a:r>
              <a:rPr lang="zh-CN" altLang="zh-CN" sz="1200" kern="1200" dirty="0">
                <a:solidFill>
                  <a:schemeClr val="tx1"/>
                </a:solidFill>
                <a:effectLst/>
                <a:latin typeface="+mn-lt"/>
                <a:ea typeface="+mn-ea"/>
                <a:cs typeface="+mn-cs"/>
              </a:rPr>
              <a:t>空 ，并逐步逼近想要的</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的值。因为我们必须不停迭代直到各个</a:t>
            </a:r>
            <a:r>
              <a:rPr lang="en-US" altLang="zh-CN" sz="1200" kern="1200" dirty="0">
                <a:solidFill>
                  <a:schemeClr val="tx1"/>
                </a:solidFill>
                <a:effectLst/>
                <a:latin typeface="+mn-lt"/>
                <a:ea typeface="+mn-ea"/>
                <a:cs typeface="+mn-cs"/>
              </a:rPr>
              <a:t> IN</a:t>
            </a:r>
            <a:r>
              <a:rPr lang="zh-CN" altLang="zh-CN" sz="1200" kern="1200" dirty="0">
                <a:solidFill>
                  <a:schemeClr val="tx1"/>
                </a:solidFill>
                <a:effectLst/>
                <a:latin typeface="+mn-lt"/>
                <a:ea typeface="+mn-ea"/>
                <a:cs typeface="+mn-cs"/>
              </a:rPr>
              <a:t>值（以及</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各个</a:t>
            </a:r>
            <a:r>
              <a:rPr lang="en-US" altLang="zh-CN" sz="1200" kern="1200" dirty="0">
                <a:solidFill>
                  <a:schemeClr val="tx1"/>
                </a:solidFill>
                <a:effectLst/>
                <a:latin typeface="+mn-lt"/>
                <a:ea typeface="+mn-ea"/>
                <a:cs typeface="+mn-cs"/>
              </a:rPr>
              <a:t>OUT</a:t>
            </a:r>
            <a:r>
              <a:rPr lang="zh-CN" altLang="en-US" sz="1200" kern="1200" dirty="0">
                <a:solidFill>
                  <a:schemeClr val="tx1"/>
                </a:solidFill>
                <a:effectLst/>
                <a:latin typeface="+mn-lt"/>
                <a:ea typeface="+mn-ea"/>
                <a:cs typeface="+mn-cs"/>
              </a:rPr>
              <a:t>值</a:t>
            </a:r>
            <a:r>
              <a:rPr lang="zh-CN" altLang="zh-CN" sz="1200" kern="1200" dirty="0">
                <a:solidFill>
                  <a:schemeClr val="tx1"/>
                </a:solidFill>
                <a:effectLst/>
                <a:latin typeface="+mn-lt"/>
                <a:ea typeface="+mn-ea"/>
                <a:cs typeface="+mn-cs"/>
              </a:rPr>
              <a:t>）收敛，我们可以使用一个布尔变量</a:t>
            </a:r>
            <a:r>
              <a:rPr lang="en-US" altLang="zh-CN" sz="1200" kern="1200" dirty="0">
                <a:solidFill>
                  <a:schemeClr val="tx1"/>
                </a:solidFill>
                <a:effectLst/>
                <a:latin typeface="+mn-lt"/>
                <a:ea typeface="+mn-ea"/>
                <a:cs typeface="+mn-cs"/>
              </a:rPr>
              <a:t> change </a:t>
            </a:r>
            <a:r>
              <a:rPr lang="zh-CN" altLang="zh-CN" sz="1200" kern="1200" dirty="0">
                <a:solidFill>
                  <a:schemeClr val="tx1"/>
                </a:solidFill>
                <a:effectLst/>
                <a:latin typeface="+mn-lt"/>
                <a:ea typeface="+mn-ea"/>
                <a:cs typeface="+mn-cs"/>
              </a:rPr>
              <a:t>来记录每次扫描各基本块时，是否有</a:t>
            </a:r>
            <a:r>
              <a:rPr lang="en-US" altLang="zh-CN" sz="1200" kern="1200" dirty="0">
                <a:solidFill>
                  <a:schemeClr val="tx1"/>
                </a:solidFill>
                <a:effectLst/>
                <a:latin typeface="+mn-lt"/>
                <a:ea typeface="+mn-ea"/>
                <a:cs typeface="+mn-cs"/>
              </a:rPr>
              <a:t> OUT</a:t>
            </a:r>
            <a:r>
              <a:rPr lang="zh-CN" altLang="zh-CN" sz="1200" kern="1200" dirty="0">
                <a:solidFill>
                  <a:schemeClr val="tx1"/>
                </a:solidFill>
                <a:effectLst/>
                <a:latin typeface="+mn-lt"/>
                <a:ea typeface="+mn-ea"/>
                <a:cs typeface="+mn-cs"/>
              </a:rPr>
              <a:t>值发生更改。但是，在这个以及后面描述的类似算法中，我们假设用来跟踪更改情况的确切机制是可理解的，因此我们删除了这些细节。</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该算法如图</a:t>
            </a:r>
            <a:r>
              <a:rPr lang="en-US" altLang="zh-CN" sz="1200" kern="1200" dirty="0">
                <a:solidFill>
                  <a:schemeClr val="tx1"/>
                </a:solidFill>
                <a:effectLst/>
                <a:latin typeface="+mn-lt"/>
                <a:ea typeface="+mn-ea"/>
                <a:cs typeface="+mn-cs"/>
              </a:rPr>
              <a:t> 9.14 </a:t>
            </a:r>
            <a:r>
              <a:rPr lang="zh-CN" altLang="zh-CN" sz="1200" kern="1200" dirty="0">
                <a:solidFill>
                  <a:schemeClr val="tx1"/>
                </a:solidFill>
                <a:effectLst/>
                <a:latin typeface="+mn-lt"/>
                <a:ea typeface="+mn-ea"/>
                <a:cs typeface="+mn-cs"/>
              </a:rPr>
              <a:t>所示。前两行初始化某些数据流值。第</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行开始是一个循环，在循环中我们不停地迭代直至各个值收敛，第</a:t>
            </a:r>
            <a:r>
              <a:rPr lang="en-US" altLang="zh-CN" sz="1200" kern="1200" dirty="0">
                <a:solidFill>
                  <a:schemeClr val="tx1"/>
                </a:solidFill>
                <a:effectLst/>
                <a:latin typeface="+mn-lt"/>
                <a:ea typeface="+mn-ea"/>
                <a:cs typeface="+mn-cs"/>
              </a:rPr>
              <a:t> (4) </a:t>
            </a:r>
            <a:r>
              <a:rPr lang="zh-CN" altLang="zh-CN" sz="1200" kern="1200" dirty="0">
                <a:solidFill>
                  <a:schemeClr val="tx1"/>
                </a:solidFill>
                <a:effectLst/>
                <a:latin typeface="+mn-lt"/>
                <a:ea typeface="+mn-ea"/>
                <a:cs typeface="+mn-cs"/>
              </a:rPr>
              <a:t>行到第</a:t>
            </a:r>
            <a:r>
              <a:rPr lang="en-US" altLang="zh-CN" sz="1200" kern="1200" dirty="0">
                <a:solidFill>
                  <a:schemeClr val="tx1"/>
                </a:solidFill>
                <a:effectLst/>
                <a:latin typeface="+mn-lt"/>
                <a:ea typeface="+mn-ea"/>
                <a:cs typeface="+mn-cs"/>
              </a:rPr>
              <a:t> (6) </a:t>
            </a:r>
            <a:r>
              <a:rPr lang="zh-CN" altLang="zh-CN" sz="1200" kern="1200" dirty="0">
                <a:solidFill>
                  <a:schemeClr val="tx1"/>
                </a:solidFill>
                <a:effectLst/>
                <a:latin typeface="+mn-lt"/>
                <a:ea typeface="+mn-ea"/>
                <a:cs typeface="+mn-cs"/>
              </a:rPr>
              <a:t>行组成的内循环对入口结点之外的所有基本块应用数据流方程。</a:t>
            </a:r>
          </a:p>
          <a:p>
            <a:endParaRPr lang="en-US"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直观地说，</a:t>
            </a:r>
            <a:r>
              <a:rPr lang="zh-CN" altLang="en-US" dirty="0"/>
              <a:t>为什么解决方案是正确的？</a:t>
            </a:r>
            <a:endParaRPr lang="en-US" altLang="zh-CN" dirty="0"/>
          </a:p>
          <a:p>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 9.11 </a:t>
            </a:r>
            <a:r>
              <a:rPr lang="zh-CN" altLang="zh-CN" sz="1200" kern="1200" dirty="0">
                <a:solidFill>
                  <a:schemeClr val="tx1"/>
                </a:solidFill>
                <a:effectLst/>
                <a:latin typeface="+mn-lt"/>
                <a:ea typeface="+mn-ea"/>
                <a:cs typeface="+mn-cs"/>
              </a:rPr>
              <a:t>会尽可能地传播定值，直到该定值被杀死，这样模拟了程序的所有可能的执行情况。</a:t>
            </a:r>
            <a:endParaRPr lang="en-US" altLang="zh-CN" sz="1200" kern="1200" dirty="0">
              <a:solidFill>
                <a:schemeClr val="tx1"/>
              </a:solidFill>
              <a:effectLst/>
              <a:latin typeface="+mn-lt"/>
              <a:ea typeface="+mn-ea"/>
              <a:cs typeface="+mn-cs"/>
            </a:endParaRPr>
          </a:p>
          <a:p>
            <a:r>
              <a:rPr lang="zh-CN" altLang="en-US" dirty="0"/>
              <a:t>为什么算法最终会停止？</a:t>
            </a:r>
            <a:endParaRPr lang="en-US" altLang="zh-CN" dirty="0"/>
          </a:p>
          <a:p>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 9.11 </a:t>
            </a:r>
            <a:r>
              <a:rPr lang="zh-CN" altLang="zh-CN" sz="1200" kern="1200" dirty="0">
                <a:solidFill>
                  <a:schemeClr val="tx1"/>
                </a:solidFill>
                <a:effectLst/>
                <a:latin typeface="+mn-lt"/>
                <a:ea typeface="+mn-ea"/>
                <a:cs typeface="+mn-cs"/>
              </a:rPr>
              <a:t>最终会停止，因为对于每个</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OUT[B ] </a:t>
            </a:r>
            <a:r>
              <a:rPr lang="zh-CN" altLang="zh-CN" sz="1200" kern="1200" dirty="0">
                <a:solidFill>
                  <a:schemeClr val="tx1"/>
                </a:solidFill>
                <a:effectLst/>
                <a:latin typeface="+mn-lt"/>
                <a:ea typeface="+mn-ea"/>
                <a:cs typeface="+mn-cs"/>
              </a:rPr>
              <a:t>决对不会变小；一旦某个定值被加入到</a:t>
            </a:r>
            <a:r>
              <a:rPr lang="en-US" altLang="zh-CN" sz="1200" kern="1200" dirty="0">
                <a:solidFill>
                  <a:schemeClr val="tx1"/>
                </a:solidFill>
                <a:effectLst/>
                <a:latin typeface="+mn-lt"/>
                <a:ea typeface="+mn-ea"/>
                <a:cs typeface="+mn-cs"/>
              </a:rPr>
              <a:t>OUT</a:t>
            </a:r>
            <a:r>
              <a:rPr lang="zh-CN" altLang="zh-CN" sz="1200" kern="1200" dirty="0">
                <a:solidFill>
                  <a:schemeClr val="tx1"/>
                </a:solidFill>
                <a:effectLst/>
                <a:latin typeface="+mn-lt"/>
                <a:ea typeface="+mn-ea"/>
                <a:cs typeface="+mn-cs"/>
              </a:rPr>
              <a:t>值中，它就会一直待在那里。</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由于所有定值的集合是有限的，因此最终必须有一次</a:t>
            </a:r>
            <a:r>
              <a:rPr lang="en-US" altLang="zh-CN" sz="1200" kern="1200" dirty="0">
                <a:solidFill>
                  <a:schemeClr val="tx1"/>
                </a:solidFill>
                <a:effectLst/>
                <a:latin typeface="+mn-lt"/>
                <a:ea typeface="+mn-ea"/>
                <a:cs typeface="+mn-cs"/>
              </a:rPr>
              <a:t> while </a:t>
            </a:r>
            <a:r>
              <a:rPr lang="zh-CN" altLang="zh-CN" sz="1200" kern="1200" dirty="0">
                <a:solidFill>
                  <a:schemeClr val="tx1"/>
                </a:solidFill>
                <a:effectLst/>
                <a:latin typeface="+mn-lt"/>
                <a:ea typeface="+mn-ea"/>
                <a:cs typeface="+mn-cs"/>
              </a:rPr>
              <a:t>循环的执行没有向任何</a:t>
            </a:r>
            <a:r>
              <a:rPr lang="en-US" altLang="zh-CN" sz="1200" kern="1200" dirty="0">
                <a:solidFill>
                  <a:schemeClr val="tx1"/>
                </a:solidFill>
                <a:effectLst/>
                <a:latin typeface="+mn-lt"/>
                <a:ea typeface="+mn-ea"/>
                <a:cs typeface="+mn-cs"/>
              </a:rPr>
              <a:t>OUT</a:t>
            </a:r>
            <a:r>
              <a:rPr lang="zh-CN" altLang="zh-CN" sz="1200" kern="1200" dirty="0">
                <a:solidFill>
                  <a:schemeClr val="tx1"/>
                </a:solidFill>
                <a:effectLst/>
                <a:latin typeface="+mn-lt"/>
                <a:ea typeface="+mn-ea"/>
                <a:cs typeface="+mn-cs"/>
              </a:rPr>
              <a:t>添加任何内容。此时算法终止了。在此时终止迭代是安全的，因为如果各个</a:t>
            </a:r>
            <a:r>
              <a:rPr lang="en-US" altLang="zh-CN" sz="1200" kern="1200" dirty="0">
                <a:solidFill>
                  <a:schemeClr val="tx1"/>
                </a:solidFill>
                <a:effectLst/>
                <a:latin typeface="+mn-lt"/>
                <a:ea typeface="+mn-ea"/>
                <a:cs typeface="+mn-cs"/>
              </a:rPr>
              <a:t> OUT</a:t>
            </a:r>
            <a:r>
              <a:rPr lang="zh-CN" altLang="zh-CN" sz="1200" kern="1200" dirty="0">
                <a:solidFill>
                  <a:schemeClr val="tx1"/>
                </a:solidFill>
                <a:effectLst/>
                <a:latin typeface="+mn-lt"/>
                <a:ea typeface="+mn-ea"/>
                <a:cs typeface="+mn-cs"/>
              </a:rPr>
              <a:t>值没有改变，下一趟中各</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值也不会改变。而如果各个</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值没有改变，</a:t>
            </a:r>
            <a:r>
              <a:rPr lang="en-US" altLang="zh-CN" sz="1200" kern="1200" dirty="0">
                <a:solidFill>
                  <a:schemeClr val="tx1"/>
                </a:solidFill>
                <a:effectLst/>
                <a:latin typeface="+mn-lt"/>
                <a:ea typeface="+mn-ea"/>
                <a:cs typeface="+mn-cs"/>
              </a:rPr>
              <a:t> OUT</a:t>
            </a:r>
            <a:r>
              <a:rPr lang="zh-CN" altLang="zh-CN" sz="1200" kern="1200" dirty="0">
                <a:solidFill>
                  <a:schemeClr val="tx1"/>
                </a:solidFill>
                <a:effectLst/>
                <a:latin typeface="+mn-lt"/>
                <a:ea typeface="+mn-ea"/>
                <a:cs typeface="+mn-cs"/>
              </a:rPr>
              <a:t>值也不会改变，如此下去，所有后续的迭代都不会发生改变ＩＮ和ＯＵｔ的值。</a:t>
            </a:r>
          </a:p>
          <a:p>
            <a:r>
              <a:rPr lang="zh-CN" altLang="zh-CN" sz="1200" kern="1200" dirty="0">
                <a:solidFill>
                  <a:schemeClr val="tx1"/>
                </a:solidFill>
                <a:effectLst/>
                <a:latin typeface="+mn-lt"/>
                <a:ea typeface="+mn-ea"/>
                <a:cs typeface="+mn-cs"/>
              </a:rPr>
              <a:t>流图中的结点个数是</a:t>
            </a:r>
            <a:r>
              <a:rPr lang="en-US" altLang="zh-CN" sz="1200" kern="1200" dirty="0">
                <a:solidFill>
                  <a:schemeClr val="tx1"/>
                </a:solidFill>
                <a:effectLst/>
                <a:latin typeface="+mn-lt"/>
                <a:ea typeface="+mn-ea"/>
                <a:cs typeface="+mn-cs"/>
              </a:rPr>
              <a:t>while</a:t>
            </a:r>
            <a:r>
              <a:rPr lang="zh-CN" altLang="zh-CN" sz="1200" kern="1200" dirty="0">
                <a:solidFill>
                  <a:schemeClr val="tx1"/>
                </a:solidFill>
                <a:effectLst/>
                <a:latin typeface="+mn-lt"/>
                <a:ea typeface="+mn-ea"/>
                <a:cs typeface="+mn-cs"/>
              </a:rPr>
              <a:t>循环的迭代次数的上届。其理由是如果一个定值能够到达某个程序点，它必然可以通过无环的路径到达该点，而一个流图中的结点数量是无环路径中节点数量的上限。在</a:t>
            </a:r>
            <a:r>
              <a:rPr lang="en-US" altLang="zh-CN" sz="1200" kern="1200" dirty="0">
                <a:solidFill>
                  <a:schemeClr val="tx1"/>
                </a:solidFill>
                <a:effectLst/>
                <a:latin typeface="+mn-lt"/>
                <a:ea typeface="+mn-ea"/>
                <a:cs typeface="+mn-cs"/>
              </a:rPr>
              <a:t>while</a:t>
            </a:r>
            <a:r>
              <a:rPr lang="zh-CN" altLang="zh-CN" sz="1200" kern="1200" dirty="0">
                <a:solidFill>
                  <a:schemeClr val="tx1"/>
                </a:solidFill>
                <a:effectLst/>
                <a:latin typeface="+mn-lt"/>
                <a:ea typeface="+mn-ea"/>
                <a:cs typeface="+mn-cs"/>
              </a:rPr>
              <a:t>循环的每次迭代中，每个定值至少沿着问题中的路径前进一个节点，并且根据结点在内层循环中被访问的顺序，它经常一次前进多个节点。</a:t>
            </a:r>
          </a:p>
          <a:p>
            <a:r>
              <a:rPr lang="zh-CN" altLang="zh-CN" sz="1200" kern="1200" dirty="0">
                <a:solidFill>
                  <a:schemeClr val="tx1"/>
                </a:solidFill>
                <a:effectLst/>
                <a:latin typeface="+mn-lt"/>
                <a:ea typeface="+mn-ea"/>
                <a:cs typeface="+mn-cs"/>
              </a:rPr>
              <a:t>事实上，如果我们适当地安排第</a:t>
            </a:r>
            <a:r>
              <a:rPr lang="en-US" altLang="zh-CN" sz="1200" kern="1200" dirty="0">
                <a:solidFill>
                  <a:schemeClr val="tx1"/>
                </a:solidFill>
                <a:effectLst/>
                <a:latin typeface="+mn-lt"/>
                <a:ea typeface="+mn-ea"/>
                <a:cs typeface="+mn-cs"/>
              </a:rPr>
              <a:t> (4) </a:t>
            </a:r>
            <a:r>
              <a:rPr lang="zh-CN" altLang="zh-CN" sz="1200" kern="1200" dirty="0">
                <a:solidFill>
                  <a:schemeClr val="tx1"/>
                </a:solidFill>
                <a:effectLst/>
                <a:latin typeface="+mn-lt"/>
                <a:ea typeface="+mn-ea"/>
                <a:cs typeface="+mn-cs"/>
              </a:rPr>
              <a:t>行的</a:t>
            </a:r>
            <a:r>
              <a:rPr lang="en-US" altLang="zh-CN" sz="1200" kern="1200" dirty="0">
                <a:solidFill>
                  <a:schemeClr val="tx1"/>
                </a:solidFill>
                <a:effectLst/>
                <a:latin typeface="+mn-lt"/>
                <a:ea typeface="+mn-ea"/>
                <a:cs typeface="+mn-cs"/>
              </a:rPr>
              <a:t> for</a:t>
            </a:r>
            <a:r>
              <a:rPr lang="zh-CN" altLang="zh-CN" sz="1200" kern="1200" dirty="0">
                <a:solidFill>
                  <a:schemeClr val="tx1"/>
                </a:solidFill>
                <a:effectLst/>
                <a:latin typeface="+mn-lt"/>
                <a:ea typeface="+mn-ea"/>
                <a:cs typeface="+mn-cs"/>
              </a:rPr>
              <a:t>循环访问的块顺序，经验证据表明</a:t>
            </a:r>
            <a:r>
              <a:rPr lang="en-US" altLang="zh-CN" sz="1200" kern="1200" dirty="0">
                <a:solidFill>
                  <a:schemeClr val="tx1"/>
                </a:solidFill>
                <a:effectLst/>
                <a:latin typeface="+mn-lt"/>
                <a:ea typeface="+mn-ea"/>
                <a:cs typeface="+mn-cs"/>
              </a:rPr>
              <a:t> while</a:t>
            </a:r>
            <a:r>
              <a:rPr lang="zh-CN" altLang="zh-CN" sz="1200" kern="1200" dirty="0">
                <a:solidFill>
                  <a:schemeClr val="tx1"/>
                </a:solidFill>
                <a:effectLst/>
                <a:latin typeface="+mn-lt"/>
                <a:ea typeface="+mn-ea"/>
                <a:cs typeface="+mn-cs"/>
              </a:rPr>
              <a:t>循环的平均迭代次数低于</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（参见第</a:t>
            </a:r>
            <a:r>
              <a:rPr lang="en-US" altLang="zh-CN" sz="1200" kern="1200" dirty="0">
                <a:solidFill>
                  <a:schemeClr val="tx1"/>
                </a:solidFill>
                <a:effectLst/>
                <a:latin typeface="+mn-lt"/>
                <a:ea typeface="+mn-ea"/>
                <a:cs typeface="+mn-cs"/>
              </a:rPr>
              <a:t> 9.6.7 </a:t>
            </a:r>
            <a:r>
              <a:rPr lang="zh-CN" altLang="zh-CN" sz="1200" kern="1200" dirty="0">
                <a:solidFill>
                  <a:schemeClr val="tx1"/>
                </a:solidFill>
                <a:effectLst/>
                <a:latin typeface="+mn-lt"/>
                <a:ea typeface="+mn-ea"/>
                <a:cs typeface="+mn-cs"/>
              </a:rPr>
              <a:t>节）。由于定值集可以用位向量来表示，并且对这些集合的运算可以使用位向量上的逻辑运算来实现，所以算法</a:t>
            </a:r>
            <a:r>
              <a:rPr lang="en-US" altLang="zh-CN" sz="1200" kern="1200" dirty="0">
                <a:solidFill>
                  <a:schemeClr val="tx1"/>
                </a:solidFill>
                <a:effectLst/>
                <a:latin typeface="+mn-lt"/>
                <a:ea typeface="+mn-ea"/>
                <a:cs typeface="+mn-cs"/>
              </a:rPr>
              <a:t>9.11</a:t>
            </a:r>
            <a:r>
              <a:rPr lang="zh-CN" altLang="zh-CN" sz="1200" kern="1200" dirty="0">
                <a:solidFill>
                  <a:schemeClr val="tx1"/>
                </a:solidFill>
                <a:effectLst/>
                <a:latin typeface="+mn-lt"/>
                <a:ea typeface="+mn-ea"/>
                <a:cs typeface="+mn-cs"/>
              </a:rPr>
              <a:t>在实践中出奇地高效。</a:t>
            </a:r>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我们将用位向量表示图</a:t>
            </a:r>
            <a:r>
              <a:rPr lang="en-US" altLang="zh-CN" dirty="0"/>
              <a:t>9.13</a:t>
            </a:r>
            <a:r>
              <a:rPr lang="zh-CN" altLang="en-US" dirty="0"/>
              <a:t>的流图中的七个定值</a:t>
            </a:r>
            <a:r>
              <a:rPr lang="en-US" altLang="zh-CN" dirty="0"/>
              <a:t>d1;d2;:::;d7</a:t>
            </a:r>
            <a:r>
              <a:rPr lang="zh-CN" altLang="en-US" dirty="0"/>
              <a:t>，其中从左边开始的位</a:t>
            </a:r>
            <a:r>
              <a:rPr lang="en-US" altLang="zh-CN" dirty="0" err="1"/>
              <a:t>i</a:t>
            </a:r>
            <a:r>
              <a:rPr lang="zh-CN" altLang="en-US" dirty="0"/>
              <a:t>代表定值</a:t>
            </a:r>
            <a:r>
              <a:rPr lang="en-US" altLang="zh-CN" dirty="0"/>
              <a:t>di</a:t>
            </a:r>
            <a:r>
              <a:rPr lang="zh-CN" altLang="en-US" dirty="0"/>
              <a:t>。集合的并集是通过相应位向量的逻辑</a:t>
            </a:r>
            <a:r>
              <a:rPr lang="en-US" altLang="zh-CN" dirty="0"/>
              <a:t>OR</a:t>
            </a:r>
            <a:r>
              <a:rPr lang="zh-CN" altLang="en-US" dirty="0"/>
              <a:t>来计算的。两个集合的差 </a:t>
            </a:r>
            <a:r>
              <a:rPr lang="en-US" altLang="zh-CN" dirty="0"/>
              <a:t>S-T</a:t>
            </a:r>
            <a:r>
              <a:rPr lang="zh-CN" altLang="en-US" dirty="0"/>
              <a:t>通过首先对 </a:t>
            </a:r>
            <a:r>
              <a:rPr lang="en-US" altLang="zh-CN" dirty="0"/>
              <a:t>T </a:t>
            </a:r>
            <a:r>
              <a:rPr lang="zh-CN" altLang="en-US" dirty="0"/>
              <a:t>的位向量求补，然后再将该补码与 </a:t>
            </a:r>
            <a:r>
              <a:rPr lang="en-US" altLang="zh-CN" dirty="0"/>
              <a:t>S </a:t>
            </a:r>
            <a:r>
              <a:rPr lang="zh-CN" altLang="en-US" dirty="0"/>
              <a:t>的位向量进行逻辑</a:t>
            </a:r>
            <a:r>
              <a:rPr lang="en-US" altLang="zh-CN" dirty="0"/>
              <a:t>AND</a:t>
            </a:r>
            <a:r>
              <a:rPr lang="zh-CN" altLang="en-US" dirty="0"/>
              <a:t>来计算的。</a:t>
            </a:r>
            <a:endParaRPr lang="en-US" altLang="zh-CN" dirty="0"/>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9.15 </a:t>
            </a:r>
            <a:r>
              <a:rPr lang="zh-CN" altLang="zh-CN" sz="1200" kern="1200" dirty="0">
                <a:solidFill>
                  <a:schemeClr val="tx1"/>
                </a:solidFill>
                <a:effectLst/>
                <a:latin typeface="+mn-lt"/>
                <a:ea typeface="+mn-ea"/>
                <a:cs typeface="+mn-cs"/>
              </a:rPr>
              <a:t>的表中显示的是算法</a:t>
            </a:r>
            <a:r>
              <a:rPr lang="en-US" altLang="zh-CN" sz="1200" kern="1200" dirty="0">
                <a:solidFill>
                  <a:schemeClr val="tx1"/>
                </a:solidFill>
                <a:effectLst/>
                <a:latin typeface="+mn-lt"/>
                <a:ea typeface="+mn-ea"/>
                <a:cs typeface="+mn-cs"/>
              </a:rPr>
              <a:t> 9.11 </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集取值。其初始值用上标</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表示（如</a:t>
            </a:r>
            <a:r>
              <a:rPr lang="en-US" altLang="zh-CN" sz="1200" kern="1200" dirty="0">
                <a:solidFill>
                  <a:schemeClr val="tx1"/>
                </a:solidFill>
                <a:effectLst/>
                <a:latin typeface="+mn-lt"/>
                <a:ea typeface="+mn-ea"/>
                <a:cs typeface="+mn-cs"/>
              </a:rPr>
              <a:t> OUT[B]0 </a:t>
            </a:r>
            <a:r>
              <a:rPr lang="zh-CN" altLang="zh-CN" sz="1200" kern="1200" dirty="0">
                <a:solidFill>
                  <a:schemeClr val="tx1"/>
                </a:solidFill>
                <a:effectLst/>
                <a:latin typeface="+mn-lt"/>
                <a:ea typeface="+mn-ea"/>
                <a:cs typeface="+mn-cs"/>
              </a:rPr>
              <a:t>中所示）它们由图</a:t>
            </a:r>
            <a:r>
              <a:rPr lang="en-US" altLang="zh-CN" sz="1200" kern="1200" dirty="0">
                <a:solidFill>
                  <a:schemeClr val="tx1"/>
                </a:solidFill>
                <a:effectLst/>
                <a:latin typeface="+mn-lt"/>
                <a:ea typeface="+mn-ea"/>
                <a:cs typeface="+mn-cs"/>
              </a:rPr>
              <a:t> 9.14 </a:t>
            </a:r>
            <a:r>
              <a:rPr lang="zh-CN" altLang="zh-CN" sz="1200" kern="1200" dirty="0">
                <a:solidFill>
                  <a:schemeClr val="tx1"/>
                </a:solidFill>
                <a:effectLst/>
                <a:latin typeface="+mn-lt"/>
                <a:ea typeface="+mn-ea"/>
                <a:cs typeface="+mn-cs"/>
              </a:rPr>
              <a:t>的第</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行的循环赋值。它们都是空集，由位向量</a:t>
            </a:r>
            <a:r>
              <a:rPr lang="en-US" altLang="zh-CN" sz="1200" kern="1200" dirty="0">
                <a:solidFill>
                  <a:schemeClr val="tx1"/>
                </a:solidFill>
                <a:effectLst/>
                <a:latin typeface="+mn-lt"/>
                <a:ea typeface="+mn-ea"/>
                <a:cs typeface="+mn-cs"/>
              </a:rPr>
              <a:t> 000 0000 </a:t>
            </a:r>
            <a:r>
              <a:rPr lang="zh-CN" altLang="zh-CN" sz="1200" kern="1200" dirty="0">
                <a:solidFill>
                  <a:schemeClr val="tx1"/>
                </a:solidFill>
                <a:effectLst/>
                <a:latin typeface="+mn-lt"/>
                <a:ea typeface="+mn-ea"/>
                <a:cs typeface="+mn-cs"/>
              </a:rPr>
              <a:t>表示。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算法的后续迭代中的取值也使用上标表示，第一趟迭代的值标记为</a:t>
            </a:r>
            <a:r>
              <a:rPr lang="en-US" altLang="zh-CN" sz="1200" kern="1200" dirty="0">
                <a:solidFill>
                  <a:schemeClr val="tx1"/>
                </a:solidFill>
                <a:effectLst/>
                <a:latin typeface="+mn-lt"/>
                <a:ea typeface="+mn-ea"/>
                <a:cs typeface="+mn-cs"/>
              </a:rPr>
              <a:t> IN[B ]1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OUT[B ]1 </a:t>
            </a:r>
            <a:r>
              <a:rPr lang="zh-CN" altLang="zh-CN" sz="1200" kern="1200" dirty="0">
                <a:solidFill>
                  <a:schemeClr val="tx1"/>
                </a:solidFill>
                <a:effectLst/>
                <a:latin typeface="+mn-lt"/>
                <a:ea typeface="+mn-ea"/>
                <a:cs typeface="+mn-cs"/>
              </a:rPr>
              <a:t>，第二个趟迭代的值标记为</a:t>
            </a:r>
            <a:r>
              <a:rPr lang="en-US" altLang="zh-CN" sz="1200" kern="1200" dirty="0">
                <a:solidFill>
                  <a:schemeClr val="tx1"/>
                </a:solidFill>
                <a:effectLst/>
                <a:latin typeface="+mn-lt"/>
                <a:ea typeface="+mn-ea"/>
                <a:cs typeface="+mn-cs"/>
              </a:rPr>
              <a:t> IN[ B ]2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OUT[B ]2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假设执行第</a:t>
            </a:r>
            <a:r>
              <a:rPr lang="en-US" altLang="zh-CN" sz="1200" kern="1200" dirty="0">
                <a:solidFill>
                  <a:schemeClr val="tx1"/>
                </a:solidFill>
                <a:effectLst/>
                <a:latin typeface="+mn-lt"/>
                <a:ea typeface="+mn-ea"/>
                <a:cs typeface="+mn-cs"/>
              </a:rPr>
              <a:t> (4) </a:t>
            </a:r>
            <a:r>
              <a:rPr lang="zh-CN" altLang="zh-CN" sz="1200" kern="1200" dirty="0">
                <a:solidFill>
                  <a:schemeClr val="tx1"/>
                </a:solidFill>
                <a:effectLst/>
                <a:latin typeface="+mn-lt"/>
                <a:ea typeface="+mn-ea"/>
                <a:cs typeface="+mn-cs"/>
              </a:rPr>
              <a:t>行至第</a:t>
            </a:r>
            <a:r>
              <a:rPr lang="en-US" altLang="zh-CN" sz="1200" kern="1200" dirty="0">
                <a:solidFill>
                  <a:schemeClr val="tx1"/>
                </a:solidFill>
                <a:effectLst/>
                <a:latin typeface="+mn-lt"/>
                <a:ea typeface="+mn-ea"/>
                <a:cs typeface="+mn-cs"/>
              </a:rPr>
              <a:t> (6) </a:t>
            </a:r>
            <a:r>
              <a:rPr lang="zh-CN" altLang="zh-CN" sz="1200" kern="1200" dirty="0">
                <a:solidFill>
                  <a:schemeClr val="tx1"/>
                </a:solidFill>
                <a:effectLst/>
                <a:latin typeface="+mn-lt"/>
                <a:ea typeface="+mn-ea"/>
                <a:cs typeface="+mn-cs"/>
              </a:rPr>
              <a:t>行的</a:t>
            </a:r>
            <a:r>
              <a:rPr lang="en-US" altLang="zh-CN" sz="1200" kern="1200" dirty="0">
                <a:solidFill>
                  <a:schemeClr val="tx1"/>
                </a:solidFill>
                <a:effectLst/>
                <a:latin typeface="+mn-lt"/>
                <a:ea typeface="+mn-ea"/>
                <a:cs typeface="+mn-cs"/>
              </a:rPr>
              <a:t> for</a:t>
            </a:r>
            <a:r>
              <a:rPr lang="zh-CN" altLang="zh-CN" sz="1200" kern="1200" dirty="0">
                <a:solidFill>
                  <a:schemeClr val="tx1"/>
                </a:solidFill>
                <a:effectLst/>
                <a:latin typeface="+mn-lt"/>
                <a:ea typeface="+mn-ea"/>
                <a:cs typeface="+mn-cs"/>
              </a:rPr>
              <a:t>循环，</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依次取值</a:t>
            </a:r>
            <a:r>
              <a:rPr lang="en-US" altLang="zh-CN" sz="1200" kern="1200" dirty="0">
                <a:solidFill>
                  <a:schemeClr val="tx1"/>
                </a:solidFill>
                <a:effectLst/>
                <a:latin typeface="+mn-lt"/>
                <a:ea typeface="+mn-ea"/>
                <a:cs typeface="+mn-cs"/>
              </a:rPr>
              <a:t> B1 ;B2 ;B3 ;B4 ;EXIT</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a:t>
            </a:r>
            <a:r>
              <a:rPr lang="en-US" altLang="zh-CN" sz="1200" kern="1200" dirty="0">
                <a:solidFill>
                  <a:schemeClr val="tx1"/>
                </a:solidFill>
                <a:effectLst/>
                <a:latin typeface="+mn-lt"/>
                <a:ea typeface="+mn-ea"/>
                <a:cs typeface="+mn-cs"/>
              </a:rPr>
              <a:t> B = B1 </a:t>
            </a:r>
            <a:r>
              <a:rPr lang="zh-CN" altLang="zh-CN" sz="1200" kern="1200" dirty="0">
                <a:solidFill>
                  <a:schemeClr val="tx1"/>
                </a:solidFill>
                <a:effectLst/>
                <a:latin typeface="+mn-lt"/>
                <a:ea typeface="+mn-ea"/>
                <a:cs typeface="+mn-cs"/>
              </a:rPr>
              <a:t>时，由于</a:t>
            </a:r>
            <a:r>
              <a:rPr lang="en-US" altLang="zh-CN" sz="1200" kern="1200" dirty="0">
                <a:solidFill>
                  <a:schemeClr val="tx1"/>
                </a:solidFill>
                <a:effectLst/>
                <a:latin typeface="+mn-lt"/>
                <a:ea typeface="+mn-ea"/>
                <a:cs typeface="+mn-cs"/>
              </a:rPr>
              <a:t> OUT[entry]=;</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IN[B1]1 </a:t>
            </a:r>
            <a:r>
              <a:rPr lang="zh-CN" altLang="zh-CN" sz="1200" kern="1200" dirty="0">
                <a:solidFill>
                  <a:schemeClr val="tx1"/>
                </a:solidFill>
                <a:effectLst/>
                <a:latin typeface="+mn-lt"/>
                <a:ea typeface="+mn-ea"/>
                <a:cs typeface="+mn-cs"/>
              </a:rPr>
              <a:t>是空集，并且</a:t>
            </a:r>
            <a:r>
              <a:rPr lang="en-US" altLang="zh-CN" sz="1200" kern="1200" dirty="0">
                <a:solidFill>
                  <a:schemeClr val="tx1"/>
                </a:solidFill>
                <a:effectLst/>
                <a:latin typeface="+mn-lt"/>
                <a:ea typeface="+mn-ea"/>
                <a:cs typeface="+mn-cs"/>
              </a:rPr>
              <a:t> OUT[B1]1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genB1 </a:t>
            </a:r>
            <a:r>
              <a:rPr lang="zh-CN" altLang="zh-CN" sz="1200" kern="1200" dirty="0">
                <a:solidFill>
                  <a:schemeClr val="tx1"/>
                </a:solidFill>
                <a:effectLst/>
                <a:latin typeface="+mn-lt"/>
                <a:ea typeface="+mn-ea"/>
                <a:cs typeface="+mn-cs"/>
              </a:rPr>
              <a:t>。该值与之前的值</a:t>
            </a:r>
            <a:r>
              <a:rPr lang="en-US" altLang="zh-CN" sz="1200" kern="1200" dirty="0">
                <a:solidFill>
                  <a:schemeClr val="tx1"/>
                </a:solidFill>
                <a:effectLst/>
                <a:latin typeface="+mn-lt"/>
                <a:ea typeface="+mn-ea"/>
                <a:cs typeface="+mn-cs"/>
              </a:rPr>
              <a:t> OUT[B1]0 </a:t>
            </a:r>
            <a:r>
              <a:rPr lang="zh-CN" altLang="zh-CN" sz="1200" kern="1200" dirty="0">
                <a:solidFill>
                  <a:schemeClr val="tx1"/>
                </a:solidFill>
                <a:effectLst/>
                <a:latin typeface="+mn-lt"/>
                <a:ea typeface="+mn-ea"/>
                <a:cs typeface="+mn-cs"/>
              </a:rPr>
              <a:t>不同，因此我们知道在第一轮中有些值发生了变化（因此会继续进行第二次循环）。</a:t>
            </a:r>
          </a:p>
          <a:p>
            <a:r>
              <a:rPr lang="zh-CN" altLang="zh-CN" sz="1200" kern="1200" dirty="0">
                <a:solidFill>
                  <a:schemeClr val="tx1"/>
                </a:solidFill>
                <a:effectLst/>
                <a:latin typeface="+mn-lt"/>
                <a:ea typeface="+mn-ea"/>
                <a:cs typeface="+mn-cs"/>
              </a:rPr>
              <a:t>然后我们考虑</a:t>
            </a:r>
            <a:r>
              <a:rPr lang="en-US" altLang="zh-CN" sz="1200" kern="1200" dirty="0">
                <a:solidFill>
                  <a:schemeClr val="tx1"/>
                </a:solidFill>
                <a:effectLst/>
                <a:latin typeface="+mn-lt"/>
                <a:ea typeface="+mn-ea"/>
                <a:cs typeface="+mn-cs"/>
              </a:rPr>
              <a:t> B = B2 </a:t>
            </a:r>
            <a:r>
              <a:rPr lang="zh-CN" altLang="zh-CN" sz="1200" kern="1200" dirty="0">
                <a:solidFill>
                  <a:schemeClr val="tx1"/>
                </a:solidFill>
                <a:effectLst/>
                <a:latin typeface="+mn-lt"/>
                <a:ea typeface="+mn-ea"/>
                <a:cs typeface="+mn-cs"/>
              </a:rPr>
              <a:t>并计算</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50</a:t>
            </a:fld>
            <a:endParaRPr lang="zh-CN" altLang="en-US"/>
          </a:p>
        </p:txBody>
      </p:sp>
    </p:spTree>
    <p:extLst>
      <p:ext uri="{BB962C8B-B14F-4D97-AF65-F5344CB8AC3E}">
        <p14:creationId xmlns:p14="http://schemas.microsoft.com/office/powerpoint/2010/main" val="39706914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在第一趟循环的最后，</a:t>
            </a:r>
            <a:r>
              <a:rPr lang="en-US" altLang="zh-CN" sz="1200" kern="1200" dirty="0">
                <a:solidFill>
                  <a:schemeClr val="tx1"/>
                </a:solidFill>
                <a:effectLst/>
                <a:latin typeface="+mn-lt"/>
                <a:ea typeface="+mn-ea"/>
                <a:cs typeface="+mn-cs"/>
              </a:rPr>
              <a:t>OUT[B2]1 = 001 1100</a:t>
            </a:r>
            <a:r>
              <a:rPr lang="zh-CN" altLang="zh-CN" sz="1200" kern="1200" dirty="0">
                <a:solidFill>
                  <a:schemeClr val="tx1"/>
                </a:solidFill>
                <a:effectLst/>
                <a:latin typeface="+mn-lt"/>
                <a:ea typeface="+mn-ea"/>
                <a:cs typeface="+mn-cs"/>
              </a:rPr>
              <a:t>，反映</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中生成了</a:t>
            </a:r>
            <a:r>
              <a:rPr lang="en-US" altLang="zh-CN" sz="1200" kern="1200" dirty="0">
                <a:solidFill>
                  <a:schemeClr val="tx1"/>
                </a:solidFill>
                <a:effectLst/>
                <a:latin typeface="+mn-lt"/>
                <a:ea typeface="+mn-ea"/>
                <a:cs typeface="+mn-cs"/>
              </a:rPr>
              <a:t>d4</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d5</a:t>
            </a:r>
            <a:r>
              <a:rPr lang="zh-CN" altLang="zh-CN" sz="1200" kern="1200" dirty="0">
                <a:solidFill>
                  <a:schemeClr val="tx1"/>
                </a:solidFill>
                <a:effectLst/>
                <a:latin typeface="+mn-lt"/>
                <a:ea typeface="+mn-ea"/>
                <a:cs typeface="+mn-cs"/>
              </a:rPr>
              <a:t>的事实，而</a:t>
            </a:r>
            <a:r>
              <a:rPr lang="en-US" altLang="zh-CN" sz="1200" kern="1200" dirty="0">
                <a:solidFill>
                  <a:schemeClr val="tx1"/>
                </a:solidFill>
                <a:effectLst/>
                <a:latin typeface="+mn-lt"/>
                <a:ea typeface="+mn-ea"/>
                <a:cs typeface="+mn-cs"/>
              </a:rPr>
              <a:t>d3</a:t>
            </a:r>
            <a:r>
              <a:rPr lang="zh-CN" altLang="zh-CN" sz="1200" kern="1200" dirty="0">
                <a:solidFill>
                  <a:schemeClr val="tx1"/>
                </a:solidFill>
                <a:effectLst/>
                <a:latin typeface="+mn-lt"/>
                <a:ea typeface="+mn-ea"/>
                <a:cs typeface="+mn-cs"/>
              </a:rPr>
              <a:t>到达了</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的开头并且没有在</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中被杀死。</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51</a:t>
            </a:fld>
            <a:endParaRPr lang="zh-CN" altLang="en-US"/>
          </a:p>
        </p:txBody>
      </p:sp>
    </p:spTree>
    <p:extLst>
      <p:ext uri="{BB962C8B-B14F-4D97-AF65-F5344CB8AC3E}">
        <p14:creationId xmlns:p14="http://schemas.microsoft.com/office/powerpoint/2010/main" val="37051319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在第二轮之后，</a:t>
            </a:r>
            <a:r>
              <a:rPr lang="en-US" altLang="zh-CN" sz="1200" kern="1200" dirty="0">
                <a:solidFill>
                  <a:schemeClr val="tx1"/>
                </a:solidFill>
                <a:effectLst/>
                <a:latin typeface="+mn-lt"/>
                <a:ea typeface="+mn-ea"/>
                <a:cs typeface="+mn-cs"/>
              </a:rPr>
              <a:t>OUT[B2] </a:t>
            </a:r>
            <a:r>
              <a:rPr lang="zh-CN" altLang="zh-CN" sz="1200" kern="1200" dirty="0">
                <a:solidFill>
                  <a:schemeClr val="tx1"/>
                </a:solidFill>
                <a:effectLst/>
                <a:latin typeface="+mn-lt"/>
                <a:ea typeface="+mn-ea"/>
                <a:cs typeface="+mn-cs"/>
              </a:rPr>
              <a:t>已发生更改，反映 了</a:t>
            </a:r>
            <a:r>
              <a:rPr lang="en-US" altLang="zh-CN" sz="1200" kern="1200" dirty="0">
                <a:solidFill>
                  <a:schemeClr val="tx1"/>
                </a:solidFill>
                <a:effectLst/>
                <a:latin typeface="+mn-lt"/>
                <a:ea typeface="+mn-ea"/>
                <a:cs typeface="+mn-cs"/>
              </a:rPr>
              <a:t>d6 </a:t>
            </a:r>
            <a:r>
              <a:rPr lang="zh-CN" altLang="zh-CN" sz="1200" kern="1200" dirty="0">
                <a:solidFill>
                  <a:schemeClr val="tx1"/>
                </a:solidFill>
                <a:effectLst/>
                <a:latin typeface="+mn-lt"/>
                <a:ea typeface="+mn-ea"/>
                <a:cs typeface="+mn-cs"/>
              </a:rPr>
              <a:t>也到达</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的开头并且没有被</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杀死的事实。我们在第一趟中没有了解到这个事实，因为从</a:t>
            </a:r>
            <a:r>
              <a:rPr lang="en-US" altLang="zh-CN" sz="1200" kern="1200" dirty="0">
                <a:solidFill>
                  <a:schemeClr val="tx1"/>
                </a:solidFill>
                <a:effectLst/>
                <a:latin typeface="+mn-lt"/>
                <a:ea typeface="+mn-ea"/>
                <a:cs typeface="+mn-cs"/>
              </a:rPr>
              <a:t> d6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末尾的路径，即</a:t>
            </a:r>
            <a:r>
              <a:rPr lang="en-US" altLang="zh-CN" sz="1200" kern="1200" dirty="0">
                <a:solidFill>
                  <a:schemeClr val="tx1"/>
                </a:solidFill>
                <a:effectLst/>
                <a:latin typeface="+mn-lt"/>
                <a:ea typeface="+mn-ea"/>
                <a:cs typeface="+mn-cs"/>
              </a:rPr>
              <a:t> B3 </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没有在一趟中被顺序经过。也就是说，当我们得知</a:t>
            </a:r>
            <a:r>
              <a:rPr lang="en-US" altLang="zh-CN" sz="1200" kern="1200" dirty="0">
                <a:solidFill>
                  <a:schemeClr val="tx1"/>
                </a:solidFill>
                <a:effectLst/>
                <a:latin typeface="+mn-lt"/>
                <a:ea typeface="+mn-ea"/>
                <a:cs typeface="+mn-cs"/>
              </a:rPr>
              <a:t> d6 </a:t>
            </a:r>
            <a:r>
              <a:rPr lang="zh-CN" altLang="zh-CN" sz="1200" kern="1200" dirty="0">
                <a:solidFill>
                  <a:schemeClr val="tx1"/>
                </a:solidFill>
                <a:effectLst/>
                <a:latin typeface="+mn-lt"/>
                <a:ea typeface="+mn-ea"/>
                <a:cs typeface="+mn-cs"/>
              </a:rPr>
              <a:t>到达</a:t>
            </a:r>
            <a:r>
              <a:rPr lang="en-US" altLang="zh-CN" sz="1200" kern="1200" dirty="0">
                <a:solidFill>
                  <a:schemeClr val="tx1"/>
                </a:solidFill>
                <a:effectLst/>
                <a:latin typeface="+mn-lt"/>
                <a:ea typeface="+mn-ea"/>
                <a:cs typeface="+mn-cs"/>
              </a:rPr>
              <a:t> B4 </a:t>
            </a:r>
            <a:r>
              <a:rPr lang="zh-CN" altLang="zh-CN" sz="1200" kern="1200" dirty="0">
                <a:solidFill>
                  <a:schemeClr val="tx1"/>
                </a:solidFill>
                <a:effectLst/>
                <a:latin typeface="+mn-lt"/>
                <a:ea typeface="+mn-ea"/>
                <a:cs typeface="+mn-cs"/>
              </a:rPr>
              <a:t>的末尾时，我们已经在第一趟中计算了</a:t>
            </a:r>
            <a:r>
              <a:rPr lang="en-US" altLang="zh-CN" sz="1200" kern="1200" dirty="0">
                <a:solidFill>
                  <a:schemeClr val="tx1"/>
                </a:solidFill>
                <a:effectLst/>
                <a:latin typeface="+mn-lt"/>
                <a:ea typeface="+mn-ea"/>
                <a:cs typeface="+mn-cs"/>
              </a:rPr>
              <a:t> IN[B2 ]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OUT[B2 ]</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8847853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第二趟之后，</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集中的所有值都没有变化。因此，算法在第三趟之后终止，此时各个</a:t>
            </a:r>
            <a:r>
              <a:rPr lang="en-US" altLang="zh-CN" sz="1200" kern="1200" dirty="0">
                <a:solidFill>
                  <a:schemeClr val="tx1"/>
                </a:solidFill>
                <a:effectLst/>
                <a:latin typeface="+mn-lt"/>
                <a:ea typeface="+mn-ea"/>
                <a:cs typeface="+mn-cs"/>
              </a:rPr>
              <a:t>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a:t>
            </a:r>
            <a:r>
              <a:rPr lang="zh-CN" altLang="zh-CN" sz="1200" kern="1200" dirty="0">
                <a:solidFill>
                  <a:schemeClr val="tx1"/>
                </a:solidFill>
                <a:effectLst/>
                <a:latin typeface="+mn-lt"/>
                <a:ea typeface="+mn-ea"/>
                <a:cs typeface="+mn-cs"/>
              </a:rPr>
              <a:t>的值 如图 </a:t>
            </a:r>
            <a:r>
              <a:rPr lang="en-US" altLang="zh-CN" sz="1200" kern="1200" dirty="0">
                <a:solidFill>
                  <a:schemeClr val="tx1"/>
                </a:solidFill>
                <a:effectLst/>
                <a:latin typeface="+mn-lt"/>
                <a:ea typeface="+mn-ea"/>
                <a:cs typeface="+mn-cs"/>
              </a:rPr>
              <a:t>9.15 </a:t>
            </a:r>
            <a:r>
              <a:rPr lang="zh-CN" altLang="zh-CN" sz="1200" kern="1200" dirty="0">
                <a:solidFill>
                  <a:schemeClr val="tx1"/>
                </a:solidFill>
                <a:effectLst/>
                <a:latin typeface="+mn-lt"/>
                <a:ea typeface="+mn-ea"/>
                <a:cs typeface="+mn-cs"/>
              </a:rPr>
              <a:t>的最后两列所示。</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53</a:t>
            </a:fld>
            <a:endParaRPr lang="zh-CN" altLang="en-US"/>
          </a:p>
        </p:txBody>
      </p:sp>
    </p:spTree>
    <p:extLst>
      <p:ext uri="{BB962C8B-B14F-4D97-AF65-F5344CB8AC3E}">
        <p14:creationId xmlns:p14="http://schemas.microsoft.com/office/powerpoint/2010/main" val="27250232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有些代码改进转化所依赖的信息是按照程序中的控制流相反的方向计算的。现在我们将研究一个这样的例子。在活跃变量分析中，我们希望知道对于变量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和程序点</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在点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上的值是否会在流图中的某条从点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出发的路径中是使用。如果是，我们就说</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上活跃；否则，就说</a:t>
            </a:r>
            <a:r>
              <a:rPr lang="en-US" altLang="zh-CN" sz="1200" kern="1200" dirty="0">
                <a:solidFill>
                  <a:schemeClr val="tx1"/>
                </a:solidFill>
                <a:effectLst/>
                <a:latin typeface="+mn-lt"/>
                <a:ea typeface="+mn-ea"/>
                <a:cs typeface="+mn-cs"/>
              </a:rPr>
              <a:t>x </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处死亡。</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活跃变量信息的一个重要用途是基本块的寄存器分配。第</a:t>
            </a:r>
            <a:r>
              <a:rPr lang="en-US" altLang="zh-CN" sz="1200" kern="1200" dirty="0">
                <a:solidFill>
                  <a:schemeClr val="tx1"/>
                </a:solidFill>
                <a:effectLst/>
                <a:latin typeface="+mn-lt"/>
                <a:ea typeface="+mn-ea"/>
                <a:cs typeface="+mn-cs"/>
              </a:rPr>
              <a:t> 8.6 </a:t>
            </a:r>
            <a:r>
              <a:rPr lang="zh-CN" altLang="zh-CN" sz="1200" kern="1200" dirty="0">
                <a:solidFill>
                  <a:schemeClr val="tx1"/>
                </a:solidFill>
                <a:effectLst/>
                <a:latin typeface="+mn-lt"/>
                <a:ea typeface="+mn-ea"/>
                <a:cs typeface="+mn-cs"/>
              </a:rPr>
              <a:t>节和第</a:t>
            </a:r>
            <a:r>
              <a:rPr lang="en-US" altLang="zh-CN" sz="1200" kern="1200" dirty="0">
                <a:solidFill>
                  <a:schemeClr val="tx1"/>
                </a:solidFill>
                <a:effectLst/>
                <a:latin typeface="+mn-lt"/>
                <a:ea typeface="+mn-ea"/>
                <a:cs typeface="+mn-cs"/>
              </a:rPr>
              <a:t> 8.8 </a:t>
            </a:r>
            <a:r>
              <a:rPr lang="zh-CN" altLang="zh-CN" sz="1200" kern="1200" dirty="0">
                <a:solidFill>
                  <a:schemeClr val="tx1"/>
                </a:solidFill>
                <a:effectLst/>
                <a:latin typeface="+mn-lt"/>
                <a:ea typeface="+mn-ea"/>
                <a:cs typeface="+mn-cs"/>
              </a:rPr>
              <a:t>节介绍了该问题的各个方面。</a:t>
            </a:r>
            <a:endParaRPr lang="en-US" altLang="zh-CN" sz="1200" kern="1200" dirty="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在一个值被计算并保存到一个寄存器中后，它很可能会在块中使用该值。如果它在基本块的结尾处是死的，就不必在结尾处保存这个值。</a:t>
            </a:r>
            <a:endParaRPr lang="en-US" altLang="zh-CN" sz="1200" kern="1200" dirty="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另外，如果所有寄存器都被占用时，如果我们还需要申请另一个寄存器，我们应该倾向于使用一个存放了已死亡的值的寄存器，因为这个值不需要保存到内存。</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kern="1200" dirty="0">
                <a:solidFill>
                  <a:schemeClr val="tx1"/>
                </a:solidFill>
                <a:effectLst/>
                <a:latin typeface="+mn-lt"/>
                <a:ea typeface="+mn-ea"/>
                <a:cs typeface="+mn-cs"/>
              </a:rPr>
              <a:t>另一个重要的用途就是删除死代码</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一个值在某个程序点是死的，就没必要计算它。</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这里，我们直接以</a:t>
            </a:r>
            <a:r>
              <a:rPr lang="en-US" altLang="zh-CN" dirty="0"/>
              <a:t>IN[B] </a:t>
            </a:r>
            <a:r>
              <a:rPr lang="zh-CN" altLang="en-US" dirty="0"/>
              <a:t>和 </a:t>
            </a:r>
            <a:r>
              <a:rPr lang="en-US" altLang="zh-CN" dirty="0"/>
              <a:t>OUT[B]</a:t>
            </a:r>
            <a:r>
              <a:rPr lang="zh-CN" altLang="en-US" dirty="0"/>
              <a:t>的方式定义数据流方程，</a:t>
            </a:r>
            <a:r>
              <a:rPr lang="en-US" altLang="zh-CN" dirty="0"/>
              <a:t>IN[B] </a:t>
            </a:r>
            <a:r>
              <a:rPr lang="zh-CN" altLang="en-US" dirty="0"/>
              <a:t>和 </a:t>
            </a:r>
            <a:r>
              <a:rPr lang="en-US" altLang="zh-CN" dirty="0"/>
              <a:t>OUT[B]</a:t>
            </a:r>
            <a:r>
              <a:rPr lang="zh-CN" altLang="en-US" dirty="0"/>
              <a:t>分别表示在紧靠块 </a:t>
            </a:r>
            <a:r>
              <a:rPr lang="en-US" altLang="zh-CN" dirty="0"/>
              <a:t>B </a:t>
            </a:r>
            <a:r>
              <a:rPr lang="zh-CN" altLang="en-US" dirty="0"/>
              <a:t>之前和紧随</a:t>
            </a:r>
            <a:r>
              <a:rPr lang="en-US" altLang="zh-CN" dirty="0"/>
              <a:t>B</a:t>
            </a:r>
            <a:r>
              <a:rPr lang="zh-CN" altLang="en-US" dirty="0"/>
              <a:t>之后的点上的活跃变量集合。</a:t>
            </a:r>
            <a:endParaRPr lang="en-US" altLang="zh-CN" dirty="0"/>
          </a:p>
          <a:p>
            <a:r>
              <a:rPr lang="zh-CN" altLang="en-US" dirty="0"/>
              <a:t>为了安全起见，只要一个变量在 </a:t>
            </a:r>
            <a:r>
              <a:rPr lang="en-US" altLang="zh-CN" dirty="0"/>
              <a:t>B </a:t>
            </a:r>
            <a:r>
              <a:rPr lang="zh-CN" altLang="en-US" dirty="0"/>
              <a:t>的任何后继块的入口处是活跃的，我们就认为该变量在 </a:t>
            </a:r>
            <a:r>
              <a:rPr lang="en-US" altLang="zh-CN" dirty="0"/>
              <a:t>B </a:t>
            </a:r>
            <a:r>
              <a:rPr lang="zh-CN" altLang="en-US" dirty="0"/>
              <a:t>的出口处是活跃的。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57</a:t>
            </a:fld>
            <a:endParaRPr lang="zh-CN" altLang="en-US"/>
          </a:p>
        </p:txBody>
      </p:sp>
    </p:spTree>
    <p:extLst>
      <p:ext uri="{BB962C8B-B14F-4D97-AF65-F5344CB8AC3E}">
        <p14:creationId xmlns:p14="http://schemas.microsoft.com/office/powerpoint/2010/main" val="4574983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这些方程可以通过以下的方法得到，首先定义各个语句的传递函数，然后再把它们组合起来得到一个基本块的传递函数。</a:t>
            </a:r>
          </a:p>
          <a:p>
            <a:r>
              <a:rPr lang="zh-CN" altLang="en-US" dirty="0"/>
              <a:t>我们给出下面的定义</a:t>
            </a:r>
          </a:p>
          <a:p>
            <a:r>
              <a:rPr lang="en-US" altLang="zh-CN" dirty="0"/>
              <a:t>1. def B </a:t>
            </a:r>
            <a:r>
              <a:rPr lang="zh-CN" altLang="en-US" dirty="0"/>
              <a:t>是指如下变量的集合，这些变量在 </a:t>
            </a:r>
            <a:r>
              <a:rPr lang="en-US" altLang="zh-CN" dirty="0"/>
              <a:t>B </a:t>
            </a:r>
            <a:r>
              <a:rPr lang="zh-CN" altLang="en-US" dirty="0"/>
              <a:t>中的定值（即被明确地赋值）先于任何对它们的使用。</a:t>
            </a:r>
          </a:p>
          <a:p>
            <a:r>
              <a:rPr lang="en-US" altLang="zh-CN" dirty="0"/>
              <a:t>2. </a:t>
            </a:r>
            <a:r>
              <a:rPr lang="en-US" altLang="zh-CN" dirty="0" err="1"/>
              <a:t>useB</a:t>
            </a:r>
            <a:r>
              <a:rPr lang="zh-CN" altLang="en-US" dirty="0"/>
              <a:t>是指如下变量的集合，它们的值可能在 </a:t>
            </a:r>
            <a:r>
              <a:rPr lang="en-US" altLang="zh-CN" dirty="0"/>
              <a:t>B </a:t>
            </a:r>
            <a:r>
              <a:rPr lang="zh-CN" altLang="en-US" dirty="0"/>
              <a:t>中先于任何对它们的定值被使用。</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58</a:t>
            </a:fld>
            <a:endParaRPr lang="zh-CN" altLang="en-US"/>
          </a:p>
        </p:txBody>
      </p:sp>
    </p:spTree>
    <p:extLst>
      <p:ext uri="{BB962C8B-B14F-4D97-AF65-F5344CB8AC3E}">
        <p14:creationId xmlns:p14="http://schemas.microsoft.com/office/powerpoint/2010/main" val="20248471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根据这些定义，</a:t>
            </a:r>
            <a:r>
              <a:rPr lang="en-US" altLang="zh-CN" sz="1200" kern="1200" dirty="0" err="1">
                <a:solidFill>
                  <a:schemeClr val="tx1"/>
                </a:solidFill>
                <a:effectLst/>
                <a:latin typeface="+mn-lt"/>
                <a:ea typeface="+mn-ea"/>
                <a:cs typeface="+mn-cs"/>
              </a:rPr>
              <a:t>useB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中的任何变量都必然被认为在块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的入口处活跃，而</a:t>
            </a:r>
            <a:r>
              <a:rPr lang="en-US" altLang="zh-CN" sz="1200" kern="1200" dirty="0">
                <a:solidFill>
                  <a:schemeClr val="tx1"/>
                </a:solidFill>
                <a:effectLst/>
                <a:latin typeface="+mn-lt"/>
                <a:ea typeface="+mn-ea"/>
                <a:cs typeface="+mn-cs"/>
              </a:rPr>
              <a:t> def B </a:t>
            </a:r>
            <a:r>
              <a:rPr lang="zh-CN" altLang="zh-CN" sz="1200" kern="1200" dirty="0">
                <a:solidFill>
                  <a:schemeClr val="tx1"/>
                </a:solidFill>
                <a:effectLst/>
                <a:latin typeface="+mn-lt"/>
                <a:ea typeface="+mn-ea"/>
                <a:cs typeface="+mn-cs"/>
              </a:rPr>
              <a:t>中变量在</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的开头肯定是死的。实际上，</a:t>
            </a:r>
            <a:r>
              <a:rPr lang="en-US" altLang="zh-CN" sz="1200" kern="1200" dirty="0">
                <a:solidFill>
                  <a:schemeClr val="tx1"/>
                </a:solidFill>
                <a:effectLst/>
                <a:latin typeface="+mn-lt"/>
                <a:ea typeface="+mn-ea"/>
                <a:cs typeface="+mn-cs"/>
              </a:rPr>
              <a:t>def B </a:t>
            </a:r>
            <a:r>
              <a:rPr lang="zh-CN" altLang="zh-CN" sz="1200" kern="1200" dirty="0">
                <a:solidFill>
                  <a:schemeClr val="tx1"/>
                </a:solidFill>
                <a:effectLst/>
                <a:latin typeface="+mn-lt"/>
                <a:ea typeface="+mn-ea"/>
                <a:cs typeface="+mn-cs"/>
              </a:rPr>
              <a:t>中的成员</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杀死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了某个变量可能因从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开始的某条路径而成为活跃变量的任何机会。</a:t>
            </a:r>
          </a:p>
          <a:p>
            <a:r>
              <a:rPr lang="zh-CN" altLang="zh-CN" sz="1200" kern="1200" dirty="0">
                <a:solidFill>
                  <a:schemeClr val="tx1"/>
                </a:solidFill>
                <a:effectLst/>
                <a:latin typeface="+mn-lt"/>
                <a:ea typeface="+mn-ea"/>
                <a:cs typeface="+mn-cs"/>
              </a:rPr>
              <a:t>这样，将</a:t>
            </a:r>
            <a:r>
              <a:rPr lang="en-US" altLang="zh-CN" sz="1200" kern="1200" dirty="0">
                <a:solidFill>
                  <a:schemeClr val="tx1"/>
                </a:solidFill>
                <a:effectLst/>
                <a:latin typeface="+mn-lt"/>
                <a:ea typeface="+mn-ea"/>
                <a:cs typeface="+mn-cs"/>
              </a:rPr>
              <a:t> def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use </a:t>
            </a:r>
            <a:r>
              <a:rPr lang="zh-CN" altLang="zh-CN" sz="1200" kern="1200" dirty="0">
                <a:solidFill>
                  <a:schemeClr val="tx1"/>
                </a:solidFill>
                <a:effectLst/>
                <a:latin typeface="+mn-lt"/>
                <a:ea typeface="+mn-ea"/>
                <a:cs typeface="+mn-cs"/>
              </a:rPr>
              <a:t>与未知的</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a:t>
            </a:r>
            <a:r>
              <a:rPr lang="zh-CN" altLang="zh-CN" sz="1200" kern="1200" dirty="0">
                <a:solidFill>
                  <a:schemeClr val="tx1"/>
                </a:solidFill>
                <a:effectLst/>
                <a:latin typeface="+mn-lt"/>
                <a:ea typeface="+mn-ea"/>
                <a:cs typeface="+mn-cs"/>
              </a:rPr>
              <a:t>值联系起来的方程定义如下：</a:t>
            </a:r>
            <a:r>
              <a:rPr lang="en-US" altLang="zh-CN" sz="1200" kern="1200" dirty="0">
                <a:solidFill>
                  <a:schemeClr val="tx1"/>
                </a:solidFill>
                <a:effectLst/>
                <a:latin typeface="+mn-lt"/>
                <a:ea typeface="+mn-ea"/>
                <a:cs typeface="+mn-cs"/>
              </a:rPr>
              <a:t> IN[ exit ]=; </a:t>
            </a:r>
            <a:r>
              <a:rPr lang="zh-CN" altLang="zh-CN" sz="1200" kern="1200" dirty="0">
                <a:solidFill>
                  <a:schemeClr val="tx1"/>
                </a:solidFill>
                <a:effectLst/>
                <a:latin typeface="+mn-lt"/>
                <a:ea typeface="+mn-ea"/>
                <a:cs typeface="+mn-cs"/>
              </a:rPr>
              <a:t>对于除</a:t>
            </a:r>
            <a:r>
              <a:rPr lang="en-US" altLang="zh-CN" sz="1200" kern="1200" dirty="0">
                <a:solidFill>
                  <a:schemeClr val="tx1"/>
                </a:solidFill>
                <a:effectLst/>
                <a:latin typeface="+mn-lt"/>
                <a:ea typeface="+mn-ea"/>
                <a:cs typeface="+mn-cs"/>
              </a:rPr>
              <a:t> exit </a:t>
            </a:r>
            <a:r>
              <a:rPr lang="zh-CN" altLang="zh-CN" sz="1200" kern="1200" dirty="0">
                <a:solidFill>
                  <a:schemeClr val="tx1"/>
                </a:solidFill>
                <a:effectLst/>
                <a:latin typeface="+mn-lt"/>
                <a:ea typeface="+mn-ea"/>
                <a:cs typeface="+mn-cs"/>
              </a:rPr>
              <a:t>之外的所有基本块</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来说，</a:t>
            </a:r>
            <a:r>
              <a:rPr lang="en-US" altLang="zh-CN" sz="1200" kern="1200" dirty="0">
                <a:solidFill>
                  <a:schemeClr val="tx1"/>
                </a:solidFill>
                <a:effectLst/>
                <a:latin typeface="+mn-lt"/>
                <a:ea typeface="+mn-ea"/>
                <a:cs typeface="+mn-cs"/>
              </a:rPr>
              <a:t> IN[B ]=</a:t>
            </a:r>
            <a:r>
              <a:rPr lang="en-US" altLang="zh-CN" sz="1200" kern="1200" dirty="0" err="1">
                <a:solidFill>
                  <a:schemeClr val="tx1"/>
                </a:solidFill>
                <a:effectLst/>
                <a:latin typeface="+mn-lt"/>
                <a:ea typeface="+mn-ea"/>
                <a:cs typeface="+mn-cs"/>
              </a:rPr>
              <a:t>useB</a:t>
            </a:r>
            <a:r>
              <a:rPr lang="en-US" altLang="zh-CN" sz="1200" kern="1200" dirty="0">
                <a:solidFill>
                  <a:schemeClr val="tx1"/>
                </a:solidFill>
                <a:effectLst/>
                <a:latin typeface="+mn-lt"/>
                <a:ea typeface="+mn-ea"/>
                <a:cs typeface="+mn-cs"/>
              </a:rPr>
              <a:t> [ (OUT[B ] def B ) OUT[B ]= [S B IN[S ]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个方程描述了边界条件，即程序的出口处没有变量是活跃的。第二个方程说明一个变量要在进入一个基本块时活跃，必须满足下面两个条件中的一个：要么它在基本块中被重新定值之前就被使用，要么它在离开基本块时活跃且在基本块中没有对它重新定值。第三个方程表示，一个变量在离开一个基本块时活跃当且仅当它在进入该基本块的某个后继时活跃。</a:t>
            </a:r>
          </a:p>
          <a:p>
            <a:r>
              <a:rPr lang="zh-CN" altLang="zh-CN" sz="1200" kern="1200" dirty="0">
                <a:solidFill>
                  <a:schemeClr val="tx1"/>
                </a:solidFill>
                <a:effectLst/>
                <a:latin typeface="+mn-lt"/>
                <a:ea typeface="+mn-ea"/>
                <a:cs typeface="+mn-cs"/>
              </a:rPr>
              <a:t>应该注意活跃性方程和到达定值方程之间的关系：</a:t>
            </a:r>
          </a:p>
          <a:p>
            <a:r>
              <a:rPr lang="zh-CN" altLang="zh-CN" sz="1200" kern="1200" dirty="0">
                <a:solidFill>
                  <a:schemeClr val="tx1"/>
                </a:solidFill>
                <a:effectLst/>
                <a:latin typeface="+mn-lt"/>
                <a:ea typeface="+mn-ea"/>
                <a:cs typeface="+mn-cs"/>
              </a:rPr>
              <a:t>两组方程都以并集作为交汇运算。原因是，在各个数据流模式中，我们都沿着路径传播信息，并且我们只关心是否存在任何路径具有我们想要的性质，而不关心某些结论是否在所有的路径上都成立。</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然而，活跃性信息流“向后传播”，与控制流的方向相反。其中的原因时在这个问题中，我们想要确保在一个程序点</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上对变量</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的使用可以被传递到某个执行路径中</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之前的所有程序点，这样我们才知道在前面的这些点上</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的值会被使用。</a:t>
            </a:r>
          </a:p>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为了解决一个逆向传播的数据流问题，我们初始化</a:t>
            </a:r>
            <a:r>
              <a:rPr lang="en-US" altLang="zh-CN" sz="1200" kern="1200" dirty="0">
                <a:solidFill>
                  <a:schemeClr val="tx1"/>
                </a:solidFill>
                <a:effectLst/>
                <a:latin typeface="+mn-lt"/>
                <a:ea typeface="+mn-ea"/>
                <a:cs typeface="+mn-cs"/>
              </a:rPr>
              <a:t> IN[exit]</a:t>
            </a:r>
            <a:r>
              <a:rPr lang="zh-CN" altLang="zh-CN" sz="1200" kern="1200" dirty="0">
                <a:solidFill>
                  <a:schemeClr val="tx1"/>
                </a:solidFill>
                <a:effectLst/>
                <a:latin typeface="+mn-lt"/>
                <a:ea typeface="+mn-ea"/>
                <a:cs typeface="+mn-cs"/>
              </a:rPr>
              <a:t>而不是</a:t>
            </a:r>
            <a:r>
              <a:rPr lang="en-US" altLang="zh-CN" sz="1200" kern="1200" dirty="0">
                <a:solidFill>
                  <a:schemeClr val="tx1"/>
                </a:solidFill>
                <a:effectLst/>
                <a:latin typeface="+mn-lt"/>
                <a:ea typeface="+mn-ea"/>
                <a:cs typeface="+mn-cs"/>
              </a:rPr>
              <a:t> OUT[entry]</a:t>
            </a:r>
            <a:r>
              <a:rPr lang="zh-CN" altLang="zh-CN" sz="1200" kern="1200" dirty="0">
                <a:solidFill>
                  <a:schemeClr val="tx1"/>
                </a:solidFill>
                <a:effectLst/>
                <a:latin typeface="+mn-lt"/>
                <a:ea typeface="+mn-ea"/>
                <a:cs typeface="+mn-cs"/>
              </a:rPr>
              <a:t>。集合</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的角色互换，并且</a:t>
            </a:r>
            <a:r>
              <a:rPr lang="en-US" altLang="zh-CN" sz="1200" kern="1200" dirty="0">
                <a:solidFill>
                  <a:schemeClr val="tx1"/>
                </a:solidFill>
                <a:effectLst/>
                <a:latin typeface="+mn-lt"/>
                <a:ea typeface="+mn-ea"/>
                <a:cs typeface="+mn-cs"/>
              </a:rPr>
              <a:t>use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def </a:t>
            </a:r>
            <a:r>
              <a:rPr lang="zh-CN" altLang="zh-CN" sz="1200" kern="1200" dirty="0">
                <a:solidFill>
                  <a:schemeClr val="tx1"/>
                </a:solidFill>
                <a:effectLst/>
                <a:latin typeface="+mn-lt"/>
                <a:ea typeface="+mn-ea"/>
                <a:cs typeface="+mn-cs"/>
              </a:rPr>
              <a:t>分别替代</a:t>
            </a:r>
            <a:r>
              <a:rPr lang="en-US" altLang="zh-CN" sz="1200" kern="1200" dirty="0">
                <a:solidFill>
                  <a:schemeClr val="tx1"/>
                </a:solidFill>
                <a:effectLst/>
                <a:latin typeface="+mn-lt"/>
                <a:ea typeface="+mn-ea"/>
                <a:cs typeface="+mn-cs"/>
              </a:rPr>
              <a:t> gen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kill</a:t>
            </a:r>
            <a:r>
              <a:rPr lang="zh-CN" altLang="zh-CN" sz="1200" kern="1200" dirty="0">
                <a:solidFill>
                  <a:schemeClr val="tx1"/>
                </a:solidFill>
                <a:effectLst/>
                <a:latin typeface="+mn-lt"/>
                <a:ea typeface="+mn-ea"/>
                <a:cs typeface="+mn-cs"/>
              </a:rPr>
              <a:t>。和到达定值问题一样，活跃性方程的解不必是唯一的，且我们希望得到具有最小活跃变量集合的解。解方程时使用的算法本质上是算法的逆向传播版本</a:t>
            </a:r>
            <a:r>
              <a:rPr lang="en-US" altLang="zh-CN" sz="1200" kern="1200" dirty="0">
                <a:solidFill>
                  <a:schemeClr val="tx1"/>
                </a:solidFill>
                <a:effectLst/>
                <a:latin typeface="+mn-lt"/>
                <a:ea typeface="+mn-ea"/>
                <a:cs typeface="+mn-cs"/>
              </a:rPr>
              <a:t>9.11</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61</a:t>
            </a:fld>
            <a:endParaRPr lang="zh-CN" altLang="en-US"/>
          </a:p>
        </p:txBody>
      </p:sp>
    </p:spTree>
    <p:extLst>
      <p:ext uri="{BB962C8B-B14F-4D97-AF65-F5344CB8AC3E}">
        <p14:creationId xmlns:p14="http://schemas.microsoft.com/office/powerpoint/2010/main" val="20012903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如果从入口节点 到达程序点</a:t>
            </a:r>
            <a:r>
              <a:rPr lang="en-US" altLang="zh-CN" sz="1200" kern="1200" dirty="0">
                <a:solidFill>
                  <a:schemeClr val="tx1"/>
                </a:solidFill>
                <a:effectLst/>
                <a:latin typeface="+mn-lt"/>
                <a:ea typeface="+mn-ea"/>
                <a:cs typeface="+mn-cs"/>
              </a:rPr>
              <a:t>p </a:t>
            </a:r>
            <a:r>
              <a:rPr lang="zh-CN" altLang="zh-CN" sz="1200" kern="1200" dirty="0">
                <a:solidFill>
                  <a:schemeClr val="tx1"/>
                </a:solidFill>
                <a:effectLst/>
                <a:latin typeface="+mn-lt"/>
                <a:ea typeface="+mn-ea"/>
                <a:cs typeface="+mn-cs"/>
              </a:rPr>
              <a:t>的每条路径都对表达式</a:t>
            </a:r>
            <a:r>
              <a:rPr lang="en-US" altLang="zh-CN" sz="1200" kern="1200" dirty="0">
                <a:solidFill>
                  <a:schemeClr val="tx1"/>
                </a:solidFill>
                <a:effectLst/>
                <a:latin typeface="+mn-lt"/>
                <a:ea typeface="+mn-ea"/>
                <a:cs typeface="+mn-cs"/>
              </a:rPr>
              <a:t>x + y</a:t>
            </a:r>
            <a:r>
              <a:rPr lang="zh-CN" altLang="zh-CN" sz="1200" kern="1200" dirty="0">
                <a:solidFill>
                  <a:schemeClr val="tx1"/>
                </a:solidFill>
                <a:effectLst/>
                <a:latin typeface="+mn-lt"/>
                <a:ea typeface="+mn-ea"/>
                <a:cs typeface="+mn-cs"/>
              </a:rPr>
              <a:t>求值 ，且从最后一个这样的求值之后到</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点的路径上没有再次对</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赋值，那么</a:t>
            </a:r>
            <a:r>
              <a:rPr lang="en-US" altLang="zh-CN" sz="1200" kern="1200" dirty="0">
                <a:solidFill>
                  <a:schemeClr val="tx1"/>
                </a:solidFill>
                <a:effectLst/>
                <a:latin typeface="+mn-lt"/>
                <a:ea typeface="+mn-ea"/>
                <a:cs typeface="+mn-cs"/>
              </a:rPr>
              <a:t>x + y </a:t>
            </a:r>
            <a:r>
              <a:rPr lang="zh-CN" altLang="zh-CN" sz="1200" kern="1200" dirty="0">
                <a:solidFill>
                  <a:schemeClr val="tx1"/>
                </a:solidFill>
                <a:effectLst/>
                <a:latin typeface="+mn-lt"/>
                <a:ea typeface="+mn-ea"/>
                <a:cs typeface="+mn-cs"/>
              </a:rPr>
              <a:t>在点</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处可用。</a:t>
            </a:r>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对于可用表达式数据流模式，</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我们说一个块对</a:t>
            </a:r>
            <a:r>
              <a:rPr lang="en-US" altLang="zh-CN" sz="1200" kern="1200" dirty="0">
                <a:solidFill>
                  <a:schemeClr val="tx1"/>
                </a:solidFill>
                <a:effectLst/>
                <a:latin typeface="+mn-lt"/>
                <a:ea typeface="+mn-ea"/>
                <a:cs typeface="+mn-cs"/>
              </a:rPr>
              <a:t>x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y</a:t>
            </a:r>
            <a:r>
              <a:rPr lang="zh-CN" altLang="zh-CN" sz="1200" kern="1200" dirty="0">
                <a:solidFill>
                  <a:schemeClr val="tx1"/>
                </a:solidFill>
                <a:effectLst/>
                <a:latin typeface="+mn-lt"/>
                <a:ea typeface="+mn-ea"/>
                <a:cs typeface="+mn-cs"/>
              </a:rPr>
              <a:t>赋值（或者可能对它们赋值</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并且之后没有再重新计算</a:t>
            </a:r>
            <a:r>
              <a:rPr lang="en-US" altLang="zh-CN" sz="1200" kern="1200" dirty="0">
                <a:solidFill>
                  <a:schemeClr val="tx1"/>
                </a:solidFill>
                <a:effectLst/>
                <a:latin typeface="+mn-lt"/>
                <a:ea typeface="+mn-ea"/>
                <a:cs typeface="+mn-cs"/>
              </a:rPr>
              <a:t> x + y</a:t>
            </a:r>
            <a:r>
              <a:rPr lang="zh-CN" altLang="zh-CN" sz="1200" kern="1200" dirty="0">
                <a:solidFill>
                  <a:schemeClr val="tx1"/>
                </a:solidFill>
                <a:effectLst/>
                <a:latin typeface="+mn-lt"/>
                <a:ea typeface="+mn-ea"/>
                <a:cs typeface="+mn-cs"/>
              </a:rPr>
              <a:t>，我们就说该基本块杀死了表达式</a:t>
            </a:r>
            <a:r>
              <a:rPr lang="en-US" altLang="zh-CN" sz="1200" kern="1200" dirty="0" err="1">
                <a:solidFill>
                  <a:schemeClr val="tx1"/>
                </a:solidFill>
                <a:effectLst/>
                <a:latin typeface="+mn-lt"/>
                <a:ea typeface="+mn-ea"/>
                <a:cs typeface="+mn-cs"/>
              </a:rPr>
              <a:t>x+y</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如果一个基本块确实对</a:t>
            </a:r>
            <a:r>
              <a:rPr lang="en-US" altLang="zh-CN" sz="1200" kern="1200" dirty="0">
                <a:solidFill>
                  <a:schemeClr val="tx1"/>
                </a:solidFill>
                <a:effectLst/>
                <a:latin typeface="+mn-lt"/>
                <a:ea typeface="+mn-ea"/>
                <a:cs typeface="+mn-cs"/>
              </a:rPr>
              <a:t>x + y</a:t>
            </a:r>
            <a:r>
              <a:rPr lang="zh-CN" altLang="zh-CN" sz="1200" kern="1200" dirty="0">
                <a:solidFill>
                  <a:schemeClr val="tx1"/>
                </a:solidFill>
                <a:effectLst/>
                <a:latin typeface="+mn-lt"/>
                <a:ea typeface="+mn-ea"/>
                <a:cs typeface="+mn-cs"/>
              </a:rPr>
              <a:t>求值，并且之后没有再对</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定值，那么这个基本块生成表达式</a:t>
            </a:r>
            <a:r>
              <a:rPr lang="en-US" altLang="zh-CN" sz="1200" kern="1200" dirty="0" err="1">
                <a:solidFill>
                  <a:schemeClr val="tx1"/>
                </a:solidFill>
                <a:effectLst/>
                <a:latin typeface="+mn-lt"/>
                <a:ea typeface="+mn-ea"/>
                <a:cs typeface="+mn-cs"/>
              </a:rPr>
              <a:t>x+y</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请注意，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杀死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生成</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一个可用表达式的概念与达到定值的概念并不完全相同。然而，这些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杀死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生成</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的概念在行为上和到达定值中相应的概念在本质上是一致的。</a:t>
            </a:r>
          </a:p>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可用表达式信息的主要用途是检测全局公共子表达式。</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67</a:t>
            </a:fld>
            <a:endParaRPr lang="zh-CN" altLang="en-US"/>
          </a:p>
        </p:txBody>
      </p:sp>
    </p:spTree>
    <p:extLst>
      <p:ext uri="{BB962C8B-B14F-4D97-AF65-F5344CB8AC3E}">
        <p14:creationId xmlns:p14="http://schemas.microsoft.com/office/powerpoint/2010/main" val="34221973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我们可以从头到尾地处理基本块内的各个语句，计算一个基本块内各个点上生成的表达式集合。在该块之前的点上没有生成任何表达式。如果在点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处可用有表达式的集合是</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，且</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之后的点，它们之间有语句</a:t>
            </a:r>
            <a:r>
              <a:rPr lang="en-US" altLang="zh-CN" sz="1200" kern="1200" dirty="0">
                <a:solidFill>
                  <a:schemeClr val="tx1"/>
                </a:solidFill>
                <a:effectLst/>
                <a:latin typeface="+mn-lt"/>
                <a:ea typeface="+mn-ea"/>
                <a:cs typeface="+mn-cs"/>
              </a:rPr>
              <a:t>x = </a:t>
            </a:r>
            <a:r>
              <a:rPr lang="en-US" altLang="zh-CN" sz="1200" kern="1200" dirty="0" err="1">
                <a:solidFill>
                  <a:schemeClr val="tx1"/>
                </a:solidFill>
                <a:effectLst/>
                <a:latin typeface="+mn-lt"/>
                <a:ea typeface="+mn-ea"/>
                <a:cs typeface="+mn-cs"/>
              </a:rPr>
              <a:t>y+z</a:t>
            </a:r>
            <a:r>
              <a:rPr lang="zh-CN" altLang="zh-CN" sz="1200" kern="1200" dirty="0">
                <a:solidFill>
                  <a:schemeClr val="tx1"/>
                </a:solidFill>
                <a:effectLst/>
                <a:latin typeface="+mn-lt"/>
                <a:ea typeface="+mn-ea"/>
                <a:cs typeface="+mn-cs"/>
              </a:rPr>
              <a:t>，那么我们通过以下两个步骤可用得到点</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上的可用的表达式集合。</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将表达式</a:t>
            </a:r>
            <a:r>
              <a:rPr lang="en-US" altLang="zh-CN" sz="1200" kern="1200" dirty="0">
                <a:solidFill>
                  <a:schemeClr val="tx1"/>
                </a:solidFill>
                <a:effectLst/>
                <a:latin typeface="+mn-lt"/>
                <a:ea typeface="+mn-ea"/>
                <a:cs typeface="+mn-cs"/>
              </a:rPr>
              <a:t> y + z </a:t>
            </a:r>
            <a:r>
              <a:rPr lang="zh-CN" altLang="zh-CN" sz="1200" kern="1200" dirty="0">
                <a:solidFill>
                  <a:schemeClr val="tx1"/>
                </a:solidFill>
                <a:effectLst/>
                <a:latin typeface="+mn-lt"/>
                <a:ea typeface="+mn-ea"/>
                <a:cs typeface="+mn-cs"/>
              </a:rPr>
              <a:t>添加到</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中。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从</a:t>
            </a:r>
            <a:r>
              <a:rPr lang="en-US" altLang="zh-CN" sz="1200" kern="1200" dirty="0">
                <a:solidFill>
                  <a:schemeClr val="tx1"/>
                </a:solidFill>
                <a:effectLst/>
                <a:latin typeface="+mn-lt"/>
                <a:ea typeface="+mn-ea"/>
                <a:cs typeface="+mn-cs"/>
              </a:rPr>
              <a:t>S </a:t>
            </a:r>
            <a:r>
              <a:rPr lang="zh-CN" altLang="zh-CN" sz="1200" kern="1200" dirty="0">
                <a:solidFill>
                  <a:schemeClr val="tx1"/>
                </a:solidFill>
                <a:effectLst/>
                <a:latin typeface="+mn-lt"/>
                <a:ea typeface="+mn-ea"/>
                <a:cs typeface="+mn-cs"/>
              </a:rPr>
              <a:t>中删除任何涉及变量</a:t>
            </a:r>
            <a:r>
              <a:rPr lang="en-US" altLang="zh-CN" sz="1200" kern="1200" dirty="0">
                <a:solidFill>
                  <a:schemeClr val="tx1"/>
                </a:solidFill>
                <a:effectLst/>
                <a:latin typeface="+mn-lt"/>
                <a:ea typeface="+mn-ea"/>
                <a:cs typeface="+mn-cs"/>
              </a:rPr>
              <a:t>x </a:t>
            </a:r>
            <a:r>
              <a:rPr lang="zh-CN" altLang="zh-CN" sz="1200" kern="1200" dirty="0">
                <a:solidFill>
                  <a:schemeClr val="tx1"/>
                </a:solidFill>
                <a:effectLst/>
                <a:latin typeface="+mn-lt"/>
                <a:ea typeface="+mn-ea"/>
                <a:cs typeface="+mn-cs"/>
              </a:rPr>
              <a:t>的表达式。</a:t>
            </a:r>
          </a:p>
          <a:p>
            <a:r>
              <a:rPr lang="zh-CN" altLang="zh-CN" sz="1200" kern="1200" dirty="0">
                <a:solidFill>
                  <a:schemeClr val="tx1"/>
                </a:solidFill>
                <a:effectLst/>
                <a:latin typeface="+mn-lt"/>
                <a:ea typeface="+mn-ea"/>
                <a:cs typeface="+mn-cs"/>
              </a:rPr>
              <a:t>请注意，因为</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可能与</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相同，所有上面这些步骤必须按正确的顺序完成。当我们到达块的末尾后，</a:t>
            </a:r>
            <a:r>
              <a:rPr lang="en-US" altLang="zh-CN" sz="1200" kern="1200" dirty="0">
                <a:solidFill>
                  <a:schemeClr val="tx1"/>
                </a:solidFill>
                <a:effectLst/>
                <a:latin typeface="+mn-lt"/>
                <a:ea typeface="+mn-ea"/>
                <a:cs typeface="+mn-cs"/>
              </a:rPr>
              <a:t>S </a:t>
            </a:r>
            <a:r>
              <a:rPr lang="zh-CN" altLang="zh-CN" sz="1200" kern="1200" dirty="0">
                <a:solidFill>
                  <a:schemeClr val="tx1"/>
                </a:solidFill>
                <a:effectLst/>
                <a:latin typeface="+mn-lt"/>
                <a:ea typeface="+mn-ea"/>
                <a:cs typeface="+mn-cs"/>
              </a:rPr>
              <a:t>就是该块生成的表达式集合。</a:t>
            </a:r>
            <a:endParaRPr lang="zh-CN" altLang="en-US" dirty="0"/>
          </a:p>
          <a:p>
            <a:pPr lvl="1"/>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被杀死的表达式的集合是所有类似于</a:t>
            </a:r>
            <a:r>
              <a:rPr lang="en-US" altLang="zh-CN" sz="1200" kern="1200" dirty="0">
                <a:solidFill>
                  <a:schemeClr val="tx1"/>
                </a:solidFill>
                <a:effectLst/>
                <a:latin typeface="+mn-lt"/>
                <a:ea typeface="+mn-ea"/>
                <a:cs typeface="+mn-cs"/>
              </a:rPr>
              <a:t>y + z</a:t>
            </a:r>
            <a:r>
              <a:rPr lang="zh-CN" altLang="zh-CN" sz="1200" kern="1200" dirty="0">
                <a:solidFill>
                  <a:schemeClr val="tx1"/>
                </a:solidFill>
                <a:effectLst/>
                <a:latin typeface="+mn-lt"/>
                <a:ea typeface="+mn-ea"/>
                <a:cs typeface="+mn-cs"/>
              </a:rPr>
              <a:t>的表达式，其中</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z</a:t>
            </a:r>
            <a:r>
              <a:rPr lang="zh-CN" altLang="zh-CN" sz="1200" kern="1200" dirty="0">
                <a:solidFill>
                  <a:schemeClr val="tx1"/>
                </a:solidFill>
                <a:effectLst/>
                <a:latin typeface="+mn-lt"/>
                <a:ea typeface="+mn-ea"/>
                <a:cs typeface="+mn-cs"/>
              </a:rPr>
              <a:t>在块中被定值，</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并且这个基本块没有生成</a:t>
            </a:r>
            <a:r>
              <a:rPr lang="en-US" altLang="zh-CN" sz="1200" kern="1200" dirty="0">
                <a:solidFill>
                  <a:schemeClr val="tx1"/>
                </a:solidFill>
                <a:effectLst/>
                <a:latin typeface="+mn-lt"/>
                <a:ea typeface="+mn-ea"/>
                <a:cs typeface="+mn-cs"/>
              </a:rPr>
              <a:t> y + z</a:t>
            </a:r>
            <a:r>
              <a:rPr lang="zh-CN" altLang="zh-CN" sz="1200" kern="1200" dirty="0">
                <a:solidFill>
                  <a:schemeClr val="tx1"/>
                </a:solidFill>
                <a:effectLst/>
                <a:latin typeface="+mn-lt"/>
                <a:ea typeface="+mn-ea"/>
                <a:cs typeface="+mn-cs"/>
              </a:rPr>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考虑图</a:t>
            </a:r>
            <a:r>
              <a:rPr lang="en-US" altLang="zh-CN" sz="1200" kern="1200" dirty="0">
                <a:solidFill>
                  <a:schemeClr val="tx1"/>
                </a:solidFill>
                <a:effectLst/>
                <a:latin typeface="+mn-lt"/>
                <a:ea typeface="+mn-ea"/>
                <a:cs typeface="+mn-cs"/>
              </a:rPr>
              <a:t> 9.18 </a:t>
            </a:r>
            <a:r>
              <a:rPr lang="zh-CN" altLang="zh-CN" sz="1200" kern="1200" dirty="0">
                <a:solidFill>
                  <a:schemeClr val="tx1"/>
                </a:solidFill>
                <a:effectLst/>
                <a:latin typeface="+mn-lt"/>
                <a:ea typeface="+mn-ea"/>
                <a:cs typeface="+mn-cs"/>
              </a:rPr>
              <a:t>的四个语句。</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第一个语句之后</a:t>
            </a:r>
            <a:r>
              <a:rPr lang="en-US" altLang="zh-CN" sz="1200" kern="1200" dirty="0">
                <a:solidFill>
                  <a:schemeClr val="tx1"/>
                </a:solidFill>
                <a:effectLst/>
                <a:latin typeface="+mn-lt"/>
                <a:ea typeface="+mn-ea"/>
                <a:cs typeface="+mn-cs"/>
              </a:rPr>
              <a:t>b + c </a:t>
            </a:r>
            <a:r>
              <a:rPr lang="zh-CN" altLang="zh-CN" sz="1200" kern="1200" dirty="0">
                <a:solidFill>
                  <a:schemeClr val="tx1"/>
                </a:solidFill>
                <a:effectLst/>
                <a:latin typeface="+mn-lt"/>
                <a:ea typeface="+mn-ea"/>
                <a:cs typeface="+mn-cs"/>
              </a:rPr>
              <a:t>可用。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第二条语句之后，</a:t>
            </a:r>
            <a:r>
              <a:rPr lang="en-US" altLang="zh-CN" sz="1200" kern="1200" dirty="0">
                <a:solidFill>
                  <a:schemeClr val="tx1"/>
                </a:solidFill>
                <a:effectLst/>
                <a:latin typeface="+mn-lt"/>
                <a:ea typeface="+mn-ea"/>
                <a:cs typeface="+mn-cs"/>
              </a:rPr>
              <a:t>a- d</a:t>
            </a:r>
            <a:r>
              <a:rPr lang="zh-CN" altLang="zh-CN" sz="1200" kern="1200" dirty="0">
                <a:solidFill>
                  <a:schemeClr val="tx1"/>
                </a:solidFill>
                <a:effectLst/>
                <a:latin typeface="+mn-lt"/>
                <a:ea typeface="+mn-ea"/>
                <a:cs typeface="+mn-cs"/>
              </a:rPr>
              <a:t>变得可用，但</a:t>
            </a:r>
            <a:r>
              <a:rPr lang="en-US" altLang="zh-CN" sz="1200" kern="1200" dirty="0">
                <a:solidFill>
                  <a:schemeClr val="tx1"/>
                </a:solidFill>
                <a:effectLst/>
                <a:latin typeface="+mn-lt"/>
                <a:ea typeface="+mn-ea"/>
                <a:cs typeface="+mn-cs"/>
              </a:rPr>
              <a:t> b + c </a:t>
            </a:r>
            <a:r>
              <a:rPr lang="zh-CN" altLang="zh-CN" sz="1200" kern="1200" dirty="0">
                <a:solidFill>
                  <a:schemeClr val="tx1"/>
                </a:solidFill>
                <a:effectLst/>
                <a:latin typeface="+mn-lt"/>
                <a:ea typeface="+mn-ea"/>
                <a:cs typeface="+mn-cs"/>
              </a:rPr>
              <a:t>不再可用，因为</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已被重新定值。</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第三条语句不会使</a:t>
            </a:r>
            <a:r>
              <a:rPr lang="en-US" altLang="zh-CN" sz="1200" kern="1200" dirty="0">
                <a:solidFill>
                  <a:schemeClr val="tx1"/>
                </a:solidFill>
                <a:effectLst/>
                <a:latin typeface="+mn-lt"/>
                <a:ea typeface="+mn-ea"/>
                <a:cs typeface="+mn-cs"/>
              </a:rPr>
              <a:t> b + c </a:t>
            </a:r>
            <a:r>
              <a:rPr lang="zh-CN" altLang="zh-CN" sz="1200" kern="1200" dirty="0">
                <a:solidFill>
                  <a:schemeClr val="tx1"/>
                </a:solidFill>
                <a:effectLst/>
                <a:latin typeface="+mn-lt"/>
                <a:ea typeface="+mn-ea"/>
                <a:cs typeface="+mn-cs"/>
              </a:rPr>
              <a:t>再次可用，因为</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的值立即就被更改了。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最后一条语句之后，</a:t>
            </a:r>
            <a:r>
              <a:rPr lang="en-US" altLang="zh-CN" sz="1200" kern="1200" dirty="0">
                <a:solidFill>
                  <a:schemeClr val="tx1"/>
                </a:solidFill>
                <a:effectLst/>
                <a:latin typeface="+mn-lt"/>
                <a:ea typeface="+mn-ea"/>
                <a:cs typeface="+mn-cs"/>
              </a:rPr>
              <a:t>a-d </a:t>
            </a:r>
            <a:r>
              <a:rPr lang="zh-CN" altLang="zh-CN" sz="1200" kern="1200" dirty="0">
                <a:solidFill>
                  <a:schemeClr val="tx1"/>
                </a:solidFill>
                <a:effectLst/>
                <a:latin typeface="+mn-lt"/>
                <a:ea typeface="+mn-ea"/>
                <a:cs typeface="+mn-cs"/>
              </a:rPr>
              <a:t>不再可用，因为</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已更改。</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因此，这个基本块不会生成任何可用表达式，并且所有涉及</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的表达式都会被杀死。</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70</a:t>
            </a:fld>
            <a:endParaRPr lang="zh-CN" altLang="en-US"/>
          </a:p>
        </p:txBody>
      </p:sp>
    </p:spTree>
    <p:extLst>
      <p:ext uri="{BB962C8B-B14F-4D97-AF65-F5344CB8AC3E}">
        <p14:creationId xmlns:p14="http://schemas.microsoft.com/office/powerpoint/2010/main" val="19818524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我们可以通过类似于计算到达定值的方式来找到可用的表达式。假设</a:t>
            </a:r>
            <a:r>
              <a:rPr lang="en-US" altLang="zh-CN" sz="1200" kern="1200" dirty="0">
                <a:solidFill>
                  <a:schemeClr val="tx1"/>
                </a:solidFill>
                <a:effectLst/>
                <a:latin typeface="+mn-lt"/>
                <a:ea typeface="+mn-ea"/>
                <a:cs typeface="+mn-cs"/>
              </a:rPr>
              <a:t> U </a:t>
            </a:r>
            <a:r>
              <a:rPr lang="zh-CN" altLang="zh-CN" sz="1200" kern="1200" dirty="0">
                <a:solidFill>
                  <a:schemeClr val="tx1"/>
                </a:solidFill>
                <a:effectLst/>
                <a:latin typeface="+mn-lt"/>
                <a:ea typeface="+mn-ea"/>
                <a:cs typeface="+mn-cs"/>
              </a:rPr>
              <a:t>是出现在程序中的一个或多个语句的右部的表达式的全集。对于每个块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，令</a:t>
            </a:r>
            <a:r>
              <a:rPr lang="en-US" altLang="zh-CN" sz="1200" kern="1200" dirty="0">
                <a:solidFill>
                  <a:schemeClr val="tx1"/>
                </a:solidFill>
                <a:effectLst/>
                <a:latin typeface="+mn-lt"/>
                <a:ea typeface="+mn-ea"/>
                <a:cs typeface="+mn-cs"/>
              </a:rPr>
              <a:t> IN [B ]</a:t>
            </a:r>
            <a:r>
              <a:rPr lang="zh-CN" altLang="zh-CN" sz="1200" kern="1200" dirty="0">
                <a:solidFill>
                  <a:schemeClr val="tx1"/>
                </a:solidFill>
                <a:effectLst/>
                <a:latin typeface="+mn-lt"/>
                <a:ea typeface="+mn-ea"/>
                <a:cs typeface="+mn-cs"/>
              </a:rPr>
              <a:t>表示在</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的开始处可用的</a:t>
            </a:r>
            <a:r>
              <a:rPr lang="en-US" altLang="zh-CN" sz="1200" kern="1200" dirty="0">
                <a:solidFill>
                  <a:schemeClr val="tx1"/>
                </a:solidFill>
                <a:effectLst/>
                <a:latin typeface="+mn-lt"/>
                <a:ea typeface="+mn-ea"/>
                <a:cs typeface="+mn-cs"/>
              </a:rPr>
              <a:t>U</a:t>
            </a:r>
            <a:r>
              <a:rPr lang="zh-CN" altLang="zh-CN" sz="1200" kern="1200" dirty="0">
                <a:solidFill>
                  <a:schemeClr val="tx1"/>
                </a:solidFill>
                <a:effectLst/>
                <a:latin typeface="+mn-lt"/>
                <a:ea typeface="+mn-ea"/>
                <a:cs typeface="+mn-cs"/>
              </a:rPr>
              <a:t>中的表达式的集合。</a:t>
            </a:r>
            <a:r>
              <a:rPr lang="en-US" altLang="zh-CN" sz="1200" kern="1200" dirty="0">
                <a:solidFill>
                  <a:schemeClr val="tx1"/>
                </a:solidFill>
                <a:effectLst/>
                <a:latin typeface="+mn-lt"/>
                <a:ea typeface="+mn-ea"/>
                <a:cs typeface="+mn-cs"/>
              </a:rPr>
              <a:t>OUT[B ]</a:t>
            </a:r>
            <a:r>
              <a:rPr lang="zh-CN" altLang="zh-CN" sz="1200" kern="1200" dirty="0">
                <a:solidFill>
                  <a:schemeClr val="tx1"/>
                </a:solidFill>
                <a:effectLst/>
                <a:latin typeface="+mn-lt"/>
                <a:ea typeface="+mn-ea"/>
                <a:cs typeface="+mn-cs"/>
              </a:rPr>
              <a:t>表示在</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的 结尾处可用的表达式的集合。定义</a:t>
            </a:r>
            <a:r>
              <a:rPr lang="en-US" altLang="zh-CN" sz="1200" kern="1200" dirty="0" err="1">
                <a:solidFill>
                  <a:schemeClr val="tx1"/>
                </a:solidFill>
                <a:effectLst/>
                <a:latin typeface="+mn-lt"/>
                <a:ea typeface="+mn-ea"/>
                <a:cs typeface="+mn-cs"/>
              </a:rPr>
              <a:t>e_genB</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生成的表达式集合，而</a:t>
            </a:r>
            <a:r>
              <a:rPr lang="en-US" altLang="zh-CN" sz="1200" kern="1200" dirty="0">
                <a:solidFill>
                  <a:schemeClr val="tx1"/>
                </a:solidFill>
                <a:effectLst/>
                <a:latin typeface="+mn-lt"/>
                <a:ea typeface="+mn-ea"/>
                <a:cs typeface="+mn-cs"/>
              </a:rPr>
              <a:t>e_ </a:t>
            </a:r>
            <a:r>
              <a:rPr lang="en-US" altLang="zh-CN" sz="1200" kern="1200" dirty="0" err="1">
                <a:solidFill>
                  <a:schemeClr val="tx1"/>
                </a:solidFill>
                <a:effectLst/>
                <a:latin typeface="+mn-lt"/>
                <a:ea typeface="+mn-ea"/>
                <a:cs typeface="+mn-cs"/>
              </a:rPr>
              <a:t>KillB</a:t>
            </a:r>
            <a:r>
              <a:rPr lang="zh-CN" altLang="zh-CN" sz="1200" kern="1200" dirty="0">
                <a:solidFill>
                  <a:schemeClr val="tx1"/>
                </a:solidFill>
                <a:effectLst/>
                <a:latin typeface="+mn-lt"/>
                <a:ea typeface="+mn-ea"/>
                <a:cs typeface="+mn-cs"/>
              </a:rPr>
              <a:t>为被</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杀死的</a:t>
            </a:r>
            <a:r>
              <a:rPr lang="en-US" altLang="zh-CN" sz="1200" kern="1200" dirty="0">
                <a:solidFill>
                  <a:schemeClr val="tx1"/>
                </a:solidFill>
                <a:effectLst/>
                <a:latin typeface="+mn-lt"/>
                <a:ea typeface="+mn-ea"/>
                <a:cs typeface="+mn-cs"/>
              </a:rPr>
              <a:t>U </a:t>
            </a:r>
            <a:r>
              <a:rPr lang="zh-CN" altLang="zh-CN" sz="1200" kern="1200" dirty="0">
                <a:solidFill>
                  <a:schemeClr val="tx1"/>
                </a:solidFill>
                <a:effectLst/>
                <a:latin typeface="+mn-lt"/>
                <a:ea typeface="+mn-ea"/>
                <a:cs typeface="+mn-cs"/>
              </a:rPr>
              <a:t>中的表达式的集合。请注意，</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OUT</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e_gen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e_Kill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都可以用位向量表示。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以下方程给出了未知的</a:t>
            </a:r>
            <a:r>
              <a:rPr lang="en-US" altLang="zh-CN" sz="1200" kern="1200" dirty="0">
                <a:solidFill>
                  <a:schemeClr val="tx1"/>
                </a:solidFill>
                <a:effectLst/>
                <a:latin typeface="+mn-lt"/>
                <a:ea typeface="+mn-ea"/>
                <a:cs typeface="+mn-cs"/>
              </a:rPr>
              <a:t> IN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OUT </a:t>
            </a:r>
            <a:r>
              <a:rPr lang="zh-CN" altLang="zh-CN" sz="1200" kern="1200" dirty="0">
                <a:solidFill>
                  <a:schemeClr val="tx1"/>
                </a:solidFill>
                <a:effectLst/>
                <a:latin typeface="+mn-lt"/>
                <a:ea typeface="+mn-ea"/>
                <a:cs typeface="+mn-cs"/>
              </a:rPr>
              <a:t>值之间，以及它们和已知量</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e_gen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e_Kill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之间的关系：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OUT[entry ] =</a:t>
            </a:r>
            <a:r>
              <a:rPr lang="zh-CN" altLang="en-US" sz="1200" kern="1200" dirty="0">
                <a:solidFill>
                  <a:schemeClr val="tx1"/>
                </a:solidFill>
                <a:effectLst/>
                <a:latin typeface="+mn-lt"/>
                <a:ea typeface="+mn-ea"/>
                <a:cs typeface="+mn-cs"/>
              </a:rPr>
              <a:t>空</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并且</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对于除</a:t>
            </a:r>
            <a:r>
              <a:rPr lang="en-US" altLang="zh-CN" sz="1200" kern="1200" dirty="0">
                <a:solidFill>
                  <a:schemeClr val="tx1"/>
                </a:solidFill>
                <a:effectLst/>
                <a:latin typeface="+mn-lt"/>
                <a:ea typeface="+mn-ea"/>
                <a:cs typeface="+mn-cs"/>
              </a:rPr>
              <a:t>entry</a:t>
            </a:r>
            <a:r>
              <a:rPr lang="zh-CN" altLang="zh-CN" sz="1200" kern="1200" dirty="0">
                <a:solidFill>
                  <a:schemeClr val="tx1"/>
                </a:solidFill>
                <a:effectLst/>
                <a:latin typeface="+mn-lt"/>
                <a:ea typeface="+mn-ea"/>
                <a:cs typeface="+mn-cs"/>
              </a:rPr>
              <a:t>之外的所有基本块</a:t>
            </a:r>
            <a:r>
              <a:rPr lang="zh-CN" altLang="en-US"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 OUT[B ]=</a:t>
            </a:r>
            <a:r>
              <a:rPr lang="en-US" altLang="zh-CN" sz="1200" kern="1200" dirty="0" err="1">
                <a:solidFill>
                  <a:schemeClr val="tx1"/>
                </a:solidFill>
                <a:effectLst/>
                <a:latin typeface="+mn-lt"/>
                <a:ea typeface="+mn-ea"/>
                <a:cs typeface="+mn-cs"/>
              </a:rPr>
              <a:t>e_genB</a:t>
            </a:r>
            <a:r>
              <a:rPr lang="en-US" altLang="zh-CN" sz="1200" kern="1200" dirty="0">
                <a:solidFill>
                  <a:schemeClr val="tx1"/>
                </a:solidFill>
                <a:effectLst/>
                <a:latin typeface="+mn-lt"/>
                <a:ea typeface="+mn-ea"/>
                <a:cs typeface="+mn-cs"/>
              </a:rPr>
              <a:t> [ (IN [B ] </a:t>
            </a:r>
            <a:r>
              <a:rPr lang="en-US" altLang="zh-CN" sz="1200" kern="1200" dirty="0" err="1">
                <a:solidFill>
                  <a:schemeClr val="tx1"/>
                </a:solidFill>
                <a:effectLst/>
                <a:latin typeface="+mn-lt"/>
                <a:ea typeface="+mn-ea"/>
                <a:cs typeface="+mn-cs"/>
              </a:rPr>
              <a:t>e_KillB</a:t>
            </a:r>
            <a:r>
              <a:rPr lang="en-US" altLang="zh-CN" sz="1200" kern="1200" dirty="0">
                <a:solidFill>
                  <a:schemeClr val="tx1"/>
                </a:solidFill>
                <a:effectLst/>
                <a:latin typeface="+mn-lt"/>
                <a:ea typeface="+mn-ea"/>
                <a:cs typeface="+mn-cs"/>
              </a:rPr>
              <a:t> )    IN[B ]= </a:t>
            </a:r>
            <a:r>
              <a:rPr lang="zh-CN" altLang="en-US" sz="3200" baseline="12000" dirty="0">
                <a:latin typeface="Cambria Math" panose="02040503050406030204"/>
                <a:cs typeface="Cambria Math" panose="02040503050406030204"/>
              </a:rPr>
              <a:t>⋂  </a:t>
            </a:r>
            <a:r>
              <a:rPr lang="en-US" altLang="zh-CN" sz="1200" kern="1200" dirty="0">
                <a:solidFill>
                  <a:schemeClr val="tx1"/>
                </a:solidFill>
                <a:effectLst/>
                <a:latin typeface="+mn-lt"/>
                <a:ea typeface="+mn-ea"/>
                <a:cs typeface="+mn-cs"/>
              </a:rPr>
              <a:t>P B OUT[P ]</a:t>
            </a:r>
            <a:r>
              <a:rPr lang="zh-CN"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上述方程看起来与达到定值的方程几乎相同。与到达定值一样，这个方程的边界条也是</a:t>
            </a:r>
            <a:r>
              <a:rPr lang="en-US" altLang="zh-CN" sz="1200" kern="1200" dirty="0">
                <a:solidFill>
                  <a:schemeClr val="tx1"/>
                </a:solidFill>
                <a:effectLst/>
                <a:latin typeface="+mn-lt"/>
                <a:ea typeface="+mn-ea"/>
                <a:cs typeface="+mn-cs"/>
              </a:rPr>
              <a:t> OUT[entry]= </a:t>
            </a:r>
            <a:r>
              <a:rPr lang="zh-CN" altLang="en-US" sz="1200" kern="1200" dirty="0">
                <a:solidFill>
                  <a:schemeClr val="tx1"/>
                </a:solidFill>
                <a:effectLst/>
                <a:latin typeface="+mn-lt"/>
                <a:ea typeface="+mn-ea"/>
                <a:cs typeface="+mn-cs"/>
              </a:rPr>
              <a:t>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，这是因为在</a:t>
            </a:r>
            <a:r>
              <a:rPr lang="en-US" altLang="zh-CN" sz="1200" kern="1200" dirty="0">
                <a:solidFill>
                  <a:schemeClr val="tx1"/>
                </a:solidFill>
                <a:effectLst/>
                <a:latin typeface="+mn-lt"/>
                <a:ea typeface="+mn-ea"/>
                <a:cs typeface="+mn-cs"/>
              </a:rPr>
              <a:t>ENTRY</a:t>
            </a:r>
            <a:r>
              <a:rPr lang="zh-CN" altLang="zh-CN" sz="1200" kern="1200" dirty="0">
                <a:solidFill>
                  <a:schemeClr val="tx1"/>
                </a:solidFill>
                <a:effectLst/>
                <a:latin typeface="+mn-lt"/>
                <a:ea typeface="+mn-ea"/>
                <a:cs typeface="+mn-cs"/>
              </a:rPr>
              <a:t>的出口处没有任何可用的表达式。最重要的区别在于这个方程组的交汇运算是交集运算而不是并集运算。因为只有当一个表达式在一个基本块的所有前驱的结尾处都可用，它才会在该基本块的开头可用，因此使用交集运算是正确的。相反，只要一个定值到达了一个基本块的任何一个前驱的结尾处，它就到达该块的开头，所以在到达定值方程中使用并集运算作为交汇运算。</a:t>
            </a:r>
          </a:p>
          <a:p>
            <a:endParaRPr lang="en-US"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使用</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“交”</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而不是</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并”</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使得可用表达式方程的表现与达到定值的方程组的表现不同。虽然这两个集合都没有唯一的解，但到达定值方程组的解是符</a:t>
            </a:r>
            <a:r>
              <a:rPr lang="zh-CN" altLang="en-US" sz="1200" kern="1200" dirty="0">
                <a:solidFill>
                  <a:schemeClr val="tx1"/>
                </a:solidFill>
                <a:effectLst/>
                <a:latin typeface="+mn-lt"/>
                <a:ea typeface="+mn-ea"/>
                <a:cs typeface="+mn-cs"/>
              </a:rPr>
              <a:t>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到达</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的定义的最小集合。在求解到达定值方程的过程中，我们首先假设任何地方都没有定值到达，然后逐渐增大到达定值的集合，最终构建得到该解。在这个方法里，除非找到一条能把某个定值</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传播到某个点</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的实际路径，否则我们从来不假设定值</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可以到达点</a:t>
            </a:r>
            <a:r>
              <a:rPr lang="en-US" altLang="zh-CN" sz="1200" kern="1200" dirty="0">
                <a:solidFill>
                  <a:schemeClr val="tx1"/>
                </a:solidFill>
                <a:effectLst/>
                <a:latin typeface="+mn-lt"/>
                <a:ea typeface="+mn-ea"/>
                <a:cs typeface="+mn-cs"/>
              </a:rPr>
              <a:t> p</a:t>
            </a:r>
            <a:r>
              <a:rPr lang="zh-CN" altLang="zh-CN" sz="1200" kern="1200" dirty="0">
                <a:solidFill>
                  <a:schemeClr val="tx1"/>
                </a:solidFill>
                <a:effectLst/>
                <a:latin typeface="+mn-lt"/>
                <a:ea typeface="+mn-ea"/>
                <a:cs typeface="+mn-cs"/>
              </a:rPr>
              <a:t>。相反，对于可用的表达式方程组，我们希望得到具有最大可用表达式集合的解。因此，我们首先给出较大的近似值，然后逐步消减。</a:t>
            </a:r>
          </a:p>
          <a:p>
            <a:r>
              <a:rPr lang="zh-CN" altLang="zh-CN" sz="1200" kern="1200" dirty="0">
                <a:solidFill>
                  <a:schemeClr val="tx1"/>
                </a:solidFill>
                <a:effectLst/>
                <a:latin typeface="+mn-lt"/>
                <a:ea typeface="+mn-ea"/>
                <a:cs typeface="+mn-cs"/>
              </a:rPr>
              <a:t>首先，我们假设在除了入口块的末尾之外的所有地方，所有表达式（即集合</a:t>
            </a:r>
            <a:r>
              <a:rPr lang="en-US" altLang="zh-CN" sz="1200" kern="1200" dirty="0">
                <a:solidFill>
                  <a:schemeClr val="tx1"/>
                </a:solidFill>
                <a:effectLst/>
                <a:latin typeface="+mn-lt"/>
                <a:ea typeface="+mn-ea"/>
                <a:cs typeface="+mn-cs"/>
              </a:rPr>
              <a:t> U </a:t>
            </a:r>
            <a:r>
              <a:rPr lang="zh-CN" altLang="zh-CN" sz="1200" kern="1200" dirty="0">
                <a:solidFill>
                  <a:schemeClr val="tx1"/>
                </a:solidFill>
                <a:effectLst/>
                <a:latin typeface="+mn-lt"/>
                <a:ea typeface="+mn-ea"/>
                <a:cs typeface="+mn-cs"/>
              </a:rPr>
              <a:t>）都是可用的。只有当我们发现有一条路径使得某个表达式不可用时，我们才删除这个表达式。这种方法看起来不是那么显而易见，但是我们可以得到了一组真正可用的表达式集合。在处理可用表达式时，保守的做法是生成可用表达式的精确集合的子集。之所以说子集是保守的，是因为我们将这个信息用于把一个可用表达式的计算替换为之前计算得到的值。不知道一个表达式可用只会阻碍我们改进代码，而把一个不可用的表达式认为可用则可能导致我们更改程序的计算结果。</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72</a:t>
            </a:fld>
            <a:endParaRPr lang="zh-CN" altLang="en-US"/>
          </a:p>
        </p:txBody>
      </p:sp>
    </p:spTree>
    <p:extLst>
      <p:ext uri="{BB962C8B-B14F-4D97-AF65-F5344CB8AC3E}">
        <p14:creationId xmlns:p14="http://schemas.microsoft.com/office/powerpoint/2010/main" val="2650977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23139"/>
            <a:ext cx="3868743" cy="1153186"/>
          </a:xfrm>
          <a:prstGeom prst="rect">
            <a:avLst/>
          </a:prstGeom>
        </p:spPr>
      </p:pic>
      <p:sp>
        <p:nvSpPr>
          <p:cNvPr id="2" name="Holder 2"/>
          <p:cNvSpPr>
            <a:spLocks noGrp="1"/>
          </p:cNvSpPr>
          <p:nvPr>
            <p:ph type="ctrTitle"/>
          </p:nvPr>
        </p:nvSpPr>
        <p:spPr>
          <a:xfrm>
            <a:off x="670878" y="1544828"/>
            <a:ext cx="7802242" cy="1775460"/>
          </a:xfrm>
          <a:prstGeom prst="rect">
            <a:avLst/>
          </a:prstGeom>
        </p:spPr>
        <p:txBody>
          <a:bodyPr wrap="square" lIns="0" tIns="0" rIns="0" bIns="0">
            <a:spAutoFit/>
          </a:bodyPr>
          <a:lstStyle>
            <a:lvl1pPr>
              <a:defRPr sz="4800" b="1" i="0">
                <a:solidFill>
                  <a:srgbClr val="262626"/>
                </a:solidFill>
                <a:latin typeface="Palatino Linotype" panose="02040502050505030304"/>
                <a:cs typeface="Palatino Linotype" panose="02040502050505030304"/>
              </a:defRPr>
            </a:lvl1pPr>
          </a:lstStyle>
          <a:p>
            <a:endParaRPr/>
          </a:p>
        </p:txBody>
      </p:sp>
      <p:sp>
        <p:nvSpPr>
          <p:cNvPr id="3" name="Holder 3"/>
          <p:cNvSpPr>
            <a:spLocks noGrp="1"/>
          </p:cNvSpPr>
          <p:nvPr>
            <p:ph type="subTitle" idx="4"/>
          </p:nvPr>
        </p:nvSpPr>
        <p:spPr>
          <a:xfrm>
            <a:off x="2519840" y="3656076"/>
            <a:ext cx="4104319" cy="1348739"/>
          </a:xfrm>
          <a:prstGeom prst="rect">
            <a:avLst/>
          </a:prstGeom>
        </p:spPr>
        <p:txBody>
          <a:bodyPr wrap="square" lIns="0" tIns="0" rIns="0" bIns="0">
            <a:spAutoFit/>
          </a:bodyPr>
          <a:lstStyle>
            <a:lvl1pPr>
              <a:defRPr sz="3200" b="0" i="0" u="heavy">
                <a:solidFill>
                  <a:srgbClr val="F0AD20"/>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5" name="Holder 5"/>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p:txBody>
          <a:bodyPr lIns="0" tIns="0" rIns="0" bIns="0"/>
          <a:lstStyle>
            <a:lvl1pPr>
              <a:defRPr sz="2800" b="0" i="0">
                <a:solidFill>
                  <a:srgbClr val="A6A6A6"/>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5" name="Holder 5"/>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Holder 6"/>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7" name="Holder 7"/>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4" name="Holder 4"/>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5" name="Holder 5"/>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3" name="Holder 3"/>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4" name="Holder 4"/>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15975" y="444500"/>
            <a:ext cx="7512050" cy="1120140"/>
          </a:xfrm>
          <a:prstGeom prst="rect">
            <a:avLst/>
          </a:prstGeom>
        </p:spPr>
        <p:txBody>
          <a:bodyPr wrap="square" lIns="0" tIns="0" rIns="0" bIns="0">
            <a:spAutoFit/>
          </a:bodyPr>
          <a:lstStyle>
            <a:lvl1pPr>
              <a:defRPr sz="36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a:xfrm>
            <a:off x="707390" y="1829307"/>
            <a:ext cx="7733030" cy="3164840"/>
          </a:xfrm>
          <a:prstGeom prst="rect">
            <a:avLst/>
          </a:prstGeom>
        </p:spPr>
        <p:txBody>
          <a:bodyPr wrap="square" lIns="0" tIns="0" rIns="0" bIns="0">
            <a:spAutoFit/>
          </a:bodyPr>
          <a:lstStyle>
            <a:lvl1pPr>
              <a:defRPr sz="2800" b="0" i="0">
                <a:solidFill>
                  <a:srgbClr val="A6A6A6"/>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5" name="Holder 5"/>
          <p:cNvSpPr>
            <a:spLocks noGrp="1"/>
          </p:cNvSpPr>
          <p:nvPr>
            <p:ph type="dt" sz="half" idx="6"/>
          </p:nvPr>
        </p:nvSpPr>
        <p:spPr>
          <a:xfrm>
            <a:off x="707390" y="6414037"/>
            <a:ext cx="617855" cy="18415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a:xfrm>
            <a:off x="8232140" y="6414037"/>
            <a:ext cx="228600" cy="23114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iuyp1@sustech.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www.jianshu.com/p/ebc1c72b881c" TargetMode="External"/><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marR="5080" indent="1068070">
              <a:lnSpc>
                <a:spcPct val="120000"/>
              </a:lnSpc>
              <a:spcBef>
                <a:spcPts val="100"/>
              </a:spcBef>
              <a:tabLst>
                <a:tab pos="4077970" algn="l"/>
              </a:tabLst>
            </a:pPr>
            <a:r>
              <a:rPr dirty="0"/>
              <a:t>Chapter</a:t>
            </a:r>
            <a:r>
              <a:rPr spc="-5" dirty="0"/>
              <a:t> </a:t>
            </a:r>
            <a:r>
              <a:rPr dirty="0"/>
              <a:t>8:	Machine- </a:t>
            </a:r>
            <a:r>
              <a:rPr spc="5" dirty="0"/>
              <a:t> </a:t>
            </a:r>
            <a:r>
              <a:rPr dirty="0"/>
              <a:t>Independent</a:t>
            </a:r>
            <a:r>
              <a:rPr spc="-90" dirty="0"/>
              <a:t> </a:t>
            </a:r>
            <a:r>
              <a:rPr dirty="0"/>
              <a:t>Optimizations</a:t>
            </a:r>
          </a:p>
        </p:txBody>
      </p:sp>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a:t>
            </a:fld>
            <a:endParaRPr dirty="0"/>
          </a:p>
        </p:txBody>
      </p:sp>
      <p:sp>
        <p:nvSpPr>
          <p:cNvPr id="3" name="object 3"/>
          <p:cNvSpPr txBox="1">
            <a:spLocks noGrp="1"/>
          </p:cNvSpPr>
          <p:nvPr>
            <p:ph type="subTitle" idx="4"/>
          </p:nvPr>
        </p:nvSpPr>
        <p:spPr>
          <a:xfrm>
            <a:off x="2519840" y="3656076"/>
            <a:ext cx="4104319" cy="1351280"/>
          </a:xfrm>
          <a:prstGeom prst="rect">
            <a:avLst/>
          </a:prstGeom>
        </p:spPr>
        <p:txBody>
          <a:bodyPr vert="horz" wrap="square" lIns="0" tIns="12700" rIns="0" bIns="0" rtlCol="0">
            <a:spAutoFit/>
          </a:bodyPr>
          <a:lstStyle/>
          <a:p>
            <a:pPr marL="12700" marR="5080" indent="1010920">
              <a:lnSpc>
                <a:spcPct val="136000"/>
              </a:lnSpc>
              <a:spcBef>
                <a:spcPts val="100"/>
              </a:spcBef>
            </a:pPr>
            <a:r>
              <a:rPr lang="en-US" u="none" spc="-45" dirty="0">
                <a:solidFill>
                  <a:srgbClr val="000000"/>
                </a:solidFill>
              </a:rPr>
              <a:t>Yanhui Guo</a:t>
            </a:r>
            <a:r>
              <a:rPr u="none" dirty="0">
                <a:solidFill>
                  <a:srgbClr val="000000"/>
                </a:solidFill>
              </a:rPr>
              <a:t> </a:t>
            </a:r>
            <a:r>
              <a:rPr u="none" spc="5" dirty="0">
                <a:solidFill>
                  <a:srgbClr val="000000"/>
                </a:solidFill>
              </a:rPr>
              <a:t> </a:t>
            </a:r>
            <a:r>
              <a:rPr lang="en-US" u="none" spc="5" dirty="0">
                <a:solidFill>
                  <a:srgbClr val="000000"/>
                </a:solidFill>
              </a:rPr>
              <a:t>    </a:t>
            </a:r>
            <a:r>
              <a:rPr spc="-5" dirty="0">
                <a:hlinkClick r:id="rId3"/>
              </a:rPr>
              <a:t>yhguo@bupt.edu.cn</a:t>
            </a:r>
            <a:endParaRPr spc="-5" dirty="0"/>
          </a:p>
        </p:txBody>
      </p:sp>
      <p:pic>
        <p:nvPicPr>
          <p:cNvPr id="7" name="图片 6"/>
          <p:cNvPicPr>
            <a:picLocks noChangeAspect="1"/>
          </p:cNvPicPr>
          <p:nvPr/>
        </p:nvPicPr>
        <p:blipFill>
          <a:blip r:embed="rId4"/>
          <a:stretch>
            <a:fillRect/>
          </a:stretch>
        </p:blipFill>
        <p:spPr>
          <a:xfrm>
            <a:off x="0" y="0"/>
            <a:ext cx="4009390" cy="1238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a:t>
            </a:fld>
            <a:endParaRPr dirty="0"/>
          </a:p>
        </p:txBody>
      </p:sp>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p:nvPr/>
        </p:nvSpPr>
        <p:spPr>
          <a:xfrm>
            <a:off x="707390" y="1829307"/>
            <a:ext cx="6256020" cy="36652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800" spc="-10" dirty="0">
                <a:latin typeface="Palatino Linotype" panose="02040502050505030304"/>
                <a:cs typeface="Palatino Linotype" panose="02040502050505030304"/>
              </a:rPr>
              <a:t>Introduction</a:t>
            </a:r>
            <a:endParaRPr sz="2800">
              <a:latin typeface="Palatino Linotype" panose="02040502050505030304"/>
              <a:cs typeface="Palatino Linotype" panose="02040502050505030304"/>
            </a:endParaRPr>
          </a:p>
          <a:p>
            <a:pPr>
              <a:lnSpc>
                <a:spcPct val="100000"/>
              </a:lnSpc>
              <a:spcBef>
                <a:spcPts val="5"/>
              </a:spcBef>
              <a:buFont typeface="Arial MT"/>
              <a:buChar char="•"/>
            </a:pPr>
            <a:endParaRPr sz="3800">
              <a:latin typeface="Palatino Linotype" panose="02040502050505030304"/>
              <a:cs typeface="Palatino Linotype" panose="02040502050505030304"/>
            </a:endParaRPr>
          </a:p>
          <a:p>
            <a:pPr marL="243205" indent="-230505">
              <a:lnSpc>
                <a:spcPct val="100000"/>
              </a:lnSpc>
              <a:spcBef>
                <a:spcPts val="5"/>
              </a:spcBef>
              <a:buFont typeface="Arial MT"/>
              <a:buChar char="•"/>
              <a:tabLst>
                <a:tab pos="242570" algn="l"/>
              </a:tabLst>
            </a:pPr>
            <a:r>
              <a:rPr sz="2800" spc="-5" dirty="0">
                <a:latin typeface="Palatino Linotype" panose="02040502050505030304"/>
                <a:cs typeface="Palatino Linotype" panose="02040502050505030304"/>
              </a:rPr>
              <a:t>The</a:t>
            </a:r>
            <a:r>
              <a:rPr sz="2800" spc="-2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Principal</a:t>
            </a:r>
            <a:r>
              <a:rPr sz="2800" spc="-2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Sources</a:t>
            </a:r>
            <a:r>
              <a:rPr sz="2800" spc="-1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of</a:t>
            </a:r>
            <a:r>
              <a:rPr sz="2800" spc="-1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Optimization</a:t>
            </a:r>
            <a:endParaRPr sz="2800">
              <a:latin typeface="Palatino Linotype" panose="02040502050505030304"/>
              <a:cs typeface="Palatino Linotype" panose="02040502050505030304"/>
            </a:endParaRPr>
          </a:p>
          <a:p>
            <a:pPr>
              <a:lnSpc>
                <a:spcPct val="100000"/>
              </a:lnSpc>
              <a:spcBef>
                <a:spcPts val="45"/>
              </a:spcBef>
              <a:buFont typeface="Arial MT"/>
              <a:buChar char="•"/>
            </a:pPr>
            <a:endParaRPr sz="3700">
              <a:latin typeface="Palatino Linotype" panose="02040502050505030304"/>
              <a:cs typeface="Palatino Linotype" panose="02040502050505030304"/>
            </a:endParaRPr>
          </a:p>
          <a:p>
            <a:pPr marL="243205" indent="-230505">
              <a:lnSpc>
                <a:spcPct val="100000"/>
              </a:lnSpc>
              <a:buFont typeface="Arial MT"/>
              <a:buChar char="•"/>
              <a:tabLst>
                <a:tab pos="242570" algn="l"/>
              </a:tabLst>
            </a:pPr>
            <a:r>
              <a:rPr sz="2800" spc="-10" dirty="0">
                <a:latin typeface="Palatino Linotype" panose="02040502050505030304"/>
                <a:cs typeface="Palatino Linotype" panose="02040502050505030304"/>
              </a:rPr>
              <a:t>Introduction</a:t>
            </a:r>
            <a:r>
              <a:rPr sz="2800" spc="-5" dirty="0">
                <a:latin typeface="Palatino Linotype" panose="02040502050505030304"/>
                <a:cs typeface="Palatino Linotype" panose="02040502050505030304"/>
              </a:rPr>
              <a:t> to</a:t>
            </a:r>
            <a:r>
              <a:rPr sz="280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9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Analysis</a:t>
            </a:r>
            <a:endParaRPr sz="2800">
              <a:latin typeface="Palatino Linotype" panose="02040502050505030304"/>
              <a:cs typeface="Palatino Linotype" panose="02040502050505030304"/>
            </a:endParaRPr>
          </a:p>
          <a:p>
            <a:pPr>
              <a:lnSpc>
                <a:spcPct val="100000"/>
              </a:lnSpc>
              <a:spcBef>
                <a:spcPts val="50"/>
              </a:spcBef>
              <a:buFont typeface="Arial MT"/>
              <a:buChar char="•"/>
            </a:pPr>
            <a:endParaRPr sz="3700">
              <a:latin typeface="Palatino Linotype" panose="02040502050505030304"/>
              <a:cs typeface="Palatino Linotype" panose="02040502050505030304"/>
            </a:endParaRPr>
          </a:p>
          <a:p>
            <a:pPr marL="243205" indent="-230505">
              <a:lnSpc>
                <a:spcPct val="100000"/>
              </a:lnSpc>
              <a:buFont typeface="Arial MT"/>
              <a:buChar char="•"/>
              <a:tabLst>
                <a:tab pos="242570" algn="l"/>
              </a:tabLst>
            </a:pPr>
            <a:r>
              <a:rPr sz="2800" spc="-5" dirty="0">
                <a:latin typeface="Palatino Linotype" panose="02040502050505030304"/>
                <a:cs typeface="Palatino Linotype" panose="02040502050505030304"/>
              </a:rPr>
              <a:t>Classic</a:t>
            </a:r>
            <a:r>
              <a:rPr sz="2800" spc="-2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1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a:t>
            </a:fld>
            <a:endParaRPr dirty="0"/>
          </a:p>
        </p:txBody>
      </p:sp>
      <p:sp>
        <p:nvSpPr>
          <p:cNvPr id="2" name="object 2"/>
          <p:cNvSpPr txBox="1">
            <a:spLocks noGrp="1"/>
          </p:cNvSpPr>
          <p:nvPr>
            <p:ph type="title"/>
          </p:nvPr>
        </p:nvSpPr>
        <p:spPr>
          <a:xfrm>
            <a:off x="707390" y="524763"/>
            <a:ext cx="2962910" cy="635000"/>
          </a:xfrm>
          <a:prstGeom prst="rect">
            <a:avLst/>
          </a:prstGeom>
        </p:spPr>
        <p:txBody>
          <a:bodyPr vert="horz" wrap="square" lIns="0" tIns="12700" rIns="0" bIns="0" rtlCol="0">
            <a:spAutoFit/>
          </a:bodyPr>
          <a:lstStyle/>
          <a:p>
            <a:pPr marL="12700">
              <a:lnSpc>
                <a:spcPct val="100000"/>
              </a:lnSpc>
              <a:spcBef>
                <a:spcPts val="100"/>
              </a:spcBef>
            </a:pPr>
            <a:r>
              <a:rPr sz="4000" spc="5" dirty="0"/>
              <a:t>I</a:t>
            </a:r>
            <a:r>
              <a:rPr sz="4000" spc="-10" dirty="0"/>
              <a:t>n</a:t>
            </a:r>
            <a:r>
              <a:rPr sz="4000" spc="5" dirty="0"/>
              <a:t>tr</a:t>
            </a:r>
            <a:r>
              <a:rPr sz="4000" dirty="0"/>
              <a:t>o</a:t>
            </a:r>
            <a:r>
              <a:rPr sz="4000" spc="-5" dirty="0"/>
              <a:t>duc</a:t>
            </a:r>
            <a:r>
              <a:rPr sz="4000" spc="5" dirty="0"/>
              <a:t>ti</a:t>
            </a:r>
            <a:r>
              <a:rPr sz="4000" dirty="0"/>
              <a:t>on</a:t>
            </a:r>
            <a:endParaRPr sz="4000"/>
          </a:p>
        </p:txBody>
      </p:sp>
      <p:sp>
        <p:nvSpPr>
          <p:cNvPr id="3" name="object 3"/>
          <p:cNvSpPr txBox="1"/>
          <p:nvPr/>
        </p:nvSpPr>
        <p:spPr>
          <a:xfrm>
            <a:off x="707390" y="1634235"/>
            <a:ext cx="7409815" cy="419544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200" dirty="0">
                <a:latin typeface="Palatino Linotype" panose="02040502050505030304"/>
                <a:cs typeface="Palatino Linotype" panose="02040502050505030304"/>
              </a:rPr>
              <a:t>Code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optimization</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code </a:t>
            </a:r>
            <a:r>
              <a:rPr sz="2200" spc="-10" dirty="0">
                <a:latin typeface="Palatino Linotype" panose="02040502050505030304"/>
                <a:cs typeface="Palatino Linotype" panose="02040502050505030304"/>
              </a:rPr>
              <a:t>improvement)</a:t>
            </a:r>
            <a:endParaRPr sz="2200">
              <a:latin typeface="Palatino Linotype" panose="02040502050505030304"/>
              <a:cs typeface="Palatino Linotype" panose="02040502050505030304"/>
            </a:endParaRPr>
          </a:p>
          <a:p>
            <a:pPr marL="698500" lvl="1" indent="-228600">
              <a:lnSpc>
                <a:spcPct val="100000"/>
              </a:lnSpc>
              <a:spcBef>
                <a:spcPts val="1455"/>
              </a:spcBef>
              <a:buFont typeface="Wingdings" panose="05000000000000000000"/>
              <a:buChar char=""/>
              <a:tabLst>
                <a:tab pos="698500" algn="l"/>
              </a:tabLst>
            </a:pPr>
            <a:r>
              <a:rPr sz="1800" spc="-5" dirty="0">
                <a:latin typeface="Palatino Linotype" panose="02040502050505030304"/>
                <a:cs typeface="Palatino Linotype" panose="02040502050505030304"/>
              </a:rPr>
              <a:t>Eliminating</a:t>
            </a:r>
            <a:r>
              <a:rPr sz="1800"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unnecessary</a:t>
            </a:r>
            <a:r>
              <a:rPr sz="1800" spc="5" dirty="0">
                <a:solidFill>
                  <a:srgbClr val="FF0000"/>
                </a:solidFill>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instructions</a:t>
            </a:r>
            <a:r>
              <a:rPr sz="1800" dirty="0">
                <a:latin typeface="Palatino Linotype" panose="02040502050505030304"/>
                <a:cs typeface="Palatino Linotype" panose="02040502050505030304"/>
              </a:rPr>
              <a:t> in</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object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code</a:t>
            </a:r>
            <a:endParaRPr sz="1800">
              <a:latin typeface="Palatino Linotype" panose="02040502050505030304"/>
              <a:cs typeface="Palatino Linotype" panose="02040502050505030304"/>
            </a:endParaRPr>
          </a:p>
          <a:p>
            <a:pPr marL="698500" marR="424815" lvl="1" indent="-228600">
              <a:lnSpc>
                <a:spcPct val="107000"/>
              </a:lnSpc>
              <a:spcBef>
                <a:spcPts val="1295"/>
              </a:spcBef>
              <a:buFont typeface="Wingdings" panose="05000000000000000000"/>
              <a:buChar char=""/>
              <a:tabLst>
                <a:tab pos="698500" algn="l"/>
              </a:tabLst>
            </a:pPr>
            <a:r>
              <a:rPr sz="1800" dirty="0">
                <a:latin typeface="Palatino Linotype" panose="02040502050505030304"/>
                <a:cs typeface="Palatino Linotype" panose="02040502050505030304"/>
              </a:rPr>
              <a:t>Replacing one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sequence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instructions</a:t>
            </a:r>
            <a:r>
              <a:rPr sz="1800" dirty="0">
                <a:latin typeface="Palatino Linotype" panose="02040502050505030304"/>
                <a:cs typeface="Palatino Linotype" panose="02040502050505030304"/>
              </a:rPr>
              <a:t> by a</a:t>
            </a:r>
            <a:r>
              <a:rPr sz="1800" spc="5"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faster</a:t>
            </a:r>
            <a:r>
              <a:rPr sz="1800" spc="5" dirty="0">
                <a:solidFill>
                  <a:srgbClr val="FF0000"/>
                </a:solidFill>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sequence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instructions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that</a:t>
            </a:r>
            <a:r>
              <a:rPr sz="1800" dirty="0">
                <a:solidFill>
                  <a:srgbClr val="0432FF"/>
                </a:solidFill>
                <a:latin typeface="Palatino Linotype" panose="02040502050505030304"/>
                <a:cs typeface="Palatino Linotype" panose="02040502050505030304"/>
              </a:rPr>
              <a:t> </a:t>
            </a:r>
            <a:r>
              <a:rPr sz="1800" u="sng" dirty="0">
                <a:solidFill>
                  <a:srgbClr val="0432FF"/>
                </a:solidFill>
                <a:uFill>
                  <a:solidFill>
                    <a:srgbClr val="0432FF"/>
                  </a:solidFill>
                </a:uFill>
                <a:latin typeface="Palatino Linotype" panose="02040502050505030304"/>
                <a:cs typeface="Palatino Linotype" panose="02040502050505030304"/>
              </a:rPr>
              <a:t>does</a:t>
            </a:r>
            <a:r>
              <a:rPr sz="1800" u="sng" spc="-5" dirty="0">
                <a:solidFill>
                  <a:srgbClr val="0432FF"/>
                </a:solidFill>
                <a:uFill>
                  <a:solidFill>
                    <a:srgbClr val="0432FF"/>
                  </a:solidFill>
                </a:uFill>
                <a:latin typeface="Palatino Linotype" panose="02040502050505030304"/>
                <a:cs typeface="Palatino Linotype" panose="02040502050505030304"/>
              </a:rPr>
              <a:t> </a:t>
            </a:r>
            <a:r>
              <a:rPr sz="1800" u="sng" dirty="0">
                <a:solidFill>
                  <a:srgbClr val="0432FF"/>
                </a:solidFill>
                <a:uFill>
                  <a:solidFill>
                    <a:srgbClr val="0432FF"/>
                  </a:solidFill>
                </a:uFill>
                <a:latin typeface="Palatino Linotype" panose="02040502050505030304"/>
                <a:cs typeface="Palatino Linotype" panose="02040502050505030304"/>
              </a:rPr>
              <a:t>the </a:t>
            </a:r>
            <a:r>
              <a:rPr sz="1800" u="sng" spc="-5" dirty="0">
                <a:solidFill>
                  <a:srgbClr val="0432FF"/>
                </a:solidFill>
                <a:uFill>
                  <a:solidFill>
                    <a:srgbClr val="0432FF"/>
                  </a:solidFill>
                </a:uFill>
                <a:latin typeface="Palatino Linotype" panose="02040502050505030304"/>
                <a:cs typeface="Palatino Linotype" panose="02040502050505030304"/>
              </a:rPr>
              <a:t>same</a:t>
            </a:r>
            <a:r>
              <a:rPr sz="1800" u="sng" dirty="0">
                <a:solidFill>
                  <a:srgbClr val="0432FF"/>
                </a:solidFill>
                <a:uFill>
                  <a:solidFill>
                    <a:srgbClr val="0432FF"/>
                  </a:solidFill>
                </a:uFill>
                <a:latin typeface="Palatino Linotype" panose="02040502050505030304"/>
                <a:cs typeface="Palatino Linotype" panose="02040502050505030304"/>
              </a:rPr>
              <a:t> thing</a:t>
            </a:r>
            <a:endParaRPr sz="1800">
              <a:latin typeface="Palatino Linotype" panose="02040502050505030304"/>
              <a:cs typeface="Palatino Linotype" panose="02040502050505030304"/>
            </a:endParaRPr>
          </a:p>
          <a:p>
            <a:pPr lvl="1">
              <a:lnSpc>
                <a:spcPct val="100000"/>
              </a:lnSpc>
              <a:spcBef>
                <a:spcPts val="60"/>
              </a:spcBef>
              <a:buFont typeface="Wingdings" panose="05000000000000000000"/>
              <a:buChar char=""/>
            </a:pPr>
            <a:endParaRPr sz="190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2200" spc="-5" dirty="0">
                <a:latin typeface="Palatino Linotype" panose="02040502050505030304"/>
                <a:cs typeface="Palatino Linotype" panose="02040502050505030304"/>
              </a:rPr>
              <a:t>Global</a:t>
            </a:r>
            <a:r>
              <a:rPr sz="2200" spc="-4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optimizations</a:t>
            </a:r>
            <a:endParaRPr sz="2200">
              <a:latin typeface="Palatino Linotype" panose="02040502050505030304"/>
              <a:cs typeface="Palatino Linotype" panose="02040502050505030304"/>
            </a:endParaRPr>
          </a:p>
          <a:p>
            <a:pPr marL="698500" lvl="1" indent="-228600">
              <a:lnSpc>
                <a:spcPct val="100000"/>
              </a:lnSpc>
              <a:spcBef>
                <a:spcPts val="1455"/>
              </a:spcBef>
              <a:buFont typeface="Wingdings" panose="05000000000000000000"/>
              <a:buChar char=""/>
              <a:tabLst>
                <a:tab pos="698500" algn="l"/>
              </a:tabLst>
            </a:pPr>
            <a:r>
              <a:rPr sz="1800" spc="-5" dirty="0">
                <a:latin typeface="Palatino Linotype" panose="02040502050505030304"/>
                <a:cs typeface="Palatino Linotype" panose="02040502050505030304"/>
              </a:rPr>
              <a:t>Most</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global</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optimizations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are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based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on </a:t>
            </a:r>
            <a:r>
              <a:rPr sz="1800" spc="-5" dirty="0">
                <a:solidFill>
                  <a:srgbClr val="FF0000"/>
                </a:solidFill>
                <a:latin typeface="Palatino Linotype" panose="02040502050505030304"/>
                <a:cs typeface="Palatino Linotype" panose="02040502050505030304"/>
              </a:rPr>
              <a:t>data-flow</a:t>
            </a:r>
            <a:r>
              <a:rPr sz="180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analyses</a:t>
            </a:r>
            <a:endParaRPr sz="1800">
              <a:latin typeface="Palatino Linotype" panose="02040502050505030304"/>
              <a:cs typeface="Palatino Linotype" panose="02040502050505030304"/>
            </a:endParaRPr>
          </a:p>
          <a:p>
            <a:pPr marL="698500" lvl="1" indent="-228600">
              <a:lnSpc>
                <a:spcPct val="100000"/>
              </a:lnSpc>
              <a:spcBef>
                <a:spcPts val="1440"/>
              </a:spcBef>
              <a:buFont typeface="Wingdings" panose="05000000000000000000"/>
              <a:buChar char=""/>
              <a:tabLst>
                <a:tab pos="698500" algn="l"/>
              </a:tabLst>
            </a:pPr>
            <a:r>
              <a:rPr sz="1800" spc="-5" dirty="0">
                <a:latin typeface="Palatino Linotype" panose="02040502050505030304"/>
                <a:cs typeface="Palatino Linotype" panose="02040502050505030304"/>
              </a:rPr>
              <a:t>Data-flow analyses:</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algorithms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gather</a:t>
            </a:r>
            <a:r>
              <a:rPr sz="1800" dirty="0">
                <a:latin typeface="Palatino Linotype" panose="02040502050505030304"/>
                <a:cs typeface="Palatino Linotype" panose="02040502050505030304"/>
              </a:rPr>
              <a:t> info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about 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program</a:t>
            </a:r>
            <a:endParaRPr sz="1800">
              <a:latin typeface="Palatino Linotype" panose="02040502050505030304"/>
              <a:cs typeface="Palatino Linotype" panose="02040502050505030304"/>
            </a:endParaRPr>
          </a:p>
          <a:p>
            <a:pPr lvl="1">
              <a:lnSpc>
                <a:spcPct val="100000"/>
              </a:lnSpc>
              <a:spcBef>
                <a:spcPts val="25"/>
              </a:spcBef>
              <a:buFont typeface="Wingdings" panose="05000000000000000000"/>
              <a:buChar char=""/>
            </a:pPr>
            <a:endParaRPr sz="1750">
              <a:latin typeface="Palatino Linotype" panose="02040502050505030304"/>
              <a:cs typeface="Palatino Linotype" panose="02040502050505030304"/>
            </a:endParaRPr>
          </a:p>
          <a:p>
            <a:pPr marL="242570" marR="5080" indent="-230505">
              <a:lnSpc>
                <a:spcPct val="110000"/>
              </a:lnSpc>
              <a:buFont typeface="Arial MT"/>
              <a:buChar char="•"/>
              <a:tabLst>
                <a:tab pos="242570" algn="l"/>
                <a:tab pos="242570" algn="l"/>
              </a:tabLst>
            </a:pPr>
            <a:r>
              <a:rPr sz="2200" dirty="0">
                <a:latin typeface="Palatino Linotype" panose="02040502050505030304"/>
                <a:cs typeface="Palatino Linotype" panose="02040502050505030304"/>
              </a:rPr>
              <a:t>A </a:t>
            </a:r>
            <a:r>
              <a:rPr sz="2200" spc="-5" dirty="0">
                <a:latin typeface="Palatino Linotype" panose="02040502050505030304"/>
                <a:cs typeface="Palatino Linotype" panose="02040502050505030304"/>
              </a:rPr>
              <a:t>compilers knows only how to apply </a:t>
            </a:r>
            <a:r>
              <a:rPr sz="2200" spc="-10" dirty="0">
                <a:latin typeface="Palatino Linotype" panose="02040502050505030304"/>
                <a:cs typeface="Palatino Linotype" panose="02040502050505030304"/>
              </a:rPr>
              <a:t>relatively </a:t>
            </a:r>
            <a:r>
              <a:rPr sz="2200" spc="-10" dirty="0">
                <a:solidFill>
                  <a:srgbClr val="FF0000"/>
                </a:solidFill>
                <a:latin typeface="Palatino Linotype" panose="02040502050505030304"/>
                <a:cs typeface="Palatino Linotype" panose="02040502050505030304"/>
              </a:rPr>
              <a:t>low-level </a:t>
            </a:r>
            <a:r>
              <a:rPr sz="2200" spc="-535"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semantic</a:t>
            </a:r>
            <a:r>
              <a:rPr sz="2200" spc="-1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transformations</a:t>
            </a:r>
            <a:r>
              <a:rPr sz="220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 optimize code</a:t>
            </a:r>
            <a:endParaRPr sz="2200">
              <a:latin typeface="Palatino Linotype" panose="02040502050505030304"/>
              <a:cs typeface="Palatino Linotype" panose="0204050205050503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a:t>
            </a:fld>
            <a:endParaRPr dirty="0"/>
          </a:p>
        </p:txBody>
      </p:sp>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p:nvPr/>
        </p:nvSpPr>
        <p:spPr>
          <a:xfrm>
            <a:off x="707390" y="1829307"/>
            <a:ext cx="6256020" cy="3665220"/>
          </a:xfrm>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z="2800" spc="-10" dirty="0">
                <a:solidFill>
                  <a:srgbClr val="A6A6A6"/>
                </a:solidFill>
                <a:latin typeface="Palatino Linotype" panose="02040502050505030304"/>
                <a:cs typeface="Palatino Linotype" panose="02040502050505030304"/>
              </a:rPr>
              <a:t>Introduction</a:t>
            </a:r>
            <a:endParaRPr sz="2800">
              <a:latin typeface="Palatino Linotype" panose="02040502050505030304"/>
              <a:cs typeface="Palatino Linotype" panose="02040502050505030304"/>
            </a:endParaRPr>
          </a:p>
          <a:p>
            <a:pPr>
              <a:lnSpc>
                <a:spcPct val="100000"/>
              </a:lnSpc>
              <a:spcBef>
                <a:spcPts val="5"/>
              </a:spcBef>
              <a:buFont typeface="Arial MT"/>
              <a:buChar char="•"/>
            </a:pPr>
            <a:endParaRPr sz="3800">
              <a:latin typeface="Palatino Linotype" panose="02040502050505030304"/>
              <a:cs typeface="Palatino Linotype" panose="02040502050505030304"/>
            </a:endParaRPr>
          </a:p>
          <a:p>
            <a:pPr marL="243205" indent="-230505">
              <a:lnSpc>
                <a:spcPct val="100000"/>
              </a:lnSpc>
              <a:spcBef>
                <a:spcPts val="5"/>
              </a:spcBef>
              <a:buFont typeface="Arial MT"/>
              <a:buChar char="•"/>
              <a:tabLst>
                <a:tab pos="242570" algn="l"/>
              </a:tabLst>
            </a:pPr>
            <a:r>
              <a:rPr sz="2800" spc="-5" dirty="0">
                <a:latin typeface="Palatino Linotype" panose="02040502050505030304"/>
                <a:cs typeface="Palatino Linotype" panose="02040502050505030304"/>
              </a:rPr>
              <a:t>The</a:t>
            </a:r>
            <a:r>
              <a:rPr sz="2800" spc="-2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Principal</a:t>
            </a:r>
            <a:r>
              <a:rPr sz="2800" spc="-2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Sources</a:t>
            </a:r>
            <a:r>
              <a:rPr sz="2800" spc="-1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of</a:t>
            </a:r>
            <a:r>
              <a:rPr sz="2800" spc="-1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Optimization</a:t>
            </a:r>
            <a:endParaRPr sz="2800">
              <a:latin typeface="Palatino Linotype" panose="02040502050505030304"/>
              <a:cs typeface="Palatino Linotype" panose="02040502050505030304"/>
            </a:endParaRPr>
          </a:p>
          <a:p>
            <a:pPr>
              <a:lnSpc>
                <a:spcPct val="100000"/>
              </a:lnSpc>
              <a:spcBef>
                <a:spcPts val="45"/>
              </a:spcBef>
              <a:buFont typeface="Arial MT"/>
              <a:buChar char="•"/>
            </a:pPr>
            <a:endParaRPr sz="370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Lst>
            </a:pPr>
            <a:r>
              <a:rPr sz="2800" spc="-10" dirty="0">
                <a:solidFill>
                  <a:srgbClr val="A6A6A6"/>
                </a:solidFill>
                <a:latin typeface="Palatino Linotype" panose="02040502050505030304"/>
                <a:cs typeface="Palatino Linotype" panose="02040502050505030304"/>
              </a:rPr>
              <a:t>Introduction</a:t>
            </a:r>
            <a:r>
              <a:rPr sz="2800" spc="-5" dirty="0">
                <a:solidFill>
                  <a:srgbClr val="A6A6A6"/>
                </a:solidFill>
                <a:latin typeface="Palatino Linotype" panose="02040502050505030304"/>
                <a:cs typeface="Palatino Linotype" panose="02040502050505030304"/>
              </a:rPr>
              <a:t> to</a:t>
            </a:r>
            <a:r>
              <a:rPr sz="280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Data-Flow</a:t>
            </a:r>
            <a:r>
              <a:rPr sz="2800" spc="-95"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Analysis</a:t>
            </a:r>
            <a:endParaRPr sz="2800">
              <a:latin typeface="Palatino Linotype" panose="02040502050505030304"/>
              <a:cs typeface="Palatino Linotype" panose="02040502050505030304"/>
            </a:endParaRPr>
          </a:p>
          <a:p>
            <a:pPr>
              <a:lnSpc>
                <a:spcPct val="100000"/>
              </a:lnSpc>
              <a:spcBef>
                <a:spcPts val="50"/>
              </a:spcBef>
              <a:buFont typeface="Arial MT"/>
              <a:buChar char="•"/>
            </a:pPr>
            <a:endParaRPr sz="370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Lst>
            </a:pPr>
            <a:r>
              <a:rPr sz="2800" spc="-5" dirty="0">
                <a:solidFill>
                  <a:srgbClr val="A6A6A6"/>
                </a:solidFill>
                <a:latin typeface="Palatino Linotype" panose="02040502050505030304"/>
                <a:cs typeface="Palatino Linotype" panose="02040502050505030304"/>
              </a:rPr>
              <a:t>Classic</a:t>
            </a:r>
            <a:r>
              <a:rPr sz="2800" spc="-25"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Data-Flow</a:t>
            </a:r>
            <a:r>
              <a:rPr sz="2800" spc="-1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a:t>
            </a:fld>
            <a:endParaRPr dirty="0"/>
          </a:p>
        </p:txBody>
      </p:sp>
      <p:sp>
        <p:nvSpPr>
          <p:cNvPr id="2" name="object 2"/>
          <p:cNvSpPr txBox="1">
            <a:spLocks noGrp="1"/>
          </p:cNvSpPr>
          <p:nvPr>
            <p:ph type="title"/>
          </p:nvPr>
        </p:nvSpPr>
        <p:spPr>
          <a:xfrm>
            <a:off x="707390" y="554227"/>
            <a:ext cx="7193915" cy="574040"/>
          </a:xfrm>
          <a:prstGeom prst="rect">
            <a:avLst/>
          </a:prstGeom>
        </p:spPr>
        <p:txBody>
          <a:bodyPr vert="horz" wrap="square" lIns="0" tIns="12700" rIns="0" bIns="0" rtlCol="0">
            <a:spAutoFit/>
          </a:bodyPr>
          <a:lstStyle/>
          <a:p>
            <a:pPr marL="12700">
              <a:lnSpc>
                <a:spcPct val="100000"/>
              </a:lnSpc>
              <a:spcBef>
                <a:spcPts val="100"/>
              </a:spcBef>
            </a:pPr>
            <a:r>
              <a:rPr spc="-114" dirty="0"/>
              <a:t>Two</a:t>
            </a:r>
            <a:r>
              <a:rPr spc="-20" dirty="0"/>
              <a:t> </a:t>
            </a:r>
            <a:r>
              <a:rPr spc="-5" dirty="0"/>
              <a:t>Major</a:t>
            </a:r>
            <a:r>
              <a:rPr spc="-20" dirty="0"/>
              <a:t> </a:t>
            </a:r>
            <a:r>
              <a:rPr dirty="0"/>
              <a:t>Causes</a:t>
            </a:r>
            <a:r>
              <a:rPr spc="-15" dirty="0"/>
              <a:t> </a:t>
            </a:r>
            <a:r>
              <a:rPr spc="-5" dirty="0"/>
              <a:t>of</a:t>
            </a:r>
            <a:r>
              <a:rPr spc="-20" dirty="0"/>
              <a:t> </a:t>
            </a:r>
            <a:r>
              <a:rPr dirty="0"/>
              <a:t>Redundancy</a:t>
            </a:r>
          </a:p>
        </p:txBody>
      </p:sp>
      <p:sp>
        <p:nvSpPr>
          <p:cNvPr id="3" name="object 3"/>
          <p:cNvSpPr txBox="1"/>
          <p:nvPr/>
        </p:nvSpPr>
        <p:spPr>
          <a:xfrm>
            <a:off x="707390" y="1600708"/>
            <a:ext cx="7628890" cy="4295140"/>
          </a:xfrm>
          <a:prstGeom prst="rect">
            <a:avLst/>
          </a:prstGeom>
        </p:spPr>
        <p:txBody>
          <a:bodyPr vert="horz" wrap="square" lIns="0" tIns="12700" rIns="0" bIns="0" rtlCol="0">
            <a:spAutoFit/>
          </a:bodyPr>
          <a:lstStyle/>
          <a:p>
            <a:pPr marL="469900" marR="5080" indent="-457200">
              <a:lnSpc>
                <a:spcPct val="117000"/>
              </a:lnSpc>
              <a:spcBef>
                <a:spcPts val="100"/>
              </a:spcBef>
              <a:buAutoNum type="arabicPeriod"/>
              <a:tabLst>
                <a:tab pos="469265" algn="l"/>
                <a:tab pos="469900" algn="l"/>
              </a:tabLst>
            </a:pPr>
            <a:r>
              <a:rPr sz="2200" spc="-5" dirty="0">
                <a:latin typeface="Palatino Linotype" panose="02040502050505030304"/>
                <a:cs typeface="Palatino Linotype" panose="02040502050505030304"/>
              </a:rPr>
              <a:t>Redundant operations</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at </a:t>
            </a:r>
            <a:r>
              <a:rPr sz="2200" spc="-5" dirty="0">
                <a:latin typeface="Palatino Linotype" panose="02040502050505030304"/>
                <a:cs typeface="Palatino Linotype" panose="02040502050505030304"/>
              </a:rPr>
              <a:t>the</a:t>
            </a:r>
            <a:r>
              <a:rPr sz="2200" dirty="0">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source</a:t>
            </a:r>
            <a:r>
              <a:rPr sz="2200" dirty="0">
                <a:solidFill>
                  <a:srgbClr val="FF0000"/>
                </a:solidFill>
                <a:latin typeface="Palatino Linotype" panose="02040502050505030304"/>
                <a:cs typeface="Palatino Linotype" panose="02040502050505030304"/>
              </a:rPr>
              <a:t> </a:t>
            </a:r>
            <a:r>
              <a:rPr sz="2200" spc="-15" dirty="0">
                <a:solidFill>
                  <a:srgbClr val="FF0000"/>
                </a:solidFill>
                <a:latin typeface="Palatino Linotype" panose="02040502050505030304"/>
                <a:cs typeface="Palatino Linotype" panose="02040502050505030304"/>
              </a:rPr>
              <a:t>level</a:t>
            </a:r>
            <a:r>
              <a:rPr sz="220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(e.g.,</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introduced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by programmers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for</a:t>
            </a:r>
            <a:r>
              <a:rPr sz="2200" spc="5"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convenience)</a:t>
            </a:r>
            <a:endParaRPr sz="2200">
              <a:latin typeface="Palatino Linotype" panose="02040502050505030304"/>
              <a:cs typeface="Palatino Linotype" panose="02040502050505030304"/>
            </a:endParaRPr>
          </a:p>
          <a:p>
            <a:pPr>
              <a:lnSpc>
                <a:spcPct val="100000"/>
              </a:lnSpc>
              <a:spcBef>
                <a:spcPts val="50"/>
              </a:spcBef>
              <a:buFont typeface="Palatino Linotype" panose="02040502050505030304"/>
              <a:buAutoNum type="arabicPeriod"/>
            </a:pPr>
            <a:endParaRPr sz="2150">
              <a:latin typeface="Palatino Linotype" panose="02040502050505030304"/>
              <a:cs typeface="Palatino Linotype" panose="02040502050505030304"/>
            </a:endParaRPr>
          </a:p>
          <a:p>
            <a:pPr marL="469900" indent="-457200">
              <a:lnSpc>
                <a:spcPct val="100000"/>
              </a:lnSpc>
              <a:buClr>
                <a:srgbClr val="000000"/>
              </a:buClr>
              <a:buAutoNum type="arabicPeriod"/>
              <a:tabLst>
                <a:tab pos="469265" algn="l"/>
                <a:tab pos="469900" algn="l"/>
              </a:tabLst>
            </a:pPr>
            <a:r>
              <a:rPr sz="2200" spc="-5" dirty="0">
                <a:solidFill>
                  <a:srgbClr val="FF0000"/>
                </a:solidFill>
                <a:latin typeface="Palatino Linotype" panose="02040502050505030304"/>
                <a:cs typeface="Palatino Linotype" panose="02040502050505030304"/>
              </a:rPr>
              <a:t>Side effect </a:t>
            </a:r>
            <a:r>
              <a:rPr sz="2200" spc="-5" dirty="0">
                <a:latin typeface="Palatino Linotype" panose="02040502050505030304"/>
                <a:cs typeface="Palatino Linotype" panose="02040502050505030304"/>
              </a:rPr>
              <a:t>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writing</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programs</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a:t>
            </a:r>
            <a:r>
              <a:rPr sz="2200" spc="5"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high-level</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language</a:t>
            </a:r>
            <a:endParaRPr sz="2200">
              <a:latin typeface="Palatino Linotype" panose="02040502050505030304"/>
              <a:cs typeface="Palatino Linotype" panose="02040502050505030304"/>
            </a:endParaRPr>
          </a:p>
          <a:p>
            <a:pPr marL="698500" marR="216535" lvl="1" indent="-228600">
              <a:lnSpc>
                <a:spcPct val="121000"/>
              </a:lnSpc>
              <a:spcBef>
                <a:spcPts val="1225"/>
              </a:spcBef>
              <a:buFont typeface="Wingdings" panose="05000000000000000000"/>
              <a:buChar char=""/>
              <a:tabLst>
                <a:tab pos="698500" algn="l"/>
              </a:tabLst>
            </a:pPr>
            <a:r>
              <a:rPr sz="1800" dirty="0">
                <a:latin typeface="Palatino Linotype" panose="02040502050505030304"/>
                <a:cs typeface="Palatino Linotype" panose="02040502050505030304"/>
              </a:rPr>
              <a:t>In </a:t>
            </a:r>
            <a:r>
              <a:rPr sz="1800" spc="-5" dirty="0">
                <a:latin typeface="Palatino Linotype" panose="02040502050505030304"/>
                <a:cs typeface="Palatino Linotype" panose="02040502050505030304"/>
              </a:rPr>
              <a:t>most</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languages </a:t>
            </a:r>
            <a:r>
              <a:rPr sz="1800" dirty="0">
                <a:latin typeface="Palatino Linotype" panose="02040502050505030304"/>
                <a:cs typeface="Palatino Linotype" panose="02040502050505030304"/>
              </a:rPr>
              <a:t>(other than </a:t>
            </a:r>
            <a:r>
              <a:rPr sz="1800" spc="-5" dirty="0">
                <a:latin typeface="Palatino Linotype" panose="02040502050505030304"/>
                <a:cs typeface="Palatino Linotype" panose="02040502050505030304"/>
              </a:rPr>
              <a:t>C/C++,</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which</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allows </a:t>
            </a:r>
            <a:r>
              <a:rPr sz="1800" dirty="0">
                <a:latin typeface="Palatino Linotype" panose="02040502050505030304"/>
                <a:cs typeface="Palatino Linotype" panose="02040502050505030304"/>
              </a:rPr>
              <a:t>pointer </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arithmetic),</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programmers</a:t>
            </a:r>
            <a:r>
              <a:rPr sz="1800" dirty="0">
                <a:latin typeface="Palatino Linotype" panose="02040502050505030304"/>
                <a:cs typeface="Palatino Linotype" panose="02040502050505030304"/>
              </a:rPr>
              <a:t> can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only</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refer</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10" dirty="0">
                <a:latin typeface="Palatino Linotype" panose="02040502050505030304"/>
                <a:cs typeface="Palatino Linotype" panose="02040502050505030304"/>
              </a:rPr>
              <a:t> </a:t>
            </a:r>
            <a:r>
              <a:rPr sz="1800" spc="-5" dirty="0">
                <a:solidFill>
                  <a:srgbClr val="0432FF"/>
                </a:solidFill>
                <a:latin typeface="Palatino Linotype" panose="02040502050505030304"/>
                <a:cs typeface="Palatino Linotype" panose="02040502050505030304"/>
              </a:rPr>
              <a:t>elements </a:t>
            </a:r>
            <a:r>
              <a:rPr sz="1800" dirty="0">
                <a:solidFill>
                  <a:srgbClr val="0432FF"/>
                </a:solidFill>
                <a:latin typeface="Palatino Linotype" panose="02040502050505030304"/>
                <a:cs typeface="Palatino Linotype" panose="02040502050505030304"/>
              </a:rPr>
              <a:t>of</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an</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array</a:t>
            </a:r>
            <a:r>
              <a:rPr sz="1800" spc="-5" dirty="0">
                <a:solidFill>
                  <a:srgbClr val="0432FF"/>
                </a:solidFill>
                <a:latin typeface="Palatino Linotype" panose="02040502050505030304"/>
                <a:cs typeface="Palatino Linotype" panose="02040502050505030304"/>
              </a:rPr>
              <a:t> </a:t>
            </a:r>
            <a:r>
              <a:rPr sz="1800" dirty="0">
                <a:latin typeface="Palatino Linotype" panose="02040502050505030304"/>
                <a:cs typeface="Palatino Linotype" panose="02040502050505030304"/>
              </a:rPr>
              <a:t>or </a:t>
            </a:r>
            <a:r>
              <a:rPr sz="1800" spc="-434" dirty="0">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fields</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in a </a:t>
            </a:r>
            <a:r>
              <a:rPr sz="1800" spc="-5" dirty="0">
                <a:solidFill>
                  <a:srgbClr val="0432FF"/>
                </a:solidFill>
                <a:latin typeface="Palatino Linotype" panose="02040502050505030304"/>
                <a:cs typeface="Palatino Linotype" panose="02040502050505030304"/>
              </a:rPr>
              <a:t>structure</a:t>
            </a:r>
            <a:r>
              <a:rPr sz="1800" dirty="0">
                <a:solidFill>
                  <a:srgbClr val="0432FF"/>
                </a:solidFill>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through</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accesses like</a:t>
            </a:r>
            <a:r>
              <a:rPr sz="1800" spc="5" dirty="0">
                <a:latin typeface="Palatino Linotype" panose="02040502050505030304"/>
                <a:cs typeface="Palatino Linotype" panose="02040502050505030304"/>
              </a:rPr>
              <a:t> </a:t>
            </a:r>
            <a:r>
              <a:rPr sz="1800" spc="10" dirty="0">
                <a:solidFill>
                  <a:srgbClr val="0432FF"/>
                </a:solidFill>
                <a:latin typeface="Cambria Math" panose="02040503050406030204"/>
                <a:cs typeface="Cambria Math" panose="02040503050406030204"/>
              </a:rPr>
              <a:t>𝐴[𝑖][𝑗]</a:t>
            </a:r>
            <a:r>
              <a:rPr sz="1800" spc="45" dirty="0">
                <a:solidFill>
                  <a:srgbClr val="0432FF"/>
                </a:solidFill>
                <a:latin typeface="Cambria Math" panose="02040503050406030204"/>
                <a:cs typeface="Cambria Math" panose="02040503050406030204"/>
              </a:rPr>
              <a:t> </a:t>
            </a:r>
            <a:r>
              <a:rPr sz="1800" dirty="0">
                <a:latin typeface="Palatino Linotype" panose="02040502050505030304"/>
                <a:cs typeface="Palatino Linotype" panose="02040502050505030304"/>
              </a:rPr>
              <a:t>or </a:t>
            </a:r>
            <a:r>
              <a:rPr sz="1800" dirty="0">
                <a:solidFill>
                  <a:srgbClr val="0432FF"/>
                </a:solidFill>
                <a:latin typeface="Cambria Math" panose="02040503050406030204"/>
                <a:cs typeface="Cambria Math" panose="02040503050406030204"/>
              </a:rPr>
              <a:t>𝑋</a:t>
            </a:r>
            <a:r>
              <a:rPr sz="1800" spc="145" dirty="0">
                <a:solidFill>
                  <a:srgbClr val="0432FF"/>
                </a:solidFill>
                <a:latin typeface="Cambria Math" panose="02040503050406030204"/>
                <a:cs typeface="Cambria Math" panose="02040503050406030204"/>
              </a:rPr>
              <a:t> </a:t>
            </a:r>
            <a:r>
              <a:rPr sz="1800" dirty="0">
                <a:solidFill>
                  <a:srgbClr val="0432FF"/>
                </a:solidFill>
                <a:latin typeface="Cambria Math" panose="02040503050406030204"/>
                <a:cs typeface="Cambria Math" panose="02040503050406030204"/>
              </a:rPr>
              <a:t>→</a:t>
            </a:r>
            <a:r>
              <a:rPr sz="1800" spc="105" dirty="0">
                <a:solidFill>
                  <a:srgbClr val="0432FF"/>
                </a:solidFill>
                <a:latin typeface="Cambria Math" panose="02040503050406030204"/>
                <a:cs typeface="Cambria Math" panose="02040503050406030204"/>
              </a:rPr>
              <a:t> </a:t>
            </a:r>
            <a:r>
              <a:rPr sz="1800" spc="-5" dirty="0">
                <a:solidFill>
                  <a:srgbClr val="0432FF"/>
                </a:solidFill>
                <a:latin typeface="Cambria Math" panose="02040503050406030204"/>
                <a:cs typeface="Cambria Math" panose="02040503050406030204"/>
              </a:rPr>
              <a:t>𝑓1</a:t>
            </a:r>
            <a:endParaRPr sz="1800">
              <a:latin typeface="Cambria Math" panose="02040503050406030204"/>
              <a:cs typeface="Cambria Math" panose="02040503050406030204"/>
            </a:endParaRPr>
          </a:p>
          <a:p>
            <a:pPr marL="698500" marR="200025" lvl="1" indent="-228600">
              <a:lnSpc>
                <a:spcPct val="120000"/>
              </a:lnSpc>
              <a:spcBef>
                <a:spcPts val="1200"/>
              </a:spcBef>
              <a:buFont typeface="Wingdings" panose="05000000000000000000"/>
              <a:buChar char=""/>
              <a:tabLst>
                <a:tab pos="698500" algn="l"/>
              </a:tabLst>
            </a:pPr>
            <a:r>
              <a:rPr sz="1800" spc="-5" dirty="0">
                <a:latin typeface="Palatino Linotype" panose="02040502050505030304"/>
                <a:cs typeface="Palatino Linotype" panose="02040502050505030304"/>
              </a:rPr>
              <a:t>During </a:t>
            </a:r>
            <a:r>
              <a:rPr sz="1800" dirty="0">
                <a:latin typeface="Palatino Linotype" panose="02040502050505030304"/>
                <a:cs typeface="Palatino Linotype" panose="02040502050505030304"/>
              </a:rPr>
              <a:t>compilation, each </a:t>
            </a:r>
            <a:r>
              <a:rPr sz="1800" spc="-5" dirty="0">
                <a:latin typeface="Palatino Linotype" panose="02040502050505030304"/>
                <a:cs typeface="Palatino Linotype" panose="02040502050505030304"/>
              </a:rPr>
              <a:t>high-level</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data-structure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access </a:t>
            </a:r>
            <a:r>
              <a:rPr sz="1800" dirty="0">
                <a:latin typeface="Palatino Linotype" panose="02040502050505030304"/>
                <a:cs typeface="Palatino Linotype" panose="02040502050505030304"/>
              </a:rPr>
              <a:t>expands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into</a:t>
            </a:r>
            <a:r>
              <a:rPr sz="1800" spc="-5" dirty="0">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 </a:t>
            </a:r>
            <a:r>
              <a:rPr sz="1800" spc="-5" dirty="0">
                <a:solidFill>
                  <a:srgbClr val="0432FF"/>
                </a:solidFill>
                <a:latin typeface="Palatino Linotype" panose="02040502050505030304"/>
                <a:cs typeface="Palatino Linotype" panose="02040502050505030304"/>
              </a:rPr>
              <a:t>sequence</a:t>
            </a:r>
            <a:r>
              <a:rPr sz="1800" dirty="0">
                <a:solidFill>
                  <a:srgbClr val="0432FF"/>
                </a:solidFill>
                <a:latin typeface="Palatino Linotype" panose="02040502050505030304"/>
                <a:cs typeface="Palatino Linotype" panose="02040502050505030304"/>
              </a:rPr>
              <a:t> of </a:t>
            </a:r>
            <a:r>
              <a:rPr sz="1800" spc="-5" dirty="0">
                <a:solidFill>
                  <a:srgbClr val="0432FF"/>
                </a:solidFill>
                <a:latin typeface="Palatino Linotype" panose="02040502050505030304"/>
                <a:cs typeface="Palatino Linotype" panose="02040502050505030304"/>
              </a:rPr>
              <a:t>low-level</a:t>
            </a:r>
            <a:r>
              <a:rPr sz="1800" dirty="0">
                <a:solidFill>
                  <a:srgbClr val="0432FF"/>
                </a:solidFill>
                <a:latin typeface="Palatino Linotype" panose="02040502050505030304"/>
                <a:cs typeface="Palatino Linotype" panose="02040502050505030304"/>
              </a:rPr>
              <a:t> </a:t>
            </a:r>
            <a:r>
              <a:rPr sz="1800" spc="-5" dirty="0">
                <a:solidFill>
                  <a:srgbClr val="0432FF"/>
                </a:solidFill>
                <a:latin typeface="Palatino Linotype" panose="02040502050505030304"/>
                <a:cs typeface="Palatino Linotype" panose="02040502050505030304"/>
              </a:rPr>
              <a:t>arithmetic</a:t>
            </a:r>
            <a:r>
              <a:rPr sz="1800" dirty="0">
                <a:solidFill>
                  <a:srgbClr val="0432FF"/>
                </a:solidFill>
                <a:latin typeface="Palatino Linotype" panose="02040502050505030304"/>
                <a:cs typeface="Palatino Linotype" panose="02040502050505030304"/>
              </a:rPr>
              <a:t> operations</a:t>
            </a:r>
            <a:endParaRPr sz="1800">
              <a:latin typeface="Palatino Linotype" panose="02040502050505030304"/>
              <a:cs typeface="Palatino Linotype" panose="02040502050505030304"/>
            </a:endParaRPr>
          </a:p>
          <a:p>
            <a:pPr marL="698500" marR="226060" lvl="1" indent="-228600">
              <a:lnSpc>
                <a:spcPct val="120000"/>
              </a:lnSpc>
              <a:spcBef>
                <a:spcPts val="1225"/>
              </a:spcBef>
              <a:buFont typeface="Wingdings" panose="05000000000000000000"/>
              <a:buChar char=""/>
              <a:tabLst>
                <a:tab pos="698500" algn="l"/>
              </a:tabLst>
            </a:pPr>
            <a:r>
              <a:rPr sz="1800" spc="-5" dirty="0">
                <a:latin typeface="Palatino Linotype" panose="02040502050505030304"/>
                <a:cs typeface="Palatino Linotype" panose="02040502050505030304"/>
              </a:rPr>
              <a:t>Access </a:t>
            </a:r>
            <a:r>
              <a:rPr sz="1800" dirty="0">
                <a:latin typeface="Palatino Linotype" panose="02040502050505030304"/>
                <a:cs typeface="Palatino Linotype" panose="02040502050505030304"/>
              </a:rPr>
              <a:t>to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same</a:t>
            </a:r>
            <a:r>
              <a:rPr sz="1800" dirty="0">
                <a:latin typeface="Palatino Linotype" panose="02040502050505030304"/>
                <a:cs typeface="Palatino Linotype" panose="02040502050505030304"/>
              </a:rPr>
              <a:t> data </a:t>
            </a:r>
            <a:r>
              <a:rPr sz="1800" spc="-5" dirty="0">
                <a:latin typeface="Palatino Linotype" panose="02040502050505030304"/>
                <a:cs typeface="Palatino Linotype" panose="02040502050505030304"/>
              </a:rPr>
              <a:t>structure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often create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many common</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low- </a:t>
            </a:r>
            <a:r>
              <a:rPr sz="1800" spc="-434"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level</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operations</a:t>
            </a:r>
            <a:endParaRPr sz="1800">
              <a:latin typeface="Palatino Linotype" panose="02040502050505030304"/>
              <a:cs typeface="Palatino Linotype" panose="0204050205050503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7297420" cy="635000"/>
          </a:xfrm>
          <a:prstGeom prst="rect">
            <a:avLst/>
          </a:prstGeom>
        </p:spPr>
        <p:txBody>
          <a:bodyPr vert="horz" wrap="square" lIns="0" tIns="12700" rIns="0" bIns="0" rtlCol="0">
            <a:spAutoFit/>
          </a:bodyPr>
          <a:lstStyle/>
          <a:p>
            <a:pPr marL="12700">
              <a:lnSpc>
                <a:spcPct val="100000"/>
              </a:lnSpc>
              <a:spcBef>
                <a:spcPts val="100"/>
              </a:spcBef>
            </a:pPr>
            <a:r>
              <a:rPr sz="4000" dirty="0"/>
              <a:t>A</a:t>
            </a:r>
            <a:r>
              <a:rPr sz="4000" spc="-15" dirty="0"/>
              <a:t> </a:t>
            </a:r>
            <a:r>
              <a:rPr sz="4000" spc="-10" dirty="0"/>
              <a:t>Running</a:t>
            </a:r>
            <a:r>
              <a:rPr sz="4000" spc="-15" dirty="0"/>
              <a:t> </a:t>
            </a:r>
            <a:r>
              <a:rPr sz="4000" dirty="0"/>
              <a:t>Example:</a:t>
            </a:r>
            <a:r>
              <a:rPr sz="4000" spc="-15" dirty="0"/>
              <a:t> </a:t>
            </a:r>
            <a:r>
              <a:rPr sz="4000" spc="-5" dirty="0"/>
              <a:t>Quicksort</a:t>
            </a:r>
            <a:endParaRPr sz="4000"/>
          </a:p>
        </p:txBody>
      </p:sp>
      <p:grpSp>
        <p:nvGrpSpPr>
          <p:cNvPr id="3" name="object 3"/>
          <p:cNvGrpSpPr/>
          <p:nvPr/>
        </p:nvGrpSpPr>
        <p:grpSpPr>
          <a:xfrm>
            <a:off x="469626" y="1547611"/>
            <a:ext cx="8375650" cy="4240530"/>
            <a:chOff x="469626" y="1547611"/>
            <a:chExt cx="8375650" cy="4240530"/>
          </a:xfrm>
        </p:grpSpPr>
        <p:pic>
          <p:nvPicPr>
            <p:cNvPr id="4" name="object 4"/>
            <p:cNvPicPr/>
            <p:nvPr/>
          </p:nvPicPr>
          <p:blipFill>
            <a:blip r:embed="rId3" cstate="print"/>
            <a:stretch>
              <a:fillRect/>
            </a:stretch>
          </p:blipFill>
          <p:spPr>
            <a:xfrm>
              <a:off x="690786" y="1935133"/>
              <a:ext cx="5864762" cy="3852484"/>
            </a:xfrm>
            <a:prstGeom prst="rect">
              <a:avLst/>
            </a:prstGeom>
          </p:spPr>
        </p:pic>
        <p:pic>
          <p:nvPicPr>
            <p:cNvPr id="5" name="object 5"/>
            <p:cNvPicPr/>
            <p:nvPr/>
          </p:nvPicPr>
          <p:blipFill>
            <a:blip r:embed="rId4" cstate="print"/>
            <a:stretch>
              <a:fillRect/>
            </a:stretch>
          </p:blipFill>
          <p:spPr>
            <a:xfrm>
              <a:off x="5142013" y="1557138"/>
              <a:ext cx="3693226" cy="2687707"/>
            </a:xfrm>
            <a:prstGeom prst="rect">
              <a:avLst/>
            </a:prstGeom>
          </p:spPr>
        </p:pic>
        <p:sp>
          <p:nvSpPr>
            <p:cNvPr id="6" name="object 6"/>
            <p:cNvSpPr/>
            <p:nvPr/>
          </p:nvSpPr>
          <p:spPr>
            <a:xfrm>
              <a:off x="5137251" y="1552374"/>
              <a:ext cx="3703320" cy="2697480"/>
            </a:xfrm>
            <a:custGeom>
              <a:avLst/>
              <a:gdLst/>
              <a:ahLst/>
              <a:cxnLst/>
              <a:rect l="l" t="t" r="r" b="b"/>
              <a:pathLst>
                <a:path w="3703320" h="2697479">
                  <a:moveTo>
                    <a:pt x="0" y="0"/>
                  </a:moveTo>
                  <a:lnTo>
                    <a:pt x="3702752" y="0"/>
                  </a:lnTo>
                  <a:lnTo>
                    <a:pt x="3702752" y="2697233"/>
                  </a:lnTo>
                  <a:lnTo>
                    <a:pt x="0" y="2697233"/>
                  </a:lnTo>
                  <a:lnTo>
                    <a:pt x="0" y="0"/>
                  </a:lnTo>
                  <a:close/>
                </a:path>
              </a:pathLst>
            </a:custGeom>
            <a:ln w="9525">
              <a:solidFill>
                <a:srgbClr val="000000"/>
              </a:solidFill>
            </a:ln>
          </p:spPr>
          <p:txBody>
            <a:bodyPr wrap="square" lIns="0" tIns="0" rIns="0" bIns="0" rtlCol="0"/>
            <a:lstStyle/>
            <a:p>
              <a:endParaRPr/>
            </a:p>
          </p:txBody>
        </p:sp>
        <p:sp>
          <p:nvSpPr>
            <p:cNvPr id="7" name="object 7"/>
            <p:cNvSpPr/>
            <p:nvPr/>
          </p:nvSpPr>
          <p:spPr>
            <a:xfrm>
              <a:off x="475976" y="3165534"/>
              <a:ext cx="6463030" cy="2268855"/>
            </a:xfrm>
            <a:custGeom>
              <a:avLst/>
              <a:gdLst/>
              <a:ahLst/>
              <a:cxnLst/>
              <a:rect l="l" t="t" r="r" b="b"/>
              <a:pathLst>
                <a:path w="6463030" h="2268854">
                  <a:moveTo>
                    <a:pt x="379046" y="254557"/>
                  </a:moveTo>
                  <a:lnTo>
                    <a:pt x="406779" y="226703"/>
                  </a:lnTo>
                  <a:lnTo>
                    <a:pt x="436817" y="201066"/>
                  </a:lnTo>
                  <a:lnTo>
                    <a:pt x="469050" y="177559"/>
                  </a:lnTo>
                  <a:lnTo>
                    <a:pt x="503368" y="156098"/>
                  </a:lnTo>
                  <a:lnTo>
                    <a:pt x="539661" y="136597"/>
                  </a:lnTo>
                  <a:lnTo>
                    <a:pt x="577820" y="118971"/>
                  </a:lnTo>
                  <a:lnTo>
                    <a:pt x="617735" y="103135"/>
                  </a:lnTo>
                  <a:lnTo>
                    <a:pt x="659297" y="89003"/>
                  </a:lnTo>
                  <a:lnTo>
                    <a:pt x="702395" y="76491"/>
                  </a:lnTo>
                  <a:lnTo>
                    <a:pt x="746920" y="65514"/>
                  </a:lnTo>
                  <a:lnTo>
                    <a:pt x="792762" y="55985"/>
                  </a:lnTo>
                  <a:lnTo>
                    <a:pt x="839812" y="47821"/>
                  </a:lnTo>
                  <a:lnTo>
                    <a:pt x="887960" y="40934"/>
                  </a:lnTo>
                  <a:lnTo>
                    <a:pt x="937097" y="35242"/>
                  </a:lnTo>
                  <a:lnTo>
                    <a:pt x="987112" y="30658"/>
                  </a:lnTo>
                  <a:lnTo>
                    <a:pt x="1037896" y="27096"/>
                  </a:lnTo>
                  <a:lnTo>
                    <a:pt x="1089339" y="24473"/>
                  </a:lnTo>
                  <a:lnTo>
                    <a:pt x="1141332" y="22702"/>
                  </a:lnTo>
                  <a:lnTo>
                    <a:pt x="1193764" y="21699"/>
                  </a:lnTo>
                  <a:lnTo>
                    <a:pt x="1246527" y="21377"/>
                  </a:lnTo>
                  <a:lnTo>
                    <a:pt x="1299511" y="21653"/>
                  </a:lnTo>
                  <a:lnTo>
                    <a:pt x="1352605" y="22441"/>
                  </a:lnTo>
                  <a:lnTo>
                    <a:pt x="1405701" y="23655"/>
                  </a:lnTo>
                  <a:lnTo>
                    <a:pt x="1458688" y="25211"/>
                  </a:lnTo>
                  <a:lnTo>
                    <a:pt x="1511457" y="27023"/>
                  </a:lnTo>
                  <a:lnTo>
                    <a:pt x="1563898" y="29006"/>
                  </a:lnTo>
                  <a:lnTo>
                    <a:pt x="1615902" y="31075"/>
                  </a:lnTo>
                  <a:lnTo>
                    <a:pt x="1667359" y="33144"/>
                  </a:lnTo>
                  <a:lnTo>
                    <a:pt x="1718158" y="35129"/>
                  </a:lnTo>
                  <a:lnTo>
                    <a:pt x="1768191" y="36944"/>
                  </a:lnTo>
                  <a:lnTo>
                    <a:pt x="1817348" y="38504"/>
                  </a:lnTo>
                  <a:lnTo>
                    <a:pt x="1865519" y="39723"/>
                  </a:lnTo>
                  <a:lnTo>
                    <a:pt x="1912595" y="40518"/>
                  </a:lnTo>
                  <a:lnTo>
                    <a:pt x="1958465" y="40802"/>
                  </a:lnTo>
                  <a:lnTo>
                    <a:pt x="2009951" y="43350"/>
                  </a:lnTo>
                  <a:lnTo>
                    <a:pt x="2062223" y="44942"/>
                  </a:lnTo>
                  <a:lnTo>
                    <a:pt x="2115197" y="45657"/>
                  </a:lnTo>
                  <a:lnTo>
                    <a:pt x="2168787" y="45578"/>
                  </a:lnTo>
                  <a:lnTo>
                    <a:pt x="2222907" y="44783"/>
                  </a:lnTo>
                  <a:lnTo>
                    <a:pt x="2277471" y="43354"/>
                  </a:lnTo>
                  <a:lnTo>
                    <a:pt x="2332395" y="41372"/>
                  </a:lnTo>
                  <a:lnTo>
                    <a:pt x="2387592" y="38916"/>
                  </a:lnTo>
                  <a:lnTo>
                    <a:pt x="2442976" y="36068"/>
                  </a:lnTo>
                  <a:lnTo>
                    <a:pt x="2498463" y="32908"/>
                  </a:lnTo>
                  <a:lnTo>
                    <a:pt x="2553966" y="29516"/>
                  </a:lnTo>
                  <a:lnTo>
                    <a:pt x="2609401" y="25974"/>
                  </a:lnTo>
                  <a:lnTo>
                    <a:pt x="2664680" y="22362"/>
                  </a:lnTo>
                  <a:lnTo>
                    <a:pt x="2719720" y="18761"/>
                  </a:lnTo>
                  <a:lnTo>
                    <a:pt x="2774434" y="15250"/>
                  </a:lnTo>
                  <a:lnTo>
                    <a:pt x="2828737" y="11912"/>
                  </a:lnTo>
                  <a:lnTo>
                    <a:pt x="2882543" y="8825"/>
                  </a:lnTo>
                  <a:lnTo>
                    <a:pt x="2935766" y="6072"/>
                  </a:lnTo>
                  <a:lnTo>
                    <a:pt x="2988321" y="3732"/>
                  </a:lnTo>
                  <a:lnTo>
                    <a:pt x="3040123" y="1886"/>
                  </a:lnTo>
                  <a:lnTo>
                    <a:pt x="3091085" y="615"/>
                  </a:lnTo>
                  <a:lnTo>
                    <a:pt x="3141123" y="0"/>
                  </a:lnTo>
                  <a:lnTo>
                    <a:pt x="3190150" y="120"/>
                  </a:lnTo>
                  <a:lnTo>
                    <a:pt x="3238081" y="1056"/>
                  </a:lnTo>
                  <a:lnTo>
                    <a:pt x="3284831" y="2890"/>
                  </a:lnTo>
                  <a:lnTo>
                    <a:pt x="3330313" y="5702"/>
                  </a:lnTo>
                  <a:lnTo>
                    <a:pt x="3374443" y="9572"/>
                  </a:lnTo>
                  <a:lnTo>
                    <a:pt x="3417134" y="14581"/>
                  </a:lnTo>
                  <a:lnTo>
                    <a:pt x="3458301" y="20809"/>
                  </a:lnTo>
                  <a:lnTo>
                    <a:pt x="3497859" y="28337"/>
                  </a:lnTo>
                  <a:lnTo>
                    <a:pt x="3535722" y="37247"/>
                  </a:lnTo>
                  <a:lnTo>
                    <a:pt x="3606020" y="59529"/>
                  </a:lnTo>
                  <a:lnTo>
                    <a:pt x="3668511" y="88303"/>
                  </a:lnTo>
                  <a:lnTo>
                    <a:pt x="3722160" y="127828"/>
                  </a:lnTo>
                  <a:lnTo>
                    <a:pt x="3760793" y="177145"/>
                  </a:lnTo>
                  <a:lnTo>
                    <a:pt x="3786622" y="234920"/>
                  </a:lnTo>
                  <a:lnTo>
                    <a:pt x="3801859" y="299820"/>
                  </a:lnTo>
                  <a:lnTo>
                    <a:pt x="3808717" y="370514"/>
                  </a:lnTo>
                  <a:lnTo>
                    <a:pt x="3809695" y="407617"/>
                  </a:lnTo>
                  <a:lnTo>
                    <a:pt x="3809409" y="445669"/>
                  </a:lnTo>
                  <a:lnTo>
                    <a:pt x="3808134" y="484502"/>
                  </a:lnTo>
                  <a:lnTo>
                    <a:pt x="3806147" y="523952"/>
                  </a:lnTo>
                  <a:lnTo>
                    <a:pt x="3803725" y="563851"/>
                  </a:lnTo>
                  <a:lnTo>
                    <a:pt x="3801145" y="604032"/>
                  </a:lnTo>
                  <a:lnTo>
                    <a:pt x="3798683" y="644329"/>
                  </a:lnTo>
                  <a:lnTo>
                    <a:pt x="3796615" y="684576"/>
                  </a:lnTo>
                  <a:lnTo>
                    <a:pt x="3795218" y="724605"/>
                  </a:lnTo>
                  <a:lnTo>
                    <a:pt x="3794769" y="764251"/>
                  </a:lnTo>
                  <a:lnTo>
                    <a:pt x="3795544" y="803347"/>
                  </a:lnTo>
                  <a:lnTo>
                    <a:pt x="3797820" y="841726"/>
                  </a:lnTo>
                  <a:lnTo>
                    <a:pt x="3807981" y="915667"/>
                  </a:lnTo>
                  <a:lnTo>
                    <a:pt x="3827465" y="984743"/>
                  </a:lnTo>
                  <a:lnTo>
                    <a:pt x="3858484" y="1047621"/>
                  </a:lnTo>
                  <a:lnTo>
                    <a:pt x="3903251" y="1102969"/>
                  </a:lnTo>
                  <a:lnTo>
                    <a:pt x="3963979" y="1149454"/>
                  </a:lnTo>
                  <a:lnTo>
                    <a:pt x="4001020" y="1168957"/>
                  </a:lnTo>
                  <a:lnTo>
                    <a:pt x="4062080" y="1192112"/>
                  </a:lnTo>
                  <a:lnTo>
                    <a:pt x="4133886" y="1210806"/>
                  </a:lnTo>
                  <a:lnTo>
                    <a:pt x="4173487" y="1218604"/>
                  </a:lnTo>
                  <a:lnTo>
                    <a:pt x="4215378" y="1225437"/>
                  </a:lnTo>
                  <a:lnTo>
                    <a:pt x="4259425" y="1231352"/>
                  </a:lnTo>
                  <a:lnTo>
                    <a:pt x="4305496" y="1236401"/>
                  </a:lnTo>
                  <a:lnTo>
                    <a:pt x="4353460" y="1240633"/>
                  </a:lnTo>
                  <a:lnTo>
                    <a:pt x="4403182" y="1244098"/>
                  </a:lnTo>
                  <a:lnTo>
                    <a:pt x="4454531" y="1246846"/>
                  </a:lnTo>
                  <a:lnTo>
                    <a:pt x="4507375" y="1248926"/>
                  </a:lnTo>
                  <a:lnTo>
                    <a:pt x="4561581" y="1250388"/>
                  </a:lnTo>
                  <a:lnTo>
                    <a:pt x="4617016" y="1251281"/>
                  </a:lnTo>
                  <a:lnTo>
                    <a:pt x="4673548" y="1251657"/>
                  </a:lnTo>
                  <a:lnTo>
                    <a:pt x="4731044" y="1251564"/>
                  </a:lnTo>
                  <a:lnTo>
                    <a:pt x="4789373" y="1251052"/>
                  </a:lnTo>
                  <a:lnTo>
                    <a:pt x="4848402" y="1250171"/>
                  </a:lnTo>
                  <a:lnTo>
                    <a:pt x="4907997" y="1248971"/>
                  </a:lnTo>
                  <a:lnTo>
                    <a:pt x="4968028" y="1247501"/>
                  </a:lnTo>
                  <a:lnTo>
                    <a:pt x="5028361" y="1245811"/>
                  </a:lnTo>
                  <a:lnTo>
                    <a:pt x="5088863" y="1243951"/>
                  </a:lnTo>
                  <a:lnTo>
                    <a:pt x="5149403" y="1241970"/>
                  </a:lnTo>
                  <a:lnTo>
                    <a:pt x="5209848" y="1239920"/>
                  </a:lnTo>
                  <a:lnTo>
                    <a:pt x="5270065" y="1237848"/>
                  </a:lnTo>
                  <a:lnTo>
                    <a:pt x="5329923" y="1235805"/>
                  </a:lnTo>
                  <a:lnTo>
                    <a:pt x="5389288" y="1233841"/>
                  </a:lnTo>
                  <a:lnTo>
                    <a:pt x="5448028" y="1232006"/>
                  </a:lnTo>
                  <a:lnTo>
                    <a:pt x="5506011" y="1230348"/>
                  </a:lnTo>
                  <a:lnTo>
                    <a:pt x="5563104" y="1228919"/>
                  </a:lnTo>
                  <a:lnTo>
                    <a:pt x="5619175" y="1227767"/>
                  </a:lnTo>
                  <a:lnTo>
                    <a:pt x="5674091" y="1226943"/>
                  </a:lnTo>
                  <a:lnTo>
                    <a:pt x="5727721" y="1226496"/>
                  </a:lnTo>
                  <a:lnTo>
                    <a:pt x="5779930" y="1226476"/>
                  </a:lnTo>
                  <a:lnTo>
                    <a:pt x="5830588" y="1226933"/>
                  </a:lnTo>
                  <a:lnTo>
                    <a:pt x="5879561" y="1227916"/>
                  </a:lnTo>
                  <a:lnTo>
                    <a:pt x="5926717" y="1229476"/>
                  </a:lnTo>
                  <a:lnTo>
                    <a:pt x="5971924" y="1231661"/>
                  </a:lnTo>
                  <a:lnTo>
                    <a:pt x="6015048" y="1234522"/>
                  </a:lnTo>
                  <a:lnTo>
                    <a:pt x="6055959" y="1238109"/>
                  </a:lnTo>
                  <a:lnTo>
                    <a:pt x="6094523" y="1242471"/>
                  </a:lnTo>
                  <a:lnTo>
                    <a:pt x="6164080" y="1253720"/>
                  </a:lnTo>
                  <a:lnTo>
                    <a:pt x="6222662" y="1268667"/>
                  </a:lnTo>
                  <a:lnTo>
                    <a:pt x="6269207" y="1287711"/>
                  </a:lnTo>
                  <a:lnTo>
                    <a:pt x="6325714" y="1324245"/>
                  </a:lnTo>
                  <a:lnTo>
                    <a:pt x="6373112" y="1368726"/>
                  </a:lnTo>
                  <a:lnTo>
                    <a:pt x="6410942" y="1420007"/>
                  </a:lnTo>
                  <a:lnTo>
                    <a:pt x="6438744" y="1476938"/>
                  </a:lnTo>
                  <a:lnTo>
                    <a:pt x="6456059" y="1538372"/>
                  </a:lnTo>
                  <a:lnTo>
                    <a:pt x="6462427" y="1603161"/>
                  </a:lnTo>
                  <a:lnTo>
                    <a:pt x="6461364" y="1636454"/>
                  </a:lnTo>
                  <a:lnTo>
                    <a:pt x="6450452" y="1704123"/>
                  </a:lnTo>
                  <a:lnTo>
                    <a:pt x="6427447" y="1772276"/>
                  </a:lnTo>
                  <a:lnTo>
                    <a:pt x="6391888" y="1839765"/>
                  </a:lnTo>
                  <a:lnTo>
                    <a:pt x="6369257" y="1872903"/>
                  </a:lnTo>
                  <a:lnTo>
                    <a:pt x="6343316" y="1905444"/>
                  </a:lnTo>
                  <a:lnTo>
                    <a:pt x="6314007" y="1937245"/>
                  </a:lnTo>
                  <a:lnTo>
                    <a:pt x="6281273" y="1968163"/>
                  </a:lnTo>
                  <a:lnTo>
                    <a:pt x="6245056" y="1998054"/>
                  </a:lnTo>
                  <a:lnTo>
                    <a:pt x="6205298" y="2026774"/>
                  </a:lnTo>
                  <a:lnTo>
                    <a:pt x="6161943" y="2054181"/>
                  </a:lnTo>
                  <a:lnTo>
                    <a:pt x="6114934" y="2080131"/>
                  </a:lnTo>
                  <a:lnTo>
                    <a:pt x="6064212" y="2104479"/>
                  </a:lnTo>
                  <a:lnTo>
                    <a:pt x="6009720" y="2127083"/>
                  </a:lnTo>
                  <a:lnTo>
                    <a:pt x="5951401" y="2147800"/>
                  </a:lnTo>
                  <a:lnTo>
                    <a:pt x="5889197" y="2166485"/>
                  </a:lnTo>
                  <a:lnTo>
                    <a:pt x="5829277" y="2181365"/>
                  </a:lnTo>
                  <a:lnTo>
                    <a:pt x="5763396" y="2194832"/>
                  </a:lnTo>
                  <a:lnTo>
                    <a:pt x="5691873" y="2206946"/>
                  </a:lnTo>
                  <a:lnTo>
                    <a:pt x="5654095" y="2212513"/>
                  </a:lnTo>
                  <a:lnTo>
                    <a:pt x="5615027" y="2217765"/>
                  </a:lnTo>
                  <a:lnTo>
                    <a:pt x="5574709" y="2222708"/>
                  </a:lnTo>
                  <a:lnTo>
                    <a:pt x="5533179" y="2227350"/>
                  </a:lnTo>
                  <a:lnTo>
                    <a:pt x="5490480" y="2231698"/>
                  </a:lnTo>
                  <a:lnTo>
                    <a:pt x="5446649" y="2235760"/>
                  </a:lnTo>
                  <a:lnTo>
                    <a:pt x="5401729" y="2239544"/>
                  </a:lnTo>
                  <a:lnTo>
                    <a:pt x="5355757" y="2243057"/>
                  </a:lnTo>
                  <a:lnTo>
                    <a:pt x="5308775" y="2246305"/>
                  </a:lnTo>
                  <a:lnTo>
                    <a:pt x="5260822" y="2249298"/>
                  </a:lnTo>
                  <a:lnTo>
                    <a:pt x="5211939" y="2252042"/>
                  </a:lnTo>
                  <a:lnTo>
                    <a:pt x="5162165" y="2254544"/>
                  </a:lnTo>
                  <a:lnTo>
                    <a:pt x="5111540" y="2256813"/>
                  </a:lnTo>
                  <a:lnTo>
                    <a:pt x="5060105" y="2258856"/>
                  </a:lnTo>
                  <a:lnTo>
                    <a:pt x="5007899" y="2260679"/>
                  </a:lnTo>
                  <a:lnTo>
                    <a:pt x="4954962" y="2262292"/>
                  </a:lnTo>
                  <a:lnTo>
                    <a:pt x="4901335" y="2263700"/>
                  </a:lnTo>
                  <a:lnTo>
                    <a:pt x="4847057" y="2264913"/>
                  </a:lnTo>
                  <a:lnTo>
                    <a:pt x="4792168" y="2265936"/>
                  </a:lnTo>
                  <a:lnTo>
                    <a:pt x="4736708" y="2266778"/>
                  </a:lnTo>
                  <a:lnTo>
                    <a:pt x="4680718" y="2267446"/>
                  </a:lnTo>
                  <a:lnTo>
                    <a:pt x="4624237" y="2267947"/>
                  </a:lnTo>
                  <a:lnTo>
                    <a:pt x="4567305" y="2268290"/>
                  </a:lnTo>
                  <a:lnTo>
                    <a:pt x="4509962" y="2268481"/>
                  </a:lnTo>
                  <a:lnTo>
                    <a:pt x="4452249" y="2268528"/>
                  </a:lnTo>
                  <a:lnTo>
                    <a:pt x="4394205" y="2268438"/>
                  </a:lnTo>
                  <a:lnTo>
                    <a:pt x="4335869" y="2268219"/>
                  </a:lnTo>
                  <a:lnTo>
                    <a:pt x="4277283" y="2267879"/>
                  </a:lnTo>
                  <a:lnTo>
                    <a:pt x="4218487" y="2267425"/>
                  </a:lnTo>
                  <a:lnTo>
                    <a:pt x="4159519" y="2266864"/>
                  </a:lnTo>
                  <a:lnTo>
                    <a:pt x="4100420" y="2266204"/>
                  </a:lnTo>
                  <a:lnTo>
                    <a:pt x="4041231" y="2265452"/>
                  </a:lnTo>
                  <a:lnTo>
                    <a:pt x="3981991" y="2264616"/>
                  </a:lnTo>
                  <a:lnTo>
                    <a:pt x="3922739" y="2263703"/>
                  </a:lnTo>
                  <a:lnTo>
                    <a:pt x="3863517" y="2262721"/>
                  </a:lnTo>
                  <a:lnTo>
                    <a:pt x="3804364" y="2261677"/>
                  </a:lnTo>
                  <a:lnTo>
                    <a:pt x="3745320" y="2260579"/>
                  </a:lnTo>
                  <a:lnTo>
                    <a:pt x="3686425" y="2259434"/>
                  </a:lnTo>
                  <a:lnTo>
                    <a:pt x="3627719" y="2258250"/>
                  </a:lnTo>
                  <a:lnTo>
                    <a:pt x="3569242" y="2257034"/>
                  </a:lnTo>
                  <a:lnTo>
                    <a:pt x="3511034" y="2255793"/>
                  </a:lnTo>
                  <a:lnTo>
                    <a:pt x="3453136" y="2254536"/>
                  </a:lnTo>
                  <a:lnTo>
                    <a:pt x="3395586" y="2253269"/>
                  </a:lnTo>
                  <a:lnTo>
                    <a:pt x="3338425" y="2252001"/>
                  </a:lnTo>
                  <a:lnTo>
                    <a:pt x="3281693" y="2250738"/>
                  </a:lnTo>
                  <a:lnTo>
                    <a:pt x="3225430" y="2249487"/>
                  </a:lnTo>
                  <a:lnTo>
                    <a:pt x="3169676" y="2248258"/>
                  </a:lnTo>
                  <a:lnTo>
                    <a:pt x="3114471" y="2247056"/>
                  </a:lnTo>
                  <a:lnTo>
                    <a:pt x="3059854" y="2245890"/>
                  </a:lnTo>
                  <a:lnTo>
                    <a:pt x="3005867" y="2244767"/>
                  </a:lnTo>
                  <a:lnTo>
                    <a:pt x="2952549" y="2243694"/>
                  </a:lnTo>
                  <a:lnTo>
                    <a:pt x="2899939" y="2242679"/>
                  </a:lnTo>
                  <a:lnTo>
                    <a:pt x="2848079" y="2241729"/>
                  </a:lnTo>
                  <a:lnTo>
                    <a:pt x="2797007" y="2240852"/>
                  </a:lnTo>
                  <a:lnTo>
                    <a:pt x="2746764" y="2240056"/>
                  </a:lnTo>
                  <a:lnTo>
                    <a:pt x="2697390" y="2239347"/>
                  </a:lnTo>
                  <a:lnTo>
                    <a:pt x="2648925" y="2238734"/>
                  </a:lnTo>
                  <a:lnTo>
                    <a:pt x="2601408" y="2238223"/>
                  </a:lnTo>
                  <a:lnTo>
                    <a:pt x="2554880" y="2237823"/>
                  </a:lnTo>
                  <a:lnTo>
                    <a:pt x="2509382" y="2237540"/>
                  </a:lnTo>
                  <a:lnTo>
                    <a:pt x="2464951" y="2237383"/>
                  </a:lnTo>
                  <a:lnTo>
                    <a:pt x="2421630" y="2237358"/>
                  </a:lnTo>
                  <a:lnTo>
                    <a:pt x="2379458" y="2237474"/>
                  </a:lnTo>
                  <a:lnTo>
                    <a:pt x="2338474" y="2237737"/>
                  </a:lnTo>
                  <a:lnTo>
                    <a:pt x="2277074" y="2238374"/>
                  </a:lnTo>
                  <a:lnTo>
                    <a:pt x="2215782" y="2239232"/>
                  </a:lnTo>
                  <a:lnTo>
                    <a:pt x="2154633" y="2240279"/>
                  </a:lnTo>
                  <a:lnTo>
                    <a:pt x="2093661" y="2241483"/>
                  </a:lnTo>
                  <a:lnTo>
                    <a:pt x="2032901" y="2242812"/>
                  </a:lnTo>
                  <a:lnTo>
                    <a:pt x="1972387" y="2244234"/>
                  </a:lnTo>
                  <a:lnTo>
                    <a:pt x="1912156" y="2245718"/>
                  </a:lnTo>
                  <a:lnTo>
                    <a:pt x="1852240" y="2247231"/>
                  </a:lnTo>
                  <a:lnTo>
                    <a:pt x="1792676" y="2248743"/>
                  </a:lnTo>
                  <a:lnTo>
                    <a:pt x="1733498" y="2250220"/>
                  </a:lnTo>
                  <a:lnTo>
                    <a:pt x="1674740" y="2251631"/>
                  </a:lnTo>
                  <a:lnTo>
                    <a:pt x="1616438" y="2252945"/>
                  </a:lnTo>
                  <a:lnTo>
                    <a:pt x="1558626" y="2254129"/>
                  </a:lnTo>
                  <a:lnTo>
                    <a:pt x="1501339" y="2255152"/>
                  </a:lnTo>
                  <a:lnTo>
                    <a:pt x="1444612" y="2255981"/>
                  </a:lnTo>
                  <a:lnTo>
                    <a:pt x="1388479" y="2256585"/>
                  </a:lnTo>
                  <a:lnTo>
                    <a:pt x="1332976" y="2256933"/>
                  </a:lnTo>
                  <a:lnTo>
                    <a:pt x="1278136" y="2256991"/>
                  </a:lnTo>
                  <a:lnTo>
                    <a:pt x="1223996" y="2256729"/>
                  </a:lnTo>
                  <a:lnTo>
                    <a:pt x="1170589" y="2256115"/>
                  </a:lnTo>
                  <a:lnTo>
                    <a:pt x="1117950" y="2255116"/>
                  </a:lnTo>
                  <a:lnTo>
                    <a:pt x="1066115" y="2253701"/>
                  </a:lnTo>
                  <a:lnTo>
                    <a:pt x="1015118" y="2251838"/>
                  </a:lnTo>
                  <a:lnTo>
                    <a:pt x="964993" y="2249495"/>
                  </a:lnTo>
                  <a:lnTo>
                    <a:pt x="915775" y="2246641"/>
                  </a:lnTo>
                  <a:lnTo>
                    <a:pt x="867500" y="2243243"/>
                  </a:lnTo>
                  <a:lnTo>
                    <a:pt x="820202" y="2239270"/>
                  </a:lnTo>
                  <a:lnTo>
                    <a:pt x="773916" y="2234689"/>
                  </a:lnTo>
                  <a:lnTo>
                    <a:pt x="728676" y="2229469"/>
                  </a:lnTo>
                  <a:lnTo>
                    <a:pt x="684518" y="2223579"/>
                  </a:lnTo>
                  <a:lnTo>
                    <a:pt x="641475" y="2216985"/>
                  </a:lnTo>
                  <a:lnTo>
                    <a:pt x="599584" y="2209658"/>
                  </a:lnTo>
                  <a:lnTo>
                    <a:pt x="558878" y="2201563"/>
                  </a:lnTo>
                  <a:lnTo>
                    <a:pt x="519393" y="2192671"/>
                  </a:lnTo>
                  <a:lnTo>
                    <a:pt x="481162" y="2182948"/>
                  </a:lnTo>
                  <a:lnTo>
                    <a:pt x="444222" y="2172364"/>
                  </a:lnTo>
                  <a:lnTo>
                    <a:pt x="374350" y="2148481"/>
                  </a:lnTo>
                  <a:lnTo>
                    <a:pt x="310055" y="2120769"/>
                  </a:lnTo>
                  <a:lnTo>
                    <a:pt x="251616" y="2088972"/>
                  </a:lnTo>
                  <a:lnTo>
                    <a:pt x="199309" y="2052835"/>
                  </a:lnTo>
                  <a:lnTo>
                    <a:pt x="153415" y="2012105"/>
                  </a:lnTo>
                  <a:lnTo>
                    <a:pt x="108698" y="1956958"/>
                  </a:lnTo>
                  <a:lnTo>
                    <a:pt x="72253" y="1891445"/>
                  </a:lnTo>
                  <a:lnTo>
                    <a:pt x="57009" y="1855162"/>
                  </a:lnTo>
                  <a:lnTo>
                    <a:pt x="43685" y="1816721"/>
                  </a:lnTo>
                  <a:lnTo>
                    <a:pt x="32230" y="1776264"/>
                  </a:lnTo>
                  <a:lnTo>
                    <a:pt x="22596" y="1733937"/>
                  </a:lnTo>
                  <a:lnTo>
                    <a:pt x="14733" y="1689883"/>
                  </a:lnTo>
                  <a:lnTo>
                    <a:pt x="8592" y="1644248"/>
                  </a:lnTo>
                  <a:lnTo>
                    <a:pt x="4122" y="1597174"/>
                  </a:lnTo>
                  <a:lnTo>
                    <a:pt x="1274" y="1548806"/>
                  </a:lnTo>
                  <a:lnTo>
                    <a:pt x="0" y="1499289"/>
                  </a:lnTo>
                  <a:lnTo>
                    <a:pt x="248" y="1448766"/>
                  </a:lnTo>
                  <a:lnTo>
                    <a:pt x="1970" y="1397382"/>
                  </a:lnTo>
                  <a:lnTo>
                    <a:pt x="5116" y="1345281"/>
                  </a:lnTo>
                  <a:lnTo>
                    <a:pt x="9637" y="1292607"/>
                  </a:lnTo>
                  <a:lnTo>
                    <a:pt x="15482" y="1239504"/>
                  </a:lnTo>
                  <a:lnTo>
                    <a:pt x="22604" y="1186116"/>
                  </a:lnTo>
                  <a:lnTo>
                    <a:pt x="30951" y="1132588"/>
                  </a:lnTo>
                  <a:lnTo>
                    <a:pt x="40474" y="1079064"/>
                  </a:lnTo>
                  <a:lnTo>
                    <a:pt x="51125" y="1025687"/>
                  </a:lnTo>
                  <a:lnTo>
                    <a:pt x="62852" y="972603"/>
                  </a:lnTo>
                  <a:lnTo>
                    <a:pt x="75608" y="919954"/>
                  </a:lnTo>
                  <a:lnTo>
                    <a:pt x="89342" y="867887"/>
                  </a:lnTo>
                  <a:lnTo>
                    <a:pt x="104004" y="816543"/>
                  </a:lnTo>
                  <a:lnTo>
                    <a:pt x="119546" y="766069"/>
                  </a:lnTo>
                  <a:lnTo>
                    <a:pt x="135917" y="716607"/>
                  </a:lnTo>
                  <a:lnTo>
                    <a:pt x="153068" y="668303"/>
                  </a:lnTo>
                  <a:lnTo>
                    <a:pt x="170950" y="621300"/>
                  </a:lnTo>
                  <a:lnTo>
                    <a:pt x="189512" y="575742"/>
                  </a:lnTo>
                  <a:lnTo>
                    <a:pt x="208706" y="531774"/>
                  </a:lnTo>
                  <a:lnTo>
                    <a:pt x="228482" y="489540"/>
                  </a:lnTo>
                  <a:lnTo>
                    <a:pt x="248791" y="449183"/>
                  </a:lnTo>
                  <a:lnTo>
                    <a:pt x="269582" y="410849"/>
                  </a:lnTo>
                  <a:lnTo>
                    <a:pt x="290806" y="374681"/>
                  </a:lnTo>
                  <a:lnTo>
                    <a:pt x="312414" y="340824"/>
                  </a:lnTo>
                  <a:lnTo>
                    <a:pt x="334357" y="309421"/>
                  </a:lnTo>
                  <a:lnTo>
                    <a:pt x="356584" y="280617"/>
                  </a:lnTo>
                  <a:lnTo>
                    <a:pt x="379046" y="254557"/>
                  </a:lnTo>
                  <a:close/>
                </a:path>
              </a:pathLst>
            </a:custGeom>
            <a:ln w="12700">
              <a:solidFill>
                <a:srgbClr val="FF0000"/>
              </a:solidFill>
            </a:ln>
          </p:spPr>
          <p:txBody>
            <a:bodyPr wrap="square" lIns="0" tIns="0" rIns="0" bIns="0" rtlCol="0"/>
            <a:lstStyle/>
            <a:p>
              <a:endParaRPr/>
            </a:p>
          </p:txBody>
        </p:sp>
        <p:sp>
          <p:nvSpPr>
            <p:cNvPr id="8" name="object 8"/>
            <p:cNvSpPr/>
            <p:nvPr/>
          </p:nvSpPr>
          <p:spPr>
            <a:xfrm>
              <a:off x="4142370" y="2881795"/>
              <a:ext cx="1000125" cy="378460"/>
            </a:xfrm>
            <a:custGeom>
              <a:avLst/>
              <a:gdLst/>
              <a:ahLst/>
              <a:cxnLst/>
              <a:rect l="l" t="t" r="r" b="b"/>
              <a:pathLst>
                <a:path w="1000125" h="378460">
                  <a:moveTo>
                    <a:pt x="963528" y="25234"/>
                  </a:moveTo>
                  <a:lnTo>
                    <a:pt x="0" y="366055"/>
                  </a:lnTo>
                  <a:lnTo>
                    <a:pt x="4235" y="378029"/>
                  </a:lnTo>
                  <a:lnTo>
                    <a:pt x="967763" y="37208"/>
                  </a:lnTo>
                  <a:lnTo>
                    <a:pt x="975909" y="27591"/>
                  </a:lnTo>
                  <a:lnTo>
                    <a:pt x="963528" y="25234"/>
                  </a:lnTo>
                  <a:close/>
                </a:path>
                <a:path w="1000125" h="378460">
                  <a:moveTo>
                    <a:pt x="990290" y="17400"/>
                  </a:moveTo>
                  <a:lnTo>
                    <a:pt x="985677" y="17400"/>
                  </a:lnTo>
                  <a:lnTo>
                    <a:pt x="989912" y="29373"/>
                  </a:lnTo>
                  <a:lnTo>
                    <a:pt x="967763" y="37208"/>
                  </a:lnTo>
                  <a:lnTo>
                    <a:pt x="923662" y="89277"/>
                  </a:lnTo>
                  <a:lnTo>
                    <a:pt x="923994" y="93284"/>
                  </a:lnTo>
                  <a:lnTo>
                    <a:pt x="929346" y="97816"/>
                  </a:lnTo>
                  <a:lnTo>
                    <a:pt x="933353" y="97485"/>
                  </a:lnTo>
                  <a:lnTo>
                    <a:pt x="999671" y="19185"/>
                  </a:lnTo>
                  <a:lnTo>
                    <a:pt x="990290" y="17400"/>
                  </a:lnTo>
                  <a:close/>
                </a:path>
                <a:path w="1000125" h="378460">
                  <a:moveTo>
                    <a:pt x="975909" y="27591"/>
                  </a:moveTo>
                  <a:lnTo>
                    <a:pt x="967763" y="37208"/>
                  </a:lnTo>
                  <a:lnTo>
                    <a:pt x="989198" y="29626"/>
                  </a:lnTo>
                  <a:lnTo>
                    <a:pt x="986603" y="29626"/>
                  </a:lnTo>
                  <a:lnTo>
                    <a:pt x="975909" y="27591"/>
                  </a:lnTo>
                  <a:close/>
                </a:path>
                <a:path w="1000125" h="378460">
                  <a:moveTo>
                    <a:pt x="982944" y="19284"/>
                  </a:moveTo>
                  <a:lnTo>
                    <a:pt x="975909" y="27591"/>
                  </a:lnTo>
                  <a:lnTo>
                    <a:pt x="986603" y="29626"/>
                  </a:lnTo>
                  <a:lnTo>
                    <a:pt x="982944" y="19284"/>
                  </a:lnTo>
                  <a:close/>
                </a:path>
                <a:path w="1000125" h="378460">
                  <a:moveTo>
                    <a:pt x="986344" y="19284"/>
                  </a:moveTo>
                  <a:lnTo>
                    <a:pt x="982944" y="19284"/>
                  </a:lnTo>
                  <a:lnTo>
                    <a:pt x="986603" y="29626"/>
                  </a:lnTo>
                  <a:lnTo>
                    <a:pt x="989198" y="29626"/>
                  </a:lnTo>
                  <a:lnTo>
                    <a:pt x="989912" y="29373"/>
                  </a:lnTo>
                  <a:lnTo>
                    <a:pt x="986344" y="19284"/>
                  </a:lnTo>
                  <a:close/>
                </a:path>
                <a:path w="1000125" h="378460">
                  <a:moveTo>
                    <a:pt x="985677" y="17400"/>
                  </a:moveTo>
                  <a:lnTo>
                    <a:pt x="963528" y="25234"/>
                  </a:lnTo>
                  <a:lnTo>
                    <a:pt x="975909" y="27591"/>
                  </a:lnTo>
                  <a:lnTo>
                    <a:pt x="982944" y="19284"/>
                  </a:lnTo>
                  <a:lnTo>
                    <a:pt x="986344" y="19284"/>
                  </a:lnTo>
                  <a:lnTo>
                    <a:pt x="985677" y="17400"/>
                  </a:lnTo>
                  <a:close/>
                </a:path>
                <a:path w="1000125" h="378460">
                  <a:moveTo>
                    <a:pt x="898870" y="0"/>
                  </a:moveTo>
                  <a:lnTo>
                    <a:pt x="895546" y="2260"/>
                  </a:lnTo>
                  <a:lnTo>
                    <a:pt x="894234" y="9151"/>
                  </a:lnTo>
                  <a:lnTo>
                    <a:pt x="896496" y="12476"/>
                  </a:lnTo>
                  <a:lnTo>
                    <a:pt x="963528" y="25234"/>
                  </a:lnTo>
                  <a:lnTo>
                    <a:pt x="985677" y="17400"/>
                  </a:lnTo>
                  <a:lnTo>
                    <a:pt x="990290" y="17400"/>
                  </a:lnTo>
                  <a:lnTo>
                    <a:pt x="898870" y="0"/>
                  </a:lnTo>
                  <a:close/>
                </a:path>
              </a:pathLst>
            </a:custGeom>
            <a:solidFill>
              <a:srgbClr val="FF0000"/>
            </a:solidFill>
          </p:spPr>
          <p:txBody>
            <a:bodyPr wrap="square" lIns="0" tIns="0" rIns="0" bIns="0" rtlCol="0"/>
            <a:lstStyle/>
            <a:p>
              <a:endParaRPr/>
            </a:p>
          </p:txBody>
        </p:sp>
      </p:grpSp>
      <p:sp>
        <p:nvSpPr>
          <p:cNvPr id="9" name="object 9"/>
          <p:cNvSpPr txBox="1"/>
          <p:nvPr/>
        </p:nvSpPr>
        <p:spPr>
          <a:xfrm>
            <a:off x="7264928" y="4320540"/>
            <a:ext cx="15614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Palatino Linotype" panose="02040502050505030304"/>
                <a:cs typeface="Palatino Linotype" panose="02040502050505030304"/>
              </a:rPr>
              <a:t>Three-address</a:t>
            </a:r>
            <a:r>
              <a:rPr sz="1400" spc="-6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code</a:t>
            </a:r>
            <a:endParaRPr sz="1400">
              <a:latin typeface="Palatino Linotype" panose="02040502050505030304"/>
              <a:cs typeface="Palatino Linotype" panose="02040502050505030304"/>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3511550" cy="635000"/>
          </a:xfrm>
          <a:prstGeom prst="rect">
            <a:avLst/>
          </a:prstGeom>
        </p:spPr>
        <p:txBody>
          <a:bodyPr vert="horz" wrap="square" lIns="0" tIns="12700" rIns="0" bIns="0" rtlCol="0">
            <a:spAutoFit/>
          </a:bodyPr>
          <a:lstStyle/>
          <a:p>
            <a:pPr marL="12700">
              <a:lnSpc>
                <a:spcPct val="100000"/>
              </a:lnSpc>
              <a:spcBef>
                <a:spcPts val="100"/>
              </a:spcBef>
            </a:pPr>
            <a:r>
              <a:rPr sz="4000" dirty="0"/>
              <a:t>Array</a:t>
            </a:r>
            <a:r>
              <a:rPr sz="4000" spc="-65" dirty="0"/>
              <a:t> </a:t>
            </a:r>
            <a:r>
              <a:rPr sz="4000" spc="-5" dirty="0"/>
              <a:t>Accesses</a:t>
            </a:r>
            <a:endParaRPr sz="4000"/>
          </a:p>
        </p:txBody>
      </p:sp>
      <p:grpSp>
        <p:nvGrpSpPr>
          <p:cNvPr id="3" name="object 3"/>
          <p:cNvGrpSpPr/>
          <p:nvPr/>
        </p:nvGrpSpPr>
        <p:grpSpPr>
          <a:xfrm>
            <a:off x="1657350" y="1750380"/>
            <a:ext cx="5829935" cy="3420110"/>
            <a:chOff x="1657350" y="1750380"/>
            <a:chExt cx="5829935" cy="3420110"/>
          </a:xfrm>
        </p:grpSpPr>
        <p:pic>
          <p:nvPicPr>
            <p:cNvPr id="4" name="object 4"/>
            <p:cNvPicPr/>
            <p:nvPr/>
          </p:nvPicPr>
          <p:blipFill>
            <a:blip r:embed="rId3" cstate="print"/>
            <a:stretch>
              <a:fillRect/>
            </a:stretch>
          </p:blipFill>
          <p:spPr>
            <a:xfrm>
              <a:off x="2072407" y="1750380"/>
              <a:ext cx="5013289" cy="3382629"/>
            </a:xfrm>
            <a:prstGeom prst="rect">
              <a:avLst/>
            </a:prstGeom>
          </p:spPr>
        </p:pic>
        <p:sp>
          <p:nvSpPr>
            <p:cNvPr id="5" name="object 5"/>
            <p:cNvSpPr/>
            <p:nvPr/>
          </p:nvSpPr>
          <p:spPr>
            <a:xfrm>
              <a:off x="2018804" y="4690752"/>
              <a:ext cx="1936114" cy="473709"/>
            </a:xfrm>
            <a:custGeom>
              <a:avLst/>
              <a:gdLst/>
              <a:ahLst/>
              <a:cxnLst/>
              <a:rect l="l" t="t" r="r" b="b"/>
              <a:pathLst>
                <a:path w="1936114" h="473710">
                  <a:moveTo>
                    <a:pt x="0" y="0"/>
                  </a:moveTo>
                  <a:lnTo>
                    <a:pt x="1935678" y="0"/>
                  </a:lnTo>
                  <a:lnTo>
                    <a:pt x="1935678" y="473291"/>
                  </a:lnTo>
                  <a:lnTo>
                    <a:pt x="0" y="473291"/>
                  </a:lnTo>
                  <a:lnTo>
                    <a:pt x="0" y="0"/>
                  </a:lnTo>
                  <a:close/>
                </a:path>
              </a:pathLst>
            </a:custGeom>
            <a:ln w="12700">
              <a:solidFill>
                <a:srgbClr val="FF0000"/>
              </a:solidFill>
            </a:ln>
          </p:spPr>
          <p:txBody>
            <a:bodyPr wrap="square" lIns="0" tIns="0" rIns="0" bIns="0" rtlCol="0"/>
            <a:lstStyle/>
            <a:p>
              <a:endParaRPr/>
            </a:p>
          </p:txBody>
        </p:sp>
        <p:sp>
          <p:nvSpPr>
            <p:cNvPr id="6" name="object 6"/>
            <p:cNvSpPr/>
            <p:nvPr/>
          </p:nvSpPr>
          <p:spPr>
            <a:xfrm>
              <a:off x="1657350" y="4875696"/>
              <a:ext cx="361950" cy="103505"/>
            </a:xfrm>
            <a:custGeom>
              <a:avLst/>
              <a:gdLst/>
              <a:ahLst/>
              <a:cxnLst/>
              <a:rect l="l" t="t" r="r" b="b"/>
              <a:pathLst>
                <a:path w="361950" h="103504">
                  <a:moveTo>
                    <a:pt x="336280" y="51702"/>
                  </a:moveTo>
                  <a:lnTo>
                    <a:pt x="266453" y="92434"/>
                  </a:lnTo>
                  <a:lnTo>
                    <a:pt x="265430" y="96321"/>
                  </a:lnTo>
                  <a:lnTo>
                    <a:pt x="268964" y="102381"/>
                  </a:lnTo>
                  <a:lnTo>
                    <a:pt x="272851" y="103404"/>
                  </a:lnTo>
                  <a:lnTo>
                    <a:pt x="350600" y="58051"/>
                  </a:lnTo>
                  <a:lnTo>
                    <a:pt x="348882" y="58051"/>
                  </a:lnTo>
                  <a:lnTo>
                    <a:pt x="348882" y="57186"/>
                  </a:lnTo>
                  <a:lnTo>
                    <a:pt x="345682" y="57186"/>
                  </a:lnTo>
                  <a:lnTo>
                    <a:pt x="336280" y="51702"/>
                  </a:lnTo>
                  <a:close/>
                </a:path>
                <a:path w="361950" h="103504">
                  <a:moveTo>
                    <a:pt x="325393" y="45351"/>
                  </a:moveTo>
                  <a:lnTo>
                    <a:pt x="0" y="45351"/>
                  </a:lnTo>
                  <a:lnTo>
                    <a:pt x="0" y="58051"/>
                  </a:lnTo>
                  <a:lnTo>
                    <a:pt x="325395" y="58051"/>
                  </a:lnTo>
                  <a:lnTo>
                    <a:pt x="336280" y="51702"/>
                  </a:lnTo>
                  <a:lnTo>
                    <a:pt x="325393" y="45351"/>
                  </a:lnTo>
                  <a:close/>
                </a:path>
                <a:path w="361950" h="103504">
                  <a:moveTo>
                    <a:pt x="350596" y="45351"/>
                  </a:moveTo>
                  <a:lnTo>
                    <a:pt x="348882" y="45351"/>
                  </a:lnTo>
                  <a:lnTo>
                    <a:pt x="348882" y="58051"/>
                  </a:lnTo>
                  <a:lnTo>
                    <a:pt x="350600" y="58051"/>
                  </a:lnTo>
                  <a:lnTo>
                    <a:pt x="361483" y="51702"/>
                  </a:lnTo>
                  <a:lnTo>
                    <a:pt x="350596" y="45351"/>
                  </a:lnTo>
                  <a:close/>
                </a:path>
                <a:path w="361950" h="103504">
                  <a:moveTo>
                    <a:pt x="345682" y="46217"/>
                  </a:moveTo>
                  <a:lnTo>
                    <a:pt x="336280" y="51702"/>
                  </a:lnTo>
                  <a:lnTo>
                    <a:pt x="345682" y="57186"/>
                  </a:lnTo>
                  <a:lnTo>
                    <a:pt x="345682" y="46217"/>
                  </a:lnTo>
                  <a:close/>
                </a:path>
                <a:path w="361950" h="103504">
                  <a:moveTo>
                    <a:pt x="348882" y="46217"/>
                  </a:moveTo>
                  <a:lnTo>
                    <a:pt x="345682" y="46217"/>
                  </a:lnTo>
                  <a:lnTo>
                    <a:pt x="345682" y="57186"/>
                  </a:lnTo>
                  <a:lnTo>
                    <a:pt x="348882" y="57186"/>
                  </a:lnTo>
                  <a:lnTo>
                    <a:pt x="348882" y="46217"/>
                  </a:lnTo>
                  <a:close/>
                </a:path>
                <a:path w="361950" h="103504">
                  <a:moveTo>
                    <a:pt x="272851" y="0"/>
                  </a:moveTo>
                  <a:lnTo>
                    <a:pt x="268964" y="1023"/>
                  </a:lnTo>
                  <a:lnTo>
                    <a:pt x="265430" y="7081"/>
                  </a:lnTo>
                  <a:lnTo>
                    <a:pt x="266453" y="10970"/>
                  </a:lnTo>
                  <a:lnTo>
                    <a:pt x="336280" y="51702"/>
                  </a:lnTo>
                  <a:lnTo>
                    <a:pt x="345682" y="46217"/>
                  </a:lnTo>
                  <a:lnTo>
                    <a:pt x="348882" y="46217"/>
                  </a:lnTo>
                  <a:lnTo>
                    <a:pt x="348882" y="45351"/>
                  </a:lnTo>
                  <a:lnTo>
                    <a:pt x="350596" y="45351"/>
                  </a:lnTo>
                  <a:lnTo>
                    <a:pt x="272851" y="0"/>
                  </a:lnTo>
                  <a:close/>
                </a:path>
              </a:pathLst>
            </a:custGeom>
            <a:solidFill>
              <a:srgbClr val="FF0000"/>
            </a:solidFill>
          </p:spPr>
          <p:txBody>
            <a:bodyPr wrap="square" lIns="0" tIns="0" rIns="0" bIns="0" rtlCol="0"/>
            <a:lstStyle/>
            <a:p>
              <a:endParaRPr/>
            </a:p>
          </p:txBody>
        </p:sp>
        <p:sp>
          <p:nvSpPr>
            <p:cNvPr id="7" name="object 7"/>
            <p:cNvSpPr/>
            <p:nvPr/>
          </p:nvSpPr>
          <p:spPr>
            <a:xfrm>
              <a:off x="5123460" y="2654444"/>
              <a:ext cx="1936114" cy="473709"/>
            </a:xfrm>
            <a:custGeom>
              <a:avLst/>
              <a:gdLst/>
              <a:ahLst/>
              <a:cxnLst/>
              <a:rect l="l" t="t" r="r" b="b"/>
              <a:pathLst>
                <a:path w="1936115" h="473710">
                  <a:moveTo>
                    <a:pt x="0" y="0"/>
                  </a:moveTo>
                  <a:lnTo>
                    <a:pt x="1935678" y="0"/>
                  </a:lnTo>
                  <a:lnTo>
                    <a:pt x="1935678" y="473291"/>
                  </a:lnTo>
                  <a:lnTo>
                    <a:pt x="0" y="473291"/>
                  </a:lnTo>
                  <a:lnTo>
                    <a:pt x="0" y="0"/>
                  </a:lnTo>
                  <a:close/>
                </a:path>
              </a:pathLst>
            </a:custGeom>
            <a:ln w="12700">
              <a:solidFill>
                <a:srgbClr val="FF0000"/>
              </a:solidFill>
            </a:ln>
          </p:spPr>
          <p:txBody>
            <a:bodyPr wrap="square" lIns="0" tIns="0" rIns="0" bIns="0" rtlCol="0"/>
            <a:lstStyle/>
            <a:p>
              <a:endParaRPr/>
            </a:p>
          </p:txBody>
        </p:sp>
        <p:sp>
          <p:nvSpPr>
            <p:cNvPr id="8" name="object 8"/>
            <p:cNvSpPr/>
            <p:nvPr/>
          </p:nvSpPr>
          <p:spPr>
            <a:xfrm>
              <a:off x="7059060" y="2835159"/>
              <a:ext cx="427990" cy="103505"/>
            </a:xfrm>
            <a:custGeom>
              <a:avLst/>
              <a:gdLst/>
              <a:ahLst/>
              <a:cxnLst/>
              <a:rect l="l" t="t" r="r" b="b"/>
              <a:pathLst>
                <a:path w="427990" h="103505">
                  <a:moveTo>
                    <a:pt x="416690" y="44399"/>
                  </a:moveTo>
                  <a:lnTo>
                    <a:pt x="414938" y="44399"/>
                  </a:lnTo>
                  <a:lnTo>
                    <a:pt x="415096" y="57097"/>
                  </a:lnTo>
                  <a:lnTo>
                    <a:pt x="391609" y="57391"/>
                  </a:lnTo>
                  <a:lnTo>
                    <a:pt x="333103" y="92506"/>
                  </a:lnTo>
                  <a:lnTo>
                    <a:pt x="332127" y="96408"/>
                  </a:lnTo>
                  <a:lnTo>
                    <a:pt x="335738" y="102421"/>
                  </a:lnTo>
                  <a:lnTo>
                    <a:pt x="339638" y="103395"/>
                  </a:lnTo>
                  <a:lnTo>
                    <a:pt x="427617" y="50591"/>
                  </a:lnTo>
                  <a:lnTo>
                    <a:pt x="416690" y="44399"/>
                  </a:lnTo>
                  <a:close/>
                </a:path>
                <a:path w="427990" h="103505">
                  <a:moveTo>
                    <a:pt x="391451" y="44692"/>
                  </a:moveTo>
                  <a:lnTo>
                    <a:pt x="0" y="49582"/>
                  </a:lnTo>
                  <a:lnTo>
                    <a:pt x="157" y="62280"/>
                  </a:lnTo>
                  <a:lnTo>
                    <a:pt x="391609" y="57391"/>
                  </a:lnTo>
                  <a:lnTo>
                    <a:pt x="402414" y="50905"/>
                  </a:lnTo>
                  <a:lnTo>
                    <a:pt x="391451" y="44692"/>
                  </a:lnTo>
                  <a:close/>
                </a:path>
                <a:path w="427990" h="103505">
                  <a:moveTo>
                    <a:pt x="402414" y="50905"/>
                  </a:moveTo>
                  <a:lnTo>
                    <a:pt x="391609" y="57391"/>
                  </a:lnTo>
                  <a:lnTo>
                    <a:pt x="415096" y="57097"/>
                  </a:lnTo>
                  <a:lnTo>
                    <a:pt x="415086" y="56273"/>
                  </a:lnTo>
                  <a:lnTo>
                    <a:pt x="411886" y="56273"/>
                  </a:lnTo>
                  <a:lnTo>
                    <a:pt x="402414" y="50905"/>
                  </a:lnTo>
                  <a:close/>
                </a:path>
                <a:path w="427990" h="103505">
                  <a:moveTo>
                    <a:pt x="411749" y="45303"/>
                  </a:moveTo>
                  <a:lnTo>
                    <a:pt x="402414" y="50905"/>
                  </a:lnTo>
                  <a:lnTo>
                    <a:pt x="411886" y="56273"/>
                  </a:lnTo>
                  <a:lnTo>
                    <a:pt x="411749" y="45303"/>
                  </a:lnTo>
                  <a:close/>
                </a:path>
                <a:path w="427990" h="103505">
                  <a:moveTo>
                    <a:pt x="414949" y="45303"/>
                  </a:moveTo>
                  <a:lnTo>
                    <a:pt x="411749" y="45303"/>
                  </a:lnTo>
                  <a:lnTo>
                    <a:pt x="411886" y="56273"/>
                  </a:lnTo>
                  <a:lnTo>
                    <a:pt x="415086" y="56273"/>
                  </a:lnTo>
                  <a:lnTo>
                    <a:pt x="414949" y="45303"/>
                  </a:lnTo>
                  <a:close/>
                </a:path>
                <a:path w="427990" h="103505">
                  <a:moveTo>
                    <a:pt x="414938" y="44399"/>
                  </a:moveTo>
                  <a:lnTo>
                    <a:pt x="391451" y="44692"/>
                  </a:lnTo>
                  <a:lnTo>
                    <a:pt x="402414" y="50905"/>
                  </a:lnTo>
                  <a:lnTo>
                    <a:pt x="411749" y="45303"/>
                  </a:lnTo>
                  <a:lnTo>
                    <a:pt x="414949" y="45303"/>
                  </a:lnTo>
                  <a:lnTo>
                    <a:pt x="414938" y="44399"/>
                  </a:lnTo>
                  <a:close/>
                </a:path>
                <a:path w="427990" h="103505">
                  <a:moveTo>
                    <a:pt x="338347" y="0"/>
                  </a:moveTo>
                  <a:lnTo>
                    <a:pt x="334472" y="1071"/>
                  </a:lnTo>
                  <a:lnTo>
                    <a:pt x="331014" y="7174"/>
                  </a:lnTo>
                  <a:lnTo>
                    <a:pt x="332085" y="11049"/>
                  </a:lnTo>
                  <a:lnTo>
                    <a:pt x="391451" y="44692"/>
                  </a:lnTo>
                  <a:lnTo>
                    <a:pt x="414938" y="44399"/>
                  </a:lnTo>
                  <a:lnTo>
                    <a:pt x="416690" y="44399"/>
                  </a:lnTo>
                  <a:lnTo>
                    <a:pt x="338347" y="0"/>
                  </a:lnTo>
                  <a:close/>
                </a:path>
              </a:pathLst>
            </a:custGeom>
            <a:solidFill>
              <a:srgbClr val="FF0000"/>
            </a:solidFill>
          </p:spPr>
          <p:txBody>
            <a:bodyPr wrap="square" lIns="0" tIns="0" rIns="0" bIns="0" rtlCol="0"/>
            <a:lstStyle/>
            <a:p>
              <a:endParaRPr/>
            </a:p>
          </p:txBody>
        </p:sp>
      </p:grpSp>
      <p:sp>
        <p:nvSpPr>
          <p:cNvPr id="9" name="object 9"/>
          <p:cNvSpPr txBox="1"/>
          <p:nvPr/>
        </p:nvSpPr>
        <p:spPr>
          <a:xfrm>
            <a:off x="538325" y="4763516"/>
            <a:ext cx="10293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Consolas" panose="020B0609020204030204"/>
                <a:cs typeface="Consolas" panose="020B0609020204030204"/>
              </a:rPr>
              <a:t>x</a:t>
            </a:r>
            <a:r>
              <a:rPr sz="1800" spc="-5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50" dirty="0">
                <a:solidFill>
                  <a:srgbClr val="FF0000"/>
                </a:solidFill>
                <a:latin typeface="Consolas" panose="020B0609020204030204"/>
                <a:cs typeface="Consolas" panose="020B0609020204030204"/>
              </a:rPr>
              <a:t> </a:t>
            </a:r>
            <a:r>
              <a:rPr sz="1800" spc="-5" dirty="0">
                <a:solidFill>
                  <a:srgbClr val="FF0000"/>
                </a:solidFill>
                <a:latin typeface="Consolas" panose="020B0609020204030204"/>
                <a:cs typeface="Consolas" panose="020B0609020204030204"/>
              </a:rPr>
              <a:t>a[i]</a:t>
            </a:r>
            <a:endParaRPr sz="1800">
              <a:latin typeface="Consolas" panose="020B0609020204030204"/>
              <a:cs typeface="Consolas" panose="020B0609020204030204"/>
            </a:endParaRPr>
          </a:p>
        </p:txBody>
      </p:sp>
      <p:sp>
        <p:nvSpPr>
          <p:cNvPr id="12" name="object 12"/>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3" name="object 13"/>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4" name="object 14"/>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a:t>
            </a:fld>
            <a:endParaRPr dirty="0"/>
          </a:p>
        </p:txBody>
      </p:sp>
      <p:sp>
        <p:nvSpPr>
          <p:cNvPr id="10" name="object 10"/>
          <p:cNvSpPr txBox="1"/>
          <p:nvPr/>
        </p:nvSpPr>
        <p:spPr>
          <a:xfrm>
            <a:off x="7565388" y="2721355"/>
            <a:ext cx="10293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onsolas" panose="020B0609020204030204"/>
                <a:cs typeface="Consolas" panose="020B0609020204030204"/>
              </a:rPr>
              <a:t>a[j]</a:t>
            </a:r>
            <a:r>
              <a:rPr sz="1800" spc="-50"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50"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x</a:t>
            </a:r>
            <a:endParaRPr sz="1800" dirty="0">
              <a:latin typeface="Consolas" panose="020B0609020204030204"/>
              <a:cs typeface="Consolas" panose="020B0609020204030204"/>
            </a:endParaRPr>
          </a:p>
        </p:txBody>
      </p:sp>
      <p:sp>
        <p:nvSpPr>
          <p:cNvPr id="11" name="object 11"/>
          <p:cNvSpPr txBox="1"/>
          <p:nvPr/>
        </p:nvSpPr>
        <p:spPr>
          <a:xfrm>
            <a:off x="641274" y="5600441"/>
            <a:ext cx="7861934" cy="339090"/>
          </a:xfrm>
          <a:prstGeom prst="rect">
            <a:avLst/>
          </a:prstGeom>
          <a:solidFill>
            <a:srgbClr val="FFF2CC"/>
          </a:solidFill>
          <a:ln w="9525">
            <a:solidFill>
              <a:srgbClr val="000000"/>
            </a:solidFill>
          </a:ln>
        </p:spPr>
        <p:txBody>
          <a:bodyPr vert="horz" wrap="square" lIns="0" tIns="33020" rIns="0" bIns="0" rtlCol="0">
            <a:spAutoFit/>
          </a:bodyPr>
          <a:lstStyle/>
          <a:p>
            <a:pPr marL="128905">
              <a:lnSpc>
                <a:spcPct val="100000"/>
              </a:lnSpc>
              <a:spcBef>
                <a:spcPts val="260"/>
              </a:spcBef>
            </a:pPr>
            <a:r>
              <a:rPr sz="1600" spc="-5" dirty="0">
                <a:latin typeface="Palatino Linotype" panose="02040502050505030304"/>
                <a:cs typeface="Palatino Linotype" panose="02040502050505030304"/>
              </a:rPr>
              <a:t>Each</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array</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access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translates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into</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multiplcation</a:t>
            </a:r>
            <a:r>
              <a:rPr sz="1600" spc="2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and</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a:t>
            </a:r>
            <a:r>
              <a:rPr sz="1600" spc="2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array-subscripting</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operation</a:t>
            </a:r>
            <a:endParaRPr sz="1600">
              <a:latin typeface="Palatino Linotype" panose="02040502050505030304"/>
              <a:cs typeface="Palatino Linotype" panose="0204050205050503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876053" y="193074"/>
            <a:ext cx="5080412" cy="6262488"/>
          </a:xfrm>
          <a:prstGeom prst="rect">
            <a:avLst/>
          </a:prstGeom>
        </p:spPr>
      </p:pic>
      <p:sp>
        <p:nvSpPr>
          <p:cNvPr id="3" name="object 3"/>
          <p:cNvSpPr txBox="1">
            <a:spLocks noGrp="1"/>
          </p:cNvSpPr>
          <p:nvPr>
            <p:ph type="title"/>
          </p:nvPr>
        </p:nvSpPr>
        <p:spPr>
          <a:xfrm>
            <a:off x="707390" y="524763"/>
            <a:ext cx="2807970" cy="635000"/>
          </a:xfrm>
          <a:prstGeom prst="rect">
            <a:avLst/>
          </a:prstGeom>
        </p:spPr>
        <p:txBody>
          <a:bodyPr vert="horz" wrap="square" lIns="0" tIns="12700" rIns="0" bIns="0" rtlCol="0">
            <a:spAutoFit/>
          </a:bodyPr>
          <a:lstStyle/>
          <a:p>
            <a:pPr marL="12700">
              <a:lnSpc>
                <a:spcPct val="100000"/>
              </a:lnSpc>
              <a:spcBef>
                <a:spcPts val="100"/>
              </a:spcBef>
            </a:pPr>
            <a:r>
              <a:rPr sz="4000" spc="-5" dirty="0"/>
              <a:t>Flow</a:t>
            </a:r>
            <a:r>
              <a:rPr sz="4000" spc="-75" dirty="0"/>
              <a:t> </a:t>
            </a:r>
            <a:r>
              <a:rPr sz="4000" dirty="0"/>
              <a:t>Graph</a:t>
            </a:r>
            <a:endParaRPr sz="4000"/>
          </a:p>
        </p:txBody>
      </p:sp>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9</a:t>
            </a:fld>
            <a:endParaRPr dirty="0"/>
          </a:p>
        </p:txBody>
      </p:sp>
      <p:sp>
        <p:nvSpPr>
          <p:cNvPr id="2" name="object 2"/>
          <p:cNvSpPr txBox="1">
            <a:spLocks noGrp="1"/>
          </p:cNvSpPr>
          <p:nvPr>
            <p:ph type="title"/>
          </p:nvPr>
        </p:nvSpPr>
        <p:spPr>
          <a:xfrm>
            <a:off x="707390" y="560832"/>
            <a:ext cx="7682865" cy="558800"/>
          </a:xfrm>
          <a:prstGeom prst="rect">
            <a:avLst/>
          </a:prstGeom>
        </p:spPr>
        <p:txBody>
          <a:bodyPr vert="horz" wrap="square" lIns="0" tIns="12700" rIns="0" bIns="0" rtlCol="0">
            <a:spAutoFit/>
          </a:bodyPr>
          <a:lstStyle/>
          <a:p>
            <a:pPr marL="12700">
              <a:lnSpc>
                <a:spcPct val="100000"/>
              </a:lnSpc>
              <a:spcBef>
                <a:spcPts val="100"/>
              </a:spcBef>
            </a:pPr>
            <a:r>
              <a:rPr sz="3500" spc="-5" dirty="0"/>
              <a:t>Semantic-Preserving</a:t>
            </a:r>
            <a:r>
              <a:rPr sz="3500" spc="-25" dirty="0"/>
              <a:t> </a:t>
            </a:r>
            <a:r>
              <a:rPr sz="3500" spc="-20" dirty="0"/>
              <a:t>Transformations</a:t>
            </a:r>
            <a:endParaRPr sz="3500"/>
          </a:p>
        </p:txBody>
      </p:sp>
      <p:sp>
        <p:nvSpPr>
          <p:cNvPr id="3" name="object 3"/>
          <p:cNvSpPr txBox="1"/>
          <p:nvPr/>
        </p:nvSpPr>
        <p:spPr>
          <a:xfrm>
            <a:off x="707390" y="1900428"/>
            <a:ext cx="5582285" cy="302514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600" spc="-5" dirty="0">
                <a:latin typeface="Palatino Linotype" panose="02040502050505030304"/>
                <a:cs typeface="Palatino Linotype" panose="02040502050505030304"/>
              </a:rPr>
              <a:t>Common-subexpression</a:t>
            </a:r>
            <a:r>
              <a:rPr sz="2600" spc="-30" dirty="0">
                <a:latin typeface="Palatino Linotype" panose="02040502050505030304"/>
                <a:cs typeface="Palatino Linotype" panose="02040502050505030304"/>
              </a:rPr>
              <a:t> </a:t>
            </a:r>
            <a:r>
              <a:rPr sz="2600" dirty="0">
                <a:latin typeface="Palatino Linotype" panose="02040502050505030304"/>
                <a:cs typeface="Palatino Linotype" panose="02040502050505030304"/>
              </a:rPr>
              <a:t>elimination</a:t>
            </a:r>
            <a:endParaRPr sz="2600">
              <a:latin typeface="Palatino Linotype" panose="02040502050505030304"/>
              <a:cs typeface="Palatino Linotype" panose="02040502050505030304"/>
            </a:endParaRPr>
          </a:p>
          <a:p>
            <a:pPr>
              <a:lnSpc>
                <a:spcPct val="100000"/>
              </a:lnSpc>
              <a:spcBef>
                <a:spcPts val="25"/>
              </a:spcBef>
              <a:buFont typeface="Arial MT"/>
              <a:buChar char="•"/>
            </a:pPr>
            <a:endParaRPr sz="2700">
              <a:latin typeface="Palatino Linotype" panose="02040502050505030304"/>
              <a:cs typeface="Palatino Linotype" panose="02040502050505030304"/>
            </a:endParaRPr>
          </a:p>
          <a:p>
            <a:pPr marL="243205" indent="-230505">
              <a:lnSpc>
                <a:spcPct val="100000"/>
              </a:lnSpc>
              <a:spcBef>
                <a:spcPts val="5"/>
              </a:spcBef>
              <a:buFont typeface="Arial MT"/>
              <a:buChar char="•"/>
              <a:tabLst>
                <a:tab pos="242570" algn="l"/>
              </a:tabLst>
            </a:pPr>
            <a:r>
              <a:rPr sz="2600" spc="-5" dirty="0">
                <a:latin typeface="Palatino Linotype" panose="02040502050505030304"/>
                <a:cs typeface="Palatino Linotype" panose="02040502050505030304"/>
              </a:rPr>
              <a:t>Copy</a:t>
            </a:r>
            <a:r>
              <a:rPr sz="2600" spc="-20" dirty="0">
                <a:latin typeface="Palatino Linotype" panose="02040502050505030304"/>
                <a:cs typeface="Palatino Linotype" panose="02040502050505030304"/>
              </a:rPr>
              <a:t> </a:t>
            </a:r>
            <a:r>
              <a:rPr sz="2600" spc="-5" dirty="0">
                <a:latin typeface="Palatino Linotype" panose="02040502050505030304"/>
                <a:cs typeface="Palatino Linotype" panose="02040502050505030304"/>
              </a:rPr>
              <a:t>propagation</a:t>
            </a:r>
            <a:endParaRPr sz="2600">
              <a:latin typeface="Palatino Linotype" panose="02040502050505030304"/>
              <a:cs typeface="Palatino Linotype" panose="02040502050505030304"/>
            </a:endParaRPr>
          </a:p>
          <a:p>
            <a:pPr>
              <a:lnSpc>
                <a:spcPct val="100000"/>
              </a:lnSpc>
              <a:spcBef>
                <a:spcPts val="10"/>
              </a:spcBef>
              <a:buFont typeface="Arial MT"/>
              <a:buChar char="•"/>
            </a:pPr>
            <a:endParaRPr sz="2800">
              <a:latin typeface="Palatino Linotype" panose="02040502050505030304"/>
              <a:cs typeface="Palatino Linotype" panose="02040502050505030304"/>
            </a:endParaRPr>
          </a:p>
          <a:p>
            <a:pPr marL="243205" indent="-230505">
              <a:lnSpc>
                <a:spcPct val="100000"/>
              </a:lnSpc>
              <a:buFont typeface="Arial MT"/>
              <a:buChar char="•"/>
              <a:tabLst>
                <a:tab pos="242570" algn="l"/>
              </a:tabLst>
            </a:pPr>
            <a:r>
              <a:rPr sz="2600" spc="-5" dirty="0">
                <a:latin typeface="Palatino Linotype" panose="02040502050505030304"/>
                <a:cs typeface="Palatino Linotype" panose="02040502050505030304"/>
              </a:rPr>
              <a:t>Dead-code</a:t>
            </a:r>
            <a:r>
              <a:rPr sz="2600" spc="-25" dirty="0">
                <a:latin typeface="Palatino Linotype" panose="02040502050505030304"/>
                <a:cs typeface="Palatino Linotype" panose="02040502050505030304"/>
              </a:rPr>
              <a:t> </a:t>
            </a:r>
            <a:r>
              <a:rPr sz="2600" dirty="0">
                <a:latin typeface="Palatino Linotype" panose="02040502050505030304"/>
                <a:cs typeface="Palatino Linotype" panose="02040502050505030304"/>
              </a:rPr>
              <a:t>elimination</a:t>
            </a:r>
            <a:endParaRPr sz="2600">
              <a:latin typeface="Palatino Linotype" panose="02040502050505030304"/>
              <a:cs typeface="Palatino Linotype" panose="02040502050505030304"/>
            </a:endParaRPr>
          </a:p>
          <a:p>
            <a:pPr>
              <a:lnSpc>
                <a:spcPct val="100000"/>
              </a:lnSpc>
              <a:spcBef>
                <a:spcPts val="30"/>
              </a:spcBef>
              <a:buFont typeface="Arial MT"/>
              <a:buChar char="•"/>
            </a:pPr>
            <a:endParaRPr sz="2700">
              <a:latin typeface="Palatino Linotype" panose="02040502050505030304"/>
              <a:cs typeface="Palatino Linotype" panose="02040502050505030304"/>
            </a:endParaRPr>
          </a:p>
          <a:p>
            <a:pPr marL="243205" indent="-230505">
              <a:lnSpc>
                <a:spcPct val="100000"/>
              </a:lnSpc>
              <a:buFont typeface="Arial MT"/>
              <a:buChar char="•"/>
              <a:tabLst>
                <a:tab pos="242570" algn="l"/>
              </a:tabLst>
            </a:pPr>
            <a:r>
              <a:rPr sz="2600" spc="-5" dirty="0">
                <a:latin typeface="Palatino Linotype" panose="02040502050505030304"/>
                <a:cs typeface="Palatino Linotype" panose="02040502050505030304"/>
              </a:rPr>
              <a:t>Code</a:t>
            </a:r>
            <a:r>
              <a:rPr sz="2600" spc="-35" dirty="0">
                <a:latin typeface="Palatino Linotype" panose="02040502050505030304"/>
                <a:cs typeface="Palatino Linotype" panose="02040502050505030304"/>
              </a:rPr>
              <a:t> </a:t>
            </a:r>
            <a:r>
              <a:rPr sz="2600" dirty="0">
                <a:latin typeface="Palatino Linotype" panose="02040502050505030304"/>
                <a:cs typeface="Palatino Linotype" panose="02040502050505030304"/>
              </a:rPr>
              <a:t>motion</a:t>
            </a:r>
            <a:endParaRPr sz="2600">
              <a:latin typeface="Palatino Linotype" panose="02040502050505030304"/>
              <a:cs typeface="Palatino Linotype" panose="0204050205050503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768" y="599439"/>
            <a:ext cx="7765415" cy="497840"/>
          </a:xfrm>
          <a:prstGeom prst="rect">
            <a:avLst/>
          </a:prstGeom>
        </p:spPr>
        <p:txBody>
          <a:bodyPr vert="horz" wrap="square" lIns="0" tIns="12700" rIns="0" bIns="0" rtlCol="0">
            <a:spAutoFit/>
          </a:bodyPr>
          <a:lstStyle/>
          <a:p>
            <a:pPr marL="12700">
              <a:lnSpc>
                <a:spcPct val="100000"/>
              </a:lnSpc>
              <a:spcBef>
                <a:spcPts val="100"/>
              </a:spcBef>
            </a:pPr>
            <a:r>
              <a:rPr sz="3100" spc="-5" dirty="0"/>
              <a:t>Local</a:t>
            </a:r>
            <a:r>
              <a:rPr sz="3100" dirty="0"/>
              <a:t> </a:t>
            </a:r>
            <a:r>
              <a:rPr sz="3100" spc="-5" dirty="0"/>
              <a:t>Common-Subexpression</a:t>
            </a:r>
            <a:r>
              <a:rPr sz="3100" spc="-15" dirty="0"/>
              <a:t> </a:t>
            </a:r>
            <a:r>
              <a:rPr sz="3100" dirty="0"/>
              <a:t>Elimination</a:t>
            </a:r>
            <a:endParaRPr sz="3100"/>
          </a:p>
        </p:txBody>
      </p:sp>
      <p:grpSp>
        <p:nvGrpSpPr>
          <p:cNvPr id="3" name="object 3"/>
          <p:cNvGrpSpPr/>
          <p:nvPr/>
        </p:nvGrpSpPr>
        <p:grpSpPr>
          <a:xfrm>
            <a:off x="791445" y="2225389"/>
            <a:ext cx="2674620" cy="2915285"/>
            <a:chOff x="791445" y="2225389"/>
            <a:chExt cx="2674620" cy="2915285"/>
          </a:xfrm>
        </p:grpSpPr>
        <p:pic>
          <p:nvPicPr>
            <p:cNvPr id="4" name="object 4"/>
            <p:cNvPicPr/>
            <p:nvPr/>
          </p:nvPicPr>
          <p:blipFill>
            <a:blip r:embed="rId3" cstate="print"/>
            <a:stretch>
              <a:fillRect/>
            </a:stretch>
          </p:blipFill>
          <p:spPr>
            <a:xfrm>
              <a:off x="791445" y="2225389"/>
              <a:ext cx="2674497" cy="2914814"/>
            </a:xfrm>
            <a:prstGeom prst="rect">
              <a:avLst/>
            </a:prstGeom>
          </p:spPr>
        </p:pic>
        <p:sp>
          <p:nvSpPr>
            <p:cNvPr id="5" name="object 5"/>
            <p:cNvSpPr/>
            <p:nvPr/>
          </p:nvSpPr>
          <p:spPr>
            <a:xfrm>
              <a:off x="926274" y="2327563"/>
              <a:ext cx="1259205" cy="297180"/>
            </a:xfrm>
            <a:custGeom>
              <a:avLst/>
              <a:gdLst/>
              <a:ahLst/>
              <a:cxnLst/>
              <a:rect l="l" t="t" r="r" b="b"/>
              <a:pathLst>
                <a:path w="1259205" h="297180">
                  <a:moveTo>
                    <a:pt x="0" y="0"/>
                  </a:moveTo>
                  <a:lnTo>
                    <a:pt x="1258785" y="0"/>
                  </a:lnTo>
                  <a:lnTo>
                    <a:pt x="1258785" y="296883"/>
                  </a:lnTo>
                  <a:lnTo>
                    <a:pt x="0" y="296883"/>
                  </a:lnTo>
                  <a:lnTo>
                    <a:pt x="0" y="0"/>
                  </a:lnTo>
                  <a:close/>
                </a:path>
              </a:pathLst>
            </a:custGeom>
            <a:ln w="12700">
              <a:solidFill>
                <a:srgbClr val="FF0000"/>
              </a:solidFill>
            </a:ln>
          </p:spPr>
          <p:txBody>
            <a:bodyPr wrap="square" lIns="0" tIns="0" rIns="0" bIns="0" rtlCol="0"/>
            <a:lstStyle/>
            <a:p>
              <a:endParaRPr/>
            </a:p>
          </p:txBody>
        </p:sp>
        <p:sp>
          <p:nvSpPr>
            <p:cNvPr id="6" name="object 6"/>
            <p:cNvSpPr/>
            <p:nvPr/>
          </p:nvSpPr>
          <p:spPr>
            <a:xfrm>
              <a:off x="926273" y="2941548"/>
              <a:ext cx="1259205" cy="297180"/>
            </a:xfrm>
            <a:custGeom>
              <a:avLst/>
              <a:gdLst/>
              <a:ahLst/>
              <a:cxnLst/>
              <a:rect l="l" t="t" r="r" b="b"/>
              <a:pathLst>
                <a:path w="1259205" h="297180">
                  <a:moveTo>
                    <a:pt x="0" y="0"/>
                  </a:moveTo>
                  <a:lnTo>
                    <a:pt x="1258785" y="0"/>
                  </a:lnTo>
                  <a:lnTo>
                    <a:pt x="1258785" y="296883"/>
                  </a:lnTo>
                  <a:lnTo>
                    <a:pt x="0" y="296883"/>
                  </a:lnTo>
                  <a:lnTo>
                    <a:pt x="0" y="0"/>
                  </a:lnTo>
                  <a:close/>
                </a:path>
              </a:pathLst>
            </a:custGeom>
            <a:ln w="12700">
              <a:solidFill>
                <a:srgbClr val="FF0000"/>
              </a:solidFill>
            </a:ln>
          </p:spPr>
          <p:txBody>
            <a:bodyPr wrap="square" lIns="0" tIns="0" rIns="0" bIns="0" rtlCol="0"/>
            <a:lstStyle/>
            <a:p>
              <a:endParaRPr/>
            </a:p>
          </p:txBody>
        </p:sp>
      </p:grpSp>
      <p:sp>
        <p:nvSpPr>
          <p:cNvPr id="7" name="object 7"/>
          <p:cNvSpPr txBox="1"/>
          <p:nvPr/>
        </p:nvSpPr>
        <p:spPr>
          <a:xfrm>
            <a:off x="3574473" y="2875084"/>
            <a:ext cx="4940935" cy="646430"/>
          </a:xfrm>
          <a:prstGeom prst="rect">
            <a:avLst/>
          </a:prstGeom>
          <a:solidFill>
            <a:srgbClr val="FFF2CC"/>
          </a:solidFill>
          <a:ln w="9525">
            <a:solidFill>
              <a:srgbClr val="000000"/>
            </a:solidFill>
          </a:ln>
        </p:spPr>
        <p:txBody>
          <a:bodyPr vert="horz" wrap="square" lIns="0" tIns="46990" rIns="0" bIns="0" rtlCol="0">
            <a:spAutoFit/>
          </a:bodyPr>
          <a:lstStyle/>
          <a:p>
            <a:pPr marL="90805" marR="212090">
              <a:lnSpc>
                <a:spcPts val="2110"/>
              </a:lnSpc>
              <a:spcBef>
                <a:spcPts val="370"/>
              </a:spcBef>
            </a:pPr>
            <a:r>
              <a:rPr sz="1800" spc="-5" dirty="0">
                <a:latin typeface="Palatino Linotype" panose="02040502050505030304"/>
                <a:cs typeface="Palatino Linotype" panose="02040502050505030304"/>
              </a:rPr>
              <a:t>T</a:t>
            </a:r>
            <a:r>
              <a:rPr sz="1800" dirty="0">
                <a:latin typeface="Palatino Linotype" panose="02040502050505030304"/>
                <a:cs typeface="Palatino Linotype" panose="02040502050505030304"/>
              </a:rPr>
              <a:t>he </a:t>
            </a:r>
            <a:r>
              <a:rPr sz="1800" spc="-55" dirty="0">
                <a:latin typeface="Palatino Linotype" panose="02040502050505030304"/>
                <a:cs typeface="Palatino Linotype" panose="02040502050505030304"/>
              </a:rPr>
              <a:t>v</a:t>
            </a:r>
            <a:r>
              <a:rPr sz="1800" dirty="0">
                <a:latin typeface="Palatino Linotype" panose="02040502050505030304"/>
                <a:cs typeface="Palatino Linotype" panose="02040502050505030304"/>
              </a:rPr>
              <a:t>alue of </a:t>
            </a:r>
            <a:r>
              <a:rPr sz="1800" dirty="0">
                <a:solidFill>
                  <a:srgbClr val="0432FF"/>
                </a:solidFill>
                <a:latin typeface="Consolas" panose="020B0609020204030204"/>
                <a:cs typeface="Consolas" panose="020B0609020204030204"/>
              </a:rPr>
              <a:t>i</a:t>
            </a:r>
            <a:r>
              <a:rPr sz="1800" spc="-545" dirty="0">
                <a:solidFill>
                  <a:srgbClr val="0432FF"/>
                </a:solidFill>
                <a:latin typeface="Consolas" panose="020B0609020204030204"/>
                <a:cs typeface="Consolas" panose="020B0609020204030204"/>
              </a:rPr>
              <a:t> </a:t>
            </a:r>
            <a:r>
              <a:rPr sz="1800" dirty="0">
                <a:latin typeface="Palatino Linotype" panose="02040502050505030304"/>
                <a:cs typeface="Palatino Linotype" panose="02040502050505030304"/>
              </a:rPr>
              <a:t>has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not chan</a:t>
            </a:r>
            <a:r>
              <a:rPr sz="1800" spc="-5" dirty="0">
                <a:latin typeface="Palatino Linotype" panose="02040502050505030304"/>
                <a:cs typeface="Palatino Linotype" panose="02040502050505030304"/>
              </a:rPr>
              <a:t>g</a:t>
            </a:r>
            <a:r>
              <a:rPr sz="1800" dirty="0">
                <a:latin typeface="Palatino Linotype" panose="02040502050505030304"/>
                <a:cs typeface="Palatino Linotype" panose="02040502050505030304"/>
              </a:rPr>
              <a:t>ed in the interi</a:t>
            </a:r>
            <a:r>
              <a:rPr sz="1800" spc="-5" dirty="0">
                <a:latin typeface="Palatino Linotype" panose="02040502050505030304"/>
                <a:cs typeface="Palatino Linotype" panose="02040502050505030304"/>
              </a:rPr>
              <a:t>m</a:t>
            </a:r>
            <a:r>
              <a:rPr sz="1800" dirty="0">
                <a:latin typeface="Palatino Linotype" panose="02040502050505030304"/>
                <a:cs typeface="Palatino Linotype" panose="02040502050505030304"/>
              </a:rPr>
              <a:t>,  do</a:t>
            </a:r>
            <a:r>
              <a:rPr sz="1800" spc="-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need 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recompute </a:t>
            </a:r>
            <a:r>
              <a:rPr sz="1800" spc="-5" dirty="0">
                <a:solidFill>
                  <a:srgbClr val="0432FF"/>
                </a:solidFill>
                <a:latin typeface="Consolas" panose="020B0609020204030204"/>
                <a:cs typeface="Consolas" panose="020B0609020204030204"/>
              </a:rPr>
              <a:t>4*i</a:t>
            </a:r>
            <a:r>
              <a:rPr sz="1800" spc="-5" dirty="0">
                <a:latin typeface="Palatino Linotype" panose="02040502050505030304"/>
                <a:cs typeface="Palatino Linotype" panose="02040502050505030304"/>
              </a:rPr>
              <a:t>?</a:t>
            </a:r>
            <a:endParaRPr sz="1800">
              <a:latin typeface="Palatino Linotype" panose="02040502050505030304"/>
              <a:cs typeface="Palatino Linotype" panose="02040502050505030304"/>
            </a:endParaRPr>
          </a:p>
        </p:txBody>
      </p:sp>
      <p:grpSp>
        <p:nvGrpSpPr>
          <p:cNvPr id="8" name="object 8"/>
          <p:cNvGrpSpPr/>
          <p:nvPr/>
        </p:nvGrpSpPr>
        <p:grpSpPr>
          <a:xfrm>
            <a:off x="919923" y="2470372"/>
            <a:ext cx="2654935" cy="1971675"/>
            <a:chOff x="919923" y="2470372"/>
            <a:chExt cx="2654935" cy="1971675"/>
          </a:xfrm>
        </p:grpSpPr>
        <p:sp>
          <p:nvSpPr>
            <p:cNvPr id="9" name="object 9"/>
            <p:cNvSpPr/>
            <p:nvPr/>
          </p:nvSpPr>
          <p:spPr>
            <a:xfrm>
              <a:off x="2182126" y="2470378"/>
              <a:ext cx="1392555" cy="760095"/>
            </a:xfrm>
            <a:custGeom>
              <a:avLst/>
              <a:gdLst/>
              <a:ahLst/>
              <a:cxnLst/>
              <a:rect l="l" t="t" r="r" b="b"/>
              <a:pathLst>
                <a:path w="1392554" h="760094">
                  <a:moveTo>
                    <a:pt x="1388897" y="729272"/>
                  </a:moveTo>
                  <a:lnTo>
                    <a:pt x="1328534" y="729272"/>
                  </a:lnTo>
                  <a:lnTo>
                    <a:pt x="1315796" y="729272"/>
                  </a:lnTo>
                  <a:lnTo>
                    <a:pt x="1313408" y="759942"/>
                  </a:lnTo>
                  <a:lnTo>
                    <a:pt x="1388897" y="729272"/>
                  </a:lnTo>
                  <a:close/>
                </a:path>
                <a:path w="1392554" h="760094">
                  <a:moveTo>
                    <a:pt x="1392339" y="727875"/>
                  </a:moveTo>
                  <a:lnTo>
                    <a:pt x="1375168" y="704227"/>
                  </a:lnTo>
                  <a:lnTo>
                    <a:pt x="1342301" y="658926"/>
                  </a:lnTo>
                  <a:lnTo>
                    <a:pt x="1327658" y="687095"/>
                  </a:lnTo>
                  <a:lnTo>
                    <a:pt x="5854" y="0"/>
                  </a:lnTo>
                  <a:lnTo>
                    <a:pt x="0" y="11264"/>
                  </a:lnTo>
                  <a:lnTo>
                    <a:pt x="1318336" y="696582"/>
                  </a:lnTo>
                  <a:lnTo>
                    <a:pt x="1317561" y="706513"/>
                  </a:lnTo>
                  <a:lnTo>
                    <a:pt x="1312976" y="715340"/>
                  </a:lnTo>
                  <a:lnTo>
                    <a:pt x="3416" y="613283"/>
                  </a:lnTo>
                  <a:lnTo>
                    <a:pt x="2438" y="625944"/>
                  </a:lnTo>
                  <a:lnTo>
                    <a:pt x="1315872" y="728294"/>
                  </a:lnTo>
                  <a:lnTo>
                    <a:pt x="1328610" y="728294"/>
                  </a:lnTo>
                  <a:lnTo>
                    <a:pt x="1391335" y="728294"/>
                  </a:lnTo>
                  <a:lnTo>
                    <a:pt x="1392339" y="727875"/>
                  </a:lnTo>
                  <a:close/>
                </a:path>
              </a:pathLst>
            </a:custGeom>
            <a:solidFill>
              <a:srgbClr val="FF0000"/>
            </a:solidFill>
          </p:spPr>
          <p:txBody>
            <a:bodyPr wrap="square" lIns="0" tIns="0" rIns="0" bIns="0" rtlCol="0"/>
            <a:lstStyle/>
            <a:p>
              <a:endParaRPr/>
            </a:p>
          </p:txBody>
        </p:sp>
        <p:sp>
          <p:nvSpPr>
            <p:cNvPr id="10" name="object 10"/>
            <p:cNvSpPr/>
            <p:nvPr/>
          </p:nvSpPr>
          <p:spPr>
            <a:xfrm>
              <a:off x="926273" y="3275003"/>
              <a:ext cx="1259205" cy="297180"/>
            </a:xfrm>
            <a:custGeom>
              <a:avLst/>
              <a:gdLst/>
              <a:ahLst/>
              <a:cxnLst/>
              <a:rect l="l" t="t" r="r" b="b"/>
              <a:pathLst>
                <a:path w="1259205" h="297179">
                  <a:moveTo>
                    <a:pt x="0" y="0"/>
                  </a:moveTo>
                  <a:lnTo>
                    <a:pt x="1258785" y="0"/>
                  </a:lnTo>
                  <a:lnTo>
                    <a:pt x="1258785" y="296883"/>
                  </a:lnTo>
                  <a:lnTo>
                    <a:pt x="0" y="296883"/>
                  </a:lnTo>
                  <a:lnTo>
                    <a:pt x="0" y="0"/>
                  </a:lnTo>
                  <a:close/>
                </a:path>
              </a:pathLst>
            </a:custGeom>
            <a:ln w="12700">
              <a:solidFill>
                <a:srgbClr val="0432FF"/>
              </a:solidFill>
            </a:ln>
          </p:spPr>
          <p:txBody>
            <a:bodyPr wrap="square" lIns="0" tIns="0" rIns="0" bIns="0" rtlCol="0"/>
            <a:lstStyle/>
            <a:p>
              <a:endParaRPr/>
            </a:p>
          </p:txBody>
        </p:sp>
        <p:sp>
          <p:nvSpPr>
            <p:cNvPr id="11" name="object 11"/>
            <p:cNvSpPr/>
            <p:nvPr/>
          </p:nvSpPr>
          <p:spPr>
            <a:xfrm>
              <a:off x="926273" y="4138453"/>
              <a:ext cx="1412875" cy="297180"/>
            </a:xfrm>
            <a:custGeom>
              <a:avLst/>
              <a:gdLst/>
              <a:ahLst/>
              <a:cxnLst/>
              <a:rect l="l" t="t" r="r" b="b"/>
              <a:pathLst>
                <a:path w="1412875" h="297179">
                  <a:moveTo>
                    <a:pt x="0" y="0"/>
                  </a:moveTo>
                  <a:lnTo>
                    <a:pt x="1412481" y="0"/>
                  </a:lnTo>
                  <a:lnTo>
                    <a:pt x="1412481" y="296883"/>
                  </a:lnTo>
                  <a:lnTo>
                    <a:pt x="0" y="296883"/>
                  </a:lnTo>
                  <a:lnTo>
                    <a:pt x="0" y="0"/>
                  </a:lnTo>
                  <a:close/>
                </a:path>
              </a:pathLst>
            </a:custGeom>
            <a:ln w="12700">
              <a:solidFill>
                <a:srgbClr val="0432FF"/>
              </a:solidFill>
            </a:ln>
          </p:spPr>
          <p:txBody>
            <a:bodyPr wrap="square" lIns="0" tIns="0" rIns="0" bIns="0" rtlCol="0"/>
            <a:lstStyle/>
            <a:p>
              <a:endParaRPr/>
            </a:p>
          </p:txBody>
        </p:sp>
      </p:grpSp>
      <p:sp>
        <p:nvSpPr>
          <p:cNvPr id="12" name="object 12"/>
          <p:cNvSpPr txBox="1"/>
          <p:nvPr/>
        </p:nvSpPr>
        <p:spPr>
          <a:xfrm>
            <a:off x="3574472" y="3963728"/>
            <a:ext cx="4940935" cy="646430"/>
          </a:xfrm>
          <a:prstGeom prst="rect">
            <a:avLst/>
          </a:prstGeom>
          <a:solidFill>
            <a:srgbClr val="FFF2CC"/>
          </a:solidFill>
          <a:ln w="9525">
            <a:solidFill>
              <a:srgbClr val="000000"/>
            </a:solidFill>
          </a:ln>
        </p:spPr>
        <p:txBody>
          <a:bodyPr vert="horz" wrap="square" lIns="0" tIns="46355" rIns="0" bIns="0" rtlCol="0">
            <a:spAutoFit/>
          </a:bodyPr>
          <a:lstStyle/>
          <a:p>
            <a:pPr marL="90805" marR="212090">
              <a:lnSpc>
                <a:spcPts val="2110"/>
              </a:lnSpc>
              <a:spcBef>
                <a:spcPts val="365"/>
              </a:spcBef>
            </a:pPr>
            <a:r>
              <a:rPr sz="1800" spc="-5" dirty="0">
                <a:latin typeface="Palatino Linotype" panose="02040502050505030304"/>
                <a:cs typeface="Palatino Linotype" panose="02040502050505030304"/>
              </a:rPr>
              <a:t>T</a:t>
            </a:r>
            <a:r>
              <a:rPr sz="1800" dirty="0">
                <a:latin typeface="Palatino Linotype" panose="02040502050505030304"/>
                <a:cs typeface="Palatino Linotype" panose="02040502050505030304"/>
              </a:rPr>
              <a:t>he </a:t>
            </a:r>
            <a:r>
              <a:rPr sz="1800" spc="-55" dirty="0">
                <a:latin typeface="Palatino Linotype" panose="02040502050505030304"/>
                <a:cs typeface="Palatino Linotype" panose="02040502050505030304"/>
              </a:rPr>
              <a:t>v</a:t>
            </a:r>
            <a:r>
              <a:rPr sz="1800" dirty="0">
                <a:latin typeface="Palatino Linotype" panose="02040502050505030304"/>
                <a:cs typeface="Palatino Linotype" panose="02040502050505030304"/>
              </a:rPr>
              <a:t>alue of </a:t>
            </a:r>
            <a:r>
              <a:rPr sz="1800" dirty="0">
                <a:solidFill>
                  <a:srgbClr val="0432FF"/>
                </a:solidFill>
                <a:latin typeface="Consolas" panose="020B0609020204030204"/>
                <a:cs typeface="Consolas" panose="020B0609020204030204"/>
              </a:rPr>
              <a:t>j</a:t>
            </a:r>
            <a:r>
              <a:rPr sz="1800" spc="-545" dirty="0">
                <a:solidFill>
                  <a:srgbClr val="0432FF"/>
                </a:solidFill>
                <a:latin typeface="Consolas" panose="020B0609020204030204"/>
                <a:cs typeface="Consolas" panose="020B0609020204030204"/>
              </a:rPr>
              <a:t> </a:t>
            </a:r>
            <a:r>
              <a:rPr sz="1800" dirty="0">
                <a:latin typeface="Palatino Linotype" panose="02040502050505030304"/>
                <a:cs typeface="Palatino Linotype" panose="02040502050505030304"/>
              </a:rPr>
              <a:t>has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not chan</a:t>
            </a:r>
            <a:r>
              <a:rPr sz="1800" spc="-5" dirty="0">
                <a:latin typeface="Palatino Linotype" panose="02040502050505030304"/>
                <a:cs typeface="Palatino Linotype" panose="02040502050505030304"/>
              </a:rPr>
              <a:t>g</a:t>
            </a:r>
            <a:r>
              <a:rPr sz="1800" dirty="0">
                <a:latin typeface="Palatino Linotype" panose="02040502050505030304"/>
                <a:cs typeface="Palatino Linotype" panose="02040502050505030304"/>
              </a:rPr>
              <a:t>ed in the interi</a:t>
            </a:r>
            <a:r>
              <a:rPr sz="1800" spc="-5" dirty="0">
                <a:latin typeface="Palatino Linotype" panose="02040502050505030304"/>
                <a:cs typeface="Palatino Linotype" panose="02040502050505030304"/>
              </a:rPr>
              <a:t>m</a:t>
            </a:r>
            <a:r>
              <a:rPr sz="1800" dirty="0">
                <a:latin typeface="Palatino Linotype" panose="02040502050505030304"/>
                <a:cs typeface="Palatino Linotype" panose="02040502050505030304"/>
              </a:rPr>
              <a:t>,  do</a:t>
            </a:r>
            <a:r>
              <a:rPr sz="1800" spc="-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need 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recompute </a:t>
            </a:r>
            <a:r>
              <a:rPr sz="1800" spc="-5" dirty="0">
                <a:solidFill>
                  <a:srgbClr val="0432FF"/>
                </a:solidFill>
                <a:latin typeface="Consolas" panose="020B0609020204030204"/>
                <a:cs typeface="Consolas" panose="020B0609020204030204"/>
              </a:rPr>
              <a:t>4*j</a:t>
            </a:r>
            <a:r>
              <a:rPr sz="1800" spc="-5" dirty="0">
                <a:latin typeface="Palatino Linotype" panose="02040502050505030304"/>
                <a:cs typeface="Palatino Linotype" panose="02040502050505030304"/>
              </a:rPr>
              <a:t>?</a:t>
            </a:r>
            <a:endParaRPr sz="1800">
              <a:latin typeface="Palatino Linotype" panose="02040502050505030304"/>
              <a:cs typeface="Palatino Linotype" panose="02040502050505030304"/>
            </a:endParaRPr>
          </a:p>
        </p:txBody>
      </p:sp>
      <p:sp>
        <p:nvSpPr>
          <p:cNvPr id="13" name="object 13"/>
          <p:cNvSpPr/>
          <p:nvPr/>
        </p:nvSpPr>
        <p:spPr>
          <a:xfrm>
            <a:off x="2181694" y="3418052"/>
            <a:ext cx="1393190" cy="907415"/>
          </a:xfrm>
          <a:custGeom>
            <a:avLst/>
            <a:gdLst/>
            <a:ahLst/>
            <a:cxnLst/>
            <a:rect l="l" t="t" r="r" b="b"/>
            <a:pathLst>
              <a:path w="1393189" h="907414">
                <a:moveTo>
                  <a:pt x="1392770" y="868845"/>
                </a:moveTo>
                <a:lnTo>
                  <a:pt x="1375486" y="840727"/>
                </a:lnTo>
                <a:lnTo>
                  <a:pt x="1348155" y="796264"/>
                </a:lnTo>
                <a:lnTo>
                  <a:pt x="1331404" y="823239"/>
                </a:lnTo>
                <a:lnTo>
                  <a:pt x="6705" y="0"/>
                </a:lnTo>
                <a:lnTo>
                  <a:pt x="0" y="10795"/>
                </a:lnTo>
                <a:lnTo>
                  <a:pt x="1324698" y="834021"/>
                </a:lnTo>
                <a:lnTo>
                  <a:pt x="1324317" y="834631"/>
                </a:lnTo>
                <a:lnTo>
                  <a:pt x="1316570" y="830745"/>
                </a:lnTo>
                <a:lnTo>
                  <a:pt x="1316570" y="847102"/>
                </a:lnTo>
                <a:lnTo>
                  <a:pt x="1307934" y="860983"/>
                </a:lnTo>
                <a:lnTo>
                  <a:pt x="1316570" y="861796"/>
                </a:lnTo>
                <a:lnTo>
                  <a:pt x="1316570" y="862495"/>
                </a:lnTo>
                <a:lnTo>
                  <a:pt x="157048" y="862495"/>
                </a:lnTo>
                <a:lnTo>
                  <a:pt x="157048" y="875195"/>
                </a:lnTo>
                <a:lnTo>
                  <a:pt x="1316570" y="875195"/>
                </a:lnTo>
                <a:lnTo>
                  <a:pt x="1316570" y="906945"/>
                </a:lnTo>
                <a:lnTo>
                  <a:pt x="1392770" y="868845"/>
                </a:lnTo>
                <a:close/>
              </a:path>
            </a:pathLst>
          </a:custGeom>
          <a:solidFill>
            <a:srgbClr val="0432FF"/>
          </a:solidFill>
        </p:spPr>
        <p:txBody>
          <a:bodyPr wrap="square" lIns="0" tIns="0" rIns="0" bIns="0" rtlCol="0"/>
          <a:lstStyle/>
          <a:p>
            <a:endParaRPr/>
          </a:p>
        </p:txBody>
      </p:sp>
      <p:sp>
        <p:nvSpPr>
          <p:cNvPr id="14" name="object 1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5" name="object 1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6" name="object 1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768" y="599439"/>
            <a:ext cx="7765415" cy="497840"/>
          </a:xfrm>
          <a:prstGeom prst="rect">
            <a:avLst/>
          </a:prstGeom>
        </p:spPr>
        <p:txBody>
          <a:bodyPr vert="horz" wrap="square" lIns="0" tIns="12700" rIns="0" bIns="0" rtlCol="0">
            <a:spAutoFit/>
          </a:bodyPr>
          <a:lstStyle/>
          <a:p>
            <a:pPr marL="12700">
              <a:lnSpc>
                <a:spcPct val="100000"/>
              </a:lnSpc>
              <a:spcBef>
                <a:spcPts val="100"/>
              </a:spcBef>
            </a:pPr>
            <a:r>
              <a:rPr sz="3100" spc="-5" dirty="0"/>
              <a:t>Local</a:t>
            </a:r>
            <a:r>
              <a:rPr sz="3100" dirty="0"/>
              <a:t> </a:t>
            </a:r>
            <a:r>
              <a:rPr sz="3100" spc="-5" dirty="0"/>
              <a:t>Common-Subexpression</a:t>
            </a:r>
            <a:r>
              <a:rPr sz="3100" spc="-15" dirty="0"/>
              <a:t> </a:t>
            </a:r>
            <a:r>
              <a:rPr sz="3100" dirty="0"/>
              <a:t>Elimination</a:t>
            </a:r>
            <a:endParaRPr sz="3100"/>
          </a:p>
        </p:txBody>
      </p:sp>
      <p:grpSp>
        <p:nvGrpSpPr>
          <p:cNvPr id="3" name="object 3"/>
          <p:cNvGrpSpPr/>
          <p:nvPr/>
        </p:nvGrpSpPr>
        <p:grpSpPr>
          <a:xfrm>
            <a:off x="791445" y="1672817"/>
            <a:ext cx="7456805" cy="3115945"/>
            <a:chOff x="791445" y="1672817"/>
            <a:chExt cx="7456805" cy="3115945"/>
          </a:xfrm>
        </p:grpSpPr>
        <p:pic>
          <p:nvPicPr>
            <p:cNvPr id="4" name="object 4"/>
            <p:cNvPicPr/>
            <p:nvPr/>
          </p:nvPicPr>
          <p:blipFill>
            <a:blip r:embed="rId3" cstate="print"/>
            <a:stretch>
              <a:fillRect/>
            </a:stretch>
          </p:blipFill>
          <p:spPr>
            <a:xfrm>
              <a:off x="791445" y="1873694"/>
              <a:ext cx="2674497" cy="2914814"/>
            </a:xfrm>
            <a:prstGeom prst="rect">
              <a:avLst/>
            </a:prstGeom>
          </p:spPr>
        </p:pic>
        <p:sp>
          <p:nvSpPr>
            <p:cNvPr id="5" name="object 5"/>
            <p:cNvSpPr/>
            <p:nvPr/>
          </p:nvSpPr>
          <p:spPr>
            <a:xfrm>
              <a:off x="926274" y="1975869"/>
              <a:ext cx="1259205" cy="297180"/>
            </a:xfrm>
            <a:custGeom>
              <a:avLst/>
              <a:gdLst/>
              <a:ahLst/>
              <a:cxnLst/>
              <a:rect l="l" t="t" r="r" b="b"/>
              <a:pathLst>
                <a:path w="1259205" h="297180">
                  <a:moveTo>
                    <a:pt x="0" y="0"/>
                  </a:moveTo>
                  <a:lnTo>
                    <a:pt x="1258785" y="0"/>
                  </a:lnTo>
                  <a:lnTo>
                    <a:pt x="1258785" y="296883"/>
                  </a:lnTo>
                  <a:lnTo>
                    <a:pt x="0" y="296883"/>
                  </a:lnTo>
                  <a:lnTo>
                    <a:pt x="0" y="0"/>
                  </a:lnTo>
                  <a:close/>
                </a:path>
              </a:pathLst>
            </a:custGeom>
            <a:ln w="12700">
              <a:solidFill>
                <a:srgbClr val="FF0000"/>
              </a:solidFill>
            </a:ln>
          </p:spPr>
          <p:txBody>
            <a:bodyPr wrap="square" lIns="0" tIns="0" rIns="0" bIns="0" rtlCol="0"/>
            <a:lstStyle/>
            <a:p>
              <a:endParaRPr/>
            </a:p>
          </p:txBody>
        </p:sp>
        <p:sp>
          <p:nvSpPr>
            <p:cNvPr id="6" name="object 6"/>
            <p:cNvSpPr/>
            <p:nvPr/>
          </p:nvSpPr>
          <p:spPr>
            <a:xfrm>
              <a:off x="926273" y="2589855"/>
              <a:ext cx="1259205" cy="297180"/>
            </a:xfrm>
            <a:custGeom>
              <a:avLst/>
              <a:gdLst/>
              <a:ahLst/>
              <a:cxnLst/>
              <a:rect l="l" t="t" r="r" b="b"/>
              <a:pathLst>
                <a:path w="1259205" h="297180">
                  <a:moveTo>
                    <a:pt x="0" y="0"/>
                  </a:moveTo>
                  <a:lnTo>
                    <a:pt x="1258785" y="0"/>
                  </a:lnTo>
                  <a:lnTo>
                    <a:pt x="1258785" y="296883"/>
                  </a:lnTo>
                  <a:lnTo>
                    <a:pt x="0" y="296883"/>
                  </a:lnTo>
                  <a:lnTo>
                    <a:pt x="0" y="0"/>
                  </a:lnTo>
                  <a:close/>
                </a:path>
              </a:pathLst>
            </a:custGeom>
            <a:ln w="12700">
              <a:solidFill>
                <a:srgbClr val="FF0000"/>
              </a:solidFill>
            </a:ln>
          </p:spPr>
          <p:txBody>
            <a:bodyPr wrap="square" lIns="0" tIns="0" rIns="0" bIns="0" rtlCol="0"/>
            <a:lstStyle/>
            <a:p>
              <a:endParaRPr/>
            </a:p>
          </p:txBody>
        </p:sp>
        <p:pic>
          <p:nvPicPr>
            <p:cNvPr id="7" name="object 7"/>
            <p:cNvPicPr/>
            <p:nvPr/>
          </p:nvPicPr>
          <p:blipFill>
            <a:blip r:embed="rId4" cstate="print"/>
            <a:stretch>
              <a:fillRect/>
            </a:stretch>
          </p:blipFill>
          <p:spPr>
            <a:xfrm>
              <a:off x="5429995" y="1930020"/>
              <a:ext cx="2817958" cy="2416030"/>
            </a:xfrm>
            <a:prstGeom prst="rect">
              <a:avLst/>
            </a:prstGeom>
          </p:spPr>
        </p:pic>
        <p:sp>
          <p:nvSpPr>
            <p:cNvPr id="8" name="object 8"/>
            <p:cNvSpPr/>
            <p:nvPr/>
          </p:nvSpPr>
          <p:spPr>
            <a:xfrm>
              <a:off x="2186203" y="1672818"/>
              <a:ext cx="3406140" cy="1050925"/>
            </a:xfrm>
            <a:custGeom>
              <a:avLst/>
              <a:gdLst/>
              <a:ahLst/>
              <a:cxnLst/>
              <a:rect l="l" t="t" r="r" b="b"/>
              <a:pathLst>
                <a:path w="3406140" h="1050925">
                  <a:moveTo>
                    <a:pt x="3396932" y="569214"/>
                  </a:moveTo>
                  <a:lnTo>
                    <a:pt x="3385870" y="564680"/>
                  </a:lnTo>
                  <a:lnTo>
                    <a:pt x="3302000" y="530301"/>
                  </a:lnTo>
                  <a:lnTo>
                    <a:pt x="3298291" y="531850"/>
                  </a:lnTo>
                  <a:lnTo>
                    <a:pt x="3295624" y="538340"/>
                  </a:lnTo>
                  <a:lnTo>
                    <a:pt x="3297174" y="542048"/>
                  </a:lnTo>
                  <a:lnTo>
                    <a:pt x="3360318" y="567931"/>
                  </a:lnTo>
                  <a:lnTo>
                    <a:pt x="2197" y="1037717"/>
                  </a:lnTo>
                  <a:lnTo>
                    <a:pt x="3949" y="1050302"/>
                  </a:lnTo>
                  <a:lnTo>
                    <a:pt x="3362071" y="580504"/>
                  </a:lnTo>
                  <a:lnTo>
                    <a:pt x="3308464" y="622731"/>
                  </a:lnTo>
                  <a:lnTo>
                    <a:pt x="3307994" y="626719"/>
                  </a:lnTo>
                  <a:lnTo>
                    <a:pt x="3312325" y="632231"/>
                  </a:lnTo>
                  <a:lnTo>
                    <a:pt x="3316325" y="632701"/>
                  </a:lnTo>
                  <a:lnTo>
                    <a:pt x="3396932" y="569214"/>
                  </a:lnTo>
                  <a:close/>
                </a:path>
                <a:path w="3406140" h="1050925">
                  <a:moveTo>
                    <a:pt x="3405721" y="490105"/>
                  </a:moveTo>
                  <a:lnTo>
                    <a:pt x="3337014" y="413893"/>
                  </a:lnTo>
                  <a:lnTo>
                    <a:pt x="3333000" y="413689"/>
                  </a:lnTo>
                  <a:lnTo>
                    <a:pt x="3327793" y="418376"/>
                  </a:lnTo>
                  <a:lnTo>
                    <a:pt x="3327590" y="422402"/>
                  </a:lnTo>
                  <a:lnTo>
                    <a:pt x="3373272" y="473075"/>
                  </a:lnTo>
                  <a:lnTo>
                    <a:pt x="3168078" y="407568"/>
                  </a:lnTo>
                  <a:lnTo>
                    <a:pt x="3030575" y="364121"/>
                  </a:lnTo>
                  <a:lnTo>
                    <a:pt x="3020364" y="360908"/>
                  </a:lnTo>
                  <a:lnTo>
                    <a:pt x="2893987" y="321691"/>
                  </a:lnTo>
                  <a:lnTo>
                    <a:pt x="2891091" y="320789"/>
                  </a:lnTo>
                  <a:lnTo>
                    <a:pt x="2758694" y="280593"/>
                  </a:lnTo>
                  <a:lnTo>
                    <a:pt x="2634653" y="243979"/>
                  </a:lnTo>
                  <a:lnTo>
                    <a:pt x="2583256" y="228981"/>
                  </a:lnTo>
                  <a:lnTo>
                    <a:pt x="2493340" y="203771"/>
                  </a:lnTo>
                  <a:lnTo>
                    <a:pt x="2449677" y="191528"/>
                  </a:lnTo>
                  <a:lnTo>
                    <a:pt x="2363990" y="168719"/>
                  </a:lnTo>
                  <a:lnTo>
                    <a:pt x="2317864" y="156425"/>
                  </a:lnTo>
                  <a:lnTo>
                    <a:pt x="2237448" y="136334"/>
                  </a:lnTo>
                  <a:lnTo>
                    <a:pt x="2188070" y="124002"/>
                  </a:lnTo>
                  <a:lnTo>
                    <a:pt x="2114258" y="106984"/>
                  </a:lnTo>
                  <a:lnTo>
                    <a:pt x="2060549" y="94589"/>
                  </a:lnTo>
                  <a:lnTo>
                    <a:pt x="1995233" y="80975"/>
                  </a:lnTo>
                  <a:lnTo>
                    <a:pt x="1935543" y="68529"/>
                  </a:lnTo>
                  <a:lnTo>
                    <a:pt x="1881619" y="58648"/>
                  </a:lnTo>
                  <a:lnTo>
                    <a:pt x="1813318" y="46139"/>
                  </a:lnTo>
                  <a:lnTo>
                    <a:pt x="1775688" y="40335"/>
                  </a:lnTo>
                  <a:lnTo>
                    <a:pt x="1726793" y="32804"/>
                  </a:lnTo>
                  <a:lnTo>
                    <a:pt x="1694154" y="27774"/>
                  </a:lnTo>
                  <a:lnTo>
                    <a:pt x="1683473" y="26390"/>
                  </a:lnTo>
                  <a:lnTo>
                    <a:pt x="1643049" y="21145"/>
                  </a:lnTo>
                  <a:lnTo>
                    <a:pt x="1635734" y="20205"/>
                  </a:lnTo>
                  <a:lnTo>
                    <a:pt x="1608201" y="17119"/>
                  </a:lnTo>
                  <a:lnTo>
                    <a:pt x="1583385" y="14351"/>
                  </a:lnTo>
                  <a:lnTo>
                    <a:pt x="1578203" y="13766"/>
                  </a:lnTo>
                  <a:lnTo>
                    <a:pt x="1568500" y="12865"/>
                  </a:lnTo>
                  <a:lnTo>
                    <a:pt x="1566773" y="12700"/>
                  </a:lnTo>
                  <a:lnTo>
                    <a:pt x="1521548" y="8496"/>
                  </a:lnTo>
                  <a:lnTo>
                    <a:pt x="1465808" y="4445"/>
                  </a:lnTo>
                  <a:lnTo>
                    <a:pt x="1411008" y="1663"/>
                  </a:lnTo>
                  <a:lnTo>
                    <a:pt x="1357185" y="165"/>
                  </a:lnTo>
                  <a:lnTo>
                    <a:pt x="1304366" y="0"/>
                  </a:lnTo>
                  <a:lnTo>
                    <a:pt x="1252537" y="1143"/>
                  </a:lnTo>
                  <a:lnTo>
                    <a:pt x="1201648" y="3543"/>
                  </a:lnTo>
                  <a:lnTo>
                    <a:pt x="1151686" y="7162"/>
                  </a:lnTo>
                  <a:lnTo>
                    <a:pt x="1102626" y="11950"/>
                  </a:lnTo>
                  <a:lnTo>
                    <a:pt x="1054379" y="17881"/>
                  </a:lnTo>
                  <a:lnTo>
                    <a:pt x="960450" y="32969"/>
                  </a:lnTo>
                  <a:lnTo>
                    <a:pt x="869556" y="52082"/>
                  </a:lnTo>
                  <a:lnTo>
                    <a:pt x="781469" y="74891"/>
                  </a:lnTo>
                  <a:lnTo>
                    <a:pt x="695960" y="101066"/>
                  </a:lnTo>
                  <a:lnTo>
                    <a:pt x="612749" y="130251"/>
                  </a:lnTo>
                  <a:lnTo>
                    <a:pt x="531609" y="162115"/>
                  </a:lnTo>
                  <a:lnTo>
                    <a:pt x="452272" y="196316"/>
                  </a:lnTo>
                  <a:lnTo>
                    <a:pt x="374484" y="232524"/>
                  </a:lnTo>
                  <a:lnTo>
                    <a:pt x="298005" y="270395"/>
                  </a:lnTo>
                  <a:lnTo>
                    <a:pt x="222567" y="309587"/>
                  </a:lnTo>
                  <a:lnTo>
                    <a:pt x="147916" y="349783"/>
                  </a:lnTo>
                  <a:lnTo>
                    <a:pt x="0" y="431787"/>
                  </a:lnTo>
                  <a:lnTo>
                    <a:pt x="6159" y="442887"/>
                  </a:lnTo>
                  <a:lnTo>
                    <a:pt x="153974" y="360946"/>
                  </a:lnTo>
                  <a:lnTo>
                    <a:pt x="228473" y="320840"/>
                  </a:lnTo>
                  <a:lnTo>
                    <a:pt x="303695" y="281749"/>
                  </a:lnTo>
                  <a:lnTo>
                    <a:pt x="379920" y="244005"/>
                  </a:lnTo>
                  <a:lnTo>
                    <a:pt x="457390" y="207937"/>
                  </a:lnTo>
                  <a:lnTo>
                    <a:pt x="536359" y="173901"/>
                  </a:lnTo>
                  <a:lnTo>
                    <a:pt x="617080" y="142189"/>
                  </a:lnTo>
                  <a:lnTo>
                    <a:pt x="699808" y="113169"/>
                  </a:lnTo>
                  <a:lnTo>
                    <a:pt x="784809" y="87160"/>
                  </a:lnTo>
                  <a:lnTo>
                    <a:pt x="872337" y="64477"/>
                  </a:lnTo>
                  <a:lnTo>
                    <a:pt x="962660" y="45478"/>
                  </a:lnTo>
                  <a:lnTo>
                    <a:pt x="1056068" y="30480"/>
                  </a:lnTo>
                  <a:lnTo>
                    <a:pt x="1103960" y="24587"/>
                  </a:lnTo>
                  <a:lnTo>
                    <a:pt x="1152702" y="19824"/>
                  </a:lnTo>
                  <a:lnTo>
                    <a:pt x="1202359" y="16230"/>
                  </a:lnTo>
                  <a:lnTo>
                    <a:pt x="1252918" y="13843"/>
                  </a:lnTo>
                  <a:lnTo>
                    <a:pt x="1304493" y="12700"/>
                  </a:lnTo>
                  <a:lnTo>
                    <a:pt x="1356918" y="12865"/>
                  </a:lnTo>
                  <a:lnTo>
                    <a:pt x="1410436" y="14351"/>
                  </a:lnTo>
                  <a:lnTo>
                    <a:pt x="1464957" y="17119"/>
                  </a:lnTo>
                  <a:lnTo>
                    <a:pt x="1520482" y="21158"/>
                  </a:lnTo>
                  <a:lnTo>
                    <a:pt x="1576933" y="26403"/>
                  </a:lnTo>
                  <a:lnTo>
                    <a:pt x="1634159" y="32804"/>
                  </a:lnTo>
                  <a:lnTo>
                    <a:pt x="1692376" y="40360"/>
                  </a:lnTo>
                  <a:lnTo>
                    <a:pt x="1811235" y="58674"/>
                  </a:lnTo>
                  <a:lnTo>
                    <a:pt x="1933028" y="80975"/>
                  </a:lnTo>
                  <a:lnTo>
                    <a:pt x="1933155" y="81000"/>
                  </a:lnTo>
                  <a:lnTo>
                    <a:pt x="2057755" y="106984"/>
                  </a:lnTo>
                  <a:lnTo>
                    <a:pt x="2057882" y="107010"/>
                  </a:lnTo>
                  <a:lnTo>
                    <a:pt x="2185085" y="136347"/>
                  </a:lnTo>
                  <a:lnTo>
                    <a:pt x="2314638" y="168732"/>
                  </a:lnTo>
                  <a:lnTo>
                    <a:pt x="2446363" y="203796"/>
                  </a:lnTo>
                  <a:lnTo>
                    <a:pt x="2579751" y="241198"/>
                  </a:lnTo>
                  <a:lnTo>
                    <a:pt x="2714714" y="280593"/>
                  </a:lnTo>
                  <a:lnTo>
                    <a:pt x="2850972" y="321691"/>
                  </a:lnTo>
                  <a:lnTo>
                    <a:pt x="2988297" y="364134"/>
                  </a:lnTo>
                  <a:lnTo>
                    <a:pt x="3126321" y="407568"/>
                  </a:lnTo>
                  <a:lnTo>
                    <a:pt x="3369411" y="485178"/>
                  </a:lnTo>
                  <a:lnTo>
                    <a:pt x="3302812" y="499999"/>
                  </a:lnTo>
                  <a:lnTo>
                    <a:pt x="3300653" y="503389"/>
                  </a:lnTo>
                  <a:lnTo>
                    <a:pt x="3302177" y="510235"/>
                  </a:lnTo>
                  <a:lnTo>
                    <a:pt x="3305568" y="512394"/>
                  </a:lnTo>
                  <a:lnTo>
                    <a:pt x="3395776" y="492315"/>
                  </a:lnTo>
                  <a:lnTo>
                    <a:pt x="3405721" y="490105"/>
                  </a:lnTo>
                  <a:close/>
                </a:path>
              </a:pathLst>
            </a:custGeom>
            <a:solidFill>
              <a:srgbClr val="FF0000"/>
            </a:solidFill>
          </p:spPr>
          <p:txBody>
            <a:bodyPr wrap="square" lIns="0" tIns="0" rIns="0" bIns="0" rtlCol="0"/>
            <a:lstStyle/>
            <a:p>
              <a:endParaRPr/>
            </a:p>
          </p:txBody>
        </p:sp>
        <p:sp>
          <p:nvSpPr>
            <p:cNvPr id="9" name="object 9"/>
            <p:cNvSpPr/>
            <p:nvPr/>
          </p:nvSpPr>
          <p:spPr>
            <a:xfrm>
              <a:off x="926272" y="2923308"/>
              <a:ext cx="1259205" cy="297180"/>
            </a:xfrm>
            <a:custGeom>
              <a:avLst/>
              <a:gdLst/>
              <a:ahLst/>
              <a:cxnLst/>
              <a:rect l="l" t="t" r="r" b="b"/>
              <a:pathLst>
                <a:path w="1259205" h="297180">
                  <a:moveTo>
                    <a:pt x="0" y="0"/>
                  </a:moveTo>
                  <a:lnTo>
                    <a:pt x="1258785" y="0"/>
                  </a:lnTo>
                  <a:lnTo>
                    <a:pt x="1258785" y="296883"/>
                  </a:lnTo>
                  <a:lnTo>
                    <a:pt x="0" y="296883"/>
                  </a:lnTo>
                  <a:lnTo>
                    <a:pt x="0" y="0"/>
                  </a:lnTo>
                  <a:close/>
                </a:path>
              </a:pathLst>
            </a:custGeom>
            <a:ln w="12700">
              <a:solidFill>
                <a:srgbClr val="0432FF"/>
              </a:solidFill>
            </a:ln>
          </p:spPr>
          <p:txBody>
            <a:bodyPr wrap="square" lIns="0" tIns="0" rIns="0" bIns="0" rtlCol="0"/>
            <a:lstStyle/>
            <a:p>
              <a:endParaRPr/>
            </a:p>
          </p:txBody>
        </p:sp>
        <p:sp>
          <p:nvSpPr>
            <p:cNvPr id="10" name="object 10"/>
            <p:cNvSpPr/>
            <p:nvPr/>
          </p:nvSpPr>
          <p:spPr>
            <a:xfrm>
              <a:off x="926272" y="3786760"/>
              <a:ext cx="1412875" cy="297180"/>
            </a:xfrm>
            <a:custGeom>
              <a:avLst/>
              <a:gdLst/>
              <a:ahLst/>
              <a:cxnLst/>
              <a:rect l="l" t="t" r="r" b="b"/>
              <a:pathLst>
                <a:path w="1412875" h="297179">
                  <a:moveTo>
                    <a:pt x="0" y="0"/>
                  </a:moveTo>
                  <a:lnTo>
                    <a:pt x="1412481" y="0"/>
                  </a:lnTo>
                  <a:lnTo>
                    <a:pt x="1412481" y="296883"/>
                  </a:lnTo>
                  <a:lnTo>
                    <a:pt x="0" y="296883"/>
                  </a:lnTo>
                  <a:lnTo>
                    <a:pt x="0" y="0"/>
                  </a:lnTo>
                  <a:close/>
                </a:path>
              </a:pathLst>
            </a:custGeom>
            <a:ln w="12700">
              <a:solidFill>
                <a:srgbClr val="0432FF"/>
              </a:solidFill>
            </a:ln>
          </p:spPr>
          <p:txBody>
            <a:bodyPr wrap="square" lIns="0" tIns="0" rIns="0" bIns="0" rtlCol="0"/>
            <a:lstStyle/>
            <a:p>
              <a:endParaRPr/>
            </a:p>
          </p:txBody>
        </p:sp>
        <p:sp>
          <p:nvSpPr>
            <p:cNvPr id="11" name="object 11"/>
            <p:cNvSpPr/>
            <p:nvPr/>
          </p:nvSpPr>
          <p:spPr>
            <a:xfrm>
              <a:off x="2188819" y="2768383"/>
              <a:ext cx="3412490" cy="1168400"/>
            </a:xfrm>
            <a:custGeom>
              <a:avLst/>
              <a:gdLst/>
              <a:ahLst/>
              <a:cxnLst/>
              <a:rect l="l" t="t" r="r" b="b"/>
              <a:pathLst>
                <a:path w="3412490" h="1168400">
                  <a:moveTo>
                    <a:pt x="3394316" y="45161"/>
                  </a:moveTo>
                  <a:lnTo>
                    <a:pt x="3383254" y="39738"/>
                  </a:lnTo>
                  <a:lnTo>
                    <a:pt x="3302177" y="0"/>
                  </a:lnTo>
                  <a:lnTo>
                    <a:pt x="3298380" y="1308"/>
                  </a:lnTo>
                  <a:lnTo>
                    <a:pt x="3295281" y="7607"/>
                  </a:lnTo>
                  <a:lnTo>
                    <a:pt x="3296589" y="11404"/>
                  </a:lnTo>
                  <a:lnTo>
                    <a:pt x="3357867" y="41440"/>
                  </a:lnTo>
                  <a:lnTo>
                    <a:pt x="0" y="285013"/>
                  </a:lnTo>
                  <a:lnTo>
                    <a:pt x="914" y="297675"/>
                  </a:lnTo>
                  <a:lnTo>
                    <a:pt x="3358781" y="54102"/>
                  </a:lnTo>
                  <a:lnTo>
                    <a:pt x="3302482" y="92659"/>
                  </a:lnTo>
                  <a:lnTo>
                    <a:pt x="3301746" y="96608"/>
                  </a:lnTo>
                  <a:lnTo>
                    <a:pt x="3305708" y="102400"/>
                  </a:lnTo>
                  <a:lnTo>
                    <a:pt x="3309658" y="103136"/>
                  </a:lnTo>
                  <a:lnTo>
                    <a:pt x="3394316" y="45161"/>
                  </a:lnTo>
                  <a:close/>
                </a:path>
                <a:path w="3412490" h="1168400">
                  <a:moveTo>
                    <a:pt x="3411905" y="124282"/>
                  </a:moveTo>
                  <a:lnTo>
                    <a:pt x="3401784" y="122021"/>
                  </a:lnTo>
                  <a:lnTo>
                    <a:pt x="3311753" y="101955"/>
                  </a:lnTo>
                  <a:lnTo>
                    <a:pt x="3308362" y="104114"/>
                  </a:lnTo>
                  <a:lnTo>
                    <a:pt x="3306826" y="110959"/>
                  </a:lnTo>
                  <a:lnTo>
                    <a:pt x="3308985" y="114350"/>
                  </a:lnTo>
                  <a:lnTo>
                    <a:pt x="3375583" y="129197"/>
                  </a:lnTo>
                  <a:lnTo>
                    <a:pt x="156794" y="1155738"/>
                  </a:lnTo>
                  <a:lnTo>
                    <a:pt x="160655" y="1167828"/>
                  </a:lnTo>
                  <a:lnTo>
                    <a:pt x="3379444" y="141300"/>
                  </a:lnTo>
                  <a:lnTo>
                    <a:pt x="3401364" y="134302"/>
                  </a:lnTo>
                  <a:lnTo>
                    <a:pt x="3401936" y="134124"/>
                  </a:lnTo>
                  <a:lnTo>
                    <a:pt x="3379444" y="141300"/>
                  </a:lnTo>
                  <a:lnTo>
                    <a:pt x="3333737" y="191960"/>
                  </a:lnTo>
                  <a:lnTo>
                    <a:pt x="3333940" y="195973"/>
                  </a:lnTo>
                  <a:lnTo>
                    <a:pt x="3339160" y="200672"/>
                  </a:lnTo>
                  <a:lnTo>
                    <a:pt x="3343173" y="200469"/>
                  </a:lnTo>
                  <a:lnTo>
                    <a:pt x="3411905" y="124282"/>
                  </a:lnTo>
                  <a:close/>
                </a:path>
              </a:pathLst>
            </a:custGeom>
            <a:solidFill>
              <a:srgbClr val="0432FF"/>
            </a:solidFill>
          </p:spPr>
          <p:txBody>
            <a:bodyPr wrap="square" lIns="0" tIns="0" rIns="0" bIns="0" rtlCol="0"/>
            <a:lstStyle/>
            <a:p>
              <a:endParaRPr/>
            </a:p>
          </p:txBody>
        </p:sp>
      </p:grpSp>
      <p:sp>
        <p:nvSpPr>
          <p:cNvPr id="12" name="object 12"/>
          <p:cNvSpPr txBox="1"/>
          <p:nvPr/>
        </p:nvSpPr>
        <p:spPr>
          <a:xfrm>
            <a:off x="810846" y="5108637"/>
            <a:ext cx="7544434" cy="735965"/>
          </a:xfrm>
          <a:prstGeom prst="rect">
            <a:avLst/>
          </a:prstGeom>
          <a:solidFill>
            <a:srgbClr val="FFF2CC"/>
          </a:solidFill>
          <a:ln w="9525">
            <a:solidFill>
              <a:srgbClr val="000000"/>
            </a:solidFill>
          </a:ln>
        </p:spPr>
        <p:txBody>
          <a:bodyPr vert="horz" wrap="square" lIns="0" tIns="19685" rIns="0" bIns="0" rtlCol="0">
            <a:spAutoFit/>
          </a:bodyPr>
          <a:lstStyle/>
          <a:p>
            <a:pPr marL="91440" marR="168275">
              <a:lnSpc>
                <a:spcPts val="2620"/>
              </a:lnSpc>
              <a:spcBef>
                <a:spcPts val="155"/>
              </a:spcBef>
            </a:pPr>
            <a:r>
              <a:rPr sz="1800" dirty="0">
                <a:latin typeface="Palatino Linotype" panose="02040502050505030304"/>
                <a:cs typeface="Palatino Linotype" panose="02040502050505030304"/>
              </a:rPr>
              <a:t>Such duplicate calculations cannot be </a:t>
            </a:r>
            <a:r>
              <a:rPr sz="1800" spc="-10" dirty="0">
                <a:latin typeface="Palatino Linotype" panose="02040502050505030304"/>
                <a:cs typeface="Palatino Linotype" panose="02040502050505030304"/>
              </a:rPr>
              <a:t>avoided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by</a:t>
            </a:r>
            <a:r>
              <a:rPr sz="1800" spc="-5" dirty="0">
                <a:latin typeface="Palatino Linotype" panose="02040502050505030304"/>
                <a:cs typeface="Palatino Linotype" panose="02040502050505030304"/>
              </a:rPr>
              <a:t> programmers because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they</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lie below the </a:t>
            </a:r>
            <a:r>
              <a:rPr sz="1800" spc="-10" dirty="0">
                <a:latin typeface="Palatino Linotype" panose="02040502050505030304"/>
                <a:cs typeface="Palatino Linotype" panose="02040502050505030304"/>
              </a:rPr>
              <a:t>level</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 detail </a:t>
            </a:r>
            <a:r>
              <a:rPr sz="1800" spc="-5" dirty="0">
                <a:latin typeface="Palatino Linotype" panose="02040502050505030304"/>
                <a:cs typeface="Palatino Linotype" panose="02040502050505030304"/>
              </a:rPr>
              <a:t>accessible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within</a:t>
            </a:r>
            <a:r>
              <a:rPr sz="1800" dirty="0">
                <a:latin typeface="Palatino Linotype" panose="02040502050505030304"/>
                <a:cs typeface="Palatino Linotype" panose="02040502050505030304"/>
              </a:rPr>
              <a:t>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source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language</a:t>
            </a:r>
            <a:endParaRPr sz="1800">
              <a:latin typeface="Palatino Linotype" panose="02040502050505030304"/>
              <a:cs typeface="Palatino Linotype" panose="02040502050505030304"/>
            </a:endParaRPr>
          </a:p>
        </p:txBody>
      </p:sp>
      <p:sp>
        <p:nvSpPr>
          <p:cNvPr id="14" name="object 1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5" name="object 1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6" name="object 1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11</a:t>
            </a:fld>
            <a:endParaRPr dirty="0"/>
          </a:p>
        </p:txBody>
      </p:sp>
      <p:sp>
        <p:nvSpPr>
          <p:cNvPr id="13" name="object 13"/>
          <p:cNvSpPr txBox="1"/>
          <p:nvPr/>
        </p:nvSpPr>
        <p:spPr>
          <a:xfrm>
            <a:off x="4353912" y="4640526"/>
            <a:ext cx="4166870"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FF0000"/>
                </a:solidFill>
                <a:latin typeface="Palatino Linotype" panose="02040502050505030304"/>
                <a:cs typeface="Palatino Linotype" panose="02040502050505030304"/>
              </a:rPr>
              <a:t>Fewer</a:t>
            </a:r>
            <a:r>
              <a:rPr sz="1600" spc="5"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calculations,</a:t>
            </a:r>
            <a:r>
              <a:rPr sz="1600"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fewer</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temporary</a:t>
            </a:r>
            <a:r>
              <a:rPr sz="1600" spc="-5"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variables</a:t>
            </a:r>
            <a:endParaRPr sz="1600">
              <a:latin typeface="Palatino Linotype" panose="02040502050505030304"/>
              <a:cs typeface="Palatino Linotype" panose="02040502050505030304"/>
            </a:endParaRPr>
          </a:p>
        </p:txBody>
      </p:sp>
      <p:sp>
        <p:nvSpPr>
          <p:cNvPr id="17" name="矩形 16">
            <a:extLst>
              <a:ext uri="{FF2B5EF4-FFF2-40B4-BE49-F238E27FC236}">
                <a16:creationId xmlns:a16="http://schemas.microsoft.com/office/drawing/2014/main" id="{A9DBB40D-89FD-46B5-ACC6-5BF342087897}"/>
              </a:ext>
            </a:extLst>
          </p:cNvPr>
          <p:cNvSpPr/>
          <p:nvPr/>
        </p:nvSpPr>
        <p:spPr>
          <a:xfrm>
            <a:off x="1555874" y="4732985"/>
            <a:ext cx="436338" cy="369332"/>
          </a:xfrm>
          <a:prstGeom prst="rect">
            <a:avLst/>
          </a:prstGeom>
        </p:spPr>
        <p:txBody>
          <a:bodyPr wrap="none">
            <a:spAutoFit/>
          </a:bodyPr>
          <a:lstStyle/>
          <a:p>
            <a:r>
              <a:rPr lang="en-US" altLang="zh-CN" dirty="0"/>
              <a:t>(a)</a:t>
            </a:r>
            <a:endParaRPr lang="zh-CN" altLang="en-US" dirty="0"/>
          </a:p>
        </p:txBody>
      </p:sp>
      <p:sp>
        <p:nvSpPr>
          <p:cNvPr id="18" name="矩形 17">
            <a:extLst>
              <a:ext uri="{FF2B5EF4-FFF2-40B4-BE49-F238E27FC236}">
                <a16:creationId xmlns:a16="http://schemas.microsoft.com/office/drawing/2014/main" id="{C3549B90-3DEA-49D2-BC15-32682863DB36}"/>
              </a:ext>
            </a:extLst>
          </p:cNvPr>
          <p:cNvSpPr/>
          <p:nvPr/>
        </p:nvSpPr>
        <p:spPr>
          <a:xfrm>
            <a:off x="6187118" y="4286168"/>
            <a:ext cx="500458" cy="369332"/>
          </a:xfrm>
          <a:prstGeom prst="rect">
            <a:avLst/>
          </a:prstGeom>
        </p:spPr>
        <p:txBody>
          <a:bodyPr wrap="none">
            <a:spAutoFit/>
          </a:bodyPr>
          <a:lstStyle/>
          <a:p>
            <a:r>
              <a:rPr lang="en-US" altLang="zh-CN" dirty="0"/>
              <a:t>(b) </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354" y="2718308"/>
            <a:ext cx="2356485" cy="1037590"/>
          </a:xfrm>
          <a:prstGeom prst="rect">
            <a:avLst/>
          </a:prstGeom>
        </p:spPr>
        <p:txBody>
          <a:bodyPr vert="horz" wrap="square" lIns="0" tIns="55244" rIns="0" bIns="0" rtlCol="0">
            <a:spAutoFit/>
          </a:bodyPr>
          <a:lstStyle/>
          <a:p>
            <a:pPr marL="12700" marR="5080">
              <a:lnSpc>
                <a:spcPct val="88000"/>
              </a:lnSpc>
              <a:spcBef>
                <a:spcPts val="435"/>
              </a:spcBef>
            </a:pPr>
            <a:r>
              <a:rPr sz="2400" spc="-5" dirty="0"/>
              <a:t>Global</a:t>
            </a:r>
            <a:r>
              <a:rPr sz="2400" spc="-75" dirty="0"/>
              <a:t> </a:t>
            </a:r>
            <a:r>
              <a:rPr sz="2400" dirty="0"/>
              <a:t>Common </a:t>
            </a:r>
            <a:r>
              <a:rPr sz="2400" spc="-585" dirty="0"/>
              <a:t> </a:t>
            </a:r>
            <a:r>
              <a:rPr sz="2400" spc="-5" dirty="0"/>
              <a:t>Subexpression </a:t>
            </a:r>
            <a:r>
              <a:rPr sz="2400" dirty="0"/>
              <a:t> </a:t>
            </a:r>
            <a:r>
              <a:rPr sz="2400" spc="-5" dirty="0"/>
              <a:t>Elimination</a:t>
            </a:r>
            <a:endParaRPr sz="2400"/>
          </a:p>
        </p:txBody>
      </p:sp>
      <p:grpSp>
        <p:nvGrpSpPr>
          <p:cNvPr id="3" name="object 3"/>
          <p:cNvGrpSpPr/>
          <p:nvPr/>
        </p:nvGrpSpPr>
        <p:grpSpPr>
          <a:xfrm>
            <a:off x="3068874" y="259432"/>
            <a:ext cx="4716145" cy="5948680"/>
            <a:chOff x="3068874" y="259432"/>
            <a:chExt cx="4716145" cy="5948680"/>
          </a:xfrm>
        </p:grpSpPr>
        <p:pic>
          <p:nvPicPr>
            <p:cNvPr id="4" name="object 4"/>
            <p:cNvPicPr/>
            <p:nvPr/>
          </p:nvPicPr>
          <p:blipFill>
            <a:blip r:embed="rId3" cstate="print"/>
            <a:stretch>
              <a:fillRect/>
            </a:stretch>
          </p:blipFill>
          <p:spPr>
            <a:xfrm>
              <a:off x="3068874" y="259432"/>
              <a:ext cx="4715729" cy="5948106"/>
            </a:xfrm>
            <a:prstGeom prst="rect">
              <a:avLst/>
            </a:prstGeom>
          </p:spPr>
        </p:pic>
        <p:pic>
          <p:nvPicPr>
            <p:cNvPr id="5" name="object 5"/>
            <p:cNvPicPr/>
            <p:nvPr/>
          </p:nvPicPr>
          <p:blipFill>
            <a:blip r:embed="rId4" cstate="print"/>
            <a:stretch>
              <a:fillRect/>
            </a:stretch>
          </p:blipFill>
          <p:spPr>
            <a:xfrm>
              <a:off x="3859104" y="4390473"/>
              <a:ext cx="1873479" cy="1624053"/>
            </a:xfrm>
            <a:prstGeom prst="rect">
              <a:avLst/>
            </a:prstGeom>
          </p:spPr>
        </p:pic>
        <p:sp>
          <p:nvSpPr>
            <p:cNvPr id="6" name="object 6"/>
            <p:cNvSpPr/>
            <p:nvPr/>
          </p:nvSpPr>
          <p:spPr>
            <a:xfrm>
              <a:off x="4404945" y="4897314"/>
              <a:ext cx="457200" cy="184785"/>
            </a:xfrm>
            <a:custGeom>
              <a:avLst/>
              <a:gdLst/>
              <a:ahLst/>
              <a:cxnLst/>
              <a:rect l="l" t="t" r="r" b="b"/>
              <a:pathLst>
                <a:path w="457200" h="184785">
                  <a:moveTo>
                    <a:pt x="0" y="0"/>
                  </a:moveTo>
                  <a:lnTo>
                    <a:pt x="457200" y="0"/>
                  </a:lnTo>
                  <a:lnTo>
                    <a:pt x="457200" y="184639"/>
                  </a:lnTo>
                  <a:lnTo>
                    <a:pt x="0" y="184639"/>
                  </a:lnTo>
                  <a:lnTo>
                    <a:pt x="0" y="0"/>
                  </a:lnTo>
                  <a:close/>
                </a:path>
              </a:pathLst>
            </a:custGeom>
            <a:ln w="12700">
              <a:solidFill>
                <a:srgbClr val="FF0000"/>
              </a:solidFill>
            </a:ln>
          </p:spPr>
          <p:txBody>
            <a:bodyPr wrap="square" lIns="0" tIns="0" rIns="0" bIns="0" rtlCol="0"/>
            <a:lstStyle/>
            <a:p>
              <a:endParaRPr/>
            </a:p>
          </p:txBody>
        </p:sp>
        <p:sp>
          <p:nvSpPr>
            <p:cNvPr id="7" name="object 7"/>
            <p:cNvSpPr/>
            <p:nvPr/>
          </p:nvSpPr>
          <p:spPr>
            <a:xfrm>
              <a:off x="5275384" y="2781300"/>
              <a:ext cx="457200" cy="184785"/>
            </a:xfrm>
            <a:custGeom>
              <a:avLst/>
              <a:gdLst/>
              <a:ahLst/>
              <a:cxnLst/>
              <a:rect l="l" t="t" r="r" b="b"/>
              <a:pathLst>
                <a:path w="457200" h="184785">
                  <a:moveTo>
                    <a:pt x="0" y="0"/>
                  </a:moveTo>
                  <a:lnTo>
                    <a:pt x="457200" y="0"/>
                  </a:lnTo>
                  <a:lnTo>
                    <a:pt x="457200" y="184639"/>
                  </a:lnTo>
                  <a:lnTo>
                    <a:pt x="0" y="184639"/>
                  </a:lnTo>
                  <a:lnTo>
                    <a:pt x="0" y="0"/>
                  </a:lnTo>
                  <a:close/>
                </a:path>
              </a:pathLst>
            </a:custGeom>
            <a:ln w="12700">
              <a:solidFill>
                <a:srgbClr val="FF0000"/>
              </a:solidFill>
            </a:ln>
          </p:spPr>
          <p:txBody>
            <a:bodyPr wrap="square" lIns="0" tIns="0" rIns="0" bIns="0" rtlCol="0"/>
            <a:lstStyle/>
            <a:p>
              <a:endParaRPr/>
            </a:p>
          </p:txBody>
        </p:sp>
      </p:grpSp>
      <p:sp>
        <p:nvSpPr>
          <p:cNvPr id="8" name="object 8"/>
          <p:cNvSpPr txBox="1"/>
          <p:nvPr/>
        </p:nvSpPr>
        <p:spPr>
          <a:xfrm>
            <a:off x="7051430" y="2537937"/>
            <a:ext cx="1864360" cy="1077595"/>
          </a:xfrm>
          <a:prstGeom prst="rect">
            <a:avLst/>
          </a:prstGeom>
          <a:solidFill>
            <a:srgbClr val="FFF2CC"/>
          </a:solidFill>
          <a:ln w="9525">
            <a:solidFill>
              <a:srgbClr val="000000"/>
            </a:solidFill>
          </a:ln>
        </p:spPr>
        <p:txBody>
          <a:bodyPr vert="horz" wrap="square" lIns="0" tIns="30480" rIns="0" bIns="0" rtlCol="0">
            <a:spAutoFit/>
          </a:bodyPr>
          <a:lstStyle/>
          <a:p>
            <a:pPr marL="90805" marR="137160">
              <a:lnSpc>
                <a:spcPct val="101000"/>
              </a:lnSpc>
              <a:spcBef>
                <a:spcPts val="240"/>
              </a:spcBef>
            </a:pPr>
            <a:r>
              <a:rPr sz="1600" dirty="0">
                <a:latin typeface="Palatino Linotype" panose="02040502050505030304"/>
                <a:cs typeface="Palatino Linotype" panose="02040502050505030304"/>
              </a:rPr>
              <a:t>As control </a:t>
            </a:r>
            <a:r>
              <a:rPr sz="1600" spc="-5" dirty="0">
                <a:latin typeface="Palatino Linotype" panose="02040502050505030304"/>
                <a:cs typeface="Palatino Linotype" panose="02040502050505030304"/>
              </a:rPr>
              <a:t>passes </a:t>
            </a:r>
            <a:r>
              <a:rPr sz="1600" dirty="0">
                <a:latin typeface="Palatino Linotype" panose="02040502050505030304"/>
                <a:cs typeface="Palatino Linotype" panose="02040502050505030304"/>
              </a:rPr>
              <a:t> from </a:t>
            </a:r>
            <a:r>
              <a:rPr sz="1600" i="1" spc="-5" dirty="0">
                <a:solidFill>
                  <a:srgbClr val="0432FF"/>
                </a:solidFill>
                <a:latin typeface="Palatino Linotype" panose="02040502050505030304"/>
                <a:cs typeface="Palatino Linotype" panose="02040502050505030304"/>
              </a:rPr>
              <a:t>B</a:t>
            </a:r>
            <a:r>
              <a:rPr sz="1650" spc="-7" baseline="-15000" dirty="0">
                <a:solidFill>
                  <a:srgbClr val="0432FF"/>
                </a:solidFill>
                <a:latin typeface="Palatino Linotype" panose="02040502050505030304"/>
                <a:cs typeface="Palatino Linotype" panose="02040502050505030304"/>
              </a:rPr>
              <a:t>3</a:t>
            </a:r>
            <a:r>
              <a:rPr sz="1650" baseline="-15000"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t>
            </a:r>
            <a:r>
              <a:rPr sz="1600" i="1" spc="-10" dirty="0">
                <a:solidFill>
                  <a:srgbClr val="0432FF"/>
                </a:solidFill>
                <a:latin typeface="Palatino Linotype" panose="02040502050505030304"/>
                <a:cs typeface="Palatino Linotype" panose="02040502050505030304"/>
              </a:rPr>
              <a:t>B</a:t>
            </a:r>
            <a:r>
              <a:rPr sz="1650" spc="-15" baseline="-15000" dirty="0">
                <a:solidFill>
                  <a:srgbClr val="0432FF"/>
                </a:solidFill>
                <a:latin typeface="Palatino Linotype" panose="02040502050505030304"/>
                <a:cs typeface="Palatino Linotype" panose="02040502050505030304"/>
              </a:rPr>
              <a:t>5</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there</a:t>
            </a:r>
            <a:r>
              <a:rPr sz="1600" spc="-3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a:t>
            </a:r>
            <a:r>
              <a:rPr sz="1600" spc="-3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no</a:t>
            </a:r>
            <a:r>
              <a:rPr sz="1600" spc="-2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change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t>
            </a:r>
            <a:r>
              <a:rPr sz="1600" dirty="0">
                <a:solidFill>
                  <a:srgbClr val="0432FF"/>
                </a:solidFill>
                <a:latin typeface="Consolas" panose="020B0609020204030204"/>
                <a:cs typeface="Consolas" panose="020B0609020204030204"/>
              </a:rPr>
              <a:t>j</a:t>
            </a:r>
            <a:r>
              <a:rPr sz="1600" spc="-484" dirty="0">
                <a:solidFill>
                  <a:srgbClr val="0432FF"/>
                </a:solidFill>
                <a:latin typeface="Consolas" panose="020B0609020204030204"/>
                <a:cs typeface="Consolas" panose="020B06090202040302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n</a:t>
            </a:r>
            <a:r>
              <a:rPr sz="1600" dirty="0">
                <a:latin typeface="Palatino Linotype" panose="02040502050505030304"/>
                <a:cs typeface="Palatino Linotype" panose="02040502050505030304"/>
              </a:rPr>
              <a:t>d</a:t>
            </a:r>
            <a:r>
              <a:rPr sz="1600" spc="-5" dirty="0">
                <a:latin typeface="Palatino Linotype" panose="02040502050505030304"/>
                <a:cs typeface="Palatino Linotype" panose="02040502050505030304"/>
              </a:rPr>
              <a:t> </a:t>
            </a:r>
            <a:r>
              <a:rPr sz="1600" spc="-5" dirty="0">
                <a:solidFill>
                  <a:srgbClr val="0432FF"/>
                </a:solidFill>
                <a:latin typeface="Consolas" panose="020B0609020204030204"/>
                <a:cs typeface="Consolas" panose="020B0609020204030204"/>
              </a:rPr>
              <a:t>t4</a:t>
            </a:r>
            <a:endParaRPr sz="1600">
              <a:latin typeface="Consolas" panose="020B0609020204030204"/>
              <a:cs typeface="Consolas" panose="020B0609020204030204"/>
            </a:endParaRPr>
          </a:p>
        </p:txBody>
      </p:sp>
      <p:sp>
        <p:nvSpPr>
          <p:cNvPr id="9" name="object 9"/>
          <p:cNvSpPr/>
          <p:nvPr/>
        </p:nvSpPr>
        <p:spPr>
          <a:xfrm>
            <a:off x="4861242" y="2815094"/>
            <a:ext cx="2724785" cy="2167890"/>
          </a:xfrm>
          <a:custGeom>
            <a:avLst/>
            <a:gdLst/>
            <a:ahLst/>
            <a:cxnLst/>
            <a:rect l="l" t="t" r="r" b="b"/>
            <a:pathLst>
              <a:path w="2724784" h="2167890">
                <a:moveTo>
                  <a:pt x="239852" y="2132952"/>
                </a:moveTo>
                <a:lnTo>
                  <a:pt x="154546" y="2132965"/>
                </a:lnTo>
                <a:lnTo>
                  <a:pt x="0" y="2155075"/>
                </a:lnTo>
                <a:lnTo>
                  <a:pt x="1803" y="2167648"/>
                </a:lnTo>
                <a:lnTo>
                  <a:pt x="239852" y="2132952"/>
                </a:lnTo>
                <a:close/>
              </a:path>
              <a:path w="2724784" h="2167890">
                <a:moveTo>
                  <a:pt x="386384" y="2110016"/>
                </a:moveTo>
                <a:lnTo>
                  <a:pt x="306806" y="2110028"/>
                </a:lnTo>
                <a:lnTo>
                  <a:pt x="154609" y="2132952"/>
                </a:lnTo>
                <a:lnTo>
                  <a:pt x="239852" y="2132952"/>
                </a:lnTo>
                <a:lnTo>
                  <a:pt x="308787" y="2122576"/>
                </a:lnTo>
                <a:lnTo>
                  <a:pt x="383451" y="2110524"/>
                </a:lnTo>
                <a:lnTo>
                  <a:pt x="386384" y="2110016"/>
                </a:lnTo>
                <a:close/>
              </a:path>
              <a:path w="2724784" h="2167890">
                <a:moveTo>
                  <a:pt x="456514" y="2097989"/>
                </a:moveTo>
                <a:lnTo>
                  <a:pt x="381342" y="2098001"/>
                </a:lnTo>
                <a:lnTo>
                  <a:pt x="306882" y="2110016"/>
                </a:lnTo>
                <a:lnTo>
                  <a:pt x="386384" y="2110016"/>
                </a:lnTo>
                <a:lnTo>
                  <a:pt x="456514" y="2097989"/>
                </a:lnTo>
                <a:close/>
              </a:path>
              <a:path w="2724784" h="2167890">
                <a:moveTo>
                  <a:pt x="2190216" y="51206"/>
                </a:moveTo>
                <a:lnTo>
                  <a:pt x="2179307" y="44919"/>
                </a:lnTo>
                <a:lnTo>
                  <a:pt x="2101291" y="0"/>
                </a:lnTo>
                <a:lnTo>
                  <a:pt x="2097417" y="1041"/>
                </a:lnTo>
                <a:lnTo>
                  <a:pt x="2093912" y="7112"/>
                </a:lnTo>
                <a:lnTo>
                  <a:pt x="2094953" y="10998"/>
                </a:lnTo>
                <a:lnTo>
                  <a:pt x="2154085" y="45059"/>
                </a:lnTo>
                <a:lnTo>
                  <a:pt x="871296" y="52184"/>
                </a:lnTo>
                <a:lnTo>
                  <a:pt x="871372" y="64884"/>
                </a:lnTo>
                <a:lnTo>
                  <a:pt x="2154161" y="57759"/>
                </a:lnTo>
                <a:lnTo>
                  <a:pt x="2095411" y="92456"/>
                </a:lnTo>
                <a:lnTo>
                  <a:pt x="2094407" y="96354"/>
                </a:lnTo>
                <a:lnTo>
                  <a:pt x="2097976" y="102400"/>
                </a:lnTo>
                <a:lnTo>
                  <a:pt x="2101862" y="103390"/>
                </a:lnTo>
                <a:lnTo>
                  <a:pt x="2190216" y="51206"/>
                </a:lnTo>
                <a:close/>
              </a:path>
              <a:path w="2724784" h="2167890">
                <a:moveTo>
                  <a:pt x="2724772" y="899896"/>
                </a:moveTo>
                <a:lnTo>
                  <a:pt x="2710408" y="807935"/>
                </a:lnTo>
                <a:lnTo>
                  <a:pt x="2708935" y="798525"/>
                </a:lnTo>
                <a:lnTo>
                  <a:pt x="2628481" y="862203"/>
                </a:lnTo>
                <a:lnTo>
                  <a:pt x="2628023" y="866203"/>
                </a:lnTo>
                <a:lnTo>
                  <a:pt x="2632367" y="871702"/>
                </a:lnTo>
                <a:lnTo>
                  <a:pt x="2636367" y="872159"/>
                </a:lnTo>
                <a:lnTo>
                  <a:pt x="2689872" y="829818"/>
                </a:lnTo>
                <a:lnTo>
                  <a:pt x="2685110" y="841959"/>
                </a:lnTo>
                <a:lnTo>
                  <a:pt x="2665133" y="887222"/>
                </a:lnTo>
                <a:lnTo>
                  <a:pt x="2653830" y="909358"/>
                </a:lnTo>
                <a:lnTo>
                  <a:pt x="2653754" y="909497"/>
                </a:lnTo>
                <a:lnTo>
                  <a:pt x="2626830" y="953312"/>
                </a:lnTo>
                <a:lnTo>
                  <a:pt x="2592260" y="996429"/>
                </a:lnTo>
                <a:lnTo>
                  <a:pt x="2592095" y="996594"/>
                </a:lnTo>
                <a:lnTo>
                  <a:pt x="2571559" y="1017460"/>
                </a:lnTo>
                <a:lnTo>
                  <a:pt x="2571724" y="1017320"/>
                </a:lnTo>
                <a:lnTo>
                  <a:pt x="2571407" y="1017612"/>
                </a:lnTo>
                <a:lnTo>
                  <a:pt x="2571559" y="1017460"/>
                </a:lnTo>
                <a:lnTo>
                  <a:pt x="2571381" y="1017612"/>
                </a:lnTo>
                <a:lnTo>
                  <a:pt x="2548166" y="1038161"/>
                </a:lnTo>
                <a:lnTo>
                  <a:pt x="2548001" y="1038301"/>
                </a:lnTo>
                <a:lnTo>
                  <a:pt x="2521801" y="1058506"/>
                </a:lnTo>
                <a:lnTo>
                  <a:pt x="2521978" y="1058392"/>
                </a:lnTo>
                <a:lnTo>
                  <a:pt x="2521648" y="1058633"/>
                </a:lnTo>
                <a:lnTo>
                  <a:pt x="2521801" y="1058506"/>
                </a:lnTo>
                <a:lnTo>
                  <a:pt x="2521623" y="1058633"/>
                </a:lnTo>
                <a:lnTo>
                  <a:pt x="2492375" y="1078357"/>
                </a:lnTo>
                <a:lnTo>
                  <a:pt x="2492210" y="1078458"/>
                </a:lnTo>
                <a:lnTo>
                  <a:pt x="2459075" y="1097978"/>
                </a:lnTo>
                <a:lnTo>
                  <a:pt x="2422283" y="1116977"/>
                </a:lnTo>
                <a:lnTo>
                  <a:pt x="2422131" y="1117053"/>
                </a:lnTo>
                <a:lnTo>
                  <a:pt x="2381135" y="1135595"/>
                </a:lnTo>
                <a:lnTo>
                  <a:pt x="2381288" y="1135545"/>
                </a:lnTo>
                <a:lnTo>
                  <a:pt x="2358758" y="1144422"/>
                </a:lnTo>
                <a:lnTo>
                  <a:pt x="2333993" y="1152931"/>
                </a:lnTo>
                <a:lnTo>
                  <a:pt x="2307488" y="1161008"/>
                </a:lnTo>
                <a:lnTo>
                  <a:pt x="2279040" y="1168768"/>
                </a:lnTo>
                <a:lnTo>
                  <a:pt x="2248941" y="1176197"/>
                </a:lnTo>
                <a:lnTo>
                  <a:pt x="2184108" y="1190282"/>
                </a:lnTo>
                <a:lnTo>
                  <a:pt x="2078101" y="1209814"/>
                </a:lnTo>
                <a:lnTo>
                  <a:pt x="2002942" y="1222222"/>
                </a:lnTo>
                <a:lnTo>
                  <a:pt x="1769122" y="1259395"/>
                </a:lnTo>
                <a:lnTo>
                  <a:pt x="1692059" y="1272705"/>
                </a:lnTo>
                <a:lnTo>
                  <a:pt x="1617306" y="1286941"/>
                </a:lnTo>
                <a:lnTo>
                  <a:pt x="1545932" y="1302385"/>
                </a:lnTo>
                <a:lnTo>
                  <a:pt x="1479092" y="1319326"/>
                </a:lnTo>
                <a:lnTo>
                  <a:pt x="1417866" y="1338046"/>
                </a:lnTo>
                <a:lnTo>
                  <a:pt x="1363319" y="1358874"/>
                </a:lnTo>
                <a:lnTo>
                  <a:pt x="1316545" y="1382141"/>
                </a:lnTo>
                <a:lnTo>
                  <a:pt x="1278356" y="1408480"/>
                </a:lnTo>
                <a:lnTo>
                  <a:pt x="1248270" y="1437894"/>
                </a:lnTo>
                <a:lnTo>
                  <a:pt x="1225270" y="1469885"/>
                </a:lnTo>
                <a:lnTo>
                  <a:pt x="1201585" y="1521498"/>
                </a:lnTo>
                <a:lnTo>
                  <a:pt x="1187348" y="1575955"/>
                </a:lnTo>
                <a:lnTo>
                  <a:pt x="1176070" y="1650568"/>
                </a:lnTo>
                <a:lnTo>
                  <a:pt x="1171117" y="1687664"/>
                </a:lnTo>
                <a:lnTo>
                  <a:pt x="1165059" y="1724355"/>
                </a:lnTo>
                <a:lnTo>
                  <a:pt x="1165009" y="1724558"/>
                </a:lnTo>
                <a:lnTo>
                  <a:pt x="1156817" y="1759915"/>
                </a:lnTo>
                <a:lnTo>
                  <a:pt x="1156716" y="1760220"/>
                </a:lnTo>
                <a:lnTo>
                  <a:pt x="1145260" y="1794167"/>
                </a:lnTo>
                <a:lnTo>
                  <a:pt x="1145133" y="1794446"/>
                </a:lnTo>
                <a:lnTo>
                  <a:pt x="1137958" y="1810499"/>
                </a:lnTo>
                <a:lnTo>
                  <a:pt x="1138072" y="1810296"/>
                </a:lnTo>
                <a:lnTo>
                  <a:pt x="1137869" y="1810702"/>
                </a:lnTo>
                <a:lnTo>
                  <a:pt x="1137958" y="1810499"/>
                </a:lnTo>
                <a:lnTo>
                  <a:pt x="1137843" y="1810702"/>
                </a:lnTo>
                <a:lnTo>
                  <a:pt x="1129398" y="1826425"/>
                </a:lnTo>
                <a:lnTo>
                  <a:pt x="1129538" y="1826209"/>
                </a:lnTo>
                <a:lnTo>
                  <a:pt x="1129284" y="1826641"/>
                </a:lnTo>
                <a:lnTo>
                  <a:pt x="1129398" y="1826425"/>
                </a:lnTo>
                <a:lnTo>
                  <a:pt x="1129258" y="1826641"/>
                </a:lnTo>
                <a:lnTo>
                  <a:pt x="1119466" y="1841830"/>
                </a:lnTo>
                <a:lnTo>
                  <a:pt x="1119289" y="1842058"/>
                </a:lnTo>
                <a:lnTo>
                  <a:pt x="1108011" y="1856676"/>
                </a:lnTo>
                <a:lnTo>
                  <a:pt x="1107808" y="1856892"/>
                </a:lnTo>
                <a:lnTo>
                  <a:pt x="1094892" y="1870913"/>
                </a:lnTo>
                <a:lnTo>
                  <a:pt x="1095095" y="1870735"/>
                </a:lnTo>
                <a:lnTo>
                  <a:pt x="1094701" y="1871129"/>
                </a:lnTo>
                <a:lnTo>
                  <a:pt x="1094892" y="1870913"/>
                </a:lnTo>
                <a:lnTo>
                  <a:pt x="1094663" y="1871129"/>
                </a:lnTo>
                <a:lnTo>
                  <a:pt x="1079944" y="1884527"/>
                </a:lnTo>
                <a:lnTo>
                  <a:pt x="1080160" y="1884375"/>
                </a:lnTo>
                <a:lnTo>
                  <a:pt x="1079741" y="1884718"/>
                </a:lnTo>
                <a:lnTo>
                  <a:pt x="1079944" y="1884527"/>
                </a:lnTo>
                <a:lnTo>
                  <a:pt x="1079703" y="1884718"/>
                </a:lnTo>
                <a:lnTo>
                  <a:pt x="1063028" y="1897468"/>
                </a:lnTo>
                <a:lnTo>
                  <a:pt x="1063244" y="1897329"/>
                </a:lnTo>
                <a:lnTo>
                  <a:pt x="1062812" y="1897634"/>
                </a:lnTo>
                <a:lnTo>
                  <a:pt x="1063028" y="1897468"/>
                </a:lnTo>
                <a:lnTo>
                  <a:pt x="1062774" y="1897634"/>
                </a:lnTo>
                <a:lnTo>
                  <a:pt x="1043952" y="1909699"/>
                </a:lnTo>
                <a:lnTo>
                  <a:pt x="1044168" y="1909584"/>
                </a:lnTo>
                <a:lnTo>
                  <a:pt x="1043749" y="1909826"/>
                </a:lnTo>
                <a:lnTo>
                  <a:pt x="1043952" y="1909699"/>
                </a:lnTo>
                <a:lnTo>
                  <a:pt x="1043711" y="1909826"/>
                </a:lnTo>
                <a:lnTo>
                  <a:pt x="1001102" y="1932774"/>
                </a:lnTo>
                <a:lnTo>
                  <a:pt x="1000937" y="1932851"/>
                </a:lnTo>
                <a:lnTo>
                  <a:pt x="1000734" y="1932952"/>
                </a:lnTo>
                <a:lnTo>
                  <a:pt x="953731" y="1954466"/>
                </a:lnTo>
                <a:lnTo>
                  <a:pt x="953566" y="1954530"/>
                </a:lnTo>
                <a:lnTo>
                  <a:pt x="902347" y="1974748"/>
                </a:lnTo>
                <a:lnTo>
                  <a:pt x="902220" y="1974799"/>
                </a:lnTo>
                <a:lnTo>
                  <a:pt x="847242" y="1993722"/>
                </a:lnTo>
                <a:lnTo>
                  <a:pt x="788695" y="2011476"/>
                </a:lnTo>
                <a:lnTo>
                  <a:pt x="788568" y="2011514"/>
                </a:lnTo>
                <a:lnTo>
                  <a:pt x="726998" y="2028113"/>
                </a:lnTo>
                <a:lnTo>
                  <a:pt x="662457" y="2043722"/>
                </a:lnTo>
                <a:lnTo>
                  <a:pt x="595350" y="2058416"/>
                </a:lnTo>
                <a:lnTo>
                  <a:pt x="525919" y="2072284"/>
                </a:lnTo>
                <a:lnTo>
                  <a:pt x="454558" y="2085441"/>
                </a:lnTo>
                <a:lnTo>
                  <a:pt x="381406" y="2097989"/>
                </a:lnTo>
                <a:lnTo>
                  <a:pt x="456514" y="2097989"/>
                </a:lnTo>
                <a:lnTo>
                  <a:pt x="524598" y="2085441"/>
                </a:lnTo>
                <a:lnTo>
                  <a:pt x="528269" y="2084768"/>
                </a:lnTo>
                <a:lnTo>
                  <a:pt x="590715" y="2072284"/>
                </a:lnTo>
                <a:lnTo>
                  <a:pt x="597877" y="2070862"/>
                </a:lnTo>
                <a:lnTo>
                  <a:pt x="654723" y="2058416"/>
                </a:lnTo>
                <a:lnTo>
                  <a:pt x="665238" y="2056117"/>
                </a:lnTo>
                <a:lnTo>
                  <a:pt x="716470" y="2043722"/>
                </a:lnTo>
                <a:lnTo>
                  <a:pt x="730072" y="2040432"/>
                </a:lnTo>
                <a:lnTo>
                  <a:pt x="775779" y="2028113"/>
                </a:lnTo>
                <a:lnTo>
                  <a:pt x="832446" y="2011476"/>
                </a:lnTo>
                <a:lnTo>
                  <a:pt x="886256" y="1993722"/>
                </a:lnTo>
                <a:lnTo>
                  <a:pt x="936929" y="1974748"/>
                </a:lnTo>
                <a:lnTo>
                  <a:pt x="958557" y="1966214"/>
                </a:lnTo>
                <a:lnTo>
                  <a:pt x="1006576" y="1944230"/>
                </a:lnTo>
                <a:lnTo>
                  <a:pt x="1050404" y="1920646"/>
                </a:lnTo>
                <a:lnTo>
                  <a:pt x="1084110" y="1897329"/>
                </a:lnTo>
                <a:lnTo>
                  <a:pt x="1088097" y="1894293"/>
                </a:lnTo>
                <a:lnTo>
                  <a:pt x="1117727" y="1864868"/>
                </a:lnTo>
                <a:lnTo>
                  <a:pt x="1134706" y="1841614"/>
                </a:lnTo>
                <a:lnTo>
                  <a:pt x="1140345" y="1832889"/>
                </a:lnTo>
                <a:lnTo>
                  <a:pt x="1143927" y="1826209"/>
                </a:lnTo>
                <a:lnTo>
                  <a:pt x="1149362" y="1816100"/>
                </a:lnTo>
                <a:lnTo>
                  <a:pt x="1151966" y="1810296"/>
                </a:lnTo>
                <a:lnTo>
                  <a:pt x="1169047" y="1763382"/>
                </a:lnTo>
                <a:lnTo>
                  <a:pt x="1177963" y="1724152"/>
                </a:lnTo>
                <a:lnTo>
                  <a:pt x="1188656" y="1652244"/>
                </a:lnTo>
                <a:lnTo>
                  <a:pt x="1193647" y="1615160"/>
                </a:lnTo>
                <a:lnTo>
                  <a:pt x="1199769" y="1578673"/>
                </a:lnTo>
                <a:lnTo>
                  <a:pt x="1199807" y="1578483"/>
                </a:lnTo>
                <a:lnTo>
                  <a:pt x="1199756" y="1578673"/>
                </a:lnTo>
                <a:lnTo>
                  <a:pt x="1199819" y="1578394"/>
                </a:lnTo>
                <a:lnTo>
                  <a:pt x="1199857" y="1578267"/>
                </a:lnTo>
                <a:lnTo>
                  <a:pt x="1208176" y="1543050"/>
                </a:lnTo>
                <a:lnTo>
                  <a:pt x="1208227" y="1542834"/>
                </a:lnTo>
                <a:lnTo>
                  <a:pt x="1208163" y="1543050"/>
                </a:lnTo>
                <a:lnTo>
                  <a:pt x="1208278" y="1542618"/>
                </a:lnTo>
                <a:lnTo>
                  <a:pt x="1208227" y="1542834"/>
                </a:lnTo>
                <a:lnTo>
                  <a:pt x="1208303" y="1542618"/>
                </a:lnTo>
                <a:lnTo>
                  <a:pt x="1213548" y="1525803"/>
                </a:lnTo>
                <a:lnTo>
                  <a:pt x="1219898" y="1508963"/>
                </a:lnTo>
                <a:lnTo>
                  <a:pt x="1219974" y="1508760"/>
                </a:lnTo>
                <a:lnTo>
                  <a:pt x="1219873" y="1508963"/>
                </a:lnTo>
                <a:lnTo>
                  <a:pt x="1219987" y="1508696"/>
                </a:lnTo>
                <a:lnTo>
                  <a:pt x="1220050" y="1508569"/>
                </a:lnTo>
                <a:lnTo>
                  <a:pt x="1227340" y="1492554"/>
                </a:lnTo>
                <a:lnTo>
                  <a:pt x="1227442" y="1492351"/>
                </a:lnTo>
                <a:lnTo>
                  <a:pt x="1227531" y="1492186"/>
                </a:lnTo>
                <a:lnTo>
                  <a:pt x="1236040" y="1476641"/>
                </a:lnTo>
                <a:lnTo>
                  <a:pt x="1236154" y="1476425"/>
                </a:lnTo>
                <a:lnTo>
                  <a:pt x="1236306" y="1476197"/>
                </a:lnTo>
                <a:lnTo>
                  <a:pt x="1246136" y="1461236"/>
                </a:lnTo>
                <a:lnTo>
                  <a:pt x="1246276" y="1461020"/>
                </a:lnTo>
                <a:lnTo>
                  <a:pt x="1246111" y="1461236"/>
                </a:lnTo>
                <a:lnTo>
                  <a:pt x="1246428" y="1460792"/>
                </a:lnTo>
                <a:lnTo>
                  <a:pt x="1246276" y="1461020"/>
                </a:lnTo>
                <a:lnTo>
                  <a:pt x="1246454" y="1460792"/>
                </a:lnTo>
                <a:lnTo>
                  <a:pt x="1257769" y="1446377"/>
                </a:lnTo>
                <a:lnTo>
                  <a:pt x="1257922" y="1446174"/>
                </a:lnTo>
                <a:lnTo>
                  <a:pt x="1257731" y="1446377"/>
                </a:lnTo>
                <a:lnTo>
                  <a:pt x="1258087" y="1445958"/>
                </a:lnTo>
                <a:lnTo>
                  <a:pt x="1257922" y="1446174"/>
                </a:lnTo>
                <a:lnTo>
                  <a:pt x="1258125" y="1445958"/>
                </a:lnTo>
                <a:lnTo>
                  <a:pt x="1271079" y="1432102"/>
                </a:lnTo>
                <a:lnTo>
                  <a:pt x="1271257" y="1431925"/>
                </a:lnTo>
                <a:lnTo>
                  <a:pt x="1271054" y="1432102"/>
                </a:lnTo>
                <a:lnTo>
                  <a:pt x="1271447" y="1431721"/>
                </a:lnTo>
                <a:lnTo>
                  <a:pt x="1271257" y="1431925"/>
                </a:lnTo>
                <a:lnTo>
                  <a:pt x="1271485" y="1431721"/>
                </a:lnTo>
                <a:lnTo>
                  <a:pt x="1286243" y="1418463"/>
                </a:lnTo>
                <a:lnTo>
                  <a:pt x="1286421" y="1418297"/>
                </a:lnTo>
                <a:lnTo>
                  <a:pt x="1286675" y="1418120"/>
                </a:lnTo>
                <a:lnTo>
                  <a:pt x="1303413" y="1405496"/>
                </a:lnTo>
                <a:lnTo>
                  <a:pt x="1303591" y="1405356"/>
                </a:lnTo>
                <a:lnTo>
                  <a:pt x="1303858" y="1405191"/>
                </a:lnTo>
                <a:lnTo>
                  <a:pt x="1322768" y="1393228"/>
                </a:lnTo>
                <a:lnTo>
                  <a:pt x="1322946" y="1393126"/>
                </a:lnTo>
                <a:lnTo>
                  <a:pt x="1322743" y="1393228"/>
                </a:lnTo>
                <a:lnTo>
                  <a:pt x="1323136" y="1392999"/>
                </a:lnTo>
                <a:lnTo>
                  <a:pt x="1322946" y="1393126"/>
                </a:lnTo>
                <a:lnTo>
                  <a:pt x="1323174" y="1392999"/>
                </a:lnTo>
                <a:lnTo>
                  <a:pt x="1368259" y="1370584"/>
                </a:lnTo>
                <a:lnTo>
                  <a:pt x="1421866" y="1350098"/>
                </a:lnTo>
                <a:lnTo>
                  <a:pt x="1482420" y="1331582"/>
                </a:lnTo>
                <a:lnTo>
                  <a:pt x="1548777" y="1314767"/>
                </a:lnTo>
                <a:lnTo>
                  <a:pt x="1619859" y="1299387"/>
                </a:lnTo>
                <a:lnTo>
                  <a:pt x="1694281" y="1285214"/>
                </a:lnTo>
                <a:lnTo>
                  <a:pt x="1771256" y="1271917"/>
                </a:lnTo>
                <a:lnTo>
                  <a:pt x="1849374" y="1259268"/>
                </a:lnTo>
                <a:lnTo>
                  <a:pt x="2080895" y="1222209"/>
                </a:lnTo>
                <a:lnTo>
                  <a:pt x="2150122" y="1209814"/>
                </a:lnTo>
                <a:lnTo>
                  <a:pt x="2219896" y="1195781"/>
                </a:lnTo>
                <a:lnTo>
                  <a:pt x="2272893" y="1183360"/>
                </a:lnTo>
                <a:lnTo>
                  <a:pt x="2282152" y="1181074"/>
                </a:lnTo>
                <a:lnTo>
                  <a:pt x="2300020" y="1176197"/>
                </a:lnTo>
                <a:lnTo>
                  <a:pt x="2310917" y="1173238"/>
                </a:lnTo>
                <a:lnTo>
                  <a:pt x="2325611" y="1168768"/>
                </a:lnTo>
                <a:lnTo>
                  <a:pt x="2363025" y="1156385"/>
                </a:lnTo>
                <a:lnTo>
                  <a:pt x="2392451" y="1144422"/>
                </a:lnTo>
                <a:lnTo>
                  <a:pt x="2412073" y="1135545"/>
                </a:lnTo>
                <a:lnTo>
                  <a:pt x="2427668" y="1128483"/>
                </a:lnTo>
                <a:lnTo>
                  <a:pt x="2449957" y="1116977"/>
                </a:lnTo>
                <a:lnTo>
                  <a:pt x="2465209" y="1109103"/>
                </a:lnTo>
                <a:lnTo>
                  <a:pt x="2484221" y="1097902"/>
                </a:lnTo>
                <a:lnTo>
                  <a:pt x="2498979" y="1089202"/>
                </a:lnTo>
                <a:lnTo>
                  <a:pt x="2515070" y="1078357"/>
                </a:lnTo>
                <a:lnTo>
                  <a:pt x="2529243" y="1068806"/>
                </a:lnTo>
                <a:lnTo>
                  <a:pt x="2542743" y="1058392"/>
                </a:lnTo>
                <a:lnTo>
                  <a:pt x="2556268" y="1047953"/>
                </a:lnTo>
                <a:lnTo>
                  <a:pt x="2567470" y="1038034"/>
                </a:lnTo>
                <a:lnTo>
                  <a:pt x="2580297" y="1026680"/>
                </a:lnTo>
                <a:lnTo>
                  <a:pt x="2609126" y="996276"/>
                </a:lnTo>
                <a:lnTo>
                  <a:pt x="2626525" y="974928"/>
                </a:lnTo>
                <a:lnTo>
                  <a:pt x="2637129" y="960767"/>
                </a:lnTo>
                <a:lnTo>
                  <a:pt x="2641993" y="953312"/>
                </a:lnTo>
                <a:lnTo>
                  <a:pt x="2651849" y="938250"/>
                </a:lnTo>
                <a:lnTo>
                  <a:pt x="2655760" y="931456"/>
                </a:lnTo>
                <a:lnTo>
                  <a:pt x="2664917" y="915555"/>
                </a:lnTo>
                <a:lnTo>
                  <a:pt x="2668079" y="909358"/>
                </a:lnTo>
                <a:lnTo>
                  <a:pt x="2676614" y="892670"/>
                </a:lnTo>
                <a:lnTo>
                  <a:pt x="2679090" y="887056"/>
                </a:lnTo>
                <a:lnTo>
                  <a:pt x="2696845" y="846823"/>
                </a:lnTo>
                <a:lnTo>
                  <a:pt x="2698800" y="841819"/>
                </a:lnTo>
                <a:lnTo>
                  <a:pt x="2701696" y="834440"/>
                </a:lnTo>
                <a:lnTo>
                  <a:pt x="2712224" y="901865"/>
                </a:lnTo>
                <a:lnTo>
                  <a:pt x="2715476" y="904227"/>
                </a:lnTo>
                <a:lnTo>
                  <a:pt x="2722397" y="903147"/>
                </a:lnTo>
                <a:lnTo>
                  <a:pt x="2724772" y="899896"/>
                </a:lnTo>
                <a:close/>
              </a:path>
            </a:pathLst>
          </a:custGeom>
          <a:solidFill>
            <a:srgbClr val="FF0000"/>
          </a:solidFill>
        </p:spPr>
        <p:txBody>
          <a:bodyPr wrap="square" lIns="0" tIns="0" rIns="0" bIns="0" rtlCol="0"/>
          <a:lstStyle/>
          <a:p>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354" y="2718308"/>
            <a:ext cx="2356485" cy="1037590"/>
          </a:xfrm>
          <a:prstGeom prst="rect">
            <a:avLst/>
          </a:prstGeom>
        </p:spPr>
        <p:txBody>
          <a:bodyPr vert="horz" wrap="square" lIns="0" tIns="55244" rIns="0" bIns="0" rtlCol="0">
            <a:spAutoFit/>
          </a:bodyPr>
          <a:lstStyle/>
          <a:p>
            <a:pPr marL="12700" marR="5080">
              <a:lnSpc>
                <a:spcPct val="88000"/>
              </a:lnSpc>
              <a:spcBef>
                <a:spcPts val="435"/>
              </a:spcBef>
            </a:pPr>
            <a:r>
              <a:rPr sz="2400" spc="-5" dirty="0"/>
              <a:t>Global</a:t>
            </a:r>
            <a:r>
              <a:rPr sz="2400" spc="-75" dirty="0"/>
              <a:t> </a:t>
            </a:r>
            <a:r>
              <a:rPr sz="2400" dirty="0"/>
              <a:t>Common </a:t>
            </a:r>
            <a:r>
              <a:rPr sz="2400" spc="-585" dirty="0"/>
              <a:t> </a:t>
            </a:r>
            <a:r>
              <a:rPr sz="2400" spc="-5" dirty="0"/>
              <a:t>Subexpression </a:t>
            </a:r>
            <a:r>
              <a:rPr sz="2400" dirty="0"/>
              <a:t> </a:t>
            </a:r>
            <a:r>
              <a:rPr sz="2400" spc="-5" dirty="0"/>
              <a:t>Elimination</a:t>
            </a:r>
            <a:endParaRPr sz="2400"/>
          </a:p>
        </p:txBody>
      </p:sp>
      <p:grpSp>
        <p:nvGrpSpPr>
          <p:cNvPr id="3" name="object 3"/>
          <p:cNvGrpSpPr/>
          <p:nvPr/>
        </p:nvGrpSpPr>
        <p:grpSpPr>
          <a:xfrm>
            <a:off x="570415" y="259432"/>
            <a:ext cx="7214234" cy="5948680"/>
            <a:chOff x="570415" y="259432"/>
            <a:chExt cx="7214234" cy="5948680"/>
          </a:xfrm>
        </p:grpSpPr>
        <p:pic>
          <p:nvPicPr>
            <p:cNvPr id="4" name="object 4"/>
            <p:cNvPicPr/>
            <p:nvPr/>
          </p:nvPicPr>
          <p:blipFill>
            <a:blip r:embed="rId3" cstate="print"/>
            <a:stretch>
              <a:fillRect/>
            </a:stretch>
          </p:blipFill>
          <p:spPr>
            <a:xfrm>
              <a:off x="3068874" y="259432"/>
              <a:ext cx="4715729" cy="5948106"/>
            </a:xfrm>
            <a:prstGeom prst="rect">
              <a:avLst/>
            </a:prstGeom>
          </p:spPr>
        </p:pic>
        <p:pic>
          <p:nvPicPr>
            <p:cNvPr id="5" name="object 5"/>
            <p:cNvPicPr/>
            <p:nvPr/>
          </p:nvPicPr>
          <p:blipFill>
            <a:blip r:embed="rId4" cstate="print"/>
            <a:stretch>
              <a:fillRect/>
            </a:stretch>
          </p:blipFill>
          <p:spPr>
            <a:xfrm>
              <a:off x="3859104" y="4390473"/>
              <a:ext cx="1873479" cy="1624053"/>
            </a:xfrm>
            <a:prstGeom prst="rect">
              <a:avLst/>
            </a:prstGeom>
          </p:spPr>
        </p:pic>
        <p:sp>
          <p:nvSpPr>
            <p:cNvPr id="6" name="object 6"/>
            <p:cNvSpPr/>
            <p:nvPr/>
          </p:nvSpPr>
          <p:spPr>
            <a:xfrm>
              <a:off x="3974122" y="4897314"/>
              <a:ext cx="993775" cy="378460"/>
            </a:xfrm>
            <a:custGeom>
              <a:avLst/>
              <a:gdLst/>
              <a:ahLst/>
              <a:cxnLst/>
              <a:rect l="l" t="t" r="r" b="b"/>
              <a:pathLst>
                <a:path w="993775" h="378460">
                  <a:moveTo>
                    <a:pt x="0" y="0"/>
                  </a:moveTo>
                  <a:lnTo>
                    <a:pt x="993531" y="0"/>
                  </a:lnTo>
                  <a:lnTo>
                    <a:pt x="993531" y="378070"/>
                  </a:lnTo>
                  <a:lnTo>
                    <a:pt x="0" y="378070"/>
                  </a:lnTo>
                  <a:lnTo>
                    <a:pt x="0" y="0"/>
                  </a:lnTo>
                  <a:close/>
                </a:path>
              </a:pathLst>
            </a:custGeom>
            <a:ln w="12700">
              <a:solidFill>
                <a:srgbClr val="FF0000"/>
              </a:solidFill>
            </a:ln>
          </p:spPr>
          <p:txBody>
            <a:bodyPr wrap="square" lIns="0" tIns="0" rIns="0" bIns="0" rtlCol="0"/>
            <a:lstStyle/>
            <a:p>
              <a:endParaRPr/>
            </a:p>
          </p:txBody>
        </p:sp>
        <p:sp>
          <p:nvSpPr>
            <p:cNvPr id="7" name="object 7"/>
            <p:cNvSpPr/>
            <p:nvPr/>
          </p:nvSpPr>
          <p:spPr>
            <a:xfrm>
              <a:off x="5275384" y="2781300"/>
              <a:ext cx="457200" cy="184785"/>
            </a:xfrm>
            <a:custGeom>
              <a:avLst/>
              <a:gdLst/>
              <a:ahLst/>
              <a:cxnLst/>
              <a:rect l="l" t="t" r="r" b="b"/>
              <a:pathLst>
                <a:path w="457200" h="184785">
                  <a:moveTo>
                    <a:pt x="0" y="0"/>
                  </a:moveTo>
                  <a:lnTo>
                    <a:pt x="457200" y="0"/>
                  </a:lnTo>
                  <a:lnTo>
                    <a:pt x="457200" y="184639"/>
                  </a:lnTo>
                  <a:lnTo>
                    <a:pt x="0" y="184639"/>
                  </a:lnTo>
                  <a:lnTo>
                    <a:pt x="0" y="0"/>
                  </a:lnTo>
                  <a:close/>
                </a:path>
              </a:pathLst>
            </a:custGeom>
            <a:ln w="12700">
              <a:solidFill>
                <a:srgbClr val="FF0000"/>
              </a:solidFill>
            </a:ln>
          </p:spPr>
          <p:txBody>
            <a:bodyPr wrap="square" lIns="0" tIns="0" rIns="0" bIns="0" rtlCol="0"/>
            <a:lstStyle/>
            <a:p>
              <a:endParaRPr/>
            </a:p>
          </p:txBody>
        </p:sp>
        <p:sp>
          <p:nvSpPr>
            <p:cNvPr id="8" name="object 8"/>
            <p:cNvSpPr/>
            <p:nvPr/>
          </p:nvSpPr>
          <p:spPr>
            <a:xfrm>
              <a:off x="575178" y="4632378"/>
              <a:ext cx="1864360" cy="908050"/>
            </a:xfrm>
            <a:custGeom>
              <a:avLst/>
              <a:gdLst/>
              <a:ahLst/>
              <a:cxnLst/>
              <a:rect l="l" t="t" r="r" b="b"/>
              <a:pathLst>
                <a:path w="1864360" h="908050">
                  <a:moveTo>
                    <a:pt x="1863968" y="0"/>
                  </a:moveTo>
                  <a:lnTo>
                    <a:pt x="0" y="0"/>
                  </a:lnTo>
                  <a:lnTo>
                    <a:pt x="0" y="907940"/>
                  </a:lnTo>
                  <a:lnTo>
                    <a:pt x="1863968" y="907940"/>
                  </a:lnTo>
                  <a:lnTo>
                    <a:pt x="1863968" y="0"/>
                  </a:lnTo>
                  <a:close/>
                </a:path>
              </a:pathLst>
            </a:custGeom>
            <a:solidFill>
              <a:srgbClr val="FFF2CC"/>
            </a:solidFill>
          </p:spPr>
          <p:txBody>
            <a:bodyPr wrap="square" lIns="0" tIns="0" rIns="0" bIns="0" rtlCol="0"/>
            <a:lstStyle/>
            <a:p>
              <a:endParaRPr/>
            </a:p>
          </p:txBody>
        </p:sp>
        <p:sp>
          <p:nvSpPr>
            <p:cNvPr id="9" name="object 9"/>
            <p:cNvSpPr/>
            <p:nvPr/>
          </p:nvSpPr>
          <p:spPr>
            <a:xfrm>
              <a:off x="575178" y="4632378"/>
              <a:ext cx="1864360" cy="908050"/>
            </a:xfrm>
            <a:custGeom>
              <a:avLst/>
              <a:gdLst/>
              <a:ahLst/>
              <a:cxnLst/>
              <a:rect l="l" t="t" r="r" b="b"/>
              <a:pathLst>
                <a:path w="1864360" h="908050">
                  <a:moveTo>
                    <a:pt x="0" y="0"/>
                  </a:moveTo>
                  <a:lnTo>
                    <a:pt x="1863969" y="0"/>
                  </a:lnTo>
                  <a:lnTo>
                    <a:pt x="1863969" y="907941"/>
                  </a:lnTo>
                  <a:lnTo>
                    <a:pt x="0" y="907941"/>
                  </a:lnTo>
                  <a:lnTo>
                    <a:pt x="0" y="0"/>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653918" y="4578603"/>
            <a:ext cx="1137285" cy="903605"/>
          </a:xfrm>
          <a:prstGeom prst="rect">
            <a:avLst/>
          </a:prstGeom>
        </p:spPr>
        <p:txBody>
          <a:bodyPr vert="horz" wrap="square" lIns="0" tIns="85725" rIns="0" bIns="0" rtlCol="0">
            <a:spAutoFit/>
          </a:bodyPr>
          <a:lstStyle/>
          <a:p>
            <a:pPr marL="12700">
              <a:lnSpc>
                <a:spcPct val="100000"/>
              </a:lnSpc>
              <a:spcBef>
                <a:spcPts val="675"/>
              </a:spcBef>
            </a:pPr>
            <a:r>
              <a:rPr sz="1600" b="1" spc="-5" dirty="0">
                <a:latin typeface="Palatino Linotype" panose="02040502050505030304"/>
                <a:cs typeface="Palatino Linotype" panose="02040502050505030304"/>
              </a:rPr>
              <a:t>Optimized:</a:t>
            </a:r>
            <a:endParaRPr sz="1600" dirty="0">
              <a:latin typeface="Palatino Linotype" panose="02040502050505030304"/>
              <a:cs typeface="Palatino Linotype" panose="02040502050505030304"/>
            </a:endParaRPr>
          </a:p>
          <a:p>
            <a:pPr marL="12700" marR="5080">
              <a:lnSpc>
                <a:spcPct val="100000"/>
              </a:lnSpc>
              <a:spcBef>
                <a:spcPts val="575"/>
              </a:spcBef>
            </a:pPr>
            <a:r>
              <a:rPr sz="1600" spc="-5" dirty="0">
                <a:solidFill>
                  <a:srgbClr val="0432FF"/>
                </a:solidFill>
                <a:latin typeface="Consolas" panose="020B0609020204030204"/>
                <a:cs typeface="Consolas" panose="020B0609020204030204"/>
              </a:rPr>
              <a:t>t9</a:t>
            </a:r>
            <a:r>
              <a:rPr sz="1600" spc="-60" dirty="0">
                <a:solidFill>
                  <a:srgbClr val="0432FF"/>
                </a:solidFill>
                <a:latin typeface="Consolas" panose="020B0609020204030204"/>
                <a:cs typeface="Consolas" panose="020B0609020204030204"/>
              </a:rPr>
              <a:t> </a:t>
            </a:r>
            <a:r>
              <a:rPr sz="1600" dirty="0">
                <a:solidFill>
                  <a:srgbClr val="0432FF"/>
                </a:solidFill>
                <a:latin typeface="Consolas" panose="020B0609020204030204"/>
                <a:cs typeface="Consolas" panose="020B0609020204030204"/>
              </a:rPr>
              <a:t>=</a:t>
            </a:r>
            <a:r>
              <a:rPr sz="1600" spc="-55" dirty="0">
                <a:solidFill>
                  <a:srgbClr val="0432FF"/>
                </a:solidFill>
                <a:latin typeface="Consolas" panose="020B0609020204030204"/>
                <a:cs typeface="Consolas" panose="020B0609020204030204"/>
              </a:rPr>
              <a:t> </a:t>
            </a:r>
            <a:r>
              <a:rPr sz="1600" spc="-5" dirty="0">
                <a:solidFill>
                  <a:srgbClr val="0432FF"/>
                </a:solidFill>
                <a:latin typeface="Consolas" panose="020B0609020204030204"/>
                <a:cs typeface="Consolas" panose="020B0609020204030204"/>
              </a:rPr>
              <a:t>a[t4] </a:t>
            </a:r>
            <a:r>
              <a:rPr sz="1600" spc="-865" dirty="0">
                <a:solidFill>
                  <a:srgbClr val="0432FF"/>
                </a:solidFill>
                <a:latin typeface="Consolas" panose="020B0609020204030204"/>
                <a:cs typeface="Consolas" panose="020B0609020204030204"/>
              </a:rPr>
              <a:t> </a:t>
            </a:r>
            <a:r>
              <a:rPr sz="1600" spc="-5" dirty="0">
                <a:solidFill>
                  <a:srgbClr val="0432FF"/>
                </a:solidFill>
                <a:latin typeface="Consolas" panose="020B0609020204030204"/>
                <a:cs typeface="Consolas" panose="020B0609020204030204"/>
              </a:rPr>
              <a:t>a[t4]</a:t>
            </a:r>
            <a:r>
              <a:rPr sz="1600" spc="-45" dirty="0">
                <a:solidFill>
                  <a:srgbClr val="0432FF"/>
                </a:solidFill>
                <a:latin typeface="Consolas" panose="020B0609020204030204"/>
                <a:cs typeface="Consolas" panose="020B0609020204030204"/>
              </a:rPr>
              <a:t> </a:t>
            </a:r>
            <a:r>
              <a:rPr sz="1600" dirty="0">
                <a:solidFill>
                  <a:srgbClr val="0432FF"/>
                </a:solidFill>
                <a:latin typeface="Consolas" panose="020B0609020204030204"/>
                <a:cs typeface="Consolas" panose="020B0609020204030204"/>
              </a:rPr>
              <a:t>=</a:t>
            </a:r>
            <a:r>
              <a:rPr sz="1600" spc="-40" dirty="0">
                <a:solidFill>
                  <a:srgbClr val="0432FF"/>
                </a:solidFill>
                <a:latin typeface="Consolas" panose="020B0609020204030204"/>
                <a:cs typeface="Consolas" panose="020B0609020204030204"/>
              </a:rPr>
              <a:t> </a:t>
            </a:r>
            <a:r>
              <a:rPr sz="1600" dirty="0">
                <a:solidFill>
                  <a:srgbClr val="0432FF"/>
                </a:solidFill>
                <a:latin typeface="Consolas" panose="020B0609020204030204"/>
                <a:cs typeface="Consolas" panose="020B0609020204030204"/>
              </a:rPr>
              <a:t>x</a:t>
            </a:r>
            <a:endParaRPr sz="1600" dirty="0">
              <a:latin typeface="Consolas" panose="020B0609020204030204"/>
              <a:cs typeface="Consolas" panose="020B0609020204030204"/>
            </a:endParaRPr>
          </a:p>
        </p:txBody>
      </p:sp>
      <p:grpSp>
        <p:nvGrpSpPr>
          <p:cNvPr id="11" name="object 11"/>
          <p:cNvGrpSpPr/>
          <p:nvPr/>
        </p:nvGrpSpPr>
        <p:grpSpPr>
          <a:xfrm>
            <a:off x="1780407" y="5051240"/>
            <a:ext cx="3194050" cy="617855"/>
            <a:chOff x="1780407" y="5051240"/>
            <a:chExt cx="3194050" cy="617855"/>
          </a:xfrm>
        </p:grpSpPr>
        <p:sp>
          <p:nvSpPr>
            <p:cNvPr id="12" name="object 12"/>
            <p:cNvSpPr/>
            <p:nvPr/>
          </p:nvSpPr>
          <p:spPr>
            <a:xfrm>
              <a:off x="3974122" y="5455921"/>
              <a:ext cx="993775" cy="206375"/>
            </a:xfrm>
            <a:custGeom>
              <a:avLst/>
              <a:gdLst/>
              <a:ahLst/>
              <a:cxnLst/>
              <a:rect l="l" t="t" r="r" b="b"/>
              <a:pathLst>
                <a:path w="993775" h="206375">
                  <a:moveTo>
                    <a:pt x="0" y="0"/>
                  </a:moveTo>
                  <a:lnTo>
                    <a:pt x="993531" y="0"/>
                  </a:lnTo>
                  <a:lnTo>
                    <a:pt x="993531" y="206325"/>
                  </a:lnTo>
                  <a:lnTo>
                    <a:pt x="0" y="206325"/>
                  </a:lnTo>
                  <a:lnTo>
                    <a:pt x="0" y="0"/>
                  </a:lnTo>
                  <a:close/>
                </a:path>
              </a:pathLst>
            </a:custGeom>
            <a:ln w="12700">
              <a:solidFill>
                <a:srgbClr val="FF0000"/>
              </a:solidFill>
            </a:ln>
          </p:spPr>
          <p:txBody>
            <a:bodyPr wrap="square" lIns="0" tIns="0" rIns="0" bIns="0" rtlCol="0"/>
            <a:lstStyle/>
            <a:p>
              <a:endParaRPr/>
            </a:p>
          </p:txBody>
        </p:sp>
        <p:sp>
          <p:nvSpPr>
            <p:cNvPr id="13" name="object 13"/>
            <p:cNvSpPr/>
            <p:nvPr/>
          </p:nvSpPr>
          <p:spPr>
            <a:xfrm>
              <a:off x="1780400" y="5051247"/>
              <a:ext cx="2194560" cy="514350"/>
            </a:xfrm>
            <a:custGeom>
              <a:avLst/>
              <a:gdLst/>
              <a:ahLst/>
              <a:cxnLst/>
              <a:rect l="l" t="t" r="r" b="b"/>
              <a:pathLst>
                <a:path w="2194560" h="514350">
                  <a:moveTo>
                    <a:pt x="2193772" y="41452"/>
                  </a:moveTo>
                  <a:lnTo>
                    <a:pt x="2193671" y="28752"/>
                  </a:lnTo>
                  <a:lnTo>
                    <a:pt x="36042" y="45770"/>
                  </a:lnTo>
                  <a:lnTo>
                    <a:pt x="25209" y="52197"/>
                  </a:lnTo>
                  <a:lnTo>
                    <a:pt x="34315" y="46786"/>
                  </a:lnTo>
                  <a:lnTo>
                    <a:pt x="94703" y="10922"/>
                  </a:lnTo>
                  <a:lnTo>
                    <a:pt x="88226" y="0"/>
                  </a:lnTo>
                  <a:lnTo>
                    <a:pt x="0" y="52400"/>
                  </a:lnTo>
                  <a:lnTo>
                    <a:pt x="89039" y="103403"/>
                  </a:lnTo>
                  <a:lnTo>
                    <a:pt x="92913" y="102349"/>
                  </a:lnTo>
                  <a:lnTo>
                    <a:pt x="96405" y="96266"/>
                  </a:lnTo>
                  <a:lnTo>
                    <a:pt x="95351" y="92379"/>
                  </a:lnTo>
                  <a:lnTo>
                    <a:pt x="36461" y="58648"/>
                  </a:lnTo>
                  <a:lnTo>
                    <a:pt x="36144" y="58470"/>
                  </a:lnTo>
                  <a:lnTo>
                    <a:pt x="2193772" y="41452"/>
                  </a:lnTo>
                  <a:close/>
                </a:path>
                <a:path w="2194560" h="514350">
                  <a:moveTo>
                    <a:pt x="2194191" y="501510"/>
                  </a:moveTo>
                  <a:lnTo>
                    <a:pt x="36461" y="339344"/>
                  </a:lnTo>
                  <a:lnTo>
                    <a:pt x="40068" y="337591"/>
                  </a:lnTo>
                  <a:lnTo>
                    <a:pt x="97815" y="309486"/>
                  </a:lnTo>
                  <a:lnTo>
                    <a:pt x="99123" y="305676"/>
                  </a:lnTo>
                  <a:lnTo>
                    <a:pt x="96062" y="299377"/>
                  </a:lnTo>
                  <a:lnTo>
                    <a:pt x="92252" y="298069"/>
                  </a:lnTo>
                  <a:lnTo>
                    <a:pt x="0" y="342976"/>
                  </a:lnTo>
                  <a:lnTo>
                    <a:pt x="84505" y="401180"/>
                  </a:lnTo>
                  <a:lnTo>
                    <a:pt x="88468" y="400443"/>
                  </a:lnTo>
                  <a:lnTo>
                    <a:pt x="92443" y="394665"/>
                  </a:lnTo>
                  <a:lnTo>
                    <a:pt x="91706" y="390715"/>
                  </a:lnTo>
                  <a:lnTo>
                    <a:pt x="35509" y="352018"/>
                  </a:lnTo>
                  <a:lnTo>
                    <a:pt x="2193239" y="514172"/>
                  </a:lnTo>
                  <a:lnTo>
                    <a:pt x="2194191" y="501510"/>
                  </a:lnTo>
                  <a:close/>
                </a:path>
              </a:pathLst>
            </a:custGeom>
            <a:solidFill>
              <a:srgbClr val="FF0000"/>
            </a:solidFill>
          </p:spPr>
          <p:txBody>
            <a:bodyPr wrap="square" lIns="0" tIns="0" rIns="0" bIns="0" rtlCol="0"/>
            <a:lstStyle/>
            <a:p>
              <a:endParaRPr/>
            </a:p>
          </p:txBody>
        </p:sp>
      </p:grpSp>
      <p:sp>
        <p:nvSpPr>
          <p:cNvPr id="14" name="object 1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5" name="object 1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6" name="object 1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354" y="2718308"/>
            <a:ext cx="2356485" cy="1037590"/>
          </a:xfrm>
          <a:prstGeom prst="rect">
            <a:avLst/>
          </a:prstGeom>
        </p:spPr>
        <p:txBody>
          <a:bodyPr vert="horz" wrap="square" lIns="0" tIns="55244" rIns="0" bIns="0" rtlCol="0">
            <a:spAutoFit/>
          </a:bodyPr>
          <a:lstStyle/>
          <a:p>
            <a:pPr marL="12700" marR="5080">
              <a:lnSpc>
                <a:spcPct val="88000"/>
              </a:lnSpc>
              <a:spcBef>
                <a:spcPts val="435"/>
              </a:spcBef>
            </a:pPr>
            <a:r>
              <a:rPr sz="2400" spc="-5" dirty="0"/>
              <a:t>Global</a:t>
            </a:r>
            <a:r>
              <a:rPr sz="2400" spc="-75" dirty="0"/>
              <a:t> </a:t>
            </a:r>
            <a:r>
              <a:rPr sz="2400" dirty="0"/>
              <a:t>Common </a:t>
            </a:r>
            <a:r>
              <a:rPr sz="2400" spc="-585" dirty="0"/>
              <a:t> </a:t>
            </a:r>
            <a:r>
              <a:rPr sz="2400" spc="-5" dirty="0"/>
              <a:t>Subexpression </a:t>
            </a:r>
            <a:r>
              <a:rPr sz="2400" dirty="0"/>
              <a:t> </a:t>
            </a:r>
            <a:r>
              <a:rPr sz="2400" spc="-5" dirty="0"/>
              <a:t>Elimination</a:t>
            </a:r>
            <a:endParaRPr sz="2400"/>
          </a:p>
        </p:txBody>
      </p:sp>
      <p:graphicFrame>
        <p:nvGraphicFramePr>
          <p:cNvPr id="3" name="object 3"/>
          <p:cNvGraphicFramePr>
            <a:graphicFrameLocks noGrp="1"/>
          </p:cNvGraphicFramePr>
          <p:nvPr/>
        </p:nvGraphicFramePr>
        <p:xfrm>
          <a:off x="3887921" y="4427966"/>
          <a:ext cx="1416685" cy="1569659"/>
        </p:xfrm>
        <a:graphic>
          <a:graphicData uri="http://schemas.openxmlformats.org/drawingml/2006/table">
            <a:tbl>
              <a:tblPr firstRow="1" bandRow="1">
                <a:tableStyleId>{2D5ABB26-0587-4C30-8999-92F81FD0307C}</a:tableStyleId>
              </a:tblPr>
              <a:tblGrid>
                <a:gridCol w="1293495">
                  <a:extLst>
                    <a:ext uri="{9D8B030D-6E8A-4147-A177-3AD203B41FA5}">
                      <a16:colId xmlns:a16="http://schemas.microsoft.com/office/drawing/2014/main" val="20000"/>
                    </a:ext>
                  </a:extLst>
                </a:gridCol>
                <a:gridCol w="123190">
                  <a:extLst>
                    <a:ext uri="{9D8B030D-6E8A-4147-A177-3AD203B41FA5}">
                      <a16:colId xmlns:a16="http://schemas.microsoft.com/office/drawing/2014/main" val="20001"/>
                    </a:ext>
                  </a:extLst>
                </a:gridCol>
              </a:tblGrid>
              <a:tr h="564579">
                <a:tc gridSpan="2">
                  <a:txBody>
                    <a:bodyPr/>
                    <a:lstStyle/>
                    <a:p>
                      <a:pPr marL="55880" marR="351155">
                        <a:lnSpc>
                          <a:spcPts val="1900"/>
                        </a:lnSpc>
                        <a:spcBef>
                          <a:spcPts val="335"/>
                        </a:spcBef>
                      </a:pPr>
                      <a:r>
                        <a:rPr sz="1600" spc="-5" dirty="0">
                          <a:latin typeface="Consolas" panose="020B0609020204030204"/>
                          <a:cs typeface="Consolas" panose="020B0609020204030204"/>
                        </a:rPr>
                        <a:t>t6</a:t>
                      </a:r>
                      <a:r>
                        <a:rPr sz="1600" dirty="0">
                          <a:latin typeface="Consolas" panose="020B0609020204030204"/>
                          <a:cs typeface="Consolas" panose="020B0609020204030204"/>
                        </a:rPr>
                        <a:t> =</a:t>
                      </a:r>
                      <a:r>
                        <a:rPr sz="1600" spc="5" dirty="0">
                          <a:latin typeface="Consolas" panose="020B0609020204030204"/>
                          <a:cs typeface="Consolas" panose="020B0609020204030204"/>
                        </a:rPr>
                        <a:t> </a:t>
                      </a:r>
                      <a:r>
                        <a:rPr sz="1600" spc="-5" dirty="0">
                          <a:latin typeface="Consolas" panose="020B0609020204030204"/>
                          <a:cs typeface="Consolas" panose="020B0609020204030204"/>
                        </a:rPr>
                        <a:t>4*i </a:t>
                      </a:r>
                      <a:r>
                        <a:rPr sz="1600" spc="-865" dirty="0">
                          <a:latin typeface="Consolas" panose="020B0609020204030204"/>
                          <a:cs typeface="Consolas" panose="020B0609020204030204"/>
                        </a:rPr>
                        <a:t> </a:t>
                      </a:r>
                      <a:r>
                        <a:rPr sz="1600" dirty="0">
                          <a:latin typeface="Consolas" panose="020B0609020204030204"/>
                          <a:cs typeface="Consolas" panose="020B0609020204030204"/>
                        </a:rPr>
                        <a:t>x</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60" dirty="0">
                          <a:latin typeface="Consolas" panose="020B0609020204030204"/>
                          <a:cs typeface="Consolas" panose="020B0609020204030204"/>
                        </a:rPr>
                        <a:t> </a:t>
                      </a:r>
                      <a:r>
                        <a:rPr sz="1600" spc="-5" dirty="0">
                          <a:latin typeface="Consolas" panose="020B0609020204030204"/>
                          <a:cs typeface="Consolas" panose="020B0609020204030204"/>
                        </a:rPr>
                        <a:t>a[t6]</a:t>
                      </a:r>
                      <a:endParaRPr sz="1600">
                        <a:latin typeface="Consolas" panose="020B0609020204030204"/>
                        <a:cs typeface="Consolas" panose="020B0609020204030204"/>
                      </a:endParaRPr>
                    </a:p>
                  </a:txBody>
                  <a:tcPr marL="0" marR="0" marT="42544" marB="0">
                    <a:solidFill>
                      <a:srgbClr val="FFFFFF"/>
                    </a:solidFill>
                  </a:tcPr>
                </a:tc>
                <a:tc hMerge="1">
                  <a:txBody>
                    <a:bodyPr/>
                    <a:lstStyle/>
                    <a:p>
                      <a:endParaRPr lang="zh-CN"/>
                    </a:p>
                  </a:txBody>
                  <a:tcPr marL="0" marR="0" marT="0" marB="0"/>
                </a:tc>
                <a:extLst>
                  <a:ext uri="{0D108BD9-81ED-4DB2-BD59-A6C34878D82A}">
                    <a16:rowId xmlns:a16="http://schemas.microsoft.com/office/drawing/2014/main" val="10000"/>
                  </a:ext>
                </a:extLst>
              </a:tr>
              <a:tr h="446474">
                <a:tc>
                  <a:txBody>
                    <a:bodyPr/>
                    <a:lstStyle/>
                    <a:p>
                      <a:pPr marL="55880">
                        <a:lnSpc>
                          <a:spcPts val="1545"/>
                        </a:lnSpc>
                      </a:pPr>
                      <a:r>
                        <a:rPr sz="1600" spc="-5" dirty="0">
                          <a:latin typeface="Consolas" panose="020B0609020204030204"/>
                          <a:cs typeface="Consolas" panose="020B0609020204030204"/>
                        </a:rPr>
                        <a:t>t9</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a[t4]</a:t>
                      </a:r>
                      <a:endParaRPr sz="1600">
                        <a:latin typeface="Consolas" panose="020B0609020204030204"/>
                        <a:cs typeface="Consolas" panose="020B0609020204030204"/>
                      </a:endParaRPr>
                    </a:p>
                    <a:p>
                      <a:pPr marL="55880">
                        <a:lnSpc>
                          <a:spcPts val="1800"/>
                        </a:lnSpc>
                        <a:spcBef>
                          <a:spcPts val="70"/>
                        </a:spcBef>
                      </a:pPr>
                      <a:r>
                        <a:rPr sz="1600" spc="-5" dirty="0">
                          <a:latin typeface="Consolas" panose="020B0609020204030204"/>
                          <a:cs typeface="Consolas" panose="020B0609020204030204"/>
                        </a:rPr>
                        <a:t>a[t6]</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t9</a:t>
                      </a:r>
                      <a:endParaRPr sz="1600">
                        <a:latin typeface="Consolas" panose="020B0609020204030204"/>
                        <a:cs typeface="Consolas" panose="020B0609020204030204"/>
                      </a:endParaRPr>
                    </a:p>
                  </a:txBody>
                  <a:tcPr marL="0" marR="0" marT="0" marB="0">
                    <a:lnL w="19050">
                      <a:solidFill>
                        <a:srgbClr val="FF0000"/>
                      </a:solidFill>
                      <a:prstDash val="solid"/>
                    </a:lnL>
                    <a:lnR w="19050">
                      <a:solidFill>
                        <a:srgbClr val="FF0000"/>
                      </a:solidFill>
                      <a:prstDash val="solid"/>
                    </a:lnR>
                    <a:lnB w="19050">
                      <a:solidFill>
                        <a:srgbClr val="FF0000"/>
                      </a:solidFill>
                      <a:prstDash val="solid"/>
                    </a:lnB>
                    <a:solidFill>
                      <a:srgbClr val="FFFFFF"/>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lnL w="19050">
                      <a:solidFill>
                        <a:srgbClr val="FF0000"/>
                      </a:solidFill>
                      <a:prstDash val="solid"/>
                    </a:lnL>
                    <a:solidFill>
                      <a:srgbClr val="FFFFFF"/>
                    </a:solidFill>
                  </a:tcPr>
                </a:tc>
                <a:extLst>
                  <a:ext uri="{0D108BD9-81ED-4DB2-BD59-A6C34878D82A}">
                    <a16:rowId xmlns:a16="http://schemas.microsoft.com/office/drawing/2014/main" val="10001"/>
                  </a:ext>
                </a:extLst>
              </a:tr>
              <a:tr h="558606">
                <a:tc gridSpan="2">
                  <a:txBody>
                    <a:bodyPr/>
                    <a:lstStyle/>
                    <a:p>
                      <a:pPr marL="55880" marR="350520">
                        <a:lnSpc>
                          <a:spcPts val="1900"/>
                        </a:lnSpc>
                        <a:spcBef>
                          <a:spcPts val="75"/>
                        </a:spcBef>
                      </a:pPr>
                      <a:r>
                        <a:rPr sz="1600" spc="-5" dirty="0">
                          <a:latin typeface="Consolas" panose="020B0609020204030204"/>
                          <a:cs typeface="Consolas" panose="020B0609020204030204"/>
                        </a:rPr>
                        <a:t>a[t4]</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dirty="0">
                          <a:latin typeface="Consolas" panose="020B0609020204030204"/>
                          <a:cs typeface="Consolas" panose="020B0609020204030204"/>
                        </a:rPr>
                        <a:t>x </a:t>
                      </a:r>
                      <a:r>
                        <a:rPr sz="1600" spc="-865" dirty="0">
                          <a:latin typeface="Consolas" panose="020B0609020204030204"/>
                          <a:cs typeface="Consolas" panose="020B0609020204030204"/>
                        </a:rPr>
                        <a:t> </a:t>
                      </a:r>
                      <a:r>
                        <a:rPr sz="1600" spc="-5" dirty="0">
                          <a:latin typeface="Consolas" panose="020B0609020204030204"/>
                          <a:cs typeface="Consolas" panose="020B0609020204030204"/>
                        </a:rPr>
                        <a:t>goto</a:t>
                      </a:r>
                      <a:r>
                        <a:rPr sz="1600" spc="-45" dirty="0">
                          <a:latin typeface="Consolas" panose="020B0609020204030204"/>
                          <a:cs typeface="Consolas" panose="020B0609020204030204"/>
                        </a:rPr>
                        <a:t> </a:t>
                      </a:r>
                      <a:r>
                        <a:rPr sz="1600" i="1" spc="-5" dirty="0">
                          <a:latin typeface="Consolas" panose="020B0609020204030204"/>
                          <a:cs typeface="Consolas" panose="020B0609020204030204"/>
                        </a:rPr>
                        <a:t>B</a:t>
                      </a:r>
                      <a:r>
                        <a:rPr sz="1650" spc="-7" baseline="-15000" dirty="0">
                          <a:latin typeface="Consolas" panose="020B0609020204030204"/>
                          <a:cs typeface="Consolas" panose="020B0609020204030204"/>
                        </a:rPr>
                        <a:t>2</a:t>
                      </a:r>
                      <a:endParaRPr sz="1650" baseline="-15000">
                        <a:latin typeface="Consolas" panose="020B0609020204030204"/>
                        <a:cs typeface="Consolas" panose="020B0609020204030204"/>
                      </a:endParaRPr>
                    </a:p>
                  </a:txBody>
                  <a:tcPr marL="0" marR="0" marT="9525" marB="0">
                    <a:lnT w="19050" cap="flat" cmpd="sng" algn="ctr">
                      <a:solidFill>
                        <a:srgbClr val="FF0000"/>
                      </a:solidFill>
                      <a:prstDash val="solid"/>
                      <a:round/>
                      <a:headEnd type="none" w="med" len="med"/>
                      <a:tailEnd type="none" w="med" len="med"/>
                    </a:lnT>
                    <a:solidFill>
                      <a:srgbClr val="FFFFFF"/>
                    </a:solidFill>
                  </a:tcPr>
                </a:tc>
                <a:tc hMerge="1">
                  <a:txBody>
                    <a:bodyPr/>
                    <a:lstStyle/>
                    <a:p>
                      <a:endParaRPr lang="zh-CN"/>
                    </a:p>
                  </a:txBody>
                  <a:tcPr marL="0" marR="0" marT="0" marB="0"/>
                </a:tc>
                <a:extLst>
                  <a:ext uri="{0D108BD9-81ED-4DB2-BD59-A6C34878D82A}">
                    <a16:rowId xmlns:a16="http://schemas.microsoft.com/office/drawing/2014/main" val="10002"/>
                  </a:ext>
                </a:extLst>
              </a:tr>
            </a:tbl>
          </a:graphicData>
        </a:graphic>
      </p:graphicFrame>
      <p:grpSp>
        <p:nvGrpSpPr>
          <p:cNvPr id="4" name="object 4"/>
          <p:cNvGrpSpPr/>
          <p:nvPr/>
        </p:nvGrpSpPr>
        <p:grpSpPr>
          <a:xfrm>
            <a:off x="3068874" y="259432"/>
            <a:ext cx="4716145" cy="5948680"/>
            <a:chOff x="3068874" y="259432"/>
            <a:chExt cx="4716145" cy="5948680"/>
          </a:xfrm>
        </p:grpSpPr>
        <p:pic>
          <p:nvPicPr>
            <p:cNvPr id="5" name="object 5"/>
            <p:cNvPicPr/>
            <p:nvPr/>
          </p:nvPicPr>
          <p:blipFill>
            <a:blip r:embed="rId3" cstate="print"/>
            <a:stretch>
              <a:fillRect/>
            </a:stretch>
          </p:blipFill>
          <p:spPr>
            <a:xfrm>
              <a:off x="3068874" y="259432"/>
              <a:ext cx="4715729" cy="5948106"/>
            </a:xfrm>
            <a:prstGeom prst="rect">
              <a:avLst/>
            </a:prstGeom>
          </p:spPr>
        </p:pic>
        <p:pic>
          <p:nvPicPr>
            <p:cNvPr id="6" name="object 6"/>
            <p:cNvPicPr/>
            <p:nvPr/>
          </p:nvPicPr>
          <p:blipFill>
            <a:blip r:embed="rId4" cstate="print"/>
            <a:stretch>
              <a:fillRect/>
            </a:stretch>
          </p:blipFill>
          <p:spPr>
            <a:xfrm>
              <a:off x="3859104" y="4390473"/>
              <a:ext cx="1873479" cy="1624053"/>
            </a:xfrm>
            <a:prstGeom prst="rect">
              <a:avLst/>
            </a:prstGeom>
          </p:spPr>
        </p:pic>
        <p:sp>
          <p:nvSpPr>
            <p:cNvPr id="7" name="object 7"/>
            <p:cNvSpPr/>
            <p:nvPr/>
          </p:nvSpPr>
          <p:spPr>
            <a:xfrm>
              <a:off x="5310142" y="2939561"/>
              <a:ext cx="457200" cy="184785"/>
            </a:xfrm>
            <a:custGeom>
              <a:avLst/>
              <a:gdLst/>
              <a:ahLst/>
              <a:cxnLst/>
              <a:rect l="l" t="t" r="r" b="b"/>
              <a:pathLst>
                <a:path w="457200" h="184785">
                  <a:moveTo>
                    <a:pt x="0" y="0"/>
                  </a:moveTo>
                  <a:lnTo>
                    <a:pt x="457200" y="0"/>
                  </a:lnTo>
                  <a:lnTo>
                    <a:pt x="457200" y="184639"/>
                  </a:lnTo>
                  <a:lnTo>
                    <a:pt x="0" y="184639"/>
                  </a:lnTo>
                  <a:lnTo>
                    <a:pt x="0" y="0"/>
                  </a:lnTo>
                  <a:close/>
                </a:path>
              </a:pathLst>
            </a:custGeom>
            <a:ln w="12700">
              <a:solidFill>
                <a:srgbClr val="FF0000"/>
              </a:solidFill>
            </a:ln>
          </p:spPr>
          <p:txBody>
            <a:bodyPr wrap="square" lIns="0" tIns="0" rIns="0" bIns="0" rtlCol="0"/>
            <a:lstStyle/>
            <a:p>
              <a:endParaRPr/>
            </a:p>
          </p:txBody>
        </p:sp>
        <p:sp>
          <p:nvSpPr>
            <p:cNvPr id="8" name="object 8"/>
            <p:cNvSpPr/>
            <p:nvPr/>
          </p:nvSpPr>
          <p:spPr>
            <a:xfrm>
              <a:off x="3859104" y="4427966"/>
              <a:ext cx="1451610" cy="1569720"/>
            </a:xfrm>
            <a:custGeom>
              <a:avLst/>
              <a:gdLst/>
              <a:ahLst/>
              <a:cxnLst/>
              <a:rect l="l" t="t" r="r" b="b"/>
              <a:pathLst>
                <a:path w="1451610" h="1569720">
                  <a:moveTo>
                    <a:pt x="0" y="0"/>
                  </a:moveTo>
                  <a:lnTo>
                    <a:pt x="1451038" y="0"/>
                  </a:lnTo>
                  <a:lnTo>
                    <a:pt x="1451038" y="1569660"/>
                  </a:lnTo>
                  <a:lnTo>
                    <a:pt x="0" y="1569660"/>
                  </a:lnTo>
                  <a:lnTo>
                    <a:pt x="0" y="0"/>
                  </a:lnTo>
                  <a:close/>
                </a:path>
              </a:pathLst>
            </a:custGeom>
            <a:ln w="9525">
              <a:solidFill>
                <a:srgbClr val="000000"/>
              </a:solidFill>
            </a:ln>
          </p:spPr>
          <p:txBody>
            <a:bodyPr wrap="square" lIns="0" tIns="0" rIns="0" bIns="0" rtlCol="0"/>
            <a:lstStyle/>
            <a:p>
              <a:endParaRPr/>
            </a:p>
          </p:txBody>
        </p:sp>
      </p:grpSp>
      <p:sp>
        <p:nvSpPr>
          <p:cNvPr id="9" name="object 9"/>
          <p:cNvSpPr txBox="1"/>
          <p:nvPr/>
        </p:nvSpPr>
        <p:spPr>
          <a:xfrm>
            <a:off x="6973680" y="2154731"/>
            <a:ext cx="1864360" cy="1569720"/>
          </a:xfrm>
          <a:prstGeom prst="rect">
            <a:avLst/>
          </a:prstGeom>
          <a:solidFill>
            <a:srgbClr val="FFF2CC"/>
          </a:solidFill>
          <a:ln w="9525">
            <a:solidFill>
              <a:srgbClr val="000000"/>
            </a:solidFill>
          </a:ln>
        </p:spPr>
        <p:txBody>
          <a:bodyPr vert="horz" wrap="square" lIns="0" tIns="31750" rIns="0" bIns="0" rtlCol="0">
            <a:spAutoFit/>
          </a:bodyPr>
          <a:lstStyle/>
          <a:p>
            <a:pPr marL="91440" marR="137160">
              <a:lnSpc>
                <a:spcPct val="100000"/>
              </a:lnSpc>
              <a:spcBef>
                <a:spcPts val="250"/>
              </a:spcBef>
            </a:pPr>
            <a:r>
              <a:rPr sz="1600" dirty="0">
                <a:latin typeface="Palatino Linotype" panose="02040502050505030304"/>
                <a:cs typeface="Palatino Linotype" panose="02040502050505030304"/>
              </a:rPr>
              <a:t>As control </a:t>
            </a:r>
            <a:r>
              <a:rPr sz="1600" spc="-5" dirty="0">
                <a:latin typeface="Palatino Linotype" panose="02040502050505030304"/>
                <a:cs typeface="Palatino Linotype" panose="02040502050505030304"/>
              </a:rPr>
              <a:t>passes </a:t>
            </a:r>
            <a:r>
              <a:rPr sz="1600" dirty="0">
                <a:latin typeface="Palatino Linotype" panose="02040502050505030304"/>
                <a:cs typeface="Palatino Linotype" panose="02040502050505030304"/>
              </a:rPr>
              <a:t> from </a:t>
            </a:r>
            <a:r>
              <a:rPr sz="1600" i="1" spc="-5" dirty="0">
                <a:solidFill>
                  <a:srgbClr val="0432FF"/>
                </a:solidFill>
                <a:latin typeface="Palatino Linotype" panose="02040502050505030304"/>
                <a:cs typeface="Palatino Linotype" panose="02040502050505030304"/>
              </a:rPr>
              <a:t>B</a:t>
            </a:r>
            <a:r>
              <a:rPr sz="1650" spc="-7" baseline="-15000" dirty="0">
                <a:solidFill>
                  <a:srgbClr val="0432FF"/>
                </a:solidFill>
                <a:latin typeface="Palatino Linotype" panose="02040502050505030304"/>
                <a:cs typeface="Palatino Linotype" panose="02040502050505030304"/>
              </a:rPr>
              <a:t>3</a:t>
            </a:r>
            <a:r>
              <a:rPr sz="1650" baseline="-15000"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t>
            </a:r>
            <a:r>
              <a:rPr sz="1600" i="1" spc="-10" dirty="0">
                <a:solidFill>
                  <a:srgbClr val="0432FF"/>
                </a:solidFill>
                <a:latin typeface="Palatino Linotype" panose="02040502050505030304"/>
                <a:cs typeface="Palatino Linotype" panose="02040502050505030304"/>
              </a:rPr>
              <a:t>B</a:t>
            </a:r>
            <a:r>
              <a:rPr sz="1650" spc="-15" baseline="-15000" dirty="0">
                <a:solidFill>
                  <a:srgbClr val="0432FF"/>
                </a:solidFill>
                <a:latin typeface="Palatino Linotype" panose="02040502050505030304"/>
                <a:cs typeface="Palatino Linotype" panose="02040502050505030304"/>
              </a:rPr>
              <a:t>5</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there</a:t>
            </a:r>
            <a:r>
              <a:rPr sz="1600" spc="-3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a:t>
            </a:r>
            <a:r>
              <a:rPr sz="1600" spc="-3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no</a:t>
            </a:r>
            <a:r>
              <a:rPr sz="1600" spc="-2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change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array </a:t>
            </a:r>
            <a:r>
              <a:rPr sz="1600" spc="-5" dirty="0">
                <a:latin typeface="Palatino Linotype" panose="02040502050505030304"/>
                <a:cs typeface="Palatino Linotype" panose="02040502050505030304"/>
              </a:rPr>
              <a:t>elements.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a:t>
            </a:r>
            <a:r>
              <a:rPr sz="1600" dirty="0">
                <a:latin typeface="Palatino Linotype" panose="02040502050505030304"/>
                <a:cs typeface="Palatino Linotype" panose="02040502050505030304"/>
              </a:rPr>
              <a:t>o </a:t>
            </a:r>
            <a:r>
              <a:rPr sz="1600" spc="-5" dirty="0">
                <a:solidFill>
                  <a:srgbClr val="0432FF"/>
                </a:solidFill>
                <a:latin typeface="Consolas" panose="020B0609020204030204"/>
                <a:cs typeface="Consolas" panose="020B0609020204030204"/>
              </a:rPr>
              <a:t>a[t4</a:t>
            </a:r>
            <a:r>
              <a:rPr sz="1600" dirty="0">
                <a:solidFill>
                  <a:srgbClr val="0432FF"/>
                </a:solidFill>
                <a:latin typeface="Consolas" panose="020B0609020204030204"/>
                <a:cs typeface="Consolas" panose="020B0609020204030204"/>
              </a:rPr>
              <a:t>]</a:t>
            </a:r>
            <a:r>
              <a:rPr sz="1600" spc="-484" dirty="0">
                <a:solidFill>
                  <a:srgbClr val="0432FF"/>
                </a:solidFill>
                <a:latin typeface="Consolas" panose="020B0609020204030204"/>
                <a:cs typeface="Consolas" panose="020B0609020204030204"/>
              </a:rPr>
              <a:t> </a:t>
            </a:r>
            <a:r>
              <a:rPr sz="1600" spc="5" dirty="0">
                <a:latin typeface="Palatino Linotype" panose="02040502050505030304"/>
                <a:cs typeface="Palatino Linotype" panose="02040502050505030304"/>
              </a:rPr>
              <a:t>r</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ma</a:t>
            </a:r>
            <a:r>
              <a:rPr sz="1600" spc="-5" dirty="0">
                <a:latin typeface="Palatino Linotype" panose="02040502050505030304"/>
                <a:cs typeface="Palatino Linotype" panose="02040502050505030304"/>
              </a:rPr>
              <a:t>i</a:t>
            </a:r>
            <a:r>
              <a:rPr sz="1600" spc="5" dirty="0">
                <a:latin typeface="Palatino Linotype" panose="02040502050505030304"/>
                <a:cs typeface="Palatino Linotype" panose="02040502050505030304"/>
              </a:rPr>
              <a:t>n</a:t>
            </a:r>
            <a:r>
              <a:rPr sz="1600" dirty="0">
                <a:latin typeface="Palatino Linotype" panose="02040502050505030304"/>
                <a:cs typeface="Palatino Linotype" panose="02040502050505030304"/>
              </a:rPr>
              <a:t>s  </a:t>
            </a:r>
            <a:r>
              <a:rPr sz="1600" spc="-5" dirty="0">
                <a:latin typeface="Palatino Linotype" panose="02040502050505030304"/>
                <a:cs typeface="Palatino Linotype" panose="02040502050505030304"/>
              </a:rPr>
              <a:t>unchanged.</a:t>
            </a:r>
            <a:endParaRPr sz="1600">
              <a:latin typeface="Palatino Linotype" panose="02040502050505030304"/>
              <a:cs typeface="Palatino Linotype" panose="02040502050505030304"/>
            </a:endParaRPr>
          </a:p>
        </p:txBody>
      </p:sp>
      <p:sp>
        <p:nvSpPr>
          <p:cNvPr id="10" name="object 10"/>
          <p:cNvSpPr txBox="1"/>
          <p:nvPr/>
        </p:nvSpPr>
        <p:spPr>
          <a:xfrm>
            <a:off x="993530" y="4632378"/>
            <a:ext cx="1445895" cy="662305"/>
          </a:xfrm>
          <a:prstGeom prst="rect">
            <a:avLst/>
          </a:prstGeom>
          <a:solidFill>
            <a:srgbClr val="FFF2CC"/>
          </a:solidFill>
          <a:ln w="9525">
            <a:solidFill>
              <a:srgbClr val="000000"/>
            </a:solidFill>
          </a:ln>
        </p:spPr>
        <p:txBody>
          <a:bodyPr vert="horz" wrap="square" lIns="0" tIns="31750" rIns="0" bIns="0" rtlCol="0">
            <a:spAutoFit/>
          </a:bodyPr>
          <a:lstStyle/>
          <a:p>
            <a:pPr marL="91440">
              <a:lnSpc>
                <a:spcPct val="100000"/>
              </a:lnSpc>
              <a:spcBef>
                <a:spcPts val="250"/>
              </a:spcBef>
            </a:pPr>
            <a:r>
              <a:rPr sz="1600" b="1" spc="-5" dirty="0">
                <a:latin typeface="Palatino Linotype" panose="02040502050505030304"/>
                <a:cs typeface="Palatino Linotype" panose="02040502050505030304"/>
              </a:rPr>
              <a:t>Optimized:</a:t>
            </a:r>
            <a:endParaRPr sz="1600">
              <a:latin typeface="Palatino Linotype" panose="02040502050505030304"/>
              <a:cs typeface="Palatino Linotype" panose="02040502050505030304"/>
            </a:endParaRPr>
          </a:p>
          <a:p>
            <a:pPr marL="91440">
              <a:lnSpc>
                <a:spcPct val="100000"/>
              </a:lnSpc>
              <a:spcBef>
                <a:spcPts val="575"/>
              </a:spcBef>
            </a:pPr>
            <a:r>
              <a:rPr sz="1600" spc="-5" dirty="0">
                <a:solidFill>
                  <a:srgbClr val="0432FF"/>
                </a:solidFill>
                <a:latin typeface="Consolas" panose="020B0609020204030204"/>
                <a:cs typeface="Consolas" panose="020B0609020204030204"/>
              </a:rPr>
              <a:t>a[t6]</a:t>
            </a:r>
            <a:r>
              <a:rPr sz="1600" spc="-50" dirty="0">
                <a:solidFill>
                  <a:srgbClr val="0432FF"/>
                </a:solidFill>
                <a:latin typeface="Consolas" panose="020B0609020204030204"/>
                <a:cs typeface="Consolas" panose="020B0609020204030204"/>
              </a:rPr>
              <a:t> </a:t>
            </a:r>
            <a:r>
              <a:rPr sz="1600" dirty="0">
                <a:solidFill>
                  <a:srgbClr val="0432FF"/>
                </a:solidFill>
                <a:latin typeface="Consolas" panose="020B0609020204030204"/>
                <a:cs typeface="Consolas" panose="020B0609020204030204"/>
              </a:rPr>
              <a:t>=</a:t>
            </a:r>
            <a:r>
              <a:rPr sz="1600" spc="-45" dirty="0">
                <a:solidFill>
                  <a:srgbClr val="0432FF"/>
                </a:solidFill>
                <a:latin typeface="Consolas" panose="020B0609020204030204"/>
                <a:cs typeface="Consolas" panose="020B0609020204030204"/>
              </a:rPr>
              <a:t> </a:t>
            </a:r>
            <a:r>
              <a:rPr sz="1600" spc="-5" dirty="0">
                <a:solidFill>
                  <a:srgbClr val="0432FF"/>
                </a:solidFill>
                <a:latin typeface="Consolas" panose="020B0609020204030204"/>
                <a:cs typeface="Consolas" panose="020B0609020204030204"/>
              </a:rPr>
              <a:t>t5</a:t>
            </a:r>
            <a:endParaRPr sz="1600">
              <a:latin typeface="Consolas" panose="020B0609020204030204"/>
              <a:cs typeface="Consolas" panose="020B0609020204030204"/>
            </a:endParaRPr>
          </a:p>
        </p:txBody>
      </p:sp>
      <p:sp>
        <p:nvSpPr>
          <p:cNvPr id="11" name="object 11"/>
          <p:cNvSpPr/>
          <p:nvPr/>
        </p:nvSpPr>
        <p:spPr>
          <a:xfrm>
            <a:off x="2439117" y="4927651"/>
            <a:ext cx="1452245" cy="297180"/>
          </a:xfrm>
          <a:custGeom>
            <a:avLst/>
            <a:gdLst/>
            <a:ahLst/>
            <a:cxnLst/>
            <a:rect l="l" t="t" r="r" b="b"/>
            <a:pathLst>
              <a:path w="1452245" h="297179">
                <a:moveTo>
                  <a:pt x="36644" y="35573"/>
                </a:moveTo>
                <a:lnTo>
                  <a:pt x="24823" y="39943"/>
                </a:lnTo>
                <a:lnTo>
                  <a:pt x="34446" y="48082"/>
                </a:lnTo>
                <a:lnTo>
                  <a:pt x="1449967" y="296823"/>
                </a:lnTo>
                <a:lnTo>
                  <a:pt x="1452166" y="284314"/>
                </a:lnTo>
                <a:lnTo>
                  <a:pt x="36644" y="35573"/>
                </a:lnTo>
                <a:close/>
              </a:path>
              <a:path w="1452245" h="297179">
                <a:moveTo>
                  <a:pt x="96243" y="0"/>
                </a:moveTo>
                <a:lnTo>
                  <a:pt x="0" y="35581"/>
                </a:lnTo>
                <a:lnTo>
                  <a:pt x="78346" y="101843"/>
                </a:lnTo>
                <a:lnTo>
                  <a:pt x="82353" y="101508"/>
                </a:lnTo>
                <a:lnTo>
                  <a:pt x="86883" y="96152"/>
                </a:lnTo>
                <a:lnTo>
                  <a:pt x="86547" y="92146"/>
                </a:lnTo>
                <a:lnTo>
                  <a:pt x="34446" y="48082"/>
                </a:lnTo>
                <a:lnTo>
                  <a:pt x="11313" y="44016"/>
                </a:lnTo>
                <a:lnTo>
                  <a:pt x="13511" y="31508"/>
                </a:lnTo>
                <a:lnTo>
                  <a:pt x="47639" y="31508"/>
                </a:lnTo>
                <a:lnTo>
                  <a:pt x="100647" y="11911"/>
                </a:lnTo>
                <a:lnTo>
                  <a:pt x="102327" y="8258"/>
                </a:lnTo>
                <a:lnTo>
                  <a:pt x="99895" y="1680"/>
                </a:lnTo>
                <a:lnTo>
                  <a:pt x="96243" y="0"/>
                </a:lnTo>
                <a:close/>
              </a:path>
              <a:path w="1452245" h="297179">
                <a:moveTo>
                  <a:pt x="13511" y="31508"/>
                </a:moveTo>
                <a:lnTo>
                  <a:pt x="11313" y="44016"/>
                </a:lnTo>
                <a:lnTo>
                  <a:pt x="34446" y="48082"/>
                </a:lnTo>
                <a:lnTo>
                  <a:pt x="29287" y="43718"/>
                </a:lnTo>
                <a:lnTo>
                  <a:pt x="14613" y="43718"/>
                </a:lnTo>
                <a:lnTo>
                  <a:pt x="16512" y="32914"/>
                </a:lnTo>
                <a:lnTo>
                  <a:pt x="21512" y="32914"/>
                </a:lnTo>
                <a:lnTo>
                  <a:pt x="13511" y="31508"/>
                </a:lnTo>
                <a:close/>
              </a:path>
              <a:path w="1452245" h="297179">
                <a:moveTo>
                  <a:pt x="16512" y="32914"/>
                </a:moveTo>
                <a:lnTo>
                  <a:pt x="14613" y="43718"/>
                </a:lnTo>
                <a:lnTo>
                  <a:pt x="24823" y="39943"/>
                </a:lnTo>
                <a:lnTo>
                  <a:pt x="16512" y="32914"/>
                </a:lnTo>
                <a:close/>
              </a:path>
              <a:path w="1452245" h="297179">
                <a:moveTo>
                  <a:pt x="24823" y="39943"/>
                </a:moveTo>
                <a:lnTo>
                  <a:pt x="14613" y="43718"/>
                </a:lnTo>
                <a:lnTo>
                  <a:pt x="29287" y="43718"/>
                </a:lnTo>
                <a:lnTo>
                  <a:pt x="24823" y="39943"/>
                </a:lnTo>
                <a:close/>
              </a:path>
              <a:path w="1452245" h="297179">
                <a:moveTo>
                  <a:pt x="21512" y="32914"/>
                </a:moveTo>
                <a:lnTo>
                  <a:pt x="16512" y="32914"/>
                </a:lnTo>
                <a:lnTo>
                  <a:pt x="24823" y="39943"/>
                </a:lnTo>
                <a:lnTo>
                  <a:pt x="36644" y="35573"/>
                </a:lnTo>
                <a:lnTo>
                  <a:pt x="21512" y="32914"/>
                </a:lnTo>
                <a:close/>
              </a:path>
              <a:path w="1452245" h="297179">
                <a:moveTo>
                  <a:pt x="47639" y="31508"/>
                </a:moveTo>
                <a:lnTo>
                  <a:pt x="13511" y="31508"/>
                </a:lnTo>
                <a:lnTo>
                  <a:pt x="36644" y="35573"/>
                </a:lnTo>
                <a:lnTo>
                  <a:pt x="47639" y="31508"/>
                </a:lnTo>
                <a:close/>
              </a:path>
            </a:pathLst>
          </a:custGeom>
          <a:solidFill>
            <a:srgbClr val="FF0000"/>
          </a:solidFill>
        </p:spPr>
        <p:txBody>
          <a:bodyPr wrap="square" lIns="0" tIns="0" rIns="0" bIns="0" rtlCol="0"/>
          <a:lstStyle/>
          <a:p>
            <a:endParaRPr/>
          </a:p>
        </p:txBody>
      </p:sp>
      <p:sp>
        <p:nvSpPr>
          <p:cNvPr id="12" name="object 12"/>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3" name="object 13"/>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4" name="object 14"/>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729480" cy="635000"/>
          </a:xfrm>
          <a:prstGeom prst="rect">
            <a:avLst/>
          </a:prstGeom>
        </p:spPr>
        <p:txBody>
          <a:bodyPr vert="horz" wrap="square" lIns="0" tIns="12700" rIns="0" bIns="0" rtlCol="0">
            <a:spAutoFit/>
          </a:bodyPr>
          <a:lstStyle/>
          <a:p>
            <a:pPr marL="12700">
              <a:lnSpc>
                <a:spcPct val="100000"/>
              </a:lnSpc>
              <a:spcBef>
                <a:spcPts val="100"/>
              </a:spcBef>
            </a:pPr>
            <a:r>
              <a:rPr sz="4000" dirty="0"/>
              <a:t>After</a:t>
            </a:r>
            <a:r>
              <a:rPr sz="4000" spc="-65" dirty="0"/>
              <a:t> </a:t>
            </a:r>
            <a:r>
              <a:rPr sz="4000" dirty="0"/>
              <a:t>Optimizations</a:t>
            </a:r>
            <a:endParaRPr sz="4000"/>
          </a:p>
        </p:txBody>
      </p:sp>
      <p:grpSp>
        <p:nvGrpSpPr>
          <p:cNvPr id="3" name="object 3"/>
          <p:cNvGrpSpPr/>
          <p:nvPr/>
        </p:nvGrpSpPr>
        <p:grpSpPr>
          <a:xfrm>
            <a:off x="735936" y="1560968"/>
            <a:ext cx="7944484" cy="4611370"/>
            <a:chOff x="735936" y="1560968"/>
            <a:chExt cx="7944484" cy="4611370"/>
          </a:xfrm>
        </p:grpSpPr>
        <p:pic>
          <p:nvPicPr>
            <p:cNvPr id="4" name="object 4"/>
            <p:cNvPicPr/>
            <p:nvPr/>
          </p:nvPicPr>
          <p:blipFill>
            <a:blip r:embed="rId3" cstate="print"/>
            <a:stretch>
              <a:fillRect/>
            </a:stretch>
          </p:blipFill>
          <p:spPr>
            <a:xfrm>
              <a:off x="735936" y="1560968"/>
              <a:ext cx="3483923" cy="4242605"/>
            </a:xfrm>
            <a:prstGeom prst="rect">
              <a:avLst/>
            </a:prstGeom>
          </p:spPr>
        </p:pic>
        <p:pic>
          <p:nvPicPr>
            <p:cNvPr id="5" name="object 5"/>
            <p:cNvPicPr/>
            <p:nvPr/>
          </p:nvPicPr>
          <p:blipFill>
            <a:blip r:embed="rId4" cstate="print"/>
            <a:stretch>
              <a:fillRect/>
            </a:stretch>
          </p:blipFill>
          <p:spPr>
            <a:xfrm>
              <a:off x="5277032" y="1731126"/>
              <a:ext cx="3402941" cy="3881358"/>
            </a:xfrm>
            <a:prstGeom prst="rect">
              <a:avLst/>
            </a:prstGeom>
          </p:spPr>
        </p:pic>
        <p:sp>
          <p:nvSpPr>
            <p:cNvPr id="6" name="object 6"/>
            <p:cNvSpPr/>
            <p:nvPr/>
          </p:nvSpPr>
          <p:spPr>
            <a:xfrm>
              <a:off x="1844725" y="5433631"/>
              <a:ext cx="6156325" cy="738505"/>
            </a:xfrm>
            <a:custGeom>
              <a:avLst/>
              <a:gdLst/>
              <a:ahLst/>
              <a:cxnLst/>
              <a:rect l="l" t="t" r="r" b="b"/>
              <a:pathLst>
                <a:path w="6156325" h="738504">
                  <a:moveTo>
                    <a:pt x="52349" y="200596"/>
                  </a:moveTo>
                  <a:lnTo>
                    <a:pt x="3314" y="187325"/>
                  </a:lnTo>
                  <a:lnTo>
                    <a:pt x="0" y="199580"/>
                  </a:lnTo>
                  <a:lnTo>
                    <a:pt x="49034" y="212852"/>
                  </a:lnTo>
                  <a:lnTo>
                    <a:pt x="52349" y="200596"/>
                  </a:lnTo>
                  <a:close/>
                </a:path>
                <a:path w="6156325" h="738504">
                  <a:moveTo>
                    <a:pt x="138163" y="223824"/>
                  </a:moveTo>
                  <a:lnTo>
                    <a:pt x="89128" y="210553"/>
                  </a:lnTo>
                  <a:lnTo>
                    <a:pt x="85801" y="222808"/>
                  </a:lnTo>
                  <a:lnTo>
                    <a:pt x="134848" y="236080"/>
                  </a:lnTo>
                  <a:lnTo>
                    <a:pt x="138163" y="223824"/>
                  </a:lnTo>
                  <a:close/>
                </a:path>
                <a:path w="6156325" h="738504">
                  <a:moveTo>
                    <a:pt x="223977" y="247040"/>
                  </a:moveTo>
                  <a:lnTo>
                    <a:pt x="174942" y="233768"/>
                  </a:lnTo>
                  <a:lnTo>
                    <a:pt x="171615" y="246037"/>
                  </a:lnTo>
                  <a:lnTo>
                    <a:pt x="220649" y="259308"/>
                  </a:lnTo>
                  <a:lnTo>
                    <a:pt x="223977" y="247040"/>
                  </a:lnTo>
                  <a:close/>
                </a:path>
                <a:path w="6156325" h="738504">
                  <a:moveTo>
                    <a:pt x="309791" y="270268"/>
                  </a:moveTo>
                  <a:lnTo>
                    <a:pt x="260743" y="256997"/>
                  </a:lnTo>
                  <a:lnTo>
                    <a:pt x="257429" y="269252"/>
                  </a:lnTo>
                  <a:lnTo>
                    <a:pt x="306463" y="282524"/>
                  </a:lnTo>
                  <a:lnTo>
                    <a:pt x="309791" y="270268"/>
                  </a:lnTo>
                  <a:close/>
                </a:path>
                <a:path w="6156325" h="738504">
                  <a:moveTo>
                    <a:pt x="395579" y="293484"/>
                  </a:moveTo>
                  <a:lnTo>
                    <a:pt x="393915" y="293039"/>
                  </a:lnTo>
                  <a:lnTo>
                    <a:pt x="346557" y="280225"/>
                  </a:lnTo>
                  <a:lnTo>
                    <a:pt x="343242" y="292481"/>
                  </a:lnTo>
                  <a:lnTo>
                    <a:pt x="392303" y="305752"/>
                  </a:lnTo>
                  <a:lnTo>
                    <a:pt x="395579" y="293484"/>
                  </a:lnTo>
                  <a:close/>
                </a:path>
                <a:path w="6156325" h="738504">
                  <a:moveTo>
                    <a:pt x="481482" y="316369"/>
                  </a:moveTo>
                  <a:lnTo>
                    <a:pt x="432396" y="303288"/>
                  </a:lnTo>
                  <a:lnTo>
                    <a:pt x="429120" y="315556"/>
                  </a:lnTo>
                  <a:lnTo>
                    <a:pt x="478205" y="328637"/>
                  </a:lnTo>
                  <a:lnTo>
                    <a:pt x="481482" y="316369"/>
                  </a:lnTo>
                  <a:close/>
                </a:path>
                <a:path w="6156325" h="738504">
                  <a:moveTo>
                    <a:pt x="567385" y="339255"/>
                  </a:moveTo>
                  <a:lnTo>
                    <a:pt x="518299" y="326174"/>
                  </a:lnTo>
                  <a:lnTo>
                    <a:pt x="515023" y="338455"/>
                  </a:lnTo>
                  <a:lnTo>
                    <a:pt x="564108" y="351523"/>
                  </a:lnTo>
                  <a:lnTo>
                    <a:pt x="567385" y="339255"/>
                  </a:lnTo>
                  <a:close/>
                </a:path>
                <a:path w="6156325" h="738504">
                  <a:moveTo>
                    <a:pt x="653338" y="361823"/>
                  </a:moveTo>
                  <a:lnTo>
                    <a:pt x="604189" y="348983"/>
                  </a:lnTo>
                  <a:lnTo>
                    <a:pt x="600976" y="361264"/>
                  </a:lnTo>
                  <a:lnTo>
                    <a:pt x="650125" y="374103"/>
                  </a:lnTo>
                  <a:lnTo>
                    <a:pt x="653338" y="361823"/>
                  </a:lnTo>
                  <a:close/>
                </a:path>
                <a:path w="6156325" h="738504">
                  <a:moveTo>
                    <a:pt x="739355" y="384289"/>
                  </a:moveTo>
                  <a:lnTo>
                    <a:pt x="690206" y="371449"/>
                  </a:lnTo>
                  <a:lnTo>
                    <a:pt x="686993" y="383743"/>
                  </a:lnTo>
                  <a:lnTo>
                    <a:pt x="736142" y="396582"/>
                  </a:lnTo>
                  <a:lnTo>
                    <a:pt x="739355" y="384289"/>
                  </a:lnTo>
                  <a:close/>
                </a:path>
                <a:path w="6156325" h="738504">
                  <a:moveTo>
                    <a:pt x="825398" y="406463"/>
                  </a:moveTo>
                  <a:lnTo>
                    <a:pt x="780554" y="395058"/>
                  </a:lnTo>
                  <a:lnTo>
                    <a:pt x="776211" y="393928"/>
                  </a:lnTo>
                  <a:lnTo>
                    <a:pt x="772998" y="406209"/>
                  </a:lnTo>
                  <a:lnTo>
                    <a:pt x="822274" y="418769"/>
                  </a:lnTo>
                  <a:lnTo>
                    <a:pt x="825398" y="406463"/>
                  </a:lnTo>
                  <a:close/>
                </a:path>
                <a:path w="6156325" h="738504">
                  <a:moveTo>
                    <a:pt x="911555" y="428371"/>
                  </a:moveTo>
                  <a:lnTo>
                    <a:pt x="862330" y="415861"/>
                  </a:lnTo>
                  <a:lnTo>
                    <a:pt x="859193" y="428167"/>
                  </a:lnTo>
                  <a:lnTo>
                    <a:pt x="908431" y="440690"/>
                  </a:lnTo>
                  <a:lnTo>
                    <a:pt x="911555" y="428371"/>
                  </a:lnTo>
                  <a:close/>
                </a:path>
                <a:path w="6156325" h="738504">
                  <a:moveTo>
                    <a:pt x="997724" y="450049"/>
                  </a:moveTo>
                  <a:lnTo>
                    <a:pt x="971169" y="443534"/>
                  </a:lnTo>
                  <a:lnTo>
                    <a:pt x="948486" y="437769"/>
                  </a:lnTo>
                  <a:lnTo>
                    <a:pt x="945349" y="450075"/>
                  </a:lnTo>
                  <a:lnTo>
                    <a:pt x="994689" y="462381"/>
                  </a:lnTo>
                  <a:lnTo>
                    <a:pt x="997724" y="450049"/>
                  </a:lnTo>
                  <a:close/>
                </a:path>
                <a:path w="6156325" h="738504">
                  <a:moveTo>
                    <a:pt x="1084059" y="471233"/>
                  </a:moveTo>
                  <a:lnTo>
                    <a:pt x="1034719" y="459130"/>
                  </a:lnTo>
                  <a:lnTo>
                    <a:pt x="1031697" y="471462"/>
                  </a:lnTo>
                  <a:lnTo>
                    <a:pt x="1081036" y="483565"/>
                  </a:lnTo>
                  <a:lnTo>
                    <a:pt x="1084059" y="471233"/>
                  </a:lnTo>
                  <a:close/>
                </a:path>
                <a:path w="6156325" h="738504">
                  <a:moveTo>
                    <a:pt x="1170355" y="492290"/>
                  </a:moveTo>
                  <a:lnTo>
                    <a:pt x="1159306" y="489699"/>
                  </a:lnTo>
                  <a:lnTo>
                    <a:pt x="1121054" y="480314"/>
                  </a:lnTo>
                  <a:lnTo>
                    <a:pt x="1118031" y="492645"/>
                  </a:lnTo>
                  <a:lnTo>
                    <a:pt x="1156322" y="502043"/>
                  </a:lnTo>
                  <a:lnTo>
                    <a:pt x="1167460" y="504659"/>
                  </a:lnTo>
                  <a:lnTo>
                    <a:pt x="1170355" y="492290"/>
                  </a:lnTo>
                  <a:close/>
                </a:path>
                <a:path w="6156325" h="738504">
                  <a:moveTo>
                    <a:pt x="1256919" y="512572"/>
                  </a:moveTo>
                  <a:lnTo>
                    <a:pt x="1207452" y="500989"/>
                  </a:lnTo>
                  <a:lnTo>
                    <a:pt x="1204556" y="513346"/>
                  </a:lnTo>
                  <a:lnTo>
                    <a:pt x="1254010" y="524941"/>
                  </a:lnTo>
                  <a:lnTo>
                    <a:pt x="1256919" y="512572"/>
                  </a:lnTo>
                  <a:close/>
                </a:path>
                <a:path w="6156325" h="738504">
                  <a:moveTo>
                    <a:pt x="1343469" y="532866"/>
                  </a:moveTo>
                  <a:lnTo>
                    <a:pt x="1294003" y="521271"/>
                  </a:lnTo>
                  <a:lnTo>
                    <a:pt x="1291107" y="533641"/>
                  </a:lnTo>
                  <a:lnTo>
                    <a:pt x="1340573" y="545223"/>
                  </a:lnTo>
                  <a:lnTo>
                    <a:pt x="1343469" y="532866"/>
                  </a:lnTo>
                  <a:close/>
                </a:path>
                <a:path w="6156325" h="738504">
                  <a:moveTo>
                    <a:pt x="1430197" y="552043"/>
                  </a:moveTo>
                  <a:lnTo>
                    <a:pt x="1380591" y="541083"/>
                  </a:lnTo>
                  <a:lnTo>
                    <a:pt x="1377848" y="553478"/>
                  </a:lnTo>
                  <a:lnTo>
                    <a:pt x="1427454" y="564451"/>
                  </a:lnTo>
                  <a:lnTo>
                    <a:pt x="1430197" y="552043"/>
                  </a:lnTo>
                  <a:close/>
                </a:path>
                <a:path w="6156325" h="738504">
                  <a:moveTo>
                    <a:pt x="1517002" y="571233"/>
                  </a:moveTo>
                  <a:lnTo>
                    <a:pt x="1467396" y="560273"/>
                  </a:lnTo>
                  <a:lnTo>
                    <a:pt x="1464652" y="572668"/>
                  </a:lnTo>
                  <a:lnTo>
                    <a:pt x="1514259" y="583641"/>
                  </a:lnTo>
                  <a:lnTo>
                    <a:pt x="1517002" y="571233"/>
                  </a:lnTo>
                  <a:close/>
                </a:path>
                <a:path w="6156325" h="738504">
                  <a:moveTo>
                    <a:pt x="1603959" y="589229"/>
                  </a:moveTo>
                  <a:lnTo>
                    <a:pt x="1554200" y="579018"/>
                  </a:lnTo>
                  <a:lnTo>
                    <a:pt x="1551647" y="591451"/>
                  </a:lnTo>
                  <a:lnTo>
                    <a:pt x="1601406" y="601662"/>
                  </a:lnTo>
                  <a:lnTo>
                    <a:pt x="1603959" y="589229"/>
                  </a:lnTo>
                  <a:close/>
                </a:path>
                <a:path w="6156325" h="738504">
                  <a:moveTo>
                    <a:pt x="1678990" y="103365"/>
                  </a:moveTo>
                  <a:lnTo>
                    <a:pt x="1629829" y="90589"/>
                  </a:lnTo>
                  <a:lnTo>
                    <a:pt x="1626628" y="102882"/>
                  </a:lnTo>
                  <a:lnTo>
                    <a:pt x="1675803" y="115658"/>
                  </a:lnTo>
                  <a:lnTo>
                    <a:pt x="1678990" y="103365"/>
                  </a:lnTo>
                  <a:close/>
                </a:path>
                <a:path w="6156325" h="738504">
                  <a:moveTo>
                    <a:pt x="1691043" y="607098"/>
                  </a:moveTo>
                  <a:lnTo>
                    <a:pt x="1641284" y="596887"/>
                  </a:lnTo>
                  <a:lnTo>
                    <a:pt x="1638731" y="609320"/>
                  </a:lnTo>
                  <a:lnTo>
                    <a:pt x="1688490" y="619544"/>
                  </a:lnTo>
                  <a:lnTo>
                    <a:pt x="1691043" y="607098"/>
                  </a:lnTo>
                  <a:close/>
                </a:path>
                <a:path w="6156325" h="738504">
                  <a:moveTo>
                    <a:pt x="1765033" y="125730"/>
                  </a:moveTo>
                  <a:lnTo>
                    <a:pt x="1715871" y="112953"/>
                  </a:lnTo>
                  <a:lnTo>
                    <a:pt x="1712671" y="125247"/>
                  </a:lnTo>
                  <a:lnTo>
                    <a:pt x="1761845" y="138023"/>
                  </a:lnTo>
                  <a:lnTo>
                    <a:pt x="1765033" y="125730"/>
                  </a:lnTo>
                  <a:close/>
                </a:path>
                <a:path w="6156325" h="738504">
                  <a:moveTo>
                    <a:pt x="1778241" y="623976"/>
                  </a:moveTo>
                  <a:lnTo>
                    <a:pt x="1728343" y="614426"/>
                  </a:lnTo>
                  <a:lnTo>
                    <a:pt x="1725955" y="626897"/>
                  </a:lnTo>
                  <a:lnTo>
                    <a:pt x="1775853" y="636447"/>
                  </a:lnTo>
                  <a:lnTo>
                    <a:pt x="1778241" y="623976"/>
                  </a:lnTo>
                  <a:close/>
                </a:path>
                <a:path w="6156325" h="738504">
                  <a:moveTo>
                    <a:pt x="1851075" y="148094"/>
                  </a:moveTo>
                  <a:lnTo>
                    <a:pt x="1801914" y="135318"/>
                  </a:lnTo>
                  <a:lnTo>
                    <a:pt x="1798713" y="147612"/>
                  </a:lnTo>
                  <a:lnTo>
                    <a:pt x="1847888" y="160388"/>
                  </a:lnTo>
                  <a:lnTo>
                    <a:pt x="1851075" y="148094"/>
                  </a:lnTo>
                  <a:close/>
                </a:path>
                <a:path w="6156325" h="738504">
                  <a:moveTo>
                    <a:pt x="1865630" y="639965"/>
                  </a:moveTo>
                  <a:lnTo>
                    <a:pt x="1815642" y="630897"/>
                  </a:lnTo>
                  <a:lnTo>
                    <a:pt x="1813369" y="643394"/>
                  </a:lnTo>
                  <a:lnTo>
                    <a:pt x="1863356" y="652462"/>
                  </a:lnTo>
                  <a:lnTo>
                    <a:pt x="1865630" y="639965"/>
                  </a:lnTo>
                  <a:close/>
                </a:path>
                <a:path w="6156325" h="738504">
                  <a:moveTo>
                    <a:pt x="1937118" y="170459"/>
                  </a:moveTo>
                  <a:lnTo>
                    <a:pt x="1887956" y="157683"/>
                  </a:lnTo>
                  <a:lnTo>
                    <a:pt x="1884756" y="169976"/>
                  </a:lnTo>
                  <a:lnTo>
                    <a:pt x="1933917" y="182753"/>
                  </a:lnTo>
                  <a:lnTo>
                    <a:pt x="1937118" y="170459"/>
                  </a:lnTo>
                  <a:close/>
                </a:path>
                <a:path w="6156325" h="738504">
                  <a:moveTo>
                    <a:pt x="1953171" y="655027"/>
                  </a:moveTo>
                  <a:lnTo>
                    <a:pt x="1903095" y="646493"/>
                  </a:lnTo>
                  <a:lnTo>
                    <a:pt x="1900961" y="659003"/>
                  </a:lnTo>
                  <a:lnTo>
                    <a:pt x="1951037" y="667550"/>
                  </a:lnTo>
                  <a:lnTo>
                    <a:pt x="1953171" y="655027"/>
                  </a:lnTo>
                  <a:close/>
                </a:path>
                <a:path w="6156325" h="738504">
                  <a:moveTo>
                    <a:pt x="2023160" y="192824"/>
                  </a:moveTo>
                  <a:lnTo>
                    <a:pt x="1973999" y="180047"/>
                  </a:lnTo>
                  <a:lnTo>
                    <a:pt x="1970798" y="192328"/>
                  </a:lnTo>
                  <a:lnTo>
                    <a:pt x="2019960" y="205117"/>
                  </a:lnTo>
                  <a:lnTo>
                    <a:pt x="2023160" y="192824"/>
                  </a:lnTo>
                  <a:close/>
                </a:path>
                <a:path w="6156325" h="738504">
                  <a:moveTo>
                    <a:pt x="2040890" y="669048"/>
                  </a:moveTo>
                  <a:lnTo>
                    <a:pt x="1990712" y="661098"/>
                  </a:lnTo>
                  <a:lnTo>
                    <a:pt x="1988718" y="673633"/>
                  </a:lnTo>
                  <a:lnTo>
                    <a:pt x="2038896" y="681596"/>
                  </a:lnTo>
                  <a:lnTo>
                    <a:pt x="2040890" y="669048"/>
                  </a:lnTo>
                  <a:close/>
                </a:path>
                <a:path w="6156325" h="738504">
                  <a:moveTo>
                    <a:pt x="2109228" y="214972"/>
                  </a:moveTo>
                  <a:lnTo>
                    <a:pt x="2060016" y="202374"/>
                  </a:lnTo>
                  <a:lnTo>
                    <a:pt x="2056866" y="214668"/>
                  </a:lnTo>
                  <a:lnTo>
                    <a:pt x="2106079" y="227279"/>
                  </a:lnTo>
                  <a:lnTo>
                    <a:pt x="2109228" y="214972"/>
                  </a:lnTo>
                  <a:close/>
                </a:path>
                <a:path w="6156325" h="738504">
                  <a:moveTo>
                    <a:pt x="2128685" y="681926"/>
                  </a:moveTo>
                  <a:lnTo>
                    <a:pt x="2128240" y="681863"/>
                  </a:lnTo>
                  <a:lnTo>
                    <a:pt x="2078494" y="674611"/>
                  </a:lnTo>
                  <a:lnTo>
                    <a:pt x="2076665" y="687171"/>
                  </a:lnTo>
                  <a:lnTo>
                    <a:pt x="2127021" y="694512"/>
                  </a:lnTo>
                  <a:lnTo>
                    <a:pt x="2128685" y="681926"/>
                  </a:lnTo>
                  <a:close/>
                </a:path>
                <a:path w="6156325" h="738504">
                  <a:moveTo>
                    <a:pt x="2195347" y="237032"/>
                  </a:moveTo>
                  <a:lnTo>
                    <a:pt x="2146135" y="224434"/>
                  </a:lnTo>
                  <a:lnTo>
                    <a:pt x="2142985" y="236740"/>
                  </a:lnTo>
                  <a:lnTo>
                    <a:pt x="2192197" y="249339"/>
                  </a:lnTo>
                  <a:lnTo>
                    <a:pt x="2195347" y="237032"/>
                  </a:lnTo>
                  <a:close/>
                </a:path>
                <a:path w="6156325" h="738504">
                  <a:moveTo>
                    <a:pt x="2216734" y="693432"/>
                  </a:moveTo>
                  <a:lnTo>
                    <a:pt x="2209088" y="692543"/>
                  </a:lnTo>
                  <a:lnTo>
                    <a:pt x="2166455" y="686917"/>
                  </a:lnTo>
                  <a:lnTo>
                    <a:pt x="2164791" y="699503"/>
                  </a:lnTo>
                  <a:lnTo>
                    <a:pt x="2207463" y="705142"/>
                  </a:lnTo>
                  <a:lnTo>
                    <a:pt x="2215261" y="706056"/>
                  </a:lnTo>
                  <a:lnTo>
                    <a:pt x="2216734" y="693432"/>
                  </a:lnTo>
                  <a:close/>
                </a:path>
                <a:path w="6156325" h="738504">
                  <a:moveTo>
                    <a:pt x="2281466" y="259003"/>
                  </a:moveTo>
                  <a:lnTo>
                    <a:pt x="2260790" y="253809"/>
                  </a:lnTo>
                  <a:lnTo>
                    <a:pt x="2232253" y="246494"/>
                  </a:lnTo>
                  <a:lnTo>
                    <a:pt x="2229104" y="258800"/>
                  </a:lnTo>
                  <a:lnTo>
                    <a:pt x="2278367" y="271322"/>
                  </a:lnTo>
                  <a:lnTo>
                    <a:pt x="2281466" y="259003"/>
                  </a:lnTo>
                  <a:close/>
                </a:path>
                <a:path w="6156325" h="738504">
                  <a:moveTo>
                    <a:pt x="2304961" y="703503"/>
                  </a:moveTo>
                  <a:lnTo>
                    <a:pt x="2288451" y="701840"/>
                  </a:lnTo>
                  <a:lnTo>
                    <a:pt x="2254580" y="697877"/>
                  </a:lnTo>
                  <a:lnTo>
                    <a:pt x="2253094" y="710488"/>
                  </a:lnTo>
                  <a:lnTo>
                    <a:pt x="2287003" y="714463"/>
                  </a:lnTo>
                  <a:lnTo>
                    <a:pt x="2303678" y="716140"/>
                  </a:lnTo>
                  <a:lnTo>
                    <a:pt x="2304961" y="703503"/>
                  </a:lnTo>
                  <a:close/>
                </a:path>
                <a:path w="6156325" h="738504">
                  <a:moveTo>
                    <a:pt x="2367673" y="280695"/>
                  </a:moveTo>
                  <a:lnTo>
                    <a:pt x="2318410" y="268300"/>
                  </a:lnTo>
                  <a:lnTo>
                    <a:pt x="2315311" y="280619"/>
                  </a:lnTo>
                  <a:lnTo>
                    <a:pt x="2364575" y="293014"/>
                  </a:lnTo>
                  <a:lnTo>
                    <a:pt x="2367673" y="280695"/>
                  </a:lnTo>
                  <a:close/>
                </a:path>
                <a:path w="6156325" h="738504">
                  <a:moveTo>
                    <a:pt x="2393340" y="711949"/>
                  </a:moveTo>
                  <a:lnTo>
                    <a:pt x="2366264" y="709701"/>
                  </a:lnTo>
                  <a:lnTo>
                    <a:pt x="2342870" y="707339"/>
                  </a:lnTo>
                  <a:lnTo>
                    <a:pt x="2341588" y="719963"/>
                  </a:lnTo>
                  <a:lnTo>
                    <a:pt x="2365032" y="722337"/>
                  </a:lnTo>
                  <a:lnTo>
                    <a:pt x="2392286" y="724611"/>
                  </a:lnTo>
                  <a:lnTo>
                    <a:pt x="2393340" y="711949"/>
                  </a:lnTo>
                  <a:close/>
                </a:path>
                <a:path w="6156325" h="738504">
                  <a:moveTo>
                    <a:pt x="2453894" y="302399"/>
                  </a:moveTo>
                  <a:lnTo>
                    <a:pt x="2404630" y="289991"/>
                  </a:lnTo>
                  <a:lnTo>
                    <a:pt x="2401532" y="302310"/>
                  </a:lnTo>
                  <a:lnTo>
                    <a:pt x="2450795" y="314706"/>
                  </a:lnTo>
                  <a:lnTo>
                    <a:pt x="2453894" y="302399"/>
                  </a:lnTo>
                  <a:close/>
                </a:path>
                <a:path w="6156325" h="738504">
                  <a:moveTo>
                    <a:pt x="2481872" y="718591"/>
                  </a:moveTo>
                  <a:lnTo>
                    <a:pt x="2442375" y="716051"/>
                  </a:lnTo>
                  <a:lnTo>
                    <a:pt x="2431313" y="715124"/>
                  </a:lnTo>
                  <a:lnTo>
                    <a:pt x="2430259" y="727786"/>
                  </a:lnTo>
                  <a:lnTo>
                    <a:pt x="2441486" y="728713"/>
                  </a:lnTo>
                  <a:lnTo>
                    <a:pt x="2481059" y="731266"/>
                  </a:lnTo>
                  <a:lnTo>
                    <a:pt x="2481872" y="718591"/>
                  </a:lnTo>
                  <a:close/>
                </a:path>
                <a:path w="6156325" h="738504">
                  <a:moveTo>
                    <a:pt x="2540165" y="323659"/>
                  </a:moveTo>
                  <a:lnTo>
                    <a:pt x="2490838" y="311556"/>
                  </a:lnTo>
                  <a:lnTo>
                    <a:pt x="2487803" y="323888"/>
                  </a:lnTo>
                  <a:lnTo>
                    <a:pt x="2537142" y="336003"/>
                  </a:lnTo>
                  <a:lnTo>
                    <a:pt x="2540165" y="323659"/>
                  </a:lnTo>
                  <a:close/>
                </a:path>
                <a:path w="6156325" h="738504">
                  <a:moveTo>
                    <a:pt x="2570518" y="723214"/>
                  </a:moveTo>
                  <a:lnTo>
                    <a:pt x="2519769" y="720979"/>
                  </a:lnTo>
                  <a:lnTo>
                    <a:pt x="2519210" y="733666"/>
                  </a:lnTo>
                  <a:lnTo>
                    <a:pt x="2569959" y="735901"/>
                  </a:lnTo>
                  <a:lnTo>
                    <a:pt x="2570518" y="723214"/>
                  </a:lnTo>
                  <a:close/>
                </a:path>
                <a:path w="6156325" h="738504">
                  <a:moveTo>
                    <a:pt x="2626512" y="344855"/>
                  </a:moveTo>
                  <a:lnTo>
                    <a:pt x="2577173" y="332752"/>
                  </a:lnTo>
                  <a:lnTo>
                    <a:pt x="2574137" y="345084"/>
                  </a:lnTo>
                  <a:lnTo>
                    <a:pt x="2623477" y="357187"/>
                  </a:lnTo>
                  <a:lnTo>
                    <a:pt x="2626512" y="344855"/>
                  </a:lnTo>
                  <a:close/>
                </a:path>
                <a:path w="6156325" h="738504">
                  <a:moveTo>
                    <a:pt x="2659240" y="725563"/>
                  </a:moveTo>
                  <a:lnTo>
                    <a:pt x="2608453" y="724458"/>
                  </a:lnTo>
                  <a:lnTo>
                    <a:pt x="2608173" y="737158"/>
                  </a:lnTo>
                  <a:lnTo>
                    <a:pt x="2658961" y="738263"/>
                  </a:lnTo>
                  <a:lnTo>
                    <a:pt x="2659240" y="725563"/>
                  </a:lnTo>
                  <a:close/>
                </a:path>
                <a:path w="6156325" h="738504">
                  <a:moveTo>
                    <a:pt x="2712872" y="365747"/>
                  </a:moveTo>
                  <a:lnTo>
                    <a:pt x="2674124" y="356552"/>
                  </a:lnTo>
                  <a:lnTo>
                    <a:pt x="2663507" y="353936"/>
                  </a:lnTo>
                  <a:lnTo>
                    <a:pt x="2660485" y="366268"/>
                  </a:lnTo>
                  <a:lnTo>
                    <a:pt x="2709926" y="378104"/>
                  </a:lnTo>
                  <a:lnTo>
                    <a:pt x="2712872" y="365747"/>
                  </a:lnTo>
                  <a:close/>
                </a:path>
                <a:path w="6156325" h="738504">
                  <a:moveTo>
                    <a:pt x="2748178" y="737577"/>
                  </a:moveTo>
                  <a:lnTo>
                    <a:pt x="2747822" y="725411"/>
                  </a:lnTo>
                  <a:lnTo>
                    <a:pt x="2747810" y="724890"/>
                  </a:lnTo>
                  <a:lnTo>
                    <a:pt x="2730131" y="725411"/>
                  </a:lnTo>
                  <a:lnTo>
                    <a:pt x="2697188" y="725500"/>
                  </a:lnTo>
                  <a:lnTo>
                    <a:pt x="2697226" y="738200"/>
                  </a:lnTo>
                  <a:lnTo>
                    <a:pt x="2730246" y="738111"/>
                  </a:lnTo>
                  <a:lnTo>
                    <a:pt x="2748178" y="737577"/>
                  </a:lnTo>
                  <a:close/>
                </a:path>
                <a:path w="6156325" h="738504">
                  <a:moveTo>
                    <a:pt x="2799359" y="386295"/>
                  </a:moveTo>
                  <a:lnTo>
                    <a:pt x="2749931" y="374561"/>
                  </a:lnTo>
                  <a:lnTo>
                    <a:pt x="2746997" y="386918"/>
                  </a:lnTo>
                  <a:lnTo>
                    <a:pt x="2796425" y="398653"/>
                  </a:lnTo>
                  <a:lnTo>
                    <a:pt x="2799359" y="386295"/>
                  </a:lnTo>
                  <a:close/>
                </a:path>
                <a:path w="6156325" h="738504">
                  <a:moveTo>
                    <a:pt x="2836570" y="723430"/>
                  </a:moveTo>
                  <a:lnTo>
                    <a:pt x="2836443" y="721169"/>
                  </a:lnTo>
                  <a:lnTo>
                    <a:pt x="2797543" y="723430"/>
                  </a:lnTo>
                  <a:lnTo>
                    <a:pt x="2836570" y="723430"/>
                  </a:lnTo>
                  <a:close/>
                </a:path>
                <a:path w="6156325" h="738504">
                  <a:moveTo>
                    <a:pt x="2837180" y="733856"/>
                  </a:moveTo>
                  <a:lnTo>
                    <a:pt x="2836570" y="723430"/>
                  </a:lnTo>
                  <a:lnTo>
                    <a:pt x="2797327" y="723442"/>
                  </a:lnTo>
                  <a:lnTo>
                    <a:pt x="2785897" y="723773"/>
                  </a:lnTo>
                  <a:lnTo>
                    <a:pt x="2786265" y="736473"/>
                  </a:lnTo>
                  <a:lnTo>
                    <a:pt x="2797886" y="736130"/>
                  </a:lnTo>
                  <a:lnTo>
                    <a:pt x="2837180" y="733856"/>
                  </a:lnTo>
                  <a:close/>
                </a:path>
                <a:path w="6156325" h="738504">
                  <a:moveTo>
                    <a:pt x="2885808" y="406755"/>
                  </a:moveTo>
                  <a:lnTo>
                    <a:pt x="2877020" y="404749"/>
                  </a:lnTo>
                  <a:lnTo>
                    <a:pt x="2836430" y="395109"/>
                  </a:lnTo>
                  <a:lnTo>
                    <a:pt x="2833497" y="407466"/>
                  </a:lnTo>
                  <a:lnTo>
                    <a:pt x="2882989" y="419138"/>
                  </a:lnTo>
                  <a:lnTo>
                    <a:pt x="2885808" y="406755"/>
                  </a:lnTo>
                  <a:close/>
                </a:path>
                <a:path w="6156325" h="738504">
                  <a:moveTo>
                    <a:pt x="2925978" y="726846"/>
                  </a:moveTo>
                  <a:lnTo>
                    <a:pt x="2924873" y="714197"/>
                  </a:lnTo>
                  <a:lnTo>
                    <a:pt x="2874264" y="718629"/>
                  </a:lnTo>
                  <a:lnTo>
                    <a:pt x="2875369" y="731291"/>
                  </a:lnTo>
                  <a:lnTo>
                    <a:pt x="2925978" y="726846"/>
                  </a:lnTo>
                  <a:close/>
                </a:path>
                <a:path w="6156325" h="738504">
                  <a:moveTo>
                    <a:pt x="2972498" y="426504"/>
                  </a:moveTo>
                  <a:lnTo>
                    <a:pt x="2922968" y="415213"/>
                  </a:lnTo>
                  <a:lnTo>
                    <a:pt x="2920136" y="427596"/>
                  </a:lnTo>
                  <a:lnTo>
                    <a:pt x="2969666" y="438886"/>
                  </a:lnTo>
                  <a:lnTo>
                    <a:pt x="2972498" y="426504"/>
                  </a:lnTo>
                  <a:close/>
                </a:path>
                <a:path w="6156325" h="738504">
                  <a:moveTo>
                    <a:pt x="3013227" y="706793"/>
                  </a:moveTo>
                  <a:lnTo>
                    <a:pt x="3012668" y="703072"/>
                  </a:lnTo>
                  <a:lnTo>
                    <a:pt x="2987802" y="706793"/>
                  </a:lnTo>
                  <a:lnTo>
                    <a:pt x="3013227" y="706793"/>
                  </a:lnTo>
                  <a:close/>
                </a:path>
                <a:path w="6156325" h="738504">
                  <a:moveTo>
                    <a:pt x="3014548" y="715632"/>
                  </a:moveTo>
                  <a:lnTo>
                    <a:pt x="3013227" y="706793"/>
                  </a:lnTo>
                  <a:lnTo>
                    <a:pt x="2987713" y="706805"/>
                  </a:lnTo>
                  <a:lnTo>
                    <a:pt x="2962516" y="709777"/>
                  </a:lnTo>
                  <a:lnTo>
                    <a:pt x="2964015" y="722388"/>
                  </a:lnTo>
                  <a:lnTo>
                    <a:pt x="2989389" y="719391"/>
                  </a:lnTo>
                  <a:lnTo>
                    <a:pt x="3014548" y="715632"/>
                  </a:lnTo>
                  <a:close/>
                </a:path>
                <a:path w="6156325" h="738504">
                  <a:moveTo>
                    <a:pt x="3059176" y="446239"/>
                  </a:moveTo>
                  <a:lnTo>
                    <a:pt x="3009646" y="434962"/>
                  </a:lnTo>
                  <a:lnTo>
                    <a:pt x="3006826" y="447344"/>
                  </a:lnTo>
                  <a:lnTo>
                    <a:pt x="3056356" y="458622"/>
                  </a:lnTo>
                  <a:lnTo>
                    <a:pt x="3059176" y="446239"/>
                  </a:lnTo>
                  <a:close/>
                </a:path>
                <a:path w="6156325" h="738504">
                  <a:moveTo>
                    <a:pt x="3102394" y="700798"/>
                  </a:moveTo>
                  <a:lnTo>
                    <a:pt x="3100120" y="688301"/>
                  </a:lnTo>
                  <a:lnTo>
                    <a:pt x="3050146" y="697382"/>
                  </a:lnTo>
                  <a:lnTo>
                    <a:pt x="3052407" y="709879"/>
                  </a:lnTo>
                  <a:lnTo>
                    <a:pt x="3102394" y="700798"/>
                  </a:lnTo>
                  <a:close/>
                </a:path>
                <a:path w="6156325" h="738504">
                  <a:moveTo>
                    <a:pt x="3145955" y="465201"/>
                  </a:moveTo>
                  <a:lnTo>
                    <a:pt x="3096298" y="454469"/>
                  </a:lnTo>
                  <a:lnTo>
                    <a:pt x="3093618" y="466890"/>
                  </a:lnTo>
                  <a:lnTo>
                    <a:pt x="3143275" y="477608"/>
                  </a:lnTo>
                  <a:lnTo>
                    <a:pt x="3145955" y="465201"/>
                  </a:lnTo>
                  <a:close/>
                </a:path>
                <a:path w="6156325" h="738504">
                  <a:moveTo>
                    <a:pt x="3189567" y="681482"/>
                  </a:moveTo>
                  <a:lnTo>
                    <a:pt x="3188004" y="675182"/>
                  </a:lnTo>
                  <a:lnTo>
                    <a:pt x="3186519" y="669150"/>
                  </a:lnTo>
                  <a:lnTo>
                    <a:pt x="3162185" y="675182"/>
                  </a:lnTo>
                  <a:lnTo>
                    <a:pt x="3137217" y="680542"/>
                  </a:lnTo>
                  <a:lnTo>
                    <a:pt x="3139884" y="692950"/>
                  </a:lnTo>
                  <a:lnTo>
                    <a:pt x="3164954" y="687578"/>
                  </a:lnTo>
                  <a:lnTo>
                    <a:pt x="3189567" y="681482"/>
                  </a:lnTo>
                  <a:close/>
                </a:path>
                <a:path w="6156325" h="738504">
                  <a:moveTo>
                    <a:pt x="3232848" y="483971"/>
                  </a:moveTo>
                  <a:lnTo>
                    <a:pt x="3183191" y="473240"/>
                  </a:lnTo>
                  <a:lnTo>
                    <a:pt x="3180511" y="485660"/>
                  </a:lnTo>
                  <a:lnTo>
                    <a:pt x="3230168" y="496379"/>
                  </a:lnTo>
                  <a:lnTo>
                    <a:pt x="3232848" y="483971"/>
                  </a:lnTo>
                  <a:close/>
                </a:path>
                <a:path w="6156325" h="738504">
                  <a:moveTo>
                    <a:pt x="3275761" y="658190"/>
                  </a:moveTo>
                  <a:lnTo>
                    <a:pt x="3272091" y="646569"/>
                  </a:lnTo>
                  <a:lnTo>
                    <a:pt x="3271939" y="646074"/>
                  </a:lnTo>
                  <a:lnTo>
                    <a:pt x="3270389" y="646569"/>
                  </a:lnTo>
                  <a:lnTo>
                    <a:pt x="3223247" y="659841"/>
                  </a:lnTo>
                  <a:lnTo>
                    <a:pt x="3226689" y="672071"/>
                  </a:lnTo>
                  <a:lnTo>
                    <a:pt x="3273933" y="658761"/>
                  </a:lnTo>
                  <a:lnTo>
                    <a:pt x="3275761" y="658190"/>
                  </a:lnTo>
                  <a:close/>
                </a:path>
                <a:path w="6156325" h="738504">
                  <a:moveTo>
                    <a:pt x="3319780" y="502259"/>
                  </a:moveTo>
                  <a:lnTo>
                    <a:pt x="3272294" y="492493"/>
                  </a:lnTo>
                  <a:lnTo>
                    <a:pt x="3270097" y="492010"/>
                  </a:lnTo>
                  <a:lnTo>
                    <a:pt x="3267405" y="504431"/>
                  </a:lnTo>
                  <a:lnTo>
                    <a:pt x="3269704" y="504926"/>
                  </a:lnTo>
                  <a:lnTo>
                    <a:pt x="3317227" y="514705"/>
                  </a:lnTo>
                  <a:lnTo>
                    <a:pt x="3319780" y="502259"/>
                  </a:lnTo>
                  <a:close/>
                </a:path>
                <a:path w="6156325" h="738504">
                  <a:moveTo>
                    <a:pt x="3360356" y="630250"/>
                  </a:moveTo>
                  <a:lnTo>
                    <a:pt x="3356152" y="618261"/>
                  </a:lnTo>
                  <a:lnTo>
                    <a:pt x="3322269" y="630161"/>
                  </a:lnTo>
                  <a:lnTo>
                    <a:pt x="3308261" y="634593"/>
                  </a:lnTo>
                  <a:lnTo>
                    <a:pt x="3312096" y="646696"/>
                  </a:lnTo>
                  <a:lnTo>
                    <a:pt x="3326193" y="642239"/>
                  </a:lnTo>
                  <a:lnTo>
                    <a:pt x="3360356" y="630250"/>
                  </a:lnTo>
                  <a:close/>
                </a:path>
                <a:path w="6156325" h="738504">
                  <a:moveTo>
                    <a:pt x="3406876" y="519887"/>
                  </a:moveTo>
                  <a:lnTo>
                    <a:pt x="3368611" y="512305"/>
                  </a:lnTo>
                  <a:lnTo>
                    <a:pt x="3357105" y="509943"/>
                  </a:lnTo>
                  <a:lnTo>
                    <a:pt x="3354540" y="522376"/>
                  </a:lnTo>
                  <a:lnTo>
                    <a:pt x="3404400" y="532345"/>
                  </a:lnTo>
                  <a:lnTo>
                    <a:pt x="3406876" y="519887"/>
                  </a:lnTo>
                  <a:close/>
                </a:path>
                <a:path w="6156325" h="738504">
                  <a:moveTo>
                    <a:pt x="3443630" y="598068"/>
                  </a:moveTo>
                  <a:lnTo>
                    <a:pt x="3441687" y="593471"/>
                  </a:lnTo>
                  <a:lnTo>
                    <a:pt x="3438690" y="586359"/>
                  </a:lnTo>
                  <a:lnTo>
                    <a:pt x="3421862" y="593471"/>
                  </a:lnTo>
                  <a:lnTo>
                    <a:pt x="3391700" y="605116"/>
                  </a:lnTo>
                  <a:lnTo>
                    <a:pt x="3396272" y="616966"/>
                  </a:lnTo>
                  <a:lnTo>
                    <a:pt x="3426523" y="605282"/>
                  </a:lnTo>
                  <a:lnTo>
                    <a:pt x="3443630" y="598068"/>
                  </a:lnTo>
                  <a:close/>
                </a:path>
                <a:path w="6156325" h="738504">
                  <a:moveTo>
                    <a:pt x="3494074" y="536905"/>
                  </a:moveTo>
                  <a:lnTo>
                    <a:pt x="3463721" y="531152"/>
                  </a:lnTo>
                  <a:lnTo>
                    <a:pt x="3444240" y="527291"/>
                  </a:lnTo>
                  <a:lnTo>
                    <a:pt x="3441776" y="539750"/>
                  </a:lnTo>
                  <a:lnTo>
                    <a:pt x="3491700" y="549389"/>
                  </a:lnTo>
                  <a:lnTo>
                    <a:pt x="3494074" y="536905"/>
                  </a:lnTo>
                  <a:close/>
                </a:path>
                <a:path w="6156325" h="738504">
                  <a:moveTo>
                    <a:pt x="3525177" y="561746"/>
                  </a:moveTo>
                  <a:lnTo>
                    <a:pt x="3520338" y="551954"/>
                  </a:lnTo>
                  <a:lnTo>
                    <a:pt x="3519551" y="550354"/>
                  </a:lnTo>
                  <a:lnTo>
                    <a:pt x="3516338" y="551954"/>
                  </a:lnTo>
                  <a:lnTo>
                    <a:pt x="3473577" y="571512"/>
                  </a:lnTo>
                  <a:lnTo>
                    <a:pt x="3478860" y="583057"/>
                  </a:lnTo>
                  <a:lnTo>
                    <a:pt x="3521710" y="563460"/>
                  </a:lnTo>
                  <a:lnTo>
                    <a:pt x="3525177" y="561746"/>
                  </a:lnTo>
                  <a:close/>
                </a:path>
                <a:path w="6156325" h="738504">
                  <a:moveTo>
                    <a:pt x="3581400" y="553275"/>
                  </a:moveTo>
                  <a:lnTo>
                    <a:pt x="3557613" y="548970"/>
                  </a:lnTo>
                  <a:lnTo>
                    <a:pt x="3531501" y="544017"/>
                  </a:lnTo>
                  <a:lnTo>
                    <a:pt x="3529139" y="556488"/>
                  </a:lnTo>
                  <a:lnTo>
                    <a:pt x="3579139" y="565772"/>
                  </a:lnTo>
                  <a:lnTo>
                    <a:pt x="3581400" y="553275"/>
                  </a:lnTo>
                  <a:close/>
                </a:path>
                <a:path w="6156325" h="738504">
                  <a:moveTo>
                    <a:pt x="3604336" y="520776"/>
                  </a:moveTo>
                  <a:lnTo>
                    <a:pt x="3598253" y="509625"/>
                  </a:lnTo>
                  <a:lnTo>
                    <a:pt x="3561816" y="529526"/>
                  </a:lnTo>
                  <a:lnTo>
                    <a:pt x="3553726" y="533514"/>
                  </a:lnTo>
                  <a:lnTo>
                    <a:pt x="3559340" y="544906"/>
                  </a:lnTo>
                  <a:lnTo>
                    <a:pt x="3567544" y="540854"/>
                  </a:lnTo>
                  <a:lnTo>
                    <a:pt x="3588308" y="529526"/>
                  </a:lnTo>
                  <a:lnTo>
                    <a:pt x="3604336" y="520776"/>
                  </a:lnTo>
                  <a:close/>
                </a:path>
                <a:path w="6156325" h="738504">
                  <a:moveTo>
                    <a:pt x="3668852" y="568909"/>
                  </a:moveTo>
                  <a:lnTo>
                    <a:pt x="3650132" y="565708"/>
                  </a:lnTo>
                  <a:lnTo>
                    <a:pt x="3618890" y="560057"/>
                  </a:lnTo>
                  <a:lnTo>
                    <a:pt x="3616629" y="572554"/>
                  </a:lnTo>
                  <a:lnTo>
                    <a:pt x="3666706" y="581418"/>
                  </a:lnTo>
                  <a:lnTo>
                    <a:pt x="3668852" y="568909"/>
                  </a:lnTo>
                  <a:close/>
                </a:path>
                <a:path w="6156325" h="738504">
                  <a:moveTo>
                    <a:pt x="3681869" y="476656"/>
                  </a:moveTo>
                  <a:lnTo>
                    <a:pt x="3675215" y="465836"/>
                  </a:lnTo>
                  <a:lnTo>
                    <a:pt x="3649611" y="481596"/>
                  </a:lnTo>
                  <a:lnTo>
                    <a:pt x="3649472" y="481672"/>
                  </a:lnTo>
                  <a:lnTo>
                    <a:pt x="3631704" y="491375"/>
                  </a:lnTo>
                  <a:lnTo>
                    <a:pt x="3637788" y="502526"/>
                  </a:lnTo>
                  <a:lnTo>
                    <a:pt x="3655847" y="492658"/>
                  </a:lnTo>
                  <a:lnTo>
                    <a:pt x="3673843" y="481596"/>
                  </a:lnTo>
                  <a:lnTo>
                    <a:pt x="3681869" y="476656"/>
                  </a:lnTo>
                  <a:close/>
                </a:path>
                <a:path w="6156325" h="738504">
                  <a:moveTo>
                    <a:pt x="3756444" y="583730"/>
                  </a:moveTo>
                  <a:lnTo>
                    <a:pt x="3741356" y="581317"/>
                  </a:lnTo>
                  <a:lnTo>
                    <a:pt x="3706406" y="575335"/>
                  </a:lnTo>
                  <a:lnTo>
                    <a:pt x="3704259" y="587844"/>
                  </a:lnTo>
                  <a:lnTo>
                    <a:pt x="3739311" y="593839"/>
                  </a:lnTo>
                  <a:lnTo>
                    <a:pt x="3754424" y="596277"/>
                  </a:lnTo>
                  <a:lnTo>
                    <a:pt x="3756444" y="583730"/>
                  </a:lnTo>
                  <a:close/>
                </a:path>
                <a:path w="6156325" h="738504">
                  <a:moveTo>
                    <a:pt x="3757320" y="429120"/>
                  </a:moveTo>
                  <a:lnTo>
                    <a:pt x="3750170" y="418630"/>
                  </a:lnTo>
                  <a:lnTo>
                    <a:pt x="3733457" y="430022"/>
                  </a:lnTo>
                  <a:lnTo>
                    <a:pt x="3733330" y="430098"/>
                  </a:lnTo>
                  <a:lnTo>
                    <a:pt x="3707676" y="445884"/>
                  </a:lnTo>
                  <a:lnTo>
                    <a:pt x="3714318" y="456704"/>
                  </a:lnTo>
                  <a:lnTo>
                    <a:pt x="3740239" y="440766"/>
                  </a:lnTo>
                  <a:lnTo>
                    <a:pt x="3755999" y="430022"/>
                  </a:lnTo>
                  <a:lnTo>
                    <a:pt x="3757320" y="429120"/>
                  </a:lnTo>
                  <a:close/>
                </a:path>
                <a:path w="6156325" h="738504">
                  <a:moveTo>
                    <a:pt x="3830739" y="378536"/>
                  </a:moveTo>
                  <a:lnTo>
                    <a:pt x="3828275" y="375221"/>
                  </a:lnTo>
                  <a:lnTo>
                    <a:pt x="3823170" y="368350"/>
                  </a:lnTo>
                  <a:lnTo>
                    <a:pt x="3813911" y="375221"/>
                  </a:lnTo>
                  <a:lnTo>
                    <a:pt x="3781666" y="397179"/>
                  </a:lnTo>
                  <a:lnTo>
                    <a:pt x="3788816" y="407682"/>
                  </a:lnTo>
                  <a:lnTo>
                    <a:pt x="3821163" y="385648"/>
                  </a:lnTo>
                  <a:lnTo>
                    <a:pt x="3830739" y="378536"/>
                  </a:lnTo>
                  <a:close/>
                </a:path>
                <a:path w="6156325" h="738504">
                  <a:moveTo>
                    <a:pt x="3844163" y="597674"/>
                  </a:moveTo>
                  <a:lnTo>
                    <a:pt x="3831132" y="595731"/>
                  </a:lnTo>
                  <a:lnTo>
                    <a:pt x="3794061" y="589775"/>
                  </a:lnTo>
                  <a:lnTo>
                    <a:pt x="3792042" y="602310"/>
                  </a:lnTo>
                  <a:lnTo>
                    <a:pt x="3829227" y="608279"/>
                  </a:lnTo>
                  <a:lnTo>
                    <a:pt x="3842296" y="610235"/>
                  </a:lnTo>
                  <a:lnTo>
                    <a:pt x="3844163" y="597674"/>
                  </a:lnTo>
                  <a:close/>
                </a:path>
                <a:path w="6156325" h="738504">
                  <a:moveTo>
                    <a:pt x="3902214" y="325310"/>
                  </a:moveTo>
                  <a:lnTo>
                    <a:pt x="3896106" y="317652"/>
                  </a:lnTo>
                  <a:lnTo>
                    <a:pt x="3894290" y="315379"/>
                  </a:lnTo>
                  <a:lnTo>
                    <a:pt x="3891457" y="317652"/>
                  </a:lnTo>
                  <a:lnTo>
                    <a:pt x="3853751" y="345630"/>
                  </a:lnTo>
                  <a:lnTo>
                    <a:pt x="3861320" y="355828"/>
                  </a:lnTo>
                  <a:lnTo>
                    <a:pt x="3899116" y="327787"/>
                  </a:lnTo>
                  <a:lnTo>
                    <a:pt x="3902214" y="325310"/>
                  </a:lnTo>
                  <a:close/>
                </a:path>
                <a:path w="6156325" h="738504">
                  <a:moveTo>
                    <a:pt x="3932034" y="610616"/>
                  </a:moveTo>
                  <a:lnTo>
                    <a:pt x="3919499" y="608901"/>
                  </a:lnTo>
                  <a:lnTo>
                    <a:pt x="3881856" y="603288"/>
                  </a:lnTo>
                  <a:lnTo>
                    <a:pt x="3879977" y="615848"/>
                  </a:lnTo>
                  <a:lnTo>
                    <a:pt x="3917658" y="621474"/>
                  </a:lnTo>
                  <a:lnTo>
                    <a:pt x="3930319" y="623201"/>
                  </a:lnTo>
                  <a:lnTo>
                    <a:pt x="3932034" y="610616"/>
                  </a:lnTo>
                  <a:close/>
                </a:path>
                <a:path w="6156325" h="738504">
                  <a:moveTo>
                    <a:pt x="3971734" y="269913"/>
                  </a:moveTo>
                  <a:lnTo>
                    <a:pt x="3963809" y="259981"/>
                  </a:lnTo>
                  <a:lnTo>
                    <a:pt x="3924084" y="291642"/>
                  </a:lnTo>
                  <a:lnTo>
                    <a:pt x="3932009" y="301574"/>
                  </a:lnTo>
                  <a:lnTo>
                    <a:pt x="3971734" y="269913"/>
                  </a:lnTo>
                  <a:close/>
                </a:path>
                <a:path w="6156325" h="738504">
                  <a:moveTo>
                    <a:pt x="4020058" y="622477"/>
                  </a:moveTo>
                  <a:lnTo>
                    <a:pt x="4006215" y="620763"/>
                  </a:lnTo>
                  <a:lnTo>
                    <a:pt x="3969791" y="615784"/>
                  </a:lnTo>
                  <a:lnTo>
                    <a:pt x="3968064" y="628370"/>
                  </a:lnTo>
                  <a:lnTo>
                    <a:pt x="4004526" y="633349"/>
                  </a:lnTo>
                  <a:lnTo>
                    <a:pt x="4018508" y="635076"/>
                  </a:lnTo>
                  <a:lnTo>
                    <a:pt x="4020058" y="622477"/>
                  </a:lnTo>
                  <a:close/>
                </a:path>
                <a:path w="6156325" h="738504">
                  <a:moveTo>
                    <a:pt x="4039882" y="212559"/>
                  </a:moveTo>
                  <a:lnTo>
                    <a:pt x="4031704" y="202857"/>
                  </a:lnTo>
                  <a:lnTo>
                    <a:pt x="3992867" y="235597"/>
                  </a:lnTo>
                  <a:lnTo>
                    <a:pt x="4001058" y="245313"/>
                  </a:lnTo>
                  <a:lnTo>
                    <a:pt x="4039882" y="212559"/>
                  </a:lnTo>
                  <a:close/>
                </a:path>
                <a:path w="6156325" h="738504">
                  <a:moveTo>
                    <a:pt x="4106875" y="153924"/>
                  </a:moveTo>
                  <a:lnTo>
                    <a:pt x="4098493" y="144386"/>
                  </a:lnTo>
                  <a:lnTo>
                    <a:pt x="4060355" y="177939"/>
                  </a:lnTo>
                  <a:lnTo>
                    <a:pt x="4068737" y="187477"/>
                  </a:lnTo>
                  <a:lnTo>
                    <a:pt x="4106875" y="153924"/>
                  </a:lnTo>
                  <a:close/>
                </a:path>
                <a:path w="6156325" h="738504">
                  <a:moveTo>
                    <a:pt x="4108234" y="633107"/>
                  </a:moveTo>
                  <a:lnTo>
                    <a:pt x="4091292" y="631266"/>
                  </a:lnTo>
                  <a:lnTo>
                    <a:pt x="4057878" y="627138"/>
                  </a:lnTo>
                  <a:lnTo>
                    <a:pt x="4056316" y="639749"/>
                  </a:lnTo>
                  <a:lnTo>
                    <a:pt x="4089768" y="643877"/>
                  </a:lnTo>
                  <a:lnTo>
                    <a:pt x="4106849" y="645731"/>
                  </a:lnTo>
                  <a:lnTo>
                    <a:pt x="4108234" y="633107"/>
                  </a:lnTo>
                  <a:close/>
                </a:path>
                <a:path w="6156325" h="738504">
                  <a:moveTo>
                    <a:pt x="4172877" y="94195"/>
                  </a:moveTo>
                  <a:lnTo>
                    <a:pt x="4164317" y="84797"/>
                  </a:lnTo>
                  <a:lnTo>
                    <a:pt x="4126776" y="119024"/>
                  </a:lnTo>
                  <a:lnTo>
                    <a:pt x="4135323" y="128409"/>
                  </a:lnTo>
                  <a:lnTo>
                    <a:pt x="4172877" y="94195"/>
                  </a:lnTo>
                  <a:close/>
                </a:path>
                <a:path w="6156325" h="738504">
                  <a:moveTo>
                    <a:pt x="4196537" y="642391"/>
                  </a:moveTo>
                  <a:lnTo>
                    <a:pt x="4174655" y="640346"/>
                  </a:lnTo>
                  <a:lnTo>
                    <a:pt x="4146105" y="637235"/>
                  </a:lnTo>
                  <a:lnTo>
                    <a:pt x="4144734" y="649859"/>
                  </a:lnTo>
                  <a:lnTo>
                    <a:pt x="4173321" y="652970"/>
                  </a:lnTo>
                  <a:lnTo>
                    <a:pt x="4195368" y="655027"/>
                  </a:lnTo>
                  <a:lnTo>
                    <a:pt x="4196537" y="642391"/>
                  </a:lnTo>
                  <a:close/>
                </a:path>
                <a:path w="6156325" h="738504">
                  <a:moveTo>
                    <a:pt x="4257154" y="8788"/>
                  </a:moveTo>
                  <a:lnTo>
                    <a:pt x="4238523" y="12788"/>
                  </a:lnTo>
                  <a:lnTo>
                    <a:pt x="4238523" y="25768"/>
                  </a:lnTo>
                  <a:lnTo>
                    <a:pt x="4236542" y="32080"/>
                  </a:lnTo>
                  <a:lnTo>
                    <a:pt x="4232059" y="27152"/>
                  </a:lnTo>
                  <a:lnTo>
                    <a:pt x="4238523" y="25768"/>
                  </a:lnTo>
                  <a:lnTo>
                    <a:pt x="4238523" y="12788"/>
                  </a:lnTo>
                  <a:lnTo>
                    <a:pt x="4156811" y="30276"/>
                  </a:lnTo>
                  <a:lnTo>
                    <a:pt x="4154627" y="33655"/>
                  </a:lnTo>
                  <a:lnTo>
                    <a:pt x="4156100" y="40513"/>
                  </a:lnTo>
                  <a:lnTo>
                    <a:pt x="4159478" y="42697"/>
                  </a:lnTo>
                  <a:lnTo>
                    <a:pt x="4226204" y="28409"/>
                  </a:lnTo>
                  <a:lnTo>
                    <a:pt x="4192473" y="59143"/>
                  </a:lnTo>
                  <a:lnTo>
                    <a:pt x="4201033" y="68529"/>
                  </a:lnTo>
                  <a:lnTo>
                    <a:pt x="4234751" y="37795"/>
                  </a:lnTo>
                  <a:lnTo>
                    <a:pt x="4214355" y="102908"/>
                  </a:lnTo>
                  <a:lnTo>
                    <a:pt x="4216209" y="106476"/>
                  </a:lnTo>
                  <a:lnTo>
                    <a:pt x="4222902" y="108572"/>
                  </a:lnTo>
                  <a:lnTo>
                    <a:pt x="4226471" y="106705"/>
                  </a:lnTo>
                  <a:lnTo>
                    <a:pt x="4255084" y="15379"/>
                  </a:lnTo>
                  <a:lnTo>
                    <a:pt x="4257154" y="8788"/>
                  </a:lnTo>
                  <a:close/>
                </a:path>
                <a:path w="6156325" h="738504">
                  <a:moveTo>
                    <a:pt x="4284992" y="650138"/>
                  </a:moveTo>
                  <a:lnTo>
                    <a:pt x="4256252" y="647954"/>
                  </a:lnTo>
                  <a:lnTo>
                    <a:pt x="4234485" y="645922"/>
                  </a:lnTo>
                  <a:lnTo>
                    <a:pt x="4233303" y="658571"/>
                  </a:lnTo>
                  <a:lnTo>
                    <a:pt x="4255122" y="660603"/>
                  </a:lnTo>
                  <a:lnTo>
                    <a:pt x="4284027" y="662800"/>
                  </a:lnTo>
                  <a:lnTo>
                    <a:pt x="4284992" y="650138"/>
                  </a:lnTo>
                  <a:close/>
                </a:path>
                <a:path w="6156325" h="738504">
                  <a:moveTo>
                    <a:pt x="4373562" y="656196"/>
                  </a:moveTo>
                  <a:lnTo>
                    <a:pt x="4335894" y="654024"/>
                  </a:lnTo>
                  <a:lnTo>
                    <a:pt x="4322978" y="653034"/>
                  </a:lnTo>
                  <a:lnTo>
                    <a:pt x="4322013" y="665695"/>
                  </a:lnTo>
                  <a:lnTo>
                    <a:pt x="4335081" y="666699"/>
                  </a:lnTo>
                  <a:lnTo>
                    <a:pt x="4372838" y="668870"/>
                  </a:lnTo>
                  <a:lnTo>
                    <a:pt x="4373562" y="656196"/>
                  </a:lnTo>
                  <a:close/>
                </a:path>
                <a:path w="6156325" h="738504">
                  <a:moveTo>
                    <a:pt x="4462234" y="660323"/>
                  </a:moveTo>
                  <a:lnTo>
                    <a:pt x="4413720" y="658507"/>
                  </a:lnTo>
                  <a:lnTo>
                    <a:pt x="4411599" y="658380"/>
                  </a:lnTo>
                  <a:lnTo>
                    <a:pt x="4410875" y="671068"/>
                  </a:lnTo>
                  <a:lnTo>
                    <a:pt x="4413161" y="671195"/>
                  </a:lnTo>
                  <a:lnTo>
                    <a:pt x="4461764" y="673023"/>
                  </a:lnTo>
                  <a:lnTo>
                    <a:pt x="4462234" y="660323"/>
                  </a:lnTo>
                  <a:close/>
                </a:path>
                <a:path w="6156325" h="738504">
                  <a:moveTo>
                    <a:pt x="4550969" y="662305"/>
                  </a:moveTo>
                  <a:lnTo>
                    <a:pt x="4500181" y="661517"/>
                  </a:lnTo>
                  <a:lnTo>
                    <a:pt x="4499978" y="674217"/>
                  </a:lnTo>
                  <a:lnTo>
                    <a:pt x="4550778" y="675005"/>
                  </a:lnTo>
                  <a:lnTo>
                    <a:pt x="4550969" y="662305"/>
                  </a:lnTo>
                  <a:close/>
                </a:path>
                <a:path w="6156325" h="738504">
                  <a:moveTo>
                    <a:pt x="4639983" y="674420"/>
                  </a:moveTo>
                  <a:lnTo>
                    <a:pt x="4639551" y="661885"/>
                  </a:lnTo>
                  <a:lnTo>
                    <a:pt x="4639551" y="661733"/>
                  </a:lnTo>
                  <a:lnTo>
                    <a:pt x="4635144" y="661885"/>
                  </a:lnTo>
                  <a:lnTo>
                    <a:pt x="4588916" y="662279"/>
                  </a:lnTo>
                  <a:lnTo>
                    <a:pt x="4589030" y="674979"/>
                  </a:lnTo>
                  <a:lnTo>
                    <a:pt x="4635335" y="674585"/>
                  </a:lnTo>
                  <a:lnTo>
                    <a:pt x="4639983" y="674420"/>
                  </a:lnTo>
                  <a:close/>
                </a:path>
                <a:path w="6156325" h="738504">
                  <a:moveTo>
                    <a:pt x="4728972" y="670699"/>
                  </a:moveTo>
                  <a:lnTo>
                    <a:pt x="4728286" y="659485"/>
                  </a:lnTo>
                  <a:lnTo>
                    <a:pt x="4728197" y="658025"/>
                  </a:lnTo>
                  <a:lnTo>
                    <a:pt x="4704651" y="659485"/>
                  </a:lnTo>
                  <a:lnTo>
                    <a:pt x="4704486" y="659485"/>
                  </a:lnTo>
                  <a:lnTo>
                    <a:pt x="4677626" y="660412"/>
                  </a:lnTo>
                  <a:lnTo>
                    <a:pt x="4678057" y="673112"/>
                  </a:lnTo>
                  <a:lnTo>
                    <a:pt x="4705172" y="672172"/>
                  </a:lnTo>
                  <a:lnTo>
                    <a:pt x="4728972" y="670699"/>
                  </a:lnTo>
                  <a:close/>
                </a:path>
                <a:path w="6156325" h="738504">
                  <a:moveTo>
                    <a:pt x="4817008" y="655320"/>
                  </a:moveTo>
                  <a:lnTo>
                    <a:pt x="4816653" y="651319"/>
                  </a:lnTo>
                  <a:lnTo>
                    <a:pt x="4772050" y="655320"/>
                  </a:lnTo>
                  <a:lnTo>
                    <a:pt x="4817008" y="655320"/>
                  </a:lnTo>
                  <a:close/>
                </a:path>
                <a:path w="6156325" h="738504">
                  <a:moveTo>
                    <a:pt x="4817783" y="663968"/>
                  </a:moveTo>
                  <a:lnTo>
                    <a:pt x="4817008" y="655320"/>
                  </a:lnTo>
                  <a:lnTo>
                    <a:pt x="4771872" y="655332"/>
                  </a:lnTo>
                  <a:lnTo>
                    <a:pt x="4766221" y="655675"/>
                  </a:lnTo>
                  <a:lnTo>
                    <a:pt x="4766996" y="668350"/>
                  </a:lnTo>
                  <a:lnTo>
                    <a:pt x="4772914" y="667994"/>
                  </a:lnTo>
                  <a:lnTo>
                    <a:pt x="4817783" y="663968"/>
                  </a:lnTo>
                  <a:close/>
                </a:path>
                <a:path w="6156325" h="738504">
                  <a:moveTo>
                    <a:pt x="4904702" y="641959"/>
                  </a:moveTo>
                  <a:lnTo>
                    <a:pt x="4904625" y="641388"/>
                  </a:lnTo>
                  <a:lnTo>
                    <a:pt x="4900765" y="641959"/>
                  </a:lnTo>
                  <a:lnTo>
                    <a:pt x="4904702" y="641959"/>
                  </a:lnTo>
                  <a:close/>
                </a:path>
                <a:path w="6156325" h="738504">
                  <a:moveTo>
                    <a:pt x="4906480" y="653961"/>
                  </a:moveTo>
                  <a:lnTo>
                    <a:pt x="4904702" y="641959"/>
                  </a:lnTo>
                  <a:lnTo>
                    <a:pt x="4900688" y="641972"/>
                  </a:lnTo>
                  <a:lnTo>
                    <a:pt x="4854372" y="647446"/>
                  </a:lnTo>
                  <a:lnTo>
                    <a:pt x="4855857" y="660069"/>
                  </a:lnTo>
                  <a:lnTo>
                    <a:pt x="4902352" y="654570"/>
                  </a:lnTo>
                  <a:lnTo>
                    <a:pt x="4906480" y="653961"/>
                  </a:lnTo>
                  <a:close/>
                </a:path>
                <a:path w="6156325" h="738504">
                  <a:moveTo>
                    <a:pt x="4994465" y="640041"/>
                  </a:moveTo>
                  <a:lnTo>
                    <a:pt x="4993183" y="632879"/>
                  </a:lnTo>
                  <a:lnTo>
                    <a:pt x="4992243" y="627545"/>
                  </a:lnTo>
                  <a:lnTo>
                    <a:pt x="4962233" y="632879"/>
                  </a:lnTo>
                  <a:lnTo>
                    <a:pt x="4942306" y="635825"/>
                  </a:lnTo>
                  <a:lnTo>
                    <a:pt x="4944173" y="648385"/>
                  </a:lnTo>
                  <a:lnTo>
                    <a:pt x="4964176" y="645426"/>
                  </a:lnTo>
                  <a:lnTo>
                    <a:pt x="4994465" y="640041"/>
                  </a:lnTo>
                  <a:close/>
                </a:path>
                <a:path w="6156325" h="738504">
                  <a:moveTo>
                    <a:pt x="5081841" y="622719"/>
                  </a:moveTo>
                  <a:lnTo>
                    <a:pt x="5079250" y="610298"/>
                  </a:lnTo>
                  <a:lnTo>
                    <a:pt x="5029517" y="620674"/>
                  </a:lnTo>
                  <a:lnTo>
                    <a:pt x="5032108" y="633107"/>
                  </a:lnTo>
                  <a:lnTo>
                    <a:pt x="5081841" y="622719"/>
                  </a:lnTo>
                  <a:close/>
                </a:path>
                <a:path w="6156325" h="738504">
                  <a:moveTo>
                    <a:pt x="5168430" y="601002"/>
                  </a:moveTo>
                  <a:lnTo>
                    <a:pt x="5167261" y="596709"/>
                  </a:lnTo>
                  <a:lnTo>
                    <a:pt x="5165090" y="588746"/>
                  </a:lnTo>
                  <a:lnTo>
                    <a:pt x="5135778" y="596722"/>
                  </a:lnTo>
                  <a:lnTo>
                    <a:pt x="5116106" y="601446"/>
                  </a:lnTo>
                  <a:lnTo>
                    <a:pt x="5119078" y="613803"/>
                  </a:lnTo>
                  <a:lnTo>
                    <a:pt x="5138928" y="609028"/>
                  </a:lnTo>
                  <a:lnTo>
                    <a:pt x="5168430" y="601002"/>
                  </a:lnTo>
                  <a:close/>
                </a:path>
                <a:path w="6156325" h="738504">
                  <a:moveTo>
                    <a:pt x="5253990" y="575525"/>
                  </a:moveTo>
                  <a:lnTo>
                    <a:pt x="5250675" y="565708"/>
                  </a:lnTo>
                  <a:lnTo>
                    <a:pt x="5249926" y="563486"/>
                  </a:lnTo>
                  <a:lnTo>
                    <a:pt x="5243360" y="565708"/>
                  </a:lnTo>
                  <a:lnTo>
                    <a:pt x="5201577" y="578446"/>
                  </a:lnTo>
                  <a:lnTo>
                    <a:pt x="5205273" y="590600"/>
                  </a:lnTo>
                  <a:lnTo>
                    <a:pt x="5247157" y="577824"/>
                  </a:lnTo>
                  <a:lnTo>
                    <a:pt x="5253990" y="575525"/>
                  </a:lnTo>
                  <a:close/>
                </a:path>
                <a:path w="6156325" h="738504">
                  <a:moveTo>
                    <a:pt x="5337975" y="545846"/>
                  </a:moveTo>
                  <a:lnTo>
                    <a:pt x="5333555" y="533946"/>
                  </a:lnTo>
                  <a:lnTo>
                    <a:pt x="5294833" y="548322"/>
                  </a:lnTo>
                  <a:lnTo>
                    <a:pt x="5286019" y="551294"/>
                  </a:lnTo>
                  <a:lnTo>
                    <a:pt x="5290083" y="563333"/>
                  </a:lnTo>
                  <a:lnTo>
                    <a:pt x="5298986" y="560324"/>
                  </a:lnTo>
                  <a:lnTo>
                    <a:pt x="5331320" y="548322"/>
                  </a:lnTo>
                  <a:lnTo>
                    <a:pt x="5337975" y="545846"/>
                  </a:lnTo>
                  <a:close/>
                </a:path>
                <a:path w="6156325" h="738504">
                  <a:moveTo>
                    <a:pt x="5420576" y="512051"/>
                  </a:moveTo>
                  <a:lnTo>
                    <a:pt x="5419699" y="510032"/>
                  </a:lnTo>
                  <a:lnTo>
                    <a:pt x="5415483" y="500418"/>
                  </a:lnTo>
                  <a:lnTo>
                    <a:pt x="5393563" y="510032"/>
                  </a:lnTo>
                  <a:lnTo>
                    <a:pt x="5368823" y="520039"/>
                  </a:lnTo>
                  <a:lnTo>
                    <a:pt x="5373598" y="531812"/>
                  </a:lnTo>
                  <a:lnTo>
                    <a:pt x="5398401" y="521766"/>
                  </a:lnTo>
                  <a:lnTo>
                    <a:pt x="5420576" y="512051"/>
                  </a:lnTo>
                  <a:close/>
                </a:path>
                <a:path w="6156325" h="738504">
                  <a:moveTo>
                    <a:pt x="5501500" y="474421"/>
                  </a:moveTo>
                  <a:lnTo>
                    <a:pt x="5497969" y="467448"/>
                  </a:lnTo>
                  <a:lnTo>
                    <a:pt x="5495760" y="463092"/>
                  </a:lnTo>
                  <a:lnTo>
                    <a:pt x="5487136" y="467448"/>
                  </a:lnTo>
                  <a:lnTo>
                    <a:pt x="5450090" y="484936"/>
                  </a:lnTo>
                  <a:lnTo>
                    <a:pt x="5455513" y="496417"/>
                  </a:lnTo>
                  <a:lnTo>
                    <a:pt x="5492635" y="478891"/>
                  </a:lnTo>
                  <a:lnTo>
                    <a:pt x="5501500" y="474421"/>
                  </a:lnTo>
                  <a:close/>
                </a:path>
                <a:path w="6156325" h="738504">
                  <a:moveTo>
                    <a:pt x="5580189" y="432574"/>
                  </a:moveTo>
                  <a:lnTo>
                    <a:pt x="5574030" y="421462"/>
                  </a:lnTo>
                  <a:lnTo>
                    <a:pt x="5532171" y="444690"/>
                  </a:lnTo>
                  <a:lnTo>
                    <a:pt x="5529770" y="445897"/>
                  </a:lnTo>
                  <a:lnTo>
                    <a:pt x="5535498" y="457238"/>
                  </a:lnTo>
                  <a:lnTo>
                    <a:pt x="5538013" y="455968"/>
                  </a:lnTo>
                  <a:lnTo>
                    <a:pt x="5558345" y="444690"/>
                  </a:lnTo>
                  <a:lnTo>
                    <a:pt x="5580189" y="432574"/>
                  </a:lnTo>
                  <a:close/>
                </a:path>
                <a:path w="6156325" h="738504">
                  <a:moveTo>
                    <a:pt x="5657304" y="387781"/>
                  </a:moveTo>
                  <a:lnTo>
                    <a:pt x="5650623" y="376986"/>
                  </a:lnTo>
                  <a:lnTo>
                    <a:pt x="5619127" y="396455"/>
                  </a:lnTo>
                  <a:lnTo>
                    <a:pt x="5607342" y="402983"/>
                  </a:lnTo>
                  <a:lnTo>
                    <a:pt x="5613501" y="414096"/>
                  </a:lnTo>
                  <a:lnTo>
                    <a:pt x="5625427" y="407492"/>
                  </a:lnTo>
                  <a:lnTo>
                    <a:pt x="5643270" y="396455"/>
                  </a:lnTo>
                  <a:lnTo>
                    <a:pt x="5657304" y="387781"/>
                  </a:lnTo>
                  <a:close/>
                </a:path>
                <a:path w="6156325" h="738504">
                  <a:moveTo>
                    <a:pt x="5732500" y="339915"/>
                  </a:moveTo>
                  <a:lnTo>
                    <a:pt x="5725388" y="329399"/>
                  </a:lnTo>
                  <a:lnTo>
                    <a:pt x="5702236" y="345084"/>
                  </a:lnTo>
                  <a:lnTo>
                    <a:pt x="5683034" y="356946"/>
                  </a:lnTo>
                  <a:lnTo>
                    <a:pt x="5689714" y="367753"/>
                  </a:lnTo>
                  <a:lnTo>
                    <a:pt x="5709031" y="355815"/>
                  </a:lnTo>
                  <a:lnTo>
                    <a:pt x="5724880" y="345084"/>
                  </a:lnTo>
                  <a:lnTo>
                    <a:pt x="5732500" y="339915"/>
                  </a:lnTo>
                  <a:close/>
                </a:path>
                <a:path w="6156325" h="738504">
                  <a:moveTo>
                    <a:pt x="5805881" y="289344"/>
                  </a:moveTo>
                  <a:lnTo>
                    <a:pt x="5798388" y="279082"/>
                  </a:lnTo>
                  <a:lnTo>
                    <a:pt x="5782119" y="290969"/>
                  </a:lnTo>
                  <a:lnTo>
                    <a:pt x="5756935" y="308038"/>
                  </a:lnTo>
                  <a:lnTo>
                    <a:pt x="5764047" y="318554"/>
                  </a:lnTo>
                  <a:lnTo>
                    <a:pt x="5789333" y="301421"/>
                  </a:lnTo>
                  <a:lnTo>
                    <a:pt x="5803646" y="290969"/>
                  </a:lnTo>
                  <a:lnTo>
                    <a:pt x="5805881" y="289344"/>
                  </a:lnTo>
                  <a:close/>
                </a:path>
                <a:path w="6156325" h="738504">
                  <a:moveTo>
                    <a:pt x="5877585" y="236486"/>
                  </a:moveTo>
                  <a:lnTo>
                    <a:pt x="5876112" y="234581"/>
                  </a:lnTo>
                  <a:lnTo>
                    <a:pt x="5869800" y="226453"/>
                  </a:lnTo>
                  <a:lnTo>
                    <a:pt x="5859323" y="234581"/>
                  </a:lnTo>
                  <a:lnTo>
                    <a:pt x="5829160" y="256616"/>
                  </a:lnTo>
                  <a:lnTo>
                    <a:pt x="5836653" y="266877"/>
                  </a:lnTo>
                  <a:lnTo>
                    <a:pt x="5866879" y="244792"/>
                  </a:lnTo>
                  <a:lnTo>
                    <a:pt x="5877585" y="236486"/>
                  </a:lnTo>
                  <a:close/>
                </a:path>
                <a:path w="6156325" h="738504">
                  <a:moveTo>
                    <a:pt x="5947842" y="181787"/>
                  </a:moveTo>
                  <a:lnTo>
                    <a:pt x="5943435" y="176364"/>
                  </a:lnTo>
                  <a:lnTo>
                    <a:pt x="5939841" y="171932"/>
                  </a:lnTo>
                  <a:lnTo>
                    <a:pt x="5934316" y="176403"/>
                  </a:lnTo>
                  <a:lnTo>
                    <a:pt x="5899899" y="203098"/>
                  </a:lnTo>
                  <a:lnTo>
                    <a:pt x="5907684" y="213131"/>
                  </a:lnTo>
                  <a:lnTo>
                    <a:pt x="5942215" y="186359"/>
                  </a:lnTo>
                  <a:lnTo>
                    <a:pt x="5947842" y="181787"/>
                  </a:lnTo>
                  <a:close/>
                </a:path>
                <a:path w="6156325" h="738504">
                  <a:moveTo>
                    <a:pt x="6016955" y="125679"/>
                  </a:moveTo>
                  <a:lnTo>
                    <a:pt x="6009424" y="116751"/>
                  </a:lnTo>
                  <a:lnTo>
                    <a:pt x="6008763" y="115976"/>
                  </a:lnTo>
                  <a:lnTo>
                    <a:pt x="6007836" y="116751"/>
                  </a:lnTo>
                  <a:lnTo>
                    <a:pt x="5969419" y="147929"/>
                  </a:lnTo>
                  <a:lnTo>
                    <a:pt x="5977433" y="157784"/>
                  </a:lnTo>
                  <a:lnTo>
                    <a:pt x="6015888" y="126580"/>
                  </a:lnTo>
                  <a:lnTo>
                    <a:pt x="6016955" y="125679"/>
                  </a:lnTo>
                  <a:close/>
                </a:path>
                <a:path w="6156325" h="738504">
                  <a:moveTo>
                    <a:pt x="6084938" y="68414"/>
                  </a:moveTo>
                  <a:lnTo>
                    <a:pt x="6076759" y="58699"/>
                  </a:lnTo>
                  <a:lnTo>
                    <a:pt x="6037910" y="91427"/>
                  </a:lnTo>
                  <a:lnTo>
                    <a:pt x="6046089" y="101142"/>
                  </a:lnTo>
                  <a:lnTo>
                    <a:pt x="6084938" y="68414"/>
                  </a:lnTo>
                  <a:close/>
                </a:path>
                <a:path w="6156325" h="738504">
                  <a:moveTo>
                    <a:pt x="6156287" y="0"/>
                  </a:moveTo>
                  <a:lnTo>
                    <a:pt x="6055195" y="17564"/>
                  </a:lnTo>
                  <a:lnTo>
                    <a:pt x="6052883" y="20853"/>
                  </a:lnTo>
                  <a:lnTo>
                    <a:pt x="6054077" y="27762"/>
                  </a:lnTo>
                  <a:lnTo>
                    <a:pt x="6057366" y="30073"/>
                  </a:lnTo>
                  <a:lnTo>
                    <a:pt x="6124600" y="18402"/>
                  </a:lnTo>
                  <a:lnTo>
                    <a:pt x="6105893" y="34150"/>
                  </a:lnTo>
                  <a:lnTo>
                    <a:pt x="6114085" y="43865"/>
                  </a:lnTo>
                  <a:lnTo>
                    <a:pt x="6132779" y="28105"/>
                  </a:lnTo>
                  <a:lnTo>
                    <a:pt x="6109855" y="92379"/>
                  </a:lnTo>
                  <a:lnTo>
                    <a:pt x="6111570" y="96012"/>
                  </a:lnTo>
                  <a:lnTo>
                    <a:pt x="6118187" y="98374"/>
                  </a:lnTo>
                  <a:lnTo>
                    <a:pt x="6121819" y="96647"/>
                  </a:lnTo>
                  <a:lnTo>
                    <a:pt x="6155131" y="3263"/>
                  </a:lnTo>
                  <a:lnTo>
                    <a:pt x="6156287" y="0"/>
                  </a:lnTo>
                  <a:close/>
                </a:path>
              </a:pathLst>
            </a:custGeom>
            <a:solidFill>
              <a:srgbClr val="FF0000"/>
            </a:solidFill>
          </p:spPr>
          <p:txBody>
            <a:bodyPr wrap="square" lIns="0" tIns="0" rIns="0" bIns="0" rtlCol="0"/>
            <a:lstStyle/>
            <a:p>
              <a:endParaRPr/>
            </a:p>
          </p:txBody>
        </p:sp>
      </p:gr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217035" cy="635000"/>
          </a:xfrm>
          <a:prstGeom prst="rect">
            <a:avLst/>
          </a:prstGeom>
        </p:spPr>
        <p:txBody>
          <a:bodyPr vert="horz" wrap="square" lIns="0" tIns="12700" rIns="0" bIns="0" rtlCol="0">
            <a:spAutoFit/>
          </a:bodyPr>
          <a:lstStyle/>
          <a:p>
            <a:pPr marL="12700">
              <a:lnSpc>
                <a:spcPct val="100000"/>
              </a:lnSpc>
              <a:spcBef>
                <a:spcPts val="100"/>
              </a:spcBef>
            </a:pPr>
            <a:r>
              <a:rPr sz="4000" spc="-5" dirty="0"/>
              <a:t>Copy</a:t>
            </a:r>
            <a:r>
              <a:rPr sz="4000" spc="-85" dirty="0"/>
              <a:t> </a:t>
            </a:r>
            <a:r>
              <a:rPr sz="4000" dirty="0"/>
              <a:t>Propagation</a:t>
            </a:r>
            <a:endParaRPr sz="4000"/>
          </a:p>
        </p:txBody>
      </p:sp>
      <p:sp>
        <p:nvSpPr>
          <p:cNvPr id="3" name="object 3"/>
          <p:cNvSpPr txBox="1"/>
          <p:nvPr/>
        </p:nvSpPr>
        <p:spPr>
          <a:xfrm>
            <a:off x="707390" y="1482236"/>
            <a:ext cx="7470775" cy="986790"/>
          </a:xfrm>
          <a:prstGeom prst="rect">
            <a:avLst/>
          </a:prstGeom>
        </p:spPr>
        <p:txBody>
          <a:bodyPr vert="horz" wrap="square" lIns="0" tIns="188595" rIns="0" bIns="0" rtlCol="0">
            <a:spAutoFit/>
          </a:bodyPr>
          <a:lstStyle/>
          <a:p>
            <a:pPr marL="243205" indent="-230505">
              <a:lnSpc>
                <a:spcPct val="100000"/>
              </a:lnSpc>
              <a:spcBef>
                <a:spcPts val="1485"/>
              </a:spcBef>
              <a:buFont typeface="Arial MT"/>
              <a:buChar char="•"/>
              <a:tabLst>
                <a:tab pos="242570" algn="l"/>
                <a:tab pos="242570" algn="l"/>
              </a:tabLst>
            </a:pPr>
            <a:r>
              <a:rPr sz="2300" spc="-5" dirty="0">
                <a:latin typeface="Palatino Linotype" panose="02040502050505030304"/>
                <a:cs typeface="Palatino Linotype" panose="02040502050505030304"/>
              </a:rPr>
              <a:t>Optimization</a:t>
            </a:r>
            <a:r>
              <a:rPr sz="2300" dirty="0">
                <a:latin typeface="Palatino Linotype" panose="02040502050505030304"/>
                <a:cs typeface="Palatino Linotype" panose="02040502050505030304"/>
              </a:rPr>
              <a:t> </a:t>
            </a:r>
            <a:r>
              <a:rPr sz="2300" spc="-5" dirty="0">
                <a:latin typeface="Palatino Linotype" panose="02040502050505030304"/>
                <a:cs typeface="Palatino Linotype" panose="02040502050505030304"/>
              </a:rPr>
              <a:t>algorithms</a:t>
            </a:r>
            <a:r>
              <a:rPr sz="2300" spc="5" dirty="0">
                <a:latin typeface="Palatino Linotype" panose="02040502050505030304"/>
                <a:cs typeface="Palatino Linotype" panose="02040502050505030304"/>
              </a:rPr>
              <a:t> </a:t>
            </a:r>
            <a:r>
              <a:rPr sz="2300" spc="-5" dirty="0">
                <a:latin typeface="Palatino Linotype" panose="02040502050505030304"/>
                <a:cs typeface="Palatino Linotype" panose="02040502050505030304"/>
              </a:rPr>
              <a:t>often</a:t>
            </a:r>
            <a:r>
              <a:rPr sz="2300" dirty="0">
                <a:latin typeface="Palatino Linotype" panose="02040502050505030304"/>
                <a:cs typeface="Palatino Linotype" panose="02040502050505030304"/>
              </a:rPr>
              <a:t> </a:t>
            </a:r>
            <a:r>
              <a:rPr sz="2300" spc="-5" dirty="0">
                <a:latin typeface="Palatino Linotype" panose="02040502050505030304"/>
                <a:cs typeface="Palatino Linotype" panose="02040502050505030304"/>
              </a:rPr>
              <a:t>introduce</a:t>
            </a:r>
            <a:r>
              <a:rPr sz="2300" dirty="0">
                <a:latin typeface="Palatino Linotype" panose="02040502050505030304"/>
                <a:cs typeface="Palatino Linotype" panose="02040502050505030304"/>
              </a:rPr>
              <a:t> </a:t>
            </a:r>
            <a:r>
              <a:rPr sz="2300" i="1" dirty="0">
                <a:latin typeface="Palatino Linotype" panose="02040502050505030304"/>
                <a:cs typeface="Palatino Linotype" panose="02040502050505030304"/>
              </a:rPr>
              <a:t>copy</a:t>
            </a:r>
            <a:r>
              <a:rPr sz="2300" i="1" spc="5" dirty="0">
                <a:latin typeface="Palatino Linotype" panose="02040502050505030304"/>
                <a:cs typeface="Palatino Linotype" panose="02040502050505030304"/>
              </a:rPr>
              <a:t> </a:t>
            </a:r>
            <a:r>
              <a:rPr sz="2300" i="1" spc="-5" dirty="0">
                <a:latin typeface="Palatino Linotype" panose="02040502050505030304"/>
                <a:cs typeface="Palatino Linotype" panose="02040502050505030304"/>
              </a:rPr>
              <a:t>statements</a:t>
            </a:r>
            <a:endParaRPr sz="2300">
              <a:latin typeface="Palatino Linotype" panose="02040502050505030304"/>
              <a:cs typeface="Palatino Linotype" panose="02040502050505030304"/>
            </a:endParaRPr>
          </a:p>
          <a:p>
            <a:pPr marL="698500" lvl="1" indent="-228600">
              <a:lnSpc>
                <a:spcPct val="100000"/>
              </a:lnSpc>
              <a:spcBef>
                <a:spcPts val="1140"/>
              </a:spcBef>
              <a:buFont typeface="Wingdings" panose="05000000000000000000"/>
              <a:buChar char=""/>
              <a:tabLst>
                <a:tab pos="698500" algn="l"/>
              </a:tabLst>
            </a:pPr>
            <a:r>
              <a:rPr sz="1900" spc="-5" dirty="0">
                <a:latin typeface="Palatino Linotype" panose="02040502050505030304"/>
                <a:cs typeface="Palatino Linotype" panose="02040502050505030304"/>
              </a:rPr>
              <a:t>Form:</a:t>
            </a:r>
            <a:r>
              <a:rPr sz="1900" spc="-15" dirty="0">
                <a:latin typeface="Palatino Linotype" panose="02040502050505030304"/>
                <a:cs typeface="Palatino Linotype" panose="02040502050505030304"/>
              </a:rPr>
              <a:t> </a:t>
            </a:r>
            <a:r>
              <a:rPr sz="1900" dirty="0">
                <a:solidFill>
                  <a:srgbClr val="0432FF"/>
                </a:solidFill>
                <a:latin typeface="Consolas" panose="020B0609020204030204"/>
                <a:cs typeface="Consolas" panose="020B0609020204030204"/>
              </a:rPr>
              <a:t>u</a:t>
            </a:r>
            <a:r>
              <a:rPr sz="1900" spc="-15" dirty="0">
                <a:solidFill>
                  <a:srgbClr val="0432FF"/>
                </a:solidFill>
                <a:latin typeface="Consolas" panose="020B0609020204030204"/>
                <a:cs typeface="Consolas" panose="020B0609020204030204"/>
              </a:rPr>
              <a:t> </a:t>
            </a:r>
            <a:r>
              <a:rPr sz="1900" dirty="0">
                <a:solidFill>
                  <a:srgbClr val="0432FF"/>
                </a:solidFill>
                <a:latin typeface="Consolas" panose="020B0609020204030204"/>
                <a:cs typeface="Consolas" panose="020B0609020204030204"/>
              </a:rPr>
              <a:t>=</a:t>
            </a:r>
            <a:r>
              <a:rPr sz="1900" spc="-15" dirty="0">
                <a:solidFill>
                  <a:srgbClr val="0432FF"/>
                </a:solidFill>
                <a:latin typeface="Consolas" panose="020B0609020204030204"/>
                <a:cs typeface="Consolas" panose="020B0609020204030204"/>
              </a:rPr>
              <a:t> </a:t>
            </a:r>
            <a:r>
              <a:rPr sz="1900" dirty="0">
                <a:solidFill>
                  <a:srgbClr val="0432FF"/>
                </a:solidFill>
                <a:latin typeface="Consolas" panose="020B0609020204030204"/>
                <a:cs typeface="Consolas" panose="020B0609020204030204"/>
              </a:rPr>
              <a:t>v</a:t>
            </a:r>
            <a:endParaRPr sz="1900">
              <a:latin typeface="Consolas" panose="020B0609020204030204"/>
              <a:cs typeface="Consolas" panose="020B0609020204030204"/>
            </a:endParaRPr>
          </a:p>
        </p:txBody>
      </p:sp>
      <p:sp>
        <p:nvSpPr>
          <p:cNvPr id="4" name="object 4"/>
          <p:cNvSpPr txBox="1"/>
          <p:nvPr/>
        </p:nvSpPr>
        <p:spPr>
          <a:xfrm>
            <a:off x="735524" y="3244334"/>
            <a:ext cx="1324610" cy="369570"/>
          </a:xfrm>
          <a:prstGeom prst="rect">
            <a:avLst/>
          </a:prstGeom>
          <a:ln w="9525">
            <a:solidFill>
              <a:srgbClr val="000000"/>
            </a:solidFill>
          </a:ln>
        </p:spPr>
        <p:txBody>
          <a:bodyPr vert="horz" wrap="square" lIns="0" tIns="32384" rIns="0" bIns="0" rtlCol="0">
            <a:spAutoFit/>
          </a:bodyPr>
          <a:lstStyle/>
          <a:p>
            <a:pPr marL="91440">
              <a:lnSpc>
                <a:spcPct val="100000"/>
              </a:lnSpc>
              <a:spcBef>
                <a:spcPts val="255"/>
              </a:spcBef>
            </a:pPr>
            <a:r>
              <a:rPr sz="1800" dirty="0">
                <a:latin typeface="Consolas" panose="020B0609020204030204"/>
                <a:cs typeface="Consolas" panose="020B0609020204030204"/>
              </a:rPr>
              <a:t>a</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d</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e</a:t>
            </a:r>
            <a:endParaRPr sz="1800">
              <a:latin typeface="Consolas" panose="020B0609020204030204"/>
              <a:cs typeface="Consolas" panose="020B0609020204030204"/>
            </a:endParaRPr>
          </a:p>
        </p:txBody>
      </p:sp>
      <p:sp>
        <p:nvSpPr>
          <p:cNvPr id="5" name="object 5"/>
          <p:cNvSpPr txBox="1"/>
          <p:nvPr/>
        </p:nvSpPr>
        <p:spPr>
          <a:xfrm>
            <a:off x="2609847" y="3244334"/>
            <a:ext cx="1324610" cy="369570"/>
          </a:xfrm>
          <a:prstGeom prst="rect">
            <a:avLst/>
          </a:prstGeom>
          <a:ln w="9525">
            <a:solidFill>
              <a:srgbClr val="000000"/>
            </a:solidFill>
          </a:ln>
        </p:spPr>
        <p:txBody>
          <a:bodyPr vert="horz" wrap="square" lIns="0" tIns="32384" rIns="0" bIns="0" rtlCol="0">
            <a:spAutoFit/>
          </a:bodyPr>
          <a:lstStyle/>
          <a:p>
            <a:pPr marL="91440">
              <a:lnSpc>
                <a:spcPct val="100000"/>
              </a:lnSpc>
              <a:spcBef>
                <a:spcPts val="255"/>
              </a:spcBef>
            </a:pPr>
            <a:r>
              <a:rPr sz="1800" dirty="0">
                <a:latin typeface="Consolas" panose="020B0609020204030204"/>
                <a:cs typeface="Consolas" panose="020B0609020204030204"/>
              </a:rPr>
              <a:t>b</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d</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e</a:t>
            </a:r>
            <a:endParaRPr sz="1800">
              <a:latin typeface="Consolas" panose="020B0609020204030204"/>
              <a:cs typeface="Consolas" panose="020B0609020204030204"/>
            </a:endParaRPr>
          </a:p>
        </p:txBody>
      </p:sp>
      <p:sp>
        <p:nvSpPr>
          <p:cNvPr id="6" name="object 6"/>
          <p:cNvSpPr txBox="1"/>
          <p:nvPr/>
        </p:nvSpPr>
        <p:spPr>
          <a:xfrm>
            <a:off x="1672686" y="4075606"/>
            <a:ext cx="1324610" cy="369570"/>
          </a:xfrm>
          <a:prstGeom prst="rect">
            <a:avLst/>
          </a:prstGeom>
          <a:ln w="9525">
            <a:solidFill>
              <a:srgbClr val="000000"/>
            </a:solidFill>
          </a:ln>
        </p:spPr>
        <p:txBody>
          <a:bodyPr vert="horz" wrap="square" lIns="0" tIns="33020" rIns="0" bIns="0" rtlCol="0">
            <a:spAutoFit/>
          </a:bodyPr>
          <a:lstStyle/>
          <a:p>
            <a:pPr marL="90805">
              <a:lnSpc>
                <a:spcPct val="100000"/>
              </a:lnSpc>
              <a:spcBef>
                <a:spcPts val="260"/>
              </a:spcBef>
            </a:pPr>
            <a:r>
              <a:rPr sz="1800" dirty="0">
                <a:latin typeface="Consolas" panose="020B0609020204030204"/>
                <a:cs typeface="Consolas" panose="020B0609020204030204"/>
              </a:rPr>
              <a:t>c</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d</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e</a:t>
            </a:r>
            <a:endParaRPr sz="1800">
              <a:latin typeface="Consolas" panose="020B0609020204030204"/>
              <a:cs typeface="Consolas" panose="020B0609020204030204"/>
            </a:endParaRPr>
          </a:p>
        </p:txBody>
      </p:sp>
      <p:sp>
        <p:nvSpPr>
          <p:cNvPr id="7" name="object 7"/>
          <p:cNvSpPr/>
          <p:nvPr/>
        </p:nvSpPr>
        <p:spPr>
          <a:xfrm>
            <a:off x="1394093" y="3608457"/>
            <a:ext cx="666115" cy="467359"/>
          </a:xfrm>
          <a:custGeom>
            <a:avLst/>
            <a:gdLst/>
            <a:ahLst/>
            <a:cxnLst/>
            <a:rect l="l" t="t" r="r" b="b"/>
            <a:pathLst>
              <a:path w="666114" h="467360">
                <a:moveTo>
                  <a:pt x="564612" y="446201"/>
                </a:moveTo>
                <a:lnTo>
                  <a:pt x="561549" y="448805"/>
                </a:lnTo>
                <a:lnTo>
                  <a:pt x="560981" y="455796"/>
                </a:lnTo>
                <a:lnTo>
                  <a:pt x="563585" y="458859"/>
                </a:lnTo>
                <a:lnTo>
                  <a:pt x="665858" y="467165"/>
                </a:lnTo>
                <a:lnTo>
                  <a:pt x="664930" y="465161"/>
                </a:lnTo>
                <a:lnTo>
                  <a:pt x="651887" y="465161"/>
                </a:lnTo>
                <a:lnTo>
                  <a:pt x="632625" y="451725"/>
                </a:lnTo>
                <a:lnTo>
                  <a:pt x="564612" y="446201"/>
                </a:lnTo>
                <a:close/>
              </a:path>
              <a:path w="666114" h="467360">
                <a:moveTo>
                  <a:pt x="632625" y="451725"/>
                </a:moveTo>
                <a:lnTo>
                  <a:pt x="651887" y="465161"/>
                </a:lnTo>
                <a:lnTo>
                  <a:pt x="653658" y="462622"/>
                </a:lnTo>
                <a:lnTo>
                  <a:pt x="649759" y="462622"/>
                </a:lnTo>
                <a:lnTo>
                  <a:pt x="645186" y="452745"/>
                </a:lnTo>
                <a:lnTo>
                  <a:pt x="632625" y="451725"/>
                </a:lnTo>
                <a:close/>
              </a:path>
              <a:path w="666114" h="467360">
                <a:moveTo>
                  <a:pt x="618971" y="372666"/>
                </a:moveTo>
                <a:lnTo>
                  <a:pt x="612607" y="375613"/>
                </a:lnTo>
                <a:lnTo>
                  <a:pt x="611221" y="379388"/>
                </a:lnTo>
                <a:lnTo>
                  <a:pt x="639892" y="441310"/>
                </a:lnTo>
                <a:lnTo>
                  <a:pt x="659152" y="454746"/>
                </a:lnTo>
                <a:lnTo>
                  <a:pt x="651887" y="465161"/>
                </a:lnTo>
                <a:lnTo>
                  <a:pt x="664930" y="465161"/>
                </a:lnTo>
                <a:lnTo>
                  <a:pt x="622745" y="374051"/>
                </a:lnTo>
                <a:lnTo>
                  <a:pt x="618971" y="372666"/>
                </a:lnTo>
                <a:close/>
              </a:path>
              <a:path w="666114" h="467360">
                <a:moveTo>
                  <a:pt x="645186" y="452745"/>
                </a:moveTo>
                <a:lnTo>
                  <a:pt x="649759" y="462622"/>
                </a:lnTo>
                <a:lnTo>
                  <a:pt x="656036" y="453626"/>
                </a:lnTo>
                <a:lnTo>
                  <a:pt x="645186" y="452745"/>
                </a:lnTo>
                <a:close/>
              </a:path>
              <a:path w="666114" h="467360">
                <a:moveTo>
                  <a:pt x="639892" y="441310"/>
                </a:moveTo>
                <a:lnTo>
                  <a:pt x="645186" y="452745"/>
                </a:lnTo>
                <a:lnTo>
                  <a:pt x="656036" y="453626"/>
                </a:lnTo>
                <a:lnTo>
                  <a:pt x="649759" y="462622"/>
                </a:lnTo>
                <a:lnTo>
                  <a:pt x="653658" y="462622"/>
                </a:lnTo>
                <a:lnTo>
                  <a:pt x="659152" y="454746"/>
                </a:lnTo>
                <a:lnTo>
                  <a:pt x="639892" y="441310"/>
                </a:lnTo>
                <a:close/>
              </a:path>
              <a:path w="666114" h="467360">
                <a:moveTo>
                  <a:pt x="7265" y="0"/>
                </a:moveTo>
                <a:lnTo>
                  <a:pt x="0" y="10416"/>
                </a:lnTo>
                <a:lnTo>
                  <a:pt x="632625" y="451725"/>
                </a:lnTo>
                <a:lnTo>
                  <a:pt x="645186" y="452745"/>
                </a:lnTo>
                <a:lnTo>
                  <a:pt x="639892" y="441310"/>
                </a:lnTo>
                <a:lnTo>
                  <a:pt x="7265" y="0"/>
                </a:lnTo>
                <a:close/>
              </a:path>
            </a:pathLst>
          </a:custGeom>
          <a:solidFill>
            <a:srgbClr val="000000"/>
          </a:solidFill>
        </p:spPr>
        <p:txBody>
          <a:bodyPr wrap="square" lIns="0" tIns="0" rIns="0" bIns="0" rtlCol="0"/>
          <a:lstStyle/>
          <a:p>
            <a:endParaRPr/>
          </a:p>
        </p:txBody>
      </p:sp>
      <p:sp>
        <p:nvSpPr>
          <p:cNvPr id="8" name="object 8"/>
          <p:cNvSpPr/>
          <p:nvPr/>
        </p:nvSpPr>
        <p:spPr>
          <a:xfrm>
            <a:off x="2609823" y="3608457"/>
            <a:ext cx="666115" cy="467359"/>
          </a:xfrm>
          <a:custGeom>
            <a:avLst/>
            <a:gdLst/>
            <a:ahLst/>
            <a:cxnLst/>
            <a:rect l="l" t="t" r="r" b="b"/>
            <a:pathLst>
              <a:path w="666114" h="467360">
                <a:moveTo>
                  <a:pt x="46887" y="372666"/>
                </a:moveTo>
                <a:lnTo>
                  <a:pt x="43112" y="374051"/>
                </a:lnTo>
                <a:lnTo>
                  <a:pt x="0" y="467165"/>
                </a:lnTo>
                <a:lnTo>
                  <a:pt x="24676" y="465161"/>
                </a:lnTo>
                <a:lnTo>
                  <a:pt x="13971" y="465161"/>
                </a:lnTo>
                <a:lnTo>
                  <a:pt x="6705" y="454746"/>
                </a:lnTo>
                <a:lnTo>
                  <a:pt x="25966" y="441310"/>
                </a:lnTo>
                <a:lnTo>
                  <a:pt x="54636" y="379388"/>
                </a:lnTo>
                <a:lnTo>
                  <a:pt x="53251" y="375613"/>
                </a:lnTo>
                <a:lnTo>
                  <a:pt x="46887" y="372666"/>
                </a:lnTo>
                <a:close/>
              </a:path>
              <a:path w="666114" h="467360">
                <a:moveTo>
                  <a:pt x="25966" y="441310"/>
                </a:moveTo>
                <a:lnTo>
                  <a:pt x="6705" y="454746"/>
                </a:lnTo>
                <a:lnTo>
                  <a:pt x="13971" y="465161"/>
                </a:lnTo>
                <a:lnTo>
                  <a:pt x="17610" y="462622"/>
                </a:lnTo>
                <a:lnTo>
                  <a:pt x="16098" y="462622"/>
                </a:lnTo>
                <a:lnTo>
                  <a:pt x="9822" y="453626"/>
                </a:lnTo>
                <a:lnTo>
                  <a:pt x="20672" y="452745"/>
                </a:lnTo>
                <a:lnTo>
                  <a:pt x="25966" y="441310"/>
                </a:lnTo>
                <a:close/>
              </a:path>
              <a:path w="666114" h="467360">
                <a:moveTo>
                  <a:pt x="101245" y="446201"/>
                </a:moveTo>
                <a:lnTo>
                  <a:pt x="33232" y="451725"/>
                </a:lnTo>
                <a:lnTo>
                  <a:pt x="13971" y="465161"/>
                </a:lnTo>
                <a:lnTo>
                  <a:pt x="24676" y="465161"/>
                </a:lnTo>
                <a:lnTo>
                  <a:pt x="102273" y="458859"/>
                </a:lnTo>
                <a:lnTo>
                  <a:pt x="104876" y="455796"/>
                </a:lnTo>
                <a:lnTo>
                  <a:pt x="104308" y="448805"/>
                </a:lnTo>
                <a:lnTo>
                  <a:pt x="101245" y="446201"/>
                </a:lnTo>
                <a:close/>
              </a:path>
              <a:path w="666114" h="467360">
                <a:moveTo>
                  <a:pt x="20672" y="452745"/>
                </a:moveTo>
                <a:lnTo>
                  <a:pt x="9822" y="453626"/>
                </a:lnTo>
                <a:lnTo>
                  <a:pt x="16098" y="462622"/>
                </a:lnTo>
                <a:lnTo>
                  <a:pt x="20672" y="452745"/>
                </a:lnTo>
                <a:close/>
              </a:path>
              <a:path w="666114" h="467360">
                <a:moveTo>
                  <a:pt x="33232" y="451725"/>
                </a:moveTo>
                <a:lnTo>
                  <a:pt x="20672" y="452745"/>
                </a:lnTo>
                <a:lnTo>
                  <a:pt x="16098" y="462622"/>
                </a:lnTo>
                <a:lnTo>
                  <a:pt x="17610" y="462622"/>
                </a:lnTo>
                <a:lnTo>
                  <a:pt x="33232" y="451725"/>
                </a:lnTo>
                <a:close/>
              </a:path>
              <a:path w="666114" h="467360">
                <a:moveTo>
                  <a:pt x="658592" y="0"/>
                </a:moveTo>
                <a:lnTo>
                  <a:pt x="25966" y="441310"/>
                </a:lnTo>
                <a:lnTo>
                  <a:pt x="20672" y="452745"/>
                </a:lnTo>
                <a:lnTo>
                  <a:pt x="33232" y="451725"/>
                </a:lnTo>
                <a:lnTo>
                  <a:pt x="665858" y="10416"/>
                </a:lnTo>
                <a:lnTo>
                  <a:pt x="658592" y="0"/>
                </a:lnTo>
                <a:close/>
              </a:path>
            </a:pathLst>
          </a:custGeom>
          <a:solidFill>
            <a:srgbClr val="000000"/>
          </a:solidFill>
        </p:spPr>
        <p:txBody>
          <a:bodyPr wrap="square" lIns="0" tIns="0" rIns="0" bIns="0" rtlCol="0"/>
          <a:lstStyle/>
          <a:p>
            <a:endParaRPr/>
          </a:p>
        </p:txBody>
      </p:sp>
      <p:sp>
        <p:nvSpPr>
          <p:cNvPr id="9" name="object 9"/>
          <p:cNvSpPr txBox="1"/>
          <p:nvPr/>
        </p:nvSpPr>
        <p:spPr>
          <a:xfrm>
            <a:off x="5316625" y="3095893"/>
            <a:ext cx="1324610" cy="646430"/>
          </a:xfrm>
          <a:prstGeom prst="rect">
            <a:avLst/>
          </a:prstGeom>
          <a:ln w="9525">
            <a:solidFill>
              <a:srgbClr val="000000"/>
            </a:solidFill>
          </a:ln>
        </p:spPr>
        <p:txBody>
          <a:bodyPr vert="horz" wrap="square" lIns="0" tIns="31115" rIns="0" bIns="0" rtlCol="0">
            <a:spAutoFit/>
          </a:bodyPr>
          <a:lstStyle/>
          <a:p>
            <a:pPr marL="91440" marR="95885">
              <a:lnSpc>
                <a:spcPct val="101000"/>
              </a:lnSpc>
              <a:spcBef>
                <a:spcPts val="245"/>
              </a:spcBef>
            </a:pPr>
            <a:r>
              <a:rPr sz="1800" dirty="0">
                <a:latin typeface="Consolas" panose="020B0609020204030204"/>
                <a:cs typeface="Consolas" panose="020B0609020204030204"/>
              </a:rPr>
              <a:t>t</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d</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e </a:t>
            </a:r>
            <a:r>
              <a:rPr sz="1800" spc="-975" dirty="0">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a:t>
            </a:r>
            <a:r>
              <a:rPr sz="1800" spc="-2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20"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t</a:t>
            </a:r>
            <a:endParaRPr sz="1800">
              <a:latin typeface="Consolas" panose="020B0609020204030204"/>
              <a:cs typeface="Consolas" panose="020B0609020204030204"/>
            </a:endParaRPr>
          </a:p>
        </p:txBody>
      </p:sp>
      <p:sp>
        <p:nvSpPr>
          <p:cNvPr id="10" name="object 10"/>
          <p:cNvSpPr txBox="1"/>
          <p:nvPr/>
        </p:nvSpPr>
        <p:spPr>
          <a:xfrm>
            <a:off x="7190947" y="3095893"/>
            <a:ext cx="1324610" cy="646430"/>
          </a:xfrm>
          <a:prstGeom prst="rect">
            <a:avLst/>
          </a:prstGeom>
          <a:ln w="9525">
            <a:solidFill>
              <a:srgbClr val="000000"/>
            </a:solidFill>
          </a:ln>
        </p:spPr>
        <p:txBody>
          <a:bodyPr vert="horz" wrap="square" lIns="0" tIns="31115" rIns="0" bIns="0" rtlCol="0">
            <a:spAutoFit/>
          </a:bodyPr>
          <a:lstStyle/>
          <a:p>
            <a:pPr marL="90805" marR="95885">
              <a:lnSpc>
                <a:spcPct val="101000"/>
              </a:lnSpc>
              <a:spcBef>
                <a:spcPts val="245"/>
              </a:spcBef>
            </a:pPr>
            <a:r>
              <a:rPr sz="1800" dirty="0">
                <a:latin typeface="Consolas" panose="020B0609020204030204"/>
                <a:cs typeface="Consolas" panose="020B0609020204030204"/>
              </a:rPr>
              <a:t>t</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d</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e </a:t>
            </a:r>
            <a:r>
              <a:rPr sz="1800" spc="-975" dirty="0">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b</a:t>
            </a:r>
            <a:r>
              <a:rPr sz="1800" spc="-2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20"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t</a:t>
            </a:r>
            <a:endParaRPr sz="1800">
              <a:latin typeface="Consolas" panose="020B0609020204030204"/>
              <a:cs typeface="Consolas" panose="020B0609020204030204"/>
            </a:endParaRPr>
          </a:p>
        </p:txBody>
      </p:sp>
      <p:sp>
        <p:nvSpPr>
          <p:cNvPr id="11" name="object 11"/>
          <p:cNvSpPr txBox="1"/>
          <p:nvPr/>
        </p:nvSpPr>
        <p:spPr>
          <a:xfrm>
            <a:off x="6485375" y="4224046"/>
            <a:ext cx="817880" cy="369570"/>
          </a:xfrm>
          <a:prstGeom prst="rect">
            <a:avLst/>
          </a:prstGeom>
          <a:ln w="9525">
            <a:solidFill>
              <a:srgbClr val="000000"/>
            </a:solidFill>
          </a:ln>
        </p:spPr>
        <p:txBody>
          <a:bodyPr vert="horz" wrap="square" lIns="0" tIns="33655" rIns="0" bIns="0" rtlCol="0">
            <a:spAutoFit/>
          </a:bodyPr>
          <a:lstStyle/>
          <a:p>
            <a:pPr marL="91440">
              <a:lnSpc>
                <a:spcPct val="100000"/>
              </a:lnSpc>
              <a:spcBef>
                <a:spcPts val="265"/>
              </a:spcBef>
            </a:pPr>
            <a:r>
              <a:rPr sz="1800" dirty="0">
                <a:solidFill>
                  <a:srgbClr val="FF0000"/>
                </a:solidFill>
                <a:latin typeface="Consolas" panose="020B0609020204030204"/>
                <a:cs typeface="Consolas" panose="020B0609020204030204"/>
              </a:rPr>
              <a:t>c</a:t>
            </a:r>
            <a:r>
              <a:rPr sz="1800" spc="-4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4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t</a:t>
            </a:r>
            <a:endParaRPr sz="1800">
              <a:latin typeface="Consolas" panose="020B0609020204030204"/>
              <a:cs typeface="Consolas" panose="020B0609020204030204"/>
            </a:endParaRPr>
          </a:p>
        </p:txBody>
      </p:sp>
      <p:sp>
        <p:nvSpPr>
          <p:cNvPr id="12" name="object 12"/>
          <p:cNvSpPr/>
          <p:nvPr/>
        </p:nvSpPr>
        <p:spPr>
          <a:xfrm>
            <a:off x="5975338" y="3736918"/>
            <a:ext cx="736600" cy="487680"/>
          </a:xfrm>
          <a:custGeom>
            <a:avLst/>
            <a:gdLst/>
            <a:ahLst/>
            <a:cxnLst/>
            <a:rect l="l" t="t" r="r" b="b"/>
            <a:pathLst>
              <a:path w="736600" h="487679">
                <a:moveTo>
                  <a:pt x="634806" y="468988"/>
                </a:moveTo>
                <a:lnTo>
                  <a:pt x="631816" y="471675"/>
                </a:lnTo>
                <a:lnTo>
                  <a:pt x="631442" y="478679"/>
                </a:lnTo>
                <a:lnTo>
                  <a:pt x="634128" y="481670"/>
                </a:lnTo>
                <a:lnTo>
                  <a:pt x="736593" y="487145"/>
                </a:lnTo>
                <a:lnTo>
                  <a:pt x="735790" y="485528"/>
                </a:lnTo>
                <a:lnTo>
                  <a:pt x="722571" y="485528"/>
                </a:lnTo>
                <a:lnTo>
                  <a:pt x="702945" y="472629"/>
                </a:lnTo>
                <a:lnTo>
                  <a:pt x="634806" y="468988"/>
                </a:lnTo>
                <a:close/>
              </a:path>
              <a:path w="736600" h="487679">
                <a:moveTo>
                  <a:pt x="702945" y="472629"/>
                </a:moveTo>
                <a:lnTo>
                  <a:pt x="722571" y="485528"/>
                </a:lnTo>
                <a:lnTo>
                  <a:pt x="724201" y="483049"/>
                </a:lnTo>
                <a:lnTo>
                  <a:pt x="720375" y="483049"/>
                </a:lnTo>
                <a:lnTo>
                  <a:pt x="715530" y="473301"/>
                </a:lnTo>
                <a:lnTo>
                  <a:pt x="702945" y="472629"/>
                </a:lnTo>
                <a:close/>
              </a:path>
              <a:path w="736600" h="487679">
                <a:moveTo>
                  <a:pt x="687111" y="393978"/>
                </a:moveTo>
                <a:lnTo>
                  <a:pt x="680831" y="397099"/>
                </a:lnTo>
                <a:lnTo>
                  <a:pt x="679550" y="400911"/>
                </a:lnTo>
                <a:lnTo>
                  <a:pt x="709921" y="462015"/>
                </a:lnTo>
                <a:lnTo>
                  <a:pt x="729547" y="474915"/>
                </a:lnTo>
                <a:lnTo>
                  <a:pt x="722571" y="485528"/>
                </a:lnTo>
                <a:lnTo>
                  <a:pt x="735790" y="485528"/>
                </a:lnTo>
                <a:lnTo>
                  <a:pt x="690923" y="395259"/>
                </a:lnTo>
                <a:lnTo>
                  <a:pt x="687111" y="393978"/>
                </a:lnTo>
                <a:close/>
              </a:path>
              <a:path w="736600" h="487679">
                <a:moveTo>
                  <a:pt x="715530" y="473301"/>
                </a:moveTo>
                <a:lnTo>
                  <a:pt x="720375" y="483049"/>
                </a:lnTo>
                <a:lnTo>
                  <a:pt x="726400" y="473882"/>
                </a:lnTo>
                <a:lnTo>
                  <a:pt x="715530" y="473301"/>
                </a:lnTo>
                <a:close/>
              </a:path>
              <a:path w="736600" h="487679">
                <a:moveTo>
                  <a:pt x="709921" y="462015"/>
                </a:moveTo>
                <a:lnTo>
                  <a:pt x="715530" y="473301"/>
                </a:lnTo>
                <a:lnTo>
                  <a:pt x="726400" y="473882"/>
                </a:lnTo>
                <a:lnTo>
                  <a:pt x="720375" y="483049"/>
                </a:lnTo>
                <a:lnTo>
                  <a:pt x="724201" y="483049"/>
                </a:lnTo>
                <a:lnTo>
                  <a:pt x="729547" y="474915"/>
                </a:lnTo>
                <a:lnTo>
                  <a:pt x="709921" y="462015"/>
                </a:lnTo>
                <a:close/>
              </a:path>
              <a:path w="736600" h="487679">
                <a:moveTo>
                  <a:pt x="6974" y="0"/>
                </a:moveTo>
                <a:lnTo>
                  <a:pt x="0" y="10612"/>
                </a:lnTo>
                <a:lnTo>
                  <a:pt x="702945" y="472629"/>
                </a:lnTo>
                <a:lnTo>
                  <a:pt x="715530" y="473301"/>
                </a:lnTo>
                <a:lnTo>
                  <a:pt x="709921" y="462015"/>
                </a:lnTo>
                <a:lnTo>
                  <a:pt x="6974" y="0"/>
                </a:lnTo>
                <a:close/>
              </a:path>
            </a:pathLst>
          </a:custGeom>
          <a:solidFill>
            <a:srgbClr val="000000"/>
          </a:solidFill>
        </p:spPr>
        <p:txBody>
          <a:bodyPr wrap="square" lIns="0" tIns="0" rIns="0" bIns="0" rtlCol="0"/>
          <a:lstStyle/>
          <a:p>
            <a:endParaRPr/>
          </a:p>
        </p:txBody>
      </p:sp>
      <p:sp>
        <p:nvSpPr>
          <p:cNvPr id="13" name="object 13"/>
          <p:cNvSpPr/>
          <p:nvPr/>
        </p:nvSpPr>
        <p:spPr>
          <a:xfrm>
            <a:off x="7042984" y="3736766"/>
            <a:ext cx="813435" cy="487680"/>
          </a:xfrm>
          <a:custGeom>
            <a:avLst/>
            <a:gdLst/>
            <a:ahLst/>
            <a:cxnLst/>
            <a:rect l="l" t="t" r="r" b="b"/>
            <a:pathLst>
              <a:path w="813434" h="487679">
                <a:moveTo>
                  <a:pt x="53614" y="396444"/>
                </a:moveTo>
                <a:lnTo>
                  <a:pt x="49749" y="397551"/>
                </a:lnTo>
                <a:lnTo>
                  <a:pt x="0" y="487295"/>
                </a:lnTo>
                <a:lnTo>
                  <a:pt x="102605" y="486426"/>
                </a:lnTo>
                <a:lnTo>
                  <a:pt x="14072" y="486313"/>
                </a:lnTo>
                <a:lnTo>
                  <a:pt x="7580" y="475397"/>
                </a:lnTo>
                <a:lnTo>
                  <a:pt x="27774" y="463387"/>
                </a:lnTo>
                <a:lnTo>
                  <a:pt x="60857" y="403710"/>
                </a:lnTo>
                <a:lnTo>
                  <a:pt x="59748" y="399845"/>
                </a:lnTo>
                <a:lnTo>
                  <a:pt x="53614" y="396444"/>
                </a:lnTo>
                <a:close/>
              </a:path>
              <a:path w="813434" h="487679">
                <a:moveTo>
                  <a:pt x="27774" y="463387"/>
                </a:moveTo>
                <a:lnTo>
                  <a:pt x="7580" y="475397"/>
                </a:lnTo>
                <a:lnTo>
                  <a:pt x="14072" y="486313"/>
                </a:lnTo>
                <a:lnTo>
                  <a:pt x="18076" y="483932"/>
                </a:lnTo>
                <a:lnTo>
                  <a:pt x="16385" y="483932"/>
                </a:lnTo>
                <a:lnTo>
                  <a:pt x="10778" y="474503"/>
                </a:lnTo>
                <a:lnTo>
                  <a:pt x="21663" y="474411"/>
                </a:lnTo>
                <a:lnTo>
                  <a:pt x="27774" y="463387"/>
                </a:lnTo>
                <a:close/>
              </a:path>
              <a:path w="813434" h="487679">
                <a:moveTo>
                  <a:pt x="102499" y="473726"/>
                </a:moveTo>
                <a:lnTo>
                  <a:pt x="34264" y="474304"/>
                </a:lnTo>
                <a:lnTo>
                  <a:pt x="14072" y="486313"/>
                </a:lnTo>
                <a:lnTo>
                  <a:pt x="102716" y="486313"/>
                </a:lnTo>
                <a:lnTo>
                  <a:pt x="105425" y="483558"/>
                </a:lnTo>
                <a:lnTo>
                  <a:pt x="105365" y="476545"/>
                </a:lnTo>
                <a:lnTo>
                  <a:pt x="102499" y="473726"/>
                </a:lnTo>
                <a:close/>
              </a:path>
              <a:path w="813434" h="487679">
                <a:moveTo>
                  <a:pt x="21663" y="474411"/>
                </a:moveTo>
                <a:lnTo>
                  <a:pt x="10778" y="474503"/>
                </a:lnTo>
                <a:lnTo>
                  <a:pt x="16385" y="483932"/>
                </a:lnTo>
                <a:lnTo>
                  <a:pt x="21663" y="474411"/>
                </a:lnTo>
                <a:close/>
              </a:path>
              <a:path w="813434" h="487679">
                <a:moveTo>
                  <a:pt x="34264" y="474304"/>
                </a:moveTo>
                <a:lnTo>
                  <a:pt x="21663" y="474411"/>
                </a:lnTo>
                <a:lnTo>
                  <a:pt x="16385" y="483932"/>
                </a:lnTo>
                <a:lnTo>
                  <a:pt x="18076" y="483932"/>
                </a:lnTo>
                <a:lnTo>
                  <a:pt x="34264" y="474304"/>
                </a:lnTo>
                <a:close/>
              </a:path>
              <a:path w="813434" h="487679">
                <a:moveTo>
                  <a:pt x="806918" y="0"/>
                </a:moveTo>
                <a:lnTo>
                  <a:pt x="27774" y="463387"/>
                </a:lnTo>
                <a:lnTo>
                  <a:pt x="21663" y="474411"/>
                </a:lnTo>
                <a:lnTo>
                  <a:pt x="34264" y="474304"/>
                </a:lnTo>
                <a:lnTo>
                  <a:pt x="813410" y="10914"/>
                </a:lnTo>
                <a:lnTo>
                  <a:pt x="806918" y="0"/>
                </a:lnTo>
                <a:close/>
              </a:path>
            </a:pathLst>
          </a:custGeom>
          <a:solidFill>
            <a:srgbClr val="000000"/>
          </a:solidFill>
        </p:spPr>
        <p:txBody>
          <a:bodyPr wrap="square" lIns="0" tIns="0" rIns="0" bIns="0" rtlCol="0"/>
          <a:lstStyle/>
          <a:p>
            <a:endParaRPr/>
          </a:p>
        </p:txBody>
      </p:sp>
      <p:sp>
        <p:nvSpPr>
          <p:cNvPr id="14" name="object 14"/>
          <p:cNvSpPr txBox="1"/>
          <p:nvPr/>
        </p:nvSpPr>
        <p:spPr>
          <a:xfrm>
            <a:off x="735523" y="5126283"/>
            <a:ext cx="7780020" cy="708025"/>
          </a:xfrm>
          <a:prstGeom prst="rect">
            <a:avLst/>
          </a:prstGeom>
          <a:solidFill>
            <a:srgbClr val="FFF2CC"/>
          </a:solidFill>
          <a:ln w="9525">
            <a:solidFill>
              <a:srgbClr val="000000"/>
            </a:solidFill>
          </a:ln>
        </p:spPr>
        <p:txBody>
          <a:bodyPr vert="horz" wrap="square" lIns="0" tIns="33019" rIns="0" bIns="0" rtlCol="0">
            <a:spAutoFit/>
          </a:bodyPr>
          <a:lstStyle/>
          <a:p>
            <a:pPr marL="91440" marR="459105">
              <a:lnSpc>
                <a:spcPct val="100000"/>
              </a:lnSpc>
              <a:spcBef>
                <a:spcPts val="260"/>
              </a:spcBef>
            </a:pPr>
            <a:r>
              <a:rPr sz="2000" dirty="0">
                <a:latin typeface="Palatino Linotype" panose="02040502050505030304"/>
                <a:cs typeface="Palatino Linotype" panose="02040502050505030304"/>
              </a:rPr>
              <a:t>E</a:t>
            </a:r>
            <a:r>
              <a:rPr sz="2000" spc="5" dirty="0">
                <a:latin typeface="Palatino Linotype" panose="02040502050505030304"/>
                <a:cs typeface="Palatino Linotype" panose="02040502050505030304"/>
              </a:rPr>
              <a:t>li</a:t>
            </a:r>
            <a:r>
              <a:rPr sz="2000" spc="-5" dirty="0">
                <a:latin typeface="Palatino Linotype" panose="02040502050505030304"/>
                <a:cs typeface="Palatino Linotype" panose="02040502050505030304"/>
              </a:rPr>
              <a:t>m</a:t>
            </a:r>
            <a:r>
              <a:rPr sz="2000" spc="5" dirty="0">
                <a:latin typeface="Palatino Linotype" panose="02040502050505030304"/>
                <a:cs typeface="Palatino Linotype" panose="02040502050505030304"/>
              </a:rPr>
              <a:t>i</a:t>
            </a:r>
            <a:r>
              <a:rPr sz="2000" spc="-5" dirty="0">
                <a:latin typeface="Palatino Linotype" panose="02040502050505030304"/>
                <a:cs typeface="Palatino Linotype" panose="02040502050505030304"/>
              </a:rPr>
              <a:t>n</a:t>
            </a:r>
            <a:r>
              <a:rPr sz="2000" dirty="0">
                <a:latin typeface="Palatino Linotype" panose="02040502050505030304"/>
                <a:cs typeface="Palatino Linotype" panose="02040502050505030304"/>
              </a:rPr>
              <a:t>a</a:t>
            </a:r>
            <a:r>
              <a:rPr sz="2000" spc="-5" dirty="0">
                <a:latin typeface="Palatino Linotype" panose="02040502050505030304"/>
                <a:cs typeface="Palatino Linotype" panose="02040502050505030304"/>
              </a:rPr>
              <a:t>t</a:t>
            </a:r>
            <a:r>
              <a:rPr sz="2000" spc="5" dirty="0">
                <a:latin typeface="Palatino Linotype" panose="02040502050505030304"/>
                <a:cs typeface="Palatino Linotype" panose="02040502050505030304"/>
              </a:rPr>
              <a:t>i</a:t>
            </a:r>
            <a:r>
              <a:rPr sz="2000" spc="-5" dirty="0">
                <a:latin typeface="Palatino Linotype" panose="02040502050505030304"/>
                <a:cs typeface="Palatino Linotype" panose="02040502050505030304"/>
              </a:rPr>
              <a:t>n</a:t>
            </a:r>
            <a:r>
              <a:rPr sz="2000" dirty="0">
                <a:latin typeface="Palatino Linotype" panose="02040502050505030304"/>
                <a:cs typeface="Palatino Linotype" panose="02040502050505030304"/>
              </a:rPr>
              <a:t>g </a:t>
            </a:r>
            <a:r>
              <a:rPr sz="2000" spc="-5" dirty="0">
                <a:latin typeface="Palatino Linotype" panose="02040502050505030304"/>
                <a:cs typeface="Palatino Linotype" panose="02040502050505030304"/>
              </a:rPr>
              <a:t>th</a:t>
            </a:r>
            <a:r>
              <a:rPr sz="2000" dirty="0">
                <a:latin typeface="Palatino Linotype" panose="02040502050505030304"/>
                <a:cs typeface="Palatino Linotype" panose="02040502050505030304"/>
              </a:rPr>
              <a:t>e </a:t>
            </a:r>
            <a:r>
              <a:rPr sz="2000" spc="-5" dirty="0">
                <a:latin typeface="Palatino Linotype" panose="02040502050505030304"/>
                <a:cs typeface="Palatino Linotype" panose="02040502050505030304"/>
              </a:rPr>
              <a:t>commo</a:t>
            </a:r>
            <a:r>
              <a:rPr sz="2000" dirty="0">
                <a:latin typeface="Palatino Linotype" panose="02040502050505030304"/>
                <a:cs typeface="Palatino Linotype" panose="02040502050505030304"/>
              </a:rPr>
              <a:t>n</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s</a:t>
            </a:r>
            <a:r>
              <a:rPr sz="2000" spc="-10" dirty="0">
                <a:latin typeface="Palatino Linotype" panose="02040502050505030304"/>
                <a:cs typeface="Palatino Linotype" panose="02040502050505030304"/>
              </a:rPr>
              <a:t>u</a:t>
            </a:r>
            <a:r>
              <a:rPr sz="2000" spc="5" dirty="0">
                <a:latin typeface="Palatino Linotype" panose="02040502050505030304"/>
                <a:cs typeface="Palatino Linotype" panose="02040502050505030304"/>
              </a:rPr>
              <a:t>b</a:t>
            </a:r>
            <a:r>
              <a:rPr sz="2000" dirty="0">
                <a:latin typeface="Palatino Linotype" panose="02040502050505030304"/>
                <a:cs typeface="Palatino Linotype" panose="02040502050505030304"/>
              </a:rPr>
              <a:t>e</a:t>
            </a:r>
            <a:r>
              <a:rPr sz="2000" spc="5" dirty="0">
                <a:latin typeface="Palatino Linotype" panose="02040502050505030304"/>
                <a:cs typeface="Palatino Linotype" panose="02040502050505030304"/>
              </a:rPr>
              <a:t>x</a:t>
            </a:r>
            <a:r>
              <a:rPr sz="2000" spc="-5" dirty="0">
                <a:latin typeface="Palatino Linotype" panose="02040502050505030304"/>
                <a:cs typeface="Palatino Linotype" panose="02040502050505030304"/>
              </a:rPr>
              <a:t>pr</a:t>
            </a:r>
            <a:r>
              <a:rPr sz="2000" dirty="0">
                <a:latin typeface="Palatino Linotype" panose="02040502050505030304"/>
                <a:cs typeface="Palatino Linotype" panose="02040502050505030304"/>
              </a:rPr>
              <a:t>ess</a:t>
            </a:r>
            <a:r>
              <a:rPr sz="2000" spc="5" dirty="0">
                <a:latin typeface="Palatino Linotype" panose="02040502050505030304"/>
                <a:cs typeface="Palatino Linotype" panose="02040502050505030304"/>
              </a:rPr>
              <a:t>i</a:t>
            </a:r>
            <a:r>
              <a:rPr sz="2000" spc="-5" dirty="0">
                <a:latin typeface="Palatino Linotype" panose="02040502050505030304"/>
                <a:cs typeface="Palatino Linotype" panose="02040502050505030304"/>
              </a:rPr>
              <a:t>o</a:t>
            </a:r>
            <a:r>
              <a:rPr sz="2000" dirty="0">
                <a:latin typeface="Palatino Linotype" panose="02040502050505030304"/>
                <a:cs typeface="Palatino Linotype" panose="02040502050505030304"/>
              </a:rPr>
              <a:t>n</a:t>
            </a:r>
            <a:r>
              <a:rPr sz="2000" spc="-5" dirty="0">
                <a:latin typeface="Palatino Linotype" panose="02040502050505030304"/>
                <a:cs typeface="Palatino Linotype" panose="02040502050505030304"/>
              </a:rPr>
              <a:t> </a:t>
            </a:r>
            <a:r>
              <a:rPr sz="2000" dirty="0">
                <a:latin typeface="Consolas" panose="020B0609020204030204"/>
                <a:cs typeface="Consolas" panose="020B0609020204030204"/>
              </a:rPr>
              <a:t>d+e</a:t>
            </a:r>
            <a:r>
              <a:rPr sz="2000" spc="-600" dirty="0">
                <a:latin typeface="Consolas" panose="020B0609020204030204"/>
                <a:cs typeface="Consolas" panose="020B0609020204030204"/>
              </a:rPr>
              <a:t> </a:t>
            </a:r>
            <a:r>
              <a:rPr sz="2000" spc="5" dirty="0">
                <a:latin typeface="Palatino Linotype" panose="02040502050505030304"/>
                <a:cs typeface="Palatino Linotype" panose="02040502050505030304"/>
              </a:rPr>
              <a:t>i</a:t>
            </a:r>
            <a:r>
              <a:rPr sz="2000" spc="-5" dirty="0">
                <a:latin typeface="Palatino Linotype" panose="02040502050505030304"/>
                <a:cs typeface="Palatino Linotype" panose="02040502050505030304"/>
              </a:rPr>
              <a:t>ntro</a:t>
            </a:r>
            <a:r>
              <a:rPr sz="2000" dirty="0">
                <a:latin typeface="Palatino Linotype" panose="02040502050505030304"/>
                <a:cs typeface="Palatino Linotype" panose="02040502050505030304"/>
              </a:rPr>
              <a:t>d</a:t>
            </a:r>
            <a:r>
              <a:rPr sz="2000" spc="-10" dirty="0">
                <a:latin typeface="Palatino Linotype" panose="02040502050505030304"/>
                <a:cs typeface="Palatino Linotype" panose="02040502050505030304"/>
              </a:rPr>
              <a:t>u</a:t>
            </a:r>
            <a:r>
              <a:rPr sz="2000" spc="-5" dirty="0">
                <a:latin typeface="Palatino Linotype" panose="02040502050505030304"/>
                <a:cs typeface="Palatino Linotype" panose="02040502050505030304"/>
              </a:rPr>
              <a:t>c</a:t>
            </a:r>
            <a:r>
              <a:rPr sz="2000" dirty="0">
                <a:latin typeface="Palatino Linotype" panose="02040502050505030304"/>
                <a:cs typeface="Palatino Linotype" panose="02040502050505030304"/>
              </a:rPr>
              <a:t>es </a:t>
            </a:r>
            <a:r>
              <a:rPr sz="2000" spc="-5" dirty="0">
                <a:latin typeface="Palatino Linotype" panose="02040502050505030304"/>
                <a:cs typeface="Palatino Linotype" panose="02040502050505030304"/>
              </a:rPr>
              <a:t>th</a:t>
            </a:r>
            <a:r>
              <a:rPr sz="2000" dirty="0">
                <a:latin typeface="Palatino Linotype" panose="02040502050505030304"/>
                <a:cs typeface="Palatino Linotype" panose="02040502050505030304"/>
              </a:rPr>
              <a:t>e </a:t>
            </a:r>
            <a:r>
              <a:rPr sz="2000" spc="-5" dirty="0">
                <a:latin typeface="Palatino Linotype" panose="02040502050505030304"/>
                <a:cs typeface="Palatino Linotype" panose="02040502050505030304"/>
              </a:rPr>
              <a:t>cop</a:t>
            </a:r>
            <a:r>
              <a:rPr sz="2000" dirty="0">
                <a:latin typeface="Palatino Linotype" panose="02040502050505030304"/>
                <a:cs typeface="Palatino Linotype" panose="02040502050505030304"/>
              </a:rPr>
              <a:t>y  </a:t>
            </a:r>
            <a:r>
              <a:rPr sz="2000" spc="-5" dirty="0">
                <a:latin typeface="Palatino Linotype" panose="02040502050505030304"/>
                <a:cs typeface="Palatino Linotype" panose="02040502050505030304"/>
              </a:rPr>
              <a:t>statement</a:t>
            </a:r>
            <a:r>
              <a:rPr sz="2000" spc="-10" dirty="0">
                <a:latin typeface="Palatino Linotype" panose="02040502050505030304"/>
                <a:cs typeface="Palatino Linotype" panose="02040502050505030304"/>
              </a:rPr>
              <a:t> </a:t>
            </a:r>
            <a:r>
              <a:rPr sz="2000" dirty="0">
                <a:latin typeface="Consolas" panose="020B0609020204030204"/>
                <a:cs typeface="Consolas" panose="020B0609020204030204"/>
              </a:rPr>
              <a:t>c = t</a:t>
            </a:r>
            <a:endParaRPr sz="2000">
              <a:latin typeface="Consolas" panose="020B0609020204030204"/>
              <a:cs typeface="Consolas" panose="020B0609020204030204"/>
            </a:endParaRPr>
          </a:p>
        </p:txBody>
      </p:sp>
      <p:sp>
        <p:nvSpPr>
          <p:cNvPr id="15" name="object 1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6" name="object 1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7" name="object 1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16</a:t>
            </a:fld>
            <a:endParaRPr dirty="0"/>
          </a:p>
        </p:txBody>
      </p:sp>
      <p:sp>
        <p:nvSpPr>
          <p:cNvPr id="18" name="矩形 17">
            <a:extLst>
              <a:ext uri="{FF2B5EF4-FFF2-40B4-BE49-F238E27FC236}">
                <a16:creationId xmlns:a16="http://schemas.microsoft.com/office/drawing/2014/main" id="{D37E4026-D457-4478-8893-CC4DEAB54973}"/>
              </a:ext>
            </a:extLst>
          </p:cNvPr>
          <p:cNvSpPr/>
          <p:nvPr/>
        </p:nvSpPr>
        <p:spPr>
          <a:xfrm>
            <a:off x="2173485" y="4697447"/>
            <a:ext cx="436338" cy="369332"/>
          </a:xfrm>
          <a:prstGeom prst="rect">
            <a:avLst/>
          </a:prstGeom>
        </p:spPr>
        <p:txBody>
          <a:bodyPr wrap="none">
            <a:spAutoFit/>
          </a:bodyPr>
          <a:lstStyle/>
          <a:p>
            <a:r>
              <a:rPr lang="en-US" altLang="zh-CN" dirty="0"/>
              <a:t>(a)</a:t>
            </a:r>
            <a:endParaRPr lang="zh-CN" altLang="en-US" dirty="0"/>
          </a:p>
        </p:txBody>
      </p:sp>
      <p:sp>
        <p:nvSpPr>
          <p:cNvPr id="19" name="矩形 18">
            <a:extLst>
              <a:ext uri="{FF2B5EF4-FFF2-40B4-BE49-F238E27FC236}">
                <a16:creationId xmlns:a16="http://schemas.microsoft.com/office/drawing/2014/main" id="{0D5101D6-4151-4160-B13D-1B7163492F94}"/>
              </a:ext>
            </a:extLst>
          </p:cNvPr>
          <p:cNvSpPr/>
          <p:nvPr/>
        </p:nvSpPr>
        <p:spPr>
          <a:xfrm>
            <a:off x="6711938" y="4735733"/>
            <a:ext cx="447558" cy="369332"/>
          </a:xfrm>
          <a:prstGeom prst="rect">
            <a:avLst/>
          </a:prstGeom>
        </p:spPr>
        <p:txBody>
          <a:bodyPr wrap="none">
            <a:spAutoFit/>
          </a:bodyPr>
          <a:lstStyle/>
          <a:p>
            <a:r>
              <a:rPr lang="en-US" altLang="zh-CN" dirty="0"/>
              <a:t>(b)</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217035" cy="635000"/>
          </a:xfrm>
          <a:prstGeom prst="rect">
            <a:avLst/>
          </a:prstGeom>
        </p:spPr>
        <p:txBody>
          <a:bodyPr vert="horz" wrap="square" lIns="0" tIns="12700" rIns="0" bIns="0" rtlCol="0">
            <a:spAutoFit/>
          </a:bodyPr>
          <a:lstStyle/>
          <a:p>
            <a:pPr marL="12700">
              <a:lnSpc>
                <a:spcPct val="100000"/>
              </a:lnSpc>
              <a:spcBef>
                <a:spcPts val="100"/>
              </a:spcBef>
            </a:pPr>
            <a:r>
              <a:rPr sz="4000" spc="-5" dirty="0"/>
              <a:t>Copy</a:t>
            </a:r>
            <a:r>
              <a:rPr sz="4000" spc="-85" dirty="0"/>
              <a:t> </a:t>
            </a:r>
            <a:r>
              <a:rPr sz="4000" dirty="0"/>
              <a:t>Propagation</a:t>
            </a:r>
            <a:endParaRPr sz="4000"/>
          </a:p>
        </p:txBody>
      </p:sp>
      <p:sp>
        <p:nvSpPr>
          <p:cNvPr id="3" name="object 3"/>
          <p:cNvSpPr txBox="1"/>
          <p:nvPr/>
        </p:nvSpPr>
        <p:spPr>
          <a:xfrm>
            <a:off x="707390" y="1588008"/>
            <a:ext cx="7155180" cy="866775"/>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 pos="242570" algn="l"/>
              </a:tabLst>
            </a:pPr>
            <a:r>
              <a:rPr sz="2300" spc="-10" dirty="0">
                <a:latin typeface="Palatino Linotype" panose="02040502050505030304"/>
                <a:cs typeface="Palatino Linotype" panose="02040502050505030304"/>
              </a:rPr>
              <a:t>Co</a:t>
            </a:r>
            <a:r>
              <a:rPr sz="2300" spc="5" dirty="0">
                <a:latin typeface="Palatino Linotype" panose="02040502050505030304"/>
                <a:cs typeface="Palatino Linotype" panose="02040502050505030304"/>
              </a:rPr>
              <a:t>p</a:t>
            </a:r>
            <a:r>
              <a:rPr sz="2300" dirty="0">
                <a:latin typeface="Palatino Linotype" panose="02040502050505030304"/>
                <a:cs typeface="Palatino Linotype" panose="02040502050505030304"/>
              </a:rPr>
              <a:t>y</a:t>
            </a:r>
            <a:r>
              <a:rPr sz="2300" spc="-5" dirty="0">
                <a:latin typeface="Palatino Linotype" panose="02040502050505030304"/>
                <a:cs typeface="Palatino Linotype" panose="02040502050505030304"/>
              </a:rPr>
              <a:t> </a:t>
            </a:r>
            <a:r>
              <a:rPr sz="2300" spc="5" dirty="0">
                <a:latin typeface="Palatino Linotype" panose="02040502050505030304"/>
                <a:cs typeface="Palatino Linotype" panose="02040502050505030304"/>
              </a:rPr>
              <a:t>p</a:t>
            </a:r>
            <a:r>
              <a:rPr sz="2300" dirty="0">
                <a:latin typeface="Palatino Linotype" panose="02040502050505030304"/>
                <a:cs typeface="Palatino Linotype" panose="02040502050505030304"/>
              </a:rPr>
              <a:t>r</a:t>
            </a:r>
            <a:r>
              <a:rPr sz="2300" spc="-10" dirty="0">
                <a:latin typeface="Palatino Linotype" panose="02040502050505030304"/>
                <a:cs typeface="Palatino Linotype" panose="02040502050505030304"/>
              </a:rPr>
              <a:t>o</a:t>
            </a:r>
            <a:r>
              <a:rPr sz="2300" spc="5" dirty="0">
                <a:latin typeface="Palatino Linotype" panose="02040502050505030304"/>
                <a:cs typeface="Palatino Linotype" panose="02040502050505030304"/>
              </a:rPr>
              <a:t>p</a:t>
            </a:r>
            <a:r>
              <a:rPr sz="2300" dirty="0">
                <a:latin typeface="Palatino Linotype" panose="02040502050505030304"/>
                <a:cs typeface="Palatino Linotype" panose="02040502050505030304"/>
              </a:rPr>
              <a:t>a</a:t>
            </a:r>
            <a:r>
              <a:rPr sz="2300" spc="-5" dirty="0">
                <a:latin typeface="Palatino Linotype" panose="02040502050505030304"/>
                <a:cs typeface="Palatino Linotype" panose="02040502050505030304"/>
              </a:rPr>
              <a:t>g</a:t>
            </a:r>
            <a:r>
              <a:rPr sz="2300" dirty="0">
                <a:latin typeface="Palatino Linotype" panose="02040502050505030304"/>
                <a:cs typeface="Palatino Linotype" panose="02040502050505030304"/>
              </a:rPr>
              <a:t>at</a:t>
            </a:r>
            <a:r>
              <a:rPr sz="2300" spc="5" dirty="0">
                <a:latin typeface="Palatino Linotype" panose="02040502050505030304"/>
                <a:cs typeface="Palatino Linotype" panose="02040502050505030304"/>
              </a:rPr>
              <a:t>i</a:t>
            </a:r>
            <a:r>
              <a:rPr sz="2300" spc="-10" dirty="0">
                <a:latin typeface="Palatino Linotype" panose="02040502050505030304"/>
                <a:cs typeface="Palatino Linotype" panose="02040502050505030304"/>
              </a:rPr>
              <a:t>o</a:t>
            </a:r>
            <a:r>
              <a:rPr sz="2300" dirty="0">
                <a:latin typeface="Palatino Linotype" panose="02040502050505030304"/>
                <a:cs typeface="Palatino Linotype" panose="02040502050505030304"/>
              </a:rPr>
              <a:t>n</a:t>
            </a:r>
            <a:r>
              <a:rPr sz="2300" spc="-5" dirty="0">
                <a:latin typeface="Palatino Linotype" panose="02040502050505030304"/>
                <a:cs typeface="Palatino Linotype" panose="02040502050505030304"/>
              </a:rPr>
              <a:t> </a:t>
            </a:r>
            <a:r>
              <a:rPr sz="2300" spc="5" dirty="0">
                <a:latin typeface="Palatino Linotype" panose="02040502050505030304"/>
                <a:cs typeface="Palatino Linotype" panose="02040502050505030304"/>
              </a:rPr>
              <a:t>i</a:t>
            </a:r>
            <a:r>
              <a:rPr sz="2300" dirty="0">
                <a:latin typeface="Palatino Linotype" panose="02040502050505030304"/>
                <a:cs typeface="Palatino Linotype" panose="02040502050505030304"/>
              </a:rPr>
              <a:t>s </a:t>
            </a:r>
            <a:r>
              <a:rPr sz="2300" spc="-5" dirty="0">
                <a:latin typeface="Palatino Linotype" panose="02040502050505030304"/>
                <a:cs typeface="Palatino Linotype" panose="02040502050505030304"/>
              </a:rPr>
              <a:t>t</a:t>
            </a:r>
            <a:r>
              <a:rPr sz="2300" dirty="0">
                <a:latin typeface="Palatino Linotype" panose="02040502050505030304"/>
                <a:cs typeface="Palatino Linotype" panose="02040502050505030304"/>
              </a:rPr>
              <a:t>o</a:t>
            </a:r>
            <a:r>
              <a:rPr sz="2300" spc="-10" dirty="0">
                <a:latin typeface="Palatino Linotype" panose="02040502050505030304"/>
                <a:cs typeface="Palatino Linotype" panose="02040502050505030304"/>
              </a:rPr>
              <a:t> </a:t>
            </a:r>
            <a:r>
              <a:rPr sz="2300" dirty="0">
                <a:solidFill>
                  <a:srgbClr val="0432FF"/>
                </a:solidFill>
                <a:latin typeface="Palatino Linotype" panose="02040502050505030304"/>
                <a:cs typeface="Palatino Linotype" panose="02040502050505030304"/>
              </a:rPr>
              <a:t>use</a:t>
            </a:r>
            <a:r>
              <a:rPr sz="2300" spc="-5" dirty="0">
                <a:solidFill>
                  <a:srgbClr val="0432FF"/>
                </a:solidFill>
                <a:latin typeface="Palatino Linotype" panose="02040502050505030304"/>
                <a:cs typeface="Palatino Linotype" panose="02040502050505030304"/>
              </a:rPr>
              <a:t> </a:t>
            </a:r>
            <a:r>
              <a:rPr sz="2300" dirty="0">
                <a:solidFill>
                  <a:srgbClr val="0432FF"/>
                </a:solidFill>
                <a:latin typeface="Consolas" panose="020B0609020204030204"/>
                <a:cs typeface="Consolas" panose="020B0609020204030204"/>
              </a:rPr>
              <a:t>v</a:t>
            </a:r>
            <a:r>
              <a:rPr sz="2300" spc="-695" dirty="0">
                <a:solidFill>
                  <a:srgbClr val="0432FF"/>
                </a:solidFill>
                <a:latin typeface="Consolas" panose="020B0609020204030204"/>
                <a:cs typeface="Consolas" panose="020B0609020204030204"/>
              </a:rPr>
              <a:t> </a:t>
            </a:r>
            <a:r>
              <a:rPr sz="2300" spc="-5" dirty="0">
                <a:solidFill>
                  <a:srgbClr val="0432FF"/>
                </a:solidFill>
                <a:latin typeface="Palatino Linotype" panose="02040502050505030304"/>
                <a:cs typeface="Palatino Linotype" panose="02040502050505030304"/>
              </a:rPr>
              <a:t>f</a:t>
            </a:r>
            <a:r>
              <a:rPr sz="2300" spc="-10" dirty="0">
                <a:solidFill>
                  <a:srgbClr val="0432FF"/>
                </a:solidFill>
                <a:latin typeface="Palatino Linotype" panose="02040502050505030304"/>
                <a:cs typeface="Palatino Linotype" panose="02040502050505030304"/>
              </a:rPr>
              <a:t>o</a:t>
            </a:r>
            <a:r>
              <a:rPr sz="2300" dirty="0">
                <a:solidFill>
                  <a:srgbClr val="0432FF"/>
                </a:solidFill>
                <a:latin typeface="Palatino Linotype" panose="02040502050505030304"/>
                <a:cs typeface="Palatino Linotype" panose="02040502050505030304"/>
              </a:rPr>
              <a:t>r </a:t>
            </a:r>
            <a:r>
              <a:rPr sz="2300" spc="-5" dirty="0">
                <a:solidFill>
                  <a:srgbClr val="0432FF"/>
                </a:solidFill>
                <a:latin typeface="Consolas" panose="020B0609020204030204"/>
                <a:cs typeface="Consolas" panose="020B0609020204030204"/>
              </a:rPr>
              <a:t>u</a:t>
            </a:r>
            <a:r>
              <a:rPr sz="2300" dirty="0">
                <a:latin typeface="Palatino Linotype" panose="02040502050505030304"/>
                <a:cs typeface="Palatino Linotype" panose="02040502050505030304"/>
              </a:rPr>
              <a:t>, </a:t>
            </a:r>
            <a:r>
              <a:rPr sz="2300" spc="-10" dirty="0">
                <a:latin typeface="Palatino Linotype" panose="02040502050505030304"/>
                <a:cs typeface="Palatino Linotype" panose="02040502050505030304"/>
              </a:rPr>
              <a:t>w</a:t>
            </a:r>
            <a:r>
              <a:rPr sz="2300" spc="-5" dirty="0">
                <a:latin typeface="Palatino Linotype" panose="02040502050505030304"/>
                <a:cs typeface="Palatino Linotype" panose="02040502050505030304"/>
              </a:rPr>
              <a:t>he</a:t>
            </a:r>
            <a:r>
              <a:rPr sz="2300" dirty="0">
                <a:latin typeface="Palatino Linotype" panose="02040502050505030304"/>
                <a:cs typeface="Palatino Linotype" panose="02040502050505030304"/>
              </a:rPr>
              <a:t>r</a:t>
            </a:r>
            <a:r>
              <a:rPr sz="2300" spc="-5" dirty="0">
                <a:latin typeface="Palatino Linotype" panose="02040502050505030304"/>
                <a:cs typeface="Palatino Linotype" panose="02040502050505030304"/>
              </a:rPr>
              <a:t>e</a:t>
            </a:r>
            <a:r>
              <a:rPr sz="2300" spc="-40" dirty="0">
                <a:latin typeface="Palatino Linotype" panose="02040502050505030304"/>
                <a:cs typeface="Palatino Linotype" panose="02040502050505030304"/>
              </a:rPr>
              <a:t>v</a:t>
            </a:r>
            <a:r>
              <a:rPr sz="2300" spc="-5" dirty="0">
                <a:latin typeface="Palatino Linotype" panose="02040502050505030304"/>
                <a:cs typeface="Palatino Linotype" panose="02040502050505030304"/>
              </a:rPr>
              <a:t>e</a:t>
            </a:r>
            <a:r>
              <a:rPr sz="2300" dirty="0">
                <a:latin typeface="Palatino Linotype" panose="02040502050505030304"/>
                <a:cs typeface="Palatino Linotype" panose="02040502050505030304"/>
              </a:rPr>
              <a:t>r </a:t>
            </a:r>
            <a:r>
              <a:rPr sz="2300" spc="5" dirty="0">
                <a:latin typeface="Palatino Linotype" panose="02040502050505030304"/>
                <a:cs typeface="Palatino Linotype" panose="02040502050505030304"/>
              </a:rPr>
              <a:t>p</a:t>
            </a:r>
            <a:r>
              <a:rPr sz="2300" spc="-10" dirty="0">
                <a:latin typeface="Palatino Linotype" panose="02040502050505030304"/>
                <a:cs typeface="Palatino Linotype" panose="02040502050505030304"/>
              </a:rPr>
              <a:t>o</a:t>
            </a:r>
            <a:r>
              <a:rPr sz="2300" dirty="0">
                <a:latin typeface="Palatino Linotype" panose="02040502050505030304"/>
                <a:cs typeface="Palatino Linotype" panose="02040502050505030304"/>
              </a:rPr>
              <a:t>ss</a:t>
            </a:r>
            <a:r>
              <a:rPr sz="2300" spc="5" dirty="0">
                <a:latin typeface="Palatino Linotype" panose="02040502050505030304"/>
                <a:cs typeface="Palatino Linotype" panose="02040502050505030304"/>
              </a:rPr>
              <a:t>i</a:t>
            </a:r>
            <a:r>
              <a:rPr sz="2300" dirty="0">
                <a:latin typeface="Palatino Linotype" panose="02040502050505030304"/>
                <a:cs typeface="Palatino Linotype" panose="02040502050505030304"/>
              </a:rPr>
              <a:t>b</a:t>
            </a:r>
            <a:r>
              <a:rPr sz="2300" spc="5" dirty="0">
                <a:latin typeface="Palatino Linotype" panose="02040502050505030304"/>
                <a:cs typeface="Palatino Linotype" panose="02040502050505030304"/>
              </a:rPr>
              <a:t>l</a:t>
            </a:r>
            <a:r>
              <a:rPr sz="2300" dirty="0">
                <a:latin typeface="Palatino Linotype" panose="02040502050505030304"/>
                <a:cs typeface="Palatino Linotype" panose="02040502050505030304"/>
              </a:rPr>
              <a:t>e  </a:t>
            </a:r>
            <a:r>
              <a:rPr sz="2300" spc="-5" dirty="0">
                <a:latin typeface="Palatino Linotype" panose="02040502050505030304"/>
                <a:cs typeface="Palatino Linotype" panose="02040502050505030304"/>
              </a:rPr>
              <a:t>after the copy statement</a:t>
            </a:r>
            <a:endParaRPr sz="2300">
              <a:latin typeface="Palatino Linotype" panose="02040502050505030304"/>
              <a:cs typeface="Palatino Linotype" panose="02040502050505030304"/>
            </a:endParaRPr>
          </a:p>
        </p:txBody>
      </p:sp>
      <p:sp>
        <p:nvSpPr>
          <p:cNvPr id="4" name="object 4"/>
          <p:cNvSpPr txBox="1"/>
          <p:nvPr/>
        </p:nvSpPr>
        <p:spPr>
          <a:xfrm>
            <a:off x="676644" y="4833988"/>
            <a:ext cx="7780020" cy="708025"/>
          </a:xfrm>
          <a:prstGeom prst="rect">
            <a:avLst/>
          </a:prstGeom>
          <a:solidFill>
            <a:srgbClr val="FFF2CC"/>
          </a:solidFill>
          <a:ln w="9525">
            <a:solidFill>
              <a:srgbClr val="000000"/>
            </a:solidFill>
          </a:ln>
        </p:spPr>
        <p:txBody>
          <a:bodyPr vert="horz" wrap="square" lIns="0" tIns="32384" rIns="0" bIns="0" rtlCol="0">
            <a:spAutoFit/>
          </a:bodyPr>
          <a:lstStyle/>
          <a:p>
            <a:pPr marL="90805" marR="266065">
              <a:lnSpc>
                <a:spcPct val="100000"/>
              </a:lnSpc>
              <a:spcBef>
                <a:spcPts val="255"/>
              </a:spcBef>
            </a:pPr>
            <a:r>
              <a:rPr sz="2000" spc="-5" dirty="0">
                <a:latin typeface="Palatino Linotype" panose="02040502050505030304"/>
                <a:cs typeface="Palatino Linotype" panose="02040502050505030304"/>
              </a:rPr>
              <a:t>This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change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may</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not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appear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a:t>
            </a:r>
            <a:r>
              <a:rPr sz="2000" dirty="0">
                <a:latin typeface="Palatino Linotype" panose="02040502050505030304"/>
                <a:cs typeface="Palatino Linotype" panose="02040502050505030304"/>
              </a:rPr>
              <a:t> be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an </a:t>
            </a:r>
            <a:r>
              <a:rPr sz="2000" spc="-10" dirty="0">
                <a:latin typeface="Palatino Linotype" panose="02040502050505030304"/>
                <a:cs typeface="Palatino Linotype" panose="02040502050505030304"/>
              </a:rPr>
              <a:t>improvement,</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but </a:t>
            </a:r>
            <a:r>
              <a:rPr sz="2000" dirty="0">
                <a:latin typeface="Palatino Linotype" panose="02040502050505030304"/>
                <a:cs typeface="Palatino Linotype" panose="02040502050505030304"/>
              </a:rPr>
              <a:t>it </a:t>
            </a:r>
            <a:r>
              <a:rPr sz="2000" spc="-10" dirty="0">
                <a:latin typeface="Palatino Linotype" panose="02040502050505030304"/>
                <a:cs typeface="Palatino Linotype" panose="02040502050505030304"/>
              </a:rPr>
              <a:t>gives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 opportunity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 </a:t>
            </a:r>
            <a:r>
              <a:rPr sz="2000" dirty="0">
                <a:latin typeface="Palatino Linotype" panose="02040502050505030304"/>
                <a:cs typeface="Palatino Linotype" panose="02040502050505030304"/>
              </a:rPr>
              <a:t>eliminate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assignment to</a:t>
            </a:r>
            <a:r>
              <a:rPr sz="2000" spc="-15" dirty="0">
                <a:latin typeface="Palatino Linotype" panose="02040502050505030304"/>
                <a:cs typeface="Palatino Linotype" panose="02040502050505030304"/>
              </a:rPr>
              <a:t> </a:t>
            </a:r>
            <a:r>
              <a:rPr sz="2000" dirty="0">
                <a:latin typeface="Consolas" panose="020B0609020204030204"/>
                <a:cs typeface="Consolas" panose="020B0609020204030204"/>
              </a:rPr>
              <a:t>x</a:t>
            </a:r>
            <a:endParaRPr sz="2000">
              <a:latin typeface="Consolas" panose="020B0609020204030204"/>
              <a:cs typeface="Consolas" panose="020B0609020204030204"/>
            </a:endParaRPr>
          </a:p>
        </p:txBody>
      </p:sp>
      <p:sp>
        <p:nvSpPr>
          <p:cNvPr id="5" name="object 5"/>
          <p:cNvSpPr txBox="1"/>
          <p:nvPr/>
        </p:nvSpPr>
        <p:spPr>
          <a:xfrm>
            <a:off x="1492467" y="3121681"/>
            <a:ext cx="1451610" cy="1077595"/>
          </a:xfrm>
          <a:prstGeom prst="rect">
            <a:avLst/>
          </a:prstGeom>
          <a:ln w="9525">
            <a:solidFill>
              <a:srgbClr val="000000"/>
            </a:solidFill>
          </a:ln>
        </p:spPr>
        <p:txBody>
          <a:bodyPr vert="horz" wrap="square" lIns="0" tIns="33020" rIns="0" bIns="0" rtlCol="0">
            <a:spAutoFit/>
          </a:bodyPr>
          <a:lstStyle/>
          <a:p>
            <a:pPr marL="91440" marR="240030">
              <a:lnSpc>
                <a:spcPct val="100000"/>
              </a:lnSpc>
              <a:spcBef>
                <a:spcPts val="260"/>
              </a:spcBef>
            </a:pPr>
            <a:r>
              <a:rPr sz="1600" dirty="0">
                <a:solidFill>
                  <a:srgbClr val="0432FF"/>
                </a:solidFill>
                <a:latin typeface="Consolas" panose="020B0609020204030204"/>
                <a:cs typeface="Consolas" panose="020B0609020204030204"/>
              </a:rPr>
              <a:t>x = </a:t>
            </a:r>
            <a:r>
              <a:rPr sz="1600" spc="-5" dirty="0">
                <a:solidFill>
                  <a:srgbClr val="0432FF"/>
                </a:solidFill>
                <a:latin typeface="Consolas" panose="020B0609020204030204"/>
                <a:cs typeface="Consolas" panose="020B0609020204030204"/>
              </a:rPr>
              <a:t>t3 </a:t>
            </a:r>
            <a:r>
              <a:rPr sz="1600" dirty="0">
                <a:solidFill>
                  <a:srgbClr val="0432FF"/>
                </a:solidFill>
                <a:latin typeface="Consolas" panose="020B0609020204030204"/>
                <a:cs typeface="Consolas" panose="020B0609020204030204"/>
              </a:rPr>
              <a:t> </a:t>
            </a:r>
            <a:r>
              <a:rPr sz="1600" spc="-5" dirty="0">
                <a:latin typeface="Consolas" panose="020B0609020204030204"/>
                <a:cs typeface="Consolas" panose="020B0609020204030204"/>
              </a:rPr>
              <a:t>a[t2]</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t5 </a:t>
            </a:r>
            <a:r>
              <a:rPr sz="1600" spc="-865" dirty="0">
                <a:latin typeface="Consolas" panose="020B0609020204030204"/>
                <a:cs typeface="Consolas" panose="020B0609020204030204"/>
              </a:rPr>
              <a:t> </a:t>
            </a:r>
            <a:r>
              <a:rPr sz="1600" spc="-5" dirty="0">
                <a:latin typeface="Consolas" panose="020B0609020204030204"/>
                <a:cs typeface="Consolas" panose="020B0609020204030204"/>
              </a:rPr>
              <a:t>a[t4] </a:t>
            </a:r>
            <a:r>
              <a:rPr sz="1600" dirty="0">
                <a:latin typeface="Consolas" panose="020B0609020204030204"/>
                <a:cs typeface="Consolas" panose="020B0609020204030204"/>
              </a:rPr>
              <a:t>= </a:t>
            </a:r>
            <a:r>
              <a:rPr sz="1600" dirty="0">
                <a:solidFill>
                  <a:srgbClr val="FF0000"/>
                </a:solidFill>
                <a:latin typeface="Consolas" panose="020B0609020204030204"/>
                <a:cs typeface="Consolas" panose="020B0609020204030204"/>
              </a:rPr>
              <a:t>x </a:t>
            </a:r>
            <a:r>
              <a:rPr sz="1600" spc="-865" dirty="0">
                <a:solidFill>
                  <a:srgbClr val="FF0000"/>
                </a:solidFill>
                <a:latin typeface="Consolas" panose="020B0609020204030204"/>
                <a:cs typeface="Consolas" panose="020B0609020204030204"/>
              </a:rPr>
              <a:t> </a:t>
            </a:r>
            <a:r>
              <a:rPr sz="1600" spc="-5" dirty="0">
                <a:latin typeface="Consolas" panose="020B0609020204030204"/>
                <a:cs typeface="Consolas" panose="020B0609020204030204"/>
              </a:rPr>
              <a:t>goto</a:t>
            </a:r>
            <a:r>
              <a:rPr sz="1600" spc="-40" dirty="0">
                <a:latin typeface="Consolas" panose="020B0609020204030204"/>
                <a:cs typeface="Consolas" panose="020B0609020204030204"/>
              </a:rPr>
              <a:t> </a:t>
            </a:r>
            <a:r>
              <a:rPr sz="1600" i="1" spc="-5" dirty="0">
                <a:latin typeface="Consolas" panose="020B0609020204030204"/>
                <a:cs typeface="Consolas" panose="020B0609020204030204"/>
              </a:rPr>
              <a:t>B</a:t>
            </a:r>
            <a:r>
              <a:rPr sz="1650" spc="-7" baseline="-15000" dirty="0">
                <a:latin typeface="Consolas" panose="020B0609020204030204"/>
                <a:cs typeface="Consolas" panose="020B0609020204030204"/>
              </a:rPr>
              <a:t>2</a:t>
            </a:r>
            <a:endParaRPr sz="1650" baseline="-15000">
              <a:latin typeface="Consolas" panose="020B0609020204030204"/>
              <a:cs typeface="Consolas" panose="020B0609020204030204"/>
            </a:endParaRPr>
          </a:p>
        </p:txBody>
      </p:sp>
      <p:sp>
        <p:nvSpPr>
          <p:cNvPr id="6" name="object 6"/>
          <p:cNvSpPr txBox="1"/>
          <p:nvPr/>
        </p:nvSpPr>
        <p:spPr>
          <a:xfrm>
            <a:off x="6200494" y="3121681"/>
            <a:ext cx="1451610" cy="1077595"/>
          </a:xfrm>
          <a:prstGeom prst="rect">
            <a:avLst/>
          </a:prstGeom>
          <a:ln w="9525">
            <a:solidFill>
              <a:srgbClr val="000000"/>
            </a:solidFill>
          </a:ln>
        </p:spPr>
        <p:txBody>
          <a:bodyPr vert="horz" wrap="square" lIns="0" tIns="33020" rIns="0" bIns="0" rtlCol="0">
            <a:spAutoFit/>
          </a:bodyPr>
          <a:lstStyle/>
          <a:p>
            <a:pPr marL="90805" marR="240030">
              <a:lnSpc>
                <a:spcPct val="100000"/>
              </a:lnSpc>
              <a:spcBef>
                <a:spcPts val="260"/>
              </a:spcBef>
            </a:pPr>
            <a:r>
              <a:rPr sz="1600" dirty="0">
                <a:solidFill>
                  <a:srgbClr val="0432FF"/>
                </a:solidFill>
                <a:latin typeface="Consolas" panose="020B0609020204030204"/>
                <a:cs typeface="Consolas" panose="020B0609020204030204"/>
              </a:rPr>
              <a:t>x = </a:t>
            </a:r>
            <a:r>
              <a:rPr sz="1600" spc="-5" dirty="0">
                <a:solidFill>
                  <a:srgbClr val="0432FF"/>
                </a:solidFill>
                <a:latin typeface="Consolas" panose="020B0609020204030204"/>
                <a:cs typeface="Consolas" panose="020B0609020204030204"/>
              </a:rPr>
              <a:t>t3 </a:t>
            </a:r>
            <a:r>
              <a:rPr sz="1600" dirty="0">
                <a:solidFill>
                  <a:srgbClr val="0432FF"/>
                </a:solidFill>
                <a:latin typeface="Consolas" panose="020B0609020204030204"/>
                <a:cs typeface="Consolas" panose="020B0609020204030204"/>
              </a:rPr>
              <a:t> </a:t>
            </a:r>
            <a:r>
              <a:rPr sz="1600" spc="-5" dirty="0">
                <a:latin typeface="Consolas" panose="020B0609020204030204"/>
                <a:cs typeface="Consolas" panose="020B0609020204030204"/>
              </a:rPr>
              <a:t>a[t2]</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t5 </a:t>
            </a:r>
            <a:r>
              <a:rPr sz="1600" spc="-865" dirty="0">
                <a:latin typeface="Consolas" panose="020B0609020204030204"/>
                <a:cs typeface="Consolas" panose="020B0609020204030204"/>
              </a:rPr>
              <a:t> </a:t>
            </a:r>
            <a:r>
              <a:rPr sz="1600" spc="-5" dirty="0">
                <a:latin typeface="Consolas" panose="020B0609020204030204"/>
                <a:cs typeface="Consolas" panose="020B0609020204030204"/>
              </a:rPr>
              <a:t>a[t4]</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60" dirty="0">
                <a:latin typeface="Consolas" panose="020B0609020204030204"/>
                <a:cs typeface="Consolas" panose="020B0609020204030204"/>
              </a:rPr>
              <a:t> </a:t>
            </a:r>
            <a:r>
              <a:rPr sz="1600" spc="-5" dirty="0">
                <a:solidFill>
                  <a:srgbClr val="FF0000"/>
                </a:solidFill>
                <a:latin typeface="Consolas" panose="020B0609020204030204"/>
                <a:cs typeface="Consolas" panose="020B0609020204030204"/>
              </a:rPr>
              <a:t>t3 </a:t>
            </a:r>
            <a:r>
              <a:rPr sz="1600" spc="-865" dirty="0">
                <a:solidFill>
                  <a:srgbClr val="FF0000"/>
                </a:solidFill>
                <a:latin typeface="Consolas" panose="020B0609020204030204"/>
                <a:cs typeface="Consolas" panose="020B0609020204030204"/>
              </a:rPr>
              <a:t> </a:t>
            </a:r>
            <a:r>
              <a:rPr sz="1600" spc="-5" dirty="0">
                <a:latin typeface="Consolas" panose="020B0609020204030204"/>
                <a:cs typeface="Consolas" panose="020B0609020204030204"/>
              </a:rPr>
              <a:t>goto</a:t>
            </a:r>
            <a:r>
              <a:rPr sz="1600" spc="-40" dirty="0">
                <a:latin typeface="Consolas" panose="020B0609020204030204"/>
                <a:cs typeface="Consolas" panose="020B0609020204030204"/>
              </a:rPr>
              <a:t> </a:t>
            </a:r>
            <a:r>
              <a:rPr sz="1600" i="1" spc="-5" dirty="0">
                <a:latin typeface="Consolas" panose="020B0609020204030204"/>
                <a:cs typeface="Consolas" panose="020B0609020204030204"/>
              </a:rPr>
              <a:t>B</a:t>
            </a:r>
            <a:r>
              <a:rPr sz="1650" spc="-7" baseline="-15000" dirty="0">
                <a:latin typeface="Consolas" panose="020B0609020204030204"/>
                <a:cs typeface="Consolas" panose="020B0609020204030204"/>
              </a:rPr>
              <a:t>2</a:t>
            </a:r>
            <a:endParaRPr sz="1650" baseline="-15000">
              <a:latin typeface="Consolas" panose="020B0609020204030204"/>
              <a:cs typeface="Consolas" panose="020B0609020204030204"/>
            </a:endParaRPr>
          </a:p>
        </p:txBody>
      </p:sp>
      <p:sp>
        <p:nvSpPr>
          <p:cNvPr id="7" name="object 7"/>
          <p:cNvSpPr/>
          <p:nvPr/>
        </p:nvSpPr>
        <p:spPr>
          <a:xfrm>
            <a:off x="2943504" y="3608589"/>
            <a:ext cx="3257550" cy="103505"/>
          </a:xfrm>
          <a:custGeom>
            <a:avLst/>
            <a:gdLst/>
            <a:ahLst/>
            <a:cxnLst/>
            <a:rect l="l" t="t" r="r" b="b"/>
            <a:pathLst>
              <a:path w="3257550" h="103504">
                <a:moveTo>
                  <a:pt x="3168387" y="0"/>
                </a:moveTo>
                <a:lnTo>
                  <a:pt x="3164498" y="1022"/>
                </a:lnTo>
                <a:lnTo>
                  <a:pt x="3160963" y="7081"/>
                </a:lnTo>
                <a:lnTo>
                  <a:pt x="3161987" y="10968"/>
                </a:lnTo>
                <a:lnTo>
                  <a:pt x="3220928" y="45351"/>
                </a:lnTo>
                <a:lnTo>
                  <a:pt x="3244406" y="45351"/>
                </a:lnTo>
                <a:lnTo>
                  <a:pt x="3244406" y="58051"/>
                </a:lnTo>
                <a:lnTo>
                  <a:pt x="3220927" y="58051"/>
                </a:lnTo>
                <a:lnTo>
                  <a:pt x="3161987" y="92433"/>
                </a:lnTo>
                <a:lnTo>
                  <a:pt x="3160963" y="96321"/>
                </a:lnTo>
                <a:lnTo>
                  <a:pt x="3164498" y="102379"/>
                </a:lnTo>
                <a:lnTo>
                  <a:pt x="3168387" y="103403"/>
                </a:lnTo>
                <a:lnTo>
                  <a:pt x="3246133" y="58051"/>
                </a:lnTo>
                <a:lnTo>
                  <a:pt x="3244406" y="58051"/>
                </a:lnTo>
                <a:lnTo>
                  <a:pt x="3246135" y="58050"/>
                </a:lnTo>
                <a:lnTo>
                  <a:pt x="3257019" y="51701"/>
                </a:lnTo>
                <a:lnTo>
                  <a:pt x="3168387" y="0"/>
                </a:lnTo>
                <a:close/>
              </a:path>
              <a:path w="3257550" h="103504">
                <a:moveTo>
                  <a:pt x="3231813" y="51701"/>
                </a:moveTo>
                <a:lnTo>
                  <a:pt x="3220927" y="58051"/>
                </a:lnTo>
                <a:lnTo>
                  <a:pt x="3244406" y="58051"/>
                </a:lnTo>
                <a:lnTo>
                  <a:pt x="3244406" y="57186"/>
                </a:lnTo>
                <a:lnTo>
                  <a:pt x="3241216" y="57186"/>
                </a:lnTo>
                <a:lnTo>
                  <a:pt x="3231813" y="51701"/>
                </a:lnTo>
                <a:close/>
              </a:path>
              <a:path w="3257550" h="103504">
                <a:moveTo>
                  <a:pt x="0" y="45350"/>
                </a:moveTo>
                <a:lnTo>
                  <a:pt x="0" y="58050"/>
                </a:lnTo>
                <a:lnTo>
                  <a:pt x="3220929" y="58050"/>
                </a:lnTo>
                <a:lnTo>
                  <a:pt x="3231813" y="51701"/>
                </a:lnTo>
                <a:lnTo>
                  <a:pt x="3220928" y="45351"/>
                </a:lnTo>
                <a:lnTo>
                  <a:pt x="0" y="45350"/>
                </a:lnTo>
                <a:close/>
              </a:path>
              <a:path w="3257550" h="103504">
                <a:moveTo>
                  <a:pt x="3241216" y="46216"/>
                </a:moveTo>
                <a:lnTo>
                  <a:pt x="3231813" y="51701"/>
                </a:lnTo>
                <a:lnTo>
                  <a:pt x="3241216" y="57186"/>
                </a:lnTo>
                <a:lnTo>
                  <a:pt x="3241216" y="46216"/>
                </a:lnTo>
                <a:close/>
              </a:path>
              <a:path w="3257550" h="103504">
                <a:moveTo>
                  <a:pt x="3244406" y="46216"/>
                </a:moveTo>
                <a:lnTo>
                  <a:pt x="3241216" y="46216"/>
                </a:lnTo>
                <a:lnTo>
                  <a:pt x="3241216" y="57186"/>
                </a:lnTo>
                <a:lnTo>
                  <a:pt x="3244406" y="57186"/>
                </a:lnTo>
                <a:lnTo>
                  <a:pt x="3244406" y="46216"/>
                </a:lnTo>
                <a:close/>
              </a:path>
              <a:path w="3257550" h="103504">
                <a:moveTo>
                  <a:pt x="3220928" y="45351"/>
                </a:moveTo>
                <a:lnTo>
                  <a:pt x="3231813" y="51701"/>
                </a:lnTo>
                <a:lnTo>
                  <a:pt x="3241216" y="46216"/>
                </a:lnTo>
                <a:lnTo>
                  <a:pt x="3244406" y="46216"/>
                </a:lnTo>
                <a:lnTo>
                  <a:pt x="3244406" y="45351"/>
                </a:lnTo>
                <a:lnTo>
                  <a:pt x="3220928" y="45351"/>
                </a:lnTo>
                <a:close/>
              </a:path>
            </a:pathLst>
          </a:custGeom>
          <a:solidFill>
            <a:srgbClr val="000000"/>
          </a:solidFill>
        </p:spPr>
        <p:txBody>
          <a:bodyPr wrap="square" lIns="0" tIns="0" rIns="0" bIns="0" rtlCol="0"/>
          <a:lstStyle/>
          <a:p>
            <a:endParaRPr/>
          </a:p>
        </p:txBody>
      </p:sp>
      <p:sp>
        <p:nvSpPr>
          <p:cNvPr id="8" name="object 8"/>
          <p:cNvSpPr txBox="1"/>
          <p:nvPr/>
        </p:nvSpPr>
        <p:spPr>
          <a:xfrm>
            <a:off x="3289799" y="3215132"/>
            <a:ext cx="25273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Palatino Linotype" panose="02040502050505030304"/>
                <a:cs typeface="Palatino Linotype" panose="02040502050505030304"/>
              </a:rPr>
              <a:t>Apply</a:t>
            </a:r>
            <a:r>
              <a:rPr sz="1800" spc="-4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copy</a:t>
            </a:r>
            <a:r>
              <a:rPr sz="1800" spc="-40"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propagation</a:t>
            </a:r>
            <a:endParaRPr sz="1800">
              <a:latin typeface="Palatino Linotype" panose="02040502050505030304"/>
              <a:cs typeface="Palatino Linotype" panose="02040502050505030304"/>
            </a:endParaRPr>
          </a:p>
        </p:txBody>
      </p:sp>
      <p:sp>
        <p:nvSpPr>
          <p:cNvPr id="11" name="object 11"/>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2" name="object 12"/>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3" name="object 13"/>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17</a:t>
            </a:fld>
            <a:endParaRPr dirty="0"/>
          </a:p>
        </p:txBody>
      </p:sp>
      <p:sp>
        <p:nvSpPr>
          <p:cNvPr id="9" name="object 9"/>
          <p:cNvSpPr txBox="1"/>
          <p:nvPr/>
        </p:nvSpPr>
        <p:spPr>
          <a:xfrm>
            <a:off x="1064892" y="2956052"/>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5</a:t>
            </a:r>
            <a:endParaRPr sz="1800" baseline="-14000">
              <a:latin typeface="Palatino Linotype" panose="02040502050505030304"/>
              <a:cs typeface="Palatino Linotype" panose="02040502050505030304"/>
            </a:endParaRPr>
          </a:p>
        </p:txBody>
      </p:sp>
      <p:sp>
        <p:nvSpPr>
          <p:cNvPr id="10" name="object 10"/>
          <p:cNvSpPr txBox="1"/>
          <p:nvPr/>
        </p:nvSpPr>
        <p:spPr>
          <a:xfrm>
            <a:off x="5773272" y="2956052"/>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5</a:t>
            </a:r>
            <a:endParaRPr sz="1800" baseline="-14000">
              <a:latin typeface="Palatino Linotype" panose="02040502050505030304"/>
              <a:cs typeface="Palatino Linotype" panose="0204050205050503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541645" cy="635000"/>
          </a:xfrm>
          <a:prstGeom prst="rect">
            <a:avLst/>
          </a:prstGeom>
        </p:spPr>
        <p:txBody>
          <a:bodyPr vert="horz" wrap="square" lIns="0" tIns="12700" rIns="0" bIns="0" rtlCol="0">
            <a:spAutoFit/>
          </a:bodyPr>
          <a:lstStyle/>
          <a:p>
            <a:pPr marL="12700">
              <a:lnSpc>
                <a:spcPct val="100000"/>
              </a:lnSpc>
              <a:spcBef>
                <a:spcPts val="100"/>
              </a:spcBef>
            </a:pPr>
            <a:r>
              <a:rPr sz="4000" spc="-5" dirty="0"/>
              <a:t>Dead-Code</a:t>
            </a:r>
            <a:r>
              <a:rPr sz="4000" spc="-50" dirty="0"/>
              <a:t> </a:t>
            </a:r>
            <a:r>
              <a:rPr sz="4000" dirty="0"/>
              <a:t>Elimination</a:t>
            </a:r>
            <a:endParaRPr sz="4000"/>
          </a:p>
        </p:txBody>
      </p:sp>
      <p:sp>
        <p:nvSpPr>
          <p:cNvPr id="3" name="object 3"/>
          <p:cNvSpPr txBox="1"/>
          <p:nvPr/>
        </p:nvSpPr>
        <p:spPr>
          <a:xfrm>
            <a:off x="707390" y="1600708"/>
            <a:ext cx="7599680" cy="2082800"/>
          </a:xfrm>
          <a:prstGeom prst="rect">
            <a:avLst/>
          </a:prstGeom>
        </p:spPr>
        <p:txBody>
          <a:bodyPr vert="horz" wrap="square" lIns="0" tIns="12700" rIns="0" bIns="0" rtlCol="0">
            <a:spAutoFit/>
          </a:bodyPr>
          <a:lstStyle/>
          <a:p>
            <a:pPr marL="242570" marR="96520" indent="-230505">
              <a:lnSpc>
                <a:spcPct val="117000"/>
              </a:lnSpc>
              <a:spcBef>
                <a:spcPts val="100"/>
              </a:spcBef>
              <a:buFont typeface="Arial MT"/>
              <a:buChar char="•"/>
              <a:tabLst>
                <a:tab pos="242570" algn="l"/>
                <a:tab pos="242570" algn="l"/>
              </a:tabLst>
            </a:pPr>
            <a:r>
              <a:rPr sz="2200" dirty="0">
                <a:latin typeface="Palatino Linotype" panose="02040502050505030304"/>
                <a:cs typeface="Palatino Linotype" panose="02040502050505030304"/>
              </a:rPr>
              <a:t>A</a:t>
            </a:r>
            <a:r>
              <a:rPr sz="2200" spc="-130"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variable </a:t>
            </a:r>
            <a:r>
              <a:rPr sz="2200" spc="-5" dirty="0">
                <a:latin typeface="Palatino Linotype" panose="02040502050505030304"/>
                <a:cs typeface="Palatino Linotype" panose="02040502050505030304"/>
              </a:rPr>
              <a:t>is</a:t>
            </a:r>
            <a:r>
              <a:rPr sz="2200" dirty="0">
                <a:latin typeface="Palatino Linotype" panose="02040502050505030304"/>
                <a:cs typeface="Palatino Linotype" panose="02040502050505030304"/>
              </a:rPr>
              <a:t> </a:t>
            </a:r>
            <a:r>
              <a:rPr sz="2200" i="1" dirty="0">
                <a:solidFill>
                  <a:srgbClr val="0432FF"/>
                </a:solidFill>
                <a:latin typeface="Palatino Linotype" panose="02040502050505030304"/>
                <a:cs typeface="Palatino Linotype" panose="02040502050505030304"/>
              </a:rPr>
              <a:t>live</a:t>
            </a:r>
            <a:r>
              <a:rPr sz="2200" i="1" spc="-15" dirty="0">
                <a:solidFill>
                  <a:srgbClr val="0432FF"/>
                </a:solidFill>
                <a:latin typeface="Palatino Linotype" panose="02040502050505030304"/>
                <a:cs typeface="Palatino Linotype" panose="02040502050505030304"/>
              </a:rPr>
              <a:t> </a:t>
            </a:r>
            <a:r>
              <a:rPr sz="2200" dirty="0">
                <a:latin typeface="Palatino Linotype" panose="02040502050505030304"/>
                <a:cs typeface="Palatino Linotype" panose="02040502050505030304"/>
              </a:rPr>
              <a:t>at</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program</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point if its</a:t>
            </a:r>
            <a:r>
              <a:rPr sz="2200" dirty="0">
                <a:latin typeface="Palatino Linotype" panose="02040502050505030304"/>
                <a:cs typeface="Palatino Linotype" panose="02040502050505030304"/>
              </a:rPr>
              <a:t> </a:t>
            </a:r>
            <a:r>
              <a:rPr sz="2200" spc="-15" dirty="0">
                <a:latin typeface="Palatino Linotype" panose="02040502050505030304"/>
                <a:cs typeface="Palatino Linotype" panose="02040502050505030304"/>
              </a:rPr>
              <a:t>value</a:t>
            </a:r>
            <a:r>
              <a:rPr sz="2200" spc="-5" dirty="0">
                <a:latin typeface="Palatino Linotype" panose="02040502050505030304"/>
                <a:cs typeface="Palatino Linotype" panose="02040502050505030304"/>
              </a:rPr>
              <a:t> can</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 used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subsequently; otherwise,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it is</a:t>
            </a:r>
            <a:r>
              <a:rPr sz="2200" dirty="0">
                <a:latin typeface="Palatino Linotype" panose="02040502050505030304"/>
                <a:cs typeface="Palatino Linotype" panose="02040502050505030304"/>
              </a:rPr>
              <a:t> </a:t>
            </a:r>
            <a:r>
              <a:rPr sz="2200" i="1" spc="-5" dirty="0">
                <a:solidFill>
                  <a:srgbClr val="0432FF"/>
                </a:solidFill>
                <a:latin typeface="Palatino Linotype" panose="02040502050505030304"/>
                <a:cs typeface="Palatino Linotype" panose="02040502050505030304"/>
              </a:rPr>
              <a:t>dead </a:t>
            </a:r>
            <a:r>
              <a:rPr sz="2200" dirty="0">
                <a:latin typeface="Palatino Linotype" panose="02040502050505030304"/>
                <a:cs typeface="Palatino Linotype" panose="02040502050505030304"/>
              </a:rPr>
              <a:t>at</a:t>
            </a:r>
            <a:r>
              <a:rPr sz="2200" spc="-5" dirty="0">
                <a:latin typeface="Palatino Linotype" panose="02040502050505030304"/>
                <a:cs typeface="Palatino Linotype" panose="02040502050505030304"/>
              </a:rPr>
              <a:t> that point</a:t>
            </a:r>
            <a:endParaRPr sz="2200">
              <a:latin typeface="Palatino Linotype" panose="02040502050505030304"/>
              <a:cs typeface="Palatino Linotype" panose="02040502050505030304"/>
            </a:endParaRPr>
          </a:p>
          <a:p>
            <a:pPr marL="243205" indent="-230505">
              <a:lnSpc>
                <a:spcPct val="100000"/>
              </a:lnSpc>
              <a:spcBef>
                <a:spcPts val="2350"/>
              </a:spcBef>
              <a:buClr>
                <a:srgbClr val="000000"/>
              </a:buClr>
              <a:buFont typeface="Arial MT"/>
              <a:buChar char="•"/>
              <a:tabLst>
                <a:tab pos="242570" algn="l"/>
                <a:tab pos="242570" algn="l"/>
              </a:tabLst>
            </a:pPr>
            <a:r>
              <a:rPr sz="2200" i="1" spc="-5" dirty="0">
                <a:solidFill>
                  <a:srgbClr val="0432FF"/>
                </a:solidFill>
                <a:latin typeface="Palatino Linotype" panose="02040502050505030304"/>
                <a:cs typeface="Palatino Linotype" panose="02040502050505030304"/>
              </a:rPr>
              <a:t>Dead code</a:t>
            </a:r>
            <a:r>
              <a:rPr sz="2200" spc="-5" dirty="0">
                <a:latin typeface="Palatino Linotype" panose="02040502050505030304"/>
                <a:cs typeface="Palatino Linotype" panose="02040502050505030304"/>
              </a:rPr>
              <a:t>: Statements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computing </a:t>
            </a:r>
            <a:r>
              <a:rPr sz="2200" spc="-15" dirty="0">
                <a:latin typeface="Palatino Linotype" panose="02040502050505030304"/>
                <a:cs typeface="Palatino Linotype" panose="02040502050505030304"/>
              </a:rPr>
              <a:t>values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 </a:t>
            </a:r>
            <a:r>
              <a:rPr sz="2200" dirty="0">
                <a:latin typeface="Palatino Linotype" panose="02040502050505030304"/>
                <a:cs typeface="Palatino Linotype" panose="02040502050505030304"/>
              </a:rPr>
              <a:t>are</a:t>
            </a:r>
            <a:r>
              <a:rPr sz="2200" spc="-10" dirty="0">
                <a:latin typeface="Palatino Linotype" panose="02040502050505030304"/>
                <a:cs typeface="Palatino Linotype" panose="02040502050505030304"/>
              </a:rPr>
              <a:t> </a:t>
            </a:r>
            <a:r>
              <a:rPr sz="2200" spc="-15" dirty="0">
                <a:latin typeface="Palatino Linotype" panose="02040502050505030304"/>
                <a:cs typeface="Palatino Linotype" panose="02040502050505030304"/>
              </a:rPr>
              <a:t>never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used</a:t>
            </a:r>
            <a:endParaRPr sz="2200">
              <a:latin typeface="Palatino Linotype" panose="02040502050505030304"/>
              <a:cs typeface="Palatino Linotype" panose="02040502050505030304"/>
            </a:endParaRPr>
          </a:p>
          <a:p>
            <a:pPr marL="243205" indent="-230505">
              <a:lnSpc>
                <a:spcPct val="100000"/>
              </a:lnSpc>
              <a:spcBef>
                <a:spcPts val="2375"/>
              </a:spcBef>
              <a:buFont typeface="Arial MT"/>
              <a:buChar char="•"/>
              <a:tabLst>
                <a:tab pos="242570" algn="l"/>
                <a:tab pos="242570" algn="l"/>
              </a:tabLst>
            </a:pPr>
            <a:r>
              <a:rPr sz="2200" spc="-5" dirty="0">
                <a:latin typeface="Palatino Linotype" panose="02040502050505030304"/>
                <a:cs typeface="Palatino Linotype" panose="02040502050505030304"/>
              </a:rPr>
              <a:t>Dead</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code</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appears </a:t>
            </a:r>
            <a:r>
              <a:rPr sz="2200" spc="-5" dirty="0">
                <a:latin typeface="Palatino Linotype" panose="02040502050505030304"/>
                <a:cs typeface="Palatino Linotype" panose="02040502050505030304"/>
              </a:rPr>
              <a:t>often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because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 optimizations</a:t>
            </a:r>
            <a:endParaRPr sz="2200">
              <a:latin typeface="Palatino Linotype" panose="02040502050505030304"/>
              <a:cs typeface="Palatino Linotype" panose="02040502050505030304"/>
            </a:endParaRPr>
          </a:p>
        </p:txBody>
      </p:sp>
      <p:sp>
        <p:nvSpPr>
          <p:cNvPr id="4" name="object 4"/>
          <p:cNvSpPr txBox="1"/>
          <p:nvPr/>
        </p:nvSpPr>
        <p:spPr>
          <a:xfrm>
            <a:off x="1151885" y="4427968"/>
            <a:ext cx="1451610" cy="1077595"/>
          </a:xfrm>
          <a:prstGeom prst="rect">
            <a:avLst/>
          </a:prstGeom>
          <a:ln w="9525">
            <a:solidFill>
              <a:srgbClr val="000000"/>
            </a:solidFill>
          </a:ln>
        </p:spPr>
        <p:txBody>
          <a:bodyPr vert="horz" wrap="square" lIns="0" tIns="29845" rIns="0" bIns="0" rtlCol="0">
            <a:spAutoFit/>
          </a:bodyPr>
          <a:lstStyle/>
          <a:p>
            <a:pPr marL="90805" marR="240030">
              <a:lnSpc>
                <a:spcPct val="101000"/>
              </a:lnSpc>
              <a:spcBef>
                <a:spcPts val="235"/>
              </a:spcBef>
            </a:pPr>
            <a:r>
              <a:rPr sz="1600" dirty="0">
                <a:solidFill>
                  <a:srgbClr val="FF0000"/>
                </a:solidFill>
                <a:latin typeface="Consolas" panose="020B0609020204030204"/>
                <a:cs typeface="Consolas" panose="020B0609020204030204"/>
              </a:rPr>
              <a:t>x = </a:t>
            </a:r>
            <a:r>
              <a:rPr sz="1600" spc="-5" dirty="0">
                <a:solidFill>
                  <a:srgbClr val="FF0000"/>
                </a:solidFill>
                <a:latin typeface="Consolas" panose="020B0609020204030204"/>
                <a:cs typeface="Consolas" panose="020B0609020204030204"/>
              </a:rPr>
              <a:t>t3 </a:t>
            </a:r>
            <a:r>
              <a:rPr sz="1600" dirty="0">
                <a:solidFill>
                  <a:srgbClr val="FF0000"/>
                </a:solidFill>
                <a:latin typeface="Consolas" panose="020B0609020204030204"/>
                <a:cs typeface="Consolas" panose="020B0609020204030204"/>
              </a:rPr>
              <a:t> </a:t>
            </a:r>
            <a:r>
              <a:rPr sz="1600" spc="-5" dirty="0">
                <a:latin typeface="Consolas" panose="020B0609020204030204"/>
                <a:cs typeface="Consolas" panose="020B0609020204030204"/>
              </a:rPr>
              <a:t>a[t2]</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t5 </a:t>
            </a:r>
            <a:r>
              <a:rPr sz="1600" spc="-865" dirty="0">
                <a:latin typeface="Consolas" panose="020B0609020204030204"/>
                <a:cs typeface="Consolas" panose="020B0609020204030204"/>
              </a:rPr>
              <a:t> </a:t>
            </a:r>
            <a:r>
              <a:rPr sz="1600" spc="-5" dirty="0">
                <a:latin typeface="Consolas" panose="020B0609020204030204"/>
                <a:cs typeface="Consolas" panose="020B0609020204030204"/>
              </a:rPr>
              <a:t>a[t4]</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t3 </a:t>
            </a:r>
            <a:r>
              <a:rPr sz="1600" spc="-865" dirty="0">
                <a:latin typeface="Consolas" panose="020B0609020204030204"/>
                <a:cs typeface="Consolas" panose="020B0609020204030204"/>
              </a:rPr>
              <a:t> </a:t>
            </a:r>
            <a:r>
              <a:rPr sz="1600" spc="-5" dirty="0">
                <a:latin typeface="Consolas" panose="020B0609020204030204"/>
                <a:cs typeface="Consolas" panose="020B0609020204030204"/>
              </a:rPr>
              <a:t>goto</a:t>
            </a:r>
            <a:r>
              <a:rPr sz="1600" spc="-40" dirty="0">
                <a:latin typeface="Consolas" panose="020B0609020204030204"/>
                <a:cs typeface="Consolas" panose="020B0609020204030204"/>
              </a:rPr>
              <a:t> </a:t>
            </a:r>
            <a:r>
              <a:rPr sz="1600" i="1" spc="-5" dirty="0">
                <a:latin typeface="Consolas" panose="020B0609020204030204"/>
                <a:cs typeface="Consolas" panose="020B0609020204030204"/>
              </a:rPr>
              <a:t>B</a:t>
            </a:r>
            <a:r>
              <a:rPr sz="1650" spc="-7" baseline="-15000" dirty="0">
                <a:latin typeface="Consolas" panose="020B0609020204030204"/>
                <a:cs typeface="Consolas" panose="020B0609020204030204"/>
              </a:rPr>
              <a:t>2</a:t>
            </a:r>
            <a:endParaRPr sz="1650" baseline="-15000">
              <a:latin typeface="Consolas" panose="020B0609020204030204"/>
              <a:cs typeface="Consolas" panose="020B0609020204030204"/>
            </a:endParaRPr>
          </a:p>
        </p:txBody>
      </p:sp>
      <p:sp>
        <p:nvSpPr>
          <p:cNvPr id="5" name="object 5"/>
          <p:cNvSpPr txBox="1"/>
          <p:nvPr/>
        </p:nvSpPr>
        <p:spPr>
          <a:xfrm>
            <a:off x="724664" y="4263644"/>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5</a:t>
            </a:r>
            <a:endParaRPr sz="1800" baseline="-14000">
              <a:latin typeface="Palatino Linotype" panose="02040502050505030304"/>
              <a:cs typeface="Palatino Linotype" panose="02040502050505030304"/>
            </a:endParaRPr>
          </a:p>
        </p:txBody>
      </p:sp>
      <p:sp>
        <p:nvSpPr>
          <p:cNvPr id="6" name="object 6"/>
          <p:cNvSpPr txBox="1"/>
          <p:nvPr/>
        </p:nvSpPr>
        <p:spPr>
          <a:xfrm>
            <a:off x="6826083" y="4551078"/>
            <a:ext cx="1451610" cy="831215"/>
          </a:xfrm>
          <a:prstGeom prst="rect">
            <a:avLst/>
          </a:prstGeom>
          <a:ln w="9525">
            <a:solidFill>
              <a:srgbClr val="000000"/>
            </a:solidFill>
          </a:ln>
        </p:spPr>
        <p:txBody>
          <a:bodyPr vert="horz" wrap="square" lIns="0" tIns="43815" rIns="0" bIns="0" rtlCol="0">
            <a:spAutoFit/>
          </a:bodyPr>
          <a:lstStyle/>
          <a:p>
            <a:pPr marL="91440" marR="240030" algn="just">
              <a:lnSpc>
                <a:spcPts val="1900"/>
              </a:lnSpc>
              <a:spcBef>
                <a:spcPts val="345"/>
              </a:spcBef>
            </a:pPr>
            <a:r>
              <a:rPr sz="1600" spc="-5" dirty="0">
                <a:latin typeface="Consolas" panose="020B0609020204030204"/>
                <a:cs typeface="Consolas" panose="020B0609020204030204"/>
              </a:rPr>
              <a:t>a[t2]</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t5 </a:t>
            </a:r>
            <a:r>
              <a:rPr sz="1600" spc="-869" dirty="0">
                <a:latin typeface="Consolas" panose="020B0609020204030204"/>
                <a:cs typeface="Consolas" panose="020B0609020204030204"/>
              </a:rPr>
              <a:t> </a:t>
            </a:r>
            <a:r>
              <a:rPr sz="1600" spc="-5" dirty="0">
                <a:latin typeface="Consolas" panose="020B0609020204030204"/>
                <a:cs typeface="Consolas" panose="020B0609020204030204"/>
              </a:rPr>
              <a:t>a[t4]</a:t>
            </a:r>
            <a:r>
              <a:rPr sz="1600" spc="-60" dirty="0">
                <a:latin typeface="Consolas" panose="020B0609020204030204"/>
                <a:cs typeface="Consolas" panose="020B0609020204030204"/>
              </a:rPr>
              <a:t> </a:t>
            </a:r>
            <a:r>
              <a:rPr sz="1600" dirty="0">
                <a:latin typeface="Consolas" panose="020B0609020204030204"/>
                <a:cs typeface="Consolas" panose="020B0609020204030204"/>
              </a:rPr>
              <a:t>=</a:t>
            </a:r>
            <a:r>
              <a:rPr sz="1600" spc="-55" dirty="0">
                <a:latin typeface="Consolas" panose="020B0609020204030204"/>
                <a:cs typeface="Consolas" panose="020B0609020204030204"/>
              </a:rPr>
              <a:t> </a:t>
            </a:r>
            <a:r>
              <a:rPr sz="1600" spc="-5" dirty="0">
                <a:latin typeface="Consolas" panose="020B0609020204030204"/>
                <a:cs typeface="Consolas" panose="020B0609020204030204"/>
              </a:rPr>
              <a:t>t3 </a:t>
            </a:r>
            <a:r>
              <a:rPr sz="1600" spc="-869" dirty="0">
                <a:latin typeface="Consolas" panose="020B0609020204030204"/>
                <a:cs typeface="Consolas" panose="020B0609020204030204"/>
              </a:rPr>
              <a:t> </a:t>
            </a:r>
            <a:r>
              <a:rPr sz="1600" spc="-5" dirty="0">
                <a:latin typeface="Consolas" panose="020B0609020204030204"/>
                <a:cs typeface="Consolas" panose="020B0609020204030204"/>
              </a:rPr>
              <a:t>goto</a:t>
            </a:r>
            <a:r>
              <a:rPr sz="1600" spc="-40" dirty="0">
                <a:latin typeface="Consolas" panose="020B0609020204030204"/>
                <a:cs typeface="Consolas" panose="020B0609020204030204"/>
              </a:rPr>
              <a:t> </a:t>
            </a:r>
            <a:r>
              <a:rPr sz="1600" i="1" spc="-5" dirty="0">
                <a:latin typeface="Consolas" panose="020B0609020204030204"/>
                <a:cs typeface="Consolas" panose="020B0609020204030204"/>
              </a:rPr>
              <a:t>B</a:t>
            </a:r>
            <a:r>
              <a:rPr sz="1650" spc="-7" baseline="-15000" dirty="0">
                <a:latin typeface="Consolas" panose="020B0609020204030204"/>
                <a:cs typeface="Consolas" panose="020B0609020204030204"/>
              </a:rPr>
              <a:t>2</a:t>
            </a:r>
            <a:endParaRPr sz="1650" baseline="-15000">
              <a:latin typeface="Consolas" panose="020B0609020204030204"/>
              <a:cs typeface="Consolas" panose="020B0609020204030204"/>
            </a:endParaRPr>
          </a:p>
        </p:txBody>
      </p:sp>
      <p:sp>
        <p:nvSpPr>
          <p:cNvPr id="7" name="object 7"/>
          <p:cNvSpPr txBox="1"/>
          <p:nvPr/>
        </p:nvSpPr>
        <p:spPr>
          <a:xfrm>
            <a:off x="6446362" y="4291076"/>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5</a:t>
            </a:r>
            <a:endParaRPr sz="1800" baseline="-14000">
              <a:latin typeface="Palatino Linotype" panose="02040502050505030304"/>
              <a:cs typeface="Palatino Linotype" panose="02040502050505030304"/>
            </a:endParaRPr>
          </a:p>
        </p:txBody>
      </p:sp>
      <p:sp>
        <p:nvSpPr>
          <p:cNvPr id="8" name="object 8"/>
          <p:cNvSpPr/>
          <p:nvPr/>
        </p:nvSpPr>
        <p:spPr>
          <a:xfrm>
            <a:off x="2602923" y="4914875"/>
            <a:ext cx="4223385" cy="103505"/>
          </a:xfrm>
          <a:custGeom>
            <a:avLst/>
            <a:gdLst/>
            <a:ahLst/>
            <a:cxnLst/>
            <a:rect l="l" t="t" r="r" b="b"/>
            <a:pathLst>
              <a:path w="4223384" h="103504">
                <a:moveTo>
                  <a:pt x="4134557" y="0"/>
                </a:moveTo>
                <a:lnTo>
                  <a:pt x="4130669" y="1022"/>
                </a:lnTo>
                <a:lnTo>
                  <a:pt x="4127135" y="7081"/>
                </a:lnTo>
                <a:lnTo>
                  <a:pt x="4128159" y="10970"/>
                </a:lnTo>
                <a:lnTo>
                  <a:pt x="4187099" y="45351"/>
                </a:lnTo>
                <a:lnTo>
                  <a:pt x="4210618" y="45351"/>
                </a:lnTo>
                <a:lnTo>
                  <a:pt x="4210618" y="58051"/>
                </a:lnTo>
                <a:lnTo>
                  <a:pt x="4187099" y="58051"/>
                </a:lnTo>
                <a:lnTo>
                  <a:pt x="4128159" y="92434"/>
                </a:lnTo>
                <a:lnTo>
                  <a:pt x="4127135" y="96321"/>
                </a:lnTo>
                <a:lnTo>
                  <a:pt x="4130669" y="102381"/>
                </a:lnTo>
                <a:lnTo>
                  <a:pt x="4134557" y="103403"/>
                </a:lnTo>
                <a:lnTo>
                  <a:pt x="4212303" y="58051"/>
                </a:lnTo>
                <a:lnTo>
                  <a:pt x="4210618" y="58051"/>
                </a:lnTo>
                <a:lnTo>
                  <a:pt x="4212305" y="58050"/>
                </a:lnTo>
                <a:lnTo>
                  <a:pt x="4223189" y="51701"/>
                </a:lnTo>
                <a:lnTo>
                  <a:pt x="4134557" y="0"/>
                </a:lnTo>
                <a:close/>
              </a:path>
              <a:path w="4223384" h="103504">
                <a:moveTo>
                  <a:pt x="4197985" y="51701"/>
                </a:moveTo>
                <a:lnTo>
                  <a:pt x="4187099" y="58051"/>
                </a:lnTo>
                <a:lnTo>
                  <a:pt x="4210618" y="58051"/>
                </a:lnTo>
                <a:lnTo>
                  <a:pt x="4210618" y="57186"/>
                </a:lnTo>
                <a:lnTo>
                  <a:pt x="4207388" y="57186"/>
                </a:lnTo>
                <a:lnTo>
                  <a:pt x="4197985" y="51701"/>
                </a:lnTo>
                <a:close/>
              </a:path>
              <a:path w="4223384" h="103504">
                <a:moveTo>
                  <a:pt x="0" y="45350"/>
                </a:moveTo>
                <a:lnTo>
                  <a:pt x="0" y="58050"/>
                </a:lnTo>
                <a:lnTo>
                  <a:pt x="4187101" y="58050"/>
                </a:lnTo>
                <a:lnTo>
                  <a:pt x="4197985" y="51701"/>
                </a:lnTo>
                <a:lnTo>
                  <a:pt x="4187099" y="45351"/>
                </a:lnTo>
                <a:lnTo>
                  <a:pt x="0" y="45350"/>
                </a:lnTo>
                <a:close/>
              </a:path>
              <a:path w="4223384" h="103504">
                <a:moveTo>
                  <a:pt x="4207388" y="46216"/>
                </a:moveTo>
                <a:lnTo>
                  <a:pt x="4197985" y="51701"/>
                </a:lnTo>
                <a:lnTo>
                  <a:pt x="4207388" y="57186"/>
                </a:lnTo>
                <a:lnTo>
                  <a:pt x="4207388" y="46216"/>
                </a:lnTo>
                <a:close/>
              </a:path>
              <a:path w="4223384" h="103504">
                <a:moveTo>
                  <a:pt x="4210618" y="46216"/>
                </a:moveTo>
                <a:lnTo>
                  <a:pt x="4207388" y="46216"/>
                </a:lnTo>
                <a:lnTo>
                  <a:pt x="4207388" y="57186"/>
                </a:lnTo>
                <a:lnTo>
                  <a:pt x="4210618" y="57186"/>
                </a:lnTo>
                <a:lnTo>
                  <a:pt x="4210618" y="46216"/>
                </a:lnTo>
                <a:close/>
              </a:path>
              <a:path w="4223384" h="103504">
                <a:moveTo>
                  <a:pt x="4187099" y="45351"/>
                </a:moveTo>
                <a:lnTo>
                  <a:pt x="4197985" y="51701"/>
                </a:lnTo>
                <a:lnTo>
                  <a:pt x="4207388" y="46216"/>
                </a:lnTo>
                <a:lnTo>
                  <a:pt x="4210618" y="46216"/>
                </a:lnTo>
                <a:lnTo>
                  <a:pt x="4210618" y="45351"/>
                </a:lnTo>
                <a:lnTo>
                  <a:pt x="4187099" y="45351"/>
                </a:lnTo>
                <a:close/>
              </a:path>
            </a:pathLst>
          </a:custGeom>
          <a:solidFill>
            <a:srgbClr val="000000"/>
          </a:solidFill>
        </p:spPr>
        <p:txBody>
          <a:bodyPr wrap="square" lIns="0" tIns="0" rIns="0" bIns="0" rtlCol="0"/>
          <a:lstStyle/>
          <a:p>
            <a:endParaRPr/>
          </a:p>
        </p:txBody>
      </p:sp>
      <p:sp>
        <p:nvSpPr>
          <p:cNvPr id="9" name="object 9"/>
          <p:cNvSpPr txBox="1"/>
          <p:nvPr/>
        </p:nvSpPr>
        <p:spPr>
          <a:xfrm>
            <a:off x="3215996" y="4529835"/>
            <a:ext cx="2903855" cy="739140"/>
          </a:xfrm>
          <a:prstGeom prst="rect">
            <a:avLst/>
          </a:prstGeom>
        </p:spPr>
        <p:txBody>
          <a:bodyPr vert="horz" wrap="square" lIns="0" tIns="12700" rIns="0" bIns="0" rtlCol="0">
            <a:spAutoFit/>
          </a:bodyPr>
          <a:lstStyle/>
          <a:p>
            <a:pPr marL="515620" marR="5080" indent="-503555">
              <a:lnSpc>
                <a:spcPct val="146000"/>
              </a:lnSpc>
              <a:spcBef>
                <a:spcPts val="100"/>
              </a:spcBef>
            </a:pPr>
            <a:r>
              <a:rPr sz="1600" spc="-5" dirty="0">
                <a:solidFill>
                  <a:srgbClr val="FF0000"/>
                </a:solidFill>
                <a:latin typeface="Palatino Linotype" panose="02040502050505030304"/>
                <a:cs typeface="Palatino Linotype" panose="02040502050505030304"/>
              </a:rPr>
              <a:t>Eliminate dead code introduced </a:t>
            </a:r>
            <a:r>
              <a:rPr sz="1600" spc="-38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by</a:t>
            </a:r>
            <a:r>
              <a:rPr sz="1600" spc="-1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copy</a:t>
            </a:r>
            <a:r>
              <a:rPr sz="1600" spc="-10"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propagation</a:t>
            </a:r>
            <a:endParaRPr sz="1600">
              <a:latin typeface="Palatino Linotype" panose="02040502050505030304"/>
              <a:cs typeface="Palatino Linotype" panose="02040502050505030304"/>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3088640" cy="635000"/>
          </a:xfrm>
          <a:prstGeom prst="rect">
            <a:avLst/>
          </a:prstGeom>
        </p:spPr>
        <p:txBody>
          <a:bodyPr vert="horz" wrap="square" lIns="0" tIns="12700" rIns="0" bIns="0" rtlCol="0">
            <a:spAutoFit/>
          </a:bodyPr>
          <a:lstStyle/>
          <a:p>
            <a:pPr marL="12700">
              <a:lnSpc>
                <a:spcPct val="100000"/>
              </a:lnSpc>
              <a:spcBef>
                <a:spcPts val="100"/>
              </a:spcBef>
            </a:pPr>
            <a:r>
              <a:rPr sz="4000" spc="-5" dirty="0"/>
              <a:t>Code</a:t>
            </a:r>
            <a:r>
              <a:rPr sz="4000" spc="-80" dirty="0"/>
              <a:t> </a:t>
            </a:r>
            <a:r>
              <a:rPr sz="4000" dirty="0"/>
              <a:t>Motion</a:t>
            </a:r>
            <a:endParaRPr sz="4000"/>
          </a:p>
        </p:txBody>
      </p:sp>
      <p:sp>
        <p:nvSpPr>
          <p:cNvPr id="3" name="object 3"/>
          <p:cNvSpPr txBox="1"/>
          <p:nvPr/>
        </p:nvSpPr>
        <p:spPr>
          <a:xfrm>
            <a:off x="707390" y="1539747"/>
            <a:ext cx="7593965" cy="241808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200" spc="-5" dirty="0">
                <a:latin typeface="Palatino Linotype" panose="02040502050505030304"/>
                <a:cs typeface="Palatino Linotype" panose="02040502050505030304"/>
              </a:rPr>
              <a:t>Loops</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are</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 </a:t>
            </a:r>
            <a:r>
              <a:rPr sz="2200" spc="-15" dirty="0">
                <a:latin typeface="Palatino Linotype" panose="02040502050505030304"/>
                <a:cs typeface="Palatino Linotype" panose="02040502050505030304"/>
              </a:rPr>
              <a:t>very</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imporant place for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optimizations</a:t>
            </a:r>
            <a:endParaRPr sz="2200">
              <a:latin typeface="Palatino Linotype" panose="02040502050505030304"/>
              <a:cs typeface="Palatino Linotype" panose="02040502050505030304"/>
            </a:endParaRPr>
          </a:p>
          <a:p>
            <a:pPr marL="242570" marR="316865" indent="-230505">
              <a:lnSpc>
                <a:spcPct val="122000"/>
              </a:lnSpc>
              <a:spcBef>
                <a:spcPts val="1680"/>
              </a:spcBef>
              <a:buClr>
                <a:srgbClr val="000000"/>
              </a:buClr>
              <a:buFont typeface="Arial MT"/>
              <a:buChar char="•"/>
              <a:tabLst>
                <a:tab pos="242570" algn="l"/>
                <a:tab pos="242570" algn="l"/>
              </a:tabLst>
            </a:pPr>
            <a:r>
              <a:rPr sz="2200" b="1" i="1" dirty="0">
                <a:solidFill>
                  <a:srgbClr val="0432FF"/>
                </a:solidFill>
                <a:latin typeface="Palatino Linotype" panose="02040502050505030304"/>
                <a:cs typeface="Palatino Linotype" panose="02040502050505030304"/>
              </a:rPr>
              <a:t>Loop</a:t>
            </a:r>
            <a:r>
              <a:rPr sz="2200" b="1" i="1" spc="5" dirty="0">
                <a:solidFill>
                  <a:srgbClr val="0432FF"/>
                </a:solidFill>
                <a:latin typeface="Palatino Linotype" panose="02040502050505030304"/>
                <a:cs typeface="Palatino Linotype" panose="02040502050505030304"/>
              </a:rPr>
              <a:t> </a:t>
            </a:r>
            <a:r>
              <a:rPr sz="2200" b="1" i="1" spc="-5" dirty="0">
                <a:solidFill>
                  <a:srgbClr val="0432FF"/>
                </a:solidFill>
                <a:latin typeface="Palatino Linotype" panose="02040502050505030304"/>
                <a:cs typeface="Palatino Linotype" panose="02040502050505030304"/>
              </a:rPr>
              <a:t>invariant</a:t>
            </a:r>
            <a:r>
              <a:rPr sz="2200" b="1" spc="-5" dirty="0">
                <a:latin typeface="Palatino Linotype" panose="02040502050505030304"/>
                <a:cs typeface="Palatino Linotype" panose="02040502050505030304"/>
              </a:rPr>
              <a:t>:</a:t>
            </a:r>
            <a:r>
              <a:rPr sz="2200" b="1"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an</a:t>
            </a:r>
            <a:r>
              <a:rPr sz="2200" spc="-5" dirty="0">
                <a:latin typeface="Palatino Linotype" panose="02040502050505030304"/>
                <a:cs typeface="Palatino Linotype" panose="02040502050505030304"/>
              </a:rPr>
              <a:t> expression that</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yields</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same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result </a:t>
            </a:r>
            <a:r>
              <a:rPr sz="2200" spc="-53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regardless </a:t>
            </a:r>
            <a:r>
              <a:rPr sz="2200" spc="-5" dirty="0">
                <a:latin typeface="Palatino Linotype" panose="02040502050505030304"/>
                <a:cs typeface="Palatino Linotype" panose="02040502050505030304"/>
              </a:rPr>
              <a:t>of 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number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 times</a:t>
            </a:r>
            <a:r>
              <a:rPr sz="2200" dirty="0">
                <a:latin typeface="Palatino Linotype" panose="02040502050505030304"/>
                <a:cs typeface="Palatino Linotype" panose="02040502050505030304"/>
              </a:rPr>
              <a:t> a </a:t>
            </a:r>
            <a:r>
              <a:rPr sz="2200" spc="-5" dirty="0">
                <a:latin typeface="Palatino Linotype" panose="02040502050505030304"/>
                <a:cs typeface="Palatino Linotype" panose="02040502050505030304"/>
              </a:rPr>
              <a:t>loop is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executed</a:t>
            </a:r>
            <a:endParaRPr sz="2200">
              <a:latin typeface="Palatino Linotype" panose="02040502050505030304"/>
              <a:cs typeface="Palatino Linotype" panose="02040502050505030304"/>
            </a:endParaRPr>
          </a:p>
          <a:p>
            <a:pPr marL="242570" marR="5080" indent="-230505">
              <a:lnSpc>
                <a:spcPct val="117000"/>
              </a:lnSpc>
              <a:spcBef>
                <a:spcPts val="1895"/>
              </a:spcBef>
              <a:buFont typeface="Arial MT"/>
              <a:buChar char="•"/>
              <a:tabLst>
                <a:tab pos="242570" algn="l"/>
                <a:tab pos="242570" algn="l"/>
              </a:tabLst>
            </a:pPr>
            <a:r>
              <a:rPr sz="2200" spc="-10" dirty="0">
                <a:latin typeface="Palatino Linotype" panose="02040502050505030304"/>
                <a:cs typeface="Palatino Linotype" panose="02040502050505030304"/>
              </a:rPr>
              <a:t>Moving</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loop</a:t>
            </a:r>
            <a:r>
              <a:rPr sz="2200"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invariants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spc="5" dirty="0">
                <a:latin typeface="Palatino Linotype" panose="02040502050505030304"/>
                <a:cs typeface="Palatino Linotype" panose="02040502050505030304"/>
              </a:rPr>
              <a:t> </a:t>
            </a:r>
            <a:r>
              <a:rPr sz="2200" spc="-15" dirty="0">
                <a:latin typeface="Palatino Linotype" panose="02040502050505030304"/>
                <a:cs typeface="Palatino Linotype" panose="02040502050505030304"/>
              </a:rPr>
              <a:t>evaluate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them before loops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can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decrease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running</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time of </a:t>
            </a:r>
            <a:r>
              <a:rPr sz="2200" dirty="0">
                <a:latin typeface="Palatino Linotype" panose="02040502050505030304"/>
                <a:cs typeface="Palatino Linotype" panose="02040502050505030304"/>
              </a:rPr>
              <a:t>a program</a:t>
            </a:r>
            <a:endParaRPr sz="2200">
              <a:latin typeface="Palatino Linotype" panose="02040502050505030304"/>
              <a:cs typeface="Palatino Linotype" panose="02040502050505030304"/>
            </a:endParaRPr>
          </a:p>
        </p:txBody>
      </p:sp>
      <p:sp>
        <p:nvSpPr>
          <p:cNvPr id="4" name="object 4"/>
          <p:cNvSpPr txBox="1"/>
          <p:nvPr/>
        </p:nvSpPr>
        <p:spPr>
          <a:xfrm>
            <a:off x="997143" y="4465122"/>
            <a:ext cx="7150100" cy="369570"/>
          </a:xfrm>
          <a:prstGeom prst="rect">
            <a:avLst/>
          </a:prstGeom>
          <a:solidFill>
            <a:srgbClr val="FFF2CC"/>
          </a:solidFill>
          <a:ln w="9525">
            <a:solidFill>
              <a:srgbClr val="000000"/>
            </a:solidFill>
          </a:ln>
        </p:spPr>
        <p:txBody>
          <a:bodyPr vert="horz" wrap="square" lIns="0" tIns="33655" rIns="0" bIns="0" rtlCol="0">
            <a:spAutoFit/>
          </a:bodyPr>
          <a:lstStyle/>
          <a:p>
            <a:pPr marL="91440">
              <a:lnSpc>
                <a:spcPct val="100000"/>
              </a:lnSpc>
              <a:spcBef>
                <a:spcPts val="265"/>
              </a:spcBef>
            </a:pPr>
            <a:r>
              <a:rPr sz="1800" spc="-5" dirty="0">
                <a:latin typeface="Consolas" panose="020B0609020204030204"/>
                <a:cs typeface="Consolas" panose="020B0609020204030204"/>
              </a:rPr>
              <a:t>while</a:t>
            </a:r>
            <a:r>
              <a:rPr sz="1800" spc="-15" dirty="0">
                <a:latin typeface="Consolas" panose="020B0609020204030204"/>
                <a:cs typeface="Consolas" panose="020B0609020204030204"/>
              </a:rPr>
              <a:t> </a:t>
            </a:r>
            <a:r>
              <a:rPr sz="1800" spc="-5" dirty="0">
                <a:latin typeface="Consolas" panose="020B0609020204030204"/>
                <a:cs typeface="Consolas" panose="020B0609020204030204"/>
              </a:rPr>
              <a:t>(i</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&lt;=</a:t>
            </a:r>
            <a:r>
              <a:rPr sz="1800" spc="-20" dirty="0">
                <a:latin typeface="Consolas" panose="020B0609020204030204"/>
                <a:cs typeface="Consolas" panose="020B0609020204030204"/>
              </a:rPr>
              <a:t> </a:t>
            </a:r>
            <a:r>
              <a:rPr sz="1800" spc="-5" dirty="0">
                <a:solidFill>
                  <a:srgbClr val="FF0000"/>
                </a:solidFill>
                <a:latin typeface="Consolas" panose="020B0609020204030204"/>
                <a:cs typeface="Consolas" panose="020B0609020204030204"/>
              </a:rPr>
              <a:t>limit-2</a:t>
            </a:r>
            <a:r>
              <a:rPr sz="1800" spc="-5" dirty="0">
                <a:latin typeface="Consolas" panose="020B0609020204030204"/>
                <a:cs typeface="Consolas" panose="020B0609020204030204"/>
              </a:rPr>
              <a:t>)</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/*statements</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do</a:t>
            </a:r>
            <a:r>
              <a:rPr sz="1800" spc="-15" dirty="0">
                <a:latin typeface="Consolas" panose="020B0609020204030204"/>
                <a:cs typeface="Consolas" panose="020B0609020204030204"/>
              </a:rPr>
              <a:t> </a:t>
            </a:r>
            <a:r>
              <a:rPr sz="1800" spc="-5" dirty="0">
                <a:latin typeface="Consolas" panose="020B0609020204030204"/>
                <a:cs typeface="Consolas" panose="020B0609020204030204"/>
              </a:rPr>
              <a:t>not</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change</a:t>
            </a:r>
            <a:r>
              <a:rPr sz="1800" spc="-15" dirty="0">
                <a:latin typeface="Consolas" panose="020B0609020204030204"/>
                <a:cs typeface="Consolas" panose="020B0609020204030204"/>
              </a:rPr>
              <a:t> </a:t>
            </a:r>
            <a:r>
              <a:rPr sz="1800" spc="-5" dirty="0">
                <a:latin typeface="Consolas" panose="020B0609020204030204"/>
                <a:cs typeface="Consolas" panose="020B0609020204030204"/>
              </a:rPr>
              <a:t>limit*/</a:t>
            </a:r>
            <a:endParaRPr sz="1800">
              <a:latin typeface="Consolas" panose="020B0609020204030204"/>
              <a:cs typeface="Consolas" panose="020B0609020204030204"/>
            </a:endParaRPr>
          </a:p>
        </p:txBody>
      </p:sp>
      <p:sp>
        <p:nvSpPr>
          <p:cNvPr id="5" name="object 5"/>
          <p:cNvSpPr txBox="1"/>
          <p:nvPr/>
        </p:nvSpPr>
        <p:spPr>
          <a:xfrm>
            <a:off x="997143" y="5392165"/>
            <a:ext cx="7150100" cy="646430"/>
          </a:xfrm>
          <a:prstGeom prst="rect">
            <a:avLst/>
          </a:prstGeom>
          <a:solidFill>
            <a:srgbClr val="FFF2CC"/>
          </a:solidFill>
          <a:ln w="9525">
            <a:solidFill>
              <a:srgbClr val="000000"/>
            </a:solidFill>
          </a:ln>
        </p:spPr>
        <p:txBody>
          <a:bodyPr vert="horz" wrap="square" lIns="0" tIns="33020" rIns="0" bIns="0" rtlCol="0">
            <a:spAutoFit/>
          </a:bodyPr>
          <a:lstStyle/>
          <a:p>
            <a:pPr marL="91440">
              <a:lnSpc>
                <a:spcPct val="100000"/>
              </a:lnSpc>
              <a:spcBef>
                <a:spcPts val="260"/>
              </a:spcBef>
            </a:pPr>
            <a:r>
              <a:rPr sz="1800" dirty="0">
                <a:solidFill>
                  <a:srgbClr val="FF0000"/>
                </a:solidFill>
                <a:latin typeface="Consolas" panose="020B0609020204030204"/>
                <a:cs typeface="Consolas" panose="020B0609020204030204"/>
              </a:rPr>
              <a:t>t</a:t>
            </a:r>
            <a:r>
              <a:rPr sz="1800" spc="-45" dirty="0">
                <a:solidFill>
                  <a:srgbClr val="FF0000"/>
                </a:solidFill>
                <a:latin typeface="Consolas" panose="020B0609020204030204"/>
                <a:cs typeface="Consolas" panose="020B0609020204030204"/>
              </a:rPr>
              <a:t> </a:t>
            </a:r>
            <a:r>
              <a:rPr sz="1800" dirty="0">
                <a:solidFill>
                  <a:srgbClr val="FF0000"/>
                </a:solidFill>
                <a:latin typeface="Consolas" panose="020B0609020204030204"/>
                <a:cs typeface="Consolas" panose="020B0609020204030204"/>
              </a:rPr>
              <a:t>=</a:t>
            </a:r>
            <a:r>
              <a:rPr sz="1800" spc="-40" dirty="0">
                <a:solidFill>
                  <a:srgbClr val="FF0000"/>
                </a:solidFill>
                <a:latin typeface="Consolas" panose="020B0609020204030204"/>
                <a:cs typeface="Consolas" panose="020B0609020204030204"/>
              </a:rPr>
              <a:t> </a:t>
            </a:r>
            <a:r>
              <a:rPr sz="1800" spc="-5" dirty="0">
                <a:solidFill>
                  <a:srgbClr val="FF0000"/>
                </a:solidFill>
                <a:latin typeface="Consolas" panose="020B0609020204030204"/>
                <a:cs typeface="Consolas" panose="020B0609020204030204"/>
              </a:rPr>
              <a:t>limit-2</a:t>
            </a:r>
            <a:endParaRPr sz="1800">
              <a:latin typeface="Consolas" panose="020B0609020204030204"/>
              <a:cs typeface="Consolas" panose="020B0609020204030204"/>
            </a:endParaRPr>
          </a:p>
          <a:p>
            <a:pPr marL="91440">
              <a:lnSpc>
                <a:spcPct val="100000"/>
              </a:lnSpc>
              <a:spcBef>
                <a:spcPts val="50"/>
              </a:spcBef>
            </a:pPr>
            <a:r>
              <a:rPr sz="1800" spc="-5" dirty="0">
                <a:latin typeface="Consolas" panose="020B0609020204030204"/>
                <a:cs typeface="Consolas" panose="020B0609020204030204"/>
              </a:rPr>
              <a:t>while</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(i</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&lt;=</a:t>
            </a:r>
            <a:r>
              <a:rPr sz="1800" spc="-15" dirty="0">
                <a:latin typeface="Consolas" panose="020B0609020204030204"/>
                <a:cs typeface="Consolas" panose="020B0609020204030204"/>
              </a:rPr>
              <a:t> </a:t>
            </a:r>
            <a:r>
              <a:rPr sz="1800" spc="-5" dirty="0">
                <a:solidFill>
                  <a:srgbClr val="FF0000"/>
                </a:solidFill>
                <a:latin typeface="Consolas" panose="020B0609020204030204"/>
                <a:cs typeface="Consolas" panose="020B0609020204030204"/>
              </a:rPr>
              <a:t>t</a:t>
            </a:r>
            <a:r>
              <a:rPr sz="1800" spc="-5" dirty="0">
                <a:latin typeface="Consolas" panose="020B0609020204030204"/>
                <a:cs typeface="Consolas" panose="020B0609020204030204"/>
              </a:rPr>
              <a:t>)</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/*statements</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do</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not</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change</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limit</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or</a:t>
            </a:r>
            <a:r>
              <a:rPr sz="1800" spc="-10" dirty="0">
                <a:latin typeface="Consolas" panose="020B0609020204030204"/>
                <a:cs typeface="Consolas" panose="020B0609020204030204"/>
              </a:rPr>
              <a:t> </a:t>
            </a:r>
            <a:r>
              <a:rPr sz="1800" spc="-5" dirty="0">
                <a:latin typeface="Consolas" panose="020B0609020204030204"/>
                <a:cs typeface="Consolas" panose="020B0609020204030204"/>
              </a:rPr>
              <a:t>t*/</a:t>
            </a:r>
            <a:endParaRPr sz="1800">
              <a:latin typeface="Consolas" panose="020B0609020204030204"/>
              <a:cs typeface="Consolas" panose="020B0609020204030204"/>
            </a:endParaRPr>
          </a:p>
        </p:txBody>
      </p:sp>
      <p:sp>
        <p:nvSpPr>
          <p:cNvPr id="6" name="object 6"/>
          <p:cNvSpPr/>
          <p:nvPr/>
        </p:nvSpPr>
        <p:spPr>
          <a:xfrm>
            <a:off x="3415893" y="4834454"/>
            <a:ext cx="103505" cy="558165"/>
          </a:xfrm>
          <a:custGeom>
            <a:avLst/>
            <a:gdLst/>
            <a:ahLst/>
            <a:cxnLst/>
            <a:rect l="l" t="t" r="r" b="b"/>
            <a:pathLst>
              <a:path w="103504" h="558164">
                <a:moveTo>
                  <a:pt x="7081" y="461686"/>
                </a:moveTo>
                <a:lnTo>
                  <a:pt x="1023" y="465220"/>
                </a:lnTo>
                <a:lnTo>
                  <a:pt x="0" y="469108"/>
                </a:lnTo>
                <a:lnTo>
                  <a:pt x="51701" y="557740"/>
                </a:lnTo>
                <a:lnTo>
                  <a:pt x="59052" y="545138"/>
                </a:lnTo>
                <a:lnTo>
                  <a:pt x="45351" y="545138"/>
                </a:lnTo>
                <a:lnTo>
                  <a:pt x="45351" y="521650"/>
                </a:lnTo>
                <a:lnTo>
                  <a:pt x="10970" y="462709"/>
                </a:lnTo>
                <a:lnTo>
                  <a:pt x="7081" y="461686"/>
                </a:lnTo>
                <a:close/>
              </a:path>
              <a:path w="103504" h="558164">
                <a:moveTo>
                  <a:pt x="45351" y="521650"/>
                </a:moveTo>
                <a:lnTo>
                  <a:pt x="45351" y="545138"/>
                </a:lnTo>
                <a:lnTo>
                  <a:pt x="58051" y="545138"/>
                </a:lnTo>
                <a:lnTo>
                  <a:pt x="58051" y="541939"/>
                </a:lnTo>
                <a:lnTo>
                  <a:pt x="46216" y="541939"/>
                </a:lnTo>
                <a:lnTo>
                  <a:pt x="51701" y="532536"/>
                </a:lnTo>
                <a:lnTo>
                  <a:pt x="45351" y="521650"/>
                </a:lnTo>
                <a:close/>
              </a:path>
              <a:path w="103504" h="558164">
                <a:moveTo>
                  <a:pt x="96321" y="461686"/>
                </a:moveTo>
                <a:lnTo>
                  <a:pt x="92434" y="462709"/>
                </a:lnTo>
                <a:lnTo>
                  <a:pt x="58052" y="521650"/>
                </a:lnTo>
                <a:lnTo>
                  <a:pt x="58051" y="545138"/>
                </a:lnTo>
                <a:lnTo>
                  <a:pt x="59052" y="545138"/>
                </a:lnTo>
                <a:lnTo>
                  <a:pt x="103404" y="469108"/>
                </a:lnTo>
                <a:lnTo>
                  <a:pt x="102381" y="465220"/>
                </a:lnTo>
                <a:lnTo>
                  <a:pt x="96321" y="461686"/>
                </a:lnTo>
                <a:close/>
              </a:path>
              <a:path w="103504" h="558164">
                <a:moveTo>
                  <a:pt x="51701" y="532536"/>
                </a:moveTo>
                <a:lnTo>
                  <a:pt x="46216" y="541939"/>
                </a:lnTo>
                <a:lnTo>
                  <a:pt x="57186" y="541939"/>
                </a:lnTo>
                <a:lnTo>
                  <a:pt x="51701" y="532536"/>
                </a:lnTo>
                <a:close/>
              </a:path>
              <a:path w="103504" h="558164">
                <a:moveTo>
                  <a:pt x="58051" y="521650"/>
                </a:moveTo>
                <a:lnTo>
                  <a:pt x="51701" y="532536"/>
                </a:lnTo>
                <a:lnTo>
                  <a:pt x="57186" y="541939"/>
                </a:lnTo>
                <a:lnTo>
                  <a:pt x="58051" y="541939"/>
                </a:lnTo>
                <a:lnTo>
                  <a:pt x="58051" y="521650"/>
                </a:lnTo>
                <a:close/>
              </a:path>
              <a:path w="103504" h="558164">
                <a:moveTo>
                  <a:pt x="58051" y="0"/>
                </a:moveTo>
                <a:lnTo>
                  <a:pt x="45351" y="0"/>
                </a:lnTo>
                <a:lnTo>
                  <a:pt x="45352" y="521650"/>
                </a:lnTo>
                <a:lnTo>
                  <a:pt x="51701" y="532536"/>
                </a:lnTo>
                <a:lnTo>
                  <a:pt x="58051" y="521650"/>
                </a:lnTo>
                <a:lnTo>
                  <a:pt x="58051" y="0"/>
                </a:lnTo>
                <a:close/>
              </a:path>
            </a:pathLst>
          </a:custGeom>
          <a:solidFill>
            <a:srgbClr val="000000"/>
          </a:solidFill>
        </p:spPr>
        <p:txBody>
          <a:bodyPr wrap="square" lIns="0" tIns="0" rIns="0" bIns="0" rtlCol="0"/>
          <a:lstStyle/>
          <a:p>
            <a:endParaRPr/>
          </a:p>
        </p:txBody>
      </p:sp>
      <p:sp>
        <p:nvSpPr>
          <p:cNvPr id="7" name="object 7"/>
          <p:cNvSpPr txBox="1"/>
          <p:nvPr/>
        </p:nvSpPr>
        <p:spPr>
          <a:xfrm>
            <a:off x="3647626" y="4965700"/>
            <a:ext cx="3401060" cy="269240"/>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FF0000"/>
                </a:solidFill>
                <a:latin typeface="Palatino Linotype" panose="02040502050505030304"/>
                <a:cs typeface="Palatino Linotype" panose="02040502050505030304"/>
              </a:rPr>
              <a:t>Code</a:t>
            </a:r>
            <a:r>
              <a:rPr sz="1600" spc="-10"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motion</a:t>
            </a:r>
            <a:r>
              <a:rPr sz="1600" spc="5"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(moving</a:t>
            </a:r>
            <a:r>
              <a:rPr sz="1600" spc="-10"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loop</a:t>
            </a:r>
            <a:r>
              <a:rPr sz="1600"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invariant)</a:t>
            </a:r>
            <a:endParaRPr sz="1600">
              <a:latin typeface="Palatino Linotype" panose="02040502050505030304"/>
              <a:cs typeface="Palatino Linotype" panose="02040502050505030304"/>
            </a:endParaRPr>
          </a:p>
        </p:txBody>
      </p:sp>
      <p:sp>
        <p:nvSpPr>
          <p:cNvPr id="8" name="object 8"/>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9" name="object 9"/>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0" name="object 10"/>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20</a:t>
            </a:fld>
            <a:endParaRPr dirty="0"/>
          </a:p>
        </p:txBody>
      </p:sp>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p:nvPr/>
        </p:nvSpPr>
        <p:spPr>
          <a:xfrm>
            <a:off x="707390" y="1829307"/>
            <a:ext cx="6256020" cy="3665220"/>
          </a:xfrm>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z="2800" spc="-10" dirty="0">
                <a:solidFill>
                  <a:srgbClr val="A6A6A6"/>
                </a:solidFill>
                <a:latin typeface="Palatino Linotype" panose="02040502050505030304"/>
                <a:cs typeface="Palatino Linotype" panose="02040502050505030304"/>
              </a:rPr>
              <a:t>Introduction</a:t>
            </a:r>
            <a:endParaRPr sz="2800">
              <a:latin typeface="Palatino Linotype" panose="02040502050505030304"/>
              <a:cs typeface="Palatino Linotype" panose="02040502050505030304"/>
            </a:endParaRPr>
          </a:p>
          <a:p>
            <a:pPr>
              <a:lnSpc>
                <a:spcPct val="100000"/>
              </a:lnSpc>
              <a:spcBef>
                <a:spcPts val="5"/>
              </a:spcBef>
              <a:buFont typeface="Arial MT"/>
              <a:buChar char="•"/>
            </a:pPr>
            <a:endParaRPr sz="3800">
              <a:latin typeface="Palatino Linotype" panose="02040502050505030304"/>
              <a:cs typeface="Palatino Linotype" panose="02040502050505030304"/>
            </a:endParaRPr>
          </a:p>
          <a:p>
            <a:pPr marL="243205" indent="-230505">
              <a:lnSpc>
                <a:spcPct val="100000"/>
              </a:lnSpc>
              <a:spcBef>
                <a:spcPts val="5"/>
              </a:spcBef>
              <a:buClr>
                <a:srgbClr val="000000"/>
              </a:buClr>
              <a:buFont typeface="Arial MT"/>
              <a:buChar char="•"/>
              <a:tabLst>
                <a:tab pos="242570" algn="l"/>
              </a:tabLst>
            </a:pPr>
            <a:r>
              <a:rPr sz="2800" spc="-5" dirty="0">
                <a:solidFill>
                  <a:srgbClr val="A6A6A6"/>
                </a:solidFill>
                <a:latin typeface="Palatino Linotype" panose="02040502050505030304"/>
                <a:cs typeface="Palatino Linotype" panose="02040502050505030304"/>
              </a:rPr>
              <a:t>The</a:t>
            </a:r>
            <a:r>
              <a:rPr sz="2800" spc="-2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Principal</a:t>
            </a:r>
            <a:r>
              <a:rPr sz="2800" spc="-2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Sources</a:t>
            </a:r>
            <a:r>
              <a:rPr sz="2800" spc="-1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of</a:t>
            </a:r>
            <a:r>
              <a:rPr sz="2800" spc="-1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Optimization</a:t>
            </a:r>
            <a:endParaRPr sz="2800">
              <a:latin typeface="Palatino Linotype" panose="02040502050505030304"/>
              <a:cs typeface="Palatino Linotype" panose="02040502050505030304"/>
            </a:endParaRPr>
          </a:p>
          <a:p>
            <a:pPr>
              <a:lnSpc>
                <a:spcPct val="100000"/>
              </a:lnSpc>
              <a:spcBef>
                <a:spcPts val="45"/>
              </a:spcBef>
              <a:buFont typeface="Arial MT"/>
              <a:buChar char="•"/>
            </a:pPr>
            <a:endParaRPr sz="3700">
              <a:latin typeface="Palatino Linotype" panose="02040502050505030304"/>
              <a:cs typeface="Palatino Linotype" panose="02040502050505030304"/>
            </a:endParaRPr>
          </a:p>
          <a:p>
            <a:pPr marL="243205" indent="-230505">
              <a:lnSpc>
                <a:spcPct val="100000"/>
              </a:lnSpc>
              <a:buFont typeface="Arial MT"/>
              <a:buChar char="•"/>
              <a:tabLst>
                <a:tab pos="242570" algn="l"/>
              </a:tabLst>
            </a:pPr>
            <a:r>
              <a:rPr sz="2800" spc="-10" dirty="0">
                <a:latin typeface="Palatino Linotype" panose="02040502050505030304"/>
                <a:cs typeface="Palatino Linotype" panose="02040502050505030304"/>
              </a:rPr>
              <a:t>Introduction</a:t>
            </a:r>
            <a:r>
              <a:rPr sz="2800" spc="-5" dirty="0">
                <a:latin typeface="Palatino Linotype" panose="02040502050505030304"/>
                <a:cs typeface="Palatino Linotype" panose="02040502050505030304"/>
              </a:rPr>
              <a:t> to</a:t>
            </a:r>
            <a:r>
              <a:rPr sz="280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9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Analysis</a:t>
            </a:r>
            <a:endParaRPr sz="2800">
              <a:latin typeface="Palatino Linotype" panose="02040502050505030304"/>
              <a:cs typeface="Palatino Linotype" panose="02040502050505030304"/>
            </a:endParaRPr>
          </a:p>
          <a:p>
            <a:pPr>
              <a:lnSpc>
                <a:spcPct val="100000"/>
              </a:lnSpc>
              <a:spcBef>
                <a:spcPts val="50"/>
              </a:spcBef>
              <a:buFont typeface="Arial MT"/>
              <a:buChar char="•"/>
            </a:pPr>
            <a:endParaRPr sz="370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Lst>
            </a:pPr>
            <a:r>
              <a:rPr sz="2800" spc="-5" dirty="0">
                <a:solidFill>
                  <a:srgbClr val="A6A6A6"/>
                </a:solidFill>
                <a:latin typeface="Palatino Linotype" panose="02040502050505030304"/>
                <a:cs typeface="Palatino Linotype" panose="02040502050505030304"/>
              </a:rPr>
              <a:t>Classic</a:t>
            </a:r>
            <a:r>
              <a:rPr sz="2800" spc="-25"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Data-Flow</a:t>
            </a:r>
            <a:r>
              <a:rPr sz="2800" spc="-10" dirty="0">
                <a:solidFill>
                  <a:srgbClr val="A6A6A6"/>
                </a:solidFill>
                <a:latin typeface="Palatino Linotype" panose="02040502050505030304"/>
                <a:cs typeface="Palatino Linotype" panose="02040502050505030304"/>
              </a:rPr>
              <a:t> </a:t>
            </a:r>
            <a:r>
              <a:rPr sz="2800" spc="-5" dirty="0">
                <a:solidFill>
                  <a:srgbClr val="A6A6A6"/>
                </a:solidFill>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21</a:t>
            </a:fld>
            <a:endParaRPr dirty="0"/>
          </a:p>
        </p:txBody>
      </p:sp>
      <p:sp>
        <p:nvSpPr>
          <p:cNvPr id="2" name="object 2"/>
          <p:cNvSpPr txBox="1">
            <a:spLocks noGrp="1"/>
          </p:cNvSpPr>
          <p:nvPr>
            <p:ph type="title"/>
          </p:nvPr>
        </p:nvSpPr>
        <p:spPr>
          <a:xfrm>
            <a:off x="707390" y="524763"/>
            <a:ext cx="6758305" cy="635000"/>
          </a:xfrm>
          <a:prstGeom prst="rect">
            <a:avLst/>
          </a:prstGeom>
        </p:spPr>
        <p:txBody>
          <a:bodyPr vert="horz" wrap="square" lIns="0" tIns="12700" rIns="0" bIns="0" rtlCol="0">
            <a:spAutoFit/>
          </a:bodyPr>
          <a:lstStyle/>
          <a:p>
            <a:pPr marL="12700">
              <a:lnSpc>
                <a:spcPct val="100000"/>
              </a:lnSpc>
              <a:spcBef>
                <a:spcPts val="100"/>
              </a:spcBef>
            </a:pPr>
            <a:r>
              <a:rPr sz="4000" spc="-5" dirty="0"/>
              <a:t>What</a:t>
            </a:r>
            <a:r>
              <a:rPr sz="4000" spc="-10" dirty="0"/>
              <a:t> </a:t>
            </a:r>
            <a:r>
              <a:rPr sz="4000" dirty="0"/>
              <a:t>Is</a:t>
            </a:r>
            <a:r>
              <a:rPr sz="4000" spc="-15" dirty="0"/>
              <a:t> </a:t>
            </a:r>
            <a:r>
              <a:rPr sz="4000" dirty="0"/>
              <a:t>Data-Flow</a:t>
            </a:r>
            <a:r>
              <a:rPr sz="4000" spc="-10" dirty="0"/>
              <a:t> </a:t>
            </a:r>
            <a:r>
              <a:rPr sz="4000" spc="-5" dirty="0"/>
              <a:t>Analysis?</a:t>
            </a:r>
            <a:endParaRPr sz="4000"/>
          </a:p>
        </p:txBody>
      </p:sp>
      <p:sp>
        <p:nvSpPr>
          <p:cNvPr id="3" name="object 3"/>
          <p:cNvSpPr txBox="1"/>
          <p:nvPr/>
        </p:nvSpPr>
        <p:spPr>
          <a:xfrm>
            <a:off x="707390" y="1600708"/>
            <a:ext cx="7691120" cy="3302000"/>
          </a:xfrm>
          <a:prstGeom prst="rect">
            <a:avLst/>
          </a:prstGeom>
        </p:spPr>
        <p:txBody>
          <a:bodyPr vert="horz" wrap="square" lIns="0" tIns="12700" rIns="0" bIns="0" rtlCol="0">
            <a:spAutoFit/>
          </a:bodyPr>
          <a:lstStyle/>
          <a:p>
            <a:pPr marL="242570" marR="12065" indent="-230505">
              <a:lnSpc>
                <a:spcPct val="117000"/>
              </a:lnSpc>
              <a:spcBef>
                <a:spcPts val="100"/>
              </a:spcBef>
              <a:buFont typeface="Arial MT"/>
              <a:buChar char="•"/>
              <a:tabLst>
                <a:tab pos="242570" algn="l"/>
                <a:tab pos="242570" algn="l"/>
              </a:tabLst>
            </a:pPr>
            <a:r>
              <a:rPr sz="2200" dirty="0">
                <a:latin typeface="Palatino Linotype" panose="02040502050505030304"/>
                <a:cs typeface="Palatino Linotype" panose="02040502050505030304"/>
              </a:rPr>
              <a:t>A</a:t>
            </a:r>
            <a:r>
              <a:rPr sz="2200" spc="-13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body</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techniques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a:t>
            </a:r>
            <a:r>
              <a:rPr sz="2200" spc="-10" dirty="0">
                <a:solidFill>
                  <a:srgbClr val="FF0000"/>
                </a:solidFill>
                <a:latin typeface="Palatino Linotype" panose="02040502050505030304"/>
                <a:cs typeface="Palatino Linotype" panose="02040502050505030304"/>
              </a:rPr>
              <a:t> </a:t>
            </a:r>
            <a:r>
              <a:rPr sz="2200" u="sng" spc="-10" dirty="0">
                <a:solidFill>
                  <a:srgbClr val="FF0000"/>
                </a:solidFill>
                <a:uFill>
                  <a:solidFill>
                    <a:srgbClr val="FF0000"/>
                  </a:solidFill>
                </a:uFill>
                <a:latin typeface="Palatino Linotype" panose="02040502050505030304"/>
                <a:cs typeface="Palatino Linotype" panose="02040502050505030304"/>
              </a:rPr>
              <a:t>derive</a:t>
            </a:r>
            <a:r>
              <a:rPr sz="2200" u="sng" spc="-5" dirty="0">
                <a:solidFill>
                  <a:srgbClr val="FF0000"/>
                </a:solidFill>
                <a:uFill>
                  <a:solidFill>
                    <a:srgbClr val="FF0000"/>
                  </a:solidFill>
                </a:uFill>
                <a:latin typeface="Palatino Linotype" panose="02040502050505030304"/>
                <a:cs typeface="Palatino Linotype" panose="02040502050505030304"/>
              </a:rPr>
              <a:t> information</a:t>
            </a:r>
            <a:r>
              <a:rPr sz="2200" u="sng" spc="-15" dirty="0">
                <a:solidFill>
                  <a:srgbClr val="FF0000"/>
                </a:solidFill>
                <a:uFill>
                  <a:solidFill>
                    <a:srgbClr val="FF0000"/>
                  </a:solidFill>
                </a:uFill>
                <a:latin typeface="Palatino Linotype" panose="02040502050505030304"/>
                <a:cs typeface="Palatino Linotype" panose="02040502050505030304"/>
              </a:rPr>
              <a:t> </a:t>
            </a:r>
            <a:r>
              <a:rPr sz="2200" u="sng" spc="-5" dirty="0">
                <a:solidFill>
                  <a:srgbClr val="FF0000"/>
                </a:solidFill>
                <a:uFill>
                  <a:solidFill>
                    <a:srgbClr val="FF0000"/>
                  </a:solidFill>
                </a:uFill>
                <a:latin typeface="Palatino Linotype" panose="02040502050505030304"/>
                <a:cs typeface="Palatino Linotype" panose="02040502050505030304"/>
              </a:rPr>
              <a:t>about the flow </a:t>
            </a:r>
            <a:r>
              <a:rPr sz="2200" spc="-535" dirty="0">
                <a:solidFill>
                  <a:srgbClr val="FF0000"/>
                </a:solidFill>
                <a:latin typeface="Palatino Linotype" panose="02040502050505030304"/>
                <a:cs typeface="Palatino Linotype" panose="02040502050505030304"/>
              </a:rPr>
              <a:t> </a:t>
            </a:r>
            <a:r>
              <a:rPr sz="2200" u="sng" spc="-5" dirty="0">
                <a:solidFill>
                  <a:srgbClr val="FF0000"/>
                </a:solidFill>
                <a:uFill>
                  <a:solidFill>
                    <a:srgbClr val="FF0000"/>
                  </a:solidFill>
                </a:uFill>
                <a:latin typeface="Palatino Linotype" panose="02040502050505030304"/>
                <a:cs typeface="Palatino Linotype" panose="02040502050505030304"/>
              </a:rPr>
              <a:t>of </a:t>
            </a:r>
            <a:r>
              <a:rPr sz="2200" u="sng" dirty="0">
                <a:solidFill>
                  <a:srgbClr val="FF0000"/>
                </a:solidFill>
                <a:uFill>
                  <a:solidFill>
                    <a:srgbClr val="FF0000"/>
                  </a:solidFill>
                </a:uFill>
                <a:latin typeface="Palatino Linotype" panose="02040502050505030304"/>
                <a:cs typeface="Palatino Linotype" panose="02040502050505030304"/>
              </a:rPr>
              <a:t>data</a:t>
            </a:r>
            <a:r>
              <a:rPr sz="2200" spc="-5"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along</a:t>
            </a:r>
            <a:r>
              <a:rPr sz="2200" dirty="0">
                <a:latin typeface="Palatino Linotype" panose="02040502050505030304"/>
                <a:cs typeface="Palatino Linotype" panose="02040502050505030304"/>
              </a:rPr>
              <a:t> program</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execution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paths</a:t>
            </a:r>
            <a:endParaRPr sz="2200">
              <a:latin typeface="Palatino Linotype" panose="02040502050505030304"/>
              <a:cs typeface="Palatino Linotype" panose="02040502050505030304"/>
            </a:endParaRPr>
          </a:p>
          <a:p>
            <a:pPr marL="698500" marR="5080" lvl="1" indent="-228600">
              <a:lnSpc>
                <a:spcPct val="118000"/>
              </a:lnSpc>
              <a:spcBef>
                <a:spcPts val="2010"/>
              </a:spcBef>
              <a:buClr>
                <a:srgbClr val="000000"/>
              </a:buClr>
              <a:buFont typeface="Wingdings" panose="05000000000000000000"/>
              <a:buChar char=""/>
              <a:tabLst>
                <a:tab pos="697865" algn="l"/>
                <a:tab pos="698500" algn="l"/>
              </a:tabLst>
            </a:pPr>
            <a:r>
              <a:rPr sz="1700" b="1" spc="-5" dirty="0">
                <a:solidFill>
                  <a:srgbClr val="0432FF"/>
                </a:solidFill>
                <a:latin typeface="Palatino Linotype" panose="02040502050505030304"/>
                <a:cs typeface="Palatino Linotype" panose="02040502050505030304"/>
              </a:rPr>
              <a:t>Example</a:t>
            </a:r>
            <a:r>
              <a:rPr sz="1700" b="1" dirty="0">
                <a:solidFill>
                  <a:srgbClr val="0432FF"/>
                </a:solidFill>
                <a:latin typeface="Palatino Linotype" panose="02040502050505030304"/>
                <a:cs typeface="Palatino Linotype" panose="02040502050505030304"/>
              </a:rPr>
              <a:t> 1: </a:t>
            </a:r>
            <a:r>
              <a:rPr sz="1700" spc="-5" dirty="0">
                <a:latin typeface="Palatino Linotype" panose="02040502050505030304"/>
                <a:cs typeface="Palatino Linotype" panose="02040502050505030304"/>
              </a:rPr>
              <a:t>Whether</a:t>
            </a:r>
            <a:r>
              <a:rPr sz="1700" spc="5" dirty="0">
                <a:latin typeface="Palatino Linotype" panose="02040502050505030304"/>
                <a:cs typeface="Palatino Linotype" panose="02040502050505030304"/>
              </a:rPr>
              <a:t> </a:t>
            </a:r>
            <a:r>
              <a:rPr sz="1700" spc="-15" dirty="0">
                <a:latin typeface="Palatino Linotype" panose="02040502050505030304"/>
                <a:cs typeface="Palatino Linotype" panose="02040502050505030304"/>
              </a:rPr>
              <a:t>two</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textually</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identical</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expressions</a:t>
            </a:r>
            <a:r>
              <a:rPr sz="1700" spc="5" dirty="0">
                <a:latin typeface="Palatino Linotype" panose="02040502050505030304"/>
                <a:cs typeface="Palatino Linotype" panose="02040502050505030304"/>
              </a:rPr>
              <a:t> </a:t>
            </a:r>
            <a:r>
              <a:rPr sz="1700" spc="-10" dirty="0">
                <a:latin typeface="Palatino Linotype" panose="02040502050505030304"/>
                <a:cs typeface="Palatino Linotype" panose="02040502050505030304"/>
              </a:rPr>
              <a:t>evaluate</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to</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 </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same</a:t>
            </a:r>
            <a:r>
              <a:rPr sz="1700" dirty="0">
                <a:latin typeface="Palatino Linotype" panose="02040502050505030304"/>
                <a:cs typeface="Palatino Linotype" panose="02040502050505030304"/>
              </a:rPr>
              <a:t> </a:t>
            </a:r>
            <a:r>
              <a:rPr sz="1700" spc="-10" dirty="0">
                <a:latin typeface="Palatino Linotype" panose="02040502050505030304"/>
                <a:cs typeface="Palatino Linotype" panose="02040502050505030304"/>
              </a:rPr>
              <a:t>value</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along</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any</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execution</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path?</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(Identify</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common</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subexpressions)</a:t>
            </a:r>
            <a:endParaRPr sz="1700">
              <a:latin typeface="Palatino Linotype" panose="02040502050505030304"/>
              <a:cs typeface="Palatino Linotype" panose="02040502050505030304"/>
            </a:endParaRPr>
          </a:p>
          <a:p>
            <a:pPr marL="698500" marR="253365" lvl="1" indent="-228600">
              <a:lnSpc>
                <a:spcPct val="118000"/>
              </a:lnSpc>
              <a:spcBef>
                <a:spcPts val="1900"/>
              </a:spcBef>
              <a:buClr>
                <a:srgbClr val="000000"/>
              </a:buClr>
              <a:buFont typeface="Wingdings" panose="05000000000000000000"/>
              <a:buChar char=""/>
              <a:tabLst>
                <a:tab pos="697865" algn="l"/>
                <a:tab pos="698500" algn="l"/>
              </a:tabLst>
            </a:pPr>
            <a:r>
              <a:rPr sz="1700" b="1" spc="-5" dirty="0">
                <a:solidFill>
                  <a:srgbClr val="0432FF"/>
                </a:solidFill>
                <a:latin typeface="Palatino Linotype" panose="02040502050505030304"/>
                <a:cs typeface="Palatino Linotype" panose="02040502050505030304"/>
              </a:rPr>
              <a:t>Example</a:t>
            </a:r>
            <a:r>
              <a:rPr sz="1700" b="1" dirty="0">
                <a:solidFill>
                  <a:srgbClr val="0432FF"/>
                </a:solidFill>
                <a:latin typeface="Palatino Linotype" panose="02040502050505030304"/>
                <a:cs typeface="Palatino Linotype" panose="02040502050505030304"/>
              </a:rPr>
              <a:t> 2: </a:t>
            </a:r>
            <a:r>
              <a:rPr sz="1700" spc="-5" dirty="0">
                <a:latin typeface="Palatino Linotype" panose="02040502050505030304"/>
                <a:cs typeface="Palatino Linotype" panose="02040502050505030304"/>
              </a:rPr>
              <a:t>Whether</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result of</a:t>
            </a:r>
            <a:r>
              <a:rPr sz="1700" dirty="0">
                <a:latin typeface="Palatino Linotype" panose="02040502050505030304"/>
                <a:cs typeface="Palatino Linotype" panose="02040502050505030304"/>
              </a:rPr>
              <a:t> an</a:t>
            </a:r>
            <a:r>
              <a:rPr sz="1700" spc="-5" dirty="0">
                <a:latin typeface="Palatino Linotype" panose="02040502050505030304"/>
                <a:cs typeface="Palatino Linotype" panose="02040502050505030304"/>
              </a:rPr>
              <a:t> assignment</a:t>
            </a:r>
            <a:r>
              <a:rPr sz="1700" dirty="0">
                <a:latin typeface="Palatino Linotype" panose="02040502050505030304"/>
                <a:cs typeface="Palatino Linotype" panose="02040502050505030304"/>
              </a:rPr>
              <a:t> is </a:t>
            </a:r>
            <a:r>
              <a:rPr sz="1700" spc="-5" dirty="0">
                <a:latin typeface="Palatino Linotype" panose="02040502050505030304"/>
                <a:cs typeface="Palatino Linotype" panose="02040502050505030304"/>
              </a:rPr>
              <a:t>used</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on subsequent </a:t>
            </a:r>
            <a:r>
              <a:rPr sz="1700" spc="-409"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execution</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paths? (Eliminate dead code)</a:t>
            </a:r>
            <a:endParaRPr sz="1700">
              <a:latin typeface="Palatino Linotype" panose="02040502050505030304"/>
              <a:cs typeface="Palatino Linotype" panose="02040502050505030304"/>
            </a:endParaRPr>
          </a:p>
          <a:p>
            <a:pPr lvl="1">
              <a:lnSpc>
                <a:spcPct val="100000"/>
              </a:lnSpc>
              <a:spcBef>
                <a:spcPts val="15"/>
              </a:spcBef>
              <a:buFont typeface="Wingdings" panose="05000000000000000000"/>
              <a:buChar char=""/>
            </a:pPr>
            <a:endParaRPr sz="255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2200" spc="-5" dirty="0">
                <a:latin typeface="Palatino Linotype" panose="02040502050505030304"/>
                <a:cs typeface="Palatino Linotype" panose="02040502050505030304"/>
              </a:rPr>
              <a:t>Data-flow analysis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foundation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many</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optimizations</a:t>
            </a:r>
            <a:endParaRPr sz="2200">
              <a:latin typeface="Palatino Linotype" panose="02040502050505030304"/>
              <a:cs typeface="Palatino Linotype" panose="0204050205050503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534670" y="2032556"/>
            <a:ext cx="4264257" cy="3440074"/>
          </a:xfrm>
          <a:prstGeom prst="rect">
            <a:avLst/>
          </a:prstGeom>
        </p:spPr>
      </p:pic>
      <p:sp>
        <p:nvSpPr>
          <p:cNvPr id="3" name="object 3"/>
          <p:cNvSpPr txBox="1">
            <a:spLocks noGrp="1"/>
          </p:cNvSpPr>
          <p:nvPr>
            <p:ph type="title"/>
          </p:nvPr>
        </p:nvSpPr>
        <p:spPr>
          <a:xfrm>
            <a:off x="707390" y="524763"/>
            <a:ext cx="632079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40" dirty="0"/>
              <a:t> </a:t>
            </a:r>
            <a:r>
              <a:rPr sz="4000" dirty="0"/>
              <a:t>Data-Flow</a:t>
            </a:r>
            <a:r>
              <a:rPr sz="4000" spc="-35" dirty="0"/>
              <a:t> </a:t>
            </a:r>
            <a:r>
              <a:rPr sz="4000" dirty="0"/>
              <a:t>Abstraction</a:t>
            </a:r>
            <a:endParaRPr sz="4000"/>
          </a:p>
        </p:txBody>
      </p:sp>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22</a:t>
            </a:fld>
            <a:endParaRPr dirty="0"/>
          </a:p>
        </p:txBody>
      </p:sp>
      <p:sp>
        <p:nvSpPr>
          <p:cNvPr id="4" name="object 4"/>
          <p:cNvSpPr txBox="1"/>
          <p:nvPr/>
        </p:nvSpPr>
        <p:spPr>
          <a:xfrm>
            <a:off x="707390" y="1610867"/>
            <a:ext cx="3686810" cy="4127500"/>
          </a:xfrm>
          <a:prstGeom prst="rect">
            <a:avLst/>
          </a:prstGeom>
        </p:spPr>
        <p:txBody>
          <a:bodyPr vert="horz" wrap="square" lIns="0" tIns="12700" rIns="0" bIns="0" rtlCol="0">
            <a:spAutoFit/>
          </a:bodyPr>
          <a:lstStyle/>
          <a:p>
            <a:pPr marL="242570" marR="49530" indent="-230505">
              <a:lnSpc>
                <a:spcPct val="116000"/>
              </a:lnSpc>
              <a:spcBef>
                <a:spcPts val="100"/>
              </a:spcBef>
              <a:buClr>
                <a:srgbClr val="000000"/>
              </a:buClr>
              <a:buFont typeface="Arial MT"/>
              <a:buChar char="•"/>
              <a:tabLst>
                <a:tab pos="242570" algn="l"/>
                <a:tab pos="242570" algn="l"/>
              </a:tabLst>
            </a:pPr>
            <a:r>
              <a:rPr sz="2000" b="1" u="sng" spc="-5" dirty="0">
                <a:solidFill>
                  <a:srgbClr val="FF0000"/>
                </a:solidFill>
                <a:uFill>
                  <a:solidFill>
                    <a:srgbClr val="FF0000"/>
                  </a:solidFill>
                </a:uFill>
                <a:latin typeface="Palatino Linotype" panose="02040502050505030304"/>
                <a:cs typeface="Palatino Linotype" panose="02040502050505030304"/>
              </a:rPr>
              <a:t>Program points</a:t>
            </a:r>
            <a:r>
              <a:rPr sz="2000" spc="-5" dirty="0">
                <a:latin typeface="Palatino Linotype" panose="02040502050505030304"/>
                <a:cs typeface="Palatino Linotype" panose="02040502050505030304"/>
              </a:rPr>
              <a:t>: points before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 after</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each statement</a:t>
            </a:r>
            <a:endParaRPr sz="2000">
              <a:latin typeface="Palatino Linotype" panose="02040502050505030304"/>
              <a:cs typeface="Palatino Linotype" panose="02040502050505030304"/>
            </a:endParaRPr>
          </a:p>
          <a:p>
            <a:pPr marL="698500" marR="10160" lvl="1" indent="-228600">
              <a:lnSpc>
                <a:spcPct val="120000"/>
              </a:lnSpc>
              <a:spcBef>
                <a:spcPts val="1910"/>
              </a:spcBef>
              <a:buFont typeface="Wingdings" panose="05000000000000000000"/>
              <a:buChar char=""/>
              <a:tabLst>
                <a:tab pos="697865" algn="l"/>
                <a:tab pos="698500" algn="l"/>
              </a:tabLst>
            </a:pPr>
            <a:r>
              <a:rPr sz="1600" spc="-10" dirty="0">
                <a:latin typeface="Palatino Linotype" panose="02040502050505030304"/>
                <a:cs typeface="Palatino Linotype" panose="02040502050505030304"/>
              </a:rPr>
              <a:t>Within </a:t>
            </a:r>
            <a:r>
              <a:rPr sz="1600" dirty="0">
                <a:latin typeface="Palatino Linotype" panose="02040502050505030304"/>
                <a:cs typeface="Palatino Linotype" panose="02040502050505030304"/>
              </a:rPr>
              <a:t>one </a:t>
            </a:r>
            <a:r>
              <a:rPr sz="1600" spc="-5" dirty="0">
                <a:latin typeface="Palatino Linotype" panose="02040502050505030304"/>
                <a:cs typeface="Palatino Linotype" panose="02040502050505030304"/>
              </a:rPr>
              <a:t>block, </a:t>
            </a:r>
            <a:r>
              <a:rPr sz="1600" dirty="0">
                <a:latin typeface="Palatino Linotype" panose="02040502050505030304"/>
                <a:cs typeface="Palatino Linotype" panose="02040502050505030304"/>
              </a:rPr>
              <a:t>the program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a:t>
            </a:r>
            <a:r>
              <a:rPr sz="1600" spc="-5" dirty="0">
                <a:latin typeface="Palatino Linotype" panose="02040502050505030304"/>
                <a:cs typeface="Palatino Linotype" panose="02040502050505030304"/>
              </a:rPr>
              <a:t> after</a:t>
            </a:r>
            <a:r>
              <a:rPr sz="1600" dirty="0">
                <a:latin typeface="Palatino Linotype" panose="02040502050505030304"/>
                <a:cs typeface="Palatino Linotype" panose="02040502050505030304"/>
              </a:rPr>
              <a:t> a </a:t>
            </a:r>
            <a:r>
              <a:rPr sz="1600" spc="-5" dirty="0">
                <a:latin typeface="Palatino Linotype" panose="02040502050505030304"/>
                <a:cs typeface="Palatino Linotype" panose="02040502050505030304"/>
              </a:rPr>
              <a:t>statement is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same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as</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before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next statement (e.g., </a:t>
            </a:r>
            <a:r>
              <a:rPr sz="1600" dirty="0">
                <a:latin typeface="Palatino Linotype" panose="02040502050505030304"/>
                <a:cs typeface="Palatino Linotype" panose="02040502050505030304"/>
              </a:rPr>
              <a:t>6)</a:t>
            </a:r>
            <a:endParaRPr sz="1600">
              <a:latin typeface="Palatino Linotype" panose="02040502050505030304"/>
              <a:cs typeface="Palatino Linotype" panose="02040502050505030304"/>
            </a:endParaRPr>
          </a:p>
          <a:p>
            <a:pPr marL="698500" marR="5080" lvl="1" indent="-228600">
              <a:lnSpc>
                <a:spcPct val="120000"/>
              </a:lnSpc>
              <a:spcBef>
                <a:spcPts val="180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If</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there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a:t>
            </a:r>
            <a:r>
              <a:rPr sz="1600" spc="2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edge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from</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block</a:t>
            </a:r>
            <a:r>
              <a:rPr sz="1600" spc="1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B </a:t>
            </a:r>
            <a:r>
              <a:rPr sz="1600" i="1"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t>
            </a:r>
            <a:r>
              <a:rPr sz="1600" spc="-5" dirty="0">
                <a:latin typeface="Palatino Linotype" panose="02040502050505030304"/>
                <a:cs typeface="Palatino Linotype" panose="02040502050505030304"/>
              </a:rPr>
              <a:t>block </a:t>
            </a:r>
            <a:r>
              <a:rPr sz="1600" i="1" spc="-5" dirty="0">
                <a:latin typeface="Palatino Linotype" panose="02040502050505030304"/>
                <a:cs typeface="Palatino Linotype" panose="02040502050505030304"/>
              </a:rPr>
              <a:t>C</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then the program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 </a:t>
            </a:r>
            <a:r>
              <a:rPr sz="1600" spc="-5" dirty="0">
                <a:latin typeface="Palatino Linotype" panose="02040502050505030304"/>
                <a:cs typeface="Palatino Linotype" panose="02040502050505030304"/>
              </a:rPr>
              <a:t>after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last statement </a:t>
            </a:r>
            <a:r>
              <a:rPr sz="1600" dirty="0">
                <a:latin typeface="Palatino Linotype" panose="02040502050505030304"/>
                <a:cs typeface="Palatino Linotype" panose="02040502050505030304"/>
              </a:rPr>
              <a:t>of </a:t>
            </a:r>
            <a:r>
              <a:rPr sz="1600" i="1" dirty="0">
                <a:latin typeface="Palatino Linotype" panose="02040502050505030304"/>
                <a:cs typeface="Palatino Linotype" panose="02040502050505030304"/>
              </a:rPr>
              <a:t>B </a:t>
            </a:r>
            <a:r>
              <a:rPr sz="1600" i="1" spc="-385" dirty="0">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may be </a:t>
            </a:r>
            <a:r>
              <a:rPr sz="1600" spc="-5" dirty="0">
                <a:solidFill>
                  <a:srgbClr val="FF0000"/>
                </a:solidFill>
                <a:latin typeface="Palatino Linotype" panose="02040502050505030304"/>
                <a:cs typeface="Palatino Linotype" panose="02040502050505030304"/>
              </a:rPr>
              <a:t>followed immediately </a:t>
            </a:r>
            <a:r>
              <a:rPr sz="1600" dirty="0">
                <a:solidFill>
                  <a:srgbClr val="FF0000"/>
                </a:solidFill>
                <a:latin typeface="Palatino Linotype" panose="02040502050505030304"/>
                <a:cs typeface="Palatino Linotype" panose="02040502050505030304"/>
              </a:rPr>
              <a:t>by </a:t>
            </a:r>
            <a:r>
              <a:rPr sz="1600" spc="-385" dirty="0">
                <a:solidFill>
                  <a:srgbClr val="FF0000"/>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4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a:t>
            </a:r>
            <a:r>
              <a:rPr sz="1600" spc="4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a:t>
            </a:r>
            <a:r>
              <a:rPr sz="1600" spc="5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before</a:t>
            </a:r>
            <a:r>
              <a:rPr sz="1600" spc="4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a:t>
            </a:r>
            <a:r>
              <a:rPr sz="1600" spc="-5" dirty="0">
                <a:latin typeface="Palatino Linotype" panose="02040502050505030304"/>
                <a:cs typeface="Palatino Linotype" panose="02040502050505030304"/>
              </a:rPr>
              <a:t>i</a:t>
            </a:r>
            <a:r>
              <a:rPr sz="1600" spc="5" dirty="0">
                <a:latin typeface="Palatino Linotype" panose="02040502050505030304"/>
                <a:cs typeface="Palatino Linotype" panose="02040502050505030304"/>
              </a:rPr>
              <a:t>r</a:t>
            </a:r>
            <a:r>
              <a:rPr sz="1600" spc="-5" dirty="0">
                <a:latin typeface="Palatino Linotype" panose="02040502050505030304"/>
                <a:cs typeface="Palatino Linotype" panose="02040502050505030304"/>
              </a:rPr>
              <a:t>s</a:t>
            </a:r>
            <a:r>
              <a:rPr sz="1600" dirty="0">
                <a:latin typeface="Palatino Linotype" panose="02040502050505030304"/>
                <a:cs typeface="Palatino Linotype" panose="02040502050505030304"/>
              </a:rPr>
              <a:t>t </a:t>
            </a:r>
            <a:r>
              <a:rPr sz="1600" spc="-5" dirty="0">
                <a:latin typeface="Palatino Linotype" panose="02040502050505030304"/>
                <a:cs typeface="Palatino Linotype" panose="02040502050505030304"/>
              </a:rPr>
              <a:t>s</a:t>
            </a:r>
            <a:r>
              <a:rPr sz="1600" dirty="0">
                <a:latin typeface="Palatino Linotype" panose="02040502050505030304"/>
                <a:cs typeface="Palatino Linotype" panose="02040502050505030304"/>
              </a:rPr>
              <a:t>tat</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m</a:t>
            </a:r>
            <a:r>
              <a:rPr sz="1600" spc="-5" dirty="0">
                <a:latin typeface="Palatino Linotype" panose="02040502050505030304"/>
                <a:cs typeface="Palatino Linotype" panose="02040502050505030304"/>
              </a:rPr>
              <a:t>e</a:t>
            </a:r>
            <a:r>
              <a:rPr sz="1600" spc="5" dirty="0">
                <a:latin typeface="Palatino Linotype" panose="02040502050505030304"/>
                <a:cs typeface="Palatino Linotype" panose="02040502050505030304"/>
              </a:rPr>
              <a:t>n</a:t>
            </a:r>
            <a:r>
              <a:rPr sz="1600" dirty="0">
                <a:latin typeface="Palatino Linotype" panose="02040502050505030304"/>
                <a:cs typeface="Palatino Linotype" panose="02040502050505030304"/>
              </a:rPr>
              <a:t>t of </a:t>
            </a:r>
            <a:r>
              <a:rPr sz="1600" i="1" dirty="0">
                <a:latin typeface="Palatino Linotype" panose="02040502050505030304"/>
                <a:cs typeface="Palatino Linotype" panose="02040502050505030304"/>
              </a:rPr>
              <a:t>C</a:t>
            </a:r>
            <a:r>
              <a:rPr sz="1600" i="1" spc="-14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a:t>
            </a:r>
            <a:r>
              <a:rPr sz="1600" spc="-5" dirty="0">
                <a:latin typeface="Palatino Linotype" panose="02040502050505030304"/>
                <a:cs typeface="Palatino Linotype" panose="02040502050505030304"/>
              </a:rPr>
              <a:t>g</a:t>
            </a:r>
            <a:r>
              <a:rPr sz="1600" dirty="0">
                <a:latin typeface="Palatino Linotype" panose="02040502050505030304"/>
                <a:cs typeface="Palatino Linotype" panose="02040502050505030304"/>
              </a:rPr>
              <a:t>., 8 a</a:t>
            </a:r>
            <a:r>
              <a:rPr sz="1600" spc="5" dirty="0">
                <a:latin typeface="Palatino Linotype" panose="02040502050505030304"/>
                <a:cs typeface="Palatino Linotype" panose="02040502050505030304"/>
              </a:rPr>
              <a:t>n</a:t>
            </a:r>
            <a:r>
              <a:rPr sz="1600" dirty="0">
                <a:latin typeface="Palatino Linotype" panose="02040502050505030304"/>
                <a:cs typeface="Palatino Linotype" panose="02040502050505030304"/>
              </a:rPr>
              <a:t>d</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3)</a:t>
            </a:r>
            <a:endParaRPr sz="1600">
              <a:latin typeface="Palatino Linotype" panose="02040502050505030304"/>
              <a:cs typeface="Palatino Linotype" panose="0204050205050503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632079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40" dirty="0"/>
              <a:t> </a:t>
            </a:r>
            <a:r>
              <a:rPr sz="4000" dirty="0"/>
              <a:t>Data-Flow</a:t>
            </a:r>
            <a:r>
              <a:rPr sz="4000" spc="-35" dirty="0"/>
              <a:t> </a:t>
            </a:r>
            <a:r>
              <a:rPr sz="4000" dirty="0"/>
              <a:t>Abstraction</a:t>
            </a:r>
            <a:endParaRPr sz="4000"/>
          </a:p>
        </p:txBody>
      </p:sp>
      <p:sp>
        <p:nvSpPr>
          <p:cNvPr id="3" name="object 3"/>
          <p:cNvSpPr txBox="1"/>
          <p:nvPr/>
        </p:nvSpPr>
        <p:spPr>
          <a:xfrm>
            <a:off x="694690" y="1481836"/>
            <a:ext cx="7712075" cy="2192020"/>
          </a:xfrm>
          <a:prstGeom prst="rect">
            <a:avLst/>
          </a:prstGeom>
        </p:spPr>
        <p:txBody>
          <a:bodyPr vert="horz" wrap="square" lIns="0" tIns="12700" rIns="0" bIns="0" rtlCol="0">
            <a:spAutoFit/>
          </a:bodyPr>
          <a:lstStyle/>
          <a:p>
            <a:pPr marL="255270" marR="79375" indent="-230505">
              <a:lnSpc>
                <a:spcPct val="118000"/>
              </a:lnSpc>
              <a:spcBef>
                <a:spcPts val="100"/>
              </a:spcBef>
              <a:buFont typeface="Arial MT"/>
              <a:buChar char="•"/>
              <a:tabLst>
                <a:tab pos="255270" algn="l"/>
                <a:tab pos="255270" algn="l"/>
              </a:tabLst>
            </a:pPr>
            <a:r>
              <a:rPr sz="2200" dirty="0">
                <a:latin typeface="Palatino Linotype" panose="02040502050505030304"/>
                <a:cs typeface="Palatino Linotype" panose="02040502050505030304"/>
              </a:rPr>
              <a:t>An</a:t>
            </a:r>
            <a:r>
              <a:rPr sz="2200" spc="-15" dirty="0">
                <a:solidFill>
                  <a:srgbClr val="FF0000"/>
                </a:solidFill>
                <a:latin typeface="Palatino Linotype" panose="02040502050505030304"/>
                <a:cs typeface="Palatino Linotype" panose="02040502050505030304"/>
              </a:rPr>
              <a:t> </a:t>
            </a:r>
            <a:r>
              <a:rPr sz="2200" b="1" u="sng" dirty="0">
                <a:solidFill>
                  <a:srgbClr val="FF0000"/>
                </a:solidFill>
                <a:uFill>
                  <a:solidFill>
                    <a:srgbClr val="FF0000"/>
                  </a:solidFill>
                </a:uFill>
                <a:latin typeface="Palatino Linotype" panose="02040502050505030304"/>
                <a:cs typeface="Palatino Linotype" panose="02040502050505030304"/>
              </a:rPr>
              <a:t>execution path</a:t>
            </a:r>
            <a:r>
              <a:rPr sz="2200" b="1" dirty="0">
                <a:solidFill>
                  <a:srgbClr val="FF0000"/>
                </a:solidFill>
                <a:latin typeface="Palatino Linotype" panose="02040502050505030304"/>
                <a:cs typeface="Palatino Linotype" panose="02040502050505030304"/>
              </a:rPr>
              <a:t> </a:t>
            </a:r>
            <a:r>
              <a:rPr sz="2200" dirty="0">
                <a:latin typeface="Palatino Linotype" panose="02040502050505030304"/>
                <a:cs typeface="Palatino Linotype" panose="02040502050505030304"/>
              </a:rPr>
              <a:t>from</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point</a:t>
            </a:r>
            <a:r>
              <a:rPr sz="2200" spc="-15"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50" baseline="-19000" dirty="0">
                <a:latin typeface="Palatino Linotype" panose="02040502050505030304"/>
                <a:cs typeface="Palatino Linotype" panose="02040502050505030304"/>
              </a:rPr>
              <a:t>1</a:t>
            </a:r>
            <a:r>
              <a:rPr sz="2250" spc="240" baseline="-190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point</a:t>
            </a:r>
            <a:r>
              <a:rPr sz="2200" spc="-15"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50" i="1" baseline="-19000" dirty="0">
                <a:latin typeface="Palatino Linotype" panose="02040502050505030304"/>
                <a:cs typeface="Palatino Linotype" panose="02040502050505030304"/>
              </a:rPr>
              <a:t>n</a:t>
            </a:r>
            <a:r>
              <a:rPr sz="2250" i="1" spc="217" baseline="-190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is</a:t>
            </a:r>
            <a:r>
              <a:rPr sz="2200" dirty="0">
                <a:latin typeface="Palatino Linotype" panose="02040502050505030304"/>
                <a:cs typeface="Palatino Linotype" panose="02040502050505030304"/>
              </a:rPr>
              <a:t> a </a:t>
            </a:r>
            <a:r>
              <a:rPr sz="2200" spc="-5" dirty="0">
                <a:latin typeface="Palatino Linotype" panose="02040502050505030304"/>
                <a:cs typeface="Palatino Linotype" panose="02040502050505030304"/>
              </a:rPr>
              <a:t>sequence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points</a:t>
            </a:r>
            <a:r>
              <a:rPr sz="2200" dirty="0">
                <a:latin typeface="Palatino Linotype" panose="02040502050505030304"/>
                <a:cs typeface="Palatino Linotype" panose="02040502050505030304"/>
              </a:rPr>
              <a:t> </a:t>
            </a:r>
            <a:r>
              <a:rPr sz="2200" i="1" spc="-5" dirty="0">
                <a:latin typeface="Palatino Linotype" panose="02040502050505030304"/>
                <a:cs typeface="Palatino Linotype" panose="02040502050505030304"/>
              </a:rPr>
              <a:t>p</a:t>
            </a:r>
            <a:r>
              <a:rPr sz="2250" spc="-7" baseline="-19000" dirty="0">
                <a:latin typeface="Palatino Linotype" panose="02040502050505030304"/>
                <a:cs typeface="Palatino Linotype" panose="02040502050505030304"/>
              </a:rPr>
              <a:t>1</a:t>
            </a:r>
            <a:r>
              <a:rPr sz="2200" spc="-5" dirty="0">
                <a:latin typeface="Palatino Linotype" panose="02040502050505030304"/>
                <a:cs typeface="Palatino Linotype" panose="02040502050505030304"/>
              </a:rPr>
              <a:t>,</a:t>
            </a:r>
            <a:r>
              <a:rPr sz="2200" dirty="0">
                <a:latin typeface="Palatino Linotype" panose="02040502050505030304"/>
                <a:cs typeface="Palatino Linotype" panose="02040502050505030304"/>
              </a:rPr>
              <a:t> </a:t>
            </a:r>
            <a:r>
              <a:rPr sz="2200" i="1" spc="-5" dirty="0">
                <a:latin typeface="Palatino Linotype" panose="02040502050505030304"/>
                <a:cs typeface="Palatino Linotype" panose="02040502050505030304"/>
              </a:rPr>
              <a:t>p</a:t>
            </a:r>
            <a:r>
              <a:rPr sz="2250" spc="-7" baseline="-19000" dirty="0">
                <a:latin typeface="Palatino Linotype" panose="02040502050505030304"/>
                <a:cs typeface="Palatino Linotype" panose="02040502050505030304"/>
              </a:rPr>
              <a:t>2</a:t>
            </a:r>
            <a:r>
              <a:rPr sz="2200" spc="-5" dirty="0">
                <a:latin typeface="Palatino Linotype" panose="02040502050505030304"/>
                <a:cs typeface="Palatino Linotype" panose="02040502050505030304"/>
              </a:rPr>
              <a:t>,</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50" i="1" baseline="-19000" dirty="0">
                <a:latin typeface="Palatino Linotype" panose="02040502050505030304"/>
                <a:cs typeface="Palatino Linotype" panose="02040502050505030304"/>
              </a:rPr>
              <a:t>n</a:t>
            </a:r>
            <a:r>
              <a:rPr sz="2250" i="1" spc="225" baseline="-190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such</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a:t>
            </a:r>
            <a:r>
              <a:rPr sz="2200" spc="-1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i</a:t>
            </a:r>
            <a:r>
              <a:rPr sz="2200" i="1"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 1, 2,</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n</a:t>
            </a:r>
            <a:r>
              <a:rPr sz="2200" dirty="0">
                <a:latin typeface="Palatino Linotype" panose="02040502050505030304"/>
                <a:cs typeface="Palatino Linotype" panose="02040502050505030304"/>
              </a:rPr>
              <a:t>-1, </a:t>
            </a:r>
            <a:r>
              <a:rPr sz="2200" spc="-10" dirty="0">
                <a:solidFill>
                  <a:srgbClr val="0432FF"/>
                </a:solidFill>
                <a:latin typeface="Palatino Linotype" panose="02040502050505030304"/>
                <a:cs typeface="Palatino Linotype" panose="02040502050505030304"/>
              </a:rPr>
              <a:t>either</a:t>
            </a:r>
            <a:endParaRPr sz="2200">
              <a:latin typeface="Palatino Linotype" panose="02040502050505030304"/>
              <a:cs typeface="Palatino Linotype" panose="02040502050505030304"/>
            </a:endParaRPr>
          </a:p>
          <a:p>
            <a:pPr marL="711200" marR="17780" lvl="1" indent="-228600">
              <a:lnSpc>
                <a:spcPct val="120000"/>
              </a:lnSpc>
              <a:spcBef>
                <a:spcPts val="1300"/>
              </a:spcBef>
              <a:buFont typeface="Wingdings" panose="05000000000000000000"/>
              <a:buChar char=""/>
              <a:tabLst>
                <a:tab pos="711200" algn="l"/>
              </a:tabLst>
            </a:pPr>
            <a:r>
              <a:rPr sz="1800" i="1" dirty="0">
                <a:latin typeface="Palatino Linotype" panose="02040502050505030304"/>
                <a:cs typeface="Palatino Linotype" panose="02040502050505030304"/>
              </a:rPr>
              <a:t>p</a:t>
            </a:r>
            <a:r>
              <a:rPr sz="1800" i="1" baseline="-14000" dirty="0">
                <a:latin typeface="Palatino Linotype" panose="02040502050505030304"/>
                <a:cs typeface="Palatino Linotype" panose="02040502050505030304"/>
              </a:rPr>
              <a:t>i</a:t>
            </a:r>
            <a:r>
              <a:rPr sz="1800" i="1" spc="217" baseline="-1400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point </a:t>
            </a:r>
            <a:r>
              <a:rPr sz="1800" spc="-5" dirty="0">
                <a:latin typeface="Palatino Linotype" panose="02040502050505030304"/>
                <a:cs typeface="Palatino Linotype" panose="02040502050505030304"/>
              </a:rPr>
              <a:t>immediately </a:t>
            </a:r>
            <a:r>
              <a:rPr sz="1800" dirty="0">
                <a:latin typeface="Palatino Linotype" panose="02040502050505030304"/>
                <a:cs typeface="Palatino Linotype" panose="02040502050505030304"/>
              </a:rPr>
              <a:t>preceding</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 </a:t>
            </a:r>
            <a:r>
              <a:rPr sz="1800" spc="-5" dirty="0">
                <a:latin typeface="Palatino Linotype" panose="02040502050505030304"/>
                <a:cs typeface="Palatino Linotype" panose="02040502050505030304"/>
              </a:rPr>
              <a:t>statement</a:t>
            </a:r>
            <a:r>
              <a:rPr sz="1800" dirty="0">
                <a:latin typeface="Palatino Linotype" panose="02040502050505030304"/>
                <a:cs typeface="Palatino Linotype" panose="02040502050505030304"/>
              </a:rPr>
              <a:t> and</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p</a:t>
            </a:r>
            <a:r>
              <a:rPr sz="1800" i="1" baseline="-14000" dirty="0">
                <a:latin typeface="Palatino Linotype" panose="02040502050505030304"/>
                <a:cs typeface="Palatino Linotype" panose="02040502050505030304"/>
              </a:rPr>
              <a:t>i</a:t>
            </a:r>
            <a:r>
              <a:rPr sz="1800" baseline="-14000" dirty="0">
                <a:latin typeface="Palatino Linotype" panose="02040502050505030304"/>
                <a:cs typeface="Palatino Linotype" panose="02040502050505030304"/>
              </a:rPr>
              <a:t>+1</a:t>
            </a:r>
            <a:r>
              <a:rPr sz="1800" spc="225" baseline="-1400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point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immediately</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follow</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that </a:t>
            </a:r>
            <a:r>
              <a:rPr sz="1800" spc="-5" dirty="0">
                <a:latin typeface="Palatino Linotype" panose="02040502050505030304"/>
                <a:cs typeface="Palatino Linotype" panose="02040502050505030304"/>
              </a:rPr>
              <a:t>statement, </a:t>
            </a:r>
            <a:r>
              <a:rPr sz="2200" spc="-5" dirty="0">
                <a:solidFill>
                  <a:srgbClr val="0432FF"/>
                </a:solidFill>
                <a:latin typeface="Palatino Linotype" panose="02040502050505030304"/>
                <a:cs typeface="Palatino Linotype" panose="02040502050505030304"/>
              </a:rPr>
              <a:t>or</a:t>
            </a:r>
            <a:endParaRPr sz="2200">
              <a:latin typeface="Palatino Linotype" panose="02040502050505030304"/>
              <a:cs typeface="Palatino Linotype" panose="02040502050505030304"/>
            </a:endParaRPr>
          </a:p>
          <a:p>
            <a:pPr marL="711200" lvl="1" indent="-228600">
              <a:lnSpc>
                <a:spcPct val="100000"/>
              </a:lnSpc>
              <a:spcBef>
                <a:spcPts val="1675"/>
              </a:spcBef>
              <a:buFont typeface="Wingdings" panose="05000000000000000000"/>
              <a:buChar char=""/>
              <a:tabLst>
                <a:tab pos="711200" algn="l"/>
              </a:tabLst>
            </a:pPr>
            <a:r>
              <a:rPr sz="1800" i="1" dirty="0">
                <a:latin typeface="Palatino Linotype" panose="02040502050505030304"/>
                <a:cs typeface="Palatino Linotype" panose="02040502050505030304"/>
              </a:rPr>
              <a:t>p</a:t>
            </a:r>
            <a:r>
              <a:rPr sz="1800" i="1" baseline="-14000" dirty="0">
                <a:latin typeface="Palatino Linotype" panose="02040502050505030304"/>
                <a:cs typeface="Palatino Linotype" panose="02040502050505030304"/>
              </a:rPr>
              <a:t>i</a:t>
            </a:r>
            <a:r>
              <a:rPr sz="1800" i="1" spc="217" baseline="-1400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end of 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block</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and </a:t>
            </a:r>
            <a:r>
              <a:rPr sz="1800" i="1" dirty="0">
                <a:latin typeface="Palatino Linotype" panose="02040502050505030304"/>
                <a:cs typeface="Palatino Linotype" panose="02040502050505030304"/>
              </a:rPr>
              <a:t>p</a:t>
            </a:r>
            <a:r>
              <a:rPr sz="1800" i="1" baseline="-14000" dirty="0">
                <a:latin typeface="Palatino Linotype" panose="02040502050505030304"/>
                <a:cs typeface="Palatino Linotype" panose="02040502050505030304"/>
              </a:rPr>
              <a:t>i</a:t>
            </a:r>
            <a:r>
              <a:rPr sz="1800" baseline="-14000" dirty="0">
                <a:latin typeface="Palatino Linotype" panose="02040502050505030304"/>
                <a:cs typeface="Palatino Linotype" panose="02040502050505030304"/>
              </a:rPr>
              <a:t>+1</a:t>
            </a:r>
            <a:r>
              <a:rPr sz="1800" spc="217" baseline="-1400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beginning </a:t>
            </a:r>
            <a:r>
              <a:rPr sz="1800" dirty="0">
                <a:latin typeface="Palatino Linotype" panose="02040502050505030304"/>
                <a:cs typeface="Palatino Linotype" panose="02040502050505030304"/>
              </a:rPr>
              <a:t>of a</a:t>
            </a:r>
            <a:r>
              <a:rPr sz="1800" spc="-5" dirty="0">
                <a:latin typeface="Palatino Linotype" panose="02040502050505030304"/>
                <a:cs typeface="Palatino Linotype" panose="02040502050505030304"/>
              </a:rPr>
              <a:t> successor</a:t>
            </a:r>
            <a:r>
              <a:rPr sz="1800" dirty="0">
                <a:latin typeface="Palatino Linotype" panose="02040502050505030304"/>
                <a:cs typeface="Palatino Linotype" panose="02040502050505030304"/>
              </a:rPr>
              <a:t> block</a:t>
            </a:r>
            <a:endParaRPr sz="1800">
              <a:latin typeface="Palatino Linotype" panose="02040502050505030304"/>
              <a:cs typeface="Palatino Linotype" panose="02040502050505030304"/>
            </a:endParaRPr>
          </a:p>
        </p:txBody>
      </p:sp>
      <p:pic>
        <p:nvPicPr>
          <p:cNvPr id="4" name="object 4"/>
          <p:cNvPicPr/>
          <p:nvPr/>
        </p:nvPicPr>
        <p:blipFill>
          <a:blip r:embed="rId3" cstate="print"/>
          <a:stretch>
            <a:fillRect/>
          </a:stretch>
        </p:blipFill>
        <p:spPr>
          <a:xfrm>
            <a:off x="806339" y="4055086"/>
            <a:ext cx="2601758" cy="2098898"/>
          </a:xfrm>
          <a:prstGeom prst="rect">
            <a:avLst/>
          </a:prstGeom>
        </p:spPr>
      </p:pic>
      <p:sp>
        <p:nvSpPr>
          <p:cNvPr id="5" name="object 5"/>
          <p:cNvSpPr txBox="1"/>
          <p:nvPr/>
        </p:nvSpPr>
        <p:spPr>
          <a:xfrm>
            <a:off x="3730118" y="4389628"/>
            <a:ext cx="4531995" cy="1226820"/>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0432FF"/>
                </a:solidFill>
                <a:latin typeface="Palatino Linotype" panose="02040502050505030304"/>
                <a:cs typeface="Palatino Linotype" panose="02040502050505030304"/>
              </a:rPr>
              <a:t>The shortest</a:t>
            </a:r>
            <a:r>
              <a:rPr sz="160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complete execution</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path:</a:t>
            </a:r>
            <a:r>
              <a:rPr sz="1600" spc="-5"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(1, 2, 3, 4, 9)</a:t>
            </a:r>
            <a:endParaRPr sz="1600">
              <a:latin typeface="Palatino Linotype" panose="02040502050505030304"/>
              <a:cs typeface="Palatino Linotype" panose="02040502050505030304"/>
            </a:endParaRPr>
          </a:p>
          <a:p>
            <a:pPr>
              <a:lnSpc>
                <a:spcPct val="100000"/>
              </a:lnSpc>
              <a:spcBef>
                <a:spcPts val="25"/>
              </a:spcBef>
            </a:pPr>
            <a:endParaRPr sz="2150">
              <a:latin typeface="Palatino Linotype" panose="02040502050505030304"/>
              <a:cs typeface="Palatino Linotype" panose="02040502050505030304"/>
            </a:endParaRPr>
          </a:p>
          <a:p>
            <a:pPr marL="42545" marR="141605">
              <a:lnSpc>
                <a:spcPct val="120000"/>
              </a:lnSpc>
            </a:pPr>
            <a:r>
              <a:rPr sz="1600" spc="-5" dirty="0">
                <a:solidFill>
                  <a:srgbClr val="0432FF"/>
                </a:solidFill>
                <a:latin typeface="Palatino Linotype" panose="02040502050505030304"/>
                <a:cs typeface="Palatino Linotype" panose="02040502050505030304"/>
              </a:rPr>
              <a:t>The next</a:t>
            </a:r>
            <a:r>
              <a:rPr sz="1600" spc="5"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shortest</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path</a:t>
            </a:r>
            <a:r>
              <a:rPr sz="1600" spc="5"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executing</a:t>
            </a:r>
            <a:r>
              <a:rPr sz="1600" dirty="0">
                <a:solidFill>
                  <a:srgbClr val="0432FF"/>
                </a:solidFill>
                <a:latin typeface="Palatino Linotype" panose="02040502050505030304"/>
                <a:cs typeface="Palatino Linotype" panose="02040502050505030304"/>
              </a:rPr>
              <a:t> one </a:t>
            </a:r>
            <a:r>
              <a:rPr sz="1600" spc="-5" dirty="0">
                <a:solidFill>
                  <a:srgbClr val="0432FF"/>
                </a:solidFill>
                <a:latin typeface="Palatino Linotype" panose="02040502050505030304"/>
                <a:cs typeface="Palatino Linotype" panose="02040502050505030304"/>
              </a:rPr>
              <a:t>iteration</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of </a:t>
            </a:r>
            <a:r>
              <a:rPr sz="1600" spc="-38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the</a:t>
            </a:r>
            <a:r>
              <a:rPr sz="1600" spc="-1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loop: </a:t>
            </a:r>
            <a:r>
              <a:rPr sz="1600" dirty="0">
                <a:latin typeface="Palatino Linotype" panose="02040502050505030304"/>
                <a:cs typeface="Palatino Linotype" panose="02040502050505030304"/>
              </a:rPr>
              <a:t>(1,</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2, 3,</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4, 5, 6,</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7, 8,</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3, 4, 9)</a:t>
            </a:r>
            <a:endParaRPr sz="1600">
              <a:latin typeface="Palatino Linotype" panose="02040502050505030304"/>
              <a:cs typeface="Palatino Linotype" panose="02040502050505030304"/>
            </a:endParaRPr>
          </a:p>
        </p:txBody>
      </p:sp>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23</a:t>
            </a:fld>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632079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40" dirty="0"/>
              <a:t> </a:t>
            </a:r>
            <a:r>
              <a:rPr sz="4000" dirty="0"/>
              <a:t>Data-Flow</a:t>
            </a:r>
            <a:r>
              <a:rPr sz="4000" spc="-35" dirty="0"/>
              <a:t> </a:t>
            </a:r>
            <a:r>
              <a:rPr sz="4000" dirty="0"/>
              <a:t>Abstraction</a:t>
            </a:r>
            <a:endParaRPr sz="4000"/>
          </a:p>
        </p:txBody>
      </p:sp>
      <p:sp>
        <p:nvSpPr>
          <p:cNvPr id="3" name="object 3"/>
          <p:cNvSpPr txBox="1"/>
          <p:nvPr/>
        </p:nvSpPr>
        <p:spPr>
          <a:xfrm>
            <a:off x="707388" y="1600708"/>
            <a:ext cx="7814309" cy="1640205"/>
          </a:xfrm>
          <a:prstGeom prst="rect">
            <a:avLst/>
          </a:prstGeom>
        </p:spPr>
        <p:txBody>
          <a:bodyPr vert="horz" wrap="square" lIns="0" tIns="12700" rIns="0" bIns="0" rtlCol="0">
            <a:spAutoFit/>
          </a:bodyPr>
          <a:lstStyle/>
          <a:p>
            <a:pPr marL="243205" marR="41910" indent="-230505">
              <a:lnSpc>
                <a:spcPct val="117000"/>
              </a:lnSpc>
              <a:spcBef>
                <a:spcPts val="100"/>
              </a:spcBef>
              <a:buClr>
                <a:srgbClr val="000000"/>
              </a:buClr>
              <a:buFont typeface="Arial MT"/>
              <a:buChar char="•"/>
              <a:tabLst>
                <a:tab pos="242570" algn="l"/>
                <a:tab pos="242570" algn="l"/>
              </a:tabLst>
            </a:pPr>
            <a:r>
              <a:rPr sz="2200" dirty="0">
                <a:solidFill>
                  <a:srgbClr val="FF0000"/>
                </a:solidFill>
                <a:latin typeface="Palatino Linotype" panose="02040502050505030304"/>
                <a:cs typeface="Palatino Linotype" panose="02040502050505030304"/>
              </a:rPr>
              <a:t>Program </a:t>
            </a:r>
            <a:r>
              <a:rPr sz="2200" spc="-5" dirty="0">
                <a:solidFill>
                  <a:srgbClr val="FF0000"/>
                </a:solidFill>
                <a:latin typeface="Palatino Linotype" panose="02040502050505030304"/>
                <a:cs typeface="Palatino Linotype" panose="02040502050505030304"/>
              </a:rPr>
              <a:t>execution </a:t>
            </a:r>
            <a:r>
              <a:rPr sz="2200" spc="-5" dirty="0">
                <a:latin typeface="Palatino Linotype" panose="02040502050505030304"/>
                <a:cs typeface="Palatino Linotype" panose="02040502050505030304"/>
              </a:rPr>
              <a:t>can be </a:t>
            </a:r>
            <a:r>
              <a:rPr sz="2200" spc="-10" dirty="0">
                <a:latin typeface="Palatino Linotype" panose="02040502050505030304"/>
                <a:cs typeface="Palatino Linotype" panose="02040502050505030304"/>
              </a:rPr>
              <a:t>viewed </a:t>
            </a:r>
            <a:r>
              <a:rPr sz="2200" dirty="0">
                <a:latin typeface="Palatino Linotype" panose="02040502050505030304"/>
                <a:cs typeface="Palatino Linotype" panose="02040502050505030304"/>
              </a:rPr>
              <a:t>as </a:t>
            </a:r>
            <a:r>
              <a:rPr sz="2200" i="1" dirty="0">
                <a:latin typeface="Palatino Linotype" panose="02040502050505030304"/>
                <a:cs typeface="Palatino Linotype" panose="02040502050505030304"/>
              </a:rPr>
              <a:t>a </a:t>
            </a:r>
            <a:r>
              <a:rPr sz="2200" i="1" spc="-10" dirty="0">
                <a:latin typeface="Palatino Linotype" panose="02040502050505030304"/>
                <a:cs typeface="Palatino Linotype" panose="02040502050505030304"/>
              </a:rPr>
              <a:t>series </a:t>
            </a:r>
            <a:r>
              <a:rPr sz="2200" i="1" spc="-5" dirty="0">
                <a:latin typeface="Palatino Linotype" panose="02040502050505030304"/>
                <a:cs typeface="Palatino Linotype" panose="02040502050505030304"/>
              </a:rPr>
              <a:t>of transformations </a:t>
            </a:r>
            <a:r>
              <a:rPr sz="2200" i="1" spc="-535" dirty="0">
                <a:latin typeface="Palatino Linotype" panose="02040502050505030304"/>
                <a:cs typeface="Palatino Linotype" panose="02040502050505030304"/>
              </a:rPr>
              <a:t> </a:t>
            </a:r>
            <a:r>
              <a:rPr sz="2200" i="1" spc="-5" dirty="0">
                <a:latin typeface="Palatino Linotype" panose="02040502050505030304"/>
                <a:cs typeface="Palatino Linotype" panose="02040502050505030304"/>
              </a:rPr>
              <a:t>of </a:t>
            </a:r>
            <a:r>
              <a:rPr sz="2200" i="1" dirty="0">
                <a:latin typeface="Palatino Linotype" panose="02040502050505030304"/>
                <a:cs typeface="Palatino Linotype" panose="02040502050505030304"/>
              </a:rPr>
              <a:t>the</a:t>
            </a:r>
            <a:r>
              <a:rPr sz="2200" i="1" spc="-10" dirty="0">
                <a:latin typeface="Palatino Linotype" panose="02040502050505030304"/>
                <a:cs typeface="Palatino Linotype" panose="02040502050505030304"/>
              </a:rPr>
              <a:t> program</a:t>
            </a:r>
            <a:r>
              <a:rPr sz="2200" i="1" dirty="0">
                <a:latin typeface="Palatino Linotype" panose="02040502050505030304"/>
                <a:cs typeface="Palatino Linotype" panose="02040502050505030304"/>
              </a:rPr>
              <a:t> </a:t>
            </a:r>
            <a:r>
              <a:rPr sz="2200" i="1" spc="-5" dirty="0">
                <a:latin typeface="Palatino Linotype" panose="02040502050505030304"/>
                <a:cs typeface="Palatino Linotype" panose="02040502050505030304"/>
              </a:rPr>
              <a:t>state</a:t>
            </a:r>
            <a:r>
              <a:rPr sz="2200" i="1"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a:t>
            </a:r>
            <a:r>
              <a:rPr sz="2200" spc="-15" dirty="0">
                <a:latin typeface="Palatino Linotype" panose="02040502050505030304"/>
                <a:cs typeface="Palatino Linotype" panose="02040502050505030304"/>
              </a:rPr>
              <a:t>values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 all </a:t>
            </a:r>
            <a:r>
              <a:rPr sz="2200" spc="-10" dirty="0">
                <a:latin typeface="Palatino Linotype" panose="02040502050505030304"/>
                <a:cs typeface="Palatino Linotype" panose="02040502050505030304"/>
              </a:rPr>
              <a:t>variables)</a:t>
            </a:r>
            <a:endParaRPr sz="2200">
              <a:latin typeface="Palatino Linotype" panose="02040502050505030304"/>
              <a:cs typeface="Palatino Linotype" panose="02040502050505030304"/>
            </a:endParaRPr>
          </a:p>
          <a:p>
            <a:pPr marL="697865" marR="5080" lvl="1" indent="-228600">
              <a:lnSpc>
                <a:spcPct val="120000"/>
              </a:lnSpc>
              <a:spcBef>
                <a:spcPts val="1335"/>
              </a:spcBef>
              <a:buFont typeface="Wingdings" panose="05000000000000000000"/>
              <a:buChar char=""/>
              <a:tabLst>
                <a:tab pos="698500" algn="l"/>
              </a:tabLst>
            </a:pPr>
            <a:r>
              <a:rPr sz="1800" dirty="0">
                <a:latin typeface="Palatino Linotype" panose="02040502050505030304"/>
                <a:cs typeface="Palatino Linotype" panose="02040502050505030304"/>
              </a:rPr>
              <a:t>Each</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execution</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intermediate-code</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statement</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transforms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a:t>
            </a:r>
            <a:r>
              <a:rPr sz="1800" spc="10" dirty="0">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input </a:t>
            </a:r>
            <a:r>
              <a:rPr sz="1800" spc="-434" dirty="0">
                <a:solidFill>
                  <a:srgbClr val="0432FF"/>
                </a:solidFill>
                <a:latin typeface="Palatino Linotype" panose="02040502050505030304"/>
                <a:cs typeface="Palatino Linotype" panose="02040502050505030304"/>
              </a:rPr>
              <a:t> </a:t>
            </a:r>
            <a:r>
              <a:rPr sz="1800" spc="-5" dirty="0">
                <a:solidFill>
                  <a:srgbClr val="0432FF"/>
                </a:solidFill>
                <a:latin typeface="Palatino Linotype" panose="02040502050505030304"/>
                <a:cs typeface="Palatino Linotype" panose="02040502050505030304"/>
              </a:rPr>
              <a:t>state </a:t>
            </a:r>
            <a:r>
              <a:rPr sz="1800" dirty="0">
                <a:latin typeface="Palatino Linotype" panose="02040502050505030304"/>
                <a:cs typeface="Palatino Linotype" panose="02040502050505030304"/>
              </a:rPr>
              <a:t>to a new</a:t>
            </a:r>
            <a:r>
              <a:rPr sz="1800" spc="-5" dirty="0">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output </a:t>
            </a:r>
            <a:r>
              <a:rPr sz="1800" spc="-5" dirty="0">
                <a:solidFill>
                  <a:srgbClr val="0432FF"/>
                </a:solidFill>
                <a:latin typeface="Palatino Linotype" panose="02040502050505030304"/>
                <a:cs typeface="Palatino Linotype" panose="02040502050505030304"/>
              </a:rPr>
              <a:t>state</a:t>
            </a:r>
            <a:endParaRPr sz="1800">
              <a:latin typeface="Palatino Linotype" panose="02040502050505030304"/>
              <a:cs typeface="Palatino Linotype" panose="02040502050505030304"/>
            </a:endParaRPr>
          </a:p>
        </p:txBody>
      </p:sp>
      <p:sp>
        <p:nvSpPr>
          <p:cNvPr id="4" name="object 4"/>
          <p:cNvSpPr txBox="1"/>
          <p:nvPr/>
        </p:nvSpPr>
        <p:spPr>
          <a:xfrm>
            <a:off x="3667695" y="3793016"/>
            <a:ext cx="1417955" cy="442595"/>
          </a:xfrm>
          <a:prstGeom prst="rect">
            <a:avLst/>
          </a:prstGeom>
          <a:ln w="12700">
            <a:solidFill>
              <a:srgbClr val="000000"/>
            </a:solidFill>
          </a:ln>
        </p:spPr>
        <p:txBody>
          <a:bodyPr vert="horz" wrap="square" lIns="0" tIns="87630" rIns="0" bIns="0" rtlCol="0">
            <a:spAutoFit/>
          </a:bodyPr>
          <a:lstStyle/>
          <a:p>
            <a:pPr marL="193675">
              <a:lnSpc>
                <a:spcPct val="100000"/>
              </a:lnSpc>
              <a:spcBef>
                <a:spcPts val="690"/>
              </a:spcBef>
            </a:pPr>
            <a:r>
              <a:rPr sz="1600" spc="-5" dirty="0">
                <a:latin typeface="Palatino Linotype" panose="02040502050505030304"/>
                <a:cs typeface="Palatino Linotype" panose="02040502050505030304"/>
              </a:rPr>
              <a:t>Statement</a:t>
            </a:r>
            <a:r>
              <a:rPr sz="1600" spc="-3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s</a:t>
            </a:r>
            <a:endParaRPr sz="1600">
              <a:latin typeface="Palatino Linotype" panose="02040502050505030304"/>
              <a:cs typeface="Palatino Linotype" panose="02040502050505030304"/>
            </a:endParaRPr>
          </a:p>
        </p:txBody>
      </p:sp>
      <p:sp>
        <p:nvSpPr>
          <p:cNvPr id="5" name="object 5"/>
          <p:cNvSpPr/>
          <p:nvPr/>
        </p:nvSpPr>
        <p:spPr>
          <a:xfrm>
            <a:off x="5085383" y="3962541"/>
            <a:ext cx="859155" cy="103505"/>
          </a:xfrm>
          <a:custGeom>
            <a:avLst/>
            <a:gdLst/>
            <a:ahLst/>
            <a:cxnLst/>
            <a:rect l="l" t="t" r="r" b="b"/>
            <a:pathLst>
              <a:path w="859154" h="103504">
                <a:moveTo>
                  <a:pt x="770489" y="0"/>
                </a:moveTo>
                <a:lnTo>
                  <a:pt x="766601" y="1023"/>
                </a:lnTo>
                <a:lnTo>
                  <a:pt x="763068" y="7081"/>
                </a:lnTo>
                <a:lnTo>
                  <a:pt x="764090" y="10970"/>
                </a:lnTo>
                <a:lnTo>
                  <a:pt x="823030" y="45351"/>
                </a:lnTo>
                <a:lnTo>
                  <a:pt x="846522" y="45351"/>
                </a:lnTo>
                <a:lnTo>
                  <a:pt x="846522" y="58051"/>
                </a:lnTo>
                <a:lnTo>
                  <a:pt x="823030" y="58051"/>
                </a:lnTo>
                <a:lnTo>
                  <a:pt x="764090" y="92434"/>
                </a:lnTo>
                <a:lnTo>
                  <a:pt x="763066" y="96321"/>
                </a:lnTo>
                <a:lnTo>
                  <a:pt x="766601" y="102381"/>
                </a:lnTo>
                <a:lnTo>
                  <a:pt x="770489" y="103403"/>
                </a:lnTo>
                <a:lnTo>
                  <a:pt x="848236" y="58051"/>
                </a:lnTo>
                <a:lnTo>
                  <a:pt x="846522" y="58051"/>
                </a:lnTo>
                <a:lnTo>
                  <a:pt x="848238" y="58050"/>
                </a:lnTo>
                <a:lnTo>
                  <a:pt x="859121" y="51701"/>
                </a:lnTo>
                <a:lnTo>
                  <a:pt x="770489" y="0"/>
                </a:lnTo>
                <a:close/>
              </a:path>
              <a:path w="859154" h="103504">
                <a:moveTo>
                  <a:pt x="833916" y="51701"/>
                </a:moveTo>
                <a:lnTo>
                  <a:pt x="823031" y="58051"/>
                </a:lnTo>
                <a:lnTo>
                  <a:pt x="846522" y="58051"/>
                </a:lnTo>
                <a:lnTo>
                  <a:pt x="846522" y="57186"/>
                </a:lnTo>
                <a:lnTo>
                  <a:pt x="843319" y="57186"/>
                </a:lnTo>
                <a:lnTo>
                  <a:pt x="833916" y="51701"/>
                </a:lnTo>
                <a:close/>
              </a:path>
              <a:path w="859154" h="103504">
                <a:moveTo>
                  <a:pt x="0" y="45350"/>
                </a:moveTo>
                <a:lnTo>
                  <a:pt x="0" y="58050"/>
                </a:lnTo>
                <a:lnTo>
                  <a:pt x="823033" y="58050"/>
                </a:lnTo>
                <a:lnTo>
                  <a:pt x="833916" y="51701"/>
                </a:lnTo>
                <a:lnTo>
                  <a:pt x="823030" y="45351"/>
                </a:lnTo>
                <a:lnTo>
                  <a:pt x="0" y="45350"/>
                </a:lnTo>
                <a:close/>
              </a:path>
              <a:path w="859154" h="103504">
                <a:moveTo>
                  <a:pt x="843319" y="46216"/>
                </a:moveTo>
                <a:lnTo>
                  <a:pt x="833916" y="51701"/>
                </a:lnTo>
                <a:lnTo>
                  <a:pt x="843319" y="57186"/>
                </a:lnTo>
                <a:lnTo>
                  <a:pt x="843319" y="46216"/>
                </a:lnTo>
                <a:close/>
              </a:path>
              <a:path w="859154" h="103504">
                <a:moveTo>
                  <a:pt x="846522" y="46216"/>
                </a:moveTo>
                <a:lnTo>
                  <a:pt x="843319" y="46216"/>
                </a:lnTo>
                <a:lnTo>
                  <a:pt x="843319" y="57186"/>
                </a:lnTo>
                <a:lnTo>
                  <a:pt x="846522" y="57186"/>
                </a:lnTo>
                <a:lnTo>
                  <a:pt x="846522" y="46216"/>
                </a:lnTo>
                <a:close/>
              </a:path>
              <a:path w="859154" h="103504">
                <a:moveTo>
                  <a:pt x="823030" y="45351"/>
                </a:moveTo>
                <a:lnTo>
                  <a:pt x="833916" y="51701"/>
                </a:lnTo>
                <a:lnTo>
                  <a:pt x="843319" y="46216"/>
                </a:lnTo>
                <a:lnTo>
                  <a:pt x="846522" y="46216"/>
                </a:lnTo>
                <a:lnTo>
                  <a:pt x="846522" y="45351"/>
                </a:lnTo>
                <a:lnTo>
                  <a:pt x="823030" y="45351"/>
                </a:lnTo>
                <a:close/>
              </a:path>
            </a:pathLst>
          </a:custGeom>
          <a:solidFill>
            <a:srgbClr val="000000"/>
          </a:solidFill>
        </p:spPr>
        <p:txBody>
          <a:bodyPr wrap="square" lIns="0" tIns="0" rIns="0" bIns="0" rtlCol="0"/>
          <a:lstStyle/>
          <a:p>
            <a:endParaRPr/>
          </a:p>
        </p:txBody>
      </p:sp>
      <p:sp>
        <p:nvSpPr>
          <p:cNvPr id="6" name="object 6"/>
          <p:cNvSpPr/>
          <p:nvPr/>
        </p:nvSpPr>
        <p:spPr>
          <a:xfrm>
            <a:off x="2786062" y="3962541"/>
            <a:ext cx="882015" cy="103505"/>
          </a:xfrm>
          <a:custGeom>
            <a:avLst/>
            <a:gdLst/>
            <a:ahLst/>
            <a:cxnLst/>
            <a:rect l="l" t="t" r="r" b="b"/>
            <a:pathLst>
              <a:path w="882014" h="103504">
                <a:moveTo>
                  <a:pt x="793029" y="0"/>
                </a:moveTo>
                <a:lnTo>
                  <a:pt x="789141" y="1023"/>
                </a:lnTo>
                <a:lnTo>
                  <a:pt x="785608" y="7081"/>
                </a:lnTo>
                <a:lnTo>
                  <a:pt x="786630" y="10970"/>
                </a:lnTo>
                <a:lnTo>
                  <a:pt x="845570" y="45351"/>
                </a:lnTo>
                <a:lnTo>
                  <a:pt x="869064" y="45351"/>
                </a:lnTo>
                <a:lnTo>
                  <a:pt x="869064" y="58051"/>
                </a:lnTo>
                <a:lnTo>
                  <a:pt x="845570" y="58051"/>
                </a:lnTo>
                <a:lnTo>
                  <a:pt x="786630" y="92434"/>
                </a:lnTo>
                <a:lnTo>
                  <a:pt x="785606" y="96321"/>
                </a:lnTo>
                <a:lnTo>
                  <a:pt x="789141" y="102381"/>
                </a:lnTo>
                <a:lnTo>
                  <a:pt x="793029" y="103403"/>
                </a:lnTo>
                <a:lnTo>
                  <a:pt x="870776" y="58051"/>
                </a:lnTo>
                <a:lnTo>
                  <a:pt x="869064" y="58051"/>
                </a:lnTo>
                <a:lnTo>
                  <a:pt x="870778" y="58050"/>
                </a:lnTo>
                <a:lnTo>
                  <a:pt x="881661" y="51701"/>
                </a:lnTo>
                <a:lnTo>
                  <a:pt x="793029" y="0"/>
                </a:lnTo>
                <a:close/>
              </a:path>
              <a:path w="882014" h="103504">
                <a:moveTo>
                  <a:pt x="856456" y="51701"/>
                </a:moveTo>
                <a:lnTo>
                  <a:pt x="845571" y="58051"/>
                </a:lnTo>
                <a:lnTo>
                  <a:pt x="869064" y="58051"/>
                </a:lnTo>
                <a:lnTo>
                  <a:pt x="869064" y="57186"/>
                </a:lnTo>
                <a:lnTo>
                  <a:pt x="865859" y="57186"/>
                </a:lnTo>
                <a:lnTo>
                  <a:pt x="856456" y="51701"/>
                </a:lnTo>
                <a:close/>
              </a:path>
              <a:path w="882014" h="103504">
                <a:moveTo>
                  <a:pt x="0" y="45350"/>
                </a:moveTo>
                <a:lnTo>
                  <a:pt x="0" y="58050"/>
                </a:lnTo>
                <a:lnTo>
                  <a:pt x="845573" y="58050"/>
                </a:lnTo>
                <a:lnTo>
                  <a:pt x="856456" y="51701"/>
                </a:lnTo>
                <a:lnTo>
                  <a:pt x="845570" y="45351"/>
                </a:lnTo>
                <a:lnTo>
                  <a:pt x="0" y="45350"/>
                </a:lnTo>
                <a:close/>
              </a:path>
              <a:path w="882014" h="103504">
                <a:moveTo>
                  <a:pt x="865859" y="46216"/>
                </a:moveTo>
                <a:lnTo>
                  <a:pt x="856456" y="51701"/>
                </a:lnTo>
                <a:lnTo>
                  <a:pt x="865859" y="57186"/>
                </a:lnTo>
                <a:lnTo>
                  <a:pt x="865859" y="46216"/>
                </a:lnTo>
                <a:close/>
              </a:path>
              <a:path w="882014" h="103504">
                <a:moveTo>
                  <a:pt x="869064" y="46216"/>
                </a:moveTo>
                <a:lnTo>
                  <a:pt x="865859" y="46216"/>
                </a:lnTo>
                <a:lnTo>
                  <a:pt x="865859" y="57186"/>
                </a:lnTo>
                <a:lnTo>
                  <a:pt x="869064" y="57186"/>
                </a:lnTo>
                <a:lnTo>
                  <a:pt x="869064" y="46216"/>
                </a:lnTo>
                <a:close/>
              </a:path>
              <a:path w="882014" h="103504">
                <a:moveTo>
                  <a:pt x="845570" y="45351"/>
                </a:moveTo>
                <a:lnTo>
                  <a:pt x="856456" y="51701"/>
                </a:lnTo>
                <a:lnTo>
                  <a:pt x="865859" y="46216"/>
                </a:lnTo>
                <a:lnTo>
                  <a:pt x="869064" y="46216"/>
                </a:lnTo>
                <a:lnTo>
                  <a:pt x="869064" y="45351"/>
                </a:lnTo>
                <a:lnTo>
                  <a:pt x="845570" y="45351"/>
                </a:lnTo>
                <a:close/>
              </a:path>
            </a:pathLst>
          </a:custGeom>
          <a:solidFill>
            <a:srgbClr val="000000"/>
          </a:solidFill>
        </p:spPr>
        <p:txBody>
          <a:bodyPr wrap="square" lIns="0" tIns="0" rIns="0" bIns="0" rtlCol="0"/>
          <a:lstStyle/>
          <a:p>
            <a:endParaRPr/>
          </a:p>
        </p:txBody>
      </p:sp>
      <p:sp>
        <p:nvSpPr>
          <p:cNvPr id="7" name="object 7"/>
          <p:cNvSpPr txBox="1"/>
          <p:nvPr/>
        </p:nvSpPr>
        <p:spPr>
          <a:xfrm>
            <a:off x="563274" y="4831334"/>
            <a:ext cx="3998595" cy="720725"/>
          </a:xfrm>
          <a:prstGeom prst="rect">
            <a:avLst/>
          </a:prstGeom>
        </p:spPr>
        <p:txBody>
          <a:bodyPr vert="horz" wrap="square" lIns="0" tIns="106045" rIns="0" bIns="0" rtlCol="0">
            <a:spAutoFit/>
          </a:bodyPr>
          <a:lstStyle/>
          <a:p>
            <a:pPr marL="635" algn="ctr">
              <a:lnSpc>
                <a:spcPct val="100000"/>
              </a:lnSpc>
              <a:spcBef>
                <a:spcPts val="835"/>
              </a:spcBef>
            </a:pPr>
            <a:r>
              <a:rPr sz="1800" dirty="0">
                <a:solidFill>
                  <a:srgbClr val="FF0000"/>
                </a:solidFill>
                <a:latin typeface="Palatino Linotype" panose="02040502050505030304"/>
                <a:cs typeface="Palatino Linotype" panose="02040502050505030304"/>
              </a:rPr>
              <a:t>Input</a:t>
            </a:r>
            <a:r>
              <a:rPr sz="1800" spc="-3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state</a:t>
            </a:r>
            <a:endParaRPr sz="1800">
              <a:latin typeface="Palatino Linotype" panose="02040502050505030304"/>
              <a:cs typeface="Palatino Linotype" panose="02040502050505030304"/>
            </a:endParaRPr>
          </a:p>
          <a:p>
            <a:pPr algn="ctr">
              <a:lnSpc>
                <a:spcPct val="100000"/>
              </a:lnSpc>
              <a:spcBef>
                <a:spcPts val="655"/>
              </a:spcBef>
            </a:pPr>
            <a:r>
              <a:rPr sz="1600" spc="-5" dirty="0">
                <a:latin typeface="Palatino Linotype" panose="02040502050505030304"/>
                <a:cs typeface="Palatino Linotype" panose="02040502050505030304"/>
              </a:rPr>
              <a:t>(associated</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with</a:t>
            </a:r>
            <a:r>
              <a:rPr sz="1600" dirty="0">
                <a:latin typeface="Palatino Linotype" panose="02040502050505030304"/>
                <a:cs typeface="Palatino Linotype" panose="02040502050505030304"/>
              </a:rPr>
              <a:t> the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before</a:t>
            </a:r>
            <a:r>
              <a:rPr sz="1600" spc="-1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s</a:t>
            </a:r>
            <a:r>
              <a:rPr sz="1600"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p:txBody>
      </p:sp>
      <p:sp>
        <p:nvSpPr>
          <p:cNvPr id="8" name="object 8"/>
          <p:cNvSpPr/>
          <p:nvPr/>
        </p:nvSpPr>
        <p:spPr>
          <a:xfrm>
            <a:off x="2562731" y="4026583"/>
            <a:ext cx="701675" cy="879475"/>
          </a:xfrm>
          <a:custGeom>
            <a:avLst/>
            <a:gdLst/>
            <a:ahLst/>
            <a:cxnLst/>
            <a:rect l="l" t="t" r="r" b="b"/>
            <a:pathLst>
              <a:path w="701675" h="879475">
                <a:moveTo>
                  <a:pt x="701073" y="0"/>
                </a:moveTo>
                <a:lnTo>
                  <a:pt x="0" y="879476"/>
                </a:lnTo>
              </a:path>
            </a:pathLst>
          </a:custGeom>
          <a:ln w="6350">
            <a:solidFill>
              <a:srgbClr val="FF0000"/>
            </a:solidFill>
          </a:ln>
        </p:spPr>
        <p:txBody>
          <a:bodyPr wrap="square" lIns="0" tIns="0" rIns="0" bIns="0" rtlCol="0"/>
          <a:lstStyle/>
          <a:p>
            <a:endParaRPr/>
          </a:p>
        </p:txBody>
      </p:sp>
      <p:sp>
        <p:nvSpPr>
          <p:cNvPr id="9" name="object 9"/>
          <p:cNvSpPr txBox="1"/>
          <p:nvPr/>
        </p:nvSpPr>
        <p:spPr>
          <a:xfrm>
            <a:off x="4911454" y="4831334"/>
            <a:ext cx="3846195" cy="720725"/>
          </a:xfrm>
          <a:prstGeom prst="rect">
            <a:avLst/>
          </a:prstGeom>
        </p:spPr>
        <p:txBody>
          <a:bodyPr vert="horz" wrap="square" lIns="0" tIns="106045" rIns="0" bIns="0" rtlCol="0">
            <a:spAutoFit/>
          </a:bodyPr>
          <a:lstStyle/>
          <a:p>
            <a:pPr marL="635" algn="ctr">
              <a:lnSpc>
                <a:spcPct val="100000"/>
              </a:lnSpc>
              <a:spcBef>
                <a:spcPts val="835"/>
              </a:spcBef>
            </a:pPr>
            <a:r>
              <a:rPr sz="1800" dirty="0">
                <a:solidFill>
                  <a:srgbClr val="FF0000"/>
                </a:solidFill>
                <a:latin typeface="Palatino Linotype" panose="02040502050505030304"/>
                <a:cs typeface="Palatino Linotype" panose="02040502050505030304"/>
              </a:rPr>
              <a:t>Output</a:t>
            </a:r>
            <a:r>
              <a:rPr sz="1800" spc="-3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state</a:t>
            </a:r>
            <a:endParaRPr sz="1800">
              <a:latin typeface="Palatino Linotype" panose="02040502050505030304"/>
              <a:cs typeface="Palatino Linotype" panose="02040502050505030304"/>
            </a:endParaRPr>
          </a:p>
          <a:p>
            <a:pPr algn="ctr">
              <a:lnSpc>
                <a:spcPct val="100000"/>
              </a:lnSpc>
              <a:spcBef>
                <a:spcPts val="655"/>
              </a:spcBef>
            </a:pPr>
            <a:r>
              <a:rPr sz="1600" spc="-5" dirty="0">
                <a:latin typeface="Palatino Linotype" panose="02040502050505030304"/>
                <a:cs typeface="Palatino Linotype" panose="02040502050505030304"/>
              </a:rPr>
              <a:t>(associated</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with</a:t>
            </a:r>
            <a:r>
              <a:rPr sz="1600" dirty="0">
                <a:latin typeface="Palatino Linotype" panose="02040502050505030304"/>
                <a:cs typeface="Palatino Linotype" panose="02040502050505030304"/>
              </a:rPr>
              <a:t> the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 </a:t>
            </a:r>
            <a:r>
              <a:rPr sz="1600" spc="-5" dirty="0">
                <a:latin typeface="Palatino Linotype" panose="02040502050505030304"/>
                <a:cs typeface="Palatino Linotype" panose="02040502050505030304"/>
              </a:rPr>
              <a:t>after</a:t>
            </a:r>
            <a:r>
              <a:rPr sz="160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s</a:t>
            </a:r>
            <a:r>
              <a:rPr sz="1600"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p:txBody>
      </p:sp>
      <p:sp>
        <p:nvSpPr>
          <p:cNvPr id="10" name="object 10"/>
          <p:cNvSpPr/>
          <p:nvPr/>
        </p:nvSpPr>
        <p:spPr>
          <a:xfrm>
            <a:off x="5546060" y="4038922"/>
            <a:ext cx="1289050" cy="867410"/>
          </a:xfrm>
          <a:custGeom>
            <a:avLst/>
            <a:gdLst/>
            <a:ahLst/>
            <a:cxnLst/>
            <a:rect l="l" t="t" r="r" b="b"/>
            <a:pathLst>
              <a:path w="1289050" h="867410">
                <a:moveTo>
                  <a:pt x="0" y="0"/>
                </a:moveTo>
                <a:lnTo>
                  <a:pt x="1288650" y="867136"/>
                </a:lnTo>
              </a:path>
            </a:pathLst>
          </a:custGeom>
          <a:ln w="6350">
            <a:solidFill>
              <a:srgbClr val="FF0000"/>
            </a:solidFill>
          </a:ln>
        </p:spPr>
        <p:txBody>
          <a:bodyPr wrap="square" lIns="0" tIns="0" rIns="0" bIns="0" rtlCol="0"/>
          <a:lstStyle/>
          <a:p>
            <a:endParaRPr/>
          </a:p>
        </p:txBody>
      </p:sp>
      <p:sp>
        <p:nvSpPr>
          <p:cNvPr id="11" name="object 11"/>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2" name="object 12"/>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3" name="object 13"/>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25</a:t>
            </a:fld>
            <a:endParaRPr dirty="0"/>
          </a:p>
        </p:txBody>
      </p:sp>
      <p:sp>
        <p:nvSpPr>
          <p:cNvPr id="2" name="object 2"/>
          <p:cNvSpPr txBox="1">
            <a:spLocks noGrp="1"/>
          </p:cNvSpPr>
          <p:nvPr>
            <p:ph type="title"/>
          </p:nvPr>
        </p:nvSpPr>
        <p:spPr>
          <a:xfrm>
            <a:off x="707390" y="524763"/>
            <a:ext cx="632079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40" dirty="0"/>
              <a:t> </a:t>
            </a:r>
            <a:r>
              <a:rPr sz="4000" dirty="0"/>
              <a:t>Data-Flow</a:t>
            </a:r>
            <a:r>
              <a:rPr sz="4000" spc="-35" dirty="0"/>
              <a:t> </a:t>
            </a:r>
            <a:r>
              <a:rPr sz="4000" dirty="0"/>
              <a:t>Abstraction</a:t>
            </a:r>
            <a:endParaRPr sz="4000"/>
          </a:p>
        </p:txBody>
      </p:sp>
      <p:sp>
        <p:nvSpPr>
          <p:cNvPr id="3" name="object 3"/>
          <p:cNvSpPr txBox="1"/>
          <p:nvPr/>
        </p:nvSpPr>
        <p:spPr>
          <a:xfrm>
            <a:off x="707390" y="1598168"/>
            <a:ext cx="7571105" cy="3645535"/>
          </a:xfrm>
          <a:prstGeom prst="rect">
            <a:avLst/>
          </a:prstGeom>
        </p:spPr>
        <p:txBody>
          <a:bodyPr vert="horz" wrap="square" lIns="0" tIns="12700" rIns="0" bIns="0" rtlCol="0">
            <a:spAutoFit/>
          </a:bodyPr>
          <a:lstStyle/>
          <a:p>
            <a:pPr marL="242570" marR="52705" indent="-230505">
              <a:lnSpc>
                <a:spcPct val="119000"/>
              </a:lnSpc>
              <a:spcBef>
                <a:spcPts val="100"/>
              </a:spcBef>
              <a:buFont typeface="Arial MT"/>
              <a:buChar char="•"/>
              <a:tabLst>
                <a:tab pos="242570" algn="l"/>
                <a:tab pos="242570" algn="l"/>
              </a:tabLst>
            </a:pPr>
            <a:r>
              <a:rPr sz="2100" spc="-5" dirty="0">
                <a:latin typeface="Palatino Linotype" panose="02040502050505030304"/>
                <a:cs typeface="Palatino Linotype" panose="02040502050505030304"/>
              </a:rPr>
              <a:t>When</a:t>
            </a:r>
            <a:r>
              <a:rPr sz="2100"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analyzing </a:t>
            </a:r>
            <a:r>
              <a:rPr sz="2100" dirty="0">
                <a:latin typeface="Palatino Linotype" panose="02040502050505030304"/>
                <a:cs typeface="Palatino Linotype" panose="02040502050505030304"/>
              </a:rPr>
              <a:t>a </a:t>
            </a:r>
            <a:r>
              <a:rPr sz="2100" spc="-5" dirty="0">
                <a:latin typeface="Palatino Linotype" panose="02040502050505030304"/>
                <a:cs typeface="Palatino Linotype" panose="02040502050505030304"/>
              </a:rPr>
              <a:t>program,</a:t>
            </a:r>
            <a:r>
              <a:rPr sz="2100" spc="5" dirty="0">
                <a:latin typeface="Palatino Linotype" panose="02040502050505030304"/>
                <a:cs typeface="Palatino Linotype" panose="02040502050505030304"/>
              </a:rPr>
              <a:t> </a:t>
            </a:r>
            <a:r>
              <a:rPr sz="2100" spc="-20" dirty="0">
                <a:latin typeface="Palatino Linotype" panose="02040502050505030304"/>
                <a:cs typeface="Palatino Linotype" panose="02040502050505030304"/>
              </a:rPr>
              <a:t>we</a:t>
            </a:r>
            <a:r>
              <a:rPr sz="2100" spc="-10"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must</a:t>
            </a:r>
            <a:r>
              <a:rPr sz="2100" spc="5"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consider </a:t>
            </a:r>
            <a:r>
              <a:rPr sz="2100" dirty="0">
                <a:latin typeface="Palatino Linotype" panose="02040502050505030304"/>
                <a:cs typeface="Palatino Linotype" panose="02040502050505030304"/>
              </a:rPr>
              <a:t>all</a:t>
            </a:r>
            <a:r>
              <a:rPr sz="2100" spc="5"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the</a:t>
            </a:r>
            <a:r>
              <a:rPr sz="2100" spc="-10"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possible </a:t>
            </a:r>
            <a:r>
              <a:rPr sz="2100" spc="-509"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execution </a:t>
            </a:r>
            <a:r>
              <a:rPr sz="2100" dirty="0">
                <a:latin typeface="Palatino Linotype" panose="02040502050505030304"/>
                <a:cs typeface="Palatino Linotype" panose="02040502050505030304"/>
              </a:rPr>
              <a:t>paths</a:t>
            </a:r>
            <a:r>
              <a:rPr sz="2100" spc="-5" dirty="0">
                <a:latin typeface="Palatino Linotype" panose="02040502050505030304"/>
                <a:cs typeface="Palatino Linotype" panose="02040502050505030304"/>
              </a:rPr>
              <a:t> through</a:t>
            </a:r>
            <a:r>
              <a:rPr sz="2100" dirty="0">
                <a:latin typeface="Palatino Linotype" panose="02040502050505030304"/>
                <a:cs typeface="Palatino Linotype" panose="02040502050505030304"/>
              </a:rPr>
              <a:t> a flow</a:t>
            </a:r>
            <a:r>
              <a:rPr sz="2100" spc="-10" dirty="0">
                <a:latin typeface="Palatino Linotype" panose="02040502050505030304"/>
                <a:cs typeface="Palatino Linotype" panose="02040502050505030304"/>
              </a:rPr>
              <a:t> </a:t>
            </a:r>
            <a:r>
              <a:rPr sz="2100" spc="-5" dirty="0">
                <a:latin typeface="Palatino Linotype" panose="02040502050505030304"/>
                <a:cs typeface="Palatino Linotype" panose="02040502050505030304"/>
              </a:rPr>
              <a:t>graph</a:t>
            </a:r>
            <a:endParaRPr sz="2100">
              <a:latin typeface="Palatino Linotype" panose="02040502050505030304"/>
              <a:cs typeface="Palatino Linotype" panose="02040502050505030304"/>
            </a:endParaRPr>
          </a:p>
          <a:p>
            <a:pPr marL="698500" marR="592455" lvl="1" indent="-228600">
              <a:lnSpc>
                <a:spcPct val="118000"/>
              </a:lnSpc>
              <a:spcBef>
                <a:spcPts val="1315"/>
              </a:spcBef>
              <a:buFont typeface="Wingdings" panose="05000000000000000000"/>
              <a:buChar char=""/>
              <a:tabLst>
                <a:tab pos="697865" algn="l"/>
                <a:tab pos="698500" algn="l"/>
              </a:tabLst>
            </a:pPr>
            <a:r>
              <a:rPr sz="1700" dirty="0">
                <a:latin typeface="Palatino Linotype" panose="02040502050505030304"/>
                <a:cs typeface="Palatino Linotype" panose="02040502050505030304"/>
              </a:rPr>
              <a:t>In</a:t>
            </a:r>
            <a:r>
              <a:rPr sz="1700" spc="-5" dirty="0">
                <a:latin typeface="Palatino Linotype" panose="02040502050505030304"/>
                <a:cs typeface="Palatino Linotype" panose="02040502050505030304"/>
              </a:rPr>
              <a:t> general,</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there</a:t>
            </a:r>
            <a:r>
              <a:rPr sz="1700" dirty="0">
                <a:latin typeface="Palatino Linotype" panose="02040502050505030304"/>
                <a:cs typeface="Palatino Linotype" panose="02040502050505030304"/>
              </a:rPr>
              <a:t> is </a:t>
            </a:r>
            <a:r>
              <a:rPr sz="1700" dirty="0">
                <a:solidFill>
                  <a:srgbClr val="FF0000"/>
                </a:solidFill>
                <a:latin typeface="Palatino Linotype" panose="02040502050505030304"/>
                <a:cs typeface="Palatino Linotype" panose="02040502050505030304"/>
              </a:rPr>
              <a:t>an </a:t>
            </a:r>
            <a:r>
              <a:rPr sz="1700" spc="-5" dirty="0">
                <a:solidFill>
                  <a:srgbClr val="FF0000"/>
                </a:solidFill>
                <a:latin typeface="Palatino Linotype" panose="02040502050505030304"/>
                <a:cs typeface="Palatino Linotype" panose="02040502050505030304"/>
              </a:rPr>
              <a:t>infinite number</a:t>
            </a:r>
            <a:r>
              <a:rPr sz="1700" dirty="0">
                <a:solidFill>
                  <a:srgbClr val="FF0000"/>
                </a:solidFill>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of</a:t>
            </a:r>
            <a:r>
              <a:rPr sz="1700" dirty="0">
                <a:latin typeface="Palatino Linotype" panose="02040502050505030304"/>
                <a:cs typeface="Palatino Linotype" panose="02040502050505030304"/>
              </a:rPr>
              <a:t> possible</a:t>
            </a:r>
            <a:r>
              <a:rPr sz="1700" spc="-5" dirty="0">
                <a:latin typeface="Palatino Linotype" panose="02040502050505030304"/>
                <a:cs typeface="Palatino Linotype" panose="02040502050505030304"/>
              </a:rPr>
              <a:t> paths</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due to the </a:t>
            </a:r>
            <a:r>
              <a:rPr sz="1700" spc="-409"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existence</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of loops</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(and recursions)</a:t>
            </a:r>
            <a:endParaRPr sz="1700">
              <a:latin typeface="Palatino Linotype" panose="02040502050505030304"/>
              <a:cs typeface="Palatino Linotype" panose="02040502050505030304"/>
            </a:endParaRPr>
          </a:p>
          <a:p>
            <a:pPr lvl="1">
              <a:lnSpc>
                <a:spcPct val="100000"/>
              </a:lnSpc>
              <a:spcBef>
                <a:spcPts val="15"/>
              </a:spcBef>
              <a:buFont typeface="Wingdings" panose="05000000000000000000"/>
              <a:buChar char=""/>
            </a:pPr>
            <a:endParaRPr sz="2200">
              <a:latin typeface="Palatino Linotype" panose="02040502050505030304"/>
              <a:cs typeface="Palatino Linotype" panose="02040502050505030304"/>
            </a:endParaRPr>
          </a:p>
          <a:p>
            <a:pPr marL="242570" marR="36195" indent="-230505">
              <a:lnSpc>
                <a:spcPct val="119000"/>
              </a:lnSpc>
              <a:buFont typeface="Arial MT"/>
              <a:buChar char="•"/>
              <a:tabLst>
                <a:tab pos="242570" algn="l"/>
                <a:tab pos="242570" algn="l"/>
              </a:tabLst>
            </a:pPr>
            <a:r>
              <a:rPr sz="2100" spc="-5" dirty="0">
                <a:latin typeface="Palatino Linotype" panose="02040502050505030304"/>
                <a:cs typeface="Palatino Linotype" panose="02040502050505030304"/>
              </a:rPr>
              <a:t>Data-flow analyses</a:t>
            </a:r>
            <a:r>
              <a:rPr sz="2100" dirty="0">
                <a:latin typeface="Palatino Linotype" panose="02040502050505030304"/>
                <a:cs typeface="Palatino Linotype" panose="02040502050505030304"/>
              </a:rPr>
              <a:t> </a:t>
            </a:r>
            <a:r>
              <a:rPr sz="2100" spc="-5" dirty="0">
                <a:solidFill>
                  <a:srgbClr val="FF0000"/>
                </a:solidFill>
                <a:latin typeface="Palatino Linotype" panose="02040502050505030304"/>
                <a:cs typeface="Palatino Linotype" panose="02040502050505030304"/>
              </a:rPr>
              <a:t>summarize </a:t>
            </a:r>
            <a:r>
              <a:rPr sz="2100" dirty="0">
                <a:solidFill>
                  <a:srgbClr val="FF0000"/>
                </a:solidFill>
                <a:latin typeface="Palatino Linotype" panose="02040502050505030304"/>
                <a:cs typeface="Palatino Linotype" panose="02040502050505030304"/>
              </a:rPr>
              <a:t>all</a:t>
            </a:r>
            <a:r>
              <a:rPr sz="2100" spc="5" dirty="0">
                <a:solidFill>
                  <a:srgbClr val="FF0000"/>
                </a:solidFill>
                <a:latin typeface="Palatino Linotype" panose="02040502050505030304"/>
                <a:cs typeface="Palatino Linotype" panose="02040502050505030304"/>
              </a:rPr>
              <a:t> </a:t>
            </a:r>
            <a:r>
              <a:rPr sz="2100" dirty="0">
                <a:solidFill>
                  <a:srgbClr val="FF0000"/>
                </a:solidFill>
                <a:latin typeface="Palatino Linotype" panose="02040502050505030304"/>
                <a:cs typeface="Palatino Linotype" panose="02040502050505030304"/>
              </a:rPr>
              <a:t>the</a:t>
            </a:r>
            <a:r>
              <a:rPr sz="2100" spc="-5" dirty="0">
                <a:solidFill>
                  <a:srgbClr val="FF0000"/>
                </a:solidFill>
                <a:latin typeface="Palatino Linotype" panose="02040502050505030304"/>
                <a:cs typeface="Palatino Linotype" panose="02040502050505030304"/>
              </a:rPr>
              <a:t> possible</a:t>
            </a:r>
            <a:r>
              <a:rPr sz="2100" spc="-10" dirty="0">
                <a:solidFill>
                  <a:srgbClr val="FF0000"/>
                </a:solidFill>
                <a:latin typeface="Palatino Linotype" panose="02040502050505030304"/>
                <a:cs typeface="Palatino Linotype" panose="02040502050505030304"/>
              </a:rPr>
              <a:t> </a:t>
            </a:r>
            <a:r>
              <a:rPr sz="2100" spc="-5" dirty="0">
                <a:solidFill>
                  <a:srgbClr val="FF0000"/>
                </a:solidFill>
                <a:latin typeface="Palatino Linotype" panose="02040502050505030304"/>
                <a:cs typeface="Palatino Linotype" panose="02040502050505030304"/>
              </a:rPr>
              <a:t>program</a:t>
            </a:r>
            <a:r>
              <a:rPr sz="2100" dirty="0">
                <a:solidFill>
                  <a:srgbClr val="FF0000"/>
                </a:solidFill>
                <a:latin typeface="Palatino Linotype" panose="02040502050505030304"/>
                <a:cs typeface="Palatino Linotype" panose="02040502050505030304"/>
              </a:rPr>
              <a:t> </a:t>
            </a:r>
            <a:r>
              <a:rPr sz="2100" spc="-5" dirty="0">
                <a:solidFill>
                  <a:srgbClr val="FF0000"/>
                </a:solidFill>
                <a:latin typeface="Palatino Linotype" panose="02040502050505030304"/>
                <a:cs typeface="Palatino Linotype" panose="02040502050505030304"/>
              </a:rPr>
              <a:t>states </a:t>
            </a:r>
            <a:r>
              <a:rPr sz="2100" spc="-509" dirty="0">
                <a:solidFill>
                  <a:srgbClr val="FF0000"/>
                </a:solidFill>
                <a:latin typeface="Palatino Linotype" panose="02040502050505030304"/>
                <a:cs typeface="Palatino Linotype" panose="02040502050505030304"/>
              </a:rPr>
              <a:t> </a:t>
            </a:r>
            <a:r>
              <a:rPr sz="2100" dirty="0">
                <a:latin typeface="Palatino Linotype" panose="02040502050505030304"/>
                <a:cs typeface="Palatino Linotype" panose="02040502050505030304"/>
              </a:rPr>
              <a:t>that</a:t>
            </a:r>
            <a:r>
              <a:rPr sz="2100" spc="-5"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can</a:t>
            </a:r>
            <a:r>
              <a:rPr sz="2100" spc="-5"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occur</a:t>
            </a:r>
            <a:r>
              <a:rPr sz="2100" spc="-5"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at</a:t>
            </a:r>
            <a:r>
              <a:rPr sz="2100" spc="-5"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a </a:t>
            </a:r>
            <a:r>
              <a:rPr sz="2100" spc="-5" dirty="0">
                <a:latin typeface="Palatino Linotype" panose="02040502050505030304"/>
                <a:cs typeface="Palatino Linotype" panose="02040502050505030304"/>
              </a:rPr>
              <a:t>program</a:t>
            </a:r>
            <a:r>
              <a:rPr sz="2100" spc="-10" dirty="0">
                <a:latin typeface="Palatino Linotype" panose="02040502050505030304"/>
                <a:cs typeface="Palatino Linotype" panose="02040502050505030304"/>
              </a:rPr>
              <a:t> </a:t>
            </a:r>
            <a:r>
              <a:rPr sz="2100" dirty="0">
                <a:latin typeface="Palatino Linotype" panose="02040502050505030304"/>
                <a:cs typeface="Palatino Linotype" panose="02040502050505030304"/>
              </a:rPr>
              <a:t>point </a:t>
            </a:r>
            <a:r>
              <a:rPr sz="2100" spc="-5" dirty="0">
                <a:latin typeface="Palatino Linotype" panose="02040502050505030304"/>
                <a:cs typeface="Palatino Linotype" panose="02040502050505030304"/>
              </a:rPr>
              <a:t>with </a:t>
            </a:r>
            <a:r>
              <a:rPr sz="2100" dirty="0">
                <a:solidFill>
                  <a:srgbClr val="FF0000"/>
                </a:solidFill>
                <a:latin typeface="Palatino Linotype" panose="02040502050505030304"/>
                <a:cs typeface="Palatino Linotype" panose="02040502050505030304"/>
              </a:rPr>
              <a:t>a finite</a:t>
            </a:r>
            <a:r>
              <a:rPr sz="2100" spc="-15" dirty="0">
                <a:solidFill>
                  <a:srgbClr val="FF0000"/>
                </a:solidFill>
                <a:latin typeface="Palatino Linotype" panose="02040502050505030304"/>
                <a:cs typeface="Palatino Linotype" panose="02040502050505030304"/>
              </a:rPr>
              <a:t> </a:t>
            </a:r>
            <a:r>
              <a:rPr sz="2100" spc="-5" dirty="0">
                <a:solidFill>
                  <a:srgbClr val="FF0000"/>
                </a:solidFill>
                <a:latin typeface="Palatino Linotype" panose="02040502050505030304"/>
                <a:cs typeface="Palatino Linotype" panose="02040502050505030304"/>
              </a:rPr>
              <a:t>set</a:t>
            </a:r>
            <a:r>
              <a:rPr sz="2100" dirty="0">
                <a:solidFill>
                  <a:srgbClr val="FF0000"/>
                </a:solidFill>
                <a:latin typeface="Palatino Linotype" panose="02040502050505030304"/>
                <a:cs typeface="Palatino Linotype" panose="02040502050505030304"/>
              </a:rPr>
              <a:t> of</a:t>
            </a:r>
            <a:r>
              <a:rPr sz="2100" spc="-5" dirty="0">
                <a:solidFill>
                  <a:srgbClr val="FF0000"/>
                </a:solidFill>
                <a:latin typeface="Palatino Linotype" panose="02040502050505030304"/>
                <a:cs typeface="Palatino Linotype" panose="02040502050505030304"/>
              </a:rPr>
              <a:t> </a:t>
            </a:r>
            <a:r>
              <a:rPr sz="2100" dirty="0">
                <a:solidFill>
                  <a:srgbClr val="FF0000"/>
                </a:solidFill>
                <a:latin typeface="Palatino Linotype" panose="02040502050505030304"/>
                <a:cs typeface="Palatino Linotype" panose="02040502050505030304"/>
              </a:rPr>
              <a:t>facts</a:t>
            </a:r>
            <a:endParaRPr sz="2100">
              <a:latin typeface="Palatino Linotype" panose="02040502050505030304"/>
              <a:cs typeface="Palatino Linotype" panose="02040502050505030304"/>
            </a:endParaRPr>
          </a:p>
          <a:p>
            <a:pPr marL="698500" lvl="1" indent="-228600">
              <a:lnSpc>
                <a:spcPct val="100000"/>
              </a:lnSpc>
              <a:spcBef>
                <a:spcPts val="1670"/>
              </a:spcBef>
              <a:buFont typeface="Wingdings" panose="05000000000000000000"/>
              <a:buChar char=""/>
              <a:tabLst>
                <a:tab pos="697865" algn="l"/>
                <a:tab pos="698500" algn="l"/>
              </a:tabLst>
            </a:pPr>
            <a:r>
              <a:rPr sz="1700" spc="-5" dirty="0">
                <a:latin typeface="Palatino Linotype" panose="02040502050505030304"/>
                <a:cs typeface="Palatino Linotype" panose="02040502050505030304"/>
              </a:rPr>
              <a:t>Different</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analyses</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may</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choose</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to</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abstract</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out</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different</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information</a:t>
            </a:r>
            <a:endParaRPr sz="1700">
              <a:latin typeface="Palatino Linotype" panose="02040502050505030304"/>
              <a:cs typeface="Palatino Linotype" panose="02040502050505030304"/>
            </a:endParaRPr>
          </a:p>
          <a:p>
            <a:pPr marL="698500" lvl="1" indent="-228600">
              <a:lnSpc>
                <a:spcPct val="100000"/>
              </a:lnSpc>
              <a:spcBef>
                <a:spcPts val="1660"/>
              </a:spcBef>
              <a:buFont typeface="Wingdings" panose="05000000000000000000"/>
              <a:buChar char=""/>
              <a:tabLst>
                <a:tab pos="697865" algn="l"/>
                <a:tab pos="698500" algn="l"/>
              </a:tabLst>
            </a:pPr>
            <a:r>
              <a:rPr sz="1700" dirty="0">
                <a:latin typeface="Palatino Linotype" panose="02040502050505030304"/>
                <a:cs typeface="Palatino Linotype" panose="02040502050505030304"/>
              </a:rPr>
              <a:t>In </a:t>
            </a:r>
            <a:r>
              <a:rPr sz="1700" spc="-5" dirty="0">
                <a:latin typeface="Palatino Linotype" panose="02040502050505030304"/>
                <a:cs typeface="Palatino Linotype" panose="02040502050505030304"/>
              </a:rPr>
              <a:t>general,</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no</a:t>
            </a:r>
            <a:r>
              <a:rPr sz="1700" dirty="0">
                <a:latin typeface="Palatino Linotype" panose="02040502050505030304"/>
                <a:cs typeface="Palatino Linotype" panose="02040502050505030304"/>
              </a:rPr>
              <a:t> analysis</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is</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necessarily</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a</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perfect</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representation</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of</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state</a:t>
            </a:r>
            <a:endParaRPr sz="1700">
              <a:latin typeface="Palatino Linotype" panose="02040502050505030304"/>
              <a:cs typeface="Palatino Linotype" panose="0204050205050503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747645" cy="635000"/>
          </a:xfrm>
          <a:prstGeom prst="rect">
            <a:avLst/>
          </a:prstGeom>
        </p:spPr>
        <p:txBody>
          <a:bodyPr vert="horz" wrap="square" lIns="0" tIns="12700" rIns="0" bIns="0" rtlCol="0">
            <a:spAutoFit/>
          </a:bodyPr>
          <a:lstStyle/>
          <a:p>
            <a:pPr marL="12700">
              <a:lnSpc>
                <a:spcPct val="100000"/>
              </a:lnSpc>
              <a:spcBef>
                <a:spcPts val="100"/>
              </a:spcBef>
            </a:pPr>
            <a:r>
              <a:rPr sz="4000" dirty="0"/>
              <a:t>Example</a:t>
            </a:r>
            <a:r>
              <a:rPr sz="4000" spc="-90" dirty="0"/>
              <a:t> </a:t>
            </a:r>
            <a:r>
              <a:rPr sz="4000" dirty="0"/>
              <a:t>(1)</a:t>
            </a:r>
            <a:endParaRPr sz="4000"/>
          </a:p>
        </p:txBody>
      </p:sp>
      <p:sp>
        <p:nvSpPr>
          <p:cNvPr id="3" name="object 3"/>
          <p:cNvSpPr txBox="1"/>
          <p:nvPr/>
        </p:nvSpPr>
        <p:spPr>
          <a:xfrm>
            <a:off x="4141759" y="1738884"/>
            <a:ext cx="4296410" cy="3124200"/>
          </a:xfrm>
          <a:prstGeom prst="rect">
            <a:avLst/>
          </a:prstGeom>
        </p:spPr>
        <p:txBody>
          <a:bodyPr vert="horz" wrap="square" lIns="0" tIns="12700" rIns="0" bIns="0" rtlCol="0">
            <a:spAutoFit/>
          </a:bodyPr>
          <a:lstStyle/>
          <a:p>
            <a:pPr marL="38100">
              <a:lnSpc>
                <a:spcPct val="100000"/>
              </a:lnSpc>
              <a:spcBef>
                <a:spcPts val="100"/>
              </a:spcBef>
            </a:pPr>
            <a:r>
              <a:rPr sz="2000" b="1" spc="-5" dirty="0">
                <a:latin typeface="Palatino Linotype" panose="02040502050505030304"/>
                <a:cs typeface="Palatino Linotype" panose="02040502050505030304"/>
              </a:rPr>
              <a:t>Reaching</a:t>
            </a:r>
            <a:r>
              <a:rPr sz="2000" b="1" spc="-20"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definitions:</a:t>
            </a:r>
            <a:endParaRPr sz="2000">
              <a:latin typeface="Palatino Linotype" panose="02040502050505030304"/>
              <a:cs typeface="Palatino Linotype" panose="02040502050505030304"/>
            </a:endParaRPr>
          </a:p>
          <a:p>
            <a:pPr marL="268605" marR="30480" indent="-230505">
              <a:lnSpc>
                <a:spcPct val="119000"/>
              </a:lnSpc>
              <a:spcBef>
                <a:spcPts val="1225"/>
              </a:spcBef>
              <a:buFont typeface="Arial MT"/>
              <a:buChar char="•"/>
              <a:tabLst>
                <a:tab pos="267970" algn="l"/>
                <a:tab pos="268605" algn="l"/>
              </a:tabLst>
            </a:pPr>
            <a:r>
              <a:rPr sz="1600" spc="-5" dirty="0">
                <a:latin typeface="Palatino Linotype" panose="02040502050505030304"/>
                <a:cs typeface="Palatino Linotype" panose="02040502050505030304"/>
              </a:rPr>
              <a:t>The first time </a:t>
            </a:r>
            <a:r>
              <a:rPr sz="1600" dirty="0">
                <a:latin typeface="Palatino Linotype" panose="02040502050505030304"/>
                <a:cs typeface="Palatino Linotype" panose="02040502050505030304"/>
              </a:rPr>
              <a:t>point (5) </a:t>
            </a:r>
            <a:r>
              <a:rPr sz="1600" spc="-5" dirty="0">
                <a:latin typeface="Palatino Linotype" panose="02040502050505030304"/>
                <a:cs typeface="Palatino Linotype" panose="02040502050505030304"/>
              </a:rPr>
              <a:t>is executed, </a:t>
            </a:r>
            <a:r>
              <a:rPr sz="1600" dirty="0">
                <a:latin typeface="Palatino Linotype" panose="02040502050505030304"/>
                <a:cs typeface="Palatino Linotype" panose="02040502050505030304"/>
              </a:rPr>
              <a:t>the </a:t>
            </a:r>
            <a:r>
              <a:rPr sz="1600" spc="-15" dirty="0">
                <a:latin typeface="Palatino Linotype" panose="02040502050505030304"/>
                <a:cs typeface="Palatino Linotype" panose="02040502050505030304"/>
              </a:rPr>
              <a:t>value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a:t>
            </a:r>
            <a:r>
              <a:rPr sz="1600" i="1" dirty="0">
                <a:latin typeface="Palatino Linotype" panose="02040502050505030304"/>
                <a:cs typeface="Palatino Linotype" panose="02040502050505030304"/>
              </a:rPr>
              <a:t>a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1 </a:t>
            </a:r>
            <a:r>
              <a:rPr sz="1600" spc="-5" dirty="0">
                <a:latin typeface="Palatino Linotype" panose="02040502050505030304"/>
                <a:cs typeface="Palatino Linotype" panose="02040502050505030304"/>
              </a:rPr>
              <a:t>(i.e., definition </a:t>
            </a:r>
            <a:r>
              <a:rPr sz="1600" i="1" dirty="0">
                <a:latin typeface="Palatino Linotype" panose="02040502050505030304"/>
                <a:cs typeface="Palatino Linotype" panose="02040502050505030304"/>
              </a:rPr>
              <a:t>d</a:t>
            </a:r>
            <a:r>
              <a:rPr sz="1650" baseline="-15000" dirty="0">
                <a:latin typeface="Palatino Linotype" panose="02040502050505030304"/>
                <a:cs typeface="Palatino Linotype" panose="02040502050505030304"/>
              </a:rPr>
              <a:t>1</a:t>
            </a:r>
            <a:r>
              <a:rPr sz="1650" spc="7" baseline="-1500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reaches (5) </a:t>
            </a:r>
            <a:r>
              <a:rPr sz="1600" spc="-5" dirty="0">
                <a:latin typeface="Palatino Linotype" panose="02040502050505030304"/>
                <a:cs typeface="Palatino Linotype" panose="02040502050505030304"/>
              </a:rPr>
              <a:t>in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first iteration)</a:t>
            </a:r>
            <a:endParaRPr sz="1600">
              <a:latin typeface="Palatino Linotype" panose="02040502050505030304"/>
              <a:cs typeface="Palatino Linotype" panose="02040502050505030304"/>
            </a:endParaRPr>
          </a:p>
          <a:p>
            <a:pPr marL="268605" marR="51435" indent="-230505">
              <a:lnSpc>
                <a:spcPct val="120000"/>
              </a:lnSpc>
              <a:spcBef>
                <a:spcPts val="1200"/>
              </a:spcBef>
              <a:buFont typeface="Arial MT"/>
              <a:buChar char="•"/>
              <a:tabLst>
                <a:tab pos="267970" algn="l"/>
                <a:tab pos="268605" algn="l"/>
              </a:tabLst>
            </a:pPr>
            <a:r>
              <a:rPr sz="1600" spc="-5" dirty="0">
                <a:latin typeface="Palatino Linotype" panose="02040502050505030304"/>
                <a:cs typeface="Palatino Linotype" panose="02040502050505030304"/>
              </a:rPr>
              <a:t>In</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subsequent iterations,</a:t>
            </a:r>
            <a:r>
              <a:rPr sz="1600" spc="-1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d</a:t>
            </a:r>
            <a:r>
              <a:rPr sz="1650" baseline="-15000" dirty="0">
                <a:latin typeface="Palatino Linotype" panose="02040502050505030304"/>
                <a:cs typeface="Palatino Linotype" panose="02040502050505030304"/>
              </a:rPr>
              <a:t>3</a:t>
            </a:r>
            <a:r>
              <a:rPr sz="1650" spc="157" baseline="-1500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reaches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 (5)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a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243</a:t>
            </a:r>
            <a:endParaRPr sz="1600">
              <a:latin typeface="Palatino Linotype" panose="02040502050505030304"/>
              <a:cs typeface="Palatino Linotype" panose="02040502050505030304"/>
            </a:endParaRPr>
          </a:p>
          <a:p>
            <a:pPr marL="268605" marR="121285" indent="-230505">
              <a:lnSpc>
                <a:spcPct val="119000"/>
              </a:lnSpc>
              <a:spcBef>
                <a:spcPts val="1215"/>
              </a:spcBef>
              <a:buFont typeface="Arial MT"/>
              <a:buChar char="•"/>
              <a:tabLst>
                <a:tab pos="267970" algn="l"/>
                <a:tab pos="268605" algn="l"/>
              </a:tabLst>
            </a:pPr>
            <a:r>
              <a:rPr sz="1600" spc="-5" dirty="0">
                <a:latin typeface="Palatino Linotype" panose="02040502050505030304"/>
                <a:cs typeface="Palatino Linotype" panose="02040502050505030304"/>
              </a:rPr>
              <a:t>So, </a:t>
            </a:r>
            <a:r>
              <a:rPr sz="1600" spc="-15" dirty="0">
                <a:latin typeface="Palatino Linotype" panose="02040502050505030304"/>
                <a:cs typeface="Palatino Linotype" panose="02040502050505030304"/>
              </a:rPr>
              <a:t>we </a:t>
            </a:r>
            <a:r>
              <a:rPr sz="1600" dirty="0">
                <a:latin typeface="Palatino Linotype" panose="02040502050505030304"/>
                <a:cs typeface="Palatino Linotype" panose="02040502050505030304"/>
              </a:rPr>
              <a:t>may </a:t>
            </a:r>
            <a:r>
              <a:rPr sz="1600" spc="-5" dirty="0">
                <a:latin typeface="Palatino Linotype" panose="02040502050505030304"/>
                <a:cs typeface="Palatino Linotype" panose="02040502050505030304"/>
              </a:rPr>
              <a:t>summarize all </a:t>
            </a:r>
            <a:r>
              <a:rPr sz="1600" dirty="0">
                <a:latin typeface="Palatino Linotype" panose="02040502050505030304"/>
                <a:cs typeface="Palatino Linotype" panose="02040502050505030304"/>
              </a:rPr>
              <a:t>the program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states </a:t>
            </a:r>
            <a:r>
              <a:rPr sz="1600" dirty="0">
                <a:latin typeface="Palatino Linotype" panose="02040502050505030304"/>
                <a:cs typeface="Palatino Linotype" panose="02040502050505030304"/>
              </a:rPr>
              <a:t>at (5) by </a:t>
            </a:r>
            <a:r>
              <a:rPr sz="1600" spc="-5" dirty="0">
                <a:latin typeface="Palatino Linotype" panose="02040502050505030304"/>
                <a:cs typeface="Palatino Linotype" panose="02040502050505030304"/>
              </a:rPr>
              <a:t>saying </a:t>
            </a:r>
            <a:r>
              <a:rPr sz="1600" dirty="0">
                <a:latin typeface="Palatino Linotype" panose="02040502050505030304"/>
                <a:cs typeface="Palatino Linotype" panose="02040502050505030304"/>
              </a:rPr>
              <a:t>that the </a:t>
            </a:r>
            <a:r>
              <a:rPr sz="1600" spc="-15" dirty="0">
                <a:latin typeface="Palatino Linotype" panose="02040502050505030304"/>
                <a:cs typeface="Palatino Linotype" panose="02040502050505030304"/>
              </a:rPr>
              <a:t>value </a:t>
            </a:r>
            <a:r>
              <a:rPr sz="1600" dirty="0">
                <a:latin typeface="Palatino Linotype" panose="02040502050505030304"/>
                <a:cs typeface="Palatino Linotype" panose="02040502050505030304"/>
              </a:rPr>
              <a:t>of </a:t>
            </a:r>
            <a:r>
              <a:rPr sz="1600" i="1" dirty="0">
                <a:latin typeface="Palatino Linotype" panose="02040502050505030304"/>
                <a:cs typeface="Palatino Linotype" panose="02040502050505030304"/>
              </a:rPr>
              <a:t>a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 one</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{1,</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243}</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and</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defined</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by</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one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i="1" spc="-5" dirty="0">
                <a:latin typeface="Palatino Linotype" panose="02040502050505030304"/>
                <a:cs typeface="Palatino Linotype" panose="02040502050505030304"/>
              </a:rPr>
              <a:t>d</a:t>
            </a:r>
            <a:r>
              <a:rPr sz="1650" spc="-7" baseline="-15000" dirty="0">
                <a:latin typeface="Palatino Linotype" panose="02040502050505030304"/>
                <a:cs typeface="Palatino Linotype" panose="02040502050505030304"/>
              </a:rPr>
              <a:t>1</a:t>
            </a:r>
            <a:r>
              <a:rPr sz="1600" spc="-5" dirty="0">
                <a:latin typeface="Palatino Linotype" panose="02040502050505030304"/>
                <a:cs typeface="Palatino Linotype" panose="02040502050505030304"/>
              </a:rPr>
              <a:t>, </a:t>
            </a:r>
            <a:r>
              <a:rPr sz="1600" i="1" spc="-5" dirty="0">
                <a:latin typeface="Palatino Linotype" panose="02040502050505030304"/>
                <a:cs typeface="Palatino Linotype" panose="02040502050505030304"/>
              </a:rPr>
              <a:t>d</a:t>
            </a:r>
            <a:r>
              <a:rPr sz="1650" spc="-7" baseline="-15000" dirty="0">
                <a:latin typeface="Palatino Linotype" panose="02040502050505030304"/>
                <a:cs typeface="Palatino Linotype" panose="02040502050505030304"/>
              </a:rPr>
              <a:t>3</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p:txBody>
      </p:sp>
      <p:pic>
        <p:nvPicPr>
          <p:cNvPr id="4" name="object 4"/>
          <p:cNvPicPr/>
          <p:nvPr/>
        </p:nvPicPr>
        <p:blipFill>
          <a:blip r:embed="rId3" cstate="print"/>
          <a:stretch>
            <a:fillRect/>
          </a:stretch>
        </p:blipFill>
        <p:spPr>
          <a:xfrm>
            <a:off x="521991" y="2387846"/>
            <a:ext cx="2947035" cy="2377440"/>
          </a:xfrm>
          <a:prstGeom prst="rect">
            <a:avLst/>
          </a:prstGeom>
        </p:spPr>
      </p:pic>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747645" cy="635000"/>
          </a:xfrm>
          <a:prstGeom prst="rect">
            <a:avLst/>
          </a:prstGeom>
        </p:spPr>
        <p:txBody>
          <a:bodyPr vert="horz" wrap="square" lIns="0" tIns="12700" rIns="0" bIns="0" rtlCol="0">
            <a:spAutoFit/>
          </a:bodyPr>
          <a:lstStyle/>
          <a:p>
            <a:pPr marL="12700">
              <a:lnSpc>
                <a:spcPct val="100000"/>
              </a:lnSpc>
              <a:spcBef>
                <a:spcPts val="100"/>
              </a:spcBef>
            </a:pPr>
            <a:r>
              <a:rPr sz="4000" dirty="0"/>
              <a:t>Example</a:t>
            </a:r>
            <a:r>
              <a:rPr sz="4000" spc="-90" dirty="0"/>
              <a:t> </a:t>
            </a:r>
            <a:r>
              <a:rPr sz="4000" dirty="0"/>
              <a:t>(2)</a:t>
            </a:r>
            <a:endParaRPr sz="4000"/>
          </a:p>
        </p:txBody>
      </p:sp>
      <p:sp>
        <p:nvSpPr>
          <p:cNvPr id="3" name="object 3"/>
          <p:cNvSpPr txBox="1"/>
          <p:nvPr/>
        </p:nvSpPr>
        <p:spPr>
          <a:xfrm>
            <a:off x="4167159" y="1738884"/>
            <a:ext cx="4158615" cy="3281679"/>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Palatino Linotype" panose="02040502050505030304"/>
                <a:cs typeface="Palatino Linotype" panose="02040502050505030304"/>
              </a:rPr>
              <a:t>Constant</a:t>
            </a:r>
            <a:r>
              <a:rPr sz="2000" b="1" spc="-25"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folding:</a:t>
            </a:r>
            <a:endParaRPr sz="2000">
              <a:latin typeface="Palatino Linotype" panose="02040502050505030304"/>
              <a:cs typeface="Palatino Linotype" panose="02040502050505030304"/>
            </a:endParaRPr>
          </a:p>
          <a:p>
            <a:pPr marL="243205" marR="26035" indent="-230505">
              <a:lnSpc>
                <a:spcPct val="120000"/>
              </a:lnSpc>
              <a:spcBef>
                <a:spcPts val="1220"/>
              </a:spcBef>
              <a:buFont typeface="Arial MT"/>
              <a:buChar char="•"/>
              <a:tabLst>
                <a:tab pos="242570" algn="l"/>
                <a:tab pos="242570" algn="l"/>
              </a:tabLst>
            </a:pPr>
            <a:r>
              <a:rPr sz="1600" spc="-5" dirty="0">
                <a:latin typeface="Palatino Linotype" panose="02040502050505030304"/>
                <a:cs typeface="Palatino Linotype" panose="02040502050505030304"/>
              </a:rPr>
              <a:t>For </a:t>
            </a:r>
            <a:r>
              <a:rPr sz="1600" dirty="0">
                <a:latin typeface="Palatino Linotype" panose="02040502050505030304"/>
                <a:cs typeface="Palatino Linotype" panose="02040502050505030304"/>
              </a:rPr>
              <a:t>constant </a:t>
            </a:r>
            <a:r>
              <a:rPr sz="1600" spc="-5" dirty="0">
                <a:latin typeface="Palatino Linotype" panose="02040502050505030304"/>
                <a:cs typeface="Palatino Linotype" panose="02040502050505030304"/>
              </a:rPr>
              <a:t>folding, </a:t>
            </a:r>
            <a:r>
              <a:rPr sz="1600" spc="-15" dirty="0">
                <a:latin typeface="Palatino Linotype" panose="02040502050505030304"/>
                <a:cs typeface="Palatino Linotype" panose="02040502050505030304"/>
              </a:rPr>
              <a:t>we </a:t>
            </a:r>
            <a:r>
              <a:rPr sz="1600" spc="-5" dirty="0">
                <a:latin typeface="Palatino Linotype" panose="02040502050505030304"/>
                <a:cs typeface="Palatino Linotype" panose="02040502050505030304"/>
              </a:rPr>
              <a:t>wish </a:t>
            </a:r>
            <a:r>
              <a:rPr sz="1600" dirty="0">
                <a:latin typeface="Palatino Linotype" panose="02040502050505030304"/>
                <a:cs typeface="Palatino Linotype" panose="02040502050505030304"/>
              </a:rPr>
              <a:t>to find those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definitions </a:t>
            </a:r>
            <a:r>
              <a:rPr sz="1600" dirty="0">
                <a:latin typeface="Palatino Linotype" panose="02040502050505030304"/>
                <a:cs typeface="Palatino Linotype" panose="02040502050505030304"/>
              </a:rPr>
              <a:t>that are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unique definition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their</a:t>
            </a:r>
            <a:r>
              <a:rPr sz="1600"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variable </a:t>
            </a:r>
            <a:r>
              <a:rPr sz="1600" dirty="0">
                <a:latin typeface="Palatino Linotype" panose="02040502050505030304"/>
                <a:cs typeface="Palatino Linotype" panose="02040502050505030304"/>
              </a:rPr>
              <a:t>to</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reach</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given</a:t>
            </a:r>
            <a:r>
              <a:rPr sz="1600" dirty="0">
                <a:latin typeface="Palatino Linotype" panose="02040502050505030304"/>
                <a:cs typeface="Palatino Linotype" panose="02040502050505030304"/>
              </a:rPr>
              <a:t> program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point,</a:t>
            </a:r>
            <a:r>
              <a:rPr sz="1600" spc="-5" dirty="0">
                <a:latin typeface="Palatino Linotype" panose="02040502050505030304"/>
                <a:cs typeface="Palatino Linotype" panose="02040502050505030304"/>
              </a:rPr>
              <a:t> regardless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execution</a:t>
            </a:r>
            <a:r>
              <a:rPr sz="1600" dirty="0">
                <a:latin typeface="Palatino Linotype" panose="02040502050505030304"/>
                <a:cs typeface="Palatino Linotype" panose="02040502050505030304"/>
              </a:rPr>
              <a:t> path</a:t>
            </a:r>
            <a:endParaRPr sz="1600">
              <a:latin typeface="Palatino Linotype" panose="02040502050505030304"/>
              <a:cs typeface="Palatino Linotype" panose="02040502050505030304"/>
            </a:endParaRPr>
          </a:p>
          <a:p>
            <a:pPr marL="243205" marR="5080" indent="-230505">
              <a:lnSpc>
                <a:spcPct val="120000"/>
              </a:lnSpc>
              <a:spcBef>
                <a:spcPts val="1200"/>
              </a:spcBef>
              <a:buFont typeface="Arial MT"/>
              <a:buChar char="•"/>
              <a:tabLst>
                <a:tab pos="242570" algn="l"/>
                <a:tab pos="242570" algn="l"/>
              </a:tabLst>
            </a:pPr>
            <a:r>
              <a:rPr sz="1600" spc="-5" dirty="0">
                <a:latin typeface="Palatino Linotype" panose="02040502050505030304"/>
                <a:cs typeface="Palatino Linotype" panose="02040502050505030304"/>
              </a:rPr>
              <a:t>For</a:t>
            </a:r>
            <a:r>
              <a:rPr sz="1600" dirty="0">
                <a:latin typeface="Palatino Linotype" panose="02040502050505030304"/>
                <a:cs typeface="Palatino Linotype" panose="02040502050505030304"/>
              </a:rPr>
              <a:t> this</a:t>
            </a:r>
            <a:r>
              <a:rPr sz="1600" spc="-5" dirty="0">
                <a:latin typeface="Palatino Linotype" panose="02040502050505030304"/>
                <a:cs typeface="Palatino Linotype" panose="02040502050505030304"/>
              </a:rPr>
              <a:t> task, </a:t>
            </a:r>
            <a:r>
              <a:rPr sz="1600" spc="-15" dirty="0">
                <a:latin typeface="Palatino Linotype" panose="02040502050505030304"/>
                <a:cs typeface="Palatino Linotype" panose="02040502050505030304"/>
              </a:rPr>
              <a:t>we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may</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simply describe some </a:t>
            </a:r>
            <a:r>
              <a:rPr sz="1600" spc="-38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variables </a:t>
            </a:r>
            <a:r>
              <a:rPr sz="1600" dirty="0">
                <a:latin typeface="Palatino Linotype" panose="02040502050505030304"/>
                <a:cs typeface="Palatino Linotype" panose="02040502050505030304"/>
              </a:rPr>
              <a:t>as “constant” or “not a constant”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instead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collecting their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possible </a:t>
            </a:r>
            <a:r>
              <a:rPr sz="1600" spc="-15" dirty="0">
                <a:latin typeface="Palatino Linotype" panose="02040502050505030304"/>
                <a:cs typeface="Palatino Linotype" panose="02040502050505030304"/>
              </a:rPr>
              <a:t>values</a:t>
            </a:r>
            <a:endParaRPr sz="1600">
              <a:latin typeface="Palatino Linotype" panose="02040502050505030304"/>
              <a:cs typeface="Palatino Linotype" panose="02040502050505030304"/>
            </a:endParaRPr>
          </a:p>
          <a:p>
            <a:pPr marL="698500" marR="163830" lvl="1" indent="-228600">
              <a:lnSpc>
                <a:spcPct val="118000"/>
              </a:lnSpc>
              <a:spcBef>
                <a:spcPts val="1315"/>
              </a:spcBef>
              <a:buFont typeface="Wingdings" panose="05000000000000000000"/>
              <a:buChar char=""/>
              <a:tabLst>
                <a:tab pos="697865" algn="l"/>
                <a:tab pos="698500" algn="l"/>
              </a:tabLst>
            </a:pPr>
            <a:r>
              <a:rPr sz="1200" i="1" dirty="0">
                <a:latin typeface="Palatino Linotype" panose="02040502050505030304"/>
                <a:cs typeface="Palatino Linotype" panose="02040502050505030304"/>
              </a:rPr>
              <a:t>a </a:t>
            </a:r>
            <a:r>
              <a:rPr sz="1200" dirty="0">
                <a:latin typeface="Palatino Linotype" panose="02040502050505030304"/>
                <a:cs typeface="Palatino Linotype" panose="02040502050505030304"/>
              </a:rPr>
              <a:t>is </a:t>
            </a:r>
            <a:r>
              <a:rPr sz="1200" spc="-5" dirty="0">
                <a:latin typeface="Palatino Linotype" panose="02040502050505030304"/>
                <a:cs typeface="Palatino Linotype" panose="02040502050505030304"/>
              </a:rPr>
              <a:t>not </a:t>
            </a:r>
            <a:r>
              <a:rPr sz="1200" dirty="0">
                <a:latin typeface="Palatino Linotype" panose="02040502050505030304"/>
                <a:cs typeface="Palatino Linotype" panose="02040502050505030304"/>
              </a:rPr>
              <a:t>a </a:t>
            </a:r>
            <a:r>
              <a:rPr sz="1200" spc="-5" dirty="0">
                <a:latin typeface="Palatino Linotype" panose="02040502050505030304"/>
                <a:cs typeface="Palatino Linotype" panose="02040502050505030304"/>
              </a:rPr>
              <a:t>constant </a:t>
            </a:r>
            <a:r>
              <a:rPr sz="1200" dirty="0">
                <a:latin typeface="Palatino Linotype" panose="02040502050505030304"/>
                <a:cs typeface="Palatino Linotype" panose="02040502050505030304"/>
              </a:rPr>
              <a:t>at</a:t>
            </a:r>
            <a:r>
              <a:rPr sz="1200" spc="-5" dirty="0">
                <a:latin typeface="Palatino Linotype" panose="02040502050505030304"/>
                <a:cs typeface="Palatino Linotype" panose="02040502050505030304"/>
              </a:rPr>
              <a:t> point </a:t>
            </a:r>
            <a:r>
              <a:rPr sz="1200" dirty="0">
                <a:latin typeface="Palatino Linotype" panose="02040502050505030304"/>
                <a:cs typeface="Palatino Linotype" panose="02040502050505030304"/>
              </a:rPr>
              <a:t>(5) and </a:t>
            </a:r>
            <a:r>
              <a:rPr sz="1200" spc="-5" dirty="0">
                <a:latin typeface="Palatino Linotype" panose="02040502050505030304"/>
                <a:cs typeface="Palatino Linotype" panose="02040502050505030304"/>
              </a:rPr>
              <a:t>thus</a:t>
            </a:r>
            <a:r>
              <a:rPr sz="1200" dirty="0">
                <a:latin typeface="Palatino Linotype" panose="02040502050505030304"/>
                <a:cs typeface="Palatino Linotype" panose="02040502050505030304"/>
              </a:rPr>
              <a:t> </a:t>
            </a:r>
            <a:r>
              <a:rPr sz="1200" spc="-5" dirty="0">
                <a:latin typeface="Palatino Linotype" panose="02040502050505030304"/>
                <a:cs typeface="Palatino Linotype" panose="02040502050505030304"/>
              </a:rPr>
              <a:t>cannot be </a:t>
            </a:r>
            <a:r>
              <a:rPr sz="1200" spc="-285" dirty="0">
                <a:latin typeface="Palatino Linotype" panose="02040502050505030304"/>
                <a:cs typeface="Palatino Linotype" panose="02040502050505030304"/>
              </a:rPr>
              <a:t> </a:t>
            </a:r>
            <a:r>
              <a:rPr sz="1200" dirty="0">
                <a:latin typeface="Palatino Linotype" panose="02040502050505030304"/>
                <a:cs typeface="Palatino Linotype" panose="02040502050505030304"/>
              </a:rPr>
              <a:t>replaced</a:t>
            </a:r>
            <a:r>
              <a:rPr sz="1200" spc="-5" dirty="0">
                <a:latin typeface="Palatino Linotype" panose="02040502050505030304"/>
                <a:cs typeface="Palatino Linotype" panose="02040502050505030304"/>
              </a:rPr>
              <a:t> by </a:t>
            </a:r>
            <a:r>
              <a:rPr sz="1200" dirty="0">
                <a:latin typeface="Palatino Linotype" panose="02040502050505030304"/>
                <a:cs typeface="Palatino Linotype" panose="02040502050505030304"/>
              </a:rPr>
              <a:t>a </a:t>
            </a:r>
            <a:r>
              <a:rPr sz="1200" spc="-5" dirty="0">
                <a:latin typeface="Palatino Linotype" panose="02040502050505030304"/>
                <a:cs typeface="Palatino Linotype" panose="02040502050505030304"/>
              </a:rPr>
              <a:t>constant</a:t>
            </a:r>
            <a:endParaRPr sz="1200">
              <a:latin typeface="Palatino Linotype" panose="02040502050505030304"/>
              <a:cs typeface="Palatino Linotype" panose="02040502050505030304"/>
            </a:endParaRPr>
          </a:p>
        </p:txBody>
      </p:sp>
      <p:pic>
        <p:nvPicPr>
          <p:cNvPr id="4" name="object 4"/>
          <p:cNvPicPr/>
          <p:nvPr/>
        </p:nvPicPr>
        <p:blipFill>
          <a:blip r:embed="rId3" cstate="print"/>
          <a:stretch>
            <a:fillRect/>
          </a:stretch>
        </p:blipFill>
        <p:spPr>
          <a:xfrm>
            <a:off x="521991" y="2387846"/>
            <a:ext cx="2947035" cy="2377440"/>
          </a:xfrm>
          <a:prstGeom prst="rect">
            <a:avLst/>
          </a:prstGeom>
        </p:spPr>
      </p:pic>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757428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20" dirty="0"/>
              <a:t> </a:t>
            </a:r>
            <a:r>
              <a:rPr sz="4000" dirty="0"/>
              <a:t>Data-Flow</a:t>
            </a:r>
            <a:r>
              <a:rPr sz="4000" spc="-15" dirty="0"/>
              <a:t> </a:t>
            </a:r>
            <a:r>
              <a:rPr sz="4000" spc="-5" dirty="0"/>
              <a:t>Analysis</a:t>
            </a:r>
            <a:r>
              <a:rPr sz="4000" spc="-15" dirty="0"/>
              <a:t> </a:t>
            </a:r>
            <a:r>
              <a:rPr sz="4000" spc="-5" dirty="0"/>
              <a:t>Schema</a:t>
            </a:r>
            <a:endParaRPr sz="4000"/>
          </a:p>
        </p:txBody>
      </p:sp>
      <p:sp>
        <p:nvSpPr>
          <p:cNvPr id="3" name="object 3"/>
          <p:cNvSpPr txBox="1"/>
          <p:nvPr/>
        </p:nvSpPr>
        <p:spPr>
          <a:xfrm>
            <a:off x="694690" y="1600708"/>
            <a:ext cx="7677150" cy="1217295"/>
          </a:xfrm>
          <a:prstGeom prst="rect">
            <a:avLst/>
          </a:prstGeom>
        </p:spPr>
        <p:txBody>
          <a:bodyPr vert="horz" wrap="square" lIns="0" tIns="6350" rIns="0" bIns="0" rtlCol="0">
            <a:spAutoFit/>
          </a:bodyPr>
          <a:lstStyle/>
          <a:p>
            <a:pPr marL="255270" marR="17780" indent="-230505">
              <a:lnSpc>
                <a:spcPct val="119000"/>
              </a:lnSpc>
              <a:spcBef>
                <a:spcPts val="50"/>
              </a:spcBef>
              <a:buFont typeface="Arial MT"/>
              <a:buChar char="•"/>
              <a:tabLst>
                <a:tab pos="255270" algn="l"/>
                <a:tab pos="255270" algn="l"/>
              </a:tabLst>
            </a:pPr>
            <a:r>
              <a:rPr sz="2200" spc="-75" dirty="0">
                <a:latin typeface="Palatino Linotype" panose="02040502050505030304"/>
                <a:cs typeface="Palatino Linotype" panose="02040502050505030304"/>
              </a:rPr>
              <a:t>We</a:t>
            </a:r>
            <a:r>
              <a:rPr sz="2200" spc="-5" dirty="0">
                <a:latin typeface="Palatino Linotype" panose="02040502050505030304"/>
                <a:cs typeface="Palatino Linotype" panose="02040502050505030304"/>
              </a:rPr>
              <a:t> associate with</a:t>
            </a:r>
            <a:r>
              <a:rPr sz="2200" spc="-10" dirty="0">
                <a:latin typeface="Palatino Linotype" panose="02040502050505030304"/>
                <a:cs typeface="Palatino Linotype" panose="02040502050505030304"/>
              </a:rPr>
              <a:t> every</a:t>
            </a:r>
            <a:r>
              <a:rPr sz="2200" dirty="0">
                <a:latin typeface="Palatino Linotype" panose="02040502050505030304"/>
                <a:cs typeface="Palatino Linotype" panose="02040502050505030304"/>
              </a:rPr>
              <a:t> program</a:t>
            </a:r>
            <a:r>
              <a:rPr sz="2200" spc="-5" dirty="0">
                <a:latin typeface="Palatino Linotype" panose="02040502050505030304"/>
                <a:cs typeface="Palatino Linotype" panose="02040502050505030304"/>
              </a:rPr>
              <a:t> point </a:t>
            </a:r>
            <a:r>
              <a:rPr sz="2200" dirty="0">
                <a:latin typeface="Palatino Linotype" panose="02040502050505030304"/>
                <a:cs typeface="Palatino Linotype" panose="02040502050505030304"/>
              </a:rPr>
              <a:t>a</a:t>
            </a:r>
            <a:r>
              <a:rPr sz="2200" spc="-5" dirty="0">
                <a:latin typeface="Palatino Linotype" panose="02040502050505030304"/>
                <a:cs typeface="Palatino Linotype" panose="02040502050505030304"/>
              </a:rPr>
              <a:t> </a:t>
            </a:r>
            <a:r>
              <a:rPr sz="2200" i="1" spc="-5" dirty="0">
                <a:solidFill>
                  <a:srgbClr val="FF0000"/>
                </a:solidFill>
                <a:latin typeface="Palatino Linotype" panose="02040502050505030304"/>
                <a:cs typeface="Palatino Linotype" panose="02040502050505030304"/>
              </a:rPr>
              <a:t>data-flow value</a:t>
            </a:r>
            <a:r>
              <a:rPr sz="2200" i="1" spc="-1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represents</a:t>
            </a:r>
            <a:r>
              <a:rPr sz="2200" dirty="0">
                <a:latin typeface="Palatino Linotype" panose="02040502050505030304"/>
                <a:cs typeface="Palatino Linotype" panose="02040502050505030304"/>
              </a:rPr>
              <a:t> </a:t>
            </a:r>
            <a:r>
              <a:rPr sz="2200" dirty="0">
                <a:solidFill>
                  <a:srgbClr val="0432FF"/>
                </a:solidFill>
                <a:latin typeface="Palatino Linotype" panose="02040502050505030304"/>
                <a:cs typeface="Palatino Linotype" panose="02040502050505030304"/>
              </a:rPr>
              <a:t>an</a:t>
            </a:r>
            <a:r>
              <a:rPr sz="2200" spc="-1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abstraction</a:t>
            </a:r>
            <a:r>
              <a:rPr sz="2200" spc="-1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of</a:t>
            </a:r>
            <a:r>
              <a:rPr sz="220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the</a:t>
            </a:r>
            <a:r>
              <a:rPr sz="2200" dirty="0">
                <a:solidFill>
                  <a:srgbClr val="0432FF"/>
                </a:solidFill>
                <a:latin typeface="Palatino Linotype" panose="02040502050505030304"/>
                <a:cs typeface="Palatino Linotype" panose="02040502050505030304"/>
              </a:rPr>
              <a:t> set</a:t>
            </a:r>
            <a:r>
              <a:rPr sz="2200" spc="-5" dirty="0">
                <a:solidFill>
                  <a:srgbClr val="0432FF"/>
                </a:solidFill>
                <a:latin typeface="Palatino Linotype" panose="02040502050505030304"/>
                <a:cs typeface="Palatino Linotype" panose="02040502050505030304"/>
              </a:rPr>
              <a:t> of</a:t>
            </a:r>
            <a:r>
              <a:rPr sz="220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all possible</a:t>
            </a:r>
            <a:r>
              <a:rPr sz="2200" dirty="0">
                <a:solidFill>
                  <a:srgbClr val="0432FF"/>
                </a:solidFill>
                <a:latin typeface="Palatino Linotype" panose="02040502050505030304"/>
                <a:cs typeface="Palatino Linotype" panose="02040502050505030304"/>
              </a:rPr>
              <a:t> program </a:t>
            </a:r>
            <a:r>
              <a:rPr sz="2200" spc="5"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states </a:t>
            </a:r>
            <a:r>
              <a:rPr sz="2200" spc="-10" dirty="0">
                <a:latin typeface="Palatino Linotype" panose="02040502050505030304"/>
                <a:cs typeface="Palatino Linotype" panose="02040502050505030304"/>
              </a:rPr>
              <a:t>observed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 point</a:t>
            </a:r>
            <a:r>
              <a:rPr sz="2250" spc="-7" baseline="26000" dirty="0">
                <a:latin typeface="Palatino Linotype" panose="02040502050505030304"/>
                <a:cs typeface="Palatino Linotype" panose="02040502050505030304"/>
              </a:rPr>
              <a:t>*</a:t>
            </a:r>
            <a:endParaRPr sz="2250" baseline="26000">
              <a:latin typeface="Palatino Linotype" panose="02040502050505030304"/>
              <a:cs typeface="Palatino Linotype" panose="02040502050505030304"/>
            </a:endParaRPr>
          </a:p>
        </p:txBody>
      </p:sp>
      <p:sp>
        <p:nvSpPr>
          <p:cNvPr id="4" name="object 4"/>
          <p:cNvSpPr txBox="1"/>
          <p:nvPr/>
        </p:nvSpPr>
        <p:spPr>
          <a:xfrm>
            <a:off x="806100" y="5872988"/>
            <a:ext cx="7532370" cy="208279"/>
          </a:xfrm>
          <a:prstGeom prst="rect">
            <a:avLst/>
          </a:prstGeom>
        </p:spPr>
        <p:txBody>
          <a:bodyPr vert="horz" wrap="square" lIns="0" tIns="12700" rIns="0" bIns="0" rtlCol="0">
            <a:spAutoFit/>
          </a:bodyPr>
          <a:lstStyle/>
          <a:p>
            <a:pPr marL="12700">
              <a:lnSpc>
                <a:spcPct val="100000"/>
              </a:lnSpc>
              <a:spcBef>
                <a:spcPts val="100"/>
              </a:spcBef>
            </a:pPr>
            <a:r>
              <a:rPr sz="1200" baseline="28000" dirty="0">
                <a:solidFill>
                  <a:srgbClr val="A6A6A6"/>
                </a:solidFill>
                <a:latin typeface="Palatino Linotype" panose="02040502050505030304"/>
                <a:cs typeface="Palatino Linotype" panose="02040502050505030304"/>
              </a:rPr>
              <a:t>*</a:t>
            </a:r>
            <a:r>
              <a:rPr sz="1200" spc="165" baseline="280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In</a:t>
            </a:r>
            <a:r>
              <a:rPr sz="1200" spc="10"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each</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application</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of</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data-flow</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analysis,</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the</a:t>
            </a:r>
            <a:r>
              <a:rPr sz="1200" spc="10"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set</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of</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possible</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data-flow</a:t>
            </a:r>
            <a:r>
              <a:rPr sz="1200" spc="10" dirty="0">
                <a:solidFill>
                  <a:srgbClr val="A6A6A6"/>
                </a:solidFill>
                <a:latin typeface="Palatino Linotype" panose="02040502050505030304"/>
                <a:cs typeface="Palatino Linotype" panose="02040502050505030304"/>
              </a:rPr>
              <a:t> </a:t>
            </a:r>
            <a:r>
              <a:rPr sz="1200" spc="-10" dirty="0">
                <a:solidFill>
                  <a:srgbClr val="A6A6A6"/>
                </a:solidFill>
                <a:latin typeface="Palatino Linotype" panose="02040502050505030304"/>
                <a:cs typeface="Palatino Linotype" panose="02040502050505030304"/>
              </a:rPr>
              <a:t>values</a:t>
            </a:r>
            <a:r>
              <a:rPr sz="1200" spc="10"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is</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the</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domain</a:t>
            </a:r>
            <a:r>
              <a:rPr sz="1200" spc="1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for</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the</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application.</a:t>
            </a:r>
            <a:endParaRPr sz="1200">
              <a:latin typeface="Palatino Linotype" panose="02040502050505030304"/>
              <a:cs typeface="Palatino Linotype" panose="02040502050505030304"/>
            </a:endParaRPr>
          </a:p>
        </p:txBody>
      </p:sp>
      <p:pic>
        <p:nvPicPr>
          <p:cNvPr id="5" name="object 5"/>
          <p:cNvPicPr/>
          <p:nvPr/>
        </p:nvPicPr>
        <p:blipFill>
          <a:blip r:embed="rId3" cstate="print"/>
          <a:stretch>
            <a:fillRect/>
          </a:stretch>
        </p:blipFill>
        <p:spPr>
          <a:xfrm>
            <a:off x="769512" y="3245215"/>
            <a:ext cx="2718266" cy="2192887"/>
          </a:xfrm>
          <a:prstGeom prst="rect">
            <a:avLst/>
          </a:prstGeom>
        </p:spPr>
      </p:pic>
      <p:sp>
        <p:nvSpPr>
          <p:cNvPr id="6" name="object 6"/>
          <p:cNvSpPr txBox="1"/>
          <p:nvPr/>
        </p:nvSpPr>
        <p:spPr>
          <a:xfrm>
            <a:off x="4158760" y="3281922"/>
            <a:ext cx="4233545" cy="939165"/>
          </a:xfrm>
          <a:prstGeom prst="rect">
            <a:avLst/>
          </a:prstGeom>
          <a:solidFill>
            <a:srgbClr val="FFF2CC"/>
          </a:solidFill>
          <a:ln w="9525">
            <a:solidFill>
              <a:srgbClr val="000000"/>
            </a:solidFill>
          </a:ln>
        </p:spPr>
        <p:txBody>
          <a:bodyPr vert="horz" wrap="square" lIns="0" tIns="34290" rIns="0" bIns="0" rtlCol="0">
            <a:spAutoFit/>
          </a:bodyPr>
          <a:lstStyle/>
          <a:p>
            <a:pPr marL="90805">
              <a:lnSpc>
                <a:spcPct val="100000"/>
              </a:lnSpc>
              <a:spcBef>
                <a:spcPts val="270"/>
              </a:spcBef>
            </a:pPr>
            <a:r>
              <a:rPr sz="1800" b="1" dirty="0">
                <a:solidFill>
                  <a:srgbClr val="0432FF"/>
                </a:solidFill>
                <a:latin typeface="Palatino Linotype" panose="02040502050505030304"/>
                <a:cs typeface="Palatino Linotype" panose="02040502050505030304"/>
              </a:rPr>
              <a:t>Reaching</a:t>
            </a:r>
            <a:r>
              <a:rPr sz="1800" b="1" spc="-30" dirty="0">
                <a:solidFill>
                  <a:srgbClr val="0432FF"/>
                </a:solidFill>
                <a:latin typeface="Palatino Linotype" panose="02040502050505030304"/>
                <a:cs typeface="Palatino Linotype" panose="02040502050505030304"/>
              </a:rPr>
              <a:t> </a:t>
            </a:r>
            <a:r>
              <a:rPr sz="1800" b="1" spc="-5" dirty="0">
                <a:solidFill>
                  <a:srgbClr val="0432FF"/>
                </a:solidFill>
                <a:latin typeface="Palatino Linotype" panose="02040502050505030304"/>
                <a:cs typeface="Palatino Linotype" panose="02040502050505030304"/>
              </a:rPr>
              <a:t>definitions:</a:t>
            </a:r>
            <a:endParaRPr sz="1800">
              <a:latin typeface="Palatino Linotype" panose="02040502050505030304"/>
              <a:cs typeface="Palatino Linotype" panose="02040502050505030304"/>
            </a:endParaRPr>
          </a:p>
          <a:p>
            <a:pPr marL="90805" marR="241935">
              <a:lnSpc>
                <a:spcPts val="1900"/>
              </a:lnSpc>
              <a:spcBef>
                <a:spcPts val="710"/>
              </a:spcBef>
            </a:pPr>
            <a:r>
              <a:rPr sz="1600" spc="-5" dirty="0">
                <a:latin typeface="Palatino Linotype" panose="02040502050505030304"/>
                <a:cs typeface="Palatino Linotype" panose="02040502050505030304"/>
              </a:rPr>
              <a:t>The data-flow </a:t>
            </a:r>
            <a:r>
              <a:rPr sz="1600" spc="-15" dirty="0">
                <a:latin typeface="Palatino Linotype" panose="02040502050505030304"/>
                <a:cs typeface="Palatino Linotype" panose="02040502050505030304"/>
              </a:rPr>
              <a:t>value </a:t>
            </a:r>
            <a:r>
              <a:rPr sz="1600" dirty="0">
                <a:latin typeface="Palatino Linotype" panose="02040502050505030304"/>
                <a:cs typeface="Palatino Linotype" panose="02040502050505030304"/>
              </a:rPr>
              <a:t>at (5)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set </a:t>
            </a:r>
            <a:r>
              <a:rPr sz="1600" dirty="0">
                <a:latin typeface="Palatino Linotype" panose="02040502050505030304"/>
                <a:cs typeface="Palatino Linotype" panose="02040502050505030304"/>
              </a:rPr>
              <a:t>of </a:t>
            </a:r>
            <a:r>
              <a:rPr sz="1600" i="1" spc="-114" dirty="0">
                <a:latin typeface="Palatino Linotype" panose="02040502050505030304"/>
                <a:cs typeface="Palatino Linotype" panose="02040502050505030304"/>
              </a:rPr>
              <a:t>a</a:t>
            </a:r>
            <a:r>
              <a:rPr sz="1600" spc="-114" dirty="0">
                <a:latin typeface="Palatino Linotype" panose="02040502050505030304"/>
                <a:cs typeface="Palatino Linotype" panose="02040502050505030304"/>
              </a:rPr>
              <a:t>’s </a:t>
            </a:r>
            <a:r>
              <a:rPr sz="1600" spc="-1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definitions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that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can reach (5),</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that</a:t>
            </a:r>
            <a:r>
              <a:rPr sz="1600" spc="-5" dirty="0">
                <a:latin typeface="Palatino Linotype" panose="02040502050505030304"/>
                <a:cs typeface="Palatino Linotype" panose="02040502050505030304"/>
              </a:rPr>
              <a:t> is, {</a:t>
            </a:r>
            <a:r>
              <a:rPr sz="1600" i="1" spc="-5" dirty="0">
                <a:latin typeface="Palatino Linotype" panose="02040502050505030304"/>
                <a:cs typeface="Palatino Linotype" panose="02040502050505030304"/>
              </a:rPr>
              <a:t>d</a:t>
            </a:r>
            <a:r>
              <a:rPr sz="1650" spc="-7" baseline="-15000" dirty="0">
                <a:latin typeface="Palatino Linotype" panose="02040502050505030304"/>
                <a:cs typeface="Palatino Linotype" panose="02040502050505030304"/>
              </a:rPr>
              <a:t>1</a:t>
            </a:r>
            <a:r>
              <a:rPr sz="1600" spc="-5" dirty="0">
                <a:latin typeface="Palatino Linotype" panose="02040502050505030304"/>
                <a:cs typeface="Palatino Linotype" panose="02040502050505030304"/>
              </a:rPr>
              <a:t>, </a:t>
            </a:r>
            <a:r>
              <a:rPr sz="1600" i="1" spc="-5" dirty="0">
                <a:latin typeface="Palatino Linotype" panose="02040502050505030304"/>
                <a:cs typeface="Palatino Linotype" panose="02040502050505030304"/>
              </a:rPr>
              <a:t>d</a:t>
            </a:r>
            <a:r>
              <a:rPr sz="1650" spc="-7" baseline="-15000" dirty="0">
                <a:latin typeface="Palatino Linotype" panose="02040502050505030304"/>
                <a:cs typeface="Palatino Linotype" panose="02040502050505030304"/>
              </a:rPr>
              <a:t>3</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p:txBody>
      </p:sp>
      <p:sp>
        <p:nvSpPr>
          <p:cNvPr id="8" name="object 8"/>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9" name="object 9"/>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0" name="object 10"/>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28</a:t>
            </a:fld>
            <a:endParaRPr dirty="0"/>
          </a:p>
        </p:txBody>
      </p:sp>
      <p:sp>
        <p:nvSpPr>
          <p:cNvPr id="7" name="object 7"/>
          <p:cNvSpPr txBox="1"/>
          <p:nvPr/>
        </p:nvSpPr>
        <p:spPr>
          <a:xfrm>
            <a:off x="4158760" y="4509391"/>
            <a:ext cx="4233545" cy="939165"/>
          </a:xfrm>
          <a:prstGeom prst="rect">
            <a:avLst/>
          </a:prstGeom>
          <a:solidFill>
            <a:srgbClr val="FFF2CC"/>
          </a:solidFill>
          <a:ln w="9525">
            <a:solidFill>
              <a:srgbClr val="000000"/>
            </a:solidFill>
          </a:ln>
        </p:spPr>
        <p:txBody>
          <a:bodyPr vert="horz" wrap="square" lIns="0" tIns="31750" rIns="0" bIns="0" rtlCol="0">
            <a:spAutoFit/>
          </a:bodyPr>
          <a:lstStyle/>
          <a:p>
            <a:pPr marL="90805">
              <a:lnSpc>
                <a:spcPct val="100000"/>
              </a:lnSpc>
              <a:spcBef>
                <a:spcPts val="250"/>
              </a:spcBef>
            </a:pPr>
            <a:r>
              <a:rPr sz="1800" b="1" spc="-5" dirty="0">
                <a:solidFill>
                  <a:srgbClr val="0432FF"/>
                </a:solidFill>
                <a:latin typeface="Palatino Linotype" panose="02040502050505030304"/>
                <a:cs typeface="Palatino Linotype" panose="02040502050505030304"/>
              </a:rPr>
              <a:t>Constant</a:t>
            </a:r>
            <a:r>
              <a:rPr sz="1800" b="1" spc="-20" dirty="0">
                <a:solidFill>
                  <a:srgbClr val="0432FF"/>
                </a:solidFill>
                <a:latin typeface="Palatino Linotype" panose="02040502050505030304"/>
                <a:cs typeface="Palatino Linotype" panose="02040502050505030304"/>
              </a:rPr>
              <a:t> </a:t>
            </a:r>
            <a:r>
              <a:rPr sz="1800" b="1" spc="-5" dirty="0">
                <a:solidFill>
                  <a:srgbClr val="0432FF"/>
                </a:solidFill>
                <a:latin typeface="Palatino Linotype" panose="02040502050505030304"/>
                <a:cs typeface="Palatino Linotype" panose="02040502050505030304"/>
              </a:rPr>
              <a:t>folding:</a:t>
            </a:r>
            <a:endParaRPr sz="1800">
              <a:latin typeface="Palatino Linotype" panose="02040502050505030304"/>
              <a:cs typeface="Palatino Linotype" panose="02040502050505030304"/>
            </a:endParaRPr>
          </a:p>
          <a:p>
            <a:pPr marL="90805" marR="407670">
              <a:lnSpc>
                <a:spcPts val="1900"/>
              </a:lnSpc>
              <a:spcBef>
                <a:spcPts val="735"/>
              </a:spcBef>
            </a:pPr>
            <a:r>
              <a:rPr sz="1600" spc="-5"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data-flow</a:t>
            </a:r>
            <a:r>
              <a:rPr sz="1600"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for</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variable</a:t>
            </a:r>
            <a:r>
              <a:rPr sz="1600" spc="-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a</a:t>
            </a:r>
            <a:r>
              <a:rPr sz="1600" i="1"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(5) </a:t>
            </a:r>
            <a:r>
              <a:rPr sz="1600" spc="-5" dirty="0">
                <a:latin typeface="Palatino Linotype" panose="02040502050505030304"/>
                <a:cs typeface="Palatino Linotype" panose="02040502050505030304"/>
              </a:rPr>
              <a:t>is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NAC</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(not a</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constant)</a:t>
            </a:r>
            <a:endParaRPr sz="1600">
              <a:latin typeface="Palatino Linotype" panose="02040502050505030304"/>
              <a:cs typeface="Palatino Linotype" panose="0204050205050503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29</a:t>
            </a:fld>
            <a:endParaRPr dirty="0"/>
          </a:p>
        </p:txBody>
      </p:sp>
      <p:sp>
        <p:nvSpPr>
          <p:cNvPr id="2" name="object 2"/>
          <p:cNvSpPr txBox="1">
            <a:spLocks noGrp="1"/>
          </p:cNvSpPr>
          <p:nvPr>
            <p:ph type="title"/>
          </p:nvPr>
        </p:nvSpPr>
        <p:spPr>
          <a:xfrm>
            <a:off x="707390" y="524763"/>
            <a:ext cx="757428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15" dirty="0"/>
              <a:t> </a:t>
            </a:r>
            <a:r>
              <a:rPr sz="4000" dirty="0"/>
              <a:t>Data-Flow</a:t>
            </a:r>
            <a:r>
              <a:rPr sz="4000" spc="-10" dirty="0"/>
              <a:t> </a:t>
            </a:r>
            <a:r>
              <a:rPr sz="4000" spc="-5" dirty="0"/>
              <a:t>Analysis</a:t>
            </a:r>
            <a:r>
              <a:rPr sz="4000" spc="-15" dirty="0"/>
              <a:t> </a:t>
            </a:r>
            <a:r>
              <a:rPr sz="4000" spc="-5" dirty="0"/>
              <a:t>Schema</a:t>
            </a:r>
            <a:endParaRPr sz="4000"/>
          </a:p>
        </p:txBody>
      </p:sp>
      <p:sp>
        <p:nvSpPr>
          <p:cNvPr id="3" name="object 3"/>
          <p:cNvSpPr txBox="1"/>
          <p:nvPr/>
        </p:nvSpPr>
        <p:spPr>
          <a:xfrm>
            <a:off x="707390" y="1659635"/>
            <a:ext cx="7586345" cy="3088005"/>
          </a:xfrm>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 pos="242570" algn="l"/>
              </a:tabLst>
            </a:pPr>
            <a:r>
              <a:rPr sz="2000" spc="-5" dirty="0">
                <a:solidFill>
                  <a:srgbClr val="0432FF"/>
                </a:solidFill>
                <a:latin typeface="Palatino Linotype" panose="02040502050505030304"/>
                <a:cs typeface="Palatino Linotype" panose="02040502050505030304"/>
              </a:rPr>
              <a:t>IN[</a:t>
            </a:r>
            <a:r>
              <a:rPr sz="2000" i="1" spc="-5" dirty="0">
                <a:solidFill>
                  <a:srgbClr val="0432FF"/>
                </a:solidFill>
                <a:latin typeface="Palatino Linotype" panose="02040502050505030304"/>
                <a:cs typeface="Palatino Linotype" panose="02040502050505030304"/>
              </a:rPr>
              <a:t>s</a:t>
            </a:r>
            <a:r>
              <a:rPr sz="2000" spc="-5" dirty="0">
                <a:solidFill>
                  <a:srgbClr val="0432FF"/>
                </a:solidFill>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data-flow</a:t>
            </a:r>
            <a:r>
              <a:rPr sz="2000" spc="-1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dirty="0">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before</a:t>
            </a:r>
            <a:r>
              <a:rPr sz="2000" spc="5"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 </a:t>
            </a:r>
            <a:r>
              <a:rPr sz="2000" i="1" dirty="0">
                <a:latin typeface="Palatino Linotype" panose="02040502050505030304"/>
                <a:cs typeface="Palatino Linotype" panose="02040502050505030304"/>
              </a:rPr>
              <a:t>s</a:t>
            </a:r>
            <a:endParaRPr sz="2000">
              <a:latin typeface="Palatino Linotype" panose="02040502050505030304"/>
              <a:cs typeface="Palatino Linotype" panose="02040502050505030304"/>
            </a:endParaRPr>
          </a:p>
          <a:p>
            <a:pPr>
              <a:lnSpc>
                <a:spcPct val="100000"/>
              </a:lnSpc>
              <a:spcBef>
                <a:spcPts val="10"/>
              </a:spcBef>
              <a:buFont typeface="Arial MT"/>
              <a:buChar char="•"/>
            </a:pPr>
            <a:endParaRPr sz="250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 pos="242570" algn="l"/>
              </a:tabLst>
            </a:pPr>
            <a:r>
              <a:rPr sz="2000" spc="-5" dirty="0">
                <a:solidFill>
                  <a:srgbClr val="0432FF"/>
                </a:solidFill>
                <a:latin typeface="Palatino Linotype" panose="02040502050505030304"/>
                <a:cs typeface="Palatino Linotype" panose="02040502050505030304"/>
              </a:rPr>
              <a:t>OUT[</a:t>
            </a:r>
            <a:r>
              <a:rPr sz="2000" i="1" spc="-5" dirty="0">
                <a:solidFill>
                  <a:srgbClr val="0432FF"/>
                </a:solidFill>
                <a:latin typeface="Palatino Linotype" panose="02040502050505030304"/>
                <a:cs typeface="Palatino Linotype" panose="02040502050505030304"/>
              </a:rPr>
              <a:t>s</a:t>
            </a:r>
            <a:r>
              <a:rPr sz="2000" spc="-5" dirty="0">
                <a:solidFill>
                  <a:srgbClr val="0432FF"/>
                </a:solidFill>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 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data-flow</a:t>
            </a:r>
            <a:r>
              <a:rPr sz="2000" spc="-1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dirty="0">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after</a:t>
            </a:r>
            <a:r>
              <a:rPr sz="2000" spc="-10"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 </a:t>
            </a:r>
            <a:r>
              <a:rPr sz="2000" i="1" dirty="0">
                <a:latin typeface="Palatino Linotype" panose="02040502050505030304"/>
                <a:cs typeface="Palatino Linotype" panose="02040502050505030304"/>
              </a:rPr>
              <a:t>s</a:t>
            </a:r>
            <a:endParaRPr sz="2000">
              <a:latin typeface="Palatino Linotype" panose="02040502050505030304"/>
              <a:cs typeface="Palatino Linotype" panose="02040502050505030304"/>
            </a:endParaRPr>
          </a:p>
          <a:p>
            <a:pPr>
              <a:lnSpc>
                <a:spcPct val="100000"/>
              </a:lnSpc>
              <a:spcBef>
                <a:spcPts val="30"/>
              </a:spcBef>
              <a:buFont typeface="Arial MT"/>
              <a:buChar char="•"/>
            </a:pPr>
            <a:endParaRPr sz="2200">
              <a:latin typeface="Palatino Linotype" panose="02040502050505030304"/>
              <a:cs typeface="Palatino Linotype" panose="02040502050505030304"/>
            </a:endParaRPr>
          </a:p>
          <a:p>
            <a:pPr marL="242570" marR="5080" indent="-230505">
              <a:lnSpc>
                <a:spcPct val="121000"/>
              </a:lnSpc>
              <a:buFont typeface="Arial MT"/>
              <a:buChar char="•"/>
              <a:tabLst>
                <a:tab pos="242570" algn="l"/>
                <a:tab pos="242570" algn="l"/>
              </a:tabLst>
            </a:pP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data-flow</a:t>
            </a:r>
            <a:r>
              <a:rPr sz="2000" i="1" spc="5" dirty="0">
                <a:solidFill>
                  <a:srgbClr val="FF0000"/>
                </a:solidFill>
                <a:latin typeface="Palatino Linotype" panose="02040502050505030304"/>
                <a:cs typeface="Palatino Linotype" panose="02040502050505030304"/>
              </a:rPr>
              <a:t> </a:t>
            </a:r>
            <a:r>
              <a:rPr sz="2000" i="1" spc="-10" dirty="0">
                <a:solidFill>
                  <a:srgbClr val="FF0000"/>
                </a:solidFill>
                <a:latin typeface="Palatino Linotype" panose="02040502050505030304"/>
                <a:cs typeface="Palatino Linotype" panose="02040502050505030304"/>
              </a:rPr>
              <a:t>problem </a:t>
            </a:r>
            <a:r>
              <a:rPr sz="2000" dirty="0">
                <a:latin typeface="Palatino Linotype" panose="02040502050505030304"/>
                <a:cs typeface="Palatino Linotype" panose="02040502050505030304"/>
              </a:rPr>
              <a:t>is </a:t>
            </a:r>
            <a:r>
              <a:rPr sz="2000" spc="-5" dirty="0">
                <a:latin typeface="Palatino Linotype" panose="02040502050505030304"/>
                <a:cs typeface="Palatino Linotype" panose="02040502050505030304"/>
              </a:rPr>
              <a:t>to find</a:t>
            </a:r>
            <a:r>
              <a:rPr sz="2000" dirty="0">
                <a:latin typeface="Palatino Linotype" panose="02040502050505030304"/>
                <a:cs typeface="Palatino Linotype" panose="02040502050505030304"/>
              </a:rPr>
              <a:t> a </a:t>
            </a:r>
            <a:r>
              <a:rPr sz="2000" spc="-5" dirty="0">
                <a:latin typeface="Palatino Linotype" panose="02040502050505030304"/>
                <a:cs typeface="Palatino Linotype" panose="02040502050505030304"/>
              </a:rPr>
              <a:t>solution to </a:t>
            </a:r>
            <a:r>
              <a:rPr sz="2000" dirty="0">
                <a:latin typeface="Palatino Linotype" panose="02040502050505030304"/>
                <a:cs typeface="Palatino Linotype" panose="02040502050505030304"/>
              </a:rPr>
              <a:t>a set</a:t>
            </a:r>
            <a:r>
              <a:rPr sz="2000" spc="-5" dirty="0">
                <a:latin typeface="Palatino Linotype" panose="02040502050505030304"/>
                <a:cs typeface="Palatino Linotype" panose="02040502050505030304"/>
              </a:rPr>
              <a:t> of constraints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on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 </a:t>
            </a:r>
            <a:r>
              <a:rPr sz="2000" spc="-35" dirty="0">
                <a:latin typeface="Palatino Linotype" panose="02040502050505030304"/>
                <a:cs typeface="Palatino Linotype" panose="02040502050505030304"/>
              </a:rPr>
              <a:t>IN[</a:t>
            </a:r>
            <a:r>
              <a:rPr sz="2000" i="1" spc="-35" dirty="0">
                <a:latin typeface="Palatino Linotype" panose="02040502050505030304"/>
                <a:cs typeface="Palatino Linotype" panose="02040502050505030304"/>
              </a:rPr>
              <a:t>s</a:t>
            </a:r>
            <a:r>
              <a:rPr sz="2000" spc="-35" dirty="0">
                <a:latin typeface="Palatino Linotype" panose="02040502050505030304"/>
                <a:cs typeface="Palatino Linotype" panose="02040502050505030304"/>
              </a:rPr>
              <a: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35" dirty="0">
                <a:latin typeface="Palatino Linotype" panose="02040502050505030304"/>
                <a:cs typeface="Palatino Linotype" panose="02040502050505030304"/>
              </a:rPr>
              <a:t>OUT[</a:t>
            </a:r>
            <a:r>
              <a:rPr sz="2000" i="1" spc="-35" dirty="0">
                <a:latin typeface="Palatino Linotype" panose="02040502050505030304"/>
                <a:cs typeface="Palatino Linotype" panose="02040502050505030304"/>
              </a:rPr>
              <a:t>s</a:t>
            </a:r>
            <a:r>
              <a:rPr sz="2000" spc="-35" dirty="0">
                <a:latin typeface="Palatino Linotype" panose="02040502050505030304"/>
                <a:cs typeface="Palatino Linotype" panose="02040502050505030304"/>
              </a:rPr>
              <a: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 </a:t>
            </a:r>
            <a:r>
              <a:rPr sz="2000" dirty="0">
                <a:latin typeface="Palatino Linotype" panose="02040502050505030304"/>
                <a:cs typeface="Palatino Linotype" panose="02040502050505030304"/>
              </a:rPr>
              <a:t>all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statements</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s</a:t>
            </a:r>
            <a:endParaRPr sz="2000">
              <a:latin typeface="Palatino Linotype" panose="02040502050505030304"/>
              <a:cs typeface="Palatino Linotype" panose="02040502050505030304"/>
            </a:endParaRPr>
          </a:p>
          <a:p>
            <a:pPr marL="812800" lvl="1" indent="-342900">
              <a:lnSpc>
                <a:spcPct val="100000"/>
              </a:lnSpc>
              <a:spcBef>
                <a:spcPts val="1600"/>
              </a:spcBef>
              <a:buAutoNum type="arabicPeriod"/>
              <a:tabLst>
                <a:tab pos="812165" algn="l"/>
                <a:tab pos="812800" algn="l"/>
              </a:tabLst>
            </a:pPr>
            <a:r>
              <a:rPr sz="1600" dirty="0">
                <a:latin typeface="Palatino Linotype" panose="02040502050505030304"/>
                <a:cs typeface="Palatino Linotype" panose="02040502050505030304"/>
              </a:rPr>
              <a:t>Constraints</a:t>
            </a:r>
            <a:r>
              <a:rPr sz="1600" spc="-5" dirty="0">
                <a:latin typeface="Palatino Linotype" panose="02040502050505030304"/>
                <a:cs typeface="Palatino Linotype" panose="02040502050505030304"/>
              </a:rPr>
              <a:t> based</a:t>
            </a:r>
            <a:r>
              <a:rPr sz="1600" dirty="0">
                <a:latin typeface="Palatino Linotype" panose="02040502050505030304"/>
                <a:cs typeface="Palatino Linotype" panose="02040502050505030304"/>
              </a:rPr>
              <a:t> on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semantics</a:t>
            </a:r>
            <a:r>
              <a:rPr sz="1600" dirty="0">
                <a:latin typeface="Palatino Linotype" panose="02040502050505030304"/>
                <a:cs typeface="Palatino Linotype" panose="02040502050505030304"/>
              </a:rPr>
              <a:t> of</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statements</a:t>
            </a:r>
            <a:r>
              <a:rPr sz="1600" dirty="0">
                <a:latin typeface="Palatino Linotype" panose="02040502050505030304"/>
                <a:cs typeface="Palatino Linotype" panose="02040502050505030304"/>
              </a:rPr>
              <a:t> (“</a:t>
            </a:r>
            <a:r>
              <a:rPr sz="1600" i="1" dirty="0">
                <a:solidFill>
                  <a:srgbClr val="0432FF"/>
                </a:solidFill>
                <a:latin typeface="Palatino Linotype" panose="02040502050505030304"/>
                <a:cs typeface="Palatino Linotype" panose="02040502050505030304"/>
              </a:rPr>
              <a:t>transfer</a:t>
            </a:r>
            <a:r>
              <a:rPr sz="1600" i="1" spc="5" dirty="0">
                <a:solidFill>
                  <a:srgbClr val="0432FF"/>
                </a:solidFill>
                <a:latin typeface="Palatino Linotype" panose="02040502050505030304"/>
                <a:cs typeface="Palatino Linotype" panose="02040502050505030304"/>
              </a:rPr>
              <a:t> </a:t>
            </a:r>
            <a:r>
              <a:rPr sz="1600" i="1" spc="-5" dirty="0">
                <a:solidFill>
                  <a:srgbClr val="0432FF"/>
                </a:solidFill>
                <a:latin typeface="Palatino Linotype" panose="02040502050505030304"/>
                <a:cs typeface="Palatino Linotype" panose="02040502050505030304"/>
              </a:rPr>
              <a:t>functions</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a:p>
            <a:pPr marL="812800" lvl="1" indent="-342900">
              <a:lnSpc>
                <a:spcPct val="100000"/>
              </a:lnSpc>
              <a:spcBef>
                <a:spcPts val="1680"/>
              </a:spcBef>
              <a:buAutoNum type="arabicPeriod"/>
              <a:tabLst>
                <a:tab pos="812165" algn="l"/>
                <a:tab pos="812800" algn="l"/>
              </a:tabLst>
            </a:pPr>
            <a:r>
              <a:rPr sz="1600" dirty="0">
                <a:latin typeface="Palatino Linotype" panose="02040502050505030304"/>
                <a:cs typeface="Palatino Linotype" panose="02040502050505030304"/>
              </a:rPr>
              <a:t>Constraints</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based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flow </a:t>
            </a:r>
            <a:r>
              <a:rPr sz="1600" dirty="0">
                <a:latin typeface="Palatino Linotype" panose="02040502050505030304"/>
                <a:cs typeface="Palatino Linotype" panose="02040502050505030304"/>
              </a:rPr>
              <a:t>of</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control</a:t>
            </a:r>
            <a:endParaRPr sz="1600">
              <a:latin typeface="Palatino Linotype" panose="02040502050505030304"/>
              <a:cs typeface="Palatino Linotype" panose="0204050205050503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30</a:t>
            </a:fld>
            <a:endParaRPr dirty="0"/>
          </a:p>
        </p:txBody>
      </p:sp>
      <p:sp>
        <p:nvSpPr>
          <p:cNvPr id="2" name="object 2"/>
          <p:cNvSpPr txBox="1">
            <a:spLocks noGrp="1"/>
          </p:cNvSpPr>
          <p:nvPr>
            <p:ph type="title"/>
          </p:nvPr>
        </p:nvSpPr>
        <p:spPr>
          <a:xfrm>
            <a:off x="707390" y="524763"/>
            <a:ext cx="7979410" cy="628377"/>
          </a:xfrm>
          <a:prstGeom prst="rect">
            <a:avLst/>
          </a:prstGeom>
        </p:spPr>
        <p:txBody>
          <a:bodyPr vert="horz" wrap="square" lIns="0" tIns="12700" rIns="0" bIns="0" rtlCol="0">
            <a:spAutoFit/>
          </a:bodyPr>
          <a:lstStyle/>
          <a:p>
            <a:pPr marL="12700">
              <a:lnSpc>
                <a:spcPct val="100000"/>
              </a:lnSpc>
              <a:spcBef>
                <a:spcPts val="100"/>
              </a:spcBef>
            </a:pPr>
            <a:r>
              <a:rPr sz="4000" spc="-40" dirty="0"/>
              <a:t>Transfer</a:t>
            </a:r>
            <a:r>
              <a:rPr sz="4000" spc="-35" dirty="0"/>
              <a:t> </a:t>
            </a:r>
            <a:r>
              <a:rPr sz="4000" spc="-5" dirty="0"/>
              <a:t>Functions</a:t>
            </a:r>
            <a:r>
              <a:rPr sz="4000" spc="-40" dirty="0"/>
              <a:t> </a:t>
            </a:r>
            <a:r>
              <a:rPr sz="4000" spc="1425" dirty="0"/>
              <a:t>(</a:t>
            </a:r>
            <a:r>
              <a:rPr lang="zh-CN" altLang="en-US" sz="4000" spc="1425" dirty="0"/>
              <a:t>传递函数</a:t>
            </a:r>
            <a:r>
              <a:rPr sz="4000" spc="1425" dirty="0"/>
              <a:t>)</a:t>
            </a:r>
            <a:endParaRPr sz="4000" dirty="0">
              <a:latin typeface="Arial" panose="020B0604020202020204"/>
              <a:cs typeface="Arial" panose="020B0604020202020204"/>
            </a:endParaRPr>
          </a:p>
        </p:txBody>
      </p:sp>
      <p:sp>
        <p:nvSpPr>
          <p:cNvPr id="3" name="object 3"/>
          <p:cNvSpPr txBox="1"/>
          <p:nvPr/>
        </p:nvSpPr>
        <p:spPr>
          <a:xfrm>
            <a:off x="707390" y="1590547"/>
            <a:ext cx="7673975" cy="4081779"/>
          </a:xfrm>
          <a:prstGeom prst="rect">
            <a:avLst/>
          </a:prstGeom>
        </p:spPr>
        <p:txBody>
          <a:bodyPr vert="horz" wrap="square" lIns="0" tIns="12700" rIns="0" bIns="0" rtlCol="0">
            <a:spAutoFit/>
          </a:bodyPr>
          <a:lstStyle/>
          <a:p>
            <a:pPr marL="242570" marR="257175" indent="-230505">
              <a:lnSpc>
                <a:spcPct val="118000"/>
              </a:lnSpc>
              <a:spcBef>
                <a:spcPts val="100"/>
              </a:spcBef>
              <a:buFont typeface="Arial MT"/>
              <a:buChar char="•"/>
              <a:tabLst>
                <a:tab pos="242570" algn="l"/>
              </a:tabLst>
            </a:pPr>
            <a:r>
              <a:rPr sz="2400" dirty="0">
                <a:latin typeface="Palatino Linotype" panose="02040502050505030304"/>
                <a:cs typeface="Palatino Linotype" panose="02040502050505030304"/>
              </a:rPr>
              <a:t>The </a:t>
            </a:r>
            <a:r>
              <a:rPr sz="2400" spc="-5" dirty="0">
                <a:latin typeface="Palatino Linotype" panose="02040502050505030304"/>
                <a:cs typeface="Palatino Linotype" panose="02040502050505030304"/>
              </a:rPr>
              <a:t>data-flow </a:t>
            </a:r>
            <a:r>
              <a:rPr sz="2400" spc="-15" dirty="0">
                <a:latin typeface="Palatino Linotype" panose="02040502050505030304"/>
                <a:cs typeface="Palatino Linotype" panose="02040502050505030304"/>
              </a:rPr>
              <a:t>values </a:t>
            </a:r>
            <a:r>
              <a:rPr sz="2400" spc="-5" dirty="0">
                <a:latin typeface="Palatino Linotype" panose="02040502050505030304"/>
                <a:cs typeface="Palatino Linotype" panose="02040502050505030304"/>
              </a:rPr>
              <a:t>before </a:t>
            </a:r>
            <a:r>
              <a:rPr sz="2400" dirty="0">
                <a:latin typeface="Palatino Linotype" panose="02040502050505030304"/>
                <a:cs typeface="Palatino Linotype" panose="02040502050505030304"/>
              </a:rPr>
              <a:t>and after a statement are </a:t>
            </a:r>
            <a:r>
              <a:rPr sz="2400" spc="-58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constrained</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by</a:t>
            </a:r>
            <a:r>
              <a:rPr sz="2400" dirty="0">
                <a:latin typeface="Palatino Linotype" panose="02040502050505030304"/>
                <a:cs typeface="Palatino Linotype" panose="02040502050505030304"/>
              </a:rPr>
              <a:t> the </a:t>
            </a:r>
            <a:r>
              <a:rPr sz="2400" spc="-5" dirty="0">
                <a:latin typeface="Palatino Linotype" panose="02040502050505030304"/>
                <a:cs typeface="Palatino Linotype" panose="02040502050505030304"/>
              </a:rPr>
              <a:t>semantics </a:t>
            </a:r>
            <a:r>
              <a:rPr sz="2400" dirty="0">
                <a:latin typeface="Palatino Linotype" panose="02040502050505030304"/>
                <a:cs typeface="Palatino Linotype" panose="02040502050505030304"/>
              </a:rPr>
              <a:t>of the statement</a:t>
            </a:r>
            <a:endParaRPr sz="2400">
              <a:latin typeface="Palatino Linotype" panose="02040502050505030304"/>
              <a:cs typeface="Palatino Linotype" panose="02040502050505030304"/>
            </a:endParaRPr>
          </a:p>
          <a:p>
            <a:pPr marL="242570" marR="5080" indent="-230505">
              <a:lnSpc>
                <a:spcPct val="122000"/>
              </a:lnSpc>
              <a:spcBef>
                <a:spcPts val="1800"/>
              </a:spcBef>
              <a:buClr>
                <a:srgbClr val="000000"/>
              </a:buClr>
              <a:buFont typeface="Arial MT"/>
              <a:buChar char="•"/>
              <a:tabLst>
                <a:tab pos="242570" algn="l"/>
              </a:tabLst>
            </a:pPr>
            <a:r>
              <a:rPr sz="2400" b="1" spc="-5" dirty="0">
                <a:solidFill>
                  <a:srgbClr val="FF0000"/>
                </a:solidFill>
                <a:latin typeface="Palatino Linotype" panose="02040502050505030304"/>
                <a:cs typeface="Palatino Linotype" panose="02040502050505030304"/>
              </a:rPr>
              <a:t>Example: </a:t>
            </a:r>
            <a:r>
              <a:rPr sz="2400" spc="-5" dirty="0">
                <a:latin typeface="Palatino Linotype" panose="02040502050505030304"/>
                <a:cs typeface="Palatino Linotype" panose="02040502050505030304"/>
              </a:rPr>
              <a:t>consider</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the</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constant</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folding</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case</a:t>
            </a:r>
            <a:r>
              <a:rPr sz="2400" dirty="0">
                <a:latin typeface="Palatino Linotype" panose="02040502050505030304"/>
                <a:cs typeface="Palatino Linotype" panose="02040502050505030304"/>
              </a:rPr>
              <a:t> (analyzing </a:t>
            </a:r>
            <a:r>
              <a:rPr sz="2400" spc="-58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whether</a:t>
            </a:r>
            <a:r>
              <a:rPr sz="2400" dirty="0">
                <a:latin typeface="Palatino Linotype" panose="02040502050505030304"/>
                <a:cs typeface="Palatino Linotype" panose="02040502050505030304"/>
              </a:rPr>
              <a:t> a </a:t>
            </a:r>
            <a:r>
              <a:rPr sz="2400" spc="-10" dirty="0">
                <a:latin typeface="Palatino Linotype" panose="02040502050505030304"/>
                <a:cs typeface="Palatino Linotype" panose="02040502050505030304"/>
              </a:rPr>
              <a:t>variable</a:t>
            </a:r>
            <a:r>
              <a:rPr sz="2400" dirty="0">
                <a:latin typeface="Palatino Linotype" panose="02040502050505030304"/>
                <a:cs typeface="Palatino Linotype" panose="02040502050505030304"/>
              </a:rPr>
              <a:t> is</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 </a:t>
            </a:r>
            <a:r>
              <a:rPr sz="2400" spc="-5" dirty="0">
                <a:latin typeface="Palatino Linotype" panose="02040502050505030304"/>
                <a:cs typeface="Palatino Linotype" panose="02040502050505030304"/>
              </a:rPr>
              <a:t>constant</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at</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 </a:t>
            </a:r>
            <a:r>
              <a:rPr sz="2400" spc="-5" dirty="0">
                <a:latin typeface="Palatino Linotype" panose="02040502050505030304"/>
                <a:cs typeface="Palatino Linotype" panose="02040502050505030304"/>
              </a:rPr>
              <a:t>program</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point)</a:t>
            </a:r>
            <a:endParaRPr sz="2400">
              <a:latin typeface="Palatino Linotype" panose="02040502050505030304"/>
              <a:cs typeface="Palatino Linotype" panose="02040502050505030304"/>
            </a:endParaRPr>
          </a:p>
          <a:p>
            <a:pPr marL="698500" lvl="1" indent="-228600">
              <a:lnSpc>
                <a:spcPct val="100000"/>
              </a:lnSpc>
              <a:spcBef>
                <a:spcPts val="1720"/>
              </a:spcBef>
              <a:buFont typeface="Wingdings" panose="05000000000000000000"/>
              <a:buChar char=""/>
              <a:tabLst>
                <a:tab pos="698500" algn="l"/>
              </a:tabLst>
            </a:pPr>
            <a:r>
              <a:rPr sz="2000" spc="-5" dirty="0">
                <a:latin typeface="Palatino Linotype" panose="02040502050505030304"/>
                <a:cs typeface="Palatino Linotype" panose="02040502050505030304"/>
              </a:rPr>
              <a:t>Statement</a:t>
            </a:r>
            <a:r>
              <a:rPr sz="2000" spc="-20" dirty="0">
                <a:latin typeface="Palatino Linotype" panose="02040502050505030304"/>
                <a:cs typeface="Palatino Linotype" panose="02040502050505030304"/>
              </a:rPr>
              <a:t> </a:t>
            </a:r>
            <a:r>
              <a:rPr sz="2000" i="1" spc="-5" dirty="0">
                <a:latin typeface="Palatino Linotype" panose="02040502050505030304"/>
                <a:cs typeface="Palatino Linotype" panose="02040502050505030304"/>
              </a:rPr>
              <a:t>s</a:t>
            </a:r>
            <a:r>
              <a:rPr sz="2000" spc="-5" dirty="0">
                <a:latin typeface="Palatino Linotype" panose="02040502050505030304"/>
                <a:cs typeface="Palatino Linotype" panose="02040502050505030304"/>
              </a:rPr>
              <a:t>:</a:t>
            </a:r>
            <a:r>
              <a:rPr sz="2000" spc="-15"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x</a:t>
            </a:r>
            <a:r>
              <a:rPr sz="2000" i="1" spc="-10" dirty="0">
                <a:solidFill>
                  <a:srgbClr val="0432FF"/>
                </a:solidFill>
                <a:latin typeface="Palatino Linotype" panose="02040502050505030304"/>
                <a:cs typeface="Palatino Linotype" panose="02040502050505030304"/>
              </a:rPr>
              <a:t> </a:t>
            </a:r>
            <a:r>
              <a:rPr sz="2000" dirty="0">
                <a:solidFill>
                  <a:srgbClr val="0432FF"/>
                </a:solidFill>
                <a:latin typeface="Palatino Linotype" panose="02040502050505030304"/>
                <a:cs typeface="Palatino Linotype" panose="02040502050505030304"/>
              </a:rPr>
              <a:t>=</a:t>
            </a:r>
            <a:r>
              <a:rPr sz="2000" spc="-15" dirty="0">
                <a:solidFill>
                  <a:srgbClr val="0432FF"/>
                </a:solidFill>
                <a:latin typeface="Palatino Linotype" panose="02040502050505030304"/>
                <a:cs typeface="Palatino Linotype" panose="02040502050505030304"/>
              </a:rPr>
              <a:t> </a:t>
            </a:r>
            <a:r>
              <a:rPr sz="2000" dirty="0">
                <a:solidFill>
                  <a:srgbClr val="0432FF"/>
                </a:solidFill>
                <a:latin typeface="Palatino Linotype" panose="02040502050505030304"/>
                <a:cs typeface="Palatino Linotype" panose="02040502050505030304"/>
              </a:rPr>
              <a:t>3</a:t>
            </a:r>
            <a:endParaRPr sz="2000">
              <a:latin typeface="Palatino Linotype" panose="02040502050505030304"/>
              <a:cs typeface="Palatino Linotype" panose="02040502050505030304"/>
            </a:endParaRPr>
          </a:p>
          <a:p>
            <a:pPr marL="698500" lvl="1" indent="-228600">
              <a:lnSpc>
                <a:spcPct val="100000"/>
              </a:lnSpc>
              <a:spcBef>
                <a:spcPts val="1680"/>
              </a:spcBef>
              <a:buFont typeface="Wingdings" panose="05000000000000000000"/>
              <a:buChar char=""/>
              <a:tabLst>
                <a:tab pos="698500" algn="l"/>
              </a:tabLst>
            </a:pPr>
            <a:r>
              <a:rPr sz="2000" spc="-5" dirty="0">
                <a:latin typeface="Palatino Linotype" panose="02040502050505030304"/>
                <a:cs typeface="Palatino Linotype" panose="02040502050505030304"/>
              </a:rPr>
              <a:t>Three</a:t>
            </a:r>
            <a:r>
              <a:rPr sz="2000" spc="-2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variables:</a:t>
            </a:r>
            <a:r>
              <a:rPr sz="2000" spc="-15"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x</a:t>
            </a:r>
            <a:r>
              <a:rPr sz="2000" dirty="0">
                <a:latin typeface="Palatino Linotype" panose="02040502050505030304"/>
                <a:cs typeface="Palatino Linotype" panose="02040502050505030304"/>
              </a:rPr>
              <a:t>,</a:t>
            </a:r>
            <a:r>
              <a:rPr sz="2000" spc="-20"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y</a:t>
            </a:r>
            <a:r>
              <a:rPr sz="2000" dirty="0">
                <a:latin typeface="Palatino Linotype" panose="02040502050505030304"/>
                <a:cs typeface="Palatino Linotype" panose="02040502050505030304"/>
              </a:rPr>
              <a:t>,</a:t>
            </a:r>
            <a:r>
              <a:rPr sz="2000" spc="-15"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z</a:t>
            </a:r>
            <a:endParaRPr sz="2000">
              <a:latin typeface="Palatino Linotype" panose="02040502050505030304"/>
              <a:cs typeface="Palatino Linotype" panose="02040502050505030304"/>
            </a:endParaRPr>
          </a:p>
          <a:p>
            <a:pPr marL="698500" lvl="1" indent="-228600">
              <a:lnSpc>
                <a:spcPct val="100000"/>
              </a:lnSpc>
              <a:spcBef>
                <a:spcPts val="1605"/>
              </a:spcBef>
              <a:buFont typeface="Wingdings" panose="05000000000000000000"/>
              <a:buChar char=""/>
              <a:tabLst>
                <a:tab pos="698500" algn="l"/>
              </a:tabLst>
            </a:pPr>
            <a:r>
              <a:rPr sz="2000" dirty="0">
                <a:latin typeface="Palatino Linotype" panose="02040502050505030304"/>
                <a:cs typeface="Palatino Linotype" panose="02040502050505030304"/>
              </a:rPr>
              <a:t>If</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a:t>
            </a:r>
            <a:r>
              <a:rPr sz="2000" i="1" spc="-5" dirty="0">
                <a:latin typeface="Palatino Linotype" panose="02040502050505030304"/>
                <a:cs typeface="Palatino Linotype" panose="02040502050505030304"/>
              </a:rPr>
              <a:t>s</a:t>
            </a:r>
            <a:r>
              <a:rPr sz="2000" spc="-5" dirty="0">
                <a:latin typeface="Palatino Linotype" panose="02040502050505030304"/>
                <a:cs typeface="Palatino Linotype" panose="02040502050505030304"/>
              </a:rPr>
              <a:t>]</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dirty="0">
                <a:solidFill>
                  <a:srgbClr val="0432FF"/>
                </a:solidFill>
                <a:latin typeface="Palatino Linotype" panose="02040502050505030304"/>
                <a:cs typeface="Palatino Linotype" panose="02040502050505030304"/>
              </a:rPr>
              <a:t> </a:t>
            </a:r>
            <a:r>
              <a:rPr sz="2000" i="1" u="sng" dirty="0">
                <a:solidFill>
                  <a:srgbClr val="0432FF"/>
                </a:solidFill>
                <a:uFill>
                  <a:solidFill>
                    <a:srgbClr val="0432FF"/>
                  </a:solidFill>
                </a:uFill>
                <a:latin typeface="Palatino Linotype" panose="02040502050505030304"/>
                <a:cs typeface="Palatino Linotype" panose="02040502050505030304"/>
              </a:rPr>
              <a:t>x</a:t>
            </a:r>
            <a:r>
              <a:rPr sz="2000" u="sng" dirty="0">
                <a:solidFill>
                  <a:srgbClr val="0432FF"/>
                </a:solidFill>
                <a:uFill>
                  <a:solidFill>
                    <a:srgbClr val="0432FF"/>
                  </a:solidFill>
                </a:uFill>
                <a:latin typeface="Palatino Linotype" panose="02040502050505030304"/>
                <a:cs typeface="Palatino Linotype" panose="02040502050505030304"/>
              </a:rPr>
              <a:t>:</a:t>
            </a:r>
            <a:r>
              <a:rPr sz="2000" u="sng" spc="-5" dirty="0">
                <a:solidFill>
                  <a:srgbClr val="0432FF"/>
                </a:solidFill>
                <a:uFill>
                  <a:solidFill>
                    <a:srgbClr val="0432FF"/>
                  </a:solidFill>
                </a:uFill>
                <a:latin typeface="Palatino Linotype" panose="02040502050505030304"/>
                <a:cs typeface="Palatino Linotype" panose="02040502050505030304"/>
              </a:rPr>
              <a:t> NAC;</a:t>
            </a:r>
            <a:r>
              <a:rPr sz="2000" u="sng" dirty="0">
                <a:solidFill>
                  <a:srgbClr val="0432FF"/>
                </a:solidFill>
                <a:uFill>
                  <a:solidFill>
                    <a:srgbClr val="0432FF"/>
                  </a:solidFill>
                </a:uFill>
                <a:latin typeface="Palatino Linotype" panose="02040502050505030304"/>
                <a:cs typeface="Palatino Linotype" panose="02040502050505030304"/>
              </a:rPr>
              <a:t> </a:t>
            </a:r>
            <a:r>
              <a:rPr sz="2000" i="1" u="sng" dirty="0">
                <a:solidFill>
                  <a:srgbClr val="0432FF"/>
                </a:solidFill>
                <a:uFill>
                  <a:solidFill>
                    <a:srgbClr val="0432FF"/>
                  </a:solidFill>
                </a:uFill>
                <a:latin typeface="Palatino Linotype" panose="02040502050505030304"/>
                <a:cs typeface="Palatino Linotype" panose="02040502050505030304"/>
              </a:rPr>
              <a:t>y</a:t>
            </a:r>
            <a:r>
              <a:rPr sz="2000" u="sng" dirty="0">
                <a:solidFill>
                  <a:srgbClr val="0432FF"/>
                </a:solidFill>
                <a:uFill>
                  <a:solidFill>
                    <a:srgbClr val="0432FF"/>
                  </a:solidFill>
                </a:uFill>
                <a:latin typeface="Palatino Linotype" panose="02040502050505030304"/>
                <a:cs typeface="Palatino Linotype" panose="02040502050505030304"/>
              </a:rPr>
              <a:t>:</a:t>
            </a:r>
            <a:r>
              <a:rPr sz="2000" u="sng" spc="-5" dirty="0">
                <a:solidFill>
                  <a:srgbClr val="0432FF"/>
                </a:solidFill>
                <a:uFill>
                  <a:solidFill>
                    <a:srgbClr val="0432FF"/>
                  </a:solidFill>
                </a:uFill>
                <a:latin typeface="Palatino Linotype" panose="02040502050505030304"/>
                <a:cs typeface="Palatino Linotype" panose="02040502050505030304"/>
              </a:rPr>
              <a:t> </a:t>
            </a:r>
            <a:r>
              <a:rPr sz="2000" u="sng" dirty="0">
                <a:solidFill>
                  <a:srgbClr val="0432FF"/>
                </a:solidFill>
                <a:uFill>
                  <a:solidFill>
                    <a:srgbClr val="0432FF"/>
                  </a:solidFill>
                </a:uFill>
                <a:latin typeface="Palatino Linotype" panose="02040502050505030304"/>
                <a:cs typeface="Palatino Linotype" panose="02040502050505030304"/>
              </a:rPr>
              <a:t>7; </a:t>
            </a:r>
            <a:r>
              <a:rPr sz="2000" i="1" u="sng" spc="-5" dirty="0">
                <a:solidFill>
                  <a:srgbClr val="0432FF"/>
                </a:solidFill>
                <a:uFill>
                  <a:solidFill>
                    <a:srgbClr val="0432FF"/>
                  </a:solidFill>
                </a:uFill>
                <a:latin typeface="Palatino Linotype" panose="02040502050505030304"/>
                <a:cs typeface="Palatino Linotype" panose="02040502050505030304"/>
              </a:rPr>
              <a:t>z</a:t>
            </a:r>
            <a:r>
              <a:rPr sz="2000" u="sng" spc="-5" dirty="0">
                <a:solidFill>
                  <a:srgbClr val="0432FF"/>
                </a:solidFill>
                <a:uFill>
                  <a:solidFill>
                    <a:srgbClr val="0432FF"/>
                  </a:solidFill>
                </a:uFill>
                <a:latin typeface="Palatino Linotype" panose="02040502050505030304"/>
                <a:cs typeface="Palatino Linotype" panose="02040502050505030304"/>
              </a:rPr>
              <a:t>: </a:t>
            </a:r>
            <a:r>
              <a:rPr sz="2000" u="sng" dirty="0">
                <a:solidFill>
                  <a:srgbClr val="0432FF"/>
                </a:solidFill>
                <a:uFill>
                  <a:solidFill>
                    <a:srgbClr val="0432FF"/>
                  </a:solidFill>
                </a:uFill>
                <a:latin typeface="Palatino Linotype" panose="02040502050505030304"/>
                <a:cs typeface="Palatino Linotype" panose="02040502050505030304"/>
              </a:rPr>
              <a:t>3</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OUT[</a:t>
            </a:r>
            <a:r>
              <a:rPr sz="2000" i="1" spc="-5" dirty="0">
                <a:latin typeface="Palatino Linotype" panose="02040502050505030304"/>
                <a:cs typeface="Palatino Linotype" panose="02040502050505030304"/>
              </a:rPr>
              <a:t>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5" dirty="0">
                <a:solidFill>
                  <a:srgbClr val="0432FF"/>
                </a:solidFill>
                <a:latin typeface="Palatino Linotype" panose="02040502050505030304"/>
                <a:cs typeface="Palatino Linotype" panose="02040502050505030304"/>
              </a:rPr>
              <a:t> </a:t>
            </a:r>
            <a:r>
              <a:rPr sz="2000" i="1" u="sng" dirty="0">
                <a:solidFill>
                  <a:srgbClr val="0432FF"/>
                </a:solidFill>
                <a:uFill>
                  <a:solidFill>
                    <a:srgbClr val="0432FF"/>
                  </a:solidFill>
                </a:uFill>
                <a:latin typeface="Palatino Linotype" panose="02040502050505030304"/>
                <a:cs typeface="Palatino Linotype" panose="02040502050505030304"/>
              </a:rPr>
              <a:t>x</a:t>
            </a:r>
            <a:r>
              <a:rPr sz="2000" u="sng" dirty="0">
                <a:solidFill>
                  <a:srgbClr val="0432FF"/>
                </a:solidFill>
                <a:uFill>
                  <a:solidFill>
                    <a:srgbClr val="0432FF"/>
                  </a:solidFill>
                </a:uFill>
                <a:latin typeface="Palatino Linotype" panose="02040502050505030304"/>
                <a:cs typeface="Palatino Linotype" panose="02040502050505030304"/>
              </a:rPr>
              <a:t>:</a:t>
            </a:r>
            <a:r>
              <a:rPr sz="2000" u="sng" spc="-5" dirty="0">
                <a:solidFill>
                  <a:srgbClr val="0432FF"/>
                </a:solidFill>
                <a:uFill>
                  <a:solidFill>
                    <a:srgbClr val="0432FF"/>
                  </a:solidFill>
                </a:uFill>
                <a:latin typeface="Palatino Linotype" panose="02040502050505030304"/>
                <a:cs typeface="Palatino Linotype" panose="02040502050505030304"/>
              </a:rPr>
              <a:t> </a:t>
            </a:r>
            <a:r>
              <a:rPr sz="2000" u="sng" dirty="0">
                <a:solidFill>
                  <a:srgbClr val="0432FF"/>
                </a:solidFill>
                <a:uFill>
                  <a:solidFill>
                    <a:srgbClr val="0432FF"/>
                  </a:solidFill>
                </a:uFill>
                <a:latin typeface="Palatino Linotype" panose="02040502050505030304"/>
                <a:cs typeface="Palatino Linotype" panose="02040502050505030304"/>
              </a:rPr>
              <a:t>3; </a:t>
            </a:r>
            <a:r>
              <a:rPr sz="2000" i="1" u="sng" dirty="0">
                <a:solidFill>
                  <a:srgbClr val="0432FF"/>
                </a:solidFill>
                <a:uFill>
                  <a:solidFill>
                    <a:srgbClr val="0432FF"/>
                  </a:solidFill>
                </a:uFill>
                <a:latin typeface="Palatino Linotype" panose="02040502050505030304"/>
                <a:cs typeface="Palatino Linotype" panose="02040502050505030304"/>
              </a:rPr>
              <a:t>y</a:t>
            </a:r>
            <a:r>
              <a:rPr sz="2000" u="sng" dirty="0">
                <a:solidFill>
                  <a:srgbClr val="0432FF"/>
                </a:solidFill>
                <a:uFill>
                  <a:solidFill>
                    <a:srgbClr val="0432FF"/>
                  </a:solidFill>
                </a:uFill>
                <a:latin typeface="Palatino Linotype" panose="02040502050505030304"/>
                <a:cs typeface="Palatino Linotype" panose="02040502050505030304"/>
              </a:rPr>
              <a:t>:</a:t>
            </a:r>
            <a:r>
              <a:rPr sz="2000" u="sng" spc="-5" dirty="0">
                <a:solidFill>
                  <a:srgbClr val="0432FF"/>
                </a:solidFill>
                <a:uFill>
                  <a:solidFill>
                    <a:srgbClr val="0432FF"/>
                  </a:solidFill>
                </a:uFill>
                <a:latin typeface="Palatino Linotype" panose="02040502050505030304"/>
                <a:cs typeface="Palatino Linotype" panose="02040502050505030304"/>
              </a:rPr>
              <a:t> </a:t>
            </a:r>
            <a:r>
              <a:rPr sz="2000" u="sng" dirty="0">
                <a:solidFill>
                  <a:srgbClr val="0432FF"/>
                </a:solidFill>
                <a:uFill>
                  <a:solidFill>
                    <a:srgbClr val="0432FF"/>
                  </a:solidFill>
                </a:uFill>
                <a:latin typeface="Palatino Linotype" panose="02040502050505030304"/>
                <a:cs typeface="Palatino Linotype" panose="02040502050505030304"/>
              </a:rPr>
              <a:t>7; </a:t>
            </a:r>
            <a:r>
              <a:rPr sz="2000" i="1" u="sng" spc="-5" dirty="0">
                <a:solidFill>
                  <a:srgbClr val="0432FF"/>
                </a:solidFill>
                <a:uFill>
                  <a:solidFill>
                    <a:srgbClr val="0432FF"/>
                  </a:solidFill>
                </a:uFill>
                <a:latin typeface="Palatino Linotype" panose="02040502050505030304"/>
                <a:cs typeface="Palatino Linotype" panose="02040502050505030304"/>
              </a:rPr>
              <a:t>z</a:t>
            </a:r>
            <a:r>
              <a:rPr sz="2000" u="sng" spc="-5" dirty="0">
                <a:solidFill>
                  <a:srgbClr val="0432FF"/>
                </a:solidFill>
                <a:uFill>
                  <a:solidFill>
                    <a:srgbClr val="0432FF"/>
                  </a:solidFill>
                </a:uFill>
                <a:latin typeface="Palatino Linotype" panose="02040502050505030304"/>
                <a:cs typeface="Palatino Linotype" panose="02040502050505030304"/>
              </a:rPr>
              <a:t>: </a:t>
            </a:r>
            <a:r>
              <a:rPr sz="2000" u="sng" dirty="0">
                <a:solidFill>
                  <a:srgbClr val="0432FF"/>
                </a:solidFill>
                <a:uFill>
                  <a:solidFill>
                    <a:srgbClr val="0432FF"/>
                  </a:solidFill>
                </a:uFill>
                <a:latin typeface="Palatino Linotype" panose="02040502050505030304"/>
                <a:cs typeface="Palatino Linotype" panose="02040502050505030304"/>
              </a:rPr>
              <a:t>3</a:t>
            </a:r>
            <a:endParaRPr sz="2000">
              <a:latin typeface="Palatino Linotype" panose="02040502050505030304"/>
              <a:cs typeface="Palatino Linotype" panose="02040502050505030304"/>
            </a:endParaRPr>
          </a:p>
          <a:p>
            <a:pPr marL="698500" lvl="1" indent="-228600">
              <a:lnSpc>
                <a:spcPct val="100000"/>
              </a:lnSpc>
              <a:spcBef>
                <a:spcPts val="1705"/>
              </a:spcBef>
              <a:buFont typeface="Wingdings" panose="05000000000000000000"/>
              <a:buChar char=""/>
              <a:tabLst>
                <a:tab pos="698500" algn="l"/>
              </a:tabLst>
            </a:pPr>
            <a:r>
              <a:rPr sz="2000" spc="-5" dirty="0">
                <a:latin typeface="Palatino Linotype" panose="02040502050505030304"/>
                <a:cs typeface="Palatino Linotype" panose="02040502050505030304"/>
              </a:rPr>
              <a:t>What</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if</a:t>
            </a:r>
            <a:r>
              <a:rPr sz="2000" spc="-5" dirty="0">
                <a:latin typeface="Palatino Linotype" panose="02040502050505030304"/>
                <a:cs typeface="Palatino Linotype" panose="02040502050505030304"/>
              </a:rPr>
              <a:t> the statement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x </a:t>
            </a:r>
            <a:r>
              <a:rPr sz="2000" dirty="0">
                <a:solidFill>
                  <a:srgbClr val="0432FF"/>
                </a:solidFill>
                <a:latin typeface="Palatino Linotype" panose="02040502050505030304"/>
                <a:cs typeface="Palatino Linotype" panose="02040502050505030304"/>
              </a:rPr>
              <a:t>=</a:t>
            </a:r>
            <a:r>
              <a:rPr sz="2000" spc="-5" dirty="0">
                <a:solidFill>
                  <a:srgbClr val="0432FF"/>
                </a:solidFill>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y </a:t>
            </a:r>
            <a:r>
              <a:rPr sz="2000" dirty="0">
                <a:solidFill>
                  <a:srgbClr val="0432FF"/>
                </a:solidFill>
                <a:latin typeface="Palatino Linotype" panose="02040502050505030304"/>
                <a:cs typeface="Palatino Linotype" panose="02040502050505030304"/>
              </a:rPr>
              <a:t>+</a:t>
            </a:r>
            <a:r>
              <a:rPr sz="2000" spc="-5" dirty="0">
                <a:solidFill>
                  <a:srgbClr val="0432FF"/>
                </a:solidFill>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z</a:t>
            </a:r>
            <a:r>
              <a:rPr sz="2000" i="1" spc="-5"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a:t>
            </a:r>
            <a:r>
              <a:rPr sz="2000" spc="-10"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x </a:t>
            </a:r>
            <a:r>
              <a:rPr sz="2000" dirty="0">
                <a:solidFill>
                  <a:srgbClr val="0432FF"/>
                </a:solidFill>
                <a:latin typeface="Palatino Linotype" panose="02040502050505030304"/>
                <a:cs typeface="Palatino Linotype" panose="02040502050505030304"/>
              </a:rPr>
              <a:t>=</a:t>
            </a:r>
            <a:r>
              <a:rPr sz="2000" spc="-5" dirty="0">
                <a:solidFill>
                  <a:srgbClr val="0432FF"/>
                </a:solidFill>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x </a:t>
            </a:r>
            <a:r>
              <a:rPr sz="2000" dirty="0">
                <a:solidFill>
                  <a:srgbClr val="0432FF"/>
                </a:solidFill>
                <a:latin typeface="Palatino Linotype" panose="02040502050505030304"/>
                <a:cs typeface="Palatino Linotype" panose="02040502050505030304"/>
              </a:rPr>
              <a:t>+</a:t>
            </a:r>
            <a:r>
              <a:rPr sz="2000" spc="-5" dirty="0">
                <a:solidFill>
                  <a:srgbClr val="0432FF"/>
                </a:solidFill>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y</a:t>
            </a:r>
            <a:r>
              <a:rPr sz="2000" dirty="0">
                <a:latin typeface="Palatino Linotype" panose="02040502050505030304"/>
                <a:cs typeface="Palatino Linotype" panose="02040502050505030304"/>
              </a:rPr>
              <a:t>?</a:t>
            </a:r>
            <a:endParaRPr sz="2000">
              <a:latin typeface="Palatino Linotype" panose="02040502050505030304"/>
              <a:cs typeface="Palatino Linotype" panose="0204050205050503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31</a:t>
            </a:fld>
            <a:endParaRPr dirty="0"/>
          </a:p>
        </p:txBody>
      </p:sp>
      <p:sp>
        <p:nvSpPr>
          <p:cNvPr id="2" name="object 2"/>
          <p:cNvSpPr txBox="1">
            <a:spLocks noGrp="1"/>
          </p:cNvSpPr>
          <p:nvPr>
            <p:ph type="title"/>
          </p:nvPr>
        </p:nvSpPr>
        <p:spPr>
          <a:xfrm>
            <a:off x="707390" y="524763"/>
            <a:ext cx="8055610" cy="628377"/>
          </a:xfrm>
          <a:prstGeom prst="rect">
            <a:avLst/>
          </a:prstGeom>
        </p:spPr>
        <p:txBody>
          <a:bodyPr vert="horz" wrap="square" lIns="0" tIns="12700" rIns="0" bIns="0" rtlCol="0">
            <a:spAutoFit/>
          </a:bodyPr>
          <a:lstStyle/>
          <a:p>
            <a:pPr marL="12700">
              <a:lnSpc>
                <a:spcPct val="100000"/>
              </a:lnSpc>
              <a:spcBef>
                <a:spcPts val="100"/>
              </a:spcBef>
            </a:pPr>
            <a:r>
              <a:rPr sz="4000" spc="-40" dirty="0"/>
              <a:t>Transfer</a:t>
            </a:r>
            <a:r>
              <a:rPr sz="4000" spc="-35" dirty="0"/>
              <a:t> </a:t>
            </a:r>
            <a:r>
              <a:rPr sz="4000" spc="-5" dirty="0"/>
              <a:t>Functions</a:t>
            </a:r>
            <a:r>
              <a:rPr sz="4000" spc="-40" dirty="0"/>
              <a:t> </a:t>
            </a:r>
            <a:r>
              <a:rPr sz="4000" spc="1425" dirty="0"/>
              <a:t>(</a:t>
            </a:r>
            <a:r>
              <a:rPr lang="zh-CN" altLang="en-US" sz="3900" spc="1425" dirty="0">
                <a:latin typeface="Arial" panose="020B0604020202020204"/>
                <a:cs typeface="Arial" panose="020B0604020202020204"/>
              </a:rPr>
              <a:t>传递函数</a:t>
            </a:r>
            <a:r>
              <a:rPr sz="4000" spc="1425" dirty="0"/>
              <a:t>)</a:t>
            </a:r>
            <a:endParaRPr sz="4000" dirty="0">
              <a:latin typeface="Arial" panose="020B0604020202020204"/>
              <a:cs typeface="Arial" panose="020B0604020202020204"/>
            </a:endParaRPr>
          </a:p>
        </p:txBody>
      </p:sp>
      <p:sp>
        <p:nvSpPr>
          <p:cNvPr id="3" name="object 3"/>
          <p:cNvSpPr txBox="1"/>
          <p:nvPr/>
        </p:nvSpPr>
        <p:spPr>
          <a:xfrm>
            <a:off x="694690" y="1610867"/>
            <a:ext cx="7644130" cy="4291965"/>
          </a:xfrm>
          <a:prstGeom prst="rect">
            <a:avLst/>
          </a:prstGeom>
        </p:spPr>
        <p:txBody>
          <a:bodyPr vert="horz" wrap="square" lIns="0" tIns="12700" rIns="0" bIns="0" rtlCol="0">
            <a:spAutoFit/>
          </a:bodyPr>
          <a:lstStyle/>
          <a:p>
            <a:pPr marL="255270" marR="340360" indent="-230505">
              <a:lnSpc>
                <a:spcPct val="116000"/>
              </a:lnSpc>
              <a:spcBef>
                <a:spcPts val="100"/>
              </a:spcBef>
              <a:buFont typeface="Arial MT"/>
              <a:buChar char="•"/>
              <a:tabLst>
                <a:tab pos="255270" algn="l"/>
                <a:tab pos="255270" algn="l"/>
              </a:tabLst>
            </a:pPr>
            <a:r>
              <a:rPr sz="2000" spc="-5" dirty="0">
                <a:latin typeface="Palatino Linotype" panose="02040502050505030304"/>
                <a:cs typeface="Palatino Linotype" panose="02040502050505030304"/>
              </a:rPr>
              <a:t>The</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relationship</a:t>
            </a:r>
            <a:r>
              <a:rPr sz="2000" spc="5"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between</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data-flow</a:t>
            </a:r>
            <a:r>
              <a:rPr sz="200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values</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before</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after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each</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 </a:t>
            </a:r>
            <a:r>
              <a:rPr sz="2000" dirty="0">
                <a:latin typeface="Palatino Linotype" panose="02040502050505030304"/>
                <a:cs typeface="Palatino Linotype" panose="02040502050505030304"/>
              </a:rPr>
              <a:t>is </a:t>
            </a:r>
            <a:r>
              <a:rPr sz="2000" spc="-5" dirty="0">
                <a:latin typeface="Palatino Linotype" panose="02040502050505030304"/>
                <a:cs typeface="Palatino Linotype" panose="02040502050505030304"/>
              </a:rPr>
              <a:t>known </a:t>
            </a:r>
            <a:r>
              <a:rPr sz="2000" dirty="0">
                <a:latin typeface="Palatino Linotype" panose="02040502050505030304"/>
                <a:cs typeface="Palatino Linotype" panose="02040502050505030304"/>
              </a:rPr>
              <a:t>as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a:t>
            </a:r>
            <a:r>
              <a:rPr sz="2000" i="1" spc="-5" dirty="0">
                <a:solidFill>
                  <a:srgbClr val="FF0000"/>
                </a:solidFill>
                <a:latin typeface="Palatino Linotype" panose="02040502050505030304"/>
                <a:cs typeface="Palatino Linotype" panose="02040502050505030304"/>
              </a:rPr>
              <a:t>transfer function</a:t>
            </a:r>
            <a:endParaRPr sz="2000">
              <a:latin typeface="Palatino Linotype" panose="02040502050505030304"/>
              <a:cs typeface="Palatino Linotype" panose="02040502050505030304"/>
            </a:endParaRPr>
          </a:p>
          <a:p>
            <a:pPr marL="255270" marR="17780" indent="-230505" algn="just">
              <a:lnSpc>
                <a:spcPct val="121000"/>
              </a:lnSpc>
              <a:spcBef>
                <a:spcPts val="1800"/>
              </a:spcBef>
              <a:buFont typeface="Arial MT"/>
              <a:buChar char="•"/>
              <a:tabLst>
                <a:tab pos="255270" algn="l"/>
              </a:tabLst>
            </a:pPr>
            <a:r>
              <a:rPr sz="2000" dirty="0">
                <a:latin typeface="Palatino Linotype" panose="02040502050505030304"/>
                <a:cs typeface="Palatino Linotype" panose="02040502050505030304"/>
              </a:rPr>
              <a:t>In a </a:t>
            </a:r>
            <a:r>
              <a:rPr sz="2000" spc="-10" dirty="0">
                <a:solidFill>
                  <a:srgbClr val="FF0000"/>
                </a:solidFill>
                <a:latin typeface="Palatino Linotype" panose="02040502050505030304"/>
                <a:cs typeface="Palatino Linotype" panose="02040502050505030304"/>
              </a:rPr>
              <a:t>forward-flow </a:t>
            </a:r>
            <a:r>
              <a:rPr sz="2000" spc="-5" dirty="0">
                <a:solidFill>
                  <a:srgbClr val="FF0000"/>
                </a:solidFill>
                <a:latin typeface="Palatino Linotype" panose="02040502050505030304"/>
                <a:cs typeface="Palatino Linotype" panose="02040502050505030304"/>
              </a:rPr>
              <a:t>problem </a:t>
            </a:r>
            <a:r>
              <a:rPr sz="2000" spc="-5" dirty="0">
                <a:latin typeface="Palatino Linotype" panose="02040502050505030304"/>
                <a:cs typeface="Palatino Linotype" panose="02040502050505030304"/>
              </a:rPr>
              <a:t>(information propagate </a:t>
            </a:r>
            <a:r>
              <a:rPr sz="2000" spc="-15" dirty="0">
                <a:latin typeface="Palatino Linotype" panose="02040502050505030304"/>
                <a:cs typeface="Palatino Linotype" panose="02040502050505030304"/>
              </a:rPr>
              <a:t>forward </a:t>
            </a:r>
            <a:r>
              <a:rPr sz="2000" spc="-5" dirty="0">
                <a:latin typeface="Palatino Linotype" panose="02040502050505030304"/>
                <a:cs typeface="Palatino Linotype" panose="02040502050505030304"/>
              </a:rPr>
              <a:t>along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execution paths), the transfer function </a:t>
            </a:r>
            <a:r>
              <a:rPr sz="2000" i="1" spc="-5" dirty="0">
                <a:latin typeface="Palatino Linotype" panose="02040502050505030304"/>
                <a:cs typeface="Palatino Linotype" panose="02040502050505030304"/>
              </a:rPr>
              <a:t>f</a:t>
            </a:r>
            <a:r>
              <a:rPr sz="1950" i="1" spc="-7" baseline="-17000" dirty="0">
                <a:latin typeface="Palatino Linotype" panose="02040502050505030304"/>
                <a:cs typeface="Palatino Linotype" panose="02040502050505030304"/>
              </a:rPr>
              <a:t>s </a:t>
            </a:r>
            <a:r>
              <a:rPr sz="2000" spc="-5" dirty="0">
                <a:latin typeface="Palatino Linotype" panose="02040502050505030304"/>
                <a:cs typeface="Palatino Linotype" panose="02040502050505030304"/>
              </a:rPr>
              <a:t>takes the data-flow </a:t>
            </a:r>
            <a:r>
              <a:rPr sz="2000" spc="-15" dirty="0">
                <a:latin typeface="Palatino Linotype" panose="02040502050505030304"/>
                <a:cs typeface="Palatino Linotype" panose="02040502050505030304"/>
              </a:rPr>
              <a:t>value </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before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 </a:t>
            </a:r>
            <a:r>
              <a:rPr sz="2000" i="1" dirty="0">
                <a:latin typeface="Palatino Linotype" panose="02040502050505030304"/>
                <a:cs typeface="Palatino Linotype" panose="02040502050505030304"/>
              </a:rPr>
              <a:t>s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produces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new data-flow</a:t>
            </a:r>
            <a:r>
              <a:rPr sz="2000" spc="-1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after </a:t>
            </a:r>
            <a:r>
              <a:rPr sz="2000" i="1" dirty="0">
                <a:latin typeface="Palatino Linotype" panose="02040502050505030304"/>
                <a:cs typeface="Palatino Linotype" panose="02040502050505030304"/>
              </a:rPr>
              <a:t>s</a:t>
            </a:r>
            <a:endParaRPr sz="2000">
              <a:latin typeface="Palatino Linotype" panose="02040502050505030304"/>
              <a:cs typeface="Palatino Linotype" panose="02040502050505030304"/>
            </a:endParaRPr>
          </a:p>
          <a:p>
            <a:pPr marL="711200" lvl="1" indent="-228600">
              <a:lnSpc>
                <a:spcPct val="100000"/>
              </a:lnSpc>
              <a:spcBef>
                <a:spcPts val="1600"/>
              </a:spcBef>
              <a:buClr>
                <a:srgbClr val="000000"/>
              </a:buClr>
              <a:buFont typeface="Wingdings" panose="05000000000000000000"/>
              <a:buChar char=""/>
              <a:tabLst>
                <a:tab pos="710565" algn="l"/>
                <a:tab pos="711200" algn="l"/>
              </a:tabLst>
            </a:pPr>
            <a:r>
              <a:rPr sz="1600" spc="-5" dirty="0">
                <a:solidFill>
                  <a:srgbClr val="0432FF"/>
                </a:solidFill>
                <a:latin typeface="Palatino Linotype" panose="02040502050505030304"/>
                <a:cs typeface="Palatino Linotype" panose="02040502050505030304"/>
              </a:rPr>
              <a:t>OUT[</a:t>
            </a:r>
            <a:r>
              <a:rPr sz="1600" i="1" spc="-5"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a:t>
            </a:r>
            <a:r>
              <a:rPr sz="1600" spc="-1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a:t>
            </a:r>
            <a:r>
              <a:rPr sz="1600" spc="-15" dirty="0">
                <a:solidFill>
                  <a:srgbClr val="0432FF"/>
                </a:solidFill>
                <a:latin typeface="Palatino Linotype" panose="02040502050505030304"/>
                <a:cs typeface="Palatino Linotype" panose="02040502050505030304"/>
              </a:rPr>
              <a:t> </a:t>
            </a:r>
            <a:r>
              <a:rPr sz="1600" i="1" spc="-5" dirty="0">
                <a:solidFill>
                  <a:srgbClr val="0432FF"/>
                </a:solidFill>
                <a:latin typeface="Palatino Linotype" panose="02040502050505030304"/>
                <a:cs typeface="Palatino Linotype" panose="02040502050505030304"/>
              </a:rPr>
              <a:t>f</a:t>
            </a:r>
            <a:r>
              <a:rPr sz="1650" i="1" spc="-7" baseline="-15000"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(IN[</a:t>
            </a:r>
            <a:r>
              <a:rPr sz="1600" i="1" spc="-5"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a:p>
            <a:pPr marL="255270" marR="29210" indent="-230505" algn="just">
              <a:lnSpc>
                <a:spcPct val="119000"/>
              </a:lnSpc>
              <a:spcBef>
                <a:spcPts val="1805"/>
              </a:spcBef>
              <a:buFont typeface="Arial MT"/>
              <a:buChar char="•"/>
              <a:tabLst>
                <a:tab pos="255270" algn="l"/>
              </a:tabLst>
            </a:pPr>
            <a:r>
              <a:rPr sz="2000" dirty="0">
                <a:latin typeface="Palatino Linotype" panose="02040502050505030304"/>
                <a:cs typeface="Palatino Linotype" panose="02040502050505030304"/>
              </a:rPr>
              <a:t>In a </a:t>
            </a:r>
            <a:r>
              <a:rPr sz="2000" spc="-10" dirty="0">
                <a:solidFill>
                  <a:srgbClr val="FF0000"/>
                </a:solidFill>
                <a:latin typeface="Palatino Linotype" panose="02040502050505030304"/>
                <a:cs typeface="Palatino Linotype" panose="02040502050505030304"/>
              </a:rPr>
              <a:t>backward-flow </a:t>
            </a:r>
            <a:r>
              <a:rPr sz="2000" spc="-5" dirty="0">
                <a:solidFill>
                  <a:srgbClr val="FF0000"/>
                </a:solidFill>
                <a:latin typeface="Palatino Linotype" panose="02040502050505030304"/>
                <a:cs typeface="Palatino Linotype" panose="02040502050505030304"/>
              </a:rPr>
              <a:t>problem </a:t>
            </a:r>
            <a:r>
              <a:rPr sz="2000" spc="-5" dirty="0">
                <a:latin typeface="Palatino Linotype" panose="02040502050505030304"/>
                <a:cs typeface="Palatino Linotype" panose="02040502050505030304"/>
              </a:rPr>
              <a:t>(information flow </a:t>
            </a:r>
            <a:r>
              <a:rPr sz="2000" spc="-10" dirty="0">
                <a:latin typeface="Palatino Linotype" panose="02040502050505030304"/>
                <a:cs typeface="Palatino Linotype" panose="02040502050505030304"/>
              </a:rPr>
              <a:t>backwards </a:t>
            </a:r>
            <a:r>
              <a:rPr sz="2000" spc="-5" dirty="0">
                <a:latin typeface="Palatino Linotype" panose="02040502050505030304"/>
                <a:cs typeface="Palatino Linotype" panose="02040502050505030304"/>
              </a:rPr>
              <a:t>up the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execution paths), the transfer function </a:t>
            </a:r>
            <a:r>
              <a:rPr sz="2000" i="1" spc="-5" dirty="0">
                <a:latin typeface="Palatino Linotype" panose="02040502050505030304"/>
                <a:cs typeface="Palatino Linotype" panose="02040502050505030304"/>
              </a:rPr>
              <a:t>f</a:t>
            </a:r>
            <a:r>
              <a:rPr sz="1950" i="1" spc="-7" baseline="-17000" dirty="0">
                <a:latin typeface="Palatino Linotype" panose="02040502050505030304"/>
                <a:cs typeface="Palatino Linotype" panose="02040502050505030304"/>
              </a:rPr>
              <a:t>s </a:t>
            </a:r>
            <a:r>
              <a:rPr sz="2000" spc="-5" dirty="0">
                <a:latin typeface="Palatino Linotype" panose="02040502050505030304"/>
                <a:cs typeface="Palatino Linotype" panose="02040502050505030304"/>
              </a:rPr>
              <a:t>takes the data-flow </a:t>
            </a:r>
            <a:r>
              <a:rPr sz="2000" spc="-15" dirty="0">
                <a:latin typeface="Palatino Linotype" panose="02040502050505030304"/>
                <a:cs typeface="Palatino Linotype" panose="02040502050505030304"/>
              </a:rPr>
              <a:t>value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after 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 </a:t>
            </a:r>
            <a:r>
              <a:rPr sz="2000" i="1" dirty="0">
                <a:latin typeface="Palatino Linotype" panose="02040502050505030304"/>
                <a:cs typeface="Palatino Linotype" panose="02040502050505030304"/>
              </a:rPr>
              <a:t>s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produces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new data-flow</a:t>
            </a:r>
            <a:r>
              <a:rPr sz="2000" spc="-1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before</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s</a:t>
            </a:r>
            <a:endParaRPr sz="2000">
              <a:latin typeface="Palatino Linotype" panose="02040502050505030304"/>
              <a:cs typeface="Palatino Linotype" panose="02040502050505030304"/>
            </a:endParaRPr>
          </a:p>
          <a:p>
            <a:pPr marL="711200" lvl="1" indent="-228600">
              <a:lnSpc>
                <a:spcPct val="100000"/>
              </a:lnSpc>
              <a:spcBef>
                <a:spcPts val="1700"/>
              </a:spcBef>
              <a:buClr>
                <a:srgbClr val="000000"/>
              </a:buClr>
              <a:buFont typeface="Wingdings" panose="05000000000000000000"/>
              <a:buChar char=""/>
              <a:tabLst>
                <a:tab pos="710565" algn="l"/>
                <a:tab pos="711200" algn="l"/>
              </a:tabLst>
            </a:pPr>
            <a:r>
              <a:rPr sz="1600" spc="-5" dirty="0">
                <a:solidFill>
                  <a:srgbClr val="0432FF"/>
                </a:solidFill>
                <a:latin typeface="Palatino Linotype" panose="02040502050505030304"/>
                <a:cs typeface="Palatino Linotype" panose="02040502050505030304"/>
              </a:rPr>
              <a:t>IN[</a:t>
            </a:r>
            <a:r>
              <a:rPr sz="1600" i="1" spc="-5"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a:t>
            </a:r>
            <a:r>
              <a:rPr sz="1600" spc="-20"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a:t>
            </a:r>
            <a:r>
              <a:rPr sz="1600" spc="-15" dirty="0">
                <a:solidFill>
                  <a:srgbClr val="0432FF"/>
                </a:solidFill>
                <a:latin typeface="Palatino Linotype" panose="02040502050505030304"/>
                <a:cs typeface="Palatino Linotype" panose="02040502050505030304"/>
              </a:rPr>
              <a:t> </a:t>
            </a:r>
            <a:r>
              <a:rPr sz="1600" i="1" spc="-5" dirty="0">
                <a:solidFill>
                  <a:srgbClr val="0432FF"/>
                </a:solidFill>
                <a:latin typeface="Palatino Linotype" panose="02040502050505030304"/>
                <a:cs typeface="Palatino Linotype" panose="02040502050505030304"/>
              </a:rPr>
              <a:t>f</a:t>
            </a:r>
            <a:r>
              <a:rPr sz="1650" i="1" spc="-7" baseline="-15000"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(OUT[</a:t>
            </a:r>
            <a:r>
              <a:rPr sz="1600" i="1" spc="-5" dirty="0">
                <a:solidFill>
                  <a:srgbClr val="0432FF"/>
                </a:solidFill>
                <a:latin typeface="Palatino Linotype" panose="02040502050505030304"/>
                <a:cs typeface="Palatino Linotype" panose="02040502050505030304"/>
              </a:rPr>
              <a:t>s</a:t>
            </a:r>
            <a:r>
              <a:rPr sz="1600" spc="-5" dirty="0">
                <a:solidFill>
                  <a:srgbClr val="0432FF"/>
                </a:solidFill>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32</a:t>
            </a:fld>
            <a:endParaRPr dirty="0"/>
          </a:p>
        </p:txBody>
      </p:sp>
      <p:sp>
        <p:nvSpPr>
          <p:cNvPr id="2" name="object 2"/>
          <p:cNvSpPr txBox="1">
            <a:spLocks noGrp="1"/>
          </p:cNvSpPr>
          <p:nvPr>
            <p:ph type="title"/>
          </p:nvPr>
        </p:nvSpPr>
        <p:spPr>
          <a:xfrm>
            <a:off x="707390" y="524763"/>
            <a:ext cx="5942330" cy="635000"/>
          </a:xfrm>
          <a:prstGeom prst="rect">
            <a:avLst/>
          </a:prstGeom>
        </p:spPr>
        <p:txBody>
          <a:bodyPr vert="horz" wrap="square" lIns="0" tIns="12700" rIns="0" bIns="0" rtlCol="0">
            <a:spAutoFit/>
          </a:bodyPr>
          <a:lstStyle/>
          <a:p>
            <a:pPr marL="12700">
              <a:lnSpc>
                <a:spcPct val="100000"/>
              </a:lnSpc>
              <a:spcBef>
                <a:spcPts val="100"/>
              </a:spcBef>
            </a:pPr>
            <a:r>
              <a:rPr sz="4000" spc="-5" dirty="0"/>
              <a:t>Control-Flow</a:t>
            </a:r>
            <a:r>
              <a:rPr sz="4000" dirty="0"/>
              <a:t> </a:t>
            </a:r>
            <a:r>
              <a:rPr sz="4000" spc="-5" dirty="0"/>
              <a:t>Constraints</a:t>
            </a:r>
            <a:endParaRPr sz="4000"/>
          </a:p>
        </p:txBody>
      </p:sp>
      <p:sp>
        <p:nvSpPr>
          <p:cNvPr id="3" name="object 3"/>
          <p:cNvSpPr txBox="1"/>
          <p:nvPr/>
        </p:nvSpPr>
        <p:spPr>
          <a:xfrm>
            <a:off x="669290" y="1600708"/>
            <a:ext cx="7692390" cy="3633470"/>
          </a:xfrm>
          <a:prstGeom prst="rect">
            <a:avLst/>
          </a:prstGeom>
        </p:spPr>
        <p:txBody>
          <a:bodyPr vert="horz" wrap="square" lIns="0" tIns="12700" rIns="0" bIns="0" rtlCol="0">
            <a:spAutoFit/>
          </a:bodyPr>
          <a:lstStyle/>
          <a:p>
            <a:pPr marL="508000" marR="371475" indent="-457200">
              <a:lnSpc>
                <a:spcPct val="117000"/>
              </a:lnSpc>
              <a:spcBef>
                <a:spcPts val="100"/>
              </a:spcBef>
              <a:buClr>
                <a:srgbClr val="000000"/>
              </a:buClr>
              <a:buAutoNum type="arabicPeriod"/>
              <a:tabLst>
                <a:tab pos="507365" algn="l"/>
                <a:tab pos="508000" algn="l"/>
              </a:tabLst>
            </a:pPr>
            <a:r>
              <a:rPr sz="2200" spc="-15" dirty="0">
                <a:solidFill>
                  <a:srgbClr val="FF0000"/>
                </a:solidFill>
                <a:latin typeface="Palatino Linotype" panose="02040502050505030304"/>
                <a:cs typeface="Palatino Linotype" panose="02040502050505030304"/>
              </a:rPr>
              <a:t>Within </a:t>
            </a:r>
            <a:r>
              <a:rPr sz="2200" dirty="0">
                <a:solidFill>
                  <a:srgbClr val="FF0000"/>
                </a:solidFill>
                <a:latin typeface="Palatino Linotype" panose="02040502050505030304"/>
                <a:cs typeface="Palatino Linotype" panose="02040502050505030304"/>
              </a:rPr>
              <a:t>a </a:t>
            </a:r>
            <a:r>
              <a:rPr sz="2200" spc="-5" dirty="0">
                <a:solidFill>
                  <a:srgbClr val="FF0000"/>
                </a:solidFill>
                <a:latin typeface="Palatino Linotype" panose="02040502050505030304"/>
                <a:cs typeface="Palatino Linotype" panose="02040502050505030304"/>
              </a:rPr>
              <a:t>basic block</a:t>
            </a:r>
            <a:r>
              <a:rPr sz="220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statements </a:t>
            </a:r>
            <a:r>
              <a:rPr sz="2200" i="1" spc="-10" dirty="0">
                <a:latin typeface="Palatino Linotype" panose="02040502050505030304"/>
                <a:cs typeface="Palatino Linotype" panose="02040502050505030304"/>
              </a:rPr>
              <a:t>s</a:t>
            </a:r>
            <a:r>
              <a:rPr sz="2250" spc="-15" baseline="-19000" dirty="0">
                <a:latin typeface="Palatino Linotype" panose="02040502050505030304"/>
                <a:cs typeface="Palatino Linotype" panose="02040502050505030304"/>
              </a:rPr>
              <a:t>1</a:t>
            </a:r>
            <a:r>
              <a:rPr sz="2200" spc="-10" dirty="0">
                <a:latin typeface="Palatino Linotype" panose="02040502050505030304"/>
                <a:cs typeface="Palatino Linotype" panose="02040502050505030304"/>
              </a:rPr>
              <a:t>,</a:t>
            </a:r>
            <a:r>
              <a:rPr sz="2200" dirty="0">
                <a:latin typeface="Palatino Linotype" panose="02040502050505030304"/>
                <a:cs typeface="Palatino Linotype" panose="02040502050505030304"/>
              </a:rPr>
              <a:t> </a:t>
            </a:r>
            <a:r>
              <a:rPr sz="2200" i="1" spc="-10" dirty="0">
                <a:latin typeface="Palatino Linotype" panose="02040502050505030304"/>
                <a:cs typeface="Palatino Linotype" panose="02040502050505030304"/>
              </a:rPr>
              <a:t>s</a:t>
            </a:r>
            <a:r>
              <a:rPr sz="2250" spc="-15" baseline="-19000" dirty="0">
                <a:latin typeface="Palatino Linotype" panose="02040502050505030304"/>
                <a:cs typeface="Palatino Linotype" panose="02040502050505030304"/>
              </a:rPr>
              <a:t>2</a:t>
            </a:r>
            <a:r>
              <a:rPr sz="2200" spc="-10" dirty="0">
                <a:latin typeface="Palatino Linotype" panose="02040502050505030304"/>
                <a:cs typeface="Palatino Linotype" panose="02040502050505030304"/>
              </a:rPr>
              <a:t>,</a:t>
            </a:r>
            <a:r>
              <a:rPr sz="2200" dirty="0">
                <a:latin typeface="Palatino Linotype" panose="02040502050505030304"/>
                <a:cs typeface="Palatino Linotype" panose="02040502050505030304"/>
              </a:rPr>
              <a:t> …, </a:t>
            </a:r>
            <a:r>
              <a:rPr sz="2200" i="1" spc="-15" dirty="0">
                <a:latin typeface="Palatino Linotype" panose="02040502050505030304"/>
                <a:cs typeface="Palatino Linotype" panose="02040502050505030304"/>
              </a:rPr>
              <a:t>s</a:t>
            </a:r>
            <a:r>
              <a:rPr sz="2250" i="1" spc="-22" baseline="-19000" dirty="0">
                <a:latin typeface="Palatino Linotype" panose="02040502050505030304"/>
                <a:cs typeface="Palatino Linotype" panose="02040502050505030304"/>
              </a:rPr>
              <a:t>n</a:t>
            </a:r>
            <a:r>
              <a:rPr sz="2200" spc="-15" dirty="0">
                <a:latin typeface="Palatino Linotype" panose="02040502050505030304"/>
                <a:cs typeface="Palatino Linotype" panose="02040502050505030304"/>
              </a:rPr>
              <a:t>,</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data-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flow </a:t>
            </a:r>
            <a:r>
              <a:rPr sz="2200" spc="-15" dirty="0">
                <a:latin typeface="Palatino Linotype" panose="02040502050505030304"/>
                <a:cs typeface="Palatino Linotype" panose="02040502050505030304"/>
              </a:rPr>
              <a:t>value</a:t>
            </a:r>
            <a:r>
              <a:rPr sz="2200" spc="-5" dirty="0">
                <a:latin typeface="Palatino Linotype" panose="02040502050505030304"/>
                <a:cs typeface="Palatino Linotype" panose="02040502050505030304"/>
              </a:rPr>
              <a:t> out of </a:t>
            </a:r>
            <a:r>
              <a:rPr sz="2200" i="1" spc="-5" dirty="0">
                <a:latin typeface="Palatino Linotype" panose="02040502050505030304"/>
                <a:cs typeface="Palatino Linotype" panose="02040502050505030304"/>
              </a:rPr>
              <a:t>s</a:t>
            </a:r>
            <a:r>
              <a:rPr sz="2250" i="1" spc="-7" baseline="-19000" dirty="0">
                <a:latin typeface="Palatino Linotype" panose="02040502050505030304"/>
                <a:cs typeface="Palatino Linotype" panose="02040502050505030304"/>
              </a:rPr>
              <a:t>i</a:t>
            </a:r>
            <a:r>
              <a:rPr sz="2250" i="1" spc="254" baseline="-190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same</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as </a:t>
            </a:r>
            <a:r>
              <a:rPr sz="2200" spc="-5" dirty="0">
                <a:latin typeface="Palatino Linotype" panose="02040502050505030304"/>
                <a:cs typeface="Palatino Linotype" panose="02040502050505030304"/>
              </a:rPr>
              <a:t>that into</a:t>
            </a:r>
            <a:r>
              <a:rPr sz="2200" spc="-10" dirty="0">
                <a:latin typeface="Palatino Linotype" panose="02040502050505030304"/>
                <a:cs typeface="Palatino Linotype" panose="02040502050505030304"/>
              </a:rPr>
              <a:t> </a:t>
            </a:r>
            <a:r>
              <a:rPr sz="2200" i="1" spc="-15" dirty="0">
                <a:latin typeface="Palatino Linotype" panose="02040502050505030304"/>
                <a:cs typeface="Palatino Linotype" panose="02040502050505030304"/>
              </a:rPr>
              <a:t>s</a:t>
            </a:r>
            <a:r>
              <a:rPr sz="2250" i="1" spc="-22" baseline="-19000" dirty="0">
                <a:latin typeface="Palatino Linotype" panose="02040502050505030304"/>
                <a:cs typeface="Palatino Linotype" panose="02040502050505030304"/>
              </a:rPr>
              <a:t>i</a:t>
            </a:r>
            <a:r>
              <a:rPr sz="2250" spc="-22" baseline="-19000" dirty="0">
                <a:latin typeface="Palatino Linotype" panose="02040502050505030304"/>
                <a:cs typeface="Palatino Linotype" panose="02040502050505030304"/>
              </a:rPr>
              <a:t>+1</a:t>
            </a:r>
            <a:endParaRPr sz="2250" baseline="-19000">
              <a:latin typeface="Palatino Linotype" panose="02040502050505030304"/>
              <a:cs typeface="Palatino Linotype" panose="02040502050505030304"/>
            </a:endParaRPr>
          </a:p>
          <a:p>
            <a:pPr marL="736600" lvl="1" indent="-228600">
              <a:lnSpc>
                <a:spcPct val="100000"/>
              </a:lnSpc>
              <a:spcBef>
                <a:spcPts val="1765"/>
              </a:spcBef>
              <a:buClr>
                <a:srgbClr val="000000"/>
              </a:buClr>
              <a:buFont typeface="Wingdings" panose="05000000000000000000"/>
              <a:buChar char=""/>
              <a:tabLst>
                <a:tab pos="736600" algn="l"/>
              </a:tabLst>
            </a:pPr>
            <a:r>
              <a:rPr sz="1800" dirty="0">
                <a:solidFill>
                  <a:srgbClr val="0432FF"/>
                </a:solidFill>
                <a:latin typeface="Palatino Linotype" panose="02040502050505030304"/>
                <a:cs typeface="Palatino Linotype" panose="02040502050505030304"/>
              </a:rPr>
              <a:t>IN[</a:t>
            </a:r>
            <a:r>
              <a:rPr sz="1800" i="1" dirty="0">
                <a:solidFill>
                  <a:srgbClr val="0432FF"/>
                </a:solidFill>
                <a:latin typeface="Palatino Linotype" panose="02040502050505030304"/>
                <a:cs typeface="Palatino Linotype" panose="02040502050505030304"/>
              </a:rPr>
              <a:t>s</a:t>
            </a:r>
            <a:r>
              <a:rPr sz="1800" i="1" baseline="-14000" dirty="0">
                <a:solidFill>
                  <a:srgbClr val="0432FF"/>
                </a:solidFill>
                <a:latin typeface="Palatino Linotype" panose="02040502050505030304"/>
                <a:cs typeface="Palatino Linotype" panose="02040502050505030304"/>
              </a:rPr>
              <a:t>i</a:t>
            </a:r>
            <a:r>
              <a:rPr sz="1800" baseline="-14000" dirty="0">
                <a:solidFill>
                  <a:srgbClr val="0432FF"/>
                </a:solidFill>
                <a:latin typeface="Palatino Linotype" panose="02040502050505030304"/>
                <a:cs typeface="Palatino Linotype" panose="02040502050505030304"/>
              </a:rPr>
              <a:t>+1</a:t>
            </a:r>
            <a:r>
              <a:rPr sz="1800" dirty="0">
                <a:solidFill>
                  <a:srgbClr val="0432FF"/>
                </a:solidFill>
                <a:latin typeface="Palatino Linotype" panose="02040502050505030304"/>
                <a:cs typeface="Palatino Linotype" panose="02040502050505030304"/>
              </a:rPr>
              <a:t>]</a:t>
            </a:r>
            <a:r>
              <a:rPr sz="1800" spc="-10"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t>
            </a:r>
            <a:r>
              <a:rPr sz="1800" spc="-5" dirty="0">
                <a:solidFill>
                  <a:srgbClr val="0432FF"/>
                </a:solidFill>
                <a:latin typeface="Palatino Linotype" panose="02040502050505030304"/>
                <a:cs typeface="Palatino Linotype" panose="02040502050505030304"/>
              </a:rPr>
              <a:t> OUT[</a:t>
            </a:r>
            <a:r>
              <a:rPr sz="1800" i="1" spc="-5" dirty="0">
                <a:solidFill>
                  <a:srgbClr val="0432FF"/>
                </a:solidFill>
                <a:latin typeface="Palatino Linotype" panose="02040502050505030304"/>
                <a:cs typeface="Palatino Linotype" panose="02040502050505030304"/>
              </a:rPr>
              <a:t>s</a:t>
            </a:r>
            <a:r>
              <a:rPr sz="1800" i="1" spc="-7" baseline="-14000" dirty="0">
                <a:solidFill>
                  <a:srgbClr val="0432FF"/>
                </a:solidFill>
                <a:latin typeface="Palatino Linotype" panose="02040502050505030304"/>
                <a:cs typeface="Palatino Linotype" panose="02040502050505030304"/>
              </a:rPr>
              <a:t>i</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for</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all</a:t>
            </a:r>
            <a:r>
              <a:rPr sz="1800" spc="-10" dirty="0">
                <a:solidFill>
                  <a:srgbClr val="0432FF"/>
                </a:solidFill>
                <a:latin typeface="Palatino Linotype" panose="02040502050505030304"/>
                <a:cs typeface="Palatino Linotype" panose="02040502050505030304"/>
              </a:rPr>
              <a:t> </a:t>
            </a:r>
            <a:r>
              <a:rPr sz="1800" i="1" dirty="0">
                <a:solidFill>
                  <a:srgbClr val="0432FF"/>
                </a:solidFill>
                <a:latin typeface="Palatino Linotype" panose="02040502050505030304"/>
                <a:cs typeface="Palatino Linotype" panose="02040502050505030304"/>
              </a:rPr>
              <a:t>i</a:t>
            </a:r>
            <a:r>
              <a:rPr sz="1800" i="1" spc="-10"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1,</a:t>
            </a:r>
            <a:r>
              <a:rPr sz="1800" spc="-5"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2,</a:t>
            </a:r>
            <a:r>
              <a:rPr sz="1800" spc="-10"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a:t>
            </a:r>
            <a:r>
              <a:rPr sz="1800" spc="-5" dirty="0">
                <a:solidFill>
                  <a:srgbClr val="0432FF"/>
                </a:solidFill>
                <a:latin typeface="Palatino Linotype" panose="02040502050505030304"/>
                <a:cs typeface="Palatino Linotype" panose="02040502050505030304"/>
              </a:rPr>
              <a:t> </a:t>
            </a:r>
            <a:r>
              <a:rPr sz="1800" i="1" spc="-5" dirty="0">
                <a:solidFill>
                  <a:srgbClr val="0432FF"/>
                </a:solidFill>
                <a:latin typeface="Palatino Linotype" panose="02040502050505030304"/>
                <a:cs typeface="Palatino Linotype" panose="02040502050505030304"/>
              </a:rPr>
              <a:t>n</a:t>
            </a:r>
            <a:r>
              <a:rPr sz="1800" spc="-5" dirty="0">
                <a:solidFill>
                  <a:srgbClr val="0432FF"/>
                </a:solidFill>
                <a:latin typeface="Palatino Linotype" panose="02040502050505030304"/>
                <a:cs typeface="Palatino Linotype" panose="02040502050505030304"/>
              </a:rPr>
              <a:t>-1</a:t>
            </a:r>
            <a:endParaRPr sz="1800">
              <a:latin typeface="Palatino Linotype" panose="02040502050505030304"/>
              <a:cs typeface="Palatino Linotype" panose="02040502050505030304"/>
            </a:endParaRPr>
          </a:p>
          <a:p>
            <a:pPr lvl="1">
              <a:lnSpc>
                <a:spcPct val="100000"/>
              </a:lnSpc>
              <a:spcBef>
                <a:spcPts val="55"/>
              </a:spcBef>
              <a:buFont typeface="Wingdings" panose="05000000000000000000"/>
              <a:buChar char=""/>
            </a:pPr>
            <a:endParaRPr sz="2100">
              <a:latin typeface="Palatino Linotype" panose="02040502050505030304"/>
              <a:cs typeface="Palatino Linotype" panose="02040502050505030304"/>
            </a:endParaRPr>
          </a:p>
          <a:p>
            <a:pPr marL="508000" marR="17780" indent="-457200">
              <a:lnSpc>
                <a:spcPct val="121000"/>
              </a:lnSpc>
              <a:buClr>
                <a:srgbClr val="000000"/>
              </a:buClr>
              <a:buAutoNum type="arabicPeriod"/>
              <a:tabLst>
                <a:tab pos="507365" algn="l"/>
                <a:tab pos="508000" algn="l"/>
              </a:tabLst>
            </a:pPr>
            <a:r>
              <a:rPr sz="2200" spc="-5" dirty="0">
                <a:solidFill>
                  <a:srgbClr val="FF0000"/>
                </a:solidFill>
                <a:latin typeface="Palatino Linotype" panose="02040502050505030304"/>
                <a:cs typeface="Palatino Linotype" panose="02040502050505030304"/>
              </a:rPr>
              <a:t>Control-flow</a:t>
            </a:r>
            <a:r>
              <a:rPr sz="220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edges</a:t>
            </a:r>
            <a:r>
              <a:rPr sz="2200" spc="10" dirty="0">
                <a:solidFill>
                  <a:srgbClr val="FF0000"/>
                </a:solidFill>
                <a:latin typeface="Palatino Linotype" panose="02040502050505030304"/>
                <a:cs typeface="Palatino Linotype" panose="02040502050505030304"/>
              </a:rPr>
              <a:t> </a:t>
            </a:r>
            <a:r>
              <a:rPr sz="2200" spc="-10" dirty="0">
                <a:solidFill>
                  <a:srgbClr val="FF0000"/>
                </a:solidFill>
                <a:latin typeface="Palatino Linotype" panose="02040502050505030304"/>
                <a:cs typeface="Palatino Linotype" panose="02040502050505030304"/>
              </a:rPr>
              <a:t>between</a:t>
            </a:r>
            <a:r>
              <a:rPr sz="2200" spc="-5" dirty="0">
                <a:solidFill>
                  <a:srgbClr val="FF0000"/>
                </a:solidFill>
                <a:latin typeface="Palatino Linotype" panose="02040502050505030304"/>
                <a:cs typeface="Palatino Linotype" panose="02040502050505030304"/>
              </a:rPr>
              <a:t> basic blocks</a:t>
            </a:r>
            <a:r>
              <a:rPr sz="2200" spc="1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may</a:t>
            </a:r>
            <a:r>
              <a:rPr sz="2200" spc="5"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create more </a:t>
            </a:r>
            <a:r>
              <a:rPr sz="2200" spc="-535"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complex constraints</a:t>
            </a:r>
            <a:endParaRPr sz="2200">
              <a:latin typeface="Palatino Linotype" panose="02040502050505030304"/>
              <a:cs typeface="Palatino Linotype" panose="02040502050505030304"/>
            </a:endParaRPr>
          </a:p>
          <a:p>
            <a:pPr marL="736600" marR="33655" lvl="1" indent="-228600">
              <a:lnSpc>
                <a:spcPct val="120000"/>
              </a:lnSpc>
              <a:spcBef>
                <a:spcPts val="1240"/>
              </a:spcBef>
              <a:buFont typeface="Wingdings" panose="05000000000000000000"/>
              <a:buChar char=""/>
              <a:tabLst>
                <a:tab pos="736600" algn="l"/>
              </a:tabLst>
            </a:pPr>
            <a:r>
              <a:rPr sz="1800" spc="-5" dirty="0">
                <a:latin typeface="Palatino Linotype" panose="02040502050505030304"/>
                <a:cs typeface="Palatino Linotype" panose="02040502050505030304"/>
              </a:rPr>
              <a:t>For example, </a:t>
            </a:r>
            <a:r>
              <a:rPr sz="1800" dirty="0">
                <a:latin typeface="Palatino Linotype" panose="02040502050505030304"/>
                <a:cs typeface="Palatino Linotype" panose="02040502050505030304"/>
              </a:rPr>
              <a:t>in reaching definitions </a:t>
            </a:r>
            <a:r>
              <a:rPr sz="1800" spc="-5" dirty="0">
                <a:latin typeface="Palatino Linotype" panose="02040502050505030304"/>
                <a:cs typeface="Palatino Linotype" panose="02040502050505030304"/>
              </a:rPr>
              <a:t>analysis,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set </a:t>
            </a:r>
            <a:r>
              <a:rPr sz="1800" dirty="0">
                <a:latin typeface="Palatino Linotype" panose="02040502050505030304"/>
                <a:cs typeface="Palatino Linotype" panose="02040502050505030304"/>
              </a:rPr>
              <a:t>of definitions </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reaching the leader </a:t>
            </a:r>
            <a:r>
              <a:rPr sz="1800" spc="-5" dirty="0">
                <a:latin typeface="Palatino Linotype" panose="02040502050505030304"/>
                <a:cs typeface="Palatino Linotype" panose="02040502050505030304"/>
              </a:rPr>
              <a:t>statement </a:t>
            </a:r>
            <a:r>
              <a:rPr sz="1800" dirty="0">
                <a:latin typeface="Palatino Linotype" panose="02040502050505030304"/>
                <a:cs typeface="Palatino Linotype" panose="02040502050505030304"/>
              </a:rPr>
              <a:t>of a block </a:t>
            </a:r>
            <a:r>
              <a:rPr sz="1800" spc="-5" dirty="0">
                <a:latin typeface="Palatino Linotype" panose="02040502050505030304"/>
                <a:cs typeface="Palatino Linotype" panose="02040502050505030304"/>
              </a:rPr>
              <a:t>should </a:t>
            </a:r>
            <a:r>
              <a:rPr sz="1800" dirty="0">
                <a:latin typeface="Palatino Linotype" panose="02040502050505030304"/>
                <a:cs typeface="Palatino Linotype" panose="02040502050505030304"/>
              </a:rPr>
              <a:t>be the union of the </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definitions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after</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last</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statements </a:t>
            </a:r>
            <a:r>
              <a:rPr sz="1800" dirty="0">
                <a:latin typeface="Palatino Linotype" panose="02040502050505030304"/>
                <a:cs typeface="Palatino Linotype" panose="02040502050505030304"/>
              </a:rPr>
              <a:t>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each</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predecessor</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blocks</a:t>
            </a:r>
            <a:endParaRPr sz="1800">
              <a:latin typeface="Palatino Linotype" panose="02040502050505030304"/>
              <a:cs typeface="Palatino Linotype" panose="0204050205050503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33</a:t>
            </a:fld>
            <a:endParaRPr dirty="0"/>
          </a:p>
        </p:txBody>
      </p:sp>
      <p:sp>
        <p:nvSpPr>
          <p:cNvPr id="2" name="object 2"/>
          <p:cNvSpPr txBox="1">
            <a:spLocks noGrp="1"/>
          </p:cNvSpPr>
          <p:nvPr>
            <p:ph type="title"/>
          </p:nvPr>
        </p:nvSpPr>
        <p:spPr>
          <a:prstGeom prst="rect">
            <a:avLst/>
          </a:prstGeom>
        </p:spPr>
        <p:txBody>
          <a:bodyPr vert="horz" wrap="square" lIns="0" tIns="27305" rIns="0" bIns="0" rtlCol="0">
            <a:spAutoFit/>
          </a:bodyPr>
          <a:lstStyle/>
          <a:p>
            <a:pPr marL="1407795" marR="5080" indent="-1395730">
              <a:lnSpc>
                <a:spcPts val="4300"/>
              </a:lnSpc>
              <a:spcBef>
                <a:spcPts val="215"/>
              </a:spcBef>
            </a:pPr>
            <a:r>
              <a:rPr spc="-5" dirty="0"/>
              <a:t>Data-Flow</a:t>
            </a:r>
            <a:r>
              <a:rPr dirty="0"/>
              <a:t> </a:t>
            </a:r>
            <a:r>
              <a:rPr spc="-5" dirty="0"/>
              <a:t>Schemas</a:t>
            </a:r>
            <a:r>
              <a:rPr spc="5" dirty="0"/>
              <a:t> </a:t>
            </a:r>
            <a:r>
              <a:rPr spc="-5" dirty="0"/>
              <a:t>on</a:t>
            </a:r>
            <a:r>
              <a:rPr spc="5" dirty="0"/>
              <a:t> </a:t>
            </a:r>
            <a:r>
              <a:rPr spc="-5" dirty="0"/>
              <a:t>Basic</a:t>
            </a:r>
            <a:r>
              <a:rPr dirty="0"/>
              <a:t> </a:t>
            </a:r>
            <a:r>
              <a:rPr spc="-5" dirty="0"/>
              <a:t>Blocks </a:t>
            </a:r>
            <a:r>
              <a:rPr spc="-885" dirty="0"/>
              <a:t> </a:t>
            </a:r>
            <a:r>
              <a:rPr spc="-5" dirty="0"/>
              <a:t>(The Intra-Block </a:t>
            </a:r>
            <a:r>
              <a:rPr dirty="0"/>
              <a:t>Case)</a:t>
            </a:r>
          </a:p>
        </p:txBody>
      </p:sp>
      <p:sp>
        <p:nvSpPr>
          <p:cNvPr id="3" name="object 3"/>
          <p:cNvSpPr txBox="1"/>
          <p:nvPr/>
        </p:nvSpPr>
        <p:spPr>
          <a:xfrm>
            <a:off x="656590" y="1799843"/>
            <a:ext cx="7612380" cy="3954779"/>
          </a:xfrm>
          <a:prstGeom prst="rect">
            <a:avLst/>
          </a:prstGeom>
        </p:spPr>
        <p:txBody>
          <a:bodyPr vert="horz" wrap="square" lIns="0" tIns="12700" rIns="0" bIns="0" rtlCol="0">
            <a:spAutoFit/>
          </a:bodyPr>
          <a:lstStyle/>
          <a:p>
            <a:pPr marL="293370" marR="30480" indent="-230505">
              <a:lnSpc>
                <a:spcPct val="117000"/>
              </a:lnSpc>
              <a:spcBef>
                <a:spcPts val="100"/>
              </a:spcBef>
              <a:buFont typeface="Arial MT"/>
              <a:buChar char="•"/>
              <a:tabLst>
                <a:tab pos="293370" algn="l"/>
                <a:tab pos="294005" algn="l"/>
              </a:tabLst>
            </a:pPr>
            <a:r>
              <a:rPr sz="2000" spc="-10" dirty="0">
                <a:latin typeface="Palatino Linotype" panose="02040502050505030304"/>
                <a:cs typeface="Palatino Linotype" panose="02040502050505030304"/>
              </a:rPr>
              <a:t>Within </a:t>
            </a:r>
            <a:r>
              <a:rPr sz="2000" dirty="0">
                <a:latin typeface="Palatino Linotype" panose="02040502050505030304"/>
                <a:cs typeface="Palatino Linotype" panose="02040502050505030304"/>
              </a:rPr>
              <a:t>a basic block, </a:t>
            </a:r>
            <a:r>
              <a:rPr sz="2000" spc="-5" dirty="0">
                <a:latin typeface="Palatino Linotype" panose="02040502050505030304"/>
                <a:cs typeface="Palatino Linotype" panose="02040502050505030304"/>
              </a:rPr>
              <a:t>control flows from the </a:t>
            </a:r>
            <a:r>
              <a:rPr sz="2000" dirty="0">
                <a:latin typeface="Palatino Linotype" panose="02040502050505030304"/>
                <a:cs typeface="Palatino Linotype" panose="02040502050505030304"/>
              </a:rPr>
              <a:t>beginning </a:t>
            </a:r>
            <a:r>
              <a:rPr sz="2000" spc="-5" dirty="0">
                <a:latin typeface="Palatino Linotype" panose="02040502050505030304"/>
                <a:cs typeface="Palatino Linotype" panose="02040502050505030304"/>
              </a:rPr>
              <a:t>to the end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without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interruption or branching</a:t>
            </a:r>
            <a:endParaRPr sz="2000">
              <a:latin typeface="Palatino Linotype" panose="02040502050505030304"/>
              <a:cs typeface="Palatino Linotype" panose="02040502050505030304"/>
            </a:endParaRPr>
          </a:p>
          <a:p>
            <a:pPr marL="749300" marR="154305" lvl="1" indent="-228600">
              <a:lnSpc>
                <a:spcPct val="120000"/>
              </a:lnSpc>
              <a:spcBef>
                <a:spcPts val="710"/>
              </a:spcBef>
              <a:buFont typeface="Wingdings" panose="05000000000000000000"/>
              <a:buChar char=""/>
              <a:tabLst>
                <a:tab pos="748665" algn="l"/>
                <a:tab pos="749300" algn="l"/>
              </a:tabLst>
            </a:pPr>
            <a:r>
              <a:rPr sz="1600" spc="-5" dirty="0">
                <a:latin typeface="Palatino Linotype" panose="02040502050505030304"/>
                <a:cs typeface="Palatino Linotype" panose="02040502050505030304"/>
              </a:rPr>
              <a:t>This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allows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restate</a:t>
            </a:r>
            <a:r>
              <a:rPr sz="1600" dirty="0">
                <a:latin typeface="Palatino Linotype" panose="02040502050505030304"/>
                <a:cs typeface="Palatino Linotype" panose="02040502050505030304"/>
              </a:rPr>
              <a:t> the</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data-flow</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schema</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terms of</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data-flow</a:t>
            </a:r>
            <a:r>
              <a:rPr sz="1600" spc="5"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values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entering and </a:t>
            </a:r>
            <a:r>
              <a:rPr sz="1600" spc="-5" dirty="0">
                <a:latin typeface="Palatino Linotype" panose="02040502050505030304"/>
                <a:cs typeface="Palatino Linotype" panose="02040502050505030304"/>
              </a:rPr>
              <a:t>leaving</a:t>
            </a:r>
            <a:r>
              <a:rPr sz="1600" dirty="0">
                <a:latin typeface="Palatino Linotype" panose="02040502050505030304"/>
                <a:cs typeface="Palatino Linotype" panose="02040502050505030304"/>
              </a:rPr>
              <a:t> the </a:t>
            </a:r>
            <a:r>
              <a:rPr sz="1600" spc="-5" dirty="0">
                <a:latin typeface="Palatino Linotype" panose="02040502050505030304"/>
                <a:cs typeface="Palatino Linotype" panose="02040502050505030304"/>
              </a:rPr>
              <a:t>blocks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(instead</a:t>
            </a:r>
            <a:r>
              <a:rPr sz="1600" dirty="0">
                <a:latin typeface="Palatino Linotype" panose="02040502050505030304"/>
                <a:cs typeface="Palatino Linotype" panose="02040502050505030304"/>
              </a:rPr>
              <a:t> of</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before/after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each</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statement)</a:t>
            </a:r>
            <a:endParaRPr sz="1600">
              <a:latin typeface="Palatino Linotype" panose="02040502050505030304"/>
              <a:cs typeface="Palatino Linotype" panose="02040502050505030304"/>
            </a:endParaRPr>
          </a:p>
          <a:p>
            <a:pPr lvl="1">
              <a:lnSpc>
                <a:spcPct val="100000"/>
              </a:lnSpc>
              <a:spcBef>
                <a:spcPts val="10"/>
              </a:spcBef>
              <a:buFont typeface="Wingdings" panose="05000000000000000000"/>
              <a:buChar char=""/>
            </a:pPr>
            <a:endParaRPr sz="1600">
              <a:latin typeface="Palatino Linotype" panose="02040502050505030304"/>
              <a:cs typeface="Palatino Linotype" panose="02040502050505030304"/>
            </a:endParaRPr>
          </a:p>
          <a:p>
            <a:pPr marL="294005" indent="-230505">
              <a:lnSpc>
                <a:spcPct val="100000"/>
              </a:lnSpc>
              <a:buFont typeface="Arial MT"/>
              <a:buChar char="•"/>
              <a:tabLst>
                <a:tab pos="293370" algn="l"/>
                <a:tab pos="294005" algn="l"/>
              </a:tabLst>
            </a:pPr>
            <a:r>
              <a:rPr sz="2000" spc="-5" dirty="0">
                <a:latin typeface="Palatino Linotype" panose="02040502050505030304"/>
                <a:cs typeface="Palatino Linotype" panose="02040502050505030304"/>
              </a:rPr>
              <a:t>For</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block</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 </a:t>
            </a:r>
            <a:r>
              <a:rPr sz="2000" spc="-5" dirty="0">
                <a:latin typeface="Palatino Linotype" panose="02040502050505030304"/>
                <a:cs typeface="Palatino Linotype" panose="02040502050505030304"/>
              </a:rPr>
              <a:t>consisting</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statements</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s</a:t>
            </a:r>
            <a:r>
              <a:rPr sz="1950" baseline="-17000" dirty="0">
                <a:latin typeface="Palatino Linotype" panose="02040502050505030304"/>
                <a:cs typeface="Palatino Linotype" panose="02040502050505030304"/>
              </a:rPr>
              <a:t>1</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s</a:t>
            </a:r>
            <a:r>
              <a:rPr sz="1950" baseline="-17000" dirty="0">
                <a:latin typeface="Palatino Linotype" panose="02040502050505030304"/>
                <a:cs typeface="Palatino Linotype" panose="02040502050505030304"/>
              </a:rPr>
              <a:t>2</a:t>
            </a:r>
            <a:r>
              <a:rPr sz="2000" dirty="0">
                <a:latin typeface="Palatino Linotype" panose="02040502050505030304"/>
                <a:cs typeface="Palatino Linotype" panose="02040502050505030304"/>
              </a:rPr>
              <a:t>, …, </a:t>
            </a:r>
            <a:r>
              <a:rPr sz="2000" i="1" dirty="0">
                <a:latin typeface="Palatino Linotype" panose="02040502050505030304"/>
                <a:cs typeface="Palatino Linotype" panose="02040502050505030304"/>
              </a:rPr>
              <a:t>s</a:t>
            </a:r>
            <a:r>
              <a:rPr sz="1950" i="1" baseline="-17000" dirty="0">
                <a:latin typeface="Palatino Linotype" panose="02040502050505030304"/>
                <a:cs typeface="Palatino Linotype" panose="02040502050505030304"/>
              </a:rPr>
              <a:t>n</a:t>
            </a:r>
            <a:r>
              <a:rPr sz="2000" dirty="0">
                <a:latin typeface="Palatino Linotype" panose="02040502050505030304"/>
                <a:cs typeface="Palatino Linotype" panose="02040502050505030304"/>
              </a:rPr>
              <a:t>, </a:t>
            </a:r>
            <a:r>
              <a:rPr sz="2000" spc="-20" dirty="0">
                <a:latin typeface="Palatino Linotype" panose="02040502050505030304"/>
                <a:cs typeface="Palatino Linotype" panose="02040502050505030304"/>
              </a:rPr>
              <a:t>we</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have</a:t>
            </a:r>
            <a:r>
              <a:rPr sz="1950" spc="-15" baseline="26000" dirty="0">
                <a:latin typeface="Palatino Linotype" panose="02040502050505030304"/>
                <a:cs typeface="Palatino Linotype" panose="02040502050505030304"/>
              </a:rPr>
              <a:t>*</a:t>
            </a:r>
            <a:endParaRPr sz="1950" baseline="26000">
              <a:latin typeface="Palatino Linotype" panose="02040502050505030304"/>
              <a:cs typeface="Palatino Linotype" panose="02040502050505030304"/>
            </a:endParaRPr>
          </a:p>
          <a:p>
            <a:pPr marL="749300" lvl="1" indent="-228600">
              <a:lnSpc>
                <a:spcPct val="100000"/>
              </a:lnSpc>
              <a:spcBef>
                <a:spcPts val="1095"/>
              </a:spcBef>
              <a:buFont typeface="Wingdings" panose="05000000000000000000"/>
              <a:buChar char=""/>
              <a:tabLst>
                <a:tab pos="748665" algn="l"/>
                <a:tab pos="749300" algn="l"/>
              </a:tabLst>
            </a:pPr>
            <a:r>
              <a:rPr sz="1600" spc="-5" dirty="0">
                <a:latin typeface="Palatino Linotype" panose="02040502050505030304"/>
                <a:cs typeface="Palatino Linotype" panose="02040502050505030304"/>
              </a:rPr>
              <a:t>IN[</a:t>
            </a:r>
            <a:r>
              <a:rPr sz="1600" i="1" spc="-5" dirty="0">
                <a:latin typeface="Palatino Linotype" panose="02040502050505030304"/>
                <a:cs typeface="Palatino Linotype" panose="02040502050505030304"/>
              </a:rPr>
              <a:t>B</a:t>
            </a:r>
            <a:r>
              <a:rPr sz="1600" spc="-5" dirty="0">
                <a:latin typeface="Palatino Linotype" panose="02040502050505030304"/>
                <a:cs typeface="Palatino Linotype" panose="02040502050505030304"/>
              </a:rPr>
              <a:t>]</a:t>
            </a:r>
            <a:r>
              <a:rPr sz="1600" spc="-3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a:r>
            <a:r>
              <a:rPr sz="1600" spc="-2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a:t>
            </a:r>
            <a:r>
              <a:rPr sz="1600" i="1" spc="-5" dirty="0">
                <a:latin typeface="Palatino Linotype" panose="02040502050505030304"/>
                <a:cs typeface="Palatino Linotype" panose="02040502050505030304"/>
              </a:rPr>
              <a:t>s</a:t>
            </a:r>
            <a:r>
              <a:rPr sz="1650" spc="-7" baseline="-15000" dirty="0">
                <a:latin typeface="Palatino Linotype" panose="02040502050505030304"/>
                <a:cs typeface="Palatino Linotype" panose="02040502050505030304"/>
              </a:rPr>
              <a:t>1</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a:p>
            <a:pPr marL="749300" lvl="1" indent="-228600">
              <a:lnSpc>
                <a:spcPct val="100000"/>
              </a:lnSpc>
              <a:spcBef>
                <a:spcPts val="1585"/>
              </a:spcBef>
              <a:buFont typeface="Wingdings" panose="05000000000000000000"/>
              <a:buChar char=""/>
              <a:tabLst>
                <a:tab pos="748665" algn="l"/>
                <a:tab pos="749300" algn="l"/>
              </a:tabLst>
            </a:pPr>
            <a:r>
              <a:rPr sz="1600" spc="-5" dirty="0">
                <a:latin typeface="Palatino Linotype" panose="02040502050505030304"/>
                <a:cs typeface="Palatino Linotype" panose="02040502050505030304"/>
              </a:rPr>
              <a:t>OUT[</a:t>
            </a:r>
            <a:r>
              <a:rPr sz="1600" i="1" spc="-5" dirty="0">
                <a:latin typeface="Palatino Linotype" panose="02040502050505030304"/>
                <a:cs typeface="Palatino Linotype" panose="02040502050505030304"/>
              </a:rPr>
              <a:t>B</a:t>
            </a:r>
            <a:r>
              <a:rPr sz="1600" spc="-5" dirty="0">
                <a:latin typeface="Palatino Linotype" panose="02040502050505030304"/>
                <a:cs typeface="Palatino Linotype" panose="02040502050505030304"/>
              </a:rPr>
              <a:t>]</a:t>
            </a:r>
            <a:r>
              <a:rPr sz="1600" spc="-2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a:r>
            <a:r>
              <a:rPr sz="1600" spc="-2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OUT[</a:t>
            </a:r>
            <a:r>
              <a:rPr sz="1600" i="1" spc="-5" dirty="0">
                <a:latin typeface="Palatino Linotype" panose="02040502050505030304"/>
                <a:cs typeface="Palatino Linotype" panose="02040502050505030304"/>
              </a:rPr>
              <a:t>s</a:t>
            </a:r>
            <a:r>
              <a:rPr sz="1650" i="1" spc="-7" baseline="-15000" dirty="0">
                <a:latin typeface="Palatino Linotype" panose="02040502050505030304"/>
                <a:cs typeface="Palatino Linotype" panose="02040502050505030304"/>
              </a:rPr>
              <a:t>n</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a:p>
            <a:pPr marL="749300" lvl="1" indent="-228600">
              <a:lnSpc>
                <a:spcPct val="100000"/>
              </a:lnSpc>
              <a:spcBef>
                <a:spcPts val="1585"/>
              </a:spcBef>
              <a:buFont typeface="Wingdings" panose="05000000000000000000"/>
              <a:buChar char=""/>
              <a:tabLst>
                <a:tab pos="748665" algn="l"/>
                <a:tab pos="749300" algn="l"/>
              </a:tabLst>
            </a:pPr>
            <a:r>
              <a:rPr sz="1600" spc="-5" dirty="0">
                <a:latin typeface="Palatino Linotype" panose="02040502050505030304"/>
                <a:cs typeface="Palatino Linotype" panose="02040502050505030304"/>
              </a:rPr>
              <a:t>OUT[</a:t>
            </a:r>
            <a:r>
              <a:rPr sz="1600" i="1" spc="-5" dirty="0">
                <a:latin typeface="Palatino Linotype" panose="02040502050505030304"/>
                <a:cs typeface="Palatino Linotype" panose="02040502050505030304"/>
              </a:rPr>
              <a:t>B</a:t>
            </a:r>
            <a:r>
              <a:rPr sz="1600" spc="-5" dirty="0">
                <a:latin typeface="Palatino Linotype" panose="02040502050505030304"/>
                <a:cs typeface="Palatino Linotype" panose="02040502050505030304"/>
              </a:rPr>
              <a:t>]</a:t>
            </a:r>
            <a:r>
              <a:rPr sz="1600" dirty="0">
                <a:latin typeface="Palatino Linotype" panose="02040502050505030304"/>
                <a:cs typeface="Palatino Linotype" panose="02040502050505030304"/>
              </a:rPr>
              <a:t> = </a:t>
            </a:r>
            <a:r>
              <a:rPr sz="1600" i="1" spc="-5" dirty="0">
                <a:latin typeface="Palatino Linotype" panose="02040502050505030304"/>
                <a:cs typeface="Palatino Linotype" panose="02040502050505030304"/>
              </a:rPr>
              <a:t>f</a:t>
            </a:r>
            <a:r>
              <a:rPr sz="1650" i="1" spc="-7" baseline="-15000" dirty="0">
                <a:latin typeface="Palatino Linotype" panose="02040502050505030304"/>
                <a:cs typeface="Palatino Linotype" panose="02040502050505030304"/>
              </a:rPr>
              <a:t>B</a:t>
            </a:r>
            <a:r>
              <a:rPr sz="1600" spc="-5" dirty="0">
                <a:latin typeface="Palatino Linotype" panose="02040502050505030304"/>
                <a:cs typeface="Palatino Linotype" panose="02040502050505030304"/>
              </a:rPr>
              <a:t>(IN[</a:t>
            </a:r>
            <a:r>
              <a:rPr sz="1600" i="1" spc="-5" dirty="0">
                <a:latin typeface="Palatino Linotype" panose="02040502050505030304"/>
                <a:cs typeface="Palatino Linotype" panose="02040502050505030304"/>
              </a:rPr>
              <a:t>B</a:t>
            </a:r>
            <a:r>
              <a:rPr sz="1600" spc="-5" dirty="0">
                <a:latin typeface="Palatino Linotype" panose="02040502050505030304"/>
                <a:cs typeface="Palatino Linotype" panose="02040502050505030304"/>
              </a:rPr>
              <a: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where</a:t>
            </a:r>
            <a:r>
              <a:rPr sz="1600" spc="-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f</a:t>
            </a:r>
            <a:r>
              <a:rPr sz="1650" i="1" baseline="-15000" dirty="0">
                <a:latin typeface="Palatino Linotype" panose="02040502050505030304"/>
                <a:cs typeface="Palatino Linotype" panose="02040502050505030304"/>
              </a:rPr>
              <a:t>B</a:t>
            </a:r>
            <a:r>
              <a:rPr sz="1650" i="1" spc="157" baseline="-1500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 </a:t>
            </a:r>
            <a:r>
              <a:rPr sz="1600" i="1" spc="-5" dirty="0">
                <a:latin typeface="Palatino Linotype" panose="02040502050505030304"/>
                <a:cs typeface="Palatino Linotype" panose="02040502050505030304"/>
              </a:rPr>
              <a:t>f</a:t>
            </a:r>
            <a:r>
              <a:rPr sz="1650" i="1" spc="-7" baseline="-15000" dirty="0">
                <a:latin typeface="Palatino Linotype" panose="02040502050505030304"/>
                <a:cs typeface="Palatino Linotype" panose="02040502050505030304"/>
              </a:rPr>
              <a:t>s</a:t>
            </a:r>
            <a:r>
              <a:rPr sz="1200" i="1" spc="-7" baseline="-28000" dirty="0">
                <a:latin typeface="Palatino Linotype" panose="02040502050505030304"/>
                <a:cs typeface="Palatino Linotype" panose="02040502050505030304"/>
              </a:rPr>
              <a:t>n</a:t>
            </a:r>
            <a:r>
              <a:rPr sz="1200" i="1" spc="22" baseline="-28000" dirty="0">
                <a:latin typeface="Palatino Linotype" panose="02040502050505030304"/>
                <a:cs typeface="Palatino Linotype" panose="02040502050505030304"/>
              </a:rPr>
              <a:t> </a:t>
            </a:r>
            <a:r>
              <a:rPr sz="1600" dirty="0">
                <a:latin typeface="Times New Roman" panose="02020603050405020304"/>
                <a:cs typeface="Times New Roman" panose="02020603050405020304"/>
              </a:rPr>
              <a:t>◦ </a:t>
            </a:r>
            <a:r>
              <a:rPr sz="1600" dirty="0">
                <a:latin typeface="Palatino Linotype" panose="02040502050505030304"/>
                <a:cs typeface="Palatino Linotype" panose="02040502050505030304"/>
              </a:rPr>
              <a:t>… </a:t>
            </a:r>
            <a:r>
              <a:rPr sz="1600" dirty="0">
                <a:latin typeface="Times New Roman" panose="02020603050405020304"/>
                <a:cs typeface="Times New Roman" panose="02020603050405020304"/>
              </a:rPr>
              <a:t>◦ </a:t>
            </a:r>
            <a:r>
              <a:rPr sz="1600" i="1" spc="-5" dirty="0">
                <a:latin typeface="Palatino Linotype" panose="02040502050505030304"/>
                <a:cs typeface="Palatino Linotype" panose="02040502050505030304"/>
              </a:rPr>
              <a:t>f</a:t>
            </a:r>
            <a:r>
              <a:rPr sz="1650" i="1" spc="-7" baseline="-15000" dirty="0">
                <a:latin typeface="Palatino Linotype" panose="02040502050505030304"/>
                <a:cs typeface="Palatino Linotype" panose="02040502050505030304"/>
              </a:rPr>
              <a:t>s</a:t>
            </a:r>
            <a:r>
              <a:rPr sz="1200" spc="-7" baseline="-42000" dirty="0">
                <a:latin typeface="Palatino Linotype" panose="02040502050505030304"/>
                <a:cs typeface="Palatino Linotype" panose="02040502050505030304"/>
              </a:rPr>
              <a:t>2</a:t>
            </a:r>
            <a:r>
              <a:rPr sz="1200" spc="15" baseline="-42000" dirty="0">
                <a:latin typeface="Palatino Linotype" panose="02040502050505030304"/>
                <a:cs typeface="Palatino Linotype" panose="02040502050505030304"/>
              </a:rPr>
              <a:t> </a:t>
            </a:r>
            <a:r>
              <a:rPr sz="1600" dirty="0">
                <a:latin typeface="Times New Roman" panose="02020603050405020304"/>
                <a:cs typeface="Times New Roman" panose="02020603050405020304"/>
              </a:rPr>
              <a:t>◦</a:t>
            </a:r>
            <a:r>
              <a:rPr sz="1600" spc="-5" dirty="0">
                <a:latin typeface="Times New Roman" panose="02020603050405020304"/>
                <a:cs typeface="Times New Roman" panose="02020603050405020304"/>
              </a:rPr>
              <a:t> </a:t>
            </a:r>
            <a:r>
              <a:rPr sz="1600" i="1" spc="-5" dirty="0">
                <a:latin typeface="Palatino Linotype" panose="02040502050505030304"/>
                <a:cs typeface="Palatino Linotype" panose="02040502050505030304"/>
              </a:rPr>
              <a:t>f</a:t>
            </a:r>
            <a:r>
              <a:rPr sz="1650" i="1" spc="-7" baseline="-15000" dirty="0">
                <a:latin typeface="Palatino Linotype" panose="02040502050505030304"/>
                <a:cs typeface="Palatino Linotype" panose="02040502050505030304"/>
              </a:rPr>
              <a:t>s</a:t>
            </a:r>
            <a:r>
              <a:rPr sz="1200" spc="-7" baseline="-42000" dirty="0">
                <a:latin typeface="Palatino Linotype" panose="02040502050505030304"/>
                <a:cs typeface="Palatino Linotype" panose="02040502050505030304"/>
              </a:rPr>
              <a:t>1</a:t>
            </a:r>
            <a:r>
              <a:rPr sz="1200" spc="307" baseline="-420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(composing </a:t>
            </a:r>
            <a:r>
              <a:rPr sz="1600" dirty="0">
                <a:latin typeface="Palatino Linotype" panose="02040502050505030304"/>
                <a:cs typeface="Palatino Linotype" panose="02040502050505030304"/>
              </a:rPr>
              <a:t>transfer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functions)</a:t>
            </a:r>
            <a:endParaRPr sz="1600">
              <a:latin typeface="Palatino Linotype" panose="02040502050505030304"/>
              <a:cs typeface="Palatino Linotype" panose="02040502050505030304"/>
            </a:endParaRPr>
          </a:p>
          <a:p>
            <a:pPr>
              <a:lnSpc>
                <a:spcPct val="100000"/>
              </a:lnSpc>
              <a:spcBef>
                <a:spcPts val="15"/>
              </a:spcBef>
            </a:pPr>
            <a:endParaRPr sz="2750">
              <a:latin typeface="Palatino Linotype" panose="02040502050505030304"/>
              <a:cs typeface="Palatino Linotype" panose="02040502050505030304"/>
            </a:endParaRPr>
          </a:p>
          <a:p>
            <a:pPr marL="247650">
              <a:lnSpc>
                <a:spcPct val="100000"/>
              </a:lnSpc>
            </a:pP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For</a:t>
            </a:r>
            <a:r>
              <a:rPr sz="1400" dirty="0">
                <a:solidFill>
                  <a:srgbClr val="A6A6A6"/>
                </a:solidFill>
                <a:latin typeface="Palatino Linotype" panose="02040502050505030304"/>
                <a:cs typeface="Palatino Linotype" panose="02040502050505030304"/>
              </a:rPr>
              <a:t> </a:t>
            </a:r>
            <a:r>
              <a:rPr sz="1400" spc="-10" dirty="0">
                <a:solidFill>
                  <a:srgbClr val="A6A6A6"/>
                </a:solidFill>
                <a:latin typeface="Palatino Linotype" panose="02040502050505030304"/>
                <a:cs typeface="Palatino Linotype" panose="02040502050505030304"/>
              </a:rPr>
              <a:t>backward-flow</a:t>
            </a:r>
            <a:r>
              <a:rPr sz="140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problem,</a:t>
            </a:r>
            <a:r>
              <a:rPr sz="140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IN[</a:t>
            </a:r>
            <a:r>
              <a:rPr sz="1400" i="1" spc="-5" dirty="0">
                <a:solidFill>
                  <a:srgbClr val="A6A6A6"/>
                </a:solidFill>
                <a:latin typeface="Palatino Linotype" panose="02040502050505030304"/>
                <a:cs typeface="Palatino Linotype" panose="02040502050505030304"/>
              </a:rPr>
              <a:t>B</a:t>
            </a:r>
            <a:r>
              <a:rPr sz="1400" spc="-5" dirty="0">
                <a:solidFill>
                  <a:srgbClr val="A6A6A6"/>
                </a:solidFill>
                <a:latin typeface="Palatino Linotype" panose="02040502050505030304"/>
                <a:cs typeface="Palatino Linotype" panose="02040502050505030304"/>
              </a:rPr>
              <a:t>]</a:t>
            </a:r>
            <a:r>
              <a:rPr sz="1400" dirty="0">
                <a:solidFill>
                  <a:srgbClr val="A6A6A6"/>
                </a:solidFill>
                <a:latin typeface="Palatino Linotype" panose="02040502050505030304"/>
                <a:cs typeface="Palatino Linotype" panose="02040502050505030304"/>
              </a:rPr>
              <a:t> = </a:t>
            </a:r>
            <a:r>
              <a:rPr sz="1400" i="1" spc="-5" dirty="0">
                <a:solidFill>
                  <a:srgbClr val="A6A6A6"/>
                </a:solidFill>
                <a:latin typeface="Palatino Linotype" panose="02040502050505030304"/>
                <a:cs typeface="Palatino Linotype" panose="02040502050505030304"/>
              </a:rPr>
              <a:t>f</a:t>
            </a:r>
            <a:r>
              <a:rPr sz="1350" i="1" spc="-7" baseline="-19000" dirty="0">
                <a:solidFill>
                  <a:srgbClr val="A6A6A6"/>
                </a:solidFill>
                <a:latin typeface="Palatino Linotype" panose="02040502050505030304"/>
                <a:cs typeface="Palatino Linotype" panose="02040502050505030304"/>
              </a:rPr>
              <a:t>B</a:t>
            </a:r>
            <a:r>
              <a:rPr sz="1400" spc="-5" dirty="0">
                <a:solidFill>
                  <a:srgbClr val="A6A6A6"/>
                </a:solidFill>
                <a:latin typeface="Palatino Linotype" panose="02040502050505030304"/>
                <a:cs typeface="Palatino Linotype" panose="02040502050505030304"/>
              </a:rPr>
              <a:t>(OUT[</a:t>
            </a:r>
            <a:r>
              <a:rPr sz="1400" i="1" spc="-5" dirty="0">
                <a:solidFill>
                  <a:srgbClr val="A6A6A6"/>
                </a:solidFill>
                <a:latin typeface="Palatino Linotype" panose="02040502050505030304"/>
                <a:cs typeface="Palatino Linotype" panose="02040502050505030304"/>
              </a:rPr>
              <a:t>B</a:t>
            </a:r>
            <a:r>
              <a:rPr sz="1400" spc="-5"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where</a:t>
            </a:r>
            <a:r>
              <a:rPr sz="1400" dirty="0">
                <a:solidFill>
                  <a:srgbClr val="A6A6A6"/>
                </a:solidFill>
                <a:latin typeface="Palatino Linotype" panose="02040502050505030304"/>
                <a:cs typeface="Palatino Linotype" panose="02040502050505030304"/>
              </a:rPr>
              <a:t> </a:t>
            </a:r>
            <a:r>
              <a:rPr sz="1400" i="1" spc="-5" dirty="0">
                <a:solidFill>
                  <a:srgbClr val="A6A6A6"/>
                </a:solidFill>
                <a:latin typeface="Palatino Linotype" panose="02040502050505030304"/>
                <a:cs typeface="Palatino Linotype" panose="02040502050505030304"/>
              </a:rPr>
              <a:t>f</a:t>
            </a:r>
            <a:r>
              <a:rPr sz="1350" i="1" spc="-7" baseline="-19000" dirty="0">
                <a:solidFill>
                  <a:srgbClr val="A6A6A6"/>
                </a:solidFill>
                <a:latin typeface="Palatino Linotype" panose="02040502050505030304"/>
                <a:cs typeface="Palatino Linotype" panose="02040502050505030304"/>
              </a:rPr>
              <a:t>B</a:t>
            </a:r>
            <a:r>
              <a:rPr sz="1350" i="1" spc="232" baseline="-1900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i="1" dirty="0">
                <a:solidFill>
                  <a:srgbClr val="A6A6A6"/>
                </a:solidFill>
                <a:latin typeface="Palatino Linotype" panose="02040502050505030304"/>
                <a:cs typeface="Palatino Linotype" panose="02040502050505030304"/>
              </a:rPr>
              <a:t>f</a:t>
            </a:r>
            <a:r>
              <a:rPr sz="1350" i="1" baseline="-19000" dirty="0">
                <a:solidFill>
                  <a:srgbClr val="A6A6A6"/>
                </a:solidFill>
                <a:latin typeface="Palatino Linotype" panose="02040502050505030304"/>
                <a:cs typeface="Palatino Linotype" panose="02040502050505030304"/>
              </a:rPr>
              <a:t>s</a:t>
            </a:r>
            <a:r>
              <a:rPr sz="1350" baseline="-31000" dirty="0">
                <a:solidFill>
                  <a:srgbClr val="A6A6A6"/>
                </a:solidFill>
                <a:latin typeface="Palatino Linotype" panose="02040502050505030304"/>
                <a:cs typeface="Palatino Linotype" panose="02040502050505030304"/>
              </a:rPr>
              <a:t>1</a:t>
            </a:r>
            <a:r>
              <a:rPr sz="1350" spc="209" baseline="-3100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i="1" dirty="0">
                <a:solidFill>
                  <a:srgbClr val="A6A6A6"/>
                </a:solidFill>
                <a:latin typeface="Palatino Linotype" panose="02040502050505030304"/>
                <a:cs typeface="Palatino Linotype" panose="02040502050505030304"/>
              </a:rPr>
              <a:t>f</a:t>
            </a:r>
            <a:r>
              <a:rPr sz="1350" i="1" baseline="-19000" dirty="0">
                <a:solidFill>
                  <a:srgbClr val="A6A6A6"/>
                </a:solidFill>
                <a:latin typeface="Palatino Linotype" panose="02040502050505030304"/>
                <a:cs typeface="Palatino Linotype" panose="02040502050505030304"/>
              </a:rPr>
              <a:t>s</a:t>
            </a:r>
            <a:r>
              <a:rPr sz="1350" baseline="-43000" dirty="0">
                <a:solidFill>
                  <a:srgbClr val="A6A6A6"/>
                </a:solidFill>
                <a:latin typeface="Palatino Linotype" panose="02040502050505030304"/>
                <a:cs typeface="Palatino Linotype" panose="02040502050505030304"/>
              </a:rPr>
              <a:t>2</a:t>
            </a:r>
            <a:r>
              <a:rPr sz="1350" spc="202" baseline="-4300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t>
            </a:r>
            <a:r>
              <a:rPr sz="1400" spc="5" dirty="0">
                <a:solidFill>
                  <a:srgbClr val="A6A6A6"/>
                </a:solidFill>
                <a:latin typeface="Palatino Linotype" panose="02040502050505030304"/>
                <a:cs typeface="Palatino Linotype" panose="02040502050505030304"/>
              </a:rPr>
              <a:t> </a:t>
            </a:r>
            <a:r>
              <a:rPr sz="1400" i="1" dirty="0">
                <a:solidFill>
                  <a:srgbClr val="A6A6A6"/>
                </a:solidFill>
                <a:latin typeface="Palatino Linotype" panose="02040502050505030304"/>
                <a:cs typeface="Palatino Linotype" panose="02040502050505030304"/>
              </a:rPr>
              <a:t>f</a:t>
            </a:r>
            <a:r>
              <a:rPr sz="1350" i="1" baseline="-19000" dirty="0">
                <a:solidFill>
                  <a:srgbClr val="A6A6A6"/>
                </a:solidFill>
                <a:latin typeface="Palatino Linotype" panose="02040502050505030304"/>
                <a:cs typeface="Palatino Linotype" panose="02040502050505030304"/>
              </a:rPr>
              <a:t>s</a:t>
            </a:r>
            <a:r>
              <a:rPr sz="1350" i="1" baseline="-31000" dirty="0">
                <a:solidFill>
                  <a:srgbClr val="A6A6A6"/>
                </a:solidFill>
                <a:latin typeface="Palatino Linotype" panose="02040502050505030304"/>
                <a:cs typeface="Palatino Linotype" panose="02040502050505030304"/>
              </a:rPr>
              <a:t>n</a:t>
            </a:r>
            <a:endParaRPr sz="1350" baseline="-31000">
              <a:latin typeface="Palatino Linotype" panose="02040502050505030304"/>
              <a:cs typeface="Palatino Linotype" panose="0204050205050503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1407795" marR="5080" indent="-1395730">
              <a:lnSpc>
                <a:spcPts val="4300"/>
              </a:lnSpc>
              <a:spcBef>
                <a:spcPts val="215"/>
              </a:spcBef>
            </a:pPr>
            <a:r>
              <a:rPr spc="-5" dirty="0"/>
              <a:t>Data-Flow</a:t>
            </a:r>
            <a:r>
              <a:rPr dirty="0"/>
              <a:t> </a:t>
            </a:r>
            <a:r>
              <a:rPr spc="-5" dirty="0"/>
              <a:t>Schemas</a:t>
            </a:r>
            <a:r>
              <a:rPr spc="5" dirty="0"/>
              <a:t> </a:t>
            </a:r>
            <a:r>
              <a:rPr spc="-5" dirty="0"/>
              <a:t>on</a:t>
            </a:r>
            <a:r>
              <a:rPr spc="5" dirty="0"/>
              <a:t> </a:t>
            </a:r>
            <a:r>
              <a:rPr spc="-5" dirty="0"/>
              <a:t>Basic</a:t>
            </a:r>
            <a:r>
              <a:rPr dirty="0"/>
              <a:t> </a:t>
            </a:r>
            <a:r>
              <a:rPr spc="-5" dirty="0"/>
              <a:t>Blocks </a:t>
            </a:r>
            <a:r>
              <a:rPr spc="-885" dirty="0"/>
              <a:t> </a:t>
            </a:r>
            <a:r>
              <a:rPr spc="-5" dirty="0"/>
              <a:t>(The Inter-Block </a:t>
            </a:r>
            <a:r>
              <a:rPr dirty="0"/>
              <a:t>Case)</a:t>
            </a:r>
          </a:p>
        </p:txBody>
      </p:sp>
      <p:sp>
        <p:nvSpPr>
          <p:cNvPr id="3" name="object 3"/>
          <p:cNvSpPr txBox="1"/>
          <p:nvPr/>
        </p:nvSpPr>
        <p:spPr>
          <a:xfrm>
            <a:off x="830871" y="2323633"/>
            <a:ext cx="671830" cy="281940"/>
          </a:xfrm>
          <a:prstGeom prst="rect">
            <a:avLst/>
          </a:prstGeom>
          <a:ln w="12700">
            <a:solidFill>
              <a:srgbClr val="000000"/>
            </a:solidFill>
          </a:ln>
        </p:spPr>
        <p:txBody>
          <a:bodyPr vert="horz" wrap="square" lIns="0" tIns="22225" rIns="0" bIns="0" rtlCol="0">
            <a:spAutoFit/>
          </a:bodyPr>
          <a:lstStyle/>
          <a:p>
            <a:pPr algn="ctr">
              <a:lnSpc>
                <a:spcPct val="100000"/>
              </a:lnSpc>
              <a:spcBef>
                <a:spcPts val="175"/>
              </a:spcBef>
            </a:pPr>
            <a:r>
              <a:rPr sz="1400" i="1" spc="-5" dirty="0">
                <a:latin typeface="Palatino Linotype" panose="02040502050505030304"/>
                <a:cs typeface="Palatino Linotype" panose="02040502050505030304"/>
              </a:rPr>
              <a:t>P</a:t>
            </a:r>
            <a:r>
              <a:rPr sz="1350" spc="-7" baseline="-19000" dirty="0">
                <a:latin typeface="Palatino Linotype" panose="02040502050505030304"/>
                <a:cs typeface="Palatino Linotype" panose="02040502050505030304"/>
              </a:rPr>
              <a:t>1</a:t>
            </a:r>
            <a:endParaRPr sz="1350" baseline="-19000">
              <a:latin typeface="Palatino Linotype" panose="02040502050505030304"/>
              <a:cs typeface="Palatino Linotype" panose="02040502050505030304"/>
            </a:endParaRPr>
          </a:p>
        </p:txBody>
      </p:sp>
      <p:sp>
        <p:nvSpPr>
          <p:cNvPr id="4" name="object 4"/>
          <p:cNvSpPr txBox="1"/>
          <p:nvPr/>
        </p:nvSpPr>
        <p:spPr>
          <a:xfrm>
            <a:off x="1855482" y="2323633"/>
            <a:ext cx="671830" cy="281940"/>
          </a:xfrm>
          <a:prstGeom prst="rect">
            <a:avLst/>
          </a:prstGeom>
          <a:ln w="12700">
            <a:solidFill>
              <a:srgbClr val="000000"/>
            </a:solidFill>
          </a:ln>
        </p:spPr>
        <p:txBody>
          <a:bodyPr vert="horz" wrap="square" lIns="0" tIns="22225" rIns="0" bIns="0" rtlCol="0">
            <a:spAutoFit/>
          </a:bodyPr>
          <a:lstStyle/>
          <a:p>
            <a:pPr algn="ctr">
              <a:lnSpc>
                <a:spcPct val="100000"/>
              </a:lnSpc>
              <a:spcBef>
                <a:spcPts val="175"/>
              </a:spcBef>
            </a:pPr>
            <a:r>
              <a:rPr sz="1400" i="1" spc="-5" dirty="0">
                <a:latin typeface="Palatino Linotype" panose="02040502050505030304"/>
                <a:cs typeface="Palatino Linotype" panose="02040502050505030304"/>
              </a:rPr>
              <a:t>P</a:t>
            </a:r>
            <a:r>
              <a:rPr sz="1350" spc="-7" baseline="-19000" dirty="0">
                <a:latin typeface="Palatino Linotype" panose="02040502050505030304"/>
                <a:cs typeface="Palatino Linotype" panose="02040502050505030304"/>
              </a:rPr>
              <a:t>2</a:t>
            </a:r>
            <a:endParaRPr sz="1350" baseline="-19000">
              <a:latin typeface="Palatino Linotype" panose="02040502050505030304"/>
              <a:cs typeface="Palatino Linotype" panose="02040502050505030304"/>
            </a:endParaRPr>
          </a:p>
        </p:txBody>
      </p:sp>
      <p:sp>
        <p:nvSpPr>
          <p:cNvPr id="5" name="object 5"/>
          <p:cNvSpPr txBox="1"/>
          <p:nvPr/>
        </p:nvSpPr>
        <p:spPr>
          <a:xfrm>
            <a:off x="3038797" y="2323632"/>
            <a:ext cx="671830" cy="281940"/>
          </a:xfrm>
          <a:prstGeom prst="rect">
            <a:avLst/>
          </a:prstGeom>
          <a:ln w="12700">
            <a:solidFill>
              <a:srgbClr val="000000"/>
            </a:solidFill>
          </a:ln>
        </p:spPr>
        <p:txBody>
          <a:bodyPr vert="horz" wrap="square" lIns="0" tIns="22225" rIns="0" bIns="0" rtlCol="0">
            <a:spAutoFit/>
          </a:bodyPr>
          <a:lstStyle/>
          <a:p>
            <a:pPr algn="ctr">
              <a:lnSpc>
                <a:spcPct val="100000"/>
              </a:lnSpc>
              <a:spcBef>
                <a:spcPts val="175"/>
              </a:spcBef>
            </a:pPr>
            <a:r>
              <a:rPr sz="1400" i="1" spc="-5" dirty="0">
                <a:latin typeface="Palatino Linotype" panose="02040502050505030304"/>
                <a:cs typeface="Palatino Linotype" panose="02040502050505030304"/>
              </a:rPr>
              <a:t>P</a:t>
            </a:r>
            <a:r>
              <a:rPr sz="1350" i="1" spc="-7" baseline="-19000" dirty="0">
                <a:latin typeface="Palatino Linotype" panose="02040502050505030304"/>
                <a:cs typeface="Palatino Linotype" panose="02040502050505030304"/>
              </a:rPr>
              <a:t>n</a:t>
            </a:r>
            <a:endParaRPr sz="1350" baseline="-19000">
              <a:latin typeface="Palatino Linotype" panose="02040502050505030304"/>
              <a:cs typeface="Palatino Linotype" panose="02040502050505030304"/>
            </a:endParaRPr>
          </a:p>
        </p:txBody>
      </p:sp>
      <p:sp>
        <p:nvSpPr>
          <p:cNvPr id="6" name="object 6"/>
          <p:cNvSpPr txBox="1"/>
          <p:nvPr/>
        </p:nvSpPr>
        <p:spPr>
          <a:xfrm>
            <a:off x="1855482" y="3088943"/>
            <a:ext cx="671830" cy="281940"/>
          </a:xfrm>
          <a:prstGeom prst="rect">
            <a:avLst/>
          </a:prstGeom>
          <a:ln w="12700">
            <a:solidFill>
              <a:srgbClr val="000000"/>
            </a:solidFill>
          </a:ln>
        </p:spPr>
        <p:txBody>
          <a:bodyPr vert="horz" wrap="square" lIns="0" tIns="21590" rIns="0" bIns="0" rtlCol="0">
            <a:spAutoFit/>
          </a:bodyPr>
          <a:lstStyle/>
          <a:p>
            <a:pPr marL="635" algn="ctr">
              <a:lnSpc>
                <a:spcPct val="100000"/>
              </a:lnSpc>
              <a:spcBef>
                <a:spcPts val="170"/>
              </a:spcBef>
            </a:pPr>
            <a:r>
              <a:rPr sz="1400" i="1" dirty="0">
                <a:latin typeface="Palatino Linotype" panose="02040502050505030304"/>
                <a:cs typeface="Palatino Linotype" panose="02040502050505030304"/>
              </a:rPr>
              <a:t>B</a:t>
            </a:r>
            <a:endParaRPr sz="1400">
              <a:latin typeface="Palatino Linotype" panose="02040502050505030304"/>
              <a:cs typeface="Palatino Linotype" panose="02040502050505030304"/>
            </a:endParaRPr>
          </a:p>
        </p:txBody>
      </p:sp>
      <p:sp>
        <p:nvSpPr>
          <p:cNvPr id="7" name="object 7"/>
          <p:cNvSpPr txBox="1"/>
          <p:nvPr/>
        </p:nvSpPr>
        <p:spPr>
          <a:xfrm>
            <a:off x="2698066" y="2263140"/>
            <a:ext cx="2032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sp>
        <p:nvSpPr>
          <p:cNvPr id="8" name="object 8"/>
          <p:cNvSpPr/>
          <p:nvPr/>
        </p:nvSpPr>
        <p:spPr>
          <a:xfrm>
            <a:off x="1163483" y="2599781"/>
            <a:ext cx="847725" cy="492125"/>
          </a:xfrm>
          <a:custGeom>
            <a:avLst/>
            <a:gdLst/>
            <a:ahLst/>
            <a:cxnLst/>
            <a:rect l="l" t="t" r="r" b="b"/>
            <a:pathLst>
              <a:path w="847725" h="492125">
                <a:moveTo>
                  <a:pt x="814796" y="477734"/>
                </a:moveTo>
                <a:lnTo>
                  <a:pt x="773554" y="479319"/>
                </a:lnTo>
                <a:lnTo>
                  <a:pt x="770822" y="482269"/>
                </a:lnTo>
                <a:lnTo>
                  <a:pt x="771091" y="489277"/>
                </a:lnTo>
                <a:lnTo>
                  <a:pt x="774042" y="492009"/>
                </a:lnTo>
                <a:lnTo>
                  <a:pt x="847561" y="489183"/>
                </a:lnTo>
                <a:lnTo>
                  <a:pt x="847321" y="488736"/>
                </a:lnTo>
                <a:lnTo>
                  <a:pt x="834005" y="488736"/>
                </a:lnTo>
                <a:lnTo>
                  <a:pt x="814796" y="477734"/>
                </a:lnTo>
                <a:close/>
              </a:path>
              <a:path w="847725" h="492125">
                <a:moveTo>
                  <a:pt x="826768" y="477273"/>
                </a:moveTo>
                <a:lnTo>
                  <a:pt x="814796" y="477734"/>
                </a:lnTo>
                <a:lnTo>
                  <a:pt x="834005" y="488736"/>
                </a:lnTo>
                <a:lnTo>
                  <a:pt x="835441" y="486228"/>
                </a:lnTo>
                <a:lnTo>
                  <a:pt x="831568" y="486228"/>
                </a:lnTo>
                <a:lnTo>
                  <a:pt x="826768" y="477273"/>
                </a:lnTo>
                <a:close/>
              </a:path>
              <a:path w="847725" h="492125">
                <a:moveTo>
                  <a:pt x="808955" y="423175"/>
                </a:moveTo>
                <a:lnTo>
                  <a:pt x="802773" y="426488"/>
                </a:lnTo>
                <a:lnTo>
                  <a:pt x="801611" y="430338"/>
                </a:lnTo>
                <a:lnTo>
                  <a:pt x="821108" y="466714"/>
                </a:lnTo>
                <a:lnTo>
                  <a:pt x="840317" y="477716"/>
                </a:lnTo>
                <a:lnTo>
                  <a:pt x="834005" y="488736"/>
                </a:lnTo>
                <a:lnTo>
                  <a:pt x="847321" y="488736"/>
                </a:lnTo>
                <a:lnTo>
                  <a:pt x="812805" y="424338"/>
                </a:lnTo>
                <a:lnTo>
                  <a:pt x="808955" y="423175"/>
                </a:lnTo>
                <a:close/>
              </a:path>
              <a:path w="847725" h="492125">
                <a:moveTo>
                  <a:pt x="836919" y="476883"/>
                </a:moveTo>
                <a:lnTo>
                  <a:pt x="826768" y="477273"/>
                </a:lnTo>
                <a:lnTo>
                  <a:pt x="831568" y="486228"/>
                </a:lnTo>
                <a:lnTo>
                  <a:pt x="836919" y="476883"/>
                </a:lnTo>
                <a:close/>
              </a:path>
              <a:path w="847725" h="492125">
                <a:moveTo>
                  <a:pt x="838862" y="476883"/>
                </a:moveTo>
                <a:lnTo>
                  <a:pt x="836919" y="476883"/>
                </a:lnTo>
                <a:lnTo>
                  <a:pt x="831568" y="486228"/>
                </a:lnTo>
                <a:lnTo>
                  <a:pt x="835441" y="486228"/>
                </a:lnTo>
                <a:lnTo>
                  <a:pt x="840317" y="477716"/>
                </a:lnTo>
                <a:lnTo>
                  <a:pt x="838862" y="476883"/>
                </a:lnTo>
                <a:close/>
              </a:path>
              <a:path w="847725" h="492125">
                <a:moveTo>
                  <a:pt x="6312" y="0"/>
                </a:moveTo>
                <a:lnTo>
                  <a:pt x="0" y="11021"/>
                </a:lnTo>
                <a:lnTo>
                  <a:pt x="814796" y="477734"/>
                </a:lnTo>
                <a:lnTo>
                  <a:pt x="826768" y="477273"/>
                </a:lnTo>
                <a:lnTo>
                  <a:pt x="821108" y="466714"/>
                </a:lnTo>
                <a:lnTo>
                  <a:pt x="6312" y="0"/>
                </a:lnTo>
                <a:close/>
              </a:path>
              <a:path w="847725" h="492125">
                <a:moveTo>
                  <a:pt x="821108" y="466714"/>
                </a:moveTo>
                <a:lnTo>
                  <a:pt x="826768" y="477273"/>
                </a:lnTo>
                <a:lnTo>
                  <a:pt x="836919" y="476883"/>
                </a:lnTo>
                <a:lnTo>
                  <a:pt x="838862" y="476883"/>
                </a:lnTo>
                <a:lnTo>
                  <a:pt x="821108" y="466714"/>
                </a:lnTo>
                <a:close/>
              </a:path>
            </a:pathLst>
          </a:custGeom>
          <a:solidFill>
            <a:srgbClr val="000000"/>
          </a:solidFill>
        </p:spPr>
        <p:txBody>
          <a:bodyPr wrap="square" lIns="0" tIns="0" rIns="0" bIns="0" rtlCol="0"/>
          <a:lstStyle/>
          <a:p>
            <a:endParaRPr/>
          </a:p>
        </p:txBody>
      </p:sp>
      <p:sp>
        <p:nvSpPr>
          <p:cNvPr id="9" name="object 9"/>
          <p:cNvSpPr/>
          <p:nvPr/>
        </p:nvSpPr>
        <p:spPr>
          <a:xfrm>
            <a:off x="2152258" y="2605291"/>
            <a:ext cx="78105" cy="483870"/>
          </a:xfrm>
          <a:custGeom>
            <a:avLst/>
            <a:gdLst/>
            <a:ahLst/>
            <a:cxnLst/>
            <a:rect l="l" t="t" r="r" b="b"/>
            <a:pathLst>
              <a:path w="78105" h="483869">
                <a:moveTo>
                  <a:pt x="6851" y="413670"/>
                </a:moveTo>
                <a:lnTo>
                  <a:pt x="902" y="417388"/>
                </a:lnTo>
                <a:lnTo>
                  <a:pt x="0" y="421305"/>
                </a:lnTo>
                <a:lnTo>
                  <a:pt x="38992" y="483694"/>
                </a:lnTo>
                <a:lnTo>
                  <a:pt x="46480" y="471714"/>
                </a:lnTo>
                <a:lnTo>
                  <a:pt x="32642" y="471714"/>
                </a:lnTo>
                <a:lnTo>
                  <a:pt x="32642" y="449572"/>
                </a:lnTo>
                <a:lnTo>
                  <a:pt x="10769" y="414574"/>
                </a:lnTo>
                <a:lnTo>
                  <a:pt x="6851" y="413670"/>
                </a:lnTo>
                <a:close/>
              </a:path>
              <a:path w="78105" h="483869">
                <a:moveTo>
                  <a:pt x="32642" y="449572"/>
                </a:moveTo>
                <a:lnTo>
                  <a:pt x="32642" y="471714"/>
                </a:lnTo>
                <a:lnTo>
                  <a:pt x="45342" y="471714"/>
                </a:lnTo>
                <a:lnTo>
                  <a:pt x="45342" y="468348"/>
                </a:lnTo>
                <a:lnTo>
                  <a:pt x="33608" y="468348"/>
                </a:lnTo>
                <a:lnTo>
                  <a:pt x="38992" y="459732"/>
                </a:lnTo>
                <a:lnTo>
                  <a:pt x="32642" y="449572"/>
                </a:lnTo>
                <a:close/>
              </a:path>
              <a:path w="78105" h="483869">
                <a:moveTo>
                  <a:pt x="71133" y="413670"/>
                </a:moveTo>
                <a:lnTo>
                  <a:pt x="67217" y="414574"/>
                </a:lnTo>
                <a:lnTo>
                  <a:pt x="45343" y="449572"/>
                </a:lnTo>
                <a:lnTo>
                  <a:pt x="45342" y="471714"/>
                </a:lnTo>
                <a:lnTo>
                  <a:pt x="46480" y="471714"/>
                </a:lnTo>
                <a:lnTo>
                  <a:pt x="77986" y="421305"/>
                </a:lnTo>
                <a:lnTo>
                  <a:pt x="77082" y="417388"/>
                </a:lnTo>
                <a:lnTo>
                  <a:pt x="71133" y="413670"/>
                </a:lnTo>
                <a:close/>
              </a:path>
              <a:path w="78105" h="483869">
                <a:moveTo>
                  <a:pt x="38992" y="459732"/>
                </a:moveTo>
                <a:lnTo>
                  <a:pt x="33608" y="468348"/>
                </a:lnTo>
                <a:lnTo>
                  <a:pt x="44377" y="468348"/>
                </a:lnTo>
                <a:lnTo>
                  <a:pt x="38992" y="459732"/>
                </a:lnTo>
                <a:close/>
              </a:path>
              <a:path w="78105" h="483869">
                <a:moveTo>
                  <a:pt x="45342" y="449573"/>
                </a:moveTo>
                <a:lnTo>
                  <a:pt x="38992" y="459732"/>
                </a:lnTo>
                <a:lnTo>
                  <a:pt x="44377" y="468348"/>
                </a:lnTo>
                <a:lnTo>
                  <a:pt x="45342" y="468348"/>
                </a:lnTo>
                <a:lnTo>
                  <a:pt x="45342" y="449573"/>
                </a:lnTo>
                <a:close/>
              </a:path>
              <a:path w="78105" h="483869">
                <a:moveTo>
                  <a:pt x="45341" y="0"/>
                </a:moveTo>
                <a:lnTo>
                  <a:pt x="32641" y="0"/>
                </a:lnTo>
                <a:lnTo>
                  <a:pt x="32643" y="449573"/>
                </a:lnTo>
                <a:lnTo>
                  <a:pt x="38992" y="459732"/>
                </a:lnTo>
                <a:lnTo>
                  <a:pt x="45342" y="449573"/>
                </a:lnTo>
                <a:lnTo>
                  <a:pt x="45341" y="0"/>
                </a:lnTo>
                <a:close/>
              </a:path>
            </a:pathLst>
          </a:custGeom>
          <a:solidFill>
            <a:srgbClr val="000000"/>
          </a:solidFill>
        </p:spPr>
        <p:txBody>
          <a:bodyPr wrap="square" lIns="0" tIns="0" rIns="0" bIns="0" rtlCol="0"/>
          <a:lstStyle/>
          <a:p>
            <a:endParaRPr/>
          </a:p>
        </p:txBody>
      </p:sp>
      <p:sp>
        <p:nvSpPr>
          <p:cNvPr id="10" name="object 10"/>
          <p:cNvSpPr/>
          <p:nvPr/>
        </p:nvSpPr>
        <p:spPr>
          <a:xfrm>
            <a:off x="2364036" y="2599580"/>
            <a:ext cx="1013460" cy="506095"/>
          </a:xfrm>
          <a:custGeom>
            <a:avLst/>
            <a:gdLst/>
            <a:ahLst/>
            <a:cxnLst/>
            <a:rect l="l" t="t" r="r" b="b"/>
            <a:pathLst>
              <a:path w="1013460" h="506094">
                <a:moveTo>
                  <a:pt x="42934" y="434590"/>
                </a:moveTo>
                <a:lnTo>
                  <a:pt x="39016" y="435493"/>
                </a:lnTo>
                <a:lnTo>
                  <a:pt x="0" y="497867"/>
                </a:lnTo>
                <a:lnTo>
                  <a:pt x="73164" y="505607"/>
                </a:lnTo>
                <a:lnTo>
                  <a:pt x="76290" y="503078"/>
                </a:lnTo>
                <a:lnTo>
                  <a:pt x="76792" y="498334"/>
                </a:lnTo>
                <a:lnTo>
                  <a:pt x="13545" y="498334"/>
                </a:lnTo>
                <a:lnTo>
                  <a:pt x="7984" y="486916"/>
                </a:lnTo>
                <a:lnTo>
                  <a:pt x="27895" y="477219"/>
                </a:lnTo>
                <a:lnTo>
                  <a:pt x="49784" y="442227"/>
                </a:lnTo>
                <a:lnTo>
                  <a:pt x="48881" y="438310"/>
                </a:lnTo>
                <a:lnTo>
                  <a:pt x="42934" y="434590"/>
                </a:lnTo>
                <a:close/>
              </a:path>
              <a:path w="1013460" h="506094">
                <a:moveTo>
                  <a:pt x="27895" y="477219"/>
                </a:moveTo>
                <a:lnTo>
                  <a:pt x="7984" y="486916"/>
                </a:lnTo>
                <a:lnTo>
                  <a:pt x="13545" y="498334"/>
                </a:lnTo>
                <a:lnTo>
                  <a:pt x="18359" y="495989"/>
                </a:lnTo>
                <a:lnTo>
                  <a:pt x="16154" y="495989"/>
                </a:lnTo>
                <a:lnTo>
                  <a:pt x="11438" y="486307"/>
                </a:lnTo>
                <a:lnTo>
                  <a:pt x="22211" y="486307"/>
                </a:lnTo>
                <a:lnTo>
                  <a:pt x="27895" y="477219"/>
                </a:lnTo>
                <a:close/>
              </a:path>
              <a:path w="1013460" h="506094">
                <a:moveTo>
                  <a:pt x="33458" y="488636"/>
                </a:moveTo>
                <a:lnTo>
                  <a:pt x="13545" y="498334"/>
                </a:lnTo>
                <a:lnTo>
                  <a:pt x="76792" y="498334"/>
                </a:lnTo>
                <a:lnTo>
                  <a:pt x="76841" y="497867"/>
                </a:lnTo>
                <a:lnTo>
                  <a:pt x="76935" y="495989"/>
                </a:lnTo>
                <a:lnTo>
                  <a:pt x="74500" y="492977"/>
                </a:lnTo>
                <a:lnTo>
                  <a:pt x="33458" y="488636"/>
                </a:lnTo>
                <a:close/>
              </a:path>
              <a:path w="1013460" h="506094">
                <a:moveTo>
                  <a:pt x="11438" y="486307"/>
                </a:moveTo>
                <a:lnTo>
                  <a:pt x="16154" y="495989"/>
                </a:lnTo>
                <a:lnTo>
                  <a:pt x="21542" y="487375"/>
                </a:lnTo>
                <a:lnTo>
                  <a:pt x="11438" y="486307"/>
                </a:lnTo>
                <a:close/>
              </a:path>
              <a:path w="1013460" h="506094">
                <a:moveTo>
                  <a:pt x="21542" y="487375"/>
                </a:moveTo>
                <a:lnTo>
                  <a:pt x="16154" y="495989"/>
                </a:lnTo>
                <a:lnTo>
                  <a:pt x="18359" y="495989"/>
                </a:lnTo>
                <a:lnTo>
                  <a:pt x="33458" y="488636"/>
                </a:lnTo>
                <a:lnTo>
                  <a:pt x="21542" y="487375"/>
                </a:lnTo>
                <a:close/>
              </a:path>
              <a:path w="1013460" h="506094">
                <a:moveTo>
                  <a:pt x="1007747" y="0"/>
                </a:moveTo>
                <a:lnTo>
                  <a:pt x="27895" y="477219"/>
                </a:lnTo>
                <a:lnTo>
                  <a:pt x="21542" y="487375"/>
                </a:lnTo>
                <a:lnTo>
                  <a:pt x="33458" y="488636"/>
                </a:lnTo>
                <a:lnTo>
                  <a:pt x="1013308" y="11418"/>
                </a:lnTo>
                <a:lnTo>
                  <a:pt x="1007747" y="0"/>
                </a:lnTo>
                <a:close/>
              </a:path>
              <a:path w="1013460" h="506094">
                <a:moveTo>
                  <a:pt x="22211" y="486307"/>
                </a:moveTo>
                <a:lnTo>
                  <a:pt x="11438" y="486307"/>
                </a:lnTo>
                <a:lnTo>
                  <a:pt x="21542" y="487375"/>
                </a:lnTo>
                <a:lnTo>
                  <a:pt x="22211" y="486307"/>
                </a:lnTo>
                <a:close/>
              </a:path>
            </a:pathLst>
          </a:custGeom>
          <a:solidFill>
            <a:srgbClr val="000000"/>
          </a:solidFill>
        </p:spPr>
        <p:txBody>
          <a:bodyPr wrap="square" lIns="0" tIns="0" rIns="0" bIns="0" rtlCol="0"/>
          <a:lstStyle/>
          <a:p>
            <a:endParaRPr/>
          </a:p>
        </p:txBody>
      </p:sp>
      <p:pic>
        <p:nvPicPr>
          <p:cNvPr id="11" name="object 11"/>
          <p:cNvPicPr/>
          <p:nvPr/>
        </p:nvPicPr>
        <p:blipFill>
          <a:blip r:embed="rId3" cstate="print"/>
          <a:stretch>
            <a:fillRect/>
          </a:stretch>
        </p:blipFill>
        <p:spPr>
          <a:xfrm>
            <a:off x="2151104" y="3368104"/>
            <a:ext cx="77986" cy="208470"/>
          </a:xfrm>
          <a:prstGeom prst="rect">
            <a:avLst/>
          </a:prstGeom>
        </p:spPr>
      </p:pic>
      <p:pic>
        <p:nvPicPr>
          <p:cNvPr id="12" name="object 12"/>
          <p:cNvPicPr/>
          <p:nvPr/>
        </p:nvPicPr>
        <p:blipFill>
          <a:blip r:embed="rId4" cstate="print"/>
          <a:stretch>
            <a:fillRect/>
          </a:stretch>
        </p:blipFill>
        <p:spPr>
          <a:xfrm>
            <a:off x="1127647" y="2115205"/>
            <a:ext cx="77987" cy="208471"/>
          </a:xfrm>
          <a:prstGeom prst="rect">
            <a:avLst/>
          </a:prstGeom>
        </p:spPr>
      </p:pic>
      <p:pic>
        <p:nvPicPr>
          <p:cNvPr id="13" name="object 13"/>
          <p:cNvPicPr/>
          <p:nvPr/>
        </p:nvPicPr>
        <p:blipFill>
          <a:blip r:embed="rId5" cstate="print"/>
          <a:stretch>
            <a:fillRect/>
          </a:stretch>
        </p:blipFill>
        <p:spPr>
          <a:xfrm>
            <a:off x="2152257" y="2115206"/>
            <a:ext cx="77988" cy="208470"/>
          </a:xfrm>
          <a:prstGeom prst="rect">
            <a:avLst/>
          </a:prstGeom>
        </p:spPr>
      </p:pic>
      <p:pic>
        <p:nvPicPr>
          <p:cNvPr id="14" name="object 14"/>
          <p:cNvPicPr/>
          <p:nvPr/>
        </p:nvPicPr>
        <p:blipFill>
          <a:blip r:embed="rId6" cstate="print"/>
          <a:stretch>
            <a:fillRect/>
          </a:stretch>
        </p:blipFill>
        <p:spPr>
          <a:xfrm>
            <a:off x="3335572" y="2115205"/>
            <a:ext cx="77986" cy="208470"/>
          </a:xfrm>
          <a:prstGeom prst="rect">
            <a:avLst/>
          </a:prstGeom>
        </p:spPr>
      </p:pic>
      <p:grpSp>
        <p:nvGrpSpPr>
          <p:cNvPr id="15" name="object 15"/>
          <p:cNvGrpSpPr/>
          <p:nvPr/>
        </p:nvGrpSpPr>
        <p:grpSpPr>
          <a:xfrm>
            <a:off x="4572000" y="2436968"/>
            <a:ext cx="4053840" cy="1169670"/>
            <a:chOff x="4572000" y="2436968"/>
            <a:chExt cx="4053840" cy="1169670"/>
          </a:xfrm>
        </p:grpSpPr>
        <p:sp>
          <p:nvSpPr>
            <p:cNvPr id="16" name="object 16"/>
            <p:cNvSpPr/>
            <p:nvPr/>
          </p:nvSpPr>
          <p:spPr>
            <a:xfrm>
              <a:off x="4572000" y="2436968"/>
              <a:ext cx="4053840" cy="1169670"/>
            </a:xfrm>
            <a:custGeom>
              <a:avLst/>
              <a:gdLst/>
              <a:ahLst/>
              <a:cxnLst/>
              <a:rect l="l" t="t" r="r" b="b"/>
              <a:pathLst>
                <a:path w="4053840" h="1169670">
                  <a:moveTo>
                    <a:pt x="4053253" y="0"/>
                  </a:moveTo>
                  <a:lnTo>
                    <a:pt x="0" y="0"/>
                  </a:lnTo>
                  <a:lnTo>
                    <a:pt x="0" y="1169621"/>
                  </a:lnTo>
                  <a:lnTo>
                    <a:pt x="4053253" y="1169621"/>
                  </a:lnTo>
                  <a:lnTo>
                    <a:pt x="4053253" y="0"/>
                  </a:lnTo>
                  <a:close/>
                </a:path>
              </a:pathLst>
            </a:custGeom>
            <a:solidFill>
              <a:srgbClr val="FFF2CC"/>
            </a:solidFill>
          </p:spPr>
          <p:txBody>
            <a:bodyPr wrap="square" lIns="0" tIns="0" rIns="0" bIns="0" rtlCol="0"/>
            <a:lstStyle/>
            <a:p>
              <a:endParaRPr/>
            </a:p>
          </p:txBody>
        </p:sp>
        <p:sp>
          <p:nvSpPr>
            <p:cNvPr id="17" name="object 17"/>
            <p:cNvSpPr/>
            <p:nvPr/>
          </p:nvSpPr>
          <p:spPr>
            <a:xfrm>
              <a:off x="5295836" y="3107689"/>
              <a:ext cx="250190" cy="200660"/>
            </a:xfrm>
            <a:custGeom>
              <a:avLst/>
              <a:gdLst/>
              <a:ahLst/>
              <a:cxnLst/>
              <a:rect l="l" t="t" r="r" b="b"/>
              <a:pathLst>
                <a:path w="250189" h="200660">
                  <a:moveTo>
                    <a:pt x="47028" y="0"/>
                  </a:moveTo>
                  <a:lnTo>
                    <a:pt x="0" y="0"/>
                  </a:lnTo>
                  <a:lnTo>
                    <a:pt x="0" y="7620"/>
                  </a:lnTo>
                  <a:lnTo>
                    <a:pt x="0" y="193040"/>
                  </a:lnTo>
                  <a:lnTo>
                    <a:pt x="0" y="200660"/>
                  </a:lnTo>
                  <a:lnTo>
                    <a:pt x="47028" y="200660"/>
                  </a:lnTo>
                  <a:lnTo>
                    <a:pt x="47028" y="193040"/>
                  </a:lnTo>
                  <a:lnTo>
                    <a:pt x="17500" y="193040"/>
                  </a:lnTo>
                  <a:lnTo>
                    <a:pt x="17500" y="7620"/>
                  </a:lnTo>
                  <a:lnTo>
                    <a:pt x="47028" y="7620"/>
                  </a:lnTo>
                  <a:lnTo>
                    <a:pt x="47028" y="0"/>
                  </a:lnTo>
                  <a:close/>
                </a:path>
                <a:path w="250189" h="200660">
                  <a:moveTo>
                    <a:pt x="250151" y="0"/>
                  </a:moveTo>
                  <a:lnTo>
                    <a:pt x="203136" y="0"/>
                  </a:lnTo>
                  <a:lnTo>
                    <a:pt x="203136" y="7620"/>
                  </a:lnTo>
                  <a:lnTo>
                    <a:pt x="232651" y="7620"/>
                  </a:lnTo>
                  <a:lnTo>
                    <a:pt x="232651" y="193040"/>
                  </a:lnTo>
                  <a:lnTo>
                    <a:pt x="203136" y="193040"/>
                  </a:lnTo>
                  <a:lnTo>
                    <a:pt x="203136" y="200660"/>
                  </a:lnTo>
                  <a:lnTo>
                    <a:pt x="250151" y="200660"/>
                  </a:lnTo>
                  <a:lnTo>
                    <a:pt x="250151" y="193040"/>
                  </a:lnTo>
                  <a:lnTo>
                    <a:pt x="250151" y="7620"/>
                  </a:lnTo>
                  <a:lnTo>
                    <a:pt x="250151" y="0"/>
                  </a:lnTo>
                  <a:close/>
                </a:path>
              </a:pathLst>
            </a:custGeom>
            <a:solidFill>
              <a:srgbClr val="000000"/>
            </a:solidFill>
          </p:spPr>
          <p:txBody>
            <a:bodyPr wrap="square" lIns="0" tIns="0" rIns="0" bIns="0" rtlCol="0"/>
            <a:lstStyle/>
            <a:p>
              <a:endParaRPr/>
            </a:p>
          </p:txBody>
        </p:sp>
      </p:grpSp>
      <p:sp>
        <p:nvSpPr>
          <p:cNvPr id="18" name="object 18"/>
          <p:cNvSpPr txBox="1"/>
          <p:nvPr/>
        </p:nvSpPr>
        <p:spPr>
          <a:xfrm>
            <a:off x="4572000" y="2436968"/>
            <a:ext cx="4053840" cy="1019810"/>
          </a:xfrm>
          <a:prstGeom prst="rect">
            <a:avLst/>
          </a:prstGeom>
          <a:ln w="12700">
            <a:solidFill>
              <a:srgbClr val="000000"/>
            </a:solidFill>
          </a:ln>
        </p:spPr>
        <p:txBody>
          <a:bodyPr vert="horz" wrap="square" lIns="0" tIns="31750" rIns="0" bIns="0" rtlCol="0">
            <a:spAutoFit/>
          </a:bodyPr>
          <a:lstStyle/>
          <a:p>
            <a:pPr marL="231140">
              <a:lnSpc>
                <a:spcPct val="100000"/>
              </a:lnSpc>
              <a:spcBef>
                <a:spcPts val="250"/>
              </a:spcBef>
            </a:pPr>
            <a:r>
              <a:rPr sz="1800" b="1" u="sng" spc="-5" dirty="0">
                <a:uFill>
                  <a:solidFill>
                    <a:srgbClr val="000000"/>
                  </a:solidFill>
                </a:uFill>
                <a:latin typeface="Palatino Linotype" panose="02040502050505030304"/>
                <a:cs typeface="Palatino Linotype" panose="02040502050505030304"/>
              </a:rPr>
              <a:t>Forward-flow</a:t>
            </a:r>
            <a:r>
              <a:rPr sz="1800" b="1" u="sng" spc="-20" dirty="0">
                <a:uFill>
                  <a:solidFill>
                    <a:srgbClr val="000000"/>
                  </a:solidFill>
                </a:uFill>
                <a:latin typeface="Palatino Linotype" panose="02040502050505030304"/>
                <a:cs typeface="Palatino Linotype" panose="02040502050505030304"/>
              </a:rPr>
              <a:t> </a:t>
            </a:r>
            <a:r>
              <a:rPr sz="1800" b="1" u="sng" spc="-5" dirty="0">
                <a:uFill>
                  <a:solidFill>
                    <a:srgbClr val="000000"/>
                  </a:solidFill>
                </a:uFill>
                <a:latin typeface="Palatino Linotype" panose="02040502050505030304"/>
                <a:cs typeface="Palatino Linotype" panose="02040502050505030304"/>
              </a:rPr>
              <a:t>problem</a:t>
            </a:r>
            <a:r>
              <a:rPr sz="1800" b="1" spc="-5" dirty="0">
                <a:latin typeface="Palatino Linotype" panose="02040502050505030304"/>
                <a:cs typeface="Palatino Linotype" panose="02040502050505030304"/>
              </a:rPr>
              <a:t>:</a:t>
            </a:r>
            <a:endParaRPr sz="1800" dirty="0">
              <a:latin typeface="Palatino Linotype" panose="02040502050505030304"/>
              <a:cs typeface="Palatino Linotype" panose="02040502050505030304"/>
            </a:endParaRPr>
          </a:p>
          <a:p>
            <a:pPr>
              <a:lnSpc>
                <a:spcPct val="100000"/>
              </a:lnSpc>
              <a:spcBef>
                <a:spcPts val="20"/>
              </a:spcBef>
            </a:pPr>
            <a:endParaRPr sz="1800" dirty="0">
              <a:latin typeface="Palatino Linotype" panose="02040502050505030304"/>
              <a:cs typeface="Palatino Linotype" panose="02040502050505030304"/>
            </a:endParaRPr>
          </a:p>
          <a:p>
            <a:pPr marL="481965">
              <a:lnSpc>
                <a:spcPts val="1980"/>
              </a:lnSpc>
              <a:spcBef>
                <a:spcPts val="5"/>
              </a:spcBef>
              <a:tabLst>
                <a:tab pos="1057275" algn="l"/>
                <a:tab pos="3143885" algn="l"/>
              </a:tabLst>
            </a:pPr>
            <a:r>
              <a:rPr sz="1700" spc="-5" dirty="0">
                <a:latin typeface="Cambria Math" panose="02040503050406030204"/>
                <a:cs typeface="Cambria Math" panose="02040503050406030204"/>
              </a:rPr>
              <a:t>IN</a:t>
            </a:r>
            <a:r>
              <a:rPr sz="1700" spc="225" dirty="0">
                <a:latin typeface="Cambria Math" panose="02040503050406030204"/>
                <a:cs typeface="Cambria Math" panose="02040503050406030204"/>
              </a:rPr>
              <a:t> </a:t>
            </a:r>
            <a:r>
              <a:rPr sz="1700" dirty="0">
                <a:latin typeface="Cambria Math" panose="02040503050406030204"/>
                <a:cs typeface="Cambria Math" panose="02040503050406030204"/>
              </a:rPr>
              <a:t>𝐵	=</a:t>
            </a:r>
            <a:r>
              <a:rPr sz="1700" spc="100" dirty="0">
                <a:latin typeface="Cambria Math" panose="02040503050406030204"/>
                <a:cs typeface="Cambria Math" panose="02040503050406030204"/>
              </a:rPr>
              <a:t> </a:t>
            </a:r>
            <a:r>
              <a:rPr lang="en-US" sz="1700" spc="850" dirty="0">
                <a:latin typeface="Cambria Math" panose="02040503050406030204"/>
                <a:cs typeface="Cambria Math" panose="02040503050406030204"/>
              </a:rPr>
              <a:t>U</a:t>
            </a:r>
            <a:r>
              <a:rPr sz="1700" spc="850" dirty="0">
                <a:latin typeface="Cambria Math" panose="02040503050406030204"/>
                <a:cs typeface="Cambria Math" panose="02040503050406030204"/>
              </a:rPr>
              <a:t>	</a:t>
            </a:r>
            <a:r>
              <a:rPr sz="1700" spc="5" dirty="0">
                <a:latin typeface="Cambria Math" panose="02040503050406030204"/>
                <a:cs typeface="Cambria Math" panose="02040503050406030204"/>
              </a:rPr>
              <a:t>OUT[𝑃]</a:t>
            </a:r>
            <a:endParaRPr sz="1700" dirty="0">
              <a:latin typeface="Cambria Math" panose="02040503050406030204"/>
              <a:cs typeface="Cambria Math" panose="02040503050406030204"/>
            </a:endParaRPr>
          </a:p>
          <a:p>
            <a:pPr marL="1579880">
              <a:lnSpc>
                <a:spcPts val="1380"/>
              </a:lnSpc>
            </a:pPr>
            <a:r>
              <a:rPr sz="1200" spc="30" dirty="0">
                <a:latin typeface="Cambria Math" panose="02040503050406030204"/>
                <a:cs typeface="Cambria Math" panose="02040503050406030204"/>
              </a:rPr>
              <a:t>𝑃</a:t>
            </a:r>
            <a:r>
              <a:rPr lang="en-US" sz="1200" spc="30" dirty="0">
                <a:latin typeface="Cambria Math" panose="02040503050406030204"/>
                <a:cs typeface="Cambria Math" panose="02040503050406030204"/>
              </a:rPr>
              <a:t> a predecessor of B</a:t>
            </a:r>
          </a:p>
        </p:txBody>
      </p:sp>
      <p:grpSp>
        <p:nvGrpSpPr>
          <p:cNvPr id="19" name="object 19"/>
          <p:cNvGrpSpPr/>
          <p:nvPr/>
        </p:nvGrpSpPr>
        <p:grpSpPr>
          <a:xfrm>
            <a:off x="4572000" y="4248270"/>
            <a:ext cx="4053840" cy="1169670"/>
            <a:chOff x="4572000" y="4248270"/>
            <a:chExt cx="4053840" cy="1169670"/>
          </a:xfrm>
        </p:grpSpPr>
        <p:sp>
          <p:nvSpPr>
            <p:cNvPr id="20" name="object 20"/>
            <p:cNvSpPr/>
            <p:nvPr/>
          </p:nvSpPr>
          <p:spPr>
            <a:xfrm>
              <a:off x="4572000" y="4248270"/>
              <a:ext cx="4053840" cy="1169670"/>
            </a:xfrm>
            <a:custGeom>
              <a:avLst/>
              <a:gdLst/>
              <a:ahLst/>
              <a:cxnLst/>
              <a:rect l="l" t="t" r="r" b="b"/>
              <a:pathLst>
                <a:path w="4053840" h="1169670">
                  <a:moveTo>
                    <a:pt x="4053253" y="0"/>
                  </a:moveTo>
                  <a:lnTo>
                    <a:pt x="0" y="0"/>
                  </a:lnTo>
                  <a:lnTo>
                    <a:pt x="0" y="1169621"/>
                  </a:lnTo>
                  <a:lnTo>
                    <a:pt x="4053253" y="1169621"/>
                  </a:lnTo>
                  <a:lnTo>
                    <a:pt x="4053253" y="0"/>
                  </a:lnTo>
                  <a:close/>
                </a:path>
              </a:pathLst>
            </a:custGeom>
            <a:solidFill>
              <a:srgbClr val="FFF2CC"/>
            </a:solidFill>
          </p:spPr>
          <p:txBody>
            <a:bodyPr wrap="square" lIns="0" tIns="0" rIns="0" bIns="0" rtlCol="0"/>
            <a:lstStyle/>
            <a:p>
              <a:endParaRPr/>
            </a:p>
          </p:txBody>
        </p:sp>
        <p:sp>
          <p:nvSpPr>
            <p:cNvPr id="21" name="object 21"/>
            <p:cNvSpPr/>
            <p:nvPr/>
          </p:nvSpPr>
          <p:spPr>
            <a:xfrm>
              <a:off x="5480050" y="4918709"/>
              <a:ext cx="250190" cy="200660"/>
            </a:xfrm>
            <a:custGeom>
              <a:avLst/>
              <a:gdLst/>
              <a:ahLst/>
              <a:cxnLst/>
              <a:rect l="l" t="t" r="r" b="b"/>
              <a:pathLst>
                <a:path w="250189" h="200660">
                  <a:moveTo>
                    <a:pt x="47028" y="0"/>
                  </a:moveTo>
                  <a:lnTo>
                    <a:pt x="0" y="0"/>
                  </a:lnTo>
                  <a:lnTo>
                    <a:pt x="0" y="7620"/>
                  </a:lnTo>
                  <a:lnTo>
                    <a:pt x="0" y="193040"/>
                  </a:lnTo>
                  <a:lnTo>
                    <a:pt x="0" y="200660"/>
                  </a:lnTo>
                  <a:lnTo>
                    <a:pt x="47028" y="200660"/>
                  </a:lnTo>
                  <a:lnTo>
                    <a:pt x="47028" y="193040"/>
                  </a:lnTo>
                  <a:lnTo>
                    <a:pt x="17500" y="193040"/>
                  </a:lnTo>
                  <a:lnTo>
                    <a:pt x="17500" y="7620"/>
                  </a:lnTo>
                  <a:lnTo>
                    <a:pt x="47028" y="7620"/>
                  </a:lnTo>
                  <a:lnTo>
                    <a:pt x="47028" y="0"/>
                  </a:lnTo>
                  <a:close/>
                </a:path>
                <a:path w="250189" h="200660">
                  <a:moveTo>
                    <a:pt x="250151" y="0"/>
                  </a:moveTo>
                  <a:lnTo>
                    <a:pt x="203136" y="0"/>
                  </a:lnTo>
                  <a:lnTo>
                    <a:pt x="203136" y="7620"/>
                  </a:lnTo>
                  <a:lnTo>
                    <a:pt x="232651" y="7620"/>
                  </a:lnTo>
                  <a:lnTo>
                    <a:pt x="232651" y="193040"/>
                  </a:lnTo>
                  <a:lnTo>
                    <a:pt x="203136" y="193040"/>
                  </a:lnTo>
                  <a:lnTo>
                    <a:pt x="203136" y="200660"/>
                  </a:lnTo>
                  <a:lnTo>
                    <a:pt x="250151" y="200660"/>
                  </a:lnTo>
                  <a:lnTo>
                    <a:pt x="250151" y="193040"/>
                  </a:lnTo>
                  <a:lnTo>
                    <a:pt x="250151" y="7620"/>
                  </a:lnTo>
                  <a:lnTo>
                    <a:pt x="250151" y="0"/>
                  </a:lnTo>
                  <a:close/>
                </a:path>
              </a:pathLst>
            </a:custGeom>
            <a:solidFill>
              <a:srgbClr val="000000"/>
            </a:solidFill>
          </p:spPr>
          <p:txBody>
            <a:bodyPr wrap="square" lIns="0" tIns="0" rIns="0" bIns="0" rtlCol="0"/>
            <a:lstStyle/>
            <a:p>
              <a:endParaRPr/>
            </a:p>
          </p:txBody>
        </p:sp>
      </p:grpSp>
      <p:sp>
        <p:nvSpPr>
          <p:cNvPr id="22" name="object 22"/>
          <p:cNvSpPr txBox="1"/>
          <p:nvPr/>
        </p:nvSpPr>
        <p:spPr>
          <a:xfrm>
            <a:off x="4572000" y="4248270"/>
            <a:ext cx="4053840" cy="1017905"/>
          </a:xfrm>
          <a:prstGeom prst="rect">
            <a:avLst/>
          </a:prstGeom>
          <a:ln w="12700">
            <a:solidFill>
              <a:srgbClr val="000000"/>
            </a:solidFill>
          </a:ln>
        </p:spPr>
        <p:txBody>
          <a:bodyPr vert="horz" wrap="square" lIns="0" tIns="34290" rIns="0" bIns="0" rtlCol="0">
            <a:spAutoFit/>
          </a:bodyPr>
          <a:lstStyle/>
          <a:p>
            <a:pPr marL="231140">
              <a:lnSpc>
                <a:spcPct val="100000"/>
              </a:lnSpc>
              <a:spcBef>
                <a:spcPts val="270"/>
              </a:spcBef>
            </a:pPr>
            <a:r>
              <a:rPr sz="1800" b="1" u="sng" spc="-5" dirty="0">
                <a:uFill>
                  <a:solidFill>
                    <a:srgbClr val="000000"/>
                  </a:solidFill>
                </a:uFill>
                <a:latin typeface="Palatino Linotype" panose="02040502050505030304"/>
                <a:cs typeface="Palatino Linotype" panose="02040502050505030304"/>
              </a:rPr>
              <a:t>Backward-flow</a:t>
            </a:r>
            <a:r>
              <a:rPr sz="1800" b="1" u="sng" spc="-15" dirty="0">
                <a:uFill>
                  <a:solidFill>
                    <a:srgbClr val="000000"/>
                  </a:solidFill>
                </a:uFill>
                <a:latin typeface="Palatino Linotype" panose="02040502050505030304"/>
                <a:cs typeface="Palatino Linotype" panose="02040502050505030304"/>
              </a:rPr>
              <a:t> </a:t>
            </a:r>
            <a:r>
              <a:rPr sz="1800" b="1" u="sng" spc="-5" dirty="0">
                <a:uFill>
                  <a:solidFill>
                    <a:srgbClr val="000000"/>
                  </a:solidFill>
                </a:uFill>
                <a:latin typeface="Palatino Linotype" panose="02040502050505030304"/>
                <a:cs typeface="Palatino Linotype" panose="02040502050505030304"/>
              </a:rPr>
              <a:t>problem</a:t>
            </a:r>
            <a:r>
              <a:rPr sz="1800" b="1" spc="-5" dirty="0">
                <a:latin typeface="Palatino Linotype" panose="02040502050505030304"/>
                <a:cs typeface="Palatino Linotype" panose="02040502050505030304"/>
              </a:rPr>
              <a:t>:</a:t>
            </a:r>
            <a:endParaRPr sz="1800" dirty="0">
              <a:latin typeface="Palatino Linotype" panose="02040502050505030304"/>
              <a:cs typeface="Palatino Linotype" panose="02040502050505030304"/>
            </a:endParaRPr>
          </a:p>
          <a:p>
            <a:pPr>
              <a:lnSpc>
                <a:spcPct val="100000"/>
              </a:lnSpc>
              <a:spcBef>
                <a:spcPts val="20"/>
              </a:spcBef>
            </a:pPr>
            <a:endParaRPr sz="1800" dirty="0">
              <a:latin typeface="Palatino Linotype" panose="02040502050505030304"/>
              <a:cs typeface="Palatino Linotype" panose="02040502050505030304"/>
            </a:endParaRPr>
          </a:p>
          <a:p>
            <a:pPr marL="31750" algn="ctr">
              <a:lnSpc>
                <a:spcPts val="1965"/>
              </a:lnSpc>
              <a:tabLst>
                <a:tab pos="798830" algn="l"/>
                <a:tab pos="2679700" algn="l"/>
              </a:tabLst>
            </a:pPr>
            <a:r>
              <a:rPr sz="1700" spc="-5" dirty="0">
                <a:latin typeface="Cambria Math" panose="02040503050406030204"/>
                <a:cs typeface="Cambria Math" panose="02040503050406030204"/>
              </a:rPr>
              <a:t>OUT</a:t>
            </a:r>
            <a:r>
              <a:rPr sz="1700" spc="225" dirty="0">
                <a:latin typeface="Cambria Math" panose="02040503050406030204"/>
                <a:cs typeface="Cambria Math" panose="02040503050406030204"/>
              </a:rPr>
              <a:t> </a:t>
            </a:r>
            <a:r>
              <a:rPr sz="1700" dirty="0">
                <a:latin typeface="Cambria Math" panose="02040503050406030204"/>
                <a:cs typeface="Cambria Math" panose="02040503050406030204"/>
              </a:rPr>
              <a:t>𝐵	=</a:t>
            </a:r>
            <a:r>
              <a:rPr sz="1700" spc="100" dirty="0">
                <a:latin typeface="Cambria Math" panose="02040503050406030204"/>
                <a:cs typeface="Cambria Math" panose="02040503050406030204"/>
              </a:rPr>
              <a:t> </a:t>
            </a:r>
            <a:r>
              <a:rPr lang="en-US" sz="1700" spc="850" dirty="0">
                <a:latin typeface="Cambria Math" panose="02040503050406030204"/>
                <a:cs typeface="Cambria Math" panose="02040503050406030204"/>
              </a:rPr>
              <a:t>U</a:t>
            </a:r>
            <a:r>
              <a:rPr sz="1700" spc="850" dirty="0">
                <a:latin typeface="Cambria Math" panose="02040503050406030204"/>
                <a:cs typeface="Cambria Math" panose="02040503050406030204"/>
              </a:rPr>
              <a:t>	</a:t>
            </a:r>
            <a:r>
              <a:rPr sz="1700" spc="5" dirty="0">
                <a:latin typeface="Cambria Math" panose="02040503050406030204"/>
                <a:cs typeface="Cambria Math" panose="02040503050406030204"/>
              </a:rPr>
              <a:t>IN[𝑆]</a:t>
            </a:r>
            <a:endParaRPr sz="1700" dirty="0">
              <a:latin typeface="Cambria Math" panose="02040503050406030204"/>
              <a:cs typeface="Cambria Math" panose="02040503050406030204"/>
            </a:endParaRPr>
          </a:p>
          <a:p>
            <a:pPr marL="1764030">
              <a:lnSpc>
                <a:spcPts val="1365"/>
              </a:lnSpc>
            </a:pPr>
            <a:r>
              <a:rPr sz="1200" spc="25" dirty="0">
                <a:latin typeface="Cambria Math" panose="02040503050406030204"/>
                <a:cs typeface="Cambria Math" panose="02040503050406030204"/>
              </a:rPr>
              <a:t>𝑆</a:t>
            </a:r>
            <a:r>
              <a:rPr sz="1200" spc="310" dirty="0">
                <a:latin typeface="Cambria Math" panose="02040503050406030204"/>
                <a:cs typeface="Cambria Math" panose="02040503050406030204"/>
              </a:rPr>
              <a:t> </a:t>
            </a:r>
            <a:r>
              <a:rPr sz="1200" spc="75" dirty="0">
                <a:latin typeface="Cambria Math" panose="02040503050406030204"/>
                <a:cs typeface="Cambria Math" panose="02040503050406030204"/>
              </a:rPr>
              <a:t>a</a:t>
            </a:r>
            <a:r>
              <a:rPr sz="1200" spc="30" dirty="0">
                <a:latin typeface="Cambria Math" panose="02040503050406030204"/>
                <a:cs typeface="Cambria Math" panose="02040503050406030204"/>
              </a:rPr>
              <a:t> </a:t>
            </a:r>
            <a:r>
              <a:rPr lang="en-US" sz="1200" spc="45" dirty="0">
                <a:latin typeface="Cambria Math" panose="02040503050406030204"/>
                <a:cs typeface="Cambria Math" panose="02040503050406030204"/>
              </a:rPr>
              <a:t>successor of</a:t>
            </a:r>
            <a:r>
              <a:rPr sz="1200" spc="15" dirty="0">
                <a:latin typeface="Cambria Math" panose="02040503050406030204"/>
                <a:cs typeface="Cambria Math" panose="02040503050406030204"/>
              </a:rPr>
              <a:t> </a:t>
            </a:r>
            <a:r>
              <a:rPr sz="1200" spc="25" dirty="0">
                <a:latin typeface="Cambria Math" panose="02040503050406030204"/>
                <a:cs typeface="Cambria Math" panose="02040503050406030204"/>
              </a:rPr>
              <a:t>𝐵</a:t>
            </a:r>
            <a:endParaRPr sz="1200" dirty="0">
              <a:latin typeface="Cambria Math" panose="02040503050406030204"/>
              <a:cs typeface="Cambria Math" panose="02040503050406030204"/>
            </a:endParaRPr>
          </a:p>
        </p:txBody>
      </p:sp>
      <p:sp>
        <p:nvSpPr>
          <p:cNvPr id="23" name="object 23"/>
          <p:cNvSpPr txBox="1"/>
          <p:nvPr/>
        </p:nvSpPr>
        <p:spPr>
          <a:xfrm>
            <a:off x="1855482" y="4303566"/>
            <a:ext cx="671830" cy="281940"/>
          </a:xfrm>
          <a:prstGeom prst="rect">
            <a:avLst/>
          </a:prstGeom>
          <a:ln w="12700">
            <a:solidFill>
              <a:srgbClr val="000000"/>
            </a:solidFill>
          </a:ln>
        </p:spPr>
        <p:txBody>
          <a:bodyPr vert="horz" wrap="square" lIns="0" tIns="20320" rIns="0" bIns="0" rtlCol="0">
            <a:spAutoFit/>
          </a:bodyPr>
          <a:lstStyle/>
          <a:p>
            <a:pPr marL="635" algn="ctr">
              <a:lnSpc>
                <a:spcPct val="100000"/>
              </a:lnSpc>
              <a:spcBef>
                <a:spcPts val="160"/>
              </a:spcBef>
            </a:pPr>
            <a:r>
              <a:rPr sz="1400" i="1" dirty="0">
                <a:latin typeface="Palatino Linotype" panose="02040502050505030304"/>
                <a:cs typeface="Palatino Linotype" panose="02040502050505030304"/>
              </a:rPr>
              <a:t>B</a:t>
            </a:r>
            <a:endParaRPr sz="1400">
              <a:latin typeface="Palatino Linotype" panose="02040502050505030304"/>
              <a:cs typeface="Palatino Linotype" panose="02040502050505030304"/>
            </a:endParaRPr>
          </a:p>
        </p:txBody>
      </p:sp>
      <p:sp>
        <p:nvSpPr>
          <p:cNvPr id="24" name="object 24"/>
          <p:cNvSpPr txBox="1"/>
          <p:nvPr/>
        </p:nvSpPr>
        <p:spPr>
          <a:xfrm>
            <a:off x="830871" y="5080941"/>
            <a:ext cx="671830" cy="281940"/>
          </a:xfrm>
          <a:prstGeom prst="rect">
            <a:avLst/>
          </a:prstGeom>
          <a:ln w="12700">
            <a:solidFill>
              <a:srgbClr val="000000"/>
            </a:solidFill>
          </a:ln>
        </p:spPr>
        <p:txBody>
          <a:bodyPr vert="horz" wrap="square" lIns="0" tIns="20320" rIns="0" bIns="0" rtlCol="0">
            <a:spAutoFit/>
          </a:bodyPr>
          <a:lstStyle/>
          <a:p>
            <a:pPr algn="ctr">
              <a:lnSpc>
                <a:spcPct val="100000"/>
              </a:lnSpc>
              <a:spcBef>
                <a:spcPts val="160"/>
              </a:spcBef>
            </a:pPr>
            <a:r>
              <a:rPr sz="1400" i="1" spc="-5" dirty="0">
                <a:latin typeface="Palatino Linotype" panose="02040502050505030304"/>
                <a:cs typeface="Palatino Linotype" panose="02040502050505030304"/>
              </a:rPr>
              <a:t>S</a:t>
            </a:r>
            <a:r>
              <a:rPr sz="1350" spc="-7" baseline="-19000" dirty="0">
                <a:latin typeface="Palatino Linotype" panose="02040502050505030304"/>
                <a:cs typeface="Palatino Linotype" panose="02040502050505030304"/>
              </a:rPr>
              <a:t>1</a:t>
            </a:r>
            <a:endParaRPr sz="1350" baseline="-19000">
              <a:latin typeface="Palatino Linotype" panose="02040502050505030304"/>
              <a:cs typeface="Palatino Linotype" panose="02040502050505030304"/>
            </a:endParaRPr>
          </a:p>
        </p:txBody>
      </p:sp>
      <p:sp>
        <p:nvSpPr>
          <p:cNvPr id="25" name="object 25"/>
          <p:cNvSpPr txBox="1"/>
          <p:nvPr/>
        </p:nvSpPr>
        <p:spPr>
          <a:xfrm>
            <a:off x="1854329" y="5080941"/>
            <a:ext cx="671830" cy="281940"/>
          </a:xfrm>
          <a:prstGeom prst="rect">
            <a:avLst/>
          </a:prstGeom>
          <a:ln w="12700">
            <a:solidFill>
              <a:srgbClr val="000000"/>
            </a:solidFill>
          </a:ln>
        </p:spPr>
        <p:txBody>
          <a:bodyPr vert="horz" wrap="square" lIns="0" tIns="20320" rIns="0" bIns="0" rtlCol="0">
            <a:spAutoFit/>
          </a:bodyPr>
          <a:lstStyle/>
          <a:p>
            <a:pPr algn="ctr">
              <a:lnSpc>
                <a:spcPct val="100000"/>
              </a:lnSpc>
              <a:spcBef>
                <a:spcPts val="160"/>
              </a:spcBef>
            </a:pPr>
            <a:r>
              <a:rPr sz="1400" i="1" spc="-5" dirty="0">
                <a:latin typeface="Palatino Linotype" panose="02040502050505030304"/>
                <a:cs typeface="Palatino Linotype" panose="02040502050505030304"/>
              </a:rPr>
              <a:t>S</a:t>
            </a:r>
            <a:r>
              <a:rPr sz="1350" spc="-7" baseline="-19000" dirty="0">
                <a:latin typeface="Palatino Linotype" panose="02040502050505030304"/>
                <a:cs typeface="Palatino Linotype" panose="02040502050505030304"/>
              </a:rPr>
              <a:t>2</a:t>
            </a:r>
            <a:endParaRPr sz="1350" baseline="-19000">
              <a:latin typeface="Palatino Linotype" panose="02040502050505030304"/>
              <a:cs typeface="Palatino Linotype" panose="02040502050505030304"/>
            </a:endParaRPr>
          </a:p>
        </p:txBody>
      </p:sp>
      <p:sp>
        <p:nvSpPr>
          <p:cNvPr id="26" name="object 26"/>
          <p:cNvSpPr txBox="1"/>
          <p:nvPr/>
        </p:nvSpPr>
        <p:spPr>
          <a:xfrm>
            <a:off x="3038797" y="5087156"/>
            <a:ext cx="671830" cy="281940"/>
          </a:xfrm>
          <a:prstGeom prst="rect">
            <a:avLst/>
          </a:prstGeom>
          <a:ln w="12700">
            <a:solidFill>
              <a:srgbClr val="000000"/>
            </a:solidFill>
          </a:ln>
        </p:spPr>
        <p:txBody>
          <a:bodyPr vert="horz" wrap="square" lIns="0" tIns="20320" rIns="0" bIns="0" rtlCol="0">
            <a:spAutoFit/>
          </a:bodyPr>
          <a:lstStyle/>
          <a:p>
            <a:pPr algn="ctr">
              <a:lnSpc>
                <a:spcPct val="100000"/>
              </a:lnSpc>
              <a:spcBef>
                <a:spcPts val="160"/>
              </a:spcBef>
            </a:pPr>
            <a:r>
              <a:rPr sz="1400" i="1" spc="-5" dirty="0">
                <a:latin typeface="Palatino Linotype" panose="02040502050505030304"/>
                <a:cs typeface="Palatino Linotype" panose="02040502050505030304"/>
              </a:rPr>
              <a:t>S</a:t>
            </a:r>
            <a:r>
              <a:rPr sz="1350" i="1" spc="-7" baseline="-19000" dirty="0">
                <a:latin typeface="Palatino Linotype" panose="02040502050505030304"/>
                <a:cs typeface="Palatino Linotype" panose="02040502050505030304"/>
              </a:rPr>
              <a:t>n</a:t>
            </a:r>
            <a:endParaRPr sz="1350" baseline="-19000">
              <a:latin typeface="Palatino Linotype" panose="02040502050505030304"/>
              <a:cs typeface="Palatino Linotype" panose="02040502050505030304"/>
            </a:endParaRPr>
          </a:p>
        </p:txBody>
      </p:sp>
      <p:sp>
        <p:nvSpPr>
          <p:cNvPr id="27" name="object 27"/>
          <p:cNvSpPr txBox="1"/>
          <p:nvPr/>
        </p:nvSpPr>
        <p:spPr>
          <a:xfrm>
            <a:off x="2693671" y="5018532"/>
            <a:ext cx="2032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sp>
        <p:nvSpPr>
          <p:cNvPr id="28" name="object 28"/>
          <p:cNvSpPr/>
          <p:nvPr/>
        </p:nvSpPr>
        <p:spPr>
          <a:xfrm>
            <a:off x="1166596" y="4579378"/>
            <a:ext cx="2208530" cy="519430"/>
          </a:xfrm>
          <a:custGeom>
            <a:avLst/>
            <a:gdLst/>
            <a:ahLst/>
            <a:cxnLst/>
            <a:rect l="l" t="t" r="r" b="b"/>
            <a:pathLst>
              <a:path w="2208529" h="519429">
                <a:moveTo>
                  <a:pt x="2207996" y="507796"/>
                </a:moveTo>
                <a:lnTo>
                  <a:pt x="2165794" y="447535"/>
                </a:lnTo>
                <a:lnTo>
                  <a:pt x="2161832" y="446836"/>
                </a:lnTo>
                <a:lnTo>
                  <a:pt x="2156091" y="450862"/>
                </a:lnTo>
                <a:lnTo>
                  <a:pt x="2155393" y="454825"/>
                </a:lnTo>
                <a:lnTo>
                  <a:pt x="2179066" y="488632"/>
                </a:lnTo>
                <a:lnTo>
                  <a:pt x="1027125" y="0"/>
                </a:lnTo>
                <a:lnTo>
                  <a:pt x="1024648" y="5854"/>
                </a:lnTo>
                <a:lnTo>
                  <a:pt x="1021880" y="139"/>
                </a:lnTo>
                <a:lnTo>
                  <a:pt x="27952" y="481012"/>
                </a:lnTo>
                <a:lnTo>
                  <a:pt x="49923" y="446074"/>
                </a:lnTo>
                <a:lnTo>
                  <a:pt x="49034" y="442150"/>
                </a:lnTo>
                <a:lnTo>
                  <a:pt x="43103" y="438416"/>
                </a:lnTo>
                <a:lnTo>
                  <a:pt x="39179" y="439318"/>
                </a:lnTo>
                <a:lnTo>
                  <a:pt x="0" y="501586"/>
                </a:lnTo>
                <a:lnTo>
                  <a:pt x="73139" y="509511"/>
                </a:lnTo>
                <a:lnTo>
                  <a:pt x="76276" y="506996"/>
                </a:lnTo>
                <a:lnTo>
                  <a:pt x="76809" y="502081"/>
                </a:lnTo>
                <a:lnTo>
                  <a:pt x="77025" y="500024"/>
                </a:lnTo>
                <a:lnTo>
                  <a:pt x="74510" y="496887"/>
                </a:lnTo>
                <a:lnTo>
                  <a:pt x="33477" y="492442"/>
                </a:lnTo>
                <a:lnTo>
                  <a:pt x="1018273" y="16002"/>
                </a:lnTo>
                <a:lnTo>
                  <a:pt x="1017308" y="431507"/>
                </a:lnTo>
                <a:lnTo>
                  <a:pt x="1017244" y="467499"/>
                </a:lnTo>
                <a:lnTo>
                  <a:pt x="1023543" y="477647"/>
                </a:lnTo>
                <a:lnTo>
                  <a:pt x="1017219" y="467474"/>
                </a:lnTo>
                <a:lnTo>
                  <a:pt x="995426" y="432422"/>
                </a:lnTo>
                <a:lnTo>
                  <a:pt x="991514" y="431507"/>
                </a:lnTo>
                <a:lnTo>
                  <a:pt x="985558" y="435216"/>
                </a:lnTo>
                <a:lnTo>
                  <a:pt x="984643" y="439127"/>
                </a:lnTo>
                <a:lnTo>
                  <a:pt x="1023493" y="501611"/>
                </a:lnTo>
                <a:lnTo>
                  <a:pt x="1031011" y="489648"/>
                </a:lnTo>
                <a:lnTo>
                  <a:pt x="1062634" y="439318"/>
                </a:lnTo>
                <a:lnTo>
                  <a:pt x="1061732" y="435394"/>
                </a:lnTo>
                <a:lnTo>
                  <a:pt x="1055801" y="431660"/>
                </a:lnTo>
                <a:lnTo>
                  <a:pt x="1051877" y="432562"/>
                </a:lnTo>
                <a:lnTo>
                  <a:pt x="1029944" y="467474"/>
                </a:lnTo>
                <a:lnTo>
                  <a:pt x="1029881" y="485482"/>
                </a:lnTo>
                <a:lnTo>
                  <a:pt x="1029919" y="467499"/>
                </a:lnTo>
                <a:lnTo>
                  <a:pt x="1030973" y="15443"/>
                </a:lnTo>
                <a:lnTo>
                  <a:pt x="2174113" y="500329"/>
                </a:lnTo>
                <a:lnTo>
                  <a:pt x="2133346" y="506793"/>
                </a:lnTo>
                <a:lnTo>
                  <a:pt x="2130983" y="510044"/>
                </a:lnTo>
                <a:lnTo>
                  <a:pt x="2132088" y="516978"/>
                </a:lnTo>
                <a:lnTo>
                  <a:pt x="2135340" y="519341"/>
                </a:lnTo>
                <a:lnTo>
                  <a:pt x="2200656" y="508965"/>
                </a:lnTo>
                <a:lnTo>
                  <a:pt x="2207996" y="507796"/>
                </a:lnTo>
                <a:close/>
              </a:path>
            </a:pathLst>
          </a:custGeom>
          <a:solidFill>
            <a:srgbClr val="000000"/>
          </a:solidFill>
        </p:spPr>
        <p:txBody>
          <a:bodyPr wrap="square" lIns="0" tIns="0" rIns="0" bIns="0" rtlCol="0"/>
          <a:lstStyle/>
          <a:p>
            <a:endParaRPr/>
          </a:p>
        </p:txBody>
      </p:sp>
      <p:pic>
        <p:nvPicPr>
          <p:cNvPr id="29" name="object 29"/>
          <p:cNvPicPr/>
          <p:nvPr/>
        </p:nvPicPr>
        <p:blipFill>
          <a:blip r:embed="rId3" cstate="print"/>
          <a:stretch>
            <a:fillRect/>
          </a:stretch>
        </p:blipFill>
        <p:spPr>
          <a:xfrm>
            <a:off x="2151104" y="4095139"/>
            <a:ext cx="77986" cy="208470"/>
          </a:xfrm>
          <a:prstGeom prst="rect">
            <a:avLst/>
          </a:prstGeom>
        </p:spPr>
      </p:pic>
      <p:pic>
        <p:nvPicPr>
          <p:cNvPr id="30" name="object 30"/>
          <p:cNvPicPr/>
          <p:nvPr/>
        </p:nvPicPr>
        <p:blipFill>
          <a:blip r:embed="rId7" cstate="print"/>
          <a:stretch>
            <a:fillRect/>
          </a:stretch>
        </p:blipFill>
        <p:spPr>
          <a:xfrm>
            <a:off x="1122598" y="5362599"/>
            <a:ext cx="77987" cy="208470"/>
          </a:xfrm>
          <a:prstGeom prst="rect">
            <a:avLst/>
          </a:prstGeom>
        </p:spPr>
      </p:pic>
      <p:pic>
        <p:nvPicPr>
          <p:cNvPr id="31" name="object 31"/>
          <p:cNvPicPr/>
          <p:nvPr/>
        </p:nvPicPr>
        <p:blipFill>
          <a:blip r:embed="rId3" cstate="print"/>
          <a:stretch>
            <a:fillRect/>
          </a:stretch>
        </p:blipFill>
        <p:spPr>
          <a:xfrm>
            <a:off x="2146054" y="5362599"/>
            <a:ext cx="77986" cy="208470"/>
          </a:xfrm>
          <a:prstGeom prst="rect">
            <a:avLst/>
          </a:prstGeom>
        </p:spPr>
      </p:pic>
      <p:pic>
        <p:nvPicPr>
          <p:cNvPr id="32" name="object 32"/>
          <p:cNvPicPr/>
          <p:nvPr/>
        </p:nvPicPr>
        <p:blipFill>
          <a:blip r:embed="rId6" cstate="print"/>
          <a:stretch>
            <a:fillRect/>
          </a:stretch>
        </p:blipFill>
        <p:spPr>
          <a:xfrm>
            <a:off x="3335572" y="5362599"/>
            <a:ext cx="77986" cy="208470"/>
          </a:xfrm>
          <a:prstGeom prst="rect">
            <a:avLst/>
          </a:prstGeom>
        </p:spPr>
      </p:pic>
      <p:sp>
        <p:nvSpPr>
          <p:cNvPr id="33" name="object 33"/>
          <p:cNvSpPr txBox="1"/>
          <p:nvPr/>
        </p:nvSpPr>
        <p:spPr>
          <a:xfrm>
            <a:off x="4552153" y="5845555"/>
            <a:ext cx="309435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A6A6A6"/>
                </a:solidFill>
                <a:latin typeface="Palatino Linotype" panose="02040502050505030304"/>
                <a:cs typeface="Palatino Linotype" panose="02040502050505030304"/>
              </a:rPr>
              <a:t>The</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operator </a:t>
            </a:r>
            <a:r>
              <a:rPr sz="1200" dirty="0">
                <a:solidFill>
                  <a:srgbClr val="A6A6A6"/>
                </a:solidFill>
                <a:latin typeface="Palatino Linotype" panose="02040502050505030304"/>
                <a:cs typeface="Palatino Linotype" panose="02040502050505030304"/>
              </a:rPr>
              <a:t>∪</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depends</a:t>
            </a:r>
            <a:r>
              <a:rPr sz="1200" spc="-5" dirty="0">
                <a:solidFill>
                  <a:srgbClr val="A6A6A6"/>
                </a:solidFill>
                <a:latin typeface="Palatino Linotype" panose="02040502050505030304"/>
                <a:cs typeface="Palatino Linotype" panose="02040502050505030304"/>
              </a:rPr>
              <a:t> on </a:t>
            </a:r>
            <a:r>
              <a:rPr sz="1200" dirty="0">
                <a:solidFill>
                  <a:srgbClr val="A6A6A6"/>
                </a:solidFill>
                <a:latin typeface="Palatino Linotype" panose="02040502050505030304"/>
                <a:cs typeface="Palatino Linotype" panose="02040502050505030304"/>
              </a:rPr>
              <a:t>specific</a:t>
            </a:r>
            <a:r>
              <a:rPr sz="1200" spc="-5" dirty="0">
                <a:solidFill>
                  <a:srgbClr val="A6A6A6"/>
                </a:solidFill>
                <a:latin typeface="Palatino Linotype" panose="02040502050505030304"/>
                <a:cs typeface="Palatino Linotype" panose="02040502050505030304"/>
              </a:rPr>
              <a:t> problems.</a:t>
            </a:r>
            <a:endParaRPr sz="1200">
              <a:latin typeface="Palatino Linotype" panose="02040502050505030304"/>
              <a:cs typeface="Palatino Linotype" panose="02040502050505030304"/>
            </a:endParaRPr>
          </a:p>
        </p:txBody>
      </p:sp>
      <p:sp>
        <p:nvSpPr>
          <p:cNvPr id="34" name="object 3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35" name="object 3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36" name="object 3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34</a:t>
            </a:fld>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60832"/>
            <a:ext cx="7541259" cy="558800"/>
          </a:xfrm>
          <a:prstGeom prst="rect">
            <a:avLst/>
          </a:prstGeom>
        </p:spPr>
        <p:txBody>
          <a:bodyPr vert="horz" wrap="square" lIns="0" tIns="12700" rIns="0" bIns="0" rtlCol="0">
            <a:spAutoFit/>
          </a:bodyPr>
          <a:lstStyle/>
          <a:p>
            <a:pPr marL="12700">
              <a:lnSpc>
                <a:spcPct val="100000"/>
              </a:lnSpc>
              <a:spcBef>
                <a:spcPts val="100"/>
              </a:spcBef>
            </a:pPr>
            <a:r>
              <a:rPr sz="3500" spc="-5" dirty="0"/>
              <a:t>Example</a:t>
            </a:r>
            <a:r>
              <a:rPr sz="3500" spc="-10" dirty="0"/>
              <a:t> </a:t>
            </a:r>
            <a:r>
              <a:rPr sz="3500" spc="-5" dirty="0"/>
              <a:t>(Constant</a:t>
            </a:r>
            <a:r>
              <a:rPr sz="3500" spc="-10" dirty="0"/>
              <a:t> </a:t>
            </a:r>
            <a:r>
              <a:rPr sz="3500" spc="-5" dirty="0"/>
              <a:t>Folding</a:t>
            </a:r>
            <a:r>
              <a:rPr sz="3500" dirty="0"/>
              <a:t> </a:t>
            </a:r>
            <a:r>
              <a:rPr sz="3500" spc="-5" dirty="0"/>
              <a:t>Problem)</a:t>
            </a:r>
            <a:endParaRPr sz="3500"/>
          </a:p>
        </p:txBody>
      </p:sp>
      <p:sp>
        <p:nvSpPr>
          <p:cNvPr id="3" name="object 3"/>
          <p:cNvSpPr txBox="1"/>
          <p:nvPr/>
        </p:nvSpPr>
        <p:spPr>
          <a:xfrm>
            <a:off x="769326" y="2763249"/>
            <a:ext cx="671830" cy="281940"/>
          </a:xfrm>
          <a:prstGeom prst="rect">
            <a:avLst/>
          </a:prstGeom>
          <a:ln w="12700">
            <a:solidFill>
              <a:srgbClr val="000000"/>
            </a:solidFill>
          </a:ln>
        </p:spPr>
        <p:txBody>
          <a:bodyPr vert="horz" wrap="square" lIns="0" tIns="21590" rIns="0" bIns="0" rtlCol="0">
            <a:spAutoFit/>
          </a:bodyPr>
          <a:lstStyle/>
          <a:p>
            <a:pPr algn="ctr">
              <a:lnSpc>
                <a:spcPct val="100000"/>
              </a:lnSpc>
              <a:spcBef>
                <a:spcPts val="170"/>
              </a:spcBef>
            </a:pP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endParaRPr sz="1350" baseline="-19000">
              <a:latin typeface="Palatino Linotype" panose="02040502050505030304"/>
              <a:cs typeface="Palatino Linotype" panose="02040502050505030304"/>
            </a:endParaRPr>
          </a:p>
        </p:txBody>
      </p:sp>
      <p:sp>
        <p:nvSpPr>
          <p:cNvPr id="4" name="object 4"/>
          <p:cNvSpPr txBox="1"/>
          <p:nvPr/>
        </p:nvSpPr>
        <p:spPr>
          <a:xfrm>
            <a:off x="1793937" y="2763249"/>
            <a:ext cx="671830" cy="281940"/>
          </a:xfrm>
          <a:prstGeom prst="rect">
            <a:avLst/>
          </a:prstGeom>
          <a:ln w="12700">
            <a:solidFill>
              <a:srgbClr val="000000"/>
            </a:solidFill>
          </a:ln>
        </p:spPr>
        <p:txBody>
          <a:bodyPr vert="horz" wrap="square" lIns="0" tIns="21590" rIns="0" bIns="0" rtlCol="0">
            <a:spAutoFit/>
          </a:bodyPr>
          <a:lstStyle/>
          <a:p>
            <a:pPr algn="ctr">
              <a:lnSpc>
                <a:spcPct val="100000"/>
              </a:lnSpc>
              <a:spcBef>
                <a:spcPts val="170"/>
              </a:spcBef>
            </a:pP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2</a:t>
            </a:r>
            <a:endParaRPr sz="1350" baseline="-19000">
              <a:latin typeface="Palatino Linotype" panose="02040502050505030304"/>
              <a:cs typeface="Palatino Linotype" panose="02040502050505030304"/>
            </a:endParaRPr>
          </a:p>
        </p:txBody>
      </p:sp>
      <p:sp>
        <p:nvSpPr>
          <p:cNvPr id="5" name="object 5"/>
          <p:cNvSpPr txBox="1"/>
          <p:nvPr/>
        </p:nvSpPr>
        <p:spPr>
          <a:xfrm>
            <a:off x="2834007" y="2760143"/>
            <a:ext cx="671830" cy="281940"/>
          </a:xfrm>
          <a:prstGeom prst="rect">
            <a:avLst/>
          </a:prstGeom>
          <a:ln w="12700">
            <a:solidFill>
              <a:srgbClr val="000000"/>
            </a:solidFill>
          </a:ln>
        </p:spPr>
        <p:txBody>
          <a:bodyPr vert="horz" wrap="square" lIns="0" tIns="21590" rIns="0" bIns="0" rtlCol="0">
            <a:spAutoFit/>
          </a:bodyPr>
          <a:lstStyle/>
          <a:p>
            <a:pPr algn="ctr">
              <a:lnSpc>
                <a:spcPct val="100000"/>
              </a:lnSpc>
              <a:spcBef>
                <a:spcPts val="170"/>
              </a:spcBef>
            </a:pP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n</a:t>
            </a:r>
            <a:endParaRPr sz="1350" baseline="-19000">
              <a:latin typeface="Palatino Linotype" panose="02040502050505030304"/>
              <a:cs typeface="Palatino Linotype" panose="02040502050505030304"/>
            </a:endParaRPr>
          </a:p>
        </p:txBody>
      </p:sp>
      <p:sp>
        <p:nvSpPr>
          <p:cNvPr id="6" name="object 6"/>
          <p:cNvSpPr txBox="1"/>
          <p:nvPr/>
        </p:nvSpPr>
        <p:spPr>
          <a:xfrm>
            <a:off x="1793937" y="3757159"/>
            <a:ext cx="671830" cy="281940"/>
          </a:xfrm>
          <a:prstGeom prst="rect">
            <a:avLst/>
          </a:prstGeom>
          <a:ln w="12700">
            <a:solidFill>
              <a:srgbClr val="000000"/>
            </a:solidFill>
          </a:ln>
        </p:spPr>
        <p:txBody>
          <a:bodyPr vert="horz" wrap="square" lIns="0" tIns="20955" rIns="0" bIns="0" rtlCol="0">
            <a:spAutoFit/>
          </a:bodyPr>
          <a:lstStyle/>
          <a:p>
            <a:pPr marL="635" algn="ctr">
              <a:lnSpc>
                <a:spcPct val="100000"/>
              </a:lnSpc>
              <a:spcBef>
                <a:spcPts val="165"/>
              </a:spcBef>
            </a:pPr>
            <a:r>
              <a:rPr sz="1400" i="1" dirty="0">
                <a:latin typeface="Palatino Linotype" panose="02040502050505030304"/>
                <a:cs typeface="Palatino Linotype" panose="02040502050505030304"/>
              </a:rPr>
              <a:t>B</a:t>
            </a:r>
            <a:endParaRPr sz="1400">
              <a:latin typeface="Palatino Linotype" panose="02040502050505030304"/>
              <a:cs typeface="Palatino Linotype" panose="02040502050505030304"/>
            </a:endParaRPr>
          </a:p>
        </p:txBody>
      </p:sp>
      <p:sp>
        <p:nvSpPr>
          <p:cNvPr id="7" name="object 7"/>
          <p:cNvSpPr/>
          <p:nvPr/>
        </p:nvSpPr>
        <p:spPr>
          <a:xfrm>
            <a:off x="1100980" y="3040067"/>
            <a:ext cx="840740" cy="716280"/>
          </a:xfrm>
          <a:custGeom>
            <a:avLst/>
            <a:gdLst/>
            <a:ahLst/>
            <a:cxnLst/>
            <a:rect l="l" t="t" r="r" b="b"/>
            <a:pathLst>
              <a:path w="840739" h="716279">
                <a:moveTo>
                  <a:pt x="769524" y="692614"/>
                </a:moveTo>
                <a:lnTo>
                  <a:pt x="766297" y="695013"/>
                </a:lnTo>
                <a:lnTo>
                  <a:pt x="765277" y="701953"/>
                </a:lnTo>
                <a:lnTo>
                  <a:pt x="767676" y="705178"/>
                </a:lnTo>
                <a:lnTo>
                  <a:pt x="840466" y="715882"/>
                </a:lnTo>
                <a:lnTo>
                  <a:pt x="839538" y="712961"/>
                </a:lnTo>
                <a:lnTo>
                  <a:pt x="827227" y="712961"/>
                </a:lnTo>
                <a:lnTo>
                  <a:pt x="810355" y="698617"/>
                </a:lnTo>
                <a:lnTo>
                  <a:pt x="769524" y="692614"/>
                </a:lnTo>
                <a:close/>
              </a:path>
              <a:path w="840739" h="716279">
                <a:moveTo>
                  <a:pt x="810355" y="698617"/>
                </a:moveTo>
                <a:lnTo>
                  <a:pt x="827227" y="712961"/>
                </a:lnTo>
                <a:lnTo>
                  <a:pt x="829707" y="710044"/>
                </a:lnTo>
                <a:lnTo>
                  <a:pt x="825286" y="710044"/>
                </a:lnTo>
                <a:lnTo>
                  <a:pt x="822210" y="700360"/>
                </a:lnTo>
                <a:lnTo>
                  <a:pt x="810355" y="698617"/>
                </a:lnTo>
                <a:close/>
              </a:path>
              <a:path w="840739" h="716279">
                <a:moveTo>
                  <a:pt x="814621" y="643914"/>
                </a:moveTo>
                <a:lnTo>
                  <a:pt x="807935" y="646037"/>
                </a:lnTo>
                <a:lnTo>
                  <a:pt x="806086" y="649607"/>
                </a:lnTo>
                <a:lnTo>
                  <a:pt x="818582" y="688943"/>
                </a:lnTo>
                <a:lnTo>
                  <a:pt x="835452" y="703285"/>
                </a:lnTo>
                <a:lnTo>
                  <a:pt x="827227" y="712961"/>
                </a:lnTo>
                <a:lnTo>
                  <a:pt x="839538" y="712961"/>
                </a:lnTo>
                <a:lnTo>
                  <a:pt x="818191" y="645763"/>
                </a:lnTo>
                <a:lnTo>
                  <a:pt x="814621" y="643914"/>
                </a:lnTo>
                <a:close/>
              </a:path>
              <a:path w="840739" h="716279">
                <a:moveTo>
                  <a:pt x="822210" y="700360"/>
                </a:moveTo>
                <a:lnTo>
                  <a:pt x="825286" y="710044"/>
                </a:lnTo>
                <a:lnTo>
                  <a:pt x="832262" y="701838"/>
                </a:lnTo>
                <a:lnTo>
                  <a:pt x="822210" y="700360"/>
                </a:lnTo>
                <a:close/>
              </a:path>
              <a:path w="840739" h="716279">
                <a:moveTo>
                  <a:pt x="818582" y="688943"/>
                </a:moveTo>
                <a:lnTo>
                  <a:pt x="822210" y="700360"/>
                </a:lnTo>
                <a:lnTo>
                  <a:pt x="832262" y="701838"/>
                </a:lnTo>
                <a:lnTo>
                  <a:pt x="825286" y="710044"/>
                </a:lnTo>
                <a:lnTo>
                  <a:pt x="829707" y="710044"/>
                </a:lnTo>
                <a:lnTo>
                  <a:pt x="835452" y="703285"/>
                </a:lnTo>
                <a:lnTo>
                  <a:pt x="818582" y="688943"/>
                </a:lnTo>
                <a:close/>
              </a:path>
              <a:path w="840739" h="716279">
                <a:moveTo>
                  <a:pt x="8226" y="0"/>
                </a:moveTo>
                <a:lnTo>
                  <a:pt x="0" y="9676"/>
                </a:lnTo>
                <a:lnTo>
                  <a:pt x="810355" y="698617"/>
                </a:lnTo>
                <a:lnTo>
                  <a:pt x="822210" y="700360"/>
                </a:lnTo>
                <a:lnTo>
                  <a:pt x="818582" y="688943"/>
                </a:lnTo>
                <a:lnTo>
                  <a:pt x="8226" y="0"/>
                </a:lnTo>
                <a:close/>
              </a:path>
            </a:pathLst>
          </a:custGeom>
          <a:solidFill>
            <a:srgbClr val="000000"/>
          </a:solidFill>
        </p:spPr>
        <p:txBody>
          <a:bodyPr wrap="square" lIns="0" tIns="0" rIns="0" bIns="0" rtlCol="0"/>
          <a:lstStyle/>
          <a:p>
            <a:endParaRPr/>
          </a:p>
        </p:txBody>
      </p:sp>
      <p:sp>
        <p:nvSpPr>
          <p:cNvPr id="8" name="object 8"/>
          <p:cNvSpPr/>
          <p:nvPr/>
        </p:nvSpPr>
        <p:spPr>
          <a:xfrm>
            <a:off x="2090712" y="3044906"/>
            <a:ext cx="78105" cy="712470"/>
          </a:xfrm>
          <a:custGeom>
            <a:avLst/>
            <a:gdLst/>
            <a:ahLst/>
            <a:cxnLst/>
            <a:rect l="l" t="t" r="r" b="b"/>
            <a:pathLst>
              <a:path w="78105" h="712470">
                <a:moveTo>
                  <a:pt x="6851" y="642270"/>
                </a:moveTo>
                <a:lnTo>
                  <a:pt x="904" y="645989"/>
                </a:lnTo>
                <a:lnTo>
                  <a:pt x="0" y="649905"/>
                </a:lnTo>
                <a:lnTo>
                  <a:pt x="38994" y="712296"/>
                </a:lnTo>
                <a:lnTo>
                  <a:pt x="46482" y="700314"/>
                </a:lnTo>
                <a:lnTo>
                  <a:pt x="32644" y="700314"/>
                </a:lnTo>
                <a:lnTo>
                  <a:pt x="32643" y="678173"/>
                </a:lnTo>
                <a:lnTo>
                  <a:pt x="10769" y="643174"/>
                </a:lnTo>
                <a:lnTo>
                  <a:pt x="6851" y="642270"/>
                </a:lnTo>
                <a:close/>
              </a:path>
              <a:path w="78105" h="712470">
                <a:moveTo>
                  <a:pt x="32644" y="678173"/>
                </a:moveTo>
                <a:lnTo>
                  <a:pt x="32644" y="700314"/>
                </a:lnTo>
                <a:lnTo>
                  <a:pt x="45344" y="700314"/>
                </a:lnTo>
                <a:lnTo>
                  <a:pt x="45344" y="696949"/>
                </a:lnTo>
                <a:lnTo>
                  <a:pt x="33609" y="696949"/>
                </a:lnTo>
                <a:lnTo>
                  <a:pt x="38993" y="688333"/>
                </a:lnTo>
                <a:lnTo>
                  <a:pt x="32644" y="678173"/>
                </a:lnTo>
                <a:close/>
              </a:path>
              <a:path w="78105" h="712470">
                <a:moveTo>
                  <a:pt x="71135" y="642270"/>
                </a:moveTo>
                <a:lnTo>
                  <a:pt x="67217" y="643174"/>
                </a:lnTo>
                <a:lnTo>
                  <a:pt x="45344" y="678173"/>
                </a:lnTo>
                <a:lnTo>
                  <a:pt x="45344" y="700314"/>
                </a:lnTo>
                <a:lnTo>
                  <a:pt x="46482" y="700314"/>
                </a:lnTo>
                <a:lnTo>
                  <a:pt x="77986" y="649905"/>
                </a:lnTo>
                <a:lnTo>
                  <a:pt x="77082" y="645988"/>
                </a:lnTo>
                <a:lnTo>
                  <a:pt x="71135" y="642270"/>
                </a:lnTo>
                <a:close/>
              </a:path>
              <a:path w="78105" h="712470">
                <a:moveTo>
                  <a:pt x="38993" y="688333"/>
                </a:moveTo>
                <a:lnTo>
                  <a:pt x="33609" y="696949"/>
                </a:lnTo>
                <a:lnTo>
                  <a:pt x="44378" y="696949"/>
                </a:lnTo>
                <a:lnTo>
                  <a:pt x="38993" y="688333"/>
                </a:lnTo>
                <a:close/>
              </a:path>
              <a:path w="78105" h="712470">
                <a:moveTo>
                  <a:pt x="45344" y="678173"/>
                </a:moveTo>
                <a:lnTo>
                  <a:pt x="38993" y="688333"/>
                </a:lnTo>
                <a:lnTo>
                  <a:pt x="44378" y="696949"/>
                </a:lnTo>
                <a:lnTo>
                  <a:pt x="45344" y="696949"/>
                </a:lnTo>
                <a:lnTo>
                  <a:pt x="45344" y="678173"/>
                </a:lnTo>
                <a:close/>
              </a:path>
              <a:path w="78105" h="712470">
                <a:moveTo>
                  <a:pt x="45342" y="0"/>
                </a:moveTo>
                <a:lnTo>
                  <a:pt x="32642" y="0"/>
                </a:lnTo>
                <a:lnTo>
                  <a:pt x="32644" y="678173"/>
                </a:lnTo>
                <a:lnTo>
                  <a:pt x="38993" y="688333"/>
                </a:lnTo>
                <a:lnTo>
                  <a:pt x="45343" y="678173"/>
                </a:lnTo>
                <a:lnTo>
                  <a:pt x="45342" y="0"/>
                </a:lnTo>
                <a:close/>
              </a:path>
            </a:pathLst>
          </a:custGeom>
          <a:solidFill>
            <a:srgbClr val="000000"/>
          </a:solidFill>
        </p:spPr>
        <p:txBody>
          <a:bodyPr wrap="square" lIns="0" tIns="0" rIns="0" bIns="0" rtlCol="0"/>
          <a:lstStyle/>
          <a:p>
            <a:endParaRPr/>
          </a:p>
        </p:txBody>
      </p:sp>
      <p:sp>
        <p:nvSpPr>
          <p:cNvPr id="9" name="object 9"/>
          <p:cNvSpPr/>
          <p:nvPr/>
        </p:nvSpPr>
        <p:spPr>
          <a:xfrm>
            <a:off x="2317963" y="3036928"/>
            <a:ext cx="855980" cy="717550"/>
          </a:xfrm>
          <a:custGeom>
            <a:avLst/>
            <a:gdLst/>
            <a:ahLst/>
            <a:cxnLst/>
            <a:rect l="l" t="t" r="r" b="b"/>
            <a:pathLst>
              <a:path w="855980" h="717550">
                <a:moveTo>
                  <a:pt x="26432" y="645397"/>
                </a:moveTo>
                <a:lnTo>
                  <a:pt x="22847" y="647217"/>
                </a:lnTo>
                <a:lnTo>
                  <a:pt x="0" y="717152"/>
                </a:lnTo>
                <a:lnTo>
                  <a:pt x="20207" y="714349"/>
                </a:lnTo>
                <a:lnTo>
                  <a:pt x="13249" y="714349"/>
                </a:lnTo>
                <a:lnTo>
                  <a:pt x="5104" y="704607"/>
                </a:lnTo>
                <a:lnTo>
                  <a:pt x="22102" y="690393"/>
                </a:lnTo>
                <a:lnTo>
                  <a:pt x="34919" y="651160"/>
                </a:lnTo>
                <a:lnTo>
                  <a:pt x="33100" y="647575"/>
                </a:lnTo>
                <a:lnTo>
                  <a:pt x="26432" y="645397"/>
                </a:lnTo>
                <a:close/>
              </a:path>
              <a:path w="855980" h="717550">
                <a:moveTo>
                  <a:pt x="22102" y="690393"/>
                </a:moveTo>
                <a:lnTo>
                  <a:pt x="5104" y="704607"/>
                </a:lnTo>
                <a:lnTo>
                  <a:pt x="13249" y="714349"/>
                </a:lnTo>
                <a:lnTo>
                  <a:pt x="16730" y="711438"/>
                </a:lnTo>
                <a:lnTo>
                  <a:pt x="15227" y="711438"/>
                </a:lnTo>
                <a:lnTo>
                  <a:pt x="8318" y="703177"/>
                </a:lnTo>
                <a:lnTo>
                  <a:pt x="18382" y="701781"/>
                </a:lnTo>
                <a:lnTo>
                  <a:pt x="22102" y="690393"/>
                </a:lnTo>
                <a:close/>
              </a:path>
              <a:path w="855980" h="717550">
                <a:moveTo>
                  <a:pt x="71130" y="694465"/>
                </a:moveTo>
                <a:lnTo>
                  <a:pt x="30248" y="700135"/>
                </a:lnTo>
                <a:lnTo>
                  <a:pt x="13249" y="714349"/>
                </a:lnTo>
                <a:lnTo>
                  <a:pt x="20207" y="714349"/>
                </a:lnTo>
                <a:lnTo>
                  <a:pt x="72875" y="707044"/>
                </a:lnTo>
                <a:lnTo>
                  <a:pt x="75299" y="703837"/>
                </a:lnTo>
                <a:lnTo>
                  <a:pt x="74336" y="696889"/>
                </a:lnTo>
                <a:lnTo>
                  <a:pt x="71130" y="694465"/>
                </a:lnTo>
                <a:close/>
              </a:path>
              <a:path w="855980" h="717550">
                <a:moveTo>
                  <a:pt x="18382" y="701781"/>
                </a:moveTo>
                <a:lnTo>
                  <a:pt x="8318" y="703177"/>
                </a:lnTo>
                <a:lnTo>
                  <a:pt x="15227" y="711438"/>
                </a:lnTo>
                <a:lnTo>
                  <a:pt x="18382" y="701781"/>
                </a:lnTo>
                <a:close/>
              </a:path>
              <a:path w="855980" h="717550">
                <a:moveTo>
                  <a:pt x="30248" y="700135"/>
                </a:moveTo>
                <a:lnTo>
                  <a:pt x="18382" y="701781"/>
                </a:lnTo>
                <a:lnTo>
                  <a:pt x="15227" y="711438"/>
                </a:lnTo>
                <a:lnTo>
                  <a:pt x="16730" y="711438"/>
                </a:lnTo>
                <a:lnTo>
                  <a:pt x="30248" y="700135"/>
                </a:lnTo>
                <a:close/>
              </a:path>
              <a:path w="855980" h="717550">
                <a:moveTo>
                  <a:pt x="847738" y="0"/>
                </a:moveTo>
                <a:lnTo>
                  <a:pt x="22102" y="690393"/>
                </a:lnTo>
                <a:lnTo>
                  <a:pt x="18382" y="701781"/>
                </a:lnTo>
                <a:lnTo>
                  <a:pt x="30248" y="700135"/>
                </a:lnTo>
                <a:lnTo>
                  <a:pt x="855886" y="9743"/>
                </a:lnTo>
                <a:lnTo>
                  <a:pt x="847738" y="0"/>
                </a:lnTo>
                <a:close/>
              </a:path>
            </a:pathLst>
          </a:custGeom>
          <a:solidFill>
            <a:srgbClr val="000000"/>
          </a:solidFill>
        </p:spPr>
        <p:txBody>
          <a:bodyPr wrap="square" lIns="0" tIns="0" rIns="0" bIns="0" rtlCol="0"/>
          <a:lstStyle/>
          <a:p>
            <a:endParaRPr/>
          </a:p>
        </p:txBody>
      </p:sp>
      <p:pic>
        <p:nvPicPr>
          <p:cNvPr id="10" name="object 10"/>
          <p:cNvPicPr/>
          <p:nvPr/>
        </p:nvPicPr>
        <p:blipFill>
          <a:blip r:embed="rId3" cstate="print"/>
          <a:stretch>
            <a:fillRect/>
          </a:stretch>
        </p:blipFill>
        <p:spPr>
          <a:xfrm>
            <a:off x="2082732" y="4038817"/>
            <a:ext cx="77986" cy="208469"/>
          </a:xfrm>
          <a:prstGeom prst="rect">
            <a:avLst/>
          </a:prstGeom>
        </p:spPr>
      </p:pic>
      <p:pic>
        <p:nvPicPr>
          <p:cNvPr id="11" name="object 11"/>
          <p:cNvPicPr/>
          <p:nvPr/>
        </p:nvPicPr>
        <p:blipFill>
          <a:blip r:embed="rId4" cstate="print"/>
          <a:stretch>
            <a:fillRect/>
          </a:stretch>
        </p:blipFill>
        <p:spPr>
          <a:xfrm>
            <a:off x="1066101" y="2554820"/>
            <a:ext cx="77987" cy="208471"/>
          </a:xfrm>
          <a:prstGeom prst="rect">
            <a:avLst/>
          </a:prstGeom>
        </p:spPr>
      </p:pic>
      <p:pic>
        <p:nvPicPr>
          <p:cNvPr id="12" name="object 12"/>
          <p:cNvPicPr/>
          <p:nvPr/>
        </p:nvPicPr>
        <p:blipFill>
          <a:blip r:embed="rId5" cstate="print"/>
          <a:stretch>
            <a:fillRect/>
          </a:stretch>
        </p:blipFill>
        <p:spPr>
          <a:xfrm>
            <a:off x="2090712" y="2554822"/>
            <a:ext cx="77986" cy="208469"/>
          </a:xfrm>
          <a:prstGeom prst="rect">
            <a:avLst/>
          </a:prstGeom>
        </p:spPr>
      </p:pic>
      <p:pic>
        <p:nvPicPr>
          <p:cNvPr id="13" name="object 13"/>
          <p:cNvPicPr/>
          <p:nvPr/>
        </p:nvPicPr>
        <p:blipFill>
          <a:blip r:embed="rId3" cstate="print"/>
          <a:stretch>
            <a:fillRect/>
          </a:stretch>
        </p:blipFill>
        <p:spPr>
          <a:xfrm>
            <a:off x="3130783" y="2554820"/>
            <a:ext cx="77986" cy="208470"/>
          </a:xfrm>
          <a:prstGeom prst="rect">
            <a:avLst/>
          </a:prstGeom>
        </p:spPr>
      </p:pic>
      <p:sp>
        <p:nvSpPr>
          <p:cNvPr id="14" name="object 14"/>
          <p:cNvSpPr txBox="1"/>
          <p:nvPr/>
        </p:nvSpPr>
        <p:spPr>
          <a:xfrm>
            <a:off x="4727656" y="2501900"/>
            <a:ext cx="3228340" cy="2125980"/>
          </a:xfrm>
          <a:prstGeom prst="rect">
            <a:avLst/>
          </a:prstGeom>
        </p:spPr>
        <p:txBody>
          <a:bodyPr vert="horz" wrap="square" lIns="0" tIns="12700" rIns="0" bIns="0" rtlCol="0">
            <a:spAutoFit/>
          </a:bodyPr>
          <a:lstStyle/>
          <a:p>
            <a:pPr marL="324485">
              <a:lnSpc>
                <a:spcPct val="100000"/>
              </a:lnSpc>
              <a:spcBef>
                <a:spcPts val="100"/>
              </a:spcBef>
              <a:tabLst>
                <a:tab pos="1417955" algn="l"/>
              </a:tabLst>
            </a:pPr>
            <a:r>
              <a:rPr sz="1800" spc="-5" dirty="0">
                <a:solidFill>
                  <a:srgbClr val="0432FF"/>
                </a:solidFill>
                <a:latin typeface="Palatino Linotype" panose="02040502050505030304"/>
                <a:cs typeface="Palatino Linotype" panose="02040502050505030304"/>
              </a:rPr>
              <a:t>OUT[</a:t>
            </a:r>
            <a:r>
              <a:rPr sz="1800" i="1" spc="-5" dirty="0">
                <a:solidFill>
                  <a:srgbClr val="0432FF"/>
                </a:solidFill>
                <a:latin typeface="Palatino Linotype" panose="02040502050505030304"/>
                <a:cs typeface="Palatino Linotype" panose="02040502050505030304"/>
              </a:rPr>
              <a:t>B</a:t>
            </a:r>
            <a:r>
              <a:rPr sz="1800" spc="-7" baseline="-14000" dirty="0">
                <a:solidFill>
                  <a:srgbClr val="0432FF"/>
                </a:solidFill>
                <a:latin typeface="Palatino Linotype" panose="02040502050505030304"/>
                <a:cs typeface="Palatino Linotype" panose="02040502050505030304"/>
              </a:rPr>
              <a:t>1</a:t>
            </a:r>
            <a:r>
              <a:rPr sz="1800" spc="-5" dirty="0">
                <a:solidFill>
                  <a:srgbClr val="0432FF"/>
                </a:solidFill>
                <a:latin typeface="Palatino Linotype" panose="02040502050505030304"/>
                <a:cs typeface="Palatino Linotype" panose="02040502050505030304"/>
              </a:rPr>
              <a:t>]</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3;</a:t>
            </a:r>
            <a:r>
              <a:rPr sz="1800" spc="-1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y</a:t>
            </a:r>
            <a:r>
              <a:rPr sz="1800"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4;</a:t>
            </a:r>
            <a:r>
              <a:rPr sz="1800" spc="-1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z</a:t>
            </a:r>
            <a:r>
              <a:rPr sz="1800"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NAC</a:t>
            </a:r>
            <a:endParaRPr sz="1800">
              <a:latin typeface="Palatino Linotype" panose="02040502050505030304"/>
              <a:cs typeface="Palatino Linotype" panose="02040502050505030304"/>
            </a:endParaRPr>
          </a:p>
          <a:p>
            <a:pPr marL="324485">
              <a:lnSpc>
                <a:spcPct val="100000"/>
              </a:lnSpc>
              <a:spcBef>
                <a:spcPts val="1630"/>
              </a:spcBef>
              <a:tabLst>
                <a:tab pos="1417955" algn="l"/>
              </a:tabLst>
            </a:pPr>
            <a:r>
              <a:rPr sz="1800" spc="-5" dirty="0">
                <a:solidFill>
                  <a:srgbClr val="0432FF"/>
                </a:solidFill>
                <a:latin typeface="Palatino Linotype" panose="02040502050505030304"/>
                <a:cs typeface="Palatino Linotype" panose="02040502050505030304"/>
              </a:rPr>
              <a:t>OUT[</a:t>
            </a:r>
            <a:r>
              <a:rPr sz="1800" i="1" spc="-5" dirty="0">
                <a:solidFill>
                  <a:srgbClr val="0432FF"/>
                </a:solidFill>
                <a:latin typeface="Palatino Linotype" panose="02040502050505030304"/>
                <a:cs typeface="Palatino Linotype" panose="02040502050505030304"/>
              </a:rPr>
              <a:t>B</a:t>
            </a:r>
            <a:r>
              <a:rPr sz="1800" i="1" spc="-7" baseline="-14000" dirty="0">
                <a:solidFill>
                  <a:srgbClr val="0432FF"/>
                </a:solidFill>
                <a:latin typeface="Palatino Linotype" panose="02040502050505030304"/>
                <a:cs typeface="Palatino Linotype" panose="02040502050505030304"/>
              </a:rPr>
              <a:t>2</a:t>
            </a:r>
            <a:r>
              <a:rPr sz="1800" spc="-5" dirty="0">
                <a:solidFill>
                  <a:srgbClr val="0432FF"/>
                </a:solidFill>
                <a:latin typeface="Palatino Linotype" panose="02040502050505030304"/>
                <a:cs typeface="Palatino Linotype" panose="02040502050505030304"/>
              </a:rPr>
              <a:t>]</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3;</a:t>
            </a:r>
            <a:r>
              <a:rPr sz="1800" spc="-2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y</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5;</a:t>
            </a:r>
            <a:r>
              <a:rPr sz="1800" spc="-2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z</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7</a:t>
            </a:r>
            <a:endParaRPr sz="1800">
              <a:latin typeface="Palatino Linotype" panose="02040502050505030304"/>
              <a:cs typeface="Palatino Linotype" panose="02040502050505030304"/>
            </a:endParaRPr>
          </a:p>
          <a:p>
            <a:pPr marL="324485">
              <a:lnSpc>
                <a:spcPct val="100000"/>
              </a:lnSpc>
              <a:spcBef>
                <a:spcPts val="1655"/>
              </a:spcBef>
              <a:tabLst>
                <a:tab pos="1417955" algn="l"/>
              </a:tabLst>
            </a:pPr>
            <a:r>
              <a:rPr sz="1800" spc="-5" dirty="0">
                <a:solidFill>
                  <a:srgbClr val="0432FF"/>
                </a:solidFill>
                <a:latin typeface="Palatino Linotype" panose="02040502050505030304"/>
                <a:cs typeface="Palatino Linotype" panose="02040502050505030304"/>
              </a:rPr>
              <a:t>OUT[</a:t>
            </a:r>
            <a:r>
              <a:rPr sz="1800" i="1" spc="-5" dirty="0">
                <a:solidFill>
                  <a:srgbClr val="0432FF"/>
                </a:solidFill>
                <a:latin typeface="Palatino Linotype" panose="02040502050505030304"/>
                <a:cs typeface="Palatino Linotype" panose="02040502050505030304"/>
              </a:rPr>
              <a:t>B</a:t>
            </a:r>
            <a:r>
              <a:rPr sz="1800" i="1" spc="-7" baseline="-14000" dirty="0">
                <a:solidFill>
                  <a:srgbClr val="0432FF"/>
                </a:solidFill>
                <a:latin typeface="Palatino Linotype" panose="02040502050505030304"/>
                <a:cs typeface="Palatino Linotype" panose="02040502050505030304"/>
              </a:rPr>
              <a:t>3</a:t>
            </a:r>
            <a:r>
              <a:rPr sz="1800" spc="-5" dirty="0">
                <a:solidFill>
                  <a:srgbClr val="0432FF"/>
                </a:solidFill>
                <a:latin typeface="Palatino Linotype" panose="02040502050505030304"/>
                <a:cs typeface="Palatino Linotype" panose="02040502050505030304"/>
              </a:rPr>
              <a:t>]</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3;</a:t>
            </a:r>
            <a:r>
              <a:rPr sz="1800" spc="-2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y</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4;</a:t>
            </a:r>
            <a:r>
              <a:rPr sz="1800" spc="-2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z</a:t>
            </a:r>
            <a:r>
              <a:rPr sz="1800" dirty="0">
                <a:latin typeface="Palatino Linotype" panose="02040502050505030304"/>
                <a:cs typeface="Palatino Linotype" panose="02040502050505030304"/>
              </a:rPr>
              <a:t>:</a:t>
            </a:r>
            <a:r>
              <a:rPr sz="1800" spc="-2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7</a:t>
            </a:r>
            <a:endParaRPr sz="1800">
              <a:latin typeface="Palatino Linotype" panose="02040502050505030304"/>
              <a:cs typeface="Palatino Linotype" panose="02040502050505030304"/>
            </a:endParaRPr>
          </a:p>
          <a:p>
            <a:pPr marL="38100">
              <a:lnSpc>
                <a:spcPct val="100000"/>
              </a:lnSpc>
              <a:spcBef>
                <a:spcPts val="1335"/>
              </a:spcBef>
            </a:pPr>
            <a:r>
              <a:rPr sz="2000" b="1" spc="-5" dirty="0">
                <a:solidFill>
                  <a:srgbClr val="FF0000"/>
                </a:solidFill>
                <a:latin typeface="Palatino Linotype" panose="02040502050505030304"/>
                <a:cs typeface="Palatino Linotype" panose="02040502050505030304"/>
              </a:rPr>
              <a:t>then:</a:t>
            </a:r>
            <a:endParaRPr sz="2000">
              <a:latin typeface="Palatino Linotype" panose="02040502050505030304"/>
              <a:cs typeface="Palatino Linotype" panose="02040502050505030304"/>
            </a:endParaRPr>
          </a:p>
          <a:p>
            <a:pPr marL="324485">
              <a:lnSpc>
                <a:spcPct val="100000"/>
              </a:lnSpc>
              <a:spcBef>
                <a:spcPts val="875"/>
              </a:spcBef>
              <a:tabLst>
                <a:tab pos="1113155" algn="l"/>
              </a:tabLst>
            </a:pPr>
            <a:r>
              <a:rPr sz="1800" dirty="0">
                <a:solidFill>
                  <a:srgbClr val="0432FF"/>
                </a:solidFill>
                <a:latin typeface="Palatino Linotype" panose="02040502050505030304"/>
                <a:cs typeface="Palatino Linotype" panose="02040502050505030304"/>
              </a:rPr>
              <a:t>IN[</a:t>
            </a:r>
            <a:r>
              <a:rPr sz="1800" i="1" dirty="0">
                <a:solidFill>
                  <a:srgbClr val="0432FF"/>
                </a:solidFill>
                <a:latin typeface="Palatino Linotype" panose="02040502050505030304"/>
                <a:cs typeface="Palatino Linotype" panose="02040502050505030304"/>
              </a:rPr>
              <a:t>B</a:t>
            </a:r>
            <a:r>
              <a:rPr sz="1800" dirty="0">
                <a:solidFill>
                  <a:srgbClr val="0432FF"/>
                </a:solidFill>
                <a:latin typeface="Palatino Linotype" panose="02040502050505030304"/>
                <a:cs typeface="Palatino Linotype" panose="02040502050505030304"/>
              </a:rPr>
              <a:t>]</a:t>
            </a:r>
            <a:r>
              <a:rPr sz="180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3;</a:t>
            </a:r>
            <a:r>
              <a:rPr sz="1800" spc="-1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y</a:t>
            </a:r>
            <a:r>
              <a:rPr sz="1800" dirty="0">
                <a:latin typeface="Palatino Linotype" panose="02040502050505030304"/>
                <a:cs typeface="Palatino Linotype" panose="02040502050505030304"/>
              </a:rPr>
              <a:t>:</a:t>
            </a:r>
            <a:r>
              <a:rPr sz="1800" spc="-10"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NAC</a:t>
            </a:r>
            <a:r>
              <a:rPr sz="1800" spc="-5"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z</a:t>
            </a:r>
            <a:r>
              <a:rPr sz="1800" dirty="0">
                <a:latin typeface="Palatino Linotype" panose="02040502050505030304"/>
                <a:cs typeface="Palatino Linotype" panose="02040502050505030304"/>
              </a:rPr>
              <a:t>:</a:t>
            </a:r>
            <a:r>
              <a:rPr sz="1800" spc="-15"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NAC</a:t>
            </a:r>
            <a:endParaRPr sz="1800">
              <a:latin typeface="Palatino Linotype" panose="02040502050505030304"/>
              <a:cs typeface="Palatino Linotype" panose="02040502050505030304"/>
            </a:endParaRPr>
          </a:p>
        </p:txBody>
      </p:sp>
      <p:sp>
        <p:nvSpPr>
          <p:cNvPr id="16" name="object 1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7" name="object 1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8" name="object 1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35</a:t>
            </a:fld>
            <a:endParaRPr dirty="0"/>
          </a:p>
        </p:txBody>
      </p:sp>
      <p:sp>
        <p:nvSpPr>
          <p:cNvPr id="15" name="object 15"/>
          <p:cNvSpPr txBox="1"/>
          <p:nvPr/>
        </p:nvSpPr>
        <p:spPr>
          <a:xfrm>
            <a:off x="4753056" y="2138171"/>
            <a:ext cx="285750" cy="330200"/>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FF0000"/>
                </a:solidFill>
                <a:latin typeface="Palatino Linotype" panose="02040502050505030304"/>
                <a:cs typeface="Palatino Linotype" panose="02040502050505030304"/>
              </a:rPr>
              <a:t>If:</a:t>
            </a:r>
            <a:endParaRPr sz="2000">
              <a:latin typeface="Palatino Linotype" panose="02040502050505030304"/>
              <a:cs typeface="Palatino Linotype" panose="020405020505050303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36</a:t>
            </a:fld>
            <a:endParaRPr dirty="0"/>
          </a:p>
        </p:txBody>
      </p:sp>
      <p:sp>
        <p:nvSpPr>
          <p:cNvPr id="2" name="object 2"/>
          <p:cNvSpPr txBox="1">
            <a:spLocks noGrp="1"/>
          </p:cNvSpPr>
          <p:nvPr>
            <p:ph type="title"/>
          </p:nvPr>
        </p:nvSpPr>
        <p:spPr>
          <a:xfrm>
            <a:off x="707390" y="541019"/>
            <a:ext cx="7461250" cy="604520"/>
          </a:xfrm>
          <a:prstGeom prst="rect">
            <a:avLst/>
          </a:prstGeom>
        </p:spPr>
        <p:txBody>
          <a:bodyPr vert="horz" wrap="square" lIns="0" tIns="12700" rIns="0" bIns="0" rtlCol="0">
            <a:spAutoFit/>
          </a:bodyPr>
          <a:lstStyle/>
          <a:p>
            <a:pPr marL="12700">
              <a:lnSpc>
                <a:spcPct val="100000"/>
              </a:lnSpc>
              <a:spcBef>
                <a:spcPts val="100"/>
              </a:spcBef>
            </a:pPr>
            <a:r>
              <a:rPr sz="3800" spc="-5" dirty="0"/>
              <a:t>Solutions</a:t>
            </a:r>
            <a:r>
              <a:rPr sz="3800" spc="-10" dirty="0"/>
              <a:t> </a:t>
            </a:r>
            <a:r>
              <a:rPr sz="3800" spc="-5" dirty="0"/>
              <a:t>to</a:t>
            </a:r>
            <a:r>
              <a:rPr sz="3800" spc="-10" dirty="0"/>
              <a:t> </a:t>
            </a:r>
            <a:r>
              <a:rPr sz="3800" spc="-5" dirty="0"/>
              <a:t>Data-Flow</a:t>
            </a:r>
            <a:r>
              <a:rPr sz="3800" spc="-10" dirty="0"/>
              <a:t> </a:t>
            </a:r>
            <a:r>
              <a:rPr sz="3800" spc="-5" dirty="0"/>
              <a:t>Equations</a:t>
            </a:r>
            <a:endParaRPr sz="3800"/>
          </a:p>
        </p:txBody>
      </p:sp>
      <p:sp>
        <p:nvSpPr>
          <p:cNvPr id="3" name="object 3"/>
          <p:cNvSpPr txBox="1"/>
          <p:nvPr/>
        </p:nvSpPr>
        <p:spPr>
          <a:xfrm>
            <a:off x="707390" y="1658620"/>
            <a:ext cx="7611109" cy="365188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200" spc="-5" dirty="0">
                <a:latin typeface="Palatino Linotype" panose="02040502050505030304"/>
                <a:cs typeface="Palatino Linotype" panose="02040502050505030304"/>
              </a:rPr>
              <a:t>Data-flow equations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usually</a:t>
            </a:r>
            <a:r>
              <a:rPr sz="2200" dirty="0">
                <a:latin typeface="Palatino Linotype" panose="02040502050505030304"/>
                <a:cs typeface="Palatino Linotype" panose="02040502050505030304"/>
              </a:rPr>
              <a:t> do</a:t>
            </a:r>
            <a:r>
              <a:rPr sz="2200" spc="-5" dirty="0">
                <a:latin typeface="Palatino Linotype" panose="02040502050505030304"/>
                <a:cs typeface="Palatino Linotype" panose="02040502050505030304"/>
              </a:rPr>
              <a:t> not</a:t>
            </a:r>
            <a:r>
              <a:rPr sz="2200" spc="-10" dirty="0">
                <a:latin typeface="Palatino Linotype" panose="02040502050505030304"/>
                <a:cs typeface="Palatino Linotype" panose="02040502050505030304"/>
              </a:rPr>
              <a:t> </a:t>
            </a:r>
            <a:r>
              <a:rPr sz="2200" spc="-15" dirty="0">
                <a:latin typeface="Palatino Linotype" panose="02040502050505030304"/>
                <a:cs typeface="Palatino Linotype" panose="02040502050505030304"/>
              </a:rPr>
              <a:t>have</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 </a:t>
            </a:r>
            <a:r>
              <a:rPr sz="2200" spc="-5" dirty="0">
                <a:latin typeface="Palatino Linotype" panose="02040502050505030304"/>
                <a:cs typeface="Palatino Linotype" panose="02040502050505030304"/>
              </a:rPr>
              <a:t>unique solution</a:t>
            </a:r>
            <a:endParaRPr sz="2200">
              <a:latin typeface="Palatino Linotype" panose="02040502050505030304"/>
              <a:cs typeface="Palatino Linotype" panose="02040502050505030304"/>
            </a:endParaRPr>
          </a:p>
          <a:p>
            <a:pPr marL="698500" lvl="1" indent="-228600">
              <a:lnSpc>
                <a:spcPct val="100000"/>
              </a:lnSpc>
              <a:spcBef>
                <a:spcPts val="1645"/>
              </a:spcBef>
              <a:buFont typeface="Wingdings" panose="05000000000000000000"/>
              <a:buChar char=""/>
              <a:tabLst>
                <a:tab pos="698500" algn="l"/>
              </a:tabLst>
            </a:pPr>
            <a:r>
              <a:rPr sz="1800" spc="-5" dirty="0">
                <a:latin typeface="Palatino Linotype" panose="02040502050505030304"/>
                <a:cs typeface="Palatino Linotype" panose="02040502050505030304"/>
              </a:rPr>
              <a:t>All</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data-flow schemas </a:t>
            </a:r>
            <a:r>
              <a:rPr sz="1800" dirty="0">
                <a:latin typeface="Palatino Linotype" panose="02040502050505030304"/>
                <a:cs typeface="Palatino Linotype" panose="02040502050505030304"/>
              </a:rPr>
              <a:t>compute </a:t>
            </a:r>
            <a:r>
              <a:rPr sz="1800" dirty="0">
                <a:solidFill>
                  <a:srgbClr val="FF0000"/>
                </a:solidFill>
                <a:latin typeface="Palatino Linotype" panose="02040502050505030304"/>
                <a:cs typeface="Palatino Linotype" panose="02040502050505030304"/>
              </a:rPr>
              <a:t>approximations</a:t>
            </a:r>
            <a:r>
              <a:rPr sz="1800" spc="-5" dirty="0">
                <a:solidFill>
                  <a:srgbClr val="FF0000"/>
                </a:solidFill>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 the </a:t>
            </a:r>
            <a:r>
              <a:rPr sz="1800" spc="-5" dirty="0">
                <a:latin typeface="Palatino Linotype" panose="02040502050505030304"/>
                <a:cs typeface="Palatino Linotype" panose="02040502050505030304"/>
              </a:rPr>
              <a:t>ground</a:t>
            </a:r>
            <a:r>
              <a:rPr sz="1800" dirty="0">
                <a:latin typeface="Palatino Linotype" panose="02040502050505030304"/>
                <a:cs typeface="Palatino Linotype" panose="02040502050505030304"/>
              </a:rPr>
              <a:t> truth</a:t>
            </a:r>
            <a:endParaRPr sz="1800">
              <a:latin typeface="Palatino Linotype" panose="02040502050505030304"/>
              <a:cs typeface="Palatino Linotype" panose="02040502050505030304"/>
            </a:endParaRPr>
          </a:p>
          <a:p>
            <a:pPr lvl="1">
              <a:lnSpc>
                <a:spcPct val="100000"/>
              </a:lnSpc>
              <a:spcBef>
                <a:spcPts val="30"/>
              </a:spcBef>
              <a:buFont typeface="Wingdings" panose="05000000000000000000"/>
              <a:buChar char=""/>
            </a:pPr>
            <a:endParaRPr sz="2100">
              <a:latin typeface="Palatino Linotype" panose="02040502050505030304"/>
              <a:cs typeface="Palatino Linotype" panose="02040502050505030304"/>
            </a:endParaRPr>
          </a:p>
          <a:p>
            <a:pPr marL="242570" marR="74930" indent="-230505">
              <a:lnSpc>
                <a:spcPct val="122000"/>
              </a:lnSpc>
              <a:spcBef>
                <a:spcPts val="5"/>
              </a:spcBef>
              <a:buFont typeface="Arial MT"/>
              <a:buChar char="•"/>
              <a:tabLst>
                <a:tab pos="242570" algn="l"/>
                <a:tab pos="242570" algn="l"/>
              </a:tabLst>
            </a:pPr>
            <a:r>
              <a:rPr sz="2200" spc="-5" dirty="0">
                <a:latin typeface="Palatino Linotype" panose="02040502050505030304"/>
                <a:cs typeface="Palatino Linotype" panose="02040502050505030304"/>
              </a:rPr>
              <a:t>Our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goal</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is</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find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most</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“precise”</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solution that satisfies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both</a:t>
            </a:r>
            <a:r>
              <a:rPr sz="2200" spc="-10" dirty="0">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control-flow</a:t>
            </a:r>
            <a:r>
              <a:rPr sz="2200" dirty="0">
                <a:solidFill>
                  <a:srgbClr val="0432FF"/>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spc="5" dirty="0">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transfer</a:t>
            </a:r>
            <a:r>
              <a:rPr sz="2200" spc="5" dirty="0">
                <a:solidFill>
                  <a:srgbClr val="0432FF"/>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constraints</a:t>
            </a:r>
            <a:endParaRPr sz="2200">
              <a:latin typeface="Palatino Linotype" panose="02040502050505030304"/>
              <a:cs typeface="Palatino Linotype" panose="02040502050505030304"/>
            </a:endParaRPr>
          </a:p>
          <a:p>
            <a:pPr marL="698500" marR="26035" lvl="1" indent="-228600">
              <a:lnSpc>
                <a:spcPct val="121000"/>
              </a:lnSpc>
              <a:spcBef>
                <a:spcPts val="1190"/>
              </a:spcBef>
              <a:buFont typeface="Wingdings" panose="05000000000000000000"/>
              <a:buChar char=""/>
              <a:tabLst>
                <a:tab pos="698500" algn="l"/>
              </a:tabLst>
            </a:pPr>
            <a:r>
              <a:rPr sz="1800" dirty="0">
                <a:latin typeface="Palatino Linotype" panose="02040502050505030304"/>
                <a:cs typeface="Palatino Linotype" panose="02040502050505030304"/>
              </a:rPr>
              <a:t>Being</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precise enables</a:t>
            </a:r>
            <a:r>
              <a:rPr sz="1800" spc="-5" dirty="0">
                <a:latin typeface="Palatino Linotype" panose="02040502050505030304"/>
                <a:cs typeface="Palatino Linotype" panose="02040502050505030304"/>
              </a:rPr>
              <a:t> </a:t>
            </a:r>
            <a:r>
              <a:rPr sz="1800" spc="-15" dirty="0">
                <a:latin typeface="Palatino Linotype" panose="02040502050505030304"/>
                <a:cs typeface="Palatino Linotype" panose="02040502050505030304"/>
              </a:rPr>
              <a:t>valid</a:t>
            </a:r>
            <a:r>
              <a:rPr sz="1800" dirty="0">
                <a:latin typeface="Palatino Linotype" panose="02040502050505030304"/>
                <a:cs typeface="Palatino Linotype" panose="02040502050505030304"/>
              </a:rPr>
              <a:t> code </a:t>
            </a:r>
            <a:r>
              <a:rPr sz="1800" spc="-5" dirty="0">
                <a:latin typeface="Palatino Linotype" panose="02040502050505030304"/>
                <a:cs typeface="Palatino Linotype" panose="02040502050505030304"/>
              </a:rPr>
              <a:t>improvements </a:t>
            </a:r>
            <a:r>
              <a:rPr sz="1800" dirty="0">
                <a:latin typeface="Palatino Linotype" panose="02040502050505030304"/>
                <a:cs typeface="Palatino Linotype" panose="02040502050505030304"/>
              </a:rPr>
              <a:t>(in </a:t>
            </a:r>
            <a:r>
              <a:rPr sz="1800" spc="-5" dirty="0">
                <a:latin typeface="Palatino Linotype" panose="02040502050505030304"/>
                <a:cs typeface="Palatino Linotype" panose="02040502050505030304"/>
              </a:rPr>
              <a:t>general,</a:t>
            </a:r>
            <a:r>
              <a:rPr sz="1800" dirty="0">
                <a:latin typeface="Palatino Linotype" panose="02040502050505030304"/>
                <a:cs typeface="Palatino Linotype" panose="02040502050505030304"/>
              </a:rPr>
              <a:t> a </a:t>
            </a:r>
            <a:r>
              <a:rPr sz="1800" spc="-5" dirty="0">
                <a:latin typeface="Palatino Linotype" panose="02040502050505030304"/>
                <a:cs typeface="Palatino Linotype" panose="02040502050505030304"/>
              </a:rPr>
              <a:t>higher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precision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leads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 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better </a:t>
            </a:r>
            <a:r>
              <a:rPr sz="1800" spc="-5" dirty="0">
                <a:latin typeface="Palatino Linotype" panose="02040502050505030304"/>
                <a:cs typeface="Palatino Linotype" panose="02040502050505030304"/>
              </a:rPr>
              <a:t>improvement)</a:t>
            </a:r>
            <a:endParaRPr sz="1800">
              <a:latin typeface="Palatino Linotype" panose="02040502050505030304"/>
              <a:cs typeface="Palatino Linotype" panose="02040502050505030304"/>
            </a:endParaRPr>
          </a:p>
          <a:p>
            <a:pPr marL="698500" marR="5080" lvl="1" indent="-228600">
              <a:lnSpc>
                <a:spcPct val="120000"/>
              </a:lnSpc>
              <a:spcBef>
                <a:spcPts val="1200"/>
              </a:spcBef>
              <a:buFont typeface="Wingdings" panose="05000000000000000000"/>
              <a:buChar char=""/>
              <a:tabLst>
                <a:tab pos="698500" algn="l"/>
              </a:tabLst>
            </a:pPr>
            <a:r>
              <a:rPr sz="1800" spc="-5" dirty="0">
                <a:latin typeface="Palatino Linotype" panose="02040502050505030304"/>
                <a:cs typeface="Palatino Linotype" panose="02040502050505030304"/>
              </a:rPr>
              <a:t>Satisfying</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constraints</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guarantees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2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safety</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2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transformations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(does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not</a:t>
            </a:r>
            <a:r>
              <a:rPr sz="1800" spc="-5" dirty="0">
                <a:latin typeface="Palatino Linotype" panose="02040502050505030304"/>
                <a:cs typeface="Palatino Linotype" panose="02040502050505030304"/>
              </a:rPr>
              <a:t> change</a:t>
            </a:r>
            <a:r>
              <a:rPr sz="1800" dirty="0">
                <a:latin typeface="Palatino Linotype" panose="02040502050505030304"/>
                <a:cs typeface="Palatino Linotype" panose="02040502050505030304"/>
              </a:rPr>
              <a:t> program</a:t>
            </a:r>
            <a:r>
              <a:rPr sz="1800" spc="-5" dirty="0">
                <a:latin typeface="Palatino Linotype" panose="02040502050505030304"/>
                <a:cs typeface="Palatino Linotype" panose="02040502050505030304"/>
              </a:rPr>
              <a:t> semantics)</a:t>
            </a:r>
            <a:endParaRPr sz="1800">
              <a:latin typeface="Palatino Linotype" panose="02040502050505030304"/>
              <a:cs typeface="Palatino Linotype" panose="020405020505050303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pc="-10" dirty="0"/>
              <a:t>Introduction</a:t>
            </a:r>
          </a:p>
          <a:p>
            <a:pPr>
              <a:lnSpc>
                <a:spcPct val="100000"/>
              </a:lnSpc>
              <a:spcBef>
                <a:spcPts val="5"/>
              </a:spcBef>
              <a:buFont typeface="Arial MT"/>
              <a:buChar char="•"/>
            </a:pPr>
            <a:endParaRPr sz="3800"/>
          </a:p>
          <a:p>
            <a:pPr marL="243205" indent="-230505">
              <a:lnSpc>
                <a:spcPct val="100000"/>
              </a:lnSpc>
              <a:spcBef>
                <a:spcPts val="5"/>
              </a:spcBef>
              <a:buClr>
                <a:srgbClr val="000000"/>
              </a:buClr>
              <a:buFont typeface="Arial MT"/>
              <a:buChar char="•"/>
              <a:tabLst>
                <a:tab pos="242570" algn="l"/>
              </a:tabLst>
            </a:pPr>
            <a:r>
              <a:rPr spc="-5" dirty="0"/>
              <a:t>The</a:t>
            </a:r>
            <a:r>
              <a:rPr spc="-20" dirty="0"/>
              <a:t> </a:t>
            </a:r>
            <a:r>
              <a:rPr spc="-5" dirty="0"/>
              <a:t>Principal</a:t>
            </a:r>
            <a:r>
              <a:rPr spc="-15" dirty="0"/>
              <a:t> </a:t>
            </a:r>
            <a:r>
              <a:rPr spc="-5" dirty="0"/>
              <a:t>Sources</a:t>
            </a:r>
            <a:r>
              <a:rPr spc="-10" dirty="0"/>
              <a:t> </a:t>
            </a:r>
            <a:r>
              <a:rPr spc="-5" dirty="0"/>
              <a:t>of Optimization</a:t>
            </a:r>
          </a:p>
          <a:p>
            <a:pPr>
              <a:lnSpc>
                <a:spcPct val="100000"/>
              </a:lnSpc>
              <a:spcBef>
                <a:spcPts val="45"/>
              </a:spcBef>
              <a:buFont typeface="Arial MT"/>
              <a:buChar char="•"/>
            </a:pPr>
            <a:endParaRPr sz="3700"/>
          </a:p>
          <a:p>
            <a:pPr marL="243205" indent="-230505">
              <a:lnSpc>
                <a:spcPct val="100000"/>
              </a:lnSpc>
              <a:buClr>
                <a:srgbClr val="000000"/>
              </a:buClr>
              <a:buFont typeface="Arial MT"/>
              <a:buChar char="•"/>
              <a:tabLst>
                <a:tab pos="242570" algn="l"/>
              </a:tabLst>
            </a:pPr>
            <a:r>
              <a:rPr spc="-10" dirty="0"/>
              <a:t>Introduction</a:t>
            </a:r>
            <a:r>
              <a:rPr spc="-5" dirty="0"/>
              <a:t> to</a:t>
            </a:r>
            <a:r>
              <a:rPr dirty="0"/>
              <a:t> </a:t>
            </a:r>
            <a:r>
              <a:rPr spc="-5" dirty="0"/>
              <a:t>Data-Flow</a:t>
            </a:r>
            <a:r>
              <a:rPr spc="-95" dirty="0"/>
              <a:t> </a:t>
            </a:r>
            <a:r>
              <a:rPr spc="-5" dirty="0"/>
              <a:t>Analysis</a:t>
            </a:r>
          </a:p>
          <a:p>
            <a:pPr marL="5133975">
              <a:lnSpc>
                <a:spcPct val="100000"/>
              </a:lnSpc>
              <a:spcBef>
                <a:spcPts val="1825"/>
              </a:spcBef>
            </a:pPr>
            <a:r>
              <a:rPr sz="2200" spc="-5" dirty="0">
                <a:solidFill>
                  <a:srgbClr val="000000"/>
                </a:solidFill>
              </a:rPr>
              <a:t>Reaching</a:t>
            </a:r>
            <a:r>
              <a:rPr sz="2200" spc="-75" dirty="0">
                <a:solidFill>
                  <a:srgbClr val="000000"/>
                </a:solidFill>
              </a:rPr>
              <a:t> </a:t>
            </a:r>
            <a:r>
              <a:rPr sz="2200" spc="-5" dirty="0">
                <a:solidFill>
                  <a:srgbClr val="000000"/>
                </a:solidFill>
              </a:rPr>
              <a:t>Definitions</a:t>
            </a:r>
            <a:endParaRPr sz="2200"/>
          </a:p>
        </p:txBody>
      </p:sp>
      <p:sp>
        <p:nvSpPr>
          <p:cNvPr id="4" name="object 4"/>
          <p:cNvSpPr txBox="1"/>
          <p:nvPr/>
        </p:nvSpPr>
        <p:spPr>
          <a:xfrm>
            <a:off x="707390" y="5041900"/>
            <a:ext cx="4669155" cy="4521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800" spc="-5" dirty="0">
                <a:latin typeface="Palatino Linotype" panose="02040502050505030304"/>
                <a:cs typeface="Palatino Linotype" panose="02040502050505030304"/>
              </a:rPr>
              <a:t>Classic</a:t>
            </a:r>
            <a:r>
              <a:rPr sz="2800" spc="-3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1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
        <p:nvSpPr>
          <p:cNvPr id="5" name="object 5"/>
          <p:cNvSpPr txBox="1"/>
          <p:nvPr/>
        </p:nvSpPr>
        <p:spPr>
          <a:xfrm>
            <a:off x="5829156" y="4968747"/>
            <a:ext cx="2733040" cy="988694"/>
          </a:xfrm>
          <a:prstGeom prst="rect">
            <a:avLst/>
          </a:prstGeom>
        </p:spPr>
        <p:txBody>
          <a:bodyPr vert="horz" wrap="square" lIns="0" tIns="12700" rIns="0" bIns="0" rtlCol="0">
            <a:spAutoFit/>
          </a:bodyPr>
          <a:lstStyle/>
          <a:p>
            <a:pPr marL="12700" marR="5080">
              <a:lnSpc>
                <a:spcPct val="144000"/>
              </a:lnSpc>
              <a:spcBef>
                <a:spcPts val="100"/>
              </a:spcBef>
            </a:pPr>
            <a:r>
              <a:rPr sz="2200" spc="-15" dirty="0">
                <a:solidFill>
                  <a:srgbClr val="A6A6A6"/>
                </a:solidFill>
                <a:latin typeface="Palatino Linotype" panose="02040502050505030304"/>
                <a:cs typeface="Palatino Linotype" panose="02040502050505030304"/>
              </a:rPr>
              <a:t>Live</a:t>
            </a:r>
            <a:r>
              <a:rPr sz="2200" spc="-10" dirty="0">
                <a:solidFill>
                  <a:srgbClr val="A6A6A6"/>
                </a:solidFill>
                <a:latin typeface="Palatino Linotype" panose="02040502050505030304"/>
                <a:cs typeface="Palatino Linotype" panose="02040502050505030304"/>
              </a:rPr>
              <a:t> </a:t>
            </a:r>
            <a:r>
              <a:rPr sz="2200" spc="-25" dirty="0">
                <a:solidFill>
                  <a:srgbClr val="A6A6A6"/>
                </a:solidFill>
                <a:latin typeface="Palatino Linotype" panose="02040502050505030304"/>
                <a:cs typeface="Palatino Linotype" panose="02040502050505030304"/>
              </a:rPr>
              <a:t>Variables </a:t>
            </a:r>
            <a:r>
              <a:rPr sz="2200" spc="-20" dirty="0">
                <a:solidFill>
                  <a:srgbClr val="A6A6A6"/>
                </a:solidFill>
                <a:latin typeface="Palatino Linotype" panose="02040502050505030304"/>
                <a:cs typeface="Palatino Linotype" panose="02040502050505030304"/>
              </a:rPr>
              <a:t> </a:t>
            </a:r>
            <a:r>
              <a:rPr sz="2200" spc="-30" dirty="0">
                <a:solidFill>
                  <a:srgbClr val="A6A6A6"/>
                </a:solidFill>
                <a:latin typeface="Palatino Linotype" panose="02040502050505030304"/>
                <a:cs typeface="Palatino Linotype" panose="02040502050505030304"/>
              </a:rPr>
              <a:t>Available</a:t>
            </a:r>
            <a:r>
              <a:rPr sz="2200" spc="-25" dirty="0">
                <a:solidFill>
                  <a:srgbClr val="A6A6A6"/>
                </a:solidFill>
                <a:latin typeface="Palatino Linotype" panose="02040502050505030304"/>
                <a:cs typeface="Palatino Linotype" panose="02040502050505030304"/>
              </a:rPr>
              <a:t> </a:t>
            </a:r>
            <a:r>
              <a:rPr sz="2200" spc="-5" dirty="0">
                <a:solidFill>
                  <a:srgbClr val="A6A6A6"/>
                </a:solidFill>
                <a:latin typeface="Palatino Linotype" panose="02040502050505030304"/>
                <a:cs typeface="Palatino Linotype" panose="02040502050505030304"/>
              </a:rPr>
              <a:t>Expressions</a:t>
            </a:r>
            <a:endParaRPr sz="2200">
              <a:latin typeface="Palatino Linotype" panose="02040502050505030304"/>
              <a:cs typeface="Palatino Linotype" panose="02040502050505030304"/>
            </a:endParaRPr>
          </a:p>
        </p:txBody>
      </p:sp>
      <p:sp>
        <p:nvSpPr>
          <p:cNvPr id="6" name="object 6"/>
          <p:cNvSpPr/>
          <p:nvPr/>
        </p:nvSpPr>
        <p:spPr>
          <a:xfrm>
            <a:off x="5475552" y="4753157"/>
            <a:ext cx="274955" cy="1119505"/>
          </a:xfrm>
          <a:custGeom>
            <a:avLst/>
            <a:gdLst/>
            <a:ahLst/>
            <a:cxnLst/>
            <a:rect l="l" t="t" r="r" b="b"/>
            <a:pathLst>
              <a:path w="274954" h="1119504">
                <a:moveTo>
                  <a:pt x="274864" y="1119005"/>
                </a:moveTo>
                <a:lnTo>
                  <a:pt x="221369" y="1117205"/>
                </a:lnTo>
                <a:lnTo>
                  <a:pt x="177684" y="1112296"/>
                </a:lnTo>
                <a:lnTo>
                  <a:pt x="148232" y="1105016"/>
                </a:lnTo>
                <a:lnTo>
                  <a:pt x="137432" y="1096101"/>
                </a:lnTo>
                <a:lnTo>
                  <a:pt x="137432" y="582406"/>
                </a:lnTo>
                <a:lnTo>
                  <a:pt x="126631" y="573491"/>
                </a:lnTo>
                <a:lnTo>
                  <a:pt x="97179" y="566210"/>
                </a:lnTo>
                <a:lnTo>
                  <a:pt x="53494" y="561302"/>
                </a:lnTo>
                <a:lnTo>
                  <a:pt x="0" y="559502"/>
                </a:lnTo>
                <a:lnTo>
                  <a:pt x="53494" y="557702"/>
                </a:lnTo>
                <a:lnTo>
                  <a:pt x="97179" y="552794"/>
                </a:lnTo>
                <a:lnTo>
                  <a:pt x="126631" y="545513"/>
                </a:lnTo>
                <a:lnTo>
                  <a:pt x="137432" y="536598"/>
                </a:lnTo>
                <a:lnTo>
                  <a:pt x="137432" y="22903"/>
                </a:lnTo>
                <a:lnTo>
                  <a:pt x="148232" y="13988"/>
                </a:lnTo>
                <a:lnTo>
                  <a:pt x="177684" y="6708"/>
                </a:lnTo>
                <a:lnTo>
                  <a:pt x="221369" y="1799"/>
                </a:lnTo>
                <a:lnTo>
                  <a:pt x="274864" y="0"/>
                </a:lnTo>
              </a:path>
            </a:pathLst>
          </a:custGeom>
          <a:ln w="12700">
            <a:solidFill>
              <a:srgbClr val="000000"/>
            </a:solidFill>
          </a:ln>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37</a:t>
            </a:fld>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38</a:t>
            </a:fld>
            <a:endParaRPr dirty="0"/>
          </a:p>
        </p:txBody>
      </p:sp>
      <p:sp>
        <p:nvSpPr>
          <p:cNvPr id="2" name="object 2"/>
          <p:cNvSpPr txBox="1">
            <a:spLocks noGrp="1"/>
          </p:cNvSpPr>
          <p:nvPr>
            <p:ph type="title"/>
          </p:nvPr>
        </p:nvSpPr>
        <p:spPr>
          <a:xfrm>
            <a:off x="707390" y="524763"/>
            <a:ext cx="5001260" cy="635000"/>
          </a:xfrm>
          <a:prstGeom prst="rect">
            <a:avLst/>
          </a:prstGeom>
        </p:spPr>
        <p:txBody>
          <a:bodyPr vert="horz" wrap="square" lIns="0" tIns="12700" rIns="0" bIns="0" rtlCol="0">
            <a:spAutoFit/>
          </a:bodyPr>
          <a:lstStyle/>
          <a:p>
            <a:pPr marL="12700">
              <a:lnSpc>
                <a:spcPct val="100000"/>
              </a:lnSpc>
              <a:spcBef>
                <a:spcPts val="100"/>
              </a:spcBef>
            </a:pPr>
            <a:r>
              <a:rPr sz="4000" spc="-5" dirty="0"/>
              <a:t>Reaching</a:t>
            </a:r>
            <a:r>
              <a:rPr sz="4000" spc="-75" dirty="0"/>
              <a:t> </a:t>
            </a:r>
            <a:r>
              <a:rPr sz="4000" dirty="0"/>
              <a:t>Definitions</a:t>
            </a:r>
            <a:endParaRPr sz="4000"/>
          </a:p>
        </p:txBody>
      </p:sp>
      <p:sp>
        <p:nvSpPr>
          <p:cNvPr id="3" name="object 3"/>
          <p:cNvSpPr txBox="1"/>
          <p:nvPr/>
        </p:nvSpPr>
        <p:spPr>
          <a:xfrm>
            <a:off x="707390" y="1600708"/>
            <a:ext cx="7724775" cy="2623820"/>
          </a:xfrm>
          <a:prstGeom prst="rect">
            <a:avLst/>
          </a:prstGeom>
        </p:spPr>
        <p:txBody>
          <a:bodyPr vert="horz" wrap="square" lIns="0" tIns="6350" rIns="0" bIns="0" rtlCol="0">
            <a:spAutoFit/>
          </a:bodyPr>
          <a:lstStyle/>
          <a:p>
            <a:pPr marL="242570" marR="37465" indent="-230505">
              <a:lnSpc>
                <a:spcPct val="119000"/>
              </a:lnSpc>
              <a:spcBef>
                <a:spcPts val="50"/>
              </a:spcBef>
              <a:buFont typeface="Arial MT"/>
              <a:buChar char="•"/>
              <a:tabLst>
                <a:tab pos="242570" algn="l"/>
                <a:tab pos="242570" algn="l"/>
              </a:tabLst>
            </a:pPr>
            <a:r>
              <a:rPr sz="2200" dirty="0">
                <a:latin typeface="Palatino Linotype" panose="02040502050505030304"/>
                <a:cs typeface="Palatino Linotype" panose="02040502050505030304"/>
              </a:rPr>
              <a:t>A</a:t>
            </a:r>
            <a:r>
              <a:rPr sz="2200" spc="-13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definition</a:t>
            </a:r>
            <a:r>
              <a:rPr sz="2200" spc="-1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d</a:t>
            </a:r>
            <a:r>
              <a:rPr sz="2200" i="1"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some</a:t>
            </a:r>
            <a:r>
              <a:rPr sz="2200" spc="-10" dirty="0">
                <a:latin typeface="Palatino Linotype" panose="02040502050505030304"/>
                <a:cs typeface="Palatino Linotype" panose="02040502050505030304"/>
              </a:rPr>
              <a:t> variable</a:t>
            </a:r>
            <a:r>
              <a:rPr sz="2200" spc="-5"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x</a:t>
            </a:r>
            <a:r>
              <a:rPr sz="2200" i="1" spc="-5" dirty="0">
                <a:latin typeface="Palatino Linotype" panose="02040502050505030304"/>
                <a:cs typeface="Palatino Linotype" panose="02040502050505030304"/>
              </a:rPr>
              <a:t> </a:t>
            </a:r>
            <a:r>
              <a:rPr sz="2200" i="1" spc="-10" dirty="0">
                <a:solidFill>
                  <a:srgbClr val="FF0000"/>
                </a:solidFill>
                <a:latin typeface="Palatino Linotype" panose="02040502050505030304"/>
                <a:cs typeface="Palatino Linotype" panose="02040502050505030304"/>
              </a:rPr>
              <a:t>reaches </a:t>
            </a:r>
            <a:r>
              <a:rPr sz="2200" dirty="0">
                <a:latin typeface="Palatino Linotype" panose="02040502050505030304"/>
                <a:cs typeface="Palatino Linotype" panose="02040502050505030304"/>
              </a:rPr>
              <a:t>a</a:t>
            </a:r>
            <a:r>
              <a:rPr sz="2200" spc="-5" dirty="0">
                <a:latin typeface="Palatino Linotype" panose="02040502050505030304"/>
                <a:cs typeface="Palatino Linotype" panose="02040502050505030304"/>
              </a:rPr>
              <a:t> point</a:t>
            </a:r>
            <a:r>
              <a:rPr sz="2200" spc="-1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00" i="1"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if</a:t>
            </a:r>
            <a:r>
              <a:rPr sz="2200" dirty="0">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there</a:t>
            </a:r>
            <a:r>
              <a:rPr sz="2200" spc="-1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is</a:t>
            </a:r>
            <a:r>
              <a:rPr sz="2200" spc="5" dirty="0">
                <a:solidFill>
                  <a:srgbClr val="0432FF"/>
                </a:solidFill>
                <a:latin typeface="Palatino Linotype" panose="02040502050505030304"/>
                <a:cs typeface="Palatino Linotype" panose="02040502050505030304"/>
              </a:rPr>
              <a:t> </a:t>
            </a:r>
            <a:r>
              <a:rPr sz="2200" dirty="0">
                <a:solidFill>
                  <a:srgbClr val="0432FF"/>
                </a:solidFill>
                <a:latin typeface="Palatino Linotype" panose="02040502050505030304"/>
                <a:cs typeface="Palatino Linotype" panose="02040502050505030304"/>
              </a:rPr>
              <a:t>a </a:t>
            </a:r>
            <a:r>
              <a:rPr sz="2200" spc="-535"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path</a:t>
            </a:r>
            <a:r>
              <a:rPr sz="2200" spc="5" dirty="0">
                <a:solidFill>
                  <a:srgbClr val="0432FF"/>
                </a:solidFill>
                <a:latin typeface="Palatino Linotype" panose="02040502050505030304"/>
                <a:cs typeface="Palatino Linotype" panose="02040502050505030304"/>
              </a:rPr>
              <a:t> </a:t>
            </a:r>
            <a:r>
              <a:rPr sz="2200" dirty="0">
                <a:latin typeface="Palatino Linotype" panose="02040502050505030304"/>
                <a:cs typeface="Palatino Linotype" panose="02040502050505030304"/>
              </a:rPr>
              <a:t>from</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point</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immediately</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following</a:t>
            </a:r>
            <a:r>
              <a:rPr sz="2200" spc="15"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d</a:t>
            </a:r>
            <a:r>
              <a:rPr sz="2200" i="1"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a:t>
            </a:r>
            <a:r>
              <a:rPr sz="2200" spc="1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00" dirty="0">
                <a:latin typeface="Palatino Linotype" panose="02040502050505030304"/>
                <a:cs typeface="Palatino Linotype" panose="02040502050505030304"/>
              </a:rPr>
              <a:t>,</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such</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 </a:t>
            </a:r>
            <a:r>
              <a:rPr sz="2200" dirty="0">
                <a:latin typeface="Palatino Linotype" panose="02040502050505030304"/>
                <a:cs typeface="Palatino Linotype" panose="02040502050505030304"/>
              </a:rPr>
              <a:t> </a:t>
            </a:r>
            <a:r>
              <a:rPr sz="2200" i="1" dirty="0">
                <a:solidFill>
                  <a:srgbClr val="0432FF"/>
                </a:solidFill>
                <a:latin typeface="Palatino Linotype" panose="02040502050505030304"/>
                <a:cs typeface="Palatino Linotype" panose="02040502050505030304"/>
              </a:rPr>
              <a:t>d</a:t>
            </a:r>
            <a:r>
              <a:rPr sz="2200" i="1" spc="-5"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is</a:t>
            </a:r>
            <a:r>
              <a:rPr sz="2200" spc="5"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not “killed” </a:t>
            </a:r>
            <a:r>
              <a:rPr sz="2200" spc="-5" dirty="0">
                <a:latin typeface="Palatino Linotype" panose="02040502050505030304"/>
                <a:cs typeface="Palatino Linotype" panose="02040502050505030304"/>
              </a:rPr>
              <a:t>along</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that path</a:t>
            </a:r>
            <a:endParaRPr sz="2200">
              <a:latin typeface="Palatino Linotype" panose="02040502050505030304"/>
              <a:cs typeface="Palatino Linotype" panose="02040502050505030304"/>
            </a:endParaRPr>
          </a:p>
          <a:p>
            <a:pPr marL="698500" lvl="1" indent="-228600">
              <a:lnSpc>
                <a:spcPct val="100000"/>
              </a:lnSpc>
              <a:spcBef>
                <a:spcPts val="1760"/>
              </a:spcBef>
              <a:buFont typeface="Wingdings" panose="05000000000000000000"/>
              <a:buChar char=""/>
              <a:tabLst>
                <a:tab pos="698500" algn="l"/>
              </a:tabLst>
            </a:pPr>
            <a:r>
              <a:rPr sz="2000" i="1" dirty="0">
                <a:latin typeface="Palatino Linotype" panose="02040502050505030304"/>
                <a:cs typeface="Palatino Linotype" panose="02040502050505030304"/>
              </a:rPr>
              <a:t>d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a:t>
            </a:r>
            <a:r>
              <a:rPr sz="2000" i="1" spc="-10" dirty="0">
                <a:latin typeface="Palatino Linotype" panose="02040502050505030304"/>
                <a:cs typeface="Palatino Linotype" panose="02040502050505030304"/>
              </a:rPr>
              <a:t>killed</a:t>
            </a:r>
            <a:r>
              <a:rPr sz="2000" i="1"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if</a:t>
            </a:r>
            <a:r>
              <a:rPr sz="2000" spc="-5" dirty="0">
                <a:latin typeface="Palatino Linotype" panose="02040502050505030304"/>
                <a:cs typeface="Palatino Linotype" panose="02040502050505030304"/>
              </a:rPr>
              <a:t> there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other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i="1" dirty="0">
                <a:latin typeface="Palatino Linotype" panose="02040502050505030304"/>
                <a:cs typeface="Palatino Linotype" panose="02040502050505030304"/>
              </a:rPr>
              <a:t>x</a:t>
            </a:r>
            <a:r>
              <a:rPr sz="2000" i="1"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along</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path</a:t>
            </a:r>
            <a:endParaRPr sz="2000">
              <a:latin typeface="Palatino Linotype" panose="02040502050505030304"/>
              <a:cs typeface="Palatino Linotype" panose="02040502050505030304"/>
            </a:endParaRPr>
          </a:p>
          <a:p>
            <a:pPr marL="698500" marR="5080" lvl="1" indent="-228600">
              <a:lnSpc>
                <a:spcPct val="121000"/>
              </a:lnSpc>
              <a:spcBef>
                <a:spcPts val="1105"/>
              </a:spcBef>
              <a:buFont typeface="Wingdings" panose="05000000000000000000"/>
              <a:buChar char=""/>
              <a:tabLst>
                <a:tab pos="698500" algn="l"/>
              </a:tabLst>
            </a:pPr>
            <a:r>
              <a:rPr sz="2000" spc="-25" dirty="0">
                <a:latin typeface="Palatino Linotype" panose="02040502050505030304"/>
                <a:cs typeface="Palatino Linotype" panose="02040502050505030304"/>
              </a:rPr>
              <a:t>Intuitively,</a:t>
            </a:r>
            <a:r>
              <a:rPr sz="2000" dirty="0">
                <a:latin typeface="Palatino Linotype" panose="02040502050505030304"/>
                <a:cs typeface="Palatino Linotype" panose="02040502050505030304"/>
              </a:rPr>
              <a:t> if </a:t>
            </a:r>
            <a:r>
              <a:rPr sz="2000" i="1" dirty="0">
                <a:latin typeface="Palatino Linotype" panose="02040502050505030304"/>
                <a:cs typeface="Palatino Linotype" panose="02040502050505030304"/>
              </a:rPr>
              <a:t>d </a:t>
            </a:r>
            <a:r>
              <a:rPr sz="2000" spc="-5" dirty="0">
                <a:latin typeface="Palatino Linotype" panose="02040502050505030304"/>
                <a:cs typeface="Palatino Linotype" panose="02040502050505030304"/>
              </a:rPr>
              <a:t>reaches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point</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p</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then</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d </a:t>
            </a:r>
            <a:r>
              <a:rPr sz="2000" spc="-5" dirty="0">
                <a:latin typeface="Palatino Linotype" panose="02040502050505030304"/>
                <a:cs typeface="Palatino Linotype" panose="02040502050505030304"/>
              </a:rPr>
              <a:t>might</a:t>
            </a:r>
            <a:r>
              <a:rPr sz="2000" dirty="0">
                <a:latin typeface="Palatino Linotype" panose="02040502050505030304"/>
                <a:cs typeface="Palatino Linotype" panose="02040502050505030304"/>
              </a:rPr>
              <a:t> be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place</a:t>
            </a:r>
            <a:r>
              <a:rPr sz="2000" dirty="0">
                <a:latin typeface="Palatino Linotype" panose="02040502050505030304"/>
                <a:cs typeface="Palatino Linotype" panose="02040502050505030304"/>
              </a:rPr>
              <a:t> at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which</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i="1" dirty="0">
                <a:latin typeface="Palatino Linotype" panose="02040502050505030304"/>
                <a:cs typeface="Palatino Linotype" panose="02040502050505030304"/>
              </a:rPr>
              <a:t>x </a:t>
            </a:r>
            <a:r>
              <a:rPr sz="2000" spc="-5" dirty="0">
                <a:latin typeface="Palatino Linotype" panose="02040502050505030304"/>
                <a:cs typeface="Palatino Linotype" panose="02040502050505030304"/>
              </a:rPr>
              <a:t>used</a:t>
            </a:r>
            <a:r>
              <a:rPr sz="2000" dirty="0">
                <a:latin typeface="Palatino Linotype" panose="02040502050505030304"/>
                <a:cs typeface="Palatino Linotype" panose="02040502050505030304"/>
              </a:rPr>
              <a:t> at</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p</a:t>
            </a:r>
            <a:r>
              <a:rPr sz="2000" i="1" spc="-5" dirty="0">
                <a:latin typeface="Palatino Linotype" panose="02040502050505030304"/>
                <a:cs typeface="Palatino Linotype" panose="02040502050505030304"/>
              </a:rPr>
              <a:t> </a:t>
            </a:r>
            <a:r>
              <a:rPr sz="2000" spc="-20" dirty="0">
                <a:latin typeface="Palatino Linotype" panose="02040502050505030304"/>
                <a:cs typeface="Palatino Linotype" panose="02040502050505030304"/>
              </a:rPr>
              <a:t>was</a:t>
            </a:r>
            <a:r>
              <a:rPr sz="2000" dirty="0">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last</a:t>
            </a:r>
            <a:r>
              <a:rPr sz="2000" spc="-5" dirty="0">
                <a:solidFill>
                  <a:srgbClr val="FF0000"/>
                </a:solidFill>
                <a:latin typeface="Palatino Linotype" panose="02040502050505030304"/>
                <a:cs typeface="Palatino Linotype" panose="02040502050505030304"/>
              </a:rPr>
              <a:t> defined</a:t>
            </a:r>
            <a:endParaRPr sz="2000">
              <a:latin typeface="Palatino Linotype" panose="02040502050505030304"/>
              <a:cs typeface="Palatino Linotype" panose="0204050205050503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3" cstate="print"/>
          <a:stretch>
            <a:fillRect/>
          </a:stretch>
        </p:blipFill>
        <p:spPr>
          <a:xfrm>
            <a:off x="348606" y="1854757"/>
            <a:ext cx="2852498" cy="3740466"/>
          </a:xfrm>
          <a:prstGeom prst="rect">
            <a:avLst/>
          </a:prstGeom>
        </p:spPr>
      </p:pic>
      <p:sp>
        <p:nvSpPr>
          <p:cNvPr id="4" name="object 4"/>
          <p:cNvSpPr txBox="1"/>
          <p:nvPr/>
        </p:nvSpPr>
        <p:spPr>
          <a:xfrm>
            <a:off x="4104369" y="1769364"/>
            <a:ext cx="4544060" cy="3820160"/>
          </a:xfrm>
          <a:prstGeom prst="rect">
            <a:avLst/>
          </a:prstGeom>
        </p:spPr>
        <p:txBody>
          <a:bodyPr vert="horz" wrap="square" lIns="0" tIns="12700" rIns="0" bIns="0" rtlCol="0">
            <a:spAutoFit/>
          </a:bodyPr>
          <a:lstStyle/>
          <a:p>
            <a:pPr marL="88900">
              <a:lnSpc>
                <a:spcPct val="100000"/>
              </a:lnSpc>
              <a:spcBef>
                <a:spcPts val="100"/>
              </a:spcBef>
            </a:pPr>
            <a:r>
              <a:rPr sz="2000" b="1" spc="-5" dirty="0">
                <a:latin typeface="Palatino Linotype" panose="02040502050505030304"/>
                <a:cs typeface="Palatino Linotype" panose="02040502050505030304"/>
              </a:rPr>
              <a:t>Which definitions reach</a:t>
            </a:r>
            <a:r>
              <a:rPr sz="2000" b="1"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the</a:t>
            </a:r>
            <a:r>
              <a:rPr sz="2000" b="1"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block</a:t>
            </a:r>
            <a:r>
              <a:rPr sz="2000" b="1" dirty="0">
                <a:latin typeface="Palatino Linotype" panose="02040502050505030304"/>
                <a:cs typeface="Palatino Linotype" panose="02040502050505030304"/>
              </a:rPr>
              <a:t> </a:t>
            </a:r>
            <a:r>
              <a:rPr sz="2000" b="1" i="1" dirty="0">
                <a:latin typeface="Palatino Linotype" panose="02040502050505030304"/>
                <a:cs typeface="Palatino Linotype" panose="02040502050505030304"/>
              </a:rPr>
              <a:t>B</a:t>
            </a:r>
            <a:r>
              <a:rPr sz="1950" b="1" baseline="-17000" dirty="0">
                <a:latin typeface="Palatino Linotype" panose="02040502050505030304"/>
                <a:cs typeface="Palatino Linotype" panose="02040502050505030304"/>
              </a:rPr>
              <a:t>2</a:t>
            </a:r>
            <a:r>
              <a:rPr sz="2000" b="1" dirty="0">
                <a:latin typeface="Palatino Linotype" panose="02040502050505030304"/>
                <a:cs typeface="Palatino Linotype" panose="02040502050505030304"/>
              </a:rPr>
              <a:t>?</a:t>
            </a:r>
            <a:endParaRPr sz="2000">
              <a:latin typeface="Palatino Linotype" panose="02040502050505030304"/>
              <a:cs typeface="Palatino Linotype" panose="02040502050505030304"/>
            </a:endParaRPr>
          </a:p>
          <a:p>
            <a:pPr>
              <a:lnSpc>
                <a:spcPct val="100000"/>
              </a:lnSpc>
              <a:spcBef>
                <a:spcPts val="50"/>
              </a:spcBef>
            </a:pPr>
            <a:endParaRPr sz="2450">
              <a:latin typeface="Palatino Linotype" panose="02040502050505030304"/>
              <a:cs typeface="Palatino Linotype" panose="02040502050505030304"/>
            </a:endParaRPr>
          </a:p>
          <a:p>
            <a:pPr marL="431800" indent="-342900">
              <a:lnSpc>
                <a:spcPct val="100000"/>
              </a:lnSpc>
              <a:spcBef>
                <a:spcPts val="5"/>
              </a:spcBef>
              <a:buFont typeface="Arial MT"/>
              <a:buChar char="•"/>
              <a:tabLst>
                <a:tab pos="431165" algn="l"/>
                <a:tab pos="431800" algn="l"/>
              </a:tabLst>
            </a:pPr>
            <a:r>
              <a:rPr sz="2000" i="1" dirty="0">
                <a:solidFill>
                  <a:srgbClr val="0432FF"/>
                </a:solidFill>
                <a:latin typeface="Palatino Linotype" panose="02040502050505030304"/>
                <a:cs typeface="Palatino Linotype" panose="02040502050505030304"/>
              </a:rPr>
              <a:t>d</a:t>
            </a:r>
            <a:r>
              <a:rPr sz="1950" baseline="-17000" dirty="0">
                <a:solidFill>
                  <a:srgbClr val="0432FF"/>
                </a:solidFill>
                <a:latin typeface="Palatino Linotype" panose="02040502050505030304"/>
                <a:cs typeface="Palatino Linotype" panose="02040502050505030304"/>
              </a:rPr>
              <a:t>1</a:t>
            </a:r>
            <a:r>
              <a:rPr sz="2000" dirty="0">
                <a:latin typeface="Palatino Linotype" panose="02040502050505030304"/>
                <a:cs typeface="Palatino Linotype" panose="02040502050505030304"/>
              </a:rPr>
              <a:t>,</a:t>
            </a:r>
            <a:r>
              <a:rPr sz="2000" spc="-15"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d</a:t>
            </a:r>
            <a:r>
              <a:rPr sz="1950" baseline="-17000" dirty="0">
                <a:solidFill>
                  <a:srgbClr val="0432FF"/>
                </a:solidFill>
                <a:latin typeface="Palatino Linotype" panose="02040502050505030304"/>
                <a:cs typeface="Palatino Linotype" panose="02040502050505030304"/>
              </a:rPr>
              <a:t>2</a:t>
            </a:r>
            <a:r>
              <a:rPr sz="2000" dirty="0">
                <a:latin typeface="Palatino Linotype" panose="02040502050505030304"/>
                <a:cs typeface="Palatino Linotype" panose="02040502050505030304"/>
              </a:rPr>
              <a:t>,</a:t>
            </a:r>
            <a:r>
              <a:rPr sz="2000" spc="-10"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d</a:t>
            </a:r>
            <a:r>
              <a:rPr sz="1950" baseline="-17000" dirty="0">
                <a:solidFill>
                  <a:srgbClr val="0432FF"/>
                </a:solidFill>
                <a:latin typeface="Palatino Linotype" panose="02040502050505030304"/>
                <a:cs typeface="Palatino Linotype" panose="02040502050505030304"/>
              </a:rPr>
              <a:t>3</a:t>
            </a:r>
            <a:r>
              <a:rPr sz="1950" spc="254" baseline="-17000"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a:t>
            </a:r>
            <a:r>
              <a:rPr sz="2000" spc="-1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r>
              <a:rPr sz="1950" baseline="-17000" dirty="0">
                <a:latin typeface="Palatino Linotype" panose="02040502050505030304"/>
                <a:cs typeface="Palatino Linotype" panose="02040502050505030304"/>
              </a:rPr>
              <a:t>2</a:t>
            </a:r>
            <a:endParaRPr sz="1950" baseline="-17000">
              <a:latin typeface="Palatino Linotype" panose="02040502050505030304"/>
              <a:cs typeface="Palatino Linotype" panose="02040502050505030304"/>
            </a:endParaRPr>
          </a:p>
          <a:p>
            <a:pPr>
              <a:lnSpc>
                <a:spcPct val="100000"/>
              </a:lnSpc>
              <a:buChar char="•"/>
            </a:pPr>
            <a:endParaRPr sz="2400">
              <a:latin typeface="Palatino Linotype" panose="02040502050505030304"/>
              <a:cs typeface="Palatino Linotype" panose="02040502050505030304"/>
            </a:endParaRPr>
          </a:p>
          <a:p>
            <a:pPr marL="431800" marR="147320" indent="-342900">
              <a:lnSpc>
                <a:spcPct val="100000"/>
              </a:lnSpc>
              <a:buFont typeface="Arial MT"/>
              <a:buChar char="•"/>
              <a:tabLst>
                <a:tab pos="431165" algn="l"/>
                <a:tab pos="431800" algn="l"/>
              </a:tabLst>
            </a:pPr>
            <a:r>
              <a:rPr sz="2000" i="1" dirty="0">
                <a:solidFill>
                  <a:srgbClr val="0432FF"/>
                </a:solidFill>
                <a:latin typeface="Palatino Linotype" panose="02040502050505030304"/>
                <a:cs typeface="Palatino Linotype" panose="02040502050505030304"/>
              </a:rPr>
              <a:t>d</a:t>
            </a:r>
            <a:r>
              <a:rPr sz="1950" baseline="-17000" dirty="0">
                <a:solidFill>
                  <a:srgbClr val="0432FF"/>
                </a:solidFill>
                <a:latin typeface="Palatino Linotype" panose="02040502050505030304"/>
                <a:cs typeface="Palatino Linotype" panose="02040502050505030304"/>
              </a:rPr>
              <a:t>5</a:t>
            </a:r>
            <a:r>
              <a:rPr sz="1950" spc="270" baseline="-17000"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reaches </a:t>
            </a:r>
            <a:r>
              <a:rPr sz="2000" i="1" dirty="0">
                <a:latin typeface="Palatino Linotype" panose="02040502050505030304"/>
                <a:cs typeface="Palatino Linotype" panose="02040502050505030304"/>
              </a:rPr>
              <a:t>B</a:t>
            </a:r>
            <a:r>
              <a:rPr sz="1950" baseline="-17000" dirty="0">
                <a:latin typeface="Palatino Linotype" panose="02040502050505030304"/>
                <a:cs typeface="Palatino Linotype" panose="02040502050505030304"/>
              </a:rPr>
              <a:t>2</a:t>
            </a:r>
            <a:r>
              <a:rPr sz="1950" spc="52" baseline="-17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since there </a:t>
            </a:r>
            <a:r>
              <a:rPr sz="2000" dirty="0">
                <a:latin typeface="Palatino Linotype" panose="02040502050505030304"/>
                <a:cs typeface="Palatino Linotype" panose="02040502050505030304"/>
              </a:rPr>
              <a:t>is </a:t>
            </a:r>
            <a:r>
              <a:rPr sz="2000" spc="-5" dirty="0">
                <a:latin typeface="Palatino Linotype" panose="02040502050505030304"/>
                <a:cs typeface="Palatino Linotype" panose="02040502050505030304"/>
              </a:rPr>
              <a:t>no</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other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 </a:t>
            </a:r>
            <a:r>
              <a:rPr sz="2000" i="1" dirty="0">
                <a:latin typeface="Palatino Linotype" panose="02040502050505030304"/>
                <a:cs typeface="Palatino Linotype" panose="02040502050505030304"/>
              </a:rPr>
              <a:t>j</a:t>
            </a:r>
            <a:r>
              <a:rPr sz="2000" i="1"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in</a:t>
            </a:r>
            <a:r>
              <a:rPr sz="2000" spc="-5" dirty="0">
                <a:latin typeface="Palatino Linotype" panose="02040502050505030304"/>
                <a:cs typeface="Palatino Linotype" panose="02040502050505030304"/>
              </a:rPr>
              <a:t> the loop</a:t>
            </a:r>
            <a:endParaRPr sz="2000">
              <a:latin typeface="Palatino Linotype" panose="02040502050505030304"/>
              <a:cs typeface="Palatino Linotype" panose="02040502050505030304"/>
            </a:endParaRPr>
          </a:p>
          <a:p>
            <a:pPr>
              <a:lnSpc>
                <a:spcPct val="100000"/>
              </a:lnSpc>
              <a:buChar char="•"/>
            </a:pPr>
            <a:endParaRPr sz="2400">
              <a:latin typeface="Palatino Linotype" panose="02040502050505030304"/>
              <a:cs typeface="Palatino Linotype" panose="02040502050505030304"/>
            </a:endParaRPr>
          </a:p>
          <a:p>
            <a:pPr marL="433070" marR="62865" indent="-342900">
              <a:lnSpc>
                <a:spcPct val="100000"/>
              </a:lnSpc>
              <a:buFont typeface="Arial MT"/>
              <a:buChar char="•"/>
              <a:tabLst>
                <a:tab pos="431800" algn="l"/>
                <a:tab pos="433705" algn="l"/>
              </a:tabLst>
            </a:pPr>
            <a:r>
              <a:rPr sz="2000" i="1" dirty="0">
                <a:solidFill>
                  <a:srgbClr val="FF0000"/>
                </a:solidFill>
                <a:latin typeface="Palatino Linotype" panose="02040502050505030304"/>
                <a:cs typeface="Palatino Linotype" panose="02040502050505030304"/>
              </a:rPr>
              <a:t>d</a:t>
            </a:r>
            <a:r>
              <a:rPr sz="1950" i="1" baseline="-17000" dirty="0">
                <a:solidFill>
                  <a:srgbClr val="FF0000"/>
                </a:solidFill>
                <a:latin typeface="Palatino Linotype" panose="02040502050505030304"/>
                <a:cs typeface="Palatino Linotype" panose="02040502050505030304"/>
              </a:rPr>
              <a:t>4</a:t>
            </a:r>
            <a:r>
              <a:rPr sz="1950" i="1" spc="262" baseline="-17000"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does not</a:t>
            </a:r>
            <a:r>
              <a:rPr sz="2000" spc="-1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r>
              <a:rPr sz="1950" baseline="-17000" dirty="0">
                <a:latin typeface="Palatino Linotype" panose="02040502050505030304"/>
                <a:cs typeface="Palatino Linotype" panose="02040502050505030304"/>
              </a:rPr>
              <a:t>2</a:t>
            </a:r>
            <a:r>
              <a:rPr sz="1950" spc="30" baseline="-1700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since</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i</a:t>
            </a:r>
            <a:r>
              <a:rPr sz="2000" i="1" spc="-2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always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redefined </a:t>
            </a:r>
            <a:r>
              <a:rPr sz="2000" dirty="0">
                <a:latin typeface="Palatino Linotype" panose="02040502050505030304"/>
                <a:cs typeface="Palatino Linotype" panose="02040502050505030304"/>
              </a:rPr>
              <a:t>by</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d</a:t>
            </a:r>
            <a:r>
              <a:rPr sz="1950" baseline="-17000" dirty="0">
                <a:latin typeface="Palatino Linotype" panose="02040502050505030304"/>
                <a:cs typeface="Palatino Linotype" panose="02040502050505030304"/>
              </a:rPr>
              <a:t>7</a:t>
            </a:r>
            <a:r>
              <a:rPr sz="1950" spc="37" baseline="-1700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(i.e.,</a:t>
            </a:r>
            <a:r>
              <a:rPr sz="2000" spc="-10" dirty="0">
                <a:latin typeface="Palatino Linotype" panose="02040502050505030304"/>
                <a:cs typeface="Palatino Linotype" panose="02040502050505030304"/>
              </a:rPr>
              <a:t> </a:t>
            </a:r>
            <a:r>
              <a:rPr sz="2000" i="1" dirty="0">
                <a:solidFill>
                  <a:srgbClr val="0432FF"/>
                </a:solidFill>
                <a:latin typeface="Palatino Linotype" panose="02040502050505030304"/>
                <a:cs typeface="Palatino Linotype" panose="02040502050505030304"/>
              </a:rPr>
              <a:t>d</a:t>
            </a:r>
            <a:r>
              <a:rPr sz="1950" baseline="-17000" dirty="0">
                <a:solidFill>
                  <a:srgbClr val="0432FF"/>
                </a:solidFill>
                <a:latin typeface="Palatino Linotype" panose="02040502050505030304"/>
                <a:cs typeface="Palatino Linotype" panose="02040502050505030304"/>
              </a:rPr>
              <a:t>7</a:t>
            </a:r>
            <a:r>
              <a:rPr sz="1950" spc="277" baseline="-17000"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reaches </a:t>
            </a:r>
            <a:r>
              <a:rPr sz="2000" i="1" dirty="0">
                <a:latin typeface="Palatino Linotype" panose="02040502050505030304"/>
                <a:cs typeface="Palatino Linotype" panose="02040502050505030304"/>
              </a:rPr>
              <a:t>B</a:t>
            </a:r>
            <a:r>
              <a:rPr sz="1950" baseline="-17000" dirty="0">
                <a:latin typeface="Palatino Linotype" panose="02040502050505030304"/>
                <a:cs typeface="Palatino Linotype" panose="02040502050505030304"/>
              </a:rPr>
              <a:t>2</a:t>
            </a:r>
            <a:r>
              <a:rPr sz="2000" dirty="0">
                <a:latin typeface="Palatino Linotype" panose="02040502050505030304"/>
                <a:cs typeface="Palatino Linotype" panose="02040502050505030304"/>
              </a:rPr>
              <a:t>)</a:t>
            </a:r>
            <a:endParaRPr sz="2000">
              <a:latin typeface="Palatino Linotype" panose="02040502050505030304"/>
              <a:cs typeface="Palatino Linotype" panose="02040502050505030304"/>
            </a:endParaRPr>
          </a:p>
          <a:p>
            <a:pPr>
              <a:lnSpc>
                <a:spcPct val="100000"/>
              </a:lnSpc>
              <a:spcBef>
                <a:spcPts val="5"/>
              </a:spcBef>
              <a:buChar char="•"/>
            </a:pPr>
            <a:endParaRPr sz="2400">
              <a:latin typeface="Palatino Linotype" panose="02040502050505030304"/>
              <a:cs typeface="Palatino Linotype" panose="02040502050505030304"/>
            </a:endParaRPr>
          </a:p>
          <a:p>
            <a:pPr marL="433070" indent="-343535">
              <a:lnSpc>
                <a:spcPct val="100000"/>
              </a:lnSpc>
              <a:buFont typeface="Arial MT"/>
              <a:buChar char="•"/>
              <a:tabLst>
                <a:tab pos="431800" algn="l"/>
                <a:tab pos="433705" algn="l"/>
              </a:tabLst>
            </a:pPr>
            <a:r>
              <a:rPr sz="2000" i="1" dirty="0">
                <a:solidFill>
                  <a:srgbClr val="0432FF"/>
                </a:solidFill>
                <a:latin typeface="Palatino Linotype" panose="02040502050505030304"/>
                <a:cs typeface="Palatino Linotype" panose="02040502050505030304"/>
              </a:rPr>
              <a:t>d</a:t>
            </a:r>
            <a:r>
              <a:rPr sz="1950" i="1" baseline="-17000" dirty="0">
                <a:solidFill>
                  <a:srgbClr val="0432FF"/>
                </a:solidFill>
                <a:latin typeface="Palatino Linotype" panose="02040502050505030304"/>
                <a:cs typeface="Palatino Linotype" panose="02040502050505030304"/>
              </a:rPr>
              <a:t>6</a:t>
            </a:r>
            <a:r>
              <a:rPr sz="1950" i="1" spc="240" baseline="-17000"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reaches</a:t>
            </a:r>
            <a:r>
              <a:rPr sz="2000" spc="-2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r>
              <a:rPr sz="1950" baseline="-17000" dirty="0">
                <a:latin typeface="Palatino Linotype" panose="02040502050505030304"/>
                <a:cs typeface="Palatino Linotype" panose="02040502050505030304"/>
              </a:rPr>
              <a:t>2</a:t>
            </a:r>
            <a:endParaRPr sz="1950" baseline="-17000">
              <a:latin typeface="Palatino Linotype" panose="02040502050505030304"/>
              <a:cs typeface="Palatino Linotype" panose="02040502050505030304"/>
            </a:endParaRPr>
          </a:p>
        </p:txBody>
      </p:sp>
      <p:pic>
        <p:nvPicPr>
          <p:cNvPr id="5" name="object 5"/>
          <p:cNvPicPr/>
          <p:nvPr/>
        </p:nvPicPr>
        <p:blipFill>
          <a:blip r:embed="rId4" cstate="print"/>
          <a:stretch>
            <a:fillRect/>
          </a:stretch>
        </p:blipFill>
        <p:spPr>
          <a:xfrm>
            <a:off x="3394819" y="1533169"/>
            <a:ext cx="697000" cy="697000"/>
          </a:xfrm>
          <a:prstGeom prst="rect">
            <a:avLst/>
          </a:prstGeom>
        </p:spPr>
      </p:pic>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39</a:t>
            </a:fld>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40</a:t>
            </a:fld>
            <a:endParaRPr dirty="0"/>
          </a:p>
        </p:txBody>
      </p:sp>
      <p:sp>
        <p:nvSpPr>
          <p:cNvPr id="2" name="object 2"/>
          <p:cNvSpPr txBox="1">
            <a:spLocks noGrp="1"/>
          </p:cNvSpPr>
          <p:nvPr>
            <p:ph type="title"/>
          </p:nvPr>
        </p:nvSpPr>
        <p:spPr>
          <a:xfrm>
            <a:off x="707390" y="524763"/>
            <a:ext cx="5001260" cy="635000"/>
          </a:xfrm>
          <a:prstGeom prst="rect">
            <a:avLst/>
          </a:prstGeom>
        </p:spPr>
        <p:txBody>
          <a:bodyPr vert="horz" wrap="square" lIns="0" tIns="12700" rIns="0" bIns="0" rtlCol="0">
            <a:spAutoFit/>
          </a:bodyPr>
          <a:lstStyle/>
          <a:p>
            <a:pPr marL="12700">
              <a:lnSpc>
                <a:spcPct val="100000"/>
              </a:lnSpc>
              <a:spcBef>
                <a:spcPts val="100"/>
              </a:spcBef>
            </a:pPr>
            <a:r>
              <a:rPr sz="4000" spc="-5" dirty="0"/>
              <a:t>Reaching</a:t>
            </a:r>
            <a:r>
              <a:rPr sz="4000" spc="-75" dirty="0"/>
              <a:t> </a:t>
            </a:r>
            <a:r>
              <a:rPr sz="4000" dirty="0"/>
              <a:t>Definitions</a:t>
            </a:r>
            <a:endParaRPr sz="4000"/>
          </a:p>
        </p:txBody>
      </p:sp>
      <p:sp>
        <p:nvSpPr>
          <p:cNvPr id="3" name="object 3"/>
          <p:cNvSpPr txBox="1"/>
          <p:nvPr/>
        </p:nvSpPr>
        <p:spPr>
          <a:xfrm>
            <a:off x="707390" y="1600708"/>
            <a:ext cx="7726045" cy="3840479"/>
          </a:xfrm>
          <a:prstGeom prst="rect">
            <a:avLst/>
          </a:prstGeom>
        </p:spPr>
        <p:txBody>
          <a:bodyPr vert="horz" wrap="square" lIns="0" tIns="12700" rIns="0" bIns="0" rtlCol="0">
            <a:spAutoFit/>
          </a:bodyPr>
          <a:lstStyle/>
          <a:p>
            <a:pPr marL="242570" marR="548640" indent="-230505">
              <a:lnSpc>
                <a:spcPct val="117000"/>
              </a:lnSpc>
              <a:spcBef>
                <a:spcPts val="100"/>
              </a:spcBef>
              <a:buFont typeface="Arial MT"/>
              <a:buChar char="•"/>
              <a:tabLst>
                <a:tab pos="242570" algn="l"/>
                <a:tab pos="242570" algn="l"/>
              </a:tabLst>
            </a:pPr>
            <a:r>
              <a:rPr sz="2200" spc="-5" dirty="0">
                <a:latin typeface="Palatino Linotype" panose="02040502050505030304"/>
                <a:cs typeface="Palatino Linotype" panose="02040502050505030304"/>
              </a:rPr>
              <a:t>For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reaching</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definitions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analysis,</a:t>
            </a:r>
            <a:r>
              <a:rPr sz="2200" spc="5" dirty="0">
                <a:latin typeface="Palatino Linotype" panose="02040502050505030304"/>
                <a:cs typeface="Palatino Linotype" panose="02040502050505030304"/>
              </a:rPr>
              <a:t> </a:t>
            </a:r>
            <a:r>
              <a:rPr sz="2200" spc="-20" dirty="0">
                <a:latin typeface="Palatino Linotype" panose="02040502050505030304"/>
                <a:cs typeface="Palatino Linotype" panose="02040502050505030304"/>
              </a:rPr>
              <a:t>we</a:t>
            </a:r>
            <a:r>
              <a:rPr sz="2200" spc="-5" dirty="0">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allow</a:t>
            </a:r>
            <a:r>
              <a:rPr sz="2200" dirty="0">
                <a:solidFill>
                  <a:srgbClr val="0432FF"/>
                </a:solidFill>
                <a:latin typeface="Palatino Linotype" panose="02040502050505030304"/>
                <a:cs typeface="Palatino Linotype" panose="02040502050505030304"/>
              </a:rPr>
              <a:t> </a:t>
            </a:r>
            <a:r>
              <a:rPr sz="2200" spc="-5" dirty="0">
                <a:solidFill>
                  <a:srgbClr val="0432FF"/>
                </a:solidFill>
                <a:latin typeface="Palatino Linotype" panose="02040502050505030304"/>
                <a:cs typeface="Palatino Linotype" panose="02040502050505030304"/>
              </a:rPr>
              <a:t>inaccuracies</a:t>
            </a:r>
            <a:r>
              <a:rPr sz="2200" spc="-5" dirty="0">
                <a:latin typeface="Palatino Linotype" panose="02040502050505030304"/>
                <a:cs typeface="Palatino Linotype" panose="02040502050505030304"/>
              </a:rPr>
              <a:t>. </a:t>
            </a:r>
            <a:r>
              <a:rPr sz="2200" spc="-535" dirty="0">
                <a:latin typeface="Palatino Linotype" panose="02040502050505030304"/>
                <a:cs typeface="Palatino Linotype" panose="02040502050505030304"/>
              </a:rPr>
              <a:t> </a:t>
            </a:r>
            <a:r>
              <a:rPr sz="2200" spc="-25" dirty="0">
                <a:latin typeface="Palatino Linotype" panose="02040502050505030304"/>
                <a:cs typeface="Palatino Linotype" panose="02040502050505030304"/>
              </a:rPr>
              <a:t>However,</a:t>
            </a:r>
            <a:r>
              <a:rPr sz="2200" spc="-5" dirty="0">
                <a:latin typeface="Palatino Linotype" panose="02040502050505030304"/>
                <a:cs typeface="Palatino Linotype" panose="02040502050505030304"/>
              </a:rPr>
              <a:t> the decisions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should</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 </a:t>
            </a:r>
            <a:r>
              <a:rPr sz="2200" spc="-5" dirty="0">
                <a:solidFill>
                  <a:srgbClr val="FF0000"/>
                </a:solidFill>
                <a:latin typeface="Palatino Linotype" panose="02040502050505030304"/>
                <a:cs typeface="Palatino Linotype" panose="02040502050505030304"/>
              </a:rPr>
              <a:t>”</a:t>
            </a:r>
            <a:r>
              <a:rPr sz="2200" i="1" spc="-5" dirty="0">
                <a:solidFill>
                  <a:srgbClr val="FF0000"/>
                </a:solidFill>
                <a:latin typeface="Palatino Linotype" panose="02040502050505030304"/>
                <a:cs typeface="Palatino Linotype" panose="02040502050505030304"/>
              </a:rPr>
              <a:t>safe</a:t>
            </a:r>
            <a:r>
              <a:rPr sz="2200" spc="-5" dirty="0">
                <a:solidFill>
                  <a:srgbClr val="FF0000"/>
                </a:solidFill>
                <a:latin typeface="Palatino Linotype" panose="02040502050505030304"/>
                <a:cs typeface="Palatino Linotype" panose="02040502050505030304"/>
              </a:rPr>
              <a:t>”</a:t>
            </a:r>
            <a:r>
              <a:rPr sz="2200" spc="-5" dirty="0">
                <a:latin typeface="Palatino Linotype" panose="02040502050505030304"/>
                <a:cs typeface="Palatino Linotype" panose="02040502050505030304"/>
              </a:rPr>
              <a:t>.</a:t>
            </a:r>
            <a:endParaRPr sz="2200" dirty="0">
              <a:latin typeface="Palatino Linotype" panose="02040502050505030304"/>
              <a:cs typeface="Palatino Linotype" panose="02040502050505030304"/>
            </a:endParaRPr>
          </a:p>
          <a:p>
            <a:pPr marL="698500" lvl="1" indent="-228600">
              <a:lnSpc>
                <a:spcPct val="100000"/>
              </a:lnSpc>
              <a:spcBef>
                <a:spcPts val="1165"/>
              </a:spcBef>
              <a:buFont typeface="Wingdings" panose="05000000000000000000"/>
              <a:buChar char=""/>
              <a:tabLst>
                <a:tab pos="698500" algn="l"/>
              </a:tabLst>
            </a:pPr>
            <a:r>
              <a:rPr sz="1800" dirty="0">
                <a:latin typeface="Palatino Linotype" panose="02040502050505030304"/>
                <a:cs typeface="Palatino Linotype" panose="02040502050505030304"/>
              </a:rPr>
              <a:t>It</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ok</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that</a:t>
            </a:r>
            <a:r>
              <a:rPr sz="1800" spc="-5" dirty="0">
                <a:latin typeface="Palatino Linotype" panose="02040502050505030304"/>
                <a:cs typeface="Palatino Linotype" panose="02040502050505030304"/>
              </a:rPr>
              <a:t> some</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inferred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reaching</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defs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cannot</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actually</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point</a:t>
            </a:r>
          </a:p>
          <a:p>
            <a:pPr marL="698500" lvl="1" indent="-228600">
              <a:lnSpc>
                <a:spcPct val="100000"/>
              </a:lnSpc>
              <a:spcBef>
                <a:spcPts val="1035"/>
              </a:spcBef>
              <a:buFont typeface="Wingdings" panose="05000000000000000000"/>
              <a:buChar char=""/>
              <a:tabLst>
                <a:tab pos="698500" algn="l"/>
              </a:tabLst>
            </a:pPr>
            <a:r>
              <a:rPr sz="1800" spc="-20" dirty="0">
                <a:latin typeface="Palatino Linotype" panose="02040502050505030304"/>
                <a:cs typeface="Palatino Linotype" panose="02040502050505030304"/>
              </a:rPr>
              <a:t>However,</a:t>
            </a:r>
            <a:r>
              <a:rPr sz="1800" spc="-5" dirty="0">
                <a:latin typeface="Palatino Linotype" panose="02040502050505030304"/>
                <a:cs typeface="Palatino Linotype" panose="02040502050505030304"/>
              </a:rPr>
              <a:t> those </a:t>
            </a:r>
            <a:r>
              <a:rPr sz="1800" dirty="0">
                <a:latin typeface="Palatino Linotype" panose="02040502050505030304"/>
                <a:cs typeface="Palatino Linotype" panose="02040502050505030304"/>
              </a:rPr>
              <a:t>defs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that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 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point </a:t>
            </a:r>
            <a:r>
              <a:rPr sz="1800" spc="-5" dirty="0">
                <a:latin typeface="Palatino Linotype" panose="02040502050505030304"/>
                <a:cs typeface="Palatino Linotype" panose="02040502050505030304"/>
              </a:rPr>
              <a:t>should </a:t>
            </a:r>
            <a:r>
              <a:rPr sz="1800" dirty="0">
                <a:latin typeface="Palatino Linotype" panose="02040502050505030304"/>
                <a:cs typeface="Palatino Linotype" panose="02040502050505030304"/>
              </a:rPr>
              <a:t>be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identified</a:t>
            </a:r>
          </a:p>
          <a:p>
            <a:pPr marL="698500" lvl="1" indent="-228600">
              <a:lnSpc>
                <a:spcPct val="100000"/>
              </a:lnSpc>
              <a:spcBef>
                <a:spcPts val="1030"/>
              </a:spcBef>
              <a:buFont typeface="Wingdings" panose="05000000000000000000"/>
              <a:buChar char=""/>
              <a:tabLst>
                <a:tab pos="698500" algn="l"/>
              </a:tabLst>
            </a:pPr>
            <a:r>
              <a:rPr sz="1800" dirty="0">
                <a:latin typeface="Palatino Linotype" panose="02040502050505030304"/>
                <a:cs typeface="Palatino Linotype" panose="02040502050505030304"/>
              </a:rPr>
              <a:t>In</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other</a:t>
            </a:r>
            <a:r>
              <a:rPr sz="1800" spc="-10" dirty="0">
                <a:latin typeface="Palatino Linotype" panose="02040502050505030304"/>
                <a:cs typeface="Palatino Linotype" panose="02040502050505030304"/>
              </a:rPr>
              <a:t> words,</a:t>
            </a:r>
            <a:r>
              <a:rPr sz="1800" spc="-5" dirty="0">
                <a:latin typeface="Palatino Linotype" panose="02040502050505030304"/>
                <a:cs typeface="Palatino Linotype" panose="02040502050505030304"/>
              </a:rPr>
              <a:t> over-approximations</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are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acceptable</a:t>
            </a:r>
          </a:p>
          <a:p>
            <a:pPr marL="242570" marR="5080" indent="-230505">
              <a:lnSpc>
                <a:spcPct val="122000"/>
              </a:lnSpc>
              <a:spcBef>
                <a:spcPts val="1665"/>
              </a:spcBef>
              <a:buClr>
                <a:srgbClr val="000000"/>
              </a:buClr>
              <a:buFont typeface="Arial MT"/>
              <a:buChar char="•"/>
              <a:tabLst>
                <a:tab pos="242570" algn="l"/>
                <a:tab pos="242570" algn="l"/>
              </a:tabLst>
            </a:pPr>
            <a:r>
              <a:rPr sz="2200" b="1" i="1" spc="-5" dirty="0">
                <a:solidFill>
                  <a:srgbClr val="FF0000"/>
                </a:solidFill>
                <a:latin typeface="Palatino Linotype" panose="02040502050505030304"/>
                <a:cs typeface="Palatino Linotype" panose="02040502050505030304"/>
              </a:rPr>
              <a:t>Reason</a:t>
            </a:r>
            <a:r>
              <a:rPr sz="2200" b="1" i="1" dirty="0">
                <a:solidFill>
                  <a:srgbClr val="FF0000"/>
                </a:solidFill>
                <a:latin typeface="Palatino Linotype" panose="02040502050505030304"/>
                <a:cs typeface="Palatino Linotype" panose="02040502050505030304"/>
              </a:rPr>
              <a:t> of </a:t>
            </a:r>
            <a:r>
              <a:rPr sz="2200" b="1" i="1" spc="-5" dirty="0">
                <a:solidFill>
                  <a:srgbClr val="FF0000"/>
                </a:solidFill>
                <a:latin typeface="Palatino Linotype" panose="02040502050505030304"/>
                <a:cs typeface="Palatino Linotype" panose="02040502050505030304"/>
              </a:rPr>
              <a:t>inaccuracies:</a:t>
            </a:r>
            <a:r>
              <a:rPr sz="2200" b="1" i="1"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general,</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decide whether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 </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path</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 </a:t>
            </a:r>
            <a:r>
              <a:rPr sz="2200" spc="-5" dirty="0">
                <a:latin typeface="Palatino Linotype" panose="02040502050505030304"/>
                <a:cs typeface="Palatino Linotype" panose="02040502050505030304"/>
              </a:rPr>
              <a:t>flow</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graph</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 taken is</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an</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undecidable problem</a:t>
            </a:r>
            <a:endParaRPr sz="2200" dirty="0">
              <a:latin typeface="Palatino Linotype" panose="02040502050505030304"/>
              <a:cs typeface="Palatino Linotype" panose="02040502050505030304"/>
            </a:endParaRPr>
          </a:p>
          <a:p>
            <a:pPr marL="698500" marR="97790" lvl="1" indent="-228600">
              <a:lnSpc>
                <a:spcPct val="119000"/>
              </a:lnSpc>
              <a:spcBef>
                <a:spcPts val="610"/>
              </a:spcBef>
              <a:buFont typeface="Wingdings" panose="05000000000000000000"/>
              <a:buChar char=""/>
              <a:tabLst>
                <a:tab pos="698500" algn="l"/>
              </a:tabLst>
            </a:pPr>
            <a:r>
              <a:rPr sz="1900" spc="-65" dirty="0">
                <a:latin typeface="Palatino Linotype" panose="02040502050505030304"/>
                <a:cs typeface="Palatino Linotype" panose="02040502050505030304"/>
              </a:rPr>
              <a:t>We</a:t>
            </a:r>
            <a:r>
              <a:rPr sz="1900" dirty="0">
                <a:latin typeface="Palatino Linotype" panose="02040502050505030304"/>
                <a:cs typeface="Palatino Linotype" panose="02040502050505030304"/>
              </a:rPr>
              <a:t> often</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simply</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assume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that</a:t>
            </a:r>
            <a:r>
              <a:rPr sz="1900" spc="5" dirty="0">
                <a:latin typeface="Palatino Linotype" panose="02040502050505030304"/>
                <a:cs typeface="Palatino Linotype" panose="02040502050505030304"/>
              </a:rPr>
              <a:t> </a:t>
            </a:r>
            <a:r>
              <a:rPr sz="1900" spc="-10" dirty="0">
                <a:latin typeface="Palatino Linotype" panose="02040502050505030304"/>
                <a:cs typeface="Palatino Linotype" panose="02040502050505030304"/>
              </a:rPr>
              <a:t>every</a:t>
            </a:r>
            <a:r>
              <a:rPr sz="1900" spc="5" dirty="0">
                <a:latin typeface="Palatino Linotype" panose="02040502050505030304"/>
                <a:cs typeface="Palatino Linotype" panose="02040502050505030304"/>
              </a:rPr>
              <a:t> </a:t>
            </a:r>
            <a:r>
              <a:rPr sz="1900" dirty="0">
                <a:latin typeface="Palatino Linotype" panose="02040502050505030304"/>
                <a:cs typeface="Palatino Linotype" panose="02040502050505030304"/>
              </a:rPr>
              <a:t>path</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in</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flow</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graph</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can</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be </a:t>
            </a:r>
            <a:r>
              <a:rPr sz="1900" spc="-459"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followed in</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some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execution</a:t>
            </a:r>
            <a:r>
              <a:rPr sz="1900" spc="-10" dirty="0">
                <a:latin typeface="Palatino Linotype" panose="02040502050505030304"/>
                <a:cs typeface="Palatino Linotype" panose="02040502050505030304"/>
              </a:rPr>
              <a:t> </a:t>
            </a:r>
            <a:r>
              <a:rPr sz="1900" dirty="0">
                <a:latin typeface="Palatino Linotype" panose="02040502050505030304"/>
                <a:cs typeface="Palatino Linotype" panose="02040502050505030304"/>
              </a:rPr>
              <a:t>of </a:t>
            </a:r>
            <a:r>
              <a:rPr sz="1900" spc="-5" dirty="0">
                <a:latin typeface="Palatino Linotype" panose="02040502050505030304"/>
                <a:cs typeface="Palatino Linotype" panose="02040502050505030304"/>
              </a:rPr>
              <a:t>the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program</a:t>
            </a:r>
            <a:endParaRPr sz="1900" dirty="0">
              <a:latin typeface="Palatino Linotype" panose="02040502050505030304"/>
              <a:cs typeface="Palatino Linotype" panose="0204050205050503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429760" cy="635000"/>
          </a:xfrm>
          <a:prstGeom prst="rect">
            <a:avLst/>
          </a:prstGeom>
        </p:spPr>
        <p:txBody>
          <a:bodyPr vert="horz" wrap="square" lIns="0" tIns="12700" rIns="0" bIns="0" rtlCol="0">
            <a:spAutoFit/>
          </a:bodyPr>
          <a:lstStyle/>
          <a:p>
            <a:pPr marL="12700">
              <a:lnSpc>
                <a:spcPct val="100000"/>
              </a:lnSpc>
              <a:spcBef>
                <a:spcPts val="100"/>
              </a:spcBef>
            </a:pPr>
            <a:r>
              <a:rPr sz="4000" spc="-40" dirty="0"/>
              <a:t>Transfer</a:t>
            </a:r>
            <a:r>
              <a:rPr sz="4000" spc="-55" dirty="0"/>
              <a:t> </a:t>
            </a:r>
            <a:r>
              <a:rPr sz="4000" spc="-5" dirty="0"/>
              <a:t>Equations</a:t>
            </a:r>
            <a:endParaRPr sz="4000"/>
          </a:p>
        </p:txBody>
      </p:sp>
      <p:sp>
        <p:nvSpPr>
          <p:cNvPr id="3" name="object 3"/>
          <p:cNvSpPr/>
          <p:nvPr/>
        </p:nvSpPr>
        <p:spPr>
          <a:xfrm>
            <a:off x="1636801" y="3786184"/>
            <a:ext cx="278765" cy="212090"/>
          </a:xfrm>
          <a:custGeom>
            <a:avLst/>
            <a:gdLst/>
            <a:ahLst/>
            <a:cxnLst/>
            <a:rect l="l" t="t" r="r" b="b"/>
            <a:pathLst>
              <a:path w="278764" h="212089">
                <a:moveTo>
                  <a:pt x="211192" y="0"/>
                </a:moveTo>
                <a:lnTo>
                  <a:pt x="208178" y="8594"/>
                </a:lnTo>
                <a:lnTo>
                  <a:pt x="220435" y="13913"/>
                </a:lnTo>
                <a:lnTo>
                  <a:pt x="230976" y="21277"/>
                </a:lnTo>
                <a:lnTo>
                  <a:pt x="252380" y="55409"/>
                </a:lnTo>
                <a:lnTo>
                  <a:pt x="259412" y="104811"/>
                </a:lnTo>
                <a:lnTo>
                  <a:pt x="258627" y="123487"/>
                </a:lnTo>
                <a:lnTo>
                  <a:pt x="246854" y="169217"/>
                </a:lnTo>
                <a:lnTo>
                  <a:pt x="220578" y="197806"/>
                </a:lnTo>
                <a:lnTo>
                  <a:pt x="208512" y="203150"/>
                </a:lnTo>
                <a:lnTo>
                  <a:pt x="211192" y="211744"/>
                </a:lnTo>
                <a:lnTo>
                  <a:pt x="251647" y="187708"/>
                </a:lnTo>
                <a:lnTo>
                  <a:pt x="274369" y="143335"/>
                </a:lnTo>
                <a:lnTo>
                  <a:pt x="278723" y="105928"/>
                </a:lnTo>
                <a:lnTo>
                  <a:pt x="277631" y="86516"/>
                </a:lnTo>
                <a:lnTo>
                  <a:pt x="261254" y="37114"/>
                </a:lnTo>
                <a:lnTo>
                  <a:pt x="226543" y="5542"/>
                </a:lnTo>
                <a:lnTo>
                  <a:pt x="211192" y="0"/>
                </a:lnTo>
                <a:close/>
              </a:path>
              <a:path w="278764"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4" y="197806"/>
                </a:lnTo>
                <a:lnTo>
                  <a:pt x="47732" y="190369"/>
                </a:lnTo>
                <a:lnTo>
                  <a:pt x="26374" y="155690"/>
                </a:lnTo>
                <a:lnTo>
                  <a:pt x="19310" y="104811"/>
                </a:lnTo>
                <a:lnTo>
                  <a:pt x="20095" y="86746"/>
                </a:lnTo>
                <a:lnTo>
                  <a:pt x="31868" y="42137"/>
                </a:lnTo>
                <a:lnTo>
                  <a:pt x="58332" y="13913"/>
                </a:lnTo>
                <a:lnTo>
                  <a:pt x="70544" y="8594"/>
                </a:lnTo>
                <a:lnTo>
                  <a:pt x="67530" y="0"/>
                </a:lnTo>
                <a:close/>
              </a:path>
            </a:pathLst>
          </a:custGeom>
          <a:solidFill>
            <a:srgbClr val="000000"/>
          </a:solidFill>
        </p:spPr>
        <p:txBody>
          <a:bodyPr wrap="square" lIns="0" tIns="0" rIns="0" bIns="0" rtlCol="0"/>
          <a:lstStyle/>
          <a:p>
            <a:endParaRPr/>
          </a:p>
        </p:txBody>
      </p:sp>
      <p:sp>
        <p:nvSpPr>
          <p:cNvPr id="4" name="object 4"/>
          <p:cNvSpPr txBox="1"/>
          <p:nvPr/>
        </p:nvSpPr>
        <p:spPr>
          <a:xfrm>
            <a:off x="656590" y="1486915"/>
            <a:ext cx="7513955" cy="3975735"/>
          </a:xfrm>
          <a:prstGeom prst="rect">
            <a:avLst/>
          </a:prstGeom>
        </p:spPr>
        <p:txBody>
          <a:bodyPr vert="horz" wrap="square" lIns="0" tIns="183515" rIns="0" bIns="0" rtlCol="0">
            <a:spAutoFit/>
          </a:bodyPr>
          <a:lstStyle/>
          <a:p>
            <a:pPr marL="294005" indent="-230505">
              <a:lnSpc>
                <a:spcPct val="100000"/>
              </a:lnSpc>
              <a:spcBef>
                <a:spcPts val="1445"/>
              </a:spcBef>
              <a:buFont typeface="Arial MT"/>
              <a:buChar char="•"/>
              <a:tabLst>
                <a:tab pos="294005" algn="l"/>
              </a:tabLst>
            </a:pPr>
            <a:r>
              <a:rPr sz="2400" spc="-5" dirty="0">
                <a:latin typeface="Palatino Linotype" panose="02040502050505030304"/>
                <a:cs typeface="Palatino Linotype" panose="02040502050505030304"/>
              </a:rPr>
              <a:t>Consider </a:t>
            </a:r>
            <a:r>
              <a:rPr sz="2400" dirty="0">
                <a:latin typeface="Palatino Linotype" panose="02040502050505030304"/>
                <a:cs typeface="Palatino Linotype" panose="02040502050505030304"/>
              </a:rPr>
              <a:t>a</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statement</a:t>
            </a:r>
            <a:r>
              <a:rPr sz="2400" spc="-5" dirty="0">
                <a:latin typeface="Palatino Linotype" panose="02040502050505030304"/>
                <a:cs typeface="Palatino Linotype" panose="02040502050505030304"/>
              </a:rPr>
              <a:t> </a:t>
            </a:r>
            <a:r>
              <a:rPr sz="2400" dirty="0">
                <a:solidFill>
                  <a:srgbClr val="0432FF"/>
                </a:solidFill>
                <a:latin typeface="Consolas" panose="020B0609020204030204"/>
                <a:cs typeface="Consolas" panose="020B0609020204030204"/>
              </a:rPr>
              <a:t>d: u = v + w</a:t>
            </a:r>
            <a:endParaRPr sz="2400" dirty="0">
              <a:latin typeface="Consolas" panose="020B0609020204030204"/>
              <a:cs typeface="Consolas" panose="020B0609020204030204"/>
            </a:endParaRPr>
          </a:p>
          <a:p>
            <a:pPr marL="749300" marR="592455" lvl="1" indent="-228600">
              <a:lnSpc>
                <a:spcPct val="121000"/>
              </a:lnSpc>
              <a:spcBef>
                <a:spcPts val="615"/>
              </a:spcBef>
              <a:buFont typeface="Wingdings" panose="05000000000000000000"/>
              <a:buChar char=""/>
              <a:tabLst>
                <a:tab pos="749300" algn="l"/>
              </a:tabLst>
            </a:pPr>
            <a:r>
              <a:rPr sz="2000" dirty="0">
                <a:latin typeface="Palatino Linotype" panose="02040502050505030304"/>
                <a:cs typeface="Palatino Linotype" panose="02040502050505030304"/>
              </a:rPr>
              <a:t>It</a:t>
            </a:r>
            <a:r>
              <a:rPr sz="2000" spc="-5"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generates</a:t>
            </a:r>
            <a:r>
              <a:rPr sz="2000" i="1" dirty="0">
                <a:solidFill>
                  <a:srgbClr val="FF0000"/>
                </a:solidFill>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definition</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d</a:t>
            </a:r>
            <a:r>
              <a:rPr sz="2000" i="1"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spc="-10" dirty="0">
                <a:latin typeface="Palatino Linotype" panose="02040502050505030304"/>
                <a:cs typeface="Palatino Linotype" panose="02040502050505030304"/>
              </a:rPr>
              <a:t>variable</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u </a:t>
            </a:r>
            <a:r>
              <a:rPr sz="2000" spc="-5" dirty="0">
                <a:latin typeface="Palatino Linotype" panose="02040502050505030304"/>
                <a:cs typeface="Palatino Linotype" panose="02040502050505030304"/>
              </a:rPr>
              <a:t>and</a:t>
            </a:r>
            <a:r>
              <a:rPr sz="2000" spc="5" dirty="0">
                <a:latin typeface="Palatino Linotype" panose="02040502050505030304"/>
                <a:cs typeface="Palatino Linotype" panose="02040502050505030304"/>
              </a:rPr>
              <a:t> </a:t>
            </a:r>
            <a:r>
              <a:rPr sz="2000" i="1" spc="-10" dirty="0">
                <a:solidFill>
                  <a:srgbClr val="FF0000"/>
                </a:solidFill>
                <a:latin typeface="Palatino Linotype" panose="02040502050505030304"/>
                <a:cs typeface="Palatino Linotype" panose="02040502050505030304"/>
              </a:rPr>
              <a:t>kills</a:t>
            </a:r>
            <a:r>
              <a:rPr sz="2000" i="1" dirty="0">
                <a:solidFill>
                  <a:srgbClr val="FF0000"/>
                </a:solidFill>
                <a:latin typeface="Palatino Linotype" panose="02040502050505030304"/>
                <a:cs typeface="Palatino Linotype" panose="02040502050505030304"/>
              </a:rPr>
              <a:t> </a:t>
            </a:r>
            <a:r>
              <a:rPr sz="2000" dirty="0">
                <a:latin typeface="Palatino Linotype" panose="02040502050505030304"/>
                <a:cs typeface="Palatino Linotype" panose="02040502050505030304"/>
              </a:rPr>
              <a:t>all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other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definitions of </a:t>
            </a:r>
            <a:r>
              <a:rPr sz="2000" i="1" dirty="0">
                <a:latin typeface="Palatino Linotype" panose="02040502050505030304"/>
                <a:cs typeface="Palatino Linotype" panose="02040502050505030304"/>
              </a:rPr>
              <a:t>u</a:t>
            </a:r>
            <a:endParaRPr sz="2000" dirty="0">
              <a:latin typeface="Palatino Linotype" panose="02040502050505030304"/>
              <a:cs typeface="Palatino Linotype" panose="02040502050505030304"/>
            </a:endParaRPr>
          </a:p>
          <a:p>
            <a:pPr lvl="1">
              <a:lnSpc>
                <a:spcPct val="100000"/>
              </a:lnSpc>
              <a:spcBef>
                <a:spcPts val="10"/>
              </a:spcBef>
              <a:buChar char=""/>
            </a:pPr>
            <a:endParaRPr sz="2150" dirty="0">
              <a:latin typeface="Palatino Linotype" panose="02040502050505030304"/>
              <a:cs typeface="Palatino Linotype" panose="02040502050505030304"/>
            </a:endParaRPr>
          </a:p>
          <a:p>
            <a:pPr marL="294005" indent="-230505">
              <a:lnSpc>
                <a:spcPct val="100000"/>
              </a:lnSpc>
              <a:buFont typeface="Arial MT"/>
              <a:buChar char="•"/>
              <a:tabLst>
                <a:tab pos="294005" algn="l"/>
              </a:tabLst>
            </a:pPr>
            <a:r>
              <a:rPr sz="2400" u="sng" spc="-25" dirty="0">
                <a:uFill>
                  <a:solidFill>
                    <a:srgbClr val="000000"/>
                  </a:solidFill>
                </a:uFill>
                <a:latin typeface="Palatino Linotype" panose="02040502050505030304"/>
                <a:cs typeface="Palatino Linotype" panose="02040502050505030304"/>
              </a:rPr>
              <a:t>Transfer</a:t>
            </a:r>
            <a:r>
              <a:rPr sz="2400" u="sng" spc="-5" dirty="0">
                <a:uFill>
                  <a:solidFill>
                    <a:srgbClr val="000000"/>
                  </a:solidFill>
                </a:uFill>
                <a:latin typeface="Palatino Linotype" panose="02040502050505030304"/>
                <a:cs typeface="Palatino Linotype" panose="02040502050505030304"/>
              </a:rPr>
              <a:t> function</a:t>
            </a:r>
            <a:r>
              <a:rPr sz="2400" u="sng" dirty="0">
                <a:uFill>
                  <a:solidFill>
                    <a:srgbClr val="000000"/>
                  </a:solidFill>
                </a:uFill>
                <a:latin typeface="Palatino Linotype" panose="02040502050505030304"/>
                <a:cs typeface="Palatino Linotype" panose="02040502050505030304"/>
              </a:rPr>
              <a:t> of</a:t>
            </a:r>
            <a:r>
              <a:rPr sz="2400" u="sng" spc="-5" dirty="0">
                <a:uFill>
                  <a:solidFill>
                    <a:srgbClr val="000000"/>
                  </a:solidFill>
                </a:uFill>
                <a:latin typeface="Palatino Linotype" panose="02040502050505030304"/>
                <a:cs typeface="Palatino Linotype" panose="02040502050505030304"/>
              </a:rPr>
              <a:t> </a:t>
            </a:r>
            <a:r>
              <a:rPr sz="2400" u="sng" dirty="0">
                <a:uFill>
                  <a:solidFill>
                    <a:srgbClr val="000000"/>
                  </a:solidFill>
                </a:uFill>
                <a:latin typeface="Palatino Linotype" panose="02040502050505030304"/>
                <a:cs typeface="Palatino Linotype" panose="02040502050505030304"/>
              </a:rPr>
              <a:t>a statement</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is</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in </a:t>
            </a:r>
            <a:r>
              <a:rPr sz="2400" i="1" spc="-5" dirty="0">
                <a:solidFill>
                  <a:srgbClr val="FF0000"/>
                </a:solidFill>
                <a:latin typeface="Palatino Linotype" panose="02040502050505030304"/>
                <a:cs typeface="Palatino Linotype" panose="02040502050505030304"/>
              </a:rPr>
              <a:t>gen</a:t>
            </a:r>
            <a:r>
              <a:rPr sz="2400" spc="-5" dirty="0">
                <a:solidFill>
                  <a:srgbClr val="FF0000"/>
                </a:solidFill>
                <a:latin typeface="Palatino Linotype" panose="02040502050505030304"/>
                <a:cs typeface="Palatino Linotype" panose="02040502050505030304"/>
              </a:rPr>
              <a:t>-</a:t>
            </a:r>
            <a:r>
              <a:rPr sz="2400" i="1" spc="-5" dirty="0">
                <a:solidFill>
                  <a:srgbClr val="FF0000"/>
                </a:solidFill>
                <a:latin typeface="Palatino Linotype" panose="02040502050505030304"/>
                <a:cs typeface="Palatino Linotype" panose="02040502050505030304"/>
              </a:rPr>
              <a:t>kill</a:t>
            </a:r>
            <a:r>
              <a:rPr sz="2400" i="1" spc="-10" dirty="0">
                <a:solidFill>
                  <a:srgbClr val="FF0000"/>
                </a:solidFill>
                <a:latin typeface="Palatino Linotype" panose="02040502050505030304"/>
                <a:cs typeface="Palatino Linotype" panose="02040502050505030304"/>
              </a:rPr>
              <a:t> </a:t>
            </a:r>
            <a:r>
              <a:rPr sz="2400" dirty="0">
                <a:solidFill>
                  <a:srgbClr val="FF0000"/>
                </a:solidFill>
                <a:latin typeface="Palatino Linotype" panose="02040502050505030304"/>
                <a:cs typeface="Palatino Linotype" panose="02040502050505030304"/>
              </a:rPr>
              <a:t>form</a:t>
            </a:r>
            <a:r>
              <a:rPr sz="2400" dirty="0">
                <a:latin typeface="Palatino Linotype" panose="02040502050505030304"/>
                <a:cs typeface="Palatino Linotype" panose="02040502050505030304"/>
              </a:rPr>
              <a:t>:</a:t>
            </a:r>
          </a:p>
          <a:p>
            <a:pPr marL="749300" lvl="1" indent="-228600">
              <a:lnSpc>
                <a:spcPct val="100000"/>
              </a:lnSpc>
              <a:spcBef>
                <a:spcPts val="1105"/>
              </a:spcBef>
              <a:buFont typeface="Wingdings" panose="05000000000000000000"/>
              <a:buChar char=""/>
              <a:tabLst>
                <a:tab pos="749300" algn="l"/>
                <a:tab pos="1342390" algn="l"/>
              </a:tabLst>
            </a:pPr>
            <a:r>
              <a:rPr sz="1800" spc="-105" dirty="0">
                <a:latin typeface="Cambria Math" panose="02040503050406030204"/>
                <a:cs typeface="Cambria Math" panose="02040503050406030204"/>
              </a:rPr>
              <a:t>𝑓</a:t>
            </a:r>
            <a:r>
              <a:rPr sz="1950" spc="-157" baseline="-17000" dirty="0">
                <a:latin typeface="Cambria Math" panose="02040503050406030204"/>
                <a:cs typeface="Cambria Math" panose="02040503050406030204"/>
              </a:rPr>
              <a:t>𝑑</a:t>
            </a:r>
            <a:r>
              <a:rPr sz="1950" spc="217" baseline="-17000" dirty="0">
                <a:latin typeface="Cambria Math" panose="02040503050406030204"/>
                <a:cs typeface="Cambria Math" panose="02040503050406030204"/>
              </a:rPr>
              <a:t>  </a:t>
            </a:r>
            <a:r>
              <a:rPr sz="1800" dirty="0">
                <a:latin typeface="Cambria Math" panose="02040503050406030204"/>
                <a:cs typeface="Cambria Math" panose="02040503050406030204"/>
              </a:rPr>
              <a:t>𝑥	=</a:t>
            </a:r>
            <a:r>
              <a:rPr sz="1800" spc="90" dirty="0">
                <a:latin typeface="Cambria Math" panose="02040503050406030204"/>
                <a:cs typeface="Cambria Math" panose="02040503050406030204"/>
              </a:rPr>
              <a:t> </a:t>
            </a:r>
            <a:r>
              <a:rPr sz="1800" spc="15" dirty="0">
                <a:latin typeface="Cambria Math" panose="02040503050406030204"/>
                <a:cs typeface="Cambria Math" panose="02040503050406030204"/>
              </a:rPr>
              <a:t>𝑔𝑒𝑛</a:t>
            </a:r>
            <a:r>
              <a:rPr sz="1950" spc="22" baseline="-17000" dirty="0">
                <a:latin typeface="Cambria Math" panose="02040503050406030204"/>
                <a:cs typeface="Cambria Math" panose="02040503050406030204"/>
              </a:rPr>
              <a:t>𝑑</a:t>
            </a:r>
            <a:r>
              <a:rPr sz="1950" spc="337" baseline="-17000" dirty="0">
                <a:latin typeface="Cambria Math" panose="02040503050406030204"/>
                <a:cs typeface="Cambria Math" panose="02040503050406030204"/>
              </a:rPr>
              <a:t> </a:t>
            </a:r>
            <a:r>
              <a:rPr sz="1800" spc="75" dirty="0">
                <a:latin typeface="Cambria Math" panose="02040503050406030204"/>
                <a:cs typeface="Cambria Math" panose="02040503050406030204"/>
              </a:rPr>
              <a:t>𝖴</a:t>
            </a:r>
            <a:r>
              <a:rPr sz="1800" spc="-10" dirty="0">
                <a:latin typeface="Cambria Math" panose="02040503050406030204"/>
                <a:cs typeface="Cambria Math" panose="02040503050406030204"/>
              </a:rPr>
              <a:t> </a:t>
            </a:r>
            <a:r>
              <a:rPr sz="1800" dirty="0">
                <a:latin typeface="Cambria Math" panose="02040503050406030204"/>
                <a:cs typeface="Cambria Math" panose="02040503050406030204"/>
              </a:rPr>
              <a:t>(𝑥</a:t>
            </a:r>
            <a:r>
              <a:rPr sz="1800" spc="45"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5" dirty="0">
                <a:latin typeface="Cambria Math" panose="02040503050406030204"/>
                <a:cs typeface="Cambria Math" panose="02040503050406030204"/>
              </a:rPr>
              <a:t> </a:t>
            </a:r>
            <a:r>
              <a:rPr sz="1800" spc="30" dirty="0">
                <a:latin typeface="Cambria Math" panose="02040503050406030204"/>
                <a:cs typeface="Cambria Math" panose="02040503050406030204"/>
              </a:rPr>
              <a:t>𝑘𝑖𝑙𝑙</a:t>
            </a:r>
            <a:r>
              <a:rPr sz="1950" spc="44" baseline="-17000" dirty="0">
                <a:latin typeface="Cambria Math" panose="02040503050406030204"/>
                <a:cs typeface="Cambria Math" panose="02040503050406030204"/>
              </a:rPr>
              <a:t>𝑑</a:t>
            </a:r>
            <a:r>
              <a:rPr sz="1800" spc="30" dirty="0">
                <a:latin typeface="Cambria Math" panose="02040503050406030204"/>
                <a:cs typeface="Cambria Math" panose="02040503050406030204"/>
              </a:rPr>
              <a:t>)</a:t>
            </a:r>
            <a:endParaRPr sz="1800" dirty="0">
              <a:latin typeface="Cambria Math" panose="02040503050406030204"/>
              <a:cs typeface="Cambria Math" panose="02040503050406030204"/>
            </a:endParaRPr>
          </a:p>
          <a:p>
            <a:pPr marL="749300" lvl="1" indent="-228600">
              <a:lnSpc>
                <a:spcPct val="100000"/>
              </a:lnSpc>
              <a:spcBef>
                <a:spcPts val="1655"/>
              </a:spcBef>
              <a:buFont typeface="Wingdings" panose="05000000000000000000"/>
              <a:buChar char=""/>
              <a:tabLst>
                <a:tab pos="749300" algn="l"/>
              </a:tabLst>
            </a:pPr>
            <a:r>
              <a:rPr sz="1800" i="1" dirty="0">
                <a:latin typeface="Palatino Linotype" panose="02040502050505030304"/>
                <a:cs typeface="Palatino Linotype" panose="02040502050505030304"/>
              </a:rPr>
              <a:t>x </a:t>
            </a:r>
            <a:r>
              <a:rPr sz="1800" dirty="0">
                <a:latin typeface="Palatino Linotype" panose="02040502050505030304"/>
                <a:cs typeface="Palatino Linotype" panose="02040502050505030304"/>
              </a:rPr>
              <a:t>is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data-flow</a:t>
            </a:r>
            <a:r>
              <a:rPr sz="1800" dirty="0">
                <a:latin typeface="Palatino Linotype" panose="02040502050505030304"/>
                <a:cs typeface="Palatino Linotype" panose="02040502050505030304"/>
              </a:rPr>
              <a:t> </a:t>
            </a:r>
            <a:r>
              <a:rPr sz="1800" spc="-15" dirty="0">
                <a:latin typeface="Palatino Linotype" panose="02040502050505030304"/>
                <a:cs typeface="Palatino Linotype" panose="02040502050505030304"/>
              </a:rPr>
              <a:t>value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(reaching </a:t>
            </a:r>
            <a:r>
              <a:rPr sz="1800" spc="-5" dirty="0">
                <a:latin typeface="Palatino Linotype" panose="02040502050505030304"/>
                <a:cs typeface="Palatino Linotype" panose="02040502050505030304"/>
              </a:rPr>
              <a:t>definitions)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before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statement</a:t>
            </a:r>
            <a:endParaRPr sz="1800" dirty="0">
              <a:latin typeface="Palatino Linotype" panose="02040502050505030304"/>
              <a:cs typeface="Palatino Linotype" panose="02040502050505030304"/>
            </a:endParaRPr>
          </a:p>
          <a:p>
            <a:pPr marL="749300" lvl="1" indent="-228600">
              <a:lnSpc>
                <a:spcPct val="100000"/>
              </a:lnSpc>
              <a:spcBef>
                <a:spcPts val="1630"/>
              </a:spcBef>
              <a:buFont typeface="Wingdings" panose="05000000000000000000"/>
              <a:buChar char=""/>
              <a:tabLst>
                <a:tab pos="749300" algn="l"/>
              </a:tabLst>
            </a:pPr>
            <a:r>
              <a:rPr sz="1800" spc="15" dirty="0">
                <a:latin typeface="Cambria Math" panose="02040503050406030204"/>
                <a:cs typeface="Cambria Math" panose="02040503050406030204"/>
              </a:rPr>
              <a:t>𝑔𝑒𝑛</a:t>
            </a:r>
            <a:r>
              <a:rPr sz="1950" spc="22" baseline="-15000" dirty="0">
                <a:latin typeface="Cambria Math" panose="02040503050406030204"/>
                <a:cs typeface="Cambria Math" panose="02040503050406030204"/>
              </a:rPr>
              <a:t>𝑑</a:t>
            </a:r>
            <a:r>
              <a:rPr sz="1950" spc="427" baseline="-15000" dirty="0">
                <a:latin typeface="Cambria Math" panose="02040503050406030204"/>
                <a:cs typeface="Cambria Math" panose="02040503050406030204"/>
              </a:rPr>
              <a:t> </a:t>
            </a:r>
            <a:r>
              <a:rPr sz="1800" dirty="0">
                <a:latin typeface="Palatino Linotype" panose="02040502050505030304"/>
                <a:cs typeface="Palatino Linotype" panose="02040502050505030304"/>
              </a:rPr>
              <a:t>is the </a:t>
            </a:r>
            <a:r>
              <a:rPr sz="1800" spc="-5" dirty="0">
                <a:latin typeface="Palatino Linotype" panose="02040502050505030304"/>
                <a:cs typeface="Palatino Linotype" panose="02040502050505030304"/>
              </a:rPr>
              <a:t>set</a:t>
            </a:r>
            <a:r>
              <a:rPr sz="1800" dirty="0">
                <a:latin typeface="Palatino Linotype" panose="02040502050505030304"/>
                <a:cs typeface="Palatino Linotype" panose="02040502050505030304"/>
              </a:rPr>
              <a:t> of</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generated</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definitions,</a:t>
            </a:r>
            <a:r>
              <a:rPr sz="1800" dirty="0">
                <a:latin typeface="Palatino Linotype" panose="02040502050505030304"/>
                <a:cs typeface="Palatino Linotype" panose="02040502050505030304"/>
              </a:rPr>
              <a:t> i.e., </a:t>
            </a:r>
            <a:r>
              <a:rPr sz="1800" spc="15" dirty="0">
                <a:latin typeface="Cambria Math" panose="02040503050406030204"/>
                <a:cs typeface="Cambria Math" panose="02040503050406030204"/>
              </a:rPr>
              <a:t>{𝑑}</a:t>
            </a:r>
            <a:endParaRPr sz="1800" dirty="0">
              <a:latin typeface="Cambria Math" panose="02040503050406030204"/>
              <a:cs typeface="Cambria Math" panose="02040503050406030204"/>
            </a:endParaRPr>
          </a:p>
          <a:p>
            <a:pPr marL="749300" lvl="1" indent="-228600">
              <a:lnSpc>
                <a:spcPct val="100000"/>
              </a:lnSpc>
              <a:spcBef>
                <a:spcPts val="1635"/>
              </a:spcBef>
              <a:buFont typeface="Wingdings" panose="05000000000000000000"/>
              <a:buChar char=""/>
              <a:tabLst>
                <a:tab pos="749300" algn="l"/>
              </a:tabLst>
            </a:pPr>
            <a:r>
              <a:rPr sz="1800" spc="10" dirty="0">
                <a:latin typeface="Cambria Math" panose="02040503050406030204"/>
                <a:cs typeface="Cambria Math" panose="02040503050406030204"/>
              </a:rPr>
              <a:t>𝑘𝑖𝑙𝑙</a:t>
            </a:r>
            <a:r>
              <a:rPr sz="1950" spc="15" baseline="-17000" dirty="0">
                <a:latin typeface="Cambria Math" panose="02040503050406030204"/>
                <a:cs typeface="Cambria Math" panose="02040503050406030204"/>
              </a:rPr>
              <a:t>𝑑</a:t>
            </a:r>
            <a:r>
              <a:rPr sz="1950" spc="427" baseline="-17000" dirty="0">
                <a:latin typeface="Cambria Math" panose="02040503050406030204"/>
                <a:cs typeface="Cambria Math" panose="02040503050406030204"/>
              </a:rPr>
              <a:t>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set</a:t>
            </a:r>
            <a:r>
              <a:rPr sz="1800" dirty="0">
                <a:latin typeface="Palatino Linotype" panose="02040502050505030304"/>
                <a:cs typeface="Palatino Linotype" panose="02040502050505030304"/>
              </a:rPr>
              <a:t> of </a:t>
            </a:r>
            <a:r>
              <a:rPr sz="1800" spc="-5" dirty="0">
                <a:latin typeface="Palatino Linotype" panose="02040502050505030304"/>
                <a:cs typeface="Palatino Linotype" panose="02040502050505030304"/>
              </a:rPr>
              <a:t>killed</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definitions,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i.e., all other definitions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 </a:t>
            </a:r>
            <a:r>
              <a:rPr sz="1800" i="1" dirty="0">
                <a:latin typeface="Palatino Linotype" panose="02040502050505030304"/>
                <a:cs typeface="Palatino Linotype" panose="02040502050505030304"/>
              </a:rPr>
              <a:t>u</a:t>
            </a:r>
            <a:endParaRPr sz="1800" dirty="0">
              <a:latin typeface="Palatino Linotype" panose="02040502050505030304"/>
              <a:cs typeface="Palatino Linotype" panose="02040502050505030304"/>
            </a:endParaRPr>
          </a:p>
        </p:txBody>
      </p:sp>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61680" y="3613927"/>
            <a:ext cx="1800225" cy="1543050"/>
          </a:xfrm>
          <a:custGeom>
            <a:avLst/>
            <a:gdLst/>
            <a:ahLst/>
            <a:cxnLst/>
            <a:rect l="l" t="t" r="r" b="b"/>
            <a:pathLst>
              <a:path w="1800225" h="1543050">
                <a:moveTo>
                  <a:pt x="0" y="0"/>
                </a:moveTo>
                <a:lnTo>
                  <a:pt x="1800224" y="0"/>
                </a:lnTo>
                <a:lnTo>
                  <a:pt x="1800224" y="1543050"/>
                </a:lnTo>
                <a:lnTo>
                  <a:pt x="0" y="1543050"/>
                </a:lnTo>
                <a:lnTo>
                  <a:pt x="0" y="0"/>
                </a:lnTo>
                <a:close/>
              </a:path>
            </a:pathLst>
          </a:custGeom>
          <a:ln w="12700">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707390" y="524763"/>
            <a:ext cx="4429760" cy="635000"/>
          </a:xfrm>
          <a:prstGeom prst="rect">
            <a:avLst/>
          </a:prstGeom>
        </p:spPr>
        <p:txBody>
          <a:bodyPr vert="horz" wrap="square" lIns="0" tIns="12700" rIns="0" bIns="0" rtlCol="0">
            <a:spAutoFit/>
          </a:bodyPr>
          <a:lstStyle/>
          <a:p>
            <a:pPr marL="12700">
              <a:lnSpc>
                <a:spcPct val="100000"/>
              </a:lnSpc>
              <a:spcBef>
                <a:spcPts val="100"/>
              </a:spcBef>
            </a:pPr>
            <a:r>
              <a:rPr sz="4000" spc="-40" dirty="0"/>
              <a:t>Transfer</a:t>
            </a:r>
            <a:r>
              <a:rPr sz="4000" spc="-55" dirty="0"/>
              <a:t> </a:t>
            </a:r>
            <a:r>
              <a:rPr sz="4000" spc="-5" dirty="0"/>
              <a:t>Equations</a:t>
            </a:r>
            <a:endParaRPr sz="4000"/>
          </a:p>
        </p:txBody>
      </p:sp>
      <p:sp>
        <p:nvSpPr>
          <p:cNvPr id="4" name="object 4"/>
          <p:cNvSpPr txBox="1"/>
          <p:nvPr/>
        </p:nvSpPr>
        <p:spPr>
          <a:xfrm>
            <a:off x="707390" y="1657603"/>
            <a:ext cx="7695565" cy="105283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u="sng" spc="-25" dirty="0">
                <a:uFill>
                  <a:solidFill>
                    <a:srgbClr val="000000"/>
                  </a:solidFill>
                </a:uFill>
                <a:latin typeface="Palatino Linotype" panose="02040502050505030304"/>
                <a:cs typeface="Palatino Linotype" panose="02040502050505030304"/>
              </a:rPr>
              <a:t>Transfer</a:t>
            </a:r>
            <a:r>
              <a:rPr sz="2400" u="sng" dirty="0">
                <a:uFill>
                  <a:solidFill>
                    <a:srgbClr val="000000"/>
                  </a:solidFill>
                </a:uFill>
                <a:latin typeface="Palatino Linotype" panose="02040502050505030304"/>
                <a:cs typeface="Palatino Linotype" panose="02040502050505030304"/>
              </a:rPr>
              <a:t> </a:t>
            </a:r>
            <a:r>
              <a:rPr sz="2400" u="sng" spc="-5" dirty="0">
                <a:uFill>
                  <a:solidFill>
                    <a:srgbClr val="000000"/>
                  </a:solidFill>
                </a:uFill>
                <a:latin typeface="Palatino Linotype" panose="02040502050505030304"/>
                <a:cs typeface="Palatino Linotype" panose="02040502050505030304"/>
              </a:rPr>
              <a:t>function</a:t>
            </a:r>
            <a:r>
              <a:rPr sz="2400" u="sng" dirty="0">
                <a:uFill>
                  <a:solidFill>
                    <a:srgbClr val="000000"/>
                  </a:solidFill>
                </a:uFill>
                <a:latin typeface="Palatino Linotype" panose="02040502050505030304"/>
                <a:cs typeface="Palatino Linotype" panose="02040502050505030304"/>
              </a:rPr>
              <a:t> of</a:t>
            </a:r>
            <a:r>
              <a:rPr sz="2400" u="sng" spc="5" dirty="0">
                <a:uFill>
                  <a:solidFill>
                    <a:srgbClr val="000000"/>
                  </a:solidFill>
                </a:uFill>
                <a:latin typeface="Palatino Linotype" panose="02040502050505030304"/>
                <a:cs typeface="Palatino Linotype" panose="02040502050505030304"/>
              </a:rPr>
              <a:t> </a:t>
            </a:r>
            <a:r>
              <a:rPr sz="2400" u="sng" dirty="0">
                <a:uFill>
                  <a:solidFill>
                    <a:srgbClr val="000000"/>
                  </a:solidFill>
                </a:uFill>
                <a:latin typeface="Palatino Linotype" panose="02040502050505030304"/>
                <a:cs typeface="Palatino Linotype" panose="02040502050505030304"/>
              </a:rPr>
              <a:t>a </a:t>
            </a:r>
            <a:r>
              <a:rPr sz="2400" u="sng" spc="-5" dirty="0">
                <a:uFill>
                  <a:solidFill>
                    <a:srgbClr val="000000"/>
                  </a:solidFill>
                </a:uFill>
                <a:latin typeface="Palatino Linotype" panose="02040502050505030304"/>
                <a:cs typeface="Palatino Linotype" panose="02040502050505030304"/>
              </a:rPr>
              <a:t>basic block</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is</a:t>
            </a:r>
            <a:r>
              <a:rPr sz="2400" spc="-5" dirty="0">
                <a:latin typeface="Palatino Linotype" panose="02040502050505030304"/>
                <a:cs typeface="Palatino Linotype" panose="02040502050505030304"/>
              </a:rPr>
              <a:t> also</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in </a:t>
            </a:r>
            <a:r>
              <a:rPr sz="2400" i="1" spc="-5" dirty="0">
                <a:solidFill>
                  <a:srgbClr val="FF0000"/>
                </a:solidFill>
                <a:latin typeface="Palatino Linotype" panose="02040502050505030304"/>
                <a:cs typeface="Palatino Linotype" panose="02040502050505030304"/>
              </a:rPr>
              <a:t>gen</a:t>
            </a:r>
            <a:r>
              <a:rPr sz="2400" spc="-5" dirty="0">
                <a:solidFill>
                  <a:srgbClr val="FF0000"/>
                </a:solidFill>
                <a:latin typeface="Palatino Linotype" panose="02040502050505030304"/>
                <a:cs typeface="Palatino Linotype" panose="02040502050505030304"/>
              </a:rPr>
              <a:t>-</a:t>
            </a:r>
            <a:r>
              <a:rPr sz="2400" i="1" spc="-5" dirty="0">
                <a:solidFill>
                  <a:srgbClr val="FF0000"/>
                </a:solidFill>
                <a:latin typeface="Palatino Linotype" panose="02040502050505030304"/>
                <a:cs typeface="Palatino Linotype" panose="02040502050505030304"/>
              </a:rPr>
              <a:t>kill </a:t>
            </a:r>
            <a:r>
              <a:rPr sz="2400" dirty="0">
                <a:solidFill>
                  <a:srgbClr val="FF0000"/>
                </a:solidFill>
                <a:latin typeface="Palatino Linotype" panose="02040502050505030304"/>
                <a:cs typeface="Palatino Linotype" panose="02040502050505030304"/>
              </a:rPr>
              <a:t>form</a:t>
            </a:r>
            <a:endParaRPr sz="2400">
              <a:latin typeface="Palatino Linotype" panose="02040502050505030304"/>
              <a:cs typeface="Palatino Linotype" panose="02040502050505030304"/>
            </a:endParaRPr>
          </a:p>
          <a:p>
            <a:pPr marL="243205" indent="-230505">
              <a:lnSpc>
                <a:spcPct val="100000"/>
              </a:lnSpc>
              <a:spcBef>
                <a:spcPts val="2325"/>
              </a:spcBef>
              <a:buFont typeface="Arial MT"/>
              <a:buChar char="•"/>
              <a:tabLst>
                <a:tab pos="242570" algn="l"/>
              </a:tabLst>
            </a:pPr>
            <a:r>
              <a:rPr sz="2400" spc="-5" dirty="0">
                <a:latin typeface="Palatino Linotype" panose="02040502050505030304"/>
                <a:cs typeface="Palatino Linotype" panose="02040502050505030304"/>
              </a:rPr>
              <a:t>Consider</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 </a:t>
            </a:r>
            <a:r>
              <a:rPr sz="2400" dirty="0">
                <a:latin typeface="Palatino Linotype" panose="02040502050505030304"/>
                <a:cs typeface="Palatino Linotype" panose="02040502050505030304"/>
              </a:rPr>
              <a:t>of</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only</a:t>
            </a:r>
            <a:r>
              <a:rPr sz="2400" spc="-10" dirty="0">
                <a:latin typeface="Palatino Linotype" panose="02040502050505030304"/>
                <a:cs typeface="Palatino Linotype" panose="02040502050505030304"/>
              </a:rPr>
              <a:t> </a:t>
            </a:r>
            <a:r>
              <a:rPr sz="2400" spc="-15" dirty="0">
                <a:latin typeface="Palatino Linotype" panose="02040502050505030304"/>
                <a:cs typeface="Palatino Linotype" panose="02040502050505030304"/>
              </a:rPr>
              <a:t>two</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statements:</a:t>
            </a:r>
            <a:endParaRPr sz="2400">
              <a:latin typeface="Palatino Linotype" panose="02040502050505030304"/>
              <a:cs typeface="Palatino Linotype" panose="02040502050505030304"/>
            </a:endParaRPr>
          </a:p>
        </p:txBody>
      </p:sp>
      <p:sp>
        <p:nvSpPr>
          <p:cNvPr id="5" name="object 5"/>
          <p:cNvSpPr txBox="1"/>
          <p:nvPr/>
        </p:nvSpPr>
        <p:spPr>
          <a:xfrm>
            <a:off x="1290304" y="3828241"/>
            <a:ext cx="914400" cy="357505"/>
          </a:xfrm>
          <a:prstGeom prst="rect">
            <a:avLst/>
          </a:prstGeom>
          <a:ln w="12700">
            <a:solidFill>
              <a:srgbClr val="000000"/>
            </a:solidFill>
          </a:ln>
        </p:spPr>
        <p:txBody>
          <a:bodyPr vert="horz" wrap="square" lIns="0" tIns="43815" rIns="0" bIns="0" rtlCol="0">
            <a:spAutoFit/>
          </a:bodyPr>
          <a:lstStyle/>
          <a:p>
            <a:pPr algn="ctr">
              <a:lnSpc>
                <a:spcPct val="100000"/>
              </a:lnSpc>
              <a:spcBef>
                <a:spcPts val="345"/>
              </a:spcBef>
            </a:pPr>
            <a:r>
              <a:rPr sz="1600" dirty="0">
                <a:latin typeface="Palatino Linotype" panose="02040502050505030304"/>
                <a:cs typeface="Palatino Linotype" panose="02040502050505030304"/>
              </a:rPr>
              <a:t>1</a:t>
            </a:r>
            <a:endParaRPr sz="1600">
              <a:latin typeface="Palatino Linotype" panose="02040502050505030304"/>
              <a:cs typeface="Palatino Linotype" panose="02040502050505030304"/>
            </a:endParaRPr>
          </a:p>
        </p:txBody>
      </p:sp>
      <p:sp>
        <p:nvSpPr>
          <p:cNvPr id="6" name="object 6"/>
          <p:cNvSpPr txBox="1"/>
          <p:nvPr/>
        </p:nvSpPr>
        <p:spPr>
          <a:xfrm>
            <a:off x="1290304" y="4544997"/>
            <a:ext cx="914400" cy="357505"/>
          </a:xfrm>
          <a:prstGeom prst="rect">
            <a:avLst/>
          </a:prstGeom>
          <a:ln w="12700">
            <a:solidFill>
              <a:srgbClr val="000000"/>
            </a:solidFill>
          </a:ln>
        </p:spPr>
        <p:txBody>
          <a:bodyPr vert="horz" wrap="square" lIns="0" tIns="43180" rIns="0" bIns="0" rtlCol="0">
            <a:spAutoFit/>
          </a:bodyPr>
          <a:lstStyle/>
          <a:p>
            <a:pPr algn="ctr">
              <a:lnSpc>
                <a:spcPct val="100000"/>
              </a:lnSpc>
              <a:spcBef>
                <a:spcPts val="340"/>
              </a:spcBef>
            </a:pPr>
            <a:r>
              <a:rPr sz="1600" dirty="0">
                <a:latin typeface="Palatino Linotype" panose="02040502050505030304"/>
                <a:cs typeface="Palatino Linotype" panose="02040502050505030304"/>
              </a:rPr>
              <a:t>2</a:t>
            </a:r>
            <a:endParaRPr sz="1600">
              <a:latin typeface="Palatino Linotype" panose="02040502050505030304"/>
              <a:cs typeface="Palatino Linotype" panose="02040502050505030304"/>
            </a:endParaRPr>
          </a:p>
        </p:txBody>
      </p:sp>
      <p:sp>
        <p:nvSpPr>
          <p:cNvPr id="7" name="object 7"/>
          <p:cNvSpPr/>
          <p:nvPr/>
        </p:nvSpPr>
        <p:spPr>
          <a:xfrm>
            <a:off x="1709394" y="3255009"/>
            <a:ext cx="727075" cy="573405"/>
          </a:xfrm>
          <a:custGeom>
            <a:avLst/>
            <a:gdLst/>
            <a:ahLst/>
            <a:cxnLst/>
            <a:rect l="l" t="t" r="r" b="b"/>
            <a:pathLst>
              <a:path w="727075" h="573404">
                <a:moveTo>
                  <a:pt x="76200" y="497039"/>
                </a:moveTo>
                <a:lnTo>
                  <a:pt x="44450" y="497039"/>
                </a:lnTo>
                <a:lnTo>
                  <a:pt x="44450" y="75552"/>
                </a:lnTo>
                <a:lnTo>
                  <a:pt x="31750" y="75552"/>
                </a:lnTo>
                <a:lnTo>
                  <a:pt x="31750" y="497039"/>
                </a:lnTo>
                <a:lnTo>
                  <a:pt x="0" y="497039"/>
                </a:lnTo>
                <a:lnTo>
                  <a:pt x="38100" y="573239"/>
                </a:lnTo>
                <a:lnTo>
                  <a:pt x="69850" y="509739"/>
                </a:lnTo>
                <a:lnTo>
                  <a:pt x="76200" y="497039"/>
                </a:lnTo>
                <a:close/>
              </a:path>
              <a:path w="727075" h="573404">
                <a:moveTo>
                  <a:pt x="561352" y="0"/>
                </a:moveTo>
                <a:lnTo>
                  <a:pt x="517093" y="0"/>
                </a:lnTo>
                <a:lnTo>
                  <a:pt x="517093" y="7620"/>
                </a:lnTo>
                <a:lnTo>
                  <a:pt x="517093" y="181610"/>
                </a:lnTo>
                <a:lnTo>
                  <a:pt x="517093" y="189230"/>
                </a:lnTo>
                <a:lnTo>
                  <a:pt x="561352" y="189230"/>
                </a:lnTo>
                <a:lnTo>
                  <a:pt x="561352" y="181610"/>
                </a:lnTo>
                <a:lnTo>
                  <a:pt x="533565" y="181610"/>
                </a:lnTo>
                <a:lnTo>
                  <a:pt x="533565" y="7620"/>
                </a:lnTo>
                <a:lnTo>
                  <a:pt x="561352" y="7620"/>
                </a:lnTo>
                <a:lnTo>
                  <a:pt x="561352" y="0"/>
                </a:lnTo>
                <a:close/>
              </a:path>
              <a:path w="727075" h="573404">
                <a:moveTo>
                  <a:pt x="726821" y="0"/>
                </a:moveTo>
                <a:lnTo>
                  <a:pt x="682574" y="0"/>
                </a:lnTo>
                <a:lnTo>
                  <a:pt x="682574" y="7620"/>
                </a:lnTo>
                <a:lnTo>
                  <a:pt x="710349" y="7620"/>
                </a:lnTo>
                <a:lnTo>
                  <a:pt x="710349" y="181610"/>
                </a:lnTo>
                <a:lnTo>
                  <a:pt x="682574" y="181610"/>
                </a:lnTo>
                <a:lnTo>
                  <a:pt x="682574" y="189230"/>
                </a:lnTo>
                <a:lnTo>
                  <a:pt x="726821" y="189230"/>
                </a:lnTo>
                <a:lnTo>
                  <a:pt x="726821" y="181610"/>
                </a:lnTo>
                <a:lnTo>
                  <a:pt x="726821" y="7620"/>
                </a:lnTo>
                <a:lnTo>
                  <a:pt x="726821" y="0"/>
                </a:lnTo>
                <a:close/>
              </a:path>
            </a:pathLst>
          </a:custGeom>
          <a:solidFill>
            <a:srgbClr val="000000"/>
          </a:solidFill>
        </p:spPr>
        <p:txBody>
          <a:bodyPr wrap="square" lIns="0" tIns="0" rIns="0" bIns="0" rtlCol="0"/>
          <a:lstStyle/>
          <a:p>
            <a:endParaRPr/>
          </a:p>
        </p:txBody>
      </p:sp>
      <p:sp>
        <p:nvSpPr>
          <p:cNvPr id="8" name="object 8"/>
          <p:cNvSpPr txBox="1"/>
          <p:nvPr/>
        </p:nvSpPr>
        <p:spPr>
          <a:xfrm>
            <a:off x="1986387" y="3191764"/>
            <a:ext cx="903605" cy="269240"/>
          </a:xfrm>
          <a:prstGeom prst="rect">
            <a:avLst/>
          </a:prstGeom>
        </p:spPr>
        <p:txBody>
          <a:bodyPr vert="horz" wrap="square" lIns="0" tIns="12700" rIns="0" bIns="0" rtlCol="0">
            <a:spAutoFit/>
          </a:bodyPr>
          <a:lstStyle/>
          <a:p>
            <a:pPr marL="12700">
              <a:lnSpc>
                <a:spcPct val="100000"/>
              </a:lnSpc>
              <a:spcBef>
                <a:spcPts val="100"/>
              </a:spcBef>
              <a:tabLst>
                <a:tab pos="528320" algn="l"/>
              </a:tabLst>
            </a:pPr>
            <a:r>
              <a:rPr sz="1600" dirty="0">
                <a:latin typeface="Cambria Math" panose="02040503050406030204"/>
                <a:cs typeface="Cambria Math" panose="02040503050406030204"/>
              </a:rPr>
              <a:t>IN</a:t>
            </a:r>
            <a:r>
              <a:rPr sz="1600" spc="200" dirty="0">
                <a:latin typeface="Cambria Math" panose="02040503050406030204"/>
                <a:cs typeface="Cambria Math" panose="02040503050406030204"/>
              </a:rPr>
              <a:t> </a:t>
            </a:r>
            <a:r>
              <a:rPr sz="1600" dirty="0">
                <a:latin typeface="Cambria Math" panose="02040503050406030204"/>
                <a:cs typeface="Cambria Math" panose="02040503050406030204"/>
              </a:rPr>
              <a:t>1	=</a:t>
            </a:r>
            <a:r>
              <a:rPr sz="1600" spc="355" dirty="0">
                <a:latin typeface="Cambria Math" panose="02040503050406030204"/>
                <a:cs typeface="Cambria Math" panose="02040503050406030204"/>
              </a:rPr>
              <a:t> </a:t>
            </a:r>
            <a:r>
              <a:rPr sz="1600" dirty="0">
                <a:latin typeface="Cambria Math" panose="02040503050406030204"/>
                <a:cs typeface="Cambria Math" panose="02040503050406030204"/>
              </a:rPr>
              <a:t>𝑥</a:t>
            </a:r>
            <a:endParaRPr sz="1600">
              <a:latin typeface="Cambria Math" panose="02040503050406030204"/>
              <a:cs typeface="Cambria Math" panose="02040503050406030204"/>
            </a:endParaRPr>
          </a:p>
        </p:txBody>
      </p:sp>
      <p:sp>
        <p:nvSpPr>
          <p:cNvPr id="9" name="object 9"/>
          <p:cNvSpPr/>
          <p:nvPr/>
        </p:nvSpPr>
        <p:spPr>
          <a:xfrm>
            <a:off x="1709394" y="4185437"/>
            <a:ext cx="76200" cy="1271905"/>
          </a:xfrm>
          <a:custGeom>
            <a:avLst/>
            <a:gdLst/>
            <a:ahLst/>
            <a:cxnLst/>
            <a:rect l="l" t="t" r="r" b="b"/>
            <a:pathLst>
              <a:path w="76200" h="1271904">
                <a:moveTo>
                  <a:pt x="76200" y="1195387"/>
                </a:moveTo>
                <a:lnTo>
                  <a:pt x="44450" y="1195387"/>
                </a:lnTo>
                <a:lnTo>
                  <a:pt x="44450" y="716749"/>
                </a:lnTo>
                <a:lnTo>
                  <a:pt x="31750" y="716749"/>
                </a:lnTo>
                <a:lnTo>
                  <a:pt x="31750" y="1195387"/>
                </a:lnTo>
                <a:lnTo>
                  <a:pt x="0" y="1195387"/>
                </a:lnTo>
                <a:lnTo>
                  <a:pt x="38100" y="1271587"/>
                </a:lnTo>
                <a:lnTo>
                  <a:pt x="69850" y="1208087"/>
                </a:lnTo>
                <a:lnTo>
                  <a:pt x="76200" y="1195387"/>
                </a:lnTo>
                <a:close/>
              </a:path>
              <a:path w="76200" h="1271904">
                <a:moveTo>
                  <a:pt x="76200" y="283362"/>
                </a:moveTo>
                <a:lnTo>
                  <a:pt x="44450" y="283362"/>
                </a:lnTo>
                <a:lnTo>
                  <a:pt x="44450" y="0"/>
                </a:lnTo>
                <a:lnTo>
                  <a:pt x="31750" y="0"/>
                </a:lnTo>
                <a:lnTo>
                  <a:pt x="31750" y="283362"/>
                </a:lnTo>
                <a:lnTo>
                  <a:pt x="0" y="283362"/>
                </a:lnTo>
                <a:lnTo>
                  <a:pt x="38100" y="359562"/>
                </a:lnTo>
                <a:lnTo>
                  <a:pt x="69850" y="296062"/>
                </a:lnTo>
                <a:lnTo>
                  <a:pt x="76200" y="283362"/>
                </a:lnTo>
                <a:close/>
              </a:path>
            </a:pathLst>
          </a:custGeom>
          <a:solidFill>
            <a:srgbClr val="000000"/>
          </a:solidFill>
        </p:spPr>
        <p:txBody>
          <a:bodyPr wrap="square" lIns="0" tIns="0" rIns="0" bIns="0" rtlCol="0"/>
          <a:lstStyle/>
          <a:p>
            <a:endParaRPr/>
          </a:p>
        </p:txBody>
      </p:sp>
      <p:sp>
        <p:nvSpPr>
          <p:cNvPr id="10" name="object 10"/>
          <p:cNvSpPr/>
          <p:nvPr/>
        </p:nvSpPr>
        <p:spPr>
          <a:xfrm>
            <a:off x="4430776" y="3255009"/>
            <a:ext cx="44450" cy="189230"/>
          </a:xfrm>
          <a:custGeom>
            <a:avLst/>
            <a:gdLst/>
            <a:ahLst/>
            <a:cxnLst/>
            <a:rect l="l" t="t" r="r" b="b"/>
            <a:pathLst>
              <a:path w="44450" h="189229">
                <a:moveTo>
                  <a:pt x="44246" y="0"/>
                </a:moveTo>
                <a:lnTo>
                  <a:pt x="0" y="0"/>
                </a:lnTo>
                <a:lnTo>
                  <a:pt x="0" y="7620"/>
                </a:lnTo>
                <a:lnTo>
                  <a:pt x="27774" y="7620"/>
                </a:lnTo>
                <a:lnTo>
                  <a:pt x="27774" y="181610"/>
                </a:lnTo>
                <a:lnTo>
                  <a:pt x="0" y="181610"/>
                </a:lnTo>
                <a:lnTo>
                  <a:pt x="0" y="189230"/>
                </a:lnTo>
                <a:lnTo>
                  <a:pt x="44246" y="189230"/>
                </a:lnTo>
                <a:lnTo>
                  <a:pt x="44246" y="181610"/>
                </a:lnTo>
                <a:lnTo>
                  <a:pt x="44246" y="7620"/>
                </a:lnTo>
                <a:lnTo>
                  <a:pt x="44246" y="0"/>
                </a:lnTo>
                <a:close/>
              </a:path>
            </a:pathLst>
          </a:custGeom>
          <a:solidFill>
            <a:srgbClr val="000000"/>
          </a:solidFill>
        </p:spPr>
        <p:txBody>
          <a:bodyPr wrap="square" lIns="0" tIns="0" rIns="0" bIns="0" rtlCol="0"/>
          <a:lstStyle/>
          <a:p>
            <a:endParaRPr/>
          </a:p>
        </p:txBody>
      </p:sp>
      <p:sp>
        <p:nvSpPr>
          <p:cNvPr id="11" name="object 11"/>
          <p:cNvSpPr/>
          <p:nvPr/>
        </p:nvSpPr>
        <p:spPr>
          <a:xfrm>
            <a:off x="4265295" y="3255009"/>
            <a:ext cx="44450" cy="189230"/>
          </a:xfrm>
          <a:custGeom>
            <a:avLst/>
            <a:gdLst/>
            <a:ahLst/>
            <a:cxnLst/>
            <a:rect l="l" t="t" r="r" b="b"/>
            <a:pathLst>
              <a:path w="44450" h="189229">
                <a:moveTo>
                  <a:pt x="44259" y="0"/>
                </a:moveTo>
                <a:lnTo>
                  <a:pt x="0" y="0"/>
                </a:lnTo>
                <a:lnTo>
                  <a:pt x="0" y="7620"/>
                </a:lnTo>
                <a:lnTo>
                  <a:pt x="0" y="181610"/>
                </a:lnTo>
                <a:lnTo>
                  <a:pt x="0" y="189230"/>
                </a:lnTo>
                <a:lnTo>
                  <a:pt x="44259" y="189230"/>
                </a:lnTo>
                <a:lnTo>
                  <a:pt x="44259" y="181610"/>
                </a:lnTo>
                <a:lnTo>
                  <a:pt x="16471" y="181610"/>
                </a:lnTo>
                <a:lnTo>
                  <a:pt x="16471" y="7620"/>
                </a:lnTo>
                <a:lnTo>
                  <a:pt x="44259" y="7620"/>
                </a:lnTo>
                <a:lnTo>
                  <a:pt x="44259" y="0"/>
                </a:lnTo>
                <a:close/>
              </a:path>
            </a:pathLst>
          </a:custGeom>
          <a:solidFill>
            <a:srgbClr val="000000"/>
          </a:solidFill>
        </p:spPr>
        <p:txBody>
          <a:bodyPr wrap="square" lIns="0" tIns="0" rIns="0" bIns="0" rtlCol="0"/>
          <a:lstStyle/>
          <a:p>
            <a:endParaRPr/>
          </a:p>
        </p:txBody>
      </p:sp>
      <p:pic>
        <p:nvPicPr>
          <p:cNvPr id="12" name="object 12"/>
          <p:cNvPicPr/>
          <p:nvPr/>
        </p:nvPicPr>
        <p:blipFill>
          <a:blip r:embed="rId3" cstate="print"/>
          <a:stretch>
            <a:fillRect/>
          </a:stretch>
        </p:blipFill>
        <p:spPr>
          <a:xfrm>
            <a:off x="4949643" y="3254971"/>
            <a:ext cx="247054" cy="188217"/>
          </a:xfrm>
          <a:prstGeom prst="rect">
            <a:avLst/>
          </a:prstGeom>
        </p:spPr>
      </p:pic>
      <p:sp>
        <p:nvSpPr>
          <p:cNvPr id="13" name="object 13"/>
          <p:cNvSpPr/>
          <p:nvPr/>
        </p:nvSpPr>
        <p:spPr>
          <a:xfrm>
            <a:off x="6155317" y="3254971"/>
            <a:ext cx="884555" cy="188595"/>
          </a:xfrm>
          <a:custGeom>
            <a:avLst/>
            <a:gdLst/>
            <a:ahLst/>
            <a:cxnLst/>
            <a:rect l="l" t="t" r="r" b="b"/>
            <a:pathLst>
              <a:path w="884554" h="188595">
                <a:moveTo>
                  <a:pt x="823996" y="0"/>
                </a:moveTo>
                <a:lnTo>
                  <a:pt x="821316" y="7639"/>
                </a:lnTo>
                <a:lnTo>
                  <a:pt x="832212" y="12367"/>
                </a:lnTo>
                <a:lnTo>
                  <a:pt x="841582" y="18913"/>
                </a:lnTo>
                <a:lnTo>
                  <a:pt x="864080" y="62470"/>
                </a:lnTo>
                <a:lnTo>
                  <a:pt x="866858" y="93165"/>
                </a:lnTo>
                <a:lnTo>
                  <a:pt x="866161" y="109766"/>
                </a:lnTo>
                <a:lnTo>
                  <a:pt x="855696" y="150414"/>
                </a:lnTo>
                <a:lnTo>
                  <a:pt x="821615" y="180577"/>
                </a:lnTo>
                <a:lnTo>
                  <a:pt x="823996" y="188217"/>
                </a:lnTo>
                <a:lnTo>
                  <a:pt x="859956" y="166852"/>
                </a:lnTo>
                <a:lnTo>
                  <a:pt x="880153" y="127409"/>
                </a:lnTo>
                <a:lnTo>
                  <a:pt x="884022" y="94157"/>
                </a:lnTo>
                <a:lnTo>
                  <a:pt x="883052" y="76903"/>
                </a:lnTo>
                <a:lnTo>
                  <a:pt x="868495" y="32989"/>
                </a:lnTo>
                <a:lnTo>
                  <a:pt x="837641" y="4926"/>
                </a:lnTo>
                <a:lnTo>
                  <a:pt x="823996" y="0"/>
                </a:lnTo>
                <a:close/>
              </a:path>
              <a:path w="884554" h="188595">
                <a:moveTo>
                  <a:pt x="60027" y="0"/>
                </a:moveTo>
                <a:lnTo>
                  <a:pt x="24132" y="21421"/>
                </a:lnTo>
                <a:lnTo>
                  <a:pt x="3882" y="60957"/>
                </a:lnTo>
                <a:lnTo>
                  <a:pt x="0" y="94157"/>
                </a:lnTo>
                <a:lnTo>
                  <a:pt x="967" y="111450"/>
                </a:lnTo>
                <a:lnTo>
                  <a:pt x="15478" y="155327"/>
                </a:lnTo>
                <a:lnTo>
                  <a:pt x="46341" y="183297"/>
                </a:lnTo>
                <a:lnTo>
                  <a:pt x="60027" y="188217"/>
                </a:lnTo>
                <a:lnTo>
                  <a:pt x="62409" y="180577"/>
                </a:lnTo>
                <a:lnTo>
                  <a:pt x="51683" y="175827"/>
                </a:lnTo>
                <a:lnTo>
                  <a:pt x="42428" y="169217"/>
                </a:lnTo>
                <a:lnTo>
                  <a:pt x="19955" y="124841"/>
                </a:lnTo>
                <a:lnTo>
                  <a:pt x="17165" y="93165"/>
                </a:lnTo>
                <a:lnTo>
                  <a:pt x="17862" y="77108"/>
                </a:lnTo>
                <a:lnTo>
                  <a:pt x="28327" y="37454"/>
                </a:lnTo>
                <a:lnTo>
                  <a:pt x="62706" y="7639"/>
                </a:lnTo>
                <a:lnTo>
                  <a:pt x="60027" y="0"/>
                </a:lnTo>
                <a:close/>
              </a:path>
            </a:pathLst>
          </a:custGeom>
          <a:solidFill>
            <a:srgbClr val="000000"/>
          </a:solidFill>
        </p:spPr>
        <p:txBody>
          <a:bodyPr wrap="square" lIns="0" tIns="0" rIns="0" bIns="0" rtlCol="0"/>
          <a:lstStyle/>
          <a:p>
            <a:endParaRPr/>
          </a:p>
        </p:txBody>
      </p:sp>
      <p:sp>
        <p:nvSpPr>
          <p:cNvPr id="14" name="object 14"/>
          <p:cNvSpPr txBox="1"/>
          <p:nvPr/>
        </p:nvSpPr>
        <p:spPr>
          <a:xfrm>
            <a:off x="3818820" y="3191764"/>
            <a:ext cx="3186430" cy="269240"/>
          </a:xfrm>
          <a:prstGeom prst="rect">
            <a:avLst/>
          </a:prstGeom>
        </p:spPr>
        <p:txBody>
          <a:bodyPr vert="horz" wrap="square" lIns="0" tIns="12700" rIns="0" bIns="0" rtlCol="0">
            <a:spAutoFit/>
          </a:bodyPr>
          <a:lstStyle/>
          <a:p>
            <a:pPr marL="38100">
              <a:lnSpc>
                <a:spcPct val="100000"/>
              </a:lnSpc>
              <a:spcBef>
                <a:spcPts val="100"/>
              </a:spcBef>
              <a:tabLst>
                <a:tab pos="734695" algn="l"/>
                <a:tab pos="1451610" algn="l"/>
                <a:tab pos="2402840" algn="l"/>
              </a:tabLst>
            </a:pPr>
            <a:r>
              <a:rPr sz="1600" dirty="0">
                <a:latin typeface="Cambria Math" panose="02040503050406030204"/>
                <a:cs typeface="Cambria Math" panose="02040503050406030204"/>
              </a:rPr>
              <a:t>OUT</a:t>
            </a:r>
            <a:r>
              <a:rPr sz="1600" spc="204" dirty="0">
                <a:latin typeface="Cambria Math" panose="02040503050406030204"/>
                <a:cs typeface="Cambria Math" panose="02040503050406030204"/>
              </a:rPr>
              <a:t> </a:t>
            </a:r>
            <a:r>
              <a:rPr sz="1600" dirty="0">
                <a:latin typeface="Cambria Math" panose="02040503050406030204"/>
                <a:cs typeface="Cambria Math" panose="02040503050406030204"/>
              </a:rPr>
              <a:t>1	=</a:t>
            </a:r>
            <a:r>
              <a:rPr sz="1600" spc="95" dirty="0">
                <a:latin typeface="Cambria Math" panose="02040503050406030204"/>
                <a:cs typeface="Cambria Math" panose="02040503050406030204"/>
              </a:rPr>
              <a:t> </a:t>
            </a:r>
            <a:r>
              <a:rPr sz="1600" spc="-135" dirty="0">
                <a:latin typeface="Cambria Math" panose="02040503050406030204"/>
                <a:cs typeface="Cambria Math" panose="02040503050406030204"/>
              </a:rPr>
              <a:t>𝑓</a:t>
            </a:r>
            <a:r>
              <a:rPr sz="1800" spc="-202" baseline="-14000" dirty="0">
                <a:latin typeface="Cambria Math" panose="02040503050406030204"/>
                <a:cs typeface="Cambria Math" panose="02040503050406030204"/>
              </a:rPr>
              <a:t>1</a:t>
            </a:r>
            <a:r>
              <a:rPr sz="1800" spc="135" baseline="-14000" dirty="0">
                <a:latin typeface="Cambria Math" panose="02040503050406030204"/>
                <a:cs typeface="Cambria Math" panose="02040503050406030204"/>
              </a:rPr>
              <a:t>  </a:t>
            </a:r>
            <a:r>
              <a:rPr sz="1600" dirty="0">
                <a:latin typeface="Cambria Math" panose="02040503050406030204"/>
                <a:cs typeface="Cambria Math" panose="02040503050406030204"/>
              </a:rPr>
              <a:t>𝑥	=</a:t>
            </a:r>
            <a:r>
              <a:rPr sz="1600" spc="100" dirty="0">
                <a:latin typeface="Cambria Math" panose="02040503050406030204"/>
                <a:cs typeface="Cambria Math" panose="02040503050406030204"/>
              </a:rPr>
              <a:t> </a:t>
            </a:r>
            <a:r>
              <a:rPr sz="1600" spc="-10" dirty="0">
                <a:latin typeface="Cambria Math" panose="02040503050406030204"/>
                <a:cs typeface="Cambria Math" panose="02040503050406030204"/>
              </a:rPr>
              <a:t>𝑔𝑒𝑛</a:t>
            </a:r>
            <a:r>
              <a:rPr sz="1800" spc="-15" baseline="-14000" dirty="0">
                <a:latin typeface="Cambria Math" panose="02040503050406030204"/>
                <a:cs typeface="Cambria Math" panose="02040503050406030204"/>
              </a:rPr>
              <a:t>1</a:t>
            </a:r>
            <a:r>
              <a:rPr sz="1800" spc="202" baseline="-14000" dirty="0">
                <a:latin typeface="Cambria Math" panose="02040503050406030204"/>
                <a:cs typeface="Cambria Math" panose="02040503050406030204"/>
              </a:rPr>
              <a:t> </a:t>
            </a:r>
            <a:r>
              <a:rPr sz="1600" spc="70" dirty="0">
                <a:latin typeface="Cambria Math" panose="02040503050406030204"/>
                <a:cs typeface="Cambria Math" panose="02040503050406030204"/>
              </a:rPr>
              <a:t>𝖴	</a:t>
            </a:r>
            <a:r>
              <a:rPr sz="1600" dirty="0">
                <a:latin typeface="Cambria Math" panose="02040503050406030204"/>
                <a:cs typeface="Cambria Math" panose="02040503050406030204"/>
              </a:rPr>
              <a:t>𝑥</a:t>
            </a:r>
            <a:r>
              <a:rPr sz="1600" spc="15"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25" dirty="0">
                <a:latin typeface="Cambria Math" panose="02040503050406030204"/>
                <a:cs typeface="Cambria Math" panose="02040503050406030204"/>
              </a:rPr>
              <a:t> </a:t>
            </a:r>
            <a:r>
              <a:rPr sz="1600" spc="-5" dirty="0">
                <a:latin typeface="Cambria Math" panose="02040503050406030204"/>
                <a:cs typeface="Cambria Math" panose="02040503050406030204"/>
              </a:rPr>
              <a:t>𝑘𝑖𝑙𝑙</a:t>
            </a:r>
            <a:r>
              <a:rPr sz="1800" spc="-7" baseline="-14000" dirty="0">
                <a:latin typeface="Cambria Math" panose="02040503050406030204"/>
                <a:cs typeface="Cambria Math" panose="02040503050406030204"/>
              </a:rPr>
              <a:t>1</a:t>
            </a:r>
            <a:endParaRPr sz="1800" baseline="-14000">
              <a:latin typeface="Cambria Math" panose="02040503050406030204"/>
              <a:cs typeface="Cambria Math" panose="02040503050406030204"/>
            </a:endParaRPr>
          </a:p>
        </p:txBody>
      </p:sp>
      <p:sp>
        <p:nvSpPr>
          <p:cNvPr id="15" name="object 15"/>
          <p:cNvSpPr/>
          <p:nvPr/>
        </p:nvSpPr>
        <p:spPr>
          <a:xfrm>
            <a:off x="4413046" y="3887469"/>
            <a:ext cx="44450" cy="189230"/>
          </a:xfrm>
          <a:custGeom>
            <a:avLst/>
            <a:gdLst/>
            <a:ahLst/>
            <a:cxnLst/>
            <a:rect l="l" t="t" r="r" b="b"/>
            <a:pathLst>
              <a:path w="44450" h="189229">
                <a:moveTo>
                  <a:pt x="44259" y="0"/>
                </a:moveTo>
                <a:lnTo>
                  <a:pt x="0" y="0"/>
                </a:lnTo>
                <a:lnTo>
                  <a:pt x="0" y="7620"/>
                </a:lnTo>
                <a:lnTo>
                  <a:pt x="27787" y="7620"/>
                </a:lnTo>
                <a:lnTo>
                  <a:pt x="27787" y="181610"/>
                </a:lnTo>
                <a:lnTo>
                  <a:pt x="0" y="181610"/>
                </a:lnTo>
                <a:lnTo>
                  <a:pt x="0" y="189230"/>
                </a:lnTo>
                <a:lnTo>
                  <a:pt x="44259" y="189230"/>
                </a:lnTo>
                <a:lnTo>
                  <a:pt x="44259" y="181610"/>
                </a:lnTo>
                <a:lnTo>
                  <a:pt x="44259" y="7620"/>
                </a:lnTo>
                <a:lnTo>
                  <a:pt x="44259" y="0"/>
                </a:lnTo>
                <a:close/>
              </a:path>
            </a:pathLst>
          </a:custGeom>
          <a:solidFill>
            <a:srgbClr val="000000"/>
          </a:solidFill>
        </p:spPr>
        <p:txBody>
          <a:bodyPr wrap="square" lIns="0" tIns="0" rIns="0" bIns="0" rtlCol="0"/>
          <a:lstStyle/>
          <a:p>
            <a:endParaRPr/>
          </a:p>
        </p:txBody>
      </p:sp>
      <p:sp>
        <p:nvSpPr>
          <p:cNvPr id="16" name="object 16"/>
          <p:cNvSpPr/>
          <p:nvPr/>
        </p:nvSpPr>
        <p:spPr>
          <a:xfrm>
            <a:off x="4247578" y="3887469"/>
            <a:ext cx="44450" cy="189230"/>
          </a:xfrm>
          <a:custGeom>
            <a:avLst/>
            <a:gdLst/>
            <a:ahLst/>
            <a:cxnLst/>
            <a:rect l="l" t="t" r="r" b="b"/>
            <a:pathLst>
              <a:path w="44450" h="189229">
                <a:moveTo>
                  <a:pt x="44246" y="0"/>
                </a:moveTo>
                <a:lnTo>
                  <a:pt x="0" y="0"/>
                </a:lnTo>
                <a:lnTo>
                  <a:pt x="0" y="7620"/>
                </a:lnTo>
                <a:lnTo>
                  <a:pt x="0" y="181610"/>
                </a:lnTo>
                <a:lnTo>
                  <a:pt x="0" y="189230"/>
                </a:lnTo>
                <a:lnTo>
                  <a:pt x="44246" y="189230"/>
                </a:lnTo>
                <a:lnTo>
                  <a:pt x="44246" y="181610"/>
                </a:lnTo>
                <a:lnTo>
                  <a:pt x="16459" y="181610"/>
                </a:lnTo>
                <a:lnTo>
                  <a:pt x="16459" y="7620"/>
                </a:lnTo>
                <a:lnTo>
                  <a:pt x="44246" y="7620"/>
                </a:lnTo>
                <a:lnTo>
                  <a:pt x="44246" y="0"/>
                </a:lnTo>
                <a:close/>
              </a:path>
            </a:pathLst>
          </a:custGeom>
          <a:solidFill>
            <a:srgbClr val="000000"/>
          </a:solidFill>
        </p:spPr>
        <p:txBody>
          <a:bodyPr wrap="square" lIns="0" tIns="0" rIns="0" bIns="0" rtlCol="0"/>
          <a:lstStyle/>
          <a:p>
            <a:endParaRPr/>
          </a:p>
        </p:txBody>
      </p:sp>
      <p:sp>
        <p:nvSpPr>
          <p:cNvPr id="17" name="object 17"/>
          <p:cNvSpPr/>
          <p:nvPr/>
        </p:nvSpPr>
        <p:spPr>
          <a:xfrm>
            <a:off x="4936616" y="3887605"/>
            <a:ext cx="593725" cy="188595"/>
          </a:xfrm>
          <a:custGeom>
            <a:avLst/>
            <a:gdLst/>
            <a:ahLst/>
            <a:cxnLst/>
            <a:rect l="l" t="t" r="r" b="b"/>
            <a:pathLst>
              <a:path w="593725" h="188595">
                <a:moveTo>
                  <a:pt x="533293" y="0"/>
                </a:moveTo>
                <a:lnTo>
                  <a:pt x="530614" y="7640"/>
                </a:lnTo>
                <a:lnTo>
                  <a:pt x="541510" y="12368"/>
                </a:lnTo>
                <a:lnTo>
                  <a:pt x="550879" y="18913"/>
                </a:lnTo>
                <a:lnTo>
                  <a:pt x="573377" y="62470"/>
                </a:lnTo>
                <a:lnTo>
                  <a:pt x="576155" y="93165"/>
                </a:lnTo>
                <a:lnTo>
                  <a:pt x="575458" y="109767"/>
                </a:lnTo>
                <a:lnTo>
                  <a:pt x="564993" y="150416"/>
                </a:lnTo>
                <a:lnTo>
                  <a:pt x="530912" y="180578"/>
                </a:lnTo>
                <a:lnTo>
                  <a:pt x="533293" y="188217"/>
                </a:lnTo>
                <a:lnTo>
                  <a:pt x="569253" y="166852"/>
                </a:lnTo>
                <a:lnTo>
                  <a:pt x="589451" y="127409"/>
                </a:lnTo>
                <a:lnTo>
                  <a:pt x="593321" y="94159"/>
                </a:lnTo>
                <a:lnTo>
                  <a:pt x="592350" y="76904"/>
                </a:lnTo>
                <a:lnTo>
                  <a:pt x="577792" y="32990"/>
                </a:lnTo>
                <a:lnTo>
                  <a:pt x="546938" y="4926"/>
                </a:lnTo>
                <a:lnTo>
                  <a:pt x="533293" y="0"/>
                </a:lnTo>
                <a:close/>
              </a:path>
              <a:path w="593725" h="188595">
                <a:moveTo>
                  <a:pt x="60027" y="0"/>
                </a:moveTo>
                <a:lnTo>
                  <a:pt x="24132" y="21421"/>
                </a:lnTo>
                <a:lnTo>
                  <a:pt x="3882" y="60957"/>
                </a:lnTo>
                <a:lnTo>
                  <a:pt x="0" y="94159"/>
                </a:lnTo>
                <a:lnTo>
                  <a:pt x="967" y="111450"/>
                </a:lnTo>
                <a:lnTo>
                  <a:pt x="15478" y="155327"/>
                </a:lnTo>
                <a:lnTo>
                  <a:pt x="46342" y="183297"/>
                </a:lnTo>
                <a:lnTo>
                  <a:pt x="60027" y="188217"/>
                </a:lnTo>
                <a:lnTo>
                  <a:pt x="62409" y="180578"/>
                </a:lnTo>
                <a:lnTo>
                  <a:pt x="51684" y="175828"/>
                </a:lnTo>
                <a:lnTo>
                  <a:pt x="42428" y="169217"/>
                </a:lnTo>
                <a:lnTo>
                  <a:pt x="19955" y="124842"/>
                </a:lnTo>
                <a:lnTo>
                  <a:pt x="17165" y="93165"/>
                </a:lnTo>
                <a:lnTo>
                  <a:pt x="17863" y="77108"/>
                </a:lnTo>
                <a:lnTo>
                  <a:pt x="28327" y="37454"/>
                </a:lnTo>
                <a:lnTo>
                  <a:pt x="62706" y="7640"/>
                </a:lnTo>
                <a:lnTo>
                  <a:pt x="60027" y="0"/>
                </a:lnTo>
                <a:close/>
              </a:path>
            </a:pathLst>
          </a:custGeom>
          <a:solidFill>
            <a:srgbClr val="000000"/>
          </a:solidFill>
        </p:spPr>
        <p:txBody>
          <a:bodyPr wrap="square" lIns="0" tIns="0" rIns="0" bIns="0" rtlCol="0"/>
          <a:lstStyle/>
          <a:p>
            <a:endParaRPr/>
          </a:p>
        </p:txBody>
      </p:sp>
      <p:sp>
        <p:nvSpPr>
          <p:cNvPr id="18" name="object 18"/>
          <p:cNvSpPr/>
          <p:nvPr/>
        </p:nvSpPr>
        <p:spPr>
          <a:xfrm>
            <a:off x="6004496" y="3887469"/>
            <a:ext cx="774065" cy="189230"/>
          </a:xfrm>
          <a:custGeom>
            <a:avLst/>
            <a:gdLst/>
            <a:ahLst/>
            <a:cxnLst/>
            <a:rect l="l" t="t" r="r" b="b"/>
            <a:pathLst>
              <a:path w="774065" h="189229">
                <a:moveTo>
                  <a:pt x="62699" y="7785"/>
                </a:moveTo>
                <a:lnTo>
                  <a:pt x="60020" y="139"/>
                </a:lnTo>
                <a:lnTo>
                  <a:pt x="46380" y="5067"/>
                </a:lnTo>
                <a:lnTo>
                  <a:pt x="34417" y="12204"/>
                </a:lnTo>
                <a:lnTo>
                  <a:pt x="8724" y="46456"/>
                </a:lnTo>
                <a:lnTo>
                  <a:pt x="0" y="94297"/>
                </a:lnTo>
                <a:lnTo>
                  <a:pt x="965" y="111594"/>
                </a:lnTo>
                <a:lnTo>
                  <a:pt x="15468" y="155473"/>
                </a:lnTo>
                <a:lnTo>
                  <a:pt x="46329" y="183438"/>
                </a:lnTo>
                <a:lnTo>
                  <a:pt x="60020" y="188353"/>
                </a:lnTo>
                <a:lnTo>
                  <a:pt x="62407" y="180721"/>
                </a:lnTo>
                <a:lnTo>
                  <a:pt x="51676" y="175971"/>
                </a:lnTo>
                <a:lnTo>
                  <a:pt x="42418" y="169354"/>
                </a:lnTo>
                <a:lnTo>
                  <a:pt x="19951" y="124980"/>
                </a:lnTo>
                <a:lnTo>
                  <a:pt x="17157" y="93306"/>
                </a:lnTo>
                <a:lnTo>
                  <a:pt x="17856" y="77254"/>
                </a:lnTo>
                <a:lnTo>
                  <a:pt x="28321" y="37592"/>
                </a:lnTo>
                <a:lnTo>
                  <a:pt x="51841" y="12509"/>
                </a:lnTo>
                <a:lnTo>
                  <a:pt x="62699" y="7785"/>
                </a:lnTo>
                <a:close/>
              </a:path>
              <a:path w="774065" h="189229">
                <a:moveTo>
                  <a:pt x="519099" y="0"/>
                </a:moveTo>
                <a:lnTo>
                  <a:pt x="474853" y="0"/>
                </a:lnTo>
                <a:lnTo>
                  <a:pt x="474853" y="7620"/>
                </a:lnTo>
                <a:lnTo>
                  <a:pt x="474853" y="181610"/>
                </a:lnTo>
                <a:lnTo>
                  <a:pt x="474853" y="189230"/>
                </a:lnTo>
                <a:lnTo>
                  <a:pt x="519099" y="189230"/>
                </a:lnTo>
                <a:lnTo>
                  <a:pt x="519099" y="181610"/>
                </a:lnTo>
                <a:lnTo>
                  <a:pt x="491312" y="181610"/>
                </a:lnTo>
                <a:lnTo>
                  <a:pt x="491312" y="7620"/>
                </a:lnTo>
                <a:lnTo>
                  <a:pt x="519099" y="7620"/>
                </a:lnTo>
                <a:lnTo>
                  <a:pt x="519099" y="0"/>
                </a:lnTo>
                <a:close/>
              </a:path>
              <a:path w="774065" h="189229">
                <a:moveTo>
                  <a:pt x="684580" y="0"/>
                </a:moveTo>
                <a:lnTo>
                  <a:pt x="640321" y="0"/>
                </a:lnTo>
                <a:lnTo>
                  <a:pt x="640321" y="7620"/>
                </a:lnTo>
                <a:lnTo>
                  <a:pt x="668108" y="7620"/>
                </a:lnTo>
                <a:lnTo>
                  <a:pt x="668108" y="181610"/>
                </a:lnTo>
                <a:lnTo>
                  <a:pt x="640321" y="181610"/>
                </a:lnTo>
                <a:lnTo>
                  <a:pt x="640321" y="189230"/>
                </a:lnTo>
                <a:lnTo>
                  <a:pt x="684580" y="189230"/>
                </a:lnTo>
                <a:lnTo>
                  <a:pt x="684580" y="181610"/>
                </a:lnTo>
                <a:lnTo>
                  <a:pt x="684580" y="7620"/>
                </a:lnTo>
                <a:lnTo>
                  <a:pt x="684580" y="0"/>
                </a:lnTo>
                <a:close/>
              </a:path>
              <a:path w="774065" h="189229">
                <a:moveTo>
                  <a:pt x="773658" y="94297"/>
                </a:moveTo>
                <a:lnTo>
                  <a:pt x="764921" y="46456"/>
                </a:lnTo>
                <a:lnTo>
                  <a:pt x="739241" y="12204"/>
                </a:lnTo>
                <a:lnTo>
                  <a:pt x="713625" y="139"/>
                </a:lnTo>
                <a:lnTo>
                  <a:pt x="710946" y="7785"/>
                </a:lnTo>
                <a:lnTo>
                  <a:pt x="721842" y="12509"/>
                </a:lnTo>
                <a:lnTo>
                  <a:pt x="731215" y="19050"/>
                </a:lnTo>
                <a:lnTo>
                  <a:pt x="753706" y="62611"/>
                </a:lnTo>
                <a:lnTo>
                  <a:pt x="756488" y="93306"/>
                </a:lnTo>
                <a:lnTo>
                  <a:pt x="755789" y="109905"/>
                </a:lnTo>
                <a:lnTo>
                  <a:pt x="745324" y="150558"/>
                </a:lnTo>
                <a:lnTo>
                  <a:pt x="711250" y="180721"/>
                </a:lnTo>
                <a:lnTo>
                  <a:pt x="713625" y="188353"/>
                </a:lnTo>
                <a:lnTo>
                  <a:pt x="749592" y="166992"/>
                </a:lnTo>
                <a:lnTo>
                  <a:pt x="769785" y="127546"/>
                </a:lnTo>
                <a:lnTo>
                  <a:pt x="772693" y="111594"/>
                </a:lnTo>
                <a:lnTo>
                  <a:pt x="773658" y="94297"/>
                </a:lnTo>
                <a:close/>
              </a:path>
            </a:pathLst>
          </a:custGeom>
          <a:solidFill>
            <a:srgbClr val="000000"/>
          </a:solidFill>
        </p:spPr>
        <p:txBody>
          <a:bodyPr wrap="square" lIns="0" tIns="0" rIns="0" bIns="0" rtlCol="0"/>
          <a:lstStyle/>
          <a:p>
            <a:endParaRPr/>
          </a:p>
        </p:txBody>
      </p:sp>
      <p:sp>
        <p:nvSpPr>
          <p:cNvPr id="19" name="object 19"/>
          <p:cNvSpPr/>
          <p:nvPr/>
        </p:nvSpPr>
        <p:spPr>
          <a:xfrm>
            <a:off x="4728210" y="4319269"/>
            <a:ext cx="1415415" cy="189230"/>
          </a:xfrm>
          <a:custGeom>
            <a:avLst/>
            <a:gdLst/>
            <a:ahLst/>
            <a:cxnLst/>
            <a:rect l="l" t="t" r="r" b="b"/>
            <a:pathLst>
              <a:path w="1415414" h="189229">
                <a:moveTo>
                  <a:pt x="62699" y="7785"/>
                </a:moveTo>
                <a:lnTo>
                  <a:pt x="60020" y="139"/>
                </a:lnTo>
                <a:lnTo>
                  <a:pt x="46380" y="5067"/>
                </a:lnTo>
                <a:lnTo>
                  <a:pt x="34417" y="12204"/>
                </a:lnTo>
                <a:lnTo>
                  <a:pt x="8724" y="46456"/>
                </a:lnTo>
                <a:lnTo>
                  <a:pt x="0" y="94297"/>
                </a:lnTo>
                <a:lnTo>
                  <a:pt x="965" y="111594"/>
                </a:lnTo>
                <a:lnTo>
                  <a:pt x="15468" y="155473"/>
                </a:lnTo>
                <a:lnTo>
                  <a:pt x="46329" y="183438"/>
                </a:lnTo>
                <a:lnTo>
                  <a:pt x="60020" y="188353"/>
                </a:lnTo>
                <a:lnTo>
                  <a:pt x="62407" y="180721"/>
                </a:lnTo>
                <a:lnTo>
                  <a:pt x="51676" y="175971"/>
                </a:lnTo>
                <a:lnTo>
                  <a:pt x="42418" y="169354"/>
                </a:lnTo>
                <a:lnTo>
                  <a:pt x="19951" y="124980"/>
                </a:lnTo>
                <a:lnTo>
                  <a:pt x="17157" y="93306"/>
                </a:lnTo>
                <a:lnTo>
                  <a:pt x="17856" y="77254"/>
                </a:lnTo>
                <a:lnTo>
                  <a:pt x="28321" y="37592"/>
                </a:lnTo>
                <a:lnTo>
                  <a:pt x="51841" y="12509"/>
                </a:lnTo>
                <a:lnTo>
                  <a:pt x="62699" y="7785"/>
                </a:lnTo>
                <a:close/>
              </a:path>
              <a:path w="1415414" h="189229">
                <a:moveTo>
                  <a:pt x="519099" y="0"/>
                </a:moveTo>
                <a:lnTo>
                  <a:pt x="474853" y="0"/>
                </a:lnTo>
                <a:lnTo>
                  <a:pt x="474853" y="7620"/>
                </a:lnTo>
                <a:lnTo>
                  <a:pt x="474853" y="181610"/>
                </a:lnTo>
                <a:lnTo>
                  <a:pt x="474853" y="189230"/>
                </a:lnTo>
                <a:lnTo>
                  <a:pt x="519099" y="189230"/>
                </a:lnTo>
                <a:lnTo>
                  <a:pt x="519099" y="181610"/>
                </a:lnTo>
                <a:lnTo>
                  <a:pt x="491312" y="181610"/>
                </a:lnTo>
                <a:lnTo>
                  <a:pt x="491312" y="7620"/>
                </a:lnTo>
                <a:lnTo>
                  <a:pt x="519099" y="7620"/>
                </a:lnTo>
                <a:lnTo>
                  <a:pt x="519099" y="0"/>
                </a:lnTo>
                <a:close/>
              </a:path>
              <a:path w="1415414" h="189229">
                <a:moveTo>
                  <a:pt x="684580" y="0"/>
                </a:moveTo>
                <a:lnTo>
                  <a:pt x="640321" y="0"/>
                </a:lnTo>
                <a:lnTo>
                  <a:pt x="640321" y="7620"/>
                </a:lnTo>
                <a:lnTo>
                  <a:pt x="668108" y="7620"/>
                </a:lnTo>
                <a:lnTo>
                  <a:pt x="668108" y="181610"/>
                </a:lnTo>
                <a:lnTo>
                  <a:pt x="640321" y="181610"/>
                </a:lnTo>
                <a:lnTo>
                  <a:pt x="640321" y="189230"/>
                </a:lnTo>
                <a:lnTo>
                  <a:pt x="684580" y="189230"/>
                </a:lnTo>
                <a:lnTo>
                  <a:pt x="684580" y="181610"/>
                </a:lnTo>
                <a:lnTo>
                  <a:pt x="684580" y="7620"/>
                </a:lnTo>
                <a:lnTo>
                  <a:pt x="684580" y="0"/>
                </a:lnTo>
                <a:close/>
              </a:path>
              <a:path w="1415414" h="189229">
                <a:moveTo>
                  <a:pt x="1415326" y="94297"/>
                </a:moveTo>
                <a:lnTo>
                  <a:pt x="1406588" y="46456"/>
                </a:lnTo>
                <a:lnTo>
                  <a:pt x="1380909" y="12204"/>
                </a:lnTo>
                <a:lnTo>
                  <a:pt x="1355293" y="139"/>
                </a:lnTo>
                <a:lnTo>
                  <a:pt x="1352613" y="7785"/>
                </a:lnTo>
                <a:lnTo>
                  <a:pt x="1363510" y="12509"/>
                </a:lnTo>
                <a:lnTo>
                  <a:pt x="1372882" y="19050"/>
                </a:lnTo>
                <a:lnTo>
                  <a:pt x="1395374" y="62611"/>
                </a:lnTo>
                <a:lnTo>
                  <a:pt x="1398155" y="93306"/>
                </a:lnTo>
                <a:lnTo>
                  <a:pt x="1397457" y="109905"/>
                </a:lnTo>
                <a:lnTo>
                  <a:pt x="1386992" y="150558"/>
                </a:lnTo>
                <a:lnTo>
                  <a:pt x="1352918" y="180721"/>
                </a:lnTo>
                <a:lnTo>
                  <a:pt x="1355293" y="188353"/>
                </a:lnTo>
                <a:lnTo>
                  <a:pt x="1391259" y="166992"/>
                </a:lnTo>
                <a:lnTo>
                  <a:pt x="1411452" y="127546"/>
                </a:lnTo>
                <a:lnTo>
                  <a:pt x="1414360" y="111594"/>
                </a:lnTo>
                <a:lnTo>
                  <a:pt x="1415326" y="94297"/>
                </a:lnTo>
                <a:close/>
              </a:path>
            </a:pathLst>
          </a:custGeom>
          <a:solidFill>
            <a:srgbClr val="000000"/>
          </a:solidFill>
        </p:spPr>
        <p:txBody>
          <a:bodyPr wrap="square" lIns="0" tIns="0" rIns="0" bIns="0" rtlCol="0"/>
          <a:lstStyle/>
          <a:p>
            <a:endParaRPr/>
          </a:p>
        </p:txBody>
      </p:sp>
      <p:sp>
        <p:nvSpPr>
          <p:cNvPr id="20" name="object 20"/>
          <p:cNvSpPr/>
          <p:nvPr/>
        </p:nvSpPr>
        <p:spPr>
          <a:xfrm>
            <a:off x="4728210" y="4751209"/>
            <a:ext cx="2520315" cy="188595"/>
          </a:xfrm>
          <a:custGeom>
            <a:avLst/>
            <a:gdLst/>
            <a:ahLst/>
            <a:cxnLst/>
            <a:rect l="l" t="t" r="r" b="b"/>
            <a:pathLst>
              <a:path w="2520315" h="188595">
                <a:moveTo>
                  <a:pt x="62699" y="7645"/>
                </a:moveTo>
                <a:lnTo>
                  <a:pt x="60020" y="0"/>
                </a:lnTo>
                <a:lnTo>
                  <a:pt x="46380" y="4927"/>
                </a:lnTo>
                <a:lnTo>
                  <a:pt x="34417" y="12065"/>
                </a:lnTo>
                <a:lnTo>
                  <a:pt x="8724" y="46316"/>
                </a:lnTo>
                <a:lnTo>
                  <a:pt x="0" y="94157"/>
                </a:lnTo>
                <a:lnTo>
                  <a:pt x="965" y="111455"/>
                </a:lnTo>
                <a:lnTo>
                  <a:pt x="15468" y="155333"/>
                </a:lnTo>
                <a:lnTo>
                  <a:pt x="46329" y="183299"/>
                </a:lnTo>
                <a:lnTo>
                  <a:pt x="60020" y="188214"/>
                </a:lnTo>
                <a:lnTo>
                  <a:pt x="62407" y="180581"/>
                </a:lnTo>
                <a:lnTo>
                  <a:pt x="51676" y="175831"/>
                </a:lnTo>
                <a:lnTo>
                  <a:pt x="42418" y="169214"/>
                </a:lnTo>
                <a:lnTo>
                  <a:pt x="19951" y="124841"/>
                </a:lnTo>
                <a:lnTo>
                  <a:pt x="17157" y="93167"/>
                </a:lnTo>
                <a:lnTo>
                  <a:pt x="17856" y="77114"/>
                </a:lnTo>
                <a:lnTo>
                  <a:pt x="28321" y="37452"/>
                </a:lnTo>
                <a:lnTo>
                  <a:pt x="51841" y="12369"/>
                </a:lnTo>
                <a:lnTo>
                  <a:pt x="62699" y="7645"/>
                </a:lnTo>
                <a:close/>
              </a:path>
              <a:path w="2520315" h="188595">
                <a:moveTo>
                  <a:pt x="888771" y="7645"/>
                </a:moveTo>
                <a:lnTo>
                  <a:pt x="886091" y="0"/>
                </a:lnTo>
                <a:lnTo>
                  <a:pt x="872451" y="4927"/>
                </a:lnTo>
                <a:lnTo>
                  <a:pt x="860488" y="12065"/>
                </a:lnTo>
                <a:lnTo>
                  <a:pt x="834796" y="46316"/>
                </a:lnTo>
                <a:lnTo>
                  <a:pt x="826071" y="94157"/>
                </a:lnTo>
                <a:lnTo>
                  <a:pt x="827036" y="111455"/>
                </a:lnTo>
                <a:lnTo>
                  <a:pt x="841540" y="155333"/>
                </a:lnTo>
                <a:lnTo>
                  <a:pt x="872401" y="183299"/>
                </a:lnTo>
                <a:lnTo>
                  <a:pt x="886091" y="188214"/>
                </a:lnTo>
                <a:lnTo>
                  <a:pt x="888479" y="180581"/>
                </a:lnTo>
                <a:lnTo>
                  <a:pt x="877747" y="175831"/>
                </a:lnTo>
                <a:lnTo>
                  <a:pt x="868489" y="169214"/>
                </a:lnTo>
                <a:lnTo>
                  <a:pt x="846023" y="124841"/>
                </a:lnTo>
                <a:lnTo>
                  <a:pt x="843229" y="93167"/>
                </a:lnTo>
                <a:lnTo>
                  <a:pt x="843927" y="77114"/>
                </a:lnTo>
                <a:lnTo>
                  <a:pt x="854392" y="37452"/>
                </a:lnTo>
                <a:lnTo>
                  <a:pt x="877912" y="12369"/>
                </a:lnTo>
                <a:lnTo>
                  <a:pt x="888771" y="7645"/>
                </a:lnTo>
                <a:close/>
              </a:path>
              <a:path w="2520315" h="188595">
                <a:moveTo>
                  <a:pt x="1710093" y="94157"/>
                </a:moveTo>
                <a:lnTo>
                  <a:pt x="1701355" y="46316"/>
                </a:lnTo>
                <a:lnTo>
                  <a:pt x="1675676" y="12065"/>
                </a:lnTo>
                <a:lnTo>
                  <a:pt x="1650060" y="0"/>
                </a:lnTo>
                <a:lnTo>
                  <a:pt x="1647380" y="7645"/>
                </a:lnTo>
                <a:lnTo>
                  <a:pt x="1658277" y="12369"/>
                </a:lnTo>
                <a:lnTo>
                  <a:pt x="1667649" y="18910"/>
                </a:lnTo>
                <a:lnTo>
                  <a:pt x="1690141" y="62471"/>
                </a:lnTo>
                <a:lnTo>
                  <a:pt x="1692922" y="93167"/>
                </a:lnTo>
                <a:lnTo>
                  <a:pt x="1692224" y="109766"/>
                </a:lnTo>
                <a:lnTo>
                  <a:pt x="1681759" y="150418"/>
                </a:lnTo>
                <a:lnTo>
                  <a:pt x="1647685" y="180581"/>
                </a:lnTo>
                <a:lnTo>
                  <a:pt x="1650060" y="188214"/>
                </a:lnTo>
                <a:lnTo>
                  <a:pt x="1686026" y="166852"/>
                </a:lnTo>
                <a:lnTo>
                  <a:pt x="1706219" y="127406"/>
                </a:lnTo>
                <a:lnTo>
                  <a:pt x="1709127" y="111455"/>
                </a:lnTo>
                <a:lnTo>
                  <a:pt x="1710093" y="94157"/>
                </a:lnTo>
                <a:close/>
              </a:path>
              <a:path w="2520315" h="188595">
                <a:moveTo>
                  <a:pt x="2520226" y="94157"/>
                </a:moveTo>
                <a:lnTo>
                  <a:pt x="2511488" y="46316"/>
                </a:lnTo>
                <a:lnTo>
                  <a:pt x="2485809" y="12065"/>
                </a:lnTo>
                <a:lnTo>
                  <a:pt x="2460193" y="0"/>
                </a:lnTo>
                <a:lnTo>
                  <a:pt x="2457513" y="7645"/>
                </a:lnTo>
                <a:lnTo>
                  <a:pt x="2468410" y="12369"/>
                </a:lnTo>
                <a:lnTo>
                  <a:pt x="2477782" y="18910"/>
                </a:lnTo>
                <a:lnTo>
                  <a:pt x="2500274" y="62471"/>
                </a:lnTo>
                <a:lnTo>
                  <a:pt x="2503055" y="93167"/>
                </a:lnTo>
                <a:lnTo>
                  <a:pt x="2502357" y="109766"/>
                </a:lnTo>
                <a:lnTo>
                  <a:pt x="2491892" y="150418"/>
                </a:lnTo>
                <a:lnTo>
                  <a:pt x="2457818" y="180581"/>
                </a:lnTo>
                <a:lnTo>
                  <a:pt x="2460193" y="188214"/>
                </a:lnTo>
                <a:lnTo>
                  <a:pt x="2496159" y="166852"/>
                </a:lnTo>
                <a:lnTo>
                  <a:pt x="2516352" y="127406"/>
                </a:lnTo>
                <a:lnTo>
                  <a:pt x="2519261" y="111455"/>
                </a:lnTo>
                <a:lnTo>
                  <a:pt x="2520226" y="94157"/>
                </a:lnTo>
                <a:close/>
              </a:path>
            </a:pathLst>
          </a:custGeom>
          <a:solidFill>
            <a:srgbClr val="000000"/>
          </a:solidFill>
        </p:spPr>
        <p:txBody>
          <a:bodyPr wrap="square" lIns="0" tIns="0" rIns="0" bIns="0" rtlCol="0"/>
          <a:lstStyle/>
          <a:p>
            <a:endParaRPr/>
          </a:p>
        </p:txBody>
      </p:sp>
      <p:sp>
        <p:nvSpPr>
          <p:cNvPr id="21" name="object 21"/>
          <p:cNvSpPr/>
          <p:nvPr/>
        </p:nvSpPr>
        <p:spPr>
          <a:xfrm>
            <a:off x="4728209" y="5183005"/>
            <a:ext cx="1203960" cy="188595"/>
          </a:xfrm>
          <a:custGeom>
            <a:avLst/>
            <a:gdLst/>
            <a:ahLst/>
            <a:cxnLst/>
            <a:rect l="l" t="t" r="r" b="b"/>
            <a:pathLst>
              <a:path w="1203960" h="188595">
                <a:moveTo>
                  <a:pt x="1143782" y="0"/>
                </a:moveTo>
                <a:lnTo>
                  <a:pt x="1141103" y="7639"/>
                </a:lnTo>
                <a:lnTo>
                  <a:pt x="1151999" y="12367"/>
                </a:lnTo>
                <a:lnTo>
                  <a:pt x="1161368" y="18913"/>
                </a:lnTo>
                <a:lnTo>
                  <a:pt x="1183866" y="62470"/>
                </a:lnTo>
                <a:lnTo>
                  <a:pt x="1186644" y="93165"/>
                </a:lnTo>
                <a:lnTo>
                  <a:pt x="1185947" y="109766"/>
                </a:lnTo>
                <a:lnTo>
                  <a:pt x="1175482" y="150414"/>
                </a:lnTo>
                <a:lnTo>
                  <a:pt x="1141401" y="180577"/>
                </a:lnTo>
                <a:lnTo>
                  <a:pt x="1143782" y="188217"/>
                </a:lnTo>
                <a:lnTo>
                  <a:pt x="1179742" y="166852"/>
                </a:lnTo>
                <a:lnTo>
                  <a:pt x="1199940" y="127409"/>
                </a:lnTo>
                <a:lnTo>
                  <a:pt x="1203810" y="94157"/>
                </a:lnTo>
                <a:lnTo>
                  <a:pt x="1202839" y="76903"/>
                </a:lnTo>
                <a:lnTo>
                  <a:pt x="1188281" y="32989"/>
                </a:lnTo>
                <a:lnTo>
                  <a:pt x="1157427" y="4926"/>
                </a:lnTo>
                <a:lnTo>
                  <a:pt x="1143782" y="0"/>
                </a:lnTo>
                <a:close/>
              </a:path>
              <a:path w="1203960" h="188595">
                <a:moveTo>
                  <a:pt x="60027" y="0"/>
                </a:moveTo>
                <a:lnTo>
                  <a:pt x="24132" y="21421"/>
                </a:lnTo>
                <a:lnTo>
                  <a:pt x="3882" y="60957"/>
                </a:lnTo>
                <a:lnTo>
                  <a:pt x="0" y="94157"/>
                </a:lnTo>
                <a:lnTo>
                  <a:pt x="967" y="111450"/>
                </a:lnTo>
                <a:lnTo>
                  <a:pt x="15478" y="155327"/>
                </a:lnTo>
                <a:lnTo>
                  <a:pt x="46342" y="183297"/>
                </a:lnTo>
                <a:lnTo>
                  <a:pt x="60027" y="188217"/>
                </a:lnTo>
                <a:lnTo>
                  <a:pt x="62409" y="180577"/>
                </a:lnTo>
                <a:lnTo>
                  <a:pt x="51684" y="175827"/>
                </a:lnTo>
                <a:lnTo>
                  <a:pt x="42429" y="169217"/>
                </a:lnTo>
                <a:lnTo>
                  <a:pt x="19955" y="124841"/>
                </a:lnTo>
                <a:lnTo>
                  <a:pt x="17165" y="93165"/>
                </a:lnTo>
                <a:lnTo>
                  <a:pt x="17863" y="77108"/>
                </a:lnTo>
                <a:lnTo>
                  <a:pt x="28327" y="37454"/>
                </a:lnTo>
                <a:lnTo>
                  <a:pt x="62706" y="7639"/>
                </a:lnTo>
                <a:lnTo>
                  <a:pt x="60027" y="0"/>
                </a:lnTo>
                <a:close/>
              </a:path>
            </a:pathLst>
          </a:custGeom>
          <a:solidFill>
            <a:srgbClr val="000000"/>
          </a:solidFill>
        </p:spPr>
        <p:txBody>
          <a:bodyPr wrap="square" lIns="0" tIns="0" rIns="0" bIns="0" rtlCol="0"/>
          <a:lstStyle/>
          <a:p>
            <a:endParaRPr/>
          </a:p>
        </p:txBody>
      </p:sp>
      <p:sp>
        <p:nvSpPr>
          <p:cNvPr id="22" name="object 22"/>
          <p:cNvSpPr/>
          <p:nvPr/>
        </p:nvSpPr>
        <p:spPr>
          <a:xfrm>
            <a:off x="6637083" y="5183005"/>
            <a:ext cx="1155065" cy="188595"/>
          </a:xfrm>
          <a:custGeom>
            <a:avLst/>
            <a:gdLst/>
            <a:ahLst/>
            <a:cxnLst/>
            <a:rect l="l" t="t" r="r" b="b"/>
            <a:pathLst>
              <a:path w="1155065" h="188595">
                <a:moveTo>
                  <a:pt x="1094569" y="0"/>
                </a:moveTo>
                <a:lnTo>
                  <a:pt x="1091890" y="7639"/>
                </a:lnTo>
                <a:lnTo>
                  <a:pt x="1102785" y="12367"/>
                </a:lnTo>
                <a:lnTo>
                  <a:pt x="1112156" y="18913"/>
                </a:lnTo>
                <a:lnTo>
                  <a:pt x="1134654" y="62470"/>
                </a:lnTo>
                <a:lnTo>
                  <a:pt x="1137432" y="93165"/>
                </a:lnTo>
                <a:lnTo>
                  <a:pt x="1136734" y="109766"/>
                </a:lnTo>
                <a:lnTo>
                  <a:pt x="1126270" y="150414"/>
                </a:lnTo>
                <a:lnTo>
                  <a:pt x="1092188" y="180577"/>
                </a:lnTo>
                <a:lnTo>
                  <a:pt x="1094569" y="188217"/>
                </a:lnTo>
                <a:lnTo>
                  <a:pt x="1130530" y="166852"/>
                </a:lnTo>
                <a:lnTo>
                  <a:pt x="1150727" y="127409"/>
                </a:lnTo>
                <a:lnTo>
                  <a:pt x="1154596" y="94157"/>
                </a:lnTo>
                <a:lnTo>
                  <a:pt x="1153625" y="76903"/>
                </a:lnTo>
                <a:lnTo>
                  <a:pt x="1139069" y="32989"/>
                </a:lnTo>
                <a:lnTo>
                  <a:pt x="1108215" y="4926"/>
                </a:lnTo>
                <a:lnTo>
                  <a:pt x="1094569" y="0"/>
                </a:lnTo>
                <a:close/>
              </a:path>
              <a:path w="1155065" h="188595">
                <a:moveTo>
                  <a:pt x="60027" y="0"/>
                </a:moveTo>
                <a:lnTo>
                  <a:pt x="24132" y="21421"/>
                </a:lnTo>
                <a:lnTo>
                  <a:pt x="3882" y="60957"/>
                </a:lnTo>
                <a:lnTo>
                  <a:pt x="0" y="94157"/>
                </a:lnTo>
                <a:lnTo>
                  <a:pt x="967" y="111450"/>
                </a:lnTo>
                <a:lnTo>
                  <a:pt x="15478" y="155327"/>
                </a:lnTo>
                <a:lnTo>
                  <a:pt x="46342" y="183297"/>
                </a:lnTo>
                <a:lnTo>
                  <a:pt x="60027" y="188217"/>
                </a:lnTo>
                <a:lnTo>
                  <a:pt x="62409" y="180577"/>
                </a:lnTo>
                <a:lnTo>
                  <a:pt x="51684" y="175827"/>
                </a:lnTo>
                <a:lnTo>
                  <a:pt x="42428" y="169217"/>
                </a:lnTo>
                <a:lnTo>
                  <a:pt x="19955" y="124841"/>
                </a:lnTo>
                <a:lnTo>
                  <a:pt x="17165" y="93165"/>
                </a:lnTo>
                <a:lnTo>
                  <a:pt x="17863" y="77108"/>
                </a:lnTo>
                <a:lnTo>
                  <a:pt x="28327" y="37454"/>
                </a:lnTo>
                <a:lnTo>
                  <a:pt x="62706" y="7639"/>
                </a:lnTo>
                <a:lnTo>
                  <a:pt x="60027" y="0"/>
                </a:lnTo>
                <a:close/>
              </a:path>
            </a:pathLst>
          </a:custGeom>
          <a:solidFill>
            <a:srgbClr val="000000"/>
          </a:solidFill>
        </p:spPr>
        <p:txBody>
          <a:bodyPr wrap="square" lIns="0" tIns="0" rIns="0" bIns="0" rtlCol="0"/>
          <a:lstStyle/>
          <a:p>
            <a:endParaRPr/>
          </a:p>
        </p:txBody>
      </p:sp>
      <p:sp>
        <p:nvSpPr>
          <p:cNvPr id="23" name="object 23"/>
          <p:cNvSpPr txBox="1"/>
          <p:nvPr/>
        </p:nvSpPr>
        <p:spPr>
          <a:xfrm>
            <a:off x="3801094" y="3822700"/>
            <a:ext cx="4131310" cy="1566545"/>
          </a:xfrm>
          <a:prstGeom prst="rect">
            <a:avLst/>
          </a:prstGeom>
        </p:spPr>
        <p:txBody>
          <a:bodyPr vert="horz" wrap="square" lIns="0" tIns="12700" rIns="0" bIns="0" rtlCol="0">
            <a:spAutoFit/>
          </a:bodyPr>
          <a:lstStyle/>
          <a:p>
            <a:pPr marL="38100">
              <a:lnSpc>
                <a:spcPct val="100000"/>
              </a:lnSpc>
              <a:spcBef>
                <a:spcPts val="100"/>
              </a:spcBef>
              <a:tabLst>
                <a:tab pos="734695" algn="l"/>
                <a:tab pos="1802130" algn="l"/>
              </a:tabLst>
            </a:pPr>
            <a:r>
              <a:rPr sz="1600" dirty="0">
                <a:latin typeface="Cambria Math" panose="02040503050406030204"/>
                <a:cs typeface="Cambria Math" panose="02040503050406030204"/>
              </a:rPr>
              <a:t>OUT</a:t>
            </a:r>
            <a:r>
              <a:rPr sz="1600" spc="204" dirty="0">
                <a:latin typeface="Cambria Math" panose="02040503050406030204"/>
                <a:cs typeface="Cambria Math" panose="02040503050406030204"/>
              </a:rPr>
              <a:t> </a:t>
            </a:r>
            <a:r>
              <a:rPr sz="1600" dirty="0">
                <a:latin typeface="Cambria Math" panose="02040503050406030204"/>
                <a:cs typeface="Cambria Math" panose="02040503050406030204"/>
              </a:rPr>
              <a:t>2	=</a:t>
            </a:r>
            <a:r>
              <a:rPr sz="1600" spc="95" dirty="0">
                <a:latin typeface="Cambria Math" panose="02040503050406030204"/>
                <a:cs typeface="Cambria Math" panose="02040503050406030204"/>
              </a:rPr>
              <a:t> </a:t>
            </a:r>
            <a:r>
              <a:rPr sz="1600" spc="-75" dirty="0">
                <a:latin typeface="Cambria Math" panose="02040503050406030204"/>
                <a:cs typeface="Cambria Math" panose="02040503050406030204"/>
              </a:rPr>
              <a:t>𝑓</a:t>
            </a:r>
            <a:r>
              <a:rPr sz="1800" spc="-112" baseline="-16000" dirty="0">
                <a:latin typeface="Cambria Math" panose="02040503050406030204"/>
                <a:cs typeface="Cambria Math" panose="02040503050406030204"/>
              </a:rPr>
              <a:t>/</a:t>
            </a:r>
            <a:r>
              <a:rPr sz="1800" spc="667" baseline="-16000" dirty="0">
                <a:latin typeface="Cambria Math" panose="02040503050406030204"/>
                <a:cs typeface="Cambria Math" panose="02040503050406030204"/>
              </a:rPr>
              <a:t> </a:t>
            </a:r>
            <a:r>
              <a:rPr sz="1600" dirty="0">
                <a:latin typeface="Cambria Math" panose="02040503050406030204"/>
                <a:cs typeface="Cambria Math" panose="02040503050406030204"/>
              </a:rPr>
              <a:t>IN[2]	=</a:t>
            </a:r>
            <a:r>
              <a:rPr sz="1600" spc="75" dirty="0">
                <a:latin typeface="Cambria Math" panose="02040503050406030204"/>
                <a:cs typeface="Cambria Math" panose="02040503050406030204"/>
              </a:rPr>
              <a:t> </a:t>
            </a:r>
            <a:r>
              <a:rPr sz="1600" spc="-75" dirty="0">
                <a:latin typeface="Cambria Math" panose="02040503050406030204"/>
                <a:cs typeface="Cambria Math" panose="02040503050406030204"/>
              </a:rPr>
              <a:t>𝑓</a:t>
            </a:r>
            <a:r>
              <a:rPr sz="1800" spc="-112" baseline="-16000" dirty="0">
                <a:latin typeface="Cambria Math" panose="02040503050406030204"/>
                <a:cs typeface="Cambria Math" panose="02040503050406030204"/>
              </a:rPr>
              <a:t>/</a:t>
            </a:r>
            <a:r>
              <a:rPr sz="1800" spc="60" baseline="-16000" dirty="0">
                <a:latin typeface="Cambria Math" panose="02040503050406030204"/>
                <a:cs typeface="Cambria Math" panose="02040503050406030204"/>
              </a:rPr>
              <a:t> </a:t>
            </a:r>
            <a:r>
              <a:rPr lang="en-US" sz="1800" spc="60" baseline="-16000" dirty="0">
                <a:latin typeface="Cambria Math" panose="02040503050406030204"/>
                <a:cs typeface="Cambria Math" panose="02040503050406030204"/>
              </a:rPr>
              <a:t> </a:t>
            </a:r>
            <a:r>
              <a:rPr sz="1600" dirty="0">
                <a:latin typeface="Cambria Math" panose="02040503050406030204"/>
                <a:cs typeface="Cambria Math" panose="02040503050406030204"/>
              </a:rPr>
              <a:t>OUT</a:t>
            </a:r>
            <a:r>
              <a:rPr sz="1600" spc="180" dirty="0">
                <a:latin typeface="Cambria Math" panose="02040503050406030204"/>
                <a:cs typeface="Cambria Math" panose="02040503050406030204"/>
              </a:rPr>
              <a:t> </a:t>
            </a:r>
            <a:r>
              <a:rPr sz="1600" dirty="0">
                <a:latin typeface="Cambria Math" panose="02040503050406030204"/>
                <a:cs typeface="Cambria Math" panose="02040503050406030204"/>
              </a:rPr>
              <a:t>1</a:t>
            </a:r>
            <a:endParaRPr sz="1600">
              <a:latin typeface="Cambria Math" panose="02040503050406030204"/>
              <a:cs typeface="Cambria Math" panose="02040503050406030204"/>
            </a:endParaRPr>
          </a:p>
          <a:p>
            <a:pPr marL="38100">
              <a:lnSpc>
                <a:spcPct val="100000"/>
              </a:lnSpc>
              <a:spcBef>
                <a:spcPts val="1485"/>
              </a:spcBef>
              <a:tabLst>
                <a:tab pos="993140" algn="l"/>
              </a:tabLst>
            </a:pPr>
            <a:r>
              <a:rPr sz="1600" dirty="0">
                <a:latin typeface="Cambria Math" panose="02040503050406030204"/>
                <a:cs typeface="Cambria Math" panose="02040503050406030204"/>
              </a:rPr>
              <a:t>=</a:t>
            </a:r>
            <a:r>
              <a:rPr sz="1600" spc="95" dirty="0">
                <a:latin typeface="Cambria Math" panose="02040503050406030204"/>
                <a:cs typeface="Cambria Math" panose="02040503050406030204"/>
              </a:rPr>
              <a:t> </a:t>
            </a:r>
            <a:r>
              <a:rPr sz="1600" spc="20" dirty="0">
                <a:latin typeface="Cambria Math" panose="02040503050406030204"/>
                <a:cs typeface="Cambria Math" panose="02040503050406030204"/>
              </a:rPr>
              <a:t>𝑔𝑒𝑛</a:t>
            </a:r>
            <a:r>
              <a:rPr lang="en-US" sz="1800" spc="30" baseline="-16000" dirty="0">
                <a:latin typeface="Cambria Math" panose="02040503050406030204"/>
                <a:cs typeface="Cambria Math" panose="02040503050406030204"/>
              </a:rPr>
              <a:t>2</a:t>
            </a:r>
            <a:r>
              <a:rPr sz="1800" spc="195" baseline="-16000" dirty="0">
                <a:latin typeface="Cambria Math" panose="02040503050406030204"/>
                <a:cs typeface="Cambria Math" panose="02040503050406030204"/>
              </a:rPr>
              <a:t> </a:t>
            </a:r>
            <a:r>
              <a:rPr sz="1600" spc="70" dirty="0">
                <a:latin typeface="Cambria Math" panose="02040503050406030204"/>
                <a:cs typeface="Cambria Math" panose="02040503050406030204"/>
              </a:rPr>
              <a:t>𝖴	</a:t>
            </a:r>
            <a:r>
              <a:rPr sz="1600" dirty="0">
                <a:latin typeface="Cambria Math" panose="02040503050406030204"/>
                <a:cs typeface="Cambria Math" panose="02040503050406030204"/>
              </a:rPr>
              <a:t>OUT</a:t>
            </a:r>
            <a:r>
              <a:rPr sz="1600" spc="190" dirty="0">
                <a:latin typeface="Cambria Math" panose="02040503050406030204"/>
                <a:cs typeface="Cambria Math" panose="02040503050406030204"/>
              </a:rPr>
              <a:t> </a:t>
            </a:r>
            <a:r>
              <a:rPr sz="1600" dirty="0">
                <a:latin typeface="Cambria Math" panose="02040503050406030204"/>
                <a:cs typeface="Cambria Math" panose="02040503050406030204"/>
              </a:rPr>
              <a:t>1</a:t>
            </a:r>
            <a:r>
              <a:rPr sz="1600" spc="185"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10" dirty="0">
                <a:latin typeface="Cambria Math" panose="02040503050406030204"/>
                <a:cs typeface="Cambria Math" panose="02040503050406030204"/>
              </a:rPr>
              <a:t> </a:t>
            </a:r>
            <a:r>
              <a:rPr sz="1600" spc="15" dirty="0">
                <a:latin typeface="Cambria Math" panose="02040503050406030204"/>
                <a:cs typeface="Cambria Math" panose="02040503050406030204"/>
              </a:rPr>
              <a:t>𝑘𝑖𝑙𝑙</a:t>
            </a:r>
            <a:r>
              <a:rPr lang="en-US" sz="1800" spc="22" baseline="-16000" dirty="0">
                <a:latin typeface="Cambria Math" panose="02040503050406030204"/>
                <a:cs typeface="Cambria Math" panose="02040503050406030204"/>
              </a:rPr>
              <a:t>2</a:t>
            </a:r>
            <a:endParaRPr sz="1800" baseline="-16000">
              <a:latin typeface="Cambria Math" panose="02040503050406030204"/>
              <a:cs typeface="Cambria Math" panose="02040503050406030204"/>
            </a:endParaRPr>
          </a:p>
          <a:p>
            <a:pPr marL="38100">
              <a:lnSpc>
                <a:spcPct val="100000"/>
              </a:lnSpc>
              <a:spcBef>
                <a:spcPts val="1490"/>
              </a:spcBef>
              <a:tabLst>
                <a:tab pos="993140" algn="l"/>
                <a:tab pos="1819275" algn="l"/>
              </a:tabLst>
            </a:pPr>
            <a:r>
              <a:rPr sz="1600" dirty="0">
                <a:latin typeface="Cambria Math" panose="02040503050406030204"/>
                <a:cs typeface="Cambria Math" panose="02040503050406030204"/>
              </a:rPr>
              <a:t>=</a:t>
            </a:r>
            <a:r>
              <a:rPr sz="1600" spc="95" dirty="0">
                <a:latin typeface="Cambria Math" panose="02040503050406030204"/>
                <a:cs typeface="Cambria Math" panose="02040503050406030204"/>
              </a:rPr>
              <a:t> </a:t>
            </a:r>
            <a:r>
              <a:rPr sz="1600" spc="20" dirty="0">
                <a:latin typeface="Cambria Math" panose="02040503050406030204"/>
                <a:cs typeface="Cambria Math" panose="02040503050406030204"/>
              </a:rPr>
              <a:t>𝑔𝑒𝑛</a:t>
            </a:r>
            <a:r>
              <a:rPr lang="en-US" sz="1800" spc="30" baseline="-14000" dirty="0">
                <a:latin typeface="Cambria Math" panose="02040503050406030204"/>
                <a:cs typeface="Cambria Math" panose="02040503050406030204"/>
              </a:rPr>
              <a:t>2</a:t>
            </a:r>
            <a:r>
              <a:rPr sz="1800" spc="195" baseline="-14000" dirty="0">
                <a:latin typeface="Cambria Math" panose="02040503050406030204"/>
                <a:cs typeface="Cambria Math" panose="02040503050406030204"/>
              </a:rPr>
              <a:t> </a:t>
            </a:r>
            <a:r>
              <a:rPr sz="1600" spc="70" dirty="0">
                <a:latin typeface="Cambria Math" panose="02040503050406030204"/>
                <a:cs typeface="Cambria Math" panose="02040503050406030204"/>
              </a:rPr>
              <a:t>𝖴	</a:t>
            </a:r>
            <a:r>
              <a:rPr sz="1600" spc="-10" dirty="0">
                <a:latin typeface="Cambria Math" panose="02040503050406030204"/>
                <a:cs typeface="Cambria Math" panose="02040503050406030204"/>
              </a:rPr>
              <a:t>(𝑔𝑒𝑛</a:t>
            </a:r>
            <a:r>
              <a:rPr sz="1800" spc="-15" baseline="-14000" dirty="0">
                <a:latin typeface="Cambria Math" panose="02040503050406030204"/>
                <a:cs typeface="Cambria Math" panose="02040503050406030204"/>
              </a:rPr>
              <a:t>1</a:t>
            </a:r>
            <a:r>
              <a:rPr sz="1800" spc="209" baseline="-14000" dirty="0">
                <a:latin typeface="Cambria Math" panose="02040503050406030204"/>
                <a:cs typeface="Cambria Math" panose="02040503050406030204"/>
              </a:rPr>
              <a:t> </a:t>
            </a:r>
            <a:r>
              <a:rPr sz="1600" spc="70" dirty="0">
                <a:latin typeface="Cambria Math" panose="02040503050406030204"/>
                <a:cs typeface="Cambria Math" panose="02040503050406030204"/>
              </a:rPr>
              <a:t>𝖴	</a:t>
            </a:r>
            <a:r>
              <a:rPr sz="1600" dirty="0">
                <a:latin typeface="Cambria Math" panose="02040503050406030204"/>
                <a:cs typeface="Cambria Math" panose="02040503050406030204"/>
              </a:rPr>
              <a:t>𝑥</a:t>
            </a:r>
            <a:r>
              <a:rPr sz="1600" spc="40"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5" dirty="0">
                <a:latin typeface="Cambria Math" panose="02040503050406030204"/>
                <a:cs typeface="Cambria Math" panose="02040503050406030204"/>
              </a:rPr>
              <a:t> 𝑘𝑖𝑙𝑙</a:t>
            </a:r>
            <a:r>
              <a:rPr sz="1800" spc="-7" baseline="-14000" dirty="0">
                <a:latin typeface="Cambria Math" panose="02040503050406030204"/>
                <a:cs typeface="Cambria Math" panose="02040503050406030204"/>
              </a:rPr>
              <a:t>1</a:t>
            </a:r>
            <a:r>
              <a:rPr sz="1800" spc="247" baseline="-14000"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10"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5" dirty="0">
                <a:latin typeface="Cambria Math" panose="02040503050406030204"/>
                <a:cs typeface="Cambria Math" panose="02040503050406030204"/>
              </a:rPr>
              <a:t> </a:t>
            </a:r>
            <a:r>
              <a:rPr sz="1600" spc="15" dirty="0">
                <a:latin typeface="Cambria Math" panose="02040503050406030204"/>
                <a:cs typeface="Cambria Math" panose="02040503050406030204"/>
              </a:rPr>
              <a:t>𝑘𝑖𝑙𝑙</a:t>
            </a:r>
            <a:r>
              <a:rPr lang="en-US" sz="1800" spc="22" baseline="-14000" dirty="0">
                <a:latin typeface="Cambria Math" panose="02040503050406030204"/>
                <a:cs typeface="Cambria Math" panose="02040503050406030204"/>
              </a:rPr>
              <a:t>2</a:t>
            </a:r>
            <a:endParaRPr sz="1800" baseline="-14000">
              <a:latin typeface="Cambria Math" panose="02040503050406030204"/>
              <a:cs typeface="Cambria Math" panose="02040503050406030204"/>
            </a:endParaRPr>
          </a:p>
          <a:p>
            <a:pPr marL="38100">
              <a:lnSpc>
                <a:spcPct val="100000"/>
              </a:lnSpc>
              <a:spcBef>
                <a:spcPts val="1465"/>
              </a:spcBef>
              <a:tabLst>
                <a:tab pos="993140" algn="l"/>
                <a:tab pos="2193290" algn="l"/>
                <a:tab pos="2901950" algn="l"/>
              </a:tabLst>
            </a:pPr>
            <a:r>
              <a:rPr sz="1600" dirty="0">
                <a:latin typeface="Cambria Math" panose="02040503050406030204"/>
                <a:cs typeface="Cambria Math" panose="02040503050406030204"/>
              </a:rPr>
              <a:t>=</a:t>
            </a:r>
            <a:r>
              <a:rPr sz="1600" spc="95" dirty="0">
                <a:latin typeface="Cambria Math" panose="02040503050406030204"/>
                <a:cs typeface="Cambria Math" panose="02040503050406030204"/>
              </a:rPr>
              <a:t> </a:t>
            </a:r>
            <a:r>
              <a:rPr sz="1600" spc="20" dirty="0">
                <a:latin typeface="Cambria Math" panose="02040503050406030204"/>
                <a:cs typeface="Cambria Math" panose="02040503050406030204"/>
              </a:rPr>
              <a:t>𝑔𝑒𝑛</a:t>
            </a:r>
            <a:r>
              <a:rPr lang="en-US" sz="1800" spc="30" baseline="-16000" dirty="0">
                <a:latin typeface="Cambria Math" panose="02040503050406030204"/>
                <a:cs typeface="Cambria Math" panose="02040503050406030204"/>
              </a:rPr>
              <a:t>2</a:t>
            </a:r>
            <a:r>
              <a:rPr sz="1800" spc="195" baseline="-16000" dirty="0">
                <a:latin typeface="Cambria Math" panose="02040503050406030204"/>
                <a:cs typeface="Cambria Math" panose="02040503050406030204"/>
              </a:rPr>
              <a:t> </a:t>
            </a:r>
            <a:r>
              <a:rPr sz="1600" spc="70" dirty="0">
                <a:latin typeface="Cambria Math" panose="02040503050406030204"/>
                <a:cs typeface="Cambria Math" panose="02040503050406030204"/>
              </a:rPr>
              <a:t>𝖴	</a:t>
            </a:r>
            <a:r>
              <a:rPr sz="1600" spc="-10" dirty="0">
                <a:latin typeface="Cambria Math" panose="02040503050406030204"/>
                <a:cs typeface="Cambria Math" panose="02040503050406030204"/>
              </a:rPr>
              <a:t>𝑔𝑒𝑛</a:t>
            </a:r>
            <a:r>
              <a:rPr sz="1800" spc="-15" baseline="-16000" dirty="0">
                <a:latin typeface="Cambria Math" panose="02040503050406030204"/>
                <a:cs typeface="Cambria Math" panose="02040503050406030204"/>
              </a:rPr>
              <a:t>1</a:t>
            </a:r>
            <a:r>
              <a:rPr sz="1800" spc="217" baseline="-16000" dirty="0">
                <a:latin typeface="Cambria Math" panose="02040503050406030204"/>
                <a:cs typeface="Cambria Math" panose="02040503050406030204"/>
              </a:rPr>
              <a:t> </a:t>
            </a:r>
            <a:r>
              <a:rPr sz="1600" dirty="0">
                <a:latin typeface="Cambria Math" panose="02040503050406030204"/>
                <a:cs typeface="Cambria Math" panose="02040503050406030204"/>
              </a:rPr>
              <a:t>−</a:t>
            </a:r>
            <a:r>
              <a:rPr sz="1600" spc="10" dirty="0">
                <a:latin typeface="Cambria Math" panose="02040503050406030204"/>
                <a:cs typeface="Cambria Math" panose="02040503050406030204"/>
              </a:rPr>
              <a:t> </a:t>
            </a:r>
            <a:r>
              <a:rPr sz="1600" spc="15" dirty="0">
                <a:latin typeface="Cambria Math" panose="02040503050406030204"/>
                <a:cs typeface="Cambria Math" panose="02040503050406030204"/>
              </a:rPr>
              <a:t>𝑘𝑖𝑙𝑙</a:t>
            </a:r>
            <a:r>
              <a:rPr lang="en-US" spc="22" baseline="-16000" dirty="0">
                <a:latin typeface="Cambria Math" panose="02040503050406030204"/>
                <a:cs typeface="Cambria Math" panose="02040503050406030204"/>
                <a:sym typeface="+mn-ea"/>
              </a:rPr>
              <a:t>2</a:t>
            </a:r>
            <a:r>
              <a:rPr sz="1800" spc="22" baseline="-16000" dirty="0">
                <a:latin typeface="Cambria Math" panose="02040503050406030204"/>
                <a:cs typeface="Cambria Math" panose="02040503050406030204"/>
              </a:rPr>
              <a:t>	</a:t>
            </a:r>
            <a:r>
              <a:rPr sz="1600" spc="70" dirty="0">
                <a:latin typeface="Cambria Math" panose="02040503050406030204"/>
                <a:cs typeface="Cambria Math" panose="02040503050406030204"/>
              </a:rPr>
              <a:t>𝖴</a:t>
            </a:r>
            <a:r>
              <a:rPr sz="1600" dirty="0">
                <a:latin typeface="Cambria Math" panose="02040503050406030204"/>
                <a:cs typeface="Cambria Math" panose="02040503050406030204"/>
              </a:rPr>
              <a:t> </a:t>
            </a:r>
            <a:r>
              <a:rPr sz="1600" spc="-5" dirty="0">
                <a:latin typeface="Cambria Math" panose="02040503050406030204"/>
                <a:cs typeface="Cambria Math" panose="02040503050406030204"/>
              </a:rPr>
              <a:t>(𝑥</a:t>
            </a:r>
            <a:r>
              <a:rPr sz="1600" spc="50" dirty="0">
                <a:latin typeface="Cambria Math" panose="02040503050406030204"/>
                <a:cs typeface="Cambria Math" panose="02040503050406030204"/>
              </a:rPr>
              <a:t> </a:t>
            </a:r>
            <a:r>
              <a:rPr sz="1600" dirty="0">
                <a:latin typeface="Cambria Math" panose="02040503050406030204"/>
                <a:cs typeface="Cambria Math" panose="02040503050406030204"/>
              </a:rPr>
              <a:t>−	</a:t>
            </a:r>
            <a:r>
              <a:rPr sz="1600" spc="-5" dirty="0">
                <a:latin typeface="Cambria Math" panose="02040503050406030204"/>
                <a:cs typeface="Cambria Math" panose="02040503050406030204"/>
              </a:rPr>
              <a:t>𝑘𝑖𝑙𝑙</a:t>
            </a:r>
            <a:r>
              <a:rPr sz="1800" spc="-7" baseline="-16000" dirty="0">
                <a:latin typeface="Cambria Math" panose="02040503050406030204"/>
                <a:cs typeface="Cambria Math" panose="02040503050406030204"/>
              </a:rPr>
              <a:t>1</a:t>
            </a:r>
            <a:r>
              <a:rPr sz="1800" spc="172" baseline="-16000" dirty="0">
                <a:latin typeface="Cambria Math" panose="02040503050406030204"/>
                <a:cs typeface="Cambria Math" panose="02040503050406030204"/>
              </a:rPr>
              <a:t> </a:t>
            </a:r>
            <a:r>
              <a:rPr sz="1600" spc="70" dirty="0">
                <a:latin typeface="Cambria Math" panose="02040503050406030204"/>
                <a:cs typeface="Cambria Math" panose="02040503050406030204"/>
              </a:rPr>
              <a:t>𝖴</a:t>
            </a:r>
            <a:r>
              <a:rPr sz="1600" spc="-15" dirty="0">
                <a:latin typeface="Cambria Math" panose="02040503050406030204"/>
                <a:cs typeface="Cambria Math" panose="02040503050406030204"/>
              </a:rPr>
              <a:t> </a:t>
            </a:r>
            <a:r>
              <a:rPr sz="1600" spc="15" dirty="0">
                <a:latin typeface="Cambria Math" panose="02040503050406030204"/>
                <a:cs typeface="Cambria Math" panose="02040503050406030204"/>
              </a:rPr>
              <a:t>𝑘𝑖𝑙𝑙</a:t>
            </a:r>
            <a:r>
              <a:rPr lang="en-US" sz="1800" spc="22" baseline="-16000" dirty="0">
                <a:latin typeface="Cambria Math" panose="02040503050406030204"/>
                <a:cs typeface="Cambria Math" panose="02040503050406030204"/>
              </a:rPr>
              <a:t>2</a:t>
            </a:r>
            <a:r>
              <a:rPr sz="1800" spc="22" baseline="-16000" dirty="0">
                <a:latin typeface="Cambria Math" panose="02040503050406030204"/>
                <a:cs typeface="Cambria Math" panose="02040503050406030204"/>
              </a:rPr>
              <a:t> </a:t>
            </a:r>
            <a:r>
              <a:rPr sz="1800" spc="202" baseline="-16000" dirty="0">
                <a:latin typeface="Cambria Math" panose="02040503050406030204"/>
                <a:cs typeface="Cambria Math" panose="02040503050406030204"/>
              </a:rPr>
              <a:t> </a:t>
            </a:r>
            <a:r>
              <a:rPr sz="1600" dirty="0">
                <a:latin typeface="Cambria Math" panose="02040503050406030204"/>
                <a:cs typeface="Cambria Math" panose="02040503050406030204"/>
              </a:rPr>
              <a:t>)</a:t>
            </a:r>
            <a:endParaRPr sz="1600">
              <a:latin typeface="Cambria Math" panose="02040503050406030204"/>
              <a:cs typeface="Cambria Math" panose="02040503050406030204"/>
            </a:endParaRPr>
          </a:p>
        </p:txBody>
      </p:sp>
      <p:sp>
        <p:nvSpPr>
          <p:cNvPr id="24" name="object 2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25" name="object 2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26" name="object 2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429760" cy="635000"/>
          </a:xfrm>
          <a:prstGeom prst="rect">
            <a:avLst/>
          </a:prstGeom>
        </p:spPr>
        <p:txBody>
          <a:bodyPr vert="horz" wrap="square" lIns="0" tIns="12700" rIns="0" bIns="0" rtlCol="0">
            <a:spAutoFit/>
          </a:bodyPr>
          <a:lstStyle/>
          <a:p>
            <a:pPr marL="12700">
              <a:lnSpc>
                <a:spcPct val="100000"/>
              </a:lnSpc>
              <a:spcBef>
                <a:spcPts val="100"/>
              </a:spcBef>
            </a:pPr>
            <a:r>
              <a:rPr sz="4000" spc="-40" dirty="0"/>
              <a:t>Transfer</a:t>
            </a:r>
            <a:r>
              <a:rPr sz="4000" spc="-55" dirty="0"/>
              <a:t> </a:t>
            </a:r>
            <a:r>
              <a:rPr sz="4000" spc="-5" dirty="0"/>
              <a:t>Equations</a:t>
            </a:r>
            <a:endParaRPr sz="4000"/>
          </a:p>
        </p:txBody>
      </p:sp>
      <p:sp>
        <p:nvSpPr>
          <p:cNvPr id="3" name="object 3"/>
          <p:cNvSpPr txBox="1"/>
          <p:nvPr/>
        </p:nvSpPr>
        <p:spPr>
          <a:xfrm>
            <a:off x="707390" y="1657603"/>
            <a:ext cx="7157720"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Generalize</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to</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a:t>
            </a:r>
            <a:r>
              <a:rPr sz="2400" spc="-5" dirty="0">
                <a:latin typeface="Palatino Linotype" panose="02040502050505030304"/>
                <a:cs typeface="Palatino Linotype" panose="02040502050505030304"/>
              </a:rPr>
              <a:t> block</a:t>
            </a:r>
            <a:r>
              <a:rPr sz="2400" spc="-10"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B</a:t>
            </a:r>
            <a:r>
              <a:rPr sz="2400" i="1" spc="-1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with</a:t>
            </a:r>
            <a:r>
              <a:rPr sz="2400" spc="-5"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n</a:t>
            </a:r>
            <a:r>
              <a:rPr sz="2400" i="1"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statements,</a:t>
            </a:r>
            <a:r>
              <a:rPr sz="2400" spc="-5" dirty="0">
                <a:latin typeface="Palatino Linotype" panose="02040502050505030304"/>
                <a:cs typeface="Palatino Linotype" panose="02040502050505030304"/>
              </a:rPr>
              <a:t> </a:t>
            </a:r>
            <a:r>
              <a:rPr sz="2400" spc="-25" dirty="0">
                <a:latin typeface="Palatino Linotype" panose="02040502050505030304"/>
                <a:cs typeface="Palatino Linotype" panose="02040502050505030304"/>
              </a:rPr>
              <a:t>we</a:t>
            </a:r>
            <a:r>
              <a:rPr sz="2400" spc="-10" dirty="0">
                <a:latin typeface="Palatino Linotype" panose="02040502050505030304"/>
                <a:cs typeface="Palatino Linotype" panose="02040502050505030304"/>
              </a:rPr>
              <a:t> have:</a:t>
            </a:r>
            <a:endParaRPr sz="2400">
              <a:latin typeface="Palatino Linotype" panose="02040502050505030304"/>
              <a:cs typeface="Palatino Linotype" panose="02040502050505030304"/>
            </a:endParaRPr>
          </a:p>
        </p:txBody>
      </p:sp>
      <p:sp>
        <p:nvSpPr>
          <p:cNvPr id="4" name="object 4"/>
          <p:cNvSpPr/>
          <p:nvPr/>
        </p:nvSpPr>
        <p:spPr>
          <a:xfrm>
            <a:off x="2217291" y="2448815"/>
            <a:ext cx="278765" cy="212090"/>
          </a:xfrm>
          <a:custGeom>
            <a:avLst/>
            <a:gdLst/>
            <a:ahLst/>
            <a:cxnLst/>
            <a:rect l="l" t="t" r="r" b="b"/>
            <a:pathLst>
              <a:path w="278764" h="212089">
                <a:moveTo>
                  <a:pt x="211192" y="0"/>
                </a:moveTo>
                <a:lnTo>
                  <a:pt x="208178" y="8594"/>
                </a:lnTo>
                <a:lnTo>
                  <a:pt x="220435" y="13913"/>
                </a:lnTo>
                <a:lnTo>
                  <a:pt x="230976" y="21277"/>
                </a:lnTo>
                <a:lnTo>
                  <a:pt x="252380" y="55408"/>
                </a:lnTo>
                <a:lnTo>
                  <a:pt x="259412" y="104811"/>
                </a:lnTo>
                <a:lnTo>
                  <a:pt x="258627" y="123487"/>
                </a:lnTo>
                <a:lnTo>
                  <a:pt x="246854" y="169217"/>
                </a:lnTo>
                <a:lnTo>
                  <a:pt x="220579" y="197806"/>
                </a:lnTo>
                <a:lnTo>
                  <a:pt x="208513" y="203150"/>
                </a:lnTo>
                <a:lnTo>
                  <a:pt x="211192" y="211744"/>
                </a:lnTo>
                <a:lnTo>
                  <a:pt x="251647" y="187707"/>
                </a:lnTo>
                <a:lnTo>
                  <a:pt x="274369" y="143334"/>
                </a:lnTo>
                <a:lnTo>
                  <a:pt x="278723" y="105928"/>
                </a:lnTo>
                <a:lnTo>
                  <a:pt x="277631" y="86516"/>
                </a:lnTo>
                <a:lnTo>
                  <a:pt x="261254" y="37113"/>
                </a:lnTo>
                <a:lnTo>
                  <a:pt x="226543" y="5542"/>
                </a:lnTo>
                <a:lnTo>
                  <a:pt x="211192" y="0"/>
                </a:lnTo>
                <a:close/>
              </a:path>
              <a:path w="278764" h="212089">
                <a:moveTo>
                  <a:pt x="67530" y="0"/>
                </a:moveTo>
                <a:lnTo>
                  <a:pt x="27148" y="24099"/>
                </a:lnTo>
                <a:lnTo>
                  <a:pt x="4367" y="68576"/>
                </a:lnTo>
                <a:lnTo>
                  <a:pt x="0" y="105928"/>
                </a:lnTo>
                <a:lnTo>
                  <a:pt x="1088" y="125381"/>
                </a:lnTo>
                <a:lnTo>
                  <a:pt x="17412" y="174741"/>
                </a:lnTo>
                <a:lnTo>
                  <a:pt x="52134" y="206208"/>
                </a:lnTo>
                <a:lnTo>
                  <a:pt x="67530" y="211744"/>
                </a:lnTo>
                <a:lnTo>
                  <a:pt x="70210" y="203150"/>
                </a:lnTo>
                <a:lnTo>
                  <a:pt x="58144" y="197806"/>
                </a:lnTo>
                <a:lnTo>
                  <a:pt x="47732" y="190369"/>
                </a:lnTo>
                <a:lnTo>
                  <a:pt x="26374" y="155690"/>
                </a:lnTo>
                <a:lnTo>
                  <a:pt x="19310" y="104811"/>
                </a:lnTo>
                <a:lnTo>
                  <a:pt x="20095" y="86746"/>
                </a:lnTo>
                <a:lnTo>
                  <a:pt x="31868" y="42136"/>
                </a:lnTo>
                <a:lnTo>
                  <a:pt x="58332" y="13913"/>
                </a:lnTo>
                <a:lnTo>
                  <a:pt x="70544" y="8594"/>
                </a:lnTo>
                <a:lnTo>
                  <a:pt x="67530" y="0"/>
                </a:lnTo>
                <a:close/>
              </a:path>
            </a:pathLst>
          </a:custGeom>
          <a:solidFill>
            <a:srgbClr val="000000"/>
          </a:solidFill>
        </p:spPr>
        <p:txBody>
          <a:bodyPr wrap="square" lIns="0" tIns="0" rIns="0" bIns="0" rtlCol="0"/>
          <a:lstStyle/>
          <a:p>
            <a:endParaRPr/>
          </a:p>
        </p:txBody>
      </p:sp>
      <p:sp>
        <p:nvSpPr>
          <p:cNvPr id="5" name="object 5"/>
          <p:cNvSpPr/>
          <p:nvPr/>
        </p:nvSpPr>
        <p:spPr>
          <a:xfrm>
            <a:off x="3602607" y="2448815"/>
            <a:ext cx="1021715" cy="212090"/>
          </a:xfrm>
          <a:custGeom>
            <a:avLst/>
            <a:gdLst/>
            <a:ahLst/>
            <a:cxnLst/>
            <a:rect l="l" t="t" r="r" b="b"/>
            <a:pathLst>
              <a:path w="1021714" h="212089">
                <a:moveTo>
                  <a:pt x="953761" y="0"/>
                </a:moveTo>
                <a:lnTo>
                  <a:pt x="950747" y="8594"/>
                </a:lnTo>
                <a:lnTo>
                  <a:pt x="963004" y="13913"/>
                </a:lnTo>
                <a:lnTo>
                  <a:pt x="973545" y="21277"/>
                </a:lnTo>
                <a:lnTo>
                  <a:pt x="994949" y="55408"/>
                </a:lnTo>
                <a:lnTo>
                  <a:pt x="1001981" y="104811"/>
                </a:lnTo>
                <a:lnTo>
                  <a:pt x="1001196" y="123487"/>
                </a:lnTo>
                <a:lnTo>
                  <a:pt x="989423" y="169217"/>
                </a:lnTo>
                <a:lnTo>
                  <a:pt x="963147" y="197806"/>
                </a:lnTo>
                <a:lnTo>
                  <a:pt x="951081" y="203150"/>
                </a:lnTo>
                <a:lnTo>
                  <a:pt x="953761" y="211744"/>
                </a:lnTo>
                <a:lnTo>
                  <a:pt x="994216" y="187707"/>
                </a:lnTo>
                <a:lnTo>
                  <a:pt x="1016938" y="143334"/>
                </a:lnTo>
                <a:lnTo>
                  <a:pt x="1021292" y="105928"/>
                </a:lnTo>
                <a:lnTo>
                  <a:pt x="1020200" y="86516"/>
                </a:lnTo>
                <a:lnTo>
                  <a:pt x="1003823" y="37113"/>
                </a:lnTo>
                <a:lnTo>
                  <a:pt x="969112" y="5542"/>
                </a:lnTo>
                <a:lnTo>
                  <a:pt x="953761" y="0"/>
                </a:lnTo>
                <a:close/>
              </a:path>
              <a:path w="1021714" h="212089">
                <a:moveTo>
                  <a:pt x="67530" y="0"/>
                </a:moveTo>
                <a:lnTo>
                  <a:pt x="27148" y="24099"/>
                </a:lnTo>
                <a:lnTo>
                  <a:pt x="4367" y="68576"/>
                </a:lnTo>
                <a:lnTo>
                  <a:pt x="0" y="105928"/>
                </a:lnTo>
                <a:lnTo>
                  <a:pt x="1088" y="125381"/>
                </a:lnTo>
                <a:lnTo>
                  <a:pt x="17412" y="174741"/>
                </a:lnTo>
                <a:lnTo>
                  <a:pt x="52134" y="206208"/>
                </a:lnTo>
                <a:lnTo>
                  <a:pt x="67530" y="211744"/>
                </a:lnTo>
                <a:lnTo>
                  <a:pt x="70209" y="203150"/>
                </a:lnTo>
                <a:lnTo>
                  <a:pt x="58144" y="197806"/>
                </a:lnTo>
                <a:lnTo>
                  <a:pt x="47732" y="190369"/>
                </a:lnTo>
                <a:lnTo>
                  <a:pt x="26374" y="155690"/>
                </a:lnTo>
                <a:lnTo>
                  <a:pt x="19310" y="104811"/>
                </a:lnTo>
                <a:lnTo>
                  <a:pt x="20095" y="86746"/>
                </a:lnTo>
                <a:lnTo>
                  <a:pt x="31868" y="42136"/>
                </a:lnTo>
                <a:lnTo>
                  <a:pt x="58332" y="13913"/>
                </a:lnTo>
                <a:lnTo>
                  <a:pt x="70544" y="8594"/>
                </a:lnTo>
                <a:lnTo>
                  <a:pt x="67530" y="0"/>
                </a:lnTo>
                <a:close/>
              </a:path>
            </a:pathLst>
          </a:custGeom>
          <a:solidFill>
            <a:srgbClr val="000000"/>
          </a:solidFill>
        </p:spPr>
        <p:txBody>
          <a:bodyPr wrap="square" lIns="0" tIns="0" rIns="0" bIns="0" rtlCol="0"/>
          <a:lstStyle/>
          <a:p>
            <a:endParaRPr/>
          </a:p>
        </p:txBody>
      </p:sp>
      <p:sp>
        <p:nvSpPr>
          <p:cNvPr id="6" name="object 6"/>
          <p:cNvSpPr txBox="1"/>
          <p:nvPr/>
        </p:nvSpPr>
        <p:spPr>
          <a:xfrm>
            <a:off x="1930055" y="2379979"/>
            <a:ext cx="2655570" cy="299720"/>
          </a:xfrm>
          <a:prstGeom prst="rect">
            <a:avLst/>
          </a:prstGeom>
        </p:spPr>
        <p:txBody>
          <a:bodyPr vert="horz" wrap="square" lIns="0" tIns="12700" rIns="0" bIns="0" rtlCol="0">
            <a:spAutoFit/>
          </a:bodyPr>
          <a:lstStyle/>
          <a:p>
            <a:pPr marL="50800">
              <a:lnSpc>
                <a:spcPct val="100000"/>
              </a:lnSpc>
              <a:spcBef>
                <a:spcPts val="100"/>
              </a:spcBef>
              <a:tabLst>
                <a:tab pos="648970" algn="l"/>
                <a:tab pos="1746885" algn="l"/>
              </a:tabLst>
            </a:pPr>
            <a:r>
              <a:rPr sz="1800" spc="-130" dirty="0">
                <a:latin typeface="Cambria Math" panose="02040503050406030204"/>
                <a:cs typeface="Cambria Math" panose="02040503050406030204"/>
              </a:rPr>
              <a:t>𝑓</a:t>
            </a:r>
            <a:r>
              <a:rPr sz="1950" spc="-195" baseline="-15000" dirty="0">
                <a:latin typeface="Cambria Math" panose="02040503050406030204"/>
                <a:cs typeface="Cambria Math" panose="02040503050406030204"/>
              </a:rPr>
              <a:t>𝐵</a:t>
            </a:r>
            <a:r>
              <a:rPr sz="1950" spc="209" baseline="-15000" dirty="0">
                <a:latin typeface="Cambria Math" panose="02040503050406030204"/>
                <a:cs typeface="Cambria Math" panose="02040503050406030204"/>
              </a:rPr>
              <a:t>  </a:t>
            </a:r>
            <a:r>
              <a:rPr sz="1800" dirty="0">
                <a:latin typeface="Cambria Math" panose="02040503050406030204"/>
                <a:cs typeface="Cambria Math" panose="02040503050406030204"/>
              </a:rPr>
              <a:t>𝑥	=</a:t>
            </a:r>
            <a:r>
              <a:rPr sz="1800" spc="110" dirty="0">
                <a:latin typeface="Cambria Math" panose="02040503050406030204"/>
                <a:cs typeface="Cambria Math" panose="02040503050406030204"/>
              </a:rPr>
              <a:t> </a:t>
            </a:r>
            <a:r>
              <a:rPr sz="1800" dirty="0">
                <a:latin typeface="Cambria Math" panose="02040503050406030204"/>
                <a:cs typeface="Cambria Math" panose="02040503050406030204"/>
              </a:rPr>
              <a:t>𝑔𝑒𝑛</a:t>
            </a:r>
            <a:r>
              <a:rPr sz="1950" baseline="-15000" dirty="0">
                <a:latin typeface="Cambria Math" panose="02040503050406030204"/>
                <a:cs typeface="Cambria Math" panose="02040503050406030204"/>
              </a:rPr>
              <a:t>𝐵</a:t>
            </a:r>
            <a:r>
              <a:rPr sz="1950" spc="352" baseline="-15000" dirty="0">
                <a:latin typeface="Cambria Math" panose="02040503050406030204"/>
                <a:cs typeface="Cambria Math" panose="02040503050406030204"/>
              </a:rPr>
              <a:t> </a:t>
            </a:r>
            <a:r>
              <a:rPr sz="1800" spc="75" dirty="0">
                <a:latin typeface="Cambria Math" panose="02040503050406030204"/>
                <a:cs typeface="Cambria Math" panose="02040503050406030204"/>
              </a:rPr>
              <a:t>𝖴	</a:t>
            </a:r>
            <a:r>
              <a:rPr sz="1800" dirty="0">
                <a:latin typeface="Cambria Math" panose="02040503050406030204"/>
                <a:cs typeface="Cambria Math" panose="02040503050406030204"/>
              </a:rPr>
              <a:t>𝑥</a:t>
            </a:r>
            <a:r>
              <a:rPr sz="1800" spc="3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20" dirty="0">
                <a:latin typeface="Cambria Math" panose="02040503050406030204"/>
                <a:cs typeface="Cambria Math" panose="02040503050406030204"/>
              </a:rPr>
              <a:t> </a:t>
            </a:r>
            <a:r>
              <a:rPr sz="1800" dirty="0">
                <a:latin typeface="Cambria Math" panose="02040503050406030204"/>
                <a:cs typeface="Cambria Math" panose="02040503050406030204"/>
              </a:rPr>
              <a:t>𝑘𝑖𝑙𝑙</a:t>
            </a:r>
            <a:r>
              <a:rPr sz="1950" baseline="-15000" dirty="0">
                <a:latin typeface="Cambria Math" panose="02040503050406030204"/>
                <a:cs typeface="Cambria Math" panose="02040503050406030204"/>
              </a:rPr>
              <a:t>𝐵</a:t>
            </a:r>
            <a:endParaRPr sz="1950" baseline="-15000">
              <a:latin typeface="Cambria Math" panose="02040503050406030204"/>
              <a:cs typeface="Cambria Math" panose="02040503050406030204"/>
            </a:endParaRPr>
          </a:p>
        </p:txBody>
      </p:sp>
      <p:sp>
        <p:nvSpPr>
          <p:cNvPr id="7" name="object 7"/>
          <p:cNvSpPr txBox="1"/>
          <p:nvPr/>
        </p:nvSpPr>
        <p:spPr>
          <a:xfrm>
            <a:off x="993139" y="2931667"/>
            <a:ext cx="87058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Palatino Linotype" panose="02040502050505030304"/>
                <a:cs typeface="Palatino Linotype" panose="02040502050505030304"/>
              </a:rPr>
              <a:t>w</a:t>
            </a:r>
            <a:r>
              <a:rPr sz="2400" dirty="0">
                <a:latin typeface="Palatino Linotype" panose="02040502050505030304"/>
                <a:cs typeface="Palatino Linotype" panose="02040502050505030304"/>
              </a:rPr>
              <a:t>here</a:t>
            </a:r>
            <a:endParaRPr sz="2400">
              <a:latin typeface="Palatino Linotype" panose="02040502050505030304"/>
              <a:cs typeface="Palatino Linotype" panose="02040502050505030304"/>
            </a:endParaRPr>
          </a:p>
        </p:txBody>
      </p:sp>
      <p:sp>
        <p:nvSpPr>
          <p:cNvPr id="8" name="object 8"/>
          <p:cNvSpPr txBox="1"/>
          <p:nvPr/>
        </p:nvSpPr>
        <p:spPr>
          <a:xfrm>
            <a:off x="1885608" y="3620516"/>
            <a:ext cx="3141980" cy="299720"/>
          </a:xfrm>
          <a:prstGeom prst="rect">
            <a:avLst/>
          </a:prstGeom>
        </p:spPr>
        <p:txBody>
          <a:bodyPr vert="horz" wrap="square" lIns="0" tIns="12700" rIns="0" bIns="0" rtlCol="0">
            <a:spAutoFit/>
          </a:bodyPr>
          <a:lstStyle/>
          <a:p>
            <a:pPr marL="38100">
              <a:lnSpc>
                <a:spcPct val="100000"/>
              </a:lnSpc>
              <a:spcBef>
                <a:spcPts val="100"/>
              </a:spcBef>
            </a:pP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sz="1950" spc="60" baseline="-17000" dirty="0">
                <a:latin typeface="Cambria Math" panose="02040503050406030204"/>
                <a:cs typeface="Cambria Math" panose="02040503050406030204"/>
              </a:rPr>
              <a:t>𝐵</a:t>
            </a:r>
            <a:r>
              <a:rPr sz="1950" baseline="-17000" dirty="0">
                <a:latin typeface="Cambria Math" panose="02040503050406030204"/>
                <a:cs typeface="Cambria Math" panose="02040503050406030204"/>
              </a:rPr>
              <a:t> </a:t>
            </a:r>
            <a:r>
              <a:rPr sz="1950" spc="60" baseline="-17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05"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40" dirty="0">
                <a:latin typeface="Cambria Math" panose="02040503050406030204"/>
                <a:cs typeface="Cambria Math" panose="02040503050406030204"/>
              </a:rPr>
              <a:t>𝑙</a:t>
            </a:r>
            <a:r>
              <a:rPr sz="1950" spc="44" baseline="-17000" dirty="0">
                <a:latin typeface="Cambria Math" panose="02040503050406030204"/>
                <a:cs typeface="Cambria Math" panose="02040503050406030204"/>
              </a:rPr>
              <a:t>1</a:t>
            </a:r>
            <a:r>
              <a:rPr sz="1950" baseline="-17000" dirty="0">
                <a:latin typeface="Cambria Math" panose="02040503050406030204"/>
                <a:cs typeface="Cambria Math" panose="02040503050406030204"/>
              </a:rPr>
              <a:t> </a:t>
            </a:r>
            <a:r>
              <a:rPr sz="1950" spc="-135" baseline="-17000" dirty="0">
                <a:latin typeface="Cambria Math" panose="02040503050406030204"/>
                <a:cs typeface="Cambria Math" panose="02040503050406030204"/>
              </a:rPr>
              <a:t> </a:t>
            </a:r>
            <a:r>
              <a:rPr sz="1800" spc="120" dirty="0">
                <a:latin typeface="Cambria Math" panose="02040503050406030204"/>
                <a:cs typeface="Cambria Math" panose="02040503050406030204"/>
              </a:rPr>
              <a:t>𝖴</a:t>
            </a:r>
            <a:r>
              <a:rPr sz="1800"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sz="1950" spc="135" baseline="-17000" dirty="0">
                <a:latin typeface="Cambria Math" panose="02040503050406030204"/>
                <a:cs typeface="Cambria Math" panose="02040503050406030204"/>
              </a:rPr>
              <a:t>$</a:t>
            </a:r>
            <a:r>
              <a:rPr sz="1950" baseline="-17000" dirty="0">
                <a:latin typeface="Cambria Math" panose="02040503050406030204"/>
                <a:cs typeface="Cambria Math" panose="02040503050406030204"/>
              </a:rPr>
              <a:t> </a:t>
            </a:r>
            <a:r>
              <a:rPr sz="1950" spc="-135" baseline="-17000" dirty="0">
                <a:latin typeface="Cambria Math" panose="02040503050406030204"/>
                <a:cs typeface="Cambria Math" panose="02040503050406030204"/>
              </a:rPr>
              <a:t> </a:t>
            </a:r>
            <a:r>
              <a:rPr sz="1800" spc="120" dirty="0">
                <a:latin typeface="Cambria Math" panose="02040503050406030204"/>
                <a:cs typeface="Cambria Math" panose="02040503050406030204"/>
              </a:rPr>
              <a:t>𝖴</a:t>
            </a:r>
            <a:r>
              <a:rPr sz="1800" dirty="0">
                <a:latin typeface="Cambria Math" panose="02040503050406030204"/>
                <a:cs typeface="Cambria Math" panose="02040503050406030204"/>
              </a:rPr>
              <a:t> ⋯</a:t>
            </a:r>
            <a:r>
              <a:rPr sz="1800" spc="-105" dirty="0">
                <a:latin typeface="Cambria Math" panose="02040503050406030204"/>
                <a:cs typeface="Cambria Math" panose="02040503050406030204"/>
              </a:rPr>
              <a:t> </a:t>
            </a:r>
            <a:r>
              <a:rPr sz="1800" spc="120" dirty="0">
                <a:latin typeface="Cambria Math" panose="02040503050406030204"/>
                <a:cs typeface="Cambria Math" panose="02040503050406030204"/>
              </a:rPr>
              <a:t>𝖴</a:t>
            </a:r>
            <a:r>
              <a:rPr sz="1800"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sz="1950" spc="254" baseline="-17000" dirty="0">
                <a:latin typeface="Cambria Math" panose="02040503050406030204"/>
                <a:cs typeface="Cambria Math" panose="02040503050406030204"/>
              </a:rPr>
              <a:t>𝑛</a:t>
            </a:r>
            <a:endParaRPr sz="1950" baseline="-17000" dirty="0">
              <a:latin typeface="Cambria Math" panose="02040503050406030204"/>
              <a:cs typeface="Cambria Math" panose="02040503050406030204"/>
            </a:endParaRPr>
          </a:p>
        </p:txBody>
      </p:sp>
      <p:sp>
        <p:nvSpPr>
          <p:cNvPr id="9" name="object 9"/>
          <p:cNvSpPr txBox="1"/>
          <p:nvPr/>
        </p:nvSpPr>
        <p:spPr>
          <a:xfrm>
            <a:off x="993139" y="4126483"/>
            <a:ext cx="5422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Palatino Linotype" panose="02040502050505030304"/>
                <a:cs typeface="Palatino Linotype" panose="02040502050505030304"/>
              </a:rPr>
              <a:t>and</a:t>
            </a:r>
            <a:endParaRPr sz="2400">
              <a:latin typeface="Palatino Linotype" panose="02040502050505030304"/>
              <a:cs typeface="Palatino Linotype" panose="02040502050505030304"/>
            </a:endParaRPr>
          </a:p>
        </p:txBody>
      </p:sp>
      <p:sp>
        <p:nvSpPr>
          <p:cNvPr id="10" name="object 10"/>
          <p:cNvSpPr/>
          <p:nvPr/>
        </p:nvSpPr>
        <p:spPr>
          <a:xfrm>
            <a:off x="3501518" y="4808534"/>
            <a:ext cx="1607820" cy="212090"/>
          </a:xfrm>
          <a:custGeom>
            <a:avLst/>
            <a:gdLst/>
            <a:ahLst/>
            <a:cxnLst/>
            <a:rect l="l" t="t" r="r" b="b"/>
            <a:pathLst>
              <a:path w="1607820" h="212089">
                <a:moveTo>
                  <a:pt x="1540182" y="0"/>
                </a:moveTo>
                <a:lnTo>
                  <a:pt x="1537168" y="8595"/>
                </a:lnTo>
                <a:lnTo>
                  <a:pt x="1549426" y="13914"/>
                </a:lnTo>
                <a:lnTo>
                  <a:pt x="1559967" y="21277"/>
                </a:lnTo>
                <a:lnTo>
                  <a:pt x="1581370" y="55409"/>
                </a:lnTo>
                <a:lnTo>
                  <a:pt x="1588402" y="104811"/>
                </a:lnTo>
                <a:lnTo>
                  <a:pt x="1587618" y="123487"/>
                </a:lnTo>
                <a:lnTo>
                  <a:pt x="1575845" y="169217"/>
                </a:lnTo>
                <a:lnTo>
                  <a:pt x="1549569" y="197806"/>
                </a:lnTo>
                <a:lnTo>
                  <a:pt x="1537503" y="203150"/>
                </a:lnTo>
                <a:lnTo>
                  <a:pt x="1540182" y="211744"/>
                </a:lnTo>
                <a:lnTo>
                  <a:pt x="1580638" y="187708"/>
                </a:lnTo>
                <a:lnTo>
                  <a:pt x="1603360" y="143335"/>
                </a:lnTo>
                <a:lnTo>
                  <a:pt x="1607713" y="105928"/>
                </a:lnTo>
                <a:lnTo>
                  <a:pt x="1606621" y="86516"/>
                </a:lnTo>
                <a:lnTo>
                  <a:pt x="1590244" y="37114"/>
                </a:lnTo>
                <a:lnTo>
                  <a:pt x="1555534" y="5542"/>
                </a:lnTo>
                <a:lnTo>
                  <a:pt x="1540182" y="0"/>
                </a:lnTo>
                <a:close/>
              </a:path>
              <a:path w="1607820" h="212089">
                <a:moveTo>
                  <a:pt x="67530" y="0"/>
                </a:moveTo>
                <a:lnTo>
                  <a:pt x="27148" y="24099"/>
                </a:lnTo>
                <a:lnTo>
                  <a:pt x="4367" y="68577"/>
                </a:lnTo>
                <a:lnTo>
                  <a:pt x="0" y="105928"/>
                </a:lnTo>
                <a:lnTo>
                  <a:pt x="1088" y="125381"/>
                </a:lnTo>
                <a:lnTo>
                  <a:pt x="17412" y="174743"/>
                </a:lnTo>
                <a:lnTo>
                  <a:pt x="52134" y="206209"/>
                </a:lnTo>
                <a:lnTo>
                  <a:pt x="67530" y="211744"/>
                </a:lnTo>
                <a:lnTo>
                  <a:pt x="70209" y="203150"/>
                </a:lnTo>
                <a:lnTo>
                  <a:pt x="58143" y="197806"/>
                </a:lnTo>
                <a:lnTo>
                  <a:pt x="47731" y="190369"/>
                </a:lnTo>
                <a:lnTo>
                  <a:pt x="26374" y="155690"/>
                </a:lnTo>
                <a:lnTo>
                  <a:pt x="19310" y="104811"/>
                </a:lnTo>
                <a:lnTo>
                  <a:pt x="20095" y="86747"/>
                </a:lnTo>
                <a:lnTo>
                  <a:pt x="31868" y="42137"/>
                </a:lnTo>
                <a:lnTo>
                  <a:pt x="58332" y="13914"/>
                </a:lnTo>
                <a:lnTo>
                  <a:pt x="70544" y="8595"/>
                </a:lnTo>
                <a:lnTo>
                  <a:pt x="67530" y="0"/>
                </a:lnTo>
                <a:close/>
              </a:path>
            </a:pathLst>
          </a:custGeom>
          <a:solidFill>
            <a:srgbClr val="000000"/>
          </a:solidFill>
        </p:spPr>
        <p:txBody>
          <a:bodyPr wrap="square" lIns="0" tIns="0" rIns="0" bIns="0" rtlCol="0"/>
          <a:lstStyle/>
          <a:p>
            <a:endParaRPr/>
          </a:p>
        </p:txBody>
      </p:sp>
      <p:sp>
        <p:nvSpPr>
          <p:cNvPr id="11" name="object 11"/>
          <p:cNvSpPr/>
          <p:nvPr/>
        </p:nvSpPr>
        <p:spPr>
          <a:xfrm>
            <a:off x="2239201" y="5227634"/>
            <a:ext cx="2561590" cy="212090"/>
          </a:xfrm>
          <a:custGeom>
            <a:avLst/>
            <a:gdLst/>
            <a:ahLst/>
            <a:cxnLst/>
            <a:rect l="l" t="t" r="r" b="b"/>
            <a:pathLst>
              <a:path w="2561590" h="212089">
                <a:moveTo>
                  <a:pt x="2493888" y="0"/>
                </a:moveTo>
                <a:lnTo>
                  <a:pt x="2490875" y="8595"/>
                </a:lnTo>
                <a:lnTo>
                  <a:pt x="2503132" y="13914"/>
                </a:lnTo>
                <a:lnTo>
                  <a:pt x="2513674" y="21277"/>
                </a:lnTo>
                <a:lnTo>
                  <a:pt x="2535077" y="55409"/>
                </a:lnTo>
                <a:lnTo>
                  <a:pt x="2542109" y="104811"/>
                </a:lnTo>
                <a:lnTo>
                  <a:pt x="2541324" y="123487"/>
                </a:lnTo>
                <a:lnTo>
                  <a:pt x="2529551" y="169217"/>
                </a:lnTo>
                <a:lnTo>
                  <a:pt x="2503275" y="197806"/>
                </a:lnTo>
                <a:lnTo>
                  <a:pt x="2491210" y="203150"/>
                </a:lnTo>
                <a:lnTo>
                  <a:pt x="2493888" y="211745"/>
                </a:lnTo>
                <a:lnTo>
                  <a:pt x="2534344" y="187708"/>
                </a:lnTo>
                <a:lnTo>
                  <a:pt x="2557066" y="143335"/>
                </a:lnTo>
                <a:lnTo>
                  <a:pt x="2561419" y="105928"/>
                </a:lnTo>
                <a:lnTo>
                  <a:pt x="2560328" y="86516"/>
                </a:lnTo>
                <a:lnTo>
                  <a:pt x="2543950" y="37114"/>
                </a:lnTo>
                <a:lnTo>
                  <a:pt x="2509240" y="5542"/>
                </a:lnTo>
                <a:lnTo>
                  <a:pt x="2493888" y="0"/>
                </a:lnTo>
                <a:close/>
              </a:path>
              <a:path w="2561590" h="212089">
                <a:moveTo>
                  <a:pt x="67530" y="0"/>
                </a:moveTo>
                <a:lnTo>
                  <a:pt x="27148" y="24099"/>
                </a:lnTo>
                <a:lnTo>
                  <a:pt x="4367" y="68577"/>
                </a:lnTo>
                <a:lnTo>
                  <a:pt x="0" y="105928"/>
                </a:lnTo>
                <a:lnTo>
                  <a:pt x="1088" y="125381"/>
                </a:lnTo>
                <a:lnTo>
                  <a:pt x="17412" y="174743"/>
                </a:lnTo>
                <a:lnTo>
                  <a:pt x="52134" y="206209"/>
                </a:lnTo>
                <a:lnTo>
                  <a:pt x="67530" y="211745"/>
                </a:lnTo>
                <a:lnTo>
                  <a:pt x="70209" y="203150"/>
                </a:lnTo>
                <a:lnTo>
                  <a:pt x="58143" y="197806"/>
                </a:lnTo>
                <a:lnTo>
                  <a:pt x="47731" y="190369"/>
                </a:lnTo>
                <a:lnTo>
                  <a:pt x="26374" y="155690"/>
                </a:lnTo>
                <a:lnTo>
                  <a:pt x="19310" y="104811"/>
                </a:lnTo>
                <a:lnTo>
                  <a:pt x="20095" y="86747"/>
                </a:lnTo>
                <a:lnTo>
                  <a:pt x="31868" y="42137"/>
                </a:lnTo>
                <a:lnTo>
                  <a:pt x="58332" y="13914"/>
                </a:lnTo>
                <a:lnTo>
                  <a:pt x="70544" y="8595"/>
                </a:lnTo>
                <a:lnTo>
                  <a:pt x="67530" y="0"/>
                </a:lnTo>
                <a:close/>
              </a:path>
            </a:pathLst>
          </a:custGeom>
          <a:solidFill>
            <a:srgbClr val="000000"/>
          </a:solidFill>
        </p:spPr>
        <p:txBody>
          <a:bodyPr wrap="square" lIns="0" tIns="0" rIns="0" bIns="0" rtlCol="0"/>
          <a:lstStyle/>
          <a:p>
            <a:endParaRPr/>
          </a:p>
        </p:txBody>
      </p:sp>
      <p:sp>
        <p:nvSpPr>
          <p:cNvPr id="12" name="object 12"/>
          <p:cNvSpPr txBox="1"/>
          <p:nvPr/>
        </p:nvSpPr>
        <p:spPr>
          <a:xfrm>
            <a:off x="1847063" y="4595876"/>
            <a:ext cx="3527425" cy="854075"/>
          </a:xfrm>
          <a:prstGeom prst="rect">
            <a:avLst/>
          </a:prstGeom>
        </p:spPr>
        <p:txBody>
          <a:bodyPr vert="horz" wrap="square" lIns="0" tIns="155575" rIns="0" bIns="0" rtlCol="0">
            <a:spAutoFit/>
          </a:bodyPr>
          <a:lstStyle/>
          <a:p>
            <a:pPr marL="63500">
              <a:lnSpc>
                <a:spcPct val="100000"/>
              </a:lnSpc>
              <a:spcBef>
                <a:spcPts val="1225"/>
              </a:spcBef>
              <a:tabLst>
                <a:tab pos="1729105" algn="l"/>
                <a:tab pos="3331845" algn="l"/>
              </a:tabLst>
            </a:pPr>
            <a:r>
              <a:rPr sz="1800" dirty="0">
                <a:latin typeface="Cambria Math" panose="02040503050406030204"/>
                <a:cs typeface="Cambria Math" panose="02040503050406030204"/>
              </a:rPr>
              <a:t>𝑔𝑒𝑛</a:t>
            </a:r>
            <a:r>
              <a:rPr sz="1950" baseline="-15000" dirty="0">
                <a:latin typeface="Cambria Math" panose="02040503050406030204"/>
                <a:cs typeface="Cambria Math" panose="02040503050406030204"/>
              </a:rPr>
              <a:t>𝐵</a:t>
            </a:r>
            <a:r>
              <a:rPr sz="1950" spc="494" baseline="-15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10" dirty="0">
                <a:latin typeface="Cambria Math" panose="02040503050406030204"/>
                <a:cs typeface="Cambria Math" panose="02040503050406030204"/>
              </a:rPr>
              <a:t> </a:t>
            </a:r>
            <a:r>
              <a:rPr sz="1800" spc="20" dirty="0">
                <a:latin typeface="Cambria Math" panose="02040503050406030204"/>
                <a:cs typeface="Cambria Math" panose="02040503050406030204"/>
              </a:rPr>
              <a:t>𝑔𝑒𝑛</a:t>
            </a:r>
            <a:r>
              <a:rPr sz="1950" spc="30" baseline="-15000" dirty="0">
                <a:latin typeface="Cambria Math" panose="02040503050406030204"/>
                <a:cs typeface="Cambria Math" panose="02040503050406030204"/>
              </a:rPr>
              <a:t>𝑛</a:t>
            </a:r>
            <a:r>
              <a:rPr sz="1950" spc="337" baseline="-15000" dirty="0">
                <a:latin typeface="Cambria Math" panose="02040503050406030204"/>
                <a:cs typeface="Cambria Math" panose="02040503050406030204"/>
              </a:rPr>
              <a:t> </a:t>
            </a:r>
            <a:r>
              <a:rPr sz="1800" spc="75" dirty="0">
                <a:latin typeface="Cambria Math" panose="02040503050406030204"/>
                <a:cs typeface="Cambria Math" panose="02040503050406030204"/>
              </a:rPr>
              <a:t>𝖴	</a:t>
            </a:r>
            <a:r>
              <a:rPr sz="1800" spc="30" dirty="0">
                <a:latin typeface="Cambria Math" panose="02040503050406030204"/>
                <a:cs typeface="Cambria Math" panose="02040503050406030204"/>
              </a:rPr>
              <a:t>𝑔𝑒𝑛</a:t>
            </a:r>
            <a:r>
              <a:rPr sz="1950" spc="44" baseline="-15000" dirty="0">
                <a:latin typeface="Cambria Math" panose="02040503050406030204"/>
                <a:cs typeface="Cambria Math" panose="02040503050406030204"/>
              </a:rPr>
              <a:t>𝑛</a:t>
            </a:r>
            <a:r>
              <a:rPr lang="en-US" sz="1950" spc="44" baseline="-15000" dirty="0">
                <a:latin typeface="Cambria Math" panose="02040503050406030204"/>
                <a:cs typeface="Cambria Math" panose="02040503050406030204"/>
              </a:rPr>
              <a:t>-</a:t>
            </a:r>
            <a:r>
              <a:rPr sz="1950" spc="44" baseline="-15000" dirty="0">
                <a:latin typeface="Cambria Math" panose="02040503050406030204"/>
                <a:cs typeface="Cambria Math" panose="02040503050406030204"/>
              </a:rPr>
              <a:t>1</a:t>
            </a:r>
            <a:r>
              <a:rPr sz="1950" spc="300" baseline="-15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5" dirty="0">
                <a:latin typeface="Cambria Math" panose="02040503050406030204"/>
                <a:cs typeface="Cambria Math" panose="02040503050406030204"/>
              </a:rPr>
              <a:t> 𝑘𝑖𝑙𝑙</a:t>
            </a:r>
            <a:r>
              <a:rPr sz="1950" spc="22" baseline="-15000" dirty="0">
                <a:latin typeface="Cambria Math" panose="02040503050406030204"/>
                <a:cs typeface="Cambria Math" panose="02040503050406030204"/>
              </a:rPr>
              <a:t>𝑛	</a:t>
            </a:r>
            <a:r>
              <a:rPr sz="1800" spc="75" dirty="0">
                <a:latin typeface="Cambria Math" panose="02040503050406030204"/>
                <a:cs typeface="Cambria Math" panose="02040503050406030204"/>
              </a:rPr>
              <a:t>𝖴</a:t>
            </a:r>
            <a:endParaRPr sz="1800" dirty="0">
              <a:latin typeface="Cambria Math" panose="02040503050406030204"/>
              <a:cs typeface="Cambria Math" panose="02040503050406030204"/>
            </a:endParaRPr>
          </a:p>
          <a:p>
            <a:pPr marL="120015" algn="ctr">
              <a:lnSpc>
                <a:spcPct val="100000"/>
              </a:lnSpc>
              <a:spcBef>
                <a:spcPts val="1130"/>
              </a:spcBef>
              <a:tabLst>
                <a:tab pos="2677160" algn="l"/>
              </a:tabLst>
            </a:pPr>
            <a:r>
              <a:rPr sz="1800" spc="40" dirty="0">
                <a:latin typeface="Cambria Math" panose="02040503050406030204"/>
                <a:cs typeface="Cambria Math" panose="02040503050406030204"/>
              </a:rPr>
              <a:t>𝑔𝑒𝑛</a:t>
            </a:r>
            <a:r>
              <a:rPr sz="1950" spc="60" baseline="-17000" dirty="0">
                <a:latin typeface="Cambria Math" panose="02040503050406030204"/>
                <a:cs typeface="Cambria Math" panose="02040503050406030204"/>
              </a:rPr>
              <a:t>𝑛</a:t>
            </a:r>
            <a:r>
              <a:rPr lang="en-US" sz="1950" spc="60" baseline="-17000" dirty="0">
                <a:latin typeface="Cambria Math" panose="02040503050406030204"/>
                <a:cs typeface="Cambria Math" panose="02040503050406030204"/>
              </a:rPr>
              <a:t>-2</a:t>
            </a:r>
            <a:r>
              <a:rPr sz="1950" spc="307" baseline="-17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0" dirty="0">
                <a:latin typeface="Cambria Math" panose="02040503050406030204"/>
                <a:cs typeface="Cambria Math" panose="02040503050406030204"/>
              </a:rPr>
              <a:t> </a:t>
            </a:r>
            <a:r>
              <a:rPr sz="1800" spc="25" dirty="0">
                <a:latin typeface="Cambria Math" panose="02040503050406030204"/>
                <a:cs typeface="Cambria Math" panose="02040503050406030204"/>
              </a:rPr>
              <a:t>𝑘𝑖𝑙𝑙</a:t>
            </a:r>
            <a:r>
              <a:rPr sz="1950" spc="37" baseline="-17000" dirty="0">
                <a:latin typeface="Cambria Math" panose="02040503050406030204"/>
                <a:cs typeface="Cambria Math" panose="02040503050406030204"/>
              </a:rPr>
              <a:t>𝑛</a:t>
            </a:r>
            <a:r>
              <a:rPr lang="en-US" sz="1950" spc="37" baseline="-17000" dirty="0">
                <a:latin typeface="Cambria Math" panose="02040503050406030204"/>
                <a:cs typeface="Cambria Math" panose="02040503050406030204"/>
              </a:rPr>
              <a:t>-</a:t>
            </a:r>
            <a:r>
              <a:rPr sz="1950" spc="37" baseline="-17000" dirty="0">
                <a:latin typeface="Cambria Math" panose="02040503050406030204"/>
                <a:cs typeface="Cambria Math" panose="02040503050406030204"/>
              </a:rPr>
              <a:t>1</a:t>
            </a:r>
            <a:r>
              <a:rPr sz="1950" spc="307" baseline="-17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5" dirty="0">
                <a:latin typeface="Cambria Math" panose="02040503050406030204"/>
                <a:cs typeface="Cambria Math" panose="02040503050406030204"/>
              </a:rPr>
              <a:t> 𝑘𝑖𝑙𝑙</a:t>
            </a:r>
            <a:r>
              <a:rPr sz="1950" spc="22" baseline="-17000" dirty="0">
                <a:latin typeface="Cambria Math" panose="02040503050406030204"/>
                <a:cs typeface="Cambria Math" panose="02040503050406030204"/>
              </a:rPr>
              <a:t>𝑛	</a:t>
            </a:r>
            <a:r>
              <a:rPr sz="1800" spc="75" dirty="0">
                <a:latin typeface="Cambria Math" panose="02040503050406030204"/>
                <a:cs typeface="Cambria Math" panose="02040503050406030204"/>
              </a:rPr>
              <a:t>𝖴</a:t>
            </a:r>
            <a:endParaRPr sz="1800" dirty="0">
              <a:latin typeface="Cambria Math" panose="02040503050406030204"/>
              <a:cs typeface="Cambria Math" panose="02040503050406030204"/>
            </a:endParaRPr>
          </a:p>
        </p:txBody>
      </p:sp>
      <p:sp>
        <p:nvSpPr>
          <p:cNvPr id="13" name="object 13"/>
          <p:cNvSpPr txBox="1"/>
          <p:nvPr/>
        </p:nvSpPr>
        <p:spPr>
          <a:xfrm>
            <a:off x="1721016" y="5565140"/>
            <a:ext cx="3804285" cy="289560"/>
          </a:xfrm>
          <a:prstGeom prst="rect">
            <a:avLst/>
          </a:prstGeom>
        </p:spPr>
        <p:txBody>
          <a:bodyPr vert="horz" wrap="square" lIns="0" tIns="12700" rIns="0" bIns="0" rtlCol="0">
            <a:spAutoFit/>
          </a:bodyPr>
          <a:lstStyle/>
          <a:p>
            <a:pPr marL="38100">
              <a:lnSpc>
                <a:spcPct val="100000"/>
              </a:lnSpc>
              <a:spcBef>
                <a:spcPts val="100"/>
              </a:spcBef>
            </a:pPr>
            <a:r>
              <a:rPr sz="1800" dirty="0">
                <a:latin typeface="Cambria Math" panose="02040503050406030204"/>
                <a:cs typeface="Cambria Math" panose="02040503050406030204"/>
              </a:rPr>
              <a:t>…</a:t>
            </a:r>
            <a:r>
              <a:rPr sz="1800" spc="-100" dirty="0">
                <a:latin typeface="Cambria Math" panose="02040503050406030204"/>
                <a:cs typeface="Cambria Math" panose="02040503050406030204"/>
              </a:rPr>
              <a:t> </a:t>
            </a:r>
            <a:r>
              <a:rPr sz="1800" spc="120" dirty="0">
                <a:latin typeface="Cambria Math" panose="02040503050406030204"/>
                <a:cs typeface="Cambria Math" panose="02040503050406030204"/>
              </a:rPr>
              <a:t>𝖴</a:t>
            </a:r>
            <a:r>
              <a:rPr sz="1800" dirty="0">
                <a:latin typeface="Cambria Math" panose="02040503050406030204"/>
                <a:cs typeface="Cambria Math" panose="02040503050406030204"/>
              </a:rPr>
              <a:t> (</a:t>
            </a:r>
            <a:r>
              <a:rPr sz="1800" spc="-5" dirty="0">
                <a:latin typeface="Cambria Math" panose="02040503050406030204"/>
                <a:cs typeface="Cambria Math" panose="02040503050406030204"/>
              </a:rPr>
              <a:t>𝑔𝑒</a:t>
            </a:r>
            <a:r>
              <a:rPr sz="1800" spc="-40" dirty="0">
                <a:latin typeface="Cambria Math" panose="02040503050406030204"/>
                <a:cs typeface="Cambria Math" panose="02040503050406030204"/>
              </a:rPr>
              <a:t>𝑛</a:t>
            </a:r>
            <a:r>
              <a:rPr sz="1950" spc="44" baseline="-15000" dirty="0">
                <a:latin typeface="Cambria Math" panose="02040503050406030204"/>
                <a:cs typeface="Cambria Math" panose="02040503050406030204"/>
              </a:rPr>
              <a:t>1</a:t>
            </a:r>
            <a:r>
              <a:rPr sz="1950" baseline="-15000" dirty="0">
                <a:latin typeface="Cambria Math" panose="02040503050406030204"/>
                <a:cs typeface="Cambria Math" panose="02040503050406030204"/>
              </a:rPr>
              <a:t> </a:t>
            </a:r>
            <a:r>
              <a:rPr sz="1950" spc="-135" baseline="-15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5"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lang="en-US" sz="1950" spc="135" baseline="-15000" dirty="0">
                <a:latin typeface="Cambria Math" panose="02040503050406030204"/>
                <a:cs typeface="Cambria Math" panose="02040503050406030204"/>
              </a:rPr>
              <a:t>2</a:t>
            </a:r>
            <a:r>
              <a:rPr sz="1950" baseline="-15000" dirty="0">
                <a:latin typeface="Cambria Math" panose="02040503050406030204"/>
                <a:cs typeface="Cambria Math" panose="02040503050406030204"/>
              </a:rPr>
              <a:t> </a:t>
            </a:r>
            <a:r>
              <a:rPr sz="1950" spc="-135" baseline="-15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5"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sz="1950" spc="44" baseline="-15000" dirty="0">
                <a:latin typeface="Cambria Math" panose="02040503050406030204"/>
                <a:cs typeface="Cambria Math" panose="02040503050406030204"/>
              </a:rPr>
              <a:t>3</a:t>
            </a:r>
            <a:r>
              <a:rPr sz="1950" baseline="-15000" dirty="0">
                <a:latin typeface="Cambria Math" panose="02040503050406030204"/>
                <a:cs typeface="Cambria Math" panose="02040503050406030204"/>
              </a:rPr>
              <a:t> </a:t>
            </a:r>
            <a:r>
              <a:rPr sz="1950" spc="-135" baseline="-1500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5"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05"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5" dirty="0">
                <a:latin typeface="Cambria Math" panose="02040503050406030204"/>
                <a:cs typeface="Cambria Math" panose="02040503050406030204"/>
              </a:rPr>
              <a:t> </a:t>
            </a:r>
            <a:r>
              <a:rPr sz="1800" spc="-10" dirty="0">
                <a:latin typeface="Cambria Math" panose="02040503050406030204"/>
                <a:cs typeface="Cambria Math" panose="02040503050406030204"/>
              </a:rPr>
              <a:t>𝑘</a:t>
            </a:r>
            <a:r>
              <a:rPr sz="1800" spc="5" dirty="0">
                <a:latin typeface="Cambria Math" panose="02040503050406030204"/>
                <a:cs typeface="Cambria Math" panose="02040503050406030204"/>
              </a:rPr>
              <a:t>𝑖</a:t>
            </a:r>
            <a:r>
              <a:rPr sz="1800" spc="-10" dirty="0">
                <a:latin typeface="Cambria Math" panose="02040503050406030204"/>
                <a:cs typeface="Cambria Math" panose="02040503050406030204"/>
              </a:rPr>
              <a:t>𝑙</a:t>
            </a:r>
            <a:r>
              <a:rPr sz="1800" spc="5" dirty="0">
                <a:latin typeface="Cambria Math" panose="02040503050406030204"/>
                <a:cs typeface="Cambria Math" panose="02040503050406030204"/>
              </a:rPr>
              <a:t>𝑙</a:t>
            </a:r>
            <a:r>
              <a:rPr sz="1950" spc="405" baseline="-15000" dirty="0">
                <a:latin typeface="Cambria Math" panose="02040503050406030204"/>
                <a:cs typeface="Cambria Math" panose="02040503050406030204"/>
              </a:rPr>
              <a:t>𝑛</a:t>
            </a:r>
            <a:r>
              <a:rPr sz="1800" dirty="0">
                <a:latin typeface="Cambria Math" panose="02040503050406030204"/>
                <a:cs typeface="Cambria Math" panose="02040503050406030204"/>
              </a:rPr>
              <a:t>)</a:t>
            </a:r>
            <a:endParaRPr sz="1800">
              <a:latin typeface="Cambria Math" panose="02040503050406030204"/>
              <a:cs typeface="Cambria Math" panose="02040503050406030204"/>
            </a:endParaRPr>
          </a:p>
        </p:txBody>
      </p:sp>
      <p:grpSp>
        <p:nvGrpSpPr>
          <p:cNvPr id="14" name="object 14"/>
          <p:cNvGrpSpPr/>
          <p:nvPr/>
        </p:nvGrpSpPr>
        <p:grpSpPr>
          <a:xfrm>
            <a:off x="5939285" y="2483866"/>
            <a:ext cx="2483485" cy="1154430"/>
            <a:chOff x="5939285" y="2483866"/>
            <a:chExt cx="2483485" cy="1154430"/>
          </a:xfrm>
        </p:grpSpPr>
        <p:sp>
          <p:nvSpPr>
            <p:cNvPr id="15" name="object 15"/>
            <p:cNvSpPr/>
            <p:nvPr/>
          </p:nvSpPr>
          <p:spPr>
            <a:xfrm>
              <a:off x="5939285" y="2483866"/>
              <a:ext cx="2483485" cy="1154430"/>
            </a:xfrm>
            <a:custGeom>
              <a:avLst/>
              <a:gdLst/>
              <a:ahLst/>
              <a:cxnLst/>
              <a:rect l="l" t="t" r="r" b="b"/>
              <a:pathLst>
                <a:path w="2483484" h="1154429">
                  <a:moveTo>
                    <a:pt x="2483195" y="0"/>
                  </a:moveTo>
                  <a:lnTo>
                    <a:pt x="0" y="0"/>
                  </a:lnTo>
                  <a:lnTo>
                    <a:pt x="0" y="1154162"/>
                  </a:lnTo>
                  <a:lnTo>
                    <a:pt x="2483195" y="1154162"/>
                  </a:lnTo>
                  <a:lnTo>
                    <a:pt x="2483195" y="0"/>
                  </a:lnTo>
                  <a:close/>
                </a:path>
              </a:pathLst>
            </a:custGeom>
            <a:solidFill>
              <a:srgbClr val="FFF2CC"/>
            </a:solidFill>
          </p:spPr>
          <p:txBody>
            <a:bodyPr wrap="square" lIns="0" tIns="0" rIns="0" bIns="0" rtlCol="0"/>
            <a:lstStyle/>
            <a:p>
              <a:endParaRPr/>
            </a:p>
          </p:txBody>
        </p:sp>
        <p:sp>
          <p:nvSpPr>
            <p:cNvPr id="16" name="object 16"/>
            <p:cNvSpPr/>
            <p:nvPr/>
          </p:nvSpPr>
          <p:spPr>
            <a:xfrm>
              <a:off x="6030725" y="2732786"/>
              <a:ext cx="469900" cy="12700"/>
            </a:xfrm>
            <a:custGeom>
              <a:avLst/>
              <a:gdLst/>
              <a:ahLst/>
              <a:cxnLst/>
              <a:rect l="l" t="t" r="r" b="b"/>
              <a:pathLst>
                <a:path w="469900" h="12700">
                  <a:moveTo>
                    <a:pt x="469900" y="0"/>
                  </a:moveTo>
                  <a:lnTo>
                    <a:pt x="0" y="0"/>
                  </a:lnTo>
                  <a:lnTo>
                    <a:pt x="0" y="12700"/>
                  </a:lnTo>
                  <a:lnTo>
                    <a:pt x="469900" y="12700"/>
                  </a:lnTo>
                  <a:lnTo>
                    <a:pt x="469900" y="0"/>
                  </a:lnTo>
                  <a:close/>
                </a:path>
              </a:pathLst>
            </a:custGeom>
            <a:solidFill>
              <a:srgbClr val="0131CC"/>
            </a:solidFill>
          </p:spPr>
          <p:txBody>
            <a:bodyPr wrap="square" lIns="0" tIns="0" rIns="0" bIns="0" rtlCol="0"/>
            <a:lstStyle/>
            <a:p>
              <a:endParaRPr/>
            </a:p>
          </p:txBody>
        </p:sp>
      </p:grpSp>
      <p:sp>
        <p:nvSpPr>
          <p:cNvPr id="17" name="object 17"/>
          <p:cNvSpPr txBox="1"/>
          <p:nvPr/>
        </p:nvSpPr>
        <p:spPr>
          <a:xfrm>
            <a:off x="5939285" y="2483866"/>
            <a:ext cx="2483485" cy="1154430"/>
          </a:xfrm>
          <a:prstGeom prst="rect">
            <a:avLst/>
          </a:prstGeom>
          <a:ln w="9525">
            <a:solidFill>
              <a:srgbClr val="000000"/>
            </a:solidFill>
          </a:ln>
        </p:spPr>
        <p:txBody>
          <a:bodyPr vert="horz" wrap="square" lIns="0" tIns="31750" rIns="0" bIns="0" rtlCol="0">
            <a:spAutoFit/>
          </a:bodyPr>
          <a:lstStyle/>
          <a:p>
            <a:pPr marL="90805">
              <a:lnSpc>
                <a:spcPct val="100000"/>
              </a:lnSpc>
              <a:spcBef>
                <a:spcPts val="250"/>
              </a:spcBef>
            </a:pPr>
            <a:r>
              <a:rPr sz="1600" spc="-10" dirty="0">
                <a:solidFill>
                  <a:srgbClr val="0131CC"/>
                </a:solidFill>
                <a:latin typeface="Cambria Math" panose="02040503050406030204"/>
                <a:cs typeface="Cambria Math" panose="02040503050406030204"/>
              </a:rPr>
              <a:t>𝒌𝒊𝒍𝒍</a:t>
            </a:r>
            <a:r>
              <a:rPr sz="1800" spc="-15" baseline="-16000" dirty="0">
                <a:solidFill>
                  <a:srgbClr val="0131CC"/>
                </a:solidFill>
                <a:latin typeface="Cambria Math" panose="02040503050406030204"/>
                <a:cs typeface="Cambria Math" panose="02040503050406030204"/>
              </a:rPr>
              <a:t>𝑩</a:t>
            </a:r>
            <a:endParaRPr sz="1800" baseline="-16000">
              <a:latin typeface="Cambria Math" panose="02040503050406030204"/>
              <a:cs typeface="Cambria Math" panose="02040503050406030204"/>
            </a:endParaRPr>
          </a:p>
          <a:p>
            <a:pPr marL="90805" marR="92075">
              <a:lnSpc>
                <a:spcPct val="101000"/>
              </a:lnSpc>
              <a:spcBef>
                <a:spcPts val="575"/>
              </a:spcBef>
            </a:pPr>
            <a:r>
              <a:rPr sz="1600" spc="-5" dirty="0">
                <a:latin typeface="Palatino Linotype" panose="02040502050505030304"/>
                <a:cs typeface="Palatino Linotype" panose="02040502050505030304"/>
              </a:rPr>
              <a:t>The </a:t>
            </a:r>
            <a:r>
              <a:rPr sz="1600" i="1" dirty="0">
                <a:solidFill>
                  <a:srgbClr val="FF0000"/>
                </a:solidFill>
                <a:latin typeface="Palatino Linotype" panose="02040502050505030304"/>
                <a:cs typeface="Palatino Linotype" panose="02040502050505030304"/>
              </a:rPr>
              <a:t>kill </a:t>
            </a:r>
            <a:r>
              <a:rPr sz="1600" spc="-5" dirty="0">
                <a:solidFill>
                  <a:srgbClr val="FF0000"/>
                </a:solidFill>
                <a:latin typeface="Palatino Linotype" panose="02040502050505030304"/>
                <a:cs typeface="Palatino Linotype" panose="02040502050505030304"/>
              </a:rPr>
              <a:t>set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union </a:t>
            </a:r>
            <a:r>
              <a:rPr sz="1600" dirty="0">
                <a:latin typeface="Palatino Linotype" panose="02040502050505030304"/>
                <a:cs typeface="Palatino Linotype" panose="02040502050505030304"/>
              </a:rPr>
              <a:t>of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all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defs killed </a:t>
            </a:r>
            <a:r>
              <a:rPr sz="1600" dirty="0">
                <a:latin typeface="Palatino Linotype" panose="02040502050505030304"/>
                <a:cs typeface="Palatino Linotype" panose="02040502050505030304"/>
              </a:rPr>
              <a:t>by the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individual</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statements</a:t>
            </a:r>
            <a:endParaRPr sz="1600">
              <a:latin typeface="Palatino Linotype" panose="02040502050505030304"/>
              <a:cs typeface="Palatino Linotype" panose="02040502050505030304"/>
            </a:endParaRPr>
          </a:p>
        </p:txBody>
      </p:sp>
      <p:grpSp>
        <p:nvGrpSpPr>
          <p:cNvPr id="18" name="object 18"/>
          <p:cNvGrpSpPr/>
          <p:nvPr/>
        </p:nvGrpSpPr>
        <p:grpSpPr>
          <a:xfrm>
            <a:off x="5939285" y="4146770"/>
            <a:ext cx="2483485" cy="1647189"/>
            <a:chOff x="5939285" y="4146770"/>
            <a:chExt cx="2483485" cy="1647189"/>
          </a:xfrm>
        </p:grpSpPr>
        <p:sp>
          <p:nvSpPr>
            <p:cNvPr id="19" name="object 19"/>
            <p:cNvSpPr/>
            <p:nvPr/>
          </p:nvSpPr>
          <p:spPr>
            <a:xfrm>
              <a:off x="5939285" y="4146770"/>
              <a:ext cx="2483485" cy="1647189"/>
            </a:xfrm>
            <a:custGeom>
              <a:avLst/>
              <a:gdLst/>
              <a:ahLst/>
              <a:cxnLst/>
              <a:rect l="l" t="t" r="r" b="b"/>
              <a:pathLst>
                <a:path w="2483484" h="1647189">
                  <a:moveTo>
                    <a:pt x="2483195" y="0"/>
                  </a:moveTo>
                  <a:lnTo>
                    <a:pt x="0" y="0"/>
                  </a:lnTo>
                  <a:lnTo>
                    <a:pt x="0" y="1646604"/>
                  </a:lnTo>
                  <a:lnTo>
                    <a:pt x="2483195" y="1646604"/>
                  </a:lnTo>
                  <a:lnTo>
                    <a:pt x="2483195" y="0"/>
                  </a:lnTo>
                  <a:close/>
                </a:path>
              </a:pathLst>
            </a:custGeom>
            <a:solidFill>
              <a:srgbClr val="FFF2CC"/>
            </a:solidFill>
          </p:spPr>
          <p:txBody>
            <a:bodyPr wrap="square" lIns="0" tIns="0" rIns="0" bIns="0" rtlCol="0"/>
            <a:lstStyle/>
            <a:p>
              <a:endParaRPr/>
            </a:p>
          </p:txBody>
        </p:sp>
        <p:sp>
          <p:nvSpPr>
            <p:cNvPr id="20" name="object 20"/>
            <p:cNvSpPr/>
            <p:nvPr/>
          </p:nvSpPr>
          <p:spPr>
            <a:xfrm>
              <a:off x="6030725" y="4395690"/>
              <a:ext cx="495300" cy="12700"/>
            </a:xfrm>
            <a:custGeom>
              <a:avLst/>
              <a:gdLst/>
              <a:ahLst/>
              <a:cxnLst/>
              <a:rect l="l" t="t" r="r" b="b"/>
              <a:pathLst>
                <a:path w="495300" h="12700">
                  <a:moveTo>
                    <a:pt x="495300" y="0"/>
                  </a:moveTo>
                  <a:lnTo>
                    <a:pt x="0" y="0"/>
                  </a:lnTo>
                  <a:lnTo>
                    <a:pt x="0" y="12700"/>
                  </a:lnTo>
                  <a:lnTo>
                    <a:pt x="495300" y="12700"/>
                  </a:lnTo>
                  <a:lnTo>
                    <a:pt x="495300" y="0"/>
                  </a:lnTo>
                  <a:close/>
                </a:path>
              </a:pathLst>
            </a:custGeom>
            <a:solidFill>
              <a:srgbClr val="0131CC"/>
            </a:solidFill>
          </p:spPr>
          <p:txBody>
            <a:bodyPr wrap="square" lIns="0" tIns="0" rIns="0" bIns="0" rtlCol="0"/>
            <a:lstStyle/>
            <a:p>
              <a:endParaRPr/>
            </a:p>
          </p:txBody>
        </p:sp>
      </p:grpSp>
      <p:sp>
        <p:nvSpPr>
          <p:cNvPr id="21" name="object 21"/>
          <p:cNvSpPr txBox="1"/>
          <p:nvPr/>
        </p:nvSpPr>
        <p:spPr>
          <a:xfrm>
            <a:off x="5939285" y="4146770"/>
            <a:ext cx="2483485" cy="1647189"/>
          </a:xfrm>
          <a:prstGeom prst="rect">
            <a:avLst/>
          </a:prstGeom>
          <a:ln w="9525">
            <a:solidFill>
              <a:srgbClr val="000000"/>
            </a:solidFill>
          </a:ln>
        </p:spPr>
        <p:txBody>
          <a:bodyPr vert="horz" wrap="square" lIns="0" tIns="33020" rIns="0" bIns="0" rtlCol="0">
            <a:spAutoFit/>
          </a:bodyPr>
          <a:lstStyle/>
          <a:p>
            <a:pPr marL="90805">
              <a:lnSpc>
                <a:spcPct val="100000"/>
              </a:lnSpc>
              <a:spcBef>
                <a:spcPts val="260"/>
              </a:spcBef>
            </a:pPr>
            <a:r>
              <a:rPr sz="1600" spc="-5" dirty="0">
                <a:solidFill>
                  <a:srgbClr val="0131CC"/>
                </a:solidFill>
                <a:latin typeface="Cambria Math" panose="02040503050406030204"/>
                <a:cs typeface="Cambria Math" panose="02040503050406030204"/>
              </a:rPr>
              <a:t>𝒈𝒆𝒏</a:t>
            </a:r>
            <a:r>
              <a:rPr sz="1800" spc="-7" baseline="-16000" dirty="0">
                <a:solidFill>
                  <a:srgbClr val="0131CC"/>
                </a:solidFill>
                <a:latin typeface="Cambria Math" panose="02040503050406030204"/>
                <a:cs typeface="Cambria Math" panose="02040503050406030204"/>
              </a:rPr>
              <a:t>𝑩</a:t>
            </a:r>
            <a:endParaRPr sz="1800" baseline="-16000">
              <a:latin typeface="Cambria Math" panose="02040503050406030204"/>
              <a:cs typeface="Cambria Math" panose="02040503050406030204"/>
            </a:endParaRPr>
          </a:p>
          <a:p>
            <a:pPr marL="90805" marR="96520">
              <a:lnSpc>
                <a:spcPct val="100000"/>
              </a:lnSpc>
              <a:spcBef>
                <a:spcPts val="570"/>
              </a:spcBef>
            </a:pPr>
            <a:r>
              <a:rPr sz="1600" spc="-5" dirty="0">
                <a:latin typeface="Palatino Linotype" panose="02040502050505030304"/>
                <a:cs typeface="Palatino Linotype" panose="02040502050505030304"/>
              </a:rPr>
              <a:t>The </a:t>
            </a:r>
            <a:r>
              <a:rPr sz="1600" i="1" dirty="0">
                <a:solidFill>
                  <a:srgbClr val="FF0000"/>
                </a:solidFill>
                <a:latin typeface="Palatino Linotype" panose="02040502050505030304"/>
                <a:cs typeface="Palatino Linotype" panose="02040502050505030304"/>
              </a:rPr>
              <a:t>gen </a:t>
            </a:r>
            <a:r>
              <a:rPr sz="1600" spc="-5" dirty="0">
                <a:solidFill>
                  <a:srgbClr val="FF0000"/>
                </a:solidFill>
                <a:latin typeface="Palatino Linotype" panose="02040502050505030304"/>
                <a:cs typeface="Palatino Linotype" panose="02040502050505030304"/>
              </a:rPr>
              <a:t>set </a:t>
            </a:r>
            <a:r>
              <a:rPr sz="1600" dirty="0">
                <a:latin typeface="Palatino Linotype" panose="02040502050505030304"/>
                <a:cs typeface="Palatino Linotype" panose="02040502050505030304"/>
              </a:rPr>
              <a:t>contains </a:t>
            </a:r>
            <a:r>
              <a:rPr sz="1600" spc="-5" dirty="0">
                <a:latin typeface="Palatino Linotype" panose="02040502050505030304"/>
                <a:cs typeface="Palatino Linotype" panose="02040502050505030304"/>
              </a:rPr>
              <a:t>all </a:t>
            </a:r>
            <a:r>
              <a:rPr sz="1600" dirty="0">
                <a:latin typeface="Palatino Linotype" panose="02040502050505030304"/>
                <a:cs typeface="Palatino Linotype" panose="02040502050505030304"/>
              </a:rPr>
              <a:t> the </a:t>
            </a:r>
            <a:r>
              <a:rPr sz="1600" spc="-5" dirty="0">
                <a:latin typeface="Palatino Linotype" panose="02040502050505030304"/>
                <a:cs typeface="Palatino Linotype" panose="02040502050505030304"/>
              </a:rPr>
              <a:t>defs inside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block </a:t>
            </a:r>
            <a:r>
              <a:rPr sz="1600" dirty="0">
                <a:latin typeface="Palatino Linotype" panose="02040502050505030304"/>
                <a:cs typeface="Palatino Linotype" panose="02040502050505030304"/>
              </a:rPr>
              <a:t> that</a:t>
            </a:r>
            <a:r>
              <a:rPr sz="1600" spc="-2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are</a:t>
            </a:r>
            <a:r>
              <a:rPr sz="1600" spc="-30" dirty="0">
                <a:latin typeface="Palatino Linotype" panose="02040502050505030304"/>
                <a:cs typeface="Palatino Linotype" panose="02040502050505030304"/>
              </a:rPr>
              <a:t> </a:t>
            </a:r>
            <a:r>
              <a:rPr sz="1600" i="1" spc="-5" dirty="0">
                <a:latin typeface="Palatino Linotype" panose="02040502050505030304"/>
                <a:cs typeface="Palatino Linotype" panose="02040502050505030304"/>
              </a:rPr>
              <a:t>downward</a:t>
            </a:r>
            <a:r>
              <a:rPr sz="1600" i="1" spc="-2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exposed </a:t>
            </a:r>
            <a:r>
              <a:rPr sz="1600" i="1"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(visible</a:t>
            </a:r>
            <a:r>
              <a:rPr sz="1600" spc="39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immediately </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after</a:t>
            </a:r>
            <a:r>
              <a:rPr sz="1600" dirty="0">
                <a:latin typeface="Palatino Linotype" panose="02040502050505030304"/>
                <a:cs typeface="Palatino Linotype" panose="02040502050505030304"/>
              </a:rPr>
              <a:t> 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block)</a:t>
            </a:r>
            <a:endParaRPr sz="1600">
              <a:latin typeface="Palatino Linotype" panose="02040502050505030304"/>
              <a:cs typeface="Palatino Linotype" panose="02040502050505030304"/>
            </a:endParaRPr>
          </a:p>
        </p:txBody>
      </p:sp>
      <p:sp>
        <p:nvSpPr>
          <p:cNvPr id="22" name="object 22"/>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23" name="object 23"/>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24" name="object 24"/>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747645" cy="635000"/>
          </a:xfrm>
          <a:prstGeom prst="rect">
            <a:avLst/>
          </a:prstGeom>
        </p:spPr>
        <p:txBody>
          <a:bodyPr vert="horz" wrap="square" lIns="0" tIns="12700" rIns="0" bIns="0" rtlCol="0">
            <a:spAutoFit/>
          </a:bodyPr>
          <a:lstStyle/>
          <a:p>
            <a:pPr marL="12700">
              <a:lnSpc>
                <a:spcPct val="100000"/>
              </a:lnSpc>
              <a:spcBef>
                <a:spcPts val="100"/>
              </a:spcBef>
            </a:pPr>
            <a:r>
              <a:rPr sz="4000" dirty="0"/>
              <a:t>Example</a:t>
            </a:r>
            <a:r>
              <a:rPr sz="4000" spc="-90" dirty="0"/>
              <a:t> </a:t>
            </a:r>
            <a:r>
              <a:rPr sz="4000" dirty="0"/>
              <a:t>(1)</a:t>
            </a:r>
            <a:endParaRPr sz="4000"/>
          </a:p>
        </p:txBody>
      </p:sp>
      <p:pic>
        <p:nvPicPr>
          <p:cNvPr id="3" name="object 3"/>
          <p:cNvPicPr/>
          <p:nvPr/>
        </p:nvPicPr>
        <p:blipFill>
          <a:blip r:embed="rId2" cstate="print"/>
          <a:stretch>
            <a:fillRect/>
          </a:stretch>
        </p:blipFill>
        <p:spPr>
          <a:xfrm>
            <a:off x="2131120" y="1525496"/>
            <a:ext cx="5650424" cy="4359576"/>
          </a:xfrm>
          <a:prstGeom prst="rect">
            <a:avLst/>
          </a:prstGeom>
        </p:spPr>
      </p:pic>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45</a:t>
            </a:fld>
            <a:endParaRPr dirty="0"/>
          </a:p>
        </p:txBody>
      </p:sp>
      <p:sp>
        <p:nvSpPr>
          <p:cNvPr id="2" name="object 2"/>
          <p:cNvSpPr txBox="1">
            <a:spLocks noGrp="1"/>
          </p:cNvSpPr>
          <p:nvPr>
            <p:ph type="title"/>
          </p:nvPr>
        </p:nvSpPr>
        <p:spPr>
          <a:xfrm>
            <a:off x="707390" y="524763"/>
            <a:ext cx="2747645" cy="635000"/>
          </a:xfrm>
          <a:prstGeom prst="rect">
            <a:avLst/>
          </a:prstGeom>
        </p:spPr>
        <p:txBody>
          <a:bodyPr vert="horz" wrap="square" lIns="0" tIns="12700" rIns="0" bIns="0" rtlCol="0">
            <a:spAutoFit/>
          </a:bodyPr>
          <a:lstStyle/>
          <a:p>
            <a:pPr marL="12700">
              <a:lnSpc>
                <a:spcPct val="100000"/>
              </a:lnSpc>
              <a:spcBef>
                <a:spcPts val="100"/>
              </a:spcBef>
            </a:pPr>
            <a:r>
              <a:rPr sz="4000" dirty="0"/>
              <a:t>Example</a:t>
            </a:r>
            <a:r>
              <a:rPr sz="4000" spc="-90" dirty="0"/>
              <a:t> </a:t>
            </a:r>
            <a:r>
              <a:rPr sz="4000" dirty="0"/>
              <a:t>(2)</a:t>
            </a:r>
            <a:endParaRPr sz="4000"/>
          </a:p>
        </p:txBody>
      </p:sp>
      <p:sp>
        <p:nvSpPr>
          <p:cNvPr id="3" name="object 3"/>
          <p:cNvSpPr txBox="1"/>
          <p:nvPr/>
        </p:nvSpPr>
        <p:spPr>
          <a:xfrm>
            <a:off x="707390" y="1657603"/>
            <a:ext cx="3616960"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spc="-5" dirty="0">
                <a:latin typeface="Palatino Linotype" panose="02040502050505030304"/>
                <a:cs typeface="Palatino Linotype" panose="02040502050505030304"/>
              </a:rPr>
              <a:t>Consider</a:t>
            </a:r>
            <a:r>
              <a:rPr sz="2400" spc="-1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the</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basic</a:t>
            </a:r>
            <a:r>
              <a:rPr sz="2400" spc="-2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a:t>
            </a:r>
            <a:endParaRPr sz="2400">
              <a:latin typeface="Palatino Linotype" panose="02040502050505030304"/>
              <a:cs typeface="Palatino Linotype" panose="02040502050505030304"/>
            </a:endParaRPr>
          </a:p>
        </p:txBody>
      </p:sp>
      <p:sp>
        <p:nvSpPr>
          <p:cNvPr id="4" name="object 4"/>
          <p:cNvSpPr txBox="1"/>
          <p:nvPr/>
        </p:nvSpPr>
        <p:spPr>
          <a:xfrm>
            <a:off x="681990" y="3145027"/>
            <a:ext cx="7539990" cy="1037590"/>
          </a:xfrm>
          <a:prstGeom prst="rect">
            <a:avLst/>
          </a:prstGeom>
        </p:spPr>
        <p:txBody>
          <a:bodyPr vert="horz" wrap="square" lIns="0" tIns="153035" rIns="0" bIns="0" rtlCol="0">
            <a:spAutoFit/>
          </a:bodyPr>
          <a:lstStyle/>
          <a:p>
            <a:pPr marL="268605" indent="-230505">
              <a:lnSpc>
                <a:spcPct val="100000"/>
              </a:lnSpc>
              <a:spcBef>
                <a:spcPts val="1205"/>
              </a:spcBef>
              <a:buFont typeface="Arial MT"/>
              <a:buChar char="•"/>
              <a:tabLst>
                <a:tab pos="268605" algn="l"/>
              </a:tabLst>
            </a:pPr>
            <a:r>
              <a:rPr sz="2400" dirty="0">
                <a:latin typeface="Palatino Linotype" panose="02040502050505030304"/>
                <a:cs typeface="Palatino Linotype" panose="02040502050505030304"/>
              </a:rPr>
              <a:t>The</a:t>
            </a:r>
            <a:r>
              <a:rPr sz="2400" spc="-25"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gen</a:t>
            </a:r>
            <a:r>
              <a:rPr sz="2400" i="1" spc="-2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set:</a:t>
            </a:r>
            <a:r>
              <a:rPr sz="2400" spc="-2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t>
            </a:r>
            <a:r>
              <a:rPr sz="2400" dirty="0">
                <a:latin typeface="Consolas" panose="020B0609020204030204"/>
                <a:cs typeface="Consolas" panose="020B0609020204030204"/>
              </a:rPr>
              <a:t>d</a:t>
            </a:r>
            <a:r>
              <a:rPr sz="2400" baseline="-17000" dirty="0">
                <a:latin typeface="Consolas" panose="020B0609020204030204"/>
                <a:cs typeface="Consolas" panose="020B0609020204030204"/>
              </a:rPr>
              <a:t>2</a:t>
            </a:r>
            <a:r>
              <a:rPr sz="2400" dirty="0">
                <a:latin typeface="Palatino Linotype" panose="02040502050505030304"/>
                <a:cs typeface="Palatino Linotype" panose="02040502050505030304"/>
              </a:rPr>
              <a:t>}</a:t>
            </a:r>
            <a:endParaRPr sz="2400">
              <a:latin typeface="Palatino Linotype" panose="02040502050505030304"/>
              <a:cs typeface="Palatino Linotype" panose="02040502050505030304"/>
            </a:endParaRPr>
          </a:p>
          <a:p>
            <a:pPr marL="268605" indent="-230505">
              <a:lnSpc>
                <a:spcPct val="100000"/>
              </a:lnSpc>
              <a:spcBef>
                <a:spcPts val="1100"/>
              </a:spcBef>
              <a:buFont typeface="Arial MT"/>
              <a:buChar char="•"/>
              <a:tabLst>
                <a:tab pos="268605" algn="l"/>
              </a:tabLst>
            </a:pPr>
            <a:r>
              <a:rPr sz="2400" dirty="0">
                <a:latin typeface="Palatino Linotype" panose="02040502050505030304"/>
                <a:cs typeface="Palatino Linotype" panose="02040502050505030304"/>
              </a:rPr>
              <a:t>The</a:t>
            </a:r>
            <a:r>
              <a:rPr sz="2400" spc="-5" dirty="0">
                <a:latin typeface="Palatino Linotype" panose="02040502050505030304"/>
                <a:cs typeface="Palatino Linotype" panose="02040502050505030304"/>
              </a:rPr>
              <a:t> </a:t>
            </a:r>
            <a:r>
              <a:rPr sz="2400" i="1" spc="-10" dirty="0">
                <a:latin typeface="Palatino Linotype" panose="02040502050505030304"/>
                <a:cs typeface="Palatino Linotype" panose="02040502050505030304"/>
              </a:rPr>
              <a:t>kill</a:t>
            </a:r>
            <a:r>
              <a:rPr sz="2400" i="1"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set</a:t>
            </a:r>
            <a:r>
              <a:rPr sz="240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contains </a:t>
            </a:r>
            <a:r>
              <a:rPr sz="2400" i="1" dirty="0">
                <a:latin typeface="Palatino Linotype" panose="02040502050505030304"/>
                <a:cs typeface="Palatino Linotype" panose="02040502050505030304"/>
              </a:rPr>
              <a:t>d</a:t>
            </a:r>
            <a:r>
              <a:rPr sz="2400" baseline="-17000" dirty="0">
                <a:latin typeface="Palatino Linotype" panose="02040502050505030304"/>
                <a:cs typeface="Palatino Linotype" panose="02040502050505030304"/>
              </a:rPr>
              <a:t>1</a:t>
            </a:r>
            <a:r>
              <a:rPr sz="2400"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d</a:t>
            </a:r>
            <a:r>
              <a:rPr sz="2400" baseline="-17000" dirty="0">
                <a:latin typeface="Palatino Linotype" panose="02040502050505030304"/>
                <a:cs typeface="Palatino Linotype" panose="02040502050505030304"/>
              </a:rPr>
              <a:t>2</a:t>
            </a:r>
            <a:r>
              <a:rPr sz="2400" spc="307" baseline="-1700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and</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all other </a:t>
            </a:r>
            <a:r>
              <a:rPr sz="2400" spc="-5" dirty="0">
                <a:latin typeface="Palatino Linotype" panose="02040502050505030304"/>
                <a:cs typeface="Palatino Linotype" panose="02040502050505030304"/>
              </a:rPr>
              <a:t>definitions </a:t>
            </a:r>
            <a:r>
              <a:rPr sz="2400" dirty="0">
                <a:latin typeface="Palatino Linotype" panose="02040502050505030304"/>
                <a:cs typeface="Palatino Linotype" panose="02040502050505030304"/>
              </a:rPr>
              <a:t>to </a:t>
            </a:r>
            <a:r>
              <a:rPr sz="2400" i="1" dirty="0">
                <a:latin typeface="Palatino Linotype" panose="02040502050505030304"/>
                <a:cs typeface="Palatino Linotype" panose="02040502050505030304"/>
              </a:rPr>
              <a:t>a</a:t>
            </a:r>
            <a:endParaRPr sz="2400">
              <a:latin typeface="Palatino Linotype" panose="02040502050505030304"/>
              <a:cs typeface="Palatino Linotype" panose="02040502050505030304"/>
            </a:endParaRPr>
          </a:p>
        </p:txBody>
      </p:sp>
      <p:sp>
        <p:nvSpPr>
          <p:cNvPr id="5" name="object 5"/>
          <p:cNvSpPr txBox="1"/>
          <p:nvPr/>
        </p:nvSpPr>
        <p:spPr>
          <a:xfrm>
            <a:off x="3805604" y="2368327"/>
            <a:ext cx="1532890" cy="769620"/>
          </a:xfrm>
          <a:prstGeom prst="rect">
            <a:avLst/>
          </a:prstGeom>
          <a:ln w="9525">
            <a:solidFill>
              <a:srgbClr val="000000"/>
            </a:solidFill>
          </a:ln>
        </p:spPr>
        <p:txBody>
          <a:bodyPr vert="horz" wrap="square" lIns="0" tIns="50800" rIns="0" bIns="0" rtlCol="0">
            <a:spAutoFit/>
          </a:bodyPr>
          <a:lstStyle/>
          <a:p>
            <a:pPr marL="90805" marR="98425">
              <a:lnSpc>
                <a:spcPts val="2590"/>
              </a:lnSpc>
              <a:spcBef>
                <a:spcPts val="400"/>
              </a:spcBef>
            </a:pPr>
            <a:r>
              <a:rPr sz="2200" spc="-5" dirty="0">
                <a:latin typeface="Consolas" panose="020B0609020204030204"/>
                <a:cs typeface="Consolas" panose="020B0609020204030204"/>
              </a:rPr>
              <a:t>d</a:t>
            </a:r>
            <a:r>
              <a:rPr sz="2250" spc="-7" baseline="-19000" dirty="0">
                <a:latin typeface="Consolas" panose="020B0609020204030204"/>
                <a:cs typeface="Consolas" panose="020B0609020204030204"/>
              </a:rPr>
              <a:t>1</a:t>
            </a:r>
            <a:r>
              <a:rPr sz="2200" spc="-5" dirty="0">
                <a:latin typeface="Consolas" panose="020B0609020204030204"/>
                <a:cs typeface="Consolas" panose="020B0609020204030204"/>
              </a:rPr>
              <a:t>:</a:t>
            </a:r>
            <a:r>
              <a:rPr sz="2200" spc="-30" dirty="0">
                <a:latin typeface="Consolas" panose="020B0609020204030204"/>
                <a:cs typeface="Consolas" panose="020B0609020204030204"/>
              </a:rPr>
              <a:t> </a:t>
            </a:r>
            <a:r>
              <a:rPr sz="2200" dirty="0">
                <a:latin typeface="Consolas" panose="020B0609020204030204"/>
                <a:cs typeface="Consolas" panose="020B0609020204030204"/>
              </a:rPr>
              <a:t>a</a:t>
            </a:r>
            <a:r>
              <a:rPr sz="2200" spc="-30" dirty="0">
                <a:latin typeface="Consolas" panose="020B0609020204030204"/>
                <a:cs typeface="Consolas" panose="020B0609020204030204"/>
              </a:rPr>
              <a:t> </a:t>
            </a:r>
            <a:r>
              <a:rPr sz="2200" dirty="0">
                <a:latin typeface="Consolas" panose="020B0609020204030204"/>
                <a:cs typeface="Consolas" panose="020B0609020204030204"/>
              </a:rPr>
              <a:t>=</a:t>
            </a:r>
            <a:r>
              <a:rPr sz="2200" spc="-25" dirty="0">
                <a:latin typeface="Consolas" panose="020B0609020204030204"/>
                <a:cs typeface="Consolas" panose="020B0609020204030204"/>
              </a:rPr>
              <a:t> </a:t>
            </a:r>
            <a:r>
              <a:rPr sz="2200" dirty="0">
                <a:latin typeface="Consolas" panose="020B0609020204030204"/>
                <a:cs typeface="Consolas" panose="020B0609020204030204"/>
              </a:rPr>
              <a:t>3 </a:t>
            </a:r>
            <a:r>
              <a:rPr sz="2200" spc="-1195" dirty="0">
                <a:latin typeface="Consolas" panose="020B0609020204030204"/>
                <a:cs typeface="Consolas" panose="020B0609020204030204"/>
              </a:rPr>
              <a:t> </a:t>
            </a:r>
            <a:r>
              <a:rPr sz="2200" spc="-5" dirty="0">
                <a:latin typeface="Consolas" panose="020B0609020204030204"/>
                <a:cs typeface="Consolas" panose="020B0609020204030204"/>
              </a:rPr>
              <a:t>d</a:t>
            </a:r>
            <a:r>
              <a:rPr sz="2250" spc="-7" baseline="-19000" dirty="0">
                <a:latin typeface="Consolas" panose="020B0609020204030204"/>
                <a:cs typeface="Consolas" panose="020B0609020204030204"/>
              </a:rPr>
              <a:t>2</a:t>
            </a:r>
            <a:r>
              <a:rPr sz="2200" spc="-5" dirty="0">
                <a:latin typeface="Consolas" panose="020B0609020204030204"/>
                <a:cs typeface="Consolas" panose="020B0609020204030204"/>
              </a:rPr>
              <a:t>:</a:t>
            </a:r>
            <a:r>
              <a:rPr sz="2200" spc="-30" dirty="0">
                <a:latin typeface="Consolas" panose="020B0609020204030204"/>
                <a:cs typeface="Consolas" panose="020B0609020204030204"/>
              </a:rPr>
              <a:t> </a:t>
            </a:r>
            <a:r>
              <a:rPr sz="2200" dirty="0">
                <a:latin typeface="Consolas" panose="020B0609020204030204"/>
                <a:cs typeface="Consolas" panose="020B0609020204030204"/>
              </a:rPr>
              <a:t>a</a:t>
            </a:r>
            <a:r>
              <a:rPr sz="2200" spc="-30" dirty="0">
                <a:latin typeface="Consolas" panose="020B0609020204030204"/>
                <a:cs typeface="Consolas" panose="020B0609020204030204"/>
              </a:rPr>
              <a:t> </a:t>
            </a:r>
            <a:r>
              <a:rPr sz="2200" dirty="0">
                <a:latin typeface="Consolas" panose="020B0609020204030204"/>
                <a:cs typeface="Consolas" panose="020B0609020204030204"/>
              </a:rPr>
              <a:t>=</a:t>
            </a:r>
            <a:r>
              <a:rPr sz="2200" spc="-25" dirty="0">
                <a:latin typeface="Consolas" panose="020B0609020204030204"/>
                <a:cs typeface="Consolas" panose="020B0609020204030204"/>
              </a:rPr>
              <a:t> </a:t>
            </a:r>
            <a:r>
              <a:rPr sz="2200" dirty="0">
                <a:latin typeface="Consolas" panose="020B0609020204030204"/>
                <a:cs typeface="Consolas" panose="020B0609020204030204"/>
              </a:rPr>
              <a:t>4</a:t>
            </a:r>
            <a:endParaRPr sz="2200">
              <a:latin typeface="Consolas" panose="020B0609020204030204"/>
              <a:cs typeface="Consolas" panose="020B0609020204030204"/>
            </a:endParaRPr>
          </a:p>
        </p:txBody>
      </p:sp>
      <p:sp>
        <p:nvSpPr>
          <p:cNvPr id="6" name="object 6"/>
          <p:cNvSpPr txBox="1"/>
          <p:nvPr/>
        </p:nvSpPr>
        <p:spPr>
          <a:xfrm>
            <a:off x="778667" y="4664874"/>
            <a:ext cx="7422515" cy="1068070"/>
          </a:xfrm>
          <a:prstGeom prst="rect">
            <a:avLst/>
          </a:prstGeom>
          <a:solidFill>
            <a:srgbClr val="FFF2CC"/>
          </a:solidFill>
          <a:ln w="9525">
            <a:solidFill>
              <a:srgbClr val="000000"/>
            </a:solidFill>
          </a:ln>
        </p:spPr>
        <p:txBody>
          <a:bodyPr vert="horz" wrap="square" lIns="0" tIns="4445" rIns="0" bIns="0" rtlCol="0">
            <a:spAutoFit/>
          </a:bodyPr>
          <a:lstStyle/>
          <a:p>
            <a:pPr marL="90805" marR="99695" algn="just">
              <a:lnSpc>
                <a:spcPct val="120000"/>
              </a:lnSpc>
              <a:spcBef>
                <a:spcPts val="35"/>
              </a:spcBef>
            </a:pPr>
            <a:r>
              <a:rPr sz="1800" spc="-5" dirty="0">
                <a:solidFill>
                  <a:srgbClr val="FF0000"/>
                </a:solidFill>
                <a:latin typeface="Consolas" panose="020B0609020204030204"/>
                <a:cs typeface="Consolas" panose="020B0609020204030204"/>
              </a:rPr>
              <a:t>d</a:t>
            </a:r>
            <a:r>
              <a:rPr sz="1800" spc="-7" baseline="-14000" dirty="0">
                <a:solidFill>
                  <a:srgbClr val="FF0000"/>
                </a:solidFill>
                <a:latin typeface="Consolas" panose="020B0609020204030204"/>
                <a:cs typeface="Consolas" panose="020B0609020204030204"/>
              </a:rPr>
              <a:t>2</a:t>
            </a:r>
            <a:r>
              <a:rPr sz="1800" spc="-315" baseline="-14000" dirty="0">
                <a:solidFill>
                  <a:srgbClr val="FF0000"/>
                </a:solidFill>
                <a:latin typeface="Consolas" panose="020B0609020204030204"/>
                <a:cs typeface="Consolas" panose="020B0609020204030204"/>
              </a:rPr>
              <a:t> </a:t>
            </a:r>
            <a:r>
              <a:rPr sz="1800" dirty="0">
                <a:solidFill>
                  <a:srgbClr val="FF0000"/>
                </a:solidFill>
                <a:latin typeface="Palatino Linotype" panose="02040502050505030304"/>
                <a:cs typeface="Palatino Linotype" panose="02040502050505030304"/>
              </a:rPr>
              <a:t>appears</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in</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both the</a:t>
            </a:r>
            <a:r>
              <a:rPr sz="1800" spc="5" dirty="0">
                <a:solidFill>
                  <a:srgbClr val="FF0000"/>
                </a:solidFill>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gen </a:t>
            </a:r>
            <a:r>
              <a:rPr sz="1800" dirty="0">
                <a:solidFill>
                  <a:srgbClr val="FF0000"/>
                </a:solidFill>
                <a:latin typeface="Palatino Linotype" panose="02040502050505030304"/>
                <a:cs typeface="Palatino Linotype" panose="02040502050505030304"/>
              </a:rPr>
              <a:t>and</a:t>
            </a:r>
            <a:r>
              <a:rPr sz="1800" spc="5" dirty="0">
                <a:solidFill>
                  <a:srgbClr val="FF0000"/>
                </a:solidFill>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kill</a:t>
            </a:r>
            <a:r>
              <a:rPr sz="1800" i="1"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set</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of the</a:t>
            </a:r>
            <a:r>
              <a:rPr sz="1800" spc="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block. </a:t>
            </a:r>
            <a:r>
              <a:rPr sz="1800" spc="-5" dirty="0">
                <a:latin typeface="Palatino Linotype" panose="02040502050505030304"/>
                <a:cs typeface="Palatino Linotype" panose="02040502050505030304"/>
              </a:rPr>
              <a:t>Nontheless,</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since</a:t>
            </a:r>
            <a:r>
              <a:rPr sz="1800" dirty="0">
                <a:latin typeface="Palatino Linotype" panose="02040502050505030304"/>
                <a:cs typeface="Palatino Linotype" panose="02040502050505030304"/>
              </a:rPr>
              <a:t> the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subtraction </a:t>
            </a:r>
            <a:r>
              <a:rPr sz="1800" dirty="0">
                <a:latin typeface="Palatino Linotype" panose="02040502050505030304"/>
                <a:cs typeface="Palatino Linotype" panose="02040502050505030304"/>
              </a:rPr>
              <a:t>of the </a:t>
            </a:r>
            <a:r>
              <a:rPr sz="1800" spc="-5" dirty="0">
                <a:latin typeface="Palatino Linotype" panose="02040502050505030304"/>
                <a:cs typeface="Palatino Linotype" panose="02040502050505030304"/>
              </a:rPr>
              <a:t>kill set </a:t>
            </a:r>
            <a:r>
              <a:rPr sz="1800" dirty="0">
                <a:latin typeface="Palatino Linotype" panose="02040502050505030304"/>
                <a:cs typeface="Palatino Linotype" panose="02040502050505030304"/>
              </a:rPr>
              <a:t>precedes the union operation, the </a:t>
            </a:r>
            <a:r>
              <a:rPr sz="1800" spc="-5" dirty="0">
                <a:latin typeface="Palatino Linotype" panose="02040502050505030304"/>
                <a:cs typeface="Palatino Linotype" panose="02040502050505030304"/>
              </a:rPr>
              <a:t>result </a:t>
            </a:r>
            <a:r>
              <a:rPr sz="1800" dirty="0">
                <a:latin typeface="Palatino Linotype" panose="02040502050505030304"/>
                <a:cs typeface="Palatino Linotype" panose="02040502050505030304"/>
              </a:rPr>
              <a:t>of the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transfer </a:t>
            </a:r>
            <a:r>
              <a:rPr sz="1800" dirty="0">
                <a:latin typeface="Palatino Linotype" panose="02040502050505030304"/>
                <a:cs typeface="Palatino Linotype" panose="02040502050505030304"/>
              </a:rPr>
              <a:t>function for this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block</a:t>
            </a:r>
            <a:r>
              <a:rPr sz="1800" spc="-10" dirty="0">
                <a:latin typeface="Palatino Linotype" panose="02040502050505030304"/>
                <a:cs typeface="Palatino Linotype" panose="02040502050505030304"/>
              </a:rPr>
              <a:t> always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includes</a:t>
            </a:r>
            <a:r>
              <a:rPr sz="1800" spc="-5" dirty="0">
                <a:latin typeface="Palatino Linotype" panose="02040502050505030304"/>
                <a:cs typeface="Palatino Linotype" panose="02040502050505030304"/>
              </a:rPr>
              <a:t> </a:t>
            </a:r>
            <a:r>
              <a:rPr sz="1800" spc="-5" dirty="0">
                <a:latin typeface="Consolas" panose="020B0609020204030204"/>
                <a:cs typeface="Consolas" panose="020B0609020204030204"/>
              </a:rPr>
              <a:t>d</a:t>
            </a:r>
            <a:r>
              <a:rPr sz="1800" spc="-7" baseline="-14000" dirty="0">
                <a:latin typeface="Consolas" panose="020B0609020204030204"/>
                <a:cs typeface="Consolas" panose="020B0609020204030204"/>
              </a:rPr>
              <a:t>2</a:t>
            </a:r>
            <a:r>
              <a:rPr sz="1800" spc="-5" dirty="0">
                <a:latin typeface="Palatino Linotype" panose="02040502050505030304"/>
                <a:cs typeface="Palatino Linotype" panose="02040502050505030304"/>
              </a:rPr>
              <a:t>.</a:t>
            </a:r>
            <a:endParaRPr sz="1800">
              <a:latin typeface="Palatino Linotype" panose="02040502050505030304"/>
              <a:cs typeface="Palatino Linotype" panose="0204050205050503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599430" cy="635000"/>
          </a:xfrm>
          <a:prstGeom prst="rect">
            <a:avLst/>
          </a:prstGeom>
        </p:spPr>
        <p:txBody>
          <a:bodyPr vert="horz" wrap="square" lIns="0" tIns="12700" rIns="0" bIns="0" rtlCol="0">
            <a:spAutoFit/>
          </a:bodyPr>
          <a:lstStyle/>
          <a:p>
            <a:pPr marL="12700">
              <a:lnSpc>
                <a:spcPct val="100000"/>
              </a:lnSpc>
              <a:spcBef>
                <a:spcPts val="100"/>
              </a:spcBef>
            </a:pPr>
            <a:r>
              <a:rPr sz="4000" spc="-5" dirty="0"/>
              <a:t>Control-Flow</a:t>
            </a:r>
            <a:r>
              <a:rPr sz="4000" spc="-20" dirty="0"/>
              <a:t> </a:t>
            </a:r>
            <a:r>
              <a:rPr sz="4000" spc="-5" dirty="0"/>
              <a:t>Equations</a:t>
            </a:r>
            <a:endParaRPr sz="4000"/>
          </a:p>
        </p:txBody>
      </p:sp>
      <p:sp>
        <p:nvSpPr>
          <p:cNvPr id="3" name="object 3"/>
          <p:cNvSpPr/>
          <p:nvPr/>
        </p:nvSpPr>
        <p:spPr>
          <a:xfrm>
            <a:off x="2913723" y="4377689"/>
            <a:ext cx="50165" cy="213360"/>
          </a:xfrm>
          <a:custGeom>
            <a:avLst/>
            <a:gdLst/>
            <a:ahLst/>
            <a:cxnLst/>
            <a:rect l="l" t="t" r="r" b="b"/>
            <a:pathLst>
              <a:path w="50164" h="213360">
                <a:moveTo>
                  <a:pt x="49784" y="0"/>
                </a:moveTo>
                <a:lnTo>
                  <a:pt x="0" y="0"/>
                </a:lnTo>
                <a:lnTo>
                  <a:pt x="0" y="8890"/>
                </a:lnTo>
                <a:lnTo>
                  <a:pt x="31254" y="8890"/>
                </a:lnTo>
                <a:lnTo>
                  <a:pt x="31254"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endParaRPr/>
          </a:p>
        </p:txBody>
      </p:sp>
      <p:sp>
        <p:nvSpPr>
          <p:cNvPr id="4" name="object 4"/>
          <p:cNvSpPr/>
          <p:nvPr/>
        </p:nvSpPr>
        <p:spPr>
          <a:xfrm>
            <a:off x="2697391" y="437768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29" y="204470"/>
                </a:lnTo>
                <a:lnTo>
                  <a:pt x="18529" y="8890"/>
                </a:lnTo>
                <a:lnTo>
                  <a:pt x="49784" y="8890"/>
                </a:lnTo>
                <a:lnTo>
                  <a:pt x="49784" y="0"/>
                </a:lnTo>
                <a:close/>
              </a:path>
            </a:pathLst>
          </a:custGeom>
          <a:solidFill>
            <a:srgbClr val="000000"/>
          </a:solidFill>
        </p:spPr>
        <p:txBody>
          <a:bodyPr wrap="square" lIns="0" tIns="0" rIns="0" bIns="0" rtlCol="0"/>
          <a:lstStyle/>
          <a:p>
            <a:endParaRPr/>
          </a:p>
        </p:txBody>
      </p:sp>
      <p:sp>
        <p:nvSpPr>
          <p:cNvPr id="5" name="object 5"/>
          <p:cNvSpPr/>
          <p:nvPr/>
        </p:nvSpPr>
        <p:spPr>
          <a:xfrm>
            <a:off x="3138106" y="1981199"/>
            <a:ext cx="55880" cy="237490"/>
          </a:xfrm>
          <a:custGeom>
            <a:avLst/>
            <a:gdLst/>
            <a:ahLst/>
            <a:cxnLst/>
            <a:rect l="l" t="t" r="r" b="b"/>
            <a:pathLst>
              <a:path w="55880" h="237489">
                <a:moveTo>
                  <a:pt x="55308" y="0"/>
                </a:moveTo>
                <a:lnTo>
                  <a:pt x="0" y="0"/>
                </a:lnTo>
                <a:lnTo>
                  <a:pt x="0" y="10160"/>
                </a:lnTo>
                <a:lnTo>
                  <a:pt x="34721" y="10160"/>
                </a:lnTo>
                <a:lnTo>
                  <a:pt x="34721" y="227330"/>
                </a:lnTo>
                <a:lnTo>
                  <a:pt x="0" y="227330"/>
                </a:lnTo>
                <a:lnTo>
                  <a:pt x="0" y="237490"/>
                </a:lnTo>
                <a:lnTo>
                  <a:pt x="55308" y="237490"/>
                </a:lnTo>
                <a:lnTo>
                  <a:pt x="55308" y="227330"/>
                </a:lnTo>
                <a:lnTo>
                  <a:pt x="55308" y="10160"/>
                </a:lnTo>
                <a:lnTo>
                  <a:pt x="55308" y="0"/>
                </a:lnTo>
                <a:close/>
              </a:path>
            </a:pathLst>
          </a:custGeom>
          <a:solidFill>
            <a:srgbClr val="000000"/>
          </a:solidFill>
        </p:spPr>
        <p:txBody>
          <a:bodyPr wrap="square" lIns="0" tIns="0" rIns="0" bIns="0" rtlCol="0"/>
          <a:lstStyle/>
          <a:p>
            <a:endParaRPr/>
          </a:p>
        </p:txBody>
      </p:sp>
      <p:sp>
        <p:nvSpPr>
          <p:cNvPr id="6" name="object 6"/>
          <p:cNvSpPr/>
          <p:nvPr/>
        </p:nvSpPr>
        <p:spPr>
          <a:xfrm>
            <a:off x="2898673" y="1981199"/>
            <a:ext cx="55880" cy="237490"/>
          </a:xfrm>
          <a:custGeom>
            <a:avLst/>
            <a:gdLst/>
            <a:ahLst/>
            <a:cxnLst/>
            <a:rect l="l" t="t" r="r" b="b"/>
            <a:pathLst>
              <a:path w="55880" h="237489">
                <a:moveTo>
                  <a:pt x="55308" y="0"/>
                </a:moveTo>
                <a:lnTo>
                  <a:pt x="0" y="0"/>
                </a:lnTo>
                <a:lnTo>
                  <a:pt x="0" y="10160"/>
                </a:lnTo>
                <a:lnTo>
                  <a:pt x="0" y="227330"/>
                </a:lnTo>
                <a:lnTo>
                  <a:pt x="0" y="237490"/>
                </a:lnTo>
                <a:lnTo>
                  <a:pt x="55308" y="237490"/>
                </a:lnTo>
                <a:lnTo>
                  <a:pt x="55308" y="227330"/>
                </a:lnTo>
                <a:lnTo>
                  <a:pt x="20586" y="227330"/>
                </a:lnTo>
                <a:lnTo>
                  <a:pt x="20586" y="10160"/>
                </a:lnTo>
                <a:lnTo>
                  <a:pt x="55308" y="10160"/>
                </a:lnTo>
                <a:lnTo>
                  <a:pt x="55308" y="0"/>
                </a:lnTo>
                <a:close/>
              </a:path>
            </a:pathLst>
          </a:custGeom>
          <a:solidFill>
            <a:srgbClr val="000000"/>
          </a:solidFill>
        </p:spPr>
        <p:txBody>
          <a:bodyPr wrap="square" lIns="0" tIns="0" rIns="0" bIns="0" rtlCol="0"/>
          <a:lstStyle/>
          <a:p>
            <a:endParaRPr/>
          </a:p>
        </p:txBody>
      </p:sp>
      <p:sp>
        <p:nvSpPr>
          <p:cNvPr id="7" name="object 7"/>
          <p:cNvSpPr/>
          <p:nvPr/>
        </p:nvSpPr>
        <p:spPr>
          <a:xfrm>
            <a:off x="3486150" y="1600200"/>
            <a:ext cx="500380" cy="929005"/>
          </a:xfrm>
          <a:custGeom>
            <a:avLst/>
            <a:gdLst/>
            <a:ahLst/>
            <a:cxnLst/>
            <a:rect l="l" t="t" r="r" b="b"/>
            <a:pathLst>
              <a:path w="500379" h="929005">
                <a:moveTo>
                  <a:pt x="0" y="464344"/>
                </a:moveTo>
                <a:lnTo>
                  <a:pt x="2282" y="401335"/>
                </a:lnTo>
                <a:lnTo>
                  <a:pt x="8931" y="340902"/>
                </a:lnTo>
                <a:lnTo>
                  <a:pt x="19648" y="283600"/>
                </a:lnTo>
                <a:lnTo>
                  <a:pt x="34136" y="229980"/>
                </a:lnTo>
                <a:lnTo>
                  <a:pt x="52097" y="180597"/>
                </a:lnTo>
                <a:lnTo>
                  <a:pt x="73232" y="136003"/>
                </a:lnTo>
                <a:lnTo>
                  <a:pt x="97244" y="96751"/>
                </a:lnTo>
                <a:lnTo>
                  <a:pt x="123835" y="63396"/>
                </a:lnTo>
                <a:lnTo>
                  <a:pt x="152707" y="36490"/>
                </a:lnTo>
                <a:lnTo>
                  <a:pt x="216103" y="4238"/>
                </a:lnTo>
                <a:lnTo>
                  <a:pt x="250031" y="0"/>
                </a:lnTo>
                <a:lnTo>
                  <a:pt x="283959" y="4238"/>
                </a:lnTo>
                <a:lnTo>
                  <a:pt x="347355" y="36490"/>
                </a:lnTo>
                <a:lnTo>
                  <a:pt x="376227" y="63396"/>
                </a:lnTo>
                <a:lnTo>
                  <a:pt x="402818" y="96751"/>
                </a:lnTo>
                <a:lnTo>
                  <a:pt x="426830" y="136003"/>
                </a:lnTo>
                <a:lnTo>
                  <a:pt x="447965" y="180597"/>
                </a:lnTo>
                <a:lnTo>
                  <a:pt x="465926" y="229980"/>
                </a:lnTo>
                <a:lnTo>
                  <a:pt x="480414" y="283600"/>
                </a:lnTo>
                <a:lnTo>
                  <a:pt x="491131" y="340902"/>
                </a:lnTo>
                <a:lnTo>
                  <a:pt x="497780" y="401335"/>
                </a:lnTo>
                <a:lnTo>
                  <a:pt x="500063" y="464344"/>
                </a:lnTo>
                <a:lnTo>
                  <a:pt x="497780" y="527352"/>
                </a:lnTo>
                <a:lnTo>
                  <a:pt x="491131" y="587785"/>
                </a:lnTo>
                <a:lnTo>
                  <a:pt x="480414" y="645087"/>
                </a:lnTo>
                <a:lnTo>
                  <a:pt x="465926" y="698707"/>
                </a:lnTo>
                <a:lnTo>
                  <a:pt x="447965" y="748090"/>
                </a:lnTo>
                <a:lnTo>
                  <a:pt x="426830" y="792684"/>
                </a:lnTo>
                <a:lnTo>
                  <a:pt x="402818" y="831936"/>
                </a:lnTo>
                <a:lnTo>
                  <a:pt x="376227" y="865291"/>
                </a:lnTo>
                <a:lnTo>
                  <a:pt x="347355" y="892197"/>
                </a:lnTo>
                <a:lnTo>
                  <a:pt x="283959" y="924449"/>
                </a:lnTo>
                <a:lnTo>
                  <a:pt x="250031" y="928688"/>
                </a:lnTo>
                <a:lnTo>
                  <a:pt x="216103" y="924449"/>
                </a:lnTo>
                <a:lnTo>
                  <a:pt x="152707" y="892197"/>
                </a:lnTo>
                <a:lnTo>
                  <a:pt x="123835" y="865291"/>
                </a:lnTo>
                <a:lnTo>
                  <a:pt x="97244" y="831936"/>
                </a:lnTo>
                <a:lnTo>
                  <a:pt x="73232" y="792684"/>
                </a:lnTo>
                <a:lnTo>
                  <a:pt x="52097" y="748090"/>
                </a:lnTo>
                <a:lnTo>
                  <a:pt x="34136" y="698707"/>
                </a:lnTo>
                <a:lnTo>
                  <a:pt x="19648" y="645087"/>
                </a:lnTo>
                <a:lnTo>
                  <a:pt x="8931" y="587785"/>
                </a:lnTo>
                <a:lnTo>
                  <a:pt x="2282" y="527352"/>
                </a:lnTo>
                <a:lnTo>
                  <a:pt x="0" y="464344"/>
                </a:lnTo>
                <a:close/>
              </a:path>
            </a:pathLst>
          </a:custGeom>
          <a:ln w="12700">
            <a:solidFill>
              <a:srgbClr val="FF0000"/>
            </a:solidFill>
          </a:ln>
        </p:spPr>
        <p:txBody>
          <a:bodyPr wrap="square" lIns="0" tIns="0" rIns="0" bIns="0" rtlCol="0"/>
          <a:lstStyle/>
          <a:p>
            <a:endParaRPr/>
          </a:p>
        </p:txBody>
      </p:sp>
      <p:sp>
        <p:nvSpPr>
          <p:cNvPr id="8" name="object 8"/>
          <p:cNvSpPr txBox="1"/>
          <p:nvPr/>
        </p:nvSpPr>
        <p:spPr>
          <a:xfrm>
            <a:off x="707390" y="1909571"/>
            <a:ext cx="7454900" cy="3805555"/>
          </a:xfrm>
          <a:prstGeom prst="rect">
            <a:avLst/>
          </a:prstGeom>
        </p:spPr>
        <p:txBody>
          <a:bodyPr vert="horz" wrap="square" lIns="0" tIns="12700" rIns="0" bIns="0" rtlCol="0">
            <a:spAutoFit/>
          </a:bodyPr>
          <a:lstStyle/>
          <a:p>
            <a:pPr marL="398145" algn="ctr">
              <a:lnSpc>
                <a:spcPts val="2265"/>
              </a:lnSpc>
              <a:spcBef>
                <a:spcPts val="100"/>
              </a:spcBef>
              <a:tabLst>
                <a:tab pos="1075055" algn="l"/>
                <a:tab pos="3611245" algn="l"/>
              </a:tabLst>
            </a:pPr>
            <a:r>
              <a:rPr sz="2000" dirty="0">
                <a:latin typeface="Cambria Math" panose="02040503050406030204"/>
                <a:cs typeface="Cambria Math" panose="02040503050406030204"/>
              </a:rPr>
              <a:t>IN</a:t>
            </a:r>
            <a:r>
              <a:rPr sz="2000" spc="260" dirty="0">
                <a:latin typeface="Cambria Math" panose="02040503050406030204"/>
                <a:cs typeface="Cambria Math" panose="02040503050406030204"/>
              </a:rPr>
              <a:t> </a:t>
            </a:r>
            <a:r>
              <a:rPr sz="2000" dirty="0">
                <a:latin typeface="Cambria Math" panose="02040503050406030204"/>
                <a:cs typeface="Cambria Math" panose="02040503050406030204"/>
              </a:rPr>
              <a:t>𝐵	=</a:t>
            </a:r>
            <a:r>
              <a:rPr lang="en-US" altLang="zh-CN" sz="2000" dirty="0">
                <a:latin typeface="Cambria Math" panose="02040503050406030204"/>
                <a:cs typeface="Cambria Math" panose="02040503050406030204"/>
              </a:rPr>
              <a:t>  </a:t>
            </a:r>
            <a:r>
              <a:rPr lang="zh-CN" altLang="en-US" sz="2800" spc="75" dirty="0">
                <a:latin typeface="Cambria Math" panose="02040503050406030204"/>
                <a:cs typeface="Cambria Math" panose="02040503050406030204"/>
              </a:rPr>
              <a:t>𝖴</a:t>
            </a:r>
            <a:r>
              <a:rPr lang="zh-CN" altLang="en-US" sz="2000" spc="1000" dirty="0">
                <a:latin typeface="Cambria Math" panose="02040503050406030204"/>
                <a:cs typeface="Cambria Math" panose="02040503050406030204"/>
              </a:rPr>
              <a:t>	</a:t>
            </a:r>
            <a:r>
              <a:rPr sz="2000" spc="5" dirty="0">
                <a:latin typeface="Cambria Math" panose="02040503050406030204"/>
                <a:cs typeface="Cambria Math" panose="02040503050406030204"/>
              </a:rPr>
              <a:t>OUT[𝑃]</a:t>
            </a:r>
            <a:endParaRPr sz="2000" dirty="0">
              <a:latin typeface="Cambria Math" panose="02040503050406030204"/>
              <a:cs typeface="Cambria Math" panose="02040503050406030204"/>
            </a:endParaRPr>
          </a:p>
          <a:p>
            <a:pPr marL="3322955">
              <a:lnSpc>
                <a:spcPts val="1665"/>
              </a:lnSpc>
            </a:pPr>
            <a:r>
              <a:rPr sz="1500" spc="60" dirty="0">
                <a:latin typeface="Cambria Math" panose="02040503050406030204"/>
                <a:cs typeface="Cambria Math" panose="02040503050406030204"/>
              </a:rPr>
              <a:t>𝑃</a:t>
            </a:r>
            <a:r>
              <a:rPr sz="1500" spc="5" dirty="0">
                <a:latin typeface="Cambria Math" panose="02040503050406030204"/>
                <a:cs typeface="Cambria Math" panose="02040503050406030204"/>
              </a:rPr>
              <a:t> </a:t>
            </a:r>
            <a:r>
              <a:rPr sz="1500" spc="95" dirty="0">
                <a:latin typeface="Cambria Math" panose="02040503050406030204"/>
                <a:cs typeface="Cambria Math" panose="02040503050406030204"/>
              </a:rPr>
              <a:t>a</a:t>
            </a:r>
            <a:r>
              <a:rPr sz="1500" spc="-25" dirty="0">
                <a:latin typeface="Cambria Math" panose="02040503050406030204"/>
                <a:cs typeface="Cambria Math" panose="02040503050406030204"/>
              </a:rPr>
              <a:t> </a:t>
            </a:r>
            <a:r>
              <a:rPr lang="en-US" sz="1500" spc="-55" dirty="0">
                <a:latin typeface="Cambria Math" panose="02040503050406030204"/>
                <a:cs typeface="Cambria Math" panose="02040503050406030204"/>
              </a:rPr>
              <a:t>predecessor of</a:t>
            </a:r>
            <a:r>
              <a:rPr sz="1500" spc="-25" dirty="0">
                <a:latin typeface="Cambria Math" panose="02040503050406030204"/>
                <a:cs typeface="Cambria Math" panose="02040503050406030204"/>
              </a:rPr>
              <a:t> </a:t>
            </a:r>
            <a:r>
              <a:rPr sz="1500" spc="50" dirty="0">
                <a:latin typeface="Cambria Math" panose="02040503050406030204"/>
                <a:cs typeface="Cambria Math" panose="02040503050406030204"/>
              </a:rPr>
              <a:t>𝐵</a:t>
            </a:r>
            <a:endParaRPr sz="1500" dirty="0">
              <a:latin typeface="Cambria Math" panose="02040503050406030204"/>
              <a:cs typeface="Cambria Math" panose="02040503050406030204"/>
            </a:endParaRPr>
          </a:p>
          <a:p>
            <a:pPr>
              <a:lnSpc>
                <a:spcPct val="100000"/>
              </a:lnSpc>
            </a:pPr>
            <a:endParaRPr sz="1700" dirty="0">
              <a:latin typeface="Cambria Math" panose="02040503050406030204"/>
              <a:cs typeface="Cambria Math" panose="02040503050406030204"/>
            </a:endParaRPr>
          </a:p>
          <a:p>
            <a:pPr>
              <a:lnSpc>
                <a:spcPct val="100000"/>
              </a:lnSpc>
              <a:spcBef>
                <a:spcPts val="15"/>
              </a:spcBef>
            </a:pPr>
            <a:endParaRPr sz="1450" dirty="0">
              <a:latin typeface="Cambria Math" panose="02040503050406030204"/>
              <a:cs typeface="Cambria Math" panose="02040503050406030204"/>
            </a:endParaRPr>
          </a:p>
          <a:p>
            <a:pPr marL="3566795">
              <a:lnSpc>
                <a:spcPts val="1950"/>
              </a:lnSpc>
            </a:pPr>
            <a:r>
              <a:rPr sz="1800" spc="-5" dirty="0">
                <a:solidFill>
                  <a:srgbClr val="FF0000"/>
                </a:solidFill>
                <a:latin typeface="Palatino Linotype" panose="02040502050505030304"/>
                <a:cs typeface="Palatino Linotype" panose="02040502050505030304"/>
              </a:rPr>
              <a:t>The</a:t>
            </a:r>
            <a:r>
              <a:rPr sz="1800" spc="-20" dirty="0">
                <a:solidFill>
                  <a:srgbClr val="FF0000"/>
                </a:solidFill>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meet</a:t>
            </a:r>
            <a:r>
              <a:rPr sz="1800" i="1" spc="-15" dirty="0">
                <a:solidFill>
                  <a:srgbClr val="FF0000"/>
                </a:solidFill>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operator</a:t>
            </a:r>
            <a:endParaRPr sz="1800" dirty="0">
              <a:latin typeface="Palatino Linotype" panose="02040502050505030304"/>
              <a:cs typeface="Palatino Linotype" panose="02040502050505030304"/>
            </a:endParaRPr>
          </a:p>
          <a:p>
            <a:pPr marL="243205" indent="-230505">
              <a:lnSpc>
                <a:spcPts val="2430"/>
              </a:lnSpc>
              <a:buClr>
                <a:srgbClr val="000000"/>
              </a:buClr>
              <a:buFont typeface="Arial MT"/>
              <a:buChar char="•"/>
              <a:tabLst>
                <a:tab pos="242570" algn="l"/>
                <a:tab pos="242570" algn="l"/>
              </a:tabLst>
            </a:pPr>
            <a:r>
              <a:rPr sz="2200" b="1" dirty="0">
                <a:solidFill>
                  <a:srgbClr val="0432FF"/>
                </a:solidFill>
                <a:latin typeface="Palatino Linotype" panose="02040502050505030304"/>
                <a:cs typeface="Palatino Linotype" panose="02040502050505030304"/>
              </a:rPr>
              <a:t>Rationale:</a:t>
            </a:r>
            <a:endParaRPr sz="2200" dirty="0">
              <a:latin typeface="Palatino Linotype" panose="02040502050505030304"/>
              <a:cs typeface="Palatino Linotype" panose="02040502050505030304"/>
            </a:endParaRPr>
          </a:p>
          <a:p>
            <a:pPr marL="698500" marR="5080" lvl="1" indent="-228600">
              <a:lnSpc>
                <a:spcPct val="121000"/>
              </a:lnSpc>
              <a:spcBef>
                <a:spcPts val="1225"/>
              </a:spcBef>
              <a:buFont typeface="Wingdings" panose="05000000000000000000"/>
              <a:buChar char=""/>
              <a:tabLst>
                <a:tab pos="698500" algn="l"/>
              </a:tabLst>
            </a:pPr>
            <a:r>
              <a:rPr sz="1800" dirty="0">
                <a:latin typeface="Palatino Linotype" panose="02040502050505030304"/>
                <a:cs typeface="Palatino Linotype" panose="02040502050505030304"/>
              </a:rPr>
              <a:t>A</a:t>
            </a:r>
            <a:r>
              <a:rPr sz="1800" spc="-1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definition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reaches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program</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point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long</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there </a:t>
            </a:r>
            <a:r>
              <a:rPr sz="1800" spc="-5" dirty="0">
                <a:latin typeface="Palatino Linotype" panose="02040502050505030304"/>
                <a:cs typeface="Palatino Linotype" panose="02040502050505030304"/>
              </a:rPr>
              <a:t>exists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a:t>
            </a:r>
            <a:r>
              <a:rPr sz="1800" spc="-5" dirty="0">
                <a:latin typeface="Palatino Linotype" panose="02040502050505030304"/>
                <a:cs typeface="Palatino Linotype" panose="02040502050505030304"/>
              </a:rPr>
              <a:t> least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one path along </a:t>
            </a:r>
            <a:r>
              <a:rPr sz="1800" spc="-5" dirty="0">
                <a:latin typeface="Palatino Linotype" panose="02040502050505030304"/>
                <a:cs typeface="Palatino Linotype" panose="02040502050505030304"/>
              </a:rPr>
              <a:t>which </a:t>
            </a:r>
            <a:r>
              <a:rPr sz="1800" dirty="0">
                <a:latin typeface="Palatino Linotype" panose="02040502050505030304"/>
                <a:cs typeface="Palatino Linotype" panose="02040502050505030304"/>
              </a:rPr>
              <a:t>the definition </a:t>
            </a:r>
            <a:r>
              <a:rPr sz="1800" spc="-5" dirty="0">
                <a:latin typeface="Palatino Linotype" panose="02040502050505030304"/>
                <a:cs typeface="Palatino Linotype" panose="02040502050505030304"/>
              </a:rPr>
              <a:t>reaches. This </a:t>
            </a:r>
            <a:r>
              <a:rPr sz="1800" dirty="0">
                <a:latin typeface="Palatino Linotype" panose="02040502050505030304"/>
                <a:cs typeface="Palatino Linotype" panose="02040502050505030304"/>
              </a:rPr>
              <a:t>explains </a:t>
            </a:r>
            <a:r>
              <a:rPr sz="1800" spc="-5" dirty="0">
                <a:latin typeface="Palatino Linotype" panose="02040502050505030304"/>
                <a:cs typeface="Palatino Linotype" panose="02040502050505030304"/>
              </a:rPr>
              <a:t>why </a:t>
            </a:r>
            <a:r>
              <a:rPr sz="1800" dirty="0">
                <a:latin typeface="Palatino Linotype" panose="02040502050505030304"/>
                <a:cs typeface="Palatino Linotype" panose="02040502050505030304"/>
              </a:rPr>
              <a:t> </a:t>
            </a:r>
            <a:r>
              <a:rPr sz="1800" dirty="0">
                <a:latin typeface="Cambria Math" panose="02040503050406030204"/>
                <a:cs typeface="Cambria Math" panose="02040503050406030204"/>
              </a:rPr>
              <a:t>OUT[𝑃]</a:t>
            </a:r>
            <a:r>
              <a:rPr sz="1800" spc="90" dirty="0">
                <a:latin typeface="Cambria Math" panose="02040503050406030204"/>
                <a:cs typeface="Cambria Math" panose="02040503050406030204"/>
              </a:rPr>
              <a:t> </a:t>
            </a:r>
            <a:r>
              <a:rPr sz="1800" dirty="0">
                <a:latin typeface="Cambria Math" panose="02040503050406030204"/>
                <a:cs typeface="Cambria Math" panose="02040503050406030204"/>
              </a:rPr>
              <a:t>⊆</a:t>
            </a:r>
            <a:r>
              <a:rPr sz="1800" spc="105" dirty="0">
                <a:latin typeface="Cambria Math" panose="02040503050406030204"/>
                <a:cs typeface="Cambria Math" panose="02040503050406030204"/>
              </a:rPr>
              <a:t> </a:t>
            </a:r>
            <a:r>
              <a:rPr sz="1800" dirty="0">
                <a:latin typeface="Cambria Math" panose="02040503050406030204"/>
                <a:cs typeface="Cambria Math" panose="02040503050406030204"/>
              </a:rPr>
              <a:t>IN</a:t>
            </a:r>
            <a:r>
              <a:rPr sz="1800" spc="229" dirty="0">
                <a:latin typeface="Cambria Math" panose="02040503050406030204"/>
                <a:cs typeface="Cambria Math" panose="02040503050406030204"/>
              </a:rPr>
              <a:t> </a:t>
            </a:r>
            <a:r>
              <a:rPr sz="1800" dirty="0">
                <a:latin typeface="Cambria Math" panose="02040503050406030204"/>
                <a:cs typeface="Cambria Math" panose="02040503050406030204"/>
              </a:rPr>
              <a:t>𝐵</a:t>
            </a:r>
            <a:r>
              <a:rPr sz="1800" spc="285" dirty="0">
                <a:latin typeface="Cambria Math" panose="02040503050406030204"/>
                <a:cs typeface="Cambria Math" panose="02040503050406030204"/>
              </a:rPr>
              <a:t> </a:t>
            </a:r>
            <a:r>
              <a:rPr sz="1800" i="1" dirty="0">
                <a:latin typeface="Palatino Linotype" panose="02040502050505030304"/>
                <a:cs typeface="Palatino Linotype" panose="02040502050505030304"/>
              </a:rPr>
              <a:t>.</a:t>
            </a:r>
            <a:endParaRPr sz="1800" dirty="0">
              <a:latin typeface="Palatino Linotype" panose="02040502050505030304"/>
              <a:cs typeface="Palatino Linotype" panose="02040502050505030304"/>
            </a:endParaRPr>
          </a:p>
          <a:p>
            <a:pPr marL="698500" marR="75565" lvl="1" indent="-228600" algn="just">
              <a:lnSpc>
                <a:spcPct val="121000"/>
              </a:lnSpc>
              <a:spcBef>
                <a:spcPts val="590"/>
              </a:spcBef>
              <a:buFont typeface="Wingdings" panose="05000000000000000000"/>
              <a:buChar char=""/>
              <a:tabLst>
                <a:tab pos="698500" algn="l"/>
              </a:tabLst>
            </a:pPr>
            <a:r>
              <a:rPr sz="1800" dirty="0">
                <a:latin typeface="Palatino Linotype" panose="02040502050505030304"/>
                <a:cs typeface="Palatino Linotype" panose="02040502050505030304"/>
              </a:rPr>
              <a:t>Since a definition cannot reach a point </a:t>
            </a:r>
            <a:r>
              <a:rPr sz="1800" spc="-5" dirty="0">
                <a:latin typeface="Palatino Linotype" panose="02040502050505030304"/>
                <a:cs typeface="Palatino Linotype" panose="02040502050505030304"/>
              </a:rPr>
              <a:t>unless </a:t>
            </a:r>
            <a:r>
              <a:rPr sz="1800" dirty="0">
                <a:latin typeface="Palatino Linotype" panose="02040502050505030304"/>
                <a:cs typeface="Palatino Linotype" panose="02040502050505030304"/>
              </a:rPr>
              <a:t>there is a path along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which </a:t>
            </a:r>
            <a:r>
              <a:rPr sz="1800" dirty="0">
                <a:latin typeface="Palatino Linotype" panose="02040502050505030304"/>
                <a:cs typeface="Palatino Linotype" panose="02040502050505030304"/>
              </a:rPr>
              <a:t>it </a:t>
            </a:r>
            <a:r>
              <a:rPr sz="1800" spc="-5" dirty="0">
                <a:latin typeface="Palatino Linotype" panose="02040502050505030304"/>
                <a:cs typeface="Palatino Linotype" panose="02040502050505030304"/>
              </a:rPr>
              <a:t>reaches, </a:t>
            </a:r>
            <a:r>
              <a:rPr sz="1800" spc="5" dirty="0">
                <a:latin typeface="Cambria Math" panose="02040503050406030204"/>
                <a:cs typeface="Cambria Math" panose="02040503050406030204"/>
              </a:rPr>
              <a:t>IN[𝐵] </a:t>
            </a:r>
            <a:r>
              <a:rPr sz="1800" dirty="0">
                <a:latin typeface="Palatino Linotype" panose="02040502050505030304"/>
                <a:cs typeface="Palatino Linotype" panose="02040502050505030304"/>
              </a:rPr>
              <a:t>needs to be no </a:t>
            </a:r>
            <a:r>
              <a:rPr sz="1800" spc="-5" dirty="0">
                <a:latin typeface="Palatino Linotype" panose="02040502050505030304"/>
                <a:cs typeface="Palatino Linotype" panose="02040502050505030304"/>
              </a:rPr>
              <a:t>larger </a:t>
            </a:r>
            <a:r>
              <a:rPr sz="1800" dirty="0">
                <a:latin typeface="Palatino Linotype" panose="02040502050505030304"/>
                <a:cs typeface="Palatino Linotype" panose="02040502050505030304"/>
              </a:rPr>
              <a:t>than the union of the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reaching</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definitions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 all the </a:t>
            </a:r>
            <a:r>
              <a:rPr sz="1800" spc="-5" dirty="0">
                <a:latin typeface="Palatino Linotype" panose="02040502050505030304"/>
                <a:cs typeface="Palatino Linotype" panose="02040502050505030304"/>
              </a:rPr>
              <a:t>predecessor</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blocks</a:t>
            </a:r>
            <a:endParaRPr sz="1800" dirty="0">
              <a:latin typeface="Palatino Linotype" panose="02040502050505030304"/>
              <a:cs typeface="Palatino Linotype" panose="02040502050505030304"/>
            </a:endParaRPr>
          </a:p>
        </p:txBody>
      </p:sp>
      <p:sp>
        <p:nvSpPr>
          <p:cNvPr id="9" name="object 9"/>
          <p:cNvSpPr/>
          <p:nvPr/>
        </p:nvSpPr>
        <p:spPr>
          <a:xfrm>
            <a:off x="3731388" y="2524723"/>
            <a:ext cx="452120" cy="518795"/>
          </a:xfrm>
          <a:custGeom>
            <a:avLst/>
            <a:gdLst/>
            <a:ahLst/>
            <a:cxnLst/>
            <a:rect l="l" t="t" r="r" b="b"/>
            <a:pathLst>
              <a:path w="452120" h="518794">
                <a:moveTo>
                  <a:pt x="396958" y="465160"/>
                </a:moveTo>
                <a:lnTo>
                  <a:pt x="372991" y="485985"/>
                </a:lnTo>
                <a:lnTo>
                  <a:pt x="451731" y="518514"/>
                </a:lnTo>
                <a:lnTo>
                  <a:pt x="440474" y="474747"/>
                </a:lnTo>
                <a:lnTo>
                  <a:pt x="405288" y="474747"/>
                </a:lnTo>
                <a:lnTo>
                  <a:pt x="396958" y="465160"/>
                </a:lnTo>
                <a:close/>
              </a:path>
              <a:path w="452120" h="518794">
                <a:moveTo>
                  <a:pt x="406544" y="456831"/>
                </a:moveTo>
                <a:lnTo>
                  <a:pt x="396958" y="465160"/>
                </a:lnTo>
                <a:lnTo>
                  <a:pt x="405288" y="474747"/>
                </a:lnTo>
                <a:lnTo>
                  <a:pt x="414874" y="466417"/>
                </a:lnTo>
                <a:lnTo>
                  <a:pt x="406544" y="456831"/>
                </a:lnTo>
                <a:close/>
              </a:path>
              <a:path w="452120" h="518794">
                <a:moveTo>
                  <a:pt x="430510" y="436006"/>
                </a:moveTo>
                <a:lnTo>
                  <a:pt x="406544" y="456831"/>
                </a:lnTo>
                <a:lnTo>
                  <a:pt x="414874" y="466417"/>
                </a:lnTo>
                <a:lnTo>
                  <a:pt x="405288" y="474747"/>
                </a:lnTo>
                <a:lnTo>
                  <a:pt x="440474" y="474747"/>
                </a:lnTo>
                <a:lnTo>
                  <a:pt x="430510" y="436006"/>
                </a:lnTo>
                <a:close/>
              </a:path>
              <a:path w="452120" h="518794">
                <a:moveTo>
                  <a:pt x="9587" y="0"/>
                </a:moveTo>
                <a:lnTo>
                  <a:pt x="0" y="8329"/>
                </a:lnTo>
                <a:lnTo>
                  <a:pt x="396958" y="465160"/>
                </a:lnTo>
                <a:lnTo>
                  <a:pt x="406544" y="456831"/>
                </a:lnTo>
                <a:lnTo>
                  <a:pt x="9587" y="0"/>
                </a:lnTo>
                <a:close/>
              </a:path>
            </a:pathLst>
          </a:custGeom>
          <a:solidFill>
            <a:srgbClr val="FF0000"/>
          </a:solidFill>
        </p:spPr>
        <p:txBody>
          <a:bodyPr wrap="square" lIns="0" tIns="0" rIns="0" bIns="0" rtlCol="0"/>
          <a:lstStyle/>
          <a:p>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46</a:t>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011420" cy="635000"/>
          </a:xfrm>
          <a:prstGeom prst="rect">
            <a:avLst/>
          </a:prstGeom>
        </p:spPr>
        <p:txBody>
          <a:bodyPr vert="horz" wrap="square" lIns="0" tIns="12700" rIns="0" bIns="0" rtlCol="0">
            <a:spAutoFit/>
          </a:bodyPr>
          <a:lstStyle/>
          <a:p>
            <a:pPr marL="12700">
              <a:lnSpc>
                <a:spcPct val="100000"/>
              </a:lnSpc>
              <a:spcBef>
                <a:spcPts val="100"/>
              </a:spcBef>
            </a:pPr>
            <a:r>
              <a:rPr sz="4000" spc="-5" dirty="0"/>
              <a:t>Problem</a:t>
            </a:r>
            <a:r>
              <a:rPr sz="4000" spc="-55" dirty="0"/>
              <a:t> </a:t>
            </a:r>
            <a:r>
              <a:rPr sz="4000" dirty="0"/>
              <a:t>Formulation</a:t>
            </a:r>
            <a:endParaRPr sz="4000"/>
          </a:p>
        </p:txBody>
      </p:sp>
      <p:sp>
        <p:nvSpPr>
          <p:cNvPr id="3" name="object 3"/>
          <p:cNvSpPr/>
          <p:nvPr/>
        </p:nvSpPr>
        <p:spPr>
          <a:xfrm>
            <a:off x="2613393" y="4693920"/>
            <a:ext cx="55880" cy="236220"/>
          </a:xfrm>
          <a:custGeom>
            <a:avLst/>
            <a:gdLst/>
            <a:ahLst/>
            <a:cxnLst/>
            <a:rect l="l" t="t" r="r" b="b"/>
            <a:pathLst>
              <a:path w="55880" h="236220">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FF0000"/>
          </a:solidFill>
        </p:spPr>
        <p:txBody>
          <a:bodyPr wrap="square" lIns="0" tIns="0" rIns="0" bIns="0" rtlCol="0"/>
          <a:lstStyle/>
          <a:p>
            <a:endParaRPr/>
          </a:p>
        </p:txBody>
      </p:sp>
      <p:sp>
        <p:nvSpPr>
          <p:cNvPr id="4" name="object 4"/>
          <p:cNvSpPr/>
          <p:nvPr/>
        </p:nvSpPr>
        <p:spPr>
          <a:xfrm>
            <a:off x="2373960" y="4693920"/>
            <a:ext cx="55880" cy="236220"/>
          </a:xfrm>
          <a:custGeom>
            <a:avLst/>
            <a:gdLst/>
            <a:ahLst/>
            <a:cxnLst/>
            <a:rect l="l" t="t" r="r" b="b"/>
            <a:pathLst>
              <a:path w="55880" h="236220">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FF0000"/>
          </a:solidFill>
        </p:spPr>
        <p:txBody>
          <a:bodyPr wrap="square" lIns="0" tIns="0" rIns="0" bIns="0" rtlCol="0"/>
          <a:lstStyle/>
          <a:p>
            <a:endParaRPr/>
          </a:p>
        </p:txBody>
      </p:sp>
      <p:sp>
        <p:nvSpPr>
          <p:cNvPr id="5" name="object 5"/>
          <p:cNvSpPr/>
          <p:nvPr/>
        </p:nvSpPr>
        <p:spPr>
          <a:xfrm>
            <a:off x="3904767" y="4693920"/>
            <a:ext cx="1600200" cy="236220"/>
          </a:xfrm>
          <a:custGeom>
            <a:avLst/>
            <a:gdLst/>
            <a:ahLst/>
            <a:cxnLst/>
            <a:rect l="l" t="t" r="r" b="b"/>
            <a:pathLst>
              <a:path w="1600200" h="236220">
                <a:moveTo>
                  <a:pt x="78384" y="9855"/>
                </a:moveTo>
                <a:lnTo>
                  <a:pt x="75044" y="304"/>
                </a:lnTo>
                <a:lnTo>
                  <a:pt x="57975" y="6464"/>
                </a:lnTo>
                <a:lnTo>
                  <a:pt x="43027" y="15392"/>
                </a:lnTo>
                <a:lnTo>
                  <a:pt x="10922" y="58204"/>
                </a:lnTo>
                <a:lnTo>
                  <a:pt x="1219" y="96431"/>
                </a:lnTo>
                <a:lnTo>
                  <a:pt x="0" y="118008"/>
                </a:lnTo>
                <a:lnTo>
                  <a:pt x="1219" y="139623"/>
                </a:lnTo>
                <a:lnTo>
                  <a:pt x="10883" y="177850"/>
                </a:lnTo>
                <a:lnTo>
                  <a:pt x="42951" y="220522"/>
                </a:lnTo>
                <a:lnTo>
                  <a:pt x="75044" y="235585"/>
                </a:lnTo>
                <a:lnTo>
                  <a:pt x="78016" y="226034"/>
                </a:lnTo>
                <a:lnTo>
                  <a:pt x="64604" y="220091"/>
                </a:lnTo>
                <a:lnTo>
                  <a:pt x="53035" y="211823"/>
                </a:lnTo>
                <a:lnTo>
                  <a:pt x="29311" y="173291"/>
                </a:lnTo>
                <a:lnTo>
                  <a:pt x="21463" y="116763"/>
                </a:lnTo>
                <a:lnTo>
                  <a:pt x="22326" y="96697"/>
                </a:lnTo>
                <a:lnTo>
                  <a:pt x="35407" y="47129"/>
                </a:lnTo>
                <a:lnTo>
                  <a:pt x="64820" y="15760"/>
                </a:lnTo>
                <a:lnTo>
                  <a:pt x="78384" y="9855"/>
                </a:lnTo>
                <a:close/>
              </a:path>
              <a:path w="1600200" h="236220">
                <a:moveTo>
                  <a:pt x="422275" y="0"/>
                </a:moveTo>
                <a:lnTo>
                  <a:pt x="366953" y="0"/>
                </a:lnTo>
                <a:lnTo>
                  <a:pt x="366953" y="8890"/>
                </a:lnTo>
                <a:lnTo>
                  <a:pt x="366953" y="226060"/>
                </a:lnTo>
                <a:lnTo>
                  <a:pt x="366953" y="236220"/>
                </a:lnTo>
                <a:lnTo>
                  <a:pt x="422275" y="236220"/>
                </a:lnTo>
                <a:lnTo>
                  <a:pt x="422275" y="226060"/>
                </a:lnTo>
                <a:lnTo>
                  <a:pt x="387540" y="226060"/>
                </a:lnTo>
                <a:lnTo>
                  <a:pt x="387540" y="8890"/>
                </a:lnTo>
                <a:lnTo>
                  <a:pt x="422275" y="8890"/>
                </a:lnTo>
                <a:lnTo>
                  <a:pt x="422275" y="0"/>
                </a:lnTo>
                <a:close/>
              </a:path>
              <a:path w="1600200" h="236220">
                <a:moveTo>
                  <a:pt x="661708" y="0"/>
                </a:moveTo>
                <a:lnTo>
                  <a:pt x="606386" y="0"/>
                </a:lnTo>
                <a:lnTo>
                  <a:pt x="606386" y="8890"/>
                </a:lnTo>
                <a:lnTo>
                  <a:pt x="641121" y="8890"/>
                </a:lnTo>
                <a:lnTo>
                  <a:pt x="641121" y="226060"/>
                </a:lnTo>
                <a:lnTo>
                  <a:pt x="606386" y="226060"/>
                </a:lnTo>
                <a:lnTo>
                  <a:pt x="606386" y="236220"/>
                </a:lnTo>
                <a:lnTo>
                  <a:pt x="661708" y="236220"/>
                </a:lnTo>
                <a:lnTo>
                  <a:pt x="661708" y="226060"/>
                </a:lnTo>
                <a:lnTo>
                  <a:pt x="661708" y="8890"/>
                </a:lnTo>
                <a:lnTo>
                  <a:pt x="661708" y="0"/>
                </a:lnTo>
                <a:close/>
              </a:path>
              <a:path w="1600200" h="236220">
                <a:moveTo>
                  <a:pt x="1599946" y="118008"/>
                </a:moveTo>
                <a:lnTo>
                  <a:pt x="1595094" y="76504"/>
                </a:lnTo>
                <a:lnTo>
                  <a:pt x="1569783" y="27089"/>
                </a:lnTo>
                <a:lnTo>
                  <a:pt x="1524914" y="304"/>
                </a:lnTo>
                <a:lnTo>
                  <a:pt x="1521574" y="9855"/>
                </a:lnTo>
                <a:lnTo>
                  <a:pt x="1535188" y="15760"/>
                </a:lnTo>
                <a:lnTo>
                  <a:pt x="1546898" y="23952"/>
                </a:lnTo>
                <a:lnTo>
                  <a:pt x="1570685" y="61874"/>
                </a:lnTo>
                <a:lnTo>
                  <a:pt x="1578495" y="116763"/>
                </a:lnTo>
                <a:lnTo>
                  <a:pt x="1577619" y="137515"/>
                </a:lnTo>
                <a:lnTo>
                  <a:pt x="1564538" y="188328"/>
                </a:lnTo>
                <a:lnTo>
                  <a:pt x="1535341" y="220091"/>
                </a:lnTo>
                <a:lnTo>
                  <a:pt x="1521942" y="226034"/>
                </a:lnTo>
                <a:lnTo>
                  <a:pt x="1524914" y="235585"/>
                </a:lnTo>
                <a:lnTo>
                  <a:pt x="1569872" y="208876"/>
                </a:lnTo>
                <a:lnTo>
                  <a:pt x="1595120" y="159562"/>
                </a:lnTo>
                <a:lnTo>
                  <a:pt x="1598739" y="139623"/>
                </a:lnTo>
                <a:lnTo>
                  <a:pt x="1599946" y="118008"/>
                </a:lnTo>
                <a:close/>
              </a:path>
            </a:pathLst>
          </a:custGeom>
          <a:solidFill>
            <a:srgbClr val="FF0000"/>
          </a:solidFill>
        </p:spPr>
        <p:txBody>
          <a:bodyPr wrap="square" lIns="0" tIns="0" rIns="0" bIns="0" rtlCol="0"/>
          <a:lstStyle/>
          <a:p>
            <a:endParaRPr/>
          </a:p>
        </p:txBody>
      </p:sp>
      <p:sp>
        <p:nvSpPr>
          <p:cNvPr id="6" name="object 6"/>
          <p:cNvSpPr/>
          <p:nvPr/>
        </p:nvSpPr>
        <p:spPr>
          <a:xfrm>
            <a:off x="2386380" y="5303520"/>
            <a:ext cx="55880" cy="236220"/>
          </a:xfrm>
          <a:custGeom>
            <a:avLst/>
            <a:gdLst/>
            <a:ahLst/>
            <a:cxnLst/>
            <a:rect l="l" t="t" r="r" b="b"/>
            <a:pathLst>
              <a:path w="55880" h="236220">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FF0000"/>
          </a:solidFill>
        </p:spPr>
        <p:txBody>
          <a:bodyPr wrap="square" lIns="0" tIns="0" rIns="0" bIns="0" rtlCol="0"/>
          <a:lstStyle/>
          <a:p>
            <a:endParaRPr/>
          </a:p>
        </p:txBody>
      </p:sp>
      <p:sp>
        <p:nvSpPr>
          <p:cNvPr id="7" name="object 7"/>
          <p:cNvSpPr/>
          <p:nvPr/>
        </p:nvSpPr>
        <p:spPr>
          <a:xfrm>
            <a:off x="2146947" y="5303520"/>
            <a:ext cx="55880" cy="236220"/>
          </a:xfrm>
          <a:custGeom>
            <a:avLst/>
            <a:gdLst/>
            <a:ahLst/>
            <a:cxnLst/>
            <a:rect l="l" t="t" r="r" b="b"/>
            <a:pathLst>
              <a:path w="55880" h="236220">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FF0000"/>
          </a:solidFill>
        </p:spPr>
        <p:txBody>
          <a:bodyPr wrap="square" lIns="0" tIns="0" rIns="0" bIns="0" rtlCol="0"/>
          <a:lstStyle/>
          <a:p>
            <a:endParaRPr/>
          </a:p>
        </p:txBody>
      </p:sp>
      <p:sp>
        <p:nvSpPr>
          <p:cNvPr id="8" name="object 8"/>
          <p:cNvSpPr txBox="1"/>
          <p:nvPr/>
        </p:nvSpPr>
        <p:spPr>
          <a:xfrm>
            <a:off x="694690" y="1590547"/>
            <a:ext cx="7220584" cy="4056380"/>
          </a:xfrm>
          <a:prstGeom prst="rect">
            <a:avLst/>
          </a:prstGeom>
        </p:spPr>
        <p:txBody>
          <a:bodyPr vert="horz" wrap="square" lIns="0" tIns="12700" rIns="0" bIns="0" rtlCol="0">
            <a:spAutoFit/>
          </a:bodyPr>
          <a:lstStyle/>
          <a:p>
            <a:pPr marL="255270" marR="138430" indent="-230505">
              <a:lnSpc>
                <a:spcPct val="118000"/>
              </a:lnSpc>
              <a:spcBef>
                <a:spcPts val="100"/>
              </a:spcBef>
              <a:buFont typeface="Arial MT"/>
              <a:buChar char="•"/>
              <a:tabLst>
                <a:tab pos="255270" algn="l"/>
              </a:tabLst>
            </a:pPr>
            <a:r>
              <a:rPr sz="2400" dirty="0">
                <a:latin typeface="Palatino Linotype" panose="02040502050505030304"/>
                <a:cs typeface="Palatino Linotype" panose="02040502050505030304"/>
              </a:rPr>
              <a:t>The</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reaching</a:t>
            </a:r>
            <a:r>
              <a:rPr sz="2400" spc="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definitions</a:t>
            </a:r>
            <a:r>
              <a:rPr sz="240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problem</a:t>
            </a:r>
            <a:r>
              <a:rPr sz="2400" spc="1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is </a:t>
            </a:r>
            <a:r>
              <a:rPr sz="2400" spc="-5" dirty="0">
                <a:latin typeface="Palatino Linotype" panose="02040502050505030304"/>
                <a:cs typeface="Palatino Linotype" panose="02040502050505030304"/>
              </a:rPr>
              <a:t>defined</a:t>
            </a:r>
            <a:r>
              <a:rPr sz="240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by</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the </a:t>
            </a:r>
            <a:r>
              <a:rPr sz="2400" spc="-58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following </a:t>
            </a:r>
            <a:r>
              <a:rPr sz="2400" dirty="0">
                <a:latin typeface="Palatino Linotype" panose="02040502050505030304"/>
                <a:cs typeface="Palatino Linotype" panose="02040502050505030304"/>
              </a:rPr>
              <a:t>equations:</a:t>
            </a:r>
          </a:p>
          <a:p>
            <a:pPr marL="711200" lvl="1" indent="-228600">
              <a:lnSpc>
                <a:spcPct val="100000"/>
              </a:lnSpc>
              <a:spcBef>
                <a:spcPts val="2405"/>
              </a:spcBef>
              <a:buFont typeface="Wingdings" panose="05000000000000000000"/>
              <a:buChar char=""/>
              <a:tabLst>
                <a:tab pos="711200" algn="l"/>
                <a:tab pos="5168900" algn="l"/>
                <a:tab pos="5516245" algn="l"/>
              </a:tabLst>
            </a:pPr>
            <a:r>
              <a:rPr sz="2200" spc="-5" dirty="0">
                <a:latin typeface="Palatino Linotype" panose="02040502050505030304"/>
                <a:cs typeface="Palatino Linotype" panose="02040502050505030304"/>
              </a:rPr>
              <a:t>For</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5"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ENTRY</a:t>
            </a:r>
            <a:r>
              <a:rPr sz="2200" spc="-4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block:</a:t>
            </a:r>
            <a:r>
              <a:rPr sz="2200" spc="10" dirty="0">
                <a:latin typeface="Palatino Linotype" panose="02040502050505030304"/>
                <a:cs typeface="Palatino Linotype" panose="02040502050505030304"/>
              </a:rPr>
              <a:t> </a:t>
            </a:r>
            <a:r>
              <a:rPr sz="2200" spc="-15" dirty="0">
                <a:solidFill>
                  <a:srgbClr val="FF0000"/>
                </a:solidFill>
                <a:latin typeface="Cambria Math" panose="02040503050406030204"/>
                <a:cs typeface="Cambria Math" panose="02040503050406030204"/>
              </a:rPr>
              <a:t>OUT[ENTRY]	</a:t>
            </a:r>
            <a:r>
              <a:rPr sz="2200" dirty="0">
                <a:solidFill>
                  <a:srgbClr val="FF0000"/>
                </a:solidFill>
                <a:latin typeface="Cambria Math" panose="02040503050406030204"/>
                <a:cs typeface="Cambria Math" panose="02040503050406030204"/>
              </a:rPr>
              <a:t>=	∅</a:t>
            </a:r>
            <a:endParaRPr sz="2200" dirty="0">
              <a:latin typeface="Cambria Math" panose="02040503050406030204"/>
              <a:cs typeface="Cambria Math" panose="02040503050406030204"/>
            </a:endParaRPr>
          </a:p>
          <a:p>
            <a:pPr marL="939165">
              <a:lnSpc>
                <a:spcPct val="100000"/>
              </a:lnSpc>
              <a:spcBef>
                <a:spcPts val="2265"/>
              </a:spcBef>
            </a:pPr>
            <a:r>
              <a:rPr sz="2000" dirty="0">
                <a:latin typeface="Courier New" panose="02070309020205020404"/>
                <a:cs typeface="Courier New" panose="02070309020205020404"/>
              </a:rPr>
              <a:t>o</a:t>
            </a:r>
            <a:r>
              <a:rPr sz="2000" spc="-605" dirty="0">
                <a:latin typeface="Courier New" panose="02070309020205020404"/>
                <a:cs typeface="Courier New" panose="02070309020205020404"/>
              </a:rPr>
              <a:t> </a:t>
            </a:r>
            <a:r>
              <a:rPr sz="2000" spc="-5" dirty="0">
                <a:latin typeface="Palatino Linotype" panose="02040502050505030304"/>
                <a:cs typeface="Palatino Linotype" panose="02040502050505030304"/>
              </a:rPr>
              <a:t>Since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no definitions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beginning </a:t>
            </a:r>
            <a:r>
              <a:rPr sz="2000" spc="-5" dirty="0">
                <a:latin typeface="Palatino Linotype" panose="02040502050505030304"/>
                <a:cs typeface="Palatino Linotype" panose="02040502050505030304"/>
              </a:rPr>
              <a:t>of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program</a:t>
            </a:r>
            <a:endParaRPr sz="2000" dirty="0">
              <a:latin typeface="Palatino Linotype" panose="02040502050505030304"/>
              <a:cs typeface="Palatino Linotype" panose="02040502050505030304"/>
            </a:endParaRPr>
          </a:p>
          <a:p>
            <a:pPr marL="711200" lvl="1" indent="-228600">
              <a:lnSpc>
                <a:spcPct val="100000"/>
              </a:lnSpc>
              <a:spcBef>
                <a:spcPts val="2295"/>
              </a:spcBef>
              <a:buFont typeface="Wingdings" panose="05000000000000000000"/>
              <a:buChar char=""/>
              <a:tabLst>
                <a:tab pos="711200" algn="l"/>
              </a:tabLst>
            </a:pPr>
            <a:r>
              <a:rPr sz="2200" spc="-5" dirty="0">
                <a:latin typeface="Palatino Linotype" panose="02040502050505030304"/>
                <a:cs typeface="Palatino Linotype" panose="02040502050505030304"/>
              </a:rPr>
              <a:t>For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all</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basic blocks</a:t>
            </a:r>
            <a:r>
              <a:rPr sz="220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B</a:t>
            </a:r>
            <a:r>
              <a:rPr sz="2200" i="1"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other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than</a:t>
            </a:r>
            <a:r>
              <a:rPr sz="2200" spc="-15" dirty="0">
                <a:latin typeface="Palatino Linotype" panose="02040502050505030304"/>
                <a:cs typeface="Palatino Linotype" panose="02040502050505030304"/>
              </a:rPr>
              <a:t> </a:t>
            </a:r>
            <a:r>
              <a:rPr sz="2200" spc="-30" dirty="0">
                <a:latin typeface="Palatino Linotype" panose="02040502050505030304"/>
                <a:cs typeface="Palatino Linotype" panose="02040502050505030304"/>
              </a:rPr>
              <a:t>ENTRY:</a:t>
            </a:r>
            <a:endParaRPr sz="2200" dirty="0">
              <a:latin typeface="Palatino Linotype" panose="02040502050505030304"/>
              <a:cs typeface="Palatino Linotype" panose="02040502050505030304"/>
            </a:endParaRPr>
          </a:p>
          <a:p>
            <a:pPr marL="939165">
              <a:lnSpc>
                <a:spcPct val="100000"/>
              </a:lnSpc>
              <a:spcBef>
                <a:spcPts val="2360"/>
              </a:spcBef>
              <a:tabLst>
                <a:tab pos="2072005" algn="l"/>
                <a:tab pos="3293110" algn="l"/>
                <a:tab pos="3956050" algn="l"/>
              </a:tabLst>
            </a:pPr>
            <a:r>
              <a:rPr sz="2000" dirty="0">
                <a:latin typeface="Courier New" panose="02070309020205020404"/>
                <a:cs typeface="Courier New" panose="02070309020205020404"/>
              </a:rPr>
              <a:t>o</a:t>
            </a:r>
            <a:r>
              <a:rPr sz="2000" spc="-605" dirty="0">
                <a:latin typeface="Courier New" panose="02070309020205020404"/>
                <a:cs typeface="Courier New" panose="02070309020205020404"/>
              </a:rPr>
              <a:t> </a:t>
            </a:r>
            <a:r>
              <a:rPr sz="2000" dirty="0">
                <a:solidFill>
                  <a:srgbClr val="FF0000"/>
                </a:solidFill>
                <a:latin typeface="Cambria Math" panose="02040503050406030204"/>
                <a:cs typeface="Cambria Math" panose="02040503050406030204"/>
              </a:rPr>
              <a:t>OUT</a:t>
            </a:r>
            <a:r>
              <a:rPr sz="2000" spc="260" dirty="0">
                <a:solidFill>
                  <a:srgbClr val="FF0000"/>
                </a:solidFill>
                <a:latin typeface="Cambria Math" panose="02040503050406030204"/>
                <a:cs typeface="Cambria Math" panose="02040503050406030204"/>
              </a:rPr>
              <a:t> </a:t>
            </a:r>
            <a:r>
              <a:rPr sz="2000" dirty="0">
                <a:solidFill>
                  <a:srgbClr val="FF0000"/>
                </a:solidFill>
                <a:latin typeface="Cambria Math" panose="02040503050406030204"/>
                <a:cs typeface="Cambria Math" panose="02040503050406030204"/>
              </a:rPr>
              <a:t>𝐵	=</a:t>
            </a:r>
            <a:r>
              <a:rPr sz="2000" spc="125" dirty="0">
                <a:solidFill>
                  <a:srgbClr val="FF0000"/>
                </a:solidFill>
                <a:latin typeface="Cambria Math" panose="02040503050406030204"/>
                <a:cs typeface="Cambria Math" panose="02040503050406030204"/>
              </a:rPr>
              <a:t> </a:t>
            </a:r>
            <a:r>
              <a:rPr sz="2000" spc="5" dirty="0">
                <a:solidFill>
                  <a:srgbClr val="FF0000"/>
                </a:solidFill>
                <a:latin typeface="Cambria Math" panose="02040503050406030204"/>
                <a:cs typeface="Cambria Math" panose="02040503050406030204"/>
              </a:rPr>
              <a:t>𝑔𝑒𝑛</a:t>
            </a:r>
            <a:r>
              <a:rPr sz="2250" spc="7" baseline="-15000" dirty="0">
                <a:solidFill>
                  <a:srgbClr val="FF0000"/>
                </a:solidFill>
                <a:latin typeface="Cambria Math" panose="02040503050406030204"/>
                <a:cs typeface="Cambria Math" panose="02040503050406030204"/>
              </a:rPr>
              <a:t>𝐵</a:t>
            </a:r>
            <a:r>
              <a:rPr sz="2250" spc="307" baseline="-15000" dirty="0">
                <a:solidFill>
                  <a:srgbClr val="FF0000"/>
                </a:solidFill>
                <a:latin typeface="Cambria Math" panose="02040503050406030204"/>
                <a:cs typeface="Cambria Math" panose="02040503050406030204"/>
              </a:rPr>
              <a:t> </a:t>
            </a:r>
            <a:r>
              <a:rPr sz="2000" spc="85" dirty="0">
                <a:solidFill>
                  <a:srgbClr val="FF0000"/>
                </a:solidFill>
                <a:latin typeface="Cambria Math" panose="02040503050406030204"/>
                <a:cs typeface="Cambria Math" panose="02040503050406030204"/>
              </a:rPr>
              <a:t>𝖴	</a:t>
            </a:r>
            <a:r>
              <a:rPr sz="2000" dirty="0">
                <a:solidFill>
                  <a:srgbClr val="FF0000"/>
                </a:solidFill>
                <a:latin typeface="Cambria Math" panose="02040503050406030204"/>
                <a:cs typeface="Cambria Math" panose="02040503050406030204"/>
              </a:rPr>
              <a:t>IN</a:t>
            </a:r>
            <a:r>
              <a:rPr sz="2000" spc="260" dirty="0">
                <a:solidFill>
                  <a:srgbClr val="FF0000"/>
                </a:solidFill>
                <a:latin typeface="Cambria Math" panose="02040503050406030204"/>
                <a:cs typeface="Cambria Math" panose="02040503050406030204"/>
              </a:rPr>
              <a:t> </a:t>
            </a:r>
            <a:r>
              <a:rPr sz="2000" dirty="0">
                <a:solidFill>
                  <a:srgbClr val="FF0000"/>
                </a:solidFill>
                <a:latin typeface="Cambria Math" panose="02040503050406030204"/>
                <a:cs typeface="Cambria Math" panose="02040503050406030204"/>
              </a:rPr>
              <a:t>𝐵	−</a:t>
            </a:r>
            <a:r>
              <a:rPr sz="2000" spc="-30" dirty="0">
                <a:solidFill>
                  <a:srgbClr val="FF0000"/>
                </a:solidFill>
                <a:latin typeface="Cambria Math" panose="02040503050406030204"/>
                <a:cs typeface="Cambria Math" panose="02040503050406030204"/>
              </a:rPr>
              <a:t> </a:t>
            </a:r>
            <a:r>
              <a:rPr sz="2000" spc="5" dirty="0">
                <a:solidFill>
                  <a:srgbClr val="FF0000"/>
                </a:solidFill>
                <a:latin typeface="Cambria Math" panose="02040503050406030204"/>
                <a:cs typeface="Cambria Math" panose="02040503050406030204"/>
              </a:rPr>
              <a:t>𝑘𝑖𝑙𝑙</a:t>
            </a:r>
            <a:r>
              <a:rPr sz="2250" spc="7" baseline="-15000" dirty="0">
                <a:solidFill>
                  <a:srgbClr val="FF0000"/>
                </a:solidFill>
                <a:latin typeface="Cambria Math" panose="02040503050406030204"/>
                <a:cs typeface="Cambria Math" panose="02040503050406030204"/>
              </a:rPr>
              <a:t>𝐵</a:t>
            </a:r>
            <a:endParaRPr sz="2250" baseline="-15000" dirty="0">
              <a:latin typeface="Cambria Math" panose="02040503050406030204"/>
              <a:cs typeface="Cambria Math" panose="02040503050406030204"/>
            </a:endParaRPr>
          </a:p>
          <a:p>
            <a:pPr>
              <a:lnSpc>
                <a:spcPct val="100000"/>
              </a:lnSpc>
            </a:pPr>
            <a:endParaRPr sz="2500" dirty="0">
              <a:latin typeface="Cambria Math" panose="02040503050406030204"/>
              <a:cs typeface="Cambria Math" panose="02040503050406030204"/>
            </a:endParaRPr>
          </a:p>
          <a:p>
            <a:pPr marL="939165">
              <a:lnSpc>
                <a:spcPct val="100000"/>
              </a:lnSpc>
              <a:tabLst>
                <a:tab pos="1845310" algn="l"/>
              </a:tabLst>
            </a:pPr>
            <a:r>
              <a:rPr sz="3000" baseline="15000" dirty="0">
                <a:latin typeface="Courier New" panose="02070309020205020404"/>
                <a:cs typeface="Courier New" panose="02070309020205020404"/>
              </a:rPr>
              <a:t>o</a:t>
            </a:r>
            <a:r>
              <a:rPr sz="3000" spc="-907" baseline="15000" dirty="0">
                <a:latin typeface="Courier New" panose="02070309020205020404"/>
                <a:cs typeface="Courier New" panose="02070309020205020404"/>
              </a:rPr>
              <a:t> </a:t>
            </a:r>
            <a:r>
              <a:rPr sz="3000" baseline="15000" dirty="0">
                <a:solidFill>
                  <a:srgbClr val="FF0000"/>
                </a:solidFill>
                <a:latin typeface="Cambria Math" panose="02040503050406030204"/>
                <a:cs typeface="Cambria Math" panose="02040503050406030204"/>
              </a:rPr>
              <a:t>IN </a:t>
            </a:r>
            <a:r>
              <a:rPr sz="3000" spc="-270" baseline="15000" dirty="0">
                <a:solidFill>
                  <a:srgbClr val="FF0000"/>
                </a:solidFill>
                <a:latin typeface="Cambria Math" panose="02040503050406030204"/>
                <a:cs typeface="Cambria Math" panose="02040503050406030204"/>
              </a:rPr>
              <a:t> </a:t>
            </a:r>
            <a:r>
              <a:rPr lang="en-US" sz="3000" spc="-270" baseline="15000" dirty="0">
                <a:solidFill>
                  <a:srgbClr val="FF0000"/>
                </a:solidFill>
                <a:latin typeface="Cambria Math" panose="02040503050406030204"/>
                <a:cs typeface="Cambria Math" panose="02040503050406030204"/>
              </a:rPr>
              <a:t> </a:t>
            </a:r>
            <a:r>
              <a:rPr lang="zh-CN" altLang="en-US" sz="3000" baseline="15000" dirty="0">
                <a:solidFill>
                  <a:srgbClr val="FF0000"/>
                </a:solidFill>
                <a:latin typeface="Cambria Math" panose="02040503050406030204"/>
                <a:cs typeface="Cambria Math" panose="02040503050406030204"/>
              </a:rPr>
              <a:t>𝐵</a:t>
            </a:r>
            <a:r>
              <a:rPr sz="3000" baseline="15000" dirty="0">
                <a:solidFill>
                  <a:srgbClr val="FF0000"/>
                </a:solidFill>
                <a:latin typeface="Cambria Math" panose="02040503050406030204"/>
                <a:cs typeface="Cambria Math" panose="02040503050406030204"/>
              </a:rPr>
              <a:t>	=</a:t>
            </a:r>
            <a:r>
              <a:rPr sz="3000" spc="179" baseline="15000" dirty="0">
                <a:solidFill>
                  <a:srgbClr val="FF0000"/>
                </a:solidFill>
                <a:latin typeface="Cambria Math" panose="02040503050406030204"/>
                <a:cs typeface="Cambria Math" panose="02040503050406030204"/>
              </a:rPr>
              <a:t> </a:t>
            </a:r>
            <a:r>
              <a:rPr sz="3000" baseline="13000" dirty="0">
                <a:solidFill>
                  <a:srgbClr val="FF0000"/>
                </a:solidFill>
                <a:latin typeface="Cambria Math" panose="02040503050406030204"/>
                <a:cs typeface="Cambria Math" panose="02040503050406030204"/>
              </a:rPr>
              <a:t>⋃</a:t>
            </a:r>
            <a:r>
              <a:rPr sz="1500" spc="60" dirty="0">
                <a:solidFill>
                  <a:srgbClr val="FF0000"/>
                </a:solidFill>
                <a:latin typeface="Cambria Math" panose="02040503050406030204"/>
                <a:cs typeface="Cambria Math" panose="02040503050406030204"/>
              </a:rPr>
              <a:t>𝑃</a:t>
            </a:r>
            <a:r>
              <a:rPr sz="1500" spc="5" dirty="0">
                <a:solidFill>
                  <a:srgbClr val="FF0000"/>
                </a:solidFill>
                <a:latin typeface="Cambria Math" panose="02040503050406030204"/>
                <a:cs typeface="Cambria Math" panose="02040503050406030204"/>
              </a:rPr>
              <a:t> </a:t>
            </a:r>
            <a:r>
              <a:rPr sz="1500" spc="95" dirty="0">
                <a:solidFill>
                  <a:srgbClr val="FF0000"/>
                </a:solidFill>
                <a:latin typeface="Cambria Math" panose="02040503050406030204"/>
                <a:cs typeface="Cambria Math" panose="02040503050406030204"/>
              </a:rPr>
              <a:t>a</a:t>
            </a:r>
            <a:r>
              <a:rPr lang="en-US" altLang="zh-CN" sz="1500" spc="95" dirty="0">
                <a:solidFill>
                  <a:srgbClr val="FF0000"/>
                </a:solidFill>
                <a:latin typeface="Cambria Math" panose="02040503050406030204"/>
                <a:cs typeface="Cambria Math" panose="02040503050406030204"/>
              </a:rPr>
              <a:t> </a:t>
            </a:r>
            <a:r>
              <a:rPr lang="en-US" sz="1500" spc="-25" dirty="0">
                <a:solidFill>
                  <a:srgbClr val="FF0000"/>
                </a:solidFill>
                <a:latin typeface="Cambria Math" panose="02040503050406030204"/>
                <a:cs typeface="Cambria Math" panose="02040503050406030204"/>
              </a:rPr>
              <a:t>pr</a:t>
            </a:r>
            <a:r>
              <a:rPr lang="en-US" altLang="zh-CN" sz="1500" spc="-25" dirty="0">
                <a:solidFill>
                  <a:srgbClr val="FF0000"/>
                </a:solidFill>
                <a:latin typeface="Cambria Math" panose="02040503050406030204"/>
                <a:cs typeface="Cambria Math" panose="02040503050406030204"/>
              </a:rPr>
              <a:t>ede</a:t>
            </a:r>
            <a:r>
              <a:rPr lang="en-US" sz="1500" spc="-25" dirty="0">
                <a:solidFill>
                  <a:srgbClr val="FF0000"/>
                </a:solidFill>
                <a:latin typeface="Cambria Math" panose="02040503050406030204"/>
                <a:cs typeface="Cambria Math" panose="02040503050406030204"/>
              </a:rPr>
              <a:t>cessor of</a:t>
            </a:r>
            <a:r>
              <a:rPr sz="1500" spc="-25" dirty="0">
                <a:solidFill>
                  <a:srgbClr val="FF0000"/>
                </a:solidFill>
                <a:latin typeface="Cambria Math" panose="02040503050406030204"/>
                <a:cs typeface="Cambria Math" panose="02040503050406030204"/>
              </a:rPr>
              <a:t> </a:t>
            </a:r>
            <a:r>
              <a:rPr sz="1500" spc="50" dirty="0">
                <a:solidFill>
                  <a:srgbClr val="FF0000"/>
                </a:solidFill>
                <a:latin typeface="Cambria Math" panose="02040503050406030204"/>
                <a:cs typeface="Cambria Math" panose="02040503050406030204"/>
              </a:rPr>
              <a:t>𝐵</a:t>
            </a:r>
            <a:r>
              <a:rPr sz="1500" spc="10" dirty="0">
                <a:solidFill>
                  <a:srgbClr val="FF0000"/>
                </a:solidFill>
                <a:latin typeface="Cambria Math" panose="02040503050406030204"/>
                <a:cs typeface="Cambria Math" panose="02040503050406030204"/>
              </a:rPr>
              <a:t> </a:t>
            </a:r>
            <a:r>
              <a:rPr sz="3000" spc="7" baseline="15000" dirty="0">
                <a:solidFill>
                  <a:srgbClr val="FF0000"/>
                </a:solidFill>
                <a:latin typeface="Cambria Math" panose="02040503050406030204"/>
                <a:cs typeface="Cambria Math" panose="02040503050406030204"/>
              </a:rPr>
              <a:t>O</a:t>
            </a:r>
            <a:r>
              <a:rPr sz="3000" baseline="15000" dirty="0">
                <a:solidFill>
                  <a:srgbClr val="FF0000"/>
                </a:solidFill>
                <a:latin typeface="Cambria Math" panose="02040503050406030204"/>
                <a:cs typeface="Cambria Math" panose="02040503050406030204"/>
              </a:rPr>
              <a:t>UT</a:t>
            </a:r>
            <a:r>
              <a:rPr sz="3000" spc="-7" baseline="15000" dirty="0">
                <a:solidFill>
                  <a:srgbClr val="FF0000"/>
                </a:solidFill>
                <a:latin typeface="Cambria Math" panose="02040503050406030204"/>
                <a:cs typeface="Cambria Math" panose="02040503050406030204"/>
              </a:rPr>
              <a:t>[</a:t>
            </a:r>
            <a:r>
              <a:rPr sz="3000" spc="67" baseline="15000" dirty="0">
                <a:solidFill>
                  <a:srgbClr val="FF0000"/>
                </a:solidFill>
                <a:latin typeface="Cambria Math" panose="02040503050406030204"/>
                <a:cs typeface="Cambria Math" panose="02040503050406030204"/>
              </a:rPr>
              <a:t>𝑃</a:t>
            </a:r>
            <a:r>
              <a:rPr sz="3000" baseline="15000" dirty="0">
                <a:solidFill>
                  <a:srgbClr val="FF0000"/>
                </a:solidFill>
                <a:latin typeface="Cambria Math" panose="02040503050406030204"/>
                <a:cs typeface="Cambria Math" panose="02040503050406030204"/>
              </a:rPr>
              <a:t>]</a:t>
            </a:r>
            <a:endParaRPr sz="3000" baseline="15000" dirty="0">
              <a:latin typeface="Cambria Math" panose="02040503050406030204"/>
              <a:cs typeface="Cambria Math" panose="02040503050406030204"/>
            </a:endParaRPr>
          </a:p>
        </p:txBody>
      </p:sp>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47</a:t>
            </a:fld>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56260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30" dirty="0"/>
              <a:t> </a:t>
            </a:r>
            <a:r>
              <a:rPr sz="4000" dirty="0"/>
              <a:t>Iterative</a:t>
            </a:r>
            <a:r>
              <a:rPr sz="4000" spc="-25" dirty="0"/>
              <a:t> </a:t>
            </a:r>
            <a:r>
              <a:rPr sz="4000" dirty="0"/>
              <a:t>Algorithm</a:t>
            </a:r>
            <a:endParaRPr sz="4000"/>
          </a:p>
        </p:txBody>
      </p:sp>
      <p:sp>
        <p:nvSpPr>
          <p:cNvPr id="3" name="object 3"/>
          <p:cNvSpPr/>
          <p:nvPr/>
        </p:nvSpPr>
        <p:spPr>
          <a:xfrm>
            <a:off x="2745079" y="2852419"/>
            <a:ext cx="66675" cy="283210"/>
          </a:xfrm>
          <a:custGeom>
            <a:avLst/>
            <a:gdLst/>
            <a:ahLst/>
            <a:cxnLst/>
            <a:rect l="l" t="t" r="r" b="b"/>
            <a:pathLst>
              <a:path w="66675" h="283210">
                <a:moveTo>
                  <a:pt x="66382" y="0"/>
                </a:moveTo>
                <a:lnTo>
                  <a:pt x="0" y="0"/>
                </a:lnTo>
                <a:lnTo>
                  <a:pt x="0" y="11430"/>
                </a:lnTo>
                <a:lnTo>
                  <a:pt x="41681" y="11430"/>
                </a:lnTo>
                <a:lnTo>
                  <a:pt x="41681" y="271780"/>
                </a:lnTo>
                <a:lnTo>
                  <a:pt x="0" y="271780"/>
                </a:lnTo>
                <a:lnTo>
                  <a:pt x="0" y="283210"/>
                </a:lnTo>
                <a:lnTo>
                  <a:pt x="66382" y="283210"/>
                </a:lnTo>
                <a:lnTo>
                  <a:pt x="66382" y="271780"/>
                </a:lnTo>
                <a:lnTo>
                  <a:pt x="66382" y="11430"/>
                </a:lnTo>
                <a:lnTo>
                  <a:pt x="66382" y="0"/>
                </a:lnTo>
                <a:close/>
              </a:path>
            </a:pathLst>
          </a:custGeom>
          <a:solidFill>
            <a:srgbClr val="000000"/>
          </a:solidFill>
        </p:spPr>
        <p:txBody>
          <a:bodyPr wrap="square" lIns="0" tIns="0" rIns="0" bIns="0" rtlCol="0"/>
          <a:lstStyle/>
          <a:p>
            <a:endParaRPr/>
          </a:p>
        </p:txBody>
      </p:sp>
      <p:sp>
        <p:nvSpPr>
          <p:cNvPr id="4" name="object 4"/>
          <p:cNvSpPr/>
          <p:nvPr/>
        </p:nvSpPr>
        <p:spPr>
          <a:xfrm>
            <a:off x="2457716" y="2852419"/>
            <a:ext cx="66675" cy="283210"/>
          </a:xfrm>
          <a:custGeom>
            <a:avLst/>
            <a:gdLst/>
            <a:ahLst/>
            <a:cxnLst/>
            <a:rect l="l" t="t" r="r" b="b"/>
            <a:pathLst>
              <a:path w="66675" h="283210">
                <a:moveTo>
                  <a:pt x="66382" y="0"/>
                </a:moveTo>
                <a:lnTo>
                  <a:pt x="0" y="0"/>
                </a:lnTo>
                <a:lnTo>
                  <a:pt x="0" y="11430"/>
                </a:lnTo>
                <a:lnTo>
                  <a:pt x="0" y="271780"/>
                </a:lnTo>
                <a:lnTo>
                  <a:pt x="0" y="283210"/>
                </a:lnTo>
                <a:lnTo>
                  <a:pt x="66382" y="283210"/>
                </a:lnTo>
                <a:lnTo>
                  <a:pt x="66382" y="271780"/>
                </a:lnTo>
                <a:lnTo>
                  <a:pt x="24714" y="271780"/>
                </a:lnTo>
                <a:lnTo>
                  <a:pt x="24714" y="11430"/>
                </a:lnTo>
                <a:lnTo>
                  <a:pt x="66382" y="11430"/>
                </a:lnTo>
                <a:lnTo>
                  <a:pt x="66382" y="0"/>
                </a:lnTo>
                <a:close/>
              </a:path>
            </a:pathLst>
          </a:custGeom>
          <a:solidFill>
            <a:srgbClr val="000000"/>
          </a:solidFill>
        </p:spPr>
        <p:txBody>
          <a:bodyPr wrap="square" lIns="0" tIns="0" rIns="0" bIns="0" rtlCol="0"/>
          <a:lstStyle/>
          <a:p>
            <a:endParaRPr/>
          </a:p>
        </p:txBody>
      </p:sp>
      <p:sp>
        <p:nvSpPr>
          <p:cNvPr id="5" name="object 5"/>
          <p:cNvSpPr/>
          <p:nvPr/>
        </p:nvSpPr>
        <p:spPr>
          <a:xfrm>
            <a:off x="4411256" y="2852419"/>
            <a:ext cx="66675" cy="283210"/>
          </a:xfrm>
          <a:custGeom>
            <a:avLst/>
            <a:gdLst/>
            <a:ahLst/>
            <a:cxnLst/>
            <a:rect l="l" t="t" r="r" b="b"/>
            <a:pathLst>
              <a:path w="66675" h="283210">
                <a:moveTo>
                  <a:pt x="66382" y="0"/>
                </a:moveTo>
                <a:lnTo>
                  <a:pt x="0" y="0"/>
                </a:lnTo>
                <a:lnTo>
                  <a:pt x="0" y="11430"/>
                </a:lnTo>
                <a:lnTo>
                  <a:pt x="41681" y="11430"/>
                </a:lnTo>
                <a:lnTo>
                  <a:pt x="41681" y="271780"/>
                </a:lnTo>
                <a:lnTo>
                  <a:pt x="0" y="271780"/>
                </a:lnTo>
                <a:lnTo>
                  <a:pt x="0" y="283210"/>
                </a:lnTo>
                <a:lnTo>
                  <a:pt x="66382" y="283210"/>
                </a:lnTo>
                <a:lnTo>
                  <a:pt x="66382" y="271780"/>
                </a:lnTo>
                <a:lnTo>
                  <a:pt x="66382" y="11430"/>
                </a:lnTo>
                <a:lnTo>
                  <a:pt x="66382" y="0"/>
                </a:lnTo>
                <a:close/>
              </a:path>
            </a:pathLst>
          </a:custGeom>
          <a:solidFill>
            <a:srgbClr val="000000"/>
          </a:solidFill>
        </p:spPr>
        <p:txBody>
          <a:bodyPr wrap="square" lIns="0" tIns="0" rIns="0" bIns="0" rtlCol="0"/>
          <a:lstStyle/>
          <a:p>
            <a:endParaRPr/>
          </a:p>
        </p:txBody>
      </p:sp>
      <p:sp>
        <p:nvSpPr>
          <p:cNvPr id="6" name="object 6"/>
          <p:cNvSpPr/>
          <p:nvPr/>
        </p:nvSpPr>
        <p:spPr>
          <a:xfrm>
            <a:off x="4123893" y="2852419"/>
            <a:ext cx="66675" cy="283210"/>
          </a:xfrm>
          <a:custGeom>
            <a:avLst/>
            <a:gdLst/>
            <a:ahLst/>
            <a:cxnLst/>
            <a:rect l="l" t="t" r="r" b="b"/>
            <a:pathLst>
              <a:path w="66675" h="283210">
                <a:moveTo>
                  <a:pt x="66382" y="0"/>
                </a:moveTo>
                <a:lnTo>
                  <a:pt x="0" y="0"/>
                </a:lnTo>
                <a:lnTo>
                  <a:pt x="0" y="11430"/>
                </a:lnTo>
                <a:lnTo>
                  <a:pt x="0" y="271780"/>
                </a:lnTo>
                <a:lnTo>
                  <a:pt x="0" y="283210"/>
                </a:lnTo>
                <a:lnTo>
                  <a:pt x="66382" y="283210"/>
                </a:lnTo>
                <a:lnTo>
                  <a:pt x="66382" y="271780"/>
                </a:lnTo>
                <a:lnTo>
                  <a:pt x="24714" y="271780"/>
                </a:lnTo>
                <a:lnTo>
                  <a:pt x="24714" y="11430"/>
                </a:lnTo>
                <a:lnTo>
                  <a:pt x="66382" y="11430"/>
                </a:lnTo>
                <a:lnTo>
                  <a:pt x="66382" y="0"/>
                </a:lnTo>
                <a:close/>
              </a:path>
            </a:pathLst>
          </a:custGeom>
          <a:solidFill>
            <a:srgbClr val="000000"/>
          </a:solidFill>
        </p:spPr>
        <p:txBody>
          <a:bodyPr wrap="square" lIns="0" tIns="0" rIns="0" bIns="0" rtlCol="0"/>
          <a:lstStyle/>
          <a:p>
            <a:endParaRPr/>
          </a:p>
        </p:txBody>
      </p:sp>
      <p:sp>
        <p:nvSpPr>
          <p:cNvPr id="7" name="object 7"/>
          <p:cNvSpPr txBox="1"/>
          <p:nvPr/>
        </p:nvSpPr>
        <p:spPr>
          <a:xfrm>
            <a:off x="694690" y="1590547"/>
            <a:ext cx="7578090" cy="1564640"/>
          </a:xfrm>
          <a:prstGeom prst="rect">
            <a:avLst/>
          </a:prstGeom>
        </p:spPr>
        <p:txBody>
          <a:bodyPr vert="horz" wrap="square" lIns="0" tIns="12700" rIns="0" bIns="0" rtlCol="0">
            <a:spAutoFit/>
          </a:bodyPr>
          <a:lstStyle/>
          <a:p>
            <a:pPr marL="255270" marR="17780" indent="-230505">
              <a:lnSpc>
                <a:spcPct val="118000"/>
              </a:lnSpc>
              <a:spcBef>
                <a:spcPts val="100"/>
              </a:spcBef>
              <a:buClr>
                <a:srgbClr val="000000"/>
              </a:buClr>
              <a:buFont typeface="Arial MT"/>
              <a:buChar char="•"/>
              <a:tabLst>
                <a:tab pos="255270" algn="l"/>
              </a:tabLst>
            </a:pPr>
            <a:r>
              <a:rPr sz="2400" b="1" spc="-5" dirty="0">
                <a:solidFill>
                  <a:srgbClr val="0432FF"/>
                </a:solidFill>
                <a:latin typeface="Palatino Linotype" panose="02040502050505030304"/>
                <a:cs typeface="Palatino Linotype" panose="02040502050505030304"/>
              </a:rPr>
              <a:t>Input: </a:t>
            </a:r>
            <a:r>
              <a:rPr sz="2400" dirty="0">
                <a:latin typeface="Palatino Linotype" panose="02040502050505030304"/>
                <a:cs typeface="Palatino Linotype" panose="02040502050505030304"/>
              </a:rPr>
              <a:t>A flow </a:t>
            </a:r>
            <a:r>
              <a:rPr sz="2400" spc="-5" dirty="0">
                <a:latin typeface="Palatino Linotype" panose="02040502050505030304"/>
                <a:cs typeface="Palatino Linotype" panose="02040502050505030304"/>
              </a:rPr>
              <a:t>graph with </a:t>
            </a:r>
            <a:r>
              <a:rPr sz="2400" dirty="0">
                <a:latin typeface="Cambria Math" panose="02040503050406030204"/>
                <a:cs typeface="Cambria Math" panose="02040503050406030204"/>
              </a:rPr>
              <a:t>𝑘𝑖𝑙𝑙</a:t>
            </a:r>
            <a:r>
              <a:rPr sz="2400" baseline="-17000" dirty="0">
                <a:latin typeface="Cambria Math" panose="02040503050406030204"/>
                <a:cs typeface="Cambria Math" panose="02040503050406030204"/>
              </a:rPr>
              <a:t>𝐵</a:t>
            </a:r>
            <a:r>
              <a:rPr sz="2400" spc="7" baseline="-17000" dirty="0">
                <a:latin typeface="Cambria Math" panose="02040503050406030204"/>
                <a:cs typeface="Cambria Math" panose="02040503050406030204"/>
              </a:rPr>
              <a:t> </a:t>
            </a:r>
            <a:r>
              <a:rPr sz="2400" dirty="0">
                <a:latin typeface="Palatino Linotype" panose="02040502050505030304"/>
                <a:cs typeface="Palatino Linotype" panose="02040502050505030304"/>
              </a:rPr>
              <a:t>and </a:t>
            </a:r>
            <a:r>
              <a:rPr sz="2400" spc="-5" dirty="0">
                <a:latin typeface="Cambria Math" panose="02040503050406030204"/>
                <a:cs typeface="Cambria Math" panose="02040503050406030204"/>
              </a:rPr>
              <a:t>𝑔𝑒𝑛</a:t>
            </a:r>
            <a:r>
              <a:rPr sz="2400" spc="-7" baseline="-17000" dirty="0">
                <a:latin typeface="Cambria Math" panose="02040503050406030204"/>
                <a:cs typeface="Cambria Math" panose="02040503050406030204"/>
              </a:rPr>
              <a:t>𝐵 </a:t>
            </a:r>
            <a:r>
              <a:rPr sz="2400" spc="-5" dirty="0">
                <a:latin typeface="Palatino Linotype" panose="02040502050505030304"/>
                <a:cs typeface="Palatino Linotype" panose="02040502050505030304"/>
              </a:rPr>
              <a:t>computed </a:t>
            </a:r>
            <a:r>
              <a:rPr sz="2400" dirty="0">
                <a:latin typeface="Palatino Linotype" panose="02040502050505030304"/>
                <a:cs typeface="Palatino Linotype" panose="02040502050505030304"/>
              </a:rPr>
              <a:t>for </a:t>
            </a:r>
            <a:r>
              <a:rPr sz="2400" spc="-58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each block</a:t>
            </a:r>
            <a:r>
              <a:rPr sz="2400" dirty="0">
                <a:latin typeface="Palatino Linotype" panose="02040502050505030304"/>
                <a:cs typeface="Palatino Linotype" panose="02040502050505030304"/>
              </a:rPr>
              <a:t> </a:t>
            </a:r>
            <a:r>
              <a:rPr sz="2400" dirty="0">
                <a:latin typeface="Cambria Math" panose="02040503050406030204"/>
                <a:cs typeface="Cambria Math" panose="02040503050406030204"/>
              </a:rPr>
              <a:t>𝐵</a:t>
            </a:r>
            <a:endParaRPr sz="2400">
              <a:latin typeface="Cambria Math" panose="02040503050406030204"/>
              <a:cs typeface="Cambria Math" panose="02040503050406030204"/>
            </a:endParaRPr>
          </a:p>
          <a:p>
            <a:pPr marL="255905" indent="-230505">
              <a:lnSpc>
                <a:spcPct val="100000"/>
              </a:lnSpc>
              <a:spcBef>
                <a:spcPts val="2425"/>
              </a:spcBef>
              <a:buClr>
                <a:srgbClr val="000000"/>
              </a:buClr>
              <a:buFont typeface="Arial MT"/>
              <a:buChar char="•"/>
              <a:tabLst>
                <a:tab pos="255270" algn="l"/>
                <a:tab pos="2226310" algn="l"/>
                <a:tab pos="3892550" algn="l"/>
              </a:tabLst>
            </a:pPr>
            <a:r>
              <a:rPr sz="2400" b="1" spc="-5" dirty="0">
                <a:solidFill>
                  <a:srgbClr val="0432FF"/>
                </a:solidFill>
                <a:latin typeface="Palatino Linotype" panose="02040502050505030304"/>
                <a:cs typeface="Palatino Linotype" panose="02040502050505030304"/>
              </a:rPr>
              <a:t>Output:</a:t>
            </a:r>
            <a:r>
              <a:rPr sz="2400" b="1" spc="5" dirty="0">
                <a:solidFill>
                  <a:srgbClr val="0432FF"/>
                </a:solidFill>
                <a:latin typeface="Palatino Linotype" panose="02040502050505030304"/>
                <a:cs typeface="Palatino Linotype" panose="02040502050505030304"/>
              </a:rPr>
              <a:t> </a:t>
            </a:r>
            <a:r>
              <a:rPr sz="2400" spc="-5" dirty="0">
                <a:latin typeface="Cambria Math" panose="02040503050406030204"/>
                <a:cs typeface="Cambria Math" panose="02040503050406030204"/>
              </a:rPr>
              <a:t>IN</a:t>
            </a:r>
            <a:r>
              <a:rPr sz="2400" spc="320" dirty="0">
                <a:latin typeface="Cambria Math" panose="02040503050406030204"/>
                <a:cs typeface="Cambria Math" panose="02040503050406030204"/>
              </a:rPr>
              <a:t> </a:t>
            </a:r>
            <a:r>
              <a:rPr sz="2400" dirty="0">
                <a:latin typeface="Cambria Math" panose="02040503050406030204"/>
                <a:cs typeface="Cambria Math" panose="02040503050406030204"/>
              </a:rPr>
              <a:t>𝐵	</a:t>
            </a:r>
            <a:r>
              <a:rPr sz="2400" dirty="0">
                <a:latin typeface="Palatino Linotype" panose="02040502050505030304"/>
                <a:cs typeface="Palatino Linotype" panose="02040502050505030304"/>
              </a:rPr>
              <a:t>and</a:t>
            </a:r>
            <a:r>
              <a:rPr sz="2400" spc="-5" dirty="0">
                <a:latin typeface="Palatino Linotype" panose="02040502050505030304"/>
                <a:cs typeface="Palatino Linotype" panose="02040502050505030304"/>
              </a:rPr>
              <a:t> </a:t>
            </a:r>
            <a:r>
              <a:rPr sz="2400" spc="-10" dirty="0">
                <a:latin typeface="Cambria Math" panose="02040503050406030204"/>
                <a:cs typeface="Cambria Math" panose="02040503050406030204"/>
              </a:rPr>
              <a:t>OUT</a:t>
            </a:r>
            <a:r>
              <a:rPr sz="2400" spc="315" dirty="0">
                <a:latin typeface="Cambria Math" panose="02040503050406030204"/>
                <a:cs typeface="Cambria Math" panose="02040503050406030204"/>
              </a:rPr>
              <a:t> </a:t>
            </a:r>
            <a:r>
              <a:rPr sz="2400" dirty="0">
                <a:latin typeface="Cambria Math" panose="02040503050406030204"/>
                <a:cs typeface="Cambria Math" panose="02040503050406030204"/>
              </a:rPr>
              <a:t>𝐵	</a:t>
            </a:r>
            <a:r>
              <a:rPr sz="2400" dirty="0">
                <a:latin typeface="Palatino Linotype" panose="02040502050505030304"/>
                <a:cs typeface="Palatino Linotype" panose="02040502050505030304"/>
              </a:rPr>
              <a:t>for</a:t>
            </a:r>
            <a:r>
              <a:rPr sz="2400" spc="-1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each</a:t>
            </a:r>
            <a:r>
              <a:rPr sz="2400" spc="-1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a:t>
            </a:r>
            <a:r>
              <a:rPr sz="2400" spc="-15" dirty="0">
                <a:latin typeface="Palatino Linotype" panose="02040502050505030304"/>
                <a:cs typeface="Palatino Linotype" panose="02040502050505030304"/>
              </a:rPr>
              <a:t> </a:t>
            </a:r>
            <a:r>
              <a:rPr sz="2400" dirty="0">
                <a:latin typeface="Cambria Math" panose="02040503050406030204"/>
                <a:cs typeface="Cambria Math" panose="02040503050406030204"/>
              </a:rPr>
              <a:t>𝐵</a:t>
            </a:r>
            <a:endParaRPr sz="2400">
              <a:latin typeface="Cambria Math" panose="02040503050406030204"/>
              <a:cs typeface="Cambria Math" panose="02040503050406030204"/>
            </a:endParaRPr>
          </a:p>
        </p:txBody>
      </p:sp>
      <p:pic>
        <p:nvPicPr>
          <p:cNvPr id="8" name="object 8"/>
          <p:cNvPicPr/>
          <p:nvPr/>
        </p:nvPicPr>
        <p:blipFill>
          <a:blip r:embed="rId3" cstate="print"/>
          <a:stretch>
            <a:fillRect/>
          </a:stretch>
        </p:blipFill>
        <p:spPr>
          <a:xfrm>
            <a:off x="1262742" y="3720631"/>
            <a:ext cx="6681492" cy="2135558"/>
          </a:xfrm>
          <a:prstGeom prst="rect">
            <a:avLst/>
          </a:prstGeom>
        </p:spPr>
      </p:pic>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48</a:t>
            </a:fld>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49</a:t>
            </a:fld>
            <a:endParaRPr dirty="0"/>
          </a:p>
        </p:txBody>
      </p:sp>
      <p:sp>
        <p:nvSpPr>
          <p:cNvPr id="2" name="object 2"/>
          <p:cNvSpPr txBox="1">
            <a:spLocks noGrp="1"/>
          </p:cNvSpPr>
          <p:nvPr>
            <p:ph type="title"/>
          </p:nvPr>
        </p:nvSpPr>
        <p:spPr>
          <a:xfrm>
            <a:off x="707390" y="524763"/>
            <a:ext cx="461518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A6A6A6"/>
                </a:solidFill>
              </a:rPr>
              <a:t>Algorithm</a:t>
            </a:r>
            <a:r>
              <a:rPr sz="4000" spc="-45" dirty="0">
                <a:solidFill>
                  <a:srgbClr val="A6A6A6"/>
                </a:solidFill>
              </a:rPr>
              <a:t> </a:t>
            </a:r>
            <a:r>
              <a:rPr sz="4000" spc="-5" dirty="0">
                <a:solidFill>
                  <a:srgbClr val="A6A6A6"/>
                </a:solidFill>
              </a:rPr>
              <a:t>Analysis</a:t>
            </a:r>
            <a:endParaRPr sz="4000"/>
          </a:p>
        </p:txBody>
      </p:sp>
      <p:sp>
        <p:nvSpPr>
          <p:cNvPr id="3" name="object 3"/>
          <p:cNvSpPr txBox="1"/>
          <p:nvPr/>
        </p:nvSpPr>
        <p:spPr>
          <a:xfrm>
            <a:off x="707390" y="1657603"/>
            <a:ext cx="7678420" cy="4090670"/>
          </a:xfrm>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z="2400" b="1" i="1" dirty="0">
                <a:solidFill>
                  <a:srgbClr val="0432FF"/>
                </a:solidFill>
                <a:latin typeface="Palatino Linotype" panose="02040502050505030304"/>
                <a:cs typeface="Palatino Linotype" panose="02040502050505030304"/>
              </a:rPr>
              <a:t>Why</a:t>
            </a:r>
            <a:r>
              <a:rPr sz="2400" b="1" i="1" spc="-10"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is</a:t>
            </a:r>
            <a:r>
              <a:rPr sz="2400" b="1" i="1" spc="-10"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the</a:t>
            </a:r>
            <a:r>
              <a:rPr sz="2400" b="1" i="1" spc="-15" dirty="0">
                <a:solidFill>
                  <a:srgbClr val="0432FF"/>
                </a:solidFill>
                <a:latin typeface="Palatino Linotype" panose="02040502050505030304"/>
                <a:cs typeface="Palatino Linotype" panose="02040502050505030304"/>
              </a:rPr>
              <a:t> </a:t>
            </a:r>
            <a:r>
              <a:rPr sz="2400" b="1" i="1" spc="-5" dirty="0">
                <a:solidFill>
                  <a:srgbClr val="0432FF"/>
                </a:solidFill>
                <a:latin typeface="Palatino Linotype" panose="02040502050505030304"/>
                <a:cs typeface="Palatino Linotype" panose="02040502050505030304"/>
              </a:rPr>
              <a:t>solution correct?</a:t>
            </a:r>
            <a:endParaRPr sz="2400">
              <a:latin typeface="Palatino Linotype" panose="02040502050505030304"/>
              <a:cs typeface="Palatino Linotype" panose="02040502050505030304"/>
            </a:endParaRPr>
          </a:p>
          <a:p>
            <a:pPr marL="698500" marR="114935" lvl="1" indent="-228600">
              <a:lnSpc>
                <a:spcPct val="121000"/>
              </a:lnSpc>
              <a:spcBef>
                <a:spcPts val="1215"/>
              </a:spcBef>
              <a:buFont typeface="Wingdings" panose="05000000000000000000"/>
              <a:buChar char=""/>
              <a:tabLst>
                <a:tab pos="698500" algn="l"/>
              </a:tabLst>
            </a:pP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algorithm</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propagates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far </a:t>
            </a:r>
            <a:r>
              <a:rPr sz="2000" dirty="0">
                <a:latin typeface="Palatino Linotype" panose="02040502050505030304"/>
                <a:cs typeface="Palatino Linotype" panose="02040502050505030304"/>
              </a:rPr>
              <a:t>as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they</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are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not </a:t>
            </a:r>
            <a:r>
              <a:rPr sz="2000" dirty="0">
                <a:latin typeface="Palatino Linotype" panose="02040502050505030304"/>
                <a:cs typeface="Palatino Linotype" panose="02040502050505030304"/>
              </a:rPr>
              <a:t> killed, </a:t>
            </a:r>
            <a:r>
              <a:rPr sz="2000" spc="-5" dirty="0">
                <a:latin typeface="Palatino Linotype" panose="02040502050505030304"/>
                <a:cs typeface="Palatino Linotype" panose="02040502050505030304"/>
              </a:rPr>
              <a:t>thus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simulating</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all</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possible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executions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a:t>
            </a:r>
            <a:endParaRPr sz="2000">
              <a:latin typeface="Palatino Linotype" panose="02040502050505030304"/>
              <a:cs typeface="Palatino Linotype" panose="02040502050505030304"/>
            </a:endParaRPr>
          </a:p>
          <a:p>
            <a:pPr marL="243205" indent="-230505">
              <a:lnSpc>
                <a:spcPct val="100000"/>
              </a:lnSpc>
              <a:spcBef>
                <a:spcPts val="2310"/>
              </a:spcBef>
              <a:buClr>
                <a:srgbClr val="000000"/>
              </a:buClr>
              <a:buFont typeface="Arial MT"/>
              <a:buChar char="•"/>
              <a:tabLst>
                <a:tab pos="242570" algn="l"/>
              </a:tabLst>
            </a:pPr>
            <a:r>
              <a:rPr sz="2400" b="1" i="1" dirty="0">
                <a:solidFill>
                  <a:srgbClr val="0432FF"/>
                </a:solidFill>
                <a:latin typeface="Palatino Linotype" panose="02040502050505030304"/>
                <a:cs typeface="Palatino Linotype" panose="02040502050505030304"/>
              </a:rPr>
              <a:t>Why</a:t>
            </a:r>
            <a:r>
              <a:rPr sz="2400" b="1" i="1" spc="-10"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will</a:t>
            </a:r>
            <a:r>
              <a:rPr sz="2400" b="1" i="1" spc="-10"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the</a:t>
            </a:r>
            <a:r>
              <a:rPr sz="2400" b="1" i="1" spc="-15"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algorithm</a:t>
            </a:r>
            <a:r>
              <a:rPr sz="2400" b="1" i="1" spc="-10" dirty="0">
                <a:solidFill>
                  <a:srgbClr val="0432FF"/>
                </a:solidFill>
                <a:latin typeface="Palatino Linotype" panose="02040502050505030304"/>
                <a:cs typeface="Palatino Linotype" panose="02040502050505030304"/>
              </a:rPr>
              <a:t> </a:t>
            </a:r>
            <a:r>
              <a:rPr sz="2400" b="1" i="1" spc="-5" dirty="0">
                <a:solidFill>
                  <a:srgbClr val="0432FF"/>
                </a:solidFill>
                <a:latin typeface="Palatino Linotype" panose="02040502050505030304"/>
                <a:cs typeface="Palatino Linotype" panose="02040502050505030304"/>
              </a:rPr>
              <a:t>eventually</a:t>
            </a:r>
            <a:r>
              <a:rPr sz="2400" b="1" i="1" spc="-10" dirty="0">
                <a:solidFill>
                  <a:srgbClr val="0432FF"/>
                </a:solidFill>
                <a:latin typeface="Palatino Linotype" panose="02040502050505030304"/>
                <a:cs typeface="Palatino Linotype" panose="02040502050505030304"/>
              </a:rPr>
              <a:t> </a:t>
            </a:r>
            <a:r>
              <a:rPr sz="2400" b="1" i="1" dirty="0">
                <a:solidFill>
                  <a:srgbClr val="0432FF"/>
                </a:solidFill>
                <a:latin typeface="Palatino Linotype" panose="02040502050505030304"/>
                <a:cs typeface="Palatino Linotype" panose="02040502050505030304"/>
              </a:rPr>
              <a:t>halt?</a:t>
            </a:r>
            <a:endParaRPr sz="2400">
              <a:latin typeface="Palatino Linotype" panose="02040502050505030304"/>
              <a:cs typeface="Palatino Linotype" panose="02040502050505030304"/>
            </a:endParaRPr>
          </a:p>
          <a:p>
            <a:pPr marL="698500" marR="5080" lvl="1" indent="-228600">
              <a:lnSpc>
                <a:spcPct val="120000"/>
              </a:lnSpc>
              <a:spcBef>
                <a:spcPts val="1240"/>
              </a:spcBef>
              <a:buFont typeface="Wingdings" panose="05000000000000000000"/>
              <a:buChar char=""/>
              <a:tabLst>
                <a:tab pos="698500" algn="l"/>
              </a:tabLst>
            </a:pPr>
            <a:r>
              <a:rPr sz="2000" spc="-5" dirty="0">
                <a:latin typeface="Palatino Linotype" panose="02040502050505030304"/>
                <a:cs typeface="Palatino Linotype" panose="02040502050505030304"/>
              </a:rPr>
              <a:t>For </a:t>
            </a:r>
            <a:r>
              <a:rPr sz="2000" spc="-10" dirty="0">
                <a:latin typeface="Palatino Linotype" panose="02040502050505030304"/>
                <a:cs typeface="Palatino Linotype" panose="02040502050505030304"/>
              </a:rPr>
              <a:t>every</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OUT[</a:t>
            </a:r>
            <a:r>
              <a:rPr sz="2000" i="1" spc="-5" dirty="0">
                <a:latin typeface="Palatino Linotype" panose="02040502050505030304"/>
                <a:cs typeface="Palatino Linotype" panose="02040502050505030304"/>
              </a:rPr>
              <a:t>B</a:t>
            </a:r>
            <a:r>
              <a:rPr sz="2000" spc="-5" dirty="0">
                <a:latin typeface="Palatino Linotype" panose="02040502050505030304"/>
                <a:cs typeface="Palatino Linotype" panose="02040502050505030304"/>
              </a:rPr>
              <a:t>]</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never</a:t>
            </a:r>
            <a:r>
              <a:rPr sz="2000" spc="-5" dirty="0">
                <a:latin typeface="Palatino Linotype" panose="02040502050505030304"/>
                <a:cs typeface="Palatino Linotype" panose="02040502050505030304"/>
              </a:rPr>
              <a:t> shrinks;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once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definition </a:t>
            </a:r>
            <a:r>
              <a:rPr sz="2000" dirty="0">
                <a:latin typeface="Palatino Linotype" panose="02040502050505030304"/>
                <a:cs typeface="Palatino Linotype" panose="02040502050505030304"/>
              </a:rPr>
              <a:t>is added, </a:t>
            </a:r>
            <a:r>
              <a:rPr sz="2000" spc="-484"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stays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there</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forever</a:t>
            </a:r>
            <a:endParaRPr sz="2000">
              <a:latin typeface="Palatino Linotype" panose="02040502050505030304"/>
              <a:cs typeface="Palatino Linotype" panose="02040502050505030304"/>
            </a:endParaRPr>
          </a:p>
          <a:p>
            <a:pPr marL="698500" marR="21590" lvl="1" indent="-228600">
              <a:lnSpc>
                <a:spcPct val="121000"/>
              </a:lnSpc>
              <a:spcBef>
                <a:spcPts val="1200"/>
              </a:spcBef>
              <a:buFont typeface="Wingdings" panose="05000000000000000000"/>
              <a:buChar char=""/>
              <a:tabLst>
                <a:tab pos="698500" algn="l"/>
              </a:tabLst>
            </a:pPr>
            <a:r>
              <a:rPr sz="2000" spc="-5" dirty="0">
                <a:latin typeface="Palatino Linotype" panose="02040502050505030304"/>
                <a:cs typeface="Palatino Linotype" panose="02040502050505030304"/>
              </a:rPr>
              <a:t>Since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set</a:t>
            </a:r>
            <a:r>
              <a:rPr sz="2000" spc="-5" dirty="0">
                <a:latin typeface="Palatino Linotype" panose="02040502050505030304"/>
                <a:cs typeface="Palatino Linotype" panose="02040502050505030304"/>
              </a:rPr>
              <a:t> of</a:t>
            </a:r>
            <a:r>
              <a:rPr sz="2000" dirty="0">
                <a:latin typeface="Palatino Linotype" panose="02040502050505030304"/>
                <a:cs typeface="Palatino Linotype" panose="02040502050505030304"/>
              </a:rPr>
              <a:t> all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 </a:t>
            </a:r>
            <a:r>
              <a:rPr sz="2000" spc="-5" dirty="0">
                <a:latin typeface="Palatino Linotype" panose="02040502050505030304"/>
                <a:cs typeface="Palatino Linotype" panose="02040502050505030304"/>
              </a:rPr>
              <a:t>finite,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eventually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there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will</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be </a:t>
            </a:r>
            <a:r>
              <a:rPr sz="2000" spc="-484"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an</a:t>
            </a:r>
            <a:r>
              <a:rPr sz="2000" spc="-5" dirty="0">
                <a:latin typeface="Palatino Linotype" panose="02040502050505030304"/>
                <a:cs typeface="Palatino Linotype" panose="02040502050505030304"/>
              </a:rPr>
              <a:t> iteration during</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which nothing</a:t>
            </a:r>
            <a:r>
              <a:rPr sz="2000" dirty="0">
                <a:latin typeface="Palatino Linotype" panose="02040502050505030304"/>
                <a:cs typeface="Palatino Linotype" panose="02040502050505030304"/>
              </a:rPr>
              <a:t> is added </a:t>
            </a:r>
            <a:r>
              <a:rPr sz="2000" spc="-5" dirty="0">
                <a:latin typeface="Palatino Linotype" panose="02040502050505030304"/>
                <a:cs typeface="Palatino Linotype" panose="02040502050505030304"/>
              </a:rPr>
              <a:t>to any</a:t>
            </a:r>
            <a:r>
              <a:rPr sz="2000" dirty="0">
                <a:latin typeface="Palatino Linotype" panose="02040502050505030304"/>
                <a:cs typeface="Palatino Linotype" panose="02040502050505030304"/>
              </a:rPr>
              <a:t> </a:t>
            </a:r>
            <a:r>
              <a:rPr sz="2000" spc="-40" dirty="0">
                <a:latin typeface="Palatino Linotype" panose="02040502050505030304"/>
                <a:cs typeface="Palatino Linotype" panose="02040502050505030304"/>
              </a:rPr>
              <a:t>OUT,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 </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 algorithm then terminates.</a:t>
            </a:r>
            <a:endParaRPr sz="2000">
              <a:latin typeface="Palatino Linotype" panose="02040502050505030304"/>
              <a:cs typeface="Palatino Linotype" panose="0204050205050503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3" cstate="print"/>
          <a:stretch>
            <a:fillRect/>
          </a:stretch>
        </p:blipFill>
        <p:spPr>
          <a:xfrm>
            <a:off x="188861" y="1650355"/>
            <a:ext cx="5405453" cy="4172990"/>
          </a:xfrm>
          <a:prstGeom prst="rect">
            <a:avLst/>
          </a:prstGeom>
        </p:spPr>
      </p:pic>
      <p:sp>
        <p:nvSpPr>
          <p:cNvPr id="4" name="object 4"/>
          <p:cNvSpPr txBox="1"/>
          <p:nvPr/>
        </p:nvSpPr>
        <p:spPr>
          <a:xfrm>
            <a:off x="5599405" y="1151635"/>
            <a:ext cx="1840864" cy="1506220"/>
          </a:xfrm>
          <a:prstGeom prst="rect">
            <a:avLst/>
          </a:prstGeom>
        </p:spPr>
        <p:txBody>
          <a:bodyPr vert="horz" wrap="square" lIns="0" tIns="12700" rIns="0" bIns="0" rtlCol="0">
            <a:spAutoFit/>
          </a:bodyPr>
          <a:lstStyle/>
          <a:p>
            <a:pPr marL="25400">
              <a:lnSpc>
                <a:spcPct val="100000"/>
              </a:lnSpc>
              <a:spcBef>
                <a:spcPts val="100"/>
              </a:spcBef>
            </a:pPr>
            <a:r>
              <a:rPr sz="1800" dirty="0">
                <a:solidFill>
                  <a:srgbClr val="FF0000"/>
                </a:solidFill>
                <a:latin typeface="Palatino Linotype" panose="02040502050505030304"/>
                <a:cs typeface="Palatino Linotype" panose="02040502050505030304"/>
              </a:rPr>
              <a:t>Initialization:</a:t>
            </a:r>
            <a:endParaRPr sz="1800">
              <a:latin typeface="Palatino Linotype" panose="02040502050505030304"/>
              <a:cs typeface="Palatino Linotype" panose="02040502050505030304"/>
            </a:endParaRPr>
          </a:p>
          <a:p>
            <a:pPr>
              <a:lnSpc>
                <a:spcPct val="100000"/>
              </a:lnSpc>
              <a:spcBef>
                <a:spcPts val="40"/>
              </a:spcBef>
            </a:pPr>
            <a:endParaRPr sz="1600">
              <a:latin typeface="Palatino Linotype" panose="02040502050505030304"/>
              <a:cs typeface="Palatino Linotype" panose="02040502050505030304"/>
            </a:endParaRPr>
          </a:p>
          <a:p>
            <a:pPr marL="421005">
              <a:lnSpc>
                <a:spcPct val="100000"/>
              </a:lnSpc>
            </a:pPr>
            <a:r>
              <a:rPr sz="1400" spc="-10" dirty="0">
                <a:latin typeface="Palatino Linotype" panose="02040502050505030304"/>
                <a:cs typeface="Palatino Linotype" panose="02040502050505030304"/>
              </a:rPr>
              <a:t>OUT[ENTRY]</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25"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pPr>
            <a:endParaRPr sz="1900">
              <a:latin typeface="Cambria Math" panose="02040503050406030204"/>
              <a:cs typeface="Cambria Math" panose="02040503050406030204"/>
            </a:endParaRPr>
          </a:p>
          <a:p>
            <a:pPr marL="421005">
              <a:lnSpc>
                <a:spcPct val="100000"/>
              </a:lnSpc>
              <a:spcBef>
                <a:spcPts val="1710"/>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p:txBody>
      </p:sp>
      <p:sp>
        <p:nvSpPr>
          <p:cNvPr id="5" name="object 5"/>
          <p:cNvSpPr txBox="1"/>
          <p:nvPr/>
        </p:nvSpPr>
        <p:spPr>
          <a:xfrm>
            <a:off x="5982647" y="3198876"/>
            <a:ext cx="1037590" cy="238760"/>
          </a:xfrm>
          <a:prstGeom prst="rect">
            <a:avLst/>
          </a:prstGeom>
        </p:spPr>
        <p:txBody>
          <a:bodyPr vert="horz" wrap="square" lIns="0" tIns="12700" rIns="0" bIns="0" rtlCol="0">
            <a:spAutoFit/>
          </a:bodyPr>
          <a:lstStyle/>
          <a:p>
            <a:pPr marL="38100">
              <a:lnSpc>
                <a:spcPct val="100000"/>
              </a:lnSpc>
              <a:spcBef>
                <a:spcPts val="100"/>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3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p:txBody>
      </p:sp>
      <p:sp>
        <p:nvSpPr>
          <p:cNvPr id="6" name="object 6"/>
          <p:cNvSpPr txBox="1"/>
          <p:nvPr/>
        </p:nvSpPr>
        <p:spPr>
          <a:xfrm>
            <a:off x="5982647" y="3979164"/>
            <a:ext cx="1037590" cy="238760"/>
          </a:xfrm>
          <a:prstGeom prst="rect">
            <a:avLst/>
          </a:prstGeom>
        </p:spPr>
        <p:txBody>
          <a:bodyPr vert="horz" wrap="square" lIns="0" tIns="12700" rIns="0" bIns="0" rtlCol="0">
            <a:spAutoFit/>
          </a:bodyPr>
          <a:lstStyle/>
          <a:p>
            <a:pPr marL="38100">
              <a:lnSpc>
                <a:spcPct val="100000"/>
              </a:lnSpc>
              <a:spcBef>
                <a:spcPts val="100"/>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3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p:txBody>
      </p:sp>
      <p:sp>
        <p:nvSpPr>
          <p:cNvPr id="7" name="object 7"/>
          <p:cNvSpPr txBox="1"/>
          <p:nvPr/>
        </p:nvSpPr>
        <p:spPr>
          <a:xfrm>
            <a:off x="5982646" y="4759452"/>
            <a:ext cx="1037590" cy="238760"/>
          </a:xfrm>
          <a:prstGeom prst="rect">
            <a:avLst/>
          </a:prstGeom>
        </p:spPr>
        <p:txBody>
          <a:bodyPr vert="horz" wrap="square" lIns="0" tIns="12700" rIns="0" bIns="0" rtlCol="0">
            <a:spAutoFit/>
          </a:bodyPr>
          <a:lstStyle/>
          <a:p>
            <a:pPr marL="38100">
              <a:lnSpc>
                <a:spcPct val="100000"/>
              </a:lnSpc>
              <a:spcBef>
                <a:spcPts val="100"/>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3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p:txBody>
      </p:sp>
      <p:sp>
        <p:nvSpPr>
          <p:cNvPr id="8" name="object 8"/>
          <p:cNvSpPr txBox="1"/>
          <p:nvPr/>
        </p:nvSpPr>
        <p:spPr>
          <a:xfrm>
            <a:off x="6008046" y="5536691"/>
            <a:ext cx="1216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Palatino Linotype" panose="02040502050505030304"/>
                <a:cs typeface="Palatino Linotype" panose="02040502050505030304"/>
              </a:rPr>
              <a:t>OUT[EXIT]</a:t>
            </a:r>
            <a:r>
              <a:rPr sz="1400" spc="-4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4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p:txBody>
      </p:sp>
      <p:pic>
        <p:nvPicPr>
          <p:cNvPr id="9" name="object 9"/>
          <p:cNvPicPr/>
          <p:nvPr/>
        </p:nvPicPr>
        <p:blipFill>
          <a:blip r:embed="rId4" cstate="print"/>
          <a:stretch>
            <a:fillRect/>
          </a:stretch>
        </p:blipFill>
        <p:spPr>
          <a:xfrm>
            <a:off x="6368064" y="116255"/>
            <a:ext cx="2570720" cy="821661"/>
          </a:xfrm>
          <a:prstGeom prst="rect">
            <a:avLst/>
          </a:prstGeom>
        </p:spPr>
      </p:pic>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3" cstate="print"/>
          <a:stretch>
            <a:fillRect/>
          </a:stretch>
        </p:blipFill>
        <p:spPr>
          <a:xfrm>
            <a:off x="188861" y="1650355"/>
            <a:ext cx="5405453" cy="4172990"/>
          </a:xfrm>
          <a:prstGeom prst="rect">
            <a:avLst/>
          </a:prstGeom>
        </p:spPr>
      </p:pic>
      <p:sp>
        <p:nvSpPr>
          <p:cNvPr id="4" name="object 4"/>
          <p:cNvSpPr txBox="1"/>
          <p:nvPr/>
        </p:nvSpPr>
        <p:spPr>
          <a:xfrm>
            <a:off x="5547004" y="996188"/>
            <a:ext cx="2579370" cy="5044440"/>
          </a:xfrm>
          <a:prstGeom prst="rect">
            <a:avLst/>
          </a:prstGeom>
        </p:spPr>
        <p:txBody>
          <a:bodyPr vert="horz" wrap="square" lIns="0" tIns="12700" rIns="0" bIns="0" rtlCol="0">
            <a:spAutoFit/>
          </a:bodyPr>
          <a:lstStyle/>
          <a:p>
            <a:pPr marL="76200">
              <a:lnSpc>
                <a:spcPct val="100000"/>
              </a:lnSpc>
              <a:spcBef>
                <a:spcPts val="100"/>
              </a:spcBef>
            </a:pPr>
            <a:r>
              <a:rPr sz="1800" dirty="0">
                <a:solidFill>
                  <a:srgbClr val="FF0000"/>
                </a:solidFill>
                <a:latin typeface="Palatino Linotype" panose="02040502050505030304"/>
                <a:cs typeface="Palatino Linotype" panose="02040502050505030304"/>
              </a:rPr>
              <a:t>Iteration</a:t>
            </a:r>
            <a:r>
              <a:rPr sz="1800" spc="-4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#1:</a:t>
            </a:r>
            <a:endParaRPr sz="1800">
              <a:latin typeface="Palatino Linotype" panose="02040502050505030304"/>
              <a:cs typeface="Palatino Linotype" panose="02040502050505030304"/>
            </a:endParaRPr>
          </a:p>
          <a:p>
            <a:pPr marL="473710">
              <a:lnSpc>
                <a:spcPct val="100000"/>
              </a:lnSpc>
              <a:spcBef>
                <a:spcPts val="1455"/>
              </a:spcBef>
            </a:pPr>
            <a:r>
              <a:rPr sz="1400" spc="-10" dirty="0">
                <a:latin typeface="Palatino Linotype" panose="02040502050505030304"/>
                <a:cs typeface="Palatino Linotype" panose="02040502050505030304"/>
              </a:rPr>
              <a:t>OUT[ENTRY]</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25"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0"/>
              </a:spcBef>
            </a:pPr>
            <a:endParaRPr sz="2300">
              <a:latin typeface="Cambria Math" panose="02040503050406030204"/>
              <a:cs typeface="Cambria Math" panose="020405030504060302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1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5"/>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spcBef>
                <a:spcPts val="5"/>
              </a:spcBef>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795"/>
              </a:spcBef>
            </a:pPr>
            <a:r>
              <a:rPr sz="1400" spc="-5" dirty="0">
                <a:latin typeface="Palatino Linotype" panose="02040502050505030304"/>
                <a:cs typeface="Palatino Linotype" panose="02040502050505030304"/>
              </a:rPr>
              <a:t>OUT[EXIT]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pic>
        <p:nvPicPr>
          <p:cNvPr id="5" name="object 5"/>
          <p:cNvPicPr/>
          <p:nvPr/>
        </p:nvPicPr>
        <p:blipFill>
          <a:blip r:embed="rId4" cstate="print"/>
          <a:stretch>
            <a:fillRect/>
          </a:stretch>
        </p:blipFill>
        <p:spPr>
          <a:xfrm>
            <a:off x="6368064" y="116255"/>
            <a:ext cx="2570720" cy="821661"/>
          </a:xfrm>
          <a:prstGeom prst="rect">
            <a:avLst/>
          </a:prstGeom>
        </p:spPr>
      </p:pic>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51</a:t>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3" cstate="print"/>
          <a:stretch>
            <a:fillRect/>
          </a:stretch>
        </p:blipFill>
        <p:spPr>
          <a:xfrm>
            <a:off x="188861" y="1650355"/>
            <a:ext cx="5405453" cy="4172990"/>
          </a:xfrm>
          <a:prstGeom prst="rect">
            <a:avLst/>
          </a:prstGeom>
        </p:spPr>
      </p:pic>
      <p:sp>
        <p:nvSpPr>
          <p:cNvPr id="4" name="object 4"/>
          <p:cNvSpPr txBox="1"/>
          <p:nvPr/>
        </p:nvSpPr>
        <p:spPr>
          <a:xfrm>
            <a:off x="5547004" y="996188"/>
            <a:ext cx="2680970" cy="5044440"/>
          </a:xfrm>
          <a:prstGeom prst="rect">
            <a:avLst/>
          </a:prstGeom>
        </p:spPr>
        <p:txBody>
          <a:bodyPr vert="horz" wrap="square" lIns="0" tIns="12700" rIns="0" bIns="0" rtlCol="0">
            <a:spAutoFit/>
          </a:bodyPr>
          <a:lstStyle/>
          <a:p>
            <a:pPr marL="76200">
              <a:lnSpc>
                <a:spcPct val="100000"/>
              </a:lnSpc>
              <a:spcBef>
                <a:spcPts val="100"/>
              </a:spcBef>
            </a:pPr>
            <a:r>
              <a:rPr sz="1800" dirty="0">
                <a:solidFill>
                  <a:srgbClr val="FF0000"/>
                </a:solidFill>
                <a:latin typeface="Palatino Linotype" panose="02040502050505030304"/>
                <a:cs typeface="Palatino Linotype" panose="02040502050505030304"/>
              </a:rPr>
              <a:t>Iteration</a:t>
            </a:r>
            <a:r>
              <a:rPr sz="1800" spc="-4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#2:</a:t>
            </a:r>
            <a:endParaRPr sz="1800">
              <a:latin typeface="Palatino Linotype" panose="02040502050505030304"/>
              <a:cs typeface="Palatino Linotype" panose="02040502050505030304"/>
            </a:endParaRPr>
          </a:p>
          <a:p>
            <a:pPr marL="473710">
              <a:lnSpc>
                <a:spcPct val="100000"/>
              </a:lnSpc>
              <a:spcBef>
                <a:spcPts val="1455"/>
              </a:spcBef>
            </a:pPr>
            <a:r>
              <a:rPr sz="1400" spc="-10" dirty="0">
                <a:latin typeface="Palatino Linotype" panose="02040502050505030304"/>
                <a:cs typeface="Palatino Linotype" panose="02040502050505030304"/>
              </a:rPr>
              <a:t>OUT[ENTRY]</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25"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0"/>
              </a:spcBef>
            </a:pPr>
            <a:endParaRPr sz="2300">
              <a:latin typeface="Cambria Math" panose="02040503050406030204"/>
              <a:cs typeface="Cambria Math" panose="020405030504060302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1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350" i="1" spc="187" baseline="-1900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5"/>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350" i="1" spc="187" baseline="-1900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spcBef>
                <a:spcPts val="5"/>
              </a:spcBef>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795"/>
              </a:spcBef>
            </a:pPr>
            <a:r>
              <a:rPr sz="1400" spc="-5" dirty="0">
                <a:latin typeface="Palatino Linotype" panose="02040502050505030304"/>
                <a:cs typeface="Palatino Linotype" panose="02040502050505030304"/>
              </a:rPr>
              <a:t>OUT[EXIT]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pic>
        <p:nvPicPr>
          <p:cNvPr id="5" name="object 5"/>
          <p:cNvPicPr/>
          <p:nvPr/>
        </p:nvPicPr>
        <p:blipFill>
          <a:blip r:embed="rId4" cstate="print"/>
          <a:stretch>
            <a:fillRect/>
          </a:stretch>
        </p:blipFill>
        <p:spPr>
          <a:xfrm>
            <a:off x="6368064" y="116255"/>
            <a:ext cx="2570720" cy="821661"/>
          </a:xfrm>
          <a:prstGeom prst="rect">
            <a:avLst/>
          </a:prstGeom>
        </p:spPr>
      </p:pic>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52</a:t>
            </a:fld>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3" cstate="print"/>
          <a:stretch>
            <a:fillRect/>
          </a:stretch>
        </p:blipFill>
        <p:spPr>
          <a:xfrm>
            <a:off x="188861" y="1650355"/>
            <a:ext cx="5405453" cy="4172990"/>
          </a:xfrm>
          <a:prstGeom prst="rect">
            <a:avLst/>
          </a:prstGeom>
        </p:spPr>
      </p:pic>
      <p:sp>
        <p:nvSpPr>
          <p:cNvPr id="4" name="object 4"/>
          <p:cNvSpPr txBox="1"/>
          <p:nvPr/>
        </p:nvSpPr>
        <p:spPr>
          <a:xfrm>
            <a:off x="5547004" y="996188"/>
            <a:ext cx="2680970" cy="5044440"/>
          </a:xfrm>
          <a:prstGeom prst="rect">
            <a:avLst/>
          </a:prstGeom>
        </p:spPr>
        <p:txBody>
          <a:bodyPr vert="horz" wrap="square" lIns="0" tIns="12700" rIns="0" bIns="0" rtlCol="0">
            <a:spAutoFit/>
          </a:bodyPr>
          <a:lstStyle/>
          <a:p>
            <a:pPr marR="90170" algn="ctr">
              <a:lnSpc>
                <a:spcPct val="100000"/>
              </a:lnSpc>
              <a:spcBef>
                <a:spcPts val="100"/>
              </a:spcBef>
            </a:pPr>
            <a:r>
              <a:rPr sz="1800" dirty="0">
                <a:solidFill>
                  <a:srgbClr val="FF0000"/>
                </a:solidFill>
                <a:latin typeface="Palatino Linotype" panose="02040502050505030304"/>
                <a:cs typeface="Palatino Linotype" panose="02040502050505030304"/>
              </a:rPr>
              <a:t>Iteration</a:t>
            </a:r>
            <a:r>
              <a:rPr sz="1800" spc="-20"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#3:</a:t>
            </a:r>
            <a:r>
              <a:rPr sz="1800" spc="-1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fixed</a:t>
            </a:r>
            <a:r>
              <a:rPr sz="1800" spc="-1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point!</a:t>
            </a:r>
            <a:endParaRPr sz="1800">
              <a:latin typeface="Palatino Linotype" panose="02040502050505030304"/>
              <a:cs typeface="Palatino Linotype" panose="02040502050505030304"/>
            </a:endParaRPr>
          </a:p>
          <a:p>
            <a:pPr marL="473710">
              <a:lnSpc>
                <a:spcPct val="100000"/>
              </a:lnSpc>
              <a:spcBef>
                <a:spcPts val="1455"/>
              </a:spcBef>
            </a:pPr>
            <a:r>
              <a:rPr sz="1400" spc="-10" dirty="0">
                <a:latin typeface="Palatino Linotype" panose="02040502050505030304"/>
                <a:cs typeface="Palatino Linotype" panose="02040502050505030304"/>
              </a:rPr>
              <a:t>OUT[ENTRY]</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25"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0"/>
              </a:spcBef>
            </a:pPr>
            <a:endParaRPr sz="2300">
              <a:latin typeface="Cambria Math" panose="02040503050406030204"/>
              <a:cs typeface="Cambria Math" panose="020405030504060302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30" dirty="0">
                <a:latin typeface="Palatino Linotype" panose="02040502050505030304"/>
                <a:cs typeface="Palatino Linotype" panose="020405020505050303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marR="137160" algn="ctr">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spc="-7" baseline="-19000" dirty="0">
                <a:latin typeface="Palatino Linotype" panose="02040502050505030304"/>
                <a:cs typeface="Palatino Linotype" panose="02040502050505030304"/>
              </a:rPr>
              <a:t>1</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1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1</a:t>
            </a:r>
            <a:r>
              <a:rPr sz="140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2</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2</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350" i="1" spc="187" baseline="-1900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5"/>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350" i="1" spc="187" baseline="-1900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3</a:t>
            </a:r>
            <a:r>
              <a:rPr sz="1400" spc="-5" dirty="0">
                <a:latin typeface="Palatino Linotype" panose="02040502050505030304"/>
                <a:cs typeface="Palatino Linotype" panose="02040502050505030304"/>
              </a:rPr>
              <a:t>]</a:t>
            </a:r>
            <a:r>
              <a:rPr sz="1400" spc="-2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spcBef>
                <a:spcPts val="5"/>
              </a:spcBef>
            </a:pPr>
            <a:r>
              <a:rPr sz="1400" spc="-5" dirty="0">
                <a:latin typeface="Palatino Linotype" panose="02040502050505030304"/>
                <a:cs typeface="Palatino Linotype" panose="02040502050505030304"/>
              </a:rPr>
              <a:t>IN[</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4</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815"/>
              </a:spcBef>
            </a:pPr>
            <a:r>
              <a:rPr sz="1400" spc="-5" dirty="0">
                <a:latin typeface="Palatino Linotype" panose="02040502050505030304"/>
                <a:cs typeface="Palatino Linotype" panose="02040502050505030304"/>
              </a:rPr>
              <a:t>OUT[</a:t>
            </a:r>
            <a:r>
              <a:rPr sz="1400" i="1" spc="-5" dirty="0">
                <a:latin typeface="Palatino Linotype" panose="02040502050505030304"/>
                <a:cs typeface="Palatino Linotype" panose="02040502050505030304"/>
              </a:rPr>
              <a:t>B</a:t>
            </a:r>
            <a:r>
              <a:rPr sz="1350" i="1" spc="-7" baseline="-19000" dirty="0">
                <a:latin typeface="Palatino Linotype" panose="02040502050505030304"/>
                <a:cs typeface="Palatino Linotype" panose="02040502050505030304"/>
              </a:rPr>
              <a:t>4</a:t>
            </a:r>
            <a:r>
              <a:rPr sz="1400" spc="-5" dirty="0">
                <a:latin typeface="Palatino Linotype" panose="02040502050505030304"/>
                <a:cs typeface="Palatino Linotype" panose="02040502050505030304"/>
              </a:rPr>
              <a: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a:lnSpc>
                <a:spcPct val="100000"/>
              </a:lnSpc>
              <a:spcBef>
                <a:spcPts val="30"/>
              </a:spcBef>
            </a:pPr>
            <a:endParaRPr sz="1950">
              <a:latin typeface="Palatino Linotype" panose="02040502050505030304"/>
              <a:cs typeface="Palatino Linotype" panose="02040502050505030304"/>
            </a:endParaRPr>
          </a:p>
          <a:p>
            <a:pPr marL="473710">
              <a:lnSpc>
                <a:spcPct val="100000"/>
              </a:lnSpc>
            </a:pPr>
            <a:r>
              <a:rPr sz="1400" spc="-5" dirty="0">
                <a:latin typeface="Palatino Linotype" panose="02040502050505030304"/>
                <a:cs typeface="Palatino Linotype" panose="02040502050505030304"/>
              </a:rPr>
              <a:t>IN[EXIT]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p>
            <a:pPr marL="473710">
              <a:lnSpc>
                <a:spcPct val="100000"/>
              </a:lnSpc>
              <a:spcBef>
                <a:spcPts val="795"/>
              </a:spcBef>
            </a:pPr>
            <a:r>
              <a:rPr sz="1400" spc="-5" dirty="0">
                <a:latin typeface="Palatino Linotype" panose="02040502050505030304"/>
                <a:cs typeface="Palatino Linotype" panose="02040502050505030304"/>
              </a:rPr>
              <a:t>OUT[EXIT]</a:t>
            </a:r>
            <a:r>
              <a:rPr sz="1400" spc="-1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3</a:t>
            </a:r>
            <a:r>
              <a:rPr sz="1400" dirty="0">
                <a:latin typeface="Palatino Linotype" panose="02040502050505030304"/>
                <a:cs typeface="Palatino Linotype" panose="02040502050505030304"/>
              </a:rPr>
              <a:t>,</a:t>
            </a:r>
            <a:r>
              <a:rPr sz="1400"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5</a:t>
            </a:r>
            <a:r>
              <a:rPr sz="1400" dirty="0">
                <a:latin typeface="Palatino Linotype" panose="02040502050505030304"/>
                <a:cs typeface="Palatino Linotype" panose="02040502050505030304"/>
              </a:rPr>
              <a:t>,</a:t>
            </a:r>
            <a:r>
              <a:rPr sz="1400" spc="-5"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6</a:t>
            </a:r>
            <a:r>
              <a:rPr sz="1400" i="1" dirty="0">
                <a:latin typeface="Palatino Linotype" panose="02040502050505030304"/>
                <a:cs typeface="Palatino Linotype" panose="02040502050505030304"/>
              </a:rPr>
              <a:t>,</a:t>
            </a:r>
            <a:r>
              <a:rPr sz="1400" i="1" spc="-10" dirty="0">
                <a:latin typeface="Palatino Linotype" panose="02040502050505030304"/>
                <a:cs typeface="Palatino Linotype" panose="02040502050505030304"/>
              </a:rPr>
              <a:t> </a:t>
            </a:r>
            <a:r>
              <a:rPr sz="1400" i="1" dirty="0">
                <a:latin typeface="Palatino Linotype" panose="02040502050505030304"/>
                <a:cs typeface="Palatino Linotype" panose="02040502050505030304"/>
              </a:rPr>
              <a:t>d</a:t>
            </a:r>
            <a:r>
              <a:rPr sz="1350" i="1" baseline="-19000" dirty="0">
                <a:latin typeface="Palatino Linotype" panose="02040502050505030304"/>
                <a:cs typeface="Palatino Linotype" panose="02040502050505030304"/>
              </a:rPr>
              <a:t>7</a:t>
            </a:r>
            <a:r>
              <a:rPr sz="1400"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pic>
        <p:nvPicPr>
          <p:cNvPr id="5" name="object 5"/>
          <p:cNvPicPr/>
          <p:nvPr/>
        </p:nvPicPr>
        <p:blipFill>
          <a:blip r:embed="rId4" cstate="print"/>
          <a:stretch>
            <a:fillRect/>
          </a:stretch>
        </p:blipFill>
        <p:spPr>
          <a:xfrm>
            <a:off x="6368064" y="116255"/>
            <a:ext cx="2570720" cy="821661"/>
          </a:xfrm>
          <a:prstGeom prst="rect">
            <a:avLst/>
          </a:prstGeom>
        </p:spPr>
      </p:pic>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53</a:t>
            </a:fld>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pc="-10" dirty="0"/>
              <a:t>Introduction</a:t>
            </a:r>
          </a:p>
          <a:p>
            <a:pPr>
              <a:lnSpc>
                <a:spcPct val="100000"/>
              </a:lnSpc>
              <a:spcBef>
                <a:spcPts val="5"/>
              </a:spcBef>
              <a:buFont typeface="Arial MT"/>
              <a:buChar char="•"/>
            </a:pPr>
            <a:endParaRPr sz="3800"/>
          </a:p>
          <a:p>
            <a:pPr marL="243205" indent="-230505">
              <a:lnSpc>
                <a:spcPct val="100000"/>
              </a:lnSpc>
              <a:spcBef>
                <a:spcPts val="5"/>
              </a:spcBef>
              <a:buClr>
                <a:srgbClr val="000000"/>
              </a:buClr>
              <a:buFont typeface="Arial MT"/>
              <a:buChar char="•"/>
              <a:tabLst>
                <a:tab pos="242570" algn="l"/>
              </a:tabLst>
            </a:pPr>
            <a:r>
              <a:rPr spc="-5" dirty="0"/>
              <a:t>The</a:t>
            </a:r>
            <a:r>
              <a:rPr spc="-20" dirty="0"/>
              <a:t> </a:t>
            </a:r>
            <a:r>
              <a:rPr spc="-5" dirty="0"/>
              <a:t>Principal</a:t>
            </a:r>
            <a:r>
              <a:rPr spc="-15" dirty="0"/>
              <a:t> </a:t>
            </a:r>
            <a:r>
              <a:rPr spc="-5" dirty="0"/>
              <a:t>Sources</a:t>
            </a:r>
            <a:r>
              <a:rPr spc="-10" dirty="0"/>
              <a:t> </a:t>
            </a:r>
            <a:r>
              <a:rPr spc="-5" dirty="0"/>
              <a:t>of Optimization</a:t>
            </a:r>
          </a:p>
          <a:p>
            <a:pPr>
              <a:lnSpc>
                <a:spcPct val="100000"/>
              </a:lnSpc>
              <a:spcBef>
                <a:spcPts val="45"/>
              </a:spcBef>
              <a:buFont typeface="Arial MT"/>
              <a:buChar char="•"/>
            </a:pPr>
            <a:endParaRPr sz="3700"/>
          </a:p>
          <a:p>
            <a:pPr marL="243205" indent="-230505">
              <a:lnSpc>
                <a:spcPct val="100000"/>
              </a:lnSpc>
              <a:buClr>
                <a:srgbClr val="000000"/>
              </a:buClr>
              <a:buFont typeface="Arial MT"/>
              <a:buChar char="•"/>
              <a:tabLst>
                <a:tab pos="242570" algn="l"/>
              </a:tabLst>
            </a:pPr>
            <a:r>
              <a:rPr spc="-10" dirty="0"/>
              <a:t>Introduction</a:t>
            </a:r>
            <a:r>
              <a:rPr spc="-5" dirty="0"/>
              <a:t> to</a:t>
            </a:r>
            <a:r>
              <a:rPr dirty="0"/>
              <a:t> </a:t>
            </a:r>
            <a:r>
              <a:rPr spc="-5" dirty="0"/>
              <a:t>Data-Flow</a:t>
            </a:r>
            <a:r>
              <a:rPr spc="-95" dirty="0"/>
              <a:t> </a:t>
            </a:r>
            <a:r>
              <a:rPr spc="-5" dirty="0"/>
              <a:t>Analysis</a:t>
            </a:r>
          </a:p>
          <a:p>
            <a:pPr marL="5133975">
              <a:lnSpc>
                <a:spcPct val="100000"/>
              </a:lnSpc>
              <a:spcBef>
                <a:spcPts val="1825"/>
              </a:spcBef>
            </a:pPr>
            <a:r>
              <a:rPr sz="2200" spc="-5" dirty="0"/>
              <a:t>Reaching</a:t>
            </a:r>
            <a:r>
              <a:rPr sz="2200" spc="-75" dirty="0"/>
              <a:t> </a:t>
            </a:r>
            <a:r>
              <a:rPr sz="2200" spc="-5" dirty="0"/>
              <a:t>Definitions</a:t>
            </a:r>
            <a:endParaRPr sz="2200"/>
          </a:p>
        </p:txBody>
      </p:sp>
      <p:sp>
        <p:nvSpPr>
          <p:cNvPr id="4" name="object 4"/>
          <p:cNvSpPr txBox="1"/>
          <p:nvPr/>
        </p:nvSpPr>
        <p:spPr>
          <a:xfrm>
            <a:off x="707390" y="5041900"/>
            <a:ext cx="4669155" cy="4521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800" spc="-5" dirty="0">
                <a:latin typeface="Palatino Linotype" panose="02040502050505030304"/>
                <a:cs typeface="Palatino Linotype" panose="02040502050505030304"/>
              </a:rPr>
              <a:t>Classic</a:t>
            </a:r>
            <a:r>
              <a:rPr sz="2800" spc="-3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1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
        <p:nvSpPr>
          <p:cNvPr id="5" name="object 5"/>
          <p:cNvSpPr txBox="1"/>
          <p:nvPr/>
        </p:nvSpPr>
        <p:spPr>
          <a:xfrm>
            <a:off x="5829156" y="4968747"/>
            <a:ext cx="2733040" cy="988694"/>
          </a:xfrm>
          <a:prstGeom prst="rect">
            <a:avLst/>
          </a:prstGeom>
        </p:spPr>
        <p:txBody>
          <a:bodyPr vert="horz" wrap="square" lIns="0" tIns="12700" rIns="0" bIns="0" rtlCol="0">
            <a:spAutoFit/>
          </a:bodyPr>
          <a:lstStyle/>
          <a:p>
            <a:pPr marL="12700" marR="5080">
              <a:lnSpc>
                <a:spcPct val="144000"/>
              </a:lnSpc>
              <a:spcBef>
                <a:spcPts val="100"/>
              </a:spcBef>
            </a:pPr>
            <a:r>
              <a:rPr sz="2200" spc="-15" dirty="0">
                <a:latin typeface="Palatino Linotype" panose="02040502050505030304"/>
                <a:cs typeface="Palatino Linotype" panose="02040502050505030304"/>
              </a:rPr>
              <a:t>Live</a:t>
            </a:r>
            <a:r>
              <a:rPr sz="2200" spc="-10" dirty="0">
                <a:latin typeface="Palatino Linotype" panose="02040502050505030304"/>
                <a:cs typeface="Palatino Linotype" panose="02040502050505030304"/>
              </a:rPr>
              <a:t> </a:t>
            </a:r>
            <a:r>
              <a:rPr sz="2200" spc="-25" dirty="0">
                <a:latin typeface="Palatino Linotype" panose="02040502050505030304"/>
                <a:cs typeface="Palatino Linotype" panose="02040502050505030304"/>
              </a:rPr>
              <a:t>Variables </a:t>
            </a:r>
            <a:r>
              <a:rPr sz="2200" spc="-20" dirty="0">
                <a:latin typeface="Palatino Linotype" panose="02040502050505030304"/>
                <a:cs typeface="Palatino Linotype" panose="02040502050505030304"/>
              </a:rPr>
              <a:t> </a:t>
            </a:r>
            <a:r>
              <a:rPr sz="2200" spc="-30" dirty="0">
                <a:solidFill>
                  <a:srgbClr val="A6A6A6"/>
                </a:solidFill>
                <a:latin typeface="Palatino Linotype" panose="02040502050505030304"/>
                <a:cs typeface="Palatino Linotype" panose="02040502050505030304"/>
              </a:rPr>
              <a:t>Available</a:t>
            </a:r>
            <a:r>
              <a:rPr sz="2200" spc="-25" dirty="0">
                <a:solidFill>
                  <a:srgbClr val="A6A6A6"/>
                </a:solidFill>
                <a:latin typeface="Palatino Linotype" panose="02040502050505030304"/>
                <a:cs typeface="Palatino Linotype" panose="02040502050505030304"/>
              </a:rPr>
              <a:t> </a:t>
            </a:r>
            <a:r>
              <a:rPr sz="2200" spc="-5" dirty="0">
                <a:solidFill>
                  <a:srgbClr val="A6A6A6"/>
                </a:solidFill>
                <a:latin typeface="Palatino Linotype" panose="02040502050505030304"/>
                <a:cs typeface="Palatino Linotype" panose="02040502050505030304"/>
              </a:rPr>
              <a:t>Expressions</a:t>
            </a:r>
            <a:endParaRPr sz="2200">
              <a:latin typeface="Palatino Linotype" panose="02040502050505030304"/>
              <a:cs typeface="Palatino Linotype" panose="02040502050505030304"/>
            </a:endParaRPr>
          </a:p>
        </p:txBody>
      </p:sp>
      <p:sp>
        <p:nvSpPr>
          <p:cNvPr id="6" name="object 6"/>
          <p:cNvSpPr/>
          <p:nvPr/>
        </p:nvSpPr>
        <p:spPr>
          <a:xfrm>
            <a:off x="5475552" y="4753157"/>
            <a:ext cx="274955" cy="1119505"/>
          </a:xfrm>
          <a:custGeom>
            <a:avLst/>
            <a:gdLst/>
            <a:ahLst/>
            <a:cxnLst/>
            <a:rect l="l" t="t" r="r" b="b"/>
            <a:pathLst>
              <a:path w="274954" h="1119504">
                <a:moveTo>
                  <a:pt x="274864" y="1119005"/>
                </a:moveTo>
                <a:lnTo>
                  <a:pt x="221369" y="1117205"/>
                </a:lnTo>
                <a:lnTo>
                  <a:pt x="177684" y="1112296"/>
                </a:lnTo>
                <a:lnTo>
                  <a:pt x="148232" y="1105016"/>
                </a:lnTo>
                <a:lnTo>
                  <a:pt x="137432" y="1096101"/>
                </a:lnTo>
                <a:lnTo>
                  <a:pt x="137432" y="582406"/>
                </a:lnTo>
                <a:lnTo>
                  <a:pt x="126631" y="573491"/>
                </a:lnTo>
                <a:lnTo>
                  <a:pt x="97179" y="566210"/>
                </a:lnTo>
                <a:lnTo>
                  <a:pt x="53494" y="561302"/>
                </a:lnTo>
                <a:lnTo>
                  <a:pt x="0" y="559502"/>
                </a:lnTo>
                <a:lnTo>
                  <a:pt x="53494" y="557702"/>
                </a:lnTo>
                <a:lnTo>
                  <a:pt x="97179" y="552794"/>
                </a:lnTo>
                <a:lnTo>
                  <a:pt x="126631" y="545513"/>
                </a:lnTo>
                <a:lnTo>
                  <a:pt x="137432" y="536598"/>
                </a:lnTo>
                <a:lnTo>
                  <a:pt x="137432" y="22903"/>
                </a:lnTo>
                <a:lnTo>
                  <a:pt x="148232" y="13988"/>
                </a:lnTo>
                <a:lnTo>
                  <a:pt x="177684" y="6708"/>
                </a:lnTo>
                <a:lnTo>
                  <a:pt x="221369" y="1799"/>
                </a:lnTo>
                <a:lnTo>
                  <a:pt x="274864" y="0"/>
                </a:lnTo>
              </a:path>
            </a:pathLst>
          </a:custGeom>
          <a:ln w="12700">
            <a:solidFill>
              <a:srgbClr val="000000"/>
            </a:solidFill>
          </a:ln>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54</a:t>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55</a:t>
            </a:fld>
            <a:endParaRPr dirty="0"/>
          </a:p>
        </p:txBody>
      </p:sp>
      <p:sp>
        <p:nvSpPr>
          <p:cNvPr id="2" name="object 2"/>
          <p:cNvSpPr txBox="1">
            <a:spLocks noGrp="1"/>
          </p:cNvSpPr>
          <p:nvPr>
            <p:ph type="title"/>
          </p:nvPr>
        </p:nvSpPr>
        <p:spPr>
          <a:xfrm>
            <a:off x="707390" y="524763"/>
            <a:ext cx="5271135" cy="635000"/>
          </a:xfrm>
          <a:prstGeom prst="rect">
            <a:avLst/>
          </a:prstGeom>
        </p:spPr>
        <p:txBody>
          <a:bodyPr vert="horz" wrap="square" lIns="0" tIns="12700" rIns="0" bIns="0" rtlCol="0">
            <a:spAutoFit/>
          </a:bodyPr>
          <a:lstStyle/>
          <a:p>
            <a:pPr marL="12700">
              <a:lnSpc>
                <a:spcPct val="100000"/>
              </a:lnSpc>
              <a:spcBef>
                <a:spcPts val="100"/>
              </a:spcBef>
            </a:pPr>
            <a:r>
              <a:rPr sz="4000" spc="-65" dirty="0"/>
              <a:t>Live-Variable</a:t>
            </a:r>
            <a:r>
              <a:rPr sz="4000" spc="-25" dirty="0"/>
              <a:t> </a:t>
            </a:r>
            <a:r>
              <a:rPr sz="4000" spc="-5" dirty="0"/>
              <a:t>Analysis</a:t>
            </a:r>
            <a:endParaRPr sz="4000"/>
          </a:p>
        </p:txBody>
      </p:sp>
      <p:sp>
        <p:nvSpPr>
          <p:cNvPr id="3" name="object 3"/>
          <p:cNvSpPr txBox="1"/>
          <p:nvPr/>
        </p:nvSpPr>
        <p:spPr>
          <a:xfrm>
            <a:off x="707390" y="1610867"/>
            <a:ext cx="7708265" cy="4508500"/>
          </a:xfrm>
          <a:prstGeom prst="rect">
            <a:avLst/>
          </a:prstGeom>
        </p:spPr>
        <p:txBody>
          <a:bodyPr vert="horz" wrap="square" lIns="0" tIns="60960" rIns="0" bIns="0" rtlCol="0">
            <a:spAutoFit/>
          </a:bodyPr>
          <a:lstStyle/>
          <a:p>
            <a:pPr marL="243205" indent="-230505">
              <a:lnSpc>
                <a:spcPct val="100000"/>
              </a:lnSpc>
              <a:spcBef>
                <a:spcPts val="480"/>
              </a:spcBef>
              <a:buFont typeface="Arial MT"/>
              <a:buChar char="•"/>
              <a:tabLst>
                <a:tab pos="242570" algn="l"/>
                <a:tab pos="242570" algn="l"/>
              </a:tabLst>
            </a:pPr>
            <a:r>
              <a:rPr sz="2000" spc="-5" dirty="0">
                <a:latin typeface="Palatino Linotype" panose="02040502050505030304"/>
                <a:cs typeface="Palatino Linotype" panose="02040502050505030304"/>
              </a:rPr>
              <a:t>Aim to know</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 </a:t>
            </a:r>
            <a:r>
              <a:rPr sz="2000" spc="-10" dirty="0">
                <a:latin typeface="Palatino Linotype" panose="02040502050505030304"/>
                <a:cs typeface="Palatino Linotype" panose="02040502050505030304"/>
              </a:rPr>
              <a:t>variable</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x</a:t>
            </a:r>
            <a:r>
              <a:rPr sz="2000" i="1"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point </a:t>
            </a:r>
            <a:r>
              <a:rPr sz="2000" i="1" dirty="0">
                <a:latin typeface="Palatino Linotype" panose="02040502050505030304"/>
                <a:cs typeface="Palatino Linotype" panose="02040502050505030304"/>
              </a:rPr>
              <a:t>p </a:t>
            </a:r>
            <a:r>
              <a:rPr sz="2000" spc="-5" dirty="0">
                <a:latin typeface="Palatino Linotype" panose="02040502050505030304"/>
                <a:cs typeface="Palatino Linotype" panose="02040502050505030304"/>
              </a:rPr>
              <a:t>whether the</a:t>
            </a:r>
            <a:r>
              <a:rPr sz="2000" spc="5"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value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i="1" dirty="0">
                <a:latin typeface="Palatino Linotype" panose="02040502050505030304"/>
                <a:cs typeface="Palatino Linotype" panose="02040502050505030304"/>
              </a:rPr>
              <a:t>x </a:t>
            </a:r>
            <a:r>
              <a:rPr sz="2000" dirty="0">
                <a:latin typeface="Palatino Linotype" panose="02040502050505030304"/>
                <a:cs typeface="Palatino Linotype" panose="02040502050505030304"/>
              </a:rPr>
              <a:t>at</a:t>
            </a:r>
            <a:r>
              <a:rPr sz="2000"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p</a:t>
            </a:r>
            <a:endParaRPr sz="2000" dirty="0">
              <a:latin typeface="Palatino Linotype" panose="02040502050505030304"/>
              <a:cs typeface="Palatino Linotype" panose="02040502050505030304"/>
            </a:endParaRPr>
          </a:p>
          <a:p>
            <a:pPr marL="242570">
              <a:lnSpc>
                <a:spcPct val="100000"/>
              </a:lnSpc>
              <a:spcBef>
                <a:spcPts val="385"/>
              </a:spcBef>
            </a:pPr>
            <a:r>
              <a:rPr sz="2000" spc="-5" dirty="0">
                <a:latin typeface="Palatino Linotype" panose="02040502050505030304"/>
                <a:cs typeface="Palatino Linotype" panose="02040502050505030304"/>
              </a:rPr>
              <a:t>could </a:t>
            </a:r>
            <a:r>
              <a:rPr sz="2000" dirty="0">
                <a:latin typeface="Palatino Linotype" panose="02040502050505030304"/>
                <a:cs typeface="Palatino Linotype" panose="02040502050505030304"/>
              </a:rPr>
              <a:t>be</a:t>
            </a:r>
            <a:r>
              <a:rPr sz="2000" spc="-5" dirty="0">
                <a:latin typeface="Palatino Linotype" panose="02040502050505030304"/>
                <a:cs typeface="Palatino Linotype" panose="02040502050505030304"/>
              </a:rPr>
              <a:t> used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some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path</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starting</a:t>
            </a:r>
            <a:r>
              <a:rPr sz="2000" dirty="0">
                <a:latin typeface="Palatino Linotype" panose="02040502050505030304"/>
                <a:cs typeface="Palatino Linotype" panose="02040502050505030304"/>
              </a:rPr>
              <a:t> at</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p</a:t>
            </a:r>
            <a:endParaRPr sz="2000" dirty="0">
              <a:latin typeface="Palatino Linotype" panose="02040502050505030304"/>
              <a:cs typeface="Palatino Linotype" panose="02040502050505030304"/>
            </a:endParaRPr>
          </a:p>
          <a:p>
            <a:pPr marL="698500" lvl="1" indent="-228600">
              <a:lnSpc>
                <a:spcPct val="100000"/>
              </a:lnSpc>
              <a:spcBef>
                <a:spcPts val="11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If </a:t>
            </a:r>
            <a:r>
              <a:rPr sz="1600" spc="-10" dirty="0">
                <a:latin typeface="Palatino Linotype" panose="02040502050505030304"/>
                <a:cs typeface="Palatino Linotype" panose="02040502050505030304"/>
              </a:rPr>
              <a:t>yes,</a:t>
            </a:r>
            <a:r>
              <a:rPr sz="1600"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we</a:t>
            </a:r>
            <a:r>
              <a:rPr sz="1600" spc="-5" dirty="0">
                <a:latin typeface="Palatino Linotype" panose="02040502050505030304"/>
                <a:cs typeface="Palatino Linotype" panose="02040502050505030304"/>
              </a:rPr>
              <a:t> say</a:t>
            </a:r>
            <a:r>
              <a:rPr sz="1600" spc="-1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x </a:t>
            </a:r>
            <a:r>
              <a:rPr sz="1600" spc="-5" dirty="0">
                <a:latin typeface="Palatino Linotype" panose="02040502050505030304"/>
                <a:cs typeface="Palatino Linotype" panose="02040502050505030304"/>
              </a:rPr>
              <a:t>is </a:t>
            </a:r>
            <a:r>
              <a:rPr sz="1600" i="1" dirty="0">
                <a:solidFill>
                  <a:srgbClr val="FF0000"/>
                </a:solidFill>
                <a:latin typeface="Palatino Linotype" panose="02040502050505030304"/>
                <a:cs typeface="Palatino Linotype" panose="02040502050505030304"/>
              </a:rPr>
              <a:t>live </a:t>
            </a:r>
            <a:r>
              <a:rPr sz="1600" dirty="0">
                <a:latin typeface="Palatino Linotype" panose="02040502050505030304"/>
                <a:cs typeface="Palatino Linotype" panose="02040502050505030304"/>
              </a:rPr>
              <a:t>at</a:t>
            </a:r>
            <a:r>
              <a:rPr sz="1600" spc="-5"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p</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otherwise,</a:t>
            </a:r>
            <a:r>
              <a:rPr sz="1600" dirty="0">
                <a:latin typeface="Palatino Linotype" panose="02040502050505030304"/>
                <a:cs typeface="Palatino Linotype" panose="02040502050505030304"/>
              </a:rPr>
              <a:t> </a:t>
            </a:r>
            <a:r>
              <a:rPr sz="1600" i="1" dirty="0">
                <a:latin typeface="Palatino Linotype" panose="02040502050505030304"/>
                <a:cs typeface="Palatino Linotype" panose="02040502050505030304"/>
              </a:rPr>
              <a:t>x </a:t>
            </a:r>
            <a:r>
              <a:rPr sz="1600" spc="-5" dirty="0">
                <a:latin typeface="Palatino Linotype" panose="02040502050505030304"/>
                <a:cs typeface="Palatino Linotype" panose="02040502050505030304"/>
              </a:rPr>
              <a:t>is</a:t>
            </a:r>
            <a:r>
              <a:rPr sz="1600" spc="-10" dirty="0">
                <a:latin typeface="Palatino Linotype" panose="02040502050505030304"/>
                <a:cs typeface="Palatino Linotype" panose="02040502050505030304"/>
              </a:rPr>
              <a:t> </a:t>
            </a:r>
            <a:r>
              <a:rPr sz="1600" i="1" dirty="0">
                <a:solidFill>
                  <a:srgbClr val="FF0000"/>
                </a:solidFill>
                <a:latin typeface="Palatino Linotype" panose="02040502050505030304"/>
                <a:cs typeface="Palatino Linotype" panose="02040502050505030304"/>
              </a:rPr>
              <a:t>dead</a:t>
            </a:r>
            <a:r>
              <a:rPr sz="1600" i="1" spc="-5" dirty="0">
                <a:solidFill>
                  <a:srgbClr val="FF0000"/>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a:t>
            </a:r>
            <a:r>
              <a:rPr sz="1600" i="1" dirty="0">
                <a:latin typeface="Palatino Linotype" panose="02040502050505030304"/>
                <a:cs typeface="Palatino Linotype" panose="02040502050505030304"/>
              </a:rPr>
              <a:t>p</a:t>
            </a:r>
            <a:r>
              <a:rPr sz="1600" dirty="0">
                <a:latin typeface="Palatino Linotype" panose="02040502050505030304"/>
                <a:cs typeface="Palatino Linotype" panose="02040502050505030304"/>
              </a:rPr>
              <a:t>.</a:t>
            </a:r>
          </a:p>
          <a:p>
            <a:pPr lvl="1">
              <a:lnSpc>
                <a:spcPct val="100000"/>
              </a:lnSpc>
              <a:spcBef>
                <a:spcPts val="60"/>
              </a:spcBef>
              <a:buFont typeface="Wingdings" panose="05000000000000000000"/>
              <a:buChar char=""/>
            </a:pPr>
            <a:endParaRPr sz="1650" dirty="0">
              <a:latin typeface="Palatino Linotype" panose="02040502050505030304"/>
              <a:cs typeface="Palatino Linotype" panose="02040502050505030304"/>
            </a:endParaRPr>
          </a:p>
          <a:p>
            <a:pPr marL="242570" marR="5080" indent="-230505">
              <a:lnSpc>
                <a:spcPct val="121000"/>
              </a:lnSpc>
              <a:buFont typeface="Arial MT"/>
              <a:buChar char="•"/>
              <a:tabLst>
                <a:tab pos="242570" algn="l"/>
                <a:tab pos="242570" algn="l"/>
              </a:tabLst>
            </a:pPr>
            <a:r>
              <a:rPr sz="2000" spc="-5" dirty="0">
                <a:latin typeface="Palatino Linotype" panose="02040502050505030304"/>
                <a:cs typeface="Palatino Linotype" panose="02040502050505030304"/>
              </a:rPr>
              <a:t>An</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important</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use</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a:t>
            </a:r>
            <a:r>
              <a:rPr sz="2000" spc="5"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live-variable</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information</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register</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allocation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basic</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blocks</a:t>
            </a:r>
          </a:p>
          <a:p>
            <a:pPr marL="698500" marR="323215" lvl="1" indent="-228600">
              <a:lnSpc>
                <a:spcPct val="120000"/>
              </a:lnSpc>
              <a:spcBef>
                <a:spcPts val="71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not </a:t>
            </a:r>
            <a:r>
              <a:rPr sz="1600" spc="-5" dirty="0">
                <a:latin typeface="Palatino Linotype" panose="02040502050505030304"/>
                <a:cs typeface="Palatino Linotype" panose="02040502050505030304"/>
              </a:rPr>
              <a:t>necessary</a:t>
            </a:r>
            <a:r>
              <a:rPr sz="1600" dirty="0">
                <a:latin typeface="Palatino Linotype" panose="02040502050505030304"/>
                <a:cs typeface="Palatino Linotype" panose="02040502050505030304"/>
              </a:rPr>
              <a:t> to store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a:t>
            </a:r>
            <a:r>
              <a:rPr sz="1600" spc="-5" dirty="0">
                <a:latin typeface="Palatino Linotype" panose="02040502050505030304"/>
                <a:cs typeface="Palatino Linotype" panose="02040502050505030304"/>
              </a:rPr>
              <a:t> computed in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 </a:t>
            </a:r>
            <a:r>
              <a:rPr sz="1600" spc="-5" dirty="0">
                <a:latin typeface="Palatino Linotype" panose="02040502050505030304"/>
                <a:cs typeface="Palatino Linotype" panose="02040502050505030304"/>
              </a:rPr>
              <a:t>register</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memory</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at the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end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a </a:t>
            </a:r>
            <a:r>
              <a:rPr sz="1600" spc="-5" dirty="0">
                <a:latin typeface="Palatino Linotype" panose="02040502050505030304"/>
                <a:cs typeface="Palatino Linotype" panose="02040502050505030304"/>
              </a:rPr>
              <a:t>basic</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block</a:t>
            </a:r>
            <a:endParaRPr sz="1600" dirty="0">
              <a:latin typeface="Palatino Linotype" panose="02040502050505030304"/>
              <a:cs typeface="Palatino Linotype" panose="02040502050505030304"/>
            </a:endParaRPr>
          </a:p>
          <a:p>
            <a:pPr marL="698500" marR="43180" lvl="1" indent="-228600">
              <a:lnSpc>
                <a:spcPct val="119000"/>
              </a:lnSpc>
              <a:spcBef>
                <a:spcPts val="62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If</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all</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registers</a:t>
            </a:r>
            <a:r>
              <a:rPr sz="1600" dirty="0">
                <a:latin typeface="Palatino Linotype" panose="02040502050505030304"/>
                <a:cs typeface="Palatino Linotype" panose="02040502050505030304"/>
              </a:rPr>
              <a:t> are</a:t>
            </a:r>
            <a:r>
              <a:rPr sz="1600" spc="-5" dirty="0">
                <a:latin typeface="Palatino Linotype" panose="02040502050505030304"/>
                <a:cs typeface="Palatino Linotype" panose="02040502050505030304"/>
              </a:rPr>
              <a:t> used</a:t>
            </a:r>
            <a:r>
              <a:rPr sz="1600" dirty="0">
                <a:latin typeface="Palatino Linotype" panose="02040502050505030304"/>
                <a:cs typeface="Palatino Linotype" panose="02040502050505030304"/>
              </a:rPr>
              <a:t> and </a:t>
            </a:r>
            <a:r>
              <a:rPr sz="1600" spc="-15" dirty="0">
                <a:latin typeface="Palatino Linotype" panose="02040502050505030304"/>
                <a:cs typeface="Palatino Linotype" panose="02040502050505030304"/>
              </a:rPr>
              <a:t>we</a:t>
            </a:r>
            <a:r>
              <a:rPr sz="1600" spc="-5" dirty="0">
                <a:latin typeface="Palatino Linotype" panose="02040502050505030304"/>
                <a:cs typeface="Palatino Linotype" panose="02040502050505030304"/>
              </a:rPr>
              <a:t> need</a:t>
            </a:r>
            <a:r>
              <a:rPr sz="1600" dirty="0">
                <a:latin typeface="Palatino Linotype" panose="02040502050505030304"/>
                <a:cs typeface="Palatino Linotype" panose="02040502050505030304"/>
              </a:rPr>
              <a:t> another</a:t>
            </a:r>
            <a:r>
              <a:rPr sz="1600" spc="10"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register,</a:t>
            </a:r>
            <a:r>
              <a:rPr sz="1600" spc="5"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we</a:t>
            </a:r>
            <a:r>
              <a:rPr sz="1600" spc="-5" dirty="0">
                <a:latin typeface="Palatino Linotype" panose="02040502050505030304"/>
                <a:cs typeface="Palatino Linotype" panose="02040502050505030304"/>
              </a:rPr>
              <a:t> should</a:t>
            </a:r>
            <a:r>
              <a:rPr sz="1600"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favor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using </a:t>
            </a:r>
            <a:r>
              <a:rPr sz="1600" dirty="0">
                <a:latin typeface="Palatino Linotype" panose="02040502050505030304"/>
                <a:cs typeface="Palatino Linotype" panose="02040502050505030304"/>
              </a:rPr>
              <a:t>a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register</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with</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 </a:t>
            </a:r>
            <a:r>
              <a:rPr sz="1600" spc="-5" dirty="0">
                <a:latin typeface="Palatino Linotype" panose="02040502050505030304"/>
                <a:cs typeface="Palatino Linotype" panose="02040502050505030304"/>
              </a:rPr>
              <a:t>dead </a:t>
            </a:r>
            <a:r>
              <a:rPr sz="1600" spc="-15" dirty="0">
                <a:latin typeface="Palatino Linotype" panose="02040502050505030304"/>
                <a:cs typeface="Palatino Linotype" panose="02040502050505030304"/>
              </a:rPr>
              <a:t>value</a:t>
            </a:r>
            <a:endParaRPr sz="1600" dirty="0">
              <a:latin typeface="Palatino Linotype" panose="02040502050505030304"/>
              <a:cs typeface="Palatino Linotype" panose="02040502050505030304"/>
            </a:endParaRPr>
          </a:p>
          <a:p>
            <a:pPr lvl="1">
              <a:lnSpc>
                <a:spcPct val="100000"/>
              </a:lnSpc>
              <a:spcBef>
                <a:spcPts val="25"/>
              </a:spcBef>
              <a:buFont typeface="Wingdings" panose="05000000000000000000"/>
              <a:buChar char=""/>
            </a:pPr>
            <a:endParaRPr sz="2050" dirty="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2000" spc="-5" dirty="0">
                <a:latin typeface="Palatino Linotype" panose="02040502050505030304"/>
                <a:cs typeface="Palatino Linotype" panose="02040502050505030304"/>
              </a:rPr>
              <a:t>Another</a:t>
            </a:r>
            <a:r>
              <a:rPr sz="2000" spc="-1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imporant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use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to</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eliminate</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dead</a:t>
            </a:r>
            <a:r>
              <a:rPr sz="2000" spc="-5" dirty="0">
                <a:latin typeface="Palatino Linotype" panose="02040502050505030304"/>
                <a:cs typeface="Palatino Linotype" panose="02040502050505030304"/>
              </a:rPr>
              <a:t> code</a:t>
            </a:r>
            <a:endParaRPr sz="2000" dirty="0">
              <a:latin typeface="Palatino Linotype" panose="02040502050505030304"/>
              <a:cs typeface="Palatino Linotype" panose="02040502050505030304"/>
            </a:endParaRPr>
          </a:p>
          <a:p>
            <a:pPr marL="698500" lvl="1" indent="-228600">
              <a:lnSpc>
                <a:spcPct val="100000"/>
              </a:lnSpc>
              <a:spcBef>
                <a:spcPts val="10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If</a:t>
            </a:r>
            <a:r>
              <a:rPr sz="1600" dirty="0">
                <a:latin typeface="Palatino Linotype" panose="02040502050505030304"/>
                <a:cs typeface="Palatino Linotype" panose="02040502050505030304"/>
              </a:rPr>
              <a:t> a </a:t>
            </a:r>
            <a:r>
              <a:rPr sz="1600" spc="-15" dirty="0">
                <a:latin typeface="Palatino Linotype" panose="02040502050505030304"/>
                <a:cs typeface="Palatino Linotype" panose="02040502050505030304"/>
              </a:rPr>
              <a:t>value</a:t>
            </a:r>
            <a:r>
              <a:rPr sz="1600" spc="-5" dirty="0">
                <a:latin typeface="Palatino Linotype" panose="02040502050505030304"/>
                <a:cs typeface="Palatino Linotype" panose="02040502050505030304"/>
              </a:rPr>
              <a:t> is dead </a:t>
            </a:r>
            <a:r>
              <a:rPr sz="1600" dirty="0">
                <a:latin typeface="Palatino Linotype" panose="02040502050505030304"/>
                <a:cs typeface="Palatino Linotype" panose="02040502050505030304"/>
              </a:rPr>
              <a:t>a</a:t>
            </a:r>
            <a:r>
              <a:rPr lang="en-US" altLang="zh-CN" sz="1600" dirty="0">
                <a:latin typeface="Palatino Linotype" panose="02040502050505030304"/>
                <a:cs typeface="Palatino Linotype" panose="02040502050505030304"/>
              </a:rPr>
              <a:t>t</a:t>
            </a:r>
            <a:r>
              <a:rPr sz="1600" dirty="0">
                <a:latin typeface="Palatino Linotype" panose="02040502050505030304"/>
                <a:cs typeface="Palatino Linotype" panose="02040502050505030304"/>
              </a:rPr>
              <a:t> a point, there</a:t>
            </a:r>
            <a:r>
              <a:rPr sz="1600" spc="-5" dirty="0">
                <a:latin typeface="Palatino Linotype" panose="02040502050505030304"/>
                <a:cs typeface="Palatino Linotype" panose="02040502050505030304"/>
              </a:rPr>
              <a:t> is </a:t>
            </a:r>
            <a:r>
              <a:rPr sz="1600" dirty="0">
                <a:latin typeface="Palatino Linotype" panose="02040502050505030304"/>
                <a:cs typeface="Palatino Linotype" panose="02040502050505030304"/>
              </a:rPr>
              <a:t>no </a:t>
            </a:r>
            <a:r>
              <a:rPr sz="1600" spc="-5" dirty="0">
                <a:latin typeface="Palatino Linotype" panose="02040502050505030304"/>
                <a:cs typeface="Palatino Linotype" panose="02040502050505030304"/>
              </a:rPr>
              <a:t>need </a:t>
            </a:r>
            <a:r>
              <a:rPr sz="1600" dirty="0">
                <a:latin typeface="Palatino Linotype" panose="02040502050505030304"/>
                <a:cs typeface="Palatino Linotype" panose="02040502050505030304"/>
              </a:rPr>
              <a:t>to </a:t>
            </a:r>
            <a:r>
              <a:rPr sz="1600" spc="-5" dirty="0">
                <a:latin typeface="Palatino Linotype" panose="02040502050505030304"/>
                <a:cs typeface="Palatino Linotype" panose="02040502050505030304"/>
              </a:rPr>
              <a:t>compute it</a:t>
            </a:r>
            <a:endParaRPr sz="1600" dirty="0">
              <a:latin typeface="Palatino Linotype" panose="02040502050505030304"/>
              <a:cs typeface="Palatino Linotype" panose="020405020505050303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b="1" dirty="0">
                <a:latin typeface="Palatino Linotype" panose="02040502050505030304"/>
                <a:cs typeface="Palatino Linotype" panose="02040502050505030304"/>
              </a:rPr>
              <a:t>Exa</a:t>
            </a:r>
            <a:r>
              <a:rPr sz="4000" b="1" spc="5" dirty="0">
                <a:latin typeface="Palatino Linotype" panose="02040502050505030304"/>
                <a:cs typeface="Palatino Linotype" panose="02040502050505030304"/>
              </a:rPr>
              <a:t>m</a:t>
            </a:r>
            <a:r>
              <a:rPr sz="4000" b="1" spc="-10" dirty="0">
                <a:latin typeface="Palatino Linotype" panose="02040502050505030304"/>
                <a:cs typeface="Palatino Linotype" panose="02040502050505030304"/>
              </a:rPr>
              <a:t>p</a:t>
            </a:r>
            <a:r>
              <a:rPr sz="4000" b="1" spc="5" dirty="0">
                <a:latin typeface="Palatino Linotype" panose="02040502050505030304"/>
                <a:cs typeface="Palatino Linotype" panose="02040502050505030304"/>
              </a:rPr>
              <a:t>l</a:t>
            </a:r>
            <a:r>
              <a:rPr sz="4000" b="1" dirty="0">
                <a:latin typeface="Palatino Linotype" panose="02040502050505030304"/>
                <a:cs typeface="Palatino Linotype" panose="02040502050505030304"/>
              </a:rPr>
              <a:t>e</a:t>
            </a:r>
            <a:endParaRPr sz="4000">
              <a:latin typeface="Palatino Linotype" panose="02040502050505030304"/>
              <a:cs typeface="Palatino Linotype" panose="02040502050505030304"/>
            </a:endParaRPr>
          </a:p>
        </p:txBody>
      </p:sp>
      <p:sp>
        <p:nvSpPr>
          <p:cNvPr id="3" name="object 3"/>
          <p:cNvSpPr txBox="1"/>
          <p:nvPr/>
        </p:nvSpPr>
        <p:spPr>
          <a:xfrm>
            <a:off x="1839180" y="2030908"/>
            <a:ext cx="817880" cy="646430"/>
          </a:xfrm>
          <a:prstGeom prst="rect">
            <a:avLst/>
          </a:prstGeom>
          <a:ln w="9525">
            <a:solidFill>
              <a:srgbClr val="000000"/>
            </a:solidFill>
          </a:ln>
        </p:spPr>
        <p:txBody>
          <a:bodyPr vert="horz" wrap="square" lIns="0" tIns="32384" rIns="0" bIns="0" rtlCol="0">
            <a:spAutoFit/>
          </a:bodyPr>
          <a:lstStyle/>
          <a:p>
            <a:pPr marL="91440">
              <a:lnSpc>
                <a:spcPct val="100000"/>
              </a:lnSpc>
              <a:spcBef>
                <a:spcPts val="255"/>
              </a:spcBef>
            </a:pPr>
            <a:r>
              <a:rPr sz="1800" dirty="0">
                <a:latin typeface="Consolas" panose="020B0609020204030204"/>
                <a:cs typeface="Consolas" panose="020B0609020204030204"/>
              </a:rPr>
              <a:t>i</a:t>
            </a:r>
            <a:r>
              <a:rPr sz="1800" spc="-55" dirty="0">
                <a:latin typeface="Consolas" panose="020B0609020204030204"/>
                <a:cs typeface="Consolas" panose="020B0609020204030204"/>
              </a:rPr>
              <a:t> </a:t>
            </a:r>
            <a:r>
              <a:rPr sz="1800" dirty="0">
                <a:latin typeface="Consolas" panose="020B0609020204030204"/>
                <a:cs typeface="Consolas" panose="020B0609020204030204"/>
              </a:rPr>
              <a:t>=</a:t>
            </a:r>
            <a:r>
              <a:rPr sz="1800" spc="-55" dirty="0">
                <a:latin typeface="Consolas" panose="020B0609020204030204"/>
                <a:cs typeface="Consolas" panose="020B0609020204030204"/>
              </a:rPr>
              <a:t> </a:t>
            </a:r>
            <a:r>
              <a:rPr sz="1800" dirty="0">
                <a:latin typeface="Consolas" panose="020B0609020204030204"/>
                <a:cs typeface="Consolas" panose="020B0609020204030204"/>
              </a:rPr>
              <a:t>3</a:t>
            </a:r>
            <a:endParaRPr sz="1800">
              <a:latin typeface="Consolas" panose="020B0609020204030204"/>
              <a:cs typeface="Consolas" panose="020B0609020204030204"/>
            </a:endParaRPr>
          </a:p>
          <a:p>
            <a:pPr marL="91440">
              <a:lnSpc>
                <a:spcPct val="100000"/>
              </a:lnSpc>
              <a:spcBef>
                <a:spcPts val="50"/>
              </a:spcBef>
            </a:pPr>
            <a:r>
              <a:rPr sz="1800" dirty="0">
                <a:latin typeface="Consolas" panose="020B0609020204030204"/>
                <a:cs typeface="Consolas" panose="020B0609020204030204"/>
              </a:rPr>
              <a:t>j</a:t>
            </a:r>
            <a:r>
              <a:rPr sz="1800" spc="-55" dirty="0">
                <a:latin typeface="Consolas" panose="020B0609020204030204"/>
                <a:cs typeface="Consolas" panose="020B0609020204030204"/>
              </a:rPr>
              <a:t> </a:t>
            </a:r>
            <a:r>
              <a:rPr sz="1800" dirty="0">
                <a:latin typeface="Consolas" panose="020B0609020204030204"/>
                <a:cs typeface="Consolas" panose="020B0609020204030204"/>
              </a:rPr>
              <a:t>=</a:t>
            </a:r>
            <a:r>
              <a:rPr sz="1800" spc="-55" dirty="0">
                <a:latin typeface="Consolas" panose="020B0609020204030204"/>
                <a:cs typeface="Consolas" panose="020B0609020204030204"/>
              </a:rPr>
              <a:t> </a:t>
            </a:r>
            <a:r>
              <a:rPr sz="1800" dirty="0">
                <a:latin typeface="Consolas" panose="020B0609020204030204"/>
                <a:cs typeface="Consolas" panose="020B0609020204030204"/>
              </a:rPr>
              <a:t>4</a:t>
            </a:r>
            <a:endParaRPr sz="1800">
              <a:latin typeface="Consolas" panose="020B0609020204030204"/>
              <a:cs typeface="Consolas" panose="020B0609020204030204"/>
            </a:endParaRPr>
          </a:p>
        </p:txBody>
      </p:sp>
      <p:sp>
        <p:nvSpPr>
          <p:cNvPr id="4" name="object 4"/>
          <p:cNvSpPr txBox="1"/>
          <p:nvPr/>
        </p:nvSpPr>
        <p:spPr>
          <a:xfrm>
            <a:off x="1585907" y="3225448"/>
            <a:ext cx="1324610" cy="646430"/>
          </a:xfrm>
          <a:prstGeom prst="rect">
            <a:avLst/>
          </a:prstGeom>
          <a:ln w="9525">
            <a:solidFill>
              <a:srgbClr val="000000"/>
            </a:solidFill>
          </a:ln>
        </p:spPr>
        <p:txBody>
          <a:bodyPr vert="horz" wrap="square" lIns="0" tIns="26670" rIns="0" bIns="0" rtlCol="0">
            <a:spAutoFit/>
          </a:bodyPr>
          <a:lstStyle/>
          <a:p>
            <a:pPr marL="91440" marR="95885">
              <a:lnSpc>
                <a:spcPct val="102000"/>
              </a:lnSpc>
              <a:spcBef>
                <a:spcPts val="210"/>
              </a:spcBef>
            </a:pPr>
            <a:r>
              <a:rPr sz="1800" dirty="0">
                <a:latin typeface="Consolas" panose="020B0609020204030204"/>
                <a:cs typeface="Consolas" panose="020B0609020204030204"/>
              </a:rPr>
              <a:t>i</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i</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1 </a:t>
            </a:r>
            <a:r>
              <a:rPr sz="1800" spc="-975" dirty="0">
                <a:latin typeface="Consolas" panose="020B0609020204030204"/>
                <a:cs typeface="Consolas" panose="020B0609020204030204"/>
              </a:rPr>
              <a:t> </a:t>
            </a:r>
            <a:r>
              <a:rPr sz="1800" dirty="0">
                <a:latin typeface="Consolas" panose="020B0609020204030204"/>
                <a:cs typeface="Consolas" panose="020B0609020204030204"/>
              </a:rPr>
              <a:t>j</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j</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30" dirty="0">
                <a:latin typeface="Consolas" panose="020B0609020204030204"/>
                <a:cs typeface="Consolas" panose="020B0609020204030204"/>
              </a:rPr>
              <a:t> </a:t>
            </a:r>
            <a:r>
              <a:rPr sz="1800" dirty="0">
                <a:latin typeface="Consolas" panose="020B0609020204030204"/>
                <a:cs typeface="Consolas" panose="020B0609020204030204"/>
              </a:rPr>
              <a:t>1</a:t>
            </a:r>
            <a:endParaRPr sz="1800">
              <a:latin typeface="Consolas" panose="020B0609020204030204"/>
              <a:cs typeface="Consolas" panose="020B0609020204030204"/>
            </a:endParaRPr>
          </a:p>
        </p:txBody>
      </p:sp>
      <p:sp>
        <p:nvSpPr>
          <p:cNvPr id="5" name="object 5"/>
          <p:cNvSpPr txBox="1"/>
          <p:nvPr/>
        </p:nvSpPr>
        <p:spPr>
          <a:xfrm>
            <a:off x="1585907" y="4433646"/>
            <a:ext cx="1324610" cy="369570"/>
          </a:xfrm>
          <a:prstGeom prst="rect">
            <a:avLst/>
          </a:prstGeom>
          <a:ln w="9525">
            <a:solidFill>
              <a:srgbClr val="000000"/>
            </a:solidFill>
          </a:ln>
        </p:spPr>
        <p:txBody>
          <a:bodyPr vert="horz" wrap="square" lIns="0" tIns="31750" rIns="0" bIns="0" rtlCol="0">
            <a:spAutoFit/>
          </a:bodyPr>
          <a:lstStyle/>
          <a:p>
            <a:pPr marL="91440">
              <a:lnSpc>
                <a:spcPct val="100000"/>
              </a:lnSpc>
              <a:spcBef>
                <a:spcPts val="250"/>
              </a:spcBef>
            </a:pPr>
            <a:r>
              <a:rPr sz="1800" dirty="0">
                <a:latin typeface="Consolas" panose="020B0609020204030204"/>
                <a:cs typeface="Consolas" panose="020B0609020204030204"/>
              </a:rPr>
              <a:t>m</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j</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2</a:t>
            </a:r>
            <a:endParaRPr sz="1800">
              <a:latin typeface="Consolas" panose="020B0609020204030204"/>
              <a:cs typeface="Consolas" panose="020B0609020204030204"/>
            </a:endParaRPr>
          </a:p>
        </p:txBody>
      </p:sp>
      <p:sp>
        <p:nvSpPr>
          <p:cNvPr id="6" name="object 6"/>
          <p:cNvSpPr/>
          <p:nvPr/>
        </p:nvSpPr>
        <p:spPr>
          <a:xfrm>
            <a:off x="2210008" y="2677240"/>
            <a:ext cx="76200" cy="548640"/>
          </a:xfrm>
          <a:custGeom>
            <a:avLst/>
            <a:gdLst/>
            <a:ahLst/>
            <a:cxnLst/>
            <a:rect l="l" t="t" r="r" b="b"/>
            <a:pathLst>
              <a:path w="76200" h="548639">
                <a:moveTo>
                  <a:pt x="34925" y="472008"/>
                </a:moveTo>
                <a:lnTo>
                  <a:pt x="0" y="472009"/>
                </a:lnTo>
                <a:lnTo>
                  <a:pt x="38101" y="548209"/>
                </a:lnTo>
                <a:lnTo>
                  <a:pt x="69849" y="484709"/>
                </a:lnTo>
                <a:lnTo>
                  <a:pt x="34925" y="484709"/>
                </a:lnTo>
                <a:lnTo>
                  <a:pt x="34925" y="472008"/>
                </a:lnTo>
                <a:close/>
              </a:path>
              <a:path w="76200" h="548639">
                <a:moveTo>
                  <a:pt x="41275" y="472008"/>
                </a:moveTo>
                <a:lnTo>
                  <a:pt x="34925" y="472008"/>
                </a:lnTo>
                <a:lnTo>
                  <a:pt x="34925" y="484709"/>
                </a:lnTo>
                <a:lnTo>
                  <a:pt x="41275" y="484709"/>
                </a:lnTo>
                <a:lnTo>
                  <a:pt x="41275" y="472008"/>
                </a:lnTo>
                <a:close/>
              </a:path>
              <a:path w="76200" h="548639">
                <a:moveTo>
                  <a:pt x="76200" y="472008"/>
                </a:moveTo>
                <a:lnTo>
                  <a:pt x="41275" y="472008"/>
                </a:lnTo>
                <a:lnTo>
                  <a:pt x="41275" y="484709"/>
                </a:lnTo>
                <a:lnTo>
                  <a:pt x="69849" y="484709"/>
                </a:lnTo>
                <a:lnTo>
                  <a:pt x="76200" y="472008"/>
                </a:lnTo>
                <a:close/>
              </a:path>
              <a:path w="76200" h="548639">
                <a:moveTo>
                  <a:pt x="41275" y="0"/>
                </a:moveTo>
                <a:lnTo>
                  <a:pt x="34925" y="0"/>
                </a:lnTo>
                <a:lnTo>
                  <a:pt x="34925" y="472008"/>
                </a:lnTo>
                <a:lnTo>
                  <a:pt x="41275" y="472008"/>
                </a:lnTo>
                <a:lnTo>
                  <a:pt x="41275" y="0"/>
                </a:lnTo>
                <a:close/>
              </a:path>
            </a:pathLst>
          </a:custGeom>
          <a:solidFill>
            <a:srgbClr val="000000"/>
          </a:solidFill>
        </p:spPr>
        <p:txBody>
          <a:bodyPr wrap="square" lIns="0" tIns="0" rIns="0" bIns="0" rtlCol="0"/>
          <a:lstStyle/>
          <a:p>
            <a:endParaRPr/>
          </a:p>
        </p:txBody>
      </p:sp>
      <p:sp>
        <p:nvSpPr>
          <p:cNvPr id="7" name="object 7"/>
          <p:cNvSpPr/>
          <p:nvPr/>
        </p:nvSpPr>
        <p:spPr>
          <a:xfrm>
            <a:off x="2210008" y="3871780"/>
            <a:ext cx="76200" cy="561975"/>
          </a:xfrm>
          <a:custGeom>
            <a:avLst/>
            <a:gdLst/>
            <a:ahLst/>
            <a:cxnLst/>
            <a:rect l="l" t="t" r="r" b="b"/>
            <a:pathLst>
              <a:path w="76200" h="561975">
                <a:moveTo>
                  <a:pt x="34925" y="485665"/>
                </a:moveTo>
                <a:lnTo>
                  <a:pt x="0" y="485665"/>
                </a:lnTo>
                <a:lnTo>
                  <a:pt x="38101" y="561865"/>
                </a:lnTo>
                <a:lnTo>
                  <a:pt x="69850" y="498365"/>
                </a:lnTo>
                <a:lnTo>
                  <a:pt x="34925" y="498365"/>
                </a:lnTo>
                <a:lnTo>
                  <a:pt x="34925" y="485665"/>
                </a:lnTo>
                <a:close/>
              </a:path>
              <a:path w="76200" h="561975">
                <a:moveTo>
                  <a:pt x="41275" y="0"/>
                </a:moveTo>
                <a:lnTo>
                  <a:pt x="34925" y="0"/>
                </a:lnTo>
                <a:lnTo>
                  <a:pt x="34925" y="498365"/>
                </a:lnTo>
                <a:lnTo>
                  <a:pt x="41275" y="498365"/>
                </a:lnTo>
                <a:lnTo>
                  <a:pt x="41275" y="0"/>
                </a:lnTo>
                <a:close/>
              </a:path>
              <a:path w="76200" h="561975">
                <a:moveTo>
                  <a:pt x="76200" y="485665"/>
                </a:moveTo>
                <a:lnTo>
                  <a:pt x="41275" y="485665"/>
                </a:lnTo>
                <a:lnTo>
                  <a:pt x="41275" y="498365"/>
                </a:lnTo>
                <a:lnTo>
                  <a:pt x="69850" y="498365"/>
                </a:lnTo>
                <a:lnTo>
                  <a:pt x="76200" y="485665"/>
                </a:lnTo>
                <a:close/>
              </a:path>
            </a:pathLst>
          </a:custGeom>
          <a:solidFill>
            <a:srgbClr val="000000"/>
          </a:solidFill>
        </p:spPr>
        <p:txBody>
          <a:bodyPr wrap="square" lIns="0" tIns="0" rIns="0" bIns="0" rtlCol="0"/>
          <a:lstStyle/>
          <a:p>
            <a:endParaRPr/>
          </a:p>
        </p:txBody>
      </p:sp>
      <p:sp>
        <p:nvSpPr>
          <p:cNvPr id="8" name="object 8"/>
          <p:cNvSpPr/>
          <p:nvPr/>
        </p:nvSpPr>
        <p:spPr>
          <a:xfrm>
            <a:off x="2195932" y="1731501"/>
            <a:ext cx="76200" cy="299720"/>
          </a:xfrm>
          <a:custGeom>
            <a:avLst/>
            <a:gdLst/>
            <a:ahLst/>
            <a:cxnLst/>
            <a:rect l="l" t="t" r="r" b="b"/>
            <a:pathLst>
              <a:path w="76200" h="299719">
                <a:moveTo>
                  <a:pt x="34924" y="223207"/>
                </a:moveTo>
                <a:lnTo>
                  <a:pt x="0" y="223207"/>
                </a:lnTo>
                <a:lnTo>
                  <a:pt x="38100" y="299407"/>
                </a:lnTo>
                <a:lnTo>
                  <a:pt x="69850" y="235907"/>
                </a:lnTo>
                <a:lnTo>
                  <a:pt x="34925" y="235907"/>
                </a:lnTo>
                <a:lnTo>
                  <a:pt x="34924" y="223207"/>
                </a:lnTo>
                <a:close/>
              </a:path>
              <a:path w="76200" h="299719">
                <a:moveTo>
                  <a:pt x="41273" y="0"/>
                </a:moveTo>
                <a:lnTo>
                  <a:pt x="34923" y="0"/>
                </a:lnTo>
                <a:lnTo>
                  <a:pt x="34925" y="235907"/>
                </a:lnTo>
                <a:lnTo>
                  <a:pt x="41275" y="235907"/>
                </a:lnTo>
                <a:lnTo>
                  <a:pt x="41273" y="0"/>
                </a:lnTo>
                <a:close/>
              </a:path>
              <a:path w="76200" h="299719">
                <a:moveTo>
                  <a:pt x="76200" y="223207"/>
                </a:moveTo>
                <a:lnTo>
                  <a:pt x="41274" y="223207"/>
                </a:lnTo>
                <a:lnTo>
                  <a:pt x="41275" y="235907"/>
                </a:lnTo>
                <a:lnTo>
                  <a:pt x="69850" y="235907"/>
                </a:lnTo>
                <a:lnTo>
                  <a:pt x="76200" y="223207"/>
                </a:lnTo>
                <a:close/>
              </a:path>
            </a:pathLst>
          </a:custGeom>
          <a:solidFill>
            <a:srgbClr val="000000"/>
          </a:solidFill>
        </p:spPr>
        <p:txBody>
          <a:bodyPr wrap="square" lIns="0" tIns="0" rIns="0" bIns="0" rtlCol="0"/>
          <a:lstStyle/>
          <a:p>
            <a:endParaRPr/>
          </a:p>
        </p:txBody>
      </p:sp>
      <p:sp>
        <p:nvSpPr>
          <p:cNvPr id="9" name="object 9"/>
          <p:cNvSpPr/>
          <p:nvPr/>
        </p:nvSpPr>
        <p:spPr>
          <a:xfrm>
            <a:off x="2210431" y="4802977"/>
            <a:ext cx="76200" cy="299720"/>
          </a:xfrm>
          <a:custGeom>
            <a:avLst/>
            <a:gdLst/>
            <a:ahLst/>
            <a:cxnLst/>
            <a:rect l="l" t="t" r="r" b="b"/>
            <a:pathLst>
              <a:path w="76200" h="299720">
                <a:moveTo>
                  <a:pt x="34925" y="223207"/>
                </a:moveTo>
                <a:lnTo>
                  <a:pt x="0" y="223207"/>
                </a:lnTo>
                <a:lnTo>
                  <a:pt x="38101" y="299407"/>
                </a:lnTo>
                <a:lnTo>
                  <a:pt x="69850" y="235907"/>
                </a:lnTo>
                <a:lnTo>
                  <a:pt x="34925" y="235907"/>
                </a:lnTo>
                <a:lnTo>
                  <a:pt x="34925" y="223207"/>
                </a:lnTo>
                <a:close/>
              </a:path>
              <a:path w="76200" h="299720">
                <a:moveTo>
                  <a:pt x="41275" y="0"/>
                </a:moveTo>
                <a:lnTo>
                  <a:pt x="34925" y="0"/>
                </a:lnTo>
                <a:lnTo>
                  <a:pt x="34925" y="235907"/>
                </a:lnTo>
                <a:lnTo>
                  <a:pt x="41275" y="235907"/>
                </a:lnTo>
                <a:lnTo>
                  <a:pt x="41275" y="0"/>
                </a:lnTo>
                <a:close/>
              </a:path>
              <a:path w="76200" h="299720">
                <a:moveTo>
                  <a:pt x="76200" y="223207"/>
                </a:moveTo>
                <a:lnTo>
                  <a:pt x="41275" y="223207"/>
                </a:lnTo>
                <a:lnTo>
                  <a:pt x="41275" y="235907"/>
                </a:lnTo>
                <a:lnTo>
                  <a:pt x="69850" y="235907"/>
                </a:lnTo>
                <a:lnTo>
                  <a:pt x="76200" y="223207"/>
                </a:lnTo>
                <a:close/>
              </a:path>
            </a:pathLst>
          </a:custGeom>
          <a:solidFill>
            <a:srgbClr val="000000"/>
          </a:solidFill>
        </p:spPr>
        <p:txBody>
          <a:bodyPr wrap="square" lIns="0" tIns="0" rIns="0" bIns="0" rtlCol="0"/>
          <a:lstStyle/>
          <a:p>
            <a:endParaRPr/>
          </a:p>
        </p:txBody>
      </p:sp>
      <p:sp>
        <p:nvSpPr>
          <p:cNvPr id="10" name="object 10"/>
          <p:cNvSpPr txBox="1"/>
          <p:nvPr/>
        </p:nvSpPr>
        <p:spPr>
          <a:xfrm>
            <a:off x="3736336" y="1675891"/>
            <a:ext cx="364871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Palatino Linotype" panose="02040502050505030304"/>
                <a:cs typeface="Palatino Linotype" panose="02040502050505030304"/>
              </a:rPr>
              <a:t>For</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partial</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flow</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graph,</a:t>
            </a:r>
            <a:r>
              <a:rPr sz="1800" spc="-1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10" dirty="0">
                <a:latin typeface="Palatino Linotype" panose="02040502050505030304"/>
                <a:cs typeface="Palatino Linotype" panose="02040502050505030304"/>
              </a:rPr>
              <a:t> have:</a:t>
            </a:r>
            <a:endParaRPr sz="1800">
              <a:latin typeface="Palatino Linotype" panose="02040502050505030304"/>
              <a:cs typeface="Palatino Linotype" panose="02040502050505030304"/>
            </a:endParaRPr>
          </a:p>
        </p:txBody>
      </p:sp>
      <p:sp>
        <p:nvSpPr>
          <p:cNvPr id="19" name="object 1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20" name="object 2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21" name="object 2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56</a:t>
            </a:fld>
            <a:endParaRPr dirty="0"/>
          </a:p>
        </p:txBody>
      </p:sp>
      <p:sp>
        <p:nvSpPr>
          <p:cNvPr id="11" name="object 11"/>
          <p:cNvSpPr txBox="1"/>
          <p:nvPr/>
        </p:nvSpPr>
        <p:spPr>
          <a:xfrm>
            <a:off x="1001846" y="1775459"/>
            <a:ext cx="842644" cy="1433830"/>
          </a:xfrm>
          <a:prstGeom prst="rect">
            <a:avLst/>
          </a:prstGeom>
        </p:spPr>
        <p:txBody>
          <a:bodyPr vert="horz" wrap="square" lIns="0" tIns="12700" rIns="0" bIns="0" rtlCol="0">
            <a:spAutoFit/>
          </a:bodyPr>
          <a:lstStyle/>
          <a:p>
            <a:pPr marL="384810">
              <a:lnSpc>
                <a:spcPct val="100000"/>
              </a:lnSpc>
              <a:spcBef>
                <a:spcPts val="10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1</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marL="384810">
              <a:lnSpc>
                <a:spcPct val="100000"/>
              </a:lnSpc>
              <a:spcBef>
                <a:spcPts val="168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2</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marL="384810">
              <a:lnSpc>
                <a:spcPct val="100000"/>
              </a:lnSpc>
              <a:spcBef>
                <a:spcPts val="168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3</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marL="12700">
              <a:lnSpc>
                <a:spcPct val="100000"/>
              </a:lnSpc>
              <a:spcBef>
                <a:spcPts val="1005"/>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4</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p:txBody>
      </p:sp>
      <p:sp>
        <p:nvSpPr>
          <p:cNvPr id="12" name="object 12"/>
          <p:cNvSpPr txBox="1"/>
          <p:nvPr/>
        </p:nvSpPr>
        <p:spPr>
          <a:xfrm>
            <a:off x="1001544" y="3396996"/>
            <a:ext cx="470534" cy="1537335"/>
          </a:xfrm>
          <a:prstGeom prst="rect">
            <a:avLst/>
          </a:prstGeom>
        </p:spPr>
        <p:txBody>
          <a:bodyPr vert="horz" wrap="square" lIns="0" tIns="12700" rIns="0" bIns="0" rtlCol="0">
            <a:spAutoFit/>
          </a:bodyPr>
          <a:lstStyle/>
          <a:p>
            <a:pPr marL="12700">
              <a:lnSpc>
                <a:spcPct val="100000"/>
              </a:lnSpc>
              <a:spcBef>
                <a:spcPts val="10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5</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marL="12700">
              <a:lnSpc>
                <a:spcPct val="100000"/>
              </a:lnSpc>
              <a:spcBef>
                <a:spcPts val="168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6</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a:lnSpc>
                <a:spcPct val="100000"/>
              </a:lnSpc>
              <a:spcBef>
                <a:spcPts val="30"/>
              </a:spcBef>
            </a:pPr>
            <a:endParaRPr sz="1400">
              <a:latin typeface="宋体" panose="02010600030101010101" pitchFamily="2" charset="-122"/>
              <a:cs typeface="宋体" panose="02010600030101010101" pitchFamily="2" charset="-122"/>
            </a:endParaRPr>
          </a:p>
          <a:p>
            <a:pPr marL="12700">
              <a:lnSpc>
                <a:spcPct val="100000"/>
              </a:lnSpc>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7</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a:p>
            <a:pPr marL="12700">
              <a:lnSpc>
                <a:spcPct val="100000"/>
              </a:lnSpc>
              <a:spcBef>
                <a:spcPts val="1680"/>
              </a:spcBef>
            </a:pPr>
            <a:r>
              <a:rPr sz="1400" dirty="0">
                <a:latin typeface="宋体" panose="02010600030101010101" pitchFamily="2" charset="-122"/>
                <a:cs typeface="宋体" panose="02010600030101010101" pitchFamily="2" charset="-122"/>
              </a:rPr>
              <a:t>（</a:t>
            </a:r>
            <a:r>
              <a:rPr sz="1400" dirty="0">
                <a:latin typeface="Palatino Linotype" panose="02040502050505030304"/>
                <a:cs typeface="Palatino Linotype" panose="02040502050505030304"/>
              </a:rPr>
              <a:t>8</a:t>
            </a:r>
            <a:r>
              <a:rPr sz="1400" dirty="0">
                <a:latin typeface="宋体" panose="02010600030101010101" pitchFamily="2" charset="-122"/>
                <a:cs typeface="宋体" panose="02010600030101010101" pitchFamily="2" charset="-122"/>
              </a:rPr>
              <a:t>）</a:t>
            </a:r>
            <a:endParaRPr sz="1400">
              <a:latin typeface="宋体" panose="02010600030101010101" pitchFamily="2" charset="-122"/>
              <a:cs typeface="宋体" panose="02010600030101010101" pitchFamily="2" charset="-122"/>
            </a:endParaRPr>
          </a:p>
        </p:txBody>
      </p:sp>
      <p:graphicFrame>
        <p:nvGraphicFramePr>
          <p:cNvPr id="13" name="object 13"/>
          <p:cNvGraphicFramePr>
            <a:graphicFrameLocks noGrp="1"/>
          </p:cNvGraphicFramePr>
          <p:nvPr/>
        </p:nvGraphicFramePr>
        <p:xfrm>
          <a:off x="3709754" y="2110336"/>
          <a:ext cx="4231639" cy="3017520"/>
        </p:xfrm>
        <a:graphic>
          <a:graphicData uri="http://schemas.openxmlformats.org/drawingml/2006/table">
            <a:tbl>
              <a:tblPr firstRow="1" bandRow="1">
                <a:tableStyleId>{2D5ABB26-0587-4C30-8999-92F81FD0307C}</a:tableStyleId>
              </a:tblPr>
              <a:tblGrid>
                <a:gridCol w="1057910">
                  <a:extLst>
                    <a:ext uri="{9D8B030D-6E8A-4147-A177-3AD203B41FA5}">
                      <a16:colId xmlns:a16="http://schemas.microsoft.com/office/drawing/2014/main" val="20000"/>
                    </a:ext>
                  </a:extLst>
                </a:gridCol>
                <a:gridCol w="1057910">
                  <a:extLst>
                    <a:ext uri="{9D8B030D-6E8A-4147-A177-3AD203B41FA5}">
                      <a16:colId xmlns:a16="http://schemas.microsoft.com/office/drawing/2014/main" val="20001"/>
                    </a:ext>
                  </a:extLst>
                </a:gridCol>
                <a:gridCol w="1057909">
                  <a:extLst>
                    <a:ext uri="{9D8B030D-6E8A-4147-A177-3AD203B41FA5}">
                      <a16:colId xmlns:a16="http://schemas.microsoft.com/office/drawing/2014/main" val="20002"/>
                    </a:ext>
                  </a:extLst>
                </a:gridCol>
                <a:gridCol w="1057910">
                  <a:extLst>
                    <a:ext uri="{9D8B030D-6E8A-4147-A177-3AD203B41FA5}">
                      <a16:colId xmlns:a16="http://schemas.microsoft.com/office/drawing/2014/main" val="20003"/>
                    </a:ext>
                  </a:extLst>
                </a:gridCol>
              </a:tblGrid>
              <a:tr h="335280">
                <a:tc>
                  <a:txBody>
                    <a:bodyPr/>
                    <a:lstStyle/>
                    <a:p>
                      <a:pPr algn="ctr">
                        <a:lnSpc>
                          <a:spcPct val="100000"/>
                        </a:lnSpc>
                        <a:spcBef>
                          <a:spcPts val="260"/>
                        </a:spcBef>
                      </a:pPr>
                      <a:r>
                        <a:rPr sz="1600" b="1" spc="-5" dirty="0">
                          <a:solidFill>
                            <a:srgbClr val="FFFFFF"/>
                          </a:solidFill>
                          <a:latin typeface="Palatino Linotype" panose="02040502050505030304"/>
                          <a:cs typeface="Palatino Linotype" panose="02040502050505030304"/>
                        </a:rPr>
                        <a:t>Point</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260"/>
                        </a:spcBef>
                      </a:pPr>
                      <a:r>
                        <a:rPr sz="1600" b="1" dirty="0">
                          <a:solidFill>
                            <a:srgbClr val="FFFFFF"/>
                          </a:solidFill>
                          <a:latin typeface="Palatino Linotype" panose="02040502050505030304"/>
                          <a:cs typeface="Palatino Linotype" panose="02040502050505030304"/>
                        </a:rPr>
                        <a:t>i</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260"/>
                        </a:spcBef>
                      </a:pPr>
                      <a:r>
                        <a:rPr sz="1600" b="1" dirty="0">
                          <a:solidFill>
                            <a:srgbClr val="FFFFFF"/>
                          </a:solidFill>
                          <a:latin typeface="Palatino Linotype" panose="02040502050505030304"/>
                          <a:cs typeface="Palatino Linotype" panose="02040502050505030304"/>
                        </a:rPr>
                        <a:t>j</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260"/>
                        </a:spcBef>
                      </a:pPr>
                      <a:r>
                        <a:rPr sz="1600" b="1" dirty="0">
                          <a:solidFill>
                            <a:srgbClr val="FFFFFF"/>
                          </a:solidFill>
                          <a:latin typeface="Palatino Linotype" panose="02040502050505030304"/>
                          <a:cs typeface="Palatino Linotype" panose="02040502050505030304"/>
                        </a:rPr>
                        <a:t>m</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extLst>
                  <a:ext uri="{0D108BD9-81ED-4DB2-BD59-A6C34878D82A}">
                    <a16:rowId xmlns:a16="http://schemas.microsoft.com/office/drawing/2014/main" val="10000"/>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(1)</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1"/>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(2)</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2"/>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(3)</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3"/>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(4)</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4"/>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(5)</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5"/>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(6)</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6"/>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(7)</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260"/>
                        </a:spcBef>
                      </a:pPr>
                      <a:r>
                        <a:rPr sz="1600" spc="-15" dirty="0">
                          <a:latin typeface="Palatino Linotype" panose="02040502050505030304"/>
                          <a:cs typeface="Palatino Linotype" panose="02040502050505030304"/>
                        </a:rPr>
                        <a:t>Live</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7"/>
                  </a:ext>
                </a:extLst>
              </a:tr>
              <a:tr h="335280">
                <a:tc>
                  <a:txBody>
                    <a:bodyPr/>
                    <a:lstStyle/>
                    <a:p>
                      <a:pPr algn="ctr">
                        <a:lnSpc>
                          <a:spcPct val="100000"/>
                        </a:lnSpc>
                        <a:spcBef>
                          <a:spcPts val="260"/>
                        </a:spcBef>
                      </a:pPr>
                      <a:r>
                        <a:rPr sz="1600" dirty="0">
                          <a:latin typeface="Palatino Linotype" panose="02040502050505030304"/>
                          <a:cs typeface="Palatino Linotype" panose="02040502050505030304"/>
                        </a:rPr>
                        <a:t>(8)</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260"/>
                        </a:spcBef>
                      </a:pPr>
                      <a:r>
                        <a:rPr sz="1600" spc="-5" dirty="0">
                          <a:latin typeface="Palatino Linotype" panose="02040502050505030304"/>
                          <a:cs typeface="Palatino Linotype" panose="02040502050505030304"/>
                        </a:rPr>
                        <a:t>Dead</a:t>
                      </a:r>
                      <a:endParaRPr sz="1600">
                        <a:latin typeface="Palatino Linotype" panose="02040502050505030304"/>
                        <a:cs typeface="Palatino Linotype" panose="02040502050505030304"/>
                      </a:endParaRPr>
                    </a:p>
                  </a:txBody>
                  <a:tcPr marL="0" marR="0" marT="3302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
        <p:nvSpPr>
          <p:cNvPr id="14" name="object 14"/>
          <p:cNvSpPr txBox="1"/>
          <p:nvPr/>
        </p:nvSpPr>
        <p:spPr>
          <a:xfrm>
            <a:off x="3421155" y="332723"/>
            <a:ext cx="5016500" cy="881380"/>
          </a:xfrm>
          <a:prstGeom prst="rect">
            <a:avLst/>
          </a:prstGeom>
          <a:solidFill>
            <a:srgbClr val="FFF2CC"/>
          </a:solidFill>
          <a:ln w="9525">
            <a:solidFill>
              <a:srgbClr val="000000"/>
            </a:solidFill>
          </a:ln>
        </p:spPr>
        <p:txBody>
          <a:bodyPr vert="horz" wrap="square" lIns="0" tIns="121285" rIns="0" bIns="0" rtlCol="0">
            <a:spAutoFit/>
          </a:bodyPr>
          <a:lstStyle/>
          <a:p>
            <a:pPr marL="90805">
              <a:lnSpc>
                <a:spcPct val="100000"/>
              </a:lnSpc>
              <a:spcBef>
                <a:spcPts val="955"/>
              </a:spcBef>
            </a:pPr>
            <a:r>
              <a:rPr sz="1800" b="1" i="1" spc="-5" dirty="0">
                <a:solidFill>
                  <a:srgbClr val="0432FF"/>
                </a:solidFill>
                <a:latin typeface="Palatino Linotype" panose="02040502050505030304"/>
                <a:cs typeface="Palatino Linotype" panose="02040502050505030304"/>
              </a:rPr>
              <a:t>Live:</a:t>
            </a:r>
            <a:r>
              <a:rPr sz="1800" b="1" i="1" dirty="0">
                <a:solidFill>
                  <a:srgbClr val="0432FF"/>
                </a:solidFill>
                <a:latin typeface="Palatino Linotype" panose="02040502050505030304"/>
                <a:cs typeface="Palatino Linotype" panose="02040502050505030304"/>
              </a:rPr>
              <a:t> </a:t>
            </a:r>
            <a:r>
              <a:rPr sz="1800" spc="-15" dirty="0">
                <a:latin typeface="Palatino Linotype" panose="02040502050505030304"/>
                <a:cs typeface="Palatino Linotype" panose="02040502050505030304"/>
              </a:rPr>
              <a:t>value</a:t>
            </a:r>
            <a:r>
              <a:rPr sz="1800" dirty="0">
                <a:latin typeface="Palatino Linotype" panose="02040502050505030304"/>
                <a:cs typeface="Palatino Linotype" panose="02040502050505030304"/>
              </a:rPr>
              <a:t> could be </a:t>
            </a:r>
            <a:r>
              <a:rPr sz="1800" spc="-5" dirty="0">
                <a:latin typeface="Palatino Linotype" panose="02040502050505030304"/>
                <a:cs typeface="Palatino Linotype" panose="02040502050505030304"/>
              </a:rPr>
              <a:t>used</a:t>
            </a:r>
            <a:r>
              <a:rPr sz="1800" dirty="0">
                <a:latin typeface="Palatino Linotype" panose="02040502050505030304"/>
                <a:cs typeface="Palatino Linotype" panose="02040502050505030304"/>
              </a:rPr>
              <a:t> on </a:t>
            </a:r>
            <a:r>
              <a:rPr sz="1800" spc="-5" dirty="0">
                <a:latin typeface="Palatino Linotype" panose="02040502050505030304"/>
                <a:cs typeface="Palatino Linotype" panose="02040502050505030304"/>
              </a:rPr>
              <a:t>subsequent</a:t>
            </a:r>
            <a:r>
              <a:rPr sz="1800" dirty="0">
                <a:latin typeface="Palatino Linotype" panose="02040502050505030304"/>
                <a:cs typeface="Palatino Linotype" panose="02040502050505030304"/>
              </a:rPr>
              <a:t> path</a:t>
            </a:r>
            <a:endParaRPr sz="1800">
              <a:latin typeface="Palatino Linotype" panose="02040502050505030304"/>
              <a:cs typeface="Palatino Linotype" panose="02040502050505030304"/>
            </a:endParaRPr>
          </a:p>
          <a:p>
            <a:pPr marL="90805">
              <a:lnSpc>
                <a:spcPct val="100000"/>
              </a:lnSpc>
              <a:spcBef>
                <a:spcPts val="1150"/>
              </a:spcBef>
            </a:pPr>
            <a:r>
              <a:rPr sz="1800" b="1" i="1" spc="-5" dirty="0">
                <a:solidFill>
                  <a:srgbClr val="FF0000"/>
                </a:solidFill>
                <a:latin typeface="Palatino Linotype" panose="02040502050505030304"/>
                <a:cs typeface="Palatino Linotype" panose="02040502050505030304"/>
              </a:rPr>
              <a:t>Dead:</a:t>
            </a:r>
            <a:r>
              <a:rPr sz="1800" b="1" i="1" spc="-10" dirty="0">
                <a:solidFill>
                  <a:srgbClr val="FF0000"/>
                </a:solidFill>
                <a:latin typeface="Palatino Linotype" panose="02040502050505030304"/>
                <a:cs typeface="Palatino Linotype" panose="02040502050505030304"/>
              </a:rPr>
              <a:t> </a:t>
            </a:r>
            <a:r>
              <a:rPr sz="1800" spc="-15" dirty="0">
                <a:latin typeface="Palatino Linotype" panose="02040502050505030304"/>
                <a:cs typeface="Palatino Linotype" panose="02040502050505030304"/>
              </a:rPr>
              <a:t>value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not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referenced on</a:t>
            </a:r>
            <a:r>
              <a:rPr sz="1800" spc="-5" dirty="0">
                <a:latin typeface="Palatino Linotype" panose="02040502050505030304"/>
                <a:cs typeface="Palatino Linotype" panose="02040502050505030304"/>
              </a:rPr>
              <a:t> subsequent </a:t>
            </a:r>
            <a:r>
              <a:rPr sz="1800" dirty="0">
                <a:latin typeface="Palatino Linotype" panose="02040502050505030304"/>
                <a:cs typeface="Palatino Linotype" panose="02040502050505030304"/>
              </a:rPr>
              <a:t>path</a:t>
            </a:r>
            <a:endParaRPr sz="1800">
              <a:latin typeface="Palatino Linotype" panose="02040502050505030304"/>
              <a:cs typeface="Palatino Linotype" panose="02040502050505030304"/>
            </a:endParaRPr>
          </a:p>
        </p:txBody>
      </p:sp>
      <p:sp>
        <p:nvSpPr>
          <p:cNvPr id="15" name="object 15"/>
          <p:cNvSpPr txBox="1"/>
          <p:nvPr/>
        </p:nvSpPr>
        <p:spPr>
          <a:xfrm>
            <a:off x="814954" y="5435780"/>
            <a:ext cx="7700645" cy="735965"/>
          </a:xfrm>
          <a:prstGeom prst="rect">
            <a:avLst/>
          </a:prstGeom>
          <a:solidFill>
            <a:srgbClr val="FFF2CC"/>
          </a:solidFill>
          <a:ln w="9525">
            <a:solidFill>
              <a:srgbClr val="000000"/>
            </a:solidFill>
          </a:ln>
        </p:spPr>
        <p:txBody>
          <a:bodyPr vert="horz" wrap="square" lIns="0" tIns="4445" rIns="0" bIns="0" rtlCol="0">
            <a:spAutoFit/>
          </a:bodyPr>
          <a:lstStyle/>
          <a:p>
            <a:pPr marL="91440" marR="335280">
              <a:lnSpc>
                <a:spcPct val="120000"/>
              </a:lnSpc>
              <a:spcBef>
                <a:spcPts val="35"/>
              </a:spcBef>
            </a:pPr>
            <a:r>
              <a:rPr sz="1800" b="1" spc="-5" dirty="0">
                <a:latin typeface="Palatino Linotype" panose="02040502050505030304"/>
                <a:cs typeface="Palatino Linotype" panose="02040502050505030304"/>
              </a:rPr>
              <a:t>Obsevation:</a:t>
            </a:r>
            <a:r>
              <a:rPr sz="1800" b="1" spc="10"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Live-variable</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analysis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10" dirty="0">
                <a:latin typeface="Palatino Linotype" panose="02040502050505030304"/>
                <a:cs typeface="Palatino Linotype" panose="02040502050505030304"/>
              </a:rPr>
              <a:t> </a:t>
            </a:r>
            <a:r>
              <a:rPr sz="1800" spc="-10" dirty="0">
                <a:solidFill>
                  <a:srgbClr val="FF0000"/>
                </a:solidFill>
                <a:latin typeface="Palatino Linotype" panose="02040502050505030304"/>
                <a:cs typeface="Palatino Linotype" panose="02040502050505030304"/>
              </a:rPr>
              <a:t>backward</a:t>
            </a:r>
            <a:r>
              <a:rPr sz="1800" spc="1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data-flow</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problem</a:t>
            </a:r>
            <a:r>
              <a:rPr sz="1800" spc="10" dirty="0">
                <a:solidFill>
                  <a:srgbClr val="FF0000"/>
                </a:solidFill>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since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subsquent</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defs/uses</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determine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liveness</a:t>
            </a:r>
            <a:r>
              <a:rPr sz="1800" dirty="0">
                <a:latin typeface="Palatino Linotype" panose="02040502050505030304"/>
                <a:cs typeface="Palatino Linotype" panose="02040502050505030304"/>
              </a:rPr>
              <a:t> 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variable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point</a:t>
            </a:r>
            <a:endParaRPr sz="1800">
              <a:latin typeface="Palatino Linotype" panose="02040502050505030304"/>
              <a:cs typeface="Palatino Linotype" panose="02040502050505030304"/>
            </a:endParaRPr>
          </a:p>
        </p:txBody>
      </p:sp>
      <p:sp>
        <p:nvSpPr>
          <p:cNvPr id="16" name="object 16"/>
          <p:cNvSpPr txBox="1"/>
          <p:nvPr/>
        </p:nvSpPr>
        <p:spPr>
          <a:xfrm>
            <a:off x="2835997" y="2191003"/>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1</a:t>
            </a:r>
            <a:endParaRPr sz="1800" baseline="-14000">
              <a:latin typeface="Palatino Linotype" panose="02040502050505030304"/>
              <a:cs typeface="Palatino Linotype" panose="02040502050505030304"/>
            </a:endParaRPr>
          </a:p>
        </p:txBody>
      </p:sp>
      <p:sp>
        <p:nvSpPr>
          <p:cNvPr id="17" name="object 17"/>
          <p:cNvSpPr txBox="1"/>
          <p:nvPr/>
        </p:nvSpPr>
        <p:spPr>
          <a:xfrm>
            <a:off x="3058111" y="3382771"/>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2</a:t>
            </a:r>
            <a:endParaRPr sz="1800" baseline="-14000">
              <a:latin typeface="Palatino Linotype" panose="02040502050505030304"/>
              <a:cs typeface="Palatino Linotype" panose="02040502050505030304"/>
            </a:endParaRPr>
          </a:p>
        </p:txBody>
      </p:sp>
      <p:sp>
        <p:nvSpPr>
          <p:cNvPr id="18" name="object 18"/>
          <p:cNvSpPr txBox="1"/>
          <p:nvPr/>
        </p:nvSpPr>
        <p:spPr>
          <a:xfrm>
            <a:off x="3057475" y="4449571"/>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3</a:t>
            </a:r>
            <a:endParaRPr sz="1800" baseline="-14000">
              <a:latin typeface="Palatino Linotype" panose="02040502050505030304"/>
              <a:cs typeface="Palatino Linotype" panose="020405020505050303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919980" cy="635000"/>
          </a:xfrm>
          <a:prstGeom prst="rect">
            <a:avLst/>
          </a:prstGeom>
        </p:spPr>
        <p:txBody>
          <a:bodyPr vert="horz" wrap="square" lIns="0" tIns="12700" rIns="0" bIns="0" rtlCol="0">
            <a:spAutoFit/>
          </a:bodyPr>
          <a:lstStyle/>
          <a:p>
            <a:pPr marL="12700">
              <a:lnSpc>
                <a:spcPct val="100000"/>
              </a:lnSpc>
              <a:spcBef>
                <a:spcPts val="100"/>
              </a:spcBef>
            </a:pPr>
            <a:r>
              <a:rPr sz="4000" dirty="0"/>
              <a:t>Data-Flow</a:t>
            </a:r>
            <a:r>
              <a:rPr sz="4000" spc="-60" dirty="0"/>
              <a:t> </a:t>
            </a:r>
            <a:r>
              <a:rPr sz="4000" spc="-5" dirty="0"/>
              <a:t>Equations</a:t>
            </a:r>
            <a:endParaRPr sz="4000"/>
          </a:p>
        </p:txBody>
      </p:sp>
      <p:graphicFrame>
        <p:nvGraphicFramePr>
          <p:cNvPr id="3" name="object 3"/>
          <p:cNvGraphicFramePr>
            <a:graphicFrameLocks noGrp="1"/>
          </p:cNvGraphicFramePr>
          <p:nvPr/>
        </p:nvGraphicFramePr>
        <p:xfrm>
          <a:off x="1090402" y="2718561"/>
          <a:ext cx="1451610" cy="723274"/>
        </p:xfrm>
        <a:graphic>
          <a:graphicData uri="http://schemas.openxmlformats.org/drawingml/2006/table">
            <a:tbl>
              <a:tblPr firstRow="1" bandRow="1">
                <a:tableStyleId>{2D5ABB26-0587-4C30-8999-92F81FD0307C}</a:tableStyleId>
              </a:tblPr>
              <a:tblGrid>
                <a:gridCol w="530860">
                  <a:extLst>
                    <a:ext uri="{9D8B030D-6E8A-4147-A177-3AD203B41FA5}">
                      <a16:colId xmlns:a16="http://schemas.microsoft.com/office/drawing/2014/main" val="20000"/>
                    </a:ext>
                  </a:extLst>
                </a:gridCol>
                <a:gridCol w="501650">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tblGrid>
              <a:tr h="383690">
                <a:tc>
                  <a:txBody>
                    <a:bodyPr/>
                    <a:lstStyle/>
                    <a:p>
                      <a:pPr marL="28575" algn="ctr">
                        <a:lnSpc>
                          <a:spcPct val="100000"/>
                        </a:lnSpc>
                        <a:spcBef>
                          <a:spcPts val="265"/>
                        </a:spcBef>
                      </a:pPr>
                      <a:r>
                        <a:rPr sz="1800" dirty="0">
                          <a:latin typeface="Consolas" panose="020B0609020204030204"/>
                          <a:cs typeface="Consolas" panose="020B0609020204030204"/>
                        </a:rPr>
                        <a:t>i</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3655" marB="0">
                    <a:lnL w="12700">
                      <a:solidFill>
                        <a:srgbClr val="000000"/>
                      </a:solidFill>
                      <a:prstDash val="solid"/>
                    </a:lnL>
                    <a:lnT w="12700">
                      <a:solidFill>
                        <a:srgbClr val="000000"/>
                      </a:solidFill>
                      <a:prstDash val="solid"/>
                    </a:lnT>
                  </a:tcPr>
                </a:tc>
                <a:tc>
                  <a:txBody>
                    <a:bodyPr/>
                    <a:lstStyle/>
                    <a:p>
                      <a:pPr algn="ctr">
                        <a:lnSpc>
                          <a:spcPct val="100000"/>
                        </a:lnSpc>
                        <a:spcBef>
                          <a:spcPts val="265"/>
                        </a:spcBef>
                      </a:pPr>
                      <a:r>
                        <a:rPr sz="1800" dirty="0">
                          <a:latin typeface="Consolas" panose="020B0609020204030204"/>
                          <a:cs typeface="Consolas" panose="020B0609020204030204"/>
                        </a:rPr>
                        <a:t>i</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3655" marB="0">
                    <a:lnT w="12700">
                      <a:solidFill>
                        <a:srgbClr val="000000"/>
                      </a:solidFill>
                      <a:prstDash val="solid"/>
                    </a:lnT>
                  </a:tcPr>
                </a:tc>
                <a:tc>
                  <a:txBody>
                    <a:bodyPr/>
                    <a:lstStyle/>
                    <a:p>
                      <a:pPr marL="62230">
                        <a:lnSpc>
                          <a:spcPct val="100000"/>
                        </a:lnSpc>
                        <a:spcBef>
                          <a:spcPts val="265"/>
                        </a:spcBef>
                      </a:pPr>
                      <a:r>
                        <a:rPr sz="1800" spc="-5" dirty="0">
                          <a:latin typeface="Consolas" panose="020B0609020204030204"/>
                          <a:cs typeface="Consolas" panose="020B0609020204030204"/>
                        </a:rPr>
                        <a:t>1;</a:t>
                      </a:r>
                      <a:endParaRPr sz="1800">
                        <a:latin typeface="Consolas" panose="020B0609020204030204"/>
                        <a:cs typeface="Consolas" panose="020B0609020204030204"/>
                      </a:endParaRPr>
                    </a:p>
                  </a:txBody>
                  <a:tcPr marL="0" marR="0" marT="33655" marB="0">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00"/>
                  </a:ext>
                </a:extLst>
              </a:tr>
              <a:tr h="339584">
                <a:tc>
                  <a:txBody>
                    <a:bodyPr/>
                    <a:lstStyle/>
                    <a:p>
                      <a:pPr marL="28575" algn="ctr">
                        <a:lnSpc>
                          <a:spcPct val="100000"/>
                        </a:lnSpc>
                        <a:spcBef>
                          <a:spcPts val="25"/>
                        </a:spcBef>
                      </a:pPr>
                      <a:r>
                        <a:rPr sz="1800" dirty="0">
                          <a:latin typeface="Consolas" panose="020B0609020204030204"/>
                          <a:cs typeface="Consolas" panose="020B0609020204030204"/>
                        </a:rPr>
                        <a:t>j</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175" marB="0">
                    <a:lnL w="12700">
                      <a:solidFill>
                        <a:srgbClr val="000000"/>
                      </a:solidFill>
                      <a:prstDash val="solid"/>
                    </a:lnL>
                    <a:lnB w="12700">
                      <a:solidFill>
                        <a:srgbClr val="000000"/>
                      </a:solidFill>
                      <a:prstDash val="solid"/>
                    </a:lnB>
                  </a:tcPr>
                </a:tc>
                <a:tc>
                  <a:txBody>
                    <a:bodyPr/>
                    <a:lstStyle/>
                    <a:p>
                      <a:pPr algn="ctr">
                        <a:lnSpc>
                          <a:spcPct val="100000"/>
                        </a:lnSpc>
                        <a:spcBef>
                          <a:spcPts val="25"/>
                        </a:spcBef>
                      </a:pPr>
                      <a:r>
                        <a:rPr sz="1800" dirty="0">
                          <a:latin typeface="Consolas" panose="020B0609020204030204"/>
                          <a:cs typeface="Consolas" panose="020B0609020204030204"/>
                        </a:rPr>
                        <a:t>j</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175" marB="0">
                    <a:lnB w="12700">
                      <a:solidFill>
                        <a:srgbClr val="000000"/>
                      </a:solidFill>
                      <a:prstDash val="solid"/>
                    </a:lnB>
                  </a:tcPr>
                </a:tc>
                <a:tc>
                  <a:txBody>
                    <a:bodyPr/>
                    <a:lstStyle/>
                    <a:p>
                      <a:pPr marL="62230">
                        <a:lnSpc>
                          <a:spcPct val="100000"/>
                        </a:lnSpc>
                        <a:spcBef>
                          <a:spcPts val="25"/>
                        </a:spcBef>
                      </a:pPr>
                      <a:r>
                        <a:rPr sz="1800" spc="-5" dirty="0">
                          <a:latin typeface="Consolas" panose="020B0609020204030204"/>
                          <a:cs typeface="Consolas" panose="020B0609020204030204"/>
                        </a:rPr>
                        <a:t>1;</a:t>
                      </a:r>
                      <a:endParaRPr sz="1800">
                        <a:latin typeface="Consolas" panose="020B0609020204030204"/>
                        <a:cs typeface="Consolas" panose="020B0609020204030204"/>
                      </a:endParaRPr>
                    </a:p>
                  </a:txBody>
                  <a:tcPr marL="0" marR="0" marT="3175"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4" name="object 4"/>
          <p:cNvSpPr/>
          <p:nvPr/>
        </p:nvSpPr>
        <p:spPr>
          <a:xfrm>
            <a:off x="657226"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5" name="object 5"/>
          <p:cNvSpPr txBox="1"/>
          <p:nvPr/>
        </p:nvSpPr>
        <p:spPr>
          <a:xfrm>
            <a:off x="710566"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1</a:t>
            </a:r>
            <a:endParaRPr sz="1800" baseline="-14000">
              <a:latin typeface="Consolas" panose="020B0609020204030204"/>
              <a:cs typeface="Consolas" panose="020B0609020204030204"/>
            </a:endParaRPr>
          </a:p>
        </p:txBody>
      </p:sp>
      <p:sp>
        <p:nvSpPr>
          <p:cNvPr id="6" name="object 6"/>
          <p:cNvSpPr/>
          <p:nvPr/>
        </p:nvSpPr>
        <p:spPr>
          <a:xfrm>
            <a:off x="1622553"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7" name="object 7"/>
          <p:cNvSpPr txBox="1"/>
          <p:nvPr/>
        </p:nvSpPr>
        <p:spPr>
          <a:xfrm>
            <a:off x="1675893"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2</a:t>
            </a:r>
            <a:endParaRPr sz="1800" baseline="-14000">
              <a:latin typeface="Consolas" panose="020B0609020204030204"/>
              <a:cs typeface="Consolas" panose="020B0609020204030204"/>
            </a:endParaRPr>
          </a:p>
        </p:txBody>
      </p:sp>
      <p:sp>
        <p:nvSpPr>
          <p:cNvPr id="8" name="object 8"/>
          <p:cNvSpPr/>
          <p:nvPr/>
        </p:nvSpPr>
        <p:spPr>
          <a:xfrm>
            <a:off x="2561907"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9" name="object 9"/>
          <p:cNvSpPr txBox="1"/>
          <p:nvPr/>
        </p:nvSpPr>
        <p:spPr>
          <a:xfrm>
            <a:off x="2615247"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3</a:t>
            </a:r>
            <a:endParaRPr sz="1800" baseline="-14000">
              <a:latin typeface="Consolas" panose="020B0609020204030204"/>
              <a:cs typeface="Consolas" panose="020B0609020204030204"/>
            </a:endParaRPr>
          </a:p>
        </p:txBody>
      </p:sp>
      <p:sp>
        <p:nvSpPr>
          <p:cNvPr id="10" name="object 10"/>
          <p:cNvSpPr/>
          <p:nvPr/>
        </p:nvSpPr>
        <p:spPr>
          <a:xfrm>
            <a:off x="855345" y="3439426"/>
            <a:ext cx="1905000" cy="829944"/>
          </a:xfrm>
          <a:custGeom>
            <a:avLst/>
            <a:gdLst/>
            <a:ahLst/>
            <a:cxnLst/>
            <a:rect l="l" t="t" r="r" b="b"/>
            <a:pathLst>
              <a:path w="1905000" h="829945">
                <a:moveTo>
                  <a:pt x="1904695" y="829906"/>
                </a:moveTo>
                <a:lnTo>
                  <a:pt x="1904111" y="828141"/>
                </a:lnTo>
                <a:lnTo>
                  <a:pt x="1874634" y="739355"/>
                </a:lnTo>
                <a:lnTo>
                  <a:pt x="1872843" y="738454"/>
                </a:lnTo>
                <a:lnTo>
                  <a:pt x="1869516" y="739559"/>
                </a:lnTo>
                <a:lnTo>
                  <a:pt x="1868614" y="741362"/>
                </a:lnTo>
                <a:lnTo>
                  <a:pt x="1893252" y="815606"/>
                </a:lnTo>
                <a:lnTo>
                  <a:pt x="967435" y="38"/>
                </a:lnTo>
                <a:lnTo>
                  <a:pt x="965327" y="2413"/>
                </a:lnTo>
                <a:lnTo>
                  <a:pt x="963269" y="0"/>
                </a:lnTo>
                <a:lnTo>
                  <a:pt x="11633" y="815759"/>
                </a:lnTo>
                <a:lnTo>
                  <a:pt x="37274" y="741857"/>
                </a:lnTo>
                <a:lnTo>
                  <a:pt x="36398" y="740041"/>
                </a:lnTo>
                <a:lnTo>
                  <a:pt x="33083" y="738898"/>
                </a:lnTo>
                <a:lnTo>
                  <a:pt x="31280" y="739775"/>
                </a:lnTo>
                <a:lnTo>
                  <a:pt x="0" y="829906"/>
                </a:lnTo>
                <a:lnTo>
                  <a:pt x="9309" y="828205"/>
                </a:lnTo>
                <a:lnTo>
                  <a:pt x="93853" y="812774"/>
                </a:lnTo>
                <a:lnTo>
                  <a:pt x="94996" y="811123"/>
                </a:lnTo>
                <a:lnTo>
                  <a:pt x="94373" y="807669"/>
                </a:lnTo>
                <a:lnTo>
                  <a:pt x="92710" y="806526"/>
                </a:lnTo>
                <a:lnTo>
                  <a:pt x="15760" y="820572"/>
                </a:lnTo>
                <a:lnTo>
                  <a:pt x="962152" y="9321"/>
                </a:lnTo>
                <a:lnTo>
                  <a:pt x="962152" y="811872"/>
                </a:lnTo>
                <a:lnTo>
                  <a:pt x="922743" y="744296"/>
                </a:lnTo>
                <a:lnTo>
                  <a:pt x="920800" y="743788"/>
                </a:lnTo>
                <a:lnTo>
                  <a:pt x="917765" y="745553"/>
                </a:lnTo>
                <a:lnTo>
                  <a:pt x="917257" y="747496"/>
                </a:lnTo>
                <a:lnTo>
                  <a:pt x="965327" y="829919"/>
                </a:lnTo>
                <a:lnTo>
                  <a:pt x="969010" y="823620"/>
                </a:lnTo>
                <a:lnTo>
                  <a:pt x="1013409" y="747496"/>
                </a:lnTo>
                <a:lnTo>
                  <a:pt x="1012901" y="745553"/>
                </a:lnTo>
                <a:lnTo>
                  <a:pt x="1009865" y="743788"/>
                </a:lnTo>
                <a:lnTo>
                  <a:pt x="1007922" y="744296"/>
                </a:lnTo>
                <a:lnTo>
                  <a:pt x="968502" y="811872"/>
                </a:lnTo>
                <a:lnTo>
                  <a:pt x="968502" y="9461"/>
                </a:lnTo>
                <a:lnTo>
                  <a:pt x="1889061" y="820369"/>
                </a:lnTo>
                <a:lnTo>
                  <a:pt x="1812302" y="805281"/>
                </a:lnTo>
                <a:lnTo>
                  <a:pt x="1810639" y="806399"/>
                </a:lnTo>
                <a:lnTo>
                  <a:pt x="1809953" y="809840"/>
                </a:lnTo>
                <a:lnTo>
                  <a:pt x="1811083" y="811504"/>
                </a:lnTo>
                <a:lnTo>
                  <a:pt x="1904695" y="829906"/>
                </a:lnTo>
                <a:close/>
              </a:path>
            </a:pathLst>
          </a:custGeom>
          <a:solidFill>
            <a:srgbClr val="000000"/>
          </a:solidFill>
        </p:spPr>
        <p:txBody>
          <a:bodyPr wrap="square" lIns="0" tIns="0" rIns="0" bIns="0" rtlCol="0"/>
          <a:lstStyle/>
          <a:p>
            <a:endParaRPr/>
          </a:p>
        </p:txBody>
      </p:sp>
      <p:sp>
        <p:nvSpPr>
          <p:cNvPr id="11" name="object 11"/>
          <p:cNvSpPr/>
          <p:nvPr/>
        </p:nvSpPr>
        <p:spPr>
          <a:xfrm>
            <a:off x="1759621" y="2277974"/>
            <a:ext cx="96520" cy="440690"/>
          </a:xfrm>
          <a:custGeom>
            <a:avLst/>
            <a:gdLst/>
            <a:ahLst/>
            <a:cxnLst/>
            <a:rect l="l" t="t" r="r" b="b"/>
            <a:pathLst>
              <a:path w="96519" h="440689">
                <a:moveTo>
                  <a:pt x="3540" y="354474"/>
                </a:moveTo>
                <a:lnTo>
                  <a:pt x="511" y="356241"/>
                </a:lnTo>
                <a:lnTo>
                  <a:pt x="0" y="358185"/>
                </a:lnTo>
                <a:lnTo>
                  <a:pt x="48075" y="440602"/>
                </a:lnTo>
                <a:lnTo>
                  <a:pt x="51751" y="434300"/>
                </a:lnTo>
                <a:lnTo>
                  <a:pt x="44900" y="434300"/>
                </a:lnTo>
                <a:lnTo>
                  <a:pt x="44900" y="422555"/>
                </a:lnTo>
                <a:lnTo>
                  <a:pt x="5485" y="354986"/>
                </a:lnTo>
                <a:lnTo>
                  <a:pt x="3540" y="354474"/>
                </a:lnTo>
                <a:close/>
              </a:path>
              <a:path w="96519" h="440689">
                <a:moveTo>
                  <a:pt x="44900" y="422555"/>
                </a:moveTo>
                <a:lnTo>
                  <a:pt x="44900" y="434300"/>
                </a:lnTo>
                <a:lnTo>
                  <a:pt x="51250" y="434300"/>
                </a:lnTo>
                <a:lnTo>
                  <a:pt x="51250" y="432700"/>
                </a:lnTo>
                <a:lnTo>
                  <a:pt x="45333" y="432700"/>
                </a:lnTo>
                <a:lnTo>
                  <a:pt x="48076" y="427998"/>
                </a:lnTo>
                <a:lnTo>
                  <a:pt x="44900" y="422555"/>
                </a:lnTo>
                <a:close/>
              </a:path>
              <a:path w="96519" h="440689">
                <a:moveTo>
                  <a:pt x="92610" y="354474"/>
                </a:moveTo>
                <a:lnTo>
                  <a:pt x="90667" y="354986"/>
                </a:lnTo>
                <a:lnTo>
                  <a:pt x="51252" y="422555"/>
                </a:lnTo>
                <a:lnTo>
                  <a:pt x="51250" y="434300"/>
                </a:lnTo>
                <a:lnTo>
                  <a:pt x="51751" y="434300"/>
                </a:lnTo>
                <a:lnTo>
                  <a:pt x="96152" y="358185"/>
                </a:lnTo>
                <a:lnTo>
                  <a:pt x="95641" y="356241"/>
                </a:lnTo>
                <a:lnTo>
                  <a:pt x="92610" y="354474"/>
                </a:lnTo>
                <a:close/>
              </a:path>
              <a:path w="96519" h="440689">
                <a:moveTo>
                  <a:pt x="48076" y="427998"/>
                </a:moveTo>
                <a:lnTo>
                  <a:pt x="45333" y="432700"/>
                </a:lnTo>
                <a:lnTo>
                  <a:pt x="50819" y="432700"/>
                </a:lnTo>
                <a:lnTo>
                  <a:pt x="48076" y="427998"/>
                </a:lnTo>
                <a:close/>
              </a:path>
              <a:path w="96519" h="440689">
                <a:moveTo>
                  <a:pt x="51250" y="422557"/>
                </a:moveTo>
                <a:lnTo>
                  <a:pt x="48076" y="427998"/>
                </a:lnTo>
                <a:lnTo>
                  <a:pt x="50819" y="432700"/>
                </a:lnTo>
                <a:lnTo>
                  <a:pt x="51250" y="432700"/>
                </a:lnTo>
                <a:lnTo>
                  <a:pt x="51250" y="422557"/>
                </a:lnTo>
                <a:close/>
              </a:path>
              <a:path w="96519" h="440689">
                <a:moveTo>
                  <a:pt x="51252" y="0"/>
                </a:moveTo>
                <a:lnTo>
                  <a:pt x="44902" y="0"/>
                </a:lnTo>
                <a:lnTo>
                  <a:pt x="44902" y="422557"/>
                </a:lnTo>
                <a:lnTo>
                  <a:pt x="48076" y="427998"/>
                </a:lnTo>
                <a:lnTo>
                  <a:pt x="51250" y="422557"/>
                </a:lnTo>
                <a:lnTo>
                  <a:pt x="51252" y="0"/>
                </a:lnTo>
                <a:close/>
              </a:path>
            </a:pathLst>
          </a:custGeom>
          <a:solidFill>
            <a:srgbClr val="000000"/>
          </a:solidFill>
        </p:spPr>
        <p:txBody>
          <a:bodyPr wrap="square" lIns="0" tIns="0" rIns="0" bIns="0" rtlCol="0"/>
          <a:lstStyle/>
          <a:p>
            <a:endParaRPr/>
          </a:p>
        </p:txBody>
      </p:sp>
      <p:sp>
        <p:nvSpPr>
          <p:cNvPr id="12" name="object 12"/>
          <p:cNvSpPr txBox="1"/>
          <p:nvPr/>
        </p:nvSpPr>
        <p:spPr>
          <a:xfrm>
            <a:off x="2793366" y="2922523"/>
            <a:ext cx="5308600" cy="1048385"/>
          </a:xfrm>
          <a:prstGeom prst="rect">
            <a:avLst/>
          </a:prstGeom>
        </p:spPr>
        <p:txBody>
          <a:bodyPr vert="horz" wrap="square" lIns="0" tIns="12700" rIns="0" bIns="0" rtlCol="0">
            <a:spAutoFit/>
          </a:bodyPr>
          <a:lstStyle/>
          <a:p>
            <a:pPr marL="12700">
              <a:lnSpc>
                <a:spcPct val="100000"/>
              </a:lnSpc>
              <a:spcBef>
                <a:spcPts val="100"/>
              </a:spcBef>
            </a:pPr>
            <a:r>
              <a:rPr sz="1800" dirty="0">
                <a:latin typeface="Consolas" panose="020B0609020204030204"/>
                <a:cs typeface="Consolas" panose="020B0609020204030204"/>
              </a:rPr>
              <a:t>B</a:t>
            </a:r>
          </a:p>
          <a:p>
            <a:pPr>
              <a:lnSpc>
                <a:spcPct val="100000"/>
              </a:lnSpc>
            </a:pPr>
            <a:endParaRPr sz="1650" dirty="0">
              <a:latin typeface="Consolas" panose="020B0609020204030204"/>
              <a:cs typeface="Consolas" panose="020B0609020204030204"/>
            </a:endParaRPr>
          </a:p>
          <a:p>
            <a:pPr marL="1412240">
              <a:lnSpc>
                <a:spcPts val="2280"/>
              </a:lnSpc>
              <a:spcBef>
                <a:spcPts val="5"/>
              </a:spcBef>
              <a:tabLst>
                <a:tab pos="4679950" algn="l"/>
              </a:tabLst>
            </a:pPr>
            <a:r>
              <a:rPr sz="2000" spc="5" dirty="0">
                <a:latin typeface="Cambria Math" panose="02040503050406030204"/>
                <a:cs typeface="Cambria Math" panose="02040503050406030204"/>
              </a:rPr>
              <a:t>O</a:t>
            </a:r>
            <a:r>
              <a:rPr sz="2000" dirty="0">
                <a:latin typeface="Cambria Math" panose="02040503050406030204"/>
                <a:cs typeface="Cambria Math" panose="02040503050406030204"/>
              </a:rPr>
              <a:t>UT</a:t>
            </a:r>
            <a:r>
              <a:rPr sz="2000" spc="-5" dirty="0">
                <a:latin typeface="Cambria Math" panose="02040503050406030204"/>
                <a:cs typeface="Cambria Math" panose="02040503050406030204"/>
              </a:rPr>
              <a:t>[</a:t>
            </a:r>
            <a:r>
              <a:rPr sz="2000" spc="50" dirty="0">
                <a:latin typeface="Cambria Math" panose="02040503050406030204"/>
                <a:cs typeface="Cambria Math" panose="02040503050406030204"/>
              </a:rPr>
              <a:t>𝐵</a:t>
            </a:r>
            <a:r>
              <a:rPr sz="2000" dirty="0">
                <a:latin typeface="Cambria Math" panose="02040503050406030204"/>
                <a:cs typeface="Cambria Math" panose="02040503050406030204"/>
              </a:rPr>
              <a:t>]</a:t>
            </a:r>
            <a:r>
              <a:rPr sz="2000" spc="11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lang="zh-CN" altLang="en-US" sz="2800" spc="75" dirty="0">
                <a:latin typeface="Cambria Math" panose="02040503050406030204"/>
                <a:cs typeface="Cambria Math" panose="02040503050406030204"/>
              </a:rPr>
              <a:t>𝖴</a:t>
            </a:r>
            <a:r>
              <a:rPr sz="2000" dirty="0">
                <a:latin typeface="Cambria Math" panose="02040503050406030204"/>
                <a:cs typeface="Cambria Math" panose="02040503050406030204"/>
              </a:rPr>
              <a:t>	IN</a:t>
            </a:r>
            <a:r>
              <a:rPr sz="2000" spc="-110" dirty="0">
                <a:latin typeface="Cambria Math" panose="02040503050406030204"/>
                <a:cs typeface="Cambria Math" panose="02040503050406030204"/>
              </a:rPr>
              <a:t> </a:t>
            </a:r>
            <a:r>
              <a:rPr sz="2000" spc="-5" dirty="0">
                <a:latin typeface="Cambria Math" panose="02040503050406030204"/>
                <a:cs typeface="Cambria Math" panose="02040503050406030204"/>
              </a:rPr>
              <a:t>[</a:t>
            </a:r>
            <a:r>
              <a:rPr sz="2000" spc="40" dirty="0">
                <a:latin typeface="Cambria Math" panose="02040503050406030204"/>
                <a:cs typeface="Cambria Math" panose="02040503050406030204"/>
              </a:rPr>
              <a:t>𝑆</a:t>
            </a:r>
            <a:r>
              <a:rPr sz="2000" dirty="0">
                <a:latin typeface="Cambria Math" panose="02040503050406030204"/>
                <a:cs typeface="Cambria Math" panose="02040503050406030204"/>
              </a:rPr>
              <a:t>]</a:t>
            </a:r>
          </a:p>
          <a:p>
            <a:pPr marL="2931160">
              <a:lnSpc>
                <a:spcPts val="1680"/>
              </a:lnSpc>
            </a:pPr>
            <a:r>
              <a:rPr sz="1500" spc="35" dirty="0">
                <a:latin typeface="Cambria Math" panose="02040503050406030204"/>
                <a:cs typeface="Cambria Math" panose="02040503050406030204"/>
              </a:rPr>
              <a:t>𝑆</a:t>
            </a:r>
            <a:r>
              <a:rPr sz="1500" spc="-10" dirty="0">
                <a:latin typeface="Cambria Math" panose="02040503050406030204"/>
                <a:cs typeface="Cambria Math" panose="02040503050406030204"/>
              </a:rPr>
              <a:t> </a:t>
            </a:r>
            <a:r>
              <a:rPr sz="1500" spc="80" dirty="0">
                <a:latin typeface="Cambria Math" panose="02040503050406030204"/>
                <a:cs typeface="Cambria Math" panose="02040503050406030204"/>
              </a:rPr>
              <a:t>i</a:t>
            </a:r>
            <a:r>
              <a:rPr lang="en-US" altLang="zh-CN" sz="1500" spc="80" dirty="0">
                <a:latin typeface="Cambria Math" panose="02040503050406030204"/>
                <a:cs typeface="Cambria Math" panose="02040503050406030204"/>
              </a:rPr>
              <a:t>s </a:t>
            </a:r>
            <a:r>
              <a:rPr sz="1500" spc="95" dirty="0">
                <a:latin typeface="Cambria Math" panose="02040503050406030204"/>
                <a:cs typeface="Cambria Math" panose="02040503050406030204"/>
              </a:rPr>
              <a:t>a</a:t>
            </a:r>
            <a:r>
              <a:rPr sz="1500" spc="-35" dirty="0">
                <a:latin typeface="Cambria Math" panose="02040503050406030204"/>
                <a:cs typeface="Cambria Math" panose="02040503050406030204"/>
              </a:rPr>
              <a:t> </a:t>
            </a:r>
            <a:r>
              <a:rPr lang="en-US" altLang="zh-CN" sz="1500" spc="-35" dirty="0">
                <a:latin typeface="Cambria Math" panose="02040503050406030204"/>
                <a:cs typeface="Cambria Math" panose="02040503050406030204"/>
              </a:rPr>
              <a:t>s</a:t>
            </a:r>
            <a:r>
              <a:rPr sz="1500" spc="15" dirty="0">
                <a:latin typeface="Cambria Math" panose="02040503050406030204"/>
                <a:cs typeface="Cambria Math" panose="02040503050406030204"/>
              </a:rPr>
              <a:t>ucc</a:t>
            </a:r>
            <a:r>
              <a:rPr lang="en-US" altLang="zh-CN" sz="1500" spc="15" dirty="0">
                <a:latin typeface="Cambria Math" panose="02040503050406030204"/>
                <a:cs typeface="Cambria Math" panose="02040503050406030204"/>
              </a:rPr>
              <a:t>essor of </a:t>
            </a:r>
            <a:r>
              <a:rPr sz="1500" spc="-35" dirty="0">
                <a:latin typeface="Cambria Math" panose="02040503050406030204"/>
                <a:cs typeface="Cambria Math" panose="02040503050406030204"/>
              </a:rPr>
              <a:t> </a:t>
            </a:r>
            <a:r>
              <a:rPr sz="1500" spc="30" dirty="0">
                <a:latin typeface="Cambria Math" panose="02040503050406030204"/>
                <a:cs typeface="Cambria Math" panose="02040503050406030204"/>
              </a:rPr>
              <a:t>𝐵</a:t>
            </a:r>
            <a:endParaRPr sz="1500" dirty="0">
              <a:latin typeface="Cambria Math" panose="02040503050406030204"/>
              <a:cs typeface="Cambria Math" panose="02040503050406030204"/>
            </a:endParaRPr>
          </a:p>
        </p:txBody>
      </p:sp>
      <p:sp>
        <p:nvSpPr>
          <p:cNvPr id="15" name="object 1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6" name="object 1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7" name="object 1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57</a:t>
            </a:fld>
            <a:endParaRPr dirty="0"/>
          </a:p>
        </p:txBody>
      </p:sp>
      <p:sp>
        <p:nvSpPr>
          <p:cNvPr id="13" name="object 13"/>
          <p:cNvSpPr txBox="1"/>
          <p:nvPr/>
        </p:nvSpPr>
        <p:spPr>
          <a:xfrm>
            <a:off x="3705404" y="1617973"/>
            <a:ext cx="4885690" cy="1144270"/>
          </a:xfrm>
          <a:prstGeom prst="rect">
            <a:avLst/>
          </a:prstGeom>
          <a:solidFill>
            <a:srgbClr val="FFF2CC"/>
          </a:solidFill>
          <a:ln w="9525">
            <a:solidFill>
              <a:srgbClr val="000000"/>
            </a:solidFill>
          </a:ln>
        </p:spPr>
        <p:txBody>
          <a:bodyPr vert="horz" wrap="square" lIns="0" tIns="82550" rIns="0" bIns="0" rtlCol="0">
            <a:spAutoFit/>
          </a:bodyPr>
          <a:lstStyle/>
          <a:p>
            <a:pPr marL="90805">
              <a:lnSpc>
                <a:spcPct val="100000"/>
              </a:lnSpc>
              <a:spcBef>
                <a:spcPts val="650"/>
              </a:spcBef>
            </a:pPr>
            <a:r>
              <a:rPr sz="1800" b="1" spc="-5" dirty="0">
                <a:latin typeface="Palatino Linotype" panose="02040502050505030304"/>
                <a:cs typeface="Palatino Linotype" panose="02040502050505030304"/>
              </a:rPr>
              <a:t>Data-flow</a:t>
            </a:r>
            <a:r>
              <a:rPr sz="1800" b="1" spc="-15" dirty="0">
                <a:latin typeface="Palatino Linotype" panose="02040502050505030304"/>
                <a:cs typeface="Palatino Linotype" panose="02040502050505030304"/>
              </a:rPr>
              <a:t> </a:t>
            </a:r>
            <a:r>
              <a:rPr sz="1800" b="1" spc="-5" dirty="0">
                <a:latin typeface="Palatino Linotype" panose="02040502050505030304"/>
                <a:cs typeface="Palatino Linotype" panose="02040502050505030304"/>
              </a:rPr>
              <a:t>values:</a:t>
            </a:r>
            <a:endParaRPr sz="1800">
              <a:latin typeface="Palatino Linotype" panose="02040502050505030304"/>
              <a:cs typeface="Palatino Linotype" panose="02040502050505030304"/>
            </a:endParaRPr>
          </a:p>
          <a:p>
            <a:pPr marL="90805">
              <a:lnSpc>
                <a:spcPct val="100000"/>
              </a:lnSpc>
              <a:spcBef>
                <a:spcPts val="650"/>
              </a:spcBef>
            </a:pPr>
            <a:r>
              <a:rPr sz="1800" dirty="0">
                <a:solidFill>
                  <a:srgbClr val="FF0000"/>
                </a:solidFill>
                <a:latin typeface="Palatino Linotype" panose="02040502050505030304"/>
                <a:cs typeface="Palatino Linotype" panose="02040502050505030304"/>
              </a:rPr>
              <a:t>IN[</a:t>
            </a:r>
            <a:r>
              <a:rPr sz="1800" i="1" dirty="0">
                <a:solidFill>
                  <a:srgbClr val="FF0000"/>
                </a:solidFill>
                <a:latin typeface="Palatino Linotype" panose="02040502050505030304"/>
                <a:cs typeface="Palatino Linotype" panose="02040502050505030304"/>
              </a:rPr>
              <a:t>B</a:t>
            </a:r>
            <a:r>
              <a:rPr sz="1800" dirty="0">
                <a:solidFill>
                  <a:srgbClr val="FF0000"/>
                </a:solidFill>
                <a:latin typeface="Palatino Linotype" panose="02040502050505030304"/>
                <a:cs typeface="Palatino Linotype" panose="02040502050505030304"/>
              </a:rPr>
              <a:t>]</a:t>
            </a:r>
            <a:r>
              <a:rPr sz="1800" dirty="0">
                <a:latin typeface="Palatino Linotype" panose="02040502050505030304"/>
                <a:cs typeface="Palatino Linotype" panose="02040502050505030304"/>
              </a:rPr>
              <a:t>:</a:t>
            </a:r>
            <a:r>
              <a:rPr sz="1800" spc="-10" dirty="0">
                <a:latin typeface="Palatino Linotype" panose="02040502050505030304"/>
                <a:cs typeface="Palatino Linotype" panose="02040502050505030304"/>
              </a:rPr>
              <a:t> variables live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entry</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block</a:t>
            </a:r>
            <a:r>
              <a:rPr sz="1800" spc="-1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B</a:t>
            </a:r>
            <a:endParaRPr sz="1800">
              <a:latin typeface="Palatino Linotype" panose="02040502050505030304"/>
              <a:cs typeface="Palatino Linotype" panose="02040502050505030304"/>
            </a:endParaRPr>
          </a:p>
          <a:p>
            <a:pPr marL="90805">
              <a:lnSpc>
                <a:spcPct val="100000"/>
              </a:lnSpc>
              <a:spcBef>
                <a:spcPts val="645"/>
              </a:spcBef>
            </a:pPr>
            <a:r>
              <a:rPr sz="1800" spc="-5" dirty="0">
                <a:solidFill>
                  <a:srgbClr val="FF0000"/>
                </a:solidFill>
                <a:latin typeface="Palatino Linotype" panose="02040502050505030304"/>
                <a:cs typeface="Palatino Linotype" panose="02040502050505030304"/>
              </a:rPr>
              <a:t>OUT[</a:t>
            </a:r>
            <a:r>
              <a:rPr sz="1800" i="1" spc="-5" dirty="0">
                <a:solidFill>
                  <a:srgbClr val="FF0000"/>
                </a:solidFill>
                <a:latin typeface="Palatino Linotype" panose="02040502050505030304"/>
                <a:cs typeface="Palatino Linotype" panose="02040502050505030304"/>
              </a:rPr>
              <a:t>B</a:t>
            </a:r>
            <a:r>
              <a:rPr sz="1800" spc="-5" dirty="0">
                <a:solidFill>
                  <a:srgbClr val="FF0000"/>
                </a:solidFill>
                <a:latin typeface="Palatino Linotype" panose="02040502050505030304"/>
                <a:cs typeface="Palatino Linotype" panose="02040502050505030304"/>
              </a:rPr>
              <a:t>]</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variables live</a:t>
            </a:r>
            <a:r>
              <a:rPr sz="1800" dirty="0">
                <a:latin typeface="Palatino Linotype" panose="02040502050505030304"/>
                <a:cs typeface="Palatino Linotype" panose="02040502050505030304"/>
              </a:rPr>
              <a:t> at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exit</a:t>
            </a:r>
            <a:r>
              <a:rPr sz="1800" dirty="0">
                <a:latin typeface="Palatino Linotype" panose="02040502050505030304"/>
                <a:cs typeface="Palatino Linotype" panose="02040502050505030304"/>
              </a:rPr>
              <a:t> 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block</a:t>
            </a:r>
            <a:r>
              <a:rPr sz="1800" spc="-1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B</a:t>
            </a:r>
            <a:endParaRPr sz="1800">
              <a:latin typeface="Palatino Linotype" panose="02040502050505030304"/>
              <a:cs typeface="Palatino Linotype" panose="02040502050505030304"/>
            </a:endParaRPr>
          </a:p>
        </p:txBody>
      </p:sp>
      <p:sp>
        <p:nvSpPr>
          <p:cNvPr id="14" name="object 14"/>
          <p:cNvSpPr txBox="1"/>
          <p:nvPr/>
        </p:nvSpPr>
        <p:spPr>
          <a:xfrm>
            <a:off x="3705404" y="4614797"/>
            <a:ext cx="4885690" cy="1144270"/>
          </a:xfrm>
          <a:prstGeom prst="rect">
            <a:avLst/>
          </a:prstGeom>
          <a:solidFill>
            <a:srgbClr val="FFF2CC"/>
          </a:solidFill>
          <a:ln w="9525">
            <a:solidFill>
              <a:srgbClr val="000000"/>
            </a:solidFill>
          </a:ln>
        </p:spPr>
        <p:txBody>
          <a:bodyPr vert="horz" wrap="square" lIns="0" tIns="4445" rIns="0" bIns="0" rtlCol="0">
            <a:spAutoFit/>
          </a:bodyPr>
          <a:lstStyle/>
          <a:p>
            <a:pPr marL="90805" marR="332740" algn="just">
              <a:lnSpc>
                <a:spcPct val="129000"/>
              </a:lnSpc>
              <a:spcBef>
                <a:spcPts val="35"/>
              </a:spcBef>
            </a:pPr>
            <a:r>
              <a:rPr sz="1800" b="1" spc="-5" dirty="0">
                <a:latin typeface="Palatino Linotype" panose="02040502050505030304"/>
                <a:cs typeface="Palatino Linotype" panose="02040502050505030304"/>
              </a:rPr>
              <a:t>Rationale: </a:t>
            </a:r>
            <a:r>
              <a:rPr sz="1800" spc="-5" dirty="0">
                <a:latin typeface="Palatino Linotype" panose="02040502050505030304"/>
                <a:cs typeface="Palatino Linotype" panose="02040502050505030304"/>
              </a:rPr>
              <a:t>For </a:t>
            </a:r>
            <a:r>
              <a:rPr sz="1800" spc="-30" dirty="0">
                <a:latin typeface="Palatino Linotype" panose="02040502050505030304"/>
                <a:cs typeface="Palatino Linotype" panose="02040502050505030304"/>
              </a:rPr>
              <a:t>safety, </a:t>
            </a:r>
            <a:r>
              <a:rPr sz="1800" dirty="0">
                <a:latin typeface="Palatino Linotype" panose="02040502050505030304"/>
                <a:cs typeface="Palatino Linotype" panose="02040502050505030304"/>
              </a:rPr>
              <a:t>as long as a </a:t>
            </a:r>
            <a:r>
              <a:rPr sz="1800" spc="-10" dirty="0">
                <a:latin typeface="Palatino Linotype" panose="02040502050505030304"/>
                <a:cs typeface="Palatino Linotype" panose="02040502050505030304"/>
              </a:rPr>
              <a:t>variable </a:t>
            </a:r>
            <a:r>
              <a:rPr sz="1800" dirty="0">
                <a:latin typeface="Palatino Linotype" panose="02040502050505030304"/>
                <a:cs typeface="Palatino Linotype" panose="02040502050505030304"/>
              </a:rPr>
              <a:t>is </a:t>
            </a:r>
            <a:r>
              <a:rPr sz="1800" spc="-434"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live </a:t>
            </a:r>
            <a:r>
              <a:rPr sz="1800" dirty="0">
                <a:latin typeface="Palatino Linotype" panose="02040502050505030304"/>
                <a:cs typeface="Palatino Linotype" panose="02040502050505030304"/>
              </a:rPr>
              <a:t>at the entry of any </a:t>
            </a:r>
            <a:r>
              <a:rPr sz="1800" spc="-5" dirty="0">
                <a:latin typeface="Palatino Linotype" panose="02040502050505030304"/>
                <a:cs typeface="Palatino Linotype" panose="02040502050505030304"/>
              </a:rPr>
              <a:t>successor </a:t>
            </a:r>
            <a:r>
              <a:rPr sz="1800" dirty="0">
                <a:latin typeface="Palatino Linotype" panose="02040502050505030304"/>
                <a:cs typeface="Palatino Linotype" panose="02040502050505030304"/>
              </a:rPr>
              <a:t>block of </a:t>
            </a:r>
            <a:r>
              <a:rPr sz="1800" i="1" dirty="0">
                <a:latin typeface="Palatino Linotype" panose="02040502050505030304"/>
                <a:cs typeface="Palatino Linotype" panose="02040502050505030304"/>
              </a:rPr>
              <a:t>B</a:t>
            </a:r>
            <a:r>
              <a:rPr sz="1800" dirty="0">
                <a:latin typeface="Palatino Linotype" panose="02040502050505030304"/>
                <a:cs typeface="Palatino Linotype" panose="02040502050505030304"/>
              </a:rPr>
              <a:t>, </a:t>
            </a:r>
            <a:r>
              <a:rPr sz="1800" spc="-434"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5" dirty="0">
                <a:latin typeface="Palatino Linotype" panose="02040502050505030304"/>
                <a:cs typeface="Palatino Linotype" panose="02040502050505030304"/>
              </a:rPr>
              <a:t> consider</a:t>
            </a:r>
            <a:r>
              <a:rPr sz="1800" dirty="0">
                <a:latin typeface="Palatino Linotype" panose="02040502050505030304"/>
                <a:cs typeface="Palatino Linotype" panose="02040502050505030304"/>
              </a:rPr>
              <a:t> the</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varible</a:t>
            </a:r>
            <a:r>
              <a:rPr sz="1800"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live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 the</a:t>
            </a:r>
            <a:r>
              <a:rPr sz="1800" spc="-5" dirty="0">
                <a:latin typeface="Palatino Linotype" panose="02040502050505030304"/>
                <a:cs typeface="Palatino Linotype" panose="02040502050505030304"/>
              </a:rPr>
              <a:t> exit</a:t>
            </a:r>
            <a:r>
              <a:rPr sz="1800" dirty="0">
                <a:latin typeface="Palatino Linotype" panose="02040502050505030304"/>
                <a:cs typeface="Palatino Linotype" panose="02040502050505030304"/>
              </a:rPr>
              <a:t> of</a:t>
            </a:r>
            <a:r>
              <a:rPr sz="1800" spc="-1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B</a:t>
            </a:r>
            <a:endParaRPr sz="1800" dirty="0">
              <a:latin typeface="Palatino Linotype" panose="02040502050505030304"/>
              <a:cs typeface="Palatino Linotype" panose="020405020505050303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919980" cy="635000"/>
          </a:xfrm>
          <a:prstGeom prst="rect">
            <a:avLst/>
          </a:prstGeom>
        </p:spPr>
        <p:txBody>
          <a:bodyPr vert="horz" wrap="square" lIns="0" tIns="12700" rIns="0" bIns="0" rtlCol="0">
            <a:spAutoFit/>
          </a:bodyPr>
          <a:lstStyle/>
          <a:p>
            <a:pPr marL="12700">
              <a:lnSpc>
                <a:spcPct val="100000"/>
              </a:lnSpc>
              <a:spcBef>
                <a:spcPts val="100"/>
              </a:spcBef>
            </a:pPr>
            <a:r>
              <a:rPr sz="4000" dirty="0"/>
              <a:t>Data-Flow</a:t>
            </a:r>
            <a:r>
              <a:rPr sz="4000" spc="-60" dirty="0"/>
              <a:t> </a:t>
            </a:r>
            <a:r>
              <a:rPr sz="4000" spc="-5" dirty="0"/>
              <a:t>Equations</a:t>
            </a:r>
            <a:endParaRPr sz="4000"/>
          </a:p>
        </p:txBody>
      </p:sp>
      <p:graphicFrame>
        <p:nvGraphicFramePr>
          <p:cNvPr id="3" name="object 3"/>
          <p:cNvGraphicFramePr>
            <a:graphicFrameLocks noGrp="1"/>
          </p:cNvGraphicFramePr>
          <p:nvPr/>
        </p:nvGraphicFramePr>
        <p:xfrm>
          <a:off x="1090402" y="2718561"/>
          <a:ext cx="1451610" cy="723274"/>
        </p:xfrm>
        <a:graphic>
          <a:graphicData uri="http://schemas.openxmlformats.org/drawingml/2006/table">
            <a:tbl>
              <a:tblPr firstRow="1" bandRow="1">
                <a:tableStyleId>{2D5ABB26-0587-4C30-8999-92F81FD0307C}</a:tableStyleId>
              </a:tblPr>
              <a:tblGrid>
                <a:gridCol w="530860">
                  <a:extLst>
                    <a:ext uri="{9D8B030D-6E8A-4147-A177-3AD203B41FA5}">
                      <a16:colId xmlns:a16="http://schemas.microsoft.com/office/drawing/2014/main" val="20000"/>
                    </a:ext>
                  </a:extLst>
                </a:gridCol>
                <a:gridCol w="501650">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tblGrid>
              <a:tr h="383690">
                <a:tc>
                  <a:txBody>
                    <a:bodyPr/>
                    <a:lstStyle/>
                    <a:p>
                      <a:pPr marL="28575" algn="ctr">
                        <a:lnSpc>
                          <a:spcPct val="100000"/>
                        </a:lnSpc>
                        <a:spcBef>
                          <a:spcPts val="265"/>
                        </a:spcBef>
                      </a:pPr>
                      <a:r>
                        <a:rPr sz="1800" dirty="0">
                          <a:latin typeface="Consolas" panose="020B0609020204030204"/>
                          <a:cs typeface="Consolas" panose="020B0609020204030204"/>
                        </a:rPr>
                        <a:t>i</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3655" marB="0">
                    <a:lnL w="12700">
                      <a:solidFill>
                        <a:srgbClr val="000000"/>
                      </a:solidFill>
                      <a:prstDash val="solid"/>
                    </a:lnL>
                    <a:lnT w="12700">
                      <a:solidFill>
                        <a:srgbClr val="000000"/>
                      </a:solidFill>
                      <a:prstDash val="solid"/>
                    </a:lnT>
                  </a:tcPr>
                </a:tc>
                <a:tc>
                  <a:txBody>
                    <a:bodyPr/>
                    <a:lstStyle/>
                    <a:p>
                      <a:pPr algn="ctr">
                        <a:lnSpc>
                          <a:spcPct val="100000"/>
                        </a:lnSpc>
                        <a:spcBef>
                          <a:spcPts val="265"/>
                        </a:spcBef>
                      </a:pPr>
                      <a:r>
                        <a:rPr sz="1800" dirty="0">
                          <a:latin typeface="Consolas" panose="020B0609020204030204"/>
                          <a:cs typeface="Consolas" panose="020B0609020204030204"/>
                        </a:rPr>
                        <a:t>i</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3655" marB="0">
                    <a:lnT w="12700">
                      <a:solidFill>
                        <a:srgbClr val="000000"/>
                      </a:solidFill>
                      <a:prstDash val="solid"/>
                    </a:lnT>
                  </a:tcPr>
                </a:tc>
                <a:tc>
                  <a:txBody>
                    <a:bodyPr/>
                    <a:lstStyle/>
                    <a:p>
                      <a:pPr marL="62230">
                        <a:lnSpc>
                          <a:spcPct val="100000"/>
                        </a:lnSpc>
                        <a:spcBef>
                          <a:spcPts val="265"/>
                        </a:spcBef>
                      </a:pPr>
                      <a:r>
                        <a:rPr sz="1800" spc="-5" dirty="0">
                          <a:latin typeface="Consolas" panose="020B0609020204030204"/>
                          <a:cs typeface="Consolas" panose="020B0609020204030204"/>
                        </a:rPr>
                        <a:t>1;</a:t>
                      </a:r>
                      <a:endParaRPr sz="1800">
                        <a:latin typeface="Consolas" panose="020B0609020204030204"/>
                        <a:cs typeface="Consolas" panose="020B0609020204030204"/>
                      </a:endParaRPr>
                    </a:p>
                  </a:txBody>
                  <a:tcPr marL="0" marR="0" marT="33655" marB="0">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00"/>
                  </a:ext>
                </a:extLst>
              </a:tr>
              <a:tr h="339584">
                <a:tc>
                  <a:txBody>
                    <a:bodyPr/>
                    <a:lstStyle/>
                    <a:p>
                      <a:pPr marL="28575" algn="ctr">
                        <a:lnSpc>
                          <a:spcPct val="100000"/>
                        </a:lnSpc>
                        <a:spcBef>
                          <a:spcPts val="25"/>
                        </a:spcBef>
                      </a:pPr>
                      <a:r>
                        <a:rPr sz="1800" dirty="0">
                          <a:latin typeface="Consolas" panose="020B0609020204030204"/>
                          <a:cs typeface="Consolas" panose="020B0609020204030204"/>
                        </a:rPr>
                        <a:t>j</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175" marB="0">
                    <a:lnL w="12700">
                      <a:solidFill>
                        <a:srgbClr val="000000"/>
                      </a:solidFill>
                      <a:prstDash val="solid"/>
                    </a:lnL>
                    <a:lnB w="12700">
                      <a:solidFill>
                        <a:srgbClr val="000000"/>
                      </a:solidFill>
                      <a:prstDash val="solid"/>
                    </a:lnB>
                  </a:tcPr>
                </a:tc>
                <a:tc>
                  <a:txBody>
                    <a:bodyPr/>
                    <a:lstStyle/>
                    <a:p>
                      <a:pPr algn="ctr">
                        <a:lnSpc>
                          <a:spcPct val="100000"/>
                        </a:lnSpc>
                        <a:spcBef>
                          <a:spcPts val="25"/>
                        </a:spcBef>
                      </a:pPr>
                      <a:r>
                        <a:rPr sz="1800" dirty="0">
                          <a:latin typeface="Consolas" panose="020B0609020204030204"/>
                          <a:cs typeface="Consolas" panose="020B0609020204030204"/>
                        </a:rPr>
                        <a:t>j</a:t>
                      </a:r>
                      <a:r>
                        <a:rPr sz="1800" spc="-70" dirty="0">
                          <a:latin typeface="Consolas" panose="020B0609020204030204"/>
                          <a:cs typeface="Consolas" panose="020B0609020204030204"/>
                        </a:rPr>
                        <a:t> </a:t>
                      </a:r>
                      <a:r>
                        <a:rPr sz="1800" dirty="0">
                          <a:latin typeface="Consolas" panose="020B0609020204030204"/>
                          <a:cs typeface="Consolas" panose="020B0609020204030204"/>
                        </a:rPr>
                        <a:t>–</a:t>
                      </a:r>
                      <a:endParaRPr sz="1800">
                        <a:latin typeface="Consolas" panose="020B0609020204030204"/>
                        <a:cs typeface="Consolas" panose="020B0609020204030204"/>
                      </a:endParaRPr>
                    </a:p>
                  </a:txBody>
                  <a:tcPr marL="0" marR="0" marT="3175" marB="0">
                    <a:lnB w="12700">
                      <a:solidFill>
                        <a:srgbClr val="000000"/>
                      </a:solidFill>
                      <a:prstDash val="solid"/>
                    </a:lnB>
                  </a:tcPr>
                </a:tc>
                <a:tc>
                  <a:txBody>
                    <a:bodyPr/>
                    <a:lstStyle/>
                    <a:p>
                      <a:pPr marL="62230">
                        <a:lnSpc>
                          <a:spcPct val="100000"/>
                        </a:lnSpc>
                        <a:spcBef>
                          <a:spcPts val="25"/>
                        </a:spcBef>
                      </a:pPr>
                      <a:r>
                        <a:rPr sz="1800" spc="-5" dirty="0">
                          <a:latin typeface="Consolas" panose="020B0609020204030204"/>
                          <a:cs typeface="Consolas" panose="020B0609020204030204"/>
                        </a:rPr>
                        <a:t>1;</a:t>
                      </a:r>
                      <a:endParaRPr sz="1800">
                        <a:latin typeface="Consolas" panose="020B0609020204030204"/>
                        <a:cs typeface="Consolas" panose="020B0609020204030204"/>
                      </a:endParaRPr>
                    </a:p>
                  </a:txBody>
                  <a:tcPr marL="0" marR="0" marT="3175"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4" name="object 4"/>
          <p:cNvSpPr/>
          <p:nvPr/>
        </p:nvSpPr>
        <p:spPr>
          <a:xfrm>
            <a:off x="657226"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5" name="object 5"/>
          <p:cNvSpPr txBox="1"/>
          <p:nvPr/>
        </p:nvSpPr>
        <p:spPr>
          <a:xfrm>
            <a:off x="710566"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1</a:t>
            </a:r>
            <a:endParaRPr sz="1800" baseline="-14000">
              <a:latin typeface="Consolas" panose="020B0609020204030204"/>
              <a:cs typeface="Consolas" panose="020B0609020204030204"/>
            </a:endParaRPr>
          </a:p>
        </p:txBody>
      </p:sp>
      <p:sp>
        <p:nvSpPr>
          <p:cNvPr id="6" name="object 6"/>
          <p:cNvSpPr/>
          <p:nvPr/>
        </p:nvSpPr>
        <p:spPr>
          <a:xfrm>
            <a:off x="1622553"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7" name="object 7"/>
          <p:cNvSpPr txBox="1"/>
          <p:nvPr/>
        </p:nvSpPr>
        <p:spPr>
          <a:xfrm>
            <a:off x="1675893"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2</a:t>
            </a:r>
            <a:endParaRPr sz="1800" baseline="-14000">
              <a:latin typeface="Consolas" panose="020B0609020204030204"/>
              <a:cs typeface="Consolas" panose="020B0609020204030204"/>
            </a:endParaRPr>
          </a:p>
        </p:txBody>
      </p:sp>
      <p:sp>
        <p:nvSpPr>
          <p:cNvPr id="8" name="object 8"/>
          <p:cNvSpPr/>
          <p:nvPr/>
        </p:nvSpPr>
        <p:spPr>
          <a:xfrm>
            <a:off x="2561907" y="4269322"/>
            <a:ext cx="396875" cy="369570"/>
          </a:xfrm>
          <a:custGeom>
            <a:avLst/>
            <a:gdLst/>
            <a:ahLst/>
            <a:cxnLst/>
            <a:rect l="l" t="t" r="r" b="b"/>
            <a:pathLst>
              <a:path w="396875" h="369570">
                <a:moveTo>
                  <a:pt x="0" y="0"/>
                </a:moveTo>
                <a:lnTo>
                  <a:pt x="396262" y="0"/>
                </a:lnTo>
                <a:lnTo>
                  <a:pt x="396262" y="369332"/>
                </a:lnTo>
                <a:lnTo>
                  <a:pt x="0" y="369332"/>
                </a:lnTo>
                <a:lnTo>
                  <a:pt x="0" y="0"/>
                </a:lnTo>
                <a:close/>
              </a:path>
            </a:pathLst>
          </a:custGeom>
          <a:ln w="9525">
            <a:solidFill>
              <a:srgbClr val="000000"/>
            </a:solidFill>
          </a:ln>
        </p:spPr>
        <p:txBody>
          <a:bodyPr wrap="square" lIns="0" tIns="0" rIns="0" bIns="0" rtlCol="0"/>
          <a:lstStyle/>
          <a:p>
            <a:endParaRPr/>
          </a:p>
        </p:txBody>
      </p:sp>
      <p:sp>
        <p:nvSpPr>
          <p:cNvPr id="9" name="object 9"/>
          <p:cNvSpPr txBox="1"/>
          <p:nvPr/>
        </p:nvSpPr>
        <p:spPr>
          <a:xfrm>
            <a:off x="2615247" y="4291076"/>
            <a:ext cx="285750" cy="299720"/>
          </a:xfrm>
          <a:prstGeom prst="rect">
            <a:avLst/>
          </a:prstGeom>
        </p:spPr>
        <p:txBody>
          <a:bodyPr vert="horz" wrap="square" lIns="0" tIns="12700" rIns="0" bIns="0" rtlCol="0">
            <a:spAutoFit/>
          </a:bodyPr>
          <a:lstStyle/>
          <a:p>
            <a:pPr marL="38100">
              <a:lnSpc>
                <a:spcPct val="100000"/>
              </a:lnSpc>
              <a:spcBef>
                <a:spcPts val="100"/>
              </a:spcBef>
            </a:pPr>
            <a:r>
              <a:rPr sz="1800" i="1" spc="-5" dirty="0">
                <a:latin typeface="Consolas" panose="020B0609020204030204"/>
                <a:cs typeface="Consolas" panose="020B0609020204030204"/>
              </a:rPr>
              <a:t>S</a:t>
            </a:r>
            <a:r>
              <a:rPr sz="1800" spc="-7" baseline="-14000" dirty="0">
                <a:latin typeface="Consolas" panose="020B0609020204030204"/>
                <a:cs typeface="Consolas" panose="020B0609020204030204"/>
              </a:rPr>
              <a:t>3</a:t>
            </a:r>
            <a:endParaRPr sz="1800" baseline="-14000">
              <a:latin typeface="Consolas" panose="020B0609020204030204"/>
              <a:cs typeface="Consolas" panose="020B0609020204030204"/>
            </a:endParaRPr>
          </a:p>
        </p:txBody>
      </p:sp>
      <p:sp>
        <p:nvSpPr>
          <p:cNvPr id="10" name="object 10"/>
          <p:cNvSpPr/>
          <p:nvPr/>
        </p:nvSpPr>
        <p:spPr>
          <a:xfrm>
            <a:off x="855345" y="3439426"/>
            <a:ext cx="1905000" cy="829944"/>
          </a:xfrm>
          <a:custGeom>
            <a:avLst/>
            <a:gdLst/>
            <a:ahLst/>
            <a:cxnLst/>
            <a:rect l="l" t="t" r="r" b="b"/>
            <a:pathLst>
              <a:path w="1905000" h="829945">
                <a:moveTo>
                  <a:pt x="1904695" y="829906"/>
                </a:moveTo>
                <a:lnTo>
                  <a:pt x="1904111" y="828141"/>
                </a:lnTo>
                <a:lnTo>
                  <a:pt x="1874634" y="739355"/>
                </a:lnTo>
                <a:lnTo>
                  <a:pt x="1872843" y="738454"/>
                </a:lnTo>
                <a:lnTo>
                  <a:pt x="1869516" y="739559"/>
                </a:lnTo>
                <a:lnTo>
                  <a:pt x="1868614" y="741362"/>
                </a:lnTo>
                <a:lnTo>
                  <a:pt x="1893252" y="815606"/>
                </a:lnTo>
                <a:lnTo>
                  <a:pt x="967435" y="38"/>
                </a:lnTo>
                <a:lnTo>
                  <a:pt x="965327" y="2413"/>
                </a:lnTo>
                <a:lnTo>
                  <a:pt x="963269" y="0"/>
                </a:lnTo>
                <a:lnTo>
                  <a:pt x="11633" y="815759"/>
                </a:lnTo>
                <a:lnTo>
                  <a:pt x="37274" y="741857"/>
                </a:lnTo>
                <a:lnTo>
                  <a:pt x="36398" y="740041"/>
                </a:lnTo>
                <a:lnTo>
                  <a:pt x="33083" y="738898"/>
                </a:lnTo>
                <a:lnTo>
                  <a:pt x="31280" y="739775"/>
                </a:lnTo>
                <a:lnTo>
                  <a:pt x="0" y="829906"/>
                </a:lnTo>
                <a:lnTo>
                  <a:pt x="9309" y="828205"/>
                </a:lnTo>
                <a:lnTo>
                  <a:pt x="93853" y="812774"/>
                </a:lnTo>
                <a:lnTo>
                  <a:pt x="94996" y="811123"/>
                </a:lnTo>
                <a:lnTo>
                  <a:pt x="94373" y="807669"/>
                </a:lnTo>
                <a:lnTo>
                  <a:pt x="92710" y="806526"/>
                </a:lnTo>
                <a:lnTo>
                  <a:pt x="15760" y="820572"/>
                </a:lnTo>
                <a:lnTo>
                  <a:pt x="962152" y="9321"/>
                </a:lnTo>
                <a:lnTo>
                  <a:pt x="962152" y="811872"/>
                </a:lnTo>
                <a:lnTo>
                  <a:pt x="922743" y="744296"/>
                </a:lnTo>
                <a:lnTo>
                  <a:pt x="920800" y="743788"/>
                </a:lnTo>
                <a:lnTo>
                  <a:pt x="917765" y="745553"/>
                </a:lnTo>
                <a:lnTo>
                  <a:pt x="917257" y="747496"/>
                </a:lnTo>
                <a:lnTo>
                  <a:pt x="965327" y="829919"/>
                </a:lnTo>
                <a:lnTo>
                  <a:pt x="969010" y="823620"/>
                </a:lnTo>
                <a:lnTo>
                  <a:pt x="1013409" y="747496"/>
                </a:lnTo>
                <a:lnTo>
                  <a:pt x="1012901" y="745553"/>
                </a:lnTo>
                <a:lnTo>
                  <a:pt x="1009865" y="743788"/>
                </a:lnTo>
                <a:lnTo>
                  <a:pt x="1007922" y="744296"/>
                </a:lnTo>
                <a:lnTo>
                  <a:pt x="968502" y="811872"/>
                </a:lnTo>
                <a:lnTo>
                  <a:pt x="968502" y="9461"/>
                </a:lnTo>
                <a:lnTo>
                  <a:pt x="1889061" y="820369"/>
                </a:lnTo>
                <a:lnTo>
                  <a:pt x="1812302" y="805281"/>
                </a:lnTo>
                <a:lnTo>
                  <a:pt x="1810639" y="806399"/>
                </a:lnTo>
                <a:lnTo>
                  <a:pt x="1809953" y="809840"/>
                </a:lnTo>
                <a:lnTo>
                  <a:pt x="1811083" y="811504"/>
                </a:lnTo>
                <a:lnTo>
                  <a:pt x="1904695" y="829906"/>
                </a:lnTo>
                <a:close/>
              </a:path>
            </a:pathLst>
          </a:custGeom>
          <a:solidFill>
            <a:srgbClr val="000000"/>
          </a:solidFill>
        </p:spPr>
        <p:txBody>
          <a:bodyPr wrap="square" lIns="0" tIns="0" rIns="0" bIns="0" rtlCol="0"/>
          <a:lstStyle/>
          <a:p>
            <a:endParaRPr/>
          </a:p>
        </p:txBody>
      </p:sp>
      <p:sp>
        <p:nvSpPr>
          <p:cNvPr id="11" name="object 11"/>
          <p:cNvSpPr/>
          <p:nvPr/>
        </p:nvSpPr>
        <p:spPr>
          <a:xfrm>
            <a:off x="1759621" y="2277974"/>
            <a:ext cx="96520" cy="440690"/>
          </a:xfrm>
          <a:custGeom>
            <a:avLst/>
            <a:gdLst/>
            <a:ahLst/>
            <a:cxnLst/>
            <a:rect l="l" t="t" r="r" b="b"/>
            <a:pathLst>
              <a:path w="96519" h="440689">
                <a:moveTo>
                  <a:pt x="3540" y="354474"/>
                </a:moveTo>
                <a:lnTo>
                  <a:pt x="511" y="356241"/>
                </a:lnTo>
                <a:lnTo>
                  <a:pt x="0" y="358185"/>
                </a:lnTo>
                <a:lnTo>
                  <a:pt x="48075" y="440602"/>
                </a:lnTo>
                <a:lnTo>
                  <a:pt x="51751" y="434300"/>
                </a:lnTo>
                <a:lnTo>
                  <a:pt x="44900" y="434300"/>
                </a:lnTo>
                <a:lnTo>
                  <a:pt x="44900" y="422555"/>
                </a:lnTo>
                <a:lnTo>
                  <a:pt x="5485" y="354986"/>
                </a:lnTo>
                <a:lnTo>
                  <a:pt x="3540" y="354474"/>
                </a:lnTo>
                <a:close/>
              </a:path>
              <a:path w="96519" h="440689">
                <a:moveTo>
                  <a:pt x="44900" y="422555"/>
                </a:moveTo>
                <a:lnTo>
                  <a:pt x="44900" y="434300"/>
                </a:lnTo>
                <a:lnTo>
                  <a:pt x="51250" y="434300"/>
                </a:lnTo>
                <a:lnTo>
                  <a:pt x="51250" y="432700"/>
                </a:lnTo>
                <a:lnTo>
                  <a:pt x="45333" y="432700"/>
                </a:lnTo>
                <a:lnTo>
                  <a:pt x="48076" y="427998"/>
                </a:lnTo>
                <a:lnTo>
                  <a:pt x="44900" y="422555"/>
                </a:lnTo>
                <a:close/>
              </a:path>
              <a:path w="96519" h="440689">
                <a:moveTo>
                  <a:pt x="92610" y="354474"/>
                </a:moveTo>
                <a:lnTo>
                  <a:pt x="90667" y="354986"/>
                </a:lnTo>
                <a:lnTo>
                  <a:pt x="51252" y="422555"/>
                </a:lnTo>
                <a:lnTo>
                  <a:pt x="51250" y="434300"/>
                </a:lnTo>
                <a:lnTo>
                  <a:pt x="51751" y="434300"/>
                </a:lnTo>
                <a:lnTo>
                  <a:pt x="96152" y="358185"/>
                </a:lnTo>
                <a:lnTo>
                  <a:pt x="95641" y="356241"/>
                </a:lnTo>
                <a:lnTo>
                  <a:pt x="92610" y="354474"/>
                </a:lnTo>
                <a:close/>
              </a:path>
              <a:path w="96519" h="440689">
                <a:moveTo>
                  <a:pt x="48076" y="427998"/>
                </a:moveTo>
                <a:lnTo>
                  <a:pt x="45333" y="432700"/>
                </a:lnTo>
                <a:lnTo>
                  <a:pt x="50819" y="432700"/>
                </a:lnTo>
                <a:lnTo>
                  <a:pt x="48076" y="427998"/>
                </a:lnTo>
                <a:close/>
              </a:path>
              <a:path w="96519" h="440689">
                <a:moveTo>
                  <a:pt x="51250" y="422557"/>
                </a:moveTo>
                <a:lnTo>
                  <a:pt x="48076" y="427998"/>
                </a:lnTo>
                <a:lnTo>
                  <a:pt x="50819" y="432700"/>
                </a:lnTo>
                <a:lnTo>
                  <a:pt x="51250" y="432700"/>
                </a:lnTo>
                <a:lnTo>
                  <a:pt x="51250" y="422557"/>
                </a:lnTo>
                <a:close/>
              </a:path>
              <a:path w="96519" h="440689">
                <a:moveTo>
                  <a:pt x="51252" y="0"/>
                </a:moveTo>
                <a:lnTo>
                  <a:pt x="44902" y="0"/>
                </a:lnTo>
                <a:lnTo>
                  <a:pt x="44902" y="422557"/>
                </a:lnTo>
                <a:lnTo>
                  <a:pt x="48076" y="427998"/>
                </a:lnTo>
                <a:lnTo>
                  <a:pt x="51250" y="422557"/>
                </a:lnTo>
                <a:lnTo>
                  <a:pt x="51252" y="0"/>
                </a:lnTo>
                <a:close/>
              </a:path>
            </a:pathLst>
          </a:custGeom>
          <a:solidFill>
            <a:srgbClr val="000000"/>
          </a:solidFill>
        </p:spPr>
        <p:txBody>
          <a:bodyPr wrap="square" lIns="0" tIns="0" rIns="0" bIns="0" rtlCol="0"/>
          <a:lstStyle/>
          <a:p>
            <a:endParaRPr/>
          </a:p>
        </p:txBody>
      </p:sp>
      <p:sp>
        <p:nvSpPr>
          <p:cNvPr id="12" name="object 12"/>
          <p:cNvSpPr txBox="1"/>
          <p:nvPr/>
        </p:nvSpPr>
        <p:spPr>
          <a:xfrm>
            <a:off x="2793366" y="2922523"/>
            <a:ext cx="1511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nsolas" panose="020B0609020204030204"/>
                <a:cs typeface="Consolas" panose="020B0609020204030204"/>
              </a:rPr>
              <a:t>B</a:t>
            </a:r>
            <a:endParaRPr sz="1800">
              <a:latin typeface="Consolas" panose="020B0609020204030204"/>
              <a:cs typeface="Consolas" panose="020B0609020204030204"/>
            </a:endParaRPr>
          </a:p>
        </p:txBody>
      </p:sp>
      <p:sp>
        <p:nvSpPr>
          <p:cNvPr id="13" name="object 13"/>
          <p:cNvSpPr/>
          <p:nvPr/>
        </p:nvSpPr>
        <p:spPr>
          <a:xfrm>
            <a:off x="6912965" y="2123439"/>
            <a:ext cx="55880" cy="236220"/>
          </a:xfrm>
          <a:custGeom>
            <a:avLst/>
            <a:gdLst/>
            <a:ahLst/>
            <a:cxnLst/>
            <a:rect l="l" t="t" r="r" b="b"/>
            <a:pathLst>
              <a:path w="55879" h="236219">
                <a:moveTo>
                  <a:pt x="55308" y="0"/>
                </a:moveTo>
                <a:lnTo>
                  <a:pt x="0" y="0"/>
                </a:lnTo>
                <a:lnTo>
                  <a:pt x="0" y="8890"/>
                </a:lnTo>
                <a:lnTo>
                  <a:pt x="34721" y="8890"/>
                </a:lnTo>
                <a:lnTo>
                  <a:pt x="34721" y="226060"/>
                </a:lnTo>
                <a:lnTo>
                  <a:pt x="0" y="226060"/>
                </a:lnTo>
                <a:lnTo>
                  <a:pt x="0" y="236220"/>
                </a:lnTo>
                <a:lnTo>
                  <a:pt x="55308" y="236220"/>
                </a:lnTo>
                <a:lnTo>
                  <a:pt x="55308" y="226060"/>
                </a:lnTo>
                <a:lnTo>
                  <a:pt x="55308" y="8890"/>
                </a:lnTo>
                <a:lnTo>
                  <a:pt x="55308" y="0"/>
                </a:lnTo>
                <a:close/>
              </a:path>
            </a:pathLst>
          </a:custGeom>
          <a:solidFill>
            <a:srgbClr val="000000"/>
          </a:solidFill>
        </p:spPr>
        <p:txBody>
          <a:bodyPr wrap="square" lIns="0" tIns="0" rIns="0" bIns="0" rtlCol="0"/>
          <a:lstStyle/>
          <a:p>
            <a:endParaRPr/>
          </a:p>
        </p:txBody>
      </p:sp>
      <p:sp>
        <p:nvSpPr>
          <p:cNvPr id="14" name="object 14"/>
          <p:cNvSpPr/>
          <p:nvPr/>
        </p:nvSpPr>
        <p:spPr>
          <a:xfrm>
            <a:off x="6673519" y="2123439"/>
            <a:ext cx="55880" cy="236220"/>
          </a:xfrm>
          <a:custGeom>
            <a:avLst/>
            <a:gdLst/>
            <a:ahLst/>
            <a:cxnLst/>
            <a:rect l="l" t="t" r="r" b="b"/>
            <a:pathLst>
              <a:path w="55879" h="236219">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000000"/>
          </a:solidFill>
        </p:spPr>
        <p:txBody>
          <a:bodyPr wrap="square" lIns="0" tIns="0" rIns="0" bIns="0" rtlCol="0"/>
          <a:lstStyle/>
          <a:p>
            <a:endParaRPr/>
          </a:p>
        </p:txBody>
      </p:sp>
      <p:sp>
        <p:nvSpPr>
          <p:cNvPr id="15" name="object 15"/>
          <p:cNvSpPr txBox="1"/>
          <p:nvPr/>
        </p:nvSpPr>
        <p:spPr>
          <a:xfrm>
            <a:off x="4272954" y="2046732"/>
            <a:ext cx="3684904" cy="330200"/>
          </a:xfrm>
          <a:prstGeom prst="rect">
            <a:avLst/>
          </a:prstGeom>
        </p:spPr>
        <p:txBody>
          <a:bodyPr vert="horz" wrap="square" lIns="0" tIns="12700" rIns="0" bIns="0" rtlCol="0">
            <a:spAutoFit/>
          </a:bodyPr>
          <a:lstStyle/>
          <a:p>
            <a:pPr marL="38100">
              <a:lnSpc>
                <a:spcPct val="100000"/>
              </a:lnSpc>
              <a:spcBef>
                <a:spcPts val="100"/>
              </a:spcBef>
              <a:tabLst>
                <a:tab pos="2779395" algn="l"/>
              </a:tabLst>
            </a:pPr>
            <a:r>
              <a:rPr sz="2000" spc="5" dirty="0">
                <a:latin typeface="Cambria Math" panose="02040503050406030204"/>
                <a:cs typeface="Cambria Math" panose="02040503050406030204"/>
              </a:rPr>
              <a:t>IN[𝐵]</a:t>
            </a:r>
            <a:r>
              <a:rPr sz="2000" spc="114"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25" dirty="0">
                <a:latin typeface="Cambria Math" panose="02040503050406030204"/>
                <a:cs typeface="Cambria Math" panose="02040503050406030204"/>
              </a:rPr>
              <a:t> </a:t>
            </a:r>
            <a:r>
              <a:rPr sz="2000" spc="-10" dirty="0">
                <a:latin typeface="Cambria Math" panose="02040503050406030204"/>
                <a:cs typeface="Cambria Math" panose="02040503050406030204"/>
              </a:rPr>
              <a:t>𝑢𝑠𝑒</a:t>
            </a:r>
            <a:r>
              <a:rPr sz="2250" spc="-15" baseline="-15000" dirty="0">
                <a:latin typeface="Cambria Math" panose="02040503050406030204"/>
                <a:cs typeface="Cambria Math" panose="02040503050406030204"/>
              </a:rPr>
              <a:t>𝐵</a:t>
            </a:r>
            <a:r>
              <a:rPr sz="2250" spc="315" baseline="-15000" dirty="0">
                <a:latin typeface="Cambria Math" panose="02040503050406030204"/>
                <a:cs typeface="Cambria Math" panose="02040503050406030204"/>
              </a:rPr>
              <a:t> </a:t>
            </a:r>
            <a:r>
              <a:rPr sz="2000" spc="85" dirty="0">
                <a:latin typeface="Cambria Math" panose="02040503050406030204"/>
                <a:cs typeface="Cambria Math" panose="02040503050406030204"/>
              </a:rPr>
              <a:t>𝖴</a:t>
            </a:r>
            <a:r>
              <a:rPr sz="2000" spc="5" dirty="0">
                <a:latin typeface="Cambria Math" panose="02040503050406030204"/>
                <a:cs typeface="Cambria Math" panose="02040503050406030204"/>
              </a:rPr>
              <a:t> </a:t>
            </a:r>
            <a:r>
              <a:rPr sz="2000" spc="-5" dirty="0">
                <a:latin typeface="Cambria Math" panose="02040503050406030204"/>
                <a:cs typeface="Cambria Math" panose="02040503050406030204"/>
              </a:rPr>
              <a:t>(OUT</a:t>
            </a:r>
            <a:r>
              <a:rPr sz="2000" spc="270" dirty="0">
                <a:latin typeface="Cambria Math" panose="02040503050406030204"/>
                <a:cs typeface="Cambria Math" panose="02040503050406030204"/>
              </a:rPr>
              <a:t> </a:t>
            </a:r>
            <a:r>
              <a:rPr sz="2000" dirty="0">
                <a:latin typeface="Cambria Math" panose="02040503050406030204"/>
                <a:cs typeface="Cambria Math" panose="02040503050406030204"/>
              </a:rPr>
              <a:t>𝐵	−</a:t>
            </a:r>
            <a:r>
              <a:rPr sz="2000" spc="-50" dirty="0">
                <a:latin typeface="Cambria Math" panose="02040503050406030204"/>
                <a:cs typeface="Cambria Math" panose="02040503050406030204"/>
              </a:rPr>
              <a:t> </a:t>
            </a:r>
            <a:r>
              <a:rPr sz="2000" spc="-40" dirty="0">
                <a:latin typeface="Cambria Math" panose="02040503050406030204"/>
                <a:cs typeface="Cambria Math" panose="02040503050406030204"/>
              </a:rPr>
              <a:t>𝑑𝑒𝑓</a:t>
            </a:r>
            <a:r>
              <a:rPr sz="2250" spc="-60" baseline="-15000" dirty="0">
                <a:latin typeface="Cambria Math" panose="02040503050406030204"/>
                <a:cs typeface="Cambria Math" panose="02040503050406030204"/>
              </a:rPr>
              <a:t>𝐵</a:t>
            </a:r>
            <a:r>
              <a:rPr sz="2000" spc="-40" dirty="0">
                <a:latin typeface="Cambria Math" panose="02040503050406030204"/>
                <a:cs typeface="Cambria Math" panose="02040503050406030204"/>
              </a:rPr>
              <a:t>)</a:t>
            </a:r>
            <a:endParaRPr sz="2000">
              <a:latin typeface="Cambria Math" panose="02040503050406030204"/>
              <a:cs typeface="Cambria Math" panose="02040503050406030204"/>
            </a:endParaRPr>
          </a:p>
        </p:txBody>
      </p:sp>
      <p:sp>
        <p:nvSpPr>
          <p:cNvPr id="18" name="object 18"/>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9" name="object 19"/>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20" name="object 20"/>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58</a:t>
            </a:fld>
            <a:endParaRPr dirty="0"/>
          </a:p>
        </p:txBody>
      </p:sp>
      <p:sp>
        <p:nvSpPr>
          <p:cNvPr id="16" name="object 16"/>
          <p:cNvSpPr txBox="1"/>
          <p:nvPr/>
        </p:nvSpPr>
        <p:spPr>
          <a:xfrm>
            <a:off x="3505377" y="2917173"/>
            <a:ext cx="5010150" cy="745490"/>
          </a:xfrm>
          <a:prstGeom prst="rect">
            <a:avLst/>
          </a:prstGeom>
          <a:solidFill>
            <a:srgbClr val="FFF2CC"/>
          </a:solidFill>
          <a:ln w="9525">
            <a:solidFill>
              <a:srgbClr val="000000"/>
            </a:solidFill>
          </a:ln>
        </p:spPr>
        <p:txBody>
          <a:bodyPr vert="horz" wrap="square" lIns="0" tIns="82550" rIns="0" bIns="0" rtlCol="0">
            <a:spAutoFit/>
          </a:bodyPr>
          <a:lstStyle/>
          <a:p>
            <a:pPr marL="90805">
              <a:lnSpc>
                <a:spcPct val="100000"/>
              </a:lnSpc>
              <a:spcBef>
                <a:spcPts val="650"/>
              </a:spcBef>
            </a:pPr>
            <a:r>
              <a:rPr sz="1700" dirty="0">
                <a:latin typeface="Cambria Math" panose="02040503050406030204"/>
                <a:cs typeface="Cambria Math" panose="02040503050406030204"/>
              </a:rPr>
              <a:t>𝒖</a:t>
            </a:r>
            <a:r>
              <a:rPr sz="1700" spc="-5" dirty="0">
                <a:latin typeface="Cambria Math" panose="02040503050406030204"/>
                <a:cs typeface="Cambria Math" panose="02040503050406030204"/>
              </a:rPr>
              <a:t>𝒔</a:t>
            </a:r>
            <a:r>
              <a:rPr sz="1700" dirty="0">
                <a:latin typeface="Cambria Math" panose="02040503050406030204"/>
                <a:cs typeface="Cambria Math" panose="02040503050406030204"/>
              </a:rPr>
              <a:t>𝒆</a:t>
            </a:r>
            <a:r>
              <a:rPr sz="1800" baseline="-16000" dirty="0">
                <a:latin typeface="Cambria Math" panose="02040503050406030204"/>
                <a:cs typeface="Cambria Math" panose="02040503050406030204"/>
              </a:rPr>
              <a:t>𝑩</a:t>
            </a:r>
            <a:r>
              <a:rPr sz="1800" spc="-247" baseline="-16000" dirty="0">
                <a:latin typeface="Cambria Math" panose="02040503050406030204"/>
                <a:cs typeface="Cambria Math" panose="02040503050406030204"/>
              </a:rPr>
              <a:t> </a:t>
            </a:r>
            <a:r>
              <a:rPr sz="1700" b="1"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a:t>
            </a:r>
            <a:r>
              <a:rPr sz="1700" dirty="0">
                <a:latin typeface="Palatino Linotype" panose="02040502050505030304"/>
                <a:cs typeface="Palatino Linotype" panose="02040502050505030304"/>
              </a:rPr>
              <a:t>e</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s</a:t>
            </a:r>
            <a:r>
              <a:rPr sz="1700" spc="-5" dirty="0">
                <a:latin typeface="Palatino Linotype" panose="02040502050505030304"/>
                <a:cs typeface="Palatino Linotype" panose="02040502050505030304"/>
              </a:rPr>
              <a:t>e</a:t>
            </a:r>
            <a:r>
              <a:rPr sz="1700" dirty="0">
                <a:latin typeface="Palatino Linotype" panose="02040502050505030304"/>
                <a:cs typeface="Palatino Linotype" panose="02040502050505030304"/>
              </a:rPr>
              <a:t>t</a:t>
            </a:r>
            <a:r>
              <a:rPr sz="1700" spc="-5" dirty="0">
                <a:latin typeface="Palatino Linotype" panose="02040502050505030304"/>
                <a:cs typeface="Palatino Linotype" panose="02040502050505030304"/>
              </a:rPr>
              <a:t> o</a:t>
            </a:r>
            <a:r>
              <a:rPr sz="1700" dirty="0">
                <a:latin typeface="Palatino Linotype" panose="02040502050505030304"/>
                <a:cs typeface="Palatino Linotype" panose="02040502050505030304"/>
              </a:rPr>
              <a:t>f</a:t>
            </a:r>
            <a:r>
              <a:rPr sz="1700" spc="-5" dirty="0">
                <a:latin typeface="Palatino Linotype" panose="02040502050505030304"/>
                <a:cs typeface="Palatino Linotype" panose="02040502050505030304"/>
              </a:rPr>
              <a:t> </a:t>
            </a:r>
            <a:r>
              <a:rPr sz="1700" spc="-45" dirty="0">
                <a:latin typeface="Palatino Linotype" panose="02040502050505030304"/>
                <a:cs typeface="Palatino Linotype" panose="02040502050505030304"/>
              </a:rPr>
              <a:t>v</a:t>
            </a:r>
            <a:r>
              <a:rPr sz="1700" dirty="0">
                <a:latin typeface="Palatino Linotype" panose="02040502050505030304"/>
                <a:cs typeface="Palatino Linotype" panose="02040502050505030304"/>
              </a:rPr>
              <a:t>ar</a:t>
            </a:r>
            <a:r>
              <a:rPr sz="1700" spc="5" dirty="0">
                <a:latin typeface="Palatino Linotype" panose="02040502050505030304"/>
                <a:cs typeface="Palatino Linotype" panose="02040502050505030304"/>
              </a:rPr>
              <a:t>i</a:t>
            </a:r>
            <a:r>
              <a:rPr sz="1700" dirty="0">
                <a:latin typeface="Palatino Linotype" panose="02040502050505030304"/>
                <a:cs typeface="Palatino Linotype" panose="02040502050505030304"/>
              </a:rPr>
              <a:t>a</a:t>
            </a:r>
            <a:r>
              <a:rPr sz="1700" spc="-5" dirty="0">
                <a:latin typeface="Palatino Linotype" panose="02040502050505030304"/>
                <a:cs typeface="Palatino Linotype" panose="02040502050505030304"/>
              </a:rPr>
              <a:t>b</a:t>
            </a:r>
            <a:r>
              <a:rPr sz="1700" spc="5" dirty="0">
                <a:latin typeface="Palatino Linotype" panose="02040502050505030304"/>
                <a:cs typeface="Palatino Linotype" panose="02040502050505030304"/>
              </a:rPr>
              <a:t>l</a:t>
            </a:r>
            <a:r>
              <a:rPr sz="1700" spc="-5" dirty="0">
                <a:latin typeface="Palatino Linotype" panose="02040502050505030304"/>
                <a:cs typeface="Palatino Linotype" panose="02040502050505030304"/>
              </a:rPr>
              <a:t>e</a:t>
            </a:r>
            <a:r>
              <a:rPr sz="1700" dirty="0">
                <a:latin typeface="Palatino Linotype" panose="02040502050505030304"/>
                <a:cs typeface="Palatino Linotype" panose="02040502050505030304"/>
              </a:rPr>
              <a:t>s </a:t>
            </a:r>
            <a:r>
              <a:rPr sz="1700" spc="-10" dirty="0">
                <a:latin typeface="Palatino Linotype" panose="02040502050505030304"/>
                <a:cs typeface="Palatino Linotype" panose="02040502050505030304"/>
              </a:rPr>
              <a:t>w</a:t>
            </a:r>
            <a:r>
              <a:rPr sz="1700" spc="-5" dirty="0">
                <a:latin typeface="Palatino Linotype" panose="02040502050505030304"/>
                <a:cs typeface="Palatino Linotype" panose="02040502050505030304"/>
              </a:rPr>
              <a:t>ho</a:t>
            </a:r>
            <a:r>
              <a:rPr sz="1700" dirty="0">
                <a:latin typeface="Palatino Linotype" panose="02040502050505030304"/>
                <a:cs typeface="Palatino Linotype" panose="02040502050505030304"/>
              </a:rPr>
              <a:t>se</a:t>
            </a:r>
            <a:r>
              <a:rPr sz="1700" spc="-5" dirty="0">
                <a:latin typeface="Palatino Linotype" panose="02040502050505030304"/>
                <a:cs typeface="Palatino Linotype" panose="02040502050505030304"/>
              </a:rPr>
              <a:t> </a:t>
            </a:r>
            <a:r>
              <a:rPr sz="1700" spc="-45" dirty="0">
                <a:latin typeface="Palatino Linotype" panose="02040502050505030304"/>
                <a:cs typeface="Palatino Linotype" panose="02040502050505030304"/>
              </a:rPr>
              <a:t>v</a:t>
            </a:r>
            <a:r>
              <a:rPr sz="1700" dirty="0">
                <a:latin typeface="Palatino Linotype" panose="02040502050505030304"/>
                <a:cs typeface="Palatino Linotype" panose="02040502050505030304"/>
              </a:rPr>
              <a:t>a</a:t>
            </a:r>
            <a:r>
              <a:rPr sz="1700" spc="5" dirty="0">
                <a:latin typeface="Palatino Linotype" panose="02040502050505030304"/>
                <a:cs typeface="Palatino Linotype" panose="02040502050505030304"/>
              </a:rPr>
              <a:t>l</a:t>
            </a:r>
            <a:r>
              <a:rPr sz="1700" spc="-5" dirty="0">
                <a:latin typeface="Palatino Linotype" panose="02040502050505030304"/>
                <a:cs typeface="Palatino Linotype" panose="02040502050505030304"/>
              </a:rPr>
              <a:t>ue</a:t>
            </a:r>
            <a:r>
              <a:rPr sz="1700" dirty="0">
                <a:latin typeface="Palatino Linotype" panose="02040502050505030304"/>
                <a:cs typeface="Palatino Linotype" panose="02040502050505030304"/>
              </a:rPr>
              <a:t>s are</a:t>
            </a:r>
            <a:r>
              <a:rPr sz="1700" spc="-5" dirty="0">
                <a:latin typeface="Palatino Linotype" panose="02040502050505030304"/>
                <a:cs typeface="Palatino Linotype" panose="02040502050505030304"/>
              </a:rPr>
              <a:t> u</a:t>
            </a:r>
            <a:r>
              <a:rPr sz="1700" dirty="0">
                <a:latin typeface="Palatino Linotype" panose="02040502050505030304"/>
                <a:cs typeface="Palatino Linotype" panose="02040502050505030304"/>
              </a:rPr>
              <a:t>s</a:t>
            </a:r>
            <a:r>
              <a:rPr sz="1700" spc="-5" dirty="0">
                <a:latin typeface="Palatino Linotype" panose="02040502050505030304"/>
                <a:cs typeface="Palatino Linotype" panose="02040502050505030304"/>
              </a:rPr>
              <a:t>e</a:t>
            </a:r>
            <a:r>
              <a:rPr sz="1700" dirty="0">
                <a:latin typeface="Palatino Linotype" panose="02040502050505030304"/>
                <a:cs typeface="Palatino Linotype" panose="02040502050505030304"/>
              </a:rPr>
              <a:t>d</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i</a:t>
            </a:r>
            <a:r>
              <a:rPr sz="1700" dirty="0">
                <a:latin typeface="Palatino Linotype" panose="02040502050505030304"/>
                <a:cs typeface="Palatino Linotype" panose="02040502050505030304"/>
              </a:rPr>
              <a:t>n</a:t>
            </a:r>
            <a:endParaRPr sz="1700">
              <a:latin typeface="Palatino Linotype" panose="02040502050505030304"/>
              <a:cs typeface="Palatino Linotype" panose="02040502050505030304"/>
            </a:endParaRPr>
          </a:p>
          <a:p>
            <a:pPr marL="90805">
              <a:lnSpc>
                <a:spcPct val="100000"/>
              </a:lnSpc>
              <a:spcBef>
                <a:spcPts val="575"/>
              </a:spcBef>
            </a:pPr>
            <a:r>
              <a:rPr sz="1700" i="1" dirty="0">
                <a:latin typeface="Palatino Linotype" panose="02040502050505030304"/>
                <a:cs typeface="Palatino Linotype" panose="02040502050505030304"/>
              </a:rPr>
              <a:t>B</a:t>
            </a:r>
            <a:r>
              <a:rPr sz="1700" i="1" spc="-10" dirty="0">
                <a:latin typeface="Palatino Linotype" panose="02040502050505030304"/>
                <a:cs typeface="Palatino Linotype" panose="02040502050505030304"/>
              </a:rPr>
              <a:t> </a:t>
            </a:r>
            <a:r>
              <a:rPr sz="1700" dirty="0">
                <a:solidFill>
                  <a:srgbClr val="FF0000"/>
                </a:solidFill>
                <a:latin typeface="Palatino Linotype" panose="02040502050505030304"/>
                <a:cs typeface="Palatino Linotype" panose="02040502050505030304"/>
              </a:rPr>
              <a:t>prior</a:t>
            </a:r>
            <a:r>
              <a:rPr sz="1700" spc="-5" dirty="0">
                <a:solidFill>
                  <a:srgbClr val="FF0000"/>
                </a:solidFill>
                <a:latin typeface="Palatino Linotype" panose="02040502050505030304"/>
                <a:cs typeface="Palatino Linotype" panose="02040502050505030304"/>
              </a:rPr>
              <a:t> to any definition </a:t>
            </a:r>
            <a:r>
              <a:rPr sz="1700" spc="-5" dirty="0">
                <a:latin typeface="Palatino Linotype" panose="02040502050505030304"/>
                <a:cs typeface="Palatino Linotype" panose="02040502050505030304"/>
              </a:rPr>
              <a:t>of</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variable (</a:t>
            </a:r>
            <a:r>
              <a:rPr sz="1700" spc="-5" dirty="0">
                <a:solidFill>
                  <a:srgbClr val="FF0000"/>
                </a:solidFill>
                <a:latin typeface="Consolas" panose="020B0609020204030204"/>
                <a:cs typeface="Consolas" panose="020B0609020204030204"/>
              </a:rPr>
              <a:t>i</a:t>
            </a:r>
            <a:r>
              <a:rPr sz="1700" spc="-5" dirty="0">
                <a:latin typeface="Palatino Linotype" panose="02040502050505030304"/>
                <a:cs typeface="Palatino Linotype" panose="02040502050505030304"/>
              </a:rPr>
              <a:t>, </a:t>
            </a:r>
            <a:r>
              <a:rPr sz="1700" dirty="0">
                <a:solidFill>
                  <a:srgbClr val="FF0000"/>
                </a:solidFill>
                <a:latin typeface="Consolas" panose="020B0609020204030204"/>
                <a:cs typeface="Consolas" panose="020B0609020204030204"/>
              </a:rPr>
              <a:t>j</a:t>
            </a:r>
            <a:r>
              <a:rPr sz="1700" dirty="0">
                <a:latin typeface="Palatino Linotype" panose="02040502050505030304"/>
                <a:cs typeface="Palatino Linotype" panose="02040502050505030304"/>
              </a:rPr>
              <a:t>)</a:t>
            </a:r>
            <a:endParaRPr sz="1700">
              <a:latin typeface="Palatino Linotype" panose="02040502050505030304"/>
              <a:cs typeface="Palatino Linotype" panose="02040502050505030304"/>
            </a:endParaRPr>
          </a:p>
        </p:txBody>
      </p:sp>
      <p:sp>
        <p:nvSpPr>
          <p:cNvPr id="17" name="object 17"/>
          <p:cNvSpPr txBox="1"/>
          <p:nvPr/>
        </p:nvSpPr>
        <p:spPr>
          <a:xfrm>
            <a:off x="3505379" y="3933769"/>
            <a:ext cx="5010150" cy="1426210"/>
          </a:xfrm>
          <a:prstGeom prst="rect">
            <a:avLst/>
          </a:prstGeom>
          <a:solidFill>
            <a:srgbClr val="FFF2CC"/>
          </a:solidFill>
          <a:ln w="9525">
            <a:solidFill>
              <a:srgbClr val="000000"/>
            </a:solidFill>
          </a:ln>
        </p:spPr>
        <p:txBody>
          <a:bodyPr vert="horz" wrap="square" lIns="0" tIns="6350" rIns="0" bIns="0" rtlCol="0">
            <a:spAutoFit/>
          </a:bodyPr>
          <a:lstStyle/>
          <a:p>
            <a:pPr marL="90805" marR="120015">
              <a:lnSpc>
                <a:spcPct val="130000"/>
              </a:lnSpc>
              <a:spcBef>
                <a:spcPts val="50"/>
              </a:spcBef>
            </a:pPr>
            <a:r>
              <a:rPr sz="1700" spc="5" dirty="0">
                <a:latin typeface="Cambria Math" panose="02040503050406030204"/>
                <a:cs typeface="Cambria Math" panose="02040503050406030204"/>
              </a:rPr>
              <a:t>𝒅</a:t>
            </a:r>
            <a:r>
              <a:rPr sz="1700" dirty="0">
                <a:latin typeface="Cambria Math" panose="02040503050406030204"/>
                <a:cs typeface="Cambria Math" panose="02040503050406030204"/>
              </a:rPr>
              <a:t>𝒆𝒇</a:t>
            </a:r>
            <a:r>
              <a:rPr sz="1800" baseline="-16000" dirty="0">
                <a:latin typeface="Cambria Math" panose="02040503050406030204"/>
                <a:cs typeface="Cambria Math" panose="02040503050406030204"/>
              </a:rPr>
              <a:t>𝑩</a:t>
            </a:r>
            <a:r>
              <a:rPr sz="1800" spc="-247" baseline="-16000" dirty="0">
                <a:latin typeface="Cambria Math" panose="02040503050406030204"/>
                <a:cs typeface="Cambria Math" panose="02040503050406030204"/>
              </a:rPr>
              <a:t> </a:t>
            </a:r>
            <a:r>
              <a:rPr sz="1700" b="1"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a:t>
            </a:r>
            <a:r>
              <a:rPr sz="1700" dirty="0">
                <a:latin typeface="Palatino Linotype" panose="02040502050505030304"/>
                <a:cs typeface="Palatino Linotype" panose="02040502050505030304"/>
              </a:rPr>
              <a:t>e</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s</a:t>
            </a:r>
            <a:r>
              <a:rPr sz="1700" spc="-5" dirty="0">
                <a:latin typeface="Palatino Linotype" panose="02040502050505030304"/>
                <a:cs typeface="Palatino Linotype" panose="02040502050505030304"/>
              </a:rPr>
              <a:t>e</a:t>
            </a:r>
            <a:r>
              <a:rPr sz="1700" dirty="0">
                <a:latin typeface="Palatino Linotype" panose="02040502050505030304"/>
                <a:cs typeface="Palatino Linotype" panose="02040502050505030304"/>
              </a:rPr>
              <a:t>t</a:t>
            </a:r>
            <a:r>
              <a:rPr sz="1700" spc="-5" dirty="0">
                <a:latin typeface="Palatino Linotype" panose="02040502050505030304"/>
                <a:cs typeface="Palatino Linotype" panose="02040502050505030304"/>
              </a:rPr>
              <a:t> o</a:t>
            </a:r>
            <a:r>
              <a:rPr sz="1700" dirty="0">
                <a:latin typeface="Palatino Linotype" panose="02040502050505030304"/>
                <a:cs typeface="Palatino Linotype" panose="02040502050505030304"/>
              </a:rPr>
              <a:t>f</a:t>
            </a:r>
            <a:r>
              <a:rPr sz="1700" spc="-5" dirty="0">
                <a:latin typeface="Palatino Linotype" panose="02040502050505030304"/>
                <a:cs typeface="Palatino Linotype" panose="02040502050505030304"/>
              </a:rPr>
              <a:t> </a:t>
            </a:r>
            <a:r>
              <a:rPr sz="1700" spc="-45" dirty="0">
                <a:latin typeface="Palatino Linotype" panose="02040502050505030304"/>
                <a:cs typeface="Palatino Linotype" panose="02040502050505030304"/>
              </a:rPr>
              <a:t>v</a:t>
            </a:r>
            <a:r>
              <a:rPr sz="1700" dirty="0">
                <a:latin typeface="Palatino Linotype" panose="02040502050505030304"/>
                <a:cs typeface="Palatino Linotype" panose="02040502050505030304"/>
              </a:rPr>
              <a:t>ar</a:t>
            </a:r>
            <a:r>
              <a:rPr sz="1700" spc="5" dirty="0">
                <a:latin typeface="Palatino Linotype" panose="02040502050505030304"/>
                <a:cs typeface="Palatino Linotype" panose="02040502050505030304"/>
              </a:rPr>
              <a:t>i</a:t>
            </a:r>
            <a:r>
              <a:rPr sz="1700" dirty="0">
                <a:latin typeface="Palatino Linotype" panose="02040502050505030304"/>
                <a:cs typeface="Palatino Linotype" panose="02040502050505030304"/>
              </a:rPr>
              <a:t>a</a:t>
            </a:r>
            <a:r>
              <a:rPr sz="1700" spc="-5" dirty="0">
                <a:latin typeface="Palatino Linotype" panose="02040502050505030304"/>
                <a:cs typeface="Palatino Linotype" panose="02040502050505030304"/>
              </a:rPr>
              <a:t>b</a:t>
            </a:r>
            <a:r>
              <a:rPr sz="1700" spc="5" dirty="0">
                <a:latin typeface="Palatino Linotype" panose="02040502050505030304"/>
                <a:cs typeface="Palatino Linotype" panose="02040502050505030304"/>
              </a:rPr>
              <a:t>l</a:t>
            </a:r>
            <a:r>
              <a:rPr sz="1700" spc="-5" dirty="0">
                <a:latin typeface="Palatino Linotype" panose="02040502050505030304"/>
                <a:cs typeface="Palatino Linotype" panose="02040502050505030304"/>
              </a:rPr>
              <a:t>e</a:t>
            </a:r>
            <a:r>
              <a:rPr sz="1700" dirty="0">
                <a:latin typeface="Palatino Linotype" panose="02040502050505030304"/>
                <a:cs typeface="Palatino Linotype" panose="02040502050505030304"/>
              </a:rPr>
              <a:t>s </a:t>
            </a:r>
            <a:r>
              <a:rPr sz="1700" spc="-5" dirty="0">
                <a:latin typeface="Palatino Linotype" panose="02040502050505030304"/>
                <a:cs typeface="Palatino Linotype" panose="02040502050505030304"/>
              </a:rPr>
              <a:t>def</a:t>
            </a:r>
            <a:r>
              <a:rPr sz="1700" spc="5" dirty="0">
                <a:latin typeface="Palatino Linotype" panose="02040502050505030304"/>
                <a:cs typeface="Palatino Linotype" panose="02040502050505030304"/>
              </a:rPr>
              <a:t>i</a:t>
            </a:r>
            <a:r>
              <a:rPr sz="1700" spc="-5" dirty="0">
                <a:latin typeface="Palatino Linotype" panose="02040502050505030304"/>
                <a:cs typeface="Palatino Linotype" panose="02040502050505030304"/>
              </a:rPr>
              <a:t>ne</a:t>
            </a:r>
            <a:r>
              <a:rPr sz="1700" dirty="0">
                <a:latin typeface="Palatino Linotype" panose="02040502050505030304"/>
                <a:cs typeface="Palatino Linotype" panose="02040502050505030304"/>
              </a:rPr>
              <a:t>d</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i</a:t>
            </a:r>
            <a:r>
              <a:rPr sz="1700" dirty="0">
                <a:latin typeface="Palatino Linotype" panose="02040502050505030304"/>
                <a:cs typeface="Palatino Linotype" panose="02040502050505030304"/>
              </a:rPr>
              <a:t>n</a:t>
            </a:r>
            <a:r>
              <a:rPr sz="1700" spc="-5" dirty="0">
                <a:latin typeface="Palatino Linotype" panose="02040502050505030304"/>
                <a:cs typeface="Palatino Linotype" panose="02040502050505030304"/>
              </a:rPr>
              <a:t> </a:t>
            </a:r>
            <a:r>
              <a:rPr sz="1700" i="1" dirty="0">
                <a:latin typeface="Palatino Linotype" panose="02040502050505030304"/>
                <a:cs typeface="Palatino Linotype" panose="02040502050505030304"/>
              </a:rPr>
              <a:t>B</a:t>
            </a:r>
            <a:r>
              <a:rPr sz="1700" i="1" spc="-5" dirty="0">
                <a:latin typeface="Palatino Linotype" panose="02040502050505030304"/>
                <a:cs typeface="Palatino Linotype" panose="02040502050505030304"/>
              </a:rPr>
              <a:t> </a:t>
            </a:r>
            <a:r>
              <a:rPr sz="1700" dirty="0">
                <a:solidFill>
                  <a:srgbClr val="FF0000"/>
                </a:solidFill>
                <a:latin typeface="Palatino Linotype" panose="02040502050505030304"/>
                <a:cs typeface="Palatino Linotype" panose="02040502050505030304"/>
              </a:rPr>
              <a:t>pr</a:t>
            </a:r>
            <a:r>
              <a:rPr sz="1700" spc="5" dirty="0">
                <a:solidFill>
                  <a:srgbClr val="FF0000"/>
                </a:solidFill>
                <a:latin typeface="Palatino Linotype" panose="02040502050505030304"/>
                <a:cs typeface="Palatino Linotype" panose="02040502050505030304"/>
              </a:rPr>
              <a:t>i</a:t>
            </a:r>
            <a:r>
              <a:rPr sz="1700" spc="-5" dirty="0">
                <a:solidFill>
                  <a:srgbClr val="FF0000"/>
                </a:solidFill>
                <a:latin typeface="Palatino Linotype" panose="02040502050505030304"/>
                <a:cs typeface="Palatino Linotype" panose="02040502050505030304"/>
              </a:rPr>
              <a:t>o</a:t>
            </a:r>
            <a:r>
              <a:rPr sz="1700" dirty="0">
                <a:solidFill>
                  <a:srgbClr val="FF0000"/>
                </a:solidFill>
                <a:latin typeface="Palatino Linotype" panose="02040502050505030304"/>
                <a:cs typeface="Palatino Linotype" panose="02040502050505030304"/>
              </a:rPr>
              <a:t>r </a:t>
            </a:r>
            <a:r>
              <a:rPr sz="1700" spc="-5" dirty="0">
                <a:solidFill>
                  <a:srgbClr val="FF0000"/>
                </a:solidFill>
                <a:latin typeface="Palatino Linotype" panose="02040502050505030304"/>
                <a:cs typeface="Palatino Linotype" panose="02040502050505030304"/>
              </a:rPr>
              <a:t>t</a:t>
            </a:r>
            <a:r>
              <a:rPr sz="1700" dirty="0">
                <a:solidFill>
                  <a:srgbClr val="FF0000"/>
                </a:solidFill>
                <a:latin typeface="Palatino Linotype" panose="02040502050505030304"/>
                <a:cs typeface="Palatino Linotype" panose="02040502050505030304"/>
              </a:rPr>
              <a:t>o</a:t>
            </a:r>
            <a:r>
              <a:rPr sz="1700" spc="-5" dirty="0">
                <a:solidFill>
                  <a:srgbClr val="FF0000"/>
                </a:solidFill>
                <a:latin typeface="Palatino Linotype" panose="02040502050505030304"/>
                <a:cs typeface="Palatino Linotype" panose="02040502050505030304"/>
              </a:rPr>
              <a:t> </a:t>
            </a:r>
            <a:r>
              <a:rPr sz="1700" dirty="0">
                <a:solidFill>
                  <a:srgbClr val="FF0000"/>
                </a:solidFill>
                <a:latin typeface="Palatino Linotype" panose="02040502050505030304"/>
                <a:cs typeface="Palatino Linotype" panose="02040502050505030304"/>
              </a:rPr>
              <a:t>a</a:t>
            </a:r>
            <a:r>
              <a:rPr sz="1700" spc="-5" dirty="0">
                <a:solidFill>
                  <a:srgbClr val="FF0000"/>
                </a:solidFill>
                <a:latin typeface="Palatino Linotype" panose="02040502050505030304"/>
                <a:cs typeface="Palatino Linotype" panose="02040502050505030304"/>
              </a:rPr>
              <a:t>n</a:t>
            </a:r>
            <a:r>
              <a:rPr sz="1700" dirty="0">
                <a:solidFill>
                  <a:srgbClr val="FF0000"/>
                </a:solidFill>
                <a:latin typeface="Palatino Linotype" panose="02040502050505030304"/>
                <a:cs typeface="Palatino Linotype" panose="02040502050505030304"/>
              </a:rPr>
              <a:t>y  </a:t>
            </a:r>
            <a:r>
              <a:rPr sz="1700" spc="-5" dirty="0">
                <a:solidFill>
                  <a:srgbClr val="FF0000"/>
                </a:solidFill>
                <a:latin typeface="Palatino Linotype" panose="02040502050505030304"/>
                <a:cs typeface="Palatino Linotype" panose="02040502050505030304"/>
              </a:rPr>
              <a:t>use </a:t>
            </a:r>
            <a:r>
              <a:rPr sz="1700" spc="-5" dirty="0">
                <a:latin typeface="Palatino Linotype" panose="02040502050505030304"/>
                <a:cs typeface="Palatino Linotype" panose="02040502050505030304"/>
              </a:rPr>
              <a:t>of that variable </a:t>
            </a:r>
            <a:r>
              <a:rPr sz="1700" dirty="0">
                <a:latin typeface="Palatino Linotype" panose="02040502050505030304"/>
                <a:cs typeface="Palatino Linotype" panose="02040502050505030304"/>
              </a:rPr>
              <a:t>in </a:t>
            </a:r>
            <a:r>
              <a:rPr sz="1700" i="1" dirty="0">
                <a:latin typeface="Palatino Linotype" panose="02040502050505030304"/>
                <a:cs typeface="Palatino Linotype" panose="02040502050505030304"/>
              </a:rPr>
              <a:t>B </a:t>
            </a:r>
            <a:r>
              <a:rPr sz="1700" spc="-5" dirty="0">
                <a:latin typeface="Palatino Linotype" panose="02040502050505030304"/>
                <a:cs typeface="Palatino Linotype" panose="02040502050505030304"/>
              </a:rPr>
              <a:t>(i.e., the </a:t>
            </a:r>
            <a:r>
              <a:rPr sz="1700" dirty="0">
                <a:latin typeface="Palatino Linotype" panose="02040502050505030304"/>
                <a:cs typeface="Palatino Linotype" panose="02040502050505030304"/>
              </a:rPr>
              <a:t>first </a:t>
            </a:r>
            <a:r>
              <a:rPr sz="1700" spc="-5" dirty="0">
                <a:latin typeface="Palatino Linotype" panose="02040502050505030304"/>
                <a:cs typeface="Palatino Linotype" panose="02040502050505030304"/>
              </a:rPr>
              <a:t>time the </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variable appears,</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it</a:t>
            </a:r>
            <a:r>
              <a:rPr sz="1700" spc="-5" dirty="0">
                <a:latin typeface="Palatino Linotype" panose="02040502050505030304"/>
                <a:cs typeface="Palatino Linotype" panose="02040502050505030304"/>
              </a:rPr>
              <a:t> appears</a:t>
            </a:r>
            <a:r>
              <a:rPr sz="1700" spc="5" dirty="0">
                <a:latin typeface="Palatino Linotype" panose="02040502050505030304"/>
                <a:cs typeface="Palatino Linotype" panose="02040502050505030304"/>
              </a:rPr>
              <a:t> </a:t>
            </a:r>
            <a:r>
              <a:rPr sz="1700" dirty="0">
                <a:latin typeface="Palatino Linotype" panose="02040502050505030304"/>
                <a:cs typeface="Palatino Linotype" panose="02040502050505030304"/>
              </a:rPr>
              <a:t>as a</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definition; </a:t>
            </a:r>
            <a:r>
              <a:rPr sz="1700" spc="-65" dirty="0">
                <a:latin typeface="Cambria Math" panose="02040503050406030204"/>
                <a:cs typeface="Cambria Math" panose="02040503050406030204"/>
              </a:rPr>
              <a:t>𝑑𝑒𝑓</a:t>
            </a:r>
            <a:r>
              <a:rPr sz="1800" spc="-97" baseline="-16000" dirty="0">
                <a:latin typeface="Cambria Math" panose="02040503050406030204"/>
                <a:cs typeface="Cambria Math" panose="02040503050406030204"/>
              </a:rPr>
              <a:t>𝐵</a:t>
            </a:r>
            <a:r>
              <a:rPr sz="1800" spc="142" baseline="-16000" dirty="0">
                <a:latin typeface="Cambria Math" panose="02040503050406030204"/>
                <a:cs typeface="Cambria Math" panose="02040503050406030204"/>
              </a:rPr>
              <a:t> </a:t>
            </a:r>
            <a:r>
              <a:rPr sz="1700" spc="5" dirty="0">
                <a:latin typeface="Palatino Linotype" panose="02040502050505030304"/>
                <a:cs typeface="Palatino Linotype" panose="02040502050505030304"/>
              </a:rPr>
              <a:t>is</a:t>
            </a:r>
            <a:endParaRPr sz="1700">
              <a:latin typeface="Palatino Linotype" panose="02040502050505030304"/>
              <a:cs typeface="Palatino Linotype" panose="02040502050505030304"/>
            </a:endParaRPr>
          </a:p>
          <a:p>
            <a:pPr marL="90805">
              <a:lnSpc>
                <a:spcPct val="100000"/>
              </a:lnSpc>
              <a:spcBef>
                <a:spcPts val="550"/>
              </a:spcBef>
            </a:pPr>
            <a:r>
              <a:rPr sz="1700" dirty="0">
                <a:latin typeface="Cambria Math" panose="02040503050406030204"/>
                <a:cs typeface="Cambria Math" panose="02040503050406030204"/>
              </a:rPr>
              <a:t>∅</a:t>
            </a:r>
            <a:r>
              <a:rPr sz="1700" spc="30" dirty="0">
                <a:latin typeface="Cambria Math" panose="02040503050406030204"/>
                <a:cs typeface="Cambria Math" panose="02040503050406030204"/>
              </a:rPr>
              <a:t> </a:t>
            </a:r>
            <a:r>
              <a:rPr sz="1700" spc="-5" dirty="0">
                <a:latin typeface="Palatino Linotype" panose="02040502050505030304"/>
                <a:cs typeface="Palatino Linotype" panose="02040502050505030304"/>
              </a:rPr>
              <a:t>for</a:t>
            </a:r>
            <a:r>
              <a:rPr sz="1700" spc="-1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spc="-2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example)</a:t>
            </a:r>
            <a:endParaRPr sz="1700">
              <a:latin typeface="Palatino Linotype" panose="02040502050505030304"/>
              <a:cs typeface="Palatino Linotype" panose="020405020505050303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4690" y="524763"/>
            <a:ext cx="6269355" cy="635000"/>
          </a:xfrm>
          <a:prstGeom prst="rect">
            <a:avLst/>
          </a:prstGeom>
        </p:spPr>
        <p:txBody>
          <a:bodyPr vert="horz" wrap="square" lIns="0" tIns="12700" rIns="0" bIns="0" rtlCol="0">
            <a:spAutoFit/>
          </a:bodyPr>
          <a:lstStyle/>
          <a:p>
            <a:pPr marL="25400">
              <a:lnSpc>
                <a:spcPct val="100000"/>
              </a:lnSpc>
              <a:spcBef>
                <a:spcPts val="100"/>
              </a:spcBef>
              <a:tabLst>
                <a:tab pos="4084320" algn="l"/>
              </a:tabLst>
            </a:pPr>
            <a:r>
              <a:rPr sz="4000" spc="-5" dirty="0"/>
              <a:t>Computing</a:t>
            </a:r>
            <a:r>
              <a:rPr sz="4000" spc="10" dirty="0"/>
              <a:t> </a:t>
            </a:r>
            <a:r>
              <a:rPr sz="4000" b="0" dirty="0">
                <a:latin typeface="Cambria Math" panose="02040503050406030204"/>
                <a:cs typeface="Cambria Math" panose="02040503050406030204"/>
              </a:rPr>
              <a:t>𝒖𝒔𝒆</a:t>
            </a:r>
            <a:r>
              <a:rPr sz="4350" b="0" baseline="-15000" dirty="0">
                <a:latin typeface="Cambria Math" panose="02040503050406030204"/>
                <a:cs typeface="Cambria Math" panose="02040503050406030204"/>
              </a:rPr>
              <a:t>𝑩	</a:t>
            </a:r>
            <a:r>
              <a:rPr sz="4000" spc="-5" dirty="0"/>
              <a:t>and</a:t>
            </a:r>
            <a:r>
              <a:rPr sz="4000" spc="-75" dirty="0"/>
              <a:t> </a:t>
            </a:r>
            <a:r>
              <a:rPr sz="4000" b="0" spc="-5" dirty="0">
                <a:latin typeface="Cambria Math" panose="02040503050406030204"/>
                <a:cs typeface="Cambria Math" panose="02040503050406030204"/>
              </a:rPr>
              <a:t>𝒅𝒆𝒇</a:t>
            </a:r>
            <a:r>
              <a:rPr sz="4350" b="0" spc="-7" baseline="-15000" dirty="0">
                <a:latin typeface="Cambria Math" panose="02040503050406030204"/>
                <a:cs typeface="Cambria Math" panose="02040503050406030204"/>
              </a:rPr>
              <a:t>𝑩</a:t>
            </a:r>
            <a:endParaRPr sz="4350" baseline="-15000">
              <a:latin typeface="Cambria Math" panose="02040503050406030204"/>
              <a:cs typeface="Cambria Math" panose="02040503050406030204"/>
            </a:endParaRPr>
          </a:p>
        </p:txBody>
      </p:sp>
      <p:sp>
        <p:nvSpPr>
          <p:cNvPr id="3" name="object 3"/>
          <p:cNvSpPr/>
          <p:nvPr/>
        </p:nvSpPr>
        <p:spPr>
          <a:xfrm>
            <a:off x="2328388" y="3131497"/>
            <a:ext cx="316230" cy="236854"/>
          </a:xfrm>
          <a:custGeom>
            <a:avLst/>
            <a:gdLst/>
            <a:ahLst/>
            <a:cxnLst/>
            <a:rect l="l" t="t" r="r" b="b"/>
            <a:pathLst>
              <a:path w="316230" h="236854">
                <a:moveTo>
                  <a:pt x="239866" y="0"/>
                </a:moveTo>
                <a:lnTo>
                  <a:pt x="236641" y="0"/>
                </a:lnTo>
                <a:lnTo>
                  <a:pt x="236641" y="9425"/>
                </a:lnTo>
                <a:lnTo>
                  <a:pt x="238502" y="9425"/>
                </a:lnTo>
                <a:lnTo>
                  <a:pt x="247005" y="10011"/>
                </a:lnTo>
                <a:lnTo>
                  <a:pt x="276190" y="39706"/>
                </a:lnTo>
                <a:lnTo>
                  <a:pt x="276825" y="49733"/>
                </a:lnTo>
                <a:lnTo>
                  <a:pt x="276825" y="55520"/>
                </a:lnTo>
                <a:lnTo>
                  <a:pt x="275998" y="62673"/>
                </a:lnTo>
                <a:lnTo>
                  <a:pt x="272691" y="79705"/>
                </a:lnTo>
                <a:lnTo>
                  <a:pt x="271865" y="85783"/>
                </a:lnTo>
                <a:lnTo>
                  <a:pt x="271865" y="96448"/>
                </a:lnTo>
                <a:lnTo>
                  <a:pt x="273931" y="102215"/>
                </a:lnTo>
                <a:lnTo>
                  <a:pt x="282200" y="111227"/>
                </a:lnTo>
                <a:lnTo>
                  <a:pt x="287119" y="114556"/>
                </a:lnTo>
                <a:lnTo>
                  <a:pt x="292825" y="116706"/>
                </a:lnTo>
                <a:lnTo>
                  <a:pt x="292825" y="118938"/>
                </a:lnTo>
                <a:lnTo>
                  <a:pt x="287119" y="121088"/>
                </a:lnTo>
                <a:lnTo>
                  <a:pt x="282200" y="124415"/>
                </a:lnTo>
                <a:lnTo>
                  <a:pt x="273931" y="133428"/>
                </a:lnTo>
                <a:lnTo>
                  <a:pt x="271865" y="139195"/>
                </a:lnTo>
                <a:lnTo>
                  <a:pt x="271865" y="149861"/>
                </a:lnTo>
                <a:lnTo>
                  <a:pt x="272691" y="155938"/>
                </a:lnTo>
                <a:lnTo>
                  <a:pt x="275998" y="172971"/>
                </a:lnTo>
                <a:lnTo>
                  <a:pt x="276825" y="180122"/>
                </a:lnTo>
                <a:lnTo>
                  <a:pt x="276825" y="185911"/>
                </a:lnTo>
                <a:lnTo>
                  <a:pt x="276190" y="196317"/>
                </a:lnTo>
                <a:lnTo>
                  <a:pt x="247005" y="226502"/>
                </a:lnTo>
                <a:lnTo>
                  <a:pt x="238502" y="227087"/>
                </a:lnTo>
                <a:lnTo>
                  <a:pt x="236641" y="227087"/>
                </a:lnTo>
                <a:lnTo>
                  <a:pt x="236641" y="236512"/>
                </a:lnTo>
                <a:lnTo>
                  <a:pt x="239866" y="236512"/>
                </a:lnTo>
                <a:lnTo>
                  <a:pt x="253520" y="235493"/>
                </a:lnTo>
                <a:lnTo>
                  <a:pt x="289781" y="215897"/>
                </a:lnTo>
                <a:lnTo>
                  <a:pt x="297908" y="183678"/>
                </a:lnTo>
                <a:lnTo>
                  <a:pt x="297908" y="176815"/>
                </a:lnTo>
                <a:lnTo>
                  <a:pt x="296938" y="169002"/>
                </a:lnTo>
                <a:lnTo>
                  <a:pt x="293052" y="151474"/>
                </a:lnTo>
                <a:lnTo>
                  <a:pt x="292080" y="145602"/>
                </a:lnTo>
                <a:lnTo>
                  <a:pt x="292080" y="136921"/>
                </a:lnTo>
                <a:lnTo>
                  <a:pt x="294044" y="132270"/>
                </a:lnTo>
                <a:lnTo>
                  <a:pt x="301899" y="125077"/>
                </a:lnTo>
                <a:lnTo>
                  <a:pt x="307831" y="123155"/>
                </a:lnTo>
                <a:lnTo>
                  <a:pt x="315768" y="122906"/>
                </a:lnTo>
                <a:lnTo>
                  <a:pt x="315768" y="112737"/>
                </a:lnTo>
                <a:lnTo>
                  <a:pt x="307831" y="112488"/>
                </a:lnTo>
                <a:lnTo>
                  <a:pt x="301899" y="110567"/>
                </a:lnTo>
                <a:lnTo>
                  <a:pt x="294044" y="103372"/>
                </a:lnTo>
                <a:lnTo>
                  <a:pt x="292080" y="98722"/>
                </a:lnTo>
                <a:lnTo>
                  <a:pt x="292080" y="90040"/>
                </a:lnTo>
                <a:lnTo>
                  <a:pt x="293052" y="84170"/>
                </a:lnTo>
                <a:lnTo>
                  <a:pt x="296938" y="66641"/>
                </a:lnTo>
                <a:lnTo>
                  <a:pt x="297908" y="58828"/>
                </a:lnTo>
                <a:lnTo>
                  <a:pt x="297908" y="51965"/>
                </a:lnTo>
                <a:lnTo>
                  <a:pt x="297005" y="39877"/>
                </a:lnTo>
                <a:lnTo>
                  <a:pt x="275317" y="7685"/>
                </a:lnTo>
                <a:lnTo>
                  <a:pt x="253520" y="1019"/>
                </a:lnTo>
                <a:lnTo>
                  <a:pt x="239866" y="0"/>
                </a:lnTo>
                <a:close/>
              </a:path>
              <a:path w="316230" h="236854">
                <a:moveTo>
                  <a:pt x="79127" y="0"/>
                </a:moveTo>
                <a:lnTo>
                  <a:pt x="75902" y="0"/>
                </a:lnTo>
                <a:lnTo>
                  <a:pt x="62248" y="1019"/>
                </a:lnTo>
                <a:lnTo>
                  <a:pt x="25987" y="20552"/>
                </a:lnTo>
                <a:lnTo>
                  <a:pt x="17860" y="51841"/>
                </a:lnTo>
                <a:lnTo>
                  <a:pt x="17860" y="58704"/>
                </a:lnTo>
                <a:lnTo>
                  <a:pt x="18831" y="66517"/>
                </a:lnTo>
                <a:lnTo>
                  <a:pt x="22717" y="84046"/>
                </a:lnTo>
                <a:lnTo>
                  <a:pt x="23689" y="89917"/>
                </a:lnTo>
                <a:lnTo>
                  <a:pt x="23689" y="98598"/>
                </a:lnTo>
                <a:lnTo>
                  <a:pt x="21724" y="103249"/>
                </a:lnTo>
                <a:lnTo>
                  <a:pt x="13869" y="110443"/>
                </a:lnTo>
                <a:lnTo>
                  <a:pt x="7937" y="112365"/>
                </a:lnTo>
                <a:lnTo>
                  <a:pt x="0" y="112613"/>
                </a:lnTo>
                <a:lnTo>
                  <a:pt x="0" y="122783"/>
                </a:lnTo>
                <a:lnTo>
                  <a:pt x="7937" y="123031"/>
                </a:lnTo>
                <a:lnTo>
                  <a:pt x="13869" y="124954"/>
                </a:lnTo>
                <a:lnTo>
                  <a:pt x="21724" y="132147"/>
                </a:lnTo>
                <a:lnTo>
                  <a:pt x="23689" y="136798"/>
                </a:lnTo>
                <a:lnTo>
                  <a:pt x="23689" y="145479"/>
                </a:lnTo>
                <a:lnTo>
                  <a:pt x="22717" y="151349"/>
                </a:lnTo>
                <a:lnTo>
                  <a:pt x="18831" y="168878"/>
                </a:lnTo>
                <a:lnTo>
                  <a:pt x="17860" y="176692"/>
                </a:lnTo>
                <a:lnTo>
                  <a:pt x="17860" y="183554"/>
                </a:lnTo>
                <a:lnTo>
                  <a:pt x="18762" y="196077"/>
                </a:lnTo>
                <a:lnTo>
                  <a:pt x="40451" y="228827"/>
                </a:lnTo>
                <a:lnTo>
                  <a:pt x="75902" y="236512"/>
                </a:lnTo>
                <a:lnTo>
                  <a:pt x="79127" y="236512"/>
                </a:lnTo>
                <a:lnTo>
                  <a:pt x="79127" y="227087"/>
                </a:lnTo>
                <a:lnTo>
                  <a:pt x="77266" y="227087"/>
                </a:lnTo>
                <a:lnTo>
                  <a:pt x="68763" y="226502"/>
                </a:lnTo>
                <a:lnTo>
                  <a:pt x="39579" y="196247"/>
                </a:lnTo>
                <a:lnTo>
                  <a:pt x="38943" y="185787"/>
                </a:lnTo>
                <a:lnTo>
                  <a:pt x="38943" y="179999"/>
                </a:lnTo>
                <a:lnTo>
                  <a:pt x="39770" y="172847"/>
                </a:lnTo>
                <a:lnTo>
                  <a:pt x="43078" y="155815"/>
                </a:lnTo>
                <a:lnTo>
                  <a:pt x="43903" y="149738"/>
                </a:lnTo>
                <a:lnTo>
                  <a:pt x="43903" y="139071"/>
                </a:lnTo>
                <a:lnTo>
                  <a:pt x="41837" y="133304"/>
                </a:lnTo>
                <a:lnTo>
                  <a:pt x="33569" y="124292"/>
                </a:lnTo>
                <a:lnTo>
                  <a:pt x="28649" y="120963"/>
                </a:lnTo>
                <a:lnTo>
                  <a:pt x="22945" y="118814"/>
                </a:lnTo>
                <a:lnTo>
                  <a:pt x="22945" y="116582"/>
                </a:lnTo>
                <a:lnTo>
                  <a:pt x="28649" y="114432"/>
                </a:lnTo>
                <a:lnTo>
                  <a:pt x="33569" y="111104"/>
                </a:lnTo>
                <a:lnTo>
                  <a:pt x="41837" y="102091"/>
                </a:lnTo>
                <a:lnTo>
                  <a:pt x="43903" y="96324"/>
                </a:lnTo>
                <a:lnTo>
                  <a:pt x="43903" y="85658"/>
                </a:lnTo>
                <a:lnTo>
                  <a:pt x="43078" y="79582"/>
                </a:lnTo>
                <a:lnTo>
                  <a:pt x="39770" y="62548"/>
                </a:lnTo>
                <a:lnTo>
                  <a:pt x="38943" y="55397"/>
                </a:lnTo>
                <a:lnTo>
                  <a:pt x="38943" y="49608"/>
                </a:lnTo>
                <a:lnTo>
                  <a:pt x="39579" y="39636"/>
                </a:lnTo>
                <a:lnTo>
                  <a:pt x="68763" y="10011"/>
                </a:lnTo>
                <a:lnTo>
                  <a:pt x="77266" y="9425"/>
                </a:lnTo>
                <a:lnTo>
                  <a:pt x="79127" y="9425"/>
                </a:lnTo>
                <a:lnTo>
                  <a:pt x="79127" y="0"/>
                </a:lnTo>
                <a:close/>
              </a:path>
            </a:pathLst>
          </a:custGeom>
          <a:solidFill>
            <a:srgbClr val="000000"/>
          </a:solidFill>
        </p:spPr>
        <p:txBody>
          <a:bodyPr wrap="square" lIns="0" tIns="0" rIns="0" bIns="0" rtlCol="0"/>
          <a:lstStyle/>
          <a:p>
            <a:endParaRPr/>
          </a:p>
        </p:txBody>
      </p:sp>
      <p:sp>
        <p:nvSpPr>
          <p:cNvPr id="4" name="object 4"/>
          <p:cNvSpPr/>
          <p:nvPr/>
        </p:nvSpPr>
        <p:spPr>
          <a:xfrm>
            <a:off x="3818890" y="4020820"/>
            <a:ext cx="4495800" cy="12700"/>
          </a:xfrm>
          <a:custGeom>
            <a:avLst/>
            <a:gdLst/>
            <a:ahLst/>
            <a:cxnLst/>
            <a:rect l="l" t="t" r="r" b="b"/>
            <a:pathLst>
              <a:path w="4495800" h="12700">
                <a:moveTo>
                  <a:pt x="4495800" y="0"/>
                </a:moveTo>
                <a:lnTo>
                  <a:pt x="0" y="0"/>
                </a:lnTo>
                <a:lnTo>
                  <a:pt x="0" y="12699"/>
                </a:lnTo>
                <a:lnTo>
                  <a:pt x="4495800" y="12699"/>
                </a:lnTo>
                <a:lnTo>
                  <a:pt x="4495800" y="0"/>
                </a:lnTo>
                <a:close/>
              </a:path>
            </a:pathLst>
          </a:custGeom>
          <a:solidFill>
            <a:srgbClr val="FF0000"/>
          </a:solidFill>
        </p:spPr>
        <p:txBody>
          <a:bodyPr wrap="square" lIns="0" tIns="0" rIns="0" bIns="0" rtlCol="0"/>
          <a:lstStyle/>
          <a:p>
            <a:endParaRPr/>
          </a:p>
        </p:txBody>
      </p:sp>
      <p:sp>
        <p:nvSpPr>
          <p:cNvPr id="5" name="object 5"/>
          <p:cNvSpPr txBox="1"/>
          <p:nvPr/>
        </p:nvSpPr>
        <p:spPr>
          <a:xfrm>
            <a:off x="681990" y="1486915"/>
            <a:ext cx="7743825" cy="4338320"/>
          </a:xfrm>
          <a:prstGeom prst="rect">
            <a:avLst/>
          </a:prstGeom>
        </p:spPr>
        <p:txBody>
          <a:bodyPr vert="horz" wrap="square" lIns="0" tIns="183515" rIns="0" bIns="0" rtlCol="0">
            <a:spAutoFit/>
          </a:bodyPr>
          <a:lstStyle/>
          <a:p>
            <a:pPr marL="268605" indent="-230505">
              <a:lnSpc>
                <a:spcPct val="100000"/>
              </a:lnSpc>
              <a:spcBef>
                <a:spcPts val="1445"/>
              </a:spcBef>
              <a:buClr>
                <a:srgbClr val="000000"/>
              </a:buClr>
              <a:buFont typeface="Arial MT"/>
              <a:buChar char="•"/>
              <a:tabLst>
                <a:tab pos="268605" algn="l"/>
              </a:tabLst>
            </a:pPr>
            <a:r>
              <a:rPr sz="2400" spc="-25" dirty="0">
                <a:solidFill>
                  <a:srgbClr val="FF0000"/>
                </a:solidFill>
                <a:latin typeface="Palatino Linotype" panose="02040502050505030304"/>
                <a:cs typeface="Palatino Linotype" panose="02040502050505030304"/>
              </a:rPr>
              <a:t>Transfer</a:t>
            </a:r>
            <a:r>
              <a:rPr sz="2400" spc="-10" dirty="0">
                <a:solidFill>
                  <a:srgbClr val="FF0000"/>
                </a:solidFill>
                <a:latin typeface="Palatino Linotype" panose="02040502050505030304"/>
                <a:cs typeface="Palatino Linotype" panose="02040502050505030304"/>
              </a:rPr>
              <a:t> </a:t>
            </a:r>
            <a:r>
              <a:rPr sz="2400" spc="-5" dirty="0">
                <a:solidFill>
                  <a:srgbClr val="FF0000"/>
                </a:solidFill>
                <a:latin typeface="Palatino Linotype" panose="02040502050505030304"/>
                <a:cs typeface="Palatino Linotype" panose="02040502050505030304"/>
              </a:rPr>
              <a:t>function </a:t>
            </a:r>
            <a:r>
              <a:rPr sz="2400" dirty="0">
                <a:solidFill>
                  <a:srgbClr val="FF0000"/>
                </a:solidFill>
                <a:latin typeface="Palatino Linotype" panose="02040502050505030304"/>
                <a:cs typeface="Palatino Linotype" panose="02040502050505030304"/>
              </a:rPr>
              <a:t>for</a:t>
            </a:r>
            <a:r>
              <a:rPr sz="2400" spc="-5" dirty="0">
                <a:solidFill>
                  <a:srgbClr val="FF0000"/>
                </a:solidFill>
                <a:latin typeface="Palatino Linotype" panose="02040502050505030304"/>
                <a:cs typeface="Palatino Linotype" panose="02040502050505030304"/>
              </a:rPr>
              <a:t> </a:t>
            </a:r>
            <a:r>
              <a:rPr sz="2400" u="sng" dirty="0">
                <a:solidFill>
                  <a:srgbClr val="FF0000"/>
                </a:solidFill>
                <a:uFill>
                  <a:solidFill>
                    <a:srgbClr val="FF0000"/>
                  </a:solidFill>
                </a:uFill>
                <a:latin typeface="Palatino Linotype" panose="02040502050505030304"/>
                <a:cs typeface="Palatino Linotype" panose="02040502050505030304"/>
              </a:rPr>
              <a:t>a</a:t>
            </a:r>
            <a:r>
              <a:rPr sz="2400" u="sng" spc="-10" dirty="0">
                <a:solidFill>
                  <a:srgbClr val="FF0000"/>
                </a:solidFill>
                <a:uFill>
                  <a:solidFill>
                    <a:srgbClr val="FF0000"/>
                  </a:solidFill>
                </a:uFill>
                <a:latin typeface="Palatino Linotype" panose="02040502050505030304"/>
                <a:cs typeface="Palatino Linotype" panose="02040502050505030304"/>
              </a:rPr>
              <a:t> </a:t>
            </a:r>
            <a:r>
              <a:rPr sz="2400" u="sng" dirty="0">
                <a:solidFill>
                  <a:srgbClr val="FF0000"/>
                </a:solidFill>
                <a:uFill>
                  <a:solidFill>
                    <a:srgbClr val="FF0000"/>
                  </a:solidFill>
                </a:uFill>
                <a:latin typeface="Palatino Linotype" panose="02040502050505030304"/>
                <a:cs typeface="Palatino Linotype" panose="02040502050505030304"/>
              </a:rPr>
              <a:t>statement</a:t>
            </a:r>
            <a:r>
              <a:rPr sz="2400" dirty="0">
                <a:solidFill>
                  <a:srgbClr val="FF0000"/>
                </a:solidFill>
                <a:latin typeface="Palatino Linotype" panose="02040502050505030304"/>
                <a:cs typeface="Palatino Linotype" panose="02040502050505030304"/>
              </a:rPr>
              <a:t>:</a:t>
            </a:r>
            <a:endParaRPr sz="2400">
              <a:latin typeface="Palatino Linotype" panose="02040502050505030304"/>
              <a:cs typeface="Palatino Linotype" panose="02040502050505030304"/>
            </a:endParaRPr>
          </a:p>
          <a:p>
            <a:pPr marL="723900" lvl="1" indent="-228600">
              <a:lnSpc>
                <a:spcPct val="100000"/>
              </a:lnSpc>
              <a:spcBef>
                <a:spcPts val="1120"/>
              </a:spcBef>
              <a:buFont typeface="Wingdings" panose="05000000000000000000"/>
              <a:buChar char=""/>
              <a:tabLst>
                <a:tab pos="723900" algn="l"/>
                <a:tab pos="1224280" algn="l"/>
              </a:tabLst>
            </a:pPr>
            <a:r>
              <a:rPr sz="2000" spc="20" dirty="0">
                <a:latin typeface="Cambria Math" panose="02040503050406030204"/>
                <a:cs typeface="Cambria Math" panose="02040503050406030204"/>
              </a:rPr>
              <a:t>𝑠:</a:t>
            </a:r>
            <a:r>
              <a:rPr sz="2000" spc="-110" dirty="0">
                <a:latin typeface="Cambria Math" panose="02040503050406030204"/>
                <a:cs typeface="Cambria Math" panose="02040503050406030204"/>
              </a:rPr>
              <a:t> </a:t>
            </a:r>
            <a:r>
              <a:rPr sz="2000" dirty="0">
                <a:latin typeface="Cambria Math" panose="02040503050406030204"/>
                <a:cs typeface="Cambria Math" panose="02040503050406030204"/>
              </a:rPr>
              <a:t>𝑥	=</a:t>
            </a:r>
            <a:r>
              <a:rPr sz="2000" spc="515" dirty="0">
                <a:latin typeface="Cambria Math" panose="02040503050406030204"/>
                <a:cs typeface="Cambria Math" panose="02040503050406030204"/>
              </a:rPr>
              <a:t> </a:t>
            </a:r>
            <a:r>
              <a:rPr sz="2000" dirty="0">
                <a:latin typeface="Cambria Math" panose="02040503050406030204"/>
                <a:cs typeface="Cambria Math" panose="02040503050406030204"/>
              </a:rPr>
              <a:t>𝑦</a:t>
            </a:r>
            <a:r>
              <a:rPr sz="2000" spc="45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415" dirty="0">
                <a:latin typeface="Cambria Math" panose="02040503050406030204"/>
                <a:cs typeface="Cambria Math" panose="02040503050406030204"/>
              </a:rPr>
              <a:t> </a:t>
            </a:r>
            <a:r>
              <a:rPr sz="2000" dirty="0">
                <a:latin typeface="Cambria Math" panose="02040503050406030204"/>
                <a:cs typeface="Cambria Math" panose="02040503050406030204"/>
              </a:rPr>
              <a:t>𝑧</a:t>
            </a:r>
            <a:endParaRPr sz="2000">
              <a:latin typeface="Cambria Math" panose="02040503050406030204"/>
              <a:cs typeface="Cambria Math" panose="02040503050406030204"/>
            </a:endParaRPr>
          </a:p>
          <a:p>
            <a:pPr marL="723900" lvl="1" indent="-228600">
              <a:lnSpc>
                <a:spcPct val="100000"/>
              </a:lnSpc>
              <a:spcBef>
                <a:spcPts val="1100"/>
              </a:spcBef>
              <a:buFont typeface="Wingdings" panose="05000000000000000000"/>
              <a:buChar char=""/>
              <a:tabLst>
                <a:tab pos="723900" algn="l"/>
                <a:tab pos="1336040" algn="l"/>
              </a:tabLst>
            </a:pP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sz="2250" spc="104" baseline="-15000" dirty="0">
                <a:latin typeface="Cambria Math" panose="02040503050406030204"/>
                <a:cs typeface="Cambria Math" panose="02040503050406030204"/>
              </a:rPr>
              <a:t>𝑠</a:t>
            </a:r>
            <a:r>
              <a:rPr sz="2250" baseline="-15000" dirty="0">
                <a:latin typeface="Cambria Math" panose="02040503050406030204"/>
                <a:cs typeface="Cambria Math" panose="02040503050406030204"/>
              </a:rPr>
              <a:t>	</a:t>
            </a:r>
            <a:r>
              <a:rPr sz="2000" dirty="0">
                <a:latin typeface="Cambria Math" panose="02040503050406030204"/>
                <a:cs typeface="Cambria Math" panose="02040503050406030204"/>
              </a:rPr>
              <a:t>= </a:t>
            </a:r>
            <a:r>
              <a:rPr sz="2000" spc="114"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35" dirty="0">
                <a:latin typeface="Cambria Math" panose="02040503050406030204"/>
                <a:cs typeface="Cambria Math" panose="02040503050406030204"/>
              </a:rPr>
              <a:t>𝑦</a:t>
            </a:r>
            <a:r>
              <a:rPr sz="2000" dirty="0">
                <a:latin typeface="Cambria Math" panose="02040503050406030204"/>
                <a:cs typeface="Cambria Math" panose="02040503050406030204"/>
              </a:rPr>
              <a:t>,</a:t>
            </a:r>
            <a:r>
              <a:rPr sz="2000" spc="-105" dirty="0">
                <a:latin typeface="Cambria Math" panose="02040503050406030204"/>
                <a:cs typeface="Cambria Math" panose="02040503050406030204"/>
              </a:rPr>
              <a:t> </a:t>
            </a:r>
            <a:r>
              <a:rPr sz="2000" spc="25" dirty="0">
                <a:latin typeface="Cambria Math" panose="02040503050406030204"/>
                <a:cs typeface="Cambria Math" panose="02040503050406030204"/>
              </a:rPr>
              <a:t>𝑧</a:t>
            </a: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a:p>
            <a:pPr marL="723900" lvl="1" indent="-228600">
              <a:lnSpc>
                <a:spcPct val="100000"/>
              </a:lnSpc>
              <a:spcBef>
                <a:spcPts val="1105"/>
              </a:spcBef>
              <a:buFont typeface="Wingdings" panose="05000000000000000000"/>
              <a:buChar char=""/>
              <a:tabLst>
                <a:tab pos="723900" algn="l"/>
                <a:tab pos="1317625" algn="l"/>
                <a:tab pos="1732280" algn="l"/>
                <a:tab pos="2030095" algn="l"/>
                <a:tab pos="2969260" algn="l"/>
              </a:tabLst>
            </a:pPr>
            <a:r>
              <a:rPr sz="2000" spc="-95" dirty="0">
                <a:latin typeface="Cambria Math" panose="02040503050406030204"/>
                <a:cs typeface="Cambria Math" panose="02040503050406030204"/>
              </a:rPr>
              <a:t>𝑑𝑒𝑓</a:t>
            </a:r>
            <a:r>
              <a:rPr sz="2250" spc="-142" baseline="-15000" dirty="0">
                <a:latin typeface="Cambria Math" panose="02040503050406030204"/>
                <a:cs typeface="Cambria Math" panose="02040503050406030204"/>
              </a:rPr>
              <a:t>𝑠	</a:t>
            </a:r>
            <a:r>
              <a:rPr sz="2000" dirty="0">
                <a:latin typeface="Cambria Math" panose="02040503050406030204"/>
                <a:cs typeface="Cambria Math" panose="02040503050406030204"/>
              </a:rPr>
              <a:t>=	𝑥	−</a:t>
            </a:r>
            <a:r>
              <a:rPr sz="2000" spc="5" dirty="0">
                <a:latin typeface="Cambria Math" panose="02040503050406030204"/>
                <a:cs typeface="Cambria Math" panose="02040503050406030204"/>
              </a:rPr>
              <a:t> </a:t>
            </a:r>
            <a:r>
              <a:rPr sz="2000" spc="10" dirty="0">
                <a:latin typeface="Cambria Math" panose="02040503050406030204"/>
                <a:cs typeface="Cambria Math" panose="02040503050406030204"/>
              </a:rPr>
              <a:t>{𝑦,</a:t>
            </a:r>
            <a:r>
              <a:rPr sz="2000" spc="-105" dirty="0">
                <a:latin typeface="Cambria Math" panose="02040503050406030204"/>
                <a:cs typeface="Cambria Math" panose="02040503050406030204"/>
              </a:rPr>
              <a:t> </a:t>
            </a:r>
            <a:r>
              <a:rPr sz="2000" spc="10" dirty="0">
                <a:latin typeface="Cambria Math" panose="02040503050406030204"/>
                <a:cs typeface="Cambria Math" panose="02040503050406030204"/>
              </a:rPr>
              <a:t>𝑧}	</a:t>
            </a:r>
            <a:r>
              <a:rPr sz="2000" spc="-5" dirty="0">
                <a:latin typeface="Palatino Linotype" panose="02040502050505030304"/>
                <a:cs typeface="Palatino Linotype" panose="02040502050505030304"/>
              </a:rPr>
              <a:t>//</a:t>
            </a:r>
            <a:r>
              <a:rPr sz="2000" spc="-15" dirty="0">
                <a:latin typeface="Palatino Linotype" panose="02040502050505030304"/>
                <a:cs typeface="Palatino Linotype" panose="02040502050505030304"/>
              </a:rPr>
              <a:t> </a:t>
            </a:r>
            <a:r>
              <a:rPr sz="2000" spc="15" dirty="0">
                <a:latin typeface="Cambria Math" panose="02040503050406030204"/>
                <a:cs typeface="Cambria Math" panose="02040503050406030204"/>
              </a:rPr>
              <a:t>𝑦</a:t>
            </a:r>
            <a:r>
              <a:rPr sz="2000" spc="15" dirty="0">
                <a:latin typeface="Palatino Linotype" panose="02040502050505030304"/>
                <a:cs typeface="Palatino Linotype" panose="02040502050505030304"/>
              </a:rPr>
              <a:t>,</a:t>
            </a:r>
            <a:r>
              <a:rPr sz="2000" spc="-10" dirty="0">
                <a:latin typeface="Palatino Linotype" panose="02040502050505030304"/>
                <a:cs typeface="Palatino Linotype" panose="02040502050505030304"/>
              </a:rPr>
              <a:t> </a:t>
            </a:r>
            <a:r>
              <a:rPr sz="2000" dirty="0">
                <a:latin typeface="Cambria Math" panose="02040503050406030204"/>
                <a:cs typeface="Cambria Math" panose="02040503050406030204"/>
              </a:rPr>
              <a:t>𝑧</a:t>
            </a:r>
            <a:r>
              <a:rPr sz="2000" spc="75" dirty="0">
                <a:latin typeface="Cambria Math" panose="02040503050406030204"/>
                <a:cs typeface="Cambria Math" panose="02040503050406030204"/>
              </a:rPr>
              <a:t> </a:t>
            </a:r>
            <a:r>
              <a:rPr sz="2000" spc="-5" dirty="0">
                <a:latin typeface="Palatino Linotype" panose="02040502050505030304"/>
                <a:cs typeface="Palatino Linotype" panose="02040502050505030304"/>
              </a:rPr>
              <a:t>might</a:t>
            </a:r>
            <a:r>
              <a:rPr sz="2000" spc="-1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be</a:t>
            </a:r>
            <a:r>
              <a:rPr sz="2000" spc="-10" dirty="0">
                <a:latin typeface="Palatino Linotype" panose="02040502050505030304"/>
                <a:cs typeface="Palatino Linotype" panose="02040502050505030304"/>
              </a:rPr>
              <a:t> </a:t>
            </a:r>
            <a:r>
              <a:rPr sz="2000" dirty="0">
                <a:latin typeface="Cambria Math" panose="02040503050406030204"/>
                <a:cs typeface="Cambria Math" panose="02040503050406030204"/>
              </a:rPr>
              <a:t>𝑥</a:t>
            </a:r>
            <a:endParaRPr sz="2000">
              <a:latin typeface="Cambria Math" panose="02040503050406030204"/>
              <a:cs typeface="Cambria Math" panose="02040503050406030204"/>
            </a:endParaRPr>
          </a:p>
          <a:p>
            <a:pPr marL="268605" indent="-230505">
              <a:lnSpc>
                <a:spcPct val="100000"/>
              </a:lnSpc>
              <a:spcBef>
                <a:spcPts val="2290"/>
              </a:spcBef>
              <a:buClr>
                <a:srgbClr val="000000"/>
              </a:buClr>
              <a:buFont typeface="Arial MT"/>
              <a:buChar char="•"/>
              <a:tabLst>
                <a:tab pos="268605" algn="l"/>
              </a:tabLst>
            </a:pPr>
            <a:r>
              <a:rPr sz="2400" spc="-25" dirty="0">
                <a:solidFill>
                  <a:srgbClr val="FF0000"/>
                </a:solidFill>
                <a:latin typeface="Palatino Linotype" panose="02040502050505030304"/>
                <a:cs typeface="Palatino Linotype" panose="02040502050505030304"/>
              </a:rPr>
              <a:t>Transfer</a:t>
            </a:r>
            <a:r>
              <a:rPr sz="2400" dirty="0">
                <a:solidFill>
                  <a:srgbClr val="FF0000"/>
                </a:solidFill>
                <a:latin typeface="Palatino Linotype" panose="02040502050505030304"/>
                <a:cs typeface="Palatino Linotype" panose="02040502050505030304"/>
              </a:rPr>
              <a:t> </a:t>
            </a:r>
            <a:r>
              <a:rPr sz="2400" spc="-5" dirty="0">
                <a:solidFill>
                  <a:srgbClr val="FF0000"/>
                </a:solidFill>
                <a:latin typeface="Palatino Linotype" panose="02040502050505030304"/>
                <a:cs typeface="Palatino Linotype" panose="02040502050505030304"/>
              </a:rPr>
              <a:t>function</a:t>
            </a:r>
            <a:r>
              <a:rPr sz="2400" dirty="0">
                <a:solidFill>
                  <a:srgbClr val="FF0000"/>
                </a:solidFill>
                <a:latin typeface="Palatino Linotype" panose="02040502050505030304"/>
                <a:cs typeface="Palatino Linotype" panose="02040502050505030304"/>
              </a:rPr>
              <a:t> for a </a:t>
            </a:r>
            <a:r>
              <a:rPr sz="2400" spc="-5" dirty="0">
                <a:solidFill>
                  <a:srgbClr val="FF0000"/>
                </a:solidFill>
                <a:latin typeface="Palatino Linotype" panose="02040502050505030304"/>
                <a:cs typeface="Palatino Linotype" panose="02040502050505030304"/>
              </a:rPr>
              <a:t>block</a:t>
            </a:r>
            <a:r>
              <a:rPr sz="2400" dirty="0">
                <a:solidFill>
                  <a:srgbClr val="FF0000"/>
                </a:solidFill>
                <a:latin typeface="Palatino Linotype" panose="02040502050505030304"/>
                <a:cs typeface="Palatino Linotype" panose="02040502050505030304"/>
              </a:rPr>
              <a:t> of statements</a:t>
            </a:r>
            <a:r>
              <a:rPr sz="2400" spc="-10" dirty="0">
                <a:solidFill>
                  <a:srgbClr val="FF0000"/>
                </a:solidFill>
                <a:latin typeface="Palatino Linotype" panose="02040502050505030304"/>
                <a:cs typeface="Palatino Linotype" panose="02040502050505030304"/>
              </a:rPr>
              <a:t> </a:t>
            </a:r>
            <a:r>
              <a:rPr sz="2400" spc="-35" dirty="0">
                <a:solidFill>
                  <a:srgbClr val="FF0000"/>
                </a:solidFill>
                <a:latin typeface="Cambria Math" panose="02040503050406030204"/>
                <a:cs typeface="Cambria Math" panose="02040503050406030204"/>
              </a:rPr>
              <a:t>𝑠</a:t>
            </a:r>
            <a:r>
              <a:rPr lang="en-US" sz="2700" spc="-52" baseline="-15000" dirty="0">
                <a:solidFill>
                  <a:srgbClr val="FF0000"/>
                </a:solidFill>
                <a:latin typeface="Cambria Math" panose="02040503050406030204"/>
                <a:cs typeface="Cambria Math" panose="02040503050406030204"/>
              </a:rPr>
              <a:t>1</a:t>
            </a:r>
            <a:r>
              <a:rPr sz="2400" i="1" spc="-35" dirty="0">
                <a:solidFill>
                  <a:srgbClr val="FF0000"/>
                </a:solidFill>
                <a:latin typeface="Palatino Linotype" panose="02040502050505030304"/>
                <a:cs typeface="Palatino Linotype" panose="02040502050505030304"/>
              </a:rPr>
              <a:t>,</a:t>
            </a:r>
            <a:r>
              <a:rPr sz="2400" i="1" dirty="0">
                <a:solidFill>
                  <a:srgbClr val="FF0000"/>
                </a:solidFill>
                <a:latin typeface="Palatino Linotype" panose="02040502050505030304"/>
                <a:cs typeface="Palatino Linotype" panose="02040502050505030304"/>
              </a:rPr>
              <a:t> </a:t>
            </a:r>
            <a:r>
              <a:rPr sz="2400" spc="10" dirty="0">
                <a:solidFill>
                  <a:srgbClr val="FF0000"/>
                </a:solidFill>
                <a:latin typeface="Cambria Math" panose="02040503050406030204"/>
                <a:cs typeface="Cambria Math" panose="02040503050406030204"/>
              </a:rPr>
              <a:t>𝑠</a:t>
            </a:r>
            <a:r>
              <a:rPr lang="en-US" sz="2700" spc="15" baseline="-15000" dirty="0">
                <a:solidFill>
                  <a:srgbClr val="FF0000"/>
                </a:solidFill>
                <a:latin typeface="Cambria Math" panose="02040503050406030204"/>
                <a:cs typeface="Cambria Math" panose="02040503050406030204"/>
              </a:rPr>
              <a:t>2</a:t>
            </a:r>
            <a:r>
              <a:rPr sz="2400" i="1" spc="10" dirty="0">
                <a:solidFill>
                  <a:srgbClr val="FF0000"/>
                </a:solidFill>
                <a:latin typeface="Palatino Linotype" panose="02040502050505030304"/>
                <a:cs typeface="Palatino Linotype" panose="02040502050505030304"/>
              </a:rPr>
              <a:t>,</a:t>
            </a:r>
            <a:r>
              <a:rPr sz="2400" i="1" dirty="0">
                <a:solidFill>
                  <a:srgbClr val="FF0000"/>
                </a:solidFill>
                <a:latin typeface="Palatino Linotype" panose="02040502050505030304"/>
                <a:cs typeface="Palatino Linotype" panose="02040502050505030304"/>
              </a:rPr>
              <a:t> …, </a:t>
            </a:r>
            <a:r>
              <a:rPr sz="2400" spc="40" dirty="0">
                <a:solidFill>
                  <a:srgbClr val="FF0000"/>
                </a:solidFill>
                <a:latin typeface="Cambria Math" panose="02040503050406030204"/>
                <a:cs typeface="Cambria Math" panose="02040503050406030204"/>
              </a:rPr>
              <a:t>𝑠</a:t>
            </a:r>
            <a:r>
              <a:rPr sz="2700" spc="60" baseline="-15000" dirty="0">
                <a:solidFill>
                  <a:srgbClr val="FF0000"/>
                </a:solidFill>
                <a:latin typeface="Cambria Math" panose="02040503050406030204"/>
                <a:cs typeface="Cambria Math" panose="02040503050406030204"/>
              </a:rPr>
              <a:t>𝑛</a:t>
            </a:r>
            <a:r>
              <a:rPr sz="2400" spc="40" dirty="0">
                <a:solidFill>
                  <a:srgbClr val="FF0000"/>
                </a:solidFill>
                <a:latin typeface="Palatino Linotype" panose="02040502050505030304"/>
                <a:cs typeface="Palatino Linotype" panose="02040502050505030304"/>
              </a:rPr>
              <a:t>:</a:t>
            </a:r>
            <a:endParaRPr sz="2400">
              <a:latin typeface="Palatino Linotype" panose="02040502050505030304"/>
              <a:cs typeface="Palatino Linotype" panose="02040502050505030304"/>
            </a:endParaRPr>
          </a:p>
          <a:p>
            <a:pPr marL="723900" marR="580390" lvl="1" indent="-228600">
              <a:lnSpc>
                <a:spcPct val="117000"/>
              </a:lnSpc>
              <a:spcBef>
                <a:spcPts val="1310"/>
              </a:spcBef>
              <a:buFont typeface="Wingdings" panose="05000000000000000000"/>
              <a:buChar char=""/>
              <a:tabLst>
                <a:tab pos="723900" algn="l"/>
              </a:tabLst>
            </a:pP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sz="2250" spc="75" baseline="-15000" dirty="0">
                <a:latin typeface="Cambria Math" panose="02040503050406030204"/>
                <a:cs typeface="Cambria Math" panose="02040503050406030204"/>
              </a:rPr>
              <a:t>𝐵</a:t>
            </a:r>
            <a:r>
              <a:rPr sz="2250" baseline="-15000" dirty="0">
                <a:latin typeface="Cambria Math" panose="02040503050406030204"/>
                <a:cs typeface="Cambria Math" panose="02040503050406030204"/>
              </a:rPr>
              <a:t> </a:t>
            </a:r>
            <a:r>
              <a:rPr sz="2250" spc="-2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20"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110" dirty="0">
                <a:latin typeface="Cambria Math" panose="02040503050406030204"/>
                <a:cs typeface="Cambria Math" panose="02040503050406030204"/>
              </a:rPr>
              <a:t>𝑒</a:t>
            </a:r>
            <a:r>
              <a:rPr lang="en-US" sz="2250" spc="52" baseline="-15000" dirty="0">
                <a:latin typeface="Cambria Math" panose="02040503050406030204"/>
                <a:cs typeface="Cambria Math" panose="02040503050406030204"/>
              </a:rPr>
              <a:t>1</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lang="en-US" sz="2250" spc="52" baseline="-15000" dirty="0">
                <a:latin typeface="Cambria Math" panose="02040503050406030204"/>
                <a:cs typeface="Cambria Math" panose="02040503050406030204"/>
              </a:rPr>
              <a:t>2</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60" dirty="0">
                <a:latin typeface="Cambria Math" panose="02040503050406030204"/>
                <a:cs typeface="Cambria Math" panose="02040503050406030204"/>
              </a:rPr>
              <a:t>𝑓</a:t>
            </a:r>
            <a:r>
              <a:rPr lang="en-US" sz="2250" spc="150" baseline="-15000" dirty="0">
                <a:latin typeface="Cambria Math" panose="02040503050406030204"/>
                <a:cs typeface="Cambria Math" panose="02040503050406030204"/>
              </a:rPr>
              <a:t>1</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lang="en-US" sz="2250" spc="52" baseline="-15000" dirty="0">
                <a:latin typeface="Cambria Math" panose="02040503050406030204"/>
                <a:cs typeface="Cambria Math" panose="02040503050406030204"/>
              </a:rPr>
              <a:t>3</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60" dirty="0">
                <a:latin typeface="Cambria Math" panose="02040503050406030204"/>
                <a:cs typeface="Cambria Math" panose="02040503050406030204"/>
              </a:rPr>
              <a:t>𝑓</a:t>
            </a:r>
            <a:r>
              <a:rPr lang="en-US" sz="2250" spc="52" baseline="-15000" dirty="0">
                <a:latin typeface="Cambria Math" panose="02040503050406030204"/>
                <a:cs typeface="Cambria Math" panose="02040503050406030204"/>
              </a:rPr>
              <a:t>2</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15" dirty="0">
                <a:latin typeface="Cambria Math" panose="02040503050406030204"/>
                <a:cs typeface="Cambria Math" panose="02040503050406030204"/>
              </a:rPr>
              <a:t>𝑓</a:t>
            </a:r>
            <a:r>
              <a:rPr sz="2250" spc="150" baseline="-15000" dirty="0">
                <a:latin typeface="Cambria Math" panose="02040503050406030204"/>
                <a:cs typeface="Cambria Math" panose="02040503050406030204"/>
              </a:rPr>
              <a:t>1</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10" dirty="0">
                <a:latin typeface="Cambria Math" panose="02040503050406030204"/>
                <a:cs typeface="Cambria Math" panose="02040503050406030204"/>
              </a:rPr>
              <a:t> </a:t>
            </a:r>
            <a:r>
              <a:rPr sz="2000" spc="80" dirty="0">
                <a:latin typeface="Cambria Math" panose="02040503050406030204"/>
                <a:cs typeface="Cambria Math" panose="02040503050406030204"/>
              </a:rPr>
              <a:t>𝖴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sz="2250" spc="292" baseline="-15000" dirty="0">
                <a:latin typeface="Cambria Math" panose="02040503050406030204"/>
                <a:cs typeface="Cambria Math" panose="02040503050406030204"/>
              </a:rPr>
              <a:t>𝑛</a:t>
            </a:r>
            <a:r>
              <a:rPr sz="2250" baseline="-15000" dirty="0">
                <a:latin typeface="Cambria Math" panose="02040503050406030204"/>
                <a:cs typeface="Cambria Math" panose="02040503050406030204"/>
              </a:rPr>
              <a:t> </a:t>
            </a:r>
            <a:r>
              <a:rPr sz="2250" spc="-20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60" dirty="0">
                <a:latin typeface="Cambria Math" panose="02040503050406030204"/>
                <a:cs typeface="Cambria Math" panose="02040503050406030204"/>
              </a:rPr>
              <a:t>𝑓</a:t>
            </a:r>
            <a:r>
              <a:rPr lang="en-US" sz="2250" spc="52" baseline="-15000" dirty="0">
                <a:latin typeface="Cambria Math" panose="02040503050406030204"/>
                <a:cs typeface="Cambria Math" panose="02040503050406030204"/>
              </a:rPr>
              <a:t>1</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60" dirty="0">
                <a:latin typeface="Cambria Math" panose="02040503050406030204"/>
                <a:cs typeface="Cambria Math" panose="02040503050406030204"/>
              </a:rPr>
              <a:t>𝑓</a:t>
            </a:r>
            <a:r>
              <a:rPr lang="en-US" sz="2250" spc="52" baseline="-15000" dirty="0">
                <a:latin typeface="Cambria Math" panose="02040503050406030204"/>
                <a:cs typeface="Cambria Math" panose="02040503050406030204"/>
              </a:rPr>
              <a:t>2</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1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15" dirty="0">
                <a:latin typeface="Cambria Math" panose="02040503050406030204"/>
                <a:cs typeface="Cambria Math" panose="02040503050406030204"/>
              </a:rPr>
              <a:t>𝑓</a:t>
            </a:r>
            <a:r>
              <a:rPr sz="2250" spc="292" baseline="-15000" dirty="0">
                <a:latin typeface="Cambria Math" panose="02040503050406030204"/>
                <a:cs typeface="Cambria Math" panose="02040503050406030204"/>
              </a:rPr>
              <a:t>𝑛</a:t>
            </a:r>
            <a:r>
              <a:rPr sz="2250" spc="465" baseline="-15000" dirty="0">
                <a:latin typeface="Cambria Math" panose="02040503050406030204"/>
                <a:cs typeface="Cambria Math" panose="02040503050406030204"/>
              </a:rPr>
              <a:t>–</a:t>
            </a:r>
            <a:r>
              <a:rPr lang="en-US" sz="2250" spc="150" baseline="-15000" dirty="0">
                <a:latin typeface="Cambria Math" panose="02040503050406030204"/>
                <a:cs typeface="Cambria Math" panose="02040503050406030204"/>
              </a:rPr>
              <a:t>1</a:t>
            </a: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a:p>
            <a:pPr marL="723900" marR="588645" lvl="1" indent="-228600">
              <a:lnSpc>
                <a:spcPct val="117000"/>
              </a:lnSpc>
              <a:spcBef>
                <a:spcPts val="1295"/>
              </a:spcBef>
              <a:buFont typeface="Wingdings" panose="05000000000000000000"/>
              <a:buChar char=""/>
              <a:tabLst>
                <a:tab pos="723900" algn="l"/>
              </a:tabLst>
            </a:pP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15" dirty="0">
                <a:latin typeface="Cambria Math" panose="02040503050406030204"/>
                <a:cs typeface="Cambria Math" panose="02040503050406030204"/>
              </a:rPr>
              <a:t>𝑓</a:t>
            </a:r>
            <a:r>
              <a:rPr sz="2250" spc="75" baseline="-15000" dirty="0">
                <a:latin typeface="Cambria Math" panose="02040503050406030204"/>
                <a:cs typeface="Cambria Math" panose="02040503050406030204"/>
              </a:rPr>
              <a:t>𝐵</a:t>
            </a:r>
            <a:r>
              <a:rPr sz="2250" baseline="-15000" dirty="0">
                <a:latin typeface="Cambria Math" panose="02040503050406030204"/>
                <a:cs typeface="Cambria Math" panose="02040503050406030204"/>
              </a:rPr>
              <a:t> </a:t>
            </a:r>
            <a:r>
              <a:rPr sz="2250" spc="-2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20" dirty="0">
                <a:latin typeface="Cambria Math" panose="02040503050406030204"/>
                <a:cs typeface="Cambria Math" panose="02040503050406030204"/>
              </a:rPr>
              <a:t> </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60" dirty="0">
                <a:latin typeface="Cambria Math" panose="02040503050406030204"/>
                <a:cs typeface="Cambria Math" panose="02040503050406030204"/>
              </a:rPr>
              <a:t>𝑓</a:t>
            </a:r>
            <a:r>
              <a:rPr lang="en-US" sz="2250" spc="52" baseline="-15000" dirty="0">
                <a:latin typeface="Cambria Math" panose="02040503050406030204"/>
                <a:cs typeface="Cambria Math" panose="02040503050406030204"/>
              </a:rPr>
              <a:t>1</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15" dirty="0">
                <a:latin typeface="Cambria Math" panose="02040503050406030204"/>
                <a:cs typeface="Cambria Math" panose="02040503050406030204"/>
              </a:rPr>
              <a:t>𝑓</a:t>
            </a:r>
            <a:r>
              <a:rPr sz="2250" spc="52" baseline="-15000" dirty="0">
                <a:latin typeface="Cambria Math" panose="02040503050406030204"/>
                <a:cs typeface="Cambria Math" panose="02040503050406030204"/>
              </a:rPr>
              <a:t>1</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110" dirty="0">
                <a:latin typeface="Cambria Math" panose="02040503050406030204"/>
                <a:cs typeface="Cambria Math" panose="02040503050406030204"/>
              </a:rPr>
              <a:t>𝑒</a:t>
            </a:r>
            <a:r>
              <a:rPr sz="2250" spc="150" baseline="-15000" dirty="0">
                <a:latin typeface="Cambria Math" panose="02040503050406030204"/>
                <a:cs typeface="Cambria Math" panose="02040503050406030204"/>
              </a:rPr>
              <a:t>0</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15" dirty="0">
                <a:latin typeface="Cambria Math" panose="02040503050406030204"/>
                <a:cs typeface="Cambria Math" panose="02040503050406030204"/>
              </a:rPr>
              <a:t>𝑓</a:t>
            </a:r>
            <a:r>
              <a:rPr sz="2250" spc="52" baseline="-15000" dirty="0">
                <a:latin typeface="Cambria Math" panose="02040503050406030204"/>
                <a:cs typeface="Cambria Math" panose="02040503050406030204"/>
              </a:rPr>
              <a:t>2</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110" dirty="0">
                <a:latin typeface="Cambria Math" panose="02040503050406030204"/>
                <a:cs typeface="Cambria Math" panose="02040503050406030204"/>
              </a:rPr>
              <a:t>𝑒</a:t>
            </a:r>
            <a:r>
              <a:rPr sz="2250" spc="52" baseline="-15000" dirty="0">
                <a:latin typeface="Cambria Math" panose="02040503050406030204"/>
                <a:cs typeface="Cambria Math" panose="02040503050406030204"/>
              </a:rPr>
              <a:t>0</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sz="2250" spc="150" baseline="-15000" dirty="0">
                <a:latin typeface="Cambria Math" panose="02040503050406030204"/>
                <a:cs typeface="Cambria Math" panose="02040503050406030204"/>
              </a:rPr>
              <a:t>1</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spc="135" dirty="0">
                <a:latin typeface="Cambria Math" panose="02040503050406030204"/>
                <a:cs typeface="Cambria Math" panose="02040503050406030204"/>
              </a:rPr>
              <a:t>𝖴</a:t>
            </a:r>
            <a:r>
              <a:rPr sz="2000" dirty="0">
                <a:latin typeface="Cambria Math" panose="02040503050406030204"/>
                <a:cs typeface="Cambria Math" panose="02040503050406030204"/>
              </a:rPr>
              <a:t> ⋯</a:t>
            </a:r>
            <a:r>
              <a:rPr sz="2000" spc="-110" dirty="0">
                <a:latin typeface="Cambria Math" panose="02040503050406030204"/>
                <a:cs typeface="Cambria Math" panose="02040503050406030204"/>
              </a:rPr>
              <a:t> </a:t>
            </a:r>
            <a:r>
              <a:rPr sz="2000" spc="80" dirty="0">
                <a:latin typeface="Cambria Math" panose="02040503050406030204"/>
                <a:cs typeface="Cambria Math" panose="02040503050406030204"/>
              </a:rPr>
              <a:t>𝖴  </a:t>
            </a:r>
            <a:r>
              <a:rPr sz="2000" spc="-10" dirty="0">
                <a:latin typeface="Cambria Math" panose="02040503050406030204"/>
                <a:cs typeface="Cambria Math" panose="02040503050406030204"/>
              </a:rPr>
              <a:t>(</a:t>
            </a:r>
            <a:r>
              <a:rPr sz="2000" dirty="0">
                <a:latin typeface="Cambria Math" panose="02040503050406030204"/>
                <a:cs typeface="Cambria Math" panose="02040503050406030204"/>
              </a:rPr>
              <a:t>𝑑</a:t>
            </a:r>
            <a:r>
              <a:rPr sz="2000" spc="-5" dirty="0">
                <a:latin typeface="Cambria Math" panose="02040503050406030204"/>
                <a:cs typeface="Cambria Math" panose="02040503050406030204"/>
              </a:rPr>
              <a:t>𝑒</a:t>
            </a:r>
            <a:r>
              <a:rPr sz="2000" spc="-395" dirty="0">
                <a:latin typeface="Cambria Math" panose="02040503050406030204"/>
                <a:cs typeface="Cambria Math" panose="02040503050406030204"/>
              </a:rPr>
              <a:t>𝑓</a:t>
            </a:r>
            <a:r>
              <a:rPr sz="2250" spc="292" baseline="-15000" dirty="0">
                <a:latin typeface="Cambria Math" panose="02040503050406030204"/>
                <a:cs typeface="Cambria Math" panose="02040503050406030204"/>
              </a:rPr>
              <a:t>𝑛</a:t>
            </a:r>
            <a:r>
              <a:rPr sz="2250" baseline="-15000" dirty="0">
                <a:latin typeface="Cambria Math" panose="02040503050406030204"/>
                <a:cs typeface="Cambria Math" panose="02040503050406030204"/>
              </a:rPr>
              <a:t> </a:t>
            </a:r>
            <a:r>
              <a:rPr sz="2250" spc="-20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110" dirty="0">
                <a:latin typeface="Cambria Math" panose="02040503050406030204"/>
                <a:cs typeface="Cambria Math" panose="02040503050406030204"/>
              </a:rPr>
              <a:t>𝑒</a:t>
            </a:r>
            <a:r>
              <a:rPr lang="en-US" sz="2250" spc="52" baseline="-15000" dirty="0">
                <a:latin typeface="Cambria Math" panose="02040503050406030204"/>
                <a:cs typeface="Cambria Math" panose="02040503050406030204"/>
              </a:rPr>
              <a:t>1</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110" dirty="0">
                <a:latin typeface="Cambria Math" panose="02040503050406030204"/>
                <a:cs typeface="Cambria Math" panose="02040503050406030204"/>
              </a:rPr>
              <a:t>𝑒</a:t>
            </a:r>
            <a:r>
              <a:rPr lang="en-US" sz="2250" spc="52" baseline="-15000" dirty="0">
                <a:latin typeface="Cambria Math" panose="02040503050406030204"/>
                <a:cs typeface="Cambria Math" panose="02040503050406030204"/>
              </a:rPr>
              <a:t>2</a:t>
            </a:r>
            <a:r>
              <a:rPr sz="2250" baseline="-15000" dirty="0">
                <a:latin typeface="Cambria Math" panose="02040503050406030204"/>
                <a:cs typeface="Cambria Math" panose="02040503050406030204"/>
              </a:rPr>
              <a:t> </a:t>
            </a:r>
            <a:r>
              <a:rPr sz="2250" spc="-232" baseline="-1500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1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5" dirty="0">
                <a:latin typeface="Cambria Math" panose="02040503050406030204"/>
                <a:cs typeface="Cambria Math" panose="02040503050406030204"/>
              </a:rPr>
              <a:t> </a:t>
            </a:r>
            <a:r>
              <a:rPr sz="2000" dirty="0">
                <a:latin typeface="Cambria Math" panose="02040503050406030204"/>
                <a:cs typeface="Cambria Math" panose="02040503050406030204"/>
              </a:rPr>
              <a:t>𝑢𝑠</a:t>
            </a:r>
            <a:r>
              <a:rPr sz="2000" spc="-65" dirty="0">
                <a:latin typeface="Cambria Math" panose="02040503050406030204"/>
                <a:cs typeface="Cambria Math" panose="02040503050406030204"/>
              </a:rPr>
              <a:t>𝑒</a:t>
            </a:r>
            <a:r>
              <a:rPr sz="2250" spc="292" baseline="-15000" dirty="0">
                <a:latin typeface="Cambria Math" panose="02040503050406030204"/>
                <a:cs typeface="Cambria Math" panose="02040503050406030204"/>
              </a:rPr>
              <a:t>𝑛</a:t>
            </a:r>
            <a:r>
              <a:rPr sz="2250" spc="465" baseline="-15000" dirty="0">
                <a:latin typeface="Cambria Math" panose="02040503050406030204"/>
                <a:cs typeface="Cambria Math" panose="02040503050406030204"/>
              </a:rPr>
              <a:t>–</a:t>
            </a:r>
            <a:r>
              <a:rPr lang="en-US" sz="2250" spc="150" baseline="-15000" dirty="0">
                <a:latin typeface="Cambria Math" panose="02040503050406030204"/>
                <a:cs typeface="Cambria Math" panose="02040503050406030204"/>
              </a:rPr>
              <a:t>1</a:t>
            </a: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p:txBody>
      </p:sp>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59</a:t>
            </a:fld>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011420" cy="635000"/>
          </a:xfrm>
          <a:prstGeom prst="rect">
            <a:avLst/>
          </a:prstGeom>
        </p:spPr>
        <p:txBody>
          <a:bodyPr vert="horz" wrap="square" lIns="0" tIns="12700" rIns="0" bIns="0" rtlCol="0">
            <a:spAutoFit/>
          </a:bodyPr>
          <a:lstStyle/>
          <a:p>
            <a:pPr marL="12700">
              <a:lnSpc>
                <a:spcPct val="100000"/>
              </a:lnSpc>
              <a:spcBef>
                <a:spcPts val="100"/>
              </a:spcBef>
            </a:pPr>
            <a:r>
              <a:rPr sz="4000" spc="-5" dirty="0"/>
              <a:t>Problem</a:t>
            </a:r>
            <a:r>
              <a:rPr sz="4000" spc="-55" dirty="0"/>
              <a:t> </a:t>
            </a:r>
            <a:r>
              <a:rPr sz="4000" dirty="0"/>
              <a:t>Formulation</a:t>
            </a:r>
            <a:endParaRPr sz="4000"/>
          </a:p>
        </p:txBody>
      </p:sp>
      <p:sp>
        <p:nvSpPr>
          <p:cNvPr id="3" name="object 3"/>
          <p:cNvSpPr/>
          <p:nvPr/>
        </p:nvSpPr>
        <p:spPr>
          <a:xfrm>
            <a:off x="2279573" y="2280919"/>
            <a:ext cx="55880" cy="236220"/>
          </a:xfrm>
          <a:custGeom>
            <a:avLst/>
            <a:gdLst/>
            <a:ahLst/>
            <a:cxnLst/>
            <a:rect l="l" t="t" r="r" b="b"/>
            <a:pathLst>
              <a:path w="55880" h="236219">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000000"/>
          </a:solidFill>
        </p:spPr>
        <p:txBody>
          <a:bodyPr wrap="square" lIns="0" tIns="0" rIns="0" bIns="0" rtlCol="0"/>
          <a:lstStyle/>
          <a:p>
            <a:endParaRPr/>
          </a:p>
        </p:txBody>
      </p:sp>
      <p:sp>
        <p:nvSpPr>
          <p:cNvPr id="4" name="object 4"/>
          <p:cNvSpPr/>
          <p:nvPr/>
        </p:nvSpPr>
        <p:spPr>
          <a:xfrm>
            <a:off x="1689747" y="2280919"/>
            <a:ext cx="55880" cy="236220"/>
          </a:xfrm>
          <a:custGeom>
            <a:avLst/>
            <a:gdLst/>
            <a:ahLst/>
            <a:cxnLst/>
            <a:rect l="l" t="t" r="r" b="b"/>
            <a:pathLst>
              <a:path w="55880" h="236219">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000000"/>
          </a:solidFill>
        </p:spPr>
        <p:txBody>
          <a:bodyPr wrap="square" lIns="0" tIns="0" rIns="0" bIns="0" rtlCol="0"/>
          <a:lstStyle/>
          <a:p>
            <a:endParaRPr/>
          </a:p>
        </p:txBody>
      </p:sp>
      <p:sp>
        <p:nvSpPr>
          <p:cNvPr id="5" name="object 5"/>
          <p:cNvSpPr/>
          <p:nvPr/>
        </p:nvSpPr>
        <p:spPr>
          <a:xfrm>
            <a:off x="4007789" y="3512819"/>
            <a:ext cx="55880" cy="236220"/>
          </a:xfrm>
          <a:custGeom>
            <a:avLst/>
            <a:gdLst/>
            <a:ahLst/>
            <a:cxnLst/>
            <a:rect l="l" t="t" r="r" b="b"/>
            <a:pathLst>
              <a:path w="55879" h="236220">
                <a:moveTo>
                  <a:pt x="55321" y="0"/>
                </a:moveTo>
                <a:lnTo>
                  <a:pt x="0" y="0"/>
                </a:lnTo>
                <a:lnTo>
                  <a:pt x="0" y="8890"/>
                </a:lnTo>
                <a:lnTo>
                  <a:pt x="34734" y="8890"/>
                </a:lnTo>
                <a:lnTo>
                  <a:pt x="34734" y="226060"/>
                </a:lnTo>
                <a:lnTo>
                  <a:pt x="0" y="226060"/>
                </a:lnTo>
                <a:lnTo>
                  <a:pt x="0" y="236220"/>
                </a:lnTo>
                <a:lnTo>
                  <a:pt x="55321" y="236220"/>
                </a:lnTo>
                <a:lnTo>
                  <a:pt x="55321" y="226060"/>
                </a:lnTo>
                <a:lnTo>
                  <a:pt x="55321" y="8890"/>
                </a:lnTo>
                <a:lnTo>
                  <a:pt x="55321" y="0"/>
                </a:lnTo>
                <a:close/>
              </a:path>
            </a:pathLst>
          </a:custGeom>
          <a:solidFill>
            <a:srgbClr val="000000"/>
          </a:solidFill>
        </p:spPr>
        <p:txBody>
          <a:bodyPr wrap="square" lIns="0" tIns="0" rIns="0" bIns="0" rtlCol="0"/>
          <a:lstStyle/>
          <a:p>
            <a:endParaRPr/>
          </a:p>
        </p:txBody>
      </p:sp>
      <p:sp>
        <p:nvSpPr>
          <p:cNvPr id="6" name="object 6"/>
          <p:cNvSpPr/>
          <p:nvPr/>
        </p:nvSpPr>
        <p:spPr>
          <a:xfrm>
            <a:off x="3768356" y="3512819"/>
            <a:ext cx="55880" cy="236220"/>
          </a:xfrm>
          <a:custGeom>
            <a:avLst/>
            <a:gdLst/>
            <a:ahLst/>
            <a:cxnLst/>
            <a:rect l="l" t="t" r="r" b="b"/>
            <a:pathLst>
              <a:path w="55879" h="236220">
                <a:moveTo>
                  <a:pt x="55321" y="0"/>
                </a:moveTo>
                <a:lnTo>
                  <a:pt x="0" y="0"/>
                </a:lnTo>
                <a:lnTo>
                  <a:pt x="0" y="8890"/>
                </a:lnTo>
                <a:lnTo>
                  <a:pt x="0" y="226060"/>
                </a:lnTo>
                <a:lnTo>
                  <a:pt x="0" y="236220"/>
                </a:lnTo>
                <a:lnTo>
                  <a:pt x="55321" y="236220"/>
                </a:lnTo>
                <a:lnTo>
                  <a:pt x="55321" y="226060"/>
                </a:lnTo>
                <a:lnTo>
                  <a:pt x="20586" y="226060"/>
                </a:lnTo>
                <a:lnTo>
                  <a:pt x="20586" y="8890"/>
                </a:lnTo>
                <a:lnTo>
                  <a:pt x="55321" y="8890"/>
                </a:lnTo>
                <a:lnTo>
                  <a:pt x="55321" y="0"/>
                </a:lnTo>
                <a:close/>
              </a:path>
            </a:pathLst>
          </a:custGeom>
          <a:solidFill>
            <a:srgbClr val="000000"/>
          </a:solidFill>
        </p:spPr>
        <p:txBody>
          <a:bodyPr wrap="square" lIns="0" tIns="0" rIns="0" bIns="0" rtlCol="0"/>
          <a:lstStyle/>
          <a:p>
            <a:endParaRPr/>
          </a:p>
        </p:txBody>
      </p:sp>
      <p:sp>
        <p:nvSpPr>
          <p:cNvPr id="7" name="object 7"/>
          <p:cNvSpPr txBox="1"/>
          <p:nvPr/>
        </p:nvSpPr>
        <p:spPr>
          <a:xfrm>
            <a:off x="669290" y="1633220"/>
            <a:ext cx="6916420" cy="4372610"/>
          </a:xfrm>
          <a:prstGeom prst="rect">
            <a:avLst/>
          </a:prstGeom>
        </p:spPr>
        <p:txBody>
          <a:bodyPr vert="horz" wrap="square" lIns="0" tIns="12700" rIns="0" bIns="0" rtlCol="0">
            <a:spAutoFit/>
          </a:bodyPr>
          <a:lstStyle/>
          <a:p>
            <a:pPr marL="281305" indent="-230505">
              <a:lnSpc>
                <a:spcPct val="100000"/>
              </a:lnSpc>
              <a:spcBef>
                <a:spcPts val="100"/>
              </a:spcBef>
              <a:buFont typeface="Arial MT"/>
              <a:buChar char="•"/>
              <a:tabLst>
                <a:tab pos="281305" algn="l"/>
              </a:tabLst>
            </a:pPr>
            <a:r>
              <a:rPr sz="2400" spc="-5" dirty="0">
                <a:latin typeface="Palatino Linotype" panose="02040502050505030304"/>
                <a:cs typeface="Palatino Linotype" panose="02040502050505030304"/>
              </a:rPr>
              <a:t>All </a:t>
            </a:r>
            <a:r>
              <a:rPr sz="2400" spc="-10" dirty="0">
                <a:latin typeface="Palatino Linotype" panose="02040502050505030304"/>
                <a:cs typeface="Palatino Linotype" panose="02040502050505030304"/>
              </a:rPr>
              <a:t>variables</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are</a:t>
            </a:r>
            <a:r>
              <a:rPr sz="2400" spc="-5" dirty="0">
                <a:latin typeface="Palatino Linotype" panose="02040502050505030304"/>
                <a:cs typeface="Palatino Linotype" panose="02040502050505030304"/>
              </a:rPr>
              <a:t> dead </a:t>
            </a:r>
            <a:r>
              <a:rPr sz="2400" dirty="0">
                <a:latin typeface="Palatino Linotype" panose="02040502050505030304"/>
                <a:cs typeface="Palatino Linotype" panose="02040502050505030304"/>
              </a:rPr>
              <a:t>at</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the</a:t>
            </a:r>
            <a:r>
              <a:rPr sz="2400" spc="-5" dirty="0">
                <a:latin typeface="Palatino Linotype" panose="02040502050505030304"/>
                <a:cs typeface="Palatino Linotype" panose="02040502050505030304"/>
              </a:rPr>
              <a:t> exit</a:t>
            </a:r>
            <a:r>
              <a:rPr sz="2400" dirty="0">
                <a:latin typeface="Palatino Linotype" panose="02040502050505030304"/>
                <a:cs typeface="Palatino Linotype" panose="02040502050505030304"/>
              </a:rPr>
              <a:t> of</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 </a:t>
            </a:r>
            <a:r>
              <a:rPr sz="2400" spc="-5" dirty="0">
                <a:latin typeface="Palatino Linotype" panose="02040502050505030304"/>
                <a:cs typeface="Palatino Linotype" panose="02040502050505030304"/>
              </a:rPr>
              <a:t>program</a:t>
            </a:r>
            <a:endParaRPr sz="2400">
              <a:latin typeface="Palatino Linotype" panose="02040502050505030304"/>
              <a:cs typeface="Palatino Linotype" panose="02040502050505030304"/>
            </a:endParaRPr>
          </a:p>
          <a:p>
            <a:pPr marL="736600" lvl="1" indent="-228600">
              <a:lnSpc>
                <a:spcPct val="100000"/>
              </a:lnSpc>
              <a:spcBef>
                <a:spcPts val="1625"/>
              </a:spcBef>
              <a:buFont typeface="Wingdings" panose="05000000000000000000"/>
              <a:buChar char=""/>
              <a:tabLst>
                <a:tab pos="736600" algn="l"/>
                <a:tab pos="1764030" algn="l"/>
              </a:tabLst>
            </a:pPr>
            <a:r>
              <a:rPr sz="2000" dirty="0">
                <a:latin typeface="Cambria Math" panose="02040503050406030204"/>
                <a:cs typeface="Cambria Math" panose="02040503050406030204"/>
              </a:rPr>
              <a:t>IN</a:t>
            </a:r>
            <a:r>
              <a:rPr sz="2000" spc="260" dirty="0">
                <a:latin typeface="Cambria Math" panose="02040503050406030204"/>
                <a:cs typeface="Cambria Math" panose="02040503050406030204"/>
              </a:rPr>
              <a:t> </a:t>
            </a:r>
            <a:r>
              <a:rPr sz="2000" spc="-5" dirty="0">
                <a:latin typeface="Cambria Math" panose="02040503050406030204"/>
                <a:cs typeface="Cambria Math" panose="02040503050406030204"/>
              </a:rPr>
              <a:t>EXIT	</a:t>
            </a:r>
            <a:r>
              <a:rPr sz="2000" dirty="0">
                <a:latin typeface="Cambria Math" panose="02040503050406030204"/>
                <a:cs typeface="Cambria Math" panose="02040503050406030204"/>
              </a:rPr>
              <a:t>=</a:t>
            </a:r>
            <a:r>
              <a:rPr sz="2000" spc="75" dirty="0">
                <a:latin typeface="Cambria Math" panose="02040503050406030204"/>
                <a:cs typeface="Cambria Math" panose="02040503050406030204"/>
              </a:rPr>
              <a:t> </a:t>
            </a: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a:p>
            <a:pPr lvl="1">
              <a:lnSpc>
                <a:spcPct val="100000"/>
              </a:lnSpc>
              <a:spcBef>
                <a:spcPts val="55"/>
              </a:spcBef>
              <a:buFont typeface="Wingdings" panose="05000000000000000000"/>
              <a:buChar char=""/>
            </a:pPr>
            <a:endParaRPr sz="2250">
              <a:latin typeface="Cambria Math" panose="02040503050406030204"/>
              <a:cs typeface="Cambria Math" panose="02040503050406030204"/>
            </a:endParaRPr>
          </a:p>
          <a:p>
            <a:pPr marL="281305" indent="-230505">
              <a:lnSpc>
                <a:spcPct val="100000"/>
              </a:lnSpc>
              <a:buFont typeface="Arial MT"/>
              <a:buChar char="•"/>
              <a:tabLst>
                <a:tab pos="281305" algn="l"/>
              </a:tabLst>
            </a:pPr>
            <a:r>
              <a:rPr sz="2400" dirty="0">
                <a:latin typeface="Palatino Linotype" panose="02040502050505030304"/>
                <a:cs typeface="Palatino Linotype" panose="02040502050505030304"/>
              </a:rPr>
              <a:t>For</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all</a:t>
            </a:r>
            <a:r>
              <a:rPr sz="2400" spc="-5" dirty="0">
                <a:latin typeface="Palatino Linotype" panose="02040502050505030304"/>
                <a:cs typeface="Palatino Linotype" panose="02040502050505030304"/>
              </a:rPr>
              <a:t> basic</a:t>
            </a:r>
            <a:r>
              <a:rPr sz="2400" spc="-1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blocks</a:t>
            </a:r>
            <a:r>
              <a:rPr sz="2400" spc="-10"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B</a:t>
            </a:r>
            <a:r>
              <a:rPr sz="2400" i="1" spc="-1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other</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than</a:t>
            </a:r>
            <a:r>
              <a:rPr sz="2400" spc="-10" dirty="0">
                <a:latin typeface="Palatino Linotype" panose="02040502050505030304"/>
                <a:cs typeface="Palatino Linotype" panose="02040502050505030304"/>
              </a:rPr>
              <a:t> </a:t>
            </a:r>
            <a:r>
              <a:rPr sz="2400" spc="-20" dirty="0">
                <a:latin typeface="Palatino Linotype" panose="02040502050505030304"/>
                <a:cs typeface="Palatino Linotype" panose="02040502050505030304"/>
              </a:rPr>
              <a:t>EXIT:</a:t>
            </a:r>
            <a:endParaRPr sz="2400">
              <a:latin typeface="Palatino Linotype" panose="02040502050505030304"/>
              <a:cs typeface="Palatino Linotype" panose="02040502050505030304"/>
            </a:endParaRPr>
          </a:p>
          <a:p>
            <a:pPr marL="736600" lvl="1" indent="-228600">
              <a:lnSpc>
                <a:spcPct val="100000"/>
              </a:lnSpc>
              <a:spcBef>
                <a:spcPts val="1720"/>
              </a:spcBef>
              <a:buFont typeface="Wingdings" panose="05000000000000000000"/>
              <a:buChar char=""/>
              <a:tabLst>
                <a:tab pos="736600" algn="l"/>
                <a:tab pos="3477895" algn="l"/>
              </a:tabLst>
            </a:pPr>
            <a:r>
              <a:rPr sz="2000" spc="5" dirty="0">
                <a:latin typeface="Cambria Math" panose="02040503050406030204"/>
                <a:cs typeface="Cambria Math" panose="02040503050406030204"/>
              </a:rPr>
              <a:t>IN[𝐵]</a:t>
            </a:r>
            <a:r>
              <a:rPr sz="2000" spc="114"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125" dirty="0">
                <a:latin typeface="Cambria Math" panose="02040503050406030204"/>
                <a:cs typeface="Cambria Math" panose="02040503050406030204"/>
              </a:rPr>
              <a:t> </a:t>
            </a:r>
            <a:r>
              <a:rPr sz="2000" spc="-10" dirty="0">
                <a:latin typeface="Cambria Math" panose="02040503050406030204"/>
                <a:cs typeface="Cambria Math" panose="02040503050406030204"/>
              </a:rPr>
              <a:t>𝑢𝑠𝑒</a:t>
            </a:r>
            <a:r>
              <a:rPr sz="2250" spc="-15" baseline="-15000" dirty="0">
                <a:latin typeface="Cambria Math" panose="02040503050406030204"/>
                <a:cs typeface="Cambria Math" panose="02040503050406030204"/>
              </a:rPr>
              <a:t>𝐵</a:t>
            </a:r>
            <a:r>
              <a:rPr sz="2250" spc="315" baseline="-15000" dirty="0">
                <a:latin typeface="Cambria Math" panose="02040503050406030204"/>
                <a:cs typeface="Cambria Math" panose="02040503050406030204"/>
              </a:rPr>
              <a:t> </a:t>
            </a:r>
            <a:r>
              <a:rPr sz="2000" spc="85" dirty="0">
                <a:latin typeface="Cambria Math" panose="02040503050406030204"/>
                <a:cs typeface="Cambria Math" panose="02040503050406030204"/>
              </a:rPr>
              <a:t>𝖴</a:t>
            </a:r>
            <a:r>
              <a:rPr sz="2000" spc="5" dirty="0">
                <a:latin typeface="Cambria Math" panose="02040503050406030204"/>
                <a:cs typeface="Cambria Math" panose="02040503050406030204"/>
              </a:rPr>
              <a:t> </a:t>
            </a:r>
            <a:r>
              <a:rPr sz="2000" spc="-5" dirty="0">
                <a:latin typeface="Cambria Math" panose="02040503050406030204"/>
                <a:cs typeface="Cambria Math" panose="02040503050406030204"/>
              </a:rPr>
              <a:t>(OUT</a:t>
            </a:r>
            <a:r>
              <a:rPr sz="2000" spc="270" dirty="0">
                <a:latin typeface="Cambria Math" panose="02040503050406030204"/>
                <a:cs typeface="Cambria Math" panose="02040503050406030204"/>
              </a:rPr>
              <a:t> </a:t>
            </a:r>
            <a:r>
              <a:rPr sz="2000" dirty="0">
                <a:latin typeface="Cambria Math" panose="02040503050406030204"/>
                <a:cs typeface="Cambria Math" panose="02040503050406030204"/>
              </a:rPr>
              <a:t>𝐵	−</a:t>
            </a:r>
            <a:r>
              <a:rPr sz="2000" spc="-35" dirty="0">
                <a:latin typeface="Cambria Math" panose="02040503050406030204"/>
                <a:cs typeface="Cambria Math" panose="02040503050406030204"/>
              </a:rPr>
              <a:t> </a:t>
            </a:r>
            <a:r>
              <a:rPr sz="2000" spc="-40" dirty="0">
                <a:latin typeface="Cambria Math" panose="02040503050406030204"/>
                <a:cs typeface="Cambria Math" panose="02040503050406030204"/>
              </a:rPr>
              <a:t>𝑑𝑒𝑓</a:t>
            </a:r>
            <a:r>
              <a:rPr sz="2250" spc="-60" baseline="-15000" dirty="0">
                <a:latin typeface="Cambria Math" panose="02040503050406030204"/>
                <a:cs typeface="Cambria Math" panose="02040503050406030204"/>
              </a:rPr>
              <a:t>𝐵</a:t>
            </a:r>
            <a:r>
              <a:rPr sz="2000" spc="-40" dirty="0">
                <a:latin typeface="Cambria Math" panose="02040503050406030204"/>
                <a:cs typeface="Cambria Math" panose="02040503050406030204"/>
              </a:rPr>
              <a:t>)</a:t>
            </a:r>
            <a:endParaRPr sz="2000">
              <a:latin typeface="Cambria Math" panose="02040503050406030204"/>
              <a:cs typeface="Cambria Math" panose="02040503050406030204"/>
            </a:endParaRPr>
          </a:p>
          <a:p>
            <a:pPr marL="736600" lvl="1" indent="-228600">
              <a:lnSpc>
                <a:spcPct val="100000"/>
              </a:lnSpc>
              <a:spcBef>
                <a:spcPts val="2210"/>
              </a:spcBef>
              <a:buFont typeface="Wingdings" panose="05000000000000000000"/>
              <a:buChar char=""/>
              <a:tabLst>
                <a:tab pos="736600" algn="l"/>
              </a:tabLst>
            </a:pPr>
            <a:r>
              <a:rPr sz="3000" spc="7" baseline="14000" dirty="0">
                <a:latin typeface="Cambria Math" panose="02040503050406030204"/>
                <a:cs typeface="Cambria Math" panose="02040503050406030204"/>
              </a:rPr>
              <a:t>O</a:t>
            </a:r>
            <a:r>
              <a:rPr sz="3000" baseline="14000" dirty="0">
                <a:latin typeface="Cambria Math" panose="02040503050406030204"/>
                <a:cs typeface="Cambria Math" panose="02040503050406030204"/>
              </a:rPr>
              <a:t>UT</a:t>
            </a:r>
            <a:r>
              <a:rPr sz="3000" spc="-7" baseline="14000" dirty="0">
                <a:latin typeface="Cambria Math" panose="02040503050406030204"/>
                <a:cs typeface="Cambria Math" panose="02040503050406030204"/>
              </a:rPr>
              <a:t>[</a:t>
            </a:r>
            <a:r>
              <a:rPr sz="3000" spc="75" baseline="14000" dirty="0">
                <a:latin typeface="Cambria Math" panose="02040503050406030204"/>
                <a:cs typeface="Cambria Math" panose="02040503050406030204"/>
              </a:rPr>
              <a:t>𝐵</a:t>
            </a:r>
            <a:r>
              <a:rPr sz="3000" baseline="14000" dirty="0">
                <a:latin typeface="Cambria Math" panose="02040503050406030204"/>
                <a:cs typeface="Cambria Math" panose="02040503050406030204"/>
              </a:rPr>
              <a:t>]</a:t>
            </a:r>
            <a:r>
              <a:rPr sz="3000" spc="165" baseline="14000" dirty="0">
                <a:latin typeface="Cambria Math" panose="02040503050406030204"/>
                <a:cs typeface="Cambria Math" panose="02040503050406030204"/>
              </a:rPr>
              <a:t> </a:t>
            </a:r>
            <a:r>
              <a:rPr sz="3000" baseline="14000" dirty="0">
                <a:latin typeface="Cambria Math" panose="02040503050406030204"/>
                <a:cs typeface="Cambria Math" panose="02040503050406030204"/>
              </a:rPr>
              <a:t>=</a:t>
            </a:r>
            <a:r>
              <a:rPr sz="3000" spc="179" baseline="14000" dirty="0">
                <a:latin typeface="Cambria Math" panose="02040503050406030204"/>
                <a:cs typeface="Cambria Math" panose="02040503050406030204"/>
              </a:rPr>
              <a:t> </a:t>
            </a:r>
            <a:r>
              <a:rPr sz="3000" baseline="13000" dirty="0">
                <a:latin typeface="Cambria Math" panose="02040503050406030204"/>
                <a:cs typeface="Cambria Math" panose="02040503050406030204"/>
              </a:rPr>
              <a:t>⋃</a:t>
            </a:r>
            <a:r>
              <a:rPr sz="1500" spc="65" dirty="0">
                <a:latin typeface="Cambria Math" panose="02040503050406030204"/>
                <a:cs typeface="Cambria Math" panose="02040503050406030204"/>
              </a:rPr>
              <a:t>𝑆</a:t>
            </a:r>
            <a:r>
              <a:rPr lang="en-US" sz="1500" spc="65" dirty="0">
                <a:latin typeface="Cambria Math" panose="02040503050406030204"/>
                <a:cs typeface="Cambria Math" panose="02040503050406030204"/>
              </a:rPr>
              <a:t> </a:t>
            </a:r>
            <a:r>
              <a:rPr lang="en-US" sz="1500" spc="5" dirty="0">
                <a:latin typeface="Cambria Math" panose="02040503050406030204"/>
                <a:cs typeface="Cambria Math" panose="02040503050406030204"/>
              </a:rPr>
              <a:t>is a successor of </a:t>
            </a:r>
            <a:r>
              <a:rPr sz="1500" spc="50" dirty="0">
                <a:latin typeface="Cambria Math" panose="02040503050406030204"/>
                <a:cs typeface="Cambria Math" panose="02040503050406030204"/>
              </a:rPr>
              <a:t>𝐵</a:t>
            </a:r>
            <a:r>
              <a:rPr sz="1500" spc="10" dirty="0">
                <a:latin typeface="Cambria Math" panose="02040503050406030204"/>
                <a:cs typeface="Cambria Math" panose="02040503050406030204"/>
              </a:rPr>
              <a:t> </a:t>
            </a:r>
            <a:r>
              <a:rPr sz="3000" baseline="14000" dirty="0">
                <a:latin typeface="Cambria Math" panose="02040503050406030204"/>
                <a:cs typeface="Cambria Math" panose="02040503050406030204"/>
              </a:rPr>
              <a:t>IN</a:t>
            </a:r>
            <a:r>
              <a:rPr sz="3000" spc="-165" baseline="14000" dirty="0">
                <a:latin typeface="Cambria Math" panose="02040503050406030204"/>
                <a:cs typeface="Cambria Math" panose="02040503050406030204"/>
              </a:rPr>
              <a:t> </a:t>
            </a:r>
            <a:r>
              <a:rPr sz="3000" spc="-7" baseline="14000" dirty="0">
                <a:latin typeface="Cambria Math" panose="02040503050406030204"/>
                <a:cs typeface="Cambria Math" panose="02040503050406030204"/>
              </a:rPr>
              <a:t>[</a:t>
            </a:r>
            <a:r>
              <a:rPr sz="3000" spc="60" baseline="14000" dirty="0">
                <a:latin typeface="Cambria Math" panose="02040503050406030204"/>
                <a:cs typeface="Cambria Math" panose="02040503050406030204"/>
              </a:rPr>
              <a:t>𝑆</a:t>
            </a:r>
            <a:r>
              <a:rPr sz="3000" baseline="14000" dirty="0">
                <a:latin typeface="Cambria Math" panose="02040503050406030204"/>
                <a:cs typeface="Cambria Math" panose="02040503050406030204"/>
              </a:rPr>
              <a:t>]</a:t>
            </a:r>
            <a:endParaRPr sz="3000" baseline="14000">
              <a:latin typeface="Cambria Math" panose="02040503050406030204"/>
              <a:cs typeface="Cambria Math" panose="02040503050406030204"/>
            </a:endParaRPr>
          </a:p>
          <a:p>
            <a:pPr marL="281305" indent="-230505">
              <a:lnSpc>
                <a:spcPct val="100000"/>
              </a:lnSpc>
              <a:spcBef>
                <a:spcPts val="2190"/>
              </a:spcBef>
              <a:buFont typeface="Arial MT"/>
              <a:buChar char="•"/>
              <a:tabLst>
                <a:tab pos="281305" algn="l"/>
              </a:tabLst>
            </a:pPr>
            <a:r>
              <a:rPr sz="2400" spc="-5" dirty="0">
                <a:latin typeface="Palatino Linotype" panose="02040502050505030304"/>
                <a:cs typeface="Palatino Linotype" panose="02040502050505030304"/>
              </a:rPr>
              <a:t>Comparing</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to</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reaching</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definitions</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analysis:</a:t>
            </a:r>
            <a:endParaRPr sz="2400">
              <a:latin typeface="Palatino Linotype" panose="02040502050505030304"/>
              <a:cs typeface="Palatino Linotype" panose="02040502050505030304"/>
            </a:endParaRPr>
          </a:p>
          <a:p>
            <a:pPr marL="736600" lvl="1" indent="-228600">
              <a:lnSpc>
                <a:spcPct val="100000"/>
              </a:lnSpc>
              <a:spcBef>
                <a:spcPts val="1530"/>
              </a:spcBef>
              <a:buFont typeface="Wingdings" panose="05000000000000000000"/>
              <a:buChar char=""/>
              <a:tabLst>
                <a:tab pos="736600" algn="l"/>
              </a:tabLst>
            </a:pPr>
            <a:r>
              <a:rPr sz="2000" spc="-5" dirty="0">
                <a:latin typeface="Palatino Linotype" panose="02040502050505030304"/>
                <a:cs typeface="Palatino Linotype" panose="02040502050505030304"/>
              </a:rPr>
              <a:t>Both sets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equations</a:t>
            </a:r>
            <a:r>
              <a:rPr sz="2000" spc="5" dirty="0">
                <a:latin typeface="Palatino Linotype" panose="02040502050505030304"/>
                <a:cs typeface="Palatino Linotype" panose="02040502050505030304"/>
              </a:rPr>
              <a:t> </a:t>
            </a:r>
            <a:r>
              <a:rPr sz="2000" spc="-15" dirty="0">
                <a:latin typeface="Palatino Linotype" panose="02040502050505030304"/>
                <a:cs typeface="Palatino Linotype" panose="02040502050505030304"/>
              </a:rPr>
              <a:t>have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union </a:t>
            </a:r>
            <a:r>
              <a:rPr sz="2000" dirty="0">
                <a:latin typeface="Palatino Linotype" panose="02040502050505030304"/>
                <a:cs typeface="Palatino Linotype" panose="02040502050505030304"/>
              </a:rPr>
              <a:t>as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meet operator</a:t>
            </a:r>
            <a:endParaRPr sz="2000">
              <a:latin typeface="Palatino Linotype" panose="02040502050505030304"/>
              <a:cs typeface="Palatino Linotype" panose="02040502050505030304"/>
            </a:endParaRPr>
          </a:p>
          <a:p>
            <a:pPr marL="736600" lvl="1" indent="-228600">
              <a:lnSpc>
                <a:spcPct val="100000"/>
              </a:lnSpc>
              <a:spcBef>
                <a:spcPts val="1390"/>
              </a:spcBef>
              <a:buFont typeface="Wingdings" panose="05000000000000000000"/>
              <a:buChar char=""/>
              <a:tabLst>
                <a:tab pos="736600" algn="l"/>
              </a:tabLst>
            </a:pPr>
            <a:r>
              <a:rPr sz="2000" spc="-5" dirty="0">
                <a:latin typeface="Palatino Linotype" panose="02040502050505030304"/>
                <a:cs typeface="Palatino Linotype" panose="02040502050505030304"/>
              </a:rPr>
              <a:t>Information flow</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 liveness</a:t>
            </a:r>
            <a:r>
              <a:rPr sz="2000" spc="5"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travels</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“backward”</a:t>
            </a:r>
            <a:endParaRPr sz="2000">
              <a:latin typeface="Palatino Linotype" panose="02040502050505030304"/>
              <a:cs typeface="Palatino Linotype" panose="02040502050505030304"/>
            </a:endParaRPr>
          </a:p>
        </p:txBody>
      </p:sp>
      <p:sp>
        <p:nvSpPr>
          <p:cNvPr id="8" name="object 8"/>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9" name="object 9"/>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0" name="object 10"/>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60</a:t>
            </a:fld>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56260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30" dirty="0"/>
              <a:t> </a:t>
            </a:r>
            <a:r>
              <a:rPr sz="4000" dirty="0"/>
              <a:t>Iterative</a:t>
            </a:r>
            <a:r>
              <a:rPr sz="4000" spc="-25" dirty="0"/>
              <a:t> </a:t>
            </a:r>
            <a:r>
              <a:rPr sz="4000" dirty="0"/>
              <a:t>Algorithm</a:t>
            </a:r>
            <a:endParaRPr sz="4000"/>
          </a:p>
        </p:txBody>
      </p:sp>
      <p:sp>
        <p:nvSpPr>
          <p:cNvPr id="3" name="object 3"/>
          <p:cNvSpPr/>
          <p:nvPr/>
        </p:nvSpPr>
        <p:spPr>
          <a:xfrm>
            <a:off x="2601607" y="2769869"/>
            <a:ext cx="60960" cy="260350"/>
          </a:xfrm>
          <a:custGeom>
            <a:avLst/>
            <a:gdLst/>
            <a:ahLst/>
            <a:cxnLst/>
            <a:rect l="l" t="t" r="r" b="b"/>
            <a:pathLst>
              <a:path w="60960" h="260350">
                <a:moveTo>
                  <a:pt x="60845" y="0"/>
                </a:moveTo>
                <a:lnTo>
                  <a:pt x="0" y="0"/>
                </a:lnTo>
                <a:lnTo>
                  <a:pt x="0" y="10160"/>
                </a:lnTo>
                <a:lnTo>
                  <a:pt x="38201" y="10160"/>
                </a:lnTo>
                <a:lnTo>
                  <a:pt x="38201" y="248920"/>
                </a:lnTo>
                <a:lnTo>
                  <a:pt x="0" y="248920"/>
                </a:lnTo>
                <a:lnTo>
                  <a:pt x="0" y="260350"/>
                </a:lnTo>
                <a:lnTo>
                  <a:pt x="60845" y="260350"/>
                </a:lnTo>
                <a:lnTo>
                  <a:pt x="60845" y="248920"/>
                </a:lnTo>
                <a:lnTo>
                  <a:pt x="60845" y="10160"/>
                </a:lnTo>
                <a:lnTo>
                  <a:pt x="60845" y="0"/>
                </a:lnTo>
                <a:close/>
              </a:path>
            </a:pathLst>
          </a:custGeom>
          <a:solidFill>
            <a:srgbClr val="000000"/>
          </a:solidFill>
        </p:spPr>
        <p:txBody>
          <a:bodyPr wrap="square" lIns="0" tIns="0" rIns="0" bIns="0" rtlCol="0"/>
          <a:lstStyle/>
          <a:p>
            <a:endParaRPr/>
          </a:p>
        </p:txBody>
      </p:sp>
      <p:sp>
        <p:nvSpPr>
          <p:cNvPr id="4" name="object 4"/>
          <p:cNvSpPr/>
          <p:nvPr/>
        </p:nvSpPr>
        <p:spPr>
          <a:xfrm>
            <a:off x="2337422" y="2769869"/>
            <a:ext cx="60960" cy="260350"/>
          </a:xfrm>
          <a:custGeom>
            <a:avLst/>
            <a:gdLst/>
            <a:ahLst/>
            <a:cxnLst/>
            <a:rect l="l" t="t" r="r" b="b"/>
            <a:pathLst>
              <a:path w="60960" h="260350">
                <a:moveTo>
                  <a:pt x="60845" y="0"/>
                </a:moveTo>
                <a:lnTo>
                  <a:pt x="0" y="0"/>
                </a:lnTo>
                <a:lnTo>
                  <a:pt x="0" y="10160"/>
                </a:lnTo>
                <a:lnTo>
                  <a:pt x="0" y="248920"/>
                </a:lnTo>
                <a:lnTo>
                  <a:pt x="0" y="260350"/>
                </a:lnTo>
                <a:lnTo>
                  <a:pt x="60845" y="260350"/>
                </a:lnTo>
                <a:lnTo>
                  <a:pt x="60845" y="248920"/>
                </a:lnTo>
                <a:lnTo>
                  <a:pt x="22644" y="248920"/>
                </a:lnTo>
                <a:lnTo>
                  <a:pt x="22644" y="10160"/>
                </a:lnTo>
                <a:lnTo>
                  <a:pt x="60845" y="10160"/>
                </a:lnTo>
                <a:lnTo>
                  <a:pt x="60845" y="0"/>
                </a:lnTo>
                <a:close/>
              </a:path>
            </a:pathLst>
          </a:custGeom>
          <a:solidFill>
            <a:srgbClr val="000000"/>
          </a:solidFill>
        </p:spPr>
        <p:txBody>
          <a:bodyPr wrap="square" lIns="0" tIns="0" rIns="0" bIns="0" rtlCol="0"/>
          <a:lstStyle/>
          <a:p>
            <a:endParaRPr/>
          </a:p>
        </p:txBody>
      </p:sp>
      <p:sp>
        <p:nvSpPr>
          <p:cNvPr id="5" name="object 5"/>
          <p:cNvSpPr/>
          <p:nvPr/>
        </p:nvSpPr>
        <p:spPr>
          <a:xfrm>
            <a:off x="4130243" y="2769869"/>
            <a:ext cx="60960" cy="260350"/>
          </a:xfrm>
          <a:custGeom>
            <a:avLst/>
            <a:gdLst/>
            <a:ahLst/>
            <a:cxnLst/>
            <a:rect l="l" t="t" r="r" b="b"/>
            <a:pathLst>
              <a:path w="60960" h="260350">
                <a:moveTo>
                  <a:pt x="60845" y="0"/>
                </a:moveTo>
                <a:lnTo>
                  <a:pt x="0" y="0"/>
                </a:lnTo>
                <a:lnTo>
                  <a:pt x="0" y="10160"/>
                </a:lnTo>
                <a:lnTo>
                  <a:pt x="38201" y="10160"/>
                </a:lnTo>
                <a:lnTo>
                  <a:pt x="38201" y="248920"/>
                </a:lnTo>
                <a:lnTo>
                  <a:pt x="0" y="248920"/>
                </a:lnTo>
                <a:lnTo>
                  <a:pt x="0" y="260350"/>
                </a:lnTo>
                <a:lnTo>
                  <a:pt x="60845" y="260350"/>
                </a:lnTo>
                <a:lnTo>
                  <a:pt x="60845" y="248920"/>
                </a:lnTo>
                <a:lnTo>
                  <a:pt x="60845" y="10160"/>
                </a:lnTo>
                <a:lnTo>
                  <a:pt x="60845" y="0"/>
                </a:lnTo>
                <a:close/>
              </a:path>
            </a:pathLst>
          </a:custGeom>
          <a:solidFill>
            <a:srgbClr val="000000"/>
          </a:solidFill>
        </p:spPr>
        <p:txBody>
          <a:bodyPr wrap="square" lIns="0" tIns="0" rIns="0" bIns="0" rtlCol="0"/>
          <a:lstStyle/>
          <a:p>
            <a:endParaRPr/>
          </a:p>
        </p:txBody>
      </p:sp>
      <p:sp>
        <p:nvSpPr>
          <p:cNvPr id="6" name="object 6"/>
          <p:cNvSpPr/>
          <p:nvPr/>
        </p:nvSpPr>
        <p:spPr>
          <a:xfrm>
            <a:off x="3866057" y="2769869"/>
            <a:ext cx="60960" cy="260350"/>
          </a:xfrm>
          <a:custGeom>
            <a:avLst/>
            <a:gdLst/>
            <a:ahLst/>
            <a:cxnLst/>
            <a:rect l="l" t="t" r="r" b="b"/>
            <a:pathLst>
              <a:path w="60960" h="260350">
                <a:moveTo>
                  <a:pt x="60845" y="0"/>
                </a:moveTo>
                <a:lnTo>
                  <a:pt x="0" y="0"/>
                </a:lnTo>
                <a:lnTo>
                  <a:pt x="0" y="10160"/>
                </a:lnTo>
                <a:lnTo>
                  <a:pt x="0" y="248920"/>
                </a:lnTo>
                <a:lnTo>
                  <a:pt x="0" y="260350"/>
                </a:lnTo>
                <a:lnTo>
                  <a:pt x="60845" y="260350"/>
                </a:lnTo>
                <a:lnTo>
                  <a:pt x="60845" y="248920"/>
                </a:lnTo>
                <a:lnTo>
                  <a:pt x="22644" y="248920"/>
                </a:lnTo>
                <a:lnTo>
                  <a:pt x="22644" y="10160"/>
                </a:lnTo>
                <a:lnTo>
                  <a:pt x="60845" y="10160"/>
                </a:lnTo>
                <a:lnTo>
                  <a:pt x="60845" y="0"/>
                </a:lnTo>
                <a:close/>
              </a:path>
            </a:pathLst>
          </a:custGeom>
          <a:solidFill>
            <a:srgbClr val="000000"/>
          </a:solidFill>
        </p:spPr>
        <p:txBody>
          <a:bodyPr wrap="square" lIns="0" tIns="0" rIns="0" bIns="0" rtlCol="0"/>
          <a:lstStyle/>
          <a:p>
            <a:endParaRPr/>
          </a:p>
        </p:txBody>
      </p:sp>
      <p:sp>
        <p:nvSpPr>
          <p:cNvPr id="7" name="object 7"/>
          <p:cNvSpPr txBox="1"/>
          <p:nvPr/>
        </p:nvSpPr>
        <p:spPr>
          <a:xfrm>
            <a:off x="694690" y="1600708"/>
            <a:ext cx="7592059" cy="1445895"/>
          </a:xfrm>
          <a:prstGeom prst="rect">
            <a:avLst/>
          </a:prstGeom>
        </p:spPr>
        <p:txBody>
          <a:bodyPr vert="horz" wrap="square" lIns="0" tIns="12700" rIns="0" bIns="0" rtlCol="0">
            <a:spAutoFit/>
          </a:bodyPr>
          <a:lstStyle/>
          <a:p>
            <a:pPr marL="255270" marR="17780" indent="-230505">
              <a:lnSpc>
                <a:spcPct val="117000"/>
              </a:lnSpc>
              <a:spcBef>
                <a:spcPts val="100"/>
              </a:spcBef>
              <a:buClr>
                <a:srgbClr val="000000"/>
              </a:buClr>
              <a:buFont typeface="Arial MT"/>
              <a:buChar char="•"/>
              <a:tabLst>
                <a:tab pos="255270" algn="l"/>
                <a:tab pos="255270" algn="l"/>
              </a:tabLst>
            </a:pPr>
            <a:r>
              <a:rPr sz="2200" b="1" dirty="0">
                <a:solidFill>
                  <a:srgbClr val="0432FF"/>
                </a:solidFill>
                <a:latin typeface="Palatino Linotype" panose="02040502050505030304"/>
                <a:cs typeface="Palatino Linotype" panose="02040502050505030304"/>
              </a:rPr>
              <a:t>Input:</a:t>
            </a:r>
            <a:r>
              <a:rPr sz="2200" b="1" spc="-5" dirty="0">
                <a:solidFill>
                  <a:srgbClr val="0432FF"/>
                </a:solidFill>
                <a:latin typeface="Palatino Linotype" panose="02040502050505030304"/>
                <a:cs typeface="Palatino Linotype" panose="02040502050505030304"/>
              </a:rPr>
              <a:t> </a:t>
            </a:r>
            <a:r>
              <a:rPr sz="2200" dirty="0">
                <a:latin typeface="Palatino Linotype" panose="02040502050505030304"/>
                <a:cs typeface="Palatino Linotype" panose="02040502050505030304"/>
              </a:rPr>
              <a:t>A</a:t>
            </a:r>
            <a:r>
              <a:rPr sz="2200" spc="-12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flow</a:t>
            </a:r>
            <a:r>
              <a:rPr sz="2200" dirty="0">
                <a:latin typeface="Palatino Linotype" panose="02040502050505030304"/>
                <a:cs typeface="Palatino Linotype" panose="02040502050505030304"/>
              </a:rPr>
              <a:t> graph</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with</a:t>
            </a:r>
            <a:r>
              <a:rPr sz="2200" spc="-10" dirty="0">
                <a:latin typeface="Palatino Linotype" panose="02040502050505030304"/>
                <a:cs typeface="Palatino Linotype" panose="02040502050505030304"/>
              </a:rPr>
              <a:t> </a:t>
            </a:r>
            <a:r>
              <a:rPr sz="2200" spc="-5" dirty="0">
                <a:latin typeface="Cambria Math" panose="02040503050406030204"/>
                <a:cs typeface="Cambria Math" panose="02040503050406030204"/>
              </a:rPr>
              <a:t>𝑑𝑒𝑓</a:t>
            </a:r>
            <a:r>
              <a:rPr sz="2250" spc="-7" baseline="-19000" dirty="0">
                <a:latin typeface="Cambria Math" panose="02040503050406030204"/>
                <a:cs typeface="Cambria Math" panose="02040503050406030204"/>
              </a:rPr>
              <a:t>𝐵</a:t>
            </a:r>
            <a:r>
              <a:rPr sz="2250" spc="382" baseline="-19000" dirty="0">
                <a:latin typeface="Cambria Math" panose="02040503050406030204"/>
                <a:cs typeface="Cambria Math" panose="02040503050406030204"/>
              </a:rPr>
              <a:t> </a:t>
            </a:r>
            <a:r>
              <a:rPr sz="2200" spc="-5" dirty="0">
                <a:latin typeface="Palatino Linotype" panose="02040502050505030304"/>
                <a:cs typeface="Palatino Linotype" panose="02040502050505030304"/>
              </a:rPr>
              <a:t>and</a:t>
            </a:r>
            <a:r>
              <a:rPr sz="2200" dirty="0">
                <a:latin typeface="Palatino Linotype" panose="02040502050505030304"/>
                <a:cs typeface="Palatino Linotype" panose="02040502050505030304"/>
              </a:rPr>
              <a:t> </a:t>
            </a:r>
            <a:r>
              <a:rPr sz="2200" spc="-5" dirty="0">
                <a:latin typeface="Cambria Math" panose="02040503050406030204"/>
                <a:cs typeface="Cambria Math" panose="02040503050406030204"/>
              </a:rPr>
              <a:t>𝑢𝑠𝑒</a:t>
            </a:r>
            <a:r>
              <a:rPr sz="2250" spc="-7" baseline="-19000" dirty="0">
                <a:latin typeface="Cambria Math" panose="02040503050406030204"/>
                <a:cs typeface="Cambria Math" panose="02040503050406030204"/>
              </a:rPr>
              <a:t>𝐵</a:t>
            </a:r>
            <a:r>
              <a:rPr sz="2250" spc="97" baseline="-19000" dirty="0">
                <a:latin typeface="Cambria Math" panose="02040503050406030204"/>
                <a:cs typeface="Cambria Math" panose="02040503050406030204"/>
              </a:rPr>
              <a:t> </a:t>
            </a:r>
            <a:r>
              <a:rPr sz="2200" spc="-5" dirty="0">
                <a:latin typeface="Palatino Linotype" panose="02040502050505030304"/>
                <a:cs typeface="Palatino Linotype" panose="02040502050505030304"/>
              </a:rPr>
              <a:t>computed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block </a:t>
            </a:r>
            <a:r>
              <a:rPr sz="2200" dirty="0">
                <a:latin typeface="Cambria Math" panose="02040503050406030204"/>
                <a:cs typeface="Cambria Math" panose="02040503050406030204"/>
              </a:rPr>
              <a:t>𝐵</a:t>
            </a:r>
            <a:endParaRPr sz="2200">
              <a:latin typeface="Cambria Math" panose="02040503050406030204"/>
              <a:cs typeface="Cambria Math" panose="02040503050406030204"/>
            </a:endParaRPr>
          </a:p>
          <a:p>
            <a:pPr marL="255905" indent="-230505">
              <a:lnSpc>
                <a:spcPct val="100000"/>
              </a:lnSpc>
              <a:spcBef>
                <a:spcPts val="2350"/>
              </a:spcBef>
              <a:buClr>
                <a:srgbClr val="000000"/>
              </a:buClr>
              <a:buFont typeface="Arial MT"/>
              <a:buChar char="•"/>
              <a:tabLst>
                <a:tab pos="255270" algn="l"/>
                <a:tab pos="255270" algn="l"/>
                <a:tab pos="2068195" algn="l"/>
                <a:tab pos="3597275" algn="l"/>
              </a:tabLst>
            </a:pPr>
            <a:r>
              <a:rPr sz="2200" b="1" dirty="0">
                <a:solidFill>
                  <a:srgbClr val="0432FF"/>
                </a:solidFill>
                <a:latin typeface="Palatino Linotype" panose="02040502050505030304"/>
                <a:cs typeface="Palatino Linotype" panose="02040502050505030304"/>
              </a:rPr>
              <a:t>Output: </a:t>
            </a:r>
            <a:r>
              <a:rPr sz="2200" spc="-5" dirty="0">
                <a:latin typeface="Cambria Math" panose="02040503050406030204"/>
                <a:cs typeface="Cambria Math" panose="02040503050406030204"/>
              </a:rPr>
              <a:t>IN</a:t>
            </a:r>
            <a:r>
              <a:rPr sz="2200" spc="290" dirty="0">
                <a:latin typeface="Cambria Math" panose="02040503050406030204"/>
                <a:cs typeface="Cambria Math" panose="02040503050406030204"/>
              </a:rPr>
              <a:t> </a:t>
            </a:r>
            <a:r>
              <a:rPr sz="2200" dirty="0">
                <a:latin typeface="Cambria Math" panose="02040503050406030204"/>
                <a:cs typeface="Cambria Math" panose="02040503050406030204"/>
              </a:rPr>
              <a:t>𝐵	</a:t>
            </a:r>
            <a:r>
              <a:rPr sz="2200" spc="-5" dirty="0">
                <a:latin typeface="Palatino Linotype" panose="02040502050505030304"/>
                <a:cs typeface="Palatino Linotype" panose="02040502050505030304"/>
              </a:rPr>
              <a:t>and</a:t>
            </a:r>
            <a:r>
              <a:rPr sz="2200" spc="10" dirty="0">
                <a:latin typeface="Palatino Linotype" panose="02040502050505030304"/>
                <a:cs typeface="Palatino Linotype" panose="02040502050505030304"/>
              </a:rPr>
              <a:t> </a:t>
            </a:r>
            <a:r>
              <a:rPr sz="2200" spc="-5" dirty="0">
                <a:latin typeface="Cambria Math" panose="02040503050406030204"/>
                <a:cs typeface="Cambria Math" panose="02040503050406030204"/>
              </a:rPr>
              <a:t>OUT</a:t>
            </a:r>
            <a:r>
              <a:rPr sz="2200" spc="285" dirty="0">
                <a:latin typeface="Cambria Math" panose="02040503050406030204"/>
                <a:cs typeface="Cambria Math" panose="02040503050406030204"/>
              </a:rPr>
              <a:t> </a:t>
            </a:r>
            <a:r>
              <a:rPr sz="2200" dirty="0">
                <a:latin typeface="Cambria Math" panose="02040503050406030204"/>
                <a:cs typeface="Cambria Math" panose="02040503050406030204"/>
              </a:rPr>
              <a:t>𝐵	</a:t>
            </a:r>
            <a:r>
              <a:rPr sz="2200" spc="-5" dirty="0">
                <a:latin typeface="Palatino Linotype" panose="02040502050505030304"/>
                <a:cs typeface="Palatino Linotype" panose="02040502050505030304"/>
              </a:rPr>
              <a:t>for</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a:t>
            </a:r>
            <a:r>
              <a:rPr sz="2200" spc="-2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block</a:t>
            </a:r>
            <a:r>
              <a:rPr sz="2200" spc="-20" dirty="0">
                <a:latin typeface="Palatino Linotype" panose="02040502050505030304"/>
                <a:cs typeface="Palatino Linotype" panose="02040502050505030304"/>
              </a:rPr>
              <a:t> </a:t>
            </a:r>
            <a:r>
              <a:rPr sz="2200" dirty="0">
                <a:latin typeface="Cambria Math" panose="02040503050406030204"/>
                <a:cs typeface="Cambria Math" panose="02040503050406030204"/>
              </a:rPr>
              <a:t>𝐵</a:t>
            </a:r>
            <a:endParaRPr sz="2200">
              <a:latin typeface="Cambria Math" panose="02040503050406030204"/>
              <a:cs typeface="Cambria Math" panose="02040503050406030204"/>
            </a:endParaRPr>
          </a:p>
        </p:txBody>
      </p:sp>
      <p:pic>
        <p:nvPicPr>
          <p:cNvPr id="8" name="object 8"/>
          <p:cNvPicPr/>
          <p:nvPr/>
        </p:nvPicPr>
        <p:blipFill>
          <a:blip r:embed="rId3" cstate="print"/>
          <a:stretch>
            <a:fillRect/>
          </a:stretch>
        </p:blipFill>
        <p:spPr>
          <a:xfrm>
            <a:off x="1886485" y="3452159"/>
            <a:ext cx="5403580" cy="2007352"/>
          </a:xfrm>
          <a:prstGeom prst="rect">
            <a:avLst/>
          </a:prstGeom>
        </p:spPr>
      </p:pic>
      <p:sp>
        <p:nvSpPr>
          <p:cNvPr id="9" name="object 9"/>
          <p:cNvSpPr txBox="1"/>
          <p:nvPr/>
        </p:nvSpPr>
        <p:spPr>
          <a:xfrm>
            <a:off x="707390" y="5692140"/>
            <a:ext cx="7713980" cy="455295"/>
          </a:xfrm>
          <a:prstGeom prst="rect">
            <a:avLst/>
          </a:prstGeom>
        </p:spPr>
        <p:txBody>
          <a:bodyPr vert="horz" wrap="square" lIns="0" tIns="9525" rIns="0" bIns="0" rtlCol="0">
            <a:spAutoFit/>
          </a:bodyPr>
          <a:lstStyle/>
          <a:p>
            <a:pPr marL="12700" marR="5080">
              <a:lnSpc>
                <a:spcPct val="101000"/>
              </a:lnSpc>
              <a:spcBef>
                <a:spcPts val="75"/>
              </a:spcBef>
            </a:pPr>
            <a:r>
              <a:rPr sz="1400" dirty="0">
                <a:solidFill>
                  <a:srgbClr val="A6A6A6"/>
                </a:solidFill>
                <a:latin typeface="Palatino Linotype" panose="02040502050505030304"/>
                <a:cs typeface="Palatino Linotype" panose="02040502050505030304"/>
              </a:rPr>
              <a:t>Similar</a:t>
            </a:r>
            <a:r>
              <a:rPr sz="1400" spc="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to</a:t>
            </a:r>
            <a:r>
              <a:rPr sz="1400" spc="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the</a:t>
            </a:r>
            <a:r>
              <a:rPr sz="1400" spc="1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iterative</a:t>
            </a:r>
            <a:r>
              <a:rPr sz="1400" spc="1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algorithm</a:t>
            </a:r>
            <a:r>
              <a:rPr sz="1400" spc="1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for</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reaching</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definitions</a:t>
            </a:r>
            <a:r>
              <a:rPr sz="140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analysis,</a:t>
            </a:r>
            <a:r>
              <a:rPr sz="1400" spc="1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IN[B]</a:t>
            </a:r>
            <a:r>
              <a:rPr sz="1400" spc="10" dirty="0">
                <a:solidFill>
                  <a:srgbClr val="A6A6A6"/>
                </a:solidFill>
                <a:latin typeface="Palatino Linotype" panose="02040502050505030304"/>
                <a:cs typeface="Palatino Linotype" panose="02040502050505030304"/>
              </a:rPr>
              <a:t> </a:t>
            </a:r>
            <a:r>
              <a:rPr sz="1400" spc="-10" dirty="0">
                <a:solidFill>
                  <a:srgbClr val="A6A6A6"/>
                </a:solidFill>
                <a:latin typeface="Palatino Linotype" panose="02040502050505030304"/>
                <a:cs typeface="Palatino Linotype" panose="02040502050505030304"/>
              </a:rPr>
              <a:t>never</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shrinks</a:t>
            </a:r>
            <a:r>
              <a:rPr sz="140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and</a:t>
            </a:r>
            <a:r>
              <a:rPr sz="1400" dirty="0">
                <a:solidFill>
                  <a:srgbClr val="A6A6A6"/>
                </a:solidFill>
                <a:latin typeface="Palatino Linotype" panose="02040502050505030304"/>
                <a:cs typeface="Palatino Linotype" panose="02040502050505030304"/>
              </a:rPr>
              <a:t> its </a:t>
            </a:r>
            <a:r>
              <a:rPr sz="1400" spc="-5" dirty="0">
                <a:solidFill>
                  <a:srgbClr val="A6A6A6"/>
                </a:solidFill>
                <a:latin typeface="Palatino Linotype" panose="02040502050505030304"/>
                <a:cs typeface="Palatino Linotype" panose="02040502050505030304"/>
              </a:rPr>
              <a:t>size </a:t>
            </a:r>
            <a:r>
              <a:rPr sz="1400" spc="-33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is</a:t>
            </a:r>
            <a:r>
              <a:rPr sz="1400" spc="-1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bounded,</a:t>
            </a:r>
            <a:r>
              <a:rPr sz="1400"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so </a:t>
            </a:r>
            <a:r>
              <a:rPr sz="1400" dirty="0">
                <a:solidFill>
                  <a:srgbClr val="A6A6A6"/>
                </a:solidFill>
                <a:latin typeface="Palatino Linotype" panose="02040502050505030304"/>
                <a:cs typeface="Palatino Linotype" panose="02040502050505030304"/>
              </a:rPr>
              <a:t>the </a:t>
            </a:r>
            <a:r>
              <a:rPr sz="1400" spc="-5" dirty="0">
                <a:solidFill>
                  <a:srgbClr val="A6A6A6"/>
                </a:solidFill>
                <a:latin typeface="Palatino Linotype" panose="02040502050505030304"/>
                <a:cs typeface="Palatino Linotype" panose="02040502050505030304"/>
              </a:rPr>
              <a:t>algorithm</a:t>
            </a:r>
            <a:r>
              <a:rPr sz="1400" dirty="0">
                <a:solidFill>
                  <a:srgbClr val="A6A6A6"/>
                </a:solidFill>
                <a:latin typeface="Palatino Linotype" panose="02040502050505030304"/>
                <a:cs typeface="Palatino Linotype" panose="02040502050505030304"/>
              </a:rPr>
              <a:t> will</a:t>
            </a:r>
            <a:r>
              <a:rPr sz="1400" spc="5" dirty="0">
                <a:solidFill>
                  <a:srgbClr val="A6A6A6"/>
                </a:solidFill>
                <a:latin typeface="Palatino Linotype" panose="02040502050505030304"/>
                <a:cs typeface="Palatino Linotype" panose="02040502050505030304"/>
              </a:rPr>
              <a:t> </a:t>
            </a:r>
            <a:r>
              <a:rPr sz="1400" spc="-5" dirty="0">
                <a:solidFill>
                  <a:srgbClr val="A6A6A6"/>
                </a:solidFill>
                <a:latin typeface="Palatino Linotype" panose="02040502050505030304"/>
                <a:cs typeface="Palatino Linotype" panose="02040502050505030304"/>
              </a:rPr>
              <a:t>eventually </a:t>
            </a:r>
            <a:r>
              <a:rPr sz="1400" dirty="0">
                <a:solidFill>
                  <a:srgbClr val="A6A6A6"/>
                </a:solidFill>
                <a:latin typeface="Palatino Linotype" panose="02040502050505030304"/>
                <a:cs typeface="Palatino Linotype" panose="02040502050505030304"/>
              </a:rPr>
              <a:t>halt.</a:t>
            </a:r>
            <a:endParaRPr sz="1400">
              <a:latin typeface="Palatino Linotype" panose="02040502050505030304"/>
              <a:cs typeface="Palatino Linotype" panose="02040502050505030304"/>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61</a:t>
            </a:fld>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pic>
        <p:nvPicPr>
          <p:cNvPr id="3" name="object 3"/>
          <p:cNvPicPr/>
          <p:nvPr/>
        </p:nvPicPr>
        <p:blipFill>
          <a:blip r:embed="rId2" cstate="print"/>
          <a:stretch>
            <a:fillRect/>
          </a:stretch>
        </p:blipFill>
        <p:spPr>
          <a:xfrm>
            <a:off x="1149156" y="1774906"/>
            <a:ext cx="5548782" cy="3324604"/>
          </a:xfrm>
          <a:prstGeom prst="rect">
            <a:avLst/>
          </a:prstGeom>
        </p:spPr>
      </p:pic>
      <p:sp>
        <p:nvSpPr>
          <p:cNvPr id="4" name="object 4"/>
          <p:cNvSpPr txBox="1"/>
          <p:nvPr/>
        </p:nvSpPr>
        <p:spPr>
          <a:xfrm>
            <a:off x="2914655" y="5875020"/>
            <a:ext cx="3281045" cy="23876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A6A6A6"/>
                </a:solidFill>
                <a:latin typeface="Palatino Linotype" panose="02040502050505030304"/>
                <a:cs typeface="Palatino Linotype" panose="02040502050505030304"/>
              </a:rPr>
              <a:t>https://</a:t>
            </a:r>
            <a:r>
              <a:rPr sz="1400" spc="-5" dirty="0">
                <a:solidFill>
                  <a:srgbClr val="A6A6A6"/>
                </a:solidFill>
                <a:latin typeface="Palatino Linotype" panose="02040502050505030304"/>
                <a:cs typeface="Palatino Linotype" panose="02040502050505030304"/>
                <a:hlinkClick r:id="rId3"/>
              </a:rPr>
              <a:t>www.jianshu.com/p/ebc1c72b881c</a:t>
            </a:r>
            <a:endParaRPr sz="1400">
              <a:latin typeface="Palatino Linotype" panose="02040502050505030304"/>
              <a:cs typeface="Palatino Linotype" panose="02040502050505030304"/>
            </a:endParaRPr>
          </a:p>
        </p:txBody>
      </p:sp>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62</a:t>
            </a:fld>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grpSp>
        <p:nvGrpSpPr>
          <p:cNvPr id="3" name="object 3"/>
          <p:cNvGrpSpPr/>
          <p:nvPr/>
        </p:nvGrpSpPr>
        <p:grpSpPr>
          <a:xfrm>
            <a:off x="720386" y="1635283"/>
            <a:ext cx="7466330" cy="4216400"/>
            <a:chOff x="720386" y="1635283"/>
            <a:chExt cx="7466330" cy="4216400"/>
          </a:xfrm>
        </p:grpSpPr>
        <p:pic>
          <p:nvPicPr>
            <p:cNvPr id="4" name="object 4"/>
            <p:cNvPicPr/>
            <p:nvPr/>
          </p:nvPicPr>
          <p:blipFill>
            <a:blip r:embed="rId2" cstate="print"/>
            <a:stretch>
              <a:fillRect/>
            </a:stretch>
          </p:blipFill>
          <p:spPr>
            <a:xfrm>
              <a:off x="720386" y="1635283"/>
              <a:ext cx="7465826" cy="4216241"/>
            </a:xfrm>
            <a:prstGeom prst="rect">
              <a:avLst/>
            </a:prstGeom>
          </p:spPr>
        </p:pic>
        <p:sp>
          <p:nvSpPr>
            <p:cNvPr id="5" name="object 5"/>
            <p:cNvSpPr/>
            <p:nvPr/>
          </p:nvSpPr>
          <p:spPr>
            <a:xfrm>
              <a:off x="7043736" y="4243388"/>
              <a:ext cx="71120" cy="169545"/>
            </a:xfrm>
            <a:custGeom>
              <a:avLst/>
              <a:gdLst/>
              <a:ahLst/>
              <a:cxnLst/>
              <a:rect l="l" t="t" r="r" b="b"/>
              <a:pathLst>
                <a:path w="71120" h="169545">
                  <a:moveTo>
                    <a:pt x="70531" y="0"/>
                  </a:moveTo>
                  <a:lnTo>
                    <a:pt x="0" y="0"/>
                  </a:lnTo>
                  <a:lnTo>
                    <a:pt x="0" y="169277"/>
                  </a:lnTo>
                  <a:lnTo>
                    <a:pt x="70531" y="169277"/>
                  </a:lnTo>
                  <a:lnTo>
                    <a:pt x="70531" y="0"/>
                  </a:lnTo>
                  <a:close/>
                </a:path>
              </a:pathLst>
            </a:custGeom>
            <a:solidFill>
              <a:srgbClr val="B5CEF0"/>
            </a:solidFill>
          </p:spPr>
          <p:txBody>
            <a:bodyPr wrap="square" lIns="0" tIns="0" rIns="0" bIns="0" rtlCol="0"/>
            <a:lstStyle/>
            <a:p>
              <a:endParaRPr/>
            </a:p>
          </p:txBody>
        </p:sp>
      </p:grpSp>
      <p:sp>
        <p:nvSpPr>
          <p:cNvPr id="6" name="object 6"/>
          <p:cNvSpPr txBox="1"/>
          <p:nvPr/>
        </p:nvSpPr>
        <p:spPr>
          <a:xfrm>
            <a:off x="7031035" y="4218432"/>
            <a:ext cx="95250" cy="193040"/>
          </a:xfrm>
          <a:prstGeom prst="rect">
            <a:avLst/>
          </a:prstGeom>
        </p:spPr>
        <p:txBody>
          <a:bodyPr vert="horz" wrap="square" lIns="0" tIns="12700" rIns="0" bIns="0" rtlCol="0">
            <a:spAutoFit/>
          </a:bodyPr>
          <a:lstStyle/>
          <a:p>
            <a:pPr marL="12700">
              <a:lnSpc>
                <a:spcPct val="100000"/>
              </a:lnSpc>
              <a:spcBef>
                <a:spcPts val="100"/>
              </a:spcBef>
            </a:pPr>
            <a:r>
              <a:rPr sz="1100" b="1" i="1" dirty="0">
                <a:latin typeface="Palatino Linotype" panose="02040502050505030304"/>
                <a:cs typeface="Palatino Linotype" panose="02040502050505030304"/>
              </a:rPr>
              <a:t>3</a:t>
            </a:r>
            <a:endParaRPr sz="1100">
              <a:latin typeface="Palatino Linotype" panose="02040502050505030304"/>
              <a:cs typeface="Palatino Linotype" panose="02040502050505030304"/>
            </a:endParaRPr>
          </a:p>
        </p:txBody>
      </p:sp>
      <p:sp>
        <p:nvSpPr>
          <p:cNvPr id="7" name="object 7"/>
          <p:cNvSpPr/>
          <p:nvPr/>
        </p:nvSpPr>
        <p:spPr>
          <a:xfrm>
            <a:off x="7867648" y="4252908"/>
            <a:ext cx="71120" cy="169545"/>
          </a:xfrm>
          <a:custGeom>
            <a:avLst/>
            <a:gdLst/>
            <a:ahLst/>
            <a:cxnLst/>
            <a:rect l="l" t="t" r="r" b="b"/>
            <a:pathLst>
              <a:path w="71120" h="169545">
                <a:moveTo>
                  <a:pt x="70531" y="0"/>
                </a:moveTo>
                <a:lnTo>
                  <a:pt x="0" y="0"/>
                </a:lnTo>
                <a:lnTo>
                  <a:pt x="0" y="169277"/>
                </a:lnTo>
                <a:lnTo>
                  <a:pt x="70531" y="169277"/>
                </a:lnTo>
                <a:lnTo>
                  <a:pt x="70531" y="0"/>
                </a:lnTo>
                <a:close/>
              </a:path>
            </a:pathLst>
          </a:custGeom>
          <a:solidFill>
            <a:srgbClr val="B5CEF0"/>
          </a:solidFill>
        </p:spPr>
        <p:txBody>
          <a:bodyPr wrap="square" lIns="0" tIns="0" rIns="0" bIns="0" rtlCol="0"/>
          <a:lstStyle/>
          <a:p>
            <a:endParaRPr/>
          </a:p>
        </p:txBody>
      </p:sp>
      <p:sp>
        <p:nvSpPr>
          <p:cNvPr id="8" name="object 8"/>
          <p:cNvSpPr txBox="1"/>
          <p:nvPr/>
        </p:nvSpPr>
        <p:spPr>
          <a:xfrm>
            <a:off x="7854948" y="4227576"/>
            <a:ext cx="95250" cy="193040"/>
          </a:xfrm>
          <a:prstGeom prst="rect">
            <a:avLst/>
          </a:prstGeom>
        </p:spPr>
        <p:txBody>
          <a:bodyPr vert="horz" wrap="square" lIns="0" tIns="12700" rIns="0" bIns="0" rtlCol="0">
            <a:spAutoFit/>
          </a:bodyPr>
          <a:lstStyle/>
          <a:p>
            <a:pPr marL="12700">
              <a:lnSpc>
                <a:spcPct val="100000"/>
              </a:lnSpc>
              <a:spcBef>
                <a:spcPts val="100"/>
              </a:spcBef>
            </a:pPr>
            <a:r>
              <a:rPr sz="1100" b="1" i="1" dirty="0">
                <a:latin typeface="Palatino Linotype" panose="02040502050505030304"/>
                <a:cs typeface="Palatino Linotype" panose="02040502050505030304"/>
              </a:rPr>
              <a:t>3</a:t>
            </a:r>
            <a:endParaRPr sz="1100">
              <a:latin typeface="Palatino Linotype" panose="02040502050505030304"/>
              <a:cs typeface="Palatino Linotype" panose="02040502050505030304"/>
            </a:endParaRPr>
          </a:p>
        </p:txBody>
      </p:sp>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63</a:t>
            </a:fld>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z="4000" spc="5" dirty="0"/>
              <a:t>O</a:t>
            </a:r>
            <a:r>
              <a:rPr sz="4000" spc="-10" dirty="0"/>
              <a:t>u</a:t>
            </a:r>
            <a:r>
              <a:rPr sz="4000" spc="5" dirty="0"/>
              <a:t>tli</a:t>
            </a:r>
            <a:r>
              <a:rPr sz="4000" spc="-10" dirty="0"/>
              <a:t>n</a:t>
            </a:r>
            <a:r>
              <a:rPr sz="4000" dirty="0"/>
              <a:t>e</a:t>
            </a:r>
            <a:endParaRPr sz="40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Lst>
            </a:pPr>
            <a:r>
              <a:rPr spc="-10" dirty="0"/>
              <a:t>Introduction</a:t>
            </a:r>
          </a:p>
          <a:p>
            <a:pPr>
              <a:lnSpc>
                <a:spcPct val="100000"/>
              </a:lnSpc>
              <a:spcBef>
                <a:spcPts val="5"/>
              </a:spcBef>
              <a:buFont typeface="Arial MT"/>
              <a:buChar char="•"/>
            </a:pPr>
            <a:endParaRPr sz="3800"/>
          </a:p>
          <a:p>
            <a:pPr marL="243205" indent="-230505">
              <a:lnSpc>
                <a:spcPct val="100000"/>
              </a:lnSpc>
              <a:spcBef>
                <a:spcPts val="5"/>
              </a:spcBef>
              <a:buClr>
                <a:srgbClr val="000000"/>
              </a:buClr>
              <a:buFont typeface="Arial MT"/>
              <a:buChar char="•"/>
              <a:tabLst>
                <a:tab pos="242570" algn="l"/>
              </a:tabLst>
            </a:pPr>
            <a:r>
              <a:rPr spc="-5" dirty="0"/>
              <a:t>The</a:t>
            </a:r>
            <a:r>
              <a:rPr spc="-20" dirty="0"/>
              <a:t> </a:t>
            </a:r>
            <a:r>
              <a:rPr spc="-5" dirty="0"/>
              <a:t>Principal</a:t>
            </a:r>
            <a:r>
              <a:rPr spc="-15" dirty="0"/>
              <a:t> </a:t>
            </a:r>
            <a:r>
              <a:rPr spc="-5" dirty="0"/>
              <a:t>Sources</a:t>
            </a:r>
            <a:r>
              <a:rPr spc="-10" dirty="0"/>
              <a:t> </a:t>
            </a:r>
            <a:r>
              <a:rPr spc="-5" dirty="0"/>
              <a:t>of Optimization</a:t>
            </a:r>
          </a:p>
          <a:p>
            <a:pPr>
              <a:lnSpc>
                <a:spcPct val="100000"/>
              </a:lnSpc>
              <a:spcBef>
                <a:spcPts val="45"/>
              </a:spcBef>
              <a:buFont typeface="Arial MT"/>
              <a:buChar char="•"/>
            </a:pPr>
            <a:endParaRPr sz="3700"/>
          </a:p>
          <a:p>
            <a:pPr marL="243205" indent="-230505">
              <a:lnSpc>
                <a:spcPct val="100000"/>
              </a:lnSpc>
              <a:buClr>
                <a:srgbClr val="000000"/>
              </a:buClr>
              <a:buFont typeface="Arial MT"/>
              <a:buChar char="•"/>
              <a:tabLst>
                <a:tab pos="242570" algn="l"/>
              </a:tabLst>
            </a:pPr>
            <a:r>
              <a:rPr spc="-10" dirty="0"/>
              <a:t>Introduction</a:t>
            </a:r>
            <a:r>
              <a:rPr spc="-5" dirty="0"/>
              <a:t> to</a:t>
            </a:r>
            <a:r>
              <a:rPr dirty="0"/>
              <a:t> </a:t>
            </a:r>
            <a:r>
              <a:rPr spc="-5" dirty="0"/>
              <a:t>Data-Flow</a:t>
            </a:r>
            <a:r>
              <a:rPr spc="-95" dirty="0"/>
              <a:t> </a:t>
            </a:r>
            <a:r>
              <a:rPr spc="-5" dirty="0"/>
              <a:t>Analysis</a:t>
            </a:r>
          </a:p>
          <a:p>
            <a:pPr marL="5133975">
              <a:lnSpc>
                <a:spcPct val="100000"/>
              </a:lnSpc>
              <a:spcBef>
                <a:spcPts val="1825"/>
              </a:spcBef>
            </a:pPr>
            <a:r>
              <a:rPr sz="2200" spc="-5" dirty="0"/>
              <a:t>Reaching</a:t>
            </a:r>
            <a:r>
              <a:rPr sz="2200" spc="-75" dirty="0"/>
              <a:t> </a:t>
            </a:r>
            <a:r>
              <a:rPr sz="2200" spc="-5" dirty="0"/>
              <a:t>Definitions</a:t>
            </a:r>
            <a:endParaRPr sz="2200"/>
          </a:p>
        </p:txBody>
      </p:sp>
      <p:sp>
        <p:nvSpPr>
          <p:cNvPr id="4" name="object 4"/>
          <p:cNvSpPr txBox="1"/>
          <p:nvPr/>
        </p:nvSpPr>
        <p:spPr>
          <a:xfrm>
            <a:off x="707390" y="5041900"/>
            <a:ext cx="4669155" cy="4521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800" spc="-5" dirty="0">
                <a:latin typeface="Palatino Linotype" panose="02040502050505030304"/>
                <a:cs typeface="Palatino Linotype" panose="02040502050505030304"/>
              </a:rPr>
              <a:t>Classic</a:t>
            </a:r>
            <a:r>
              <a:rPr sz="2800" spc="-30"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Data-Flow</a:t>
            </a:r>
            <a:r>
              <a:rPr sz="2800" spc="-15" dirty="0">
                <a:latin typeface="Palatino Linotype" panose="02040502050505030304"/>
                <a:cs typeface="Palatino Linotype" panose="02040502050505030304"/>
              </a:rPr>
              <a:t> </a:t>
            </a:r>
            <a:r>
              <a:rPr sz="2800" spc="-5" dirty="0">
                <a:latin typeface="Palatino Linotype" panose="02040502050505030304"/>
                <a:cs typeface="Palatino Linotype" panose="02040502050505030304"/>
              </a:rPr>
              <a:t>Problems</a:t>
            </a:r>
            <a:endParaRPr sz="2800">
              <a:latin typeface="Palatino Linotype" panose="02040502050505030304"/>
              <a:cs typeface="Palatino Linotype" panose="02040502050505030304"/>
            </a:endParaRPr>
          </a:p>
        </p:txBody>
      </p:sp>
      <p:sp>
        <p:nvSpPr>
          <p:cNvPr id="5" name="object 5"/>
          <p:cNvSpPr txBox="1"/>
          <p:nvPr/>
        </p:nvSpPr>
        <p:spPr>
          <a:xfrm>
            <a:off x="5829156" y="4968747"/>
            <a:ext cx="2733040" cy="988694"/>
          </a:xfrm>
          <a:prstGeom prst="rect">
            <a:avLst/>
          </a:prstGeom>
        </p:spPr>
        <p:txBody>
          <a:bodyPr vert="horz" wrap="square" lIns="0" tIns="12700" rIns="0" bIns="0" rtlCol="0">
            <a:spAutoFit/>
          </a:bodyPr>
          <a:lstStyle/>
          <a:p>
            <a:pPr marL="12700" marR="5080">
              <a:lnSpc>
                <a:spcPct val="144000"/>
              </a:lnSpc>
              <a:spcBef>
                <a:spcPts val="100"/>
              </a:spcBef>
            </a:pPr>
            <a:r>
              <a:rPr sz="2200" spc="-15" dirty="0">
                <a:solidFill>
                  <a:srgbClr val="A6A6A6"/>
                </a:solidFill>
                <a:latin typeface="Palatino Linotype" panose="02040502050505030304"/>
                <a:cs typeface="Palatino Linotype" panose="02040502050505030304"/>
              </a:rPr>
              <a:t>Live</a:t>
            </a:r>
            <a:r>
              <a:rPr sz="2200" spc="-10" dirty="0">
                <a:solidFill>
                  <a:srgbClr val="A6A6A6"/>
                </a:solidFill>
                <a:latin typeface="Palatino Linotype" panose="02040502050505030304"/>
                <a:cs typeface="Palatino Linotype" panose="02040502050505030304"/>
              </a:rPr>
              <a:t> </a:t>
            </a:r>
            <a:r>
              <a:rPr sz="2200" spc="-25" dirty="0">
                <a:solidFill>
                  <a:srgbClr val="A6A6A6"/>
                </a:solidFill>
                <a:latin typeface="Palatino Linotype" panose="02040502050505030304"/>
                <a:cs typeface="Palatino Linotype" panose="02040502050505030304"/>
              </a:rPr>
              <a:t>Variables </a:t>
            </a:r>
            <a:r>
              <a:rPr sz="2200" spc="-20" dirty="0">
                <a:solidFill>
                  <a:srgbClr val="A6A6A6"/>
                </a:solidFill>
                <a:latin typeface="Palatino Linotype" panose="02040502050505030304"/>
                <a:cs typeface="Palatino Linotype" panose="02040502050505030304"/>
              </a:rPr>
              <a:t> </a:t>
            </a:r>
            <a:r>
              <a:rPr sz="2200" spc="-30" dirty="0">
                <a:latin typeface="Palatino Linotype" panose="02040502050505030304"/>
                <a:cs typeface="Palatino Linotype" panose="02040502050505030304"/>
              </a:rPr>
              <a:t>Available</a:t>
            </a:r>
            <a:r>
              <a:rPr sz="2200" spc="-2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Expressions</a:t>
            </a:r>
            <a:endParaRPr sz="2200">
              <a:latin typeface="Palatino Linotype" panose="02040502050505030304"/>
              <a:cs typeface="Palatino Linotype" panose="02040502050505030304"/>
            </a:endParaRPr>
          </a:p>
        </p:txBody>
      </p:sp>
      <p:sp>
        <p:nvSpPr>
          <p:cNvPr id="6" name="object 6"/>
          <p:cNvSpPr/>
          <p:nvPr/>
        </p:nvSpPr>
        <p:spPr>
          <a:xfrm>
            <a:off x="5475552" y="4753157"/>
            <a:ext cx="274955" cy="1119505"/>
          </a:xfrm>
          <a:custGeom>
            <a:avLst/>
            <a:gdLst/>
            <a:ahLst/>
            <a:cxnLst/>
            <a:rect l="l" t="t" r="r" b="b"/>
            <a:pathLst>
              <a:path w="274954" h="1119504">
                <a:moveTo>
                  <a:pt x="274864" y="1119005"/>
                </a:moveTo>
                <a:lnTo>
                  <a:pt x="221369" y="1117205"/>
                </a:lnTo>
                <a:lnTo>
                  <a:pt x="177684" y="1112296"/>
                </a:lnTo>
                <a:lnTo>
                  <a:pt x="148232" y="1105016"/>
                </a:lnTo>
                <a:lnTo>
                  <a:pt x="137432" y="1096101"/>
                </a:lnTo>
                <a:lnTo>
                  <a:pt x="137432" y="582406"/>
                </a:lnTo>
                <a:lnTo>
                  <a:pt x="126631" y="573491"/>
                </a:lnTo>
                <a:lnTo>
                  <a:pt x="97179" y="566210"/>
                </a:lnTo>
                <a:lnTo>
                  <a:pt x="53494" y="561302"/>
                </a:lnTo>
                <a:lnTo>
                  <a:pt x="0" y="559502"/>
                </a:lnTo>
                <a:lnTo>
                  <a:pt x="53494" y="557702"/>
                </a:lnTo>
                <a:lnTo>
                  <a:pt x="97179" y="552794"/>
                </a:lnTo>
                <a:lnTo>
                  <a:pt x="126631" y="545513"/>
                </a:lnTo>
                <a:lnTo>
                  <a:pt x="137432" y="536598"/>
                </a:lnTo>
                <a:lnTo>
                  <a:pt x="137432" y="22903"/>
                </a:lnTo>
                <a:lnTo>
                  <a:pt x="148232" y="13988"/>
                </a:lnTo>
                <a:lnTo>
                  <a:pt x="177684" y="6708"/>
                </a:lnTo>
                <a:lnTo>
                  <a:pt x="221369" y="1799"/>
                </a:lnTo>
                <a:lnTo>
                  <a:pt x="274864" y="0"/>
                </a:lnTo>
              </a:path>
            </a:pathLst>
          </a:custGeom>
          <a:ln w="12700">
            <a:solidFill>
              <a:srgbClr val="000000"/>
            </a:solidFill>
          </a:ln>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64</a:t>
            </a:fld>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138420" cy="635000"/>
          </a:xfrm>
          <a:prstGeom prst="rect">
            <a:avLst/>
          </a:prstGeom>
        </p:spPr>
        <p:txBody>
          <a:bodyPr vert="horz" wrap="square" lIns="0" tIns="12700" rIns="0" bIns="0" rtlCol="0">
            <a:spAutoFit/>
          </a:bodyPr>
          <a:lstStyle/>
          <a:p>
            <a:pPr marL="12700">
              <a:lnSpc>
                <a:spcPct val="100000"/>
              </a:lnSpc>
              <a:spcBef>
                <a:spcPts val="100"/>
              </a:spcBef>
            </a:pPr>
            <a:r>
              <a:rPr sz="4000" spc="-35" dirty="0"/>
              <a:t>Available</a:t>
            </a:r>
            <a:r>
              <a:rPr sz="4000" spc="-25" dirty="0"/>
              <a:t> </a:t>
            </a:r>
            <a:r>
              <a:rPr sz="4000" spc="-5" dirty="0"/>
              <a:t>Expressions</a:t>
            </a:r>
            <a:endParaRPr sz="4000"/>
          </a:p>
        </p:txBody>
      </p:sp>
      <p:sp>
        <p:nvSpPr>
          <p:cNvPr id="3" name="object 3"/>
          <p:cNvSpPr txBox="1"/>
          <p:nvPr/>
        </p:nvSpPr>
        <p:spPr>
          <a:xfrm>
            <a:off x="707390" y="1600708"/>
            <a:ext cx="7634605" cy="1625600"/>
          </a:xfrm>
          <a:prstGeom prst="rect">
            <a:avLst/>
          </a:prstGeom>
        </p:spPr>
        <p:txBody>
          <a:bodyPr vert="horz" wrap="square" lIns="0" tIns="3175" rIns="0" bIns="0" rtlCol="0">
            <a:spAutoFit/>
          </a:bodyPr>
          <a:lstStyle/>
          <a:p>
            <a:pPr marL="242570" marR="5080" indent="-230505">
              <a:lnSpc>
                <a:spcPct val="120000"/>
              </a:lnSpc>
              <a:spcBef>
                <a:spcPts val="25"/>
              </a:spcBef>
              <a:buFont typeface="Arial MT"/>
              <a:buChar char="•"/>
              <a:tabLst>
                <a:tab pos="242570" algn="l"/>
                <a:tab pos="242570" algn="l"/>
              </a:tabLst>
            </a:pPr>
            <a:r>
              <a:rPr sz="2200" dirty="0">
                <a:latin typeface="Palatino Linotype" panose="02040502050505030304"/>
                <a:cs typeface="Palatino Linotype" panose="02040502050505030304"/>
              </a:rPr>
              <a:t>An </a:t>
            </a:r>
            <a:r>
              <a:rPr sz="2200" spc="-5" dirty="0">
                <a:latin typeface="Palatino Linotype" panose="02040502050505030304"/>
                <a:cs typeface="Palatino Linotype" panose="02040502050505030304"/>
              </a:rPr>
              <a:t>expression </a:t>
            </a:r>
            <a:r>
              <a:rPr sz="2200" i="1" dirty="0">
                <a:solidFill>
                  <a:srgbClr val="0131CC"/>
                </a:solidFill>
                <a:latin typeface="Palatino Linotype" panose="02040502050505030304"/>
                <a:cs typeface="Palatino Linotype" panose="02040502050505030304"/>
              </a:rPr>
              <a:t>x + y </a:t>
            </a:r>
            <a:r>
              <a:rPr sz="2200" spc="-5" dirty="0">
                <a:latin typeface="Palatino Linotype" panose="02040502050505030304"/>
                <a:cs typeface="Palatino Linotype" panose="02040502050505030304"/>
              </a:rPr>
              <a:t>is </a:t>
            </a:r>
            <a:r>
              <a:rPr sz="2200" spc="-10" dirty="0">
                <a:latin typeface="Palatino Linotype" panose="02040502050505030304"/>
                <a:cs typeface="Palatino Linotype" panose="02040502050505030304"/>
              </a:rPr>
              <a:t>available </a:t>
            </a:r>
            <a:r>
              <a:rPr sz="2200" dirty="0">
                <a:latin typeface="Palatino Linotype" panose="02040502050505030304"/>
                <a:cs typeface="Palatino Linotype" panose="02040502050505030304"/>
              </a:rPr>
              <a:t>at a </a:t>
            </a:r>
            <a:r>
              <a:rPr sz="2200" spc="-5" dirty="0">
                <a:latin typeface="Palatino Linotype" panose="02040502050505030304"/>
                <a:cs typeface="Palatino Linotype" panose="02040502050505030304"/>
              </a:rPr>
              <a:t>point </a:t>
            </a:r>
            <a:r>
              <a:rPr sz="2200" i="1" dirty="0">
                <a:solidFill>
                  <a:srgbClr val="0131CC"/>
                </a:solidFill>
                <a:latin typeface="Palatino Linotype" panose="02040502050505030304"/>
                <a:cs typeface="Palatino Linotype" panose="02040502050505030304"/>
              </a:rPr>
              <a:t>p </a:t>
            </a:r>
            <a:r>
              <a:rPr sz="2200" spc="-5" dirty="0">
                <a:latin typeface="Palatino Linotype" panose="02040502050505030304"/>
                <a:cs typeface="Palatino Linotype" panose="02040502050505030304"/>
              </a:rPr>
              <a:t>if </a:t>
            </a:r>
            <a:r>
              <a:rPr sz="2200" spc="-10" dirty="0">
                <a:solidFill>
                  <a:srgbClr val="FF0000"/>
                </a:solidFill>
                <a:latin typeface="Palatino Linotype" panose="02040502050505030304"/>
                <a:cs typeface="Palatino Linotype" panose="02040502050505030304"/>
              </a:rPr>
              <a:t>every </a:t>
            </a:r>
            <a:r>
              <a:rPr sz="2200" spc="-5" dirty="0">
                <a:solidFill>
                  <a:srgbClr val="FF0000"/>
                </a:solidFill>
                <a:latin typeface="Palatino Linotype" panose="02040502050505030304"/>
                <a:cs typeface="Palatino Linotype" panose="02040502050505030304"/>
              </a:rPr>
              <a:t>path </a:t>
            </a:r>
            <a:r>
              <a:rPr sz="2200" dirty="0">
                <a:solidFill>
                  <a:srgbClr val="FF0000"/>
                </a:solidFill>
                <a:latin typeface="Palatino Linotype" panose="02040502050505030304"/>
                <a:cs typeface="Palatino Linotype" panose="02040502050505030304"/>
              </a:rPr>
              <a:t> from</a:t>
            </a:r>
            <a:r>
              <a:rPr sz="2200" spc="-1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the entry node to</a:t>
            </a:r>
            <a:r>
              <a:rPr sz="2200" spc="-10" dirty="0">
                <a:solidFill>
                  <a:srgbClr val="FF0000"/>
                </a:solidFill>
                <a:latin typeface="Palatino Linotype" panose="02040502050505030304"/>
                <a:cs typeface="Palatino Linotype" panose="02040502050505030304"/>
              </a:rPr>
              <a:t> </a:t>
            </a:r>
            <a:r>
              <a:rPr sz="2200" i="1" dirty="0">
                <a:solidFill>
                  <a:srgbClr val="FF0000"/>
                </a:solidFill>
                <a:latin typeface="Palatino Linotype" panose="02040502050505030304"/>
                <a:cs typeface="Palatino Linotype" panose="02040502050505030304"/>
              </a:rPr>
              <a:t>p </a:t>
            </a:r>
            <a:r>
              <a:rPr sz="2200" spc="-10" dirty="0">
                <a:solidFill>
                  <a:srgbClr val="FF0000"/>
                </a:solidFill>
                <a:latin typeface="Palatino Linotype" panose="02040502050505030304"/>
                <a:cs typeface="Palatino Linotype" panose="02040502050505030304"/>
              </a:rPr>
              <a:t>evaluates</a:t>
            </a:r>
            <a:r>
              <a:rPr sz="2200" spc="-5" dirty="0">
                <a:solidFill>
                  <a:srgbClr val="FF0000"/>
                </a:solidFill>
                <a:latin typeface="Palatino Linotype" panose="02040502050505030304"/>
                <a:cs typeface="Palatino Linotype" panose="02040502050505030304"/>
              </a:rPr>
              <a:t> </a:t>
            </a:r>
            <a:r>
              <a:rPr sz="2200" i="1" dirty="0">
                <a:solidFill>
                  <a:srgbClr val="FF0000"/>
                </a:solidFill>
                <a:latin typeface="Palatino Linotype" panose="02040502050505030304"/>
                <a:cs typeface="Palatino Linotype" panose="02040502050505030304"/>
              </a:rPr>
              <a:t>x +</a:t>
            </a:r>
            <a:r>
              <a:rPr sz="2200" i="1" spc="-5" dirty="0">
                <a:solidFill>
                  <a:srgbClr val="FF0000"/>
                </a:solidFill>
                <a:latin typeface="Palatino Linotype" panose="02040502050505030304"/>
                <a:cs typeface="Palatino Linotype" panose="02040502050505030304"/>
              </a:rPr>
              <a:t> </a:t>
            </a:r>
            <a:r>
              <a:rPr sz="2200" i="1" dirty="0">
                <a:solidFill>
                  <a:srgbClr val="FF0000"/>
                </a:solidFill>
                <a:latin typeface="Palatino Linotype" panose="02040502050505030304"/>
                <a:cs typeface="Palatino Linotype" panose="02040502050505030304"/>
              </a:rPr>
              <a:t>y</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after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last </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such</a:t>
            </a:r>
            <a:r>
              <a:rPr sz="2200" spc="-10" dirty="0">
                <a:latin typeface="Palatino Linotype" panose="02040502050505030304"/>
                <a:cs typeface="Palatino Linotype" panose="02040502050505030304"/>
              </a:rPr>
              <a:t> evaluation </a:t>
            </a:r>
            <a:r>
              <a:rPr sz="2200" spc="-5" dirty="0">
                <a:latin typeface="Palatino Linotype" panose="02040502050505030304"/>
                <a:cs typeface="Palatino Linotype" panose="02040502050505030304"/>
              </a:rPr>
              <a:t>prior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to reaching</a:t>
            </a:r>
            <a:r>
              <a:rPr sz="220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p</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there </a:t>
            </a:r>
            <a:r>
              <a:rPr sz="2200" dirty="0">
                <a:latin typeface="Palatino Linotype" panose="02040502050505030304"/>
                <a:cs typeface="Palatino Linotype" panose="02040502050505030304"/>
              </a:rPr>
              <a:t>are</a:t>
            </a:r>
            <a:r>
              <a:rPr sz="2200" spc="-5" dirty="0">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no subsequent </a:t>
            </a:r>
            <a:r>
              <a:rPr sz="2200" spc="-535"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assignments</a:t>
            </a:r>
            <a:r>
              <a:rPr sz="220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to </a:t>
            </a:r>
            <a:r>
              <a:rPr sz="2200" i="1" dirty="0">
                <a:solidFill>
                  <a:srgbClr val="FF0000"/>
                </a:solidFill>
                <a:latin typeface="Palatino Linotype" panose="02040502050505030304"/>
                <a:cs typeface="Palatino Linotype" panose="02040502050505030304"/>
              </a:rPr>
              <a:t>x </a:t>
            </a:r>
            <a:r>
              <a:rPr sz="2200" spc="-5" dirty="0">
                <a:solidFill>
                  <a:srgbClr val="FF0000"/>
                </a:solidFill>
                <a:latin typeface="Palatino Linotype" panose="02040502050505030304"/>
                <a:cs typeface="Palatino Linotype" panose="02040502050505030304"/>
              </a:rPr>
              <a:t>or</a:t>
            </a:r>
            <a:r>
              <a:rPr sz="2200" spc="5" dirty="0">
                <a:solidFill>
                  <a:srgbClr val="FF0000"/>
                </a:solidFill>
                <a:latin typeface="Palatino Linotype" panose="02040502050505030304"/>
                <a:cs typeface="Palatino Linotype" panose="02040502050505030304"/>
              </a:rPr>
              <a:t> </a:t>
            </a:r>
            <a:r>
              <a:rPr sz="2200" i="1" dirty="0">
                <a:solidFill>
                  <a:srgbClr val="FF0000"/>
                </a:solidFill>
                <a:latin typeface="Palatino Linotype" panose="02040502050505030304"/>
                <a:cs typeface="Palatino Linotype" panose="02040502050505030304"/>
              </a:rPr>
              <a:t>y</a:t>
            </a:r>
            <a:endParaRPr sz="2200">
              <a:latin typeface="Palatino Linotype" panose="02040502050505030304"/>
              <a:cs typeface="Palatino Linotype" panose="02040502050505030304"/>
            </a:endParaRPr>
          </a:p>
        </p:txBody>
      </p:sp>
      <p:pic>
        <p:nvPicPr>
          <p:cNvPr id="4" name="object 4"/>
          <p:cNvPicPr/>
          <p:nvPr/>
        </p:nvPicPr>
        <p:blipFill>
          <a:blip r:embed="rId3" cstate="print"/>
          <a:stretch>
            <a:fillRect/>
          </a:stretch>
        </p:blipFill>
        <p:spPr>
          <a:xfrm>
            <a:off x="932963" y="3751262"/>
            <a:ext cx="3317011" cy="2079624"/>
          </a:xfrm>
          <a:prstGeom prst="rect">
            <a:avLst/>
          </a:prstGeom>
        </p:spPr>
      </p:pic>
      <p:sp>
        <p:nvSpPr>
          <p:cNvPr id="5" name="object 5"/>
          <p:cNvSpPr txBox="1"/>
          <p:nvPr/>
        </p:nvSpPr>
        <p:spPr>
          <a:xfrm>
            <a:off x="2533647" y="3788155"/>
            <a:ext cx="5911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Palatino Linotype" panose="02040502050505030304"/>
                <a:cs typeface="Palatino Linotype" panose="02040502050505030304"/>
              </a:rPr>
              <a:t>En</a:t>
            </a:r>
            <a:r>
              <a:rPr sz="1800" spc="-5" dirty="0">
                <a:solidFill>
                  <a:srgbClr val="FFFFFF"/>
                </a:solidFill>
                <a:latin typeface="Palatino Linotype" panose="02040502050505030304"/>
                <a:cs typeface="Palatino Linotype" panose="02040502050505030304"/>
              </a:rPr>
              <a:t>t</a:t>
            </a:r>
            <a:r>
              <a:rPr sz="1800" dirty="0">
                <a:solidFill>
                  <a:srgbClr val="FFFFFF"/>
                </a:solidFill>
                <a:latin typeface="Palatino Linotype" panose="02040502050505030304"/>
                <a:cs typeface="Palatino Linotype" panose="02040502050505030304"/>
              </a:rPr>
              <a:t>ry</a:t>
            </a:r>
            <a:endParaRPr sz="1800">
              <a:latin typeface="Palatino Linotype" panose="02040502050505030304"/>
              <a:cs typeface="Palatino Linotype" panose="02040502050505030304"/>
            </a:endParaRPr>
          </a:p>
        </p:txBody>
      </p:sp>
      <p:sp>
        <p:nvSpPr>
          <p:cNvPr id="6" name="object 6"/>
          <p:cNvSpPr txBox="1"/>
          <p:nvPr/>
        </p:nvSpPr>
        <p:spPr>
          <a:xfrm>
            <a:off x="2759072" y="4550155"/>
            <a:ext cx="5636260" cy="1217295"/>
          </a:xfrm>
          <a:prstGeom prst="rect">
            <a:avLst/>
          </a:prstGeom>
        </p:spPr>
        <p:txBody>
          <a:bodyPr vert="horz" wrap="square" lIns="0" tIns="12700" rIns="0" bIns="0" rtlCol="0">
            <a:spAutoFit/>
          </a:bodyPr>
          <a:lstStyle/>
          <a:p>
            <a:pPr marL="619760">
              <a:lnSpc>
                <a:spcPct val="100000"/>
              </a:lnSpc>
              <a:spcBef>
                <a:spcPts val="100"/>
              </a:spcBef>
            </a:pPr>
            <a:r>
              <a:rPr sz="1800" dirty="0">
                <a:latin typeface="Cambria Math" panose="02040503050406030204"/>
                <a:cs typeface="Cambria Math" panose="02040503050406030204"/>
              </a:rPr>
              <a:t>⋯</a:t>
            </a:r>
            <a:endParaRPr sz="1800">
              <a:latin typeface="Cambria Math" panose="02040503050406030204"/>
              <a:cs typeface="Cambria Math" panose="02040503050406030204"/>
            </a:endParaRPr>
          </a:p>
          <a:p>
            <a:pPr>
              <a:lnSpc>
                <a:spcPct val="100000"/>
              </a:lnSpc>
            </a:pPr>
            <a:endParaRPr sz="1900">
              <a:latin typeface="Cambria Math" panose="02040503050406030204"/>
              <a:cs typeface="Cambria Math" panose="02040503050406030204"/>
            </a:endParaRPr>
          </a:p>
          <a:p>
            <a:pPr marL="1962150">
              <a:lnSpc>
                <a:spcPct val="100000"/>
              </a:lnSpc>
              <a:spcBef>
                <a:spcPts val="5"/>
              </a:spcBef>
            </a:pPr>
            <a:r>
              <a:rPr sz="1800" dirty="0">
                <a:latin typeface="Palatino Linotype" panose="02040502050505030304"/>
                <a:cs typeface="Palatino Linotype" panose="02040502050505030304"/>
              </a:rPr>
              <a:t>No</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assignments</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x</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or</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y</a:t>
            </a:r>
            <a:r>
              <a:rPr sz="1800" spc="-1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afterwards</a:t>
            </a:r>
            <a:endParaRPr sz="1800">
              <a:latin typeface="Palatino Linotype" panose="02040502050505030304"/>
              <a:cs typeface="Palatino Linotype" panose="02040502050505030304"/>
            </a:endParaRPr>
          </a:p>
          <a:p>
            <a:pPr marL="12700">
              <a:lnSpc>
                <a:spcPct val="100000"/>
              </a:lnSpc>
              <a:spcBef>
                <a:spcPts val="670"/>
              </a:spcBef>
            </a:pPr>
            <a:r>
              <a:rPr sz="1800" i="1" dirty="0">
                <a:solidFill>
                  <a:srgbClr val="FFFFFF"/>
                </a:solidFill>
                <a:latin typeface="Palatino Linotype" panose="02040502050505030304"/>
                <a:cs typeface="Palatino Linotype" panose="02040502050505030304"/>
              </a:rPr>
              <a:t>p</a:t>
            </a:r>
            <a:endParaRPr sz="1800">
              <a:latin typeface="Palatino Linotype" panose="02040502050505030304"/>
              <a:cs typeface="Palatino Linotype" panose="02040502050505030304"/>
            </a:endParaRPr>
          </a:p>
        </p:txBody>
      </p:sp>
      <p:pic>
        <p:nvPicPr>
          <p:cNvPr id="7" name="object 7"/>
          <p:cNvPicPr/>
          <p:nvPr/>
        </p:nvPicPr>
        <p:blipFill>
          <a:blip r:embed="rId4" cstate="print"/>
          <a:stretch>
            <a:fillRect/>
          </a:stretch>
        </p:blipFill>
        <p:spPr>
          <a:xfrm>
            <a:off x="5264392" y="4304396"/>
            <a:ext cx="187809" cy="197366"/>
          </a:xfrm>
          <a:prstGeom prst="rect">
            <a:avLst/>
          </a:prstGeom>
        </p:spPr>
      </p:pic>
      <p:sp>
        <p:nvSpPr>
          <p:cNvPr id="8" name="object 8"/>
          <p:cNvSpPr txBox="1"/>
          <p:nvPr/>
        </p:nvSpPr>
        <p:spPr>
          <a:xfrm>
            <a:off x="5564901" y="4239259"/>
            <a:ext cx="221107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Palatino Linotype" panose="02040502050505030304"/>
                <a:cs typeface="Palatino Linotype" panose="02040502050505030304"/>
              </a:rPr>
              <a:t>Point</a:t>
            </a:r>
            <a:r>
              <a:rPr sz="1800" spc="-10" dirty="0">
                <a:latin typeface="Palatino Linotype" panose="02040502050505030304"/>
                <a:cs typeface="Palatino Linotype" panose="02040502050505030304"/>
              </a:rPr>
              <a:t> evaluating</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x</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y</a:t>
            </a:r>
            <a:endParaRPr sz="1800">
              <a:latin typeface="Palatino Linotype" panose="02040502050505030304"/>
              <a:cs typeface="Palatino Linotype" panose="02040502050505030304"/>
            </a:endParaRPr>
          </a:p>
        </p:txBody>
      </p:sp>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65</a:t>
            </a:fld>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7607934" cy="635000"/>
          </a:xfrm>
          <a:prstGeom prst="rect">
            <a:avLst/>
          </a:prstGeom>
        </p:spPr>
        <p:txBody>
          <a:bodyPr vert="horz" wrap="square" lIns="0" tIns="12700" rIns="0" bIns="0" rtlCol="0">
            <a:spAutoFit/>
          </a:bodyPr>
          <a:lstStyle/>
          <a:p>
            <a:pPr marL="12700">
              <a:lnSpc>
                <a:spcPct val="100000"/>
              </a:lnSpc>
              <a:spcBef>
                <a:spcPts val="100"/>
              </a:spcBef>
            </a:pPr>
            <a:r>
              <a:rPr sz="4000" dirty="0"/>
              <a:t>Killing</a:t>
            </a:r>
            <a:r>
              <a:rPr sz="4000" spc="-20" dirty="0"/>
              <a:t> </a:t>
            </a:r>
            <a:r>
              <a:rPr sz="4000" dirty="0"/>
              <a:t>/</a:t>
            </a:r>
            <a:r>
              <a:rPr sz="4000" spc="-20" dirty="0"/>
              <a:t> </a:t>
            </a:r>
            <a:r>
              <a:rPr sz="4000" dirty="0"/>
              <a:t>Genearting</a:t>
            </a:r>
            <a:r>
              <a:rPr sz="4000" spc="-20" dirty="0"/>
              <a:t> </a:t>
            </a:r>
            <a:r>
              <a:rPr sz="4000" spc="-5" dirty="0"/>
              <a:t>Expressions</a:t>
            </a:r>
            <a:endParaRPr sz="4000"/>
          </a:p>
        </p:txBody>
      </p:sp>
      <p:sp>
        <p:nvSpPr>
          <p:cNvPr id="3" name="object 3"/>
          <p:cNvSpPr txBox="1"/>
          <p:nvPr/>
        </p:nvSpPr>
        <p:spPr>
          <a:xfrm>
            <a:off x="707390" y="1657603"/>
            <a:ext cx="7353300" cy="226187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A</a:t>
            </a:r>
            <a:r>
              <a:rPr sz="2400" spc="-14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 </a:t>
            </a:r>
            <a:r>
              <a:rPr sz="2400" i="1" spc="-10" dirty="0">
                <a:solidFill>
                  <a:srgbClr val="FF0000"/>
                </a:solidFill>
                <a:latin typeface="Palatino Linotype" panose="02040502050505030304"/>
                <a:cs typeface="Palatino Linotype" panose="02040502050505030304"/>
              </a:rPr>
              <a:t>kills</a:t>
            </a:r>
            <a:r>
              <a:rPr sz="2400" i="1" dirty="0">
                <a:solidFill>
                  <a:srgbClr val="FF0000"/>
                </a:solidFill>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expression </a:t>
            </a:r>
            <a:r>
              <a:rPr sz="2400" i="1" dirty="0">
                <a:solidFill>
                  <a:srgbClr val="0131CC"/>
                </a:solidFill>
                <a:latin typeface="Palatino Linotype" panose="02040502050505030304"/>
                <a:cs typeface="Palatino Linotype" panose="02040502050505030304"/>
              </a:rPr>
              <a:t>x</a:t>
            </a:r>
            <a:r>
              <a:rPr sz="2400" i="1" spc="-5" dirty="0">
                <a:solidFill>
                  <a:srgbClr val="0131CC"/>
                </a:solidFill>
                <a:latin typeface="Palatino Linotype" panose="02040502050505030304"/>
                <a:cs typeface="Palatino Linotype" panose="02040502050505030304"/>
              </a:rPr>
              <a:t> </a:t>
            </a:r>
            <a:r>
              <a:rPr sz="2400" i="1" dirty="0">
                <a:solidFill>
                  <a:srgbClr val="0131CC"/>
                </a:solidFill>
                <a:latin typeface="Palatino Linotype" panose="02040502050505030304"/>
                <a:cs typeface="Palatino Linotype" panose="02040502050505030304"/>
              </a:rPr>
              <a:t>+</a:t>
            </a:r>
            <a:r>
              <a:rPr sz="2400" i="1" spc="-5" dirty="0">
                <a:solidFill>
                  <a:srgbClr val="0131CC"/>
                </a:solidFill>
                <a:latin typeface="Palatino Linotype" panose="02040502050505030304"/>
                <a:cs typeface="Palatino Linotype" panose="02040502050505030304"/>
              </a:rPr>
              <a:t> </a:t>
            </a:r>
            <a:r>
              <a:rPr sz="2400" i="1" dirty="0">
                <a:solidFill>
                  <a:srgbClr val="0131CC"/>
                </a:solidFill>
                <a:latin typeface="Palatino Linotype" panose="02040502050505030304"/>
                <a:cs typeface="Palatino Linotype" panose="02040502050505030304"/>
              </a:rPr>
              <a:t>y</a:t>
            </a:r>
            <a:r>
              <a:rPr sz="2400" i="1" spc="-5" dirty="0">
                <a:solidFill>
                  <a:srgbClr val="0131CC"/>
                </a:solidFill>
                <a:latin typeface="Palatino Linotype" panose="02040502050505030304"/>
                <a:cs typeface="Palatino Linotype" panose="02040502050505030304"/>
              </a:rPr>
              <a:t> </a:t>
            </a:r>
            <a:r>
              <a:rPr sz="2400" dirty="0">
                <a:latin typeface="Palatino Linotype" panose="02040502050505030304"/>
                <a:cs typeface="Palatino Linotype" panose="02040502050505030304"/>
              </a:rPr>
              <a:t>if:</a:t>
            </a:r>
            <a:endParaRPr sz="2400">
              <a:latin typeface="Palatino Linotype" panose="02040502050505030304"/>
              <a:cs typeface="Palatino Linotype" panose="02040502050505030304"/>
            </a:endParaRPr>
          </a:p>
          <a:p>
            <a:pPr marL="698500" lvl="1" indent="-228600">
              <a:lnSpc>
                <a:spcPct val="100000"/>
              </a:lnSpc>
              <a:spcBef>
                <a:spcPts val="1720"/>
              </a:spcBef>
              <a:buFont typeface="Wingdings" panose="05000000000000000000"/>
              <a:buChar char=""/>
              <a:tabLst>
                <a:tab pos="698500" algn="l"/>
              </a:tabLst>
            </a:pPr>
            <a:r>
              <a:rPr sz="2000" dirty="0">
                <a:latin typeface="Palatino Linotype" panose="02040502050505030304"/>
                <a:cs typeface="Palatino Linotype" panose="02040502050505030304"/>
              </a:rPr>
              <a:t>It</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assigns </a:t>
            </a:r>
            <a:r>
              <a:rPr sz="2000" i="1" dirty="0">
                <a:latin typeface="Palatino Linotype" panose="02040502050505030304"/>
                <a:cs typeface="Palatino Linotype" panose="02040502050505030304"/>
              </a:rPr>
              <a:t>x </a:t>
            </a:r>
            <a:r>
              <a:rPr sz="2000" spc="-5" dirty="0">
                <a:latin typeface="Palatino Linotype" panose="02040502050505030304"/>
                <a:cs typeface="Palatino Linotype" panose="02040502050505030304"/>
              </a:rPr>
              <a:t>or</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y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does not subsequently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recompute </a:t>
            </a:r>
            <a:r>
              <a:rPr sz="2000" i="1" dirty="0">
                <a:latin typeface="Palatino Linotype" panose="02040502050505030304"/>
                <a:cs typeface="Palatino Linotype" panose="02040502050505030304"/>
              </a:rPr>
              <a:t>x + y</a:t>
            </a:r>
            <a:endParaRPr sz="2000">
              <a:latin typeface="Palatino Linotype" panose="02040502050505030304"/>
              <a:cs typeface="Palatino Linotype" panose="02040502050505030304"/>
            </a:endParaRPr>
          </a:p>
          <a:p>
            <a:pPr lvl="1">
              <a:lnSpc>
                <a:spcPct val="100000"/>
              </a:lnSpc>
              <a:buFont typeface="Wingdings" panose="05000000000000000000"/>
              <a:buChar char=""/>
            </a:pPr>
            <a:endParaRPr sz="2600">
              <a:latin typeface="Palatino Linotype" panose="02040502050505030304"/>
              <a:cs typeface="Palatino Linotype" panose="02040502050505030304"/>
            </a:endParaRPr>
          </a:p>
          <a:p>
            <a:pPr marL="357505" indent="-343535">
              <a:lnSpc>
                <a:spcPct val="100000"/>
              </a:lnSpc>
              <a:spcBef>
                <a:spcPts val="5"/>
              </a:spcBef>
              <a:buFont typeface="Arial MT"/>
              <a:buChar char="•"/>
              <a:tabLst>
                <a:tab pos="356870" algn="l"/>
                <a:tab pos="357505" algn="l"/>
              </a:tabLst>
            </a:pPr>
            <a:r>
              <a:rPr sz="2400" dirty="0">
                <a:latin typeface="Palatino Linotype" panose="02040502050505030304"/>
                <a:cs typeface="Palatino Linotype" panose="02040502050505030304"/>
              </a:rPr>
              <a:t>A</a:t>
            </a:r>
            <a:r>
              <a:rPr sz="2400" spc="-14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block</a:t>
            </a:r>
            <a:r>
              <a:rPr sz="2400" dirty="0">
                <a:latin typeface="Palatino Linotype" panose="02040502050505030304"/>
                <a:cs typeface="Palatino Linotype" panose="02040502050505030304"/>
              </a:rPr>
              <a:t> </a:t>
            </a:r>
            <a:r>
              <a:rPr sz="2400" i="1" spc="-5" dirty="0">
                <a:solidFill>
                  <a:srgbClr val="FF0000"/>
                </a:solidFill>
                <a:latin typeface="Palatino Linotype" panose="02040502050505030304"/>
                <a:cs typeface="Palatino Linotype" panose="02040502050505030304"/>
              </a:rPr>
              <a:t>generates </a:t>
            </a:r>
            <a:r>
              <a:rPr sz="2400" spc="-5" dirty="0">
                <a:latin typeface="Palatino Linotype" panose="02040502050505030304"/>
                <a:cs typeface="Palatino Linotype" panose="02040502050505030304"/>
              </a:rPr>
              <a:t>expression</a:t>
            </a:r>
            <a:r>
              <a:rPr sz="2400" dirty="0">
                <a:latin typeface="Palatino Linotype" panose="02040502050505030304"/>
                <a:cs typeface="Palatino Linotype" panose="02040502050505030304"/>
              </a:rPr>
              <a:t> </a:t>
            </a:r>
            <a:r>
              <a:rPr sz="2400" i="1" dirty="0">
                <a:solidFill>
                  <a:srgbClr val="0131CC"/>
                </a:solidFill>
                <a:latin typeface="Palatino Linotype" panose="02040502050505030304"/>
                <a:cs typeface="Palatino Linotype" panose="02040502050505030304"/>
              </a:rPr>
              <a:t>x +</a:t>
            </a:r>
            <a:r>
              <a:rPr sz="2400" i="1" spc="-5" dirty="0">
                <a:solidFill>
                  <a:srgbClr val="0131CC"/>
                </a:solidFill>
                <a:latin typeface="Palatino Linotype" panose="02040502050505030304"/>
                <a:cs typeface="Palatino Linotype" panose="02040502050505030304"/>
              </a:rPr>
              <a:t> </a:t>
            </a:r>
            <a:r>
              <a:rPr sz="2400" i="1" dirty="0">
                <a:solidFill>
                  <a:srgbClr val="0131CC"/>
                </a:solidFill>
                <a:latin typeface="Palatino Linotype" panose="02040502050505030304"/>
                <a:cs typeface="Palatino Linotype" panose="02040502050505030304"/>
              </a:rPr>
              <a:t>y </a:t>
            </a:r>
            <a:r>
              <a:rPr sz="2400" dirty="0">
                <a:latin typeface="Palatino Linotype" panose="02040502050505030304"/>
                <a:cs typeface="Palatino Linotype" panose="02040502050505030304"/>
              </a:rPr>
              <a:t>if:</a:t>
            </a:r>
            <a:endParaRPr sz="2400">
              <a:latin typeface="Palatino Linotype" panose="02040502050505030304"/>
              <a:cs typeface="Palatino Linotype" panose="02040502050505030304"/>
            </a:endParaRPr>
          </a:p>
          <a:p>
            <a:pPr marL="812800" lvl="1" indent="-342900">
              <a:lnSpc>
                <a:spcPct val="100000"/>
              </a:lnSpc>
              <a:spcBef>
                <a:spcPts val="1815"/>
              </a:spcBef>
              <a:buFont typeface="Wingdings" panose="05000000000000000000"/>
              <a:buChar char=""/>
              <a:tabLst>
                <a:tab pos="812165" algn="l"/>
                <a:tab pos="812800" algn="l"/>
              </a:tabLst>
            </a:pPr>
            <a:r>
              <a:rPr sz="2000" dirty="0">
                <a:latin typeface="Palatino Linotype" panose="02040502050505030304"/>
                <a:cs typeface="Palatino Linotype" panose="02040502050505030304"/>
              </a:rPr>
              <a:t>It</a:t>
            </a:r>
            <a:r>
              <a:rPr sz="2000" spc="-5"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evaluates</a:t>
            </a:r>
            <a:r>
              <a:rPr sz="2000" dirty="0">
                <a:latin typeface="Palatino Linotype" panose="02040502050505030304"/>
                <a:cs typeface="Palatino Linotype" panose="02040502050505030304"/>
              </a:rPr>
              <a:t> x</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y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does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not subsequently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x</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 </a:t>
            </a:r>
            <a:r>
              <a:rPr sz="2000" dirty="0">
                <a:latin typeface="Palatino Linotype" panose="02040502050505030304"/>
                <a:cs typeface="Palatino Linotype" panose="02040502050505030304"/>
              </a:rPr>
              <a:t>y</a:t>
            </a:r>
            <a:endParaRPr sz="2000">
              <a:latin typeface="Palatino Linotype" panose="02040502050505030304"/>
              <a:cs typeface="Palatino Linotype" panose="02040502050505030304"/>
            </a:endParaRPr>
          </a:p>
        </p:txBody>
      </p:sp>
      <p:sp>
        <p:nvSpPr>
          <p:cNvPr id="4" name="object 4"/>
          <p:cNvSpPr txBox="1"/>
          <p:nvPr/>
        </p:nvSpPr>
        <p:spPr>
          <a:xfrm>
            <a:off x="1685204" y="5310234"/>
            <a:ext cx="817880" cy="369570"/>
          </a:xfrm>
          <a:prstGeom prst="rect">
            <a:avLst/>
          </a:prstGeom>
          <a:ln w="12700">
            <a:solidFill>
              <a:srgbClr val="000000"/>
            </a:solidFill>
          </a:ln>
        </p:spPr>
        <p:txBody>
          <a:bodyPr vert="horz" wrap="square" lIns="0" tIns="33019" rIns="0" bIns="0" rtlCol="0">
            <a:spAutoFit/>
          </a:bodyPr>
          <a:lstStyle/>
          <a:p>
            <a:pPr marL="91440">
              <a:lnSpc>
                <a:spcPct val="100000"/>
              </a:lnSpc>
              <a:spcBef>
                <a:spcPts val="260"/>
              </a:spcBef>
            </a:pPr>
            <a:r>
              <a:rPr sz="1800" dirty="0">
                <a:latin typeface="Consolas" panose="020B0609020204030204"/>
                <a:cs typeface="Consolas" panose="020B0609020204030204"/>
              </a:rPr>
              <a:t>x</a:t>
            </a:r>
            <a:r>
              <a:rPr sz="1800" spc="-45" dirty="0">
                <a:latin typeface="Consolas" panose="020B0609020204030204"/>
                <a:cs typeface="Consolas" panose="020B0609020204030204"/>
              </a:rPr>
              <a:t> </a:t>
            </a:r>
            <a:r>
              <a:rPr sz="1800" dirty="0">
                <a:latin typeface="Consolas" panose="020B0609020204030204"/>
                <a:cs typeface="Consolas" panose="020B0609020204030204"/>
              </a:rPr>
              <a:t>=</a:t>
            </a:r>
            <a:r>
              <a:rPr sz="1800" spc="-45" dirty="0">
                <a:latin typeface="Consolas" panose="020B0609020204030204"/>
                <a:cs typeface="Consolas" panose="020B0609020204030204"/>
              </a:rPr>
              <a:t> </a:t>
            </a:r>
            <a:r>
              <a:rPr sz="1800" dirty="0">
                <a:latin typeface="Consolas" panose="020B0609020204030204"/>
                <a:cs typeface="Consolas" panose="020B0609020204030204"/>
              </a:rPr>
              <a:t>3</a:t>
            </a:r>
            <a:endParaRPr sz="1800">
              <a:latin typeface="Consolas" panose="020B0609020204030204"/>
              <a:cs typeface="Consolas" panose="020B0609020204030204"/>
            </a:endParaRPr>
          </a:p>
        </p:txBody>
      </p:sp>
      <p:sp>
        <p:nvSpPr>
          <p:cNvPr id="5" name="object 5"/>
          <p:cNvSpPr txBox="1"/>
          <p:nvPr/>
        </p:nvSpPr>
        <p:spPr>
          <a:xfrm>
            <a:off x="1431931" y="4533946"/>
            <a:ext cx="1324610" cy="369570"/>
          </a:xfrm>
          <a:prstGeom prst="rect">
            <a:avLst/>
          </a:prstGeom>
          <a:ln w="12700">
            <a:solidFill>
              <a:srgbClr val="000000"/>
            </a:solidFill>
          </a:ln>
        </p:spPr>
        <p:txBody>
          <a:bodyPr vert="horz" wrap="square" lIns="0" tIns="31750" rIns="0" bIns="0" rtlCol="0">
            <a:spAutoFit/>
          </a:bodyPr>
          <a:lstStyle/>
          <a:p>
            <a:pPr marL="91440">
              <a:lnSpc>
                <a:spcPct val="100000"/>
              </a:lnSpc>
              <a:spcBef>
                <a:spcPts val="250"/>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6" name="object 6"/>
          <p:cNvSpPr/>
          <p:nvPr/>
        </p:nvSpPr>
        <p:spPr>
          <a:xfrm>
            <a:off x="2042430" y="4903279"/>
            <a:ext cx="103505" cy="407034"/>
          </a:xfrm>
          <a:custGeom>
            <a:avLst/>
            <a:gdLst/>
            <a:ahLst/>
            <a:cxnLst/>
            <a:rect l="l" t="t" r="r" b="b"/>
            <a:pathLst>
              <a:path w="103505" h="407035">
                <a:moveTo>
                  <a:pt x="7081" y="310930"/>
                </a:moveTo>
                <a:lnTo>
                  <a:pt x="1023" y="314464"/>
                </a:lnTo>
                <a:lnTo>
                  <a:pt x="0" y="318353"/>
                </a:lnTo>
                <a:lnTo>
                  <a:pt x="51702" y="406985"/>
                </a:lnTo>
                <a:lnTo>
                  <a:pt x="59053" y="394384"/>
                </a:lnTo>
                <a:lnTo>
                  <a:pt x="45352" y="394384"/>
                </a:lnTo>
                <a:lnTo>
                  <a:pt x="45352" y="370894"/>
                </a:lnTo>
                <a:lnTo>
                  <a:pt x="10970" y="311953"/>
                </a:lnTo>
                <a:lnTo>
                  <a:pt x="7081" y="310930"/>
                </a:lnTo>
                <a:close/>
              </a:path>
              <a:path w="103505" h="407035">
                <a:moveTo>
                  <a:pt x="45352" y="370894"/>
                </a:moveTo>
                <a:lnTo>
                  <a:pt x="45352" y="394384"/>
                </a:lnTo>
                <a:lnTo>
                  <a:pt x="58052" y="394384"/>
                </a:lnTo>
                <a:lnTo>
                  <a:pt x="58052" y="391182"/>
                </a:lnTo>
                <a:lnTo>
                  <a:pt x="46217" y="391182"/>
                </a:lnTo>
                <a:lnTo>
                  <a:pt x="51702" y="381779"/>
                </a:lnTo>
                <a:lnTo>
                  <a:pt x="45352" y="370894"/>
                </a:lnTo>
                <a:close/>
              </a:path>
              <a:path w="103505" h="407035">
                <a:moveTo>
                  <a:pt x="96323" y="310930"/>
                </a:moveTo>
                <a:lnTo>
                  <a:pt x="92434" y="311953"/>
                </a:lnTo>
                <a:lnTo>
                  <a:pt x="58052" y="370894"/>
                </a:lnTo>
                <a:lnTo>
                  <a:pt x="58052" y="394384"/>
                </a:lnTo>
                <a:lnTo>
                  <a:pt x="59053" y="394384"/>
                </a:lnTo>
                <a:lnTo>
                  <a:pt x="103404" y="318352"/>
                </a:lnTo>
                <a:lnTo>
                  <a:pt x="102381" y="314464"/>
                </a:lnTo>
                <a:lnTo>
                  <a:pt x="96323" y="310930"/>
                </a:lnTo>
                <a:close/>
              </a:path>
              <a:path w="103505" h="407035">
                <a:moveTo>
                  <a:pt x="51702" y="381779"/>
                </a:moveTo>
                <a:lnTo>
                  <a:pt x="46217" y="391182"/>
                </a:lnTo>
                <a:lnTo>
                  <a:pt x="57188" y="391182"/>
                </a:lnTo>
                <a:lnTo>
                  <a:pt x="51702" y="381779"/>
                </a:lnTo>
                <a:close/>
              </a:path>
              <a:path w="103505" h="407035">
                <a:moveTo>
                  <a:pt x="58052" y="370894"/>
                </a:moveTo>
                <a:lnTo>
                  <a:pt x="51702" y="381779"/>
                </a:lnTo>
                <a:lnTo>
                  <a:pt x="57188" y="391182"/>
                </a:lnTo>
                <a:lnTo>
                  <a:pt x="58052" y="391182"/>
                </a:lnTo>
                <a:lnTo>
                  <a:pt x="58052" y="370894"/>
                </a:lnTo>
                <a:close/>
              </a:path>
              <a:path w="103505" h="407035">
                <a:moveTo>
                  <a:pt x="58051" y="0"/>
                </a:moveTo>
                <a:lnTo>
                  <a:pt x="45351" y="0"/>
                </a:lnTo>
                <a:lnTo>
                  <a:pt x="45352" y="370894"/>
                </a:lnTo>
                <a:lnTo>
                  <a:pt x="51702" y="381779"/>
                </a:lnTo>
                <a:lnTo>
                  <a:pt x="58052" y="370894"/>
                </a:lnTo>
                <a:lnTo>
                  <a:pt x="58051" y="0"/>
                </a:lnTo>
                <a:close/>
              </a:path>
            </a:pathLst>
          </a:custGeom>
          <a:solidFill>
            <a:srgbClr val="000000"/>
          </a:solidFill>
        </p:spPr>
        <p:txBody>
          <a:bodyPr wrap="square" lIns="0" tIns="0" rIns="0" bIns="0" rtlCol="0"/>
          <a:lstStyle/>
          <a:p>
            <a:endParaRPr/>
          </a:p>
        </p:txBody>
      </p:sp>
      <p:sp>
        <p:nvSpPr>
          <p:cNvPr id="7" name="object 7"/>
          <p:cNvSpPr txBox="1"/>
          <p:nvPr/>
        </p:nvSpPr>
        <p:spPr>
          <a:xfrm>
            <a:off x="996379" y="4553204"/>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1</a:t>
            </a:r>
            <a:endParaRPr sz="1800" baseline="-14000">
              <a:latin typeface="Palatino Linotype" panose="02040502050505030304"/>
              <a:cs typeface="Palatino Linotype" panose="02040502050505030304"/>
            </a:endParaRPr>
          </a:p>
        </p:txBody>
      </p:sp>
      <p:sp>
        <p:nvSpPr>
          <p:cNvPr id="8" name="object 8"/>
          <p:cNvSpPr txBox="1"/>
          <p:nvPr/>
        </p:nvSpPr>
        <p:spPr>
          <a:xfrm>
            <a:off x="992731" y="5327396"/>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2</a:t>
            </a:r>
            <a:endParaRPr sz="1800" baseline="-14000">
              <a:latin typeface="Palatino Linotype" panose="02040502050505030304"/>
              <a:cs typeface="Palatino Linotype" panose="02040502050505030304"/>
            </a:endParaRPr>
          </a:p>
        </p:txBody>
      </p:sp>
      <p:sp>
        <p:nvSpPr>
          <p:cNvPr id="9" name="object 9"/>
          <p:cNvSpPr txBox="1"/>
          <p:nvPr/>
        </p:nvSpPr>
        <p:spPr>
          <a:xfrm>
            <a:off x="2786387" y="5330444"/>
            <a:ext cx="10033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Palatino Linotype" panose="02040502050505030304"/>
                <a:cs typeface="Palatino Linotype" panose="02040502050505030304"/>
              </a:rPr>
              <a:t>Kills</a:t>
            </a:r>
            <a:r>
              <a:rPr sz="1800" spc="-3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x</a:t>
            </a:r>
            <a:r>
              <a:rPr sz="1800" i="1" spc="-3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a:t>
            </a:r>
            <a:r>
              <a:rPr sz="1800" i="1" spc="-3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y</a:t>
            </a:r>
            <a:endParaRPr sz="1800">
              <a:latin typeface="Palatino Linotype" panose="02040502050505030304"/>
              <a:cs typeface="Palatino Linotype" panose="02040502050505030304"/>
            </a:endParaRPr>
          </a:p>
        </p:txBody>
      </p:sp>
      <p:sp>
        <p:nvSpPr>
          <p:cNvPr id="10" name="object 10"/>
          <p:cNvSpPr txBox="1"/>
          <p:nvPr/>
        </p:nvSpPr>
        <p:spPr>
          <a:xfrm>
            <a:off x="4940057" y="5167354"/>
            <a:ext cx="1324610" cy="646430"/>
          </a:xfrm>
          <a:prstGeom prst="rect">
            <a:avLst/>
          </a:prstGeom>
          <a:ln w="12700">
            <a:solidFill>
              <a:srgbClr val="000000"/>
            </a:solidFill>
          </a:ln>
        </p:spPr>
        <p:txBody>
          <a:bodyPr vert="horz" wrap="square" lIns="0" tIns="32384" rIns="0" bIns="0" rtlCol="0">
            <a:spAutoFit/>
          </a:bodyPr>
          <a:lstStyle/>
          <a:p>
            <a:pPr marL="90805">
              <a:lnSpc>
                <a:spcPct val="100000"/>
              </a:lnSpc>
              <a:spcBef>
                <a:spcPts val="255"/>
              </a:spcBef>
            </a:pPr>
            <a:r>
              <a:rPr sz="1800" dirty="0">
                <a:latin typeface="Consolas" panose="020B0609020204030204"/>
                <a:cs typeface="Consolas" panose="020B0609020204030204"/>
              </a:rPr>
              <a:t>x</a:t>
            </a:r>
            <a:r>
              <a:rPr sz="1800" spc="-45" dirty="0">
                <a:latin typeface="Consolas" panose="020B0609020204030204"/>
                <a:cs typeface="Consolas" panose="020B0609020204030204"/>
              </a:rPr>
              <a:t> </a:t>
            </a:r>
            <a:r>
              <a:rPr sz="1800" dirty="0">
                <a:latin typeface="Consolas" panose="020B0609020204030204"/>
                <a:cs typeface="Consolas" panose="020B0609020204030204"/>
              </a:rPr>
              <a:t>=</a:t>
            </a:r>
            <a:r>
              <a:rPr sz="1800" spc="-45" dirty="0">
                <a:latin typeface="Consolas" panose="020B0609020204030204"/>
                <a:cs typeface="Consolas" panose="020B0609020204030204"/>
              </a:rPr>
              <a:t> </a:t>
            </a:r>
            <a:r>
              <a:rPr sz="1800" dirty="0">
                <a:latin typeface="Consolas" panose="020B0609020204030204"/>
                <a:cs typeface="Consolas" panose="020B0609020204030204"/>
              </a:rPr>
              <a:t>3</a:t>
            </a:r>
            <a:endParaRPr sz="1800">
              <a:latin typeface="Consolas" panose="020B0609020204030204"/>
              <a:cs typeface="Consolas" panose="020B0609020204030204"/>
            </a:endParaRPr>
          </a:p>
          <a:p>
            <a:pPr marL="90805">
              <a:lnSpc>
                <a:spcPct val="100000"/>
              </a:lnSpc>
              <a:spcBef>
                <a:spcPts val="50"/>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11" name="object 11"/>
          <p:cNvSpPr txBox="1"/>
          <p:nvPr/>
        </p:nvSpPr>
        <p:spPr>
          <a:xfrm>
            <a:off x="4941879" y="4391066"/>
            <a:ext cx="1324610" cy="369570"/>
          </a:xfrm>
          <a:prstGeom prst="rect">
            <a:avLst/>
          </a:prstGeom>
          <a:ln w="12700">
            <a:solidFill>
              <a:srgbClr val="000000"/>
            </a:solidFill>
          </a:ln>
        </p:spPr>
        <p:txBody>
          <a:bodyPr vert="horz" wrap="square" lIns="0" tIns="31115" rIns="0" bIns="0" rtlCol="0">
            <a:spAutoFit/>
          </a:bodyPr>
          <a:lstStyle/>
          <a:p>
            <a:pPr marL="91440">
              <a:lnSpc>
                <a:spcPct val="100000"/>
              </a:lnSpc>
              <a:spcBef>
                <a:spcPts val="245"/>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12" name="object 12"/>
          <p:cNvSpPr/>
          <p:nvPr/>
        </p:nvSpPr>
        <p:spPr>
          <a:xfrm>
            <a:off x="5550952" y="4760370"/>
            <a:ext cx="103505" cy="407034"/>
          </a:xfrm>
          <a:custGeom>
            <a:avLst/>
            <a:gdLst/>
            <a:ahLst/>
            <a:cxnLst/>
            <a:rect l="l" t="t" r="r" b="b"/>
            <a:pathLst>
              <a:path w="103504" h="407035">
                <a:moveTo>
                  <a:pt x="7115" y="310760"/>
                </a:moveTo>
                <a:lnTo>
                  <a:pt x="1041" y="314267"/>
                </a:lnTo>
                <a:lnTo>
                  <a:pt x="0" y="318151"/>
                </a:lnTo>
                <a:lnTo>
                  <a:pt x="51305" y="407013"/>
                </a:lnTo>
                <a:lnTo>
                  <a:pt x="58715" y="394440"/>
                </a:lnTo>
                <a:lnTo>
                  <a:pt x="45011" y="394383"/>
                </a:lnTo>
                <a:lnTo>
                  <a:pt x="45116" y="370894"/>
                </a:lnTo>
                <a:lnTo>
                  <a:pt x="10999" y="311801"/>
                </a:lnTo>
                <a:lnTo>
                  <a:pt x="7115" y="310760"/>
                </a:lnTo>
                <a:close/>
              </a:path>
              <a:path w="103504" h="407035">
                <a:moveTo>
                  <a:pt x="45116" y="370894"/>
                </a:moveTo>
                <a:lnTo>
                  <a:pt x="45011" y="394383"/>
                </a:lnTo>
                <a:lnTo>
                  <a:pt x="57711" y="394440"/>
                </a:lnTo>
                <a:lnTo>
                  <a:pt x="57725" y="391236"/>
                </a:lnTo>
                <a:lnTo>
                  <a:pt x="45890" y="391187"/>
                </a:lnTo>
                <a:lnTo>
                  <a:pt x="51417" y="381809"/>
                </a:lnTo>
                <a:lnTo>
                  <a:pt x="45116" y="370894"/>
                </a:lnTo>
                <a:close/>
              </a:path>
              <a:path w="103504" h="407035">
                <a:moveTo>
                  <a:pt x="96354" y="311160"/>
                </a:moveTo>
                <a:lnTo>
                  <a:pt x="92462" y="312165"/>
                </a:lnTo>
                <a:lnTo>
                  <a:pt x="57816" y="370951"/>
                </a:lnTo>
                <a:lnTo>
                  <a:pt x="57711" y="394440"/>
                </a:lnTo>
                <a:lnTo>
                  <a:pt x="58715" y="394440"/>
                </a:lnTo>
                <a:lnTo>
                  <a:pt x="103403" y="318613"/>
                </a:lnTo>
                <a:lnTo>
                  <a:pt x="102397" y="314721"/>
                </a:lnTo>
                <a:lnTo>
                  <a:pt x="96354" y="311160"/>
                </a:lnTo>
                <a:close/>
              </a:path>
              <a:path w="103504" h="407035">
                <a:moveTo>
                  <a:pt x="51417" y="381809"/>
                </a:moveTo>
                <a:lnTo>
                  <a:pt x="45890" y="391187"/>
                </a:lnTo>
                <a:lnTo>
                  <a:pt x="56860" y="391236"/>
                </a:lnTo>
                <a:lnTo>
                  <a:pt x="51417" y="381809"/>
                </a:lnTo>
                <a:close/>
              </a:path>
              <a:path w="103504" h="407035">
                <a:moveTo>
                  <a:pt x="57816" y="370951"/>
                </a:moveTo>
                <a:lnTo>
                  <a:pt x="51417" y="381809"/>
                </a:lnTo>
                <a:lnTo>
                  <a:pt x="56860" y="391236"/>
                </a:lnTo>
                <a:lnTo>
                  <a:pt x="57725" y="391236"/>
                </a:lnTo>
                <a:lnTo>
                  <a:pt x="57816" y="370951"/>
                </a:lnTo>
                <a:close/>
              </a:path>
              <a:path w="103504" h="407035">
                <a:moveTo>
                  <a:pt x="46777" y="0"/>
                </a:moveTo>
                <a:lnTo>
                  <a:pt x="45116" y="370894"/>
                </a:lnTo>
                <a:lnTo>
                  <a:pt x="51417" y="381809"/>
                </a:lnTo>
                <a:lnTo>
                  <a:pt x="57816" y="370951"/>
                </a:lnTo>
                <a:lnTo>
                  <a:pt x="59477" y="57"/>
                </a:lnTo>
                <a:lnTo>
                  <a:pt x="46777" y="0"/>
                </a:lnTo>
                <a:close/>
              </a:path>
            </a:pathLst>
          </a:custGeom>
          <a:solidFill>
            <a:srgbClr val="000000"/>
          </a:solidFill>
        </p:spPr>
        <p:txBody>
          <a:bodyPr wrap="square" lIns="0" tIns="0" rIns="0" bIns="0" rtlCol="0"/>
          <a:lstStyle/>
          <a:p>
            <a:endParaRPr/>
          </a:p>
        </p:txBody>
      </p:sp>
      <p:sp>
        <p:nvSpPr>
          <p:cNvPr id="13" name="object 13"/>
          <p:cNvSpPr txBox="1"/>
          <p:nvPr/>
        </p:nvSpPr>
        <p:spPr>
          <a:xfrm>
            <a:off x="4506328" y="4409947"/>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1</a:t>
            </a:r>
            <a:endParaRPr sz="1800" baseline="-14000">
              <a:latin typeface="Palatino Linotype" panose="02040502050505030304"/>
              <a:cs typeface="Palatino Linotype" panose="02040502050505030304"/>
            </a:endParaRPr>
          </a:p>
        </p:txBody>
      </p:sp>
      <p:sp>
        <p:nvSpPr>
          <p:cNvPr id="16" name="object 1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7" name="object 1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8" name="object 1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66</a:t>
            </a:fld>
            <a:endParaRPr dirty="0"/>
          </a:p>
        </p:txBody>
      </p:sp>
      <p:sp>
        <p:nvSpPr>
          <p:cNvPr id="14" name="object 14"/>
          <p:cNvSpPr txBox="1"/>
          <p:nvPr/>
        </p:nvSpPr>
        <p:spPr>
          <a:xfrm>
            <a:off x="4502680" y="5184140"/>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2</a:t>
            </a:r>
            <a:endParaRPr sz="1800" baseline="-14000">
              <a:latin typeface="Palatino Linotype" panose="02040502050505030304"/>
              <a:cs typeface="Palatino Linotype" panose="02040502050505030304"/>
            </a:endParaRPr>
          </a:p>
        </p:txBody>
      </p:sp>
      <p:sp>
        <p:nvSpPr>
          <p:cNvPr id="15" name="object 15"/>
          <p:cNvSpPr txBox="1"/>
          <p:nvPr/>
        </p:nvSpPr>
        <p:spPr>
          <a:xfrm>
            <a:off x="6536690" y="5327396"/>
            <a:ext cx="15525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Palatino Linotype" panose="02040502050505030304"/>
                <a:cs typeface="Palatino Linotype" panose="02040502050505030304"/>
              </a:rPr>
              <a:t>Generates</a:t>
            </a:r>
            <a:r>
              <a:rPr sz="1800" spc="-4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x</a:t>
            </a:r>
            <a:r>
              <a:rPr sz="1800" i="1" spc="-3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a:t>
            </a:r>
            <a:r>
              <a:rPr sz="1800" i="1" spc="-30" dirty="0">
                <a:solidFill>
                  <a:srgbClr val="FF0000"/>
                </a:solidFill>
                <a:latin typeface="Palatino Linotype" panose="02040502050505030304"/>
                <a:cs typeface="Palatino Linotype" panose="02040502050505030304"/>
              </a:rPr>
              <a:t> </a:t>
            </a:r>
            <a:r>
              <a:rPr sz="1800" i="1" dirty="0">
                <a:solidFill>
                  <a:srgbClr val="FF0000"/>
                </a:solidFill>
                <a:latin typeface="Palatino Linotype" panose="02040502050505030304"/>
                <a:cs typeface="Palatino Linotype" panose="02040502050505030304"/>
              </a:rPr>
              <a:t>y</a:t>
            </a:r>
            <a:endParaRPr sz="1800">
              <a:latin typeface="Palatino Linotype" panose="02040502050505030304"/>
              <a:cs typeface="Palatino Linotype" panose="020405020505050303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99439"/>
            <a:ext cx="7576820" cy="497840"/>
          </a:xfrm>
          <a:prstGeom prst="rect">
            <a:avLst/>
          </a:prstGeom>
        </p:spPr>
        <p:txBody>
          <a:bodyPr vert="horz" wrap="square" lIns="0" tIns="12700" rIns="0" bIns="0" rtlCol="0">
            <a:spAutoFit/>
          </a:bodyPr>
          <a:lstStyle/>
          <a:p>
            <a:pPr marL="12700">
              <a:lnSpc>
                <a:spcPct val="100000"/>
              </a:lnSpc>
              <a:spcBef>
                <a:spcPts val="100"/>
              </a:spcBef>
            </a:pPr>
            <a:r>
              <a:rPr sz="3100" spc="-10" dirty="0"/>
              <a:t>The</a:t>
            </a:r>
            <a:r>
              <a:rPr sz="3100" spc="-5" dirty="0"/>
              <a:t> </a:t>
            </a:r>
            <a:r>
              <a:rPr sz="3100" dirty="0"/>
              <a:t>Primary</a:t>
            </a:r>
            <a:r>
              <a:rPr sz="3100" spc="-5" dirty="0"/>
              <a:t> Use </a:t>
            </a:r>
            <a:r>
              <a:rPr sz="3100" dirty="0"/>
              <a:t>of </a:t>
            </a:r>
            <a:r>
              <a:rPr sz="3100" spc="-25" dirty="0"/>
              <a:t>Available</a:t>
            </a:r>
            <a:r>
              <a:rPr sz="3100" spc="-5" dirty="0"/>
              <a:t> Expressions</a:t>
            </a:r>
            <a:endParaRPr sz="3100"/>
          </a:p>
        </p:txBody>
      </p:sp>
      <p:sp>
        <p:nvSpPr>
          <p:cNvPr id="3" name="object 3"/>
          <p:cNvSpPr txBox="1"/>
          <p:nvPr/>
        </p:nvSpPr>
        <p:spPr>
          <a:xfrm>
            <a:off x="707390" y="1572259"/>
            <a:ext cx="5378450"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Detecting</a:t>
            </a:r>
            <a:r>
              <a:rPr sz="2400" spc="-1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global</a:t>
            </a:r>
            <a:r>
              <a:rPr sz="2400" spc="-10"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common</a:t>
            </a:r>
            <a:r>
              <a:rPr sz="2400" spc="-1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expressions</a:t>
            </a:r>
            <a:endParaRPr sz="2400">
              <a:latin typeface="Palatino Linotype" panose="02040502050505030304"/>
              <a:cs typeface="Palatino Linotype" panose="02040502050505030304"/>
            </a:endParaRPr>
          </a:p>
        </p:txBody>
      </p:sp>
      <p:sp>
        <p:nvSpPr>
          <p:cNvPr id="4" name="object 4"/>
          <p:cNvSpPr txBox="1"/>
          <p:nvPr/>
        </p:nvSpPr>
        <p:spPr>
          <a:xfrm>
            <a:off x="1405829" y="3338557"/>
            <a:ext cx="817880" cy="369570"/>
          </a:xfrm>
          <a:prstGeom prst="rect">
            <a:avLst/>
          </a:prstGeom>
          <a:ln w="12700">
            <a:solidFill>
              <a:srgbClr val="000000"/>
            </a:solidFill>
          </a:ln>
        </p:spPr>
        <p:txBody>
          <a:bodyPr vert="horz" wrap="square" lIns="0" tIns="32384" rIns="0" bIns="0" rtlCol="0">
            <a:spAutoFit/>
          </a:bodyPr>
          <a:lstStyle/>
          <a:p>
            <a:pPr marL="91440">
              <a:lnSpc>
                <a:spcPct val="100000"/>
              </a:lnSpc>
              <a:spcBef>
                <a:spcPts val="255"/>
              </a:spcBef>
            </a:pPr>
            <a:r>
              <a:rPr sz="1800" dirty="0">
                <a:latin typeface="Consolas" panose="020B0609020204030204"/>
                <a:cs typeface="Consolas" panose="020B0609020204030204"/>
              </a:rPr>
              <a:t>k</a:t>
            </a:r>
            <a:r>
              <a:rPr sz="1800" spc="-45" dirty="0">
                <a:latin typeface="Consolas" panose="020B0609020204030204"/>
                <a:cs typeface="Consolas" panose="020B0609020204030204"/>
              </a:rPr>
              <a:t> </a:t>
            </a:r>
            <a:r>
              <a:rPr sz="1800" dirty="0">
                <a:latin typeface="Consolas" panose="020B0609020204030204"/>
                <a:cs typeface="Consolas" panose="020B0609020204030204"/>
              </a:rPr>
              <a:t>=</a:t>
            </a:r>
            <a:r>
              <a:rPr sz="1800" spc="-45" dirty="0">
                <a:latin typeface="Consolas" panose="020B0609020204030204"/>
                <a:cs typeface="Consolas" panose="020B0609020204030204"/>
              </a:rPr>
              <a:t> </a:t>
            </a:r>
            <a:r>
              <a:rPr sz="1800" dirty="0">
                <a:latin typeface="Consolas" panose="020B0609020204030204"/>
                <a:cs typeface="Consolas" panose="020B0609020204030204"/>
              </a:rPr>
              <a:t>3</a:t>
            </a:r>
            <a:endParaRPr sz="1800">
              <a:latin typeface="Consolas" panose="020B0609020204030204"/>
              <a:cs typeface="Consolas" panose="020B0609020204030204"/>
            </a:endParaRPr>
          </a:p>
        </p:txBody>
      </p:sp>
      <p:sp>
        <p:nvSpPr>
          <p:cNvPr id="5" name="object 5"/>
          <p:cNvSpPr txBox="1"/>
          <p:nvPr/>
        </p:nvSpPr>
        <p:spPr>
          <a:xfrm>
            <a:off x="1981235" y="2562269"/>
            <a:ext cx="1324610" cy="369570"/>
          </a:xfrm>
          <a:prstGeom prst="rect">
            <a:avLst/>
          </a:prstGeom>
          <a:ln w="12700">
            <a:solidFill>
              <a:srgbClr val="000000"/>
            </a:solidFill>
          </a:ln>
        </p:spPr>
        <p:txBody>
          <a:bodyPr vert="horz" wrap="square" lIns="0" tIns="31115" rIns="0" bIns="0" rtlCol="0">
            <a:spAutoFit/>
          </a:bodyPr>
          <a:lstStyle/>
          <a:p>
            <a:pPr marL="90805">
              <a:lnSpc>
                <a:spcPct val="100000"/>
              </a:lnSpc>
              <a:spcBef>
                <a:spcPts val="245"/>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6" name="object 6"/>
          <p:cNvSpPr/>
          <p:nvPr/>
        </p:nvSpPr>
        <p:spPr>
          <a:xfrm>
            <a:off x="1814729" y="2925900"/>
            <a:ext cx="831850" cy="420370"/>
          </a:xfrm>
          <a:custGeom>
            <a:avLst/>
            <a:gdLst/>
            <a:ahLst/>
            <a:cxnLst/>
            <a:rect l="l" t="t" r="r" b="b"/>
            <a:pathLst>
              <a:path w="831850" h="420370">
                <a:moveTo>
                  <a:pt x="60707" y="326396"/>
                </a:moveTo>
                <a:lnTo>
                  <a:pt x="56766" y="327191"/>
                </a:lnTo>
                <a:lnTo>
                  <a:pt x="0" y="412668"/>
                </a:lnTo>
                <a:lnTo>
                  <a:pt x="102346" y="420008"/>
                </a:lnTo>
                <a:lnTo>
                  <a:pt x="105385" y="417375"/>
                </a:lnTo>
                <a:lnTo>
                  <a:pt x="105712" y="412813"/>
                </a:lnTo>
                <a:lnTo>
                  <a:pt x="14110" y="412813"/>
                </a:lnTo>
                <a:lnTo>
                  <a:pt x="8512" y="401413"/>
                </a:lnTo>
                <a:lnTo>
                  <a:pt x="29595" y="391060"/>
                </a:lnTo>
                <a:lnTo>
                  <a:pt x="67345" y="334217"/>
                </a:lnTo>
                <a:lnTo>
                  <a:pt x="66550" y="330276"/>
                </a:lnTo>
                <a:lnTo>
                  <a:pt x="60707" y="326396"/>
                </a:lnTo>
                <a:close/>
              </a:path>
              <a:path w="831850" h="420370">
                <a:moveTo>
                  <a:pt x="29595" y="391060"/>
                </a:moveTo>
                <a:lnTo>
                  <a:pt x="8512" y="401413"/>
                </a:lnTo>
                <a:lnTo>
                  <a:pt x="14110" y="412813"/>
                </a:lnTo>
                <a:lnTo>
                  <a:pt x="18564" y="410626"/>
                </a:lnTo>
                <a:lnTo>
                  <a:pt x="16601" y="410626"/>
                </a:lnTo>
                <a:lnTo>
                  <a:pt x="11766" y="400780"/>
                </a:lnTo>
                <a:lnTo>
                  <a:pt x="23140" y="400780"/>
                </a:lnTo>
                <a:lnTo>
                  <a:pt x="29595" y="391060"/>
                </a:lnTo>
                <a:close/>
              </a:path>
              <a:path w="831850" h="420370">
                <a:moveTo>
                  <a:pt x="35193" y="402459"/>
                </a:moveTo>
                <a:lnTo>
                  <a:pt x="14110" y="412813"/>
                </a:lnTo>
                <a:lnTo>
                  <a:pt x="105712" y="412813"/>
                </a:lnTo>
                <a:lnTo>
                  <a:pt x="105887" y="410378"/>
                </a:lnTo>
                <a:lnTo>
                  <a:pt x="103254" y="407339"/>
                </a:lnTo>
                <a:lnTo>
                  <a:pt x="35193" y="402459"/>
                </a:lnTo>
                <a:close/>
              </a:path>
              <a:path w="831850" h="420370">
                <a:moveTo>
                  <a:pt x="11766" y="400780"/>
                </a:moveTo>
                <a:lnTo>
                  <a:pt x="16601" y="410626"/>
                </a:lnTo>
                <a:lnTo>
                  <a:pt x="22623" y="401558"/>
                </a:lnTo>
                <a:lnTo>
                  <a:pt x="11766" y="400780"/>
                </a:lnTo>
                <a:close/>
              </a:path>
              <a:path w="831850" h="420370">
                <a:moveTo>
                  <a:pt x="22623" y="401558"/>
                </a:moveTo>
                <a:lnTo>
                  <a:pt x="16601" y="410626"/>
                </a:lnTo>
                <a:lnTo>
                  <a:pt x="18564" y="410626"/>
                </a:lnTo>
                <a:lnTo>
                  <a:pt x="35193" y="402459"/>
                </a:lnTo>
                <a:lnTo>
                  <a:pt x="22623" y="401558"/>
                </a:lnTo>
                <a:close/>
              </a:path>
              <a:path w="831850" h="420370">
                <a:moveTo>
                  <a:pt x="825907" y="0"/>
                </a:moveTo>
                <a:lnTo>
                  <a:pt x="29595" y="391060"/>
                </a:lnTo>
                <a:lnTo>
                  <a:pt x="22623" y="401558"/>
                </a:lnTo>
                <a:lnTo>
                  <a:pt x="35193" y="402459"/>
                </a:lnTo>
                <a:lnTo>
                  <a:pt x="831505" y="11399"/>
                </a:lnTo>
                <a:lnTo>
                  <a:pt x="825907" y="0"/>
                </a:lnTo>
                <a:close/>
              </a:path>
              <a:path w="831850" h="420370">
                <a:moveTo>
                  <a:pt x="23140" y="400780"/>
                </a:moveTo>
                <a:lnTo>
                  <a:pt x="11766" y="400780"/>
                </a:lnTo>
                <a:lnTo>
                  <a:pt x="22623" y="401558"/>
                </a:lnTo>
                <a:lnTo>
                  <a:pt x="23140" y="400780"/>
                </a:lnTo>
                <a:close/>
              </a:path>
            </a:pathLst>
          </a:custGeom>
          <a:solidFill>
            <a:srgbClr val="000000"/>
          </a:solidFill>
        </p:spPr>
        <p:txBody>
          <a:bodyPr wrap="square" lIns="0" tIns="0" rIns="0" bIns="0" rtlCol="0"/>
          <a:lstStyle/>
          <a:p>
            <a:endParaRPr/>
          </a:p>
        </p:txBody>
      </p:sp>
      <p:sp>
        <p:nvSpPr>
          <p:cNvPr id="7" name="object 7"/>
          <p:cNvSpPr txBox="1"/>
          <p:nvPr/>
        </p:nvSpPr>
        <p:spPr>
          <a:xfrm>
            <a:off x="1545682" y="2581147"/>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1</a:t>
            </a:r>
            <a:endParaRPr sz="1800" baseline="-14000">
              <a:latin typeface="Palatino Linotype" panose="02040502050505030304"/>
              <a:cs typeface="Palatino Linotype" panose="02040502050505030304"/>
            </a:endParaRPr>
          </a:p>
        </p:txBody>
      </p:sp>
      <p:sp>
        <p:nvSpPr>
          <p:cNvPr id="8" name="object 8"/>
          <p:cNvSpPr txBox="1"/>
          <p:nvPr/>
        </p:nvSpPr>
        <p:spPr>
          <a:xfrm>
            <a:off x="956243" y="3355340"/>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2</a:t>
            </a:r>
            <a:endParaRPr sz="1800" baseline="-14000">
              <a:latin typeface="Palatino Linotype" panose="02040502050505030304"/>
              <a:cs typeface="Palatino Linotype" panose="02040502050505030304"/>
            </a:endParaRPr>
          </a:p>
        </p:txBody>
      </p:sp>
      <p:sp>
        <p:nvSpPr>
          <p:cNvPr id="9" name="object 9"/>
          <p:cNvSpPr txBox="1"/>
          <p:nvPr/>
        </p:nvSpPr>
        <p:spPr>
          <a:xfrm>
            <a:off x="1981235" y="4237643"/>
            <a:ext cx="1324610" cy="369570"/>
          </a:xfrm>
          <a:prstGeom prst="rect">
            <a:avLst/>
          </a:prstGeom>
          <a:ln w="12700">
            <a:solidFill>
              <a:srgbClr val="000000"/>
            </a:solidFill>
          </a:ln>
        </p:spPr>
        <p:txBody>
          <a:bodyPr vert="horz" wrap="square" lIns="0" tIns="32384" rIns="0" bIns="0" rtlCol="0">
            <a:spAutoFit/>
          </a:bodyPr>
          <a:lstStyle/>
          <a:p>
            <a:pPr marL="90805">
              <a:lnSpc>
                <a:spcPct val="100000"/>
              </a:lnSpc>
              <a:spcBef>
                <a:spcPts val="255"/>
              </a:spcBef>
            </a:pPr>
            <a:r>
              <a:rPr sz="1800" dirty="0">
                <a:latin typeface="Consolas" panose="020B0609020204030204"/>
                <a:cs typeface="Consolas" panose="020B0609020204030204"/>
              </a:rPr>
              <a:t>m</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10" name="object 10"/>
          <p:cNvSpPr/>
          <p:nvPr/>
        </p:nvSpPr>
        <p:spPr>
          <a:xfrm>
            <a:off x="2896749" y="2931600"/>
            <a:ext cx="103505" cy="1306195"/>
          </a:xfrm>
          <a:custGeom>
            <a:avLst/>
            <a:gdLst/>
            <a:ahLst/>
            <a:cxnLst/>
            <a:rect l="l" t="t" r="r" b="b"/>
            <a:pathLst>
              <a:path w="103505" h="1306195">
                <a:moveTo>
                  <a:pt x="7081" y="1210017"/>
                </a:moveTo>
                <a:lnTo>
                  <a:pt x="1022" y="1213552"/>
                </a:lnTo>
                <a:lnTo>
                  <a:pt x="0" y="1217441"/>
                </a:lnTo>
                <a:lnTo>
                  <a:pt x="51701" y="1306073"/>
                </a:lnTo>
                <a:lnTo>
                  <a:pt x="59052" y="1293470"/>
                </a:lnTo>
                <a:lnTo>
                  <a:pt x="45351" y="1293470"/>
                </a:lnTo>
                <a:lnTo>
                  <a:pt x="45351" y="1269981"/>
                </a:lnTo>
                <a:lnTo>
                  <a:pt x="10968" y="1211041"/>
                </a:lnTo>
                <a:lnTo>
                  <a:pt x="7081" y="1210017"/>
                </a:lnTo>
                <a:close/>
              </a:path>
              <a:path w="103505" h="1306195">
                <a:moveTo>
                  <a:pt x="45351" y="1269982"/>
                </a:moveTo>
                <a:lnTo>
                  <a:pt x="45351" y="1293470"/>
                </a:lnTo>
                <a:lnTo>
                  <a:pt x="58051" y="1293470"/>
                </a:lnTo>
                <a:lnTo>
                  <a:pt x="58051" y="1290270"/>
                </a:lnTo>
                <a:lnTo>
                  <a:pt x="46216" y="1290270"/>
                </a:lnTo>
                <a:lnTo>
                  <a:pt x="51701" y="1280867"/>
                </a:lnTo>
                <a:lnTo>
                  <a:pt x="45351" y="1269982"/>
                </a:lnTo>
                <a:close/>
              </a:path>
              <a:path w="103505" h="1306195">
                <a:moveTo>
                  <a:pt x="96321" y="1210017"/>
                </a:moveTo>
                <a:lnTo>
                  <a:pt x="92433" y="1211041"/>
                </a:lnTo>
                <a:lnTo>
                  <a:pt x="58051" y="1269981"/>
                </a:lnTo>
                <a:lnTo>
                  <a:pt x="58051" y="1293470"/>
                </a:lnTo>
                <a:lnTo>
                  <a:pt x="59052" y="1293470"/>
                </a:lnTo>
                <a:lnTo>
                  <a:pt x="103403" y="1217441"/>
                </a:lnTo>
                <a:lnTo>
                  <a:pt x="102379" y="1213552"/>
                </a:lnTo>
                <a:lnTo>
                  <a:pt x="96321" y="1210017"/>
                </a:lnTo>
                <a:close/>
              </a:path>
              <a:path w="103505" h="1306195">
                <a:moveTo>
                  <a:pt x="51701" y="1280867"/>
                </a:moveTo>
                <a:lnTo>
                  <a:pt x="46216" y="1290270"/>
                </a:lnTo>
                <a:lnTo>
                  <a:pt x="57186" y="1290270"/>
                </a:lnTo>
                <a:lnTo>
                  <a:pt x="51701" y="1280867"/>
                </a:lnTo>
                <a:close/>
              </a:path>
              <a:path w="103505" h="1306195">
                <a:moveTo>
                  <a:pt x="58051" y="1269981"/>
                </a:moveTo>
                <a:lnTo>
                  <a:pt x="51701" y="1280867"/>
                </a:lnTo>
                <a:lnTo>
                  <a:pt x="57186" y="1290270"/>
                </a:lnTo>
                <a:lnTo>
                  <a:pt x="58051" y="1290270"/>
                </a:lnTo>
                <a:lnTo>
                  <a:pt x="58051" y="1269981"/>
                </a:lnTo>
                <a:close/>
              </a:path>
              <a:path w="103505" h="1306195">
                <a:moveTo>
                  <a:pt x="58050" y="0"/>
                </a:moveTo>
                <a:lnTo>
                  <a:pt x="45350" y="0"/>
                </a:lnTo>
                <a:lnTo>
                  <a:pt x="45351" y="1269982"/>
                </a:lnTo>
                <a:lnTo>
                  <a:pt x="51701" y="1280867"/>
                </a:lnTo>
                <a:lnTo>
                  <a:pt x="58051" y="1269982"/>
                </a:lnTo>
                <a:lnTo>
                  <a:pt x="58050" y="0"/>
                </a:lnTo>
                <a:close/>
              </a:path>
            </a:pathLst>
          </a:custGeom>
          <a:solidFill>
            <a:srgbClr val="000000"/>
          </a:solidFill>
        </p:spPr>
        <p:txBody>
          <a:bodyPr wrap="square" lIns="0" tIns="0" rIns="0" bIns="0" rtlCol="0"/>
          <a:lstStyle/>
          <a:p>
            <a:endParaRPr/>
          </a:p>
        </p:txBody>
      </p:sp>
      <p:sp>
        <p:nvSpPr>
          <p:cNvPr id="11" name="object 11"/>
          <p:cNvSpPr/>
          <p:nvPr/>
        </p:nvSpPr>
        <p:spPr>
          <a:xfrm>
            <a:off x="1810477" y="3703196"/>
            <a:ext cx="585470" cy="534670"/>
          </a:xfrm>
          <a:custGeom>
            <a:avLst/>
            <a:gdLst/>
            <a:ahLst/>
            <a:cxnLst/>
            <a:rect l="l" t="t" r="r" b="b"/>
            <a:pathLst>
              <a:path w="585469" h="534670">
                <a:moveTo>
                  <a:pt x="487640" y="500537"/>
                </a:moveTo>
                <a:lnTo>
                  <a:pt x="484263" y="502720"/>
                </a:lnTo>
                <a:lnTo>
                  <a:pt x="482794" y="509578"/>
                </a:lnTo>
                <a:lnTo>
                  <a:pt x="484977" y="512955"/>
                </a:lnTo>
                <a:lnTo>
                  <a:pt x="585307" y="534466"/>
                </a:lnTo>
                <a:lnTo>
                  <a:pt x="584118" y="530668"/>
                </a:lnTo>
                <a:lnTo>
                  <a:pt x="571715" y="530668"/>
                </a:lnTo>
                <a:lnTo>
                  <a:pt x="554358" y="514842"/>
                </a:lnTo>
                <a:lnTo>
                  <a:pt x="487640" y="500537"/>
                </a:lnTo>
                <a:close/>
              </a:path>
              <a:path w="585469" h="534670">
                <a:moveTo>
                  <a:pt x="554358" y="514842"/>
                </a:moveTo>
                <a:lnTo>
                  <a:pt x="571715" y="530668"/>
                </a:lnTo>
                <a:lnTo>
                  <a:pt x="574264" y="527872"/>
                </a:lnTo>
                <a:lnTo>
                  <a:pt x="569934" y="527872"/>
                </a:lnTo>
                <a:lnTo>
                  <a:pt x="566681" y="517484"/>
                </a:lnTo>
                <a:lnTo>
                  <a:pt x="554358" y="514842"/>
                </a:lnTo>
                <a:close/>
              </a:path>
              <a:path w="585469" h="534670">
                <a:moveTo>
                  <a:pt x="551084" y="434681"/>
                </a:moveTo>
                <a:lnTo>
                  <a:pt x="544391" y="436777"/>
                </a:lnTo>
                <a:lnTo>
                  <a:pt x="542527" y="440339"/>
                </a:lnTo>
                <a:lnTo>
                  <a:pt x="562916" y="505458"/>
                </a:lnTo>
                <a:lnTo>
                  <a:pt x="580273" y="521284"/>
                </a:lnTo>
                <a:lnTo>
                  <a:pt x="571715" y="530668"/>
                </a:lnTo>
                <a:lnTo>
                  <a:pt x="584118" y="530668"/>
                </a:lnTo>
                <a:lnTo>
                  <a:pt x="554647" y="436544"/>
                </a:lnTo>
                <a:lnTo>
                  <a:pt x="551084" y="434681"/>
                </a:lnTo>
                <a:close/>
              </a:path>
              <a:path w="585469" h="534670">
                <a:moveTo>
                  <a:pt x="566681" y="517484"/>
                </a:moveTo>
                <a:lnTo>
                  <a:pt x="569934" y="527872"/>
                </a:lnTo>
                <a:lnTo>
                  <a:pt x="577325" y="519766"/>
                </a:lnTo>
                <a:lnTo>
                  <a:pt x="566681" y="517484"/>
                </a:lnTo>
                <a:close/>
              </a:path>
              <a:path w="585469" h="534670">
                <a:moveTo>
                  <a:pt x="562916" y="505458"/>
                </a:moveTo>
                <a:lnTo>
                  <a:pt x="566681" y="517484"/>
                </a:lnTo>
                <a:lnTo>
                  <a:pt x="577325" y="519766"/>
                </a:lnTo>
                <a:lnTo>
                  <a:pt x="569934" y="527872"/>
                </a:lnTo>
                <a:lnTo>
                  <a:pt x="574264" y="527872"/>
                </a:lnTo>
                <a:lnTo>
                  <a:pt x="580273" y="521284"/>
                </a:lnTo>
                <a:lnTo>
                  <a:pt x="562916" y="505458"/>
                </a:lnTo>
                <a:close/>
              </a:path>
              <a:path w="585469" h="534670">
                <a:moveTo>
                  <a:pt x="8557" y="0"/>
                </a:moveTo>
                <a:lnTo>
                  <a:pt x="0" y="9384"/>
                </a:lnTo>
                <a:lnTo>
                  <a:pt x="554358" y="514842"/>
                </a:lnTo>
                <a:lnTo>
                  <a:pt x="566681" y="517484"/>
                </a:lnTo>
                <a:lnTo>
                  <a:pt x="562916" y="505458"/>
                </a:lnTo>
                <a:lnTo>
                  <a:pt x="8557" y="0"/>
                </a:lnTo>
                <a:close/>
              </a:path>
            </a:pathLst>
          </a:custGeom>
          <a:solidFill>
            <a:srgbClr val="000000"/>
          </a:solidFill>
        </p:spPr>
        <p:txBody>
          <a:bodyPr wrap="square" lIns="0" tIns="0" rIns="0" bIns="0" rtlCol="0"/>
          <a:lstStyle/>
          <a:p>
            <a:endParaRPr/>
          </a:p>
        </p:txBody>
      </p:sp>
      <p:sp>
        <p:nvSpPr>
          <p:cNvPr id="12" name="object 12"/>
          <p:cNvSpPr txBox="1"/>
          <p:nvPr/>
        </p:nvSpPr>
        <p:spPr>
          <a:xfrm>
            <a:off x="1539175" y="4257547"/>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3</a:t>
            </a:r>
            <a:endParaRPr sz="1800" baseline="-14000">
              <a:latin typeface="Palatino Linotype" panose="02040502050505030304"/>
              <a:cs typeface="Palatino Linotype" panose="02040502050505030304"/>
            </a:endParaRPr>
          </a:p>
        </p:txBody>
      </p:sp>
      <p:sp>
        <p:nvSpPr>
          <p:cNvPr id="13" name="object 13"/>
          <p:cNvSpPr txBox="1"/>
          <p:nvPr/>
        </p:nvSpPr>
        <p:spPr>
          <a:xfrm>
            <a:off x="512124" y="4833620"/>
            <a:ext cx="8331200" cy="299720"/>
          </a:xfrm>
          <a:prstGeom prst="rect">
            <a:avLst/>
          </a:prstGeom>
        </p:spPr>
        <p:txBody>
          <a:bodyPr vert="horz" wrap="square" lIns="0" tIns="12700" rIns="0" bIns="0" rtlCol="0">
            <a:spAutoFit/>
          </a:bodyPr>
          <a:lstStyle/>
          <a:p>
            <a:pPr marL="50800">
              <a:lnSpc>
                <a:spcPct val="100000"/>
              </a:lnSpc>
              <a:spcBef>
                <a:spcPts val="100"/>
              </a:spcBef>
              <a:tabLst>
                <a:tab pos="3933190" algn="l"/>
              </a:tabLst>
            </a:pPr>
            <a:r>
              <a:rPr sz="1800" spc="-5" dirty="0">
                <a:solidFill>
                  <a:srgbClr val="FF0000"/>
                </a:solidFill>
                <a:latin typeface="Palatino Linotype" panose="02040502050505030304"/>
                <a:cs typeface="Palatino Linotype" panose="02040502050505030304"/>
              </a:rPr>
              <a:t>Case</a:t>
            </a:r>
            <a:r>
              <a:rPr sz="1800" dirty="0">
                <a:solidFill>
                  <a:srgbClr val="FF0000"/>
                </a:solidFill>
                <a:latin typeface="Palatino Linotype" panose="02040502050505030304"/>
                <a:cs typeface="Palatino Linotype" panose="02040502050505030304"/>
              </a:rPr>
              <a:t> 1: </a:t>
            </a: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2</a:t>
            </a:r>
            <a:r>
              <a:rPr sz="1800" spc="225" baseline="-1400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does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not redefine</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 </a:t>
            </a:r>
            <a:r>
              <a:rPr sz="1800" dirty="0">
                <a:latin typeface="Palatino Linotype" panose="02040502050505030304"/>
                <a:cs typeface="Palatino Linotype" panose="02040502050505030304"/>
              </a:rPr>
              <a:t>or </a:t>
            </a:r>
            <a:r>
              <a:rPr sz="1800" i="1" dirty="0">
                <a:latin typeface="Palatino Linotype" panose="02040502050505030304"/>
                <a:cs typeface="Palatino Linotype" panose="02040502050505030304"/>
              </a:rPr>
              <a:t>y	</a:t>
            </a:r>
            <a:r>
              <a:rPr sz="1800" spc="-5" dirty="0">
                <a:solidFill>
                  <a:srgbClr val="FF0000"/>
                </a:solidFill>
                <a:latin typeface="Palatino Linotype" panose="02040502050505030304"/>
                <a:cs typeface="Palatino Linotype" panose="02040502050505030304"/>
              </a:rPr>
              <a:t>Case </a:t>
            </a:r>
            <a:r>
              <a:rPr sz="1800" dirty="0">
                <a:solidFill>
                  <a:srgbClr val="FF0000"/>
                </a:solidFill>
                <a:latin typeface="Palatino Linotype" panose="02040502050505030304"/>
                <a:cs typeface="Palatino Linotype" panose="02040502050505030304"/>
              </a:rPr>
              <a:t>2:</a:t>
            </a:r>
            <a:r>
              <a:rPr sz="1800" spc="-10" dirty="0">
                <a:solidFill>
                  <a:srgbClr val="FF0000"/>
                </a:solidFill>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2</a:t>
            </a:r>
            <a:r>
              <a:rPr sz="1800" spc="217" baseline="-140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redefines</a:t>
            </a:r>
            <a:r>
              <a:rPr sz="1800" spc="-1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i="1"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recomputes</a:t>
            </a:r>
            <a:r>
              <a:rPr sz="1800" spc="-1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x</a:t>
            </a:r>
            <a:r>
              <a:rPr sz="1800" i="1"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a:t>
            </a:r>
            <a:r>
              <a:rPr sz="1800" i="1" spc="-10"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y</a:t>
            </a:r>
            <a:endParaRPr sz="1800">
              <a:latin typeface="Palatino Linotype" panose="02040502050505030304"/>
              <a:cs typeface="Palatino Linotype" panose="02040502050505030304"/>
            </a:endParaRPr>
          </a:p>
        </p:txBody>
      </p:sp>
      <p:sp>
        <p:nvSpPr>
          <p:cNvPr id="14" name="object 14"/>
          <p:cNvSpPr txBox="1"/>
          <p:nvPr/>
        </p:nvSpPr>
        <p:spPr>
          <a:xfrm>
            <a:off x="5545264" y="3238544"/>
            <a:ext cx="1324610" cy="646430"/>
          </a:xfrm>
          <a:prstGeom prst="rect">
            <a:avLst/>
          </a:prstGeom>
          <a:ln w="12700">
            <a:solidFill>
              <a:srgbClr val="000000"/>
            </a:solidFill>
          </a:ln>
        </p:spPr>
        <p:txBody>
          <a:bodyPr vert="horz" wrap="square" lIns="0" tIns="31750" rIns="0" bIns="0" rtlCol="0">
            <a:spAutoFit/>
          </a:bodyPr>
          <a:lstStyle/>
          <a:p>
            <a:pPr marL="90805">
              <a:lnSpc>
                <a:spcPct val="100000"/>
              </a:lnSpc>
              <a:spcBef>
                <a:spcPts val="250"/>
              </a:spcBef>
            </a:pPr>
            <a:r>
              <a:rPr sz="1800" dirty="0">
                <a:latin typeface="Consolas" panose="020B0609020204030204"/>
                <a:cs typeface="Consolas" panose="020B0609020204030204"/>
              </a:rPr>
              <a:t>x</a:t>
            </a:r>
            <a:r>
              <a:rPr sz="1800" spc="-45" dirty="0">
                <a:latin typeface="Consolas" panose="020B0609020204030204"/>
                <a:cs typeface="Consolas" panose="020B0609020204030204"/>
              </a:rPr>
              <a:t> </a:t>
            </a:r>
            <a:r>
              <a:rPr sz="1800" dirty="0">
                <a:latin typeface="Consolas" panose="020B0609020204030204"/>
                <a:cs typeface="Consolas" panose="020B0609020204030204"/>
              </a:rPr>
              <a:t>=</a:t>
            </a:r>
            <a:r>
              <a:rPr sz="1800" spc="-45" dirty="0">
                <a:latin typeface="Consolas" panose="020B0609020204030204"/>
                <a:cs typeface="Consolas" panose="020B0609020204030204"/>
              </a:rPr>
              <a:t> </a:t>
            </a:r>
            <a:r>
              <a:rPr sz="1800" dirty="0">
                <a:latin typeface="Consolas" panose="020B0609020204030204"/>
                <a:cs typeface="Consolas" panose="020B0609020204030204"/>
              </a:rPr>
              <a:t>3</a:t>
            </a:r>
            <a:endParaRPr sz="1800">
              <a:latin typeface="Consolas" panose="020B0609020204030204"/>
              <a:cs typeface="Consolas" panose="020B0609020204030204"/>
            </a:endParaRPr>
          </a:p>
          <a:p>
            <a:pPr marL="90805">
              <a:lnSpc>
                <a:spcPct val="100000"/>
              </a:lnSpc>
              <a:spcBef>
                <a:spcPts val="50"/>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15" name="object 15"/>
          <p:cNvSpPr txBox="1"/>
          <p:nvPr/>
        </p:nvSpPr>
        <p:spPr>
          <a:xfrm>
            <a:off x="6120669" y="2462255"/>
            <a:ext cx="1324610" cy="369570"/>
          </a:xfrm>
          <a:prstGeom prst="rect">
            <a:avLst/>
          </a:prstGeom>
          <a:ln w="12700">
            <a:solidFill>
              <a:srgbClr val="000000"/>
            </a:solidFill>
          </a:ln>
        </p:spPr>
        <p:txBody>
          <a:bodyPr vert="horz" wrap="square" lIns="0" tIns="33655" rIns="0" bIns="0" rtlCol="0">
            <a:spAutoFit/>
          </a:bodyPr>
          <a:lstStyle/>
          <a:p>
            <a:pPr marL="90805">
              <a:lnSpc>
                <a:spcPct val="100000"/>
              </a:lnSpc>
              <a:spcBef>
                <a:spcPts val="265"/>
              </a:spcBef>
            </a:pPr>
            <a:r>
              <a:rPr sz="1800" dirty="0">
                <a:latin typeface="Consolas" panose="020B0609020204030204"/>
                <a:cs typeface="Consolas" panose="020B0609020204030204"/>
              </a:rPr>
              <a:t>z</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16" name="object 16"/>
          <p:cNvSpPr/>
          <p:nvPr/>
        </p:nvSpPr>
        <p:spPr>
          <a:xfrm>
            <a:off x="6207441" y="2826404"/>
            <a:ext cx="579120" cy="412750"/>
          </a:xfrm>
          <a:custGeom>
            <a:avLst/>
            <a:gdLst/>
            <a:ahLst/>
            <a:cxnLst/>
            <a:rect l="l" t="t" r="r" b="b"/>
            <a:pathLst>
              <a:path w="579120" h="412750">
                <a:moveTo>
                  <a:pt x="46273" y="317356"/>
                </a:moveTo>
                <a:lnTo>
                  <a:pt x="42508" y="318766"/>
                </a:lnTo>
                <a:lnTo>
                  <a:pt x="0" y="412156"/>
                </a:lnTo>
                <a:lnTo>
                  <a:pt x="23842" y="410065"/>
                </a:lnTo>
                <a:lnTo>
                  <a:pt x="13953" y="410065"/>
                </a:lnTo>
                <a:lnTo>
                  <a:pt x="6620" y="399696"/>
                </a:lnTo>
                <a:lnTo>
                  <a:pt x="25797" y="386133"/>
                </a:lnTo>
                <a:lnTo>
                  <a:pt x="54066" y="324027"/>
                </a:lnTo>
                <a:lnTo>
                  <a:pt x="52656" y="320262"/>
                </a:lnTo>
                <a:lnTo>
                  <a:pt x="46273" y="317356"/>
                </a:lnTo>
                <a:close/>
              </a:path>
              <a:path w="579120" h="412750">
                <a:moveTo>
                  <a:pt x="25797" y="386133"/>
                </a:moveTo>
                <a:lnTo>
                  <a:pt x="6620" y="399696"/>
                </a:lnTo>
                <a:lnTo>
                  <a:pt x="13953" y="410065"/>
                </a:lnTo>
                <a:lnTo>
                  <a:pt x="17566" y="407509"/>
                </a:lnTo>
                <a:lnTo>
                  <a:pt x="16068" y="407509"/>
                </a:lnTo>
                <a:lnTo>
                  <a:pt x="9733" y="398553"/>
                </a:lnTo>
                <a:lnTo>
                  <a:pt x="20577" y="397602"/>
                </a:lnTo>
                <a:lnTo>
                  <a:pt x="25797" y="386133"/>
                </a:lnTo>
                <a:close/>
              </a:path>
              <a:path w="579120" h="412750">
                <a:moveTo>
                  <a:pt x="101107" y="390537"/>
                </a:moveTo>
                <a:lnTo>
                  <a:pt x="33132" y="396501"/>
                </a:lnTo>
                <a:lnTo>
                  <a:pt x="13953" y="410065"/>
                </a:lnTo>
                <a:lnTo>
                  <a:pt x="23842" y="410065"/>
                </a:lnTo>
                <a:lnTo>
                  <a:pt x="102217" y="403189"/>
                </a:lnTo>
                <a:lnTo>
                  <a:pt x="104800" y="400109"/>
                </a:lnTo>
                <a:lnTo>
                  <a:pt x="104186" y="393122"/>
                </a:lnTo>
                <a:lnTo>
                  <a:pt x="101107" y="390537"/>
                </a:lnTo>
                <a:close/>
              </a:path>
              <a:path w="579120" h="412750">
                <a:moveTo>
                  <a:pt x="20577" y="397602"/>
                </a:moveTo>
                <a:lnTo>
                  <a:pt x="9733" y="398553"/>
                </a:lnTo>
                <a:lnTo>
                  <a:pt x="16068" y="407509"/>
                </a:lnTo>
                <a:lnTo>
                  <a:pt x="20577" y="397602"/>
                </a:lnTo>
                <a:close/>
              </a:path>
              <a:path w="579120" h="412750">
                <a:moveTo>
                  <a:pt x="33132" y="396501"/>
                </a:moveTo>
                <a:lnTo>
                  <a:pt x="20577" y="397602"/>
                </a:lnTo>
                <a:lnTo>
                  <a:pt x="16068" y="407509"/>
                </a:lnTo>
                <a:lnTo>
                  <a:pt x="17566" y="407509"/>
                </a:lnTo>
                <a:lnTo>
                  <a:pt x="33132" y="396501"/>
                </a:lnTo>
                <a:close/>
              </a:path>
              <a:path w="579120" h="412750">
                <a:moveTo>
                  <a:pt x="571762" y="0"/>
                </a:moveTo>
                <a:lnTo>
                  <a:pt x="25797" y="386133"/>
                </a:lnTo>
                <a:lnTo>
                  <a:pt x="20577" y="397602"/>
                </a:lnTo>
                <a:lnTo>
                  <a:pt x="33132" y="396501"/>
                </a:lnTo>
                <a:lnTo>
                  <a:pt x="579095" y="10368"/>
                </a:lnTo>
                <a:lnTo>
                  <a:pt x="571762" y="0"/>
                </a:lnTo>
                <a:close/>
              </a:path>
            </a:pathLst>
          </a:custGeom>
          <a:solidFill>
            <a:srgbClr val="000000"/>
          </a:solidFill>
        </p:spPr>
        <p:txBody>
          <a:bodyPr wrap="square" lIns="0" tIns="0" rIns="0" bIns="0" rtlCol="0"/>
          <a:lstStyle/>
          <a:p>
            <a:endParaRPr/>
          </a:p>
        </p:txBody>
      </p:sp>
      <p:sp>
        <p:nvSpPr>
          <p:cNvPr id="17" name="object 17"/>
          <p:cNvSpPr txBox="1"/>
          <p:nvPr/>
        </p:nvSpPr>
        <p:spPr>
          <a:xfrm>
            <a:off x="5685118" y="2483611"/>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baseline="-14000" dirty="0">
                <a:latin typeface="Palatino Linotype" panose="02040502050505030304"/>
                <a:cs typeface="Palatino Linotype" panose="02040502050505030304"/>
              </a:rPr>
              <a:t>1</a:t>
            </a:r>
            <a:endParaRPr sz="1800" baseline="-14000">
              <a:latin typeface="Palatino Linotype" panose="02040502050505030304"/>
              <a:cs typeface="Palatino Linotype" panose="02040502050505030304"/>
            </a:endParaRPr>
          </a:p>
        </p:txBody>
      </p:sp>
      <p:sp>
        <p:nvSpPr>
          <p:cNvPr id="18" name="object 18"/>
          <p:cNvSpPr txBox="1"/>
          <p:nvPr/>
        </p:nvSpPr>
        <p:spPr>
          <a:xfrm>
            <a:off x="5095679" y="3254755"/>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2</a:t>
            </a:r>
            <a:endParaRPr sz="1800" baseline="-14000">
              <a:latin typeface="Palatino Linotype" panose="02040502050505030304"/>
              <a:cs typeface="Palatino Linotype" panose="02040502050505030304"/>
            </a:endParaRPr>
          </a:p>
        </p:txBody>
      </p:sp>
      <p:sp>
        <p:nvSpPr>
          <p:cNvPr id="19" name="object 19"/>
          <p:cNvSpPr txBox="1"/>
          <p:nvPr/>
        </p:nvSpPr>
        <p:spPr>
          <a:xfrm>
            <a:off x="6120669" y="4294795"/>
            <a:ext cx="1324610" cy="369570"/>
          </a:xfrm>
          <a:prstGeom prst="rect">
            <a:avLst/>
          </a:prstGeom>
          <a:ln w="12700">
            <a:solidFill>
              <a:srgbClr val="000000"/>
            </a:solidFill>
          </a:ln>
        </p:spPr>
        <p:txBody>
          <a:bodyPr vert="horz" wrap="square" lIns="0" tIns="33020" rIns="0" bIns="0" rtlCol="0">
            <a:spAutoFit/>
          </a:bodyPr>
          <a:lstStyle/>
          <a:p>
            <a:pPr marL="90805">
              <a:lnSpc>
                <a:spcPct val="100000"/>
              </a:lnSpc>
              <a:spcBef>
                <a:spcPts val="260"/>
              </a:spcBef>
            </a:pPr>
            <a:r>
              <a:rPr sz="1800" dirty="0">
                <a:latin typeface="Consolas" panose="020B0609020204030204"/>
                <a:cs typeface="Consolas" panose="020B0609020204030204"/>
              </a:rPr>
              <a:t>m</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x</a:t>
            </a:r>
            <a:r>
              <a:rPr sz="1800" spc="-30" dirty="0">
                <a:latin typeface="Consolas" panose="020B0609020204030204"/>
                <a:cs typeface="Consolas" panose="020B0609020204030204"/>
              </a:rPr>
              <a:t> </a:t>
            </a:r>
            <a:r>
              <a:rPr sz="1800" dirty="0">
                <a:latin typeface="Consolas" panose="020B0609020204030204"/>
                <a:cs typeface="Consolas" panose="020B0609020204030204"/>
              </a:rPr>
              <a:t>+</a:t>
            </a:r>
            <a:r>
              <a:rPr sz="1800" spc="-25" dirty="0">
                <a:latin typeface="Consolas" panose="020B0609020204030204"/>
                <a:cs typeface="Consolas" panose="020B0609020204030204"/>
              </a:rPr>
              <a:t> </a:t>
            </a:r>
            <a:r>
              <a:rPr sz="1800" dirty="0">
                <a:latin typeface="Consolas" panose="020B0609020204030204"/>
                <a:cs typeface="Consolas" panose="020B0609020204030204"/>
              </a:rPr>
              <a:t>y</a:t>
            </a:r>
            <a:endParaRPr sz="1800">
              <a:latin typeface="Consolas" panose="020B0609020204030204"/>
              <a:cs typeface="Consolas" panose="020B0609020204030204"/>
            </a:endParaRPr>
          </a:p>
        </p:txBody>
      </p:sp>
      <p:sp>
        <p:nvSpPr>
          <p:cNvPr id="20" name="object 20"/>
          <p:cNvSpPr/>
          <p:nvPr/>
        </p:nvSpPr>
        <p:spPr>
          <a:xfrm>
            <a:off x="7036183" y="2831588"/>
            <a:ext cx="103505" cy="1463675"/>
          </a:xfrm>
          <a:custGeom>
            <a:avLst/>
            <a:gdLst/>
            <a:ahLst/>
            <a:cxnLst/>
            <a:rect l="l" t="t" r="r" b="b"/>
            <a:pathLst>
              <a:path w="103504" h="1463675">
                <a:moveTo>
                  <a:pt x="7081" y="1367182"/>
                </a:moveTo>
                <a:lnTo>
                  <a:pt x="1023" y="1370717"/>
                </a:lnTo>
                <a:lnTo>
                  <a:pt x="0" y="1374604"/>
                </a:lnTo>
                <a:lnTo>
                  <a:pt x="51702" y="1463236"/>
                </a:lnTo>
                <a:lnTo>
                  <a:pt x="59054" y="1450634"/>
                </a:lnTo>
                <a:lnTo>
                  <a:pt x="45352" y="1450634"/>
                </a:lnTo>
                <a:lnTo>
                  <a:pt x="45351" y="1427146"/>
                </a:lnTo>
                <a:lnTo>
                  <a:pt x="10970" y="1368205"/>
                </a:lnTo>
                <a:lnTo>
                  <a:pt x="7081" y="1367182"/>
                </a:lnTo>
                <a:close/>
              </a:path>
              <a:path w="103504" h="1463675">
                <a:moveTo>
                  <a:pt x="45352" y="1427148"/>
                </a:moveTo>
                <a:lnTo>
                  <a:pt x="45352" y="1450634"/>
                </a:lnTo>
                <a:lnTo>
                  <a:pt x="58052" y="1450634"/>
                </a:lnTo>
                <a:lnTo>
                  <a:pt x="58052" y="1447435"/>
                </a:lnTo>
                <a:lnTo>
                  <a:pt x="46217" y="1447435"/>
                </a:lnTo>
                <a:lnTo>
                  <a:pt x="51702" y="1438033"/>
                </a:lnTo>
                <a:lnTo>
                  <a:pt x="45352" y="1427148"/>
                </a:lnTo>
                <a:close/>
              </a:path>
              <a:path w="103504" h="1463675">
                <a:moveTo>
                  <a:pt x="96323" y="1367182"/>
                </a:moveTo>
                <a:lnTo>
                  <a:pt x="92434" y="1368205"/>
                </a:lnTo>
                <a:lnTo>
                  <a:pt x="58052" y="1427146"/>
                </a:lnTo>
                <a:lnTo>
                  <a:pt x="58052" y="1450634"/>
                </a:lnTo>
                <a:lnTo>
                  <a:pt x="59054" y="1450634"/>
                </a:lnTo>
                <a:lnTo>
                  <a:pt x="103404" y="1374604"/>
                </a:lnTo>
                <a:lnTo>
                  <a:pt x="102381" y="1370717"/>
                </a:lnTo>
                <a:lnTo>
                  <a:pt x="96323" y="1367182"/>
                </a:lnTo>
                <a:close/>
              </a:path>
              <a:path w="103504" h="1463675">
                <a:moveTo>
                  <a:pt x="51702" y="1438033"/>
                </a:moveTo>
                <a:lnTo>
                  <a:pt x="46217" y="1447435"/>
                </a:lnTo>
                <a:lnTo>
                  <a:pt x="57186" y="1447435"/>
                </a:lnTo>
                <a:lnTo>
                  <a:pt x="51702" y="1438033"/>
                </a:lnTo>
                <a:close/>
              </a:path>
              <a:path w="103504" h="1463675">
                <a:moveTo>
                  <a:pt x="58052" y="1427146"/>
                </a:moveTo>
                <a:lnTo>
                  <a:pt x="51702" y="1438033"/>
                </a:lnTo>
                <a:lnTo>
                  <a:pt x="57186" y="1447435"/>
                </a:lnTo>
                <a:lnTo>
                  <a:pt x="58052" y="1447435"/>
                </a:lnTo>
                <a:lnTo>
                  <a:pt x="58052" y="1427146"/>
                </a:lnTo>
                <a:close/>
              </a:path>
              <a:path w="103504" h="1463675">
                <a:moveTo>
                  <a:pt x="58051" y="0"/>
                </a:moveTo>
                <a:lnTo>
                  <a:pt x="45351" y="0"/>
                </a:lnTo>
                <a:lnTo>
                  <a:pt x="45352" y="1427148"/>
                </a:lnTo>
                <a:lnTo>
                  <a:pt x="51702" y="1438033"/>
                </a:lnTo>
                <a:lnTo>
                  <a:pt x="58051" y="1427148"/>
                </a:lnTo>
                <a:lnTo>
                  <a:pt x="58051" y="0"/>
                </a:lnTo>
                <a:close/>
              </a:path>
            </a:pathLst>
          </a:custGeom>
          <a:solidFill>
            <a:srgbClr val="000000"/>
          </a:solidFill>
        </p:spPr>
        <p:txBody>
          <a:bodyPr wrap="square" lIns="0" tIns="0" rIns="0" bIns="0" rtlCol="0"/>
          <a:lstStyle/>
          <a:p>
            <a:endParaRPr/>
          </a:p>
        </p:txBody>
      </p:sp>
      <p:sp>
        <p:nvSpPr>
          <p:cNvPr id="21" name="object 21"/>
          <p:cNvSpPr/>
          <p:nvPr/>
        </p:nvSpPr>
        <p:spPr>
          <a:xfrm>
            <a:off x="6202638" y="3880748"/>
            <a:ext cx="355600" cy="414655"/>
          </a:xfrm>
          <a:custGeom>
            <a:avLst/>
            <a:gdLst/>
            <a:ahLst/>
            <a:cxnLst/>
            <a:rect l="l" t="t" r="r" b="b"/>
            <a:pathLst>
              <a:path w="355600" h="414654">
                <a:moveTo>
                  <a:pt x="262627" y="368312"/>
                </a:moveTo>
                <a:lnTo>
                  <a:pt x="259007" y="370061"/>
                </a:lnTo>
                <a:lnTo>
                  <a:pt x="256698" y="376685"/>
                </a:lnTo>
                <a:lnTo>
                  <a:pt x="258448" y="380305"/>
                </a:lnTo>
                <a:lnTo>
                  <a:pt x="355343" y="414070"/>
                </a:lnTo>
                <a:lnTo>
                  <a:pt x="354354" y="408617"/>
                </a:lnTo>
                <a:lnTo>
                  <a:pt x="342325" y="408617"/>
                </a:lnTo>
                <a:lnTo>
                  <a:pt x="327062" y="390766"/>
                </a:lnTo>
                <a:lnTo>
                  <a:pt x="262627" y="368312"/>
                </a:lnTo>
                <a:close/>
              </a:path>
              <a:path w="355600" h="414654">
                <a:moveTo>
                  <a:pt x="327062" y="390766"/>
                </a:moveTo>
                <a:lnTo>
                  <a:pt x="342325" y="408617"/>
                </a:lnTo>
                <a:lnTo>
                  <a:pt x="345825" y="405625"/>
                </a:lnTo>
                <a:lnTo>
                  <a:pt x="340906" y="405625"/>
                </a:lnTo>
                <a:lnTo>
                  <a:pt x="338964" y="394913"/>
                </a:lnTo>
                <a:lnTo>
                  <a:pt x="327062" y="390766"/>
                </a:lnTo>
                <a:close/>
              </a:path>
              <a:path w="355600" h="414654">
                <a:moveTo>
                  <a:pt x="333735" y="310815"/>
                </a:moveTo>
                <a:lnTo>
                  <a:pt x="326834" y="312066"/>
                </a:lnTo>
                <a:lnTo>
                  <a:pt x="324544" y="315371"/>
                </a:lnTo>
                <a:lnTo>
                  <a:pt x="336716" y="382513"/>
                </a:lnTo>
                <a:lnTo>
                  <a:pt x="351979" y="400363"/>
                </a:lnTo>
                <a:lnTo>
                  <a:pt x="342325" y="408617"/>
                </a:lnTo>
                <a:lnTo>
                  <a:pt x="354354" y="408617"/>
                </a:lnTo>
                <a:lnTo>
                  <a:pt x="337040" y="313105"/>
                </a:lnTo>
                <a:lnTo>
                  <a:pt x="333735" y="310815"/>
                </a:lnTo>
                <a:close/>
              </a:path>
              <a:path w="355600" h="414654">
                <a:moveTo>
                  <a:pt x="338964" y="394913"/>
                </a:moveTo>
                <a:lnTo>
                  <a:pt x="340906" y="405625"/>
                </a:lnTo>
                <a:lnTo>
                  <a:pt x="349243" y="398495"/>
                </a:lnTo>
                <a:lnTo>
                  <a:pt x="338964" y="394913"/>
                </a:lnTo>
                <a:close/>
              </a:path>
              <a:path w="355600" h="414654">
                <a:moveTo>
                  <a:pt x="336716" y="382513"/>
                </a:moveTo>
                <a:lnTo>
                  <a:pt x="338964" y="394913"/>
                </a:lnTo>
                <a:lnTo>
                  <a:pt x="349243" y="398495"/>
                </a:lnTo>
                <a:lnTo>
                  <a:pt x="340906" y="405625"/>
                </a:lnTo>
                <a:lnTo>
                  <a:pt x="345825" y="405625"/>
                </a:lnTo>
                <a:lnTo>
                  <a:pt x="351979" y="400363"/>
                </a:lnTo>
                <a:lnTo>
                  <a:pt x="336716" y="382513"/>
                </a:lnTo>
                <a:close/>
              </a:path>
              <a:path w="355600" h="414654">
                <a:moveTo>
                  <a:pt x="9653" y="0"/>
                </a:moveTo>
                <a:lnTo>
                  <a:pt x="0" y="8253"/>
                </a:lnTo>
                <a:lnTo>
                  <a:pt x="327062" y="390766"/>
                </a:lnTo>
                <a:lnTo>
                  <a:pt x="338964" y="394913"/>
                </a:lnTo>
                <a:lnTo>
                  <a:pt x="336716" y="382513"/>
                </a:lnTo>
                <a:lnTo>
                  <a:pt x="9653" y="0"/>
                </a:lnTo>
                <a:close/>
              </a:path>
            </a:pathLst>
          </a:custGeom>
          <a:solidFill>
            <a:srgbClr val="000000"/>
          </a:solidFill>
        </p:spPr>
        <p:txBody>
          <a:bodyPr wrap="square" lIns="0" tIns="0" rIns="0" bIns="0" rtlCol="0"/>
          <a:lstStyle/>
          <a:p>
            <a:endParaRPr/>
          </a:p>
        </p:txBody>
      </p:sp>
      <p:sp>
        <p:nvSpPr>
          <p:cNvPr id="22" name="object 22"/>
          <p:cNvSpPr txBox="1"/>
          <p:nvPr/>
        </p:nvSpPr>
        <p:spPr>
          <a:xfrm>
            <a:off x="5678609" y="4156964"/>
            <a:ext cx="292100" cy="299720"/>
          </a:xfrm>
          <a:prstGeom prst="rect">
            <a:avLst/>
          </a:prstGeom>
        </p:spPr>
        <p:txBody>
          <a:bodyPr vert="horz" wrap="square" lIns="0" tIns="12700" rIns="0" bIns="0" rtlCol="0">
            <a:spAutoFit/>
          </a:bodyPr>
          <a:lstStyle/>
          <a:p>
            <a:pPr marL="38100">
              <a:lnSpc>
                <a:spcPct val="100000"/>
              </a:lnSpc>
              <a:spcBef>
                <a:spcPts val="100"/>
              </a:spcBef>
            </a:pPr>
            <a:r>
              <a:rPr sz="1800" i="1" dirty="0">
                <a:latin typeface="Palatino Linotype" panose="02040502050505030304"/>
                <a:cs typeface="Palatino Linotype" panose="02040502050505030304"/>
              </a:rPr>
              <a:t>B</a:t>
            </a:r>
            <a:r>
              <a:rPr sz="1800" i="1" baseline="-14000" dirty="0">
                <a:latin typeface="Palatino Linotype" panose="02040502050505030304"/>
                <a:cs typeface="Palatino Linotype" panose="02040502050505030304"/>
              </a:rPr>
              <a:t>3</a:t>
            </a:r>
            <a:endParaRPr sz="1800" baseline="-14000">
              <a:latin typeface="Palatino Linotype" panose="02040502050505030304"/>
              <a:cs typeface="Palatino Linotype" panose="02040502050505030304"/>
            </a:endParaRPr>
          </a:p>
        </p:txBody>
      </p:sp>
      <p:sp>
        <p:nvSpPr>
          <p:cNvPr id="24" name="object 2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25" name="object 2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26" name="object 2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67</a:t>
            </a:fld>
            <a:endParaRPr dirty="0"/>
          </a:p>
        </p:txBody>
      </p:sp>
      <p:sp>
        <p:nvSpPr>
          <p:cNvPr id="23" name="object 23"/>
          <p:cNvSpPr txBox="1"/>
          <p:nvPr/>
        </p:nvSpPr>
        <p:spPr>
          <a:xfrm>
            <a:off x="671514" y="5489091"/>
            <a:ext cx="7887970" cy="504190"/>
          </a:xfrm>
          <a:prstGeom prst="rect">
            <a:avLst/>
          </a:prstGeom>
          <a:solidFill>
            <a:srgbClr val="FFD966"/>
          </a:solidFill>
          <a:ln w="9525">
            <a:solidFill>
              <a:srgbClr val="000000"/>
            </a:solidFill>
          </a:ln>
        </p:spPr>
        <p:txBody>
          <a:bodyPr vert="horz" wrap="square" lIns="0" tIns="87630" rIns="0" bIns="0" rtlCol="0">
            <a:spAutoFit/>
          </a:bodyPr>
          <a:lstStyle/>
          <a:p>
            <a:pPr algn="ctr">
              <a:lnSpc>
                <a:spcPct val="100000"/>
              </a:lnSpc>
              <a:spcBef>
                <a:spcPts val="690"/>
              </a:spcBef>
            </a:pPr>
            <a:r>
              <a:rPr sz="2000" b="1" spc="-5" dirty="0">
                <a:latin typeface="Palatino Linotype" panose="02040502050505030304"/>
                <a:cs typeface="Palatino Linotype" panose="02040502050505030304"/>
              </a:rPr>
              <a:t>In both</a:t>
            </a:r>
            <a:r>
              <a:rPr sz="2000" b="1"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cases, </a:t>
            </a:r>
            <a:r>
              <a:rPr sz="2000" b="1" i="1" dirty="0">
                <a:latin typeface="Palatino Linotype" panose="02040502050505030304"/>
                <a:cs typeface="Palatino Linotype" panose="02040502050505030304"/>
              </a:rPr>
              <a:t>x + y</a:t>
            </a:r>
            <a:r>
              <a:rPr sz="2000" b="1" i="1" spc="-5" dirty="0">
                <a:latin typeface="Palatino Linotype" panose="02040502050505030304"/>
                <a:cs typeface="Palatino Linotype" panose="02040502050505030304"/>
              </a:rPr>
              <a:t> </a:t>
            </a:r>
            <a:r>
              <a:rPr sz="2000" b="1" dirty="0">
                <a:latin typeface="Palatino Linotype" panose="02040502050505030304"/>
                <a:cs typeface="Palatino Linotype" panose="02040502050505030304"/>
              </a:rPr>
              <a:t>needs</a:t>
            </a:r>
            <a:r>
              <a:rPr sz="2000" b="1" spc="-5" dirty="0">
                <a:latin typeface="Palatino Linotype" panose="02040502050505030304"/>
                <a:cs typeface="Palatino Linotype" panose="02040502050505030304"/>
              </a:rPr>
              <a:t> </a:t>
            </a:r>
            <a:r>
              <a:rPr sz="2000" b="1" dirty="0">
                <a:latin typeface="Palatino Linotype" panose="02040502050505030304"/>
                <a:cs typeface="Palatino Linotype" panose="02040502050505030304"/>
              </a:rPr>
              <a:t>not</a:t>
            </a:r>
            <a:r>
              <a:rPr sz="2000" b="1" spc="-5" dirty="0">
                <a:latin typeface="Palatino Linotype" panose="02040502050505030304"/>
                <a:cs typeface="Palatino Linotype" panose="02040502050505030304"/>
              </a:rPr>
              <a:t> to </a:t>
            </a:r>
            <a:r>
              <a:rPr sz="2000" b="1" dirty="0">
                <a:latin typeface="Palatino Linotype" panose="02040502050505030304"/>
                <a:cs typeface="Palatino Linotype" panose="02040502050505030304"/>
              </a:rPr>
              <a:t>be </a:t>
            </a:r>
            <a:r>
              <a:rPr sz="2000" b="1" spc="-5" dirty="0">
                <a:latin typeface="Palatino Linotype" panose="02040502050505030304"/>
                <a:cs typeface="Palatino Linotype" panose="02040502050505030304"/>
              </a:rPr>
              <a:t>recomputed in</a:t>
            </a:r>
            <a:r>
              <a:rPr sz="2000" b="1" dirty="0">
                <a:latin typeface="Palatino Linotype" panose="02040502050505030304"/>
                <a:cs typeface="Palatino Linotype" panose="02040502050505030304"/>
              </a:rPr>
              <a:t> </a:t>
            </a:r>
            <a:r>
              <a:rPr sz="2000" b="1" i="1" dirty="0">
                <a:latin typeface="Palatino Linotype" panose="02040502050505030304"/>
                <a:cs typeface="Palatino Linotype" panose="02040502050505030304"/>
              </a:rPr>
              <a:t>B</a:t>
            </a:r>
            <a:r>
              <a:rPr sz="1950" b="1" baseline="-17000" dirty="0">
                <a:latin typeface="Palatino Linotype" panose="02040502050505030304"/>
                <a:cs typeface="Palatino Linotype" panose="02040502050505030304"/>
              </a:rPr>
              <a:t>3</a:t>
            </a:r>
            <a:endParaRPr sz="1950" baseline="-17000">
              <a:latin typeface="Palatino Linotype" panose="02040502050505030304"/>
              <a:cs typeface="Palatino Linotype" panose="020405020505050303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54227"/>
            <a:ext cx="7541895" cy="574040"/>
          </a:xfrm>
          <a:prstGeom prst="rect">
            <a:avLst/>
          </a:prstGeom>
        </p:spPr>
        <p:txBody>
          <a:bodyPr vert="horz" wrap="square" lIns="0" tIns="12700" rIns="0" bIns="0" rtlCol="0">
            <a:spAutoFit/>
          </a:bodyPr>
          <a:lstStyle/>
          <a:p>
            <a:pPr marL="12700">
              <a:lnSpc>
                <a:spcPct val="100000"/>
              </a:lnSpc>
              <a:spcBef>
                <a:spcPts val="100"/>
              </a:spcBef>
            </a:pPr>
            <a:r>
              <a:rPr spc="-5" dirty="0"/>
              <a:t>Computing</a:t>
            </a:r>
            <a:r>
              <a:rPr spc="5" dirty="0"/>
              <a:t> </a:t>
            </a:r>
            <a:r>
              <a:rPr spc="-5" dirty="0"/>
              <a:t>Genereated</a:t>
            </a:r>
            <a:r>
              <a:rPr spc="15" dirty="0"/>
              <a:t> </a:t>
            </a:r>
            <a:r>
              <a:rPr spc="-5" dirty="0"/>
              <a:t>Expressions</a:t>
            </a:r>
          </a:p>
        </p:txBody>
      </p:sp>
      <p:sp>
        <p:nvSpPr>
          <p:cNvPr id="3" name="object 3"/>
          <p:cNvSpPr txBox="1"/>
          <p:nvPr/>
        </p:nvSpPr>
        <p:spPr>
          <a:xfrm>
            <a:off x="628650" y="2457451"/>
            <a:ext cx="1454785" cy="400685"/>
          </a:xfrm>
          <a:prstGeom prst="rect">
            <a:avLst/>
          </a:prstGeom>
          <a:solidFill>
            <a:srgbClr val="C5E0B4"/>
          </a:solidFill>
        </p:spPr>
        <p:txBody>
          <a:bodyPr vert="horz" wrap="square" lIns="0" tIns="31750" rIns="0" bIns="0" rtlCol="0">
            <a:spAutoFit/>
          </a:bodyPr>
          <a:lstStyle/>
          <a:p>
            <a:pPr marL="91440">
              <a:lnSpc>
                <a:spcPct val="100000"/>
              </a:lnSpc>
              <a:spcBef>
                <a:spcPts val="250"/>
              </a:spcBef>
            </a:pPr>
            <a:r>
              <a:rPr sz="2000" dirty="0">
                <a:latin typeface="Consolas" panose="020B0609020204030204"/>
                <a:cs typeface="Consolas" panose="020B0609020204030204"/>
              </a:rPr>
              <a:t>x</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y</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z</a:t>
            </a:r>
            <a:endParaRPr sz="2000">
              <a:latin typeface="Consolas" panose="020B0609020204030204"/>
              <a:cs typeface="Consolas" panose="020B0609020204030204"/>
            </a:endParaRPr>
          </a:p>
        </p:txBody>
      </p:sp>
      <p:sp>
        <p:nvSpPr>
          <p:cNvPr id="4" name="object 4"/>
          <p:cNvSpPr/>
          <p:nvPr/>
        </p:nvSpPr>
        <p:spPr>
          <a:xfrm>
            <a:off x="1355763" y="2105309"/>
            <a:ext cx="304165" cy="309880"/>
          </a:xfrm>
          <a:custGeom>
            <a:avLst/>
            <a:gdLst/>
            <a:ahLst/>
            <a:cxnLst/>
            <a:rect l="l" t="t" r="r" b="b"/>
            <a:pathLst>
              <a:path w="304164" h="309880">
                <a:moveTo>
                  <a:pt x="25179" y="215773"/>
                </a:moveTo>
                <a:lnTo>
                  <a:pt x="23451" y="216801"/>
                </a:lnTo>
                <a:lnTo>
                  <a:pt x="0" y="309288"/>
                </a:lnTo>
                <a:lnTo>
                  <a:pt x="8323" y="307017"/>
                </a:lnTo>
                <a:lnTo>
                  <a:pt x="6681" y="307017"/>
                </a:lnTo>
                <a:lnTo>
                  <a:pt x="2150" y="302567"/>
                </a:lnTo>
                <a:lnTo>
                  <a:pt x="10379" y="294188"/>
                </a:lnTo>
                <a:lnTo>
                  <a:pt x="29606" y="218362"/>
                </a:lnTo>
                <a:lnTo>
                  <a:pt x="28577" y="216635"/>
                </a:lnTo>
                <a:lnTo>
                  <a:pt x="25179" y="215773"/>
                </a:lnTo>
                <a:close/>
              </a:path>
              <a:path w="304164" h="309880">
                <a:moveTo>
                  <a:pt x="10379" y="294188"/>
                </a:moveTo>
                <a:lnTo>
                  <a:pt x="2150" y="302567"/>
                </a:lnTo>
                <a:lnTo>
                  <a:pt x="6681" y="307017"/>
                </a:lnTo>
                <a:lnTo>
                  <a:pt x="8099" y="305573"/>
                </a:lnTo>
                <a:lnTo>
                  <a:pt x="7493" y="305573"/>
                </a:lnTo>
                <a:lnTo>
                  <a:pt x="3580" y="301729"/>
                </a:lnTo>
                <a:lnTo>
                  <a:pt x="8830" y="300296"/>
                </a:lnTo>
                <a:lnTo>
                  <a:pt x="10379" y="294188"/>
                </a:lnTo>
                <a:close/>
              </a:path>
              <a:path w="304164" h="309880">
                <a:moveTo>
                  <a:pt x="90378" y="278049"/>
                </a:moveTo>
                <a:lnTo>
                  <a:pt x="14911" y="298637"/>
                </a:lnTo>
                <a:lnTo>
                  <a:pt x="6681" y="307017"/>
                </a:lnTo>
                <a:lnTo>
                  <a:pt x="8323" y="307017"/>
                </a:lnTo>
                <a:lnTo>
                  <a:pt x="92049" y="284176"/>
                </a:lnTo>
                <a:lnTo>
                  <a:pt x="93047" y="282431"/>
                </a:lnTo>
                <a:lnTo>
                  <a:pt x="92124" y="279048"/>
                </a:lnTo>
                <a:lnTo>
                  <a:pt x="90378" y="278049"/>
                </a:lnTo>
                <a:close/>
              </a:path>
              <a:path w="304164" h="309880">
                <a:moveTo>
                  <a:pt x="8830" y="300296"/>
                </a:moveTo>
                <a:lnTo>
                  <a:pt x="3580" y="301729"/>
                </a:lnTo>
                <a:lnTo>
                  <a:pt x="7493" y="305573"/>
                </a:lnTo>
                <a:lnTo>
                  <a:pt x="8830" y="300296"/>
                </a:lnTo>
                <a:close/>
              </a:path>
              <a:path w="304164" h="309880">
                <a:moveTo>
                  <a:pt x="14911" y="298637"/>
                </a:moveTo>
                <a:lnTo>
                  <a:pt x="8830" y="300296"/>
                </a:lnTo>
                <a:lnTo>
                  <a:pt x="7493" y="305573"/>
                </a:lnTo>
                <a:lnTo>
                  <a:pt x="8099" y="305573"/>
                </a:lnTo>
                <a:lnTo>
                  <a:pt x="14911" y="298637"/>
                </a:lnTo>
                <a:close/>
              </a:path>
              <a:path w="304164" h="309880">
                <a:moveTo>
                  <a:pt x="299322" y="0"/>
                </a:moveTo>
                <a:lnTo>
                  <a:pt x="10379" y="294188"/>
                </a:lnTo>
                <a:lnTo>
                  <a:pt x="8830" y="300296"/>
                </a:lnTo>
                <a:lnTo>
                  <a:pt x="14911" y="298637"/>
                </a:lnTo>
                <a:lnTo>
                  <a:pt x="303852" y="4448"/>
                </a:lnTo>
                <a:lnTo>
                  <a:pt x="299322" y="0"/>
                </a:lnTo>
                <a:close/>
              </a:path>
            </a:pathLst>
          </a:custGeom>
          <a:solidFill>
            <a:srgbClr val="FF0000"/>
          </a:solidFill>
        </p:spPr>
        <p:txBody>
          <a:bodyPr wrap="square" lIns="0" tIns="0" rIns="0" bIns="0" rtlCol="0"/>
          <a:lstStyle/>
          <a:p>
            <a:endParaRPr/>
          </a:p>
        </p:txBody>
      </p:sp>
      <p:sp>
        <p:nvSpPr>
          <p:cNvPr id="5" name="object 5"/>
          <p:cNvSpPr/>
          <p:nvPr/>
        </p:nvSpPr>
        <p:spPr>
          <a:xfrm>
            <a:off x="1353178" y="3041404"/>
            <a:ext cx="231775" cy="325755"/>
          </a:xfrm>
          <a:custGeom>
            <a:avLst/>
            <a:gdLst/>
            <a:ahLst/>
            <a:cxnLst/>
            <a:rect l="l" t="t" r="r" b="b"/>
            <a:pathLst>
              <a:path w="231775" h="325754">
                <a:moveTo>
                  <a:pt x="184618" y="264863"/>
                </a:moveTo>
                <a:lnTo>
                  <a:pt x="156098" y="285021"/>
                </a:lnTo>
                <a:lnTo>
                  <a:pt x="231193" y="325255"/>
                </a:lnTo>
                <a:lnTo>
                  <a:pt x="223549" y="275234"/>
                </a:lnTo>
                <a:lnTo>
                  <a:pt x="191949" y="275234"/>
                </a:lnTo>
                <a:lnTo>
                  <a:pt x="184618" y="264863"/>
                </a:lnTo>
                <a:close/>
              </a:path>
              <a:path w="231775" h="325754">
                <a:moveTo>
                  <a:pt x="189803" y="261197"/>
                </a:moveTo>
                <a:lnTo>
                  <a:pt x="184618" y="264863"/>
                </a:lnTo>
                <a:lnTo>
                  <a:pt x="191949" y="275234"/>
                </a:lnTo>
                <a:lnTo>
                  <a:pt x="197134" y="271569"/>
                </a:lnTo>
                <a:lnTo>
                  <a:pt x="189803" y="261197"/>
                </a:lnTo>
                <a:close/>
              </a:path>
              <a:path w="231775" h="325754">
                <a:moveTo>
                  <a:pt x="218324" y="241039"/>
                </a:moveTo>
                <a:lnTo>
                  <a:pt x="189803" y="261197"/>
                </a:lnTo>
                <a:lnTo>
                  <a:pt x="197134" y="271569"/>
                </a:lnTo>
                <a:lnTo>
                  <a:pt x="191949" y="275234"/>
                </a:lnTo>
                <a:lnTo>
                  <a:pt x="223549" y="275234"/>
                </a:lnTo>
                <a:lnTo>
                  <a:pt x="218324" y="241039"/>
                </a:lnTo>
                <a:close/>
              </a:path>
              <a:path w="231775" h="325754">
                <a:moveTo>
                  <a:pt x="5186" y="0"/>
                </a:moveTo>
                <a:lnTo>
                  <a:pt x="0" y="3665"/>
                </a:lnTo>
                <a:lnTo>
                  <a:pt x="184618" y="264863"/>
                </a:lnTo>
                <a:lnTo>
                  <a:pt x="189803" y="261197"/>
                </a:lnTo>
                <a:lnTo>
                  <a:pt x="5186" y="0"/>
                </a:lnTo>
                <a:close/>
              </a:path>
            </a:pathLst>
          </a:custGeom>
          <a:solidFill>
            <a:srgbClr val="FF0000"/>
          </a:solidFill>
        </p:spPr>
        <p:txBody>
          <a:bodyPr wrap="square" lIns="0" tIns="0" rIns="0" bIns="0" rtlCol="0"/>
          <a:lstStyle/>
          <a:p>
            <a:endParaRPr/>
          </a:p>
        </p:txBody>
      </p:sp>
      <p:sp>
        <p:nvSpPr>
          <p:cNvPr id="6" name="object 6"/>
          <p:cNvSpPr txBox="1"/>
          <p:nvPr/>
        </p:nvSpPr>
        <p:spPr>
          <a:xfrm>
            <a:off x="1855424" y="1693164"/>
            <a:ext cx="6102350" cy="330200"/>
          </a:xfrm>
          <a:prstGeom prst="rect">
            <a:avLst/>
          </a:prstGeom>
        </p:spPr>
        <p:txBody>
          <a:bodyPr vert="horz" wrap="square" lIns="0" tIns="12700" rIns="0" bIns="0" rtlCol="0">
            <a:spAutoFit/>
          </a:bodyPr>
          <a:lstStyle/>
          <a:p>
            <a:pPr marL="12700">
              <a:lnSpc>
                <a:spcPct val="100000"/>
              </a:lnSpc>
              <a:spcBef>
                <a:spcPts val="100"/>
              </a:spcBef>
            </a:pPr>
            <a:r>
              <a:rPr sz="2000" b="1" i="1" dirty="0">
                <a:latin typeface="Palatino Linotype" panose="02040502050505030304"/>
                <a:cs typeface="Palatino Linotype" panose="02040502050505030304"/>
              </a:rPr>
              <a: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set</a:t>
            </a:r>
            <a:r>
              <a:rPr sz="2000" spc="-5" dirty="0">
                <a:latin typeface="Palatino Linotype" panose="02040502050505030304"/>
                <a:cs typeface="Palatino Linotype" panose="02040502050505030304"/>
              </a:rPr>
              <a:t> of expressions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available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before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statement</a:t>
            </a:r>
            <a:endParaRPr sz="2000">
              <a:latin typeface="Palatino Linotype" panose="02040502050505030304"/>
              <a:cs typeface="Palatino Linotype" panose="02040502050505030304"/>
            </a:endParaRPr>
          </a:p>
        </p:txBody>
      </p:sp>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68</a:t>
            </a:fld>
            <a:endParaRPr dirty="0"/>
          </a:p>
        </p:txBody>
      </p:sp>
      <p:sp>
        <p:nvSpPr>
          <p:cNvPr id="7" name="object 7"/>
          <p:cNvSpPr txBox="1"/>
          <p:nvPr/>
        </p:nvSpPr>
        <p:spPr>
          <a:xfrm>
            <a:off x="1663112" y="3235451"/>
            <a:ext cx="6350000" cy="1397000"/>
          </a:xfrm>
          <a:prstGeom prst="rect">
            <a:avLst/>
          </a:prstGeom>
        </p:spPr>
        <p:txBody>
          <a:bodyPr vert="horz" wrap="square" lIns="0" tIns="165100" rIns="0" bIns="0" rtlCol="0">
            <a:spAutoFit/>
          </a:bodyPr>
          <a:lstStyle/>
          <a:p>
            <a:pPr marL="12700">
              <a:lnSpc>
                <a:spcPct val="100000"/>
              </a:lnSpc>
              <a:spcBef>
                <a:spcPts val="1300"/>
              </a:spcBef>
            </a:pPr>
            <a:r>
              <a:rPr sz="2000" b="1" spc="-5" dirty="0">
                <a:latin typeface="Palatino Linotype" panose="02040502050505030304"/>
                <a:cs typeface="Palatino Linotype" panose="02040502050505030304"/>
              </a:rPr>
              <a:t>Compute</a:t>
            </a:r>
            <a:r>
              <a:rPr sz="2000" b="1" spc="5"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the</a:t>
            </a:r>
            <a:r>
              <a:rPr sz="2000" b="1" spc="10"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expressions</a:t>
            </a:r>
            <a:r>
              <a:rPr sz="2000" b="1" spc="5"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available</a:t>
            </a:r>
            <a:r>
              <a:rPr sz="2000" b="1" spc="5"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after</a:t>
            </a:r>
            <a:r>
              <a:rPr sz="2000" b="1" spc="5"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the</a:t>
            </a:r>
            <a:r>
              <a:rPr sz="2000" b="1" spc="10" dirty="0">
                <a:latin typeface="Palatino Linotype" panose="02040502050505030304"/>
                <a:cs typeface="Palatino Linotype" panose="02040502050505030304"/>
              </a:rPr>
              <a:t> </a:t>
            </a:r>
            <a:r>
              <a:rPr sz="2000" b="1" spc="-5" dirty="0">
                <a:latin typeface="Palatino Linotype" panose="02040502050505030304"/>
                <a:cs typeface="Palatino Linotype" panose="02040502050505030304"/>
              </a:rPr>
              <a:t>statement:</a:t>
            </a:r>
            <a:endParaRPr sz="2000">
              <a:latin typeface="Palatino Linotype" panose="02040502050505030304"/>
              <a:cs typeface="Palatino Linotype" panose="02040502050505030304"/>
            </a:endParaRPr>
          </a:p>
          <a:p>
            <a:pPr marL="355600" indent="-342900">
              <a:lnSpc>
                <a:spcPct val="100000"/>
              </a:lnSpc>
              <a:spcBef>
                <a:spcPts val="1200"/>
              </a:spcBef>
              <a:buFont typeface="Arial MT"/>
              <a:buChar char="•"/>
              <a:tabLst>
                <a:tab pos="354965" algn="l"/>
                <a:tab pos="355600" algn="l"/>
              </a:tabLst>
            </a:pPr>
            <a:r>
              <a:rPr sz="2000" spc="-5" dirty="0">
                <a:latin typeface="Palatino Linotype" panose="02040502050505030304"/>
                <a:cs typeface="Palatino Linotype" panose="02040502050505030304"/>
              </a:rPr>
              <a:t>Add to</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S</a:t>
            </a:r>
            <a:r>
              <a:rPr sz="2000" i="1"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expression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y</a:t>
            </a:r>
            <a:r>
              <a:rPr sz="2000" i="1"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 z</a:t>
            </a:r>
            <a:endParaRPr sz="2000">
              <a:latin typeface="Palatino Linotype" panose="02040502050505030304"/>
              <a:cs typeface="Palatino Linotype" panose="02040502050505030304"/>
            </a:endParaRPr>
          </a:p>
          <a:p>
            <a:pPr marL="355600" indent="-342900">
              <a:lnSpc>
                <a:spcPct val="100000"/>
              </a:lnSpc>
              <a:spcBef>
                <a:spcPts val="1200"/>
              </a:spcBef>
              <a:buFont typeface="Arial MT"/>
              <a:buChar char="•"/>
              <a:tabLst>
                <a:tab pos="354965" algn="l"/>
                <a:tab pos="355600" algn="l"/>
              </a:tabLst>
            </a:pPr>
            <a:r>
              <a:rPr sz="2000" dirty="0">
                <a:latin typeface="Palatino Linotype" panose="02040502050505030304"/>
                <a:cs typeface="Palatino Linotype" panose="02040502050505030304"/>
              </a:rPr>
              <a:t>Delete</a:t>
            </a:r>
            <a:r>
              <a:rPr sz="2000" spc="-5" dirty="0">
                <a:latin typeface="Palatino Linotype" panose="02040502050505030304"/>
                <a:cs typeface="Palatino Linotype" panose="02040502050505030304"/>
              </a:rPr>
              <a:t> from </a:t>
            </a:r>
            <a:r>
              <a:rPr sz="2000" i="1" dirty="0">
                <a:latin typeface="Palatino Linotype" panose="02040502050505030304"/>
                <a:cs typeface="Palatino Linotype" panose="02040502050505030304"/>
              </a:rPr>
              <a:t>S </a:t>
            </a:r>
            <a:r>
              <a:rPr sz="2000" spc="-5" dirty="0">
                <a:latin typeface="Palatino Linotype" panose="02040502050505030304"/>
                <a:cs typeface="Palatino Linotype" panose="02040502050505030304"/>
              </a:rPr>
              <a:t>any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expression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involving</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variable</a:t>
            </a:r>
            <a:r>
              <a:rPr sz="200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x</a:t>
            </a:r>
            <a:endParaRPr sz="2000">
              <a:latin typeface="Palatino Linotype" panose="02040502050505030304"/>
              <a:cs typeface="Palatino Linotype" panose="02040502050505030304"/>
            </a:endParaRPr>
          </a:p>
        </p:txBody>
      </p:sp>
      <p:sp>
        <p:nvSpPr>
          <p:cNvPr id="8" name="object 8"/>
          <p:cNvSpPr txBox="1"/>
          <p:nvPr/>
        </p:nvSpPr>
        <p:spPr>
          <a:xfrm>
            <a:off x="757451" y="5123830"/>
            <a:ext cx="7758430" cy="784225"/>
          </a:xfrm>
          <a:prstGeom prst="rect">
            <a:avLst/>
          </a:prstGeom>
          <a:solidFill>
            <a:srgbClr val="FFF2CC"/>
          </a:solidFill>
          <a:ln w="9525">
            <a:solidFill>
              <a:srgbClr val="000000"/>
            </a:solidFill>
          </a:ln>
        </p:spPr>
        <p:txBody>
          <a:bodyPr vert="horz" wrap="square" lIns="0" tIns="5715" rIns="0" bIns="0" rtlCol="0">
            <a:spAutoFit/>
          </a:bodyPr>
          <a:lstStyle/>
          <a:p>
            <a:pPr marL="90805" marR="170180">
              <a:lnSpc>
                <a:spcPct val="129000"/>
              </a:lnSpc>
              <a:spcBef>
                <a:spcPts val="45"/>
              </a:spcBef>
            </a:pPr>
            <a:r>
              <a:rPr sz="1800" dirty="0">
                <a:latin typeface="Palatino Linotype" panose="02040502050505030304"/>
                <a:cs typeface="Palatino Linotype" panose="02040502050505030304"/>
              </a:rPr>
              <a:t>If</a:t>
            </a:r>
            <a:r>
              <a:rPr sz="1800" spc="-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dirty="0">
                <a:latin typeface="Palatino Linotype" panose="02040502050505030304"/>
                <a:cs typeface="Palatino Linotype" panose="02040502050505030304"/>
              </a:rPr>
              <a:t> repeat the steps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for each </a:t>
            </a:r>
            <a:r>
              <a:rPr sz="1800" spc="-5" dirty="0">
                <a:latin typeface="Palatino Linotype" panose="02040502050505030304"/>
                <a:cs typeface="Palatino Linotype" panose="02040502050505030304"/>
              </a:rPr>
              <a:t>statement</a:t>
            </a:r>
            <a:r>
              <a:rPr sz="1800" dirty="0">
                <a:latin typeface="Palatino Linotype" panose="02040502050505030304"/>
                <a:cs typeface="Palatino Linotype" panose="02040502050505030304"/>
              </a:rPr>
              <a:t> in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 block</a:t>
            </a:r>
            <a:r>
              <a:rPr sz="1800" spc="-5" dirty="0">
                <a:latin typeface="Palatino Linotype" panose="02040502050505030304"/>
                <a:cs typeface="Palatino Linotype" panose="02040502050505030304"/>
              </a:rPr>
              <a:t> </a:t>
            </a:r>
            <a:r>
              <a:rPr sz="1800" i="1" dirty="0">
                <a:latin typeface="Palatino Linotype" panose="02040502050505030304"/>
                <a:cs typeface="Palatino Linotype" panose="02040502050505030304"/>
              </a:rPr>
              <a:t>B</a:t>
            </a:r>
            <a:r>
              <a:rPr sz="1800"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will</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get</a:t>
            </a:r>
            <a:r>
              <a:rPr sz="1800" dirty="0">
                <a:latin typeface="Palatino Linotype" panose="02040502050505030304"/>
                <a:cs typeface="Palatino Linotype" panose="02040502050505030304"/>
              </a:rPr>
              <a:t> the </a:t>
            </a:r>
            <a:r>
              <a:rPr sz="1800" spc="-5" dirty="0">
                <a:latin typeface="Palatino Linotype" panose="02040502050505030304"/>
                <a:cs typeface="Palatino Linotype" panose="02040502050505030304"/>
              </a:rPr>
              <a:t>set</a:t>
            </a:r>
            <a:r>
              <a:rPr sz="1800" dirty="0">
                <a:latin typeface="Palatino Linotype" panose="02040502050505030304"/>
                <a:cs typeface="Palatino Linotype" panose="02040502050505030304"/>
              </a:rPr>
              <a:t> of </a:t>
            </a:r>
            <a:r>
              <a:rPr sz="1800" spc="-434"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generated</a:t>
            </a:r>
            <a:r>
              <a:rPr sz="180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expressions </a:t>
            </a:r>
            <a:r>
              <a:rPr sz="1800" dirty="0">
                <a:latin typeface="Palatino Linotype" panose="02040502050505030304"/>
                <a:cs typeface="Palatino Linotype" panose="02040502050505030304"/>
              </a:rPr>
              <a:t>for </a:t>
            </a:r>
            <a:r>
              <a:rPr sz="1800" i="1" dirty="0">
                <a:latin typeface="Palatino Linotype" panose="02040502050505030304"/>
                <a:cs typeface="Palatino Linotype" panose="02040502050505030304"/>
              </a:rPr>
              <a:t>B</a:t>
            </a:r>
            <a:r>
              <a:rPr sz="1800" i="1"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after </a:t>
            </a:r>
            <a:r>
              <a:rPr sz="1800" spc="-20" dirty="0">
                <a:latin typeface="Palatino Linotype" panose="02040502050505030304"/>
                <a:cs typeface="Palatino Linotype" panose="02040502050505030304"/>
              </a:rPr>
              <a:t>we</a:t>
            </a:r>
            <a:r>
              <a:rPr sz="1800" dirty="0">
                <a:latin typeface="Palatino Linotype" panose="02040502050505030304"/>
                <a:cs typeface="Palatino Linotype" panose="02040502050505030304"/>
              </a:rPr>
              <a:t> process the </a:t>
            </a:r>
            <a:r>
              <a:rPr sz="1800" spc="-5" dirty="0">
                <a:latin typeface="Palatino Linotype" panose="02040502050505030304"/>
                <a:cs typeface="Palatino Linotype" panose="02040502050505030304"/>
              </a:rPr>
              <a:t>last</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statement.</a:t>
            </a:r>
            <a:endParaRPr sz="1800">
              <a:latin typeface="Palatino Linotype" panose="02040502050505030304"/>
              <a:cs typeface="Palatino Linotype" panose="02040502050505030304"/>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69</a:t>
            </a:fld>
            <a:endParaRPr dirty="0"/>
          </a:p>
        </p:txBody>
      </p:sp>
      <p:sp>
        <p:nvSpPr>
          <p:cNvPr id="2" name="object 2"/>
          <p:cNvSpPr txBox="1">
            <a:spLocks noGrp="1"/>
          </p:cNvSpPr>
          <p:nvPr>
            <p:ph type="title"/>
          </p:nvPr>
        </p:nvSpPr>
        <p:spPr>
          <a:xfrm>
            <a:off x="707390" y="524763"/>
            <a:ext cx="7158355" cy="635000"/>
          </a:xfrm>
          <a:prstGeom prst="rect">
            <a:avLst/>
          </a:prstGeom>
        </p:spPr>
        <p:txBody>
          <a:bodyPr vert="horz" wrap="square" lIns="0" tIns="12700" rIns="0" bIns="0" rtlCol="0">
            <a:spAutoFit/>
          </a:bodyPr>
          <a:lstStyle/>
          <a:p>
            <a:pPr marL="12700">
              <a:lnSpc>
                <a:spcPct val="100000"/>
              </a:lnSpc>
              <a:spcBef>
                <a:spcPts val="100"/>
              </a:spcBef>
            </a:pPr>
            <a:r>
              <a:rPr sz="4000" spc="-5" dirty="0"/>
              <a:t>Computing</a:t>
            </a:r>
            <a:r>
              <a:rPr sz="4000" spc="-15" dirty="0"/>
              <a:t> </a:t>
            </a:r>
            <a:r>
              <a:rPr sz="4000" dirty="0"/>
              <a:t>Killed</a:t>
            </a:r>
            <a:r>
              <a:rPr sz="4000" spc="-25" dirty="0"/>
              <a:t> </a:t>
            </a:r>
            <a:r>
              <a:rPr sz="4000" spc="-5" dirty="0"/>
              <a:t>Expressions</a:t>
            </a:r>
            <a:endParaRPr sz="4000"/>
          </a:p>
        </p:txBody>
      </p:sp>
      <p:sp>
        <p:nvSpPr>
          <p:cNvPr id="3" name="object 3"/>
          <p:cNvSpPr txBox="1"/>
          <p:nvPr/>
        </p:nvSpPr>
        <p:spPr>
          <a:xfrm>
            <a:off x="707390" y="1590547"/>
            <a:ext cx="7322184" cy="2100580"/>
          </a:xfrm>
          <a:prstGeom prst="rect">
            <a:avLst/>
          </a:prstGeom>
        </p:spPr>
        <p:txBody>
          <a:bodyPr vert="horz" wrap="square" lIns="0" tIns="12700" rIns="0" bIns="0" rtlCol="0">
            <a:spAutoFit/>
          </a:bodyPr>
          <a:lstStyle/>
          <a:p>
            <a:pPr marL="242570" marR="5080" indent="-230505">
              <a:lnSpc>
                <a:spcPct val="118000"/>
              </a:lnSpc>
              <a:spcBef>
                <a:spcPts val="100"/>
              </a:spcBef>
              <a:buFont typeface="Arial MT"/>
              <a:buChar char="•"/>
              <a:tabLst>
                <a:tab pos="242570" algn="l"/>
              </a:tabLst>
            </a:pPr>
            <a:r>
              <a:rPr sz="2400" dirty="0">
                <a:latin typeface="Palatino Linotype" panose="02040502050505030304"/>
                <a:cs typeface="Palatino Linotype" panose="02040502050505030304"/>
              </a:rPr>
              <a:t>For a </a:t>
            </a:r>
            <a:r>
              <a:rPr sz="2400" spc="-5" dirty="0">
                <a:latin typeface="Palatino Linotype" panose="02040502050505030304"/>
                <a:cs typeface="Palatino Linotype" panose="02040502050505030304"/>
              </a:rPr>
              <a:t>basic block </a:t>
            </a:r>
            <a:r>
              <a:rPr sz="2400" i="1" spc="-5" dirty="0">
                <a:latin typeface="Palatino Linotype" panose="02040502050505030304"/>
                <a:cs typeface="Palatino Linotype" panose="02040502050505030304"/>
              </a:rPr>
              <a:t>B</a:t>
            </a:r>
            <a:r>
              <a:rPr sz="2400" spc="-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the </a:t>
            </a:r>
            <a:r>
              <a:rPr sz="2400" spc="-5" dirty="0">
                <a:latin typeface="Palatino Linotype" panose="02040502050505030304"/>
                <a:cs typeface="Palatino Linotype" panose="02040502050505030304"/>
              </a:rPr>
              <a:t>set </a:t>
            </a:r>
            <a:r>
              <a:rPr sz="2400" dirty="0">
                <a:latin typeface="Palatino Linotype" panose="02040502050505030304"/>
                <a:cs typeface="Palatino Linotype" panose="02040502050505030304"/>
              </a:rPr>
              <a:t>of </a:t>
            </a:r>
            <a:r>
              <a:rPr sz="2400" dirty="0">
                <a:solidFill>
                  <a:srgbClr val="FF0000"/>
                </a:solidFill>
                <a:latin typeface="Palatino Linotype" panose="02040502050505030304"/>
                <a:cs typeface="Palatino Linotype" panose="02040502050505030304"/>
              </a:rPr>
              <a:t>killed </a:t>
            </a:r>
            <a:r>
              <a:rPr sz="2400" spc="-5" dirty="0">
                <a:solidFill>
                  <a:srgbClr val="FF0000"/>
                </a:solidFill>
                <a:latin typeface="Palatino Linotype" panose="02040502050505030304"/>
                <a:cs typeface="Palatino Linotype" panose="02040502050505030304"/>
              </a:rPr>
              <a:t>expressions </a:t>
            </a:r>
            <a:r>
              <a:rPr sz="2400" dirty="0">
                <a:latin typeface="Palatino Linotype" panose="02040502050505030304"/>
                <a:cs typeface="Palatino Linotype" panose="02040502050505030304"/>
              </a:rPr>
              <a:t>is all </a:t>
            </a:r>
            <a:r>
              <a:rPr sz="2400" spc="-58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expressions, say</a:t>
            </a:r>
            <a:r>
              <a:rPr sz="2400" dirty="0">
                <a:latin typeface="Palatino Linotype" panose="02040502050505030304"/>
                <a:cs typeface="Palatino Linotype" panose="02040502050505030304"/>
              </a:rPr>
              <a:t> </a:t>
            </a:r>
            <a:r>
              <a:rPr sz="2400" i="1" dirty="0">
                <a:latin typeface="Palatino Linotype" panose="02040502050505030304"/>
                <a:cs typeface="Palatino Linotype" panose="02040502050505030304"/>
              </a:rPr>
              <a:t>y + </a:t>
            </a:r>
            <a:r>
              <a:rPr sz="2400" i="1" spc="-5" dirty="0">
                <a:latin typeface="Palatino Linotype" panose="02040502050505030304"/>
                <a:cs typeface="Palatino Linotype" panose="02040502050505030304"/>
              </a:rPr>
              <a:t>z</a:t>
            </a:r>
            <a:r>
              <a:rPr sz="2400" spc="-5" dirty="0">
                <a:latin typeface="Palatino Linotype" panose="02040502050505030304"/>
                <a:cs typeface="Palatino Linotype" panose="02040502050505030304"/>
              </a:rPr>
              <a:t>,</a:t>
            </a:r>
            <a:r>
              <a:rPr sz="2400"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such</a:t>
            </a:r>
            <a:r>
              <a:rPr sz="2400" dirty="0">
                <a:latin typeface="Palatino Linotype" panose="02040502050505030304"/>
                <a:cs typeface="Palatino Linotype" panose="02040502050505030304"/>
              </a:rPr>
              <a:t> that:</a:t>
            </a:r>
            <a:endParaRPr sz="2400">
              <a:latin typeface="Palatino Linotype" panose="02040502050505030304"/>
              <a:cs typeface="Palatino Linotype" panose="02040502050505030304"/>
            </a:endParaRPr>
          </a:p>
          <a:p>
            <a:pPr marL="698500" lvl="1" indent="-228600">
              <a:lnSpc>
                <a:spcPct val="100000"/>
              </a:lnSpc>
              <a:spcBef>
                <a:spcPts val="2415"/>
              </a:spcBef>
              <a:buFont typeface="Wingdings" panose="05000000000000000000"/>
              <a:buChar char=""/>
              <a:tabLst>
                <a:tab pos="698500" algn="l"/>
              </a:tabLst>
            </a:pPr>
            <a:r>
              <a:rPr sz="2000" i="1" dirty="0">
                <a:latin typeface="Palatino Linotype" panose="02040502050505030304"/>
                <a:cs typeface="Palatino Linotype" panose="02040502050505030304"/>
              </a:rPr>
              <a:t>y</a:t>
            </a:r>
            <a:r>
              <a:rPr sz="2000" i="1"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z</a:t>
            </a:r>
            <a:r>
              <a:rPr sz="2000" i="1" spc="-1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defined</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in</a:t>
            </a:r>
            <a:r>
              <a:rPr sz="2000"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endParaRPr sz="2000">
              <a:latin typeface="Palatino Linotype" panose="02040502050505030304"/>
              <a:cs typeface="Palatino Linotype" panose="02040502050505030304"/>
            </a:endParaRPr>
          </a:p>
          <a:p>
            <a:pPr marL="698500" lvl="1" indent="-228600">
              <a:lnSpc>
                <a:spcPct val="100000"/>
              </a:lnSpc>
              <a:spcBef>
                <a:spcPts val="2305"/>
              </a:spcBef>
              <a:buFont typeface="Wingdings" panose="05000000000000000000"/>
              <a:buChar char=""/>
              <a:tabLst>
                <a:tab pos="698500" algn="l"/>
              </a:tabLst>
            </a:pPr>
            <a:r>
              <a:rPr sz="2000" i="1" dirty="0">
                <a:latin typeface="Palatino Linotype" panose="02040502050505030304"/>
                <a:cs typeface="Palatino Linotype" panose="02040502050505030304"/>
              </a:rPr>
              <a:t>y</a:t>
            </a:r>
            <a:r>
              <a:rPr sz="2000" i="1" spc="-10"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a:t>
            </a:r>
            <a:r>
              <a:rPr sz="2000" i="1" spc="-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z</a:t>
            </a:r>
            <a:r>
              <a:rPr sz="2000" i="1"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not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generated </a:t>
            </a:r>
            <a:r>
              <a:rPr sz="2000" dirty="0">
                <a:latin typeface="Palatino Linotype" panose="02040502050505030304"/>
                <a:cs typeface="Palatino Linotype" panose="02040502050505030304"/>
              </a:rPr>
              <a:t>by</a:t>
            </a:r>
            <a:r>
              <a:rPr sz="2000" spc="-15" dirty="0">
                <a:latin typeface="Palatino Linotype" panose="02040502050505030304"/>
                <a:cs typeface="Palatino Linotype" panose="02040502050505030304"/>
              </a:rPr>
              <a:t> </a:t>
            </a:r>
            <a:r>
              <a:rPr sz="2000" i="1" dirty="0">
                <a:latin typeface="Palatino Linotype" panose="02040502050505030304"/>
                <a:cs typeface="Palatino Linotype" panose="02040502050505030304"/>
              </a:rPr>
              <a:t>B</a:t>
            </a:r>
            <a:endParaRPr sz="2000">
              <a:latin typeface="Palatino Linotype" panose="02040502050505030304"/>
              <a:cs typeface="Palatino Linotype" panose="020405020505050303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70</a:t>
            </a:fld>
            <a:endParaRPr dirty="0"/>
          </a:p>
        </p:txBody>
      </p:sp>
      <p:sp>
        <p:nvSpPr>
          <p:cNvPr id="2" name="object 2"/>
          <p:cNvSpPr txBox="1">
            <a:spLocks noGrp="1"/>
          </p:cNvSpPr>
          <p:nvPr>
            <p:ph type="title"/>
          </p:nvPr>
        </p:nvSpPr>
        <p:spPr>
          <a:xfrm>
            <a:off x="707390" y="524763"/>
            <a:ext cx="2027555" cy="635000"/>
          </a:xfrm>
          <a:prstGeom prst="rect">
            <a:avLst/>
          </a:prstGeom>
        </p:spPr>
        <p:txBody>
          <a:bodyPr vert="horz" wrap="square" lIns="0" tIns="12700" rIns="0" bIns="0" rtlCol="0">
            <a:spAutoFit/>
          </a:bodyPr>
          <a:lstStyle/>
          <a:p>
            <a:pPr marL="12700">
              <a:lnSpc>
                <a:spcPct val="100000"/>
              </a:lnSpc>
              <a:spcBef>
                <a:spcPts val="100"/>
              </a:spcBef>
            </a:pPr>
            <a:r>
              <a:rPr sz="4000" dirty="0"/>
              <a:t>Exa</a:t>
            </a:r>
            <a:r>
              <a:rPr sz="4000" spc="5" dirty="0"/>
              <a:t>m</a:t>
            </a:r>
            <a:r>
              <a:rPr sz="4000" spc="-10" dirty="0"/>
              <a:t>p</a:t>
            </a:r>
            <a:r>
              <a:rPr sz="4000" spc="5" dirty="0"/>
              <a:t>l</a:t>
            </a:r>
            <a:r>
              <a:rPr sz="4000" dirty="0"/>
              <a:t>e</a:t>
            </a:r>
            <a:endParaRPr sz="4000"/>
          </a:p>
        </p:txBody>
      </p:sp>
      <p:graphicFrame>
        <p:nvGraphicFramePr>
          <p:cNvPr id="3" name="object 3"/>
          <p:cNvGraphicFramePr>
            <a:graphicFrameLocks noGrp="1"/>
          </p:cNvGraphicFramePr>
          <p:nvPr/>
        </p:nvGraphicFramePr>
        <p:xfrm>
          <a:off x="1246187" y="1605018"/>
          <a:ext cx="6877050" cy="4186816"/>
        </p:xfrm>
        <a:graphic>
          <a:graphicData uri="http://schemas.openxmlformats.org/drawingml/2006/table">
            <a:tbl>
              <a:tblPr firstRow="1" bandRow="1">
                <a:tableStyleId>{2D5ABB26-0587-4C30-8999-92F81FD0307C}</a:tableStyleId>
              </a:tblPr>
              <a:tblGrid>
                <a:gridCol w="3438525">
                  <a:extLst>
                    <a:ext uri="{9D8B030D-6E8A-4147-A177-3AD203B41FA5}">
                      <a16:colId xmlns:a16="http://schemas.microsoft.com/office/drawing/2014/main" val="20000"/>
                    </a:ext>
                  </a:extLst>
                </a:gridCol>
                <a:gridCol w="3438525">
                  <a:extLst>
                    <a:ext uri="{9D8B030D-6E8A-4147-A177-3AD203B41FA5}">
                      <a16:colId xmlns:a16="http://schemas.microsoft.com/office/drawing/2014/main" val="20001"/>
                    </a:ext>
                  </a:extLst>
                </a:gridCol>
              </a:tblGrid>
              <a:tr h="620656">
                <a:tc>
                  <a:txBody>
                    <a:bodyPr/>
                    <a:lstStyle/>
                    <a:p>
                      <a:pPr marL="1134110">
                        <a:lnSpc>
                          <a:spcPct val="100000"/>
                        </a:lnSpc>
                        <a:spcBef>
                          <a:spcPts val="1150"/>
                        </a:spcBef>
                      </a:pPr>
                      <a:r>
                        <a:rPr sz="2000" b="1" spc="-5" dirty="0">
                          <a:solidFill>
                            <a:srgbClr val="FFFFFF"/>
                          </a:solidFill>
                          <a:latin typeface="Palatino Linotype" panose="02040502050505030304"/>
                          <a:cs typeface="Palatino Linotype" panose="02040502050505030304"/>
                        </a:rPr>
                        <a:t>Statement</a:t>
                      </a:r>
                      <a:endParaRPr sz="2000">
                        <a:latin typeface="Palatino Linotype" panose="02040502050505030304"/>
                        <a:cs typeface="Palatino Linotype" panose="02040502050505030304"/>
                      </a:endParaRPr>
                    </a:p>
                  </a:txBody>
                  <a:tcPr marL="0" marR="0" marT="14605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1150"/>
                        </a:spcBef>
                      </a:pPr>
                      <a:r>
                        <a:rPr sz="2000" b="1" spc="-20" dirty="0">
                          <a:solidFill>
                            <a:srgbClr val="FFFFFF"/>
                          </a:solidFill>
                          <a:latin typeface="Palatino Linotype" panose="02040502050505030304"/>
                          <a:cs typeface="Palatino Linotype" panose="02040502050505030304"/>
                        </a:rPr>
                        <a:t>Available</a:t>
                      </a:r>
                      <a:r>
                        <a:rPr sz="2000" b="1" spc="-25" dirty="0">
                          <a:solidFill>
                            <a:srgbClr val="FFFFFF"/>
                          </a:solidFill>
                          <a:latin typeface="Palatino Linotype" panose="02040502050505030304"/>
                          <a:cs typeface="Palatino Linotype" panose="02040502050505030304"/>
                        </a:rPr>
                        <a:t> </a:t>
                      </a:r>
                      <a:r>
                        <a:rPr sz="2000" b="1" spc="-5" dirty="0">
                          <a:solidFill>
                            <a:srgbClr val="FFFFFF"/>
                          </a:solidFill>
                          <a:latin typeface="Palatino Linotype" panose="02040502050505030304"/>
                          <a:cs typeface="Palatino Linotype" panose="02040502050505030304"/>
                        </a:rPr>
                        <a:t>Expressions</a:t>
                      </a:r>
                      <a:endParaRPr sz="2000">
                        <a:latin typeface="Palatino Linotype" panose="02040502050505030304"/>
                        <a:cs typeface="Palatino Linotype" panose="02040502050505030304"/>
                      </a:endParaRPr>
                    </a:p>
                  </a:txBody>
                  <a:tcPr marL="0" marR="0" marT="14605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extLst>
                  <a:ext uri="{0D108BD9-81ED-4DB2-BD59-A6C34878D82A}">
                    <a16:rowId xmlns:a16="http://schemas.microsoft.com/office/drawing/2014/main" val="10000"/>
                  </a:ext>
                </a:extLst>
              </a:tr>
              <a:tr h="396240">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marR="130810" algn="ctr">
                        <a:lnSpc>
                          <a:spcPct val="100000"/>
                        </a:lnSpc>
                        <a:spcBef>
                          <a:spcPts val="250"/>
                        </a:spcBef>
                      </a:pP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a:txBody>
                  <a:tcPr marL="0" marR="0" marT="3175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1"/>
                  </a:ext>
                </a:extLst>
              </a:tr>
              <a:tr h="396240">
                <a:tc>
                  <a:txBody>
                    <a:bodyPr/>
                    <a:lstStyle/>
                    <a:p>
                      <a:pPr marL="1090295">
                        <a:lnSpc>
                          <a:spcPct val="100000"/>
                        </a:lnSpc>
                        <a:spcBef>
                          <a:spcPts val="250"/>
                        </a:spcBef>
                      </a:pPr>
                      <a:r>
                        <a:rPr sz="2000" dirty="0">
                          <a:latin typeface="Consolas" panose="020B0609020204030204"/>
                          <a:cs typeface="Consolas" panose="020B0609020204030204"/>
                        </a:rPr>
                        <a:t>a</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b</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c</a:t>
                      </a:r>
                      <a:endParaRPr sz="2000">
                        <a:latin typeface="Consolas" panose="020B0609020204030204"/>
                        <a:cs typeface="Consolas" panose="020B0609020204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2"/>
                  </a:ext>
                </a:extLst>
              </a:tr>
              <a:tr h="396240">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132080" algn="ctr">
                        <a:lnSpc>
                          <a:spcPct val="100000"/>
                        </a:lnSpc>
                        <a:spcBef>
                          <a:spcPts val="250"/>
                        </a:spcBef>
                      </a:pPr>
                      <a:r>
                        <a:rPr sz="2000" dirty="0">
                          <a:latin typeface="Cambria Math" panose="02040503050406030204"/>
                          <a:cs typeface="Cambria Math" panose="02040503050406030204"/>
                        </a:rPr>
                        <a:t>{𝑏</a:t>
                      </a:r>
                      <a:r>
                        <a:rPr sz="2000" spc="10"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25" dirty="0">
                          <a:latin typeface="Cambria Math" panose="02040503050406030204"/>
                          <a:cs typeface="Cambria Math" panose="02040503050406030204"/>
                        </a:rPr>
                        <a:t> </a:t>
                      </a:r>
                      <a:r>
                        <a:rPr sz="2000" spc="30" dirty="0">
                          <a:latin typeface="Cambria Math" panose="02040503050406030204"/>
                          <a:cs typeface="Cambria Math" panose="02040503050406030204"/>
                        </a:rPr>
                        <a:t>𝑐}</a:t>
                      </a:r>
                      <a:endParaRPr sz="2000">
                        <a:latin typeface="Cambria Math" panose="02040503050406030204"/>
                        <a:cs typeface="Cambria Math" panose="02040503050406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3"/>
                  </a:ext>
                </a:extLst>
              </a:tr>
              <a:tr h="396240">
                <a:tc>
                  <a:txBody>
                    <a:bodyPr/>
                    <a:lstStyle/>
                    <a:p>
                      <a:pPr marL="1090295">
                        <a:lnSpc>
                          <a:spcPct val="100000"/>
                        </a:lnSpc>
                        <a:spcBef>
                          <a:spcPts val="250"/>
                        </a:spcBef>
                        <a:tabLst>
                          <a:tab pos="1928495" algn="l"/>
                        </a:tabLst>
                      </a:pPr>
                      <a:r>
                        <a:rPr sz="2000" dirty="0">
                          <a:latin typeface="Consolas" panose="020B0609020204030204"/>
                          <a:cs typeface="Consolas" panose="020B0609020204030204"/>
                        </a:rPr>
                        <a:t>b = a	-</a:t>
                      </a:r>
                      <a:r>
                        <a:rPr sz="2000" spc="-65" dirty="0">
                          <a:latin typeface="Consolas" panose="020B0609020204030204"/>
                          <a:cs typeface="Consolas" panose="020B0609020204030204"/>
                        </a:rPr>
                        <a:t> </a:t>
                      </a:r>
                      <a:r>
                        <a:rPr sz="2000" dirty="0">
                          <a:latin typeface="Consolas" panose="020B0609020204030204"/>
                          <a:cs typeface="Consolas" panose="020B0609020204030204"/>
                        </a:rPr>
                        <a:t>d</a:t>
                      </a:r>
                      <a:endParaRPr sz="2000">
                        <a:latin typeface="Consolas" panose="020B0609020204030204"/>
                        <a:cs typeface="Consolas" panose="020B0609020204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4"/>
                  </a:ext>
                </a:extLst>
              </a:tr>
              <a:tr h="396240">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132080" algn="ctr">
                        <a:lnSpc>
                          <a:spcPct val="100000"/>
                        </a:lnSpc>
                        <a:spcBef>
                          <a:spcPts val="250"/>
                        </a:spcBef>
                      </a:pPr>
                      <a:r>
                        <a:rPr sz="2000" dirty="0">
                          <a:latin typeface="Cambria Math" panose="02040503050406030204"/>
                          <a:cs typeface="Cambria Math" panose="02040503050406030204"/>
                        </a:rPr>
                        <a:t>{𝑎</a:t>
                      </a:r>
                      <a:r>
                        <a:rPr sz="2000" spc="15"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290" dirty="0">
                          <a:latin typeface="Cambria Math" panose="02040503050406030204"/>
                          <a:cs typeface="Cambria Math" panose="02040503050406030204"/>
                        </a:rPr>
                        <a:t> </a:t>
                      </a:r>
                      <a:r>
                        <a:rPr sz="2000" spc="30" dirty="0">
                          <a:latin typeface="Cambria Math" panose="02040503050406030204"/>
                          <a:cs typeface="Cambria Math" panose="02040503050406030204"/>
                        </a:rPr>
                        <a:t>𝑑}</a:t>
                      </a:r>
                      <a:endParaRPr sz="2000">
                        <a:latin typeface="Cambria Math" panose="02040503050406030204"/>
                        <a:cs typeface="Cambria Math" panose="02040503050406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5"/>
                  </a:ext>
                </a:extLst>
              </a:tr>
              <a:tr h="396240">
                <a:tc>
                  <a:txBody>
                    <a:bodyPr/>
                    <a:lstStyle/>
                    <a:p>
                      <a:pPr marL="1090295">
                        <a:lnSpc>
                          <a:spcPct val="100000"/>
                        </a:lnSpc>
                        <a:spcBef>
                          <a:spcPts val="250"/>
                        </a:spcBef>
                      </a:pPr>
                      <a:r>
                        <a:rPr sz="2000" dirty="0">
                          <a:latin typeface="Consolas" panose="020B0609020204030204"/>
                          <a:cs typeface="Consolas" panose="020B0609020204030204"/>
                        </a:rPr>
                        <a:t>c</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b</a:t>
                      </a:r>
                      <a:r>
                        <a:rPr sz="2000" spc="-25" dirty="0">
                          <a:latin typeface="Consolas" panose="020B0609020204030204"/>
                          <a:cs typeface="Consolas" panose="020B0609020204030204"/>
                        </a:rPr>
                        <a:t> </a:t>
                      </a:r>
                      <a:r>
                        <a:rPr sz="2000" dirty="0">
                          <a:latin typeface="Consolas" panose="020B0609020204030204"/>
                          <a:cs typeface="Consolas" panose="020B0609020204030204"/>
                        </a:rPr>
                        <a:t>+</a:t>
                      </a:r>
                      <a:r>
                        <a:rPr sz="2000" spc="-20" dirty="0">
                          <a:latin typeface="Consolas" panose="020B0609020204030204"/>
                          <a:cs typeface="Consolas" panose="020B0609020204030204"/>
                        </a:rPr>
                        <a:t> </a:t>
                      </a:r>
                      <a:r>
                        <a:rPr sz="2000" dirty="0">
                          <a:latin typeface="Consolas" panose="020B0609020204030204"/>
                          <a:cs typeface="Consolas" panose="020B0609020204030204"/>
                        </a:rPr>
                        <a:t>c</a:t>
                      </a:r>
                      <a:endParaRPr sz="2000">
                        <a:latin typeface="Consolas" panose="020B0609020204030204"/>
                        <a:cs typeface="Consolas" panose="020B0609020204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6"/>
                  </a:ext>
                </a:extLst>
              </a:tr>
              <a:tr h="396240">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132080" algn="ctr">
                        <a:lnSpc>
                          <a:spcPct val="100000"/>
                        </a:lnSpc>
                        <a:spcBef>
                          <a:spcPts val="250"/>
                        </a:spcBef>
                      </a:pPr>
                      <a:r>
                        <a:rPr sz="2000" dirty="0">
                          <a:latin typeface="Cambria Math" panose="02040503050406030204"/>
                          <a:cs typeface="Cambria Math" panose="02040503050406030204"/>
                        </a:rPr>
                        <a:t>{𝑎</a:t>
                      </a:r>
                      <a:r>
                        <a:rPr sz="2000" spc="15" dirty="0">
                          <a:latin typeface="Cambria Math" panose="02040503050406030204"/>
                          <a:cs typeface="Cambria Math" panose="02040503050406030204"/>
                        </a:rPr>
                        <a:t> </a:t>
                      </a:r>
                      <a:r>
                        <a:rPr sz="2000" dirty="0">
                          <a:latin typeface="Cambria Math" panose="02040503050406030204"/>
                          <a:cs typeface="Cambria Math" panose="02040503050406030204"/>
                        </a:rPr>
                        <a:t>–</a:t>
                      </a:r>
                      <a:r>
                        <a:rPr sz="2000" spc="290" dirty="0">
                          <a:latin typeface="Cambria Math" panose="02040503050406030204"/>
                          <a:cs typeface="Cambria Math" panose="02040503050406030204"/>
                        </a:rPr>
                        <a:t> </a:t>
                      </a:r>
                      <a:r>
                        <a:rPr sz="2000" spc="30" dirty="0">
                          <a:latin typeface="Cambria Math" panose="02040503050406030204"/>
                          <a:cs typeface="Cambria Math" panose="02040503050406030204"/>
                        </a:rPr>
                        <a:t>𝑑}</a:t>
                      </a:r>
                      <a:endParaRPr sz="2000">
                        <a:latin typeface="Cambria Math" panose="02040503050406030204"/>
                        <a:cs typeface="Cambria Math" panose="02040503050406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7"/>
                  </a:ext>
                </a:extLst>
              </a:tr>
              <a:tr h="396240">
                <a:tc>
                  <a:txBody>
                    <a:bodyPr/>
                    <a:lstStyle/>
                    <a:p>
                      <a:pPr marL="1090295">
                        <a:lnSpc>
                          <a:spcPct val="100000"/>
                        </a:lnSpc>
                        <a:spcBef>
                          <a:spcPts val="250"/>
                        </a:spcBef>
                        <a:tabLst>
                          <a:tab pos="1928495" algn="l"/>
                        </a:tabLst>
                      </a:pPr>
                      <a:r>
                        <a:rPr sz="2000" dirty="0">
                          <a:latin typeface="Consolas" panose="020B0609020204030204"/>
                          <a:cs typeface="Consolas" panose="020B0609020204030204"/>
                        </a:rPr>
                        <a:t>d = a	–</a:t>
                      </a:r>
                      <a:r>
                        <a:rPr sz="2000" spc="-65" dirty="0">
                          <a:latin typeface="Consolas" panose="020B0609020204030204"/>
                          <a:cs typeface="Consolas" panose="020B0609020204030204"/>
                        </a:rPr>
                        <a:t> </a:t>
                      </a:r>
                      <a:r>
                        <a:rPr sz="2000" dirty="0">
                          <a:latin typeface="Consolas" panose="020B0609020204030204"/>
                          <a:cs typeface="Consolas" panose="020B0609020204030204"/>
                        </a:rPr>
                        <a:t>d</a:t>
                      </a:r>
                      <a:endParaRPr sz="2000">
                        <a:latin typeface="Consolas" panose="020B0609020204030204"/>
                        <a:cs typeface="Consolas" panose="020B0609020204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8"/>
                  </a:ext>
                </a:extLst>
              </a:tr>
              <a:tr h="396240">
                <a:tc>
                  <a:txBody>
                    <a:bodyPr/>
                    <a:lstStyle/>
                    <a:p>
                      <a:pPr>
                        <a:lnSpc>
                          <a:spcPct val="100000"/>
                        </a:lnSpc>
                      </a:pPr>
                      <a:endParaRPr sz="18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130810" algn="ctr">
                        <a:lnSpc>
                          <a:spcPct val="100000"/>
                        </a:lnSpc>
                        <a:spcBef>
                          <a:spcPts val="250"/>
                        </a:spcBef>
                      </a:pPr>
                      <a:r>
                        <a:rPr sz="2000" dirty="0">
                          <a:latin typeface="Cambria Math" panose="02040503050406030204"/>
                          <a:cs typeface="Cambria Math" panose="02040503050406030204"/>
                        </a:rPr>
                        <a:t>∅</a:t>
                      </a:r>
                      <a:endParaRPr sz="2000">
                        <a:latin typeface="Cambria Math" panose="02040503050406030204"/>
                        <a:cs typeface="Cambria Math" panose="02040503050406030204"/>
                      </a:endParaRPr>
                    </a:p>
                  </a:txBody>
                  <a:tcPr marL="0" marR="0" marT="317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919980" cy="635000"/>
          </a:xfrm>
          <a:prstGeom prst="rect">
            <a:avLst/>
          </a:prstGeom>
        </p:spPr>
        <p:txBody>
          <a:bodyPr vert="horz" wrap="square" lIns="0" tIns="12700" rIns="0" bIns="0" rtlCol="0">
            <a:spAutoFit/>
          </a:bodyPr>
          <a:lstStyle/>
          <a:p>
            <a:pPr marL="12700">
              <a:lnSpc>
                <a:spcPct val="100000"/>
              </a:lnSpc>
              <a:spcBef>
                <a:spcPts val="100"/>
              </a:spcBef>
            </a:pPr>
            <a:r>
              <a:rPr sz="4000" dirty="0"/>
              <a:t>Data-Flow</a:t>
            </a:r>
            <a:r>
              <a:rPr sz="4000" spc="-60" dirty="0"/>
              <a:t> </a:t>
            </a:r>
            <a:r>
              <a:rPr sz="4000" spc="-5" dirty="0"/>
              <a:t>Equations</a:t>
            </a:r>
            <a:endParaRPr sz="4000"/>
          </a:p>
        </p:txBody>
      </p:sp>
      <p:sp>
        <p:nvSpPr>
          <p:cNvPr id="3" name="object 3"/>
          <p:cNvSpPr/>
          <p:nvPr/>
        </p:nvSpPr>
        <p:spPr>
          <a:xfrm>
            <a:off x="2606700" y="2188209"/>
            <a:ext cx="50165" cy="213360"/>
          </a:xfrm>
          <a:custGeom>
            <a:avLst/>
            <a:gdLst/>
            <a:ahLst/>
            <a:cxnLst/>
            <a:rect l="l" t="t" r="r" b="b"/>
            <a:pathLst>
              <a:path w="50164" h="213360">
                <a:moveTo>
                  <a:pt x="49784" y="0"/>
                </a:moveTo>
                <a:lnTo>
                  <a:pt x="0" y="0"/>
                </a:lnTo>
                <a:lnTo>
                  <a:pt x="0" y="8890"/>
                </a:lnTo>
                <a:lnTo>
                  <a:pt x="31254" y="8890"/>
                </a:lnTo>
                <a:lnTo>
                  <a:pt x="31254"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endParaRPr/>
          </a:p>
        </p:txBody>
      </p:sp>
      <p:sp>
        <p:nvSpPr>
          <p:cNvPr id="4" name="object 4"/>
          <p:cNvSpPr/>
          <p:nvPr/>
        </p:nvSpPr>
        <p:spPr>
          <a:xfrm>
            <a:off x="1863128" y="218820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29" y="204470"/>
                </a:lnTo>
                <a:lnTo>
                  <a:pt x="18529" y="8890"/>
                </a:lnTo>
                <a:lnTo>
                  <a:pt x="49784" y="8890"/>
                </a:lnTo>
                <a:lnTo>
                  <a:pt x="49784" y="0"/>
                </a:lnTo>
                <a:close/>
              </a:path>
            </a:pathLst>
          </a:custGeom>
          <a:solidFill>
            <a:srgbClr val="000000"/>
          </a:solidFill>
        </p:spPr>
        <p:txBody>
          <a:bodyPr wrap="square" lIns="0" tIns="0" rIns="0" bIns="0" rtlCol="0"/>
          <a:lstStyle/>
          <a:p>
            <a:endParaRPr/>
          </a:p>
        </p:txBody>
      </p:sp>
      <p:sp>
        <p:nvSpPr>
          <p:cNvPr id="5" name="object 5"/>
          <p:cNvSpPr/>
          <p:nvPr/>
        </p:nvSpPr>
        <p:spPr>
          <a:xfrm>
            <a:off x="2079460" y="3382009"/>
            <a:ext cx="50165" cy="213360"/>
          </a:xfrm>
          <a:custGeom>
            <a:avLst/>
            <a:gdLst/>
            <a:ahLst/>
            <a:cxnLst/>
            <a:rect l="l" t="t" r="r" b="b"/>
            <a:pathLst>
              <a:path w="50164" h="213360">
                <a:moveTo>
                  <a:pt x="49784" y="0"/>
                </a:moveTo>
                <a:lnTo>
                  <a:pt x="0" y="0"/>
                </a:lnTo>
                <a:lnTo>
                  <a:pt x="0" y="8890"/>
                </a:lnTo>
                <a:lnTo>
                  <a:pt x="31254" y="8890"/>
                </a:lnTo>
                <a:lnTo>
                  <a:pt x="31254"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endParaRPr/>
          </a:p>
        </p:txBody>
      </p:sp>
      <p:sp>
        <p:nvSpPr>
          <p:cNvPr id="6" name="object 6"/>
          <p:cNvSpPr/>
          <p:nvPr/>
        </p:nvSpPr>
        <p:spPr>
          <a:xfrm>
            <a:off x="1863128" y="338200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29" y="204470"/>
                </a:lnTo>
                <a:lnTo>
                  <a:pt x="18529" y="8890"/>
                </a:lnTo>
                <a:lnTo>
                  <a:pt x="49784" y="8890"/>
                </a:lnTo>
                <a:lnTo>
                  <a:pt x="49784" y="0"/>
                </a:lnTo>
                <a:close/>
              </a:path>
            </a:pathLst>
          </a:custGeom>
          <a:solidFill>
            <a:srgbClr val="000000"/>
          </a:solidFill>
        </p:spPr>
        <p:txBody>
          <a:bodyPr wrap="square" lIns="0" tIns="0" rIns="0" bIns="0" rtlCol="0"/>
          <a:lstStyle/>
          <a:p>
            <a:endParaRPr/>
          </a:p>
        </p:txBody>
      </p:sp>
      <p:sp>
        <p:nvSpPr>
          <p:cNvPr id="7" name="object 7"/>
          <p:cNvSpPr/>
          <p:nvPr/>
        </p:nvSpPr>
        <p:spPr>
          <a:xfrm>
            <a:off x="4018940" y="3382009"/>
            <a:ext cx="50165" cy="213360"/>
          </a:xfrm>
          <a:custGeom>
            <a:avLst/>
            <a:gdLst/>
            <a:ahLst/>
            <a:cxnLst/>
            <a:rect l="l" t="t" r="r" b="b"/>
            <a:pathLst>
              <a:path w="50164" h="213360">
                <a:moveTo>
                  <a:pt x="49784" y="0"/>
                </a:moveTo>
                <a:lnTo>
                  <a:pt x="0" y="0"/>
                </a:lnTo>
                <a:lnTo>
                  <a:pt x="0" y="8890"/>
                </a:lnTo>
                <a:lnTo>
                  <a:pt x="31254" y="8890"/>
                </a:lnTo>
                <a:lnTo>
                  <a:pt x="31254"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endParaRPr/>
          </a:p>
        </p:txBody>
      </p:sp>
      <p:sp>
        <p:nvSpPr>
          <p:cNvPr id="8" name="object 8"/>
          <p:cNvSpPr/>
          <p:nvPr/>
        </p:nvSpPr>
        <p:spPr>
          <a:xfrm>
            <a:off x="3802608" y="338200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29" y="204470"/>
                </a:lnTo>
                <a:lnTo>
                  <a:pt x="18529" y="8890"/>
                </a:lnTo>
                <a:lnTo>
                  <a:pt x="49784" y="8890"/>
                </a:lnTo>
                <a:lnTo>
                  <a:pt x="49784" y="0"/>
                </a:lnTo>
                <a:close/>
              </a:path>
            </a:pathLst>
          </a:custGeom>
          <a:solidFill>
            <a:srgbClr val="000000"/>
          </a:solidFill>
        </p:spPr>
        <p:txBody>
          <a:bodyPr wrap="square" lIns="0" tIns="0" rIns="0" bIns="0" rtlCol="0"/>
          <a:lstStyle/>
          <a:p>
            <a:endParaRPr/>
          </a:p>
        </p:txBody>
      </p:sp>
      <p:sp>
        <p:nvSpPr>
          <p:cNvPr id="9" name="object 9"/>
          <p:cNvSpPr/>
          <p:nvPr/>
        </p:nvSpPr>
        <p:spPr>
          <a:xfrm>
            <a:off x="1877847" y="3902709"/>
            <a:ext cx="50165" cy="213360"/>
          </a:xfrm>
          <a:custGeom>
            <a:avLst/>
            <a:gdLst/>
            <a:ahLst/>
            <a:cxnLst/>
            <a:rect l="l" t="t" r="r" b="b"/>
            <a:pathLst>
              <a:path w="50164" h="213360">
                <a:moveTo>
                  <a:pt x="49784" y="0"/>
                </a:moveTo>
                <a:lnTo>
                  <a:pt x="0" y="0"/>
                </a:lnTo>
                <a:lnTo>
                  <a:pt x="0" y="8890"/>
                </a:lnTo>
                <a:lnTo>
                  <a:pt x="31254" y="8890"/>
                </a:lnTo>
                <a:lnTo>
                  <a:pt x="31254"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endParaRPr/>
          </a:p>
        </p:txBody>
      </p:sp>
      <p:sp>
        <p:nvSpPr>
          <p:cNvPr id="10" name="object 10"/>
          <p:cNvSpPr/>
          <p:nvPr/>
        </p:nvSpPr>
        <p:spPr>
          <a:xfrm>
            <a:off x="1661515" y="390270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29" y="204470"/>
                </a:lnTo>
                <a:lnTo>
                  <a:pt x="18529" y="8890"/>
                </a:lnTo>
                <a:lnTo>
                  <a:pt x="49784" y="8890"/>
                </a:lnTo>
                <a:lnTo>
                  <a:pt x="49784" y="0"/>
                </a:lnTo>
                <a:close/>
              </a:path>
            </a:pathLst>
          </a:custGeom>
          <a:solidFill>
            <a:srgbClr val="000000"/>
          </a:solidFill>
        </p:spPr>
        <p:txBody>
          <a:bodyPr wrap="square" lIns="0" tIns="0" rIns="0" bIns="0" rtlCol="0"/>
          <a:lstStyle/>
          <a:p>
            <a:endParaRPr/>
          </a:p>
        </p:txBody>
      </p:sp>
      <p:sp>
        <p:nvSpPr>
          <p:cNvPr id="11" name="object 11"/>
          <p:cNvSpPr txBox="1"/>
          <p:nvPr/>
        </p:nvSpPr>
        <p:spPr>
          <a:xfrm>
            <a:off x="669290" y="1573276"/>
            <a:ext cx="7748270" cy="2618740"/>
          </a:xfrm>
          <a:prstGeom prst="rect">
            <a:avLst/>
          </a:prstGeom>
        </p:spPr>
        <p:txBody>
          <a:bodyPr vert="horz" wrap="square" lIns="0" tIns="12700" rIns="0" bIns="0" rtlCol="0">
            <a:spAutoFit/>
          </a:bodyPr>
          <a:lstStyle/>
          <a:p>
            <a:pPr marL="281305" indent="-230505">
              <a:lnSpc>
                <a:spcPct val="100000"/>
              </a:lnSpc>
              <a:spcBef>
                <a:spcPts val="100"/>
              </a:spcBef>
              <a:buFont typeface="Arial MT"/>
              <a:buChar char="•"/>
              <a:tabLst>
                <a:tab pos="280670" algn="l"/>
                <a:tab pos="281305" algn="l"/>
              </a:tabLst>
            </a:pPr>
            <a:r>
              <a:rPr sz="2200" dirty="0">
                <a:latin typeface="Palatino Linotype" panose="02040502050505030304"/>
                <a:cs typeface="Palatino Linotype" panose="02040502050505030304"/>
              </a:rPr>
              <a:t>At</a:t>
            </a:r>
            <a:r>
              <a:rPr sz="2200" spc="-5" dirty="0">
                <a:latin typeface="Palatino Linotype" panose="02040502050505030304"/>
                <a:cs typeface="Palatino Linotype" panose="02040502050505030304"/>
              </a:rPr>
              <a:t> the exit 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entry</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node,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there </a:t>
            </a:r>
            <a:r>
              <a:rPr sz="2200" dirty="0">
                <a:latin typeface="Palatino Linotype" panose="02040502050505030304"/>
                <a:cs typeface="Palatino Linotype" panose="02040502050505030304"/>
              </a:rPr>
              <a:t>are</a:t>
            </a:r>
            <a:r>
              <a:rPr sz="2200" spc="-5" dirty="0">
                <a:latin typeface="Palatino Linotype" panose="02040502050505030304"/>
                <a:cs typeface="Palatino Linotype" panose="02040502050505030304"/>
              </a:rPr>
              <a:t> expressions</a:t>
            </a:r>
            <a:r>
              <a:rPr sz="2200" spc="5"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available:</a:t>
            </a:r>
            <a:endParaRPr sz="2200" dirty="0">
              <a:latin typeface="Palatino Linotype" panose="02040502050505030304"/>
              <a:cs typeface="Palatino Linotype" panose="02040502050505030304"/>
            </a:endParaRPr>
          </a:p>
          <a:p>
            <a:pPr marL="736600" lvl="1" indent="-228600">
              <a:lnSpc>
                <a:spcPct val="100000"/>
              </a:lnSpc>
              <a:spcBef>
                <a:spcPts val="1645"/>
              </a:spcBef>
              <a:buFont typeface="Wingdings" panose="05000000000000000000"/>
              <a:buChar char=""/>
              <a:tabLst>
                <a:tab pos="736600" algn="l"/>
                <a:tab pos="2075180" algn="l"/>
              </a:tabLst>
            </a:pPr>
            <a:r>
              <a:rPr sz="1800" spc="-5" dirty="0">
                <a:latin typeface="Cambria Math" panose="02040503050406030204"/>
                <a:cs typeface="Cambria Math" panose="02040503050406030204"/>
              </a:rPr>
              <a:t>OUT</a:t>
            </a:r>
            <a:r>
              <a:rPr sz="1800" spc="229" dirty="0">
                <a:latin typeface="Cambria Math" panose="02040503050406030204"/>
                <a:cs typeface="Cambria Math" panose="02040503050406030204"/>
              </a:rPr>
              <a:t> </a:t>
            </a:r>
            <a:r>
              <a:rPr sz="1800" spc="-20" dirty="0">
                <a:latin typeface="Cambria Math" panose="02040503050406030204"/>
                <a:cs typeface="Cambria Math" panose="02040503050406030204"/>
              </a:rPr>
              <a:t>ENTRY	</a:t>
            </a:r>
            <a:r>
              <a:rPr sz="1800" dirty="0">
                <a:latin typeface="Cambria Math" panose="02040503050406030204"/>
                <a:cs typeface="Cambria Math" panose="02040503050406030204"/>
              </a:rPr>
              <a:t>=</a:t>
            </a:r>
            <a:r>
              <a:rPr sz="1800" spc="55" dirty="0">
                <a:latin typeface="Cambria Math" panose="02040503050406030204"/>
                <a:cs typeface="Cambria Math" panose="02040503050406030204"/>
              </a:rPr>
              <a:t> </a:t>
            </a:r>
            <a:r>
              <a:rPr sz="1800" dirty="0">
                <a:latin typeface="Cambria Math" panose="02040503050406030204"/>
                <a:cs typeface="Cambria Math" panose="02040503050406030204"/>
              </a:rPr>
              <a:t>∅</a:t>
            </a:r>
          </a:p>
          <a:p>
            <a:pPr lvl="1">
              <a:lnSpc>
                <a:spcPct val="100000"/>
              </a:lnSpc>
              <a:spcBef>
                <a:spcPts val="25"/>
              </a:spcBef>
              <a:buFont typeface="Wingdings" panose="05000000000000000000"/>
              <a:buChar char=""/>
            </a:pPr>
            <a:endParaRPr sz="2400" dirty="0">
              <a:latin typeface="Cambria Math" panose="02040503050406030204"/>
              <a:cs typeface="Cambria Math" panose="02040503050406030204"/>
            </a:endParaRPr>
          </a:p>
          <a:p>
            <a:pPr marL="281305" indent="-230505">
              <a:lnSpc>
                <a:spcPct val="100000"/>
              </a:lnSpc>
              <a:spcBef>
                <a:spcPts val="5"/>
              </a:spcBef>
              <a:buFont typeface="Arial MT"/>
              <a:buChar char="•"/>
              <a:tabLst>
                <a:tab pos="280670" algn="l"/>
                <a:tab pos="281305" algn="l"/>
              </a:tabLst>
            </a:pPr>
            <a:r>
              <a:rPr sz="2200" spc="-5" dirty="0">
                <a:latin typeface="Palatino Linotype" panose="02040502050505030304"/>
                <a:cs typeface="Palatino Linotype" panose="02040502050505030304"/>
              </a:rPr>
              <a:t>For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all</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basic blocks</a:t>
            </a:r>
            <a:r>
              <a:rPr sz="2200" dirty="0">
                <a:latin typeface="Palatino Linotype" panose="02040502050505030304"/>
                <a:cs typeface="Palatino Linotype" panose="02040502050505030304"/>
              </a:rPr>
              <a:t> </a:t>
            </a:r>
            <a:r>
              <a:rPr sz="2200" i="1" dirty="0">
                <a:latin typeface="Palatino Linotype" panose="02040502050505030304"/>
                <a:cs typeface="Palatino Linotype" panose="02040502050505030304"/>
              </a:rPr>
              <a:t>B</a:t>
            </a:r>
            <a:r>
              <a:rPr sz="2200" i="1"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other</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than</a:t>
            </a:r>
            <a:r>
              <a:rPr sz="2200" spc="-15" dirty="0">
                <a:latin typeface="Palatino Linotype" panose="02040502050505030304"/>
                <a:cs typeface="Palatino Linotype" panose="02040502050505030304"/>
              </a:rPr>
              <a:t> </a:t>
            </a:r>
            <a:r>
              <a:rPr sz="2200" spc="-30" dirty="0">
                <a:latin typeface="Palatino Linotype" panose="02040502050505030304"/>
                <a:cs typeface="Palatino Linotype" panose="02040502050505030304"/>
              </a:rPr>
              <a:t>ENTRY:</a:t>
            </a:r>
            <a:endParaRPr sz="2200" dirty="0">
              <a:latin typeface="Palatino Linotype" panose="02040502050505030304"/>
              <a:cs typeface="Palatino Linotype" panose="02040502050505030304"/>
            </a:endParaRPr>
          </a:p>
          <a:p>
            <a:pPr marL="736600" lvl="1" indent="-228600">
              <a:lnSpc>
                <a:spcPct val="100000"/>
              </a:lnSpc>
              <a:spcBef>
                <a:spcPts val="1765"/>
              </a:spcBef>
              <a:buFont typeface="Wingdings" panose="05000000000000000000"/>
              <a:buChar char=""/>
              <a:tabLst>
                <a:tab pos="736600" algn="l"/>
                <a:tab pos="1548765" algn="l"/>
                <a:tab pos="3474720" algn="l"/>
              </a:tabLst>
            </a:pPr>
            <a:r>
              <a:rPr sz="1800" spc="-5" dirty="0">
                <a:latin typeface="Cambria Math" panose="02040503050406030204"/>
                <a:cs typeface="Cambria Math" panose="02040503050406030204"/>
              </a:rPr>
              <a:t>OUT</a:t>
            </a:r>
            <a:r>
              <a:rPr sz="1800" spc="225" dirty="0">
                <a:latin typeface="Cambria Math" panose="02040503050406030204"/>
                <a:cs typeface="Cambria Math" panose="02040503050406030204"/>
              </a:rPr>
              <a:t> </a:t>
            </a:r>
            <a:r>
              <a:rPr sz="1800" dirty="0">
                <a:latin typeface="Cambria Math" panose="02040503050406030204"/>
                <a:cs typeface="Cambria Math" panose="02040503050406030204"/>
              </a:rPr>
              <a:t>𝐵	=</a:t>
            </a:r>
            <a:r>
              <a:rPr sz="1800" spc="110" dirty="0">
                <a:latin typeface="Cambria Math" panose="02040503050406030204"/>
                <a:cs typeface="Cambria Math" panose="02040503050406030204"/>
              </a:rPr>
              <a:t> </a:t>
            </a:r>
            <a:r>
              <a:rPr sz="1800" dirty="0">
                <a:latin typeface="Cambria Math" panose="02040503050406030204"/>
                <a:cs typeface="Cambria Math" panose="02040503050406030204"/>
              </a:rPr>
              <a:t>𝑒_𝑔𝑒𝑛𝐵</a:t>
            </a:r>
            <a:r>
              <a:rPr sz="1800" spc="45" dirty="0">
                <a:latin typeface="Cambria Math" panose="02040503050406030204"/>
                <a:cs typeface="Cambria Math" panose="02040503050406030204"/>
              </a:rPr>
              <a:t> </a:t>
            </a:r>
            <a:r>
              <a:rPr sz="1800" spc="75" dirty="0">
                <a:latin typeface="Cambria Math" panose="02040503050406030204"/>
                <a:cs typeface="Cambria Math" panose="02040503050406030204"/>
              </a:rPr>
              <a:t>𝖴</a:t>
            </a:r>
            <a:r>
              <a:rPr sz="1800" spc="5" dirty="0">
                <a:latin typeface="Cambria Math" panose="02040503050406030204"/>
                <a:cs typeface="Cambria Math" panose="02040503050406030204"/>
              </a:rPr>
              <a:t> </a:t>
            </a:r>
            <a:r>
              <a:rPr sz="1800" dirty="0">
                <a:latin typeface="Cambria Math" panose="02040503050406030204"/>
                <a:cs typeface="Cambria Math" panose="02040503050406030204"/>
              </a:rPr>
              <a:t>(IN</a:t>
            </a:r>
            <a:r>
              <a:rPr sz="1800" spc="235" dirty="0">
                <a:latin typeface="Cambria Math" panose="02040503050406030204"/>
                <a:cs typeface="Cambria Math" panose="02040503050406030204"/>
              </a:rPr>
              <a:t> </a:t>
            </a:r>
            <a:r>
              <a:rPr sz="1800" dirty="0">
                <a:latin typeface="Cambria Math" panose="02040503050406030204"/>
                <a:cs typeface="Cambria Math" panose="02040503050406030204"/>
              </a:rPr>
              <a:t>𝐵	−</a:t>
            </a:r>
            <a:r>
              <a:rPr sz="1800" spc="-30" dirty="0">
                <a:latin typeface="Cambria Math" panose="02040503050406030204"/>
                <a:cs typeface="Cambria Math" panose="02040503050406030204"/>
              </a:rPr>
              <a:t> </a:t>
            </a:r>
            <a:r>
              <a:rPr sz="1800" spc="5" dirty="0">
                <a:latin typeface="Cambria Math" panose="02040503050406030204"/>
                <a:cs typeface="Cambria Math" panose="02040503050406030204"/>
              </a:rPr>
              <a:t>𝑒_𝑘𝑖𝑙𝑙𝐵</a:t>
            </a:r>
            <a:r>
              <a:rPr sz="1800" spc="5" dirty="0">
                <a:latin typeface="Palatino Linotype" panose="02040502050505030304"/>
                <a:cs typeface="Palatino Linotype" panose="02040502050505030304"/>
              </a:rPr>
              <a:t>)</a:t>
            </a:r>
            <a:endParaRPr sz="1800" dirty="0">
              <a:latin typeface="Palatino Linotype" panose="02040502050505030304"/>
              <a:cs typeface="Palatino Linotype" panose="02040502050505030304"/>
            </a:endParaRPr>
          </a:p>
          <a:p>
            <a:pPr lvl="1">
              <a:lnSpc>
                <a:spcPct val="100000"/>
              </a:lnSpc>
              <a:spcBef>
                <a:spcPts val="40"/>
              </a:spcBef>
              <a:buFont typeface="Wingdings" panose="05000000000000000000"/>
              <a:buChar char=""/>
            </a:pPr>
            <a:endParaRPr sz="1750" dirty="0">
              <a:latin typeface="Palatino Linotype" panose="02040502050505030304"/>
              <a:cs typeface="Palatino Linotype" panose="02040502050505030304"/>
            </a:endParaRPr>
          </a:p>
          <a:p>
            <a:pPr marL="736600" lvl="1" indent="-228600">
              <a:lnSpc>
                <a:spcPct val="100000"/>
              </a:lnSpc>
              <a:buFont typeface="Wingdings" panose="05000000000000000000"/>
              <a:buChar char=""/>
              <a:tabLst>
                <a:tab pos="736600" algn="l"/>
                <a:tab pos="1346835" algn="l"/>
              </a:tabLst>
            </a:pPr>
            <a:r>
              <a:rPr sz="2700" baseline="14000" dirty="0">
                <a:latin typeface="Cambria Math" panose="02040503050406030204"/>
                <a:cs typeface="Cambria Math" panose="02040503050406030204"/>
              </a:rPr>
              <a:t>IN </a:t>
            </a:r>
            <a:r>
              <a:rPr sz="2700" spc="-247" baseline="14000" dirty="0">
                <a:latin typeface="Cambria Math" panose="02040503050406030204"/>
                <a:cs typeface="Cambria Math" panose="02040503050406030204"/>
              </a:rPr>
              <a:t> </a:t>
            </a:r>
            <a:r>
              <a:rPr sz="2700" baseline="14000" dirty="0">
                <a:latin typeface="Cambria Math" panose="02040503050406030204"/>
                <a:cs typeface="Cambria Math" panose="02040503050406030204"/>
              </a:rPr>
              <a:t>𝐵	=</a:t>
            </a:r>
            <a:r>
              <a:rPr sz="2700" spc="157" baseline="14000" dirty="0">
                <a:latin typeface="Cambria Math" panose="02040503050406030204"/>
                <a:cs typeface="Cambria Math" panose="02040503050406030204"/>
              </a:rPr>
              <a:t> </a:t>
            </a:r>
            <a:r>
              <a:rPr sz="2700" baseline="12000" dirty="0">
                <a:latin typeface="Cambria Math" panose="02040503050406030204"/>
                <a:cs typeface="Cambria Math" panose="02040503050406030204"/>
              </a:rPr>
              <a:t>⋂</a:t>
            </a:r>
            <a:r>
              <a:rPr sz="1300" spc="55" dirty="0">
                <a:latin typeface="Cambria Math" panose="02040503050406030204"/>
                <a:cs typeface="Cambria Math" panose="02040503050406030204"/>
              </a:rPr>
              <a:t>𝑃</a:t>
            </a:r>
            <a:r>
              <a:rPr sz="1300" spc="40" dirty="0">
                <a:latin typeface="Cambria Math" panose="02040503050406030204"/>
                <a:cs typeface="Cambria Math" panose="02040503050406030204"/>
              </a:rPr>
              <a:t> </a:t>
            </a:r>
            <a:r>
              <a:rPr lang="en-US" altLang="zh-CN" sz="1300" spc="175" dirty="0">
                <a:latin typeface="Cambria Math" panose="02040503050406030204"/>
                <a:cs typeface="Cambria Math" panose="02040503050406030204"/>
              </a:rPr>
              <a:t>is a predecessor of </a:t>
            </a:r>
            <a:r>
              <a:rPr sz="1300" spc="40" dirty="0">
                <a:latin typeface="Cambria Math" panose="02040503050406030204"/>
                <a:cs typeface="Cambria Math" panose="02040503050406030204"/>
              </a:rPr>
              <a:t>𝐵</a:t>
            </a:r>
            <a:r>
              <a:rPr sz="1300" spc="50" dirty="0">
                <a:latin typeface="Cambria Math" panose="02040503050406030204"/>
                <a:cs typeface="Cambria Math" panose="02040503050406030204"/>
              </a:rPr>
              <a:t> </a:t>
            </a:r>
            <a:r>
              <a:rPr sz="2700" spc="-7" baseline="14000" dirty="0">
                <a:latin typeface="Cambria Math" panose="02040503050406030204"/>
                <a:cs typeface="Cambria Math" panose="02040503050406030204"/>
              </a:rPr>
              <a:t>OUT</a:t>
            </a:r>
            <a:r>
              <a:rPr sz="2700" spc="-15" baseline="14000" dirty="0">
                <a:latin typeface="Cambria Math" panose="02040503050406030204"/>
                <a:cs typeface="Cambria Math" panose="02040503050406030204"/>
              </a:rPr>
              <a:t>[</a:t>
            </a:r>
            <a:r>
              <a:rPr sz="2700" spc="60" baseline="14000" dirty="0">
                <a:latin typeface="Cambria Math" panose="02040503050406030204"/>
                <a:cs typeface="Cambria Math" panose="02040503050406030204"/>
              </a:rPr>
              <a:t>𝑃</a:t>
            </a:r>
            <a:r>
              <a:rPr sz="2700" baseline="14000" dirty="0">
                <a:latin typeface="Cambria Math" panose="02040503050406030204"/>
                <a:cs typeface="Cambria Math" panose="02040503050406030204"/>
              </a:rPr>
              <a:t>]</a:t>
            </a:r>
          </a:p>
        </p:txBody>
      </p:sp>
      <p:sp>
        <p:nvSpPr>
          <p:cNvPr id="14" name="object 1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5" name="object 1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6" name="object 1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71</a:t>
            </a:fld>
            <a:endParaRPr dirty="0"/>
          </a:p>
        </p:txBody>
      </p:sp>
      <p:sp>
        <p:nvSpPr>
          <p:cNvPr id="12" name="object 12"/>
          <p:cNvSpPr txBox="1"/>
          <p:nvPr/>
        </p:nvSpPr>
        <p:spPr>
          <a:xfrm>
            <a:off x="628650" y="4555929"/>
            <a:ext cx="7886700" cy="861060"/>
          </a:xfrm>
          <a:prstGeom prst="rect">
            <a:avLst/>
          </a:prstGeom>
          <a:solidFill>
            <a:srgbClr val="FFF2CC"/>
          </a:solidFill>
          <a:ln w="9525">
            <a:solidFill>
              <a:srgbClr val="000000"/>
            </a:solidFill>
          </a:ln>
        </p:spPr>
        <p:txBody>
          <a:bodyPr vert="horz" wrap="square" lIns="0" tIns="14604" rIns="0" bIns="0" rtlCol="0">
            <a:spAutoFit/>
          </a:bodyPr>
          <a:lstStyle/>
          <a:p>
            <a:pPr marL="91440" marR="438785">
              <a:lnSpc>
                <a:spcPts val="3190"/>
              </a:lnSpc>
              <a:spcBef>
                <a:spcPts val="115"/>
              </a:spcBef>
            </a:pP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equations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are</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similar </a:t>
            </a:r>
            <a:r>
              <a:rPr sz="2000" spc="-5" dirty="0">
                <a:latin typeface="Palatino Linotype" panose="02040502050505030304"/>
                <a:cs typeface="Palatino Linotype" panose="02040502050505030304"/>
              </a:rPr>
              <a:t>to</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those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reaching</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definition</a:t>
            </a:r>
            <a:r>
              <a:rPr sz="2000" dirty="0">
                <a:latin typeface="Palatino Linotype" panose="02040502050505030304"/>
                <a:cs typeface="Palatino Linotype" panose="02040502050505030304"/>
              </a:rPr>
              <a:t> analysis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except that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meet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opeator</a:t>
            </a:r>
            <a:r>
              <a:rPr sz="2000" dirty="0">
                <a:latin typeface="Palatino Linotype" panose="02040502050505030304"/>
                <a:cs typeface="Palatino Linotype" panose="02040502050505030304"/>
              </a:rPr>
              <a:t> is </a:t>
            </a:r>
            <a:r>
              <a:rPr sz="2000" spc="-5" dirty="0">
                <a:latin typeface="Palatino Linotype" panose="02040502050505030304"/>
                <a:cs typeface="Palatino Linotype" panose="02040502050505030304"/>
              </a:rPr>
              <a:t>intersection</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rather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than union.</a:t>
            </a:r>
            <a:r>
              <a:rPr sz="1950" spc="-7" baseline="26000" dirty="0">
                <a:latin typeface="Palatino Linotype" panose="02040502050505030304"/>
                <a:cs typeface="Palatino Linotype" panose="02040502050505030304"/>
              </a:rPr>
              <a:t>*</a:t>
            </a:r>
            <a:endParaRPr sz="1950" baseline="26000">
              <a:latin typeface="Palatino Linotype" panose="02040502050505030304"/>
              <a:cs typeface="Palatino Linotype" panose="02040502050505030304"/>
            </a:endParaRPr>
          </a:p>
        </p:txBody>
      </p:sp>
      <p:sp>
        <p:nvSpPr>
          <p:cNvPr id="13" name="object 13"/>
          <p:cNvSpPr txBox="1"/>
          <p:nvPr/>
        </p:nvSpPr>
        <p:spPr>
          <a:xfrm>
            <a:off x="707390" y="5623052"/>
            <a:ext cx="7595234" cy="458470"/>
          </a:xfrm>
          <a:prstGeom prst="rect">
            <a:avLst/>
          </a:prstGeom>
        </p:spPr>
        <p:txBody>
          <a:bodyPr vert="horz" wrap="square" lIns="0" tIns="12700" rIns="0" bIns="0" rtlCol="0">
            <a:spAutoFit/>
          </a:bodyPr>
          <a:lstStyle/>
          <a:p>
            <a:pPr marL="12700" marR="5080">
              <a:lnSpc>
                <a:spcPct val="118000"/>
              </a:lnSpc>
              <a:spcBef>
                <a:spcPts val="100"/>
              </a:spcBef>
            </a:pPr>
            <a:r>
              <a:rPr sz="1200" baseline="28000" dirty="0">
                <a:solidFill>
                  <a:srgbClr val="A6A6A6"/>
                </a:solidFill>
                <a:latin typeface="Palatino Linotype" panose="02040502050505030304"/>
                <a:cs typeface="Palatino Linotype" panose="02040502050505030304"/>
              </a:rPr>
              <a:t>*</a:t>
            </a:r>
            <a:r>
              <a:rPr sz="1200" spc="157" baseline="28000"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This</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is</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for</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safety</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reasons.</a:t>
            </a:r>
            <a:r>
              <a:rPr sz="1200" spc="-4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Although</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producing</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a</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subset</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of</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the</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exact</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set </a:t>
            </a:r>
            <a:r>
              <a:rPr sz="1200" spc="-5" dirty="0">
                <a:solidFill>
                  <a:srgbClr val="A6A6A6"/>
                </a:solidFill>
                <a:latin typeface="Palatino Linotype" panose="02040502050505030304"/>
                <a:cs typeface="Palatino Linotype" panose="02040502050505030304"/>
              </a:rPr>
              <a:t>of</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available</a:t>
            </a:r>
            <a:r>
              <a:rPr sz="1200" spc="5" dirty="0">
                <a:solidFill>
                  <a:srgbClr val="A6A6A6"/>
                </a:solidFill>
                <a:latin typeface="Palatino Linotype" panose="02040502050505030304"/>
                <a:cs typeface="Palatino Linotype" panose="02040502050505030304"/>
              </a:rPr>
              <a:t> </a:t>
            </a:r>
            <a:r>
              <a:rPr sz="1200" dirty="0">
                <a:solidFill>
                  <a:srgbClr val="A6A6A6"/>
                </a:solidFill>
                <a:latin typeface="Palatino Linotype" panose="02040502050505030304"/>
                <a:cs typeface="Palatino Linotype" panose="02040502050505030304"/>
              </a:rPr>
              <a:t>expressions</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prevents</a:t>
            </a:r>
            <a:r>
              <a:rPr sz="1200" spc="1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certain </a:t>
            </a:r>
            <a:r>
              <a:rPr sz="1200" spc="-28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optimizations,</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this</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does</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not </a:t>
            </a:r>
            <a:r>
              <a:rPr sz="1200" dirty="0">
                <a:solidFill>
                  <a:srgbClr val="A6A6A6"/>
                </a:solidFill>
                <a:latin typeface="Palatino Linotype" panose="02040502050505030304"/>
                <a:cs typeface="Palatino Linotype" panose="02040502050505030304"/>
              </a:rPr>
              <a:t>lead</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to the</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change</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of</a:t>
            </a:r>
            <a:r>
              <a:rPr sz="1200" spc="5"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program</a:t>
            </a:r>
            <a:r>
              <a:rPr sz="1200" dirty="0">
                <a:solidFill>
                  <a:srgbClr val="A6A6A6"/>
                </a:solidFill>
                <a:latin typeface="Palatino Linotype" panose="02040502050505030304"/>
                <a:cs typeface="Palatino Linotype" panose="02040502050505030304"/>
              </a:rPr>
              <a:t> </a:t>
            </a:r>
            <a:r>
              <a:rPr sz="1200" spc="-5" dirty="0">
                <a:solidFill>
                  <a:srgbClr val="A6A6A6"/>
                </a:solidFill>
                <a:latin typeface="Palatino Linotype" panose="02040502050505030304"/>
                <a:cs typeface="Palatino Linotype" panose="02040502050505030304"/>
              </a:rPr>
              <a:t>semantics</a:t>
            </a:r>
            <a:endParaRPr sz="1200">
              <a:latin typeface="Palatino Linotype" panose="02040502050505030304"/>
              <a:cs typeface="Palatino Linotype" panose="020405020505050303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5562600" cy="635000"/>
          </a:xfrm>
          <a:prstGeom prst="rect">
            <a:avLst/>
          </a:prstGeom>
        </p:spPr>
        <p:txBody>
          <a:bodyPr vert="horz" wrap="square" lIns="0" tIns="12700" rIns="0" bIns="0" rtlCol="0">
            <a:spAutoFit/>
          </a:bodyPr>
          <a:lstStyle/>
          <a:p>
            <a:pPr marL="12700">
              <a:lnSpc>
                <a:spcPct val="100000"/>
              </a:lnSpc>
              <a:spcBef>
                <a:spcPts val="100"/>
              </a:spcBef>
            </a:pPr>
            <a:r>
              <a:rPr sz="4000" spc="-10" dirty="0"/>
              <a:t>The</a:t>
            </a:r>
            <a:r>
              <a:rPr sz="4000" spc="-30" dirty="0"/>
              <a:t> </a:t>
            </a:r>
            <a:r>
              <a:rPr sz="4000" dirty="0"/>
              <a:t>Iterative</a:t>
            </a:r>
            <a:r>
              <a:rPr sz="4000" spc="-25" dirty="0"/>
              <a:t> </a:t>
            </a:r>
            <a:r>
              <a:rPr sz="4000" dirty="0"/>
              <a:t>Algorithm</a:t>
            </a:r>
            <a:endParaRPr sz="4000"/>
          </a:p>
        </p:txBody>
      </p:sp>
      <p:sp>
        <p:nvSpPr>
          <p:cNvPr id="3" name="object 3"/>
          <p:cNvSpPr/>
          <p:nvPr/>
        </p:nvSpPr>
        <p:spPr>
          <a:xfrm>
            <a:off x="2601607" y="2769869"/>
            <a:ext cx="60960" cy="260350"/>
          </a:xfrm>
          <a:custGeom>
            <a:avLst/>
            <a:gdLst/>
            <a:ahLst/>
            <a:cxnLst/>
            <a:rect l="l" t="t" r="r" b="b"/>
            <a:pathLst>
              <a:path w="60960" h="260350">
                <a:moveTo>
                  <a:pt x="60845" y="0"/>
                </a:moveTo>
                <a:lnTo>
                  <a:pt x="0" y="0"/>
                </a:lnTo>
                <a:lnTo>
                  <a:pt x="0" y="10160"/>
                </a:lnTo>
                <a:lnTo>
                  <a:pt x="38201" y="10160"/>
                </a:lnTo>
                <a:lnTo>
                  <a:pt x="38201" y="248920"/>
                </a:lnTo>
                <a:lnTo>
                  <a:pt x="0" y="248920"/>
                </a:lnTo>
                <a:lnTo>
                  <a:pt x="0" y="260350"/>
                </a:lnTo>
                <a:lnTo>
                  <a:pt x="60845" y="260350"/>
                </a:lnTo>
                <a:lnTo>
                  <a:pt x="60845" y="248920"/>
                </a:lnTo>
                <a:lnTo>
                  <a:pt x="60845" y="10160"/>
                </a:lnTo>
                <a:lnTo>
                  <a:pt x="60845" y="0"/>
                </a:lnTo>
                <a:close/>
              </a:path>
            </a:pathLst>
          </a:custGeom>
          <a:solidFill>
            <a:srgbClr val="000000"/>
          </a:solidFill>
        </p:spPr>
        <p:txBody>
          <a:bodyPr wrap="square" lIns="0" tIns="0" rIns="0" bIns="0" rtlCol="0"/>
          <a:lstStyle/>
          <a:p>
            <a:endParaRPr/>
          </a:p>
        </p:txBody>
      </p:sp>
      <p:sp>
        <p:nvSpPr>
          <p:cNvPr id="4" name="object 4"/>
          <p:cNvSpPr/>
          <p:nvPr/>
        </p:nvSpPr>
        <p:spPr>
          <a:xfrm>
            <a:off x="2337422" y="2769869"/>
            <a:ext cx="60960" cy="260350"/>
          </a:xfrm>
          <a:custGeom>
            <a:avLst/>
            <a:gdLst/>
            <a:ahLst/>
            <a:cxnLst/>
            <a:rect l="l" t="t" r="r" b="b"/>
            <a:pathLst>
              <a:path w="60960" h="260350">
                <a:moveTo>
                  <a:pt x="60845" y="0"/>
                </a:moveTo>
                <a:lnTo>
                  <a:pt x="0" y="0"/>
                </a:lnTo>
                <a:lnTo>
                  <a:pt x="0" y="10160"/>
                </a:lnTo>
                <a:lnTo>
                  <a:pt x="0" y="248920"/>
                </a:lnTo>
                <a:lnTo>
                  <a:pt x="0" y="260350"/>
                </a:lnTo>
                <a:lnTo>
                  <a:pt x="60845" y="260350"/>
                </a:lnTo>
                <a:lnTo>
                  <a:pt x="60845" y="248920"/>
                </a:lnTo>
                <a:lnTo>
                  <a:pt x="22644" y="248920"/>
                </a:lnTo>
                <a:lnTo>
                  <a:pt x="22644" y="10160"/>
                </a:lnTo>
                <a:lnTo>
                  <a:pt x="60845" y="10160"/>
                </a:lnTo>
                <a:lnTo>
                  <a:pt x="60845" y="0"/>
                </a:lnTo>
                <a:close/>
              </a:path>
            </a:pathLst>
          </a:custGeom>
          <a:solidFill>
            <a:srgbClr val="000000"/>
          </a:solidFill>
        </p:spPr>
        <p:txBody>
          <a:bodyPr wrap="square" lIns="0" tIns="0" rIns="0" bIns="0" rtlCol="0"/>
          <a:lstStyle/>
          <a:p>
            <a:endParaRPr/>
          </a:p>
        </p:txBody>
      </p:sp>
      <p:sp>
        <p:nvSpPr>
          <p:cNvPr id="5" name="object 5"/>
          <p:cNvSpPr/>
          <p:nvPr/>
        </p:nvSpPr>
        <p:spPr>
          <a:xfrm>
            <a:off x="4130243" y="2769869"/>
            <a:ext cx="60960" cy="260350"/>
          </a:xfrm>
          <a:custGeom>
            <a:avLst/>
            <a:gdLst/>
            <a:ahLst/>
            <a:cxnLst/>
            <a:rect l="l" t="t" r="r" b="b"/>
            <a:pathLst>
              <a:path w="60960" h="260350">
                <a:moveTo>
                  <a:pt x="60845" y="0"/>
                </a:moveTo>
                <a:lnTo>
                  <a:pt x="0" y="0"/>
                </a:lnTo>
                <a:lnTo>
                  <a:pt x="0" y="10160"/>
                </a:lnTo>
                <a:lnTo>
                  <a:pt x="38201" y="10160"/>
                </a:lnTo>
                <a:lnTo>
                  <a:pt x="38201" y="248920"/>
                </a:lnTo>
                <a:lnTo>
                  <a:pt x="0" y="248920"/>
                </a:lnTo>
                <a:lnTo>
                  <a:pt x="0" y="260350"/>
                </a:lnTo>
                <a:lnTo>
                  <a:pt x="60845" y="260350"/>
                </a:lnTo>
                <a:lnTo>
                  <a:pt x="60845" y="248920"/>
                </a:lnTo>
                <a:lnTo>
                  <a:pt x="60845" y="10160"/>
                </a:lnTo>
                <a:lnTo>
                  <a:pt x="60845" y="0"/>
                </a:lnTo>
                <a:close/>
              </a:path>
            </a:pathLst>
          </a:custGeom>
          <a:solidFill>
            <a:srgbClr val="000000"/>
          </a:solidFill>
        </p:spPr>
        <p:txBody>
          <a:bodyPr wrap="square" lIns="0" tIns="0" rIns="0" bIns="0" rtlCol="0"/>
          <a:lstStyle/>
          <a:p>
            <a:endParaRPr/>
          </a:p>
        </p:txBody>
      </p:sp>
      <p:sp>
        <p:nvSpPr>
          <p:cNvPr id="6" name="object 6"/>
          <p:cNvSpPr/>
          <p:nvPr/>
        </p:nvSpPr>
        <p:spPr>
          <a:xfrm>
            <a:off x="3866057" y="2769869"/>
            <a:ext cx="60960" cy="260350"/>
          </a:xfrm>
          <a:custGeom>
            <a:avLst/>
            <a:gdLst/>
            <a:ahLst/>
            <a:cxnLst/>
            <a:rect l="l" t="t" r="r" b="b"/>
            <a:pathLst>
              <a:path w="60960" h="260350">
                <a:moveTo>
                  <a:pt x="60845" y="0"/>
                </a:moveTo>
                <a:lnTo>
                  <a:pt x="0" y="0"/>
                </a:lnTo>
                <a:lnTo>
                  <a:pt x="0" y="10160"/>
                </a:lnTo>
                <a:lnTo>
                  <a:pt x="0" y="248920"/>
                </a:lnTo>
                <a:lnTo>
                  <a:pt x="0" y="260350"/>
                </a:lnTo>
                <a:lnTo>
                  <a:pt x="60845" y="260350"/>
                </a:lnTo>
                <a:lnTo>
                  <a:pt x="60845" y="248920"/>
                </a:lnTo>
                <a:lnTo>
                  <a:pt x="22644" y="248920"/>
                </a:lnTo>
                <a:lnTo>
                  <a:pt x="22644" y="10160"/>
                </a:lnTo>
                <a:lnTo>
                  <a:pt x="60845" y="10160"/>
                </a:lnTo>
                <a:lnTo>
                  <a:pt x="60845" y="0"/>
                </a:lnTo>
                <a:close/>
              </a:path>
            </a:pathLst>
          </a:custGeom>
          <a:solidFill>
            <a:srgbClr val="000000"/>
          </a:solidFill>
        </p:spPr>
        <p:txBody>
          <a:bodyPr wrap="square" lIns="0" tIns="0" rIns="0" bIns="0" rtlCol="0"/>
          <a:lstStyle/>
          <a:p>
            <a:endParaRPr/>
          </a:p>
        </p:txBody>
      </p:sp>
      <p:grpSp>
        <p:nvGrpSpPr>
          <p:cNvPr id="7" name="object 7"/>
          <p:cNvGrpSpPr/>
          <p:nvPr/>
        </p:nvGrpSpPr>
        <p:grpSpPr>
          <a:xfrm>
            <a:off x="1485900" y="3863976"/>
            <a:ext cx="6153150" cy="2095500"/>
            <a:chOff x="1485900" y="3863976"/>
            <a:chExt cx="6153150" cy="2095500"/>
          </a:xfrm>
        </p:grpSpPr>
        <p:pic>
          <p:nvPicPr>
            <p:cNvPr id="8" name="object 8"/>
            <p:cNvPicPr/>
            <p:nvPr/>
          </p:nvPicPr>
          <p:blipFill>
            <a:blip r:embed="rId3" cstate="print"/>
            <a:stretch>
              <a:fillRect/>
            </a:stretch>
          </p:blipFill>
          <p:spPr>
            <a:xfrm>
              <a:off x="1485900" y="3863976"/>
              <a:ext cx="6153150" cy="2095500"/>
            </a:xfrm>
            <a:prstGeom prst="rect">
              <a:avLst/>
            </a:prstGeom>
          </p:spPr>
        </p:pic>
        <p:sp>
          <p:nvSpPr>
            <p:cNvPr id="9" name="object 9"/>
            <p:cNvSpPr/>
            <p:nvPr/>
          </p:nvSpPr>
          <p:spPr>
            <a:xfrm>
              <a:off x="6272212" y="4486275"/>
              <a:ext cx="1329055" cy="0"/>
            </a:xfrm>
            <a:custGeom>
              <a:avLst/>
              <a:gdLst/>
              <a:ahLst/>
              <a:cxnLst/>
              <a:rect l="l" t="t" r="r" b="b"/>
              <a:pathLst>
                <a:path w="1329054">
                  <a:moveTo>
                    <a:pt x="0" y="0"/>
                  </a:moveTo>
                  <a:lnTo>
                    <a:pt x="1328737" y="1"/>
                  </a:lnTo>
                </a:path>
              </a:pathLst>
            </a:custGeom>
            <a:ln w="28575">
              <a:solidFill>
                <a:srgbClr val="FF0000"/>
              </a:solidFill>
            </a:ln>
          </p:spPr>
          <p:txBody>
            <a:bodyPr wrap="square" lIns="0" tIns="0" rIns="0" bIns="0" rtlCol="0"/>
            <a:lstStyle/>
            <a:p>
              <a:endParaRPr/>
            </a:p>
          </p:txBody>
        </p:sp>
      </p:grpSp>
      <p:sp>
        <p:nvSpPr>
          <p:cNvPr id="10" name="object 10"/>
          <p:cNvSpPr txBox="1"/>
          <p:nvPr/>
        </p:nvSpPr>
        <p:spPr>
          <a:xfrm>
            <a:off x="707390" y="1600708"/>
            <a:ext cx="8056245" cy="2322830"/>
          </a:xfrm>
          <a:prstGeom prst="rect">
            <a:avLst/>
          </a:prstGeom>
        </p:spPr>
        <p:txBody>
          <a:bodyPr vert="horz" wrap="square" lIns="0" tIns="12700" rIns="0" bIns="0" rtlCol="0">
            <a:spAutoFit/>
          </a:bodyPr>
          <a:lstStyle/>
          <a:p>
            <a:pPr marL="242570" marR="496570" indent="-230505">
              <a:lnSpc>
                <a:spcPct val="117000"/>
              </a:lnSpc>
              <a:spcBef>
                <a:spcPts val="100"/>
              </a:spcBef>
              <a:buClr>
                <a:srgbClr val="000000"/>
              </a:buClr>
              <a:buFont typeface="Arial MT"/>
              <a:buChar char="•"/>
              <a:tabLst>
                <a:tab pos="242570" algn="l"/>
                <a:tab pos="242570" algn="l"/>
              </a:tabLst>
            </a:pPr>
            <a:r>
              <a:rPr sz="2200" b="1" dirty="0">
                <a:solidFill>
                  <a:srgbClr val="0432FF"/>
                </a:solidFill>
                <a:latin typeface="Palatino Linotype" panose="02040502050505030304"/>
                <a:cs typeface="Palatino Linotype" panose="02040502050505030304"/>
              </a:rPr>
              <a:t>Input: </a:t>
            </a:r>
            <a:r>
              <a:rPr sz="2200" dirty="0">
                <a:latin typeface="Palatino Linotype" panose="02040502050505030304"/>
                <a:cs typeface="Palatino Linotype" panose="02040502050505030304"/>
              </a:rPr>
              <a:t>A </a:t>
            </a:r>
            <a:r>
              <a:rPr sz="2200" spc="-5" dirty="0">
                <a:latin typeface="Palatino Linotype" panose="02040502050505030304"/>
                <a:cs typeface="Palatino Linotype" panose="02040502050505030304"/>
              </a:rPr>
              <a:t>flow </a:t>
            </a:r>
            <a:r>
              <a:rPr sz="2200" dirty="0">
                <a:latin typeface="Palatino Linotype" panose="02040502050505030304"/>
                <a:cs typeface="Palatino Linotype" panose="02040502050505030304"/>
              </a:rPr>
              <a:t>graph </a:t>
            </a:r>
            <a:r>
              <a:rPr sz="2200" spc="-5" dirty="0">
                <a:latin typeface="Palatino Linotype" panose="02040502050505030304"/>
                <a:cs typeface="Palatino Linotype" panose="02040502050505030304"/>
              </a:rPr>
              <a:t>with </a:t>
            </a:r>
            <a:r>
              <a:rPr sz="2200" dirty="0">
                <a:latin typeface="Cambria Math" panose="02040503050406030204"/>
                <a:cs typeface="Cambria Math" panose="02040503050406030204"/>
              </a:rPr>
              <a:t>𝑒_𝑘𝑖𝑙𝑙𝐵 </a:t>
            </a:r>
            <a:r>
              <a:rPr sz="2200" spc="-5" dirty="0">
                <a:latin typeface="Palatino Linotype" panose="02040502050505030304"/>
                <a:cs typeface="Palatino Linotype" panose="02040502050505030304"/>
              </a:rPr>
              <a:t>and </a:t>
            </a:r>
            <a:r>
              <a:rPr sz="2200" dirty="0">
                <a:latin typeface="Cambria Math" panose="02040503050406030204"/>
                <a:cs typeface="Cambria Math" panose="02040503050406030204"/>
              </a:rPr>
              <a:t>𝑒_𝑔𝑒𝑛𝐵 </a:t>
            </a:r>
            <a:r>
              <a:rPr sz="2200" spc="-5" dirty="0">
                <a:latin typeface="Palatino Linotype" panose="02040502050505030304"/>
                <a:cs typeface="Palatino Linotype" panose="02040502050505030304"/>
              </a:rPr>
              <a:t>computed for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block</a:t>
            </a:r>
            <a:r>
              <a:rPr sz="2200" dirty="0">
                <a:latin typeface="Palatino Linotype" panose="02040502050505030304"/>
                <a:cs typeface="Palatino Linotype" panose="02040502050505030304"/>
              </a:rPr>
              <a:t> </a:t>
            </a:r>
            <a:r>
              <a:rPr sz="2200" dirty="0">
                <a:latin typeface="Cambria Math" panose="02040503050406030204"/>
                <a:cs typeface="Cambria Math" panose="02040503050406030204"/>
              </a:rPr>
              <a:t>𝐵</a:t>
            </a:r>
            <a:endParaRPr sz="2200">
              <a:latin typeface="Cambria Math" panose="02040503050406030204"/>
              <a:cs typeface="Cambria Math" panose="02040503050406030204"/>
            </a:endParaRPr>
          </a:p>
          <a:p>
            <a:pPr marL="242570" marR="569595" indent="-230505">
              <a:lnSpc>
                <a:spcPct val="122000"/>
              </a:lnSpc>
              <a:spcBef>
                <a:spcPts val="1775"/>
              </a:spcBef>
              <a:buClr>
                <a:srgbClr val="000000"/>
              </a:buClr>
              <a:buFont typeface="Arial MT"/>
              <a:buChar char="•"/>
              <a:tabLst>
                <a:tab pos="242570" algn="l"/>
                <a:tab pos="242570" algn="l"/>
                <a:tab pos="2055495" algn="l"/>
              </a:tabLst>
            </a:pPr>
            <a:r>
              <a:rPr sz="2200" b="1" dirty="0">
                <a:solidFill>
                  <a:srgbClr val="0432FF"/>
                </a:solidFill>
                <a:latin typeface="Palatino Linotype" panose="02040502050505030304"/>
                <a:cs typeface="Palatino Linotype" panose="02040502050505030304"/>
              </a:rPr>
              <a:t>Output: </a:t>
            </a:r>
            <a:r>
              <a:rPr sz="2200" spc="-5" dirty="0">
                <a:latin typeface="Cambria Math" panose="02040503050406030204"/>
                <a:cs typeface="Cambria Math" panose="02040503050406030204"/>
              </a:rPr>
              <a:t>IN</a:t>
            </a:r>
            <a:r>
              <a:rPr sz="2200" spc="290" dirty="0">
                <a:latin typeface="Cambria Math" panose="02040503050406030204"/>
                <a:cs typeface="Cambria Math" panose="02040503050406030204"/>
              </a:rPr>
              <a:t> </a:t>
            </a:r>
            <a:r>
              <a:rPr sz="2200" dirty="0">
                <a:latin typeface="Cambria Math" panose="02040503050406030204"/>
                <a:cs typeface="Cambria Math" panose="02040503050406030204"/>
              </a:rPr>
              <a:t>𝐵	</a:t>
            </a:r>
            <a:r>
              <a:rPr sz="2200" spc="-5" dirty="0">
                <a:latin typeface="Palatino Linotype" panose="02040502050505030304"/>
                <a:cs typeface="Palatino Linotype" panose="02040502050505030304"/>
              </a:rPr>
              <a:t>and</a:t>
            </a:r>
            <a:r>
              <a:rPr sz="2200" dirty="0">
                <a:latin typeface="Palatino Linotype" panose="02040502050505030304"/>
                <a:cs typeface="Palatino Linotype" panose="02040502050505030304"/>
              </a:rPr>
              <a:t> </a:t>
            </a:r>
            <a:r>
              <a:rPr sz="2200" spc="-5" dirty="0">
                <a:latin typeface="Cambria Math" panose="02040503050406030204"/>
                <a:cs typeface="Cambria Math" panose="02040503050406030204"/>
              </a:rPr>
              <a:t>OUT</a:t>
            </a:r>
            <a:r>
              <a:rPr sz="2200" spc="275" dirty="0">
                <a:latin typeface="Cambria Math" panose="02040503050406030204"/>
                <a:cs typeface="Cambria Math" panose="02040503050406030204"/>
              </a:rPr>
              <a:t> </a:t>
            </a:r>
            <a:r>
              <a:rPr sz="2200" dirty="0">
                <a:latin typeface="Cambria Math" panose="02040503050406030204"/>
                <a:cs typeface="Cambria Math" panose="02040503050406030204"/>
              </a:rPr>
              <a:t>𝐵</a:t>
            </a:r>
            <a:r>
              <a:rPr sz="2200" spc="345" dirty="0">
                <a:latin typeface="Cambria Math" panose="02040503050406030204"/>
                <a:cs typeface="Cambria Math" panose="02040503050406030204"/>
              </a:rPr>
              <a:t> </a:t>
            </a:r>
            <a:r>
              <a:rPr sz="2200" dirty="0">
                <a:latin typeface="Palatino Linotype" panose="02040502050505030304"/>
                <a:cs typeface="Palatino Linotype" panose="02040502050505030304"/>
              </a:rPr>
              <a:t>,</a:t>
            </a:r>
            <a:r>
              <a:rPr sz="2200" spc="-5" dirty="0">
                <a:latin typeface="Palatino Linotype" panose="02040502050505030304"/>
                <a:cs typeface="Palatino Linotype" panose="02040502050505030304"/>
              </a:rPr>
              <a:t> 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expressions</a:t>
            </a:r>
            <a:r>
              <a:rPr sz="2200"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available </a:t>
            </a:r>
            <a:r>
              <a:rPr sz="2200" dirty="0">
                <a:latin typeface="Palatino Linotype" panose="02040502050505030304"/>
                <a:cs typeface="Palatino Linotype" panose="02040502050505030304"/>
              </a:rPr>
              <a:t>at</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a:t>
            </a:r>
            <a:r>
              <a:rPr sz="2200" spc="-53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entry and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exit of</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each</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block </a:t>
            </a:r>
            <a:r>
              <a:rPr sz="2200" dirty="0">
                <a:latin typeface="Cambria Math" panose="02040503050406030204"/>
                <a:cs typeface="Cambria Math" panose="02040503050406030204"/>
              </a:rPr>
              <a:t>𝐵</a:t>
            </a:r>
            <a:endParaRPr sz="2200">
              <a:latin typeface="Cambria Math" panose="02040503050406030204"/>
              <a:cs typeface="Cambria Math" panose="02040503050406030204"/>
            </a:endParaRPr>
          </a:p>
          <a:p>
            <a:pPr marL="4295775">
              <a:lnSpc>
                <a:spcPct val="100000"/>
              </a:lnSpc>
              <a:spcBef>
                <a:spcPts val="1525"/>
              </a:spcBef>
            </a:pPr>
            <a:r>
              <a:rPr sz="1800" i="1" spc="-5" dirty="0">
                <a:solidFill>
                  <a:srgbClr val="FF0000"/>
                </a:solidFill>
                <a:latin typeface="Palatino Linotype" panose="02040502050505030304"/>
                <a:cs typeface="Palatino Linotype" panose="02040502050505030304"/>
              </a:rPr>
              <a:t>U</a:t>
            </a:r>
            <a:r>
              <a:rPr sz="1800" spc="-5" dirty="0">
                <a:solidFill>
                  <a:srgbClr val="FF0000"/>
                </a:solidFill>
                <a:latin typeface="Palatino Linotype" panose="02040502050505030304"/>
                <a:cs typeface="Palatino Linotype" panose="02040502050505030304"/>
              </a:rPr>
              <a:t>:</a:t>
            </a:r>
            <a:r>
              <a:rPr sz="1800" spc="-10"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the</a:t>
            </a:r>
            <a:r>
              <a:rPr sz="1800" spc="-5" dirty="0">
                <a:solidFill>
                  <a:srgbClr val="FF0000"/>
                </a:solidFill>
                <a:latin typeface="Palatino Linotype" panose="02040502050505030304"/>
                <a:cs typeface="Palatino Linotype" panose="02040502050505030304"/>
              </a:rPr>
              <a:t> universal set</a:t>
            </a:r>
            <a:r>
              <a:rPr sz="1800" spc="-10"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of</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all</a:t>
            </a:r>
            <a:r>
              <a:rPr sz="1800" spc="-5" dirty="0">
                <a:solidFill>
                  <a:srgbClr val="FF0000"/>
                </a:solidFill>
                <a:latin typeface="Palatino Linotype" panose="02040502050505030304"/>
                <a:cs typeface="Palatino Linotype" panose="02040502050505030304"/>
              </a:rPr>
              <a:t> expressions</a:t>
            </a:r>
            <a:endParaRPr sz="1800">
              <a:latin typeface="Palatino Linotype" panose="02040502050505030304"/>
              <a:cs typeface="Palatino Linotype" panose="02040502050505030304"/>
            </a:endParaRPr>
          </a:p>
        </p:txBody>
      </p:sp>
      <p:sp>
        <p:nvSpPr>
          <p:cNvPr id="11" name="object 11"/>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2" name="object 12"/>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13" name="object 13"/>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72</a:t>
            </a:fld>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6250305" cy="635000"/>
          </a:xfrm>
          <a:prstGeom prst="rect">
            <a:avLst/>
          </a:prstGeom>
        </p:spPr>
        <p:txBody>
          <a:bodyPr vert="horz" wrap="square" lIns="0" tIns="12700" rIns="0" bIns="0" rtlCol="0">
            <a:spAutoFit/>
          </a:bodyPr>
          <a:lstStyle/>
          <a:p>
            <a:pPr marL="12700">
              <a:lnSpc>
                <a:spcPct val="100000"/>
              </a:lnSpc>
              <a:spcBef>
                <a:spcPts val="100"/>
              </a:spcBef>
            </a:pPr>
            <a:r>
              <a:rPr sz="4000" spc="-5" dirty="0"/>
              <a:t>Summary</a:t>
            </a:r>
            <a:r>
              <a:rPr sz="4000" spc="-20" dirty="0"/>
              <a:t> </a:t>
            </a:r>
            <a:r>
              <a:rPr sz="4000" dirty="0"/>
              <a:t>of</a:t>
            </a:r>
            <a:r>
              <a:rPr sz="4000" spc="-15" dirty="0"/>
              <a:t> </a:t>
            </a:r>
            <a:r>
              <a:rPr sz="4000" spc="-10" dirty="0"/>
              <a:t>The</a:t>
            </a:r>
            <a:r>
              <a:rPr sz="4000" spc="-20" dirty="0"/>
              <a:t> </a:t>
            </a:r>
            <a:r>
              <a:rPr sz="4000" dirty="0"/>
              <a:t>Problems</a:t>
            </a:r>
            <a:endParaRPr sz="4000"/>
          </a:p>
        </p:txBody>
      </p:sp>
      <p:grpSp>
        <p:nvGrpSpPr>
          <p:cNvPr id="3" name="object 3"/>
          <p:cNvGrpSpPr/>
          <p:nvPr/>
        </p:nvGrpSpPr>
        <p:grpSpPr>
          <a:xfrm>
            <a:off x="1536880" y="4105274"/>
            <a:ext cx="7207250" cy="1031875"/>
            <a:chOff x="1536880" y="4105274"/>
            <a:chExt cx="7207250" cy="1031875"/>
          </a:xfrm>
        </p:grpSpPr>
        <p:sp>
          <p:nvSpPr>
            <p:cNvPr id="4" name="object 4"/>
            <p:cNvSpPr/>
            <p:nvPr/>
          </p:nvSpPr>
          <p:spPr>
            <a:xfrm>
              <a:off x="1536877" y="4105274"/>
              <a:ext cx="7207250" cy="1031875"/>
            </a:xfrm>
            <a:custGeom>
              <a:avLst/>
              <a:gdLst/>
              <a:ahLst/>
              <a:cxnLst/>
              <a:rect l="l" t="t" r="r" b="b"/>
              <a:pathLst>
                <a:path w="7207250" h="1031875">
                  <a:moveTo>
                    <a:pt x="7207072" y="0"/>
                  </a:moveTo>
                  <a:lnTo>
                    <a:pt x="4804715" y="0"/>
                  </a:lnTo>
                  <a:lnTo>
                    <a:pt x="2402357" y="0"/>
                  </a:lnTo>
                  <a:lnTo>
                    <a:pt x="0" y="0"/>
                  </a:lnTo>
                  <a:lnTo>
                    <a:pt x="0" y="1031557"/>
                  </a:lnTo>
                  <a:lnTo>
                    <a:pt x="2402357" y="1031557"/>
                  </a:lnTo>
                  <a:lnTo>
                    <a:pt x="4804715" y="1031557"/>
                  </a:lnTo>
                  <a:lnTo>
                    <a:pt x="7207072" y="1031557"/>
                  </a:lnTo>
                  <a:lnTo>
                    <a:pt x="7207072" y="0"/>
                  </a:lnTo>
                  <a:close/>
                </a:path>
              </a:pathLst>
            </a:custGeom>
            <a:solidFill>
              <a:srgbClr val="E9EBF5"/>
            </a:solidFill>
          </p:spPr>
          <p:txBody>
            <a:bodyPr wrap="square" lIns="0" tIns="0" rIns="0" bIns="0" rtlCol="0"/>
            <a:lstStyle/>
            <a:p>
              <a:endParaRPr/>
            </a:p>
          </p:txBody>
        </p:sp>
        <p:sp>
          <p:nvSpPr>
            <p:cNvPr id="5" name="object 5"/>
            <p:cNvSpPr/>
            <p:nvPr/>
          </p:nvSpPr>
          <p:spPr>
            <a:xfrm>
              <a:off x="2937549" y="4182962"/>
              <a:ext cx="541020" cy="165100"/>
            </a:xfrm>
            <a:custGeom>
              <a:avLst/>
              <a:gdLst/>
              <a:ahLst/>
              <a:cxnLst/>
              <a:rect l="l" t="t" r="r" b="b"/>
              <a:pathLst>
                <a:path w="541020" h="165100">
                  <a:moveTo>
                    <a:pt x="488299" y="0"/>
                  </a:moveTo>
                  <a:lnTo>
                    <a:pt x="485956" y="6684"/>
                  </a:lnTo>
                  <a:lnTo>
                    <a:pt x="495489" y="10821"/>
                  </a:lnTo>
                  <a:lnTo>
                    <a:pt x="503688" y="16548"/>
                  </a:lnTo>
                  <a:lnTo>
                    <a:pt x="523374" y="54661"/>
                  </a:lnTo>
                  <a:lnTo>
                    <a:pt x="525805" y="81520"/>
                  </a:lnTo>
                  <a:lnTo>
                    <a:pt x="525194" y="96045"/>
                  </a:lnTo>
                  <a:lnTo>
                    <a:pt x="510511" y="140652"/>
                  </a:lnTo>
                  <a:lnTo>
                    <a:pt x="486216" y="158005"/>
                  </a:lnTo>
                  <a:lnTo>
                    <a:pt x="488299" y="164689"/>
                  </a:lnTo>
                  <a:lnTo>
                    <a:pt x="527281" y="135910"/>
                  </a:lnTo>
                  <a:lnTo>
                    <a:pt x="539977" y="97518"/>
                  </a:lnTo>
                  <a:lnTo>
                    <a:pt x="540824" y="82388"/>
                  </a:lnTo>
                  <a:lnTo>
                    <a:pt x="539975" y="67290"/>
                  </a:lnTo>
                  <a:lnTo>
                    <a:pt x="527237" y="28865"/>
                  </a:lnTo>
                  <a:lnTo>
                    <a:pt x="500240" y="4310"/>
                  </a:lnTo>
                  <a:lnTo>
                    <a:pt x="488299" y="0"/>
                  </a:lnTo>
                  <a:close/>
                </a:path>
                <a:path w="541020" h="165100">
                  <a:moveTo>
                    <a:pt x="52523" y="0"/>
                  </a:moveTo>
                  <a:lnTo>
                    <a:pt x="13586" y="28865"/>
                  </a:lnTo>
                  <a:lnTo>
                    <a:pt x="849" y="67290"/>
                  </a:lnTo>
                  <a:lnTo>
                    <a:pt x="0" y="82388"/>
                  </a:lnTo>
                  <a:lnTo>
                    <a:pt x="846" y="97518"/>
                  </a:lnTo>
                  <a:lnTo>
                    <a:pt x="13543" y="135910"/>
                  </a:lnTo>
                  <a:lnTo>
                    <a:pt x="52523" y="164689"/>
                  </a:lnTo>
                  <a:lnTo>
                    <a:pt x="54607" y="158005"/>
                  </a:lnTo>
                  <a:lnTo>
                    <a:pt x="45223" y="153849"/>
                  </a:lnTo>
                  <a:lnTo>
                    <a:pt x="37124" y="148064"/>
                  </a:lnTo>
                  <a:lnTo>
                    <a:pt x="17460" y="109236"/>
                  </a:lnTo>
                  <a:lnTo>
                    <a:pt x="15019" y="81520"/>
                  </a:lnTo>
                  <a:lnTo>
                    <a:pt x="15629" y="67469"/>
                  </a:lnTo>
                  <a:lnTo>
                    <a:pt x="30328" y="23865"/>
                  </a:lnTo>
                  <a:lnTo>
                    <a:pt x="54867" y="6684"/>
                  </a:lnTo>
                  <a:lnTo>
                    <a:pt x="52523" y="0"/>
                  </a:lnTo>
                  <a:close/>
                </a:path>
              </a:pathLst>
            </a:custGeom>
            <a:solidFill>
              <a:srgbClr val="000000"/>
            </a:solidFill>
          </p:spPr>
          <p:txBody>
            <a:bodyPr wrap="square" lIns="0" tIns="0" rIns="0" bIns="0" rtlCol="0"/>
            <a:lstStyle/>
            <a:p>
              <a:endParaRPr/>
            </a:p>
          </p:txBody>
        </p:sp>
        <p:sp>
          <p:nvSpPr>
            <p:cNvPr id="6" name="object 6"/>
            <p:cNvSpPr/>
            <p:nvPr/>
          </p:nvSpPr>
          <p:spPr>
            <a:xfrm>
              <a:off x="5181155" y="4182973"/>
              <a:ext cx="3101975" cy="165100"/>
            </a:xfrm>
            <a:custGeom>
              <a:avLst/>
              <a:gdLst/>
              <a:ahLst/>
              <a:cxnLst/>
              <a:rect l="l" t="t" r="r" b="b"/>
              <a:pathLst>
                <a:path w="3101975" h="165100">
                  <a:moveTo>
                    <a:pt x="54864" y="6680"/>
                  </a:moveTo>
                  <a:lnTo>
                    <a:pt x="52514" y="0"/>
                  </a:lnTo>
                  <a:lnTo>
                    <a:pt x="40576" y="4305"/>
                  </a:lnTo>
                  <a:lnTo>
                    <a:pt x="30111" y="10553"/>
                  </a:lnTo>
                  <a:lnTo>
                    <a:pt x="3390" y="53327"/>
                  </a:lnTo>
                  <a:lnTo>
                    <a:pt x="0" y="82384"/>
                  </a:lnTo>
                  <a:lnTo>
                    <a:pt x="838" y="97510"/>
                  </a:lnTo>
                  <a:lnTo>
                    <a:pt x="13538" y="135902"/>
                  </a:lnTo>
                  <a:lnTo>
                    <a:pt x="52514" y="164680"/>
                  </a:lnTo>
                  <a:lnTo>
                    <a:pt x="54597" y="158000"/>
                  </a:lnTo>
                  <a:lnTo>
                    <a:pt x="45212" y="153847"/>
                  </a:lnTo>
                  <a:lnTo>
                    <a:pt x="37122" y="148056"/>
                  </a:lnTo>
                  <a:lnTo>
                    <a:pt x="17449" y="109232"/>
                  </a:lnTo>
                  <a:lnTo>
                    <a:pt x="15011" y="81508"/>
                  </a:lnTo>
                  <a:lnTo>
                    <a:pt x="15621" y="67462"/>
                  </a:lnTo>
                  <a:lnTo>
                    <a:pt x="30327" y="23863"/>
                  </a:lnTo>
                  <a:lnTo>
                    <a:pt x="45364" y="10820"/>
                  </a:lnTo>
                  <a:lnTo>
                    <a:pt x="54864" y="6680"/>
                  </a:lnTo>
                  <a:close/>
                </a:path>
                <a:path w="3101975" h="165100">
                  <a:moveTo>
                    <a:pt x="699566" y="82384"/>
                  </a:moveTo>
                  <a:lnTo>
                    <a:pt x="691921" y="40525"/>
                  </a:lnTo>
                  <a:lnTo>
                    <a:pt x="658990" y="4305"/>
                  </a:lnTo>
                  <a:lnTo>
                    <a:pt x="647039" y="0"/>
                  </a:lnTo>
                  <a:lnTo>
                    <a:pt x="644702" y="6680"/>
                  </a:lnTo>
                  <a:lnTo>
                    <a:pt x="654227" y="10820"/>
                  </a:lnTo>
                  <a:lnTo>
                    <a:pt x="662432" y="16548"/>
                  </a:lnTo>
                  <a:lnTo>
                    <a:pt x="682117" y="54660"/>
                  </a:lnTo>
                  <a:lnTo>
                    <a:pt x="684555" y="81508"/>
                  </a:lnTo>
                  <a:lnTo>
                    <a:pt x="683933" y="96037"/>
                  </a:lnTo>
                  <a:lnTo>
                    <a:pt x="669251" y="140652"/>
                  </a:lnTo>
                  <a:lnTo>
                    <a:pt x="644956" y="158000"/>
                  </a:lnTo>
                  <a:lnTo>
                    <a:pt x="647039" y="164680"/>
                  </a:lnTo>
                  <a:lnTo>
                    <a:pt x="686028" y="135902"/>
                  </a:lnTo>
                  <a:lnTo>
                    <a:pt x="698728" y="97510"/>
                  </a:lnTo>
                  <a:lnTo>
                    <a:pt x="699566" y="82384"/>
                  </a:lnTo>
                  <a:close/>
                </a:path>
                <a:path w="3101975" h="165100">
                  <a:moveTo>
                    <a:pt x="2615971" y="6680"/>
                  </a:moveTo>
                  <a:lnTo>
                    <a:pt x="2613622" y="0"/>
                  </a:lnTo>
                  <a:lnTo>
                    <a:pt x="2601684" y="4305"/>
                  </a:lnTo>
                  <a:lnTo>
                    <a:pt x="2591219" y="10553"/>
                  </a:lnTo>
                  <a:lnTo>
                    <a:pt x="2564498" y="53327"/>
                  </a:lnTo>
                  <a:lnTo>
                    <a:pt x="2561107" y="82384"/>
                  </a:lnTo>
                  <a:lnTo>
                    <a:pt x="2561945" y="97510"/>
                  </a:lnTo>
                  <a:lnTo>
                    <a:pt x="2574645" y="135902"/>
                  </a:lnTo>
                  <a:lnTo>
                    <a:pt x="2613622" y="164680"/>
                  </a:lnTo>
                  <a:lnTo>
                    <a:pt x="2615704" y="158000"/>
                  </a:lnTo>
                  <a:lnTo>
                    <a:pt x="2606319" y="153847"/>
                  </a:lnTo>
                  <a:lnTo>
                    <a:pt x="2598229" y="148056"/>
                  </a:lnTo>
                  <a:lnTo>
                    <a:pt x="2578557" y="109232"/>
                  </a:lnTo>
                  <a:lnTo>
                    <a:pt x="2576118" y="81508"/>
                  </a:lnTo>
                  <a:lnTo>
                    <a:pt x="2576728" y="67462"/>
                  </a:lnTo>
                  <a:lnTo>
                    <a:pt x="2591435" y="23863"/>
                  </a:lnTo>
                  <a:lnTo>
                    <a:pt x="2606471" y="10820"/>
                  </a:lnTo>
                  <a:lnTo>
                    <a:pt x="2615971" y="6680"/>
                  </a:lnTo>
                  <a:close/>
                </a:path>
                <a:path w="3101975" h="165100">
                  <a:moveTo>
                    <a:pt x="3101924" y="82384"/>
                  </a:moveTo>
                  <a:lnTo>
                    <a:pt x="3094278" y="40525"/>
                  </a:lnTo>
                  <a:lnTo>
                    <a:pt x="3061347" y="4305"/>
                  </a:lnTo>
                  <a:lnTo>
                    <a:pt x="3049397" y="0"/>
                  </a:lnTo>
                  <a:lnTo>
                    <a:pt x="3047060" y="6680"/>
                  </a:lnTo>
                  <a:lnTo>
                    <a:pt x="3056585" y="10820"/>
                  </a:lnTo>
                  <a:lnTo>
                    <a:pt x="3064789" y="16548"/>
                  </a:lnTo>
                  <a:lnTo>
                    <a:pt x="3084474" y="54660"/>
                  </a:lnTo>
                  <a:lnTo>
                    <a:pt x="3086912" y="81508"/>
                  </a:lnTo>
                  <a:lnTo>
                    <a:pt x="3086290" y="96037"/>
                  </a:lnTo>
                  <a:lnTo>
                    <a:pt x="3071609" y="140652"/>
                  </a:lnTo>
                  <a:lnTo>
                    <a:pt x="3047314" y="158000"/>
                  </a:lnTo>
                  <a:lnTo>
                    <a:pt x="3049397" y="164680"/>
                  </a:lnTo>
                  <a:lnTo>
                    <a:pt x="3088386" y="135902"/>
                  </a:lnTo>
                  <a:lnTo>
                    <a:pt x="3101073" y="97510"/>
                  </a:lnTo>
                  <a:lnTo>
                    <a:pt x="3101924" y="82384"/>
                  </a:lnTo>
                  <a:close/>
                </a:path>
              </a:pathLst>
            </a:custGeom>
            <a:solidFill>
              <a:srgbClr val="000000"/>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465135" y="1608137"/>
          <a:ext cx="8272144" cy="4411155"/>
        </p:xfrm>
        <a:graphic>
          <a:graphicData uri="http://schemas.openxmlformats.org/drawingml/2006/table">
            <a:tbl>
              <a:tblPr firstRow="1" bandRow="1">
                <a:tableStyleId>{2D5ABB26-0587-4C30-8999-92F81FD0307C}</a:tableStyleId>
              </a:tblPr>
              <a:tblGrid>
                <a:gridCol w="1065530">
                  <a:extLst>
                    <a:ext uri="{9D8B030D-6E8A-4147-A177-3AD203B41FA5}">
                      <a16:colId xmlns:a16="http://schemas.microsoft.com/office/drawing/2014/main" val="20000"/>
                    </a:ext>
                  </a:extLst>
                </a:gridCol>
                <a:gridCol w="2402205">
                  <a:extLst>
                    <a:ext uri="{9D8B030D-6E8A-4147-A177-3AD203B41FA5}">
                      <a16:colId xmlns:a16="http://schemas.microsoft.com/office/drawing/2014/main" val="20001"/>
                    </a:ext>
                  </a:extLst>
                </a:gridCol>
                <a:gridCol w="2402205">
                  <a:extLst>
                    <a:ext uri="{9D8B030D-6E8A-4147-A177-3AD203B41FA5}">
                      <a16:colId xmlns:a16="http://schemas.microsoft.com/office/drawing/2014/main" val="20002"/>
                    </a:ext>
                  </a:extLst>
                </a:gridCol>
                <a:gridCol w="2402204">
                  <a:extLst>
                    <a:ext uri="{9D8B030D-6E8A-4147-A177-3AD203B41FA5}">
                      <a16:colId xmlns:a16="http://schemas.microsoft.com/office/drawing/2014/main" val="20003"/>
                    </a:ext>
                  </a:extLst>
                </a:gridCol>
              </a:tblGrid>
              <a:tr h="454556">
                <a:tc>
                  <a:txBody>
                    <a:bodyPr/>
                    <a:lstStyle/>
                    <a:p>
                      <a:pPr>
                        <a:lnSpc>
                          <a:spcPct val="100000"/>
                        </a:lnSpc>
                      </a:pPr>
                      <a:endParaRPr sz="140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735"/>
                        </a:spcBef>
                      </a:pPr>
                      <a:r>
                        <a:rPr sz="1600" b="1" spc="-5" dirty="0">
                          <a:solidFill>
                            <a:srgbClr val="FFFFFF"/>
                          </a:solidFill>
                          <a:latin typeface="Palatino Linotype" panose="02040502050505030304"/>
                          <a:cs typeface="Palatino Linotype" panose="02040502050505030304"/>
                        </a:rPr>
                        <a:t>Reaching</a:t>
                      </a:r>
                      <a:r>
                        <a:rPr sz="1600" b="1" spc="-25" dirty="0">
                          <a:solidFill>
                            <a:srgbClr val="FFFFFF"/>
                          </a:solidFill>
                          <a:latin typeface="Palatino Linotype" panose="02040502050505030304"/>
                          <a:cs typeface="Palatino Linotype" panose="02040502050505030304"/>
                        </a:rPr>
                        <a:t> </a:t>
                      </a:r>
                      <a:r>
                        <a:rPr sz="1600" b="1" spc="-5" dirty="0">
                          <a:solidFill>
                            <a:srgbClr val="FFFFFF"/>
                          </a:solidFill>
                          <a:latin typeface="Palatino Linotype" panose="02040502050505030304"/>
                          <a:cs typeface="Palatino Linotype" panose="02040502050505030304"/>
                        </a:rPr>
                        <a:t>Definitions</a:t>
                      </a:r>
                      <a:endParaRPr sz="1600">
                        <a:latin typeface="Palatino Linotype" panose="02040502050505030304"/>
                        <a:cs typeface="Palatino Linotype" panose="02040502050505030304"/>
                      </a:endParaRPr>
                    </a:p>
                  </a:txBody>
                  <a:tcPr marL="0" marR="0" marT="9334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735"/>
                        </a:spcBef>
                      </a:pPr>
                      <a:r>
                        <a:rPr sz="1600" b="1" dirty="0">
                          <a:solidFill>
                            <a:srgbClr val="FFFFFF"/>
                          </a:solidFill>
                          <a:latin typeface="Palatino Linotype" panose="02040502050505030304"/>
                          <a:cs typeface="Palatino Linotype" panose="02040502050505030304"/>
                        </a:rPr>
                        <a:t>Live</a:t>
                      </a:r>
                      <a:r>
                        <a:rPr sz="1600" b="1" spc="-45" dirty="0">
                          <a:solidFill>
                            <a:srgbClr val="FFFFFF"/>
                          </a:solidFill>
                          <a:latin typeface="Palatino Linotype" panose="02040502050505030304"/>
                          <a:cs typeface="Palatino Linotype" panose="02040502050505030304"/>
                        </a:rPr>
                        <a:t> </a:t>
                      </a:r>
                      <a:r>
                        <a:rPr sz="1600" b="1" spc="-20" dirty="0">
                          <a:solidFill>
                            <a:srgbClr val="FFFFFF"/>
                          </a:solidFill>
                          <a:latin typeface="Palatino Linotype" panose="02040502050505030304"/>
                          <a:cs typeface="Palatino Linotype" panose="02040502050505030304"/>
                        </a:rPr>
                        <a:t>Variables</a:t>
                      </a:r>
                      <a:endParaRPr sz="1600">
                        <a:latin typeface="Palatino Linotype" panose="02040502050505030304"/>
                        <a:cs typeface="Palatino Linotype" panose="02040502050505030304"/>
                      </a:endParaRPr>
                    </a:p>
                  </a:txBody>
                  <a:tcPr marL="0" marR="0" marT="9334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tc>
                  <a:txBody>
                    <a:bodyPr/>
                    <a:lstStyle/>
                    <a:p>
                      <a:pPr algn="ctr">
                        <a:lnSpc>
                          <a:spcPct val="100000"/>
                        </a:lnSpc>
                        <a:spcBef>
                          <a:spcPts val="735"/>
                        </a:spcBef>
                      </a:pPr>
                      <a:r>
                        <a:rPr sz="1600" b="1" spc="-15" dirty="0">
                          <a:solidFill>
                            <a:srgbClr val="FFFFFF"/>
                          </a:solidFill>
                          <a:latin typeface="Palatino Linotype" panose="02040502050505030304"/>
                          <a:cs typeface="Palatino Linotype" panose="02040502050505030304"/>
                        </a:rPr>
                        <a:t>Available</a:t>
                      </a:r>
                      <a:r>
                        <a:rPr sz="1600" b="1" spc="-20" dirty="0">
                          <a:solidFill>
                            <a:srgbClr val="FFFFFF"/>
                          </a:solidFill>
                          <a:latin typeface="Palatino Linotype" panose="02040502050505030304"/>
                          <a:cs typeface="Palatino Linotype" panose="02040502050505030304"/>
                        </a:rPr>
                        <a:t> </a:t>
                      </a:r>
                      <a:r>
                        <a:rPr sz="1600" b="1" spc="-5" dirty="0">
                          <a:solidFill>
                            <a:srgbClr val="FFFFFF"/>
                          </a:solidFill>
                          <a:latin typeface="Palatino Linotype" panose="02040502050505030304"/>
                          <a:cs typeface="Palatino Linotype" panose="02040502050505030304"/>
                        </a:rPr>
                        <a:t>Expressions</a:t>
                      </a:r>
                      <a:endParaRPr sz="1600">
                        <a:latin typeface="Palatino Linotype" panose="02040502050505030304"/>
                        <a:cs typeface="Palatino Linotype" panose="02040502050505030304"/>
                      </a:endParaRPr>
                    </a:p>
                  </a:txBody>
                  <a:tcPr marL="0" marR="0" marT="93345"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4472C4"/>
                    </a:solidFill>
                  </a:tcPr>
                </a:tc>
                <a:extLst>
                  <a:ext uri="{0D108BD9-81ED-4DB2-BD59-A6C34878D82A}">
                    <a16:rowId xmlns:a16="http://schemas.microsoft.com/office/drawing/2014/main" val="10000"/>
                  </a:ext>
                </a:extLst>
              </a:tr>
              <a:tr h="388407">
                <a:tc>
                  <a:txBody>
                    <a:bodyPr/>
                    <a:lstStyle/>
                    <a:p>
                      <a:pPr marL="635" algn="ctr">
                        <a:lnSpc>
                          <a:spcPct val="100000"/>
                        </a:lnSpc>
                        <a:spcBef>
                          <a:spcPts val="595"/>
                        </a:spcBef>
                      </a:pPr>
                      <a:r>
                        <a:rPr sz="1400" b="1" spc="-5" dirty="0">
                          <a:latin typeface="Palatino Linotype" panose="02040502050505030304"/>
                          <a:cs typeface="Palatino Linotype" panose="02040502050505030304"/>
                        </a:rPr>
                        <a:t>Domain</a:t>
                      </a:r>
                      <a:endParaRPr sz="1400">
                        <a:latin typeface="Palatino Linotype" panose="02040502050505030304"/>
                        <a:cs typeface="Palatino Linotype" panose="02040502050505030304"/>
                      </a:endParaRPr>
                    </a:p>
                  </a:txBody>
                  <a:tcPr marL="0" marR="0" marT="75565"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595"/>
                        </a:spcBef>
                      </a:pPr>
                      <a:r>
                        <a:rPr sz="1400" dirty="0">
                          <a:latin typeface="Palatino Linotype" panose="02040502050505030304"/>
                          <a:cs typeface="Palatino Linotype" panose="02040502050505030304"/>
                        </a:rPr>
                        <a:t>Sets</a:t>
                      </a:r>
                      <a:r>
                        <a:rPr sz="1400" spc="-2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of</a:t>
                      </a:r>
                      <a:r>
                        <a:rPr sz="1400" spc="-2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definitions</a:t>
                      </a:r>
                      <a:endParaRPr sz="1400">
                        <a:latin typeface="Palatino Linotype" panose="02040502050505030304"/>
                        <a:cs typeface="Palatino Linotype" panose="02040502050505030304"/>
                      </a:endParaRPr>
                    </a:p>
                  </a:txBody>
                  <a:tcPr marL="0" marR="0" marT="75565"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595"/>
                        </a:spcBef>
                      </a:pPr>
                      <a:r>
                        <a:rPr sz="1400" dirty="0">
                          <a:latin typeface="Palatino Linotype" panose="02040502050505030304"/>
                          <a:cs typeface="Palatino Linotype" panose="02040502050505030304"/>
                        </a:rPr>
                        <a:t>Sets</a:t>
                      </a:r>
                      <a:r>
                        <a:rPr sz="1400" spc="-4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of</a:t>
                      </a:r>
                      <a:r>
                        <a:rPr sz="1400" spc="-3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variables</a:t>
                      </a:r>
                      <a:endParaRPr sz="1400">
                        <a:latin typeface="Palatino Linotype" panose="02040502050505030304"/>
                        <a:cs typeface="Palatino Linotype" panose="02040502050505030304"/>
                      </a:endParaRPr>
                    </a:p>
                  </a:txBody>
                  <a:tcPr marL="0" marR="0" marT="75565"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tc>
                  <a:txBody>
                    <a:bodyPr/>
                    <a:lstStyle/>
                    <a:p>
                      <a:pPr marL="635" algn="ctr">
                        <a:lnSpc>
                          <a:spcPct val="100000"/>
                        </a:lnSpc>
                        <a:spcBef>
                          <a:spcPts val="595"/>
                        </a:spcBef>
                      </a:pPr>
                      <a:r>
                        <a:rPr sz="1400" dirty="0">
                          <a:latin typeface="Palatino Linotype" panose="02040502050505030304"/>
                          <a:cs typeface="Palatino Linotype" panose="02040502050505030304"/>
                        </a:rPr>
                        <a:t>Sets</a:t>
                      </a:r>
                      <a:r>
                        <a:rPr sz="1400" spc="-3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of</a:t>
                      </a:r>
                      <a:r>
                        <a:rPr sz="1400" spc="-2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expressions</a:t>
                      </a:r>
                      <a:endParaRPr sz="1400">
                        <a:latin typeface="Palatino Linotype" panose="02040502050505030304"/>
                        <a:cs typeface="Palatino Linotype" panose="02040502050505030304"/>
                      </a:endParaRPr>
                    </a:p>
                  </a:txBody>
                  <a:tcPr marL="0" marR="0" marT="75565"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1"/>
                  </a:ext>
                </a:extLst>
              </a:tr>
              <a:tr h="338138">
                <a:tc>
                  <a:txBody>
                    <a:bodyPr/>
                    <a:lstStyle/>
                    <a:p>
                      <a:pPr marL="635" algn="ctr">
                        <a:lnSpc>
                          <a:spcPct val="100000"/>
                        </a:lnSpc>
                        <a:spcBef>
                          <a:spcPts val="390"/>
                        </a:spcBef>
                      </a:pPr>
                      <a:r>
                        <a:rPr sz="1400" b="1" spc="-5" dirty="0">
                          <a:latin typeface="Palatino Linotype" panose="02040502050505030304"/>
                          <a:cs typeface="Palatino Linotype" panose="02040502050505030304"/>
                        </a:rPr>
                        <a:t>Direction</a:t>
                      </a:r>
                      <a:endParaRPr sz="1400">
                        <a:latin typeface="Palatino Linotype" panose="02040502050505030304"/>
                        <a:cs typeface="Palatino Linotype" panose="020405020505050303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390"/>
                        </a:spcBef>
                      </a:pPr>
                      <a:r>
                        <a:rPr sz="1400" spc="-10" dirty="0">
                          <a:latin typeface="Palatino Linotype" panose="02040502050505030304"/>
                          <a:cs typeface="Palatino Linotype" panose="02040502050505030304"/>
                        </a:rPr>
                        <a:t>Forwards</a:t>
                      </a:r>
                      <a:endParaRPr sz="1400">
                        <a:latin typeface="Palatino Linotype" panose="02040502050505030304"/>
                        <a:cs typeface="Palatino Linotype" panose="020405020505050303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390"/>
                        </a:spcBef>
                      </a:pPr>
                      <a:r>
                        <a:rPr sz="1400" spc="-10" dirty="0">
                          <a:latin typeface="Palatino Linotype" panose="02040502050505030304"/>
                          <a:cs typeface="Palatino Linotype" panose="02040502050505030304"/>
                        </a:rPr>
                        <a:t>Backwards</a:t>
                      </a:r>
                      <a:endParaRPr sz="1400">
                        <a:latin typeface="Palatino Linotype" panose="02040502050505030304"/>
                        <a:cs typeface="Palatino Linotype" panose="020405020505050303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635" algn="ctr">
                        <a:lnSpc>
                          <a:spcPct val="100000"/>
                        </a:lnSpc>
                        <a:spcBef>
                          <a:spcPts val="390"/>
                        </a:spcBef>
                      </a:pPr>
                      <a:r>
                        <a:rPr sz="1400" spc="-10" dirty="0">
                          <a:latin typeface="Palatino Linotype" panose="02040502050505030304"/>
                          <a:cs typeface="Palatino Linotype" panose="02040502050505030304"/>
                        </a:rPr>
                        <a:t>Forwards</a:t>
                      </a:r>
                      <a:endParaRPr sz="1400">
                        <a:latin typeface="Palatino Linotype" panose="02040502050505030304"/>
                        <a:cs typeface="Palatino Linotype" panose="020405020505050303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2"/>
                  </a:ext>
                </a:extLst>
              </a:tr>
              <a:tr h="518160">
                <a:tc>
                  <a:txBody>
                    <a:bodyPr/>
                    <a:lstStyle/>
                    <a:p>
                      <a:pPr marL="187960" marR="179705" indent="3810">
                        <a:lnSpc>
                          <a:spcPct val="101000"/>
                        </a:lnSpc>
                        <a:spcBef>
                          <a:spcPts val="225"/>
                        </a:spcBef>
                      </a:pPr>
                      <a:r>
                        <a:rPr sz="1400" b="1" spc="-105" dirty="0">
                          <a:latin typeface="Palatino Linotype" panose="02040502050505030304"/>
                          <a:cs typeface="Palatino Linotype" panose="02040502050505030304"/>
                        </a:rPr>
                        <a:t>T</a:t>
                      </a:r>
                      <a:r>
                        <a:rPr sz="1400" b="1" spc="5" dirty="0">
                          <a:latin typeface="Palatino Linotype" panose="02040502050505030304"/>
                          <a:cs typeface="Palatino Linotype" panose="02040502050505030304"/>
                        </a:rPr>
                        <a:t>r</a:t>
                      </a:r>
                      <a:r>
                        <a:rPr sz="1400" b="1" dirty="0">
                          <a:latin typeface="Palatino Linotype" panose="02040502050505030304"/>
                          <a:cs typeface="Palatino Linotype" panose="02040502050505030304"/>
                        </a:rPr>
                        <a:t>a</a:t>
                      </a:r>
                      <a:r>
                        <a:rPr sz="1400" b="1" spc="-10" dirty="0">
                          <a:latin typeface="Palatino Linotype" panose="02040502050505030304"/>
                          <a:cs typeface="Palatino Linotype" panose="02040502050505030304"/>
                        </a:rPr>
                        <a:t>n</a:t>
                      </a:r>
                      <a:r>
                        <a:rPr sz="1400" b="1" dirty="0">
                          <a:latin typeface="Palatino Linotype" panose="02040502050505030304"/>
                          <a:cs typeface="Palatino Linotype" panose="02040502050505030304"/>
                        </a:rPr>
                        <a:t>s</a:t>
                      </a:r>
                      <a:r>
                        <a:rPr sz="1400" b="1" spc="5" dirty="0">
                          <a:latin typeface="Palatino Linotype" panose="02040502050505030304"/>
                          <a:cs typeface="Palatino Linotype" panose="02040502050505030304"/>
                        </a:rPr>
                        <a:t>f</a:t>
                      </a:r>
                      <a:r>
                        <a:rPr sz="1400" b="1" dirty="0">
                          <a:latin typeface="Palatino Linotype" panose="02040502050505030304"/>
                          <a:cs typeface="Palatino Linotype" panose="02040502050505030304"/>
                        </a:rPr>
                        <a:t>er  </a:t>
                      </a:r>
                      <a:r>
                        <a:rPr sz="1400" b="1" spc="5" dirty="0">
                          <a:latin typeface="Palatino Linotype" panose="02040502050505030304"/>
                          <a:cs typeface="Palatino Linotype" panose="02040502050505030304"/>
                        </a:rPr>
                        <a:t>f</a:t>
                      </a:r>
                      <a:r>
                        <a:rPr sz="1400" b="1" spc="-10" dirty="0">
                          <a:latin typeface="Palatino Linotype" panose="02040502050505030304"/>
                          <a:cs typeface="Palatino Linotype" panose="02040502050505030304"/>
                        </a:rPr>
                        <a:t>un</a:t>
                      </a:r>
                      <a:r>
                        <a:rPr sz="1400" b="1" dirty="0">
                          <a:latin typeface="Palatino Linotype" panose="02040502050505030304"/>
                          <a:cs typeface="Palatino Linotype" panose="02040502050505030304"/>
                        </a:rPr>
                        <a:t>c</a:t>
                      </a:r>
                      <a:r>
                        <a:rPr sz="1400" b="1" spc="-5" dirty="0">
                          <a:latin typeface="Palatino Linotype" panose="02040502050505030304"/>
                          <a:cs typeface="Palatino Linotype" panose="02040502050505030304"/>
                        </a:rPr>
                        <a:t>tio</a:t>
                      </a:r>
                      <a:r>
                        <a:rPr sz="1400" b="1" dirty="0">
                          <a:latin typeface="Palatino Linotype" panose="02040502050505030304"/>
                          <a:cs typeface="Palatino Linotype" panose="02040502050505030304"/>
                        </a:rPr>
                        <a:t>n</a:t>
                      </a:r>
                      <a:endParaRPr sz="1400">
                        <a:latin typeface="Palatino Linotype" panose="02040502050505030304"/>
                        <a:cs typeface="Palatino Linotype" panose="02040502050505030304"/>
                      </a:endParaRPr>
                    </a:p>
                  </a:txBody>
                  <a:tcPr marL="0" marR="0" marT="2857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5560" algn="ctr">
                        <a:lnSpc>
                          <a:spcPct val="100000"/>
                        </a:lnSpc>
                        <a:spcBef>
                          <a:spcPts val="1090"/>
                        </a:spcBef>
                      </a:pPr>
                      <a:r>
                        <a:rPr sz="1400" spc="5" dirty="0">
                          <a:latin typeface="Cambria Math" panose="02040503050406030204"/>
                          <a:cs typeface="Cambria Math" panose="02040503050406030204"/>
                        </a:rPr>
                        <a:t>𝑔𝑒𝑛</a:t>
                      </a:r>
                      <a:r>
                        <a:rPr sz="1500" spc="7" baseline="-17000" dirty="0">
                          <a:latin typeface="Cambria Math" panose="02040503050406030204"/>
                          <a:cs typeface="Cambria Math" panose="02040503050406030204"/>
                        </a:rPr>
                        <a:t>𝐵</a:t>
                      </a:r>
                      <a:r>
                        <a:rPr sz="1500" spc="254" baseline="-17000" dirty="0">
                          <a:latin typeface="Cambria Math" panose="02040503050406030204"/>
                          <a:cs typeface="Cambria Math" panose="02040503050406030204"/>
                        </a:rPr>
                        <a:t> </a:t>
                      </a:r>
                      <a:r>
                        <a:rPr sz="1400" spc="60" dirty="0">
                          <a:latin typeface="Cambria Math" panose="02040503050406030204"/>
                          <a:cs typeface="Cambria Math" panose="02040503050406030204"/>
                        </a:rPr>
                        <a:t>𝖴</a:t>
                      </a:r>
                      <a:r>
                        <a:rPr sz="1400" spc="-15" dirty="0">
                          <a:latin typeface="Cambria Math" panose="02040503050406030204"/>
                          <a:cs typeface="Cambria Math" panose="02040503050406030204"/>
                        </a:rPr>
                        <a:t> </a:t>
                      </a:r>
                      <a:r>
                        <a:rPr sz="1400" spc="-5" dirty="0">
                          <a:latin typeface="Cambria Math" panose="02040503050406030204"/>
                          <a:cs typeface="Cambria Math" panose="02040503050406030204"/>
                        </a:rPr>
                        <a:t>(𝑥</a:t>
                      </a:r>
                      <a:r>
                        <a:rPr sz="1400" spc="35"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5" dirty="0">
                          <a:latin typeface="Cambria Math" panose="02040503050406030204"/>
                          <a:cs typeface="Cambria Math" panose="02040503050406030204"/>
                        </a:rPr>
                        <a:t> </a:t>
                      </a:r>
                      <a:r>
                        <a:rPr sz="1400" spc="10" dirty="0">
                          <a:latin typeface="Cambria Math" panose="02040503050406030204"/>
                          <a:cs typeface="Cambria Math" panose="02040503050406030204"/>
                        </a:rPr>
                        <a:t>𝑘𝑖𝑙𝑙</a:t>
                      </a:r>
                      <a:r>
                        <a:rPr sz="1500" spc="15" baseline="-17000" dirty="0">
                          <a:latin typeface="Cambria Math" panose="02040503050406030204"/>
                          <a:cs typeface="Cambria Math" panose="02040503050406030204"/>
                        </a:rPr>
                        <a:t>𝐵</a:t>
                      </a:r>
                      <a:r>
                        <a:rPr sz="1400" spc="1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5560" algn="ctr">
                        <a:lnSpc>
                          <a:spcPct val="100000"/>
                        </a:lnSpc>
                        <a:spcBef>
                          <a:spcPts val="1090"/>
                        </a:spcBef>
                      </a:pPr>
                      <a:r>
                        <a:rPr sz="1400" spc="-5" dirty="0">
                          <a:latin typeface="Cambria Math" panose="02040503050406030204"/>
                          <a:cs typeface="Cambria Math" panose="02040503050406030204"/>
                        </a:rPr>
                        <a:t>𝑢</a:t>
                      </a:r>
                      <a:r>
                        <a:rPr sz="1400" dirty="0">
                          <a:latin typeface="Cambria Math" panose="02040503050406030204"/>
                          <a:cs typeface="Cambria Math" panose="02040503050406030204"/>
                        </a:rPr>
                        <a:t>𝑠</a:t>
                      </a:r>
                      <a:r>
                        <a:rPr sz="1400" spc="-40" dirty="0">
                          <a:latin typeface="Cambria Math" panose="02040503050406030204"/>
                          <a:cs typeface="Cambria Math" panose="02040503050406030204"/>
                        </a:rPr>
                        <a:t>𝑒</a:t>
                      </a:r>
                      <a:r>
                        <a:rPr sz="1500" baseline="-17000" dirty="0">
                          <a:latin typeface="Cambria Math" panose="02040503050406030204"/>
                          <a:cs typeface="Cambria Math" panose="02040503050406030204"/>
                        </a:rPr>
                        <a:t>𝐵 </a:t>
                      </a:r>
                      <a:r>
                        <a:rPr sz="1500" spc="-52" baseline="-17000" dirty="0">
                          <a:latin typeface="Cambria Math" panose="02040503050406030204"/>
                          <a:cs typeface="Cambria Math" panose="02040503050406030204"/>
                        </a:rPr>
                        <a:t> </a:t>
                      </a:r>
                      <a:r>
                        <a:rPr sz="1400" dirty="0">
                          <a:latin typeface="Cambria Math" panose="02040503050406030204"/>
                          <a:cs typeface="Cambria Math" panose="02040503050406030204"/>
                        </a:rPr>
                        <a:t>𝖴</a:t>
                      </a:r>
                      <a:r>
                        <a:rPr sz="1400" spc="-5" dirty="0">
                          <a:latin typeface="Cambria Math" panose="02040503050406030204"/>
                          <a:cs typeface="Cambria Math" panose="02040503050406030204"/>
                        </a:rPr>
                        <a:t> </a:t>
                      </a:r>
                      <a:r>
                        <a:rPr sz="1400" spc="-10" dirty="0">
                          <a:latin typeface="Cambria Math" panose="02040503050406030204"/>
                          <a:cs typeface="Cambria Math" panose="02040503050406030204"/>
                        </a:rPr>
                        <a:t>(</a:t>
                      </a:r>
                      <a:r>
                        <a:rPr sz="1400" dirty="0">
                          <a:latin typeface="Cambria Math" panose="02040503050406030204"/>
                          <a:cs typeface="Cambria Math" panose="02040503050406030204"/>
                        </a:rPr>
                        <a:t>𝑥</a:t>
                      </a:r>
                      <a:r>
                        <a:rPr sz="1400" spc="5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5" dirty="0">
                          <a:latin typeface="Cambria Math" panose="02040503050406030204"/>
                          <a:cs typeface="Cambria Math" panose="02040503050406030204"/>
                        </a:rPr>
                        <a:t> </a:t>
                      </a:r>
                      <a:r>
                        <a:rPr sz="1400" dirty="0">
                          <a:latin typeface="Cambria Math" panose="02040503050406030204"/>
                          <a:cs typeface="Cambria Math" panose="02040503050406030204"/>
                        </a:rPr>
                        <a:t>𝑑</a:t>
                      </a:r>
                      <a:r>
                        <a:rPr sz="1400" spc="5" dirty="0">
                          <a:latin typeface="Cambria Math" panose="02040503050406030204"/>
                          <a:cs typeface="Cambria Math" panose="02040503050406030204"/>
                        </a:rPr>
                        <a:t>𝑒</a:t>
                      </a:r>
                      <a:r>
                        <a:rPr sz="1400" spc="-215" dirty="0">
                          <a:latin typeface="Cambria Math" panose="02040503050406030204"/>
                          <a:cs typeface="Cambria Math" panose="02040503050406030204"/>
                        </a:rPr>
                        <a:t>𝑓</a:t>
                      </a:r>
                      <a:r>
                        <a:rPr sz="1500" baseline="-17000" dirty="0">
                          <a:latin typeface="Cambria Math" panose="02040503050406030204"/>
                          <a:cs typeface="Cambria Math" panose="02040503050406030204"/>
                        </a:rPr>
                        <a:t>𝐵</a:t>
                      </a:r>
                      <a:r>
                        <a:rPr sz="1500" spc="-195" baseline="-17000"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5560" algn="ctr">
                        <a:lnSpc>
                          <a:spcPct val="100000"/>
                        </a:lnSpc>
                        <a:spcBef>
                          <a:spcPts val="1090"/>
                        </a:spcBef>
                      </a:pPr>
                      <a:r>
                        <a:rPr sz="1400" spc="10" dirty="0">
                          <a:latin typeface="Cambria Math" panose="02040503050406030204"/>
                          <a:cs typeface="Cambria Math" panose="02040503050406030204"/>
                        </a:rPr>
                        <a:t>𝑒_𝑔𝑒𝑛</a:t>
                      </a:r>
                      <a:r>
                        <a:rPr sz="1500" spc="15" baseline="-17000" dirty="0">
                          <a:latin typeface="Cambria Math" panose="02040503050406030204"/>
                          <a:cs typeface="Cambria Math" panose="02040503050406030204"/>
                        </a:rPr>
                        <a:t>𝐵</a:t>
                      </a:r>
                      <a:r>
                        <a:rPr sz="1500" spc="247" baseline="-17000" dirty="0">
                          <a:latin typeface="Cambria Math" panose="02040503050406030204"/>
                          <a:cs typeface="Cambria Math" panose="02040503050406030204"/>
                        </a:rPr>
                        <a:t> </a:t>
                      </a:r>
                      <a:r>
                        <a:rPr sz="1400" spc="60" dirty="0">
                          <a:latin typeface="Cambria Math" panose="02040503050406030204"/>
                          <a:cs typeface="Cambria Math" panose="02040503050406030204"/>
                        </a:rPr>
                        <a:t>𝖴</a:t>
                      </a:r>
                      <a:r>
                        <a:rPr sz="1400" spc="-20" dirty="0">
                          <a:latin typeface="Cambria Math" panose="02040503050406030204"/>
                          <a:cs typeface="Cambria Math" panose="02040503050406030204"/>
                        </a:rPr>
                        <a:t> </a:t>
                      </a:r>
                      <a:r>
                        <a:rPr sz="1400" spc="-5" dirty="0">
                          <a:latin typeface="Cambria Math" panose="02040503050406030204"/>
                          <a:cs typeface="Cambria Math" panose="02040503050406030204"/>
                        </a:rPr>
                        <a:t>(𝑥</a:t>
                      </a:r>
                      <a:r>
                        <a:rPr sz="1400" spc="35"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10" dirty="0">
                          <a:latin typeface="Cambria Math" panose="02040503050406030204"/>
                          <a:cs typeface="Cambria Math" panose="02040503050406030204"/>
                        </a:rPr>
                        <a:t> </a:t>
                      </a:r>
                      <a:r>
                        <a:rPr sz="1400" spc="15" dirty="0">
                          <a:latin typeface="Cambria Math" panose="02040503050406030204"/>
                          <a:cs typeface="Cambria Math" panose="02040503050406030204"/>
                        </a:rPr>
                        <a:t>𝑒_𝑘𝑖𝑙𝑙</a:t>
                      </a:r>
                      <a:r>
                        <a:rPr sz="1500" spc="22" baseline="-17000" dirty="0">
                          <a:latin typeface="Cambria Math" panose="02040503050406030204"/>
                          <a:cs typeface="Cambria Math" panose="02040503050406030204"/>
                        </a:rPr>
                        <a:t>𝐵</a:t>
                      </a:r>
                      <a:r>
                        <a:rPr sz="1400" spc="15"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3"/>
                  </a:ext>
                </a:extLst>
              </a:tr>
              <a:tr h="454556">
                <a:tc>
                  <a:txBody>
                    <a:bodyPr/>
                    <a:lstStyle/>
                    <a:p>
                      <a:pPr algn="ctr">
                        <a:lnSpc>
                          <a:spcPct val="100000"/>
                        </a:lnSpc>
                        <a:spcBef>
                          <a:spcPts val="850"/>
                        </a:spcBef>
                      </a:pPr>
                      <a:r>
                        <a:rPr sz="1400" b="1" spc="-5" dirty="0">
                          <a:latin typeface="Palatino Linotype" panose="02040502050505030304"/>
                          <a:cs typeface="Palatino Linotype" panose="02040502050505030304"/>
                        </a:rPr>
                        <a:t>Boundary</a:t>
                      </a:r>
                      <a:endParaRPr sz="1400">
                        <a:latin typeface="Palatino Linotype" panose="02040502050505030304"/>
                        <a:cs typeface="Palatino Linotype" panose="02040502050505030304"/>
                      </a:endParaRPr>
                    </a:p>
                  </a:txBody>
                  <a:tcPr marL="0" marR="0" marT="1079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R="36195" algn="ctr">
                        <a:lnSpc>
                          <a:spcPct val="100000"/>
                        </a:lnSpc>
                        <a:spcBef>
                          <a:spcPts val="850"/>
                        </a:spcBef>
                      </a:pPr>
                      <a:r>
                        <a:rPr sz="1400" spc="-5" dirty="0">
                          <a:latin typeface="Cambria Math" panose="02040503050406030204"/>
                          <a:cs typeface="Cambria Math" panose="02040503050406030204"/>
                        </a:rPr>
                        <a:t>OUT</a:t>
                      </a:r>
                      <a:r>
                        <a:rPr sz="1400" spc="155" dirty="0">
                          <a:latin typeface="Cambria Math" panose="02040503050406030204"/>
                          <a:cs typeface="Cambria Math" panose="02040503050406030204"/>
                        </a:rPr>
                        <a:t> </a:t>
                      </a:r>
                      <a:r>
                        <a:rPr sz="1400" spc="-20" dirty="0">
                          <a:latin typeface="Cambria Math" panose="02040503050406030204"/>
                          <a:cs typeface="Cambria Math" panose="02040503050406030204"/>
                        </a:rPr>
                        <a:t>ENTRY</a:t>
                      </a:r>
                      <a:r>
                        <a:rPr sz="1400" spc="254"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079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R="36195" algn="ctr">
                        <a:lnSpc>
                          <a:spcPct val="100000"/>
                        </a:lnSpc>
                        <a:spcBef>
                          <a:spcPts val="850"/>
                        </a:spcBef>
                      </a:pPr>
                      <a:r>
                        <a:rPr sz="1400" spc="-5" dirty="0">
                          <a:latin typeface="Cambria Math" panose="02040503050406030204"/>
                          <a:cs typeface="Cambria Math" panose="02040503050406030204"/>
                        </a:rPr>
                        <a:t>IN</a:t>
                      </a:r>
                      <a:r>
                        <a:rPr sz="1400" spc="155" dirty="0">
                          <a:latin typeface="Cambria Math" panose="02040503050406030204"/>
                          <a:cs typeface="Cambria Math" panose="02040503050406030204"/>
                        </a:rPr>
                        <a:t> </a:t>
                      </a:r>
                      <a:r>
                        <a:rPr sz="1400" spc="-5" dirty="0">
                          <a:latin typeface="Cambria Math" panose="02040503050406030204"/>
                          <a:cs typeface="Cambria Math" panose="02040503050406030204"/>
                        </a:rPr>
                        <a:t>EXIT</a:t>
                      </a:r>
                      <a:r>
                        <a:rPr sz="1400" spc="229"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079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R="36195" algn="ctr">
                        <a:lnSpc>
                          <a:spcPct val="100000"/>
                        </a:lnSpc>
                        <a:spcBef>
                          <a:spcPts val="850"/>
                        </a:spcBef>
                      </a:pPr>
                      <a:r>
                        <a:rPr sz="1400" spc="-5" dirty="0">
                          <a:latin typeface="Cambria Math" panose="02040503050406030204"/>
                          <a:cs typeface="Cambria Math" panose="02040503050406030204"/>
                        </a:rPr>
                        <a:t>OUT</a:t>
                      </a:r>
                      <a:r>
                        <a:rPr sz="1400" spc="155" dirty="0">
                          <a:latin typeface="Cambria Math" panose="02040503050406030204"/>
                          <a:cs typeface="Cambria Math" panose="02040503050406030204"/>
                        </a:rPr>
                        <a:t> </a:t>
                      </a:r>
                      <a:r>
                        <a:rPr sz="1400" spc="-20" dirty="0">
                          <a:latin typeface="Cambria Math" panose="02040503050406030204"/>
                          <a:cs typeface="Cambria Math" panose="02040503050406030204"/>
                        </a:rPr>
                        <a:t>ENTRY</a:t>
                      </a:r>
                      <a:r>
                        <a:rPr sz="1400" spc="254"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1079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4"/>
                  </a:ext>
                </a:extLst>
              </a:tr>
              <a:tr h="336971">
                <a:tc>
                  <a:txBody>
                    <a:bodyPr/>
                    <a:lstStyle/>
                    <a:p>
                      <a:pPr algn="ctr">
                        <a:lnSpc>
                          <a:spcPct val="100000"/>
                        </a:lnSpc>
                        <a:spcBef>
                          <a:spcPts val="390"/>
                        </a:spcBef>
                      </a:pPr>
                      <a:r>
                        <a:rPr sz="1400" b="1" dirty="0">
                          <a:latin typeface="Palatino Linotype" panose="02040502050505030304"/>
                          <a:cs typeface="Palatino Linotype" panose="02040502050505030304"/>
                        </a:rPr>
                        <a:t>Meet</a:t>
                      </a:r>
                      <a:r>
                        <a:rPr sz="1400" b="1" spc="-50" dirty="0">
                          <a:latin typeface="Palatino Linotype" panose="02040502050505030304"/>
                          <a:cs typeface="Palatino Linotype" panose="02040502050505030304"/>
                        </a:rPr>
                        <a:t> </a:t>
                      </a:r>
                      <a:r>
                        <a:rPr sz="1400" b="1" spc="5" dirty="0">
                          <a:latin typeface="Palatino Linotype" panose="02040502050505030304"/>
                          <a:cs typeface="Palatino Linotype" panose="02040502050505030304"/>
                        </a:rPr>
                        <a:t>(</a:t>
                      </a:r>
                      <a:r>
                        <a:rPr sz="1400" spc="5" dirty="0">
                          <a:latin typeface="Cambria Math" panose="02040503050406030204"/>
                          <a:cs typeface="Cambria Math" panose="02040503050406030204"/>
                        </a:rPr>
                        <a:t>𝖠</a:t>
                      </a:r>
                      <a:r>
                        <a:rPr sz="1400" b="1" spc="5" dirty="0">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6195" algn="ctr">
                        <a:lnSpc>
                          <a:spcPct val="100000"/>
                        </a:lnSpc>
                        <a:spcBef>
                          <a:spcPts val="390"/>
                        </a:spcBef>
                      </a:pPr>
                      <a:r>
                        <a:rPr sz="1400" spc="60" dirty="0">
                          <a:latin typeface="Cambria Math" panose="02040503050406030204"/>
                          <a:cs typeface="Cambria Math" panose="02040503050406030204"/>
                        </a:rPr>
                        <a:t>𝖴</a:t>
                      </a:r>
                      <a:endParaRPr sz="1400">
                        <a:latin typeface="Cambria Math" panose="02040503050406030204"/>
                        <a:cs typeface="Cambria Math" panose="020405030504060302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6195" algn="ctr">
                        <a:lnSpc>
                          <a:spcPct val="100000"/>
                        </a:lnSpc>
                        <a:spcBef>
                          <a:spcPts val="390"/>
                        </a:spcBef>
                      </a:pPr>
                      <a:r>
                        <a:rPr sz="1400" spc="60" dirty="0">
                          <a:latin typeface="Cambria Math" panose="02040503050406030204"/>
                          <a:cs typeface="Cambria Math" panose="02040503050406030204"/>
                        </a:rPr>
                        <a:t>𝖴</a:t>
                      </a:r>
                      <a:endParaRPr sz="1400">
                        <a:latin typeface="Cambria Math" panose="02040503050406030204"/>
                        <a:cs typeface="Cambria Math" panose="020405030504060302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6195" algn="ctr">
                        <a:lnSpc>
                          <a:spcPct val="100000"/>
                        </a:lnSpc>
                        <a:spcBef>
                          <a:spcPts val="390"/>
                        </a:spcBef>
                      </a:pP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495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5"/>
                  </a:ext>
                </a:extLst>
              </a:tr>
              <a:tr h="1027430">
                <a:tc>
                  <a:txBody>
                    <a:bodyPr/>
                    <a:lstStyle/>
                    <a:p>
                      <a:pPr>
                        <a:lnSpc>
                          <a:spcPct val="100000"/>
                        </a:lnSpc>
                        <a:spcBef>
                          <a:spcPts val="10"/>
                        </a:spcBef>
                      </a:pPr>
                      <a:endParaRPr sz="2700">
                        <a:latin typeface="Times New Roman" panose="02020603050405020304"/>
                        <a:cs typeface="Times New Roman" panose="02020603050405020304"/>
                      </a:endParaRPr>
                    </a:p>
                    <a:p>
                      <a:pPr algn="ctr">
                        <a:lnSpc>
                          <a:spcPct val="100000"/>
                        </a:lnSpc>
                      </a:pPr>
                      <a:r>
                        <a:rPr sz="1400" b="1" spc="-5" dirty="0">
                          <a:latin typeface="Palatino Linotype" panose="02040502050505030304"/>
                          <a:cs typeface="Palatino Linotype" panose="02040502050505030304"/>
                        </a:rPr>
                        <a:t>Equations</a:t>
                      </a:r>
                      <a:endParaRPr sz="1400">
                        <a:latin typeface="Palatino Linotype" panose="02040502050505030304"/>
                        <a:cs typeface="Palatino Linotype" panose="02040502050505030304"/>
                      </a:endParaRPr>
                    </a:p>
                  </a:txBody>
                  <a:tcPr marL="0" marR="0" marT="127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400685">
                        <a:lnSpc>
                          <a:spcPct val="100000"/>
                        </a:lnSpc>
                        <a:spcBef>
                          <a:spcPts val="255"/>
                        </a:spcBef>
                      </a:pPr>
                      <a:r>
                        <a:rPr sz="1400" spc="-5" dirty="0">
                          <a:latin typeface="Cambria Math" panose="02040503050406030204"/>
                          <a:cs typeface="Cambria Math" panose="02040503050406030204"/>
                        </a:rPr>
                        <a:t>OUT</a:t>
                      </a:r>
                      <a:r>
                        <a:rPr sz="1400" spc="16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59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70" dirty="0">
                          <a:latin typeface="Cambria Math" panose="02040503050406030204"/>
                          <a:cs typeface="Cambria Math" panose="02040503050406030204"/>
                        </a:rPr>
                        <a:t> </a:t>
                      </a:r>
                      <a:r>
                        <a:rPr sz="1400" spc="-100" dirty="0">
                          <a:latin typeface="Cambria Math" panose="02040503050406030204"/>
                          <a:cs typeface="Cambria Math" panose="02040503050406030204"/>
                        </a:rPr>
                        <a:t>𝑓</a:t>
                      </a:r>
                      <a:r>
                        <a:rPr sz="1500" spc="-150" baseline="-17000" dirty="0">
                          <a:latin typeface="Cambria Math" panose="02040503050406030204"/>
                          <a:cs typeface="Cambria Math" panose="02040503050406030204"/>
                        </a:rPr>
                        <a:t>𝐵</a:t>
                      </a:r>
                      <a:r>
                        <a:rPr sz="1500" spc="127" baseline="-17000" dirty="0">
                          <a:latin typeface="Cambria Math" panose="02040503050406030204"/>
                          <a:cs typeface="Cambria Math" panose="02040503050406030204"/>
                        </a:rPr>
                        <a:t> </a:t>
                      </a:r>
                      <a:r>
                        <a:rPr lang="en-US" sz="1500" spc="127" baseline="-17000" dirty="0">
                          <a:latin typeface="Cambria Math" panose="02040503050406030204"/>
                          <a:cs typeface="Cambria Math" panose="02040503050406030204"/>
                        </a:rPr>
                        <a:t>  </a:t>
                      </a:r>
                      <a:r>
                        <a:rPr sz="1400" spc="-5" dirty="0">
                          <a:latin typeface="Cambria Math" panose="02040503050406030204"/>
                          <a:cs typeface="Cambria Math" panose="02040503050406030204"/>
                        </a:rPr>
                        <a:t>IN</a:t>
                      </a:r>
                      <a:r>
                        <a:rPr lang="en-US" sz="1400" spc="170" dirty="0">
                          <a:latin typeface="Cambria Math" panose="02040503050406030204"/>
                          <a:cs typeface="Cambria Math" panose="02040503050406030204"/>
                        </a:rPr>
                        <a:t>[</a:t>
                      </a:r>
                      <a:r>
                        <a:rPr sz="1400" dirty="0">
                          <a:latin typeface="Cambria Math" panose="02040503050406030204"/>
                          <a:cs typeface="Cambria Math" panose="02040503050406030204"/>
                        </a:rPr>
                        <a:t>𝐵</a:t>
                      </a:r>
                      <a:r>
                        <a:rPr lang="en-US"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5"/>
                        </a:spcBef>
                      </a:pPr>
                      <a:endParaRPr sz="1550">
                        <a:latin typeface="Times New Roman" panose="02020603050405020304"/>
                        <a:cs typeface="Times New Roman" panose="02020603050405020304"/>
                      </a:endParaRPr>
                    </a:p>
                    <a:p>
                      <a:pPr marL="111760">
                        <a:lnSpc>
                          <a:spcPts val="1615"/>
                        </a:lnSpc>
                        <a:tabLst>
                          <a:tab pos="1670685" algn="l"/>
                        </a:tabLst>
                      </a:pPr>
                      <a:r>
                        <a:rPr sz="1400" spc="-5" dirty="0">
                          <a:latin typeface="Cambria Math" panose="02040503050406030204"/>
                          <a:cs typeface="Cambria Math" panose="02040503050406030204"/>
                        </a:rPr>
                        <a:t>IN</a:t>
                      </a:r>
                      <a:r>
                        <a:rPr sz="1400" spc="18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61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85" dirty="0">
                          <a:latin typeface="Cambria Math" panose="02040503050406030204"/>
                          <a:cs typeface="Cambria Math" panose="02040503050406030204"/>
                        </a:rPr>
                        <a:t> </a:t>
                      </a:r>
                      <a:r>
                        <a:rPr sz="1400" spc="1160" dirty="0">
                          <a:latin typeface="Cambria Math" panose="02040503050406030204"/>
                          <a:cs typeface="Cambria Math" panose="02040503050406030204"/>
                        </a:rPr>
                        <a:t>V	</a:t>
                      </a:r>
                      <a:r>
                        <a:rPr sz="1400" dirty="0">
                          <a:latin typeface="Cambria Math" panose="02040503050406030204"/>
                          <a:cs typeface="Cambria Math" panose="02040503050406030204"/>
                        </a:rPr>
                        <a:t>OUT[𝑃]</a:t>
                      </a:r>
                      <a:endParaRPr sz="1400">
                        <a:latin typeface="Cambria Math" panose="02040503050406030204"/>
                        <a:cs typeface="Cambria Math" panose="02040503050406030204"/>
                      </a:endParaRPr>
                    </a:p>
                    <a:p>
                      <a:pPr marL="1023620">
                        <a:lnSpc>
                          <a:spcPts val="1135"/>
                        </a:lnSpc>
                      </a:pPr>
                      <a:r>
                        <a:rPr sz="1000" spc="30" dirty="0">
                          <a:latin typeface="Cambria Math" panose="02040503050406030204"/>
                          <a:cs typeface="Cambria Math" panose="02040503050406030204"/>
                        </a:rPr>
                        <a:t>𝑃,</a:t>
                      </a:r>
                      <a:r>
                        <a:rPr sz="1000" spc="-30" dirty="0">
                          <a:latin typeface="Cambria Math" panose="02040503050406030204"/>
                          <a:cs typeface="Cambria Math" panose="02040503050406030204"/>
                        </a:rPr>
                        <a:t> </a:t>
                      </a:r>
                      <a:r>
                        <a:rPr sz="1000" spc="50" dirty="0">
                          <a:latin typeface="Cambria Math" panose="02040503050406030204"/>
                          <a:cs typeface="Cambria Math" panose="02040503050406030204"/>
                        </a:rPr>
                        <a:t>𝑝𝑟𝑒𝑑(𝐵)</a:t>
                      </a:r>
                      <a:endParaRPr sz="1000">
                        <a:latin typeface="Cambria Math" panose="02040503050406030204"/>
                        <a:cs typeface="Cambria Math" panose="02040503050406030204"/>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tcPr>
                </a:tc>
                <a:tc>
                  <a:txBody>
                    <a:bodyPr/>
                    <a:lstStyle/>
                    <a:p>
                      <a:pPr marL="400685">
                        <a:lnSpc>
                          <a:spcPct val="100000"/>
                        </a:lnSpc>
                        <a:spcBef>
                          <a:spcPts val="255"/>
                        </a:spcBef>
                      </a:pPr>
                      <a:r>
                        <a:rPr sz="1400" spc="-5" dirty="0">
                          <a:latin typeface="Cambria Math" panose="02040503050406030204"/>
                          <a:cs typeface="Cambria Math" panose="02040503050406030204"/>
                        </a:rPr>
                        <a:t>IN</a:t>
                      </a:r>
                      <a:r>
                        <a:rPr sz="1400" spc="165"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59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70" dirty="0">
                          <a:latin typeface="Cambria Math" panose="02040503050406030204"/>
                          <a:cs typeface="Cambria Math" panose="02040503050406030204"/>
                        </a:rPr>
                        <a:t> </a:t>
                      </a:r>
                      <a:r>
                        <a:rPr sz="1400" spc="-100" dirty="0">
                          <a:latin typeface="Cambria Math" panose="02040503050406030204"/>
                          <a:cs typeface="Cambria Math" panose="02040503050406030204"/>
                        </a:rPr>
                        <a:t>𝑓</a:t>
                      </a:r>
                      <a:r>
                        <a:rPr sz="1500" spc="-150" baseline="-17000" dirty="0">
                          <a:latin typeface="Cambria Math" panose="02040503050406030204"/>
                          <a:cs typeface="Cambria Math" panose="02040503050406030204"/>
                        </a:rPr>
                        <a:t>𝐵</a:t>
                      </a:r>
                      <a:r>
                        <a:rPr sz="1500" spc="127" baseline="-17000" dirty="0">
                          <a:latin typeface="Cambria Math" panose="02040503050406030204"/>
                          <a:cs typeface="Cambria Math" panose="02040503050406030204"/>
                        </a:rPr>
                        <a:t> </a:t>
                      </a:r>
                      <a:r>
                        <a:rPr lang="en-US" sz="1500" spc="127" baseline="-17000" dirty="0">
                          <a:latin typeface="Cambria Math" panose="02040503050406030204"/>
                          <a:cs typeface="Cambria Math" panose="02040503050406030204"/>
                        </a:rPr>
                        <a:t>  </a:t>
                      </a:r>
                      <a:r>
                        <a:rPr sz="1400" spc="-5" dirty="0">
                          <a:latin typeface="Cambria Math" panose="02040503050406030204"/>
                          <a:cs typeface="Cambria Math" panose="02040503050406030204"/>
                        </a:rPr>
                        <a:t>OUT</a:t>
                      </a:r>
                      <a:r>
                        <a:rPr lang="en-US" sz="1400" spc="165" dirty="0">
                          <a:latin typeface="Cambria Math" panose="02040503050406030204"/>
                          <a:cs typeface="Cambria Math" panose="02040503050406030204"/>
                        </a:rPr>
                        <a:t>[</a:t>
                      </a:r>
                      <a:r>
                        <a:rPr sz="1400" dirty="0">
                          <a:latin typeface="Cambria Math" panose="02040503050406030204"/>
                          <a:cs typeface="Cambria Math" panose="02040503050406030204"/>
                        </a:rPr>
                        <a:t>𝐵</a:t>
                      </a:r>
                      <a:r>
                        <a:rPr lang="en-US"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5"/>
                        </a:spcBef>
                      </a:pPr>
                      <a:endParaRPr sz="1550">
                        <a:latin typeface="Times New Roman" panose="02020603050405020304"/>
                        <a:cs typeface="Times New Roman" panose="02020603050405020304"/>
                      </a:endParaRPr>
                    </a:p>
                    <a:p>
                      <a:pPr marL="139065">
                        <a:lnSpc>
                          <a:spcPts val="1615"/>
                        </a:lnSpc>
                        <a:tabLst>
                          <a:tab pos="1819275" algn="l"/>
                        </a:tabLst>
                      </a:pPr>
                      <a:r>
                        <a:rPr sz="1400" spc="-5" dirty="0">
                          <a:latin typeface="Cambria Math" panose="02040503050406030204"/>
                          <a:cs typeface="Cambria Math" panose="02040503050406030204"/>
                        </a:rPr>
                        <a:t>OUT</a:t>
                      </a:r>
                      <a:r>
                        <a:rPr sz="1400" spc="175" dirty="0">
                          <a:latin typeface="Cambria Math" panose="02040503050406030204"/>
                          <a:cs typeface="Cambria Math" panose="02040503050406030204"/>
                        </a:rPr>
                        <a:t> </a:t>
                      </a:r>
                      <a:r>
                        <a:rPr sz="1400" dirty="0">
                          <a:latin typeface="Cambria Math" panose="02040503050406030204"/>
                          <a:cs typeface="Cambria Math" panose="02040503050406030204"/>
                        </a:rPr>
                        <a:t>𝐵   =</a:t>
                      </a:r>
                      <a:r>
                        <a:rPr sz="1400" spc="80" dirty="0">
                          <a:latin typeface="Cambria Math" panose="02040503050406030204"/>
                          <a:cs typeface="Cambria Math" panose="02040503050406030204"/>
                        </a:rPr>
                        <a:t> </a:t>
                      </a:r>
                      <a:r>
                        <a:rPr sz="1400" spc="1160" dirty="0">
                          <a:latin typeface="Cambria Math" panose="02040503050406030204"/>
                          <a:cs typeface="Cambria Math" panose="02040503050406030204"/>
                        </a:rPr>
                        <a:t>V	</a:t>
                      </a:r>
                      <a:r>
                        <a:rPr sz="1400" dirty="0">
                          <a:latin typeface="Cambria Math" panose="02040503050406030204"/>
                          <a:cs typeface="Cambria Math" panose="02040503050406030204"/>
                        </a:rPr>
                        <a:t>IN[𝑆]</a:t>
                      </a:r>
                      <a:endParaRPr sz="1400">
                        <a:latin typeface="Cambria Math" panose="02040503050406030204"/>
                        <a:cs typeface="Cambria Math" panose="02040503050406030204"/>
                      </a:endParaRPr>
                    </a:p>
                    <a:p>
                      <a:pPr marL="1209675">
                        <a:lnSpc>
                          <a:spcPts val="1135"/>
                        </a:lnSpc>
                      </a:pPr>
                      <a:r>
                        <a:rPr sz="1000" spc="20" dirty="0">
                          <a:latin typeface="Cambria Math" panose="02040503050406030204"/>
                          <a:cs typeface="Cambria Math" panose="02040503050406030204"/>
                        </a:rPr>
                        <a:t>𝑆,</a:t>
                      </a:r>
                      <a:r>
                        <a:rPr sz="1000" spc="-20" dirty="0">
                          <a:latin typeface="Cambria Math" panose="02040503050406030204"/>
                          <a:cs typeface="Cambria Math" panose="02040503050406030204"/>
                        </a:rPr>
                        <a:t> </a:t>
                      </a:r>
                      <a:r>
                        <a:rPr sz="1000" spc="40" dirty="0">
                          <a:latin typeface="Cambria Math" panose="02040503050406030204"/>
                          <a:cs typeface="Cambria Math" panose="02040503050406030204"/>
                        </a:rPr>
                        <a:t>𝑠𝑢𝑐𝑐(𝐵)</a:t>
                      </a:r>
                      <a:endParaRPr sz="1000">
                        <a:latin typeface="Cambria Math" panose="02040503050406030204"/>
                        <a:cs typeface="Cambria Math" panose="02040503050406030204"/>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tcPr>
                </a:tc>
                <a:tc>
                  <a:txBody>
                    <a:bodyPr/>
                    <a:lstStyle/>
                    <a:p>
                      <a:pPr marL="400685">
                        <a:lnSpc>
                          <a:spcPct val="100000"/>
                        </a:lnSpc>
                        <a:spcBef>
                          <a:spcPts val="255"/>
                        </a:spcBef>
                      </a:pPr>
                      <a:r>
                        <a:rPr sz="1400" spc="-5" dirty="0">
                          <a:latin typeface="Cambria Math" panose="02040503050406030204"/>
                          <a:cs typeface="Cambria Math" panose="02040503050406030204"/>
                        </a:rPr>
                        <a:t>OUT</a:t>
                      </a:r>
                      <a:r>
                        <a:rPr sz="1400" spc="16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59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70" dirty="0">
                          <a:latin typeface="Cambria Math" panose="02040503050406030204"/>
                          <a:cs typeface="Cambria Math" panose="02040503050406030204"/>
                        </a:rPr>
                        <a:t> </a:t>
                      </a:r>
                      <a:r>
                        <a:rPr sz="1400" spc="-100" dirty="0">
                          <a:latin typeface="Cambria Math" panose="02040503050406030204"/>
                          <a:cs typeface="Cambria Math" panose="02040503050406030204"/>
                        </a:rPr>
                        <a:t>𝑓</a:t>
                      </a:r>
                      <a:r>
                        <a:rPr sz="1500" spc="-150" baseline="-17000" dirty="0">
                          <a:latin typeface="Cambria Math" panose="02040503050406030204"/>
                          <a:cs typeface="Cambria Math" panose="02040503050406030204"/>
                        </a:rPr>
                        <a:t>𝐵</a:t>
                      </a:r>
                      <a:r>
                        <a:rPr sz="1500" spc="127" baseline="-17000" dirty="0">
                          <a:latin typeface="Cambria Math" panose="02040503050406030204"/>
                          <a:cs typeface="Cambria Math" panose="02040503050406030204"/>
                        </a:rPr>
                        <a:t> </a:t>
                      </a:r>
                      <a:r>
                        <a:rPr lang="en-US" sz="1500" spc="127" baseline="-17000" dirty="0">
                          <a:latin typeface="Cambria Math" panose="02040503050406030204"/>
                          <a:cs typeface="Cambria Math" panose="02040503050406030204"/>
                        </a:rPr>
                        <a:t>  </a:t>
                      </a:r>
                      <a:r>
                        <a:rPr sz="1400" spc="-5" dirty="0">
                          <a:latin typeface="Cambria Math" panose="02040503050406030204"/>
                          <a:cs typeface="Cambria Math" panose="02040503050406030204"/>
                        </a:rPr>
                        <a:t>IN</a:t>
                      </a:r>
                      <a:r>
                        <a:rPr lang="en-US" sz="1400" spc="170" dirty="0">
                          <a:latin typeface="Cambria Math" panose="02040503050406030204"/>
                          <a:cs typeface="Cambria Math" panose="02040503050406030204"/>
                        </a:rPr>
                        <a:t>[</a:t>
                      </a:r>
                      <a:r>
                        <a:rPr sz="1400" dirty="0">
                          <a:latin typeface="Cambria Math" panose="02040503050406030204"/>
                          <a:cs typeface="Cambria Math" panose="02040503050406030204"/>
                        </a:rPr>
                        <a:t>𝐵</a:t>
                      </a:r>
                      <a:r>
                        <a:rPr lang="en-US" sz="1400" dirty="0">
                          <a:latin typeface="Cambria Math" panose="02040503050406030204"/>
                          <a:cs typeface="Cambria Math" panose="02040503050406030204"/>
                        </a:rPr>
                        <a:t>]</a:t>
                      </a:r>
                      <a:endParaRPr sz="1400">
                        <a:latin typeface="Cambria Math" panose="02040503050406030204"/>
                        <a:cs typeface="Cambria Math" panose="02040503050406030204"/>
                      </a:endParaRPr>
                    </a:p>
                    <a:p>
                      <a:pPr>
                        <a:lnSpc>
                          <a:spcPct val="100000"/>
                        </a:lnSpc>
                        <a:spcBef>
                          <a:spcPts val="45"/>
                        </a:spcBef>
                      </a:pPr>
                      <a:endParaRPr sz="1550">
                        <a:latin typeface="Times New Roman" panose="02020603050405020304"/>
                        <a:cs typeface="Times New Roman" panose="02020603050405020304"/>
                      </a:endParaRPr>
                    </a:p>
                    <a:p>
                      <a:pPr marL="111760">
                        <a:lnSpc>
                          <a:spcPts val="1615"/>
                        </a:lnSpc>
                        <a:tabLst>
                          <a:tab pos="1670685" algn="l"/>
                        </a:tabLst>
                      </a:pPr>
                      <a:r>
                        <a:rPr sz="1400" spc="-5" dirty="0">
                          <a:latin typeface="Cambria Math" panose="02040503050406030204"/>
                          <a:cs typeface="Cambria Math" panose="02040503050406030204"/>
                        </a:rPr>
                        <a:t>IN</a:t>
                      </a:r>
                      <a:r>
                        <a:rPr sz="1400" spc="18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61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85" dirty="0">
                          <a:latin typeface="Cambria Math" panose="02040503050406030204"/>
                          <a:cs typeface="Cambria Math" panose="02040503050406030204"/>
                        </a:rPr>
                        <a:t> </a:t>
                      </a:r>
                      <a:r>
                        <a:rPr sz="1400" spc="1160" dirty="0">
                          <a:latin typeface="Cambria Math" panose="02040503050406030204"/>
                          <a:cs typeface="Cambria Math" panose="02040503050406030204"/>
                        </a:rPr>
                        <a:t>V	</a:t>
                      </a:r>
                      <a:r>
                        <a:rPr sz="1400" dirty="0">
                          <a:latin typeface="Cambria Math" panose="02040503050406030204"/>
                          <a:cs typeface="Cambria Math" panose="02040503050406030204"/>
                        </a:rPr>
                        <a:t>OUT[𝑃]</a:t>
                      </a:r>
                      <a:endParaRPr sz="1400">
                        <a:latin typeface="Cambria Math" panose="02040503050406030204"/>
                        <a:cs typeface="Cambria Math" panose="02040503050406030204"/>
                      </a:endParaRPr>
                    </a:p>
                    <a:p>
                      <a:pPr marL="1023620">
                        <a:lnSpc>
                          <a:spcPts val="1135"/>
                        </a:lnSpc>
                      </a:pPr>
                      <a:r>
                        <a:rPr sz="1000" spc="30" dirty="0">
                          <a:latin typeface="Cambria Math" panose="02040503050406030204"/>
                          <a:cs typeface="Cambria Math" panose="02040503050406030204"/>
                        </a:rPr>
                        <a:t>𝑃,</a:t>
                      </a:r>
                      <a:r>
                        <a:rPr sz="1000" spc="-30" dirty="0">
                          <a:latin typeface="Cambria Math" panose="02040503050406030204"/>
                          <a:cs typeface="Cambria Math" panose="02040503050406030204"/>
                        </a:rPr>
                        <a:t> </a:t>
                      </a:r>
                      <a:r>
                        <a:rPr sz="1000" spc="50" dirty="0">
                          <a:latin typeface="Cambria Math" panose="02040503050406030204"/>
                          <a:cs typeface="Cambria Math" panose="02040503050406030204"/>
                        </a:rPr>
                        <a:t>𝑝𝑟𝑒𝑑(𝐵)</a:t>
                      </a:r>
                      <a:endParaRPr sz="1000">
                        <a:latin typeface="Cambria Math" panose="02040503050406030204"/>
                        <a:cs typeface="Cambria Math" panose="02040503050406030204"/>
                      </a:endParaRPr>
                    </a:p>
                  </a:txBody>
                  <a:tcPr marL="0" marR="0" marT="32384"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tcPr>
                </a:tc>
                <a:extLst>
                  <a:ext uri="{0D108BD9-81ED-4DB2-BD59-A6C34878D82A}">
                    <a16:rowId xmlns:a16="http://schemas.microsoft.com/office/drawing/2014/main" val="10006"/>
                  </a:ext>
                </a:extLst>
              </a:tr>
              <a:tr h="374777">
                <a:tc>
                  <a:txBody>
                    <a:bodyPr/>
                    <a:lstStyle/>
                    <a:p>
                      <a:pPr algn="ctr">
                        <a:lnSpc>
                          <a:spcPct val="100000"/>
                        </a:lnSpc>
                        <a:spcBef>
                          <a:spcPts val="535"/>
                        </a:spcBef>
                      </a:pPr>
                      <a:r>
                        <a:rPr sz="1400" b="1" spc="-5" dirty="0">
                          <a:latin typeface="Palatino Linotype" panose="02040502050505030304"/>
                          <a:cs typeface="Palatino Linotype" panose="02040502050505030304"/>
                        </a:rPr>
                        <a:t>Intialize</a:t>
                      </a:r>
                      <a:endParaRPr sz="1400">
                        <a:latin typeface="Palatino Linotype" panose="02040502050505030304"/>
                        <a:cs typeface="Palatino Linotype" panose="02040502050505030304"/>
                      </a:endParaRPr>
                    </a:p>
                  </a:txBody>
                  <a:tcPr marL="0" marR="0" marT="6794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6195" algn="ctr">
                        <a:lnSpc>
                          <a:spcPct val="100000"/>
                        </a:lnSpc>
                        <a:spcBef>
                          <a:spcPts val="535"/>
                        </a:spcBef>
                      </a:pPr>
                      <a:r>
                        <a:rPr sz="1400" spc="-5" dirty="0">
                          <a:latin typeface="Cambria Math" panose="02040503050406030204"/>
                          <a:cs typeface="Cambria Math" panose="02040503050406030204"/>
                        </a:rPr>
                        <a:t>OUT</a:t>
                      </a:r>
                      <a:r>
                        <a:rPr sz="1400" spc="15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275"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6794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36195" algn="ctr">
                        <a:lnSpc>
                          <a:spcPct val="100000"/>
                        </a:lnSpc>
                        <a:spcBef>
                          <a:spcPts val="535"/>
                        </a:spcBef>
                      </a:pPr>
                      <a:r>
                        <a:rPr sz="1400" spc="-5" dirty="0">
                          <a:latin typeface="Cambria Math" panose="02040503050406030204"/>
                          <a:cs typeface="Cambria Math" panose="02040503050406030204"/>
                        </a:rPr>
                        <a:t>IN</a:t>
                      </a:r>
                      <a:r>
                        <a:rPr sz="1400" spc="155"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270"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a:t>
                      </a:r>
                      <a:endParaRPr sz="1400">
                        <a:latin typeface="Cambria Math" panose="02040503050406030204"/>
                        <a:cs typeface="Cambria Math" panose="02040503050406030204"/>
                      </a:endParaRPr>
                    </a:p>
                  </a:txBody>
                  <a:tcPr marL="0" marR="0" marT="6794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tc>
                  <a:txBody>
                    <a:bodyPr/>
                    <a:lstStyle/>
                    <a:p>
                      <a:pPr marR="40005" algn="ctr">
                        <a:lnSpc>
                          <a:spcPct val="100000"/>
                        </a:lnSpc>
                        <a:spcBef>
                          <a:spcPts val="535"/>
                        </a:spcBef>
                      </a:pPr>
                      <a:r>
                        <a:rPr sz="1400" spc="-5" dirty="0">
                          <a:latin typeface="Cambria Math" panose="02040503050406030204"/>
                          <a:cs typeface="Cambria Math" panose="02040503050406030204"/>
                        </a:rPr>
                        <a:t>OUT</a:t>
                      </a:r>
                      <a:r>
                        <a:rPr sz="1400" spc="150" dirty="0">
                          <a:latin typeface="Cambria Math" panose="02040503050406030204"/>
                          <a:cs typeface="Cambria Math" panose="02040503050406030204"/>
                        </a:rPr>
                        <a:t> </a:t>
                      </a:r>
                      <a:r>
                        <a:rPr sz="1400" dirty="0">
                          <a:latin typeface="Cambria Math" panose="02040503050406030204"/>
                          <a:cs typeface="Cambria Math" panose="02040503050406030204"/>
                        </a:rPr>
                        <a:t>𝐵</a:t>
                      </a:r>
                      <a:r>
                        <a:rPr sz="1400" spc="275" dirty="0">
                          <a:latin typeface="Cambria Math" panose="02040503050406030204"/>
                          <a:cs typeface="Cambria Math" panose="02040503050406030204"/>
                        </a:rPr>
                        <a:t> </a:t>
                      </a:r>
                      <a:r>
                        <a:rPr sz="1400" dirty="0">
                          <a:latin typeface="Cambria Math" panose="02040503050406030204"/>
                          <a:cs typeface="Cambria Math" panose="02040503050406030204"/>
                        </a:rPr>
                        <a:t>=</a:t>
                      </a:r>
                      <a:r>
                        <a:rPr sz="1400" spc="65" dirty="0">
                          <a:latin typeface="Cambria Math" panose="02040503050406030204"/>
                          <a:cs typeface="Cambria Math" panose="02040503050406030204"/>
                        </a:rPr>
                        <a:t> </a:t>
                      </a:r>
                      <a:r>
                        <a:rPr sz="1400" dirty="0">
                          <a:latin typeface="Cambria Math" panose="02040503050406030204"/>
                          <a:cs typeface="Cambria Math" panose="02040503050406030204"/>
                        </a:rPr>
                        <a:t>𝑈</a:t>
                      </a:r>
                      <a:endParaRPr sz="1400">
                        <a:latin typeface="Cambria Math" panose="02040503050406030204"/>
                        <a:cs typeface="Cambria Math" panose="02040503050406030204"/>
                      </a:endParaRPr>
                    </a:p>
                  </a:txBody>
                  <a:tcPr marL="0" marR="0" marT="6794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CFD5EA"/>
                    </a:solidFill>
                  </a:tcPr>
                </a:tc>
                <a:extLst>
                  <a:ext uri="{0D108BD9-81ED-4DB2-BD59-A6C34878D82A}">
                    <a16:rowId xmlns:a16="http://schemas.microsoft.com/office/drawing/2014/main" val="10007"/>
                  </a:ext>
                </a:extLst>
              </a:tr>
              <a:tr h="518160">
                <a:tc>
                  <a:txBody>
                    <a:bodyPr/>
                    <a:lstStyle/>
                    <a:p>
                      <a:pPr marL="635" algn="ctr">
                        <a:lnSpc>
                          <a:spcPct val="100000"/>
                        </a:lnSpc>
                        <a:spcBef>
                          <a:spcPts val="1090"/>
                        </a:spcBef>
                      </a:pPr>
                      <a:r>
                        <a:rPr sz="1400" b="1" spc="-5" dirty="0">
                          <a:latin typeface="Palatino Linotype" panose="02040502050505030304"/>
                          <a:cs typeface="Palatino Linotype" panose="02040502050505030304"/>
                        </a:rPr>
                        <a:t>Application</a:t>
                      </a:r>
                      <a:endParaRPr sz="1400">
                        <a:latin typeface="Palatino Linotype" panose="02040502050505030304"/>
                        <a:cs typeface="Palatino Linotype" panose="020405020505050303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1090"/>
                        </a:spcBef>
                      </a:pPr>
                      <a:r>
                        <a:rPr sz="1400" spc="-5" dirty="0">
                          <a:latin typeface="Palatino Linotype" panose="02040502050505030304"/>
                          <a:cs typeface="Palatino Linotype" panose="02040502050505030304"/>
                        </a:rPr>
                        <a:t>Constant</a:t>
                      </a:r>
                      <a:r>
                        <a:rPr sz="1400" spc="-2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folding</a:t>
                      </a:r>
                      <a:endParaRPr sz="1400">
                        <a:latin typeface="Palatino Linotype" panose="02040502050505030304"/>
                        <a:cs typeface="Palatino Linotype" panose="020405020505050303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algn="ctr">
                        <a:lnSpc>
                          <a:spcPct val="100000"/>
                        </a:lnSpc>
                        <a:spcBef>
                          <a:spcPts val="1090"/>
                        </a:spcBef>
                      </a:pPr>
                      <a:r>
                        <a:rPr sz="1400" dirty="0">
                          <a:latin typeface="Palatino Linotype" panose="02040502050505030304"/>
                          <a:cs typeface="Palatino Linotype" panose="02040502050505030304"/>
                        </a:rPr>
                        <a:t>Dead</a:t>
                      </a:r>
                      <a:r>
                        <a:rPr sz="1400" spc="-3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code</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elimination</a:t>
                      </a:r>
                      <a:endParaRPr sz="1400">
                        <a:latin typeface="Palatino Linotype" panose="02040502050505030304"/>
                        <a:cs typeface="Palatino Linotype" panose="02040502050505030304"/>
                      </a:endParaRPr>
                    </a:p>
                  </a:txBody>
                  <a:tcPr marL="0" marR="0" marT="13843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tc>
                  <a:txBody>
                    <a:bodyPr/>
                    <a:lstStyle/>
                    <a:p>
                      <a:pPr marL="165735" marR="158115" indent="405130">
                        <a:lnSpc>
                          <a:spcPct val="101000"/>
                        </a:lnSpc>
                        <a:spcBef>
                          <a:spcPts val="225"/>
                        </a:spcBef>
                      </a:pPr>
                      <a:r>
                        <a:rPr sz="1400" spc="-5" dirty="0">
                          <a:latin typeface="Palatino Linotype" panose="02040502050505030304"/>
                          <a:cs typeface="Palatino Linotype" panose="02040502050505030304"/>
                        </a:rPr>
                        <a:t>Global common </a:t>
                      </a:r>
                      <a:r>
                        <a:rPr sz="140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subexpression</a:t>
                      </a:r>
                      <a:r>
                        <a:rPr sz="1400" spc="-5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elimination</a:t>
                      </a:r>
                      <a:endParaRPr sz="1400">
                        <a:latin typeface="Palatino Linotype" panose="02040502050505030304"/>
                        <a:cs typeface="Palatino Linotype" panose="02040502050505030304"/>
                      </a:endParaRPr>
                    </a:p>
                  </a:txBody>
                  <a:tcPr marL="0" marR="0" marT="2857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
        <p:nvSpPr>
          <p:cNvPr id="8" name="object 8"/>
          <p:cNvSpPr/>
          <p:nvPr/>
        </p:nvSpPr>
        <p:spPr>
          <a:xfrm>
            <a:off x="3020047" y="3465829"/>
            <a:ext cx="38735" cy="165100"/>
          </a:xfrm>
          <a:custGeom>
            <a:avLst/>
            <a:gdLst/>
            <a:ahLst/>
            <a:cxnLst/>
            <a:rect l="l" t="t" r="r" b="b"/>
            <a:pathLst>
              <a:path w="38735" h="165100">
                <a:moveTo>
                  <a:pt x="38709" y="0"/>
                </a:moveTo>
                <a:lnTo>
                  <a:pt x="0" y="0"/>
                </a:lnTo>
                <a:lnTo>
                  <a:pt x="0" y="6350"/>
                </a:lnTo>
                <a:lnTo>
                  <a:pt x="24307" y="6350"/>
                </a:lnTo>
                <a:lnTo>
                  <a:pt x="24307" y="158750"/>
                </a:lnTo>
                <a:lnTo>
                  <a:pt x="0" y="158750"/>
                </a:lnTo>
                <a:lnTo>
                  <a:pt x="0" y="165100"/>
                </a:lnTo>
                <a:lnTo>
                  <a:pt x="38709" y="165100"/>
                </a:lnTo>
                <a:lnTo>
                  <a:pt x="38709" y="158750"/>
                </a:lnTo>
                <a:lnTo>
                  <a:pt x="38709" y="6350"/>
                </a:lnTo>
                <a:lnTo>
                  <a:pt x="38709" y="0"/>
                </a:lnTo>
                <a:close/>
              </a:path>
            </a:pathLst>
          </a:custGeom>
          <a:solidFill>
            <a:srgbClr val="000000"/>
          </a:solidFill>
        </p:spPr>
        <p:txBody>
          <a:bodyPr wrap="square" lIns="0" tIns="0" rIns="0" bIns="0" rtlCol="0"/>
          <a:lstStyle/>
          <a:p>
            <a:endParaRPr/>
          </a:p>
        </p:txBody>
      </p:sp>
      <p:sp>
        <p:nvSpPr>
          <p:cNvPr id="9" name="object 9"/>
          <p:cNvSpPr/>
          <p:nvPr/>
        </p:nvSpPr>
        <p:spPr>
          <a:xfrm>
            <a:off x="2438565" y="3465829"/>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endParaRPr/>
          </a:p>
        </p:txBody>
      </p:sp>
      <p:sp>
        <p:nvSpPr>
          <p:cNvPr id="10" name="object 10"/>
          <p:cNvSpPr/>
          <p:nvPr/>
        </p:nvSpPr>
        <p:spPr>
          <a:xfrm>
            <a:off x="5260479" y="3465829"/>
            <a:ext cx="38735" cy="165100"/>
          </a:xfrm>
          <a:custGeom>
            <a:avLst/>
            <a:gdLst/>
            <a:ahLst/>
            <a:cxnLst/>
            <a:rect l="l" t="t" r="r" b="b"/>
            <a:pathLst>
              <a:path w="38735" h="165100">
                <a:moveTo>
                  <a:pt x="38709" y="0"/>
                </a:moveTo>
                <a:lnTo>
                  <a:pt x="0" y="0"/>
                </a:lnTo>
                <a:lnTo>
                  <a:pt x="0" y="6350"/>
                </a:lnTo>
                <a:lnTo>
                  <a:pt x="24307" y="6350"/>
                </a:lnTo>
                <a:lnTo>
                  <a:pt x="24307" y="158750"/>
                </a:lnTo>
                <a:lnTo>
                  <a:pt x="0" y="158750"/>
                </a:lnTo>
                <a:lnTo>
                  <a:pt x="0" y="165100"/>
                </a:lnTo>
                <a:lnTo>
                  <a:pt x="38709" y="165100"/>
                </a:lnTo>
                <a:lnTo>
                  <a:pt x="38709" y="158750"/>
                </a:lnTo>
                <a:lnTo>
                  <a:pt x="38709" y="6350"/>
                </a:lnTo>
                <a:lnTo>
                  <a:pt x="38709" y="0"/>
                </a:lnTo>
                <a:close/>
              </a:path>
            </a:pathLst>
          </a:custGeom>
          <a:solidFill>
            <a:srgbClr val="000000"/>
          </a:solidFill>
        </p:spPr>
        <p:txBody>
          <a:bodyPr wrap="square" lIns="0" tIns="0" rIns="0" bIns="0" rtlCol="0"/>
          <a:lstStyle/>
          <a:p>
            <a:endParaRPr/>
          </a:p>
        </p:txBody>
      </p:sp>
      <p:sp>
        <p:nvSpPr>
          <p:cNvPr id="11" name="object 11"/>
          <p:cNvSpPr/>
          <p:nvPr/>
        </p:nvSpPr>
        <p:spPr>
          <a:xfrm>
            <a:off x="4849177" y="3465829"/>
            <a:ext cx="38735" cy="165100"/>
          </a:xfrm>
          <a:custGeom>
            <a:avLst/>
            <a:gdLst/>
            <a:ahLst/>
            <a:cxnLst/>
            <a:rect l="l" t="t" r="r" b="b"/>
            <a:pathLst>
              <a:path w="38735"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endParaRPr/>
          </a:p>
        </p:txBody>
      </p:sp>
      <p:sp>
        <p:nvSpPr>
          <p:cNvPr id="12" name="object 12"/>
          <p:cNvSpPr/>
          <p:nvPr/>
        </p:nvSpPr>
        <p:spPr>
          <a:xfrm>
            <a:off x="7824762" y="3465829"/>
            <a:ext cx="38735" cy="165100"/>
          </a:xfrm>
          <a:custGeom>
            <a:avLst/>
            <a:gdLst/>
            <a:ahLst/>
            <a:cxnLst/>
            <a:rect l="l" t="t" r="r" b="b"/>
            <a:pathLst>
              <a:path w="38734" h="165100">
                <a:moveTo>
                  <a:pt x="38709" y="0"/>
                </a:moveTo>
                <a:lnTo>
                  <a:pt x="0" y="0"/>
                </a:lnTo>
                <a:lnTo>
                  <a:pt x="0" y="6350"/>
                </a:lnTo>
                <a:lnTo>
                  <a:pt x="24307" y="6350"/>
                </a:lnTo>
                <a:lnTo>
                  <a:pt x="24307" y="158750"/>
                </a:lnTo>
                <a:lnTo>
                  <a:pt x="0" y="158750"/>
                </a:lnTo>
                <a:lnTo>
                  <a:pt x="0" y="165100"/>
                </a:lnTo>
                <a:lnTo>
                  <a:pt x="38709" y="165100"/>
                </a:lnTo>
                <a:lnTo>
                  <a:pt x="38709" y="158750"/>
                </a:lnTo>
                <a:lnTo>
                  <a:pt x="38709" y="6350"/>
                </a:lnTo>
                <a:lnTo>
                  <a:pt x="38709" y="0"/>
                </a:lnTo>
                <a:close/>
              </a:path>
            </a:pathLst>
          </a:custGeom>
          <a:solidFill>
            <a:srgbClr val="000000"/>
          </a:solidFill>
        </p:spPr>
        <p:txBody>
          <a:bodyPr wrap="square" lIns="0" tIns="0" rIns="0" bIns="0" rtlCol="0"/>
          <a:lstStyle/>
          <a:p>
            <a:endParaRPr/>
          </a:p>
        </p:txBody>
      </p:sp>
      <p:sp>
        <p:nvSpPr>
          <p:cNvPr id="13" name="object 13"/>
          <p:cNvSpPr/>
          <p:nvPr/>
        </p:nvSpPr>
        <p:spPr>
          <a:xfrm>
            <a:off x="7236930" y="3465829"/>
            <a:ext cx="38735" cy="165100"/>
          </a:xfrm>
          <a:custGeom>
            <a:avLst/>
            <a:gdLst/>
            <a:ahLst/>
            <a:cxnLst/>
            <a:rect l="l" t="t" r="r" b="b"/>
            <a:pathLst>
              <a:path w="38734" h="165100">
                <a:moveTo>
                  <a:pt x="38722" y="0"/>
                </a:moveTo>
                <a:lnTo>
                  <a:pt x="0" y="0"/>
                </a:lnTo>
                <a:lnTo>
                  <a:pt x="0" y="6350"/>
                </a:lnTo>
                <a:lnTo>
                  <a:pt x="0" y="158750"/>
                </a:lnTo>
                <a:lnTo>
                  <a:pt x="0" y="165100"/>
                </a:lnTo>
                <a:lnTo>
                  <a:pt x="38722" y="16510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endParaRPr/>
          </a:p>
        </p:txBody>
      </p:sp>
      <p:sp>
        <p:nvSpPr>
          <p:cNvPr id="14" name="object 14"/>
          <p:cNvSpPr/>
          <p:nvPr/>
        </p:nvSpPr>
        <p:spPr>
          <a:xfrm>
            <a:off x="2462415" y="4182109"/>
            <a:ext cx="38735" cy="166370"/>
          </a:xfrm>
          <a:custGeom>
            <a:avLst/>
            <a:gdLst/>
            <a:ahLst/>
            <a:cxnLst/>
            <a:rect l="l" t="t" r="r" b="b"/>
            <a:pathLst>
              <a:path w="38735"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15" name="object 15"/>
          <p:cNvSpPr/>
          <p:nvPr/>
        </p:nvSpPr>
        <p:spPr>
          <a:xfrm>
            <a:off x="2294013" y="4182109"/>
            <a:ext cx="38735" cy="166370"/>
          </a:xfrm>
          <a:custGeom>
            <a:avLst/>
            <a:gdLst/>
            <a:ahLst/>
            <a:cxnLst/>
            <a:rect l="l" t="t" r="r" b="b"/>
            <a:pathLst>
              <a:path w="38735" h="166370">
                <a:moveTo>
                  <a:pt x="38722" y="0"/>
                </a:moveTo>
                <a:lnTo>
                  <a:pt x="0" y="0"/>
                </a:lnTo>
                <a:lnTo>
                  <a:pt x="0" y="7620"/>
                </a:lnTo>
                <a:lnTo>
                  <a:pt x="0" y="158750"/>
                </a:lnTo>
                <a:lnTo>
                  <a:pt x="0" y="166370"/>
                </a:lnTo>
                <a:lnTo>
                  <a:pt x="38722" y="166370"/>
                </a:lnTo>
                <a:lnTo>
                  <a:pt x="38722" y="158750"/>
                </a:lnTo>
                <a:lnTo>
                  <a:pt x="14414" y="158750"/>
                </a:lnTo>
                <a:lnTo>
                  <a:pt x="14414" y="7620"/>
                </a:lnTo>
                <a:lnTo>
                  <a:pt x="38722" y="7620"/>
                </a:lnTo>
                <a:lnTo>
                  <a:pt x="38722" y="0"/>
                </a:lnTo>
                <a:close/>
              </a:path>
            </a:pathLst>
          </a:custGeom>
          <a:solidFill>
            <a:srgbClr val="000000"/>
          </a:solidFill>
        </p:spPr>
        <p:txBody>
          <a:bodyPr wrap="square" lIns="0" tIns="0" rIns="0" bIns="0" rtlCol="0"/>
          <a:lstStyle/>
          <a:p>
            <a:endParaRPr/>
          </a:p>
        </p:txBody>
      </p:sp>
      <p:sp>
        <p:nvSpPr>
          <p:cNvPr id="18" name="object 18"/>
          <p:cNvSpPr/>
          <p:nvPr/>
        </p:nvSpPr>
        <p:spPr>
          <a:xfrm>
            <a:off x="2015185" y="4626609"/>
            <a:ext cx="38735" cy="166370"/>
          </a:xfrm>
          <a:custGeom>
            <a:avLst/>
            <a:gdLst/>
            <a:ahLst/>
            <a:cxnLst/>
            <a:rect l="l" t="t" r="r" b="b"/>
            <a:pathLst>
              <a:path w="38735"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19" name="object 19"/>
          <p:cNvSpPr/>
          <p:nvPr/>
        </p:nvSpPr>
        <p:spPr>
          <a:xfrm>
            <a:off x="1846783" y="4626609"/>
            <a:ext cx="38735" cy="166370"/>
          </a:xfrm>
          <a:custGeom>
            <a:avLst/>
            <a:gdLst/>
            <a:ahLst/>
            <a:cxnLst/>
            <a:rect l="l" t="t" r="r" b="b"/>
            <a:pathLst>
              <a:path w="38735" h="166370">
                <a:moveTo>
                  <a:pt x="38722" y="0"/>
                </a:moveTo>
                <a:lnTo>
                  <a:pt x="0" y="0"/>
                </a:lnTo>
                <a:lnTo>
                  <a:pt x="0" y="7620"/>
                </a:lnTo>
                <a:lnTo>
                  <a:pt x="0" y="158750"/>
                </a:lnTo>
                <a:lnTo>
                  <a:pt x="0" y="166370"/>
                </a:lnTo>
                <a:lnTo>
                  <a:pt x="38722" y="166370"/>
                </a:lnTo>
                <a:lnTo>
                  <a:pt x="38722" y="158750"/>
                </a:lnTo>
                <a:lnTo>
                  <a:pt x="14414" y="158750"/>
                </a:lnTo>
                <a:lnTo>
                  <a:pt x="14414" y="7620"/>
                </a:lnTo>
                <a:lnTo>
                  <a:pt x="38722" y="7620"/>
                </a:lnTo>
                <a:lnTo>
                  <a:pt x="38722" y="0"/>
                </a:lnTo>
                <a:close/>
              </a:path>
            </a:pathLst>
          </a:custGeom>
          <a:solidFill>
            <a:srgbClr val="000000"/>
          </a:solidFill>
        </p:spPr>
        <p:txBody>
          <a:bodyPr wrap="square" lIns="0" tIns="0" rIns="0" bIns="0" rtlCol="0"/>
          <a:lstStyle/>
          <a:p>
            <a:endParaRPr/>
          </a:p>
        </p:txBody>
      </p:sp>
      <p:sp>
        <p:nvSpPr>
          <p:cNvPr id="20" name="object 20"/>
          <p:cNvSpPr/>
          <p:nvPr/>
        </p:nvSpPr>
        <p:spPr>
          <a:xfrm>
            <a:off x="4706023" y="4182109"/>
            <a:ext cx="38735" cy="166370"/>
          </a:xfrm>
          <a:custGeom>
            <a:avLst/>
            <a:gdLst/>
            <a:ahLst/>
            <a:cxnLst/>
            <a:rect l="l" t="t" r="r" b="b"/>
            <a:pathLst>
              <a:path w="38735"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21" name="object 21"/>
          <p:cNvSpPr/>
          <p:nvPr/>
        </p:nvSpPr>
        <p:spPr>
          <a:xfrm>
            <a:off x="4537621" y="4182109"/>
            <a:ext cx="38735" cy="166370"/>
          </a:xfrm>
          <a:custGeom>
            <a:avLst/>
            <a:gdLst/>
            <a:ahLst/>
            <a:cxnLst/>
            <a:rect l="l" t="t" r="r" b="b"/>
            <a:pathLst>
              <a:path w="38735" h="166370">
                <a:moveTo>
                  <a:pt x="38722" y="0"/>
                </a:moveTo>
                <a:lnTo>
                  <a:pt x="0" y="0"/>
                </a:lnTo>
                <a:lnTo>
                  <a:pt x="0" y="7620"/>
                </a:lnTo>
                <a:lnTo>
                  <a:pt x="0" y="158750"/>
                </a:lnTo>
                <a:lnTo>
                  <a:pt x="0" y="166370"/>
                </a:lnTo>
                <a:lnTo>
                  <a:pt x="38722" y="166370"/>
                </a:lnTo>
                <a:lnTo>
                  <a:pt x="38722" y="158750"/>
                </a:lnTo>
                <a:lnTo>
                  <a:pt x="14401" y="158750"/>
                </a:lnTo>
                <a:lnTo>
                  <a:pt x="14401" y="7620"/>
                </a:lnTo>
                <a:lnTo>
                  <a:pt x="38722" y="7620"/>
                </a:lnTo>
                <a:lnTo>
                  <a:pt x="38722" y="0"/>
                </a:lnTo>
                <a:close/>
              </a:path>
            </a:pathLst>
          </a:custGeom>
          <a:solidFill>
            <a:srgbClr val="000000"/>
          </a:solidFill>
        </p:spPr>
        <p:txBody>
          <a:bodyPr wrap="square" lIns="0" tIns="0" rIns="0" bIns="0" rtlCol="0"/>
          <a:lstStyle/>
          <a:p>
            <a:endParaRPr/>
          </a:p>
        </p:txBody>
      </p:sp>
      <p:sp>
        <p:nvSpPr>
          <p:cNvPr id="24" name="object 24"/>
          <p:cNvSpPr/>
          <p:nvPr/>
        </p:nvSpPr>
        <p:spPr>
          <a:xfrm>
            <a:off x="4603153" y="4626609"/>
            <a:ext cx="38735" cy="166370"/>
          </a:xfrm>
          <a:custGeom>
            <a:avLst/>
            <a:gdLst/>
            <a:ahLst/>
            <a:cxnLst/>
            <a:rect l="l" t="t" r="r" b="b"/>
            <a:pathLst>
              <a:path w="38735"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25" name="object 25"/>
          <p:cNvSpPr/>
          <p:nvPr/>
        </p:nvSpPr>
        <p:spPr>
          <a:xfrm>
            <a:off x="4434751" y="4626609"/>
            <a:ext cx="38735" cy="166370"/>
          </a:xfrm>
          <a:custGeom>
            <a:avLst/>
            <a:gdLst/>
            <a:ahLst/>
            <a:cxnLst/>
            <a:rect l="l" t="t" r="r" b="b"/>
            <a:pathLst>
              <a:path w="38735" h="166370">
                <a:moveTo>
                  <a:pt x="38722" y="0"/>
                </a:moveTo>
                <a:lnTo>
                  <a:pt x="0" y="0"/>
                </a:lnTo>
                <a:lnTo>
                  <a:pt x="0" y="7620"/>
                </a:lnTo>
                <a:lnTo>
                  <a:pt x="0" y="158750"/>
                </a:lnTo>
                <a:lnTo>
                  <a:pt x="0" y="166370"/>
                </a:lnTo>
                <a:lnTo>
                  <a:pt x="38722" y="166370"/>
                </a:lnTo>
                <a:lnTo>
                  <a:pt x="38722" y="158750"/>
                </a:lnTo>
                <a:lnTo>
                  <a:pt x="14401" y="158750"/>
                </a:lnTo>
                <a:lnTo>
                  <a:pt x="14401" y="7620"/>
                </a:lnTo>
                <a:lnTo>
                  <a:pt x="38722" y="7620"/>
                </a:lnTo>
                <a:lnTo>
                  <a:pt x="38722" y="0"/>
                </a:lnTo>
                <a:close/>
              </a:path>
            </a:pathLst>
          </a:custGeom>
          <a:solidFill>
            <a:srgbClr val="000000"/>
          </a:solidFill>
        </p:spPr>
        <p:txBody>
          <a:bodyPr wrap="square" lIns="0" tIns="0" rIns="0" bIns="0" rtlCol="0"/>
          <a:lstStyle/>
          <a:p>
            <a:endParaRPr/>
          </a:p>
        </p:txBody>
      </p:sp>
      <p:sp>
        <p:nvSpPr>
          <p:cNvPr id="26" name="object 26"/>
          <p:cNvSpPr/>
          <p:nvPr/>
        </p:nvSpPr>
        <p:spPr>
          <a:xfrm>
            <a:off x="7267130" y="4182109"/>
            <a:ext cx="38735" cy="166370"/>
          </a:xfrm>
          <a:custGeom>
            <a:avLst/>
            <a:gdLst/>
            <a:ahLst/>
            <a:cxnLst/>
            <a:rect l="l" t="t" r="r" b="b"/>
            <a:pathLst>
              <a:path w="38734"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27" name="object 27"/>
          <p:cNvSpPr/>
          <p:nvPr/>
        </p:nvSpPr>
        <p:spPr>
          <a:xfrm>
            <a:off x="7098728" y="4182109"/>
            <a:ext cx="38735" cy="166370"/>
          </a:xfrm>
          <a:custGeom>
            <a:avLst/>
            <a:gdLst/>
            <a:ahLst/>
            <a:cxnLst/>
            <a:rect l="l" t="t" r="r" b="b"/>
            <a:pathLst>
              <a:path w="38734" h="166370">
                <a:moveTo>
                  <a:pt x="38722" y="0"/>
                </a:moveTo>
                <a:lnTo>
                  <a:pt x="0" y="0"/>
                </a:lnTo>
                <a:lnTo>
                  <a:pt x="0" y="7620"/>
                </a:lnTo>
                <a:lnTo>
                  <a:pt x="0" y="158750"/>
                </a:lnTo>
                <a:lnTo>
                  <a:pt x="0" y="166370"/>
                </a:lnTo>
                <a:lnTo>
                  <a:pt x="38722" y="166370"/>
                </a:lnTo>
                <a:lnTo>
                  <a:pt x="38722" y="158750"/>
                </a:lnTo>
                <a:lnTo>
                  <a:pt x="14401" y="158750"/>
                </a:lnTo>
                <a:lnTo>
                  <a:pt x="14401" y="7620"/>
                </a:lnTo>
                <a:lnTo>
                  <a:pt x="38722" y="7620"/>
                </a:lnTo>
                <a:lnTo>
                  <a:pt x="38722" y="0"/>
                </a:lnTo>
                <a:close/>
              </a:path>
            </a:pathLst>
          </a:custGeom>
          <a:solidFill>
            <a:srgbClr val="000000"/>
          </a:solidFill>
        </p:spPr>
        <p:txBody>
          <a:bodyPr wrap="square" lIns="0" tIns="0" rIns="0" bIns="0" rtlCol="0"/>
          <a:lstStyle/>
          <a:p>
            <a:endParaRPr/>
          </a:p>
        </p:txBody>
      </p:sp>
      <p:sp>
        <p:nvSpPr>
          <p:cNvPr id="30" name="object 30"/>
          <p:cNvSpPr/>
          <p:nvPr/>
        </p:nvSpPr>
        <p:spPr>
          <a:xfrm>
            <a:off x="6819900" y="4626609"/>
            <a:ext cx="38735" cy="166370"/>
          </a:xfrm>
          <a:custGeom>
            <a:avLst/>
            <a:gdLst/>
            <a:ahLst/>
            <a:cxnLst/>
            <a:rect l="l" t="t" r="r" b="b"/>
            <a:pathLst>
              <a:path w="38734" h="166370">
                <a:moveTo>
                  <a:pt x="38722" y="0"/>
                </a:moveTo>
                <a:lnTo>
                  <a:pt x="0" y="0"/>
                </a:lnTo>
                <a:lnTo>
                  <a:pt x="0" y="7620"/>
                </a:lnTo>
                <a:lnTo>
                  <a:pt x="24307" y="7620"/>
                </a:lnTo>
                <a:lnTo>
                  <a:pt x="24307" y="158750"/>
                </a:lnTo>
                <a:lnTo>
                  <a:pt x="0" y="158750"/>
                </a:lnTo>
                <a:lnTo>
                  <a:pt x="0" y="166370"/>
                </a:lnTo>
                <a:lnTo>
                  <a:pt x="38722" y="166370"/>
                </a:lnTo>
                <a:lnTo>
                  <a:pt x="38722" y="158750"/>
                </a:lnTo>
                <a:lnTo>
                  <a:pt x="38722" y="7620"/>
                </a:lnTo>
                <a:lnTo>
                  <a:pt x="38722" y="0"/>
                </a:lnTo>
                <a:close/>
              </a:path>
            </a:pathLst>
          </a:custGeom>
          <a:solidFill>
            <a:srgbClr val="000000"/>
          </a:solidFill>
        </p:spPr>
        <p:txBody>
          <a:bodyPr wrap="square" lIns="0" tIns="0" rIns="0" bIns="0" rtlCol="0"/>
          <a:lstStyle/>
          <a:p>
            <a:endParaRPr/>
          </a:p>
        </p:txBody>
      </p:sp>
      <p:sp>
        <p:nvSpPr>
          <p:cNvPr id="31" name="object 31"/>
          <p:cNvSpPr/>
          <p:nvPr/>
        </p:nvSpPr>
        <p:spPr>
          <a:xfrm>
            <a:off x="6651498" y="4626609"/>
            <a:ext cx="38735" cy="166370"/>
          </a:xfrm>
          <a:custGeom>
            <a:avLst/>
            <a:gdLst/>
            <a:ahLst/>
            <a:cxnLst/>
            <a:rect l="l" t="t" r="r" b="b"/>
            <a:pathLst>
              <a:path w="38734" h="166370">
                <a:moveTo>
                  <a:pt x="38722" y="0"/>
                </a:moveTo>
                <a:lnTo>
                  <a:pt x="0" y="0"/>
                </a:lnTo>
                <a:lnTo>
                  <a:pt x="0" y="7620"/>
                </a:lnTo>
                <a:lnTo>
                  <a:pt x="0" y="158750"/>
                </a:lnTo>
                <a:lnTo>
                  <a:pt x="0" y="166370"/>
                </a:lnTo>
                <a:lnTo>
                  <a:pt x="38722" y="166370"/>
                </a:lnTo>
                <a:lnTo>
                  <a:pt x="38722" y="158750"/>
                </a:lnTo>
                <a:lnTo>
                  <a:pt x="14401" y="158750"/>
                </a:lnTo>
                <a:lnTo>
                  <a:pt x="14401" y="7620"/>
                </a:lnTo>
                <a:lnTo>
                  <a:pt x="38722" y="7620"/>
                </a:lnTo>
                <a:lnTo>
                  <a:pt x="38722" y="0"/>
                </a:lnTo>
                <a:close/>
              </a:path>
            </a:pathLst>
          </a:custGeom>
          <a:solidFill>
            <a:srgbClr val="000000"/>
          </a:solidFill>
        </p:spPr>
        <p:txBody>
          <a:bodyPr wrap="square" lIns="0" tIns="0" rIns="0" bIns="0" rtlCol="0"/>
          <a:lstStyle/>
          <a:p>
            <a:endParaRPr/>
          </a:p>
        </p:txBody>
      </p:sp>
      <p:sp>
        <p:nvSpPr>
          <p:cNvPr id="32" name="object 32"/>
          <p:cNvSpPr/>
          <p:nvPr/>
        </p:nvSpPr>
        <p:spPr>
          <a:xfrm>
            <a:off x="2816047" y="5248909"/>
            <a:ext cx="38735" cy="166370"/>
          </a:xfrm>
          <a:custGeom>
            <a:avLst/>
            <a:gdLst/>
            <a:ahLst/>
            <a:cxnLst/>
            <a:rect l="l" t="t" r="r" b="b"/>
            <a:pathLst>
              <a:path w="38735" h="166370">
                <a:moveTo>
                  <a:pt x="38722" y="0"/>
                </a:moveTo>
                <a:lnTo>
                  <a:pt x="0" y="0"/>
                </a:lnTo>
                <a:lnTo>
                  <a:pt x="0" y="6350"/>
                </a:lnTo>
                <a:lnTo>
                  <a:pt x="24307" y="6350"/>
                </a:lnTo>
                <a:lnTo>
                  <a:pt x="24307" y="158750"/>
                </a:lnTo>
                <a:lnTo>
                  <a:pt x="0" y="158750"/>
                </a:lnTo>
                <a:lnTo>
                  <a:pt x="0" y="166370"/>
                </a:lnTo>
                <a:lnTo>
                  <a:pt x="38722" y="166370"/>
                </a:lnTo>
                <a:lnTo>
                  <a:pt x="38722" y="158750"/>
                </a:lnTo>
                <a:lnTo>
                  <a:pt x="38722" y="6350"/>
                </a:lnTo>
                <a:lnTo>
                  <a:pt x="38722" y="0"/>
                </a:lnTo>
                <a:close/>
              </a:path>
            </a:pathLst>
          </a:custGeom>
          <a:solidFill>
            <a:srgbClr val="000000"/>
          </a:solidFill>
        </p:spPr>
        <p:txBody>
          <a:bodyPr wrap="square" lIns="0" tIns="0" rIns="0" bIns="0" rtlCol="0"/>
          <a:lstStyle/>
          <a:p>
            <a:endParaRPr/>
          </a:p>
        </p:txBody>
      </p:sp>
      <p:sp>
        <p:nvSpPr>
          <p:cNvPr id="33" name="object 33"/>
          <p:cNvSpPr/>
          <p:nvPr/>
        </p:nvSpPr>
        <p:spPr>
          <a:xfrm>
            <a:off x="2644470" y="5257799"/>
            <a:ext cx="38735" cy="166370"/>
          </a:xfrm>
          <a:custGeom>
            <a:avLst/>
            <a:gdLst/>
            <a:ahLst/>
            <a:cxnLst/>
            <a:rect l="l" t="t" r="r" b="b"/>
            <a:pathLst>
              <a:path w="38735" h="166370">
                <a:moveTo>
                  <a:pt x="38722" y="0"/>
                </a:moveTo>
                <a:lnTo>
                  <a:pt x="0" y="0"/>
                </a:lnTo>
                <a:lnTo>
                  <a:pt x="0" y="6350"/>
                </a:lnTo>
                <a:lnTo>
                  <a:pt x="0" y="158750"/>
                </a:lnTo>
                <a:lnTo>
                  <a:pt x="0" y="166370"/>
                </a:lnTo>
                <a:lnTo>
                  <a:pt x="38722" y="166370"/>
                </a:lnTo>
                <a:lnTo>
                  <a:pt x="38722" y="158750"/>
                </a:lnTo>
                <a:lnTo>
                  <a:pt x="14414" y="158750"/>
                </a:lnTo>
                <a:lnTo>
                  <a:pt x="14414" y="6350"/>
                </a:lnTo>
                <a:lnTo>
                  <a:pt x="38722" y="6350"/>
                </a:lnTo>
                <a:lnTo>
                  <a:pt x="38722" y="0"/>
                </a:lnTo>
                <a:close/>
              </a:path>
            </a:pathLst>
          </a:custGeom>
          <a:solidFill>
            <a:srgbClr val="000000"/>
          </a:solidFill>
        </p:spPr>
        <p:txBody>
          <a:bodyPr wrap="square" lIns="0" tIns="0" rIns="0" bIns="0" rtlCol="0"/>
          <a:lstStyle/>
          <a:p>
            <a:endParaRPr/>
          </a:p>
        </p:txBody>
      </p:sp>
      <p:sp>
        <p:nvSpPr>
          <p:cNvPr id="34" name="object 34"/>
          <p:cNvSpPr/>
          <p:nvPr/>
        </p:nvSpPr>
        <p:spPr>
          <a:xfrm>
            <a:off x="5139029" y="5248909"/>
            <a:ext cx="38735" cy="166370"/>
          </a:xfrm>
          <a:custGeom>
            <a:avLst/>
            <a:gdLst/>
            <a:ahLst/>
            <a:cxnLst/>
            <a:rect l="l" t="t" r="r" b="b"/>
            <a:pathLst>
              <a:path w="38735" h="166370">
                <a:moveTo>
                  <a:pt x="38722" y="0"/>
                </a:moveTo>
                <a:lnTo>
                  <a:pt x="0" y="0"/>
                </a:lnTo>
                <a:lnTo>
                  <a:pt x="0" y="6350"/>
                </a:lnTo>
                <a:lnTo>
                  <a:pt x="24307" y="6350"/>
                </a:lnTo>
                <a:lnTo>
                  <a:pt x="24307" y="158750"/>
                </a:lnTo>
                <a:lnTo>
                  <a:pt x="0" y="158750"/>
                </a:lnTo>
                <a:lnTo>
                  <a:pt x="0" y="166370"/>
                </a:lnTo>
                <a:lnTo>
                  <a:pt x="38722" y="166370"/>
                </a:lnTo>
                <a:lnTo>
                  <a:pt x="38722" y="158750"/>
                </a:lnTo>
                <a:lnTo>
                  <a:pt x="38722" y="6350"/>
                </a:lnTo>
                <a:lnTo>
                  <a:pt x="38722" y="0"/>
                </a:lnTo>
                <a:close/>
              </a:path>
            </a:pathLst>
          </a:custGeom>
          <a:solidFill>
            <a:srgbClr val="000000"/>
          </a:solidFill>
        </p:spPr>
        <p:txBody>
          <a:bodyPr wrap="square" lIns="0" tIns="0" rIns="0" bIns="0" rtlCol="0"/>
          <a:lstStyle/>
          <a:p>
            <a:endParaRPr/>
          </a:p>
        </p:txBody>
      </p:sp>
      <p:sp>
        <p:nvSpPr>
          <p:cNvPr id="35" name="object 35"/>
          <p:cNvSpPr/>
          <p:nvPr/>
        </p:nvSpPr>
        <p:spPr>
          <a:xfrm>
            <a:off x="4970627" y="5248909"/>
            <a:ext cx="38735" cy="166370"/>
          </a:xfrm>
          <a:custGeom>
            <a:avLst/>
            <a:gdLst/>
            <a:ahLst/>
            <a:cxnLst/>
            <a:rect l="l" t="t" r="r" b="b"/>
            <a:pathLst>
              <a:path w="38735" h="166370">
                <a:moveTo>
                  <a:pt x="38722" y="0"/>
                </a:moveTo>
                <a:lnTo>
                  <a:pt x="0" y="0"/>
                </a:lnTo>
                <a:lnTo>
                  <a:pt x="0" y="6350"/>
                </a:lnTo>
                <a:lnTo>
                  <a:pt x="0" y="158750"/>
                </a:lnTo>
                <a:lnTo>
                  <a:pt x="0" y="166370"/>
                </a:lnTo>
                <a:lnTo>
                  <a:pt x="38722" y="166370"/>
                </a:lnTo>
                <a:lnTo>
                  <a:pt x="38722" y="158750"/>
                </a:lnTo>
                <a:lnTo>
                  <a:pt x="14401" y="158750"/>
                </a:lnTo>
                <a:lnTo>
                  <a:pt x="14401" y="6350"/>
                </a:lnTo>
                <a:lnTo>
                  <a:pt x="38722" y="6350"/>
                </a:lnTo>
                <a:lnTo>
                  <a:pt x="38722" y="0"/>
                </a:lnTo>
                <a:close/>
              </a:path>
            </a:pathLst>
          </a:custGeom>
          <a:solidFill>
            <a:srgbClr val="000000"/>
          </a:solidFill>
        </p:spPr>
        <p:txBody>
          <a:bodyPr wrap="square" lIns="0" tIns="0" rIns="0" bIns="0" rtlCol="0"/>
          <a:lstStyle/>
          <a:p>
            <a:endParaRPr/>
          </a:p>
        </p:txBody>
      </p:sp>
      <p:sp>
        <p:nvSpPr>
          <p:cNvPr id="36" name="object 36"/>
          <p:cNvSpPr/>
          <p:nvPr/>
        </p:nvSpPr>
        <p:spPr>
          <a:xfrm>
            <a:off x="7619810" y="5248909"/>
            <a:ext cx="38735" cy="166370"/>
          </a:xfrm>
          <a:custGeom>
            <a:avLst/>
            <a:gdLst/>
            <a:ahLst/>
            <a:cxnLst/>
            <a:rect l="l" t="t" r="r" b="b"/>
            <a:pathLst>
              <a:path w="38734" h="166370">
                <a:moveTo>
                  <a:pt x="38722" y="0"/>
                </a:moveTo>
                <a:lnTo>
                  <a:pt x="0" y="0"/>
                </a:lnTo>
                <a:lnTo>
                  <a:pt x="0" y="6350"/>
                </a:lnTo>
                <a:lnTo>
                  <a:pt x="24307" y="6350"/>
                </a:lnTo>
                <a:lnTo>
                  <a:pt x="24307" y="158750"/>
                </a:lnTo>
                <a:lnTo>
                  <a:pt x="0" y="158750"/>
                </a:lnTo>
                <a:lnTo>
                  <a:pt x="0" y="166370"/>
                </a:lnTo>
                <a:lnTo>
                  <a:pt x="38722" y="166370"/>
                </a:lnTo>
                <a:lnTo>
                  <a:pt x="38722" y="158750"/>
                </a:lnTo>
                <a:lnTo>
                  <a:pt x="38722" y="6350"/>
                </a:lnTo>
                <a:lnTo>
                  <a:pt x="38722" y="0"/>
                </a:lnTo>
                <a:close/>
              </a:path>
            </a:pathLst>
          </a:custGeom>
          <a:solidFill>
            <a:srgbClr val="000000"/>
          </a:solidFill>
        </p:spPr>
        <p:txBody>
          <a:bodyPr wrap="square" lIns="0" tIns="0" rIns="0" bIns="0" rtlCol="0"/>
          <a:lstStyle/>
          <a:p>
            <a:endParaRPr/>
          </a:p>
        </p:txBody>
      </p:sp>
      <p:sp>
        <p:nvSpPr>
          <p:cNvPr id="37" name="object 37"/>
          <p:cNvSpPr/>
          <p:nvPr/>
        </p:nvSpPr>
        <p:spPr>
          <a:xfrm>
            <a:off x="7441883" y="5257799"/>
            <a:ext cx="38735" cy="166370"/>
          </a:xfrm>
          <a:custGeom>
            <a:avLst/>
            <a:gdLst/>
            <a:ahLst/>
            <a:cxnLst/>
            <a:rect l="l" t="t" r="r" b="b"/>
            <a:pathLst>
              <a:path w="38734" h="166370">
                <a:moveTo>
                  <a:pt x="38722" y="0"/>
                </a:moveTo>
                <a:lnTo>
                  <a:pt x="0" y="0"/>
                </a:lnTo>
                <a:lnTo>
                  <a:pt x="0" y="6350"/>
                </a:lnTo>
                <a:lnTo>
                  <a:pt x="0" y="158750"/>
                </a:lnTo>
                <a:lnTo>
                  <a:pt x="0" y="166370"/>
                </a:lnTo>
                <a:lnTo>
                  <a:pt x="38722" y="166370"/>
                </a:lnTo>
                <a:lnTo>
                  <a:pt x="38722" y="158750"/>
                </a:lnTo>
                <a:lnTo>
                  <a:pt x="14401" y="158750"/>
                </a:lnTo>
                <a:lnTo>
                  <a:pt x="14401" y="6350"/>
                </a:lnTo>
                <a:lnTo>
                  <a:pt x="38722" y="6350"/>
                </a:lnTo>
                <a:lnTo>
                  <a:pt x="38722" y="0"/>
                </a:lnTo>
                <a:close/>
              </a:path>
            </a:pathLst>
          </a:custGeom>
          <a:solidFill>
            <a:srgbClr val="000000"/>
          </a:solidFill>
        </p:spPr>
        <p:txBody>
          <a:bodyPr wrap="square" lIns="0" tIns="0" rIns="0" bIns="0" rtlCol="0"/>
          <a:lstStyle/>
          <a:p>
            <a:endParaRPr/>
          </a:p>
        </p:txBody>
      </p:sp>
      <p:sp>
        <p:nvSpPr>
          <p:cNvPr id="38" name="object 38"/>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39" name="object 39"/>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spc="-5" dirty="0"/>
              <a:t>BUPT</a:t>
            </a:r>
            <a:r>
              <a:rPr spc="-10" dirty="0"/>
              <a:t> </a:t>
            </a:r>
            <a:r>
              <a:rPr spc="-5" dirty="0"/>
              <a:t>Compilers Chapter</a:t>
            </a:r>
            <a:r>
              <a:rPr spc="-10" dirty="0"/>
              <a:t> </a:t>
            </a:r>
            <a:r>
              <a:rPr dirty="0"/>
              <a:t>7</a:t>
            </a:r>
          </a:p>
        </p:txBody>
      </p:sp>
      <p:sp>
        <p:nvSpPr>
          <p:cNvPr id="40" name="object 40"/>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73</a:t>
            </a:fld>
            <a:endParaRP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U1ZTdiNDY3NmMwMTY3NmIxMDllMjI3ODVkMGNjNm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649</TotalTime>
  <Words>15271</Words>
  <Application>Microsoft Office PowerPoint</Application>
  <PresentationFormat>全屏显示(4:3)</PresentationFormat>
  <Paragraphs>1184</Paragraphs>
  <Slides>73</Slides>
  <Notes>63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73</vt:i4>
      </vt:variant>
    </vt:vector>
  </HeadingPairs>
  <TitlesOfParts>
    <vt:vector size="85" baseType="lpstr">
      <vt:lpstr>Arial MT</vt:lpstr>
      <vt:lpstr>楷体</vt:lpstr>
      <vt:lpstr>宋体</vt:lpstr>
      <vt:lpstr>Arial</vt:lpstr>
      <vt:lpstr>Calibri</vt:lpstr>
      <vt:lpstr>Cambria Math</vt:lpstr>
      <vt:lpstr>Consolas</vt:lpstr>
      <vt:lpstr>Courier New</vt:lpstr>
      <vt:lpstr>Palatino Linotype</vt:lpstr>
      <vt:lpstr>Times New Roman</vt:lpstr>
      <vt:lpstr>Wingdings</vt:lpstr>
      <vt:lpstr>Office Theme</vt:lpstr>
      <vt:lpstr>Chapter 8: Machine-  Independent Optimizations</vt:lpstr>
      <vt:lpstr>Outline</vt:lpstr>
      <vt:lpstr>Introduction</vt:lpstr>
      <vt:lpstr>Outline</vt:lpstr>
      <vt:lpstr>Two Major Causes of Redundancy</vt:lpstr>
      <vt:lpstr>A Running Example: Quicksort</vt:lpstr>
      <vt:lpstr>Array Accesses</vt:lpstr>
      <vt:lpstr>Flow Graph</vt:lpstr>
      <vt:lpstr>Semantic-Preserving Transformations</vt:lpstr>
      <vt:lpstr>Local Common-Subexpression Elimination</vt:lpstr>
      <vt:lpstr>Local Common-Subexpression Elimination</vt:lpstr>
      <vt:lpstr>Global Common  Subexpression  Elimination</vt:lpstr>
      <vt:lpstr>Global Common  Subexpression  Elimination</vt:lpstr>
      <vt:lpstr>Global Common  Subexpression  Elimination</vt:lpstr>
      <vt:lpstr>After Optimizations</vt:lpstr>
      <vt:lpstr>Copy Propagation</vt:lpstr>
      <vt:lpstr>Copy Propagation</vt:lpstr>
      <vt:lpstr>Dead-Code Elimination</vt:lpstr>
      <vt:lpstr>Code Motion</vt:lpstr>
      <vt:lpstr>Outline</vt:lpstr>
      <vt:lpstr>What Is Data-Flow Analysis?</vt:lpstr>
      <vt:lpstr>The Data-Flow Abstraction</vt:lpstr>
      <vt:lpstr>The Data-Flow Abstraction</vt:lpstr>
      <vt:lpstr>The Data-Flow Abstraction</vt:lpstr>
      <vt:lpstr>The Data-Flow Abstraction</vt:lpstr>
      <vt:lpstr>Example (1)</vt:lpstr>
      <vt:lpstr>Example (2)</vt:lpstr>
      <vt:lpstr>The Data-Flow Analysis Schema</vt:lpstr>
      <vt:lpstr>The Data-Flow Analysis Schema</vt:lpstr>
      <vt:lpstr>Transfer Functions (传递函数)</vt:lpstr>
      <vt:lpstr>Transfer Functions (传递函数)</vt:lpstr>
      <vt:lpstr>Control-Flow Constraints</vt:lpstr>
      <vt:lpstr>Data-Flow Schemas on Basic Blocks  (The Intra-Block Case)</vt:lpstr>
      <vt:lpstr>Data-Flow Schemas on Basic Blocks  (The Inter-Block Case)</vt:lpstr>
      <vt:lpstr>Example (Constant Folding Problem)</vt:lpstr>
      <vt:lpstr>Solutions to Data-Flow Equations</vt:lpstr>
      <vt:lpstr>Outline</vt:lpstr>
      <vt:lpstr>Reaching Definitions</vt:lpstr>
      <vt:lpstr>Example</vt:lpstr>
      <vt:lpstr>Reaching Definitions</vt:lpstr>
      <vt:lpstr>Transfer Equations</vt:lpstr>
      <vt:lpstr>Transfer Equations</vt:lpstr>
      <vt:lpstr>Transfer Equations</vt:lpstr>
      <vt:lpstr>Example (1)</vt:lpstr>
      <vt:lpstr>Example (2)</vt:lpstr>
      <vt:lpstr>Control-Flow Equations</vt:lpstr>
      <vt:lpstr>Problem Formulation</vt:lpstr>
      <vt:lpstr>The Iterative Algorithm</vt:lpstr>
      <vt:lpstr>Algorithm Analysis</vt:lpstr>
      <vt:lpstr>Example</vt:lpstr>
      <vt:lpstr>Example</vt:lpstr>
      <vt:lpstr>Example</vt:lpstr>
      <vt:lpstr>Example</vt:lpstr>
      <vt:lpstr>Outline</vt:lpstr>
      <vt:lpstr>Live-Variable Analysis</vt:lpstr>
      <vt:lpstr>PowerPoint 演示文稿</vt:lpstr>
      <vt:lpstr>Data-Flow Equations</vt:lpstr>
      <vt:lpstr>Data-Flow Equations</vt:lpstr>
      <vt:lpstr>Computing 𝒖𝒔𝒆𝑩 and 𝒅𝒆𝒇𝑩</vt:lpstr>
      <vt:lpstr>Problem Formulation</vt:lpstr>
      <vt:lpstr>The Iterative Algorithm</vt:lpstr>
      <vt:lpstr>Example</vt:lpstr>
      <vt:lpstr>Example</vt:lpstr>
      <vt:lpstr>Outline</vt:lpstr>
      <vt:lpstr>Available Expressions</vt:lpstr>
      <vt:lpstr>Killing / Genearting Expressions</vt:lpstr>
      <vt:lpstr>The Primary Use of Available Expressions</vt:lpstr>
      <vt:lpstr>Computing Genereated Expressions</vt:lpstr>
      <vt:lpstr>Computing Killed Expressions</vt:lpstr>
      <vt:lpstr>Example</vt:lpstr>
      <vt:lpstr>Data-Flow Equations</vt:lpstr>
      <vt:lpstr>The Iterative Algorithm</vt:lpstr>
      <vt:lpstr>Summary of The Problems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Machine-  Independent Optimizations</dc:title>
  <dc:creator/>
  <cp:lastModifiedBy>枫 项</cp:lastModifiedBy>
  <cp:revision>42</cp:revision>
  <dcterms:created xsi:type="dcterms:W3CDTF">2023-12-17T03:58:00Z</dcterms:created>
  <dcterms:modified xsi:type="dcterms:W3CDTF">2024-12-20T04:03:50Z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2020-12-21T16:00:00Z</vt:filetime>
  </property>
  <property fmtid="{D5CDD505-2E9C-101B-9397-08002B2CF9AE}" pid="3" name="LastSaved">
    <vt:filetime>2023-12-17T16:00:00Z</vt:filetime>
  </property>
  <property fmtid="{D5CDD505-2E9C-101B-9397-08002B2CF9AE}" pid="4" name="ICV">
    <vt:lpwstr>6181D7C095424F01956829A5B65BF8F3_13</vt:lpwstr>
  </property>
  <property fmtid="{D5CDD505-2E9C-101B-9397-08002B2CF9AE}" pid="5" name="KSOProductBuildVer">
    <vt:lpwstr>2052-12.1.0.16120</vt:lpwstr>
  </property>
</Properties>
</file>