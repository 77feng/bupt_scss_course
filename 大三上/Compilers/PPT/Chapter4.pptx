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8"/>
  </p:notesMasterIdLst>
  <p:handoutMasterIdLst>
    <p:handoutMasterId r:id="rId69"/>
  </p:handoutMasterIdLst>
  <p:sldIdLst>
    <p:sldId id="256" r:id="rId2"/>
    <p:sldId id="258" r:id="rId3"/>
    <p:sldId id="261" r:id="rId4"/>
    <p:sldId id="262" r:id="rId5"/>
    <p:sldId id="263" r:id="rId6"/>
    <p:sldId id="264" r:id="rId7"/>
    <p:sldId id="265" r:id="rId8"/>
    <p:sldId id="378" r:id="rId9"/>
    <p:sldId id="269" r:id="rId10"/>
    <p:sldId id="358" r:id="rId11"/>
    <p:sldId id="359" r:id="rId12"/>
    <p:sldId id="360" r:id="rId13"/>
    <p:sldId id="379" r:id="rId14"/>
    <p:sldId id="361" r:id="rId15"/>
    <p:sldId id="270" r:id="rId16"/>
    <p:sldId id="276" r:id="rId17"/>
    <p:sldId id="380" r:id="rId18"/>
    <p:sldId id="277" r:id="rId19"/>
    <p:sldId id="278" r:id="rId20"/>
    <p:sldId id="279" r:id="rId21"/>
    <p:sldId id="280" r:id="rId22"/>
    <p:sldId id="281" r:id="rId23"/>
    <p:sldId id="283" r:id="rId24"/>
    <p:sldId id="284" r:id="rId25"/>
    <p:sldId id="362" r:id="rId26"/>
    <p:sldId id="836" r:id="rId27"/>
    <p:sldId id="845" r:id="rId28"/>
    <p:sldId id="846" r:id="rId29"/>
    <p:sldId id="847" r:id="rId30"/>
    <p:sldId id="848" r:id="rId31"/>
    <p:sldId id="849" r:id="rId32"/>
    <p:sldId id="850" r:id="rId33"/>
    <p:sldId id="363" r:id="rId34"/>
    <p:sldId id="381" r:id="rId35"/>
    <p:sldId id="364" r:id="rId36"/>
    <p:sldId id="285" r:id="rId37"/>
    <p:sldId id="365" r:id="rId38"/>
    <p:sldId id="366" r:id="rId39"/>
    <p:sldId id="382" r:id="rId40"/>
    <p:sldId id="286" r:id="rId41"/>
    <p:sldId id="367" r:id="rId42"/>
    <p:sldId id="287" r:id="rId43"/>
    <p:sldId id="373" r:id="rId44"/>
    <p:sldId id="288" r:id="rId45"/>
    <p:sldId id="370" r:id="rId46"/>
    <p:sldId id="289" r:id="rId47"/>
    <p:sldId id="290" r:id="rId48"/>
    <p:sldId id="291" r:id="rId49"/>
    <p:sldId id="377" r:id="rId50"/>
    <p:sldId id="293" r:id="rId51"/>
    <p:sldId id="295" r:id="rId52"/>
    <p:sldId id="296" r:id="rId53"/>
    <p:sldId id="297" r:id="rId54"/>
    <p:sldId id="383" r:id="rId55"/>
    <p:sldId id="298" r:id="rId56"/>
    <p:sldId id="384" r:id="rId57"/>
    <p:sldId id="299" r:id="rId58"/>
    <p:sldId id="374" r:id="rId59"/>
    <p:sldId id="301" r:id="rId60"/>
    <p:sldId id="302" r:id="rId61"/>
    <p:sldId id="375" r:id="rId62"/>
    <p:sldId id="303" r:id="rId63"/>
    <p:sldId id="385" r:id="rId64"/>
    <p:sldId id="386" r:id="rId65"/>
    <p:sldId id="387" r:id="rId66"/>
    <p:sldId id="388" r:id="rId67"/>
  </p:sldIdLst>
  <p:sldSz cx="9144000" cy="6858000" type="screen4x3"/>
  <p:notesSz cx="12192000" cy="6858000"/>
  <p:custDataLst>
    <p:tags r:id="rId70"/>
  </p:custDataLst>
  <p:defaultText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5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331FF"/>
    <a:srgbClr val="6596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86893" autoAdjust="0"/>
  </p:normalViewPr>
  <p:slideViewPr>
    <p:cSldViewPr showGuides="1">
      <p:cViewPr varScale="1">
        <p:scale>
          <a:sx n="91" d="100"/>
          <a:sy n="91" d="100"/>
        </p:scale>
        <p:origin x="402" y="48"/>
      </p:cViewPr>
      <p:guideLst>
        <p:guide orient="horz" pos="2160"/>
        <p:guide pos="2154"/>
      </p:guideLst>
    </p:cSldViewPr>
  </p:slideViewPr>
  <p:notesTextViewPr>
    <p:cViewPr>
      <p:scale>
        <a:sx n="100" d="100"/>
        <a:sy n="100" d="100"/>
      </p:scale>
      <p:origin x="0" y="0"/>
    </p:cViewPr>
  </p:notesTextViewPr>
  <p:notesViewPr>
    <p:cSldViewPr>
      <p:cViewPr varScale="1">
        <p:scale>
          <a:sx n="92" d="100"/>
          <a:sy n="92" d="100"/>
        </p:scale>
        <p:origin x="802" y="5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430F3B05-671E-417C-81B9-556223EEF60B}" type="datetimeFigureOut">
              <a:rPr lang="zh-CN" altLang="en-US" smtClean="0"/>
              <a:t>2024/11/8</a:t>
            </a:fld>
            <a:endParaRPr lang="zh-CN" altLang="en-US"/>
          </a:p>
        </p:txBody>
      </p:sp>
      <p:sp>
        <p:nvSpPr>
          <p:cNvPr id="4" name="页脚占位符 3"/>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A25B9FEF-B883-48E1-9271-4D6D018D037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2024/11/8</a:t>
            </a:fld>
            <a:endParaRPr lang="zh-CN" altLang="en-US"/>
          </a:p>
        </p:txBody>
      </p:sp>
      <p:sp>
        <p:nvSpPr>
          <p:cNvPr id="4" name="幻灯片图像占位符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baidu.com/link?url=FOG5jU6MMvrWnZwr8d5GyMaLSwGwxwbIivoHDL_I4PwNoWdD4KSfxsaT6jNY-ky44OAGdgzGASVISD_HcoUcs1CDO-ZzJfORoe3dY_BH-LSHIr0zSVRGRNHGgdQYqc4bLdC6l5w13UX9MAH6xPVJyq"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sym typeface="+mn-ea"/>
              </a:rPr>
              <a:t>•</a:t>
            </a:r>
            <a:r>
              <a:rPr lang="en-US" altLang="zh-CN" dirty="0">
                <a:sym typeface="+mn-ea"/>
              </a:rPr>
              <a:t> </a:t>
            </a:r>
            <a:r>
              <a:rPr lang="zh-CN" altLang="en-US" dirty="0"/>
              <a:t>读取源程序的输入字符，将其归类为词素，并生成词素序列</a:t>
            </a:r>
          </a:p>
          <a:p>
            <a:r>
              <a:rPr lang="zh-CN" altLang="en-US" dirty="0"/>
              <a:t>• 必要时将词目添加到符号表中</a:t>
            </a:r>
          </a:p>
          <a:p>
            <a:r>
              <a:rPr lang="zh-CN" altLang="en-US" dirty="0"/>
              <a:t>• 删除注释和空白（空格、换行符、制表符等）</a:t>
            </a:r>
          </a:p>
          <a:p>
            <a:r>
              <a:rPr lang="zh-CN" altLang="en-US" dirty="0"/>
              <a:t>• 将错误信息与行号关联起来（跟踪换行符）</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语法制导定义（</a:t>
            </a:r>
            <a:r>
              <a:rPr lang="en-US" altLang="zh-CN" dirty="0"/>
              <a:t>SDD</a:t>
            </a:r>
            <a:r>
              <a:rPr lang="zh-CN" altLang="en-US" dirty="0"/>
              <a:t>）是一种无上下文语法，同时包含属性和规则。</a:t>
            </a:r>
            <a:endParaRPr lang="en-US" altLang="zh-CN" dirty="0"/>
          </a:p>
          <a:p>
            <a:pPr lvl="1"/>
            <a:r>
              <a:rPr lang="zh-CN" altLang="en-US" dirty="0"/>
              <a:t>一组属性（</a:t>
            </a:r>
            <a:r>
              <a:rPr lang="en-US" altLang="zh-CN" dirty="0"/>
              <a:t>attributes</a:t>
            </a:r>
            <a:r>
              <a:rPr lang="zh-CN" altLang="en-US" dirty="0"/>
              <a:t>）与每个语法符号相关联*。</a:t>
            </a:r>
            <a:endParaRPr lang="en-US" altLang="zh-CN" dirty="0"/>
          </a:p>
          <a:p>
            <a:pPr lvl="1"/>
            <a:r>
              <a:rPr lang="en-US" altLang="zh-CN" dirty="0"/>
              <a:t>	</a:t>
            </a:r>
            <a:r>
              <a:rPr lang="zh-CN" altLang="en-US" dirty="0"/>
              <a:t>可以是任何属性，例如表达式的数据类型，</a:t>
            </a:r>
            <a:r>
              <a:rPr lang="en-US" altLang="zh-CN" dirty="0"/>
              <a:t># </a:t>
            </a:r>
            <a:r>
              <a:rPr lang="zh-CN" altLang="en-US" dirty="0"/>
              <a:t>生成代码中的指令</a:t>
            </a:r>
            <a:endParaRPr lang="en-US" altLang="zh-CN" dirty="0"/>
          </a:p>
          <a:p>
            <a:pPr lvl="1"/>
            <a:r>
              <a:rPr lang="zh-CN" altLang="en-US" dirty="0"/>
              <a:t>语义规则（</a:t>
            </a:r>
            <a:r>
              <a:rPr lang="en-US" altLang="zh-CN" dirty="0"/>
              <a:t>semantic rule</a:t>
            </a:r>
            <a:r>
              <a:rPr lang="zh-CN" altLang="en-US" dirty="0"/>
              <a:t>）与语法生成相关联，描述如何计算属性</a:t>
            </a:r>
            <a:endParaRPr lang="en-US" altLang="zh-CN" dirty="0"/>
          </a:p>
          <a:p>
            <a:pPr lvl="1"/>
            <a:endParaRPr lang="en-US" altLang="zh-CN" dirty="0"/>
          </a:p>
          <a:p>
            <a:pPr lvl="1"/>
            <a:endParaRPr lang="en-US" altLang="zh-CN" dirty="0"/>
          </a:p>
          <a:p>
            <a:pPr lvl="1"/>
            <a:r>
              <a:rPr lang="zh-CN" altLang="en-US" dirty="0"/>
              <a:t>属性</a:t>
            </a:r>
            <a:r>
              <a:rPr lang="en-US" altLang="zh-CN" dirty="0"/>
              <a:t>code</a:t>
            </a:r>
            <a:r>
              <a:rPr lang="zh-CN" altLang="en-US" dirty="0"/>
              <a:t>表示结构体的后缀符号</a:t>
            </a:r>
            <a:endParaRPr lang="en-US" altLang="zh-CN" dirty="0"/>
          </a:p>
          <a:p>
            <a:pPr lvl="1"/>
            <a:r>
              <a:rPr lang="en-US" altLang="zh-CN" dirty="0"/>
              <a:t>|| </a:t>
            </a:r>
            <a:r>
              <a:rPr lang="zh-CN" altLang="en-US" dirty="0"/>
              <a:t>是字符串连接操作符</a:t>
            </a:r>
            <a:endParaRPr lang="en-US" altLang="zh-CN" dirty="0"/>
          </a:p>
          <a:p>
            <a:pPr lvl="1"/>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注释解析树</a:t>
            </a:r>
            <a:endParaRPr lang="en-US" altLang="zh-CN" dirty="0"/>
          </a:p>
          <a:p>
            <a:r>
              <a:rPr lang="zh-CN" altLang="en-US" dirty="0"/>
              <a:t>下位表达式 </a:t>
            </a:r>
            <a:r>
              <a:rPr lang="en-US" altLang="zh-CN" dirty="0"/>
              <a:t>9-5+2 </a:t>
            </a:r>
            <a:r>
              <a:rPr lang="zh-CN" altLang="en-US" dirty="0"/>
              <a:t>的注释解析树</a:t>
            </a:r>
            <a:endParaRPr lang="en-US" altLang="zh-CN" dirty="0"/>
          </a:p>
          <a:p>
            <a:r>
              <a:rPr lang="zh-CN" altLang="en-US" dirty="0"/>
              <a:t>属性 </a:t>
            </a:r>
            <a:r>
              <a:rPr lang="en-US" altLang="zh-CN" dirty="0"/>
              <a:t>t </a:t>
            </a:r>
            <a:r>
              <a:rPr lang="zh-CN" altLang="en-US" dirty="0"/>
              <a:t>代表后缀符号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en-US" dirty="0"/>
              <a:t>如果一个属性在解析树节点 </a:t>
            </a:r>
            <a:r>
              <a:rPr lang="en-US" altLang="zh-CN" dirty="0"/>
              <a:t>N </a:t>
            </a:r>
            <a:r>
              <a:rPr lang="zh-CN" altLang="en-US" dirty="0"/>
              <a:t>上的值仅由 </a:t>
            </a:r>
            <a:r>
              <a:rPr lang="en-US" altLang="zh-CN" dirty="0"/>
              <a:t>N </a:t>
            </a:r>
            <a:r>
              <a:rPr lang="zh-CN" altLang="en-US" dirty="0"/>
              <a:t>的子节点和 </a:t>
            </a:r>
            <a:r>
              <a:rPr lang="en-US" altLang="zh-CN" dirty="0"/>
              <a:t>N </a:t>
            </a:r>
            <a:r>
              <a:rPr lang="zh-CN" altLang="en-US" dirty="0"/>
              <a:t>本身的属性值决定，则称该属性为合成属性；</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74307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下面的 </a:t>
            </a:r>
            <a:r>
              <a:rPr lang="en-US" altLang="zh-CN" dirty="0"/>
              <a:t>SDD </a:t>
            </a:r>
            <a:r>
              <a:rPr lang="zh-CN" altLang="en-US" dirty="0"/>
              <a:t>可以帮助计算表达式的值</a:t>
            </a:r>
            <a:endParaRPr lang="en-US" altLang="zh-CN" dirty="0"/>
          </a:p>
          <a:p>
            <a:r>
              <a:rPr lang="en-US" altLang="zh-CN" dirty="0"/>
              <a:t>SDD </a:t>
            </a:r>
            <a:r>
              <a:rPr lang="zh-CN" altLang="en-US" dirty="0"/>
              <a:t>不指定解析树上属性的计算顺序</a:t>
            </a:r>
            <a:endParaRPr lang="en-US" altLang="zh-CN" dirty="0"/>
          </a:p>
          <a:p>
            <a:pPr lvl="1"/>
            <a:r>
              <a:rPr lang="zh-CN" altLang="en-US" dirty="0"/>
              <a:t>任何顺序，只要能在依赖的所有其他属性之后计算一个属性就可以了</a:t>
            </a:r>
            <a:endParaRPr lang="en-US" altLang="zh-CN" dirty="0"/>
          </a:p>
          <a:p>
            <a:pPr lvl="1"/>
            <a:r>
              <a:rPr lang="zh-CN" altLang="en-US" dirty="0"/>
              <a:t>合成属性有一个很好的特性，即它们可以在解析树的一次自下而上的遍历中进行评估（通常不需要显式创建解析树）。</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747517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继承属性在解析树节点上的值由该节点本身、其父节点和解析树中同级节点的属性值决定</a:t>
            </a:r>
            <a:endParaRPr lang="en-US" altLang="zh-CN" dirty="0"/>
          </a:p>
          <a:p>
            <a:endParaRPr lang="en-US" altLang="zh-CN" dirty="0"/>
          </a:p>
          <a:p>
            <a:r>
              <a:rPr lang="zh-CN" altLang="en-US" dirty="0"/>
              <a:t>回答：</a:t>
            </a:r>
            <a:r>
              <a:rPr lang="zh-CN" altLang="en-US" b="0" i="0" dirty="0">
                <a:solidFill>
                  <a:srgbClr val="374151"/>
                </a:solidFill>
                <a:effectLst/>
                <a:latin typeface="Söhne"/>
              </a:rPr>
              <a:t>继承属性在处理与上下文相关的问题时仍然是非常有用的。它为我们提供了一种在语法树中考虑外部信息的方法，从而使得我们可以更为精确和灵活地描述语法制导定义的属性</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对于某些语法，解析树的结构与代码的抽象语法不一致（</a:t>
            </a:r>
            <a:r>
              <a:rPr lang="en-US" altLang="zh-CN" dirty="0"/>
              <a:t>3 </a:t>
            </a:r>
            <a:r>
              <a:rPr lang="zh-CN" altLang="en-US" dirty="0"/>
              <a:t>和 * 位于不同的子树中）</a:t>
            </a:r>
            <a:endParaRPr lang="en-US" altLang="zh-CN" dirty="0"/>
          </a:p>
        </p:txBody>
      </p:sp>
    </p:spTree>
    <p:extLst>
      <p:ext uri="{BB962C8B-B14F-4D97-AF65-F5344CB8AC3E}">
        <p14:creationId xmlns:p14="http://schemas.microsoft.com/office/powerpoint/2010/main" val="3061603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运算符 ∗ 的左操作数由 </a:t>
            </a:r>
            <a:r>
              <a:rPr lang="en-US" altLang="zh-CN" dirty="0"/>
              <a:t>T' </a:t>
            </a:r>
            <a:r>
              <a:rPr lang="zh-CN" altLang="en-US" dirty="0"/>
              <a:t>继承，并在 </a:t>
            </a:r>
            <a:r>
              <a:rPr lang="en-US" altLang="zh-CN" dirty="0"/>
              <a:t>T' </a:t>
            </a:r>
            <a:r>
              <a:rPr lang="zh-CN" altLang="en-US" dirty="0"/>
              <a:t>进一步被替换时保留用于以后的计算。</a:t>
            </a:r>
          </a:p>
        </p:txBody>
      </p:sp>
    </p:spTree>
    <p:extLst>
      <p:ext uri="{BB962C8B-B14F-4D97-AF65-F5344CB8AC3E}">
        <p14:creationId xmlns:p14="http://schemas.microsoft.com/office/powerpoint/2010/main" val="1756951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先从具体的输入开始（这是语义计算的起点）结合分析树的结构来分析</a:t>
            </a:r>
            <a:endParaRPr lang="en-US" altLang="zh-CN" dirty="0"/>
          </a:p>
          <a:p>
            <a:r>
              <a:rPr lang="zh-CN" altLang="en-US" dirty="0"/>
              <a:t>根据</a:t>
            </a:r>
            <a:r>
              <a:rPr lang="en-US" altLang="zh-CN" dirty="0"/>
              <a:t>4</a:t>
            </a:r>
            <a:r>
              <a:rPr lang="zh-CN" altLang="en-US" dirty="0"/>
              <a:t>）产生式及其语义规则，得到</a:t>
            </a:r>
            <a:r>
              <a:rPr lang="en-US" altLang="zh-CN" dirty="0" err="1"/>
              <a:t>F.val</a:t>
            </a:r>
            <a:r>
              <a:rPr lang="zh-CN" altLang="en-US" dirty="0"/>
              <a:t>， </a:t>
            </a:r>
            <a:endParaRPr lang="en-US" altLang="zh-CN" dirty="0"/>
          </a:p>
          <a:p>
            <a:r>
              <a:rPr lang="zh-CN" altLang="en-US" dirty="0"/>
              <a:t>根据</a:t>
            </a:r>
            <a:r>
              <a:rPr lang="en-US" altLang="zh-CN" dirty="0"/>
              <a:t>2</a:t>
            </a:r>
            <a:r>
              <a:rPr lang="zh-CN" altLang="en-US" dirty="0"/>
              <a:t>）产生式及其语义规则，要想计算</a:t>
            </a:r>
            <a:r>
              <a:rPr lang="en-US" altLang="zh-CN" dirty="0"/>
              <a:t>T1 </a:t>
            </a:r>
            <a:r>
              <a:rPr lang="zh-CN" altLang="en-US" dirty="0"/>
              <a:t>‘</a:t>
            </a:r>
            <a:r>
              <a:rPr lang="en-US" altLang="zh-CN" dirty="0"/>
              <a:t>.</a:t>
            </a:r>
            <a:r>
              <a:rPr lang="en-US" altLang="zh-CN" dirty="0" err="1"/>
              <a:t>inh</a:t>
            </a:r>
            <a:r>
              <a:rPr lang="en-US" altLang="zh-CN" dirty="0"/>
              <a:t>=T </a:t>
            </a:r>
            <a:r>
              <a:rPr lang="zh-CN" altLang="en-US" dirty="0"/>
              <a:t>‘</a:t>
            </a:r>
            <a:r>
              <a:rPr lang="en-US" altLang="zh-CN" dirty="0"/>
              <a:t>.</a:t>
            </a:r>
            <a:r>
              <a:rPr lang="en-US" altLang="zh-CN" dirty="0" err="1"/>
              <a:t>inh</a:t>
            </a:r>
            <a:r>
              <a:rPr lang="zh-CN" altLang="en-US" dirty="0"/>
              <a:t>（未知）</a:t>
            </a:r>
            <a:r>
              <a:rPr lang="en-US" altLang="zh-CN" dirty="0"/>
              <a:t>X </a:t>
            </a:r>
            <a:r>
              <a:rPr lang="en-US" altLang="zh-CN" dirty="0" err="1"/>
              <a:t>F.val</a:t>
            </a:r>
            <a:r>
              <a:rPr lang="zh-CN" altLang="en-US" dirty="0"/>
              <a:t>（</a:t>
            </a:r>
            <a:r>
              <a:rPr lang="en-US" altLang="zh-CN" dirty="0"/>
              <a:t>5</a:t>
            </a:r>
            <a:r>
              <a:rPr lang="zh-CN" altLang="en-US" dirty="0"/>
              <a:t>）。要计算</a:t>
            </a:r>
            <a:r>
              <a:rPr lang="en-US" altLang="zh-CN" dirty="0"/>
              <a:t>T </a:t>
            </a:r>
            <a:r>
              <a:rPr lang="zh-CN" altLang="en-US" dirty="0"/>
              <a:t>‘</a:t>
            </a:r>
            <a:r>
              <a:rPr lang="en-US" altLang="zh-CN" dirty="0"/>
              <a:t>.syn=T1 </a:t>
            </a:r>
            <a:r>
              <a:rPr lang="zh-CN" altLang="en-US" dirty="0"/>
              <a:t>‘</a:t>
            </a:r>
            <a:r>
              <a:rPr lang="en-US" altLang="zh-CN" dirty="0"/>
              <a:t>syn</a:t>
            </a:r>
            <a:r>
              <a:rPr lang="zh-CN" altLang="en-US" dirty="0"/>
              <a:t>（未知）</a:t>
            </a:r>
            <a:endParaRPr lang="en-US" altLang="zh-CN" dirty="0"/>
          </a:p>
          <a:p>
            <a:r>
              <a:rPr lang="zh-CN" altLang="en-US" dirty="0"/>
              <a:t>根据</a:t>
            </a:r>
            <a:r>
              <a:rPr lang="en-US" altLang="zh-CN" dirty="0"/>
              <a:t>1</a:t>
            </a:r>
            <a:r>
              <a:rPr lang="zh-CN" altLang="en-US" dirty="0"/>
              <a:t>）产生式及其语义规则，</a:t>
            </a:r>
            <a:r>
              <a:rPr lang="en-US" altLang="zh-CN" dirty="0"/>
              <a:t>T </a:t>
            </a:r>
            <a:r>
              <a:rPr lang="zh-CN" altLang="en-US" dirty="0"/>
              <a:t>‘</a:t>
            </a:r>
            <a:r>
              <a:rPr lang="en-US" altLang="zh-CN" dirty="0"/>
              <a:t>.</a:t>
            </a:r>
            <a:r>
              <a:rPr lang="en-US" altLang="zh-CN" dirty="0" err="1"/>
              <a:t>inh</a:t>
            </a:r>
            <a:r>
              <a:rPr lang="en-US" altLang="zh-CN" dirty="0"/>
              <a:t>=</a:t>
            </a:r>
            <a:r>
              <a:rPr lang="en-US" altLang="zh-CN" dirty="0" err="1"/>
              <a:t>F.val</a:t>
            </a:r>
            <a:r>
              <a:rPr lang="zh-CN" altLang="en-US" dirty="0"/>
              <a:t>（已知）</a:t>
            </a:r>
            <a:r>
              <a:rPr lang="en-US" altLang="zh-CN" dirty="0"/>
              <a:t>=3</a:t>
            </a:r>
            <a:r>
              <a:rPr lang="zh-CN" altLang="en-US" dirty="0"/>
              <a:t>，</a:t>
            </a:r>
            <a:r>
              <a:rPr lang="en-US" altLang="zh-CN" dirty="0" err="1"/>
              <a:t>T.val</a:t>
            </a:r>
            <a:r>
              <a:rPr lang="en-US" altLang="zh-CN" dirty="0"/>
              <a:t>=T </a:t>
            </a:r>
            <a:r>
              <a:rPr lang="zh-CN" altLang="en-US" dirty="0"/>
              <a:t>‘</a:t>
            </a:r>
            <a:r>
              <a:rPr lang="en-US" altLang="zh-CN" dirty="0"/>
              <a:t>.syn</a:t>
            </a:r>
            <a:r>
              <a:rPr lang="zh-CN" altLang="en-US" dirty="0"/>
              <a:t>（未知）</a:t>
            </a:r>
            <a:endParaRPr lang="en-US" altLang="zh-CN" dirty="0"/>
          </a:p>
          <a:p>
            <a:r>
              <a:rPr lang="zh-CN" altLang="en-US" dirty="0"/>
              <a:t>返回</a:t>
            </a:r>
            <a:r>
              <a:rPr lang="en-US" altLang="zh-CN" dirty="0"/>
              <a:t>2</a:t>
            </a:r>
            <a:r>
              <a:rPr lang="zh-CN" altLang="en-US" dirty="0"/>
              <a:t>）产生式及其语义规则，计算</a:t>
            </a:r>
            <a:r>
              <a:rPr lang="en-US" altLang="zh-CN" dirty="0"/>
              <a:t>T1 </a:t>
            </a:r>
            <a:r>
              <a:rPr lang="zh-CN" altLang="en-US" dirty="0"/>
              <a:t>‘</a:t>
            </a:r>
            <a:r>
              <a:rPr lang="en-US" altLang="zh-CN" dirty="0"/>
              <a:t>.</a:t>
            </a:r>
            <a:r>
              <a:rPr lang="en-US" altLang="zh-CN" dirty="0" err="1"/>
              <a:t>inh</a:t>
            </a:r>
            <a:r>
              <a:rPr lang="en-US" altLang="zh-CN" dirty="0"/>
              <a:t>=T </a:t>
            </a:r>
            <a:r>
              <a:rPr lang="zh-CN" altLang="en-US" dirty="0"/>
              <a:t>‘</a:t>
            </a:r>
            <a:r>
              <a:rPr lang="en-US" altLang="zh-CN" dirty="0"/>
              <a:t>.</a:t>
            </a:r>
            <a:r>
              <a:rPr lang="en-US" altLang="zh-CN" dirty="0" err="1"/>
              <a:t>inh</a:t>
            </a:r>
            <a:r>
              <a:rPr lang="zh-CN" altLang="en-US" dirty="0"/>
              <a:t>（</a:t>
            </a:r>
            <a:r>
              <a:rPr lang="en-US" altLang="zh-CN" dirty="0"/>
              <a:t>3</a:t>
            </a:r>
            <a:r>
              <a:rPr lang="zh-CN" altLang="en-US" dirty="0"/>
              <a:t>）</a:t>
            </a:r>
            <a:r>
              <a:rPr lang="en-US" altLang="zh-CN" dirty="0"/>
              <a:t>X </a:t>
            </a:r>
            <a:r>
              <a:rPr lang="en-US" altLang="zh-CN" dirty="0" err="1"/>
              <a:t>F.val</a:t>
            </a:r>
            <a:r>
              <a:rPr lang="zh-CN" altLang="en-US" dirty="0"/>
              <a:t>（</a:t>
            </a:r>
            <a:r>
              <a:rPr lang="en-US" altLang="zh-CN" dirty="0"/>
              <a:t>5</a:t>
            </a:r>
            <a:r>
              <a:rPr lang="zh-CN" altLang="en-US" dirty="0"/>
              <a:t>）</a:t>
            </a:r>
            <a:r>
              <a:rPr lang="en-US" altLang="zh-CN" dirty="0"/>
              <a:t>=15</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根据</a:t>
            </a:r>
            <a:r>
              <a:rPr lang="en-US" altLang="zh-CN" dirty="0"/>
              <a:t>3</a:t>
            </a:r>
            <a:r>
              <a:rPr lang="zh-CN" altLang="en-US" dirty="0"/>
              <a:t>）产生式及其语义规则，计算</a:t>
            </a:r>
            <a:r>
              <a:rPr lang="en-US" altLang="zh-CN" dirty="0"/>
              <a:t>T1 </a:t>
            </a:r>
            <a:r>
              <a:rPr lang="zh-CN" altLang="en-US" dirty="0"/>
              <a:t>‘</a:t>
            </a:r>
            <a:r>
              <a:rPr lang="en-US" altLang="zh-CN" dirty="0"/>
              <a:t>.syn=T1</a:t>
            </a:r>
            <a:r>
              <a:rPr lang="zh-CN" altLang="en-US" dirty="0"/>
              <a:t>‘</a:t>
            </a:r>
            <a:r>
              <a:rPr lang="en-US" altLang="zh-CN" dirty="0"/>
              <a:t>.</a:t>
            </a:r>
            <a:r>
              <a:rPr lang="en-US" altLang="zh-CN" dirty="0" err="1"/>
              <a:t>inh</a:t>
            </a:r>
            <a:r>
              <a:rPr lang="en-US" altLang="zh-CN" dirty="0"/>
              <a:t>=15</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返回</a:t>
            </a:r>
            <a:r>
              <a:rPr lang="en-US" altLang="zh-CN" dirty="0"/>
              <a:t>2</a:t>
            </a:r>
            <a:r>
              <a:rPr lang="zh-CN" altLang="en-US" dirty="0"/>
              <a:t>）产生式及其语义规则，计算</a:t>
            </a:r>
            <a:r>
              <a:rPr lang="en-US" altLang="zh-CN" dirty="0"/>
              <a:t>T </a:t>
            </a:r>
            <a:r>
              <a:rPr lang="zh-CN" altLang="en-US" dirty="0"/>
              <a:t>‘</a:t>
            </a:r>
            <a:r>
              <a:rPr lang="en-US" altLang="zh-CN" dirty="0"/>
              <a:t>.syn=T1 </a:t>
            </a:r>
            <a:r>
              <a:rPr lang="zh-CN" altLang="en-US" dirty="0"/>
              <a:t>‘</a:t>
            </a:r>
            <a:r>
              <a:rPr lang="en-US" altLang="zh-CN" dirty="0"/>
              <a:t>syn</a:t>
            </a:r>
            <a:r>
              <a:rPr lang="zh-CN" altLang="en-US" dirty="0"/>
              <a:t>（</a:t>
            </a:r>
            <a:r>
              <a:rPr lang="en-US" altLang="zh-CN" dirty="0"/>
              <a:t>15</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返回</a:t>
            </a:r>
            <a:r>
              <a:rPr lang="en-US" altLang="zh-CN" dirty="0"/>
              <a:t>1</a:t>
            </a:r>
            <a:r>
              <a:rPr lang="zh-CN" altLang="en-US" dirty="0"/>
              <a:t>）产生式及其语义规则，计算</a:t>
            </a:r>
            <a:r>
              <a:rPr lang="en-US" altLang="zh-CN" dirty="0" err="1"/>
              <a:t>T.val</a:t>
            </a:r>
            <a:r>
              <a:rPr lang="en-US" altLang="zh-CN" dirty="0"/>
              <a:t>=T </a:t>
            </a:r>
            <a:r>
              <a:rPr lang="zh-CN" altLang="en-US" dirty="0"/>
              <a:t>‘</a:t>
            </a:r>
            <a:r>
              <a:rPr lang="en-US" altLang="zh-CN" dirty="0"/>
              <a:t>.syn</a:t>
            </a:r>
            <a:r>
              <a:rPr lang="zh-CN" altLang="en-US" dirty="0"/>
              <a:t>（</a:t>
            </a:r>
            <a:r>
              <a:rPr lang="en-US" altLang="zh-CN" dirty="0"/>
              <a:t>15</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en-US" altLang="zh-CN" dirty="0"/>
          </a:p>
          <a:p>
            <a:endParaRPr lang="zh-CN" altLang="en-US" dirty="0"/>
          </a:p>
        </p:txBody>
      </p:sp>
    </p:spTree>
    <p:extLst>
      <p:ext uri="{BB962C8B-B14F-4D97-AF65-F5344CB8AC3E}">
        <p14:creationId xmlns:p14="http://schemas.microsoft.com/office/powerpoint/2010/main" val="487386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3200893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给定解析树节点 </a:t>
            </a:r>
            <a:r>
              <a:rPr lang="en-US" altLang="zh-CN" dirty="0"/>
              <a:t>N,M1,M2,M3,...,Mk</a:t>
            </a:r>
            <a:r>
              <a:rPr lang="zh-CN" altLang="en-US" dirty="0"/>
              <a:t>，如果 </a:t>
            </a:r>
            <a:r>
              <a:rPr lang="en-US" altLang="zh-CN" dirty="0"/>
              <a:t>N </a:t>
            </a:r>
            <a:r>
              <a:rPr lang="zh-CN" altLang="en-US" dirty="0"/>
              <a:t>的属性 </a:t>
            </a:r>
            <a:r>
              <a:rPr lang="en-US" altLang="zh-CN" dirty="0"/>
              <a:t>a </a:t>
            </a:r>
            <a:r>
              <a:rPr lang="zh-CN" altLang="en-US" dirty="0"/>
              <a:t>定义为 </a:t>
            </a:r>
            <a:r>
              <a:rPr lang="en-US" altLang="zh-CN" dirty="0" err="1"/>
              <a:t>N.a</a:t>
            </a:r>
            <a:r>
              <a:rPr lang="en-US" altLang="zh-CN" dirty="0"/>
              <a:t> = f(M1,a1,M2,a2,...,</a:t>
            </a:r>
            <a:r>
              <a:rPr lang="en-US" altLang="zh-CN" dirty="0" err="1"/>
              <a:t>Mk,ak</a:t>
            </a:r>
            <a:r>
              <a:rPr lang="en-US" altLang="zh-CN" dirty="0"/>
              <a:t>)</a:t>
            </a:r>
            <a:r>
              <a:rPr lang="zh-CN" altLang="en-US" dirty="0"/>
              <a:t>，那么为了计算 </a:t>
            </a:r>
            <a:r>
              <a:rPr lang="en-US" altLang="zh-CN" dirty="0" err="1"/>
              <a:t>N.a</a:t>
            </a:r>
            <a:r>
              <a:rPr lang="zh-CN" altLang="en-US" dirty="0"/>
              <a:t>，我们必须先计算 </a:t>
            </a:r>
            <a:r>
              <a:rPr lang="en-US" altLang="zh-CN" dirty="0"/>
              <a:t>M1</a:t>
            </a:r>
            <a:r>
              <a:rPr lang="zh-CN" altLang="en-US" dirty="0"/>
              <a:t>。</a:t>
            </a:r>
            <a:endParaRPr lang="en-US" altLang="zh-CN" dirty="0"/>
          </a:p>
          <a:p>
            <a:r>
              <a:rPr lang="zh-CN" altLang="en-US" dirty="0"/>
              <a:t>依赖图 </a:t>
            </a:r>
            <a:r>
              <a:rPr lang="en-US" altLang="zh-CN" dirty="0"/>
              <a:t>(</a:t>
            </a:r>
            <a:r>
              <a:rPr lang="zh-CN" altLang="en-US" dirty="0"/>
              <a:t>依赖图</a:t>
            </a:r>
            <a:r>
              <a:rPr lang="en-US" altLang="zh-CN" dirty="0"/>
              <a:t>) </a:t>
            </a:r>
            <a:r>
              <a:rPr lang="zh-CN" altLang="en-US" dirty="0"/>
              <a:t>是确定评估顺序的有用工具 </a:t>
            </a:r>
            <a:endParaRPr lang="en-US" altLang="zh-CN" dirty="0"/>
          </a:p>
          <a:p>
            <a:r>
              <a:rPr lang="zh-CN" altLang="en-US" dirty="0"/>
              <a:t>描述特定解析树中属性实例之间的信息流 </a:t>
            </a:r>
            <a:endParaRPr lang="en-US" altLang="zh-CN" dirty="0"/>
          </a:p>
          <a:p>
            <a:r>
              <a:rPr lang="zh-CN" altLang="en-US" dirty="0"/>
              <a:t>为属性实例之间的部分顺序建模</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从一个属性实例（</a:t>
            </a:r>
            <a:r>
              <a:rPr lang="en-US" altLang="zh-CN" dirty="0"/>
              <a:t>a1</a:t>
            </a:r>
            <a:r>
              <a:rPr lang="zh-CN" altLang="en-US" dirty="0"/>
              <a:t>）到另一个属性实例（</a:t>
            </a:r>
            <a:r>
              <a:rPr lang="en-US" altLang="zh-CN" dirty="0"/>
              <a:t>a2</a:t>
            </a:r>
            <a:r>
              <a:rPr lang="zh-CN" altLang="en-US" dirty="0"/>
              <a:t>）的边表示计算 </a:t>
            </a:r>
            <a:r>
              <a:rPr lang="en-US" altLang="zh-CN" dirty="0"/>
              <a:t>a2 </a:t>
            </a:r>
            <a:r>
              <a:rPr lang="zh-CN" altLang="en-US" dirty="0"/>
              <a:t>的值需要 </a:t>
            </a:r>
            <a:r>
              <a:rPr lang="en-US" altLang="zh-CN" dirty="0"/>
              <a:t>a1 </a:t>
            </a:r>
            <a:r>
              <a:rPr lang="zh-CN" altLang="en-US" dirty="0"/>
              <a:t>的值。</a:t>
            </a:r>
            <a:endParaRPr lang="en-US" altLang="zh-CN" dirty="0"/>
          </a:p>
          <a:p>
            <a:r>
              <a:rPr lang="zh-CN" altLang="en-US" dirty="0"/>
              <a:t>如果依赖关系图中存在循环，我们就无法找到计算所有属性实例值的顺序ε</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属性值可根据图的任意拓扑排序 </a:t>
            </a:r>
            <a:r>
              <a:rPr lang="en-US" altLang="zh-CN" dirty="0"/>
              <a:t>(</a:t>
            </a:r>
            <a:r>
              <a:rPr lang="zh-CN" altLang="en-US" dirty="0"/>
              <a:t>拓扑排序</a:t>
            </a:r>
            <a:r>
              <a:rPr lang="en-US" altLang="zh-CN" dirty="0"/>
              <a:t>) </a:t>
            </a:r>
            <a:r>
              <a:rPr lang="zh-CN" altLang="en-US" dirty="0"/>
              <a:t>计算，例如下例中的 </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a:t>
            </a:r>
            <a:r>
              <a:rPr lang="zh-CN" altLang="en-US" dirty="0"/>
              <a:t>、</a:t>
            </a:r>
            <a:r>
              <a:rPr lang="en-US" altLang="zh-CN" dirty="0"/>
              <a:t>9</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如果一属性文法不存在属性之间的循环依赖关系，则称该文法为良定义的 </a:t>
            </a:r>
          </a:p>
          <a:p>
            <a:r>
              <a:rPr lang="zh-CN" altLang="en-US" dirty="0"/>
              <a:t>一个依赖图的任何拓扑排序都给出一个语法树中结点的语义规则计算的有效顺序</a:t>
            </a:r>
          </a:p>
          <a:p>
            <a:endParaRPr lang="en-US" altLang="zh-CN" dirty="0"/>
          </a:p>
          <a:p>
            <a:r>
              <a:rPr lang="zh-CN" altLang="en-US" dirty="0"/>
              <a:t>在给定 </a:t>
            </a:r>
            <a:r>
              <a:rPr lang="en-US" altLang="zh-CN" dirty="0"/>
              <a:t>SDD </a:t>
            </a:r>
            <a:r>
              <a:rPr lang="zh-CN" altLang="en-US" dirty="0"/>
              <a:t>的情况下，很难判断是否存在依赖图具有循环的解析树。</a:t>
            </a:r>
            <a:endParaRPr lang="en-US" altLang="zh-CN" dirty="0"/>
          </a:p>
          <a:p>
            <a:r>
              <a:rPr lang="zh-CN" altLang="en-US" dirty="0"/>
              <a:t>在实践中，可以使用保证求值顺序的 </a:t>
            </a:r>
            <a:r>
              <a:rPr lang="en-US" altLang="zh-CN" dirty="0"/>
              <a:t>SDD </a:t>
            </a:r>
            <a:r>
              <a:rPr lang="zh-CN" altLang="en-US" dirty="0"/>
              <a:t>类来实现翻译*。</a:t>
            </a:r>
            <a:r>
              <a:rPr lang="en-US" altLang="zh-CN" dirty="0"/>
              <a:t>(</a:t>
            </a:r>
            <a:r>
              <a:rPr lang="zh-CN" altLang="en-US" dirty="0"/>
              <a:t>这种 </a:t>
            </a:r>
            <a:r>
              <a:rPr lang="en-US" altLang="zh-CN" dirty="0"/>
              <a:t>SDD </a:t>
            </a:r>
            <a:r>
              <a:rPr lang="zh-CN" altLang="en-US" dirty="0"/>
              <a:t>的依赖图是有向无环图</a:t>
            </a:r>
            <a:r>
              <a:rPr lang="en-US" altLang="zh-CN" dirty="0"/>
              <a:t>)</a:t>
            </a:r>
          </a:p>
          <a:p>
            <a:r>
              <a:rPr lang="en-US" altLang="zh-CN" dirty="0"/>
              <a:t>S </a:t>
            </a:r>
            <a:r>
              <a:rPr lang="zh-CN" altLang="en-US" dirty="0"/>
              <a:t>属性 </a:t>
            </a:r>
            <a:r>
              <a:rPr lang="en-US" altLang="zh-CN" dirty="0"/>
              <a:t>SDD </a:t>
            </a:r>
          </a:p>
          <a:p>
            <a:r>
              <a:rPr lang="en-US" altLang="zh-CN" dirty="0"/>
              <a:t>L </a:t>
            </a:r>
            <a:r>
              <a:rPr lang="zh-CN" altLang="en-US" dirty="0"/>
              <a:t>属性 </a:t>
            </a:r>
            <a:r>
              <a:rPr lang="en-US" altLang="zh-CN" dirty="0"/>
              <a:t>SDD</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1" dirty="0">
                <a:hlinkClick r:id="rId3"/>
              </a:rPr>
              <a:t>有向无环图</a:t>
            </a:r>
            <a:r>
              <a:rPr lang="en-US" altLang="zh-CN" sz="1200" dirty="0">
                <a:solidFill>
                  <a:srgbClr val="A6A6A6"/>
                </a:solidFill>
                <a:effectLst/>
                <a:latin typeface="Palatino Linotype" panose="02040502050505030304" pitchFamily="18" charset="0"/>
              </a:rPr>
              <a:t> directed acyclic graphs</a:t>
            </a:r>
            <a:endParaRPr lang="zh-CN" altLang="en-US" b="1" dirty="0"/>
          </a:p>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en-US" altLang="zh-CN" dirty="0"/>
              <a:t>S </a:t>
            </a:r>
            <a:r>
              <a:rPr lang="zh-CN" altLang="en-US" dirty="0"/>
              <a:t>属性定义</a:t>
            </a:r>
            <a:endParaRPr lang="en-US" altLang="zh-CN" dirty="0"/>
          </a:p>
          <a:p>
            <a:r>
              <a:rPr lang="zh-CN" altLang="en-US" dirty="0"/>
              <a:t>如果每个属性都是合成的，那么</a:t>
            </a:r>
            <a:r>
              <a:rPr lang="zh-CN" altLang="en-US" b="0" i="0" dirty="0">
                <a:solidFill>
                  <a:srgbClr val="374151"/>
                </a:solidFill>
                <a:effectLst/>
                <a:latin typeface="Söhne"/>
              </a:rPr>
              <a:t>语法制导定义</a:t>
            </a:r>
            <a:r>
              <a:rPr lang="zh-CN" altLang="en-US" dirty="0"/>
              <a:t>就是 </a:t>
            </a:r>
            <a:r>
              <a:rPr lang="en-US" altLang="zh-CN" dirty="0"/>
              <a:t>S </a:t>
            </a:r>
            <a:r>
              <a:rPr lang="zh-CN" altLang="en-US" dirty="0"/>
              <a:t>属性的</a:t>
            </a:r>
            <a:endParaRPr lang="en-US" altLang="zh-CN" dirty="0"/>
          </a:p>
          <a:p>
            <a:endParaRPr lang="en-US" altLang="zh-CN" dirty="0"/>
          </a:p>
          <a:p>
            <a:r>
              <a:rPr lang="zh-CN" altLang="en-US" dirty="0"/>
              <a:t>直观地说，任何解析树的依赖关系图中都不可能存在循环，因为边总是从子节点到父节点，而不是相反。</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当 </a:t>
            </a:r>
            <a:r>
              <a:rPr lang="en-US" altLang="zh-CN" dirty="0"/>
              <a:t>SDD </a:t>
            </a:r>
            <a:r>
              <a:rPr lang="zh-CN" altLang="en-US" dirty="0"/>
              <a:t>具有 </a:t>
            </a:r>
            <a:r>
              <a:rPr lang="en-US" altLang="zh-CN" dirty="0"/>
              <a:t>S </a:t>
            </a:r>
            <a:r>
              <a:rPr lang="zh-CN" altLang="en-US" dirty="0"/>
              <a:t>属性时，我们可以按照解析树节点的任何自下而上的顺序评估其属性。</a:t>
            </a:r>
            <a:endParaRPr lang="en-US" altLang="zh-CN" dirty="0"/>
          </a:p>
          <a:p>
            <a:r>
              <a:rPr lang="zh-CN" altLang="en-US" dirty="0"/>
              <a:t>例如，解析树的后序遍历（</a:t>
            </a:r>
            <a:r>
              <a:rPr lang="en-US" altLang="zh-CN" dirty="0" err="1"/>
              <a:t>postorder</a:t>
            </a:r>
            <a:r>
              <a:rPr lang="en-US" altLang="zh-CN" dirty="0"/>
              <a:t> traversal</a:t>
            </a:r>
          </a:p>
          <a:p>
            <a:r>
              <a:rPr lang="en-US" altLang="zh-CN" dirty="0"/>
              <a:t>S </a:t>
            </a:r>
            <a:r>
              <a:rPr lang="zh-CN" altLang="en-US" dirty="0"/>
              <a:t>属性定义可以在自下而上的解析过程中轻松实现（相当于后序遍历）</a:t>
            </a:r>
            <a:endParaRPr lang="zh-CN" altLang="en-US" dirty="0">
              <a:latin typeface="Ubuntu Mono derivative Powerline" charset="0"/>
              <a:ea typeface="宋体" panose="02010600030101010101" pitchFamily="2" charset="-122"/>
              <a:cs typeface="Palatino Linotype" panose="02040502050505030304"/>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en-US" altLang="zh-CN" dirty="0"/>
              <a:t>L </a:t>
            </a:r>
            <a:r>
              <a:rPr lang="zh-CN" altLang="en-US" dirty="0"/>
              <a:t>属性定义</a:t>
            </a:r>
            <a:endParaRPr lang="en-US" altLang="zh-CN" dirty="0"/>
          </a:p>
          <a:p>
            <a:r>
              <a:rPr lang="zh-CN" altLang="en-US" dirty="0"/>
              <a:t>如果对于每个产品 </a:t>
            </a:r>
            <a:r>
              <a:rPr lang="en-US" altLang="zh-CN" dirty="0"/>
              <a:t>A → X1X2...</a:t>
            </a:r>
            <a:r>
              <a:rPr lang="en-US" altLang="zh-CN" dirty="0" err="1"/>
              <a:t>Xn</a:t>
            </a:r>
            <a:r>
              <a:rPr lang="zh-CN" altLang="en-US" dirty="0"/>
              <a:t>，对于每个 </a:t>
            </a:r>
            <a:r>
              <a:rPr lang="en-US" altLang="zh-CN" dirty="0"/>
              <a:t>J = 1 ... n</a:t>
            </a:r>
            <a:r>
              <a:rPr lang="zh-CN" altLang="en-US" dirty="0"/>
              <a:t>，</a:t>
            </a:r>
            <a:r>
              <a:rPr lang="en-US" altLang="zh-CN" dirty="0" err="1"/>
              <a:t>xj</a:t>
            </a:r>
            <a:r>
              <a:rPr lang="en-US" altLang="zh-CN" dirty="0"/>
              <a:t> </a:t>
            </a:r>
            <a:r>
              <a:rPr lang="zh-CN" altLang="en-US" dirty="0"/>
              <a:t>的每个继承属性仅取决于以下属性，则 </a:t>
            </a:r>
            <a:r>
              <a:rPr lang="en-US" altLang="zh-CN" dirty="0"/>
              <a:t>SDD </a:t>
            </a:r>
            <a:r>
              <a:rPr lang="zh-CN" altLang="en-US" dirty="0"/>
              <a:t>是 </a:t>
            </a:r>
            <a:r>
              <a:rPr lang="en-US" altLang="zh-CN" dirty="0"/>
              <a:t>L </a:t>
            </a:r>
            <a:r>
              <a:rPr lang="zh-CN" altLang="en-US" dirty="0"/>
              <a:t>属性 </a:t>
            </a:r>
            <a:r>
              <a:rPr lang="en-US" altLang="zh-CN" dirty="0"/>
              <a:t>SDD</a:t>
            </a:r>
            <a:r>
              <a:rPr lang="zh-CN" altLang="en-US" dirty="0"/>
              <a:t>：</a:t>
            </a:r>
            <a:endParaRPr lang="en-US" altLang="zh-CN" dirty="0"/>
          </a:p>
          <a:p>
            <a:endParaRPr lang="en-US" altLang="zh-CN" dirty="0"/>
          </a:p>
          <a:p>
            <a:r>
              <a:rPr lang="zh-CN" altLang="en-US" dirty="0"/>
              <a:t> </a:t>
            </a:r>
            <a:r>
              <a:rPr lang="en-US" altLang="zh-CN" dirty="0"/>
              <a:t>x1,...xj-1 </a:t>
            </a:r>
            <a:r>
              <a:rPr lang="zh-CN" altLang="en-US" dirty="0"/>
              <a:t>的属性（合成的或继承的），</a:t>
            </a:r>
            <a:endParaRPr lang="en-US" altLang="zh-CN" dirty="0"/>
          </a:p>
          <a:p>
            <a:r>
              <a:rPr lang="zh-CN" altLang="en-US" dirty="0"/>
              <a:t>或 </a:t>
            </a:r>
            <a:r>
              <a:rPr lang="en-US" altLang="zh-CN" dirty="0"/>
              <a:t>A </a:t>
            </a:r>
            <a:r>
              <a:rPr lang="zh-CN" altLang="en-US" dirty="0"/>
              <a:t>的继承属性</a:t>
            </a:r>
            <a:endParaRPr lang="en-US" altLang="zh-CN" dirty="0"/>
          </a:p>
          <a:p>
            <a:endParaRPr lang="en-US" altLang="zh-CN" dirty="0"/>
          </a:p>
          <a:p>
            <a:r>
              <a:rPr lang="zh-CN" altLang="en-US" dirty="0"/>
              <a:t>依赖关系图的边可以从左到右（对于解析树而言），但不能从右到左（因此称为 </a:t>
            </a:r>
            <a:r>
              <a:rPr lang="en-US" altLang="zh-CN" dirty="0"/>
              <a:t>"L-</a:t>
            </a:r>
            <a:r>
              <a:rPr lang="zh-CN" altLang="en-US" dirty="0"/>
              <a:t>属性</a:t>
            </a:r>
            <a:r>
              <a:rPr lang="en-US" altLang="zh-CN" dirty="0"/>
              <a:t>"</a:t>
            </a:r>
            <a:r>
              <a:rPr lang="zh-CN" altLang="en-US" dirty="0"/>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2136828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en-US" altLang="zh-CN" dirty="0"/>
              <a:t>- </a:t>
            </a:r>
            <a:r>
              <a:rPr lang="zh-CN" altLang="en-US" dirty="0"/>
              <a:t>左同胞的属性</a:t>
            </a:r>
            <a:endParaRPr lang="en-US" altLang="zh-CN" dirty="0"/>
          </a:p>
          <a:p>
            <a:endParaRPr lang="en-US" altLang="zh-CN" dirty="0"/>
          </a:p>
          <a:p>
            <a:r>
              <a:rPr lang="en-US" altLang="zh-CN" dirty="0"/>
              <a:t>- </a:t>
            </a:r>
            <a:r>
              <a:rPr lang="zh-CN" altLang="en-US" dirty="0"/>
              <a:t>父辈的继承属性 </a:t>
            </a:r>
            <a:r>
              <a:rPr lang="en-US" altLang="zh-CN" dirty="0"/>
              <a:t>- </a:t>
            </a:r>
            <a:r>
              <a:rPr lang="zh-CN" altLang="en-US" dirty="0"/>
              <a:t>左同胞的属性</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11257521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在计算节点的继承属性时，已计算了其左侧节点的属性</a:t>
            </a:r>
            <a:endParaRPr lang="en-US" altLang="zh-CN" dirty="0"/>
          </a:p>
          <a:p>
            <a:r>
              <a:rPr lang="zh-CN" altLang="en-US" dirty="0"/>
              <a:t>前序遍历计算继承属性</a:t>
            </a:r>
            <a:endParaRPr lang="en-US" altLang="zh-CN" dirty="0"/>
          </a:p>
          <a:p>
            <a:endParaRPr lang="en-US" altLang="zh-CN" dirty="0"/>
          </a:p>
          <a:p>
            <a:r>
              <a:rPr lang="zh-CN" altLang="en-US" dirty="0"/>
              <a:t>输入</a:t>
            </a:r>
            <a:r>
              <a:rPr lang="en-US" altLang="zh-CN" dirty="0"/>
              <a:t>:</a:t>
            </a:r>
            <a:r>
              <a:rPr lang="zh-CN" altLang="en-US" dirty="0"/>
              <a:t> 解析树 </a:t>
            </a:r>
            <a:r>
              <a:rPr lang="en-US" altLang="zh-CN" dirty="0"/>
              <a:t>T </a:t>
            </a:r>
            <a:r>
              <a:rPr lang="zh-CN" altLang="en-US" dirty="0"/>
              <a:t>中的节点 </a:t>
            </a:r>
            <a:r>
              <a:rPr lang="en-US" altLang="zh-CN" dirty="0"/>
              <a:t>n </a:t>
            </a:r>
          </a:p>
          <a:p>
            <a:r>
              <a:rPr lang="zh-CN" altLang="en-US" dirty="0"/>
              <a:t>输出</a:t>
            </a:r>
            <a:r>
              <a:rPr lang="en-US" altLang="zh-CN" dirty="0"/>
              <a:t>: </a:t>
            </a:r>
            <a:r>
              <a:rPr lang="zh-CN" altLang="en-US" dirty="0"/>
              <a:t>以 </a:t>
            </a:r>
            <a:r>
              <a:rPr lang="en-US" altLang="zh-CN" dirty="0"/>
              <a:t>n </a:t>
            </a:r>
            <a:r>
              <a:rPr lang="zh-CN" altLang="en-US" dirty="0"/>
              <a:t>为根的子树属性的评估顺序</a:t>
            </a:r>
            <a:endParaRPr lang="en-US" altLang="zh-CN" dirty="0"/>
          </a:p>
          <a:p>
            <a:endParaRPr lang="en-US" altLang="zh-CN" dirty="0"/>
          </a:p>
          <a:p>
            <a:r>
              <a:rPr lang="zh-CN" altLang="en-US" dirty="0"/>
              <a:t>程序 </a:t>
            </a:r>
            <a:r>
              <a:rPr lang="en-US" altLang="zh-CN" dirty="0" err="1"/>
              <a:t>depth_first</a:t>
            </a:r>
            <a:r>
              <a:rPr lang="en-US" altLang="zh-CN" dirty="0"/>
              <a:t>(n)*</a:t>
            </a:r>
          </a:p>
          <a:p>
            <a:r>
              <a:rPr lang="zh-CN" altLang="en-US" dirty="0"/>
              <a:t>开始</a:t>
            </a:r>
            <a:endParaRPr lang="en-US" altLang="zh-CN" dirty="0"/>
          </a:p>
          <a:p>
            <a:pPr lvl="1"/>
            <a:r>
              <a:rPr lang="zh-CN" altLang="en-US" dirty="0"/>
              <a:t>对于 </a:t>
            </a:r>
            <a:r>
              <a:rPr lang="en-US" altLang="zh-CN" dirty="0"/>
              <a:t>n </a:t>
            </a:r>
            <a:r>
              <a:rPr lang="zh-CN" altLang="en-US" dirty="0"/>
              <a:t>的每个子节点 </a:t>
            </a:r>
            <a:r>
              <a:rPr lang="en-US" altLang="zh-CN" dirty="0"/>
              <a:t>m</a:t>
            </a:r>
            <a:r>
              <a:rPr lang="zh-CN" altLang="en-US" dirty="0"/>
              <a:t>，从左到右依次执行 开始</a:t>
            </a:r>
            <a:endParaRPr lang="en-US" altLang="zh-CN" dirty="0"/>
          </a:p>
          <a:p>
            <a:pPr lvl="1"/>
            <a:r>
              <a:rPr lang="en-US" altLang="zh-CN" dirty="0"/>
              <a:t>	</a:t>
            </a:r>
            <a:r>
              <a:rPr lang="zh-CN" altLang="en-US" dirty="0"/>
              <a:t>评估 </a:t>
            </a:r>
            <a:r>
              <a:rPr lang="en-US" altLang="zh-CN" dirty="0"/>
              <a:t>m </a:t>
            </a:r>
            <a:r>
              <a:rPr lang="zh-CN" altLang="en-US" dirty="0"/>
              <a:t>的继承属性； </a:t>
            </a:r>
            <a:endParaRPr lang="en-US" altLang="zh-CN" dirty="0"/>
          </a:p>
          <a:p>
            <a:pPr lvl="1"/>
            <a:r>
              <a:rPr lang="en-US" altLang="zh-CN" dirty="0"/>
              <a:t>	</a:t>
            </a:r>
            <a:r>
              <a:rPr lang="en-US" altLang="zh-CN" dirty="0" err="1"/>
              <a:t>depth_first</a:t>
            </a:r>
            <a:r>
              <a:rPr lang="en-US" altLang="zh-CN" dirty="0"/>
              <a:t>(m); // </a:t>
            </a:r>
            <a:r>
              <a:rPr lang="zh-CN" altLang="en-US" dirty="0"/>
              <a:t>这里将评估 </a:t>
            </a:r>
            <a:r>
              <a:rPr lang="en-US" altLang="zh-CN" dirty="0"/>
              <a:t>m </a:t>
            </a:r>
            <a:r>
              <a:rPr lang="zh-CN" altLang="en-US" dirty="0"/>
              <a:t>的合成属性</a:t>
            </a:r>
            <a:endParaRPr lang="en-US" altLang="zh-CN" dirty="0"/>
          </a:p>
          <a:p>
            <a:pPr lvl="1"/>
            <a:r>
              <a:rPr lang="zh-CN" altLang="en-US" dirty="0"/>
              <a:t>结束 </a:t>
            </a:r>
            <a:endParaRPr lang="en-US" altLang="zh-CN" dirty="0"/>
          </a:p>
          <a:p>
            <a:pPr lvl="1"/>
            <a:r>
              <a:rPr lang="zh-CN" altLang="en-US" dirty="0"/>
              <a:t>评估 </a:t>
            </a:r>
            <a:r>
              <a:rPr lang="en-US" altLang="zh-CN" dirty="0"/>
              <a:t>n </a:t>
            </a:r>
            <a:r>
              <a:rPr lang="zh-CN" altLang="en-US" dirty="0"/>
              <a:t>的合成属性；</a:t>
            </a:r>
            <a:endParaRPr lang="en-US" altLang="zh-CN" dirty="0"/>
          </a:p>
          <a:p>
            <a:pPr lvl="1"/>
            <a:endParaRPr lang="en-US" altLang="zh-CN" dirty="0"/>
          </a:p>
          <a:p>
            <a:pPr lvl="1"/>
            <a:r>
              <a:rPr lang="zh-CN" altLang="en-US" dirty="0"/>
              <a:t>保证：在评估节点的继承属性时，已评估了其左侧节点的属性</a:t>
            </a:r>
            <a:endParaRPr lang="en-US" altLang="zh-CN" dirty="0"/>
          </a:p>
          <a:p>
            <a:r>
              <a:rPr lang="en-US" altLang="zh-CN" dirty="0"/>
              <a:t>end</a:t>
            </a:r>
          </a:p>
          <a:p>
            <a:endParaRPr lang="en-US" altLang="zh-CN" dirty="0"/>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保证：在计算节点的继承属性时，已计算出其父节点的继承属性</a:t>
            </a:r>
          </a:p>
        </p:txBody>
      </p:sp>
    </p:spTree>
    <p:extLst>
      <p:ext uri="{BB962C8B-B14F-4D97-AF65-F5344CB8AC3E}">
        <p14:creationId xmlns:p14="http://schemas.microsoft.com/office/powerpoint/2010/main" val="6751078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DCDACCF9-1316-47E5-8A7D-89D88E58D1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1A9273-0585-492D-A87D-E5855730FCC9}"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2947" name="Rectangle 2">
            <a:extLst>
              <a:ext uri="{FF2B5EF4-FFF2-40B4-BE49-F238E27FC236}">
                <a16:creationId xmlns:a16="http://schemas.microsoft.com/office/drawing/2014/main" id="{09698C49-B7CC-4933-B7BB-85BC2C5E573D}"/>
              </a:ext>
            </a:extLst>
          </p:cNvPr>
          <p:cNvSpPr>
            <a:spLocks noGrp="1" noRot="1" noChangeAspect="1" noChangeArrowheads="1" noTextEdit="1"/>
          </p:cNvSpPr>
          <p:nvPr>
            <p:ph type="sldImg"/>
          </p:nvPr>
        </p:nvSpPr>
        <p:spPr>
          <a:xfrm>
            <a:off x="9680575" y="642938"/>
            <a:ext cx="2314575" cy="1736725"/>
          </a:xfrm>
          <a:ln/>
        </p:spPr>
      </p:sp>
      <p:sp>
        <p:nvSpPr>
          <p:cNvPr id="91140" name="Rectangle 3">
            <a:extLst>
              <a:ext uri="{FF2B5EF4-FFF2-40B4-BE49-F238E27FC236}">
                <a16:creationId xmlns:a16="http://schemas.microsoft.com/office/drawing/2014/main" id="{335F9845-8DD8-46F2-870F-41FE78A25A15}"/>
              </a:ext>
            </a:extLst>
          </p:cNvPr>
          <p:cNvSpPr>
            <a:spLocks noGrp="1" noChangeArrowheads="1"/>
          </p:cNvSpPr>
          <p:nvPr>
            <p:ph type="body" idx="1"/>
          </p:nvPr>
        </p:nvSpPr>
        <p:spPr>
          <a:ln/>
        </p:spPr>
        <p:txBody>
          <a:bodyPr/>
          <a:lstStyle/>
          <a:p>
            <a:pPr marL="575057" lvl="1" indent="-272648">
              <a:lnSpc>
                <a:spcPts val="3000"/>
              </a:lnSpc>
              <a:buClr>
                <a:schemeClr val="tx1"/>
              </a:buClr>
              <a:buFont typeface="Wingdings" pitchFamily="2" charset="2"/>
              <a:buChar char="Ø"/>
              <a:defRPr/>
            </a:pPr>
            <a:r>
              <a:rPr lang="zh-CN" altLang="en-US" b="1" dirty="0">
                <a:cs typeface="Times New Roman" pitchFamily="18" charset="0"/>
              </a:rPr>
              <a:t>通用方法</a:t>
            </a:r>
            <a:endParaRPr lang="en-US" altLang="zh-CN" b="1" dirty="0">
              <a:cs typeface="Times New Roman" pitchFamily="18" charset="0"/>
            </a:endParaRPr>
          </a:p>
          <a:p>
            <a:pPr marL="854450" lvl="2" indent="-272648">
              <a:lnSpc>
                <a:spcPts val="3000"/>
              </a:lnSpc>
              <a:buClr>
                <a:schemeClr val="tx1"/>
              </a:buClr>
              <a:buFont typeface="Wingdings" pitchFamily="2" charset="2"/>
              <a:buChar char="Ø"/>
              <a:defRPr/>
            </a:pPr>
            <a:r>
              <a:rPr lang="zh-CN" altLang="en-US" sz="2201" b="1" dirty="0">
                <a:cs typeface="Times New Roman" pitchFamily="18" charset="0"/>
              </a:rPr>
              <a:t>首先建立一棵</a:t>
            </a:r>
            <a:r>
              <a:rPr lang="zh-CN" altLang="en-US" sz="2201" b="1" dirty="0">
                <a:solidFill>
                  <a:srgbClr val="0000FF"/>
                </a:solidFill>
                <a:cs typeface="Times New Roman" pitchFamily="18" charset="0"/>
              </a:rPr>
              <a:t>语法分析树</a:t>
            </a:r>
            <a:r>
              <a:rPr lang="zh-CN" altLang="en-US" sz="2201" b="1" dirty="0">
                <a:cs typeface="Times New Roman" pitchFamily="18" charset="0"/>
              </a:rPr>
              <a:t>，然后按照从左到右的</a:t>
            </a:r>
            <a:r>
              <a:rPr lang="zh-CN" altLang="en-US" sz="2201" b="1" dirty="0">
                <a:solidFill>
                  <a:srgbClr val="0000FF"/>
                </a:solidFill>
                <a:cs typeface="Times New Roman" pitchFamily="18" charset="0"/>
              </a:rPr>
              <a:t>深度优先</a:t>
            </a:r>
            <a:r>
              <a:rPr lang="zh-CN" altLang="en-US" sz="2201" b="1" dirty="0">
                <a:cs typeface="Times New Roman" pitchFamily="18" charset="0"/>
              </a:rPr>
              <a:t>顺序来执行这些</a:t>
            </a:r>
            <a:r>
              <a:rPr lang="zh-CN" altLang="en-US" sz="2201" b="1" dirty="0">
                <a:solidFill>
                  <a:srgbClr val="0000FF"/>
                </a:solidFill>
                <a:cs typeface="Times New Roman" pitchFamily="18" charset="0"/>
              </a:rPr>
              <a:t>动作</a:t>
            </a:r>
            <a:r>
              <a:rPr lang="zh-CN" altLang="en-US" sz="2201" b="1" dirty="0">
                <a:cs typeface="Times New Roman" pitchFamily="18" charset="0"/>
              </a:rPr>
              <a:t>，也就是说在一个</a:t>
            </a:r>
            <a:r>
              <a:rPr lang="zh-CN" altLang="en-US" sz="2201" b="1" dirty="0">
                <a:solidFill>
                  <a:srgbClr val="0000FF"/>
                </a:solidFill>
                <a:cs typeface="Times New Roman" pitchFamily="18" charset="0"/>
              </a:rPr>
              <a:t>前序遍历</a:t>
            </a:r>
            <a:r>
              <a:rPr lang="zh-CN" altLang="en-US" sz="2201" b="1" dirty="0">
                <a:cs typeface="Times New Roman" pitchFamily="18" charset="0"/>
              </a:rPr>
              <a:t>过程中执行</a:t>
            </a:r>
            <a:endParaRPr lang="en-US" altLang="zh-CN" sz="2201" b="1" dirty="0">
              <a:cs typeface="Times New Roman" pitchFamily="18" charset="0"/>
            </a:endParaRPr>
          </a:p>
          <a:p>
            <a:pPr eaLnBrk="1" hangingPunct="1">
              <a:defRPr/>
            </a:pPr>
            <a:endParaRPr lang="en-US" altLang="zh-CN" dirty="0"/>
          </a:p>
        </p:txBody>
      </p:sp>
    </p:spTree>
    <p:extLst>
      <p:ext uri="{BB962C8B-B14F-4D97-AF65-F5344CB8AC3E}">
        <p14:creationId xmlns:p14="http://schemas.microsoft.com/office/powerpoint/2010/main" val="1192716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DCDACCF9-1316-47E5-8A7D-89D88E58D1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1A9273-0585-492D-A87D-E5855730FCC9}"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2947" name="Rectangle 2">
            <a:extLst>
              <a:ext uri="{FF2B5EF4-FFF2-40B4-BE49-F238E27FC236}">
                <a16:creationId xmlns:a16="http://schemas.microsoft.com/office/drawing/2014/main" id="{09698C49-B7CC-4933-B7BB-85BC2C5E573D}"/>
              </a:ext>
            </a:extLst>
          </p:cNvPr>
          <p:cNvSpPr>
            <a:spLocks noGrp="1" noRot="1" noChangeAspect="1" noChangeArrowheads="1" noTextEdit="1"/>
          </p:cNvSpPr>
          <p:nvPr>
            <p:ph type="sldImg"/>
          </p:nvPr>
        </p:nvSpPr>
        <p:spPr>
          <a:xfrm>
            <a:off x="9680575" y="642938"/>
            <a:ext cx="2314575" cy="1736725"/>
          </a:xfrm>
          <a:ln/>
        </p:spPr>
      </p:sp>
      <p:sp>
        <p:nvSpPr>
          <p:cNvPr id="91140" name="Rectangle 3">
            <a:extLst>
              <a:ext uri="{FF2B5EF4-FFF2-40B4-BE49-F238E27FC236}">
                <a16:creationId xmlns:a16="http://schemas.microsoft.com/office/drawing/2014/main" id="{335F9845-8DD8-46F2-870F-41FE78A25A15}"/>
              </a:ext>
            </a:extLst>
          </p:cNvPr>
          <p:cNvSpPr>
            <a:spLocks noGrp="1" noChangeArrowheads="1"/>
          </p:cNvSpPr>
          <p:nvPr>
            <p:ph type="body" idx="1"/>
          </p:nvPr>
        </p:nvSpPr>
        <p:spPr>
          <a:ln/>
        </p:spPr>
        <p:txBody>
          <a:bodyPr/>
          <a:lstStyle/>
          <a:p>
            <a:pPr eaLnBrk="1" hangingPunct="1">
              <a:defRPr/>
            </a:pPr>
            <a:endParaRPr lang="en-US" altLang="zh-CN" dirty="0"/>
          </a:p>
        </p:txBody>
      </p:sp>
    </p:spTree>
    <p:extLst>
      <p:ext uri="{BB962C8B-B14F-4D97-AF65-F5344CB8AC3E}">
        <p14:creationId xmlns:p14="http://schemas.microsoft.com/office/powerpoint/2010/main" val="3634617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DCDACCF9-1316-47E5-8A7D-89D88E58D1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1A9273-0585-492D-A87D-E5855730FCC9}"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2947" name="Rectangle 2">
            <a:extLst>
              <a:ext uri="{FF2B5EF4-FFF2-40B4-BE49-F238E27FC236}">
                <a16:creationId xmlns:a16="http://schemas.microsoft.com/office/drawing/2014/main" id="{09698C49-B7CC-4933-B7BB-85BC2C5E573D}"/>
              </a:ext>
            </a:extLst>
          </p:cNvPr>
          <p:cNvSpPr>
            <a:spLocks noGrp="1" noRot="1" noChangeAspect="1" noChangeArrowheads="1" noTextEdit="1"/>
          </p:cNvSpPr>
          <p:nvPr>
            <p:ph type="sldImg"/>
          </p:nvPr>
        </p:nvSpPr>
        <p:spPr>
          <a:xfrm>
            <a:off x="9680575" y="642938"/>
            <a:ext cx="2314575" cy="1736725"/>
          </a:xfrm>
          <a:ln/>
        </p:spPr>
      </p:sp>
      <p:sp>
        <p:nvSpPr>
          <p:cNvPr id="91140" name="Rectangle 3">
            <a:extLst>
              <a:ext uri="{FF2B5EF4-FFF2-40B4-BE49-F238E27FC236}">
                <a16:creationId xmlns:a16="http://schemas.microsoft.com/office/drawing/2014/main" id="{335F9845-8DD8-46F2-870F-41FE78A25A15}"/>
              </a:ext>
            </a:extLst>
          </p:cNvPr>
          <p:cNvSpPr>
            <a:spLocks noGrp="1" noChangeArrowheads="1"/>
          </p:cNvSpPr>
          <p:nvPr>
            <p:ph type="body" idx="1"/>
          </p:nvPr>
        </p:nvSpPr>
        <p:spPr>
          <a:ln/>
        </p:spPr>
        <p:txBody>
          <a:bodyPr/>
          <a:lstStyle/>
          <a:p>
            <a:pPr eaLnBrk="1" hangingPunct="1">
              <a:defRPr/>
            </a:pPr>
            <a:endParaRPr lang="en-US" altLang="zh-CN" dirty="0"/>
          </a:p>
        </p:txBody>
      </p:sp>
    </p:spTree>
    <p:extLst>
      <p:ext uri="{BB962C8B-B14F-4D97-AF65-F5344CB8AC3E}">
        <p14:creationId xmlns:p14="http://schemas.microsoft.com/office/powerpoint/2010/main" val="41138602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DCDACCF9-1316-47E5-8A7D-89D88E58D1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1A9273-0585-492D-A87D-E5855730FCC9}"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2947" name="Rectangle 2">
            <a:extLst>
              <a:ext uri="{FF2B5EF4-FFF2-40B4-BE49-F238E27FC236}">
                <a16:creationId xmlns:a16="http://schemas.microsoft.com/office/drawing/2014/main" id="{09698C49-B7CC-4933-B7BB-85BC2C5E573D}"/>
              </a:ext>
            </a:extLst>
          </p:cNvPr>
          <p:cNvSpPr>
            <a:spLocks noGrp="1" noRot="1" noChangeAspect="1" noChangeArrowheads="1" noTextEdit="1"/>
          </p:cNvSpPr>
          <p:nvPr>
            <p:ph type="sldImg"/>
          </p:nvPr>
        </p:nvSpPr>
        <p:spPr>
          <a:xfrm>
            <a:off x="9680575" y="642938"/>
            <a:ext cx="2314575" cy="1736725"/>
          </a:xfrm>
          <a:ln/>
        </p:spPr>
      </p:sp>
      <p:sp>
        <p:nvSpPr>
          <p:cNvPr id="91140" name="Rectangle 3">
            <a:extLst>
              <a:ext uri="{FF2B5EF4-FFF2-40B4-BE49-F238E27FC236}">
                <a16:creationId xmlns:a16="http://schemas.microsoft.com/office/drawing/2014/main" id="{335F9845-8DD8-46F2-870F-41FE78A25A15}"/>
              </a:ext>
            </a:extLst>
          </p:cNvPr>
          <p:cNvSpPr>
            <a:spLocks noGrp="1" noChangeArrowheads="1"/>
          </p:cNvSpPr>
          <p:nvPr>
            <p:ph type="body" idx="1"/>
          </p:nvPr>
        </p:nvSpPr>
        <p:spPr>
          <a:ln/>
        </p:spPr>
        <p:txBody>
          <a:bodyPr/>
          <a:lstStyle/>
          <a:p>
            <a:pPr eaLnBrk="1" hangingPunct="1">
              <a:defRPr/>
            </a:pPr>
            <a:endParaRPr lang="en-US" altLang="zh-CN" dirty="0"/>
          </a:p>
        </p:txBody>
      </p:sp>
    </p:spTree>
    <p:extLst>
      <p:ext uri="{BB962C8B-B14F-4D97-AF65-F5344CB8AC3E}">
        <p14:creationId xmlns:p14="http://schemas.microsoft.com/office/powerpoint/2010/main" val="1401003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DCDACCF9-1316-47E5-8A7D-89D88E58D1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1A9273-0585-492D-A87D-E5855730FCC9}"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2947" name="Rectangle 2">
            <a:extLst>
              <a:ext uri="{FF2B5EF4-FFF2-40B4-BE49-F238E27FC236}">
                <a16:creationId xmlns:a16="http://schemas.microsoft.com/office/drawing/2014/main" id="{09698C49-B7CC-4933-B7BB-85BC2C5E573D}"/>
              </a:ext>
            </a:extLst>
          </p:cNvPr>
          <p:cNvSpPr>
            <a:spLocks noGrp="1" noRot="1" noChangeAspect="1" noChangeArrowheads="1" noTextEdit="1"/>
          </p:cNvSpPr>
          <p:nvPr>
            <p:ph type="sldImg"/>
          </p:nvPr>
        </p:nvSpPr>
        <p:spPr>
          <a:xfrm>
            <a:off x="9680575" y="642938"/>
            <a:ext cx="2314575" cy="1736725"/>
          </a:xfrm>
          <a:ln/>
        </p:spPr>
      </p:sp>
      <p:sp>
        <p:nvSpPr>
          <p:cNvPr id="91140" name="Rectangle 3">
            <a:extLst>
              <a:ext uri="{FF2B5EF4-FFF2-40B4-BE49-F238E27FC236}">
                <a16:creationId xmlns:a16="http://schemas.microsoft.com/office/drawing/2014/main" id="{335F9845-8DD8-46F2-870F-41FE78A25A15}"/>
              </a:ext>
            </a:extLst>
          </p:cNvPr>
          <p:cNvSpPr>
            <a:spLocks noGrp="1" noChangeArrowheads="1"/>
          </p:cNvSpPr>
          <p:nvPr>
            <p:ph type="body" idx="1"/>
          </p:nvPr>
        </p:nvSpPr>
        <p:spPr>
          <a:ln/>
        </p:spPr>
        <p:txBody>
          <a:bodyPr/>
          <a:lstStyle/>
          <a:p>
            <a:pPr eaLnBrk="1" hangingPunct="1">
              <a:defRPr/>
            </a:pPr>
            <a:endParaRPr lang="en-US" altLang="zh-CN" dirty="0"/>
          </a:p>
        </p:txBody>
      </p:sp>
    </p:spTree>
    <p:extLst>
      <p:ext uri="{BB962C8B-B14F-4D97-AF65-F5344CB8AC3E}">
        <p14:creationId xmlns:p14="http://schemas.microsoft.com/office/powerpoint/2010/main" val="38883815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DCDACCF9-1316-47E5-8A7D-89D88E58D1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1A9273-0585-492D-A87D-E5855730FCC9}"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2947" name="Rectangle 2">
            <a:extLst>
              <a:ext uri="{FF2B5EF4-FFF2-40B4-BE49-F238E27FC236}">
                <a16:creationId xmlns:a16="http://schemas.microsoft.com/office/drawing/2014/main" id="{09698C49-B7CC-4933-B7BB-85BC2C5E573D}"/>
              </a:ext>
            </a:extLst>
          </p:cNvPr>
          <p:cNvSpPr>
            <a:spLocks noGrp="1" noRot="1" noChangeAspect="1" noChangeArrowheads="1" noTextEdit="1"/>
          </p:cNvSpPr>
          <p:nvPr>
            <p:ph type="sldImg"/>
          </p:nvPr>
        </p:nvSpPr>
        <p:spPr>
          <a:xfrm>
            <a:off x="9680575" y="642938"/>
            <a:ext cx="2314575" cy="1736725"/>
          </a:xfrm>
          <a:ln/>
        </p:spPr>
      </p:sp>
      <p:sp>
        <p:nvSpPr>
          <p:cNvPr id="91140" name="Rectangle 3">
            <a:extLst>
              <a:ext uri="{FF2B5EF4-FFF2-40B4-BE49-F238E27FC236}">
                <a16:creationId xmlns:a16="http://schemas.microsoft.com/office/drawing/2014/main" id="{335F9845-8DD8-46F2-870F-41FE78A25A15}"/>
              </a:ext>
            </a:extLst>
          </p:cNvPr>
          <p:cNvSpPr>
            <a:spLocks noGrp="1" noChangeArrowheads="1"/>
          </p:cNvSpPr>
          <p:nvPr>
            <p:ph type="body" idx="1"/>
          </p:nvPr>
        </p:nvSpPr>
        <p:spPr>
          <a:ln/>
        </p:spPr>
        <p:txBody>
          <a:bodyPr/>
          <a:lstStyle/>
          <a:p>
            <a:pPr eaLnBrk="1" hangingPunct="1">
              <a:defRPr/>
            </a:pPr>
            <a:endParaRPr lang="en-US" altLang="zh-CN" dirty="0"/>
          </a:p>
        </p:txBody>
      </p:sp>
    </p:spTree>
    <p:extLst>
      <p:ext uri="{BB962C8B-B14F-4D97-AF65-F5344CB8AC3E}">
        <p14:creationId xmlns:p14="http://schemas.microsoft.com/office/powerpoint/2010/main" val="11411707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DCDACCF9-1316-47E5-8A7D-89D88E58D1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ea typeface="宋体" panose="02010600030101010101" pitchFamily="2" charset="-122"/>
              </a:defRPr>
            </a:lvl1pPr>
            <a:lvl2pPr marL="741363" indent="-284163">
              <a:defRPr b="1">
                <a:solidFill>
                  <a:schemeClr val="tx1"/>
                </a:solidFill>
                <a:latin typeface="Tahoma" panose="020B0604030504040204" pitchFamily="34" charset="0"/>
                <a:ea typeface="宋体" panose="02010600030101010101" pitchFamily="2" charset="-122"/>
              </a:defRPr>
            </a:lvl2pPr>
            <a:lvl3pPr marL="1141413" indent="-227013">
              <a:defRPr b="1">
                <a:solidFill>
                  <a:schemeClr val="tx1"/>
                </a:solidFill>
                <a:latin typeface="Tahoma" panose="020B0604030504040204" pitchFamily="34" charset="0"/>
                <a:ea typeface="宋体" panose="02010600030101010101" pitchFamily="2" charset="-122"/>
              </a:defRPr>
            </a:lvl3pPr>
            <a:lvl4pPr marL="1597025" indent="-227013">
              <a:defRPr b="1">
                <a:solidFill>
                  <a:schemeClr val="tx1"/>
                </a:solidFill>
                <a:latin typeface="Tahoma" panose="020B0604030504040204" pitchFamily="34" charset="0"/>
                <a:ea typeface="宋体" panose="02010600030101010101" pitchFamily="2" charset="-122"/>
              </a:defRPr>
            </a:lvl4pPr>
            <a:lvl5pPr marL="2055813" indent="-227013">
              <a:defRPr b="1">
                <a:solidFill>
                  <a:schemeClr val="tx1"/>
                </a:solidFill>
                <a:latin typeface="Tahoma" panose="020B0604030504040204" pitchFamily="34" charset="0"/>
                <a:ea typeface="宋体" panose="02010600030101010101" pitchFamily="2" charset="-122"/>
              </a:defRPr>
            </a:lvl5pPr>
            <a:lvl6pPr marL="25130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02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74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4613" indent="-227013"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31A9273-0585-492D-A87D-E5855730FCC9}"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2947" name="Rectangle 2">
            <a:extLst>
              <a:ext uri="{FF2B5EF4-FFF2-40B4-BE49-F238E27FC236}">
                <a16:creationId xmlns:a16="http://schemas.microsoft.com/office/drawing/2014/main" id="{09698C49-B7CC-4933-B7BB-85BC2C5E573D}"/>
              </a:ext>
            </a:extLst>
          </p:cNvPr>
          <p:cNvSpPr>
            <a:spLocks noGrp="1" noRot="1" noChangeAspect="1" noChangeArrowheads="1" noTextEdit="1"/>
          </p:cNvSpPr>
          <p:nvPr>
            <p:ph type="sldImg"/>
          </p:nvPr>
        </p:nvSpPr>
        <p:spPr>
          <a:xfrm>
            <a:off x="9680575" y="642938"/>
            <a:ext cx="2314575" cy="1736725"/>
          </a:xfrm>
          <a:ln/>
        </p:spPr>
      </p:sp>
      <p:sp>
        <p:nvSpPr>
          <p:cNvPr id="91140" name="Rectangle 3">
            <a:extLst>
              <a:ext uri="{FF2B5EF4-FFF2-40B4-BE49-F238E27FC236}">
                <a16:creationId xmlns:a16="http://schemas.microsoft.com/office/drawing/2014/main" id="{335F9845-8DD8-46F2-870F-41FE78A25A15}"/>
              </a:ext>
            </a:extLst>
          </p:cNvPr>
          <p:cNvSpPr>
            <a:spLocks noGrp="1" noChangeArrowheads="1"/>
          </p:cNvSpPr>
          <p:nvPr>
            <p:ph type="body" idx="1"/>
          </p:nvPr>
        </p:nvSpPr>
        <p:spPr>
          <a:ln/>
        </p:spPr>
        <p:txBody>
          <a:bodyPr/>
          <a:lstStyle/>
          <a:p>
            <a:pPr eaLnBrk="1" hangingPunct="1">
              <a:defRPr/>
            </a:pPr>
            <a:endParaRPr lang="en-US" altLang="zh-CN" dirty="0"/>
          </a:p>
        </p:txBody>
      </p:sp>
    </p:spTree>
    <p:extLst>
      <p:ext uri="{BB962C8B-B14F-4D97-AF65-F5344CB8AC3E}">
        <p14:creationId xmlns:p14="http://schemas.microsoft.com/office/powerpoint/2010/main" val="5809350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可自顶向下解析</a:t>
            </a:r>
          </a:p>
        </p:txBody>
      </p:sp>
    </p:spTree>
    <p:extLst>
      <p:ext uri="{BB962C8B-B14F-4D97-AF65-F5344CB8AC3E}">
        <p14:creationId xmlns:p14="http://schemas.microsoft.com/office/powerpoint/2010/main" val="38094042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en-US" dirty="0"/>
              <a:t>通用方法（两趟）</a:t>
            </a:r>
          </a:p>
          <a:p>
            <a:r>
              <a:rPr lang="zh-CN" altLang="en-US" dirty="0"/>
              <a:t>首先建立一棵语法分析树，然后按照从左到右的深度优先顺序来执行这些动作，也就是说在一个前序遍历过程中执行</a:t>
            </a:r>
            <a:r>
              <a:rPr lang="en-US" altLang="zh-CN" dirty="0"/>
              <a:t>(</a:t>
            </a:r>
            <a:r>
              <a:rPr lang="zh-CN" altLang="en-US" dirty="0"/>
              <a:t>继承属性的计算），然后再执行一个后序遍历完成综合属性的计算。</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34</a:t>
            </a:fld>
            <a:endParaRPr lang="zh-CN" altLang="en-US"/>
          </a:p>
        </p:txBody>
      </p:sp>
    </p:spTree>
    <p:extLst>
      <p:ext uri="{BB962C8B-B14F-4D97-AF65-F5344CB8AC3E}">
        <p14:creationId xmlns:p14="http://schemas.microsoft.com/office/powerpoint/2010/main" val="9662694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en-US" dirty="0"/>
              <a:t>构建语法树</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35</a:t>
            </a:fld>
            <a:endParaRPr lang="zh-CN" altLang="en-US"/>
          </a:p>
        </p:txBody>
      </p:sp>
    </p:spTree>
    <p:extLst>
      <p:ext uri="{BB962C8B-B14F-4D97-AF65-F5344CB8AC3E}">
        <p14:creationId xmlns:p14="http://schemas.microsoft.com/office/powerpoint/2010/main" val="6911551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抽象语法树（重温） </a:t>
            </a:r>
            <a:endParaRPr lang="en-US" altLang="zh-CN" dirty="0"/>
          </a:p>
          <a:p>
            <a:pPr lvl="1"/>
            <a:r>
              <a:rPr lang="zh-CN" altLang="en-US" dirty="0"/>
              <a:t>每个内部节点 </a:t>
            </a:r>
            <a:r>
              <a:rPr lang="en-US" altLang="zh-CN" dirty="0"/>
              <a:t>N </a:t>
            </a:r>
            <a:r>
              <a:rPr lang="zh-CN" altLang="en-US" dirty="0"/>
              <a:t>代表一个结构体（对应一个运算符） </a:t>
            </a:r>
            <a:endParaRPr lang="en-US" altLang="zh-CN" dirty="0"/>
          </a:p>
          <a:p>
            <a:pPr lvl="1"/>
            <a:r>
              <a:rPr lang="en-US" altLang="zh-CN" dirty="0"/>
              <a:t>N </a:t>
            </a:r>
            <a:r>
              <a:rPr lang="zh-CN" altLang="en-US" dirty="0"/>
              <a:t>的子节点代表 </a:t>
            </a:r>
            <a:r>
              <a:rPr lang="en-US" altLang="zh-CN" dirty="0"/>
              <a:t>N </a:t>
            </a:r>
            <a:r>
              <a:rPr lang="zh-CN" altLang="en-US" dirty="0"/>
              <a:t>所代表结构的有意义成分（相当于操作数）</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语法树与解析树 </a:t>
            </a:r>
            <a:endParaRPr lang="en-US" altLang="zh-CN" dirty="0"/>
          </a:p>
          <a:p>
            <a:pPr lvl="1"/>
            <a:r>
              <a:rPr lang="zh-CN" altLang="en-US" dirty="0"/>
              <a:t>在语法树中，内部节点代表编程结构，而在解析树中，内部节点代表非终结符*。</a:t>
            </a:r>
            <a:endParaRPr lang="en-US" altLang="zh-CN" dirty="0"/>
          </a:p>
          <a:p>
            <a:pPr lvl="1"/>
            <a:r>
              <a:rPr lang="zh-CN" altLang="en-US" dirty="0"/>
              <a:t>解析树也称为具体语法树，其底层语法称为语言的具体语法</a:t>
            </a:r>
          </a:p>
        </p:txBody>
      </p:sp>
    </p:spTree>
    <p:extLst>
      <p:ext uri="{BB962C8B-B14F-4D97-AF65-F5344CB8AC3E}">
        <p14:creationId xmlns:p14="http://schemas.microsoft.com/office/powerpoint/2010/main" val="35796120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为简单表达式构建语法树的 </a:t>
            </a:r>
            <a:r>
              <a:rPr lang="en-US" altLang="zh-CN" dirty="0"/>
              <a:t>S </a:t>
            </a:r>
            <a:r>
              <a:rPr lang="zh-CN" altLang="en-US" dirty="0"/>
              <a:t>属性 </a:t>
            </a:r>
            <a:r>
              <a:rPr lang="en-US" altLang="zh-CN" dirty="0"/>
              <a:t>SDD </a:t>
            </a:r>
          </a:p>
          <a:p>
            <a:r>
              <a:rPr lang="zh-CN" altLang="en-US" dirty="0"/>
              <a:t>语法树的每个节点都是一个对象，其中有一个字段 </a:t>
            </a:r>
            <a:r>
              <a:rPr lang="en-US" altLang="zh-CN" dirty="0"/>
              <a:t>op</a:t>
            </a:r>
            <a:r>
              <a:rPr lang="zh-CN" altLang="en-US" dirty="0"/>
              <a:t>（代表节点的标签）和一些附加字段 </a:t>
            </a:r>
            <a:endParaRPr lang="en-US" altLang="zh-CN" dirty="0"/>
          </a:p>
          <a:p>
            <a:r>
              <a:rPr lang="zh-CN" altLang="en-US" dirty="0"/>
              <a:t>叶节点：一个包含词法值的附加字段 </a:t>
            </a:r>
            <a:endParaRPr lang="en-US" altLang="zh-CN" dirty="0"/>
          </a:p>
          <a:p>
            <a:r>
              <a:rPr lang="zh-CN" altLang="en-US" dirty="0"/>
              <a:t>内部节点：</a:t>
            </a:r>
            <a:r>
              <a:rPr lang="zh-CN" altLang="en-US" b="0" i="0" dirty="0">
                <a:solidFill>
                  <a:srgbClr val="374151"/>
                </a:solidFill>
                <a:effectLst/>
                <a:latin typeface="Söhne"/>
              </a:rPr>
              <a:t>额外的字段数量等于子节点的数量</a:t>
            </a:r>
            <a:endParaRPr lang="zh-CN" altLang="en-US" dirty="0"/>
          </a:p>
        </p:txBody>
      </p:sp>
    </p:spTree>
    <p:extLst>
      <p:ext uri="{BB962C8B-B14F-4D97-AF65-F5344CB8AC3E}">
        <p14:creationId xmlns:p14="http://schemas.microsoft.com/office/powerpoint/2010/main" val="31703612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39</a:t>
            </a:fld>
            <a:endParaRPr lang="zh-CN" altLang="en-US"/>
          </a:p>
        </p:txBody>
      </p:sp>
    </p:spTree>
    <p:extLst>
      <p:ext uri="{BB962C8B-B14F-4D97-AF65-F5344CB8AC3E}">
        <p14:creationId xmlns:p14="http://schemas.microsoft.com/office/powerpoint/2010/main" val="1811862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计算类型的结构</a:t>
            </a:r>
            <a:endParaRPr lang="en-US"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en-US" altLang="zh-CN" dirty="0"/>
              <a:t>SDD </a:t>
            </a:r>
            <a:r>
              <a:rPr lang="zh-CN" altLang="en-US" dirty="0"/>
              <a:t>告诉我们在翻译中要做什么（高级规范），但不告诉我们如何做 </a:t>
            </a:r>
            <a:endParaRPr lang="en-US" altLang="zh-CN" dirty="0"/>
          </a:p>
          <a:p>
            <a:r>
              <a:rPr lang="zh-CN" altLang="en-US" dirty="0"/>
              <a:t>语法制导的翻译方案（</a:t>
            </a:r>
            <a:r>
              <a:rPr lang="en-US" altLang="zh-CN" dirty="0"/>
              <a:t>SDT's</a:t>
            </a:r>
            <a:r>
              <a:rPr lang="zh-CN" altLang="en-US" dirty="0"/>
              <a:t>，</a:t>
            </a:r>
            <a:r>
              <a:rPr lang="en-US" altLang="zh-CN" dirty="0"/>
              <a:t>Syntax-directed translation schemes</a:t>
            </a:r>
            <a:r>
              <a:rPr lang="zh-CN" altLang="en-US" dirty="0"/>
              <a:t>）规定了如何进行翻译的更多细节。</a:t>
            </a:r>
            <a:endParaRPr lang="en-US" altLang="zh-CN" dirty="0"/>
          </a:p>
          <a:p>
            <a:r>
              <a:rPr lang="en-US" altLang="zh-CN" dirty="0"/>
              <a:t>SDT </a:t>
            </a:r>
            <a:r>
              <a:rPr lang="zh-CN" altLang="en-US" dirty="0"/>
              <a:t>是一种无上下文语法，其语义动作（程序片段）嵌入在生产体中 ：</a:t>
            </a:r>
            <a:endParaRPr lang="en-US" altLang="zh-CN" dirty="0"/>
          </a:p>
          <a:p>
            <a:pPr lvl="1"/>
            <a:r>
              <a:rPr lang="zh-CN" altLang="en-US" dirty="0"/>
              <a:t>与 </a:t>
            </a:r>
            <a:r>
              <a:rPr lang="en-US" altLang="zh-CN" dirty="0"/>
              <a:t>SDD </a:t>
            </a:r>
            <a:r>
              <a:rPr lang="zh-CN" altLang="en-US" dirty="0"/>
              <a:t>的语义规则不同 </a:t>
            </a:r>
            <a:endParaRPr lang="en-US" altLang="zh-CN" dirty="0"/>
          </a:p>
          <a:p>
            <a:pPr lvl="1"/>
            <a:r>
              <a:rPr lang="zh-CN" altLang="en-US" dirty="0"/>
              <a:t>语义动作可以出现在制作体的任何地方</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任何 </a:t>
            </a:r>
            <a:r>
              <a:rPr lang="en-US" altLang="zh-CN" dirty="0"/>
              <a:t>SDT </a:t>
            </a:r>
            <a:r>
              <a:rPr lang="zh-CN" altLang="en-US" dirty="0"/>
              <a:t>都可以通过以下方式实现： </a:t>
            </a:r>
            <a:endParaRPr lang="en-US" altLang="zh-CN" dirty="0"/>
          </a:p>
          <a:p>
            <a:pPr lvl="1"/>
            <a:r>
              <a:rPr lang="zh-CN" altLang="en-US" dirty="0"/>
              <a:t>首先构建一棵解析树 </a:t>
            </a:r>
            <a:endParaRPr lang="en-US" altLang="zh-CN" dirty="0"/>
          </a:p>
          <a:p>
            <a:pPr lvl="1"/>
            <a:r>
              <a:rPr lang="zh-CN" altLang="en-US" dirty="0"/>
              <a:t>将语义操作视为 </a:t>
            </a:r>
            <a:r>
              <a:rPr lang="en-US" altLang="zh-CN" dirty="0"/>
              <a:t>"</a:t>
            </a:r>
            <a:r>
              <a:rPr lang="zh-CN" altLang="en-US" dirty="0"/>
              <a:t>虚拟 </a:t>
            </a:r>
            <a:r>
              <a:rPr lang="en-US" altLang="zh-CN" dirty="0"/>
              <a:t>"</a:t>
            </a:r>
            <a:r>
              <a:rPr lang="zh-CN" altLang="en-US" dirty="0"/>
              <a:t>解析树节点 </a:t>
            </a:r>
            <a:endParaRPr lang="en-US" altLang="zh-CN" dirty="0"/>
          </a:p>
          <a:p>
            <a:pPr lvl="1"/>
            <a:r>
              <a:rPr lang="zh-CN" altLang="en-US" dirty="0"/>
              <a:t>执行从左到右的深度优先（即预排序）树遍历，并在访问相应节点时触发操作</a:t>
            </a:r>
          </a:p>
        </p:txBody>
      </p:sp>
    </p:spTree>
    <p:extLst>
      <p:ext uri="{BB962C8B-B14F-4D97-AF65-F5344CB8AC3E}">
        <p14:creationId xmlns:p14="http://schemas.microsoft.com/office/powerpoint/2010/main" val="24454171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pPr algn="l">
              <a:buFont typeface="+mj-lt"/>
              <a:buAutoNum type="arabicPeriod"/>
            </a:pPr>
            <a:r>
              <a:rPr lang="en-US" altLang="zh-CN" b="1" i="0" dirty="0">
                <a:solidFill>
                  <a:srgbClr val="374151"/>
                </a:solidFill>
                <a:effectLst/>
                <a:latin typeface="Söhne"/>
              </a:rPr>
              <a:t>SDD</a:t>
            </a:r>
            <a:r>
              <a:rPr lang="zh-CN" altLang="en-US" b="1" i="0" dirty="0">
                <a:solidFill>
                  <a:srgbClr val="374151"/>
                </a:solidFill>
                <a:effectLst/>
                <a:latin typeface="Söhne"/>
              </a:rPr>
              <a:t>（</a:t>
            </a:r>
            <a:r>
              <a:rPr lang="en-US" altLang="zh-CN" b="1" i="0" dirty="0">
                <a:solidFill>
                  <a:srgbClr val="374151"/>
                </a:solidFill>
                <a:effectLst/>
                <a:latin typeface="Söhne"/>
              </a:rPr>
              <a:t>Syntax Directed Definition</a:t>
            </a:r>
            <a:r>
              <a:rPr lang="zh-CN" altLang="en-US" b="1" i="0" dirty="0">
                <a:solidFill>
                  <a:srgbClr val="374151"/>
                </a:solidFill>
                <a:effectLst/>
                <a:latin typeface="Söhne"/>
              </a:rPr>
              <a:t>）</a:t>
            </a:r>
            <a:r>
              <a:rPr lang="zh-CN" altLang="en-US" b="0" i="0" dirty="0">
                <a:solidFill>
                  <a:srgbClr val="374151"/>
                </a:solidFill>
                <a:effectLst/>
                <a:latin typeface="Söhne"/>
              </a:rPr>
              <a:t>：</a:t>
            </a:r>
          </a:p>
          <a:p>
            <a:pPr marL="742950" lvl="1" indent="-285750" algn="l">
              <a:buFont typeface="+mj-lt"/>
              <a:buAutoNum type="arabicPeriod"/>
            </a:pPr>
            <a:r>
              <a:rPr lang="en-US" altLang="zh-CN" b="0" i="0" dirty="0">
                <a:solidFill>
                  <a:srgbClr val="374151"/>
                </a:solidFill>
                <a:effectLst/>
                <a:latin typeface="Söhne"/>
              </a:rPr>
              <a:t>SDD</a:t>
            </a:r>
            <a:r>
              <a:rPr lang="zh-CN" altLang="en-US" b="0" i="0" dirty="0">
                <a:solidFill>
                  <a:srgbClr val="374151"/>
                </a:solidFill>
                <a:effectLst/>
                <a:latin typeface="Söhne"/>
              </a:rPr>
              <a:t>定义了与语法产生式关联的属性和规则。它为每个语法产生式指定一个或多个属性计算或语义动作。</a:t>
            </a:r>
          </a:p>
          <a:p>
            <a:pPr marL="742950" lvl="1" indent="-285750" algn="l">
              <a:buFont typeface="+mj-lt"/>
              <a:buAutoNum type="arabicPeriod"/>
            </a:pPr>
            <a:r>
              <a:rPr lang="en-US" altLang="zh-CN" b="0" i="0" dirty="0">
                <a:solidFill>
                  <a:srgbClr val="374151"/>
                </a:solidFill>
                <a:effectLst/>
                <a:latin typeface="Söhne"/>
              </a:rPr>
              <a:t>SDD</a:t>
            </a:r>
            <a:r>
              <a:rPr lang="zh-CN" altLang="en-US" b="0" i="0" dirty="0">
                <a:solidFill>
                  <a:srgbClr val="374151"/>
                </a:solidFill>
                <a:effectLst/>
                <a:latin typeface="Söhne"/>
              </a:rPr>
              <a:t>关注于如何为语法树中的节点计算属性值，但不一定涉及产生中间代码或目标代码的具体操作。</a:t>
            </a:r>
          </a:p>
          <a:p>
            <a:pPr marL="742950" lvl="1" indent="-285750" algn="l">
              <a:buFont typeface="+mj-lt"/>
              <a:buAutoNum type="arabicPeriod"/>
            </a:pPr>
            <a:r>
              <a:rPr lang="zh-CN" altLang="en-US" b="0" i="0" dirty="0">
                <a:solidFill>
                  <a:srgbClr val="374151"/>
                </a:solidFill>
                <a:effectLst/>
                <a:latin typeface="Söhne"/>
              </a:rPr>
              <a:t>它可以有合成属性和继承属性，因此可以描述为</a:t>
            </a:r>
            <a:r>
              <a:rPr lang="en-US" altLang="zh-CN" b="0" i="0" dirty="0">
                <a:solidFill>
                  <a:srgbClr val="374151"/>
                </a:solidFill>
                <a:effectLst/>
                <a:latin typeface="Söhne"/>
              </a:rPr>
              <a:t>S</a:t>
            </a:r>
            <a:r>
              <a:rPr lang="zh-CN" altLang="en-US" b="0" i="0" dirty="0">
                <a:solidFill>
                  <a:srgbClr val="374151"/>
                </a:solidFill>
                <a:effectLst/>
                <a:latin typeface="Söhne"/>
              </a:rPr>
              <a:t>属性的（只有合成属性）或</a:t>
            </a:r>
            <a:r>
              <a:rPr lang="en-US" altLang="zh-CN" b="0" i="0" dirty="0">
                <a:solidFill>
                  <a:srgbClr val="374151"/>
                </a:solidFill>
                <a:effectLst/>
                <a:latin typeface="Söhne"/>
              </a:rPr>
              <a:t>L</a:t>
            </a:r>
            <a:r>
              <a:rPr lang="zh-CN" altLang="en-US" b="0" i="0" dirty="0">
                <a:solidFill>
                  <a:srgbClr val="374151"/>
                </a:solidFill>
                <a:effectLst/>
                <a:latin typeface="Söhne"/>
              </a:rPr>
              <a:t>属性的（允许继承属性但有限制）。</a:t>
            </a:r>
          </a:p>
          <a:p>
            <a:pPr algn="l">
              <a:buFont typeface="+mj-lt"/>
              <a:buAutoNum type="arabicPeriod"/>
            </a:pPr>
            <a:r>
              <a:rPr lang="en-US" altLang="zh-CN" b="1" i="0" dirty="0">
                <a:solidFill>
                  <a:srgbClr val="374151"/>
                </a:solidFill>
                <a:effectLst/>
                <a:latin typeface="Söhne"/>
              </a:rPr>
              <a:t>SDT</a:t>
            </a:r>
            <a:r>
              <a:rPr lang="zh-CN" altLang="en-US" b="1" i="0" dirty="0">
                <a:solidFill>
                  <a:srgbClr val="374151"/>
                </a:solidFill>
                <a:effectLst/>
                <a:latin typeface="Söhne"/>
              </a:rPr>
              <a:t>（</a:t>
            </a:r>
            <a:r>
              <a:rPr lang="en-US" altLang="zh-CN" b="1" i="0" dirty="0">
                <a:solidFill>
                  <a:srgbClr val="374151"/>
                </a:solidFill>
                <a:effectLst/>
                <a:latin typeface="Söhne"/>
              </a:rPr>
              <a:t>Syntax Directed Translation</a:t>
            </a:r>
            <a:r>
              <a:rPr lang="zh-CN" altLang="en-US" b="1" i="0" dirty="0">
                <a:solidFill>
                  <a:srgbClr val="374151"/>
                </a:solidFill>
                <a:effectLst/>
                <a:latin typeface="Söhne"/>
              </a:rPr>
              <a:t>）</a:t>
            </a:r>
            <a:r>
              <a:rPr lang="zh-CN" altLang="en-US" b="0" i="0" dirty="0">
                <a:solidFill>
                  <a:srgbClr val="374151"/>
                </a:solidFill>
                <a:effectLst/>
                <a:latin typeface="Söhne"/>
              </a:rPr>
              <a:t>：</a:t>
            </a:r>
          </a:p>
          <a:p>
            <a:pPr marL="742950" lvl="1" indent="-285750" algn="l">
              <a:buFont typeface="+mj-lt"/>
              <a:buAutoNum type="arabicPeriod"/>
            </a:pPr>
            <a:r>
              <a:rPr lang="en-US" altLang="zh-CN" b="0" i="0" dirty="0">
                <a:solidFill>
                  <a:srgbClr val="374151"/>
                </a:solidFill>
                <a:effectLst/>
                <a:latin typeface="Söhne"/>
              </a:rPr>
              <a:t>SDT</a:t>
            </a:r>
            <a:r>
              <a:rPr lang="zh-CN" altLang="en-US" b="0" i="0" dirty="0">
                <a:solidFill>
                  <a:srgbClr val="374151"/>
                </a:solidFill>
                <a:effectLst/>
                <a:latin typeface="Söhne"/>
              </a:rPr>
              <a:t>是</a:t>
            </a:r>
            <a:r>
              <a:rPr lang="en-US" altLang="zh-CN" b="0" i="0" dirty="0">
                <a:solidFill>
                  <a:srgbClr val="374151"/>
                </a:solidFill>
                <a:effectLst/>
                <a:latin typeface="Söhne"/>
              </a:rPr>
              <a:t>SDD</a:t>
            </a:r>
            <a:r>
              <a:rPr lang="zh-CN" altLang="en-US" b="0" i="0" dirty="0">
                <a:solidFill>
                  <a:srgbClr val="374151"/>
                </a:solidFill>
                <a:effectLst/>
                <a:latin typeface="Söhne"/>
              </a:rPr>
              <a:t>的一个特例，它专门用于生成中间代码或目标代码。换句话说，</a:t>
            </a:r>
            <a:r>
              <a:rPr lang="en-US" altLang="zh-CN" b="0" i="0" dirty="0">
                <a:solidFill>
                  <a:srgbClr val="374151"/>
                </a:solidFill>
                <a:effectLst/>
                <a:latin typeface="Söhne"/>
              </a:rPr>
              <a:t>SDT</a:t>
            </a:r>
            <a:r>
              <a:rPr lang="zh-CN" altLang="en-US" b="0" i="0" dirty="0">
                <a:solidFill>
                  <a:srgbClr val="374151"/>
                </a:solidFill>
                <a:effectLst/>
                <a:latin typeface="Söhne"/>
              </a:rPr>
              <a:t>的目的是翻译，它定义了与语法产生式关联的动作，这些动作通常在解析时执行。</a:t>
            </a:r>
          </a:p>
          <a:p>
            <a:pPr marL="742950" lvl="1" indent="-285750" algn="l">
              <a:buFont typeface="+mj-lt"/>
              <a:buAutoNum type="arabicPeriod"/>
            </a:pPr>
            <a:r>
              <a:rPr lang="zh-CN" altLang="en-US" b="0" i="0" dirty="0">
                <a:solidFill>
                  <a:srgbClr val="374151"/>
                </a:solidFill>
                <a:effectLst/>
                <a:latin typeface="Söhne"/>
              </a:rPr>
              <a:t>当解析器在处理产生式时，与该产生式关联的</a:t>
            </a:r>
            <a:r>
              <a:rPr lang="en-US" altLang="zh-CN" b="0" i="0" dirty="0">
                <a:solidFill>
                  <a:srgbClr val="374151"/>
                </a:solidFill>
                <a:effectLst/>
                <a:latin typeface="Söhne"/>
              </a:rPr>
              <a:t>SDT</a:t>
            </a:r>
            <a:r>
              <a:rPr lang="zh-CN" altLang="en-US" b="0" i="0" dirty="0">
                <a:solidFill>
                  <a:srgbClr val="374151"/>
                </a:solidFill>
                <a:effectLst/>
                <a:latin typeface="Söhne"/>
              </a:rPr>
              <a:t>动作被执行，从而生成代码或进行其他翻译工作。</a:t>
            </a:r>
          </a:p>
          <a:p>
            <a:pPr marL="742950" lvl="1" indent="-285750" algn="l">
              <a:buFont typeface="+mj-lt"/>
              <a:buAutoNum type="arabicPeriod"/>
            </a:pPr>
            <a:r>
              <a:rPr lang="zh-CN" altLang="en-US" b="0" i="0" dirty="0">
                <a:solidFill>
                  <a:srgbClr val="374151"/>
                </a:solidFill>
                <a:effectLst/>
                <a:latin typeface="Söhne"/>
              </a:rPr>
              <a:t>动作可以嵌入到产生式中，例如，在</a:t>
            </a:r>
            <a:r>
              <a:rPr lang="en-US" altLang="zh-CN" b="0" i="0" dirty="0">
                <a:solidFill>
                  <a:srgbClr val="374151"/>
                </a:solidFill>
                <a:effectLst/>
                <a:latin typeface="Söhne"/>
              </a:rPr>
              <a:t>YACC</a:t>
            </a:r>
            <a:r>
              <a:rPr lang="zh-CN" altLang="en-US" b="0" i="0" dirty="0">
                <a:solidFill>
                  <a:srgbClr val="374151"/>
                </a:solidFill>
                <a:effectLst/>
                <a:latin typeface="Söhne"/>
              </a:rPr>
              <a:t>或</a:t>
            </a:r>
            <a:r>
              <a:rPr lang="en-US" altLang="zh-CN" b="0" i="0" dirty="0">
                <a:solidFill>
                  <a:srgbClr val="374151"/>
                </a:solidFill>
                <a:effectLst/>
                <a:latin typeface="Söhne"/>
              </a:rPr>
              <a:t>Bison</a:t>
            </a:r>
            <a:r>
              <a:rPr lang="zh-CN" altLang="en-US" b="0" i="0" dirty="0">
                <a:solidFill>
                  <a:srgbClr val="374151"/>
                </a:solidFill>
                <a:effectLst/>
                <a:latin typeface="Söhne"/>
              </a:rPr>
              <a:t>这样的工具中，可以直接在语法规则中插入</a:t>
            </a:r>
            <a:r>
              <a:rPr lang="en-US" altLang="zh-CN" b="0" i="0" dirty="0">
                <a:solidFill>
                  <a:srgbClr val="374151"/>
                </a:solidFill>
                <a:effectLst/>
                <a:latin typeface="Söhne"/>
              </a:rPr>
              <a:t>C</a:t>
            </a:r>
            <a:r>
              <a:rPr lang="zh-CN" altLang="en-US" b="0" i="0" dirty="0">
                <a:solidFill>
                  <a:srgbClr val="374151"/>
                </a:solidFill>
                <a:effectLst/>
                <a:latin typeface="Söhne"/>
              </a:rPr>
              <a:t>代码作为动作。</a:t>
            </a:r>
          </a:p>
          <a:p>
            <a:pPr algn="l"/>
            <a:r>
              <a:rPr lang="zh-CN" altLang="en-US" b="1" i="0" dirty="0">
                <a:solidFill>
                  <a:srgbClr val="374151"/>
                </a:solidFill>
                <a:effectLst/>
                <a:latin typeface="Söhne"/>
              </a:rPr>
              <a:t>总结差异</a:t>
            </a:r>
            <a:r>
              <a:rPr lang="zh-CN" altLang="en-US" b="0" i="0" dirty="0">
                <a:solidFill>
                  <a:srgbClr val="374151"/>
                </a:solidFill>
                <a:effectLst/>
                <a:latin typeface="Söhne"/>
              </a:rPr>
              <a:t>：</a:t>
            </a:r>
          </a:p>
          <a:p>
            <a:pPr algn="l">
              <a:buFont typeface="Arial" panose="020B0604020202020204" pitchFamily="34" charset="0"/>
              <a:buChar char="•"/>
            </a:pPr>
            <a:r>
              <a:rPr lang="en-US" altLang="zh-CN" b="0" i="0" dirty="0">
                <a:solidFill>
                  <a:srgbClr val="374151"/>
                </a:solidFill>
                <a:effectLst/>
                <a:latin typeface="Söhne"/>
              </a:rPr>
              <a:t>SDD</a:t>
            </a:r>
            <a:r>
              <a:rPr lang="zh-CN" altLang="en-US" b="0" i="0" dirty="0">
                <a:solidFill>
                  <a:srgbClr val="374151"/>
                </a:solidFill>
                <a:effectLst/>
                <a:latin typeface="Söhne"/>
              </a:rPr>
              <a:t>更为通用，关注于为语法树的节点计算属性。这些属性可以用于多种目的，如类型检查、变量绑定等。</a:t>
            </a:r>
          </a:p>
          <a:p>
            <a:pPr algn="l">
              <a:buFont typeface="Arial" panose="020B0604020202020204" pitchFamily="34" charset="0"/>
              <a:buChar char="•"/>
            </a:pPr>
            <a:r>
              <a:rPr lang="en-US" altLang="zh-CN" b="0" i="0" dirty="0">
                <a:solidFill>
                  <a:srgbClr val="374151"/>
                </a:solidFill>
                <a:effectLst/>
                <a:latin typeface="Söhne"/>
              </a:rPr>
              <a:t>SDT</a:t>
            </a:r>
            <a:r>
              <a:rPr lang="zh-CN" altLang="en-US" b="0" i="0" dirty="0">
                <a:solidFill>
                  <a:srgbClr val="374151"/>
                </a:solidFill>
                <a:effectLst/>
                <a:latin typeface="Söhne"/>
              </a:rPr>
              <a:t>特化于翻译任务，即将源代码转换为中间代码或目标代码。它通常涉及在解析过程中执行特定的动作。</a:t>
            </a:r>
          </a:p>
          <a:p>
            <a:pPr algn="l"/>
            <a:r>
              <a:rPr lang="zh-CN" altLang="en-US" b="0" i="0" dirty="0">
                <a:solidFill>
                  <a:srgbClr val="374151"/>
                </a:solidFill>
                <a:effectLst/>
                <a:latin typeface="Söhne"/>
              </a:rPr>
              <a:t>尽管有这些区别，但在实际应用中，</a:t>
            </a:r>
            <a:r>
              <a:rPr lang="en-US" altLang="zh-CN" b="0" i="0" dirty="0">
                <a:solidFill>
                  <a:srgbClr val="374151"/>
                </a:solidFill>
                <a:effectLst/>
                <a:latin typeface="Söhne"/>
              </a:rPr>
              <a:t>SDD</a:t>
            </a:r>
            <a:r>
              <a:rPr lang="zh-CN" altLang="en-US" b="0" i="0" dirty="0">
                <a:solidFill>
                  <a:srgbClr val="374151"/>
                </a:solidFill>
                <a:effectLst/>
                <a:latin typeface="Söhne"/>
              </a:rPr>
              <a:t>和</a:t>
            </a:r>
            <a:r>
              <a:rPr lang="en-US" altLang="zh-CN" b="0" i="0" dirty="0">
                <a:solidFill>
                  <a:srgbClr val="374151"/>
                </a:solidFill>
                <a:effectLst/>
                <a:latin typeface="Söhne"/>
              </a:rPr>
              <a:t>SDT</a:t>
            </a:r>
            <a:r>
              <a:rPr lang="zh-CN" altLang="en-US" b="0" i="0" dirty="0">
                <a:solidFill>
                  <a:srgbClr val="374151"/>
                </a:solidFill>
                <a:effectLst/>
                <a:latin typeface="Söhne"/>
              </a:rPr>
              <a:t>的界限可能会模糊，因为编译器的语义分析和翻译阶段通常是交织在一起的</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46</a:t>
            </a:fld>
            <a:endParaRPr lang="zh-CN" altLang="en-US"/>
          </a:p>
        </p:txBody>
      </p:sp>
    </p:spTree>
    <p:extLst>
      <p:ext uri="{BB962C8B-B14F-4D97-AF65-F5344CB8AC3E}">
        <p14:creationId xmlns:p14="http://schemas.microsoft.com/office/powerpoint/2010/main" val="25387185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动作 </a:t>
            </a:r>
            <a:r>
              <a:rPr lang="en-US" altLang="zh-CN" dirty="0"/>
              <a:t>a </a:t>
            </a:r>
            <a:r>
              <a:rPr lang="zh-CN" altLang="en-US" dirty="0"/>
              <a:t>应在我们识别完 </a:t>
            </a:r>
            <a:r>
              <a:rPr lang="en-US" altLang="zh-CN" dirty="0"/>
              <a:t>X</a:t>
            </a:r>
            <a:r>
              <a:rPr lang="zh-CN" altLang="en-US" dirty="0"/>
              <a:t>（如果 </a:t>
            </a:r>
            <a:r>
              <a:rPr lang="en-US" altLang="zh-CN" dirty="0"/>
              <a:t>X </a:t>
            </a:r>
            <a:r>
              <a:rPr lang="zh-CN" altLang="en-US" dirty="0"/>
              <a:t>是终结符）或由 </a:t>
            </a:r>
            <a:r>
              <a:rPr lang="en-US" altLang="zh-CN" dirty="0"/>
              <a:t>X </a:t>
            </a:r>
            <a:r>
              <a:rPr lang="zh-CN" altLang="en-US" dirty="0"/>
              <a:t>派生的所有终结符（如果 </a:t>
            </a:r>
            <a:r>
              <a:rPr lang="en-US" altLang="zh-CN" dirty="0"/>
              <a:t>X </a:t>
            </a:r>
            <a:r>
              <a:rPr lang="zh-CN" altLang="en-US" dirty="0"/>
              <a:t>是非终结符）后执行 </a:t>
            </a:r>
            <a:endParaRPr lang="en-US" altLang="zh-CN" dirty="0"/>
          </a:p>
          <a:p>
            <a:pPr lvl="1"/>
            <a:r>
              <a:rPr lang="zh-CN" altLang="en-US" dirty="0"/>
              <a:t>如果解析是自下而上的，那么一旦 </a:t>
            </a:r>
            <a:r>
              <a:rPr lang="en-US" altLang="zh-CN" dirty="0"/>
              <a:t>X </a:t>
            </a:r>
            <a:r>
              <a:rPr lang="zh-CN" altLang="en-US" dirty="0"/>
              <a:t>出现在解析栈顶端，我们就执行操作 </a:t>
            </a:r>
            <a:r>
              <a:rPr lang="en-US" altLang="zh-CN" dirty="0"/>
              <a:t>a </a:t>
            </a:r>
            <a:r>
              <a:rPr lang="zh-CN" altLang="en-US" dirty="0"/>
              <a:t>（此时，有关</a:t>
            </a:r>
            <a:r>
              <a:rPr lang="en-US" altLang="zh-CN" dirty="0"/>
              <a:t>X</a:t>
            </a:r>
            <a:r>
              <a:rPr lang="zh-CN" altLang="en-US" dirty="0"/>
              <a:t>的所有信息都已在栈中）</a:t>
            </a:r>
            <a:endParaRPr lang="en-US" altLang="zh-CN" dirty="0"/>
          </a:p>
          <a:p>
            <a:pPr lvl="1"/>
            <a:r>
              <a:rPr lang="zh-CN" altLang="en-US" dirty="0"/>
              <a:t>如果解析是自上而下的，我们在尝试扩展 </a:t>
            </a:r>
            <a:r>
              <a:rPr lang="en-US" altLang="zh-CN" dirty="0"/>
              <a:t>Y</a:t>
            </a:r>
            <a:r>
              <a:rPr lang="zh-CN" altLang="en-US" dirty="0"/>
              <a:t>（如果 </a:t>
            </a:r>
            <a:r>
              <a:rPr lang="en-US" altLang="zh-CN" dirty="0"/>
              <a:t>Y </a:t>
            </a:r>
            <a:r>
              <a:rPr lang="zh-CN" altLang="en-US" dirty="0"/>
              <a:t>是非终结符）或检查输入中的 </a:t>
            </a:r>
            <a:r>
              <a:rPr lang="en-US" altLang="zh-CN" dirty="0"/>
              <a:t>Y</a:t>
            </a:r>
            <a:r>
              <a:rPr lang="zh-CN" altLang="en-US" dirty="0"/>
              <a:t>（如果 </a:t>
            </a:r>
            <a:r>
              <a:rPr lang="en-US" altLang="zh-CN" dirty="0"/>
              <a:t>Y </a:t>
            </a:r>
            <a:r>
              <a:rPr lang="zh-CN" altLang="en-US" dirty="0"/>
              <a:t>是终结符）之前执行操作 </a:t>
            </a:r>
            <a:r>
              <a:rPr lang="en-US" altLang="zh-CN" dirty="0"/>
              <a:t>a</a:t>
            </a:r>
            <a:r>
              <a:rPr lang="zh-CN" altLang="en-US" dirty="0"/>
              <a:t>（此时有关</a:t>
            </a:r>
            <a:r>
              <a:rPr lang="en-US" altLang="zh-CN" dirty="0"/>
              <a:t>X</a:t>
            </a:r>
            <a:r>
              <a:rPr lang="zh-CN" altLang="en-US" dirty="0"/>
              <a:t>的所有信息已分析完毕）</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r>
              <a:rPr lang="zh-CN" altLang="en-US" dirty="0"/>
              <a:t>注意，如前所述，所有 </a:t>
            </a:r>
            <a:r>
              <a:rPr lang="en-US" altLang="zh-CN" dirty="0"/>
              <a:t>SDT </a:t>
            </a:r>
            <a:r>
              <a:rPr lang="zh-CN" altLang="en-US" dirty="0"/>
              <a:t>都可以在构建分析树后实施。</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将语义动作用标记非终结</a:t>
            </a:r>
            <a:r>
              <a:rPr lang="en-US" altLang="zh-CN" dirty="0"/>
              <a:t>M</a:t>
            </a:r>
            <a:r>
              <a:rPr lang="zh-CN" altLang="en-US" dirty="0"/>
              <a:t>来代替，对应的的产生式为</a:t>
            </a:r>
            <a:r>
              <a:rPr lang="zh-CN" altLang="en-US" dirty="0">
                <a:solidFill>
                  <a:srgbClr val="000000"/>
                </a:solidFill>
                <a:latin typeface="CambriaMath"/>
              </a:rPr>
              <a:t>𝑀 → 𝜖，得到文法可以被</a:t>
            </a:r>
            <a:r>
              <a:rPr lang="en-US" altLang="zh-CN" dirty="0">
                <a:solidFill>
                  <a:srgbClr val="000000"/>
                </a:solidFill>
                <a:latin typeface="CambriaMath"/>
              </a:rPr>
              <a:t>LL</a:t>
            </a:r>
            <a:r>
              <a:rPr lang="zh-CN" altLang="en-US" dirty="0">
                <a:solidFill>
                  <a:srgbClr val="000000"/>
                </a:solidFill>
                <a:latin typeface="CambriaMath"/>
              </a:rPr>
              <a:t>或</a:t>
            </a:r>
            <a:r>
              <a:rPr lang="en-US" altLang="zh-CN" dirty="0">
                <a:solidFill>
                  <a:srgbClr val="000000"/>
                </a:solidFill>
                <a:latin typeface="CambriaMath"/>
              </a:rPr>
              <a:t>LR</a:t>
            </a:r>
            <a:r>
              <a:rPr lang="zh-CN" altLang="en-US" dirty="0">
                <a:solidFill>
                  <a:srgbClr val="000000"/>
                </a:solidFill>
                <a:latin typeface="CambriaMath"/>
              </a:rPr>
              <a:t>分析器所分析，这样的</a:t>
            </a:r>
            <a:r>
              <a:rPr lang="en-US" altLang="zh-CN" dirty="0">
                <a:solidFill>
                  <a:srgbClr val="000000"/>
                </a:solidFill>
                <a:latin typeface="CambriaMath"/>
              </a:rPr>
              <a:t>SDT</a:t>
            </a:r>
            <a:r>
              <a:rPr lang="zh-CN" altLang="en-US">
                <a:solidFill>
                  <a:srgbClr val="000000"/>
                </a:solidFill>
                <a:latin typeface="CambriaMath"/>
              </a:rPr>
              <a:t>才能在语法分析时一并进行。</a:t>
            </a:r>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49</a:t>
            </a:fld>
            <a:endParaRPr lang="zh-CN" altLang="en-US"/>
          </a:p>
        </p:txBody>
      </p:sp>
    </p:spTree>
    <p:extLst>
      <p:ext uri="{BB962C8B-B14F-4D97-AF65-F5344CB8AC3E}">
        <p14:creationId xmlns:p14="http://schemas.microsoft.com/office/powerpoint/2010/main" val="32287584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使用自上而下或自下而上的解析方法不可能建立没有冲突的解析表。</a:t>
            </a:r>
            <a:endParaRPr lang="en-US" altLang="zh-CN" dirty="0"/>
          </a:p>
          <a:p>
            <a:r>
              <a:rPr lang="zh-CN" altLang="en-US" dirty="0"/>
              <a:t>自下而上的解析方法来建立没有冲突的解析表。这种 </a:t>
            </a:r>
            <a:r>
              <a:rPr lang="en-US" altLang="zh-CN" dirty="0"/>
              <a:t>SDT </a:t>
            </a:r>
            <a:r>
              <a:rPr lang="zh-CN" altLang="en-US" dirty="0"/>
              <a:t>无法在解析过程中执行。</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我们可以使用 </a:t>
            </a:r>
            <a:r>
              <a:rPr lang="en-US" altLang="zh-CN" dirty="0"/>
              <a:t>SDT </a:t>
            </a:r>
            <a:r>
              <a:rPr lang="zh-CN" altLang="en-US" dirty="0"/>
              <a:t>来实现两类重要的 </a:t>
            </a:r>
            <a:r>
              <a:rPr lang="en-US" altLang="zh-CN" dirty="0"/>
              <a:t>SDD</a:t>
            </a:r>
            <a:r>
              <a:rPr lang="zh-CN" altLang="en-US" dirty="0"/>
              <a:t>：</a:t>
            </a:r>
            <a:endParaRPr lang="en-US" altLang="zh-CN" dirty="0"/>
          </a:p>
          <a:p>
            <a:pPr lvl="1"/>
            <a:r>
              <a:rPr lang="zh-CN" altLang="en-US" dirty="0"/>
              <a:t>基础语法是 </a:t>
            </a:r>
            <a:r>
              <a:rPr lang="en-US" altLang="zh-CN" dirty="0"/>
              <a:t>LR</a:t>
            </a:r>
            <a:r>
              <a:rPr lang="zh-CN" altLang="en-US" dirty="0"/>
              <a:t>，</a:t>
            </a:r>
            <a:r>
              <a:rPr lang="en-US" altLang="zh-CN" dirty="0"/>
              <a:t>SDD </a:t>
            </a:r>
            <a:r>
              <a:rPr lang="zh-CN" altLang="en-US" dirty="0"/>
              <a:t>是 </a:t>
            </a:r>
            <a:r>
              <a:rPr lang="en-US" altLang="zh-CN" dirty="0"/>
              <a:t>S </a:t>
            </a:r>
            <a:r>
              <a:rPr lang="zh-CN" altLang="en-US" dirty="0"/>
              <a:t>属性的</a:t>
            </a:r>
            <a:endParaRPr lang="en-US" altLang="zh-CN" dirty="0"/>
          </a:p>
          <a:p>
            <a:pPr lvl="1"/>
            <a:r>
              <a:rPr lang="zh-CN" altLang="en-US" dirty="0"/>
              <a:t>基础语法是 </a:t>
            </a:r>
            <a:r>
              <a:rPr lang="en-US" altLang="zh-CN" dirty="0"/>
              <a:t>LL</a:t>
            </a:r>
            <a:r>
              <a:rPr lang="zh-CN" altLang="en-US" dirty="0"/>
              <a:t>，</a:t>
            </a:r>
            <a:r>
              <a:rPr lang="en-US" altLang="zh-CN" dirty="0"/>
              <a:t>SDD </a:t>
            </a:r>
            <a:r>
              <a:rPr lang="zh-CN" altLang="en-US" dirty="0"/>
              <a:t>是 </a:t>
            </a:r>
            <a:r>
              <a:rPr lang="en-US" altLang="zh-CN" dirty="0"/>
              <a:t>L </a:t>
            </a:r>
            <a:r>
              <a:rPr lang="zh-CN" altLang="en-US" dirty="0"/>
              <a:t>属性的</a:t>
            </a:r>
            <a:endParaRPr lang="en-US" altLang="zh-CN" dirty="0"/>
          </a:p>
          <a:p>
            <a:pPr lvl="1"/>
            <a:endParaRPr lang="en-US" altLang="zh-CN" dirty="0"/>
          </a:p>
          <a:p>
            <a:pPr lvl="1"/>
            <a:endParaRPr lang="en-US" altLang="zh-CN" dirty="0"/>
          </a:p>
          <a:p>
            <a:pPr algn="l"/>
            <a:r>
              <a:rPr lang="zh-CN" altLang="en-US" b="1" i="0" dirty="0">
                <a:solidFill>
                  <a:srgbClr val="374151"/>
                </a:solidFill>
                <a:effectLst/>
                <a:latin typeface="Söhne"/>
              </a:rPr>
              <a:t>底层语法是</a:t>
            </a:r>
            <a:r>
              <a:rPr lang="en-US" altLang="zh-CN" b="1" i="0" dirty="0">
                <a:solidFill>
                  <a:srgbClr val="374151"/>
                </a:solidFill>
                <a:effectLst/>
                <a:latin typeface="Söhne"/>
              </a:rPr>
              <a:t>LR</a:t>
            </a:r>
            <a:r>
              <a:rPr lang="zh-CN" altLang="en-US" b="1" i="0" dirty="0">
                <a:solidFill>
                  <a:srgbClr val="374151"/>
                </a:solidFill>
                <a:effectLst/>
                <a:latin typeface="Söhne"/>
              </a:rPr>
              <a:t>，而</a:t>
            </a:r>
            <a:r>
              <a:rPr lang="en-US" altLang="zh-CN" b="1" i="0" dirty="0">
                <a:solidFill>
                  <a:srgbClr val="374151"/>
                </a:solidFill>
                <a:effectLst/>
                <a:latin typeface="Söhne"/>
              </a:rPr>
              <a:t>SDD</a:t>
            </a:r>
            <a:r>
              <a:rPr lang="zh-CN" altLang="en-US" b="1" i="0" dirty="0">
                <a:solidFill>
                  <a:srgbClr val="374151"/>
                </a:solidFill>
                <a:effectLst/>
                <a:latin typeface="Söhne"/>
              </a:rPr>
              <a:t>是</a:t>
            </a:r>
            <a:r>
              <a:rPr lang="en-US" altLang="zh-CN" b="1" i="0" dirty="0">
                <a:solidFill>
                  <a:srgbClr val="374151"/>
                </a:solidFill>
                <a:effectLst/>
                <a:latin typeface="Söhne"/>
              </a:rPr>
              <a:t>S</a:t>
            </a:r>
            <a:r>
              <a:rPr lang="zh-CN" altLang="en-US" b="1" i="0" dirty="0">
                <a:solidFill>
                  <a:srgbClr val="374151"/>
                </a:solidFill>
                <a:effectLst/>
                <a:latin typeface="Söhne"/>
              </a:rPr>
              <a:t>属性的</a:t>
            </a:r>
            <a:r>
              <a:rPr lang="zh-CN" altLang="en-US" b="0" i="0" dirty="0">
                <a:solidFill>
                  <a:srgbClr val="374151"/>
                </a:solidFill>
                <a:effectLst/>
                <a:latin typeface="Söhne"/>
              </a:rPr>
              <a:t>：</a:t>
            </a:r>
          </a:p>
          <a:p>
            <a:pPr algn="l">
              <a:buFont typeface="Arial" panose="020B0604020202020204" pitchFamily="34" charset="0"/>
              <a:buChar char="•"/>
            </a:pPr>
            <a:r>
              <a:rPr lang="en-US" altLang="zh-CN" b="1" i="0" dirty="0">
                <a:solidFill>
                  <a:srgbClr val="374151"/>
                </a:solidFill>
                <a:effectLst/>
                <a:latin typeface="Söhne"/>
              </a:rPr>
              <a:t>LR</a:t>
            </a:r>
            <a:r>
              <a:rPr lang="zh-CN" altLang="en-US" b="1" i="0" dirty="0">
                <a:solidFill>
                  <a:srgbClr val="374151"/>
                </a:solidFill>
                <a:effectLst/>
                <a:latin typeface="Söhne"/>
              </a:rPr>
              <a:t>语法</a:t>
            </a:r>
            <a:r>
              <a:rPr lang="zh-CN" altLang="en-US" b="0" i="0" dirty="0">
                <a:solidFill>
                  <a:srgbClr val="374151"/>
                </a:solidFill>
                <a:effectLst/>
                <a:latin typeface="Söhne"/>
              </a:rPr>
              <a:t>：这是一种可以用自底向上的方式进行解析的语法。</a:t>
            </a:r>
            <a:r>
              <a:rPr lang="en-US" altLang="zh-CN" b="0" i="0" dirty="0">
                <a:solidFill>
                  <a:srgbClr val="374151"/>
                </a:solidFill>
                <a:effectLst/>
                <a:latin typeface="Söhne"/>
              </a:rPr>
              <a:t>LR</a:t>
            </a:r>
            <a:r>
              <a:rPr lang="zh-CN" altLang="en-US" b="0" i="0" dirty="0">
                <a:solidFill>
                  <a:srgbClr val="374151"/>
                </a:solidFill>
                <a:effectLst/>
                <a:latin typeface="Söhne"/>
              </a:rPr>
              <a:t>解析器从左到右读取输入，但决策是基于右侧的上下文进行的。它使用一个堆栈来存储已经读取的符号，并在适当的时候进行规约。</a:t>
            </a:r>
          </a:p>
          <a:p>
            <a:pPr algn="l">
              <a:buFont typeface="Arial" panose="020B0604020202020204" pitchFamily="34" charset="0"/>
              <a:buChar char="•"/>
            </a:pPr>
            <a:r>
              <a:rPr lang="en-US" altLang="zh-CN" b="1" i="0" dirty="0">
                <a:solidFill>
                  <a:srgbClr val="374151"/>
                </a:solidFill>
                <a:effectLst/>
                <a:latin typeface="Söhne"/>
              </a:rPr>
              <a:t>S</a:t>
            </a:r>
            <a:r>
              <a:rPr lang="zh-CN" altLang="en-US" b="1" i="0" dirty="0">
                <a:solidFill>
                  <a:srgbClr val="374151"/>
                </a:solidFill>
                <a:effectLst/>
                <a:latin typeface="Söhne"/>
              </a:rPr>
              <a:t>属性的</a:t>
            </a:r>
            <a:r>
              <a:rPr lang="en-US" altLang="zh-CN" b="1" i="0" dirty="0">
                <a:solidFill>
                  <a:srgbClr val="374151"/>
                </a:solidFill>
                <a:effectLst/>
                <a:latin typeface="Söhne"/>
              </a:rPr>
              <a:t>SDD</a:t>
            </a:r>
            <a:r>
              <a:rPr lang="zh-CN" altLang="en-US" b="0" i="0" dirty="0">
                <a:solidFill>
                  <a:srgbClr val="374151"/>
                </a:solidFill>
                <a:effectLst/>
                <a:latin typeface="Söhne"/>
              </a:rPr>
              <a:t>：这意味着所有属性都是合成属性，它们只从子节点传递给父节点，没有从父节点传递给子节点的继承属性。这对于自底向上的</a:t>
            </a:r>
            <a:r>
              <a:rPr lang="en-US" altLang="zh-CN" b="0" i="0" dirty="0">
                <a:solidFill>
                  <a:srgbClr val="374151"/>
                </a:solidFill>
                <a:effectLst/>
                <a:latin typeface="Söhne"/>
              </a:rPr>
              <a:t>LR</a:t>
            </a:r>
            <a:r>
              <a:rPr lang="zh-CN" altLang="en-US" b="0" i="0" dirty="0">
                <a:solidFill>
                  <a:srgbClr val="374151"/>
                </a:solidFill>
                <a:effectLst/>
                <a:latin typeface="Söhne"/>
              </a:rPr>
              <a:t>解析是非常合适的，因为我们从叶子节点开始构建并向上移动，因此只需要合成属性即可。</a:t>
            </a:r>
          </a:p>
          <a:p>
            <a:pPr algn="l"/>
            <a:r>
              <a:rPr lang="zh-CN" altLang="en-US" b="1" i="0" dirty="0">
                <a:solidFill>
                  <a:srgbClr val="374151"/>
                </a:solidFill>
                <a:effectLst/>
                <a:latin typeface="Söhne"/>
              </a:rPr>
              <a:t>底层语法是</a:t>
            </a:r>
            <a:r>
              <a:rPr lang="en-US" altLang="zh-CN" b="1" i="0" dirty="0">
                <a:solidFill>
                  <a:srgbClr val="374151"/>
                </a:solidFill>
                <a:effectLst/>
                <a:latin typeface="Söhne"/>
              </a:rPr>
              <a:t>LL</a:t>
            </a:r>
            <a:r>
              <a:rPr lang="zh-CN" altLang="en-US" b="1" i="0" dirty="0">
                <a:solidFill>
                  <a:srgbClr val="374151"/>
                </a:solidFill>
                <a:effectLst/>
                <a:latin typeface="Söhne"/>
              </a:rPr>
              <a:t>，而</a:t>
            </a:r>
            <a:r>
              <a:rPr lang="en-US" altLang="zh-CN" b="1" i="0" dirty="0">
                <a:solidFill>
                  <a:srgbClr val="374151"/>
                </a:solidFill>
                <a:effectLst/>
                <a:latin typeface="Söhne"/>
              </a:rPr>
              <a:t>SDD</a:t>
            </a:r>
            <a:r>
              <a:rPr lang="zh-CN" altLang="en-US" b="1" i="0" dirty="0">
                <a:solidFill>
                  <a:srgbClr val="374151"/>
                </a:solidFill>
                <a:effectLst/>
                <a:latin typeface="Söhne"/>
              </a:rPr>
              <a:t>是</a:t>
            </a:r>
            <a:r>
              <a:rPr lang="en-US" altLang="zh-CN" b="1" i="0" dirty="0">
                <a:solidFill>
                  <a:srgbClr val="374151"/>
                </a:solidFill>
                <a:effectLst/>
                <a:latin typeface="Söhne"/>
              </a:rPr>
              <a:t>L</a:t>
            </a:r>
            <a:r>
              <a:rPr lang="zh-CN" altLang="en-US" b="1" i="0" dirty="0">
                <a:solidFill>
                  <a:srgbClr val="374151"/>
                </a:solidFill>
                <a:effectLst/>
                <a:latin typeface="Söhne"/>
              </a:rPr>
              <a:t>属性的</a:t>
            </a:r>
            <a:r>
              <a:rPr lang="zh-CN" altLang="en-US" b="0" i="0" dirty="0">
                <a:solidFill>
                  <a:srgbClr val="374151"/>
                </a:solidFill>
                <a:effectLst/>
                <a:latin typeface="Söhne"/>
              </a:rPr>
              <a:t>：</a:t>
            </a:r>
          </a:p>
          <a:p>
            <a:pPr algn="l">
              <a:buFont typeface="Arial" panose="020B0604020202020204" pitchFamily="34" charset="0"/>
              <a:buChar char="•"/>
            </a:pPr>
            <a:r>
              <a:rPr lang="en-US" altLang="zh-CN" b="1" i="0" dirty="0">
                <a:solidFill>
                  <a:srgbClr val="374151"/>
                </a:solidFill>
                <a:effectLst/>
                <a:latin typeface="Söhne"/>
              </a:rPr>
              <a:t>LL</a:t>
            </a:r>
            <a:r>
              <a:rPr lang="zh-CN" altLang="en-US" b="1" i="0" dirty="0">
                <a:solidFill>
                  <a:srgbClr val="374151"/>
                </a:solidFill>
                <a:effectLst/>
                <a:latin typeface="Söhne"/>
              </a:rPr>
              <a:t>语法</a:t>
            </a:r>
            <a:r>
              <a:rPr lang="zh-CN" altLang="en-US" b="0" i="0" dirty="0">
                <a:solidFill>
                  <a:srgbClr val="374151"/>
                </a:solidFill>
                <a:effectLst/>
                <a:latin typeface="Söhne"/>
              </a:rPr>
              <a:t>：这是一种可以用自顶向下的方式进行解析的语法。</a:t>
            </a:r>
            <a:r>
              <a:rPr lang="en-US" altLang="zh-CN" b="0" i="0" dirty="0">
                <a:solidFill>
                  <a:srgbClr val="374151"/>
                </a:solidFill>
                <a:effectLst/>
                <a:latin typeface="Söhne"/>
              </a:rPr>
              <a:t>LL</a:t>
            </a:r>
            <a:r>
              <a:rPr lang="zh-CN" altLang="en-US" b="0" i="0" dirty="0">
                <a:solidFill>
                  <a:srgbClr val="374151"/>
                </a:solidFill>
                <a:effectLst/>
                <a:latin typeface="Söhne"/>
              </a:rPr>
              <a:t>解析器从左到右读取输入，并基于左侧的上下文来进行决策。它通常使用递归下降的方法，直接从起始符号开始，并尝试应用各种产生式。</a:t>
            </a:r>
          </a:p>
          <a:p>
            <a:pPr algn="l">
              <a:buFont typeface="Arial" panose="020B0604020202020204" pitchFamily="34" charset="0"/>
              <a:buChar char="•"/>
            </a:pPr>
            <a:r>
              <a:rPr lang="en-US" altLang="zh-CN" b="1" i="0" dirty="0">
                <a:solidFill>
                  <a:srgbClr val="374151"/>
                </a:solidFill>
                <a:effectLst/>
                <a:latin typeface="Söhne"/>
              </a:rPr>
              <a:t>L</a:t>
            </a:r>
            <a:r>
              <a:rPr lang="zh-CN" altLang="en-US" b="1" i="0" dirty="0">
                <a:solidFill>
                  <a:srgbClr val="374151"/>
                </a:solidFill>
                <a:effectLst/>
                <a:latin typeface="Söhne"/>
              </a:rPr>
              <a:t>属性的</a:t>
            </a:r>
            <a:r>
              <a:rPr lang="en-US" altLang="zh-CN" b="1" i="0" dirty="0">
                <a:solidFill>
                  <a:srgbClr val="374151"/>
                </a:solidFill>
                <a:effectLst/>
                <a:latin typeface="Söhne"/>
              </a:rPr>
              <a:t>SDD</a:t>
            </a:r>
            <a:r>
              <a:rPr lang="zh-CN" altLang="en-US" b="0" i="0" dirty="0">
                <a:solidFill>
                  <a:srgbClr val="374151"/>
                </a:solidFill>
                <a:effectLst/>
                <a:latin typeface="Söhne"/>
              </a:rPr>
              <a:t>：这种</a:t>
            </a:r>
            <a:r>
              <a:rPr lang="en-US" altLang="zh-CN" b="0" i="0" dirty="0">
                <a:solidFill>
                  <a:srgbClr val="374151"/>
                </a:solidFill>
                <a:effectLst/>
                <a:latin typeface="Söhne"/>
              </a:rPr>
              <a:t>SDD</a:t>
            </a:r>
            <a:r>
              <a:rPr lang="zh-CN" altLang="en-US" b="0" i="0" dirty="0">
                <a:solidFill>
                  <a:srgbClr val="374151"/>
                </a:solidFill>
                <a:effectLst/>
                <a:latin typeface="Söhne"/>
              </a:rPr>
              <a:t>除了合成属性外，还包括继承属性，但这些继承属性只能依赖于它左边的兄弟节点或其父节点的属性。由于</a:t>
            </a:r>
            <a:r>
              <a:rPr lang="en-US" altLang="zh-CN" b="0" i="0" dirty="0">
                <a:solidFill>
                  <a:srgbClr val="374151"/>
                </a:solidFill>
                <a:effectLst/>
                <a:latin typeface="Söhne"/>
              </a:rPr>
              <a:t>LL</a:t>
            </a:r>
            <a:r>
              <a:rPr lang="zh-CN" altLang="en-US" b="0" i="0" dirty="0">
                <a:solidFill>
                  <a:srgbClr val="374151"/>
                </a:solidFill>
                <a:effectLst/>
                <a:latin typeface="Söhne"/>
              </a:rPr>
              <a:t>解析是自顶向下的，所以可以在解析过程中计算这些继承属性。</a:t>
            </a:r>
          </a:p>
          <a:p>
            <a:pPr lvl="1"/>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如果 </a:t>
            </a:r>
            <a:r>
              <a:rPr lang="en-US" altLang="zh-CN" dirty="0"/>
              <a:t>SDD </a:t>
            </a:r>
            <a:r>
              <a:rPr lang="zh-CN" altLang="en-US" dirty="0"/>
              <a:t>的语法是 </a:t>
            </a:r>
            <a:r>
              <a:rPr lang="en-US" altLang="zh-CN" dirty="0"/>
              <a:t>LR</a:t>
            </a:r>
            <a:r>
              <a:rPr lang="zh-CN" altLang="en-US" dirty="0"/>
              <a:t>，而且 </a:t>
            </a:r>
            <a:r>
              <a:rPr lang="en-US" altLang="zh-CN" dirty="0"/>
              <a:t>SDD </a:t>
            </a:r>
            <a:r>
              <a:rPr lang="zh-CN" altLang="en-US" dirty="0"/>
              <a:t>是 </a:t>
            </a:r>
            <a:r>
              <a:rPr lang="en-US" altLang="zh-CN" dirty="0"/>
              <a:t>S </a:t>
            </a:r>
            <a:r>
              <a:rPr lang="zh-CN" altLang="en-US" dirty="0"/>
              <a:t>属性的，那么我们就可以构造一个后缀 </a:t>
            </a:r>
            <a:r>
              <a:rPr lang="en-US" altLang="zh-CN" dirty="0"/>
              <a:t>SDT</a:t>
            </a:r>
            <a:r>
              <a:rPr lang="zh-CN" altLang="en-US" dirty="0"/>
              <a:t>（后缀 </a:t>
            </a:r>
            <a:r>
              <a:rPr lang="en-US" altLang="zh-CN" dirty="0"/>
              <a:t>SDT</a:t>
            </a:r>
            <a:r>
              <a:rPr lang="zh-CN" altLang="en-US" dirty="0"/>
              <a:t>），在自下而上的解析中实现 </a:t>
            </a:r>
            <a:r>
              <a:rPr lang="en-US" altLang="zh-CN" dirty="0"/>
              <a:t>SDD </a:t>
            </a:r>
            <a:r>
              <a:rPr lang="zh-CN" altLang="en-US" dirty="0"/>
              <a:t>语义动作总是出现在制作的末尾（因此称为 </a:t>
            </a:r>
            <a:r>
              <a:rPr lang="en-US" altLang="zh-CN" dirty="0"/>
              <a:t>"</a:t>
            </a:r>
            <a:r>
              <a:rPr lang="zh-CN" altLang="en-US" dirty="0"/>
              <a:t>后缀</a:t>
            </a:r>
            <a:r>
              <a:rPr lang="en-US" altLang="zh-CN" dirty="0"/>
              <a:t>"</a:t>
            </a:r>
            <a:r>
              <a:rPr lang="zh-CN" altLang="en-US" dirty="0"/>
              <a:t>）。</a:t>
            </a:r>
            <a:endParaRPr lang="en-US" altLang="zh-CN" dirty="0"/>
          </a:p>
          <a:p>
            <a:endParaRPr lang="en-US" altLang="zh-CN" dirty="0"/>
          </a:p>
          <a:p>
            <a:r>
              <a:rPr lang="zh-CN" altLang="en-US" dirty="0"/>
              <a:t>之所以能做到这一点，是因为在自下而上的解析过程中，在还原到生产头之前，已经访问过生产体中的语法符号，并计算了它们的合成属性。</a:t>
            </a:r>
            <a:endParaRPr lang="en-US" altLang="zh-CN" dirty="0"/>
          </a:p>
          <a:p>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在 </a:t>
            </a:r>
            <a:r>
              <a:rPr lang="en-US" altLang="zh-CN" dirty="0"/>
              <a:t>LR </a:t>
            </a:r>
            <a:r>
              <a:rPr lang="zh-CN" altLang="en-US" dirty="0"/>
              <a:t>解析过程中，可以通过在还原发生时执行以下操作来实现后缀 </a:t>
            </a:r>
            <a:r>
              <a:rPr lang="en-US" altLang="zh-CN" dirty="0"/>
              <a:t>SDT</a:t>
            </a:r>
          </a:p>
          <a:p>
            <a:r>
              <a:rPr lang="zh-CN" altLang="en-US" dirty="0"/>
              <a:t>合成的属性可与语法符号一起放在堆栈中</a:t>
            </a:r>
            <a:endParaRPr lang="en-US" altLang="zh-CN" dirty="0"/>
          </a:p>
          <a:p>
            <a:endParaRPr lang="en-US" altLang="zh-CN" dirty="0"/>
          </a:p>
          <a:p>
            <a:r>
              <a:rPr lang="zh-CN" altLang="en-US" dirty="0"/>
              <a:t>如果我们使用 </a:t>
            </a:r>
            <a:r>
              <a:rPr lang="en-US" altLang="zh-CN" dirty="0"/>
              <a:t>A → XYZ </a:t>
            </a:r>
            <a:r>
              <a:rPr lang="zh-CN" altLang="en-US" dirty="0"/>
              <a:t>进行还原，那么 </a:t>
            </a:r>
            <a:r>
              <a:rPr lang="en-US" altLang="zh-CN" dirty="0"/>
              <a:t>A </a:t>
            </a:r>
            <a:r>
              <a:rPr lang="zh-CN" altLang="en-US" dirty="0"/>
              <a:t>的属性就可以根据堆栈中已经存在的 </a:t>
            </a:r>
            <a:r>
              <a:rPr lang="en-US" altLang="zh-CN" dirty="0"/>
              <a:t>X</a:t>
            </a:r>
            <a:r>
              <a:rPr lang="zh-CN" altLang="en-US" dirty="0"/>
              <a:t>、</a:t>
            </a:r>
            <a:r>
              <a:rPr lang="en-US" altLang="zh-CN" dirty="0"/>
              <a:t>Y </a:t>
            </a:r>
            <a:r>
              <a:rPr lang="zh-CN" altLang="en-US" dirty="0"/>
              <a:t>和 </a:t>
            </a:r>
            <a:r>
              <a:rPr lang="en-US" altLang="zh-CN" dirty="0"/>
              <a:t>Z </a:t>
            </a:r>
            <a:r>
              <a:rPr lang="zh-CN" altLang="en-US" dirty="0"/>
              <a:t>计算出来。就可以根据堆栈中已经存在的 </a:t>
            </a:r>
            <a:r>
              <a:rPr lang="en-US" altLang="zh-CN" dirty="0"/>
              <a:t>X</a:t>
            </a:r>
            <a:r>
              <a:rPr lang="zh-CN" altLang="en-US" dirty="0"/>
              <a:t>、</a:t>
            </a:r>
            <a:r>
              <a:rPr lang="en-US" altLang="zh-CN" dirty="0"/>
              <a:t>Y </a:t>
            </a:r>
            <a:r>
              <a:rPr lang="zh-CN" altLang="en-US" dirty="0"/>
              <a:t>和 </a:t>
            </a:r>
            <a:r>
              <a:rPr lang="en-US" altLang="zh-CN" dirty="0"/>
              <a:t>Z </a:t>
            </a:r>
            <a:r>
              <a:rPr lang="zh-CN" altLang="en-US" dirty="0"/>
              <a:t>的属性计算出 </a:t>
            </a:r>
            <a:r>
              <a:rPr lang="en-US" altLang="zh-CN" dirty="0"/>
              <a:t>A </a:t>
            </a:r>
            <a:r>
              <a:rPr lang="zh-CN" altLang="en-US" dirty="0"/>
              <a:t>的属性。</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a:t>• 在许多语言中，保留字或关键词（如 then）也符合标识符模式</a:t>
            </a:r>
          </a:p>
          <a:p>
            <a:r>
              <a:rPr lang="zh-CN" altLang="en-US"/>
              <a:t>• 问题：搜索标识符的过渡图也能识别保留字</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80575" y="642938"/>
            <a:ext cx="2314575" cy="173672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56</a:t>
            </a:fld>
            <a:endParaRPr lang="zh-CN" altLang="en-US"/>
          </a:p>
        </p:txBody>
      </p:sp>
    </p:spTree>
    <p:extLst>
      <p:ext uri="{BB962C8B-B14F-4D97-AF65-F5344CB8AC3E}">
        <p14:creationId xmlns:p14="http://schemas.microsoft.com/office/powerpoint/2010/main" val="16516749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如果基础语法是 </a:t>
            </a:r>
            <a:r>
              <a:rPr lang="en-US" altLang="zh-CN" dirty="0"/>
              <a:t>LL</a:t>
            </a:r>
            <a:r>
              <a:rPr lang="zh-CN" altLang="en-US" dirty="0"/>
              <a:t>，那么 </a:t>
            </a:r>
            <a:r>
              <a:rPr lang="en-US" altLang="zh-CN" dirty="0"/>
              <a:t>L </a:t>
            </a:r>
            <a:r>
              <a:rPr lang="zh-CN" altLang="en-US" dirty="0"/>
              <a:t>归因 </a:t>
            </a:r>
            <a:r>
              <a:rPr lang="en-US" altLang="zh-CN" dirty="0"/>
              <a:t>SDD </a:t>
            </a:r>
            <a:r>
              <a:rPr lang="zh-CN" altLang="en-US" dirty="0"/>
              <a:t>可以在自上而下的解析过程中实现。</a:t>
            </a:r>
            <a:endParaRPr lang="en-US" altLang="zh-CN" dirty="0"/>
          </a:p>
          <a:p>
            <a:r>
              <a:rPr lang="zh-CN" altLang="en-US" dirty="0"/>
              <a:t>将 </a:t>
            </a:r>
            <a:r>
              <a:rPr lang="en-US" altLang="zh-CN" dirty="0"/>
              <a:t>L </a:t>
            </a:r>
            <a:r>
              <a:rPr lang="zh-CN" altLang="en-US" dirty="0"/>
              <a:t>属性 </a:t>
            </a:r>
            <a:r>
              <a:rPr lang="en-US" altLang="zh-CN" dirty="0"/>
              <a:t>SDD </a:t>
            </a:r>
            <a:r>
              <a:rPr lang="zh-CN" altLang="en-US" dirty="0"/>
              <a:t>转化为 </a:t>
            </a:r>
            <a:r>
              <a:rPr lang="en-US" altLang="zh-CN" dirty="0"/>
              <a:t>SDT </a:t>
            </a:r>
            <a:r>
              <a:rPr lang="zh-CN" altLang="en-US" dirty="0"/>
              <a:t>的方法是将语义动作放在相关语篇 </a:t>
            </a:r>
            <a:r>
              <a:rPr lang="en-US" altLang="zh-CN" dirty="0"/>
              <a:t>A → X1X2...</a:t>
            </a:r>
            <a:r>
              <a:rPr lang="en-US" altLang="zh-CN" dirty="0" err="1"/>
              <a:t>Xn</a:t>
            </a:r>
            <a:r>
              <a:rPr lang="en-US" altLang="zh-CN" dirty="0"/>
              <a:t> </a:t>
            </a:r>
            <a:r>
              <a:rPr lang="zh-CN" altLang="en-US" dirty="0"/>
              <a:t>的适当位置上。</a:t>
            </a:r>
            <a:endParaRPr lang="en-US" altLang="zh-CN" dirty="0"/>
          </a:p>
          <a:p>
            <a:r>
              <a:rPr lang="zh-CN" altLang="en-US" dirty="0"/>
              <a:t>将计算非终端 </a:t>
            </a:r>
            <a:r>
              <a:rPr lang="en-US" altLang="zh-CN" dirty="0"/>
              <a:t>Xi </a:t>
            </a:r>
            <a:r>
              <a:rPr lang="zh-CN" altLang="en-US" dirty="0"/>
              <a:t>的继承属性的动作紧接在生产体中 </a:t>
            </a:r>
            <a:r>
              <a:rPr lang="en-US" altLang="zh-CN" dirty="0"/>
              <a:t>Xi </a:t>
            </a:r>
            <a:r>
              <a:rPr lang="zh-CN" altLang="en-US" dirty="0"/>
              <a:t>的前面 </a:t>
            </a:r>
            <a:endParaRPr lang="en-US" altLang="zh-CN" dirty="0"/>
          </a:p>
          <a:p>
            <a:r>
              <a:rPr lang="zh-CN" altLang="en-US" dirty="0"/>
              <a:t>将为语篇头部计算合成属性的操作放在语篇主体的末尾</a:t>
            </a:r>
          </a:p>
        </p:txBody>
      </p:sp>
    </p:spTree>
    <p:extLst>
      <p:ext uri="{BB962C8B-B14F-4D97-AF65-F5344CB8AC3E}">
        <p14:creationId xmlns:p14="http://schemas.microsoft.com/office/powerpoint/2010/main" val="42451237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1" dirty="0" err="1">
                <a:solidFill>
                  <a:schemeClr val="tx2">
                    <a:lumMod val="60000"/>
                    <a:lumOff val="40000"/>
                  </a:schemeClr>
                </a:solidFill>
                <a:ea typeface="楷体_GB2312" pitchFamily="49" charset="-122"/>
                <a:cs typeface="Times New Roman" pitchFamily="18" charset="0"/>
              </a:rPr>
              <a:t>S.Begin</a:t>
            </a:r>
            <a:r>
              <a:rPr lang="en-US" altLang="zh-CN" b="1" i="1" dirty="0">
                <a:solidFill>
                  <a:schemeClr val="tx2">
                    <a:lumMod val="60000"/>
                    <a:lumOff val="40000"/>
                  </a:schemeClr>
                </a:solidFill>
                <a:ea typeface="楷体_GB2312" pitchFamily="49" charset="-122"/>
                <a:cs typeface="Times New Roman" pitchFamily="18" charset="0"/>
              </a:rPr>
              <a:t> while </a:t>
            </a:r>
            <a:r>
              <a:rPr lang="zh-CN" altLang="en-US" b="1" i="1" dirty="0">
                <a:solidFill>
                  <a:schemeClr val="tx2">
                    <a:lumMod val="60000"/>
                    <a:lumOff val="40000"/>
                  </a:schemeClr>
                </a:solidFill>
                <a:ea typeface="楷体_GB2312" pitchFamily="49" charset="-122"/>
                <a:cs typeface="Times New Roman" pitchFamily="18" charset="0"/>
              </a:rPr>
              <a:t>语句开头</a:t>
            </a:r>
            <a:endParaRPr lang="en-US" altLang="zh-CN" b="1" i="1" dirty="0">
              <a:solidFill>
                <a:schemeClr val="tx2">
                  <a:lumMod val="60000"/>
                  <a:lumOff val="40000"/>
                </a:schemeClr>
              </a:solidFill>
              <a:ea typeface="楷体_GB2312" pitchFamily="49" charset="-122"/>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1" dirty="0" err="1">
                <a:solidFill>
                  <a:schemeClr val="tx2">
                    <a:lumMod val="60000"/>
                    <a:lumOff val="40000"/>
                  </a:schemeClr>
                </a:solidFill>
                <a:ea typeface="楷体_GB2312" pitchFamily="49" charset="-122"/>
                <a:cs typeface="Times New Roman" pitchFamily="18" charset="0"/>
              </a:rPr>
              <a:t>C.True</a:t>
            </a:r>
            <a:r>
              <a:rPr lang="en-US" altLang="zh-CN" b="1" i="1" dirty="0">
                <a:solidFill>
                  <a:schemeClr val="tx2">
                    <a:lumMod val="60000"/>
                    <a:lumOff val="40000"/>
                  </a:schemeClr>
                </a:solidFill>
                <a:ea typeface="楷体_GB2312" pitchFamily="49" charset="-122"/>
                <a:cs typeface="Times New Roman" pitchFamily="18" charset="0"/>
              </a:rPr>
              <a:t> S1</a:t>
            </a:r>
            <a:r>
              <a:rPr lang="zh-CN" altLang="en-US" b="1" i="1" dirty="0">
                <a:solidFill>
                  <a:schemeClr val="tx2">
                    <a:lumMod val="60000"/>
                    <a:lumOff val="40000"/>
                  </a:schemeClr>
                </a:solidFill>
                <a:ea typeface="楷体_GB2312" pitchFamily="49" charset="-122"/>
                <a:cs typeface="Times New Roman" pitchFamily="18" charset="0"/>
              </a:rPr>
              <a:t>的第一条语句</a:t>
            </a:r>
            <a:endParaRPr lang="zh-CN" altLang="en-US" dirty="0"/>
          </a:p>
          <a:p>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en-US" altLang="zh-CN" dirty="0"/>
              <a:t>- </a:t>
            </a:r>
            <a:r>
              <a:rPr lang="zh-CN" altLang="en-US" dirty="0"/>
              <a:t>语义操作：</a:t>
            </a:r>
            <a:endParaRPr lang="en-US" altLang="zh-CN" dirty="0"/>
          </a:p>
          <a:p>
            <a:pPr marL="685800" lvl="1" indent="-228600">
              <a:buAutoNum type="alphaLcParenR"/>
            </a:pPr>
            <a:r>
              <a:rPr lang="en-US" altLang="zh-CN" dirty="0"/>
              <a:t>L1 = new()</a:t>
            </a:r>
            <a:r>
              <a:rPr lang="zh-CN" altLang="en-US" dirty="0"/>
              <a:t>；</a:t>
            </a:r>
            <a:r>
              <a:rPr lang="en-US" altLang="zh-CN" dirty="0"/>
              <a:t>L2 = new()</a:t>
            </a:r>
            <a:r>
              <a:rPr lang="zh-CN" altLang="en-US" dirty="0"/>
              <a:t>；</a:t>
            </a:r>
            <a:endParaRPr lang="en-US" altLang="zh-CN" dirty="0"/>
          </a:p>
          <a:p>
            <a:pPr marL="685800" lvl="1" indent="-228600">
              <a:buAutoNum type="alphaLcParenR"/>
            </a:pPr>
            <a:r>
              <a:rPr lang="en-US" altLang="zh-CN" dirty="0"/>
              <a:t>b) </a:t>
            </a:r>
            <a:r>
              <a:rPr lang="en-US" altLang="zh-CN" dirty="0" err="1"/>
              <a:t>C.false</a:t>
            </a:r>
            <a:r>
              <a:rPr lang="en-US" altLang="zh-CN" dirty="0"/>
              <a:t> = </a:t>
            </a:r>
            <a:r>
              <a:rPr lang="en-US" altLang="zh-CN" dirty="0" err="1"/>
              <a:t>S.next</a:t>
            </a:r>
            <a:r>
              <a:rPr lang="en-US" altLang="zh-CN" dirty="0"/>
              <a:t>; </a:t>
            </a:r>
            <a:r>
              <a:rPr lang="en-US" altLang="zh-CN" dirty="0" err="1"/>
              <a:t>C.true</a:t>
            </a:r>
            <a:r>
              <a:rPr lang="en-US" altLang="zh-CN" dirty="0"/>
              <a:t> = L2</a:t>
            </a:r>
            <a:r>
              <a:rPr lang="zh-CN" altLang="en-US" dirty="0"/>
              <a:t>；</a:t>
            </a:r>
            <a:endParaRPr lang="en-US" altLang="zh-CN" dirty="0"/>
          </a:p>
          <a:p>
            <a:pPr marL="685800" lvl="1" indent="-228600">
              <a:buAutoNum type="alphaLcParenR"/>
            </a:pPr>
            <a:r>
              <a:rPr lang="en-US" altLang="zh-CN" dirty="0"/>
              <a:t>c) S1.next = L1</a:t>
            </a:r>
            <a:r>
              <a:rPr lang="zh-CN" altLang="en-US" dirty="0"/>
              <a:t>；</a:t>
            </a:r>
            <a:endParaRPr lang="en-US" altLang="zh-CN" dirty="0"/>
          </a:p>
          <a:p>
            <a:pPr marL="685800" lvl="1" indent="-228600">
              <a:buAutoNum type="alphaLcParenR"/>
            </a:pPr>
            <a:r>
              <a:rPr lang="en-US" altLang="zh-CN" dirty="0"/>
              <a:t>d) </a:t>
            </a:r>
            <a:r>
              <a:rPr lang="en-US" altLang="zh-CN" dirty="0" err="1"/>
              <a:t>S.code</a:t>
            </a:r>
            <a:r>
              <a:rPr lang="en-US" altLang="zh-CN" dirty="0"/>
              <a:t> = ⋯ </a:t>
            </a:r>
            <a:r>
              <a:rPr lang="zh-CN" altLang="en-US" dirty="0"/>
              <a:t>；</a:t>
            </a:r>
            <a:endParaRPr lang="en-US" altLang="zh-CN" dirty="0"/>
          </a:p>
          <a:p>
            <a:r>
              <a:rPr lang="zh-CN" altLang="en-US" dirty="0"/>
              <a:t>根据动作位置规则，</a:t>
            </a:r>
            <a:endParaRPr lang="en-US" altLang="zh-CN" dirty="0"/>
          </a:p>
          <a:p>
            <a:r>
              <a:rPr lang="en-US" altLang="zh-CN" dirty="0"/>
              <a:t>b) </a:t>
            </a:r>
            <a:r>
              <a:rPr lang="zh-CN" altLang="en-US" dirty="0"/>
              <a:t>应放在判断语句</a:t>
            </a:r>
            <a:r>
              <a:rPr lang="en-US" altLang="zh-CN" dirty="0"/>
              <a:t>C </a:t>
            </a:r>
            <a:r>
              <a:rPr lang="zh-CN" altLang="en-US" dirty="0"/>
              <a:t>之前，</a:t>
            </a:r>
            <a:r>
              <a:rPr lang="en-US" altLang="zh-CN" dirty="0"/>
              <a:t>c) </a:t>
            </a:r>
            <a:r>
              <a:rPr lang="zh-CN" altLang="en-US" dirty="0"/>
              <a:t>应放在</a:t>
            </a:r>
            <a:r>
              <a:rPr lang="en-US" altLang="zh-CN" dirty="0"/>
              <a:t>S1</a:t>
            </a:r>
            <a:r>
              <a:rPr lang="zh-CN" altLang="en-US" dirty="0"/>
              <a:t>语句之前（计算</a:t>
            </a:r>
            <a:r>
              <a:rPr lang="en-US" altLang="zh-CN" dirty="0"/>
              <a:t>S1</a:t>
            </a:r>
            <a:r>
              <a:rPr lang="zh-CN" altLang="en-US" dirty="0"/>
              <a:t>的继承属性），</a:t>
            </a:r>
            <a:r>
              <a:rPr lang="en-US" altLang="zh-CN" dirty="0"/>
              <a:t>d) </a:t>
            </a:r>
            <a:r>
              <a:rPr lang="zh-CN" altLang="en-US" dirty="0"/>
              <a:t>应放在产生式末尾（产生式左部</a:t>
            </a:r>
            <a:r>
              <a:rPr lang="en-US" altLang="zh-CN" dirty="0"/>
              <a:t>S</a:t>
            </a:r>
            <a:r>
              <a:rPr lang="zh-CN" altLang="en-US" dirty="0"/>
              <a:t>的综合属性计算应该在产生式右部所有文法符号的属性都计算完才能计算）</a:t>
            </a:r>
            <a:endParaRPr lang="en-US" altLang="zh-CN" dirty="0"/>
          </a:p>
          <a:p>
            <a:r>
              <a:rPr lang="en-US" altLang="zh-CN" dirty="0"/>
              <a:t>a) </a:t>
            </a:r>
            <a:r>
              <a:rPr lang="zh-CN" altLang="en-US" dirty="0"/>
              <a:t>可以放在开头；没有限制条件</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680575" y="642938"/>
            <a:ext cx="2314575" cy="1736725"/>
          </a:xfrm>
        </p:spPr>
      </p:sp>
      <p:sp>
        <p:nvSpPr>
          <p:cNvPr id="3" name="文本占位符 2"/>
          <p:cNvSpPr>
            <a:spLocks noGrp="1"/>
          </p:cNvSpPr>
          <p:nvPr>
            <p:ph type="body" idx="3"/>
          </p:nvPr>
        </p:nvSpPr>
        <p:spPr/>
        <p:txBody>
          <a:bodyPr/>
          <a:lstStyle/>
          <a:p>
            <a:r>
              <a:rPr lang="zh-CN" altLang="en-US" dirty="0"/>
              <a:t>许多翻译应用都可以使用 </a:t>
            </a:r>
            <a:r>
              <a:rPr lang="en-US" altLang="zh-CN" dirty="0"/>
              <a:t>L </a:t>
            </a:r>
            <a:r>
              <a:rPr lang="zh-CN" altLang="en-US" dirty="0"/>
              <a:t>归因 </a:t>
            </a:r>
            <a:r>
              <a:rPr lang="en-US" altLang="zh-CN" dirty="0"/>
              <a:t>SDD </a:t>
            </a:r>
            <a:r>
              <a:rPr lang="zh-CN" altLang="en-US" dirty="0"/>
              <a:t>来解决。如下所示，我们可以扩展递归</a:t>
            </a:r>
            <a:r>
              <a:rPr lang="en-US" altLang="zh-CN" dirty="0"/>
              <a:t>-</a:t>
            </a:r>
            <a:r>
              <a:rPr lang="zh-CN" altLang="en-US" dirty="0"/>
              <a:t>下降解析器来实现 </a:t>
            </a:r>
            <a:r>
              <a:rPr lang="en-US" altLang="zh-CN" dirty="0"/>
              <a:t>L </a:t>
            </a:r>
            <a:r>
              <a:rPr lang="zh-CN" altLang="en-US" dirty="0"/>
              <a:t>属性 </a:t>
            </a:r>
            <a:r>
              <a:rPr lang="en-US" altLang="zh-CN" dirty="0"/>
              <a:t>SDD</a:t>
            </a:r>
            <a:r>
              <a:rPr lang="zh-CN" altLang="en-US" dirty="0"/>
              <a:t>：</a:t>
            </a:r>
            <a:endParaRPr lang="en-US" altLang="zh-CN" dirty="0"/>
          </a:p>
          <a:p>
            <a:pPr lvl="1"/>
            <a:r>
              <a:rPr lang="zh-CN" altLang="en-US" dirty="0"/>
              <a:t>递归</a:t>
            </a:r>
            <a:r>
              <a:rPr lang="en-US" altLang="zh-CN" dirty="0"/>
              <a:t>-</a:t>
            </a:r>
            <a:r>
              <a:rPr lang="zh-CN" altLang="en-US" dirty="0"/>
              <a:t>迭代解析器为每个非终端 </a:t>
            </a:r>
            <a:r>
              <a:rPr lang="en-US" altLang="zh-CN" dirty="0"/>
              <a:t>A </a:t>
            </a:r>
            <a:r>
              <a:rPr lang="zh-CN" altLang="en-US" dirty="0"/>
              <a:t>都有一个函数 </a:t>
            </a:r>
            <a:r>
              <a:rPr lang="en-US" altLang="zh-CN" dirty="0"/>
              <a:t>A</a:t>
            </a:r>
          </a:p>
          <a:p>
            <a:pPr lvl="1"/>
            <a:r>
              <a:rPr lang="zh-CN" altLang="en-US" dirty="0"/>
              <a:t>使用函数 </a:t>
            </a:r>
            <a:r>
              <a:rPr lang="en-US" altLang="zh-CN" dirty="0"/>
              <a:t>A </a:t>
            </a:r>
            <a:r>
              <a:rPr lang="zh-CN" altLang="en-US" dirty="0"/>
              <a:t>的参数传递 </a:t>
            </a:r>
            <a:r>
              <a:rPr lang="en-US" altLang="zh-CN" dirty="0"/>
              <a:t>A </a:t>
            </a:r>
            <a:r>
              <a:rPr lang="zh-CN" altLang="en-US" dirty="0"/>
              <a:t>的继承属性</a:t>
            </a:r>
            <a:endParaRPr lang="en-US" altLang="zh-CN" dirty="0"/>
          </a:p>
          <a:p>
            <a:pPr lvl="1"/>
            <a:r>
              <a:rPr lang="zh-CN" altLang="en-US" dirty="0"/>
              <a:t>当函数 </a:t>
            </a:r>
            <a:r>
              <a:rPr lang="en-US" altLang="zh-CN" dirty="0"/>
              <a:t>A </a:t>
            </a:r>
            <a:r>
              <a:rPr lang="zh-CN" altLang="en-US" dirty="0"/>
              <a:t>完成时，返回 </a:t>
            </a:r>
            <a:r>
              <a:rPr lang="en-US" altLang="zh-CN" dirty="0"/>
              <a:t>A </a:t>
            </a:r>
            <a:r>
              <a:rPr lang="zh-CN" altLang="en-US" dirty="0"/>
              <a:t>的合成属性</a:t>
            </a:r>
            <a:endParaRPr lang="en-US" altLang="zh-CN" dirty="0"/>
          </a:p>
          <a:p>
            <a:r>
              <a:rPr lang="zh-CN" altLang="en-US" dirty="0"/>
              <a:t>通过上述扩展，在函数 </a:t>
            </a:r>
            <a:r>
              <a:rPr lang="en-US" altLang="zh-CN" dirty="0"/>
              <a:t>A </a:t>
            </a:r>
            <a:r>
              <a:rPr lang="zh-CN" altLang="en-US" dirty="0"/>
              <a:t>的主体中，我们需要同时解析和处理属性</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hasCustomPrompt="1"/>
          </p:nvPr>
        </p:nvSpPr>
        <p:spPr bwMode="auto">
          <a:xfrm>
            <a:off x="1143000" y="1122363"/>
            <a:ext cx="6858000" cy="2387600"/>
          </a:xfrm>
        </p:spPr>
        <p:txBody>
          <a:bodyPr anchor="b"/>
          <a:lstStyle>
            <a:lvl1pPr algn="ctr">
              <a:defRPr sz="6000" b="0" i="0">
                <a:latin typeface="Ubuntu Mono derivative Powerlin"/>
                <a:cs typeface="Courier New" panose="02070309020205020404"/>
              </a:defRPr>
            </a:lvl1pPr>
          </a:lstStyle>
          <a:p>
            <a:pPr>
              <a:defRPr/>
            </a:pPr>
            <a:r>
              <a:rPr lang="en-US"/>
              <a:t>Chapter</a:t>
            </a:r>
            <a:r>
              <a:rPr lang="zh-CN"/>
              <a:t> </a:t>
            </a:r>
            <a:r>
              <a:rPr lang="en-US"/>
              <a:t>1: Introduction</a:t>
            </a:r>
          </a:p>
        </p:txBody>
      </p:sp>
      <p:sp>
        <p:nvSpPr>
          <p:cNvPr id="3" name="Subtitle 2"/>
          <p:cNvSpPr>
            <a:spLocks noGrp="1"/>
          </p:cNvSpPr>
          <p:nvPr>
            <p:ph type="subTitle" idx="1" hasCustomPrompt="1"/>
          </p:nvPr>
        </p:nvSpPr>
        <p:spPr bwMode="auto">
          <a:xfrm>
            <a:off x="1143000" y="3602038"/>
            <a:ext cx="6858000" cy="1655762"/>
          </a:xfrm>
        </p:spPr>
        <p:txBody>
          <a:bodyPr/>
          <a:lstStyle>
            <a:lvl1pPr marL="0" indent="0" algn="ctr">
              <a:buNone/>
              <a:defRPr sz="2400">
                <a:latin typeface="Ubuntu Mono derivative Powerli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endParaRPr lang="en-US"/>
          </a:p>
          <a:p>
            <a:pPr>
              <a:defRPr/>
            </a:pPr>
            <a:r>
              <a:rPr lang="en-US"/>
              <a:t>Yanhui Guo</a:t>
            </a: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pic>
        <p:nvPicPr>
          <p:cNvPr id="7" name="Picture 7" descr="A picture containing text, font, logo, symbol&#10;&#10;Description automatically generated"/>
          <p:cNvPicPr>
            <a:picLocks noChangeAspect="1"/>
          </p:cNvPicPr>
          <p:nvPr userDrawn="1"/>
        </p:nvPicPr>
        <p:blipFill>
          <a:blip r:embed="rId2"/>
          <a:stretch>
            <a:fillRect/>
          </a:stretch>
        </p:blipFill>
        <p:spPr bwMode="auto">
          <a:xfrm>
            <a:off x="0" y="0"/>
            <a:ext cx="3543024" cy="123511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Outline</a:t>
            </a:r>
          </a:p>
        </p:txBody>
      </p:sp>
      <p:sp>
        <p:nvSpPr>
          <p:cNvPr id="3" name="Content Placeholder 2"/>
          <p:cNvSpPr>
            <a:spLocks noGrp="1"/>
          </p:cNvSpPr>
          <p:nvPr>
            <p:ph idx="1" hasCustomPrompt="1"/>
          </p:nvPr>
        </p:nvSpPr>
        <p:spPr bwMode="auto"/>
        <p:txBody>
          <a:bodyPr/>
          <a:lstStyle>
            <a:lvl1pPr>
              <a:lnSpc>
                <a:spcPct val="150000"/>
              </a:lnSpc>
              <a:defRPr>
                <a:latin typeface="Ubuntu Mono derivative Powerlin"/>
              </a:defRPr>
            </a:lvl1pPr>
          </a:lstStyle>
          <a:p>
            <a:pPr lvl="0">
              <a:defRPr/>
            </a:pPr>
            <a:r>
              <a:rPr lang="en-US"/>
              <a:t>One</a:t>
            </a:r>
          </a:p>
          <a:p>
            <a:pPr lvl="0">
              <a:defRPr/>
            </a:pPr>
            <a:r>
              <a:t>Two</a:t>
            </a:r>
          </a:p>
          <a:p>
            <a:pPr lvl="0">
              <a:defRPr/>
            </a:pPr>
            <a:r>
              <a:t>Three</a:t>
            </a:r>
          </a:p>
          <a:p>
            <a:pPr lvl="0">
              <a:defRPr/>
            </a:pPr>
            <a:r>
              <a:t>Four</a:t>
            </a: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Title</a:t>
            </a:r>
          </a:p>
        </p:txBody>
      </p:sp>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Title Only">
    <p:spTree>
      <p:nvGrpSpPr>
        <p:cNvPr id="1" name=""/>
        <p:cNvGrpSpPr/>
        <p:nvPr/>
      </p:nvGrpSpPr>
      <p:grpSpPr bwMode="auto">
        <a:xfrm>
          <a:off x="0" y="0"/>
          <a:ext cx="0" cy="0"/>
          <a:chOff x="0" y="0"/>
          <a:chExt cx="0" cy="0"/>
        </a:xfrm>
      </p:grpSpPr>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28650" y="365126"/>
            <a:ext cx="78867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3"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4" name="Date Placeholder 3"/>
          <p:cNvSpPr>
            <a:spLocks noGrp="1"/>
          </p:cNvSpPr>
          <p:nvPr>
            <p:ph type="dt" sz="half" idx="2"/>
          </p:nvPr>
        </p:nvSpPr>
        <p:spPr bwMode="auto">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Ubuntu Mono derivative Powerlin"/>
              </a:defRPr>
            </a:lvl1pPr>
          </a:lstStyle>
          <a:p>
            <a:pPr>
              <a:defRPr/>
            </a:pPr>
            <a:r>
              <a:rPr lang="en-US" altLang="zh-CN"/>
              <a:t>Fall 2024</a:t>
            </a:r>
            <a:endParaRPr lang="en-US"/>
          </a:p>
        </p:txBody>
      </p:sp>
      <p:sp>
        <p:nvSpPr>
          <p:cNvPr id="5" name="Footer Placeholder 4"/>
          <p:cNvSpPr>
            <a:spLocks noGrp="1"/>
          </p:cNvSpPr>
          <p:nvPr>
            <p:ph type="ftr" sz="quarter" idx="3"/>
          </p:nvPr>
        </p:nvSpPr>
        <p:spPr bwMode="auto">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Ubuntu Mono derivative Powerlin"/>
              </a:defRPr>
            </a:lvl1pPr>
          </a:lstStyle>
          <a:p>
            <a:pPr>
              <a:defRPr/>
            </a:pPr>
            <a:r>
              <a:t>BUPT Compilers</a:t>
            </a:r>
          </a:p>
        </p:txBody>
      </p:sp>
      <p:sp>
        <p:nvSpPr>
          <p:cNvPr id="6" name="Slide Number Placeholder 5"/>
          <p:cNvSpPr>
            <a:spLocks noGrp="1"/>
          </p:cNvSpPr>
          <p:nvPr>
            <p:ph type="sldNum" sz="quarter" idx="4"/>
          </p:nvPr>
        </p:nvSpPr>
        <p:spPr bwMode="auto">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FBC720A-3716-234A-B2DF-CBC7E48049F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lvl1pPr algn="l" defTabSz="914400">
        <a:lnSpc>
          <a:spcPct val="90000"/>
        </a:lnSpc>
        <a:spcBef>
          <a:spcPts val="0"/>
        </a:spcBef>
        <a:buNone/>
        <a:defRPr sz="4400">
          <a:solidFill>
            <a:schemeClr val="tx1"/>
          </a:solidFill>
          <a:latin typeface="Ubuntu Mono derivative Powerlin"/>
          <a:ea typeface="+mj-ea"/>
          <a:cs typeface="+mj-cs"/>
        </a:defRPr>
      </a:lvl1pPr>
    </p:titleStyle>
    <p:body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hyperlink" Target="file:///D:\work\&#25945;&#23398;\&#25480;&#35838;\&#32534;&#35793;&#21407;&#29702;&#19982;&#25216;&#26415;&#65288;&#26412;&#65289;\&#35838;&#31243;&#24314;&#35774;\&#32534;&#35793;&#21407;&#29702;&#35838;&#20214;\&#21704;&#24037;&#22823;\&#20998;&#31456;&#35838;&#20214;\&#31532;9&#35762;%20&#35821;&#27861;&#21046;&#23548;&#32763;&#35793;_2.ppt#-1,8,&#20363;&#65306;&#22312;&#33258;&#24213;&#21521;&#19978;&#35821;&#27861;&#20998;&#26512;&#26632;&#20013;&#23454;&#29616;&#26700;&#38754;&#35745;&#31639;&#22120;"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33.jp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83812125"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341913610"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88287224" name="Slide Number Placeholder 5"/>
          <p:cNvSpPr>
            <a:spLocks noGrp="1"/>
          </p:cNvSpPr>
          <p:nvPr>
            <p:ph type="sldNum" sz="quarter" idx="12"/>
          </p:nvPr>
        </p:nvSpPr>
        <p:spPr bwMode="auto"/>
        <p:txBody>
          <a:bodyPr/>
          <a:lstStyle/>
          <a:p>
            <a:pPr>
              <a:defRPr/>
            </a:pPr>
            <a:fld id="{FB84656F-ACB0-5C0A-4CED-E490BACA254F}" type="slidenum">
              <a:rPr/>
              <a:t>1</a:t>
            </a:fld>
            <a:endParaRPr/>
          </a:p>
        </p:txBody>
      </p:sp>
      <p:sp>
        <p:nvSpPr>
          <p:cNvPr id="8" name="object 3"/>
          <p:cNvSpPr txBox="1"/>
          <p:nvPr/>
        </p:nvSpPr>
        <p:spPr>
          <a:xfrm>
            <a:off x="0" y="2108708"/>
            <a:ext cx="9144000" cy="1502976"/>
          </a:xfrm>
          <a:prstGeom prst="rect">
            <a:avLst/>
          </a:prstGeom>
        </p:spPr>
        <p:txBody>
          <a:bodyPr vert="horz" wrap="square" lIns="0" tIns="12700" rIns="0" bIns="0" rtlCol="0">
            <a:spAutoFit/>
          </a:bodyPr>
          <a:lstStyle>
            <a:lvl1pPr>
              <a:defRPr sz="4000" b="1" i="0">
                <a:solidFill>
                  <a:schemeClr val="tx1"/>
                </a:solidFill>
                <a:latin typeface="Palatino Linotype" panose="02040502050505030304"/>
                <a:ea typeface="+mj-ea"/>
                <a:cs typeface="Palatino Linotype" panose="02040502050505030304"/>
              </a:defRPr>
            </a:lvl1pPr>
          </a:lstStyle>
          <a:p>
            <a:pPr marL="12700" algn="ctr">
              <a:spcBef>
                <a:spcPts val="100"/>
              </a:spcBef>
            </a:pPr>
            <a:r>
              <a:rPr sz="4800" spc="-5" dirty="0">
                <a:solidFill>
                  <a:srgbClr val="252525"/>
                </a:solidFill>
                <a:ea typeface="+mn-ea"/>
              </a:rPr>
              <a:t>Chapter </a:t>
            </a:r>
            <a:r>
              <a:rPr lang="en-US" sz="4800" spc="-5" dirty="0">
                <a:solidFill>
                  <a:srgbClr val="252525"/>
                </a:solidFill>
                <a:ea typeface="+mn-ea"/>
              </a:rPr>
              <a:t>4:</a:t>
            </a:r>
          </a:p>
          <a:p>
            <a:pPr marL="12700" algn="ctr">
              <a:spcBef>
                <a:spcPts val="100"/>
              </a:spcBef>
            </a:pPr>
            <a:r>
              <a:rPr lang="en-US" sz="4800" spc="-5" dirty="0">
                <a:solidFill>
                  <a:srgbClr val="252525"/>
                </a:solidFill>
                <a:ea typeface="+mn-ea"/>
              </a:rPr>
              <a:t>Syntax-Directed Translation</a:t>
            </a:r>
          </a:p>
        </p:txBody>
      </p:sp>
      <p:sp>
        <p:nvSpPr>
          <p:cNvPr id="9" name="object 4"/>
          <p:cNvSpPr txBox="1"/>
          <p:nvPr/>
        </p:nvSpPr>
        <p:spPr>
          <a:xfrm>
            <a:off x="2519998" y="4453117"/>
            <a:ext cx="4104004" cy="991235"/>
          </a:xfrm>
          <a:prstGeom prst="rect">
            <a:avLst/>
          </a:prstGeom>
        </p:spPr>
        <p:txBody>
          <a:bodyPr vert="horz" wrap="square" lIns="0" tIns="12700" rIns="0" bIns="0" rtlCol="0">
            <a:spAutoFit/>
          </a:bodyPr>
          <a:lstStyle/>
          <a:p>
            <a:pPr algn="ctr" rtl="0" eaLnBrk="0">
              <a:lnSpc>
                <a:spcPct val="102000"/>
              </a:lnSpc>
            </a:pPr>
            <a:r>
              <a:rPr lang="en-US" altLang="zh-CN" sz="3200" dirty="0" err="1">
                <a:solidFill>
                  <a:srgbClr val="000000"/>
                </a:solidFill>
                <a:latin typeface="Palatino Linotype" panose="02040502050505030304"/>
                <a:ea typeface="Palatino Linotype" panose="02040502050505030304"/>
                <a:cs typeface="Palatino Linotype" panose="02040502050505030304"/>
                <a:sym typeface="+mn-ea"/>
              </a:rPr>
              <a:t>Yanhui Guo</a:t>
            </a:r>
            <a:endParaRPr lang="en-US" altLang="zh-CN" sz="3200" dirty="0" err="1">
              <a:solidFill>
                <a:srgbClr val="000000"/>
              </a:solidFill>
              <a:latin typeface="Palatino Linotype" panose="02040502050505030304"/>
              <a:ea typeface="Palatino Linotype" panose="02040502050505030304"/>
              <a:cs typeface="Palatino Linotype" panose="02040502050505030304"/>
            </a:endParaRPr>
          </a:p>
          <a:p>
            <a:pPr algn="ctr" rtl="0" eaLnBrk="0">
              <a:lnSpc>
                <a:spcPct val="16000"/>
              </a:lnSpc>
            </a:pPr>
            <a:endParaRPr lang="en-US" altLang="zh-CN" sz="3200" dirty="0" err="1">
              <a:solidFill>
                <a:srgbClr val="000000"/>
              </a:solidFill>
              <a:latin typeface="Palatino Linotype" panose="02040502050505030304"/>
              <a:ea typeface="Palatino Linotype" panose="02040502050505030304"/>
              <a:cs typeface="Palatino Linotype" panose="02040502050505030304"/>
            </a:endParaRPr>
          </a:p>
          <a:p>
            <a:pPr marL="12700" algn="ctr" rtl="0" eaLnBrk="0">
              <a:lnSpc>
                <a:spcPct val="81000"/>
              </a:lnSpc>
            </a:pPr>
            <a:r>
              <a:rPr lang="en-US" altLang="zh-CN" sz="3200" dirty="0" err="1">
                <a:solidFill>
                  <a:srgbClr val="000000"/>
                </a:solidFill>
                <a:latin typeface="Palatino Linotype" panose="02040502050505030304"/>
                <a:ea typeface="Palatino Linotype" panose="02040502050505030304"/>
                <a:cs typeface="Palatino Linotype" panose="02040502050505030304"/>
                <a:sym typeface="+mn-ea"/>
              </a:rPr>
              <a:t>yhguo@bupt.edu.cn</a:t>
            </a:r>
            <a:endParaRPr sz="3200" kern="1200" dirty="0">
              <a:solidFill>
                <a:prstClr val="black"/>
              </a:solidFill>
              <a:latin typeface="Palatino Linotype" panose="02040502050505030304"/>
              <a:cs typeface="Palatino Linotype" panose="0204050205050503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sz="3600" b="1" noProof="0" dirty="0">
                <a:ln>
                  <a:noFill/>
                </a:ln>
                <a:solidFill>
                  <a:sysClr val="windowText" lastClr="000000"/>
                </a:solidFill>
                <a:effectLst/>
                <a:uLnTx/>
                <a:uFillTx/>
                <a:latin typeface="Palatino Linotype" panose="02040502050505030304" charset="0"/>
                <a:cs typeface="Palatino Linotype" panose="02040502050505030304"/>
              </a:rPr>
              <a:t>Outline</a:t>
            </a:r>
            <a:endParaRPr lang="en-US" altLang="en-US" sz="3600" b="1" noProof="0" dirty="0">
              <a:ln>
                <a:noFill/>
              </a:ln>
              <a:solidFill>
                <a:sysClr val="windowText" lastClr="000000"/>
              </a:solidFill>
              <a:effectLst/>
              <a:uLnTx/>
              <a:uFillTx/>
              <a:latin typeface="Palatino Linotype" panose="02040502050505030304" charset="0"/>
              <a:cs typeface="Palatino Linotype" panose="02040502050505030304"/>
            </a:endParaRPr>
          </a:p>
        </p:txBody>
      </p:sp>
      <p:sp>
        <p:nvSpPr>
          <p:cNvPr id="4" name="内容占位符 3"/>
          <p:cNvSpPr>
            <a:spLocks noGrp="1"/>
          </p:cNvSpPr>
          <p:nvPr>
            <p:ph idx="1"/>
          </p:nvPr>
        </p:nvSpPr>
        <p:spPr/>
        <p:txBody>
          <a:bodyPr>
            <a:normAutofit fontScale="67500" lnSpcReduction="20000"/>
          </a:bodyPr>
          <a:lstStyle/>
          <a:p>
            <a:pPr marL="12700" algn="l" rtl="0" eaLnBrk="0">
              <a:lnSpc>
                <a:spcPct val="81000"/>
              </a:lnSpc>
              <a:spcBef>
                <a:spcPts val="730"/>
              </a:spcBef>
            </a:pPr>
            <a:r>
              <a:rPr lang="en-US" sz="3665" b="1" noProof="0" dirty="0">
                <a:ln>
                  <a:noFill/>
                </a:ln>
                <a:solidFill>
                  <a:sysClr val="windowText" lastClr="000000"/>
                </a:solidFill>
                <a:effectLst/>
                <a:uLnTx/>
                <a:uFillTx/>
                <a:latin typeface="Palatino Linotype" panose="02040502050505030304" charset="0"/>
                <a:ea typeface="+mj-ea"/>
                <a:cs typeface="Palatino Linotype" panose="02040502050505030304"/>
                <a:sym typeface="+mn-ea"/>
              </a:rPr>
              <a:t>Syntax-Directed Definitions</a:t>
            </a:r>
          </a:p>
          <a:p>
            <a:pPr marL="12700" algn="l" rtl="0" eaLnBrk="0">
              <a:lnSpc>
                <a:spcPct val="81000"/>
              </a:lnSpc>
              <a:spcBef>
                <a:spcPts val="730"/>
              </a:spcBef>
            </a:pPr>
            <a:endParaRPr lang="en-US" sz="3665" b="1" noProof="0" dirty="0">
              <a:ln>
                <a:noFill/>
              </a:ln>
              <a:solidFill>
                <a:sysClr val="windowText" lastClr="000000"/>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ysClr val="windowText" lastClr="000000"/>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Evaluation Orders for SDD’s</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Applications of Syntax-Directed Translation</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Syntax-Directed Translation Schemes</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Implementing L-Attributed SDD’s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pPr marL="12700" algn="l" rtl="0" eaLnBrk="0">
              <a:lnSpc>
                <a:spcPct val="81000"/>
              </a:lnSpc>
              <a:tabLst/>
            </a:pPr>
            <a:r>
              <a:rPr lang="en-US" altLang="zh-CN" sz="3600" b="1" kern="0" spc="-10" dirty="0">
                <a:solidFill>
                  <a:srgbClr val="000000">
                    <a:alpha val="100000"/>
                  </a:srgbClr>
                </a:solidFill>
                <a:latin typeface="Palatino Linotype"/>
                <a:ea typeface="Palatino Linotype"/>
                <a:cs typeface="Palatino Linotype"/>
              </a:rPr>
              <a:t>A Brief Introduction</a:t>
            </a:r>
            <a:endParaRPr lang="en-US" altLang="Palatino Linotype" sz="3600" dirty="0"/>
          </a:p>
        </p:txBody>
      </p:sp>
      <p:sp>
        <p:nvSpPr>
          <p:cNvPr id="4" name="内容占位符 3"/>
          <p:cNvSpPr>
            <a:spLocks noGrp="1"/>
          </p:cNvSpPr>
          <p:nvPr>
            <p:ph idx="1"/>
          </p:nvPr>
        </p:nvSpPr>
        <p:spPr>
          <a:xfrm>
            <a:off x="628650" y="1484630"/>
            <a:ext cx="7886700" cy="4351338"/>
          </a:xfrm>
        </p:spPr>
        <p:txBody>
          <a:bodyPr>
            <a:normAutofit lnSpcReduction="10000"/>
          </a:bodyPr>
          <a:lstStyle/>
          <a:p>
            <a:pPr marL="12700" algn="l" rtl="0" eaLnBrk="0" fontAlgn="auto" latinLnBrk="0" hangingPunct="1">
              <a:lnSpc>
                <a:spcPct val="100000"/>
              </a:lnSpc>
              <a:spcBef>
                <a:spcPts val="700"/>
              </a:spcBef>
            </a:pPr>
            <a:r>
              <a:rPr lang="en-US" altLang="zh-CN" sz="2200" dirty="0">
                <a:solidFill>
                  <a:srgbClr val="FF0000"/>
                </a:solidFill>
                <a:latin typeface="Palatino Linotype" panose="02040502050505030304" charset="0"/>
                <a:cs typeface="Palatino Linotype" panose="02040502050505030304" charset="0"/>
              </a:rPr>
              <a:t>Syntax-directed translation (</a:t>
            </a:r>
            <a:r>
              <a:rPr lang="zh-CN" altLang="en-US" sz="2200" dirty="0">
                <a:solidFill>
                  <a:srgbClr val="FF0000"/>
                </a:solidFill>
                <a:latin typeface="Palatino Linotype" panose="02040502050505030304" charset="0"/>
                <a:cs typeface="Palatino Linotype" panose="02040502050505030304" charset="0"/>
              </a:rPr>
              <a:t>语法制导的翻译</a:t>
            </a:r>
            <a:r>
              <a:rPr lang="en-US" altLang="zh-CN" sz="2200" dirty="0">
                <a:solidFill>
                  <a:srgbClr val="FF0000"/>
                </a:solidFill>
                <a:latin typeface="Palatino Linotype" panose="02040502050505030304" charset="0"/>
                <a:cs typeface="Palatino Linotype" panose="02040502050505030304" charset="0"/>
              </a:rPr>
              <a:t>) </a:t>
            </a:r>
            <a:r>
              <a:rPr lang="en-US" altLang="zh-CN" sz="2200" dirty="0">
                <a:latin typeface="Palatino Linotype" panose="02040502050505030304" charset="0"/>
                <a:cs typeface="Palatino Linotype" panose="02040502050505030304" charset="0"/>
              </a:rPr>
              <a:t>is the process of language translation guided by context-free grammars</a:t>
            </a:r>
          </a:p>
          <a:p>
            <a:pPr lvl="1" rtl="0" eaLnBrk="0">
              <a:lnSpc>
                <a:spcPct val="100000"/>
              </a:lnSpc>
              <a:spcBef>
                <a:spcPts val="700"/>
              </a:spcBef>
            </a:pPr>
            <a:r>
              <a:rPr lang="en-US" altLang="zh-CN" sz="2000" dirty="0">
                <a:latin typeface="Palatino Linotype" panose="02040502050505030304" charset="0"/>
                <a:cs typeface="Palatino Linotype" panose="02040502050505030304" charset="0"/>
              </a:rPr>
              <a:t>Here, “language translation” is in a broad sense</a:t>
            </a:r>
          </a:p>
          <a:p>
            <a:pPr lvl="2" rtl="0" eaLnBrk="0">
              <a:lnSpc>
                <a:spcPct val="100000"/>
              </a:lnSpc>
              <a:spcBef>
                <a:spcPts val="700"/>
              </a:spcBef>
            </a:pPr>
            <a:r>
              <a:rPr lang="en-US" altLang="zh-CN" sz="1600" dirty="0">
                <a:latin typeface="Palatino Linotype" panose="02040502050505030304" charset="0"/>
                <a:cs typeface="Palatino Linotype" panose="02040502050505030304" charset="0"/>
              </a:rPr>
              <a:t>Transforming infix expressions (</a:t>
            </a:r>
            <a:r>
              <a:rPr lang="zh-CN" altLang="en-US" sz="1600" dirty="0">
                <a:latin typeface="Palatino Linotype" panose="02040502050505030304" charset="0"/>
                <a:cs typeface="Palatino Linotype" panose="02040502050505030304" charset="0"/>
              </a:rPr>
              <a:t>中缀表达式</a:t>
            </a:r>
            <a:r>
              <a:rPr lang="en-US" altLang="zh-CN" sz="1600" dirty="0">
                <a:latin typeface="Palatino Linotype" panose="02040502050505030304" charset="0"/>
                <a:cs typeface="Palatino Linotype" panose="02040502050505030304" charset="0"/>
              </a:rPr>
              <a:t>) to postfix expressions (</a:t>
            </a:r>
            <a:r>
              <a:rPr lang="zh-CN" altLang="en-US" sz="1600" dirty="0">
                <a:latin typeface="Palatino Linotype" panose="02040502050505030304" charset="0"/>
                <a:cs typeface="Palatino Linotype" panose="02040502050505030304" charset="0"/>
              </a:rPr>
              <a:t>后缀表达式</a:t>
            </a:r>
            <a:r>
              <a:rPr lang="en-US" altLang="zh-CN" sz="1600" dirty="0">
                <a:latin typeface="Palatino Linotype" panose="02040502050505030304" charset="0"/>
                <a:cs typeface="Palatino Linotype" panose="02040502050505030304" charset="0"/>
              </a:rPr>
              <a:t>)</a:t>
            </a:r>
          </a:p>
          <a:p>
            <a:pPr lvl="1" rtl="0" eaLnBrk="0">
              <a:lnSpc>
                <a:spcPct val="100000"/>
              </a:lnSpc>
              <a:spcBef>
                <a:spcPts val="700"/>
              </a:spcBef>
            </a:pPr>
            <a:r>
              <a:rPr lang="en-US" altLang="zh-CN" sz="2000" dirty="0">
                <a:latin typeface="Palatino Linotype" panose="02040502050505030304" charset="0"/>
                <a:cs typeface="Palatino Linotype" panose="02040502050505030304" charset="0"/>
              </a:rPr>
              <a:t>A language construct is typically made of smaller constructs</a:t>
            </a:r>
          </a:p>
          <a:p>
            <a:pPr lvl="1" rtl="0" eaLnBrk="0">
              <a:lnSpc>
                <a:spcPct val="100000"/>
              </a:lnSpc>
              <a:spcBef>
                <a:spcPts val="700"/>
              </a:spcBef>
            </a:pPr>
            <a:r>
              <a:rPr lang="en-US" altLang="zh-CN" sz="2000" dirty="0">
                <a:latin typeface="Palatino Linotype" panose="02040502050505030304" charset="0"/>
                <a:cs typeface="Palatino Linotype" panose="02040502050505030304" charset="0"/>
              </a:rPr>
              <a:t>The semantics of a construct can be </a:t>
            </a:r>
            <a:r>
              <a:rPr lang="en-US" altLang="zh-CN" sz="2000" dirty="0">
                <a:solidFill>
                  <a:srgbClr val="FF0000"/>
                </a:solidFill>
                <a:latin typeface="Palatino Linotype" panose="02040502050505030304" charset="0"/>
                <a:cs typeface="Palatino Linotype" panose="02040502050505030304" charset="0"/>
              </a:rPr>
              <a:t>synthesized</a:t>
            </a:r>
            <a:r>
              <a:rPr lang="en-US" altLang="zh-CN" sz="2000" dirty="0">
                <a:latin typeface="Palatino Linotype" panose="02040502050505030304" charset="0"/>
                <a:cs typeface="Palatino Linotype" panose="02040502050505030304" charset="0"/>
              </a:rPr>
              <a:t> from its constituent   constructs’ semantics</a:t>
            </a:r>
          </a:p>
          <a:p>
            <a:pPr lvl="2" rtl="0" eaLnBrk="0">
              <a:lnSpc>
                <a:spcPct val="100000"/>
              </a:lnSpc>
              <a:spcBef>
                <a:spcPts val="700"/>
              </a:spcBef>
            </a:pPr>
            <a:r>
              <a:rPr lang="en-US" altLang="zh-CN" sz="1600" dirty="0">
                <a:latin typeface="Palatino Linotype" panose="02040502050505030304" charset="0"/>
                <a:cs typeface="Palatino Linotype" panose="02040502050505030304" charset="0"/>
              </a:rPr>
              <a:t>The type of the expression x + y is determined by the type of x and y, and the operator +</a:t>
            </a:r>
          </a:p>
          <a:p>
            <a:pPr lvl="1" rtl="0" eaLnBrk="0">
              <a:lnSpc>
                <a:spcPct val="100000"/>
              </a:lnSpc>
              <a:spcBef>
                <a:spcPts val="700"/>
              </a:spcBef>
            </a:pPr>
            <a:r>
              <a:rPr lang="en-US" altLang="zh-CN" sz="2000" dirty="0">
                <a:latin typeface="Palatino Linotype" panose="02040502050505030304" charset="0"/>
                <a:cs typeface="Palatino Linotype" panose="02040502050505030304" charset="0"/>
              </a:rPr>
              <a:t>Or </a:t>
            </a:r>
            <a:r>
              <a:rPr lang="en-US" altLang="zh-CN" sz="2000" dirty="0">
                <a:solidFill>
                  <a:srgbClr val="FF0000"/>
                </a:solidFill>
                <a:latin typeface="Palatino Linotype" panose="02040502050505030304" charset="0"/>
                <a:cs typeface="Palatino Linotype" panose="02040502050505030304" charset="0"/>
              </a:rPr>
              <a:t>inherited</a:t>
            </a:r>
            <a:r>
              <a:rPr lang="en-US" altLang="zh-CN" sz="2000" dirty="0">
                <a:latin typeface="Palatino Linotype" panose="02040502050505030304" charset="0"/>
                <a:cs typeface="Palatino Linotype" panose="02040502050505030304" charset="0"/>
              </a:rPr>
              <a:t> from other constructs (e.g., siblings in the parse tree)</a:t>
            </a:r>
          </a:p>
          <a:p>
            <a:pPr lvl="2" rtl="0" eaLnBrk="0">
              <a:lnSpc>
                <a:spcPct val="100000"/>
              </a:lnSpc>
              <a:spcBef>
                <a:spcPts val="700"/>
              </a:spcBef>
            </a:pPr>
            <a:r>
              <a:rPr lang="en-US" altLang="zh-CN" sz="1600" dirty="0">
                <a:latin typeface="Palatino Linotype" panose="02040502050505030304" charset="0"/>
                <a:cs typeface="Palatino Linotype" panose="02040502050505030304" charset="0"/>
              </a:rPr>
              <a:t>In “ int x”, the type of x is determined by the type specifier to the left of x</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cs typeface="Palatino Linotype" panose="02040502050505030304" charset="0"/>
              </a:rPr>
              <a:t>Syntax-Directed Definitions</a:t>
            </a:r>
            <a:endParaRPr lang="zh-CN" altLang="en-US" sz="3600" dirty="0">
              <a:latin typeface="Palatino Linotype" panose="02040502050505030304" charset="0"/>
              <a:cs typeface="Palatino Linotype" panose="02040502050505030304" charset="0"/>
            </a:endParaRPr>
          </a:p>
        </p:txBody>
      </p:sp>
      <p:sp>
        <p:nvSpPr>
          <p:cNvPr id="4" name="内容占位符 3"/>
          <p:cNvSpPr>
            <a:spLocks noGrp="1"/>
          </p:cNvSpPr>
          <p:nvPr>
            <p:ph idx="1"/>
          </p:nvPr>
        </p:nvSpPr>
        <p:spPr>
          <a:xfrm>
            <a:off x="611505" y="1772920"/>
            <a:ext cx="7886700" cy="4351338"/>
          </a:xfrm>
        </p:spPr>
        <p:txBody>
          <a:bodyPr>
            <a:normAutofit/>
          </a:bodyPr>
          <a:lstStyle/>
          <a:p>
            <a:pPr marL="12700" algn="l" rtl="0" eaLnBrk="0" fontAlgn="auto" latinLnBrk="0" hangingPunct="1">
              <a:lnSpc>
                <a:spcPct val="100000"/>
              </a:lnSpc>
              <a:spcBef>
                <a:spcPts val="700"/>
              </a:spcBef>
            </a:pPr>
            <a:r>
              <a:rPr lang="en-US" altLang="zh-CN" sz="2000" dirty="0">
                <a:latin typeface="Palatino Linotype" panose="02040502050505030304" charset="0"/>
                <a:cs typeface="Palatino Linotype" panose="02040502050505030304" charset="0"/>
              </a:rPr>
              <a:t>A </a:t>
            </a:r>
            <a:r>
              <a:rPr lang="en-US" altLang="zh-CN" sz="2000" dirty="0">
                <a:solidFill>
                  <a:srgbClr val="FF0000"/>
                </a:solidFill>
                <a:latin typeface="Palatino Linotype" panose="02040502050505030304" charset="0"/>
                <a:cs typeface="Palatino Linotype" panose="02040502050505030304" charset="0"/>
              </a:rPr>
              <a:t>syntax-directed definition (</a:t>
            </a:r>
            <a:r>
              <a:rPr lang="zh-CN" altLang="en-US" sz="2000" dirty="0">
                <a:solidFill>
                  <a:srgbClr val="FF0000"/>
                </a:solidFill>
                <a:latin typeface="Palatino Linotype" panose="02040502050505030304" charset="0"/>
                <a:cs typeface="Palatino Linotype" panose="02040502050505030304" charset="0"/>
              </a:rPr>
              <a:t>语法制导定义</a:t>
            </a:r>
            <a:r>
              <a:rPr lang="en-US" altLang="zh-CN" sz="2000" dirty="0">
                <a:solidFill>
                  <a:srgbClr val="FF0000"/>
                </a:solidFill>
                <a:latin typeface="Palatino Linotype" panose="02040502050505030304" charset="0"/>
                <a:cs typeface="Palatino Linotype" panose="02040502050505030304" charset="0"/>
              </a:rPr>
              <a:t>,SDD) </a:t>
            </a:r>
            <a:r>
              <a:rPr lang="en-US" altLang="zh-CN" sz="2000" dirty="0">
                <a:latin typeface="Palatino Linotype" panose="02040502050505030304" charset="0"/>
                <a:cs typeface="Palatino Linotype" panose="02040502050505030304" charset="0"/>
              </a:rPr>
              <a:t>is a context-free grammar together with </a:t>
            </a:r>
            <a:r>
              <a:rPr lang="en-US" altLang="zh-CN" sz="2000" dirty="0">
                <a:solidFill>
                  <a:srgbClr val="FF0000"/>
                </a:solidFill>
                <a:latin typeface="Palatino Linotype" panose="02040502050505030304" charset="0"/>
                <a:cs typeface="Palatino Linotype" panose="02040502050505030304" charset="0"/>
              </a:rPr>
              <a:t>attributes</a:t>
            </a:r>
            <a:r>
              <a:rPr lang="en-US" altLang="zh-CN" sz="2000" dirty="0">
                <a:latin typeface="Palatino Linotype" panose="02040502050505030304" charset="0"/>
                <a:cs typeface="Palatino Linotype" panose="02040502050505030304" charset="0"/>
              </a:rPr>
              <a:t> and </a:t>
            </a:r>
            <a:r>
              <a:rPr lang="en-US" altLang="zh-CN" sz="2000" dirty="0">
                <a:solidFill>
                  <a:srgbClr val="FF0000"/>
                </a:solidFill>
                <a:latin typeface="Palatino Linotype" panose="02040502050505030304" charset="0"/>
                <a:cs typeface="Palatino Linotype" panose="02040502050505030304" charset="0"/>
              </a:rPr>
              <a:t>rules</a:t>
            </a:r>
          </a:p>
          <a:p>
            <a:pPr lvl="1" rtl="0" eaLnBrk="0">
              <a:lnSpc>
                <a:spcPct val="100000"/>
              </a:lnSpc>
              <a:spcBef>
                <a:spcPts val="700"/>
              </a:spcBef>
            </a:pPr>
            <a:r>
              <a:rPr lang="en-US" altLang="zh-CN" sz="1600" dirty="0">
                <a:latin typeface="Palatino Linotype" panose="02040502050505030304" charset="0"/>
                <a:cs typeface="Palatino Linotype" panose="02040502050505030304" charset="0"/>
              </a:rPr>
              <a:t>A set </a:t>
            </a:r>
            <a:r>
              <a:rPr lang="en-US" altLang="zh-CN" sz="1800" dirty="0">
                <a:latin typeface="Palatino Linotype" panose="02040502050505030304" charset="0"/>
                <a:cs typeface="Palatino Linotype" panose="02040502050505030304" charset="0"/>
              </a:rPr>
              <a:t>of </a:t>
            </a:r>
            <a:r>
              <a:rPr lang="en-US" altLang="zh-CN" sz="1800" dirty="0">
                <a:solidFill>
                  <a:srgbClr val="FF0000"/>
                </a:solidFill>
                <a:latin typeface="Palatino Linotype" panose="02040502050505030304" charset="0"/>
                <a:cs typeface="Palatino Linotype" panose="02040502050505030304" charset="0"/>
              </a:rPr>
              <a:t>attributes (</a:t>
            </a:r>
            <a:r>
              <a:rPr lang="zh-CN" altLang="en-US" sz="1800" dirty="0">
                <a:solidFill>
                  <a:srgbClr val="FF0000"/>
                </a:solidFill>
                <a:latin typeface="Palatino Linotype" panose="02040502050505030304" charset="0"/>
                <a:cs typeface="Palatino Linotype" panose="02040502050505030304" charset="0"/>
              </a:rPr>
              <a:t>属性</a:t>
            </a:r>
            <a:r>
              <a:rPr lang="en-US" altLang="zh-CN" sz="1800" dirty="0">
                <a:solidFill>
                  <a:srgbClr val="FF0000"/>
                </a:solidFill>
                <a:latin typeface="Palatino Linotype" panose="02040502050505030304" charset="0"/>
                <a:cs typeface="Palatino Linotype" panose="02040502050505030304" charset="0"/>
              </a:rPr>
              <a:t>) </a:t>
            </a:r>
            <a:r>
              <a:rPr lang="en-US" altLang="zh-CN" sz="1800" dirty="0">
                <a:latin typeface="Palatino Linotype" panose="02040502050505030304" charset="0"/>
                <a:cs typeface="Palatino Linotype" panose="02040502050505030304" charset="0"/>
              </a:rPr>
              <a:t>is associated with each grammar symbol*</a:t>
            </a:r>
          </a:p>
          <a:p>
            <a:pPr lvl="2" rtl="0" eaLnBrk="0">
              <a:lnSpc>
                <a:spcPct val="100000"/>
              </a:lnSpc>
              <a:spcBef>
                <a:spcPts val="700"/>
              </a:spcBef>
            </a:pPr>
            <a:r>
              <a:rPr lang="en-US" altLang="zh-CN" sz="1600" dirty="0">
                <a:latin typeface="Palatino Linotype" panose="02040502050505030304" charset="0"/>
                <a:cs typeface="Palatino Linotype" panose="02040502050505030304" charset="0"/>
              </a:rPr>
              <a:t>Can be anything, e.g., data type of expressions, # instructions in the generated code</a:t>
            </a:r>
          </a:p>
          <a:p>
            <a:pPr lvl="1" rtl="0" eaLnBrk="0">
              <a:lnSpc>
                <a:spcPct val="100000"/>
              </a:lnSpc>
              <a:spcBef>
                <a:spcPts val="700"/>
              </a:spcBef>
            </a:pPr>
            <a:r>
              <a:rPr lang="en-US" altLang="zh-CN" sz="1800" dirty="0">
                <a:latin typeface="Palatino Linotype" panose="02040502050505030304" charset="0"/>
                <a:cs typeface="Palatino Linotype" panose="02040502050505030304" charset="0"/>
              </a:rPr>
              <a:t>A </a:t>
            </a:r>
            <a:r>
              <a:rPr lang="en-US" altLang="zh-CN" sz="1800" dirty="0">
                <a:solidFill>
                  <a:srgbClr val="FF0000"/>
                </a:solidFill>
                <a:latin typeface="Palatino Linotype" panose="02040502050505030304" charset="0"/>
                <a:cs typeface="Palatino Linotype" panose="02040502050505030304" charset="0"/>
              </a:rPr>
              <a:t>semantic rule (</a:t>
            </a:r>
            <a:r>
              <a:rPr lang="zh-CN" altLang="en-US" sz="1800" dirty="0">
                <a:solidFill>
                  <a:srgbClr val="FF0000"/>
                </a:solidFill>
                <a:latin typeface="Palatino Linotype" panose="02040502050505030304" charset="0"/>
                <a:cs typeface="Palatino Linotype" panose="02040502050505030304" charset="0"/>
              </a:rPr>
              <a:t>语义规则</a:t>
            </a:r>
            <a:r>
              <a:rPr lang="en-US" altLang="zh-CN" sz="1800" dirty="0">
                <a:solidFill>
                  <a:srgbClr val="FF0000"/>
                </a:solidFill>
                <a:latin typeface="Palatino Linotype" panose="02040502050505030304" charset="0"/>
                <a:cs typeface="Palatino Linotype" panose="02040502050505030304" charset="0"/>
              </a:rPr>
              <a:t>) </a:t>
            </a:r>
            <a:r>
              <a:rPr lang="en-US" altLang="zh-CN" sz="1800" dirty="0">
                <a:latin typeface="Palatino Linotype" panose="02040502050505030304" charset="0"/>
                <a:cs typeface="Palatino Linotype" panose="02040502050505030304" charset="0"/>
              </a:rPr>
              <a:t>is associated with a production and describes how attributes are computed</a:t>
            </a:r>
            <a:endParaRPr lang="zh-CN" altLang="en-US" sz="1800" dirty="0">
              <a:latin typeface="Palatino Linotype" panose="02040502050505030304" charset="0"/>
              <a:cs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a:t>
            </a:fld>
            <a:endParaRPr/>
          </a:p>
        </p:txBody>
      </p:sp>
      <p:sp>
        <p:nvSpPr>
          <p:cNvPr id="2" name="文本框 1">
            <a:extLst>
              <a:ext uri="{FF2B5EF4-FFF2-40B4-BE49-F238E27FC236}">
                <a16:creationId xmlns:a16="http://schemas.microsoft.com/office/drawing/2014/main" id="{59CABE67-68BE-94E9-95DF-7B0836B0F6E1}"/>
              </a:ext>
            </a:extLst>
          </p:cNvPr>
          <p:cNvSpPr txBox="1"/>
          <p:nvPr/>
        </p:nvSpPr>
        <p:spPr>
          <a:xfrm>
            <a:off x="1425723" y="4439603"/>
            <a:ext cx="1287532" cy="369332"/>
          </a:xfrm>
          <a:prstGeom prst="rect">
            <a:avLst/>
          </a:prstGeom>
          <a:noFill/>
        </p:spPr>
        <p:txBody>
          <a:bodyPr wrap="none" rtlCol="0">
            <a:spAutoFit/>
          </a:bodyPr>
          <a:lstStyle/>
          <a:p>
            <a:r>
              <a:rPr lang="en-US" altLang="zh-CN" sz="1800" dirty="0">
                <a:solidFill>
                  <a:srgbClr val="000000"/>
                </a:solidFill>
                <a:effectLst/>
                <a:latin typeface="Cambria Math" panose="02040503050406030204" pitchFamily="18" charset="0"/>
              </a:rPr>
              <a:t>E → E</a:t>
            </a:r>
            <a:r>
              <a:rPr lang="en-US" altLang="zh-CN" sz="1800" baseline="-25000" dirty="0">
                <a:solidFill>
                  <a:srgbClr val="000000"/>
                </a:solidFill>
                <a:effectLst/>
                <a:latin typeface="Cambria Math" panose="02040503050406030204" pitchFamily="18" charset="0"/>
              </a:rPr>
              <a:t>1</a:t>
            </a:r>
            <a:r>
              <a:rPr lang="en-US" altLang="zh-CN" sz="1800" dirty="0">
                <a:solidFill>
                  <a:srgbClr val="000000"/>
                </a:solidFill>
                <a:effectLst/>
                <a:latin typeface="Cambria Math" panose="02040503050406030204" pitchFamily="18" charset="0"/>
              </a:rPr>
              <a:t> + T</a:t>
            </a:r>
            <a:endParaRPr lang="zh-CN" altLang="en-US" dirty="0"/>
          </a:p>
        </p:txBody>
      </p:sp>
      <p:sp>
        <p:nvSpPr>
          <p:cNvPr id="6" name="文本框 5">
            <a:extLst>
              <a:ext uri="{FF2B5EF4-FFF2-40B4-BE49-F238E27FC236}">
                <a16:creationId xmlns:a16="http://schemas.microsoft.com/office/drawing/2014/main" id="{EC9C39D1-764F-6D08-751E-8A1D8E619780}"/>
              </a:ext>
            </a:extLst>
          </p:cNvPr>
          <p:cNvSpPr txBox="1"/>
          <p:nvPr/>
        </p:nvSpPr>
        <p:spPr>
          <a:xfrm>
            <a:off x="4423785" y="4437112"/>
            <a:ext cx="3268844" cy="369332"/>
          </a:xfrm>
          <a:prstGeom prst="rect">
            <a:avLst/>
          </a:prstGeom>
          <a:noFill/>
        </p:spPr>
        <p:txBody>
          <a:bodyPr wrap="none" rtlCol="0">
            <a:spAutoFit/>
          </a:bodyPr>
          <a:lstStyle/>
          <a:p>
            <a:r>
              <a:rPr lang="en-US" altLang="zh-CN" dirty="0" err="1"/>
              <a:t>E.code</a:t>
            </a:r>
            <a:r>
              <a:rPr lang="en-US" altLang="zh-CN" dirty="0"/>
              <a:t> = E</a:t>
            </a:r>
            <a:r>
              <a:rPr lang="en-US" altLang="zh-CN" baseline="-25000" dirty="0"/>
              <a:t>1</a:t>
            </a:r>
            <a:r>
              <a:rPr lang="en-US" altLang="zh-CN" dirty="0"/>
              <a:t>.code </a:t>
            </a:r>
            <a:r>
              <a:rPr lang="en-US" altLang="zh-CN" b="0" i="0" dirty="0">
                <a:solidFill>
                  <a:srgbClr val="333333"/>
                </a:solidFill>
                <a:effectLst/>
                <a:latin typeface="PingFang SC"/>
              </a:rPr>
              <a:t>||</a:t>
            </a:r>
            <a:r>
              <a:rPr lang="en-US" altLang="zh-CN" dirty="0"/>
              <a:t> </a:t>
            </a:r>
            <a:r>
              <a:rPr lang="en-US" altLang="zh-CN" dirty="0" err="1"/>
              <a:t>T.code</a:t>
            </a:r>
            <a:r>
              <a:rPr lang="en-US" altLang="zh-CN" dirty="0"/>
              <a:t> || ‘+’</a:t>
            </a:r>
            <a:endParaRPr lang="zh-CN" altLang="en-US" dirty="0"/>
          </a:p>
        </p:txBody>
      </p:sp>
      <p:sp>
        <p:nvSpPr>
          <p:cNvPr id="7" name="对话气泡: 矩形 6">
            <a:extLst>
              <a:ext uri="{FF2B5EF4-FFF2-40B4-BE49-F238E27FC236}">
                <a16:creationId xmlns:a16="http://schemas.microsoft.com/office/drawing/2014/main" id="{54100F3C-8B4C-A860-C001-9F408BAFA9F6}"/>
              </a:ext>
            </a:extLst>
          </p:cNvPr>
          <p:cNvSpPr/>
          <p:nvPr/>
        </p:nvSpPr>
        <p:spPr>
          <a:xfrm>
            <a:off x="611505" y="4943660"/>
            <a:ext cx="3600400" cy="576064"/>
          </a:xfrm>
          <a:prstGeom prst="wedgeRectCallout">
            <a:avLst>
              <a:gd name="adj1" fmla="val 67717"/>
              <a:gd name="adj2" fmla="val -76989"/>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800" dirty="0">
                <a:solidFill>
                  <a:srgbClr val="000000"/>
                </a:solidFill>
                <a:effectLst/>
                <a:latin typeface="Palatino Linotype" panose="02040502050505030304" pitchFamily="18" charset="0"/>
              </a:rPr>
              <a:t>The attribute </a:t>
            </a:r>
            <a:r>
              <a:rPr lang="en-US" altLang="zh-CN" sz="1800" b="1" i="1" dirty="0">
                <a:solidFill>
                  <a:srgbClr val="FF0000"/>
                </a:solidFill>
                <a:effectLst/>
                <a:latin typeface="PalatinoLinotype-BoldItalic"/>
              </a:rPr>
              <a:t>code </a:t>
            </a:r>
            <a:r>
              <a:rPr lang="en-US" altLang="zh-CN" sz="1800" dirty="0">
                <a:solidFill>
                  <a:srgbClr val="000000"/>
                </a:solidFill>
                <a:effectLst/>
                <a:latin typeface="Palatino Linotype" panose="02040502050505030304" pitchFamily="18" charset="0"/>
              </a:rPr>
              <a:t>represents the </a:t>
            </a:r>
            <a:r>
              <a:rPr lang="en-US" altLang="zh-CN" sz="1800" dirty="0">
                <a:solidFill>
                  <a:srgbClr val="FF0000"/>
                </a:solidFill>
                <a:effectLst/>
                <a:latin typeface="Palatino Linotype" panose="02040502050505030304" pitchFamily="18" charset="0"/>
              </a:rPr>
              <a:t>postfix notation </a:t>
            </a:r>
            <a:r>
              <a:rPr lang="en-US" altLang="zh-CN" sz="1800" dirty="0">
                <a:solidFill>
                  <a:srgbClr val="000000"/>
                </a:solidFill>
                <a:effectLst/>
                <a:latin typeface="Palatino Linotype" panose="02040502050505030304" pitchFamily="18" charset="0"/>
              </a:rPr>
              <a:t>of the construct</a:t>
            </a:r>
            <a:endParaRPr lang="zh-CN" altLang="en-US" dirty="0"/>
          </a:p>
        </p:txBody>
      </p:sp>
      <p:sp>
        <p:nvSpPr>
          <p:cNvPr id="8" name="对话气泡: 矩形 7">
            <a:extLst>
              <a:ext uri="{FF2B5EF4-FFF2-40B4-BE49-F238E27FC236}">
                <a16:creationId xmlns:a16="http://schemas.microsoft.com/office/drawing/2014/main" id="{4CD1A055-52D3-E46E-8531-1E71CC04CD3D}"/>
              </a:ext>
            </a:extLst>
          </p:cNvPr>
          <p:cNvSpPr/>
          <p:nvPr/>
        </p:nvSpPr>
        <p:spPr>
          <a:xfrm>
            <a:off x="4499992" y="4943660"/>
            <a:ext cx="3528392" cy="576064"/>
          </a:xfrm>
          <a:prstGeom prst="wedgeRectCallout">
            <a:avLst>
              <a:gd name="adj1" fmla="val -40"/>
              <a:gd name="adj2" fmla="val -77799"/>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800" dirty="0">
                <a:solidFill>
                  <a:srgbClr val="FF0000"/>
                </a:solidFill>
                <a:effectLst/>
                <a:latin typeface="Palatino Linotype" panose="02040502050505030304" pitchFamily="18" charset="0"/>
              </a:rPr>
              <a:t>||</a:t>
            </a:r>
            <a:r>
              <a:rPr lang="en-US" altLang="zh-CN" sz="1800" dirty="0">
                <a:solidFill>
                  <a:srgbClr val="000000"/>
                </a:solidFill>
                <a:effectLst/>
                <a:latin typeface="Palatino Linotype" panose="02040502050505030304" pitchFamily="18" charset="0"/>
              </a:rPr>
              <a:t> is the operator for </a:t>
            </a:r>
            <a:r>
              <a:rPr lang="en-US" altLang="zh-CN" sz="1800" dirty="0">
                <a:solidFill>
                  <a:srgbClr val="FF0000"/>
                </a:solidFill>
                <a:effectLst/>
                <a:latin typeface="Palatino Linotype" panose="02040502050505030304" pitchFamily="18" charset="0"/>
              </a:rPr>
              <a:t>string concatenation</a:t>
            </a:r>
            <a:endParaRPr lang="zh-CN" altLang="en-US" dirty="0"/>
          </a:p>
        </p:txBody>
      </p:sp>
      <p:sp>
        <p:nvSpPr>
          <p:cNvPr id="10" name="文本框 9">
            <a:extLst>
              <a:ext uri="{FF2B5EF4-FFF2-40B4-BE49-F238E27FC236}">
                <a16:creationId xmlns:a16="http://schemas.microsoft.com/office/drawing/2014/main" id="{363558E4-6B9B-2C41-7495-CD612A4BEED9}"/>
              </a:ext>
            </a:extLst>
          </p:cNvPr>
          <p:cNvSpPr txBox="1"/>
          <p:nvPr/>
        </p:nvSpPr>
        <p:spPr>
          <a:xfrm>
            <a:off x="467544" y="5805265"/>
            <a:ext cx="7920880" cy="461665"/>
          </a:xfrm>
          <a:prstGeom prst="rect">
            <a:avLst/>
          </a:prstGeom>
          <a:noFill/>
        </p:spPr>
        <p:txBody>
          <a:bodyPr wrap="square">
            <a:spAutoFit/>
          </a:bodyPr>
          <a:lstStyle/>
          <a:p>
            <a:r>
              <a:rPr lang="en-US" altLang="zh-CN" sz="1200" b="1" dirty="0">
                <a:solidFill>
                  <a:schemeClr val="tx1">
                    <a:lumMod val="50000"/>
                    <a:lumOff val="50000"/>
                  </a:schemeClr>
                </a:solidFill>
                <a:latin typeface="宋体" panose="02010600030101010101" pitchFamily="2" charset="-122"/>
                <a:ea typeface="宋体" panose="02010600030101010101" pitchFamily="2" charset="-122"/>
              </a:rPr>
              <a:t>*</a:t>
            </a:r>
            <a:r>
              <a:rPr lang="en-US" altLang="zh-CN" sz="1200" b="1" dirty="0">
                <a:solidFill>
                  <a:schemeClr val="tx1">
                    <a:lumMod val="50000"/>
                    <a:lumOff val="50000"/>
                  </a:schemeClr>
                </a:solidFill>
                <a:effectLst/>
                <a:latin typeface="Palatino Linotype" panose="02040502050505030304" pitchFamily="18" charset="0"/>
              </a:rPr>
              <a:t>Grammar symbols represent language constructs. Nonterminal nodes and subtrees rooted at these nodes </a:t>
            </a:r>
            <a:endParaRPr lang="en-US" altLang="zh-CN" sz="1200" b="1" dirty="0">
              <a:solidFill>
                <a:schemeClr val="tx1">
                  <a:lumMod val="50000"/>
                  <a:lumOff val="50000"/>
                </a:schemeClr>
              </a:solidFill>
            </a:endParaRPr>
          </a:p>
          <a:p>
            <a:r>
              <a:rPr lang="en-US" altLang="zh-CN" sz="1200" b="1" dirty="0">
                <a:solidFill>
                  <a:schemeClr val="tx1">
                    <a:lumMod val="50000"/>
                    <a:lumOff val="50000"/>
                  </a:schemeClr>
                </a:solidFill>
                <a:effectLst/>
                <a:latin typeface="Palatino Linotype" panose="02040502050505030304" pitchFamily="18" charset="0"/>
              </a:rPr>
              <a:t>correspond to productions.</a:t>
            </a:r>
            <a:endParaRPr lang="zh-CN" altLang="en-US" sz="1200" b="1" dirty="0">
              <a:solidFill>
                <a:schemeClr val="tx1">
                  <a:lumMod val="50000"/>
                  <a:lumOff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cs typeface="Palatino Linotype" panose="02040502050505030304" charset="0"/>
              </a:rPr>
              <a:t>Annotated Parse Tree</a:t>
            </a:r>
            <a:endParaRPr lang="zh-CN" altLang="en-US" sz="3600" dirty="0">
              <a:latin typeface="Palatino Linotype" panose="02040502050505030304" charset="0"/>
              <a:cs typeface="Palatino Linotype" panose="02040502050505030304" charset="0"/>
            </a:endParaRPr>
          </a:p>
        </p:txBody>
      </p:sp>
      <p:sp>
        <p:nvSpPr>
          <p:cNvPr id="4" name="内容占位符 3"/>
          <p:cNvSpPr>
            <a:spLocks noGrp="1"/>
          </p:cNvSpPr>
          <p:nvPr>
            <p:ph idx="1"/>
          </p:nvPr>
        </p:nvSpPr>
        <p:spPr>
          <a:xfrm>
            <a:off x="628650" y="1825625"/>
            <a:ext cx="7886700" cy="1027311"/>
          </a:xfrm>
        </p:spPr>
        <p:txBody>
          <a:bodyPr>
            <a:noAutofit/>
          </a:bodyPr>
          <a:lstStyle/>
          <a:p>
            <a:pPr marL="17145" algn="l" rtl="0" eaLnBrk="0" fontAlgn="auto">
              <a:lnSpc>
                <a:spcPct val="150000"/>
              </a:lnSpc>
              <a:spcBef>
                <a:spcPts val="0"/>
              </a:spcBef>
            </a:pPr>
            <a:r>
              <a:rPr lang="en-US"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An </a:t>
            </a:r>
            <a:r>
              <a:rPr lang="en-US" sz="2000" dirty="0">
                <a:solidFill>
                  <a:srgbClr val="FF0000"/>
                </a:solidFill>
                <a:latin typeface="Palatino Linotype" panose="02040502050505030304" charset="0"/>
                <a:ea typeface="Palatino Linotype" panose="02040502050505030304"/>
                <a:cs typeface="Palatino Linotype" panose="02040502050505030304" charset="0"/>
                <a:sym typeface="+mn-ea"/>
              </a:rPr>
              <a:t>annotated parse tree</a:t>
            </a:r>
            <a:r>
              <a:rPr lang="en-US"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for </a:t>
            </a:r>
            <a:r>
              <a:rPr lang="en-US" sz="2000" dirty="0">
                <a:solidFill>
                  <a:srgbClr val="0331FF"/>
                </a:solidFill>
                <a:latin typeface="Palatino Linotype" panose="02040502050505030304" charset="0"/>
                <a:ea typeface="Palatino Linotype" panose="02040502050505030304"/>
                <a:cs typeface="Palatino Linotype" panose="02040502050505030304" charset="0"/>
                <a:sym typeface="+mn-ea"/>
              </a:rPr>
              <a:t>infix expression 9-5+2</a:t>
            </a:r>
          </a:p>
          <a:p>
            <a:pPr marL="17145" algn="l" rtl="0" eaLnBrk="0" fontAlgn="auto">
              <a:lnSpc>
                <a:spcPct val="150000"/>
              </a:lnSpc>
              <a:spcBef>
                <a:spcPts val="0"/>
              </a:spcBef>
            </a:pPr>
            <a:r>
              <a:rPr lang="en-US" sz="20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The attribute t represents postfix notation</a:t>
            </a:r>
            <a:endParaRPr lang="en-US" altLang="en-US" sz="1800" spc="30" dirty="0">
              <a:solidFill>
                <a:srgbClr val="000000">
                  <a:alpha val="100000"/>
                </a:srgbClr>
              </a:solidFill>
              <a:latin typeface="Palatino Linotype" panose="02040502050505030304" charset="0"/>
              <a:ea typeface="Palatino Linotype" panose="02040502050505030304"/>
              <a:cs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a:t>
            </a:fld>
            <a:endParaRPr/>
          </a:p>
        </p:txBody>
      </p:sp>
      <p:sp>
        <p:nvSpPr>
          <p:cNvPr id="2" name="矩形 1">
            <a:extLst>
              <a:ext uri="{FF2B5EF4-FFF2-40B4-BE49-F238E27FC236}">
                <a16:creationId xmlns:a16="http://schemas.microsoft.com/office/drawing/2014/main" id="{7A650681-90FE-5A96-3991-AD02752B5E04}"/>
              </a:ext>
            </a:extLst>
          </p:cNvPr>
          <p:cNvSpPr/>
          <p:nvPr/>
        </p:nvSpPr>
        <p:spPr>
          <a:xfrm>
            <a:off x="628650" y="3140968"/>
            <a:ext cx="2503190" cy="19389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4FA9B1E4-2A81-44A1-3D26-A09D82FD4AAB}"/>
              </a:ext>
            </a:extLst>
          </p:cNvPr>
          <p:cNvSpPr txBox="1"/>
          <p:nvPr/>
        </p:nvSpPr>
        <p:spPr>
          <a:xfrm>
            <a:off x="628650" y="3140968"/>
            <a:ext cx="2503190" cy="1938992"/>
          </a:xfrm>
          <a:prstGeom prst="rect">
            <a:avLst/>
          </a:prstGeom>
          <a:noFill/>
        </p:spPr>
        <p:txBody>
          <a:bodyPr wrap="square" rtlCol="0">
            <a:spAutoFit/>
          </a:bodyPr>
          <a:lstStyle/>
          <a:p>
            <a:r>
              <a:rPr lang="en-US" altLang="zh-CN" sz="2000" dirty="0"/>
              <a:t>expr </a:t>
            </a:r>
            <a:r>
              <a:rPr lang="zh-CN" altLang="en-US" sz="2000" dirty="0"/>
              <a:t>→ </a:t>
            </a:r>
            <a:r>
              <a:rPr lang="en-US" altLang="zh-CN" sz="2000" dirty="0"/>
              <a:t>expr + term</a:t>
            </a:r>
          </a:p>
          <a:p>
            <a:r>
              <a:rPr lang="en-US" altLang="zh-CN" sz="2000" dirty="0"/>
              <a:t>expr </a:t>
            </a:r>
            <a:r>
              <a:rPr lang="zh-CN" altLang="en-US" sz="2000" dirty="0"/>
              <a:t>→ </a:t>
            </a:r>
            <a:r>
              <a:rPr lang="en-US" altLang="zh-CN" sz="2000" dirty="0"/>
              <a:t>expr -  term</a:t>
            </a:r>
            <a:endParaRPr lang="zh-CN" altLang="en-US" sz="2000" dirty="0"/>
          </a:p>
          <a:p>
            <a:r>
              <a:rPr lang="en-US" altLang="zh-CN" sz="2000" dirty="0"/>
              <a:t>expr </a:t>
            </a:r>
            <a:r>
              <a:rPr lang="zh-CN" altLang="en-US" sz="2000" dirty="0"/>
              <a:t>→ </a:t>
            </a:r>
            <a:r>
              <a:rPr lang="en-US" altLang="zh-CN" sz="2000" dirty="0"/>
              <a:t>term</a:t>
            </a:r>
          </a:p>
          <a:p>
            <a:r>
              <a:rPr lang="en-US" altLang="zh-CN" sz="2000" dirty="0"/>
              <a:t>term </a:t>
            </a:r>
            <a:r>
              <a:rPr lang="zh-CN" altLang="en-US" sz="2000" dirty="0"/>
              <a:t>→ </a:t>
            </a:r>
            <a:r>
              <a:rPr lang="en-US" altLang="zh-CN" sz="2000" dirty="0"/>
              <a:t>0</a:t>
            </a:r>
          </a:p>
          <a:p>
            <a:r>
              <a:rPr lang="en-US" altLang="zh-CN" sz="2000" dirty="0"/>
              <a:t>…</a:t>
            </a:r>
          </a:p>
          <a:p>
            <a:r>
              <a:rPr lang="en-US" altLang="zh-CN" sz="2000" dirty="0"/>
              <a:t>term </a:t>
            </a:r>
            <a:r>
              <a:rPr lang="zh-CN" altLang="en-US" sz="2000" dirty="0"/>
              <a:t>→ </a:t>
            </a:r>
            <a:r>
              <a:rPr lang="en-US" altLang="zh-CN" sz="2000" dirty="0"/>
              <a:t>9</a:t>
            </a:r>
            <a:endParaRPr lang="zh-CN" altLang="en-US" sz="2000" dirty="0"/>
          </a:p>
        </p:txBody>
      </p:sp>
      <p:pic>
        <p:nvPicPr>
          <p:cNvPr id="7" name="图片 6">
            <a:extLst>
              <a:ext uri="{FF2B5EF4-FFF2-40B4-BE49-F238E27FC236}">
                <a16:creationId xmlns:a16="http://schemas.microsoft.com/office/drawing/2014/main" id="{41C06D96-B8AC-5A13-AD09-7ACFB8204011}"/>
              </a:ext>
            </a:extLst>
          </p:cNvPr>
          <p:cNvPicPr>
            <a:picLocks noChangeAspect="1"/>
          </p:cNvPicPr>
          <p:nvPr/>
        </p:nvPicPr>
        <p:blipFill>
          <a:blip r:embed="rId3"/>
          <a:stretch>
            <a:fillRect/>
          </a:stretch>
        </p:blipFill>
        <p:spPr>
          <a:xfrm>
            <a:off x="3690158" y="2946828"/>
            <a:ext cx="4644008" cy="2595669"/>
          </a:xfrm>
          <a:prstGeom prst="rect">
            <a:avLst/>
          </a:prstGeom>
        </p:spPr>
      </p:pic>
      <p:sp>
        <p:nvSpPr>
          <p:cNvPr id="8" name="文本框 7">
            <a:extLst>
              <a:ext uri="{FF2B5EF4-FFF2-40B4-BE49-F238E27FC236}">
                <a16:creationId xmlns:a16="http://schemas.microsoft.com/office/drawing/2014/main" id="{EDE6301A-A3FA-4567-A29D-C6B42201AABA}"/>
              </a:ext>
            </a:extLst>
          </p:cNvPr>
          <p:cNvSpPr txBox="1"/>
          <p:nvPr/>
        </p:nvSpPr>
        <p:spPr>
          <a:xfrm>
            <a:off x="4860032" y="4110464"/>
            <a:ext cx="216024" cy="461665"/>
          </a:xfrm>
          <a:prstGeom prst="rect">
            <a:avLst/>
          </a:prstGeom>
          <a:solidFill>
            <a:schemeClr val="bg1"/>
          </a:solidFill>
        </p:spPr>
        <p:txBody>
          <a:bodyPr wrap="square" rtlCol="0">
            <a:spAutoFit/>
          </a:bodyPr>
          <a:lstStyle/>
          <a:p>
            <a:pPr algn="ctr"/>
            <a:r>
              <a:rPr lang="en-US" altLang="zh-CN" sz="2400" dirty="0">
                <a:solidFill>
                  <a:schemeClr val="accent5"/>
                </a:solidFill>
              </a:rPr>
              <a:t>-</a:t>
            </a:r>
            <a:endParaRPr lang="zh-CN" altLang="en-US" sz="2400" dirty="0">
              <a:solidFill>
                <a:schemeClr val="accent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2" name="图片 11">
            <a:extLst>
              <a:ext uri="{FF2B5EF4-FFF2-40B4-BE49-F238E27FC236}">
                <a16:creationId xmlns:a16="http://schemas.microsoft.com/office/drawing/2014/main" id="{D5B68AF8-8AF8-CF34-82FB-C0655422248B}"/>
              </a:ext>
            </a:extLst>
          </p:cNvPr>
          <p:cNvPicPr>
            <a:picLocks noChangeAspect="1"/>
          </p:cNvPicPr>
          <p:nvPr/>
        </p:nvPicPr>
        <p:blipFill>
          <a:blip r:embed="rId3"/>
          <a:stretch>
            <a:fillRect/>
          </a:stretch>
        </p:blipFill>
        <p:spPr>
          <a:xfrm>
            <a:off x="4716016" y="3140968"/>
            <a:ext cx="4029074" cy="2824162"/>
          </a:xfrm>
          <a:prstGeom prst="rect">
            <a:avLst/>
          </a:prstGeom>
        </p:spPr>
      </p:pic>
      <p:sp>
        <p:nvSpPr>
          <p:cNvPr id="3" name="标题 2"/>
          <p:cNvSpPr>
            <a:spLocks noGrp="1"/>
          </p:cNvSpPr>
          <p:nvPr>
            <p:ph type="title"/>
          </p:nvPr>
        </p:nvSpPr>
        <p:spPr/>
        <p:txBody>
          <a:bodyPr/>
          <a:lstStyle/>
          <a:p>
            <a:r>
              <a:rPr lang="en-US" altLang="zh-CN" sz="3600" dirty="0">
                <a:latin typeface="Palatino Linotype" panose="02040502050505030304" charset="0"/>
                <a:cs typeface="Palatino Linotype" panose="02040502050505030304" charset="0"/>
              </a:rPr>
              <a:t>Synthesized Attributes (</a:t>
            </a:r>
            <a:r>
              <a:rPr lang="zh-CN" altLang="en-US" sz="3600" dirty="0">
                <a:latin typeface="Palatino Linotype" panose="02040502050505030304" charset="0"/>
                <a:cs typeface="Palatino Linotype" panose="02040502050505030304" charset="0"/>
              </a:rPr>
              <a:t>综合属性</a:t>
            </a:r>
            <a:r>
              <a:rPr lang="en-US" altLang="zh-CN" sz="3600" dirty="0">
                <a:latin typeface="Palatino Linotype" panose="02040502050505030304" charset="0"/>
                <a:cs typeface="Palatino Linotype" panose="02040502050505030304" charset="0"/>
              </a:rPr>
              <a:t>)</a:t>
            </a:r>
            <a:endParaRPr lang="zh-CN" altLang="en-US" sz="3600" dirty="0">
              <a:latin typeface="Palatino Linotype" panose="02040502050505030304" charset="0"/>
              <a:cs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a:t>
            </a:fld>
            <a:endParaRPr/>
          </a:p>
        </p:txBody>
      </p:sp>
      <p:sp>
        <p:nvSpPr>
          <p:cNvPr id="6" name="内容占位符 5">
            <a:extLst>
              <a:ext uri="{FF2B5EF4-FFF2-40B4-BE49-F238E27FC236}">
                <a16:creationId xmlns:a16="http://schemas.microsoft.com/office/drawing/2014/main" id="{8B36184B-B417-C990-5F33-A8A7C2112899}"/>
              </a:ext>
            </a:extLst>
          </p:cNvPr>
          <p:cNvSpPr>
            <a:spLocks noGrp="1"/>
          </p:cNvSpPr>
          <p:nvPr>
            <p:ph idx="1"/>
          </p:nvPr>
        </p:nvSpPr>
        <p:spPr/>
        <p:txBody>
          <a:bodyPr/>
          <a:lstStyle/>
          <a:p>
            <a:r>
              <a:rPr lang="en-US" altLang="zh-CN" sz="1800" dirty="0">
                <a:solidFill>
                  <a:srgbClr val="000000"/>
                </a:solidFill>
                <a:effectLst/>
                <a:latin typeface="Palatino Linotype" panose="02040502050505030304" pitchFamily="18" charset="0"/>
              </a:rPr>
              <a:t>An attribute is said to be </a:t>
            </a:r>
            <a:r>
              <a:rPr lang="en-US" altLang="zh-CN" sz="1800" i="1" dirty="0">
                <a:solidFill>
                  <a:srgbClr val="FF0000"/>
                </a:solidFill>
                <a:effectLst/>
                <a:latin typeface="PalatinoLinotype-Italic"/>
              </a:rPr>
              <a:t>synthesized </a:t>
            </a:r>
            <a:r>
              <a:rPr lang="en-US" altLang="zh-CN" sz="1800" dirty="0">
                <a:solidFill>
                  <a:srgbClr val="000000"/>
                </a:solidFill>
                <a:effectLst/>
                <a:latin typeface="Palatino Linotype" panose="02040502050505030304" pitchFamily="18" charset="0"/>
              </a:rPr>
              <a:t>if its value at a parse-tree node </a:t>
            </a:r>
            <a:r>
              <a:rPr lang="en-US" altLang="zh-CN" sz="1800" i="1" dirty="0">
                <a:solidFill>
                  <a:srgbClr val="000000"/>
                </a:solidFill>
                <a:effectLst/>
                <a:latin typeface="Cambria Math" panose="02040503050406030204" pitchFamily="18" charset="0"/>
              </a:rPr>
              <a:t>N</a:t>
            </a:r>
            <a:r>
              <a:rPr lang="en-US" altLang="zh-CN" sz="1800" dirty="0">
                <a:solidFill>
                  <a:srgbClr val="000000"/>
                </a:solidFill>
                <a:effectLst/>
                <a:latin typeface="Cambria Math" panose="02040503050406030204" pitchFamily="18" charset="0"/>
              </a:rPr>
              <a:t>  </a:t>
            </a:r>
            <a:r>
              <a:rPr lang="en-US" altLang="zh-CN" sz="1800" dirty="0">
                <a:solidFill>
                  <a:srgbClr val="000000"/>
                </a:solidFill>
                <a:effectLst/>
                <a:latin typeface="Palatino Linotype" panose="02040502050505030304" pitchFamily="18" charset="0"/>
              </a:rPr>
              <a:t>is only determined from </a:t>
            </a:r>
            <a:r>
              <a:rPr lang="en-US" altLang="zh-CN" sz="1800" dirty="0">
                <a:solidFill>
                  <a:srgbClr val="0432FF"/>
                </a:solidFill>
                <a:effectLst/>
                <a:latin typeface="Palatino Linotype" panose="02040502050505030304" pitchFamily="18" charset="0"/>
              </a:rPr>
              <a:t>attribute values at the children of </a:t>
            </a:r>
            <a:r>
              <a:rPr lang="en-US" altLang="zh-CN" sz="1800" i="1" dirty="0">
                <a:solidFill>
                  <a:srgbClr val="0432FF"/>
                </a:solidFill>
                <a:effectLst/>
                <a:latin typeface="Cambria Math" panose="02040503050406030204" pitchFamily="18" charset="0"/>
              </a:rPr>
              <a:t>N</a:t>
            </a:r>
            <a:r>
              <a:rPr lang="en-US" altLang="zh-CN" sz="1800" dirty="0">
                <a:solidFill>
                  <a:srgbClr val="0432FF"/>
                </a:solidFill>
                <a:effectLst/>
                <a:latin typeface="Cambria Math" panose="02040503050406030204" pitchFamily="18" charset="0"/>
              </a:rPr>
              <a:t> </a:t>
            </a:r>
            <a:r>
              <a:rPr lang="en-US" altLang="zh-CN" sz="1800" dirty="0">
                <a:solidFill>
                  <a:srgbClr val="000000"/>
                </a:solidFill>
                <a:effectLst/>
                <a:latin typeface="Palatino Linotype" panose="02040502050505030304" pitchFamily="18" charset="0"/>
              </a:rPr>
              <a:t>and at </a:t>
            </a:r>
            <a:r>
              <a:rPr lang="en-US" altLang="zh-CN" sz="1800" i="1" dirty="0">
                <a:solidFill>
                  <a:srgbClr val="0432FF"/>
                </a:solidFill>
                <a:effectLst/>
                <a:latin typeface="Cambria Math" panose="02040503050406030204" pitchFamily="18" charset="0"/>
              </a:rPr>
              <a:t>N</a:t>
            </a:r>
            <a:r>
              <a:rPr lang="en-US" altLang="zh-CN" sz="1800" dirty="0">
                <a:solidFill>
                  <a:srgbClr val="0432FF"/>
                </a:solidFill>
                <a:effectLst/>
                <a:latin typeface="Cambria Math" panose="02040503050406030204" pitchFamily="18" charset="0"/>
              </a:rPr>
              <a:t>  </a:t>
            </a:r>
            <a:r>
              <a:rPr lang="en-US" altLang="zh-CN" sz="1800" dirty="0">
                <a:solidFill>
                  <a:srgbClr val="0432FF"/>
                </a:solidFill>
                <a:effectLst/>
                <a:latin typeface="Palatino Linotype" panose="02040502050505030304" pitchFamily="18" charset="0"/>
              </a:rPr>
              <a:t>itself </a:t>
            </a:r>
            <a:r>
              <a:rPr lang="en-US" altLang="zh-CN" sz="1800" dirty="0">
                <a:solidFill>
                  <a:srgbClr val="000000"/>
                </a:solidFill>
                <a:effectLst/>
                <a:latin typeface="Palatino Linotype" panose="02040502050505030304" pitchFamily="18" charset="0"/>
              </a:rPr>
              <a:t>(defined by a semantic rule associated with the production at </a:t>
            </a:r>
            <a:r>
              <a:rPr lang="en-US" altLang="zh-CN" sz="1800" dirty="0">
                <a:solidFill>
                  <a:srgbClr val="000000"/>
                </a:solidFill>
                <a:effectLst/>
                <a:latin typeface="Cambria Math" panose="02040503050406030204" pitchFamily="18" charset="0"/>
              </a:rPr>
              <a:t>N</a:t>
            </a:r>
            <a:r>
              <a:rPr lang="en-US" altLang="zh-CN" sz="1800" dirty="0">
                <a:solidFill>
                  <a:srgbClr val="000000"/>
                </a:solidFill>
                <a:effectLst/>
                <a:latin typeface="Palatino Linotype" panose="02040502050505030304" pitchFamily="18" charset="0"/>
              </a:rPr>
              <a:t>)</a:t>
            </a:r>
            <a:endParaRPr lang="zh-CN" altLang="en-US" dirty="0"/>
          </a:p>
        </p:txBody>
      </p:sp>
      <p:graphicFrame>
        <p:nvGraphicFramePr>
          <p:cNvPr id="7" name="表格 6">
            <a:extLst>
              <a:ext uri="{FF2B5EF4-FFF2-40B4-BE49-F238E27FC236}">
                <a16:creationId xmlns:a16="http://schemas.microsoft.com/office/drawing/2014/main" id="{862458DA-A575-4D6C-E867-7CC65C1F85DA}"/>
              </a:ext>
            </a:extLst>
          </p:cNvPr>
          <p:cNvGraphicFramePr>
            <a:graphicFrameLocks noGrp="1"/>
          </p:cNvGraphicFramePr>
          <p:nvPr>
            <p:extLst>
              <p:ext uri="{D42A27DB-BD31-4B8C-83A1-F6EECF244321}">
                <p14:modId xmlns:p14="http://schemas.microsoft.com/office/powerpoint/2010/main" val="1788246988"/>
              </p:ext>
            </p:extLst>
          </p:nvPr>
        </p:nvGraphicFramePr>
        <p:xfrm>
          <a:off x="683568" y="3269774"/>
          <a:ext cx="4824536" cy="731520"/>
        </p:xfrm>
        <a:graphic>
          <a:graphicData uri="http://schemas.openxmlformats.org/drawingml/2006/table">
            <a:tbl>
              <a:tblPr firstRow="1" bandRow="1">
                <a:tableStyleId>{5C22544A-7EE6-4342-B048-85BDC9FD1C3A}</a:tableStyleId>
              </a:tblPr>
              <a:tblGrid>
                <a:gridCol w="1829996">
                  <a:extLst>
                    <a:ext uri="{9D8B030D-6E8A-4147-A177-3AD203B41FA5}">
                      <a16:colId xmlns:a16="http://schemas.microsoft.com/office/drawing/2014/main" val="440347169"/>
                    </a:ext>
                  </a:extLst>
                </a:gridCol>
                <a:gridCol w="2994540">
                  <a:extLst>
                    <a:ext uri="{9D8B030D-6E8A-4147-A177-3AD203B41FA5}">
                      <a16:colId xmlns:a16="http://schemas.microsoft.com/office/drawing/2014/main" val="2911532578"/>
                    </a:ext>
                  </a:extLst>
                </a:gridCol>
              </a:tblGrid>
              <a:tr h="164891">
                <a:tc>
                  <a:txBody>
                    <a:bodyPr/>
                    <a:lstStyle/>
                    <a:p>
                      <a:r>
                        <a:rPr lang="en-US" altLang="zh-CN" dirty="0" err="1">
                          <a:solidFill>
                            <a:schemeClr val="tx1"/>
                          </a:solidFill>
                        </a:rPr>
                        <a:t>ProProduction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Expr </a:t>
                      </a:r>
                      <a:r>
                        <a:rPr lang="zh-CN" altLang="en-US" dirty="0">
                          <a:solidFill>
                            <a:schemeClr val="tx1"/>
                          </a:solidFill>
                        </a:rPr>
                        <a:t>→ </a:t>
                      </a:r>
                      <a:r>
                        <a:rPr lang="en-US" altLang="zh-CN" dirty="0">
                          <a:solidFill>
                            <a:schemeClr val="tx1"/>
                          </a:solidFill>
                        </a:rPr>
                        <a:t>expr</a:t>
                      </a:r>
                      <a:r>
                        <a:rPr lang="en-US" altLang="zh-CN" baseline="-25000" dirty="0">
                          <a:solidFill>
                            <a:schemeClr val="tx1"/>
                          </a:solidFill>
                        </a:rPr>
                        <a:t>1 </a:t>
                      </a:r>
                      <a:r>
                        <a:rPr lang="en-US" altLang="zh-CN" dirty="0">
                          <a:solidFill>
                            <a:schemeClr val="tx1"/>
                          </a:solidFill>
                        </a:rPr>
                        <a:t>+ term</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928288"/>
                  </a:ext>
                </a:extLst>
              </a:tr>
              <a:tr h="198919">
                <a:tc>
                  <a:txBody>
                    <a:bodyPr/>
                    <a:lstStyle/>
                    <a:p>
                      <a:r>
                        <a:rPr lang="en-US" altLang="zh-CN" sz="1800" dirty="0">
                          <a:solidFill>
                            <a:schemeClr val="dk1"/>
                          </a:solidFill>
                          <a:effectLst/>
                          <a:latin typeface="+mn-lt"/>
                          <a:ea typeface="+mn-ea"/>
                          <a:cs typeface="+mn-cs"/>
                        </a:rPr>
                        <a:t>Rule</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t>Expr.t</a:t>
                      </a:r>
                      <a:r>
                        <a:rPr lang="zh-CN" altLang="en-US" dirty="0"/>
                        <a:t> </a:t>
                      </a:r>
                      <a:r>
                        <a:rPr lang="en-US" altLang="zh-CN" dirty="0"/>
                        <a:t>=</a:t>
                      </a:r>
                      <a:r>
                        <a:rPr lang="zh-CN" altLang="en-US" dirty="0"/>
                        <a:t> </a:t>
                      </a:r>
                      <a:r>
                        <a:rPr lang="en-US" altLang="zh-CN" dirty="0"/>
                        <a:t>expr</a:t>
                      </a:r>
                      <a:r>
                        <a:rPr lang="en-US" altLang="zh-CN" sz="1800" b="1" baseline="-25000" dirty="0">
                          <a:solidFill>
                            <a:schemeClr val="tx1"/>
                          </a:solidFill>
                          <a:latin typeface="+mn-lt"/>
                          <a:ea typeface="+mn-ea"/>
                          <a:cs typeface="+mn-cs"/>
                        </a:rPr>
                        <a:t>1</a:t>
                      </a:r>
                      <a:r>
                        <a:rPr lang="en-US" altLang="zh-CN" dirty="0"/>
                        <a:t>.t</a:t>
                      </a:r>
                      <a:r>
                        <a:rPr lang="zh-CN" altLang="en-US" dirty="0"/>
                        <a:t> </a:t>
                      </a:r>
                      <a:r>
                        <a:rPr lang="en-US" altLang="zh-CN" dirty="0"/>
                        <a:t>||</a:t>
                      </a:r>
                      <a:r>
                        <a:rPr lang="zh-CN" altLang="en-US" dirty="0"/>
                        <a:t> </a:t>
                      </a:r>
                      <a:r>
                        <a:rPr lang="en-US" altLang="zh-CN" dirty="0"/>
                        <a:t>term.t ||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473463"/>
                  </a:ext>
                </a:extLst>
              </a:tr>
            </a:tbl>
          </a:graphicData>
        </a:graphic>
      </p:graphicFrame>
      <p:graphicFrame>
        <p:nvGraphicFramePr>
          <p:cNvPr id="8" name="表格 7">
            <a:extLst>
              <a:ext uri="{FF2B5EF4-FFF2-40B4-BE49-F238E27FC236}">
                <a16:creationId xmlns:a16="http://schemas.microsoft.com/office/drawing/2014/main" id="{D05CBD48-F39D-5975-CC84-9F7D9B5453E3}"/>
              </a:ext>
            </a:extLst>
          </p:cNvPr>
          <p:cNvGraphicFramePr>
            <a:graphicFrameLocks noGrp="1"/>
          </p:cNvGraphicFramePr>
          <p:nvPr>
            <p:extLst>
              <p:ext uri="{D42A27DB-BD31-4B8C-83A1-F6EECF244321}">
                <p14:modId xmlns:p14="http://schemas.microsoft.com/office/powerpoint/2010/main" val="2805987234"/>
              </p:ext>
            </p:extLst>
          </p:nvPr>
        </p:nvGraphicFramePr>
        <p:xfrm>
          <a:off x="683568" y="4293096"/>
          <a:ext cx="3528392" cy="73152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440347169"/>
                    </a:ext>
                  </a:extLst>
                </a:gridCol>
                <a:gridCol w="1944216">
                  <a:extLst>
                    <a:ext uri="{9D8B030D-6E8A-4147-A177-3AD203B41FA5}">
                      <a16:colId xmlns:a16="http://schemas.microsoft.com/office/drawing/2014/main" val="2911532578"/>
                    </a:ext>
                  </a:extLst>
                </a:gridCol>
              </a:tblGrid>
              <a:tr h="164891">
                <a:tc>
                  <a:txBody>
                    <a:bodyPr/>
                    <a:lstStyle/>
                    <a:p>
                      <a:r>
                        <a:rPr lang="en-US" altLang="zh-CN" dirty="0" err="1">
                          <a:solidFill>
                            <a:schemeClr val="tx1"/>
                          </a:solidFill>
                        </a:rPr>
                        <a:t>ProProduction</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solidFill>
                            <a:schemeClr val="tx1"/>
                          </a:solidFill>
                        </a:rPr>
                        <a:t>Term </a:t>
                      </a:r>
                      <a:r>
                        <a:rPr lang="zh-CN" altLang="en-US" dirty="0">
                          <a:solidFill>
                            <a:schemeClr val="tx1"/>
                          </a:solidFill>
                        </a:rPr>
                        <a:t>→ </a:t>
                      </a:r>
                      <a:r>
                        <a:rPr lang="en-US" altLang="zh-CN" dirty="0">
                          <a:solidFill>
                            <a:schemeClr val="tx1"/>
                          </a:solidFill>
                        </a:rPr>
                        <a:t>9</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928288"/>
                  </a:ext>
                </a:extLst>
              </a:tr>
              <a:tr h="339165">
                <a:tc>
                  <a:txBody>
                    <a:bodyPr/>
                    <a:lstStyle/>
                    <a:p>
                      <a:r>
                        <a:rPr lang="en-US" altLang="zh-CN" sz="1800" dirty="0">
                          <a:solidFill>
                            <a:schemeClr val="dk1"/>
                          </a:solidFill>
                          <a:effectLst/>
                          <a:latin typeface="+mn-lt"/>
                          <a:ea typeface="+mn-ea"/>
                          <a:cs typeface="+mn-cs"/>
                        </a:rPr>
                        <a:t>Rule</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t>Term.t</a:t>
                      </a:r>
                      <a:r>
                        <a:rPr lang="zh-CN" altLang="en-US" dirty="0"/>
                        <a:t> </a:t>
                      </a:r>
                      <a:r>
                        <a:rPr lang="en-US" altLang="zh-CN" dirty="0"/>
                        <a:t>=</a:t>
                      </a:r>
                      <a:r>
                        <a:rPr lang="zh-CN" altLang="en-US" dirty="0"/>
                        <a:t> </a:t>
                      </a:r>
                      <a:r>
                        <a:rPr lang="en-US" altLang="zh-CN" dirty="0"/>
                        <a:t>‘9’</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473463"/>
                  </a:ext>
                </a:extLst>
              </a:tr>
            </a:tbl>
          </a:graphicData>
        </a:graphic>
      </p:graphicFrame>
      <p:sp>
        <p:nvSpPr>
          <p:cNvPr id="14" name="文本框 13">
            <a:extLst>
              <a:ext uri="{FF2B5EF4-FFF2-40B4-BE49-F238E27FC236}">
                <a16:creationId xmlns:a16="http://schemas.microsoft.com/office/drawing/2014/main" id="{5E25E0DA-849E-F254-C09E-D934298CFFC3}"/>
              </a:ext>
            </a:extLst>
          </p:cNvPr>
          <p:cNvSpPr txBox="1"/>
          <p:nvPr/>
        </p:nvSpPr>
        <p:spPr>
          <a:xfrm>
            <a:off x="628650" y="5770770"/>
            <a:ext cx="8116440" cy="584775"/>
          </a:xfrm>
          <a:prstGeom prst="rect">
            <a:avLst/>
          </a:prstGeom>
          <a:noFill/>
        </p:spPr>
        <p:txBody>
          <a:bodyPr wrap="square">
            <a:spAutoFit/>
          </a:bodyPr>
          <a:lstStyle/>
          <a:p>
            <a:r>
              <a:rPr lang="en-US" altLang="zh-CN" sz="1400" dirty="0">
                <a:solidFill>
                  <a:srgbClr val="A6A6A6"/>
                </a:solidFill>
                <a:effectLst/>
                <a:latin typeface="Palatino Linotype" panose="02040502050505030304" pitchFamily="18" charset="0"/>
              </a:rPr>
              <a:t>Terminals can also have synthesized attributes (lexical values), but there are not rules for computing the value of an attribute for a terminal</a:t>
            </a:r>
            <a:r>
              <a:rPr lang="en-US" altLang="zh-CN" sz="1800" dirty="0">
                <a:solidFill>
                  <a:srgbClr val="A6A6A6"/>
                </a:solidFill>
                <a:effectLst/>
                <a:latin typeface="Palatino Linotype" panose="02040502050505030304" pitchFamily="18" charset="0"/>
              </a:rPr>
              <a:t>. </a:t>
            </a:r>
            <a:endParaRPr lang="zh-CN" altLang="en-US" dirty="0"/>
          </a:p>
        </p:txBody>
      </p:sp>
      <p:sp>
        <p:nvSpPr>
          <p:cNvPr id="11" name="文本框 10">
            <a:extLst>
              <a:ext uri="{FF2B5EF4-FFF2-40B4-BE49-F238E27FC236}">
                <a16:creationId xmlns:a16="http://schemas.microsoft.com/office/drawing/2014/main" id="{776B8BD9-364C-4B8C-8EB0-B05B97186191}"/>
              </a:ext>
            </a:extLst>
          </p:cNvPr>
          <p:cNvSpPr txBox="1"/>
          <p:nvPr/>
        </p:nvSpPr>
        <p:spPr bwMode="auto">
          <a:xfrm>
            <a:off x="6135618" y="4414489"/>
            <a:ext cx="322332" cy="461665"/>
          </a:xfrm>
          <a:prstGeom prst="rect">
            <a:avLst/>
          </a:prstGeom>
          <a:solidFill>
            <a:schemeClr val="bg1"/>
          </a:solidFill>
        </p:spPr>
        <p:txBody>
          <a:bodyPr wrap="square" rtlCol="0">
            <a:spAutoFit/>
          </a:bodyPr>
          <a:lstStyle/>
          <a:p>
            <a:pPr algn="ctr"/>
            <a:r>
              <a:rPr lang="en-US" altLang="zh-CN" sz="2400" dirty="0"/>
              <a:t>-</a:t>
            </a:r>
            <a:endParaRPr lang="zh-CN"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altLang="zh-CN" sz="3600" dirty="0">
                <a:latin typeface="Palatino Linotype" panose="02040502050505030304" charset="0"/>
                <a:cs typeface="Palatino Linotype" panose="02040502050505030304" charset="0"/>
              </a:rPr>
              <a:t>A Complete Example of SDD</a:t>
            </a:r>
            <a:endParaRPr lang="zh-CN" altLang="en-US" sz="3600" dirty="0">
              <a:latin typeface="Palatino Linotype" panose="02040502050505030304" charset="0"/>
              <a:cs typeface="Palatino Linotype" panose="02040502050505030304" charset="0"/>
            </a:endParaRPr>
          </a:p>
        </p:txBody>
      </p:sp>
      <p:sp>
        <p:nvSpPr>
          <p:cNvPr id="4" name="内容占位符 3"/>
          <p:cNvSpPr>
            <a:spLocks noGrp="1"/>
          </p:cNvSpPr>
          <p:nvPr>
            <p:ph idx="1"/>
          </p:nvPr>
        </p:nvSpPr>
        <p:spPr>
          <a:xfrm>
            <a:off x="611505" y="1412875"/>
            <a:ext cx="7886700" cy="4351338"/>
          </a:xfrm>
        </p:spPr>
        <p:txBody>
          <a:bodyPr>
            <a:noAutofit/>
          </a:bodyPr>
          <a:lstStyle/>
          <a:p>
            <a:pPr marL="235585" indent="-221615" algn="l" rtl="0" eaLnBrk="0" fontAlgn="auto">
              <a:lnSpc>
                <a:spcPct val="150000"/>
              </a:lnSpc>
              <a:spcBef>
                <a:spcPts val="0"/>
              </a:spcBef>
            </a:pPr>
            <a:r>
              <a:rPr lang="en-US"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The SDD below helps compute the value of an expression</a:t>
            </a:r>
          </a:p>
          <a:p>
            <a:pPr marL="235585" indent="-221615" algn="l" rtl="0" eaLnBrk="0" fontAlgn="auto">
              <a:lnSpc>
                <a:spcPct val="150000"/>
              </a:lnSpc>
              <a:spcBef>
                <a:spcPts val="0"/>
              </a:spcBef>
            </a:pPr>
            <a:r>
              <a:rPr lang="en-US" sz="1800" dirty="0">
                <a:solidFill>
                  <a:srgbClr val="FF0000"/>
                </a:solidFill>
                <a:latin typeface="Palatino Linotype" panose="02040502050505030304" charset="0"/>
                <a:ea typeface="Palatino Linotype" panose="02040502050505030304"/>
                <a:cs typeface="Palatino Linotype" panose="02040502050505030304" charset="0"/>
                <a:sym typeface="+mn-ea"/>
              </a:rPr>
              <a:t>SDD’s do not specify the evaluation order </a:t>
            </a:r>
            <a:r>
              <a:rPr lang="en-US" sz="18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of attributes on a parse tree</a:t>
            </a:r>
          </a:p>
          <a:p>
            <a:pPr marL="756920" lvl="1" indent="-285750" rtl="0" eaLnBrk="0">
              <a:spcBef>
                <a:spcPts val="0"/>
              </a:spcBef>
            </a:pPr>
            <a:r>
              <a:rPr lang="en-US" sz="16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Any</a:t>
            </a:r>
            <a:r>
              <a:rPr lang="en-US" sz="1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a:t>
            </a:r>
            <a:r>
              <a:rPr lang="en-US" sz="16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order that computes an attribute after all other attributes that depends on is fine</a:t>
            </a:r>
          </a:p>
          <a:p>
            <a:pPr marL="756920" lvl="1" indent="-285750" rtl="0" eaLnBrk="0">
              <a:spcBef>
                <a:spcPts val="0"/>
              </a:spcBef>
            </a:pPr>
            <a:r>
              <a:rPr lang="en-US" sz="1600" dirty="0">
                <a:solidFill>
                  <a:srgbClr val="0331FF"/>
                </a:solidFill>
                <a:latin typeface="Palatino Linotype" panose="02040502050505030304" charset="0"/>
                <a:ea typeface="Palatino Linotype" panose="02040502050505030304"/>
                <a:cs typeface="Palatino Linotype" panose="02040502050505030304" charset="0"/>
                <a:sym typeface="+mn-ea"/>
              </a:rPr>
              <a:t>Synthesized attributes have a nice property </a:t>
            </a:r>
            <a:r>
              <a:rPr lang="en-US" sz="16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that they can be evaluated during a single </a:t>
            </a:r>
            <a:r>
              <a:rPr lang="en-US" sz="1600" dirty="0">
                <a:solidFill>
                  <a:srgbClr val="FF0000"/>
                </a:solidFill>
                <a:latin typeface="Palatino Linotype" panose="02040502050505030304" charset="0"/>
                <a:ea typeface="Palatino Linotype" panose="02040502050505030304"/>
                <a:cs typeface="Palatino Linotype" panose="02040502050505030304" charset="0"/>
                <a:sym typeface="+mn-ea"/>
              </a:rPr>
              <a:t>bottom-up</a:t>
            </a:r>
            <a:r>
              <a:rPr lang="en-US" sz="16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rPr>
              <a:t> traversal of a parse tree (it is often unnecessary to explicitly create the tree)</a:t>
            </a:r>
            <a:endParaRPr lang="zh-CN" altLang="en-US" sz="1200" dirty="0">
              <a:solidFill>
                <a:srgbClr val="000000">
                  <a:alpha val="100000"/>
                </a:srgbClr>
              </a:solidFill>
              <a:latin typeface="Palatino Linotype" panose="02040502050505030304" charset="0"/>
              <a:ea typeface="Palatino Linotype" panose="02040502050505030304"/>
              <a:cs typeface="Palatino Linotype" panose="02040502050505030304" charset="0"/>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7</a:t>
            </a:fld>
            <a:endParaRPr/>
          </a:p>
        </p:txBody>
      </p:sp>
      <p:pic>
        <p:nvPicPr>
          <p:cNvPr id="8" name="图片 7">
            <a:extLst>
              <a:ext uri="{FF2B5EF4-FFF2-40B4-BE49-F238E27FC236}">
                <a16:creationId xmlns:a16="http://schemas.microsoft.com/office/drawing/2014/main" id="{236DB224-C7FE-2B91-2F3E-EA77AEE617D1}"/>
              </a:ext>
            </a:extLst>
          </p:cNvPr>
          <p:cNvPicPr>
            <a:picLocks noChangeAspect="1"/>
          </p:cNvPicPr>
          <p:nvPr/>
        </p:nvPicPr>
        <p:blipFill>
          <a:blip r:embed="rId3"/>
          <a:stretch>
            <a:fillRect/>
          </a:stretch>
        </p:blipFill>
        <p:spPr>
          <a:xfrm>
            <a:off x="958406" y="4190144"/>
            <a:ext cx="3563888" cy="2184882"/>
          </a:xfrm>
          <a:prstGeom prst="rect">
            <a:avLst/>
          </a:prstGeom>
        </p:spPr>
      </p:pic>
      <p:pic>
        <p:nvPicPr>
          <p:cNvPr id="10" name="图片 9">
            <a:extLst>
              <a:ext uri="{FF2B5EF4-FFF2-40B4-BE49-F238E27FC236}">
                <a16:creationId xmlns:a16="http://schemas.microsoft.com/office/drawing/2014/main" id="{5160B86E-9416-2708-D951-01773BD8F9C9}"/>
              </a:ext>
            </a:extLst>
          </p:cNvPr>
          <p:cNvPicPr>
            <a:picLocks noChangeAspect="1"/>
          </p:cNvPicPr>
          <p:nvPr/>
        </p:nvPicPr>
        <p:blipFill>
          <a:blip r:embed="rId4"/>
          <a:stretch>
            <a:fillRect/>
          </a:stretch>
        </p:blipFill>
        <p:spPr>
          <a:xfrm>
            <a:off x="4825272" y="4041480"/>
            <a:ext cx="3686944" cy="21870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a:extLst>
              <a:ext uri="{FF2B5EF4-FFF2-40B4-BE49-F238E27FC236}">
                <a16:creationId xmlns:a16="http://schemas.microsoft.com/office/drawing/2014/main" id="{0C42E643-6111-40E3-9B0C-527B899785AE}"/>
              </a:ext>
            </a:extLst>
          </p:cNvPr>
          <p:cNvSpPr>
            <a:spLocks noGrp="1"/>
          </p:cNvSpPr>
          <p:nvPr>
            <p:ph type="ftr" sz="quarter" idx="11"/>
          </p:nvPr>
        </p:nvSpPr>
        <p:spPr>
          <a:xfrm>
            <a:off x="3019524" y="6448837"/>
            <a:ext cx="3086100" cy="365125"/>
          </a:xfrm>
        </p:spPr>
        <p:txBody>
          <a:bodyPr/>
          <a:lstStyle/>
          <a:p>
            <a:pPr>
              <a:defRPr/>
            </a:pPr>
            <a:r>
              <a:rPr lang="en-US" dirty="0">
                <a:latin typeface="Plantagenet Cherokee" panose="020B0604020202020204" pitchFamily="18" charset="0"/>
              </a:rPr>
              <a:t>BUPT Compilers</a:t>
            </a:r>
          </a:p>
        </p:txBody>
      </p:sp>
      <p:sp>
        <p:nvSpPr>
          <p:cNvPr id="6" name="灯片编号占位符 5">
            <a:extLst>
              <a:ext uri="{FF2B5EF4-FFF2-40B4-BE49-F238E27FC236}">
                <a16:creationId xmlns:a16="http://schemas.microsoft.com/office/drawing/2014/main" id="{66CAFF12-3AEB-4625-95E2-D103FEA4A0DB}"/>
              </a:ext>
            </a:extLst>
          </p:cNvPr>
          <p:cNvSpPr>
            <a:spLocks noGrp="1"/>
          </p:cNvSpPr>
          <p:nvPr>
            <p:ph type="sldNum" sz="quarter" idx="12"/>
          </p:nvPr>
        </p:nvSpPr>
        <p:spPr/>
        <p:txBody>
          <a:bodyPr/>
          <a:lstStyle/>
          <a:p>
            <a:pPr>
              <a:defRPr/>
            </a:pPr>
            <a:fld id="{2FBC720A-3716-234A-B2DF-CBC7E48049F5}" type="slidenum">
              <a:rPr lang="en-US" altLang="zh-CN" smtClean="0">
                <a:latin typeface="Plantagenet Cherokee" panose="020B0604020202020204" pitchFamily="18" charset="0"/>
              </a:rPr>
              <a:t>8</a:t>
            </a:fld>
            <a:endParaRPr lang="en-US" altLang="zh-CN">
              <a:latin typeface="Plantagenet Cherokee" panose="020B0604020202020204" pitchFamily="18" charset="0"/>
            </a:endParaRPr>
          </a:p>
        </p:txBody>
      </p:sp>
      <p:grpSp>
        <p:nvGrpSpPr>
          <p:cNvPr id="8" name="组合 7">
            <a:extLst>
              <a:ext uri="{FF2B5EF4-FFF2-40B4-BE49-F238E27FC236}">
                <a16:creationId xmlns:a16="http://schemas.microsoft.com/office/drawing/2014/main" id="{5CF266C3-A0ED-470C-89EB-CA678BFB1FFA}"/>
              </a:ext>
            </a:extLst>
          </p:cNvPr>
          <p:cNvGrpSpPr/>
          <p:nvPr/>
        </p:nvGrpSpPr>
        <p:grpSpPr>
          <a:xfrm>
            <a:off x="125280" y="117326"/>
            <a:ext cx="4608744" cy="2849163"/>
            <a:chOff x="7520591" y="2816196"/>
            <a:chExt cx="5118976" cy="3025447"/>
          </a:xfrm>
        </p:grpSpPr>
        <p:sp>
          <p:nvSpPr>
            <p:cNvPr id="9" name="Rectangle 3">
              <a:extLst>
                <a:ext uri="{FF2B5EF4-FFF2-40B4-BE49-F238E27FC236}">
                  <a16:creationId xmlns:a16="http://schemas.microsoft.com/office/drawing/2014/main" id="{DB2EBAD7-4703-4EC6-95DE-89567A52D8B7}"/>
                </a:ext>
              </a:extLst>
            </p:cNvPr>
            <p:cNvSpPr txBox="1">
              <a:spLocks noChangeArrowheads="1"/>
            </p:cNvSpPr>
            <p:nvPr/>
          </p:nvSpPr>
          <p:spPr>
            <a:xfrm>
              <a:off x="7520591" y="2816196"/>
              <a:ext cx="2156714"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Bef>
                  <a:spcPts val="0"/>
                </a:spcBef>
                <a:buNone/>
              </a:pPr>
              <a:r>
                <a:rPr lang="en-US" altLang="zh-CN" sz="2200" dirty="0">
                  <a:solidFill>
                    <a:schemeClr val="bg1"/>
                  </a:solidFill>
                  <a:latin typeface="Plantagenet Cherokee" panose="020B0604020202020204" pitchFamily="18" charset="0"/>
                </a:rPr>
                <a:t>productions</a:t>
              </a:r>
              <a:endParaRPr lang="zh-CN" altLang="en-US" sz="2200" dirty="0">
                <a:solidFill>
                  <a:schemeClr val="bg1"/>
                </a:solidFill>
                <a:latin typeface="Plantagenet Cherokee" panose="020B0604020202020204" pitchFamily="18" charset="0"/>
              </a:endParaRPr>
            </a:p>
            <a:p>
              <a:pPr>
                <a:spcBef>
                  <a:spcPts val="0"/>
                </a:spcBef>
                <a:buNone/>
              </a:pPr>
              <a:r>
                <a:rPr lang="en-US" altLang="zh-CN" sz="2200" dirty="0" err="1">
                  <a:solidFill>
                    <a:schemeClr val="bg1"/>
                  </a:solidFill>
                  <a:latin typeface="Plantagenet Cherokee" panose="020B0604020202020204" pitchFamily="18" charset="0"/>
                </a:rPr>
                <a:t>L→En</a:t>
              </a:r>
              <a:r>
                <a:rPr lang="en-US" altLang="zh-CN" sz="2200" dirty="0">
                  <a:solidFill>
                    <a:schemeClr val="bg1"/>
                  </a:solidFill>
                  <a:latin typeface="Plantagenet Cherokee" panose="020B0604020202020204" pitchFamily="18" charset="0"/>
                </a:rPr>
                <a:t> </a:t>
              </a:r>
            </a:p>
            <a:p>
              <a:pPr>
                <a:spcBef>
                  <a:spcPts val="0"/>
                </a:spcBef>
                <a:buNone/>
              </a:pPr>
              <a:r>
                <a:rPr lang="en-US" altLang="zh-CN" sz="2200" dirty="0">
                  <a:solidFill>
                    <a:schemeClr val="bg1"/>
                  </a:solidFill>
                  <a:latin typeface="Plantagenet Cherokee" panose="020B0604020202020204" pitchFamily="18" charset="0"/>
                </a:rPr>
                <a:t>E→E</a:t>
              </a:r>
              <a:r>
                <a:rPr lang="en-US" altLang="zh-CN" sz="2200" baseline="-25000" dirty="0">
                  <a:solidFill>
                    <a:schemeClr val="bg1"/>
                  </a:solidFill>
                  <a:latin typeface="Plantagenet Cherokee" panose="020B0604020202020204" pitchFamily="18" charset="0"/>
                </a:rPr>
                <a:t>1</a:t>
              </a:r>
              <a:r>
                <a:rPr lang="en-US" altLang="zh-CN" sz="2200" dirty="0">
                  <a:solidFill>
                    <a:schemeClr val="bg1"/>
                  </a:solidFill>
                  <a:latin typeface="Plantagenet Cherokee" panose="020B0604020202020204" pitchFamily="18" charset="0"/>
                </a:rPr>
                <a:t>+T  </a:t>
              </a:r>
            </a:p>
            <a:p>
              <a:pPr>
                <a:spcBef>
                  <a:spcPts val="0"/>
                </a:spcBef>
                <a:buNone/>
              </a:pPr>
              <a:r>
                <a:rPr lang="en-US" altLang="zh-CN" sz="2200" dirty="0">
                  <a:solidFill>
                    <a:schemeClr val="bg1"/>
                  </a:solidFill>
                  <a:latin typeface="Plantagenet Cherokee" panose="020B0604020202020204" pitchFamily="18" charset="0"/>
                </a:rPr>
                <a:t>E→T</a:t>
              </a:r>
            </a:p>
            <a:p>
              <a:pPr>
                <a:spcBef>
                  <a:spcPts val="0"/>
                </a:spcBef>
                <a:buNone/>
              </a:pPr>
              <a:r>
                <a:rPr lang="en-US" altLang="zh-CN" sz="2200" dirty="0">
                  <a:solidFill>
                    <a:schemeClr val="bg1"/>
                  </a:solidFill>
                  <a:latin typeface="Plantagenet Cherokee" panose="020B0604020202020204" pitchFamily="18" charset="0"/>
                </a:rPr>
                <a:t>T→T</a:t>
              </a:r>
              <a:r>
                <a:rPr lang="en-US" altLang="zh-CN" sz="2200" baseline="-25000" dirty="0">
                  <a:solidFill>
                    <a:schemeClr val="bg1"/>
                  </a:solidFill>
                  <a:latin typeface="Plantagenet Cherokee" panose="020B0604020202020204" pitchFamily="18" charset="0"/>
                </a:rPr>
                <a:t>1</a:t>
              </a:r>
              <a:r>
                <a:rPr lang="en-US" altLang="zh-CN" sz="2200" dirty="0">
                  <a:solidFill>
                    <a:schemeClr val="bg1"/>
                  </a:solidFill>
                  <a:latin typeface="Plantagenet Cherokee" panose="020B0604020202020204" pitchFamily="18" charset="0"/>
                </a:rPr>
                <a:t>*F</a:t>
              </a:r>
            </a:p>
            <a:p>
              <a:pPr>
                <a:spcBef>
                  <a:spcPts val="0"/>
                </a:spcBef>
                <a:buNone/>
              </a:pPr>
              <a:r>
                <a:rPr lang="en-US" altLang="zh-CN" sz="2200" dirty="0">
                  <a:solidFill>
                    <a:schemeClr val="bg1"/>
                  </a:solidFill>
                  <a:latin typeface="Plantagenet Cherokee" panose="020B0604020202020204" pitchFamily="18" charset="0"/>
                </a:rPr>
                <a:t>T→F</a:t>
              </a:r>
            </a:p>
            <a:p>
              <a:pPr>
                <a:spcBef>
                  <a:spcPts val="0"/>
                </a:spcBef>
                <a:buNone/>
              </a:pPr>
              <a:r>
                <a:rPr lang="en-US" altLang="zh-CN" sz="2200" dirty="0">
                  <a:solidFill>
                    <a:schemeClr val="bg1"/>
                  </a:solidFill>
                  <a:latin typeface="Plantagenet Cherokee" panose="020B0604020202020204" pitchFamily="18" charset="0"/>
                </a:rPr>
                <a:t>F→ (E)</a:t>
              </a:r>
            </a:p>
            <a:p>
              <a:pPr>
                <a:spcBef>
                  <a:spcPts val="0"/>
                </a:spcBef>
                <a:buNone/>
              </a:pPr>
              <a:r>
                <a:rPr lang="en-US" altLang="zh-CN" sz="2200" dirty="0" err="1">
                  <a:solidFill>
                    <a:schemeClr val="bg1"/>
                  </a:solidFill>
                  <a:latin typeface="Plantagenet Cherokee" panose="020B0604020202020204" pitchFamily="18" charset="0"/>
                </a:rPr>
                <a:t>F→digit</a:t>
              </a:r>
              <a:endParaRPr lang="en-US" altLang="zh-CN" sz="2200" dirty="0">
                <a:solidFill>
                  <a:schemeClr val="bg1"/>
                </a:solidFill>
                <a:latin typeface="Plantagenet Cherokee" panose="020B0604020202020204" pitchFamily="18" charset="0"/>
              </a:endParaRPr>
            </a:p>
            <a:p>
              <a:pPr>
                <a:spcBef>
                  <a:spcPts val="0"/>
                </a:spcBef>
                <a:buNone/>
              </a:pPr>
              <a:endParaRPr lang="en-US" altLang="zh-CN" sz="2200" dirty="0">
                <a:solidFill>
                  <a:schemeClr val="bg1"/>
                </a:solidFill>
                <a:latin typeface="Plantagenet Cherokee" panose="020B0604020202020204" pitchFamily="18" charset="0"/>
              </a:endParaRPr>
            </a:p>
          </p:txBody>
        </p:sp>
        <p:sp>
          <p:nvSpPr>
            <p:cNvPr id="10" name="Rectangle 14">
              <a:extLst>
                <a:ext uri="{FF2B5EF4-FFF2-40B4-BE49-F238E27FC236}">
                  <a16:creationId xmlns:a16="http://schemas.microsoft.com/office/drawing/2014/main" id="{660F51FA-4FA2-469C-AC48-1A08A4D04C77}"/>
                </a:ext>
              </a:extLst>
            </p:cNvPr>
            <p:cNvSpPr>
              <a:spLocks noChangeArrowheads="1"/>
            </p:cNvSpPr>
            <p:nvPr/>
          </p:nvSpPr>
          <p:spPr bwMode="auto">
            <a:xfrm>
              <a:off x="9480507" y="2816196"/>
              <a:ext cx="3159060" cy="30254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spcBef>
                  <a:spcPts val="0"/>
                </a:spcBef>
                <a:buNone/>
              </a:pPr>
              <a:r>
                <a:rPr lang="en-US" altLang="zh-CN" sz="2200" dirty="0">
                  <a:solidFill>
                    <a:schemeClr val="bg1"/>
                  </a:solidFill>
                  <a:latin typeface="Plantagenet Cherokee" panose="020B0604020202020204" pitchFamily="18" charset="0"/>
                </a:rPr>
                <a:t>semantic  rules</a:t>
              </a:r>
              <a:endParaRPr lang="zh-CN" altLang="en-US" sz="2200" dirty="0">
                <a:solidFill>
                  <a:schemeClr val="bg1"/>
                </a:solidFill>
                <a:latin typeface="Plantagenet Cherokee" panose="020B0604020202020204" pitchFamily="18" charset="0"/>
              </a:endParaRPr>
            </a:p>
            <a:p>
              <a:pPr>
                <a:spcBef>
                  <a:spcPts val="0"/>
                </a:spcBef>
                <a:buNone/>
              </a:pPr>
              <a:r>
                <a:rPr lang="en-US" altLang="zh-CN" sz="2200" dirty="0" err="1">
                  <a:solidFill>
                    <a:schemeClr val="bg1"/>
                  </a:solidFill>
                  <a:latin typeface="Plantagenet Cherokee" panose="020B0604020202020204" pitchFamily="18" charset="0"/>
                </a:rPr>
                <a:t>L.val</a:t>
              </a:r>
              <a:r>
                <a:rPr lang="en-US" altLang="zh-CN" sz="2200" dirty="0">
                  <a:solidFill>
                    <a:schemeClr val="bg1"/>
                  </a:solidFill>
                  <a:latin typeface="Plantagenet Cherokee" panose="020B0604020202020204" pitchFamily="18" charset="0"/>
                </a:rPr>
                <a:t>=</a:t>
              </a:r>
              <a:r>
                <a:rPr lang="en-US" altLang="zh-CN" sz="2200" dirty="0" err="1">
                  <a:solidFill>
                    <a:schemeClr val="bg1"/>
                  </a:solidFill>
                  <a:latin typeface="Plantagenet Cherokee" panose="020B0604020202020204" pitchFamily="18" charset="0"/>
                </a:rPr>
                <a:t>E.val</a:t>
              </a:r>
              <a:endParaRPr lang="en-US" altLang="zh-CN" sz="2200" dirty="0">
                <a:solidFill>
                  <a:schemeClr val="bg1"/>
                </a:solidFill>
                <a:latin typeface="Plantagenet Cherokee" panose="020B0604020202020204" pitchFamily="18" charset="0"/>
              </a:endParaRPr>
            </a:p>
            <a:p>
              <a:pPr>
                <a:spcBef>
                  <a:spcPts val="0"/>
                </a:spcBef>
                <a:buNone/>
              </a:pPr>
              <a:r>
                <a:rPr lang="en-US" altLang="zh-CN" sz="2200" dirty="0" err="1">
                  <a:solidFill>
                    <a:schemeClr val="bg1"/>
                  </a:solidFill>
                  <a:latin typeface="Plantagenet Cherokee" panose="020B0604020202020204" pitchFamily="18" charset="0"/>
                </a:rPr>
                <a:t>E.val</a:t>
              </a:r>
              <a:r>
                <a:rPr lang="en-US" altLang="zh-CN" sz="2200" dirty="0">
                  <a:solidFill>
                    <a:schemeClr val="bg1"/>
                  </a:solidFill>
                  <a:latin typeface="Plantagenet Cherokee" panose="020B0604020202020204" pitchFamily="18" charset="0"/>
                </a:rPr>
                <a:t> := E</a:t>
              </a:r>
              <a:r>
                <a:rPr lang="en-US" altLang="zh-CN" sz="2200" baseline="-25000" dirty="0">
                  <a:solidFill>
                    <a:schemeClr val="bg1"/>
                  </a:solidFill>
                  <a:latin typeface="Plantagenet Cherokee" panose="020B0604020202020204" pitchFamily="18" charset="0"/>
                </a:rPr>
                <a:t>1</a:t>
              </a:r>
              <a:r>
                <a:rPr lang="en-US" altLang="zh-CN" sz="2200" dirty="0">
                  <a:solidFill>
                    <a:schemeClr val="bg1"/>
                  </a:solidFill>
                  <a:latin typeface="Plantagenet Cherokee" panose="020B0604020202020204" pitchFamily="18" charset="0"/>
                </a:rPr>
                <a:t>.val+T.val </a:t>
              </a:r>
            </a:p>
            <a:p>
              <a:pPr>
                <a:spcBef>
                  <a:spcPts val="0"/>
                </a:spcBef>
                <a:buNone/>
              </a:pPr>
              <a:r>
                <a:rPr lang="en-US" altLang="zh-CN" sz="2200" dirty="0" err="1">
                  <a:solidFill>
                    <a:schemeClr val="bg1"/>
                  </a:solidFill>
                  <a:latin typeface="Plantagenet Cherokee" panose="020B0604020202020204" pitchFamily="18" charset="0"/>
                </a:rPr>
                <a:t>E.val</a:t>
              </a:r>
              <a:r>
                <a:rPr lang="en-US" altLang="zh-CN" sz="2200" dirty="0">
                  <a:solidFill>
                    <a:schemeClr val="bg1"/>
                  </a:solidFill>
                  <a:latin typeface="Plantagenet Cherokee" panose="020B0604020202020204" pitchFamily="18" charset="0"/>
                </a:rPr>
                <a:t> :=</a:t>
              </a:r>
              <a:r>
                <a:rPr lang="en-US" altLang="zh-CN" sz="2200" dirty="0" err="1">
                  <a:solidFill>
                    <a:schemeClr val="bg1"/>
                  </a:solidFill>
                  <a:latin typeface="Plantagenet Cherokee" panose="020B0604020202020204" pitchFamily="18" charset="0"/>
                </a:rPr>
                <a:t>T.val</a:t>
              </a:r>
              <a:r>
                <a:rPr lang="en-US" altLang="zh-CN" sz="2200" dirty="0">
                  <a:solidFill>
                    <a:schemeClr val="bg1"/>
                  </a:solidFill>
                  <a:latin typeface="Plantagenet Cherokee" panose="020B0604020202020204" pitchFamily="18" charset="0"/>
                </a:rPr>
                <a:t> </a:t>
              </a:r>
            </a:p>
            <a:p>
              <a:pPr>
                <a:spcBef>
                  <a:spcPts val="0"/>
                </a:spcBef>
                <a:buNone/>
              </a:pPr>
              <a:r>
                <a:rPr lang="en-US" altLang="zh-CN" sz="2200" dirty="0" err="1">
                  <a:solidFill>
                    <a:schemeClr val="bg1"/>
                  </a:solidFill>
                  <a:latin typeface="Plantagenet Cherokee" panose="020B0604020202020204" pitchFamily="18" charset="0"/>
                </a:rPr>
                <a:t>T.val</a:t>
              </a:r>
              <a:r>
                <a:rPr lang="en-US" altLang="zh-CN" sz="2200" dirty="0">
                  <a:solidFill>
                    <a:schemeClr val="bg1"/>
                  </a:solidFill>
                  <a:latin typeface="Plantagenet Cherokee" panose="020B0604020202020204" pitchFamily="18" charset="0"/>
                </a:rPr>
                <a:t> :=T</a:t>
              </a:r>
              <a:r>
                <a:rPr lang="en-US" altLang="zh-CN" sz="2200" baseline="-25000" dirty="0">
                  <a:solidFill>
                    <a:schemeClr val="bg1"/>
                  </a:solidFill>
                  <a:latin typeface="Plantagenet Cherokee" panose="020B0604020202020204" pitchFamily="18" charset="0"/>
                </a:rPr>
                <a:t>1</a:t>
              </a:r>
              <a:r>
                <a:rPr lang="en-US" altLang="zh-CN" sz="2200" dirty="0">
                  <a:solidFill>
                    <a:schemeClr val="bg1"/>
                  </a:solidFill>
                  <a:latin typeface="Plantagenet Cherokee" panose="020B0604020202020204" pitchFamily="18" charset="0"/>
                </a:rPr>
                <a:t>.val* </a:t>
              </a:r>
              <a:r>
                <a:rPr lang="en-US" altLang="zh-CN" sz="2200" dirty="0" err="1">
                  <a:solidFill>
                    <a:schemeClr val="bg1"/>
                  </a:solidFill>
                  <a:latin typeface="Plantagenet Cherokee" panose="020B0604020202020204" pitchFamily="18" charset="0"/>
                </a:rPr>
                <a:t>F.val</a:t>
              </a:r>
              <a:r>
                <a:rPr lang="en-US" altLang="zh-CN" sz="2200" dirty="0">
                  <a:solidFill>
                    <a:schemeClr val="bg1"/>
                  </a:solidFill>
                  <a:latin typeface="Plantagenet Cherokee" panose="020B0604020202020204" pitchFamily="18" charset="0"/>
                </a:rPr>
                <a:t> </a:t>
              </a:r>
            </a:p>
            <a:p>
              <a:pPr>
                <a:spcBef>
                  <a:spcPts val="0"/>
                </a:spcBef>
                <a:buNone/>
              </a:pPr>
              <a:r>
                <a:rPr lang="en-US" altLang="zh-CN" sz="2200" dirty="0" err="1">
                  <a:solidFill>
                    <a:schemeClr val="bg1"/>
                  </a:solidFill>
                  <a:latin typeface="Plantagenet Cherokee" panose="020B0604020202020204" pitchFamily="18" charset="0"/>
                </a:rPr>
                <a:t>T.val</a:t>
              </a:r>
              <a:r>
                <a:rPr lang="en-US" altLang="zh-CN" sz="2200" dirty="0">
                  <a:solidFill>
                    <a:schemeClr val="bg1"/>
                  </a:solidFill>
                  <a:latin typeface="Plantagenet Cherokee" panose="020B0604020202020204" pitchFamily="18" charset="0"/>
                </a:rPr>
                <a:t> :=</a:t>
              </a:r>
              <a:r>
                <a:rPr lang="en-US" altLang="zh-CN" sz="2200" dirty="0" err="1">
                  <a:solidFill>
                    <a:schemeClr val="bg1"/>
                  </a:solidFill>
                  <a:latin typeface="Plantagenet Cherokee" panose="020B0604020202020204" pitchFamily="18" charset="0"/>
                </a:rPr>
                <a:t>F.val</a:t>
              </a:r>
              <a:r>
                <a:rPr lang="en-US" altLang="zh-CN" sz="2200" dirty="0">
                  <a:solidFill>
                    <a:schemeClr val="bg1"/>
                  </a:solidFill>
                  <a:latin typeface="Plantagenet Cherokee" panose="020B0604020202020204" pitchFamily="18" charset="0"/>
                </a:rPr>
                <a:t> </a:t>
              </a:r>
            </a:p>
            <a:p>
              <a:pPr>
                <a:spcBef>
                  <a:spcPts val="0"/>
                </a:spcBef>
                <a:buNone/>
              </a:pPr>
              <a:r>
                <a:rPr lang="en-US" altLang="zh-CN" sz="2200" dirty="0" err="1">
                  <a:solidFill>
                    <a:schemeClr val="bg1"/>
                  </a:solidFill>
                  <a:latin typeface="Plantagenet Cherokee" panose="020B0604020202020204" pitchFamily="18" charset="0"/>
                </a:rPr>
                <a:t>F.val</a:t>
              </a:r>
              <a:r>
                <a:rPr lang="en-US" altLang="zh-CN" sz="2200" dirty="0">
                  <a:solidFill>
                    <a:schemeClr val="bg1"/>
                  </a:solidFill>
                  <a:latin typeface="Plantagenet Cherokee" panose="020B0604020202020204" pitchFamily="18" charset="0"/>
                </a:rPr>
                <a:t> :=</a:t>
              </a:r>
              <a:r>
                <a:rPr lang="en-US" altLang="zh-CN" sz="2200" dirty="0" err="1">
                  <a:solidFill>
                    <a:schemeClr val="bg1"/>
                  </a:solidFill>
                  <a:latin typeface="Plantagenet Cherokee" panose="020B0604020202020204" pitchFamily="18" charset="0"/>
                </a:rPr>
                <a:t>E.val</a:t>
              </a:r>
              <a:r>
                <a:rPr lang="en-US" altLang="zh-CN" sz="2200" dirty="0">
                  <a:solidFill>
                    <a:schemeClr val="bg1"/>
                  </a:solidFill>
                  <a:latin typeface="Plantagenet Cherokee" panose="020B0604020202020204" pitchFamily="18" charset="0"/>
                </a:rPr>
                <a:t> </a:t>
              </a:r>
            </a:p>
            <a:p>
              <a:pPr>
                <a:spcBef>
                  <a:spcPts val="0"/>
                </a:spcBef>
                <a:buNone/>
              </a:pPr>
              <a:r>
                <a:rPr lang="en-US" altLang="zh-CN" sz="2200" dirty="0" err="1">
                  <a:solidFill>
                    <a:schemeClr val="bg1"/>
                  </a:solidFill>
                  <a:latin typeface="Plantagenet Cherokee" panose="020B0604020202020204" pitchFamily="18" charset="0"/>
                </a:rPr>
                <a:t>F.val</a:t>
              </a:r>
              <a:r>
                <a:rPr lang="en-US" altLang="zh-CN" sz="2200" dirty="0">
                  <a:solidFill>
                    <a:schemeClr val="bg1"/>
                  </a:solidFill>
                  <a:latin typeface="Plantagenet Cherokee" panose="020B0604020202020204" pitchFamily="18" charset="0"/>
                </a:rPr>
                <a:t> :=</a:t>
              </a:r>
              <a:r>
                <a:rPr lang="en-US" altLang="zh-CN" sz="2200" dirty="0" err="1">
                  <a:solidFill>
                    <a:schemeClr val="bg1"/>
                  </a:solidFill>
                  <a:latin typeface="Plantagenet Cherokee" panose="020B0604020202020204" pitchFamily="18" charset="0"/>
                </a:rPr>
                <a:t>digit.lexval</a:t>
              </a:r>
              <a:endParaRPr lang="en-US" altLang="zh-CN" sz="2200" dirty="0">
                <a:solidFill>
                  <a:schemeClr val="bg1"/>
                </a:solidFill>
                <a:latin typeface="Plantagenet Cherokee" panose="020B0604020202020204" pitchFamily="18" charset="0"/>
              </a:endParaRPr>
            </a:p>
          </p:txBody>
        </p:sp>
      </p:grpSp>
      <p:sp>
        <p:nvSpPr>
          <p:cNvPr id="11" name="Rectangle 4">
            <a:extLst>
              <a:ext uri="{FF2B5EF4-FFF2-40B4-BE49-F238E27FC236}">
                <a16:creationId xmlns:a16="http://schemas.microsoft.com/office/drawing/2014/main" id="{51DAD2F4-7C26-4C8D-BD7E-FE7A44AEE93B}"/>
              </a:ext>
            </a:extLst>
          </p:cNvPr>
          <p:cNvSpPr>
            <a:spLocks noChangeArrowheads="1"/>
          </p:cNvSpPr>
          <p:nvPr/>
        </p:nvSpPr>
        <p:spPr bwMode="auto">
          <a:xfrm>
            <a:off x="2067024" y="6089651"/>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dirty="0" err="1">
                <a:latin typeface="Plantagenet Cherokee" panose="020B0604020202020204" pitchFamily="18" charset="0"/>
                <a:ea typeface="+mj-ea"/>
              </a:rPr>
              <a:t>digit.lexval</a:t>
            </a:r>
            <a:r>
              <a:rPr kumimoji="1" lang="en-US" altLang="zh-CN" sz="2400" dirty="0">
                <a:latin typeface="Plantagenet Cherokee" panose="020B0604020202020204" pitchFamily="18" charset="0"/>
                <a:ea typeface="+mj-ea"/>
              </a:rPr>
              <a:t>=3</a:t>
            </a:r>
          </a:p>
        </p:txBody>
      </p:sp>
      <p:sp>
        <p:nvSpPr>
          <p:cNvPr id="12" name="Line 5">
            <a:extLst>
              <a:ext uri="{FF2B5EF4-FFF2-40B4-BE49-F238E27FC236}">
                <a16:creationId xmlns:a16="http://schemas.microsoft.com/office/drawing/2014/main" id="{23BF369D-701B-47AB-AE65-AFFE290F78DB}"/>
              </a:ext>
            </a:extLst>
          </p:cNvPr>
          <p:cNvSpPr>
            <a:spLocks noChangeShapeType="1"/>
          </p:cNvSpPr>
          <p:nvPr/>
        </p:nvSpPr>
        <p:spPr bwMode="auto">
          <a:xfrm>
            <a:off x="3057624" y="5785889"/>
            <a:ext cx="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13" name="Rectangle 6">
            <a:extLst>
              <a:ext uri="{FF2B5EF4-FFF2-40B4-BE49-F238E27FC236}">
                <a16:creationId xmlns:a16="http://schemas.microsoft.com/office/drawing/2014/main" id="{7C4D3017-954F-4A6A-8C4F-62251A5590FB}"/>
              </a:ext>
            </a:extLst>
          </p:cNvPr>
          <p:cNvSpPr>
            <a:spLocks noChangeArrowheads="1"/>
          </p:cNvSpPr>
          <p:nvPr/>
        </p:nvSpPr>
        <p:spPr bwMode="auto">
          <a:xfrm>
            <a:off x="2067024" y="5328689"/>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B0604020202020204" pitchFamily="18" charset="0"/>
                <a:ea typeface="+mj-ea"/>
              </a:rPr>
              <a:t>F.val=3</a:t>
            </a:r>
          </a:p>
        </p:txBody>
      </p:sp>
      <p:sp>
        <p:nvSpPr>
          <p:cNvPr id="14" name="Line 7">
            <a:extLst>
              <a:ext uri="{FF2B5EF4-FFF2-40B4-BE49-F238E27FC236}">
                <a16:creationId xmlns:a16="http://schemas.microsoft.com/office/drawing/2014/main" id="{C314E483-AE44-4A2E-AF6C-498E4F8D6B3C}"/>
              </a:ext>
            </a:extLst>
          </p:cNvPr>
          <p:cNvSpPr>
            <a:spLocks noChangeShapeType="1"/>
          </p:cNvSpPr>
          <p:nvPr/>
        </p:nvSpPr>
        <p:spPr bwMode="auto">
          <a:xfrm>
            <a:off x="3057624" y="5100089"/>
            <a:ext cx="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15" name="Rectangle 8">
            <a:extLst>
              <a:ext uri="{FF2B5EF4-FFF2-40B4-BE49-F238E27FC236}">
                <a16:creationId xmlns:a16="http://schemas.microsoft.com/office/drawing/2014/main" id="{9DDF9075-8862-4CFF-B6C4-0A3E72654152}"/>
              </a:ext>
            </a:extLst>
          </p:cNvPr>
          <p:cNvSpPr>
            <a:spLocks noChangeArrowheads="1"/>
          </p:cNvSpPr>
          <p:nvPr/>
        </p:nvSpPr>
        <p:spPr bwMode="auto">
          <a:xfrm>
            <a:off x="2067024" y="4566689"/>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B0604020202020204" pitchFamily="18" charset="0"/>
                <a:ea typeface="+mj-ea"/>
              </a:rPr>
              <a:t>T.val=3</a:t>
            </a:r>
          </a:p>
        </p:txBody>
      </p:sp>
      <p:sp>
        <p:nvSpPr>
          <p:cNvPr id="16" name="Rectangle 9">
            <a:extLst>
              <a:ext uri="{FF2B5EF4-FFF2-40B4-BE49-F238E27FC236}">
                <a16:creationId xmlns:a16="http://schemas.microsoft.com/office/drawing/2014/main" id="{E95A54A9-4DFD-40AD-8369-5A27B9E86500}"/>
              </a:ext>
            </a:extLst>
          </p:cNvPr>
          <p:cNvSpPr>
            <a:spLocks noChangeArrowheads="1"/>
          </p:cNvSpPr>
          <p:nvPr/>
        </p:nvSpPr>
        <p:spPr bwMode="auto">
          <a:xfrm>
            <a:off x="4048224" y="4642889"/>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B0604020202020204" pitchFamily="18" charset="0"/>
                <a:ea typeface="+mj-ea"/>
              </a:rPr>
              <a:t>*</a:t>
            </a:r>
          </a:p>
        </p:txBody>
      </p:sp>
      <p:sp>
        <p:nvSpPr>
          <p:cNvPr id="17" name="Rectangle 12">
            <a:extLst>
              <a:ext uri="{FF2B5EF4-FFF2-40B4-BE49-F238E27FC236}">
                <a16:creationId xmlns:a16="http://schemas.microsoft.com/office/drawing/2014/main" id="{401E1351-9ED2-4D59-9B64-FF7842B31345}"/>
              </a:ext>
            </a:extLst>
          </p:cNvPr>
          <p:cNvSpPr>
            <a:spLocks noChangeArrowheads="1"/>
          </p:cNvSpPr>
          <p:nvPr/>
        </p:nvSpPr>
        <p:spPr bwMode="auto">
          <a:xfrm>
            <a:off x="4734024" y="5328689"/>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dirty="0" err="1">
                <a:latin typeface="Plantagenet Cherokee" panose="020B0604020202020204" pitchFamily="18" charset="0"/>
                <a:ea typeface="+mj-ea"/>
              </a:rPr>
              <a:t>digit.lexval</a:t>
            </a:r>
            <a:r>
              <a:rPr kumimoji="1" lang="en-US" altLang="zh-CN" sz="2400" dirty="0">
                <a:latin typeface="Plantagenet Cherokee" panose="020B0604020202020204" pitchFamily="18" charset="0"/>
                <a:ea typeface="+mj-ea"/>
              </a:rPr>
              <a:t>=2</a:t>
            </a:r>
          </a:p>
        </p:txBody>
      </p:sp>
      <p:sp>
        <p:nvSpPr>
          <p:cNvPr id="18" name="Line 13">
            <a:extLst>
              <a:ext uri="{FF2B5EF4-FFF2-40B4-BE49-F238E27FC236}">
                <a16:creationId xmlns:a16="http://schemas.microsoft.com/office/drawing/2014/main" id="{C23C6D2D-11EB-43D2-B49B-F928E83D2EC7}"/>
              </a:ext>
            </a:extLst>
          </p:cNvPr>
          <p:cNvSpPr>
            <a:spLocks noChangeShapeType="1"/>
          </p:cNvSpPr>
          <p:nvPr/>
        </p:nvSpPr>
        <p:spPr bwMode="auto">
          <a:xfrm flipV="1">
            <a:off x="5724624" y="5023889"/>
            <a:ext cx="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19" name="Rectangle 14">
            <a:extLst>
              <a:ext uri="{FF2B5EF4-FFF2-40B4-BE49-F238E27FC236}">
                <a16:creationId xmlns:a16="http://schemas.microsoft.com/office/drawing/2014/main" id="{DCEB4494-5752-4F33-B4B1-2160FBFA71B1}"/>
              </a:ext>
            </a:extLst>
          </p:cNvPr>
          <p:cNvSpPr>
            <a:spLocks noChangeArrowheads="1"/>
          </p:cNvSpPr>
          <p:nvPr/>
        </p:nvSpPr>
        <p:spPr bwMode="auto">
          <a:xfrm>
            <a:off x="4734024" y="4566689"/>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dirty="0" err="1">
                <a:latin typeface="Plantagenet Cherokee" panose="020B0604020202020204" pitchFamily="18" charset="0"/>
                <a:ea typeface="+mj-ea"/>
              </a:rPr>
              <a:t>F.val</a:t>
            </a:r>
            <a:r>
              <a:rPr kumimoji="1" lang="en-US" altLang="zh-CN" sz="2400" dirty="0">
                <a:latin typeface="Plantagenet Cherokee" panose="020B0604020202020204" pitchFamily="18" charset="0"/>
                <a:ea typeface="+mj-ea"/>
              </a:rPr>
              <a:t>=2</a:t>
            </a:r>
          </a:p>
        </p:txBody>
      </p:sp>
      <p:sp>
        <p:nvSpPr>
          <p:cNvPr id="20" name="Line 15">
            <a:extLst>
              <a:ext uri="{FF2B5EF4-FFF2-40B4-BE49-F238E27FC236}">
                <a16:creationId xmlns:a16="http://schemas.microsoft.com/office/drawing/2014/main" id="{285E3BFC-0ACC-4627-A2A0-0BF3D1EAEBBE}"/>
              </a:ext>
            </a:extLst>
          </p:cNvPr>
          <p:cNvSpPr>
            <a:spLocks noChangeShapeType="1"/>
          </p:cNvSpPr>
          <p:nvPr/>
        </p:nvSpPr>
        <p:spPr bwMode="auto">
          <a:xfrm flipV="1">
            <a:off x="3133824" y="4338089"/>
            <a:ext cx="762000" cy="3810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21" name="Line 16">
            <a:extLst>
              <a:ext uri="{FF2B5EF4-FFF2-40B4-BE49-F238E27FC236}">
                <a16:creationId xmlns:a16="http://schemas.microsoft.com/office/drawing/2014/main" id="{D0A5BC8F-D981-4F1E-89F0-1DC526165B2B}"/>
              </a:ext>
            </a:extLst>
          </p:cNvPr>
          <p:cNvSpPr>
            <a:spLocks noChangeShapeType="1"/>
          </p:cNvSpPr>
          <p:nvPr/>
        </p:nvSpPr>
        <p:spPr bwMode="auto">
          <a:xfrm flipV="1">
            <a:off x="4505424" y="4338089"/>
            <a:ext cx="0" cy="3810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22" name="Line 17">
            <a:extLst>
              <a:ext uri="{FF2B5EF4-FFF2-40B4-BE49-F238E27FC236}">
                <a16:creationId xmlns:a16="http://schemas.microsoft.com/office/drawing/2014/main" id="{12DD3DC4-1444-498B-B4B7-D28346F77E43}"/>
              </a:ext>
            </a:extLst>
          </p:cNvPr>
          <p:cNvSpPr>
            <a:spLocks noChangeShapeType="1"/>
          </p:cNvSpPr>
          <p:nvPr/>
        </p:nvSpPr>
        <p:spPr bwMode="auto">
          <a:xfrm>
            <a:off x="4962624" y="4338089"/>
            <a:ext cx="91440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23" name="Rectangle 18">
            <a:extLst>
              <a:ext uri="{FF2B5EF4-FFF2-40B4-BE49-F238E27FC236}">
                <a16:creationId xmlns:a16="http://schemas.microsoft.com/office/drawing/2014/main" id="{71441529-8F37-4B1A-91E4-A3EDB125C4A9}"/>
              </a:ext>
            </a:extLst>
          </p:cNvPr>
          <p:cNvSpPr>
            <a:spLocks noChangeArrowheads="1"/>
          </p:cNvSpPr>
          <p:nvPr/>
        </p:nvSpPr>
        <p:spPr bwMode="auto">
          <a:xfrm>
            <a:off x="3286224" y="3804689"/>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dirty="0" err="1">
                <a:latin typeface="Plantagenet Cherokee" panose="020B0604020202020204" pitchFamily="18" charset="0"/>
                <a:ea typeface="+mj-ea"/>
              </a:rPr>
              <a:t>T.val</a:t>
            </a:r>
            <a:r>
              <a:rPr kumimoji="1" lang="en-US" altLang="zh-CN" sz="2400" dirty="0">
                <a:latin typeface="Plantagenet Cherokee" panose="020B0604020202020204" pitchFamily="18" charset="0"/>
                <a:ea typeface="+mj-ea"/>
              </a:rPr>
              <a:t>=6</a:t>
            </a:r>
          </a:p>
        </p:txBody>
      </p:sp>
      <p:sp>
        <p:nvSpPr>
          <p:cNvPr id="24" name="Line 19">
            <a:extLst>
              <a:ext uri="{FF2B5EF4-FFF2-40B4-BE49-F238E27FC236}">
                <a16:creationId xmlns:a16="http://schemas.microsoft.com/office/drawing/2014/main" id="{A89A99CA-9938-4867-B806-9712FFFC24AF}"/>
              </a:ext>
            </a:extLst>
          </p:cNvPr>
          <p:cNvSpPr>
            <a:spLocks noChangeShapeType="1"/>
          </p:cNvSpPr>
          <p:nvPr/>
        </p:nvSpPr>
        <p:spPr bwMode="auto">
          <a:xfrm>
            <a:off x="4429224" y="3576089"/>
            <a:ext cx="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25" name="Rectangle 20">
            <a:extLst>
              <a:ext uri="{FF2B5EF4-FFF2-40B4-BE49-F238E27FC236}">
                <a16:creationId xmlns:a16="http://schemas.microsoft.com/office/drawing/2014/main" id="{701A51CD-E8F5-440F-9923-84E55767D91A}"/>
              </a:ext>
            </a:extLst>
          </p:cNvPr>
          <p:cNvSpPr>
            <a:spLocks noChangeArrowheads="1"/>
          </p:cNvSpPr>
          <p:nvPr/>
        </p:nvSpPr>
        <p:spPr bwMode="auto">
          <a:xfrm>
            <a:off x="3286224" y="3042689"/>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dirty="0" err="1">
                <a:latin typeface="Plantagenet Cherokee" panose="020B0604020202020204" pitchFamily="18" charset="0"/>
                <a:ea typeface="+mj-ea"/>
              </a:rPr>
              <a:t>E.val</a:t>
            </a:r>
            <a:r>
              <a:rPr kumimoji="1" lang="en-US" altLang="zh-CN" sz="2400" dirty="0">
                <a:latin typeface="Plantagenet Cherokee" panose="020B0604020202020204" pitchFamily="18" charset="0"/>
                <a:ea typeface="+mj-ea"/>
              </a:rPr>
              <a:t>=6</a:t>
            </a:r>
          </a:p>
        </p:txBody>
      </p:sp>
      <p:sp>
        <p:nvSpPr>
          <p:cNvPr id="26" name="Rectangle 21">
            <a:extLst>
              <a:ext uri="{FF2B5EF4-FFF2-40B4-BE49-F238E27FC236}">
                <a16:creationId xmlns:a16="http://schemas.microsoft.com/office/drawing/2014/main" id="{EF37181B-E6F7-4704-9693-6422ABE0C8FC}"/>
              </a:ext>
            </a:extLst>
          </p:cNvPr>
          <p:cNvSpPr>
            <a:spLocks noChangeArrowheads="1"/>
          </p:cNvSpPr>
          <p:nvPr/>
        </p:nvSpPr>
        <p:spPr bwMode="auto">
          <a:xfrm>
            <a:off x="5419824" y="3042689"/>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B0604020202020204" pitchFamily="18" charset="0"/>
                <a:ea typeface="+mj-ea"/>
              </a:rPr>
              <a:t>+</a:t>
            </a:r>
          </a:p>
        </p:txBody>
      </p:sp>
      <p:sp>
        <p:nvSpPr>
          <p:cNvPr id="27" name="Rectangle 22">
            <a:extLst>
              <a:ext uri="{FF2B5EF4-FFF2-40B4-BE49-F238E27FC236}">
                <a16:creationId xmlns:a16="http://schemas.microsoft.com/office/drawing/2014/main" id="{056FA008-7865-43F1-A870-09118137B18E}"/>
              </a:ext>
            </a:extLst>
          </p:cNvPr>
          <p:cNvSpPr>
            <a:spLocks noChangeArrowheads="1"/>
          </p:cNvSpPr>
          <p:nvPr/>
        </p:nvSpPr>
        <p:spPr bwMode="auto">
          <a:xfrm>
            <a:off x="6715224" y="4566689"/>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dirty="0" err="1">
                <a:latin typeface="Plantagenet Cherokee" panose="020B0604020202020204" pitchFamily="18" charset="0"/>
                <a:ea typeface="+mj-ea"/>
              </a:rPr>
              <a:t>digit.lexval</a:t>
            </a:r>
            <a:r>
              <a:rPr kumimoji="1" lang="en-US" altLang="zh-CN" sz="2400" dirty="0">
                <a:latin typeface="Plantagenet Cherokee" panose="020B0604020202020204" pitchFamily="18" charset="0"/>
                <a:ea typeface="+mj-ea"/>
              </a:rPr>
              <a:t>=1</a:t>
            </a:r>
          </a:p>
        </p:txBody>
      </p:sp>
      <p:sp>
        <p:nvSpPr>
          <p:cNvPr id="28" name="Line 23">
            <a:extLst>
              <a:ext uri="{FF2B5EF4-FFF2-40B4-BE49-F238E27FC236}">
                <a16:creationId xmlns:a16="http://schemas.microsoft.com/office/drawing/2014/main" id="{02D44A30-8DE7-4FEB-9173-9BB725424A24}"/>
              </a:ext>
            </a:extLst>
          </p:cNvPr>
          <p:cNvSpPr>
            <a:spLocks noChangeShapeType="1"/>
          </p:cNvSpPr>
          <p:nvPr/>
        </p:nvSpPr>
        <p:spPr bwMode="auto">
          <a:xfrm>
            <a:off x="7782024" y="4338089"/>
            <a:ext cx="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29" name="Rectangle 24">
            <a:extLst>
              <a:ext uri="{FF2B5EF4-FFF2-40B4-BE49-F238E27FC236}">
                <a16:creationId xmlns:a16="http://schemas.microsoft.com/office/drawing/2014/main" id="{8C90ADFE-963E-4744-9FC0-7DD37384717C}"/>
              </a:ext>
            </a:extLst>
          </p:cNvPr>
          <p:cNvSpPr>
            <a:spLocks noChangeArrowheads="1"/>
          </p:cNvSpPr>
          <p:nvPr/>
        </p:nvSpPr>
        <p:spPr bwMode="auto">
          <a:xfrm>
            <a:off x="6791424" y="3880889"/>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dirty="0" err="1">
                <a:latin typeface="Plantagenet Cherokee" panose="020B0604020202020204" pitchFamily="18" charset="0"/>
                <a:ea typeface="+mj-ea"/>
              </a:rPr>
              <a:t>F.val</a:t>
            </a:r>
            <a:r>
              <a:rPr kumimoji="1" lang="en-US" altLang="zh-CN" sz="2400" dirty="0">
                <a:latin typeface="Plantagenet Cherokee" panose="020B0604020202020204" pitchFamily="18" charset="0"/>
                <a:ea typeface="+mj-ea"/>
              </a:rPr>
              <a:t>=1</a:t>
            </a:r>
          </a:p>
        </p:txBody>
      </p:sp>
      <p:sp>
        <p:nvSpPr>
          <p:cNvPr id="30" name="Line 25">
            <a:extLst>
              <a:ext uri="{FF2B5EF4-FFF2-40B4-BE49-F238E27FC236}">
                <a16:creationId xmlns:a16="http://schemas.microsoft.com/office/drawing/2014/main" id="{28BE8823-5EDA-4381-BC68-754765E1F70A}"/>
              </a:ext>
            </a:extLst>
          </p:cNvPr>
          <p:cNvSpPr>
            <a:spLocks noChangeShapeType="1"/>
          </p:cNvSpPr>
          <p:nvPr/>
        </p:nvSpPr>
        <p:spPr bwMode="auto">
          <a:xfrm>
            <a:off x="7782024" y="3652289"/>
            <a:ext cx="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31" name="Rectangle 26">
            <a:extLst>
              <a:ext uri="{FF2B5EF4-FFF2-40B4-BE49-F238E27FC236}">
                <a16:creationId xmlns:a16="http://schemas.microsoft.com/office/drawing/2014/main" id="{4B3BC33A-1C33-4262-80B8-9CBDB304A20E}"/>
              </a:ext>
            </a:extLst>
          </p:cNvPr>
          <p:cNvSpPr>
            <a:spLocks noChangeArrowheads="1"/>
          </p:cNvSpPr>
          <p:nvPr/>
        </p:nvSpPr>
        <p:spPr bwMode="auto">
          <a:xfrm>
            <a:off x="6791424" y="3118889"/>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dirty="0" err="1">
                <a:latin typeface="Plantagenet Cherokee" panose="020B0604020202020204" pitchFamily="18" charset="0"/>
                <a:ea typeface="+mj-ea"/>
              </a:rPr>
              <a:t>T.val</a:t>
            </a:r>
            <a:r>
              <a:rPr kumimoji="1" lang="en-US" altLang="zh-CN" sz="2400" dirty="0">
                <a:latin typeface="Plantagenet Cherokee" panose="020B0604020202020204" pitchFamily="18" charset="0"/>
                <a:ea typeface="+mj-ea"/>
              </a:rPr>
              <a:t>=1</a:t>
            </a:r>
          </a:p>
        </p:txBody>
      </p:sp>
      <p:sp>
        <p:nvSpPr>
          <p:cNvPr id="32" name="Line 27">
            <a:extLst>
              <a:ext uri="{FF2B5EF4-FFF2-40B4-BE49-F238E27FC236}">
                <a16:creationId xmlns:a16="http://schemas.microsoft.com/office/drawing/2014/main" id="{A3862697-267F-4818-ABAF-804E54E9025C}"/>
              </a:ext>
            </a:extLst>
          </p:cNvPr>
          <p:cNvSpPr>
            <a:spLocks noChangeShapeType="1"/>
          </p:cNvSpPr>
          <p:nvPr/>
        </p:nvSpPr>
        <p:spPr bwMode="auto">
          <a:xfrm flipH="1">
            <a:off x="4429224" y="2814089"/>
            <a:ext cx="114300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33" name="Line 28">
            <a:extLst>
              <a:ext uri="{FF2B5EF4-FFF2-40B4-BE49-F238E27FC236}">
                <a16:creationId xmlns:a16="http://schemas.microsoft.com/office/drawing/2014/main" id="{A932FE6F-F0F7-461B-9824-16E5488E08A5}"/>
              </a:ext>
            </a:extLst>
          </p:cNvPr>
          <p:cNvSpPr>
            <a:spLocks noChangeShapeType="1"/>
          </p:cNvSpPr>
          <p:nvPr/>
        </p:nvSpPr>
        <p:spPr bwMode="auto">
          <a:xfrm flipV="1">
            <a:off x="5877024" y="2814089"/>
            <a:ext cx="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34" name="Line 29">
            <a:extLst>
              <a:ext uri="{FF2B5EF4-FFF2-40B4-BE49-F238E27FC236}">
                <a16:creationId xmlns:a16="http://schemas.microsoft.com/office/drawing/2014/main" id="{F676DE14-6677-4F6F-8693-C5F96BAAAAC5}"/>
              </a:ext>
            </a:extLst>
          </p:cNvPr>
          <p:cNvSpPr>
            <a:spLocks noChangeShapeType="1"/>
          </p:cNvSpPr>
          <p:nvPr/>
        </p:nvSpPr>
        <p:spPr bwMode="auto">
          <a:xfrm>
            <a:off x="6105624" y="2814089"/>
            <a:ext cx="1600200" cy="3810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35" name="Rectangle 30">
            <a:extLst>
              <a:ext uri="{FF2B5EF4-FFF2-40B4-BE49-F238E27FC236}">
                <a16:creationId xmlns:a16="http://schemas.microsoft.com/office/drawing/2014/main" id="{27CBF893-7D7F-4AB1-978B-56B1259C47DF}"/>
              </a:ext>
            </a:extLst>
          </p:cNvPr>
          <p:cNvSpPr>
            <a:spLocks noChangeArrowheads="1"/>
          </p:cNvSpPr>
          <p:nvPr/>
        </p:nvSpPr>
        <p:spPr bwMode="auto">
          <a:xfrm>
            <a:off x="4581624" y="2318792"/>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dirty="0" err="1">
                <a:latin typeface="Plantagenet Cherokee" panose="020B0604020202020204" pitchFamily="18" charset="0"/>
                <a:ea typeface="+mj-ea"/>
              </a:rPr>
              <a:t>E.val</a:t>
            </a:r>
            <a:r>
              <a:rPr kumimoji="1" lang="en-US" altLang="zh-CN" sz="2400" dirty="0">
                <a:latin typeface="Plantagenet Cherokee" panose="020B0604020202020204" pitchFamily="18" charset="0"/>
                <a:ea typeface="+mj-ea"/>
              </a:rPr>
              <a:t>=7</a:t>
            </a:r>
          </a:p>
        </p:txBody>
      </p:sp>
      <p:sp>
        <p:nvSpPr>
          <p:cNvPr id="36" name="Rectangle 31">
            <a:extLst>
              <a:ext uri="{FF2B5EF4-FFF2-40B4-BE49-F238E27FC236}">
                <a16:creationId xmlns:a16="http://schemas.microsoft.com/office/drawing/2014/main" id="{88A6F0AA-5BF1-4FE6-84F9-8BA07D53FD91}"/>
              </a:ext>
            </a:extLst>
          </p:cNvPr>
          <p:cNvSpPr>
            <a:spLocks noChangeArrowheads="1"/>
          </p:cNvSpPr>
          <p:nvPr/>
        </p:nvSpPr>
        <p:spPr bwMode="auto">
          <a:xfrm>
            <a:off x="7096224" y="2318792"/>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B0604020202020204" pitchFamily="18" charset="0"/>
                <a:ea typeface="+mj-ea"/>
              </a:rPr>
              <a:t>n</a:t>
            </a:r>
          </a:p>
        </p:txBody>
      </p:sp>
      <p:sp>
        <p:nvSpPr>
          <p:cNvPr id="37" name="Line 32">
            <a:extLst>
              <a:ext uri="{FF2B5EF4-FFF2-40B4-BE49-F238E27FC236}">
                <a16:creationId xmlns:a16="http://schemas.microsoft.com/office/drawing/2014/main" id="{307A5589-6CD7-4CDF-840F-7C751D224F92}"/>
              </a:ext>
            </a:extLst>
          </p:cNvPr>
          <p:cNvSpPr>
            <a:spLocks noChangeShapeType="1"/>
          </p:cNvSpPr>
          <p:nvPr/>
        </p:nvSpPr>
        <p:spPr bwMode="auto">
          <a:xfrm flipV="1">
            <a:off x="5724624" y="2090192"/>
            <a:ext cx="68580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38" name="Line 33">
            <a:extLst>
              <a:ext uri="{FF2B5EF4-FFF2-40B4-BE49-F238E27FC236}">
                <a16:creationId xmlns:a16="http://schemas.microsoft.com/office/drawing/2014/main" id="{86251203-7F12-480B-AE0C-6A2A627CD1AC}"/>
              </a:ext>
            </a:extLst>
          </p:cNvPr>
          <p:cNvSpPr>
            <a:spLocks noChangeShapeType="1"/>
          </p:cNvSpPr>
          <p:nvPr/>
        </p:nvSpPr>
        <p:spPr bwMode="auto">
          <a:xfrm>
            <a:off x="6715224" y="2090192"/>
            <a:ext cx="76200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600">
              <a:latin typeface="Plantagenet Cherokee" panose="020B0604020202020204" pitchFamily="18" charset="0"/>
              <a:ea typeface="+mj-ea"/>
            </a:endParaRPr>
          </a:p>
        </p:txBody>
      </p:sp>
      <p:sp>
        <p:nvSpPr>
          <p:cNvPr id="39" name="Rectangle 34">
            <a:extLst>
              <a:ext uri="{FF2B5EF4-FFF2-40B4-BE49-F238E27FC236}">
                <a16:creationId xmlns:a16="http://schemas.microsoft.com/office/drawing/2014/main" id="{26857E2C-8E47-4209-867B-D60CAE5B4231}"/>
              </a:ext>
            </a:extLst>
          </p:cNvPr>
          <p:cNvSpPr>
            <a:spLocks noChangeArrowheads="1"/>
          </p:cNvSpPr>
          <p:nvPr/>
        </p:nvSpPr>
        <p:spPr bwMode="auto">
          <a:xfrm>
            <a:off x="6181824" y="1556792"/>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dirty="0" err="1">
                <a:latin typeface="Plantagenet Cherokee" panose="020B0604020202020204" pitchFamily="18" charset="0"/>
                <a:ea typeface="+mj-ea"/>
              </a:rPr>
              <a:t>L.val</a:t>
            </a:r>
            <a:r>
              <a:rPr kumimoji="1" lang="en-US" altLang="zh-CN" sz="2400" dirty="0">
                <a:latin typeface="Plantagenet Cherokee" panose="020B0604020202020204" pitchFamily="18" charset="0"/>
                <a:ea typeface="+mj-ea"/>
              </a:rPr>
              <a:t>=7</a:t>
            </a:r>
          </a:p>
        </p:txBody>
      </p:sp>
      <p:sp>
        <p:nvSpPr>
          <p:cNvPr id="40" name="Date Placeholder 2">
            <a:extLst>
              <a:ext uri="{FF2B5EF4-FFF2-40B4-BE49-F238E27FC236}">
                <a16:creationId xmlns:a16="http://schemas.microsoft.com/office/drawing/2014/main" id="{5B0F80C0-1111-43AA-951D-50EEB4F26E7E}"/>
              </a:ext>
            </a:extLst>
          </p:cNvPr>
          <p:cNvSpPr txBox="1">
            <a:spLocks/>
          </p:cNvSpPr>
          <p:nvPr/>
        </p:nvSpPr>
        <p:spPr bwMode="auto">
          <a:xfrm>
            <a:off x="628650" y="6356351"/>
            <a:ext cx="2057400" cy="365125"/>
          </a:xfrm>
          <a:prstGeom prst="rect">
            <a:avLst/>
          </a:prstGeom>
        </p:spPr>
        <p:txBody>
          <a:bodyPr vert="horz" lIns="91440" tIns="45720" rIns="91440" bIns="45720" rtlCol="0" anchor="ctr"/>
          <a:lstStyle>
            <a:defPPr>
              <a:defRPr/>
            </a:defPPr>
            <a:lvl1pPr marL="0" algn="l" defTabSz="914400">
              <a:defRPr sz="1200">
                <a:solidFill>
                  <a:schemeClr val="tx1">
                    <a:tint val="75000"/>
                  </a:schemeClr>
                </a:solidFill>
                <a:latin typeface="Ubuntu Mono derivative Powerlin"/>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defRPr/>
            </a:pPr>
            <a:r>
              <a:rPr lang="en-US">
                <a:latin typeface="Plantagenet Cherokee" panose="020B0604020202020204" pitchFamily="18" charset="0"/>
              </a:rPr>
              <a:t>Fall</a:t>
            </a:r>
            <a:r>
              <a:rPr lang="en-US" altLang="zh-CN">
                <a:latin typeface="Plantagenet Cherokee" panose="020B0604020202020204" pitchFamily="18" charset="0"/>
              </a:rPr>
              <a:t> </a:t>
            </a:r>
            <a:r>
              <a:rPr lang="en-US">
                <a:latin typeface="Plantagenet Cherokee" panose="020B0604020202020204" pitchFamily="18" charset="0"/>
              </a:rPr>
              <a:t>2023</a:t>
            </a:r>
            <a:endParaRPr lang="en-US" dirty="0">
              <a:latin typeface="Plantagenet Cherokee" panose="020B0604020202020204" pitchFamily="18" charset="0"/>
            </a:endParaRPr>
          </a:p>
        </p:txBody>
      </p:sp>
      <p:sp>
        <p:nvSpPr>
          <p:cNvPr id="2" name="日期占位符 1">
            <a:extLst>
              <a:ext uri="{FF2B5EF4-FFF2-40B4-BE49-F238E27FC236}">
                <a16:creationId xmlns:a16="http://schemas.microsoft.com/office/drawing/2014/main" id="{A41E13E1-E87A-7E8B-6FAC-8252EA1F1754}"/>
              </a:ext>
            </a:extLst>
          </p:cNvPr>
          <p:cNvSpPr>
            <a:spLocks noGrp="1"/>
          </p:cNvSpPr>
          <p:nvPr>
            <p:ph type="dt" sz="half" idx="10"/>
          </p:nvPr>
        </p:nvSpPr>
        <p:spPr/>
        <p:txBody>
          <a:bodyPr/>
          <a:lstStyle/>
          <a:p>
            <a:pPr>
              <a:defRPr/>
            </a:pPr>
            <a:r>
              <a:rPr lang="en-US" altLang="zh-CN"/>
              <a:t>Fall 2024</a:t>
            </a:r>
            <a:endParaRPr lang="en-US"/>
          </a:p>
        </p:txBody>
      </p:sp>
    </p:spTree>
    <p:extLst>
      <p:ext uri="{BB962C8B-B14F-4D97-AF65-F5344CB8AC3E}">
        <p14:creationId xmlns:p14="http://schemas.microsoft.com/office/powerpoint/2010/main" val="189311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down)">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down)">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down)">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down)">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down)">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down)">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down)">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wipe(down)">
                                      <p:cBhvr>
                                        <p:cTn id="77" dur="5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wipe(down)">
                                      <p:cBhvr>
                                        <p:cTn id="82" dur="500"/>
                                        <p:tgtEl>
                                          <p:spTgt spid="2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wipe(down)">
                                      <p:cBhvr>
                                        <p:cTn id="87" dur="500"/>
                                        <p:tgtEl>
                                          <p:spTgt spid="2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wipe(down)">
                                      <p:cBhvr>
                                        <p:cTn id="92" dur="500"/>
                                        <p:tgtEl>
                                          <p:spTgt spid="2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wipe(down)">
                                      <p:cBhvr>
                                        <p:cTn id="97" dur="500"/>
                                        <p:tgtEl>
                                          <p:spTgt spid="2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wipe(down)">
                                      <p:cBhvr>
                                        <p:cTn id="102" dur="500"/>
                                        <p:tgtEl>
                                          <p:spTgt spid="3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31"/>
                                        </p:tgtEl>
                                        <p:attrNameLst>
                                          <p:attrName>style.visibility</p:attrName>
                                        </p:attrNameLst>
                                      </p:cBhvr>
                                      <p:to>
                                        <p:strVal val="visible"/>
                                      </p:to>
                                    </p:set>
                                    <p:animEffect transition="in" filter="wipe(down)">
                                      <p:cBhvr>
                                        <p:cTn id="107" dur="500"/>
                                        <p:tgtEl>
                                          <p:spTgt spid="31"/>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32"/>
                                        </p:tgtEl>
                                        <p:attrNameLst>
                                          <p:attrName>style.visibility</p:attrName>
                                        </p:attrNameLst>
                                      </p:cBhvr>
                                      <p:to>
                                        <p:strVal val="visible"/>
                                      </p:to>
                                    </p:set>
                                    <p:animEffect transition="in" filter="wipe(down)">
                                      <p:cBhvr>
                                        <p:cTn id="112" dur="500"/>
                                        <p:tgtEl>
                                          <p:spTgt spid="32"/>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33"/>
                                        </p:tgtEl>
                                        <p:attrNameLst>
                                          <p:attrName>style.visibility</p:attrName>
                                        </p:attrNameLst>
                                      </p:cBhvr>
                                      <p:to>
                                        <p:strVal val="visible"/>
                                      </p:to>
                                    </p:set>
                                    <p:animEffect transition="in" filter="wipe(down)">
                                      <p:cBhvr>
                                        <p:cTn id="117" dur="500"/>
                                        <p:tgtEl>
                                          <p:spTgt spid="33"/>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34"/>
                                        </p:tgtEl>
                                        <p:attrNameLst>
                                          <p:attrName>style.visibility</p:attrName>
                                        </p:attrNameLst>
                                      </p:cBhvr>
                                      <p:to>
                                        <p:strVal val="visible"/>
                                      </p:to>
                                    </p:set>
                                    <p:animEffect transition="in" filter="wipe(down)">
                                      <p:cBhvr>
                                        <p:cTn id="122" dur="500"/>
                                        <p:tgtEl>
                                          <p:spTgt spid="34"/>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35"/>
                                        </p:tgtEl>
                                        <p:attrNameLst>
                                          <p:attrName>style.visibility</p:attrName>
                                        </p:attrNameLst>
                                      </p:cBhvr>
                                      <p:to>
                                        <p:strVal val="visible"/>
                                      </p:to>
                                    </p:set>
                                    <p:animEffect transition="in" filter="wipe(down)">
                                      <p:cBhvr>
                                        <p:cTn id="127" dur="500"/>
                                        <p:tgtEl>
                                          <p:spTgt spid="35"/>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36"/>
                                        </p:tgtEl>
                                        <p:attrNameLst>
                                          <p:attrName>style.visibility</p:attrName>
                                        </p:attrNameLst>
                                      </p:cBhvr>
                                      <p:to>
                                        <p:strVal val="visible"/>
                                      </p:to>
                                    </p:set>
                                    <p:animEffect transition="in" filter="wipe(down)">
                                      <p:cBhvr>
                                        <p:cTn id="132" dur="500"/>
                                        <p:tgtEl>
                                          <p:spTgt spid="36"/>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grpId="0" nodeType="clickEffect">
                                  <p:stCondLst>
                                    <p:cond delay="0"/>
                                  </p:stCondLst>
                                  <p:childTnLst>
                                    <p:set>
                                      <p:cBhvr>
                                        <p:cTn id="136" dur="1" fill="hold">
                                          <p:stCondLst>
                                            <p:cond delay="0"/>
                                          </p:stCondLst>
                                        </p:cTn>
                                        <p:tgtEl>
                                          <p:spTgt spid="37"/>
                                        </p:tgtEl>
                                        <p:attrNameLst>
                                          <p:attrName>style.visibility</p:attrName>
                                        </p:attrNameLst>
                                      </p:cBhvr>
                                      <p:to>
                                        <p:strVal val="visible"/>
                                      </p:to>
                                    </p:set>
                                    <p:animEffect transition="in" filter="wipe(down)">
                                      <p:cBhvr>
                                        <p:cTn id="137" dur="500"/>
                                        <p:tgtEl>
                                          <p:spTgt spid="37"/>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grpId="0" nodeType="clickEffect">
                                  <p:stCondLst>
                                    <p:cond delay="0"/>
                                  </p:stCondLst>
                                  <p:childTnLst>
                                    <p:set>
                                      <p:cBhvr>
                                        <p:cTn id="141" dur="1" fill="hold">
                                          <p:stCondLst>
                                            <p:cond delay="0"/>
                                          </p:stCondLst>
                                        </p:cTn>
                                        <p:tgtEl>
                                          <p:spTgt spid="38"/>
                                        </p:tgtEl>
                                        <p:attrNameLst>
                                          <p:attrName>style.visibility</p:attrName>
                                        </p:attrNameLst>
                                      </p:cBhvr>
                                      <p:to>
                                        <p:strVal val="visible"/>
                                      </p:to>
                                    </p:set>
                                    <p:animEffect transition="in" filter="wipe(down)">
                                      <p:cBhvr>
                                        <p:cTn id="142" dur="500"/>
                                        <p:tgtEl>
                                          <p:spTgt spid="38"/>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4" fill="hold" grpId="0" nodeType="clickEffect">
                                  <p:stCondLst>
                                    <p:cond delay="0"/>
                                  </p:stCondLst>
                                  <p:childTnLst>
                                    <p:set>
                                      <p:cBhvr>
                                        <p:cTn id="146" dur="1" fill="hold">
                                          <p:stCondLst>
                                            <p:cond delay="0"/>
                                          </p:stCondLst>
                                        </p:cTn>
                                        <p:tgtEl>
                                          <p:spTgt spid="39"/>
                                        </p:tgtEl>
                                        <p:attrNameLst>
                                          <p:attrName>style.visibility</p:attrName>
                                        </p:attrNameLst>
                                      </p:cBhvr>
                                      <p:to>
                                        <p:strVal val="visible"/>
                                      </p:to>
                                    </p:set>
                                    <p:animEffect transition="in" filter="wipe(down)">
                                      <p:cBhvr>
                                        <p:cTn id="14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2" grpId="0" animBg="1"/>
      <p:bldP spid="13" grpId="0" autoUpdateAnimBg="0"/>
      <p:bldP spid="14" grpId="0" animBg="1"/>
      <p:bldP spid="15" grpId="0" autoUpdateAnimBg="0"/>
      <p:bldP spid="16" grpId="0" autoUpdateAnimBg="0"/>
      <p:bldP spid="17" grpId="0" autoUpdateAnimBg="0"/>
      <p:bldP spid="18" grpId="0" animBg="1"/>
      <p:bldP spid="19" grpId="0" autoUpdateAnimBg="0"/>
      <p:bldP spid="20" grpId="0" animBg="1"/>
      <p:bldP spid="21" grpId="0" animBg="1"/>
      <p:bldP spid="22" grpId="0" animBg="1"/>
      <p:bldP spid="23" grpId="0" autoUpdateAnimBg="0"/>
      <p:bldP spid="24" grpId="0" animBg="1"/>
      <p:bldP spid="25" grpId="0" autoUpdateAnimBg="0"/>
      <p:bldP spid="26" grpId="0" autoUpdateAnimBg="0"/>
      <p:bldP spid="27" grpId="0" autoUpdateAnimBg="0"/>
      <p:bldP spid="28" grpId="0" animBg="1"/>
      <p:bldP spid="29" grpId="0" autoUpdateAnimBg="0"/>
      <p:bldP spid="30" grpId="0" animBg="1"/>
      <p:bldP spid="31" grpId="0" autoUpdateAnimBg="0"/>
      <p:bldP spid="32" grpId="0" animBg="1"/>
      <p:bldP spid="33" grpId="0" animBg="1"/>
      <p:bldP spid="34" grpId="0" animBg="1"/>
      <p:bldP spid="35" grpId="0" autoUpdateAnimBg="0"/>
      <p:bldP spid="36" grpId="0" autoUpdateAnimBg="0"/>
      <p:bldP spid="37" grpId="0" animBg="1"/>
      <p:bldP spid="38" grpId="0" animBg="1"/>
      <p:bldP spid="3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altLang="zh-CN" sz="3600" dirty="0">
                <a:latin typeface="Palatino Linotype" panose="02040502050505030304" charset="0"/>
                <a:cs typeface="Palatino Linotype" panose="02040502050505030304" charset="0"/>
              </a:rPr>
              <a:t>Inherited Attributes (</a:t>
            </a:r>
            <a:r>
              <a:rPr lang="zh-CN" altLang="en-US" sz="3600" dirty="0">
                <a:latin typeface="Palatino Linotype" panose="02040502050505030304" charset="0"/>
                <a:cs typeface="Palatino Linotype" panose="02040502050505030304" charset="0"/>
              </a:rPr>
              <a:t>继承属性</a:t>
            </a:r>
            <a:r>
              <a:rPr lang="en-US" altLang="zh-CN" sz="3600" dirty="0">
                <a:latin typeface="Palatino Linotype" panose="02040502050505030304" charset="0"/>
                <a:cs typeface="Palatino Linotype" panose="02040502050505030304" charset="0"/>
              </a:rPr>
              <a:t>)</a:t>
            </a:r>
            <a:endParaRPr lang="zh-CN" altLang="en-US" sz="3600" dirty="0">
              <a:latin typeface="Palatino Linotype" panose="02040502050505030304" charset="0"/>
              <a:cs typeface="Palatino Linotype" panose="02040502050505030304" charset="0"/>
            </a:endParaRPr>
          </a:p>
        </p:txBody>
      </p:sp>
      <p:sp>
        <p:nvSpPr>
          <p:cNvPr id="4" name="内容占位符 3"/>
          <p:cNvSpPr>
            <a:spLocks noGrp="1"/>
          </p:cNvSpPr>
          <p:nvPr>
            <p:ph idx="1"/>
          </p:nvPr>
        </p:nvSpPr>
        <p:spPr>
          <a:xfrm>
            <a:off x="611505" y="1412875"/>
            <a:ext cx="7886700" cy="4351338"/>
          </a:xfrm>
        </p:spPr>
        <p:txBody>
          <a:bodyPr>
            <a:normAutofit/>
          </a:bodyPr>
          <a:lstStyle/>
          <a:p>
            <a:pPr marL="235585" indent="-221615" algn="l" rtl="0" eaLnBrk="0" fontAlgn="auto">
              <a:lnSpc>
                <a:spcPct val="150000"/>
              </a:lnSpc>
              <a:spcBef>
                <a:spcPts val="0"/>
              </a:spcBef>
            </a:pPr>
            <a:r>
              <a:rPr lang="en-US" altLang="zh-CN" sz="2200" dirty="0">
                <a:solidFill>
                  <a:srgbClr val="FF0000"/>
                </a:solidFill>
                <a:latin typeface="Palatino Linotype" panose="02040502050505030304" charset="0"/>
                <a:cs typeface="Palatino Linotype" panose="02040502050505030304" charset="0"/>
              </a:rPr>
              <a:t>Inherited attributes</a:t>
            </a:r>
            <a:r>
              <a:rPr lang="en-US" altLang="zh-CN" sz="2200" dirty="0">
                <a:latin typeface="Palatino Linotype" panose="02040502050505030304" charset="0"/>
                <a:cs typeface="Palatino Linotype" panose="02040502050505030304" charset="0"/>
              </a:rPr>
              <a:t> have their value at a parse-tree node determined from attribute values at </a:t>
            </a:r>
            <a:r>
              <a:rPr lang="en-US" altLang="zh-CN" sz="2200" dirty="0">
                <a:solidFill>
                  <a:srgbClr val="0331FF"/>
                </a:solidFill>
                <a:latin typeface="Palatino Linotype" panose="02040502050505030304" charset="0"/>
                <a:cs typeface="Palatino Linotype" panose="02040502050505030304" charset="0"/>
              </a:rPr>
              <a:t>the node itself</a:t>
            </a:r>
            <a:r>
              <a:rPr lang="en-US" altLang="zh-CN" sz="2200" dirty="0">
                <a:latin typeface="Palatino Linotype" panose="02040502050505030304" charset="0"/>
                <a:cs typeface="Palatino Linotype" panose="02040502050505030304" charset="0"/>
              </a:rPr>
              <a:t>, </a:t>
            </a:r>
            <a:r>
              <a:rPr lang="en-US" altLang="zh-CN" sz="2200" dirty="0">
                <a:solidFill>
                  <a:srgbClr val="0331FF"/>
                </a:solidFill>
                <a:latin typeface="Palatino Linotype" panose="02040502050505030304" charset="0"/>
                <a:cs typeface="Palatino Linotype" panose="02040502050505030304" charset="0"/>
              </a:rPr>
              <a:t>its parent</a:t>
            </a:r>
            <a:r>
              <a:rPr lang="en-US" altLang="zh-CN" sz="2200" dirty="0">
                <a:latin typeface="Palatino Linotype" panose="02040502050505030304" charset="0"/>
                <a:cs typeface="Palatino Linotype" panose="02040502050505030304" charset="0"/>
              </a:rPr>
              <a:t>, and </a:t>
            </a:r>
            <a:r>
              <a:rPr lang="en-US" altLang="zh-CN" sz="2200" dirty="0">
                <a:solidFill>
                  <a:srgbClr val="0331FF"/>
                </a:solidFill>
                <a:latin typeface="Palatino Linotype" panose="02040502050505030304" charset="0"/>
                <a:cs typeface="Palatino Linotype" panose="02040502050505030304" charset="0"/>
              </a:rPr>
              <a:t>its siblings </a:t>
            </a:r>
            <a:r>
              <a:rPr lang="en-US" altLang="zh-CN" sz="2200" dirty="0">
                <a:latin typeface="Palatino Linotype" panose="02040502050505030304" charset="0"/>
                <a:cs typeface="Palatino Linotype" panose="02040502050505030304" charset="0"/>
              </a:rPr>
              <a:t>in the parse tree</a:t>
            </a:r>
            <a:endParaRPr lang="zh-CN" altLang="en-US" sz="2200" dirty="0">
              <a:latin typeface="Palatino Linotype" panose="02040502050505030304" charset="0"/>
              <a:cs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9</a:t>
            </a:fld>
            <a:endParaRPr/>
          </a:p>
        </p:txBody>
      </p:sp>
      <p:pic>
        <p:nvPicPr>
          <p:cNvPr id="7" name="图片 6">
            <a:extLst>
              <a:ext uri="{FF2B5EF4-FFF2-40B4-BE49-F238E27FC236}">
                <a16:creationId xmlns:a16="http://schemas.microsoft.com/office/drawing/2014/main" id="{0BB890CD-91BD-69FF-B47F-5383066226E7}"/>
              </a:ext>
            </a:extLst>
          </p:cNvPr>
          <p:cNvPicPr>
            <a:picLocks noChangeAspect="1"/>
          </p:cNvPicPr>
          <p:nvPr/>
        </p:nvPicPr>
        <p:blipFill>
          <a:blip r:embed="rId3"/>
          <a:stretch>
            <a:fillRect/>
          </a:stretch>
        </p:blipFill>
        <p:spPr>
          <a:xfrm>
            <a:off x="1313892" y="3588803"/>
            <a:ext cx="6516216" cy="10472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2" name="图片 11">
            <a:extLst>
              <a:ext uri="{FF2B5EF4-FFF2-40B4-BE49-F238E27FC236}">
                <a16:creationId xmlns:a16="http://schemas.microsoft.com/office/drawing/2014/main" id="{F0B5F888-1366-5156-D76B-FE08087DB7E1}"/>
              </a:ext>
            </a:extLst>
          </p:cNvPr>
          <p:cNvPicPr>
            <a:picLocks noChangeAspect="1"/>
          </p:cNvPicPr>
          <p:nvPr/>
        </p:nvPicPr>
        <p:blipFill>
          <a:blip r:embed="rId3"/>
          <a:stretch>
            <a:fillRect/>
          </a:stretch>
        </p:blipFill>
        <p:spPr>
          <a:xfrm>
            <a:off x="707247" y="4293096"/>
            <a:ext cx="2219755" cy="1368151"/>
          </a:xfrm>
          <a:prstGeom prst="rect">
            <a:avLst/>
          </a:prstGeom>
        </p:spPr>
      </p:pic>
      <p:sp>
        <p:nvSpPr>
          <p:cNvPr id="3" name="标题 2"/>
          <p:cNvSpPr>
            <a:spLocks noGrp="1"/>
          </p:cNvSpPr>
          <p:nvPr>
            <p:ph type="title"/>
          </p:nvPr>
        </p:nvSpPr>
        <p:spPr/>
        <p:txBody>
          <a:bodyPr/>
          <a:lstStyle/>
          <a:p>
            <a:r>
              <a:rPr lang="en-US" altLang="zh-CN" sz="3600" dirty="0">
                <a:latin typeface="Palatino Linotype" panose="02040502050505030304" charset="0"/>
                <a:cs typeface="Palatino Linotype" panose="02040502050505030304" charset="0"/>
              </a:rPr>
              <a:t>Top-Down Parse of 3*5</a:t>
            </a:r>
            <a:endParaRPr lang="zh-CN" altLang="en-US" sz="3600" dirty="0">
              <a:latin typeface="Palatino Linotype" panose="02040502050505030304" charset="0"/>
              <a:cs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10</a:t>
            </a:fld>
            <a:endParaRPr/>
          </a:p>
        </p:txBody>
      </p:sp>
      <p:sp>
        <p:nvSpPr>
          <p:cNvPr id="6" name="矩形 5">
            <a:extLst>
              <a:ext uri="{FF2B5EF4-FFF2-40B4-BE49-F238E27FC236}">
                <a16:creationId xmlns:a16="http://schemas.microsoft.com/office/drawing/2014/main" id="{2BDBC6FC-E56F-B2F9-D080-89E6D5941EC0}"/>
              </a:ext>
            </a:extLst>
          </p:cNvPr>
          <p:cNvSpPr/>
          <p:nvPr/>
        </p:nvSpPr>
        <p:spPr>
          <a:xfrm>
            <a:off x="743876" y="1628800"/>
            <a:ext cx="2146498" cy="231569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104D5FF3-3F7F-56D5-22FC-35F4B0516AFD}"/>
              </a:ext>
            </a:extLst>
          </p:cNvPr>
          <p:cNvSpPr txBox="1"/>
          <p:nvPr/>
        </p:nvSpPr>
        <p:spPr>
          <a:xfrm>
            <a:off x="827584" y="1663432"/>
            <a:ext cx="1157689" cy="2308324"/>
          </a:xfrm>
          <a:prstGeom prst="rect">
            <a:avLst/>
          </a:prstGeom>
          <a:noFill/>
        </p:spPr>
        <p:txBody>
          <a:bodyPr wrap="none" rtlCol="0">
            <a:spAutoFit/>
          </a:bodyPr>
          <a:lstStyle/>
          <a:p>
            <a:r>
              <a:rPr lang="en-US" altLang="zh-CN" sz="2400" dirty="0"/>
              <a:t>T</a:t>
            </a:r>
            <a:r>
              <a:rPr lang="en-US" altLang="zh-CN" sz="2000" dirty="0"/>
              <a:t> </a:t>
            </a:r>
            <a:r>
              <a:rPr lang="zh-CN" altLang="en-US" sz="2000" dirty="0"/>
              <a:t>→ </a:t>
            </a:r>
            <a:r>
              <a:rPr lang="en-US" altLang="zh-CN" sz="2000" dirty="0"/>
              <a:t>FT’</a:t>
            </a:r>
          </a:p>
          <a:p>
            <a:endParaRPr lang="en-US" altLang="zh-CN" sz="2000" dirty="0"/>
          </a:p>
          <a:p>
            <a:r>
              <a:rPr lang="en-US" altLang="zh-CN" sz="2000" dirty="0"/>
              <a:t>T’ </a:t>
            </a:r>
            <a:r>
              <a:rPr lang="zh-CN" altLang="en-US" sz="2000" dirty="0"/>
              <a:t>→ </a:t>
            </a:r>
            <a:r>
              <a:rPr lang="en-US" altLang="zh-CN" sz="2000" dirty="0"/>
              <a:t>*FT’</a:t>
            </a:r>
          </a:p>
          <a:p>
            <a:endParaRPr lang="en-US" altLang="zh-CN" sz="2000" dirty="0"/>
          </a:p>
          <a:p>
            <a:r>
              <a:rPr lang="en-US" altLang="zh-CN" sz="2000" dirty="0"/>
              <a:t>T’</a:t>
            </a:r>
            <a:r>
              <a:rPr lang="zh-CN" altLang="en-US" sz="2000" dirty="0"/>
              <a:t> → </a:t>
            </a:r>
            <a:r>
              <a:rPr lang="el-GR" altLang="zh-CN" sz="2000" b="0" i="0" dirty="0">
                <a:solidFill>
                  <a:srgbClr val="202122"/>
                </a:solidFill>
                <a:effectLst/>
                <a:latin typeface="SBL BibLit"/>
              </a:rPr>
              <a:t>ε</a:t>
            </a:r>
            <a:endParaRPr lang="en-US" altLang="zh-CN" sz="2000" b="0" i="0" dirty="0">
              <a:solidFill>
                <a:srgbClr val="202122"/>
              </a:solidFill>
              <a:effectLst/>
              <a:latin typeface="SBL BibLit"/>
            </a:endParaRPr>
          </a:p>
          <a:p>
            <a:endParaRPr lang="en-US" altLang="zh-CN" sz="2000" b="0" i="0" dirty="0">
              <a:solidFill>
                <a:srgbClr val="202122"/>
              </a:solidFill>
              <a:effectLst/>
              <a:latin typeface="SBL BibLit"/>
            </a:endParaRPr>
          </a:p>
          <a:p>
            <a:r>
              <a:rPr lang="en-US" altLang="zh-CN" sz="2000" dirty="0">
                <a:solidFill>
                  <a:srgbClr val="202122"/>
                </a:solidFill>
                <a:latin typeface="SBL BibLit"/>
              </a:rPr>
              <a:t>F </a:t>
            </a:r>
            <a:r>
              <a:rPr lang="zh-CN" altLang="en-US" sz="2000" dirty="0">
                <a:solidFill>
                  <a:srgbClr val="202122"/>
                </a:solidFill>
                <a:latin typeface="SBL BibLit"/>
              </a:rPr>
              <a:t>→ </a:t>
            </a:r>
            <a:r>
              <a:rPr lang="en-US" altLang="zh-CN" sz="2000" b="1" dirty="0">
                <a:solidFill>
                  <a:srgbClr val="202122"/>
                </a:solidFill>
                <a:latin typeface="SBL BibLit"/>
              </a:rPr>
              <a:t>digit</a:t>
            </a:r>
            <a:endParaRPr lang="zh-CN" altLang="en-US" sz="2000" b="1" dirty="0"/>
          </a:p>
        </p:txBody>
      </p:sp>
      <p:sp>
        <p:nvSpPr>
          <p:cNvPr id="9" name="矩形 8">
            <a:extLst>
              <a:ext uri="{FF2B5EF4-FFF2-40B4-BE49-F238E27FC236}">
                <a16:creationId xmlns:a16="http://schemas.microsoft.com/office/drawing/2014/main" id="{20CE89AA-9010-DD38-3DDB-A925B12FCDC8}"/>
              </a:ext>
            </a:extLst>
          </p:cNvPr>
          <p:cNvSpPr/>
          <p:nvPr/>
        </p:nvSpPr>
        <p:spPr>
          <a:xfrm>
            <a:off x="743876" y="4221088"/>
            <a:ext cx="2146498" cy="13681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过程 12">
            <a:extLst>
              <a:ext uri="{FF2B5EF4-FFF2-40B4-BE49-F238E27FC236}">
                <a16:creationId xmlns:a16="http://schemas.microsoft.com/office/drawing/2014/main" id="{F65BE20E-ED4C-0862-FA71-7F343B292008}"/>
              </a:ext>
            </a:extLst>
          </p:cNvPr>
          <p:cNvSpPr/>
          <p:nvPr/>
        </p:nvSpPr>
        <p:spPr>
          <a:xfrm>
            <a:off x="3350498" y="1628800"/>
            <a:ext cx="4896544" cy="2737384"/>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CAAC9E2C-3EFC-13DC-E5D8-A468BAE42421}"/>
              </a:ext>
            </a:extLst>
          </p:cNvPr>
          <p:cNvPicPr>
            <a:picLocks noChangeAspect="1"/>
          </p:cNvPicPr>
          <p:nvPr/>
        </p:nvPicPr>
        <p:blipFill>
          <a:blip r:embed="rId4"/>
          <a:stretch>
            <a:fillRect/>
          </a:stretch>
        </p:blipFill>
        <p:spPr>
          <a:xfrm>
            <a:off x="3419872" y="1772816"/>
            <a:ext cx="4665081" cy="2593368"/>
          </a:xfrm>
          <a:prstGeom prst="rect">
            <a:avLst/>
          </a:prstGeom>
        </p:spPr>
      </p:pic>
      <p:sp>
        <p:nvSpPr>
          <p:cNvPr id="16" name="矩形 15">
            <a:extLst>
              <a:ext uri="{FF2B5EF4-FFF2-40B4-BE49-F238E27FC236}">
                <a16:creationId xmlns:a16="http://schemas.microsoft.com/office/drawing/2014/main" id="{2B9CAA05-F571-BE79-F27C-1384F66A0475}"/>
              </a:ext>
            </a:extLst>
          </p:cNvPr>
          <p:cNvSpPr/>
          <p:nvPr/>
        </p:nvSpPr>
        <p:spPr>
          <a:xfrm>
            <a:off x="3350498" y="4581128"/>
            <a:ext cx="4896544" cy="100811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638E3E66-1EA5-3F3B-BDF3-289B9841B1B2}"/>
              </a:ext>
            </a:extLst>
          </p:cNvPr>
          <p:cNvSpPr txBox="1"/>
          <p:nvPr/>
        </p:nvSpPr>
        <p:spPr>
          <a:xfrm>
            <a:off x="3350498" y="4594043"/>
            <a:ext cx="4933172" cy="923330"/>
          </a:xfrm>
          <a:prstGeom prst="rect">
            <a:avLst/>
          </a:prstGeom>
          <a:noFill/>
        </p:spPr>
        <p:txBody>
          <a:bodyPr wrap="square">
            <a:spAutoFit/>
          </a:bodyPr>
          <a:lstStyle/>
          <a:p>
            <a:r>
              <a:rPr lang="en-US" altLang="zh-CN" sz="1800" dirty="0">
                <a:solidFill>
                  <a:srgbClr val="000000"/>
                </a:solidFill>
                <a:effectLst/>
                <a:latin typeface="Palatino Linotype" panose="02040502050505030304" pitchFamily="18" charset="0"/>
              </a:rPr>
              <a:t>For some grammars, the structure of the parse tree does not </a:t>
            </a:r>
            <a:r>
              <a:rPr lang="en-US" altLang="zh-CN" sz="1800" b="1" dirty="0">
                <a:solidFill>
                  <a:srgbClr val="FF0000"/>
                </a:solidFill>
                <a:effectLst/>
                <a:latin typeface="PalatinoLinotype-Bold"/>
              </a:rPr>
              <a:t>match </a:t>
            </a:r>
            <a:r>
              <a:rPr lang="en-US" altLang="zh-CN" sz="1800" dirty="0">
                <a:solidFill>
                  <a:srgbClr val="000000"/>
                </a:solidFill>
                <a:effectLst/>
                <a:latin typeface="Palatino Linotype" panose="02040502050505030304" pitchFamily="18" charset="0"/>
              </a:rPr>
              <a:t>the abstract syntax of the code (</a:t>
            </a:r>
            <a:r>
              <a:rPr lang="en-US" altLang="zh-CN" sz="1800" dirty="0">
                <a:solidFill>
                  <a:srgbClr val="0432FF"/>
                </a:solidFill>
                <a:effectLst/>
                <a:latin typeface="Palatino Linotype" panose="02040502050505030304" pitchFamily="18" charset="0"/>
              </a:rPr>
              <a:t>3 and * are in different subtrees</a:t>
            </a:r>
            <a:r>
              <a:rPr lang="en-US" altLang="zh-CN" sz="1800" dirty="0">
                <a:solidFill>
                  <a:srgbClr val="000000"/>
                </a:solidFill>
                <a:effectLst/>
                <a:latin typeface="Palatino Linotype" panose="02040502050505030304" pitchFamily="18" charset="0"/>
              </a:rPr>
              <a:t>)</a:t>
            </a:r>
            <a:endParaRPr lang="zh-CN" altLang="en-US" dirty="0"/>
          </a:p>
        </p:txBody>
      </p:sp>
      <p:sp>
        <p:nvSpPr>
          <p:cNvPr id="20" name="文本框 19">
            <a:extLst>
              <a:ext uri="{FF2B5EF4-FFF2-40B4-BE49-F238E27FC236}">
                <a16:creationId xmlns:a16="http://schemas.microsoft.com/office/drawing/2014/main" id="{D4ED6E34-1FFD-7592-D1C4-3C87E3E0DC8B}"/>
              </a:ext>
            </a:extLst>
          </p:cNvPr>
          <p:cNvSpPr txBox="1"/>
          <p:nvPr/>
        </p:nvSpPr>
        <p:spPr>
          <a:xfrm>
            <a:off x="707246" y="5817099"/>
            <a:ext cx="7539795" cy="307777"/>
          </a:xfrm>
          <a:prstGeom prst="rect">
            <a:avLst/>
          </a:prstGeom>
          <a:noFill/>
        </p:spPr>
        <p:txBody>
          <a:bodyPr wrap="square">
            <a:spAutoFit/>
          </a:bodyPr>
          <a:lstStyle/>
          <a:p>
            <a:r>
              <a:rPr lang="en-US" altLang="zh-CN" sz="1400" dirty="0">
                <a:solidFill>
                  <a:srgbClr val="A6A6A6"/>
                </a:solidFill>
                <a:effectLst/>
                <a:latin typeface="Palatino Linotype" panose="02040502050505030304" pitchFamily="18" charset="0"/>
              </a:rPr>
              <a:t>Not all non-terminals in a parse tree correspond to language constructs, e.g., T’ above.</a:t>
            </a:r>
            <a:endParaRPr lang="zh-CN" altLang="en-US" sz="1400" dirty="0"/>
          </a:p>
        </p:txBody>
      </p:sp>
    </p:spTree>
    <p:extLst>
      <p:ext uri="{BB962C8B-B14F-4D97-AF65-F5344CB8AC3E}">
        <p14:creationId xmlns:p14="http://schemas.microsoft.com/office/powerpoint/2010/main" val="3011371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altLang="zh-CN" sz="3600" dirty="0">
                <a:latin typeface="Palatino Linotype" panose="02040502050505030304" charset="0"/>
                <a:cs typeface="Palatino Linotype" panose="02040502050505030304" charset="0"/>
              </a:rPr>
              <a:t>SDD with Inherited Attributes</a:t>
            </a:r>
            <a:endParaRPr lang="zh-CN" altLang="en-US" sz="3600" dirty="0">
              <a:latin typeface="Palatino Linotype" panose="02040502050505030304" charset="0"/>
              <a:cs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11</a:t>
            </a:fld>
            <a:endParaRPr dirty="0"/>
          </a:p>
        </p:txBody>
      </p:sp>
      <p:pic>
        <p:nvPicPr>
          <p:cNvPr id="4" name="图片 3">
            <a:extLst>
              <a:ext uri="{FF2B5EF4-FFF2-40B4-BE49-F238E27FC236}">
                <a16:creationId xmlns:a16="http://schemas.microsoft.com/office/drawing/2014/main" id="{5EA62030-48C8-A957-BFBC-0F77774A0266}"/>
              </a:ext>
            </a:extLst>
          </p:cNvPr>
          <p:cNvPicPr>
            <a:picLocks noChangeAspect="1"/>
          </p:cNvPicPr>
          <p:nvPr/>
        </p:nvPicPr>
        <p:blipFill>
          <a:blip r:embed="rId3"/>
          <a:stretch>
            <a:fillRect/>
          </a:stretch>
        </p:blipFill>
        <p:spPr>
          <a:xfrm>
            <a:off x="1834969" y="1340768"/>
            <a:ext cx="5474062" cy="3252118"/>
          </a:xfrm>
          <a:prstGeom prst="rect">
            <a:avLst/>
          </a:prstGeom>
        </p:spPr>
      </p:pic>
      <p:sp>
        <p:nvSpPr>
          <p:cNvPr id="7" name="文本框 6">
            <a:extLst>
              <a:ext uri="{FF2B5EF4-FFF2-40B4-BE49-F238E27FC236}">
                <a16:creationId xmlns:a16="http://schemas.microsoft.com/office/drawing/2014/main" id="{0F0F68BF-0FDE-AF38-EC9E-9E0C39C469E7}"/>
              </a:ext>
            </a:extLst>
          </p:cNvPr>
          <p:cNvSpPr txBox="1"/>
          <p:nvPr/>
        </p:nvSpPr>
        <p:spPr>
          <a:xfrm>
            <a:off x="863588" y="4725144"/>
            <a:ext cx="7416824" cy="646331"/>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The left operand of the operator </a:t>
            </a:r>
            <a:r>
              <a:rPr lang="en-US" altLang="zh-CN" sz="1800" dirty="0">
                <a:solidFill>
                  <a:srgbClr val="FF0000"/>
                </a:solidFill>
                <a:effectLst/>
                <a:latin typeface="Cambria Math" panose="02040503050406030204" pitchFamily="18" charset="0"/>
              </a:rPr>
              <a:t>∗ </a:t>
            </a:r>
            <a:r>
              <a:rPr lang="en-US" altLang="zh-CN" sz="1800" dirty="0">
                <a:solidFill>
                  <a:srgbClr val="FF0000"/>
                </a:solidFill>
                <a:effectLst/>
                <a:latin typeface="Palatino Linotype" panose="02040502050505030304" pitchFamily="18" charset="0"/>
              </a:rPr>
              <a:t>is inherited by </a:t>
            </a:r>
            <a:r>
              <a:rPr lang="en-US" altLang="zh-CN" sz="1800" dirty="0">
                <a:solidFill>
                  <a:srgbClr val="FF0000"/>
                </a:solidFill>
                <a:effectLst/>
                <a:latin typeface="Cambria Math" panose="02040503050406030204" pitchFamily="18" charset="0"/>
              </a:rPr>
              <a:t>T’ </a:t>
            </a:r>
            <a:r>
              <a:rPr lang="en-US" altLang="zh-CN" sz="1800" dirty="0">
                <a:solidFill>
                  <a:srgbClr val="FF0000"/>
                </a:solidFill>
                <a:effectLst/>
                <a:latin typeface="Palatino Linotype" panose="02040502050505030304" pitchFamily="18" charset="0"/>
              </a:rPr>
              <a:t>and kept for later computation when </a:t>
            </a:r>
            <a:r>
              <a:rPr lang="en-US" altLang="zh-CN" sz="1800" dirty="0">
                <a:solidFill>
                  <a:srgbClr val="FF0000"/>
                </a:solidFill>
                <a:effectLst/>
                <a:latin typeface="Cambria Math" panose="02040503050406030204" pitchFamily="18" charset="0"/>
              </a:rPr>
              <a:t>T’ </a:t>
            </a:r>
            <a:r>
              <a:rPr lang="en-US" altLang="zh-CN" sz="1800" dirty="0">
                <a:solidFill>
                  <a:srgbClr val="FF0000"/>
                </a:solidFill>
                <a:effectLst/>
                <a:latin typeface="Palatino Linotype" panose="02040502050505030304" pitchFamily="18" charset="0"/>
              </a:rPr>
              <a:t>further gets replaced</a:t>
            </a:r>
            <a:endParaRPr lang="zh-CN" altLang="en-US" dirty="0"/>
          </a:p>
        </p:txBody>
      </p:sp>
      <p:sp>
        <p:nvSpPr>
          <p:cNvPr id="11" name="文本框 10">
            <a:extLst>
              <a:ext uri="{FF2B5EF4-FFF2-40B4-BE49-F238E27FC236}">
                <a16:creationId xmlns:a16="http://schemas.microsoft.com/office/drawing/2014/main" id="{724F1ECD-1E2A-2B0E-2332-6F2B4C829746}"/>
              </a:ext>
            </a:extLst>
          </p:cNvPr>
          <p:cNvSpPr txBox="1"/>
          <p:nvPr/>
        </p:nvSpPr>
        <p:spPr>
          <a:xfrm>
            <a:off x="179512" y="5676571"/>
            <a:ext cx="8784976" cy="307777"/>
          </a:xfrm>
          <a:prstGeom prst="rect">
            <a:avLst/>
          </a:prstGeom>
          <a:noFill/>
        </p:spPr>
        <p:txBody>
          <a:bodyPr wrap="square">
            <a:spAutoFit/>
          </a:bodyPr>
          <a:lstStyle/>
          <a:p>
            <a:r>
              <a:rPr lang="en-US" altLang="zh-CN" sz="1400" dirty="0">
                <a:solidFill>
                  <a:srgbClr val="A6A6A6"/>
                </a:solidFill>
                <a:effectLst/>
                <a:latin typeface="Palatino Linotype" panose="02040502050505030304" pitchFamily="18" charset="0"/>
              </a:rPr>
              <a:t>The inherited attribute of </a:t>
            </a:r>
            <a:r>
              <a:rPr lang="en-US" altLang="zh-CN" sz="1400" i="1" dirty="0">
                <a:solidFill>
                  <a:srgbClr val="A6A6A6"/>
                </a:solidFill>
                <a:effectLst/>
                <a:latin typeface="Cambria Math" panose="02040503050406030204" pitchFamily="18" charset="0"/>
              </a:rPr>
              <a:t>T</a:t>
            </a:r>
            <a:r>
              <a:rPr lang="zh-CN" altLang="en-US" sz="1400" dirty="0">
                <a:solidFill>
                  <a:srgbClr val="A6A6A6"/>
                </a:solidFill>
                <a:effectLst/>
                <a:latin typeface="Cambria Math" panose="02040503050406030204" pitchFamily="18" charset="0"/>
              </a:rPr>
              <a:t>‘ </a:t>
            </a:r>
            <a:r>
              <a:rPr lang="en-US" altLang="zh-CN" sz="1400" dirty="0">
                <a:solidFill>
                  <a:srgbClr val="A6A6A6"/>
                </a:solidFill>
                <a:effectLst/>
                <a:latin typeface="Palatino Linotype" panose="02040502050505030304" pitchFamily="18" charset="0"/>
              </a:rPr>
              <a:t>is not defined by a rule associated with the production (2) or (3), whose head is </a:t>
            </a:r>
            <a:r>
              <a:rPr lang="en-US" altLang="zh-CN" sz="1400" i="1" dirty="0">
                <a:solidFill>
                  <a:srgbClr val="A6A6A6"/>
                </a:solidFill>
                <a:effectLst/>
                <a:latin typeface="Cambria Math" panose="02040503050406030204" pitchFamily="18" charset="0"/>
              </a:rPr>
              <a:t>T</a:t>
            </a:r>
            <a:r>
              <a:rPr lang="en-US" altLang="zh-CN" sz="1400" dirty="0">
                <a:solidFill>
                  <a:srgbClr val="A6A6A6"/>
                </a:solidFill>
                <a:effectLst/>
                <a:latin typeface="Cambria Math" panose="02040503050406030204" pitchFamily="18" charset="0"/>
              </a:rPr>
              <a:t>’</a:t>
            </a:r>
            <a:endParaRPr lang="zh-CN" altLang="en-US" sz="1400" dirty="0"/>
          </a:p>
        </p:txBody>
      </p:sp>
      <p:sp>
        <p:nvSpPr>
          <p:cNvPr id="14" name="矩形 13">
            <a:extLst>
              <a:ext uri="{FF2B5EF4-FFF2-40B4-BE49-F238E27FC236}">
                <a16:creationId xmlns:a16="http://schemas.microsoft.com/office/drawing/2014/main" id="{7BC62A84-1AFE-278E-AE35-71EED9F32FC3}"/>
              </a:ext>
            </a:extLst>
          </p:cNvPr>
          <p:cNvSpPr/>
          <p:nvPr/>
        </p:nvSpPr>
        <p:spPr>
          <a:xfrm>
            <a:off x="4499992" y="1988840"/>
            <a:ext cx="1728192" cy="3600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CA27381B-79E0-BEDF-D193-182E0E49626D}"/>
              </a:ext>
            </a:extLst>
          </p:cNvPr>
          <p:cNvSpPr/>
          <p:nvPr/>
        </p:nvSpPr>
        <p:spPr bwMode="auto">
          <a:xfrm>
            <a:off x="4474840" y="2806080"/>
            <a:ext cx="817240" cy="3600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DE585A2-0957-19FD-31FE-214D58E459A0}"/>
              </a:ext>
            </a:extLst>
          </p:cNvPr>
          <p:cNvSpPr/>
          <p:nvPr/>
        </p:nvSpPr>
        <p:spPr bwMode="auto">
          <a:xfrm>
            <a:off x="5516488" y="3601702"/>
            <a:ext cx="783704" cy="3600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893952D-8D52-D9F2-695F-E87CE30FEFA6}"/>
              </a:ext>
            </a:extLst>
          </p:cNvPr>
          <p:cNvSpPr/>
          <p:nvPr/>
        </p:nvSpPr>
        <p:spPr bwMode="auto">
          <a:xfrm>
            <a:off x="5516488" y="2806080"/>
            <a:ext cx="711696" cy="3600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连接符: 曲线 31">
            <a:extLst>
              <a:ext uri="{FF2B5EF4-FFF2-40B4-BE49-F238E27FC236}">
                <a16:creationId xmlns:a16="http://schemas.microsoft.com/office/drawing/2014/main" id="{7820FFA9-B2FB-A73A-95E6-46D73D596EF9}"/>
              </a:ext>
            </a:extLst>
          </p:cNvPr>
          <p:cNvCxnSpPr>
            <a:cxnSpLocks/>
            <a:stCxn id="14" idx="3"/>
          </p:cNvCxnSpPr>
          <p:nvPr/>
        </p:nvCxnSpPr>
        <p:spPr>
          <a:xfrm>
            <a:off x="6228184" y="2168860"/>
            <a:ext cx="10704" cy="637220"/>
          </a:xfrm>
          <a:prstGeom prst="curvedConnector2">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连接符: 曲线 33">
            <a:extLst>
              <a:ext uri="{FF2B5EF4-FFF2-40B4-BE49-F238E27FC236}">
                <a16:creationId xmlns:a16="http://schemas.microsoft.com/office/drawing/2014/main" id="{00D65AEE-1FF5-1A83-ED43-1EA3BBE0DA5D}"/>
              </a:ext>
            </a:extLst>
          </p:cNvPr>
          <p:cNvCxnSpPr>
            <a:cxnSpLocks/>
          </p:cNvCxnSpPr>
          <p:nvPr/>
        </p:nvCxnSpPr>
        <p:spPr bwMode="auto">
          <a:xfrm rot="16200000" flipH="1">
            <a:off x="5468514" y="2939234"/>
            <a:ext cx="1602052" cy="61304"/>
          </a:xfrm>
          <a:prstGeom prst="curvedConnector4">
            <a:avLst>
              <a:gd name="adj1" fmla="val 175"/>
              <a:gd name="adj2" fmla="val 472896"/>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连接符: 曲线 45">
            <a:extLst>
              <a:ext uri="{FF2B5EF4-FFF2-40B4-BE49-F238E27FC236}">
                <a16:creationId xmlns:a16="http://schemas.microsoft.com/office/drawing/2014/main" id="{0D13D299-93B3-1A55-6EF8-0411EEC390DA}"/>
              </a:ext>
            </a:extLst>
          </p:cNvPr>
          <p:cNvCxnSpPr>
            <a:stCxn id="17" idx="0"/>
            <a:endCxn id="21" idx="0"/>
          </p:cNvCxnSpPr>
          <p:nvPr/>
        </p:nvCxnSpPr>
        <p:spPr>
          <a:xfrm rot="5400000" flipH="1" flipV="1">
            <a:off x="5377898" y="2311642"/>
            <a:ext cx="12700" cy="988876"/>
          </a:xfrm>
          <a:prstGeom prst="curvedConnector3">
            <a:avLst>
              <a:gd name="adj1" fmla="val 1800000"/>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8" name="连接符: 曲线 47">
            <a:extLst>
              <a:ext uri="{FF2B5EF4-FFF2-40B4-BE49-F238E27FC236}">
                <a16:creationId xmlns:a16="http://schemas.microsoft.com/office/drawing/2014/main" id="{2CC234B1-EC96-73AF-A96C-15C8E2B4D950}"/>
              </a:ext>
            </a:extLst>
          </p:cNvPr>
          <p:cNvCxnSpPr>
            <a:cxnSpLocks/>
            <a:stCxn id="17" idx="1"/>
          </p:cNvCxnSpPr>
          <p:nvPr/>
        </p:nvCxnSpPr>
        <p:spPr>
          <a:xfrm rot="10800000" flipH="1" flipV="1">
            <a:off x="4474840" y="2986100"/>
            <a:ext cx="1030944" cy="615602"/>
          </a:xfrm>
          <a:prstGeom prst="curvedConnector3">
            <a:avLst>
              <a:gd name="adj1" fmla="val -22174"/>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8A221954-17DE-511E-EE42-47BB5FE1BA07}"/>
              </a:ext>
            </a:extLst>
          </p:cNvPr>
          <p:cNvSpPr txBox="1"/>
          <p:nvPr/>
        </p:nvSpPr>
        <p:spPr>
          <a:xfrm>
            <a:off x="6170656" y="1861011"/>
            <a:ext cx="197768" cy="369332"/>
          </a:xfrm>
          <a:prstGeom prst="rect">
            <a:avLst/>
          </a:prstGeom>
          <a:noFill/>
        </p:spPr>
        <p:txBody>
          <a:bodyPr wrap="square">
            <a:spAutoFit/>
          </a:bodyPr>
          <a:lstStyle/>
          <a:p>
            <a:r>
              <a:rPr lang="zh-CN" altLang="en-US" sz="1800" dirty="0">
                <a:solidFill>
                  <a:srgbClr val="000000"/>
                </a:solidFill>
                <a:effectLst/>
                <a:latin typeface="Palatino Linotype" panose="02040502050505030304" pitchFamily="18" charset="0"/>
              </a:rPr>
              <a:t>*</a:t>
            </a:r>
            <a:endParaRPr lang="zh-CN" altLang="en-US" dirty="0"/>
          </a:p>
        </p:txBody>
      </p:sp>
      <p:sp>
        <p:nvSpPr>
          <p:cNvPr id="55" name="文本框 54">
            <a:extLst>
              <a:ext uri="{FF2B5EF4-FFF2-40B4-BE49-F238E27FC236}">
                <a16:creationId xmlns:a16="http://schemas.microsoft.com/office/drawing/2014/main" id="{33C4E651-FB38-8370-9471-345C524E7E9F}"/>
              </a:ext>
            </a:extLst>
          </p:cNvPr>
          <p:cNvSpPr txBox="1"/>
          <p:nvPr/>
        </p:nvSpPr>
        <p:spPr>
          <a:xfrm>
            <a:off x="7296323" y="1995785"/>
            <a:ext cx="1341513" cy="369332"/>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value flow</a:t>
            </a:r>
            <a:endParaRPr lang="zh-CN" altLang="en-US" dirty="0"/>
          </a:p>
        </p:txBody>
      </p:sp>
      <p:cxnSp>
        <p:nvCxnSpPr>
          <p:cNvPr id="57" name="直接箭头连接符 56">
            <a:extLst>
              <a:ext uri="{FF2B5EF4-FFF2-40B4-BE49-F238E27FC236}">
                <a16:creationId xmlns:a16="http://schemas.microsoft.com/office/drawing/2014/main" id="{45D1DBB9-C7A3-6DCE-627E-9BFA81040B8F}"/>
              </a:ext>
            </a:extLst>
          </p:cNvPr>
          <p:cNvCxnSpPr/>
          <p:nvPr/>
        </p:nvCxnSpPr>
        <p:spPr>
          <a:xfrm>
            <a:off x="7380312" y="1866335"/>
            <a:ext cx="1028700" cy="0"/>
          </a:xfrm>
          <a:prstGeom prst="straightConnector1">
            <a:avLst/>
          </a:prstGeom>
          <a:ln w="19050">
            <a:solidFill>
              <a:srgbClr val="FF0000"/>
            </a:solidFill>
            <a:prstDash val="sysDash"/>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61828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altLang="zh-CN" sz="3600" dirty="0">
                <a:latin typeface="Palatino Linotype" panose="02040502050505030304" charset="0"/>
                <a:cs typeface="Palatino Linotype" panose="02040502050505030304" charset="0"/>
              </a:rPr>
              <a:t>Annotated Parse Tree for 3*5</a:t>
            </a:r>
            <a:endParaRPr lang="zh-CN" altLang="en-US" sz="3600" dirty="0">
              <a:latin typeface="Palatino Linotype" panose="02040502050505030304" charset="0"/>
              <a:cs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12</a:t>
            </a:fld>
            <a:endParaRPr/>
          </a:p>
        </p:txBody>
      </p:sp>
      <p:pic>
        <p:nvPicPr>
          <p:cNvPr id="5" name="图片 4">
            <a:extLst>
              <a:ext uri="{FF2B5EF4-FFF2-40B4-BE49-F238E27FC236}">
                <a16:creationId xmlns:a16="http://schemas.microsoft.com/office/drawing/2014/main" id="{F0E5F83D-2A18-5FB0-9E55-4F221CA982A3}"/>
              </a:ext>
            </a:extLst>
          </p:cNvPr>
          <p:cNvPicPr>
            <a:picLocks noChangeAspect="1"/>
          </p:cNvPicPr>
          <p:nvPr/>
        </p:nvPicPr>
        <p:blipFill>
          <a:blip r:embed="rId3"/>
          <a:stretch>
            <a:fillRect/>
          </a:stretch>
        </p:blipFill>
        <p:spPr>
          <a:xfrm>
            <a:off x="1258594" y="1340768"/>
            <a:ext cx="6911939" cy="3444538"/>
          </a:xfrm>
          <a:prstGeom prst="rect">
            <a:avLst/>
          </a:prstGeom>
        </p:spPr>
      </p:pic>
      <p:pic>
        <p:nvPicPr>
          <p:cNvPr id="8" name="图片 7">
            <a:extLst>
              <a:ext uri="{FF2B5EF4-FFF2-40B4-BE49-F238E27FC236}">
                <a16:creationId xmlns:a16="http://schemas.microsoft.com/office/drawing/2014/main" id="{86868D8B-AFB9-A7FC-A495-31192F1C507D}"/>
              </a:ext>
            </a:extLst>
          </p:cNvPr>
          <p:cNvPicPr>
            <a:picLocks noChangeAspect="1"/>
          </p:cNvPicPr>
          <p:nvPr/>
        </p:nvPicPr>
        <p:blipFill>
          <a:blip r:embed="rId4"/>
          <a:stretch>
            <a:fillRect/>
          </a:stretch>
        </p:blipFill>
        <p:spPr>
          <a:xfrm>
            <a:off x="539552" y="3861048"/>
            <a:ext cx="3889886" cy="2310965"/>
          </a:xfrm>
          <a:prstGeom prst="rect">
            <a:avLst/>
          </a:prstGeom>
        </p:spPr>
      </p:pic>
      <p:cxnSp>
        <p:nvCxnSpPr>
          <p:cNvPr id="10" name="连接符: 曲线 9">
            <a:extLst>
              <a:ext uri="{FF2B5EF4-FFF2-40B4-BE49-F238E27FC236}">
                <a16:creationId xmlns:a16="http://schemas.microsoft.com/office/drawing/2014/main" id="{E8E45945-1B32-5321-D302-8E61F1044F5B}"/>
              </a:ext>
            </a:extLst>
          </p:cNvPr>
          <p:cNvCxnSpPr/>
          <p:nvPr/>
        </p:nvCxnSpPr>
        <p:spPr>
          <a:xfrm flipV="1">
            <a:off x="3203848" y="2348880"/>
            <a:ext cx="2088232" cy="144016"/>
          </a:xfrm>
          <a:prstGeom prst="curvedConnector3">
            <a:avLst>
              <a:gd name="adj1" fmla="val 53006"/>
            </a:avLst>
          </a:prstGeom>
          <a:ln w="28575">
            <a:solidFill>
              <a:srgbClr val="0331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连接符: 曲线 14">
            <a:extLst>
              <a:ext uri="{FF2B5EF4-FFF2-40B4-BE49-F238E27FC236}">
                <a16:creationId xmlns:a16="http://schemas.microsoft.com/office/drawing/2014/main" id="{54413416-D0E5-371B-AF2A-6600D692990C}"/>
              </a:ext>
            </a:extLst>
          </p:cNvPr>
          <p:cNvCxnSpPr/>
          <p:nvPr/>
        </p:nvCxnSpPr>
        <p:spPr>
          <a:xfrm rot="16200000" flipH="1">
            <a:off x="6199051" y="2607779"/>
            <a:ext cx="936104" cy="418306"/>
          </a:xfrm>
          <a:prstGeom prst="curvedConnector3">
            <a:avLst>
              <a:gd name="adj1" fmla="val -35232"/>
            </a:avLst>
          </a:prstGeom>
          <a:ln w="28575">
            <a:solidFill>
              <a:srgbClr val="0331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 name="连接符: 曲线 17">
            <a:extLst>
              <a:ext uri="{FF2B5EF4-FFF2-40B4-BE49-F238E27FC236}">
                <a16:creationId xmlns:a16="http://schemas.microsoft.com/office/drawing/2014/main" id="{DC437DC4-D111-C064-D59B-8B4AE17D6924}"/>
              </a:ext>
            </a:extLst>
          </p:cNvPr>
          <p:cNvCxnSpPr/>
          <p:nvPr/>
        </p:nvCxnSpPr>
        <p:spPr>
          <a:xfrm flipV="1">
            <a:off x="6115050" y="3356992"/>
            <a:ext cx="617190" cy="216024"/>
          </a:xfrm>
          <a:prstGeom prst="curvedConnector3">
            <a:avLst/>
          </a:prstGeom>
          <a:ln w="28575">
            <a:solidFill>
              <a:srgbClr val="0331FF"/>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D96E0680-E73C-BF68-F85D-53CBC2A2ACBD}"/>
              </a:ext>
            </a:extLst>
          </p:cNvPr>
          <p:cNvSpPr txBox="1"/>
          <p:nvPr/>
        </p:nvSpPr>
        <p:spPr>
          <a:xfrm>
            <a:off x="3906180" y="2073387"/>
            <a:ext cx="341784" cy="369332"/>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S</a:t>
            </a:r>
            <a:endParaRPr lang="zh-CN" altLang="en-US" dirty="0"/>
          </a:p>
        </p:txBody>
      </p:sp>
      <p:sp>
        <p:nvSpPr>
          <p:cNvPr id="22" name="文本框 21">
            <a:extLst>
              <a:ext uri="{FF2B5EF4-FFF2-40B4-BE49-F238E27FC236}">
                <a16:creationId xmlns:a16="http://schemas.microsoft.com/office/drawing/2014/main" id="{65CE55AA-4942-5051-A6D1-39BE54A806FA}"/>
              </a:ext>
            </a:extLst>
          </p:cNvPr>
          <p:cNvSpPr txBox="1"/>
          <p:nvPr/>
        </p:nvSpPr>
        <p:spPr>
          <a:xfrm>
            <a:off x="6288757" y="3108393"/>
            <a:ext cx="269776" cy="369332"/>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S</a:t>
            </a:r>
            <a:endParaRPr lang="zh-CN" altLang="en-US" dirty="0"/>
          </a:p>
        </p:txBody>
      </p:sp>
      <p:sp>
        <p:nvSpPr>
          <p:cNvPr id="24" name="文本框 23">
            <a:extLst>
              <a:ext uri="{FF2B5EF4-FFF2-40B4-BE49-F238E27FC236}">
                <a16:creationId xmlns:a16="http://schemas.microsoft.com/office/drawing/2014/main" id="{0817069D-803E-11BE-1922-813178755446}"/>
              </a:ext>
            </a:extLst>
          </p:cNvPr>
          <p:cNvSpPr txBox="1"/>
          <p:nvPr/>
        </p:nvSpPr>
        <p:spPr>
          <a:xfrm>
            <a:off x="6848700" y="2296109"/>
            <a:ext cx="269776" cy="369332"/>
          </a:xfrm>
          <a:prstGeom prst="rect">
            <a:avLst/>
          </a:prstGeom>
          <a:noFill/>
        </p:spPr>
        <p:txBody>
          <a:bodyPr wrap="square">
            <a:spAutoFit/>
          </a:bodyPr>
          <a:lstStyle/>
          <a:p>
            <a:r>
              <a:rPr lang="en-US" altLang="zh-CN">
                <a:solidFill>
                  <a:srgbClr val="FF0000"/>
                </a:solidFill>
                <a:latin typeface="Palatino Linotype" panose="02040502050505030304" pitchFamily="18" charset="0"/>
              </a:rPr>
              <a:t>P</a:t>
            </a:r>
            <a:endParaRPr lang="zh-CN" altLang="en-US" dirty="0"/>
          </a:p>
        </p:txBody>
      </p:sp>
      <p:sp>
        <p:nvSpPr>
          <p:cNvPr id="2" name="文本框 1">
            <a:extLst>
              <a:ext uri="{FF2B5EF4-FFF2-40B4-BE49-F238E27FC236}">
                <a16:creationId xmlns:a16="http://schemas.microsoft.com/office/drawing/2014/main" id="{F4C3FCDF-2938-42CF-8090-A09B4EC2C1BC}"/>
              </a:ext>
            </a:extLst>
          </p:cNvPr>
          <p:cNvSpPr txBox="1"/>
          <p:nvPr/>
        </p:nvSpPr>
        <p:spPr>
          <a:xfrm>
            <a:off x="6848700" y="1340768"/>
            <a:ext cx="1972015"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dirty="0">
                <a:solidFill>
                  <a:srgbClr val="FF0000"/>
                </a:solidFill>
              </a:rPr>
              <a:t>P stands for parent</a:t>
            </a:r>
          </a:p>
          <a:p>
            <a:r>
              <a:rPr lang="en-US" altLang="zh-CN" dirty="0">
                <a:solidFill>
                  <a:srgbClr val="FF0000"/>
                </a:solidFill>
              </a:rPr>
              <a:t>S stands for sibling</a:t>
            </a:r>
            <a:endParaRPr lang="zh-CN" altLang="en-US" dirty="0">
              <a:solidFill>
                <a:srgbClr val="FF0000"/>
              </a:solidFill>
            </a:endParaRPr>
          </a:p>
        </p:txBody>
      </p:sp>
    </p:spTree>
    <p:extLst>
      <p:ext uri="{BB962C8B-B14F-4D97-AF65-F5344CB8AC3E}">
        <p14:creationId xmlns:p14="http://schemas.microsoft.com/office/powerpoint/2010/main" val="2502540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1">
            <a:extLst>
              <a:ext uri="{FF2B5EF4-FFF2-40B4-BE49-F238E27FC236}">
                <a16:creationId xmlns:a16="http://schemas.microsoft.com/office/drawing/2014/main" id="{9BA49B04-0B85-46AC-8F16-1F1CD1114BE0}"/>
              </a:ext>
            </a:extLst>
          </p:cNvPr>
          <p:cNvSpPr txBox="1">
            <a:spLocks/>
          </p:cNvSpPr>
          <p:nvPr/>
        </p:nvSpPr>
        <p:spPr>
          <a:xfrm>
            <a:off x="149328" y="559559"/>
            <a:ext cx="4030061" cy="4352400"/>
          </a:xfrm>
          <a:prstGeom prst="rect">
            <a:avLst/>
          </a:prstGeom>
        </p:spPr>
        <p:txBody>
          <a:bodyPr/>
          <a:lst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a:lstStyle>
          <a:p>
            <a:pPr marL="0" indent="0">
              <a:buNone/>
            </a:pPr>
            <a:r>
              <a:rPr lang="en-US" altLang="zh-CN" dirty="0">
                <a:latin typeface="Palatino Linotype" panose="02040502050505030304" charset="0"/>
                <a:cs typeface="Palatino Linotype" panose="02040502050505030304" charset="0"/>
              </a:rPr>
              <a:t>Annotated Parse Tree for </a:t>
            </a:r>
            <a:r>
              <a:rPr lang="en-US" altLang="zh-CN" dirty="0">
                <a:latin typeface="Plantagenet Cherokee" panose="02020602070100000000" pitchFamily="18" charset="0"/>
              </a:rPr>
              <a:t>real  id</a:t>
            </a:r>
            <a:r>
              <a:rPr lang="en-US" altLang="zh-CN" baseline="-25000" dirty="0">
                <a:latin typeface="Plantagenet Cherokee" panose="02020602070100000000" pitchFamily="18" charset="0"/>
              </a:rPr>
              <a:t>1</a:t>
            </a:r>
            <a:r>
              <a:rPr lang="en-US" altLang="zh-CN" dirty="0">
                <a:latin typeface="Plantagenet Cherokee" panose="02020602070100000000" pitchFamily="18" charset="0"/>
              </a:rPr>
              <a:t>，id</a:t>
            </a:r>
            <a:r>
              <a:rPr lang="en-US" altLang="zh-CN" baseline="-25000" dirty="0">
                <a:latin typeface="Plantagenet Cherokee" panose="02020602070100000000" pitchFamily="18" charset="0"/>
              </a:rPr>
              <a:t>2</a:t>
            </a:r>
            <a:r>
              <a:rPr lang="en-US" altLang="zh-CN" dirty="0">
                <a:latin typeface="Plantagenet Cherokee" panose="02020602070100000000" pitchFamily="18" charset="0"/>
              </a:rPr>
              <a:t>，id</a:t>
            </a:r>
            <a:r>
              <a:rPr lang="en-US" altLang="zh-CN" baseline="-25000" dirty="0">
                <a:latin typeface="Plantagenet Cherokee" panose="02020602070100000000" pitchFamily="18" charset="0"/>
              </a:rPr>
              <a:t>3</a:t>
            </a:r>
            <a:endParaRPr lang="zh-CN" altLang="en-US" baseline="-25000" dirty="0">
              <a:latin typeface="Plantagenet Cherokee" panose="02020602070100000000" pitchFamily="18" charset="0"/>
            </a:endParaRPr>
          </a:p>
        </p:txBody>
      </p:sp>
      <p:sp>
        <p:nvSpPr>
          <p:cNvPr id="4" name="Rectangle 5">
            <a:extLst>
              <a:ext uri="{FF2B5EF4-FFF2-40B4-BE49-F238E27FC236}">
                <a16:creationId xmlns:a16="http://schemas.microsoft.com/office/drawing/2014/main" id="{98725422-1211-4A11-974D-4971CF2B1345}"/>
              </a:ext>
            </a:extLst>
          </p:cNvPr>
          <p:cNvSpPr>
            <a:spLocks noChangeArrowheads="1"/>
          </p:cNvSpPr>
          <p:nvPr/>
        </p:nvSpPr>
        <p:spPr bwMode="auto">
          <a:xfrm>
            <a:off x="1389249" y="5988677"/>
            <a:ext cx="7160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600" dirty="0">
                <a:latin typeface="Plantagenet Cherokee" panose="02020602070100000000" pitchFamily="18" charset="0"/>
                <a:ea typeface="+mj-ea"/>
              </a:rPr>
              <a:t>id</a:t>
            </a:r>
            <a:r>
              <a:rPr lang="en-US" altLang="zh-CN" sz="2600" baseline="-25000" dirty="0">
                <a:latin typeface="Plantagenet Cherokee" panose="02020602070100000000" pitchFamily="18" charset="0"/>
                <a:ea typeface="+mj-ea"/>
              </a:rPr>
              <a:t>1</a:t>
            </a:r>
          </a:p>
        </p:txBody>
      </p:sp>
      <p:sp>
        <p:nvSpPr>
          <p:cNvPr id="5" name="Line 6">
            <a:extLst>
              <a:ext uri="{FF2B5EF4-FFF2-40B4-BE49-F238E27FC236}">
                <a16:creationId xmlns:a16="http://schemas.microsoft.com/office/drawing/2014/main" id="{D27537B0-C6DD-4DA4-ADAD-F5F4B3DA9BDB}"/>
              </a:ext>
            </a:extLst>
          </p:cNvPr>
          <p:cNvSpPr>
            <a:spLocks noChangeShapeType="1"/>
          </p:cNvSpPr>
          <p:nvPr/>
        </p:nvSpPr>
        <p:spPr bwMode="auto">
          <a:xfrm>
            <a:off x="1702516" y="5760077"/>
            <a:ext cx="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6" name="Rectangle 7">
            <a:extLst>
              <a:ext uri="{FF2B5EF4-FFF2-40B4-BE49-F238E27FC236}">
                <a16:creationId xmlns:a16="http://schemas.microsoft.com/office/drawing/2014/main" id="{BA2536CC-B305-4D9D-BF3C-6D73B6F634EA}"/>
              </a:ext>
            </a:extLst>
          </p:cNvPr>
          <p:cNvSpPr>
            <a:spLocks noChangeArrowheads="1"/>
          </p:cNvSpPr>
          <p:nvPr/>
        </p:nvSpPr>
        <p:spPr bwMode="auto">
          <a:xfrm>
            <a:off x="533362" y="5213963"/>
            <a:ext cx="2286001"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a:latin typeface="Plantagenet Cherokee" panose="02020602070100000000" pitchFamily="18" charset="0"/>
                <a:ea typeface="+mj-ea"/>
              </a:rPr>
              <a:t>L</a:t>
            </a:r>
          </a:p>
        </p:txBody>
      </p:sp>
      <p:sp>
        <p:nvSpPr>
          <p:cNvPr id="7" name="Rectangle 8">
            <a:extLst>
              <a:ext uri="{FF2B5EF4-FFF2-40B4-BE49-F238E27FC236}">
                <a16:creationId xmlns:a16="http://schemas.microsoft.com/office/drawing/2014/main" id="{053A1F4F-A9C2-49CC-8699-99DEC7BF2169}"/>
              </a:ext>
            </a:extLst>
          </p:cNvPr>
          <p:cNvSpPr>
            <a:spLocks noChangeArrowheads="1"/>
          </p:cNvSpPr>
          <p:nvPr/>
        </p:nvSpPr>
        <p:spPr bwMode="auto">
          <a:xfrm>
            <a:off x="2288063" y="5164680"/>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a:latin typeface="Plantagenet Cherokee" panose="02020602070100000000" pitchFamily="18" charset="0"/>
                <a:ea typeface="+mj-ea"/>
              </a:rPr>
              <a:t>,</a:t>
            </a:r>
          </a:p>
        </p:txBody>
      </p:sp>
      <p:sp>
        <p:nvSpPr>
          <p:cNvPr id="8" name="Rectangle 11">
            <a:extLst>
              <a:ext uri="{FF2B5EF4-FFF2-40B4-BE49-F238E27FC236}">
                <a16:creationId xmlns:a16="http://schemas.microsoft.com/office/drawing/2014/main" id="{0C88DB36-8FFC-4844-8B86-2459BCE38E99}"/>
              </a:ext>
            </a:extLst>
          </p:cNvPr>
          <p:cNvSpPr>
            <a:spLocks noChangeArrowheads="1"/>
          </p:cNvSpPr>
          <p:nvPr/>
        </p:nvSpPr>
        <p:spPr bwMode="auto">
          <a:xfrm>
            <a:off x="2844092" y="5244872"/>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600" dirty="0">
                <a:latin typeface="Plantagenet Cherokee" panose="02020602070100000000" pitchFamily="18" charset="0"/>
                <a:ea typeface="+mj-ea"/>
              </a:rPr>
              <a:t>id</a:t>
            </a:r>
            <a:r>
              <a:rPr lang="en-US" altLang="zh-CN" sz="2600" baseline="-25000" dirty="0">
                <a:latin typeface="Plantagenet Cherokee" panose="02020602070100000000" pitchFamily="18" charset="0"/>
                <a:ea typeface="+mj-ea"/>
              </a:rPr>
              <a:t>2</a:t>
            </a:r>
            <a:endParaRPr kumimoji="1" lang="en-US" altLang="zh-CN" sz="2600" dirty="0">
              <a:latin typeface="Plantagenet Cherokee" panose="02020602070100000000" pitchFamily="18" charset="0"/>
              <a:ea typeface="+mj-ea"/>
            </a:endParaRPr>
          </a:p>
        </p:txBody>
      </p:sp>
      <p:sp>
        <p:nvSpPr>
          <p:cNvPr id="9" name="Line 12">
            <a:extLst>
              <a:ext uri="{FF2B5EF4-FFF2-40B4-BE49-F238E27FC236}">
                <a16:creationId xmlns:a16="http://schemas.microsoft.com/office/drawing/2014/main" id="{8CEEF651-B81E-4D81-A310-8EDB06EAB6B8}"/>
              </a:ext>
            </a:extLst>
          </p:cNvPr>
          <p:cNvSpPr>
            <a:spLocks noChangeShapeType="1"/>
          </p:cNvSpPr>
          <p:nvPr/>
        </p:nvSpPr>
        <p:spPr bwMode="auto">
          <a:xfrm flipV="1">
            <a:off x="1747268" y="4891898"/>
            <a:ext cx="762000" cy="3810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10" name="Line 13">
            <a:extLst>
              <a:ext uri="{FF2B5EF4-FFF2-40B4-BE49-F238E27FC236}">
                <a16:creationId xmlns:a16="http://schemas.microsoft.com/office/drawing/2014/main" id="{284732AD-5BC6-42BD-9DC9-2B7D0792669B}"/>
              </a:ext>
            </a:extLst>
          </p:cNvPr>
          <p:cNvSpPr>
            <a:spLocks noChangeShapeType="1"/>
          </p:cNvSpPr>
          <p:nvPr/>
        </p:nvSpPr>
        <p:spPr bwMode="auto">
          <a:xfrm flipV="1">
            <a:off x="2733963" y="4938773"/>
            <a:ext cx="0" cy="3810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11" name="Line 14">
            <a:extLst>
              <a:ext uri="{FF2B5EF4-FFF2-40B4-BE49-F238E27FC236}">
                <a16:creationId xmlns:a16="http://schemas.microsoft.com/office/drawing/2014/main" id="{49DD9A1B-F4A0-4B5A-A434-886452187539}"/>
              </a:ext>
            </a:extLst>
          </p:cNvPr>
          <p:cNvSpPr>
            <a:spLocks noChangeShapeType="1"/>
          </p:cNvSpPr>
          <p:nvPr/>
        </p:nvSpPr>
        <p:spPr bwMode="auto">
          <a:xfrm>
            <a:off x="2953286" y="4892183"/>
            <a:ext cx="91440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12" name="Rectangle 15">
            <a:extLst>
              <a:ext uri="{FF2B5EF4-FFF2-40B4-BE49-F238E27FC236}">
                <a16:creationId xmlns:a16="http://schemas.microsoft.com/office/drawing/2014/main" id="{D782B85A-60D0-42FE-BE0A-698AB6D65462}"/>
              </a:ext>
            </a:extLst>
          </p:cNvPr>
          <p:cNvSpPr>
            <a:spLocks noChangeArrowheads="1"/>
          </p:cNvSpPr>
          <p:nvPr/>
        </p:nvSpPr>
        <p:spPr bwMode="auto">
          <a:xfrm>
            <a:off x="1819563" y="4442174"/>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a:latin typeface="Plantagenet Cherokee" panose="02020602070100000000" pitchFamily="18" charset="0"/>
                <a:ea typeface="+mj-ea"/>
              </a:rPr>
              <a:t>L</a:t>
            </a:r>
          </a:p>
        </p:txBody>
      </p:sp>
      <p:sp>
        <p:nvSpPr>
          <p:cNvPr id="13" name="Rectangle 18">
            <a:extLst>
              <a:ext uri="{FF2B5EF4-FFF2-40B4-BE49-F238E27FC236}">
                <a16:creationId xmlns:a16="http://schemas.microsoft.com/office/drawing/2014/main" id="{B15B1368-E632-4D3B-B3BB-E2C7BC00F7A3}"/>
              </a:ext>
            </a:extLst>
          </p:cNvPr>
          <p:cNvSpPr>
            <a:spLocks noChangeArrowheads="1"/>
          </p:cNvSpPr>
          <p:nvPr/>
        </p:nvSpPr>
        <p:spPr bwMode="auto">
          <a:xfrm>
            <a:off x="3845927" y="4405373"/>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a:latin typeface="Plantagenet Cherokee" panose="02020602070100000000" pitchFamily="18" charset="0"/>
                <a:ea typeface="+mj-ea"/>
              </a:rPr>
              <a:t>,</a:t>
            </a:r>
          </a:p>
        </p:txBody>
      </p:sp>
      <p:sp>
        <p:nvSpPr>
          <p:cNvPr id="14" name="Rectangle 23">
            <a:extLst>
              <a:ext uri="{FF2B5EF4-FFF2-40B4-BE49-F238E27FC236}">
                <a16:creationId xmlns:a16="http://schemas.microsoft.com/office/drawing/2014/main" id="{24F05243-678E-41A4-84A7-6A5FD71F8065}"/>
              </a:ext>
            </a:extLst>
          </p:cNvPr>
          <p:cNvSpPr>
            <a:spLocks noChangeArrowheads="1"/>
          </p:cNvSpPr>
          <p:nvPr/>
        </p:nvSpPr>
        <p:spPr bwMode="auto">
          <a:xfrm>
            <a:off x="5750483" y="4451963"/>
            <a:ext cx="825471"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600" dirty="0">
                <a:latin typeface="Plantagenet Cherokee" panose="02020602070100000000" pitchFamily="18" charset="0"/>
                <a:ea typeface="+mj-ea"/>
              </a:rPr>
              <a:t>id</a:t>
            </a:r>
            <a:r>
              <a:rPr lang="en-US" altLang="zh-CN" sz="2600" baseline="-25000" dirty="0">
                <a:latin typeface="Plantagenet Cherokee" panose="02020602070100000000" pitchFamily="18" charset="0"/>
                <a:ea typeface="+mj-ea"/>
              </a:rPr>
              <a:t>3</a:t>
            </a:r>
            <a:endParaRPr kumimoji="1" lang="en-US" altLang="zh-CN" sz="2600" dirty="0">
              <a:latin typeface="Plantagenet Cherokee" panose="02020602070100000000" pitchFamily="18" charset="0"/>
              <a:ea typeface="+mj-ea"/>
            </a:endParaRPr>
          </a:p>
        </p:txBody>
      </p:sp>
      <p:sp>
        <p:nvSpPr>
          <p:cNvPr id="15" name="Line 24">
            <a:extLst>
              <a:ext uri="{FF2B5EF4-FFF2-40B4-BE49-F238E27FC236}">
                <a16:creationId xmlns:a16="http://schemas.microsoft.com/office/drawing/2014/main" id="{A5669052-F207-4F45-B696-973E9C8FAA5A}"/>
              </a:ext>
            </a:extLst>
          </p:cNvPr>
          <p:cNvSpPr>
            <a:spLocks noChangeShapeType="1"/>
          </p:cNvSpPr>
          <p:nvPr/>
        </p:nvSpPr>
        <p:spPr bwMode="auto">
          <a:xfrm flipH="1">
            <a:off x="2778771" y="4101519"/>
            <a:ext cx="1295400" cy="3810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dirty="0">
              <a:latin typeface="Plantagenet Cherokee" panose="02020602070100000000" pitchFamily="18" charset="0"/>
              <a:ea typeface="+mj-ea"/>
            </a:endParaRPr>
          </a:p>
        </p:txBody>
      </p:sp>
      <p:sp>
        <p:nvSpPr>
          <p:cNvPr id="16" name="Line 25">
            <a:extLst>
              <a:ext uri="{FF2B5EF4-FFF2-40B4-BE49-F238E27FC236}">
                <a16:creationId xmlns:a16="http://schemas.microsoft.com/office/drawing/2014/main" id="{0051AA1B-5AD3-4179-B669-A72B0251B67B}"/>
              </a:ext>
            </a:extLst>
          </p:cNvPr>
          <p:cNvSpPr>
            <a:spLocks noChangeShapeType="1"/>
          </p:cNvSpPr>
          <p:nvPr/>
        </p:nvSpPr>
        <p:spPr bwMode="auto">
          <a:xfrm flipV="1">
            <a:off x="4316945" y="4177719"/>
            <a:ext cx="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17" name="Line 26">
            <a:extLst>
              <a:ext uri="{FF2B5EF4-FFF2-40B4-BE49-F238E27FC236}">
                <a16:creationId xmlns:a16="http://schemas.microsoft.com/office/drawing/2014/main" id="{259B881C-7D6F-4B64-B9C5-12525CE220F2}"/>
              </a:ext>
            </a:extLst>
          </p:cNvPr>
          <p:cNvSpPr>
            <a:spLocks noChangeShapeType="1"/>
          </p:cNvSpPr>
          <p:nvPr/>
        </p:nvSpPr>
        <p:spPr bwMode="auto">
          <a:xfrm>
            <a:off x="4484111" y="4147163"/>
            <a:ext cx="1600200" cy="3810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18" name="Rectangle 27">
            <a:extLst>
              <a:ext uri="{FF2B5EF4-FFF2-40B4-BE49-F238E27FC236}">
                <a16:creationId xmlns:a16="http://schemas.microsoft.com/office/drawing/2014/main" id="{8E88ACDC-A16E-4954-B06A-A54C06E1CC8D}"/>
              </a:ext>
            </a:extLst>
          </p:cNvPr>
          <p:cNvSpPr>
            <a:spLocks noChangeArrowheads="1"/>
          </p:cNvSpPr>
          <p:nvPr/>
        </p:nvSpPr>
        <p:spPr bwMode="auto">
          <a:xfrm>
            <a:off x="3227706" y="3522505"/>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a:latin typeface="Plantagenet Cherokee" panose="02020602070100000000" pitchFamily="18" charset="0"/>
                <a:ea typeface="+mj-ea"/>
              </a:rPr>
              <a:t>L</a:t>
            </a:r>
          </a:p>
        </p:txBody>
      </p:sp>
      <p:sp>
        <p:nvSpPr>
          <p:cNvPr id="19" name="Line 29">
            <a:extLst>
              <a:ext uri="{FF2B5EF4-FFF2-40B4-BE49-F238E27FC236}">
                <a16:creationId xmlns:a16="http://schemas.microsoft.com/office/drawing/2014/main" id="{7C9C3AD2-BFB6-4EFF-A79C-C2FFFB8F5D7A}"/>
              </a:ext>
            </a:extLst>
          </p:cNvPr>
          <p:cNvSpPr>
            <a:spLocks noChangeShapeType="1"/>
          </p:cNvSpPr>
          <p:nvPr/>
        </p:nvSpPr>
        <p:spPr bwMode="auto">
          <a:xfrm flipV="1">
            <a:off x="978911" y="3004163"/>
            <a:ext cx="1524000" cy="6096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20" name="Line 30">
            <a:extLst>
              <a:ext uri="{FF2B5EF4-FFF2-40B4-BE49-F238E27FC236}">
                <a16:creationId xmlns:a16="http://schemas.microsoft.com/office/drawing/2014/main" id="{FB349746-4100-4588-9B10-B2676C956B49}"/>
              </a:ext>
            </a:extLst>
          </p:cNvPr>
          <p:cNvSpPr>
            <a:spLocks noChangeShapeType="1"/>
          </p:cNvSpPr>
          <p:nvPr/>
        </p:nvSpPr>
        <p:spPr bwMode="auto">
          <a:xfrm>
            <a:off x="2883911" y="3004163"/>
            <a:ext cx="1295400" cy="6096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21" name="Rectangle 32">
            <a:extLst>
              <a:ext uri="{FF2B5EF4-FFF2-40B4-BE49-F238E27FC236}">
                <a16:creationId xmlns:a16="http://schemas.microsoft.com/office/drawing/2014/main" id="{9CF6F9B5-AA65-4783-80B9-C4C68B13A6EC}"/>
              </a:ext>
            </a:extLst>
          </p:cNvPr>
          <p:cNvSpPr>
            <a:spLocks noChangeArrowheads="1"/>
          </p:cNvSpPr>
          <p:nvPr/>
        </p:nvSpPr>
        <p:spPr bwMode="auto">
          <a:xfrm>
            <a:off x="626939" y="4299563"/>
            <a:ext cx="66629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a:latin typeface="Plantagenet Cherokee" panose="02020602070100000000" pitchFamily="18" charset="0"/>
                <a:ea typeface="+mj-ea"/>
              </a:rPr>
              <a:t>real</a:t>
            </a:r>
          </a:p>
        </p:txBody>
      </p:sp>
      <p:sp>
        <p:nvSpPr>
          <p:cNvPr id="22" name="Line 33">
            <a:extLst>
              <a:ext uri="{FF2B5EF4-FFF2-40B4-BE49-F238E27FC236}">
                <a16:creationId xmlns:a16="http://schemas.microsoft.com/office/drawing/2014/main" id="{37683C0E-A96D-4952-8029-4D2006DAE8ED}"/>
              </a:ext>
            </a:extLst>
          </p:cNvPr>
          <p:cNvSpPr>
            <a:spLocks noChangeShapeType="1"/>
          </p:cNvSpPr>
          <p:nvPr/>
        </p:nvSpPr>
        <p:spPr bwMode="auto">
          <a:xfrm>
            <a:off x="902711" y="4070963"/>
            <a:ext cx="0" cy="304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23" name="Rectangle 34">
            <a:extLst>
              <a:ext uri="{FF2B5EF4-FFF2-40B4-BE49-F238E27FC236}">
                <a16:creationId xmlns:a16="http://schemas.microsoft.com/office/drawing/2014/main" id="{F0AFFC4D-F84D-4AA3-921D-6E0BECDD1CAD}"/>
              </a:ext>
            </a:extLst>
          </p:cNvPr>
          <p:cNvSpPr>
            <a:spLocks noChangeArrowheads="1"/>
          </p:cNvSpPr>
          <p:nvPr/>
        </p:nvSpPr>
        <p:spPr bwMode="auto">
          <a:xfrm>
            <a:off x="750312" y="3537563"/>
            <a:ext cx="228599"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a:latin typeface="Plantagenet Cherokee" panose="02020602070100000000" pitchFamily="18" charset="0"/>
                <a:ea typeface="+mj-ea"/>
              </a:rPr>
              <a:t>T</a:t>
            </a:r>
          </a:p>
        </p:txBody>
      </p:sp>
      <p:sp>
        <p:nvSpPr>
          <p:cNvPr id="24" name="Rectangle 35">
            <a:extLst>
              <a:ext uri="{FF2B5EF4-FFF2-40B4-BE49-F238E27FC236}">
                <a16:creationId xmlns:a16="http://schemas.microsoft.com/office/drawing/2014/main" id="{07D769C4-FE1A-45F1-BC40-AAB81F483D91}"/>
              </a:ext>
            </a:extLst>
          </p:cNvPr>
          <p:cNvSpPr>
            <a:spLocks noChangeArrowheads="1"/>
          </p:cNvSpPr>
          <p:nvPr/>
        </p:nvSpPr>
        <p:spPr bwMode="auto">
          <a:xfrm>
            <a:off x="2236211" y="2519191"/>
            <a:ext cx="91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a:latin typeface="Plantagenet Cherokee" panose="02020602070100000000" pitchFamily="18" charset="0"/>
                <a:ea typeface="+mj-ea"/>
              </a:rPr>
              <a:t>D</a:t>
            </a:r>
          </a:p>
        </p:txBody>
      </p:sp>
      <p:sp>
        <p:nvSpPr>
          <p:cNvPr id="25" name="Rectangle 36">
            <a:extLst>
              <a:ext uri="{FF2B5EF4-FFF2-40B4-BE49-F238E27FC236}">
                <a16:creationId xmlns:a16="http://schemas.microsoft.com/office/drawing/2014/main" id="{34DEC387-9710-4583-BC48-353BF0C44792}"/>
              </a:ext>
            </a:extLst>
          </p:cNvPr>
          <p:cNvSpPr>
            <a:spLocks noChangeArrowheads="1"/>
          </p:cNvSpPr>
          <p:nvPr/>
        </p:nvSpPr>
        <p:spPr bwMode="auto">
          <a:xfrm>
            <a:off x="713877" y="3507447"/>
            <a:ext cx="2438401"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err="1">
                <a:solidFill>
                  <a:srgbClr val="FF3300"/>
                </a:solidFill>
                <a:latin typeface="Plantagenet Cherokee" panose="02020602070100000000" pitchFamily="18" charset="0"/>
                <a:ea typeface="+mj-ea"/>
              </a:rPr>
              <a:t>T.type</a:t>
            </a:r>
            <a:r>
              <a:rPr kumimoji="1" lang="en-US" altLang="zh-CN" sz="2600" dirty="0">
                <a:solidFill>
                  <a:srgbClr val="FF3300"/>
                </a:solidFill>
                <a:latin typeface="Plantagenet Cherokee" panose="02020602070100000000" pitchFamily="18" charset="0"/>
                <a:ea typeface="+mj-ea"/>
              </a:rPr>
              <a:t>=real</a:t>
            </a:r>
          </a:p>
        </p:txBody>
      </p:sp>
      <p:sp>
        <p:nvSpPr>
          <p:cNvPr id="26" name="Rectangle 37">
            <a:extLst>
              <a:ext uri="{FF2B5EF4-FFF2-40B4-BE49-F238E27FC236}">
                <a16:creationId xmlns:a16="http://schemas.microsoft.com/office/drawing/2014/main" id="{323E418E-CB8D-4EF6-B0D8-288C9C128209}"/>
              </a:ext>
            </a:extLst>
          </p:cNvPr>
          <p:cNvSpPr>
            <a:spLocks noChangeArrowheads="1"/>
          </p:cNvSpPr>
          <p:nvPr/>
        </p:nvSpPr>
        <p:spPr bwMode="auto">
          <a:xfrm>
            <a:off x="2410303" y="3507785"/>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a:solidFill>
                  <a:srgbClr val="FF3300"/>
                </a:solidFill>
                <a:latin typeface="Plantagenet Cherokee" panose="02020602070100000000" pitchFamily="18" charset="0"/>
                <a:ea typeface="+mj-ea"/>
              </a:rPr>
              <a:t>L.in=real</a:t>
            </a:r>
          </a:p>
        </p:txBody>
      </p:sp>
      <p:sp>
        <p:nvSpPr>
          <p:cNvPr id="27" name="Rectangle 38">
            <a:extLst>
              <a:ext uri="{FF2B5EF4-FFF2-40B4-BE49-F238E27FC236}">
                <a16:creationId xmlns:a16="http://schemas.microsoft.com/office/drawing/2014/main" id="{3D2D54E4-9493-4E2C-850E-BE823B65824B}"/>
              </a:ext>
            </a:extLst>
          </p:cNvPr>
          <p:cNvSpPr>
            <a:spLocks noChangeArrowheads="1"/>
          </p:cNvSpPr>
          <p:nvPr/>
        </p:nvSpPr>
        <p:spPr bwMode="auto">
          <a:xfrm>
            <a:off x="768631" y="4429391"/>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a:solidFill>
                  <a:srgbClr val="FF3300"/>
                </a:solidFill>
                <a:latin typeface="Plantagenet Cherokee" panose="02020602070100000000" pitchFamily="18" charset="0"/>
                <a:ea typeface="+mj-ea"/>
              </a:rPr>
              <a:t>L.in=real</a:t>
            </a:r>
          </a:p>
        </p:txBody>
      </p:sp>
      <p:sp>
        <p:nvSpPr>
          <p:cNvPr id="28" name="Rectangle 39">
            <a:extLst>
              <a:ext uri="{FF2B5EF4-FFF2-40B4-BE49-F238E27FC236}">
                <a16:creationId xmlns:a16="http://schemas.microsoft.com/office/drawing/2014/main" id="{2E2369D3-26C8-439A-AAE6-A3B43F56BBE9}"/>
              </a:ext>
            </a:extLst>
          </p:cNvPr>
          <p:cNvSpPr>
            <a:spLocks noChangeArrowheads="1"/>
          </p:cNvSpPr>
          <p:nvPr/>
        </p:nvSpPr>
        <p:spPr bwMode="auto">
          <a:xfrm>
            <a:off x="-248715" y="5191391"/>
            <a:ext cx="2286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600" dirty="0">
                <a:solidFill>
                  <a:srgbClr val="FF3300"/>
                </a:solidFill>
                <a:latin typeface="Plantagenet Cherokee" panose="02020602070100000000" pitchFamily="18" charset="0"/>
                <a:ea typeface="+mj-ea"/>
              </a:rPr>
              <a:t>L.in=real</a:t>
            </a:r>
          </a:p>
        </p:txBody>
      </p:sp>
      <p:graphicFrame>
        <p:nvGraphicFramePr>
          <p:cNvPr id="29" name="Group 85">
            <a:extLst>
              <a:ext uri="{FF2B5EF4-FFF2-40B4-BE49-F238E27FC236}">
                <a16:creationId xmlns:a16="http://schemas.microsoft.com/office/drawing/2014/main" id="{B34FB9F7-B1B7-4F54-A877-700006A2D943}"/>
              </a:ext>
            </a:extLst>
          </p:cNvPr>
          <p:cNvGraphicFramePr>
            <a:graphicFrameLocks noGrp="1"/>
          </p:cNvGraphicFramePr>
          <p:nvPr>
            <p:extLst>
              <p:ext uri="{D42A27DB-BD31-4B8C-83A1-F6EECF244321}">
                <p14:modId xmlns:p14="http://schemas.microsoft.com/office/powerpoint/2010/main" val="475046365"/>
              </p:ext>
            </p:extLst>
          </p:nvPr>
        </p:nvGraphicFramePr>
        <p:xfrm>
          <a:off x="6565601" y="3613763"/>
          <a:ext cx="2327275" cy="2338388"/>
        </p:xfrm>
        <a:graphic>
          <a:graphicData uri="http://schemas.openxmlformats.org/drawingml/2006/table">
            <a:tbl>
              <a:tblPr/>
              <a:tblGrid>
                <a:gridCol w="1163638">
                  <a:extLst>
                    <a:ext uri="{9D8B030D-6E8A-4147-A177-3AD203B41FA5}">
                      <a16:colId xmlns:a16="http://schemas.microsoft.com/office/drawing/2014/main" val="20000"/>
                    </a:ext>
                  </a:extLst>
                </a:gridCol>
                <a:gridCol w="1163637">
                  <a:extLst>
                    <a:ext uri="{9D8B030D-6E8A-4147-A177-3AD203B41FA5}">
                      <a16:colId xmlns:a16="http://schemas.microsoft.com/office/drawing/2014/main" val="20001"/>
                    </a:ext>
                  </a:extLst>
                </a:gridCol>
              </a:tblGrid>
              <a:tr h="5095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zh-CN" sz="2400" b="0" i="0" u="none" strike="noStrike" cap="none" normalizeH="0" baseline="0">
                          <a:ln>
                            <a:noFill/>
                          </a:ln>
                          <a:solidFill>
                            <a:schemeClr val="tx1"/>
                          </a:solidFill>
                          <a:effectLst/>
                          <a:latin typeface="Arial" pitchFamily="34" charset="0"/>
                          <a:ea typeface="微软雅黑" pitchFamily="34" charset="-122"/>
                        </a:rPr>
                        <a:t>name</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GB" altLang="zh-CN" sz="2400" b="0" i="0" u="none" strike="noStrike" cap="none" normalizeH="0" baseline="0">
                          <a:ln>
                            <a:noFill/>
                          </a:ln>
                          <a:solidFill>
                            <a:schemeClr val="tx1"/>
                          </a:solidFill>
                          <a:effectLst/>
                          <a:latin typeface="Arial" pitchFamily="34" charset="0"/>
                          <a:ea typeface="微软雅黑" pitchFamily="34" charset="-122"/>
                        </a:rPr>
                        <a:t>type</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微软雅黑"/>
                          <a:ea typeface="微软雅黑" pitchFamily="34" charset="-122"/>
                        </a:rPr>
                        <a:t>…</a:t>
                      </a:r>
                      <a:endParaRPr kumimoji="0" lang="en-GB" altLang="zh-CN" sz="2400" b="0" i="0" u="none" strike="noStrike" cap="none" normalizeH="0" baseline="0">
                        <a:ln>
                          <a:noFill/>
                        </a:ln>
                        <a:solidFill>
                          <a:schemeClr val="tx1"/>
                        </a:solidFill>
                        <a:effectLst/>
                        <a:latin typeface="Arial" pitchFamily="34" charset="0"/>
                        <a:ea typeface="微软雅黑" pitchFamily="34" charset="-122"/>
                      </a:endParaRP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微软雅黑"/>
                          <a:ea typeface="微软雅黑" pitchFamily="34" charset="-122"/>
                        </a:rPr>
                        <a:t>…</a:t>
                      </a:r>
                      <a:endParaRPr kumimoji="0" lang="en-GB" sz="2400" b="0" i="0" u="none" strike="noStrike" cap="none" normalizeH="0" baseline="0">
                        <a:ln>
                          <a:noFill/>
                        </a:ln>
                        <a:solidFill>
                          <a:schemeClr val="tx1"/>
                        </a:solidFill>
                        <a:effectLst/>
                        <a:latin typeface="Arial" pitchFamily="34" charset="0"/>
                        <a:ea typeface="微软雅黑" pitchFamily="34"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1" i="0" u="none" strike="noStrike" cap="none" normalizeH="0" baseline="-25000">
                        <a:ln>
                          <a:noFill/>
                        </a:ln>
                        <a:solidFill>
                          <a:schemeClr val="tx1"/>
                        </a:solidFill>
                        <a:effectLst/>
                        <a:latin typeface="Times New Roman" pitchFamily="18" charset="0"/>
                        <a:ea typeface="微软雅黑" pitchFamily="34" charset="-122"/>
                      </a:endParaRP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1" i="0" u="none" strike="noStrike" cap="none" normalizeH="0" baseline="0">
                        <a:ln>
                          <a:noFill/>
                        </a:ln>
                        <a:solidFill>
                          <a:schemeClr val="tx1"/>
                        </a:solidFill>
                        <a:effectLst/>
                        <a:latin typeface="Arial" pitchFamily="34" charset="0"/>
                        <a:ea typeface="微软雅黑" pitchFamily="34"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a:ln>
                          <a:noFill/>
                        </a:ln>
                        <a:solidFill>
                          <a:schemeClr val="tx1"/>
                        </a:solidFill>
                        <a:effectLst/>
                        <a:latin typeface="Arial" pitchFamily="34" charset="0"/>
                        <a:ea typeface="微软雅黑" pitchFamily="34" charset="-122"/>
                      </a:endParaRP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a:ln>
                          <a:noFill/>
                        </a:ln>
                        <a:solidFill>
                          <a:schemeClr val="tx1"/>
                        </a:solidFill>
                        <a:effectLst/>
                        <a:latin typeface="Arial" pitchFamily="34" charset="0"/>
                        <a:ea typeface="微软雅黑" pitchFamily="34"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a:ln>
                          <a:noFill/>
                        </a:ln>
                        <a:solidFill>
                          <a:schemeClr val="tx1"/>
                        </a:solidFill>
                        <a:effectLst/>
                        <a:latin typeface="Arial" pitchFamily="34" charset="0"/>
                        <a:ea typeface="微软雅黑" pitchFamily="34" charset="-122"/>
                      </a:endParaRP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GB" sz="2400" b="0" i="0" u="none" strike="noStrike" cap="none" normalizeH="0" baseline="0" dirty="0">
                        <a:ln>
                          <a:noFill/>
                        </a:ln>
                        <a:solidFill>
                          <a:schemeClr val="tx1"/>
                        </a:solidFill>
                        <a:effectLst/>
                        <a:latin typeface="Arial" pitchFamily="34" charset="0"/>
                        <a:ea typeface="微软雅黑" pitchFamily="34"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0" name="Text Box 86">
            <a:extLst>
              <a:ext uri="{FF2B5EF4-FFF2-40B4-BE49-F238E27FC236}">
                <a16:creationId xmlns:a16="http://schemas.microsoft.com/office/drawing/2014/main" id="{C92876D1-22B8-435F-8E8C-3C9E65F49EA2}"/>
              </a:ext>
            </a:extLst>
          </p:cNvPr>
          <p:cNvSpPr txBox="1">
            <a:spLocks noChangeArrowheads="1"/>
          </p:cNvSpPr>
          <p:nvPr/>
        </p:nvSpPr>
        <p:spPr bwMode="auto">
          <a:xfrm>
            <a:off x="6852938" y="4575788"/>
            <a:ext cx="5501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ClrTx/>
              <a:buSzTx/>
              <a:buFontTx/>
              <a:buNone/>
            </a:pPr>
            <a:r>
              <a:rPr lang="en-US" altLang="zh-CN" sz="2400" b="1">
                <a:solidFill>
                  <a:srgbClr val="0033CC"/>
                </a:solidFill>
                <a:latin typeface="Plantagenet Cherokee" panose="02020602070100000000" pitchFamily="18" charset="0"/>
                <a:ea typeface="宋体" panose="02010600030101010101" pitchFamily="2" charset="-122"/>
              </a:rPr>
              <a:t>id</a:t>
            </a:r>
            <a:r>
              <a:rPr lang="en-US" altLang="zh-CN" sz="2400" b="1" baseline="-25000">
                <a:solidFill>
                  <a:srgbClr val="0033CC"/>
                </a:solidFill>
                <a:latin typeface="Plantagenet Cherokee" panose="02020602070100000000" pitchFamily="18" charset="0"/>
                <a:ea typeface="宋体" panose="02010600030101010101" pitchFamily="2" charset="-122"/>
              </a:rPr>
              <a:t>3</a:t>
            </a:r>
            <a:endParaRPr lang="en-GB" altLang="zh-CN" sz="2400" b="1" baseline="-25000">
              <a:solidFill>
                <a:srgbClr val="0033CC"/>
              </a:solidFill>
              <a:latin typeface="Plantagenet Cherokee" panose="02020602070100000000" pitchFamily="18" charset="0"/>
              <a:ea typeface="宋体" panose="02010600030101010101" pitchFamily="2" charset="-122"/>
            </a:endParaRPr>
          </a:p>
        </p:txBody>
      </p:sp>
      <p:sp>
        <p:nvSpPr>
          <p:cNvPr id="31" name="Text Box 87">
            <a:extLst>
              <a:ext uri="{FF2B5EF4-FFF2-40B4-BE49-F238E27FC236}">
                <a16:creationId xmlns:a16="http://schemas.microsoft.com/office/drawing/2014/main" id="{D10832C2-5904-48B1-8F3F-0AC43443BA9D}"/>
              </a:ext>
            </a:extLst>
          </p:cNvPr>
          <p:cNvSpPr txBox="1">
            <a:spLocks noChangeArrowheads="1"/>
          </p:cNvSpPr>
          <p:nvPr/>
        </p:nvSpPr>
        <p:spPr bwMode="auto">
          <a:xfrm>
            <a:off x="7861001" y="4564675"/>
            <a:ext cx="72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ClrTx/>
              <a:buSzTx/>
              <a:buFontTx/>
              <a:buNone/>
            </a:pPr>
            <a:r>
              <a:rPr lang="en-US" altLang="zh-CN" sz="2400" b="1">
                <a:solidFill>
                  <a:srgbClr val="0033CC"/>
                </a:solidFill>
                <a:latin typeface="Plantagenet Cherokee" panose="02020602070100000000" pitchFamily="18" charset="0"/>
                <a:ea typeface="宋体" panose="02010600030101010101" pitchFamily="2" charset="-122"/>
              </a:rPr>
              <a:t>real</a:t>
            </a:r>
            <a:endParaRPr lang="en-GB" altLang="zh-CN" sz="2400" b="1">
              <a:solidFill>
                <a:srgbClr val="0033CC"/>
              </a:solidFill>
              <a:latin typeface="Plantagenet Cherokee" panose="02020602070100000000" pitchFamily="18" charset="0"/>
              <a:ea typeface="宋体" panose="02010600030101010101" pitchFamily="2" charset="-122"/>
            </a:endParaRPr>
          </a:p>
        </p:txBody>
      </p:sp>
      <p:sp>
        <p:nvSpPr>
          <p:cNvPr id="32" name="Text Box 88">
            <a:extLst>
              <a:ext uri="{FF2B5EF4-FFF2-40B4-BE49-F238E27FC236}">
                <a16:creationId xmlns:a16="http://schemas.microsoft.com/office/drawing/2014/main" id="{DF051ABE-B3B1-4FDD-AAE5-F26BDDC86B99}"/>
              </a:ext>
            </a:extLst>
          </p:cNvPr>
          <p:cNvSpPr txBox="1">
            <a:spLocks noChangeArrowheads="1"/>
          </p:cNvSpPr>
          <p:nvPr/>
        </p:nvSpPr>
        <p:spPr bwMode="auto">
          <a:xfrm>
            <a:off x="6852938" y="5029813"/>
            <a:ext cx="5501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ClrTx/>
              <a:buSzTx/>
              <a:buFontTx/>
              <a:buNone/>
            </a:pPr>
            <a:r>
              <a:rPr lang="en-US" altLang="zh-CN" sz="2400" b="1">
                <a:solidFill>
                  <a:srgbClr val="0033CC"/>
                </a:solidFill>
                <a:latin typeface="Plantagenet Cherokee" panose="02020602070100000000" pitchFamily="18" charset="0"/>
                <a:ea typeface="宋体" panose="02010600030101010101" pitchFamily="2" charset="-122"/>
              </a:rPr>
              <a:t>id</a:t>
            </a:r>
            <a:r>
              <a:rPr lang="en-US" altLang="zh-CN" sz="2400" b="1" baseline="-25000">
                <a:solidFill>
                  <a:srgbClr val="0033CC"/>
                </a:solidFill>
                <a:latin typeface="Plantagenet Cherokee" panose="02020602070100000000" pitchFamily="18" charset="0"/>
                <a:ea typeface="宋体" panose="02010600030101010101" pitchFamily="2" charset="-122"/>
              </a:rPr>
              <a:t>2</a:t>
            </a:r>
            <a:endParaRPr lang="en-GB" altLang="zh-CN" sz="2400" b="1" baseline="-25000">
              <a:solidFill>
                <a:srgbClr val="0033CC"/>
              </a:solidFill>
              <a:latin typeface="Plantagenet Cherokee" panose="02020602070100000000" pitchFamily="18" charset="0"/>
              <a:ea typeface="宋体" panose="02010600030101010101" pitchFamily="2" charset="-122"/>
            </a:endParaRPr>
          </a:p>
        </p:txBody>
      </p:sp>
      <p:sp>
        <p:nvSpPr>
          <p:cNvPr id="33" name="Text Box 89">
            <a:extLst>
              <a:ext uri="{FF2B5EF4-FFF2-40B4-BE49-F238E27FC236}">
                <a16:creationId xmlns:a16="http://schemas.microsoft.com/office/drawing/2014/main" id="{83DCA35E-2F59-4345-A983-4229329E81B7}"/>
              </a:ext>
            </a:extLst>
          </p:cNvPr>
          <p:cNvSpPr txBox="1">
            <a:spLocks noChangeArrowheads="1"/>
          </p:cNvSpPr>
          <p:nvPr/>
        </p:nvSpPr>
        <p:spPr bwMode="auto">
          <a:xfrm>
            <a:off x="7861001" y="5018700"/>
            <a:ext cx="72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ClrTx/>
              <a:buSzTx/>
              <a:buFontTx/>
              <a:buNone/>
            </a:pPr>
            <a:r>
              <a:rPr lang="en-US" altLang="zh-CN" sz="2400" b="1">
                <a:solidFill>
                  <a:srgbClr val="0033CC"/>
                </a:solidFill>
                <a:latin typeface="Plantagenet Cherokee" panose="02020602070100000000" pitchFamily="18" charset="0"/>
                <a:ea typeface="宋体" panose="02010600030101010101" pitchFamily="2" charset="-122"/>
              </a:rPr>
              <a:t>real</a:t>
            </a:r>
            <a:endParaRPr lang="en-GB" altLang="zh-CN" sz="2400" b="1">
              <a:solidFill>
                <a:srgbClr val="0033CC"/>
              </a:solidFill>
              <a:latin typeface="Plantagenet Cherokee" panose="02020602070100000000" pitchFamily="18" charset="0"/>
              <a:ea typeface="宋体" panose="02010600030101010101" pitchFamily="2" charset="-122"/>
            </a:endParaRPr>
          </a:p>
        </p:txBody>
      </p:sp>
      <p:sp>
        <p:nvSpPr>
          <p:cNvPr id="34" name="Text Box 90">
            <a:extLst>
              <a:ext uri="{FF2B5EF4-FFF2-40B4-BE49-F238E27FC236}">
                <a16:creationId xmlns:a16="http://schemas.microsoft.com/office/drawing/2014/main" id="{B28F1F81-2D48-484E-A6AA-7B5EBFC5F64B}"/>
              </a:ext>
            </a:extLst>
          </p:cNvPr>
          <p:cNvSpPr txBox="1">
            <a:spLocks noChangeArrowheads="1"/>
          </p:cNvSpPr>
          <p:nvPr/>
        </p:nvSpPr>
        <p:spPr bwMode="auto">
          <a:xfrm>
            <a:off x="6852938" y="5461613"/>
            <a:ext cx="5501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ClrTx/>
              <a:buSzTx/>
              <a:buFontTx/>
              <a:buNone/>
            </a:pPr>
            <a:r>
              <a:rPr lang="en-US" altLang="zh-CN" sz="2400" b="1">
                <a:solidFill>
                  <a:srgbClr val="0033CC"/>
                </a:solidFill>
                <a:latin typeface="Plantagenet Cherokee" panose="02020602070100000000" pitchFamily="18" charset="0"/>
                <a:ea typeface="宋体" panose="02010600030101010101" pitchFamily="2" charset="-122"/>
              </a:rPr>
              <a:t>id</a:t>
            </a:r>
            <a:r>
              <a:rPr lang="en-US" altLang="zh-CN" sz="2400" b="1" baseline="-25000">
                <a:solidFill>
                  <a:srgbClr val="0033CC"/>
                </a:solidFill>
                <a:latin typeface="Plantagenet Cherokee" panose="02020602070100000000" pitchFamily="18" charset="0"/>
                <a:ea typeface="宋体" panose="02010600030101010101" pitchFamily="2" charset="-122"/>
              </a:rPr>
              <a:t>1</a:t>
            </a:r>
            <a:endParaRPr lang="en-GB" altLang="zh-CN" sz="2400" b="1" baseline="-25000">
              <a:solidFill>
                <a:srgbClr val="0033CC"/>
              </a:solidFill>
              <a:latin typeface="Plantagenet Cherokee" panose="02020602070100000000" pitchFamily="18" charset="0"/>
              <a:ea typeface="宋体" panose="02010600030101010101" pitchFamily="2" charset="-122"/>
            </a:endParaRPr>
          </a:p>
        </p:txBody>
      </p:sp>
      <p:sp>
        <p:nvSpPr>
          <p:cNvPr id="35" name="Text Box 91">
            <a:extLst>
              <a:ext uri="{FF2B5EF4-FFF2-40B4-BE49-F238E27FC236}">
                <a16:creationId xmlns:a16="http://schemas.microsoft.com/office/drawing/2014/main" id="{D94823DE-4C41-470D-839C-D493122BCD13}"/>
              </a:ext>
            </a:extLst>
          </p:cNvPr>
          <p:cNvSpPr txBox="1">
            <a:spLocks noChangeArrowheads="1"/>
          </p:cNvSpPr>
          <p:nvPr/>
        </p:nvSpPr>
        <p:spPr bwMode="auto">
          <a:xfrm>
            <a:off x="7861001" y="5450500"/>
            <a:ext cx="72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ClrTx/>
              <a:buSzTx/>
              <a:buFontTx/>
              <a:buNone/>
            </a:pPr>
            <a:r>
              <a:rPr lang="en-US" altLang="zh-CN" sz="2400" b="1">
                <a:solidFill>
                  <a:srgbClr val="0033CC"/>
                </a:solidFill>
                <a:latin typeface="Plantagenet Cherokee" panose="02020602070100000000" pitchFamily="18" charset="0"/>
                <a:ea typeface="宋体" panose="02010600030101010101" pitchFamily="2" charset="-122"/>
              </a:rPr>
              <a:t>real</a:t>
            </a:r>
            <a:endParaRPr lang="en-GB" altLang="zh-CN" sz="2400" b="1">
              <a:solidFill>
                <a:srgbClr val="0033CC"/>
              </a:solidFill>
              <a:latin typeface="Plantagenet Cherokee" panose="02020602070100000000" pitchFamily="18" charset="0"/>
              <a:ea typeface="宋体" panose="02010600030101010101" pitchFamily="2" charset="-122"/>
            </a:endParaRPr>
          </a:p>
        </p:txBody>
      </p:sp>
      <p:sp>
        <p:nvSpPr>
          <p:cNvPr id="36" name="文本框 35">
            <a:extLst>
              <a:ext uri="{FF2B5EF4-FFF2-40B4-BE49-F238E27FC236}">
                <a16:creationId xmlns:a16="http://schemas.microsoft.com/office/drawing/2014/main" id="{AC288904-80EF-45C4-B43A-F0FFF1468467}"/>
              </a:ext>
            </a:extLst>
          </p:cNvPr>
          <p:cNvSpPr txBox="1"/>
          <p:nvPr/>
        </p:nvSpPr>
        <p:spPr>
          <a:xfrm>
            <a:off x="6800899" y="6015486"/>
            <a:ext cx="2327274" cy="461665"/>
          </a:xfrm>
          <a:prstGeom prst="rect">
            <a:avLst/>
          </a:prstGeom>
          <a:noFill/>
        </p:spPr>
        <p:txBody>
          <a:bodyPr wrap="square" rtlCol="0">
            <a:spAutoFit/>
          </a:bodyPr>
          <a:lstStyle/>
          <a:p>
            <a:r>
              <a:rPr lang="en-US" altLang="zh-CN" sz="2400" dirty="0">
                <a:latin typeface="Plantagenet Cherokee" panose="02020602070100000000" pitchFamily="18" charset="0"/>
                <a:ea typeface="+mj-ea"/>
              </a:rPr>
              <a:t>Symbol table</a:t>
            </a:r>
            <a:endParaRPr lang="zh-CN" altLang="en-US" sz="2400" dirty="0">
              <a:latin typeface="Plantagenet Cherokee" panose="02020602070100000000" pitchFamily="18" charset="0"/>
              <a:ea typeface="+mj-ea"/>
            </a:endParaRPr>
          </a:p>
        </p:txBody>
      </p:sp>
      <p:sp>
        <p:nvSpPr>
          <p:cNvPr id="37" name="Rectangle 41">
            <a:extLst>
              <a:ext uri="{FF2B5EF4-FFF2-40B4-BE49-F238E27FC236}">
                <a16:creationId xmlns:a16="http://schemas.microsoft.com/office/drawing/2014/main" id="{961A980D-BA7A-448F-A97F-8424ACA2C89A}"/>
              </a:ext>
            </a:extLst>
          </p:cNvPr>
          <p:cNvSpPr txBox="1">
            <a:spLocks noChangeArrowheads="1"/>
          </p:cNvSpPr>
          <p:nvPr/>
        </p:nvSpPr>
        <p:spPr>
          <a:xfrm>
            <a:off x="4074171" y="13084"/>
            <a:ext cx="5069829" cy="2914879"/>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vert="horz" lIns="144000" tIns="144000" rIns="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80000"/>
              </a:lnSpc>
              <a:buFont typeface="Wingdings" panose="05000000000000000000" pitchFamily="2" charset="2"/>
              <a:buNone/>
            </a:pPr>
            <a:r>
              <a:rPr lang="en-US" altLang="zh-CN" sz="2200" dirty="0">
                <a:solidFill>
                  <a:schemeClr val="bg1"/>
                </a:solidFill>
                <a:latin typeface="Plantagenet Cherokee" panose="02020602070100000000" pitchFamily="18" charset="0"/>
                <a:ea typeface="黑体" panose="02010609060101010101" pitchFamily="49" charset="-122"/>
              </a:rPr>
              <a:t>PRODUCTIONS</a:t>
            </a:r>
            <a:r>
              <a:rPr lang="zh-CN" altLang="en-US" sz="2200" dirty="0">
                <a:solidFill>
                  <a:schemeClr val="bg1"/>
                </a:solidFill>
                <a:latin typeface="Plantagenet Cherokee" panose="02020602070100000000" pitchFamily="18" charset="0"/>
                <a:ea typeface="黑体" panose="02010609060101010101" pitchFamily="49" charset="-122"/>
              </a:rPr>
              <a:t>	</a:t>
            </a:r>
            <a:r>
              <a:rPr lang="en-US" altLang="zh-CN" sz="2200" dirty="0">
                <a:solidFill>
                  <a:schemeClr val="bg1"/>
                </a:solidFill>
                <a:latin typeface="Plantagenet Cherokee" panose="02020602070100000000" pitchFamily="18" charset="0"/>
              </a:rPr>
              <a:t>SEMANTIC RULES</a:t>
            </a:r>
            <a:endParaRPr lang="en-US" altLang="zh-CN" sz="2200" dirty="0">
              <a:solidFill>
                <a:schemeClr val="bg1"/>
              </a:solidFill>
              <a:latin typeface="Plantagenet Cherokee" panose="02020602070100000000" pitchFamily="18" charset="0"/>
              <a:ea typeface="黑体" panose="02010609060101010101" pitchFamily="49" charset="-122"/>
            </a:endParaRPr>
          </a:p>
          <a:p>
            <a:pPr algn="just">
              <a:lnSpc>
                <a:spcPct val="80000"/>
              </a:lnSpc>
              <a:buFont typeface="Wingdings" panose="05000000000000000000" pitchFamily="2" charset="2"/>
              <a:buNone/>
            </a:pPr>
            <a:r>
              <a:rPr lang="en-US" altLang="zh-CN" sz="2200" dirty="0">
                <a:solidFill>
                  <a:schemeClr val="bg1"/>
                </a:solidFill>
                <a:latin typeface="Plantagenet Cherokee" panose="02020602070100000000" pitchFamily="18" charset="0"/>
              </a:rPr>
              <a:t>D→TL            L.in := </a:t>
            </a:r>
            <a:r>
              <a:rPr lang="en-US" altLang="zh-CN" sz="2200" dirty="0" err="1">
                <a:solidFill>
                  <a:schemeClr val="bg1"/>
                </a:solidFill>
                <a:latin typeface="Plantagenet Cherokee" panose="02020602070100000000" pitchFamily="18" charset="0"/>
              </a:rPr>
              <a:t>T.type</a:t>
            </a:r>
            <a:r>
              <a:rPr lang="en-US" altLang="zh-CN" sz="2200" dirty="0">
                <a:solidFill>
                  <a:schemeClr val="bg1"/>
                </a:solidFill>
                <a:latin typeface="Plantagenet Cherokee" panose="02020602070100000000" pitchFamily="18" charset="0"/>
              </a:rPr>
              <a:t> </a:t>
            </a:r>
          </a:p>
          <a:p>
            <a:pPr algn="just">
              <a:lnSpc>
                <a:spcPct val="80000"/>
              </a:lnSpc>
              <a:buFont typeface="Wingdings" panose="05000000000000000000" pitchFamily="2" charset="2"/>
              <a:buNone/>
            </a:pPr>
            <a:r>
              <a:rPr lang="en-US" altLang="zh-CN" sz="2200" dirty="0" err="1">
                <a:solidFill>
                  <a:schemeClr val="bg1"/>
                </a:solidFill>
                <a:latin typeface="Plantagenet Cherokee" panose="02020602070100000000" pitchFamily="18" charset="0"/>
              </a:rPr>
              <a:t>T→int</a:t>
            </a:r>
            <a:r>
              <a:rPr lang="en-US" altLang="zh-CN" sz="2200" dirty="0">
                <a:solidFill>
                  <a:schemeClr val="bg1"/>
                </a:solidFill>
                <a:latin typeface="Plantagenet Cherokee" panose="02020602070100000000" pitchFamily="18" charset="0"/>
              </a:rPr>
              <a:t>	           </a:t>
            </a:r>
            <a:r>
              <a:rPr lang="en-US" altLang="zh-CN" sz="2200" dirty="0" err="1">
                <a:solidFill>
                  <a:schemeClr val="bg1"/>
                </a:solidFill>
                <a:latin typeface="Plantagenet Cherokee" panose="02020602070100000000" pitchFamily="18" charset="0"/>
              </a:rPr>
              <a:t>T.type</a:t>
            </a:r>
            <a:r>
              <a:rPr lang="en-US" altLang="zh-CN" sz="2200" dirty="0">
                <a:solidFill>
                  <a:schemeClr val="bg1"/>
                </a:solidFill>
                <a:latin typeface="Plantagenet Cherokee" panose="02020602070100000000" pitchFamily="18" charset="0"/>
              </a:rPr>
              <a:t> := integer </a:t>
            </a:r>
          </a:p>
          <a:p>
            <a:pPr algn="just">
              <a:lnSpc>
                <a:spcPct val="80000"/>
              </a:lnSpc>
              <a:buFont typeface="Wingdings" panose="05000000000000000000" pitchFamily="2" charset="2"/>
              <a:buNone/>
            </a:pPr>
            <a:r>
              <a:rPr lang="en-US" altLang="zh-CN" sz="2200" dirty="0" err="1">
                <a:solidFill>
                  <a:schemeClr val="bg1"/>
                </a:solidFill>
                <a:latin typeface="Plantagenet Cherokee" panose="02020602070100000000" pitchFamily="18" charset="0"/>
              </a:rPr>
              <a:t>T→real</a:t>
            </a:r>
            <a:r>
              <a:rPr lang="en-US" altLang="zh-CN" sz="2200" dirty="0">
                <a:solidFill>
                  <a:schemeClr val="bg1"/>
                </a:solidFill>
                <a:latin typeface="Plantagenet Cherokee" panose="02020602070100000000" pitchFamily="18" charset="0"/>
              </a:rPr>
              <a:t>          </a:t>
            </a:r>
            <a:r>
              <a:rPr lang="en-US" altLang="zh-CN" sz="2200" dirty="0" err="1">
                <a:solidFill>
                  <a:schemeClr val="bg1"/>
                </a:solidFill>
                <a:latin typeface="Plantagenet Cherokee" panose="02020602070100000000" pitchFamily="18" charset="0"/>
              </a:rPr>
              <a:t>T.type</a:t>
            </a:r>
            <a:r>
              <a:rPr lang="en-US" altLang="zh-CN" sz="2200" dirty="0">
                <a:solidFill>
                  <a:schemeClr val="bg1"/>
                </a:solidFill>
                <a:latin typeface="Plantagenet Cherokee" panose="02020602070100000000" pitchFamily="18" charset="0"/>
              </a:rPr>
              <a:t> := real </a:t>
            </a:r>
          </a:p>
          <a:p>
            <a:pPr algn="just">
              <a:lnSpc>
                <a:spcPct val="80000"/>
              </a:lnSpc>
              <a:buFont typeface="Wingdings" panose="05000000000000000000" pitchFamily="2" charset="2"/>
              <a:buNone/>
            </a:pPr>
            <a:r>
              <a:rPr lang="en-US" altLang="zh-CN" sz="2200" dirty="0">
                <a:solidFill>
                  <a:schemeClr val="bg1"/>
                </a:solidFill>
                <a:latin typeface="Plantagenet Cherokee" panose="02020602070100000000" pitchFamily="18" charset="0"/>
              </a:rPr>
              <a:t>L→L</a:t>
            </a:r>
            <a:r>
              <a:rPr lang="en-US" altLang="zh-CN" sz="2200" baseline="-30000" dirty="0">
                <a:solidFill>
                  <a:schemeClr val="bg1"/>
                </a:solidFill>
                <a:latin typeface="Plantagenet Cherokee" panose="02020602070100000000" pitchFamily="18" charset="0"/>
              </a:rPr>
              <a:t>1</a:t>
            </a:r>
            <a:r>
              <a:rPr lang="en-US" altLang="zh-CN" sz="2200" dirty="0">
                <a:solidFill>
                  <a:schemeClr val="bg1"/>
                </a:solidFill>
                <a:latin typeface="Plantagenet Cherokee" panose="02020602070100000000" pitchFamily="18" charset="0"/>
              </a:rPr>
              <a:t>, id        L</a:t>
            </a:r>
            <a:r>
              <a:rPr lang="en-US" altLang="zh-CN" sz="2200" baseline="-30000" dirty="0">
                <a:solidFill>
                  <a:schemeClr val="bg1"/>
                </a:solidFill>
                <a:latin typeface="Plantagenet Cherokee" panose="02020602070100000000" pitchFamily="18" charset="0"/>
              </a:rPr>
              <a:t>1</a:t>
            </a:r>
            <a:r>
              <a:rPr lang="en-US" altLang="zh-CN" sz="2200" dirty="0">
                <a:solidFill>
                  <a:schemeClr val="bg1"/>
                </a:solidFill>
                <a:latin typeface="Plantagenet Cherokee" panose="02020602070100000000" pitchFamily="18" charset="0"/>
              </a:rPr>
              <a:t>.in :=L.in </a:t>
            </a:r>
          </a:p>
          <a:p>
            <a:pPr algn="just">
              <a:lnSpc>
                <a:spcPct val="80000"/>
              </a:lnSpc>
              <a:buFont typeface="Wingdings" panose="05000000000000000000" pitchFamily="2" charset="2"/>
              <a:buNone/>
            </a:pPr>
            <a:r>
              <a:rPr lang="en-US" altLang="zh-CN" sz="2200" dirty="0">
                <a:solidFill>
                  <a:schemeClr val="bg1"/>
                </a:solidFill>
                <a:latin typeface="Plantagenet Cherokee" panose="02020602070100000000" pitchFamily="18" charset="0"/>
              </a:rPr>
              <a:t>                       </a:t>
            </a:r>
            <a:r>
              <a:rPr lang="en-US" altLang="zh-CN" sz="2200" dirty="0" err="1">
                <a:solidFill>
                  <a:schemeClr val="bg1"/>
                </a:solidFill>
                <a:latin typeface="Plantagenet Cherokee" panose="02020602070100000000" pitchFamily="18" charset="0"/>
              </a:rPr>
              <a:t>addtype</a:t>
            </a:r>
            <a:r>
              <a:rPr lang="en-US" altLang="zh-CN" sz="2200" dirty="0">
                <a:solidFill>
                  <a:schemeClr val="bg1"/>
                </a:solidFill>
                <a:latin typeface="Plantagenet Cherokee" panose="02020602070100000000" pitchFamily="18" charset="0"/>
              </a:rPr>
              <a:t>(</a:t>
            </a:r>
            <a:r>
              <a:rPr lang="en-US" altLang="zh-CN" sz="2200" dirty="0" err="1">
                <a:solidFill>
                  <a:schemeClr val="bg1"/>
                </a:solidFill>
                <a:latin typeface="Plantagenet Cherokee" panose="02020602070100000000" pitchFamily="18" charset="0"/>
              </a:rPr>
              <a:t>id.entry</a:t>
            </a:r>
            <a:r>
              <a:rPr lang="en-US" altLang="zh-CN" sz="2200" dirty="0">
                <a:solidFill>
                  <a:schemeClr val="bg1"/>
                </a:solidFill>
                <a:latin typeface="Plantagenet Cherokee" panose="02020602070100000000" pitchFamily="18" charset="0"/>
              </a:rPr>
              <a:t>, L.in) </a:t>
            </a:r>
          </a:p>
          <a:p>
            <a:pPr algn="just">
              <a:lnSpc>
                <a:spcPct val="80000"/>
              </a:lnSpc>
              <a:buFont typeface="Wingdings" panose="05000000000000000000" pitchFamily="2" charset="2"/>
              <a:buNone/>
            </a:pPr>
            <a:r>
              <a:rPr lang="en-US" altLang="zh-CN" sz="2200" dirty="0" err="1">
                <a:solidFill>
                  <a:schemeClr val="bg1"/>
                </a:solidFill>
                <a:latin typeface="Plantagenet Cherokee" panose="02020602070100000000" pitchFamily="18" charset="0"/>
              </a:rPr>
              <a:t>L→id</a:t>
            </a:r>
            <a:r>
              <a:rPr lang="en-US" altLang="zh-CN" sz="2200" dirty="0">
                <a:solidFill>
                  <a:schemeClr val="bg1"/>
                </a:solidFill>
                <a:latin typeface="Plantagenet Cherokee" panose="02020602070100000000" pitchFamily="18" charset="0"/>
              </a:rPr>
              <a:t> 	          </a:t>
            </a:r>
            <a:r>
              <a:rPr lang="en-US" altLang="zh-CN" sz="2200" dirty="0" err="1">
                <a:solidFill>
                  <a:schemeClr val="bg1"/>
                </a:solidFill>
                <a:latin typeface="Plantagenet Cherokee" panose="02020602070100000000" pitchFamily="18" charset="0"/>
              </a:rPr>
              <a:t>addtype</a:t>
            </a:r>
            <a:r>
              <a:rPr lang="en-US" altLang="zh-CN" sz="2200" dirty="0">
                <a:solidFill>
                  <a:schemeClr val="bg1"/>
                </a:solidFill>
                <a:latin typeface="Plantagenet Cherokee" panose="02020602070100000000" pitchFamily="18" charset="0"/>
              </a:rPr>
              <a:t>(</a:t>
            </a:r>
            <a:r>
              <a:rPr lang="en-US" altLang="zh-CN" sz="2200" dirty="0" err="1">
                <a:solidFill>
                  <a:schemeClr val="bg1"/>
                </a:solidFill>
                <a:latin typeface="Plantagenet Cherokee" panose="02020602070100000000" pitchFamily="18" charset="0"/>
              </a:rPr>
              <a:t>id.entry,L.in</a:t>
            </a:r>
            <a:r>
              <a:rPr lang="en-US" altLang="zh-CN" sz="2200" dirty="0">
                <a:solidFill>
                  <a:schemeClr val="bg1"/>
                </a:solidFill>
                <a:latin typeface="Plantagenet Cherokee" panose="02020602070100000000" pitchFamily="18" charset="0"/>
              </a:rPr>
              <a:t>) </a:t>
            </a:r>
            <a:endParaRPr lang="zh-CN" altLang="en-US" sz="2200" dirty="0">
              <a:solidFill>
                <a:schemeClr val="bg1"/>
              </a:solidFill>
              <a:latin typeface="Plantagenet Cherokee" panose="02020602070100000000" pitchFamily="18" charset="0"/>
            </a:endParaRPr>
          </a:p>
        </p:txBody>
      </p:sp>
    </p:spTree>
    <p:extLst>
      <p:ext uri="{BB962C8B-B14F-4D97-AF65-F5344CB8AC3E}">
        <p14:creationId xmlns:p14="http://schemas.microsoft.com/office/powerpoint/2010/main" val="202517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left)">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left)">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left)">
                                      <p:cBhvr>
                                        <p:cTn id="28" dur="500"/>
                                        <p:tgtEl>
                                          <p:spTgt spid="3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wipe(left)">
                                      <p:cBhvr>
                                        <p:cTn id="31" dur="5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wipe(left)">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left)">
                                      <p:cBhvr>
                                        <p:cTn id="41" dur="500"/>
                                        <p:tgtEl>
                                          <p:spTgt spid="32"/>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wipe(left)">
                                      <p:cBhvr>
                                        <p:cTn id="44" dur="500"/>
                                        <p:tgtEl>
                                          <p:spTgt spid="3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wipe(left)">
                                      <p:cBhvr>
                                        <p:cTn id="49" dur="500"/>
                                        <p:tgtEl>
                                          <p:spTgt spid="34"/>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wipe(left)">
                                      <p:cBhvr>
                                        <p:cTn id="5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P spid="26" grpId="0" autoUpdateAnimBg="0"/>
      <p:bldP spid="27" grpId="0" autoUpdateAnimBg="0"/>
      <p:bldP spid="28" grpId="0" autoUpdateAnimBg="0"/>
      <p:bldP spid="30" grpId="0"/>
      <p:bldP spid="31" grpId="0"/>
      <p:bldP spid="32" grpId="0"/>
      <p:bldP spid="33" grpId="0"/>
      <p:bldP spid="34" grpId="0"/>
      <p:bldP spid="35" grpId="0"/>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sz="3600" b="1" noProof="0" dirty="0">
                <a:ln>
                  <a:noFill/>
                </a:ln>
                <a:solidFill>
                  <a:sysClr val="windowText" lastClr="000000"/>
                </a:solidFill>
                <a:effectLst/>
                <a:uLnTx/>
                <a:uFillTx/>
                <a:latin typeface="Palatino Linotype" panose="02040502050505030304" charset="0"/>
                <a:cs typeface="Palatino Linotype" panose="02040502050505030304"/>
              </a:rPr>
              <a:t>Outline</a:t>
            </a:r>
            <a:endParaRPr lang="en-US" altLang="en-US" sz="3600" b="1" noProof="0" dirty="0">
              <a:ln>
                <a:noFill/>
              </a:ln>
              <a:solidFill>
                <a:sysClr val="windowText" lastClr="000000"/>
              </a:solidFill>
              <a:effectLst/>
              <a:uLnTx/>
              <a:uFillTx/>
              <a:latin typeface="Palatino Linotype" panose="02040502050505030304" charset="0"/>
              <a:cs typeface="Palatino Linotype" panose="02040502050505030304"/>
            </a:endParaRPr>
          </a:p>
        </p:txBody>
      </p:sp>
      <p:sp>
        <p:nvSpPr>
          <p:cNvPr id="4" name="内容占位符 3"/>
          <p:cNvSpPr>
            <a:spLocks noGrp="1"/>
          </p:cNvSpPr>
          <p:nvPr>
            <p:ph idx="1"/>
          </p:nvPr>
        </p:nvSpPr>
        <p:spPr/>
        <p:txBody>
          <a:bodyPr>
            <a:normAutofit fontScale="67500" lnSpcReduction="20000"/>
          </a:bodyPr>
          <a:lstStyle/>
          <a:p>
            <a:pPr marL="12700" algn="l" rtl="0" eaLnBrk="0">
              <a:lnSpc>
                <a:spcPct val="81000"/>
              </a:lnSpc>
              <a:spcBef>
                <a:spcPts val="730"/>
              </a:spcBef>
            </a:pPr>
            <a:r>
              <a:rPr lang="en-US" sz="3665" b="1" noProof="0" dirty="0">
                <a:ln>
                  <a:noFill/>
                </a:ln>
                <a:solidFill>
                  <a:schemeClr val="tx1">
                    <a:lumMod val="50000"/>
                    <a:lumOff val="50000"/>
                  </a:schemeClr>
                </a:solidFill>
                <a:effectLst/>
                <a:uLnTx/>
                <a:uFillTx/>
                <a:latin typeface="Palatino Linotype" panose="02040502050505030304" charset="0"/>
                <a:ea typeface="+mj-ea"/>
                <a:cs typeface="Palatino Linotype" panose="02040502050505030304"/>
                <a:sym typeface="+mn-ea"/>
              </a:rPr>
              <a:t>Syntax-Directed Definitions</a:t>
            </a: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effectLst/>
                <a:uLnTx/>
                <a:uFillTx/>
                <a:latin typeface="Palatino Linotype" panose="02040502050505030304" charset="0"/>
                <a:ea typeface="+mj-ea"/>
                <a:cs typeface="Palatino Linotype" panose="02040502050505030304"/>
                <a:sym typeface="+mn-ea"/>
              </a:rPr>
              <a:t>Evaluation Orders for SDD’s</a:t>
            </a: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tx1">
                  <a:lumMod val="50000"/>
                  <a:lumOff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tx1">
                    <a:lumMod val="50000"/>
                    <a:lumOff val="50000"/>
                  </a:schemeClr>
                </a:solidFill>
                <a:effectLst/>
                <a:uLnTx/>
                <a:uFillTx/>
                <a:latin typeface="Palatino Linotype" panose="02040502050505030304" charset="0"/>
                <a:ea typeface="+mj-ea"/>
                <a:cs typeface="Palatino Linotype" panose="02040502050505030304"/>
                <a:sym typeface="+mn-ea"/>
              </a:rPr>
              <a:t>Applications of Syntax-Directed Translation</a:t>
            </a:r>
          </a:p>
          <a:p>
            <a:pPr marL="12700" algn="l" rtl="0" eaLnBrk="0">
              <a:lnSpc>
                <a:spcPct val="81000"/>
              </a:lnSpc>
              <a:spcBef>
                <a:spcPts val="730"/>
              </a:spcBef>
            </a:pPr>
            <a:endParaRPr lang="en-US" sz="3665" b="1" noProof="0" dirty="0">
              <a:ln>
                <a:noFill/>
              </a:ln>
              <a:solidFill>
                <a:schemeClr val="tx1">
                  <a:lumMod val="50000"/>
                  <a:lumOff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tx1">
                  <a:lumMod val="50000"/>
                  <a:lumOff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tx1">
                    <a:lumMod val="50000"/>
                    <a:lumOff val="50000"/>
                  </a:schemeClr>
                </a:solidFill>
                <a:effectLst/>
                <a:uLnTx/>
                <a:uFillTx/>
                <a:latin typeface="Palatino Linotype" panose="02040502050505030304" charset="0"/>
                <a:ea typeface="+mj-ea"/>
                <a:cs typeface="Palatino Linotype" panose="02040502050505030304"/>
                <a:sym typeface="+mn-ea"/>
              </a:rPr>
              <a:t>Syntax-Directed Translation Schemes</a:t>
            </a:r>
          </a:p>
          <a:p>
            <a:pPr marL="12700" algn="l" rtl="0" eaLnBrk="0">
              <a:lnSpc>
                <a:spcPct val="81000"/>
              </a:lnSpc>
              <a:spcBef>
                <a:spcPts val="730"/>
              </a:spcBef>
            </a:pPr>
            <a:endParaRPr lang="en-US" sz="3665" b="1" noProof="0" dirty="0">
              <a:ln>
                <a:noFill/>
              </a:ln>
              <a:solidFill>
                <a:schemeClr val="tx1">
                  <a:lumMod val="50000"/>
                  <a:lumOff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tx1">
                  <a:lumMod val="50000"/>
                  <a:lumOff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tx1">
                    <a:lumMod val="50000"/>
                    <a:lumOff val="50000"/>
                  </a:schemeClr>
                </a:solidFill>
                <a:effectLst/>
                <a:uLnTx/>
                <a:uFillTx/>
                <a:latin typeface="Palatino Linotype" panose="02040502050505030304" charset="0"/>
                <a:ea typeface="+mj-ea"/>
                <a:cs typeface="Palatino Linotype" panose="02040502050505030304"/>
                <a:sym typeface="+mn-ea"/>
              </a:rPr>
              <a:t>Implementing L-Attributed SDD’s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14</a:t>
            </a:fld>
            <a:endParaRPr/>
          </a:p>
        </p:txBody>
      </p:sp>
    </p:spTree>
    <p:extLst>
      <p:ext uri="{BB962C8B-B14F-4D97-AF65-F5344CB8AC3E}">
        <p14:creationId xmlns:p14="http://schemas.microsoft.com/office/powerpoint/2010/main" val="3386423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5" name="图片 4">
            <a:extLst>
              <a:ext uri="{FF2B5EF4-FFF2-40B4-BE49-F238E27FC236}">
                <a16:creationId xmlns:a16="http://schemas.microsoft.com/office/drawing/2014/main" id="{850C5F52-AF2F-56CA-AC55-99D040ABFB99}"/>
              </a:ext>
            </a:extLst>
          </p:cNvPr>
          <p:cNvPicPr>
            <a:picLocks noChangeAspect="1"/>
          </p:cNvPicPr>
          <p:nvPr/>
        </p:nvPicPr>
        <p:blipFill>
          <a:blip r:embed="rId3"/>
          <a:stretch>
            <a:fillRect/>
          </a:stretch>
        </p:blipFill>
        <p:spPr>
          <a:xfrm>
            <a:off x="6115050" y="4784616"/>
            <a:ext cx="2767076" cy="1108279"/>
          </a:xfrm>
          <a:prstGeom prst="rect">
            <a:avLst/>
          </a:prstGeom>
        </p:spPr>
      </p:pic>
      <p:sp>
        <p:nvSpPr>
          <p:cNvPr id="3" name="标题 2"/>
          <p:cNvSpPr>
            <a:spLocks noGrp="1"/>
          </p:cNvSpPr>
          <p:nvPr>
            <p:ph type="title"/>
          </p:nvPr>
        </p:nvSpPr>
        <p:spPr/>
        <p:txBody>
          <a:bodyPr/>
          <a:lstStyle/>
          <a:p>
            <a:r>
              <a:rPr lang="en-US" sz="3600" b="1" dirty="0">
                <a:solidFill>
                  <a:srgbClr val="000000">
                    <a:alpha val="100000"/>
                  </a:srgbClr>
                </a:solidFill>
                <a:latin typeface="Palatino Linotype" panose="02040502050505030304" charset="0"/>
                <a:ea typeface="Palatino Linotype" panose="02040502050505030304"/>
                <a:cs typeface="Palatino Linotype" panose="02040502050505030304"/>
                <a:sym typeface="+mn-ea"/>
              </a:rPr>
              <a:t>Evaluation Orders for SDD’s</a:t>
            </a:r>
            <a:endParaRPr lang="zh-CN" altLang="en-US" sz="3600" dirty="0">
              <a:latin typeface="Palatino Linotype" panose="02040502050505030304" charset="0"/>
            </a:endParaRPr>
          </a:p>
        </p:txBody>
      </p:sp>
      <p:sp>
        <p:nvSpPr>
          <p:cNvPr id="4" name="内容占位符 3"/>
          <p:cNvSpPr>
            <a:spLocks noGrp="1"/>
          </p:cNvSpPr>
          <p:nvPr>
            <p:ph idx="1"/>
          </p:nvPr>
        </p:nvSpPr>
        <p:spPr>
          <a:xfrm>
            <a:off x="611505" y="1556385"/>
            <a:ext cx="7886700" cy="4351338"/>
          </a:xfrm>
        </p:spPr>
        <p:txBody>
          <a:bodyPr>
            <a:normAutofit/>
          </a:bodyPr>
          <a:lstStyle/>
          <a:p>
            <a:r>
              <a:rPr lang="en-US" altLang="zh-CN" sz="2000" dirty="0">
                <a:solidFill>
                  <a:srgbClr val="000000"/>
                </a:solidFill>
                <a:effectLst/>
                <a:latin typeface="Palatino Linotype" panose="02040502050505030304" pitchFamily="18" charset="0"/>
              </a:rPr>
              <a:t>Given parse tree nodes </a:t>
            </a:r>
            <a:r>
              <a:rPr lang="en-US" altLang="zh-CN" sz="2000" dirty="0">
                <a:solidFill>
                  <a:srgbClr val="000000"/>
                </a:solidFill>
                <a:effectLst/>
                <a:latin typeface="Cambria Math" panose="02040503050406030204" pitchFamily="18" charset="0"/>
              </a:rPr>
              <a:t>N</a:t>
            </a:r>
            <a:r>
              <a:rPr lang="en-US" altLang="zh-CN" sz="2000" dirty="0">
                <a:solidFill>
                  <a:srgbClr val="000000"/>
                </a:solidFill>
                <a:latin typeface="Cambria Math" panose="02040503050406030204" pitchFamily="18" charset="0"/>
              </a:rPr>
              <a:t>,M</a:t>
            </a:r>
            <a:r>
              <a:rPr lang="en-US" altLang="zh-CN" sz="2000" baseline="-25000" dirty="0">
                <a:solidFill>
                  <a:srgbClr val="000000"/>
                </a:solidFill>
                <a:latin typeface="Cambria Math" panose="02040503050406030204" pitchFamily="18" charset="0"/>
              </a:rPr>
              <a:t>1</a:t>
            </a:r>
            <a:r>
              <a:rPr lang="en-US" altLang="zh-CN" sz="2000" dirty="0">
                <a:solidFill>
                  <a:srgbClr val="000000"/>
                </a:solidFill>
                <a:latin typeface="Cambria Math" panose="02040503050406030204" pitchFamily="18" charset="0"/>
              </a:rPr>
              <a:t>,M</a:t>
            </a:r>
            <a:r>
              <a:rPr lang="en-US" altLang="zh-CN" sz="2000" baseline="-25000" dirty="0">
                <a:solidFill>
                  <a:srgbClr val="000000"/>
                </a:solidFill>
                <a:latin typeface="Cambria Math" panose="02040503050406030204" pitchFamily="18" charset="0"/>
              </a:rPr>
              <a:t>2</a:t>
            </a:r>
            <a:r>
              <a:rPr lang="en-US" altLang="zh-CN" sz="2000" dirty="0">
                <a:solidFill>
                  <a:srgbClr val="000000"/>
                </a:solidFill>
                <a:latin typeface="Cambria Math" panose="02040503050406030204" pitchFamily="18" charset="0"/>
              </a:rPr>
              <a:t>,M</a:t>
            </a:r>
            <a:r>
              <a:rPr lang="en-US" altLang="zh-CN" sz="2000" baseline="-25000" dirty="0">
                <a:solidFill>
                  <a:srgbClr val="000000"/>
                </a:solidFill>
                <a:latin typeface="Cambria Math" panose="02040503050406030204" pitchFamily="18" charset="0"/>
              </a:rPr>
              <a:t>3</a:t>
            </a:r>
            <a:r>
              <a:rPr lang="en-US" altLang="zh-CN" sz="2000" dirty="0">
                <a:solidFill>
                  <a:srgbClr val="000000"/>
                </a:solidFill>
                <a:latin typeface="Cambria Math" panose="02040503050406030204" pitchFamily="18" charset="0"/>
              </a:rPr>
              <a:t>,…,M</a:t>
            </a:r>
            <a:r>
              <a:rPr lang="en-US" altLang="zh-CN" sz="2000" baseline="-25000" dirty="0">
                <a:solidFill>
                  <a:srgbClr val="000000"/>
                </a:solidFill>
                <a:latin typeface="Cambria Math" panose="02040503050406030204" pitchFamily="18" charset="0"/>
              </a:rPr>
              <a:t>k</a:t>
            </a:r>
            <a:r>
              <a:rPr lang="en-US" altLang="zh-CN" sz="2000" dirty="0">
                <a:solidFill>
                  <a:srgbClr val="000000"/>
                </a:solidFill>
                <a:effectLst/>
                <a:latin typeface="Palatino Linotype" panose="02040502050505030304" pitchFamily="18" charset="0"/>
              </a:rPr>
              <a:t>, if the attribute </a:t>
            </a:r>
            <a:r>
              <a:rPr lang="en-US" altLang="zh-CN" sz="2000" dirty="0">
                <a:solidFill>
                  <a:srgbClr val="000000"/>
                </a:solidFill>
                <a:effectLst/>
                <a:latin typeface="Cambria Math" panose="02040503050406030204" pitchFamily="18" charset="0"/>
              </a:rPr>
              <a:t>a </a:t>
            </a:r>
            <a:r>
              <a:rPr lang="en-US" altLang="zh-CN" sz="2000" dirty="0">
                <a:solidFill>
                  <a:srgbClr val="000000"/>
                </a:solidFill>
                <a:effectLst/>
                <a:latin typeface="Palatino Linotype" panose="02040502050505030304" pitchFamily="18" charset="0"/>
              </a:rPr>
              <a:t>of </a:t>
            </a:r>
            <a:r>
              <a:rPr lang="en-US" altLang="zh-CN" sz="2000" dirty="0">
                <a:solidFill>
                  <a:srgbClr val="000000"/>
                </a:solidFill>
                <a:effectLst/>
                <a:latin typeface="Cambria Math" panose="02040503050406030204" pitchFamily="18" charset="0"/>
              </a:rPr>
              <a:t>N </a:t>
            </a:r>
            <a:r>
              <a:rPr lang="en-US" altLang="zh-CN" sz="2000" dirty="0">
                <a:solidFill>
                  <a:srgbClr val="000000"/>
                </a:solidFill>
                <a:effectLst/>
                <a:latin typeface="Palatino Linotype" panose="02040502050505030304" pitchFamily="18" charset="0"/>
              </a:rPr>
              <a:t>is defined as </a:t>
            </a:r>
            <a:r>
              <a:rPr lang="en-US" altLang="zh-CN" sz="2000" dirty="0" err="1">
                <a:solidFill>
                  <a:srgbClr val="FF0000"/>
                </a:solidFill>
                <a:effectLst/>
                <a:latin typeface="Cambria Math" panose="02040503050406030204" pitchFamily="18" charset="0"/>
              </a:rPr>
              <a:t>N.a</a:t>
            </a:r>
            <a:r>
              <a:rPr lang="en-US" altLang="zh-CN" sz="2000" dirty="0">
                <a:solidFill>
                  <a:srgbClr val="FF0000"/>
                </a:solidFill>
                <a:effectLst/>
                <a:latin typeface="Cambria Math" panose="02040503050406030204" pitchFamily="18" charset="0"/>
              </a:rPr>
              <a:t> = f(M</a:t>
            </a:r>
            <a:r>
              <a:rPr lang="en-US" altLang="zh-CN" sz="2000" baseline="-25000" dirty="0">
                <a:solidFill>
                  <a:srgbClr val="FF0000"/>
                </a:solidFill>
                <a:effectLst/>
                <a:latin typeface="Cambria Math" panose="02040503050406030204" pitchFamily="18" charset="0"/>
              </a:rPr>
              <a:t>1</a:t>
            </a:r>
            <a:r>
              <a:rPr lang="en-US" altLang="zh-CN" sz="2000" dirty="0">
                <a:solidFill>
                  <a:srgbClr val="FF0000"/>
                </a:solidFill>
                <a:effectLst/>
                <a:latin typeface="Cambria Math" panose="02040503050406030204" pitchFamily="18" charset="0"/>
              </a:rPr>
              <a:t>,a</a:t>
            </a:r>
            <a:r>
              <a:rPr lang="en-US" altLang="zh-CN" sz="2000" baseline="-25000" dirty="0">
                <a:solidFill>
                  <a:srgbClr val="FF0000"/>
                </a:solidFill>
                <a:effectLst/>
                <a:latin typeface="Cambria Math" panose="02040503050406030204" pitchFamily="18" charset="0"/>
              </a:rPr>
              <a:t>1</a:t>
            </a:r>
            <a:r>
              <a:rPr lang="en-US" altLang="zh-CN" sz="2000" dirty="0">
                <a:solidFill>
                  <a:srgbClr val="FF0000"/>
                </a:solidFill>
                <a:effectLst/>
                <a:latin typeface="Cambria Math" panose="02040503050406030204" pitchFamily="18" charset="0"/>
              </a:rPr>
              <a:t>,M</a:t>
            </a:r>
            <a:r>
              <a:rPr lang="en-US" altLang="zh-CN" sz="2000" baseline="-25000" dirty="0">
                <a:solidFill>
                  <a:srgbClr val="FF0000"/>
                </a:solidFill>
                <a:effectLst/>
                <a:latin typeface="Cambria Math" panose="02040503050406030204" pitchFamily="18" charset="0"/>
              </a:rPr>
              <a:t>2</a:t>
            </a:r>
            <a:r>
              <a:rPr lang="en-US" altLang="zh-CN" sz="2000" dirty="0">
                <a:solidFill>
                  <a:srgbClr val="FF0000"/>
                </a:solidFill>
                <a:effectLst/>
                <a:latin typeface="Cambria Math" panose="02040503050406030204" pitchFamily="18" charset="0"/>
              </a:rPr>
              <a:t>,a</a:t>
            </a:r>
            <a:r>
              <a:rPr lang="en-US" altLang="zh-CN" sz="2000" baseline="-25000" dirty="0">
                <a:solidFill>
                  <a:srgbClr val="FF0000"/>
                </a:solidFill>
                <a:effectLst/>
                <a:latin typeface="Cambria Math" panose="02040503050406030204" pitchFamily="18" charset="0"/>
              </a:rPr>
              <a:t>2</a:t>
            </a:r>
            <a:r>
              <a:rPr lang="en-US" altLang="zh-CN" sz="2000" dirty="0">
                <a:solidFill>
                  <a:srgbClr val="FF0000"/>
                </a:solidFill>
                <a:effectLst/>
                <a:latin typeface="Cambria Math" panose="02040503050406030204" pitchFamily="18" charset="0"/>
              </a:rPr>
              <a:t>,…,</a:t>
            </a:r>
            <a:r>
              <a:rPr lang="en-US" altLang="zh-CN" sz="2000" dirty="0" err="1">
                <a:solidFill>
                  <a:srgbClr val="FF0000"/>
                </a:solidFill>
                <a:effectLst/>
                <a:latin typeface="Cambria Math" panose="02040503050406030204" pitchFamily="18" charset="0"/>
              </a:rPr>
              <a:t>M</a:t>
            </a:r>
            <a:r>
              <a:rPr lang="en-US" altLang="zh-CN" sz="2000" baseline="-25000" dirty="0" err="1">
                <a:solidFill>
                  <a:srgbClr val="FF0000"/>
                </a:solidFill>
                <a:effectLst/>
                <a:latin typeface="Cambria Math" panose="02040503050406030204" pitchFamily="18" charset="0"/>
              </a:rPr>
              <a:t>k</a:t>
            </a:r>
            <a:r>
              <a:rPr lang="en-US" altLang="zh-CN" sz="2000" dirty="0" err="1">
                <a:solidFill>
                  <a:srgbClr val="FF0000"/>
                </a:solidFill>
                <a:effectLst/>
                <a:latin typeface="Cambria Math" panose="02040503050406030204" pitchFamily="18" charset="0"/>
              </a:rPr>
              <a:t>,a</a:t>
            </a:r>
            <a:r>
              <a:rPr lang="en-US" altLang="zh-CN" sz="2000" baseline="-25000" dirty="0" err="1">
                <a:solidFill>
                  <a:srgbClr val="FF0000"/>
                </a:solidFill>
                <a:effectLst/>
                <a:latin typeface="Cambria Math" panose="02040503050406030204" pitchFamily="18" charset="0"/>
              </a:rPr>
              <a:t>k</a:t>
            </a:r>
            <a:r>
              <a:rPr lang="en-US" altLang="zh-CN" sz="2000" dirty="0">
                <a:solidFill>
                  <a:srgbClr val="FF0000"/>
                </a:solidFill>
                <a:effectLst/>
                <a:latin typeface="Cambria Math" panose="02040503050406030204" pitchFamily="18" charset="0"/>
              </a:rPr>
              <a:t>)</a:t>
            </a:r>
            <a:r>
              <a:rPr lang="en-US" altLang="zh-CN" sz="2000" dirty="0">
                <a:solidFill>
                  <a:srgbClr val="000000"/>
                </a:solidFill>
                <a:effectLst/>
                <a:latin typeface="Palatino Linotype" panose="02040502050505030304" pitchFamily="18" charset="0"/>
              </a:rPr>
              <a:t>then in order to compute </a:t>
            </a:r>
            <a:r>
              <a:rPr lang="en-US" altLang="zh-CN" sz="2000" dirty="0" err="1">
                <a:solidFill>
                  <a:srgbClr val="000000"/>
                </a:solidFill>
                <a:effectLst/>
                <a:latin typeface="Cambria Math" panose="02040503050406030204" pitchFamily="18" charset="0"/>
              </a:rPr>
              <a:t>N.a</a:t>
            </a:r>
            <a:r>
              <a:rPr lang="en-US" altLang="zh-CN" sz="2000" dirty="0">
                <a:solidFill>
                  <a:srgbClr val="000000"/>
                </a:solidFill>
                <a:effectLst/>
                <a:latin typeface="Palatino Linotype" panose="02040502050505030304" pitchFamily="18" charset="0"/>
              </a:rPr>
              <a:t>, we must first compute </a:t>
            </a:r>
            <a:r>
              <a:rPr lang="en-US" altLang="zh-CN" sz="2000" dirty="0">
                <a:solidFill>
                  <a:srgbClr val="000000"/>
                </a:solidFill>
                <a:effectLst/>
                <a:latin typeface="Cambria Math" panose="02040503050406030204" pitchFamily="18" charset="0"/>
              </a:rPr>
              <a:t>M</a:t>
            </a:r>
            <a:r>
              <a:rPr lang="en-US" altLang="zh-CN" sz="2000" baseline="-25000" dirty="0">
                <a:solidFill>
                  <a:srgbClr val="000000"/>
                </a:solidFill>
                <a:effectLst/>
                <a:latin typeface="Cambria Math" panose="02040503050406030204" pitchFamily="18" charset="0"/>
              </a:rPr>
              <a:t>1</a:t>
            </a:r>
            <a:r>
              <a:rPr lang="en-US" altLang="zh-CN" sz="2000" dirty="0">
                <a:solidFill>
                  <a:srgbClr val="000000"/>
                </a:solidFill>
                <a:effectLst/>
                <a:latin typeface="Cambria Math" panose="02040503050406030204" pitchFamily="18" charset="0"/>
              </a:rPr>
              <a:t>. </a:t>
            </a:r>
            <a:r>
              <a:rPr lang="en-US" altLang="zh-CN" sz="2000" dirty="0">
                <a:solidFill>
                  <a:srgbClr val="000000"/>
                </a:solidFill>
                <a:latin typeface="Cambria Math" panose="02040503050406030204" pitchFamily="18" charset="0"/>
              </a:rPr>
              <a:t>a</a:t>
            </a:r>
            <a:r>
              <a:rPr lang="en-US" altLang="zh-CN" sz="2000" baseline="-25000" dirty="0">
                <a:solidFill>
                  <a:srgbClr val="000000"/>
                </a:solidFill>
                <a:effectLst/>
                <a:latin typeface="Cambria Math" panose="02040503050406030204" pitchFamily="18" charset="0"/>
              </a:rPr>
              <a:t>1</a:t>
            </a:r>
            <a:r>
              <a:rPr lang="en-US" altLang="zh-CN" sz="2000" dirty="0">
                <a:solidFill>
                  <a:srgbClr val="000000"/>
                </a:solidFill>
                <a:effectLst/>
                <a:latin typeface="Cambria Math" panose="02040503050406030204" pitchFamily="18" charset="0"/>
              </a:rPr>
              <a:t> (1 ≤ </a:t>
            </a:r>
            <a:r>
              <a:rPr lang="en-US" altLang="zh-CN" sz="2000" dirty="0" err="1">
                <a:solidFill>
                  <a:srgbClr val="000000"/>
                </a:solidFill>
                <a:effectLst/>
                <a:latin typeface="Cambria Math" panose="02040503050406030204" pitchFamily="18" charset="0"/>
              </a:rPr>
              <a:t>i</a:t>
            </a:r>
            <a:r>
              <a:rPr lang="en-US" altLang="zh-CN" sz="2000" dirty="0">
                <a:solidFill>
                  <a:srgbClr val="000000"/>
                </a:solidFill>
                <a:effectLst/>
                <a:latin typeface="Cambria Math" panose="02040503050406030204" pitchFamily="18" charset="0"/>
              </a:rPr>
              <a:t> ≤ k) </a:t>
            </a:r>
            <a:endParaRPr lang="en-US" altLang="zh-CN" sz="1400" dirty="0"/>
          </a:p>
          <a:p>
            <a:r>
              <a:rPr lang="en-US" altLang="zh-CN" sz="2000" i="1" dirty="0">
                <a:solidFill>
                  <a:srgbClr val="FF0000"/>
                </a:solidFill>
                <a:effectLst/>
                <a:latin typeface="PalatinoLinotype-Italic"/>
              </a:rPr>
              <a:t>Dependency graphs </a:t>
            </a:r>
            <a:r>
              <a:rPr lang="en-US" altLang="zh-CN" sz="2000" dirty="0">
                <a:solidFill>
                  <a:srgbClr val="FF0000"/>
                </a:solidFill>
                <a:effectLst/>
                <a:latin typeface="Palatino Linotype" panose="02040502050505030304" pitchFamily="18" charset="0"/>
              </a:rPr>
              <a:t>(</a:t>
            </a:r>
            <a:r>
              <a:rPr lang="zh-CN" altLang="en-US" sz="2000" dirty="0">
                <a:solidFill>
                  <a:srgbClr val="FF0000"/>
                </a:solidFill>
                <a:effectLst/>
                <a:latin typeface="宋体" panose="02010600030101010101" pitchFamily="2" charset="-122"/>
                <a:ea typeface="宋体" panose="02010600030101010101" pitchFamily="2" charset="-122"/>
              </a:rPr>
              <a:t>依赖图</a:t>
            </a:r>
            <a:r>
              <a:rPr lang="en-US" altLang="zh-CN" sz="2000" dirty="0">
                <a:solidFill>
                  <a:srgbClr val="FF0000"/>
                </a:solidFill>
                <a:effectLst/>
                <a:latin typeface="Palatino Linotype" panose="02040502050505030304" pitchFamily="18" charset="0"/>
              </a:rPr>
              <a:t>) </a:t>
            </a:r>
            <a:r>
              <a:rPr lang="en-US" altLang="zh-CN" sz="2000" dirty="0">
                <a:solidFill>
                  <a:srgbClr val="000000"/>
                </a:solidFill>
                <a:effectLst/>
                <a:latin typeface="Palatino Linotype" panose="02040502050505030304" pitchFamily="18" charset="0"/>
              </a:rPr>
              <a:t>are a useful tool for determining evaluation orders </a:t>
            </a:r>
            <a:endParaRPr lang="en-US" altLang="zh-CN" sz="1400" dirty="0"/>
          </a:p>
          <a:p>
            <a:pPr lvl="1"/>
            <a:r>
              <a:rPr lang="en-US" altLang="zh-CN" sz="1800" dirty="0">
                <a:solidFill>
                  <a:srgbClr val="000000"/>
                </a:solidFill>
                <a:effectLst/>
                <a:latin typeface="Palatino Linotype" panose="02040502050505030304" pitchFamily="18" charset="0"/>
              </a:rPr>
              <a:t>Depict the </a:t>
            </a:r>
            <a:r>
              <a:rPr lang="en-US" altLang="zh-CN" sz="1800" dirty="0">
                <a:solidFill>
                  <a:srgbClr val="0432FF"/>
                </a:solidFill>
                <a:effectLst/>
                <a:latin typeface="Palatino Linotype" panose="02040502050505030304" pitchFamily="18" charset="0"/>
              </a:rPr>
              <a:t>information flow </a:t>
            </a:r>
            <a:r>
              <a:rPr lang="en-US" altLang="zh-CN" sz="1800" dirty="0">
                <a:solidFill>
                  <a:srgbClr val="000000"/>
                </a:solidFill>
                <a:effectLst/>
                <a:latin typeface="Palatino Linotype" panose="02040502050505030304" pitchFamily="18" charset="0"/>
              </a:rPr>
              <a:t>among the attribute instances in </a:t>
            </a:r>
            <a:r>
              <a:rPr lang="en-US" altLang="zh-CN" sz="1800" dirty="0">
                <a:solidFill>
                  <a:srgbClr val="FF0000"/>
                </a:solidFill>
                <a:effectLst/>
                <a:latin typeface="Palatino Linotype" panose="02040502050505030304" pitchFamily="18" charset="0"/>
              </a:rPr>
              <a:t>a particular parse tree </a:t>
            </a:r>
            <a:endParaRPr lang="en-US" altLang="zh-CN" sz="1000" dirty="0"/>
          </a:p>
          <a:p>
            <a:pPr lvl="1"/>
            <a:r>
              <a:rPr lang="en-US" altLang="zh-CN" sz="1800" dirty="0">
                <a:solidFill>
                  <a:srgbClr val="000000"/>
                </a:solidFill>
                <a:effectLst/>
                <a:latin typeface="Palatino Linotype" panose="02040502050505030304" pitchFamily="18" charset="0"/>
              </a:rPr>
              <a:t>Model the </a:t>
            </a:r>
            <a:r>
              <a:rPr lang="en-US" altLang="zh-CN" sz="1800" dirty="0">
                <a:solidFill>
                  <a:srgbClr val="0432FF"/>
                </a:solidFill>
                <a:effectLst/>
                <a:latin typeface="Palatino Linotype" panose="02040502050505030304" pitchFamily="18" charset="0"/>
              </a:rPr>
              <a:t>partial order </a:t>
            </a:r>
            <a:r>
              <a:rPr lang="en-US" altLang="zh-CN" sz="1800" dirty="0">
                <a:solidFill>
                  <a:srgbClr val="000000"/>
                </a:solidFill>
                <a:effectLst/>
                <a:latin typeface="Palatino Linotype" panose="02040502050505030304" pitchFamily="18" charset="0"/>
              </a:rPr>
              <a:t>among attribute instances</a:t>
            </a:r>
            <a:endParaRPr lang="zh-CN" altLang="en-US" sz="1800" dirty="0">
              <a:latin typeface="Palatino Linotype" panose="02040502050505030304" charset="0"/>
              <a:cs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b="1" dirty="0">
                <a:latin typeface="Palatino Linotype" panose="02040502050505030304" charset="0"/>
              </a:rPr>
              <a:t>Dependency Graph</a:t>
            </a:r>
            <a:endParaRPr lang="zh-CN" altLang="en-US" sz="3600" b="1" dirty="0">
              <a:latin typeface="Palatino Linotype" panose="02040502050505030304" charset="0"/>
            </a:endParaRPr>
          </a:p>
        </p:txBody>
      </p:sp>
      <p:sp>
        <p:nvSpPr>
          <p:cNvPr id="4" name="内容占位符 3"/>
          <p:cNvSpPr>
            <a:spLocks noGrp="1"/>
          </p:cNvSpPr>
          <p:nvPr>
            <p:ph idx="1"/>
          </p:nvPr>
        </p:nvSpPr>
        <p:spPr>
          <a:xfrm>
            <a:off x="628650" y="1628775"/>
            <a:ext cx="7886700" cy="4351338"/>
          </a:xfrm>
        </p:spPr>
        <p:txBody>
          <a:bodyPr>
            <a:normAutofit fontScale="95000"/>
          </a:bodyPr>
          <a:lstStyle/>
          <a:p>
            <a:r>
              <a:rPr lang="en-US" altLang="zh-CN" sz="2000" dirty="0">
                <a:solidFill>
                  <a:srgbClr val="000000"/>
                </a:solidFill>
                <a:effectLst/>
                <a:latin typeface="Palatino Linotype" panose="02040502050505030304" pitchFamily="18" charset="0"/>
              </a:rPr>
              <a:t>An </a:t>
            </a:r>
            <a:r>
              <a:rPr lang="en-US" altLang="zh-CN" sz="2000" dirty="0">
                <a:solidFill>
                  <a:srgbClr val="0432FF"/>
                </a:solidFill>
                <a:effectLst/>
                <a:latin typeface="Palatino Linotype" panose="02040502050505030304" pitchFamily="18" charset="0"/>
              </a:rPr>
              <a:t>edge </a:t>
            </a:r>
            <a:r>
              <a:rPr lang="en-US" altLang="zh-CN" sz="2000" dirty="0">
                <a:solidFill>
                  <a:srgbClr val="000000"/>
                </a:solidFill>
                <a:effectLst/>
                <a:latin typeface="Palatino Linotype" panose="02040502050505030304" pitchFamily="18" charset="0"/>
              </a:rPr>
              <a:t>from one </a:t>
            </a:r>
            <a:r>
              <a:rPr lang="en-US" altLang="zh-CN" sz="2000" dirty="0">
                <a:solidFill>
                  <a:srgbClr val="0432FF"/>
                </a:solidFill>
                <a:effectLst/>
                <a:latin typeface="Palatino Linotype" panose="02040502050505030304" pitchFamily="18" charset="0"/>
              </a:rPr>
              <a:t>attribute instance </a:t>
            </a:r>
            <a:r>
              <a:rPr lang="en-US" altLang="zh-CN" sz="2000" dirty="0">
                <a:solidFill>
                  <a:srgbClr val="000000"/>
                </a:solidFill>
                <a:effectLst/>
                <a:latin typeface="Palatino Linotype" panose="02040502050505030304" pitchFamily="18" charset="0"/>
              </a:rPr>
              <a:t>(</a:t>
            </a:r>
            <a:r>
              <a:rPr lang="en-US" altLang="zh-CN" sz="2000" dirty="0">
                <a:solidFill>
                  <a:srgbClr val="000000"/>
                </a:solidFill>
                <a:effectLst/>
                <a:latin typeface="Cambria Math" panose="02040503050406030204" pitchFamily="18" charset="0"/>
              </a:rPr>
              <a:t>a</a:t>
            </a:r>
            <a:r>
              <a:rPr lang="en-US" altLang="zh-CN" sz="2000" baseline="-25000" dirty="0">
                <a:solidFill>
                  <a:srgbClr val="000000"/>
                </a:solidFill>
                <a:effectLst/>
                <a:latin typeface="Cambria Math" panose="02040503050406030204" pitchFamily="18" charset="0"/>
              </a:rPr>
              <a:t>1</a:t>
            </a:r>
            <a:r>
              <a:rPr lang="en-US" altLang="zh-CN" sz="2000" dirty="0">
                <a:solidFill>
                  <a:srgbClr val="000000"/>
                </a:solidFill>
                <a:effectLst/>
                <a:latin typeface="Palatino Linotype" panose="02040502050505030304" pitchFamily="18" charset="0"/>
              </a:rPr>
              <a:t>) to another (</a:t>
            </a:r>
            <a:r>
              <a:rPr lang="en-US" altLang="zh-CN" sz="2000" dirty="0">
                <a:solidFill>
                  <a:srgbClr val="000000"/>
                </a:solidFill>
                <a:effectLst/>
                <a:latin typeface="Cambria Math" panose="02040503050406030204" pitchFamily="18" charset="0"/>
              </a:rPr>
              <a:t>a</a:t>
            </a:r>
            <a:r>
              <a:rPr lang="en-US" altLang="zh-CN" sz="2000" baseline="-25000" dirty="0">
                <a:solidFill>
                  <a:srgbClr val="000000"/>
                </a:solidFill>
                <a:effectLst/>
                <a:latin typeface="Cambria Math" panose="02040503050406030204" pitchFamily="18" charset="0"/>
              </a:rPr>
              <a:t>2</a:t>
            </a:r>
            <a:r>
              <a:rPr lang="en-US" altLang="zh-CN" sz="2000" dirty="0">
                <a:solidFill>
                  <a:srgbClr val="000000"/>
                </a:solidFill>
                <a:effectLst/>
                <a:latin typeface="Palatino Linotype" panose="02040502050505030304" pitchFamily="18" charset="0"/>
              </a:rPr>
              <a:t>) means that the value of </a:t>
            </a:r>
            <a:r>
              <a:rPr lang="en-US" altLang="zh-CN" sz="2000" dirty="0">
                <a:solidFill>
                  <a:srgbClr val="000000"/>
                </a:solidFill>
                <a:effectLst/>
                <a:latin typeface="Cambria Math" panose="02040503050406030204" pitchFamily="18" charset="0"/>
              </a:rPr>
              <a:t>a</a:t>
            </a:r>
            <a:r>
              <a:rPr lang="en-US" altLang="zh-CN" sz="2000" baseline="-25000" dirty="0">
                <a:solidFill>
                  <a:srgbClr val="000000"/>
                </a:solidFill>
                <a:effectLst/>
                <a:latin typeface="Cambria Math" panose="02040503050406030204" pitchFamily="18" charset="0"/>
              </a:rPr>
              <a:t>1</a:t>
            </a:r>
            <a:r>
              <a:rPr lang="en-US" altLang="zh-CN" sz="2000" dirty="0">
                <a:solidFill>
                  <a:srgbClr val="000000"/>
                </a:solidFill>
                <a:effectLst/>
                <a:latin typeface="Palatino Linotype" panose="02040502050505030304" pitchFamily="18" charset="0"/>
              </a:rPr>
              <a:t>is needed to compute the value of </a:t>
            </a:r>
            <a:r>
              <a:rPr lang="en-US" altLang="zh-CN" sz="2000" dirty="0">
                <a:solidFill>
                  <a:srgbClr val="000000"/>
                </a:solidFill>
                <a:effectLst/>
                <a:latin typeface="Cambria Math" panose="02040503050406030204" pitchFamily="18" charset="0"/>
              </a:rPr>
              <a:t>a</a:t>
            </a:r>
            <a:r>
              <a:rPr lang="en-US" altLang="zh-CN" sz="2000" baseline="-25000" dirty="0">
                <a:solidFill>
                  <a:srgbClr val="000000"/>
                </a:solidFill>
                <a:effectLst/>
                <a:latin typeface="Cambria Math" panose="02040503050406030204" pitchFamily="18" charset="0"/>
              </a:rPr>
              <a:t>2</a:t>
            </a:r>
            <a:r>
              <a:rPr lang="en-US" altLang="zh-CN" sz="2000" dirty="0">
                <a:solidFill>
                  <a:srgbClr val="000000"/>
                </a:solidFill>
                <a:effectLst/>
                <a:latin typeface="Cambria Math" panose="02040503050406030204" pitchFamily="18" charset="0"/>
              </a:rPr>
              <a:t> </a:t>
            </a:r>
            <a:endParaRPr lang="en-US" altLang="zh-CN" sz="2000" dirty="0"/>
          </a:p>
          <a:p>
            <a:r>
              <a:rPr lang="en-US" altLang="zh-CN" sz="2000" dirty="0">
                <a:solidFill>
                  <a:srgbClr val="000000"/>
                </a:solidFill>
                <a:effectLst/>
                <a:latin typeface="Palatino Linotype" panose="02040502050505030304" pitchFamily="18" charset="0"/>
              </a:rPr>
              <a:t>If there is any </a:t>
            </a:r>
            <a:r>
              <a:rPr lang="en-US" altLang="zh-CN" sz="2000" dirty="0">
                <a:solidFill>
                  <a:srgbClr val="0432FF"/>
                </a:solidFill>
                <a:effectLst/>
                <a:latin typeface="Palatino Linotype" panose="02040502050505030304" pitchFamily="18" charset="0"/>
              </a:rPr>
              <a:t>cycle </a:t>
            </a:r>
            <a:r>
              <a:rPr lang="en-US" altLang="zh-CN" sz="2000" dirty="0">
                <a:solidFill>
                  <a:srgbClr val="000000"/>
                </a:solidFill>
                <a:effectLst/>
                <a:latin typeface="Palatino Linotype" panose="02040502050505030304" pitchFamily="18" charset="0"/>
              </a:rPr>
              <a:t>in a dependency graph, we cannot find an order to compute the value of all attribute instances </a:t>
            </a:r>
            <a:endParaRPr sz="2000" dirty="0">
              <a:solidFill>
                <a:srgbClr val="FF0000"/>
              </a:solidFill>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16</a:t>
            </a:fld>
            <a:endParaRPr/>
          </a:p>
        </p:txBody>
      </p:sp>
      <p:pic>
        <p:nvPicPr>
          <p:cNvPr id="5" name="图片 4">
            <a:extLst>
              <a:ext uri="{FF2B5EF4-FFF2-40B4-BE49-F238E27FC236}">
                <a16:creationId xmlns:a16="http://schemas.microsoft.com/office/drawing/2014/main" id="{EE3459C2-C8B0-6A1A-288D-A866E3328048}"/>
              </a:ext>
            </a:extLst>
          </p:cNvPr>
          <p:cNvPicPr>
            <a:picLocks noChangeAspect="1"/>
          </p:cNvPicPr>
          <p:nvPr/>
        </p:nvPicPr>
        <p:blipFill>
          <a:blip r:embed="rId3"/>
          <a:stretch>
            <a:fillRect/>
          </a:stretch>
        </p:blipFill>
        <p:spPr>
          <a:xfrm>
            <a:off x="539552" y="3645025"/>
            <a:ext cx="4625549" cy="648072"/>
          </a:xfrm>
          <a:prstGeom prst="rect">
            <a:avLst/>
          </a:prstGeom>
        </p:spPr>
      </p:pic>
      <p:pic>
        <p:nvPicPr>
          <p:cNvPr id="7" name="图片 6">
            <a:extLst>
              <a:ext uri="{FF2B5EF4-FFF2-40B4-BE49-F238E27FC236}">
                <a16:creationId xmlns:a16="http://schemas.microsoft.com/office/drawing/2014/main" id="{251F7427-4E1A-3575-CA34-3EF54D6EFA31}"/>
              </a:ext>
            </a:extLst>
          </p:cNvPr>
          <p:cNvPicPr>
            <a:picLocks noChangeAspect="1"/>
          </p:cNvPicPr>
          <p:nvPr/>
        </p:nvPicPr>
        <p:blipFill>
          <a:blip r:embed="rId4"/>
          <a:stretch>
            <a:fillRect/>
          </a:stretch>
        </p:blipFill>
        <p:spPr>
          <a:xfrm>
            <a:off x="1115616" y="4437112"/>
            <a:ext cx="2911092" cy="1165961"/>
          </a:xfrm>
          <a:prstGeom prst="rect">
            <a:avLst/>
          </a:prstGeom>
        </p:spPr>
      </p:pic>
      <p:sp>
        <p:nvSpPr>
          <p:cNvPr id="9" name="文本框 8">
            <a:extLst>
              <a:ext uri="{FF2B5EF4-FFF2-40B4-BE49-F238E27FC236}">
                <a16:creationId xmlns:a16="http://schemas.microsoft.com/office/drawing/2014/main" id="{17F0D53A-1740-7D3B-9E1C-2584A7199D08}"/>
              </a:ext>
            </a:extLst>
          </p:cNvPr>
          <p:cNvSpPr txBox="1"/>
          <p:nvPr/>
        </p:nvSpPr>
        <p:spPr>
          <a:xfrm>
            <a:off x="400050" y="5747088"/>
            <a:ext cx="4171950" cy="646331"/>
          </a:xfrm>
          <a:prstGeom prst="rect">
            <a:avLst/>
          </a:prstGeom>
          <a:noFill/>
        </p:spPr>
        <p:txBody>
          <a:bodyPr wrap="square">
            <a:spAutoFit/>
          </a:bodyPr>
          <a:lstStyle/>
          <a:p>
            <a:r>
              <a:rPr lang="en-US" altLang="zh-CN" sz="1800" b="1" dirty="0">
                <a:solidFill>
                  <a:srgbClr val="000000"/>
                </a:solidFill>
                <a:effectLst/>
                <a:latin typeface="PalatinoLinotype-Bold"/>
              </a:rPr>
              <a:t>Dotted lines: </a:t>
            </a:r>
            <a:r>
              <a:rPr lang="en-US" altLang="zh-CN" sz="1800" dirty="0">
                <a:solidFill>
                  <a:srgbClr val="000000"/>
                </a:solidFill>
                <a:effectLst/>
                <a:latin typeface="Palatino Linotype" panose="02040502050505030304" pitchFamily="18" charset="0"/>
              </a:rPr>
              <a:t>parse tree edges </a:t>
            </a:r>
            <a:endParaRPr lang="en-US" altLang="zh-CN" dirty="0"/>
          </a:p>
          <a:p>
            <a:r>
              <a:rPr lang="en-US" altLang="zh-CN" sz="1800" b="1" dirty="0">
                <a:solidFill>
                  <a:srgbClr val="000000"/>
                </a:solidFill>
                <a:effectLst/>
                <a:latin typeface="PalatinoLinotype-Bold"/>
              </a:rPr>
              <a:t>Solid lines: </a:t>
            </a:r>
            <a:r>
              <a:rPr lang="en-US" altLang="zh-CN" sz="1800" dirty="0" err="1">
                <a:solidFill>
                  <a:srgbClr val="000000"/>
                </a:solidFill>
                <a:effectLst/>
                <a:latin typeface="Palatino Linotype" panose="02040502050505030304" pitchFamily="18" charset="0"/>
              </a:rPr>
              <a:t>depedency</a:t>
            </a:r>
            <a:r>
              <a:rPr lang="en-US" altLang="zh-CN" sz="1800" dirty="0">
                <a:solidFill>
                  <a:srgbClr val="000000"/>
                </a:solidFill>
                <a:effectLst/>
                <a:latin typeface="Palatino Linotype" panose="02040502050505030304" pitchFamily="18" charset="0"/>
              </a:rPr>
              <a:t> graph edges</a:t>
            </a:r>
            <a:endParaRPr lang="zh-CN" altLang="en-US" dirty="0"/>
          </a:p>
        </p:txBody>
      </p:sp>
      <p:pic>
        <p:nvPicPr>
          <p:cNvPr id="11" name="图片 10">
            <a:extLst>
              <a:ext uri="{FF2B5EF4-FFF2-40B4-BE49-F238E27FC236}">
                <a16:creationId xmlns:a16="http://schemas.microsoft.com/office/drawing/2014/main" id="{4120CE77-917E-589F-8146-D90E4479F69B}"/>
              </a:ext>
            </a:extLst>
          </p:cNvPr>
          <p:cNvPicPr>
            <a:picLocks noChangeAspect="1"/>
          </p:cNvPicPr>
          <p:nvPr/>
        </p:nvPicPr>
        <p:blipFill>
          <a:blip r:embed="rId5"/>
          <a:stretch>
            <a:fillRect/>
          </a:stretch>
        </p:blipFill>
        <p:spPr>
          <a:xfrm>
            <a:off x="5312283" y="3536463"/>
            <a:ext cx="3055885" cy="25224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3">
            <a:extLst>
              <a:ext uri="{FF2B5EF4-FFF2-40B4-BE49-F238E27FC236}">
                <a16:creationId xmlns:a16="http://schemas.microsoft.com/office/drawing/2014/main" id="{8DEBC434-23CC-401A-8BC9-F1ADE2B1C431}"/>
              </a:ext>
            </a:extLst>
          </p:cNvPr>
          <p:cNvSpPr txBox="1">
            <a:spLocks/>
          </p:cNvSpPr>
          <p:nvPr/>
        </p:nvSpPr>
        <p:spPr>
          <a:xfrm>
            <a:off x="283490" y="184848"/>
            <a:ext cx="7887600" cy="4352400"/>
          </a:xfrm>
          <a:prstGeom prst="rect">
            <a:avLst/>
          </a:prstGeom>
        </p:spPr>
        <p:txBody>
          <a:bodyPr/>
          <a:lst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a:lstStyle>
          <a:p>
            <a:pPr marL="0" indent="0">
              <a:buNone/>
            </a:pPr>
            <a:r>
              <a:rPr lang="en-US" altLang="zh-CN" sz="3600" b="1" dirty="0">
                <a:latin typeface="Palatino Linotype" panose="02040502050505030304" charset="0"/>
              </a:rPr>
              <a:t>Example1: Parsing  </a:t>
            </a:r>
            <a:r>
              <a:rPr lang="en-US" altLang="zh-CN" sz="3600" b="1" dirty="0">
                <a:latin typeface="Plantagenet Cherokee" panose="02020602070100000000" pitchFamily="18" charset="0"/>
              </a:rPr>
              <a:t>real  id</a:t>
            </a:r>
            <a:r>
              <a:rPr lang="en-US" altLang="zh-CN" sz="3600" b="1" baseline="-30000" dirty="0">
                <a:latin typeface="Plantagenet Cherokee" panose="02020602070100000000" pitchFamily="18" charset="0"/>
              </a:rPr>
              <a:t>1</a:t>
            </a:r>
            <a:r>
              <a:rPr lang="en-US" altLang="zh-CN" sz="3600" b="1" dirty="0">
                <a:latin typeface="Plantagenet Cherokee" panose="02020602070100000000" pitchFamily="18" charset="0"/>
              </a:rPr>
              <a:t>，id</a:t>
            </a:r>
            <a:r>
              <a:rPr lang="en-US" altLang="zh-CN" sz="3600" b="1" baseline="-30000" dirty="0">
                <a:latin typeface="Plantagenet Cherokee" panose="02020602070100000000" pitchFamily="18" charset="0"/>
              </a:rPr>
              <a:t>2</a:t>
            </a:r>
            <a:r>
              <a:rPr lang="en-US" altLang="zh-CN" sz="3600" b="1" dirty="0">
                <a:latin typeface="Plantagenet Cherokee" panose="02020602070100000000" pitchFamily="18" charset="0"/>
              </a:rPr>
              <a:t>，id</a:t>
            </a:r>
            <a:r>
              <a:rPr lang="en-US" altLang="zh-CN" sz="3600" b="1" baseline="-30000" dirty="0">
                <a:latin typeface="Plantagenet Cherokee" panose="02020602070100000000" pitchFamily="18" charset="0"/>
              </a:rPr>
              <a:t>3</a:t>
            </a:r>
            <a:endParaRPr lang="zh-CN" altLang="en-US" sz="3600" b="1" dirty="0">
              <a:latin typeface="Plantagenet Cherokee" panose="02020602070100000000" pitchFamily="18" charset="0"/>
            </a:endParaRPr>
          </a:p>
        </p:txBody>
      </p:sp>
      <p:sp>
        <p:nvSpPr>
          <p:cNvPr id="4" name="Rectangle 3">
            <a:extLst>
              <a:ext uri="{FF2B5EF4-FFF2-40B4-BE49-F238E27FC236}">
                <a16:creationId xmlns:a16="http://schemas.microsoft.com/office/drawing/2014/main" id="{6DE85D06-B3F0-46AF-9033-46914D28FD8D}"/>
              </a:ext>
            </a:extLst>
          </p:cNvPr>
          <p:cNvSpPr>
            <a:spLocks noChangeArrowheads="1"/>
          </p:cNvSpPr>
          <p:nvPr/>
        </p:nvSpPr>
        <p:spPr bwMode="auto">
          <a:xfrm>
            <a:off x="4529199" y="5139341"/>
            <a:ext cx="54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000" dirty="0">
                <a:latin typeface="Plantagenet Cherokee" panose="02020602070100000000" pitchFamily="18" charset="0"/>
                <a:ea typeface="+mj-ea"/>
              </a:rPr>
              <a:t>id</a:t>
            </a:r>
            <a:r>
              <a:rPr lang="en-US" altLang="zh-CN" sz="2000" baseline="-25000" dirty="0">
                <a:latin typeface="Plantagenet Cherokee" panose="02020602070100000000" pitchFamily="18" charset="0"/>
                <a:ea typeface="+mj-ea"/>
              </a:rPr>
              <a:t>1</a:t>
            </a:r>
          </a:p>
        </p:txBody>
      </p:sp>
      <p:sp>
        <p:nvSpPr>
          <p:cNvPr id="5" name="Line 4">
            <a:extLst>
              <a:ext uri="{FF2B5EF4-FFF2-40B4-BE49-F238E27FC236}">
                <a16:creationId xmlns:a16="http://schemas.microsoft.com/office/drawing/2014/main" id="{FAC5DD29-6D36-4F58-9033-F79EE2D810FB}"/>
              </a:ext>
            </a:extLst>
          </p:cNvPr>
          <p:cNvSpPr>
            <a:spLocks noChangeShapeType="1"/>
          </p:cNvSpPr>
          <p:nvPr/>
        </p:nvSpPr>
        <p:spPr bwMode="auto">
          <a:xfrm>
            <a:off x="4748479" y="4868826"/>
            <a:ext cx="0" cy="228600"/>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6" name="Rectangle 5">
            <a:extLst>
              <a:ext uri="{FF2B5EF4-FFF2-40B4-BE49-F238E27FC236}">
                <a16:creationId xmlns:a16="http://schemas.microsoft.com/office/drawing/2014/main" id="{F2BFBEE1-B58B-4BD0-BA8D-A20B5AADD698}"/>
              </a:ext>
            </a:extLst>
          </p:cNvPr>
          <p:cNvSpPr>
            <a:spLocks noChangeArrowheads="1"/>
          </p:cNvSpPr>
          <p:nvPr/>
        </p:nvSpPr>
        <p:spPr bwMode="auto">
          <a:xfrm>
            <a:off x="4510513" y="4464863"/>
            <a:ext cx="54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latin typeface="Plantagenet Cherokee" panose="02020602070100000000" pitchFamily="18" charset="0"/>
                <a:ea typeface="+mj-ea"/>
              </a:rPr>
              <a:t>L</a:t>
            </a:r>
          </a:p>
        </p:txBody>
      </p:sp>
      <p:sp>
        <p:nvSpPr>
          <p:cNvPr id="7" name="Rectangle 6">
            <a:extLst>
              <a:ext uri="{FF2B5EF4-FFF2-40B4-BE49-F238E27FC236}">
                <a16:creationId xmlns:a16="http://schemas.microsoft.com/office/drawing/2014/main" id="{DA731D9B-C389-4763-9AE1-E96AD17B5B23}"/>
              </a:ext>
            </a:extLst>
          </p:cNvPr>
          <p:cNvSpPr>
            <a:spLocks noChangeArrowheads="1"/>
          </p:cNvSpPr>
          <p:nvPr/>
        </p:nvSpPr>
        <p:spPr bwMode="auto">
          <a:xfrm>
            <a:off x="6282269" y="4413824"/>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latin typeface="Plantagenet Cherokee" panose="02020602070100000000" pitchFamily="18" charset="0"/>
                <a:ea typeface="+mj-ea"/>
              </a:rPr>
              <a:t>,</a:t>
            </a:r>
          </a:p>
        </p:txBody>
      </p:sp>
      <p:sp>
        <p:nvSpPr>
          <p:cNvPr id="8" name="Rectangle 7">
            <a:extLst>
              <a:ext uri="{FF2B5EF4-FFF2-40B4-BE49-F238E27FC236}">
                <a16:creationId xmlns:a16="http://schemas.microsoft.com/office/drawing/2014/main" id="{2F614680-3367-4B3C-BD23-0BF35340E7E0}"/>
              </a:ext>
            </a:extLst>
          </p:cNvPr>
          <p:cNvSpPr>
            <a:spLocks noChangeArrowheads="1"/>
          </p:cNvSpPr>
          <p:nvPr/>
        </p:nvSpPr>
        <p:spPr bwMode="auto">
          <a:xfrm>
            <a:off x="6853141" y="4440201"/>
            <a:ext cx="54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000" dirty="0">
                <a:latin typeface="Plantagenet Cherokee" panose="02020602070100000000" pitchFamily="18" charset="0"/>
                <a:ea typeface="+mj-ea"/>
              </a:rPr>
              <a:t>id</a:t>
            </a:r>
            <a:r>
              <a:rPr lang="en-US" altLang="zh-CN" sz="2000" baseline="-25000" dirty="0">
                <a:latin typeface="Plantagenet Cherokee" panose="02020602070100000000" pitchFamily="18" charset="0"/>
                <a:ea typeface="+mj-ea"/>
              </a:rPr>
              <a:t>2</a:t>
            </a:r>
            <a:endParaRPr kumimoji="1" lang="en-US" altLang="zh-CN" sz="2000" dirty="0">
              <a:latin typeface="Plantagenet Cherokee" panose="02020602070100000000" pitchFamily="18" charset="0"/>
              <a:ea typeface="+mj-ea"/>
            </a:endParaRPr>
          </a:p>
        </p:txBody>
      </p:sp>
      <p:sp>
        <p:nvSpPr>
          <p:cNvPr id="9" name="Line 8">
            <a:extLst>
              <a:ext uri="{FF2B5EF4-FFF2-40B4-BE49-F238E27FC236}">
                <a16:creationId xmlns:a16="http://schemas.microsoft.com/office/drawing/2014/main" id="{E9190BB7-65AA-4420-9B6F-99F6B98C5ED6}"/>
              </a:ext>
            </a:extLst>
          </p:cNvPr>
          <p:cNvSpPr>
            <a:spLocks noChangeShapeType="1"/>
          </p:cNvSpPr>
          <p:nvPr/>
        </p:nvSpPr>
        <p:spPr bwMode="auto">
          <a:xfrm flipV="1">
            <a:off x="4805629" y="3954426"/>
            <a:ext cx="1143000" cy="571500"/>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10" name="Line 9">
            <a:extLst>
              <a:ext uri="{FF2B5EF4-FFF2-40B4-BE49-F238E27FC236}">
                <a16:creationId xmlns:a16="http://schemas.microsoft.com/office/drawing/2014/main" id="{BD3EC091-E4F7-4260-A382-6C6E7F1B3A6A}"/>
              </a:ext>
            </a:extLst>
          </p:cNvPr>
          <p:cNvSpPr>
            <a:spLocks noChangeShapeType="1"/>
          </p:cNvSpPr>
          <p:nvPr/>
        </p:nvSpPr>
        <p:spPr bwMode="auto">
          <a:xfrm flipH="1" flipV="1">
            <a:off x="6152115" y="3928684"/>
            <a:ext cx="295078" cy="597242"/>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11" name="Line 10">
            <a:extLst>
              <a:ext uri="{FF2B5EF4-FFF2-40B4-BE49-F238E27FC236}">
                <a16:creationId xmlns:a16="http://schemas.microsoft.com/office/drawing/2014/main" id="{8C3DBC75-C839-4EEA-927C-19EB01237DE2}"/>
              </a:ext>
            </a:extLst>
          </p:cNvPr>
          <p:cNvSpPr>
            <a:spLocks noChangeShapeType="1"/>
          </p:cNvSpPr>
          <p:nvPr/>
        </p:nvSpPr>
        <p:spPr bwMode="auto">
          <a:xfrm>
            <a:off x="6246305" y="3919258"/>
            <a:ext cx="861086" cy="541184"/>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12" name="Rectangle 11">
            <a:extLst>
              <a:ext uri="{FF2B5EF4-FFF2-40B4-BE49-F238E27FC236}">
                <a16:creationId xmlns:a16="http://schemas.microsoft.com/office/drawing/2014/main" id="{8994F3AC-9F12-4626-8FD6-E8E524C0D9D5}"/>
              </a:ext>
            </a:extLst>
          </p:cNvPr>
          <p:cNvSpPr>
            <a:spLocks noChangeArrowheads="1"/>
          </p:cNvSpPr>
          <p:nvPr/>
        </p:nvSpPr>
        <p:spPr bwMode="auto">
          <a:xfrm>
            <a:off x="5808655" y="3597239"/>
            <a:ext cx="54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latin typeface="Plantagenet Cherokee" panose="02020602070100000000" pitchFamily="18" charset="0"/>
                <a:ea typeface="+mj-ea"/>
              </a:rPr>
              <a:t>L</a:t>
            </a:r>
          </a:p>
        </p:txBody>
      </p:sp>
      <p:sp>
        <p:nvSpPr>
          <p:cNvPr id="13" name="Rectangle 12">
            <a:extLst>
              <a:ext uri="{FF2B5EF4-FFF2-40B4-BE49-F238E27FC236}">
                <a16:creationId xmlns:a16="http://schemas.microsoft.com/office/drawing/2014/main" id="{67F235C5-F8DF-420F-B2AC-36A6F4F02A4C}"/>
              </a:ext>
            </a:extLst>
          </p:cNvPr>
          <p:cNvSpPr>
            <a:spLocks noChangeArrowheads="1"/>
          </p:cNvSpPr>
          <p:nvPr/>
        </p:nvSpPr>
        <p:spPr bwMode="auto">
          <a:xfrm>
            <a:off x="7175067" y="3528634"/>
            <a:ext cx="68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a:latin typeface="Plantagenet Cherokee" panose="02020602070100000000" pitchFamily="18" charset="0"/>
                <a:ea typeface="+mj-ea"/>
              </a:rPr>
              <a:t>,</a:t>
            </a:r>
          </a:p>
        </p:txBody>
      </p:sp>
      <p:sp>
        <p:nvSpPr>
          <p:cNvPr id="14" name="Rectangle 13">
            <a:extLst>
              <a:ext uri="{FF2B5EF4-FFF2-40B4-BE49-F238E27FC236}">
                <a16:creationId xmlns:a16="http://schemas.microsoft.com/office/drawing/2014/main" id="{E8E4F390-EFD0-4074-A6F7-6C191C481B20}"/>
              </a:ext>
            </a:extLst>
          </p:cNvPr>
          <p:cNvSpPr>
            <a:spLocks noChangeArrowheads="1"/>
          </p:cNvSpPr>
          <p:nvPr/>
        </p:nvSpPr>
        <p:spPr bwMode="auto">
          <a:xfrm>
            <a:off x="7923748" y="3640101"/>
            <a:ext cx="54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000" dirty="0">
                <a:latin typeface="Plantagenet Cherokee" panose="02020602070100000000" pitchFamily="18" charset="0"/>
                <a:ea typeface="+mj-ea"/>
              </a:rPr>
              <a:t>id</a:t>
            </a:r>
            <a:r>
              <a:rPr lang="en-US" altLang="zh-CN" sz="2000" baseline="-25000" dirty="0">
                <a:latin typeface="Plantagenet Cherokee" panose="02020602070100000000" pitchFamily="18" charset="0"/>
                <a:ea typeface="+mj-ea"/>
              </a:rPr>
              <a:t>3</a:t>
            </a:r>
            <a:endParaRPr kumimoji="1" lang="en-US" altLang="zh-CN" sz="2000" dirty="0">
              <a:latin typeface="Plantagenet Cherokee" panose="02020602070100000000" pitchFamily="18" charset="0"/>
              <a:ea typeface="+mj-ea"/>
            </a:endParaRPr>
          </a:p>
        </p:txBody>
      </p:sp>
      <p:sp>
        <p:nvSpPr>
          <p:cNvPr id="15" name="Line 14">
            <a:extLst>
              <a:ext uri="{FF2B5EF4-FFF2-40B4-BE49-F238E27FC236}">
                <a16:creationId xmlns:a16="http://schemas.microsoft.com/office/drawing/2014/main" id="{E9A401A1-37B8-4D97-9436-E6954319182B}"/>
              </a:ext>
            </a:extLst>
          </p:cNvPr>
          <p:cNvSpPr>
            <a:spLocks noChangeShapeType="1"/>
          </p:cNvSpPr>
          <p:nvPr/>
        </p:nvSpPr>
        <p:spPr bwMode="auto">
          <a:xfrm flipH="1">
            <a:off x="6062929" y="2982876"/>
            <a:ext cx="1028700" cy="685800"/>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16" name="Line 15">
            <a:extLst>
              <a:ext uri="{FF2B5EF4-FFF2-40B4-BE49-F238E27FC236}">
                <a16:creationId xmlns:a16="http://schemas.microsoft.com/office/drawing/2014/main" id="{00B18F51-8198-4E12-A181-F34A7FEBF593}"/>
              </a:ext>
            </a:extLst>
          </p:cNvPr>
          <p:cNvSpPr>
            <a:spLocks noChangeShapeType="1"/>
          </p:cNvSpPr>
          <p:nvPr/>
        </p:nvSpPr>
        <p:spPr bwMode="auto">
          <a:xfrm flipH="1" flipV="1">
            <a:off x="7263079" y="2982876"/>
            <a:ext cx="228600" cy="641008"/>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17" name="Line 16">
            <a:extLst>
              <a:ext uri="{FF2B5EF4-FFF2-40B4-BE49-F238E27FC236}">
                <a16:creationId xmlns:a16="http://schemas.microsoft.com/office/drawing/2014/main" id="{C2056174-5AC9-4E31-844B-9CD91A50AF01}"/>
              </a:ext>
            </a:extLst>
          </p:cNvPr>
          <p:cNvSpPr>
            <a:spLocks noChangeShapeType="1"/>
          </p:cNvSpPr>
          <p:nvPr/>
        </p:nvSpPr>
        <p:spPr bwMode="auto">
          <a:xfrm>
            <a:off x="7377380" y="2982876"/>
            <a:ext cx="727189" cy="666750"/>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18" name="Rectangle 17">
            <a:extLst>
              <a:ext uri="{FF2B5EF4-FFF2-40B4-BE49-F238E27FC236}">
                <a16:creationId xmlns:a16="http://schemas.microsoft.com/office/drawing/2014/main" id="{C262BCC7-35FF-4EEB-A773-F6D452EBCE46}"/>
              </a:ext>
            </a:extLst>
          </p:cNvPr>
          <p:cNvSpPr>
            <a:spLocks noChangeArrowheads="1"/>
          </p:cNvSpPr>
          <p:nvPr/>
        </p:nvSpPr>
        <p:spPr bwMode="auto">
          <a:xfrm>
            <a:off x="6993997" y="2639976"/>
            <a:ext cx="54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latin typeface="Plantagenet Cherokee" panose="02020602070100000000" pitchFamily="18" charset="0"/>
                <a:ea typeface="+mj-ea"/>
              </a:rPr>
              <a:t>L</a:t>
            </a:r>
          </a:p>
        </p:txBody>
      </p:sp>
      <p:sp>
        <p:nvSpPr>
          <p:cNvPr id="19" name="Line 18">
            <a:extLst>
              <a:ext uri="{FF2B5EF4-FFF2-40B4-BE49-F238E27FC236}">
                <a16:creationId xmlns:a16="http://schemas.microsoft.com/office/drawing/2014/main" id="{C5A81332-B319-4C13-923A-5C275FC17917}"/>
              </a:ext>
            </a:extLst>
          </p:cNvPr>
          <p:cNvSpPr>
            <a:spLocks noChangeShapeType="1"/>
          </p:cNvSpPr>
          <p:nvPr/>
        </p:nvSpPr>
        <p:spPr bwMode="auto">
          <a:xfrm flipV="1">
            <a:off x="4805629" y="2239926"/>
            <a:ext cx="1143000" cy="457200"/>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20" name="Line 19">
            <a:extLst>
              <a:ext uri="{FF2B5EF4-FFF2-40B4-BE49-F238E27FC236}">
                <a16:creationId xmlns:a16="http://schemas.microsoft.com/office/drawing/2014/main" id="{78D89A1B-6475-4110-B9F9-1163423FB19D}"/>
              </a:ext>
            </a:extLst>
          </p:cNvPr>
          <p:cNvSpPr>
            <a:spLocks noChangeShapeType="1"/>
          </p:cNvSpPr>
          <p:nvPr/>
        </p:nvSpPr>
        <p:spPr bwMode="auto">
          <a:xfrm>
            <a:off x="6234379" y="2239926"/>
            <a:ext cx="971550" cy="457200"/>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21" name="Rectangle 20">
            <a:extLst>
              <a:ext uri="{FF2B5EF4-FFF2-40B4-BE49-F238E27FC236}">
                <a16:creationId xmlns:a16="http://schemas.microsoft.com/office/drawing/2014/main" id="{0BC58776-BFA3-4654-A009-5EA0822AB1BE}"/>
              </a:ext>
            </a:extLst>
          </p:cNvPr>
          <p:cNvSpPr>
            <a:spLocks noChangeArrowheads="1"/>
          </p:cNvSpPr>
          <p:nvPr/>
        </p:nvSpPr>
        <p:spPr bwMode="auto">
          <a:xfrm>
            <a:off x="4481416" y="3511514"/>
            <a:ext cx="54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a:latin typeface="Plantagenet Cherokee" panose="02020602070100000000" pitchFamily="18" charset="0"/>
                <a:ea typeface="+mj-ea"/>
              </a:rPr>
              <a:t>real</a:t>
            </a:r>
          </a:p>
        </p:txBody>
      </p:sp>
      <p:sp>
        <p:nvSpPr>
          <p:cNvPr id="22" name="Line 21">
            <a:extLst>
              <a:ext uri="{FF2B5EF4-FFF2-40B4-BE49-F238E27FC236}">
                <a16:creationId xmlns:a16="http://schemas.microsoft.com/office/drawing/2014/main" id="{31E1D761-60D0-4148-A47A-1666E171E2B9}"/>
              </a:ext>
            </a:extLst>
          </p:cNvPr>
          <p:cNvSpPr>
            <a:spLocks noChangeShapeType="1"/>
          </p:cNvSpPr>
          <p:nvPr/>
        </p:nvSpPr>
        <p:spPr bwMode="auto">
          <a:xfrm>
            <a:off x="4748479" y="3040026"/>
            <a:ext cx="0" cy="514350"/>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23" name="Rectangle 22">
            <a:extLst>
              <a:ext uri="{FF2B5EF4-FFF2-40B4-BE49-F238E27FC236}">
                <a16:creationId xmlns:a16="http://schemas.microsoft.com/office/drawing/2014/main" id="{A364E756-35DD-4C1B-83EC-78D073A26C65}"/>
              </a:ext>
            </a:extLst>
          </p:cNvPr>
          <p:cNvSpPr>
            <a:spLocks noChangeArrowheads="1"/>
          </p:cNvSpPr>
          <p:nvPr/>
        </p:nvSpPr>
        <p:spPr bwMode="auto">
          <a:xfrm>
            <a:off x="4519879" y="2639976"/>
            <a:ext cx="540000" cy="378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latin typeface="Plantagenet Cherokee" panose="02020602070100000000" pitchFamily="18" charset="0"/>
                <a:ea typeface="+mj-ea"/>
              </a:rPr>
              <a:t>T</a:t>
            </a:r>
          </a:p>
        </p:txBody>
      </p:sp>
      <p:sp>
        <p:nvSpPr>
          <p:cNvPr id="24" name="Rectangle 23">
            <a:extLst>
              <a:ext uri="{FF2B5EF4-FFF2-40B4-BE49-F238E27FC236}">
                <a16:creationId xmlns:a16="http://schemas.microsoft.com/office/drawing/2014/main" id="{A34A47FB-55A8-48C3-84D5-8A3972AB9D3B}"/>
              </a:ext>
            </a:extLst>
          </p:cNvPr>
          <p:cNvSpPr>
            <a:spLocks noChangeArrowheads="1"/>
          </p:cNvSpPr>
          <p:nvPr/>
        </p:nvSpPr>
        <p:spPr bwMode="auto">
          <a:xfrm>
            <a:off x="5811991" y="1866522"/>
            <a:ext cx="54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latin typeface="Plantagenet Cherokee" panose="02020602070100000000" pitchFamily="18" charset="0"/>
                <a:ea typeface="+mj-ea"/>
              </a:rPr>
              <a:t>D</a:t>
            </a:r>
          </a:p>
        </p:txBody>
      </p:sp>
      <p:sp>
        <p:nvSpPr>
          <p:cNvPr id="25" name="Rectangle 28">
            <a:extLst>
              <a:ext uri="{FF2B5EF4-FFF2-40B4-BE49-F238E27FC236}">
                <a16:creationId xmlns:a16="http://schemas.microsoft.com/office/drawing/2014/main" id="{9FF4C77F-FFE6-4CE9-A55D-F3593164E36C}"/>
              </a:ext>
            </a:extLst>
          </p:cNvPr>
          <p:cNvSpPr>
            <a:spLocks noChangeArrowheads="1"/>
          </p:cNvSpPr>
          <p:nvPr/>
        </p:nvSpPr>
        <p:spPr bwMode="auto">
          <a:xfrm>
            <a:off x="4770648" y="2626787"/>
            <a:ext cx="6286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④</a:t>
            </a:r>
          </a:p>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type</a:t>
            </a:r>
          </a:p>
        </p:txBody>
      </p:sp>
      <p:sp>
        <p:nvSpPr>
          <p:cNvPr id="26" name="Rectangle 29">
            <a:extLst>
              <a:ext uri="{FF2B5EF4-FFF2-40B4-BE49-F238E27FC236}">
                <a16:creationId xmlns:a16="http://schemas.microsoft.com/office/drawing/2014/main" id="{D0F63683-7F73-4009-9E6D-2001332E52F6}"/>
              </a:ext>
            </a:extLst>
          </p:cNvPr>
          <p:cNvSpPr>
            <a:spLocks noChangeArrowheads="1"/>
          </p:cNvSpPr>
          <p:nvPr/>
        </p:nvSpPr>
        <p:spPr bwMode="auto">
          <a:xfrm>
            <a:off x="6407463" y="2696931"/>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solidFill>
                  <a:srgbClr val="339966"/>
                </a:solidFill>
                <a:latin typeface="Plantagenet Cherokee" panose="02020602070100000000" pitchFamily="18" charset="0"/>
                <a:ea typeface="+mj-ea"/>
              </a:rPr>
              <a:t>⑤</a:t>
            </a:r>
          </a:p>
          <a:p>
            <a:pPr algn="ctr" eaLnBrk="1" hangingPunct="1">
              <a:spcBef>
                <a:spcPct val="0"/>
              </a:spcBef>
              <a:buClrTx/>
              <a:buSzTx/>
              <a:buFontTx/>
              <a:buNone/>
            </a:pPr>
            <a:r>
              <a:rPr kumimoji="1" lang="en-US" altLang="zh-CN" sz="2000" dirty="0">
                <a:solidFill>
                  <a:srgbClr val="339966"/>
                </a:solidFill>
                <a:latin typeface="Plantagenet Cherokee" panose="02020602070100000000" pitchFamily="18" charset="0"/>
                <a:ea typeface="+mj-ea"/>
              </a:rPr>
              <a:t>in</a:t>
            </a:r>
          </a:p>
        </p:txBody>
      </p:sp>
      <p:sp>
        <p:nvSpPr>
          <p:cNvPr id="27" name="Rectangle 30">
            <a:extLst>
              <a:ext uri="{FF2B5EF4-FFF2-40B4-BE49-F238E27FC236}">
                <a16:creationId xmlns:a16="http://schemas.microsoft.com/office/drawing/2014/main" id="{C795C0F3-0452-4F22-ADA2-A57B793F2DA9}"/>
              </a:ext>
            </a:extLst>
          </p:cNvPr>
          <p:cNvSpPr>
            <a:spLocks noChangeArrowheads="1"/>
          </p:cNvSpPr>
          <p:nvPr/>
        </p:nvSpPr>
        <p:spPr bwMode="auto">
          <a:xfrm>
            <a:off x="7336897" y="2649501"/>
            <a:ext cx="1549029"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⑦ </a:t>
            </a:r>
            <a:r>
              <a:rPr kumimoji="1" lang="en-US" altLang="zh-CN" sz="2000" dirty="0" err="1">
                <a:solidFill>
                  <a:srgbClr val="0070C0"/>
                </a:solidFill>
                <a:latin typeface="Plantagenet Cherokee" panose="02020602070100000000" pitchFamily="18" charset="0"/>
                <a:ea typeface="+mj-ea"/>
              </a:rPr>
              <a:t>addtype</a:t>
            </a:r>
            <a:endParaRPr kumimoji="1" lang="en-US" altLang="zh-CN" sz="2000" dirty="0">
              <a:solidFill>
                <a:srgbClr val="0070C0"/>
              </a:solidFill>
              <a:latin typeface="Plantagenet Cherokee" panose="02020602070100000000" pitchFamily="18" charset="0"/>
              <a:ea typeface="+mj-ea"/>
            </a:endParaRPr>
          </a:p>
        </p:txBody>
      </p:sp>
      <p:sp>
        <p:nvSpPr>
          <p:cNvPr id="28" name="Rectangle 31">
            <a:extLst>
              <a:ext uri="{FF2B5EF4-FFF2-40B4-BE49-F238E27FC236}">
                <a16:creationId xmlns:a16="http://schemas.microsoft.com/office/drawing/2014/main" id="{B5986265-E88E-4BE8-87EC-90CEEBA38D37}"/>
              </a:ext>
            </a:extLst>
          </p:cNvPr>
          <p:cNvSpPr>
            <a:spLocks noChangeArrowheads="1"/>
          </p:cNvSpPr>
          <p:nvPr/>
        </p:nvSpPr>
        <p:spPr bwMode="auto">
          <a:xfrm>
            <a:off x="5262829" y="3668676"/>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solidFill>
                  <a:srgbClr val="339966"/>
                </a:solidFill>
                <a:latin typeface="Plantagenet Cherokee" panose="02020602070100000000" pitchFamily="18" charset="0"/>
                <a:ea typeface="+mj-ea"/>
              </a:rPr>
              <a:t>⑥</a:t>
            </a:r>
          </a:p>
          <a:p>
            <a:pPr algn="ctr" eaLnBrk="1" hangingPunct="1">
              <a:spcBef>
                <a:spcPct val="0"/>
              </a:spcBef>
              <a:buClrTx/>
              <a:buSzTx/>
              <a:buFontTx/>
              <a:buNone/>
            </a:pPr>
            <a:r>
              <a:rPr kumimoji="1" lang="en-US" altLang="zh-CN" sz="2000" dirty="0">
                <a:solidFill>
                  <a:srgbClr val="339966"/>
                </a:solidFill>
                <a:latin typeface="Plantagenet Cherokee" panose="02020602070100000000" pitchFamily="18" charset="0"/>
                <a:ea typeface="+mj-ea"/>
              </a:rPr>
              <a:t>in</a:t>
            </a:r>
          </a:p>
        </p:txBody>
      </p:sp>
      <p:sp>
        <p:nvSpPr>
          <p:cNvPr id="29" name="Rectangle 33">
            <a:extLst>
              <a:ext uri="{FF2B5EF4-FFF2-40B4-BE49-F238E27FC236}">
                <a16:creationId xmlns:a16="http://schemas.microsoft.com/office/drawing/2014/main" id="{64747606-8E93-4AE8-A42E-A032E6170FCC}"/>
              </a:ext>
            </a:extLst>
          </p:cNvPr>
          <p:cNvSpPr>
            <a:spLocks noChangeArrowheads="1"/>
          </p:cNvSpPr>
          <p:nvPr/>
        </p:nvSpPr>
        <p:spPr bwMode="auto">
          <a:xfrm>
            <a:off x="6329333" y="3639879"/>
            <a:ext cx="1152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⑨ </a:t>
            </a:r>
            <a:r>
              <a:rPr kumimoji="1" lang="en-US" altLang="zh-CN" sz="2000" dirty="0" err="1">
                <a:solidFill>
                  <a:srgbClr val="0070C0"/>
                </a:solidFill>
                <a:latin typeface="Plantagenet Cherokee" panose="02020602070100000000" pitchFamily="18" charset="0"/>
                <a:ea typeface="+mj-ea"/>
              </a:rPr>
              <a:t>addtype</a:t>
            </a:r>
            <a:endParaRPr kumimoji="1" lang="en-US" altLang="zh-CN" sz="2000" dirty="0">
              <a:solidFill>
                <a:srgbClr val="0070C0"/>
              </a:solidFill>
              <a:latin typeface="Plantagenet Cherokee" panose="02020602070100000000" pitchFamily="18" charset="0"/>
              <a:ea typeface="+mj-ea"/>
            </a:endParaRPr>
          </a:p>
        </p:txBody>
      </p:sp>
      <p:sp>
        <p:nvSpPr>
          <p:cNvPr id="30" name="Rectangle 34">
            <a:extLst>
              <a:ext uri="{FF2B5EF4-FFF2-40B4-BE49-F238E27FC236}">
                <a16:creationId xmlns:a16="http://schemas.microsoft.com/office/drawing/2014/main" id="{FE2E4408-DE9C-4314-9613-0C21AB17E082}"/>
              </a:ext>
            </a:extLst>
          </p:cNvPr>
          <p:cNvSpPr>
            <a:spLocks noChangeArrowheads="1"/>
          </p:cNvSpPr>
          <p:nvPr/>
        </p:nvSpPr>
        <p:spPr bwMode="auto">
          <a:xfrm>
            <a:off x="3992393" y="4525926"/>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solidFill>
                  <a:srgbClr val="339966"/>
                </a:solidFill>
                <a:latin typeface="Plantagenet Cherokee" panose="02020602070100000000" pitchFamily="18" charset="0"/>
                <a:ea typeface="+mj-ea"/>
              </a:rPr>
              <a:t>⑧</a:t>
            </a:r>
          </a:p>
          <a:p>
            <a:pPr algn="ctr" eaLnBrk="1" hangingPunct="1">
              <a:spcBef>
                <a:spcPct val="0"/>
              </a:spcBef>
              <a:buClrTx/>
              <a:buSzTx/>
              <a:buFontTx/>
              <a:buNone/>
            </a:pPr>
            <a:r>
              <a:rPr kumimoji="1" lang="en-US" altLang="zh-CN" sz="2000" dirty="0">
                <a:solidFill>
                  <a:srgbClr val="339966"/>
                </a:solidFill>
                <a:latin typeface="Plantagenet Cherokee" panose="02020602070100000000" pitchFamily="18" charset="0"/>
                <a:ea typeface="+mj-ea"/>
              </a:rPr>
              <a:t>in</a:t>
            </a:r>
          </a:p>
        </p:txBody>
      </p:sp>
      <p:sp>
        <p:nvSpPr>
          <p:cNvPr id="31" name="Rectangle 35">
            <a:extLst>
              <a:ext uri="{FF2B5EF4-FFF2-40B4-BE49-F238E27FC236}">
                <a16:creationId xmlns:a16="http://schemas.microsoft.com/office/drawing/2014/main" id="{0D44B1AD-0EB4-4791-A3C7-EE9E490570BE}"/>
              </a:ext>
            </a:extLst>
          </p:cNvPr>
          <p:cNvSpPr>
            <a:spLocks noChangeArrowheads="1"/>
          </p:cNvSpPr>
          <p:nvPr/>
        </p:nvSpPr>
        <p:spPr bwMode="auto">
          <a:xfrm>
            <a:off x="5303620" y="4476862"/>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⑩  </a:t>
            </a:r>
            <a:r>
              <a:rPr kumimoji="1" lang="en-US" altLang="zh-CN" sz="2000" dirty="0" err="1">
                <a:solidFill>
                  <a:srgbClr val="0070C0"/>
                </a:solidFill>
                <a:latin typeface="Plantagenet Cherokee" panose="02020602070100000000" pitchFamily="18" charset="0"/>
                <a:ea typeface="+mj-ea"/>
              </a:rPr>
              <a:t>addtype</a:t>
            </a:r>
            <a:endParaRPr kumimoji="1" lang="en-US" altLang="zh-CN" sz="2000" dirty="0">
              <a:solidFill>
                <a:srgbClr val="0070C0"/>
              </a:solidFill>
              <a:latin typeface="Plantagenet Cherokee" panose="02020602070100000000" pitchFamily="18" charset="0"/>
              <a:ea typeface="+mj-ea"/>
            </a:endParaRPr>
          </a:p>
        </p:txBody>
      </p:sp>
      <p:sp>
        <p:nvSpPr>
          <p:cNvPr id="32" name="Rectangle 36">
            <a:extLst>
              <a:ext uri="{FF2B5EF4-FFF2-40B4-BE49-F238E27FC236}">
                <a16:creationId xmlns:a16="http://schemas.microsoft.com/office/drawing/2014/main" id="{B11C4D1C-E2C4-4CC4-9FF1-3E7DD60876F5}"/>
              </a:ext>
            </a:extLst>
          </p:cNvPr>
          <p:cNvSpPr>
            <a:spLocks noChangeArrowheads="1"/>
          </p:cNvSpPr>
          <p:nvPr/>
        </p:nvSpPr>
        <p:spPr bwMode="auto">
          <a:xfrm>
            <a:off x="5070462" y="5097426"/>
            <a:ext cx="644259"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①</a:t>
            </a:r>
          </a:p>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entry</a:t>
            </a:r>
          </a:p>
        </p:txBody>
      </p:sp>
      <p:sp>
        <p:nvSpPr>
          <p:cNvPr id="33" name="Rectangle 37">
            <a:extLst>
              <a:ext uri="{FF2B5EF4-FFF2-40B4-BE49-F238E27FC236}">
                <a16:creationId xmlns:a16="http://schemas.microsoft.com/office/drawing/2014/main" id="{1E5DE0A8-5275-4757-90F4-E53F70789515}"/>
              </a:ext>
            </a:extLst>
          </p:cNvPr>
          <p:cNvSpPr>
            <a:spLocks noChangeArrowheads="1"/>
          </p:cNvSpPr>
          <p:nvPr/>
        </p:nvSpPr>
        <p:spPr bwMode="auto">
          <a:xfrm>
            <a:off x="7205929" y="4440351"/>
            <a:ext cx="6286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②</a:t>
            </a:r>
          </a:p>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entry</a:t>
            </a:r>
          </a:p>
        </p:txBody>
      </p:sp>
      <p:sp>
        <p:nvSpPr>
          <p:cNvPr id="34" name="Rectangle 38">
            <a:extLst>
              <a:ext uri="{FF2B5EF4-FFF2-40B4-BE49-F238E27FC236}">
                <a16:creationId xmlns:a16="http://schemas.microsoft.com/office/drawing/2014/main" id="{0FD0F3D8-CF62-4768-AA09-86BA6C867484}"/>
              </a:ext>
            </a:extLst>
          </p:cNvPr>
          <p:cNvSpPr>
            <a:spLocks noChangeArrowheads="1"/>
          </p:cNvSpPr>
          <p:nvPr/>
        </p:nvSpPr>
        <p:spPr bwMode="auto">
          <a:xfrm>
            <a:off x="8438098" y="3640101"/>
            <a:ext cx="6286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③</a:t>
            </a:r>
          </a:p>
          <a:p>
            <a:pPr algn="ctr" eaLnBrk="1" hangingPunct="1">
              <a:spcBef>
                <a:spcPct val="0"/>
              </a:spcBef>
              <a:buClrTx/>
              <a:buSzTx/>
              <a:buFontTx/>
              <a:buNone/>
            </a:pPr>
            <a:r>
              <a:rPr kumimoji="1" lang="en-US" altLang="zh-CN" sz="2000" dirty="0">
                <a:solidFill>
                  <a:srgbClr val="0070C0"/>
                </a:solidFill>
                <a:latin typeface="Plantagenet Cherokee" panose="02020602070100000000" pitchFamily="18" charset="0"/>
                <a:ea typeface="+mj-ea"/>
              </a:rPr>
              <a:t>entry</a:t>
            </a:r>
          </a:p>
        </p:txBody>
      </p:sp>
      <p:sp>
        <p:nvSpPr>
          <p:cNvPr id="35" name="Freeform 39">
            <a:extLst>
              <a:ext uri="{FF2B5EF4-FFF2-40B4-BE49-F238E27FC236}">
                <a16:creationId xmlns:a16="http://schemas.microsoft.com/office/drawing/2014/main" id="{2BCBB022-42EE-4769-9FF1-3A39BF2FC690}"/>
              </a:ext>
            </a:extLst>
          </p:cNvPr>
          <p:cNvSpPr>
            <a:spLocks/>
          </p:cNvSpPr>
          <p:nvPr/>
        </p:nvSpPr>
        <p:spPr bwMode="auto">
          <a:xfrm>
            <a:off x="5133697" y="2497102"/>
            <a:ext cx="1500733" cy="187472"/>
          </a:xfrm>
          <a:custGeom>
            <a:avLst/>
            <a:gdLst>
              <a:gd name="T0" fmla="*/ 0 w 1104"/>
              <a:gd name="T1" fmla="*/ 2147483646 h 168"/>
              <a:gd name="T2" fmla="*/ 2147483646 w 1104"/>
              <a:gd name="T3" fmla="*/ 2147483646 h 168"/>
              <a:gd name="T4" fmla="*/ 2147483646 w 1104"/>
              <a:gd name="T5" fmla="*/ 2147483646 h 168"/>
              <a:gd name="T6" fmla="*/ 2147483646 w 1104"/>
              <a:gd name="T7" fmla="*/ 2147483646 h 168"/>
              <a:gd name="T8" fmla="*/ 0 60000 65536"/>
              <a:gd name="T9" fmla="*/ 0 60000 65536"/>
              <a:gd name="T10" fmla="*/ 0 60000 65536"/>
              <a:gd name="T11" fmla="*/ 0 60000 65536"/>
              <a:gd name="T12" fmla="*/ 0 w 1104"/>
              <a:gd name="T13" fmla="*/ 0 h 168"/>
              <a:gd name="T14" fmla="*/ 1104 w 1104"/>
              <a:gd name="T15" fmla="*/ 168 h 168"/>
            </a:gdLst>
            <a:ahLst/>
            <a:cxnLst>
              <a:cxn ang="T8">
                <a:pos x="T0" y="T1"/>
              </a:cxn>
              <a:cxn ang="T9">
                <a:pos x="T2" y="T3"/>
              </a:cxn>
              <a:cxn ang="T10">
                <a:pos x="T4" y="T5"/>
              </a:cxn>
              <a:cxn ang="T11">
                <a:pos x="T6" y="T7"/>
              </a:cxn>
            </a:cxnLst>
            <a:rect l="T12" t="T13" r="T14" b="T15"/>
            <a:pathLst>
              <a:path w="1104" h="168">
                <a:moveTo>
                  <a:pt x="0" y="168"/>
                </a:moveTo>
                <a:cubicBezTo>
                  <a:pt x="136" y="108"/>
                  <a:pt x="272" y="48"/>
                  <a:pt x="384" y="24"/>
                </a:cubicBezTo>
                <a:cubicBezTo>
                  <a:pt x="496" y="0"/>
                  <a:pt x="552" y="0"/>
                  <a:pt x="672" y="24"/>
                </a:cubicBezTo>
                <a:cubicBezTo>
                  <a:pt x="792" y="48"/>
                  <a:pt x="948" y="108"/>
                  <a:pt x="1104" y="168"/>
                </a:cubicBezTo>
              </a:path>
            </a:pathLst>
          </a:custGeom>
          <a:noFill/>
          <a:ln w="28575" cap="flat" cmpd="sng">
            <a:solidFill>
              <a:srgbClr val="FF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latin typeface="Plantagenet Cherokee" panose="02020602070100000000" pitchFamily="18" charset="0"/>
              <a:ea typeface="+mj-ea"/>
            </a:endParaRPr>
          </a:p>
        </p:txBody>
      </p:sp>
      <p:sp>
        <p:nvSpPr>
          <p:cNvPr id="36" name="Freeform 41">
            <a:extLst>
              <a:ext uri="{FF2B5EF4-FFF2-40B4-BE49-F238E27FC236}">
                <a16:creationId xmlns:a16="http://schemas.microsoft.com/office/drawing/2014/main" id="{169F925E-6EB1-494C-9F1F-13299367099C}"/>
              </a:ext>
            </a:extLst>
          </p:cNvPr>
          <p:cNvSpPr>
            <a:spLocks/>
          </p:cNvSpPr>
          <p:nvPr/>
        </p:nvSpPr>
        <p:spPr bwMode="auto">
          <a:xfrm>
            <a:off x="6691579" y="2468526"/>
            <a:ext cx="971550" cy="228600"/>
          </a:xfrm>
          <a:custGeom>
            <a:avLst/>
            <a:gdLst>
              <a:gd name="T0" fmla="*/ 0 w 1104"/>
              <a:gd name="T1" fmla="*/ 2147483646 h 168"/>
              <a:gd name="T2" fmla="*/ 2147483646 w 1104"/>
              <a:gd name="T3" fmla="*/ 2147483646 h 168"/>
              <a:gd name="T4" fmla="*/ 2147483646 w 1104"/>
              <a:gd name="T5" fmla="*/ 2147483646 h 168"/>
              <a:gd name="T6" fmla="*/ 2147483646 w 1104"/>
              <a:gd name="T7" fmla="*/ 2147483646 h 168"/>
              <a:gd name="T8" fmla="*/ 0 60000 65536"/>
              <a:gd name="T9" fmla="*/ 0 60000 65536"/>
              <a:gd name="T10" fmla="*/ 0 60000 65536"/>
              <a:gd name="T11" fmla="*/ 0 60000 65536"/>
              <a:gd name="T12" fmla="*/ 0 w 1104"/>
              <a:gd name="T13" fmla="*/ 0 h 168"/>
              <a:gd name="T14" fmla="*/ 1104 w 1104"/>
              <a:gd name="T15" fmla="*/ 168 h 168"/>
            </a:gdLst>
            <a:ahLst/>
            <a:cxnLst>
              <a:cxn ang="T8">
                <a:pos x="T0" y="T1"/>
              </a:cxn>
              <a:cxn ang="T9">
                <a:pos x="T2" y="T3"/>
              </a:cxn>
              <a:cxn ang="T10">
                <a:pos x="T4" y="T5"/>
              </a:cxn>
              <a:cxn ang="T11">
                <a:pos x="T6" y="T7"/>
              </a:cxn>
            </a:cxnLst>
            <a:rect l="T12" t="T13" r="T14" b="T15"/>
            <a:pathLst>
              <a:path w="1104" h="168">
                <a:moveTo>
                  <a:pt x="0" y="168"/>
                </a:moveTo>
                <a:cubicBezTo>
                  <a:pt x="136" y="108"/>
                  <a:pt x="272" y="48"/>
                  <a:pt x="384" y="24"/>
                </a:cubicBezTo>
                <a:cubicBezTo>
                  <a:pt x="496" y="0"/>
                  <a:pt x="552" y="0"/>
                  <a:pt x="672" y="24"/>
                </a:cubicBezTo>
                <a:cubicBezTo>
                  <a:pt x="792" y="48"/>
                  <a:pt x="948" y="108"/>
                  <a:pt x="1104" y="168"/>
                </a:cubicBezTo>
              </a:path>
            </a:pathLst>
          </a:custGeom>
          <a:noFill/>
          <a:ln w="28575" cap="flat" cmpd="sng">
            <a:solidFill>
              <a:srgbClr val="FF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latin typeface="Plantagenet Cherokee" panose="02020602070100000000" pitchFamily="18" charset="0"/>
              <a:ea typeface="+mj-ea"/>
            </a:endParaRPr>
          </a:p>
        </p:txBody>
      </p:sp>
      <p:sp>
        <p:nvSpPr>
          <p:cNvPr id="37" name="Line 42">
            <a:extLst>
              <a:ext uri="{FF2B5EF4-FFF2-40B4-BE49-F238E27FC236}">
                <a16:creationId xmlns:a16="http://schemas.microsoft.com/office/drawing/2014/main" id="{47916EEC-1AC9-42FC-A05B-4CED906B7373}"/>
              </a:ext>
            </a:extLst>
          </p:cNvPr>
          <p:cNvSpPr>
            <a:spLocks noChangeShapeType="1"/>
          </p:cNvSpPr>
          <p:nvPr/>
        </p:nvSpPr>
        <p:spPr bwMode="auto">
          <a:xfrm flipH="1" flipV="1">
            <a:off x="7876897" y="2982876"/>
            <a:ext cx="742021" cy="685800"/>
          </a:xfrm>
          <a:prstGeom prst="line">
            <a:avLst/>
          </a:prstGeom>
          <a:noFill/>
          <a:ln w="28575">
            <a:solidFill>
              <a:srgbClr val="FF00FF"/>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38" name="Line 43">
            <a:extLst>
              <a:ext uri="{FF2B5EF4-FFF2-40B4-BE49-F238E27FC236}">
                <a16:creationId xmlns:a16="http://schemas.microsoft.com/office/drawing/2014/main" id="{B6E70593-72AD-49B8-84CB-A896E5831C1C}"/>
              </a:ext>
            </a:extLst>
          </p:cNvPr>
          <p:cNvSpPr>
            <a:spLocks noChangeShapeType="1"/>
          </p:cNvSpPr>
          <p:nvPr/>
        </p:nvSpPr>
        <p:spPr bwMode="auto">
          <a:xfrm flipH="1">
            <a:off x="5653573" y="3036212"/>
            <a:ext cx="918494" cy="672207"/>
          </a:xfrm>
          <a:prstGeom prst="line">
            <a:avLst/>
          </a:prstGeom>
          <a:noFill/>
          <a:ln w="28575">
            <a:solidFill>
              <a:srgbClr val="FF00FF"/>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39" name="Freeform 45">
            <a:extLst>
              <a:ext uri="{FF2B5EF4-FFF2-40B4-BE49-F238E27FC236}">
                <a16:creationId xmlns:a16="http://schemas.microsoft.com/office/drawing/2014/main" id="{0468A2C1-4679-46BC-9955-2203114E1EB7}"/>
              </a:ext>
            </a:extLst>
          </p:cNvPr>
          <p:cNvSpPr>
            <a:spLocks/>
          </p:cNvSpPr>
          <p:nvPr/>
        </p:nvSpPr>
        <p:spPr bwMode="auto">
          <a:xfrm>
            <a:off x="5605729" y="3954426"/>
            <a:ext cx="1085850" cy="285750"/>
          </a:xfrm>
          <a:custGeom>
            <a:avLst/>
            <a:gdLst>
              <a:gd name="T0" fmla="*/ 0 w 912"/>
              <a:gd name="T1" fmla="*/ 0 h 240"/>
              <a:gd name="T2" fmla="*/ 2147483646 w 912"/>
              <a:gd name="T3" fmla="*/ 2147483646 h 240"/>
              <a:gd name="T4" fmla="*/ 2147483646 w 912"/>
              <a:gd name="T5" fmla="*/ 2147483646 h 240"/>
              <a:gd name="T6" fmla="*/ 2147483646 w 912"/>
              <a:gd name="T7" fmla="*/ 2147483646 h 240"/>
              <a:gd name="T8" fmla="*/ 2147483646 w 912"/>
              <a:gd name="T9" fmla="*/ 0 h 240"/>
              <a:gd name="T10" fmla="*/ 0 60000 65536"/>
              <a:gd name="T11" fmla="*/ 0 60000 65536"/>
              <a:gd name="T12" fmla="*/ 0 60000 65536"/>
              <a:gd name="T13" fmla="*/ 0 60000 65536"/>
              <a:gd name="T14" fmla="*/ 0 60000 65536"/>
              <a:gd name="T15" fmla="*/ 0 w 912"/>
              <a:gd name="T16" fmla="*/ 0 h 240"/>
              <a:gd name="T17" fmla="*/ 912 w 912"/>
              <a:gd name="T18" fmla="*/ 240 h 240"/>
            </a:gdLst>
            <a:ahLst/>
            <a:cxnLst>
              <a:cxn ang="T10">
                <a:pos x="T0" y="T1"/>
              </a:cxn>
              <a:cxn ang="T11">
                <a:pos x="T2" y="T3"/>
              </a:cxn>
              <a:cxn ang="T12">
                <a:pos x="T4" y="T5"/>
              </a:cxn>
              <a:cxn ang="T13">
                <a:pos x="T6" y="T7"/>
              </a:cxn>
              <a:cxn ang="T14">
                <a:pos x="T8" y="T9"/>
              </a:cxn>
            </a:cxnLst>
            <a:rect l="T15" t="T16" r="T17" b="T18"/>
            <a:pathLst>
              <a:path w="912" h="240">
                <a:moveTo>
                  <a:pt x="0" y="0"/>
                </a:moveTo>
                <a:cubicBezTo>
                  <a:pt x="88" y="76"/>
                  <a:pt x="176" y="152"/>
                  <a:pt x="240" y="192"/>
                </a:cubicBezTo>
                <a:cubicBezTo>
                  <a:pt x="304" y="232"/>
                  <a:pt x="320" y="240"/>
                  <a:pt x="384" y="240"/>
                </a:cubicBezTo>
                <a:cubicBezTo>
                  <a:pt x="448" y="240"/>
                  <a:pt x="536" y="232"/>
                  <a:pt x="624" y="192"/>
                </a:cubicBezTo>
                <a:cubicBezTo>
                  <a:pt x="712" y="152"/>
                  <a:pt x="812" y="76"/>
                  <a:pt x="912" y="0"/>
                </a:cubicBezTo>
              </a:path>
            </a:pathLst>
          </a:custGeom>
          <a:noFill/>
          <a:ln w="28575" cap="flat" cmpd="sng">
            <a:solidFill>
              <a:srgbClr val="FF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latin typeface="Plantagenet Cherokee" panose="02020602070100000000" pitchFamily="18" charset="0"/>
              <a:ea typeface="+mj-ea"/>
            </a:endParaRPr>
          </a:p>
        </p:txBody>
      </p:sp>
      <p:sp>
        <p:nvSpPr>
          <p:cNvPr id="40" name="Line 46">
            <a:extLst>
              <a:ext uri="{FF2B5EF4-FFF2-40B4-BE49-F238E27FC236}">
                <a16:creationId xmlns:a16="http://schemas.microsoft.com/office/drawing/2014/main" id="{0EA57EB2-1F72-407A-BF37-E59A9D0C32DF}"/>
              </a:ext>
            </a:extLst>
          </p:cNvPr>
          <p:cNvSpPr>
            <a:spLocks noChangeShapeType="1"/>
          </p:cNvSpPr>
          <p:nvPr/>
        </p:nvSpPr>
        <p:spPr bwMode="auto">
          <a:xfrm flipH="1" flipV="1">
            <a:off x="6774445" y="3997288"/>
            <a:ext cx="764329" cy="489072"/>
          </a:xfrm>
          <a:prstGeom prst="line">
            <a:avLst/>
          </a:prstGeom>
          <a:noFill/>
          <a:ln w="28575">
            <a:solidFill>
              <a:srgbClr val="FF00FF"/>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41" name="Line 47">
            <a:extLst>
              <a:ext uri="{FF2B5EF4-FFF2-40B4-BE49-F238E27FC236}">
                <a16:creationId xmlns:a16="http://schemas.microsoft.com/office/drawing/2014/main" id="{0D5B61E2-1D8F-4DDA-9105-D319AEA5FD17}"/>
              </a:ext>
            </a:extLst>
          </p:cNvPr>
          <p:cNvSpPr>
            <a:spLocks noChangeShapeType="1"/>
          </p:cNvSpPr>
          <p:nvPr/>
        </p:nvSpPr>
        <p:spPr bwMode="auto">
          <a:xfrm flipH="1">
            <a:off x="4291279" y="3897276"/>
            <a:ext cx="1085850" cy="628650"/>
          </a:xfrm>
          <a:prstGeom prst="line">
            <a:avLst/>
          </a:prstGeom>
          <a:noFill/>
          <a:ln w="28575">
            <a:solidFill>
              <a:srgbClr val="FF00FF"/>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42" name="Freeform 48">
            <a:extLst>
              <a:ext uri="{FF2B5EF4-FFF2-40B4-BE49-F238E27FC236}">
                <a16:creationId xmlns:a16="http://schemas.microsoft.com/office/drawing/2014/main" id="{D6AEC2DA-DE42-4427-8B65-F7F794DDF32C}"/>
              </a:ext>
            </a:extLst>
          </p:cNvPr>
          <p:cNvSpPr>
            <a:spLocks/>
          </p:cNvSpPr>
          <p:nvPr/>
        </p:nvSpPr>
        <p:spPr bwMode="auto">
          <a:xfrm>
            <a:off x="4438902" y="4754526"/>
            <a:ext cx="938227" cy="167537"/>
          </a:xfrm>
          <a:custGeom>
            <a:avLst/>
            <a:gdLst>
              <a:gd name="T0" fmla="*/ 0 w 864"/>
              <a:gd name="T1" fmla="*/ 0 h 168"/>
              <a:gd name="T2" fmla="*/ 2147483646 w 864"/>
              <a:gd name="T3" fmla="*/ 2147483646 h 168"/>
              <a:gd name="T4" fmla="*/ 2147483646 w 864"/>
              <a:gd name="T5" fmla="*/ 2147483646 h 168"/>
              <a:gd name="T6" fmla="*/ 2147483646 w 864"/>
              <a:gd name="T7" fmla="*/ 0 h 168"/>
              <a:gd name="T8" fmla="*/ 0 60000 65536"/>
              <a:gd name="T9" fmla="*/ 0 60000 65536"/>
              <a:gd name="T10" fmla="*/ 0 60000 65536"/>
              <a:gd name="T11" fmla="*/ 0 60000 65536"/>
              <a:gd name="T12" fmla="*/ 0 w 864"/>
              <a:gd name="T13" fmla="*/ 0 h 168"/>
              <a:gd name="T14" fmla="*/ 864 w 864"/>
              <a:gd name="T15" fmla="*/ 168 h 168"/>
            </a:gdLst>
            <a:ahLst/>
            <a:cxnLst>
              <a:cxn ang="T8">
                <a:pos x="T0" y="T1"/>
              </a:cxn>
              <a:cxn ang="T9">
                <a:pos x="T2" y="T3"/>
              </a:cxn>
              <a:cxn ang="T10">
                <a:pos x="T4" y="T5"/>
              </a:cxn>
              <a:cxn ang="T11">
                <a:pos x="T6" y="T7"/>
              </a:cxn>
            </a:cxnLst>
            <a:rect l="T12" t="T13" r="T14" b="T15"/>
            <a:pathLst>
              <a:path w="864" h="168">
                <a:moveTo>
                  <a:pt x="0" y="0"/>
                </a:moveTo>
                <a:cubicBezTo>
                  <a:pt x="116" y="60"/>
                  <a:pt x="232" y="120"/>
                  <a:pt x="336" y="144"/>
                </a:cubicBezTo>
                <a:cubicBezTo>
                  <a:pt x="440" y="168"/>
                  <a:pt x="536" y="168"/>
                  <a:pt x="624" y="144"/>
                </a:cubicBezTo>
                <a:cubicBezTo>
                  <a:pt x="712" y="120"/>
                  <a:pt x="788" y="60"/>
                  <a:pt x="864" y="0"/>
                </a:cubicBezTo>
              </a:path>
            </a:pathLst>
          </a:custGeom>
          <a:noFill/>
          <a:ln w="28575" cap="flat" cmpd="sng">
            <a:solidFill>
              <a:srgbClr val="FF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latin typeface="Plantagenet Cherokee" panose="02020602070100000000" pitchFamily="18" charset="0"/>
              <a:ea typeface="+mj-ea"/>
            </a:endParaRPr>
          </a:p>
        </p:txBody>
      </p:sp>
      <p:sp>
        <p:nvSpPr>
          <p:cNvPr id="43" name="Line 49">
            <a:extLst>
              <a:ext uri="{FF2B5EF4-FFF2-40B4-BE49-F238E27FC236}">
                <a16:creationId xmlns:a16="http://schemas.microsoft.com/office/drawing/2014/main" id="{5CF49E51-D02A-4103-9391-E69D077E49F8}"/>
              </a:ext>
            </a:extLst>
          </p:cNvPr>
          <p:cNvSpPr>
            <a:spLocks noChangeShapeType="1"/>
          </p:cNvSpPr>
          <p:nvPr/>
        </p:nvSpPr>
        <p:spPr bwMode="auto">
          <a:xfrm flipV="1">
            <a:off x="5430586" y="4840251"/>
            <a:ext cx="0" cy="342900"/>
          </a:xfrm>
          <a:prstGeom prst="line">
            <a:avLst/>
          </a:prstGeom>
          <a:noFill/>
          <a:ln w="28575">
            <a:solidFill>
              <a:srgbClr val="FF00FF"/>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sz="1400">
              <a:latin typeface="Plantagenet Cherokee" panose="02020602070100000000" pitchFamily="18" charset="0"/>
              <a:ea typeface="+mj-ea"/>
            </a:endParaRPr>
          </a:p>
        </p:txBody>
      </p:sp>
      <p:sp>
        <p:nvSpPr>
          <p:cNvPr id="44" name="Rectangle 41">
            <a:extLst>
              <a:ext uri="{FF2B5EF4-FFF2-40B4-BE49-F238E27FC236}">
                <a16:creationId xmlns:a16="http://schemas.microsoft.com/office/drawing/2014/main" id="{D802EF82-8639-44E3-9797-50800E317F8A}"/>
              </a:ext>
            </a:extLst>
          </p:cNvPr>
          <p:cNvSpPr txBox="1">
            <a:spLocks noChangeArrowheads="1"/>
          </p:cNvSpPr>
          <p:nvPr/>
        </p:nvSpPr>
        <p:spPr>
          <a:xfrm>
            <a:off x="68903" y="2707024"/>
            <a:ext cx="3926571" cy="2954224"/>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vert="horz" lIns="108000" tIns="108000" rIns="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80000"/>
              </a:lnSpc>
              <a:buFont typeface="Wingdings" panose="05000000000000000000" pitchFamily="2" charset="2"/>
              <a:buNone/>
            </a:pPr>
            <a:r>
              <a:rPr lang="en-US" altLang="zh-CN" sz="1800" dirty="0">
                <a:solidFill>
                  <a:schemeClr val="bg1"/>
                </a:solidFill>
                <a:latin typeface="Plantagenet Cherokee" panose="02020602070100000000" pitchFamily="18" charset="0"/>
              </a:rPr>
              <a:t>PRODUCTIONS</a:t>
            </a:r>
            <a:r>
              <a:rPr lang="zh-CN" altLang="en-US" sz="1800" dirty="0">
                <a:solidFill>
                  <a:schemeClr val="bg1"/>
                </a:solidFill>
                <a:latin typeface="Plantagenet Cherokee" panose="02020602070100000000" pitchFamily="18" charset="0"/>
              </a:rPr>
              <a:t> </a:t>
            </a:r>
            <a:r>
              <a:rPr lang="en-US" altLang="zh-CN" sz="1800" dirty="0">
                <a:solidFill>
                  <a:schemeClr val="bg1"/>
                </a:solidFill>
                <a:latin typeface="Plantagenet Cherokee" panose="02020602070100000000" pitchFamily="18" charset="0"/>
              </a:rPr>
              <a:t>SEMANTIC RULES</a:t>
            </a:r>
            <a:endParaRPr lang="en-US" altLang="zh-CN" sz="1800" dirty="0">
              <a:solidFill>
                <a:schemeClr val="bg1"/>
              </a:solidFill>
              <a:latin typeface="Plantagenet Cherokee" panose="02020602070100000000" pitchFamily="18" charset="0"/>
              <a:ea typeface="黑体" panose="02010609060101010101" pitchFamily="49" charset="-122"/>
            </a:endParaRPr>
          </a:p>
          <a:p>
            <a:pPr algn="just">
              <a:lnSpc>
                <a:spcPct val="80000"/>
              </a:lnSpc>
              <a:buFont typeface="Wingdings" panose="05000000000000000000" pitchFamily="2" charset="2"/>
              <a:buNone/>
            </a:pPr>
            <a:r>
              <a:rPr lang="en-US" altLang="zh-CN" sz="2000" dirty="0">
                <a:solidFill>
                  <a:schemeClr val="bg1"/>
                </a:solidFill>
                <a:latin typeface="Plantagenet Cherokee" panose="02020602070100000000" pitchFamily="18" charset="0"/>
              </a:rPr>
              <a:t>D→TL       L.in := </a:t>
            </a:r>
            <a:r>
              <a:rPr lang="en-US" altLang="zh-CN" sz="2000" dirty="0" err="1">
                <a:solidFill>
                  <a:schemeClr val="bg1"/>
                </a:solidFill>
                <a:latin typeface="Plantagenet Cherokee" panose="02020602070100000000" pitchFamily="18" charset="0"/>
              </a:rPr>
              <a:t>T.type</a:t>
            </a:r>
            <a:r>
              <a:rPr lang="en-US" altLang="zh-CN" sz="2000" dirty="0">
                <a:solidFill>
                  <a:schemeClr val="bg1"/>
                </a:solidFill>
                <a:latin typeface="Plantagenet Cherokee" panose="02020602070100000000" pitchFamily="18" charset="0"/>
              </a:rPr>
              <a:t> </a:t>
            </a:r>
          </a:p>
          <a:p>
            <a:pPr algn="just">
              <a:lnSpc>
                <a:spcPct val="80000"/>
              </a:lnSpc>
              <a:buFont typeface="Wingdings" panose="05000000000000000000" pitchFamily="2" charset="2"/>
              <a:buNone/>
            </a:pPr>
            <a:r>
              <a:rPr lang="en-US" altLang="zh-CN" sz="2000" dirty="0" err="1">
                <a:solidFill>
                  <a:schemeClr val="bg1"/>
                </a:solidFill>
                <a:latin typeface="Plantagenet Cherokee" panose="02020602070100000000" pitchFamily="18" charset="0"/>
              </a:rPr>
              <a:t>T→int</a:t>
            </a:r>
            <a:r>
              <a:rPr lang="en-US" altLang="zh-CN" sz="2000" dirty="0">
                <a:solidFill>
                  <a:schemeClr val="bg1"/>
                </a:solidFill>
                <a:latin typeface="Plantagenet Cherokee" panose="02020602070100000000" pitchFamily="18" charset="0"/>
              </a:rPr>
              <a:t>	     </a:t>
            </a:r>
            <a:r>
              <a:rPr lang="en-US" altLang="zh-CN" sz="2000" dirty="0" err="1">
                <a:solidFill>
                  <a:schemeClr val="bg1"/>
                </a:solidFill>
                <a:latin typeface="Plantagenet Cherokee" panose="02020602070100000000" pitchFamily="18" charset="0"/>
              </a:rPr>
              <a:t>T.type</a:t>
            </a:r>
            <a:r>
              <a:rPr lang="en-US" altLang="zh-CN" sz="2000" dirty="0">
                <a:solidFill>
                  <a:schemeClr val="bg1"/>
                </a:solidFill>
                <a:latin typeface="Plantagenet Cherokee" panose="02020602070100000000" pitchFamily="18" charset="0"/>
              </a:rPr>
              <a:t> := integer </a:t>
            </a:r>
          </a:p>
          <a:p>
            <a:pPr algn="just">
              <a:lnSpc>
                <a:spcPct val="80000"/>
              </a:lnSpc>
              <a:buFont typeface="Wingdings" panose="05000000000000000000" pitchFamily="2" charset="2"/>
              <a:buNone/>
            </a:pPr>
            <a:r>
              <a:rPr lang="en-US" altLang="zh-CN" sz="2000" dirty="0" err="1">
                <a:solidFill>
                  <a:schemeClr val="bg1"/>
                </a:solidFill>
                <a:latin typeface="Plantagenet Cherokee" panose="02020602070100000000" pitchFamily="18" charset="0"/>
              </a:rPr>
              <a:t>T→real</a:t>
            </a:r>
            <a:r>
              <a:rPr lang="en-US" altLang="zh-CN" sz="2000" dirty="0">
                <a:solidFill>
                  <a:schemeClr val="bg1"/>
                </a:solidFill>
                <a:latin typeface="Plantagenet Cherokee" panose="02020602070100000000" pitchFamily="18" charset="0"/>
              </a:rPr>
              <a:t>      </a:t>
            </a:r>
            <a:r>
              <a:rPr lang="en-US" altLang="zh-CN" sz="2000" dirty="0" err="1">
                <a:solidFill>
                  <a:schemeClr val="bg1"/>
                </a:solidFill>
                <a:latin typeface="Plantagenet Cherokee" panose="02020602070100000000" pitchFamily="18" charset="0"/>
              </a:rPr>
              <a:t>T.type</a:t>
            </a:r>
            <a:r>
              <a:rPr lang="en-US" altLang="zh-CN" sz="2000" dirty="0">
                <a:solidFill>
                  <a:schemeClr val="bg1"/>
                </a:solidFill>
                <a:latin typeface="Plantagenet Cherokee" panose="02020602070100000000" pitchFamily="18" charset="0"/>
              </a:rPr>
              <a:t> := real </a:t>
            </a:r>
          </a:p>
          <a:p>
            <a:pPr algn="just">
              <a:lnSpc>
                <a:spcPct val="80000"/>
              </a:lnSpc>
              <a:buFont typeface="Wingdings" panose="05000000000000000000" pitchFamily="2" charset="2"/>
              <a:buNone/>
            </a:pPr>
            <a:r>
              <a:rPr lang="en-US" altLang="zh-CN" sz="2000" dirty="0">
                <a:solidFill>
                  <a:schemeClr val="bg1"/>
                </a:solidFill>
                <a:latin typeface="Plantagenet Cherokee" panose="02020602070100000000" pitchFamily="18" charset="0"/>
              </a:rPr>
              <a:t>L→L</a:t>
            </a:r>
            <a:r>
              <a:rPr lang="en-US" altLang="zh-CN" sz="2000" baseline="-30000" dirty="0">
                <a:solidFill>
                  <a:schemeClr val="bg1"/>
                </a:solidFill>
                <a:latin typeface="Plantagenet Cherokee" panose="02020602070100000000" pitchFamily="18" charset="0"/>
              </a:rPr>
              <a:t>1</a:t>
            </a:r>
            <a:r>
              <a:rPr lang="en-US" altLang="zh-CN" sz="2000" dirty="0">
                <a:solidFill>
                  <a:schemeClr val="bg1"/>
                </a:solidFill>
                <a:latin typeface="Plantagenet Cherokee" panose="02020602070100000000" pitchFamily="18" charset="0"/>
              </a:rPr>
              <a:t>, id    L</a:t>
            </a:r>
            <a:r>
              <a:rPr lang="en-US" altLang="zh-CN" sz="2000" baseline="-30000" dirty="0">
                <a:solidFill>
                  <a:schemeClr val="bg1"/>
                </a:solidFill>
                <a:latin typeface="Plantagenet Cherokee" panose="02020602070100000000" pitchFamily="18" charset="0"/>
              </a:rPr>
              <a:t>1</a:t>
            </a:r>
            <a:r>
              <a:rPr lang="en-US" altLang="zh-CN" sz="2000" dirty="0">
                <a:solidFill>
                  <a:schemeClr val="bg1"/>
                </a:solidFill>
                <a:latin typeface="Plantagenet Cherokee" panose="02020602070100000000" pitchFamily="18" charset="0"/>
              </a:rPr>
              <a:t>.in :=L.in </a:t>
            </a:r>
          </a:p>
          <a:p>
            <a:pPr algn="just">
              <a:lnSpc>
                <a:spcPct val="80000"/>
              </a:lnSpc>
              <a:buFont typeface="Wingdings" panose="05000000000000000000" pitchFamily="2" charset="2"/>
              <a:buNone/>
            </a:pPr>
            <a:r>
              <a:rPr lang="en-US" altLang="zh-CN" sz="2000" dirty="0">
                <a:solidFill>
                  <a:schemeClr val="bg1"/>
                </a:solidFill>
                <a:latin typeface="Plantagenet Cherokee" panose="02020602070100000000" pitchFamily="18" charset="0"/>
              </a:rPr>
              <a:t>                  </a:t>
            </a:r>
            <a:r>
              <a:rPr lang="en-US" altLang="zh-CN" sz="2000" dirty="0" err="1">
                <a:solidFill>
                  <a:schemeClr val="bg1"/>
                </a:solidFill>
                <a:latin typeface="Plantagenet Cherokee" panose="02020602070100000000" pitchFamily="18" charset="0"/>
              </a:rPr>
              <a:t>addtype</a:t>
            </a:r>
            <a:r>
              <a:rPr lang="en-US" altLang="zh-CN" sz="2000" dirty="0">
                <a:solidFill>
                  <a:schemeClr val="bg1"/>
                </a:solidFill>
                <a:latin typeface="Plantagenet Cherokee" panose="02020602070100000000" pitchFamily="18" charset="0"/>
              </a:rPr>
              <a:t>(</a:t>
            </a:r>
            <a:r>
              <a:rPr lang="en-US" altLang="zh-CN" sz="2000" dirty="0" err="1">
                <a:solidFill>
                  <a:schemeClr val="bg1"/>
                </a:solidFill>
                <a:latin typeface="Plantagenet Cherokee" panose="02020602070100000000" pitchFamily="18" charset="0"/>
              </a:rPr>
              <a:t>id.entry</a:t>
            </a:r>
            <a:r>
              <a:rPr lang="en-US" altLang="zh-CN" sz="2000" dirty="0">
                <a:solidFill>
                  <a:schemeClr val="bg1"/>
                </a:solidFill>
                <a:latin typeface="Plantagenet Cherokee" panose="02020602070100000000" pitchFamily="18" charset="0"/>
              </a:rPr>
              <a:t>, L.in) </a:t>
            </a:r>
          </a:p>
          <a:p>
            <a:pPr algn="just">
              <a:lnSpc>
                <a:spcPct val="80000"/>
              </a:lnSpc>
              <a:buFont typeface="Wingdings" panose="05000000000000000000" pitchFamily="2" charset="2"/>
              <a:buNone/>
            </a:pPr>
            <a:r>
              <a:rPr lang="en-US" altLang="zh-CN" sz="2000" dirty="0" err="1">
                <a:solidFill>
                  <a:schemeClr val="bg1"/>
                </a:solidFill>
                <a:latin typeface="Plantagenet Cherokee" panose="02020602070100000000" pitchFamily="18" charset="0"/>
              </a:rPr>
              <a:t>L→id</a:t>
            </a:r>
            <a:r>
              <a:rPr lang="en-US" altLang="zh-CN" sz="2000" dirty="0">
                <a:solidFill>
                  <a:schemeClr val="bg1"/>
                </a:solidFill>
                <a:latin typeface="Plantagenet Cherokee" panose="02020602070100000000" pitchFamily="18" charset="0"/>
              </a:rPr>
              <a:t> 	    </a:t>
            </a:r>
            <a:r>
              <a:rPr lang="en-US" altLang="zh-CN" sz="2000" dirty="0" err="1">
                <a:solidFill>
                  <a:schemeClr val="bg1"/>
                </a:solidFill>
                <a:latin typeface="Plantagenet Cherokee" panose="02020602070100000000" pitchFamily="18" charset="0"/>
              </a:rPr>
              <a:t>addtype</a:t>
            </a:r>
            <a:r>
              <a:rPr lang="en-US" altLang="zh-CN" sz="2000" dirty="0">
                <a:solidFill>
                  <a:schemeClr val="bg1"/>
                </a:solidFill>
                <a:latin typeface="Plantagenet Cherokee" panose="02020602070100000000" pitchFamily="18" charset="0"/>
              </a:rPr>
              <a:t>(</a:t>
            </a:r>
            <a:r>
              <a:rPr lang="en-US" altLang="zh-CN" sz="2000" dirty="0" err="1">
                <a:solidFill>
                  <a:schemeClr val="bg1"/>
                </a:solidFill>
                <a:latin typeface="Plantagenet Cherokee" panose="02020602070100000000" pitchFamily="18" charset="0"/>
              </a:rPr>
              <a:t>id.entry</a:t>
            </a:r>
            <a:r>
              <a:rPr lang="en-US" altLang="zh-CN" sz="2000" dirty="0">
                <a:solidFill>
                  <a:schemeClr val="bg1"/>
                </a:solidFill>
                <a:latin typeface="Plantagenet Cherokee" panose="02020602070100000000" pitchFamily="18" charset="0"/>
              </a:rPr>
              <a:t>, L.in) </a:t>
            </a:r>
            <a:endParaRPr lang="zh-CN" altLang="en-US" sz="2000" dirty="0">
              <a:solidFill>
                <a:schemeClr val="bg1"/>
              </a:solidFill>
              <a:latin typeface="Plantagenet Cherokee" panose="02020602070100000000" pitchFamily="18" charset="0"/>
            </a:endParaRPr>
          </a:p>
        </p:txBody>
      </p:sp>
      <p:sp>
        <p:nvSpPr>
          <p:cNvPr id="45" name="内容占位符 3">
            <a:extLst>
              <a:ext uri="{FF2B5EF4-FFF2-40B4-BE49-F238E27FC236}">
                <a16:creationId xmlns:a16="http://schemas.microsoft.com/office/drawing/2014/main" id="{468DB623-BAC4-497A-B73D-679EAFE89E18}"/>
              </a:ext>
            </a:extLst>
          </p:cNvPr>
          <p:cNvSpPr txBox="1">
            <a:spLocks/>
          </p:cNvSpPr>
          <p:nvPr/>
        </p:nvSpPr>
        <p:spPr bwMode="auto">
          <a:xfrm>
            <a:off x="307239" y="1074279"/>
            <a:ext cx="4231382" cy="1325564"/>
          </a:xfrm>
          <a:prstGeom prst="rect">
            <a:avLst/>
          </a:prstGeom>
        </p:spPr>
        <p:txBody>
          <a:bodyPr>
            <a:noAutofit/>
          </a:bodyPr>
          <a:lst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a:lstStyle>
          <a:p>
            <a:pPr marL="0" indent="0">
              <a:buFont typeface="Arial" panose="020B0604020202020204"/>
              <a:buNone/>
            </a:pPr>
            <a:r>
              <a:rPr lang="en-US" altLang="zh-CN" sz="1600" dirty="0">
                <a:solidFill>
                  <a:srgbClr val="000000"/>
                </a:solidFill>
                <a:latin typeface="Palatino Linotype" panose="02040502050505030304" pitchFamily="18" charset="0"/>
              </a:rPr>
              <a:t>Attribute values can be computed according to any </a:t>
            </a:r>
            <a:r>
              <a:rPr lang="en-US" altLang="zh-CN" sz="1600" i="1" dirty="0">
                <a:solidFill>
                  <a:srgbClr val="FF0000"/>
                </a:solidFill>
                <a:latin typeface="PalatinoLinotype-Italic"/>
              </a:rPr>
              <a:t>topological sort </a:t>
            </a:r>
            <a:r>
              <a:rPr lang="en-US" altLang="zh-CN" sz="1600" dirty="0">
                <a:solidFill>
                  <a:srgbClr val="FF0000"/>
                </a:solidFill>
                <a:latin typeface="Palatino Linotype" panose="02040502050505030304" pitchFamily="18" charset="0"/>
              </a:rPr>
              <a:t>(</a:t>
            </a:r>
            <a:r>
              <a:rPr lang="zh-CN" altLang="en-US" sz="1600" dirty="0">
                <a:solidFill>
                  <a:srgbClr val="FF0000"/>
                </a:solidFill>
                <a:latin typeface="宋体" panose="02010600030101010101" pitchFamily="2" charset="-122"/>
                <a:ea typeface="宋体" panose="02010600030101010101" pitchFamily="2" charset="-122"/>
              </a:rPr>
              <a:t>拓扑 排序</a:t>
            </a:r>
            <a:r>
              <a:rPr lang="en-US" altLang="zh-CN" sz="1600" dirty="0">
                <a:solidFill>
                  <a:srgbClr val="FF0000"/>
                </a:solidFill>
                <a:latin typeface="Palatino Linotype" panose="02040502050505030304" pitchFamily="18" charset="0"/>
              </a:rPr>
              <a:t>) </a:t>
            </a:r>
            <a:r>
              <a:rPr lang="en-US" altLang="zh-CN" sz="1600" dirty="0">
                <a:solidFill>
                  <a:srgbClr val="000000"/>
                </a:solidFill>
                <a:latin typeface="Palatino Linotype" panose="02040502050505030304" pitchFamily="18" charset="0"/>
              </a:rPr>
              <a:t>of the graph, e.g., </a:t>
            </a:r>
            <a:r>
              <a:rPr lang="en-US" altLang="zh-CN" sz="1600" dirty="0">
                <a:solidFill>
                  <a:srgbClr val="FF0000"/>
                </a:solidFill>
                <a:latin typeface="Palatino Linotype" panose="02040502050505030304" pitchFamily="18" charset="0"/>
              </a:rPr>
              <a:t>1, 2, 3, …, 10 </a:t>
            </a:r>
            <a:r>
              <a:rPr lang="en-US" altLang="zh-CN" sz="1600" dirty="0">
                <a:solidFill>
                  <a:srgbClr val="000000"/>
                </a:solidFill>
                <a:latin typeface="Palatino Linotype" panose="02040502050505030304" pitchFamily="18" charset="0"/>
              </a:rPr>
              <a:t>in the example below</a:t>
            </a:r>
            <a:endParaRPr lang="en-US" sz="1800" dirty="0">
              <a:latin typeface="Palatino Linotype" panose="02040502050505030304" charset="0"/>
              <a:ea typeface="Palatino Linotype" panose="02040502050505030304"/>
              <a:cs typeface="Palatino Linotype" panose="02040502050505030304"/>
              <a:sym typeface="+mn-ea"/>
            </a:endParaRPr>
          </a:p>
        </p:txBody>
      </p:sp>
      <p:sp>
        <p:nvSpPr>
          <p:cNvPr id="46" name="矩形 45">
            <a:extLst>
              <a:ext uri="{FF2B5EF4-FFF2-40B4-BE49-F238E27FC236}">
                <a16:creationId xmlns:a16="http://schemas.microsoft.com/office/drawing/2014/main" id="{3E870229-A3FD-4489-B786-EC82ED58A3BE}"/>
              </a:ext>
            </a:extLst>
          </p:cNvPr>
          <p:cNvSpPr/>
          <p:nvPr/>
        </p:nvSpPr>
        <p:spPr>
          <a:xfrm>
            <a:off x="5664354" y="6060890"/>
            <a:ext cx="2492990" cy="369332"/>
          </a:xfrm>
          <a:prstGeom prst="rect">
            <a:avLst/>
          </a:prstGeom>
        </p:spPr>
        <p:txBody>
          <a:bodyPr wrap="none">
            <a:spAutoFit/>
          </a:bodyPr>
          <a:lstStyle/>
          <a:p>
            <a:r>
              <a:rPr lang="en-US" altLang="zh-CN" dirty="0">
                <a:solidFill>
                  <a:srgbClr val="FF0000"/>
                </a:solidFill>
                <a:latin typeface="Palatino Linotype" panose="02040502050505030304" pitchFamily="18" charset="0"/>
              </a:rPr>
              <a:t>1</a:t>
            </a:r>
            <a:r>
              <a:rPr lang="en-US" altLang="zh-CN" dirty="0">
                <a:solidFill>
                  <a:srgbClr val="FF0000"/>
                </a:solidFill>
                <a:latin typeface="Cambria Math" panose="02040503050406030204" pitchFamily="18" charset="0"/>
              </a:rPr>
              <a:t>⎼</a:t>
            </a:r>
            <a:r>
              <a:rPr lang="en-US" altLang="zh-CN" dirty="0">
                <a:solidFill>
                  <a:srgbClr val="FF0000"/>
                </a:solidFill>
                <a:latin typeface="Palatino Linotype" panose="02040502050505030304" pitchFamily="18" charset="0"/>
              </a:rPr>
              <a:t>10: Evaluation order</a:t>
            </a:r>
            <a:endParaRPr lang="zh-CN" altLang="en-US" dirty="0"/>
          </a:p>
        </p:txBody>
      </p:sp>
    </p:spTree>
    <p:extLst>
      <p:ext uri="{BB962C8B-B14F-4D97-AF65-F5344CB8AC3E}">
        <p14:creationId xmlns:p14="http://schemas.microsoft.com/office/powerpoint/2010/main" val="84279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ipe(left)">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left)">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wipe(up)">
                                      <p:cBhvr>
                                        <p:cTn id="62" dur="500"/>
                                        <p:tgtEl>
                                          <p:spTgt spid="3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wipe(down)">
                                      <p:cBhvr>
                                        <p:cTn id="67" dur="500"/>
                                        <p:tgtEl>
                                          <p:spTgt spid="3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wipe(left)">
                                      <p:cBhvr>
                                        <p:cTn id="72" dur="500"/>
                                        <p:tgtEl>
                                          <p:spTgt spid="3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wipe(up)">
                                      <p:cBhvr>
                                        <p:cTn id="77" dur="500"/>
                                        <p:tgtEl>
                                          <p:spTgt spid="4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40"/>
                                        </p:tgtEl>
                                        <p:attrNameLst>
                                          <p:attrName>style.visibility</p:attrName>
                                        </p:attrNameLst>
                                      </p:cBhvr>
                                      <p:to>
                                        <p:strVal val="visible"/>
                                      </p:to>
                                    </p:set>
                                    <p:animEffect transition="in" filter="wipe(down)">
                                      <p:cBhvr>
                                        <p:cTn id="82" dur="500"/>
                                        <p:tgtEl>
                                          <p:spTgt spid="4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wipe(left)">
                                      <p:cBhvr>
                                        <p:cTn id="87" dur="500"/>
                                        <p:tgtEl>
                                          <p:spTgt spid="3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43"/>
                                        </p:tgtEl>
                                        <p:attrNameLst>
                                          <p:attrName>style.visibility</p:attrName>
                                        </p:attrNameLst>
                                      </p:cBhvr>
                                      <p:to>
                                        <p:strVal val="visible"/>
                                      </p:to>
                                    </p:set>
                                    <p:animEffect transition="in" filter="wipe(down)">
                                      <p:cBhvr>
                                        <p:cTn id="92" dur="500"/>
                                        <p:tgtEl>
                                          <p:spTgt spid="4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wipe(left)">
                                      <p:cBhvr>
                                        <p:cTn id="9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P spid="26" grpId="0" autoUpdateAnimBg="0"/>
      <p:bldP spid="27" grpId="0" autoUpdateAnimBg="0"/>
      <p:bldP spid="28" grpId="0" autoUpdateAnimBg="0"/>
      <p:bldP spid="29" grpId="0" autoUpdateAnimBg="0"/>
      <p:bldP spid="30" grpId="0" autoUpdateAnimBg="0"/>
      <p:bldP spid="31" grpId="0" autoUpdateAnimBg="0"/>
      <p:bldP spid="32" grpId="0" autoUpdateAnimBg="0"/>
      <p:bldP spid="33" grpId="0" autoUpdateAnimBg="0"/>
      <p:bldP spid="34" grpId="0" autoUpdateAnimBg="0"/>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a:xfrm>
            <a:off x="395536" y="102704"/>
            <a:ext cx="7886700" cy="1325563"/>
          </a:xfrm>
        </p:spPr>
        <p:txBody>
          <a:bodyPr>
            <a:normAutofit/>
          </a:bodyPr>
          <a:lstStyle/>
          <a:p>
            <a:r>
              <a:rPr lang="en-US" altLang="zh-CN" sz="3600" b="1" dirty="0">
                <a:latin typeface="Palatino Linotype" panose="02040502050505030304" charset="0"/>
              </a:rPr>
              <a:t>Example2: Parsing 3*2</a:t>
            </a:r>
            <a:endParaRPr lang="zh-CN" altLang="en-US" sz="3600" b="1" dirty="0">
              <a:latin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18</a:t>
            </a:fld>
            <a:endParaRPr/>
          </a:p>
        </p:txBody>
      </p:sp>
      <p:pic>
        <p:nvPicPr>
          <p:cNvPr id="6" name="图片 5">
            <a:extLst>
              <a:ext uri="{FF2B5EF4-FFF2-40B4-BE49-F238E27FC236}">
                <a16:creationId xmlns:a16="http://schemas.microsoft.com/office/drawing/2014/main" id="{0F473E9A-EB2E-F7D6-A6B5-C796BF7C3B89}"/>
              </a:ext>
            </a:extLst>
          </p:cNvPr>
          <p:cNvPicPr>
            <a:picLocks noChangeAspect="1"/>
          </p:cNvPicPr>
          <p:nvPr/>
        </p:nvPicPr>
        <p:blipFill>
          <a:blip r:embed="rId3"/>
          <a:stretch>
            <a:fillRect/>
          </a:stretch>
        </p:blipFill>
        <p:spPr>
          <a:xfrm>
            <a:off x="554051" y="3173700"/>
            <a:ext cx="6671094" cy="3176711"/>
          </a:xfrm>
          <a:prstGeom prst="rect">
            <a:avLst/>
          </a:prstGeom>
        </p:spPr>
      </p:pic>
      <p:pic>
        <p:nvPicPr>
          <p:cNvPr id="8" name="图片 7">
            <a:extLst>
              <a:ext uri="{FF2B5EF4-FFF2-40B4-BE49-F238E27FC236}">
                <a16:creationId xmlns:a16="http://schemas.microsoft.com/office/drawing/2014/main" id="{02544352-F81B-E00E-F749-C877225E08FE}"/>
              </a:ext>
            </a:extLst>
          </p:cNvPr>
          <p:cNvPicPr>
            <a:picLocks noChangeAspect="1"/>
          </p:cNvPicPr>
          <p:nvPr/>
        </p:nvPicPr>
        <p:blipFill>
          <a:blip r:embed="rId4"/>
          <a:stretch>
            <a:fillRect/>
          </a:stretch>
        </p:blipFill>
        <p:spPr>
          <a:xfrm>
            <a:off x="5159809" y="1484784"/>
            <a:ext cx="3722944" cy="2184721"/>
          </a:xfrm>
          <a:prstGeom prst="rect">
            <a:avLst/>
          </a:prstGeom>
        </p:spPr>
      </p:pic>
      <p:sp>
        <p:nvSpPr>
          <p:cNvPr id="10" name="文本框 9">
            <a:extLst>
              <a:ext uri="{FF2B5EF4-FFF2-40B4-BE49-F238E27FC236}">
                <a16:creationId xmlns:a16="http://schemas.microsoft.com/office/drawing/2014/main" id="{0477EA8C-F27A-E02E-B1DE-16795BBC6896}"/>
              </a:ext>
            </a:extLst>
          </p:cNvPr>
          <p:cNvSpPr txBox="1"/>
          <p:nvPr/>
        </p:nvSpPr>
        <p:spPr>
          <a:xfrm>
            <a:off x="6493705" y="5877272"/>
            <a:ext cx="2448272" cy="378451"/>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1</a:t>
            </a:r>
            <a:r>
              <a:rPr lang="en-US" altLang="zh-CN" sz="1800" dirty="0">
                <a:solidFill>
                  <a:srgbClr val="FF0000"/>
                </a:solidFill>
                <a:effectLst/>
                <a:latin typeface="Cambria Math" panose="02040503050406030204" pitchFamily="18" charset="0"/>
              </a:rPr>
              <a:t>⎼</a:t>
            </a:r>
            <a:r>
              <a:rPr lang="en-US" altLang="zh-CN" sz="1800" dirty="0">
                <a:solidFill>
                  <a:srgbClr val="FF0000"/>
                </a:solidFill>
                <a:effectLst/>
                <a:latin typeface="Palatino Linotype" panose="02040502050505030304" pitchFamily="18" charset="0"/>
              </a:rPr>
              <a:t>9: Evaluation order</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a:xfrm>
            <a:off x="628650" y="365126"/>
            <a:ext cx="8119814" cy="1325563"/>
          </a:xfrm>
        </p:spPr>
        <p:txBody>
          <a:bodyPr>
            <a:normAutofit/>
          </a:bodyPr>
          <a:lstStyle/>
          <a:p>
            <a:r>
              <a:rPr lang="en-US" altLang="zh-CN" sz="3600" b="1" dirty="0">
                <a:latin typeface="Palatino Linotype" panose="02040502050505030304" charset="0"/>
              </a:rPr>
              <a:t>Ordering the Evaluation of Attributes</a:t>
            </a:r>
            <a:endParaRPr lang="zh-CN" altLang="en-US" sz="3600" b="1" dirty="0">
              <a:latin typeface="Palatino Linotype" panose="02040502050505030304" charset="0"/>
            </a:endParaRPr>
          </a:p>
        </p:txBody>
      </p:sp>
      <p:sp>
        <p:nvSpPr>
          <p:cNvPr id="4" name="内容占位符 3"/>
          <p:cNvSpPr>
            <a:spLocks noGrp="1"/>
          </p:cNvSpPr>
          <p:nvPr>
            <p:ph idx="1"/>
          </p:nvPr>
        </p:nvSpPr>
        <p:spPr/>
        <p:txBody>
          <a:bodyPr>
            <a:normAutofit/>
          </a:bodyPr>
          <a:lstStyle/>
          <a:p>
            <a:r>
              <a:rPr lang="en-US" altLang="zh-CN" sz="1800" dirty="0">
                <a:solidFill>
                  <a:srgbClr val="000000"/>
                </a:solidFill>
                <a:effectLst/>
                <a:latin typeface="Palatino Linotype" panose="02040502050505030304" pitchFamily="18" charset="0"/>
              </a:rPr>
              <a:t>Given an SDD, it is very hard to tell whether there exist any parse trees whose dependency graphs have cycles </a:t>
            </a:r>
            <a:endParaRPr lang="en-US" altLang="zh-CN" sz="1200" dirty="0"/>
          </a:p>
          <a:p>
            <a:r>
              <a:rPr lang="en-US" altLang="zh-CN" sz="1800" dirty="0">
                <a:solidFill>
                  <a:srgbClr val="000000"/>
                </a:solidFill>
                <a:effectLst/>
                <a:latin typeface="Palatino Linotype" panose="02040502050505030304" pitchFamily="18" charset="0"/>
              </a:rPr>
              <a:t>In practice, translations can be implemented using classes of SDD’s that guarantee an evaluation order* </a:t>
            </a:r>
            <a:endParaRPr lang="en-US" altLang="zh-CN" sz="1200" dirty="0"/>
          </a:p>
          <a:p>
            <a:pPr marL="457200" lvl="1" indent="0">
              <a:buNone/>
            </a:pPr>
            <a:r>
              <a:rPr lang="en-US" altLang="zh-CN" sz="1400" b="1" i="1" dirty="0">
                <a:solidFill>
                  <a:srgbClr val="FF0000"/>
                </a:solidFill>
                <a:effectLst/>
                <a:latin typeface="PalatinoLinotype-BoldItalic"/>
              </a:rPr>
              <a:t>S-attributed </a:t>
            </a:r>
            <a:r>
              <a:rPr lang="en-US" altLang="zh-CN" sz="1400" dirty="0">
                <a:solidFill>
                  <a:srgbClr val="000000"/>
                </a:solidFill>
                <a:effectLst/>
                <a:latin typeface="Palatino Linotype" panose="02040502050505030304" pitchFamily="18" charset="0"/>
              </a:rPr>
              <a:t>SDD’s </a:t>
            </a:r>
            <a:endParaRPr lang="en-US" altLang="zh-CN" sz="800" dirty="0"/>
          </a:p>
          <a:p>
            <a:pPr marL="457200" lvl="1" indent="0">
              <a:buNone/>
            </a:pPr>
            <a:r>
              <a:rPr lang="en-US" altLang="zh-CN" sz="1400" b="1" i="1" dirty="0">
                <a:solidFill>
                  <a:srgbClr val="FF0000"/>
                </a:solidFill>
                <a:effectLst/>
                <a:latin typeface="PalatinoLinotype-BoldItalic"/>
              </a:rPr>
              <a:t>L-attributed </a:t>
            </a:r>
            <a:r>
              <a:rPr lang="en-US" altLang="zh-CN" sz="1400" dirty="0">
                <a:solidFill>
                  <a:srgbClr val="000000"/>
                </a:solidFill>
                <a:effectLst/>
                <a:latin typeface="Palatino Linotype" panose="02040502050505030304" pitchFamily="18" charset="0"/>
              </a:rPr>
              <a:t>SDD’s</a:t>
            </a:r>
            <a:endParaRPr sz="14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19</a:t>
            </a:fld>
            <a:endParaRPr/>
          </a:p>
        </p:txBody>
      </p:sp>
      <p:sp>
        <p:nvSpPr>
          <p:cNvPr id="8" name="文本框 7">
            <a:extLst>
              <a:ext uri="{FF2B5EF4-FFF2-40B4-BE49-F238E27FC236}">
                <a16:creationId xmlns:a16="http://schemas.microsoft.com/office/drawing/2014/main" id="{E7453942-6CA2-37B2-3CF7-A82A9731DDB9}"/>
              </a:ext>
            </a:extLst>
          </p:cNvPr>
          <p:cNvSpPr txBox="1"/>
          <p:nvPr/>
        </p:nvSpPr>
        <p:spPr>
          <a:xfrm>
            <a:off x="742950" y="5297161"/>
            <a:ext cx="7645474" cy="307777"/>
          </a:xfrm>
          <a:prstGeom prst="rect">
            <a:avLst/>
          </a:prstGeom>
          <a:noFill/>
        </p:spPr>
        <p:txBody>
          <a:bodyPr wrap="square">
            <a:spAutoFit/>
          </a:bodyPr>
          <a:lstStyle/>
          <a:p>
            <a:r>
              <a:rPr lang="en-US" altLang="zh-CN" sz="900" dirty="0">
                <a:solidFill>
                  <a:schemeClr val="tx1">
                    <a:lumMod val="50000"/>
                    <a:lumOff val="50000"/>
                  </a:schemeClr>
                </a:solidFill>
                <a:effectLst/>
                <a:latin typeface="Palatino Linotype" panose="02040502050505030304" pitchFamily="18" charset="0"/>
              </a:rPr>
              <a:t>* </a:t>
            </a:r>
            <a:r>
              <a:rPr lang="en-US" altLang="zh-CN" sz="1400" dirty="0">
                <a:solidFill>
                  <a:schemeClr val="tx1">
                    <a:lumMod val="50000"/>
                    <a:lumOff val="50000"/>
                  </a:schemeClr>
                </a:solidFill>
                <a:effectLst/>
                <a:latin typeface="Palatino Linotype" panose="02040502050505030304" pitchFamily="18" charset="0"/>
              </a:rPr>
              <a:t>The dependency graphs for such SDDs are directed acyclic graphs</a:t>
            </a:r>
            <a:endParaRPr lang="zh-CN" altLang="en-US" sz="1400" dirty="0">
              <a:solidFill>
                <a:schemeClr val="tx1">
                  <a:lumMod val="50000"/>
                  <a:lumOff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 name="矩形 7">
            <a:extLst>
              <a:ext uri="{FF2B5EF4-FFF2-40B4-BE49-F238E27FC236}">
                <a16:creationId xmlns:a16="http://schemas.microsoft.com/office/drawing/2014/main" id="{21EC7F25-99CB-3D7C-5563-D7DE1C37DDC0}"/>
              </a:ext>
            </a:extLst>
          </p:cNvPr>
          <p:cNvSpPr/>
          <p:nvPr/>
        </p:nvSpPr>
        <p:spPr>
          <a:xfrm>
            <a:off x="683568" y="5043152"/>
            <a:ext cx="7560840" cy="690104"/>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dirty="0"/>
          </a:p>
        </p:txBody>
      </p:sp>
      <p:sp>
        <p:nvSpPr>
          <p:cNvPr id="3" name="标题 2"/>
          <p:cNvSpPr>
            <a:spLocks noGrp="1"/>
          </p:cNvSpPr>
          <p:nvPr>
            <p:ph type="title"/>
          </p:nvPr>
        </p:nvSpPr>
        <p:spPr/>
        <p:txBody>
          <a:bodyPr>
            <a:normAutofit/>
          </a:bodyPr>
          <a:lstStyle/>
          <a:p>
            <a:r>
              <a:rPr lang="en-US" altLang="zh-CN" sz="3600" b="1" dirty="0">
                <a:latin typeface="Palatino Linotype" panose="02040502050505030304" charset="0"/>
              </a:rPr>
              <a:t>S-Attributed Definitions</a:t>
            </a:r>
            <a:endParaRPr lang="zh-CN" altLang="en-US" sz="3600" b="1" dirty="0">
              <a:latin typeface="Palatino Linotype" panose="02040502050505030304" charset="0"/>
            </a:endParaRP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lang="en-US" sz="2200" dirty="0">
                <a:latin typeface="Palatino Linotype" panose="02040502050505030304" charset="0"/>
                <a:ea typeface="Palatino Linotype" panose="02040502050505030304"/>
                <a:cs typeface="Palatino Linotype" panose="02040502050505030304"/>
                <a:sym typeface="+mn-ea"/>
              </a:rPr>
              <a:t>An SDD is </a:t>
            </a:r>
            <a:r>
              <a:rPr lang="en-US" sz="2200" dirty="0">
                <a:solidFill>
                  <a:srgbClr val="FF0000"/>
                </a:solidFill>
                <a:latin typeface="Palatino Linotype" panose="02040502050505030304" charset="0"/>
                <a:ea typeface="Palatino Linotype" panose="02040502050505030304"/>
                <a:cs typeface="Palatino Linotype" panose="02040502050505030304"/>
                <a:sym typeface="+mn-ea"/>
              </a:rPr>
              <a:t>S-attributed</a:t>
            </a:r>
            <a:r>
              <a:rPr lang="en-US" sz="2200" dirty="0">
                <a:latin typeface="Palatino Linotype" panose="02040502050505030304" charset="0"/>
                <a:ea typeface="Palatino Linotype" panose="02040502050505030304"/>
                <a:cs typeface="Palatino Linotype" panose="02040502050505030304"/>
                <a:sym typeface="+mn-ea"/>
              </a:rPr>
              <a:t> if every attribute is synthesized</a:t>
            </a:r>
            <a:endParaRPr lang="en-US" baseline="30000" dirty="0">
              <a:solidFill>
                <a:srgbClr val="0331FF"/>
              </a:solidFill>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20</a:t>
            </a:fld>
            <a:endParaRPr/>
          </a:p>
        </p:txBody>
      </p:sp>
      <p:pic>
        <p:nvPicPr>
          <p:cNvPr id="5" name="图片 4">
            <a:extLst>
              <a:ext uri="{FF2B5EF4-FFF2-40B4-BE49-F238E27FC236}">
                <a16:creationId xmlns:a16="http://schemas.microsoft.com/office/drawing/2014/main" id="{E423D277-A1E8-C2A2-B96E-ACD755FB9B20}"/>
              </a:ext>
            </a:extLst>
          </p:cNvPr>
          <p:cNvPicPr>
            <a:picLocks noChangeAspect="1"/>
          </p:cNvPicPr>
          <p:nvPr/>
        </p:nvPicPr>
        <p:blipFill>
          <a:blip r:embed="rId3"/>
          <a:stretch>
            <a:fillRect/>
          </a:stretch>
        </p:blipFill>
        <p:spPr>
          <a:xfrm>
            <a:off x="2411760" y="2348880"/>
            <a:ext cx="4102174" cy="2514884"/>
          </a:xfrm>
          <a:prstGeom prst="rect">
            <a:avLst/>
          </a:prstGeom>
        </p:spPr>
      </p:pic>
      <p:sp>
        <p:nvSpPr>
          <p:cNvPr id="7" name="文本框 6">
            <a:extLst>
              <a:ext uri="{FF2B5EF4-FFF2-40B4-BE49-F238E27FC236}">
                <a16:creationId xmlns:a16="http://schemas.microsoft.com/office/drawing/2014/main" id="{B708F1DF-8263-274D-6CE4-4BF07594F7DA}"/>
              </a:ext>
            </a:extLst>
          </p:cNvPr>
          <p:cNvSpPr txBox="1"/>
          <p:nvPr/>
        </p:nvSpPr>
        <p:spPr>
          <a:xfrm>
            <a:off x="637120" y="5094631"/>
            <a:ext cx="7886700" cy="584775"/>
          </a:xfrm>
          <a:prstGeom prst="rect">
            <a:avLst/>
          </a:prstGeom>
          <a:noFill/>
        </p:spPr>
        <p:txBody>
          <a:bodyPr wrap="square">
            <a:spAutoFit/>
          </a:bodyPr>
          <a:lstStyle/>
          <a:p>
            <a:r>
              <a:rPr lang="en-US" altLang="zh-CN" sz="1600" dirty="0">
                <a:solidFill>
                  <a:srgbClr val="000000"/>
                </a:solidFill>
                <a:effectLst/>
                <a:latin typeface="Palatino Linotype" panose="02040502050505030304" pitchFamily="18" charset="0"/>
              </a:rPr>
              <a:t>Intuitively, there cannot be cycles in the dependency graph of any parse tree, since edges always go from children nodes to parent nodes, never the other way around.</a:t>
            </a:r>
            <a:endParaRPr lang="zh-CN" alt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S-Attributed Definitions Cont.</a:t>
            </a:r>
            <a:endParaRPr lang="zh-CN" altLang="en-US" sz="3600" dirty="0">
              <a:latin typeface="Palatino Linotype" panose="02040502050505030304" charset="0"/>
            </a:endParaRP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lang="en-US" sz="2000" dirty="0">
                <a:latin typeface="Palatino Linotype" panose="02040502050505030304" charset="0"/>
                <a:ea typeface="Palatino Linotype" panose="02040502050505030304"/>
                <a:cs typeface="Palatino Linotype" panose="02040502050505030304"/>
                <a:sym typeface="+mn-ea"/>
              </a:rPr>
              <a:t>When an SDD is S-attributed, we can evaluate its attributes in any </a:t>
            </a:r>
            <a:r>
              <a:rPr lang="en-US" sz="2000" dirty="0">
                <a:solidFill>
                  <a:srgbClr val="FF0000"/>
                </a:solidFill>
                <a:latin typeface="Palatino Linotype" panose="02040502050505030304" charset="0"/>
                <a:ea typeface="Palatino Linotype" panose="02040502050505030304"/>
                <a:cs typeface="Palatino Linotype" panose="02040502050505030304"/>
                <a:sym typeface="+mn-ea"/>
              </a:rPr>
              <a:t>bottom up order</a:t>
            </a:r>
            <a:r>
              <a:rPr lang="en-US" sz="2000" dirty="0">
                <a:latin typeface="Palatino Linotype" panose="02040502050505030304" charset="0"/>
                <a:ea typeface="Palatino Linotype" panose="02040502050505030304"/>
                <a:cs typeface="Palatino Linotype" panose="02040502050505030304"/>
                <a:sym typeface="+mn-ea"/>
              </a:rPr>
              <a:t> of the parse-tree nodes</a:t>
            </a:r>
          </a:p>
          <a:p>
            <a:pPr marL="457200" lvl="1" indent="0" rtl="0" eaLnBrk="0">
              <a:spcBef>
                <a:spcPts val="0"/>
              </a:spcBef>
              <a:buNone/>
            </a:pPr>
            <a:r>
              <a:rPr lang="en-US" sz="1800" dirty="0">
                <a:latin typeface="Palatino Linotype" panose="02040502050505030304" charset="0"/>
                <a:ea typeface="Palatino Linotype" panose="02040502050505030304"/>
                <a:cs typeface="Palatino Linotype" panose="02040502050505030304"/>
                <a:sym typeface="+mn-ea"/>
              </a:rPr>
              <a:t>e.g., </a:t>
            </a:r>
            <a:r>
              <a:rPr lang="en-US" sz="1800" dirty="0" err="1">
                <a:solidFill>
                  <a:srgbClr val="FF0000"/>
                </a:solidFill>
                <a:latin typeface="Palatino Linotype" panose="02040502050505030304" charset="0"/>
                <a:ea typeface="Palatino Linotype" panose="02040502050505030304"/>
                <a:cs typeface="Palatino Linotype" panose="02040502050505030304"/>
                <a:sym typeface="+mn-ea"/>
              </a:rPr>
              <a:t>postorder</a:t>
            </a:r>
            <a:r>
              <a:rPr lang="en-US" sz="1800" dirty="0">
                <a:solidFill>
                  <a:srgbClr val="FF0000"/>
                </a:solidFill>
                <a:latin typeface="Palatino Linotype" panose="02040502050505030304" charset="0"/>
                <a:ea typeface="Palatino Linotype" panose="02040502050505030304"/>
                <a:cs typeface="Palatino Linotype" panose="02040502050505030304"/>
                <a:sym typeface="+mn-ea"/>
              </a:rPr>
              <a:t> traversal (</a:t>
            </a:r>
            <a:r>
              <a:rPr lang="zh-CN" altLang="en-US" sz="1800" dirty="0">
                <a:solidFill>
                  <a:srgbClr val="FF0000"/>
                </a:solidFill>
                <a:latin typeface="Palatino Linotype" panose="02040502050505030304" charset="0"/>
                <a:ea typeface="Palatino Linotype" panose="02040502050505030304"/>
                <a:cs typeface="Palatino Linotype" panose="02040502050505030304"/>
                <a:sym typeface="+mn-ea"/>
              </a:rPr>
              <a:t>后序遍历</a:t>
            </a:r>
            <a:r>
              <a:rPr lang="en-US" altLang="zh-CN" sz="1800" dirty="0">
                <a:solidFill>
                  <a:srgbClr val="FF0000"/>
                </a:solidFill>
                <a:latin typeface="Palatino Linotype" panose="02040502050505030304" charset="0"/>
                <a:ea typeface="Palatino Linotype" panose="02040502050505030304"/>
                <a:cs typeface="Palatino Linotype" panose="02040502050505030304"/>
                <a:sym typeface="+mn-ea"/>
              </a:rPr>
              <a:t>) </a:t>
            </a:r>
            <a:r>
              <a:rPr lang="en-US" sz="1800" dirty="0">
                <a:latin typeface="Palatino Linotype" panose="02040502050505030304" charset="0"/>
                <a:ea typeface="Palatino Linotype" panose="02040502050505030304"/>
                <a:cs typeface="Palatino Linotype" panose="02040502050505030304"/>
                <a:sym typeface="+mn-ea"/>
              </a:rPr>
              <a:t>of the parse tree</a:t>
            </a:r>
          </a:p>
          <a:p>
            <a:pPr marL="17145" algn="l" rtl="0" eaLnBrk="0" fontAlgn="auto">
              <a:lnSpc>
                <a:spcPct val="150000"/>
              </a:lnSpc>
              <a:spcBef>
                <a:spcPts val="0"/>
              </a:spcBef>
            </a:pPr>
            <a:r>
              <a:rPr lang="en-US" sz="2000" dirty="0">
                <a:latin typeface="Palatino Linotype" panose="02040502050505030304" charset="0"/>
                <a:ea typeface="Palatino Linotype" panose="02040502050505030304"/>
                <a:cs typeface="Palatino Linotype" panose="02040502050505030304"/>
                <a:sym typeface="+mn-ea"/>
              </a:rPr>
              <a:t>S-attributed definitions can be easily implemented during </a:t>
            </a:r>
            <a:r>
              <a:rPr lang="en-US" sz="2000" dirty="0">
                <a:solidFill>
                  <a:srgbClr val="FF0000"/>
                </a:solidFill>
                <a:latin typeface="Palatino Linotype" panose="02040502050505030304" charset="0"/>
                <a:ea typeface="Palatino Linotype" panose="02040502050505030304"/>
                <a:cs typeface="Palatino Linotype" panose="02040502050505030304"/>
                <a:sym typeface="+mn-ea"/>
              </a:rPr>
              <a:t>bottom-up parsing</a:t>
            </a:r>
            <a:r>
              <a:rPr lang="en-US" sz="2000" dirty="0">
                <a:latin typeface="Palatino Linotype" panose="02040502050505030304" charset="0"/>
                <a:ea typeface="Palatino Linotype" panose="02040502050505030304"/>
                <a:cs typeface="Palatino Linotype" panose="02040502050505030304"/>
                <a:sym typeface="+mn-ea"/>
              </a:rPr>
              <a:t> (corresponds to a </a:t>
            </a:r>
            <a:r>
              <a:rPr lang="en-US" sz="2000" dirty="0" err="1">
                <a:latin typeface="Palatino Linotype" panose="02040502050505030304" charset="0"/>
                <a:ea typeface="Palatino Linotype" panose="02040502050505030304"/>
                <a:cs typeface="Palatino Linotype" panose="02040502050505030304"/>
                <a:sym typeface="+mn-ea"/>
              </a:rPr>
              <a:t>postorder</a:t>
            </a:r>
            <a:r>
              <a:rPr lang="en-US" sz="2000" dirty="0">
                <a:latin typeface="Palatino Linotype" panose="02040502050505030304" charset="0"/>
                <a:ea typeface="Palatino Linotype" panose="02040502050505030304"/>
                <a:cs typeface="Palatino Linotype" panose="02040502050505030304"/>
                <a:sym typeface="+mn-ea"/>
              </a:rPr>
              <a:t> traversal)</a:t>
            </a:r>
            <a:endParaRPr sz="20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21</a:t>
            </a:fld>
            <a:endParaRPr/>
          </a:p>
        </p:txBody>
      </p:sp>
      <p:pic>
        <p:nvPicPr>
          <p:cNvPr id="6" name="图片 5">
            <a:extLst>
              <a:ext uri="{FF2B5EF4-FFF2-40B4-BE49-F238E27FC236}">
                <a16:creationId xmlns:a16="http://schemas.microsoft.com/office/drawing/2014/main" id="{7C2E7AA6-0B8F-1EE2-8B51-19C41D0CE871}"/>
              </a:ext>
            </a:extLst>
          </p:cNvPr>
          <p:cNvPicPr>
            <a:picLocks noChangeAspect="1"/>
          </p:cNvPicPr>
          <p:nvPr/>
        </p:nvPicPr>
        <p:blipFill>
          <a:blip r:embed="rId3"/>
          <a:stretch>
            <a:fillRect/>
          </a:stretch>
        </p:blipFill>
        <p:spPr>
          <a:xfrm>
            <a:off x="1109253" y="4293096"/>
            <a:ext cx="6925494" cy="1360857"/>
          </a:xfrm>
          <a:prstGeom prst="rect">
            <a:avLst/>
          </a:prstGeom>
        </p:spPr>
      </p:pic>
      <p:cxnSp>
        <p:nvCxnSpPr>
          <p:cNvPr id="5" name="直接连接符 4">
            <a:extLst>
              <a:ext uri="{FF2B5EF4-FFF2-40B4-BE49-F238E27FC236}">
                <a16:creationId xmlns:a16="http://schemas.microsoft.com/office/drawing/2014/main" id="{8E29EA1E-8366-4EFC-9DF8-F85635CE84D7}"/>
              </a:ext>
            </a:extLst>
          </p:cNvPr>
          <p:cNvCxnSpPr/>
          <p:nvPr/>
        </p:nvCxnSpPr>
        <p:spPr>
          <a:xfrm>
            <a:off x="6426052" y="4973066"/>
            <a:ext cx="135441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 name="流程图: 过程 8">
            <a:extLst>
              <a:ext uri="{FF2B5EF4-FFF2-40B4-BE49-F238E27FC236}">
                <a16:creationId xmlns:a16="http://schemas.microsoft.com/office/drawing/2014/main" id="{9740A780-124F-89CF-7DED-C2864582C30E}"/>
              </a:ext>
            </a:extLst>
          </p:cNvPr>
          <p:cNvSpPr/>
          <p:nvPr/>
        </p:nvSpPr>
        <p:spPr>
          <a:xfrm>
            <a:off x="628650" y="4001294"/>
            <a:ext cx="4591422" cy="939874"/>
          </a:xfrm>
          <a:prstGeom prst="flowChartProcess">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L-Attributed Definitions</a:t>
            </a:r>
            <a:endParaRPr lang="zh-CN" altLang="en-US" sz="3600" dirty="0">
              <a:latin typeface="Palatino Linotype" panose="02040502050505030304" charset="0"/>
            </a:endParaRPr>
          </a:p>
        </p:txBody>
      </p:sp>
      <p:sp>
        <p:nvSpPr>
          <p:cNvPr id="4" name="内容占位符 3"/>
          <p:cNvSpPr>
            <a:spLocks noGrp="1"/>
          </p:cNvSpPr>
          <p:nvPr>
            <p:ph idx="1"/>
          </p:nvPr>
        </p:nvSpPr>
        <p:spPr/>
        <p:txBody>
          <a:bodyPr>
            <a:normAutofit/>
          </a:bodyPr>
          <a:lstStyle/>
          <a:p>
            <a:r>
              <a:rPr lang="en-US" altLang="zh-CN" sz="2000" dirty="0">
                <a:solidFill>
                  <a:srgbClr val="000000"/>
                </a:solidFill>
                <a:effectLst/>
                <a:latin typeface="Palatino Linotype" panose="02040502050505030304" pitchFamily="18" charset="0"/>
              </a:rPr>
              <a:t>An SDD is </a:t>
            </a:r>
            <a:r>
              <a:rPr lang="en-US" altLang="zh-CN" sz="2000" i="1" dirty="0">
                <a:solidFill>
                  <a:srgbClr val="FF0000"/>
                </a:solidFill>
                <a:effectLst/>
                <a:latin typeface="PalatinoLinotype-Italic"/>
              </a:rPr>
              <a:t>L-attributed </a:t>
            </a:r>
            <a:r>
              <a:rPr lang="en-US" altLang="zh-CN" sz="2000" dirty="0">
                <a:solidFill>
                  <a:srgbClr val="000000"/>
                </a:solidFill>
                <a:effectLst/>
                <a:latin typeface="Palatino Linotype" panose="02040502050505030304" pitchFamily="18" charset="0"/>
              </a:rPr>
              <a:t>if for each production </a:t>
            </a:r>
            <a:r>
              <a:rPr lang="en-US" altLang="zh-CN" sz="2000" dirty="0">
                <a:solidFill>
                  <a:srgbClr val="000000"/>
                </a:solidFill>
                <a:effectLst/>
                <a:latin typeface="Cambria Math" panose="02040503050406030204" pitchFamily="18" charset="0"/>
              </a:rPr>
              <a:t>A → X</a:t>
            </a:r>
            <a:r>
              <a:rPr lang="en-US" altLang="zh-CN" sz="2000" baseline="-25000" dirty="0">
                <a:solidFill>
                  <a:srgbClr val="000000"/>
                </a:solidFill>
                <a:effectLst/>
                <a:latin typeface="Cambria Math" panose="02040503050406030204" pitchFamily="18" charset="0"/>
              </a:rPr>
              <a:t>1</a:t>
            </a:r>
            <a:r>
              <a:rPr lang="en-US" altLang="zh-CN" sz="2000" dirty="0">
                <a:solidFill>
                  <a:srgbClr val="000000"/>
                </a:solidFill>
                <a:effectLst/>
                <a:latin typeface="Cambria Math" panose="02040503050406030204" pitchFamily="18" charset="0"/>
              </a:rPr>
              <a:t>X</a:t>
            </a:r>
            <a:r>
              <a:rPr lang="en-US" altLang="zh-CN" sz="2000" baseline="-25000" dirty="0">
                <a:solidFill>
                  <a:srgbClr val="000000"/>
                </a:solidFill>
                <a:effectLst/>
                <a:latin typeface="Cambria Math" panose="02040503050406030204" pitchFamily="18" charset="0"/>
              </a:rPr>
              <a:t>2</a:t>
            </a:r>
            <a:r>
              <a:rPr lang="en-US" altLang="zh-CN" sz="2000" dirty="0">
                <a:solidFill>
                  <a:srgbClr val="000000"/>
                </a:solidFill>
                <a:effectLst/>
                <a:latin typeface="Cambria Math" panose="02040503050406030204" pitchFamily="18" charset="0"/>
              </a:rPr>
              <a:t>…</a:t>
            </a:r>
            <a:r>
              <a:rPr lang="en-US" altLang="zh-CN" sz="2000" dirty="0" err="1">
                <a:solidFill>
                  <a:srgbClr val="000000"/>
                </a:solidFill>
                <a:effectLst/>
                <a:latin typeface="Cambria Math" panose="02040503050406030204" pitchFamily="18" charset="0"/>
              </a:rPr>
              <a:t>X</a:t>
            </a:r>
            <a:r>
              <a:rPr lang="en-US" altLang="zh-CN" sz="2000" baseline="-25000" dirty="0" err="1">
                <a:solidFill>
                  <a:srgbClr val="000000"/>
                </a:solidFill>
                <a:effectLst/>
                <a:latin typeface="Cambria Math" panose="02040503050406030204" pitchFamily="18" charset="0"/>
              </a:rPr>
              <a:t>n</a:t>
            </a:r>
            <a:r>
              <a:rPr lang="en-US" altLang="zh-CN" sz="2000" dirty="0">
                <a:solidFill>
                  <a:srgbClr val="000000"/>
                </a:solidFill>
                <a:effectLst/>
                <a:latin typeface="Palatino Linotype" panose="02040502050505030304" pitchFamily="18" charset="0"/>
              </a:rPr>
              <a:t>, for each </a:t>
            </a:r>
            <a:r>
              <a:rPr lang="en-US" altLang="zh-CN" sz="2000" dirty="0">
                <a:solidFill>
                  <a:srgbClr val="000000"/>
                </a:solidFill>
                <a:effectLst/>
                <a:latin typeface="Cambria Math" panose="02040503050406030204" pitchFamily="18" charset="0"/>
              </a:rPr>
              <a:t>J = 1 … n</a:t>
            </a:r>
            <a:r>
              <a:rPr lang="en-US" altLang="zh-CN" sz="2000" dirty="0">
                <a:solidFill>
                  <a:srgbClr val="000000"/>
                </a:solidFill>
                <a:effectLst/>
                <a:latin typeface="Palatino Linotype" panose="02040502050505030304" pitchFamily="18" charset="0"/>
              </a:rPr>
              <a:t>, each inherited attribute of </a:t>
            </a:r>
            <a:r>
              <a:rPr lang="en-US" altLang="zh-CN" sz="2000" dirty="0" err="1">
                <a:solidFill>
                  <a:srgbClr val="000000"/>
                </a:solidFill>
                <a:effectLst/>
                <a:latin typeface="Cambria Math" panose="02040503050406030204" pitchFamily="18" charset="0"/>
              </a:rPr>
              <a:t>x</a:t>
            </a:r>
            <a:r>
              <a:rPr lang="en-US" altLang="zh-CN" sz="2000" baseline="-25000" dirty="0" err="1">
                <a:solidFill>
                  <a:srgbClr val="000000"/>
                </a:solidFill>
                <a:effectLst/>
                <a:latin typeface="Cambria Math" panose="02040503050406030204" pitchFamily="18" charset="0"/>
              </a:rPr>
              <a:t>j</a:t>
            </a:r>
            <a:r>
              <a:rPr lang="en-US" altLang="zh-CN" sz="2000" dirty="0">
                <a:solidFill>
                  <a:srgbClr val="000000"/>
                </a:solidFill>
                <a:effectLst/>
                <a:latin typeface="Cambria Math" panose="02040503050406030204" pitchFamily="18" charset="0"/>
              </a:rPr>
              <a:t> </a:t>
            </a:r>
            <a:r>
              <a:rPr lang="en-US" altLang="zh-CN" sz="2000" dirty="0">
                <a:solidFill>
                  <a:srgbClr val="000000"/>
                </a:solidFill>
                <a:effectLst/>
                <a:latin typeface="Palatino Linotype" panose="02040502050505030304" pitchFamily="18" charset="0"/>
              </a:rPr>
              <a:t>depends on only: </a:t>
            </a:r>
            <a:endParaRPr lang="en-US" altLang="zh-CN" sz="1800" dirty="0"/>
          </a:p>
          <a:p>
            <a:pPr lvl="1"/>
            <a:r>
              <a:rPr lang="en-US" altLang="zh-CN" sz="2000" dirty="0">
                <a:solidFill>
                  <a:srgbClr val="000000"/>
                </a:solidFill>
                <a:effectLst/>
                <a:latin typeface="Palatino Linotype" panose="02040502050505030304" pitchFamily="18" charset="0"/>
              </a:rPr>
              <a:t>the attributes of </a:t>
            </a:r>
            <a:r>
              <a:rPr lang="en-US" altLang="zh-CN" sz="2000" dirty="0">
                <a:solidFill>
                  <a:srgbClr val="000000"/>
                </a:solidFill>
                <a:effectLst/>
                <a:latin typeface="Cambria Math" panose="02040503050406030204" pitchFamily="18" charset="0"/>
              </a:rPr>
              <a:t>x</a:t>
            </a:r>
            <a:r>
              <a:rPr lang="en-US" altLang="zh-CN" sz="2000" baseline="-25000" dirty="0">
                <a:solidFill>
                  <a:srgbClr val="000000"/>
                </a:solidFill>
                <a:effectLst/>
                <a:latin typeface="Cambria Math" panose="02040503050406030204" pitchFamily="18" charset="0"/>
              </a:rPr>
              <a:t>1</a:t>
            </a:r>
            <a:r>
              <a:rPr lang="en-US" altLang="zh-CN" sz="2000" dirty="0">
                <a:solidFill>
                  <a:srgbClr val="000000"/>
                </a:solidFill>
                <a:effectLst/>
                <a:latin typeface="Cambria Math" panose="02040503050406030204" pitchFamily="18" charset="0"/>
              </a:rPr>
              <a:t>,…,x</a:t>
            </a:r>
            <a:r>
              <a:rPr lang="en-US" altLang="zh-CN" sz="2000" baseline="-25000" dirty="0">
                <a:solidFill>
                  <a:srgbClr val="000000"/>
                </a:solidFill>
                <a:effectLst/>
                <a:latin typeface="Cambria Math" panose="02040503050406030204" pitchFamily="18" charset="0"/>
              </a:rPr>
              <a:t>j-1</a:t>
            </a:r>
            <a:r>
              <a:rPr lang="en-US" altLang="zh-CN" sz="2000" dirty="0">
                <a:solidFill>
                  <a:srgbClr val="000000"/>
                </a:solidFill>
                <a:effectLst/>
                <a:latin typeface="Palatino Linotype" panose="02040502050505030304" pitchFamily="18" charset="0"/>
              </a:rPr>
              <a:t>(either synthesized or inherited), or </a:t>
            </a:r>
            <a:endParaRPr lang="en-US" altLang="zh-CN" sz="1800" dirty="0"/>
          </a:p>
          <a:p>
            <a:pPr lvl="1"/>
            <a:r>
              <a:rPr lang="en-US" altLang="zh-CN" sz="2000" dirty="0">
                <a:solidFill>
                  <a:srgbClr val="000000"/>
                </a:solidFill>
                <a:effectLst/>
                <a:latin typeface="Palatino Linotype" panose="02040502050505030304" pitchFamily="18" charset="0"/>
              </a:rPr>
              <a:t>the inherited attributes of </a:t>
            </a:r>
            <a:r>
              <a:rPr lang="en-US" altLang="zh-CN" sz="2000" dirty="0">
                <a:solidFill>
                  <a:srgbClr val="000000"/>
                </a:solidFill>
                <a:effectLst/>
                <a:latin typeface="Cambria Math" panose="02040503050406030204" pitchFamily="18" charset="0"/>
              </a:rPr>
              <a:t>A</a:t>
            </a:r>
            <a:endParaRPr sz="2800" dirty="0">
              <a:solidFill>
                <a:srgbClr val="FF0000"/>
              </a:solidFill>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22</a:t>
            </a:fld>
            <a:endParaRPr/>
          </a:p>
        </p:txBody>
      </p:sp>
      <p:sp>
        <p:nvSpPr>
          <p:cNvPr id="8" name="文本框 7">
            <a:extLst>
              <a:ext uri="{FF2B5EF4-FFF2-40B4-BE49-F238E27FC236}">
                <a16:creationId xmlns:a16="http://schemas.microsoft.com/office/drawing/2014/main" id="{BBAA2115-2EE1-C2BF-7DF5-8514FF662E40}"/>
              </a:ext>
            </a:extLst>
          </p:cNvPr>
          <p:cNvSpPr txBox="1"/>
          <p:nvPr/>
        </p:nvSpPr>
        <p:spPr>
          <a:xfrm>
            <a:off x="638361" y="4017838"/>
            <a:ext cx="4572000" cy="923330"/>
          </a:xfrm>
          <a:prstGeom prst="rect">
            <a:avLst/>
          </a:prstGeom>
          <a:noFill/>
        </p:spPr>
        <p:txBody>
          <a:bodyPr wrap="square">
            <a:spAutoFit/>
          </a:bodyPr>
          <a:lstStyle/>
          <a:p>
            <a:r>
              <a:rPr lang="en-US" altLang="zh-CN" sz="1800" dirty="0">
                <a:solidFill>
                  <a:srgbClr val="0432FF"/>
                </a:solidFill>
                <a:effectLst/>
                <a:latin typeface="Palatino Linotype" panose="02040502050505030304" pitchFamily="18" charset="0"/>
              </a:rPr>
              <a:t>Dependency-graph edges can go from left to right (for a parse tree), but not right to left (hence </a:t>
            </a:r>
            <a:r>
              <a:rPr lang="en-US" altLang="zh-CN" sz="1800" dirty="0">
                <a:solidFill>
                  <a:srgbClr val="FF0000"/>
                </a:solidFill>
                <a:effectLst/>
                <a:latin typeface="Palatino Linotype" panose="02040502050505030304" pitchFamily="18" charset="0"/>
              </a:rPr>
              <a:t>“L-attributed”</a:t>
            </a:r>
            <a:r>
              <a:rPr lang="en-US" altLang="zh-CN" sz="1800" dirty="0">
                <a:solidFill>
                  <a:srgbClr val="0432FF"/>
                </a:solidFill>
                <a:effectLst/>
                <a:latin typeface="Palatino Linotype" panose="02040502050505030304" pitchFamily="18" charset="0"/>
              </a:rPr>
              <a:t>)</a:t>
            </a:r>
            <a:endParaRPr lang="zh-CN" altLang="en-US" dirty="0"/>
          </a:p>
        </p:txBody>
      </p:sp>
      <p:pic>
        <p:nvPicPr>
          <p:cNvPr id="11" name="图片 10">
            <a:extLst>
              <a:ext uri="{FF2B5EF4-FFF2-40B4-BE49-F238E27FC236}">
                <a16:creationId xmlns:a16="http://schemas.microsoft.com/office/drawing/2014/main" id="{216B934B-B021-F161-8C03-90F47D7A5354}"/>
              </a:ext>
            </a:extLst>
          </p:cNvPr>
          <p:cNvPicPr>
            <a:picLocks noChangeAspect="1"/>
          </p:cNvPicPr>
          <p:nvPr/>
        </p:nvPicPr>
        <p:blipFill>
          <a:blip r:embed="rId3"/>
          <a:stretch>
            <a:fillRect/>
          </a:stretch>
        </p:blipFill>
        <p:spPr>
          <a:xfrm>
            <a:off x="5796136" y="3645024"/>
            <a:ext cx="2481263" cy="16192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L-Attributed Definition Example</a:t>
            </a:r>
            <a:endParaRPr lang="zh-CN" altLang="en-US" sz="3600" dirty="0">
              <a:latin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23</a:t>
            </a:fld>
            <a:endParaRPr/>
          </a:p>
        </p:txBody>
      </p:sp>
      <p:pic>
        <p:nvPicPr>
          <p:cNvPr id="7" name="图片 6">
            <a:extLst>
              <a:ext uri="{FF2B5EF4-FFF2-40B4-BE49-F238E27FC236}">
                <a16:creationId xmlns:a16="http://schemas.microsoft.com/office/drawing/2014/main" id="{10C57BDE-2A8D-7F2D-0526-7065AC1A7D32}"/>
              </a:ext>
            </a:extLst>
          </p:cNvPr>
          <p:cNvPicPr>
            <a:picLocks noChangeAspect="1"/>
          </p:cNvPicPr>
          <p:nvPr/>
        </p:nvPicPr>
        <p:blipFill>
          <a:blip r:embed="rId3"/>
          <a:stretch>
            <a:fillRect/>
          </a:stretch>
        </p:blipFill>
        <p:spPr>
          <a:xfrm>
            <a:off x="1735709" y="1484784"/>
            <a:ext cx="5672582" cy="3328820"/>
          </a:xfrm>
          <a:prstGeom prst="rect">
            <a:avLst/>
          </a:prstGeom>
        </p:spPr>
      </p:pic>
      <p:sp>
        <p:nvSpPr>
          <p:cNvPr id="9" name="文本框 8">
            <a:extLst>
              <a:ext uri="{FF2B5EF4-FFF2-40B4-BE49-F238E27FC236}">
                <a16:creationId xmlns:a16="http://schemas.microsoft.com/office/drawing/2014/main" id="{173B9897-9FCE-53E5-D43A-CE96EE9D1A30}"/>
              </a:ext>
            </a:extLst>
          </p:cNvPr>
          <p:cNvSpPr txBox="1"/>
          <p:nvPr/>
        </p:nvSpPr>
        <p:spPr>
          <a:xfrm>
            <a:off x="1259631" y="5378732"/>
            <a:ext cx="6148659" cy="307777"/>
          </a:xfrm>
          <a:prstGeom prst="rect">
            <a:avLst/>
          </a:prstGeom>
          <a:noFill/>
        </p:spPr>
        <p:txBody>
          <a:bodyPr wrap="square">
            <a:spAutoFit/>
          </a:bodyPr>
          <a:lstStyle/>
          <a:p>
            <a:r>
              <a:rPr lang="en-US" altLang="zh-CN" sz="1400" dirty="0">
                <a:solidFill>
                  <a:schemeClr val="tx1">
                    <a:lumMod val="50000"/>
                    <a:lumOff val="50000"/>
                  </a:schemeClr>
                </a:solidFill>
                <a:effectLst/>
                <a:latin typeface="Palatino Linotype" panose="02040502050505030304" pitchFamily="18" charset="0"/>
              </a:rPr>
              <a:t>Synthesized attributes: </a:t>
            </a:r>
            <a:r>
              <a:rPr lang="en-US" altLang="zh-CN" sz="1400" dirty="0" err="1">
                <a:solidFill>
                  <a:schemeClr val="tx1">
                    <a:lumMod val="50000"/>
                    <a:lumOff val="50000"/>
                  </a:schemeClr>
                </a:solidFill>
                <a:effectLst/>
                <a:latin typeface="Palatino Linotype" panose="02040502050505030304" pitchFamily="18" charset="0"/>
              </a:rPr>
              <a:t>val</a:t>
            </a:r>
            <a:r>
              <a:rPr lang="en-US" altLang="zh-CN" sz="1400" dirty="0">
                <a:solidFill>
                  <a:schemeClr val="tx1">
                    <a:lumMod val="50000"/>
                    <a:lumOff val="50000"/>
                  </a:schemeClr>
                </a:solidFill>
                <a:effectLst/>
                <a:latin typeface="Palatino Linotype" panose="02040502050505030304" pitchFamily="18" charset="0"/>
              </a:rPr>
              <a:t>, syn, </a:t>
            </a:r>
            <a:r>
              <a:rPr lang="en-US" altLang="zh-CN" sz="1400" dirty="0" err="1">
                <a:solidFill>
                  <a:schemeClr val="tx1">
                    <a:lumMod val="50000"/>
                    <a:lumOff val="50000"/>
                  </a:schemeClr>
                </a:solidFill>
                <a:effectLst/>
                <a:latin typeface="Palatino Linotype" panose="02040502050505030304" pitchFamily="18" charset="0"/>
              </a:rPr>
              <a:t>lexval</a:t>
            </a:r>
            <a:r>
              <a:rPr lang="en-US" altLang="zh-CN" sz="1400" dirty="0">
                <a:solidFill>
                  <a:schemeClr val="tx1">
                    <a:lumMod val="50000"/>
                    <a:lumOff val="50000"/>
                  </a:schemeClr>
                </a:solidFill>
                <a:effectLst/>
                <a:latin typeface="Palatino Linotype" panose="02040502050505030304" pitchFamily="18" charset="0"/>
              </a:rPr>
              <a:t>. Inherited attributes: </a:t>
            </a:r>
            <a:r>
              <a:rPr lang="en-US" altLang="zh-CN" sz="1400" dirty="0" err="1">
                <a:solidFill>
                  <a:schemeClr val="tx1">
                    <a:lumMod val="50000"/>
                    <a:lumOff val="50000"/>
                  </a:schemeClr>
                </a:solidFill>
                <a:effectLst/>
                <a:latin typeface="Palatino Linotype" panose="02040502050505030304" pitchFamily="18" charset="0"/>
              </a:rPr>
              <a:t>inh</a:t>
            </a:r>
            <a:endParaRPr lang="zh-CN" altLang="en-US" sz="1400" dirty="0">
              <a:solidFill>
                <a:schemeClr val="tx1">
                  <a:lumMod val="50000"/>
                  <a:lumOff val="50000"/>
                </a:schemeClr>
              </a:solidFill>
            </a:endParaRPr>
          </a:p>
        </p:txBody>
      </p:sp>
      <p:sp>
        <p:nvSpPr>
          <p:cNvPr id="14" name="文本框 13">
            <a:extLst>
              <a:ext uri="{FF2B5EF4-FFF2-40B4-BE49-F238E27FC236}">
                <a16:creationId xmlns:a16="http://schemas.microsoft.com/office/drawing/2014/main" id="{5F9394E6-277E-5B08-28F9-4BA8B4B860AD}"/>
              </a:ext>
            </a:extLst>
          </p:cNvPr>
          <p:cNvSpPr txBox="1"/>
          <p:nvPr/>
        </p:nvSpPr>
        <p:spPr>
          <a:xfrm>
            <a:off x="6300192" y="2175865"/>
            <a:ext cx="2502024" cy="307777"/>
          </a:xfrm>
          <a:prstGeom prst="rect">
            <a:avLst/>
          </a:prstGeom>
          <a:noFill/>
        </p:spPr>
        <p:txBody>
          <a:bodyPr wrap="square">
            <a:spAutoFit/>
          </a:bodyPr>
          <a:lstStyle/>
          <a:p>
            <a:r>
              <a:rPr lang="en-US" altLang="zh-CN" sz="1400" dirty="0">
                <a:solidFill>
                  <a:srgbClr val="FF0000"/>
                </a:solidFill>
                <a:effectLst/>
                <a:latin typeface="Palatino Linotype" panose="02040502050505030304" pitchFamily="18" charset="0"/>
              </a:rPr>
              <a:t>Left sibling’s attribute</a:t>
            </a:r>
            <a:endParaRPr lang="zh-CN" altLang="en-US" sz="1400" dirty="0"/>
          </a:p>
        </p:txBody>
      </p:sp>
      <p:sp>
        <p:nvSpPr>
          <p:cNvPr id="16" name="文本框 15">
            <a:extLst>
              <a:ext uri="{FF2B5EF4-FFF2-40B4-BE49-F238E27FC236}">
                <a16:creationId xmlns:a16="http://schemas.microsoft.com/office/drawing/2014/main" id="{0F7141F9-3A69-B483-F74C-7A780431A193}"/>
              </a:ext>
            </a:extLst>
          </p:cNvPr>
          <p:cNvSpPr txBox="1"/>
          <p:nvPr/>
        </p:nvSpPr>
        <p:spPr>
          <a:xfrm>
            <a:off x="6422777" y="3500300"/>
            <a:ext cx="3078088" cy="523220"/>
          </a:xfrm>
          <a:prstGeom prst="rect">
            <a:avLst/>
          </a:prstGeom>
          <a:noFill/>
        </p:spPr>
        <p:txBody>
          <a:bodyPr wrap="square">
            <a:spAutoFit/>
          </a:bodyPr>
          <a:lstStyle/>
          <a:p>
            <a:r>
              <a:rPr lang="en-US" altLang="zh-CN" sz="1400" dirty="0">
                <a:solidFill>
                  <a:srgbClr val="FF0000"/>
                </a:solidFill>
                <a:effectLst/>
                <a:latin typeface="Arial" panose="020B0604020202020204" pitchFamily="34" charset="0"/>
              </a:rPr>
              <a:t>• </a:t>
            </a:r>
            <a:r>
              <a:rPr lang="en-US" altLang="zh-CN" sz="1400" dirty="0">
                <a:solidFill>
                  <a:srgbClr val="FF0000"/>
                </a:solidFill>
                <a:effectLst/>
                <a:latin typeface="Palatino Linotype" panose="02040502050505030304" pitchFamily="18" charset="0"/>
              </a:rPr>
              <a:t>Parent’s inherited attribute </a:t>
            </a:r>
            <a:endParaRPr lang="en-US" altLang="zh-CN" sz="1400" dirty="0"/>
          </a:p>
          <a:p>
            <a:r>
              <a:rPr lang="en-US" altLang="zh-CN" sz="1400" dirty="0">
                <a:solidFill>
                  <a:srgbClr val="FF0000"/>
                </a:solidFill>
                <a:effectLst/>
                <a:latin typeface="Arial" panose="020B0604020202020204" pitchFamily="34" charset="0"/>
              </a:rPr>
              <a:t>• </a:t>
            </a:r>
            <a:r>
              <a:rPr lang="en-US" altLang="zh-CN" sz="1400" dirty="0">
                <a:solidFill>
                  <a:srgbClr val="FF0000"/>
                </a:solidFill>
                <a:effectLst/>
                <a:latin typeface="Palatino Linotype" panose="02040502050505030304" pitchFamily="18" charset="0"/>
              </a:rPr>
              <a:t>Left sibling’s attribute</a:t>
            </a:r>
            <a:endParaRPr lang="zh-CN" altLang="en-US" sz="1400" dirty="0"/>
          </a:p>
        </p:txBody>
      </p:sp>
      <p:sp>
        <p:nvSpPr>
          <p:cNvPr id="2" name="任意多边形: 形状 1">
            <a:extLst>
              <a:ext uri="{FF2B5EF4-FFF2-40B4-BE49-F238E27FC236}">
                <a16:creationId xmlns:a16="http://schemas.microsoft.com/office/drawing/2014/main" id="{8CE94D53-D2B2-4599-9B21-F8BEA89E3E0A}"/>
              </a:ext>
            </a:extLst>
          </p:cNvPr>
          <p:cNvSpPr/>
          <p:nvPr/>
        </p:nvSpPr>
        <p:spPr>
          <a:xfrm>
            <a:off x="4869712" y="2083837"/>
            <a:ext cx="999460" cy="170265"/>
          </a:xfrm>
          <a:custGeom>
            <a:avLst/>
            <a:gdLst>
              <a:gd name="connsiteX0" fmla="*/ 0 w 999460"/>
              <a:gd name="connsiteY0" fmla="*/ 170265 h 170265"/>
              <a:gd name="connsiteX1" fmla="*/ 457200 w 999460"/>
              <a:gd name="connsiteY1" fmla="*/ 144 h 170265"/>
              <a:gd name="connsiteX2" fmla="*/ 999460 w 999460"/>
              <a:gd name="connsiteY2" fmla="*/ 138368 h 170265"/>
              <a:gd name="connsiteX3" fmla="*/ 999460 w 999460"/>
              <a:gd name="connsiteY3" fmla="*/ 138368 h 170265"/>
            </a:gdLst>
            <a:ahLst/>
            <a:cxnLst>
              <a:cxn ang="0">
                <a:pos x="connsiteX0" y="connsiteY0"/>
              </a:cxn>
              <a:cxn ang="0">
                <a:pos x="connsiteX1" y="connsiteY1"/>
              </a:cxn>
              <a:cxn ang="0">
                <a:pos x="connsiteX2" y="connsiteY2"/>
              </a:cxn>
              <a:cxn ang="0">
                <a:pos x="connsiteX3" y="connsiteY3"/>
              </a:cxn>
            </a:cxnLst>
            <a:rect l="l" t="t" r="r" b="b"/>
            <a:pathLst>
              <a:path w="999460" h="170265">
                <a:moveTo>
                  <a:pt x="0" y="170265"/>
                </a:moveTo>
                <a:cubicBezTo>
                  <a:pt x="145312" y="87862"/>
                  <a:pt x="290624" y="5460"/>
                  <a:pt x="457200" y="144"/>
                </a:cubicBezTo>
                <a:cubicBezTo>
                  <a:pt x="623776" y="-5172"/>
                  <a:pt x="999460" y="138368"/>
                  <a:pt x="999460" y="138368"/>
                </a:cubicBezTo>
                <a:lnTo>
                  <a:pt x="999460" y="138368"/>
                </a:lnTo>
              </a:path>
            </a:pathLst>
          </a:custGeom>
          <a:noFill/>
          <a:ln w="19050">
            <a:solidFill>
              <a:srgbClr val="FF0000"/>
            </a:solidFill>
            <a:headEnd type="arrow"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任意多边形: 形状 10">
            <a:extLst>
              <a:ext uri="{FF2B5EF4-FFF2-40B4-BE49-F238E27FC236}">
                <a16:creationId xmlns:a16="http://schemas.microsoft.com/office/drawing/2014/main" id="{5FAF34F5-5407-40B7-9651-3479AF6DA277}"/>
              </a:ext>
            </a:extLst>
          </p:cNvPr>
          <p:cNvSpPr/>
          <p:nvPr/>
        </p:nvSpPr>
        <p:spPr bwMode="auto">
          <a:xfrm>
            <a:off x="4859007" y="2870955"/>
            <a:ext cx="1010165" cy="170265"/>
          </a:xfrm>
          <a:custGeom>
            <a:avLst/>
            <a:gdLst>
              <a:gd name="connsiteX0" fmla="*/ 0 w 999460"/>
              <a:gd name="connsiteY0" fmla="*/ 170265 h 170265"/>
              <a:gd name="connsiteX1" fmla="*/ 457200 w 999460"/>
              <a:gd name="connsiteY1" fmla="*/ 144 h 170265"/>
              <a:gd name="connsiteX2" fmla="*/ 999460 w 999460"/>
              <a:gd name="connsiteY2" fmla="*/ 138368 h 170265"/>
              <a:gd name="connsiteX3" fmla="*/ 999460 w 999460"/>
              <a:gd name="connsiteY3" fmla="*/ 138368 h 170265"/>
            </a:gdLst>
            <a:ahLst/>
            <a:cxnLst>
              <a:cxn ang="0">
                <a:pos x="connsiteX0" y="connsiteY0"/>
              </a:cxn>
              <a:cxn ang="0">
                <a:pos x="connsiteX1" y="connsiteY1"/>
              </a:cxn>
              <a:cxn ang="0">
                <a:pos x="connsiteX2" y="connsiteY2"/>
              </a:cxn>
              <a:cxn ang="0">
                <a:pos x="connsiteX3" y="connsiteY3"/>
              </a:cxn>
            </a:cxnLst>
            <a:rect l="l" t="t" r="r" b="b"/>
            <a:pathLst>
              <a:path w="999460" h="170265">
                <a:moveTo>
                  <a:pt x="0" y="170265"/>
                </a:moveTo>
                <a:cubicBezTo>
                  <a:pt x="145312" y="87862"/>
                  <a:pt x="290624" y="5460"/>
                  <a:pt x="457200" y="144"/>
                </a:cubicBezTo>
                <a:cubicBezTo>
                  <a:pt x="623776" y="-5172"/>
                  <a:pt x="999460" y="138368"/>
                  <a:pt x="999460" y="138368"/>
                </a:cubicBezTo>
                <a:lnTo>
                  <a:pt x="999460" y="138368"/>
                </a:lnTo>
              </a:path>
            </a:pathLst>
          </a:custGeom>
          <a:noFill/>
          <a:ln w="19050">
            <a:solidFill>
              <a:srgbClr val="FF0000"/>
            </a:solidFill>
            <a:headEnd type="arrow"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a:extLst>
              <a:ext uri="{FF2B5EF4-FFF2-40B4-BE49-F238E27FC236}">
                <a16:creationId xmlns:a16="http://schemas.microsoft.com/office/drawing/2014/main" id="{BB8136C6-E46A-4E97-B338-0CD9F1E9FB3D}"/>
              </a:ext>
            </a:extLst>
          </p:cNvPr>
          <p:cNvSpPr/>
          <p:nvPr/>
        </p:nvSpPr>
        <p:spPr bwMode="auto">
          <a:xfrm rot="10800000">
            <a:off x="4859007" y="3270760"/>
            <a:ext cx="2017247" cy="158240"/>
          </a:xfrm>
          <a:custGeom>
            <a:avLst/>
            <a:gdLst>
              <a:gd name="connsiteX0" fmla="*/ 0 w 999460"/>
              <a:gd name="connsiteY0" fmla="*/ 170265 h 170265"/>
              <a:gd name="connsiteX1" fmla="*/ 457200 w 999460"/>
              <a:gd name="connsiteY1" fmla="*/ 144 h 170265"/>
              <a:gd name="connsiteX2" fmla="*/ 999460 w 999460"/>
              <a:gd name="connsiteY2" fmla="*/ 138368 h 170265"/>
              <a:gd name="connsiteX3" fmla="*/ 999460 w 999460"/>
              <a:gd name="connsiteY3" fmla="*/ 138368 h 170265"/>
            </a:gdLst>
            <a:ahLst/>
            <a:cxnLst>
              <a:cxn ang="0">
                <a:pos x="connsiteX0" y="connsiteY0"/>
              </a:cxn>
              <a:cxn ang="0">
                <a:pos x="connsiteX1" y="connsiteY1"/>
              </a:cxn>
              <a:cxn ang="0">
                <a:pos x="connsiteX2" y="connsiteY2"/>
              </a:cxn>
              <a:cxn ang="0">
                <a:pos x="connsiteX3" y="connsiteY3"/>
              </a:cxn>
            </a:cxnLst>
            <a:rect l="l" t="t" r="r" b="b"/>
            <a:pathLst>
              <a:path w="999460" h="170265">
                <a:moveTo>
                  <a:pt x="0" y="170265"/>
                </a:moveTo>
                <a:cubicBezTo>
                  <a:pt x="145312" y="87862"/>
                  <a:pt x="290624" y="5460"/>
                  <a:pt x="457200" y="144"/>
                </a:cubicBezTo>
                <a:cubicBezTo>
                  <a:pt x="623776" y="-5172"/>
                  <a:pt x="999460" y="138368"/>
                  <a:pt x="999460" y="138368"/>
                </a:cubicBezTo>
                <a:lnTo>
                  <a:pt x="999460" y="138368"/>
                </a:ln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pPr algn="ctr"/>
            <a:r>
              <a:rPr lang="en-US" altLang="zh-CN" sz="3600" dirty="0">
                <a:latin typeface="Times New Roman" panose="02020603050405020304" pitchFamily="18" charset="0"/>
                <a:cs typeface="Times New Roman" panose="02020603050405020304" pitchFamily="18" charset="0"/>
              </a:rPr>
              <a:t>Attribute Evaluation </a:t>
            </a:r>
            <a:br>
              <a:rPr lang="en-US" altLang="zh-CN" sz="3600" dirty="0">
                <a:latin typeface="Times New Roman" panose="02020603050405020304" pitchFamily="18" charset="0"/>
                <a:cs typeface="Times New Roman" panose="02020603050405020304" pitchFamily="18" charset="0"/>
              </a:rPr>
            </a:br>
            <a:r>
              <a:rPr lang="en-US" altLang="zh-CN" sz="3600" dirty="0">
                <a:latin typeface="Times New Roman" panose="02020603050405020304" pitchFamily="18" charset="0"/>
                <a:cs typeface="Times New Roman" panose="02020603050405020304" pitchFamily="18" charset="0"/>
              </a:rPr>
              <a:t>for L-Attributed Definitions</a:t>
            </a:r>
            <a:endParaRPr lang="zh-CN" altLang="en-US" sz="3600" dirty="0">
              <a:latin typeface="Times New Roman" panose="02020603050405020304" pitchFamily="18" charset="0"/>
              <a:cs typeface="Times New Roman" panose="02020603050405020304" pitchFamily="18" charset="0"/>
            </a:endParaRPr>
          </a:p>
        </p:txBody>
      </p:sp>
      <p:sp>
        <p:nvSpPr>
          <p:cNvPr id="4" name="内容占位符 3"/>
          <p:cNvSpPr>
            <a:spLocks noGrp="1"/>
          </p:cNvSpPr>
          <p:nvPr>
            <p:ph idx="1"/>
          </p:nvPr>
        </p:nvSpPr>
        <p:spPr>
          <a:xfrm>
            <a:off x="628650" y="1556385"/>
            <a:ext cx="7886700" cy="1080527"/>
          </a:xfrm>
        </p:spPr>
        <p:txBody>
          <a:bodyPr>
            <a:noAutofit/>
          </a:bodyPr>
          <a:lstStyle/>
          <a:p>
            <a:pPr marL="0" indent="0">
              <a:buNone/>
            </a:pPr>
            <a:r>
              <a:rPr lang="en-US" altLang="zh-CN" sz="1800" b="1" dirty="0">
                <a:solidFill>
                  <a:srgbClr val="FF0000"/>
                </a:solidFill>
                <a:effectLst/>
                <a:latin typeface="Times New Roman" panose="02020603050405020304" pitchFamily="18" charset="0"/>
                <a:cs typeface="Times New Roman" panose="02020603050405020304" pitchFamily="18" charset="0"/>
              </a:rPr>
              <a:t>Input: </a:t>
            </a:r>
            <a:r>
              <a:rPr lang="en-US" altLang="zh-CN" sz="1800" dirty="0">
                <a:solidFill>
                  <a:srgbClr val="000000"/>
                </a:solidFill>
                <a:effectLst/>
                <a:latin typeface="Times New Roman" panose="02020603050405020304" pitchFamily="18" charset="0"/>
                <a:cs typeface="Times New Roman" panose="02020603050405020304" pitchFamily="18" charset="0"/>
              </a:rPr>
              <a:t>A node </a:t>
            </a:r>
            <a:r>
              <a:rPr lang="en-US" altLang="zh-CN" sz="1800" i="1" dirty="0">
                <a:solidFill>
                  <a:srgbClr val="000000"/>
                </a:solidFill>
                <a:effectLst/>
                <a:latin typeface="Times New Roman" panose="02020603050405020304" pitchFamily="18" charset="0"/>
                <a:cs typeface="Times New Roman" panose="02020603050405020304" pitchFamily="18" charset="0"/>
              </a:rPr>
              <a:t>n</a:t>
            </a:r>
            <a:r>
              <a:rPr lang="en-US" altLang="zh-CN" sz="1800" dirty="0">
                <a:solidFill>
                  <a:srgbClr val="000000"/>
                </a:solidFill>
                <a:effectLst/>
                <a:latin typeface="Times New Roman" panose="02020603050405020304" pitchFamily="18" charset="0"/>
                <a:cs typeface="Times New Roman" panose="02020603050405020304" pitchFamily="18" charset="0"/>
              </a:rPr>
              <a:t> in a parse tree </a:t>
            </a:r>
            <a:r>
              <a:rPr lang="en-US" altLang="zh-CN" sz="1800" i="1" dirty="0">
                <a:solidFill>
                  <a:srgbClr val="000000"/>
                </a:solidFill>
                <a:effectLst/>
                <a:latin typeface="Times New Roman" panose="02020603050405020304" pitchFamily="18" charset="0"/>
                <a:cs typeface="Times New Roman" panose="02020603050405020304" pitchFamily="18" charset="0"/>
              </a:rPr>
              <a:t>T</a:t>
            </a:r>
            <a:r>
              <a:rPr lang="en-US" altLang="zh-CN" sz="1800" dirty="0">
                <a:solidFill>
                  <a:srgbClr val="000000"/>
                </a:solidFill>
                <a:effectLst/>
                <a:latin typeface="Times New Roman" panose="02020603050405020304" pitchFamily="18" charset="0"/>
                <a:cs typeface="Times New Roman" panose="02020603050405020304" pitchFamily="18" charset="0"/>
              </a:rPr>
              <a:t> </a:t>
            </a:r>
            <a:endParaRPr lang="en-US" altLang="zh-CN" sz="1200" dirty="0">
              <a:latin typeface="Times New Roman" panose="02020603050405020304" pitchFamily="18" charset="0"/>
              <a:cs typeface="Times New Roman" panose="02020603050405020304" pitchFamily="18" charset="0"/>
            </a:endParaRPr>
          </a:p>
          <a:p>
            <a:pPr marL="0" indent="0">
              <a:buNone/>
            </a:pPr>
            <a:r>
              <a:rPr lang="en-US" altLang="zh-CN" sz="1800" b="1" dirty="0">
                <a:solidFill>
                  <a:srgbClr val="FF0000"/>
                </a:solidFill>
                <a:effectLst/>
                <a:latin typeface="Times New Roman" panose="02020603050405020304" pitchFamily="18" charset="0"/>
                <a:cs typeface="Times New Roman" panose="02020603050405020304" pitchFamily="18" charset="0"/>
              </a:rPr>
              <a:t>Output: </a:t>
            </a:r>
            <a:r>
              <a:rPr lang="en-US" altLang="zh-CN" sz="1800" dirty="0">
                <a:solidFill>
                  <a:srgbClr val="000000"/>
                </a:solidFill>
                <a:effectLst/>
                <a:latin typeface="Times New Roman" panose="02020603050405020304" pitchFamily="18" charset="0"/>
                <a:cs typeface="Times New Roman" panose="02020603050405020304" pitchFamily="18" charset="0"/>
              </a:rPr>
              <a:t>An evaluation order for the attributes of the subtree rooted at </a:t>
            </a:r>
            <a:r>
              <a:rPr lang="en-US" altLang="zh-CN" sz="1800" i="1" dirty="0">
                <a:solidFill>
                  <a:srgbClr val="000000"/>
                </a:solidFill>
                <a:effectLst/>
                <a:latin typeface="Times New Roman" panose="02020603050405020304" pitchFamily="18" charset="0"/>
                <a:cs typeface="Times New Roman" panose="02020603050405020304" pitchFamily="18" charset="0"/>
              </a:rPr>
              <a:t>n</a:t>
            </a:r>
            <a:endParaRPr sz="1800" i="1" dirty="0">
              <a:latin typeface="Times New Roman" panose="02020603050405020304" pitchFamily="18" charset="0"/>
              <a:ea typeface="Palatino Linotype" panose="02040502050505030304"/>
              <a:cs typeface="Times New Roman" panose="02020603050405020304" pitchFamily="18" charset="0"/>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latin typeface="Times New Roman" panose="02020603050405020304" pitchFamily="18" charset="0"/>
                <a:cs typeface="Times New Roman" panose="02020603050405020304" pitchFamily="18" charset="0"/>
              </a:rPr>
              <a:t>Fall 2024</a:t>
            </a:r>
            <a:endParaRPr lang="en-US">
              <a:latin typeface="Times New Roman" panose="02020603050405020304" pitchFamily="18" charset="0"/>
              <a:cs typeface="Times New Roman" panose="02020603050405020304" pitchFamily="18" charset="0"/>
            </a:endParaRPr>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latin typeface="Times New Roman" panose="02020603050405020304" pitchFamily="18" charset="0"/>
                <a:cs typeface="Times New Roman" panose="02020603050405020304" pitchFamily="18" charset="0"/>
              </a:rP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latin typeface="Times New Roman" panose="02020603050405020304" pitchFamily="18" charset="0"/>
                <a:cs typeface="Times New Roman" panose="02020603050405020304" pitchFamily="18" charset="0"/>
              </a:rPr>
              <a:t>24</a:t>
            </a:fld>
            <a:endParaRPr>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6A115F3B-8286-3BE6-EFF9-BCDF192F819E}"/>
              </a:ext>
            </a:extLst>
          </p:cNvPr>
          <p:cNvSpPr txBox="1"/>
          <p:nvPr/>
        </p:nvSpPr>
        <p:spPr>
          <a:xfrm>
            <a:off x="628650" y="2716292"/>
            <a:ext cx="2632452" cy="2862322"/>
          </a:xfrm>
          <a:prstGeom prst="rect">
            <a:avLst/>
          </a:prstGeom>
          <a:noFill/>
        </p:spPr>
        <p:txBody>
          <a:bodyPr wrap="none" rtlCol="0">
            <a:spAutoFit/>
          </a:bodyPr>
          <a:lstStyle/>
          <a:p>
            <a:r>
              <a:rPr lang="en-US" altLang="zh-CN" b="1" dirty="0">
                <a:solidFill>
                  <a:srgbClr val="0331FF"/>
                </a:solidFill>
                <a:latin typeface="Times New Roman" panose="02020603050405020304" pitchFamily="18" charset="0"/>
                <a:cs typeface="Times New Roman" panose="02020603050405020304" pitchFamily="18" charset="0"/>
              </a:rPr>
              <a:t>Procedure</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depth_first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p>
          <a:p>
            <a:r>
              <a:rPr lang="en-US" altLang="zh-CN" b="1" dirty="0">
                <a:solidFill>
                  <a:srgbClr val="0331FF"/>
                </a:solidFill>
                <a:latin typeface="Times New Roman" panose="02020603050405020304" pitchFamily="18" charset="0"/>
                <a:cs typeface="Times New Roman" panose="02020603050405020304" pitchFamily="18" charset="0"/>
              </a:rPr>
              <a:t>Begin</a:t>
            </a: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b="1" dirty="0">
                <a:solidFill>
                  <a:srgbClr val="0331FF"/>
                </a:solidFill>
                <a:latin typeface="Times New Roman" panose="02020603050405020304" pitchFamily="18" charset="0"/>
                <a:cs typeface="Times New Roman" panose="02020603050405020304" pitchFamily="18" charset="0"/>
              </a:rPr>
              <a:t>end</a:t>
            </a:r>
            <a:endParaRPr lang="zh-CN" altLang="en-US" b="1" dirty="0">
              <a:solidFill>
                <a:srgbClr val="0331FF"/>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1AFDBFFB-E5B1-5F2A-8B07-5718D63E34F4}"/>
              </a:ext>
            </a:extLst>
          </p:cNvPr>
          <p:cNvSpPr/>
          <p:nvPr/>
        </p:nvSpPr>
        <p:spPr>
          <a:xfrm>
            <a:off x="3594770" y="2707521"/>
            <a:ext cx="5040560" cy="5935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4F514456-A0D7-1465-B7FC-E4456F16F105}"/>
              </a:ext>
            </a:extLst>
          </p:cNvPr>
          <p:cNvSpPr txBox="1"/>
          <p:nvPr/>
        </p:nvSpPr>
        <p:spPr>
          <a:xfrm>
            <a:off x="3594770" y="2711906"/>
            <a:ext cx="5040560" cy="584775"/>
          </a:xfrm>
          <a:prstGeom prst="rect">
            <a:avLst/>
          </a:prstGeom>
          <a:noFill/>
        </p:spPr>
        <p:txBody>
          <a:bodyPr wrap="square">
            <a:spAutoFit/>
          </a:bodyPr>
          <a:lstStyle/>
          <a:p>
            <a:r>
              <a:rPr lang="en-US" altLang="zh-CN" sz="1600" dirty="0">
                <a:solidFill>
                  <a:srgbClr val="000000"/>
                </a:solidFill>
                <a:effectLst/>
                <a:latin typeface="Times New Roman" panose="02020603050405020304" pitchFamily="18" charset="0"/>
                <a:cs typeface="Times New Roman" panose="02020603050405020304" pitchFamily="18" charset="0"/>
              </a:rPr>
              <a:t>When evaluating the inherited attributes of a node, the attributes of nodes to its left have been evaluated </a:t>
            </a:r>
            <a:endParaRPr lang="zh-CN" altLang="en-US" sz="1600" dirty="0">
              <a:latin typeface="Times New Roman" panose="02020603050405020304" pitchFamily="18" charset="0"/>
              <a:cs typeface="Times New Roman" panose="02020603050405020304" pitchFamily="18" charset="0"/>
            </a:endParaRPr>
          </a:p>
        </p:txBody>
      </p:sp>
      <p:sp>
        <p:nvSpPr>
          <p:cNvPr id="8" name="流程图: 过程 7">
            <a:extLst>
              <a:ext uri="{FF2B5EF4-FFF2-40B4-BE49-F238E27FC236}">
                <a16:creationId xmlns:a16="http://schemas.microsoft.com/office/drawing/2014/main" id="{27D52446-B89C-84BB-DC6D-7AEAEB9B1179}"/>
              </a:ext>
            </a:extLst>
          </p:cNvPr>
          <p:cNvSpPr/>
          <p:nvPr/>
        </p:nvSpPr>
        <p:spPr>
          <a:xfrm>
            <a:off x="827584" y="3653744"/>
            <a:ext cx="7807746" cy="1477328"/>
          </a:xfrm>
          <a:prstGeom prst="flowChartProcess">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092FAE5-1923-64D7-5ABB-A2100E499E0C}"/>
              </a:ext>
            </a:extLst>
          </p:cNvPr>
          <p:cNvSpPr txBox="1"/>
          <p:nvPr/>
        </p:nvSpPr>
        <p:spPr>
          <a:xfrm>
            <a:off x="827584" y="3653744"/>
            <a:ext cx="7807746" cy="1477328"/>
          </a:xfrm>
          <a:prstGeom prst="rect">
            <a:avLst/>
          </a:prstGeom>
          <a:noFill/>
        </p:spPr>
        <p:txBody>
          <a:bodyPr wrap="square">
            <a:spAutoFit/>
          </a:bodyPr>
          <a:lstStyle/>
          <a:p>
            <a:r>
              <a:rPr lang="en-US" altLang="zh-CN" sz="1800" dirty="0">
                <a:solidFill>
                  <a:srgbClr val="FF0000"/>
                </a:solidFill>
                <a:effectLst/>
                <a:latin typeface="Times New Roman" panose="02020603050405020304" pitchFamily="18" charset="0"/>
                <a:cs typeface="Times New Roman" panose="02020603050405020304" pitchFamily="18" charset="0"/>
              </a:rPr>
              <a:t>for every child </a:t>
            </a:r>
            <a:r>
              <a:rPr lang="en-US" altLang="zh-CN" sz="1800" i="1" dirty="0">
                <a:solidFill>
                  <a:srgbClr val="FF0000"/>
                </a:solidFill>
                <a:effectLst/>
                <a:latin typeface="Times New Roman" panose="02020603050405020304" pitchFamily="18" charset="0"/>
                <a:cs typeface="Times New Roman" panose="02020603050405020304" pitchFamily="18" charset="0"/>
              </a:rPr>
              <a:t>m</a:t>
            </a:r>
            <a:r>
              <a:rPr lang="en-US" altLang="zh-CN" sz="1800" dirty="0">
                <a:solidFill>
                  <a:srgbClr val="FF0000"/>
                </a:solidFill>
                <a:effectLst/>
                <a:latin typeface="Times New Roman" panose="02020603050405020304" pitchFamily="18" charset="0"/>
                <a:cs typeface="Times New Roman" panose="02020603050405020304" pitchFamily="18" charset="0"/>
              </a:rPr>
              <a:t> of </a:t>
            </a:r>
            <a:r>
              <a:rPr lang="en-US" altLang="zh-CN" sz="1800" i="1" dirty="0">
                <a:solidFill>
                  <a:srgbClr val="FF0000"/>
                </a:solidFill>
                <a:effectLst/>
                <a:latin typeface="Times New Roman" panose="02020603050405020304" pitchFamily="18" charset="0"/>
                <a:cs typeface="Times New Roman" panose="02020603050405020304" pitchFamily="18" charset="0"/>
              </a:rPr>
              <a:t>n</a:t>
            </a:r>
            <a:r>
              <a:rPr lang="en-US" altLang="zh-CN" sz="1800" dirty="0">
                <a:solidFill>
                  <a:srgbClr val="FF0000"/>
                </a:solidFill>
                <a:effectLst/>
                <a:latin typeface="Times New Roman" panose="02020603050405020304" pitchFamily="18" charset="0"/>
                <a:cs typeface="Times New Roman" panose="02020603050405020304" pitchFamily="18" charset="0"/>
              </a:rPr>
              <a:t> from left to right </a:t>
            </a:r>
            <a:r>
              <a:rPr lang="en-US" altLang="zh-CN" sz="1800" b="1" dirty="0">
                <a:solidFill>
                  <a:srgbClr val="0432FF"/>
                </a:solidFill>
                <a:effectLst/>
                <a:latin typeface="Times New Roman" panose="02020603050405020304" pitchFamily="18" charset="0"/>
                <a:cs typeface="Times New Roman" panose="02020603050405020304" pitchFamily="18" charset="0"/>
              </a:rPr>
              <a:t>do begin </a:t>
            </a:r>
            <a:endParaRPr lang="en-US" altLang="zh-CN" dirty="0">
              <a:latin typeface="Times New Roman" panose="02020603050405020304" pitchFamily="18" charset="0"/>
              <a:cs typeface="Times New Roman" panose="02020603050405020304" pitchFamily="18" charset="0"/>
            </a:endParaRPr>
          </a:p>
          <a:p>
            <a:pPr lvl="1"/>
            <a:r>
              <a:rPr lang="en-US" altLang="zh-CN" dirty="0">
                <a:solidFill>
                  <a:srgbClr val="000000"/>
                </a:solidFill>
                <a:effectLst/>
                <a:latin typeface="Times New Roman" panose="02020603050405020304" pitchFamily="18" charset="0"/>
                <a:cs typeface="Times New Roman" panose="02020603050405020304" pitchFamily="18" charset="0"/>
              </a:rPr>
              <a:t>evaluate the inherited attributes of m; </a:t>
            </a:r>
            <a:endParaRPr lang="en-US" altLang="zh-CN" dirty="0">
              <a:latin typeface="Times New Roman" panose="02020603050405020304" pitchFamily="18" charset="0"/>
              <a:cs typeface="Times New Roman" panose="02020603050405020304" pitchFamily="18" charset="0"/>
            </a:endParaRPr>
          </a:p>
          <a:p>
            <a:pPr lvl="1"/>
            <a:r>
              <a:rPr lang="en-US" altLang="zh-CN" dirty="0" err="1">
                <a:solidFill>
                  <a:srgbClr val="000000"/>
                </a:solidFill>
                <a:effectLst/>
                <a:latin typeface="Times New Roman" panose="02020603050405020304" pitchFamily="18" charset="0"/>
                <a:cs typeface="Times New Roman" panose="02020603050405020304" pitchFamily="18" charset="0"/>
              </a:rPr>
              <a:t>depth_first</a:t>
            </a:r>
            <a:r>
              <a:rPr lang="en-US" altLang="zh-CN" dirty="0">
                <a:solidFill>
                  <a:srgbClr val="000000"/>
                </a:solidFill>
                <a:effectLst/>
                <a:latin typeface="Times New Roman" panose="02020603050405020304" pitchFamily="18" charset="0"/>
                <a:cs typeface="Times New Roman" panose="02020603050405020304" pitchFamily="18" charset="0"/>
              </a:rPr>
              <a:t>(</a:t>
            </a:r>
            <a:r>
              <a:rPr lang="en-US" altLang="zh-CN" i="1" dirty="0">
                <a:solidFill>
                  <a:srgbClr val="000000"/>
                </a:solidFill>
                <a:effectLst/>
                <a:latin typeface="Times New Roman" panose="02020603050405020304" pitchFamily="18" charset="0"/>
                <a:cs typeface="Times New Roman" panose="02020603050405020304" pitchFamily="18" charset="0"/>
              </a:rPr>
              <a:t>m</a:t>
            </a:r>
            <a:r>
              <a:rPr lang="en-US" altLang="zh-CN" dirty="0">
                <a:solidFill>
                  <a:srgbClr val="000000"/>
                </a:solidFill>
                <a:effectLst/>
                <a:latin typeface="Times New Roman" panose="02020603050405020304" pitchFamily="18" charset="0"/>
                <a:cs typeface="Times New Roman" panose="02020603050405020304" pitchFamily="18" charset="0"/>
              </a:rPr>
              <a:t>); </a:t>
            </a:r>
            <a:r>
              <a:rPr lang="en-US" altLang="zh-CN" dirty="0">
                <a:solidFill>
                  <a:srgbClr val="548235"/>
                </a:solidFill>
                <a:effectLst/>
                <a:latin typeface="Times New Roman" panose="02020603050405020304" pitchFamily="18" charset="0"/>
                <a:cs typeface="Times New Roman" panose="02020603050405020304" pitchFamily="18" charset="0"/>
              </a:rPr>
              <a:t>// </a:t>
            </a:r>
            <a:r>
              <a:rPr lang="en-US" altLang="zh-CN" dirty="0">
                <a:solidFill>
                  <a:srgbClr val="92D050"/>
                </a:solidFill>
                <a:effectLst/>
                <a:latin typeface="Times New Roman" panose="02020603050405020304" pitchFamily="18" charset="0"/>
                <a:cs typeface="Times New Roman" panose="02020603050405020304" pitchFamily="18" charset="0"/>
              </a:rPr>
              <a:t>here m’s synthesized attributes will be evaluated </a:t>
            </a:r>
            <a:endParaRPr lang="en-US" altLang="zh-CN" dirty="0">
              <a:solidFill>
                <a:srgbClr val="92D050"/>
              </a:solidFill>
              <a:latin typeface="Times New Roman" panose="02020603050405020304" pitchFamily="18" charset="0"/>
              <a:cs typeface="Times New Roman" panose="02020603050405020304" pitchFamily="18" charset="0"/>
            </a:endParaRPr>
          </a:p>
          <a:p>
            <a:r>
              <a:rPr lang="en-US" altLang="zh-CN" sz="1800" b="1" dirty="0">
                <a:solidFill>
                  <a:srgbClr val="0432FF"/>
                </a:solidFill>
                <a:effectLst/>
                <a:latin typeface="Times New Roman" panose="02020603050405020304" pitchFamily="18" charset="0"/>
                <a:cs typeface="Times New Roman" panose="02020603050405020304" pitchFamily="18" charset="0"/>
              </a:rPr>
              <a:t>end </a:t>
            </a:r>
            <a:endParaRPr lang="en-US" altLang="zh-CN" dirty="0">
              <a:latin typeface="Times New Roman" panose="02020603050405020304" pitchFamily="18" charset="0"/>
              <a:cs typeface="Times New Roman" panose="02020603050405020304" pitchFamily="18" charset="0"/>
            </a:endParaRPr>
          </a:p>
          <a:p>
            <a:r>
              <a:rPr lang="en-US" altLang="zh-CN" sz="1800" dirty="0">
                <a:solidFill>
                  <a:srgbClr val="000000"/>
                </a:solidFill>
                <a:effectLst/>
                <a:latin typeface="Times New Roman" panose="02020603050405020304" pitchFamily="18" charset="0"/>
                <a:cs typeface="Times New Roman" panose="02020603050405020304" pitchFamily="18" charset="0"/>
              </a:rPr>
              <a:t>evaluate the synthesized attributes of </a:t>
            </a:r>
            <a:r>
              <a:rPr lang="en-US" altLang="zh-CN" sz="1800" i="1" dirty="0">
                <a:solidFill>
                  <a:srgbClr val="000000"/>
                </a:solidFill>
                <a:effectLst/>
                <a:latin typeface="Times New Roman" panose="02020603050405020304" pitchFamily="18" charset="0"/>
                <a:cs typeface="Times New Roman" panose="02020603050405020304" pitchFamily="18" charset="0"/>
              </a:rPr>
              <a:t>n</a:t>
            </a:r>
            <a:r>
              <a:rPr lang="en-US" altLang="zh-CN" sz="1800" dirty="0">
                <a:solidFill>
                  <a:srgbClr val="000000"/>
                </a:solidFill>
                <a:effectLst/>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cxnSp>
        <p:nvCxnSpPr>
          <p:cNvPr id="12" name="直接箭头连接符 11">
            <a:extLst>
              <a:ext uri="{FF2B5EF4-FFF2-40B4-BE49-F238E27FC236}">
                <a16:creationId xmlns:a16="http://schemas.microsoft.com/office/drawing/2014/main" id="{DCFDB0A7-BC33-5ABD-3697-00287E35D3BB}"/>
              </a:ext>
            </a:extLst>
          </p:cNvPr>
          <p:cNvCxnSpPr>
            <a:cxnSpLocks/>
            <a:endCxn id="7" idx="2"/>
          </p:cNvCxnSpPr>
          <p:nvPr/>
        </p:nvCxnSpPr>
        <p:spPr>
          <a:xfrm flipV="1">
            <a:off x="6115050" y="3296681"/>
            <a:ext cx="0" cy="357063"/>
          </a:xfrm>
          <a:prstGeom prst="straightConnector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6" name="文本框 15">
            <a:extLst>
              <a:ext uri="{FF2B5EF4-FFF2-40B4-BE49-F238E27FC236}">
                <a16:creationId xmlns:a16="http://schemas.microsoft.com/office/drawing/2014/main" id="{8BE27D97-A1E9-6D9A-3D15-467BEDCC1AF5}"/>
              </a:ext>
            </a:extLst>
          </p:cNvPr>
          <p:cNvSpPr txBox="1"/>
          <p:nvPr/>
        </p:nvSpPr>
        <p:spPr>
          <a:xfrm>
            <a:off x="6264770" y="3301066"/>
            <a:ext cx="1133644" cy="369332"/>
          </a:xfrm>
          <a:prstGeom prst="rect">
            <a:avLst/>
          </a:prstGeom>
          <a:noFill/>
        </p:spPr>
        <p:txBody>
          <a:bodyPr wrap="none" rtlCol="0">
            <a:spAutoFit/>
          </a:bodyPr>
          <a:lstStyle/>
          <a:p>
            <a:r>
              <a:rPr lang="en-US" altLang="zh-CN" dirty="0">
                <a:solidFill>
                  <a:srgbClr val="FF0000"/>
                </a:solidFill>
                <a:latin typeface="Times New Roman" panose="02020603050405020304" pitchFamily="18" charset="0"/>
                <a:cs typeface="Times New Roman" panose="02020603050405020304" pitchFamily="18" charset="0"/>
              </a:rPr>
              <a:t>Guarantee</a:t>
            </a:r>
          </a:p>
        </p:txBody>
      </p:sp>
      <p:sp>
        <p:nvSpPr>
          <p:cNvPr id="18" name="文本框 17">
            <a:extLst>
              <a:ext uri="{FF2B5EF4-FFF2-40B4-BE49-F238E27FC236}">
                <a16:creationId xmlns:a16="http://schemas.microsoft.com/office/drawing/2014/main" id="{A4CFC038-DF0E-CE21-730B-D9CD3236761E}"/>
              </a:ext>
            </a:extLst>
          </p:cNvPr>
          <p:cNvSpPr txBox="1"/>
          <p:nvPr/>
        </p:nvSpPr>
        <p:spPr>
          <a:xfrm>
            <a:off x="0" y="5770309"/>
            <a:ext cx="9144000" cy="307777"/>
          </a:xfrm>
          <a:prstGeom prst="rect">
            <a:avLst/>
          </a:prstGeom>
          <a:noFill/>
        </p:spPr>
        <p:txBody>
          <a:bodyPr wrap="square">
            <a:spAutoFit/>
          </a:bodyPr>
          <a:lstStyle/>
          <a:p>
            <a:pPr algn="ctr"/>
            <a:r>
              <a:rPr lang="en-US" altLang="zh-CN" sz="900" dirty="0">
                <a:solidFill>
                  <a:srgbClr val="A6A6A6"/>
                </a:solidFill>
                <a:effectLst/>
                <a:latin typeface="Times New Roman" panose="02020603050405020304" pitchFamily="18" charset="0"/>
                <a:cs typeface="Times New Roman" panose="02020603050405020304" pitchFamily="18" charset="0"/>
              </a:rPr>
              <a:t>* </a:t>
            </a:r>
            <a:r>
              <a:rPr lang="en-US" altLang="zh-CN" sz="1400" dirty="0">
                <a:solidFill>
                  <a:srgbClr val="A6A6A6"/>
                </a:solidFill>
                <a:effectLst/>
                <a:latin typeface="Times New Roman" panose="02020603050405020304" pitchFamily="18" charset="0"/>
                <a:cs typeface="Times New Roman" panose="02020603050405020304" pitchFamily="18" charset="0"/>
              </a:rPr>
              <a:t>The inherited attributes of </a:t>
            </a:r>
            <a:r>
              <a:rPr lang="en-US" altLang="zh-CN" sz="1400" i="1" dirty="0">
                <a:solidFill>
                  <a:srgbClr val="A6A6A6"/>
                </a:solidFill>
                <a:effectLst/>
                <a:latin typeface="Times New Roman" panose="02020603050405020304" pitchFamily="18" charset="0"/>
                <a:cs typeface="Times New Roman" panose="02020603050405020304" pitchFamily="18" charset="0"/>
              </a:rPr>
              <a:t>n</a:t>
            </a:r>
            <a:r>
              <a:rPr lang="en-US" altLang="zh-CN" sz="1400" dirty="0">
                <a:solidFill>
                  <a:srgbClr val="A6A6A6"/>
                </a:solidFill>
                <a:effectLst/>
                <a:latin typeface="Times New Roman" panose="02020603050405020304" pitchFamily="18" charset="0"/>
                <a:cs typeface="Times New Roman" panose="02020603050405020304" pitchFamily="18" charset="0"/>
              </a:rPr>
              <a:t> are computed before calling </a:t>
            </a:r>
            <a:r>
              <a:rPr lang="en-US" altLang="zh-CN" sz="1400" dirty="0" err="1">
                <a:solidFill>
                  <a:srgbClr val="A6A6A6"/>
                </a:solidFill>
                <a:effectLst/>
                <a:latin typeface="Times New Roman" panose="02020603050405020304" pitchFamily="18" charset="0"/>
                <a:cs typeface="Times New Roman" panose="02020603050405020304" pitchFamily="18" charset="0"/>
              </a:rPr>
              <a:t>depth_first</a:t>
            </a:r>
            <a:r>
              <a:rPr lang="en-US" altLang="zh-CN" sz="1400" dirty="0">
                <a:solidFill>
                  <a:srgbClr val="A6A6A6"/>
                </a:solidFill>
                <a:effectLst/>
                <a:latin typeface="Times New Roman" panose="02020603050405020304" pitchFamily="18" charset="0"/>
                <a:cs typeface="Times New Roman" panose="02020603050405020304" pitchFamily="18" charset="0"/>
              </a:rPr>
              <a:t>(</a:t>
            </a:r>
            <a:r>
              <a:rPr lang="en-US" altLang="zh-CN" sz="1400" i="1" dirty="0">
                <a:solidFill>
                  <a:srgbClr val="A6A6A6"/>
                </a:solidFill>
                <a:effectLst/>
                <a:latin typeface="Times New Roman" panose="02020603050405020304" pitchFamily="18" charset="0"/>
                <a:cs typeface="Times New Roman" panose="02020603050405020304" pitchFamily="18" charset="0"/>
              </a:rPr>
              <a:t>n</a:t>
            </a:r>
            <a:r>
              <a:rPr lang="en-US" altLang="zh-CN" sz="1400" dirty="0">
                <a:solidFill>
                  <a:srgbClr val="A6A6A6"/>
                </a:solidFill>
                <a:effectLst/>
                <a:latin typeface="Times New Roman" panose="02020603050405020304" pitchFamily="18" charset="0"/>
                <a:cs typeface="Times New Roman" panose="02020603050405020304" pitchFamily="18" charset="0"/>
              </a:rPr>
              <a:t>), as indicated by the for body </a:t>
            </a:r>
            <a:endParaRPr lang="zh-CN" alt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pPr algn="ctr"/>
            <a:r>
              <a:rPr lang="en-US" altLang="zh-CN" sz="3600" dirty="0">
                <a:latin typeface="Times New Roman" panose="02020603050405020304" pitchFamily="18" charset="0"/>
                <a:cs typeface="Times New Roman" panose="02020603050405020304" pitchFamily="18" charset="0"/>
              </a:rPr>
              <a:t>Attribute Evaluation </a:t>
            </a:r>
            <a:br>
              <a:rPr lang="en-US" altLang="zh-CN" sz="3600" dirty="0">
                <a:latin typeface="Times New Roman" panose="02020603050405020304" pitchFamily="18" charset="0"/>
                <a:cs typeface="Times New Roman" panose="02020603050405020304" pitchFamily="18" charset="0"/>
              </a:rPr>
            </a:br>
            <a:r>
              <a:rPr lang="en-US" altLang="zh-CN" sz="3600" dirty="0">
                <a:latin typeface="Times New Roman" panose="02020603050405020304" pitchFamily="18" charset="0"/>
                <a:cs typeface="Times New Roman" panose="02020603050405020304" pitchFamily="18" charset="0"/>
              </a:rPr>
              <a:t>for L-Attributed Definitions</a:t>
            </a:r>
            <a:endParaRPr lang="zh-CN" altLang="en-US" sz="3600" dirty="0">
              <a:latin typeface="Times New Roman" panose="02020603050405020304" pitchFamily="18" charset="0"/>
              <a:cs typeface="Times New Roman" panose="02020603050405020304" pitchFamily="18" charset="0"/>
            </a:endParaRPr>
          </a:p>
        </p:txBody>
      </p:sp>
      <p:sp>
        <p:nvSpPr>
          <p:cNvPr id="4" name="内容占位符 3"/>
          <p:cNvSpPr>
            <a:spLocks noGrp="1"/>
          </p:cNvSpPr>
          <p:nvPr>
            <p:ph idx="1"/>
          </p:nvPr>
        </p:nvSpPr>
        <p:spPr>
          <a:xfrm>
            <a:off x="628650" y="1556385"/>
            <a:ext cx="7886700" cy="1080527"/>
          </a:xfrm>
        </p:spPr>
        <p:txBody>
          <a:bodyPr>
            <a:noAutofit/>
          </a:bodyPr>
          <a:lstStyle/>
          <a:p>
            <a:pPr marL="0" indent="0">
              <a:buNone/>
            </a:pPr>
            <a:r>
              <a:rPr lang="en-US" altLang="zh-CN" sz="1800" b="1" dirty="0">
                <a:solidFill>
                  <a:srgbClr val="FF0000"/>
                </a:solidFill>
                <a:effectLst/>
                <a:latin typeface="Times New Roman" panose="02020603050405020304" pitchFamily="18" charset="0"/>
                <a:cs typeface="Times New Roman" panose="02020603050405020304" pitchFamily="18" charset="0"/>
              </a:rPr>
              <a:t>Input: </a:t>
            </a:r>
            <a:r>
              <a:rPr lang="en-US" altLang="zh-CN" sz="1800" dirty="0">
                <a:solidFill>
                  <a:srgbClr val="000000"/>
                </a:solidFill>
                <a:effectLst/>
                <a:latin typeface="Times New Roman" panose="02020603050405020304" pitchFamily="18" charset="0"/>
                <a:cs typeface="Times New Roman" panose="02020603050405020304" pitchFamily="18" charset="0"/>
              </a:rPr>
              <a:t>A node </a:t>
            </a:r>
            <a:r>
              <a:rPr lang="en-US" altLang="zh-CN" sz="1800" i="1" dirty="0">
                <a:solidFill>
                  <a:srgbClr val="000000"/>
                </a:solidFill>
                <a:effectLst/>
                <a:latin typeface="Times New Roman" panose="02020603050405020304" pitchFamily="18" charset="0"/>
                <a:cs typeface="Times New Roman" panose="02020603050405020304" pitchFamily="18" charset="0"/>
              </a:rPr>
              <a:t>n</a:t>
            </a:r>
            <a:r>
              <a:rPr lang="en-US" altLang="zh-CN" sz="1800" dirty="0">
                <a:solidFill>
                  <a:srgbClr val="000000"/>
                </a:solidFill>
                <a:effectLst/>
                <a:latin typeface="Times New Roman" panose="02020603050405020304" pitchFamily="18" charset="0"/>
                <a:cs typeface="Times New Roman" panose="02020603050405020304" pitchFamily="18" charset="0"/>
              </a:rPr>
              <a:t> in a parse tree </a:t>
            </a:r>
            <a:r>
              <a:rPr lang="en-US" altLang="zh-CN" sz="1800" i="1" dirty="0">
                <a:solidFill>
                  <a:srgbClr val="000000"/>
                </a:solidFill>
                <a:effectLst/>
                <a:latin typeface="Times New Roman" panose="02020603050405020304" pitchFamily="18" charset="0"/>
                <a:cs typeface="Times New Roman" panose="02020603050405020304" pitchFamily="18" charset="0"/>
              </a:rPr>
              <a:t>T</a:t>
            </a:r>
            <a:r>
              <a:rPr lang="en-US" altLang="zh-CN" sz="1800" dirty="0">
                <a:solidFill>
                  <a:srgbClr val="000000"/>
                </a:solidFill>
                <a:effectLst/>
                <a:latin typeface="Times New Roman" panose="02020603050405020304" pitchFamily="18" charset="0"/>
                <a:cs typeface="Times New Roman" panose="02020603050405020304" pitchFamily="18" charset="0"/>
              </a:rPr>
              <a:t> </a:t>
            </a:r>
            <a:endParaRPr lang="en-US" altLang="zh-CN" sz="1200" dirty="0">
              <a:latin typeface="Times New Roman" panose="02020603050405020304" pitchFamily="18" charset="0"/>
              <a:cs typeface="Times New Roman" panose="02020603050405020304" pitchFamily="18" charset="0"/>
            </a:endParaRPr>
          </a:p>
          <a:p>
            <a:pPr marL="0" indent="0">
              <a:buNone/>
            </a:pPr>
            <a:r>
              <a:rPr lang="en-US" altLang="zh-CN" sz="1800" b="1" dirty="0">
                <a:solidFill>
                  <a:srgbClr val="FF0000"/>
                </a:solidFill>
                <a:effectLst/>
                <a:latin typeface="Times New Roman" panose="02020603050405020304" pitchFamily="18" charset="0"/>
                <a:cs typeface="Times New Roman" panose="02020603050405020304" pitchFamily="18" charset="0"/>
              </a:rPr>
              <a:t>Output: </a:t>
            </a:r>
            <a:r>
              <a:rPr lang="en-US" altLang="zh-CN" sz="1800" dirty="0">
                <a:solidFill>
                  <a:srgbClr val="000000"/>
                </a:solidFill>
                <a:effectLst/>
                <a:latin typeface="Times New Roman" panose="02020603050405020304" pitchFamily="18" charset="0"/>
                <a:cs typeface="Times New Roman" panose="02020603050405020304" pitchFamily="18" charset="0"/>
              </a:rPr>
              <a:t>An evaluation order for the attributes of the subtree rooted at </a:t>
            </a:r>
            <a:r>
              <a:rPr lang="en-US" altLang="zh-CN" sz="1800" i="1" dirty="0">
                <a:solidFill>
                  <a:srgbClr val="000000"/>
                </a:solidFill>
                <a:effectLst/>
                <a:latin typeface="Times New Roman" panose="02020603050405020304" pitchFamily="18" charset="0"/>
                <a:cs typeface="Times New Roman" panose="02020603050405020304" pitchFamily="18" charset="0"/>
              </a:rPr>
              <a:t>n</a:t>
            </a:r>
            <a:endParaRPr sz="1800" i="1" dirty="0">
              <a:latin typeface="Times New Roman" panose="02020603050405020304" pitchFamily="18" charset="0"/>
              <a:ea typeface="Palatino Linotype" panose="02040502050505030304"/>
              <a:cs typeface="Times New Roman" panose="02020603050405020304" pitchFamily="18" charset="0"/>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latin typeface="Times New Roman" panose="02020603050405020304" pitchFamily="18" charset="0"/>
                <a:cs typeface="Times New Roman" panose="02020603050405020304" pitchFamily="18" charset="0"/>
              </a:rPr>
              <a:t>Fall 2024</a:t>
            </a:r>
            <a:endParaRPr lang="en-US">
              <a:latin typeface="Times New Roman" panose="02020603050405020304" pitchFamily="18" charset="0"/>
              <a:cs typeface="Times New Roman" panose="02020603050405020304" pitchFamily="18" charset="0"/>
            </a:endParaRPr>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latin typeface="Times New Roman" panose="02020603050405020304" pitchFamily="18" charset="0"/>
                <a:cs typeface="Times New Roman" panose="02020603050405020304" pitchFamily="18" charset="0"/>
              </a:rP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latin typeface="Times New Roman" panose="02020603050405020304" pitchFamily="18" charset="0"/>
                <a:cs typeface="Times New Roman" panose="02020603050405020304" pitchFamily="18" charset="0"/>
              </a:rPr>
              <a:t>25</a:t>
            </a:fld>
            <a:endParaRPr>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6A115F3B-8286-3BE6-EFF9-BCDF192F819E}"/>
              </a:ext>
            </a:extLst>
          </p:cNvPr>
          <p:cNvSpPr txBox="1"/>
          <p:nvPr/>
        </p:nvSpPr>
        <p:spPr>
          <a:xfrm>
            <a:off x="628650" y="2716292"/>
            <a:ext cx="2632452" cy="2862322"/>
          </a:xfrm>
          <a:prstGeom prst="rect">
            <a:avLst/>
          </a:prstGeom>
          <a:noFill/>
        </p:spPr>
        <p:txBody>
          <a:bodyPr wrap="none" rtlCol="0">
            <a:spAutoFit/>
          </a:bodyPr>
          <a:lstStyle/>
          <a:p>
            <a:r>
              <a:rPr lang="en-US" altLang="zh-CN" b="1" dirty="0">
                <a:solidFill>
                  <a:srgbClr val="0331FF"/>
                </a:solidFill>
                <a:latin typeface="Times New Roman" panose="02020603050405020304" pitchFamily="18" charset="0"/>
                <a:cs typeface="Times New Roman" panose="02020603050405020304" pitchFamily="18" charset="0"/>
              </a:rPr>
              <a:t>Procedure</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depth_first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p>
          <a:p>
            <a:r>
              <a:rPr lang="en-US" altLang="zh-CN" b="1" dirty="0">
                <a:solidFill>
                  <a:srgbClr val="0331FF"/>
                </a:solidFill>
                <a:latin typeface="Times New Roman" panose="02020603050405020304" pitchFamily="18" charset="0"/>
                <a:cs typeface="Times New Roman" panose="02020603050405020304" pitchFamily="18" charset="0"/>
              </a:rPr>
              <a:t>Begin</a:t>
            </a: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b="1" dirty="0">
                <a:solidFill>
                  <a:srgbClr val="0331FF"/>
                </a:solidFill>
                <a:latin typeface="Times New Roman" panose="02020603050405020304" pitchFamily="18" charset="0"/>
                <a:cs typeface="Times New Roman" panose="02020603050405020304" pitchFamily="18" charset="0"/>
              </a:rPr>
              <a:t>end</a:t>
            </a:r>
            <a:endParaRPr lang="zh-CN" altLang="en-US" b="1" dirty="0">
              <a:solidFill>
                <a:srgbClr val="0331FF"/>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1AFDBFFB-E5B1-5F2A-8B07-5718D63E34F4}"/>
              </a:ext>
            </a:extLst>
          </p:cNvPr>
          <p:cNvSpPr/>
          <p:nvPr/>
        </p:nvSpPr>
        <p:spPr>
          <a:xfrm>
            <a:off x="3594770" y="2707521"/>
            <a:ext cx="5040560" cy="5935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4F514456-A0D7-1465-B7FC-E4456F16F105}"/>
              </a:ext>
            </a:extLst>
          </p:cNvPr>
          <p:cNvSpPr txBox="1"/>
          <p:nvPr/>
        </p:nvSpPr>
        <p:spPr>
          <a:xfrm>
            <a:off x="3594770" y="2711906"/>
            <a:ext cx="5040560" cy="523220"/>
          </a:xfrm>
          <a:prstGeom prst="rect">
            <a:avLst/>
          </a:prstGeom>
          <a:noFill/>
        </p:spPr>
        <p:txBody>
          <a:bodyPr wrap="square">
            <a:spAutoFit/>
          </a:bodyPr>
          <a:lstStyle/>
          <a:p>
            <a:r>
              <a:rPr lang="en-US" altLang="zh-CN" sz="1400" dirty="0">
                <a:solidFill>
                  <a:srgbClr val="000000"/>
                </a:solidFill>
                <a:effectLst/>
                <a:latin typeface="Times New Roman" panose="02020603050405020304" pitchFamily="18" charset="0"/>
                <a:cs typeface="Times New Roman" panose="02020603050405020304" pitchFamily="18" charset="0"/>
              </a:rPr>
              <a:t>When evaluating the inherited attributes of a node, the inherited attributes of its parent node have been evaluated</a:t>
            </a:r>
            <a:endParaRPr lang="zh-CN" altLang="en-US" sz="1400" dirty="0">
              <a:latin typeface="Times New Roman" panose="02020603050405020304" pitchFamily="18" charset="0"/>
              <a:cs typeface="Times New Roman" panose="02020603050405020304" pitchFamily="18" charset="0"/>
            </a:endParaRPr>
          </a:p>
        </p:txBody>
      </p:sp>
      <p:sp>
        <p:nvSpPr>
          <p:cNvPr id="8" name="流程图: 过程 7">
            <a:extLst>
              <a:ext uri="{FF2B5EF4-FFF2-40B4-BE49-F238E27FC236}">
                <a16:creationId xmlns:a16="http://schemas.microsoft.com/office/drawing/2014/main" id="{27D52446-B89C-84BB-DC6D-7AEAEB9B1179}"/>
              </a:ext>
            </a:extLst>
          </p:cNvPr>
          <p:cNvSpPr/>
          <p:nvPr/>
        </p:nvSpPr>
        <p:spPr>
          <a:xfrm>
            <a:off x="827584" y="3960162"/>
            <a:ext cx="7807746" cy="541424"/>
          </a:xfrm>
          <a:prstGeom prst="flowChartProcess">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092FAE5-1923-64D7-5ABB-A2100E499E0C}"/>
              </a:ext>
            </a:extLst>
          </p:cNvPr>
          <p:cNvSpPr txBox="1"/>
          <p:nvPr/>
        </p:nvSpPr>
        <p:spPr>
          <a:xfrm>
            <a:off x="827584" y="3658620"/>
            <a:ext cx="7807746" cy="1477328"/>
          </a:xfrm>
          <a:prstGeom prst="rect">
            <a:avLst/>
          </a:prstGeom>
          <a:noFill/>
        </p:spPr>
        <p:txBody>
          <a:bodyPr wrap="square">
            <a:spAutoFit/>
          </a:bodyPr>
          <a:lstStyle/>
          <a:p>
            <a:r>
              <a:rPr lang="en-US" altLang="zh-CN" sz="1800" dirty="0">
                <a:solidFill>
                  <a:srgbClr val="FF0000"/>
                </a:solidFill>
                <a:effectLst/>
                <a:latin typeface="Times New Roman" panose="02020603050405020304" pitchFamily="18" charset="0"/>
                <a:cs typeface="Times New Roman" panose="02020603050405020304" pitchFamily="18" charset="0"/>
              </a:rPr>
              <a:t>for every child </a:t>
            </a:r>
            <a:r>
              <a:rPr lang="en-US" altLang="zh-CN" sz="1800" i="1" dirty="0">
                <a:solidFill>
                  <a:srgbClr val="FF0000"/>
                </a:solidFill>
                <a:effectLst/>
                <a:latin typeface="Times New Roman" panose="02020603050405020304" pitchFamily="18" charset="0"/>
                <a:cs typeface="Times New Roman" panose="02020603050405020304" pitchFamily="18" charset="0"/>
              </a:rPr>
              <a:t>m</a:t>
            </a:r>
            <a:r>
              <a:rPr lang="en-US" altLang="zh-CN" sz="1800" dirty="0">
                <a:solidFill>
                  <a:srgbClr val="FF0000"/>
                </a:solidFill>
                <a:effectLst/>
                <a:latin typeface="Times New Roman" panose="02020603050405020304" pitchFamily="18" charset="0"/>
                <a:cs typeface="Times New Roman" panose="02020603050405020304" pitchFamily="18" charset="0"/>
              </a:rPr>
              <a:t> of </a:t>
            </a:r>
            <a:r>
              <a:rPr lang="en-US" altLang="zh-CN" sz="1800" i="1" dirty="0">
                <a:solidFill>
                  <a:srgbClr val="FF0000"/>
                </a:solidFill>
                <a:effectLst/>
                <a:latin typeface="Times New Roman" panose="02020603050405020304" pitchFamily="18" charset="0"/>
                <a:cs typeface="Times New Roman" panose="02020603050405020304" pitchFamily="18" charset="0"/>
              </a:rPr>
              <a:t>n</a:t>
            </a:r>
            <a:r>
              <a:rPr lang="en-US" altLang="zh-CN" sz="1800" dirty="0">
                <a:solidFill>
                  <a:srgbClr val="FF0000"/>
                </a:solidFill>
                <a:effectLst/>
                <a:latin typeface="Times New Roman" panose="02020603050405020304" pitchFamily="18" charset="0"/>
                <a:cs typeface="Times New Roman" panose="02020603050405020304" pitchFamily="18" charset="0"/>
              </a:rPr>
              <a:t> from left to right </a:t>
            </a:r>
            <a:r>
              <a:rPr lang="en-US" altLang="zh-CN" sz="1800" b="1" dirty="0">
                <a:solidFill>
                  <a:srgbClr val="0432FF"/>
                </a:solidFill>
                <a:effectLst/>
                <a:latin typeface="Times New Roman" panose="02020603050405020304" pitchFamily="18" charset="0"/>
                <a:cs typeface="Times New Roman" panose="02020603050405020304" pitchFamily="18" charset="0"/>
              </a:rPr>
              <a:t>do begin </a:t>
            </a:r>
            <a:endParaRPr lang="en-US" altLang="zh-CN" dirty="0">
              <a:latin typeface="Times New Roman" panose="02020603050405020304" pitchFamily="18" charset="0"/>
              <a:cs typeface="Times New Roman" panose="02020603050405020304" pitchFamily="18" charset="0"/>
            </a:endParaRPr>
          </a:p>
          <a:p>
            <a:pPr lvl="1"/>
            <a:r>
              <a:rPr lang="en-US" altLang="zh-CN" dirty="0">
                <a:solidFill>
                  <a:srgbClr val="000000"/>
                </a:solidFill>
                <a:effectLst/>
                <a:latin typeface="Times New Roman" panose="02020603050405020304" pitchFamily="18" charset="0"/>
                <a:cs typeface="Times New Roman" panose="02020603050405020304" pitchFamily="18" charset="0"/>
              </a:rPr>
              <a:t>evaluate the inherited attributes of m; </a:t>
            </a:r>
            <a:endParaRPr lang="en-US" altLang="zh-CN" dirty="0">
              <a:latin typeface="Times New Roman" panose="02020603050405020304" pitchFamily="18" charset="0"/>
              <a:cs typeface="Times New Roman" panose="02020603050405020304" pitchFamily="18" charset="0"/>
            </a:endParaRPr>
          </a:p>
          <a:p>
            <a:pPr lvl="1"/>
            <a:r>
              <a:rPr lang="en-US" altLang="zh-CN" dirty="0" err="1">
                <a:solidFill>
                  <a:srgbClr val="000000"/>
                </a:solidFill>
                <a:effectLst/>
                <a:latin typeface="Times New Roman" panose="02020603050405020304" pitchFamily="18" charset="0"/>
                <a:cs typeface="Times New Roman" panose="02020603050405020304" pitchFamily="18" charset="0"/>
              </a:rPr>
              <a:t>depth_first</a:t>
            </a:r>
            <a:r>
              <a:rPr lang="en-US" altLang="zh-CN" dirty="0">
                <a:solidFill>
                  <a:srgbClr val="000000"/>
                </a:solidFill>
                <a:effectLst/>
                <a:latin typeface="Times New Roman" panose="02020603050405020304" pitchFamily="18" charset="0"/>
                <a:cs typeface="Times New Roman" panose="02020603050405020304" pitchFamily="18" charset="0"/>
              </a:rPr>
              <a:t>(</a:t>
            </a:r>
            <a:r>
              <a:rPr lang="en-US" altLang="zh-CN" i="1" dirty="0">
                <a:solidFill>
                  <a:srgbClr val="000000"/>
                </a:solidFill>
                <a:effectLst/>
                <a:latin typeface="Times New Roman" panose="02020603050405020304" pitchFamily="18" charset="0"/>
                <a:cs typeface="Times New Roman" panose="02020603050405020304" pitchFamily="18" charset="0"/>
              </a:rPr>
              <a:t>m</a:t>
            </a:r>
            <a:r>
              <a:rPr lang="en-US" altLang="zh-CN" dirty="0">
                <a:solidFill>
                  <a:srgbClr val="000000"/>
                </a:solidFill>
                <a:effectLst/>
                <a:latin typeface="Times New Roman" panose="02020603050405020304" pitchFamily="18" charset="0"/>
                <a:cs typeface="Times New Roman" panose="02020603050405020304" pitchFamily="18" charset="0"/>
              </a:rPr>
              <a:t>); </a:t>
            </a:r>
            <a:r>
              <a:rPr lang="en-US" altLang="zh-CN" dirty="0">
                <a:solidFill>
                  <a:srgbClr val="548235"/>
                </a:solidFill>
                <a:effectLst/>
                <a:latin typeface="Times New Roman" panose="02020603050405020304" pitchFamily="18" charset="0"/>
                <a:cs typeface="Times New Roman" panose="02020603050405020304" pitchFamily="18" charset="0"/>
              </a:rPr>
              <a:t>// here </a:t>
            </a:r>
            <a:r>
              <a:rPr lang="en-US" altLang="zh-CN" i="1" dirty="0">
                <a:solidFill>
                  <a:srgbClr val="548235"/>
                </a:solidFill>
                <a:effectLst/>
                <a:latin typeface="Times New Roman" panose="02020603050405020304" pitchFamily="18" charset="0"/>
                <a:cs typeface="Times New Roman" panose="02020603050405020304" pitchFamily="18" charset="0"/>
              </a:rPr>
              <a:t>m</a:t>
            </a:r>
            <a:r>
              <a:rPr lang="en-US" altLang="zh-CN" dirty="0">
                <a:solidFill>
                  <a:srgbClr val="548235"/>
                </a:solidFill>
                <a:effectLst/>
                <a:latin typeface="Times New Roman" panose="02020603050405020304" pitchFamily="18" charset="0"/>
                <a:cs typeface="Times New Roman" panose="02020603050405020304" pitchFamily="18" charset="0"/>
              </a:rPr>
              <a:t>’s synthesized attributes will be evaluated </a:t>
            </a:r>
            <a:endParaRPr lang="en-US" altLang="zh-CN" dirty="0">
              <a:latin typeface="Times New Roman" panose="02020603050405020304" pitchFamily="18" charset="0"/>
              <a:cs typeface="Times New Roman" panose="02020603050405020304" pitchFamily="18" charset="0"/>
            </a:endParaRPr>
          </a:p>
          <a:p>
            <a:r>
              <a:rPr lang="en-US" altLang="zh-CN" sz="1800" b="1" dirty="0">
                <a:solidFill>
                  <a:srgbClr val="0432FF"/>
                </a:solidFill>
                <a:effectLst/>
                <a:latin typeface="Times New Roman" panose="02020603050405020304" pitchFamily="18" charset="0"/>
                <a:cs typeface="Times New Roman" panose="02020603050405020304" pitchFamily="18" charset="0"/>
              </a:rPr>
              <a:t>end </a:t>
            </a:r>
            <a:endParaRPr lang="en-US" altLang="zh-CN" dirty="0">
              <a:latin typeface="Times New Roman" panose="02020603050405020304" pitchFamily="18" charset="0"/>
              <a:cs typeface="Times New Roman" panose="02020603050405020304" pitchFamily="18" charset="0"/>
            </a:endParaRPr>
          </a:p>
          <a:p>
            <a:r>
              <a:rPr lang="en-US" altLang="zh-CN" sz="1800" dirty="0">
                <a:solidFill>
                  <a:srgbClr val="000000"/>
                </a:solidFill>
                <a:effectLst/>
                <a:latin typeface="Times New Roman" panose="02020603050405020304" pitchFamily="18" charset="0"/>
                <a:cs typeface="Times New Roman" panose="02020603050405020304" pitchFamily="18" charset="0"/>
              </a:rPr>
              <a:t>evaluate the synthesized attributes of </a:t>
            </a:r>
            <a:r>
              <a:rPr lang="en-US" altLang="zh-CN" sz="1800" i="1" dirty="0">
                <a:solidFill>
                  <a:srgbClr val="000000"/>
                </a:solidFill>
                <a:effectLst/>
                <a:latin typeface="Times New Roman" panose="02020603050405020304" pitchFamily="18" charset="0"/>
                <a:cs typeface="Times New Roman" panose="02020603050405020304" pitchFamily="18" charset="0"/>
              </a:rPr>
              <a:t>n</a:t>
            </a:r>
            <a:r>
              <a:rPr lang="en-US" altLang="zh-CN" sz="1800" dirty="0">
                <a:solidFill>
                  <a:srgbClr val="000000"/>
                </a:solidFill>
                <a:effectLst/>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cxnSp>
        <p:nvCxnSpPr>
          <p:cNvPr id="12" name="直接箭头连接符 11">
            <a:extLst>
              <a:ext uri="{FF2B5EF4-FFF2-40B4-BE49-F238E27FC236}">
                <a16:creationId xmlns:a16="http://schemas.microsoft.com/office/drawing/2014/main" id="{DCFDB0A7-BC33-5ABD-3697-00287E35D3BB}"/>
              </a:ext>
            </a:extLst>
          </p:cNvPr>
          <p:cNvCxnSpPr>
            <a:cxnSpLocks/>
            <a:endCxn id="7" idx="2"/>
          </p:cNvCxnSpPr>
          <p:nvPr/>
        </p:nvCxnSpPr>
        <p:spPr>
          <a:xfrm flipV="1">
            <a:off x="6115050" y="3235126"/>
            <a:ext cx="0" cy="76742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6" name="文本框 15">
            <a:extLst>
              <a:ext uri="{FF2B5EF4-FFF2-40B4-BE49-F238E27FC236}">
                <a16:creationId xmlns:a16="http://schemas.microsoft.com/office/drawing/2014/main" id="{8BE27D97-A1E9-6D9A-3D15-467BEDCC1AF5}"/>
              </a:ext>
            </a:extLst>
          </p:cNvPr>
          <p:cNvSpPr txBox="1"/>
          <p:nvPr/>
        </p:nvSpPr>
        <p:spPr>
          <a:xfrm>
            <a:off x="6191853" y="3469078"/>
            <a:ext cx="1133644" cy="369332"/>
          </a:xfrm>
          <a:prstGeom prst="rect">
            <a:avLst/>
          </a:prstGeom>
          <a:noFill/>
        </p:spPr>
        <p:txBody>
          <a:bodyPr wrap="none" rtlCol="0">
            <a:spAutoFit/>
          </a:bodyPr>
          <a:lstStyle/>
          <a:p>
            <a:r>
              <a:rPr lang="en-US" altLang="zh-CN" dirty="0">
                <a:solidFill>
                  <a:srgbClr val="FF0000"/>
                </a:solidFill>
                <a:latin typeface="Times New Roman" panose="02020603050405020304" pitchFamily="18" charset="0"/>
                <a:cs typeface="Times New Roman" panose="02020603050405020304" pitchFamily="18" charset="0"/>
              </a:rPr>
              <a:t>Guarantee</a:t>
            </a:r>
          </a:p>
        </p:txBody>
      </p:sp>
      <p:sp>
        <p:nvSpPr>
          <p:cNvPr id="18" name="文本框 17">
            <a:extLst>
              <a:ext uri="{FF2B5EF4-FFF2-40B4-BE49-F238E27FC236}">
                <a16:creationId xmlns:a16="http://schemas.microsoft.com/office/drawing/2014/main" id="{A4CFC038-DF0E-CE21-730B-D9CD3236761E}"/>
              </a:ext>
            </a:extLst>
          </p:cNvPr>
          <p:cNvSpPr txBox="1"/>
          <p:nvPr/>
        </p:nvSpPr>
        <p:spPr>
          <a:xfrm>
            <a:off x="0" y="5770309"/>
            <a:ext cx="9144000" cy="307777"/>
          </a:xfrm>
          <a:prstGeom prst="rect">
            <a:avLst/>
          </a:prstGeom>
          <a:noFill/>
        </p:spPr>
        <p:txBody>
          <a:bodyPr wrap="square">
            <a:spAutoFit/>
          </a:bodyPr>
          <a:lstStyle/>
          <a:p>
            <a:pPr algn="ctr"/>
            <a:r>
              <a:rPr lang="en-US" altLang="zh-CN" sz="900" dirty="0">
                <a:solidFill>
                  <a:schemeClr val="tx1">
                    <a:lumMod val="75000"/>
                    <a:lumOff val="25000"/>
                  </a:schemeClr>
                </a:solidFill>
                <a:effectLst/>
                <a:latin typeface="Times New Roman" panose="02020603050405020304" pitchFamily="18" charset="0"/>
                <a:cs typeface="Times New Roman" panose="02020603050405020304" pitchFamily="18" charset="0"/>
              </a:rPr>
              <a:t>* </a:t>
            </a:r>
            <a:r>
              <a:rPr lang="en-US" altLang="zh-CN" sz="1400" dirty="0">
                <a:solidFill>
                  <a:schemeClr val="tx1">
                    <a:lumMod val="75000"/>
                    <a:lumOff val="25000"/>
                  </a:schemeClr>
                </a:solidFill>
                <a:effectLst/>
                <a:latin typeface="Times New Roman" panose="02020603050405020304" pitchFamily="18" charset="0"/>
                <a:cs typeface="Times New Roman" panose="02020603050405020304" pitchFamily="18" charset="0"/>
              </a:rPr>
              <a:t>The inherited attributes of </a:t>
            </a:r>
            <a:r>
              <a:rPr lang="en-US" altLang="zh-CN" sz="1400" i="1" dirty="0">
                <a:solidFill>
                  <a:schemeClr val="tx1">
                    <a:lumMod val="75000"/>
                    <a:lumOff val="25000"/>
                  </a:schemeClr>
                </a:solidFill>
                <a:effectLst/>
                <a:latin typeface="Times New Roman" panose="02020603050405020304" pitchFamily="18" charset="0"/>
                <a:cs typeface="Times New Roman" panose="02020603050405020304" pitchFamily="18" charset="0"/>
              </a:rPr>
              <a:t>n</a:t>
            </a:r>
            <a:r>
              <a:rPr lang="en-US" altLang="zh-CN" sz="1400" dirty="0">
                <a:solidFill>
                  <a:schemeClr val="tx1">
                    <a:lumMod val="75000"/>
                    <a:lumOff val="25000"/>
                  </a:schemeClr>
                </a:solidFill>
                <a:effectLst/>
                <a:latin typeface="Times New Roman" panose="02020603050405020304" pitchFamily="18" charset="0"/>
                <a:cs typeface="Times New Roman" panose="02020603050405020304" pitchFamily="18" charset="0"/>
              </a:rPr>
              <a:t> are computed before calling </a:t>
            </a:r>
            <a:r>
              <a:rPr lang="en-US" altLang="zh-CN" sz="1400" dirty="0" err="1">
                <a:solidFill>
                  <a:schemeClr val="tx1">
                    <a:lumMod val="75000"/>
                    <a:lumOff val="25000"/>
                  </a:schemeClr>
                </a:solidFill>
                <a:effectLst/>
                <a:latin typeface="Times New Roman" panose="02020603050405020304" pitchFamily="18" charset="0"/>
                <a:cs typeface="Times New Roman" panose="02020603050405020304" pitchFamily="18" charset="0"/>
              </a:rPr>
              <a:t>depth_first</a:t>
            </a:r>
            <a:r>
              <a:rPr lang="en-US" altLang="zh-CN" sz="1400" dirty="0">
                <a:solidFill>
                  <a:schemeClr val="tx1">
                    <a:lumMod val="75000"/>
                    <a:lumOff val="25000"/>
                  </a:schemeClr>
                </a:solidFill>
                <a:effectLst/>
                <a:latin typeface="Times New Roman" panose="02020603050405020304" pitchFamily="18" charset="0"/>
                <a:cs typeface="Times New Roman" panose="02020603050405020304" pitchFamily="18" charset="0"/>
              </a:rPr>
              <a:t>(</a:t>
            </a:r>
            <a:r>
              <a:rPr lang="en-US" altLang="zh-CN" sz="1400" i="1" dirty="0">
                <a:solidFill>
                  <a:schemeClr val="tx1">
                    <a:lumMod val="75000"/>
                    <a:lumOff val="25000"/>
                  </a:schemeClr>
                </a:solidFill>
                <a:effectLst/>
                <a:latin typeface="Times New Roman" panose="02020603050405020304" pitchFamily="18" charset="0"/>
                <a:cs typeface="Times New Roman" panose="02020603050405020304" pitchFamily="18" charset="0"/>
              </a:rPr>
              <a:t>n</a:t>
            </a:r>
            <a:r>
              <a:rPr lang="en-US" altLang="zh-CN" sz="1400" dirty="0">
                <a:solidFill>
                  <a:schemeClr val="tx1">
                    <a:lumMod val="75000"/>
                    <a:lumOff val="25000"/>
                  </a:schemeClr>
                </a:solidFill>
                <a:effectLst/>
                <a:latin typeface="Times New Roman" panose="02020603050405020304" pitchFamily="18" charset="0"/>
                <a:cs typeface="Times New Roman" panose="02020603050405020304" pitchFamily="18" charset="0"/>
              </a:rPr>
              <a:t>), as indicated by the for body </a:t>
            </a:r>
            <a:endParaRPr lang="zh-CN" altLang="en-US" sz="1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9716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7">
            <a:extLst>
              <a:ext uri="{FF2B5EF4-FFF2-40B4-BE49-F238E27FC236}">
                <a16:creationId xmlns:a16="http://schemas.microsoft.com/office/drawing/2014/main" id="{77924812-D949-48BA-9002-4B8B8C22793E}"/>
              </a:ext>
            </a:extLst>
          </p:cNvPr>
          <p:cNvSpPr>
            <a:spLocks noChangeArrowheads="1"/>
          </p:cNvSpPr>
          <p:nvPr/>
        </p:nvSpPr>
        <p:spPr bwMode="auto">
          <a:xfrm>
            <a:off x="338139" y="4424707"/>
            <a:ext cx="2136775"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20000"/>
              </a:spcBef>
              <a:spcAft>
                <a:spcPct val="0"/>
              </a:spcAft>
              <a:defRPr/>
            </a:pPr>
            <a:r>
              <a:rPr kumimoji="1" lang="en-US" altLang="zh-CN" sz="2000" kern="1200" dirty="0">
                <a:solidFill>
                  <a:srgbClr val="000000"/>
                </a:solidFill>
                <a:latin typeface="Times New Roman" panose="02020603050405020304" pitchFamily="18" charset="0"/>
              </a:rPr>
              <a:t>3   *   5</a:t>
            </a:r>
          </a:p>
          <a:p>
            <a:pPr defTabSz="914378" rtl="0" fontAlgn="base">
              <a:spcBef>
                <a:spcPct val="20000"/>
              </a:spcBef>
              <a:spcAft>
                <a:spcPct val="0"/>
              </a:spcAft>
              <a:defRPr/>
            </a:pPr>
            <a:r>
              <a:rPr lang="en-US" altLang="zh-CN" sz="2000" kern="12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digit </a:t>
            </a:r>
            <a:endParaRPr kumimoji="1" lang="en-US" altLang="zh-CN" sz="2000" kern="1200" dirty="0">
              <a:solidFill>
                <a:srgbClr val="000000"/>
              </a:solidFill>
              <a:latin typeface="Times New Roman" panose="02020603050405020304" pitchFamily="18" charset="0"/>
            </a:endParaRPr>
          </a:p>
          <a:p>
            <a:pPr defTabSz="914378" rtl="0" fontAlgn="base">
              <a:spcBef>
                <a:spcPct val="20000"/>
              </a:spcBef>
              <a:spcAft>
                <a:spcPct val="0"/>
              </a:spcAft>
              <a:defRPr/>
            </a:pPr>
            <a:endParaRPr kumimoji="1" lang="en-US" altLang="zh-CN" sz="2000" kern="1200" dirty="0">
              <a:solidFill>
                <a:srgbClr val="000000"/>
              </a:solidFill>
              <a:latin typeface="Times New Roman" panose="02020603050405020304" pitchFamily="18" charset="0"/>
              <a:sym typeface="Symbol" panose="05050102010706020507" pitchFamily="18" charset="2"/>
            </a:endParaRPr>
          </a:p>
        </p:txBody>
      </p:sp>
      <p:grpSp>
        <p:nvGrpSpPr>
          <p:cNvPr id="22" name="组合 21">
            <a:extLst>
              <a:ext uri="{FF2B5EF4-FFF2-40B4-BE49-F238E27FC236}">
                <a16:creationId xmlns:a16="http://schemas.microsoft.com/office/drawing/2014/main" id="{3114F0BA-5439-4963-807B-64545B8027A7}"/>
              </a:ext>
            </a:extLst>
          </p:cNvPr>
          <p:cNvGrpSpPr>
            <a:grpSpLocks/>
          </p:cNvGrpSpPr>
          <p:nvPr/>
        </p:nvGrpSpPr>
        <p:grpSpPr bwMode="auto">
          <a:xfrm>
            <a:off x="2287506" y="2989988"/>
            <a:ext cx="3452670" cy="1123239"/>
            <a:chOff x="3853075" y="810394"/>
            <a:chExt cx="3453528" cy="1124157"/>
          </a:xfrm>
        </p:grpSpPr>
        <p:sp>
          <p:nvSpPr>
            <p:cNvPr id="23" name="Rectangle 6">
              <a:extLst>
                <a:ext uri="{FF2B5EF4-FFF2-40B4-BE49-F238E27FC236}">
                  <a16:creationId xmlns:a16="http://schemas.microsoft.com/office/drawing/2014/main" id="{86C738E7-0C6E-4F7C-83C5-5E2C34595374}"/>
                </a:ext>
              </a:extLst>
            </p:cNvPr>
            <p:cNvSpPr>
              <a:spLocks noChangeArrowheads="1"/>
            </p:cNvSpPr>
            <p:nvPr/>
          </p:nvSpPr>
          <p:spPr bwMode="auto">
            <a:xfrm>
              <a:off x="3853075" y="1586382"/>
              <a:ext cx="271077" cy="348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latin typeface="Times New Roman" panose="02020603050405020304" pitchFamily="18" charset="0"/>
                </a:rPr>
                <a:t>F</a:t>
              </a:r>
              <a:endParaRPr kumimoji="1" lang="en-US" altLang="zh-CN" kern="1200" dirty="0">
                <a:latin typeface="Times New Roman" panose="02020603050405020304" pitchFamily="18" charset="0"/>
              </a:endParaRPr>
            </a:p>
          </p:txBody>
        </p:sp>
        <p:sp>
          <p:nvSpPr>
            <p:cNvPr id="24" name="Rectangle 9">
              <a:extLst>
                <a:ext uri="{FF2B5EF4-FFF2-40B4-BE49-F238E27FC236}">
                  <a16:creationId xmlns:a16="http://schemas.microsoft.com/office/drawing/2014/main" id="{F0740B2D-5ABD-466F-A0E6-17C9A80EF2CA}"/>
                </a:ext>
              </a:extLst>
            </p:cNvPr>
            <p:cNvSpPr>
              <a:spLocks noChangeArrowheads="1"/>
            </p:cNvSpPr>
            <p:nvPr/>
          </p:nvSpPr>
          <p:spPr bwMode="auto">
            <a:xfrm>
              <a:off x="6928578" y="1569882"/>
              <a:ext cx="378025"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latin typeface="Times New Roman" panose="02020603050405020304" pitchFamily="18" charset="0"/>
                </a:rPr>
                <a:t>T’</a:t>
              </a:r>
              <a:endParaRPr kumimoji="1" lang="en-US" altLang="zh-CN" kern="1200" dirty="0">
                <a:latin typeface="Times New Roman" panose="02020603050405020304" pitchFamily="18" charset="0"/>
              </a:endParaRPr>
            </a:p>
          </p:txBody>
        </p:sp>
        <p:sp>
          <p:nvSpPr>
            <p:cNvPr id="25" name="Rectangle 10">
              <a:extLst>
                <a:ext uri="{FF2B5EF4-FFF2-40B4-BE49-F238E27FC236}">
                  <a16:creationId xmlns:a16="http://schemas.microsoft.com/office/drawing/2014/main" id="{53E10D79-0F20-4C18-8650-A78686F478C3}"/>
                </a:ext>
              </a:extLst>
            </p:cNvPr>
            <p:cNvSpPr>
              <a:spLocks noChangeArrowheads="1"/>
            </p:cNvSpPr>
            <p:nvPr/>
          </p:nvSpPr>
          <p:spPr bwMode="auto">
            <a:xfrm>
              <a:off x="5272107" y="810394"/>
              <a:ext cx="417513"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latin typeface="Times New Roman" panose="02020603050405020304" pitchFamily="18" charset="0"/>
                </a:rPr>
                <a:t>T</a:t>
              </a:r>
              <a:endParaRPr kumimoji="1" lang="en-US" altLang="zh-CN" kern="1200" dirty="0">
                <a:latin typeface="Times New Roman" panose="02020603050405020304" pitchFamily="18" charset="0"/>
              </a:endParaRPr>
            </a:p>
          </p:txBody>
        </p:sp>
        <p:sp>
          <p:nvSpPr>
            <p:cNvPr id="26" name="Line 11">
              <a:extLst>
                <a:ext uri="{FF2B5EF4-FFF2-40B4-BE49-F238E27FC236}">
                  <a16:creationId xmlns:a16="http://schemas.microsoft.com/office/drawing/2014/main" id="{87A27C41-914D-4B9A-9B7D-433AD6FBB778}"/>
                </a:ext>
              </a:extLst>
            </p:cNvPr>
            <p:cNvSpPr>
              <a:spLocks noChangeShapeType="1"/>
            </p:cNvSpPr>
            <p:nvPr/>
          </p:nvSpPr>
          <p:spPr bwMode="auto">
            <a:xfrm flipH="1">
              <a:off x="4099264" y="1172486"/>
              <a:ext cx="1381600" cy="39997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27" name="Line 12">
              <a:extLst>
                <a:ext uri="{FF2B5EF4-FFF2-40B4-BE49-F238E27FC236}">
                  <a16:creationId xmlns:a16="http://schemas.microsoft.com/office/drawing/2014/main" id="{CB27928E-1E8A-498B-AE9D-8CCBF45B76C8}"/>
                </a:ext>
              </a:extLst>
            </p:cNvPr>
            <p:cNvSpPr>
              <a:spLocks noChangeShapeType="1"/>
            </p:cNvSpPr>
            <p:nvPr/>
          </p:nvSpPr>
          <p:spPr bwMode="auto">
            <a:xfrm>
              <a:off x="5438709" y="1192035"/>
              <a:ext cx="1797357" cy="385473"/>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28" name="组合 124933">
            <a:extLst>
              <a:ext uri="{FF2B5EF4-FFF2-40B4-BE49-F238E27FC236}">
                <a16:creationId xmlns:a16="http://schemas.microsoft.com/office/drawing/2014/main" id="{C987E98D-3898-4D56-AAA1-BF361293CB52}"/>
              </a:ext>
            </a:extLst>
          </p:cNvPr>
          <p:cNvGrpSpPr>
            <a:grpSpLocks/>
          </p:cNvGrpSpPr>
          <p:nvPr/>
        </p:nvGrpSpPr>
        <p:grpSpPr bwMode="auto">
          <a:xfrm>
            <a:off x="4435876" y="4191537"/>
            <a:ext cx="3059096" cy="796271"/>
            <a:chOff x="7193292" y="2013704"/>
            <a:chExt cx="1929563" cy="794905"/>
          </a:xfrm>
        </p:grpSpPr>
        <p:sp>
          <p:nvSpPr>
            <p:cNvPr id="29" name="Line 8">
              <a:extLst>
                <a:ext uri="{FF2B5EF4-FFF2-40B4-BE49-F238E27FC236}">
                  <a16:creationId xmlns:a16="http://schemas.microsoft.com/office/drawing/2014/main" id="{769042D8-75A4-4D1E-87D0-92D0487DCE94}"/>
                </a:ext>
              </a:extLst>
            </p:cNvPr>
            <p:cNvSpPr>
              <a:spLocks noChangeShapeType="1"/>
            </p:cNvSpPr>
            <p:nvPr/>
          </p:nvSpPr>
          <p:spPr bwMode="auto">
            <a:xfrm flipV="1">
              <a:off x="7540792" y="2030902"/>
              <a:ext cx="262473" cy="45032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0" name="Text Box 13">
              <a:extLst>
                <a:ext uri="{FF2B5EF4-FFF2-40B4-BE49-F238E27FC236}">
                  <a16:creationId xmlns:a16="http://schemas.microsoft.com/office/drawing/2014/main" id="{25AA22B6-F143-4394-B0C7-68706BC57A49}"/>
                </a:ext>
              </a:extLst>
            </p:cNvPr>
            <p:cNvSpPr txBox="1">
              <a:spLocks noChangeArrowheads="1"/>
            </p:cNvSpPr>
            <p:nvPr/>
          </p:nvSpPr>
          <p:spPr bwMode="auto">
            <a:xfrm>
              <a:off x="7193292" y="2461322"/>
              <a:ext cx="269875"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50000"/>
                </a:spcBef>
                <a:spcAft>
                  <a:spcPct val="0"/>
                </a:spcAft>
                <a:defRPr/>
              </a:pPr>
              <a:r>
                <a:rPr kumimoji="1" lang="zh-CN" altLang="en-US" kern="1200" dirty="0">
                  <a:latin typeface="Times New Roman" panose="02020603050405020304" pitchFamily="18" charset="0"/>
                </a:rPr>
                <a:t>*</a:t>
              </a:r>
            </a:p>
          </p:txBody>
        </p:sp>
        <p:sp>
          <p:nvSpPr>
            <p:cNvPr id="31" name="Line 11">
              <a:extLst>
                <a:ext uri="{FF2B5EF4-FFF2-40B4-BE49-F238E27FC236}">
                  <a16:creationId xmlns:a16="http://schemas.microsoft.com/office/drawing/2014/main" id="{55C4C488-407D-463E-9CE4-1C1DC6CF6E9A}"/>
                </a:ext>
              </a:extLst>
            </p:cNvPr>
            <p:cNvSpPr>
              <a:spLocks noChangeShapeType="1"/>
            </p:cNvSpPr>
            <p:nvPr/>
          </p:nvSpPr>
          <p:spPr bwMode="auto">
            <a:xfrm flipH="1">
              <a:off x="7299098" y="2013704"/>
              <a:ext cx="522562" cy="41553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3" name="Rectangle 6">
              <a:extLst>
                <a:ext uri="{FF2B5EF4-FFF2-40B4-BE49-F238E27FC236}">
                  <a16:creationId xmlns:a16="http://schemas.microsoft.com/office/drawing/2014/main" id="{588DBCF3-8D0C-4583-88DF-0AEE494EC03F}"/>
                </a:ext>
              </a:extLst>
            </p:cNvPr>
            <p:cNvSpPr>
              <a:spLocks noChangeArrowheads="1"/>
            </p:cNvSpPr>
            <p:nvPr/>
          </p:nvSpPr>
          <p:spPr bwMode="auto">
            <a:xfrm>
              <a:off x="7299099" y="2431251"/>
              <a:ext cx="314446"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latin typeface="Times New Roman" panose="02020603050405020304" pitchFamily="18" charset="0"/>
                </a:rPr>
                <a:t>F</a:t>
              </a:r>
              <a:endParaRPr kumimoji="1" lang="en-US" altLang="zh-CN" kern="1200" dirty="0">
                <a:latin typeface="Times New Roman" panose="02020603050405020304" pitchFamily="18" charset="0"/>
              </a:endParaRPr>
            </a:p>
          </p:txBody>
        </p:sp>
        <p:sp>
          <p:nvSpPr>
            <p:cNvPr id="34" name="Rectangle 9">
              <a:extLst>
                <a:ext uri="{FF2B5EF4-FFF2-40B4-BE49-F238E27FC236}">
                  <a16:creationId xmlns:a16="http://schemas.microsoft.com/office/drawing/2014/main" id="{5DBD9EBC-5EDA-410F-AC0E-F4BE3362D896}"/>
                </a:ext>
              </a:extLst>
            </p:cNvPr>
            <p:cNvSpPr>
              <a:spLocks noChangeArrowheads="1"/>
            </p:cNvSpPr>
            <p:nvPr/>
          </p:nvSpPr>
          <p:spPr bwMode="auto">
            <a:xfrm>
              <a:off x="8759697" y="2431251"/>
              <a:ext cx="363158"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latin typeface="Times New Roman" panose="02020603050405020304" pitchFamily="18" charset="0"/>
                </a:rPr>
                <a:t>T’</a:t>
              </a:r>
              <a:endParaRPr kumimoji="1" lang="en-US" altLang="zh-CN" kern="1200" dirty="0">
                <a:latin typeface="Times New Roman" panose="02020603050405020304" pitchFamily="18" charset="0"/>
              </a:endParaRPr>
            </a:p>
          </p:txBody>
        </p:sp>
        <p:sp>
          <p:nvSpPr>
            <p:cNvPr id="32" name="Line 12">
              <a:extLst>
                <a:ext uri="{FF2B5EF4-FFF2-40B4-BE49-F238E27FC236}">
                  <a16:creationId xmlns:a16="http://schemas.microsoft.com/office/drawing/2014/main" id="{CA7E7E12-3212-47EB-AABE-12C1E218705B}"/>
                </a:ext>
              </a:extLst>
            </p:cNvPr>
            <p:cNvSpPr>
              <a:spLocks noChangeShapeType="1"/>
            </p:cNvSpPr>
            <p:nvPr/>
          </p:nvSpPr>
          <p:spPr bwMode="auto">
            <a:xfrm>
              <a:off x="7803265" y="2016342"/>
              <a:ext cx="1097075" cy="46488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35" name="组合 34">
            <a:extLst>
              <a:ext uri="{FF2B5EF4-FFF2-40B4-BE49-F238E27FC236}">
                <a16:creationId xmlns:a16="http://schemas.microsoft.com/office/drawing/2014/main" id="{19404285-1C12-4308-A279-E04202685F5F}"/>
              </a:ext>
            </a:extLst>
          </p:cNvPr>
          <p:cNvGrpSpPr>
            <a:grpSpLocks/>
          </p:cNvGrpSpPr>
          <p:nvPr/>
        </p:nvGrpSpPr>
        <p:grpSpPr bwMode="auto">
          <a:xfrm>
            <a:off x="7016344" y="5037594"/>
            <a:ext cx="269626" cy="699538"/>
            <a:chOff x="8658440" y="2859782"/>
            <a:chExt cx="269377" cy="698404"/>
          </a:xfrm>
        </p:grpSpPr>
        <p:sp>
          <p:nvSpPr>
            <p:cNvPr id="36" name="Line 5">
              <a:extLst>
                <a:ext uri="{FF2B5EF4-FFF2-40B4-BE49-F238E27FC236}">
                  <a16:creationId xmlns:a16="http://schemas.microsoft.com/office/drawing/2014/main" id="{8E5D0A80-B93F-479E-A15F-942508025069}"/>
                </a:ext>
              </a:extLst>
            </p:cNvPr>
            <p:cNvSpPr>
              <a:spLocks noChangeShapeType="1"/>
            </p:cNvSpPr>
            <p:nvPr/>
          </p:nvSpPr>
          <p:spPr bwMode="auto">
            <a:xfrm flipV="1">
              <a:off x="8820472"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7" name="矩形 3">
              <a:extLst>
                <a:ext uri="{FF2B5EF4-FFF2-40B4-BE49-F238E27FC236}">
                  <a16:creationId xmlns:a16="http://schemas.microsoft.com/office/drawing/2014/main" id="{45E6BD9B-3664-4C51-B7FA-BCAEEA94ED72}"/>
                </a:ext>
              </a:extLst>
            </p:cNvPr>
            <p:cNvSpPr>
              <a:spLocks noChangeArrowheads="1"/>
            </p:cNvSpPr>
            <p:nvPr/>
          </p:nvSpPr>
          <p:spPr bwMode="auto">
            <a:xfrm>
              <a:off x="8658440" y="3220181"/>
              <a:ext cx="269377" cy="33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lang="el-GR" altLang="zh-CN" sz="1600" b="1" i="1" kern="12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ε</a:t>
              </a:r>
              <a:endParaRPr lang="zh-CN" altLang="en-US" b="1" kern="1200">
                <a:solidFill>
                  <a:srgbClr val="000000"/>
                </a:solidFill>
                <a:latin typeface="Tahoma" panose="020B0604030504040204" pitchFamily="34" charset="0"/>
                <a:ea typeface="宋体" panose="02010600030101010101" pitchFamily="2" charset="-122"/>
              </a:endParaRPr>
            </a:p>
          </p:txBody>
        </p:sp>
      </p:grpSp>
      <p:sp>
        <p:nvSpPr>
          <p:cNvPr id="40" name="矩形 56">
            <a:extLst>
              <a:ext uri="{FF2B5EF4-FFF2-40B4-BE49-F238E27FC236}">
                <a16:creationId xmlns:a16="http://schemas.microsoft.com/office/drawing/2014/main" id="{16B02699-238B-4D70-B370-9A88DF06D52A}"/>
              </a:ext>
            </a:extLst>
          </p:cNvPr>
          <p:cNvSpPr>
            <a:spLocks noChangeArrowheads="1"/>
          </p:cNvSpPr>
          <p:nvPr/>
        </p:nvSpPr>
        <p:spPr bwMode="auto">
          <a:xfrm>
            <a:off x="2405760" y="3943310"/>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grpSp>
        <p:nvGrpSpPr>
          <p:cNvPr id="41" name="组合 40">
            <a:extLst>
              <a:ext uri="{FF2B5EF4-FFF2-40B4-BE49-F238E27FC236}">
                <a16:creationId xmlns:a16="http://schemas.microsoft.com/office/drawing/2014/main" id="{E67498A6-9BE6-4957-BF74-59D078D6F677}"/>
              </a:ext>
            </a:extLst>
          </p:cNvPr>
          <p:cNvGrpSpPr>
            <a:grpSpLocks/>
          </p:cNvGrpSpPr>
          <p:nvPr/>
        </p:nvGrpSpPr>
        <p:grpSpPr bwMode="auto">
          <a:xfrm>
            <a:off x="2111841" y="4234426"/>
            <a:ext cx="585159" cy="967879"/>
            <a:chOff x="5811182" y="2030902"/>
            <a:chExt cx="584868" cy="967607"/>
          </a:xfrm>
        </p:grpSpPr>
        <p:sp>
          <p:nvSpPr>
            <p:cNvPr id="42" name="Rectangle 2">
              <a:extLst>
                <a:ext uri="{FF2B5EF4-FFF2-40B4-BE49-F238E27FC236}">
                  <a16:creationId xmlns:a16="http://schemas.microsoft.com/office/drawing/2014/main" id="{F3D1C0B1-500B-4108-BED2-EE04E9E417BF}"/>
                </a:ext>
              </a:extLst>
            </p:cNvPr>
            <p:cNvSpPr>
              <a:spLocks noChangeArrowheads="1"/>
            </p:cNvSpPr>
            <p:nvPr/>
          </p:nvSpPr>
          <p:spPr bwMode="auto">
            <a:xfrm>
              <a:off x="5811182" y="2373802"/>
              <a:ext cx="584868" cy="6247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(3)</a:t>
              </a:r>
            </a:p>
          </p:txBody>
        </p:sp>
        <p:sp>
          <p:nvSpPr>
            <p:cNvPr id="43" name="Line 5">
              <a:extLst>
                <a:ext uri="{FF2B5EF4-FFF2-40B4-BE49-F238E27FC236}">
                  <a16:creationId xmlns:a16="http://schemas.microsoft.com/office/drawing/2014/main" id="{B6D916F7-5062-4576-A4CD-F7A0487B45ED}"/>
                </a:ext>
              </a:extLst>
            </p:cNvPr>
            <p:cNvSpPr>
              <a:spLocks noChangeShapeType="1"/>
            </p:cNvSpPr>
            <p:nvPr/>
          </p:nvSpPr>
          <p:spPr bwMode="auto">
            <a:xfrm flipV="1">
              <a:off x="6103416" y="203090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dirty="0">
                <a:solidFill>
                  <a:prstClr val="black"/>
                </a:solidFill>
                <a:latin typeface="Tahoma" panose="020B0604030504040204" pitchFamily="34" charset="0"/>
                <a:ea typeface="宋体" panose="02010600030101010101" pitchFamily="2" charset="-122"/>
              </a:endParaRPr>
            </a:p>
          </p:txBody>
        </p:sp>
      </p:grpSp>
      <p:grpSp>
        <p:nvGrpSpPr>
          <p:cNvPr id="52" name="组合 51">
            <a:extLst>
              <a:ext uri="{FF2B5EF4-FFF2-40B4-BE49-F238E27FC236}">
                <a16:creationId xmlns:a16="http://schemas.microsoft.com/office/drawing/2014/main" id="{E27A1DBD-1164-4229-9D34-B15423EBFA86}"/>
              </a:ext>
            </a:extLst>
          </p:cNvPr>
          <p:cNvGrpSpPr>
            <a:grpSpLocks/>
          </p:cNvGrpSpPr>
          <p:nvPr/>
        </p:nvGrpSpPr>
        <p:grpSpPr bwMode="auto">
          <a:xfrm>
            <a:off x="4602609" y="4972388"/>
            <a:ext cx="585159" cy="1001164"/>
            <a:chOff x="7384879" y="2859782"/>
            <a:chExt cx="585243" cy="1000981"/>
          </a:xfrm>
        </p:grpSpPr>
        <p:sp>
          <p:nvSpPr>
            <p:cNvPr id="53" name="Rectangle 7">
              <a:extLst>
                <a:ext uri="{FF2B5EF4-FFF2-40B4-BE49-F238E27FC236}">
                  <a16:creationId xmlns:a16="http://schemas.microsoft.com/office/drawing/2014/main" id="{655D5F61-E656-4B08-9E18-1ADC4FA0E195}"/>
                </a:ext>
              </a:extLst>
            </p:cNvPr>
            <p:cNvSpPr>
              <a:spLocks noChangeArrowheads="1"/>
            </p:cNvSpPr>
            <p:nvPr/>
          </p:nvSpPr>
          <p:spPr bwMode="auto">
            <a:xfrm>
              <a:off x="7384879" y="3235994"/>
              <a:ext cx="585243" cy="6247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(5)</a:t>
              </a:r>
            </a:p>
          </p:txBody>
        </p:sp>
        <p:sp>
          <p:nvSpPr>
            <p:cNvPr id="54" name="Line 5">
              <a:extLst>
                <a:ext uri="{FF2B5EF4-FFF2-40B4-BE49-F238E27FC236}">
                  <a16:creationId xmlns:a16="http://schemas.microsoft.com/office/drawing/2014/main" id="{B5E9E43D-9CF5-4816-9D4E-0B577BF44101}"/>
                </a:ext>
              </a:extLst>
            </p:cNvPr>
            <p:cNvSpPr>
              <a:spLocks noChangeShapeType="1"/>
            </p:cNvSpPr>
            <p:nvPr/>
          </p:nvSpPr>
          <p:spPr bwMode="auto">
            <a:xfrm flipV="1">
              <a:off x="7664313"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sp>
        <p:nvSpPr>
          <p:cNvPr id="2" name="矩形 1">
            <a:extLst>
              <a:ext uri="{FF2B5EF4-FFF2-40B4-BE49-F238E27FC236}">
                <a16:creationId xmlns:a16="http://schemas.microsoft.com/office/drawing/2014/main" id="{DA6DEA27-2984-4CBD-B134-9C7C1AFB2DD9}"/>
              </a:ext>
            </a:extLst>
          </p:cNvPr>
          <p:cNvSpPr/>
          <p:nvPr/>
        </p:nvSpPr>
        <p:spPr>
          <a:xfrm>
            <a:off x="5274429" y="5406742"/>
            <a:ext cx="1936749" cy="323165"/>
          </a:xfrm>
          <a:prstGeom prst="rect">
            <a:avLst/>
          </a:prstGeom>
        </p:spPr>
        <p:txBody>
          <a:bodyPr wrap="none">
            <a:spAutoFit/>
          </a:bodyPr>
          <a:lstStyle/>
          <a:p>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dirty="0"/>
          </a:p>
        </p:txBody>
      </p:sp>
      <p:sp>
        <p:nvSpPr>
          <p:cNvPr id="7" name="矩形 6">
            <a:extLst>
              <a:ext uri="{FF2B5EF4-FFF2-40B4-BE49-F238E27FC236}">
                <a16:creationId xmlns:a16="http://schemas.microsoft.com/office/drawing/2014/main" id="{720406B1-D6F3-41A5-90AF-1E3404BCEFDC}"/>
              </a:ext>
            </a:extLst>
          </p:cNvPr>
          <p:cNvSpPr/>
          <p:nvPr/>
        </p:nvSpPr>
        <p:spPr>
          <a:xfrm>
            <a:off x="7256393" y="5398579"/>
            <a:ext cx="1620957" cy="323165"/>
          </a:xfrm>
          <a:prstGeom prst="rect">
            <a:avLst/>
          </a:prstGeom>
        </p:spPr>
        <p:txBody>
          <a:bodyPr wrap="none">
            <a:spAutoFit/>
          </a:bodyPr>
          <a:lstStyle/>
          <a:p>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5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200" dirty="0"/>
          </a:p>
        </p:txBody>
      </p:sp>
      <p:sp>
        <p:nvSpPr>
          <p:cNvPr id="8" name="矩形 7">
            <a:extLst>
              <a:ext uri="{FF2B5EF4-FFF2-40B4-BE49-F238E27FC236}">
                <a16:creationId xmlns:a16="http://schemas.microsoft.com/office/drawing/2014/main" id="{5D9B4699-2F7A-4771-B148-1C65D8C96225}"/>
              </a:ext>
            </a:extLst>
          </p:cNvPr>
          <p:cNvSpPr/>
          <p:nvPr/>
        </p:nvSpPr>
        <p:spPr>
          <a:xfrm>
            <a:off x="4999091" y="4624503"/>
            <a:ext cx="2326278" cy="323165"/>
          </a:xfrm>
          <a:prstGeom prst="rect">
            <a:avLst/>
          </a:prstGeom>
        </p:spPr>
        <p:txBody>
          <a:bodyPr wrap="none">
            <a:spAutoFit/>
          </a:bodyPr>
          <a:lstStyle/>
          <a:p>
            <a:r>
              <a:rPr lang="zh-CN" altLang="en-US"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 </a:t>
            </a:r>
            <a:r>
              <a:rPr lang="zh-CN" altLang="en-US"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zh-CN" altLang="en-US"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zh-CN" altLang="en-US"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dirty="0"/>
          </a:p>
        </p:txBody>
      </p:sp>
      <p:sp>
        <p:nvSpPr>
          <p:cNvPr id="10" name="矩形 9">
            <a:extLst>
              <a:ext uri="{FF2B5EF4-FFF2-40B4-BE49-F238E27FC236}">
                <a16:creationId xmlns:a16="http://schemas.microsoft.com/office/drawing/2014/main" id="{45B2F774-194E-4726-89E5-716BF3C48B60}"/>
              </a:ext>
            </a:extLst>
          </p:cNvPr>
          <p:cNvSpPr/>
          <p:nvPr/>
        </p:nvSpPr>
        <p:spPr>
          <a:xfrm>
            <a:off x="3311477" y="3762345"/>
            <a:ext cx="1582484" cy="323165"/>
          </a:xfrm>
          <a:prstGeom prst="rect">
            <a:avLst/>
          </a:prstGeom>
        </p:spPr>
        <p:txBody>
          <a:bodyPr wrap="none">
            <a:spAutoFit/>
          </a:bodyPr>
          <a:lstStyle/>
          <a:p>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T</a:t>
            </a:r>
            <a:r>
              <a:rPr lang="en-US" altLang="zh-CN" sz="1500" b="1" i="1"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en-US" altLang="zh-CN" sz="15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inh</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dirty="0"/>
          </a:p>
        </p:txBody>
      </p:sp>
      <p:sp>
        <p:nvSpPr>
          <p:cNvPr id="37888" name="矩形 37887">
            <a:extLst>
              <a:ext uri="{FF2B5EF4-FFF2-40B4-BE49-F238E27FC236}">
                <a16:creationId xmlns:a16="http://schemas.microsoft.com/office/drawing/2014/main" id="{890B9FA2-EE87-4B24-8A90-81C2BA75F4BA}"/>
              </a:ext>
            </a:extLst>
          </p:cNvPr>
          <p:cNvSpPr/>
          <p:nvPr/>
        </p:nvSpPr>
        <p:spPr>
          <a:xfrm>
            <a:off x="6128180" y="3776007"/>
            <a:ext cx="1523174" cy="323165"/>
          </a:xfrm>
          <a:prstGeom prst="rect">
            <a:avLst/>
          </a:prstGeom>
        </p:spPr>
        <p:txBody>
          <a:bodyPr wrap="none">
            <a:spAutoFit/>
          </a:bodyPr>
          <a:lstStyle/>
          <a:p>
            <a:pPr marL="342892" indent="-342892" defTabSz="914378" fontAlgn="base">
              <a:spcBef>
                <a:spcPct val="20000"/>
              </a:spcBef>
              <a:spcAft>
                <a:spcPct val="0"/>
              </a:spcAft>
              <a:buClr>
                <a:srgbClr val="5EAEFF"/>
              </a:buClr>
              <a:buSzPct val="60000"/>
              <a:defRPr/>
            </a:pP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T.val</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a:t>
            </a:r>
            <a:r>
              <a:rPr lang="en-US" altLang="zh-CN" sz="1500" b="1" i="1" dirty="0" err="1">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.syn</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endParaRPr lang="zh-CN" altLang="en-US"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75" name="矩形 74">
            <a:extLst>
              <a:ext uri="{FF2B5EF4-FFF2-40B4-BE49-F238E27FC236}">
                <a16:creationId xmlns:a16="http://schemas.microsoft.com/office/drawing/2014/main" id="{16DF4C1D-377E-40FA-A384-97B47EAF4CB8}"/>
              </a:ext>
            </a:extLst>
          </p:cNvPr>
          <p:cNvSpPr/>
          <p:nvPr/>
        </p:nvSpPr>
        <p:spPr>
          <a:xfrm>
            <a:off x="2621656" y="4618451"/>
            <a:ext cx="1936749" cy="323165"/>
          </a:xfrm>
          <a:prstGeom prst="rect">
            <a:avLst/>
          </a:prstGeom>
        </p:spPr>
        <p:txBody>
          <a:bodyPr wrap="none">
            <a:spAutoFit/>
          </a:bodyPr>
          <a:lstStyle/>
          <a:p>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dirty="0"/>
          </a:p>
        </p:txBody>
      </p:sp>
      <p:sp>
        <p:nvSpPr>
          <p:cNvPr id="76" name="Line 5">
            <a:extLst>
              <a:ext uri="{FF2B5EF4-FFF2-40B4-BE49-F238E27FC236}">
                <a16:creationId xmlns:a16="http://schemas.microsoft.com/office/drawing/2014/main" id="{429AF9E1-3F36-4110-9CDA-4A0B848EDED2}"/>
              </a:ext>
            </a:extLst>
          </p:cNvPr>
          <p:cNvSpPr>
            <a:spLocks noChangeShapeType="1"/>
          </p:cNvSpPr>
          <p:nvPr/>
        </p:nvSpPr>
        <p:spPr bwMode="auto">
          <a:xfrm flipV="1">
            <a:off x="3908413" y="3405857"/>
            <a:ext cx="0" cy="342997"/>
          </a:xfrm>
          <a:prstGeom prst="line">
            <a:avLst/>
          </a:prstGeom>
          <a:noFill/>
          <a:ln w="25400">
            <a:solidFill>
              <a:schemeClr val="tx2">
                <a:lumMod val="60000"/>
                <a:lumOff val="40000"/>
              </a:schemeClr>
            </a:solidFill>
            <a:prstDash val="lgDash"/>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dirty="0">
              <a:solidFill>
                <a:prstClr val="black"/>
              </a:solidFill>
              <a:latin typeface="Tahoma" panose="020B0604030504040204" pitchFamily="34" charset="0"/>
              <a:ea typeface="宋体" panose="02010600030101010101" pitchFamily="2" charset="-122"/>
            </a:endParaRPr>
          </a:p>
        </p:txBody>
      </p:sp>
      <p:cxnSp>
        <p:nvCxnSpPr>
          <p:cNvPr id="37890" name="直接箭头连接符 37889">
            <a:extLst>
              <a:ext uri="{FF2B5EF4-FFF2-40B4-BE49-F238E27FC236}">
                <a16:creationId xmlns:a16="http://schemas.microsoft.com/office/drawing/2014/main" id="{8A455B10-95DC-4067-A5C0-2123753472C9}"/>
              </a:ext>
            </a:extLst>
          </p:cNvPr>
          <p:cNvCxnSpPr/>
          <p:nvPr/>
        </p:nvCxnSpPr>
        <p:spPr>
          <a:xfrm flipV="1">
            <a:off x="3034145" y="4932748"/>
            <a:ext cx="277332" cy="269559"/>
          </a:xfrm>
          <a:prstGeom prst="straightConnector1">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41B56417-EA29-4DD4-8530-3BB8D5D4B284}"/>
              </a:ext>
            </a:extLst>
          </p:cNvPr>
          <p:cNvSpPr/>
          <p:nvPr/>
        </p:nvSpPr>
        <p:spPr>
          <a:xfrm>
            <a:off x="7391754" y="4608752"/>
            <a:ext cx="1636987" cy="323165"/>
          </a:xfrm>
          <a:prstGeom prst="rect">
            <a:avLst/>
          </a:prstGeom>
        </p:spPr>
        <p:txBody>
          <a:bodyPr wrap="none">
            <a:spAutoFit/>
          </a:bodyPr>
          <a:lstStyle/>
          <a:p>
            <a:pPr marL="342892" indent="-342892" defTabSz="914378"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6" name="图片 45">
            <a:extLst>
              <a:ext uri="{FF2B5EF4-FFF2-40B4-BE49-F238E27FC236}">
                <a16:creationId xmlns:a16="http://schemas.microsoft.com/office/drawing/2014/main" id="{896A2214-40B6-4958-8C85-1834CA55B57E}"/>
              </a:ext>
            </a:extLst>
          </p:cNvPr>
          <p:cNvPicPr>
            <a:picLocks noChangeAspect="1"/>
          </p:cNvPicPr>
          <p:nvPr/>
        </p:nvPicPr>
        <p:blipFill>
          <a:blip r:embed="rId3"/>
          <a:stretch>
            <a:fillRect/>
          </a:stretch>
        </p:blipFill>
        <p:spPr bwMode="auto">
          <a:xfrm>
            <a:off x="497236" y="288443"/>
            <a:ext cx="3375510" cy="1980838"/>
          </a:xfrm>
          <a:prstGeom prst="rect">
            <a:avLst/>
          </a:prstGeom>
        </p:spPr>
      </p:pic>
      <p:sp>
        <p:nvSpPr>
          <p:cNvPr id="3" name="日期占位符 2">
            <a:extLst>
              <a:ext uri="{FF2B5EF4-FFF2-40B4-BE49-F238E27FC236}">
                <a16:creationId xmlns:a16="http://schemas.microsoft.com/office/drawing/2014/main" id="{E814A496-AC6D-65A7-9225-8591F5BD9C1F}"/>
              </a:ext>
            </a:extLst>
          </p:cNvPr>
          <p:cNvSpPr>
            <a:spLocks noGrp="1"/>
          </p:cNvSpPr>
          <p:nvPr>
            <p:ph type="dt" sz="half" idx="10"/>
          </p:nvPr>
        </p:nvSpPr>
        <p:spPr/>
        <p:txBody>
          <a:bodyPr/>
          <a:lstStyle/>
          <a:p>
            <a:pPr>
              <a:defRPr/>
            </a:pPr>
            <a:r>
              <a:rPr lang="en-US" altLang="zh-CN"/>
              <a:t>Fall 2024</a:t>
            </a:r>
            <a:endParaRPr lang="en-US"/>
          </a:p>
        </p:txBody>
      </p:sp>
      <p:sp>
        <p:nvSpPr>
          <p:cNvPr id="4" name="页脚占位符 3">
            <a:extLst>
              <a:ext uri="{FF2B5EF4-FFF2-40B4-BE49-F238E27FC236}">
                <a16:creationId xmlns:a16="http://schemas.microsoft.com/office/drawing/2014/main" id="{1C6F4F18-8A22-AD5A-B420-5527C88F2034}"/>
              </a:ext>
            </a:extLst>
          </p:cNvPr>
          <p:cNvSpPr>
            <a:spLocks noGrp="1"/>
          </p:cNvSpPr>
          <p:nvPr>
            <p:ph type="ftr" sz="quarter" idx="11"/>
          </p:nvPr>
        </p:nvSpPr>
        <p:spPr/>
        <p:txBody>
          <a:bodyPr/>
          <a:lstStyle/>
          <a:p>
            <a:pPr>
              <a:defRPr/>
            </a:pPr>
            <a:r>
              <a:rPr lang="en-US"/>
              <a:t>BUPT Compilers</a:t>
            </a:r>
          </a:p>
        </p:txBody>
      </p:sp>
      <p:sp>
        <p:nvSpPr>
          <p:cNvPr id="5" name="灯片编号占位符 4">
            <a:extLst>
              <a:ext uri="{FF2B5EF4-FFF2-40B4-BE49-F238E27FC236}">
                <a16:creationId xmlns:a16="http://schemas.microsoft.com/office/drawing/2014/main" id="{B02CBD1B-3EF1-4C62-4992-6893D8C26EE4}"/>
              </a:ext>
            </a:extLst>
          </p:cNvPr>
          <p:cNvSpPr>
            <a:spLocks noGrp="1"/>
          </p:cNvSpPr>
          <p:nvPr>
            <p:ph type="sldNum" sz="quarter" idx="12"/>
          </p:nvPr>
        </p:nvSpPr>
        <p:spPr/>
        <p:txBody>
          <a:bodyPr/>
          <a:lstStyle/>
          <a:p>
            <a:pPr>
              <a:defRPr/>
            </a:pPr>
            <a:fld id="{2FBC720A-3716-234A-B2DF-CBC7E48049F5}" type="slidenum">
              <a:rPr lang="en-US" altLang="zh-CN" smtClean="0"/>
              <a:t>26</a:t>
            </a:fld>
            <a:endParaRPr lang="en-US" altLang="zh-CN"/>
          </a:p>
        </p:txBody>
      </p:sp>
    </p:spTree>
    <p:extLst>
      <p:ext uri="{BB962C8B-B14F-4D97-AF65-F5344CB8AC3E}">
        <p14:creationId xmlns:p14="http://schemas.microsoft.com/office/powerpoint/2010/main" val="418928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 calcmode="lin" valueType="num">
                                      <p:cBhvr>
                                        <p:cTn id="14" dur="500" fill="hold"/>
                                        <p:tgtEl>
                                          <p:spTgt spid="22"/>
                                        </p:tgtEl>
                                        <p:attrNameLst>
                                          <p:attrName>ppt_w</p:attrName>
                                        </p:attrNameLst>
                                      </p:cBhvr>
                                      <p:tavLst>
                                        <p:tav tm="0">
                                          <p:val>
                                            <p:fltVal val="0"/>
                                          </p:val>
                                        </p:tav>
                                        <p:tav tm="100000">
                                          <p:val>
                                            <p:strVal val="#ppt_w"/>
                                          </p:val>
                                        </p:tav>
                                      </p:tavLst>
                                    </p:anim>
                                    <p:anim calcmode="lin" valueType="num">
                                      <p:cBhvr>
                                        <p:cTn id="15" dur="500" fill="hold"/>
                                        <p:tgtEl>
                                          <p:spTgt spid="22"/>
                                        </p:tgtEl>
                                        <p:attrNameLst>
                                          <p:attrName>ppt_h</p:attrName>
                                        </p:attrNameLst>
                                      </p:cBhvr>
                                      <p:tavLst>
                                        <p:tav tm="0">
                                          <p:val>
                                            <p:fltVal val="0"/>
                                          </p:val>
                                        </p:tav>
                                        <p:tav tm="100000">
                                          <p:val>
                                            <p:strVal val="#ppt_h"/>
                                          </p:val>
                                        </p:tav>
                                      </p:tavLst>
                                    </p:anim>
                                    <p:animEffect transition="in" filter="fade">
                                      <p:cBhvr>
                                        <p:cTn id="16" dur="500"/>
                                        <p:tgtEl>
                                          <p:spTgt spid="22"/>
                                        </p:tgtEl>
                                      </p:cBhvr>
                                    </p:animEffect>
                                  </p:childTnLst>
                                </p:cTn>
                              </p:par>
                              <p:par>
                                <p:cTn id="17" presetID="53" presetClass="entr" presetSubtype="16"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p:cTn id="19" dur="500" fill="hold"/>
                                        <p:tgtEl>
                                          <p:spTgt spid="41"/>
                                        </p:tgtEl>
                                        <p:attrNameLst>
                                          <p:attrName>ppt_w</p:attrName>
                                        </p:attrNameLst>
                                      </p:cBhvr>
                                      <p:tavLst>
                                        <p:tav tm="0">
                                          <p:val>
                                            <p:fltVal val="0"/>
                                          </p:val>
                                        </p:tav>
                                        <p:tav tm="100000">
                                          <p:val>
                                            <p:strVal val="#ppt_w"/>
                                          </p:val>
                                        </p:tav>
                                      </p:tavLst>
                                    </p:anim>
                                    <p:anim calcmode="lin" valueType="num">
                                      <p:cBhvr>
                                        <p:cTn id="20" dur="500" fill="hold"/>
                                        <p:tgtEl>
                                          <p:spTgt spid="41"/>
                                        </p:tgtEl>
                                        <p:attrNameLst>
                                          <p:attrName>ppt_h</p:attrName>
                                        </p:attrNameLst>
                                      </p:cBhvr>
                                      <p:tavLst>
                                        <p:tav tm="0">
                                          <p:val>
                                            <p:fltVal val="0"/>
                                          </p:val>
                                        </p:tav>
                                        <p:tav tm="100000">
                                          <p:val>
                                            <p:strVal val="#ppt_h"/>
                                          </p:val>
                                        </p:tav>
                                      </p:tavLst>
                                    </p:anim>
                                    <p:animEffect transition="in" filter="fade">
                                      <p:cBhvr>
                                        <p:cTn id="21" dur="500"/>
                                        <p:tgtEl>
                                          <p:spTgt spid="41"/>
                                        </p:tgtEl>
                                      </p:cBhvr>
                                    </p:animEffect>
                                  </p:childTnLst>
                                </p:cTn>
                              </p:par>
                              <p:par>
                                <p:cTn id="22" presetID="53" presetClass="entr" presetSubtype="16"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p:cTn id="24" dur="500" fill="hold"/>
                                        <p:tgtEl>
                                          <p:spTgt spid="28"/>
                                        </p:tgtEl>
                                        <p:attrNameLst>
                                          <p:attrName>ppt_w</p:attrName>
                                        </p:attrNameLst>
                                      </p:cBhvr>
                                      <p:tavLst>
                                        <p:tav tm="0">
                                          <p:val>
                                            <p:fltVal val="0"/>
                                          </p:val>
                                        </p:tav>
                                        <p:tav tm="100000">
                                          <p:val>
                                            <p:strVal val="#ppt_w"/>
                                          </p:val>
                                        </p:tav>
                                      </p:tavLst>
                                    </p:anim>
                                    <p:anim calcmode="lin" valueType="num">
                                      <p:cBhvr>
                                        <p:cTn id="25" dur="500" fill="hold"/>
                                        <p:tgtEl>
                                          <p:spTgt spid="28"/>
                                        </p:tgtEl>
                                        <p:attrNameLst>
                                          <p:attrName>ppt_h</p:attrName>
                                        </p:attrNameLst>
                                      </p:cBhvr>
                                      <p:tavLst>
                                        <p:tav tm="0">
                                          <p:val>
                                            <p:fltVal val="0"/>
                                          </p:val>
                                        </p:tav>
                                        <p:tav tm="100000">
                                          <p:val>
                                            <p:strVal val="#ppt_h"/>
                                          </p:val>
                                        </p:tav>
                                      </p:tavLst>
                                    </p:anim>
                                    <p:animEffect transition="in" filter="fade">
                                      <p:cBhvr>
                                        <p:cTn id="26" dur="500"/>
                                        <p:tgtEl>
                                          <p:spTgt spid="28"/>
                                        </p:tgtEl>
                                      </p:cBhvr>
                                    </p:animEffect>
                                  </p:childTnLst>
                                </p:cTn>
                              </p:par>
                              <p:par>
                                <p:cTn id="27" presetID="53" presetClass="entr" presetSubtype="16" fill="hold" nodeType="withEffect">
                                  <p:stCondLst>
                                    <p:cond delay="0"/>
                                  </p:stCondLst>
                                  <p:childTnLst>
                                    <p:set>
                                      <p:cBhvr>
                                        <p:cTn id="28" dur="1" fill="hold">
                                          <p:stCondLst>
                                            <p:cond delay="0"/>
                                          </p:stCondLst>
                                        </p:cTn>
                                        <p:tgtEl>
                                          <p:spTgt spid="52"/>
                                        </p:tgtEl>
                                        <p:attrNameLst>
                                          <p:attrName>style.visibility</p:attrName>
                                        </p:attrNameLst>
                                      </p:cBhvr>
                                      <p:to>
                                        <p:strVal val="visible"/>
                                      </p:to>
                                    </p:set>
                                    <p:anim calcmode="lin" valueType="num">
                                      <p:cBhvr>
                                        <p:cTn id="29" dur="500" fill="hold"/>
                                        <p:tgtEl>
                                          <p:spTgt spid="52"/>
                                        </p:tgtEl>
                                        <p:attrNameLst>
                                          <p:attrName>ppt_w</p:attrName>
                                        </p:attrNameLst>
                                      </p:cBhvr>
                                      <p:tavLst>
                                        <p:tav tm="0">
                                          <p:val>
                                            <p:fltVal val="0"/>
                                          </p:val>
                                        </p:tav>
                                        <p:tav tm="100000">
                                          <p:val>
                                            <p:strVal val="#ppt_w"/>
                                          </p:val>
                                        </p:tav>
                                      </p:tavLst>
                                    </p:anim>
                                    <p:anim calcmode="lin" valueType="num">
                                      <p:cBhvr>
                                        <p:cTn id="30" dur="500" fill="hold"/>
                                        <p:tgtEl>
                                          <p:spTgt spid="52"/>
                                        </p:tgtEl>
                                        <p:attrNameLst>
                                          <p:attrName>ppt_h</p:attrName>
                                        </p:attrNameLst>
                                      </p:cBhvr>
                                      <p:tavLst>
                                        <p:tav tm="0">
                                          <p:val>
                                            <p:fltVal val="0"/>
                                          </p:val>
                                        </p:tav>
                                        <p:tav tm="100000">
                                          <p:val>
                                            <p:strVal val="#ppt_h"/>
                                          </p:val>
                                        </p:tav>
                                      </p:tavLst>
                                    </p:anim>
                                    <p:animEffect transition="in" filter="fade">
                                      <p:cBhvr>
                                        <p:cTn id="31" dur="500"/>
                                        <p:tgtEl>
                                          <p:spTgt spid="52"/>
                                        </p:tgtEl>
                                      </p:cBhvr>
                                    </p:animEffect>
                                  </p:childTnLst>
                                </p:cTn>
                              </p:par>
                              <p:par>
                                <p:cTn id="32" presetID="53" presetClass="entr" presetSubtype="16" fill="hold" nodeType="withEffect">
                                  <p:stCondLst>
                                    <p:cond delay="0"/>
                                  </p:stCondLst>
                                  <p:childTnLst>
                                    <p:set>
                                      <p:cBhvr>
                                        <p:cTn id="33" dur="1" fill="hold">
                                          <p:stCondLst>
                                            <p:cond delay="0"/>
                                          </p:stCondLst>
                                        </p:cTn>
                                        <p:tgtEl>
                                          <p:spTgt spid="35"/>
                                        </p:tgtEl>
                                        <p:attrNameLst>
                                          <p:attrName>style.visibility</p:attrName>
                                        </p:attrNameLst>
                                      </p:cBhvr>
                                      <p:to>
                                        <p:strVal val="visible"/>
                                      </p:to>
                                    </p:set>
                                    <p:anim calcmode="lin" valueType="num">
                                      <p:cBhvr>
                                        <p:cTn id="34" dur="500" fill="hold"/>
                                        <p:tgtEl>
                                          <p:spTgt spid="35"/>
                                        </p:tgtEl>
                                        <p:attrNameLst>
                                          <p:attrName>ppt_w</p:attrName>
                                        </p:attrNameLst>
                                      </p:cBhvr>
                                      <p:tavLst>
                                        <p:tav tm="0">
                                          <p:val>
                                            <p:fltVal val="0"/>
                                          </p:val>
                                        </p:tav>
                                        <p:tav tm="100000">
                                          <p:val>
                                            <p:strVal val="#ppt_w"/>
                                          </p:val>
                                        </p:tav>
                                      </p:tavLst>
                                    </p:anim>
                                    <p:anim calcmode="lin" valueType="num">
                                      <p:cBhvr>
                                        <p:cTn id="35" dur="500" fill="hold"/>
                                        <p:tgtEl>
                                          <p:spTgt spid="35"/>
                                        </p:tgtEl>
                                        <p:attrNameLst>
                                          <p:attrName>ppt_h</p:attrName>
                                        </p:attrNameLst>
                                      </p:cBhvr>
                                      <p:tavLst>
                                        <p:tav tm="0">
                                          <p:val>
                                            <p:fltVal val="0"/>
                                          </p:val>
                                        </p:tav>
                                        <p:tav tm="100000">
                                          <p:val>
                                            <p:strVal val="#ppt_h"/>
                                          </p:val>
                                        </p:tav>
                                      </p:tavLst>
                                    </p:anim>
                                    <p:animEffect transition="in" filter="fade">
                                      <p:cBhvr>
                                        <p:cTn id="36" dur="500"/>
                                        <p:tgtEl>
                                          <p:spTgt spid="35"/>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76"/>
                                        </p:tgtEl>
                                        <p:attrNameLst>
                                          <p:attrName>style.visibility</p:attrName>
                                        </p:attrNameLst>
                                      </p:cBhvr>
                                      <p:to>
                                        <p:strVal val="visible"/>
                                      </p:to>
                                    </p:set>
                                    <p:anim calcmode="lin" valueType="num">
                                      <p:cBhvr>
                                        <p:cTn id="41" dur="500" fill="hold"/>
                                        <p:tgtEl>
                                          <p:spTgt spid="76"/>
                                        </p:tgtEl>
                                        <p:attrNameLst>
                                          <p:attrName>ppt_w</p:attrName>
                                        </p:attrNameLst>
                                      </p:cBhvr>
                                      <p:tavLst>
                                        <p:tav tm="0">
                                          <p:val>
                                            <p:fltVal val="0"/>
                                          </p:val>
                                        </p:tav>
                                        <p:tav tm="100000">
                                          <p:val>
                                            <p:strVal val="#ppt_w"/>
                                          </p:val>
                                        </p:tav>
                                      </p:tavLst>
                                    </p:anim>
                                    <p:anim calcmode="lin" valueType="num">
                                      <p:cBhvr>
                                        <p:cTn id="42" dur="500" fill="hold"/>
                                        <p:tgtEl>
                                          <p:spTgt spid="76"/>
                                        </p:tgtEl>
                                        <p:attrNameLst>
                                          <p:attrName>ppt_h</p:attrName>
                                        </p:attrNameLst>
                                      </p:cBhvr>
                                      <p:tavLst>
                                        <p:tav tm="0">
                                          <p:val>
                                            <p:fltVal val="0"/>
                                          </p:val>
                                        </p:tav>
                                        <p:tav tm="100000">
                                          <p:val>
                                            <p:strVal val="#ppt_h"/>
                                          </p:val>
                                        </p:tav>
                                      </p:tavLst>
                                    </p:anim>
                                    <p:animEffect transition="in" filter="fade">
                                      <p:cBhvr>
                                        <p:cTn id="43" dur="500"/>
                                        <p:tgtEl>
                                          <p:spTgt spid="76"/>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7888"/>
                                        </p:tgtEl>
                                        <p:attrNameLst>
                                          <p:attrName>style.visibility</p:attrName>
                                        </p:attrNameLst>
                                      </p:cBhvr>
                                      <p:to>
                                        <p:strVal val="visible"/>
                                      </p:to>
                                    </p:set>
                                    <p:anim calcmode="lin" valueType="num">
                                      <p:cBhvr>
                                        <p:cTn id="51" dur="500" fill="hold"/>
                                        <p:tgtEl>
                                          <p:spTgt spid="37888"/>
                                        </p:tgtEl>
                                        <p:attrNameLst>
                                          <p:attrName>ppt_w</p:attrName>
                                        </p:attrNameLst>
                                      </p:cBhvr>
                                      <p:tavLst>
                                        <p:tav tm="0">
                                          <p:val>
                                            <p:fltVal val="0"/>
                                          </p:val>
                                        </p:tav>
                                        <p:tav tm="100000">
                                          <p:val>
                                            <p:strVal val="#ppt_w"/>
                                          </p:val>
                                        </p:tav>
                                      </p:tavLst>
                                    </p:anim>
                                    <p:anim calcmode="lin" valueType="num">
                                      <p:cBhvr>
                                        <p:cTn id="52" dur="500" fill="hold"/>
                                        <p:tgtEl>
                                          <p:spTgt spid="37888"/>
                                        </p:tgtEl>
                                        <p:attrNameLst>
                                          <p:attrName>ppt_h</p:attrName>
                                        </p:attrNameLst>
                                      </p:cBhvr>
                                      <p:tavLst>
                                        <p:tav tm="0">
                                          <p:val>
                                            <p:fltVal val="0"/>
                                          </p:val>
                                        </p:tav>
                                        <p:tav tm="100000">
                                          <p:val>
                                            <p:strVal val="#ppt_h"/>
                                          </p:val>
                                        </p:tav>
                                      </p:tavLst>
                                    </p:anim>
                                    <p:animEffect transition="in" filter="fade">
                                      <p:cBhvr>
                                        <p:cTn id="53" dur="500"/>
                                        <p:tgtEl>
                                          <p:spTgt spid="37888"/>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75"/>
                                        </p:tgtEl>
                                        <p:attrNameLst>
                                          <p:attrName>style.visibility</p:attrName>
                                        </p:attrNameLst>
                                      </p:cBhvr>
                                      <p:to>
                                        <p:strVal val="visible"/>
                                      </p:to>
                                    </p:set>
                                    <p:anim calcmode="lin" valueType="num">
                                      <p:cBhvr>
                                        <p:cTn id="56" dur="500" fill="hold"/>
                                        <p:tgtEl>
                                          <p:spTgt spid="75"/>
                                        </p:tgtEl>
                                        <p:attrNameLst>
                                          <p:attrName>ppt_w</p:attrName>
                                        </p:attrNameLst>
                                      </p:cBhvr>
                                      <p:tavLst>
                                        <p:tav tm="0">
                                          <p:val>
                                            <p:fltVal val="0"/>
                                          </p:val>
                                        </p:tav>
                                        <p:tav tm="100000">
                                          <p:val>
                                            <p:strVal val="#ppt_w"/>
                                          </p:val>
                                        </p:tav>
                                      </p:tavLst>
                                    </p:anim>
                                    <p:anim calcmode="lin" valueType="num">
                                      <p:cBhvr>
                                        <p:cTn id="57" dur="500" fill="hold"/>
                                        <p:tgtEl>
                                          <p:spTgt spid="75"/>
                                        </p:tgtEl>
                                        <p:attrNameLst>
                                          <p:attrName>ppt_h</p:attrName>
                                        </p:attrNameLst>
                                      </p:cBhvr>
                                      <p:tavLst>
                                        <p:tav tm="0">
                                          <p:val>
                                            <p:fltVal val="0"/>
                                          </p:val>
                                        </p:tav>
                                        <p:tav tm="100000">
                                          <p:val>
                                            <p:strVal val="#ppt_h"/>
                                          </p:val>
                                        </p:tav>
                                      </p:tavLst>
                                    </p:anim>
                                    <p:animEffect transition="in" filter="fade">
                                      <p:cBhvr>
                                        <p:cTn id="58" dur="500"/>
                                        <p:tgtEl>
                                          <p:spTgt spid="75"/>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8"/>
                                        </p:tgtEl>
                                        <p:attrNameLst>
                                          <p:attrName>style.visibility</p:attrName>
                                        </p:attrNameLst>
                                      </p:cBhvr>
                                      <p:to>
                                        <p:strVal val="visible"/>
                                      </p:to>
                                    </p:set>
                                    <p:anim calcmode="lin" valueType="num">
                                      <p:cBhvr>
                                        <p:cTn id="61" dur="500" fill="hold"/>
                                        <p:tgtEl>
                                          <p:spTgt spid="8"/>
                                        </p:tgtEl>
                                        <p:attrNameLst>
                                          <p:attrName>ppt_w</p:attrName>
                                        </p:attrNameLst>
                                      </p:cBhvr>
                                      <p:tavLst>
                                        <p:tav tm="0">
                                          <p:val>
                                            <p:fltVal val="0"/>
                                          </p:val>
                                        </p:tav>
                                        <p:tav tm="100000">
                                          <p:val>
                                            <p:strVal val="#ppt_w"/>
                                          </p:val>
                                        </p:tav>
                                      </p:tavLst>
                                    </p:anim>
                                    <p:anim calcmode="lin" valueType="num">
                                      <p:cBhvr>
                                        <p:cTn id="62" dur="500" fill="hold"/>
                                        <p:tgtEl>
                                          <p:spTgt spid="8"/>
                                        </p:tgtEl>
                                        <p:attrNameLst>
                                          <p:attrName>ppt_h</p:attrName>
                                        </p:attrNameLst>
                                      </p:cBhvr>
                                      <p:tavLst>
                                        <p:tav tm="0">
                                          <p:val>
                                            <p:fltVal val="0"/>
                                          </p:val>
                                        </p:tav>
                                        <p:tav tm="100000">
                                          <p:val>
                                            <p:strVal val="#ppt_h"/>
                                          </p:val>
                                        </p:tav>
                                      </p:tavLst>
                                    </p:anim>
                                    <p:animEffect transition="in" filter="fade">
                                      <p:cBhvr>
                                        <p:cTn id="63" dur="500"/>
                                        <p:tgtEl>
                                          <p:spTgt spid="8"/>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86"/>
                                        </p:tgtEl>
                                        <p:attrNameLst>
                                          <p:attrName>style.visibility</p:attrName>
                                        </p:attrNameLst>
                                      </p:cBhvr>
                                      <p:to>
                                        <p:strVal val="visible"/>
                                      </p:to>
                                    </p:set>
                                    <p:anim calcmode="lin" valueType="num">
                                      <p:cBhvr>
                                        <p:cTn id="66" dur="500" fill="hold"/>
                                        <p:tgtEl>
                                          <p:spTgt spid="86"/>
                                        </p:tgtEl>
                                        <p:attrNameLst>
                                          <p:attrName>ppt_w</p:attrName>
                                        </p:attrNameLst>
                                      </p:cBhvr>
                                      <p:tavLst>
                                        <p:tav tm="0">
                                          <p:val>
                                            <p:fltVal val="0"/>
                                          </p:val>
                                        </p:tav>
                                        <p:tav tm="100000">
                                          <p:val>
                                            <p:strVal val="#ppt_w"/>
                                          </p:val>
                                        </p:tav>
                                      </p:tavLst>
                                    </p:anim>
                                    <p:anim calcmode="lin" valueType="num">
                                      <p:cBhvr>
                                        <p:cTn id="67" dur="500" fill="hold"/>
                                        <p:tgtEl>
                                          <p:spTgt spid="86"/>
                                        </p:tgtEl>
                                        <p:attrNameLst>
                                          <p:attrName>ppt_h</p:attrName>
                                        </p:attrNameLst>
                                      </p:cBhvr>
                                      <p:tavLst>
                                        <p:tav tm="0">
                                          <p:val>
                                            <p:fltVal val="0"/>
                                          </p:val>
                                        </p:tav>
                                        <p:tav tm="100000">
                                          <p:val>
                                            <p:strVal val="#ppt_h"/>
                                          </p:val>
                                        </p:tav>
                                      </p:tavLst>
                                    </p:anim>
                                    <p:animEffect transition="in" filter="fade">
                                      <p:cBhvr>
                                        <p:cTn id="68" dur="500"/>
                                        <p:tgtEl>
                                          <p:spTgt spid="86"/>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2"/>
                                        </p:tgtEl>
                                        <p:attrNameLst>
                                          <p:attrName>style.visibility</p:attrName>
                                        </p:attrNameLst>
                                      </p:cBhvr>
                                      <p:to>
                                        <p:strVal val="visible"/>
                                      </p:to>
                                    </p:set>
                                    <p:anim calcmode="lin" valueType="num">
                                      <p:cBhvr>
                                        <p:cTn id="71" dur="500" fill="hold"/>
                                        <p:tgtEl>
                                          <p:spTgt spid="2"/>
                                        </p:tgtEl>
                                        <p:attrNameLst>
                                          <p:attrName>ppt_w</p:attrName>
                                        </p:attrNameLst>
                                      </p:cBhvr>
                                      <p:tavLst>
                                        <p:tav tm="0">
                                          <p:val>
                                            <p:fltVal val="0"/>
                                          </p:val>
                                        </p:tav>
                                        <p:tav tm="100000">
                                          <p:val>
                                            <p:strVal val="#ppt_w"/>
                                          </p:val>
                                        </p:tav>
                                      </p:tavLst>
                                    </p:anim>
                                    <p:anim calcmode="lin" valueType="num">
                                      <p:cBhvr>
                                        <p:cTn id="72" dur="500" fill="hold"/>
                                        <p:tgtEl>
                                          <p:spTgt spid="2"/>
                                        </p:tgtEl>
                                        <p:attrNameLst>
                                          <p:attrName>ppt_h</p:attrName>
                                        </p:attrNameLst>
                                      </p:cBhvr>
                                      <p:tavLst>
                                        <p:tav tm="0">
                                          <p:val>
                                            <p:fltVal val="0"/>
                                          </p:val>
                                        </p:tav>
                                        <p:tav tm="100000">
                                          <p:val>
                                            <p:strVal val="#ppt_h"/>
                                          </p:val>
                                        </p:tav>
                                      </p:tavLst>
                                    </p:anim>
                                    <p:animEffect transition="in" filter="fade">
                                      <p:cBhvr>
                                        <p:cTn id="73" dur="500"/>
                                        <p:tgtEl>
                                          <p:spTgt spid="2"/>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7"/>
                                        </p:tgtEl>
                                        <p:attrNameLst>
                                          <p:attrName>style.visibility</p:attrName>
                                        </p:attrNameLst>
                                      </p:cBhvr>
                                      <p:to>
                                        <p:strVal val="visible"/>
                                      </p:to>
                                    </p:set>
                                    <p:anim calcmode="lin" valueType="num">
                                      <p:cBhvr>
                                        <p:cTn id="76" dur="500" fill="hold"/>
                                        <p:tgtEl>
                                          <p:spTgt spid="7"/>
                                        </p:tgtEl>
                                        <p:attrNameLst>
                                          <p:attrName>ppt_w</p:attrName>
                                        </p:attrNameLst>
                                      </p:cBhvr>
                                      <p:tavLst>
                                        <p:tav tm="0">
                                          <p:val>
                                            <p:fltVal val="0"/>
                                          </p:val>
                                        </p:tav>
                                        <p:tav tm="100000">
                                          <p:val>
                                            <p:strVal val="#ppt_w"/>
                                          </p:val>
                                        </p:tav>
                                      </p:tavLst>
                                    </p:anim>
                                    <p:anim calcmode="lin" valueType="num">
                                      <p:cBhvr>
                                        <p:cTn id="77" dur="500" fill="hold"/>
                                        <p:tgtEl>
                                          <p:spTgt spid="7"/>
                                        </p:tgtEl>
                                        <p:attrNameLst>
                                          <p:attrName>ppt_h</p:attrName>
                                        </p:attrNameLst>
                                      </p:cBhvr>
                                      <p:tavLst>
                                        <p:tav tm="0">
                                          <p:val>
                                            <p:fltVal val="0"/>
                                          </p:val>
                                        </p:tav>
                                        <p:tav tm="100000">
                                          <p:val>
                                            <p:strVal val="#ppt_h"/>
                                          </p:val>
                                        </p:tav>
                                      </p:tavLst>
                                    </p:anim>
                                    <p:animEffect transition="in" filter="fade">
                                      <p:cBhvr>
                                        <p:cTn id="78" dur="500"/>
                                        <p:tgtEl>
                                          <p:spTgt spid="7"/>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nodeType="clickEffect">
                                  <p:stCondLst>
                                    <p:cond delay="0"/>
                                  </p:stCondLst>
                                  <p:childTnLst>
                                    <p:set>
                                      <p:cBhvr>
                                        <p:cTn id="82" dur="1" fill="hold">
                                          <p:stCondLst>
                                            <p:cond delay="0"/>
                                          </p:stCondLst>
                                        </p:cTn>
                                        <p:tgtEl>
                                          <p:spTgt spid="37890"/>
                                        </p:tgtEl>
                                        <p:attrNameLst>
                                          <p:attrName>style.visibility</p:attrName>
                                        </p:attrNameLst>
                                      </p:cBhvr>
                                      <p:to>
                                        <p:strVal val="visible"/>
                                      </p:to>
                                    </p:set>
                                    <p:anim calcmode="lin" valueType="num">
                                      <p:cBhvr>
                                        <p:cTn id="83" dur="500" fill="hold"/>
                                        <p:tgtEl>
                                          <p:spTgt spid="37890"/>
                                        </p:tgtEl>
                                        <p:attrNameLst>
                                          <p:attrName>ppt_w</p:attrName>
                                        </p:attrNameLst>
                                      </p:cBhvr>
                                      <p:tavLst>
                                        <p:tav tm="0">
                                          <p:val>
                                            <p:fltVal val="0"/>
                                          </p:val>
                                        </p:tav>
                                        <p:tav tm="100000">
                                          <p:val>
                                            <p:strVal val="#ppt_w"/>
                                          </p:val>
                                        </p:tav>
                                      </p:tavLst>
                                    </p:anim>
                                    <p:anim calcmode="lin" valueType="num">
                                      <p:cBhvr>
                                        <p:cTn id="84" dur="500" fill="hold"/>
                                        <p:tgtEl>
                                          <p:spTgt spid="37890"/>
                                        </p:tgtEl>
                                        <p:attrNameLst>
                                          <p:attrName>ppt_h</p:attrName>
                                        </p:attrNameLst>
                                      </p:cBhvr>
                                      <p:tavLst>
                                        <p:tav tm="0">
                                          <p:val>
                                            <p:fltVal val="0"/>
                                          </p:val>
                                        </p:tav>
                                        <p:tav tm="100000">
                                          <p:val>
                                            <p:strVal val="#ppt_h"/>
                                          </p:val>
                                        </p:tav>
                                      </p:tavLst>
                                    </p:anim>
                                    <p:animEffect transition="in" filter="fade">
                                      <p:cBhvr>
                                        <p:cTn id="85" dur="500"/>
                                        <p:tgtEl>
                                          <p:spTgt spid="37890"/>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 calcmode="lin" valueType="num">
                                      <p:cBhvr>
                                        <p:cTn id="90" dur="500" fill="hold"/>
                                        <p:tgtEl>
                                          <p:spTgt spid="40"/>
                                        </p:tgtEl>
                                        <p:attrNameLst>
                                          <p:attrName>ppt_w</p:attrName>
                                        </p:attrNameLst>
                                      </p:cBhvr>
                                      <p:tavLst>
                                        <p:tav tm="0">
                                          <p:val>
                                            <p:fltVal val="0"/>
                                          </p:val>
                                        </p:tav>
                                        <p:tav tm="100000">
                                          <p:val>
                                            <p:strVal val="#ppt_w"/>
                                          </p:val>
                                        </p:tav>
                                      </p:tavLst>
                                    </p:anim>
                                    <p:anim calcmode="lin" valueType="num">
                                      <p:cBhvr>
                                        <p:cTn id="91" dur="500" fill="hold"/>
                                        <p:tgtEl>
                                          <p:spTgt spid="40"/>
                                        </p:tgtEl>
                                        <p:attrNameLst>
                                          <p:attrName>ppt_h</p:attrName>
                                        </p:attrNameLst>
                                      </p:cBhvr>
                                      <p:tavLst>
                                        <p:tav tm="0">
                                          <p:val>
                                            <p:fltVal val="0"/>
                                          </p:val>
                                        </p:tav>
                                        <p:tav tm="100000">
                                          <p:val>
                                            <p:strVal val="#ppt_h"/>
                                          </p:val>
                                        </p:tav>
                                      </p:tavLst>
                                    </p:anim>
                                    <p:animEffect transition="in" filter="fade">
                                      <p:cBhvr>
                                        <p:cTn id="9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40" grpId="0"/>
      <p:bldP spid="2" grpId="0"/>
      <p:bldP spid="7" grpId="0"/>
      <p:bldP spid="8" grpId="0"/>
      <p:bldP spid="10" grpId="0"/>
      <p:bldP spid="37888" grpId="0"/>
      <p:bldP spid="75" grpId="0"/>
      <p:bldP spid="76" grpId="0" animBg="1"/>
      <p:bldP spid="8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7">
            <a:extLst>
              <a:ext uri="{FF2B5EF4-FFF2-40B4-BE49-F238E27FC236}">
                <a16:creationId xmlns:a16="http://schemas.microsoft.com/office/drawing/2014/main" id="{77924812-D949-48BA-9002-4B8B8C22793E}"/>
              </a:ext>
            </a:extLst>
          </p:cNvPr>
          <p:cNvSpPr>
            <a:spLocks noChangeArrowheads="1"/>
          </p:cNvSpPr>
          <p:nvPr/>
        </p:nvSpPr>
        <p:spPr bwMode="auto">
          <a:xfrm>
            <a:off x="338139" y="4424707"/>
            <a:ext cx="2136775"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20000"/>
              </a:spcBef>
              <a:spcAft>
                <a:spcPct val="0"/>
              </a:spcAft>
              <a:defRPr/>
            </a:pPr>
            <a:r>
              <a:rPr kumimoji="1" lang="en-US" altLang="zh-CN" sz="2000" kern="1200" dirty="0">
                <a:solidFill>
                  <a:srgbClr val="000000"/>
                </a:solidFill>
                <a:latin typeface="Times New Roman" panose="02020603050405020304" pitchFamily="18" charset="0"/>
              </a:rPr>
              <a:t>3   *   5</a:t>
            </a:r>
          </a:p>
          <a:p>
            <a:pPr defTabSz="914378" rtl="0" fontAlgn="base">
              <a:spcBef>
                <a:spcPct val="20000"/>
              </a:spcBef>
              <a:spcAft>
                <a:spcPct val="0"/>
              </a:spcAft>
              <a:defRPr/>
            </a:pPr>
            <a:r>
              <a:rPr lang="en-US" altLang="zh-CN" sz="2000" kern="12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digit </a:t>
            </a:r>
            <a:endParaRPr kumimoji="1" lang="en-US" altLang="zh-CN" sz="2000" kern="1200" dirty="0">
              <a:solidFill>
                <a:srgbClr val="000000"/>
              </a:solidFill>
              <a:latin typeface="Times New Roman" panose="02020603050405020304" pitchFamily="18" charset="0"/>
            </a:endParaRPr>
          </a:p>
          <a:p>
            <a:pPr defTabSz="914378" rtl="0" fontAlgn="base">
              <a:spcBef>
                <a:spcPct val="20000"/>
              </a:spcBef>
              <a:spcAft>
                <a:spcPct val="0"/>
              </a:spcAft>
              <a:defRPr/>
            </a:pPr>
            <a:endParaRPr kumimoji="1" lang="en-US" altLang="zh-CN" sz="2000" kern="1200" dirty="0">
              <a:solidFill>
                <a:srgbClr val="000000"/>
              </a:solidFill>
              <a:latin typeface="Times New Roman" panose="02020603050405020304" pitchFamily="18" charset="0"/>
              <a:sym typeface="Symbol" panose="05050102010706020507" pitchFamily="18" charset="2"/>
            </a:endParaRPr>
          </a:p>
        </p:txBody>
      </p:sp>
      <p:grpSp>
        <p:nvGrpSpPr>
          <p:cNvPr id="22" name="组合 21">
            <a:extLst>
              <a:ext uri="{FF2B5EF4-FFF2-40B4-BE49-F238E27FC236}">
                <a16:creationId xmlns:a16="http://schemas.microsoft.com/office/drawing/2014/main" id="{3114F0BA-5439-4963-807B-64545B8027A7}"/>
              </a:ext>
            </a:extLst>
          </p:cNvPr>
          <p:cNvGrpSpPr>
            <a:grpSpLocks/>
          </p:cNvGrpSpPr>
          <p:nvPr/>
        </p:nvGrpSpPr>
        <p:grpSpPr bwMode="auto">
          <a:xfrm>
            <a:off x="2287506" y="2989988"/>
            <a:ext cx="3452670" cy="1123239"/>
            <a:chOff x="3853075" y="810394"/>
            <a:chExt cx="3453528" cy="1124157"/>
          </a:xfrm>
        </p:grpSpPr>
        <p:sp>
          <p:nvSpPr>
            <p:cNvPr id="23" name="Rectangle 6">
              <a:extLst>
                <a:ext uri="{FF2B5EF4-FFF2-40B4-BE49-F238E27FC236}">
                  <a16:creationId xmlns:a16="http://schemas.microsoft.com/office/drawing/2014/main" id="{86C738E7-0C6E-4F7C-83C5-5E2C34595374}"/>
                </a:ext>
              </a:extLst>
            </p:cNvPr>
            <p:cNvSpPr>
              <a:spLocks noChangeArrowheads="1"/>
            </p:cNvSpPr>
            <p:nvPr/>
          </p:nvSpPr>
          <p:spPr bwMode="auto">
            <a:xfrm>
              <a:off x="3853075" y="1586382"/>
              <a:ext cx="271077" cy="348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24" name="Rectangle 9">
              <a:extLst>
                <a:ext uri="{FF2B5EF4-FFF2-40B4-BE49-F238E27FC236}">
                  <a16:creationId xmlns:a16="http://schemas.microsoft.com/office/drawing/2014/main" id="{F0740B2D-5ABD-466F-A0E6-17C9A80EF2CA}"/>
                </a:ext>
              </a:extLst>
            </p:cNvPr>
            <p:cNvSpPr>
              <a:spLocks noChangeArrowheads="1"/>
            </p:cNvSpPr>
            <p:nvPr/>
          </p:nvSpPr>
          <p:spPr bwMode="auto">
            <a:xfrm>
              <a:off x="6928578" y="1569882"/>
              <a:ext cx="378025"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5" name="Rectangle 10">
              <a:extLst>
                <a:ext uri="{FF2B5EF4-FFF2-40B4-BE49-F238E27FC236}">
                  <a16:creationId xmlns:a16="http://schemas.microsoft.com/office/drawing/2014/main" id="{53E10D79-0F20-4C18-8650-A78686F478C3}"/>
                </a:ext>
              </a:extLst>
            </p:cNvPr>
            <p:cNvSpPr>
              <a:spLocks noChangeArrowheads="1"/>
            </p:cNvSpPr>
            <p:nvPr/>
          </p:nvSpPr>
          <p:spPr bwMode="auto">
            <a:xfrm>
              <a:off x="5272107" y="810394"/>
              <a:ext cx="417513"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6" name="Line 11">
              <a:extLst>
                <a:ext uri="{FF2B5EF4-FFF2-40B4-BE49-F238E27FC236}">
                  <a16:creationId xmlns:a16="http://schemas.microsoft.com/office/drawing/2014/main" id="{87A27C41-914D-4B9A-9B7D-433AD6FBB778}"/>
                </a:ext>
              </a:extLst>
            </p:cNvPr>
            <p:cNvSpPr>
              <a:spLocks noChangeShapeType="1"/>
            </p:cNvSpPr>
            <p:nvPr/>
          </p:nvSpPr>
          <p:spPr bwMode="auto">
            <a:xfrm flipH="1">
              <a:off x="4099264" y="1172486"/>
              <a:ext cx="1381600" cy="39997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27" name="Line 12">
              <a:extLst>
                <a:ext uri="{FF2B5EF4-FFF2-40B4-BE49-F238E27FC236}">
                  <a16:creationId xmlns:a16="http://schemas.microsoft.com/office/drawing/2014/main" id="{CB27928E-1E8A-498B-AE9D-8CCBF45B76C8}"/>
                </a:ext>
              </a:extLst>
            </p:cNvPr>
            <p:cNvSpPr>
              <a:spLocks noChangeShapeType="1"/>
            </p:cNvSpPr>
            <p:nvPr/>
          </p:nvSpPr>
          <p:spPr bwMode="auto">
            <a:xfrm>
              <a:off x="5438709" y="1192035"/>
              <a:ext cx="1797357" cy="385473"/>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28" name="组合 124933">
            <a:extLst>
              <a:ext uri="{FF2B5EF4-FFF2-40B4-BE49-F238E27FC236}">
                <a16:creationId xmlns:a16="http://schemas.microsoft.com/office/drawing/2014/main" id="{C987E98D-3898-4D56-AAA1-BF361293CB52}"/>
              </a:ext>
            </a:extLst>
          </p:cNvPr>
          <p:cNvGrpSpPr>
            <a:grpSpLocks/>
          </p:cNvGrpSpPr>
          <p:nvPr/>
        </p:nvGrpSpPr>
        <p:grpSpPr bwMode="auto">
          <a:xfrm>
            <a:off x="4435876" y="4191537"/>
            <a:ext cx="3059096" cy="796271"/>
            <a:chOff x="7193292" y="2013704"/>
            <a:chExt cx="1929563" cy="794905"/>
          </a:xfrm>
        </p:grpSpPr>
        <p:sp>
          <p:nvSpPr>
            <p:cNvPr id="29" name="Line 8">
              <a:extLst>
                <a:ext uri="{FF2B5EF4-FFF2-40B4-BE49-F238E27FC236}">
                  <a16:creationId xmlns:a16="http://schemas.microsoft.com/office/drawing/2014/main" id="{769042D8-75A4-4D1E-87D0-92D0487DCE94}"/>
                </a:ext>
              </a:extLst>
            </p:cNvPr>
            <p:cNvSpPr>
              <a:spLocks noChangeShapeType="1"/>
            </p:cNvSpPr>
            <p:nvPr/>
          </p:nvSpPr>
          <p:spPr bwMode="auto">
            <a:xfrm flipV="1">
              <a:off x="7540792" y="2030902"/>
              <a:ext cx="262473" cy="45032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0" name="Text Box 13">
              <a:extLst>
                <a:ext uri="{FF2B5EF4-FFF2-40B4-BE49-F238E27FC236}">
                  <a16:creationId xmlns:a16="http://schemas.microsoft.com/office/drawing/2014/main" id="{25AA22B6-F143-4394-B0C7-68706BC57A49}"/>
                </a:ext>
              </a:extLst>
            </p:cNvPr>
            <p:cNvSpPr txBox="1">
              <a:spLocks noChangeArrowheads="1"/>
            </p:cNvSpPr>
            <p:nvPr/>
          </p:nvSpPr>
          <p:spPr bwMode="auto">
            <a:xfrm>
              <a:off x="7193292" y="2461322"/>
              <a:ext cx="269875"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50000"/>
                </a:spcBef>
                <a:spcAft>
                  <a:spcPct val="0"/>
                </a:spcAft>
                <a:defRPr/>
              </a:pPr>
              <a:r>
                <a:rPr kumimoji="1" lang="zh-CN" altLang="en-US" kern="1200" dirty="0">
                  <a:solidFill>
                    <a:prstClr val="black"/>
                  </a:solidFill>
                  <a:latin typeface="Times New Roman" panose="02020603050405020304" pitchFamily="18" charset="0"/>
                </a:rPr>
                <a:t>*</a:t>
              </a:r>
            </a:p>
          </p:txBody>
        </p:sp>
        <p:sp>
          <p:nvSpPr>
            <p:cNvPr id="31" name="Line 11">
              <a:extLst>
                <a:ext uri="{FF2B5EF4-FFF2-40B4-BE49-F238E27FC236}">
                  <a16:creationId xmlns:a16="http://schemas.microsoft.com/office/drawing/2014/main" id="{55C4C488-407D-463E-9CE4-1C1DC6CF6E9A}"/>
                </a:ext>
              </a:extLst>
            </p:cNvPr>
            <p:cNvSpPr>
              <a:spLocks noChangeShapeType="1"/>
            </p:cNvSpPr>
            <p:nvPr/>
          </p:nvSpPr>
          <p:spPr bwMode="auto">
            <a:xfrm flipH="1">
              <a:off x="7299098" y="2013704"/>
              <a:ext cx="522562" cy="41553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3" name="Rectangle 6">
              <a:extLst>
                <a:ext uri="{FF2B5EF4-FFF2-40B4-BE49-F238E27FC236}">
                  <a16:creationId xmlns:a16="http://schemas.microsoft.com/office/drawing/2014/main" id="{588DBCF3-8D0C-4583-88DF-0AEE494EC03F}"/>
                </a:ext>
              </a:extLst>
            </p:cNvPr>
            <p:cNvSpPr>
              <a:spLocks noChangeArrowheads="1"/>
            </p:cNvSpPr>
            <p:nvPr/>
          </p:nvSpPr>
          <p:spPr bwMode="auto">
            <a:xfrm>
              <a:off x="7299099" y="2431251"/>
              <a:ext cx="314446"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34" name="Rectangle 9">
              <a:extLst>
                <a:ext uri="{FF2B5EF4-FFF2-40B4-BE49-F238E27FC236}">
                  <a16:creationId xmlns:a16="http://schemas.microsoft.com/office/drawing/2014/main" id="{5DBD9EBC-5EDA-410F-AC0E-F4BE3362D896}"/>
                </a:ext>
              </a:extLst>
            </p:cNvPr>
            <p:cNvSpPr>
              <a:spLocks noChangeArrowheads="1"/>
            </p:cNvSpPr>
            <p:nvPr/>
          </p:nvSpPr>
          <p:spPr bwMode="auto">
            <a:xfrm>
              <a:off x="8759697" y="2431251"/>
              <a:ext cx="363158"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32" name="Line 12">
              <a:extLst>
                <a:ext uri="{FF2B5EF4-FFF2-40B4-BE49-F238E27FC236}">
                  <a16:creationId xmlns:a16="http://schemas.microsoft.com/office/drawing/2014/main" id="{CA7E7E12-3212-47EB-AABE-12C1E218705B}"/>
                </a:ext>
              </a:extLst>
            </p:cNvPr>
            <p:cNvSpPr>
              <a:spLocks noChangeShapeType="1"/>
            </p:cNvSpPr>
            <p:nvPr/>
          </p:nvSpPr>
          <p:spPr bwMode="auto">
            <a:xfrm>
              <a:off x="7803265" y="2016342"/>
              <a:ext cx="1097075" cy="46488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35" name="组合 34">
            <a:extLst>
              <a:ext uri="{FF2B5EF4-FFF2-40B4-BE49-F238E27FC236}">
                <a16:creationId xmlns:a16="http://schemas.microsoft.com/office/drawing/2014/main" id="{19404285-1C12-4308-A279-E04202685F5F}"/>
              </a:ext>
            </a:extLst>
          </p:cNvPr>
          <p:cNvGrpSpPr>
            <a:grpSpLocks/>
          </p:cNvGrpSpPr>
          <p:nvPr/>
        </p:nvGrpSpPr>
        <p:grpSpPr bwMode="auto">
          <a:xfrm>
            <a:off x="7016344" y="5037594"/>
            <a:ext cx="269626" cy="699538"/>
            <a:chOff x="8658440" y="2859782"/>
            <a:chExt cx="269377" cy="698404"/>
          </a:xfrm>
        </p:grpSpPr>
        <p:sp>
          <p:nvSpPr>
            <p:cNvPr id="36" name="Line 5">
              <a:extLst>
                <a:ext uri="{FF2B5EF4-FFF2-40B4-BE49-F238E27FC236}">
                  <a16:creationId xmlns:a16="http://schemas.microsoft.com/office/drawing/2014/main" id="{8E5D0A80-B93F-479E-A15F-942508025069}"/>
                </a:ext>
              </a:extLst>
            </p:cNvPr>
            <p:cNvSpPr>
              <a:spLocks noChangeShapeType="1"/>
            </p:cNvSpPr>
            <p:nvPr/>
          </p:nvSpPr>
          <p:spPr bwMode="auto">
            <a:xfrm flipV="1">
              <a:off x="8820472"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7" name="矩形 3">
              <a:extLst>
                <a:ext uri="{FF2B5EF4-FFF2-40B4-BE49-F238E27FC236}">
                  <a16:creationId xmlns:a16="http://schemas.microsoft.com/office/drawing/2014/main" id="{45E6BD9B-3664-4C51-B7FA-BCAEEA94ED72}"/>
                </a:ext>
              </a:extLst>
            </p:cNvPr>
            <p:cNvSpPr>
              <a:spLocks noChangeArrowheads="1"/>
            </p:cNvSpPr>
            <p:nvPr/>
          </p:nvSpPr>
          <p:spPr bwMode="auto">
            <a:xfrm>
              <a:off x="8658440" y="3220181"/>
              <a:ext cx="269377" cy="33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lang="el-GR" altLang="zh-CN" sz="1600" b="1" i="1" kern="12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ε</a:t>
              </a:r>
              <a:endParaRPr lang="zh-CN" altLang="en-US" b="1" kern="1200">
                <a:solidFill>
                  <a:srgbClr val="000000"/>
                </a:solidFill>
                <a:latin typeface="Tahoma" panose="020B0604030504040204" pitchFamily="34" charset="0"/>
                <a:ea typeface="宋体" panose="02010600030101010101" pitchFamily="2" charset="-122"/>
              </a:endParaRPr>
            </a:p>
          </p:txBody>
        </p:sp>
      </p:grpSp>
      <p:sp>
        <p:nvSpPr>
          <p:cNvPr id="40" name="矩形 56">
            <a:extLst>
              <a:ext uri="{FF2B5EF4-FFF2-40B4-BE49-F238E27FC236}">
                <a16:creationId xmlns:a16="http://schemas.microsoft.com/office/drawing/2014/main" id="{16B02699-238B-4D70-B370-9A88DF06D52A}"/>
              </a:ext>
            </a:extLst>
          </p:cNvPr>
          <p:cNvSpPr>
            <a:spLocks noChangeArrowheads="1"/>
          </p:cNvSpPr>
          <p:nvPr/>
        </p:nvSpPr>
        <p:spPr bwMode="auto">
          <a:xfrm>
            <a:off x="2405760" y="3943310"/>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grpSp>
        <p:nvGrpSpPr>
          <p:cNvPr id="41" name="组合 40">
            <a:extLst>
              <a:ext uri="{FF2B5EF4-FFF2-40B4-BE49-F238E27FC236}">
                <a16:creationId xmlns:a16="http://schemas.microsoft.com/office/drawing/2014/main" id="{E67498A6-9BE6-4957-BF74-59D078D6F677}"/>
              </a:ext>
            </a:extLst>
          </p:cNvPr>
          <p:cNvGrpSpPr>
            <a:grpSpLocks/>
          </p:cNvGrpSpPr>
          <p:nvPr/>
        </p:nvGrpSpPr>
        <p:grpSpPr bwMode="auto">
          <a:xfrm>
            <a:off x="2111841" y="4234426"/>
            <a:ext cx="585159" cy="967879"/>
            <a:chOff x="5811182" y="2030902"/>
            <a:chExt cx="584868" cy="967607"/>
          </a:xfrm>
        </p:grpSpPr>
        <p:sp>
          <p:nvSpPr>
            <p:cNvPr id="42" name="Rectangle 2">
              <a:extLst>
                <a:ext uri="{FF2B5EF4-FFF2-40B4-BE49-F238E27FC236}">
                  <a16:creationId xmlns:a16="http://schemas.microsoft.com/office/drawing/2014/main" id="{F3D1C0B1-500B-4108-BED2-EE04E9E417BF}"/>
                </a:ext>
              </a:extLst>
            </p:cNvPr>
            <p:cNvSpPr>
              <a:spLocks noChangeArrowheads="1"/>
            </p:cNvSpPr>
            <p:nvPr/>
          </p:nvSpPr>
          <p:spPr bwMode="auto">
            <a:xfrm>
              <a:off x="5811182" y="2373802"/>
              <a:ext cx="584868" cy="6247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(3)</a:t>
              </a:r>
            </a:p>
          </p:txBody>
        </p:sp>
        <p:sp>
          <p:nvSpPr>
            <p:cNvPr id="43" name="Line 5">
              <a:extLst>
                <a:ext uri="{FF2B5EF4-FFF2-40B4-BE49-F238E27FC236}">
                  <a16:creationId xmlns:a16="http://schemas.microsoft.com/office/drawing/2014/main" id="{B6D916F7-5062-4576-A4CD-F7A0487B45ED}"/>
                </a:ext>
              </a:extLst>
            </p:cNvPr>
            <p:cNvSpPr>
              <a:spLocks noChangeShapeType="1"/>
            </p:cNvSpPr>
            <p:nvPr/>
          </p:nvSpPr>
          <p:spPr bwMode="auto">
            <a:xfrm flipV="1">
              <a:off x="6103416" y="203090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dirty="0">
                <a:solidFill>
                  <a:prstClr val="black"/>
                </a:solidFill>
                <a:latin typeface="Tahoma" panose="020B0604030504040204" pitchFamily="34" charset="0"/>
                <a:ea typeface="宋体" panose="02010600030101010101" pitchFamily="2" charset="-122"/>
              </a:endParaRPr>
            </a:p>
          </p:txBody>
        </p:sp>
      </p:grpSp>
      <p:grpSp>
        <p:nvGrpSpPr>
          <p:cNvPr id="52" name="组合 51">
            <a:extLst>
              <a:ext uri="{FF2B5EF4-FFF2-40B4-BE49-F238E27FC236}">
                <a16:creationId xmlns:a16="http://schemas.microsoft.com/office/drawing/2014/main" id="{E27A1DBD-1164-4229-9D34-B15423EBFA86}"/>
              </a:ext>
            </a:extLst>
          </p:cNvPr>
          <p:cNvGrpSpPr>
            <a:grpSpLocks/>
          </p:cNvGrpSpPr>
          <p:nvPr/>
        </p:nvGrpSpPr>
        <p:grpSpPr bwMode="auto">
          <a:xfrm>
            <a:off x="4602609" y="4972388"/>
            <a:ext cx="585159" cy="1001164"/>
            <a:chOff x="7384879" y="2859782"/>
            <a:chExt cx="585243" cy="1000981"/>
          </a:xfrm>
        </p:grpSpPr>
        <p:sp>
          <p:nvSpPr>
            <p:cNvPr id="53" name="Rectangle 7">
              <a:extLst>
                <a:ext uri="{FF2B5EF4-FFF2-40B4-BE49-F238E27FC236}">
                  <a16:creationId xmlns:a16="http://schemas.microsoft.com/office/drawing/2014/main" id="{655D5F61-E656-4B08-9E18-1ADC4FA0E195}"/>
                </a:ext>
              </a:extLst>
            </p:cNvPr>
            <p:cNvSpPr>
              <a:spLocks noChangeArrowheads="1"/>
            </p:cNvSpPr>
            <p:nvPr/>
          </p:nvSpPr>
          <p:spPr bwMode="auto">
            <a:xfrm>
              <a:off x="7384879" y="3235994"/>
              <a:ext cx="585243" cy="6247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(5)</a:t>
              </a:r>
            </a:p>
          </p:txBody>
        </p:sp>
        <p:sp>
          <p:nvSpPr>
            <p:cNvPr id="54" name="Line 5">
              <a:extLst>
                <a:ext uri="{FF2B5EF4-FFF2-40B4-BE49-F238E27FC236}">
                  <a16:creationId xmlns:a16="http://schemas.microsoft.com/office/drawing/2014/main" id="{B5E9E43D-9CF5-4816-9D4E-0B577BF44101}"/>
                </a:ext>
              </a:extLst>
            </p:cNvPr>
            <p:cNvSpPr>
              <a:spLocks noChangeShapeType="1"/>
            </p:cNvSpPr>
            <p:nvPr/>
          </p:nvSpPr>
          <p:spPr bwMode="auto">
            <a:xfrm flipV="1">
              <a:off x="7664313"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sp>
        <p:nvSpPr>
          <p:cNvPr id="2" name="矩形 1">
            <a:extLst>
              <a:ext uri="{FF2B5EF4-FFF2-40B4-BE49-F238E27FC236}">
                <a16:creationId xmlns:a16="http://schemas.microsoft.com/office/drawing/2014/main" id="{DA6DEA27-2984-4CBD-B134-9C7C1AFB2DD9}"/>
              </a:ext>
            </a:extLst>
          </p:cNvPr>
          <p:cNvSpPr/>
          <p:nvPr/>
        </p:nvSpPr>
        <p:spPr>
          <a:xfrm>
            <a:off x="5274428" y="5406742"/>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sp>
        <p:nvSpPr>
          <p:cNvPr id="7" name="矩形 6">
            <a:extLst>
              <a:ext uri="{FF2B5EF4-FFF2-40B4-BE49-F238E27FC236}">
                <a16:creationId xmlns:a16="http://schemas.microsoft.com/office/drawing/2014/main" id="{720406B1-D6F3-41A5-90AF-1E3404BCEFDC}"/>
              </a:ext>
            </a:extLst>
          </p:cNvPr>
          <p:cNvSpPr/>
          <p:nvPr/>
        </p:nvSpPr>
        <p:spPr>
          <a:xfrm>
            <a:off x="7256393" y="5398579"/>
            <a:ext cx="1620957"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200" kern="1200" dirty="0">
              <a:solidFill>
                <a:prstClr val="black"/>
              </a:solidFill>
              <a:latin typeface="Candara"/>
              <a:ea typeface="华文楷体" panose="02010600040101010101" pitchFamily="2" charset="-122"/>
            </a:endParaRPr>
          </a:p>
        </p:txBody>
      </p:sp>
      <p:sp>
        <p:nvSpPr>
          <p:cNvPr id="8" name="矩形 7">
            <a:extLst>
              <a:ext uri="{FF2B5EF4-FFF2-40B4-BE49-F238E27FC236}">
                <a16:creationId xmlns:a16="http://schemas.microsoft.com/office/drawing/2014/main" id="{5D9B4699-2F7A-4771-B148-1C65D8C96225}"/>
              </a:ext>
            </a:extLst>
          </p:cNvPr>
          <p:cNvSpPr/>
          <p:nvPr/>
        </p:nvSpPr>
        <p:spPr>
          <a:xfrm>
            <a:off x="4999091" y="4624503"/>
            <a:ext cx="2301464" cy="323165"/>
          </a:xfrm>
          <a:prstGeom prst="rect">
            <a:avLst/>
          </a:prstGeom>
        </p:spPr>
        <p:txBody>
          <a:bodyPr wrap="none">
            <a:spAutoFit/>
          </a:bodyPr>
          <a:lstStyle/>
          <a:p>
            <a:pPr defTabSz="685800" rtl="0">
              <a:defRPr/>
            </a:pP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kern="1200"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 </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10" name="矩形 9">
            <a:extLst>
              <a:ext uri="{FF2B5EF4-FFF2-40B4-BE49-F238E27FC236}">
                <a16:creationId xmlns:a16="http://schemas.microsoft.com/office/drawing/2014/main" id="{45B2F774-194E-4726-89E5-716BF3C48B60}"/>
              </a:ext>
            </a:extLst>
          </p:cNvPr>
          <p:cNvSpPr/>
          <p:nvPr/>
        </p:nvSpPr>
        <p:spPr>
          <a:xfrm>
            <a:off x="3311478" y="3762345"/>
            <a:ext cx="1557671"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inh</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37888" name="矩形 37887">
            <a:extLst>
              <a:ext uri="{FF2B5EF4-FFF2-40B4-BE49-F238E27FC236}">
                <a16:creationId xmlns:a16="http://schemas.microsoft.com/office/drawing/2014/main" id="{890B9FA2-EE87-4B24-8A90-81C2BA75F4BA}"/>
              </a:ext>
            </a:extLst>
          </p:cNvPr>
          <p:cNvSpPr/>
          <p:nvPr/>
        </p:nvSpPr>
        <p:spPr>
          <a:xfrm>
            <a:off x="6128180" y="3776007"/>
            <a:ext cx="1505540" cy="323165"/>
          </a:xfrm>
          <a:prstGeom prst="rect">
            <a:avLst/>
          </a:prstGeom>
        </p:spPr>
        <p:txBody>
          <a:bodyPr wrap="none">
            <a:spAutoFit/>
          </a:bodyPr>
          <a:lstStyle/>
          <a:p>
            <a:pPr marL="342892" indent="-342892" defTabSz="914378" rtl="0"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T.val</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a:t>
            </a:r>
            <a:r>
              <a:rPr lang="en-US" altLang="zh-CN" sz="1500" b="1" i="1" kern="1200" dirty="0" err="1">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.syn</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75" name="矩形 74">
            <a:extLst>
              <a:ext uri="{FF2B5EF4-FFF2-40B4-BE49-F238E27FC236}">
                <a16:creationId xmlns:a16="http://schemas.microsoft.com/office/drawing/2014/main" id="{16DF4C1D-377E-40FA-A384-97B47EAF4CB8}"/>
              </a:ext>
            </a:extLst>
          </p:cNvPr>
          <p:cNvSpPr/>
          <p:nvPr/>
        </p:nvSpPr>
        <p:spPr>
          <a:xfrm>
            <a:off x="2621656" y="4618451"/>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cxnSp>
        <p:nvCxnSpPr>
          <p:cNvPr id="37890" name="直接箭头连接符 37889">
            <a:extLst>
              <a:ext uri="{FF2B5EF4-FFF2-40B4-BE49-F238E27FC236}">
                <a16:creationId xmlns:a16="http://schemas.microsoft.com/office/drawing/2014/main" id="{8A455B10-95DC-4067-A5C0-2123753472C9}"/>
              </a:ext>
            </a:extLst>
          </p:cNvPr>
          <p:cNvCxnSpPr/>
          <p:nvPr/>
        </p:nvCxnSpPr>
        <p:spPr>
          <a:xfrm flipV="1">
            <a:off x="3719380" y="4068296"/>
            <a:ext cx="277332" cy="269559"/>
          </a:xfrm>
          <a:prstGeom prst="straightConnector1">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45" name="矩形 56">
            <a:extLst>
              <a:ext uri="{FF2B5EF4-FFF2-40B4-BE49-F238E27FC236}">
                <a16:creationId xmlns:a16="http://schemas.microsoft.com/office/drawing/2014/main" id="{CFA74744-B2D9-4B80-B1F4-28EAD8807DBB}"/>
              </a:ext>
            </a:extLst>
          </p:cNvPr>
          <p:cNvSpPr>
            <a:spLocks noChangeArrowheads="1"/>
          </p:cNvSpPr>
          <p:nvPr/>
        </p:nvSpPr>
        <p:spPr bwMode="auto">
          <a:xfrm>
            <a:off x="4922724" y="3817698"/>
            <a:ext cx="6254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eaLnBrk="0" fontAlgn="base" hangingPunct="0">
              <a:spcBef>
                <a:spcPct val="0"/>
              </a:spcBef>
              <a:spcAft>
                <a:spcPct val="0"/>
              </a:spcAft>
            </a:pPr>
            <a:r>
              <a:rPr kumimoji="1" lang="en-US" altLang="zh-CN" sz="1400" b="1" i="1" dirty="0" err="1">
                <a:solidFill>
                  <a:srgbClr val="FF0000"/>
                </a:solidFill>
                <a:latin typeface="Times New Roman" panose="02020603050405020304" pitchFamily="18" charset="0"/>
                <a:ea typeface="宋体" panose="02010600030101010101" pitchFamily="2" charset="-122"/>
                <a:sym typeface="Symbol" panose="05050102010706020507" pitchFamily="18" charset="2"/>
              </a:rPr>
              <a:t>inh</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6" name="矩形 45">
            <a:extLst>
              <a:ext uri="{FF2B5EF4-FFF2-40B4-BE49-F238E27FC236}">
                <a16:creationId xmlns:a16="http://schemas.microsoft.com/office/drawing/2014/main" id="{3932E3C2-3CA3-4A12-B068-C75F356F9BB0}"/>
              </a:ext>
            </a:extLst>
          </p:cNvPr>
          <p:cNvSpPr/>
          <p:nvPr/>
        </p:nvSpPr>
        <p:spPr>
          <a:xfrm>
            <a:off x="7391754" y="4608752"/>
            <a:ext cx="1636987" cy="323165"/>
          </a:xfrm>
          <a:prstGeom prst="rect">
            <a:avLst/>
          </a:prstGeom>
        </p:spPr>
        <p:txBody>
          <a:bodyPr wrap="none">
            <a:spAutoFit/>
          </a:bodyPr>
          <a:lstStyle/>
          <a:p>
            <a:pPr marL="342892" indent="-342892" defTabSz="914378"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9" name="图片 48">
            <a:extLst>
              <a:ext uri="{FF2B5EF4-FFF2-40B4-BE49-F238E27FC236}">
                <a16:creationId xmlns:a16="http://schemas.microsoft.com/office/drawing/2014/main" id="{767183E7-6FC2-4C3D-AC8D-BDAB3C2C5059}"/>
              </a:ext>
            </a:extLst>
          </p:cNvPr>
          <p:cNvPicPr>
            <a:picLocks noChangeAspect="1"/>
          </p:cNvPicPr>
          <p:nvPr/>
        </p:nvPicPr>
        <p:blipFill>
          <a:blip r:embed="rId3"/>
          <a:stretch>
            <a:fillRect/>
          </a:stretch>
        </p:blipFill>
        <p:spPr bwMode="auto">
          <a:xfrm>
            <a:off x="497236" y="288443"/>
            <a:ext cx="3375510" cy="1980838"/>
          </a:xfrm>
          <a:prstGeom prst="rect">
            <a:avLst/>
          </a:prstGeom>
        </p:spPr>
      </p:pic>
      <p:sp>
        <p:nvSpPr>
          <p:cNvPr id="3" name="日期占位符 2">
            <a:extLst>
              <a:ext uri="{FF2B5EF4-FFF2-40B4-BE49-F238E27FC236}">
                <a16:creationId xmlns:a16="http://schemas.microsoft.com/office/drawing/2014/main" id="{3257FECF-39EE-7471-5D0C-4236A038911B}"/>
              </a:ext>
            </a:extLst>
          </p:cNvPr>
          <p:cNvSpPr>
            <a:spLocks noGrp="1"/>
          </p:cNvSpPr>
          <p:nvPr>
            <p:ph type="dt" sz="half" idx="10"/>
          </p:nvPr>
        </p:nvSpPr>
        <p:spPr/>
        <p:txBody>
          <a:bodyPr/>
          <a:lstStyle/>
          <a:p>
            <a:pPr>
              <a:defRPr/>
            </a:pPr>
            <a:r>
              <a:rPr lang="en-US" altLang="zh-CN"/>
              <a:t>Fall 2024</a:t>
            </a:r>
            <a:endParaRPr lang="en-US"/>
          </a:p>
        </p:txBody>
      </p:sp>
      <p:sp>
        <p:nvSpPr>
          <p:cNvPr id="4" name="页脚占位符 3">
            <a:extLst>
              <a:ext uri="{FF2B5EF4-FFF2-40B4-BE49-F238E27FC236}">
                <a16:creationId xmlns:a16="http://schemas.microsoft.com/office/drawing/2014/main" id="{9BFB1DF7-623B-1B45-A009-A87F51F7EA1C}"/>
              </a:ext>
            </a:extLst>
          </p:cNvPr>
          <p:cNvSpPr>
            <a:spLocks noGrp="1"/>
          </p:cNvSpPr>
          <p:nvPr>
            <p:ph type="ftr" sz="quarter" idx="11"/>
          </p:nvPr>
        </p:nvSpPr>
        <p:spPr/>
        <p:txBody>
          <a:bodyPr/>
          <a:lstStyle/>
          <a:p>
            <a:pPr>
              <a:defRPr/>
            </a:pPr>
            <a:r>
              <a:rPr lang="en-US"/>
              <a:t>BUPT Compilers</a:t>
            </a:r>
          </a:p>
        </p:txBody>
      </p:sp>
      <p:sp>
        <p:nvSpPr>
          <p:cNvPr id="5" name="灯片编号占位符 4">
            <a:extLst>
              <a:ext uri="{FF2B5EF4-FFF2-40B4-BE49-F238E27FC236}">
                <a16:creationId xmlns:a16="http://schemas.microsoft.com/office/drawing/2014/main" id="{82FF4C75-D77A-004F-DAE3-94D7866D5B51}"/>
              </a:ext>
            </a:extLst>
          </p:cNvPr>
          <p:cNvSpPr>
            <a:spLocks noGrp="1"/>
          </p:cNvSpPr>
          <p:nvPr>
            <p:ph type="sldNum" sz="quarter" idx="12"/>
          </p:nvPr>
        </p:nvSpPr>
        <p:spPr/>
        <p:txBody>
          <a:bodyPr/>
          <a:lstStyle/>
          <a:p>
            <a:pPr>
              <a:defRPr/>
            </a:pPr>
            <a:fld id="{2FBC720A-3716-234A-B2DF-CBC7E48049F5}" type="slidenum">
              <a:rPr lang="en-US" altLang="zh-CN" smtClean="0"/>
              <a:t>27</a:t>
            </a:fld>
            <a:endParaRPr lang="en-US" altLang="zh-CN"/>
          </a:p>
        </p:txBody>
      </p:sp>
    </p:spTree>
    <p:extLst>
      <p:ext uri="{BB962C8B-B14F-4D97-AF65-F5344CB8AC3E}">
        <p14:creationId xmlns:p14="http://schemas.microsoft.com/office/powerpoint/2010/main" val="428973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500" fill="hold"/>
                                        <p:tgtEl>
                                          <p:spTgt spid="37890"/>
                                        </p:tgtEl>
                                        <p:attrNameLst>
                                          <p:attrName>ppt_w</p:attrName>
                                        </p:attrNameLst>
                                      </p:cBhvr>
                                      <p:tavLst>
                                        <p:tav tm="0">
                                          <p:val>
                                            <p:fltVal val="0"/>
                                          </p:val>
                                        </p:tav>
                                        <p:tav tm="100000">
                                          <p:val>
                                            <p:strVal val="#ppt_w"/>
                                          </p:val>
                                        </p:tav>
                                      </p:tavLst>
                                    </p:anim>
                                    <p:anim calcmode="lin" valueType="num">
                                      <p:cBhvr>
                                        <p:cTn id="8" dur="500" fill="hold"/>
                                        <p:tgtEl>
                                          <p:spTgt spid="37890"/>
                                        </p:tgtEl>
                                        <p:attrNameLst>
                                          <p:attrName>ppt_h</p:attrName>
                                        </p:attrNameLst>
                                      </p:cBhvr>
                                      <p:tavLst>
                                        <p:tav tm="0">
                                          <p:val>
                                            <p:fltVal val="0"/>
                                          </p:val>
                                        </p:tav>
                                        <p:tav tm="100000">
                                          <p:val>
                                            <p:strVal val="#ppt_h"/>
                                          </p:val>
                                        </p:tav>
                                      </p:tavLst>
                                    </p:anim>
                                    <p:animEffect transition="in" filter="fade">
                                      <p:cBhvr>
                                        <p:cTn id="9" dur="500"/>
                                        <p:tgtEl>
                                          <p:spTgt spid="3789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5"/>
                                        </p:tgtEl>
                                        <p:attrNameLst>
                                          <p:attrName>style.visibility</p:attrName>
                                        </p:attrNameLst>
                                      </p:cBhvr>
                                      <p:to>
                                        <p:strVal val="visible"/>
                                      </p:to>
                                    </p:set>
                                    <p:anim calcmode="lin" valueType="num">
                                      <p:cBhvr>
                                        <p:cTn id="14" dur="500" fill="hold"/>
                                        <p:tgtEl>
                                          <p:spTgt spid="45"/>
                                        </p:tgtEl>
                                        <p:attrNameLst>
                                          <p:attrName>ppt_w</p:attrName>
                                        </p:attrNameLst>
                                      </p:cBhvr>
                                      <p:tavLst>
                                        <p:tav tm="0">
                                          <p:val>
                                            <p:fltVal val="0"/>
                                          </p:val>
                                        </p:tav>
                                        <p:tav tm="100000">
                                          <p:val>
                                            <p:strVal val="#ppt_w"/>
                                          </p:val>
                                        </p:tav>
                                      </p:tavLst>
                                    </p:anim>
                                    <p:anim calcmode="lin" valueType="num">
                                      <p:cBhvr>
                                        <p:cTn id="15" dur="500" fill="hold"/>
                                        <p:tgtEl>
                                          <p:spTgt spid="45"/>
                                        </p:tgtEl>
                                        <p:attrNameLst>
                                          <p:attrName>ppt_h</p:attrName>
                                        </p:attrNameLst>
                                      </p:cBhvr>
                                      <p:tavLst>
                                        <p:tav tm="0">
                                          <p:val>
                                            <p:fltVal val="0"/>
                                          </p:val>
                                        </p:tav>
                                        <p:tav tm="100000">
                                          <p:val>
                                            <p:strVal val="#ppt_h"/>
                                          </p:val>
                                        </p:tav>
                                      </p:tavLst>
                                    </p:anim>
                                    <p:animEffect transition="in" filter="fade">
                                      <p:cBhvr>
                                        <p:cTn id="1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7">
            <a:extLst>
              <a:ext uri="{FF2B5EF4-FFF2-40B4-BE49-F238E27FC236}">
                <a16:creationId xmlns:a16="http://schemas.microsoft.com/office/drawing/2014/main" id="{77924812-D949-48BA-9002-4B8B8C22793E}"/>
              </a:ext>
            </a:extLst>
          </p:cNvPr>
          <p:cNvSpPr>
            <a:spLocks noChangeArrowheads="1"/>
          </p:cNvSpPr>
          <p:nvPr/>
        </p:nvSpPr>
        <p:spPr bwMode="auto">
          <a:xfrm>
            <a:off x="338139" y="4424707"/>
            <a:ext cx="2136775"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20000"/>
              </a:spcBef>
              <a:spcAft>
                <a:spcPct val="0"/>
              </a:spcAft>
              <a:defRPr/>
            </a:pPr>
            <a:r>
              <a:rPr kumimoji="1" lang="en-US" altLang="zh-CN" sz="2000" kern="1200" dirty="0">
                <a:solidFill>
                  <a:srgbClr val="000000"/>
                </a:solidFill>
                <a:latin typeface="Times New Roman" panose="02020603050405020304" pitchFamily="18" charset="0"/>
              </a:rPr>
              <a:t>3   *   5</a:t>
            </a:r>
          </a:p>
          <a:p>
            <a:pPr defTabSz="914378" rtl="0" fontAlgn="base">
              <a:spcBef>
                <a:spcPct val="20000"/>
              </a:spcBef>
              <a:spcAft>
                <a:spcPct val="0"/>
              </a:spcAft>
              <a:defRPr/>
            </a:pPr>
            <a:r>
              <a:rPr lang="en-US" altLang="zh-CN" sz="2000" kern="12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digit </a:t>
            </a:r>
            <a:endParaRPr kumimoji="1" lang="en-US" altLang="zh-CN" sz="2000" kern="1200" dirty="0">
              <a:solidFill>
                <a:srgbClr val="000000"/>
              </a:solidFill>
              <a:latin typeface="Times New Roman" panose="02020603050405020304" pitchFamily="18" charset="0"/>
            </a:endParaRPr>
          </a:p>
          <a:p>
            <a:pPr defTabSz="914378" rtl="0" fontAlgn="base">
              <a:spcBef>
                <a:spcPct val="20000"/>
              </a:spcBef>
              <a:spcAft>
                <a:spcPct val="0"/>
              </a:spcAft>
              <a:defRPr/>
            </a:pPr>
            <a:endParaRPr kumimoji="1" lang="en-US" altLang="zh-CN" sz="2000" kern="1200" dirty="0">
              <a:solidFill>
                <a:srgbClr val="000000"/>
              </a:solidFill>
              <a:latin typeface="Times New Roman" panose="02020603050405020304" pitchFamily="18" charset="0"/>
              <a:sym typeface="Symbol" panose="05050102010706020507" pitchFamily="18" charset="2"/>
            </a:endParaRPr>
          </a:p>
        </p:txBody>
      </p:sp>
      <p:grpSp>
        <p:nvGrpSpPr>
          <p:cNvPr id="22" name="组合 21">
            <a:extLst>
              <a:ext uri="{FF2B5EF4-FFF2-40B4-BE49-F238E27FC236}">
                <a16:creationId xmlns:a16="http://schemas.microsoft.com/office/drawing/2014/main" id="{3114F0BA-5439-4963-807B-64545B8027A7}"/>
              </a:ext>
            </a:extLst>
          </p:cNvPr>
          <p:cNvGrpSpPr>
            <a:grpSpLocks/>
          </p:cNvGrpSpPr>
          <p:nvPr/>
        </p:nvGrpSpPr>
        <p:grpSpPr bwMode="auto">
          <a:xfrm>
            <a:off x="2287506" y="2989988"/>
            <a:ext cx="3452670" cy="1123239"/>
            <a:chOff x="3853075" y="810394"/>
            <a:chExt cx="3453528" cy="1124157"/>
          </a:xfrm>
        </p:grpSpPr>
        <p:sp>
          <p:nvSpPr>
            <p:cNvPr id="23" name="Rectangle 6">
              <a:extLst>
                <a:ext uri="{FF2B5EF4-FFF2-40B4-BE49-F238E27FC236}">
                  <a16:creationId xmlns:a16="http://schemas.microsoft.com/office/drawing/2014/main" id="{86C738E7-0C6E-4F7C-83C5-5E2C34595374}"/>
                </a:ext>
              </a:extLst>
            </p:cNvPr>
            <p:cNvSpPr>
              <a:spLocks noChangeArrowheads="1"/>
            </p:cNvSpPr>
            <p:nvPr/>
          </p:nvSpPr>
          <p:spPr bwMode="auto">
            <a:xfrm>
              <a:off x="3853075" y="1586382"/>
              <a:ext cx="271077" cy="348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24" name="Rectangle 9">
              <a:extLst>
                <a:ext uri="{FF2B5EF4-FFF2-40B4-BE49-F238E27FC236}">
                  <a16:creationId xmlns:a16="http://schemas.microsoft.com/office/drawing/2014/main" id="{F0740B2D-5ABD-466F-A0E6-17C9A80EF2CA}"/>
                </a:ext>
              </a:extLst>
            </p:cNvPr>
            <p:cNvSpPr>
              <a:spLocks noChangeArrowheads="1"/>
            </p:cNvSpPr>
            <p:nvPr/>
          </p:nvSpPr>
          <p:spPr bwMode="auto">
            <a:xfrm>
              <a:off x="6928578" y="1569882"/>
              <a:ext cx="378025"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5" name="Rectangle 10">
              <a:extLst>
                <a:ext uri="{FF2B5EF4-FFF2-40B4-BE49-F238E27FC236}">
                  <a16:creationId xmlns:a16="http://schemas.microsoft.com/office/drawing/2014/main" id="{53E10D79-0F20-4C18-8650-A78686F478C3}"/>
                </a:ext>
              </a:extLst>
            </p:cNvPr>
            <p:cNvSpPr>
              <a:spLocks noChangeArrowheads="1"/>
            </p:cNvSpPr>
            <p:nvPr/>
          </p:nvSpPr>
          <p:spPr bwMode="auto">
            <a:xfrm>
              <a:off x="5272107" y="810394"/>
              <a:ext cx="417513"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6" name="Line 11">
              <a:extLst>
                <a:ext uri="{FF2B5EF4-FFF2-40B4-BE49-F238E27FC236}">
                  <a16:creationId xmlns:a16="http://schemas.microsoft.com/office/drawing/2014/main" id="{87A27C41-914D-4B9A-9B7D-433AD6FBB778}"/>
                </a:ext>
              </a:extLst>
            </p:cNvPr>
            <p:cNvSpPr>
              <a:spLocks noChangeShapeType="1"/>
            </p:cNvSpPr>
            <p:nvPr/>
          </p:nvSpPr>
          <p:spPr bwMode="auto">
            <a:xfrm flipH="1">
              <a:off x="4099264" y="1172486"/>
              <a:ext cx="1381600" cy="39997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27" name="Line 12">
              <a:extLst>
                <a:ext uri="{FF2B5EF4-FFF2-40B4-BE49-F238E27FC236}">
                  <a16:creationId xmlns:a16="http://schemas.microsoft.com/office/drawing/2014/main" id="{CB27928E-1E8A-498B-AE9D-8CCBF45B76C8}"/>
                </a:ext>
              </a:extLst>
            </p:cNvPr>
            <p:cNvSpPr>
              <a:spLocks noChangeShapeType="1"/>
            </p:cNvSpPr>
            <p:nvPr/>
          </p:nvSpPr>
          <p:spPr bwMode="auto">
            <a:xfrm>
              <a:off x="5438709" y="1192035"/>
              <a:ext cx="1797357" cy="385473"/>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28" name="组合 124933">
            <a:extLst>
              <a:ext uri="{FF2B5EF4-FFF2-40B4-BE49-F238E27FC236}">
                <a16:creationId xmlns:a16="http://schemas.microsoft.com/office/drawing/2014/main" id="{C987E98D-3898-4D56-AAA1-BF361293CB52}"/>
              </a:ext>
            </a:extLst>
          </p:cNvPr>
          <p:cNvGrpSpPr>
            <a:grpSpLocks/>
          </p:cNvGrpSpPr>
          <p:nvPr/>
        </p:nvGrpSpPr>
        <p:grpSpPr bwMode="auto">
          <a:xfrm>
            <a:off x="4435876" y="4191537"/>
            <a:ext cx="3059096" cy="796271"/>
            <a:chOff x="7193292" y="2013704"/>
            <a:chExt cx="1929563" cy="794905"/>
          </a:xfrm>
        </p:grpSpPr>
        <p:sp>
          <p:nvSpPr>
            <p:cNvPr id="29" name="Line 8">
              <a:extLst>
                <a:ext uri="{FF2B5EF4-FFF2-40B4-BE49-F238E27FC236}">
                  <a16:creationId xmlns:a16="http://schemas.microsoft.com/office/drawing/2014/main" id="{769042D8-75A4-4D1E-87D0-92D0487DCE94}"/>
                </a:ext>
              </a:extLst>
            </p:cNvPr>
            <p:cNvSpPr>
              <a:spLocks noChangeShapeType="1"/>
            </p:cNvSpPr>
            <p:nvPr/>
          </p:nvSpPr>
          <p:spPr bwMode="auto">
            <a:xfrm flipV="1">
              <a:off x="7540792" y="2030902"/>
              <a:ext cx="262473" cy="45032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0" name="Text Box 13">
              <a:extLst>
                <a:ext uri="{FF2B5EF4-FFF2-40B4-BE49-F238E27FC236}">
                  <a16:creationId xmlns:a16="http://schemas.microsoft.com/office/drawing/2014/main" id="{25AA22B6-F143-4394-B0C7-68706BC57A49}"/>
                </a:ext>
              </a:extLst>
            </p:cNvPr>
            <p:cNvSpPr txBox="1">
              <a:spLocks noChangeArrowheads="1"/>
            </p:cNvSpPr>
            <p:nvPr/>
          </p:nvSpPr>
          <p:spPr bwMode="auto">
            <a:xfrm>
              <a:off x="7193292" y="2461322"/>
              <a:ext cx="269875"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50000"/>
                </a:spcBef>
                <a:spcAft>
                  <a:spcPct val="0"/>
                </a:spcAft>
                <a:defRPr/>
              </a:pPr>
              <a:r>
                <a:rPr kumimoji="1" lang="zh-CN" altLang="en-US" kern="1200" dirty="0">
                  <a:solidFill>
                    <a:prstClr val="black"/>
                  </a:solidFill>
                  <a:latin typeface="Times New Roman" panose="02020603050405020304" pitchFamily="18" charset="0"/>
                </a:rPr>
                <a:t>*</a:t>
              </a:r>
            </a:p>
          </p:txBody>
        </p:sp>
        <p:sp>
          <p:nvSpPr>
            <p:cNvPr id="31" name="Line 11">
              <a:extLst>
                <a:ext uri="{FF2B5EF4-FFF2-40B4-BE49-F238E27FC236}">
                  <a16:creationId xmlns:a16="http://schemas.microsoft.com/office/drawing/2014/main" id="{55C4C488-407D-463E-9CE4-1C1DC6CF6E9A}"/>
                </a:ext>
              </a:extLst>
            </p:cNvPr>
            <p:cNvSpPr>
              <a:spLocks noChangeShapeType="1"/>
            </p:cNvSpPr>
            <p:nvPr/>
          </p:nvSpPr>
          <p:spPr bwMode="auto">
            <a:xfrm flipH="1">
              <a:off x="7299098" y="2013704"/>
              <a:ext cx="522562" cy="41553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3" name="Rectangle 6">
              <a:extLst>
                <a:ext uri="{FF2B5EF4-FFF2-40B4-BE49-F238E27FC236}">
                  <a16:creationId xmlns:a16="http://schemas.microsoft.com/office/drawing/2014/main" id="{588DBCF3-8D0C-4583-88DF-0AEE494EC03F}"/>
                </a:ext>
              </a:extLst>
            </p:cNvPr>
            <p:cNvSpPr>
              <a:spLocks noChangeArrowheads="1"/>
            </p:cNvSpPr>
            <p:nvPr/>
          </p:nvSpPr>
          <p:spPr bwMode="auto">
            <a:xfrm>
              <a:off x="7299099" y="2431251"/>
              <a:ext cx="314446"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34" name="Rectangle 9">
              <a:extLst>
                <a:ext uri="{FF2B5EF4-FFF2-40B4-BE49-F238E27FC236}">
                  <a16:creationId xmlns:a16="http://schemas.microsoft.com/office/drawing/2014/main" id="{5DBD9EBC-5EDA-410F-AC0E-F4BE3362D896}"/>
                </a:ext>
              </a:extLst>
            </p:cNvPr>
            <p:cNvSpPr>
              <a:spLocks noChangeArrowheads="1"/>
            </p:cNvSpPr>
            <p:nvPr/>
          </p:nvSpPr>
          <p:spPr bwMode="auto">
            <a:xfrm>
              <a:off x="8759697" y="2431251"/>
              <a:ext cx="363158"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32" name="Line 12">
              <a:extLst>
                <a:ext uri="{FF2B5EF4-FFF2-40B4-BE49-F238E27FC236}">
                  <a16:creationId xmlns:a16="http://schemas.microsoft.com/office/drawing/2014/main" id="{CA7E7E12-3212-47EB-AABE-12C1E218705B}"/>
                </a:ext>
              </a:extLst>
            </p:cNvPr>
            <p:cNvSpPr>
              <a:spLocks noChangeShapeType="1"/>
            </p:cNvSpPr>
            <p:nvPr/>
          </p:nvSpPr>
          <p:spPr bwMode="auto">
            <a:xfrm>
              <a:off x="7803265" y="2016342"/>
              <a:ext cx="1097075" cy="46488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35" name="组合 34">
            <a:extLst>
              <a:ext uri="{FF2B5EF4-FFF2-40B4-BE49-F238E27FC236}">
                <a16:creationId xmlns:a16="http://schemas.microsoft.com/office/drawing/2014/main" id="{19404285-1C12-4308-A279-E04202685F5F}"/>
              </a:ext>
            </a:extLst>
          </p:cNvPr>
          <p:cNvGrpSpPr>
            <a:grpSpLocks/>
          </p:cNvGrpSpPr>
          <p:nvPr/>
        </p:nvGrpSpPr>
        <p:grpSpPr bwMode="auto">
          <a:xfrm>
            <a:off x="7016344" y="5037594"/>
            <a:ext cx="269626" cy="699538"/>
            <a:chOff x="8658440" y="2859782"/>
            <a:chExt cx="269377" cy="698404"/>
          </a:xfrm>
        </p:grpSpPr>
        <p:sp>
          <p:nvSpPr>
            <p:cNvPr id="36" name="Line 5">
              <a:extLst>
                <a:ext uri="{FF2B5EF4-FFF2-40B4-BE49-F238E27FC236}">
                  <a16:creationId xmlns:a16="http://schemas.microsoft.com/office/drawing/2014/main" id="{8E5D0A80-B93F-479E-A15F-942508025069}"/>
                </a:ext>
              </a:extLst>
            </p:cNvPr>
            <p:cNvSpPr>
              <a:spLocks noChangeShapeType="1"/>
            </p:cNvSpPr>
            <p:nvPr/>
          </p:nvSpPr>
          <p:spPr bwMode="auto">
            <a:xfrm flipV="1">
              <a:off x="8820472"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7" name="矩形 3">
              <a:extLst>
                <a:ext uri="{FF2B5EF4-FFF2-40B4-BE49-F238E27FC236}">
                  <a16:creationId xmlns:a16="http://schemas.microsoft.com/office/drawing/2014/main" id="{45E6BD9B-3664-4C51-B7FA-BCAEEA94ED72}"/>
                </a:ext>
              </a:extLst>
            </p:cNvPr>
            <p:cNvSpPr>
              <a:spLocks noChangeArrowheads="1"/>
            </p:cNvSpPr>
            <p:nvPr/>
          </p:nvSpPr>
          <p:spPr bwMode="auto">
            <a:xfrm>
              <a:off x="8658440" y="3220181"/>
              <a:ext cx="269377" cy="33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lang="el-GR" altLang="zh-CN" sz="1600" b="1" i="1" kern="12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ε</a:t>
              </a:r>
              <a:endParaRPr lang="zh-CN" altLang="en-US" b="1" kern="1200">
                <a:solidFill>
                  <a:srgbClr val="000000"/>
                </a:solidFill>
                <a:latin typeface="Tahoma" panose="020B0604030504040204" pitchFamily="34" charset="0"/>
                <a:ea typeface="宋体" panose="02010600030101010101" pitchFamily="2" charset="-122"/>
              </a:endParaRPr>
            </a:p>
          </p:txBody>
        </p:sp>
      </p:grpSp>
      <p:sp>
        <p:nvSpPr>
          <p:cNvPr id="40" name="矩形 56">
            <a:extLst>
              <a:ext uri="{FF2B5EF4-FFF2-40B4-BE49-F238E27FC236}">
                <a16:creationId xmlns:a16="http://schemas.microsoft.com/office/drawing/2014/main" id="{16B02699-238B-4D70-B370-9A88DF06D52A}"/>
              </a:ext>
            </a:extLst>
          </p:cNvPr>
          <p:cNvSpPr>
            <a:spLocks noChangeArrowheads="1"/>
          </p:cNvSpPr>
          <p:nvPr/>
        </p:nvSpPr>
        <p:spPr bwMode="auto">
          <a:xfrm>
            <a:off x="2405760" y="3943310"/>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grpSp>
        <p:nvGrpSpPr>
          <p:cNvPr id="41" name="组合 40">
            <a:extLst>
              <a:ext uri="{FF2B5EF4-FFF2-40B4-BE49-F238E27FC236}">
                <a16:creationId xmlns:a16="http://schemas.microsoft.com/office/drawing/2014/main" id="{E67498A6-9BE6-4957-BF74-59D078D6F677}"/>
              </a:ext>
            </a:extLst>
          </p:cNvPr>
          <p:cNvGrpSpPr>
            <a:grpSpLocks/>
          </p:cNvGrpSpPr>
          <p:nvPr/>
        </p:nvGrpSpPr>
        <p:grpSpPr bwMode="auto">
          <a:xfrm>
            <a:off x="2111841" y="4234426"/>
            <a:ext cx="585159" cy="967879"/>
            <a:chOff x="5811182" y="2030902"/>
            <a:chExt cx="584868" cy="967607"/>
          </a:xfrm>
        </p:grpSpPr>
        <p:sp>
          <p:nvSpPr>
            <p:cNvPr id="42" name="Rectangle 2">
              <a:extLst>
                <a:ext uri="{FF2B5EF4-FFF2-40B4-BE49-F238E27FC236}">
                  <a16:creationId xmlns:a16="http://schemas.microsoft.com/office/drawing/2014/main" id="{F3D1C0B1-500B-4108-BED2-EE04E9E417BF}"/>
                </a:ext>
              </a:extLst>
            </p:cNvPr>
            <p:cNvSpPr>
              <a:spLocks noChangeArrowheads="1"/>
            </p:cNvSpPr>
            <p:nvPr/>
          </p:nvSpPr>
          <p:spPr bwMode="auto">
            <a:xfrm>
              <a:off x="5811182" y="2373802"/>
              <a:ext cx="584868" cy="6247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(3)</a:t>
              </a:r>
            </a:p>
          </p:txBody>
        </p:sp>
        <p:sp>
          <p:nvSpPr>
            <p:cNvPr id="43" name="Line 5">
              <a:extLst>
                <a:ext uri="{FF2B5EF4-FFF2-40B4-BE49-F238E27FC236}">
                  <a16:creationId xmlns:a16="http://schemas.microsoft.com/office/drawing/2014/main" id="{B6D916F7-5062-4576-A4CD-F7A0487B45ED}"/>
                </a:ext>
              </a:extLst>
            </p:cNvPr>
            <p:cNvSpPr>
              <a:spLocks noChangeShapeType="1"/>
            </p:cNvSpPr>
            <p:nvPr/>
          </p:nvSpPr>
          <p:spPr bwMode="auto">
            <a:xfrm flipV="1">
              <a:off x="6103416" y="203090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dirty="0">
                <a:solidFill>
                  <a:prstClr val="black"/>
                </a:solidFill>
                <a:latin typeface="Tahoma" panose="020B0604030504040204" pitchFamily="34" charset="0"/>
                <a:ea typeface="宋体" panose="02010600030101010101" pitchFamily="2" charset="-122"/>
              </a:endParaRPr>
            </a:p>
          </p:txBody>
        </p:sp>
      </p:grpSp>
      <p:grpSp>
        <p:nvGrpSpPr>
          <p:cNvPr id="52" name="组合 51">
            <a:extLst>
              <a:ext uri="{FF2B5EF4-FFF2-40B4-BE49-F238E27FC236}">
                <a16:creationId xmlns:a16="http://schemas.microsoft.com/office/drawing/2014/main" id="{E27A1DBD-1164-4229-9D34-B15423EBFA86}"/>
              </a:ext>
            </a:extLst>
          </p:cNvPr>
          <p:cNvGrpSpPr>
            <a:grpSpLocks/>
          </p:cNvGrpSpPr>
          <p:nvPr/>
        </p:nvGrpSpPr>
        <p:grpSpPr bwMode="auto">
          <a:xfrm>
            <a:off x="4602609" y="4972388"/>
            <a:ext cx="585159" cy="1001164"/>
            <a:chOff x="7384879" y="2859782"/>
            <a:chExt cx="585243" cy="1000981"/>
          </a:xfrm>
        </p:grpSpPr>
        <p:sp>
          <p:nvSpPr>
            <p:cNvPr id="53" name="Rectangle 7">
              <a:extLst>
                <a:ext uri="{FF2B5EF4-FFF2-40B4-BE49-F238E27FC236}">
                  <a16:creationId xmlns:a16="http://schemas.microsoft.com/office/drawing/2014/main" id="{655D5F61-E656-4B08-9E18-1ADC4FA0E195}"/>
                </a:ext>
              </a:extLst>
            </p:cNvPr>
            <p:cNvSpPr>
              <a:spLocks noChangeArrowheads="1"/>
            </p:cNvSpPr>
            <p:nvPr/>
          </p:nvSpPr>
          <p:spPr bwMode="auto">
            <a:xfrm>
              <a:off x="7384879" y="3235994"/>
              <a:ext cx="585243" cy="6247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(5)</a:t>
              </a:r>
            </a:p>
          </p:txBody>
        </p:sp>
        <p:sp>
          <p:nvSpPr>
            <p:cNvPr id="54" name="Line 5">
              <a:extLst>
                <a:ext uri="{FF2B5EF4-FFF2-40B4-BE49-F238E27FC236}">
                  <a16:creationId xmlns:a16="http://schemas.microsoft.com/office/drawing/2014/main" id="{B5E9E43D-9CF5-4816-9D4E-0B577BF44101}"/>
                </a:ext>
              </a:extLst>
            </p:cNvPr>
            <p:cNvSpPr>
              <a:spLocks noChangeShapeType="1"/>
            </p:cNvSpPr>
            <p:nvPr/>
          </p:nvSpPr>
          <p:spPr bwMode="auto">
            <a:xfrm flipV="1">
              <a:off x="7664313"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sp>
        <p:nvSpPr>
          <p:cNvPr id="2" name="矩形 1">
            <a:extLst>
              <a:ext uri="{FF2B5EF4-FFF2-40B4-BE49-F238E27FC236}">
                <a16:creationId xmlns:a16="http://schemas.microsoft.com/office/drawing/2014/main" id="{DA6DEA27-2984-4CBD-B134-9C7C1AFB2DD9}"/>
              </a:ext>
            </a:extLst>
          </p:cNvPr>
          <p:cNvSpPr/>
          <p:nvPr/>
        </p:nvSpPr>
        <p:spPr>
          <a:xfrm>
            <a:off x="5274428" y="5406742"/>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sp>
        <p:nvSpPr>
          <p:cNvPr id="7" name="矩形 6">
            <a:extLst>
              <a:ext uri="{FF2B5EF4-FFF2-40B4-BE49-F238E27FC236}">
                <a16:creationId xmlns:a16="http://schemas.microsoft.com/office/drawing/2014/main" id="{720406B1-D6F3-41A5-90AF-1E3404BCEFDC}"/>
              </a:ext>
            </a:extLst>
          </p:cNvPr>
          <p:cNvSpPr/>
          <p:nvPr/>
        </p:nvSpPr>
        <p:spPr>
          <a:xfrm>
            <a:off x="7256393" y="5398579"/>
            <a:ext cx="1620957"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200" kern="1200" dirty="0">
              <a:solidFill>
                <a:prstClr val="black"/>
              </a:solidFill>
              <a:latin typeface="Candara"/>
              <a:ea typeface="华文楷体" panose="02010600040101010101" pitchFamily="2" charset="-122"/>
            </a:endParaRPr>
          </a:p>
        </p:txBody>
      </p:sp>
      <p:sp>
        <p:nvSpPr>
          <p:cNvPr id="8" name="矩形 7">
            <a:extLst>
              <a:ext uri="{FF2B5EF4-FFF2-40B4-BE49-F238E27FC236}">
                <a16:creationId xmlns:a16="http://schemas.microsoft.com/office/drawing/2014/main" id="{5D9B4699-2F7A-4771-B148-1C65D8C96225}"/>
              </a:ext>
            </a:extLst>
          </p:cNvPr>
          <p:cNvSpPr/>
          <p:nvPr/>
        </p:nvSpPr>
        <p:spPr>
          <a:xfrm>
            <a:off x="4999091" y="4624503"/>
            <a:ext cx="2301464" cy="323165"/>
          </a:xfrm>
          <a:prstGeom prst="rect">
            <a:avLst/>
          </a:prstGeom>
        </p:spPr>
        <p:txBody>
          <a:bodyPr wrap="none">
            <a:spAutoFit/>
          </a:bodyPr>
          <a:lstStyle/>
          <a:p>
            <a:pPr defTabSz="685800" rtl="0">
              <a:defRPr/>
            </a:pP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kern="1200"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 </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10" name="矩形 9">
            <a:extLst>
              <a:ext uri="{FF2B5EF4-FFF2-40B4-BE49-F238E27FC236}">
                <a16:creationId xmlns:a16="http://schemas.microsoft.com/office/drawing/2014/main" id="{45B2F774-194E-4726-89E5-716BF3C48B60}"/>
              </a:ext>
            </a:extLst>
          </p:cNvPr>
          <p:cNvSpPr/>
          <p:nvPr/>
        </p:nvSpPr>
        <p:spPr>
          <a:xfrm>
            <a:off x="3311478" y="3762345"/>
            <a:ext cx="1557671"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inh</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37888" name="矩形 37887">
            <a:extLst>
              <a:ext uri="{FF2B5EF4-FFF2-40B4-BE49-F238E27FC236}">
                <a16:creationId xmlns:a16="http://schemas.microsoft.com/office/drawing/2014/main" id="{890B9FA2-EE87-4B24-8A90-81C2BA75F4BA}"/>
              </a:ext>
            </a:extLst>
          </p:cNvPr>
          <p:cNvSpPr/>
          <p:nvPr/>
        </p:nvSpPr>
        <p:spPr>
          <a:xfrm>
            <a:off x="6128180" y="3776007"/>
            <a:ext cx="1505540" cy="323165"/>
          </a:xfrm>
          <a:prstGeom prst="rect">
            <a:avLst/>
          </a:prstGeom>
        </p:spPr>
        <p:txBody>
          <a:bodyPr wrap="none">
            <a:spAutoFit/>
          </a:bodyPr>
          <a:lstStyle/>
          <a:p>
            <a:pPr marL="342892" indent="-342892" defTabSz="914378" rtl="0"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T.val</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a:t>
            </a:r>
            <a:r>
              <a:rPr lang="en-US" altLang="zh-CN" sz="1500" b="1" i="1" kern="1200" dirty="0" err="1">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.syn</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75" name="矩形 74">
            <a:extLst>
              <a:ext uri="{FF2B5EF4-FFF2-40B4-BE49-F238E27FC236}">
                <a16:creationId xmlns:a16="http://schemas.microsoft.com/office/drawing/2014/main" id="{16DF4C1D-377E-40FA-A384-97B47EAF4CB8}"/>
              </a:ext>
            </a:extLst>
          </p:cNvPr>
          <p:cNvSpPr/>
          <p:nvPr/>
        </p:nvSpPr>
        <p:spPr>
          <a:xfrm>
            <a:off x="2621656" y="4618451"/>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cxnSp>
        <p:nvCxnSpPr>
          <p:cNvPr id="37890" name="直接箭头连接符 37889">
            <a:extLst>
              <a:ext uri="{FF2B5EF4-FFF2-40B4-BE49-F238E27FC236}">
                <a16:creationId xmlns:a16="http://schemas.microsoft.com/office/drawing/2014/main" id="{8A455B10-95DC-4067-A5C0-2123753472C9}"/>
              </a:ext>
            </a:extLst>
          </p:cNvPr>
          <p:cNvCxnSpPr/>
          <p:nvPr/>
        </p:nvCxnSpPr>
        <p:spPr>
          <a:xfrm flipV="1">
            <a:off x="5601510" y="5712533"/>
            <a:ext cx="277332" cy="269559"/>
          </a:xfrm>
          <a:prstGeom prst="straightConnector1">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45" name="矩形 56">
            <a:extLst>
              <a:ext uri="{FF2B5EF4-FFF2-40B4-BE49-F238E27FC236}">
                <a16:creationId xmlns:a16="http://schemas.microsoft.com/office/drawing/2014/main" id="{CFA74744-B2D9-4B80-B1F4-28EAD8807DBB}"/>
              </a:ext>
            </a:extLst>
          </p:cNvPr>
          <p:cNvSpPr>
            <a:spLocks noChangeArrowheads="1"/>
          </p:cNvSpPr>
          <p:nvPr/>
        </p:nvSpPr>
        <p:spPr bwMode="auto">
          <a:xfrm>
            <a:off x="4922724" y="3817698"/>
            <a:ext cx="6254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err="1">
                <a:solidFill>
                  <a:srgbClr val="FF0000"/>
                </a:solidFill>
                <a:latin typeface="Times New Roman" panose="02020603050405020304" pitchFamily="18" charset="0"/>
                <a:ea typeface="宋体" panose="02010600030101010101" pitchFamily="2" charset="-122"/>
                <a:sym typeface="Symbol" panose="05050102010706020507" pitchFamily="18" charset="2"/>
              </a:rPr>
              <a:t>inh</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6" name="矩形 56">
            <a:extLst>
              <a:ext uri="{FF2B5EF4-FFF2-40B4-BE49-F238E27FC236}">
                <a16:creationId xmlns:a16="http://schemas.microsoft.com/office/drawing/2014/main" id="{E8B7BF26-CD8C-407F-A211-6EEAB1FB423C}"/>
              </a:ext>
            </a:extLst>
          </p:cNvPr>
          <p:cNvSpPr>
            <a:spLocks noChangeArrowheads="1"/>
          </p:cNvSpPr>
          <p:nvPr/>
        </p:nvSpPr>
        <p:spPr bwMode="auto">
          <a:xfrm>
            <a:off x="4802021" y="4742175"/>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7" name="矩形 46">
            <a:extLst>
              <a:ext uri="{FF2B5EF4-FFF2-40B4-BE49-F238E27FC236}">
                <a16:creationId xmlns:a16="http://schemas.microsoft.com/office/drawing/2014/main" id="{789D1E0A-674B-4E39-91B0-A6E3C0F1E17F}"/>
              </a:ext>
            </a:extLst>
          </p:cNvPr>
          <p:cNvSpPr/>
          <p:nvPr/>
        </p:nvSpPr>
        <p:spPr>
          <a:xfrm>
            <a:off x="7391754" y="4608752"/>
            <a:ext cx="1636987" cy="323165"/>
          </a:xfrm>
          <a:prstGeom prst="rect">
            <a:avLst/>
          </a:prstGeom>
        </p:spPr>
        <p:txBody>
          <a:bodyPr wrap="none">
            <a:spAutoFit/>
          </a:bodyPr>
          <a:lstStyle/>
          <a:p>
            <a:pPr marL="342892" indent="-342892" defTabSz="914378"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55" name="图片 54">
            <a:extLst>
              <a:ext uri="{FF2B5EF4-FFF2-40B4-BE49-F238E27FC236}">
                <a16:creationId xmlns:a16="http://schemas.microsoft.com/office/drawing/2014/main" id="{6E4353C1-CF23-4BBE-B984-CC62D209D3E0}"/>
              </a:ext>
            </a:extLst>
          </p:cNvPr>
          <p:cNvPicPr>
            <a:picLocks noChangeAspect="1"/>
          </p:cNvPicPr>
          <p:nvPr/>
        </p:nvPicPr>
        <p:blipFill>
          <a:blip r:embed="rId3"/>
          <a:stretch>
            <a:fillRect/>
          </a:stretch>
        </p:blipFill>
        <p:spPr bwMode="auto">
          <a:xfrm>
            <a:off x="497236" y="288443"/>
            <a:ext cx="3375510" cy="1980838"/>
          </a:xfrm>
          <a:prstGeom prst="rect">
            <a:avLst/>
          </a:prstGeom>
        </p:spPr>
      </p:pic>
      <p:sp>
        <p:nvSpPr>
          <p:cNvPr id="3" name="日期占位符 2">
            <a:extLst>
              <a:ext uri="{FF2B5EF4-FFF2-40B4-BE49-F238E27FC236}">
                <a16:creationId xmlns:a16="http://schemas.microsoft.com/office/drawing/2014/main" id="{0519F393-9BAF-DF77-80CA-9212DE31153B}"/>
              </a:ext>
            </a:extLst>
          </p:cNvPr>
          <p:cNvSpPr>
            <a:spLocks noGrp="1"/>
          </p:cNvSpPr>
          <p:nvPr>
            <p:ph type="dt" sz="half" idx="10"/>
          </p:nvPr>
        </p:nvSpPr>
        <p:spPr/>
        <p:txBody>
          <a:bodyPr/>
          <a:lstStyle/>
          <a:p>
            <a:pPr>
              <a:defRPr/>
            </a:pPr>
            <a:r>
              <a:rPr lang="en-US" altLang="zh-CN"/>
              <a:t>Fall 2024</a:t>
            </a:r>
            <a:endParaRPr lang="en-US"/>
          </a:p>
        </p:txBody>
      </p:sp>
      <p:sp>
        <p:nvSpPr>
          <p:cNvPr id="4" name="页脚占位符 3">
            <a:extLst>
              <a:ext uri="{FF2B5EF4-FFF2-40B4-BE49-F238E27FC236}">
                <a16:creationId xmlns:a16="http://schemas.microsoft.com/office/drawing/2014/main" id="{1147FA5C-65A7-A715-9DFE-84854231F064}"/>
              </a:ext>
            </a:extLst>
          </p:cNvPr>
          <p:cNvSpPr>
            <a:spLocks noGrp="1"/>
          </p:cNvSpPr>
          <p:nvPr>
            <p:ph type="ftr" sz="quarter" idx="11"/>
          </p:nvPr>
        </p:nvSpPr>
        <p:spPr/>
        <p:txBody>
          <a:bodyPr/>
          <a:lstStyle/>
          <a:p>
            <a:pPr>
              <a:defRPr/>
            </a:pPr>
            <a:r>
              <a:rPr lang="en-US"/>
              <a:t>BUPT Compilers</a:t>
            </a:r>
          </a:p>
        </p:txBody>
      </p:sp>
      <p:sp>
        <p:nvSpPr>
          <p:cNvPr id="5" name="灯片编号占位符 4">
            <a:extLst>
              <a:ext uri="{FF2B5EF4-FFF2-40B4-BE49-F238E27FC236}">
                <a16:creationId xmlns:a16="http://schemas.microsoft.com/office/drawing/2014/main" id="{60A91138-E304-55F7-5515-9E9111382734}"/>
              </a:ext>
            </a:extLst>
          </p:cNvPr>
          <p:cNvSpPr>
            <a:spLocks noGrp="1"/>
          </p:cNvSpPr>
          <p:nvPr>
            <p:ph type="sldNum" sz="quarter" idx="12"/>
          </p:nvPr>
        </p:nvSpPr>
        <p:spPr/>
        <p:txBody>
          <a:bodyPr/>
          <a:lstStyle/>
          <a:p>
            <a:pPr>
              <a:defRPr/>
            </a:pPr>
            <a:fld id="{2FBC720A-3716-234A-B2DF-CBC7E48049F5}" type="slidenum">
              <a:rPr lang="en-US" altLang="zh-CN" smtClean="0"/>
              <a:t>28</a:t>
            </a:fld>
            <a:endParaRPr lang="en-US" altLang="zh-CN"/>
          </a:p>
        </p:txBody>
      </p:sp>
    </p:spTree>
    <p:extLst>
      <p:ext uri="{BB962C8B-B14F-4D97-AF65-F5344CB8AC3E}">
        <p14:creationId xmlns:p14="http://schemas.microsoft.com/office/powerpoint/2010/main" val="194150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500" fill="hold"/>
                                        <p:tgtEl>
                                          <p:spTgt spid="37890"/>
                                        </p:tgtEl>
                                        <p:attrNameLst>
                                          <p:attrName>ppt_w</p:attrName>
                                        </p:attrNameLst>
                                      </p:cBhvr>
                                      <p:tavLst>
                                        <p:tav tm="0">
                                          <p:val>
                                            <p:fltVal val="0"/>
                                          </p:val>
                                        </p:tav>
                                        <p:tav tm="100000">
                                          <p:val>
                                            <p:strVal val="#ppt_w"/>
                                          </p:val>
                                        </p:tav>
                                      </p:tavLst>
                                    </p:anim>
                                    <p:anim calcmode="lin" valueType="num">
                                      <p:cBhvr>
                                        <p:cTn id="8" dur="500" fill="hold"/>
                                        <p:tgtEl>
                                          <p:spTgt spid="37890"/>
                                        </p:tgtEl>
                                        <p:attrNameLst>
                                          <p:attrName>ppt_h</p:attrName>
                                        </p:attrNameLst>
                                      </p:cBhvr>
                                      <p:tavLst>
                                        <p:tav tm="0">
                                          <p:val>
                                            <p:fltVal val="0"/>
                                          </p:val>
                                        </p:tav>
                                        <p:tav tm="100000">
                                          <p:val>
                                            <p:strVal val="#ppt_h"/>
                                          </p:val>
                                        </p:tav>
                                      </p:tavLst>
                                    </p:anim>
                                    <p:animEffect transition="in" filter="fade">
                                      <p:cBhvr>
                                        <p:cTn id="9" dur="500"/>
                                        <p:tgtEl>
                                          <p:spTgt spid="3789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6"/>
                                        </p:tgtEl>
                                        <p:attrNameLst>
                                          <p:attrName>style.visibility</p:attrName>
                                        </p:attrNameLst>
                                      </p:cBhvr>
                                      <p:to>
                                        <p:strVal val="visible"/>
                                      </p:to>
                                    </p:set>
                                    <p:anim calcmode="lin" valueType="num">
                                      <p:cBhvr>
                                        <p:cTn id="14" dur="500" fill="hold"/>
                                        <p:tgtEl>
                                          <p:spTgt spid="46"/>
                                        </p:tgtEl>
                                        <p:attrNameLst>
                                          <p:attrName>ppt_w</p:attrName>
                                        </p:attrNameLst>
                                      </p:cBhvr>
                                      <p:tavLst>
                                        <p:tav tm="0">
                                          <p:val>
                                            <p:fltVal val="0"/>
                                          </p:val>
                                        </p:tav>
                                        <p:tav tm="100000">
                                          <p:val>
                                            <p:strVal val="#ppt_w"/>
                                          </p:val>
                                        </p:tav>
                                      </p:tavLst>
                                    </p:anim>
                                    <p:anim calcmode="lin" valueType="num">
                                      <p:cBhvr>
                                        <p:cTn id="15" dur="500" fill="hold"/>
                                        <p:tgtEl>
                                          <p:spTgt spid="46"/>
                                        </p:tgtEl>
                                        <p:attrNameLst>
                                          <p:attrName>ppt_h</p:attrName>
                                        </p:attrNameLst>
                                      </p:cBhvr>
                                      <p:tavLst>
                                        <p:tav tm="0">
                                          <p:val>
                                            <p:fltVal val="0"/>
                                          </p:val>
                                        </p:tav>
                                        <p:tav tm="100000">
                                          <p:val>
                                            <p:strVal val="#ppt_h"/>
                                          </p:val>
                                        </p:tav>
                                      </p:tavLst>
                                    </p:anim>
                                    <p:animEffect transition="in" filter="fade">
                                      <p:cBhvr>
                                        <p:cTn id="1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7">
            <a:extLst>
              <a:ext uri="{FF2B5EF4-FFF2-40B4-BE49-F238E27FC236}">
                <a16:creationId xmlns:a16="http://schemas.microsoft.com/office/drawing/2014/main" id="{77924812-D949-48BA-9002-4B8B8C22793E}"/>
              </a:ext>
            </a:extLst>
          </p:cNvPr>
          <p:cNvSpPr>
            <a:spLocks noChangeArrowheads="1"/>
          </p:cNvSpPr>
          <p:nvPr/>
        </p:nvSpPr>
        <p:spPr bwMode="auto">
          <a:xfrm>
            <a:off x="338139" y="4424707"/>
            <a:ext cx="2136775"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20000"/>
              </a:spcBef>
              <a:spcAft>
                <a:spcPct val="0"/>
              </a:spcAft>
              <a:defRPr/>
            </a:pPr>
            <a:r>
              <a:rPr kumimoji="1" lang="en-US" altLang="zh-CN" sz="2000" kern="1200" dirty="0">
                <a:solidFill>
                  <a:srgbClr val="000000"/>
                </a:solidFill>
                <a:latin typeface="Times New Roman" panose="02020603050405020304" pitchFamily="18" charset="0"/>
              </a:rPr>
              <a:t>3   *   5</a:t>
            </a:r>
          </a:p>
          <a:p>
            <a:pPr defTabSz="914378" rtl="0" fontAlgn="base">
              <a:spcBef>
                <a:spcPct val="20000"/>
              </a:spcBef>
              <a:spcAft>
                <a:spcPct val="0"/>
              </a:spcAft>
              <a:defRPr/>
            </a:pPr>
            <a:r>
              <a:rPr lang="en-US" altLang="zh-CN" sz="2000" kern="12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digit </a:t>
            </a:r>
            <a:endParaRPr kumimoji="1" lang="en-US" altLang="zh-CN" sz="2000" kern="1200" dirty="0">
              <a:solidFill>
                <a:srgbClr val="000000"/>
              </a:solidFill>
              <a:latin typeface="Times New Roman" panose="02020603050405020304" pitchFamily="18" charset="0"/>
            </a:endParaRPr>
          </a:p>
          <a:p>
            <a:pPr defTabSz="914378" rtl="0" fontAlgn="base">
              <a:spcBef>
                <a:spcPct val="20000"/>
              </a:spcBef>
              <a:spcAft>
                <a:spcPct val="0"/>
              </a:spcAft>
              <a:defRPr/>
            </a:pPr>
            <a:endParaRPr kumimoji="1" lang="en-US" altLang="zh-CN" sz="2000" kern="1200" dirty="0">
              <a:solidFill>
                <a:srgbClr val="000000"/>
              </a:solidFill>
              <a:latin typeface="Times New Roman" panose="02020603050405020304" pitchFamily="18" charset="0"/>
              <a:sym typeface="Symbol" panose="05050102010706020507" pitchFamily="18" charset="2"/>
            </a:endParaRPr>
          </a:p>
        </p:txBody>
      </p:sp>
      <p:grpSp>
        <p:nvGrpSpPr>
          <p:cNvPr id="22" name="组合 21">
            <a:extLst>
              <a:ext uri="{FF2B5EF4-FFF2-40B4-BE49-F238E27FC236}">
                <a16:creationId xmlns:a16="http://schemas.microsoft.com/office/drawing/2014/main" id="{3114F0BA-5439-4963-807B-64545B8027A7}"/>
              </a:ext>
            </a:extLst>
          </p:cNvPr>
          <p:cNvGrpSpPr>
            <a:grpSpLocks/>
          </p:cNvGrpSpPr>
          <p:nvPr/>
        </p:nvGrpSpPr>
        <p:grpSpPr bwMode="auto">
          <a:xfrm>
            <a:off x="2287506" y="2989988"/>
            <a:ext cx="3452670" cy="1123239"/>
            <a:chOff x="3853075" y="810394"/>
            <a:chExt cx="3453528" cy="1124157"/>
          </a:xfrm>
        </p:grpSpPr>
        <p:sp>
          <p:nvSpPr>
            <p:cNvPr id="23" name="Rectangle 6">
              <a:extLst>
                <a:ext uri="{FF2B5EF4-FFF2-40B4-BE49-F238E27FC236}">
                  <a16:creationId xmlns:a16="http://schemas.microsoft.com/office/drawing/2014/main" id="{86C738E7-0C6E-4F7C-83C5-5E2C34595374}"/>
                </a:ext>
              </a:extLst>
            </p:cNvPr>
            <p:cNvSpPr>
              <a:spLocks noChangeArrowheads="1"/>
            </p:cNvSpPr>
            <p:nvPr/>
          </p:nvSpPr>
          <p:spPr bwMode="auto">
            <a:xfrm>
              <a:off x="3853075" y="1586382"/>
              <a:ext cx="271077" cy="348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24" name="Rectangle 9">
              <a:extLst>
                <a:ext uri="{FF2B5EF4-FFF2-40B4-BE49-F238E27FC236}">
                  <a16:creationId xmlns:a16="http://schemas.microsoft.com/office/drawing/2014/main" id="{F0740B2D-5ABD-466F-A0E6-17C9A80EF2CA}"/>
                </a:ext>
              </a:extLst>
            </p:cNvPr>
            <p:cNvSpPr>
              <a:spLocks noChangeArrowheads="1"/>
            </p:cNvSpPr>
            <p:nvPr/>
          </p:nvSpPr>
          <p:spPr bwMode="auto">
            <a:xfrm>
              <a:off x="6928578" y="1569882"/>
              <a:ext cx="378025"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5" name="Rectangle 10">
              <a:extLst>
                <a:ext uri="{FF2B5EF4-FFF2-40B4-BE49-F238E27FC236}">
                  <a16:creationId xmlns:a16="http://schemas.microsoft.com/office/drawing/2014/main" id="{53E10D79-0F20-4C18-8650-A78686F478C3}"/>
                </a:ext>
              </a:extLst>
            </p:cNvPr>
            <p:cNvSpPr>
              <a:spLocks noChangeArrowheads="1"/>
            </p:cNvSpPr>
            <p:nvPr/>
          </p:nvSpPr>
          <p:spPr bwMode="auto">
            <a:xfrm>
              <a:off x="5272107" y="810394"/>
              <a:ext cx="417513"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6" name="Line 11">
              <a:extLst>
                <a:ext uri="{FF2B5EF4-FFF2-40B4-BE49-F238E27FC236}">
                  <a16:creationId xmlns:a16="http://schemas.microsoft.com/office/drawing/2014/main" id="{87A27C41-914D-4B9A-9B7D-433AD6FBB778}"/>
                </a:ext>
              </a:extLst>
            </p:cNvPr>
            <p:cNvSpPr>
              <a:spLocks noChangeShapeType="1"/>
            </p:cNvSpPr>
            <p:nvPr/>
          </p:nvSpPr>
          <p:spPr bwMode="auto">
            <a:xfrm flipH="1">
              <a:off x="4099264" y="1172486"/>
              <a:ext cx="1381600" cy="39997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27" name="Line 12">
              <a:extLst>
                <a:ext uri="{FF2B5EF4-FFF2-40B4-BE49-F238E27FC236}">
                  <a16:creationId xmlns:a16="http://schemas.microsoft.com/office/drawing/2014/main" id="{CB27928E-1E8A-498B-AE9D-8CCBF45B76C8}"/>
                </a:ext>
              </a:extLst>
            </p:cNvPr>
            <p:cNvSpPr>
              <a:spLocks noChangeShapeType="1"/>
            </p:cNvSpPr>
            <p:nvPr/>
          </p:nvSpPr>
          <p:spPr bwMode="auto">
            <a:xfrm>
              <a:off x="5438709" y="1192035"/>
              <a:ext cx="1797357" cy="385473"/>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28" name="组合 124933">
            <a:extLst>
              <a:ext uri="{FF2B5EF4-FFF2-40B4-BE49-F238E27FC236}">
                <a16:creationId xmlns:a16="http://schemas.microsoft.com/office/drawing/2014/main" id="{C987E98D-3898-4D56-AAA1-BF361293CB52}"/>
              </a:ext>
            </a:extLst>
          </p:cNvPr>
          <p:cNvGrpSpPr>
            <a:grpSpLocks/>
          </p:cNvGrpSpPr>
          <p:nvPr/>
        </p:nvGrpSpPr>
        <p:grpSpPr bwMode="auto">
          <a:xfrm>
            <a:off x="4435876" y="4191537"/>
            <a:ext cx="3059096" cy="796271"/>
            <a:chOff x="7193292" y="2013704"/>
            <a:chExt cx="1929563" cy="794905"/>
          </a:xfrm>
        </p:grpSpPr>
        <p:sp>
          <p:nvSpPr>
            <p:cNvPr id="29" name="Line 8">
              <a:extLst>
                <a:ext uri="{FF2B5EF4-FFF2-40B4-BE49-F238E27FC236}">
                  <a16:creationId xmlns:a16="http://schemas.microsoft.com/office/drawing/2014/main" id="{769042D8-75A4-4D1E-87D0-92D0487DCE94}"/>
                </a:ext>
              </a:extLst>
            </p:cNvPr>
            <p:cNvSpPr>
              <a:spLocks noChangeShapeType="1"/>
            </p:cNvSpPr>
            <p:nvPr/>
          </p:nvSpPr>
          <p:spPr bwMode="auto">
            <a:xfrm flipV="1">
              <a:off x="7540792" y="2030902"/>
              <a:ext cx="262473" cy="45032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0" name="Text Box 13">
              <a:extLst>
                <a:ext uri="{FF2B5EF4-FFF2-40B4-BE49-F238E27FC236}">
                  <a16:creationId xmlns:a16="http://schemas.microsoft.com/office/drawing/2014/main" id="{25AA22B6-F143-4394-B0C7-68706BC57A49}"/>
                </a:ext>
              </a:extLst>
            </p:cNvPr>
            <p:cNvSpPr txBox="1">
              <a:spLocks noChangeArrowheads="1"/>
            </p:cNvSpPr>
            <p:nvPr/>
          </p:nvSpPr>
          <p:spPr bwMode="auto">
            <a:xfrm>
              <a:off x="7193292" y="2461322"/>
              <a:ext cx="269875"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50000"/>
                </a:spcBef>
                <a:spcAft>
                  <a:spcPct val="0"/>
                </a:spcAft>
                <a:defRPr/>
              </a:pPr>
              <a:r>
                <a:rPr kumimoji="1" lang="zh-CN" altLang="en-US" kern="1200" dirty="0">
                  <a:solidFill>
                    <a:prstClr val="black"/>
                  </a:solidFill>
                  <a:latin typeface="Times New Roman" panose="02020603050405020304" pitchFamily="18" charset="0"/>
                </a:rPr>
                <a:t>*</a:t>
              </a:r>
            </a:p>
          </p:txBody>
        </p:sp>
        <p:sp>
          <p:nvSpPr>
            <p:cNvPr id="31" name="Line 11">
              <a:extLst>
                <a:ext uri="{FF2B5EF4-FFF2-40B4-BE49-F238E27FC236}">
                  <a16:creationId xmlns:a16="http://schemas.microsoft.com/office/drawing/2014/main" id="{55C4C488-407D-463E-9CE4-1C1DC6CF6E9A}"/>
                </a:ext>
              </a:extLst>
            </p:cNvPr>
            <p:cNvSpPr>
              <a:spLocks noChangeShapeType="1"/>
            </p:cNvSpPr>
            <p:nvPr/>
          </p:nvSpPr>
          <p:spPr bwMode="auto">
            <a:xfrm flipH="1">
              <a:off x="7299098" y="2013704"/>
              <a:ext cx="522562" cy="41553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3" name="Rectangle 6">
              <a:extLst>
                <a:ext uri="{FF2B5EF4-FFF2-40B4-BE49-F238E27FC236}">
                  <a16:creationId xmlns:a16="http://schemas.microsoft.com/office/drawing/2014/main" id="{588DBCF3-8D0C-4583-88DF-0AEE494EC03F}"/>
                </a:ext>
              </a:extLst>
            </p:cNvPr>
            <p:cNvSpPr>
              <a:spLocks noChangeArrowheads="1"/>
            </p:cNvSpPr>
            <p:nvPr/>
          </p:nvSpPr>
          <p:spPr bwMode="auto">
            <a:xfrm>
              <a:off x="7299099" y="2431251"/>
              <a:ext cx="314446"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34" name="Rectangle 9">
              <a:extLst>
                <a:ext uri="{FF2B5EF4-FFF2-40B4-BE49-F238E27FC236}">
                  <a16:creationId xmlns:a16="http://schemas.microsoft.com/office/drawing/2014/main" id="{5DBD9EBC-5EDA-410F-AC0E-F4BE3362D896}"/>
                </a:ext>
              </a:extLst>
            </p:cNvPr>
            <p:cNvSpPr>
              <a:spLocks noChangeArrowheads="1"/>
            </p:cNvSpPr>
            <p:nvPr/>
          </p:nvSpPr>
          <p:spPr bwMode="auto">
            <a:xfrm>
              <a:off x="8759697" y="2431251"/>
              <a:ext cx="363158"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32" name="Line 12">
              <a:extLst>
                <a:ext uri="{FF2B5EF4-FFF2-40B4-BE49-F238E27FC236}">
                  <a16:creationId xmlns:a16="http://schemas.microsoft.com/office/drawing/2014/main" id="{CA7E7E12-3212-47EB-AABE-12C1E218705B}"/>
                </a:ext>
              </a:extLst>
            </p:cNvPr>
            <p:cNvSpPr>
              <a:spLocks noChangeShapeType="1"/>
            </p:cNvSpPr>
            <p:nvPr/>
          </p:nvSpPr>
          <p:spPr bwMode="auto">
            <a:xfrm>
              <a:off x="7803265" y="2016342"/>
              <a:ext cx="1097075" cy="46488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35" name="组合 34">
            <a:extLst>
              <a:ext uri="{FF2B5EF4-FFF2-40B4-BE49-F238E27FC236}">
                <a16:creationId xmlns:a16="http://schemas.microsoft.com/office/drawing/2014/main" id="{19404285-1C12-4308-A279-E04202685F5F}"/>
              </a:ext>
            </a:extLst>
          </p:cNvPr>
          <p:cNvGrpSpPr>
            <a:grpSpLocks/>
          </p:cNvGrpSpPr>
          <p:nvPr/>
        </p:nvGrpSpPr>
        <p:grpSpPr bwMode="auto">
          <a:xfrm>
            <a:off x="7016344" y="5037594"/>
            <a:ext cx="269626" cy="699538"/>
            <a:chOff x="8658440" y="2859782"/>
            <a:chExt cx="269377" cy="698404"/>
          </a:xfrm>
        </p:grpSpPr>
        <p:sp>
          <p:nvSpPr>
            <p:cNvPr id="36" name="Line 5">
              <a:extLst>
                <a:ext uri="{FF2B5EF4-FFF2-40B4-BE49-F238E27FC236}">
                  <a16:creationId xmlns:a16="http://schemas.microsoft.com/office/drawing/2014/main" id="{8E5D0A80-B93F-479E-A15F-942508025069}"/>
                </a:ext>
              </a:extLst>
            </p:cNvPr>
            <p:cNvSpPr>
              <a:spLocks noChangeShapeType="1"/>
            </p:cNvSpPr>
            <p:nvPr/>
          </p:nvSpPr>
          <p:spPr bwMode="auto">
            <a:xfrm flipV="1">
              <a:off x="8820472"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7" name="矩形 3">
              <a:extLst>
                <a:ext uri="{FF2B5EF4-FFF2-40B4-BE49-F238E27FC236}">
                  <a16:creationId xmlns:a16="http://schemas.microsoft.com/office/drawing/2014/main" id="{45E6BD9B-3664-4C51-B7FA-BCAEEA94ED72}"/>
                </a:ext>
              </a:extLst>
            </p:cNvPr>
            <p:cNvSpPr>
              <a:spLocks noChangeArrowheads="1"/>
            </p:cNvSpPr>
            <p:nvPr/>
          </p:nvSpPr>
          <p:spPr bwMode="auto">
            <a:xfrm>
              <a:off x="8658440" y="3220181"/>
              <a:ext cx="269377" cy="33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lang="el-GR" altLang="zh-CN" sz="1600" b="1" i="1" kern="12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ε</a:t>
              </a:r>
              <a:endParaRPr lang="zh-CN" altLang="en-US" b="1" kern="1200">
                <a:solidFill>
                  <a:srgbClr val="000000"/>
                </a:solidFill>
                <a:latin typeface="Tahoma" panose="020B0604030504040204" pitchFamily="34" charset="0"/>
                <a:ea typeface="宋体" panose="02010600030101010101" pitchFamily="2" charset="-122"/>
              </a:endParaRPr>
            </a:p>
          </p:txBody>
        </p:sp>
      </p:grpSp>
      <p:sp>
        <p:nvSpPr>
          <p:cNvPr id="40" name="矩形 56">
            <a:extLst>
              <a:ext uri="{FF2B5EF4-FFF2-40B4-BE49-F238E27FC236}">
                <a16:creationId xmlns:a16="http://schemas.microsoft.com/office/drawing/2014/main" id="{16B02699-238B-4D70-B370-9A88DF06D52A}"/>
              </a:ext>
            </a:extLst>
          </p:cNvPr>
          <p:cNvSpPr>
            <a:spLocks noChangeArrowheads="1"/>
          </p:cNvSpPr>
          <p:nvPr/>
        </p:nvSpPr>
        <p:spPr bwMode="auto">
          <a:xfrm>
            <a:off x="2405760" y="3943310"/>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grpSp>
        <p:nvGrpSpPr>
          <p:cNvPr id="41" name="组合 40">
            <a:extLst>
              <a:ext uri="{FF2B5EF4-FFF2-40B4-BE49-F238E27FC236}">
                <a16:creationId xmlns:a16="http://schemas.microsoft.com/office/drawing/2014/main" id="{E67498A6-9BE6-4957-BF74-59D078D6F677}"/>
              </a:ext>
            </a:extLst>
          </p:cNvPr>
          <p:cNvGrpSpPr>
            <a:grpSpLocks/>
          </p:cNvGrpSpPr>
          <p:nvPr/>
        </p:nvGrpSpPr>
        <p:grpSpPr bwMode="auto">
          <a:xfrm>
            <a:off x="2111841" y="4234426"/>
            <a:ext cx="585159" cy="967879"/>
            <a:chOff x="5811182" y="2030902"/>
            <a:chExt cx="584868" cy="967607"/>
          </a:xfrm>
        </p:grpSpPr>
        <p:sp>
          <p:nvSpPr>
            <p:cNvPr id="42" name="Rectangle 2">
              <a:extLst>
                <a:ext uri="{FF2B5EF4-FFF2-40B4-BE49-F238E27FC236}">
                  <a16:creationId xmlns:a16="http://schemas.microsoft.com/office/drawing/2014/main" id="{F3D1C0B1-500B-4108-BED2-EE04E9E417BF}"/>
                </a:ext>
              </a:extLst>
            </p:cNvPr>
            <p:cNvSpPr>
              <a:spLocks noChangeArrowheads="1"/>
            </p:cNvSpPr>
            <p:nvPr/>
          </p:nvSpPr>
          <p:spPr bwMode="auto">
            <a:xfrm>
              <a:off x="5811182" y="2373802"/>
              <a:ext cx="584868" cy="6247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(3)</a:t>
              </a:r>
            </a:p>
          </p:txBody>
        </p:sp>
        <p:sp>
          <p:nvSpPr>
            <p:cNvPr id="43" name="Line 5">
              <a:extLst>
                <a:ext uri="{FF2B5EF4-FFF2-40B4-BE49-F238E27FC236}">
                  <a16:creationId xmlns:a16="http://schemas.microsoft.com/office/drawing/2014/main" id="{B6D916F7-5062-4576-A4CD-F7A0487B45ED}"/>
                </a:ext>
              </a:extLst>
            </p:cNvPr>
            <p:cNvSpPr>
              <a:spLocks noChangeShapeType="1"/>
            </p:cNvSpPr>
            <p:nvPr/>
          </p:nvSpPr>
          <p:spPr bwMode="auto">
            <a:xfrm flipV="1">
              <a:off x="6103416" y="203090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dirty="0">
                <a:solidFill>
                  <a:prstClr val="black"/>
                </a:solidFill>
                <a:latin typeface="Tahoma" panose="020B0604030504040204" pitchFamily="34" charset="0"/>
                <a:ea typeface="宋体" panose="02010600030101010101" pitchFamily="2" charset="-122"/>
              </a:endParaRPr>
            </a:p>
          </p:txBody>
        </p:sp>
      </p:grpSp>
      <p:grpSp>
        <p:nvGrpSpPr>
          <p:cNvPr id="52" name="组合 51">
            <a:extLst>
              <a:ext uri="{FF2B5EF4-FFF2-40B4-BE49-F238E27FC236}">
                <a16:creationId xmlns:a16="http://schemas.microsoft.com/office/drawing/2014/main" id="{E27A1DBD-1164-4229-9D34-B15423EBFA86}"/>
              </a:ext>
            </a:extLst>
          </p:cNvPr>
          <p:cNvGrpSpPr>
            <a:grpSpLocks/>
          </p:cNvGrpSpPr>
          <p:nvPr/>
        </p:nvGrpSpPr>
        <p:grpSpPr bwMode="auto">
          <a:xfrm>
            <a:off x="4602609" y="4972388"/>
            <a:ext cx="585159" cy="1001164"/>
            <a:chOff x="7384879" y="2859782"/>
            <a:chExt cx="585243" cy="1000981"/>
          </a:xfrm>
        </p:grpSpPr>
        <p:sp>
          <p:nvSpPr>
            <p:cNvPr id="53" name="Rectangle 7">
              <a:extLst>
                <a:ext uri="{FF2B5EF4-FFF2-40B4-BE49-F238E27FC236}">
                  <a16:creationId xmlns:a16="http://schemas.microsoft.com/office/drawing/2014/main" id="{655D5F61-E656-4B08-9E18-1ADC4FA0E195}"/>
                </a:ext>
              </a:extLst>
            </p:cNvPr>
            <p:cNvSpPr>
              <a:spLocks noChangeArrowheads="1"/>
            </p:cNvSpPr>
            <p:nvPr/>
          </p:nvSpPr>
          <p:spPr bwMode="auto">
            <a:xfrm>
              <a:off x="7384879" y="3235994"/>
              <a:ext cx="585243" cy="6247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(5)</a:t>
              </a:r>
            </a:p>
          </p:txBody>
        </p:sp>
        <p:sp>
          <p:nvSpPr>
            <p:cNvPr id="54" name="Line 5">
              <a:extLst>
                <a:ext uri="{FF2B5EF4-FFF2-40B4-BE49-F238E27FC236}">
                  <a16:creationId xmlns:a16="http://schemas.microsoft.com/office/drawing/2014/main" id="{B5E9E43D-9CF5-4816-9D4E-0B577BF44101}"/>
                </a:ext>
              </a:extLst>
            </p:cNvPr>
            <p:cNvSpPr>
              <a:spLocks noChangeShapeType="1"/>
            </p:cNvSpPr>
            <p:nvPr/>
          </p:nvSpPr>
          <p:spPr bwMode="auto">
            <a:xfrm flipV="1">
              <a:off x="7664313"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sp>
        <p:nvSpPr>
          <p:cNvPr id="2" name="矩形 1">
            <a:extLst>
              <a:ext uri="{FF2B5EF4-FFF2-40B4-BE49-F238E27FC236}">
                <a16:creationId xmlns:a16="http://schemas.microsoft.com/office/drawing/2014/main" id="{DA6DEA27-2984-4CBD-B134-9C7C1AFB2DD9}"/>
              </a:ext>
            </a:extLst>
          </p:cNvPr>
          <p:cNvSpPr/>
          <p:nvPr/>
        </p:nvSpPr>
        <p:spPr>
          <a:xfrm>
            <a:off x="5274428" y="5406742"/>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sp>
        <p:nvSpPr>
          <p:cNvPr id="7" name="矩形 6">
            <a:extLst>
              <a:ext uri="{FF2B5EF4-FFF2-40B4-BE49-F238E27FC236}">
                <a16:creationId xmlns:a16="http://schemas.microsoft.com/office/drawing/2014/main" id="{720406B1-D6F3-41A5-90AF-1E3404BCEFDC}"/>
              </a:ext>
            </a:extLst>
          </p:cNvPr>
          <p:cNvSpPr/>
          <p:nvPr/>
        </p:nvSpPr>
        <p:spPr>
          <a:xfrm>
            <a:off x="7256393" y="5398579"/>
            <a:ext cx="1620957"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200" kern="1200" dirty="0">
              <a:solidFill>
                <a:prstClr val="black"/>
              </a:solidFill>
              <a:latin typeface="Candara"/>
              <a:ea typeface="华文楷体" panose="02010600040101010101" pitchFamily="2" charset="-122"/>
            </a:endParaRPr>
          </a:p>
        </p:txBody>
      </p:sp>
      <p:sp>
        <p:nvSpPr>
          <p:cNvPr id="8" name="矩形 7">
            <a:extLst>
              <a:ext uri="{FF2B5EF4-FFF2-40B4-BE49-F238E27FC236}">
                <a16:creationId xmlns:a16="http://schemas.microsoft.com/office/drawing/2014/main" id="{5D9B4699-2F7A-4771-B148-1C65D8C96225}"/>
              </a:ext>
            </a:extLst>
          </p:cNvPr>
          <p:cNvSpPr/>
          <p:nvPr/>
        </p:nvSpPr>
        <p:spPr>
          <a:xfrm>
            <a:off x="4999091" y="4624503"/>
            <a:ext cx="2301464" cy="323165"/>
          </a:xfrm>
          <a:prstGeom prst="rect">
            <a:avLst/>
          </a:prstGeom>
        </p:spPr>
        <p:txBody>
          <a:bodyPr wrap="none">
            <a:spAutoFit/>
          </a:bodyPr>
          <a:lstStyle/>
          <a:p>
            <a:pPr defTabSz="685800" rtl="0">
              <a:defRPr/>
            </a:pP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kern="1200"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 </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10" name="矩形 9">
            <a:extLst>
              <a:ext uri="{FF2B5EF4-FFF2-40B4-BE49-F238E27FC236}">
                <a16:creationId xmlns:a16="http://schemas.microsoft.com/office/drawing/2014/main" id="{45B2F774-194E-4726-89E5-716BF3C48B60}"/>
              </a:ext>
            </a:extLst>
          </p:cNvPr>
          <p:cNvSpPr/>
          <p:nvPr/>
        </p:nvSpPr>
        <p:spPr>
          <a:xfrm>
            <a:off x="3311478" y="3762345"/>
            <a:ext cx="1557671"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inh</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37888" name="矩形 37887">
            <a:extLst>
              <a:ext uri="{FF2B5EF4-FFF2-40B4-BE49-F238E27FC236}">
                <a16:creationId xmlns:a16="http://schemas.microsoft.com/office/drawing/2014/main" id="{890B9FA2-EE87-4B24-8A90-81C2BA75F4BA}"/>
              </a:ext>
            </a:extLst>
          </p:cNvPr>
          <p:cNvSpPr/>
          <p:nvPr/>
        </p:nvSpPr>
        <p:spPr>
          <a:xfrm>
            <a:off x="6128180" y="3776007"/>
            <a:ext cx="1505540" cy="323165"/>
          </a:xfrm>
          <a:prstGeom prst="rect">
            <a:avLst/>
          </a:prstGeom>
        </p:spPr>
        <p:txBody>
          <a:bodyPr wrap="none">
            <a:spAutoFit/>
          </a:bodyPr>
          <a:lstStyle/>
          <a:p>
            <a:pPr marL="342892" indent="-342892" defTabSz="914378" rtl="0"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T.val</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a:t>
            </a:r>
            <a:r>
              <a:rPr lang="en-US" altLang="zh-CN" sz="1500" b="1" i="1" kern="1200" dirty="0" err="1">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.syn</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75" name="矩形 74">
            <a:extLst>
              <a:ext uri="{FF2B5EF4-FFF2-40B4-BE49-F238E27FC236}">
                <a16:creationId xmlns:a16="http://schemas.microsoft.com/office/drawing/2014/main" id="{16DF4C1D-377E-40FA-A384-97B47EAF4CB8}"/>
              </a:ext>
            </a:extLst>
          </p:cNvPr>
          <p:cNvSpPr/>
          <p:nvPr/>
        </p:nvSpPr>
        <p:spPr>
          <a:xfrm>
            <a:off x="2621656" y="4618451"/>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cxnSp>
        <p:nvCxnSpPr>
          <p:cNvPr id="37890" name="直接箭头连接符 37889">
            <a:extLst>
              <a:ext uri="{FF2B5EF4-FFF2-40B4-BE49-F238E27FC236}">
                <a16:creationId xmlns:a16="http://schemas.microsoft.com/office/drawing/2014/main" id="{8A455B10-95DC-4067-A5C0-2123753472C9}"/>
              </a:ext>
            </a:extLst>
          </p:cNvPr>
          <p:cNvCxnSpPr/>
          <p:nvPr/>
        </p:nvCxnSpPr>
        <p:spPr>
          <a:xfrm flipV="1">
            <a:off x="5740176" y="4911624"/>
            <a:ext cx="277332" cy="269559"/>
          </a:xfrm>
          <a:prstGeom prst="straightConnector1">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45" name="矩形 56">
            <a:extLst>
              <a:ext uri="{FF2B5EF4-FFF2-40B4-BE49-F238E27FC236}">
                <a16:creationId xmlns:a16="http://schemas.microsoft.com/office/drawing/2014/main" id="{CFA74744-B2D9-4B80-B1F4-28EAD8807DBB}"/>
              </a:ext>
            </a:extLst>
          </p:cNvPr>
          <p:cNvSpPr>
            <a:spLocks noChangeArrowheads="1"/>
          </p:cNvSpPr>
          <p:nvPr/>
        </p:nvSpPr>
        <p:spPr bwMode="auto">
          <a:xfrm>
            <a:off x="4922724" y="3817698"/>
            <a:ext cx="6254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err="1">
                <a:solidFill>
                  <a:srgbClr val="FF0000"/>
                </a:solidFill>
                <a:latin typeface="Times New Roman" panose="02020603050405020304" pitchFamily="18" charset="0"/>
                <a:ea typeface="宋体" panose="02010600030101010101" pitchFamily="2" charset="-122"/>
                <a:sym typeface="Symbol" panose="05050102010706020507" pitchFamily="18" charset="2"/>
              </a:rPr>
              <a:t>inh</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6" name="矩形 56">
            <a:extLst>
              <a:ext uri="{FF2B5EF4-FFF2-40B4-BE49-F238E27FC236}">
                <a16:creationId xmlns:a16="http://schemas.microsoft.com/office/drawing/2014/main" id="{E8B7BF26-CD8C-407F-A211-6EEAB1FB423C}"/>
              </a:ext>
            </a:extLst>
          </p:cNvPr>
          <p:cNvSpPr>
            <a:spLocks noChangeArrowheads="1"/>
          </p:cNvSpPr>
          <p:nvPr/>
        </p:nvSpPr>
        <p:spPr bwMode="auto">
          <a:xfrm>
            <a:off x="4802021" y="4742175"/>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7" name="矩形 56">
            <a:extLst>
              <a:ext uri="{FF2B5EF4-FFF2-40B4-BE49-F238E27FC236}">
                <a16:creationId xmlns:a16="http://schemas.microsoft.com/office/drawing/2014/main" id="{0EB6DBB9-F3F8-43D7-BAFC-AEF6BE33751C}"/>
              </a:ext>
            </a:extLst>
          </p:cNvPr>
          <p:cNvSpPr>
            <a:spLocks noChangeArrowheads="1"/>
          </p:cNvSpPr>
          <p:nvPr/>
        </p:nvSpPr>
        <p:spPr bwMode="auto">
          <a:xfrm>
            <a:off x="6574859" y="4774544"/>
            <a:ext cx="7152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err="1">
                <a:solidFill>
                  <a:srgbClr val="FF0000"/>
                </a:solidFill>
                <a:latin typeface="Times New Roman" panose="02020603050405020304" pitchFamily="18" charset="0"/>
                <a:ea typeface="宋体" panose="02010600030101010101" pitchFamily="2" charset="-122"/>
                <a:sym typeface="Symbol" panose="05050102010706020507" pitchFamily="18" charset="2"/>
              </a:rPr>
              <a:t>inh</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4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15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8" name="矩形 47">
            <a:extLst>
              <a:ext uri="{FF2B5EF4-FFF2-40B4-BE49-F238E27FC236}">
                <a16:creationId xmlns:a16="http://schemas.microsoft.com/office/drawing/2014/main" id="{27F260DE-E7E3-4CF6-9CE0-F10A0A3B8AA5}"/>
              </a:ext>
            </a:extLst>
          </p:cNvPr>
          <p:cNvSpPr/>
          <p:nvPr/>
        </p:nvSpPr>
        <p:spPr>
          <a:xfrm>
            <a:off x="7391754" y="4608752"/>
            <a:ext cx="1636987" cy="323165"/>
          </a:xfrm>
          <a:prstGeom prst="rect">
            <a:avLst/>
          </a:prstGeom>
        </p:spPr>
        <p:txBody>
          <a:bodyPr wrap="none">
            <a:spAutoFit/>
          </a:bodyPr>
          <a:lstStyle/>
          <a:p>
            <a:pPr marL="342892" indent="-342892" defTabSz="914378"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51" name="图片 50">
            <a:extLst>
              <a:ext uri="{FF2B5EF4-FFF2-40B4-BE49-F238E27FC236}">
                <a16:creationId xmlns:a16="http://schemas.microsoft.com/office/drawing/2014/main" id="{113E1831-A123-46B1-B3D4-0594C1EA842D}"/>
              </a:ext>
            </a:extLst>
          </p:cNvPr>
          <p:cNvPicPr>
            <a:picLocks noChangeAspect="1"/>
          </p:cNvPicPr>
          <p:nvPr/>
        </p:nvPicPr>
        <p:blipFill>
          <a:blip r:embed="rId3"/>
          <a:stretch>
            <a:fillRect/>
          </a:stretch>
        </p:blipFill>
        <p:spPr bwMode="auto">
          <a:xfrm>
            <a:off x="497236" y="288443"/>
            <a:ext cx="3375510" cy="1980838"/>
          </a:xfrm>
          <a:prstGeom prst="rect">
            <a:avLst/>
          </a:prstGeom>
        </p:spPr>
      </p:pic>
      <p:sp>
        <p:nvSpPr>
          <p:cNvPr id="3" name="日期占位符 2">
            <a:extLst>
              <a:ext uri="{FF2B5EF4-FFF2-40B4-BE49-F238E27FC236}">
                <a16:creationId xmlns:a16="http://schemas.microsoft.com/office/drawing/2014/main" id="{BE6C8D19-CE9C-0217-EDF0-8BC48A98612B}"/>
              </a:ext>
            </a:extLst>
          </p:cNvPr>
          <p:cNvSpPr>
            <a:spLocks noGrp="1"/>
          </p:cNvSpPr>
          <p:nvPr>
            <p:ph type="dt" sz="half" idx="10"/>
          </p:nvPr>
        </p:nvSpPr>
        <p:spPr/>
        <p:txBody>
          <a:bodyPr/>
          <a:lstStyle/>
          <a:p>
            <a:pPr>
              <a:defRPr/>
            </a:pPr>
            <a:r>
              <a:rPr lang="en-US" altLang="zh-CN"/>
              <a:t>Fall 2024</a:t>
            </a:r>
            <a:endParaRPr lang="en-US"/>
          </a:p>
        </p:txBody>
      </p:sp>
      <p:sp>
        <p:nvSpPr>
          <p:cNvPr id="4" name="页脚占位符 3">
            <a:extLst>
              <a:ext uri="{FF2B5EF4-FFF2-40B4-BE49-F238E27FC236}">
                <a16:creationId xmlns:a16="http://schemas.microsoft.com/office/drawing/2014/main" id="{D642709A-4588-390F-E636-16737456C4E0}"/>
              </a:ext>
            </a:extLst>
          </p:cNvPr>
          <p:cNvSpPr>
            <a:spLocks noGrp="1"/>
          </p:cNvSpPr>
          <p:nvPr>
            <p:ph type="ftr" sz="quarter" idx="11"/>
          </p:nvPr>
        </p:nvSpPr>
        <p:spPr/>
        <p:txBody>
          <a:bodyPr/>
          <a:lstStyle/>
          <a:p>
            <a:pPr>
              <a:defRPr/>
            </a:pPr>
            <a:r>
              <a:rPr lang="en-US"/>
              <a:t>BUPT Compilers</a:t>
            </a:r>
          </a:p>
        </p:txBody>
      </p:sp>
      <p:sp>
        <p:nvSpPr>
          <p:cNvPr id="5" name="灯片编号占位符 4">
            <a:extLst>
              <a:ext uri="{FF2B5EF4-FFF2-40B4-BE49-F238E27FC236}">
                <a16:creationId xmlns:a16="http://schemas.microsoft.com/office/drawing/2014/main" id="{00C4434E-9E89-530B-4DC9-EE23AEAFCD9F}"/>
              </a:ext>
            </a:extLst>
          </p:cNvPr>
          <p:cNvSpPr>
            <a:spLocks noGrp="1"/>
          </p:cNvSpPr>
          <p:nvPr>
            <p:ph type="sldNum" sz="quarter" idx="12"/>
          </p:nvPr>
        </p:nvSpPr>
        <p:spPr/>
        <p:txBody>
          <a:bodyPr/>
          <a:lstStyle/>
          <a:p>
            <a:pPr>
              <a:defRPr/>
            </a:pPr>
            <a:fld id="{2FBC720A-3716-234A-B2DF-CBC7E48049F5}" type="slidenum">
              <a:rPr lang="en-US" altLang="zh-CN" smtClean="0"/>
              <a:t>29</a:t>
            </a:fld>
            <a:endParaRPr lang="en-US" altLang="zh-CN"/>
          </a:p>
        </p:txBody>
      </p:sp>
    </p:spTree>
    <p:extLst>
      <p:ext uri="{BB962C8B-B14F-4D97-AF65-F5344CB8AC3E}">
        <p14:creationId xmlns:p14="http://schemas.microsoft.com/office/powerpoint/2010/main" val="600430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500" fill="hold"/>
                                        <p:tgtEl>
                                          <p:spTgt spid="37890"/>
                                        </p:tgtEl>
                                        <p:attrNameLst>
                                          <p:attrName>ppt_w</p:attrName>
                                        </p:attrNameLst>
                                      </p:cBhvr>
                                      <p:tavLst>
                                        <p:tav tm="0">
                                          <p:val>
                                            <p:fltVal val="0"/>
                                          </p:val>
                                        </p:tav>
                                        <p:tav tm="100000">
                                          <p:val>
                                            <p:strVal val="#ppt_w"/>
                                          </p:val>
                                        </p:tav>
                                      </p:tavLst>
                                    </p:anim>
                                    <p:anim calcmode="lin" valueType="num">
                                      <p:cBhvr>
                                        <p:cTn id="8" dur="500" fill="hold"/>
                                        <p:tgtEl>
                                          <p:spTgt spid="37890"/>
                                        </p:tgtEl>
                                        <p:attrNameLst>
                                          <p:attrName>ppt_h</p:attrName>
                                        </p:attrNameLst>
                                      </p:cBhvr>
                                      <p:tavLst>
                                        <p:tav tm="0">
                                          <p:val>
                                            <p:fltVal val="0"/>
                                          </p:val>
                                        </p:tav>
                                        <p:tav tm="100000">
                                          <p:val>
                                            <p:strVal val="#ppt_h"/>
                                          </p:val>
                                        </p:tav>
                                      </p:tavLst>
                                    </p:anim>
                                    <p:animEffect transition="in" filter="fade">
                                      <p:cBhvr>
                                        <p:cTn id="9" dur="500"/>
                                        <p:tgtEl>
                                          <p:spTgt spid="3789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7"/>
                                        </p:tgtEl>
                                        <p:attrNameLst>
                                          <p:attrName>style.visibility</p:attrName>
                                        </p:attrNameLst>
                                      </p:cBhvr>
                                      <p:to>
                                        <p:strVal val="visible"/>
                                      </p:to>
                                    </p:set>
                                    <p:anim calcmode="lin" valueType="num">
                                      <p:cBhvr>
                                        <p:cTn id="14" dur="500" fill="hold"/>
                                        <p:tgtEl>
                                          <p:spTgt spid="47"/>
                                        </p:tgtEl>
                                        <p:attrNameLst>
                                          <p:attrName>ppt_w</p:attrName>
                                        </p:attrNameLst>
                                      </p:cBhvr>
                                      <p:tavLst>
                                        <p:tav tm="0">
                                          <p:val>
                                            <p:fltVal val="0"/>
                                          </p:val>
                                        </p:tav>
                                        <p:tav tm="100000">
                                          <p:val>
                                            <p:strVal val="#ppt_w"/>
                                          </p:val>
                                        </p:tav>
                                      </p:tavLst>
                                    </p:anim>
                                    <p:anim calcmode="lin" valueType="num">
                                      <p:cBhvr>
                                        <p:cTn id="15" dur="500" fill="hold"/>
                                        <p:tgtEl>
                                          <p:spTgt spid="47"/>
                                        </p:tgtEl>
                                        <p:attrNameLst>
                                          <p:attrName>ppt_h</p:attrName>
                                        </p:attrNameLst>
                                      </p:cBhvr>
                                      <p:tavLst>
                                        <p:tav tm="0">
                                          <p:val>
                                            <p:fltVal val="0"/>
                                          </p:val>
                                        </p:tav>
                                        <p:tav tm="100000">
                                          <p:val>
                                            <p:strVal val="#ppt_h"/>
                                          </p:val>
                                        </p:tav>
                                      </p:tavLst>
                                    </p:anim>
                                    <p:animEffect transition="in" filter="fade">
                                      <p:cBhvr>
                                        <p:cTn id="1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7">
            <a:extLst>
              <a:ext uri="{FF2B5EF4-FFF2-40B4-BE49-F238E27FC236}">
                <a16:creationId xmlns:a16="http://schemas.microsoft.com/office/drawing/2014/main" id="{77924812-D949-48BA-9002-4B8B8C22793E}"/>
              </a:ext>
            </a:extLst>
          </p:cNvPr>
          <p:cNvSpPr>
            <a:spLocks noChangeArrowheads="1"/>
          </p:cNvSpPr>
          <p:nvPr/>
        </p:nvSpPr>
        <p:spPr bwMode="auto">
          <a:xfrm>
            <a:off x="338139" y="4424707"/>
            <a:ext cx="2136775"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20000"/>
              </a:spcBef>
              <a:spcAft>
                <a:spcPct val="0"/>
              </a:spcAft>
              <a:defRPr/>
            </a:pPr>
            <a:r>
              <a:rPr kumimoji="1" lang="en-US" altLang="zh-CN" sz="2000" kern="1200" dirty="0">
                <a:solidFill>
                  <a:srgbClr val="000000"/>
                </a:solidFill>
                <a:latin typeface="Times New Roman" panose="02020603050405020304" pitchFamily="18" charset="0"/>
              </a:rPr>
              <a:t>3   *   5</a:t>
            </a:r>
          </a:p>
          <a:p>
            <a:pPr defTabSz="914378" rtl="0" fontAlgn="base">
              <a:spcBef>
                <a:spcPct val="20000"/>
              </a:spcBef>
              <a:spcAft>
                <a:spcPct val="0"/>
              </a:spcAft>
              <a:defRPr/>
            </a:pPr>
            <a:r>
              <a:rPr lang="en-US" altLang="zh-CN" sz="2000" kern="12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digit </a:t>
            </a:r>
            <a:endParaRPr kumimoji="1" lang="en-US" altLang="zh-CN" sz="2000" kern="1200" dirty="0">
              <a:solidFill>
                <a:srgbClr val="000000"/>
              </a:solidFill>
              <a:latin typeface="Times New Roman" panose="02020603050405020304" pitchFamily="18" charset="0"/>
            </a:endParaRPr>
          </a:p>
          <a:p>
            <a:pPr defTabSz="914378" rtl="0" fontAlgn="base">
              <a:spcBef>
                <a:spcPct val="20000"/>
              </a:spcBef>
              <a:spcAft>
                <a:spcPct val="0"/>
              </a:spcAft>
              <a:defRPr/>
            </a:pPr>
            <a:endParaRPr kumimoji="1" lang="en-US" altLang="zh-CN" sz="2000" kern="1200" dirty="0">
              <a:solidFill>
                <a:srgbClr val="000000"/>
              </a:solidFill>
              <a:latin typeface="Times New Roman" panose="02020603050405020304" pitchFamily="18" charset="0"/>
              <a:sym typeface="Symbol" panose="05050102010706020507" pitchFamily="18" charset="2"/>
            </a:endParaRPr>
          </a:p>
        </p:txBody>
      </p:sp>
      <p:grpSp>
        <p:nvGrpSpPr>
          <p:cNvPr id="22" name="组合 21">
            <a:extLst>
              <a:ext uri="{FF2B5EF4-FFF2-40B4-BE49-F238E27FC236}">
                <a16:creationId xmlns:a16="http://schemas.microsoft.com/office/drawing/2014/main" id="{3114F0BA-5439-4963-807B-64545B8027A7}"/>
              </a:ext>
            </a:extLst>
          </p:cNvPr>
          <p:cNvGrpSpPr>
            <a:grpSpLocks/>
          </p:cNvGrpSpPr>
          <p:nvPr/>
        </p:nvGrpSpPr>
        <p:grpSpPr bwMode="auto">
          <a:xfrm>
            <a:off x="2287506" y="2989988"/>
            <a:ext cx="3452670" cy="1123239"/>
            <a:chOff x="3853075" y="810394"/>
            <a:chExt cx="3453528" cy="1124157"/>
          </a:xfrm>
        </p:grpSpPr>
        <p:sp>
          <p:nvSpPr>
            <p:cNvPr id="23" name="Rectangle 6">
              <a:extLst>
                <a:ext uri="{FF2B5EF4-FFF2-40B4-BE49-F238E27FC236}">
                  <a16:creationId xmlns:a16="http://schemas.microsoft.com/office/drawing/2014/main" id="{86C738E7-0C6E-4F7C-83C5-5E2C34595374}"/>
                </a:ext>
              </a:extLst>
            </p:cNvPr>
            <p:cNvSpPr>
              <a:spLocks noChangeArrowheads="1"/>
            </p:cNvSpPr>
            <p:nvPr/>
          </p:nvSpPr>
          <p:spPr bwMode="auto">
            <a:xfrm>
              <a:off x="3853075" y="1586382"/>
              <a:ext cx="271077" cy="348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24" name="Rectangle 9">
              <a:extLst>
                <a:ext uri="{FF2B5EF4-FFF2-40B4-BE49-F238E27FC236}">
                  <a16:creationId xmlns:a16="http://schemas.microsoft.com/office/drawing/2014/main" id="{F0740B2D-5ABD-466F-A0E6-17C9A80EF2CA}"/>
                </a:ext>
              </a:extLst>
            </p:cNvPr>
            <p:cNvSpPr>
              <a:spLocks noChangeArrowheads="1"/>
            </p:cNvSpPr>
            <p:nvPr/>
          </p:nvSpPr>
          <p:spPr bwMode="auto">
            <a:xfrm>
              <a:off x="6928578" y="1569882"/>
              <a:ext cx="378025"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5" name="Rectangle 10">
              <a:extLst>
                <a:ext uri="{FF2B5EF4-FFF2-40B4-BE49-F238E27FC236}">
                  <a16:creationId xmlns:a16="http://schemas.microsoft.com/office/drawing/2014/main" id="{53E10D79-0F20-4C18-8650-A78686F478C3}"/>
                </a:ext>
              </a:extLst>
            </p:cNvPr>
            <p:cNvSpPr>
              <a:spLocks noChangeArrowheads="1"/>
            </p:cNvSpPr>
            <p:nvPr/>
          </p:nvSpPr>
          <p:spPr bwMode="auto">
            <a:xfrm>
              <a:off x="5272107" y="810394"/>
              <a:ext cx="417513"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6" name="Line 11">
              <a:extLst>
                <a:ext uri="{FF2B5EF4-FFF2-40B4-BE49-F238E27FC236}">
                  <a16:creationId xmlns:a16="http://schemas.microsoft.com/office/drawing/2014/main" id="{87A27C41-914D-4B9A-9B7D-433AD6FBB778}"/>
                </a:ext>
              </a:extLst>
            </p:cNvPr>
            <p:cNvSpPr>
              <a:spLocks noChangeShapeType="1"/>
            </p:cNvSpPr>
            <p:nvPr/>
          </p:nvSpPr>
          <p:spPr bwMode="auto">
            <a:xfrm flipH="1">
              <a:off x="4099264" y="1172486"/>
              <a:ext cx="1381600" cy="39997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27" name="Line 12">
              <a:extLst>
                <a:ext uri="{FF2B5EF4-FFF2-40B4-BE49-F238E27FC236}">
                  <a16:creationId xmlns:a16="http://schemas.microsoft.com/office/drawing/2014/main" id="{CB27928E-1E8A-498B-AE9D-8CCBF45B76C8}"/>
                </a:ext>
              </a:extLst>
            </p:cNvPr>
            <p:cNvSpPr>
              <a:spLocks noChangeShapeType="1"/>
            </p:cNvSpPr>
            <p:nvPr/>
          </p:nvSpPr>
          <p:spPr bwMode="auto">
            <a:xfrm>
              <a:off x="5438709" y="1192035"/>
              <a:ext cx="1797357" cy="385473"/>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28" name="组合 124933">
            <a:extLst>
              <a:ext uri="{FF2B5EF4-FFF2-40B4-BE49-F238E27FC236}">
                <a16:creationId xmlns:a16="http://schemas.microsoft.com/office/drawing/2014/main" id="{C987E98D-3898-4D56-AAA1-BF361293CB52}"/>
              </a:ext>
            </a:extLst>
          </p:cNvPr>
          <p:cNvGrpSpPr>
            <a:grpSpLocks/>
          </p:cNvGrpSpPr>
          <p:nvPr/>
        </p:nvGrpSpPr>
        <p:grpSpPr bwMode="auto">
          <a:xfrm>
            <a:off x="4435876" y="4191537"/>
            <a:ext cx="3059096" cy="796271"/>
            <a:chOff x="7193292" y="2013704"/>
            <a:chExt cx="1929563" cy="794905"/>
          </a:xfrm>
        </p:grpSpPr>
        <p:sp>
          <p:nvSpPr>
            <p:cNvPr id="29" name="Line 8">
              <a:extLst>
                <a:ext uri="{FF2B5EF4-FFF2-40B4-BE49-F238E27FC236}">
                  <a16:creationId xmlns:a16="http://schemas.microsoft.com/office/drawing/2014/main" id="{769042D8-75A4-4D1E-87D0-92D0487DCE94}"/>
                </a:ext>
              </a:extLst>
            </p:cNvPr>
            <p:cNvSpPr>
              <a:spLocks noChangeShapeType="1"/>
            </p:cNvSpPr>
            <p:nvPr/>
          </p:nvSpPr>
          <p:spPr bwMode="auto">
            <a:xfrm flipV="1">
              <a:off x="7540792" y="2030902"/>
              <a:ext cx="262473" cy="45032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0" name="Text Box 13">
              <a:extLst>
                <a:ext uri="{FF2B5EF4-FFF2-40B4-BE49-F238E27FC236}">
                  <a16:creationId xmlns:a16="http://schemas.microsoft.com/office/drawing/2014/main" id="{25AA22B6-F143-4394-B0C7-68706BC57A49}"/>
                </a:ext>
              </a:extLst>
            </p:cNvPr>
            <p:cNvSpPr txBox="1">
              <a:spLocks noChangeArrowheads="1"/>
            </p:cNvSpPr>
            <p:nvPr/>
          </p:nvSpPr>
          <p:spPr bwMode="auto">
            <a:xfrm>
              <a:off x="7193292" y="2461322"/>
              <a:ext cx="269875"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50000"/>
                </a:spcBef>
                <a:spcAft>
                  <a:spcPct val="0"/>
                </a:spcAft>
                <a:defRPr/>
              </a:pPr>
              <a:r>
                <a:rPr kumimoji="1" lang="zh-CN" altLang="en-US" kern="1200" dirty="0">
                  <a:solidFill>
                    <a:prstClr val="black"/>
                  </a:solidFill>
                  <a:latin typeface="Times New Roman" panose="02020603050405020304" pitchFamily="18" charset="0"/>
                </a:rPr>
                <a:t>*</a:t>
              </a:r>
            </a:p>
          </p:txBody>
        </p:sp>
        <p:sp>
          <p:nvSpPr>
            <p:cNvPr id="31" name="Line 11">
              <a:extLst>
                <a:ext uri="{FF2B5EF4-FFF2-40B4-BE49-F238E27FC236}">
                  <a16:creationId xmlns:a16="http://schemas.microsoft.com/office/drawing/2014/main" id="{55C4C488-407D-463E-9CE4-1C1DC6CF6E9A}"/>
                </a:ext>
              </a:extLst>
            </p:cNvPr>
            <p:cNvSpPr>
              <a:spLocks noChangeShapeType="1"/>
            </p:cNvSpPr>
            <p:nvPr/>
          </p:nvSpPr>
          <p:spPr bwMode="auto">
            <a:xfrm flipH="1">
              <a:off x="7299098" y="2013704"/>
              <a:ext cx="522562" cy="41553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3" name="Rectangle 6">
              <a:extLst>
                <a:ext uri="{FF2B5EF4-FFF2-40B4-BE49-F238E27FC236}">
                  <a16:creationId xmlns:a16="http://schemas.microsoft.com/office/drawing/2014/main" id="{588DBCF3-8D0C-4583-88DF-0AEE494EC03F}"/>
                </a:ext>
              </a:extLst>
            </p:cNvPr>
            <p:cNvSpPr>
              <a:spLocks noChangeArrowheads="1"/>
            </p:cNvSpPr>
            <p:nvPr/>
          </p:nvSpPr>
          <p:spPr bwMode="auto">
            <a:xfrm>
              <a:off x="7299099" y="2431251"/>
              <a:ext cx="314446"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34" name="Rectangle 9">
              <a:extLst>
                <a:ext uri="{FF2B5EF4-FFF2-40B4-BE49-F238E27FC236}">
                  <a16:creationId xmlns:a16="http://schemas.microsoft.com/office/drawing/2014/main" id="{5DBD9EBC-5EDA-410F-AC0E-F4BE3362D896}"/>
                </a:ext>
              </a:extLst>
            </p:cNvPr>
            <p:cNvSpPr>
              <a:spLocks noChangeArrowheads="1"/>
            </p:cNvSpPr>
            <p:nvPr/>
          </p:nvSpPr>
          <p:spPr bwMode="auto">
            <a:xfrm>
              <a:off x="8759697" y="2431251"/>
              <a:ext cx="363158"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32" name="Line 12">
              <a:extLst>
                <a:ext uri="{FF2B5EF4-FFF2-40B4-BE49-F238E27FC236}">
                  <a16:creationId xmlns:a16="http://schemas.microsoft.com/office/drawing/2014/main" id="{CA7E7E12-3212-47EB-AABE-12C1E218705B}"/>
                </a:ext>
              </a:extLst>
            </p:cNvPr>
            <p:cNvSpPr>
              <a:spLocks noChangeShapeType="1"/>
            </p:cNvSpPr>
            <p:nvPr/>
          </p:nvSpPr>
          <p:spPr bwMode="auto">
            <a:xfrm>
              <a:off x="7803265" y="2016342"/>
              <a:ext cx="1097075" cy="46488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35" name="组合 34">
            <a:extLst>
              <a:ext uri="{FF2B5EF4-FFF2-40B4-BE49-F238E27FC236}">
                <a16:creationId xmlns:a16="http://schemas.microsoft.com/office/drawing/2014/main" id="{19404285-1C12-4308-A279-E04202685F5F}"/>
              </a:ext>
            </a:extLst>
          </p:cNvPr>
          <p:cNvGrpSpPr>
            <a:grpSpLocks/>
          </p:cNvGrpSpPr>
          <p:nvPr/>
        </p:nvGrpSpPr>
        <p:grpSpPr bwMode="auto">
          <a:xfrm>
            <a:off x="7016344" y="5037594"/>
            <a:ext cx="269626" cy="699538"/>
            <a:chOff x="8658440" y="2859782"/>
            <a:chExt cx="269377" cy="698404"/>
          </a:xfrm>
        </p:grpSpPr>
        <p:sp>
          <p:nvSpPr>
            <p:cNvPr id="36" name="Line 5">
              <a:extLst>
                <a:ext uri="{FF2B5EF4-FFF2-40B4-BE49-F238E27FC236}">
                  <a16:creationId xmlns:a16="http://schemas.microsoft.com/office/drawing/2014/main" id="{8E5D0A80-B93F-479E-A15F-942508025069}"/>
                </a:ext>
              </a:extLst>
            </p:cNvPr>
            <p:cNvSpPr>
              <a:spLocks noChangeShapeType="1"/>
            </p:cNvSpPr>
            <p:nvPr/>
          </p:nvSpPr>
          <p:spPr bwMode="auto">
            <a:xfrm flipV="1">
              <a:off x="8820472"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7" name="矩形 3">
              <a:extLst>
                <a:ext uri="{FF2B5EF4-FFF2-40B4-BE49-F238E27FC236}">
                  <a16:creationId xmlns:a16="http://schemas.microsoft.com/office/drawing/2014/main" id="{45E6BD9B-3664-4C51-B7FA-BCAEEA94ED72}"/>
                </a:ext>
              </a:extLst>
            </p:cNvPr>
            <p:cNvSpPr>
              <a:spLocks noChangeArrowheads="1"/>
            </p:cNvSpPr>
            <p:nvPr/>
          </p:nvSpPr>
          <p:spPr bwMode="auto">
            <a:xfrm>
              <a:off x="8658440" y="3220181"/>
              <a:ext cx="269377" cy="33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lang="el-GR" altLang="zh-CN" sz="1600" b="1" i="1" kern="12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ε</a:t>
              </a:r>
              <a:endParaRPr lang="zh-CN" altLang="en-US" b="1" kern="1200">
                <a:solidFill>
                  <a:srgbClr val="000000"/>
                </a:solidFill>
                <a:latin typeface="Tahoma" panose="020B0604030504040204" pitchFamily="34" charset="0"/>
                <a:ea typeface="宋体" panose="02010600030101010101" pitchFamily="2" charset="-122"/>
              </a:endParaRPr>
            </a:p>
          </p:txBody>
        </p:sp>
      </p:grpSp>
      <p:sp>
        <p:nvSpPr>
          <p:cNvPr id="40" name="矩形 56">
            <a:extLst>
              <a:ext uri="{FF2B5EF4-FFF2-40B4-BE49-F238E27FC236}">
                <a16:creationId xmlns:a16="http://schemas.microsoft.com/office/drawing/2014/main" id="{16B02699-238B-4D70-B370-9A88DF06D52A}"/>
              </a:ext>
            </a:extLst>
          </p:cNvPr>
          <p:cNvSpPr>
            <a:spLocks noChangeArrowheads="1"/>
          </p:cNvSpPr>
          <p:nvPr/>
        </p:nvSpPr>
        <p:spPr bwMode="auto">
          <a:xfrm>
            <a:off x="2405760" y="3943310"/>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grpSp>
        <p:nvGrpSpPr>
          <p:cNvPr id="41" name="组合 40">
            <a:extLst>
              <a:ext uri="{FF2B5EF4-FFF2-40B4-BE49-F238E27FC236}">
                <a16:creationId xmlns:a16="http://schemas.microsoft.com/office/drawing/2014/main" id="{E67498A6-9BE6-4957-BF74-59D078D6F677}"/>
              </a:ext>
            </a:extLst>
          </p:cNvPr>
          <p:cNvGrpSpPr>
            <a:grpSpLocks/>
          </p:cNvGrpSpPr>
          <p:nvPr/>
        </p:nvGrpSpPr>
        <p:grpSpPr bwMode="auto">
          <a:xfrm>
            <a:off x="2111841" y="4234426"/>
            <a:ext cx="585159" cy="967879"/>
            <a:chOff x="5811182" y="2030902"/>
            <a:chExt cx="584868" cy="967607"/>
          </a:xfrm>
        </p:grpSpPr>
        <p:sp>
          <p:nvSpPr>
            <p:cNvPr id="42" name="Rectangle 2">
              <a:extLst>
                <a:ext uri="{FF2B5EF4-FFF2-40B4-BE49-F238E27FC236}">
                  <a16:creationId xmlns:a16="http://schemas.microsoft.com/office/drawing/2014/main" id="{F3D1C0B1-500B-4108-BED2-EE04E9E417BF}"/>
                </a:ext>
              </a:extLst>
            </p:cNvPr>
            <p:cNvSpPr>
              <a:spLocks noChangeArrowheads="1"/>
            </p:cNvSpPr>
            <p:nvPr/>
          </p:nvSpPr>
          <p:spPr bwMode="auto">
            <a:xfrm>
              <a:off x="5811182" y="2373802"/>
              <a:ext cx="584868" cy="6247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(3)</a:t>
              </a:r>
            </a:p>
          </p:txBody>
        </p:sp>
        <p:sp>
          <p:nvSpPr>
            <p:cNvPr id="43" name="Line 5">
              <a:extLst>
                <a:ext uri="{FF2B5EF4-FFF2-40B4-BE49-F238E27FC236}">
                  <a16:creationId xmlns:a16="http://schemas.microsoft.com/office/drawing/2014/main" id="{B6D916F7-5062-4576-A4CD-F7A0487B45ED}"/>
                </a:ext>
              </a:extLst>
            </p:cNvPr>
            <p:cNvSpPr>
              <a:spLocks noChangeShapeType="1"/>
            </p:cNvSpPr>
            <p:nvPr/>
          </p:nvSpPr>
          <p:spPr bwMode="auto">
            <a:xfrm flipV="1">
              <a:off x="6103416" y="203090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dirty="0">
                <a:solidFill>
                  <a:prstClr val="black"/>
                </a:solidFill>
                <a:latin typeface="Tahoma" panose="020B0604030504040204" pitchFamily="34" charset="0"/>
                <a:ea typeface="宋体" panose="02010600030101010101" pitchFamily="2" charset="-122"/>
              </a:endParaRPr>
            </a:p>
          </p:txBody>
        </p:sp>
      </p:grpSp>
      <p:grpSp>
        <p:nvGrpSpPr>
          <p:cNvPr id="52" name="组合 51">
            <a:extLst>
              <a:ext uri="{FF2B5EF4-FFF2-40B4-BE49-F238E27FC236}">
                <a16:creationId xmlns:a16="http://schemas.microsoft.com/office/drawing/2014/main" id="{E27A1DBD-1164-4229-9D34-B15423EBFA86}"/>
              </a:ext>
            </a:extLst>
          </p:cNvPr>
          <p:cNvGrpSpPr>
            <a:grpSpLocks/>
          </p:cNvGrpSpPr>
          <p:nvPr/>
        </p:nvGrpSpPr>
        <p:grpSpPr bwMode="auto">
          <a:xfrm>
            <a:off x="4602609" y="4972388"/>
            <a:ext cx="585159" cy="1001164"/>
            <a:chOff x="7384879" y="2859782"/>
            <a:chExt cx="585243" cy="1000981"/>
          </a:xfrm>
        </p:grpSpPr>
        <p:sp>
          <p:nvSpPr>
            <p:cNvPr id="53" name="Rectangle 7">
              <a:extLst>
                <a:ext uri="{FF2B5EF4-FFF2-40B4-BE49-F238E27FC236}">
                  <a16:creationId xmlns:a16="http://schemas.microsoft.com/office/drawing/2014/main" id="{655D5F61-E656-4B08-9E18-1ADC4FA0E195}"/>
                </a:ext>
              </a:extLst>
            </p:cNvPr>
            <p:cNvSpPr>
              <a:spLocks noChangeArrowheads="1"/>
            </p:cNvSpPr>
            <p:nvPr/>
          </p:nvSpPr>
          <p:spPr bwMode="auto">
            <a:xfrm>
              <a:off x="7384879" y="3235994"/>
              <a:ext cx="585243" cy="6247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(5)</a:t>
              </a:r>
            </a:p>
          </p:txBody>
        </p:sp>
        <p:sp>
          <p:nvSpPr>
            <p:cNvPr id="54" name="Line 5">
              <a:extLst>
                <a:ext uri="{FF2B5EF4-FFF2-40B4-BE49-F238E27FC236}">
                  <a16:creationId xmlns:a16="http://schemas.microsoft.com/office/drawing/2014/main" id="{B5E9E43D-9CF5-4816-9D4E-0B577BF44101}"/>
                </a:ext>
              </a:extLst>
            </p:cNvPr>
            <p:cNvSpPr>
              <a:spLocks noChangeShapeType="1"/>
            </p:cNvSpPr>
            <p:nvPr/>
          </p:nvSpPr>
          <p:spPr bwMode="auto">
            <a:xfrm flipV="1">
              <a:off x="7664313"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sp>
        <p:nvSpPr>
          <p:cNvPr id="2" name="矩形 1">
            <a:extLst>
              <a:ext uri="{FF2B5EF4-FFF2-40B4-BE49-F238E27FC236}">
                <a16:creationId xmlns:a16="http://schemas.microsoft.com/office/drawing/2014/main" id="{DA6DEA27-2984-4CBD-B134-9C7C1AFB2DD9}"/>
              </a:ext>
            </a:extLst>
          </p:cNvPr>
          <p:cNvSpPr/>
          <p:nvPr/>
        </p:nvSpPr>
        <p:spPr>
          <a:xfrm>
            <a:off x="5274428" y="5406742"/>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sp>
        <p:nvSpPr>
          <p:cNvPr id="7" name="矩形 6">
            <a:extLst>
              <a:ext uri="{FF2B5EF4-FFF2-40B4-BE49-F238E27FC236}">
                <a16:creationId xmlns:a16="http://schemas.microsoft.com/office/drawing/2014/main" id="{720406B1-D6F3-41A5-90AF-1E3404BCEFDC}"/>
              </a:ext>
            </a:extLst>
          </p:cNvPr>
          <p:cNvSpPr/>
          <p:nvPr/>
        </p:nvSpPr>
        <p:spPr>
          <a:xfrm>
            <a:off x="7256393" y="5398579"/>
            <a:ext cx="1620957"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200" kern="1200" dirty="0">
              <a:solidFill>
                <a:prstClr val="black"/>
              </a:solidFill>
              <a:latin typeface="Candara"/>
              <a:ea typeface="华文楷体" panose="02010600040101010101" pitchFamily="2" charset="-122"/>
            </a:endParaRPr>
          </a:p>
        </p:txBody>
      </p:sp>
      <p:sp>
        <p:nvSpPr>
          <p:cNvPr id="8" name="矩形 7">
            <a:extLst>
              <a:ext uri="{FF2B5EF4-FFF2-40B4-BE49-F238E27FC236}">
                <a16:creationId xmlns:a16="http://schemas.microsoft.com/office/drawing/2014/main" id="{5D9B4699-2F7A-4771-B148-1C65D8C96225}"/>
              </a:ext>
            </a:extLst>
          </p:cNvPr>
          <p:cNvSpPr/>
          <p:nvPr/>
        </p:nvSpPr>
        <p:spPr>
          <a:xfrm>
            <a:off x="4999091" y="4624503"/>
            <a:ext cx="2301464" cy="323165"/>
          </a:xfrm>
          <a:prstGeom prst="rect">
            <a:avLst/>
          </a:prstGeom>
        </p:spPr>
        <p:txBody>
          <a:bodyPr wrap="none">
            <a:spAutoFit/>
          </a:bodyPr>
          <a:lstStyle/>
          <a:p>
            <a:pPr defTabSz="685800" rtl="0">
              <a:defRPr/>
            </a:pP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kern="1200"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 </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10" name="矩形 9">
            <a:extLst>
              <a:ext uri="{FF2B5EF4-FFF2-40B4-BE49-F238E27FC236}">
                <a16:creationId xmlns:a16="http://schemas.microsoft.com/office/drawing/2014/main" id="{45B2F774-194E-4726-89E5-716BF3C48B60}"/>
              </a:ext>
            </a:extLst>
          </p:cNvPr>
          <p:cNvSpPr/>
          <p:nvPr/>
        </p:nvSpPr>
        <p:spPr>
          <a:xfrm>
            <a:off x="3311478" y="3762345"/>
            <a:ext cx="1557671"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inh</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37888" name="矩形 37887">
            <a:extLst>
              <a:ext uri="{FF2B5EF4-FFF2-40B4-BE49-F238E27FC236}">
                <a16:creationId xmlns:a16="http://schemas.microsoft.com/office/drawing/2014/main" id="{890B9FA2-EE87-4B24-8A90-81C2BA75F4BA}"/>
              </a:ext>
            </a:extLst>
          </p:cNvPr>
          <p:cNvSpPr/>
          <p:nvPr/>
        </p:nvSpPr>
        <p:spPr>
          <a:xfrm>
            <a:off x="6128180" y="3776007"/>
            <a:ext cx="1505540" cy="323165"/>
          </a:xfrm>
          <a:prstGeom prst="rect">
            <a:avLst/>
          </a:prstGeom>
        </p:spPr>
        <p:txBody>
          <a:bodyPr wrap="none">
            <a:spAutoFit/>
          </a:bodyPr>
          <a:lstStyle/>
          <a:p>
            <a:pPr marL="342892" indent="-342892" defTabSz="914378" rtl="0"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T.val</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a:t>
            </a:r>
            <a:r>
              <a:rPr lang="en-US" altLang="zh-CN" sz="1500" b="1" i="1" kern="1200" dirty="0" err="1">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.syn</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75" name="矩形 74">
            <a:extLst>
              <a:ext uri="{FF2B5EF4-FFF2-40B4-BE49-F238E27FC236}">
                <a16:creationId xmlns:a16="http://schemas.microsoft.com/office/drawing/2014/main" id="{16DF4C1D-377E-40FA-A384-97B47EAF4CB8}"/>
              </a:ext>
            </a:extLst>
          </p:cNvPr>
          <p:cNvSpPr/>
          <p:nvPr/>
        </p:nvSpPr>
        <p:spPr>
          <a:xfrm>
            <a:off x="2621656" y="4618451"/>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cxnSp>
        <p:nvCxnSpPr>
          <p:cNvPr id="37890" name="直接箭头连接符 37889">
            <a:extLst>
              <a:ext uri="{FF2B5EF4-FFF2-40B4-BE49-F238E27FC236}">
                <a16:creationId xmlns:a16="http://schemas.microsoft.com/office/drawing/2014/main" id="{8A455B10-95DC-4067-A5C0-2123753472C9}"/>
              </a:ext>
            </a:extLst>
          </p:cNvPr>
          <p:cNvCxnSpPr/>
          <p:nvPr/>
        </p:nvCxnSpPr>
        <p:spPr>
          <a:xfrm flipV="1">
            <a:off x="7822201" y="5682731"/>
            <a:ext cx="277332" cy="269559"/>
          </a:xfrm>
          <a:prstGeom prst="straightConnector1">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45" name="矩形 56">
            <a:extLst>
              <a:ext uri="{FF2B5EF4-FFF2-40B4-BE49-F238E27FC236}">
                <a16:creationId xmlns:a16="http://schemas.microsoft.com/office/drawing/2014/main" id="{CFA74744-B2D9-4B80-B1F4-28EAD8807DBB}"/>
              </a:ext>
            </a:extLst>
          </p:cNvPr>
          <p:cNvSpPr>
            <a:spLocks noChangeArrowheads="1"/>
          </p:cNvSpPr>
          <p:nvPr/>
        </p:nvSpPr>
        <p:spPr bwMode="auto">
          <a:xfrm>
            <a:off x="4922724" y="3817698"/>
            <a:ext cx="6254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err="1">
                <a:solidFill>
                  <a:srgbClr val="FF0000"/>
                </a:solidFill>
                <a:latin typeface="Times New Roman" panose="02020603050405020304" pitchFamily="18" charset="0"/>
                <a:ea typeface="宋体" panose="02010600030101010101" pitchFamily="2" charset="-122"/>
                <a:sym typeface="Symbol" panose="05050102010706020507" pitchFamily="18" charset="2"/>
              </a:rPr>
              <a:t>inh</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6" name="矩形 56">
            <a:extLst>
              <a:ext uri="{FF2B5EF4-FFF2-40B4-BE49-F238E27FC236}">
                <a16:creationId xmlns:a16="http://schemas.microsoft.com/office/drawing/2014/main" id="{E8B7BF26-CD8C-407F-A211-6EEAB1FB423C}"/>
              </a:ext>
            </a:extLst>
          </p:cNvPr>
          <p:cNvSpPr>
            <a:spLocks noChangeArrowheads="1"/>
          </p:cNvSpPr>
          <p:nvPr/>
        </p:nvSpPr>
        <p:spPr bwMode="auto">
          <a:xfrm>
            <a:off x="4802021" y="4742175"/>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7" name="矩形 56">
            <a:extLst>
              <a:ext uri="{FF2B5EF4-FFF2-40B4-BE49-F238E27FC236}">
                <a16:creationId xmlns:a16="http://schemas.microsoft.com/office/drawing/2014/main" id="{0EB6DBB9-F3F8-43D7-BAFC-AEF6BE33751C}"/>
              </a:ext>
            </a:extLst>
          </p:cNvPr>
          <p:cNvSpPr>
            <a:spLocks noChangeArrowheads="1"/>
          </p:cNvSpPr>
          <p:nvPr/>
        </p:nvSpPr>
        <p:spPr bwMode="auto">
          <a:xfrm>
            <a:off x="6574859" y="4774544"/>
            <a:ext cx="7152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err="1">
                <a:solidFill>
                  <a:srgbClr val="FF0000"/>
                </a:solidFill>
                <a:latin typeface="Times New Roman" panose="02020603050405020304" pitchFamily="18" charset="0"/>
                <a:ea typeface="宋体" panose="02010600030101010101" pitchFamily="2" charset="-122"/>
                <a:sym typeface="Symbol" panose="05050102010706020507" pitchFamily="18" charset="2"/>
              </a:rPr>
              <a:t>inh</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8" name="矩形 56">
            <a:extLst>
              <a:ext uri="{FF2B5EF4-FFF2-40B4-BE49-F238E27FC236}">
                <a16:creationId xmlns:a16="http://schemas.microsoft.com/office/drawing/2014/main" id="{2ECF8756-75CB-42DB-8FC5-462B1155110A}"/>
              </a:ext>
            </a:extLst>
          </p:cNvPr>
          <p:cNvSpPr>
            <a:spLocks noChangeArrowheads="1"/>
          </p:cNvSpPr>
          <p:nvPr/>
        </p:nvSpPr>
        <p:spPr bwMode="auto">
          <a:xfrm>
            <a:off x="7267863" y="4765810"/>
            <a:ext cx="7168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syn</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9" name="矩形 48">
            <a:extLst>
              <a:ext uri="{FF2B5EF4-FFF2-40B4-BE49-F238E27FC236}">
                <a16:creationId xmlns:a16="http://schemas.microsoft.com/office/drawing/2014/main" id="{B7CD0829-642B-4FF4-A420-6B882D704374}"/>
              </a:ext>
            </a:extLst>
          </p:cNvPr>
          <p:cNvSpPr/>
          <p:nvPr/>
        </p:nvSpPr>
        <p:spPr>
          <a:xfrm>
            <a:off x="7391754" y="4608752"/>
            <a:ext cx="1636987" cy="323165"/>
          </a:xfrm>
          <a:prstGeom prst="rect">
            <a:avLst/>
          </a:prstGeom>
        </p:spPr>
        <p:txBody>
          <a:bodyPr wrap="none">
            <a:spAutoFit/>
          </a:bodyPr>
          <a:lstStyle/>
          <a:p>
            <a:pPr marL="342892" indent="-342892" defTabSz="914378"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55" name="图片 54">
            <a:extLst>
              <a:ext uri="{FF2B5EF4-FFF2-40B4-BE49-F238E27FC236}">
                <a16:creationId xmlns:a16="http://schemas.microsoft.com/office/drawing/2014/main" id="{9464602C-B6B6-47E2-83B4-DD0C2C077A61}"/>
              </a:ext>
            </a:extLst>
          </p:cNvPr>
          <p:cNvPicPr>
            <a:picLocks noChangeAspect="1"/>
          </p:cNvPicPr>
          <p:nvPr/>
        </p:nvPicPr>
        <p:blipFill>
          <a:blip r:embed="rId3"/>
          <a:stretch>
            <a:fillRect/>
          </a:stretch>
        </p:blipFill>
        <p:spPr bwMode="auto">
          <a:xfrm>
            <a:off x="497236" y="288443"/>
            <a:ext cx="3375510" cy="1980838"/>
          </a:xfrm>
          <a:prstGeom prst="rect">
            <a:avLst/>
          </a:prstGeom>
        </p:spPr>
      </p:pic>
      <p:sp>
        <p:nvSpPr>
          <p:cNvPr id="3" name="日期占位符 2">
            <a:extLst>
              <a:ext uri="{FF2B5EF4-FFF2-40B4-BE49-F238E27FC236}">
                <a16:creationId xmlns:a16="http://schemas.microsoft.com/office/drawing/2014/main" id="{6494FB01-9E4E-5C1D-4542-8219E841CEED}"/>
              </a:ext>
            </a:extLst>
          </p:cNvPr>
          <p:cNvSpPr>
            <a:spLocks noGrp="1"/>
          </p:cNvSpPr>
          <p:nvPr>
            <p:ph type="dt" sz="half" idx="10"/>
          </p:nvPr>
        </p:nvSpPr>
        <p:spPr/>
        <p:txBody>
          <a:bodyPr/>
          <a:lstStyle/>
          <a:p>
            <a:pPr>
              <a:defRPr/>
            </a:pPr>
            <a:r>
              <a:rPr lang="en-US" altLang="zh-CN"/>
              <a:t>Fall 2024</a:t>
            </a:r>
            <a:endParaRPr lang="en-US"/>
          </a:p>
        </p:txBody>
      </p:sp>
      <p:sp>
        <p:nvSpPr>
          <p:cNvPr id="4" name="页脚占位符 3">
            <a:extLst>
              <a:ext uri="{FF2B5EF4-FFF2-40B4-BE49-F238E27FC236}">
                <a16:creationId xmlns:a16="http://schemas.microsoft.com/office/drawing/2014/main" id="{FBB3E271-6FE2-27E2-E360-CBE1F4B5181A}"/>
              </a:ext>
            </a:extLst>
          </p:cNvPr>
          <p:cNvSpPr>
            <a:spLocks noGrp="1"/>
          </p:cNvSpPr>
          <p:nvPr>
            <p:ph type="ftr" sz="quarter" idx="11"/>
          </p:nvPr>
        </p:nvSpPr>
        <p:spPr/>
        <p:txBody>
          <a:bodyPr/>
          <a:lstStyle/>
          <a:p>
            <a:pPr>
              <a:defRPr/>
            </a:pPr>
            <a:r>
              <a:rPr lang="en-US"/>
              <a:t>BUPT Compilers</a:t>
            </a:r>
          </a:p>
        </p:txBody>
      </p:sp>
      <p:sp>
        <p:nvSpPr>
          <p:cNvPr id="5" name="灯片编号占位符 4">
            <a:extLst>
              <a:ext uri="{FF2B5EF4-FFF2-40B4-BE49-F238E27FC236}">
                <a16:creationId xmlns:a16="http://schemas.microsoft.com/office/drawing/2014/main" id="{3911061E-6AC4-46F2-8E6C-0DDADE7D7BFA}"/>
              </a:ext>
            </a:extLst>
          </p:cNvPr>
          <p:cNvSpPr>
            <a:spLocks noGrp="1"/>
          </p:cNvSpPr>
          <p:nvPr>
            <p:ph type="sldNum" sz="quarter" idx="12"/>
          </p:nvPr>
        </p:nvSpPr>
        <p:spPr/>
        <p:txBody>
          <a:bodyPr/>
          <a:lstStyle/>
          <a:p>
            <a:pPr>
              <a:defRPr/>
            </a:pPr>
            <a:fld id="{2FBC720A-3716-234A-B2DF-CBC7E48049F5}" type="slidenum">
              <a:rPr lang="en-US" altLang="zh-CN" smtClean="0"/>
              <a:t>30</a:t>
            </a:fld>
            <a:endParaRPr lang="en-US" altLang="zh-CN"/>
          </a:p>
        </p:txBody>
      </p:sp>
    </p:spTree>
    <p:extLst>
      <p:ext uri="{BB962C8B-B14F-4D97-AF65-F5344CB8AC3E}">
        <p14:creationId xmlns:p14="http://schemas.microsoft.com/office/powerpoint/2010/main" val="285840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500" fill="hold"/>
                                        <p:tgtEl>
                                          <p:spTgt spid="37890"/>
                                        </p:tgtEl>
                                        <p:attrNameLst>
                                          <p:attrName>ppt_w</p:attrName>
                                        </p:attrNameLst>
                                      </p:cBhvr>
                                      <p:tavLst>
                                        <p:tav tm="0">
                                          <p:val>
                                            <p:fltVal val="0"/>
                                          </p:val>
                                        </p:tav>
                                        <p:tav tm="100000">
                                          <p:val>
                                            <p:strVal val="#ppt_w"/>
                                          </p:val>
                                        </p:tav>
                                      </p:tavLst>
                                    </p:anim>
                                    <p:anim calcmode="lin" valueType="num">
                                      <p:cBhvr>
                                        <p:cTn id="8" dur="500" fill="hold"/>
                                        <p:tgtEl>
                                          <p:spTgt spid="37890"/>
                                        </p:tgtEl>
                                        <p:attrNameLst>
                                          <p:attrName>ppt_h</p:attrName>
                                        </p:attrNameLst>
                                      </p:cBhvr>
                                      <p:tavLst>
                                        <p:tav tm="0">
                                          <p:val>
                                            <p:fltVal val="0"/>
                                          </p:val>
                                        </p:tav>
                                        <p:tav tm="100000">
                                          <p:val>
                                            <p:strVal val="#ppt_h"/>
                                          </p:val>
                                        </p:tav>
                                      </p:tavLst>
                                    </p:anim>
                                    <p:animEffect transition="in" filter="fade">
                                      <p:cBhvr>
                                        <p:cTn id="9" dur="500"/>
                                        <p:tgtEl>
                                          <p:spTgt spid="3789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8"/>
                                        </p:tgtEl>
                                        <p:attrNameLst>
                                          <p:attrName>style.visibility</p:attrName>
                                        </p:attrNameLst>
                                      </p:cBhvr>
                                      <p:to>
                                        <p:strVal val="visible"/>
                                      </p:to>
                                    </p:set>
                                    <p:anim calcmode="lin" valueType="num">
                                      <p:cBhvr>
                                        <p:cTn id="14" dur="500" fill="hold"/>
                                        <p:tgtEl>
                                          <p:spTgt spid="48"/>
                                        </p:tgtEl>
                                        <p:attrNameLst>
                                          <p:attrName>ppt_w</p:attrName>
                                        </p:attrNameLst>
                                      </p:cBhvr>
                                      <p:tavLst>
                                        <p:tav tm="0">
                                          <p:val>
                                            <p:fltVal val="0"/>
                                          </p:val>
                                        </p:tav>
                                        <p:tav tm="100000">
                                          <p:val>
                                            <p:strVal val="#ppt_w"/>
                                          </p:val>
                                        </p:tav>
                                      </p:tavLst>
                                    </p:anim>
                                    <p:anim calcmode="lin" valueType="num">
                                      <p:cBhvr>
                                        <p:cTn id="15" dur="500" fill="hold"/>
                                        <p:tgtEl>
                                          <p:spTgt spid="48"/>
                                        </p:tgtEl>
                                        <p:attrNameLst>
                                          <p:attrName>ppt_h</p:attrName>
                                        </p:attrNameLst>
                                      </p:cBhvr>
                                      <p:tavLst>
                                        <p:tav tm="0">
                                          <p:val>
                                            <p:fltVal val="0"/>
                                          </p:val>
                                        </p:tav>
                                        <p:tav tm="100000">
                                          <p:val>
                                            <p:strVal val="#ppt_h"/>
                                          </p:val>
                                        </p:tav>
                                      </p:tavLst>
                                    </p:anim>
                                    <p:animEffect transition="in" filter="fade">
                                      <p:cBhvr>
                                        <p:cTn id="1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7">
            <a:extLst>
              <a:ext uri="{FF2B5EF4-FFF2-40B4-BE49-F238E27FC236}">
                <a16:creationId xmlns:a16="http://schemas.microsoft.com/office/drawing/2014/main" id="{77924812-D949-48BA-9002-4B8B8C22793E}"/>
              </a:ext>
            </a:extLst>
          </p:cNvPr>
          <p:cNvSpPr>
            <a:spLocks noChangeArrowheads="1"/>
          </p:cNvSpPr>
          <p:nvPr/>
        </p:nvSpPr>
        <p:spPr bwMode="auto">
          <a:xfrm>
            <a:off x="338139" y="4424707"/>
            <a:ext cx="2136775"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20000"/>
              </a:spcBef>
              <a:spcAft>
                <a:spcPct val="0"/>
              </a:spcAft>
              <a:defRPr/>
            </a:pPr>
            <a:r>
              <a:rPr kumimoji="1" lang="zh-CN" altLang="en-US" sz="2000" kern="1200" dirty="0">
                <a:solidFill>
                  <a:srgbClr val="2D83F4"/>
                </a:solidFill>
                <a:latin typeface="华文楷体" panose="02010600040101010101" pitchFamily="2" charset="-122"/>
                <a:ea typeface="华文楷体" panose="02010600040101010101" pitchFamily="2" charset="-122"/>
              </a:rPr>
              <a:t>输入</a:t>
            </a:r>
            <a:r>
              <a:rPr kumimoji="1" lang="zh-CN" altLang="en-US" sz="2000" kern="1200" dirty="0">
                <a:solidFill>
                  <a:srgbClr val="2D83F4"/>
                </a:solidFill>
                <a:latin typeface="Times New Roman" panose="02020603050405020304" pitchFamily="18" charset="0"/>
              </a:rPr>
              <a:t>：</a:t>
            </a:r>
          </a:p>
          <a:p>
            <a:pPr defTabSz="914378" rtl="0" fontAlgn="base">
              <a:spcBef>
                <a:spcPct val="20000"/>
              </a:spcBef>
              <a:spcAft>
                <a:spcPct val="0"/>
              </a:spcAft>
              <a:defRPr/>
            </a:pPr>
            <a:r>
              <a:rPr kumimoji="1" lang="en-US" altLang="zh-CN" sz="2000" kern="1200" dirty="0">
                <a:solidFill>
                  <a:srgbClr val="000000"/>
                </a:solidFill>
                <a:latin typeface="Times New Roman" panose="02020603050405020304" pitchFamily="18" charset="0"/>
              </a:rPr>
              <a:t>    3   *   5</a:t>
            </a:r>
          </a:p>
          <a:p>
            <a:pPr defTabSz="914378" rtl="0" fontAlgn="base">
              <a:spcBef>
                <a:spcPct val="20000"/>
              </a:spcBef>
              <a:spcAft>
                <a:spcPct val="0"/>
              </a:spcAft>
              <a:defRPr/>
            </a:pPr>
            <a:r>
              <a:rPr lang="en-US" altLang="zh-CN" sz="2000" kern="12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digit </a:t>
            </a:r>
            <a:endParaRPr kumimoji="1" lang="en-US" altLang="zh-CN" sz="2000" kern="1200" dirty="0">
              <a:solidFill>
                <a:srgbClr val="000000"/>
              </a:solidFill>
              <a:latin typeface="Times New Roman" panose="02020603050405020304" pitchFamily="18" charset="0"/>
            </a:endParaRPr>
          </a:p>
          <a:p>
            <a:pPr defTabSz="914378" rtl="0" fontAlgn="base">
              <a:spcBef>
                <a:spcPct val="20000"/>
              </a:spcBef>
              <a:spcAft>
                <a:spcPct val="0"/>
              </a:spcAft>
              <a:defRPr/>
            </a:pPr>
            <a:endParaRPr kumimoji="1" lang="en-US" altLang="zh-CN" sz="2000" kern="1200" dirty="0">
              <a:solidFill>
                <a:srgbClr val="000000"/>
              </a:solidFill>
              <a:latin typeface="Times New Roman" panose="02020603050405020304" pitchFamily="18" charset="0"/>
              <a:sym typeface="Symbol" panose="05050102010706020507" pitchFamily="18" charset="2"/>
            </a:endParaRPr>
          </a:p>
        </p:txBody>
      </p:sp>
      <p:grpSp>
        <p:nvGrpSpPr>
          <p:cNvPr id="22" name="组合 21">
            <a:extLst>
              <a:ext uri="{FF2B5EF4-FFF2-40B4-BE49-F238E27FC236}">
                <a16:creationId xmlns:a16="http://schemas.microsoft.com/office/drawing/2014/main" id="{3114F0BA-5439-4963-807B-64545B8027A7}"/>
              </a:ext>
            </a:extLst>
          </p:cNvPr>
          <p:cNvGrpSpPr>
            <a:grpSpLocks/>
          </p:cNvGrpSpPr>
          <p:nvPr/>
        </p:nvGrpSpPr>
        <p:grpSpPr bwMode="auto">
          <a:xfrm>
            <a:off x="2287506" y="2989988"/>
            <a:ext cx="3452670" cy="1123239"/>
            <a:chOff x="3853075" y="810394"/>
            <a:chExt cx="3453528" cy="1124157"/>
          </a:xfrm>
        </p:grpSpPr>
        <p:sp>
          <p:nvSpPr>
            <p:cNvPr id="23" name="Rectangle 6">
              <a:extLst>
                <a:ext uri="{FF2B5EF4-FFF2-40B4-BE49-F238E27FC236}">
                  <a16:creationId xmlns:a16="http://schemas.microsoft.com/office/drawing/2014/main" id="{86C738E7-0C6E-4F7C-83C5-5E2C34595374}"/>
                </a:ext>
              </a:extLst>
            </p:cNvPr>
            <p:cNvSpPr>
              <a:spLocks noChangeArrowheads="1"/>
            </p:cNvSpPr>
            <p:nvPr/>
          </p:nvSpPr>
          <p:spPr bwMode="auto">
            <a:xfrm>
              <a:off x="3853075" y="1586382"/>
              <a:ext cx="271077" cy="348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24" name="Rectangle 9">
              <a:extLst>
                <a:ext uri="{FF2B5EF4-FFF2-40B4-BE49-F238E27FC236}">
                  <a16:creationId xmlns:a16="http://schemas.microsoft.com/office/drawing/2014/main" id="{F0740B2D-5ABD-466F-A0E6-17C9A80EF2CA}"/>
                </a:ext>
              </a:extLst>
            </p:cNvPr>
            <p:cNvSpPr>
              <a:spLocks noChangeArrowheads="1"/>
            </p:cNvSpPr>
            <p:nvPr/>
          </p:nvSpPr>
          <p:spPr bwMode="auto">
            <a:xfrm>
              <a:off x="6928578" y="1569882"/>
              <a:ext cx="378025"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5" name="Rectangle 10">
              <a:extLst>
                <a:ext uri="{FF2B5EF4-FFF2-40B4-BE49-F238E27FC236}">
                  <a16:creationId xmlns:a16="http://schemas.microsoft.com/office/drawing/2014/main" id="{53E10D79-0F20-4C18-8650-A78686F478C3}"/>
                </a:ext>
              </a:extLst>
            </p:cNvPr>
            <p:cNvSpPr>
              <a:spLocks noChangeArrowheads="1"/>
            </p:cNvSpPr>
            <p:nvPr/>
          </p:nvSpPr>
          <p:spPr bwMode="auto">
            <a:xfrm>
              <a:off x="5272107" y="810394"/>
              <a:ext cx="417513"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6" name="Line 11">
              <a:extLst>
                <a:ext uri="{FF2B5EF4-FFF2-40B4-BE49-F238E27FC236}">
                  <a16:creationId xmlns:a16="http://schemas.microsoft.com/office/drawing/2014/main" id="{87A27C41-914D-4B9A-9B7D-433AD6FBB778}"/>
                </a:ext>
              </a:extLst>
            </p:cNvPr>
            <p:cNvSpPr>
              <a:spLocks noChangeShapeType="1"/>
            </p:cNvSpPr>
            <p:nvPr/>
          </p:nvSpPr>
          <p:spPr bwMode="auto">
            <a:xfrm flipH="1">
              <a:off x="4099264" y="1172486"/>
              <a:ext cx="1381600" cy="39997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27" name="Line 12">
              <a:extLst>
                <a:ext uri="{FF2B5EF4-FFF2-40B4-BE49-F238E27FC236}">
                  <a16:creationId xmlns:a16="http://schemas.microsoft.com/office/drawing/2014/main" id="{CB27928E-1E8A-498B-AE9D-8CCBF45B76C8}"/>
                </a:ext>
              </a:extLst>
            </p:cNvPr>
            <p:cNvSpPr>
              <a:spLocks noChangeShapeType="1"/>
            </p:cNvSpPr>
            <p:nvPr/>
          </p:nvSpPr>
          <p:spPr bwMode="auto">
            <a:xfrm>
              <a:off x="5438709" y="1192035"/>
              <a:ext cx="1797357" cy="385473"/>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28" name="组合 124933">
            <a:extLst>
              <a:ext uri="{FF2B5EF4-FFF2-40B4-BE49-F238E27FC236}">
                <a16:creationId xmlns:a16="http://schemas.microsoft.com/office/drawing/2014/main" id="{C987E98D-3898-4D56-AAA1-BF361293CB52}"/>
              </a:ext>
            </a:extLst>
          </p:cNvPr>
          <p:cNvGrpSpPr>
            <a:grpSpLocks/>
          </p:cNvGrpSpPr>
          <p:nvPr/>
        </p:nvGrpSpPr>
        <p:grpSpPr bwMode="auto">
          <a:xfrm>
            <a:off x="4435876" y="4191537"/>
            <a:ext cx="3059096" cy="796271"/>
            <a:chOff x="7193292" y="2013704"/>
            <a:chExt cx="1929563" cy="794905"/>
          </a:xfrm>
        </p:grpSpPr>
        <p:sp>
          <p:nvSpPr>
            <p:cNvPr id="29" name="Line 8">
              <a:extLst>
                <a:ext uri="{FF2B5EF4-FFF2-40B4-BE49-F238E27FC236}">
                  <a16:creationId xmlns:a16="http://schemas.microsoft.com/office/drawing/2014/main" id="{769042D8-75A4-4D1E-87D0-92D0487DCE94}"/>
                </a:ext>
              </a:extLst>
            </p:cNvPr>
            <p:cNvSpPr>
              <a:spLocks noChangeShapeType="1"/>
            </p:cNvSpPr>
            <p:nvPr/>
          </p:nvSpPr>
          <p:spPr bwMode="auto">
            <a:xfrm flipV="1">
              <a:off x="7540792" y="2030902"/>
              <a:ext cx="262473" cy="45032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0" name="Text Box 13">
              <a:extLst>
                <a:ext uri="{FF2B5EF4-FFF2-40B4-BE49-F238E27FC236}">
                  <a16:creationId xmlns:a16="http://schemas.microsoft.com/office/drawing/2014/main" id="{25AA22B6-F143-4394-B0C7-68706BC57A49}"/>
                </a:ext>
              </a:extLst>
            </p:cNvPr>
            <p:cNvSpPr txBox="1">
              <a:spLocks noChangeArrowheads="1"/>
            </p:cNvSpPr>
            <p:nvPr/>
          </p:nvSpPr>
          <p:spPr bwMode="auto">
            <a:xfrm>
              <a:off x="7193292" y="2461322"/>
              <a:ext cx="269875"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50000"/>
                </a:spcBef>
                <a:spcAft>
                  <a:spcPct val="0"/>
                </a:spcAft>
                <a:defRPr/>
              </a:pPr>
              <a:r>
                <a:rPr kumimoji="1" lang="zh-CN" altLang="en-US" kern="1200" dirty="0">
                  <a:solidFill>
                    <a:prstClr val="black"/>
                  </a:solidFill>
                  <a:latin typeface="Times New Roman" panose="02020603050405020304" pitchFamily="18" charset="0"/>
                </a:rPr>
                <a:t>*</a:t>
              </a:r>
            </a:p>
          </p:txBody>
        </p:sp>
        <p:sp>
          <p:nvSpPr>
            <p:cNvPr id="31" name="Line 11">
              <a:extLst>
                <a:ext uri="{FF2B5EF4-FFF2-40B4-BE49-F238E27FC236}">
                  <a16:creationId xmlns:a16="http://schemas.microsoft.com/office/drawing/2014/main" id="{55C4C488-407D-463E-9CE4-1C1DC6CF6E9A}"/>
                </a:ext>
              </a:extLst>
            </p:cNvPr>
            <p:cNvSpPr>
              <a:spLocks noChangeShapeType="1"/>
            </p:cNvSpPr>
            <p:nvPr/>
          </p:nvSpPr>
          <p:spPr bwMode="auto">
            <a:xfrm flipH="1">
              <a:off x="7299098" y="2013704"/>
              <a:ext cx="522562" cy="41553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3" name="Rectangle 6">
              <a:extLst>
                <a:ext uri="{FF2B5EF4-FFF2-40B4-BE49-F238E27FC236}">
                  <a16:creationId xmlns:a16="http://schemas.microsoft.com/office/drawing/2014/main" id="{588DBCF3-8D0C-4583-88DF-0AEE494EC03F}"/>
                </a:ext>
              </a:extLst>
            </p:cNvPr>
            <p:cNvSpPr>
              <a:spLocks noChangeArrowheads="1"/>
            </p:cNvSpPr>
            <p:nvPr/>
          </p:nvSpPr>
          <p:spPr bwMode="auto">
            <a:xfrm>
              <a:off x="7299099" y="2431251"/>
              <a:ext cx="314446"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34" name="Rectangle 9">
              <a:extLst>
                <a:ext uri="{FF2B5EF4-FFF2-40B4-BE49-F238E27FC236}">
                  <a16:creationId xmlns:a16="http://schemas.microsoft.com/office/drawing/2014/main" id="{5DBD9EBC-5EDA-410F-AC0E-F4BE3362D896}"/>
                </a:ext>
              </a:extLst>
            </p:cNvPr>
            <p:cNvSpPr>
              <a:spLocks noChangeArrowheads="1"/>
            </p:cNvSpPr>
            <p:nvPr/>
          </p:nvSpPr>
          <p:spPr bwMode="auto">
            <a:xfrm>
              <a:off x="8759697" y="2431251"/>
              <a:ext cx="363158"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32" name="Line 12">
              <a:extLst>
                <a:ext uri="{FF2B5EF4-FFF2-40B4-BE49-F238E27FC236}">
                  <a16:creationId xmlns:a16="http://schemas.microsoft.com/office/drawing/2014/main" id="{CA7E7E12-3212-47EB-AABE-12C1E218705B}"/>
                </a:ext>
              </a:extLst>
            </p:cNvPr>
            <p:cNvSpPr>
              <a:spLocks noChangeShapeType="1"/>
            </p:cNvSpPr>
            <p:nvPr/>
          </p:nvSpPr>
          <p:spPr bwMode="auto">
            <a:xfrm>
              <a:off x="7803265" y="2016342"/>
              <a:ext cx="1097075" cy="46488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35" name="组合 34">
            <a:extLst>
              <a:ext uri="{FF2B5EF4-FFF2-40B4-BE49-F238E27FC236}">
                <a16:creationId xmlns:a16="http://schemas.microsoft.com/office/drawing/2014/main" id="{19404285-1C12-4308-A279-E04202685F5F}"/>
              </a:ext>
            </a:extLst>
          </p:cNvPr>
          <p:cNvGrpSpPr>
            <a:grpSpLocks/>
          </p:cNvGrpSpPr>
          <p:nvPr/>
        </p:nvGrpSpPr>
        <p:grpSpPr bwMode="auto">
          <a:xfrm>
            <a:off x="7016344" y="5037594"/>
            <a:ext cx="269626" cy="699538"/>
            <a:chOff x="8658440" y="2859782"/>
            <a:chExt cx="269377" cy="698404"/>
          </a:xfrm>
        </p:grpSpPr>
        <p:sp>
          <p:nvSpPr>
            <p:cNvPr id="36" name="Line 5">
              <a:extLst>
                <a:ext uri="{FF2B5EF4-FFF2-40B4-BE49-F238E27FC236}">
                  <a16:creationId xmlns:a16="http://schemas.microsoft.com/office/drawing/2014/main" id="{8E5D0A80-B93F-479E-A15F-942508025069}"/>
                </a:ext>
              </a:extLst>
            </p:cNvPr>
            <p:cNvSpPr>
              <a:spLocks noChangeShapeType="1"/>
            </p:cNvSpPr>
            <p:nvPr/>
          </p:nvSpPr>
          <p:spPr bwMode="auto">
            <a:xfrm flipV="1">
              <a:off x="8820472"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7" name="矩形 3">
              <a:extLst>
                <a:ext uri="{FF2B5EF4-FFF2-40B4-BE49-F238E27FC236}">
                  <a16:creationId xmlns:a16="http://schemas.microsoft.com/office/drawing/2014/main" id="{45E6BD9B-3664-4C51-B7FA-BCAEEA94ED72}"/>
                </a:ext>
              </a:extLst>
            </p:cNvPr>
            <p:cNvSpPr>
              <a:spLocks noChangeArrowheads="1"/>
            </p:cNvSpPr>
            <p:nvPr/>
          </p:nvSpPr>
          <p:spPr bwMode="auto">
            <a:xfrm>
              <a:off x="8658440" y="3220181"/>
              <a:ext cx="269377" cy="33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lang="el-GR" altLang="zh-CN" sz="1600" b="1" i="1" kern="12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ε</a:t>
              </a:r>
              <a:endParaRPr lang="zh-CN" altLang="en-US" b="1" kern="1200">
                <a:solidFill>
                  <a:srgbClr val="000000"/>
                </a:solidFill>
                <a:latin typeface="Tahoma" panose="020B0604030504040204" pitchFamily="34" charset="0"/>
                <a:ea typeface="宋体" panose="02010600030101010101" pitchFamily="2" charset="-122"/>
              </a:endParaRPr>
            </a:p>
          </p:txBody>
        </p:sp>
      </p:grpSp>
      <p:sp>
        <p:nvSpPr>
          <p:cNvPr id="40" name="矩形 56">
            <a:extLst>
              <a:ext uri="{FF2B5EF4-FFF2-40B4-BE49-F238E27FC236}">
                <a16:creationId xmlns:a16="http://schemas.microsoft.com/office/drawing/2014/main" id="{16B02699-238B-4D70-B370-9A88DF06D52A}"/>
              </a:ext>
            </a:extLst>
          </p:cNvPr>
          <p:cNvSpPr>
            <a:spLocks noChangeArrowheads="1"/>
          </p:cNvSpPr>
          <p:nvPr/>
        </p:nvSpPr>
        <p:spPr bwMode="auto">
          <a:xfrm>
            <a:off x="2405760" y="3943310"/>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grpSp>
        <p:nvGrpSpPr>
          <p:cNvPr id="41" name="组合 40">
            <a:extLst>
              <a:ext uri="{FF2B5EF4-FFF2-40B4-BE49-F238E27FC236}">
                <a16:creationId xmlns:a16="http://schemas.microsoft.com/office/drawing/2014/main" id="{E67498A6-9BE6-4957-BF74-59D078D6F677}"/>
              </a:ext>
            </a:extLst>
          </p:cNvPr>
          <p:cNvGrpSpPr>
            <a:grpSpLocks/>
          </p:cNvGrpSpPr>
          <p:nvPr/>
        </p:nvGrpSpPr>
        <p:grpSpPr bwMode="auto">
          <a:xfrm>
            <a:off x="2111841" y="4234426"/>
            <a:ext cx="585159" cy="967879"/>
            <a:chOff x="5811182" y="2030902"/>
            <a:chExt cx="584868" cy="967607"/>
          </a:xfrm>
        </p:grpSpPr>
        <p:sp>
          <p:nvSpPr>
            <p:cNvPr id="42" name="Rectangle 2">
              <a:extLst>
                <a:ext uri="{FF2B5EF4-FFF2-40B4-BE49-F238E27FC236}">
                  <a16:creationId xmlns:a16="http://schemas.microsoft.com/office/drawing/2014/main" id="{F3D1C0B1-500B-4108-BED2-EE04E9E417BF}"/>
                </a:ext>
              </a:extLst>
            </p:cNvPr>
            <p:cNvSpPr>
              <a:spLocks noChangeArrowheads="1"/>
            </p:cNvSpPr>
            <p:nvPr/>
          </p:nvSpPr>
          <p:spPr bwMode="auto">
            <a:xfrm>
              <a:off x="5811182" y="2373802"/>
              <a:ext cx="584868" cy="6247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(3)</a:t>
              </a:r>
            </a:p>
          </p:txBody>
        </p:sp>
        <p:sp>
          <p:nvSpPr>
            <p:cNvPr id="43" name="Line 5">
              <a:extLst>
                <a:ext uri="{FF2B5EF4-FFF2-40B4-BE49-F238E27FC236}">
                  <a16:creationId xmlns:a16="http://schemas.microsoft.com/office/drawing/2014/main" id="{B6D916F7-5062-4576-A4CD-F7A0487B45ED}"/>
                </a:ext>
              </a:extLst>
            </p:cNvPr>
            <p:cNvSpPr>
              <a:spLocks noChangeShapeType="1"/>
            </p:cNvSpPr>
            <p:nvPr/>
          </p:nvSpPr>
          <p:spPr bwMode="auto">
            <a:xfrm flipV="1">
              <a:off x="6103416" y="203090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dirty="0">
                <a:solidFill>
                  <a:prstClr val="black"/>
                </a:solidFill>
                <a:latin typeface="Tahoma" panose="020B0604030504040204" pitchFamily="34" charset="0"/>
                <a:ea typeface="宋体" panose="02010600030101010101" pitchFamily="2" charset="-122"/>
              </a:endParaRPr>
            </a:p>
          </p:txBody>
        </p:sp>
      </p:grpSp>
      <p:grpSp>
        <p:nvGrpSpPr>
          <p:cNvPr id="52" name="组合 51">
            <a:extLst>
              <a:ext uri="{FF2B5EF4-FFF2-40B4-BE49-F238E27FC236}">
                <a16:creationId xmlns:a16="http://schemas.microsoft.com/office/drawing/2014/main" id="{E27A1DBD-1164-4229-9D34-B15423EBFA86}"/>
              </a:ext>
            </a:extLst>
          </p:cNvPr>
          <p:cNvGrpSpPr>
            <a:grpSpLocks/>
          </p:cNvGrpSpPr>
          <p:nvPr/>
        </p:nvGrpSpPr>
        <p:grpSpPr bwMode="auto">
          <a:xfrm>
            <a:off x="4602609" y="4972388"/>
            <a:ext cx="585159" cy="1001164"/>
            <a:chOff x="7384879" y="2859782"/>
            <a:chExt cx="585243" cy="1000981"/>
          </a:xfrm>
        </p:grpSpPr>
        <p:sp>
          <p:nvSpPr>
            <p:cNvPr id="53" name="Rectangle 7">
              <a:extLst>
                <a:ext uri="{FF2B5EF4-FFF2-40B4-BE49-F238E27FC236}">
                  <a16:creationId xmlns:a16="http://schemas.microsoft.com/office/drawing/2014/main" id="{655D5F61-E656-4B08-9E18-1ADC4FA0E195}"/>
                </a:ext>
              </a:extLst>
            </p:cNvPr>
            <p:cNvSpPr>
              <a:spLocks noChangeArrowheads="1"/>
            </p:cNvSpPr>
            <p:nvPr/>
          </p:nvSpPr>
          <p:spPr bwMode="auto">
            <a:xfrm>
              <a:off x="7384879" y="3235994"/>
              <a:ext cx="585243" cy="6247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(5)</a:t>
              </a:r>
            </a:p>
          </p:txBody>
        </p:sp>
        <p:sp>
          <p:nvSpPr>
            <p:cNvPr id="54" name="Line 5">
              <a:extLst>
                <a:ext uri="{FF2B5EF4-FFF2-40B4-BE49-F238E27FC236}">
                  <a16:creationId xmlns:a16="http://schemas.microsoft.com/office/drawing/2014/main" id="{B5E9E43D-9CF5-4816-9D4E-0B577BF44101}"/>
                </a:ext>
              </a:extLst>
            </p:cNvPr>
            <p:cNvSpPr>
              <a:spLocks noChangeShapeType="1"/>
            </p:cNvSpPr>
            <p:nvPr/>
          </p:nvSpPr>
          <p:spPr bwMode="auto">
            <a:xfrm flipV="1">
              <a:off x="7664313"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sp>
        <p:nvSpPr>
          <p:cNvPr id="2" name="矩形 1">
            <a:extLst>
              <a:ext uri="{FF2B5EF4-FFF2-40B4-BE49-F238E27FC236}">
                <a16:creationId xmlns:a16="http://schemas.microsoft.com/office/drawing/2014/main" id="{DA6DEA27-2984-4CBD-B134-9C7C1AFB2DD9}"/>
              </a:ext>
            </a:extLst>
          </p:cNvPr>
          <p:cNvSpPr/>
          <p:nvPr/>
        </p:nvSpPr>
        <p:spPr>
          <a:xfrm>
            <a:off x="5274428" y="5406742"/>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sp>
        <p:nvSpPr>
          <p:cNvPr id="7" name="矩形 6">
            <a:extLst>
              <a:ext uri="{FF2B5EF4-FFF2-40B4-BE49-F238E27FC236}">
                <a16:creationId xmlns:a16="http://schemas.microsoft.com/office/drawing/2014/main" id="{720406B1-D6F3-41A5-90AF-1E3404BCEFDC}"/>
              </a:ext>
            </a:extLst>
          </p:cNvPr>
          <p:cNvSpPr/>
          <p:nvPr/>
        </p:nvSpPr>
        <p:spPr>
          <a:xfrm>
            <a:off x="7256393" y="5398579"/>
            <a:ext cx="1620957"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200" kern="1200" dirty="0">
              <a:solidFill>
                <a:prstClr val="black"/>
              </a:solidFill>
              <a:latin typeface="Candara"/>
              <a:ea typeface="华文楷体" panose="02010600040101010101" pitchFamily="2" charset="-122"/>
            </a:endParaRPr>
          </a:p>
        </p:txBody>
      </p:sp>
      <p:sp>
        <p:nvSpPr>
          <p:cNvPr id="8" name="矩形 7">
            <a:extLst>
              <a:ext uri="{FF2B5EF4-FFF2-40B4-BE49-F238E27FC236}">
                <a16:creationId xmlns:a16="http://schemas.microsoft.com/office/drawing/2014/main" id="{5D9B4699-2F7A-4771-B148-1C65D8C96225}"/>
              </a:ext>
            </a:extLst>
          </p:cNvPr>
          <p:cNvSpPr/>
          <p:nvPr/>
        </p:nvSpPr>
        <p:spPr>
          <a:xfrm>
            <a:off x="4999091" y="4624503"/>
            <a:ext cx="2301464" cy="323165"/>
          </a:xfrm>
          <a:prstGeom prst="rect">
            <a:avLst/>
          </a:prstGeom>
        </p:spPr>
        <p:txBody>
          <a:bodyPr wrap="none">
            <a:spAutoFit/>
          </a:bodyPr>
          <a:lstStyle/>
          <a:p>
            <a:pPr defTabSz="685800" rtl="0">
              <a:defRPr/>
            </a:pP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kern="1200"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 </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10" name="矩形 9">
            <a:extLst>
              <a:ext uri="{FF2B5EF4-FFF2-40B4-BE49-F238E27FC236}">
                <a16:creationId xmlns:a16="http://schemas.microsoft.com/office/drawing/2014/main" id="{45B2F774-194E-4726-89E5-716BF3C48B60}"/>
              </a:ext>
            </a:extLst>
          </p:cNvPr>
          <p:cNvSpPr/>
          <p:nvPr/>
        </p:nvSpPr>
        <p:spPr>
          <a:xfrm>
            <a:off x="3311478" y="3762345"/>
            <a:ext cx="1557671"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inh</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37888" name="矩形 37887">
            <a:extLst>
              <a:ext uri="{FF2B5EF4-FFF2-40B4-BE49-F238E27FC236}">
                <a16:creationId xmlns:a16="http://schemas.microsoft.com/office/drawing/2014/main" id="{890B9FA2-EE87-4B24-8A90-81C2BA75F4BA}"/>
              </a:ext>
            </a:extLst>
          </p:cNvPr>
          <p:cNvSpPr/>
          <p:nvPr/>
        </p:nvSpPr>
        <p:spPr>
          <a:xfrm>
            <a:off x="6128180" y="3776007"/>
            <a:ext cx="1505540" cy="323165"/>
          </a:xfrm>
          <a:prstGeom prst="rect">
            <a:avLst/>
          </a:prstGeom>
        </p:spPr>
        <p:txBody>
          <a:bodyPr wrap="none">
            <a:spAutoFit/>
          </a:bodyPr>
          <a:lstStyle/>
          <a:p>
            <a:pPr marL="342892" indent="-342892" defTabSz="914378" rtl="0"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T.val</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a:t>
            </a:r>
            <a:r>
              <a:rPr lang="en-US" altLang="zh-CN" sz="1500" b="1" i="1" kern="1200" dirty="0" err="1">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.syn</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75" name="矩形 74">
            <a:extLst>
              <a:ext uri="{FF2B5EF4-FFF2-40B4-BE49-F238E27FC236}">
                <a16:creationId xmlns:a16="http://schemas.microsoft.com/office/drawing/2014/main" id="{16DF4C1D-377E-40FA-A384-97B47EAF4CB8}"/>
              </a:ext>
            </a:extLst>
          </p:cNvPr>
          <p:cNvSpPr/>
          <p:nvPr/>
        </p:nvSpPr>
        <p:spPr>
          <a:xfrm>
            <a:off x="2621656" y="4618451"/>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cxnSp>
        <p:nvCxnSpPr>
          <p:cNvPr id="37890" name="直接箭头连接符 37889">
            <a:extLst>
              <a:ext uri="{FF2B5EF4-FFF2-40B4-BE49-F238E27FC236}">
                <a16:creationId xmlns:a16="http://schemas.microsoft.com/office/drawing/2014/main" id="{8A455B10-95DC-4067-A5C0-2123753472C9}"/>
              </a:ext>
            </a:extLst>
          </p:cNvPr>
          <p:cNvCxnSpPr/>
          <p:nvPr/>
        </p:nvCxnSpPr>
        <p:spPr>
          <a:xfrm flipV="1">
            <a:off x="7988931" y="4915772"/>
            <a:ext cx="277332" cy="269559"/>
          </a:xfrm>
          <a:prstGeom prst="straightConnector1">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99AC97F7-9F41-45F3-8E95-534EC7BD20CE}"/>
              </a:ext>
            </a:extLst>
          </p:cNvPr>
          <p:cNvSpPr/>
          <p:nvPr/>
        </p:nvSpPr>
        <p:spPr>
          <a:xfrm>
            <a:off x="7391754" y="4608752"/>
            <a:ext cx="1636987" cy="323165"/>
          </a:xfrm>
          <a:prstGeom prst="rect">
            <a:avLst/>
          </a:prstGeom>
        </p:spPr>
        <p:txBody>
          <a:bodyPr wrap="none">
            <a:spAutoFit/>
          </a:bodyPr>
          <a:lstStyle/>
          <a:p>
            <a:pPr marL="342892" indent="-342892" defTabSz="914378"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a:t>
            </a:r>
            <a:r>
              <a:rPr lang="en-US" altLang="zh-CN" sz="15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45" name="矩形 56">
            <a:extLst>
              <a:ext uri="{FF2B5EF4-FFF2-40B4-BE49-F238E27FC236}">
                <a16:creationId xmlns:a16="http://schemas.microsoft.com/office/drawing/2014/main" id="{CFA74744-B2D9-4B80-B1F4-28EAD8807DBB}"/>
              </a:ext>
            </a:extLst>
          </p:cNvPr>
          <p:cNvSpPr>
            <a:spLocks noChangeArrowheads="1"/>
          </p:cNvSpPr>
          <p:nvPr/>
        </p:nvSpPr>
        <p:spPr bwMode="auto">
          <a:xfrm>
            <a:off x="4922724" y="3817698"/>
            <a:ext cx="6254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err="1">
                <a:solidFill>
                  <a:srgbClr val="FF0000"/>
                </a:solidFill>
                <a:latin typeface="Times New Roman" panose="02020603050405020304" pitchFamily="18" charset="0"/>
                <a:ea typeface="宋体" panose="02010600030101010101" pitchFamily="2" charset="-122"/>
                <a:sym typeface="Symbol" panose="05050102010706020507" pitchFamily="18" charset="2"/>
              </a:rPr>
              <a:t>inh</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6" name="矩形 56">
            <a:extLst>
              <a:ext uri="{FF2B5EF4-FFF2-40B4-BE49-F238E27FC236}">
                <a16:creationId xmlns:a16="http://schemas.microsoft.com/office/drawing/2014/main" id="{E8B7BF26-CD8C-407F-A211-6EEAB1FB423C}"/>
              </a:ext>
            </a:extLst>
          </p:cNvPr>
          <p:cNvSpPr>
            <a:spLocks noChangeArrowheads="1"/>
          </p:cNvSpPr>
          <p:nvPr/>
        </p:nvSpPr>
        <p:spPr bwMode="auto">
          <a:xfrm>
            <a:off x="4802021" y="4742175"/>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7" name="矩形 56">
            <a:extLst>
              <a:ext uri="{FF2B5EF4-FFF2-40B4-BE49-F238E27FC236}">
                <a16:creationId xmlns:a16="http://schemas.microsoft.com/office/drawing/2014/main" id="{0EB6DBB9-F3F8-43D7-BAFC-AEF6BE33751C}"/>
              </a:ext>
            </a:extLst>
          </p:cNvPr>
          <p:cNvSpPr>
            <a:spLocks noChangeArrowheads="1"/>
          </p:cNvSpPr>
          <p:nvPr/>
        </p:nvSpPr>
        <p:spPr bwMode="auto">
          <a:xfrm>
            <a:off x="6574859" y="4774544"/>
            <a:ext cx="7152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err="1">
                <a:solidFill>
                  <a:srgbClr val="FF0000"/>
                </a:solidFill>
                <a:latin typeface="Times New Roman" panose="02020603050405020304" pitchFamily="18" charset="0"/>
                <a:ea typeface="宋体" panose="02010600030101010101" pitchFamily="2" charset="-122"/>
                <a:sym typeface="Symbol" panose="05050102010706020507" pitchFamily="18" charset="2"/>
              </a:rPr>
              <a:t>inh</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8" name="矩形 56">
            <a:extLst>
              <a:ext uri="{FF2B5EF4-FFF2-40B4-BE49-F238E27FC236}">
                <a16:creationId xmlns:a16="http://schemas.microsoft.com/office/drawing/2014/main" id="{2ECF8756-75CB-42DB-8FC5-462B1155110A}"/>
              </a:ext>
            </a:extLst>
          </p:cNvPr>
          <p:cNvSpPr>
            <a:spLocks noChangeArrowheads="1"/>
          </p:cNvSpPr>
          <p:nvPr/>
        </p:nvSpPr>
        <p:spPr bwMode="auto">
          <a:xfrm>
            <a:off x="7267863" y="4765810"/>
            <a:ext cx="7168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syn</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9" name="矩形 56">
            <a:extLst>
              <a:ext uri="{FF2B5EF4-FFF2-40B4-BE49-F238E27FC236}">
                <a16:creationId xmlns:a16="http://schemas.microsoft.com/office/drawing/2014/main" id="{8B658F38-6952-4CD8-BC88-49306F12E8D1}"/>
              </a:ext>
            </a:extLst>
          </p:cNvPr>
          <p:cNvSpPr>
            <a:spLocks noChangeArrowheads="1"/>
          </p:cNvSpPr>
          <p:nvPr/>
        </p:nvSpPr>
        <p:spPr bwMode="auto">
          <a:xfrm>
            <a:off x="5619488" y="3851274"/>
            <a:ext cx="7168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syn</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=15</a:t>
            </a:r>
            <a:endParaRPr lang="zh-CN" altLang="en-US" sz="1400" b="1" kern="1200" dirty="0">
              <a:solidFill>
                <a:srgbClr val="FF0000"/>
              </a:solidFill>
              <a:latin typeface="Tahoma" panose="020B0604030504040204" pitchFamily="34" charset="0"/>
              <a:ea typeface="宋体" panose="02010600030101010101" pitchFamily="2" charset="-122"/>
            </a:endParaRPr>
          </a:p>
        </p:txBody>
      </p:sp>
      <p:pic>
        <p:nvPicPr>
          <p:cNvPr id="55" name="图片 54">
            <a:extLst>
              <a:ext uri="{FF2B5EF4-FFF2-40B4-BE49-F238E27FC236}">
                <a16:creationId xmlns:a16="http://schemas.microsoft.com/office/drawing/2014/main" id="{2C814F6F-BA94-4D9D-B526-248BCE5768E9}"/>
              </a:ext>
            </a:extLst>
          </p:cNvPr>
          <p:cNvPicPr>
            <a:picLocks noChangeAspect="1"/>
          </p:cNvPicPr>
          <p:nvPr/>
        </p:nvPicPr>
        <p:blipFill>
          <a:blip r:embed="rId3"/>
          <a:stretch>
            <a:fillRect/>
          </a:stretch>
        </p:blipFill>
        <p:spPr bwMode="auto">
          <a:xfrm>
            <a:off x="497236" y="288443"/>
            <a:ext cx="3375510" cy="1980838"/>
          </a:xfrm>
          <a:prstGeom prst="rect">
            <a:avLst/>
          </a:prstGeom>
        </p:spPr>
      </p:pic>
      <p:sp>
        <p:nvSpPr>
          <p:cNvPr id="3" name="日期占位符 2">
            <a:extLst>
              <a:ext uri="{FF2B5EF4-FFF2-40B4-BE49-F238E27FC236}">
                <a16:creationId xmlns:a16="http://schemas.microsoft.com/office/drawing/2014/main" id="{0950BC11-D607-F7D8-5498-65C9F7CF926C}"/>
              </a:ext>
            </a:extLst>
          </p:cNvPr>
          <p:cNvSpPr>
            <a:spLocks noGrp="1"/>
          </p:cNvSpPr>
          <p:nvPr>
            <p:ph type="dt" sz="half" idx="10"/>
          </p:nvPr>
        </p:nvSpPr>
        <p:spPr/>
        <p:txBody>
          <a:bodyPr/>
          <a:lstStyle/>
          <a:p>
            <a:pPr>
              <a:defRPr/>
            </a:pPr>
            <a:r>
              <a:rPr lang="en-US" altLang="zh-CN"/>
              <a:t>Fall 2024</a:t>
            </a:r>
            <a:endParaRPr lang="en-US"/>
          </a:p>
        </p:txBody>
      </p:sp>
      <p:sp>
        <p:nvSpPr>
          <p:cNvPr id="4" name="页脚占位符 3">
            <a:extLst>
              <a:ext uri="{FF2B5EF4-FFF2-40B4-BE49-F238E27FC236}">
                <a16:creationId xmlns:a16="http://schemas.microsoft.com/office/drawing/2014/main" id="{E5B39926-D71B-B82E-28A8-3825624D6739}"/>
              </a:ext>
            </a:extLst>
          </p:cNvPr>
          <p:cNvSpPr>
            <a:spLocks noGrp="1"/>
          </p:cNvSpPr>
          <p:nvPr>
            <p:ph type="ftr" sz="quarter" idx="11"/>
          </p:nvPr>
        </p:nvSpPr>
        <p:spPr/>
        <p:txBody>
          <a:bodyPr/>
          <a:lstStyle/>
          <a:p>
            <a:pPr>
              <a:defRPr/>
            </a:pPr>
            <a:r>
              <a:rPr lang="en-US"/>
              <a:t>BUPT Compilers</a:t>
            </a:r>
          </a:p>
        </p:txBody>
      </p:sp>
      <p:sp>
        <p:nvSpPr>
          <p:cNvPr id="5" name="灯片编号占位符 4">
            <a:extLst>
              <a:ext uri="{FF2B5EF4-FFF2-40B4-BE49-F238E27FC236}">
                <a16:creationId xmlns:a16="http://schemas.microsoft.com/office/drawing/2014/main" id="{33F590AD-4AFD-33DA-97BE-1A9816EC9DBE}"/>
              </a:ext>
            </a:extLst>
          </p:cNvPr>
          <p:cNvSpPr>
            <a:spLocks noGrp="1"/>
          </p:cNvSpPr>
          <p:nvPr>
            <p:ph type="sldNum" sz="quarter" idx="12"/>
          </p:nvPr>
        </p:nvSpPr>
        <p:spPr/>
        <p:txBody>
          <a:bodyPr/>
          <a:lstStyle/>
          <a:p>
            <a:pPr>
              <a:defRPr/>
            </a:pPr>
            <a:fld id="{2FBC720A-3716-234A-B2DF-CBC7E48049F5}" type="slidenum">
              <a:rPr lang="en-US" altLang="zh-CN" smtClean="0"/>
              <a:t>31</a:t>
            </a:fld>
            <a:endParaRPr lang="en-US" altLang="zh-CN"/>
          </a:p>
        </p:txBody>
      </p:sp>
    </p:spTree>
    <p:extLst>
      <p:ext uri="{BB962C8B-B14F-4D97-AF65-F5344CB8AC3E}">
        <p14:creationId xmlns:p14="http://schemas.microsoft.com/office/powerpoint/2010/main" val="2698970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500" fill="hold"/>
                                        <p:tgtEl>
                                          <p:spTgt spid="37890"/>
                                        </p:tgtEl>
                                        <p:attrNameLst>
                                          <p:attrName>ppt_w</p:attrName>
                                        </p:attrNameLst>
                                      </p:cBhvr>
                                      <p:tavLst>
                                        <p:tav tm="0">
                                          <p:val>
                                            <p:fltVal val="0"/>
                                          </p:val>
                                        </p:tav>
                                        <p:tav tm="100000">
                                          <p:val>
                                            <p:strVal val="#ppt_w"/>
                                          </p:val>
                                        </p:tav>
                                      </p:tavLst>
                                    </p:anim>
                                    <p:anim calcmode="lin" valueType="num">
                                      <p:cBhvr>
                                        <p:cTn id="8" dur="500" fill="hold"/>
                                        <p:tgtEl>
                                          <p:spTgt spid="37890"/>
                                        </p:tgtEl>
                                        <p:attrNameLst>
                                          <p:attrName>ppt_h</p:attrName>
                                        </p:attrNameLst>
                                      </p:cBhvr>
                                      <p:tavLst>
                                        <p:tav tm="0">
                                          <p:val>
                                            <p:fltVal val="0"/>
                                          </p:val>
                                        </p:tav>
                                        <p:tav tm="100000">
                                          <p:val>
                                            <p:strVal val="#ppt_h"/>
                                          </p:val>
                                        </p:tav>
                                      </p:tavLst>
                                    </p:anim>
                                    <p:animEffect transition="in" filter="fade">
                                      <p:cBhvr>
                                        <p:cTn id="9" dur="500"/>
                                        <p:tgtEl>
                                          <p:spTgt spid="3789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9"/>
                                        </p:tgtEl>
                                        <p:attrNameLst>
                                          <p:attrName>style.visibility</p:attrName>
                                        </p:attrNameLst>
                                      </p:cBhvr>
                                      <p:to>
                                        <p:strVal val="visible"/>
                                      </p:to>
                                    </p:set>
                                    <p:anim calcmode="lin" valueType="num">
                                      <p:cBhvr>
                                        <p:cTn id="14" dur="500" fill="hold"/>
                                        <p:tgtEl>
                                          <p:spTgt spid="49"/>
                                        </p:tgtEl>
                                        <p:attrNameLst>
                                          <p:attrName>ppt_w</p:attrName>
                                        </p:attrNameLst>
                                      </p:cBhvr>
                                      <p:tavLst>
                                        <p:tav tm="0">
                                          <p:val>
                                            <p:fltVal val="0"/>
                                          </p:val>
                                        </p:tav>
                                        <p:tav tm="100000">
                                          <p:val>
                                            <p:strVal val="#ppt_w"/>
                                          </p:val>
                                        </p:tav>
                                      </p:tavLst>
                                    </p:anim>
                                    <p:anim calcmode="lin" valueType="num">
                                      <p:cBhvr>
                                        <p:cTn id="15" dur="500" fill="hold"/>
                                        <p:tgtEl>
                                          <p:spTgt spid="49"/>
                                        </p:tgtEl>
                                        <p:attrNameLst>
                                          <p:attrName>ppt_h</p:attrName>
                                        </p:attrNameLst>
                                      </p:cBhvr>
                                      <p:tavLst>
                                        <p:tav tm="0">
                                          <p:val>
                                            <p:fltVal val="0"/>
                                          </p:val>
                                        </p:tav>
                                        <p:tav tm="100000">
                                          <p:val>
                                            <p:strVal val="#ppt_h"/>
                                          </p:val>
                                        </p:tav>
                                      </p:tavLst>
                                    </p:anim>
                                    <p:animEffect transition="in" filter="fade">
                                      <p:cBhvr>
                                        <p:cTn id="1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7">
            <a:extLst>
              <a:ext uri="{FF2B5EF4-FFF2-40B4-BE49-F238E27FC236}">
                <a16:creationId xmlns:a16="http://schemas.microsoft.com/office/drawing/2014/main" id="{77924812-D949-48BA-9002-4B8B8C22793E}"/>
              </a:ext>
            </a:extLst>
          </p:cNvPr>
          <p:cNvSpPr>
            <a:spLocks noChangeArrowheads="1"/>
          </p:cNvSpPr>
          <p:nvPr/>
        </p:nvSpPr>
        <p:spPr bwMode="auto">
          <a:xfrm>
            <a:off x="338139" y="4424707"/>
            <a:ext cx="2136775"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20000"/>
              </a:spcBef>
              <a:spcAft>
                <a:spcPct val="0"/>
              </a:spcAft>
              <a:defRPr/>
            </a:pPr>
            <a:r>
              <a:rPr kumimoji="1" lang="en-US" altLang="zh-CN" sz="2000" kern="1200" dirty="0">
                <a:solidFill>
                  <a:srgbClr val="000000"/>
                </a:solidFill>
                <a:latin typeface="Times New Roman" panose="02020603050405020304" pitchFamily="18" charset="0"/>
              </a:rPr>
              <a:t>3   *   5</a:t>
            </a:r>
          </a:p>
          <a:p>
            <a:pPr defTabSz="914378" rtl="0" fontAlgn="base">
              <a:spcBef>
                <a:spcPct val="20000"/>
              </a:spcBef>
              <a:spcAft>
                <a:spcPct val="0"/>
              </a:spcAft>
              <a:defRPr/>
            </a:pPr>
            <a:r>
              <a:rPr lang="en-US" altLang="zh-CN" sz="2000" kern="120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digit * digit </a:t>
            </a:r>
            <a:endParaRPr kumimoji="1" lang="en-US" altLang="zh-CN" sz="2000" kern="1200" dirty="0">
              <a:solidFill>
                <a:srgbClr val="000000"/>
              </a:solidFill>
              <a:latin typeface="Times New Roman" panose="02020603050405020304" pitchFamily="18" charset="0"/>
            </a:endParaRPr>
          </a:p>
          <a:p>
            <a:pPr defTabSz="914378" rtl="0" fontAlgn="base">
              <a:spcBef>
                <a:spcPct val="20000"/>
              </a:spcBef>
              <a:spcAft>
                <a:spcPct val="0"/>
              </a:spcAft>
              <a:defRPr/>
            </a:pPr>
            <a:endParaRPr kumimoji="1" lang="en-US" altLang="zh-CN" sz="2000" kern="1200" dirty="0">
              <a:solidFill>
                <a:srgbClr val="000000"/>
              </a:solidFill>
              <a:latin typeface="Times New Roman" panose="02020603050405020304" pitchFamily="18" charset="0"/>
              <a:sym typeface="Symbol" panose="05050102010706020507" pitchFamily="18" charset="2"/>
            </a:endParaRPr>
          </a:p>
        </p:txBody>
      </p:sp>
      <p:grpSp>
        <p:nvGrpSpPr>
          <p:cNvPr id="22" name="组合 21">
            <a:extLst>
              <a:ext uri="{FF2B5EF4-FFF2-40B4-BE49-F238E27FC236}">
                <a16:creationId xmlns:a16="http://schemas.microsoft.com/office/drawing/2014/main" id="{3114F0BA-5439-4963-807B-64545B8027A7}"/>
              </a:ext>
            </a:extLst>
          </p:cNvPr>
          <p:cNvGrpSpPr>
            <a:grpSpLocks/>
          </p:cNvGrpSpPr>
          <p:nvPr/>
        </p:nvGrpSpPr>
        <p:grpSpPr bwMode="auto">
          <a:xfrm>
            <a:off x="2287506" y="2989988"/>
            <a:ext cx="3452670" cy="1123239"/>
            <a:chOff x="3853075" y="810394"/>
            <a:chExt cx="3453528" cy="1124157"/>
          </a:xfrm>
        </p:grpSpPr>
        <p:sp>
          <p:nvSpPr>
            <p:cNvPr id="23" name="Rectangle 6">
              <a:extLst>
                <a:ext uri="{FF2B5EF4-FFF2-40B4-BE49-F238E27FC236}">
                  <a16:creationId xmlns:a16="http://schemas.microsoft.com/office/drawing/2014/main" id="{86C738E7-0C6E-4F7C-83C5-5E2C34595374}"/>
                </a:ext>
              </a:extLst>
            </p:cNvPr>
            <p:cNvSpPr>
              <a:spLocks noChangeArrowheads="1"/>
            </p:cNvSpPr>
            <p:nvPr/>
          </p:nvSpPr>
          <p:spPr bwMode="auto">
            <a:xfrm>
              <a:off x="3853075" y="1586382"/>
              <a:ext cx="271077" cy="348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24" name="Rectangle 9">
              <a:extLst>
                <a:ext uri="{FF2B5EF4-FFF2-40B4-BE49-F238E27FC236}">
                  <a16:creationId xmlns:a16="http://schemas.microsoft.com/office/drawing/2014/main" id="{F0740B2D-5ABD-466F-A0E6-17C9A80EF2CA}"/>
                </a:ext>
              </a:extLst>
            </p:cNvPr>
            <p:cNvSpPr>
              <a:spLocks noChangeArrowheads="1"/>
            </p:cNvSpPr>
            <p:nvPr/>
          </p:nvSpPr>
          <p:spPr bwMode="auto">
            <a:xfrm>
              <a:off x="6928578" y="1569882"/>
              <a:ext cx="378025"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5" name="Rectangle 10">
              <a:extLst>
                <a:ext uri="{FF2B5EF4-FFF2-40B4-BE49-F238E27FC236}">
                  <a16:creationId xmlns:a16="http://schemas.microsoft.com/office/drawing/2014/main" id="{53E10D79-0F20-4C18-8650-A78686F478C3}"/>
                </a:ext>
              </a:extLst>
            </p:cNvPr>
            <p:cNvSpPr>
              <a:spLocks noChangeArrowheads="1"/>
            </p:cNvSpPr>
            <p:nvPr/>
          </p:nvSpPr>
          <p:spPr bwMode="auto">
            <a:xfrm>
              <a:off x="5272107" y="810394"/>
              <a:ext cx="417513" cy="348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26" name="Line 11">
              <a:extLst>
                <a:ext uri="{FF2B5EF4-FFF2-40B4-BE49-F238E27FC236}">
                  <a16:creationId xmlns:a16="http://schemas.microsoft.com/office/drawing/2014/main" id="{87A27C41-914D-4B9A-9B7D-433AD6FBB778}"/>
                </a:ext>
              </a:extLst>
            </p:cNvPr>
            <p:cNvSpPr>
              <a:spLocks noChangeShapeType="1"/>
            </p:cNvSpPr>
            <p:nvPr/>
          </p:nvSpPr>
          <p:spPr bwMode="auto">
            <a:xfrm flipH="1">
              <a:off x="4099264" y="1172486"/>
              <a:ext cx="1381600" cy="39997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27" name="Line 12">
              <a:extLst>
                <a:ext uri="{FF2B5EF4-FFF2-40B4-BE49-F238E27FC236}">
                  <a16:creationId xmlns:a16="http://schemas.microsoft.com/office/drawing/2014/main" id="{CB27928E-1E8A-498B-AE9D-8CCBF45B76C8}"/>
                </a:ext>
              </a:extLst>
            </p:cNvPr>
            <p:cNvSpPr>
              <a:spLocks noChangeShapeType="1"/>
            </p:cNvSpPr>
            <p:nvPr/>
          </p:nvSpPr>
          <p:spPr bwMode="auto">
            <a:xfrm>
              <a:off x="5438709" y="1192035"/>
              <a:ext cx="1797357" cy="385473"/>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28" name="组合 124933">
            <a:extLst>
              <a:ext uri="{FF2B5EF4-FFF2-40B4-BE49-F238E27FC236}">
                <a16:creationId xmlns:a16="http://schemas.microsoft.com/office/drawing/2014/main" id="{C987E98D-3898-4D56-AAA1-BF361293CB52}"/>
              </a:ext>
            </a:extLst>
          </p:cNvPr>
          <p:cNvGrpSpPr>
            <a:grpSpLocks/>
          </p:cNvGrpSpPr>
          <p:nvPr/>
        </p:nvGrpSpPr>
        <p:grpSpPr bwMode="auto">
          <a:xfrm>
            <a:off x="4435876" y="4191537"/>
            <a:ext cx="3059096" cy="796271"/>
            <a:chOff x="7193292" y="2013704"/>
            <a:chExt cx="1929563" cy="794905"/>
          </a:xfrm>
        </p:grpSpPr>
        <p:sp>
          <p:nvSpPr>
            <p:cNvPr id="29" name="Line 8">
              <a:extLst>
                <a:ext uri="{FF2B5EF4-FFF2-40B4-BE49-F238E27FC236}">
                  <a16:creationId xmlns:a16="http://schemas.microsoft.com/office/drawing/2014/main" id="{769042D8-75A4-4D1E-87D0-92D0487DCE94}"/>
                </a:ext>
              </a:extLst>
            </p:cNvPr>
            <p:cNvSpPr>
              <a:spLocks noChangeShapeType="1"/>
            </p:cNvSpPr>
            <p:nvPr/>
          </p:nvSpPr>
          <p:spPr bwMode="auto">
            <a:xfrm flipV="1">
              <a:off x="7540792" y="2030902"/>
              <a:ext cx="262473" cy="45032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0" name="Text Box 13">
              <a:extLst>
                <a:ext uri="{FF2B5EF4-FFF2-40B4-BE49-F238E27FC236}">
                  <a16:creationId xmlns:a16="http://schemas.microsoft.com/office/drawing/2014/main" id="{25AA22B6-F143-4394-B0C7-68706BC57A49}"/>
                </a:ext>
              </a:extLst>
            </p:cNvPr>
            <p:cNvSpPr txBox="1">
              <a:spLocks noChangeArrowheads="1"/>
            </p:cNvSpPr>
            <p:nvPr/>
          </p:nvSpPr>
          <p:spPr bwMode="auto">
            <a:xfrm>
              <a:off x="7193292" y="2461322"/>
              <a:ext cx="269875"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50000"/>
                </a:spcBef>
                <a:spcAft>
                  <a:spcPct val="0"/>
                </a:spcAft>
                <a:defRPr/>
              </a:pPr>
              <a:r>
                <a:rPr kumimoji="1" lang="zh-CN" altLang="en-US" kern="1200" dirty="0">
                  <a:solidFill>
                    <a:prstClr val="black"/>
                  </a:solidFill>
                  <a:latin typeface="Times New Roman" panose="02020603050405020304" pitchFamily="18" charset="0"/>
                </a:rPr>
                <a:t>*</a:t>
              </a:r>
            </a:p>
          </p:txBody>
        </p:sp>
        <p:sp>
          <p:nvSpPr>
            <p:cNvPr id="31" name="Line 11">
              <a:extLst>
                <a:ext uri="{FF2B5EF4-FFF2-40B4-BE49-F238E27FC236}">
                  <a16:creationId xmlns:a16="http://schemas.microsoft.com/office/drawing/2014/main" id="{55C4C488-407D-463E-9CE4-1C1DC6CF6E9A}"/>
                </a:ext>
              </a:extLst>
            </p:cNvPr>
            <p:cNvSpPr>
              <a:spLocks noChangeShapeType="1"/>
            </p:cNvSpPr>
            <p:nvPr/>
          </p:nvSpPr>
          <p:spPr bwMode="auto">
            <a:xfrm flipH="1">
              <a:off x="7299098" y="2013704"/>
              <a:ext cx="522562" cy="415531"/>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3" name="Rectangle 6">
              <a:extLst>
                <a:ext uri="{FF2B5EF4-FFF2-40B4-BE49-F238E27FC236}">
                  <a16:creationId xmlns:a16="http://schemas.microsoft.com/office/drawing/2014/main" id="{588DBCF3-8D0C-4583-88DF-0AEE494EC03F}"/>
                </a:ext>
              </a:extLst>
            </p:cNvPr>
            <p:cNvSpPr>
              <a:spLocks noChangeArrowheads="1"/>
            </p:cNvSpPr>
            <p:nvPr/>
          </p:nvSpPr>
          <p:spPr bwMode="auto">
            <a:xfrm>
              <a:off x="7299099" y="2431251"/>
              <a:ext cx="314446"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F</a:t>
              </a:r>
              <a:endParaRPr kumimoji="1" lang="en-US" altLang="zh-CN" kern="1200" dirty="0">
                <a:solidFill>
                  <a:prstClr val="black"/>
                </a:solidFill>
                <a:latin typeface="Times New Roman" panose="02020603050405020304" pitchFamily="18" charset="0"/>
              </a:endParaRPr>
            </a:p>
          </p:txBody>
        </p:sp>
        <p:sp>
          <p:nvSpPr>
            <p:cNvPr id="34" name="Rectangle 9">
              <a:extLst>
                <a:ext uri="{FF2B5EF4-FFF2-40B4-BE49-F238E27FC236}">
                  <a16:creationId xmlns:a16="http://schemas.microsoft.com/office/drawing/2014/main" id="{5DBD9EBC-5EDA-410F-AC0E-F4BE3362D896}"/>
                </a:ext>
              </a:extLst>
            </p:cNvPr>
            <p:cNvSpPr>
              <a:spLocks noChangeArrowheads="1"/>
            </p:cNvSpPr>
            <p:nvPr/>
          </p:nvSpPr>
          <p:spPr bwMode="auto">
            <a:xfrm>
              <a:off x="8759697" y="2431251"/>
              <a:ext cx="363158" cy="3472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defTabSz="914378" rtl="0" fontAlgn="base">
                <a:spcBef>
                  <a:spcPct val="0"/>
                </a:spcBef>
                <a:spcAft>
                  <a:spcPct val="0"/>
                </a:spcAft>
                <a:defRPr/>
              </a:pPr>
              <a:r>
                <a:rPr kumimoji="1" lang="en-US" altLang="zh-CN" i="1" kern="1200" dirty="0">
                  <a:solidFill>
                    <a:prstClr val="black"/>
                  </a:solidFill>
                  <a:latin typeface="Times New Roman" panose="02020603050405020304" pitchFamily="18" charset="0"/>
                </a:rPr>
                <a:t>T’</a:t>
              </a:r>
              <a:endParaRPr kumimoji="1" lang="en-US" altLang="zh-CN" kern="1200" dirty="0">
                <a:solidFill>
                  <a:prstClr val="black"/>
                </a:solidFill>
                <a:latin typeface="Times New Roman" panose="02020603050405020304" pitchFamily="18" charset="0"/>
              </a:endParaRPr>
            </a:p>
          </p:txBody>
        </p:sp>
        <p:sp>
          <p:nvSpPr>
            <p:cNvPr id="32" name="Line 12">
              <a:extLst>
                <a:ext uri="{FF2B5EF4-FFF2-40B4-BE49-F238E27FC236}">
                  <a16:creationId xmlns:a16="http://schemas.microsoft.com/office/drawing/2014/main" id="{CA7E7E12-3212-47EB-AABE-12C1E218705B}"/>
                </a:ext>
              </a:extLst>
            </p:cNvPr>
            <p:cNvSpPr>
              <a:spLocks noChangeShapeType="1"/>
            </p:cNvSpPr>
            <p:nvPr/>
          </p:nvSpPr>
          <p:spPr bwMode="auto">
            <a:xfrm>
              <a:off x="7803265" y="2016342"/>
              <a:ext cx="1097075" cy="46488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squar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grpSp>
        <p:nvGrpSpPr>
          <p:cNvPr id="35" name="组合 34">
            <a:extLst>
              <a:ext uri="{FF2B5EF4-FFF2-40B4-BE49-F238E27FC236}">
                <a16:creationId xmlns:a16="http://schemas.microsoft.com/office/drawing/2014/main" id="{19404285-1C12-4308-A279-E04202685F5F}"/>
              </a:ext>
            </a:extLst>
          </p:cNvPr>
          <p:cNvGrpSpPr>
            <a:grpSpLocks/>
          </p:cNvGrpSpPr>
          <p:nvPr/>
        </p:nvGrpSpPr>
        <p:grpSpPr bwMode="auto">
          <a:xfrm>
            <a:off x="7016344" y="5037594"/>
            <a:ext cx="269626" cy="699538"/>
            <a:chOff x="8658440" y="2859782"/>
            <a:chExt cx="269377" cy="698404"/>
          </a:xfrm>
        </p:grpSpPr>
        <p:sp>
          <p:nvSpPr>
            <p:cNvPr id="36" name="Line 5">
              <a:extLst>
                <a:ext uri="{FF2B5EF4-FFF2-40B4-BE49-F238E27FC236}">
                  <a16:creationId xmlns:a16="http://schemas.microsoft.com/office/drawing/2014/main" id="{8E5D0A80-B93F-479E-A15F-942508025069}"/>
                </a:ext>
              </a:extLst>
            </p:cNvPr>
            <p:cNvSpPr>
              <a:spLocks noChangeShapeType="1"/>
            </p:cNvSpPr>
            <p:nvPr/>
          </p:nvSpPr>
          <p:spPr bwMode="auto">
            <a:xfrm flipV="1">
              <a:off x="8820472"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sp>
          <p:nvSpPr>
            <p:cNvPr id="37" name="矩形 3">
              <a:extLst>
                <a:ext uri="{FF2B5EF4-FFF2-40B4-BE49-F238E27FC236}">
                  <a16:creationId xmlns:a16="http://schemas.microsoft.com/office/drawing/2014/main" id="{45E6BD9B-3664-4C51-B7FA-BCAEEA94ED72}"/>
                </a:ext>
              </a:extLst>
            </p:cNvPr>
            <p:cNvSpPr>
              <a:spLocks noChangeArrowheads="1"/>
            </p:cNvSpPr>
            <p:nvPr/>
          </p:nvSpPr>
          <p:spPr bwMode="auto">
            <a:xfrm>
              <a:off x="8658440" y="3220181"/>
              <a:ext cx="269377" cy="33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lang="el-GR" altLang="zh-CN" sz="1600" b="1" i="1" kern="12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ε</a:t>
              </a:r>
              <a:endParaRPr lang="zh-CN" altLang="en-US" b="1" kern="1200">
                <a:solidFill>
                  <a:srgbClr val="000000"/>
                </a:solidFill>
                <a:latin typeface="Tahoma" panose="020B0604030504040204" pitchFamily="34" charset="0"/>
                <a:ea typeface="宋体" panose="02010600030101010101" pitchFamily="2" charset="-122"/>
              </a:endParaRPr>
            </a:p>
          </p:txBody>
        </p:sp>
      </p:grpSp>
      <p:sp>
        <p:nvSpPr>
          <p:cNvPr id="40" name="矩形 56">
            <a:extLst>
              <a:ext uri="{FF2B5EF4-FFF2-40B4-BE49-F238E27FC236}">
                <a16:creationId xmlns:a16="http://schemas.microsoft.com/office/drawing/2014/main" id="{16B02699-238B-4D70-B370-9A88DF06D52A}"/>
              </a:ext>
            </a:extLst>
          </p:cNvPr>
          <p:cNvSpPr>
            <a:spLocks noChangeArrowheads="1"/>
          </p:cNvSpPr>
          <p:nvPr/>
        </p:nvSpPr>
        <p:spPr bwMode="auto">
          <a:xfrm>
            <a:off x="2405760" y="3943310"/>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grpSp>
        <p:nvGrpSpPr>
          <p:cNvPr id="41" name="组合 40">
            <a:extLst>
              <a:ext uri="{FF2B5EF4-FFF2-40B4-BE49-F238E27FC236}">
                <a16:creationId xmlns:a16="http://schemas.microsoft.com/office/drawing/2014/main" id="{E67498A6-9BE6-4957-BF74-59D078D6F677}"/>
              </a:ext>
            </a:extLst>
          </p:cNvPr>
          <p:cNvGrpSpPr>
            <a:grpSpLocks/>
          </p:cNvGrpSpPr>
          <p:nvPr/>
        </p:nvGrpSpPr>
        <p:grpSpPr bwMode="auto">
          <a:xfrm>
            <a:off x="2111841" y="4234426"/>
            <a:ext cx="585159" cy="967879"/>
            <a:chOff x="5811182" y="2030902"/>
            <a:chExt cx="584868" cy="967607"/>
          </a:xfrm>
        </p:grpSpPr>
        <p:sp>
          <p:nvSpPr>
            <p:cNvPr id="42" name="Rectangle 2">
              <a:extLst>
                <a:ext uri="{FF2B5EF4-FFF2-40B4-BE49-F238E27FC236}">
                  <a16:creationId xmlns:a16="http://schemas.microsoft.com/office/drawing/2014/main" id="{F3D1C0B1-500B-4108-BED2-EE04E9E417BF}"/>
                </a:ext>
              </a:extLst>
            </p:cNvPr>
            <p:cNvSpPr>
              <a:spLocks noChangeArrowheads="1"/>
            </p:cNvSpPr>
            <p:nvPr/>
          </p:nvSpPr>
          <p:spPr bwMode="auto">
            <a:xfrm>
              <a:off x="5811182" y="2373802"/>
              <a:ext cx="584868" cy="6247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(3)</a:t>
              </a:r>
            </a:p>
          </p:txBody>
        </p:sp>
        <p:sp>
          <p:nvSpPr>
            <p:cNvPr id="43" name="Line 5">
              <a:extLst>
                <a:ext uri="{FF2B5EF4-FFF2-40B4-BE49-F238E27FC236}">
                  <a16:creationId xmlns:a16="http://schemas.microsoft.com/office/drawing/2014/main" id="{B6D916F7-5062-4576-A4CD-F7A0487B45ED}"/>
                </a:ext>
              </a:extLst>
            </p:cNvPr>
            <p:cNvSpPr>
              <a:spLocks noChangeShapeType="1"/>
            </p:cNvSpPr>
            <p:nvPr/>
          </p:nvSpPr>
          <p:spPr bwMode="auto">
            <a:xfrm flipV="1">
              <a:off x="6103416" y="203090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dirty="0">
                <a:solidFill>
                  <a:prstClr val="black"/>
                </a:solidFill>
                <a:latin typeface="Tahoma" panose="020B0604030504040204" pitchFamily="34" charset="0"/>
                <a:ea typeface="宋体" panose="02010600030101010101" pitchFamily="2" charset="-122"/>
              </a:endParaRPr>
            </a:p>
          </p:txBody>
        </p:sp>
      </p:grpSp>
      <p:grpSp>
        <p:nvGrpSpPr>
          <p:cNvPr id="52" name="组合 51">
            <a:extLst>
              <a:ext uri="{FF2B5EF4-FFF2-40B4-BE49-F238E27FC236}">
                <a16:creationId xmlns:a16="http://schemas.microsoft.com/office/drawing/2014/main" id="{E27A1DBD-1164-4229-9D34-B15423EBFA86}"/>
              </a:ext>
            </a:extLst>
          </p:cNvPr>
          <p:cNvGrpSpPr>
            <a:grpSpLocks/>
          </p:cNvGrpSpPr>
          <p:nvPr/>
        </p:nvGrpSpPr>
        <p:grpSpPr bwMode="auto">
          <a:xfrm>
            <a:off x="4602609" y="4972388"/>
            <a:ext cx="585159" cy="1001164"/>
            <a:chOff x="7384879" y="2859782"/>
            <a:chExt cx="585243" cy="1000981"/>
          </a:xfrm>
        </p:grpSpPr>
        <p:sp>
          <p:nvSpPr>
            <p:cNvPr id="53" name="Rectangle 7">
              <a:extLst>
                <a:ext uri="{FF2B5EF4-FFF2-40B4-BE49-F238E27FC236}">
                  <a16:creationId xmlns:a16="http://schemas.microsoft.com/office/drawing/2014/main" id="{655D5F61-E656-4B08-9E18-1ADC4FA0E195}"/>
                </a:ext>
              </a:extLst>
            </p:cNvPr>
            <p:cNvSpPr>
              <a:spLocks noChangeArrowheads="1"/>
            </p:cNvSpPr>
            <p:nvPr/>
          </p:nvSpPr>
          <p:spPr bwMode="auto">
            <a:xfrm>
              <a:off x="7384879" y="3235994"/>
              <a:ext cx="585243" cy="6247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67500" tIns="35100" rIns="67500" bIns="351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defTabSz="914378" rtl="0" fontAlgn="base">
                <a:spcBef>
                  <a:spcPct val="0"/>
                </a:spcBef>
                <a:spcAft>
                  <a:spcPct val="0"/>
                </a:spcAft>
                <a:defRPr/>
              </a:pPr>
              <a:r>
                <a:rPr kumimoji="1" lang="en-US" altLang="zh-CN" kern="1200" dirty="0">
                  <a:solidFill>
                    <a:prstClr val="black"/>
                  </a:solidFill>
                  <a:latin typeface="Times New Roman" panose="02020603050405020304" pitchFamily="18" charset="0"/>
                </a:rPr>
                <a:t>digit</a:t>
              </a:r>
            </a:p>
            <a:p>
              <a:pPr algn="ctr" defTabSz="914378" rtl="0" fontAlgn="base">
                <a:spcBef>
                  <a:spcPct val="0"/>
                </a:spcBef>
                <a:spcAft>
                  <a:spcPct val="0"/>
                </a:spcAft>
                <a:defRPr/>
              </a:pPr>
              <a:r>
                <a:rPr kumimoji="1" lang="en-US" altLang="zh-CN" kern="1200" dirty="0">
                  <a:solidFill>
                    <a:srgbClr val="000000"/>
                  </a:solidFill>
                  <a:latin typeface="Times New Roman" panose="02020603050405020304" pitchFamily="18" charset="0"/>
                </a:rPr>
                <a:t>(5)</a:t>
              </a:r>
            </a:p>
          </p:txBody>
        </p:sp>
        <p:sp>
          <p:nvSpPr>
            <p:cNvPr id="54" name="Line 5">
              <a:extLst>
                <a:ext uri="{FF2B5EF4-FFF2-40B4-BE49-F238E27FC236}">
                  <a16:creationId xmlns:a16="http://schemas.microsoft.com/office/drawing/2014/main" id="{B5E9E43D-9CF5-4816-9D4E-0B577BF44101}"/>
                </a:ext>
              </a:extLst>
            </p:cNvPr>
            <p:cNvSpPr>
              <a:spLocks noChangeShapeType="1"/>
            </p:cNvSpPr>
            <p:nvPr/>
          </p:nvSpPr>
          <p:spPr bwMode="auto">
            <a:xfrm flipV="1">
              <a:off x="7664313"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67500" tIns="35100" rIns="67500" bIns="35100" anchor="ctr">
              <a:spAutoFit/>
            </a:bodyPr>
            <a:lstStyle/>
            <a:p>
              <a:pPr defTabSz="914378" rtl="0" eaLnBrk="0" fontAlgn="base" hangingPunct="0">
                <a:spcBef>
                  <a:spcPct val="0"/>
                </a:spcBef>
                <a:spcAft>
                  <a:spcPct val="0"/>
                </a:spcAft>
                <a:defRPr/>
              </a:pPr>
              <a:endParaRPr lang="zh-CN" altLang="en-US" b="1" kern="1200">
                <a:solidFill>
                  <a:prstClr val="black"/>
                </a:solidFill>
                <a:latin typeface="Tahoma" panose="020B0604030504040204" pitchFamily="34" charset="0"/>
                <a:ea typeface="宋体" panose="02010600030101010101" pitchFamily="2" charset="-122"/>
              </a:endParaRPr>
            </a:p>
          </p:txBody>
        </p:sp>
      </p:grpSp>
      <p:sp>
        <p:nvSpPr>
          <p:cNvPr id="2" name="矩形 1">
            <a:extLst>
              <a:ext uri="{FF2B5EF4-FFF2-40B4-BE49-F238E27FC236}">
                <a16:creationId xmlns:a16="http://schemas.microsoft.com/office/drawing/2014/main" id="{DA6DEA27-2984-4CBD-B134-9C7C1AFB2DD9}"/>
              </a:ext>
            </a:extLst>
          </p:cNvPr>
          <p:cNvSpPr/>
          <p:nvPr/>
        </p:nvSpPr>
        <p:spPr>
          <a:xfrm>
            <a:off x="5274428" y="5406742"/>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sp>
        <p:nvSpPr>
          <p:cNvPr id="7" name="矩形 6">
            <a:extLst>
              <a:ext uri="{FF2B5EF4-FFF2-40B4-BE49-F238E27FC236}">
                <a16:creationId xmlns:a16="http://schemas.microsoft.com/office/drawing/2014/main" id="{720406B1-D6F3-41A5-90AF-1E3404BCEFDC}"/>
              </a:ext>
            </a:extLst>
          </p:cNvPr>
          <p:cNvSpPr/>
          <p:nvPr/>
        </p:nvSpPr>
        <p:spPr>
          <a:xfrm>
            <a:off x="7256393" y="5398579"/>
            <a:ext cx="1620957"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200" kern="1200" dirty="0">
              <a:solidFill>
                <a:prstClr val="black"/>
              </a:solidFill>
              <a:latin typeface="Candara"/>
              <a:ea typeface="华文楷体" panose="02010600040101010101" pitchFamily="2" charset="-122"/>
            </a:endParaRPr>
          </a:p>
        </p:txBody>
      </p:sp>
      <p:sp>
        <p:nvSpPr>
          <p:cNvPr id="8" name="矩形 7">
            <a:extLst>
              <a:ext uri="{FF2B5EF4-FFF2-40B4-BE49-F238E27FC236}">
                <a16:creationId xmlns:a16="http://schemas.microsoft.com/office/drawing/2014/main" id="{5D9B4699-2F7A-4771-B148-1C65D8C96225}"/>
              </a:ext>
            </a:extLst>
          </p:cNvPr>
          <p:cNvSpPr/>
          <p:nvPr/>
        </p:nvSpPr>
        <p:spPr>
          <a:xfrm>
            <a:off x="4999091" y="4624503"/>
            <a:ext cx="2301464" cy="323165"/>
          </a:xfrm>
          <a:prstGeom prst="rect">
            <a:avLst/>
          </a:prstGeom>
        </p:spPr>
        <p:txBody>
          <a:bodyPr wrap="none">
            <a:spAutoFit/>
          </a:bodyPr>
          <a:lstStyle/>
          <a:p>
            <a:pPr defTabSz="685800" rtl="0">
              <a:defRPr/>
            </a:pP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kern="1200"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 </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.inh</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10" name="矩形 9">
            <a:extLst>
              <a:ext uri="{FF2B5EF4-FFF2-40B4-BE49-F238E27FC236}">
                <a16:creationId xmlns:a16="http://schemas.microsoft.com/office/drawing/2014/main" id="{45B2F774-194E-4726-89E5-716BF3C48B60}"/>
              </a:ext>
            </a:extLst>
          </p:cNvPr>
          <p:cNvSpPr/>
          <p:nvPr/>
        </p:nvSpPr>
        <p:spPr>
          <a:xfrm>
            <a:off x="3311478" y="3762345"/>
            <a:ext cx="1557671"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T</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inh</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 </a:t>
            </a:r>
            <a:endParaRPr lang="zh-CN" altLang="en-US" sz="1200" kern="1200" dirty="0">
              <a:solidFill>
                <a:prstClr val="black"/>
              </a:solidFill>
              <a:latin typeface="Candara"/>
              <a:ea typeface="华文楷体" panose="02010600040101010101" pitchFamily="2" charset="-122"/>
            </a:endParaRPr>
          </a:p>
        </p:txBody>
      </p:sp>
      <p:sp>
        <p:nvSpPr>
          <p:cNvPr id="37888" name="矩形 37887">
            <a:extLst>
              <a:ext uri="{FF2B5EF4-FFF2-40B4-BE49-F238E27FC236}">
                <a16:creationId xmlns:a16="http://schemas.microsoft.com/office/drawing/2014/main" id="{890B9FA2-EE87-4B24-8A90-81C2BA75F4BA}"/>
              </a:ext>
            </a:extLst>
          </p:cNvPr>
          <p:cNvSpPr/>
          <p:nvPr/>
        </p:nvSpPr>
        <p:spPr>
          <a:xfrm>
            <a:off x="6128180" y="3776007"/>
            <a:ext cx="1505540" cy="323165"/>
          </a:xfrm>
          <a:prstGeom prst="rect">
            <a:avLst/>
          </a:prstGeom>
        </p:spPr>
        <p:txBody>
          <a:bodyPr wrap="none">
            <a:spAutoFit/>
          </a:bodyPr>
          <a:lstStyle/>
          <a:p>
            <a:pPr marL="342892" indent="-342892" defTabSz="914378" rtl="0"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T.val</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T</a:t>
            </a:r>
            <a:r>
              <a:rPr lang="en-US" altLang="zh-CN" sz="1500" b="1" i="1" kern="1200" dirty="0" err="1">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.syn</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 }</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75" name="矩形 74">
            <a:extLst>
              <a:ext uri="{FF2B5EF4-FFF2-40B4-BE49-F238E27FC236}">
                <a16:creationId xmlns:a16="http://schemas.microsoft.com/office/drawing/2014/main" id="{16DF4C1D-377E-40FA-A384-97B47EAF4CB8}"/>
              </a:ext>
            </a:extLst>
          </p:cNvPr>
          <p:cNvSpPr/>
          <p:nvPr/>
        </p:nvSpPr>
        <p:spPr>
          <a:xfrm>
            <a:off x="2621656" y="4618451"/>
            <a:ext cx="1911934" cy="323165"/>
          </a:xfrm>
          <a:prstGeom prst="rect">
            <a:avLst/>
          </a:prstGeom>
        </p:spPr>
        <p:txBody>
          <a:bodyPr wrap="none">
            <a:spAutoFit/>
          </a:bodyPr>
          <a:lstStyle/>
          <a:p>
            <a:pPr defTabSz="685800" rtl="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F.val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 </a:t>
            </a:r>
            <a:r>
              <a:rPr lang="en-US" altLang="zh-CN" sz="1500" b="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a:t>
            </a:r>
            <a:r>
              <a:rPr lang="en-US" altLang="zh-CN" sz="1500" b="1" i="1" kern="1200"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lexval</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 }</a:t>
            </a:r>
            <a:endParaRPr lang="zh-CN" altLang="en-US" sz="1200" kern="1200" dirty="0">
              <a:solidFill>
                <a:prstClr val="black"/>
              </a:solidFill>
              <a:latin typeface="Candara"/>
              <a:ea typeface="华文楷体" panose="02010600040101010101" pitchFamily="2" charset="-122"/>
            </a:endParaRPr>
          </a:p>
        </p:txBody>
      </p:sp>
      <p:cxnSp>
        <p:nvCxnSpPr>
          <p:cNvPr id="37890" name="直接箭头连接符 37889">
            <a:extLst>
              <a:ext uri="{FF2B5EF4-FFF2-40B4-BE49-F238E27FC236}">
                <a16:creationId xmlns:a16="http://schemas.microsoft.com/office/drawing/2014/main" id="{8A455B10-95DC-4067-A5C0-2123753472C9}"/>
              </a:ext>
            </a:extLst>
          </p:cNvPr>
          <p:cNvCxnSpPr/>
          <p:nvPr/>
        </p:nvCxnSpPr>
        <p:spPr>
          <a:xfrm flipV="1">
            <a:off x="6669548" y="4084324"/>
            <a:ext cx="277332" cy="269559"/>
          </a:xfrm>
          <a:prstGeom prst="straightConnector1">
            <a:avLst/>
          </a:prstGeom>
          <a:ln w="381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99AC97F7-9F41-45F3-8E95-534EC7BD20CE}"/>
              </a:ext>
            </a:extLst>
          </p:cNvPr>
          <p:cNvSpPr/>
          <p:nvPr/>
        </p:nvSpPr>
        <p:spPr>
          <a:xfrm>
            <a:off x="7391754" y="4608752"/>
            <a:ext cx="1636987" cy="323165"/>
          </a:xfrm>
          <a:prstGeom prst="rect">
            <a:avLst/>
          </a:prstGeom>
        </p:spPr>
        <p:txBody>
          <a:bodyPr wrap="none">
            <a:spAutoFit/>
          </a:bodyPr>
          <a:lstStyle/>
          <a:p>
            <a:pPr marL="342892" indent="-342892" defTabSz="914378" rtl="0" fontAlgn="base">
              <a:spcBef>
                <a:spcPct val="20000"/>
              </a:spcBef>
              <a:spcAft>
                <a:spcPct val="0"/>
              </a:spcAft>
              <a:buClr>
                <a:srgbClr val="5EAEFF"/>
              </a:buClr>
              <a:buSzPct val="60000"/>
              <a:defRPr/>
            </a:pP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1500" b="1" i="1" kern="1200" baseline="-250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500" b="1" i="1" kern="1200" dirty="0">
                <a:solidFill>
                  <a:srgbClr val="073E87">
                    <a:lumMod val="60000"/>
                    <a:lumOff val="40000"/>
                  </a:srgbClr>
                </a:solidFill>
                <a:latin typeface="Times New Roman" panose="02020603050405020304" pitchFamily="18" charset="0"/>
                <a:ea typeface="楷体" panose="02010609060101010101" pitchFamily="49" charset="-122"/>
              </a:rPr>
              <a:t>′</a:t>
            </a:r>
            <a:r>
              <a:rPr lang="en-US" altLang="zh-CN" sz="1500" b="1" i="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.syn</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a:t>
            </a:r>
            <a:endParaRPr lang="zh-CN" altLang="en-US" sz="1500" b="1" kern="1200"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45" name="矩形 56">
            <a:extLst>
              <a:ext uri="{FF2B5EF4-FFF2-40B4-BE49-F238E27FC236}">
                <a16:creationId xmlns:a16="http://schemas.microsoft.com/office/drawing/2014/main" id="{CFA74744-B2D9-4B80-B1F4-28EAD8807DBB}"/>
              </a:ext>
            </a:extLst>
          </p:cNvPr>
          <p:cNvSpPr>
            <a:spLocks noChangeArrowheads="1"/>
          </p:cNvSpPr>
          <p:nvPr/>
        </p:nvSpPr>
        <p:spPr bwMode="auto">
          <a:xfrm>
            <a:off x="4922724" y="3817698"/>
            <a:ext cx="6254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err="1">
                <a:solidFill>
                  <a:srgbClr val="FF0000"/>
                </a:solidFill>
                <a:latin typeface="Times New Roman" panose="02020603050405020304" pitchFamily="18" charset="0"/>
                <a:ea typeface="宋体" panose="02010600030101010101" pitchFamily="2" charset="-122"/>
                <a:sym typeface="Symbol" panose="05050102010706020507" pitchFamily="18" charset="2"/>
              </a:rPr>
              <a:t>inh</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=3</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6" name="矩形 56">
            <a:extLst>
              <a:ext uri="{FF2B5EF4-FFF2-40B4-BE49-F238E27FC236}">
                <a16:creationId xmlns:a16="http://schemas.microsoft.com/office/drawing/2014/main" id="{E8B7BF26-CD8C-407F-A211-6EEAB1FB423C}"/>
              </a:ext>
            </a:extLst>
          </p:cNvPr>
          <p:cNvSpPr>
            <a:spLocks noChangeArrowheads="1"/>
          </p:cNvSpPr>
          <p:nvPr/>
        </p:nvSpPr>
        <p:spPr bwMode="auto">
          <a:xfrm>
            <a:off x="4802021" y="4742175"/>
            <a:ext cx="596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7" name="矩形 56">
            <a:extLst>
              <a:ext uri="{FF2B5EF4-FFF2-40B4-BE49-F238E27FC236}">
                <a16:creationId xmlns:a16="http://schemas.microsoft.com/office/drawing/2014/main" id="{0EB6DBB9-F3F8-43D7-BAFC-AEF6BE33751C}"/>
              </a:ext>
            </a:extLst>
          </p:cNvPr>
          <p:cNvSpPr>
            <a:spLocks noChangeArrowheads="1"/>
          </p:cNvSpPr>
          <p:nvPr/>
        </p:nvSpPr>
        <p:spPr bwMode="auto">
          <a:xfrm>
            <a:off x="6574859" y="4774544"/>
            <a:ext cx="7152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err="1">
                <a:solidFill>
                  <a:srgbClr val="FF0000"/>
                </a:solidFill>
                <a:latin typeface="Times New Roman" panose="02020603050405020304" pitchFamily="18" charset="0"/>
                <a:ea typeface="宋体" panose="02010600030101010101" pitchFamily="2" charset="-122"/>
                <a:sym typeface="Symbol" panose="05050102010706020507" pitchFamily="18" charset="2"/>
              </a:rPr>
              <a:t>inh</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8" name="矩形 56">
            <a:extLst>
              <a:ext uri="{FF2B5EF4-FFF2-40B4-BE49-F238E27FC236}">
                <a16:creationId xmlns:a16="http://schemas.microsoft.com/office/drawing/2014/main" id="{2ECF8756-75CB-42DB-8FC5-462B1155110A}"/>
              </a:ext>
            </a:extLst>
          </p:cNvPr>
          <p:cNvSpPr>
            <a:spLocks noChangeArrowheads="1"/>
          </p:cNvSpPr>
          <p:nvPr/>
        </p:nvSpPr>
        <p:spPr bwMode="auto">
          <a:xfrm>
            <a:off x="7267863" y="4765810"/>
            <a:ext cx="7168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syn</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49" name="矩形 56">
            <a:extLst>
              <a:ext uri="{FF2B5EF4-FFF2-40B4-BE49-F238E27FC236}">
                <a16:creationId xmlns:a16="http://schemas.microsoft.com/office/drawing/2014/main" id="{8B658F38-6952-4CD8-BC88-49306F12E8D1}"/>
              </a:ext>
            </a:extLst>
          </p:cNvPr>
          <p:cNvSpPr>
            <a:spLocks noChangeArrowheads="1"/>
          </p:cNvSpPr>
          <p:nvPr/>
        </p:nvSpPr>
        <p:spPr bwMode="auto">
          <a:xfrm>
            <a:off x="5619488" y="3851274"/>
            <a:ext cx="7168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syn</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=15</a:t>
            </a:r>
            <a:endParaRPr lang="zh-CN" altLang="en-US" sz="1400" b="1" kern="1200" dirty="0">
              <a:solidFill>
                <a:srgbClr val="FF0000"/>
              </a:solidFill>
              <a:latin typeface="Tahoma" panose="020B0604030504040204" pitchFamily="34" charset="0"/>
              <a:ea typeface="宋体" panose="02010600030101010101" pitchFamily="2" charset="-122"/>
            </a:endParaRPr>
          </a:p>
        </p:txBody>
      </p:sp>
      <p:sp>
        <p:nvSpPr>
          <p:cNvPr id="50" name="矩形 56">
            <a:extLst>
              <a:ext uri="{FF2B5EF4-FFF2-40B4-BE49-F238E27FC236}">
                <a16:creationId xmlns:a16="http://schemas.microsoft.com/office/drawing/2014/main" id="{D80CF9EC-E3D9-4567-A8CC-B6E0C67D3CAE}"/>
              </a:ext>
            </a:extLst>
          </p:cNvPr>
          <p:cNvSpPr>
            <a:spLocks noChangeArrowheads="1"/>
          </p:cNvSpPr>
          <p:nvPr/>
        </p:nvSpPr>
        <p:spPr bwMode="auto">
          <a:xfrm>
            <a:off x="3968672" y="3102573"/>
            <a:ext cx="686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378" rtl="0" eaLnBrk="0" fontAlgn="base" hangingPunct="0">
              <a:spcBef>
                <a:spcPct val="0"/>
              </a:spcBef>
              <a:spcAft>
                <a:spcPct val="0"/>
              </a:spcAft>
              <a:defRPr/>
            </a:pPr>
            <a:r>
              <a:rPr kumimoji="1" lang="en-US" altLang="zh-CN" sz="1400" b="1"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val</a:t>
            </a:r>
            <a:r>
              <a:rPr kumimoji="1" lang="en-US" altLang="zh-CN" sz="1400" b="1" kern="1200" dirty="0">
                <a:solidFill>
                  <a:srgbClr val="FF0000"/>
                </a:solidFill>
                <a:latin typeface="Times New Roman" panose="02020603050405020304" pitchFamily="18" charset="0"/>
                <a:ea typeface="宋体" panose="02010600030101010101" pitchFamily="2" charset="-122"/>
                <a:sym typeface="Symbol" panose="05050102010706020507" pitchFamily="18" charset="2"/>
              </a:rPr>
              <a:t>=15</a:t>
            </a:r>
            <a:endParaRPr lang="zh-CN" altLang="en-US" sz="1400" b="1" kern="1200" dirty="0">
              <a:solidFill>
                <a:srgbClr val="FF0000"/>
              </a:solidFill>
              <a:latin typeface="Tahoma" panose="020B0604030504040204" pitchFamily="34" charset="0"/>
              <a:ea typeface="宋体" panose="02010600030101010101" pitchFamily="2" charset="-122"/>
            </a:endParaRPr>
          </a:p>
        </p:txBody>
      </p:sp>
      <p:pic>
        <p:nvPicPr>
          <p:cNvPr id="55" name="图片 54">
            <a:extLst>
              <a:ext uri="{FF2B5EF4-FFF2-40B4-BE49-F238E27FC236}">
                <a16:creationId xmlns:a16="http://schemas.microsoft.com/office/drawing/2014/main" id="{C375EC65-23AF-44F4-B68D-FC98AF528930}"/>
              </a:ext>
            </a:extLst>
          </p:cNvPr>
          <p:cNvPicPr>
            <a:picLocks noChangeAspect="1"/>
          </p:cNvPicPr>
          <p:nvPr/>
        </p:nvPicPr>
        <p:blipFill>
          <a:blip r:embed="rId3"/>
          <a:stretch>
            <a:fillRect/>
          </a:stretch>
        </p:blipFill>
        <p:spPr bwMode="auto">
          <a:xfrm>
            <a:off x="497236" y="288443"/>
            <a:ext cx="3375510" cy="1980838"/>
          </a:xfrm>
          <a:prstGeom prst="rect">
            <a:avLst/>
          </a:prstGeom>
        </p:spPr>
      </p:pic>
      <p:sp>
        <p:nvSpPr>
          <p:cNvPr id="3" name="日期占位符 2">
            <a:extLst>
              <a:ext uri="{FF2B5EF4-FFF2-40B4-BE49-F238E27FC236}">
                <a16:creationId xmlns:a16="http://schemas.microsoft.com/office/drawing/2014/main" id="{A8A58538-4B50-2055-277F-0B12150DEF9D}"/>
              </a:ext>
            </a:extLst>
          </p:cNvPr>
          <p:cNvSpPr>
            <a:spLocks noGrp="1"/>
          </p:cNvSpPr>
          <p:nvPr>
            <p:ph type="dt" sz="half" idx="10"/>
          </p:nvPr>
        </p:nvSpPr>
        <p:spPr/>
        <p:txBody>
          <a:bodyPr/>
          <a:lstStyle/>
          <a:p>
            <a:pPr>
              <a:defRPr/>
            </a:pPr>
            <a:r>
              <a:rPr lang="en-US" altLang="zh-CN"/>
              <a:t>Fall 2024</a:t>
            </a:r>
            <a:endParaRPr lang="en-US"/>
          </a:p>
        </p:txBody>
      </p:sp>
      <p:sp>
        <p:nvSpPr>
          <p:cNvPr id="4" name="页脚占位符 3">
            <a:extLst>
              <a:ext uri="{FF2B5EF4-FFF2-40B4-BE49-F238E27FC236}">
                <a16:creationId xmlns:a16="http://schemas.microsoft.com/office/drawing/2014/main" id="{D0C05387-FBE5-6058-BC77-70A22B66B148}"/>
              </a:ext>
            </a:extLst>
          </p:cNvPr>
          <p:cNvSpPr>
            <a:spLocks noGrp="1"/>
          </p:cNvSpPr>
          <p:nvPr>
            <p:ph type="ftr" sz="quarter" idx="11"/>
          </p:nvPr>
        </p:nvSpPr>
        <p:spPr/>
        <p:txBody>
          <a:bodyPr/>
          <a:lstStyle/>
          <a:p>
            <a:pPr>
              <a:defRPr/>
            </a:pPr>
            <a:r>
              <a:rPr lang="en-US"/>
              <a:t>BUPT Compilers</a:t>
            </a:r>
          </a:p>
        </p:txBody>
      </p:sp>
      <p:sp>
        <p:nvSpPr>
          <p:cNvPr id="5" name="灯片编号占位符 4">
            <a:extLst>
              <a:ext uri="{FF2B5EF4-FFF2-40B4-BE49-F238E27FC236}">
                <a16:creationId xmlns:a16="http://schemas.microsoft.com/office/drawing/2014/main" id="{E3E5330D-C3D6-01ED-9B21-8532F3678F54}"/>
              </a:ext>
            </a:extLst>
          </p:cNvPr>
          <p:cNvSpPr>
            <a:spLocks noGrp="1"/>
          </p:cNvSpPr>
          <p:nvPr>
            <p:ph type="sldNum" sz="quarter" idx="12"/>
          </p:nvPr>
        </p:nvSpPr>
        <p:spPr/>
        <p:txBody>
          <a:bodyPr/>
          <a:lstStyle/>
          <a:p>
            <a:pPr>
              <a:defRPr/>
            </a:pPr>
            <a:fld id="{2FBC720A-3716-234A-B2DF-CBC7E48049F5}" type="slidenum">
              <a:rPr lang="en-US" altLang="zh-CN" smtClean="0"/>
              <a:t>32</a:t>
            </a:fld>
            <a:endParaRPr lang="en-US" altLang="zh-CN"/>
          </a:p>
        </p:txBody>
      </p:sp>
    </p:spTree>
    <p:extLst>
      <p:ext uri="{BB962C8B-B14F-4D97-AF65-F5344CB8AC3E}">
        <p14:creationId xmlns:p14="http://schemas.microsoft.com/office/powerpoint/2010/main" val="360140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500" fill="hold"/>
                                        <p:tgtEl>
                                          <p:spTgt spid="37890"/>
                                        </p:tgtEl>
                                        <p:attrNameLst>
                                          <p:attrName>ppt_w</p:attrName>
                                        </p:attrNameLst>
                                      </p:cBhvr>
                                      <p:tavLst>
                                        <p:tav tm="0">
                                          <p:val>
                                            <p:fltVal val="0"/>
                                          </p:val>
                                        </p:tav>
                                        <p:tav tm="100000">
                                          <p:val>
                                            <p:strVal val="#ppt_w"/>
                                          </p:val>
                                        </p:tav>
                                      </p:tavLst>
                                    </p:anim>
                                    <p:anim calcmode="lin" valueType="num">
                                      <p:cBhvr>
                                        <p:cTn id="8" dur="500" fill="hold"/>
                                        <p:tgtEl>
                                          <p:spTgt spid="37890"/>
                                        </p:tgtEl>
                                        <p:attrNameLst>
                                          <p:attrName>ppt_h</p:attrName>
                                        </p:attrNameLst>
                                      </p:cBhvr>
                                      <p:tavLst>
                                        <p:tav tm="0">
                                          <p:val>
                                            <p:fltVal val="0"/>
                                          </p:val>
                                        </p:tav>
                                        <p:tav tm="100000">
                                          <p:val>
                                            <p:strVal val="#ppt_h"/>
                                          </p:val>
                                        </p:tav>
                                      </p:tavLst>
                                    </p:anim>
                                    <p:animEffect transition="in" filter="fade">
                                      <p:cBhvr>
                                        <p:cTn id="9" dur="500"/>
                                        <p:tgtEl>
                                          <p:spTgt spid="3789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anim calcmode="lin" valueType="num">
                                      <p:cBhvr>
                                        <p:cTn id="14" dur="500" fill="hold"/>
                                        <p:tgtEl>
                                          <p:spTgt spid="50"/>
                                        </p:tgtEl>
                                        <p:attrNameLst>
                                          <p:attrName>ppt_w</p:attrName>
                                        </p:attrNameLst>
                                      </p:cBhvr>
                                      <p:tavLst>
                                        <p:tav tm="0">
                                          <p:val>
                                            <p:fltVal val="0"/>
                                          </p:val>
                                        </p:tav>
                                        <p:tav tm="100000">
                                          <p:val>
                                            <p:strVal val="#ppt_w"/>
                                          </p:val>
                                        </p:tav>
                                      </p:tavLst>
                                    </p:anim>
                                    <p:anim calcmode="lin" valueType="num">
                                      <p:cBhvr>
                                        <p:cTn id="15" dur="500" fill="hold"/>
                                        <p:tgtEl>
                                          <p:spTgt spid="50"/>
                                        </p:tgtEl>
                                        <p:attrNameLst>
                                          <p:attrName>ppt_h</p:attrName>
                                        </p:attrNameLst>
                                      </p:cBhvr>
                                      <p:tavLst>
                                        <p:tav tm="0">
                                          <p:val>
                                            <p:fltVal val="0"/>
                                          </p:val>
                                        </p:tav>
                                        <p:tav tm="100000">
                                          <p:val>
                                            <p:strVal val="#ppt_h"/>
                                          </p:val>
                                        </p:tav>
                                      </p:tavLst>
                                    </p:anim>
                                    <p:animEffect transition="in" filter="fade">
                                      <p:cBhvr>
                                        <p:cTn id="16"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pPr algn="ctr"/>
            <a:r>
              <a:rPr lang="en-US" altLang="zh-CN" sz="3600" dirty="0">
                <a:latin typeface="Times New Roman" panose="02020603050405020304" pitchFamily="18" charset="0"/>
                <a:cs typeface="Times New Roman" panose="02020603050405020304" pitchFamily="18" charset="0"/>
              </a:rPr>
              <a:t>Attribute Evaluation </a:t>
            </a:r>
            <a:br>
              <a:rPr lang="en-US" altLang="zh-CN" sz="3600" dirty="0">
                <a:latin typeface="Times New Roman" panose="02020603050405020304" pitchFamily="18" charset="0"/>
                <a:cs typeface="Times New Roman" panose="02020603050405020304" pitchFamily="18" charset="0"/>
              </a:rPr>
            </a:br>
            <a:r>
              <a:rPr lang="en-US" altLang="zh-CN" sz="3600" dirty="0">
                <a:latin typeface="Times New Roman" panose="02020603050405020304" pitchFamily="18" charset="0"/>
                <a:cs typeface="Times New Roman" panose="02020603050405020304" pitchFamily="18" charset="0"/>
              </a:rPr>
              <a:t>for L-Attributed Definitions</a:t>
            </a:r>
            <a:endParaRPr lang="zh-CN" altLang="en-US" sz="3600" dirty="0">
              <a:latin typeface="Times New Roman" panose="02020603050405020304" pitchFamily="18" charset="0"/>
              <a:cs typeface="Times New Roman" panose="02020603050405020304" pitchFamily="18" charset="0"/>
            </a:endParaRPr>
          </a:p>
        </p:txBody>
      </p:sp>
      <p:sp>
        <p:nvSpPr>
          <p:cNvPr id="4" name="内容占位符 3"/>
          <p:cNvSpPr>
            <a:spLocks noGrp="1"/>
          </p:cNvSpPr>
          <p:nvPr>
            <p:ph idx="1"/>
          </p:nvPr>
        </p:nvSpPr>
        <p:spPr>
          <a:xfrm>
            <a:off x="628650" y="1556385"/>
            <a:ext cx="7886700" cy="1080527"/>
          </a:xfrm>
        </p:spPr>
        <p:txBody>
          <a:bodyPr>
            <a:noAutofit/>
          </a:bodyPr>
          <a:lstStyle/>
          <a:p>
            <a:pPr marL="0" indent="0">
              <a:buNone/>
            </a:pPr>
            <a:r>
              <a:rPr lang="en-US" altLang="zh-CN" sz="1800" b="1" dirty="0">
                <a:solidFill>
                  <a:srgbClr val="FF0000"/>
                </a:solidFill>
                <a:effectLst/>
                <a:latin typeface="Times New Roman" panose="02020603050405020304" pitchFamily="18" charset="0"/>
                <a:cs typeface="Times New Roman" panose="02020603050405020304" pitchFamily="18" charset="0"/>
              </a:rPr>
              <a:t>Input: </a:t>
            </a:r>
            <a:r>
              <a:rPr lang="en-US" altLang="zh-CN" sz="1800" dirty="0">
                <a:solidFill>
                  <a:srgbClr val="000000"/>
                </a:solidFill>
                <a:effectLst/>
                <a:latin typeface="Times New Roman" panose="02020603050405020304" pitchFamily="18" charset="0"/>
                <a:cs typeface="Times New Roman" panose="02020603050405020304" pitchFamily="18" charset="0"/>
              </a:rPr>
              <a:t>A node </a:t>
            </a:r>
            <a:r>
              <a:rPr lang="en-US" altLang="zh-CN" sz="1800" i="1" dirty="0">
                <a:solidFill>
                  <a:srgbClr val="000000"/>
                </a:solidFill>
                <a:effectLst/>
                <a:latin typeface="Times New Roman" panose="02020603050405020304" pitchFamily="18" charset="0"/>
                <a:cs typeface="Times New Roman" panose="02020603050405020304" pitchFamily="18" charset="0"/>
              </a:rPr>
              <a:t>n</a:t>
            </a:r>
            <a:r>
              <a:rPr lang="en-US" altLang="zh-CN" sz="1800" dirty="0">
                <a:solidFill>
                  <a:srgbClr val="000000"/>
                </a:solidFill>
                <a:effectLst/>
                <a:latin typeface="Times New Roman" panose="02020603050405020304" pitchFamily="18" charset="0"/>
                <a:cs typeface="Times New Roman" panose="02020603050405020304" pitchFamily="18" charset="0"/>
              </a:rPr>
              <a:t> in a parse tree </a:t>
            </a:r>
            <a:r>
              <a:rPr lang="en-US" altLang="zh-CN" sz="1800" i="1" dirty="0">
                <a:solidFill>
                  <a:srgbClr val="000000"/>
                </a:solidFill>
                <a:effectLst/>
                <a:latin typeface="Times New Roman" panose="02020603050405020304" pitchFamily="18" charset="0"/>
                <a:cs typeface="Times New Roman" panose="02020603050405020304" pitchFamily="18" charset="0"/>
              </a:rPr>
              <a:t>T</a:t>
            </a:r>
            <a:r>
              <a:rPr lang="en-US" altLang="zh-CN" sz="1800" dirty="0">
                <a:solidFill>
                  <a:srgbClr val="000000"/>
                </a:solidFill>
                <a:effectLst/>
                <a:latin typeface="Times New Roman" panose="02020603050405020304" pitchFamily="18" charset="0"/>
                <a:cs typeface="Times New Roman" panose="02020603050405020304" pitchFamily="18" charset="0"/>
              </a:rPr>
              <a:t> </a:t>
            </a:r>
            <a:endParaRPr lang="en-US" altLang="zh-CN" sz="1200" dirty="0">
              <a:latin typeface="Times New Roman" panose="02020603050405020304" pitchFamily="18" charset="0"/>
              <a:cs typeface="Times New Roman" panose="02020603050405020304" pitchFamily="18" charset="0"/>
            </a:endParaRPr>
          </a:p>
          <a:p>
            <a:pPr marL="0" indent="0">
              <a:buNone/>
            </a:pPr>
            <a:r>
              <a:rPr lang="en-US" altLang="zh-CN" sz="1800" b="1" dirty="0">
                <a:solidFill>
                  <a:srgbClr val="FF0000"/>
                </a:solidFill>
                <a:effectLst/>
                <a:latin typeface="Times New Roman" panose="02020603050405020304" pitchFamily="18" charset="0"/>
                <a:cs typeface="Times New Roman" panose="02020603050405020304" pitchFamily="18" charset="0"/>
              </a:rPr>
              <a:t>Output: </a:t>
            </a:r>
            <a:r>
              <a:rPr lang="en-US" altLang="zh-CN" sz="1800" dirty="0">
                <a:solidFill>
                  <a:srgbClr val="000000"/>
                </a:solidFill>
                <a:effectLst/>
                <a:latin typeface="Times New Roman" panose="02020603050405020304" pitchFamily="18" charset="0"/>
                <a:cs typeface="Times New Roman" panose="02020603050405020304" pitchFamily="18" charset="0"/>
              </a:rPr>
              <a:t>An evaluation order for the attributes of the subtree rooted at </a:t>
            </a:r>
            <a:r>
              <a:rPr lang="en-US" altLang="zh-CN" sz="1800" i="1" dirty="0">
                <a:solidFill>
                  <a:srgbClr val="000000"/>
                </a:solidFill>
                <a:effectLst/>
                <a:latin typeface="Times New Roman" panose="02020603050405020304" pitchFamily="18" charset="0"/>
                <a:cs typeface="Times New Roman" panose="02020603050405020304" pitchFamily="18" charset="0"/>
              </a:rPr>
              <a:t>n</a:t>
            </a:r>
            <a:endParaRPr sz="1800" i="1" dirty="0">
              <a:latin typeface="Times New Roman" panose="02020603050405020304" pitchFamily="18" charset="0"/>
              <a:ea typeface="Palatino Linotype" panose="02040502050505030304"/>
              <a:cs typeface="Times New Roman" panose="02020603050405020304" pitchFamily="18" charset="0"/>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33</a:t>
            </a:fld>
            <a:endParaRPr/>
          </a:p>
        </p:txBody>
      </p:sp>
      <p:sp>
        <p:nvSpPr>
          <p:cNvPr id="2" name="文本框 1">
            <a:extLst>
              <a:ext uri="{FF2B5EF4-FFF2-40B4-BE49-F238E27FC236}">
                <a16:creationId xmlns:a16="http://schemas.microsoft.com/office/drawing/2014/main" id="{6A115F3B-8286-3BE6-EFF9-BCDF192F819E}"/>
              </a:ext>
            </a:extLst>
          </p:cNvPr>
          <p:cNvSpPr txBox="1"/>
          <p:nvPr/>
        </p:nvSpPr>
        <p:spPr>
          <a:xfrm>
            <a:off x="628650" y="2716292"/>
            <a:ext cx="2632452" cy="2862322"/>
          </a:xfrm>
          <a:prstGeom prst="rect">
            <a:avLst/>
          </a:prstGeom>
          <a:noFill/>
        </p:spPr>
        <p:txBody>
          <a:bodyPr wrap="none" rtlCol="0">
            <a:spAutoFit/>
          </a:bodyPr>
          <a:lstStyle/>
          <a:p>
            <a:r>
              <a:rPr lang="en-US" altLang="zh-CN" b="1" dirty="0">
                <a:solidFill>
                  <a:srgbClr val="0331FF"/>
                </a:solidFill>
                <a:latin typeface="Times New Roman" panose="02020603050405020304" pitchFamily="18" charset="0"/>
                <a:cs typeface="Times New Roman" panose="02020603050405020304" pitchFamily="18" charset="0"/>
              </a:rPr>
              <a:t>Procedure</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depth_first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a:t>
            </a:r>
          </a:p>
          <a:p>
            <a:r>
              <a:rPr lang="en-US" altLang="zh-CN" b="1" dirty="0">
                <a:solidFill>
                  <a:srgbClr val="0331FF"/>
                </a:solidFill>
                <a:latin typeface="Times New Roman" panose="02020603050405020304" pitchFamily="18" charset="0"/>
                <a:cs typeface="Times New Roman" panose="02020603050405020304" pitchFamily="18" charset="0"/>
              </a:rPr>
              <a:t>Begin</a:t>
            </a: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b="1" dirty="0">
                <a:solidFill>
                  <a:srgbClr val="0331FF"/>
                </a:solidFill>
                <a:latin typeface="Times New Roman" panose="02020603050405020304" pitchFamily="18" charset="0"/>
                <a:cs typeface="Times New Roman" panose="02020603050405020304" pitchFamily="18" charset="0"/>
              </a:rPr>
              <a:t>end</a:t>
            </a:r>
            <a:endParaRPr lang="zh-CN" altLang="en-US" b="1" dirty="0">
              <a:solidFill>
                <a:srgbClr val="0331FF"/>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092FAE5-1923-64D7-5ABB-A2100E499E0C}"/>
              </a:ext>
            </a:extLst>
          </p:cNvPr>
          <p:cNvSpPr txBox="1"/>
          <p:nvPr/>
        </p:nvSpPr>
        <p:spPr>
          <a:xfrm>
            <a:off x="971600" y="3605637"/>
            <a:ext cx="7807746" cy="1477328"/>
          </a:xfrm>
          <a:prstGeom prst="rect">
            <a:avLst/>
          </a:prstGeom>
          <a:noFill/>
        </p:spPr>
        <p:txBody>
          <a:bodyPr wrap="square">
            <a:spAutoFit/>
          </a:bodyPr>
          <a:lstStyle/>
          <a:p>
            <a:r>
              <a:rPr lang="en-US" altLang="zh-CN" sz="1800" dirty="0">
                <a:solidFill>
                  <a:srgbClr val="FF0000"/>
                </a:solidFill>
                <a:effectLst/>
                <a:latin typeface="Times New Roman" panose="02020603050405020304" pitchFamily="18" charset="0"/>
                <a:cs typeface="Times New Roman" panose="02020603050405020304" pitchFamily="18" charset="0"/>
              </a:rPr>
              <a:t>for every child </a:t>
            </a:r>
            <a:r>
              <a:rPr lang="en-US" altLang="zh-CN" sz="1800" i="1" dirty="0">
                <a:solidFill>
                  <a:srgbClr val="FF0000"/>
                </a:solidFill>
                <a:effectLst/>
                <a:latin typeface="Times New Roman" panose="02020603050405020304" pitchFamily="18" charset="0"/>
                <a:cs typeface="Times New Roman" panose="02020603050405020304" pitchFamily="18" charset="0"/>
              </a:rPr>
              <a:t>m</a:t>
            </a:r>
            <a:r>
              <a:rPr lang="en-US" altLang="zh-CN" sz="1800" dirty="0">
                <a:solidFill>
                  <a:srgbClr val="FF0000"/>
                </a:solidFill>
                <a:effectLst/>
                <a:latin typeface="Times New Roman" panose="02020603050405020304" pitchFamily="18" charset="0"/>
                <a:cs typeface="Times New Roman" panose="02020603050405020304" pitchFamily="18" charset="0"/>
              </a:rPr>
              <a:t> of </a:t>
            </a:r>
            <a:r>
              <a:rPr lang="en-US" altLang="zh-CN" sz="1800" i="1" dirty="0">
                <a:solidFill>
                  <a:srgbClr val="FF0000"/>
                </a:solidFill>
                <a:effectLst/>
                <a:latin typeface="Times New Roman" panose="02020603050405020304" pitchFamily="18" charset="0"/>
                <a:cs typeface="Times New Roman" panose="02020603050405020304" pitchFamily="18" charset="0"/>
              </a:rPr>
              <a:t>n</a:t>
            </a:r>
            <a:r>
              <a:rPr lang="en-US" altLang="zh-CN" sz="1800" dirty="0">
                <a:solidFill>
                  <a:srgbClr val="FF0000"/>
                </a:solidFill>
                <a:effectLst/>
                <a:latin typeface="Times New Roman" panose="02020603050405020304" pitchFamily="18" charset="0"/>
                <a:cs typeface="Times New Roman" panose="02020603050405020304" pitchFamily="18" charset="0"/>
              </a:rPr>
              <a:t> from left to right </a:t>
            </a:r>
            <a:r>
              <a:rPr lang="en-US" altLang="zh-CN" sz="1800" b="1" dirty="0">
                <a:solidFill>
                  <a:srgbClr val="0432FF"/>
                </a:solidFill>
                <a:effectLst/>
                <a:latin typeface="Times New Roman" panose="02020603050405020304" pitchFamily="18" charset="0"/>
                <a:cs typeface="Times New Roman" panose="02020603050405020304" pitchFamily="18" charset="0"/>
              </a:rPr>
              <a:t>do begin </a:t>
            </a:r>
            <a:endParaRPr lang="en-US" altLang="zh-CN" dirty="0">
              <a:latin typeface="Times New Roman" panose="02020603050405020304" pitchFamily="18" charset="0"/>
              <a:cs typeface="Times New Roman" panose="02020603050405020304" pitchFamily="18" charset="0"/>
            </a:endParaRPr>
          </a:p>
          <a:p>
            <a:pPr lvl="1"/>
            <a:r>
              <a:rPr lang="en-US" altLang="zh-CN" dirty="0">
                <a:solidFill>
                  <a:srgbClr val="000000"/>
                </a:solidFill>
                <a:effectLst/>
                <a:latin typeface="Times New Roman" panose="02020603050405020304" pitchFamily="18" charset="0"/>
                <a:cs typeface="Times New Roman" panose="02020603050405020304" pitchFamily="18" charset="0"/>
              </a:rPr>
              <a:t>evaluate the inherited attributes of m; </a:t>
            </a:r>
            <a:endParaRPr lang="en-US" altLang="zh-CN" dirty="0">
              <a:latin typeface="Times New Roman" panose="02020603050405020304" pitchFamily="18" charset="0"/>
              <a:cs typeface="Times New Roman" panose="02020603050405020304" pitchFamily="18" charset="0"/>
            </a:endParaRPr>
          </a:p>
          <a:p>
            <a:pPr lvl="1"/>
            <a:r>
              <a:rPr lang="en-US" altLang="zh-CN" dirty="0" err="1">
                <a:solidFill>
                  <a:srgbClr val="000000"/>
                </a:solidFill>
                <a:effectLst/>
                <a:latin typeface="Times New Roman" panose="02020603050405020304" pitchFamily="18" charset="0"/>
                <a:cs typeface="Times New Roman" panose="02020603050405020304" pitchFamily="18" charset="0"/>
              </a:rPr>
              <a:t>depth_first</a:t>
            </a:r>
            <a:r>
              <a:rPr lang="en-US" altLang="zh-CN" dirty="0">
                <a:solidFill>
                  <a:srgbClr val="000000"/>
                </a:solidFill>
                <a:effectLst/>
                <a:latin typeface="Times New Roman" panose="02020603050405020304" pitchFamily="18" charset="0"/>
                <a:cs typeface="Times New Roman" panose="02020603050405020304" pitchFamily="18" charset="0"/>
              </a:rPr>
              <a:t>(</a:t>
            </a:r>
            <a:r>
              <a:rPr lang="en-US" altLang="zh-CN" i="1" dirty="0">
                <a:solidFill>
                  <a:srgbClr val="000000"/>
                </a:solidFill>
                <a:effectLst/>
                <a:latin typeface="Times New Roman" panose="02020603050405020304" pitchFamily="18" charset="0"/>
                <a:cs typeface="Times New Roman" panose="02020603050405020304" pitchFamily="18" charset="0"/>
              </a:rPr>
              <a:t>m</a:t>
            </a:r>
            <a:r>
              <a:rPr lang="en-US" altLang="zh-CN" dirty="0">
                <a:solidFill>
                  <a:srgbClr val="000000"/>
                </a:solidFill>
                <a:effectLst/>
                <a:latin typeface="Times New Roman" panose="02020603050405020304" pitchFamily="18" charset="0"/>
                <a:cs typeface="Times New Roman" panose="02020603050405020304" pitchFamily="18" charset="0"/>
              </a:rPr>
              <a:t>); </a:t>
            </a:r>
            <a:r>
              <a:rPr lang="en-US" altLang="zh-CN" dirty="0">
                <a:solidFill>
                  <a:srgbClr val="548235"/>
                </a:solidFill>
                <a:effectLst/>
                <a:latin typeface="Times New Roman" panose="02020603050405020304" pitchFamily="18" charset="0"/>
                <a:cs typeface="Times New Roman" panose="02020603050405020304" pitchFamily="18" charset="0"/>
              </a:rPr>
              <a:t>// here m’s synthesized attributes will be evaluated </a:t>
            </a:r>
            <a:endParaRPr lang="en-US" altLang="zh-CN" dirty="0">
              <a:latin typeface="Times New Roman" panose="02020603050405020304" pitchFamily="18" charset="0"/>
              <a:cs typeface="Times New Roman" panose="02020603050405020304" pitchFamily="18" charset="0"/>
            </a:endParaRPr>
          </a:p>
          <a:p>
            <a:r>
              <a:rPr lang="en-US" altLang="zh-CN" sz="1800" b="1" dirty="0">
                <a:solidFill>
                  <a:srgbClr val="0432FF"/>
                </a:solidFill>
                <a:effectLst/>
                <a:latin typeface="Times New Roman" panose="02020603050405020304" pitchFamily="18" charset="0"/>
                <a:cs typeface="Times New Roman" panose="02020603050405020304" pitchFamily="18" charset="0"/>
              </a:rPr>
              <a:t>end </a:t>
            </a:r>
            <a:endParaRPr lang="en-US" altLang="zh-CN" dirty="0">
              <a:latin typeface="Times New Roman" panose="02020603050405020304" pitchFamily="18" charset="0"/>
              <a:cs typeface="Times New Roman" panose="02020603050405020304" pitchFamily="18" charset="0"/>
            </a:endParaRPr>
          </a:p>
          <a:p>
            <a:r>
              <a:rPr lang="en-US" altLang="zh-CN" sz="1800" dirty="0">
                <a:solidFill>
                  <a:srgbClr val="000000"/>
                </a:solidFill>
                <a:effectLst/>
                <a:latin typeface="Times New Roman" panose="02020603050405020304" pitchFamily="18" charset="0"/>
                <a:cs typeface="Times New Roman" panose="02020603050405020304" pitchFamily="18" charset="0"/>
              </a:rPr>
              <a:t>evaluate the synthesized attributes of </a:t>
            </a:r>
            <a:r>
              <a:rPr lang="en-US" altLang="zh-CN" sz="1800" i="1" dirty="0">
                <a:solidFill>
                  <a:srgbClr val="000000"/>
                </a:solidFill>
                <a:effectLst/>
                <a:latin typeface="Times New Roman" panose="02020603050405020304" pitchFamily="18" charset="0"/>
                <a:cs typeface="Times New Roman" panose="02020603050405020304" pitchFamily="18" charset="0"/>
              </a:rPr>
              <a:t>n</a:t>
            </a:r>
            <a:r>
              <a:rPr lang="en-US" altLang="zh-CN" sz="1800" dirty="0">
                <a:solidFill>
                  <a:srgbClr val="000000"/>
                </a:solidFill>
                <a:effectLst/>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A4CFC038-DF0E-CE21-730B-D9CD3236761E}"/>
              </a:ext>
            </a:extLst>
          </p:cNvPr>
          <p:cNvSpPr txBox="1"/>
          <p:nvPr/>
        </p:nvSpPr>
        <p:spPr>
          <a:xfrm>
            <a:off x="0" y="5770309"/>
            <a:ext cx="9144000" cy="307777"/>
          </a:xfrm>
          <a:prstGeom prst="rect">
            <a:avLst/>
          </a:prstGeom>
          <a:noFill/>
        </p:spPr>
        <p:txBody>
          <a:bodyPr wrap="square">
            <a:spAutoFit/>
          </a:bodyPr>
          <a:lstStyle/>
          <a:p>
            <a:pPr algn="ctr"/>
            <a:r>
              <a:rPr lang="en-US" altLang="zh-CN" sz="900" dirty="0">
                <a:solidFill>
                  <a:srgbClr val="A6A6A6"/>
                </a:solidFill>
                <a:effectLst/>
                <a:latin typeface="Palatino Linotype" panose="02040502050505030304" pitchFamily="18" charset="0"/>
              </a:rPr>
              <a:t>* </a:t>
            </a:r>
            <a:r>
              <a:rPr lang="en-US" altLang="zh-CN" sz="1400" dirty="0">
                <a:solidFill>
                  <a:srgbClr val="A6A6A6"/>
                </a:solidFill>
                <a:effectLst/>
                <a:latin typeface="Palatino Linotype" panose="02040502050505030304" pitchFamily="18" charset="0"/>
              </a:rPr>
              <a:t>The inherited attributes of </a:t>
            </a:r>
            <a:r>
              <a:rPr lang="en-US" altLang="zh-CN" sz="1400" i="1" dirty="0">
                <a:solidFill>
                  <a:srgbClr val="A6A6A6"/>
                </a:solidFill>
                <a:effectLst/>
                <a:latin typeface="Cambria Math" panose="02040503050406030204" pitchFamily="18" charset="0"/>
              </a:rPr>
              <a:t>n</a:t>
            </a:r>
            <a:r>
              <a:rPr lang="en-US" altLang="zh-CN" sz="1400" dirty="0">
                <a:solidFill>
                  <a:srgbClr val="A6A6A6"/>
                </a:solidFill>
                <a:effectLst/>
                <a:latin typeface="Cambria Math" panose="02040503050406030204" pitchFamily="18" charset="0"/>
              </a:rPr>
              <a:t> </a:t>
            </a:r>
            <a:r>
              <a:rPr lang="en-US" altLang="zh-CN" sz="1400" dirty="0">
                <a:solidFill>
                  <a:srgbClr val="A6A6A6"/>
                </a:solidFill>
                <a:effectLst/>
                <a:latin typeface="Palatino Linotype" panose="02040502050505030304" pitchFamily="18" charset="0"/>
              </a:rPr>
              <a:t>are computed before calling </a:t>
            </a:r>
            <a:r>
              <a:rPr lang="en-US" altLang="zh-CN" sz="1400" dirty="0" err="1">
                <a:solidFill>
                  <a:srgbClr val="A6A6A6"/>
                </a:solidFill>
                <a:effectLst/>
                <a:latin typeface="Palatino Linotype" panose="02040502050505030304" pitchFamily="18" charset="0"/>
              </a:rPr>
              <a:t>depth_first</a:t>
            </a:r>
            <a:r>
              <a:rPr lang="en-US" altLang="zh-CN" sz="1400" dirty="0">
                <a:solidFill>
                  <a:srgbClr val="A6A6A6"/>
                </a:solidFill>
                <a:effectLst/>
                <a:latin typeface="Palatino Linotype" panose="02040502050505030304" pitchFamily="18" charset="0"/>
              </a:rPr>
              <a:t>(</a:t>
            </a:r>
            <a:r>
              <a:rPr lang="en-US" altLang="zh-CN" sz="1400" i="1" dirty="0">
                <a:solidFill>
                  <a:srgbClr val="A6A6A6"/>
                </a:solidFill>
                <a:effectLst/>
                <a:latin typeface="Cambria Math" panose="02040503050406030204" pitchFamily="18" charset="0"/>
              </a:rPr>
              <a:t>n</a:t>
            </a:r>
            <a:r>
              <a:rPr lang="en-US" altLang="zh-CN" sz="1400" dirty="0">
                <a:solidFill>
                  <a:srgbClr val="A6A6A6"/>
                </a:solidFill>
                <a:effectLst/>
                <a:latin typeface="Palatino Linotype" panose="02040502050505030304" pitchFamily="18" charset="0"/>
              </a:rPr>
              <a:t>), as indicated by the for body </a:t>
            </a:r>
            <a:endParaRPr lang="zh-CN" altLang="en-US" sz="1400" dirty="0"/>
          </a:p>
        </p:txBody>
      </p:sp>
      <p:sp>
        <p:nvSpPr>
          <p:cNvPr id="6" name="矩形 5">
            <a:extLst>
              <a:ext uri="{FF2B5EF4-FFF2-40B4-BE49-F238E27FC236}">
                <a16:creationId xmlns:a16="http://schemas.microsoft.com/office/drawing/2014/main" id="{AA8A892A-28B8-1379-A1CF-216246EF523D}"/>
              </a:ext>
            </a:extLst>
          </p:cNvPr>
          <p:cNvSpPr/>
          <p:nvPr/>
        </p:nvSpPr>
        <p:spPr>
          <a:xfrm>
            <a:off x="467544" y="1556385"/>
            <a:ext cx="8424936" cy="42139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10A0E405-0C53-435D-8033-1A6D537E107E}"/>
              </a:ext>
            </a:extLst>
          </p:cNvPr>
          <p:cNvSpPr/>
          <p:nvPr/>
        </p:nvSpPr>
        <p:spPr bwMode="auto">
          <a:xfrm>
            <a:off x="5382952" y="4820992"/>
            <a:ext cx="3199234" cy="85347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00" dirty="0">
                <a:solidFill>
                  <a:srgbClr val="0432FF"/>
                </a:solidFill>
                <a:effectLst/>
                <a:latin typeface="Times New Roman" panose="02020603050405020304" pitchFamily="18" charset="0"/>
                <a:cs typeface="Times New Roman" panose="02020603050405020304" pitchFamily="18" charset="0"/>
              </a:rPr>
              <a:t>Can be implemented in </a:t>
            </a:r>
            <a:endParaRPr lang="en-US" altLang="zh-CN" dirty="0">
              <a:latin typeface="Times New Roman" panose="02020603050405020304" pitchFamily="18" charset="0"/>
              <a:cs typeface="Times New Roman" panose="02020603050405020304" pitchFamily="18" charset="0"/>
            </a:endParaRPr>
          </a:p>
          <a:p>
            <a:pPr algn="ctr"/>
            <a:r>
              <a:rPr lang="en-US" altLang="zh-CN" sz="1800" dirty="0">
                <a:solidFill>
                  <a:srgbClr val="0432FF"/>
                </a:solidFill>
                <a:effectLst/>
                <a:latin typeface="Times New Roman" panose="02020603050405020304" pitchFamily="18" charset="0"/>
                <a:cs typeface="Times New Roman" panose="02020603050405020304" pitchFamily="18" charset="0"/>
              </a:rPr>
              <a:t>top-down parsing</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298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6B40F94-7A0F-4A72-8BA1-17FA30F8DA31}"/>
              </a:ext>
            </a:extLst>
          </p:cNvPr>
          <p:cNvSpPr>
            <a:spLocks noChangeArrowheads="1"/>
          </p:cNvSpPr>
          <p:nvPr/>
        </p:nvSpPr>
        <p:spPr bwMode="auto">
          <a:xfrm>
            <a:off x="2675467" y="213784"/>
            <a:ext cx="7793567" cy="146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b"/>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l" defTabSz="1219170" rtl="0" eaLnBrk="1" fontAlgn="base" latinLnBrk="0" hangingPunct="1">
              <a:lnSpc>
                <a:spcPct val="100000"/>
              </a:lnSpc>
              <a:spcBef>
                <a:spcPct val="0"/>
              </a:spcBef>
              <a:spcAft>
                <a:spcPct val="0"/>
              </a:spcAft>
              <a:buClrTx/>
              <a:buSzTx/>
              <a:buFontTx/>
              <a:buNone/>
              <a:tabLst/>
              <a:defRPr/>
            </a:pPr>
            <a:endParaRPr kumimoji="1" lang="zh-CN" altLang="en-US" sz="3200" b="1" i="0" u="none" strike="noStrike" kern="1200" cap="none" spc="0" normalizeH="0" baseline="0" noProof="0">
              <a:ln>
                <a:noFill/>
              </a:ln>
              <a:solidFill>
                <a:srgbClr val="5EAEFF"/>
              </a:solidFill>
              <a:effectLst/>
              <a:uLnTx/>
              <a:uFillTx/>
              <a:latin typeface="楷体_GB2312" pitchFamily="49" charset="-122"/>
              <a:ea typeface="楷体_GB2312" pitchFamily="49" charset="-122"/>
              <a:cs typeface="+mn-cs"/>
            </a:endParaRPr>
          </a:p>
        </p:txBody>
      </p:sp>
      <p:sp>
        <p:nvSpPr>
          <p:cNvPr id="6" name="矩形 7">
            <a:extLst>
              <a:ext uri="{FF2B5EF4-FFF2-40B4-BE49-F238E27FC236}">
                <a16:creationId xmlns:a16="http://schemas.microsoft.com/office/drawing/2014/main" id="{EE3B62D1-EC30-4FDE-9660-0B467C1F78C2}"/>
              </a:ext>
            </a:extLst>
          </p:cNvPr>
          <p:cNvSpPr>
            <a:spLocks noChangeArrowheads="1"/>
          </p:cNvSpPr>
          <p:nvPr/>
        </p:nvSpPr>
        <p:spPr bwMode="auto">
          <a:xfrm>
            <a:off x="366185" y="3909484"/>
            <a:ext cx="2849033" cy="198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l" defTabSz="1219170" rtl="0" eaLnBrk="1" fontAlgn="base" latinLnBrk="0" hangingPunct="1">
              <a:lnSpc>
                <a:spcPct val="100000"/>
              </a:lnSpc>
              <a:spcBef>
                <a:spcPct val="20000"/>
              </a:spcBef>
              <a:spcAft>
                <a:spcPct val="0"/>
              </a:spcAft>
              <a:buClrTx/>
              <a:buSzTx/>
              <a:buFontTx/>
              <a:buNone/>
              <a:tabLst/>
              <a:defRPr/>
            </a:pPr>
            <a:r>
              <a:rPr kumimoji="1" lang="en-US" altLang="zh-CN" sz="2667" b="1" i="0" u="none" strike="noStrike" kern="1200" cap="none" spc="0" normalizeH="0" baseline="0" noProof="0" dirty="0">
                <a:ln>
                  <a:noFill/>
                </a:ln>
                <a:solidFill>
                  <a:srgbClr val="2D83F4"/>
                </a:solidFill>
                <a:effectLst/>
                <a:uLnTx/>
                <a:uFillTx/>
                <a:latin typeface="华文楷体" panose="02010600040101010101" pitchFamily="2" charset="-122"/>
                <a:ea typeface="华文楷体" panose="02010600040101010101" pitchFamily="2" charset="-122"/>
                <a:cs typeface="+mn-cs"/>
              </a:rPr>
              <a:t>input</a:t>
            </a:r>
            <a:r>
              <a:rPr kumimoji="1" lang="zh-CN" altLang="en-US" sz="2667" b="1" i="0" u="none" strike="noStrike" kern="1200" cap="none" spc="0" normalizeH="0" baseline="0" noProof="0" dirty="0">
                <a:ln>
                  <a:noFill/>
                </a:ln>
                <a:solidFill>
                  <a:srgbClr val="2D83F4"/>
                </a:solidFill>
                <a:effectLst/>
                <a:uLnTx/>
                <a:uFillTx/>
                <a:latin typeface="Times New Roman" panose="02020603050405020304" pitchFamily="18" charset="0"/>
                <a:ea typeface="宋体" panose="02010600030101010101" pitchFamily="2" charset="-122"/>
                <a:cs typeface="+mn-cs"/>
              </a:rPr>
              <a:t>：</a:t>
            </a:r>
          </a:p>
          <a:p>
            <a:pPr marL="0" marR="0" lvl="0" indent="0" algn="l" defTabSz="1219170" rtl="0" eaLnBrk="1" fontAlgn="base" latinLnBrk="0" hangingPunct="1">
              <a:lnSpc>
                <a:spcPct val="100000"/>
              </a:lnSpc>
              <a:spcBef>
                <a:spcPct val="20000"/>
              </a:spcBef>
              <a:spcAft>
                <a:spcPct val="0"/>
              </a:spcAft>
              <a:buClrTx/>
              <a:buSzTx/>
              <a:buFontTx/>
              <a:buNone/>
              <a:tabLst/>
              <a:defRPr/>
            </a:pPr>
            <a:r>
              <a:rPr kumimoji="1" lang="en-US" altLang="zh-CN" sz="26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3   *   5</a:t>
            </a:r>
          </a:p>
          <a:p>
            <a:pPr marL="0" marR="0" lvl="0" indent="0" algn="l" defTabSz="1219170" rtl="0" eaLnBrk="1" fontAlgn="base" latinLnBrk="0" hangingPunct="1">
              <a:lnSpc>
                <a:spcPct val="100000"/>
              </a:lnSpc>
              <a:spcBef>
                <a:spcPct val="20000"/>
              </a:spcBef>
              <a:spcAft>
                <a:spcPct val="0"/>
              </a:spcAft>
              <a:buClrTx/>
              <a:buSzTx/>
              <a:buFontTx/>
              <a:buNone/>
              <a:tabLst/>
              <a:defRPr/>
            </a:pPr>
            <a:r>
              <a:rPr kumimoji="0" lang="en-US" altLang="zh-CN" sz="26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digit * digit </a:t>
            </a:r>
            <a:endParaRPr kumimoji="1" lang="en-US" altLang="zh-CN" sz="26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1219170" rtl="0" eaLnBrk="1" fontAlgn="base" latinLnBrk="0" hangingPunct="1">
              <a:lnSpc>
                <a:spcPct val="100000"/>
              </a:lnSpc>
              <a:spcBef>
                <a:spcPct val="20000"/>
              </a:spcBef>
              <a:spcAft>
                <a:spcPct val="0"/>
              </a:spcAft>
              <a:buClrTx/>
              <a:buSzTx/>
              <a:buFontTx/>
              <a:buNone/>
              <a:tabLst/>
              <a:defRPr/>
            </a:pPr>
            <a:endParaRPr kumimoji="1" lang="en-US" altLang="zh-CN" sz="26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grpSp>
        <p:nvGrpSpPr>
          <p:cNvPr id="7" name="组合 6">
            <a:extLst>
              <a:ext uri="{FF2B5EF4-FFF2-40B4-BE49-F238E27FC236}">
                <a16:creationId xmlns:a16="http://schemas.microsoft.com/office/drawing/2014/main" id="{A6535764-9740-430B-B98C-E217D47289F8}"/>
              </a:ext>
            </a:extLst>
          </p:cNvPr>
          <p:cNvGrpSpPr>
            <a:grpSpLocks/>
          </p:cNvGrpSpPr>
          <p:nvPr/>
        </p:nvGrpSpPr>
        <p:grpSpPr bwMode="auto">
          <a:xfrm>
            <a:off x="4073098" y="1792436"/>
            <a:ext cx="2872317" cy="1636564"/>
            <a:chOff x="5921910" y="720403"/>
            <a:chExt cx="2154773" cy="1228428"/>
          </a:xfrm>
        </p:grpSpPr>
        <p:sp>
          <p:nvSpPr>
            <p:cNvPr id="8" name="Rectangle 6">
              <a:extLst>
                <a:ext uri="{FF2B5EF4-FFF2-40B4-BE49-F238E27FC236}">
                  <a16:creationId xmlns:a16="http://schemas.microsoft.com/office/drawing/2014/main" id="{3577E6FA-21E0-4AA4-8DDC-ECD82974475A}"/>
                </a:ext>
              </a:extLst>
            </p:cNvPr>
            <p:cNvSpPr>
              <a:spLocks noChangeArrowheads="1"/>
            </p:cNvSpPr>
            <p:nvPr/>
          </p:nvSpPr>
          <p:spPr bwMode="auto">
            <a:xfrm>
              <a:off x="5921910" y="1593269"/>
              <a:ext cx="271077" cy="348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90000" tIns="46800" rIns="90000" bIns="468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F</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 name="Rectangle 9">
              <a:extLst>
                <a:ext uri="{FF2B5EF4-FFF2-40B4-BE49-F238E27FC236}">
                  <a16:creationId xmlns:a16="http://schemas.microsoft.com/office/drawing/2014/main" id="{7AC111A5-FD9C-4BDB-871D-0910F11AA949}"/>
                </a:ext>
              </a:extLst>
            </p:cNvPr>
            <p:cNvSpPr>
              <a:spLocks noChangeArrowheads="1"/>
            </p:cNvSpPr>
            <p:nvPr/>
          </p:nvSpPr>
          <p:spPr bwMode="auto">
            <a:xfrm>
              <a:off x="7698658" y="1600662"/>
              <a:ext cx="378025" cy="348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90000" tIns="46800" rIns="90000" bIns="468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Rectangle 10">
              <a:extLst>
                <a:ext uri="{FF2B5EF4-FFF2-40B4-BE49-F238E27FC236}">
                  <a16:creationId xmlns:a16="http://schemas.microsoft.com/office/drawing/2014/main" id="{6AB120D2-EEAD-4796-85F1-DF87CF86BB08}"/>
                </a:ext>
              </a:extLst>
            </p:cNvPr>
            <p:cNvSpPr>
              <a:spLocks noChangeArrowheads="1"/>
            </p:cNvSpPr>
            <p:nvPr/>
          </p:nvSpPr>
          <p:spPr bwMode="auto">
            <a:xfrm>
              <a:off x="6988832" y="720403"/>
              <a:ext cx="417513" cy="3481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90000" tIns="46800" rIns="90000" bIns="468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 name="Line 11">
              <a:extLst>
                <a:ext uri="{FF2B5EF4-FFF2-40B4-BE49-F238E27FC236}">
                  <a16:creationId xmlns:a16="http://schemas.microsoft.com/office/drawing/2014/main" id="{8273CB65-1C69-4E76-886F-A41ADE3F104E}"/>
                </a:ext>
              </a:extLst>
            </p:cNvPr>
            <p:cNvSpPr>
              <a:spLocks noChangeShapeType="1"/>
            </p:cNvSpPr>
            <p:nvPr/>
          </p:nvSpPr>
          <p:spPr bwMode="auto">
            <a:xfrm flipH="1">
              <a:off x="6210013" y="1213340"/>
              <a:ext cx="987576" cy="39566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2" name="Line 12">
              <a:extLst>
                <a:ext uri="{FF2B5EF4-FFF2-40B4-BE49-F238E27FC236}">
                  <a16:creationId xmlns:a16="http://schemas.microsoft.com/office/drawing/2014/main" id="{61DEB8A5-DE0B-4638-A234-2F91FD3187B8}"/>
                </a:ext>
              </a:extLst>
            </p:cNvPr>
            <p:cNvSpPr>
              <a:spLocks noChangeShapeType="1"/>
            </p:cNvSpPr>
            <p:nvPr/>
          </p:nvSpPr>
          <p:spPr bwMode="auto">
            <a:xfrm>
              <a:off x="7205526" y="1219689"/>
              <a:ext cx="701675" cy="3778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grpSp>
      <p:grpSp>
        <p:nvGrpSpPr>
          <p:cNvPr id="13" name="组合 124933">
            <a:extLst>
              <a:ext uri="{FF2B5EF4-FFF2-40B4-BE49-F238E27FC236}">
                <a16:creationId xmlns:a16="http://schemas.microsoft.com/office/drawing/2014/main" id="{1D4C7CA9-346E-489B-B94C-443307BA9367}"/>
              </a:ext>
            </a:extLst>
          </p:cNvPr>
          <p:cNvGrpSpPr>
            <a:grpSpLocks/>
          </p:cNvGrpSpPr>
          <p:nvPr/>
        </p:nvGrpSpPr>
        <p:grpSpPr bwMode="auto">
          <a:xfrm>
            <a:off x="5429883" y="3515592"/>
            <a:ext cx="2787649" cy="1049070"/>
            <a:chOff x="6938648" y="2013704"/>
            <a:chExt cx="2091871" cy="785453"/>
          </a:xfrm>
        </p:grpSpPr>
        <p:sp>
          <p:nvSpPr>
            <p:cNvPr id="14" name="Line 8">
              <a:extLst>
                <a:ext uri="{FF2B5EF4-FFF2-40B4-BE49-F238E27FC236}">
                  <a16:creationId xmlns:a16="http://schemas.microsoft.com/office/drawing/2014/main" id="{76323BFE-B4D1-447F-A4EE-AD22F1626692}"/>
                </a:ext>
              </a:extLst>
            </p:cNvPr>
            <p:cNvSpPr>
              <a:spLocks noChangeShapeType="1"/>
            </p:cNvSpPr>
            <p:nvPr/>
          </p:nvSpPr>
          <p:spPr bwMode="auto">
            <a:xfrm flipV="1">
              <a:off x="7540792" y="2030902"/>
              <a:ext cx="262473" cy="45032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5" name="Text Box 13">
              <a:extLst>
                <a:ext uri="{FF2B5EF4-FFF2-40B4-BE49-F238E27FC236}">
                  <a16:creationId xmlns:a16="http://schemas.microsoft.com/office/drawing/2014/main" id="{73481989-23BB-4FE1-B8A1-87DA8CB8B271}"/>
                </a:ext>
              </a:extLst>
            </p:cNvPr>
            <p:cNvSpPr txBox="1">
              <a:spLocks noChangeArrowheads="1"/>
            </p:cNvSpPr>
            <p:nvPr/>
          </p:nvSpPr>
          <p:spPr bwMode="auto">
            <a:xfrm>
              <a:off x="6938648" y="2451869"/>
              <a:ext cx="269875" cy="347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90000" tIns="46800" rIns="90000" bIns="46800">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l" defTabSz="121917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a:t>
              </a:r>
            </a:p>
          </p:txBody>
        </p:sp>
        <p:sp>
          <p:nvSpPr>
            <p:cNvPr id="16" name="Line 11">
              <a:extLst>
                <a:ext uri="{FF2B5EF4-FFF2-40B4-BE49-F238E27FC236}">
                  <a16:creationId xmlns:a16="http://schemas.microsoft.com/office/drawing/2014/main" id="{1E98C859-59F3-44F5-81D1-B0BCB679802E}"/>
                </a:ext>
              </a:extLst>
            </p:cNvPr>
            <p:cNvSpPr>
              <a:spLocks noChangeShapeType="1"/>
            </p:cNvSpPr>
            <p:nvPr/>
          </p:nvSpPr>
          <p:spPr bwMode="auto">
            <a:xfrm flipH="1">
              <a:off x="7151886" y="2013704"/>
              <a:ext cx="669775" cy="482616"/>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7" name="Line 12">
              <a:extLst>
                <a:ext uri="{FF2B5EF4-FFF2-40B4-BE49-F238E27FC236}">
                  <a16:creationId xmlns:a16="http://schemas.microsoft.com/office/drawing/2014/main" id="{18FC299E-DEA1-4AC9-A976-EE4E0AC18E64}"/>
                </a:ext>
              </a:extLst>
            </p:cNvPr>
            <p:cNvSpPr>
              <a:spLocks noChangeShapeType="1"/>
            </p:cNvSpPr>
            <p:nvPr/>
          </p:nvSpPr>
          <p:spPr bwMode="auto">
            <a:xfrm>
              <a:off x="7803265" y="2016342"/>
              <a:ext cx="801183" cy="435527"/>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18" name="Rectangle 6">
              <a:extLst>
                <a:ext uri="{FF2B5EF4-FFF2-40B4-BE49-F238E27FC236}">
                  <a16:creationId xmlns:a16="http://schemas.microsoft.com/office/drawing/2014/main" id="{50831EE6-8CC0-4DE3-9F96-B0F10B0EA6DB}"/>
                </a:ext>
              </a:extLst>
            </p:cNvPr>
            <p:cNvSpPr>
              <a:spLocks noChangeArrowheads="1"/>
            </p:cNvSpPr>
            <p:nvPr/>
          </p:nvSpPr>
          <p:spPr bwMode="auto">
            <a:xfrm>
              <a:off x="7299099" y="2431251"/>
              <a:ext cx="314446" cy="347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90000" tIns="46800" rIns="90000" bIns="468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F</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Rectangle 9">
              <a:extLst>
                <a:ext uri="{FF2B5EF4-FFF2-40B4-BE49-F238E27FC236}">
                  <a16:creationId xmlns:a16="http://schemas.microsoft.com/office/drawing/2014/main" id="{9AB617A8-5B7C-457C-8A4D-985280EF5DA3}"/>
                </a:ext>
              </a:extLst>
            </p:cNvPr>
            <p:cNvSpPr>
              <a:spLocks noChangeArrowheads="1"/>
            </p:cNvSpPr>
            <p:nvPr/>
          </p:nvSpPr>
          <p:spPr bwMode="auto">
            <a:xfrm>
              <a:off x="8667361" y="2440188"/>
              <a:ext cx="363158" cy="347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lIns="90000" tIns="46800" rIns="90000" bIns="468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20" name="组合 19">
            <a:extLst>
              <a:ext uri="{FF2B5EF4-FFF2-40B4-BE49-F238E27FC236}">
                <a16:creationId xmlns:a16="http://schemas.microsoft.com/office/drawing/2014/main" id="{9B7E1D89-34E1-4B83-B7C5-1EF12D59083C}"/>
              </a:ext>
            </a:extLst>
          </p:cNvPr>
          <p:cNvGrpSpPr>
            <a:grpSpLocks/>
          </p:cNvGrpSpPr>
          <p:nvPr/>
        </p:nvGrpSpPr>
        <p:grpSpPr bwMode="auto">
          <a:xfrm>
            <a:off x="7722251" y="4643779"/>
            <a:ext cx="296876" cy="901876"/>
            <a:chOff x="8658440" y="2859782"/>
            <a:chExt cx="222451" cy="675311"/>
          </a:xfrm>
        </p:grpSpPr>
        <p:sp>
          <p:nvSpPr>
            <p:cNvPr id="21" name="Line 5">
              <a:extLst>
                <a:ext uri="{FF2B5EF4-FFF2-40B4-BE49-F238E27FC236}">
                  <a16:creationId xmlns:a16="http://schemas.microsoft.com/office/drawing/2014/main" id="{BBB9D4ED-ABF6-4397-85F5-BD50029E1C37}"/>
                </a:ext>
              </a:extLst>
            </p:cNvPr>
            <p:cNvSpPr>
              <a:spLocks noChangeShapeType="1"/>
            </p:cNvSpPr>
            <p:nvPr/>
          </p:nvSpPr>
          <p:spPr bwMode="auto">
            <a:xfrm flipV="1">
              <a:off x="8820472"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2" name="矩形 3">
              <a:extLst>
                <a:ext uri="{FF2B5EF4-FFF2-40B4-BE49-F238E27FC236}">
                  <a16:creationId xmlns:a16="http://schemas.microsoft.com/office/drawing/2014/main" id="{9B747F54-2AB1-4BA0-961F-05EFAB4DADCF}"/>
                </a:ext>
              </a:extLst>
            </p:cNvPr>
            <p:cNvSpPr>
              <a:spLocks noChangeArrowheads="1"/>
            </p:cNvSpPr>
            <p:nvPr/>
          </p:nvSpPr>
          <p:spPr bwMode="auto">
            <a:xfrm>
              <a:off x="8658440" y="3220181"/>
              <a:ext cx="222451" cy="31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0" lang="el-GR" altLang="zh-CN" sz="2133"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ε</a:t>
              </a:r>
              <a:endParaRPr kumimoji="0" lang="zh-CN" altLang="en-US" sz="2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23" name="组合 22">
            <a:extLst>
              <a:ext uri="{FF2B5EF4-FFF2-40B4-BE49-F238E27FC236}">
                <a16:creationId xmlns:a16="http://schemas.microsoft.com/office/drawing/2014/main" id="{9E351129-0869-4EEE-A372-31BE101318D6}"/>
              </a:ext>
            </a:extLst>
          </p:cNvPr>
          <p:cNvGrpSpPr>
            <a:grpSpLocks/>
          </p:cNvGrpSpPr>
          <p:nvPr/>
        </p:nvGrpSpPr>
        <p:grpSpPr bwMode="auto">
          <a:xfrm>
            <a:off x="4250903" y="3020293"/>
            <a:ext cx="732893" cy="975784"/>
            <a:chOff x="6054749" y="1641620"/>
            <a:chExt cx="549428" cy="732182"/>
          </a:xfrm>
        </p:grpSpPr>
        <p:sp>
          <p:nvSpPr>
            <p:cNvPr id="24" name="Line 32">
              <a:extLst>
                <a:ext uri="{FF2B5EF4-FFF2-40B4-BE49-F238E27FC236}">
                  <a16:creationId xmlns:a16="http://schemas.microsoft.com/office/drawing/2014/main" id="{EC468334-A04E-49F5-824B-A530E51F6A55}"/>
                </a:ext>
              </a:extLst>
            </p:cNvPr>
            <p:cNvSpPr>
              <a:spLocks noChangeShapeType="1"/>
            </p:cNvSpPr>
            <p:nvPr/>
          </p:nvSpPr>
          <p:spPr bwMode="auto">
            <a:xfrm flipV="1">
              <a:off x="6275315" y="2030741"/>
              <a:ext cx="0" cy="343061"/>
            </a:xfrm>
            <a:prstGeom prst="line">
              <a:avLst/>
            </a:prstGeom>
            <a:noFill/>
            <a:ln w="38100">
              <a:solidFill>
                <a:schemeClr val="tx2">
                  <a:lumMod val="60000"/>
                  <a:lumOff val="40000"/>
                </a:schemeClr>
              </a:solidFill>
              <a:prstDash val="dash"/>
              <a:round/>
              <a:headEnd/>
              <a:tailEnd type="stealth" w="lg" len="lg"/>
            </a:ln>
          </p:spPr>
          <p:txBody>
            <a:bodyPr wrap="none"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133"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5" name="矩形 56">
              <a:extLst>
                <a:ext uri="{FF2B5EF4-FFF2-40B4-BE49-F238E27FC236}">
                  <a16:creationId xmlns:a16="http://schemas.microsoft.com/office/drawing/2014/main" id="{6EA3124F-7823-4C1D-9E2D-31190AE44278}"/>
                </a:ext>
              </a:extLst>
            </p:cNvPr>
            <p:cNvSpPr>
              <a:spLocks noChangeArrowheads="1"/>
            </p:cNvSpPr>
            <p:nvPr/>
          </p:nvSpPr>
          <p:spPr bwMode="auto">
            <a:xfrm>
              <a:off x="6054749" y="1641620"/>
              <a:ext cx="549428" cy="284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1" lang="en-US" altLang="zh-CN" sz="1867"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val</a:t>
              </a:r>
              <a:r>
                <a:rPr kumimoji="1" lang="en-US" altLang="zh-CN" sz="18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=3</a:t>
              </a:r>
              <a:endParaRPr kumimoji="0" lang="zh-CN" altLang="en-US" sz="1867"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26" name="组合 25">
            <a:extLst>
              <a:ext uri="{FF2B5EF4-FFF2-40B4-BE49-F238E27FC236}">
                <a16:creationId xmlns:a16="http://schemas.microsoft.com/office/drawing/2014/main" id="{EFD42467-84E0-4D14-9B9D-5BF1F39BEADB}"/>
              </a:ext>
            </a:extLst>
          </p:cNvPr>
          <p:cNvGrpSpPr>
            <a:grpSpLocks/>
          </p:cNvGrpSpPr>
          <p:nvPr/>
        </p:nvGrpSpPr>
        <p:grpSpPr bwMode="auto">
          <a:xfrm>
            <a:off x="3893179" y="3538876"/>
            <a:ext cx="1588882" cy="1057137"/>
            <a:chOff x="5787041" y="2030902"/>
            <a:chExt cx="1191070" cy="792629"/>
          </a:xfrm>
        </p:grpSpPr>
        <p:sp>
          <p:nvSpPr>
            <p:cNvPr id="27" name="Rectangle 2">
              <a:extLst>
                <a:ext uri="{FF2B5EF4-FFF2-40B4-BE49-F238E27FC236}">
                  <a16:creationId xmlns:a16="http://schemas.microsoft.com/office/drawing/2014/main" id="{D6A600C3-E242-44F8-8C06-1EA7D5CCBB56}"/>
                </a:ext>
              </a:extLst>
            </p:cNvPr>
            <p:cNvSpPr>
              <a:spLocks noChangeArrowheads="1"/>
            </p:cNvSpPr>
            <p:nvPr/>
          </p:nvSpPr>
          <p:spPr bwMode="auto">
            <a:xfrm>
              <a:off x="5787041" y="2409316"/>
              <a:ext cx="584468" cy="3477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90000" tIns="46800" rIns="90000" bIns="468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digit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8" name="Line 5">
              <a:extLst>
                <a:ext uri="{FF2B5EF4-FFF2-40B4-BE49-F238E27FC236}">
                  <a16:creationId xmlns:a16="http://schemas.microsoft.com/office/drawing/2014/main" id="{BC5E87C4-E837-4A93-8C20-E3FC393BC8A8}"/>
                </a:ext>
              </a:extLst>
            </p:cNvPr>
            <p:cNvSpPr>
              <a:spLocks noChangeShapeType="1"/>
            </p:cNvSpPr>
            <p:nvPr/>
          </p:nvSpPr>
          <p:spPr bwMode="auto">
            <a:xfrm flipV="1">
              <a:off x="6103416" y="203090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29" name="矩形 57">
              <a:extLst>
                <a:ext uri="{FF2B5EF4-FFF2-40B4-BE49-F238E27FC236}">
                  <a16:creationId xmlns:a16="http://schemas.microsoft.com/office/drawing/2014/main" id="{D42CDD8C-928A-41C9-ABC1-14D00D2A06D0}"/>
                </a:ext>
              </a:extLst>
            </p:cNvPr>
            <p:cNvSpPr>
              <a:spLocks noChangeArrowheads="1"/>
            </p:cNvSpPr>
            <p:nvPr/>
          </p:nvSpPr>
          <p:spPr bwMode="auto">
            <a:xfrm>
              <a:off x="6210013" y="2538869"/>
              <a:ext cx="768098" cy="28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1" lang="en-US" altLang="zh-CN" sz="1867"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lexval</a:t>
              </a:r>
              <a:r>
                <a:rPr kumimoji="1" lang="en-US" altLang="zh-CN" sz="1867"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=3</a:t>
              </a:r>
              <a:endParaRPr kumimoji="0" lang="zh-CN" altLang="en-US" sz="1867"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30" name="组合 29">
            <a:extLst>
              <a:ext uri="{FF2B5EF4-FFF2-40B4-BE49-F238E27FC236}">
                <a16:creationId xmlns:a16="http://schemas.microsoft.com/office/drawing/2014/main" id="{5F374D83-67FA-40C8-B210-3689794B1196}"/>
              </a:ext>
            </a:extLst>
          </p:cNvPr>
          <p:cNvGrpSpPr>
            <a:grpSpLocks/>
          </p:cNvGrpSpPr>
          <p:nvPr/>
        </p:nvGrpSpPr>
        <p:grpSpPr bwMode="auto">
          <a:xfrm>
            <a:off x="6142944" y="4226793"/>
            <a:ext cx="732893" cy="874184"/>
            <a:chOff x="7474212" y="2546238"/>
            <a:chExt cx="549428" cy="656444"/>
          </a:xfrm>
        </p:grpSpPr>
        <p:sp>
          <p:nvSpPr>
            <p:cNvPr id="31" name="Line 32">
              <a:extLst>
                <a:ext uri="{FF2B5EF4-FFF2-40B4-BE49-F238E27FC236}">
                  <a16:creationId xmlns:a16="http://schemas.microsoft.com/office/drawing/2014/main" id="{4A301B9F-C0AA-4065-8FEC-29CAF12F650C}"/>
                </a:ext>
              </a:extLst>
            </p:cNvPr>
            <p:cNvSpPr>
              <a:spLocks noChangeShapeType="1"/>
            </p:cNvSpPr>
            <p:nvPr/>
          </p:nvSpPr>
          <p:spPr bwMode="auto">
            <a:xfrm flipV="1">
              <a:off x="7836200" y="2859360"/>
              <a:ext cx="0" cy="343322"/>
            </a:xfrm>
            <a:prstGeom prst="line">
              <a:avLst/>
            </a:prstGeom>
            <a:noFill/>
            <a:ln w="38100">
              <a:solidFill>
                <a:schemeClr val="tx2">
                  <a:lumMod val="60000"/>
                  <a:lumOff val="40000"/>
                </a:schemeClr>
              </a:solidFill>
              <a:prstDash val="dash"/>
              <a:round/>
              <a:headEnd/>
              <a:tailEnd type="stealth" w="lg" len="lg"/>
            </a:ln>
          </p:spPr>
          <p:txBody>
            <a:bodyPr wrap="none"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133"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2" name="矩形 59">
              <a:extLst>
                <a:ext uri="{FF2B5EF4-FFF2-40B4-BE49-F238E27FC236}">
                  <a16:creationId xmlns:a16="http://schemas.microsoft.com/office/drawing/2014/main" id="{6AD90E15-CE3A-4C66-AC9B-1C93E4957EB4}"/>
                </a:ext>
              </a:extLst>
            </p:cNvPr>
            <p:cNvSpPr>
              <a:spLocks noChangeArrowheads="1"/>
            </p:cNvSpPr>
            <p:nvPr/>
          </p:nvSpPr>
          <p:spPr bwMode="auto">
            <a:xfrm>
              <a:off x="7474212" y="2546238"/>
              <a:ext cx="549428" cy="285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1" lang="en-US" altLang="zh-CN" sz="1867"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val</a:t>
              </a:r>
              <a:r>
                <a:rPr kumimoji="1" lang="en-US" altLang="zh-CN" sz="18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=5</a:t>
              </a:r>
              <a:endParaRPr kumimoji="1" lang="en-US" altLang="zh-CN" sz="18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33" name="组合 32">
            <a:extLst>
              <a:ext uri="{FF2B5EF4-FFF2-40B4-BE49-F238E27FC236}">
                <a16:creationId xmlns:a16="http://schemas.microsoft.com/office/drawing/2014/main" id="{6F5325D2-32D5-4819-8335-FD527B68E9D6}"/>
              </a:ext>
            </a:extLst>
          </p:cNvPr>
          <p:cNvGrpSpPr>
            <a:grpSpLocks/>
          </p:cNvGrpSpPr>
          <p:nvPr/>
        </p:nvGrpSpPr>
        <p:grpSpPr bwMode="auto">
          <a:xfrm>
            <a:off x="6325235" y="3449977"/>
            <a:ext cx="1648298" cy="1163085"/>
            <a:chOff x="7610180" y="1964437"/>
            <a:chExt cx="1236283" cy="872309"/>
          </a:xfrm>
        </p:grpSpPr>
        <p:sp>
          <p:nvSpPr>
            <p:cNvPr id="34" name="Line 33">
              <a:extLst>
                <a:ext uri="{FF2B5EF4-FFF2-40B4-BE49-F238E27FC236}">
                  <a16:creationId xmlns:a16="http://schemas.microsoft.com/office/drawing/2014/main" id="{97D8BFAF-CBD2-43A5-92AA-53E649597CF5}"/>
                </a:ext>
              </a:extLst>
            </p:cNvPr>
            <p:cNvSpPr>
              <a:spLocks noChangeShapeType="1"/>
            </p:cNvSpPr>
            <p:nvPr/>
          </p:nvSpPr>
          <p:spPr bwMode="auto">
            <a:xfrm flipV="1">
              <a:off x="8011837" y="2697858"/>
              <a:ext cx="293701" cy="1587"/>
            </a:xfrm>
            <a:prstGeom prst="line">
              <a:avLst/>
            </a:prstGeom>
            <a:noFill/>
            <a:ln w="38100">
              <a:solidFill>
                <a:schemeClr val="tx2">
                  <a:lumMod val="60000"/>
                  <a:lumOff val="40000"/>
                </a:schemeClr>
              </a:solidFill>
              <a:prstDash val="dash"/>
              <a:round/>
              <a:headEnd/>
              <a:tailEnd type="stealth" w="lg" len="lg"/>
            </a:ln>
          </p:spPr>
          <p:txBody>
            <a:bodyPr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133"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5" name="Line 34">
              <a:extLst>
                <a:ext uri="{FF2B5EF4-FFF2-40B4-BE49-F238E27FC236}">
                  <a16:creationId xmlns:a16="http://schemas.microsoft.com/office/drawing/2014/main" id="{DF75417A-528E-4EA1-B749-192F9585B10A}"/>
                </a:ext>
              </a:extLst>
            </p:cNvPr>
            <p:cNvSpPr>
              <a:spLocks noChangeShapeType="1"/>
            </p:cNvSpPr>
            <p:nvPr/>
          </p:nvSpPr>
          <p:spPr bwMode="auto">
            <a:xfrm>
              <a:off x="7610180" y="1964437"/>
              <a:ext cx="790613" cy="623884"/>
            </a:xfrm>
            <a:prstGeom prst="line">
              <a:avLst/>
            </a:prstGeom>
            <a:noFill/>
            <a:ln w="38100">
              <a:solidFill>
                <a:schemeClr val="tx2">
                  <a:lumMod val="60000"/>
                  <a:lumOff val="40000"/>
                </a:schemeClr>
              </a:solidFill>
              <a:prstDash val="dash"/>
              <a:round/>
              <a:headEnd/>
              <a:tailEnd type="stealth" w="lg" len="lg"/>
            </a:ln>
          </p:spPr>
          <p:txBody>
            <a:bodyPr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133"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36" name="矩形 60">
              <a:extLst>
                <a:ext uri="{FF2B5EF4-FFF2-40B4-BE49-F238E27FC236}">
                  <a16:creationId xmlns:a16="http://schemas.microsoft.com/office/drawing/2014/main" id="{59717239-AAE0-44B2-A1C1-EF5E0308DA9E}"/>
                </a:ext>
              </a:extLst>
            </p:cNvPr>
            <p:cNvSpPr>
              <a:spLocks noChangeArrowheads="1"/>
            </p:cNvSpPr>
            <p:nvPr/>
          </p:nvSpPr>
          <p:spPr bwMode="auto">
            <a:xfrm>
              <a:off x="8176536" y="2552005"/>
              <a:ext cx="669927" cy="284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1" lang="en-US" altLang="zh-CN" sz="1867"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inh</a:t>
              </a:r>
              <a:r>
                <a:rPr kumimoji="1" lang="en-US" altLang="zh-CN" sz="18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=15</a:t>
              </a:r>
              <a:endParaRPr kumimoji="1" lang="en-US" altLang="zh-CN" sz="18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37" name="组合 36">
            <a:extLst>
              <a:ext uri="{FF2B5EF4-FFF2-40B4-BE49-F238E27FC236}">
                <a16:creationId xmlns:a16="http://schemas.microsoft.com/office/drawing/2014/main" id="{232BBE32-38E9-42F5-9C90-79AEE328A72E}"/>
              </a:ext>
            </a:extLst>
          </p:cNvPr>
          <p:cNvGrpSpPr>
            <a:grpSpLocks/>
          </p:cNvGrpSpPr>
          <p:nvPr/>
        </p:nvGrpSpPr>
        <p:grpSpPr bwMode="auto">
          <a:xfrm>
            <a:off x="5717746" y="4643778"/>
            <a:ext cx="1568411" cy="980979"/>
            <a:chOff x="7361617" y="2859782"/>
            <a:chExt cx="1176476" cy="735600"/>
          </a:xfrm>
        </p:grpSpPr>
        <p:sp>
          <p:nvSpPr>
            <p:cNvPr id="38" name="Rectangle 7">
              <a:extLst>
                <a:ext uri="{FF2B5EF4-FFF2-40B4-BE49-F238E27FC236}">
                  <a16:creationId xmlns:a16="http://schemas.microsoft.com/office/drawing/2014/main" id="{54551D1A-392F-4084-8373-FA590B34DA1D}"/>
                </a:ext>
              </a:extLst>
            </p:cNvPr>
            <p:cNvSpPr>
              <a:spLocks noChangeArrowheads="1"/>
            </p:cNvSpPr>
            <p:nvPr/>
          </p:nvSpPr>
          <p:spPr bwMode="auto">
            <a:xfrm>
              <a:off x="7361617" y="3166708"/>
              <a:ext cx="584842" cy="3478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lg" len="lg"/>
                </a14:hiddenLine>
              </a:ext>
            </a:extLst>
          </p:spPr>
          <p:txBody>
            <a:bodyPr wrap="none" lIns="90000" tIns="46800" rIns="90000" bIns="46800" anchor="ctr">
              <a:spAutoFit/>
            </a:bodyPr>
            <a:lstStyle>
              <a:lvl1pPr>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digit</a:t>
              </a:r>
              <a:endPar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9" name="Line 5">
              <a:extLst>
                <a:ext uri="{FF2B5EF4-FFF2-40B4-BE49-F238E27FC236}">
                  <a16:creationId xmlns:a16="http://schemas.microsoft.com/office/drawing/2014/main" id="{696A16A6-108C-4D23-8B9D-94525ADF09AC}"/>
                </a:ext>
              </a:extLst>
            </p:cNvPr>
            <p:cNvSpPr>
              <a:spLocks noChangeShapeType="1"/>
            </p:cNvSpPr>
            <p:nvPr/>
          </p:nvSpPr>
          <p:spPr bwMode="auto">
            <a:xfrm flipV="1">
              <a:off x="7664313" y="2859782"/>
              <a:ext cx="0" cy="3429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40" name="矩形 61">
              <a:extLst>
                <a:ext uri="{FF2B5EF4-FFF2-40B4-BE49-F238E27FC236}">
                  <a16:creationId xmlns:a16="http://schemas.microsoft.com/office/drawing/2014/main" id="{122F046E-E18B-4D73-9EF8-E7C5E12BB6D8}"/>
                </a:ext>
              </a:extLst>
            </p:cNvPr>
            <p:cNvSpPr>
              <a:spLocks noChangeArrowheads="1"/>
            </p:cNvSpPr>
            <p:nvPr/>
          </p:nvSpPr>
          <p:spPr bwMode="auto">
            <a:xfrm>
              <a:off x="7769504" y="3310692"/>
              <a:ext cx="768589" cy="284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1" lang="en-US" altLang="zh-CN" sz="1867"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lexval</a:t>
              </a:r>
              <a:r>
                <a:rPr kumimoji="1" lang="en-US" altLang="zh-CN" sz="1867"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=5</a:t>
              </a:r>
              <a:endParaRPr kumimoji="1" lang="en-US" altLang="zh-CN" sz="1867"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41" name="组合 124932">
            <a:extLst>
              <a:ext uri="{FF2B5EF4-FFF2-40B4-BE49-F238E27FC236}">
                <a16:creationId xmlns:a16="http://schemas.microsoft.com/office/drawing/2014/main" id="{DE7E13FF-A68D-4AB7-B238-21837827A03B}"/>
              </a:ext>
            </a:extLst>
          </p:cNvPr>
          <p:cNvGrpSpPr>
            <a:grpSpLocks/>
          </p:cNvGrpSpPr>
          <p:nvPr/>
        </p:nvGrpSpPr>
        <p:grpSpPr bwMode="auto">
          <a:xfrm>
            <a:off x="4943049" y="2954678"/>
            <a:ext cx="1658572" cy="485932"/>
            <a:chOff x="6574591" y="1592407"/>
            <a:chExt cx="1243880" cy="364608"/>
          </a:xfrm>
        </p:grpSpPr>
        <p:sp>
          <p:nvSpPr>
            <p:cNvPr id="42" name="矩形 58">
              <a:extLst>
                <a:ext uri="{FF2B5EF4-FFF2-40B4-BE49-F238E27FC236}">
                  <a16:creationId xmlns:a16="http://schemas.microsoft.com/office/drawing/2014/main" id="{D5B3B262-1EC1-40AF-ABF2-C4F359DB323E}"/>
                </a:ext>
              </a:extLst>
            </p:cNvPr>
            <p:cNvSpPr>
              <a:spLocks noChangeArrowheads="1"/>
            </p:cNvSpPr>
            <p:nvPr/>
          </p:nvSpPr>
          <p:spPr bwMode="auto">
            <a:xfrm>
              <a:off x="7238768" y="1672149"/>
              <a:ext cx="579703" cy="284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1" lang="en-US" altLang="zh-CN" sz="1867" b="1"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inh</a:t>
              </a:r>
              <a:r>
                <a:rPr kumimoji="1" lang="en-US" altLang="zh-CN" sz="18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=3</a:t>
              </a:r>
              <a:endParaRPr kumimoji="1" lang="en-US" altLang="zh-CN" sz="18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3" name="Freeform 60">
              <a:extLst>
                <a:ext uri="{FF2B5EF4-FFF2-40B4-BE49-F238E27FC236}">
                  <a16:creationId xmlns:a16="http://schemas.microsoft.com/office/drawing/2014/main" id="{E9368046-3321-4DBF-A23C-A7EE7245116F}"/>
                </a:ext>
              </a:extLst>
            </p:cNvPr>
            <p:cNvSpPr>
              <a:spLocks/>
            </p:cNvSpPr>
            <p:nvPr/>
          </p:nvSpPr>
          <p:spPr bwMode="auto">
            <a:xfrm>
              <a:off x="6574591" y="1592407"/>
              <a:ext cx="922301" cy="115938"/>
            </a:xfrm>
            <a:custGeom>
              <a:avLst/>
              <a:gdLst>
                <a:gd name="T0" fmla="*/ 0 w 453"/>
                <a:gd name="T1" fmla="*/ 2147483646 h 136"/>
                <a:gd name="T2" fmla="*/ 2147483646 w 453"/>
                <a:gd name="T3" fmla="*/ 0 h 136"/>
                <a:gd name="T4" fmla="*/ 2147483646 w 453"/>
                <a:gd name="T5" fmla="*/ 2147483646 h 136"/>
                <a:gd name="T6" fmla="*/ 0 60000 65536"/>
                <a:gd name="T7" fmla="*/ 0 60000 65536"/>
                <a:gd name="T8" fmla="*/ 0 60000 65536"/>
                <a:gd name="T9" fmla="*/ 0 w 453"/>
                <a:gd name="T10" fmla="*/ 0 h 136"/>
                <a:gd name="T11" fmla="*/ 453 w 453"/>
                <a:gd name="T12" fmla="*/ 136 h 136"/>
              </a:gdLst>
              <a:ahLst/>
              <a:cxnLst>
                <a:cxn ang="T6">
                  <a:pos x="T0" y="T1"/>
                </a:cxn>
                <a:cxn ang="T7">
                  <a:pos x="T2" y="T3"/>
                </a:cxn>
                <a:cxn ang="T8">
                  <a:pos x="T4" y="T5"/>
                </a:cxn>
              </a:cxnLst>
              <a:rect l="T9" t="T10" r="T11" b="T12"/>
              <a:pathLst>
                <a:path w="453" h="136">
                  <a:moveTo>
                    <a:pt x="0" y="136"/>
                  </a:moveTo>
                  <a:cubicBezTo>
                    <a:pt x="53" y="68"/>
                    <a:pt x="106" y="0"/>
                    <a:pt x="181" y="0"/>
                  </a:cubicBezTo>
                  <a:cubicBezTo>
                    <a:pt x="256" y="0"/>
                    <a:pt x="354" y="68"/>
                    <a:pt x="453" y="136"/>
                  </a:cubicBezTo>
                </a:path>
              </a:pathLst>
            </a:custGeom>
            <a:noFill/>
            <a:ln w="38100">
              <a:solidFill>
                <a:schemeClr val="tx2">
                  <a:lumMod val="60000"/>
                  <a:lumOff val="40000"/>
                </a:schemeClr>
              </a:solidFill>
              <a:prstDash val="dash"/>
              <a:round/>
              <a:headEnd/>
              <a:tailEnd type="stealth" w="med" len="med"/>
            </a:ln>
          </p:spPr>
          <p:txBody>
            <a:bodyPr lIns="91440" tIns="45720" rIns="91440" bIns="45720"/>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grpSp>
      <p:grpSp>
        <p:nvGrpSpPr>
          <p:cNvPr id="44" name="组合 43">
            <a:extLst>
              <a:ext uri="{FF2B5EF4-FFF2-40B4-BE49-F238E27FC236}">
                <a16:creationId xmlns:a16="http://schemas.microsoft.com/office/drawing/2014/main" id="{BD1F7057-192C-4284-9CB8-9CE48AAA5EAA}"/>
              </a:ext>
            </a:extLst>
          </p:cNvPr>
          <p:cNvGrpSpPr>
            <a:grpSpLocks/>
          </p:cNvGrpSpPr>
          <p:nvPr/>
        </p:nvGrpSpPr>
        <p:grpSpPr bwMode="auto">
          <a:xfrm>
            <a:off x="6752242" y="3058394"/>
            <a:ext cx="1674838" cy="1200151"/>
            <a:chOff x="6643748" y="3019772"/>
            <a:chExt cx="1256435" cy="899021"/>
          </a:xfrm>
        </p:grpSpPr>
        <p:sp>
          <p:nvSpPr>
            <p:cNvPr id="45" name="Line 35">
              <a:extLst>
                <a:ext uri="{FF2B5EF4-FFF2-40B4-BE49-F238E27FC236}">
                  <a16:creationId xmlns:a16="http://schemas.microsoft.com/office/drawing/2014/main" id="{CF3FA934-496E-447A-9081-06438C90EFA1}"/>
                </a:ext>
              </a:extLst>
            </p:cNvPr>
            <p:cNvSpPr>
              <a:spLocks noChangeShapeType="1"/>
            </p:cNvSpPr>
            <p:nvPr/>
          </p:nvSpPr>
          <p:spPr bwMode="auto">
            <a:xfrm flipH="1" flipV="1">
              <a:off x="7180870" y="3327373"/>
              <a:ext cx="719313" cy="591420"/>
            </a:xfrm>
            <a:prstGeom prst="line">
              <a:avLst/>
            </a:prstGeom>
            <a:noFill/>
            <a:ln w="38100">
              <a:solidFill>
                <a:schemeClr val="tx2">
                  <a:lumMod val="60000"/>
                  <a:lumOff val="40000"/>
                </a:schemeClr>
              </a:solidFill>
              <a:prstDash val="dash"/>
              <a:round/>
              <a:headEnd/>
              <a:tailEnd type="stealth" w="lg" len="lg"/>
            </a:ln>
          </p:spPr>
          <p:txBody>
            <a:bodyPr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133"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46" name="矩形 79">
              <a:extLst>
                <a:ext uri="{FF2B5EF4-FFF2-40B4-BE49-F238E27FC236}">
                  <a16:creationId xmlns:a16="http://schemas.microsoft.com/office/drawing/2014/main" id="{C7D81E36-2948-403C-85F8-703E5C97BD5D}"/>
                </a:ext>
              </a:extLst>
            </p:cNvPr>
            <p:cNvSpPr>
              <a:spLocks noChangeArrowheads="1"/>
            </p:cNvSpPr>
            <p:nvPr/>
          </p:nvSpPr>
          <p:spPr bwMode="auto">
            <a:xfrm>
              <a:off x="6643748" y="3019772"/>
              <a:ext cx="670058" cy="284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1" lang="en-US" altLang="zh-CN" sz="1867"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syn</a:t>
              </a:r>
              <a:r>
                <a:rPr kumimoji="1" lang="en-US" altLang="zh-CN" sz="1867"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=15</a:t>
              </a:r>
              <a:endParaRPr kumimoji="1" lang="en-US" altLang="zh-CN" sz="1867"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47" name="组合 46">
            <a:extLst>
              <a:ext uri="{FF2B5EF4-FFF2-40B4-BE49-F238E27FC236}">
                <a16:creationId xmlns:a16="http://schemas.microsoft.com/office/drawing/2014/main" id="{6715FAB9-4A36-41E4-B349-D9818BB7FF0A}"/>
              </a:ext>
            </a:extLst>
          </p:cNvPr>
          <p:cNvGrpSpPr>
            <a:grpSpLocks/>
          </p:cNvGrpSpPr>
          <p:nvPr/>
        </p:nvGrpSpPr>
        <p:grpSpPr bwMode="auto">
          <a:xfrm>
            <a:off x="5774899" y="1856126"/>
            <a:ext cx="1437217" cy="1331384"/>
            <a:chOff x="5910540" y="2117977"/>
            <a:chExt cx="1078256" cy="998667"/>
          </a:xfrm>
        </p:grpSpPr>
        <p:sp>
          <p:nvSpPr>
            <p:cNvPr id="48" name="矩形 4">
              <a:extLst>
                <a:ext uri="{FF2B5EF4-FFF2-40B4-BE49-F238E27FC236}">
                  <a16:creationId xmlns:a16="http://schemas.microsoft.com/office/drawing/2014/main" id="{AC364CC2-8778-49E8-9524-3C8F0B4F1E00}"/>
                </a:ext>
              </a:extLst>
            </p:cNvPr>
            <p:cNvSpPr>
              <a:spLocks noChangeArrowheads="1"/>
            </p:cNvSpPr>
            <p:nvPr/>
          </p:nvSpPr>
          <p:spPr bwMode="auto">
            <a:xfrm>
              <a:off x="5910540" y="2117977"/>
              <a:ext cx="640043" cy="284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r>
                <a:rPr kumimoji="1" lang="en-US" altLang="zh-CN" sz="1867"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val</a:t>
              </a:r>
              <a:r>
                <a:rPr kumimoji="1" lang="en-US" altLang="zh-CN" sz="18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=15</a:t>
              </a:r>
              <a:endParaRPr kumimoji="0" lang="zh-CN" altLang="en-US" sz="1867"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9" name="Line 35">
              <a:extLst>
                <a:ext uri="{FF2B5EF4-FFF2-40B4-BE49-F238E27FC236}">
                  <a16:creationId xmlns:a16="http://schemas.microsoft.com/office/drawing/2014/main" id="{767536B9-65B7-4DB4-B332-6280117791A9}"/>
                </a:ext>
              </a:extLst>
            </p:cNvPr>
            <p:cNvSpPr>
              <a:spLocks noChangeShapeType="1"/>
            </p:cNvSpPr>
            <p:nvPr/>
          </p:nvSpPr>
          <p:spPr bwMode="auto">
            <a:xfrm flipH="1" flipV="1">
              <a:off x="6264666" y="2473623"/>
              <a:ext cx="724130" cy="643021"/>
            </a:xfrm>
            <a:prstGeom prst="line">
              <a:avLst/>
            </a:prstGeom>
            <a:noFill/>
            <a:ln w="38100">
              <a:solidFill>
                <a:schemeClr val="tx2">
                  <a:lumMod val="60000"/>
                  <a:lumOff val="40000"/>
                </a:schemeClr>
              </a:solidFill>
              <a:prstDash val="dash"/>
              <a:round/>
              <a:headEnd/>
              <a:tailEnd type="stealth" w="lg" len="lg"/>
            </a:ln>
          </p:spPr>
          <p:txBody>
            <a:bodyPr lIns="90000" tIns="46800" rIns="90000" bIns="46800" anchor="ctr">
              <a:spAutoFit/>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133"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grpSp>
      <p:grpSp>
        <p:nvGrpSpPr>
          <p:cNvPr id="50" name="组合 49">
            <a:extLst>
              <a:ext uri="{FF2B5EF4-FFF2-40B4-BE49-F238E27FC236}">
                <a16:creationId xmlns:a16="http://schemas.microsoft.com/office/drawing/2014/main" id="{7E82A8A1-1DD8-484C-9E67-4B79FBAE5600}"/>
              </a:ext>
            </a:extLst>
          </p:cNvPr>
          <p:cNvGrpSpPr>
            <a:grpSpLocks/>
          </p:cNvGrpSpPr>
          <p:nvPr/>
        </p:nvGrpSpPr>
        <p:grpSpPr bwMode="auto">
          <a:xfrm>
            <a:off x="7601576" y="4188694"/>
            <a:ext cx="1380631" cy="590551"/>
            <a:chOff x="7977352" y="3867894"/>
            <a:chExt cx="1035750" cy="441422"/>
          </a:xfrm>
        </p:grpSpPr>
        <p:sp>
          <p:nvSpPr>
            <p:cNvPr id="51" name="矩形 76">
              <a:extLst>
                <a:ext uri="{FF2B5EF4-FFF2-40B4-BE49-F238E27FC236}">
                  <a16:creationId xmlns:a16="http://schemas.microsoft.com/office/drawing/2014/main" id="{D931F586-711B-42BA-BE66-DE68E398FE47}"/>
                </a:ext>
              </a:extLst>
            </p:cNvPr>
            <p:cNvSpPr>
              <a:spLocks noChangeArrowheads="1"/>
            </p:cNvSpPr>
            <p:nvPr/>
          </p:nvSpPr>
          <p:spPr bwMode="auto">
            <a:xfrm>
              <a:off x="8343028" y="3867894"/>
              <a:ext cx="670074" cy="283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1219170" rtl="0" eaLnBrk="1" fontAlgn="base" latinLnBrk="0" hangingPunct="1">
                <a:lnSpc>
                  <a:spcPct val="100000"/>
                </a:lnSpc>
                <a:spcBef>
                  <a:spcPct val="0"/>
                </a:spcBef>
                <a:spcAft>
                  <a:spcPct val="0"/>
                </a:spcAft>
                <a:buClrTx/>
                <a:buSzTx/>
                <a:buFontTx/>
                <a:buNone/>
                <a:tabLst/>
                <a:defRPr/>
              </a:pPr>
              <a:r>
                <a:rPr kumimoji="1" lang="en-US" altLang="zh-CN" sz="1867"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syn</a:t>
              </a:r>
              <a:r>
                <a:rPr kumimoji="1" lang="en-US" altLang="zh-CN" sz="18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=15</a:t>
              </a:r>
              <a:endParaRPr kumimoji="1" lang="en-US" altLang="zh-CN" sz="1867"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2" name="任意多边形 124943">
              <a:extLst>
                <a:ext uri="{FF2B5EF4-FFF2-40B4-BE49-F238E27FC236}">
                  <a16:creationId xmlns:a16="http://schemas.microsoft.com/office/drawing/2014/main" id="{96F5A8F7-D87B-4D15-B717-27C25BFD791A}"/>
                </a:ext>
              </a:extLst>
            </p:cNvPr>
            <p:cNvSpPr/>
            <p:nvPr/>
          </p:nvSpPr>
          <p:spPr>
            <a:xfrm>
              <a:off x="7977352" y="4173251"/>
              <a:ext cx="493843" cy="136065"/>
            </a:xfrm>
            <a:custGeom>
              <a:avLst/>
              <a:gdLst>
                <a:gd name="connsiteX0" fmla="*/ 0 w 493986"/>
                <a:gd name="connsiteY0" fmla="*/ 0 h 136709"/>
                <a:gd name="connsiteX1" fmla="*/ 220717 w 493986"/>
                <a:gd name="connsiteY1" fmla="*/ 136634 h 136709"/>
                <a:gd name="connsiteX2" fmla="*/ 483476 w 493986"/>
                <a:gd name="connsiteY2" fmla="*/ 21021 h 136709"/>
                <a:gd name="connsiteX3" fmla="*/ 483476 w 493986"/>
                <a:gd name="connsiteY3" fmla="*/ 21021 h 136709"/>
                <a:gd name="connsiteX4" fmla="*/ 493986 w 493986"/>
                <a:gd name="connsiteY4" fmla="*/ 10510 h 136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986" h="136709">
                  <a:moveTo>
                    <a:pt x="0" y="0"/>
                  </a:moveTo>
                  <a:cubicBezTo>
                    <a:pt x="70069" y="66565"/>
                    <a:pt x="140138" y="133131"/>
                    <a:pt x="220717" y="136634"/>
                  </a:cubicBezTo>
                  <a:cubicBezTo>
                    <a:pt x="301296" y="140137"/>
                    <a:pt x="483476" y="21021"/>
                    <a:pt x="483476" y="21021"/>
                  </a:cubicBezTo>
                  <a:lnTo>
                    <a:pt x="483476" y="21021"/>
                  </a:lnTo>
                  <a:lnTo>
                    <a:pt x="493986" y="10510"/>
                  </a:lnTo>
                </a:path>
              </a:pathLst>
            </a:custGeom>
            <a:noFill/>
            <a:ln w="38100">
              <a:solidFill>
                <a:schemeClr val="tx2">
                  <a:lumMod val="60000"/>
                  <a:lumOff val="4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white"/>
                </a:solidFill>
                <a:effectLst/>
                <a:uLnTx/>
                <a:uFillTx/>
                <a:latin typeface="Candara"/>
                <a:ea typeface="华文楷体" panose="02010600040101010101" pitchFamily="2" charset="-122"/>
                <a:cs typeface="+mn-cs"/>
              </a:endParaRPr>
            </a:p>
          </p:txBody>
        </p:sp>
      </p:grpSp>
      <p:sp>
        <p:nvSpPr>
          <p:cNvPr id="53" name="Line 41">
            <a:extLst>
              <a:ext uri="{FF2B5EF4-FFF2-40B4-BE49-F238E27FC236}">
                <a16:creationId xmlns:a16="http://schemas.microsoft.com/office/drawing/2014/main" id="{B8D47EA2-10B4-45FC-AE6D-94972679A4E9}"/>
              </a:ext>
            </a:extLst>
          </p:cNvPr>
          <p:cNvSpPr>
            <a:spLocks noChangeShapeType="1"/>
          </p:cNvSpPr>
          <p:nvPr/>
        </p:nvSpPr>
        <p:spPr bwMode="auto">
          <a:xfrm flipV="1">
            <a:off x="912284" y="5532968"/>
            <a:ext cx="0" cy="359833"/>
          </a:xfrm>
          <a:prstGeom prst="line">
            <a:avLst/>
          </a:prstGeom>
          <a:noFill/>
          <a:ln w="25400">
            <a:solidFill>
              <a:schemeClr val="tx2">
                <a:lumMod val="60000"/>
                <a:lumOff val="40000"/>
              </a:schemeClr>
            </a:solidFill>
            <a:round/>
            <a:headEnd/>
            <a:tailEnd type="triangle" w="med" len="med"/>
          </a:ln>
        </p:spPr>
        <p:txBody>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54" name="Line 41">
            <a:extLst>
              <a:ext uri="{FF2B5EF4-FFF2-40B4-BE49-F238E27FC236}">
                <a16:creationId xmlns:a16="http://schemas.microsoft.com/office/drawing/2014/main" id="{6B71D908-BE8B-40B2-BC9A-053C899C8BD5}"/>
              </a:ext>
            </a:extLst>
          </p:cNvPr>
          <p:cNvSpPr>
            <a:spLocks noChangeShapeType="1"/>
          </p:cNvSpPr>
          <p:nvPr/>
        </p:nvSpPr>
        <p:spPr bwMode="auto">
          <a:xfrm flipV="1">
            <a:off x="1295400" y="5541434"/>
            <a:ext cx="0" cy="359833"/>
          </a:xfrm>
          <a:prstGeom prst="line">
            <a:avLst/>
          </a:prstGeom>
          <a:noFill/>
          <a:ln w="25400">
            <a:solidFill>
              <a:schemeClr val="tx2">
                <a:lumMod val="60000"/>
                <a:lumOff val="40000"/>
              </a:schemeClr>
            </a:solidFill>
            <a:round/>
            <a:headEnd/>
            <a:tailEnd type="triangle" w="med" len="med"/>
          </a:ln>
        </p:spPr>
        <p:txBody>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55" name="Line 41">
            <a:extLst>
              <a:ext uri="{FF2B5EF4-FFF2-40B4-BE49-F238E27FC236}">
                <a16:creationId xmlns:a16="http://schemas.microsoft.com/office/drawing/2014/main" id="{53A30EC1-E27F-40DC-80F6-EBC484647071}"/>
              </a:ext>
            </a:extLst>
          </p:cNvPr>
          <p:cNvSpPr>
            <a:spLocks noChangeShapeType="1"/>
          </p:cNvSpPr>
          <p:nvPr/>
        </p:nvSpPr>
        <p:spPr bwMode="auto">
          <a:xfrm flipV="1">
            <a:off x="1775884" y="5541434"/>
            <a:ext cx="0" cy="359833"/>
          </a:xfrm>
          <a:prstGeom prst="line">
            <a:avLst/>
          </a:prstGeom>
          <a:noFill/>
          <a:ln w="25400">
            <a:solidFill>
              <a:schemeClr val="tx2">
                <a:lumMod val="60000"/>
                <a:lumOff val="40000"/>
              </a:schemeClr>
            </a:solidFill>
            <a:round/>
            <a:headEnd/>
            <a:tailEnd type="triangle" w="med" len="med"/>
          </a:ln>
        </p:spPr>
        <p:txBody>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56" name="Line 41">
            <a:extLst>
              <a:ext uri="{FF2B5EF4-FFF2-40B4-BE49-F238E27FC236}">
                <a16:creationId xmlns:a16="http://schemas.microsoft.com/office/drawing/2014/main" id="{76973A7D-4850-4234-9454-D7CE11905DB3}"/>
              </a:ext>
            </a:extLst>
          </p:cNvPr>
          <p:cNvSpPr>
            <a:spLocks noChangeShapeType="1"/>
          </p:cNvSpPr>
          <p:nvPr/>
        </p:nvSpPr>
        <p:spPr bwMode="auto">
          <a:xfrm flipV="1">
            <a:off x="2446867" y="5541434"/>
            <a:ext cx="0" cy="359833"/>
          </a:xfrm>
          <a:prstGeom prst="line">
            <a:avLst/>
          </a:prstGeom>
          <a:noFill/>
          <a:ln w="25400">
            <a:solidFill>
              <a:schemeClr val="tx2">
                <a:lumMod val="60000"/>
                <a:lumOff val="40000"/>
              </a:schemeClr>
            </a:solidFill>
            <a:round/>
            <a:headEnd/>
            <a:tailEnd type="triangle" w="med" len="med"/>
          </a:ln>
        </p:spPr>
        <p:txBody>
          <a:bodyP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
        <p:nvSpPr>
          <p:cNvPr id="58" name="矩形 57">
            <a:extLst>
              <a:ext uri="{FF2B5EF4-FFF2-40B4-BE49-F238E27FC236}">
                <a16:creationId xmlns:a16="http://schemas.microsoft.com/office/drawing/2014/main" id="{3CD636F4-26A7-4E05-ABFA-0F7DC0E12B78}"/>
              </a:ext>
            </a:extLst>
          </p:cNvPr>
          <p:cNvSpPr/>
          <p:nvPr/>
        </p:nvSpPr>
        <p:spPr bwMode="auto">
          <a:xfrm>
            <a:off x="655882" y="822930"/>
            <a:ext cx="3199234" cy="85347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00" dirty="0">
                <a:solidFill>
                  <a:srgbClr val="0432FF"/>
                </a:solidFill>
                <a:effectLst/>
                <a:latin typeface="Times New Roman" panose="02020603050405020304" pitchFamily="18" charset="0"/>
                <a:cs typeface="Times New Roman" panose="02020603050405020304" pitchFamily="18" charset="0"/>
              </a:rPr>
              <a:t>Can be implemented in </a:t>
            </a:r>
            <a:endParaRPr lang="en-US" altLang="zh-CN" dirty="0">
              <a:latin typeface="Times New Roman" panose="02020603050405020304" pitchFamily="18" charset="0"/>
              <a:cs typeface="Times New Roman" panose="02020603050405020304" pitchFamily="18" charset="0"/>
            </a:endParaRPr>
          </a:p>
          <a:p>
            <a:pPr algn="ctr"/>
            <a:r>
              <a:rPr lang="en-US" altLang="zh-CN" sz="1800" dirty="0">
                <a:solidFill>
                  <a:srgbClr val="0432FF"/>
                </a:solidFill>
                <a:effectLst/>
                <a:latin typeface="Times New Roman" panose="02020603050405020304" pitchFamily="18" charset="0"/>
                <a:cs typeface="Times New Roman" panose="02020603050405020304" pitchFamily="18" charset="0"/>
              </a:rPr>
              <a:t>top-down parsing</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64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3"/>
                                        </p:tgtEl>
                                        <p:attrNameLst>
                                          <p:attrName>style.visibility</p:attrName>
                                        </p:attrNameLst>
                                      </p:cBhvr>
                                      <p:to>
                                        <p:strVal val="visible"/>
                                      </p:to>
                                    </p:set>
                                    <p:anim calcmode="lin" valueType="num">
                                      <p:cBhvr>
                                        <p:cTn id="12" dur="500" fill="hold"/>
                                        <p:tgtEl>
                                          <p:spTgt spid="53"/>
                                        </p:tgtEl>
                                        <p:attrNameLst>
                                          <p:attrName>ppt_w</p:attrName>
                                        </p:attrNameLst>
                                      </p:cBhvr>
                                      <p:tavLst>
                                        <p:tav tm="0">
                                          <p:val>
                                            <p:fltVal val="0"/>
                                          </p:val>
                                        </p:tav>
                                        <p:tav tm="100000">
                                          <p:val>
                                            <p:strVal val="#ppt_w"/>
                                          </p:val>
                                        </p:tav>
                                      </p:tavLst>
                                    </p:anim>
                                    <p:anim calcmode="lin" valueType="num">
                                      <p:cBhvr>
                                        <p:cTn id="13" dur="500" fill="hold"/>
                                        <p:tgtEl>
                                          <p:spTgt spid="53"/>
                                        </p:tgtEl>
                                        <p:attrNameLst>
                                          <p:attrName>ppt_h</p:attrName>
                                        </p:attrNameLst>
                                      </p:cBhvr>
                                      <p:tavLst>
                                        <p:tav tm="0">
                                          <p:val>
                                            <p:fltVal val="0"/>
                                          </p:val>
                                        </p:tav>
                                        <p:tav tm="100000">
                                          <p:val>
                                            <p:strVal val="#ppt_h"/>
                                          </p:val>
                                        </p:tav>
                                      </p:tavLst>
                                    </p:anim>
                                    <p:animEffect transition="in" filter="fade">
                                      <p:cBhvr>
                                        <p:cTn id="14" dur="500"/>
                                        <p:tgtEl>
                                          <p:spTgt spid="5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p:cTn id="26" dur="500" fill="hold"/>
                                        <p:tgtEl>
                                          <p:spTgt spid="26"/>
                                        </p:tgtEl>
                                        <p:attrNameLst>
                                          <p:attrName>ppt_w</p:attrName>
                                        </p:attrNameLst>
                                      </p:cBhvr>
                                      <p:tavLst>
                                        <p:tav tm="0">
                                          <p:val>
                                            <p:fltVal val="0"/>
                                          </p:val>
                                        </p:tav>
                                        <p:tav tm="100000">
                                          <p:val>
                                            <p:strVal val="#ppt_w"/>
                                          </p:val>
                                        </p:tav>
                                      </p:tavLst>
                                    </p:anim>
                                    <p:anim calcmode="lin" valueType="num">
                                      <p:cBhvr>
                                        <p:cTn id="27" dur="500" fill="hold"/>
                                        <p:tgtEl>
                                          <p:spTgt spid="26"/>
                                        </p:tgtEl>
                                        <p:attrNameLst>
                                          <p:attrName>ppt_h</p:attrName>
                                        </p:attrNameLst>
                                      </p:cBhvr>
                                      <p:tavLst>
                                        <p:tav tm="0">
                                          <p:val>
                                            <p:fltVal val="0"/>
                                          </p:val>
                                        </p:tav>
                                        <p:tav tm="100000">
                                          <p:val>
                                            <p:strVal val="#ppt_h"/>
                                          </p:val>
                                        </p:tav>
                                      </p:tavLst>
                                    </p:anim>
                                    <p:animEffect transition="in" filter="fade">
                                      <p:cBhvr>
                                        <p:cTn id="28" dur="500"/>
                                        <p:tgtEl>
                                          <p:spTgt spid="26"/>
                                        </p:tgtEl>
                                      </p:cBhvr>
                                    </p:animEffect>
                                  </p:childTnLst>
                                </p:cTn>
                              </p:par>
                            </p:childTnLst>
                          </p:cTn>
                        </p:par>
                        <p:par>
                          <p:cTn id="29" fill="hold">
                            <p:stCondLst>
                              <p:cond delay="500"/>
                            </p:stCondLst>
                            <p:childTnLst>
                              <p:par>
                                <p:cTn id="30" presetID="53" presetClass="entr" presetSubtype="0" fill="hold" nodeType="afterEffect">
                                  <p:stCondLst>
                                    <p:cond delay="0"/>
                                  </p:stCondLst>
                                  <p:childTnLst>
                                    <p:set>
                                      <p:cBhvr>
                                        <p:cTn id="31" dur="1" fill="hold">
                                          <p:stCondLst>
                                            <p:cond delay="0"/>
                                          </p:stCondLst>
                                        </p:cTn>
                                        <p:tgtEl>
                                          <p:spTgt spid="54"/>
                                        </p:tgtEl>
                                        <p:attrNameLst>
                                          <p:attrName>style.visibility</p:attrName>
                                        </p:attrNameLst>
                                      </p:cBhvr>
                                      <p:to>
                                        <p:strVal val="visible"/>
                                      </p:to>
                                    </p:set>
                                    <p:anim calcmode="lin" valueType="num">
                                      <p:cBhvr>
                                        <p:cTn id="32" dur="500" fill="hold"/>
                                        <p:tgtEl>
                                          <p:spTgt spid="54"/>
                                        </p:tgtEl>
                                        <p:attrNameLst>
                                          <p:attrName>ppt_w</p:attrName>
                                        </p:attrNameLst>
                                      </p:cBhvr>
                                      <p:tavLst>
                                        <p:tav tm="0">
                                          <p:val>
                                            <p:fltVal val="0"/>
                                          </p:val>
                                        </p:tav>
                                        <p:tav tm="100000">
                                          <p:val>
                                            <p:strVal val="#ppt_w"/>
                                          </p:val>
                                        </p:tav>
                                      </p:tavLst>
                                    </p:anim>
                                    <p:anim calcmode="lin" valueType="num">
                                      <p:cBhvr>
                                        <p:cTn id="33" dur="500" fill="hold"/>
                                        <p:tgtEl>
                                          <p:spTgt spid="54"/>
                                        </p:tgtEl>
                                        <p:attrNameLst>
                                          <p:attrName>ppt_h</p:attrName>
                                        </p:attrNameLst>
                                      </p:cBhvr>
                                      <p:tavLst>
                                        <p:tav tm="0">
                                          <p:val>
                                            <p:fltVal val="0"/>
                                          </p:val>
                                        </p:tav>
                                        <p:tav tm="100000">
                                          <p:val>
                                            <p:strVal val="#ppt_h"/>
                                          </p:val>
                                        </p:tav>
                                      </p:tavLst>
                                    </p:anim>
                                    <p:animEffect transition="in" filter="fade">
                                      <p:cBhvr>
                                        <p:cTn id="34" dur="500"/>
                                        <p:tgtEl>
                                          <p:spTgt spid="54"/>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p:cTn id="39" dur="500" fill="hold"/>
                                        <p:tgtEl>
                                          <p:spTgt spid="23"/>
                                        </p:tgtEl>
                                        <p:attrNameLst>
                                          <p:attrName>ppt_w</p:attrName>
                                        </p:attrNameLst>
                                      </p:cBhvr>
                                      <p:tavLst>
                                        <p:tav tm="0">
                                          <p:val>
                                            <p:fltVal val="0"/>
                                          </p:val>
                                        </p:tav>
                                        <p:tav tm="100000">
                                          <p:val>
                                            <p:strVal val="#ppt_w"/>
                                          </p:val>
                                        </p:tav>
                                      </p:tavLst>
                                    </p:anim>
                                    <p:anim calcmode="lin" valueType="num">
                                      <p:cBhvr>
                                        <p:cTn id="40" dur="500" fill="hold"/>
                                        <p:tgtEl>
                                          <p:spTgt spid="23"/>
                                        </p:tgtEl>
                                        <p:attrNameLst>
                                          <p:attrName>ppt_h</p:attrName>
                                        </p:attrNameLst>
                                      </p:cBhvr>
                                      <p:tavLst>
                                        <p:tav tm="0">
                                          <p:val>
                                            <p:fltVal val="0"/>
                                          </p:val>
                                        </p:tav>
                                        <p:tav tm="100000">
                                          <p:val>
                                            <p:strVal val="#ppt_h"/>
                                          </p:val>
                                        </p:tav>
                                      </p:tavLst>
                                    </p:anim>
                                    <p:animEffect transition="in" filter="fade">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nodeType="clickEffect">
                                  <p:stCondLst>
                                    <p:cond delay="0"/>
                                  </p:stCondLst>
                                  <p:childTnLst>
                                    <p:set>
                                      <p:cBhvr>
                                        <p:cTn id="45" dur="1" fill="hold">
                                          <p:stCondLst>
                                            <p:cond delay="0"/>
                                          </p:stCondLst>
                                        </p:cTn>
                                        <p:tgtEl>
                                          <p:spTgt spid="41"/>
                                        </p:tgtEl>
                                        <p:attrNameLst>
                                          <p:attrName>style.visibility</p:attrName>
                                        </p:attrNameLst>
                                      </p:cBhvr>
                                      <p:to>
                                        <p:strVal val="visible"/>
                                      </p:to>
                                    </p:set>
                                    <p:anim calcmode="lin" valueType="num">
                                      <p:cBhvr>
                                        <p:cTn id="46" dur="500" fill="hold"/>
                                        <p:tgtEl>
                                          <p:spTgt spid="41"/>
                                        </p:tgtEl>
                                        <p:attrNameLst>
                                          <p:attrName>ppt_w</p:attrName>
                                        </p:attrNameLst>
                                      </p:cBhvr>
                                      <p:tavLst>
                                        <p:tav tm="0">
                                          <p:val>
                                            <p:fltVal val="0"/>
                                          </p:val>
                                        </p:tav>
                                        <p:tav tm="100000">
                                          <p:val>
                                            <p:strVal val="#ppt_w"/>
                                          </p:val>
                                        </p:tav>
                                      </p:tavLst>
                                    </p:anim>
                                    <p:anim calcmode="lin" valueType="num">
                                      <p:cBhvr>
                                        <p:cTn id="47" dur="500" fill="hold"/>
                                        <p:tgtEl>
                                          <p:spTgt spid="41"/>
                                        </p:tgtEl>
                                        <p:attrNameLst>
                                          <p:attrName>ppt_h</p:attrName>
                                        </p:attrNameLst>
                                      </p:cBhvr>
                                      <p:tavLst>
                                        <p:tav tm="0">
                                          <p:val>
                                            <p:fltVal val="0"/>
                                          </p:val>
                                        </p:tav>
                                        <p:tav tm="100000">
                                          <p:val>
                                            <p:strVal val="#ppt_h"/>
                                          </p:val>
                                        </p:tav>
                                      </p:tavLst>
                                    </p:anim>
                                    <p:animEffect transition="in" filter="fade">
                                      <p:cBhvr>
                                        <p:cTn id="48" dur="500"/>
                                        <p:tgtEl>
                                          <p:spTgt spid="41"/>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500" fill="hold"/>
                                        <p:tgtEl>
                                          <p:spTgt spid="13"/>
                                        </p:tgtEl>
                                        <p:attrNameLst>
                                          <p:attrName>ppt_w</p:attrName>
                                        </p:attrNameLst>
                                      </p:cBhvr>
                                      <p:tavLst>
                                        <p:tav tm="0">
                                          <p:val>
                                            <p:fltVal val="0"/>
                                          </p:val>
                                        </p:tav>
                                        <p:tav tm="100000">
                                          <p:val>
                                            <p:strVal val="#ppt_w"/>
                                          </p:val>
                                        </p:tav>
                                      </p:tavLst>
                                    </p:anim>
                                    <p:anim calcmode="lin" valueType="num">
                                      <p:cBhvr>
                                        <p:cTn id="54" dur="500" fill="hold"/>
                                        <p:tgtEl>
                                          <p:spTgt spid="13"/>
                                        </p:tgtEl>
                                        <p:attrNameLst>
                                          <p:attrName>ppt_h</p:attrName>
                                        </p:attrNameLst>
                                      </p:cBhvr>
                                      <p:tavLst>
                                        <p:tav tm="0">
                                          <p:val>
                                            <p:fltVal val="0"/>
                                          </p:val>
                                        </p:tav>
                                        <p:tav tm="100000">
                                          <p:val>
                                            <p:strVal val="#ppt_h"/>
                                          </p:val>
                                        </p:tav>
                                      </p:tavLst>
                                    </p:anim>
                                    <p:animEffect transition="in" filter="fade">
                                      <p:cBhvr>
                                        <p:cTn id="55" dur="500"/>
                                        <p:tgtEl>
                                          <p:spTgt spid="13"/>
                                        </p:tgtEl>
                                      </p:cBhvr>
                                    </p:animEffect>
                                  </p:childTnLst>
                                </p:cTn>
                              </p:par>
                            </p:childTnLst>
                          </p:cTn>
                        </p:par>
                        <p:par>
                          <p:cTn id="56" fill="hold">
                            <p:stCondLst>
                              <p:cond delay="500"/>
                            </p:stCondLst>
                            <p:childTnLst>
                              <p:par>
                                <p:cTn id="57" presetID="53" presetClass="entr" presetSubtype="0" fill="hold" nodeType="afterEffect">
                                  <p:stCondLst>
                                    <p:cond delay="0"/>
                                  </p:stCondLst>
                                  <p:childTnLst>
                                    <p:set>
                                      <p:cBhvr>
                                        <p:cTn id="58" dur="1" fill="hold">
                                          <p:stCondLst>
                                            <p:cond delay="0"/>
                                          </p:stCondLst>
                                        </p:cTn>
                                        <p:tgtEl>
                                          <p:spTgt spid="55"/>
                                        </p:tgtEl>
                                        <p:attrNameLst>
                                          <p:attrName>style.visibility</p:attrName>
                                        </p:attrNameLst>
                                      </p:cBhvr>
                                      <p:to>
                                        <p:strVal val="visible"/>
                                      </p:to>
                                    </p:set>
                                    <p:anim calcmode="lin" valueType="num">
                                      <p:cBhvr>
                                        <p:cTn id="59" dur="500" fill="hold"/>
                                        <p:tgtEl>
                                          <p:spTgt spid="55"/>
                                        </p:tgtEl>
                                        <p:attrNameLst>
                                          <p:attrName>ppt_w</p:attrName>
                                        </p:attrNameLst>
                                      </p:cBhvr>
                                      <p:tavLst>
                                        <p:tav tm="0">
                                          <p:val>
                                            <p:fltVal val="0"/>
                                          </p:val>
                                        </p:tav>
                                        <p:tav tm="100000">
                                          <p:val>
                                            <p:strVal val="#ppt_w"/>
                                          </p:val>
                                        </p:tav>
                                      </p:tavLst>
                                    </p:anim>
                                    <p:anim calcmode="lin" valueType="num">
                                      <p:cBhvr>
                                        <p:cTn id="60" dur="500" fill="hold"/>
                                        <p:tgtEl>
                                          <p:spTgt spid="55"/>
                                        </p:tgtEl>
                                        <p:attrNameLst>
                                          <p:attrName>ppt_h</p:attrName>
                                        </p:attrNameLst>
                                      </p:cBhvr>
                                      <p:tavLst>
                                        <p:tav tm="0">
                                          <p:val>
                                            <p:fltVal val="0"/>
                                          </p:val>
                                        </p:tav>
                                        <p:tav tm="100000">
                                          <p:val>
                                            <p:strVal val="#ppt_h"/>
                                          </p:val>
                                        </p:tav>
                                      </p:tavLst>
                                    </p:anim>
                                    <p:animEffect transition="in" filter="fade">
                                      <p:cBhvr>
                                        <p:cTn id="61" dur="500"/>
                                        <p:tgtEl>
                                          <p:spTgt spid="55"/>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nodeType="clickEffect">
                                  <p:stCondLst>
                                    <p:cond delay="0"/>
                                  </p:stCondLst>
                                  <p:childTnLst>
                                    <p:set>
                                      <p:cBhvr>
                                        <p:cTn id="65" dur="1" fill="hold">
                                          <p:stCondLst>
                                            <p:cond delay="0"/>
                                          </p:stCondLst>
                                        </p:cTn>
                                        <p:tgtEl>
                                          <p:spTgt spid="37"/>
                                        </p:tgtEl>
                                        <p:attrNameLst>
                                          <p:attrName>style.visibility</p:attrName>
                                        </p:attrNameLst>
                                      </p:cBhvr>
                                      <p:to>
                                        <p:strVal val="visible"/>
                                      </p:to>
                                    </p:set>
                                    <p:anim calcmode="lin" valueType="num">
                                      <p:cBhvr>
                                        <p:cTn id="66" dur="500" fill="hold"/>
                                        <p:tgtEl>
                                          <p:spTgt spid="37"/>
                                        </p:tgtEl>
                                        <p:attrNameLst>
                                          <p:attrName>ppt_w</p:attrName>
                                        </p:attrNameLst>
                                      </p:cBhvr>
                                      <p:tavLst>
                                        <p:tav tm="0">
                                          <p:val>
                                            <p:fltVal val="0"/>
                                          </p:val>
                                        </p:tav>
                                        <p:tav tm="100000">
                                          <p:val>
                                            <p:strVal val="#ppt_w"/>
                                          </p:val>
                                        </p:tav>
                                      </p:tavLst>
                                    </p:anim>
                                    <p:anim calcmode="lin" valueType="num">
                                      <p:cBhvr>
                                        <p:cTn id="67" dur="500" fill="hold"/>
                                        <p:tgtEl>
                                          <p:spTgt spid="37"/>
                                        </p:tgtEl>
                                        <p:attrNameLst>
                                          <p:attrName>ppt_h</p:attrName>
                                        </p:attrNameLst>
                                      </p:cBhvr>
                                      <p:tavLst>
                                        <p:tav tm="0">
                                          <p:val>
                                            <p:fltVal val="0"/>
                                          </p:val>
                                        </p:tav>
                                        <p:tav tm="100000">
                                          <p:val>
                                            <p:strVal val="#ppt_h"/>
                                          </p:val>
                                        </p:tav>
                                      </p:tavLst>
                                    </p:anim>
                                    <p:animEffect transition="in" filter="fade">
                                      <p:cBhvr>
                                        <p:cTn id="68" dur="500"/>
                                        <p:tgtEl>
                                          <p:spTgt spid="37"/>
                                        </p:tgtEl>
                                      </p:cBhvr>
                                    </p:animEffect>
                                  </p:childTnLst>
                                </p:cTn>
                              </p:par>
                            </p:childTnLst>
                          </p:cTn>
                        </p:par>
                        <p:par>
                          <p:cTn id="69" fill="hold">
                            <p:stCondLst>
                              <p:cond delay="500"/>
                            </p:stCondLst>
                            <p:childTnLst>
                              <p:par>
                                <p:cTn id="70" presetID="53" presetClass="entr" presetSubtype="0" fill="hold" nodeType="afterEffect">
                                  <p:stCondLst>
                                    <p:cond delay="0"/>
                                  </p:stCondLst>
                                  <p:childTnLst>
                                    <p:set>
                                      <p:cBhvr>
                                        <p:cTn id="71" dur="1" fill="hold">
                                          <p:stCondLst>
                                            <p:cond delay="0"/>
                                          </p:stCondLst>
                                        </p:cTn>
                                        <p:tgtEl>
                                          <p:spTgt spid="56"/>
                                        </p:tgtEl>
                                        <p:attrNameLst>
                                          <p:attrName>style.visibility</p:attrName>
                                        </p:attrNameLst>
                                      </p:cBhvr>
                                      <p:to>
                                        <p:strVal val="visible"/>
                                      </p:to>
                                    </p:set>
                                    <p:anim calcmode="lin" valueType="num">
                                      <p:cBhvr>
                                        <p:cTn id="72" dur="500" fill="hold"/>
                                        <p:tgtEl>
                                          <p:spTgt spid="56"/>
                                        </p:tgtEl>
                                        <p:attrNameLst>
                                          <p:attrName>ppt_w</p:attrName>
                                        </p:attrNameLst>
                                      </p:cBhvr>
                                      <p:tavLst>
                                        <p:tav tm="0">
                                          <p:val>
                                            <p:fltVal val="0"/>
                                          </p:val>
                                        </p:tav>
                                        <p:tav tm="100000">
                                          <p:val>
                                            <p:strVal val="#ppt_w"/>
                                          </p:val>
                                        </p:tav>
                                      </p:tavLst>
                                    </p:anim>
                                    <p:anim calcmode="lin" valueType="num">
                                      <p:cBhvr>
                                        <p:cTn id="73" dur="500" fill="hold"/>
                                        <p:tgtEl>
                                          <p:spTgt spid="56"/>
                                        </p:tgtEl>
                                        <p:attrNameLst>
                                          <p:attrName>ppt_h</p:attrName>
                                        </p:attrNameLst>
                                      </p:cBhvr>
                                      <p:tavLst>
                                        <p:tav tm="0">
                                          <p:val>
                                            <p:fltVal val="0"/>
                                          </p:val>
                                        </p:tav>
                                        <p:tav tm="100000">
                                          <p:val>
                                            <p:strVal val="#ppt_h"/>
                                          </p:val>
                                        </p:tav>
                                      </p:tavLst>
                                    </p:anim>
                                    <p:animEffect transition="in" filter="fade">
                                      <p:cBhvr>
                                        <p:cTn id="74" dur="500"/>
                                        <p:tgtEl>
                                          <p:spTgt spid="56"/>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anim calcmode="lin" valueType="num">
                                      <p:cBhvr>
                                        <p:cTn id="79" dur="500" fill="hold"/>
                                        <p:tgtEl>
                                          <p:spTgt spid="30"/>
                                        </p:tgtEl>
                                        <p:attrNameLst>
                                          <p:attrName>ppt_w</p:attrName>
                                        </p:attrNameLst>
                                      </p:cBhvr>
                                      <p:tavLst>
                                        <p:tav tm="0">
                                          <p:val>
                                            <p:fltVal val="0"/>
                                          </p:val>
                                        </p:tav>
                                        <p:tav tm="100000">
                                          <p:val>
                                            <p:strVal val="#ppt_w"/>
                                          </p:val>
                                        </p:tav>
                                      </p:tavLst>
                                    </p:anim>
                                    <p:anim calcmode="lin" valueType="num">
                                      <p:cBhvr>
                                        <p:cTn id="80" dur="500" fill="hold"/>
                                        <p:tgtEl>
                                          <p:spTgt spid="30"/>
                                        </p:tgtEl>
                                        <p:attrNameLst>
                                          <p:attrName>ppt_h</p:attrName>
                                        </p:attrNameLst>
                                      </p:cBhvr>
                                      <p:tavLst>
                                        <p:tav tm="0">
                                          <p:val>
                                            <p:fltVal val="0"/>
                                          </p:val>
                                        </p:tav>
                                        <p:tav tm="100000">
                                          <p:val>
                                            <p:strVal val="#ppt_h"/>
                                          </p:val>
                                        </p:tav>
                                      </p:tavLst>
                                    </p:anim>
                                    <p:animEffect transition="in" filter="fade">
                                      <p:cBhvr>
                                        <p:cTn id="81" dur="50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nodeType="clickEffect">
                                  <p:stCondLst>
                                    <p:cond delay="0"/>
                                  </p:stCondLst>
                                  <p:childTnLst>
                                    <p:set>
                                      <p:cBhvr>
                                        <p:cTn id="85" dur="1" fill="hold">
                                          <p:stCondLst>
                                            <p:cond delay="0"/>
                                          </p:stCondLst>
                                        </p:cTn>
                                        <p:tgtEl>
                                          <p:spTgt spid="33"/>
                                        </p:tgtEl>
                                        <p:attrNameLst>
                                          <p:attrName>style.visibility</p:attrName>
                                        </p:attrNameLst>
                                      </p:cBhvr>
                                      <p:to>
                                        <p:strVal val="visible"/>
                                      </p:to>
                                    </p:set>
                                    <p:anim calcmode="lin" valueType="num">
                                      <p:cBhvr>
                                        <p:cTn id="86" dur="500" fill="hold"/>
                                        <p:tgtEl>
                                          <p:spTgt spid="33"/>
                                        </p:tgtEl>
                                        <p:attrNameLst>
                                          <p:attrName>ppt_w</p:attrName>
                                        </p:attrNameLst>
                                      </p:cBhvr>
                                      <p:tavLst>
                                        <p:tav tm="0">
                                          <p:val>
                                            <p:fltVal val="0"/>
                                          </p:val>
                                        </p:tav>
                                        <p:tav tm="100000">
                                          <p:val>
                                            <p:strVal val="#ppt_w"/>
                                          </p:val>
                                        </p:tav>
                                      </p:tavLst>
                                    </p:anim>
                                    <p:anim calcmode="lin" valueType="num">
                                      <p:cBhvr>
                                        <p:cTn id="87" dur="500" fill="hold"/>
                                        <p:tgtEl>
                                          <p:spTgt spid="33"/>
                                        </p:tgtEl>
                                        <p:attrNameLst>
                                          <p:attrName>ppt_h</p:attrName>
                                        </p:attrNameLst>
                                      </p:cBhvr>
                                      <p:tavLst>
                                        <p:tav tm="0">
                                          <p:val>
                                            <p:fltVal val="0"/>
                                          </p:val>
                                        </p:tav>
                                        <p:tav tm="100000">
                                          <p:val>
                                            <p:strVal val="#ppt_h"/>
                                          </p:val>
                                        </p:tav>
                                      </p:tavLst>
                                    </p:anim>
                                    <p:animEffect transition="in" filter="fade">
                                      <p:cBhvr>
                                        <p:cTn id="88" dur="500"/>
                                        <p:tgtEl>
                                          <p:spTgt spid="33"/>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nodeType="clickEffect">
                                  <p:stCondLst>
                                    <p:cond delay="0"/>
                                  </p:stCondLst>
                                  <p:childTnLst>
                                    <p:set>
                                      <p:cBhvr>
                                        <p:cTn id="92" dur="1" fill="hold">
                                          <p:stCondLst>
                                            <p:cond delay="0"/>
                                          </p:stCondLst>
                                        </p:cTn>
                                        <p:tgtEl>
                                          <p:spTgt spid="20"/>
                                        </p:tgtEl>
                                        <p:attrNameLst>
                                          <p:attrName>style.visibility</p:attrName>
                                        </p:attrNameLst>
                                      </p:cBhvr>
                                      <p:to>
                                        <p:strVal val="visible"/>
                                      </p:to>
                                    </p:set>
                                    <p:anim calcmode="lin" valueType="num">
                                      <p:cBhvr>
                                        <p:cTn id="93" dur="500" fill="hold"/>
                                        <p:tgtEl>
                                          <p:spTgt spid="20"/>
                                        </p:tgtEl>
                                        <p:attrNameLst>
                                          <p:attrName>ppt_w</p:attrName>
                                        </p:attrNameLst>
                                      </p:cBhvr>
                                      <p:tavLst>
                                        <p:tav tm="0">
                                          <p:val>
                                            <p:fltVal val="0"/>
                                          </p:val>
                                        </p:tav>
                                        <p:tav tm="100000">
                                          <p:val>
                                            <p:strVal val="#ppt_w"/>
                                          </p:val>
                                        </p:tav>
                                      </p:tavLst>
                                    </p:anim>
                                    <p:anim calcmode="lin" valueType="num">
                                      <p:cBhvr>
                                        <p:cTn id="94" dur="500" fill="hold"/>
                                        <p:tgtEl>
                                          <p:spTgt spid="20"/>
                                        </p:tgtEl>
                                        <p:attrNameLst>
                                          <p:attrName>ppt_h</p:attrName>
                                        </p:attrNameLst>
                                      </p:cBhvr>
                                      <p:tavLst>
                                        <p:tav tm="0">
                                          <p:val>
                                            <p:fltVal val="0"/>
                                          </p:val>
                                        </p:tav>
                                        <p:tav tm="100000">
                                          <p:val>
                                            <p:strVal val="#ppt_h"/>
                                          </p:val>
                                        </p:tav>
                                      </p:tavLst>
                                    </p:anim>
                                    <p:animEffect transition="in" filter="fade">
                                      <p:cBhvr>
                                        <p:cTn id="95" dur="500"/>
                                        <p:tgtEl>
                                          <p:spTgt spid="20"/>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nodeType="clickEffect">
                                  <p:stCondLst>
                                    <p:cond delay="0"/>
                                  </p:stCondLst>
                                  <p:childTnLst>
                                    <p:set>
                                      <p:cBhvr>
                                        <p:cTn id="99" dur="1" fill="hold">
                                          <p:stCondLst>
                                            <p:cond delay="0"/>
                                          </p:stCondLst>
                                        </p:cTn>
                                        <p:tgtEl>
                                          <p:spTgt spid="50"/>
                                        </p:tgtEl>
                                        <p:attrNameLst>
                                          <p:attrName>style.visibility</p:attrName>
                                        </p:attrNameLst>
                                      </p:cBhvr>
                                      <p:to>
                                        <p:strVal val="visible"/>
                                      </p:to>
                                    </p:set>
                                    <p:anim calcmode="lin" valueType="num">
                                      <p:cBhvr>
                                        <p:cTn id="100" dur="500" fill="hold"/>
                                        <p:tgtEl>
                                          <p:spTgt spid="50"/>
                                        </p:tgtEl>
                                        <p:attrNameLst>
                                          <p:attrName>ppt_w</p:attrName>
                                        </p:attrNameLst>
                                      </p:cBhvr>
                                      <p:tavLst>
                                        <p:tav tm="0">
                                          <p:val>
                                            <p:fltVal val="0"/>
                                          </p:val>
                                        </p:tav>
                                        <p:tav tm="100000">
                                          <p:val>
                                            <p:strVal val="#ppt_w"/>
                                          </p:val>
                                        </p:tav>
                                      </p:tavLst>
                                    </p:anim>
                                    <p:anim calcmode="lin" valueType="num">
                                      <p:cBhvr>
                                        <p:cTn id="101" dur="500" fill="hold"/>
                                        <p:tgtEl>
                                          <p:spTgt spid="50"/>
                                        </p:tgtEl>
                                        <p:attrNameLst>
                                          <p:attrName>ppt_h</p:attrName>
                                        </p:attrNameLst>
                                      </p:cBhvr>
                                      <p:tavLst>
                                        <p:tav tm="0">
                                          <p:val>
                                            <p:fltVal val="0"/>
                                          </p:val>
                                        </p:tav>
                                        <p:tav tm="100000">
                                          <p:val>
                                            <p:strVal val="#ppt_h"/>
                                          </p:val>
                                        </p:tav>
                                      </p:tavLst>
                                    </p:anim>
                                    <p:animEffect transition="in" filter="fade">
                                      <p:cBhvr>
                                        <p:cTn id="102" dur="500"/>
                                        <p:tgtEl>
                                          <p:spTgt spid="50"/>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16" fill="hold" nodeType="clickEffect">
                                  <p:stCondLst>
                                    <p:cond delay="0"/>
                                  </p:stCondLst>
                                  <p:childTnLst>
                                    <p:set>
                                      <p:cBhvr>
                                        <p:cTn id="106" dur="1" fill="hold">
                                          <p:stCondLst>
                                            <p:cond delay="0"/>
                                          </p:stCondLst>
                                        </p:cTn>
                                        <p:tgtEl>
                                          <p:spTgt spid="44"/>
                                        </p:tgtEl>
                                        <p:attrNameLst>
                                          <p:attrName>style.visibility</p:attrName>
                                        </p:attrNameLst>
                                      </p:cBhvr>
                                      <p:to>
                                        <p:strVal val="visible"/>
                                      </p:to>
                                    </p:set>
                                    <p:anim calcmode="lin" valueType="num">
                                      <p:cBhvr>
                                        <p:cTn id="107" dur="500" fill="hold"/>
                                        <p:tgtEl>
                                          <p:spTgt spid="44"/>
                                        </p:tgtEl>
                                        <p:attrNameLst>
                                          <p:attrName>ppt_w</p:attrName>
                                        </p:attrNameLst>
                                      </p:cBhvr>
                                      <p:tavLst>
                                        <p:tav tm="0">
                                          <p:val>
                                            <p:fltVal val="0"/>
                                          </p:val>
                                        </p:tav>
                                        <p:tav tm="100000">
                                          <p:val>
                                            <p:strVal val="#ppt_w"/>
                                          </p:val>
                                        </p:tav>
                                      </p:tavLst>
                                    </p:anim>
                                    <p:anim calcmode="lin" valueType="num">
                                      <p:cBhvr>
                                        <p:cTn id="108" dur="500" fill="hold"/>
                                        <p:tgtEl>
                                          <p:spTgt spid="44"/>
                                        </p:tgtEl>
                                        <p:attrNameLst>
                                          <p:attrName>ppt_h</p:attrName>
                                        </p:attrNameLst>
                                      </p:cBhvr>
                                      <p:tavLst>
                                        <p:tav tm="0">
                                          <p:val>
                                            <p:fltVal val="0"/>
                                          </p:val>
                                        </p:tav>
                                        <p:tav tm="100000">
                                          <p:val>
                                            <p:strVal val="#ppt_h"/>
                                          </p:val>
                                        </p:tav>
                                      </p:tavLst>
                                    </p:anim>
                                    <p:animEffect transition="in" filter="fade">
                                      <p:cBhvr>
                                        <p:cTn id="109" dur="500"/>
                                        <p:tgtEl>
                                          <p:spTgt spid="44"/>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16" fill="hold" nodeType="clickEffect">
                                  <p:stCondLst>
                                    <p:cond delay="0"/>
                                  </p:stCondLst>
                                  <p:childTnLst>
                                    <p:set>
                                      <p:cBhvr>
                                        <p:cTn id="113" dur="1" fill="hold">
                                          <p:stCondLst>
                                            <p:cond delay="0"/>
                                          </p:stCondLst>
                                        </p:cTn>
                                        <p:tgtEl>
                                          <p:spTgt spid="47"/>
                                        </p:tgtEl>
                                        <p:attrNameLst>
                                          <p:attrName>style.visibility</p:attrName>
                                        </p:attrNameLst>
                                      </p:cBhvr>
                                      <p:to>
                                        <p:strVal val="visible"/>
                                      </p:to>
                                    </p:set>
                                    <p:anim calcmode="lin" valueType="num">
                                      <p:cBhvr>
                                        <p:cTn id="114" dur="500" fill="hold"/>
                                        <p:tgtEl>
                                          <p:spTgt spid="47"/>
                                        </p:tgtEl>
                                        <p:attrNameLst>
                                          <p:attrName>ppt_w</p:attrName>
                                        </p:attrNameLst>
                                      </p:cBhvr>
                                      <p:tavLst>
                                        <p:tav tm="0">
                                          <p:val>
                                            <p:fltVal val="0"/>
                                          </p:val>
                                        </p:tav>
                                        <p:tav tm="100000">
                                          <p:val>
                                            <p:strVal val="#ppt_w"/>
                                          </p:val>
                                        </p:tav>
                                      </p:tavLst>
                                    </p:anim>
                                    <p:anim calcmode="lin" valueType="num">
                                      <p:cBhvr>
                                        <p:cTn id="115" dur="500" fill="hold"/>
                                        <p:tgtEl>
                                          <p:spTgt spid="47"/>
                                        </p:tgtEl>
                                        <p:attrNameLst>
                                          <p:attrName>ppt_h</p:attrName>
                                        </p:attrNameLst>
                                      </p:cBhvr>
                                      <p:tavLst>
                                        <p:tav tm="0">
                                          <p:val>
                                            <p:fltVal val="0"/>
                                          </p:val>
                                        </p:tav>
                                        <p:tav tm="100000">
                                          <p:val>
                                            <p:strVal val="#ppt_h"/>
                                          </p:val>
                                        </p:tav>
                                      </p:tavLst>
                                    </p:anim>
                                    <p:animEffect transition="in" filter="fade">
                                      <p:cBhvr>
                                        <p:cTn id="116" dur="5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3" grpId="0" animBg="1"/>
      <p:bldP spid="58"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sz="3600" b="1" noProof="0" dirty="0">
                <a:ln>
                  <a:noFill/>
                </a:ln>
                <a:solidFill>
                  <a:sysClr val="windowText" lastClr="000000"/>
                </a:solidFill>
                <a:effectLst/>
                <a:uLnTx/>
                <a:uFillTx/>
                <a:latin typeface="Palatino Linotype" panose="02040502050505030304" charset="0"/>
                <a:cs typeface="Palatino Linotype" panose="02040502050505030304"/>
              </a:rPr>
              <a:t>Outline</a:t>
            </a:r>
            <a:endParaRPr lang="en-US" altLang="en-US" sz="3600" b="1" noProof="0" dirty="0">
              <a:ln>
                <a:noFill/>
              </a:ln>
              <a:solidFill>
                <a:sysClr val="windowText" lastClr="000000"/>
              </a:solidFill>
              <a:effectLst/>
              <a:uLnTx/>
              <a:uFillTx/>
              <a:latin typeface="Palatino Linotype" panose="02040502050505030304" charset="0"/>
              <a:cs typeface="Palatino Linotype" panose="02040502050505030304"/>
            </a:endParaRPr>
          </a:p>
        </p:txBody>
      </p:sp>
      <p:sp>
        <p:nvSpPr>
          <p:cNvPr id="4" name="内容占位符 3"/>
          <p:cNvSpPr>
            <a:spLocks noGrp="1"/>
          </p:cNvSpPr>
          <p:nvPr>
            <p:ph idx="1"/>
          </p:nvPr>
        </p:nvSpPr>
        <p:spPr/>
        <p:txBody>
          <a:bodyPr>
            <a:normAutofit fontScale="67500" lnSpcReduction="20000"/>
          </a:bodyPr>
          <a:lstStyle/>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Syntax-Directed Definitions</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Evaluation Orders for SDD’s</a:t>
            </a: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effectLst/>
                <a:uLnTx/>
                <a:uFillTx/>
                <a:latin typeface="Palatino Linotype" panose="02040502050505030304" charset="0"/>
                <a:ea typeface="+mj-ea"/>
                <a:cs typeface="Palatino Linotype" panose="02040502050505030304"/>
                <a:sym typeface="+mn-ea"/>
              </a:rPr>
              <a:t>Applications of Syntax-Directed Translation</a:t>
            </a: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Syntax-Directed Translation Schemes</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Implementing L-Attributed SDD’s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35</a:t>
            </a:fld>
            <a:endParaRPr/>
          </a:p>
        </p:txBody>
      </p:sp>
      <p:sp>
        <p:nvSpPr>
          <p:cNvPr id="2" name="矩形 1">
            <a:extLst>
              <a:ext uri="{FF2B5EF4-FFF2-40B4-BE49-F238E27FC236}">
                <a16:creationId xmlns:a16="http://schemas.microsoft.com/office/drawing/2014/main" id="{22F310C4-EE5B-4511-C46D-8427011DFC20}"/>
              </a:ext>
            </a:extLst>
          </p:cNvPr>
          <p:cNvSpPr/>
          <p:nvPr/>
        </p:nvSpPr>
        <p:spPr>
          <a:xfrm>
            <a:off x="5508104" y="2492896"/>
            <a:ext cx="2952328" cy="7200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BCD63C56-B4FC-8B29-415B-D800B03EDF91}"/>
              </a:ext>
            </a:extLst>
          </p:cNvPr>
          <p:cNvSpPr txBox="1"/>
          <p:nvPr/>
        </p:nvSpPr>
        <p:spPr>
          <a:xfrm>
            <a:off x="5527526" y="2509345"/>
            <a:ext cx="2987824" cy="646331"/>
          </a:xfrm>
          <a:prstGeom prst="rect">
            <a:avLst/>
          </a:prstGeom>
          <a:noFill/>
        </p:spPr>
        <p:txBody>
          <a:bodyPr wrap="square">
            <a:spAutoFit/>
          </a:bodyPr>
          <a:lstStyle/>
          <a:p>
            <a:r>
              <a:rPr lang="en-US" altLang="zh-CN" dirty="0">
                <a:solidFill>
                  <a:srgbClr val="000000"/>
                </a:solidFill>
                <a:effectLst/>
                <a:latin typeface="Arial" panose="020B0604020202020204" pitchFamily="34" charset="0"/>
              </a:rPr>
              <a:t>• </a:t>
            </a:r>
            <a:r>
              <a:rPr lang="en-US" altLang="zh-CN" dirty="0">
                <a:solidFill>
                  <a:srgbClr val="000000"/>
                </a:solidFill>
                <a:effectLst/>
                <a:latin typeface="Palatino Linotype" panose="02040502050505030304" pitchFamily="18" charset="0"/>
              </a:rPr>
              <a:t>Constructing Syntax tree </a:t>
            </a:r>
            <a:endParaRPr lang="en-US" altLang="zh-CN" dirty="0"/>
          </a:p>
          <a:p>
            <a:r>
              <a:rPr lang="en-US" altLang="zh-CN" dirty="0">
                <a:solidFill>
                  <a:schemeClr val="bg2">
                    <a:lumMod val="50000"/>
                  </a:schemeClr>
                </a:solidFill>
                <a:effectLst/>
                <a:latin typeface="Arial" panose="020B0604020202020204" pitchFamily="34" charset="0"/>
              </a:rPr>
              <a:t>• </a:t>
            </a:r>
            <a:r>
              <a:rPr lang="en-US" altLang="zh-CN" dirty="0">
                <a:solidFill>
                  <a:schemeClr val="bg2">
                    <a:lumMod val="50000"/>
                  </a:schemeClr>
                </a:solidFill>
                <a:effectLst/>
                <a:latin typeface="Palatino Linotype" panose="02040502050505030304" pitchFamily="18" charset="0"/>
              </a:rPr>
              <a:t>The Structure of a Type</a:t>
            </a:r>
            <a:endParaRPr lang="zh-CN" altLang="en-US" dirty="0">
              <a:solidFill>
                <a:schemeClr val="bg2">
                  <a:lumMod val="50000"/>
                </a:schemeClr>
              </a:solidFill>
            </a:endParaRPr>
          </a:p>
        </p:txBody>
      </p:sp>
      <p:cxnSp>
        <p:nvCxnSpPr>
          <p:cNvPr id="8" name="直接箭头连接符 7">
            <a:extLst>
              <a:ext uri="{FF2B5EF4-FFF2-40B4-BE49-F238E27FC236}">
                <a16:creationId xmlns:a16="http://schemas.microsoft.com/office/drawing/2014/main" id="{27EB8AF0-1FA9-1B51-3D6A-E53AB77D9AE6}"/>
              </a:ext>
            </a:extLst>
          </p:cNvPr>
          <p:cNvCxnSpPr/>
          <p:nvPr/>
        </p:nvCxnSpPr>
        <p:spPr>
          <a:xfrm flipV="1">
            <a:off x="6300192" y="3212976"/>
            <a:ext cx="72008" cy="5040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8753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Construction of Syntax Tree (1)</a:t>
            </a:r>
            <a:endParaRPr lang="zh-CN" altLang="en-US" sz="3600" dirty="0">
              <a:latin typeface="Palatino Linotype" panose="02040502050505030304" charset="0"/>
            </a:endParaRPr>
          </a:p>
        </p:txBody>
      </p:sp>
      <p:sp>
        <p:nvSpPr>
          <p:cNvPr id="4" name="内容占位符 3"/>
          <p:cNvSpPr>
            <a:spLocks noGrp="1"/>
          </p:cNvSpPr>
          <p:nvPr>
            <p:ph idx="1"/>
          </p:nvPr>
        </p:nvSpPr>
        <p:spPr/>
        <p:txBody>
          <a:bodyPr>
            <a:normAutofit/>
          </a:bodyPr>
          <a:lstStyle/>
          <a:p>
            <a:r>
              <a:rPr lang="en-US" altLang="zh-CN" sz="2000" dirty="0">
                <a:solidFill>
                  <a:srgbClr val="FF0000"/>
                </a:solidFill>
                <a:effectLst/>
                <a:latin typeface="Palatino Linotype" panose="02040502050505030304" pitchFamily="18" charset="0"/>
              </a:rPr>
              <a:t>Abstract syntax tree </a:t>
            </a:r>
            <a:r>
              <a:rPr lang="en-US" altLang="zh-CN" sz="2000" dirty="0">
                <a:solidFill>
                  <a:srgbClr val="000000"/>
                </a:solidFill>
                <a:effectLst/>
                <a:latin typeface="Palatino Linotype" panose="02040502050505030304" pitchFamily="18" charset="0"/>
              </a:rPr>
              <a:t>(revisited) </a:t>
            </a:r>
            <a:endParaRPr lang="en-US" altLang="zh-CN" sz="1600" dirty="0"/>
          </a:p>
          <a:p>
            <a:pPr lvl="1"/>
            <a:r>
              <a:rPr lang="en-US" altLang="zh-CN" sz="1600" dirty="0">
                <a:solidFill>
                  <a:srgbClr val="000000"/>
                </a:solidFill>
                <a:effectLst/>
                <a:latin typeface="Palatino Linotype" panose="02040502050505030304" pitchFamily="18" charset="0"/>
              </a:rPr>
              <a:t>Each interior node </a:t>
            </a:r>
            <a:r>
              <a:rPr lang="en-US" altLang="zh-CN" sz="1600" dirty="0">
                <a:solidFill>
                  <a:srgbClr val="000000"/>
                </a:solidFill>
                <a:effectLst/>
                <a:latin typeface="Cambria Math" panose="02040503050406030204" pitchFamily="18" charset="0"/>
              </a:rPr>
              <a:t>N </a:t>
            </a:r>
            <a:r>
              <a:rPr lang="en-US" altLang="zh-CN" sz="1600" dirty="0">
                <a:solidFill>
                  <a:srgbClr val="000000"/>
                </a:solidFill>
                <a:effectLst/>
                <a:latin typeface="Palatino Linotype" panose="02040502050505030304" pitchFamily="18" charset="0"/>
              </a:rPr>
              <a:t>represents a </a:t>
            </a:r>
            <a:r>
              <a:rPr lang="en-US" altLang="zh-CN" sz="1600" dirty="0">
                <a:solidFill>
                  <a:srgbClr val="0432FF"/>
                </a:solidFill>
                <a:effectLst/>
                <a:latin typeface="Palatino Linotype" panose="02040502050505030304" pitchFamily="18" charset="0"/>
              </a:rPr>
              <a:t>construct </a:t>
            </a:r>
            <a:r>
              <a:rPr lang="en-US" altLang="zh-CN" sz="1600" dirty="0">
                <a:solidFill>
                  <a:srgbClr val="000000"/>
                </a:solidFill>
                <a:effectLst/>
                <a:latin typeface="Palatino Linotype" panose="02040502050505030304" pitchFamily="18" charset="0"/>
              </a:rPr>
              <a:t>(corresponding to an </a:t>
            </a:r>
            <a:r>
              <a:rPr lang="en-US" altLang="zh-CN" sz="1600" dirty="0">
                <a:solidFill>
                  <a:srgbClr val="0432FF"/>
                </a:solidFill>
                <a:effectLst/>
                <a:latin typeface="Palatino Linotype" panose="02040502050505030304" pitchFamily="18" charset="0"/>
              </a:rPr>
              <a:t>operator</a:t>
            </a:r>
            <a:r>
              <a:rPr lang="en-US" altLang="zh-CN" sz="1600" dirty="0">
                <a:solidFill>
                  <a:srgbClr val="000000"/>
                </a:solidFill>
                <a:effectLst/>
                <a:latin typeface="Palatino Linotype" panose="02040502050505030304" pitchFamily="18" charset="0"/>
              </a:rPr>
              <a:t>) </a:t>
            </a:r>
            <a:endParaRPr lang="en-US" altLang="zh-CN" sz="1050" dirty="0"/>
          </a:p>
          <a:p>
            <a:pPr lvl="1"/>
            <a:r>
              <a:rPr lang="en-US" altLang="zh-CN" sz="1600" dirty="0">
                <a:solidFill>
                  <a:srgbClr val="000000"/>
                </a:solidFill>
                <a:effectLst/>
                <a:latin typeface="Palatino Linotype" panose="02040502050505030304" pitchFamily="18" charset="0"/>
              </a:rPr>
              <a:t>The children of </a:t>
            </a:r>
            <a:r>
              <a:rPr lang="en-US" altLang="zh-CN" sz="1600" dirty="0">
                <a:solidFill>
                  <a:srgbClr val="000000"/>
                </a:solidFill>
                <a:effectLst/>
                <a:latin typeface="Cambria Math" panose="02040503050406030204" pitchFamily="18" charset="0"/>
              </a:rPr>
              <a:t>N </a:t>
            </a:r>
            <a:r>
              <a:rPr lang="en-US" altLang="zh-CN" sz="1600" dirty="0">
                <a:solidFill>
                  <a:srgbClr val="000000"/>
                </a:solidFill>
                <a:effectLst/>
                <a:latin typeface="Palatino Linotype" panose="02040502050505030304" pitchFamily="18" charset="0"/>
              </a:rPr>
              <a:t>represent the meaningful </a:t>
            </a:r>
            <a:r>
              <a:rPr lang="en-US" altLang="zh-CN" sz="1600" dirty="0">
                <a:solidFill>
                  <a:srgbClr val="0432FF"/>
                </a:solidFill>
                <a:effectLst/>
                <a:latin typeface="Palatino Linotype" panose="02040502050505030304" pitchFamily="18" charset="0"/>
              </a:rPr>
              <a:t>components of the construct </a:t>
            </a:r>
            <a:r>
              <a:rPr lang="en-US" altLang="zh-CN" sz="1600" dirty="0">
                <a:solidFill>
                  <a:srgbClr val="000000"/>
                </a:solidFill>
                <a:effectLst/>
                <a:latin typeface="Palatino Linotype" panose="02040502050505030304" pitchFamily="18" charset="0"/>
              </a:rPr>
              <a:t>represented by </a:t>
            </a:r>
            <a:r>
              <a:rPr lang="en-US" altLang="zh-CN" sz="1600" dirty="0">
                <a:solidFill>
                  <a:srgbClr val="000000"/>
                </a:solidFill>
                <a:effectLst/>
                <a:latin typeface="Cambria Math" panose="02040503050406030204" pitchFamily="18" charset="0"/>
              </a:rPr>
              <a:t>N </a:t>
            </a:r>
            <a:r>
              <a:rPr lang="en-US" altLang="zh-CN" sz="1600" dirty="0">
                <a:solidFill>
                  <a:srgbClr val="000000"/>
                </a:solidFill>
                <a:effectLst/>
                <a:latin typeface="Palatino Linotype" panose="02040502050505030304" pitchFamily="18" charset="0"/>
              </a:rPr>
              <a:t>(corresponding to </a:t>
            </a:r>
            <a:r>
              <a:rPr lang="en-US" altLang="zh-CN" sz="1600" dirty="0">
                <a:solidFill>
                  <a:srgbClr val="0432FF"/>
                </a:solidFill>
                <a:effectLst/>
                <a:latin typeface="Palatino Linotype" panose="02040502050505030304" pitchFamily="18" charset="0"/>
              </a:rPr>
              <a:t>operands</a:t>
            </a:r>
            <a:r>
              <a:rPr lang="en-US" altLang="zh-CN" sz="1600" dirty="0">
                <a:solidFill>
                  <a:srgbClr val="000000"/>
                </a:solidFill>
                <a:effectLst/>
                <a:latin typeface="Palatino Linotype" panose="02040502050505030304" pitchFamily="18" charset="0"/>
              </a:rPr>
              <a:t>)</a:t>
            </a:r>
            <a:endParaRPr sz="18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36</a:t>
            </a:fld>
            <a:endParaRPr/>
          </a:p>
        </p:txBody>
      </p:sp>
      <p:pic>
        <p:nvPicPr>
          <p:cNvPr id="5" name="图片 4">
            <a:extLst>
              <a:ext uri="{FF2B5EF4-FFF2-40B4-BE49-F238E27FC236}">
                <a16:creationId xmlns:a16="http://schemas.microsoft.com/office/drawing/2014/main" id="{A578C89B-6E4D-25C8-232A-3B30B6B5DC67}"/>
              </a:ext>
            </a:extLst>
          </p:cNvPr>
          <p:cNvPicPr>
            <a:picLocks noChangeAspect="1"/>
          </p:cNvPicPr>
          <p:nvPr/>
        </p:nvPicPr>
        <p:blipFill>
          <a:blip r:embed="rId3"/>
          <a:stretch>
            <a:fillRect/>
          </a:stretch>
        </p:blipFill>
        <p:spPr>
          <a:xfrm>
            <a:off x="3190875" y="3789040"/>
            <a:ext cx="2762250" cy="176212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Construction of Syntax Tree (2)</a:t>
            </a:r>
            <a:endParaRPr lang="zh-CN" altLang="en-US" sz="3600" dirty="0">
              <a:latin typeface="Palatino Linotype" panose="02040502050505030304" charset="0"/>
            </a:endParaRPr>
          </a:p>
        </p:txBody>
      </p:sp>
      <p:sp>
        <p:nvSpPr>
          <p:cNvPr id="4" name="内容占位符 3"/>
          <p:cNvSpPr>
            <a:spLocks noGrp="1"/>
          </p:cNvSpPr>
          <p:nvPr>
            <p:ph idx="1"/>
          </p:nvPr>
        </p:nvSpPr>
        <p:spPr/>
        <p:txBody>
          <a:bodyPr>
            <a:normAutofit/>
          </a:bodyPr>
          <a:lstStyle/>
          <a:p>
            <a:r>
              <a:rPr lang="en-US" altLang="zh-CN" sz="1800" dirty="0">
                <a:solidFill>
                  <a:srgbClr val="FF0000"/>
                </a:solidFill>
                <a:effectLst/>
                <a:latin typeface="Palatino Linotype" panose="02040502050505030304" pitchFamily="18" charset="0"/>
              </a:rPr>
              <a:t>Syntax tree </a:t>
            </a:r>
            <a:r>
              <a:rPr lang="en-US" altLang="zh-CN" sz="1800" dirty="0">
                <a:solidFill>
                  <a:srgbClr val="0432FF"/>
                </a:solidFill>
                <a:effectLst/>
                <a:latin typeface="Palatino Linotype" panose="02040502050505030304" pitchFamily="18" charset="0"/>
              </a:rPr>
              <a:t>vs. </a:t>
            </a:r>
            <a:r>
              <a:rPr lang="en-US" altLang="zh-CN" sz="1800" dirty="0">
                <a:solidFill>
                  <a:srgbClr val="FF0000"/>
                </a:solidFill>
                <a:effectLst/>
                <a:latin typeface="Palatino Linotype" panose="02040502050505030304" pitchFamily="18" charset="0"/>
              </a:rPr>
              <a:t>parse tree </a:t>
            </a:r>
            <a:endParaRPr lang="en-US" altLang="zh-CN" sz="1400" dirty="0"/>
          </a:p>
          <a:p>
            <a:pPr marL="457200" lvl="1" indent="0">
              <a:buNone/>
            </a:pPr>
            <a:r>
              <a:rPr lang="en-US" altLang="zh-CN" sz="1600" dirty="0">
                <a:solidFill>
                  <a:srgbClr val="000000"/>
                </a:solidFill>
                <a:effectLst/>
                <a:latin typeface="Palatino Linotype" panose="02040502050505030304" pitchFamily="18" charset="0"/>
              </a:rPr>
              <a:t>In a syntax tree, interior nodes represent </a:t>
            </a:r>
            <a:r>
              <a:rPr lang="en-US" altLang="zh-CN" sz="1600" dirty="0">
                <a:solidFill>
                  <a:srgbClr val="0432FF"/>
                </a:solidFill>
                <a:effectLst/>
                <a:latin typeface="Palatino Linotype" panose="02040502050505030304" pitchFamily="18" charset="0"/>
              </a:rPr>
              <a:t>programming constructs</a:t>
            </a:r>
            <a:r>
              <a:rPr lang="en-US" altLang="zh-CN" sz="1600" dirty="0">
                <a:solidFill>
                  <a:srgbClr val="000000"/>
                </a:solidFill>
                <a:effectLst/>
                <a:latin typeface="Palatino Linotype" panose="02040502050505030304" pitchFamily="18" charset="0"/>
              </a:rPr>
              <a:t>, while in a parse tree, interior nodes represent </a:t>
            </a:r>
            <a:r>
              <a:rPr lang="en-US" altLang="zh-CN" sz="1600" dirty="0" err="1">
                <a:solidFill>
                  <a:srgbClr val="0432FF"/>
                </a:solidFill>
                <a:effectLst/>
                <a:latin typeface="Palatino Linotype" panose="02040502050505030304" pitchFamily="18" charset="0"/>
              </a:rPr>
              <a:t>nonterminals</a:t>
            </a:r>
            <a:r>
              <a:rPr lang="en-US" altLang="zh-CN" sz="1600" dirty="0">
                <a:solidFill>
                  <a:srgbClr val="000000"/>
                </a:solidFill>
                <a:effectLst/>
                <a:latin typeface="Palatino Linotype" panose="02040502050505030304" pitchFamily="18" charset="0"/>
              </a:rPr>
              <a:t>* </a:t>
            </a:r>
            <a:endParaRPr lang="en-US" altLang="zh-CN" sz="1050" dirty="0"/>
          </a:p>
          <a:p>
            <a:pPr marL="457200" lvl="1" indent="0">
              <a:buNone/>
            </a:pPr>
            <a:r>
              <a:rPr lang="en-US" altLang="zh-CN" sz="1600" dirty="0">
                <a:solidFill>
                  <a:srgbClr val="000000"/>
                </a:solidFill>
                <a:effectLst/>
                <a:latin typeface="Palatino Linotype" panose="02040502050505030304" pitchFamily="18" charset="0"/>
              </a:rPr>
              <a:t>A parse tree is also called a </a:t>
            </a:r>
            <a:r>
              <a:rPr lang="en-US" altLang="zh-CN" sz="1600" i="1" dirty="0">
                <a:solidFill>
                  <a:srgbClr val="FF0000"/>
                </a:solidFill>
                <a:effectLst/>
                <a:latin typeface="PalatinoLinotype-Italic"/>
              </a:rPr>
              <a:t>concrete syntax tree</a:t>
            </a:r>
            <a:r>
              <a:rPr lang="en-US" altLang="zh-CN" sz="1600" dirty="0">
                <a:solidFill>
                  <a:srgbClr val="000000"/>
                </a:solidFill>
                <a:effectLst/>
                <a:latin typeface="Palatino Linotype" panose="02040502050505030304" pitchFamily="18" charset="0"/>
              </a:rPr>
              <a:t>, and the underlying grammar is called a </a:t>
            </a:r>
            <a:r>
              <a:rPr lang="en-US" altLang="zh-CN" sz="1600" i="1" dirty="0">
                <a:solidFill>
                  <a:srgbClr val="FF0000"/>
                </a:solidFill>
                <a:effectLst/>
                <a:latin typeface="PalatinoLinotype-Italic"/>
              </a:rPr>
              <a:t>concrete syntax </a:t>
            </a:r>
            <a:r>
              <a:rPr lang="en-US" altLang="zh-CN" sz="1600" dirty="0">
                <a:solidFill>
                  <a:srgbClr val="000000"/>
                </a:solidFill>
                <a:effectLst/>
                <a:latin typeface="Palatino Linotype" panose="02040502050505030304" pitchFamily="18" charset="0"/>
              </a:rPr>
              <a:t>for the language</a:t>
            </a:r>
            <a:endParaRPr sz="16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lang="en-US"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37</a:t>
            </a:fld>
            <a:endParaRPr/>
          </a:p>
        </p:txBody>
      </p:sp>
      <p:pic>
        <p:nvPicPr>
          <p:cNvPr id="5" name="图片 4">
            <a:extLst>
              <a:ext uri="{FF2B5EF4-FFF2-40B4-BE49-F238E27FC236}">
                <a16:creationId xmlns:a16="http://schemas.microsoft.com/office/drawing/2014/main" id="{A578C89B-6E4D-25C8-232A-3B30B6B5DC67}"/>
              </a:ext>
            </a:extLst>
          </p:cNvPr>
          <p:cNvPicPr>
            <a:picLocks noChangeAspect="1"/>
          </p:cNvPicPr>
          <p:nvPr/>
        </p:nvPicPr>
        <p:blipFill>
          <a:blip r:embed="rId3"/>
          <a:stretch>
            <a:fillRect/>
          </a:stretch>
        </p:blipFill>
        <p:spPr>
          <a:xfrm>
            <a:off x="827584" y="3975144"/>
            <a:ext cx="2762250" cy="1762125"/>
          </a:xfrm>
          <a:prstGeom prst="rect">
            <a:avLst/>
          </a:prstGeom>
        </p:spPr>
      </p:pic>
      <p:pic>
        <p:nvPicPr>
          <p:cNvPr id="9" name="图片 8">
            <a:extLst>
              <a:ext uri="{FF2B5EF4-FFF2-40B4-BE49-F238E27FC236}">
                <a16:creationId xmlns:a16="http://schemas.microsoft.com/office/drawing/2014/main" id="{B8824293-8997-BEA3-E00B-BC5D38226935}"/>
              </a:ext>
            </a:extLst>
          </p:cNvPr>
          <p:cNvPicPr>
            <a:picLocks noChangeAspect="1"/>
          </p:cNvPicPr>
          <p:nvPr/>
        </p:nvPicPr>
        <p:blipFill>
          <a:blip r:embed="rId4"/>
          <a:stretch>
            <a:fillRect/>
          </a:stretch>
        </p:blipFill>
        <p:spPr>
          <a:xfrm>
            <a:off x="4602882" y="4002038"/>
            <a:ext cx="3024336" cy="1743762"/>
          </a:xfrm>
          <a:prstGeom prst="rect">
            <a:avLst/>
          </a:prstGeom>
        </p:spPr>
      </p:pic>
      <p:sp>
        <p:nvSpPr>
          <p:cNvPr id="11" name="文本框 10">
            <a:extLst>
              <a:ext uri="{FF2B5EF4-FFF2-40B4-BE49-F238E27FC236}">
                <a16:creationId xmlns:a16="http://schemas.microsoft.com/office/drawing/2014/main" id="{D6D2F4F1-3E98-C0B0-A36F-937988471CEA}"/>
              </a:ext>
            </a:extLst>
          </p:cNvPr>
          <p:cNvSpPr txBox="1"/>
          <p:nvPr/>
        </p:nvSpPr>
        <p:spPr>
          <a:xfrm>
            <a:off x="467890" y="5737269"/>
            <a:ext cx="7848525" cy="461665"/>
          </a:xfrm>
          <a:prstGeom prst="rect">
            <a:avLst/>
          </a:prstGeom>
          <a:noFill/>
        </p:spPr>
        <p:txBody>
          <a:bodyPr wrap="square">
            <a:spAutoFit/>
          </a:bodyPr>
          <a:lstStyle/>
          <a:p>
            <a:r>
              <a:rPr lang="en-US" altLang="zh-CN" sz="1200" dirty="0">
                <a:solidFill>
                  <a:schemeClr val="bg2">
                    <a:lumMod val="50000"/>
                  </a:schemeClr>
                </a:solidFill>
                <a:effectLst/>
                <a:latin typeface="Palatino Linotype" panose="02040502050505030304" pitchFamily="18" charset="0"/>
              </a:rPr>
              <a:t>* Not all </a:t>
            </a:r>
            <a:r>
              <a:rPr lang="en-US" altLang="zh-CN" sz="1200" dirty="0" err="1">
                <a:solidFill>
                  <a:schemeClr val="bg2">
                    <a:lumMod val="50000"/>
                  </a:schemeClr>
                </a:solidFill>
                <a:effectLst/>
                <a:latin typeface="Palatino Linotype" panose="02040502050505030304" pitchFamily="18" charset="0"/>
              </a:rPr>
              <a:t>nonterminals</a:t>
            </a:r>
            <a:r>
              <a:rPr lang="en-US" altLang="zh-CN" sz="1200" dirty="0">
                <a:solidFill>
                  <a:schemeClr val="bg2">
                    <a:lumMod val="50000"/>
                  </a:schemeClr>
                </a:solidFill>
                <a:effectLst/>
                <a:latin typeface="Palatino Linotype" panose="02040502050505030304" pitchFamily="18" charset="0"/>
              </a:rPr>
              <a:t> represent programming constructs, e.g., those introduced to eliminate left recursions (</a:t>
            </a:r>
            <a:r>
              <a:rPr lang="en-US" altLang="zh-CN" sz="1200" dirty="0">
                <a:solidFill>
                  <a:schemeClr val="bg2">
                    <a:lumMod val="50000"/>
                  </a:schemeClr>
                </a:solidFill>
                <a:effectLst/>
                <a:latin typeface="Cambria Math" panose="02040503050406030204" pitchFamily="18" charset="0"/>
              </a:rPr>
              <a:t>T’ </a:t>
            </a:r>
            <a:r>
              <a:rPr lang="en-US" altLang="zh-CN" sz="1200" dirty="0">
                <a:solidFill>
                  <a:schemeClr val="bg2">
                    <a:lumMod val="50000"/>
                  </a:schemeClr>
                </a:solidFill>
                <a:effectLst/>
                <a:latin typeface="Palatino Linotype" panose="02040502050505030304" pitchFamily="18" charset="0"/>
              </a:rPr>
              <a:t>in the earlier L-attributed definition example)</a:t>
            </a:r>
            <a:endParaRPr lang="zh-CN" altLang="en-US" sz="1200" dirty="0">
              <a:solidFill>
                <a:schemeClr val="bg2">
                  <a:lumMod val="50000"/>
                </a:schemeClr>
              </a:solidFill>
            </a:endParaRPr>
          </a:p>
        </p:txBody>
      </p:sp>
    </p:spTree>
    <p:extLst>
      <p:ext uri="{BB962C8B-B14F-4D97-AF65-F5344CB8AC3E}">
        <p14:creationId xmlns:p14="http://schemas.microsoft.com/office/powerpoint/2010/main" val="2712515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Construction of Syntax Tree (3)</a:t>
            </a:r>
            <a:endParaRPr lang="zh-CN" altLang="en-US" sz="3600" dirty="0">
              <a:latin typeface="Palatino Linotype" panose="02040502050505030304" charset="0"/>
            </a:endParaRPr>
          </a:p>
        </p:txBody>
      </p:sp>
      <p:sp>
        <p:nvSpPr>
          <p:cNvPr id="4" name="内容占位符 3"/>
          <p:cNvSpPr>
            <a:spLocks noGrp="1"/>
          </p:cNvSpPr>
          <p:nvPr>
            <p:ph idx="1"/>
          </p:nvPr>
        </p:nvSpPr>
        <p:spPr/>
        <p:txBody>
          <a:bodyPr>
            <a:normAutofit/>
          </a:bodyPr>
          <a:lstStyle/>
          <a:p>
            <a:r>
              <a:rPr lang="en-US" altLang="zh-CN" sz="2000" dirty="0">
                <a:solidFill>
                  <a:srgbClr val="FF0000"/>
                </a:solidFill>
                <a:effectLst/>
                <a:latin typeface="Palatino Linotype" panose="02040502050505030304" pitchFamily="18" charset="0"/>
              </a:rPr>
              <a:t>An S-attributed SDD </a:t>
            </a:r>
            <a:r>
              <a:rPr lang="en-US" altLang="zh-CN" sz="2000" dirty="0">
                <a:solidFill>
                  <a:srgbClr val="000000"/>
                </a:solidFill>
                <a:effectLst/>
                <a:latin typeface="Palatino Linotype" panose="02040502050505030304" pitchFamily="18" charset="0"/>
              </a:rPr>
              <a:t>for building syntax trees for simple expressions </a:t>
            </a:r>
            <a:endParaRPr lang="en-US" altLang="zh-CN" sz="1400" dirty="0"/>
          </a:p>
          <a:p>
            <a:pPr marL="457200" lvl="1" indent="0">
              <a:buNone/>
            </a:pPr>
            <a:r>
              <a:rPr lang="en-US" altLang="zh-CN" sz="1600" dirty="0">
                <a:solidFill>
                  <a:srgbClr val="000000"/>
                </a:solidFill>
                <a:effectLst/>
                <a:latin typeface="Palatino Linotype" panose="02040502050505030304" pitchFamily="18" charset="0"/>
              </a:rPr>
              <a:t>Each node of the syntax tree is implemented as an </a:t>
            </a:r>
            <a:r>
              <a:rPr lang="en-US" altLang="zh-CN" sz="1600" b="1" dirty="0">
                <a:solidFill>
                  <a:srgbClr val="0432FF"/>
                </a:solidFill>
                <a:effectLst/>
                <a:latin typeface="PalatinoLinotype-Bold"/>
              </a:rPr>
              <a:t>object </a:t>
            </a:r>
            <a:r>
              <a:rPr lang="en-US" altLang="zh-CN" sz="1600" dirty="0">
                <a:solidFill>
                  <a:srgbClr val="000000"/>
                </a:solidFill>
                <a:effectLst/>
                <a:latin typeface="Palatino Linotype" panose="02040502050505030304" pitchFamily="18" charset="0"/>
              </a:rPr>
              <a:t>with a field </a:t>
            </a:r>
            <a:r>
              <a:rPr lang="en-US" altLang="zh-CN" sz="1600" i="1" dirty="0">
                <a:solidFill>
                  <a:srgbClr val="0432FF"/>
                </a:solidFill>
                <a:effectLst/>
                <a:latin typeface="PalatinoLinotype-Italic"/>
              </a:rPr>
              <a:t>op</a:t>
            </a:r>
            <a:r>
              <a:rPr lang="en-US" altLang="zh-CN" sz="1600" dirty="0">
                <a:solidFill>
                  <a:srgbClr val="000000"/>
                </a:solidFill>
                <a:effectLst/>
                <a:latin typeface="Palatino Linotype" panose="02040502050505030304" pitchFamily="18" charset="0"/>
              </a:rPr>
              <a:t>, representing the label of the node, and some additional fields </a:t>
            </a:r>
            <a:endParaRPr lang="en-US" altLang="zh-CN" sz="900" dirty="0"/>
          </a:p>
          <a:p>
            <a:pPr marL="914400" lvl="2" indent="0">
              <a:buNone/>
            </a:pPr>
            <a:r>
              <a:rPr lang="en-US" altLang="zh-CN" sz="1600" b="1" dirty="0">
                <a:solidFill>
                  <a:srgbClr val="0432FF"/>
                </a:solidFill>
                <a:effectLst/>
                <a:latin typeface="PalatinoLinotype-Bold"/>
              </a:rPr>
              <a:t>Leaf node: </a:t>
            </a:r>
            <a:r>
              <a:rPr lang="en-US" altLang="zh-CN" sz="1600" dirty="0">
                <a:solidFill>
                  <a:srgbClr val="000000"/>
                </a:solidFill>
                <a:effectLst/>
                <a:latin typeface="Palatino Linotype" panose="02040502050505030304" pitchFamily="18" charset="0"/>
              </a:rPr>
              <a:t>one additional field holding the lexical value </a:t>
            </a:r>
            <a:endParaRPr lang="en-US" altLang="zh-CN" sz="900" dirty="0"/>
          </a:p>
          <a:p>
            <a:pPr marL="914400" lvl="2" indent="0">
              <a:buNone/>
            </a:pPr>
            <a:r>
              <a:rPr lang="en-US" altLang="zh-CN" sz="1600" b="1" dirty="0">
                <a:solidFill>
                  <a:srgbClr val="0432FF"/>
                </a:solidFill>
                <a:effectLst/>
                <a:latin typeface="PalatinoLinotype-Bold"/>
              </a:rPr>
              <a:t>Interior node: </a:t>
            </a:r>
            <a:r>
              <a:rPr lang="en-US" altLang="zh-CN" sz="1600" dirty="0">
                <a:solidFill>
                  <a:srgbClr val="000000"/>
                </a:solidFill>
                <a:effectLst/>
                <a:latin typeface="Palatino Linotype" panose="02040502050505030304" pitchFamily="18" charset="0"/>
              </a:rPr>
              <a:t># additional fields = # of children</a:t>
            </a:r>
            <a:endParaRPr sz="105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dirty="0"/>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lang="en-US"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38</a:t>
            </a:fld>
            <a:endParaRPr/>
          </a:p>
        </p:txBody>
      </p:sp>
      <p:pic>
        <p:nvPicPr>
          <p:cNvPr id="6" name="图片 5">
            <a:extLst>
              <a:ext uri="{FF2B5EF4-FFF2-40B4-BE49-F238E27FC236}">
                <a16:creationId xmlns:a16="http://schemas.microsoft.com/office/drawing/2014/main" id="{E9689D5A-D734-0A38-557A-AFAEF6D8D2E5}"/>
              </a:ext>
            </a:extLst>
          </p:cNvPr>
          <p:cNvPicPr>
            <a:picLocks noChangeAspect="1"/>
          </p:cNvPicPr>
          <p:nvPr/>
        </p:nvPicPr>
        <p:blipFill>
          <a:blip r:embed="rId3"/>
          <a:stretch>
            <a:fillRect/>
          </a:stretch>
        </p:blipFill>
        <p:spPr>
          <a:xfrm>
            <a:off x="363932" y="4467617"/>
            <a:ext cx="5330036" cy="2025257"/>
          </a:xfrm>
          <a:prstGeom prst="rect">
            <a:avLst/>
          </a:prstGeom>
        </p:spPr>
      </p:pic>
      <p:pic>
        <p:nvPicPr>
          <p:cNvPr id="8" name="图片 7">
            <a:extLst>
              <a:ext uri="{FF2B5EF4-FFF2-40B4-BE49-F238E27FC236}">
                <a16:creationId xmlns:a16="http://schemas.microsoft.com/office/drawing/2014/main" id="{CB12BADB-0377-BBAB-5D0A-851BA9FE4882}"/>
              </a:ext>
            </a:extLst>
          </p:cNvPr>
          <p:cNvPicPr>
            <a:picLocks noChangeAspect="1"/>
          </p:cNvPicPr>
          <p:nvPr/>
        </p:nvPicPr>
        <p:blipFill>
          <a:blip r:embed="rId4"/>
          <a:stretch>
            <a:fillRect/>
          </a:stretch>
        </p:blipFill>
        <p:spPr>
          <a:xfrm>
            <a:off x="5897964" y="3997351"/>
            <a:ext cx="2809875" cy="1924050"/>
          </a:xfrm>
          <a:prstGeom prst="rect">
            <a:avLst/>
          </a:prstGeom>
        </p:spPr>
      </p:pic>
      <p:sp>
        <p:nvSpPr>
          <p:cNvPr id="10" name="矩形 9">
            <a:extLst>
              <a:ext uri="{FF2B5EF4-FFF2-40B4-BE49-F238E27FC236}">
                <a16:creationId xmlns:a16="http://schemas.microsoft.com/office/drawing/2014/main" id="{7FD88129-0ADC-DEC3-AE65-6E8270B56791}"/>
              </a:ext>
            </a:extLst>
          </p:cNvPr>
          <p:cNvSpPr/>
          <p:nvPr/>
        </p:nvSpPr>
        <p:spPr>
          <a:xfrm>
            <a:off x="2237584" y="4815360"/>
            <a:ext cx="3456384" cy="2880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432470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2">
            <a:extLst>
              <a:ext uri="{FF2B5EF4-FFF2-40B4-BE49-F238E27FC236}">
                <a16:creationId xmlns:a16="http://schemas.microsoft.com/office/drawing/2014/main" id="{23973B77-EA3A-4DB2-86F0-7DD528588663}"/>
              </a:ext>
            </a:extLst>
          </p:cNvPr>
          <p:cNvSpPr>
            <a:spLocks noChangeArrowheads="1"/>
          </p:cNvSpPr>
          <p:nvPr/>
        </p:nvSpPr>
        <p:spPr bwMode="auto">
          <a:xfrm>
            <a:off x="1722667" y="3724057"/>
            <a:ext cx="431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4000" dirty="0">
                <a:latin typeface="Plantagenet Cherokee" panose="02020602070100000000" pitchFamily="18" charset="0"/>
                <a:ea typeface="+mj-ea"/>
              </a:rPr>
              <a:t>-</a:t>
            </a:r>
          </a:p>
        </p:txBody>
      </p:sp>
      <p:sp>
        <p:nvSpPr>
          <p:cNvPr id="5" name="Rectangle 11">
            <a:extLst>
              <a:ext uri="{FF2B5EF4-FFF2-40B4-BE49-F238E27FC236}">
                <a16:creationId xmlns:a16="http://schemas.microsoft.com/office/drawing/2014/main" id="{00C924E7-6603-4F91-958C-E7B53F2033EA}"/>
              </a:ext>
            </a:extLst>
          </p:cNvPr>
          <p:cNvSpPr>
            <a:spLocks noChangeArrowheads="1"/>
          </p:cNvSpPr>
          <p:nvPr/>
        </p:nvSpPr>
        <p:spPr bwMode="auto">
          <a:xfrm>
            <a:off x="3551466" y="1765988"/>
            <a:ext cx="6651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a:latin typeface="Plantagenet Cherokee" panose="02020602070100000000" pitchFamily="18" charset="0"/>
                <a:ea typeface="+mj-ea"/>
              </a:rPr>
              <a:t>E</a:t>
            </a:r>
            <a:endParaRPr lang="en-US" altLang="zh-CN" sz="2800">
              <a:solidFill>
                <a:srgbClr val="FF3300"/>
              </a:solidFill>
              <a:latin typeface="Plantagenet Cherokee" panose="02020602070100000000" pitchFamily="18" charset="0"/>
              <a:ea typeface="+mj-ea"/>
            </a:endParaRPr>
          </a:p>
        </p:txBody>
      </p:sp>
      <p:grpSp>
        <p:nvGrpSpPr>
          <p:cNvPr id="6" name="Group 67">
            <a:extLst>
              <a:ext uri="{FF2B5EF4-FFF2-40B4-BE49-F238E27FC236}">
                <a16:creationId xmlns:a16="http://schemas.microsoft.com/office/drawing/2014/main" id="{23100A9E-5AAB-4760-AAC2-E5146C0DD108}"/>
              </a:ext>
            </a:extLst>
          </p:cNvPr>
          <p:cNvGrpSpPr>
            <a:grpSpLocks/>
          </p:cNvGrpSpPr>
          <p:nvPr/>
        </p:nvGrpSpPr>
        <p:grpSpPr bwMode="auto">
          <a:xfrm>
            <a:off x="63730" y="3586856"/>
            <a:ext cx="1143001" cy="960438"/>
            <a:chOff x="384" y="2256"/>
            <a:chExt cx="720" cy="605"/>
          </a:xfrm>
        </p:grpSpPr>
        <p:sp>
          <p:nvSpPr>
            <p:cNvPr id="7" name="Rectangle 16">
              <a:extLst>
                <a:ext uri="{FF2B5EF4-FFF2-40B4-BE49-F238E27FC236}">
                  <a16:creationId xmlns:a16="http://schemas.microsoft.com/office/drawing/2014/main" id="{B58D7D77-5992-4B9D-AD72-E6C56EF0707B}"/>
                </a:ext>
              </a:extLst>
            </p:cNvPr>
            <p:cNvSpPr>
              <a:spLocks noChangeArrowheads="1"/>
            </p:cNvSpPr>
            <p:nvPr/>
          </p:nvSpPr>
          <p:spPr bwMode="auto">
            <a:xfrm>
              <a:off x="384" y="225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a:latin typeface="Plantagenet Cherokee" panose="02020602070100000000" pitchFamily="18" charset="0"/>
                  <a:ea typeface="+mj-ea"/>
                </a:rPr>
                <a:t>E</a:t>
              </a:r>
            </a:p>
          </p:txBody>
        </p:sp>
        <p:sp>
          <p:nvSpPr>
            <p:cNvPr id="8" name="Line 18">
              <a:extLst>
                <a:ext uri="{FF2B5EF4-FFF2-40B4-BE49-F238E27FC236}">
                  <a16:creationId xmlns:a16="http://schemas.microsoft.com/office/drawing/2014/main" id="{F887605B-B568-477C-A7C7-6172B4862C8B}"/>
                </a:ext>
              </a:extLst>
            </p:cNvPr>
            <p:cNvSpPr>
              <a:spLocks noChangeShapeType="1"/>
            </p:cNvSpPr>
            <p:nvPr/>
          </p:nvSpPr>
          <p:spPr bwMode="auto">
            <a:xfrm>
              <a:off x="720" y="2544"/>
              <a:ext cx="0" cy="317"/>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grpSp>
        <p:nvGrpSpPr>
          <p:cNvPr id="9" name="Group 65">
            <a:extLst>
              <a:ext uri="{FF2B5EF4-FFF2-40B4-BE49-F238E27FC236}">
                <a16:creationId xmlns:a16="http://schemas.microsoft.com/office/drawing/2014/main" id="{E9BB7AA4-1350-4A45-A0BC-0DD6BBA64609}"/>
              </a:ext>
            </a:extLst>
          </p:cNvPr>
          <p:cNvGrpSpPr>
            <a:grpSpLocks/>
          </p:cNvGrpSpPr>
          <p:nvPr/>
        </p:nvGrpSpPr>
        <p:grpSpPr bwMode="auto">
          <a:xfrm>
            <a:off x="-12470" y="4577454"/>
            <a:ext cx="1143001" cy="1447800"/>
            <a:chOff x="336" y="2880"/>
            <a:chExt cx="720" cy="912"/>
          </a:xfrm>
        </p:grpSpPr>
        <p:sp>
          <p:nvSpPr>
            <p:cNvPr id="10" name="Rectangle 17">
              <a:extLst>
                <a:ext uri="{FF2B5EF4-FFF2-40B4-BE49-F238E27FC236}">
                  <a16:creationId xmlns:a16="http://schemas.microsoft.com/office/drawing/2014/main" id="{6187766B-2819-4C98-BF51-53CCC9036A97}"/>
                </a:ext>
              </a:extLst>
            </p:cNvPr>
            <p:cNvSpPr>
              <a:spLocks noChangeArrowheads="1"/>
            </p:cNvSpPr>
            <p:nvPr/>
          </p:nvSpPr>
          <p:spPr bwMode="auto">
            <a:xfrm>
              <a:off x="624" y="2880"/>
              <a:ext cx="215"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a:latin typeface="Plantagenet Cherokee" panose="02020602070100000000" pitchFamily="18" charset="0"/>
                  <a:ea typeface="+mj-ea"/>
                </a:rPr>
                <a:t>T</a:t>
              </a:r>
              <a:endParaRPr lang="en-US" altLang="zh-CN" sz="2800">
                <a:solidFill>
                  <a:srgbClr val="FF3300"/>
                </a:solidFill>
                <a:latin typeface="Plantagenet Cherokee" panose="02020602070100000000" pitchFamily="18" charset="0"/>
                <a:ea typeface="+mj-ea"/>
              </a:endParaRPr>
            </a:p>
          </p:txBody>
        </p:sp>
        <p:sp>
          <p:nvSpPr>
            <p:cNvPr id="11" name="Rectangle 19">
              <a:extLst>
                <a:ext uri="{FF2B5EF4-FFF2-40B4-BE49-F238E27FC236}">
                  <a16:creationId xmlns:a16="http://schemas.microsoft.com/office/drawing/2014/main" id="{22D8942F-D7C5-41D2-9F82-1A08EAEE6AF5}"/>
                </a:ext>
              </a:extLst>
            </p:cNvPr>
            <p:cNvSpPr>
              <a:spLocks noChangeArrowheads="1"/>
            </p:cNvSpPr>
            <p:nvPr/>
          </p:nvSpPr>
          <p:spPr bwMode="auto">
            <a:xfrm>
              <a:off x="336" y="3456"/>
              <a:ext cx="7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a:latin typeface="Plantagenet Cherokee" panose="02020602070100000000" pitchFamily="18" charset="0"/>
                  <a:ea typeface="+mj-ea"/>
                </a:rPr>
                <a:t>id</a:t>
              </a:r>
            </a:p>
          </p:txBody>
        </p:sp>
        <p:sp>
          <p:nvSpPr>
            <p:cNvPr id="12" name="Line 20">
              <a:extLst>
                <a:ext uri="{FF2B5EF4-FFF2-40B4-BE49-F238E27FC236}">
                  <a16:creationId xmlns:a16="http://schemas.microsoft.com/office/drawing/2014/main" id="{9185E05E-E3D8-4D3D-8095-0A27D8593F44}"/>
                </a:ext>
              </a:extLst>
            </p:cNvPr>
            <p:cNvSpPr>
              <a:spLocks noChangeShapeType="1"/>
            </p:cNvSpPr>
            <p:nvPr/>
          </p:nvSpPr>
          <p:spPr bwMode="auto">
            <a:xfrm>
              <a:off x="720" y="3168"/>
              <a:ext cx="0" cy="317"/>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grpSp>
        <p:nvGrpSpPr>
          <p:cNvPr id="13" name="Group 77">
            <a:extLst>
              <a:ext uri="{FF2B5EF4-FFF2-40B4-BE49-F238E27FC236}">
                <a16:creationId xmlns:a16="http://schemas.microsoft.com/office/drawing/2014/main" id="{4A010CD1-690E-4520-AD6A-93A491FB2DED}"/>
              </a:ext>
            </a:extLst>
          </p:cNvPr>
          <p:cNvGrpSpPr>
            <a:grpSpLocks/>
          </p:cNvGrpSpPr>
          <p:nvPr/>
        </p:nvGrpSpPr>
        <p:grpSpPr bwMode="auto">
          <a:xfrm>
            <a:off x="930506" y="2787432"/>
            <a:ext cx="2341562" cy="965200"/>
            <a:chOff x="930" y="1661"/>
            <a:chExt cx="1475" cy="608"/>
          </a:xfrm>
        </p:grpSpPr>
        <p:sp>
          <p:nvSpPr>
            <p:cNvPr id="14" name="Line 6">
              <a:extLst>
                <a:ext uri="{FF2B5EF4-FFF2-40B4-BE49-F238E27FC236}">
                  <a16:creationId xmlns:a16="http://schemas.microsoft.com/office/drawing/2014/main" id="{3C21B53E-020C-4C70-A93A-04E4DD2AE9EB}"/>
                </a:ext>
              </a:extLst>
            </p:cNvPr>
            <p:cNvSpPr>
              <a:spLocks noChangeShapeType="1"/>
            </p:cNvSpPr>
            <p:nvPr/>
          </p:nvSpPr>
          <p:spPr bwMode="auto">
            <a:xfrm flipH="1">
              <a:off x="930" y="1933"/>
              <a:ext cx="432" cy="336"/>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15" name="Rectangle 8">
              <a:extLst>
                <a:ext uri="{FF2B5EF4-FFF2-40B4-BE49-F238E27FC236}">
                  <a16:creationId xmlns:a16="http://schemas.microsoft.com/office/drawing/2014/main" id="{F91A93F6-736A-413B-B39D-41FAAEEEACE5}"/>
                </a:ext>
              </a:extLst>
            </p:cNvPr>
            <p:cNvSpPr>
              <a:spLocks noChangeArrowheads="1"/>
            </p:cNvSpPr>
            <p:nvPr/>
          </p:nvSpPr>
          <p:spPr bwMode="auto">
            <a:xfrm>
              <a:off x="1292" y="1661"/>
              <a:ext cx="495"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dirty="0">
                  <a:latin typeface="Plantagenet Cherokee" panose="02020602070100000000" pitchFamily="18" charset="0"/>
                  <a:ea typeface="+mj-ea"/>
                </a:rPr>
                <a:t>E</a:t>
              </a:r>
              <a:endParaRPr lang="en-US" altLang="zh-CN" sz="2800" dirty="0">
                <a:solidFill>
                  <a:srgbClr val="FF3300"/>
                </a:solidFill>
                <a:latin typeface="Plantagenet Cherokee" panose="02020602070100000000" pitchFamily="18" charset="0"/>
                <a:ea typeface="+mj-ea"/>
              </a:endParaRPr>
            </a:p>
          </p:txBody>
        </p:sp>
        <p:sp>
          <p:nvSpPr>
            <p:cNvPr id="16" name="Line 23">
              <a:extLst>
                <a:ext uri="{FF2B5EF4-FFF2-40B4-BE49-F238E27FC236}">
                  <a16:creationId xmlns:a16="http://schemas.microsoft.com/office/drawing/2014/main" id="{38A943C8-C798-46A6-B9CB-AA7FBFB3A9D8}"/>
                </a:ext>
              </a:extLst>
            </p:cNvPr>
            <p:cNvSpPr>
              <a:spLocks noChangeShapeType="1"/>
            </p:cNvSpPr>
            <p:nvPr/>
          </p:nvSpPr>
          <p:spPr bwMode="auto">
            <a:xfrm>
              <a:off x="1873" y="1941"/>
              <a:ext cx="532" cy="267"/>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17" name="Line 21">
              <a:extLst>
                <a:ext uri="{FF2B5EF4-FFF2-40B4-BE49-F238E27FC236}">
                  <a16:creationId xmlns:a16="http://schemas.microsoft.com/office/drawing/2014/main" id="{E35EEC7F-C97F-4429-BD9A-BA7F46DBEF36}"/>
                </a:ext>
              </a:extLst>
            </p:cNvPr>
            <p:cNvSpPr>
              <a:spLocks noChangeShapeType="1"/>
            </p:cNvSpPr>
            <p:nvPr/>
          </p:nvSpPr>
          <p:spPr bwMode="auto">
            <a:xfrm>
              <a:off x="1565" y="1979"/>
              <a:ext cx="0" cy="288"/>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sp>
        <p:nvSpPr>
          <p:cNvPr id="18" name="Rectangle 10">
            <a:extLst>
              <a:ext uri="{FF2B5EF4-FFF2-40B4-BE49-F238E27FC236}">
                <a16:creationId xmlns:a16="http://schemas.microsoft.com/office/drawing/2014/main" id="{AC6ECED6-FB56-4F4A-BD20-A3E756341479}"/>
              </a:ext>
            </a:extLst>
          </p:cNvPr>
          <p:cNvSpPr>
            <a:spLocks noChangeArrowheads="1"/>
          </p:cNvSpPr>
          <p:nvPr/>
        </p:nvSpPr>
        <p:spPr bwMode="auto">
          <a:xfrm>
            <a:off x="6693130" y="2817594"/>
            <a:ext cx="5016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a:latin typeface="Plantagenet Cherokee" panose="02020602070100000000" pitchFamily="18" charset="0"/>
                <a:ea typeface="+mj-ea"/>
              </a:rPr>
              <a:t>T</a:t>
            </a:r>
            <a:endParaRPr lang="en-US" altLang="zh-CN" sz="2800">
              <a:solidFill>
                <a:srgbClr val="FF3300"/>
              </a:solidFill>
              <a:latin typeface="Plantagenet Cherokee" panose="02020602070100000000" pitchFamily="18" charset="0"/>
              <a:ea typeface="+mj-ea"/>
            </a:endParaRPr>
          </a:p>
        </p:txBody>
      </p:sp>
      <p:sp>
        <p:nvSpPr>
          <p:cNvPr id="19" name="Rectangle 25">
            <a:extLst>
              <a:ext uri="{FF2B5EF4-FFF2-40B4-BE49-F238E27FC236}">
                <a16:creationId xmlns:a16="http://schemas.microsoft.com/office/drawing/2014/main" id="{EC870E83-C416-4EB9-A919-01520108B40C}"/>
              </a:ext>
            </a:extLst>
          </p:cNvPr>
          <p:cNvSpPr>
            <a:spLocks noChangeArrowheads="1"/>
          </p:cNvSpPr>
          <p:nvPr/>
        </p:nvSpPr>
        <p:spPr bwMode="auto">
          <a:xfrm>
            <a:off x="6312130" y="3808194"/>
            <a:ext cx="1143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a:latin typeface="Plantagenet Cherokee" panose="02020602070100000000" pitchFamily="18" charset="0"/>
                <a:ea typeface="+mj-ea"/>
              </a:rPr>
              <a:t>id</a:t>
            </a:r>
          </a:p>
        </p:txBody>
      </p:sp>
      <p:sp>
        <p:nvSpPr>
          <p:cNvPr id="20" name="Line 26">
            <a:extLst>
              <a:ext uri="{FF2B5EF4-FFF2-40B4-BE49-F238E27FC236}">
                <a16:creationId xmlns:a16="http://schemas.microsoft.com/office/drawing/2014/main" id="{EB66642C-0183-4602-80C5-A6E225C6BD17}"/>
              </a:ext>
            </a:extLst>
          </p:cNvPr>
          <p:cNvSpPr>
            <a:spLocks noChangeShapeType="1"/>
          </p:cNvSpPr>
          <p:nvPr/>
        </p:nvSpPr>
        <p:spPr bwMode="auto">
          <a:xfrm>
            <a:off x="6949925" y="3292257"/>
            <a:ext cx="0" cy="540000"/>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nvGrpSpPr>
          <p:cNvPr id="21" name="Group 66">
            <a:extLst>
              <a:ext uri="{FF2B5EF4-FFF2-40B4-BE49-F238E27FC236}">
                <a16:creationId xmlns:a16="http://schemas.microsoft.com/office/drawing/2014/main" id="{C0534EE7-D883-4835-9FA9-0D2C11979A21}"/>
              </a:ext>
            </a:extLst>
          </p:cNvPr>
          <p:cNvGrpSpPr>
            <a:grpSpLocks/>
          </p:cNvGrpSpPr>
          <p:nvPr/>
        </p:nvGrpSpPr>
        <p:grpSpPr bwMode="auto">
          <a:xfrm>
            <a:off x="636935" y="4732810"/>
            <a:ext cx="1905000" cy="2190750"/>
            <a:chOff x="748" y="2886"/>
            <a:chExt cx="1200" cy="1380"/>
          </a:xfrm>
        </p:grpSpPr>
        <p:grpSp>
          <p:nvGrpSpPr>
            <p:cNvPr id="22" name="Group 61">
              <a:extLst>
                <a:ext uri="{FF2B5EF4-FFF2-40B4-BE49-F238E27FC236}">
                  <a16:creationId xmlns:a16="http://schemas.microsoft.com/office/drawing/2014/main" id="{2841B606-0302-41DE-8600-B4311838F8DD}"/>
                </a:ext>
              </a:extLst>
            </p:cNvPr>
            <p:cNvGrpSpPr>
              <a:grpSpLocks/>
            </p:cNvGrpSpPr>
            <p:nvPr/>
          </p:nvGrpSpPr>
          <p:grpSpPr bwMode="auto">
            <a:xfrm>
              <a:off x="748" y="3216"/>
              <a:ext cx="1200" cy="1050"/>
              <a:chOff x="748" y="3216"/>
              <a:chExt cx="1200" cy="1050"/>
            </a:xfrm>
          </p:grpSpPr>
          <p:sp>
            <p:nvSpPr>
              <p:cNvPr id="24" name="Rectangle 13">
                <a:extLst>
                  <a:ext uri="{FF2B5EF4-FFF2-40B4-BE49-F238E27FC236}">
                    <a16:creationId xmlns:a16="http://schemas.microsoft.com/office/drawing/2014/main" id="{00C20C07-AA98-4543-92DF-F444E2317947}"/>
                  </a:ext>
                </a:extLst>
              </p:cNvPr>
              <p:cNvSpPr>
                <a:spLocks noChangeArrowheads="1"/>
              </p:cNvSpPr>
              <p:nvPr/>
            </p:nvSpPr>
            <p:spPr bwMode="auto">
              <a:xfrm>
                <a:off x="748" y="3930"/>
                <a:ext cx="120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200" dirty="0">
                    <a:latin typeface="Plantagenet Cherokee" panose="02020602070100000000" pitchFamily="18" charset="0"/>
                    <a:ea typeface="+mj-ea"/>
                  </a:rPr>
                  <a:t>To entry for a</a:t>
                </a:r>
                <a:endParaRPr lang="en-US" altLang="zh-CN" sz="2200" baseline="-30000" dirty="0">
                  <a:latin typeface="Plantagenet Cherokee" panose="02020602070100000000" pitchFamily="18" charset="0"/>
                  <a:ea typeface="+mj-ea"/>
                </a:endParaRPr>
              </a:p>
            </p:txBody>
          </p:sp>
          <p:grpSp>
            <p:nvGrpSpPr>
              <p:cNvPr id="25" name="Group 41">
                <a:extLst>
                  <a:ext uri="{FF2B5EF4-FFF2-40B4-BE49-F238E27FC236}">
                    <a16:creationId xmlns:a16="http://schemas.microsoft.com/office/drawing/2014/main" id="{C2B03176-2D4A-4548-BE10-E9A2AE92DE02}"/>
                  </a:ext>
                </a:extLst>
              </p:cNvPr>
              <p:cNvGrpSpPr>
                <a:grpSpLocks/>
              </p:cNvGrpSpPr>
              <p:nvPr/>
            </p:nvGrpSpPr>
            <p:grpSpPr bwMode="auto">
              <a:xfrm>
                <a:off x="864" y="3597"/>
                <a:ext cx="864" cy="288"/>
                <a:chOff x="4176" y="3069"/>
                <a:chExt cx="864" cy="288"/>
              </a:xfrm>
            </p:grpSpPr>
            <p:sp>
              <p:nvSpPr>
                <p:cNvPr id="28" name="Rectangle 42">
                  <a:extLst>
                    <a:ext uri="{FF2B5EF4-FFF2-40B4-BE49-F238E27FC236}">
                      <a16:creationId xmlns:a16="http://schemas.microsoft.com/office/drawing/2014/main" id="{971A3132-10E0-447E-839A-A7EFE0E76851}"/>
                    </a:ext>
                  </a:extLst>
                </p:cNvPr>
                <p:cNvSpPr>
                  <a:spLocks noChangeArrowheads="1"/>
                </p:cNvSpPr>
                <p:nvPr/>
              </p:nvSpPr>
              <p:spPr bwMode="auto">
                <a:xfrm>
                  <a:off x="4176" y="3069"/>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20602070100000000" pitchFamily="18" charset="0"/>
                      <a:ea typeface="+mj-ea"/>
                    </a:rPr>
                    <a:t>id</a:t>
                  </a:r>
                </a:p>
              </p:txBody>
            </p:sp>
            <p:sp>
              <p:nvSpPr>
                <p:cNvPr id="29" name="Rectangle 43">
                  <a:extLst>
                    <a:ext uri="{FF2B5EF4-FFF2-40B4-BE49-F238E27FC236}">
                      <a16:creationId xmlns:a16="http://schemas.microsoft.com/office/drawing/2014/main" id="{C85FEF68-D46B-41A8-948F-808C03E4460B}"/>
                    </a:ext>
                  </a:extLst>
                </p:cNvPr>
                <p:cNvSpPr>
                  <a:spLocks noChangeArrowheads="1"/>
                </p:cNvSpPr>
                <p:nvPr/>
              </p:nvSpPr>
              <p:spPr bwMode="auto">
                <a:xfrm>
                  <a:off x="4608" y="3069"/>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endParaRPr kumimoji="1" lang="en-US" altLang="zh-CN" sz="2400">
                    <a:latin typeface="Plantagenet Cherokee" panose="02020602070100000000" pitchFamily="18" charset="0"/>
                    <a:ea typeface="+mj-ea"/>
                  </a:endParaRPr>
                </a:p>
              </p:txBody>
            </p:sp>
          </p:grpSp>
          <p:sp>
            <p:nvSpPr>
              <p:cNvPr id="26" name="Line 56">
                <a:extLst>
                  <a:ext uri="{FF2B5EF4-FFF2-40B4-BE49-F238E27FC236}">
                    <a16:creationId xmlns:a16="http://schemas.microsoft.com/office/drawing/2014/main" id="{9E7781FE-689E-4A1D-9BE9-4F1C912C105B}"/>
                  </a:ext>
                </a:extLst>
              </p:cNvPr>
              <p:cNvSpPr>
                <a:spLocks noChangeShapeType="1"/>
              </p:cNvSpPr>
              <p:nvPr/>
            </p:nvSpPr>
            <p:spPr bwMode="auto">
              <a:xfrm>
                <a:off x="1488" y="3789"/>
                <a:ext cx="0" cy="240"/>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27" name="Line 60">
                <a:extLst>
                  <a:ext uri="{FF2B5EF4-FFF2-40B4-BE49-F238E27FC236}">
                    <a16:creationId xmlns:a16="http://schemas.microsoft.com/office/drawing/2014/main" id="{110751D8-8EFA-4924-B056-4622AEF1DFED}"/>
                  </a:ext>
                </a:extLst>
              </p:cNvPr>
              <p:cNvSpPr>
                <a:spLocks noChangeShapeType="1"/>
              </p:cNvSpPr>
              <p:nvPr/>
            </p:nvSpPr>
            <p:spPr bwMode="auto">
              <a:xfrm>
                <a:off x="1056" y="3216"/>
                <a:ext cx="0" cy="386"/>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sp>
          <p:nvSpPr>
            <p:cNvPr id="23" name="Rectangle 63">
              <a:extLst>
                <a:ext uri="{FF2B5EF4-FFF2-40B4-BE49-F238E27FC236}">
                  <a16:creationId xmlns:a16="http://schemas.microsoft.com/office/drawing/2014/main" id="{C4A38E5D-0F17-4180-A43D-EBC1BB42FDE8}"/>
                </a:ext>
              </a:extLst>
            </p:cNvPr>
            <p:cNvSpPr>
              <a:spLocks noChangeArrowheads="1"/>
            </p:cNvSpPr>
            <p:nvPr/>
          </p:nvSpPr>
          <p:spPr bwMode="auto">
            <a:xfrm>
              <a:off x="793" y="2886"/>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dirty="0">
                  <a:solidFill>
                    <a:srgbClr val="FF3300"/>
                  </a:solidFill>
                  <a:latin typeface="Plantagenet Cherokee" panose="02020602070100000000" pitchFamily="18" charset="0"/>
                  <a:ea typeface="+mj-ea"/>
                </a:rPr>
                <a:t>.node</a:t>
              </a:r>
            </a:p>
          </p:txBody>
        </p:sp>
      </p:grpSp>
      <p:grpSp>
        <p:nvGrpSpPr>
          <p:cNvPr id="30" name="Group 88">
            <a:extLst>
              <a:ext uri="{FF2B5EF4-FFF2-40B4-BE49-F238E27FC236}">
                <a16:creationId xmlns:a16="http://schemas.microsoft.com/office/drawing/2014/main" id="{98DBA274-82E0-42B1-8BD2-DD100E610FDF}"/>
              </a:ext>
            </a:extLst>
          </p:cNvPr>
          <p:cNvGrpSpPr>
            <a:grpSpLocks/>
          </p:cNvGrpSpPr>
          <p:nvPr/>
        </p:nvGrpSpPr>
        <p:grpSpPr bwMode="auto">
          <a:xfrm>
            <a:off x="3954692" y="1707932"/>
            <a:ext cx="2586038" cy="2405062"/>
            <a:chOff x="2835" y="981"/>
            <a:chExt cx="1629" cy="1515"/>
          </a:xfrm>
        </p:grpSpPr>
        <p:sp>
          <p:nvSpPr>
            <p:cNvPr id="31" name="Line 15">
              <a:extLst>
                <a:ext uri="{FF2B5EF4-FFF2-40B4-BE49-F238E27FC236}">
                  <a16:creationId xmlns:a16="http://schemas.microsoft.com/office/drawing/2014/main" id="{350A8F2D-3BF9-4E9C-982D-E451F4C27948}"/>
                </a:ext>
              </a:extLst>
            </p:cNvPr>
            <p:cNvSpPr>
              <a:spLocks noChangeShapeType="1"/>
            </p:cNvSpPr>
            <p:nvPr/>
          </p:nvSpPr>
          <p:spPr bwMode="auto">
            <a:xfrm>
              <a:off x="3288" y="1298"/>
              <a:ext cx="0" cy="864"/>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nvGrpSpPr>
            <p:cNvPr id="32" name="Group 50">
              <a:extLst>
                <a:ext uri="{FF2B5EF4-FFF2-40B4-BE49-F238E27FC236}">
                  <a16:creationId xmlns:a16="http://schemas.microsoft.com/office/drawing/2014/main" id="{51A5AB03-0097-4319-B3E6-DF8D5147628F}"/>
                </a:ext>
              </a:extLst>
            </p:cNvPr>
            <p:cNvGrpSpPr>
              <a:grpSpLocks/>
            </p:cNvGrpSpPr>
            <p:nvPr/>
          </p:nvGrpSpPr>
          <p:grpSpPr bwMode="auto">
            <a:xfrm>
              <a:off x="3168" y="2208"/>
              <a:ext cx="1296" cy="288"/>
              <a:chOff x="1872" y="3456"/>
              <a:chExt cx="1296" cy="288"/>
            </a:xfrm>
          </p:grpSpPr>
          <p:sp>
            <p:nvSpPr>
              <p:cNvPr id="34" name="Rectangle 51">
                <a:extLst>
                  <a:ext uri="{FF2B5EF4-FFF2-40B4-BE49-F238E27FC236}">
                    <a16:creationId xmlns:a16="http://schemas.microsoft.com/office/drawing/2014/main" id="{B69DFF39-6EA6-4675-8C09-82EF38945A35}"/>
                  </a:ext>
                </a:extLst>
              </p:cNvPr>
              <p:cNvSpPr>
                <a:spLocks noChangeArrowheads="1"/>
              </p:cNvSpPr>
              <p:nvPr/>
            </p:nvSpPr>
            <p:spPr bwMode="auto">
              <a:xfrm>
                <a:off x="1872"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20602070100000000" pitchFamily="18" charset="0"/>
                    <a:ea typeface="+mj-ea"/>
                  </a:rPr>
                  <a:t>+</a:t>
                </a:r>
              </a:p>
            </p:txBody>
          </p:sp>
          <p:sp>
            <p:nvSpPr>
              <p:cNvPr id="35" name="Rectangle 52">
                <a:extLst>
                  <a:ext uri="{FF2B5EF4-FFF2-40B4-BE49-F238E27FC236}">
                    <a16:creationId xmlns:a16="http://schemas.microsoft.com/office/drawing/2014/main" id="{2410322C-0E81-41FA-8FA7-5950013A0B45}"/>
                  </a:ext>
                </a:extLst>
              </p:cNvPr>
              <p:cNvSpPr>
                <a:spLocks noChangeArrowheads="1"/>
              </p:cNvSpPr>
              <p:nvPr/>
            </p:nvSpPr>
            <p:spPr bwMode="auto">
              <a:xfrm>
                <a:off x="2304"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endParaRPr kumimoji="1" lang="en-US" altLang="zh-CN" sz="2400">
                  <a:latin typeface="Plantagenet Cherokee" panose="02020602070100000000" pitchFamily="18" charset="0"/>
                  <a:ea typeface="+mj-ea"/>
                </a:endParaRPr>
              </a:p>
            </p:txBody>
          </p:sp>
          <p:sp>
            <p:nvSpPr>
              <p:cNvPr id="36" name="Rectangle 53">
                <a:extLst>
                  <a:ext uri="{FF2B5EF4-FFF2-40B4-BE49-F238E27FC236}">
                    <a16:creationId xmlns:a16="http://schemas.microsoft.com/office/drawing/2014/main" id="{F2050155-BD55-423E-91B3-5EA5C683FC12}"/>
                  </a:ext>
                </a:extLst>
              </p:cNvPr>
              <p:cNvSpPr>
                <a:spLocks noChangeArrowheads="1"/>
              </p:cNvSpPr>
              <p:nvPr/>
            </p:nvSpPr>
            <p:spPr bwMode="auto">
              <a:xfrm>
                <a:off x="2736"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endParaRPr kumimoji="1" lang="en-US" altLang="zh-CN" sz="2400">
                  <a:latin typeface="Plantagenet Cherokee" panose="02020602070100000000" pitchFamily="18" charset="0"/>
                  <a:ea typeface="+mj-ea"/>
                </a:endParaRPr>
              </a:p>
            </p:txBody>
          </p:sp>
        </p:grpSp>
        <p:sp>
          <p:nvSpPr>
            <p:cNvPr id="33" name="Rectangle 64">
              <a:extLst>
                <a:ext uri="{FF2B5EF4-FFF2-40B4-BE49-F238E27FC236}">
                  <a16:creationId xmlns:a16="http://schemas.microsoft.com/office/drawing/2014/main" id="{96819F36-24E5-4269-957B-594E16F44D7E}"/>
                </a:ext>
              </a:extLst>
            </p:cNvPr>
            <p:cNvSpPr>
              <a:spLocks noChangeArrowheads="1"/>
            </p:cNvSpPr>
            <p:nvPr/>
          </p:nvSpPr>
          <p:spPr bwMode="auto">
            <a:xfrm>
              <a:off x="2835" y="981"/>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dirty="0">
                  <a:solidFill>
                    <a:srgbClr val="FF3300"/>
                  </a:solidFill>
                  <a:latin typeface="Plantagenet Cherokee" panose="02020602070100000000" pitchFamily="18" charset="0"/>
                  <a:ea typeface="+mj-ea"/>
                </a:rPr>
                <a:t>.node</a:t>
              </a:r>
            </a:p>
          </p:txBody>
        </p:sp>
      </p:grpSp>
      <p:grpSp>
        <p:nvGrpSpPr>
          <p:cNvPr id="37" name="Group 70">
            <a:extLst>
              <a:ext uri="{FF2B5EF4-FFF2-40B4-BE49-F238E27FC236}">
                <a16:creationId xmlns:a16="http://schemas.microsoft.com/office/drawing/2014/main" id="{1903A191-716D-4E9E-9CD6-7939E035F9B4}"/>
              </a:ext>
            </a:extLst>
          </p:cNvPr>
          <p:cNvGrpSpPr>
            <a:grpSpLocks/>
          </p:cNvGrpSpPr>
          <p:nvPr/>
        </p:nvGrpSpPr>
        <p:grpSpPr bwMode="auto">
          <a:xfrm>
            <a:off x="740005" y="3695482"/>
            <a:ext cx="792162" cy="2152650"/>
            <a:chOff x="808" y="2256"/>
            <a:chExt cx="499" cy="1356"/>
          </a:xfrm>
        </p:grpSpPr>
        <p:sp>
          <p:nvSpPr>
            <p:cNvPr id="38" name="Rectangle 68">
              <a:extLst>
                <a:ext uri="{FF2B5EF4-FFF2-40B4-BE49-F238E27FC236}">
                  <a16:creationId xmlns:a16="http://schemas.microsoft.com/office/drawing/2014/main" id="{B54BCDCD-0D0A-4173-9720-66791C1CB8B3}"/>
                </a:ext>
              </a:extLst>
            </p:cNvPr>
            <p:cNvSpPr>
              <a:spLocks noChangeArrowheads="1"/>
            </p:cNvSpPr>
            <p:nvPr/>
          </p:nvSpPr>
          <p:spPr bwMode="auto">
            <a:xfrm>
              <a:off x="808" y="2256"/>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dirty="0">
                  <a:solidFill>
                    <a:srgbClr val="FF3300"/>
                  </a:solidFill>
                  <a:latin typeface="Plantagenet Cherokee" panose="02020602070100000000" pitchFamily="18" charset="0"/>
                  <a:ea typeface="+mj-ea"/>
                </a:rPr>
                <a:t>.node</a:t>
              </a:r>
            </a:p>
          </p:txBody>
        </p:sp>
        <p:sp>
          <p:nvSpPr>
            <p:cNvPr id="39" name="Line 69">
              <a:extLst>
                <a:ext uri="{FF2B5EF4-FFF2-40B4-BE49-F238E27FC236}">
                  <a16:creationId xmlns:a16="http://schemas.microsoft.com/office/drawing/2014/main" id="{4D86686C-A0CE-4992-8EDE-D8C910A69204}"/>
                </a:ext>
              </a:extLst>
            </p:cNvPr>
            <p:cNvSpPr>
              <a:spLocks noChangeShapeType="1"/>
            </p:cNvSpPr>
            <p:nvPr/>
          </p:nvSpPr>
          <p:spPr bwMode="auto">
            <a:xfrm>
              <a:off x="1202" y="2523"/>
              <a:ext cx="0" cy="1089"/>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sp>
        <p:nvSpPr>
          <p:cNvPr id="40" name="Rectangle 24">
            <a:extLst>
              <a:ext uri="{FF2B5EF4-FFF2-40B4-BE49-F238E27FC236}">
                <a16:creationId xmlns:a16="http://schemas.microsoft.com/office/drawing/2014/main" id="{0EE8A74C-D0F3-4049-834D-480186D6D755}"/>
              </a:ext>
            </a:extLst>
          </p:cNvPr>
          <p:cNvSpPr>
            <a:spLocks noChangeArrowheads="1"/>
          </p:cNvSpPr>
          <p:nvPr/>
        </p:nvSpPr>
        <p:spPr bwMode="auto">
          <a:xfrm>
            <a:off x="3264131" y="3655794"/>
            <a:ext cx="4016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a:latin typeface="Plantagenet Cherokee" panose="02020602070100000000" pitchFamily="18" charset="0"/>
                <a:ea typeface="+mj-ea"/>
              </a:rPr>
              <a:t>T</a:t>
            </a:r>
            <a:endParaRPr lang="en-US" altLang="zh-CN" sz="2800">
              <a:solidFill>
                <a:srgbClr val="FF3300"/>
              </a:solidFill>
              <a:latin typeface="Plantagenet Cherokee" panose="02020602070100000000" pitchFamily="18" charset="0"/>
              <a:ea typeface="+mj-ea"/>
            </a:endParaRPr>
          </a:p>
        </p:txBody>
      </p:sp>
      <p:sp>
        <p:nvSpPr>
          <p:cNvPr id="41" name="Rectangle 71">
            <a:extLst>
              <a:ext uri="{FF2B5EF4-FFF2-40B4-BE49-F238E27FC236}">
                <a16:creationId xmlns:a16="http://schemas.microsoft.com/office/drawing/2014/main" id="{FB2697A1-626C-4CA4-BB3F-DDAD5D2A814F}"/>
              </a:ext>
            </a:extLst>
          </p:cNvPr>
          <p:cNvSpPr>
            <a:spLocks noChangeArrowheads="1"/>
          </p:cNvSpPr>
          <p:nvPr/>
        </p:nvSpPr>
        <p:spPr bwMode="auto">
          <a:xfrm>
            <a:off x="4097568" y="4874994"/>
            <a:ext cx="5762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20602070100000000" pitchFamily="18" charset="0"/>
                <a:ea typeface="+mj-ea"/>
              </a:rPr>
              <a:t>num</a:t>
            </a:r>
          </a:p>
        </p:txBody>
      </p:sp>
      <p:sp>
        <p:nvSpPr>
          <p:cNvPr id="42" name="Line 72">
            <a:extLst>
              <a:ext uri="{FF2B5EF4-FFF2-40B4-BE49-F238E27FC236}">
                <a16:creationId xmlns:a16="http://schemas.microsoft.com/office/drawing/2014/main" id="{BA37ECDE-F540-4617-9B4A-3F7A8BCE5B91}"/>
              </a:ext>
            </a:extLst>
          </p:cNvPr>
          <p:cNvSpPr>
            <a:spLocks noChangeShapeType="1"/>
          </p:cNvSpPr>
          <p:nvPr/>
        </p:nvSpPr>
        <p:spPr bwMode="auto">
          <a:xfrm>
            <a:off x="3521305" y="4084419"/>
            <a:ext cx="792162" cy="935038"/>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nvGrpSpPr>
          <p:cNvPr id="43" name="Group 76">
            <a:extLst>
              <a:ext uri="{FF2B5EF4-FFF2-40B4-BE49-F238E27FC236}">
                <a16:creationId xmlns:a16="http://schemas.microsoft.com/office/drawing/2014/main" id="{73D79767-B0B8-4998-BC37-A9DD59CCE16F}"/>
              </a:ext>
            </a:extLst>
          </p:cNvPr>
          <p:cNvGrpSpPr>
            <a:grpSpLocks/>
          </p:cNvGrpSpPr>
          <p:nvPr/>
        </p:nvGrpSpPr>
        <p:grpSpPr bwMode="auto">
          <a:xfrm>
            <a:off x="3264130" y="3676432"/>
            <a:ext cx="1371600" cy="2722562"/>
            <a:chOff x="2400" y="2221"/>
            <a:chExt cx="864" cy="1715"/>
          </a:xfrm>
        </p:grpSpPr>
        <p:grpSp>
          <p:nvGrpSpPr>
            <p:cNvPr id="44" name="Group 44">
              <a:extLst>
                <a:ext uri="{FF2B5EF4-FFF2-40B4-BE49-F238E27FC236}">
                  <a16:creationId xmlns:a16="http://schemas.microsoft.com/office/drawing/2014/main" id="{CA3778E7-6CBA-496F-B328-16E8F5CAE762}"/>
                </a:ext>
              </a:extLst>
            </p:cNvPr>
            <p:cNvGrpSpPr>
              <a:grpSpLocks/>
            </p:cNvGrpSpPr>
            <p:nvPr/>
          </p:nvGrpSpPr>
          <p:grpSpPr bwMode="auto">
            <a:xfrm>
              <a:off x="2400" y="3648"/>
              <a:ext cx="864" cy="288"/>
              <a:chOff x="4176" y="3168"/>
              <a:chExt cx="864" cy="288"/>
            </a:xfrm>
          </p:grpSpPr>
          <p:sp>
            <p:nvSpPr>
              <p:cNvPr id="48" name="Rectangle 45">
                <a:extLst>
                  <a:ext uri="{FF2B5EF4-FFF2-40B4-BE49-F238E27FC236}">
                    <a16:creationId xmlns:a16="http://schemas.microsoft.com/office/drawing/2014/main" id="{2B31BF07-AE45-4DC7-A1BC-0B9321802BB9}"/>
                  </a:ext>
                </a:extLst>
              </p:cNvPr>
              <p:cNvSpPr>
                <a:spLocks noChangeArrowheads="1"/>
              </p:cNvSpPr>
              <p:nvPr/>
            </p:nvSpPr>
            <p:spPr bwMode="auto">
              <a:xfrm>
                <a:off x="4176" y="3168"/>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20602070100000000" pitchFamily="18" charset="0"/>
                    <a:ea typeface="+mj-ea"/>
                  </a:rPr>
                  <a:t>num</a:t>
                </a:r>
              </a:p>
            </p:txBody>
          </p:sp>
          <p:sp>
            <p:nvSpPr>
              <p:cNvPr id="49" name="Rectangle 46">
                <a:extLst>
                  <a:ext uri="{FF2B5EF4-FFF2-40B4-BE49-F238E27FC236}">
                    <a16:creationId xmlns:a16="http://schemas.microsoft.com/office/drawing/2014/main" id="{8F0FCC87-0C5F-485B-96C5-039A467B211D}"/>
                  </a:ext>
                </a:extLst>
              </p:cNvPr>
              <p:cNvSpPr>
                <a:spLocks noChangeArrowheads="1"/>
              </p:cNvSpPr>
              <p:nvPr/>
            </p:nvSpPr>
            <p:spPr bwMode="auto">
              <a:xfrm>
                <a:off x="4608" y="3168"/>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20602070100000000" pitchFamily="18" charset="0"/>
                    <a:ea typeface="+mj-ea"/>
                  </a:rPr>
                  <a:t>4</a:t>
                </a:r>
              </a:p>
            </p:txBody>
          </p:sp>
        </p:grpSp>
        <p:grpSp>
          <p:nvGrpSpPr>
            <p:cNvPr id="45" name="Group 75">
              <a:extLst>
                <a:ext uri="{FF2B5EF4-FFF2-40B4-BE49-F238E27FC236}">
                  <a16:creationId xmlns:a16="http://schemas.microsoft.com/office/drawing/2014/main" id="{C6E996F0-98ED-42AA-9C30-412BD48D7115}"/>
                </a:ext>
              </a:extLst>
            </p:cNvPr>
            <p:cNvGrpSpPr>
              <a:grpSpLocks/>
            </p:cNvGrpSpPr>
            <p:nvPr/>
          </p:nvGrpSpPr>
          <p:grpSpPr bwMode="auto">
            <a:xfrm>
              <a:off x="2588" y="2221"/>
              <a:ext cx="499" cy="1345"/>
              <a:chOff x="2588" y="2221"/>
              <a:chExt cx="499" cy="1345"/>
            </a:xfrm>
          </p:grpSpPr>
          <p:sp>
            <p:nvSpPr>
              <p:cNvPr id="46" name="Line 47">
                <a:extLst>
                  <a:ext uri="{FF2B5EF4-FFF2-40B4-BE49-F238E27FC236}">
                    <a16:creationId xmlns:a16="http://schemas.microsoft.com/office/drawing/2014/main" id="{1828F563-3796-4340-A6FE-4259DF8F1E90}"/>
                  </a:ext>
                </a:extLst>
              </p:cNvPr>
              <p:cNvSpPr>
                <a:spLocks noChangeShapeType="1"/>
              </p:cNvSpPr>
              <p:nvPr/>
            </p:nvSpPr>
            <p:spPr bwMode="auto">
              <a:xfrm>
                <a:off x="2832" y="2544"/>
                <a:ext cx="3" cy="1022"/>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47" name="Rectangle 74">
                <a:extLst>
                  <a:ext uri="{FF2B5EF4-FFF2-40B4-BE49-F238E27FC236}">
                    <a16:creationId xmlns:a16="http://schemas.microsoft.com/office/drawing/2014/main" id="{9F5F5434-B5F0-4F71-BE7B-915BC3B59FE6}"/>
                  </a:ext>
                </a:extLst>
              </p:cNvPr>
              <p:cNvSpPr>
                <a:spLocks noChangeArrowheads="1"/>
              </p:cNvSpPr>
              <p:nvPr/>
            </p:nvSpPr>
            <p:spPr bwMode="auto">
              <a:xfrm>
                <a:off x="2588" y="2221"/>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dirty="0">
                    <a:solidFill>
                      <a:srgbClr val="FF3300"/>
                    </a:solidFill>
                    <a:latin typeface="Plantagenet Cherokee" panose="02020602070100000000" pitchFamily="18" charset="0"/>
                    <a:ea typeface="+mj-ea"/>
                  </a:rPr>
                  <a:t>.node</a:t>
                </a:r>
              </a:p>
            </p:txBody>
          </p:sp>
        </p:grpSp>
      </p:grpSp>
      <p:grpSp>
        <p:nvGrpSpPr>
          <p:cNvPr id="50" name="Group 79">
            <a:extLst>
              <a:ext uri="{FF2B5EF4-FFF2-40B4-BE49-F238E27FC236}">
                <a16:creationId xmlns:a16="http://schemas.microsoft.com/office/drawing/2014/main" id="{AC4193F7-FCB1-4A51-A6D5-B2A660C1AC1E}"/>
              </a:ext>
            </a:extLst>
          </p:cNvPr>
          <p:cNvGrpSpPr>
            <a:grpSpLocks/>
          </p:cNvGrpSpPr>
          <p:nvPr/>
        </p:nvGrpSpPr>
        <p:grpSpPr bwMode="auto">
          <a:xfrm>
            <a:off x="1663930" y="2787432"/>
            <a:ext cx="2057400" cy="2392362"/>
            <a:chOff x="1392" y="1661"/>
            <a:chExt cx="1296" cy="1507"/>
          </a:xfrm>
        </p:grpSpPr>
        <p:grpSp>
          <p:nvGrpSpPr>
            <p:cNvPr id="51" name="Group 35">
              <a:extLst>
                <a:ext uri="{FF2B5EF4-FFF2-40B4-BE49-F238E27FC236}">
                  <a16:creationId xmlns:a16="http://schemas.microsoft.com/office/drawing/2014/main" id="{4E245802-9CCE-4A72-97F1-DC040F2D5ED0}"/>
                </a:ext>
              </a:extLst>
            </p:cNvPr>
            <p:cNvGrpSpPr>
              <a:grpSpLocks/>
            </p:cNvGrpSpPr>
            <p:nvPr/>
          </p:nvGrpSpPr>
          <p:grpSpPr bwMode="auto">
            <a:xfrm>
              <a:off x="1392" y="2880"/>
              <a:ext cx="1296" cy="288"/>
              <a:chOff x="1872" y="3456"/>
              <a:chExt cx="1296" cy="288"/>
            </a:xfrm>
          </p:grpSpPr>
          <p:sp>
            <p:nvSpPr>
              <p:cNvPr id="54" name="Rectangle 36">
                <a:extLst>
                  <a:ext uri="{FF2B5EF4-FFF2-40B4-BE49-F238E27FC236}">
                    <a16:creationId xmlns:a16="http://schemas.microsoft.com/office/drawing/2014/main" id="{229F363D-8B41-4DBF-8B78-4F8F33A7B1C3}"/>
                  </a:ext>
                </a:extLst>
              </p:cNvPr>
              <p:cNvSpPr>
                <a:spLocks noChangeArrowheads="1"/>
              </p:cNvSpPr>
              <p:nvPr/>
            </p:nvSpPr>
            <p:spPr bwMode="auto">
              <a:xfrm>
                <a:off x="1872"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20602070100000000" pitchFamily="18" charset="0"/>
                    <a:ea typeface="+mj-ea"/>
                  </a:rPr>
                  <a:t>-</a:t>
                </a:r>
              </a:p>
            </p:txBody>
          </p:sp>
          <p:sp>
            <p:nvSpPr>
              <p:cNvPr id="55" name="Rectangle 37">
                <a:extLst>
                  <a:ext uri="{FF2B5EF4-FFF2-40B4-BE49-F238E27FC236}">
                    <a16:creationId xmlns:a16="http://schemas.microsoft.com/office/drawing/2014/main" id="{1518232E-9C20-4C76-89C4-B1B2BEB04B28}"/>
                  </a:ext>
                </a:extLst>
              </p:cNvPr>
              <p:cNvSpPr>
                <a:spLocks noChangeArrowheads="1"/>
              </p:cNvSpPr>
              <p:nvPr/>
            </p:nvSpPr>
            <p:spPr bwMode="auto">
              <a:xfrm>
                <a:off x="2304"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endParaRPr kumimoji="1" lang="en-US" altLang="zh-CN" sz="2400">
                  <a:latin typeface="Plantagenet Cherokee" panose="02020602070100000000" pitchFamily="18" charset="0"/>
                  <a:ea typeface="+mj-ea"/>
                </a:endParaRPr>
              </a:p>
            </p:txBody>
          </p:sp>
          <p:sp>
            <p:nvSpPr>
              <p:cNvPr id="56" name="Rectangle 38">
                <a:extLst>
                  <a:ext uri="{FF2B5EF4-FFF2-40B4-BE49-F238E27FC236}">
                    <a16:creationId xmlns:a16="http://schemas.microsoft.com/office/drawing/2014/main" id="{91A20A8E-00C2-43DA-99FD-B5A4156EA948}"/>
                  </a:ext>
                </a:extLst>
              </p:cNvPr>
              <p:cNvSpPr>
                <a:spLocks noChangeArrowheads="1"/>
              </p:cNvSpPr>
              <p:nvPr/>
            </p:nvSpPr>
            <p:spPr bwMode="auto">
              <a:xfrm>
                <a:off x="2736" y="3456"/>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endParaRPr kumimoji="1" lang="en-US" altLang="zh-CN" sz="2400">
                  <a:latin typeface="Plantagenet Cherokee" panose="02020602070100000000" pitchFamily="18" charset="0"/>
                  <a:ea typeface="+mj-ea"/>
                </a:endParaRPr>
              </a:p>
            </p:txBody>
          </p:sp>
        </p:grpSp>
        <p:sp>
          <p:nvSpPr>
            <p:cNvPr id="52" name="Line 40">
              <a:extLst>
                <a:ext uri="{FF2B5EF4-FFF2-40B4-BE49-F238E27FC236}">
                  <a16:creationId xmlns:a16="http://schemas.microsoft.com/office/drawing/2014/main" id="{059FAFE5-EF13-4C5C-A3C4-0BB2A4408CE3}"/>
                </a:ext>
              </a:extLst>
            </p:cNvPr>
            <p:cNvSpPr>
              <a:spLocks noChangeShapeType="1"/>
            </p:cNvSpPr>
            <p:nvPr/>
          </p:nvSpPr>
          <p:spPr bwMode="auto">
            <a:xfrm>
              <a:off x="1680" y="2016"/>
              <a:ext cx="0" cy="816"/>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53" name="Rectangle 78">
              <a:extLst>
                <a:ext uri="{FF2B5EF4-FFF2-40B4-BE49-F238E27FC236}">
                  <a16:creationId xmlns:a16="http://schemas.microsoft.com/office/drawing/2014/main" id="{55E08C38-8147-4ED5-BEFD-F1C9127B4DC0}"/>
                </a:ext>
              </a:extLst>
            </p:cNvPr>
            <p:cNvSpPr>
              <a:spLocks noChangeArrowheads="1"/>
            </p:cNvSpPr>
            <p:nvPr/>
          </p:nvSpPr>
          <p:spPr bwMode="auto">
            <a:xfrm>
              <a:off x="1605" y="1661"/>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dirty="0">
                  <a:solidFill>
                    <a:srgbClr val="FF3300"/>
                  </a:solidFill>
                  <a:latin typeface="Plantagenet Cherokee" panose="02020602070100000000" pitchFamily="18" charset="0"/>
                  <a:ea typeface="+mj-ea"/>
                </a:rPr>
                <a:t>.node</a:t>
              </a:r>
            </a:p>
          </p:txBody>
        </p:sp>
      </p:grpSp>
      <p:grpSp>
        <p:nvGrpSpPr>
          <p:cNvPr id="57" name="Group 80">
            <a:extLst>
              <a:ext uri="{FF2B5EF4-FFF2-40B4-BE49-F238E27FC236}">
                <a16:creationId xmlns:a16="http://schemas.microsoft.com/office/drawing/2014/main" id="{7805C214-C26B-46E3-86E8-73C2A5C0F9AD}"/>
              </a:ext>
            </a:extLst>
          </p:cNvPr>
          <p:cNvGrpSpPr>
            <a:grpSpLocks/>
          </p:cNvGrpSpPr>
          <p:nvPr/>
        </p:nvGrpSpPr>
        <p:grpSpPr bwMode="auto">
          <a:xfrm>
            <a:off x="1670280" y="4951194"/>
            <a:ext cx="2127250" cy="914400"/>
            <a:chOff x="1396" y="3024"/>
            <a:chExt cx="1340" cy="576"/>
          </a:xfrm>
        </p:grpSpPr>
        <p:sp>
          <p:nvSpPr>
            <p:cNvPr id="58" name="Line 48">
              <a:extLst>
                <a:ext uri="{FF2B5EF4-FFF2-40B4-BE49-F238E27FC236}">
                  <a16:creationId xmlns:a16="http://schemas.microsoft.com/office/drawing/2014/main" id="{47792F0B-51AC-4CC7-B953-CF1C3D79F77A}"/>
                </a:ext>
              </a:extLst>
            </p:cNvPr>
            <p:cNvSpPr>
              <a:spLocks noChangeShapeType="1"/>
            </p:cNvSpPr>
            <p:nvPr/>
          </p:nvSpPr>
          <p:spPr bwMode="auto">
            <a:xfrm flipH="1">
              <a:off x="1396" y="3024"/>
              <a:ext cx="668" cy="565"/>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59" name="Line 49">
              <a:extLst>
                <a:ext uri="{FF2B5EF4-FFF2-40B4-BE49-F238E27FC236}">
                  <a16:creationId xmlns:a16="http://schemas.microsoft.com/office/drawing/2014/main" id="{2199E171-A047-46EE-AB8E-820F3AED0216}"/>
                </a:ext>
              </a:extLst>
            </p:cNvPr>
            <p:cNvSpPr>
              <a:spLocks noChangeShapeType="1"/>
            </p:cNvSpPr>
            <p:nvPr/>
          </p:nvSpPr>
          <p:spPr bwMode="auto">
            <a:xfrm>
              <a:off x="2448" y="3024"/>
              <a:ext cx="288" cy="576"/>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sp>
        <p:nvSpPr>
          <p:cNvPr id="60" name="Rectangle 81">
            <a:extLst>
              <a:ext uri="{FF2B5EF4-FFF2-40B4-BE49-F238E27FC236}">
                <a16:creationId xmlns:a16="http://schemas.microsoft.com/office/drawing/2014/main" id="{1B751EA3-09E0-45A0-86DB-F6DCC581E659}"/>
              </a:ext>
            </a:extLst>
          </p:cNvPr>
          <p:cNvSpPr>
            <a:spLocks noChangeArrowheads="1"/>
          </p:cNvSpPr>
          <p:nvPr/>
        </p:nvSpPr>
        <p:spPr bwMode="auto">
          <a:xfrm>
            <a:off x="3711009" y="2843466"/>
            <a:ext cx="431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4000" dirty="0">
                <a:latin typeface="Plantagenet Cherokee" panose="02020602070100000000" pitchFamily="18" charset="0"/>
                <a:ea typeface="+mj-ea"/>
              </a:rPr>
              <a:t>+</a:t>
            </a:r>
          </a:p>
        </p:txBody>
      </p:sp>
      <p:grpSp>
        <p:nvGrpSpPr>
          <p:cNvPr id="61" name="Group 87">
            <a:extLst>
              <a:ext uri="{FF2B5EF4-FFF2-40B4-BE49-F238E27FC236}">
                <a16:creationId xmlns:a16="http://schemas.microsoft.com/office/drawing/2014/main" id="{C8271482-487E-48A6-85A2-6B673181913C}"/>
              </a:ext>
            </a:extLst>
          </p:cNvPr>
          <p:cNvGrpSpPr>
            <a:grpSpLocks/>
          </p:cNvGrpSpPr>
          <p:nvPr/>
        </p:nvGrpSpPr>
        <p:grpSpPr bwMode="auto">
          <a:xfrm>
            <a:off x="1917928" y="2181915"/>
            <a:ext cx="4862513" cy="706438"/>
            <a:chOff x="1488" y="1243"/>
            <a:chExt cx="3063" cy="445"/>
          </a:xfrm>
        </p:grpSpPr>
        <p:sp>
          <p:nvSpPr>
            <p:cNvPr id="62" name="Line 5">
              <a:extLst>
                <a:ext uri="{FF2B5EF4-FFF2-40B4-BE49-F238E27FC236}">
                  <a16:creationId xmlns:a16="http://schemas.microsoft.com/office/drawing/2014/main" id="{116C594B-3D3D-4F54-B51A-AFE0C985C39D}"/>
                </a:ext>
              </a:extLst>
            </p:cNvPr>
            <p:cNvSpPr>
              <a:spLocks noChangeShapeType="1"/>
            </p:cNvSpPr>
            <p:nvPr/>
          </p:nvSpPr>
          <p:spPr bwMode="auto">
            <a:xfrm flipH="1">
              <a:off x="1488" y="1248"/>
              <a:ext cx="1165" cy="432"/>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63" name="Line 7">
              <a:extLst>
                <a:ext uri="{FF2B5EF4-FFF2-40B4-BE49-F238E27FC236}">
                  <a16:creationId xmlns:a16="http://schemas.microsoft.com/office/drawing/2014/main" id="{133158B1-4CD6-4A02-B2C8-B10FBED8A822}"/>
                </a:ext>
              </a:extLst>
            </p:cNvPr>
            <p:cNvSpPr>
              <a:spLocks noChangeShapeType="1"/>
            </p:cNvSpPr>
            <p:nvPr/>
          </p:nvSpPr>
          <p:spPr bwMode="auto">
            <a:xfrm>
              <a:off x="3425" y="1243"/>
              <a:ext cx="1126" cy="445"/>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64" name="Line 82">
              <a:extLst>
                <a:ext uri="{FF2B5EF4-FFF2-40B4-BE49-F238E27FC236}">
                  <a16:creationId xmlns:a16="http://schemas.microsoft.com/office/drawing/2014/main" id="{2B11761A-DBA6-4843-A7FD-91F2127591AD}"/>
                </a:ext>
              </a:extLst>
            </p:cNvPr>
            <p:cNvSpPr>
              <a:spLocks noChangeShapeType="1"/>
            </p:cNvSpPr>
            <p:nvPr/>
          </p:nvSpPr>
          <p:spPr bwMode="auto">
            <a:xfrm>
              <a:off x="2744" y="1298"/>
              <a:ext cx="0" cy="384"/>
            </a:xfrm>
            <a:prstGeom prst="line">
              <a:avLst/>
            </a:prstGeom>
            <a:noFill/>
            <a:ln w="28575">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grpSp>
        <p:nvGrpSpPr>
          <p:cNvPr id="65" name="Group 85">
            <a:extLst>
              <a:ext uri="{FF2B5EF4-FFF2-40B4-BE49-F238E27FC236}">
                <a16:creationId xmlns:a16="http://schemas.microsoft.com/office/drawing/2014/main" id="{1F844289-0AD3-4AC2-B3D5-21EF794ED0DA}"/>
              </a:ext>
            </a:extLst>
          </p:cNvPr>
          <p:cNvGrpSpPr>
            <a:grpSpLocks/>
          </p:cNvGrpSpPr>
          <p:nvPr/>
        </p:nvGrpSpPr>
        <p:grpSpPr bwMode="auto">
          <a:xfrm>
            <a:off x="6845530" y="2858870"/>
            <a:ext cx="1371600" cy="2320925"/>
            <a:chOff x="4656" y="1706"/>
            <a:chExt cx="864" cy="1462"/>
          </a:xfrm>
        </p:grpSpPr>
        <p:grpSp>
          <p:nvGrpSpPr>
            <p:cNvPr id="66" name="Group 39">
              <a:extLst>
                <a:ext uri="{FF2B5EF4-FFF2-40B4-BE49-F238E27FC236}">
                  <a16:creationId xmlns:a16="http://schemas.microsoft.com/office/drawing/2014/main" id="{02A5BDEE-2C06-4904-8C5E-BE9BDEB365C3}"/>
                </a:ext>
              </a:extLst>
            </p:cNvPr>
            <p:cNvGrpSpPr>
              <a:grpSpLocks/>
            </p:cNvGrpSpPr>
            <p:nvPr/>
          </p:nvGrpSpPr>
          <p:grpSpPr bwMode="auto">
            <a:xfrm>
              <a:off x="4656" y="2880"/>
              <a:ext cx="864" cy="288"/>
              <a:chOff x="4176" y="3168"/>
              <a:chExt cx="864" cy="288"/>
            </a:xfrm>
          </p:grpSpPr>
          <p:sp>
            <p:nvSpPr>
              <p:cNvPr id="69" name="Rectangle 27">
                <a:extLst>
                  <a:ext uri="{FF2B5EF4-FFF2-40B4-BE49-F238E27FC236}">
                    <a16:creationId xmlns:a16="http://schemas.microsoft.com/office/drawing/2014/main" id="{69ACF49E-C7D8-4B93-A876-F3190BA857A6}"/>
                  </a:ext>
                </a:extLst>
              </p:cNvPr>
              <p:cNvSpPr>
                <a:spLocks noChangeArrowheads="1"/>
              </p:cNvSpPr>
              <p:nvPr/>
            </p:nvSpPr>
            <p:spPr bwMode="auto">
              <a:xfrm>
                <a:off x="4176" y="3168"/>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2400">
                    <a:latin typeface="Plantagenet Cherokee" panose="02020602070100000000" pitchFamily="18" charset="0"/>
                    <a:ea typeface="+mj-ea"/>
                  </a:rPr>
                  <a:t>id</a:t>
                </a:r>
              </a:p>
            </p:txBody>
          </p:sp>
          <p:sp>
            <p:nvSpPr>
              <p:cNvPr id="70" name="Rectangle 28">
                <a:extLst>
                  <a:ext uri="{FF2B5EF4-FFF2-40B4-BE49-F238E27FC236}">
                    <a16:creationId xmlns:a16="http://schemas.microsoft.com/office/drawing/2014/main" id="{F089B3DC-4749-4376-AB32-253553A20D4A}"/>
                  </a:ext>
                </a:extLst>
              </p:cNvPr>
              <p:cNvSpPr>
                <a:spLocks noChangeArrowheads="1"/>
              </p:cNvSpPr>
              <p:nvPr/>
            </p:nvSpPr>
            <p:spPr bwMode="auto">
              <a:xfrm>
                <a:off x="4608" y="3168"/>
                <a:ext cx="432" cy="288"/>
              </a:xfrm>
              <a:prstGeom prst="rect">
                <a:avLst/>
              </a:prstGeom>
              <a:solidFill>
                <a:srgbClr val="FFCC99"/>
              </a:solidFill>
              <a:ln w="28575">
                <a:solidFill>
                  <a:srgbClr val="FF3300"/>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endParaRPr kumimoji="1" lang="en-US" altLang="zh-CN" sz="2400">
                  <a:latin typeface="Plantagenet Cherokee" panose="02020602070100000000" pitchFamily="18" charset="0"/>
                  <a:ea typeface="+mj-ea"/>
                </a:endParaRPr>
              </a:p>
            </p:txBody>
          </p:sp>
        </p:grpSp>
        <p:sp>
          <p:nvSpPr>
            <p:cNvPr id="67" name="Line 59">
              <a:extLst>
                <a:ext uri="{FF2B5EF4-FFF2-40B4-BE49-F238E27FC236}">
                  <a16:creationId xmlns:a16="http://schemas.microsoft.com/office/drawing/2014/main" id="{D8893016-0D2A-440C-9C85-BC58D784AB5E}"/>
                </a:ext>
              </a:extLst>
            </p:cNvPr>
            <p:cNvSpPr>
              <a:spLocks noChangeShapeType="1"/>
            </p:cNvSpPr>
            <p:nvPr/>
          </p:nvSpPr>
          <p:spPr bwMode="auto">
            <a:xfrm>
              <a:off x="5088" y="1968"/>
              <a:ext cx="0" cy="864"/>
            </a:xfrm>
            <a:prstGeom prst="line">
              <a:avLst/>
            </a:prstGeom>
            <a:noFill/>
            <a:ln w="38100">
              <a:solidFill>
                <a:srgbClr val="339933"/>
              </a:solidFill>
              <a:prstDash val="dash"/>
              <a:round/>
              <a:headEn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68" name="Rectangle 84">
              <a:extLst>
                <a:ext uri="{FF2B5EF4-FFF2-40B4-BE49-F238E27FC236}">
                  <a16:creationId xmlns:a16="http://schemas.microsoft.com/office/drawing/2014/main" id="{984102EC-5E33-4B0F-B0E0-BEBC17FBE320}"/>
                </a:ext>
              </a:extLst>
            </p:cNvPr>
            <p:cNvSpPr>
              <a:spLocks noChangeArrowheads="1"/>
            </p:cNvSpPr>
            <p:nvPr/>
          </p:nvSpPr>
          <p:spPr bwMode="auto">
            <a:xfrm>
              <a:off x="4785" y="1706"/>
              <a:ext cx="4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prstDash val="dash"/>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800" dirty="0">
                  <a:solidFill>
                    <a:srgbClr val="FF3300"/>
                  </a:solidFill>
                  <a:latin typeface="Plantagenet Cherokee" panose="02020602070100000000" pitchFamily="18" charset="0"/>
                  <a:ea typeface="+mj-ea"/>
                </a:rPr>
                <a:t>.node</a:t>
              </a:r>
            </a:p>
          </p:txBody>
        </p:sp>
      </p:grpSp>
      <p:grpSp>
        <p:nvGrpSpPr>
          <p:cNvPr id="71" name="Group 86">
            <a:extLst>
              <a:ext uri="{FF2B5EF4-FFF2-40B4-BE49-F238E27FC236}">
                <a16:creationId xmlns:a16="http://schemas.microsoft.com/office/drawing/2014/main" id="{A38DBF2B-4211-4CEB-90F0-83A9D05F4CD3}"/>
              </a:ext>
            </a:extLst>
          </p:cNvPr>
          <p:cNvGrpSpPr>
            <a:grpSpLocks/>
          </p:cNvGrpSpPr>
          <p:nvPr/>
        </p:nvGrpSpPr>
        <p:grpSpPr bwMode="auto">
          <a:xfrm>
            <a:off x="6540730" y="4951194"/>
            <a:ext cx="1905000" cy="1066800"/>
            <a:chOff x="4464" y="3024"/>
            <a:chExt cx="1200" cy="672"/>
          </a:xfrm>
        </p:grpSpPr>
        <p:sp>
          <p:nvSpPr>
            <p:cNvPr id="72" name="Rectangle 58">
              <a:extLst>
                <a:ext uri="{FF2B5EF4-FFF2-40B4-BE49-F238E27FC236}">
                  <a16:creationId xmlns:a16="http://schemas.microsoft.com/office/drawing/2014/main" id="{D5EF9551-A428-48E1-BBAA-9EBD1BF1A6D7}"/>
                </a:ext>
              </a:extLst>
            </p:cNvPr>
            <p:cNvSpPr>
              <a:spLocks noChangeArrowheads="1"/>
            </p:cNvSpPr>
            <p:nvPr/>
          </p:nvSpPr>
          <p:spPr bwMode="auto">
            <a:xfrm>
              <a:off x="4464" y="3360"/>
              <a:ext cx="120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lang="en-US" altLang="zh-CN" sz="2200">
                  <a:latin typeface="Plantagenet Cherokee" panose="02020602070100000000" pitchFamily="18" charset="0"/>
                  <a:ea typeface="+mj-ea"/>
                </a:rPr>
                <a:t>To entry for c</a:t>
              </a:r>
              <a:endParaRPr lang="en-US" altLang="zh-CN" sz="2200" baseline="-30000">
                <a:latin typeface="Plantagenet Cherokee" panose="02020602070100000000" pitchFamily="18" charset="0"/>
                <a:ea typeface="+mj-ea"/>
              </a:endParaRPr>
            </a:p>
          </p:txBody>
        </p:sp>
        <p:sp>
          <p:nvSpPr>
            <p:cNvPr id="73" name="Line 57">
              <a:extLst>
                <a:ext uri="{FF2B5EF4-FFF2-40B4-BE49-F238E27FC236}">
                  <a16:creationId xmlns:a16="http://schemas.microsoft.com/office/drawing/2014/main" id="{13DE28F3-48FF-4171-A333-2AEFA95BDBE6}"/>
                </a:ext>
              </a:extLst>
            </p:cNvPr>
            <p:cNvSpPr>
              <a:spLocks noChangeShapeType="1"/>
            </p:cNvSpPr>
            <p:nvPr/>
          </p:nvSpPr>
          <p:spPr bwMode="auto">
            <a:xfrm>
              <a:off x="5280" y="3024"/>
              <a:ext cx="0" cy="336"/>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grpSp>
        <p:nvGrpSpPr>
          <p:cNvPr id="74" name="Group 89">
            <a:extLst>
              <a:ext uri="{FF2B5EF4-FFF2-40B4-BE49-F238E27FC236}">
                <a16:creationId xmlns:a16="http://schemas.microsoft.com/office/drawing/2014/main" id="{48D05012-8C44-46F2-9EC5-F8135D270E05}"/>
              </a:ext>
            </a:extLst>
          </p:cNvPr>
          <p:cNvGrpSpPr>
            <a:grpSpLocks/>
          </p:cNvGrpSpPr>
          <p:nvPr/>
        </p:nvGrpSpPr>
        <p:grpSpPr bwMode="auto">
          <a:xfrm>
            <a:off x="3035530" y="3884394"/>
            <a:ext cx="4343400" cy="838200"/>
            <a:chOff x="2256" y="2352"/>
            <a:chExt cx="2736" cy="528"/>
          </a:xfrm>
        </p:grpSpPr>
        <p:sp>
          <p:nvSpPr>
            <p:cNvPr id="75" name="Line 54">
              <a:extLst>
                <a:ext uri="{FF2B5EF4-FFF2-40B4-BE49-F238E27FC236}">
                  <a16:creationId xmlns:a16="http://schemas.microsoft.com/office/drawing/2014/main" id="{E0849233-C6FB-4783-8602-B736B9652EA2}"/>
                </a:ext>
              </a:extLst>
            </p:cNvPr>
            <p:cNvSpPr>
              <a:spLocks noChangeShapeType="1"/>
            </p:cNvSpPr>
            <p:nvPr/>
          </p:nvSpPr>
          <p:spPr bwMode="auto">
            <a:xfrm flipH="1">
              <a:off x="2256" y="2352"/>
              <a:ext cx="1584" cy="480"/>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sp>
          <p:nvSpPr>
            <p:cNvPr id="76" name="Line 55">
              <a:extLst>
                <a:ext uri="{FF2B5EF4-FFF2-40B4-BE49-F238E27FC236}">
                  <a16:creationId xmlns:a16="http://schemas.microsoft.com/office/drawing/2014/main" id="{BEA3AB8D-59D3-4EE5-8190-F4169C447D92}"/>
                </a:ext>
              </a:extLst>
            </p:cNvPr>
            <p:cNvSpPr>
              <a:spLocks noChangeShapeType="1"/>
            </p:cNvSpPr>
            <p:nvPr/>
          </p:nvSpPr>
          <p:spPr bwMode="auto">
            <a:xfrm>
              <a:off x="4224" y="2352"/>
              <a:ext cx="768" cy="528"/>
            </a:xfrm>
            <a:prstGeom prst="line">
              <a:avLst/>
            </a:prstGeom>
            <a:noFill/>
            <a:ln w="38100">
              <a:solidFill>
                <a:srgbClr val="0000FF"/>
              </a:solidFill>
              <a:round/>
              <a:headEnd type="oval" w="med" len="me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Plantagenet Cherokee" panose="02020602070100000000" pitchFamily="18" charset="0"/>
                <a:ea typeface="+mj-ea"/>
              </a:endParaRPr>
            </a:p>
          </p:txBody>
        </p:sp>
      </p:grpSp>
      <p:sp>
        <p:nvSpPr>
          <p:cNvPr id="77" name="标题 2">
            <a:extLst>
              <a:ext uri="{FF2B5EF4-FFF2-40B4-BE49-F238E27FC236}">
                <a16:creationId xmlns:a16="http://schemas.microsoft.com/office/drawing/2014/main" id="{422C1831-8618-461C-BCB3-9B3490C79072}"/>
              </a:ext>
            </a:extLst>
          </p:cNvPr>
          <p:cNvSpPr txBox="1">
            <a:spLocks/>
          </p:cNvSpPr>
          <p:nvPr/>
        </p:nvSpPr>
        <p:spPr bwMode="auto">
          <a:xfrm>
            <a:off x="370117" y="171965"/>
            <a:ext cx="7886700" cy="1325563"/>
          </a:xfrm>
          <a:prstGeom prst="rect">
            <a:avLst/>
          </a:prstGeom>
        </p:spPr>
        <p:txBody>
          <a:bodyPr>
            <a:normAutofit/>
          </a:bodyPr>
          <a:lstStyle>
            <a:lvl1pPr algn="l" defTabSz="914400">
              <a:lnSpc>
                <a:spcPct val="90000"/>
              </a:lnSpc>
              <a:spcBef>
                <a:spcPts val="0"/>
              </a:spcBef>
              <a:buNone/>
              <a:defRPr sz="4400">
                <a:solidFill>
                  <a:schemeClr val="tx1"/>
                </a:solidFill>
                <a:latin typeface="Ubuntu Mono derivative Powerlin"/>
                <a:ea typeface="+mj-ea"/>
                <a:cs typeface="+mj-cs"/>
              </a:defRPr>
            </a:lvl1pPr>
          </a:lstStyle>
          <a:p>
            <a:r>
              <a:rPr lang="en-US" altLang="zh-CN" sz="3600" dirty="0">
                <a:latin typeface="Palatino Linotype" panose="02040502050505030304" charset="0"/>
              </a:rPr>
              <a:t>Construction of Syntax Tree (4)</a:t>
            </a:r>
            <a:endParaRPr lang="zh-CN" altLang="en-US" sz="3600" dirty="0">
              <a:latin typeface="Palatino Linotype" panose="02040502050505030304" charset="0"/>
            </a:endParaRPr>
          </a:p>
        </p:txBody>
      </p:sp>
      <p:sp>
        <p:nvSpPr>
          <p:cNvPr id="78" name="内容占位符 3">
            <a:extLst>
              <a:ext uri="{FF2B5EF4-FFF2-40B4-BE49-F238E27FC236}">
                <a16:creationId xmlns:a16="http://schemas.microsoft.com/office/drawing/2014/main" id="{FC629EC7-AC84-4C91-8684-F701DBB52378}"/>
              </a:ext>
            </a:extLst>
          </p:cNvPr>
          <p:cNvSpPr txBox="1">
            <a:spLocks/>
          </p:cNvSpPr>
          <p:nvPr/>
        </p:nvSpPr>
        <p:spPr bwMode="auto">
          <a:xfrm>
            <a:off x="199459" y="871515"/>
            <a:ext cx="7886700" cy="4351338"/>
          </a:xfrm>
          <a:prstGeom prst="rect">
            <a:avLst/>
          </a:prstGeom>
        </p:spPr>
        <p:txBody>
          <a:bodyPr>
            <a:normAutofit/>
          </a:bodyPr>
          <a:lst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a:lstStyle>
          <a:p>
            <a:pPr marL="0" indent="0" rtl="0" eaLnBrk="0">
              <a:spcBef>
                <a:spcPts val="0"/>
              </a:spcBef>
              <a:buFont typeface="Arial" panose="020B0604020202020204"/>
              <a:buNone/>
            </a:pPr>
            <a:r>
              <a:rPr lang="en-US" altLang="zh-CN" sz="1800" b="1" dirty="0">
                <a:solidFill>
                  <a:srgbClr val="0432FF"/>
                </a:solidFill>
                <a:latin typeface="PalatinoLinotype-Bold"/>
              </a:rPr>
              <a:t>Input expression: </a:t>
            </a:r>
            <a:r>
              <a:rPr lang="en-US" altLang="zh-CN" sz="1800" dirty="0">
                <a:solidFill>
                  <a:srgbClr val="FF0000"/>
                </a:solidFill>
                <a:latin typeface="Cambria Math" panose="02040503050406030204" pitchFamily="18" charset="0"/>
              </a:rPr>
              <a:t>a – 4 + c</a:t>
            </a:r>
          </a:p>
          <a:p>
            <a:pPr marL="0" indent="0" rtl="0" eaLnBrk="0">
              <a:spcBef>
                <a:spcPts val="0"/>
              </a:spcBef>
              <a:buFont typeface="Arial" panose="020B0604020202020204"/>
              <a:buNone/>
            </a:pPr>
            <a:r>
              <a:rPr lang="en-US" altLang="zh-CN" sz="1800" b="1" dirty="0">
                <a:solidFill>
                  <a:srgbClr val="0432FF"/>
                </a:solidFill>
                <a:latin typeface="PalatinoLinotype-Bold"/>
              </a:rPr>
              <a:t>Steps (bottom-up evaluation):</a:t>
            </a:r>
            <a:endParaRPr lang="en-US" sz="1800" dirty="0">
              <a:solidFill>
                <a:srgbClr val="0331FF"/>
              </a:solidFill>
              <a:latin typeface="Palatino Linotype" panose="02040502050505030304" charset="0"/>
              <a:ea typeface="Palatino Linotype" panose="02040502050505030304"/>
              <a:cs typeface="Palatino Linotype" panose="02040502050505030304"/>
              <a:sym typeface="+mn-ea"/>
            </a:endParaRPr>
          </a:p>
        </p:txBody>
      </p:sp>
      <p:pic>
        <p:nvPicPr>
          <p:cNvPr id="79" name="图片 78">
            <a:extLst>
              <a:ext uri="{FF2B5EF4-FFF2-40B4-BE49-F238E27FC236}">
                <a16:creationId xmlns:a16="http://schemas.microsoft.com/office/drawing/2014/main" id="{8A791E03-5561-44D2-93A5-23C2B65CA524}"/>
              </a:ext>
            </a:extLst>
          </p:cNvPr>
          <p:cNvPicPr>
            <a:picLocks noChangeAspect="1"/>
          </p:cNvPicPr>
          <p:nvPr/>
        </p:nvPicPr>
        <p:blipFill>
          <a:blip r:embed="rId3"/>
          <a:stretch>
            <a:fillRect/>
          </a:stretch>
        </p:blipFill>
        <p:spPr bwMode="auto">
          <a:xfrm>
            <a:off x="5344141" y="685974"/>
            <a:ext cx="3600400" cy="1557749"/>
          </a:xfrm>
          <a:prstGeom prst="rect">
            <a:avLst/>
          </a:prstGeom>
        </p:spPr>
      </p:pic>
    </p:spTree>
    <p:extLst>
      <p:ext uri="{BB962C8B-B14F-4D97-AF65-F5344CB8AC3E}">
        <p14:creationId xmlns:p14="http://schemas.microsoft.com/office/powerpoint/2010/main" val="203493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up)">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up)">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wipe(right)">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wipe(up)">
                                      <p:cBhvr>
                                        <p:cTn id="44" dur="500"/>
                                        <p:tgtEl>
                                          <p:spTgt spid="4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down)">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wipe(up)">
                                      <p:cBhvr>
                                        <p:cTn id="54" dur="500"/>
                                        <p:tgtEl>
                                          <p:spTgt spid="5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wipe(up)">
                                      <p:cBhvr>
                                        <p:cTn id="59" dur="500"/>
                                        <p:tgtEl>
                                          <p:spTgt spid="57"/>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60"/>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down)">
                                      <p:cBhvr>
                                        <p:cTn id="68" dur="500"/>
                                        <p:tgtEl>
                                          <p:spTgt spid="1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wipe(down)">
                                      <p:cBhvr>
                                        <p:cTn id="73" dur="500"/>
                                        <p:tgtEl>
                                          <p:spTgt spid="2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wipe(down)">
                                      <p:cBhvr>
                                        <p:cTn id="78" dur="500"/>
                                        <p:tgtEl>
                                          <p:spTgt spid="18"/>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65"/>
                                        </p:tgtEl>
                                        <p:attrNameLst>
                                          <p:attrName>style.visibility</p:attrName>
                                        </p:attrNameLst>
                                      </p:cBhvr>
                                      <p:to>
                                        <p:strVal val="visible"/>
                                      </p:to>
                                    </p:set>
                                    <p:animEffect transition="in" filter="wipe(up)">
                                      <p:cBhvr>
                                        <p:cTn id="83" dur="500"/>
                                        <p:tgtEl>
                                          <p:spTgt spid="65"/>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71"/>
                                        </p:tgtEl>
                                        <p:attrNameLst>
                                          <p:attrName>style.visibility</p:attrName>
                                        </p:attrNameLst>
                                      </p:cBhvr>
                                      <p:to>
                                        <p:strVal val="visible"/>
                                      </p:to>
                                    </p:set>
                                    <p:animEffect transition="in" filter="wipe(up)">
                                      <p:cBhvr>
                                        <p:cTn id="88" dur="500"/>
                                        <p:tgtEl>
                                          <p:spTgt spid="71"/>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nodeType="clickEffect">
                                  <p:stCondLst>
                                    <p:cond delay="0"/>
                                  </p:stCondLst>
                                  <p:childTnLst>
                                    <p:set>
                                      <p:cBhvr>
                                        <p:cTn id="92" dur="1" fill="hold">
                                          <p:stCondLst>
                                            <p:cond delay="0"/>
                                          </p:stCondLst>
                                        </p:cTn>
                                        <p:tgtEl>
                                          <p:spTgt spid="61"/>
                                        </p:tgtEl>
                                        <p:attrNameLst>
                                          <p:attrName>style.visibility</p:attrName>
                                        </p:attrNameLst>
                                      </p:cBhvr>
                                      <p:to>
                                        <p:strVal val="visible"/>
                                      </p:to>
                                    </p:set>
                                    <p:animEffect transition="in" filter="wipe(down)">
                                      <p:cBhvr>
                                        <p:cTn id="93" dur="500"/>
                                        <p:tgtEl>
                                          <p:spTgt spid="61"/>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5"/>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wipe(up)">
                                      <p:cBhvr>
                                        <p:cTn id="102" dur="500"/>
                                        <p:tgtEl>
                                          <p:spTgt spid="3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74"/>
                                        </p:tgtEl>
                                        <p:attrNameLst>
                                          <p:attrName>style.visibility</p:attrName>
                                        </p:attrNameLst>
                                      </p:cBhvr>
                                      <p:to>
                                        <p:strVal val="visible"/>
                                      </p:to>
                                    </p:set>
                                    <p:animEffect transition="in" filter="wipe(up)">
                                      <p:cBhvr>
                                        <p:cTn id="10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8" grpId="0"/>
      <p:bldP spid="19" grpId="0"/>
      <p:bldP spid="20" grpId="0" animBg="1"/>
      <p:bldP spid="40" grpId="0"/>
      <p:bldP spid="41" grpId="0"/>
      <p:bldP spid="42" grpId="0" animBg="1"/>
      <p:bldP spid="60" grpId="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40</a:t>
            </a:fld>
            <a:endParaRPr/>
          </a:p>
        </p:txBody>
      </p:sp>
      <p:pic>
        <p:nvPicPr>
          <p:cNvPr id="7" name="图片 6">
            <a:extLst>
              <a:ext uri="{FF2B5EF4-FFF2-40B4-BE49-F238E27FC236}">
                <a16:creationId xmlns:a16="http://schemas.microsoft.com/office/drawing/2014/main" id="{2EC6D2B7-6E28-A858-74FC-818275014AA1}"/>
              </a:ext>
            </a:extLst>
          </p:cNvPr>
          <p:cNvPicPr>
            <a:picLocks noChangeAspect="1"/>
          </p:cNvPicPr>
          <p:nvPr/>
        </p:nvPicPr>
        <p:blipFill>
          <a:blip r:embed="rId3"/>
          <a:stretch>
            <a:fillRect/>
          </a:stretch>
        </p:blipFill>
        <p:spPr>
          <a:xfrm>
            <a:off x="179512" y="404664"/>
            <a:ext cx="6030338" cy="4788961"/>
          </a:xfrm>
          <a:prstGeom prst="rect">
            <a:avLst/>
          </a:prstGeom>
        </p:spPr>
      </p:pic>
      <p:pic>
        <p:nvPicPr>
          <p:cNvPr id="9" name="图片 8">
            <a:extLst>
              <a:ext uri="{FF2B5EF4-FFF2-40B4-BE49-F238E27FC236}">
                <a16:creationId xmlns:a16="http://schemas.microsoft.com/office/drawing/2014/main" id="{A7E9B8D7-66FF-9922-39A1-EBFF2687313B}"/>
              </a:ext>
            </a:extLst>
          </p:cNvPr>
          <p:cNvPicPr>
            <a:picLocks noChangeAspect="1"/>
          </p:cNvPicPr>
          <p:nvPr/>
        </p:nvPicPr>
        <p:blipFill>
          <a:blip r:embed="rId4"/>
          <a:stretch>
            <a:fillRect/>
          </a:stretch>
        </p:blipFill>
        <p:spPr>
          <a:xfrm>
            <a:off x="4932040" y="5193625"/>
            <a:ext cx="3857625" cy="9429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sz="3600" b="1" noProof="0" dirty="0">
                <a:ln>
                  <a:noFill/>
                </a:ln>
                <a:solidFill>
                  <a:sysClr val="windowText" lastClr="000000"/>
                </a:solidFill>
                <a:effectLst/>
                <a:uLnTx/>
                <a:uFillTx/>
                <a:latin typeface="Palatino Linotype" panose="02040502050505030304" charset="0"/>
                <a:cs typeface="Palatino Linotype" panose="02040502050505030304"/>
              </a:rPr>
              <a:t>Outline</a:t>
            </a:r>
            <a:endParaRPr lang="en-US" altLang="en-US" sz="3600" b="1" noProof="0" dirty="0">
              <a:ln>
                <a:noFill/>
              </a:ln>
              <a:solidFill>
                <a:sysClr val="windowText" lastClr="000000"/>
              </a:solidFill>
              <a:effectLst/>
              <a:uLnTx/>
              <a:uFillTx/>
              <a:latin typeface="Palatino Linotype" panose="02040502050505030304" charset="0"/>
              <a:cs typeface="Palatino Linotype" panose="02040502050505030304"/>
            </a:endParaRPr>
          </a:p>
        </p:txBody>
      </p:sp>
      <p:sp>
        <p:nvSpPr>
          <p:cNvPr id="4" name="内容占位符 3"/>
          <p:cNvSpPr>
            <a:spLocks noGrp="1"/>
          </p:cNvSpPr>
          <p:nvPr>
            <p:ph idx="1"/>
          </p:nvPr>
        </p:nvSpPr>
        <p:spPr/>
        <p:txBody>
          <a:bodyPr>
            <a:normAutofit fontScale="67500" lnSpcReduction="20000"/>
          </a:bodyPr>
          <a:lstStyle/>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Syntax-Directed Definitions</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Evaluation Orders for SDD’s</a:t>
            </a: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effectLst/>
                <a:uLnTx/>
                <a:uFillTx/>
                <a:latin typeface="Palatino Linotype" panose="02040502050505030304" charset="0"/>
                <a:ea typeface="+mj-ea"/>
                <a:cs typeface="Palatino Linotype" panose="02040502050505030304"/>
                <a:sym typeface="+mn-ea"/>
              </a:rPr>
              <a:t>Applications of Syntax-Directed Translation</a:t>
            </a: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Syntax-Directed Translation Schemes</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Implementing L-Attributed SDD’s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41</a:t>
            </a:fld>
            <a:endParaRPr/>
          </a:p>
        </p:txBody>
      </p:sp>
      <p:sp>
        <p:nvSpPr>
          <p:cNvPr id="2" name="矩形 1">
            <a:extLst>
              <a:ext uri="{FF2B5EF4-FFF2-40B4-BE49-F238E27FC236}">
                <a16:creationId xmlns:a16="http://schemas.microsoft.com/office/drawing/2014/main" id="{22F310C4-EE5B-4511-C46D-8427011DFC20}"/>
              </a:ext>
            </a:extLst>
          </p:cNvPr>
          <p:cNvSpPr/>
          <p:nvPr/>
        </p:nvSpPr>
        <p:spPr>
          <a:xfrm>
            <a:off x="5508104" y="2492896"/>
            <a:ext cx="2952328" cy="7200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BCD63C56-B4FC-8B29-415B-D800B03EDF91}"/>
              </a:ext>
            </a:extLst>
          </p:cNvPr>
          <p:cNvSpPr txBox="1"/>
          <p:nvPr/>
        </p:nvSpPr>
        <p:spPr>
          <a:xfrm>
            <a:off x="5527526" y="2509345"/>
            <a:ext cx="2987824" cy="646331"/>
          </a:xfrm>
          <a:prstGeom prst="rect">
            <a:avLst/>
          </a:prstGeom>
          <a:noFill/>
        </p:spPr>
        <p:txBody>
          <a:bodyPr wrap="square">
            <a:spAutoFit/>
          </a:bodyPr>
          <a:lstStyle/>
          <a:p>
            <a:r>
              <a:rPr lang="en-US" altLang="zh-CN" dirty="0">
                <a:solidFill>
                  <a:schemeClr val="bg1">
                    <a:lumMod val="65000"/>
                  </a:schemeClr>
                </a:solidFill>
                <a:effectLst/>
                <a:latin typeface="Arial" panose="020B0604020202020204" pitchFamily="34" charset="0"/>
              </a:rPr>
              <a:t>• </a:t>
            </a:r>
            <a:r>
              <a:rPr lang="en-US" altLang="zh-CN" dirty="0">
                <a:solidFill>
                  <a:schemeClr val="bg2">
                    <a:lumMod val="50000"/>
                  </a:schemeClr>
                </a:solidFill>
                <a:effectLst/>
                <a:latin typeface="Palatino Linotype" panose="02040502050505030304" pitchFamily="18" charset="0"/>
              </a:rPr>
              <a:t>Constructing Syntax tree </a:t>
            </a:r>
            <a:endParaRPr lang="en-US" altLang="zh-CN" dirty="0">
              <a:solidFill>
                <a:schemeClr val="bg2">
                  <a:lumMod val="50000"/>
                </a:schemeClr>
              </a:solidFill>
            </a:endParaRPr>
          </a:p>
          <a:p>
            <a:r>
              <a:rPr lang="en-US" altLang="zh-CN" dirty="0">
                <a:effectLst/>
                <a:latin typeface="Arial" panose="020B0604020202020204" pitchFamily="34" charset="0"/>
              </a:rPr>
              <a:t>• </a:t>
            </a:r>
            <a:r>
              <a:rPr lang="en-US" altLang="zh-CN" dirty="0">
                <a:effectLst/>
                <a:latin typeface="Palatino Linotype" panose="02040502050505030304" pitchFamily="18" charset="0"/>
              </a:rPr>
              <a:t>The Structure of a Type</a:t>
            </a:r>
            <a:endParaRPr lang="zh-CN" altLang="en-US" dirty="0"/>
          </a:p>
        </p:txBody>
      </p:sp>
      <p:cxnSp>
        <p:nvCxnSpPr>
          <p:cNvPr id="8" name="直接箭头连接符 7">
            <a:extLst>
              <a:ext uri="{FF2B5EF4-FFF2-40B4-BE49-F238E27FC236}">
                <a16:creationId xmlns:a16="http://schemas.microsoft.com/office/drawing/2014/main" id="{27EB8AF0-1FA9-1B51-3D6A-E53AB77D9AE6}"/>
              </a:ext>
            </a:extLst>
          </p:cNvPr>
          <p:cNvCxnSpPr/>
          <p:nvPr/>
        </p:nvCxnSpPr>
        <p:spPr>
          <a:xfrm flipV="1">
            <a:off x="6300192" y="3212976"/>
            <a:ext cx="72008" cy="5040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4475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Computing the Structure of a Type</a:t>
            </a:r>
            <a:endParaRPr lang="zh-CN" altLang="en-US" sz="3600" dirty="0">
              <a:latin typeface="Palatino Linotype" panose="02040502050505030304" charset="0"/>
            </a:endParaRPr>
          </a:p>
        </p:txBody>
      </p:sp>
      <p:sp>
        <p:nvSpPr>
          <p:cNvPr id="9" name="矩形 8">
            <a:extLst>
              <a:ext uri="{FF2B5EF4-FFF2-40B4-BE49-F238E27FC236}">
                <a16:creationId xmlns:a16="http://schemas.microsoft.com/office/drawing/2014/main" id="{804CB879-79C6-8852-DD5C-369A888C6A64}"/>
              </a:ext>
            </a:extLst>
          </p:cNvPr>
          <p:cNvSpPr/>
          <p:nvPr/>
        </p:nvSpPr>
        <p:spPr>
          <a:xfrm>
            <a:off x="628650" y="1916832"/>
            <a:ext cx="2791222" cy="50405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00">
                <a:solidFill>
                  <a:srgbClr val="000000"/>
                </a:solidFill>
                <a:effectLst/>
                <a:latin typeface="Consolas" panose="020B0609020204030204" pitchFamily="49" charset="0"/>
              </a:rPr>
              <a:t>int[2][3] </a:t>
            </a:r>
            <a:r>
              <a:rPr lang="en-US" altLang="zh-CN" sz="1800">
                <a:solidFill>
                  <a:srgbClr val="FF0000"/>
                </a:solidFill>
                <a:effectLst/>
                <a:latin typeface="Consolas" panose="020B0609020204030204" pitchFamily="49" charset="0"/>
              </a:rPr>
              <a:t>a </a:t>
            </a:r>
            <a:r>
              <a:rPr lang="en-US" altLang="zh-CN" sz="1800">
                <a:solidFill>
                  <a:srgbClr val="000000"/>
                </a:solidFill>
                <a:effectLst/>
                <a:latin typeface="Consolas" panose="020B0609020204030204" pitchFamily="49" charset="0"/>
              </a:rPr>
              <a:t>= ...;</a:t>
            </a:r>
            <a:endParaRPr lang="zh-CN" altLang="en-US"/>
          </a:p>
        </p:txBody>
      </p:sp>
      <p:sp>
        <p:nvSpPr>
          <p:cNvPr id="11" name="文本框 10">
            <a:extLst>
              <a:ext uri="{FF2B5EF4-FFF2-40B4-BE49-F238E27FC236}">
                <a16:creationId xmlns:a16="http://schemas.microsoft.com/office/drawing/2014/main" id="{1ADA6375-AD58-DA76-D502-45F85AC7A736}"/>
              </a:ext>
            </a:extLst>
          </p:cNvPr>
          <p:cNvSpPr txBox="1"/>
          <p:nvPr/>
        </p:nvSpPr>
        <p:spPr>
          <a:xfrm>
            <a:off x="3829050" y="1968805"/>
            <a:ext cx="4572000" cy="400110"/>
          </a:xfrm>
          <a:prstGeom prst="rect">
            <a:avLst/>
          </a:prstGeom>
          <a:noFill/>
        </p:spPr>
        <p:txBody>
          <a:bodyPr wrap="square">
            <a:spAutoFit/>
          </a:bodyPr>
          <a:lstStyle/>
          <a:p>
            <a:r>
              <a:rPr lang="en-US" altLang="zh-CN" sz="2000" dirty="0">
                <a:solidFill>
                  <a:srgbClr val="000000"/>
                </a:solidFill>
                <a:effectLst/>
                <a:latin typeface="Palatino Linotype" panose="02040502050505030304" pitchFamily="18" charset="0"/>
              </a:rPr>
              <a:t>What is the type of </a:t>
            </a:r>
            <a:r>
              <a:rPr lang="en-US" altLang="zh-CN" sz="2000" dirty="0">
                <a:solidFill>
                  <a:srgbClr val="FF0000"/>
                </a:solidFill>
                <a:effectLst/>
                <a:latin typeface="Consolas" panose="020B0609020204030204" pitchFamily="49" charset="0"/>
              </a:rPr>
              <a:t>a</a:t>
            </a:r>
            <a:r>
              <a:rPr lang="en-US" altLang="zh-CN" sz="2000" dirty="0">
                <a:solidFill>
                  <a:srgbClr val="000000"/>
                </a:solidFill>
                <a:effectLst/>
                <a:latin typeface="Palatino Linotype" panose="02040502050505030304" pitchFamily="18" charset="0"/>
              </a:rPr>
              <a:t>?</a:t>
            </a:r>
            <a:endParaRPr lang="zh-CN" altLang="en-US" sz="2000" dirty="0"/>
          </a:p>
        </p:txBody>
      </p:sp>
      <p:pic>
        <p:nvPicPr>
          <p:cNvPr id="15" name="图片 14">
            <a:extLst>
              <a:ext uri="{FF2B5EF4-FFF2-40B4-BE49-F238E27FC236}">
                <a16:creationId xmlns:a16="http://schemas.microsoft.com/office/drawing/2014/main" id="{09017501-C340-0D99-3218-FDB6EE354010}"/>
              </a:ext>
            </a:extLst>
          </p:cNvPr>
          <p:cNvPicPr>
            <a:picLocks noChangeAspect="1"/>
          </p:cNvPicPr>
          <p:nvPr/>
        </p:nvPicPr>
        <p:blipFill>
          <a:blip r:embed="rId3"/>
          <a:stretch>
            <a:fillRect/>
          </a:stretch>
        </p:blipFill>
        <p:spPr>
          <a:xfrm>
            <a:off x="6804248" y="1616410"/>
            <a:ext cx="866775" cy="1104900"/>
          </a:xfrm>
          <a:prstGeom prst="rect">
            <a:avLst/>
          </a:prstGeom>
        </p:spPr>
      </p:pic>
      <p:sp>
        <p:nvSpPr>
          <p:cNvPr id="2" name="文本框 1">
            <a:extLst>
              <a:ext uri="{FF2B5EF4-FFF2-40B4-BE49-F238E27FC236}">
                <a16:creationId xmlns:a16="http://schemas.microsoft.com/office/drawing/2014/main" id="{D13AEF27-9C8D-61B6-D014-800C42140AB9}"/>
              </a:ext>
            </a:extLst>
          </p:cNvPr>
          <p:cNvSpPr txBox="1"/>
          <p:nvPr/>
        </p:nvSpPr>
        <p:spPr bwMode="auto">
          <a:xfrm>
            <a:off x="628650" y="3429000"/>
            <a:ext cx="4572000" cy="400110"/>
          </a:xfrm>
          <a:prstGeom prst="rect">
            <a:avLst/>
          </a:prstGeom>
          <a:noFill/>
        </p:spPr>
        <p:txBody>
          <a:bodyPr wrap="square">
            <a:spAutoFit/>
          </a:bodyPr>
          <a:lstStyle/>
          <a:p>
            <a:pPr marL="342900" indent="-342900">
              <a:buFont typeface="Arial" panose="020B0604020202020204" pitchFamily="34" charset="0"/>
              <a:buChar char="•"/>
            </a:pPr>
            <a:r>
              <a:rPr lang="en-US" altLang="zh-CN" sz="2000" dirty="0">
                <a:solidFill>
                  <a:srgbClr val="000000"/>
                </a:solidFill>
                <a:effectLst/>
                <a:latin typeface="Palatino Linotype" panose="02040502050505030304" pitchFamily="18" charset="0"/>
              </a:rPr>
              <a:t>Leave</a:t>
            </a:r>
            <a:r>
              <a:rPr lang="zh-CN" altLang="en-US" sz="2000" dirty="0">
                <a:solidFill>
                  <a:srgbClr val="000000"/>
                </a:solidFill>
                <a:effectLst/>
                <a:latin typeface="Palatino Linotype" panose="02040502050505030304" pitchFamily="18" charset="0"/>
              </a:rPr>
              <a:t> </a:t>
            </a:r>
            <a:r>
              <a:rPr lang="en-US" altLang="zh-CN" sz="2000" dirty="0">
                <a:solidFill>
                  <a:srgbClr val="000000"/>
                </a:solidFill>
                <a:effectLst/>
                <a:latin typeface="Palatino Linotype" panose="02040502050505030304" pitchFamily="18" charset="0"/>
              </a:rPr>
              <a:t>it to the next chapter...</a:t>
            </a:r>
          </a:p>
        </p:txBody>
      </p:sp>
      <p:sp>
        <p:nvSpPr>
          <p:cNvPr id="4" name="日期占位符 3">
            <a:extLst>
              <a:ext uri="{FF2B5EF4-FFF2-40B4-BE49-F238E27FC236}">
                <a16:creationId xmlns:a16="http://schemas.microsoft.com/office/drawing/2014/main" id="{E826A00D-C024-6A10-9979-660AE95B3D0B}"/>
              </a:ext>
            </a:extLst>
          </p:cNvPr>
          <p:cNvSpPr>
            <a:spLocks noGrp="1"/>
          </p:cNvSpPr>
          <p:nvPr>
            <p:ph type="dt" sz="half" idx="10"/>
          </p:nvPr>
        </p:nvSpPr>
        <p:spPr/>
        <p:txBody>
          <a:bodyPr/>
          <a:lstStyle/>
          <a:p>
            <a:pPr>
              <a:defRPr/>
            </a:pPr>
            <a:r>
              <a:rPr lang="en-US" altLang="zh-CN"/>
              <a:t>Fall 2024</a:t>
            </a:r>
            <a:endParaRPr lang="en-US"/>
          </a:p>
        </p:txBody>
      </p:sp>
      <p:sp>
        <p:nvSpPr>
          <p:cNvPr id="5" name="页脚占位符 4">
            <a:extLst>
              <a:ext uri="{FF2B5EF4-FFF2-40B4-BE49-F238E27FC236}">
                <a16:creationId xmlns:a16="http://schemas.microsoft.com/office/drawing/2014/main" id="{A02FE928-053E-5EB6-4283-D2F088D2E3CC}"/>
              </a:ext>
            </a:extLst>
          </p:cNvPr>
          <p:cNvSpPr>
            <a:spLocks noGrp="1"/>
          </p:cNvSpPr>
          <p:nvPr>
            <p:ph type="ftr" sz="quarter" idx="11"/>
          </p:nvPr>
        </p:nvSpPr>
        <p:spPr/>
        <p:txBody>
          <a:bodyPr/>
          <a:lstStyle/>
          <a:p>
            <a:pPr>
              <a:defRPr/>
            </a:pPr>
            <a:r>
              <a:rPr lang="en-US"/>
              <a:t>BUPT Compilers</a:t>
            </a:r>
          </a:p>
        </p:txBody>
      </p:sp>
      <p:sp>
        <p:nvSpPr>
          <p:cNvPr id="6" name="灯片编号占位符 5">
            <a:extLst>
              <a:ext uri="{FF2B5EF4-FFF2-40B4-BE49-F238E27FC236}">
                <a16:creationId xmlns:a16="http://schemas.microsoft.com/office/drawing/2014/main" id="{5E05E0A2-7628-4A10-2C59-A5E89A9D171B}"/>
              </a:ext>
            </a:extLst>
          </p:cNvPr>
          <p:cNvSpPr>
            <a:spLocks noGrp="1"/>
          </p:cNvSpPr>
          <p:nvPr>
            <p:ph type="sldNum" sz="quarter" idx="12"/>
          </p:nvPr>
        </p:nvSpPr>
        <p:spPr/>
        <p:txBody>
          <a:bodyPr/>
          <a:lstStyle/>
          <a:p>
            <a:pPr>
              <a:defRPr/>
            </a:pPr>
            <a:fld id="{2FBC720A-3716-234A-B2DF-CBC7E48049F5}" type="slidenum">
              <a:rPr lang="en-US" altLang="zh-CN" smtClean="0"/>
              <a:t>42</a:t>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sz="3600" b="1" noProof="0" dirty="0">
                <a:ln>
                  <a:noFill/>
                </a:ln>
                <a:solidFill>
                  <a:sysClr val="windowText" lastClr="000000"/>
                </a:solidFill>
                <a:effectLst/>
                <a:uLnTx/>
                <a:uFillTx/>
                <a:latin typeface="Palatino Linotype" panose="02040502050505030304" charset="0"/>
                <a:cs typeface="Palatino Linotype" panose="02040502050505030304"/>
              </a:rPr>
              <a:t>Outline</a:t>
            </a:r>
            <a:endParaRPr lang="en-US" altLang="en-US" sz="3600" b="1" noProof="0" dirty="0">
              <a:ln>
                <a:noFill/>
              </a:ln>
              <a:solidFill>
                <a:sysClr val="windowText" lastClr="000000"/>
              </a:solidFill>
              <a:effectLst/>
              <a:uLnTx/>
              <a:uFillTx/>
              <a:latin typeface="Palatino Linotype" panose="02040502050505030304" charset="0"/>
              <a:cs typeface="Palatino Linotype" panose="02040502050505030304"/>
            </a:endParaRPr>
          </a:p>
        </p:txBody>
      </p:sp>
      <p:sp>
        <p:nvSpPr>
          <p:cNvPr id="4" name="内容占位符 3"/>
          <p:cNvSpPr>
            <a:spLocks noGrp="1"/>
          </p:cNvSpPr>
          <p:nvPr>
            <p:ph idx="1"/>
          </p:nvPr>
        </p:nvSpPr>
        <p:spPr/>
        <p:txBody>
          <a:bodyPr>
            <a:normAutofit fontScale="67500" lnSpcReduction="20000"/>
          </a:bodyPr>
          <a:lstStyle/>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Syntax-Directed Definitions</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Evaluation Orders for SDD’s</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Applications of Syntax-Directed Translation</a:t>
            </a: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effectLst/>
                <a:uLnTx/>
                <a:uFillTx/>
                <a:latin typeface="Palatino Linotype" panose="02040502050505030304" charset="0"/>
                <a:ea typeface="+mj-ea"/>
                <a:cs typeface="Palatino Linotype" panose="02040502050505030304"/>
                <a:sym typeface="+mn-ea"/>
              </a:rPr>
              <a:t>Syntax-Directed Translation Schemes</a:t>
            </a: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Implementing L-Attributed SDD’s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43</a:t>
            </a:fld>
            <a:endParaRPr/>
          </a:p>
        </p:txBody>
      </p:sp>
    </p:spTree>
    <p:extLst>
      <p:ext uri="{BB962C8B-B14F-4D97-AF65-F5344CB8AC3E}">
        <p14:creationId xmlns:p14="http://schemas.microsoft.com/office/powerpoint/2010/main" val="9968521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Syntax-Directed Translation Schemes</a:t>
            </a:r>
            <a:endParaRPr lang="zh-CN" altLang="en-US" sz="3600" dirty="0">
              <a:latin typeface="Palatino Linotype" panose="02040502050505030304" charset="0"/>
            </a:endParaRPr>
          </a:p>
        </p:txBody>
      </p:sp>
      <p:sp>
        <p:nvSpPr>
          <p:cNvPr id="4" name="内容占位符 3"/>
          <p:cNvSpPr>
            <a:spLocks noGrp="1"/>
          </p:cNvSpPr>
          <p:nvPr>
            <p:ph idx="1"/>
          </p:nvPr>
        </p:nvSpPr>
        <p:spPr/>
        <p:txBody>
          <a:bodyPr>
            <a:noAutofit/>
          </a:bodyPr>
          <a:lstStyle/>
          <a:p>
            <a:r>
              <a:rPr lang="en-US" altLang="zh-CN" sz="2000" dirty="0">
                <a:solidFill>
                  <a:srgbClr val="FF0000"/>
                </a:solidFill>
                <a:effectLst/>
                <a:latin typeface="Palatino Linotype" panose="02040502050505030304" pitchFamily="18" charset="0"/>
              </a:rPr>
              <a:t>SDD</a:t>
            </a:r>
            <a:r>
              <a:rPr lang="en-US" altLang="zh-CN" sz="2000" dirty="0">
                <a:solidFill>
                  <a:srgbClr val="000000"/>
                </a:solidFill>
                <a:effectLst/>
                <a:latin typeface="Palatino Linotype" panose="02040502050505030304" pitchFamily="18" charset="0"/>
              </a:rPr>
              <a:t>’s tell us what to do (</a:t>
            </a:r>
            <a:r>
              <a:rPr lang="en-US" altLang="zh-CN" sz="2000" dirty="0">
                <a:solidFill>
                  <a:srgbClr val="FF0000"/>
                </a:solidFill>
                <a:effectLst/>
                <a:latin typeface="Palatino Linotype" panose="02040502050505030304" pitchFamily="18" charset="0"/>
              </a:rPr>
              <a:t>high-level specifications</a:t>
            </a:r>
            <a:r>
              <a:rPr lang="en-US" altLang="zh-CN" sz="2000" dirty="0">
                <a:solidFill>
                  <a:srgbClr val="000000"/>
                </a:solidFill>
                <a:effectLst/>
                <a:latin typeface="Palatino Linotype" panose="02040502050505030304" pitchFamily="18" charset="0"/>
              </a:rPr>
              <a:t>) in the translation, but not how to do </a:t>
            </a:r>
            <a:endParaRPr lang="en-US" altLang="zh-CN" sz="1600" dirty="0"/>
          </a:p>
          <a:p>
            <a:r>
              <a:rPr lang="en-US" altLang="zh-CN" sz="2000" dirty="0">
                <a:solidFill>
                  <a:srgbClr val="FF0000"/>
                </a:solidFill>
                <a:effectLst/>
                <a:latin typeface="Palatino Linotype" panose="02040502050505030304" pitchFamily="18" charset="0"/>
              </a:rPr>
              <a:t>Syntax-directed translation schemes </a:t>
            </a:r>
            <a:r>
              <a:rPr lang="en-US" altLang="zh-CN" sz="2000" dirty="0">
                <a:solidFill>
                  <a:srgbClr val="000000"/>
                </a:solidFill>
                <a:effectLst/>
                <a:latin typeface="Palatino Linotype" panose="02040502050505030304" pitchFamily="18" charset="0"/>
              </a:rPr>
              <a:t>(SDT’s, </a:t>
            </a:r>
            <a:r>
              <a:rPr lang="zh-CN" altLang="en-US" sz="2000" dirty="0">
                <a:solidFill>
                  <a:srgbClr val="FF0000"/>
                </a:solidFill>
                <a:effectLst/>
                <a:latin typeface="宋体" panose="02010600030101010101" pitchFamily="2" charset="-122"/>
                <a:ea typeface="宋体" panose="02010600030101010101" pitchFamily="2" charset="-122"/>
              </a:rPr>
              <a:t>语法制导的翻译方案</a:t>
            </a:r>
            <a:r>
              <a:rPr lang="en-US" altLang="zh-CN" sz="2000" dirty="0">
                <a:solidFill>
                  <a:srgbClr val="000000"/>
                </a:solidFill>
                <a:effectLst/>
                <a:latin typeface="Palatino Linotype" panose="02040502050505030304" pitchFamily="18" charset="0"/>
              </a:rPr>
              <a:t>) specify more details on how to do the translation </a:t>
            </a:r>
            <a:endParaRPr lang="en-US" altLang="zh-CN" sz="1600" dirty="0"/>
          </a:p>
          <a:p>
            <a:r>
              <a:rPr lang="en-US" altLang="zh-CN" sz="2000" dirty="0">
                <a:solidFill>
                  <a:srgbClr val="000000"/>
                </a:solidFill>
                <a:effectLst/>
                <a:latin typeface="Palatino Linotype" panose="02040502050505030304" pitchFamily="18" charset="0"/>
              </a:rPr>
              <a:t>An SDT is a context-free grammar with </a:t>
            </a:r>
            <a:r>
              <a:rPr lang="en-US" altLang="zh-CN" sz="2000" u="sng" dirty="0">
                <a:solidFill>
                  <a:srgbClr val="0432FF"/>
                </a:solidFill>
                <a:effectLst/>
                <a:latin typeface="Palatino Linotype" panose="02040502050505030304" pitchFamily="18" charset="0"/>
              </a:rPr>
              <a:t>semantic actions </a:t>
            </a:r>
            <a:r>
              <a:rPr lang="en-US" altLang="zh-CN" sz="2000" dirty="0">
                <a:solidFill>
                  <a:srgbClr val="000000"/>
                </a:solidFill>
                <a:effectLst/>
                <a:latin typeface="Palatino Linotype" panose="02040502050505030304" pitchFamily="18" charset="0"/>
              </a:rPr>
              <a:t>(program fragments) embedded within production bodies </a:t>
            </a:r>
            <a:endParaRPr lang="en-US" altLang="zh-CN" sz="1600" dirty="0"/>
          </a:p>
          <a:p>
            <a:pPr lvl="1"/>
            <a:r>
              <a:rPr lang="en-US" altLang="zh-CN" sz="1800" dirty="0">
                <a:solidFill>
                  <a:srgbClr val="000000"/>
                </a:solidFill>
                <a:effectLst/>
                <a:latin typeface="Palatino Linotype" panose="02040502050505030304" pitchFamily="18" charset="0"/>
              </a:rPr>
              <a:t>Differ from the semantic rules in SDD’s </a:t>
            </a:r>
            <a:endParaRPr lang="en-US" altLang="zh-CN" sz="1100" dirty="0"/>
          </a:p>
          <a:p>
            <a:pPr lvl="1"/>
            <a:r>
              <a:rPr lang="en-US" altLang="zh-CN" sz="1800" dirty="0">
                <a:solidFill>
                  <a:srgbClr val="000000"/>
                </a:solidFill>
                <a:effectLst/>
                <a:latin typeface="Palatino Linotype" panose="02040502050505030304" pitchFamily="18" charset="0"/>
              </a:rPr>
              <a:t>Semantic actions can appear </a:t>
            </a:r>
            <a:r>
              <a:rPr lang="en-US" altLang="zh-CN" sz="1800" dirty="0">
                <a:solidFill>
                  <a:srgbClr val="FF0000"/>
                </a:solidFill>
                <a:effectLst/>
                <a:latin typeface="Palatino Linotype" panose="02040502050505030304" pitchFamily="18" charset="0"/>
              </a:rPr>
              <a:t>anywhere </a:t>
            </a:r>
            <a:r>
              <a:rPr lang="en-US" altLang="zh-CN" sz="1800" dirty="0">
                <a:solidFill>
                  <a:srgbClr val="000000"/>
                </a:solidFill>
                <a:effectLst/>
                <a:latin typeface="Palatino Linotype" panose="02040502050505030304" pitchFamily="18" charset="0"/>
              </a:rPr>
              <a:t>within a production body</a:t>
            </a:r>
            <a:endParaRPr sz="1800" dirty="0">
              <a:solidFill>
                <a:srgbClr val="0331FF"/>
              </a:solidFill>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Implementation of SDT’s</a:t>
            </a:r>
            <a:endParaRPr lang="zh-CN" altLang="en-US" sz="3600" dirty="0">
              <a:latin typeface="Palatino Linotype" panose="02040502050505030304" charset="0"/>
            </a:endParaRPr>
          </a:p>
        </p:txBody>
      </p:sp>
      <p:sp>
        <p:nvSpPr>
          <p:cNvPr id="4" name="内容占位符 3"/>
          <p:cNvSpPr>
            <a:spLocks noGrp="1"/>
          </p:cNvSpPr>
          <p:nvPr>
            <p:ph idx="1"/>
          </p:nvPr>
        </p:nvSpPr>
        <p:spPr/>
        <p:txBody>
          <a:bodyPr>
            <a:noAutofit/>
          </a:bodyPr>
          <a:lstStyle/>
          <a:p>
            <a:r>
              <a:rPr lang="en-US" altLang="zh-CN" sz="2000" dirty="0">
                <a:solidFill>
                  <a:srgbClr val="FF0000"/>
                </a:solidFill>
                <a:effectLst/>
                <a:latin typeface="Palatino Linotype" panose="02040502050505030304" pitchFamily="18" charset="0"/>
              </a:rPr>
              <a:t>Any SDT can be implemented by: </a:t>
            </a:r>
            <a:endParaRPr lang="en-US" altLang="zh-CN" sz="1600" dirty="0"/>
          </a:p>
          <a:p>
            <a:pPr lvl="1"/>
            <a:r>
              <a:rPr lang="en-US" altLang="zh-CN" sz="1800" dirty="0">
                <a:solidFill>
                  <a:srgbClr val="000000"/>
                </a:solidFill>
                <a:effectLst/>
                <a:latin typeface="Palatino Linotype" panose="02040502050505030304" pitchFamily="18" charset="0"/>
              </a:rPr>
              <a:t>First building a parse tree </a:t>
            </a:r>
            <a:endParaRPr lang="en-US" altLang="zh-CN" sz="1800" dirty="0"/>
          </a:p>
          <a:p>
            <a:pPr lvl="1"/>
            <a:r>
              <a:rPr lang="en-US" altLang="zh-CN" sz="1800" dirty="0">
                <a:solidFill>
                  <a:srgbClr val="000000"/>
                </a:solidFill>
                <a:effectLst/>
                <a:latin typeface="Palatino Linotype" panose="02040502050505030304" pitchFamily="18" charset="0"/>
              </a:rPr>
              <a:t>Treating semantic actions as “</a:t>
            </a:r>
            <a:r>
              <a:rPr lang="en-US" altLang="zh-CN" sz="1800" dirty="0">
                <a:solidFill>
                  <a:srgbClr val="0432FF"/>
                </a:solidFill>
                <a:effectLst/>
                <a:latin typeface="Palatino Linotype" panose="02040502050505030304" pitchFamily="18" charset="0"/>
              </a:rPr>
              <a:t>virtual</a:t>
            </a:r>
            <a:r>
              <a:rPr lang="en-US" altLang="zh-CN" sz="1800" dirty="0">
                <a:solidFill>
                  <a:srgbClr val="000000"/>
                </a:solidFill>
                <a:effectLst/>
                <a:latin typeface="Palatino Linotype" panose="02040502050505030304" pitchFamily="18" charset="0"/>
              </a:rPr>
              <a:t>” parse-tree nodes </a:t>
            </a:r>
            <a:endParaRPr lang="en-US" altLang="zh-CN" sz="1800" dirty="0"/>
          </a:p>
          <a:p>
            <a:pPr lvl="1"/>
            <a:r>
              <a:rPr lang="en-US" altLang="zh-CN" sz="1800" dirty="0">
                <a:solidFill>
                  <a:srgbClr val="000000"/>
                </a:solidFill>
                <a:effectLst/>
                <a:latin typeface="Palatino Linotype" panose="02040502050505030304" pitchFamily="18" charset="0"/>
              </a:rPr>
              <a:t>Performing a left-to-right depth-first (i.e., preorder) tree traversal and triggering the actions when visiting the corresponding nodes</a:t>
            </a:r>
            <a:endParaRPr sz="1800" dirty="0">
              <a:solidFill>
                <a:srgbClr val="0331FF"/>
              </a:solidFill>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45</a:t>
            </a:fld>
            <a:endParaRPr/>
          </a:p>
        </p:txBody>
      </p:sp>
    </p:spTree>
    <p:extLst>
      <p:ext uri="{BB962C8B-B14F-4D97-AF65-F5344CB8AC3E}">
        <p14:creationId xmlns:p14="http://schemas.microsoft.com/office/powerpoint/2010/main" val="19575622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An Example SDT (1)</a:t>
            </a:r>
            <a:endParaRPr lang="zh-CN" altLang="en-US" sz="3600" dirty="0">
              <a:latin typeface="Palatino Linotype" panose="02040502050505030304" charset="0"/>
            </a:endParaRPr>
          </a:p>
        </p:txBody>
      </p:sp>
      <p:sp>
        <p:nvSpPr>
          <p:cNvPr id="4" name="内容占位符 3"/>
          <p:cNvSpPr>
            <a:spLocks noGrp="1"/>
          </p:cNvSpPr>
          <p:nvPr>
            <p:ph idx="1"/>
          </p:nvPr>
        </p:nvSpPr>
        <p:spPr/>
        <p:txBody>
          <a:bodyPr>
            <a:normAutofit/>
          </a:bodyPr>
          <a:lstStyle/>
          <a:p>
            <a:pPr marL="17145" algn="l" rtl="0" eaLnBrk="0" fontAlgn="auto">
              <a:lnSpc>
                <a:spcPct val="150000"/>
              </a:lnSpc>
              <a:spcBef>
                <a:spcPts val="0"/>
              </a:spcBef>
            </a:pPr>
            <a:r>
              <a:rPr lang="en-US" sz="2200" dirty="0">
                <a:latin typeface="Palatino Linotype" panose="02040502050505030304" charset="0"/>
                <a:ea typeface="Palatino Linotype" panose="02040502050505030304"/>
                <a:cs typeface="Palatino Linotype" panose="02040502050505030304"/>
                <a:sym typeface="+mn-ea"/>
              </a:rPr>
              <a:t>The SDT below implements a simple calculator</a:t>
            </a:r>
            <a:endParaRPr sz="22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46</a:t>
            </a:fld>
            <a:endParaRPr/>
          </a:p>
        </p:txBody>
      </p:sp>
      <p:sp>
        <p:nvSpPr>
          <p:cNvPr id="8" name="文本框 7">
            <a:extLst>
              <a:ext uri="{FF2B5EF4-FFF2-40B4-BE49-F238E27FC236}">
                <a16:creationId xmlns:a16="http://schemas.microsoft.com/office/drawing/2014/main" id="{4D998A70-0B02-C61E-B4A4-C82367FF60A2}"/>
              </a:ext>
            </a:extLst>
          </p:cNvPr>
          <p:cNvSpPr txBox="1"/>
          <p:nvPr/>
        </p:nvSpPr>
        <p:spPr>
          <a:xfrm>
            <a:off x="569890" y="4941168"/>
            <a:ext cx="742950" cy="369332"/>
          </a:xfrm>
          <a:prstGeom prst="rect">
            <a:avLst/>
          </a:prstGeom>
          <a:noFill/>
        </p:spPr>
        <p:txBody>
          <a:bodyPr wrap="square">
            <a:spAutoFit/>
          </a:bodyPr>
          <a:lstStyle/>
          <a:p>
            <a:r>
              <a:rPr lang="en-US" altLang="zh-CN" sz="1800" b="1" dirty="0">
                <a:solidFill>
                  <a:srgbClr val="FF0000"/>
                </a:solidFill>
                <a:effectLst/>
                <a:latin typeface="PalatinoLinotype-Bold"/>
              </a:rPr>
              <a:t>SDD</a:t>
            </a:r>
            <a:endParaRPr lang="zh-CN" altLang="en-US" dirty="0"/>
          </a:p>
        </p:txBody>
      </p:sp>
      <p:sp>
        <p:nvSpPr>
          <p:cNvPr id="10" name="文本框 9">
            <a:extLst>
              <a:ext uri="{FF2B5EF4-FFF2-40B4-BE49-F238E27FC236}">
                <a16:creationId xmlns:a16="http://schemas.microsoft.com/office/drawing/2014/main" id="{F035C9DB-3C00-C68D-51C9-098317D8FAC7}"/>
              </a:ext>
            </a:extLst>
          </p:cNvPr>
          <p:cNvSpPr txBox="1"/>
          <p:nvPr/>
        </p:nvSpPr>
        <p:spPr>
          <a:xfrm>
            <a:off x="569890" y="3134294"/>
            <a:ext cx="742950" cy="369332"/>
          </a:xfrm>
          <a:prstGeom prst="rect">
            <a:avLst/>
          </a:prstGeom>
          <a:noFill/>
        </p:spPr>
        <p:txBody>
          <a:bodyPr wrap="square">
            <a:spAutoFit/>
          </a:bodyPr>
          <a:lstStyle/>
          <a:p>
            <a:r>
              <a:rPr lang="en-US" altLang="zh-CN" sz="1800" b="1" dirty="0">
                <a:solidFill>
                  <a:srgbClr val="FF0000"/>
                </a:solidFill>
                <a:effectLst/>
                <a:latin typeface="PalatinoLinotype-Bold"/>
              </a:rPr>
              <a:t>SDT</a:t>
            </a:r>
            <a:endParaRPr lang="zh-CN" altLang="en-US" dirty="0"/>
          </a:p>
        </p:txBody>
      </p:sp>
      <p:pic>
        <p:nvPicPr>
          <p:cNvPr id="12" name="图片 11">
            <a:extLst>
              <a:ext uri="{FF2B5EF4-FFF2-40B4-BE49-F238E27FC236}">
                <a16:creationId xmlns:a16="http://schemas.microsoft.com/office/drawing/2014/main" id="{9FA59D8C-1D63-8F1B-CD58-9F2382F211F4}"/>
              </a:ext>
            </a:extLst>
          </p:cNvPr>
          <p:cNvPicPr>
            <a:picLocks noChangeAspect="1"/>
          </p:cNvPicPr>
          <p:nvPr/>
        </p:nvPicPr>
        <p:blipFill>
          <a:blip r:embed="rId3"/>
          <a:stretch>
            <a:fillRect/>
          </a:stretch>
        </p:blipFill>
        <p:spPr>
          <a:xfrm>
            <a:off x="1371600" y="2436592"/>
            <a:ext cx="3865214" cy="1647428"/>
          </a:xfrm>
          <a:prstGeom prst="rect">
            <a:avLst/>
          </a:prstGeom>
        </p:spPr>
      </p:pic>
      <p:pic>
        <p:nvPicPr>
          <p:cNvPr id="14" name="图片 13">
            <a:extLst>
              <a:ext uri="{FF2B5EF4-FFF2-40B4-BE49-F238E27FC236}">
                <a16:creationId xmlns:a16="http://schemas.microsoft.com/office/drawing/2014/main" id="{EC59B40D-CA34-3635-296C-B91C35335FDE}"/>
              </a:ext>
            </a:extLst>
          </p:cNvPr>
          <p:cNvPicPr>
            <a:picLocks noChangeAspect="1"/>
          </p:cNvPicPr>
          <p:nvPr/>
        </p:nvPicPr>
        <p:blipFill>
          <a:blip r:embed="rId4"/>
          <a:stretch>
            <a:fillRect/>
          </a:stretch>
        </p:blipFill>
        <p:spPr>
          <a:xfrm>
            <a:off x="1390437" y="4114816"/>
            <a:ext cx="3685619" cy="2259510"/>
          </a:xfrm>
          <a:prstGeom prst="rect">
            <a:avLst/>
          </a:prstGeom>
        </p:spPr>
      </p:pic>
      <p:sp>
        <p:nvSpPr>
          <p:cNvPr id="15" name="矩形 14">
            <a:extLst>
              <a:ext uri="{FF2B5EF4-FFF2-40B4-BE49-F238E27FC236}">
                <a16:creationId xmlns:a16="http://schemas.microsoft.com/office/drawing/2014/main" id="{786D77B3-630B-A8F1-FDD6-21AFEEB5BA3B}"/>
              </a:ext>
            </a:extLst>
          </p:cNvPr>
          <p:cNvSpPr/>
          <p:nvPr/>
        </p:nvSpPr>
        <p:spPr>
          <a:xfrm>
            <a:off x="2990151" y="2369124"/>
            <a:ext cx="2285461" cy="16782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DD8E7B55-AD75-18BF-1291-FC361224868C}"/>
              </a:ext>
            </a:extLst>
          </p:cNvPr>
          <p:cNvSpPr/>
          <p:nvPr/>
        </p:nvSpPr>
        <p:spPr bwMode="auto">
          <a:xfrm>
            <a:off x="3131841" y="4500640"/>
            <a:ext cx="2002976" cy="190448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8210C8C-FA6C-3D42-8621-E9CF310C8E11}"/>
              </a:ext>
            </a:extLst>
          </p:cNvPr>
          <p:cNvSpPr txBox="1"/>
          <p:nvPr/>
        </p:nvSpPr>
        <p:spPr>
          <a:xfrm>
            <a:off x="6147715" y="2824139"/>
            <a:ext cx="2069976" cy="646331"/>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Semantic actions: </a:t>
            </a:r>
            <a:endParaRPr lang="en-US" altLang="zh-CN" dirty="0"/>
          </a:p>
          <a:p>
            <a:r>
              <a:rPr lang="en-US" altLang="zh-CN" sz="1800" dirty="0">
                <a:solidFill>
                  <a:srgbClr val="0432FF"/>
                </a:solidFill>
                <a:effectLst/>
                <a:latin typeface="Palatino Linotype" panose="02040502050505030304" pitchFamily="18" charset="0"/>
              </a:rPr>
              <a:t>Real code in {}</a:t>
            </a:r>
            <a:endParaRPr lang="zh-CN" altLang="en-US" dirty="0"/>
          </a:p>
        </p:txBody>
      </p:sp>
      <p:sp>
        <p:nvSpPr>
          <p:cNvPr id="22" name="文本框 21">
            <a:extLst>
              <a:ext uri="{FF2B5EF4-FFF2-40B4-BE49-F238E27FC236}">
                <a16:creationId xmlns:a16="http://schemas.microsoft.com/office/drawing/2014/main" id="{A4E413D3-3C90-B3B3-EE45-EE2AB24A73D1}"/>
              </a:ext>
            </a:extLst>
          </p:cNvPr>
          <p:cNvSpPr txBox="1"/>
          <p:nvPr/>
        </p:nvSpPr>
        <p:spPr>
          <a:xfrm>
            <a:off x="6147715" y="4921405"/>
            <a:ext cx="2358008" cy="646331"/>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Semantic rules: </a:t>
            </a:r>
            <a:endParaRPr lang="en-US" altLang="zh-CN" dirty="0"/>
          </a:p>
          <a:p>
            <a:r>
              <a:rPr lang="en-US" altLang="zh-CN" sz="1800" dirty="0">
                <a:solidFill>
                  <a:srgbClr val="0432FF"/>
                </a:solidFill>
                <a:effectLst/>
                <a:latin typeface="Palatino Linotype" panose="02040502050505030304" pitchFamily="18" charset="0"/>
              </a:rPr>
              <a:t>Definitions (not code)</a:t>
            </a:r>
            <a:endParaRPr lang="zh-CN" altLang="en-US" dirty="0"/>
          </a:p>
        </p:txBody>
      </p:sp>
      <p:cxnSp>
        <p:nvCxnSpPr>
          <p:cNvPr id="24" name="直接箭头连接符 23">
            <a:extLst>
              <a:ext uri="{FF2B5EF4-FFF2-40B4-BE49-F238E27FC236}">
                <a16:creationId xmlns:a16="http://schemas.microsoft.com/office/drawing/2014/main" id="{B5EEDC6A-1A49-5A37-0FDD-F7405A545D3B}"/>
              </a:ext>
            </a:extLst>
          </p:cNvPr>
          <p:cNvCxnSpPr>
            <a:stCxn id="15" idx="3"/>
            <a:endCxn id="20" idx="1"/>
          </p:cNvCxnSpPr>
          <p:nvPr/>
        </p:nvCxnSpPr>
        <p:spPr>
          <a:xfrm flipV="1">
            <a:off x="5275612" y="3147305"/>
            <a:ext cx="872103" cy="60931"/>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5" name="直接箭头连接符 24">
            <a:extLst>
              <a:ext uri="{FF2B5EF4-FFF2-40B4-BE49-F238E27FC236}">
                <a16:creationId xmlns:a16="http://schemas.microsoft.com/office/drawing/2014/main" id="{1FBD8668-B461-68B3-8A10-E029E8AD8C8C}"/>
              </a:ext>
            </a:extLst>
          </p:cNvPr>
          <p:cNvCxnSpPr>
            <a:cxnSpLocks/>
            <a:endCxn id="22" idx="1"/>
          </p:cNvCxnSpPr>
          <p:nvPr/>
        </p:nvCxnSpPr>
        <p:spPr bwMode="auto">
          <a:xfrm flipV="1">
            <a:off x="5151731" y="5244571"/>
            <a:ext cx="995984" cy="12887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An Example SDT (2)</a:t>
            </a:r>
            <a:endParaRPr lang="zh-CN" altLang="en-US" sz="3600" dirty="0">
              <a:latin typeface="Palatino Linotype" panose="02040502050505030304" charset="0"/>
            </a:endParaRPr>
          </a:p>
        </p:txBody>
      </p:sp>
      <p:sp>
        <p:nvSpPr>
          <p:cNvPr id="4" name="内容占位符 3"/>
          <p:cNvSpPr>
            <a:spLocks noGrp="1"/>
          </p:cNvSpPr>
          <p:nvPr>
            <p:ph idx="1"/>
          </p:nvPr>
        </p:nvSpPr>
        <p:spPr>
          <a:xfrm>
            <a:off x="628650" y="1825625"/>
            <a:ext cx="7886700" cy="451247"/>
          </a:xfrm>
        </p:spPr>
        <p:txBody>
          <a:bodyPr>
            <a:noAutofit/>
          </a:bodyPr>
          <a:lstStyle/>
          <a:p>
            <a:pPr marL="17145" algn="l" rtl="0" eaLnBrk="0" fontAlgn="auto" latinLnBrk="0" hangingPunct="1">
              <a:lnSpc>
                <a:spcPct val="100000"/>
              </a:lnSpc>
              <a:spcBef>
                <a:spcPts val="0"/>
              </a:spcBef>
            </a:pPr>
            <a:r>
              <a:rPr lang="en-US" sz="2000" dirty="0">
                <a:latin typeface="Palatino Linotype" panose="02040502050505030304" charset="0"/>
                <a:ea typeface="Palatino Linotype" panose="02040502050505030304"/>
                <a:cs typeface="Palatino Linotype" panose="02040502050505030304"/>
                <a:sym typeface="+mn-ea"/>
              </a:rPr>
              <a:t>Parse and calculate 3*4*5</a:t>
            </a:r>
            <a:endParaRPr sz="20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47</a:t>
            </a:fld>
            <a:endParaRPr/>
          </a:p>
        </p:txBody>
      </p:sp>
      <p:pic>
        <p:nvPicPr>
          <p:cNvPr id="5" name="图片 4">
            <a:extLst>
              <a:ext uri="{FF2B5EF4-FFF2-40B4-BE49-F238E27FC236}">
                <a16:creationId xmlns:a16="http://schemas.microsoft.com/office/drawing/2014/main" id="{0D934ABD-576A-020B-FA54-FE2F1AF9AA40}"/>
              </a:ext>
            </a:extLst>
          </p:cNvPr>
          <p:cNvPicPr>
            <a:picLocks noChangeAspect="1"/>
          </p:cNvPicPr>
          <p:nvPr/>
        </p:nvPicPr>
        <p:blipFill>
          <a:blip r:embed="rId3"/>
          <a:stretch>
            <a:fillRect/>
          </a:stretch>
        </p:blipFill>
        <p:spPr>
          <a:xfrm>
            <a:off x="251520" y="2546737"/>
            <a:ext cx="4139952" cy="1764526"/>
          </a:xfrm>
          <a:prstGeom prst="rect">
            <a:avLst/>
          </a:prstGeom>
        </p:spPr>
      </p:pic>
      <p:sp>
        <p:nvSpPr>
          <p:cNvPr id="7" name="文本框 6">
            <a:extLst>
              <a:ext uri="{FF2B5EF4-FFF2-40B4-BE49-F238E27FC236}">
                <a16:creationId xmlns:a16="http://schemas.microsoft.com/office/drawing/2014/main" id="{DDA94944-7845-5910-BDFB-A82EE902F669}"/>
              </a:ext>
            </a:extLst>
          </p:cNvPr>
          <p:cNvSpPr txBox="1"/>
          <p:nvPr/>
        </p:nvSpPr>
        <p:spPr>
          <a:xfrm>
            <a:off x="3491880" y="2528567"/>
            <a:ext cx="485800" cy="369332"/>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A1</a:t>
            </a:r>
            <a:endParaRPr lang="zh-CN" altLang="en-US" dirty="0"/>
          </a:p>
        </p:txBody>
      </p:sp>
      <p:sp>
        <p:nvSpPr>
          <p:cNvPr id="8" name="文本框 7">
            <a:extLst>
              <a:ext uri="{FF2B5EF4-FFF2-40B4-BE49-F238E27FC236}">
                <a16:creationId xmlns:a16="http://schemas.microsoft.com/office/drawing/2014/main" id="{74C8A30F-6CD6-CEF0-99C7-D7C2A80A6290}"/>
              </a:ext>
            </a:extLst>
          </p:cNvPr>
          <p:cNvSpPr txBox="1"/>
          <p:nvPr/>
        </p:nvSpPr>
        <p:spPr bwMode="auto">
          <a:xfrm>
            <a:off x="467544" y="4678390"/>
            <a:ext cx="5447674" cy="646331"/>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Order of actions: </a:t>
            </a:r>
          </a:p>
          <a:p>
            <a:r>
              <a:rPr lang="en-US" altLang="zh-CN" dirty="0">
                <a:solidFill>
                  <a:srgbClr val="FF0000"/>
                </a:solidFill>
                <a:latin typeface="Palatino Linotype" panose="02040502050505030304" pitchFamily="18" charset="0"/>
              </a:rPr>
              <a:t>A7</a:t>
            </a:r>
            <a:r>
              <a:rPr lang="en-US" altLang="zh-CN" baseline="-25000" dirty="0">
                <a:solidFill>
                  <a:srgbClr val="FF0000"/>
                </a:solidFill>
                <a:latin typeface="Palatino Linotype" panose="02040502050505030304" pitchFamily="18" charset="0"/>
              </a:rPr>
              <a:t>1</a:t>
            </a:r>
            <a:r>
              <a:rPr lang="en-US" altLang="zh-CN" dirty="0">
                <a:solidFill>
                  <a:srgbClr val="FF0000"/>
                </a:solidFill>
                <a:latin typeface="Palatino Linotype" panose="02040502050505030304" pitchFamily="18" charset="0"/>
              </a:rPr>
              <a:t>,A5,A7</a:t>
            </a:r>
            <a:r>
              <a:rPr lang="en-US" altLang="zh-CN" baseline="-25000" dirty="0">
                <a:solidFill>
                  <a:srgbClr val="FF0000"/>
                </a:solidFill>
                <a:latin typeface="Palatino Linotype" panose="02040502050505030304" pitchFamily="18" charset="0"/>
              </a:rPr>
              <a:t>2</a:t>
            </a:r>
            <a:r>
              <a:rPr lang="en-US" altLang="zh-CN" dirty="0">
                <a:solidFill>
                  <a:srgbClr val="FF0000"/>
                </a:solidFill>
                <a:latin typeface="Palatino Linotype" panose="02040502050505030304" pitchFamily="18" charset="0"/>
              </a:rPr>
              <a:t>,A4</a:t>
            </a:r>
            <a:r>
              <a:rPr lang="en-US" altLang="zh-CN" baseline="-25000" dirty="0">
                <a:solidFill>
                  <a:srgbClr val="FF0000"/>
                </a:solidFill>
                <a:latin typeface="Palatino Linotype" panose="02040502050505030304" pitchFamily="18" charset="0"/>
              </a:rPr>
              <a:t>1</a:t>
            </a:r>
            <a:r>
              <a:rPr lang="en-US" altLang="zh-CN" dirty="0">
                <a:solidFill>
                  <a:srgbClr val="FF0000"/>
                </a:solidFill>
                <a:latin typeface="Palatino Linotype" panose="02040502050505030304" pitchFamily="18" charset="0"/>
              </a:rPr>
              <a:t>,A7</a:t>
            </a:r>
            <a:r>
              <a:rPr lang="en-US" altLang="zh-CN" baseline="-25000" dirty="0">
                <a:solidFill>
                  <a:srgbClr val="FF0000"/>
                </a:solidFill>
                <a:latin typeface="Palatino Linotype" panose="02040502050505030304" pitchFamily="18" charset="0"/>
              </a:rPr>
              <a:t>3</a:t>
            </a:r>
            <a:r>
              <a:rPr lang="en-US" altLang="zh-CN" dirty="0">
                <a:solidFill>
                  <a:srgbClr val="FF0000"/>
                </a:solidFill>
                <a:latin typeface="Palatino Linotype" panose="02040502050505030304" pitchFamily="18" charset="0"/>
              </a:rPr>
              <a:t>,A4</a:t>
            </a:r>
            <a:r>
              <a:rPr lang="en-US" altLang="zh-CN" baseline="-25000" dirty="0">
                <a:solidFill>
                  <a:srgbClr val="FF0000"/>
                </a:solidFill>
                <a:latin typeface="Palatino Linotype" panose="02040502050505030304" pitchFamily="18" charset="0"/>
              </a:rPr>
              <a:t>2</a:t>
            </a:r>
            <a:r>
              <a:rPr lang="en-US" altLang="zh-CN" dirty="0">
                <a:solidFill>
                  <a:srgbClr val="FF0000"/>
                </a:solidFill>
                <a:latin typeface="Palatino Linotype" panose="02040502050505030304" pitchFamily="18" charset="0"/>
              </a:rPr>
              <a:t>,A3,A1</a:t>
            </a:r>
            <a:endParaRPr lang="en-US" altLang="zh-CN" dirty="0"/>
          </a:p>
        </p:txBody>
      </p:sp>
      <p:sp>
        <p:nvSpPr>
          <p:cNvPr id="9" name="文本框 8">
            <a:extLst>
              <a:ext uri="{FF2B5EF4-FFF2-40B4-BE49-F238E27FC236}">
                <a16:creationId xmlns:a16="http://schemas.microsoft.com/office/drawing/2014/main" id="{8FAB5890-36CF-5673-A4BB-9C2E72998F09}"/>
              </a:ext>
            </a:extLst>
          </p:cNvPr>
          <p:cNvSpPr txBox="1"/>
          <p:nvPr/>
        </p:nvSpPr>
        <p:spPr bwMode="auto">
          <a:xfrm>
            <a:off x="4339226" y="2763588"/>
            <a:ext cx="485800" cy="369332"/>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A2</a:t>
            </a:r>
            <a:endParaRPr lang="zh-CN" altLang="en-US" dirty="0"/>
          </a:p>
        </p:txBody>
      </p:sp>
      <p:sp>
        <p:nvSpPr>
          <p:cNvPr id="10" name="文本框 9">
            <a:extLst>
              <a:ext uri="{FF2B5EF4-FFF2-40B4-BE49-F238E27FC236}">
                <a16:creationId xmlns:a16="http://schemas.microsoft.com/office/drawing/2014/main" id="{1DC519EB-3793-FCDA-99D4-479B81518E12}"/>
              </a:ext>
            </a:extLst>
          </p:cNvPr>
          <p:cNvSpPr txBox="1"/>
          <p:nvPr/>
        </p:nvSpPr>
        <p:spPr bwMode="auto">
          <a:xfrm>
            <a:off x="4266730" y="3244334"/>
            <a:ext cx="485800" cy="369332"/>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A4</a:t>
            </a:r>
            <a:endParaRPr lang="zh-CN" altLang="en-US" dirty="0"/>
          </a:p>
        </p:txBody>
      </p:sp>
      <p:sp>
        <p:nvSpPr>
          <p:cNvPr id="11" name="文本框 10">
            <a:extLst>
              <a:ext uri="{FF2B5EF4-FFF2-40B4-BE49-F238E27FC236}">
                <a16:creationId xmlns:a16="http://schemas.microsoft.com/office/drawing/2014/main" id="{7301142B-75CC-3C67-B4A9-329DE9C4DEC0}"/>
              </a:ext>
            </a:extLst>
          </p:cNvPr>
          <p:cNvSpPr txBox="1"/>
          <p:nvPr/>
        </p:nvSpPr>
        <p:spPr bwMode="auto">
          <a:xfrm>
            <a:off x="3553780" y="3470636"/>
            <a:ext cx="485800" cy="369332"/>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A5</a:t>
            </a:r>
            <a:endParaRPr lang="zh-CN" altLang="en-US" dirty="0"/>
          </a:p>
        </p:txBody>
      </p:sp>
      <p:sp>
        <p:nvSpPr>
          <p:cNvPr id="12" name="文本框 11">
            <a:extLst>
              <a:ext uri="{FF2B5EF4-FFF2-40B4-BE49-F238E27FC236}">
                <a16:creationId xmlns:a16="http://schemas.microsoft.com/office/drawing/2014/main" id="{8379D655-FF6A-4E4C-F8CE-6DA319A2533F}"/>
              </a:ext>
            </a:extLst>
          </p:cNvPr>
          <p:cNvSpPr txBox="1"/>
          <p:nvPr/>
        </p:nvSpPr>
        <p:spPr bwMode="auto">
          <a:xfrm>
            <a:off x="3553780" y="3703511"/>
            <a:ext cx="485800" cy="369332"/>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A6</a:t>
            </a:r>
            <a:endParaRPr lang="zh-CN" altLang="en-US" dirty="0"/>
          </a:p>
        </p:txBody>
      </p:sp>
      <p:sp>
        <p:nvSpPr>
          <p:cNvPr id="13" name="文本框 12">
            <a:extLst>
              <a:ext uri="{FF2B5EF4-FFF2-40B4-BE49-F238E27FC236}">
                <a16:creationId xmlns:a16="http://schemas.microsoft.com/office/drawing/2014/main" id="{5A4E8A97-0DEF-4E2C-B9B4-BDF4C2D4AAA6}"/>
              </a:ext>
            </a:extLst>
          </p:cNvPr>
          <p:cNvSpPr txBox="1"/>
          <p:nvPr/>
        </p:nvSpPr>
        <p:spPr bwMode="auto">
          <a:xfrm>
            <a:off x="4170276" y="3960101"/>
            <a:ext cx="485800" cy="369332"/>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A7</a:t>
            </a:r>
            <a:endParaRPr lang="zh-CN" altLang="en-US" dirty="0"/>
          </a:p>
        </p:txBody>
      </p:sp>
      <p:pic>
        <p:nvPicPr>
          <p:cNvPr id="15" name="图片 14">
            <a:extLst>
              <a:ext uri="{FF2B5EF4-FFF2-40B4-BE49-F238E27FC236}">
                <a16:creationId xmlns:a16="http://schemas.microsoft.com/office/drawing/2014/main" id="{D65B6431-406E-95AC-D4AB-618CD7E150AD}"/>
              </a:ext>
            </a:extLst>
          </p:cNvPr>
          <p:cNvPicPr>
            <a:picLocks noChangeAspect="1"/>
          </p:cNvPicPr>
          <p:nvPr/>
        </p:nvPicPr>
        <p:blipFill>
          <a:blip r:embed="rId4"/>
          <a:stretch>
            <a:fillRect/>
          </a:stretch>
        </p:blipFill>
        <p:spPr>
          <a:xfrm>
            <a:off x="4930909" y="1606374"/>
            <a:ext cx="3514479" cy="3728524"/>
          </a:xfrm>
          <a:prstGeom prst="rect">
            <a:avLst/>
          </a:prstGeom>
        </p:spPr>
      </p:pic>
      <p:sp>
        <p:nvSpPr>
          <p:cNvPr id="16" name="文本框 15">
            <a:extLst>
              <a:ext uri="{FF2B5EF4-FFF2-40B4-BE49-F238E27FC236}">
                <a16:creationId xmlns:a16="http://schemas.microsoft.com/office/drawing/2014/main" id="{3E74D39E-6E88-D2C8-EE33-373995C7877A}"/>
              </a:ext>
            </a:extLst>
          </p:cNvPr>
          <p:cNvSpPr txBox="1"/>
          <p:nvPr/>
        </p:nvSpPr>
        <p:spPr bwMode="auto">
          <a:xfrm>
            <a:off x="3583708" y="2986483"/>
            <a:ext cx="485800" cy="369332"/>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A3</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SDT’s With Actions Inside Productions</a:t>
            </a:r>
            <a:endParaRPr lang="zh-CN" altLang="en-US" sz="3600" dirty="0">
              <a:latin typeface="Palatino Linotype" panose="02040502050505030304" charset="0"/>
            </a:endParaRPr>
          </a:p>
        </p:txBody>
      </p:sp>
      <p:sp>
        <p:nvSpPr>
          <p:cNvPr id="4" name="内容占位符 3"/>
          <p:cNvSpPr>
            <a:spLocks noGrp="1"/>
          </p:cNvSpPr>
          <p:nvPr>
            <p:ph idx="1"/>
          </p:nvPr>
        </p:nvSpPr>
        <p:spPr>
          <a:xfrm>
            <a:off x="628650" y="2708919"/>
            <a:ext cx="7886700" cy="3468043"/>
          </a:xfrm>
        </p:spPr>
        <p:txBody>
          <a:bodyPr>
            <a:noAutofit/>
          </a:bodyPr>
          <a:lstStyle/>
          <a:p>
            <a:r>
              <a:rPr lang="en-US" altLang="zh-CN" sz="2000" dirty="0">
                <a:solidFill>
                  <a:srgbClr val="000000"/>
                </a:solidFill>
                <a:effectLst/>
                <a:latin typeface="Times New Roman" panose="02020603050405020304" pitchFamily="18" charset="0"/>
                <a:cs typeface="Times New Roman" panose="02020603050405020304" pitchFamily="18" charset="0"/>
              </a:rPr>
              <a:t>The action </a:t>
            </a:r>
            <a:r>
              <a:rPr lang="en-US" altLang="zh-CN" sz="2000" i="1" dirty="0">
                <a:solidFill>
                  <a:srgbClr val="000000"/>
                </a:solidFill>
                <a:effectLst/>
                <a:latin typeface="Times New Roman" panose="02020603050405020304" pitchFamily="18" charset="0"/>
                <a:cs typeface="Times New Roman" panose="02020603050405020304" pitchFamily="18" charset="0"/>
              </a:rPr>
              <a:t>a</a:t>
            </a:r>
            <a:r>
              <a:rPr lang="en-US" altLang="zh-CN" sz="2000" dirty="0">
                <a:solidFill>
                  <a:srgbClr val="000000"/>
                </a:solidFill>
                <a:effectLst/>
                <a:latin typeface="Times New Roman" panose="02020603050405020304" pitchFamily="18" charset="0"/>
                <a:cs typeface="Times New Roman" panose="02020603050405020304" pitchFamily="18" charset="0"/>
              </a:rPr>
              <a:t> should be done after we have recognized </a:t>
            </a:r>
            <a:r>
              <a:rPr lang="en-US" altLang="zh-CN" sz="2000" i="1" dirty="0">
                <a:solidFill>
                  <a:srgbClr val="000000"/>
                </a:solidFill>
                <a:effectLst/>
                <a:latin typeface="Times New Roman" panose="02020603050405020304" pitchFamily="18" charset="0"/>
                <a:cs typeface="Times New Roman" panose="02020603050405020304" pitchFamily="18" charset="0"/>
              </a:rPr>
              <a:t>X</a:t>
            </a:r>
            <a:r>
              <a:rPr lang="en-US" altLang="zh-CN" sz="2000" dirty="0">
                <a:solidFill>
                  <a:srgbClr val="000000"/>
                </a:solidFill>
                <a:effectLst/>
                <a:latin typeface="Times New Roman" panose="02020603050405020304" pitchFamily="18" charset="0"/>
                <a:cs typeface="Times New Roman" panose="02020603050405020304" pitchFamily="18" charset="0"/>
              </a:rPr>
              <a:t> (if X is a terminal) or all the terminals derived from </a:t>
            </a:r>
            <a:r>
              <a:rPr lang="en-US" altLang="zh-CN" sz="2000" i="1" dirty="0">
                <a:solidFill>
                  <a:srgbClr val="000000"/>
                </a:solidFill>
                <a:effectLst/>
                <a:latin typeface="Times New Roman" panose="02020603050405020304" pitchFamily="18" charset="0"/>
                <a:cs typeface="Times New Roman" panose="02020603050405020304" pitchFamily="18" charset="0"/>
              </a:rPr>
              <a:t>X</a:t>
            </a:r>
            <a:r>
              <a:rPr lang="en-US" altLang="zh-CN" sz="2000" dirty="0">
                <a:solidFill>
                  <a:srgbClr val="000000"/>
                </a:solidFill>
                <a:effectLst/>
                <a:latin typeface="Times New Roman" panose="02020603050405020304" pitchFamily="18" charset="0"/>
                <a:cs typeface="Times New Roman" panose="02020603050405020304" pitchFamily="18" charset="0"/>
              </a:rPr>
              <a:t> (if </a:t>
            </a:r>
            <a:r>
              <a:rPr lang="en-US" altLang="zh-CN" sz="2000" i="1" dirty="0">
                <a:solidFill>
                  <a:srgbClr val="000000"/>
                </a:solidFill>
                <a:effectLst/>
                <a:latin typeface="Times New Roman" panose="02020603050405020304" pitchFamily="18" charset="0"/>
                <a:cs typeface="Times New Roman" panose="02020603050405020304" pitchFamily="18" charset="0"/>
              </a:rPr>
              <a:t>X</a:t>
            </a:r>
            <a:r>
              <a:rPr lang="en-US" altLang="zh-CN" sz="2000" dirty="0">
                <a:solidFill>
                  <a:srgbClr val="000000"/>
                </a:solidFill>
                <a:effectLst/>
                <a:latin typeface="Times New Roman" panose="02020603050405020304" pitchFamily="18" charset="0"/>
                <a:cs typeface="Times New Roman" panose="02020603050405020304" pitchFamily="18" charset="0"/>
              </a:rPr>
              <a:t> is a nonterminal) </a:t>
            </a:r>
            <a:endParaRPr lang="en-US" altLang="zh-CN" sz="1600" dirty="0">
              <a:latin typeface="Times New Roman" panose="02020603050405020304" pitchFamily="18" charset="0"/>
              <a:cs typeface="Times New Roman" panose="02020603050405020304" pitchFamily="18" charset="0"/>
            </a:endParaRPr>
          </a:p>
          <a:p>
            <a:pPr lvl="1"/>
            <a:r>
              <a:rPr lang="en-US" altLang="zh-CN" sz="1800" dirty="0">
                <a:solidFill>
                  <a:srgbClr val="000000"/>
                </a:solidFill>
                <a:effectLst/>
                <a:latin typeface="Times New Roman" panose="02020603050405020304" pitchFamily="18" charset="0"/>
                <a:cs typeface="Times New Roman" panose="02020603050405020304" pitchFamily="18" charset="0"/>
              </a:rPr>
              <a:t>If the parse is </a:t>
            </a:r>
            <a:r>
              <a:rPr lang="en-US" altLang="zh-CN" sz="1800" dirty="0">
                <a:solidFill>
                  <a:srgbClr val="FF0000"/>
                </a:solidFill>
                <a:effectLst/>
                <a:latin typeface="Times New Roman" panose="02020603050405020304" pitchFamily="18" charset="0"/>
                <a:cs typeface="Times New Roman" panose="02020603050405020304" pitchFamily="18" charset="0"/>
              </a:rPr>
              <a:t>bottom-up</a:t>
            </a:r>
            <a:r>
              <a:rPr lang="en-US" altLang="zh-CN" sz="1800" dirty="0">
                <a:solidFill>
                  <a:srgbClr val="000000"/>
                </a:solidFill>
                <a:effectLst/>
                <a:latin typeface="Times New Roman" panose="02020603050405020304" pitchFamily="18" charset="0"/>
                <a:cs typeface="Times New Roman" panose="02020603050405020304" pitchFamily="18" charset="0"/>
              </a:rPr>
              <a:t>, we perform the </a:t>
            </a:r>
            <a:r>
              <a:rPr lang="en-US" altLang="zh-CN" sz="1800" dirty="0">
                <a:solidFill>
                  <a:srgbClr val="0432FF"/>
                </a:solidFill>
                <a:effectLst/>
                <a:latin typeface="Times New Roman" panose="02020603050405020304" pitchFamily="18" charset="0"/>
                <a:cs typeface="Times New Roman" panose="02020603050405020304" pitchFamily="18" charset="0"/>
              </a:rPr>
              <a:t>action </a:t>
            </a:r>
            <a:r>
              <a:rPr lang="en-US" altLang="zh-CN" sz="1800" i="1" dirty="0">
                <a:solidFill>
                  <a:srgbClr val="0432FF"/>
                </a:solidFill>
                <a:effectLst/>
                <a:latin typeface="Times New Roman" panose="02020603050405020304" pitchFamily="18" charset="0"/>
                <a:cs typeface="Times New Roman" panose="02020603050405020304" pitchFamily="18" charset="0"/>
              </a:rPr>
              <a:t>a</a:t>
            </a:r>
            <a:r>
              <a:rPr lang="en-US" altLang="zh-CN" sz="1800" dirty="0">
                <a:solidFill>
                  <a:srgbClr val="0432FF"/>
                </a:solidFill>
                <a:effectLst/>
                <a:latin typeface="Times New Roman" panose="02020603050405020304" pitchFamily="18" charset="0"/>
                <a:cs typeface="Times New Roman" panose="02020603050405020304" pitchFamily="18" charset="0"/>
              </a:rPr>
              <a:t> </a:t>
            </a:r>
            <a:r>
              <a:rPr lang="en-US" altLang="zh-CN" sz="1800" dirty="0">
                <a:solidFill>
                  <a:srgbClr val="000000"/>
                </a:solidFill>
                <a:effectLst/>
                <a:latin typeface="Times New Roman" panose="02020603050405020304" pitchFamily="18" charset="0"/>
                <a:cs typeface="Times New Roman" panose="02020603050405020304" pitchFamily="18" charset="0"/>
              </a:rPr>
              <a:t>as soon as X appears on the top of the parsing stack </a:t>
            </a:r>
            <a:endParaRPr lang="en-US" altLang="zh-CN" sz="1100" dirty="0">
              <a:latin typeface="Times New Roman" panose="02020603050405020304" pitchFamily="18" charset="0"/>
              <a:cs typeface="Times New Roman" panose="02020603050405020304" pitchFamily="18" charset="0"/>
            </a:endParaRPr>
          </a:p>
          <a:p>
            <a:pPr lvl="1"/>
            <a:r>
              <a:rPr lang="en-US" altLang="zh-CN" sz="1800" dirty="0">
                <a:solidFill>
                  <a:srgbClr val="000000"/>
                </a:solidFill>
                <a:effectLst/>
                <a:latin typeface="Times New Roman" panose="02020603050405020304" pitchFamily="18" charset="0"/>
                <a:cs typeface="Times New Roman" panose="02020603050405020304" pitchFamily="18" charset="0"/>
              </a:rPr>
              <a:t>If the parse is </a:t>
            </a:r>
            <a:r>
              <a:rPr lang="en-US" altLang="zh-CN" sz="1800" dirty="0">
                <a:solidFill>
                  <a:srgbClr val="FF0000"/>
                </a:solidFill>
                <a:effectLst/>
                <a:latin typeface="Times New Roman" panose="02020603050405020304" pitchFamily="18" charset="0"/>
                <a:cs typeface="Times New Roman" panose="02020603050405020304" pitchFamily="18" charset="0"/>
              </a:rPr>
              <a:t>top-down</a:t>
            </a:r>
            <a:r>
              <a:rPr lang="en-US" altLang="zh-CN" sz="1800" dirty="0">
                <a:solidFill>
                  <a:srgbClr val="000000"/>
                </a:solidFill>
                <a:effectLst/>
                <a:latin typeface="Times New Roman" panose="02020603050405020304" pitchFamily="18" charset="0"/>
                <a:cs typeface="Times New Roman" panose="02020603050405020304" pitchFamily="18" charset="0"/>
              </a:rPr>
              <a:t>, we perform the </a:t>
            </a:r>
            <a:r>
              <a:rPr lang="en-US" altLang="zh-CN" sz="1800" dirty="0">
                <a:solidFill>
                  <a:srgbClr val="0432FF"/>
                </a:solidFill>
                <a:effectLst/>
                <a:latin typeface="Times New Roman" panose="02020603050405020304" pitchFamily="18" charset="0"/>
                <a:cs typeface="Times New Roman" panose="02020603050405020304" pitchFamily="18" charset="0"/>
              </a:rPr>
              <a:t>action </a:t>
            </a:r>
            <a:r>
              <a:rPr lang="en-US" altLang="zh-CN" sz="1800" i="1" dirty="0">
                <a:solidFill>
                  <a:srgbClr val="0432FF"/>
                </a:solidFill>
                <a:effectLst/>
                <a:latin typeface="Times New Roman" panose="02020603050405020304" pitchFamily="18" charset="0"/>
                <a:cs typeface="Times New Roman" panose="02020603050405020304" pitchFamily="18" charset="0"/>
              </a:rPr>
              <a:t>a</a:t>
            </a:r>
            <a:r>
              <a:rPr lang="en-US" altLang="zh-CN" sz="1800" dirty="0">
                <a:solidFill>
                  <a:srgbClr val="0432FF"/>
                </a:solidFill>
                <a:effectLst/>
                <a:latin typeface="Times New Roman" panose="02020603050405020304" pitchFamily="18" charset="0"/>
                <a:cs typeface="Times New Roman" panose="02020603050405020304" pitchFamily="18" charset="0"/>
              </a:rPr>
              <a:t> </a:t>
            </a:r>
            <a:r>
              <a:rPr lang="en-US" altLang="zh-CN" sz="1800" dirty="0">
                <a:solidFill>
                  <a:srgbClr val="000000"/>
                </a:solidFill>
                <a:effectLst/>
                <a:latin typeface="Times New Roman" panose="02020603050405020304" pitchFamily="18" charset="0"/>
                <a:cs typeface="Times New Roman" panose="02020603050405020304" pitchFamily="18" charset="0"/>
              </a:rPr>
              <a:t>before attempting to expand Y (if Y is a nonterminal) or check for Y on the input (if </a:t>
            </a:r>
            <a:r>
              <a:rPr lang="en-US" altLang="zh-CN" sz="1800" i="1" dirty="0">
                <a:solidFill>
                  <a:srgbClr val="000000"/>
                </a:solidFill>
                <a:effectLst/>
                <a:latin typeface="Times New Roman" panose="02020603050405020304" pitchFamily="18" charset="0"/>
                <a:cs typeface="Times New Roman" panose="02020603050405020304" pitchFamily="18" charset="0"/>
              </a:rPr>
              <a:t>Y</a:t>
            </a:r>
            <a:r>
              <a:rPr lang="en-US" altLang="zh-CN" sz="1800" dirty="0">
                <a:solidFill>
                  <a:srgbClr val="000000"/>
                </a:solidFill>
                <a:effectLst/>
                <a:latin typeface="Times New Roman" panose="02020603050405020304" pitchFamily="18" charset="0"/>
                <a:cs typeface="Times New Roman" panose="02020603050405020304" pitchFamily="18" charset="0"/>
              </a:rPr>
              <a:t> is a terminal)</a:t>
            </a:r>
          </a:p>
          <a:p>
            <a:pPr marL="457200" lvl="1" indent="0">
              <a:buNone/>
            </a:pPr>
            <a:r>
              <a:rPr lang="zh-CN" altLang="en-US" sz="1800" dirty="0">
                <a:solidFill>
                  <a:srgbClr val="000000"/>
                </a:solidFill>
                <a:effectLst/>
                <a:latin typeface="Times New Roman" panose="02020603050405020304" pitchFamily="18" charset="0"/>
                <a:cs typeface="Times New Roman" panose="02020603050405020304" pitchFamily="18" charset="0"/>
              </a:rPr>
              <a:t>结合语法分析树理解</a:t>
            </a:r>
            <a:endParaRPr sz="1800" dirty="0">
              <a:latin typeface="Times New Roman" panose="02020603050405020304" pitchFamily="18" charset="0"/>
              <a:ea typeface="Palatino Linotype" panose="02040502050505030304"/>
              <a:cs typeface="Times New Roman" panose="02020603050405020304" pitchFamily="18" charset="0"/>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48</a:t>
            </a:fld>
            <a:endParaRPr/>
          </a:p>
        </p:txBody>
      </p:sp>
      <p:sp>
        <p:nvSpPr>
          <p:cNvPr id="5" name="文本框 4">
            <a:extLst>
              <a:ext uri="{FF2B5EF4-FFF2-40B4-BE49-F238E27FC236}">
                <a16:creationId xmlns:a16="http://schemas.microsoft.com/office/drawing/2014/main" id="{49E7D733-9B7B-62C8-7059-FC414FA64318}"/>
              </a:ext>
            </a:extLst>
          </p:cNvPr>
          <p:cNvSpPr txBox="1"/>
          <p:nvPr/>
        </p:nvSpPr>
        <p:spPr>
          <a:xfrm>
            <a:off x="2286000" y="2015138"/>
            <a:ext cx="4572000" cy="646331"/>
          </a:xfrm>
          <a:prstGeom prst="rect">
            <a:avLst/>
          </a:prstGeom>
          <a:noFill/>
        </p:spPr>
        <p:txBody>
          <a:bodyPr wrap="square">
            <a:spAutoFit/>
          </a:bodyPr>
          <a:lstStyle/>
          <a:p>
            <a:pPr algn="ctr"/>
            <a:r>
              <a:rPr lang="en-US" altLang="zh-CN" sz="3600" i="1" dirty="0">
                <a:solidFill>
                  <a:srgbClr val="FF0000"/>
                </a:solidFill>
                <a:latin typeface="Times New Roman" panose="02020603050405020304" pitchFamily="18" charset="0"/>
                <a:cs typeface="Times New Roman" panose="02020603050405020304" pitchFamily="18" charset="0"/>
              </a:rPr>
              <a:t>B</a:t>
            </a:r>
            <a:r>
              <a:rPr lang="en-US" altLang="zh-CN" sz="3600" dirty="0">
                <a:solidFill>
                  <a:srgbClr val="FF0000"/>
                </a:solidFill>
                <a:latin typeface="Times New Roman" panose="02020603050405020304" pitchFamily="18" charset="0"/>
                <a:cs typeface="Times New Roman" panose="02020603050405020304" pitchFamily="18" charset="0"/>
              </a:rPr>
              <a:t> </a:t>
            </a:r>
            <a:r>
              <a:rPr lang="zh-CN" altLang="en-US" sz="3600" dirty="0">
                <a:solidFill>
                  <a:srgbClr val="FF0000"/>
                </a:solidFill>
                <a:latin typeface="Times New Roman" panose="02020603050405020304" pitchFamily="18" charset="0"/>
                <a:cs typeface="Times New Roman" panose="02020603050405020304" pitchFamily="18" charset="0"/>
              </a:rPr>
              <a:t>→ </a:t>
            </a:r>
            <a:r>
              <a:rPr lang="en-US" altLang="zh-CN" sz="3600" i="1" dirty="0">
                <a:solidFill>
                  <a:srgbClr val="FF0000"/>
                </a:solidFill>
                <a:latin typeface="Times New Roman" panose="02020603050405020304" pitchFamily="18" charset="0"/>
                <a:cs typeface="Times New Roman" panose="02020603050405020304" pitchFamily="18" charset="0"/>
              </a:rPr>
              <a:t>X</a:t>
            </a:r>
            <a:r>
              <a:rPr lang="en-US" altLang="zh-CN" sz="3600" dirty="0">
                <a:solidFill>
                  <a:srgbClr val="FF0000"/>
                </a:solidFill>
                <a:latin typeface="Times New Roman" panose="02020603050405020304" pitchFamily="18" charset="0"/>
                <a:cs typeface="Times New Roman" panose="02020603050405020304" pitchFamily="18" charset="0"/>
              </a:rPr>
              <a:t>{</a:t>
            </a:r>
            <a:r>
              <a:rPr lang="en-US" altLang="zh-CN" sz="3600" i="1" dirty="0">
                <a:solidFill>
                  <a:srgbClr val="0331FF"/>
                </a:solidFill>
                <a:latin typeface="Times New Roman" panose="02020603050405020304" pitchFamily="18" charset="0"/>
                <a:cs typeface="Times New Roman" panose="02020603050405020304" pitchFamily="18" charset="0"/>
              </a:rPr>
              <a:t>a</a:t>
            </a:r>
            <a:r>
              <a:rPr lang="en-US" altLang="zh-CN" sz="3600" dirty="0">
                <a:solidFill>
                  <a:srgbClr val="FF0000"/>
                </a:solidFill>
                <a:latin typeface="Times New Roman" panose="02020603050405020304" pitchFamily="18" charset="0"/>
                <a:cs typeface="Times New Roman" panose="02020603050405020304" pitchFamily="18" charset="0"/>
              </a:rPr>
              <a:t>}</a:t>
            </a:r>
            <a:r>
              <a:rPr lang="en-US" altLang="zh-CN" sz="3600" i="1" dirty="0">
                <a:solidFill>
                  <a:srgbClr val="FF0000"/>
                </a:solidFill>
                <a:latin typeface="Times New Roman" panose="02020603050405020304" pitchFamily="18" charset="0"/>
                <a:cs typeface="Times New Roman" panose="02020603050405020304" pitchFamily="18" charset="0"/>
              </a:rPr>
              <a:t>Y</a:t>
            </a:r>
            <a:endParaRPr lang="zh-CN" altLang="en-US" sz="3600"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6943F-413B-4409-BF98-4C11258BD4AC}"/>
              </a:ext>
            </a:extLst>
          </p:cNvPr>
          <p:cNvSpPr>
            <a:spLocks noGrp="1"/>
          </p:cNvSpPr>
          <p:nvPr>
            <p:ph type="title"/>
          </p:nvPr>
        </p:nvSpPr>
        <p:spPr>
          <a:xfrm>
            <a:off x="0" y="150203"/>
            <a:ext cx="9063956" cy="1325563"/>
          </a:xfrm>
        </p:spPr>
        <p:txBody>
          <a:bodyPr>
            <a:normAutofit/>
          </a:bodyPr>
          <a:lstStyle/>
          <a:p>
            <a:r>
              <a:rPr lang="en-US" altLang="zh-CN" sz="4000" b="1" dirty="0">
                <a:latin typeface="PalatinoLinotype-Bold"/>
              </a:rPr>
              <a:t>SDT’s Implementable During Parsing</a:t>
            </a:r>
            <a:endParaRPr lang="zh-CN" altLang="en-US" sz="4000" dirty="0"/>
          </a:p>
        </p:txBody>
      </p:sp>
      <p:sp>
        <p:nvSpPr>
          <p:cNvPr id="3" name="内容占位符 2">
            <a:extLst>
              <a:ext uri="{FF2B5EF4-FFF2-40B4-BE49-F238E27FC236}">
                <a16:creationId xmlns:a16="http://schemas.microsoft.com/office/drawing/2014/main" id="{9D9155F0-EDA3-4420-A3B4-FA3D285B21DD}"/>
              </a:ext>
            </a:extLst>
          </p:cNvPr>
          <p:cNvSpPr>
            <a:spLocks noGrp="1"/>
          </p:cNvSpPr>
          <p:nvPr>
            <p:ph idx="1"/>
          </p:nvPr>
        </p:nvSpPr>
        <p:spPr>
          <a:xfrm>
            <a:off x="615008" y="1475766"/>
            <a:ext cx="7989440" cy="4257490"/>
          </a:xfrm>
        </p:spPr>
        <p:txBody>
          <a:bodyPr>
            <a:normAutofit fontScale="62500" lnSpcReduction="20000"/>
          </a:bodyPr>
          <a:lstStyle/>
          <a:p>
            <a:r>
              <a:rPr lang="en-US" altLang="zh-CN" sz="3700" dirty="0">
                <a:solidFill>
                  <a:srgbClr val="000000"/>
                </a:solidFill>
                <a:latin typeface="PalatinoLinotype-Roman"/>
              </a:rPr>
              <a:t>In practice, SDT’s are often implemented during parsing, </a:t>
            </a:r>
            <a:r>
              <a:rPr lang="en-US" altLang="zh-CN" sz="3700" dirty="0">
                <a:solidFill>
                  <a:srgbClr val="FF0000"/>
                </a:solidFill>
                <a:latin typeface="PalatinoLinotype-Roman"/>
              </a:rPr>
              <a:t>without building a parse tree</a:t>
            </a:r>
          </a:p>
          <a:p>
            <a:r>
              <a:rPr lang="en-US" altLang="zh-CN" sz="3600" dirty="0">
                <a:solidFill>
                  <a:srgbClr val="FF0000"/>
                </a:solidFill>
                <a:latin typeface="PalatinoLinotype-Roman"/>
              </a:rPr>
              <a:t>Not all </a:t>
            </a:r>
            <a:r>
              <a:rPr lang="en-US" altLang="zh-CN" sz="3600" dirty="0">
                <a:solidFill>
                  <a:srgbClr val="000000"/>
                </a:solidFill>
                <a:latin typeface="PalatinoLinotype-Roman"/>
              </a:rPr>
              <a:t>SDT’s can be implemented during parsing</a:t>
            </a:r>
            <a:r>
              <a:rPr lang="en-US" altLang="zh-CN" sz="2400" dirty="0">
                <a:solidFill>
                  <a:srgbClr val="000000"/>
                </a:solidFill>
                <a:latin typeface="PalatinoLinotype-Roman"/>
              </a:rPr>
              <a:t>*</a:t>
            </a:r>
          </a:p>
          <a:p>
            <a:pPr lvl="1"/>
            <a:r>
              <a:rPr lang="en-US" altLang="zh-CN" dirty="0">
                <a:solidFill>
                  <a:srgbClr val="000000"/>
                </a:solidFill>
                <a:latin typeface="PalatinoLinotype-Roman"/>
              </a:rPr>
              <a:t>Even if the underlying grammar is </a:t>
            </a:r>
            <a:r>
              <a:rPr lang="en-US" altLang="zh-CN" dirty="0" err="1">
                <a:solidFill>
                  <a:srgbClr val="000000"/>
                </a:solidFill>
                <a:latin typeface="PalatinoLinotype-Roman"/>
              </a:rPr>
              <a:t>parsable</a:t>
            </a:r>
            <a:r>
              <a:rPr lang="en-US" altLang="zh-CN" dirty="0">
                <a:solidFill>
                  <a:srgbClr val="000000"/>
                </a:solidFill>
                <a:latin typeface="PalatinoLinotype-Roman"/>
              </a:rPr>
              <a:t> by a method (e.g., LL, LR), after introducing semantic actions, the method may become inapplicable</a:t>
            </a:r>
          </a:p>
          <a:p>
            <a:r>
              <a:rPr lang="en-US" altLang="zh-CN" sz="3600" dirty="0">
                <a:solidFill>
                  <a:srgbClr val="0432FF"/>
                </a:solidFill>
                <a:latin typeface="PalatinoLinotype-Roman"/>
              </a:rPr>
              <a:t>Determine if an SDT can be implemented during parsing</a:t>
            </a:r>
          </a:p>
          <a:p>
            <a:pPr lvl="1"/>
            <a:r>
              <a:rPr lang="en-US" altLang="zh-CN" dirty="0">
                <a:solidFill>
                  <a:srgbClr val="000000"/>
                </a:solidFill>
                <a:latin typeface="PalatinoLinotype-Roman"/>
              </a:rPr>
              <a:t>Introduce distinct </a:t>
            </a:r>
            <a:r>
              <a:rPr lang="en-US" altLang="zh-CN" i="1" dirty="0">
                <a:solidFill>
                  <a:srgbClr val="FF0000"/>
                </a:solidFill>
                <a:latin typeface="PalatinoLinotype-Italic"/>
              </a:rPr>
              <a:t>marker </a:t>
            </a:r>
            <a:r>
              <a:rPr lang="en-US" altLang="zh-CN" i="1" dirty="0" err="1">
                <a:solidFill>
                  <a:srgbClr val="FF0000"/>
                </a:solidFill>
                <a:latin typeface="PalatinoLinotype-Italic"/>
              </a:rPr>
              <a:t>nonterminals</a:t>
            </a:r>
            <a:r>
              <a:rPr lang="en-US" altLang="zh-CN" i="1" dirty="0">
                <a:solidFill>
                  <a:srgbClr val="FF0000"/>
                </a:solidFill>
                <a:latin typeface="PalatinoLinotype-Italic"/>
              </a:rPr>
              <a:t> </a:t>
            </a:r>
            <a:r>
              <a:rPr lang="en-US" altLang="zh-CN" dirty="0">
                <a:solidFill>
                  <a:srgbClr val="000000"/>
                </a:solidFill>
                <a:latin typeface="PalatinoLinotype-Roman"/>
              </a:rPr>
              <a:t>to replace each embedded action; each marker </a:t>
            </a:r>
            <a:r>
              <a:rPr lang="zh-CN" altLang="en-US" dirty="0">
                <a:solidFill>
                  <a:srgbClr val="000000"/>
                </a:solidFill>
                <a:latin typeface="CambriaMath"/>
              </a:rPr>
              <a:t>𝑀 </a:t>
            </a:r>
            <a:r>
              <a:rPr lang="en-US" altLang="zh-CN" dirty="0">
                <a:solidFill>
                  <a:srgbClr val="000000"/>
                </a:solidFill>
                <a:latin typeface="PalatinoLinotype-Roman"/>
              </a:rPr>
              <a:t>has only one production </a:t>
            </a:r>
            <a:r>
              <a:rPr lang="zh-CN" altLang="en-US" dirty="0">
                <a:solidFill>
                  <a:srgbClr val="000000"/>
                </a:solidFill>
                <a:latin typeface="CambriaMath"/>
              </a:rPr>
              <a:t>𝑀 → 𝜖</a:t>
            </a:r>
          </a:p>
          <a:p>
            <a:pPr lvl="1"/>
            <a:r>
              <a:rPr lang="en-US" altLang="zh-CN" dirty="0">
                <a:solidFill>
                  <a:srgbClr val="000000"/>
                </a:solidFill>
                <a:latin typeface="PalatinoLinotype-Roman"/>
              </a:rPr>
              <a:t>If the grammar with marker </a:t>
            </a:r>
            <a:r>
              <a:rPr lang="en-US" altLang="zh-CN" dirty="0" err="1">
                <a:solidFill>
                  <a:srgbClr val="000000"/>
                </a:solidFill>
                <a:latin typeface="PalatinoLinotype-Roman"/>
              </a:rPr>
              <a:t>nonterminals</a:t>
            </a:r>
            <a:r>
              <a:rPr lang="en-US" altLang="zh-CN" dirty="0">
                <a:solidFill>
                  <a:srgbClr val="000000"/>
                </a:solidFill>
                <a:latin typeface="PalatinoLinotype-Roman"/>
              </a:rPr>
              <a:t> can be parsed by a given method, then the SDT can be implemented during parsing</a:t>
            </a:r>
            <a:endParaRPr lang="zh-CN" altLang="en-US" dirty="0"/>
          </a:p>
        </p:txBody>
      </p:sp>
      <p:sp>
        <p:nvSpPr>
          <p:cNvPr id="4" name="日期占位符 3">
            <a:extLst>
              <a:ext uri="{FF2B5EF4-FFF2-40B4-BE49-F238E27FC236}">
                <a16:creationId xmlns:a16="http://schemas.microsoft.com/office/drawing/2014/main" id="{D9E5B5A0-C2C3-4DD8-9452-DFE855031449}"/>
              </a:ext>
            </a:extLst>
          </p:cNvPr>
          <p:cNvSpPr>
            <a:spLocks noGrp="1"/>
          </p:cNvSpPr>
          <p:nvPr>
            <p:ph type="dt" sz="half" idx="10"/>
          </p:nvPr>
        </p:nvSpPr>
        <p:spPr/>
        <p:txBody>
          <a:bodyPr/>
          <a:lstStyle/>
          <a:p>
            <a:pPr>
              <a:defRPr/>
            </a:pPr>
            <a:r>
              <a:rPr lang="en-US" altLang="zh-CN"/>
              <a:t>Fall 2024</a:t>
            </a:r>
            <a:endParaRPr lang="en-US"/>
          </a:p>
        </p:txBody>
      </p:sp>
      <p:sp>
        <p:nvSpPr>
          <p:cNvPr id="5" name="页脚占位符 4">
            <a:extLst>
              <a:ext uri="{FF2B5EF4-FFF2-40B4-BE49-F238E27FC236}">
                <a16:creationId xmlns:a16="http://schemas.microsoft.com/office/drawing/2014/main" id="{2E768533-D86F-4FF9-857D-226C3EF7CAF2}"/>
              </a:ext>
            </a:extLst>
          </p:cNvPr>
          <p:cNvSpPr>
            <a:spLocks noGrp="1"/>
          </p:cNvSpPr>
          <p:nvPr>
            <p:ph type="ftr" sz="quarter" idx="11"/>
          </p:nvPr>
        </p:nvSpPr>
        <p:spPr/>
        <p:txBody>
          <a:bodyPr/>
          <a:lstStyle/>
          <a:p>
            <a:pPr>
              <a:defRPr/>
            </a:pPr>
            <a:r>
              <a:rPr lang="en-US"/>
              <a:t>BUPT Compilers</a:t>
            </a:r>
          </a:p>
        </p:txBody>
      </p:sp>
      <p:sp>
        <p:nvSpPr>
          <p:cNvPr id="6" name="灯片编号占位符 5">
            <a:extLst>
              <a:ext uri="{FF2B5EF4-FFF2-40B4-BE49-F238E27FC236}">
                <a16:creationId xmlns:a16="http://schemas.microsoft.com/office/drawing/2014/main" id="{ECD1BDDA-0A67-4FB4-98B5-E3214EFF4E88}"/>
              </a:ext>
            </a:extLst>
          </p:cNvPr>
          <p:cNvSpPr>
            <a:spLocks noGrp="1"/>
          </p:cNvSpPr>
          <p:nvPr>
            <p:ph type="sldNum" sz="quarter" idx="12"/>
          </p:nvPr>
        </p:nvSpPr>
        <p:spPr/>
        <p:txBody>
          <a:bodyPr/>
          <a:lstStyle/>
          <a:p>
            <a:pPr>
              <a:defRPr/>
            </a:pPr>
            <a:fld id="{2FBC720A-3716-234A-B2DF-CBC7E48049F5}" type="slidenum">
              <a:rPr lang="en-US" altLang="zh-CN" smtClean="0"/>
              <a:t>49</a:t>
            </a:fld>
            <a:endParaRPr lang="en-US" altLang="zh-CN"/>
          </a:p>
        </p:txBody>
      </p:sp>
      <p:sp>
        <p:nvSpPr>
          <p:cNvPr id="7" name="矩形 6">
            <a:extLst>
              <a:ext uri="{FF2B5EF4-FFF2-40B4-BE49-F238E27FC236}">
                <a16:creationId xmlns:a16="http://schemas.microsoft.com/office/drawing/2014/main" id="{4141BE14-2E98-43E7-8299-D31542DB8A3D}"/>
              </a:ext>
            </a:extLst>
          </p:cNvPr>
          <p:cNvSpPr/>
          <p:nvPr/>
        </p:nvSpPr>
        <p:spPr>
          <a:xfrm>
            <a:off x="637953" y="5890915"/>
            <a:ext cx="7989440" cy="307777"/>
          </a:xfrm>
          <a:prstGeom prst="rect">
            <a:avLst/>
          </a:prstGeom>
        </p:spPr>
        <p:txBody>
          <a:bodyPr wrap="square">
            <a:spAutoFit/>
          </a:bodyPr>
          <a:lstStyle/>
          <a:p>
            <a:r>
              <a:rPr lang="en-US" altLang="zh-CN" sz="900" dirty="0">
                <a:solidFill>
                  <a:schemeClr val="bg2">
                    <a:lumMod val="50000"/>
                  </a:schemeClr>
                </a:solidFill>
                <a:latin typeface="PalatinoLinotype-Roman"/>
              </a:rPr>
              <a:t>*</a:t>
            </a:r>
            <a:r>
              <a:rPr lang="en-US" altLang="zh-CN" sz="1400" dirty="0">
                <a:solidFill>
                  <a:schemeClr val="bg2">
                    <a:lumMod val="50000"/>
                  </a:schemeClr>
                </a:solidFill>
                <a:latin typeface="PalatinoLinotype-Roman"/>
              </a:rPr>
              <a:t>Note that all SDT’s can be implemented after building the parse tree, as earlier mentioned</a:t>
            </a:r>
            <a:endParaRPr lang="zh-CN" altLang="en-US" dirty="0">
              <a:solidFill>
                <a:schemeClr val="bg2">
                  <a:lumMod val="50000"/>
                </a:schemeClr>
              </a:solidFill>
            </a:endParaRPr>
          </a:p>
        </p:txBody>
      </p:sp>
    </p:spTree>
    <p:extLst>
      <p:ext uri="{BB962C8B-B14F-4D97-AF65-F5344CB8AC3E}">
        <p14:creationId xmlns:p14="http://schemas.microsoft.com/office/powerpoint/2010/main" val="15041761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 name="矩形 18">
            <a:extLst>
              <a:ext uri="{FF2B5EF4-FFF2-40B4-BE49-F238E27FC236}">
                <a16:creationId xmlns:a16="http://schemas.microsoft.com/office/drawing/2014/main" id="{9CBEDBEA-B52A-8B2B-8625-ECF7729BA1CF}"/>
              </a:ext>
            </a:extLst>
          </p:cNvPr>
          <p:cNvSpPr/>
          <p:nvPr/>
        </p:nvSpPr>
        <p:spPr>
          <a:xfrm>
            <a:off x="467544" y="5072696"/>
            <a:ext cx="7886700" cy="599579"/>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A Problematic SDT</a:t>
            </a:r>
            <a:endParaRPr lang="zh-CN" altLang="en-US" sz="3600" dirty="0">
              <a:latin typeface="Palatino Linotype" panose="02040502050505030304" charset="0"/>
            </a:endParaRPr>
          </a:p>
        </p:txBody>
      </p:sp>
      <p:sp>
        <p:nvSpPr>
          <p:cNvPr id="4" name="内容占位符 3"/>
          <p:cNvSpPr>
            <a:spLocks noGrp="1"/>
          </p:cNvSpPr>
          <p:nvPr>
            <p:ph idx="1"/>
          </p:nvPr>
        </p:nvSpPr>
        <p:spPr>
          <a:xfrm>
            <a:off x="628650" y="1825625"/>
            <a:ext cx="7886700" cy="523255"/>
          </a:xfrm>
        </p:spPr>
        <p:txBody>
          <a:bodyPr>
            <a:normAutofit/>
          </a:bodyPr>
          <a:lstStyle/>
          <a:p>
            <a:r>
              <a:rPr lang="en-US" altLang="zh-CN" sz="2000" dirty="0">
                <a:solidFill>
                  <a:srgbClr val="000000"/>
                </a:solidFill>
                <a:effectLst/>
                <a:latin typeface="Palatino Linotype" panose="02040502050505030304" pitchFamily="18" charset="0"/>
              </a:rPr>
              <a:t>This SDT translates infix expression to prefix expressions</a:t>
            </a:r>
            <a:endParaRPr sz="2000" dirty="0">
              <a:solidFill>
                <a:schemeClr val="tx1"/>
              </a:solidFill>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rPr dirty="0"/>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50</a:t>
            </a:fld>
            <a:endParaRPr/>
          </a:p>
        </p:txBody>
      </p:sp>
      <p:pic>
        <p:nvPicPr>
          <p:cNvPr id="8" name="图片 7">
            <a:extLst>
              <a:ext uri="{FF2B5EF4-FFF2-40B4-BE49-F238E27FC236}">
                <a16:creationId xmlns:a16="http://schemas.microsoft.com/office/drawing/2014/main" id="{94AA9A7D-9EBF-5B8B-65F8-B74BE158D9CD}"/>
              </a:ext>
            </a:extLst>
          </p:cNvPr>
          <p:cNvPicPr>
            <a:picLocks noChangeAspect="1"/>
          </p:cNvPicPr>
          <p:nvPr/>
        </p:nvPicPr>
        <p:blipFill>
          <a:blip r:embed="rId3"/>
          <a:stretch>
            <a:fillRect/>
          </a:stretch>
        </p:blipFill>
        <p:spPr>
          <a:xfrm>
            <a:off x="633132" y="2574152"/>
            <a:ext cx="3453404" cy="1778463"/>
          </a:xfrm>
          <a:prstGeom prst="rect">
            <a:avLst/>
          </a:prstGeom>
        </p:spPr>
      </p:pic>
      <p:sp>
        <p:nvSpPr>
          <p:cNvPr id="9" name="矩形 8">
            <a:extLst>
              <a:ext uri="{FF2B5EF4-FFF2-40B4-BE49-F238E27FC236}">
                <a16:creationId xmlns:a16="http://schemas.microsoft.com/office/drawing/2014/main" id="{C0F397CA-362B-831D-563F-DF3778A15922}"/>
              </a:ext>
            </a:extLst>
          </p:cNvPr>
          <p:cNvSpPr/>
          <p:nvPr/>
        </p:nvSpPr>
        <p:spPr>
          <a:xfrm>
            <a:off x="1467292" y="2817627"/>
            <a:ext cx="1376515" cy="28707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860836B-B960-DAB8-8197-5066A45180A1}"/>
              </a:ext>
            </a:extLst>
          </p:cNvPr>
          <p:cNvSpPr/>
          <p:nvPr/>
        </p:nvSpPr>
        <p:spPr bwMode="auto">
          <a:xfrm>
            <a:off x="2062716" y="4076537"/>
            <a:ext cx="2023819" cy="261548"/>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BB0459F7-4774-EC70-9A53-88FAF2C1985E}"/>
              </a:ext>
            </a:extLst>
          </p:cNvPr>
          <p:cNvSpPr/>
          <p:nvPr/>
        </p:nvSpPr>
        <p:spPr bwMode="auto">
          <a:xfrm>
            <a:off x="1475657" y="3325343"/>
            <a:ext cx="1267543" cy="25782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右 12">
            <a:extLst>
              <a:ext uri="{FF2B5EF4-FFF2-40B4-BE49-F238E27FC236}">
                <a16:creationId xmlns:a16="http://schemas.microsoft.com/office/drawing/2014/main" id="{0A4499AA-4479-093E-BCFE-C12B7B8AF11D}"/>
              </a:ext>
            </a:extLst>
          </p:cNvPr>
          <p:cNvSpPr/>
          <p:nvPr/>
        </p:nvSpPr>
        <p:spPr>
          <a:xfrm>
            <a:off x="4070057" y="3104964"/>
            <a:ext cx="1152128" cy="6480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7329B852-0B44-DCC6-7C46-76E8A3EC84AA}"/>
              </a:ext>
            </a:extLst>
          </p:cNvPr>
          <p:cNvSpPr txBox="1"/>
          <p:nvPr/>
        </p:nvSpPr>
        <p:spPr>
          <a:xfrm>
            <a:off x="5796136" y="2805193"/>
            <a:ext cx="2321469" cy="2031325"/>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L </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a:t>
            </a:r>
          </a:p>
          <a:p>
            <a:r>
              <a:rPr lang="en-US" altLang="zh-CN" dirty="0">
                <a:latin typeface="Times New Roman" panose="02020603050405020304" pitchFamily="18" charset="0"/>
                <a:cs typeface="Times New Roman" panose="02020603050405020304" pitchFamily="18" charset="0"/>
              </a:rPr>
              <a:t>E </a:t>
            </a:r>
            <a:r>
              <a:rPr lang="zh-CN" altLang="en-US"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M</a:t>
            </a:r>
            <a:r>
              <a:rPr lang="en-US" altLang="zh-CN" baseline="-25000" dirty="0">
                <a:solidFill>
                  <a:srgbClr val="FF0000"/>
                </a:solidFill>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E + T</a:t>
            </a:r>
            <a:r>
              <a:rPr lang="zh-CN" altLang="en-US"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M</a:t>
            </a:r>
            <a:r>
              <a:rPr lang="en-US" altLang="zh-CN" baseline="-25000" dirty="0">
                <a:solidFill>
                  <a:srgbClr val="FF0000"/>
                </a:solidFill>
                <a:latin typeface="Times New Roman" panose="02020603050405020304" pitchFamily="18" charset="0"/>
                <a:cs typeface="Times New Roman" panose="02020603050405020304" pitchFamily="18" charset="0"/>
              </a:rPr>
              <a:t>1</a:t>
            </a:r>
            <a:r>
              <a:rPr lang="zh-CN" altLang="en-US" dirty="0">
                <a:solidFill>
                  <a:srgbClr val="FF0000"/>
                </a:solidFill>
                <a:latin typeface="Times New Roman" panose="02020603050405020304" pitchFamily="18" charset="0"/>
                <a:cs typeface="Times New Roman" panose="02020603050405020304" pitchFamily="18" charset="0"/>
              </a:rPr>
              <a:t> → </a:t>
            </a:r>
            <a:r>
              <a:rPr lang="el-GR" altLang="zh-CN" b="0" i="0" dirty="0">
                <a:solidFill>
                  <a:srgbClr val="FF0000"/>
                </a:solidFill>
                <a:effectLst/>
                <a:latin typeface="Times New Roman" panose="02020603050405020304" pitchFamily="18" charset="0"/>
                <a:cs typeface="Times New Roman" panose="02020603050405020304" pitchFamily="18" charset="0"/>
              </a:rPr>
              <a:t>ε</a:t>
            </a:r>
            <a:endParaRPr lang="en-US" altLang="zh-CN" b="0" i="0" dirty="0">
              <a:solidFill>
                <a:srgbClr val="FF0000"/>
              </a:solidFill>
              <a:effectLst/>
              <a:latin typeface="Times New Roman" panose="02020603050405020304" pitchFamily="18" charset="0"/>
              <a:cs typeface="Times New Roman" panose="02020603050405020304" pitchFamily="18" charset="0"/>
            </a:endParaRPr>
          </a:p>
          <a:p>
            <a:r>
              <a:rPr lang="en-US" altLang="zh-CN" dirty="0">
                <a:solidFill>
                  <a:srgbClr val="202122"/>
                </a:solidFill>
                <a:latin typeface="Times New Roman" panose="02020603050405020304" pitchFamily="18" charset="0"/>
                <a:cs typeface="Times New Roman" panose="02020603050405020304" pitchFamily="18" charset="0"/>
              </a:rPr>
              <a:t>E </a:t>
            </a:r>
            <a:r>
              <a:rPr lang="zh-CN" altLang="zh-C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altLang="zh-CN" sz="1800" dirty="0">
                <a:solidFill>
                  <a:srgbClr val="202122"/>
                </a:solidFill>
                <a:latin typeface="Times New Roman" panose="02020603050405020304" pitchFamily="18" charset="0"/>
                <a:ea typeface="Calibri" panose="020F0502020204030204" pitchFamily="34" charset="0"/>
                <a:cs typeface="Times New Roman" panose="02020603050405020304" pitchFamily="18" charset="0"/>
              </a:rPr>
              <a:t> T</a:t>
            </a:r>
          </a:p>
          <a:p>
            <a:r>
              <a:rPr lang="en-US" altLang="zh-CN" dirty="0">
                <a:solidFill>
                  <a:srgbClr val="202122"/>
                </a:solidFill>
                <a:latin typeface="Times New Roman" panose="02020603050405020304" pitchFamily="18" charset="0"/>
                <a:cs typeface="Times New Roman" panose="02020603050405020304" pitchFamily="18" charset="0"/>
              </a:rPr>
              <a:t>T </a:t>
            </a:r>
            <a:r>
              <a:rPr lang="zh-CN" altLang="zh-C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altLang="zh-CN"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zh-CN"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US" altLang="zh-CN" baseline="-25000" dirty="0">
                <a:solidFill>
                  <a:srgbClr val="FF0000"/>
                </a:solidFill>
                <a:latin typeface="Times New Roman" panose="02020603050405020304" pitchFamily="18" charset="0"/>
                <a:cs typeface="Times New Roman" panose="02020603050405020304" pitchFamily="18" charset="0"/>
              </a:rPr>
              <a:t>2</a:t>
            </a:r>
            <a:r>
              <a:rPr lang="en-US" altLang="zh-CN"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T * F  </a:t>
            </a:r>
            <a:r>
              <a:rPr lang="en-US" altLang="zh-CN"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US" altLang="zh-CN" baseline="-25000" dirty="0">
                <a:solidFill>
                  <a:srgbClr val="FF0000"/>
                </a:solidFill>
                <a:latin typeface="Times New Roman" panose="02020603050405020304" pitchFamily="18" charset="0"/>
                <a:cs typeface="Times New Roman" panose="02020603050405020304" pitchFamily="18" charset="0"/>
              </a:rPr>
              <a:t>2</a:t>
            </a:r>
            <a:r>
              <a:rPr lang="en-US" altLang="zh-CN"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zh-CN" altLang="en-US"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l-GR" altLang="zh-CN" b="0" i="0" dirty="0">
                <a:solidFill>
                  <a:srgbClr val="FF0000"/>
                </a:solidFill>
                <a:effectLst/>
                <a:latin typeface="Times New Roman" panose="02020603050405020304" pitchFamily="18" charset="0"/>
                <a:cs typeface="Times New Roman" panose="02020603050405020304" pitchFamily="18" charset="0"/>
              </a:rPr>
              <a:t>ε</a:t>
            </a:r>
            <a:endParaRPr lang="en-US" altLang="zh-CN" b="0" i="0" dirty="0">
              <a:solidFill>
                <a:srgbClr val="FF0000"/>
              </a:solidFill>
              <a:effectLst/>
              <a:latin typeface="Times New Roman" panose="02020603050405020304" pitchFamily="18" charset="0"/>
              <a:cs typeface="Times New Roman" panose="02020603050405020304" pitchFamily="18" charset="0"/>
            </a:endParaRPr>
          </a:p>
          <a:p>
            <a:r>
              <a:rPr lang="en-US" altLang="zh-CN" dirty="0">
                <a:solidFill>
                  <a:srgbClr val="202122"/>
                </a:solidFill>
                <a:latin typeface="Times New Roman" panose="02020603050405020304" pitchFamily="18" charset="0"/>
                <a:cs typeface="Times New Roman" panose="02020603050405020304" pitchFamily="18" charset="0"/>
              </a:rPr>
              <a:t>T </a:t>
            </a:r>
            <a:r>
              <a:rPr lang="zh-CN" altLang="zh-C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altLang="zh-CN" sz="1800" dirty="0">
                <a:solidFill>
                  <a:srgbClr val="202122"/>
                </a:solidFill>
                <a:latin typeface="Times New Roman" panose="02020603050405020304" pitchFamily="18" charset="0"/>
                <a:ea typeface="Calibri" panose="020F0502020204030204" pitchFamily="34" charset="0"/>
                <a:cs typeface="Times New Roman" panose="02020603050405020304" pitchFamily="18" charset="0"/>
              </a:rPr>
              <a:t> </a:t>
            </a:r>
            <a:r>
              <a:rPr lang="en-US" altLang="zh-CN" dirty="0">
                <a:solidFill>
                  <a:srgbClr val="202122"/>
                </a:solidFill>
                <a:latin typeface="Times New Roman" panose="02020603050405020304" pitchFamily="18" charset="0"/>
                <a:ea typeface="Calibri" panose="020F0502020204030204" pitchFamily="34" charset="0"/>
                <a:cs typeface="Times New Roman" panose="02020603050405020304" pitchFamily="18" charset="0"/>
              </a:rPr>
              <a:t>F</a:t>
            </a:r>
          </a:p>
          <a:p>
            <a:r>
              <a:rPr lang="en-US" altLang="zh-CN" sz="1800" dirty="0">
                <a:solidFill>
                  <a:srgbClr val="202122"/>
                </a:solidFill>
                <a:latin typeface="Times New Roman" panose="02020603050405020304" pitchFamily="18" charset="0"/>
                <a:ea typeface="Calibri" panose="020F0502020204030204" pitchFamily="34" charset="0"/>
                <a:cs typeface="Times New Roman" panose="02020603050405020304" pitchFamily="18" charset="0"/>
              </a:rPr>
              <a:t>F </a:t>
            </a:r>
            <a:r>
              <a:rPr lang="zh-CN" altLang="zh-C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altLang="zh-CN" sz="18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 (E)</a:t>
            </a:r>
          </a:p>
          <a:p>
            <a:r>
              <a:rPr lang="en-US" altLang="zh-CN" sz="1800" dirty="0">
                <a:solidFill>
                  <a:srgbClr val="202122"/>
                </a:solidFill>
                <a:latin typeface="Times New Roman" panose="02020603050405020304" pitchFamily="18" charset="0"/>
                <a:ea typeface="Calibri" panose="020F0502020204030204" pitchFamily="34" charset="0"/>
                <a:cs typeface="Times New Roman" panose="02020603050405020304" pitchFamily="18" charset="0"/>
              </a:rPr>
              <a:t>F </a:t>
            </a:r>
            <a:r>
              <a:rPr lang="zh-CN" altLang="zh-C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altLang="zh-CN" sz="18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zh-CN" sz="1800" b="1"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digit</a:t>
            </a:r>
            <a:r>
              <a:rPr lang="en-US" altLang="zh-CN" sz="18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zh-C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US" altLang="zh-CN" baseline="-25000" dirty="0">
                <a:solidFill>
                  <a:srgbClr val="FF0000"/>
                </a:solidFill>
                <a:latin typeface="Times New Roman" panose="02020603050405020304" pitchFamily="18" charset="0"/>
                <a:cs typeface="Times New Roman" panose="02020603050405020304" pitchFamily="18" charset="0"/>
              </a:rPr>
              <a:t>3</a:t>
            </a:r>
            <a:r>
              <a:rPr lang="en-US" altLang="zh-CN" sz="1800" dirty="0">
                <a:solidFill>
                  <a:srgbClr val="2021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zh-CN" sz="18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US" altLang="zh-CN" baseline="-25000" dirty="0" err="1">
                <a:solidFill>
                  <a:srgbClr val="FF0000"/>
                </a:solidFill>
                <a:latin typeface="Times New Roman" panose="02020603050405020304" pitchFamily="18" charset="0"/>
                <a:cs typeface="Times New Roman" panose="02020603050405020304" pitchFamily="18" charset="0"/>
              </a:rPr>
              <a:t>3</a:t>
            </a:r>
            <a:r>
              <a:rPr lang="en-US" altLang="zh-C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zh-CN" altLang="zh-C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altLang="zh-CN"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l-GR" altLang="zh-CN" b="0" i="0" dirty="0">
                <a:solidFill>
                  <a:srgbClr val="FF0000"/>
                </a:solidFill>
                <a:effectLst/>
                <a:latin typeface="Times New Roman" panose="02020603050405020304" pitchFamily="18" charset="0"/>
                <a:cs typeface="Times New Roman" panose="02020603050405020304" pitchFamily="18" charset="0"/>
              </a:rPr>
              <a:t>ε</a:t>
            </a:r>
            <a:endParaRPr lang="en-US" altLang="zh-CN" sz="18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文本框 17">
            <a:extLst>
              <a:ext uri="{FF2B5EF4-FFF2-40B4-BE49-F238E27FC236}">
                <a16:creationId xmlns:a16="http://schemas.microsoft.com/office/drawing/2014/main" id="{4060E359-8F20-837C-7844-D7589D9CCF79}"/>
              </a:ext>
            </a:extLst>
          </p:cNvPr>
          <p:cNvSpPr txBox="1"/>
          <p:nvPr/>
        </p:nvSpPr>
        <p:spPr>
          <a:xfrm>
            <a:off x="467544" y="5074942"/>
            <a:ext cx="7886700" cy="584775"/>
          </a:xfrm>
          <a:prstGeom prst="rect">
            <a:avLst/>
          </a:prstGeom>
          <a:noFill/>
        </p:spPr>
        <p:txBody>
          <a:bodyPr wrap="square">
            <a:spAutoFit/>
          </a:bodyPr>
          <a:lstStyle/>
          <a:p>
            <a:r>
              <a:rPr lang="en-US" altLang="zh-CN" sz="1600" dirty="0">
                <a:solidFill>
                  <a:srgbClr val="000000"/>
                </a:solidFill>
                <a:effectLst/>
                <a:latin typeface="Palatino Linotype" panose="02040502050505030304" pitchFamily="18" charset="0"/>
              </a:rPr>
              <a:t>It is impossible to build parsing tables without conflicts using top-down or </a:t>
            </a:r>
            <a:endParaRPr lang="en-US" altLang="zh-CN" sz="1600" dirty="0"/>
          </a:p>
          <a:p>
            <a:r>
              <a:rPr lang="en-US" altLang="zh-CN" sz="1600" dirty="0">
                <a:solidFill>
                  <a:srgbClr val="000000"/>
                </a:solidFill>
                <a:effectLst/>
                <a:latin typeface="Palatino Linotype" panose="02040502050505030304" pitchFamily="18" charset="0"/>
              </a:rPr>
              <a:t>bottom-up parsing methods. This SDT cannot be implemented during parsing.</a:t>
            </a:r>
            <a:endParaRPr lang="zh-CN" alt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Uses of SDT’s</a:t>
            </a:r>
            <a:endParaRPr lang="zh-CN" altLang="en-US" sz="3600" dirty="0">
              <a:latin typeface="Palatino Linotype" panose="02040502050505030304" charset="0"/>
            </a:endParaRPr>
          </a:p>
        </p:txBody>
      </p:sp>
      <p:sp>
        <p:nvSpPr>
          <p:cNvPr id="4" name="内容占位符 3"/>
          <p:cNvSpPr>
            <a:spLocks noGrp="1"/>
          </p:cNvSpPr>
          <p:nvPr>
            <p:ph idx="1"/>
          </p:nvPr>
        </p:nvSpPr>
        <p:spPr>
          <a:xfrm>
            <a:off x="628650" y="1557020"/>
            <a:ext cx="7886700" cy="4351338"/>
          </a:xfrm>
        </p:spPr>
        <p:txBody>
          <a:bodyPr>
            <a:normAutofit/>
          </a:bodyPr>
          <a:lstStyle/>
          <a:p>
            <a:pPr marL="17145" algn="l" rtl="0" eaLnBrk="0" fontAlgn="auto">
              <a:lnSpc>
                <a:spcPct val="150000"/>
              </a:lnSpc>
              <a:spcBef>
                <a:spcPts val="0"/>
              </a:spcBef>
            </a:pPr>
            <a:r>
              <a:rPr lang="en-US" sz="2000" dirty="0">
                <a:solidFill>
                  <a:srgbClr val="FF0000"/>
                </a:solidFill>
                <a:latin typeface="Palatino Linotype" panose="02040502050505030304" charset="0"/>
                <a:ea typeface="Palatino Linotype" panose="02040502050505030304"/>
                <a:cs typeface="Palatino Linotype" panose="02040502050505030304"/>
                <a:sym typeface="+mn-ea"/>
              </a:rPr>
              <a:t>We can use SDT’s to implement two important classes of SDD’s:</a:t>
            </a:r>
          </a:p>
          <a:p>
            <a:pPr marL="457200" lvl="1" indent="0" rtl="0" eaLnBrk="0">
              <a:spcBef>
                <a:spcPts val="0"/>
              </a:spcBef>
              <a:buNone/>
            </a:pPr>
            <a:r>
              <a:rPr lang="en-US" sz="1600" dirty="0">
                <a:latin typeface="Palatino Linotype" panose="02040502050505030304" charset="0"/>
                <a:ea typeface="Palatino Linotype" panose="02040502050505030304"/>
                <a:cs typeface="Palatino Linotype" panose="02040502050505030304"/>
                <a:sym typeface="+mn-ea"/>
              </a:rPr>
              <a:t>The underlying grammar is LR, and the SDD is S-attributed</a:t>
            </a:r>
          </a:p>
          <a:p>
            <a:pPr marL="457200" lvl="1" indent="0" rtl="0" eaLnBrk="0">
              <a:spcBef>
                <a:spcPts val="0"/>
              </a:spcBef>
              <a:buNone/>
            </a:pPr>
            <a:r>
              <a:rPr lang="en-US" sz="1600" dirty="0">
                <a:solidFill>
                  <a:schemeClr val="bg2">
                    <a:lumMod val="50000"/>
                  </a:schemeClr>
                </a:solidFill>
                <a:latin typeface="Palatino Linotype" panose="02040502050505030304" charset="0"/>
                <a:ea typeface="Palatino Linotype" panose="02040502050505030304"/>
                <a:cs typeface="Palatino Linotype" panose="02040502050505030304"/>
                <a:sym typeface="+mn-ea"/>
              </a:rPr>
              <a:t>The underlying grammar is LL, and the SDD is L-attributed</a:t>
            </a:r>
            <a:endParaRPr sz="1600" dirty="0">
              <a:solidFill>
                <a:schemeClr val="bg2">
                  <a:lumMod val="50000"/>
                </a:schemeClr>
              </a:solidFill>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 name="矩形 16">
            <a:extLst>
              <a:ext uri="{FF2B5EF4-FFF2-40B4-BE49-F238E27FC236}">
                <a16:creationId xmlns:a16="http://schemas.microsoft.com/office/drawing/2014/main" id="{C8832C0F-D349-D4AF-4D7E-205124260848}"/>
              </a:ext>
            </a:extLst>
          </p:cNvPr>
          <p:cNvSpPr/>
          <p:nvPr/>
        </p:nvSpPr>
        <p:spPr>
          <a:xfrm>
            <a:off x="467544" y="5477211"/>
            <a:ext cx="7952370" cy="87914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Postfix Translation Schemes</a:t>
            </a:r>
            <a:endParaRPr lang="zh-CN" altLang="en-US" sz="3600" dirty="0">
              <a:latin typeface="Palatino Linotype" panose="02040502050505030304" charset="0"/>
            </a:endParaRPr>
          </a:p>
        </p:txBody>
      </p:sp>
      <p:sp>
        <p:nvSpPr>
          <p:cNvPr id="4" name="内容占位符 3"/>
          <p:cNvSpPr>
            <a:spLocks noGrp="1"/>
          </p:cNvSpPr>
          <p:nvPr>
            <p:ph idx="1"/>
          </p:nvPr>
        </p:nvSpPr>
        <p:spPr>
          <a:xfrm>
            <a:off x="628650" y="1556385"/>
            <a:ext cx="7886700" cy="4351338"/>
          </a:xfrm>
        </p:spPr>
        <p:txBody>
          <a:bodyPr>
            <a:normAutofit/>
          </a:bodyPr>
          <a:lstStyle/>
          <a:p>
            <a:r>
              <a:rPr lang="en-US" altLang="zh-CN" sz="1800" dirty="0">
                <a:solidFill>
                  <a:srgbClr val="000000"/>
                </a:solidFill>
                <a:effectLst/>
                <a:latin typeface="Palatino Linotype" panose="02040502050505030304" pitchFamily="18" charset="0"/>
              </a:rPr>
              <a:t>If the grammar of an SDD is LR, and the SDD is S-attributed, then we can construct a </a:t>
            </a:r>
            <a:r>
              <a:rPr lang="en-US" altLang="zh-CN" sz="1800" i="1" dirty="0">
                <a:solidFill>
                  <a:srgbClr val="FF0000"/>
                </a:solidFill>
                <a:effectLst/>
                <a:latin typeface="PalatinoLinotype-Italic"/>
              </a:rPr>
              <a:t>postfix SDT </a:t>
            </a:r>
            <a:r>
              <a:rPr lang="en-US" altLang="zh-CN" sz="1800" dirty="0">
                <a:solidFill>
                  <a:srgbClr val="FF0000"/>
                </a:solidFill>
                <a:effectLst/>
                <a:latin typeface="Palatino Linotype" panose="02040502050505030304" pitchFamily="18" charset="0"/>
              </a:rPr>
              <a:t>(</a:t>
            </a:r>
            <a:r>
              <a:rPr lang="zh-CN" altLang="en-US" sz="1800" dirty="0">
                <a:solidFill>
                  <a:srgbClr val="FF0000"/>
                </a:solidFill>
                <a:effectLst/>
                <a:latin typeface="宋体" panose="02010600030101010101" pitchFamily="2" charset="-122"/>
                <a:ea typeface="宋体" panose="02010600030101010101" pitchFamily="2" charset="-122"/>
              </a:rPr>
              <a:t>后缀</a:t>
            </a:r>
            <a:r>
              <a:rPr lang="en-US" altLang="zh-CN" sz="1800" dirty="0">
                <a:solidFill>
                  <a:srgbClr val="FF0000"/>
                </a:solidFill>
                <a:effectLst/>
                <a:latin typeface="宋体" panose="02010600030101010101" pitchFamily="2" charset="-122"/>
                <a:ea typeface="宋体" panose="02010600030101010101" pitchFamily="2" charset="-122"/>
              </a:rPr>
              <a:t>SDT</a:t>
            </a:r>
            <a:r>
              <a:rPr lang="en-US" altLang="zh-CN" sz="1800" dirty="0">
                <a:solidFill>
                  <a:srgbClr val="FF0000"/>
                </a:solidFill>
                <a:effectLst/>
                <a:latin typeface="Palatino Linotype" panose="02040502050505030304" pitchFamily="18" charset="0"/>
              </a:rPr>
              <a:t>) </a:t>
            </a:r>
            <a:r>
              <a:rPr lang="en-US" altLang="zh-CN" sz="1800" dirty="0">
                <a:solidFill>
                  <a:srgbClr val="000000"/>
                </a:solidFill>
                <a:effectLst/>
                <a:latin typeface="Palatino Linotype" panose="02040502050505030304" pitchFamily="18" charset="0"/>
              </a:rPr>
              <a:t>to implement the SDD in bottom-up parsing </a:t>
            </a:r>
            <a:endParaRPr lang="en-US" altLang="zh-CN" sz="1400" dirty="0"/>
          </a:p>
          <a:p>
            <a:pPr lvl="1"/>
            <a:r>
              <a:rPr lang="en-US" altLang="zh-CN" sz="1600" dirty="0">
                <a:solidFill>
                  <a:srgbClr val="000000"/>
                </a:solidFill>
                <a:effectLst/>
                <a:latin typeface="Palatino Linotype" panose="02040502050505030304" pitchFamily="18" charset="0"/>
              </a:rPr>
              <a:t>Semantic actions always appear at the end of productions (hence “postfix”)</a:t>
            </a:r>
            <a:endParaRPr sz="18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52</a:t>
            </a:fld>
            <a:endParaRPr/>
          </a:p>
        </p:txBody>
      </p:sp>
      <p:pic>
        <p:nvPicPr>
          <p:cNvPr id="6" name="图片 5">
            <a:extLst>
              <a:ext uri="{FF2B5EF4-FFF2-40B4-BE49-F238E27FC236}">
                <a16:creationId xmlns:a16="http://schemas.microsoft.com/office/drawing/2014/main" id="{F9C098DC-4A1B-86B9-3B88-1106324EFE44}"/>
              </a:ext>
            </a:extLst>
          </p:cNvPr>
          <p:cNvPicPr>
            <a:picLocks noChangeAspect="1"/>
          </p:cNvPicPr>
          <p:nvPr/>
        </p:nvPicPr>
        <p:blipFill>
          <a:blip r:embed="rId3"/>
          <a:stretch>
            <a:fillRect/>
          </a:stretch>
        </p:blipFill>
        <p:spPr>
          <a:xfrm>
            <a:off x="628650" y="3284984"/>
            <a:ext cx="3514892" cy="2154844"/>
          </a:xfrm>
          <a:prstGeom prst="rect">
            <a:avLst/>
          </a:prstGeom>
        </p:spPr>
      </p:pic>
      <p:pic>
        <p:nvPicPr>
          <p:cNvPr id="10" name="图片 9">
            <a:extLst>
              <a:ext uri="{FF2B5EF4-FFF2-40B4-BE49-F238E27FC236}">
                <a16:creationId xmlns:a16="http://schemas.microsoft.com/office/drawing/2014/main" id="{B836B5EB-C266-A197-B354-0CFC1395629E}"/>
              </a:ext>
            </a:extLst>
          </p:cNvPr>
          <p:cNvPicPr>
            <a:picLocks noChangeAspect="1"/>
          </p:cNvPicPr>
          <p:nvPr/>
        </p:nvPicPr>
        <p:blipFill>
          <a:blip r:embed="rId4"/>
          <a:stretch>
            <a:fillRect/>
          </a:stretch>
        </p:blipFill>
        <p:spPr>
          <a:xfrm>
            <a:off x="4495986" y="3436967"/>
            <a:ext cx="3923928" cy="1672453"/>
          </a:xfrm>
          <a:prstGeom prst="rect">
            <a:avLst/>
          </a:prstGeom>
        </p:spPr>
      </p:pic>
      <p:sp>
        <p:nvSpPr>
          <p:cNvPr id="12" name="文本框 11">
            <a:extLst>
              <a:ext uri="{FF2B5EF4-FFF2-40B4-BE49-F238E27FC236}">
                <a16:creationId xmlns:a16="http://schemas.microsoft.com/office/drawing/2014/main" id="{BFE0C8B5-8D90-857A-65CB-DD203B35D3E7}"/>
              </a:ext>
            </a:extLst>
          </p:cNvPr>
          <p:cNvSpPr txBox="1"/>
          <p:nvPr/>
        </p:nvSpPr>
        <p:spPr>
          <a:xfrm>
            <a:off x="3347864" y="3611055"/>
            <a:ext cx="795678" cy="369332"/>
          </a:xfrm>
          <a:prstGeom prst="rect">
            <a:avLst/>
          </a:prstGeom>
          <a:noFill/>
        </p:spPr>
        <p:txBody>
          <a:bodyPr wrap="square">
            <a:spAutoFit/>
          </a:bodyPr>
          <a:lstStyle/>
          <a:p>
            <a:r>
              <a:rPr lang="en-US" altLang="zh-CN" sz="1800" b="1" dirty="0">
                <a:solidFill>
                  <a:srgbClr val="FF0000"/>
                </a:solidFill>
                <a:effectLst/>
                <a:latin typeface="PalatinoLinotype-Bold"/>
              </a:rPr>
              <a:t>SDD</a:t>
            </a:r>
            <a:endParaRPr lang="zh-CN" altLang="en-US" dirty="0"/>
          </a:p>
        </p:txBody>
      </p:sp>
      <p:sp>
        <p:nvSpPr>
          <p:cNvPr id="14" name="文本框 13">
            <a:extLst>
              <a:ext uri="{FF2B5EF4-FFF2-40B4-BE49-F238E27FC236}">
                <a16:creationId xmlns:a16="http://schemas.microsoft.com/office/drawing/2014/main" id="{DBE33DCA-BDA8-FCDD-F245-7E7F929F76D1}"/>
              </a:ext>
            </a:extLst>
          </p:cNvPr>
          <p:cNvSpPr txBox="1"/>
          <p:nvPr/>
        </p:nvSpPr>
        <p:spPr>
          <a:xfrm>
            <a:off x="7661031" y="3284984"/>
            <a:ext cx="742950" cy="369332"/>
          </a:xfrm>
          <a:prstGeom prst="rect">
            <a:avLst/>
          </a:prstGeom>
          <a:noFill/>
        </p:spPr>
        <p:txBody>
          <a:bodyPr wrap="square">
            <a:spAutoFit/>
          </a:bodyPr>
          <a:lstStyle/>
          <a:p>
            <a:r>
              <a:rPr lang="en-US" altLang="zh-CN" sz="1800" b="1" dirty="0">
                <a:solidFill>
                  <a:srgbClr val="FF0000"/>
                </a:solidFill>
                <a:effectLst/>
                <a:latin typeface="PalatinoLinotype-Bold"/>
              </a:rPr>
              <a:t>SDT</a:t>
            </a:r>
            <a:endParaRPr lang="zh-CN" altLang="en-US" dirty="0"/>
          </a:p>
        </p:txBody>
      </p:sp>
      <p:sp>
        <p:nvSpPr>
          <p:cNvPr id="16" name="文本框 15">
            <a:extLst>
              <a:ext uri="{FF2B5EF4-FFF2-40B4-BE49-F238E27FC236}">
                <a16:creationId xmlns:a16="http://schemas.microsoft.com/office/drawing/2014/main" id="{97F7D212-88BF-8CEC-9B13-B3C6BD152AD5}"/>
              </a:ext>
            </a:extLst>
          </p:cNvPr>
          <p:cNvSpPr txBox="1"/>
          <p:nvPr/>
        </p:nvSpPr>
        <p:spPr>
          <a:xfrm>
            <a:off x="467544" y="5477211"/>
            <a:ext cx="8047806" cy="923330"/>
          </a:xfrm>
          <a:prstGeom prst="rect">
            <a:avLst/>
          </a:prstGeom>
          <a:noFill/>
        </p:spPr>
        <p:txBody>
          <a:bodyPr wrap="square">
            <a:spAutoFit/>
          </a:bodyPr>
          <a:lstStyle/>
          <a:p>
            <a:r>
              <a:rPr lang="en-US" altLang="zh-CN" sz="1800" dirty="0">
                <a:solidFill>
                  <a:srgbClr val="000000"/>
                </a:solidFill>
                <a:effectLst/>
                <a:latin typeface="Palatino Linotype" panose="02040502050505030304" pitchFamily="18" charset="0"/>
              </a:rPr>
              <a:t>This is possible because in bottom-up parsing, before reducing to a production head, the grammar symbols in the production body have been visited and their synthesized attributes have been computed.</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 name="矩形 11">
            <a:extLst>
              <a:ext uri="{FF2B5EF4-FFF2-40B4-BE49-F238E27FC236}">
                <a16:creationId xmlns:a16="http://schemas.microsoft.com/office/drawing/2014/main" id="{B4844C8C-B6C6-27A6-D276-203000C0A883}"/>
              </a:ext>
            </a:extLst>
          </p:cNvPr>
          <p:cNvSpPr/>
          <p:nvPr/>
        </p:nvSpPr>
        <p:spPr>
          <a:xfrm>
            <a:off x="628650" y="4913610"/>
            <a:ext cx="7886700" cy="646331"/>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normAutofit/>
          </a:bodyPr>
          <a:lstStyle/>
          <a:p>
            <a:pPr algn="ctr"/>
            <a:r>
              <a:rPr lang="en-US" altLang="zh-CN" sz="3600" dirty="0">
                <a:latin typeface="Palatino Linotype" panose="02040502050505030304" charset="0"/>
              </a:rPr>
              <a:t>Parser-Stack Implementation of </a:t>
            </a:r>
            <a:br>
              <a:rPr lang="en-US" altLang="zh-CN" sz="3600" dirty="0">
                <a:latin typeface="Palatino Linotype" panose="02040502050505030304" charset="0"/>
              </a:rPr>
            </a:br>
            <a:r>
              <a:rPr lang="en-US" altLang="zh-CN" sz="3600" dirty="0">
                <a:latin typeface="Palatino Linotype" panose="02040502050505030304" charset="0"/>
              </a:rPr>
              <a:t>Postfix SDT’s</a:t>
            </a:r>
            <a:endParaRPr lang="zh-CN" altLang="en-US" sz="3600" dirty="0">
              <a:latin typeface="Palatino Linotype" panose="02040502050505030304" charset="0"/>
            </a:endParaRPr>
          </a:p>
        </p:txBody>
      </p:sp>
      <p:sp>
        <p:nvSpPr>
          <p:cNvPr id="4" name="内容占位符 3"/>
          <p:cNvSpPr>
            <a:spLocks noGrp="1"/>
          </p:cNvSpPr>
          <p:nvPr>
            <p:ph idx="1"/>
          </p:nvPr>
        </p:nvSpPr>
        <p:spPr>
          <a:xfrm>
            <a:off x="628650" y="1520190"/>
            <a:ext cx="7886700" cy="4351338"/>
          </a:xfrm>
        </p:spPr>
        <p:txBody>
          <a:bodyPr>
            <a:normAutofit/>
          </a:bodyPr>
          <a:lstStyle/>
          <a:p>
            <a:pPr marL="17145" algn="l" rtl="0" eaLnBrk="0" fontAlgn="auto">
              <a:lnSpc>
                <a:spcPct val="150000"/>
              </a:lnSpc>
              <a:spcBef>
                <a:spcPts val="0"/>
              </a:spcBef>
            </a:pPr>
            <a:r>
              <a:rPr lang="en-US" sz="2000" dirty="0">
                <a:latin typeface="Palatino Linotype" panose="02040502050505030304" charset="0"/>
                <a:ea typeface="Palatino Linotype" panose="02040502050505030304"/>
                <a:cs typeface="Palatino Linotype" panose="02040502050505030304"/>
                <a:sym typeface="+mn-ea"/>
              </a:rPr>
              <a:t>Postfix SDT’s can be implemented during LR parsing by executing the actions when reductions occur</a:t>
            </a:r>
          </a:p>
          <a:p>
            <a:pPr marL="17145" algn="l" rtl="0" eaLnBrk="0" fontAlgn="auto">
              <a:lnSpc>
                <a:spcPct val="150000"/>
              </a:lnSpc>
              <a:spcBef>
                <a:spcPts val="0"/>
              </a:spcBef>
            </a:pPr>
            <a:r>
              <a:rPr lang="en-US" sz="2000" dirty="0">
                <a:latin typeface="Palatino Linotype" panose="02040502050505030304" charset="0"/>
                <a:ea typeface="Palatino Linotype" panose="02040502050505030304"/>
                <a:cs typeface="Palatino Linotype" panose="02040502050505030304"/>
                <a:sym typeface="+mn-ea"/>
              </a:rPr>
              <a:t>The synthesized attributes can be placed along with the grammar symbols on the stack</a:t>
            </a:r>
            <a:endParaRPr sz="20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a:xfrm>
            <a:off x="1576192" y="6330827"/>
            <a:ext cx="2057400" cy="365125"/>
          </a:xfrm>
        </p:spPr>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a:xfrm>
            <a:off x="3976492" y="6330827"/>
            <a:ext cx="3086100" cy="365125"/>
          </a:xfrm>
        </p:spPr>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53</a:t>
            </a:fld>
            <a:endParaRPr dirty="0"/>
          </a:p>
        </p:txBody>
      </p:sp>
      <p:pic>
        <p:nvPicPr>
          <p:cNvPr id="5" name="图片 4">
            <a:extLst>
              <a:ext uri="{FF2B5EF4-FFF2-40B4-BE49-F238E27FC236}">
                <a16:creationId xmlns:a16="http://schemas.microsoft.com/office/drawing/2014/main" id="{86F43800-6F83-D399-15FA-80127D82A225}"/>
              </a:ext>
            </a:extLst>
          </p:cNvPr>
          <p:cNvPicPr>
            <a:picLocks noChangeAspect="1"/>
          </p:cNvPicPr>
          <p:nvPr/>
        </p:nvPicPr>
        <p:blipFill>
          <a:blip r:embed="rId3"/>
          <a:stretch>
            <a:fillRect/>
          </a:stretch>
        </p:blipFill>
        <p:spPr>
          <a:xfrm>
            <a:off x="1733219" y="3428387"/>
            <a:ext cx="5677562" cy="1429544"/>
          </a:xfrm>
          <a:prstGeom prst="rect">
            <a:avLst/>
          </a:prstGeom>
        </p:spPr>
      </p:pic>
      <p:sp>
        <p:nvSpPr>
          <p:cNvPr id="11" name="文本框 10">
            <a:extLst>
              <a:ext uri="{FF2B5EF4-FFF2-40B4-BE49-F238E27FC236}">
                <a16:creationId xmlns:a16="http://schemas.microsoft.com/office/drawing/2014/main" id="{A243D521-EC01-62F8-6E0A-8DAFC0D3AFC6}"/>
              </a:ext>
            </a:extLst>
          </p:cNvPr>
          <p:cNvSpPr txBox="1"/>
          <p:nvPr/>
        </p:nvSpPr>
        <p:spPr>
          <a:xfrm>
            <a:off x="755576" y="4883455"/>
            <a:ext cx="7886700" cy="646331"/>
          </a:xfrm>
          <a:prstGeom prst="rect">
            <a:avLst/>
          </a:prstGeom>
          <a:noFill/>
        </p:spPr>
        <p:txBody>
          <a:bodyPr wrap="square">
            <a:spAutoFit/>
          </a:bodyPr>
          <a:lstStyle/>
          <a:p>
            <a:r>
              <a:rPr lang="en-US" altLang="zh-CN" sz="1800" dirty="0">
                <a:solidFill>
                  <a:srgbClr val="000000"/>
                </a:solidFill>
                <a:effectLst/>
                <a:latin typeface="Palatino Linotype" panose="02040502050505030304" pitchFamily="18" charset="0"/>
              </a:rPr>
              <a:t>If we do reduction using </a:t>
            </a:r>
            <a:r>
              <a:rPr lang="en-US" altLang="zh-CN" sz="1800" dirty="0">
                <a:solidFill>
                  <a:srgbClr val="000000"/>
                </a:solidFill>
                <a:effectLst/>
                <a:latin typeface="Cambria Math" panose="02040503050406030204" pitchFamily="18" charset="0"/>
              </a:rPr>
              <a:t>A → XYZ</a:t>
            </a:r>
            <a:r>
              <a:rPr lang="en-US" altLang="zh-CN" sz="1800" dirty="0">
                <a:solidFill>
                  <a:srgbClr val="000000"/>
                </a:solidFill>
                <a:effectLst/>
                <a:latin typeface="Palatino Linotype" panose="02040502050505030304" pitchFamily="18" charset="0"/>
              </a:rPr>
              <a:t>, then the attributes of </a:t>
            </a:r>
            <a:r>
              <a:rPr lang="en-US" altLang="zh-CN" sz="1800" dirty="0">
                <a:solidFill>
                  <a:srgbClr val="000000"/>
                </a:solidFill>
                <a:effectLst/>
                <a:latin typeface="Cambria Math" panose="02040503050406030204" pitchFamily="18" charset="0"/>
              </a:rPr>
              <a:t>A </a:t>
            </a:r>
            <a:r>
              <a:rPr lang="en-US" altLang="zh-CN" sz="1800" dirty="0">
                <a:solidFill>
                  <a:srgbClr val="000000"/>
                </a:solidFill>
                <a:effectLst/>
                <a:latin typeface="Palatino Linotype" panose="02040502050505030304" pitchFamily="18" charset="0"/>
              </a:rPr>
              <a:t>can be calculated </a:t>
            </a:r>
            <a:endParaRPr lang="en-US" altLang="zh-CN" dirty="0"/>
          </a:p>
          <a:p>
            <a:r>
              <a:rPr lang="en-US" altLang="zh-CN" sz="1800" dirty="0">
                <a:solidFill>
                  <a:srgbClr val="000000"/>
                </a:solidFill>
                <a:effectLst/>
                <a:latin typeface="Palatino Linotype" panose="02040502050505030304" pitchFamily="18" charset="0"/>
              </a:rPr>
              <a:t>based on the attributes of </a:t>
            </a:r>
            <a:r>
              <a:rPr lang="en-US" altLang="zh-CN" sz="1800" dirty="0">
                <a:solidFill>
                  <a:srgbClr val="000000"/>
                </a:solidFill>
                <a:effectLst/>
                <a:latin typeface="Cambria Math" panose="02040503050406030204" pitchFamily="18" charset="0"/>
              </a:rPr>
              <a:t>X</a:t>
            </a:r>
            <a:r>
              <a:rPr lang="en-US" altLang="zh-CN" sz="1800" dirty="0">
                <a:solidFill>
                  <a:srgbClr val="000000"/>
                </a:solidFill>
                <a:effectLst/>
                <a:latin typeface="Palatino Linotype" panose="02040502050505030304" pitchFamily="18" charset="0"/>
              </a:rPr>
              <a:t>, </a:t>
            </a:r>
            <a:r>
              <a:rPr lang="en-US" altLang="zh-CN" sz="1800" dirty="0">
                <a:solidFill>
                  <a:srgbClr val="000000"/>
                </a:solidFill>
                <a:effectLst/>
                <a:latin typeface="Cambria Math" panose="02040503050406030204" pitchFamily="18" charset="0"/>
              </a:rPr>
              <a:t>Y</a:t>
            </a:r>
            <a:r>
              <a:rPr lang="en-US" altLang="zh-CN" sz="1800" dirty="0">
                <a:solidFill>
                  <a:srgbClr val="000000"/>
                </a:solidFill>
                <a:effectLst/>
                <a:latin typeface="Palatino Linotype" panose="02040502050505030304" pitchFamily="18" charset="0"/>
              </a:rPr>
              <a:t>, and </a:t>
            </a:r>
            <a:r>
              <a:rPr lang="en-US" altLang="zh-CN" sz="1800" dirty="0">
                <a:solidFill>
                  <a:srgbClr val="000000"/>
                </a:solidFill>
                <a:effectLst/>
                <a:latin typeface="Cambria Math" panose="02040503050406030204" pitchFamily="18" charset="0"/>
              </a:rPr>
              <a:t>Z</a:t>
            </a:r>
            <a:r>
              <a:rPr lang="en-US" altLang="zh-CN" sz="1800" dirty="0">
                <a:solidFill>
                  <a:srgbClr val="000000"/>
                </a:solidFill>
                <a:effectLst/>
                <a:latin typeface="Palatino Linotype" panose="02040502050505030304" pitchFamily="18" charset="0"/>
              </a:rPr>
              <a:t>, which are already on the stack.</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表格 34">
            <a:extLst>
              <a:ext uri="{FF2B5EF4-FFF2-40B4-BE49-F238E27FC236}">
                <a16:creationId xmlns:a16="http://schemas.microsoft.com/office/drawing/2014/main" id="{725C3618-A0CB-4BE3-8D73-34DF8850647C}"/>
              </a:ext>
            </a:extLst>
          </p:cNvPr>
          <p:cNvGraphicFramePr>
            <a:graphicFrameLocks noGrp="1"/>
          </p:cNvGraphicFramePr>
          <p:nvPr>
            <p:extLst>
              <p:ext uri="{D42A27DB-BD31-4B8C-83A1-F6EECF244321}">
                <p14:modId xmlns:p14="http://schemas.microsoft.com/office/powerpoint/2010/main" val="872578928"/>
              </p:ext>
            </p:extLst>
          </p:nvPr>
        </p:nvGraphicFramePr>
        <p:xfrm>
          <a:off x="3111500" y="2972956"/>
          <a:ext cx="2915136" cy="2225040"/>
        </p:xfrm>
        <a:graphic>
          <a:graphicData uri="http://schemas.openxmlformats.org/drawingml/2006/table">
            <a:tbl>
              <a:tblPr bandRow="1"/>
              <a:tblGrid>
                <a:gridCol w="971712">
                  <a:extLst>
                    <a:ext uri="{9D8B030D-6E8A-4147-A177-3AD203B41FA5}">
                      <a16:colId xmlns:a16="http://schemas.microsoft.com/office/drawing/2014/main" val="20000"/>
                    </a:ext>
                  </a:extLst>
                </a:gridCol>
                <a:gridCol w="971712">
                  <a:extLst>
                    <a:ext uri="{9D8B030D-6E8A-4147-A177-3AD203B41FA5}">
                      <a16:colId xmlns:a16="http://schemas.microsoft.com/office/drawing/2014/main" val="20001"/>
                    </a:ext>
                  </a:extLst>
                </a:gridCol>
                <a:gridCol w="971712">
                  <a:extLst>
                    <a:ext uri="{9D8B030D-6E8A-4147-A177-3AD203B41FA5}">
                      <a16:colId xmlns:a16="http://schemas.microsoft.com/office/drawing/2014/main" val="20002"/>
                    </a:ext>
                  </a:extLst>
                </a:gridCol>
              </a:tblGrid>
              <a:tr h="370840">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endParaRPr lang="zh-CN" altLang="en-US" dirty="0"/>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endParaRPr lang="zh-CN" altLang="en-US"/>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endParaRPr lang="zh-CN" altLang="en-US" dirty="0"/>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0"/>
                  </a:ext>
                </a:extLst>
              </a:tr>
              <a:tr h="370840">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1"/>
                  </a:ext>
                </a:extLst>
              </a:tr>
              <a:tr h="370840">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2"/>
                  </a:ext>
                </a:extLst>
              </a:tr>
              <a:tr h="370840">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3"/>
                  </a:ext>
                </a:extLst>
              </a:tr>
              <a:tr h="370840">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r>
                        <a:rPr lang="en-US" sz="2400" b="0">
                          <a:effectLst/>
                          <a:latin typeface="+mj-ea"/>
                          <a:ea typeface="+mj-ea"/>
                          <a:sym typeface="MT Extra" panose="05050102010205020202" pitchFamily="18" charset="2"/>
                        </a:rPr>
                        <a:t></a:t>
                      </a:r>
                      <a:endParaRPr lang="zh-CN" sz="1100" b="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r>
                        <a:rPr lang="en-US" sz="2400" b="0" dirty="0">
                          <a:effectLst/>
                          <a:latin typeface="+mj-ea"/>
                          <a:ea typeface="+mj-ea"/>
                          <a:sym typeface="MT Extra" panose="05050102010205020202" pitchFamily="18" charset="2"/>
                        </a:rPr>
                        <a:t></a:t>
                      </a: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r>
                        <a:rPr lang="en-US" sz="2400" b="0" dirty="0">
                          <a:effectLst/>
                          <a:latin typeface="+mj-ea"/>
                          <a:ea typeface="+mj-ea"/>
                          <a:sym typeface="MT Extra" panose="05050102010205020202" pitchFamily="18" charset="2"/>
                        </a:rPr>
                        <a:t></a:t>
                      </a: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4"/>
                  </a:ext>
                </a:extLst>
              </a:tr>
              <a:tr h="370840">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r>
                        <a:rPr lang="en-US" sz="2400" b="0">
                          <a:effectLst/>
                          <a:latin typeface="+mj-ea"/>
                          <a:ea typeface="+mj-ea"/>
                        </a:rPr>
                        <a:t>S</a:t>
                      </a:r>
                      <a:r>
                        <a:rPr lang="en-US" sz="2400" b="0" baseline="-25000">
                          <a:effectLst/>
                          <a:latin typeface="+mj-ea"/>
                          <a:ea typeface="+mj-ea"/>
                        </a:rPr>
                        <a:t>0</a:t>
                      </a:r>
                      <a:endParaRPr lang="zh-CN" sz="1100" b="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r>
                        <a:rPr lang="zh-CN" sz="2400" b="0" dirty="0">
                          <a:effectLst/>
                          <a:latin typeface="+mj-ea"/>
                          <a:ea typeface="+mj-ea"/>
                        </a:rPr>
                        <a:t>—</a:t>
                      </a: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a:defRPr sz="1800">
                          <a:solidFill>
                            <a:schemeClr val="dk1"/>
                          </a:solidFill>
                          <a:latin typeface="Arial" panose="020B0604020202020204"/>
                        </a:defRPr>
                      </a:lvl1pPr>
                      <a:lvl2pPr marL="457200" algn="l" defTabSz="914400">
                        <a:defRPr sz="1800">
                          <a:solidFill>
                            <a:schemeClr val="dk1"/>
                          </a:solidFill>
                          <a:latin typeface="Arial" panose="020B0604020202020204"/>
                        </a:defRPr>
                      </a:lvl2pPr>
                      <a:lvl3pPr marL="914400" algn="l" defTabSz="914400">
                        <a:defRPr sz="1800">
                          <a:solidFill>
                            <a:schemeClr val="dk1"/>
                          </a:solidFill>
                          <a:latin typeface="Arial" panose="020B0604020202020204"/>
                        </a:defRPr>
                      </a:lvl3pPr>
                      <a:lvl4pPr marL="1371600" algn="l" defTabSz="914400">
                        <a:defRPr sz="1800">
                          <a:solidFill>
                            <a:schemeClr val="dk1"/>
                          </a:solidFill>
                          <a:latin typeface="Arial" panose="020B0604020202020204"/>
                        </a:defRPr>
                      </a:lvl4pPr>
                      <a:lvl5pPr marL="1828800" algn="l" defTabSz="914400">
                        <a:defRPr sz="1800">
                          <a:solidFill>
                            <a:schemeClr val="dk1"/>
                          </a:solidFill>
                          <a:latin typeface="Arial" panose="020B0604020202020204"/>
                        </a:defRPr>
                      </a:lvl5pPr>
                      <a:lvl6pPr marL="2286000" algn="l" defTabSz="914400">
                        <a:defRPr sz="1800">
                          <a:solidFill>
                            <a:schemeClr val="dk1"/>
                          </a:solidFill>
                          <a:latin typeface="Arial" panose="020B0604020202020204"/>
                        </a:defRPr>
                      </a:lvl6pPr>
                      <a:lvl7pPr marL="2743200" algn="l" defTabSz="914400">
                        <a:defRPr sz="1800">
                          <a:solidFill>
                            <a:schemeClr val="dk1"/>
                          </a:solidFill>
                          <a:latin typeface="Arial" panose="020B0604020202020204"/>
                        </a:defRPr>
                      </a:lvl7pPr>
                      <a:lvl8pPr marL="3200400" algn="l" defTabSz="914400">
                        <a:defRPr sz="1800">
                          <a:solidFill>
                            <a:schemeClr val="dk1"/>
                          </a:solidFill>
                          <a:latin typeface="Arial" panose="020B0604020202020204"/>
                        </a:defRPr>
                      </a:lvl8pPr>
                      <a:lvl9pPr marL="3657600" algn="l" defTabSz="914400">
                        <a:defRPr sz="1800">
                          <a:solidFill>
                            <a:schemeClr val="dk1"/>
                          </a:solidFill>
                          <a:latin typeface="Arial" panose="020B0604020202020204"/>
                        </a:defRPr>
                      </a:lvl9pPr>
                    </a:lstStyle>
                    <a:p>
                      <a:pPr algn="ctr">
                        <a:lnSpc>
                          <a:spcPct val="100000"/>
                        </a:lnSpc>
                        <a:spcAft>
                          <a:spcPts val="0"/>
                        </a:spcAft>
                      </a:pPr>
                      <a:r>
                        <a:rPr lang="en-US" sz="2400" b="0" dirty="0">
                          <a:effectLst/>
                          <a:latin typeface="+mj-ea"/>
                          <a:ea typeface="+mj-ea"/>
                        </a:rPr>
                        <a:t>#</a:t>
                      </a:r>
                      <a:endParaRPr lang="zh-CN" sz="1100" b="0" dirty="0">
                        <a:effectLst/>
                        <a:latin typeface="+mj-ea"/>
                        <a:ea typeface="+mj-ea"/>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5"/>
                  </a:ext>
                </a:extLst>
              </a:tr>
            </a:tbl>
          </a:graphicData>
        </a:graphic>
      </p:graphicFrame>
      <p:sp>
        <p:nvSpPr>
          <p:cNvPr id="36" name="任意多边形 20">
            <a:extLst>
              <a:ext uri="{FF2B5EF4-FFF2-40B4-BE49-F238E27FC236}">
                <a16:creationId xmlns:a16="http://schemas.microsoft.com/office/drawing/2014/main" id="{13D79E3D-669D-40E5-A56D-FDE60318C0E0}"/>
              </a:ext>
            </a:extLst>
          </p:cNvPr>
          <p:cNvSpPr/>
          <p:nvPr/>
        </p:nvSpPr>
        <p:spPr>
          <a:xfrm>
            <a:off x="3111500" y="2492896"/>
            <a:ext cx="2921000" cy="2705100"/>
          </a:xfrm>
          <a:custGeom>
            <a:avLst/>
            <a:gdLst>
              <a:gd name="connsiteX0" fmla="*/ 12700 w 2921000"/>
              <a:gd name="connsiteY0" fmla="*/ 0 h 2705100"/>
              <a:gd name="connsiteX1" fmla="*/ 0 w 2921000"/>
              <a:gd name="connsiteY1" fmla="*/ 2705100 h 2705100"/>
              <a:gd name="connsiteX2" fmla="*/ 2921000 w 2921000"/>
              <a:gd name="connsiteY2" fmla="*/ 2705100 h 2705100"/>
              <a:gd name="connsiteX3" fmla="*/ 2908300 w 2921000"/>
              <a:gd name="connsiteY3" fmla="*/ 12700 h 2705100"/>
            </a:gdLst>
            <a:ahLst/>
            <a:cxnLst>
              <a:cxn ang="0">
                <a:pos x="connsiteX0" y="connsiteY0"/>
              </a:cxn>
              <a:cxn ang="0">
                <a:pos x="connsiteX1" y="connsiteY1"/>
              </a:cxn>
              <a:cxn ang="0">
                <a:pos x="connsiteX2" y="connsiteY2"/>
              </a:cxn>
              <a:cxn ang="0">
                <a:pos x="connsiteX3" y="connsiteY3"/>
              </a:cxn>
            </a:cxnLst>
            <a:rect l="l" t="t" r="r" b="b"/>
            <a:pathLst>
              <a:path w="2921000" h="2705100">
                <a:moveTo>
                  <a:pt x="12700" y="0"/>
                </a:moveTo>
                <a:cubicBezTo>
                  <a:pt x="8467" y="901700"/>
                  <a:pt x="4233" y="1803400"/>
                  <a:pt x="0" y="2705100"/>
                </a:cubicBezTo>
                <a:lnTo>
                  <a:pt x="2921000" y="2705100"/>
                </a:lnTo>
                <a:cubicBezTo>
                  <a:pt x="2916767" y="1807633"/>
                  <a:pt x="2912533" y="910167"/>
                  <a:pt x="2908300" y="12700"/>
                </a:cubicBezTo>
              </a:path>
            </a:pathLst>
          </a:custGeom>
          <a:noFill/>
          <a:ln w="19050" cap="rnd" cmpd="sng" algn="ctr">
            <a:solidFill>
              <a:srgbClr val="4F81BD">
                <a:shade val="50000"/>
              </a:srgbClr>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grpSp>
        <p:nvGrpSpPr>
          <p:cNvPr id="37" name="组合 36">
            <a:extLst>
              <a:ext uri="{FF2B5EF4-FFF2-40B4-BE49-F238E27FC236}">
                <a16:creationId xmlns:a16="http://schemas.microsoft.com/office/drawing/2014/main" id="{98920AC8-C33B-4F07-BB23-37C4A04CB9D1}"/>
              </a:ext>
            </a:extLst>
          </p:cNvPr>
          <p:cNvGrpSpPr/>
          <p:nvPr/>
        </p:nvGrpSpPr>
        <p:grpSpPr>
          <a:xfrm>
            <a:off x="1841500" y="3233498"/>
            <a:ext cx="1270000" cy="461665"/>
            <a:chOff x="122477" y="4705520"/>
            <a:chExt cx="1270000" cy="461665"/>
          </a:xfrm>
        </p:grpSpPr>
        <p:sp>
          <p:nvSpPr>
            <p:cNvPr id="38" name="文本框 37">
              <a:extLst>
                <a:ext uri="{FF2B5EF4-FFF2-40B4-BE49-F238E27FC236}">
                  <a16:creationId xmlns:a16="http://schemas.microsoft.com/office/drawing/2014/main" id="{BB32D471-062B-4F0C-B807-9E4A9F9D4FB3}"/>
                </a:ext>
              </a:extLst>
            </p:cNvPr>
            <p:cNvSpPr txBox="1"/>
            <p:nvPr/>
          </p:nvSpPr>
          <p:spPr>
            <a:xfrm>
              <a:off x="122477" y="4705520"/>
              <a:ext cx="810671" cy="461665"/>
            </a:xfrm>
            <a:prstGeom prst="rect">
              <a:avLst/>
            </a:prstGeom>
            <a:noFill/>
          </p:spPr>
          <p:txBody>
            <a:bodyPr wrap="non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rPr>
                <a:t>TOP</a:t>
              </a:r>
              <a:endParaRPr kumimoji="0" lang="zh-CN" altLang="en-US"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endParaRPr>
            </a:p>
          </p:txBody>
        </p:sp>
        <p:cxnSp>
          <p:nvCxnSpPr>
            <p:cNvPr id="39" name="直接箭头连接符 38">
              <a:extLst>
                <a:ext uri="{FF2B5EF4-FFF2-40B4-BE49-F238E27FC236}">
                  <a16:creationId xmlns:a16="http://schemas.microsoft.com/office/drawing/2014/main" id="{4B5CA436-42F4-4742-96BB-DFE0609DE010}"/>
                </a:ext>
              </a:extLst>
            </p:cNvPr>
            <p:cNvCxnSpPr>
              <a:stCxn id="38" idx="3"/>
            </p:cNvCxnSpPr>
            <p:nvPr/>
          </p:nvCxnSpPr>
          <p:spPr>
            <a:xfrm flipV="1">
              <a:off x="933148" y="4936352"/>
              <a:ext cx="459329" cy="1"/>
            </a:xfrm>
            <a:prstGeom prst="straightConnector1">
              <a:avLst/>
            </a:prstGeom>
            <a:noFill/>
            <a:ln w="38100" cap="rnd" cmpd="sng" algn="ctr">
              <a:solidFill>
                <a:srgbClr val="4F81BD"/>
              </a:solidFill>
              <a:prstDash val="solid"/>
              <a:tailEnd type="stealth" w="lg" len="lg"/>
            </a:ln>
            <a:effectLst/>
          </p:spPr>
        </p:cxnSp>
      </p:grpSp>
      <p:cxnSp>
        <p:nvCxnSpPr>
          <p:cNvPr id="40" name="直接箭头连接符 39">
            <a:extLst>
              <a:ext uri="{FF2B5EF4-FFF2-40B4-BE49-F238E27FC236}">
                <a16:creationId xmlns:a16="http://schemas.microsoft.com/office/drawing/2014/main" id="{59FAE70E-D759-46AE-BA03-11A33893FF1F}"/>
              </a:ext>
            </a:extLst>
          </p:cNvPr>
          <p:cNvCxnSpPr/>
          <p:nvPr/>
        </p:nvCxnSpPr>
        <p:spPr>
          <a:xfrm flipV="1">
            <a:off x="6309872" y="2701754"/>
            <a:ext cx="0" cy="2496242"/>
          </a:xfrm>
          <a:prstGeom prst="straightConnector1">
            <a:avLst/>
          </a:prstGeom>
          <a:noFill/>
          <a:ln w="38100" cap="rnd" cmpd="sng" algn="ctr">
            <a:solidFill>
              <a:srgbClr val="4F81BD"/>
            </a:solidFill>
            <a:prstDash val="solid"/>
            <a:tailEnd type="stealth" w="lg" len="lg"/>
          </a:ln>
          <a:effectLst/>
        </p:spPr>
      </p:cxnSp>
      <p:sp>
        <p:nvSpPr>
          <p:cNvPr id="41" name="文本框 40">
            <a:extLst>
              <a:ext uri="{FF2B5EF4-FFF2-40B4-BE49-F238E27FC236}">
                <a16:creationId xmlns:a16="http://schemas.microsoft.com/office/drawing/2014/main" id="{CE4B548A-A4DF-49CB-A6CE-245250AF41D6}"/>
              </a:ext>
            </a:extLst>
          </p:cNvPr>
          <p:cNvSpPr txBox="1"/>
          <p:nvPr/>
        </p:nvSpPr>
        <p:spPr>
          <a:xfrm>
            <a:off x="3144633" y="3288463"/>
            <a:ext cx="2854734" cy="461665"/>
          </a:xfrm>
          <a:prstGeom prst="rect">
            <a:avLst/>
          </a:prstGeom>
          <a:noFill/>
        </p:spPr>
        <p:txBody>
          <a:bodyPr wrap="square" rtlCol="0" anchor="ctr" anchorCtr="0">
            <a:spAutoFit/>
          </a:bodyPr>
          <a:lstStyle/>
          <a:p>
            <a:pPr algn="ctr" defTabSz="457200" rtl="0"/>
            <a:r>
              <a:rPr lang="en-US" altLang="zh-CN" sz="2400" kern="1200" dirty="0">
                <a:solidFill>
                  <a:srgbClr val="000000"/>
                </a:solidFill>
                <a:latin typeface="微软雅黑" panose="020B0503020204020204" pitchFamily="34" charset="-122"/>
                <a:ea typeface="黑体" panose="02010609060101010101" pitchFamily="49" charset="-122"/>
              </a:rPr>
              <a:t>S</a:t>
            </a:r>
            <a:r>
              <a:rPr lang="en-US" altLang="zh-CN" sz="2400" kern="1200" baseline="-25000" dirty="0">
                <a:solidFill>
                  <a:srgbClr val="000000"/>
                </a:solidFill>
                <a:latin typeface="微软雅黑" panose="020B0503020204020204" pitchFamily="34" charset="-122"/>
                <a:ea typeface="微软雅黑" panose="020B0503020204020204" pitchFamily="34" charset="-122"/>
              </a:rPr>
              <a:t>m</a:t>
            </a:r>
            <a:r>
              <a:rPr lang="en-US" altLang="zh-CN" sz="2400" kern="1200" baseline="-25000" dirty="0">
                <a:solidFill>
                  <a:srgbClr val="000000"/>
                </a:solidFill>
                <a:latin typeface="微软雅黑" panose="020B0503020204020204" pitchFamily="34" charset="-122"/>
                <a:ea typeface="黑体" panose="02010609060101010101" pitchFamily="49" charset="-122"/>
              </a:rPr>
              <a:t>		 </a:t>
            </a:r>
            <a:r>
              <a:rPr lang="en-US" altLang="zh-CN" sz="2400" kern="1200" dirty="0">
                <a:solidFill>
                  <a:srgbClr val="000000"/>
                </a:solidFill>
                <a:latin typeface="微软雅黑" panose="020B0503020204020204" pitchFamily="34" charset="-122"/>
                <a:ea typeface="黑体" panose="02010609060101010101" pitchFamily="49" charset="-122"/>
              </a:rPr>
              <a:t>Z		 </a:t>
            </a:r>
            <a:r>
              <a:rPr lang="en-US" altLang="zh-CN" sz="2400" kern="1200" dirty="0" err="1">
                <a:solidFill>
                  <a:srgbClr val="000000"/>
                </a:solidFill>
                <a:latin typeface="微软雅黑" panose="020B0503020204020204" pitchFamily="34" charset="-122"/>
                <a:ea typeface="黑体" panose="02010609060101010101" pitchFamily="49" charset="-122"/>
              </a:rPr>
              <a:t>Z.z</a:t>
            </a:r>
            <a:endParaRPr lang="zh-CN" altLang="en-US" sz="2400" kern="1200" dirty="0">
              <a:solidFill>
                <a:prstClr val="black"/>
              </a:solidFill>
              <a:latin typeface="Arial" panose="020B0604020202020204"/>
              <a:ea typeface="黑体" panose="02010609060101010101" pitchFamily="49" charset="-122"/>
            </a:endParaRPr>
          </a:p>
        </p:txBody>
      </p:sp>
      <p:sp>
        <p:nvSpPr>
          <p:cNvPr id="42" name="文本框 41">
            <a:extLst>
              <a:ext uri="{FF2B5EF4-FFF2-40B4-BE49-F238E27FC236}">
                <a16:creationId xmlns:a16="http://schemas.microsoft.com/office/drawing/2014/main" id="{70A2F7E1-5E6D-4964-B71E-823BB5B2BD50}"/>
              </a:ext>
            </a:extLst>
          </p:cNvPr>
          <p:cNvSpPr txBox="1"/>
          <p:nvPr/>
        </p:nvSpPr>
        <p:spPr>
          <a:xfrm>
            <a:off x="3101604" y="3663161"/>
            <a:ext cx="2930896" cy="461665"/>
          </a:xfrm>
          <a:prstGeom prst="rect">
            <a:avLst/>
          </a:prstGeom>
          <a:noFill/>
        </p:spPr>
        <p:txBody>
          <a:bodyPr wrap="square" rtlCol="0">
            <a:spAutoFit/>
          </a:bodyPr>
          <a:lstStyle/>
          <a:p>
            <a:pPr algn="ctr" defTabSz="457200" rtl="0"/>
            <a:r>
              <a:rPr lang="en-US" altLang="zh-CN" sz="2400" kern="1200" dirty="0">
                <a:solidFill>
                  <a:srgbClr val="000000"/>
                </a:solidFill>
                <a:latin typeface="微软雅黑" panose="020B0503020204020204" pitchFamily="34" charset="-122"/>
                <a:ea typeface="黑体" panose="02010609060101010101" pitchFamily="49" charset="-122"/>
              </a:rPr>
              <a:t>S</a:t>
            </a:r>
            <a:r>
              <a:rPr lang="en-US" altLang="zh-CN" sz="2400" kern="1200" baseline="-25000" dirty="0">
                <a:solidFill>
                  <a:srgbClr val="000000"/>
                </a:solidFill>
                <a:latin typeface="微软雅黑" panose="020B0503020204020204" pitchFamily="34" charset="-122"/>
                <a:ea typeface="微软雅黑" panose="020B0503020204020204" pitchFamily="34" charset="-122"/>
              </a:rPr>
              <a:t>m-1</a:t>
            </a:r>
            <a:r>
              <a:rPr lang="en-US" altLang="zh-CN" sz="2400" kern="1200" baseline="-25000" dirty="0">
                <a:solidFill>
                  <a:srgbClr val="000000"/>
                </a:solidFill>
                <a:latin typeface="微软雅黑" panose="020B0503020204020204" pitchFamily="34" charset="-122"/>
                <a:ea typeface="黑体" panose="02010609060101010101" pitchFamily="49" charset="-122"/>
              </a:rPr>
              <a:t>	</a:t>
            </a:r>
            <a:r>
              <a:rPr lang="en-US" altLang="zh-CN" sz="2400" kern="1200" dirty="0">
                <a:solidFill>
                  <a:srgbClr val="000000"/>
                </a:solidFill>
                <a:latin typeface="微软雅黑" panose="020B0503020204020204" pitchFamily="34" charset="-122"/>
                <a:ea typeface="黑体" panose="02010609060101010101" pitchFamily="49" charset="-122"/>
              </a:rPr>
              <a:t>Y		</a:t>
            </a:r>
            <a:r>
              <a:rPr lang="en-US" altLang="zh-CN" sz="2400" kern="1200" dirty="0" err="1">
                <a:solidFill>
                  <a:srgbClr val="000000"/>
                </a:solidFill>
                <a:latin typeface="微软雅黑" panose="020B0503020204020204" pitchFamily="34" charset="-122"/>
                <a:ea typeface="黑体" panose="02010609060101010101" pitchFamily="49" charset="-122"/>
              </a:rPr>
              <a:t>Y.y</a:t>
            </a:r>
            <a:endParaRPr lang="zh-CN" altLang="en-US" sz="2400" kern="1200" dirty="0">
              <a:solidFill>
                <a:prstClr val="black"/>
              </a:solidFill>
              <a:latin typeface="Arial" panose="020B0604020202020204"/>
              <a:ea typeface="黑体" panose="02010609060101010101" pitchFamily="49" charset="-122"/>
            </a:endParaRPr>
          </a:p>
        </p:txBody>
      </p:sp>
      <p:sp>
        <p:nvSpPr>
          <p:cNvPr id="43" name="文本框 42">
            <a:extLst>
              <a:ext uri="{FF2B5EF4-FFF2-40B4-BE49-F238E27FC236}">
                <a16:creationId xmlns:a16="http://schemas.microsoft.com/office/drawing/2014/main" id="{628C22DC-BA1F-4D04-9739-A2294FC3057E}"/>
              </a:ext>
            </a:extLst>
          </p:cNvPr>
          <p:cNvSpPr txBox="1"/>
          <p:nvPr/>
        </p:nvSpPr>
        <p:spPr>
          <a:xfrm>
            <a:off x="3111500" y="4042023"/>
            <a:ext cx="2930896" cy="461665"/>
          </a:xfrm>
          <a:prstGeom prst="rect">
            <a:avLst/>
          </a:prstGeom>
          <a:noFill/>
        </p:spPr>
        <p:txBody>
          <a:bodyPr wrap="square" rtlCol="0">
            <a:spAutoFit/>
          </a:bodyPr>
          <a:lstStyle/>
          <a:p>
            <a:pPr algn="ctr" defTabSz="457200" rtl="0"/>
            <a:r>
              <a:rPr lang="en-US" altLang="zh-CN" sz="2400" kern="1200" dirty="0">
                <a:solidFill>
                  <a:srgbClr val="000000"/>
                </a:solidFill>
                <a:latin typeface="微软雅黑" panose="020B0503020204020204" pitchFamily="34" charset="-122"/>
                <a:ea typeface="黑体" panose="02010609060101010101" pitchFamily="49" charset="-122"/>
              </a:rPr>
              <a:t>S</a:t>
            </a:r>
            <a:r>
              <a:rPr lang="en-US" altLang="zh-CN" sz="2400" kern="1200" baseline="-25000" dirty="0">
                <a:solidFill>
                  <a:srgbClr val="000000"/>
                </a:solidFill>
                <a:latin typeface="微软雅黑" panose="020B0503020204020204" pitchFamily="34" charset="-122"/>
                <a:ea typeface="微软雅黑" panose="020B0503020204020204" pitchFamily="34" charset="-122"/>
              </a:rPr>
              <a:t>m-2</a:t>
            </a:r>
            <a:r>
              <a:rPr lang="en-US" altLang="zh-CN" sz="2400" kern="1200" baseline="-25000" dirty="0">
                <a:solidFill>
                  <a:srgbClr val="000000"/>
                </a:solidFill>
                <a:latin typeface="微软雅黑" panose="020B0503020204020204" pitchFamily="34" charset="-122"/>
                <a:ea typeface="黑体" panose="02010609060101010101" pitchFamily="49" charset="-122"/>
              </a:rPr>
              <a:t>	</a:t>
            </a:r>
            <a:r>
              <a:rPr lang="en-US" altLang="zh-CN" sz="2400" kern="1200" dirty="0">
                <a:solidFill>
                  <a:srgbClr val="000000"/>
                </a:solidFill>
                <a:latin typeface="微软雅黑" panose="020B0503020204020204" pitchFamily="34" charset="-122"/>
                <a:ea typeface="黑体" panose="02010609060101010101" pitchFamily="49" charset="-122"/>
              </a:rPr>
              <a:t>X		</a:t>
            </a:r>
            <a:r>
              <a:rPr lang="en-US" altLang="zh-CN" sz="2400" kern="1200" dirty="0" err="1">
                <a:solidFill>
                  <a:srgbClr val="000000"/>
                </a:solidFill>
                <a:latin typeface="微软雅黑" panose="020B0503020204020204" pitchFamily="34" charset="-122"/>
                <a:ea typeface="黑体" panose="02010609060101010101" pitchFamily="49" charset="-122"/>
              </a:rPr>
              <a:t>X.x</a:t>
            </a:r>
            <a:endParaRPr lang="zh-CN" altLang="en-US" sz="2400" kern="1200" dirty="0">
              <a:solidFill>
                <a:prstClr val="black"/>
              </a:solidFill>
              <a:latin typeface="Arial" panose="020B0604020202020204"/>
              <a:ea typeface="黑体" panose="02010609060101010101" pitchFamily="49" charset="-122"/>
            </a:endParaRPr>
          </a:p>
        </p:txBody>
      </p:sp>
      <p:sp>
        <p:nvSpPr>
          <p:cNvPr id="44" name="文本框 43">
            <a:extLst>
              <a:ext uri="{FF2B5EF4-FFF2-40B4-BE49-F238E27FC236}">
                <a16:creationId xmlns:a16="http://schemas.microsoft.com/office/drawing/2014/main" id="{750E03D6-E02E-4FAC-82BE-72CE5505D3C1}"/>
              </a:ext>
            </a:extLst>
          </p:cNvPr>
          <p:cNvSpPr txBox="1"/>
          <p:nvPr/>
        </p:nvSpPr>
        <p:spPr>
          <a:xfrm>
            <a:off x="3098095" y="4061932"/>
            <a:ext cx="2930896" cy="461665"/>
          </a:xfrm>
          <a:prstGeom prst="rect">
            <a:avLst/>
          </a:prstGeom>
          <a:noFill/>
        </p:spPr>
        <p:txBody>
          <a:bodyPr wrap="square" rtlCol="0">
            <a:spAutoFit/>
          </a:bodyPr>
          <a:lstStyle/>
          <a:p>
            <a:pPr algn="ctr" defTabSz="457200" rtl="0" fontAlgn="t"/>
            <a:r>
              <a:rPr lang="en-US" altLang="zh-CN" sz="2400" kern="1200" dirty="0">
                <a:solidFill>
                  <a:srgbClr val="000000"/>
                </a:solidFill>
                <a:latin typeface="微软雅黑" panose="020B0503020204020204" pitchFamily="34" charset="-122"/>
                <a:ea typeface="微软雅黑" panose="020B0503020204020204" pitchFamily="34" charset="-122"/>
              </a:rPr>
              <a:t>S’</a:t>
            </a:r>
            <a:r>
              <a:rPr lang="en-US" altLang="zh-CN" sz="2400" kern="1200" baseline="-25000" dirty="0">
                <a:solidFill>
                  <a:srgbClr val="000000"/>
                </a:solidFill>
                <a:latin typeface="微软雅黑" panose="020B0503020204020204" pitchFamily="34" charset="-122"/>
                <a:ea typeface="微软雅黑" panose="020B0503020204020204" pitchFamily="34" charset="-122"/>
              </a:rPr>
              <a:t>	</a:t>
            </a:r>
            <a:r>
              <a:rPr lang="en-US" altLang="zh-CN" sz="2400" kern="1200" dirty="0">
                <a:solidFill>
                  <a:srgbClr val="000000"/>
                </a:solidFill>
                <a:latin typeface="微软雅黑" panose="020B0503020204020204" pitchFamily="34" charset="-122"/>
                <a:ea typeface="微软雅黑" panose="020B0503020204020204" pitchFamily="34" charset="-122"/>
              </a:rPr>
              <a:t>A		</a:t>
            </a:r>
            <a:r>
              <a:rPr lang="en-US" altLang="zh-CN" sz="2400" kern="1200" dirty="0" err="1">
                <a:solidFill>
                  <a:srgbClr val="000000"/>
                </a:solidFill>
                <a:latin typeface="微软雅黑" panose="020B0503020204020204" pitchFamily="34" charset="-122"/>
                <a:ea typeface="微软雅黑" panose="020B0503020204020204" pitchFamily="34" charset="-122"/>
              </a:rPr>
              <a:t>A.a</a:t>
            </a:r>
            <a:r>
              <a:rPr lang="en-US" altLang="zh-CN" sz="2400" kern="1200" dirty="0">
                <a:solidFill>
                  <a:srgbClr val="000000"/>
                </a:solidFill>
                <a:latin typeface="微软雅黑" panose="020B0503020204020204" pitchFamily="34" charset="-122"/>
                <a:ea typeface="微软雅黑" panose="020B0503020204020204" pitchFamily="34" charset="-122"/>
              </a:rPr>
              <a:t>	</a:t>
            </a:r>
            <a:endParaRPr lang="zh-CN" altLang="zh-CN" sz="2400" kern="1200" dirty="0">
              <a:solidFill>
                <a:prstClr val="black"/>
              </a:solidFill>
              <a:latin typeface="微软雅黑" panose="020B0503020204020204" pitchFamily="34" charset="-122"/>
              <a:ea typeface="微软雅黑" panose="020B0503020204020204" pitchFamily="34" charset="-122"/>
            </a:endParaRPr>
          </a:p>
        </p:txBody>
      </p:sp>
      <p:grpSp>
        <p:nvGrpSpPr>
          <p:cNvPr id="45" name="组合 44">
            <a:extLst>
              <a:ext uri="{FF2B5EF4-FFF2-40B4-BE49-F238E27FC236}">
                <a16:creationId xmlns:a16="http://schemas.microsoft.com/office/drawing/2014/main" id="{8992F2AA-EA59-4BA8-A06F-E10B2D0BF8BD}"/>
              </a:ext>
            </a:extLst>
          </p:cNvPr>
          <p:cNvGrpSpPr/>
          <p:nvPr/>
        </p:nvGrpSpPr>
        <p:grpSpPr>
          <a:xfrm>
            <a:off x="1828095" y="4032435"/>
            <a:ext cx="1270000" cy="461665"/>
            <a:chOff x="122477" y="4705520"/>
            <a:chExt cx="1270000" cy="461665"/>
          </a:xfrm>
        </p:grpSpPr>
        <p:sp>
          <p:nvSpPr>
            <p:cNvPr id="46" name="文本框 45">
              <a:extLst>
                <a:ext uri="{FF2B5EF4-FFF2-40B4-BE49-F238E27FC236}">
                  <a16:creationId xmlns:a16="http://schemas.microsoft.com/office/drawing/2014/main" id="{23C114F8-ABB7-4397-8992-2B4DB480BA4C}"/>
                </a:ext>
              </a:extLst>
            </p:cNvPr>
            <p:cNvSpPr txBox="1"/>
            <p:nvPr/>
          </p:nvSpPr>
          <p:spPr>
            <a:xfrm>
              <a:off x="122477" y="4705520"/>
              <a:ext cx="810671" cy="461665"/>
            </a:xfrm>
            <a:prstGeom prst="rect">
              <a:avLst/>
            </a:prstGeom>
            <a:noFill/>
          </p:spPr>
          <p:txBody>
            <a:bodyPr wrap="non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rPr>
                <a:t>TOP</a:t>
              </a:r>
              <a:endParaRPr kumimoji="0" lang="zh-CN" altLang="en-US" sz="2400"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endParaRPr>
            </a:p>
          </p:txBody>
        </p:sp>
        <p:cxnSp>
          <p:nvCxnSpPr>
            <p:cNvPr id="47" name="直接箭头连接符 46">
              <a:extLst>
                <a:ext uri="{FF2B5EF4-FFF2-40B4-BE49-F238E27FC236}">
                  <a16:creationId xmlns:a16="http://schemas.microsoft.com/office/drawing/2014/main" id="{8E8EE600-579F-418E-A45C-26B6ACED1733}"/>
                </a:ext>
              </a:extLst>
            </p:cNvPr>
            <p:cNvCxnSpPr>
              <a:stCxn id="46" idx="3"/>
            </p:cNvCxnSpPr>
            <p:nvPr/>
          </p:nvCxnSpPr>
          <p:spPr>
            <a:xfrm flipV="1">
              <a:off x="933148" y="4936352"/>
              <a:ext cx="459329" cy="1"/>
            </a:xfrm>
            <a:prstGeom prst="straightConnector1">
              <a:avLst/>
            </a:prstGeom>
            <a:noFill/>
            <a:ln w="38100" cap="rnd" cmpd="sng" algn="ctr">
              <a:solidFill>
                <a:srgbClr val="4F81BD"/>
              </a:solidFill>
              <a:prstDash val="solid"/>
              <a:tailEnd type="stealth" w="lg" len="lg"/>
            </a:ln>
            <a:effectLst/>
          </p:spPr>
        </p:cxnSp>
      </p:grpSp>
      <p:sp>
        <p:nvSpPr>
          <p:cNvPr id="48" name="文本框 47">
            <a:extLst>
              <a:ext uri="{FF2B5EF4-FFF2-40B4-BE49-F238E27FC236}">
                <a16:creationId xmlns:a16="http://schemas.microsoft.com/office/drawing/2014/main" id="{1B44FFB1-3BB3-4602-AD16-A3105AF2CE0E}"/>
              </a:ext>
            </a:extLst>
          </p:cNvPr>
          <p:cNvSpPr txBox="1"/>
          <p:nvPr/>
        </p:nvSpPr>
        <p:spPr>
          <a:xfrm>
            <a:off x="3115191" y="5197996"/>
            <a:ext cx="2930896" cy="369332"/>
          </a:xfrm>
          <a:prstGeom prst="rect">
            <a:avLst/>
          </a:prstGeom>
          <a:noFill/>
        </p:spPr>
        <p:txBody>
          <a:bodyPr wrap="square" rtlCol="0">
            <a:spAutoFit/>
          </a:bodyPr>
          <a:lstStyle/>
          <a:p>
            <a:pPr algn="ctr" defTabSz="457200" rtl="0" fontAlgn="t"/>
            <a:r>
              <a:rPr lang="en-US" altLang="zh-CN" kern="1200" dirty="0">
                <a:solidFill>
                  <a:srgbClr val="000000"/>
                </a:solidFill>
                <a:latin typeface="Plantagenet Cherokee" panose="02020602070100000000" pitchFamily="18" charset="0"/>
                <a:ea typeface="微软雅黑" panose="020B0503020204020204" pitchFamily="34" charset="-122"/>
              </a:rPr>
              <a:t>state</a:t>
            </a:r>
            <a:r>
              <a:rPr lang="en-US" altLang="zh-CN" kern="1200" baseline="-25000" dirty="0">
                <a:solidFill>
                  <a:srgbClr val="000000"/>
                </a:solidFill>
                <a:latin typeface="Plantagenet Cherokee" panose="02020602070100000000" pitchFamily="18" charset="0"/>
                <a:ea typeface="微软雅黑" panose="020B0503020204020204" pitchFamily="34" charset="-122"/>
              </a:rPr>
              <a:t>	</a:t>
            </a:r>
            <a:r>
              <a:rPr lang="en-US" altLang="zh-CN" kern="1200" dirty="0">
                <a:solidFill>
                  <a:srgbClr val="000000"/>
                </a:solidFill>
                <a:latin typeface="Plantagenet Cherokee" panose="02020602070100000000" pitchFamily="18" charset="0"/>
                <a:ea typeface="微软雅黑" panose="020B0503020204020204" pitchFamily="34" charset="-122"/>
              </a:rPr>
              <a:t>symbol  </a:t>
            </a:r>
            <a:r>
              <a:rPr lang="en-US" altLang="zh-CN" kern="1200" baseline="-25000" dirty="0">
                <a:solidFill>
                  <a:srgbClr val="000000"/>
                </a:solidFill>
                <a:latin typeface="Plantagenet Cherokee" panose="02020602070100000000" pitchFamily="18" charset="0"/>
                <a:ea typeface="微软雅黑" panose="020B0503020204020204" pitchFamily="34" charset="-122"/>
              </a:rPr>
              <a:t> </a:t>
            </a:r>
            <a:r>
              <a:rPr lang="en-US" altLang="zh-CN" kern="1200" dirty="0">
                <a:solidFill>
                  <a:srgbClr val="000000"/>
                </a:solidFill>
                <a:latin typeface="Plantagenet Cherokee" panose="02020602070100000000" pitchFamily="18" charset="0"/>
                <a:ea typeface="微软雅黑" panose="020B0503020204020204" pitchFamily="34" charset="-122"/>
              </a:rPr>
              <a:t>attribute </a:t>
            </a:r>
            <a:endParaRPr lang="zh-CN" altLang="zh-CN" kern="1200" dirty="0">
              <a:solidFill>
                <a:prstClr val="black"/>
              </a:solidFill>
              <a:latin typeface="Plantagenet Cherokee" panose="02020602070100000000" pitchFamily="18" charset="0"/>
              <a:ea typeface="微软雅黑" panose="020B0503020204020204" pitchFamily="34" charset="-122"/>
            </a:endParaRPr>
          </a:p>
        </p:txBody>
      </p:sp>
      <p:sp>
        <p:nvSpPr>
          <p:cNvPr id="2" name="日期占位符 1">
            <a:extLst>
              <a:ext uri="{FF2B5EF4-FFF2-40B4-BE49-F238E27FC236}">
                <a16:creationId xmlns:a16="http://schemas.microsoft.com/office/drawing/2014/main" id="{18B56C5D-C5F4-75A3-1BBE-4ECF911A7F2E}"/>
              </a:ext>
            </a:extLst>
          </p:cNvPr>
          <p:cNvSpPr>
            <a:spLocks noGrp="1"/>
          </p:cNvSpPr>
          <p:nvPr>
            <p:ph type="dt" sz="half" idx="10"/>
          </p:nvPr>
        </p:nvSpPr>
        <p:spPr/>
        <p:txBody>
          <a:bodyPr/>
          <a:lstStyle/>
          <a:p>
            <a:pPr>
              <a:defRPr/>
            </a:pPr>
            <a:r>
              <a:rPr lang="en-US" altLang="zh-CN"/>
              <a:t>Fall 2024</a:t>
            </a:r>
            <a:endParaRPr lang="en-US"/>
          </a:p>
        </p:txBody>
      </p:sp>
      <p:sp>
        <p:nvSpPr>
          <p:cNvPr id="3" name="页脚占位符 2">
            <a:extLst>
              <a:ext uri="{FF2B5EF4-FFF2-40B4-BE49-F238E27FC236}">
                <a16:creationId xmlns:a16="http://schemas.microsoft.com/office/drawing/2014/main" id="{4FA7934B-F6AB-32E5-DBED-8BCCC66E0C2A}"/>
              </a:ext>
            </a:extLst>
          </p:cNvPr>
          <p:cNvSpPr>
            <a:spLocks noGrp="1"/>
          </p:cNvSpPr>
          <p:nvPr>
            <p:ph type="ftr" sz="quarter" idx="11"/>
          </p:nvPr>
        </p:nvSpPr>
        <p:spPr/>
        <p:txBody>
          <a:bodyPr/>
          <a:lstStyle/>
          <a:p>
            <a:pPr>
              <a:defRPr/>
            </a:pPr>
            <a:r>
              <a:rPr lang="en-US"/>
              <a:t>BUPT Compilers</a:t>
            </a:r>
          </a:p>
        </p:txBody>
      </p:sp>
      <p:sp>
        <p:nvSpPr>
          <p:cNvPr id="4" name="灯片编号占位符 3">
            <a:extLst>
              <a:ext uri="{FF2B5EF4-FFF2-40B4-BE49-F238E27FC236}">
                <a16:creationId xmlns:a16="http://schemas.microsoft.com/office/drawing/2014/main" id="{C170782E-C915-A833-F5EC-07E9E869A158}"/>
              </a:ext>
            </a:extLst>
          </p:cNvPr>
          <p:cNvSpPr>
            <a:spLocks noGrp="1"/>
          </p:cNvSpPr>
          <p:nvPr>
            <p:ph type="sldNum" sz="quarter" idx="12"/>
          </p:nvPr>
        </p:nvSpPr>
        <p:spPr/>
        <p:txBody>
          <a:bodyPr/>
          <a:lstStyle/>
          <a:p>
            <a:pPr>
              <a:defRPr/>
            </a:pPr>
            <a:fld id="{2FBC720A-3716-234A-B2DF-CBC7E48049F5}" type="slidenum">
              <a:rPr lang="en-US" altLang="zh-CN" smtClean="0"/>
              <a:t>54</a:t>
            </a:fld>
            <a:endParaRPr lang="en-US" altLang="zh-CN"/>
          </a:p>
        </p:txBody>
      </p:sp>
    </p:spTree>
    <p:extLst>
      <p:ext uri="{BB962C8B-B14F-4D97-AF65-F5344CB8AC3E}">
        <p14:creationId xmlns:p14="http://schemas.microsoft.com/office/powerpoint/2010/main" val="1607442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par>
                                <p:cTn id="8" presetID="22" presetClass="entr" presetSubtype="4" fill="hold" grpId="1"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wipe(down)">
                                      <p:cBhvr>
                                        <p:cTn id="10" dur="500"/>
                                        <p:tgtEl>
                                          <p:spTgt spid="41"/>
                                        </p:tgtEl>
                                      </p:cBhvr>
                                    </p:animEffect>
                                  </p:childTnLst>
                                </p:cTn>
                              </p:par>
                              <p:par>
                                <p:cTn id="11" presetID="22" presetClass="entr" presetSubtype="4" fill="hold" grpId="1"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down)">
                                      <p:cBhvr>
                                        <p:cTn id="13" dur="500"/>
                                        <p:tgtEl>
                                          <p:spTgt spid="42"/>
                                        </p:tgtEl>
                                      </p:cBhvr>
                                    </p:animEffect>
                                  </p:childTnLst>
                                </p:cTn>
                              </p:par>
                              <p:par>
                                <p:cTn id="14" presetID="22" presetClass="entr" presetSubtype="4" fill="hold" grpId="1"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ipe(down)">
                                      <p:cBhvr>
                                        <p:cTn id="16" dur="500"/>
                                        <p:tgtEl>
                                          <p:spTgt spid="4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down)">
                                      <p:cBhvr>
                                        <p:cTn id="19" dur="500"/>
                                        <p:tgtEl>
                                          <p:spTgt spid="36"/>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up)">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down)">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nodeType="clickEffect">
                                  <p:stCondLst>
                                    <p:cond delay="0"/>
                                  </p:stCondLst>
                                  <p:childTnLst>
                                    <p:animEffect transition="out" filter="wipe(down)">
                                      <p:cBhvr>
                                        <p:cTn id="36" dur="500"/>
                                        <p:tgtEl>
                                          <p:spTgt spid="37"/>
                                        </p:tgtEl>
                                      </p:cBhvr>
                                    </p:animEffect>
                                    <p:set>
                                      <p:cBhvr>
                                        <p:cTn id="37" dur="1" fill="hold">
                                          <p:stCondLst>
                                            <p:cond delay="499"/>
                                          </p:stCondLst>
                                        </p:cTn>
                                        <p:tgtEl>
                                          <p:spTgt spid="37"/>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1" fill="hold" grpId="0" nodeType="clickEffect">
                                  <p:stCondLst>
                                    <p:cond delay="0"/>
                                  </p:stCondLst>
                                  <p:childTnLst>
                                    <p:animEffect transition="out" filter="wipe(up)">
                                      <p:cBhvr>
                                        <p:cTn id="41" dur="500"/>
                                        <p:tgtEl>
                                          <p:spTgt spid="41"/>
                                        </p:tgtEl>
                                      </p:cBhvr>
                                    </p:animEffect>
                                    <p:set>
                                      <p:cBhvr>
                                        <p:cTn id="42" dur="1" fill="hold">
                                          <p:stCondLst>
                                            <p:cond delay="499"/>
                                          </p:stCondLst>
                                        </p:cTn>
                                        <p:tgtEl>
                                          <p:spTgt spid="4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1" fill="hold" grpId="0" nodeType="clickEffect">
                                  <p:stCondLst>
                                    <p:cond delay="0"/>
                                  </p:stCondLst>
                                  <p:childTnLst>
                                    <p:animEffect transition="out" filter="wipe(up)">
                                      <p:cBhvr>
                                        <p:cTn id="46" dur="500"/>
                                        <p:tgtEl>
                                          <p:spTgt spid="42"/>
                                        </p:tgtEl>
                                      </p:cBhvr>
                                    </p:animEffect>
                                    <p:set>
                                      <p:cBhvr>
                                        <p:cTn id="47" dur="1" fill="hold">
                                          <p:stCondLst>
                                            <p:cond delay="499"/>
                                          </p:stCondLst>
                                        </p:cTn>
                                        <p:tgtEl>
                                          <p:spTgt spid="4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1" fill="hold" grpId="0" nodeType="clickEffect">
                                  <p:stCondLst>
                                    <p:cond delay="0"/>
                                  </p:stCondLst>
                                  <p:childTnLst>
                                    <p:animEffect transition="out" filter="wipe(up)">
                                      <p:cBhvr>
                                        <p:cTn id="51" dur="500"/>
                                        <p:tgtEl>
                                          <p:spTgt spid="43"/>
                                        </p:tgtEl>
                                      </p:cBhvr>
                                    </p:animEffect>
                                    <p:set>
                                      <p:cBhvr>
                                        <p:cTn id="52" dur="1" fill="hold">
                                          <p:stCondLst>
                                            <p:cond delay="499"/>
                                          </p:stCondLst>
                                        </p:cTn>
                                        <p:tgtEl>
                                          <p:spTgt spid="43"/>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wipe(up)">
                                      <p:cBhvr>
                                        <p:cTn id="57" dur="500"/>
                                        <p:tgtEl>
                                          <p:spTgt spid="4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wipe(left)">
                                      <p:cBhvr>
                                        <p:cTn id="6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1" grpId="0"/>
      <p:bldP spid="41" grpId="1"/>
      <p:bldP spid="42" grpId="0"/>
      <p:bldP spid="42" grpId="1"/>
      <p:bldP spid="43" grpId="0"/>
      <p:bldP spid="43" grpId="1"/>
      <p:bldP spid="44" grpId="0"/>
      <p:bldP spid="48" grpId="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4000" dirty="0">
                <a:latin typeface="Palatino Linotype" panose="02040502050505030304" charset="0"/>
                <a:hlinkClick r:id="rId3" action="ppaction://hlinkpres?slideindex=8&amp;slidetitle=例：在自底向上语法分析栈中实现桌面计算器"/>
              </a:rPr>
              <a:t>The Calculator Example</a:t>
            </a:r>
            <a:endParaRPr lang="zh-CN" altLang="en-US" sz="4000" dirty="0">
              <a:latin typeface="Palatino Linotype" panose="02040502050505030304" charset="0"/>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55</a:t>
            </a:fld>
            <a:endParaRPr/>
          </a:p>
        </p:txBody>
      </p:sp>
      <p:pic>
        <p:nvPicPr>
          <p:cNvPr id="8" name="图片 7">
            <a:extLst>
              <a:ext uri="{FF2B5EF4-FFF2-40B4-BE49-F238E27FC236}">
                <a16:creationId xmlns:a16="http://schemas.microsoft.com/office/drawing/2014/main" id="{8720FCFF-E562-1BE9-539A-0A88DA626D9C}"/>
              </a:ext>
            </a:extLst>
          </p:cNvPr>
          <p:cNvPicPr>
            <a:picLocks noChangeAspect="1"/>
          </p:cNvPicPr>
          <p:nvPr/>
        </p:nvPicPr>
        <p:blipFill>
          <a:blip r:embed="rId4"/>
          <a:stretch>
            <a:fillRect/>
          </a:stretch>
        </p:blipFill>
        <p:spPr>
          <a:xfrm>
            <a:off x="1745940" y="1412776"/>
            <a:ext cx="5652119" cy="3097254"/>
          </a:xfrm>
          <a:prstGeom prst="rect">
            <a:avLst/>
          </a:prstGeom>
        </p:spPr>
      </p:pic>
      <p:sp>
        <p:nvSpPr>
          <p:cNvPr id="9" name="矩形 8">
            <a:extLst>
              <a:ext uri="{FF2B5EF4-FFF2-40B4-BE49-F238E27FC236}">
                <a16:creationId xmlns:a16="http://schemas.microsoft.com/office/drawing/2014/main" id="{EE519047-CC46-1E4B-65C4-7CE0EDBD6D34}"/>
              </a:ext>
            </a:extLst>
          </p:cNvPr>
          <p:cNvSpPr/>
          <p:nvPr/>
        </p:nvSpPr>
        <p:spPr>
          <a:xfrm>
            <a:off x="1475656" y="2204864"/>
            <a:ext cx="6048672" cy="53347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B70722CD-8D2A-3F55-4A06-AA1892FE01B0}"/>
              </a:ext>
            </a:extLst>
          </p:cNvPr>
          <p:cNvPicPr>
            <a:picLocks noChangeAspect="1"/>
          </p:cNvPicPr>
          <p:nvPr/>
        </p:nvPicPr>
        <p:blipFill>
          <a:blip r:embed="rId5"/>
          <a:stretch>
            <a:fillRect/>
          </a:stretch>
        </p:blipFill>
        <p:spPr>
          <a:xfrm>
            <a:off x="914203" y="4742994"/>
            <a:ext cx="7315592" cy="161335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内容占位符 2">
            <a:extLst>
              <a:ext uri="{FF2B5EF4-FFF2-40B4-BE49-F238E27FC236}">
                <a16:creationId xmlns:a16="http://schemas.microsoft.com/office/drawing/2014/main" id="{3E40828C-2AF5-49D8-AECA-E8F605A5D2C0}"/>
              </a:ext>
            </a:extLst>
          </p:cNvPr>
          <p:cNvSpPr txBox="1">
            <a:spLocks/>
          </p:cNvSpPr>
          <p:nvPr/>
        </p:nvSpPr>
        <p:spPr bwMode="auto">
          <a:xfrm>
            <a:off x="58192" y="22429"/>
            <a:ext cx="4945856" cy="1961048"/>
          </a:xfrm>
          <a:prstGeom prst="rect">
            <a:avLst/>
          </a:prstGeom>
          <a:solidFill>
            <a:schemeClr val="accent2">
              <a:lumMod val="40000"/>
              <a:lumOff val="60000"/>
            </a:schemeClr>
          </a:solidFill>
          <a:ln w="12700">
            <a:solidFill>
              <a:schemeClr val="tx1"/>
            </a:solidFill>
          </a:ln>
        </p:spPr>
        <p:txBody>
          <a:bodyPr lIns="51435" tIns="25718" rIns="51435" bIns="25718"/>
          <a:lstStyle>
            <a:lvl1pPr marL="342900" indent="-342900">
              <a:defRPr b="1">
                <a:solidFill>
                  <a:schemeClr val="tx1"/>
                </a:solidFill>
                <a:latin typeface="Tahoma" panose="020B0604030504040204" pitchFamily="34" charset="0"/>
                <a:ea typeface="宋体" panose="02010600030101010101" pitchFamily="2" charset="-122"/>
              </a:defRPr>
            </a:lvl1pPr>
            <a:lvl2pPr>
              <a:defRPr b="1">
                <a:solidFill>
                  <a:schemeClr val="tx1"/>
                </a:solidFill>
                <a:latin typeface="Tahoma" panose="020B0604030504040204" pitchFamily="34" charset="0"/>
                <a:ea typeface="宋体" panose="02010600030101010101" pitchFamily="2" charset="-122"/>
              </a:defRPr>
            </a:lvl2pPr>
            <a:lvl3pPr marL="639763" indent="-169863">
              <a:defRPr b="1">
                <a:solidFill>
                  <a:schemeClr val="tx1"/>
                </a:solidFill>
                <a:latin typeface="Tahoma" panose="020B0604030504040204" pitchFamily="34" charset="0"/>
                <a:ea typeface="宋体" panose="02010600030101010101" pitchFamily="2" charset="-122"/>
              </a:defRPr>
            </a:lvl3pPr>
            <a:lvl4pPr indent="-169863">
              <a:defRPr b="1">
                <a:solidFill>
                  <a:schemeClr val="tx1"/>
                </a:solidFill>
                <a:latin typeface="Tahoma" panose="020B0604030504040204" pitchFamily="34" charset="0"/>
                <a:ea typeface="宋体" panose="02010600030101010101" pitchFamily="2" charset="-122"/>
              </a:defRPr>
            </a:lvl4pPr>
            <a:lvl5pPr>
              <a:defRPr b="1">
                <a:solidFill>
                  <a:schemeClr val="tx1"/>
                </a:solidFill>
                <a:latin typeface="Tahoma" panose="020B0604030504040204" pitchFamily="34" charset="0"/>
                <a:ea typeface="宋体" panose="02010600030101010101" pitchFamily="2" charset="-122"/>
              </a:defRPr>
            </a:lvl5pPr>
            <a:lvl6pPr marL="18288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2860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27432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200400" indent="4572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marL="0" lvl="3">
              <a:lnSpc>
                <a:spcPts val="1125"/>
              </a:lnSpc>
              <a:spcBef>
                <a:spcPct val="20000"/>
              </a:spcBef>
              <a:buClr>
                <a:schemeClr val="accent1"/>
              </a:buClr>
              <a:buSzPct val="100000"/>
              <a:defRPr/>
            </a:pPr>
            <a:r>
              <a:rPr lang="en-US" altLang="zh-CN" sz="1200" i="1" dirty="0">
                <a:latin typeface="Times New Roman" panose="02020603050405020304" pitchFamily="18" charset="0"/>
                <a:ea typeface="楷体_GB2312" pitchFamily="49" charset="-122"/>
              </a:rPr>
              <a:t>     </a:t>
            </a:r>
            <a:r>
              <a:rPr lang="en-US" altLang="zh-CN" sz="1200" dirty="0">
                <a:latin typeface="华文楷体" panose="02010600040101010101" pitchFamily="2" charset="-122"/>
                <a:ea typeface="华文楷体" panose="02010600040101010101" pitchFamily="2" charset="-122"/>
              </a:rPr>
              <a:t>PRODUCTONS</a:t>
            </a:r>
            <a:r>
              <a:rPr lang="zh-CN" altLang="en-US" sz="1200" dirty="0">
                <a:latin typeface="华文楷体" panose="02010600040101010101" pitchFamily="2" charset="-122"/>
                <a:ea typeface="华文楷体" panose="02010600040101010101" pitchFamily="2" charset="-122"/>
              </a:rPr>
              <a:t>                        </a:t>
            </a:r>
            <a:r>
              <a:rPr lang="en-US" altLang="zh-CN" sz="1200" dirty="0">
                <a:latin typeface="华文楷体" panose="02010600040101010101" pitchFamily="2" charset="-122"/>
                <a:ea typeface="华文楷体" panose="02010600040101010101" pitchFamily="2" charset="-122"/>
              </a:rPr>
              <a:t>ACTONS</a:t>
            </a:r>
            <a:endParaRPr lang="en-US" altLang="zh-CN" sz="1200" i="1" dirty="0">
              <a:latin typeface="Times New Roman" panose="02020603050405020304" pitchFamily="18" charset="0"/>
              <a:ea typeface="楷体_GB2312" pitchFamily="49" charset="-122"/>
            </a:endParaRP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(1)</a:t>
            </a:r>
            <a:r>
              <a:rPr lang="en-US" altLang="zh-CN" sz="1200" i="1" dirty="0">
                <a:latin typeface="Times New Roman" panose="02020603050405020304" pitchFamily="18" charset="0"/>
                <a:ea typeface="楷体_GB2312" pitchFamily="49" charset="-122"/>
              </a:rPr>
              <a:t>E</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dirty="0">
                <a:latin typeface="Times New Roman" panose="02020603050405020304" pitchFamily="18" charset="0"/>
                <a:ea typeface="楷体_GB2312" pitchFamily="49" charset="-122"/>
              </a:rPr>
              <a:t>→ </a:t>
            </a:r>
            <a:r>
              <a:rPr lang="en-US" altLang="zh-CN" sz="1200" i="1" dirty="0">
                <a:latin typeface="Times New Roman" panose="02020603050405020304" pitchFamily="18" charset="0"/>
                <a:ea typeface="楷体_GB2312" pitchFamily="49" charset="-122"/>
              </a:rPr>
              <a:t>E                  </a:t>
            </a:r>
            <a:r>
              <a:rPr lang="en-US" altLang="zh-CN" sz="1200" dirty="0">
                <a:latin typeface="Times New Roman" panose="02020603050405020304" pitchFamily="18" charset="0"/>
                <a:ea typeface="楷体_GB2312" pitchFamily="49" charset="-122"/>
              </a:rPr>
              <a:t>{ print</a:t>
            </a:r>
            <a:r>
              <a:rPr lang="en-US" altLang="zh-CN" sz="1200" i="1" dirty="0">
                <a:latin typeface="Times New Roman" panose="02020603050405020304" pitchFamily="18" charset="0"/>
                <a:ea typeface="楷体_GB2312" pitchFamily="49" charset="-122"/>
              </a:rPr>
              <a:t>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a:t>
            </a:r>
            <a:r>
              <a:rPr lang="en-US" altLang="zh-CN" sz="1200" dirty="0">
                <a:latin typeface="Times New Roman" panose="02020603050405020304" pitchFamily="18" charset="0"/>
                <a:ea typeface="楷体_GB2312" pitchFamily="49" charset="-122"/>
              </a:rPr>
              <a:t>);}</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E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 E</a:t>
            </a:r>
            <a:r>
              <a:rPr lang="en-US" altLang="zh-CN" sz="1200" baseline="-25000" dirty="0">
                <a:latin typeface="Times New Roman" panose="02020603050405020304" pitchFamily="18" charset="0"/>
                <a:ea typeface="楷体_GB2312" pitchFamily="49" charset="-122"/>
              </a:rPr>
              <a:t>1 </a:t>
            </a:r>
            <a:r>
              <a:rPr lang="en-US" altLang="zh-CN" sz="1200" i="1" dirty="0">
                <a:latin typeface="Times New Roman" panose="02020603050405020304" pitchFamily="18" charset="0"/>
                <a:ea typeface="楷体_GB2312" pitchFamily="49" charset="-122"/>
              </a:rPr>
              <a:t>+ T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 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 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a:t>
            </a:r>
            <a:r>
              <a:rPr lang="en-US" altLang="zh-CN" sz="1200" dirty="0">
                <a:latin typeface="Times New Roman" panose="02020603050405020304" pitchFamily="18" charset="0"/>
                <a:ea typeface="楷体_GB2312" pitchFamily="49" charset="-122"/>
              </a:rPr>
              <a:t>;</a:t>
            </a:r>
          </a:p>
          <a:p>
            <a:pPr marL="0" lvl="3">
              <a:lnSpc>
                <a:spcPts val="1125"/>
              </a:lnSpc>
              <a:spcBef>
                <a:spcPct val="20000"/>
              </a:spcBef>
              <a:buClr>
                <a:schemeClr val="accent1"/>
              </a:buClr>
              <a:buSzPct val="100000"/>
              <a:defRPr/>
            </a:pPr>
            <a:r>
              <a:rPr lang="en-US" altLang="zh-CN" sz="1200" i="1" dirty="0">
                <a:latin typeface="Times New Roman" panose="02020603050405020304" pitchFamily="18" charset="0"/>
                <a:ea typeface="楷体_GB2312" pitchFamily="49" charset="-122"/>
              </a:rPr>
              <a:t>                                   top=top-</a:t>
            </a:r>
            <a:r>
              <a:rPr lang="en-US" altLang="zh-CN" sz="1200" dirty="0">
                <a:latin typeface="Times New Roman" panose="02020603050405020304" pitchFamily="18" charset="0"/>
                <a:ea typeface="楷体_GB2312" pitchFamily="49" charset="-122"/>
              </a:rPr>
              <a:t>2; }</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(3)</a:t>
            </a:r>
            <a:r>
              <a:rPr lang="en-US" altLang="zh-CN" sz="1200" i="1" dirty="0">
                <a:latin typeface="Times New Roman" panose="02020603050405020304" pitchFamily="18" charset="0"/>
                <a:ea typeface="楷体_GB2312" pitchFamily="49" charset="-122"/>
              </a:rPr>
              <a:t>E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 T</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(4)</a:t>
            </a:r>
            <a:r>
              <a:rPr lang="en-US" altLang="zh-CN" sz="1200" i="1" dirty="0">
                <a:latin typeface="Times New Roman" panose="02020603050405020304" pitchFamily="18" charset="0"/>
                <a:ea typeface="楷体_GB2312" pitchFamily="49" charset="-122"/>
              </a:rPr>
              <a:t>T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 T</a:t>
            </a:r>
            <a:r>
              <a:rPr lang="en-US" altLang="zh-CN" sz="1200" baseline="-25000" dirty="0">
                <a:latin typeface="Times New Roman" panose="02020603050405020304" pitchFamily="18" charset="0"/>
                <a:ea typeface="楷体_GB2312" pitchFamily="49" charset="-122"/>
              </a:rPr>
              <a:t>1 </a:t>
            </a:r>
            <a:r>
              <a:rPr lang="en-US" altLang="zh-CN" sz="1200" dirty="0">
                <a:latin typeface="Times New Roman" panose="02020603050405020304" pitchFamily="18" charset="0"/>
                <a:ea typeface="楷体_GB2312" pitchFamily="49" charset="-122"/>
              </a:rPr>
              <a:t>*</a:t>
            </a:r>
            <a:r>
              <a:rPr lang="en-US" altLang="zh-CN" sz="1200" dirty="0">
                <a:ea typeface="楷体_GB2312" pitchFamily="49" charset="-122"/>
              </a:rPr>
              <a:t> </a:t>
            </a:r>
            <a:r>
              <a:rPr lang="en-US" altLang="zh-CN" sz="1200" i="1" dirty="0">
                <a:latin typeface="Times New Roman" panose="02020603050405020304" pitchFamily="18" charset="0"/>
                <a:ea typeface="楷体_GB2312" pitchFamily="49" charset="-122"/>
              </a:rPr>
              <a:t>F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 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a:t>
            </a:r>
            <a:r>
              <a:rPr kumimoji="1" lang="en-US" altLang="zh-CN" sz="1200" dirty="0">
                <a:solidFill>
                  <a:srgbClr val="000000"/>
                </a:solidFill>
                <a:latin typeface="Times New Roman" panose="02020603050405020304" pitchFamily="18" charset="0"/>
                <a:sym typeface="Symbol" panose="05050102010706020507" pitchFamily="18" charset="2"/>
              </a:rPr>
              <a:t>× </a:t>
            </a:r>
            <a:r>
              <a:rPr lang="en-US" altLang="zh-CN" sz="1200" i="1" dirty="0">
                <a:latin typeface="Times New Roman" panose="02020603050405020304" pitchFamily="18" charset="0"/>
                <a:ea typeface="楷体_GB2312" pitchFamily="49" charset="-122"/>
              </a:rPr>
              <a:t>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a:t>
            </a:r>
            <a:r>
              <a:rPr lang="en-US" altLang="zh-CN" sz="1200" dirty="0">
                <a:latin typeface="Times New Roman" panose="02020603050405020304" pitchFamily="18" charset="0"/>
                <a:ea typeface="楷体_GB2312" pitchFamily="49" charset="-122"/>
              </a:rPr>
              <a:t>;</a:t>
            </a:r>
          </a:p>
          <a:p>
            <a:pPr marL="0" lvl="3">
              <a:lnSpc>
                <a:spcPts val="1125"/>
              </a:lnSpc>
              <a:spcBef>
                <a:spcPct val="20000"/>
              </a:spcBef>
              <a:buClr>
                <a:schemeClr val="accent1"/>
              </a:buClr>
              <a:buSzPct val="100000"/>
              <a:defRPr/>
            </a:pPr>
            <a:r>
              <a:rPr lang="en-US" altLang="zh-CN" sz="1200" i="1" dirty="0">
                <a:latin typeface="Times New Roman" panose="02020603050405020304" pitchFamily="18" charset="0"/>
                <a:ea typeface="楷体_GB2312" pitchFamily="49" charset="-122"/>
              </a:rPr>
              <a:t>                                   top=top-</a:t>
            </a:r>
            <a:r>
              <a:rPr lang="en-US" altLang="zh-CN" sz="1200" dirty="0">
                <a:latin typeface="Times New Roman" panose="02020603050405020304" pitchFamily="18" charset="0"/>
                <a:ea typeface="楷体_GB2312" pitchFamily="49" charset="-122"/>
              </a:rPr>
              <a:t>2; }</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(5)</a:t>
            </a:r>
            <a:r>
              <a:rPr lang="en-US" altLang="zh-CN" sz="1200" i="1" dirty="0">
                <a:latin typeface="Times New Roman" panose="02020603050405020304" pitchFamily="18" charset="0"/>
                <a:ea typeface="楷体_GB2312" pitchFamily="49" charset="-122"/>
              </a:rPr>
              <a:t>T  </a:t>
            </a:r>
            <a:r>
              <a:rPr lang="en-US" altLang="zh-CN" sz="1200" dirty="0">
                <a:latin typeface="Times New Roman" panose="02020603050405020304" pitchFamily="18" charset="0"/>
                <a:ea typeface="楷体_GB2312" pitchFamily="49" charset="-122"/>
              </a:rPr>
              <a:t>→</a:t>
            </a:r>
            <a:r>
              <a:rPr lang="en-US" altLang="zh-CN" sz="1200" i="1" dirty="0">
                <a:latin typeface="Times New Roman" panose="02020603050405020304" pitchFamily="18" charset="0"/>
                <a:ea typeface="楷体_GB2312" pitchFamily="49" charset="-122"/>
              </a:rPr>
              <a:t> F</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(6)</a:t>
            </a:r>
            <a:r>
              <a:rPr lang="en-US" altLang="zh-CN" sz="1200" i="1" dirty="0">
                <a:latin typeface="Times New Roman" panose="02020603050405020304" pitchFamily="18" charset="0"/>
                <a:ea typeface="楷体_GB2312" pitchFamily="49" charset="-122"/>
              </a:rPr>
              <a:t>F  </a:t>
            </a:r>
            <a:r>
              <a:rPr lang="en-US" altLang="zh-CN" sz="1200" dirty="0">
                <a:latin typeface="Times New Roman" panose="02020603050405020304" pitchFamily="18" charset="0"/>
                <a:ea typeface="楷体_GB2312" pitchFamily="49" charset="-122"/>
              </a:rPr>
              <a:t>→ ( </a:t>
            </a:r>
            <a:r>
              <a:rPr lang="en-US" altLang="zh-CN" sz="1200" i="1" dirty="0">
                <a:latin typeface="Times New Roman" panose="02020603050405020304" pitchFamily="18" charset="0"/>
                <a:ea typeface="楷体_GB2312" pitchFamily="49" charset="-122"/>
              </a:rPr>
              <a:t>E </a:t>
            </a:r>
            <a:r>
              <a:rPr lang="en-US" altLang="zh-CN" sz="1200" dirty="0">
                <a:latin typeface="Times New Roman" panose="02020603050405020304" pitchFamily="18" charset="0"/>
                <a:ea typeface="楷体_GB2312" pitchFamily="49" charset="-122"/>
              </a:rPr>
              <a:t>)             {</a:t>
            </a:r>
            <a:r>
              <a:rPr lang="en-US" altLang="zh-CN" sz="1200" i="1" dirty="0">
                <a:latin typeface="Times New Roman" panose="02020603050405020304" pitchFamily="18" charset="0"/>
                <a:ea typeface="楷体_GB2312" pitchFamily="49" charset="-122"/>
              </a:rPr>
              <a:t>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2]</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i="1" dirty="0">
                <a:latin typeface="Times New Roman" panose="02020603050405020304" pitchFamily="18" charset="0"/>
                <a:ea typeface="楷体_GB2312" pitchFamily="49" charset="-122"/>
              </a:rPr>
              <a:t> = stack</a:t>
            </a:r>
            <a:r>
              <a:rPr kumimoji="1" lang="en-US" altLang="zh-CN" sz="1200" dirty="0">
                <a:latin typeface="Times New Roman" panose="02020603050405020304" pitchFamily="18" charset="0"/>
                <a:ea typeface="楷体_GB2312" pitchFamily="49" charset="-122"/>
              </a:rPr>
              <a:t>[</a:t>
            </a:r>
            <a:r>
              <a:rPr kumimoji="1" lang="en-US" altLang="zh-CN" sz="1200" i="1" dirty="0">
                <a:latin typeface="Times New Roman" panose="02020603050405020304" pitchFamily="18" charset="0"/>
                <a:ea typeface="楷体_GB2312" pitchFamily="49" charset="-122"/>
              </a:rPr>
              <a:t>top-</a:t>
            </a:r>
            <a:r>
              <a:rPr kumimoji="1" lang="en-US" altLang="zh-CN" sz="1200" dirty="0">
                <a:latin typeface="Times New Roman" panose="02020603050405020304" pitchFamily="18" charset="0"/>
                <a:ea typeface="楷体_GB2312" pitchFamily="49" charset="-122"/>
              </a:rPr>
              <a:t>1]</a:t>
            </a:r>
            <a:r>
              <a:rPr lang="en-US" altLang="zh-CN" sz="1200" i="1" dirty="0">
                <a:latin typeface="Times New Roman" panose="02020603050405020304" pitchFamily="18" charset="0"/>
                <a:ea typeface="楷体_GB2312" pitchFamily="49" charset="-122"/>
              </a:rPr>
              <a:t>.</a:t>
            </a:r>
            <a:r>
              <a:rPr lang="en-US" altLang="zh-CN" sz="1200" i="1" dirty="0" err="1">
                <a:latin typeface="Times New Roman" panose="02020603050405020304" pitchFamily="18" charset="0"/>
                <a:ea typeface="楷体_GB2312" pitchFamily="49" charset="-122"/>
              </a:rPr>
              <a:t>val</a:t>
            </a:r>
            <a:r>
              <a:rPr lang="en-US" altLang="zh-CN" sz="1200" dirty="0">
                <a:latin typeface="Times New Roman" panose="02020603050405020304" pitchFamily="18" charset="0"/>
                <a:ea typeface="楷体_GB2312" pitchFamily="49" charset="-122"/>
              </a:rPr>
              <a:t>;</a:t>
            </a:r>
          </a:p>
          <a:p>
            <a:pPr marL="0" lvl="3">
              <a:lnSpc>
                <a:spcPts val="1125"/>
              </a:lnSpc>
              <a:spcBef>
                <a:spcPct val="20000"/>
              </a:spcBef>
              <a:buClr>
                <a:schemeClr val="accent1"/>
              </a:buClr>
              <a:buSzPct val="100000"/>
              <a:defRPr/>
            </a:pPr>
            <a:r>
              <a:rPr lang="en-US" altLang="zh-CN" sz="1200" i="1" dirty="0">
                <a:latin typeface="Times New Roman" panose="02020603050405020304" pitchFamily="18" charset="0"/>
                <a:ea typeface="楷体_GB2312" pitchFamily="49" charset="-122"/>
              </a:rPr>
              <a:t>                                   top=top-</a:t>
            </a:r>
            <a:r>
              <a:rPr lang="en-US" altLang="zh-CN" sz="1200" dirty="0">
                <a:latin typeface="Times New Roman" panose="02020603050405020304" pitchFamily="18" charset="0"/>
                <a:ea typeface="楷体_GB2312" pitchFamily="49" charset="-122"/>
              </a:rPr>
              <a:t>2; }</a:t>
            </a:r>
          </a:p>
          <a:p>
            <a:pPr marL="0" lvl="3">
              <a:lnSpc>
                <a:spcPts val="1125"/>
              </a:lnSpc>
              <a:spcBef>
                <a:spcPct val="20000"/>
              </a:spcBef>
              <a:buClr>
                <a:schemeClr val="accent1"/>
              </a:buClr>
              <a:buSzPct val="100000"/>
              <a:defRPr/>
            </a:pPr>
            <a:r>
              <a:rPr lang="en-US" altLang="zh-CN" sz="1200" dirty="0">
                <a:latin typeface="Times New Roman" panose="02020603050405020304" pitchFamily="18" charset="0"/>
                <a:ea typeface="楷体_GB2312" pitchFamily="49" charset="-122"/>
              </a:rPr>
              <a:t>(7)</a:t>
            </a:r>
            <a:r>
              <a:rPr lang="en-US" altLang="zh-CN" sz="1200" i="1" dirty="0">
                <a:latin typeface="Times New Roman" panose="02020603050405020304" pitchFamily="18" charset="0"/>
                <a:ea typeface="楷体_GB2312" pitchFamily="49" charset="-122"/>
              </a:rPr>
              <a:t>F </a:t>
            </a:r>
            <a:r>
              <a:rPr lang="en-US" altLang="zh-CN" sz="1200" dirty="0">
                <a:latin typeface="Times New Roman" panose="02020603050405020304" pitchFamily="18" charset="0"/>
                <a:ea typeface="楷体_GB2312" pitchFamily="49" charset="-122"/>
              </a:rPr>
              <a:t> → digit</a:t>
            </a:r>
            <a:endParaRPr lang="en-US" altLang="zh-CN" sz="1500" i="1" dirty="0">
              <a:latin typeface="Times New Roman" panose="02020603050405020304" pitchFamily="18" charset="0"/>
              <a:ea typeface="楷体_GB2312" pitchFamily="49" charset="-122"/>
            </a:endParaRPr>
          </a:p>
          <a:p>
            <a:pPr marL="0" lvl="3">
              <a:spcBef>
                <a:spcPct val="20000"/>
              </a:spcBef>
              <a:buClr>
                <a:schemeClr val="accent1"/>
              </a:buClr>
              <a:buSzPct val="100000"/>
              <a:defRPr/>
            </a:pPr>
            <a:endParaRPr lang="en-US" altLang="zh-CN" sz="1500" dirty="0">
              <a:latin typeface="Times New Roman" panose="02020603050405020304" pitchFamily="18" charset="0"/>
              <a:ea typeface="楷体_GB2312" pitchFamily="49" charset="-122"/>
            </a:endParaRPr>
          </a:p>
          <a:p>
            <a:pPr marL="0" lvl="3">
              <a:spcBef>
                <a:spcPct val="20000"/>
              </a:spcBef>
              <a:buClr>
                <a:schemeClr val="accent1"/>
              </a:buClr>
              <a:buSzPct val="100000"/>
              <a:defRPr/>
            </a:pPr>
            <a:endParaRPr lang="en-US" altLang="zh-CN" dirty="0">
              <a:latin typeface="Times New Roman" panose="02020603050405020304" pitchFamily="18" charset="0"/>
              <a:ea typeface="楷体_GB2312" pitchFamily="49" charset="-122"/>
            </a:endParaRPr>
          </a:p>
          <a:p>
            <a:pPr marL="0" lvl="3">
              <a:spcBef>
                <a:spcPct val="20000"/>
              </a:spcBef>
              <a:buClr>
                <a:schemeClr val="accent1"/>
              </a:buClr>
              <a:buSzPct val="100000"/>
              <a:defRPr/>
            </a:pPr>
            <a:r>
              <a:rPr lang="en-US" altLang="zh-CN" i="1" dirty="0">
                <a:latin typeface="Times New Roman" panose="02020603050405020304" pitchFamily="18" charset="0"/>
                <a:ea typeface="楷体_GB2312" pitchFamily="49" charset="-122"/>
              </a:rPr>
              <a:t>       </a:t>
            </a:r>
            <a:endParaRPr lang="en-US" altLang="zh-CN" dirty="0">
              <a:latin typeface="Times New Roman" panose="02020603050405020304" pitchFamily="18" charset="0"/>
              <a:ea typeface="楷体_GB2312" pitchFamily="49" charset="-122"/>
            </a:endParaRPr>
          </a:p>
          <a:p>
            <a:pPr marL="0" lvl="3">
              <a:spcBef>
                <a:spcPct val="20000"/>
              </a:spcBef>
              <a:buClr>
                <a:schemeClr val="accent1"/>
              </a:buClr>
              <a:buSzPct val="100000"/>
              <a:defRPr/>
            </a:pPr>
            <a:endParaRPr lang="en-US" altLang="zh-CN" dirty="0">
              <a:latin typeface="Times New Roman" panose="02020603050405020304" pitchFamily="18" charset="0"/>
              <a:ea typeface="楷体_GB2312" pitchFamily="49" charset="-122"/>
            </a:endParaRPr>
          </a:p>
          <a:p>
            <a:pPr lvl="2">
              <a:spcBef>
                <a:spcPct val="20000"/>
              </a:spcBef>
              <a:buClr>
                <a:schemeClr val="accent1"/>
              </a:buClr>
              <a:buSzPct val="100000"/>
              <a:defRPr/>
            </a:pPr>
            <a:endParaRPr lang="zh-CN" altLang="en-US" dirty="0">
              <a:latin typeface="Times New Roman" panose="02020603050405020304" pitchFamily="18" charset="0"/>
              <a:ea typeface="楷体_GB2312" pitchFamily="49" charset="-122"/>
            </a:endParaRPr>
          </a:p>
        </p:txBody>
      </p:sp>
      <p:graphicFrame>
        <p:nvGraphicFramePr>
          <p:cNvPr id="2" name="表格 1">
            <a:extLst>
              <a:ext uri="{FF2B5EF4-FFF2-40B4-BE49-F238E27FC236}">
                <a16:creationId xmlns:a16="http://schemas.microsoft.com/office/drawing/2014/main" id="{0202A5B9-934B-4BF5-9E17-55AD9BBA2C9E}"/>
              </a:ext>
            </a:extLst>
          </p:cNvPr>
          <p:cNvGraphicFramePr>
            <a:graphicFrameLocks noGrp="1"/>
          </p:cNvGraphicFramePr>
          <p:nvPr>
            <p:extLst>
              <p:ext uri="{D42A27DB-BD31-4B8C-83A1-F6EECF244321}">
                <p14:modId xmlns:p14="http://schemas.microsoft.com/office/powerpoint/2010/main" val="3277089507"/>
              </p:ext>
            </p:extLst>
          </p:nvPr>
        </p:nvGraphicFramePr>
        <p:xfrm>
          <a:off x="4572000" y="1687177"/>
          <a:ext cx="4332175" cy="4784709"/>
        </p:xfrm>
        <a:graphic>
          <a:graphicData uri="http://schemas.openxmlformats.org/drawingml/2006/table">
            <a:tbl>
              <a:tblPr firstRow="1" firstCol="1">
                <a:tableStyleId>{5C22544A-7EE6-4342-B048-85BDC9FD1C3A}</a:tableStyleId>
              </a:tblPr>
              <a:tblGrid>
                <a:gridCol w="534630">
                  <a:extLst>
                    <a:ext uri="{9D8B030D-6E8A-4147-A177-3AD203B41FA5}">
                      <a16:colId xmlns:a16="http://schemas.microsoft.com/office/drawing/2014/main" val="20000"/>
                    </a:ext>
                  </a:extLst>
                </a:gridCol>
                <a:gridCol w="826477">
                  <a:extLst>
                    <a:ext uri="{9D8B030D-6E8A-4147-A177-3AD203B41FA5}">
                      <a16:colId xmlns:a16="http://schemas.microsoft.com/office/drawing/2014/main" val="20001"/>
                    </a:ext>
                  </a:extLst>
                </a:gridCol>
                <a:gridCol w="949569">
                  <a:extLst>
                    <a:ext uri="{9D8B030D-6E8A-4147-A177-3AD203B41FA5}">
                      <a16:colId xmlns:a16="http://schemas.microsoft.com/office/drawing/2014/main" val="20002"/>
                    </a:ext>
                  </a:extLst>
                </a:gridCol>
                <a:gridCol w="1008535">
                  <a:extLst>
                    <a:ext uri="{9D8B030D-6E8A-4147-A177-3AD203B41FA5}">
                      <a16:colId xmlns:a16="http://schemas.microsoft.com/office/drawing/2014/main" val="20003"/>
                    </a:ext>
                  </a:extLst>
                </a:gridCol>
                <a:gridCol w="1012964">
                  <a:extLst>
                    <a:ext uri="{9D8B030D-6E8A-4147-A177-3AD203B41FA5}">
                      <a16:colId xmlns:a16="http://schemas.microsoft.com/office/drawing/2014/main" val="20004"/>
                    </a:ext>
                  </a:extLst>
                </a:gridCol>
              </a:tblGrid>
              <a:tr h="281285">
                <a:tc>
                  <a:txBody>
                    <a:bodyPr/>
                    <a:lstStyle/>
                    <a:p>
                      <a:pPr algn="ctr" rtl="0" fontAlgn="ctr"/>
                      <a:r>
                        <a:rPr lang="en-US" altLang="zh-CN" sz="1800" b="0" u="none" strike="noStrike" dirty="0">
                          <a:effectLst/>
                          <a:latin typeface="+mj-ea"/>
                          <a:ea typeface="+mj-ea"/>
                        </a:rPr>
                        <a:t>step</a:t>
                      </a:r>
                      <a:endParaRPr lang="zh-CN" altLang="en-US" sz="1800" b="0" i="0" u="none" strike="noStrike" dirty="0">
                        <a:solidFill>
                          <a:schemeClr val="bg1"/>
                        </a:solidFill>
                        <a:effectLst/>
                        <a:latin typeface="+mj-ea"/>
                        <a:ea typeface="+mj-ea"/>
                      </a:endParaRPr>
                    </a:p>
                  </a:txBody>
                  <a:tcPr marL="6965" marR="6965" marT="6965" marB="0" anchor="ct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altLang="zh-CN" sz="1800" b="0" u="none" strike="noStrike" kern="1200" dirty="0">
                          <a:solidFill>
                            <a:schemeClr val="lt1"/>
                          </a:solidFill>
                          <a:effectLst/>
                          <a:latin typeface="+mj-ea"/>
                          <a:ea typeface="+mn-ea"/>
                          <a:cs typeface="+mn-cs"/>
                        </a:rPr>
                        <a:t>state</a:t>
                      </a:r>
                      <a:endParaRPr lang="zh-CN" altLang="en-US" sz="1800" b="0" u="none" strike="noStrike" kern="1200" dirty="0">
                        <a:solidFill>
                          <a:schemeClr val="lt1"/>
                        </a:solidFill>
                        <a:effectLst/>
                        <a:latin typeface="+mj-ea"/>
                        <a:ea typeface="+mn-ea"/>
                        <a:cs typeface="+mn-cs"/>
                      </a:endParaRPr>
                    </a:p>
                  </a:txBody>
                  <a:tcPr marL="6965" marR="6965" marT="6965" marB="0"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ltLang="zh-CN" sz="1800" b="0" i="0" u="none" strike="noStrike" kern="1200" dirty="0">
                          <a:solidFill>
                            <a:schemeClr val="bg1"/>
                          </a:solidFill>
                          <a:effectLst/>
                          <a:latin typeface="+mj-ea"/>
                          <a:ea typeface="+mn-ea"/>
                          <a:cs typeface="+mn-cs"/>
                        </a:rPr>
                        <a:t>symbol</a:t>
                      </a:r>
                      <a:endParaRPr lang="zh-CN" altLang="en-US" sz="1800" b="0" i="0" u="none" strike="noStrike" kern="1200" dirty="0">
                        <a:solidFill>
                          <a:schemeClr val="bg1"/>
                        </a:solidFill>
                        <a:effectLst/>
                        <a:latin typeface="+mj-ea"/>
                        <a:ea typeface="+mn-ea"/>
                        <a:cs typeface="+mn-cs"/>
                      </a:endParaRPr>
                    </a:p>
                  </a:txBody>
                  <a:tcPr marL="6965" marR="6965" marT="6965" marB="0" anchor="ctr"/>
                </a:tc>
                <a:tc>
                  <a:txBody>
                    <a:bodyPr/>
                    <a:lstStyle/>
                    <a:p>
                      <a:pPr algn="ctr" rtl="0" fontAlgn="ctr"/>
                      <a:r>
                        <a:rPr lang="en-US" altLang="zh-CN" sz="1800" b="0" u="none" strike="noStrike" kern="1200" dirty="0">
                          <a:solidFill>
                            <a:schemeClr val="lt1"/>
                          </a:solidFill>
                          <a:effectLst/>
                          <a:latin typeface="+mj-ea"/>
                          <a:ea typeface="+mn-ea"/>
                          <a:cs typeface="+mn-cs"/>
                        </a:rPr>
                        <a:t>(</a:t>
                      </a:r>
                      <a:r>
                        <a:rPr lang="en-US" altLang="zh-CN" sz="1800" b="0" u="none" strike="noStrike" kern="1200" dirty="0" err="1">
                          <a:solidFill>
                            <a:schemeClr val="lt1"/>
                          </a:solidFill>
                          <a:effectLst/>
                          <a:latin typeface="+mj-ea"/>
                          <a:ea typeface="+mn-ea"/>
                          <a:cs typeface="+mn-cs"/>
                        </a:rPr>
                        <a:t>val</a:t>
                      </a:r>
                      <a:r>
                        <a:rPr lang="en-US" altLang="zh-CN" sz="1800" b="0" u="none" strike="noStrike" kern="1200" dirty="0">
                          <a:solidFill>
                            <a:schemeClr val="lt1"/>
                          </a:solidFill>
                          <a:effectLst/>
                          <a:latin typeface="+mj-ea"/>
                          <a:ea typeface="+mn-ea"/>
                          <a:cs typeface="+mn-cs"/>
                        </a:rPr>
                        <a:t>)</a:t>
                      </a:r>
                      <a:endParaRPr lang="zh-CN" altLang="en-US" sz="1800" b="0" i="0" u="none" strike="noStrike" dirty="0">
                        <a:solidFill>
                          <a:srgbClr val="000000"/>
                        </a:solidFill>
                        <a:effectLst/>
                        <a:latin typeface="+mj-ea"/>
                        <a:ea typeface="+mj-ea"/>
                      </a:endParaRPr>
                    </a:p>
                  </a:txBody>
                  <a:tcPr marL="6965" marR="6965" marT="6965" marB="0" anchor="ctr"/>
                </a:tc>
                <a:tc>
                  <a:txBody>
                    <a:bodyPr/>
                    <a:lstStyle/>
                    <a:p>
                      <a:pPr algn="ctr" rtl="0" fontAlgn="ctr"/>
                      <a:r>
                        <a:rPr lang="en-US" altLang="zh-CN" sz="1800" b="0" i="0" u="none" strike="noStrike" kern="1200" dirty="0">
                          <a:solidFill>
                            <a:schemeClr val="lt1"/>
                          </a:solidFill>
                          <a:effectLst/>
                          <a:latin typeface="+mj-ea"/>
                          <a:ea typeface="+mn-ea"/>
                          <a:cs typeface="+mn-cs"/>
                        </a:rPr>
                        <a:t>Input </a:t>
                      </a:r>
                      <a:endParaRPr lang="zh-CN" altLang="en-US" sz="1800" b="0" i="0" u="none" strike="noStrike" kern="1200" dirty="0">
                        <a:solidFill>
                          <a:srgbClr val="000000"/>
                        </a:solidFill>
                        <a:effectLst/>
                        <a:latin typeface="+mj-ea"/>
                        <a:ea typeface="+mn-ea"/>
                        <a:cs typeface="+mn-cs"/>
                      </a:endParaRPr>
                    </a:p>
                  </a:txBody>
                  <a:tcPr marL="6965" marR="6965" marT="6965" marB="0" anchor="ctr"/>
                </a:tc>
                <a:extLst>
                  <a:ext uri="{0D108BD9-81ED-4DB2-BD59-A6C34878D82A}">
                    <a16:rowId xmlns:a16="http://schemas.microsoft.com/office/drawing/2014/main" val="10000"/>
                  </a:ext>
                </a:extLst>
              </a:tr>
              <a:tr h="281464">
                <a:tc>
                  <a:txBody>
                    <a:bodyPr/>
                    <a:lstStyle/>
                    <a:p>
                      <a:pPr algn="ctr" rtl="0" fontAlgn="ctr"/>
                      <a:r>
                        <a:rPr lang="en-US" altLang="zh-CN" sz="1800" u="none" strike="noStrike" dirty="0">
                          <a:effectLst/>
                          <a:latin typeface="+mj-ea"/>
                          <a:ea typeface="+mj-ea"/>
                        </a:rPr>
                        <a:t>0</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dirty="0">
                          <a:solidFill>
                            <a:srgbClr val="000000"/>
                          </a:solidFill>
                          <a:effectLst/>
                          <a:latin typeface="+mj-ea"/>
                          <a:ea typeface="+mj-ea"/>
                        </a:rPr>
                        <a:t>0</a:t>
                      </a:r>
                    </a:p>
                  </a:txBody>
                  <a:tcPr marL="7144" marR="7144" marT="7144" marB="0" anchor="ctr"/>
                </a:tc>
                <a:tc>
                  <a:txBody>
                    <a:bodyPr/>
                    <a:lstStyle/>
                    <a:p>
                      <a:pPr algn="l" fontAlgn="ctr"/>
                      <a:endParaRPr lang="en-US" altLang="zh-CN" sz="1800" b="0" i="0" u="none" strike="noStrike" dirty="0">
                        <a:solidFill>
                          <a:srgbClr val="000000"/>
                        </a:solidFill>
                        <a:effectLst/>
                        <a:latin typeface="+mj-ea"/>
                        <a:ea typeface="+mj-ea"/>
                      </a:endParaRPr>
                    </a:p>
                  </a:txBody>
                  <a:tcPr marL="7144" marR="7144" marT="7144" marB="0" anchor="ctr"/>
                </a:tc>
                <a:tc>
                  <a:txBody>
                    <a:bodyPr/>
                    <a:lstStyle/>
                    <a:p>
                      <a:pPr algn="l" fontAlgn="ctr"/>
                      <a:r>
                        <a:rPr lang="en-US" altLang="zh-CN" sz="1800" b="0" i="0" u="none" strike="noStrike">
                          <a:solidFill>
                            <a:srgbClr val="000000"/>
                          </a:solidFill>
                          <a:effectLst/>
                          <a:latin typeface="+mj-ea"/>
                          <a:ea typeface="+mj-ea"/>
                        </a:rPr>
                        <a:t>-</a:t>
                      </a:r>
                    </a:p>
                  </a:txBody>
                  <a:tcPr marL="7144" marR="7144" marT="7144" marB="0" anchor="ctr"/>
                </a:tc>
                <a:tc>
                  <a:txBody>
                    <a:bodyPr/>
                    <a:lstStyle/>
                    <a:p>
                      <a:pPr algn="l" fontAlgn="ctr"/>
                      <a:r>
                        <a:rPr lang="en-US" sz="1800" b="0" i="0" u="none" strike="noStrike" dirty="0">
                          <a:solidFill>
                            <a:srgbClr val="000000"/>
                          </a:solidFill>
                          <a:effectLst/>
                          <a:latin typeface="+mj-ea"/>
                          <a:ea typeface="+mj-ea"/>
                        </a:rPr>
                        <a:t>3*5+4n</a:t>
                      </a:r>
                    </a:p>
                  </a:txBody>
                  <a:tcPr marL="7144" marR="7144" marT="7144" marB="0" anchor="ctr"/>
                </a:tc>
                <a:extLst>
                  <a:ext uri="{0D108BD9-81ED-4DB2-BD59-A6C34878D82A}">
                    <a16:rowId xmlns:a16="http://schemas.microsoft.com/office/drawing/2014/main" val="10001"/>
                  </a:ext>
                </a:extLst>
              </a:tr>
              <a:tr h="281464">
                <a:tc>
                  <a:txBody>
                    <a:bodyPr/>
                    <a:lstStyle/>
                    <a:p>
                      <a:pPr algn="ctr" rtl="0" fontAlgn="ctr"/>
                      <a:r>
                        <a:rPr lang="en-US" altLang="zh-CN" sz="1800" u="none" strike="noStrike" dirty="0">
                          <a:effectLst/>
                          <a:latin typeface="+mj-ea"/>
                          <a:ea typeface="+mj-ea"/>
                        </a:rPr>
                        <a:t>1</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dirty="0">
                          <a:solidFill>
                            <a:srgbClr val="000000"/>
                          </a:solidFill>
                          <a:effectLst/>
                          <a:latin typeface="+mj-ea"/>
                          <a:ea typeface="+mj-ea"/>
                        </a:rPr>
                        <a:t>5</a:t>
                      </a:r>
                    </a:p>
                  </a:txBody>
                  <a:tcPr marL="7144" marR="7144" marT="7144" marB="0" anchor="ctr"/>
                </a:tc>
                <a:tc>
                  <a:txBody>
                    <a:bodyPr/>
                    <a:lstStyle/>
                    <a:p>
                      <a:pPr algn="l" fontAlgn="ctr"/>
                      <a:r>
                        <a:rPr lang="en-US" altLang="zh-CN" sz="1800" b="0" i="0" u="none" strike="noStrike">
                          <a:solidFill>
                            <a:srgbClr val="000000"/>
                          </a:solidFill>
                          <a:effectLst/>
                          <a:latin typeface="+mj-ea"/>
                          <a:ea typeface="+mj-ea"/>
                        </a:rPr>
                        <a:t>#3</a:t>
                      </a:r>
                    </a:p>
                  </a:txBody>
                  <a:tcPr marL="7144" marR="7144" marT="7144" marB="0" anchor="ctr"/>
                </a:tc>
                <a:tc>
                  <a:txBody>
                    <a:bodyPr/>
                    <a:lstStyle/>
                    <a:p>
                      <a:pPr algn="l" fontAlgn="ctr"/>
                      <a:r>
                        <a:rPr lang="en-US" altLang="zh-CN" sz="1800" b="0" i="0" u="none" strike="noStrike">
                          <a:solidFill>
                            <a:srgbClr val="000000"/>
                          </a:solidFill>
                          <a:effectLst/>
                          <a:latin typeface="+mj-ea"/>
                          <a:ea typeface="+mj-ea"/>
                        </a:rPr>
                        <a:t>-3</a:t>
                      </a:r>
                    </a:p>
                  </a:txBody>
                  <a:tcPr marL="7144" marR="7144" marT="7144" marB="0" anchor="ctr"/>
                </a:tc>
                <a:tc>
                  <a:txBody>
                    <a:bodyPr/>
                    <a:lstStyle/>
                    <a:p>
                      <a:pPr algn="l" fontAlgn="ctr"/>
                      <a:r>
                        <a:rPr lang="en-US" sz="1800" b="0" i="0" u="none" strike="noStrike">
                          <a:solidFill>
                            <a:srgbClr val="000000"/>
                          </a:solidFill>
                          <a:effectLst/>
                          <a:latin typeface="+mj-ea"/>
                          <a:ea typeface="+mj-ea"/>
                        </a:rPr>
                        <a:t>*5+4n</a:t>
                      </a:r>
                    </a:p>
                  </a:txBody>
                  <a:tcPr marL="7144" marR="7144" marT="7144" marB="0" anchor="ctr"/>
                </a:tc>
                <a:extLst>
                  <a:ext uri="{0D108BD9-81ED-4DB2-BD59-A6C34878D82A}">
                    <a16:rowId xmlns:a16="http://schemas.microsoft.com/office/drawing/2014/main" val="10002"/>
                  </a:ext>
                </a:extLst>
              </a:tr>
              <a:tr h="281464">
                <a:tc>
                  <a:txBody>
                    <a:bodyPr/>
                    <a:lstStyle/>
                    <a:p>
                      <a:pPr algn="ctr" rtl="0" fontAlgn="ctr"/>
                      <a:r>
                        <a:rPr lang="en-US" altLang="zh-CN" sz="1800" u="none" strike="noStrike" dirty="0">
                          <a:effectLst/>
                          <a:latin typeface="+mj-ea"/>
                          <a:ea typeface="+mj-ea"/>
                        </a:rPr>
                        <a:t>2</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dirty="0">
                          <a:solidFill>
                            <a:srgbClr val="000000"/>
                          </a:solidFill>
                          <a:effectLst/>
                          <a:latin typeface="+mj-ea"/>
                          <a:ea typeface="+mj-ea"/>
                        </a:rPr>
                        <a:t>3</a:t>
                      </a:r>
                    </a:p>
                  </a:txBody>
                  <a:tcPr marL="7144" marR="7144" marT="7144" marB="0" anchor="ctr"/>
                </a:tc>
                <a:tc>
                  <a:txBody>
                    <a:bodyPr/>
                    <a:lstStyle/>
                    <a:p>
                      <a:pPr algn="l" fontAlgn="ctr"/>
                      <a:r>
                        <a:rPr lang="en-US" sz="1800" b="0" i="0" u="none" strike="noStrike">
                          <a:solidFill>
                            <a:srgbClr val="000000"/>
                          </a:solidFill>
                          <a:effectLst/>
                          <a:latin typeface="+mj-ea"/>
                          <a:ea typeface="+mj-ea"/>
                        </a:rPr>
                        <a:t>#F</a:t>
                      </a:r>
                    </a:p>
                  </a:txBody>
                  <a:tcPr marL="7144" marR="7144" marT="7144" marB="0" anchor="ctr"/>
                </a:tc>
                <a:tc>
                  <a:txBody>
                    <a:bodyPr/>
                    <a:lstStyle/>
                    <a:p>
                      <a:pPr algn="l" fontAlgn="ctr"/>
                      <a:r>
                        <a:rPr lang="en-US" altLang="zh-CN" sz="1800" b="0" i="0" u="none" strike="noStrike">
                          <a:solidFill>
                            <a:srgbClr val="000000"/>
                          </a:solidFill>
                          <a:effectLst/>
                          <a:latin typeface="+mj-ea"/>
                          <a:ea typeface="+mj-ea"/>
                        </a:rPr>
                        <a:t>-3</a:t>
                      </a:r>
                    </a:p>
                  </a:txBody>
                  <a:tcPr marL="7144" marR="7144" marT="7144" marB="0" anchor="ctr"/>
                </a:tc>
                <a:tc>
                  <a:txBody>
                    <a:bodyPr/>
                    <a:lstStyle/>
                    <a:p>
                      <a:pPr algn="l" fontAlgn="ctr"/>
                      <a:r>
                        <a:rPr lang="en-US" sz="1800" b="0" i="0" u="none" strike="noStrike">
                          <a:solidFill>
                            <a:srgbClr val="000000"/>
                          </a:solidFill>
                          <a:effectLst/>
                          <a:latin typeface="+mj-ea"/>
                          <a:ea typeface="+mj-ea"/>
                        </a:rPr>
                        <a:t>*5+4n</a:t>
                      </a:r>
                    </a:p>
                  </a:txBody>
                  <a:tcPr marL="7144" marR="7144" marT="7144" marB="0" anchor="ctr"/>
                </a:tc>
                <a:extLst>
                  <a:ext uri="{0D108BD9-81ED-4DB2-BD59-A6C34878D82A}">
                    <a16:rowId xmlns:a16="http://schemas.microsoft.com/office/drawing/2014/main" val="10003"/>
                  </a:ext>
                </a:extLst>
              </a:tr>
              <a:tr h="281464">
                <a:tc>
                  <a:txBody>
                    <a:bodyPr/>
                    <a:lstStyle/>
                    <a:p>
                      <a:pPr algn="ctr" rtl="0" fontAlgn="ctr"/>
                      <a:r>
                        <a:rPr lang="en-US" altLang="zh-CN" sz="1800" u="none" strike="noStrike" dirty="0">
                          <a:effectLst/>
                          <a:latin typeface="+mj-ea"/>
                          <a:ea typeface="+mj-ea"/>
                        </a:rPr>
                        <a:t>3</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dirty="0">
                          <a:solidFill>
                            <a:srgbClr val="000000"/>
                          </a:solidFill>
                          <a:effectLst/>
                          <a:latin typeface="+mj-ea"/>
                          <a:ea typeface="+mj-ea"/>
                        </a:rPr>
                        <a:t>2</a:t>
                      </a:r>
                    </a:p>
                  </a:txBody>
                  <a:tcPr marL="7144" marR="7144" marT="7144" marB="0" anchor="ctr"/>
                </a:tc>
                <a:tc>
                  <a:txBody>
                    <a:bodyPr/>
                    <a:lstStyle/>
                    <a:p>
                      <a:pPr algn="l" fontAlgn="ctr"/>
                      <a:r>
                        <a:rPr lang="en-US" sz="1800" b="0" i="0" u="none" strike="noStrike" dirty="0">
                          <a:solidFill>
                            <a:srgbClr val="000000"/>
                          </a:solidFill>
                          <a:effectLst/>
                          <a:latin typeface="+mj-ea"/>
                          <a:ea typeface="+mj-ea"/>
                        </a:rPr>
                        <a:t>#T</a:t>
                      </a:r>
                    </a:p>
                  </a:txBody>
                  <a:tcPr marL="7144" marR="7144" marT="7144" marB="0" anchor="ctr"/>
                </a:tc>
                <a:tc>
                  <a:txBody>
                    <a:bodyPr/>
                    <a:lstStyle/>
                    <a:p>
                      <a:pPr algn="l" fontAlgn="ctr"/>
                      <a:r>
                        <a:rPr lang="en-US" altLang="zh-CN" sz="1800" b="0" i="0" u="none" strike="noStrike">
                          <a:solidFill>
                            <a:srgbClr val="000000"/>
                          </a:solidFill>
                          <a:effectLst/>
                          <a:latin typeface="+mj-ea"/>
                          <a:ea typeface="+mj-ea"/>
                        </a:rPr>
                        <a:t>-3</a:t>
                      </a:r>
                    </a:p>
                  </a:txBody>
                  <a:tcPr marL="7144" marR="7144" marT="7144" marB="0" anchor="ctr"/>
                </a:tc>
                <a:tc>
                  <a:txBody>
                    <a:bodyPr/>
                    <a:lstStyle/>
                    <a:p>
                      <a:pPr algn="l" fontAlgn="ctr"/>
                      <a:r>
                        <a:rPr lang="en-US" sz="1800" b="0" i="0" u="none" strike="noStrike">
                          <a:solidFill>
                            <a:srgbClr val="000000"/>
                          </a:solidFill>
                          <a:effectLst/>
                          <a:latin typeface="+mj-ea"/>
                          <a:ea typeface="+mj-ea"/>
                        </a:rPr>
                        <a:t>*5+4n</a:t>
                      </a:r>
                    </a:p>
                  </a:txBody>
                  <a:tcPr marL="7144" marR="7144" marT="7144" marB="0" anchor="ctr"/>
                </a:tc>
                <a:extLst>
                  <a:ext uri="{0D108BD9-81ED-4DB2-BD59-A6C34878D82A}">
                    <a16:rowId xmlns:a16="http://schemas.microsoft.com/office/drawing/2014/main" val="10004"/>
                  </a:ext>
                </a:extLst>
              </a:tr>
              <a:tr h="281464">
                <a:tc>
                  <a:txBody>
                    <a:bodyPr/>
                    <a:lstStyle/>
                    <a:p>
                      <a:pPr algn="ctr" rtl="0" fontAlgn="ctr"/>
                      <a:r>
                        <a:rPr lang="en-US" altLang="zh-CN" sz="1800" u="none" strike="noStrike" dirty="0">
                          <a:effectLst/>
                          <a:latin typeface="+mj-ea"/>
                          <a:ea typeface="+mj-ea"/>
                        </a:rPr>
                        <a:t>4</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a:solidFill>
                            <a:srgbClr val="000000"/>
                          </a:solidFill>
                          <a:effectLst/>
                          <a:latin typeface="+mj-ea"/>
                          <a:ea typeface="+mj-ea"/>
                        </a:rPr>
                        <a:t>27</a:t>
                      </a:r>
                    </a:p>
                  </a:txBody>
                  <a:tcPr marL="7144" marR="7144" marT="7144" marB="0" anchor="ctr"/>
                </a:tc>
                <a:tc>
                  <a:txBody>
                    <a:bodyPr/>
                    <a:lstStyle/>
                    <a:p>
                      <a:pPr algn="l" fontAlgn="ctr"/>
                      <a:r>
                        <a:rPr lang="en-US" sz="1800" b="0" i="0" u="none" strike="noStrike" dirty="0">
                          <a:solidFill>
                            <a:srgbClr val="000000"/>
                          </a:solidFill>
                          <a:effectLst/>
                          <a:latin typeface="+mj-ea"/>
                          <a:ea typeface="+mj-ea"/>
                        </a:rPr>
                        <a:t>#T*</a:t>
                      </a:r>
                    </a:p>
                  </a:txBody>
                  <a:tcPr marL="7144" marR="7144" marT="7144" marB="0" anchor="ctr"/>
                </a:tc>
                <a:tc>
                  <a:txBody>
                    <a:bodyPr/>
                    <a:lstStyle/>
                    <a:p>
                      <a:pPr algn="l" fontAlgn="ctr"/>
                      <a:r>
                        <a:rPr lang="en-US" altLang="zh-CN" sz="1800" b="0" i="0" u="none" strike="noStrike">
                          <a:solidFill>
                            <a:srgbClr val="000000"/>
                          </a:solidFill>
                          <a:effectLst/>
                          <a:latin typeface="+mj-ea"/>
                          <a:ea typeface="+mj-ea"/>
                        </a:rPr>
                        <a:t>-3-</a:t>
                      </a:r>
                    </a:p>
                  </a:txBody>
                  <a:tcPr marL="7144" marR="7144" marT="7144" marB="0" anchor="ctr"/>
                </a:tc>
                <a:tc>
                  <a:txBody>
                    <a:bodyPr/>
                    <a:lstStyle/>
                    <a:p>
                      <a:pPr algn="l" fontAlgn="ctr"/>
                      <a:r>
                        <a:rPr lang="en-US" sz="1800" b="0" i="0" u="none" strike="noStrike">
                          <a:solidFill>
                            <a:srgbClr val="000000"/>
                          </a:solidFill>
                          <a:effectLst/>
                          <a:latin typeface="+mj-ea"/>
                          <a:ea typeface="+mj-ea"/>
                        </a:rPr>
                        <a:t>5+4n</a:t>
                      </a:r>
                    </a:p>
                  </a:txBody>
                  <a:tcPr marL="7144" marR="7144" marT="7144" marB="0" anchor="ctr"/>
                </a:tc>
                <a:extLst>
                  <a:ext uri="{0D108BD9-81ED-4DB2-BD59-A6C34878D82A}">
                    <a16:rowId xmlns:a16="http://schemas.microsoft.com/office/drawing/2014/main" val="10005"/>
                  </a:ext>
                </a:extLst>
              </a:tr>
              <a:tr h="281464">
                <a:tc>
                  <a:txBody>
                    <a:bodyPr/>
                    <a:lstStyle/>
                    <a:p>
                      <a:pPr algn="ctr" rtl="0" fontAlgn="ctr"/>
                      <a:r>
                        <a:rPr lang="en-US" altLang="zh-CN" sz="1800" u="none" strike="noStrike" dirty="0">
                          <a:effectLst/>
                          <a:latin typeface="+mj-ea"/>
                          <a:ea typeface="+mj-ea"/>
                        </a:rPr>
                        <a:t>5</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a:solidFill>
                            <a:srgbClr val="000000"/>
                          </a:solidFill>
                          <a:effectLst/>
                          <a:latin typeface="+mj-ea"/>
                          <a:ea typeface="+mj-ea"/>
                        </a:rPr>
                        <a:t>275</a:t>
                      </a:r>
                    </a:p>
                  </a:txBody>
                  <a:tcPr marL="7144" marR="7144" marT="7144" marB="0" anchor="ctr"/>
                </a:tc>
                <a:tc>
                  <a:txBody>
                    <a:bodyPr/>
                    <a:lstStyle/>
                    <a:p>
                      <a:pPr algn="l" fontAlgn="ctr"/>
                      <a:r>
                        <a:rPr lang="en-US" sz="1800" b="0" i="0" u="none" strike="noStrike" dirty="0">
                          <a:solidFill>
                            <a:srgbClr val="000000"/>
                          </a:solidFill>
                          <a:effectLst/>
                          <a:latin typeface="+mj-ea"/>
                          <a:ea typeface="+mj-ea"/>
                        </a:rPr>
                        <a:t>#T*5</a:t>
                      </a:r>
                    </a:p>
                  </a:txBody>
                  <a:tcPr marL="7144" marR="7144" marT="7144" marB="0" anchor="ctr"/>
                </a:tc>
                <a:tc>
                  <a:txBody>
                    <a:bodyPr/>
                    <a:lstStyle/>
                    <a:p>
                      <a:pPr algn="l" fontAlgn="ctr"/>
                      <a:r>
                        <a:rPr lang="en-US" altLang="zh-CN" sz="1800" b="0" i="0" u="none" strike="noStrike">
                          <a:solidFill>
                            <a:srgbClr val="000000"/>
                          </a:solidFill>
                          <a:effectLst/>
                          <a:latin typeface="+mj-ea"/>
                          <a:ea typeface="+mj-ea"/>
                        </a:rPr>
                        <a:t>-3-5</a:t>
                      </a:r>
                    </a:p>
                  </a:txBody>
                  <a:tcPr marL="7144" marR="7144" marT="7144" marB="0" anchor="ctr"/>
                </a:tc>
                <a:tc>
                  <a:txBody>
                    <a:bodyPr/>
                    <a:lstStyle/>
                    <a:p>
                      <a:pPr algn="l" fontAlgn="ctr"/>
                      <a:r>
                        <a:rPr lang="en-US" sz="1800" b="0" i="0" u="none" strike="noStrike">
                          <a:solidFill>
                            <a:srgbClr val="000000"/>
                          </a:solidFill>
                          <a:effectLst/>
                          <a:latin typeface="+mj-ea"/>
                          <a:ea typeface="+mj-ea"/>
                        </a:rPr>
                        <a:t>+4n</a:t>
                      </a:r>
                    </a:p>
                  </a:txBody>
                  <a:tcPr marL="7144" marR="7144" marT="7144" marB="0" anchor="ctr"/>
                </a:tc>
                <a:extLst>
                  <a:ext uri="{0D108BD9-81ED-4DB2-BD59-A6C34878D82A}">
                    <a16:rowId xmlns:a16="http://schemas.microsoft.com/office/drawing/2014/main" val="10006"/>
                  </a:ext>
                </a:extLst>
              </a:tr>
              <a:tr h="281464">
                <a:tc>
                  <a:txBody>
                    <a:bodyPr/>
                    <a:lstStyle/>
                    <a:p>
                      <a:pPr algn="ctr" rtl="0" fontAlgn="ctr"/>
                      <a:r>
                        <a:rPr lang="en-US" altLang="zh-CN" sz="1800" u="none" strike="noStrike" dirty="0">
                          <a:effectLst/>
                          <a:latin typeface="+mj-ea"/>
                          <a:ea typeface="+mj-ea"/>
                        </a:rPr>
                        <a:t>6</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dirty="0">
                          <a:solidFill>
                            <a:srgbClr val="000000"/>
                          </a:solidFill>
                          <a:effectLst/>
                          <a:latin typeface="+mj-ea"/>
                          <a:ea typeface="+mj-ea"/>
                        </a:rPr>
                        <a:t>27</a:t>
                      </a:r>
                      <a:r>
                        <a:rPr lang="en-US" altLang="zh-CN" sz="1800" b="0" i="0" u="sng" strike="noStrike" dirty="0">
                          <a:solidFill>
                            <a:srgbClr val="000000"/>
                          </a:solidFill>
                          <a:effectLst/>
                          <a:latin typeface="+mj-ea"/>
                          <a:ea typeface="+mj-ea"/>
                        </a:rPr>
                        <a:t>10</a:t>
                      </a:r>
                    </a:p>
                  </a:txBody>
                  <a:tcPr marL="7144" marR="7144" marT="7144" marB="0" anchor="ctr"/>
                </a:tc>
                <a:tc>
                  <a:txBody>
                    <a:bodyPr/>
                    <a:lstStyle/>
                    <a:p>
                      <a:pPr algn="l" fontAlgn="ctr"/>
                      <a:r>
                        <a:rPr lang="en-US" sz="1800" b="0" i="0" u="none" strike="noStrike" dirty="0">
                          <a:solidFill>
                            <a:srgbClr val="000000"/>
                          </a:solidFill>
                          <a:effectLst/>
                          <a:latin typeface="+mj-ea"/>
                          <a:ea typeface="+mj-ea"/>
                        </a:rPr>
                        <a:t>#T*F</a:t>
                      </a:r>
                    </a:p>
                  </a:txBody>
                  <a:tcPr marL="7144" marR="7144" marT="7144" marB="0" anchor="ctr"/>
                </a:tc>
                <a:tc>
                  <a:txBody>
                    <a:bodyPr/>
                    <a:lstStyle/>
                    <a:p>
                      <a:pPr algn="l" fontAlgn="ctr"/>
                      <a:r>
                        <a:rPr lang="en-US" altLang="zh-CN" sz="1800" b="0" i="0" u="none" strike="noStrike">
                          <a:solidFill>
                            <a:srgbClr val="000000"/>
                          </a:solidFill>
                          <a:effectLst/>
                          <a:latin typeface="+mj-ea"/>
                          <a:ea typeface="+mj-ea"/>
                        </a:rPr>
                        <a:t>-3-5</a:t>
                      </a:r>
                    </a:p>
                  </a:txBody>
                  <a:tcPr marL="7144" marR="7144" marT="7144" marB="0" anchor="ctr"/>
                </a:tc>
                <a:tc>
                  <a:txBody>
                    <a:bodyPr/>
                    <a:lstStyle/>
                    <a:p>
                      <a:pPr algn="l" fontAlgn="ctr"/>
                      <a:r>
                        <a:rPr lang="en-US" sz="1800" b="0" i="0" u="none" strike="noStrike">
                          <a:solidFill>
                            <a:srgbClr val="000000"/>
                          </a:solidFill>
                          <a:effectLst/>
                          <a:latin typeface="+mj-ea"/>
                          <a:ea typeface="+mj-ea"/>
                        </a:rPr>
                        <a:t>+4n</a:t>
                      </a:r>
                    </a:p>
                  </a:txBody>
                  <a:tcPr marL="7144" marR="7144" marT="7144" marB="0" anchor="ctr"/>
                </a:tc>
                <a:extLst>
                  <a:ext uri="{0D108BD9-81ED-4DB2-BD59-A6C34878D82A}">
                    <a16:rowId xmlns:a16="http://schemas.microsoft.com/office/drawing/2014/main" val="10007"/>
                  </a:ext>
                </a:extLst>
              </a:tr>
              <a:tr h="281464">
                <a:tc>
                  <a:txBody>
                    <a:bodyPr/>
                    <a:lstStyle/>
                    <a:p>
                      <a:pPr algn="ctr" rtl="0" fontAlgn="ctr"/>
                      <a:r>
                        <a:rPr lang="en-US" altLang="zh-CN" sz="1800" u="none" strike="noStrike" dirty="0">
                          <a:effectLst/>
                          <a:latin typeface="+mj-ea"/>
                          <a:ea typeface="+mj-ea"/>
                        </a:rPr>
                        <a:t>7</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a:solidFill>
                            <a:srgbClr val="000000"/>
                          </a:solidFill>
                          <a:effectLst/>
                          <a:latin typeface="+mj-ea"/>
                          <a:ea typeface="+mj-ea"/>
                        </a:rPr>
                        <a:t>2</a:t>
                      </a:r>
                    </a:p>
                  </a:txBody>
                  <a:tcPr marL="7144" marR="7144" marT="7144" marB="0" anchor="ctr"/>
                </a:tc>
                <a:tc>
                  <a:txBody>
                    <a:bodyPr/>
                    <a:lstStyle/>
                    <a:p>
                      <a:pPr algn="l" fontAlgn="ctr"/>
                      <a:r>
                        <a:rPr lang="en-US" sz="1800" b="0" i="0" u="none" strike="noStrike" dirty="0">
                          <a:solidFill>
                            <a:srgbClr val="000000"/>
                          </a:solidFill>
                          <a:effectLst/>
                          <a:latin typeface="+mj-ea"/>
                          <a:ea typeface="+mj-ea"/>
                        </a:rPr>
                        <a:t>#T</a:t>
                      </a:r>
                    </a:p>
                  </a:txBody>
                  <a:tcPr marL="7144" marR="7144" marT="7144" marB="0" anchor="ctr"/>
                </a:tc>
                <a:tc>
                  <a:txBody>
                    <a:bodyPr/>
                    <a:lstStyle/>
                    <a:p>
                      <a:pPr algn="l" fontAlgn="ctr"/>
                      <a:r>
                        <a:rPr lang="en-US" altLang="zh-CN" sz="1800" b="0" i="0" u="none" strike="noStrike" dirty="0">
                          <a:solidFill>
                            <a:srgbClr val="000000"/>
                          </a:solidFill>
                          <a:effectLst/>
                          <a:latin typeface="+mj-ea"/>
                          <a:ea typeface="+mj-ea"/>
                        </a:rPr>
                        <a:t>-15</a:t>
                      </a:r>
                    </a:p>
                  </a:txBody>
                  <a:tcPr marL="7144" marR="7144" marT="7144" marB="0" anchor="ctr"/>
                </a:tc>
                <a:tc>
                  <a:txBody>
                    <a:bodyPr/>
                    <a:lstStyle/>
                    <a:p>
                      <a:pPr algn="l" fontAlgn="ctr"/>
                      <a:r>
                        <a:rPr lang="en-US" sz="1800" b="0" i="0" u="none" strike="noStrike">
                          <a:solidFill>
                            <a:srgbClr val="000000"/>
                          </a:solidFill>
                          <a:effectLst/>
                          <a:latin typeface="+mj-ea"/>
                          <a:ea typeface="+mj-ea"/>
                        </a:rPr>
                        <a:t>+4n</a:t>
                      </a:r>
                    </a:p>
                  </a:txBody>
                  <a:tcPr marL="7144" marR="7144" marT="7144" marB="0" anchor="ctr"/>
                </a:tc>
                <a:extLst>
                  <a:ext uri="{0D108BD9-81ED-4DB2-BD59-A6C34878D82A}">
                    <a16:rowId xmlns:a16="http://schemas.microsoft.com/office/drawing/2014/main" val="10008"/>
                  </a:ext>
                </a:extLst>
              </a:tr>
              <a:tr h="281464">
                <a:tc>
                  <a:txBody>
                    <a:bodyPr/>
                    <a:lstStyle/>
                    <a:p>
                      <a:pPr algn="ctr" rtl="0" fontAlgn="ctr"/>
                      <a:r>
                        <a:rPr lang="en-US" altLang="zh-CN" sz="1800" u="none" strike="noStrike" dirty="0">
                          <a:effectLst/>
                          <a:latin typeface="+mj-ea"/>
                          <a:ea typeface="+mj-ea"/>
                        </a:rPr>
                        <a:t>8</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a:solidFill>
                            <a:srgbClr val="000000"/>
                          </a:solidFill>
                          <a:effectLst/>
                          <a:latin typeface="+mj-ea"/>
                          <a:ea typeface="+mj-ea"/>
                        </a:rPr>
                        <a:t>1</a:t>
                      </a:r>
                    </a:p>
                  </a:txBody>
                  <a:tcPr marL="7144" marR="7144" marT="7144" marB="0" anchor="ctr"/>
                </a:tc>
                <a:tc>
                  <a:txBody>
                    <a:bodyPr/>
                    <a:lstStyle/>
                    <a:p>
                      <a:pPr algn="l" fontAlgn="ctr"/>
                      <a:r>
                        <a:rPr lang="en-US" sz="1800" b="0" i="0" u="none" strike="noStrike" dirty="0">
                          <a:solidFill>
                            <a:srgbClr val="000000"/>
                          </a:solidFill>
                          <a:effectLst/>
                          <a:latin typeface="+mj-ea"/>
                          <a:ea typeface="+mj-ea"/>
                        </a:rPr>
                        <a:t>#E</a:t>
                      </a:r>
                    </a:p>
                  </a:txBody>
                  <a:tcPr marL="7144" marR="7144" marT="7144" marB="0" anchor="ctr"/>
                </a:tc>
                <a:tc>
                  <a:txBody>
                    <a:bodyPr/>
                    <a:lstStyle/>
                    <a:p>
                      <a:pPr algn="l" fontAlgn="ctr"/>
                      <a:r>
                        <a:rPr lang="en-US" altLang="zh-CN" sz="1800" b="0" i="0" u="none" strike="noStrike" dirty="0">
                          <a:solidFill>
                            <a:srgbClr val="000000"/>
                          </a:solidFill>
                          <a:effectLst/>
                          <a:latin typeface="+mj-ea"/>
                          <a:ea typeface="+mj-ea"/>
                        </a:rPr>
                        <a:t>-15</a:t>
                      </a:r>
                    </a:p>
                  </a:txBody>
                  <a:tcPr marL="7144" marR="7144" marT="7144" marB="0" anchor="ctr"/>
                </a:tc>
                <a:tc>
                  <a:txBody>
                    <a:bodyPr/>
                    <a:lstStyle/>
                    <a:p>
                      <a:pPr algn="l" fontAlgn="ctr"/>
                      <a:r>
                        <a:rPr lang="en-US" sz="1800" b="0" i="0" u="none" strike="noStrike">
                          <a:solidFill>
                            <a:srgbClr val="000000"/>
                          </a:solidFill>
                          <a:effectLst/>
                          <a:latin typeface="+mj-ea"/>
                          <a:ea typeface="+mj-ea"/>
                        </a:rPr>
                        <a:t>+4n</a:t>
                      </a:r>
                    </a:p>
                  </a:txBody>
                  <a:tcPr marL="7144" marR="7144" marT="7144" marB="0" anchor="ctr"/>
                </a:tc>
                <a:extLst>
                  <a:ext uri="{0D108BD9-81ED-4DB2-BD59-A6C34878D82A}">
                    <a16:rowId xmlns:a16="http://schemas.microsoft.com/office/drawing/2014/main" val="10009"/>
                  </a:ext>
                </a:extLst>
              </a:tr>
              <a:tr h="281464">
                <a:tc>
                  <a:txBody>
                    <a:bodyPr/>
                    <a:lstStyle/>
                    <a:p>
                      <a:pPr algn="ctr" rtl="0" fontAlgn="ctr"/>
                      <a:r>
                        <a:rPr lang="en-US" altLang="zh-CN" sz="1800" u="none" strike="noStrike" dirty="0">
                          <a:effectLst/>
                          <a:latin typeface="+mj-ea"/>
                          <a:ea typeface="+mj-ea"/>
                        </a:rPr>
                        <a:t>9</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a:solidFill>
                            <a:srgbClr val="000000"/>
                          </a:solidFill>
                          <a:effectLst/>
                          <a:latin typeface="+mj-ea"/>
                          <a:ea typeface="+mj-ea"/>
                        </a:rPr>
                        <a:t>16</a:t>
                      </a:r>
                    </a:p>
                  </a:txBody>
                  <a:tcPr marL="7144" marR="7144" marT="7144" marB="0" anchor="ctr"/>
                </a:tc>
                <a:tc>
                  <a:txBody>
                    <a:bodyPr/>
                    <a:lstStyle/>
                    <a:p>
                      <a:pPr algn="l" fontAlgn="ctr"/>
                      <a:r>
                        <a:rPr lang="en-US" sz="1800" b="0" i="0" u="none" strike="noStrike">
                          <a:solidFill>
                            <a:srgbClr val="000000"/>
                          </a:solidFill>
                          <a:effectLst/>
                          <a:latin typeface="+mj-ea"/>
                          <a:ea typeface="+mj-ea"/>
                        </a:rPr>
                        <a:t>#E+</a:t>
                      </a:r>
                    </a:p>
                  </a:txBody>
                  <a:tcPr marL="7144" marR="7144" marT="7144" marB="0" anchor="ctr"/>
                </a:tc>
                <a:tc>
                  <a:txBody>
                    <a:bodyPr/>
                    <a:lstStyle/>
                    <a:p>
                      <a:pPr algn="l" fontAlgn="ctr"/>
                      <a:r>
                        <a:rPr lang="en-US" altLang="zh-CN" sz="1800" b="0" i="0" u="none" strike="noStrike" dirty="0">
                          <a:solidFill>
                            <a:srgbClr val="000000"/>
                          </a:solidFill>
                          <a:effectLst/>
                          <a:latin typeface="+mj-ea"/>
                          <a:ea typeface="+mj-ea"/>
                        </a:rPr>
                        <a:t>-15-</a:t>
                      </a:r>
                    </a:p>
                  </a:txBody>
                  <a:tcPr marL="7144" marR="7144" marT="7144" marB="0" anchor="ctr"/>
                </a:tc>
                <a:tc>
                  <a:txBody>
                    <a:bodyPr/>
                    <a:lstStyle/>
                    <a:p>
                      <a:pPr algn="l" fontAlgn="ctr"/>
                      <a:r>
                        <a:rPr lang="en-US" sz="1800" b="0" i="0" u="none" strike="noStrike">
                          <a:solidFill>
                            <a:srgbClr val="000000"/>
                          </a:solidFill>
                          <a:effectLst/>
                          <a:latin typeface="+mj-ea"/>
                          <a:ea typeface="+mj-ea"/>
                        </a:rPr>
                        <a:t>4n</a:t>
                      </a:r>
                    </a:p>
                  </a:txBody>
                  <a:tcPr marL="7144" marR="7144" marT="7144" marB="0" anchor="ctr"/>
                </a:tc>
                <a:extLst>
                  <a:ext uri="{0D108BD9-81ED-4DB2-BD59-A6C34878D82A}">
                    <a16:rowId xmlns:a16="http://schemas.microsoft.com/office/drawing/2014/main" val="10010"/>
                  </a:ext>
                </a:extLst>
              </a:tr>
              <a:tr h="281464">
                <a:tc>
                  <a:txBody>
                    <a:bodyPr/>
                    <a:lstStyle/>
                    <a:p>
                      <a:pPr algn="ctr" rtl="0" fontAlgn="ctr"/>
                      <a:r>
                        <a:rPr lang="en-US" altLang="zh-CN" sz="1800" u="none" strike="noStrike" dirty="0">
                          <a:effectLst/>
                          <a:latin typeface="+mj-ea"/>
                          <a:ea typeface="+mj-ea"/>
                        </a:rPr>
                        <a:t>10</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a:solidFill>
                            <a:srgbClr val="000000"/>
                          </a:solidFill>
                          <a:effectLst/>
                          <a:latin typeface="+mj-ea"/>
                          <a:ea typeface="+mj-ea"/>
                        </a:rPr>
                        <a:t>165</a:t>
                      </a:r>
                    </a:p>
                  </a:txBody>
                  <a:tcPr marL="7144" marR="7144" marT="7144" marB="0" anchor="ctr"/>
                </a:tc>
                <a:tc>
                  <a:txBody>
                    <a:bodyPr/>
                    <a:lstStyle/>
                    <a:p>
                      <a:pPr algn="l" fontAlgn="ctr"/>
                      <a:r>
                        <a:rPr lang="en-US" sz="1800" b="0" i="0" u="none" strike="noStrike">
                          <a:solidFill>
                            <a:srgbClr val="000000"/>
                          </a:solidFill>
                          <a:effectLst/>
                          <a:latin typeface="+mj-ea"/>
                          <a:ea typeface="+mj-ea"/>
                        </a:rPr>
                        <a:t>#E+4</a:t>
                      </a:r>
                    </a:p>
                  </a:txBody>
                  <a:tcPr marL="7144" marR="7144" marT="7144" marB="0" anchor="ctr"/>
                </a:tc>
                <a:tc>
                  <a:txBody>
                    <a:bodyPr/>
                    <a:lstStyle/>
                    <a:p>
                      <a:pPr algn="l" fontAlgn="ctr"/>
                      <a:r>
                        <a:rPr lang="en-US" altLang="zh-CN" sz="1800" b="0" i="0" u="none" strike="noStrike" dirty="0">
                          <a:solidFill>
                            <a:srgbClr val="000000"/>
                          </a:solidFill>
                          <a:effectLst/>
                          <a:latin typeface="+mj-ea"/>
                          <a:ea typeface="+mj-ea"/>
                        </a:rPr>
                        <a:t>-15-4</a:t>
                      </a:r>
                    </a:p>
                  </a:txBody>
                  <a:tcPr marL="7144" marR="7144" marT="7144" marB="0" anchor="ctr"/>
                </a:tc>
                <a:tc>
                  <a:txBody>
                    <a:bodyPr/>
                    <a:lstStyle/>
                    <a:p>
                      <a:pPr algn="l" fontAlgn="ctr"/>
                      <a:r>
                        <a:rPr lang="en-US" sz="1800" b="0" i="0" u="none" strike="noStrike">
                          <a:solidFill>
                            <a:srgbClr val="000000"/>
                          </a:solidFill>
                          <a:effectLst/>
                          <a:latin typeface="+mj-ea"/>
                          <a:ea typeface="+mj-ea"/>
                        </a:rPr>
                        <a:t>n</a:t>
                      </a:r>
                    </a:p>
                  </a:txBody>
                  <a:tcPr marL="7144" marR="7144" marT="7144" marB="0" anchor="ctr"/>
                </a:tc>
                <a:extLst>
                  <a:ext uri="{0D108BD9-81ED-4DB2-BD59-A6C34878D82A}">
                    <a16:rowId xmlns:a16="http://schemas.microsoft.com/office/drawing/2014/main" val="10011"/>
                  </a:ext>
                </a:extLst>
              </a:tr>
              <a:tr h="281464">
                <a:tc>
                  <a:txBody>
                    <a:bodyPr/>
                    <a:lstStyle/>
                    <a:p>
                      <a:pPr algn="ctr" rtl="0" fontAlgn="ctr"/>
                      <a:r>
                        <a:rPr lang="en-US" altLang="zh-CN" sz="1800" u="none" strike="noStrike" dirty="0">
                          <a:effectLst/>
                          <a:latin typeface="+mj-ea"/>
                          <a:ea typeface="+mj-ea"/>
                        </a:rPr>
                        <a:t>11</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a:solidFill>
                            <a:srgbClr val="000000"/>
                          </a:solidFill>
                          <a:effectLst/>
                          <a:latin typeface="+mj-ea"/>
                          <a:ea typeface="+mj-ea"/>
                        </a:rPr>
                        <a:t>163</a:t>
                      </a:r>
                    </a:p>
                  </a:txBody>
                  <a:tcPr marL="7144" marR="7144" marT="7144" marB="0" anchor="ctr"/>
                </a:tc>
                <a:tc>
                  <a:txBody>
                    <a:bodyPr/>
                    <a:lstStyle/>
                    <a:p>
                      <a:pPr algn="l" fontAlgn="ctr"/>
                      <a:r>
                        <a:rPr lang="en-US" sz="1800" b="0" i="0" u="none" strike="noStrike">
                          <a:solidFill>
                            <a:srgbClr val="000000"/>
                          </a:solidFill>
                          <a:effectLst/>
                          <a:latin typeface="+mj-ea"/>
                          <a:ea typeface="+mj-ea"/>
                        </a:rPr>
                        <a:t>#E+F</a:t>
                      </a:r>
                    </a:p>
                  </a:txBody>
                  <a:tcPr marL="7144" marR="7144" marT="7144" marB="0" anchor="ctr"/>
                </a:tc>
                <a:tc>
                  <a:txBody>
                    <a:bodyPr/>
                    <a:lstStyle/>
                    <a:p>
                      <a:pPr algn="l" fontAlgn="ctr"/>
                      <a:r>
                        <a:rPr lang="en-US" altLang="zh-CN" sz="1800" b="0" i="0" u="none" strike="noStrike" dirty="0">
                          <a:solidFill>
                            <a:srgbClr val="000000"/>
                          </a:solidFill>
                          <a:effectLst/>
                          <a:latin typeface="+mj-ea"/>
                          <a:ea typeface="+mj-ea"/>
                        </a:rPr>
                        <a:t>-15-4</a:t>
                      </a:r>
                    </a:p>
                  </a:txBody>
                  <a:tcPr marL="7144" marR="7144" marT="7144" marB="0" anchor="ctr"/>
                </a:tc>
                <a:tc>
                  <a:txBody>
                    <a:bodyPr/>
                    <a:lstStyle/>
                    <a:p>
                      <a:pPr algn="l" fontAlgn="ctr"/>
                      <a:r>
                        <a:rPr lang="en-US" sz="1800" b="0" i="0" u="none" strike="noStrike" dirty="0">
                          <a:solidFill>
                            <a:srgbClr val="000000"/>
                          </a:solidFill>
                          <a:effectLst/>
                          <a:latin typeface="+mj-ea"/>
                          <a:ea typeface="+mj-ea"/>
                        </a:rPr>
                        <a:t>n</a:t>
                      </a:r>
                    </a:p>
                  </a:txBody>
                  <a:tcPr marL="7144" marR="7144" marT="7144" marB="0" anchor="ctr"/>
                </a:tc>
                <a:extLst>
                  <a:ext uri="{0D108BD9-81ED-4DB2-BD59-A6C34878D82A}">
                    <a16:rowId xmlns:a16="http://schemas.microsoft.com/office/drawing/2014/main" val="10012"/>
                  </a:ext>
                </a:extLst>
              </a:tr>
              <a:tr h="281464">
                <a:tc>
                  <a:txBody>
                    <a:bodyPr/>
                    <a:lstStyle/>
                    <a:p>
                      <a:pPr algn="ctr" rtl="0" fontAlgn="ctr"/>
                      <a:r>
                        <a:rPr lang="en-US" altLang="zh-CN" sz="1800" u="none" strike="noStrike" dirty="0">
                          <a:effectLst/>
                          <a:latin typeface="+mj-ea"/>
                          <a:ea typeface="+mj-ea"/>
                        </a:rPr>
                        <a:t>11</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a:solidFill>
                            <a:srgbClr val="000000"/>
                          </a:solidFill>
                          <a:effectLst/>
                          <a:latin typeface="+mj-ea"/>
                          <a:ea typeface="+mj-ea"/>
                        </a:rPr>
                        <a:t>169</a:t>
                      </a:r>
                    </a:p>
                  </a:txBody>
                  <a:tcPr marL="7144" marR="7144" marT="7144" marB="0" anchor="ctr"/>
                </a:tc>
                <a:tc>
                  <a:txBody>
                    <a:bodyPr/>
                    <a:lstStyle/>
                    <a:p>
                      <a:pPr algn="l" fontAlgn="ctr"/>
                      <a:r>
                        <a:rPr lang="en-US" sz="1800" b="0" i="0" u="none" strike="noStrike">
                          <a:solidFill>
                            <a:srgbClr val="000000"/>
                          </a:solidFill>
                          <a:effectLst/>
                          <a:latin typeface="+mj-ea"/>
                          <a:ea typeface="+mj-ea"/>
                        </a:rPr>
                        <a:t>#E+T</a:t>
                      </a:r>
                    </a:p>
                  </a:txBody>
                  <a:tcPr marL="7144" marR="7144" marT="7144" marB="0" anchor="ctr"/>
                </a:tc>
                <a:tc>
                  <a:txBody>
                    <a:bodyPr/>
                    <a:lstStyle/>
                    <a:p>
                      <a:pPr algn="l" fontAlgn="ctr"/>
                      <a:r>
                        <a:rPr lang="en-US" altLang="zh-CN" sz="1800" b="0" i="0" u="none" strike="noStrike" dirty="0">
                          <a:solidFill>
                            <a:srgbClr val="000000"/>
                          </a:solidFill>
                          <a:effectLst/>
                          <a:latin typeface="+mj-ea"/>
                          <a:ea typeface="+mj-ea"/>
                        </a:rPr>
                        <a:t>-15-4</a:t>
                      </a:r>
                    </a:p>
                  </a:txBody>
                  <a:tcPr marL="7144" marR="7144" marT="7144" marB="0" anchor="ctr"/>
                </a:tc>
                <a:tc>
                  <a:txBody>
                    <a:bodyPr/>
                    <a:lstStyle/>
                    <a:p>
                      <a:pPr algn="l" fontAlgn="ctr"/>
                      <a:r>
                        <a:rPr lang="en-US" sz="1800" b="0" i="0" u="none" strike="noStrike" dirty="0">
                          <a:solidFill>
                            <a:srgbClr val="000000"/>
                          </a:solidFill>
                          <a:effectLst/>
                          <a:latin typeface="+mj-ea"/>
                          <a:ea typeface="+mj-ea"/>
                        </a:rPr>
                        <a:t>n</a:t>
                      </a:r>
                    </a:p>
                  </a:txBody>
                  <a:tcPr marL="7144" marR="7144" marT="7144" marB="0" anchor="ctr"/>
                </a:tc>
                <a:extLst>
                  <a:ext uri="{0D108BD9-81ED-4DB2-BD59-A6C34878D82A}">
                    <a16:rowId xmlns:a16="http://schemas.microsoft.com/office/drawing/2014/main" val="10013"/>
                  </a:ext>
                </a:extLst>
              </a:tr>
              <a:tr h="281464">
                <a:tc>
                  <a:txBody>
                    <a:bodyPr/>
                    <a:lstStyle/>
                    <a:p>
                      <a:pPr algn="ctr" rtl="0" fontAlgn="ctr"/>
                      <a:r>
                        <a:rPr lang="en-US" altLang="zh-CN" sz="1800" u="none" strike="noStrike" dirty="0">
                          <a:effectLst/>
                          <a:latin typeface="+mj-ea"/>
                          <a:ea typeface="+mj-ea"/>
                        </a:rPr>
                        <a:t>12</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r>
                        <a:rPr lang="en-US" altLang="zh-CN" sz="1800" b="0" i="0" u="none" strike="noStrike">
                          <a:solidFill>
                            <a:srgbClr val="000000"/>
                          </a:solidFill>
                          <a:effectLst/>
                          <a:latin typeface="+mj-ea"/>
                          <a:ea typeface="+mj-ea"/>
                        </a:rPr>
                        <a:t>1</a:t>
                      </a:r>
                    </a:p>
                  </a:txBody>
                  <a:tcPr marL="7144" marR="7144" marT="7144" marB="0" anchor="ctr"/>
                </a:tc>
                <a:tc>
                  <a:txBody>
                    <a:bodyPr/>
                    <a:lstStyle/>
                    <a:p>
                      <a:pPr algn="l" fontAlgn="ctr"/>
                      <a:r>
                        <a:rPr lang="en-US" sz="1800" b="0" i="0" u="none" strike="noStrike">
                          <a:solidFill>
                            <a:srgbClr val="000000"/>
                          </a:solidFill>
                          <a:effectLst/>
                          <a:latin typeface="+mj-ea"/>
                          <a:ea typeface="+mj-ea"/>
                        </a:rPr>
                        <a:t>#E</a:t>
                      </a:r>
                    </a:p>
                  </a:txBody>
                  <a:tcPr marL="7144" marR="7144" marT="7144" marB="0" anchor="ctr"/>
                </a:tc>
                <a:tc>
                  <a:txBody>
                    <a:bodyPr/>
                    <a:lstStyle/>
                    <a:p>
                      <a:pPr algn="l" fontAlgn="ctr"/>
                      <a:r>
                        <a:rPr lang="en-US" altLang="zh-CN" sz="1800" b="0" i="0" u="none" strike="noStrike" dirty="0">
                          <a:solidFill>
                            <a:srgbClr val="000000"/>
                          </a:solidFill>
                          <a:effectLst/>
                          <a:latin typeface="+mj-ea"/>
                          <a:ea typeface="+mj-ea"/>
                        </a:rPr>
                        <a:t>-19</a:t>
                      </a:r>
                    </a:p>
                  </a:txBody>
                  <a:tcPr marL="7144" marR="7144" marT="7144" marB="0" anchor="ctr"/>
                </a:tc>
                <a:tc>
                  <a:txBody>
                    <a:bodyPr/>
                    <a:lstStyle/>
                    <a:p>
                      <a:pPr algn="l" fontAlgn="ctr"/>
                      <a:r>
                        <a:rPr lang="en-US" sz="1800" b="0" i="0" u="none" strike="noStrike" dirty="0">
                          <a:solidFill>
                            <a:srgbClr val="000000"/>
                          </a:solidFill>
                          <a:effectLst/>
                          <a:latin typeface="+mj-ea"/>
                          <a:ea typeface="+mj-ea"/>
                        </a:rPr>
                        <a:t>n</a:t>
                      </a:r>
                    </a:p>
                  </a:txBody>
                  <a:tcPr marL="7144" marR="7144" marT="7144" marB="0" anchor="ctr"/>
                </a:tc>
                <a:extLst>
                  <a:ext uri="{0D108BD9-81ED-4DB2-BD59-A6C34878D82A}">
                    <a16:rowId xmlns:a16="http://schemas.microsoft.com/office/drawing/2014/main" val="10014"/>
                  </a:ext>
                </a:extLst>
              </a:tr>
              <a:tr h="281464">
                <a:tc>
                  <a:txBody>
                    <a:bodyPr/>
                    <a:lstStyle/>
                    <a:p>
                      <a:pPr algn="ctr" rtl="0" fontAlgn="ctr"/>
                      <a:r>
                        <a:rPr lang="en-US" altLang="zh-CN" sz="1800" u="none" strike="noStrike" dirty="0">
                          <a:effectLst/>
                          <a:latin typeface="+mj-ea"/>
                          <a:ea typeface="+mj-ea"/>
                        </a:rPr>
                        <a:t>13</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endParaRPr lang="zh-CN" altLang="en-US" sz="1800" b="0" i="0" u="none" strike="noStrike">
                        <a:solidFill>
                          <a:srgbClr val="000000"/>
                        </a:solidFill>
                        <a:effectLst/>
                        <a:latin typeface="+mj-ea"/>
                        <a:ea typeface="+mj-ea"/>
                      </a:endParaRPr>
                    </a:p>
                  </a:txBody>
                  <a:tcPr marL="7144" marR="7144" marT="7144" marB="0" anchor="ctr"/>
                </a:tc>
                <a:tc>
                  <a:txBody>
                    <a:bodyPr/>
                    <a:lstStyle/>
                    <a:p>
                      <a:pPr algn="l" fontAlgn="ctr"/>
                      <a:r>
                        <a:rPr lang="en-US" sz="1800" b="0" i="0" u="none" strike="noStrike">
                          <a:solidFill>
                            <a:srgbClr val="000000"/>
                          </a:solidFill>
                          <a:effectLst/>
                          <a:latin typeface="+mj-ea"/>
                          <a:ea typeface="+mj-ea"/>
                        </a:rPr>
                        <a:t>#En</a:t>
                      </a:r>
                    </a:p>
                  </a:txBody>
                  <a:tcPr marL="7144" marR="7144" marT="7144" marB="0" anchor="ctr"/>
                </a:tc>
                <a:tc>
                  <a:txBody>
                    <a:bodyPr/>
                    <a:lstStyle/>
                    <a:p>
                      <a:pPr algn="l" fontAlgn="ctr"/>
                      <a:r>
                        <a:rPr lang="en-US" altLang="zh-CN" sz="1800" b="0" i="0" u="none" strike="noStrike">
                          <a:solidFill>
                            <a:srgbClr val="000000"/>
                          </a:solidFill>
                          <a:effectLst/>
                          <a:latin typeface="+mj-ea"/>
                          <a:ea typeface="+mj-ea"/>
                        </a:rPr>
                        <a:t>-19-</a:t>
                      </a:r>
                    </a:p>
                  </a:txBody>
                  <a:tcPr marL="7144" marR="7144" marT="7144" marB="0" anchor="ctr"/>
                </a:tc>
                <a:tc>
                  <a:txBody>
                    <a:bodyPr/>
                    <a:lstStyle/>
                    <a:p>
                      <a:pPr algn="l" fontAlgn="ctr"/>
                      <a:endParaRPr lang="zh-CN" altLang="en-US" sz="1800" b="0" i="0" u="none" strike="noStrike" dirty="0">
                        <a:solidFill>
                          <a:srgbClr val="000000"/>
                        </a:solidFill>
                        <a:effectLst/>
                        <a:latin typeface="+mj-ea"/>
                        <a:ea typeface="+mj-ea"/>
                      </a:endParaRPr>
                    </a:p>
                  </a:txBody>
                  <a:tcPr marL="7144" marR="7144" marT="7144" marB="0" anchor="ctr"/>
                </a:tc>
                <a:extLst>
                  <a:ext uri="{0D108BD9-81ED-4DB2-BD59-A6C34878D82A}">
                    <a16:rowId xmlns:a16="http://schemas.microsoft.com/office/drawing/2014/main" val="10015"/>
                  </a:ext>
                </a:extLst>
              </a:tr>
              <a:tr h="281464">
                <a:tc>
                  <a:txBody>
                    <a:bodyPr/>
                    <a:lstStyle/>
                    <a:p>
                      <a:pPr algn="ctr" rtl="0" fontAlgn="ctr"/>
                      <a:r>
                        <a:rPr lang="en-US" altLang="zh-CN" sz="1800" u="none" strike="noStrike" dirty="0">
                          <a:effectLst/>
                          <a:latin typeface="+mj-ea"/>
                          <a:ea typeface="+mj-ea"/>
                        </a:rPr>
                        <a:t>14</a:t>
                      </a:r>
                      <a:endParaRPr lang="en-US" altLang="zh-CN" sz="1800" b="0" i="0" u="none" strike="noStrike" dirty="0">
                        <a:solidFill>
                          <a:schemeClr val="bg1"/>
                        </a:solidFill>
                        <a:effectLst/>
                        <a:latin typeface="+mj-ea"/>
                        <a:ea typeface="+mj-ea"/>
                      </a:endParaRPr>
                    </a:p>
                  </a:txBody>
                  <a:tcPr marL="6965" marR="6965" marT="6965" marB="0" anchor="ctr"/>
                </a:tc>
                <a:tc>
                  <a:txBody>
                    <a:bodyPr/>
                    <a:lstStyle/>
                    <a:p>
                      <a:pPr algn="l" fontAlgn="ctr"/>
                      <a:endParaRPr lang="zh-CN" altLang="en-US" sz="1800" b="0" i="0" u="none" strike="noStrike" dirty="0">
                        <a:solidFill>
                          <a:srgbClr val="000000"/>
                        </a:solidFill>
                        <a:effectLst/>
                        <a:latin typeface="+mj-ea"/>
                        <a:ea typeface="+mj-ea"/>
                      </a:endParaRPr>
                    </a:p>
                  </a:txBody>
                  <a:tcPr marL="7144" marR="7144" marT="7144" marB="0" anchor="ctr"/>
                </a:tc>
                <a:tc>
                  <a:txBody>
                    <a:bodyPr/>
                    <a:lstStyle/>
                    <a:p>
                      <a:pPr algn="l" fontAlgn="ctr"/>
                      <a:r>
                        <a:rPr lang="en-US" sz="1800" b="0" i="0" u="none" strike="noStrike">
                          <a:solidFill>
                            <a:srgbClr val="000000"/>
                          </a:solidFill>
                          <a:effectLst/>
                          <a:latin typeface="+mj-ea"/>
                          <a:ea typeface="+mj-ea"/>
                        </a:rPr>
                        <a:t>#L</a:t>
                      </a:r>
                    </a:p>
                  </a:txBody>
                  <a:tcPr marL="7144" marR="7144" marT="7144" marB="0" anchor="ctr"/>
                </a:tc>
                <a:tc>
                  <a:txBody>
                    <a:bodyPr/>
                    <a:lstStyle/>
                    <a:p>
                      <a:pPr algn="l" fontAlgn="ctr"/>
                      <a:r>
                        <a:rPr lang="en-US" altLang="zh-CN" sz="1800" b="0" i="0" u="none" strike="noStrike">
                          <a:solidFill>
                            <a:srgbClr val="000000"/>
                          </a:solidFill>
                          <a:effectLst/>
                          <a:latin typeface="+mj-ea"/>
                          <a:ea typeface="+mj-ea"/>
                        </a:rPr>
                        <a:t>-19</a:t>
                      </a:r>
                    </a:p>
                  </a:txBody>
                  <a:tcPr marL="7144" marR="7144" marT="7144" marB="0" anchor="ctr"/>
                </a:tc>
                <a:tc>
                  <a:txBody>
                    <a:bodyPr/>
                    <a:lstStyle/>
                    <a:p>
                      <a:pPr algn="l" fontAlgn="ctr"/>
                      <a:endParaRPr lang="zh-CN" altLang="en-US" sz="1800" b="0" i="0" u="none" strike="noStrike" dirty="0">
                        <a:solidFill>
                          <a:srgbClr val="000000"/>
                        </a:solidFill>
                        <a:effectLst/>
                        <a:latin typeface="+mj-ea"/>
                        <a:ea typeface="+mj-ea"/>
                      </a:endParaRPr>
                    </a:p>
                  </a:txBody>
                  <a:tcPr marL="7144" marR="7144" marT="7144" marB="0" anchor="ctr"/>
                </a:tc>
                <a:extLst>
                  <a:ext uri="{0D108BD9-81ED-4DB2-BD59-A6C34878D82A}">
                    <a16:rowId xmlns:a16="http://schemas.microsoft.com/office/drawing/2014/main" val="10016"/>
                  </a:ext>
                </a:extLst>
              </a:tr>
            </a:tbl>
          </a:graphicData>
        </a:graphic>
      </p:graphicFrame>
      <p:sp>
        <p:nvSpPr>
          <p:cNvPr id="4" name="内容占位符 2">
            <a:extLst>
              <a:ext uri="{FF2B5EF4-FFF2-40B4-BE49-F238E27FC236}">
                <a16:creationId xmlns:a16="http://schemas.microsoft.com/office/drawing/2014/main" id="{FB5FB28C-233E-4464-A6FC-1752CBF362B1}"/>
              </a:ext>
            </a:extLst>
          </p:cNvPr>
          <p:cNvSpPr txBox="1">
            <a:spLocks/>
          </p:cNvSpPr>
          <p:nvPr/>
        </p:nvSpPr>
        <p:spPr>
          <a:xfrm>
            <a:off x="6516216" y="501302"/>
            <a:ext cx="7887600" cy="4352400"/>
          </a:xfrm>
          <a:prstGeom prst="rect">
            <a:avLst/>
          </a:prstGeom>
        </p:spPr>
        <p:txBody>
          <a:bodyPr/>
          <a:lst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a:lstStyle>
          <a:p>
            <a:r>
              <a:rPr lang="en-US" altLang="zh-CN" dirty="0"/>
              <a:t>3*5+4n</a:t>
            </a:r>
            <a:endParaRPr lang="zh-CN" altLang="en-US" dirty="0"/>
          </a:p>
        </p:txBody>
      </p:sp>
      <p:sp>
        <p:nvSpPr>
          <p:cNvPr id="5" name="矩形 4">
            <a:extLst>
              <a:ext uri="{FF2B5EF4-FFF2-40B4-BE49-F238E27FC236}">
                <a16:creationId xmlns:a16="http://schemas.microsoft.com/office/drawing/2014/main" id="{4BE861DD-49AC-4652-B99C-4EEFDC057D2E}"/>
              </a:ext>
            </a:extLst>
          </p:cNvPr>
          <p:cNvSpPr/>
          <p:nvPr/>
        </p:nvSpPr>
        <p:spPr>
          <a:xfrm>
            <a:off x="4686902" y="1976257"/>
            <a:ext cx="4398906" cy="29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a:extLst>
              <a:ext uri="{FF2B5EF4-FFF2-40B4-BE49-F238E27FC236}">
                <a16:creationId xmlns:a16="http://schemas.microsoft.com/office/drawing/2014/main" id="{2018F82A-1011-4FBB-A142-A2147B28BB26}"/>
              </a:ext>
            </a:extLst>
          </p:cNvPr>
          <p:cNvSpPr/>
          <p:nvPr/>
        </p:nvSpPr>
        <p:spPr>
          <a:xfrm>
            <a:off x="4686902" y="2252252"/>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a:extLst>
              <a:ext uri="{FF2B5EF4-FFF2-40B4-BE49-F238E27FC236}">
                <a16:creationId xmlns:a16="http://schemas.microsoft.com/office/drawing/2014/main" id="{94C04DC4-4297-4357-ACAD-DF6E550504F1}"/>
              </a:ext>
            </a:extLst>
          </p:cNvPr>
          <p:cNvSpPr/>
          <p:nvPr/>
        </p:nvSpPr>
        <p:spPr>
          <a:xfrm>
            <a:off x="4686902" y="2535752"/>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D001946C-5DD1-4E28-8F75-21E9BAAEC70F}"/>
              </a:ext>
            </a:extLst>
          </p:cNvPr>
          <p:cNvSpPr/>
          <p:nvPr/>
        </p:nvSpPr>
        <p:spPr>
          <a:xfrm>
            <a:off x="4686902" y="2811883"/>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a:extLst>
              <a:ext uri="{FF2B5EF4-FFF2-40B4-BE49-F238E27FC236}">
                <a16:creationId xmlns:a16="http://schemas.microsoft.com/office/drawing/2014/main" id="{8CC885B2-4C4C-407E-A358-20C6E8DBB358}"/>
              </a:ext>
            </a:extLst>
          </p:cNvPr>
          <p:cNvSpPr/>
          <p:nvPr/>
        </p:nvSpPr>
        <p:spPr>
          <a:xfrm>
            <a:off x="4686902" y="3095383"/>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a:extLst>
              <a:ext uri="{FF2B5EF4-FFF2-40B4-BE49-F238E27FC236}">
                <a16:creationId xmlns:a16="http://schemas.microsoft.com/office/drawing/2014/main" id="{B68BE2C0-5162-43B6-9328-8DFA1D7F1A8A}"/>
              </a:ext>
            </a:extLst>
          </p:cNvPr>
          <p:cNvSpPr/>
          <p:nvPr/>
        </p:nvSpPr>
        <p:spPr>
          <a:xfrm>
            <a:off x="4686902" y="3378883"/>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a:extLst>
              <a:ext uri="{FF2B5EF4-FFF2-40B4-BE49-F238E27FC236}">
                <a16:creationId xmlns:a16="http://schemas.microsoft.com/office/drawing/2014/main" id="{CFBCA3AD-D9B0-4783-856D-34A3847CE296}"/>
              </a:ext>
            </a:extLst>
          </p:cNvPr>
          <p:cNvSpPr/>
          <p:nvPr/>
        </p:nvSpPr>
        <p:spPr>
          <a:xfrm>
            <a:off x="4686902" y="3662383"/>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a:extLst>
              <a:ext uri="{FF2B5EF4-FFF2-40B4-BE49-F238E27FC236}">
                <a16:creationId xmlns:a16="http://schemas.microsoft.com/office/drawing/2014/main" id="{8C3F14C2-E1E8-438A-9189-9BC26D5EA4ED}"/>
              </a:ext>
            </a:extLst>
          </p:cNvPr>
          <p:cNvSpPr/>
          <p:nvPr/>
        </p:nvSpPr>
        <p:spPr>
          <a:xfrm>
            <a:off x="4686902" y="3937782"/>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a:extLst>
              <a:ext uri="{FF2B5EF4-FFF2-40B4-BE49-F238E27FC236}">
                <a16:creationId xmlns:a16="http://schemas.microsoft.com/office/drawing/2014/main" id="{4B2F45FC-B3B0-4652-89D3-015082C803AB}"/>
              </a:ext>
            </a:extLst>
          </p:cNvPr>
          <p:cNvSpPr/>
          <p:nvPr/>
        </p:nvSpPr>
        <p:spPr>
          <a:xfrm>
            <a:off x="4686902" y="4221282"/>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13">
            <a:extLst>
              <a:ext uri="{FF2B5EF4-FFF2-40B4-BE49-F238E27FC236}">
                <a16:creationId xmlns:a16="http://schemas.microsoft.com/office/drawing/2014/main" id="{B9F73E65-A4EC-42E8-B9F3-F9EE02152641}"/>
              </a:ext>
            </a:extLst>
          </p:cNvPr>
          <p:cNvSpPr/>
          <p:nvPr/>
        </p:nvSpPr>
        <p:spPr>
          <a:xfrm>
            <a:off x="4686902" y="4504782"/>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a:extLst>
              <a:ext uri="{FF2B5EF4-FFF2-40B4-BE49-F238E27FC236}">
                <a16:creationId xmlns:a16="http://schemas.microsoft.com/office/drawing/2014/main" id="{EECBCF63-6CC0-4A07-8D89-882FE9439B86}"/>
              </a:ext>
            </a:extLst>
          </p:cNvPr>
          <p:cNvSpPr/>
          <p:nvPr/>
        </p:nvSpPr>
        <p:spPr>
          <a:xfrm>
            <a:off x="4686902" y="4778757"/>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矩形 15">
            <a:extLst>
              <a:ext uri="{FF2B5EF4-FFF2-40B4-BE49-F238E27FC236}">
                <a16:creationId xmlns:a16="http://schemas.microsoft.com/office/drawing/2014/main" id="{7028D4F3-40A7-4FC7-9B28-2C4526CBC7FF}"/>
              </a:ext>
            </a:extLst>
          </p:cNvPr>
          <p:cNvSpPr/>
          <p:nvPr/>
        </p:nvSpPr>
        <p:spPr>
          <a:xfrm>
            <a:off x="4686902" y="5073205"/>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a:extLst>
              <a:ext uri="{FF2B5EF4-FFF2-40B4-BE49-F238E27FC236}">
                <a16:creationId xmlns:a16="http://schemas.microsoft.com/office/drawing/2014/main" id="{C6973D11-C843-4BBB-83F1-BAA9F864E6C9}"/>
              </a:ext>
            </a:extLst>
          </p:cNvPr>
          <p:cNvSpPr/>
          <p:nvPr/>
        </p:nvSpPr>
        <p:spPr>
          <a:xfrm>
            <a:off x="4686902" y="5347180"/>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矩形 17">
            <a:extLst>
              <a:ext uri="{FF2B5EF4-FFF2-40B4-BE49-F238E27FC236}">
                <a16:creationId xmlns:a16="http://schemas.microsoft.com/office/drawing/2014/main" id="{F43A18C0-9A95-431A-832E-8C37573DC4A4}"/>
              </a:ext>
            </a:extLst>
          </p:cNvPr>
          <p:cNvSpPr/>
          <p:nvPr/>
        </p:nvSpPr>
        <p:spPr>
          <a:xfrm>
            <a:off x="4686902" y="5625480"/>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矩形 18">
            <a:extLst>
              <a:ext uri="{FF2B5EF4-FFF2-40B4-BE49-F238E27FC236}">
                <a16:creationId xmlns:a16="http://schemas.microsoft.com/office/drawing/2014/main" id="{B7944347-C3D5-47A8-BEF1-29D202ED6D07}"/>
              </a:ext>
            </a:extLst>
          </p:cNvPr>
          <p:cNvSpPr/>
          <p:nvPr/>
        </p:nvSpPr>
        <p:spPr>
          <a:xfrm>
            <a:off x="4686902" y="5908980"/>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0" name="矩形 19">
            <a:extLst>
              <a:ext uri="{FF2B5EF4-FFF2-40B4-BE49-F238E27FC236}">
                <a16:creationId xmlns:a16="http://schemas.microsoft.com/office/drawing/2014/main" id="{BCABF222-D7C2-485B-82EE-4233C5596816}"/>
              </a:ext>
            </a:extLst>
          </p:cNvPr>
          <p:cNvSpPr/>
          <p:nvPr/>
        </p:nvSpPr>
        <p:spPr>
          <a:xfrm>
            <a:off x="4686902" y="6193904"/>
            <a:ext cx="4398906" cy="28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22" name="图片 20">
            <a:extLst>
              <a:ext uri="{FF2B5EF4-FFF2-40B4-BE49-F238E27FC236}">
                <a16:creationId xmlns:a16="http://schemas.microsoft.com/office/drawing/2014/main" id="{7577B7EA-E94F-4494-B386-B8A79FCD083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184" y="2340526"/>
            <a:ext cx="3995936" cy="2643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object 6">
            <a:extLst>
              <a:ext uri="{FF2B5EF4-FFF2-40B4-BE49-F238E27FC236}">
                <a16:creationId xmlns:a16="http://schemas.microsoft.com/office/drawing/2014/main" id="{4232E6FF-7F3F-C373-BDD3-7E8BD61FF002}"/>
              </a:ext>
            </a:extLst>
          </p:cNvPr>
          <p:cNvGrpSpPr/>
          <p:nvPr/>
        </p:nvGrpSpPr>
        <p:grpSpPr>
          <a:xfrm>
            <a:off x="836564" y="4984240"/>
            <a:ext cx="2403175" cy="1798405"/>
            <a:chOff x="798551" y="1702935"/>
            <a:chExt cx="4509135" cy="3374390"/>
          </a:xfrm>
        </p:grpSpPr>
        <p:pic>
          <p:nvPicPr>
            <p:cNvPr id="21" name="object 7">
              <a:extLst>
                <a:ext uri="{FF2B5EF4-FFF2-40B4-BE49-F238E27FC236}">
                  <a16:creationId xmlns:a16="http://schemas.microsoft.com/office/drawing/2014/main" id="{04E3C947-BABE-88A8-95FA-5C56FFBBFC47}"/>
                </a:ext>
              </a:extLst>
            </p:cNvPr>
            <p:cNvPicPr/>
            <p:nvPr/>
          </p:nvPicPr>
          <p:blipFill>
            <a:blip r:embed="rId4" cstate="print"/>
            <a:stretch>
              <a:fillRect/>
            </a:stretch>
          </p:blipFill>
          <p:spPr>
            <a:xfrm>
              <a:off x="798551" y="1702935"/>
              <a:ext cx="4508860" cy="3373830"/>
            </a:xfrm>
            <a:prstGeom prst="rect">
              <a:avLst/>
            </a:prstGeom>
          </p:spPr>
        </p:pic>
        <p:sp>
          <p:nvSpPr>
            <p:cNvPr id="24" name="object 8">
              <a:extLst>
                <a:ext uri="{FF2B5EF4-FFF2-40B4-BE49-F238E27FC236}">
                  <a16:creationId xmlns:a16="http://schemas.microsoft.com/office/drawing/2014/main" id="{BD25295D-6075-A4A0-535F-F8501D86CF80}"/>
                </a:ext>
              </a:extLst>
            </p:cNvPr>
            <p:cNvSpPr/>
            <p:nvPr/>
          </p:nvSpPr>
          <p:spPr>
            <a:xfrm>
              <a:off x="1518744" y="2330936"/>
              <a:ext cx="615315" cy="356235"/>
            </a:xfrm>
            <a:custGeom>
              <a:avLst/>
              <a:gdLst/>
              <a:ahLst/>
              <a:cxnLst/>
              <a:rect l="l" t="t" r="r" b="b"/>
              <a:pathLst>
                <a:path w="615314" h="356235">
                  <a:moveTo>
                    <a:pt x="0" y="177887"/>
                  </a:moveTo>
                  <a:lnTo>
                    <a:pt x="24159" y="108645"/>
                  </a:lnTo>
                  <a:lnTo>
                    <a:pt x="52503" y="78428"/>
                  </a:lnTo>
                  <a:lnTo>
                    <a:pt x="90043" y="52101"/>
                  </a:lnTo>
                  <a:lnTo>
                    <a:pt x="135541" y="30380"/>
                  </a:lnTo>
                  <a:lnTo>
                    <a:pt x="187762" y="13979"/>
                  </a:lnTo>
                  <a:lnTo>
                    <a:pt x="245470" y="3614"/>
                  </a:lnTo>
                  <a:lnTo>
                    <a:pt x="307427" y="0"/>
                  </a:lnTo>
                  <a:lnTo>
                    <a:pt x="369384" y="3614"/>
                  </a:lnTo>
                  <a:lnTo>
                    <a:pt x="427092" y="13979"/>
                  </a:lnTo>
                  <a:lnTo>
                    <a:pt x="479313" y="30380"/>
                  </a:lnTo>
                  <a:lnTo>
                    <a:pt x="524811" y="52101"/>
                  </a:lnTo>
                  <a:lnTo>
                    <a:pt x="562351" y="78428"/>
                  </a:lnTo>
                  <a:lnTo>
                    <a:pt x="590695" y="108645"/>
                  </a:lnTo>
                  <a:lnTo>
                    <a:pt x="614855" y="177887"/>
                  </a:lnTo>
                  <a:lnTo>
                    <a:pt x="608609" y="213737"/>
                  </a:lnTo>
                  <a:lnTo>
                    <a:pt x="562351" y="277345"/>
                  </a:lnTo>
                  <a:lnTo>
                    <a:pt x="524811" y="303672"/>
                  </a:lnTo>
                  <a:lnTo>
                    <a:pt x="479313" y="325393"/>
                  </a:lnTo>
                  <a:lnTo>
                    <a:pt x="427092" y="341794"/>
                  </a:lnTo>
                  <a:lnTo>
                    <a:pt x="369384" y="352159"/>
                  </a:lnTo>
                  <a:lnTo>
                    <a:pt x="307427" y="355774"/>
                  </a:lnTo>
                  <a:lnTo>
                    <a:pt x="245470" y="352159"/>
                  </a:lnTo>
                  <a:lnTo>
                    <a:pt x="187762" y="341794"/>
                  </a:lnTo>
                  <a:lnTo>
                    <a:pt x="135541" y="325393"/>
                  </a:lnTo>
                  <a:lnTo>
                    <a:pt x="90043" y="303672"/>
                  </a:lnTo>
                  <a:lnTo>
                    <a:pt x="52503" y="277345"/>
                  </a:lnTo>
                  <a:lnTo>
                    <a:pt x="24159" y="247128"/>
                  </a:lnTo>
                  <a:lnTo>
                    <a:pt x="0" y="177887"/>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9">
              <a:extLst>
                <a:ext uri="{FF2B5EF4-FFF2-40B4-BE49-F238E27FC236}">
                  <a16:creationId xmlns:a16="http://schemas.microsoft.com/office/drawing/2014/main" id="{7178E6B3-AC6B-F372-BD49-AFD94759F617}"/>
                </a:ext>
              </a:extLst>
            </p:cNvPr>
            <p:cNvSpPr/>
            <p:nvPr/>
          </p:nvSpPr>
          <p:spPr>
            <a:xfrm>
              <a:off x="1949668" y="4569640"/>
              <a:ext cx="494030" cy="270510"/>
            </a:xfrm>
            <a:custGeom>
              <a:avLst/>
              <a:gdLst/>
              <a:ahLst/>
              <a:cxnLst/>
              <a:rect l="l" t="t" r="r" b="b"/>
              <a:pathLst>
                <a:path w="494030" h="270510">
                  <a:moveTo>
                    <a:pt x="0" y="135186"/>
                  </a:moveTo>
                  <a:lnTo>
                    <a:pt x="25104" y="75734"/>
                  </a:lnTo>
                  <a:lnTo>
                    <a:pt x="54261" y="50634"/>
                  </a:lnTo>
                  <a:lnTo>
                    <a:pt x="92511" y="29698"/>
                  </a:lnTo>
                  <a:lnTo>
                    <a:pt x="138371" y="13740"/>
                  </a:lnTo>
                  <a:lnTo>
                    <a:pt x="190359" y="3570"/>
                  </a:lnTo>
                  <a:lnTo>
                    <a:pt x="246993" y="0"/>
                  </a:lnTo>
                  <a:lnTo>
                    <a:pt x="303626" y="3570"/>
                  </a:lnTo>
                  <a:lnTo>
                    <a:pt x="355614" y="13740"/>
                  </a:lnTo>
                  <a:lnTo>
                    <a:pt x="401474" y="29698"/>
                  </a:lnTo>
                  <a:lnTo>
                    <a:pt x="439724" y="50634"/>
                  </a:lnTo>
                  <a:lnTo>
                    <a:pt x="468881" y="75734"/>
                  </a:lnTo>
                  <a:lnTo>
                    <a:pt x="493986" y="135186"/>
                  </a:lnTo>
                  <a:lnTo>
                    <a:pt x="487462" y="166183"/>
                  </a:lnTo>
                  <a:lnTo>
                    <a:pt x="439724" y="219738"/>
                  </a:lnTo>
                  <a:lnTo>
                    <a:pt x="401474" y="240674"/>
                  </a:lnTo>
                  <a:lnTo>
                    <a:pt x="355614" y="256632"/>
                  </a:lnTo>
                  <a:lnTo>
                    <a:pt x="303626" y="266802"/>
                  </a:lnTo>
                  <a:lnTo>
                    <a:pt x="246993" y="270373"/>
                  </a:lnTo>
                  <a:lnTo>
                    <a:pt x="190359" y="266802"/>
                  </a:lnTo>
                  <a:lnTo>
                    <a:pt x="138371" y="256632"/>
                  </a:lnTo>
                  <a:lnTo>
                    <a:pt x="92511" y="240674"/>
                  </a:lnTo>
                  <a:lnTo>
                    <a:pt x="54261" y="219738"/>
                  </a:lnTo>
                  <a:lnTo>
                    <a:pt x="25104" y="194638"/>
                  </a:lnTo>
                  <a:lnTo>
                    <a:pt x="0" y="135186"/>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332371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xit" presetSubtype="8" fill="hold" grpId="0" nodeType="clickEffect">
                                  <p:stCondLst>
                                    <p:cond delay="0"/>
                                  </p:stCondLst>
                                  <p:childTnLst>
                                    <p:animEffect transition="out" filter="wipe(left)">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2" presetClass="exit" presetSubtype="8" fill="hold" grpId="0" nodeType="clickEffect">
                                  <p:stCondLst>
                                    <p:cond delay="0"/>
                                  </p:stCondLst>
                                  <p:childTnLst>
                                    <p:animEffect transition="out" filter="wipe(left)">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2" presetClass="exit" presetSubtype="8" fill="hold" grpId="0" nodeType="clickEffect">
                                  <p:stCondLst>
                                    <p:cond delay="0"/>
                                  </p:stCondLst>
                                  <p:childTnLst>
                                    <p:animEffect transition="out" filter="wipe(left)">
                                      <p:cBhvr>
                                        <p:cTn id="20" dur="500"/>
                                        <p:tgtEl>
                                          <p:spTgt spid="7"/>
                                        </p:tgtEl>
                                      </p:cBhvr>
                                    </p:animEffect>
                                    <p:set>
                                      <p:cBhvr>
                                        <p:cTn id="21" dur="1" fill="hold">
                                          <p:stCondLst>
                                            <p:cond delay="499"/>
                                          </p:stCondLst>
                                        </p:cTn>
                                        <p:tgtEl>
                                          <p:spTgt spid="7"/>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2" presetClass="exit" presetSubtype="8" fill="hold" grpId="0" nodeType="clickEffect">
                                  <p:stCondLst>
                                    <p:cond delay="0"/>
                                  </p:stCondLst>
                                  <p:childTnLst>
                                    <p:animEffect transition="out" filter="wipe(left)">
                                      <p:cBhvr>
                                        <p:cTn id="25" dur="500"/>
                                        <p:tgtEl>
                                          <p:spTgt spid="8"/>
                                        </p:tgtEl>
                                      </p:cBhvr>
                                    </p:animEffect>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8" fill="hold" grpId="0" nodeType="clickEffect">
                                  <p:stCondLst>
                                    <p:cond delay="0"/>
                                  </p:stCondLst>
                                  <p:childTnLst>
                                    <p:animEffect transition="out" filter="wipe(left)">
                                      <p:cBhvr>
                                        <p:cTn id="30" dur="500"/>
                                        <p:tgtEl>
                                          <p:spTgt spid="9"/>
                                        </p:tgtEl>
                                      </p:cBhvr>
                                    </p:animEffect>
                                    <p:set>
                                      <p:cBhvr>
                                        <p:cTn id="31" dur="1" fill="hold">
                                          <p:stCondLst>
                                            <p:cond delay="499"/>
                                          </p:stCondLst>
                                        </p:cTn>
                                        <p:tgtEl>
                                          <p:spTgt spid="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8" fill="hold" grpId="0" nodeType="clickEffect">
                                  <p:stCondLst>
                                    <p:cond delay="0"/>
                                  </p:stCondLst>
                                  <p:childTnLst>
                                    <p:animEffect transition="out" filter="wipe(left)">
                                      <p:cBhvr>
                                        <p:cTn id="35" dur="500"/>
                                        <p:tgtEl>
                                          <p:spTgt spid="10"/>
                                        </p:tgtEl>
                                      </p:cBhvr>
                                    </p:animEffect>
                                    <p:set>
                                      <p:cBhvr>
                                        <p:cTn id="36" dur="1" fill="hold">
                                          <p:stCondLst>
                                            <p:cond delay="499"/>
                                          </p:stCondLst>
                                        </p:cTn>
                                        <p:tgtEl>
                                          <p:spTgt spid="1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500"/>
                                        <p:tgtEl>
                                          <p:spTgt spid="11"/>
                                        </p:tgtEl>
                                      </p:cBhvr>
                                    </p:animEffect>
                                    <p:set>
                                      <p:cBhvr>
                                        <p:cTn id="41" dur="1" fill="hold">
                                          <p:stCondLst>
                                            <p:cond delay="499"/>
                                          </p:stCondLst>
                                        </p:cTn>
                                        <p:tgtEl>
                                          <p:spTgt spid="11"/>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2" presetClass="exit" presetSubtype="8" fill="hold" grpId="0" nodeType="clickEffect">
                                  <p:stCondLst>
                                    <p:cond delay="0"/>
                                  </p:stCondLst>
                                  <p:childTnLst>
                                    <p:animEffect transition="out" filter="wipe(left)">
                                      <p:cBhvr>
                                        <p:cTn id="45" dur="500"/>
                                        <p:tgtEl>
                                          <p:spTgt spid="12"/>
                                        </p:tgtEl>
                                      </p:cBhvr>
                                    </p:animEffect>
                                    <p:set>
                                      <p:cBhvr>
                                        <p:cTn id="46" dur="1" fill="hold">
                                          <p:stCondLst>
                                            <p:cond delay="499"/>
                                          </p:stCondLst>
                                        </p:cTn>
                                        <p:tgtEl>
                                          <p:spTgt spid="1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2" presetClass="exit" presetSubtype="8" fill="hold" grpId="0" nodeType="clickEffect">
                                  <p:stCondLst>
                                    <p:cond delay="0"/>
                                  </p:stCondLst>
                                  <p:childTnLst>
                                    <p:animEffect transition="out" filter="wipe(left)">
                                      <p:cBhvr>
                                        <p:cTn id="50" dur="500"/>
                                        <p:tgtEl>
                                          <p:spTgt spid="13"/>
                                        </p:tgtEl>
                                      </p:cBhvr>
                                    </p:animEffect>
                                    <p:set>
                                      <p:cBhvr>
                                        <p:cTn id="51" dur="1" fill="hold">
                                          <p:stCondLst>
                                            <p:cond delay="499"/>
                                          </p:stCondLst>
                                        </p:cTn>
                                        <p:tgtEl>
                                          <p:spTgt spid="1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2" presetClass="exit" presetSubtype="8" fill="hold" grpId="0" nodeType="clickEffect">
                                  <p:stCondLst>
                                    <p:cond delay="0"/>
                                  </p:stCondLst>
                                  <p:childTnLst>
                                    <p:animEffect transition="out" filter="wipe(left)">
                                      <p:cBhvr>
                                        <p:cTn id="55" dur="500"/>
                                        <p:tgtEl>
                                          <p:spTgt spid="14"/>
                                        </p:tgtEl>
                                      </p:cBhvr>
                                    </p:animEffect>
                                    <p:set>
                                      <p:cBhvr>
                                        <p:cTn id="56" dur="1" fill="hold">
                                          <p:stCondLst>
                                            <p:cond delay="499"/>
                                          </p:stCondLst>
                                        </p:cTn>
                                        <p:tgtEl>
                                          <p:spTgt spid="14"/>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2" presetClass="exit" presetSubtype="8" fill="hold" grpId="0" nodeType="clickEffect">
                                  <p:stCondLst>
                                    <p:cond delay="0"/>
                                  </p:stCondLst>
                                  <p:childTnLst>
                                    <p:animEffect transition="out" filter="wipe(left)">
                                      <p:cBhvr>
                                        <p:cTn id="60" dur="500"/>
                                        <p:tgtEl>
                                          <p:spTgt spid="15"/>
                                        </p:tgtEl>
                                      </p:cBhvr>
                                    </p:animEffect>
                                    <p:set>
                                      <p:cBhvr>
                                        <p:cTn id="61" dur="1" fill="hold">
                                          <p:stCondLst>
                                            <p:cond delay="499"/>
                                          </p:stCondLst>
                                        </p:cTn>
                                        <p:tgtEl>
                                          <p:spTgt spid="15"/>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2" presetClass="exit" presetSubtype="8" fill="hold" grpId="0" nodeType="clickEffect">
                                  <p:stCondLst>
                                    <p:cond delay="0"/>
                                  </p:stCondLst>
                                  <p:childTnLst>
                                    <p:animEffect transition="out" filter="wipe(left)">
                                      <p:cBhvr>
                                        <p:cTn id="65" dur="500"/>
                                        <p:tgtEl>
                                          <p:spTgt spid="16"/>
                                        </p:tgtEl>
                                      </p:cBhvr>
                                    </p:animEffect>
                                    <p:set>
                                      <p:cBhvr>
                                        <p:cTn id="66" dur="1" fill="hold">
                                          <p:stCondLst>
                                            <p:cond delay="499"/>
                                          </p:stCondLst>
                                        </p:cTn>
                                        <p:tgtEl>
                                          <p:spTgt spid="16"/>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2" presetClass="exit" presetSubtype="8" fill="hold" grpId="0" nodeType="clickEffect">
                                  <p:stCondLst>
                                    <p:cond delay="0"/>
                                  </p:stCondLst>
                                  <p:childTnLst>
                                    <p:animEffect transition="out" filter="wipe(left)">
                                      <p:cBhvr>
                                        <p:cTn id="70" dur="500"/>
                                        <p:tgtEl>
                                          <p:spTgt spid="17"/>
                                        </p:tgtEl>
                                      </p:cBhvr>
                                    </p:animEffect>
                                    <p:set>
                                      <p:cBhvr>
                                        <p:cTn id="71" dur="1" fill="hold">
                                          <p:stCondLst>
                                            <p:cond delay="499"/>
                                          </p:stCondLst>
                                        </p:cTn>
                                        <p:tgtEl>
                                          <p:spTgt spid="17"/>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2" presetClass="exit" presetSubtype="8" fill="hold" grpId="0" nodeType="clickEffect">
                                  <p:stCondLst>
                                    <p:cond delay="0"/>
                                  </p:stCondLst>
                                  <p:childTnLst>
                                    <p:animEffect transition="out" filter="wipe(left)">
                                      <p:cBhvr>
                                        <p:cTn id="75" dur="500"/>
                                        <p:tgtEl>
                                          <p:spTgt spid="18"/>
                                        </p:tgtEl>
                                      </p:cBhvr>
                                    </p:animEffect>
                                    <p:set>
                                      <p:cBhvr>
                                        <p:cTn id="76" dur="1" fill="hold">
                                          <p:stCondLst>
                                            <p:cond delay="499"/>
                                          </p:stCondLst>
                                        </p:cTn>
                                        <p:tgtEl>
                                          <p:spTgt spid="18"/>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22" presetClass="exit" presetSubtype="8" fill="hold" grpId="0" nodeType="clickEffect">
                                  <p:stCondLst>
                                    <p:cond delay="0"/>
                                  </p:stCondLst>
                                  <p:childTnLst>
                                    <p:animEffect transition="out" filter="wipe(left)">
                                      <p:cBhvr>
                                        <p:cTn id="80" dur="500"/>
                                        <p:tgtEl>
                                          <p:spTgt spid="19"/>
                                        </p:tgtEl>
                                      </p:cBhvr>
                                    </p:animEffect>
                                    <p:set>
                                      <p:cBhvr>
                                        <p:cTn id="81" dur="1" fill="hold">
                                          <p:stCondLst>
                                            <p:cond delay="499"/>
                                          </p:stCondLst>
                                        </p:cTn>
                                        <p:tgtEl>
                                          <p:spTgt spid="19"/>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22" presetClass="exit" presetSubtype="8" fill="hold" grpId="0" nodeType="clickEffect">
                                  <p:stCondLst>
                                    <p:cond delay="0"/>
                                  </p:stCondLst>
                                  <p:childTnLst>
                                    <p:animEffect transition="out" filter="wipe(left)">
                                      <p:cBhvr>
                                        <p:cTn id="85" dur="500"/>
                                        <p:tgtEl>
                                          <p:spTgt spid="20"/>
                                        </p:tgtEl>
                                      </p:cBhvr>
                                    </p:animEffect>
                                    <p:set>
                                      <p:cBhvr>
                                        <p:cTn id="86"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Uses of SDT’s</a:t>
            </a:r>
            <a:endParaRPr lang="zh-CN" altLang="en-US" sz="3600" dirty="0">
              <a:latin typeface="Palatino Linotype" panose="02040502050505030304" charset="0"/>
            </a:endParaRPr>
          </a:p>
        </p:txBody>
      </p:sp>
      <p:sp>
        <p:nvSpPr>
          <p:cNvPr id="4" name="内容占位符 3"/>
          <p:cNvSpPr>
            <a:spLocks noGrp="1"/>
          </p:cNvSpPr>
          <p:nvPr>
            <p:ph idx="1"/>
          </p:nvPr>
        </p:nvSpPr>
        <p:spPr>
          <a:xfrm>
            <a:off x="628650" y="1557020"/>
            <a:ext cx="7886700" cy="4351338"/>
          </a:xfrm>
        </p:spPr>
        <p:txBody>
          <a:bodyPr>
            <a:normAutofit/>
          </a:bodyPr>
          <a:lstStyle/>
          <a:p>
            <a:pPr marL="17145" algn="l" rtl="0" eaLnBrk="0" fontAlgn="auto">
              <a:lnSpc>
                <a:spcPct val="150000"/>
              </a:lnSpc>
              <a:spcBef>
                <a:spcPts val="0"/>
              </a:spcBef>
            </a:pPr>
            <a:r>
              <a:rPr lang="en-US" sz="2000" dirty="0">
                <a:solidFill>
                  <a:srgbClr val="FF0000"/>
                </a:solidFill>
                <a:latin typeface="Palatino Linotype" panose="02040502050505030304" charset="0"/>
                <a:ea typeface="Palatino Linotype" panose="02040502050505030304"/>
                <a:cs typeface="Palatino Linotype" panose="02040502050505030304"/>
                <a:sym typeface="+mn-ea"/>
              </a:rPr>
              <a:t>We can use SDT’s to implement two important classes of SDD’s:</a:t>
            </a:r>
          </a:p>
          <a:p>
            <a:pPr marL="457200" lvl="1" indent="0" rtl="0" eaLnBrk="0">
              <a:spcBef>
                <a:spcPts val="0"/>
              </a:spcBef>
              <a:buNone/>
            </a:pPr>
            <a:r>
              <a:rPr lang="en-US" sz="1800" dirty="0">
                <a:solidFill>
                  <a:schemeClr val="bg2">
                    <a:lumMod val="50000"/>
                  </a:schemeClr>
                </a:solidFill>
                <a:latin typeface="Palatino Linotype" panose="02040502050505030304" charset="0"/>
                <a:ea typeface="Palatino Linotype" panose="02040502050505030304"/>
                <a:cs typeface="Palatino Linotype" panose="02040502050505030304"/>
                <a:sym typeface="+mn-ea"/>
              </a:rPr>
              <a:t>The underlying grammar is LR, and the SDD is S-attributed</a:t>
            </a:r>
          </a:p>
          <a:p>
            <a:pPr marL="457200" lvl="1" indent="0" rtl="0" eaLnBrk="0">
              <a:spcBef>
                <a:spcPts val="0"/>
              </a:spcBef>
              <a:buNone/>
            </a:pPr>
            <a:r>
              <a:rPr lang="en-US" sz="1800" dirty="0">
                <a:latin typeface="Palatino Linotype" panose="02040502050505030304" charset="0"/>
                <a:ea typeface="Palatino Linotype" panose="02040502050505030304"/>
                <a:cs typeface="Palatino Linotype" panose="02040502050505030304"/>
                <a:sym typeface="+mn-ea"/>
              </a:rPr>
              <a:t>The underlying grammar is LL, and the SDD is L-attributed</a:t>
            </a:r>
            <a:endParaRPr sz="18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SDT’s for L-Attributed SDD’s</a:t>
            </a:r>
            <a:endParaRPr lang="zh-CN" altLang="en-US" sz="3600" dirty="0">
              <a:latin typeface="Palatino Linotype" panose="02040502050505030304" charset="0"/>
            </a:endParaRPr>
          </a:p>
        </p:txBody>
      </p:sp>
      <p:sp>
        <p:nvSpPr>
          <p:cNvPr id="4" name="内容占位符 3"/>
          <p:cNvSpPr>
            <a:spLocks noGrp="1"/>
          </p:cNvSpPr>
          <p:nvPr>
            <p:ph idx="1"/>
          </p:nvPr>
        </p:nvSpPr>
        <p:spPr>
          <a:xfrm>
            <a:off x="628650" y="1557020"/>
            <a:ext cx="7886700" cy="4351338"/>
          </a:xfrm>
        </p:spPr>
        <p:txBody>
          <a:bodyPr>
            <a:normAutofit/>
          </a:bodyPr>
          <a:lstStyle/>
          <a:p>
            <a:r>
              <a:rPr lang="en-US" altLang="zh-CN" sz="1800" dirty="0">
                <a:solidFill>
                  <a:srgbClr val="000000"/>
                </a:solidFill>
                <a:effectLst/>
                <a:latin typeface="Palatino Linotype" panose="02040502050505030304" pitchFamily="18" charset="0"/>
              </a:rPr>
              <a:t>L-attributed SDD’s can be implemented during top-down parsing, if the underlying grammar is LL </a:t>
            </a:r>
            <a:endParaRPr lang="en-US" altLang="zh-CN" sz="1400" dirty="0"/>
          </a:p>
          <a:p>
            <a:r>
              <a:rPr lang="en-US" altLang="zh-CN" sz="1800" dirty="0">
                <a:solidFill>
                  <a:srgbClr val="000000"/>
                </a:solidFill>
                <a:effectLst/>
                <a:latin typeface="Palatino Linotype" panose="02040502050505030304" pitchFamily="18" charset="0"/>
              </a:rPr>
              <a:t>The way of turning an L-attributed SDD into an SDT is to place semantic actions at appropriate positions in the concerned production </a:t>
            </a:r>
            <a:r>
              <a:rPr lang="en-US" altLang="zh-CN" sz="1800" dirty="0">
                <a:solidFill>
                  <a:srgbClr val="000000"/>
                </a:solidFill>
                <a:effectLst/>
                <a:latin typeface="Cambria Math" panose="02040503050406030204" pitchFamily="18" charset="0"/>
              </a:rPr>
              <a:t>A → X</a:t>
            </a:r>
            <a:r>
              <a:rPr lang="en-US" altLang="zh-CN" sz="1800" baseline="-25000" dirty="0">
                <a:solidFill>
                  <a:srgbClr val="000000"/>
                </a:solidFill>
                <a:effectLst/>
                <a:latin typeface="Cambria Math" panose="02040503050406030204" pitchFamily="18" charset="0"/>
              </a:rPr>
              <a:t>1</a:t>
            </a:r>
            <a:r>
              <a:rPr lang="en-US" altLang="zh-CN" sz="1800" dirty="0">
                <a:solidFill>
                  <a:srgbClr val="000000"/>
                </a:solidFill>
                <a:effectLst/>
                <a:latin typeface="Cambria Math" panose="02040503050406030204" pitchFamily="18" charset="0"/>
              </a:rPr>
              <a:t>X</a:t>
            </a:r>
            <a:r>
              <a:rPr lang="en-US" altLang="zh-CN" sz="1800" baseline="-25000" dirty="0">
                <a:solidFill>
                  <a:srgbClr val="000000"/>
                </a:solidFill>
                <a:effectLst/>
                <a:latin typeface="Cambria Math" panose="02040503050406030204" pitchFamily="18" charset="0"/>
              </a:rPr>
              <a:t>2</a:t>
            </a:r>
            <a:r>
              <a:rPr lang="en-US" altLang="zh-CN" sz="1800" dirty="0">
                <a:solidFill>
                  <a:srgbClr val="000000"/>
                </a:solidFill>
                <a:effectLst/>
                <a:latin typeface="Cambria Math" panose="02040503050406030204" pitchFamily="18" charset="0"/>
              </a:rPr>
              <a:t>…</a:t>
            </a:r>
            <a:r>
              <a:rPr lang="en-US" altLang="zh-CN" sz="1800" dirty="0" err="1">
                <a:solidFill>
                  <a:srgbClr val="000000"/>
                </a:solidFill>
                <a:effectLst/>
                <a:latin typeface="Cambria Math" panose="02040503050406030204" pitchFamily="18" charset="0"/>
              </a:rPr>
              <a:t>X</a:t>
            </a:r>
            <a:r>
              <a:rPr lang="en-US" altLang="zh-CN" sz="1800" baseline="-25000" dirty="0" err="1">
                <a:solidFill>
                  <a:srgbClr val="000000"/>
                </a:solidFill>
                <a:effectLst/>
                <a:latin typeface="Cambria Math" panose="02040503050406030204" pitchFamily="18" charset="0"/>
              </a:rPr>
              <a:t>n</a:t>
            </a:r>
            <a:endParaRPr lang="en-US" altLang="zh-CN" sz="1400" baseline="-25000" dirty="0"/>
          </a:p>
          <a:p>
            <a:pPr lvl="1"/>
            <a:r>
              <a:rPr lang="en-US" altLang="zh-CN" sz="1600" dirty="0">
                <a:solidFill>
                  <a:srgbClr val="000000"/>
                </a:solidFill>
                <a:effectLst/>
                <a:latin typeface="Palatino Linotype" panose="02040502050505030304" pitchFamily="18" charset="0"/>
              </a:rPr>
              <a:t>Embed the action that computes the </a:t>
            </a:r>
            <a:r>
              <a:rPr lang="en-US" altLang="zh-CN" sz="1600" dirty="0">
                <a:solidFill>
                  <a:srgbClr val="FF0000"/>
                </a:solidFill>
                <a:effectLst/>
                <a:latin typeface="Palatino Linotype" panose="02040502050505030304" pitchFamily="18" charset="0"/>
              </a:rPr>
              <a:t>inherited attributes </a:t>
            </a:r>
            <a:r>
              <a:rPr lang="en-US" altLang="zh-CN" sz="1600" dirty="0">
                <a:solidFill>
                  <a:srgbClr val="000000"/>
                </a:solidFill>
                <a:effectLst/>
                <a:latin typeface="Palatino Linotype" panose="02040502050505030304" pitchFamily="18" charset="0"/>
              </a:rPr>
              <a:t>for a nonterminal </a:t>
            </a:r>
            <a:r>
              <a:rPr lang="en-US" altLang="zh-CN" sz="1600" dirty="0">
                <a:solidFill>
                  <a:srgbClr val="000000"/>
                </a:solidFill>
                <a:effectLst/>
                <a:latin typeface="Cambria Math" panose="02040503050406030204" pitchFamily="18" charset="0"/>
              </a:rPr>
              <a:t>X</a:t>
            </a:r>
            <a:r>
              <a:rPr lang="en-US" altLang="zh-CN" sz="1600" baseline="-25000" dirty="0">
                <a:solidFill>
                  <a:srgbClr val="000000"/>
                </a:solidFill>
                <a:effectLst/>
                <a:latin typeface="Cambria Math" panose="02040503050406030204" pitchFamily="18" charset="0"/>
              </a:rPr>
              <a:t>i</a:t>
            </a:r>
            <a:r>
              <a:rPr lang="en-US" altLang="zh-CN" sz="1600" dirty="0">
                <a:solidFill>
                  <a:srgbClr val="000000"/>
                </a:solidFill>
                <a:effectLst/>
                <a:latin typeface="Cambria Math" panose="02040503050406030204" pitchFamily="18" charset="0"/>
              </a:rPr>
              <a:t> </a:t>
            </a:r>
            <a:r>
              <a:rPr lang="en-US" altLang="zh-CN" sz="1600" dirty="0">
                <a:solidFill>
                  <a:srgbClr val="000000"/>
                </a:solidFill>
                <a:effectLst/>
                <a:latin typeface="Palatino Linotype" panose="02040502050505030304" pitchFamily="18" charset="0"/>
              </a:rPr>
              <a:t>immediately </a:t>
            </a:r>
            <a:r>
              <a:rPr lang="en-US" altLang="zh-CN" sz="1600" dirty="0">
                <a:solidFill>
                  <a:srgbClr val="0432FF"/>
                </a:solidFill>
                <a:effectLst/>
                <a:latin typeface="Palatino Linotype" panose="02040502050505030304" pitchFamily="18" charset="0"/>
              </a:rPr>
              <a:t>before </a:t>
            </a:r>
            <a:r>
              <a:rPr lang="en-US" altLang="zh-CN" sz="1600" dirty="0">
                <a:solidFill>
                  <a:srgbClr val="0432FF"/>
                </a:solidFill>
                <a:effectLst/>
                <a:latin typeface="Cambria Math" panose="02040503050406030204" pitchFamily="18" charset="0"/>
              </a:rPr>
              <a:t>X</a:t>
            </a:r>
            <a:r>
              <a:rPr lang="en-US" altLang="zh-CN" sz="1600" baseline="-25000" dirty="0">
                <a:solidFill>
                  <a:srgbClr val="0432FF"/>
                </a:solidFill>
                <a:effectLst/>
                <a:latin typeface="Cambria Math" panose="02040503050406030204" pitchFamily="18" charset="0"/>
              </a:rPr>
              <a:t>i</a:t>
            </a:r>
            <a:r>
              <a:rPr lang="en-US" altLang="zh-CN" sz="1600" dirty="0">
                <a:solidFill>
                  <a:srgbClr val="0432FF"/>
                </a:solidFill>
                <a:effectLst/>
                <a:latin typeface="Cambria Math" panose="02040503050406030204" pitchFamily="18" charset="0"/>
              </a:rPr>
              <a:t> </a:t>
            </a:r>
            <a:r>
              <a:rPr lang="en-US" altLang="zh-CN" sz="1600" dirty="0">
                <a:solidFill>
                  <a:srgbClr val="000000"/>
                </a:solidFill>
                <a:effectLst/>
                <a:latin typeface="Palatino Linotype" panose="02040502050505030304" pitchFamily="18" charset="0"/>
              </a:rPr>
              <a:t>in the production body </a:t>
            </a:r>
            <a:endParaRPr lang="en-US" altLang="zh-CN" sz="1050" dirty="0"/>
          </a:p>
          <a:p>
            <a:pPr lvl="1"/>
            <a:r>
              <a:rPr lang="en-US" altLang="zh-CN" sz="1600" dirty="0">
                <a:solidFill>
                  <a:srgbClr val="000000"/>
                </a:solidFill>
                <a:effectLst/>
                <a:latin typeface="Palatino Linotype" panose="02040502050505030304" pitchFamily="18" charset="0"/>
              </a:rPr>
              <a:t>Place the actions that compute a </a:t>
            </a:r>
            <a:r>
              <a:rPr lang="en-US" altLang="zh-CN" sz="1600" dirty="0">
                <a:solidFill>
                  <a:srgbClr val="FF0000"/>
                </a:solidFill>
                <a:effectLst/>
                <a:latin typeface="Palatino Linotype" panose="02040502050505030304" pitchFamily="18" charset="0"/>
              </a:rPr>
              <a:t>synthesized attribute </a:t>
            </a:r>
            <a:r>
              <a:rPr lang="en-US" altLang="zh-CN" sz="1600" dirty="0">
                <a:solidFill>
                  <a:srgbClr val="000000"/>
                </a:solidFill>
                <a:effectLst/>
                <a:latin typeface="Palatino Linotype" panose="02040502050505030304" pitchFamily="18" charset="0"/>
              </a:rPr>
              <a:t>for the production head </a:t>
            </a:r>
            <a:r>
              <a:rPr lang="en-US" altLang="zh-CN" sz="1600" dirty="0">
                <a:solidFill>
                  <a:srgbClr val="0432FF"/>
                </a:solidFill>
                <a:effectLst/>
                <a:latin typeface="Palatino Linotype" panose="02040502050505030304" pitchFamily="18" charset="0"/>
              </a:rPr>
              <a:t>at the end </a:t>
            </a:r>
            <a:r>
              <a:rPr lang="en-US" altLang="zh-CN" sz="1600" dirty="0">
                <a:solidFill>
                  <a:srgbClr val="000000"/>
                </a:solidFill>
                <a:effectLst/>
                <a:latin typeface="Palatino Linotype" panose="02040502050505030304" pitchFamily="18" charset="0"/>
              </a:rPr>
              <a:t>of the production body</a:t>
            </a:r>
            <a:endParaRPr sz="16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58</a:t>
            </a:fld>
            <a:endParaRPr/>
          </a:p>
        </p:txBody>
      </p:sp>
    </p:spTree>
    <p:extLst>
      <p:ext uri="{BB962C8B-B14F-4D97-AF65-F5344CB8AC3E}">
        <p14:creationId xmlns:p14="http://schemas.microsoft.com/office/powerpoint/2010/main" val="40159309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a:xfrm>
            <a:off x="428626" y="400049"/>
            <a:ext cx="7886700" cy="1325563"/>
          </a:xfrm>
        </p:spPr>
        <p:txBody>
          <a:bodyPr>
            <a:normAutofit/>
          </a:bodyPr>
          <a:lstStyle/>
          <a:p>
            <a:r>
              <a:rPr lang="en-US" altLang="zh-CN" sz="3600" dirty="0">
                <a:latin typeface="Palatino Linotype" panose="02040502050505030304" charset="0"/>
              </a:rPr>
              <a:t>An L-Attributed SDD</a:t>
            </a:r>
            <a:endParaRPr lang="zh-CN" altLang="en-US" sz="3600" dirty="0">
              <a:latin typeface="Palatino Linotype" panose="02040502050505030304" charset="0"/>
            </a:endParaRPr>
          </a:p>
        </p:txBody>
      </p:sp>
      <p:sp>
        <p:nvSpPr>
          <p:cNvPr id="4" name="内容占位符 3"/>
          <p:cNvSpPr>
            <a:spLocks noGrp="1"/>
          </p:cNvSpPr>
          <p:nvPr>
            <p:ph idx="1"/>
          </p:nvPr>
        </p:nvSpPr>
        <p:spPr>
          <a:xfrm>
            <a:off x="402404" y="1933575"/>
            <a:ext cx="3998205" cy="595263"/>
          </a:xfrm>
        </p:spPr>
        <p:txBody>
          <a:bodyPr>
            <a:noAutofit/>
          </a:bodyPr>
          <a:lstStyle/>
          <a:p>
            <a:pPr marL="17145" algn="l" rtl="0" eaLnBrk="0" fontAlgn="auto">
              <a:lnSpc>
                <a:spcPct val="150000"/>
              </a:lnSpc>
              <a:spcBef>
                <a:spcPts val="0"/>
              </a:spcBef>
            </a:pPr>
            <a:r>
              <a:rPr lang="en-US" sz="2000" dirty="0">
                <a:latin typeface="Palatino Linotype" panose="02040502050505030304" charset="0"/>
                <a:ea typeface="Palatino Linotype" panose="02040502050505030304"/>
                <a:cs typeface="Palatino Linotype" panose="02040502050505030304"/>
                <a:sym typeface="+mn-ea"/>
              </a:rPr>
              <a:t>The SDD generates labels for the </a:t>
            </a:r>
            <a:r>
              <a:rPr lang="en-US" sz="2000" i="1" dirty="0">
                <a:latin typeface="Palatino Linotype" panose="02040502050505030304" charset="0"/>
                <a:ea typeface="Palatino Linotype" panose="02040502050505030304"/>
                <a:cs typeface="Palatino Linotype" panose="02040502050505030304"/>
                <a:sym typeface="+mn-ea"/>
              </a:rPr>
              <a:t>while</a:t>
            </a:r>
            <a:r>
              <a:rPr lang="en-US" sz="2000" dirty="0">
                <a:latin typeface="Palatino Linotype" panose="02040502050505030304" charset="0"/>
                <a:ea typeface="Palatino Linotype" panose="02040502050505030304"/>
                <a:cs typeface="Palatino Linotype" panose="02040502050505030304"/>
                <a:sym typeface="+mn-ea"/>
              </a:rPr>
              <a:t> loop</a:t>
            </a:r>
            <a:endParaRPr sz="18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59</a:t>
            </a:fld>
            <a:endParaRPr dirty="0"/>
          </a:p>
        </p:txBody>
      </p:sp>
      <p:sp>
        <p:nvSpPr>
          <p:cNvPr id="7" name="文本框 6">
            <a:extLst>
              <a:ext uri="{FF2B5EF4-FFF2-40B4-BE49-F238E27FC236}">
                <a16:creationId xmlns:a16="http://schemas.microsoft.com/office/drawing/2014/main" id="{2A4F6A73-58D3-1853-A2EA-CE7D36EB2B0D}"/>
              </a:ext>
            </a:extLst>
          </p:cNvPr>
          <p:cNvSpPr txBox="1"/>
          <p:nvPr/>
        </p:nvSpPr>
        <p:spPr>
          <a:xfrm>
            <a:off x="628650" y="5135064"/>
            <a:ext cx="4572000" cy="923330"/>
          </a:xfrm>
          <a:prstGeom prst="rect">
            <a:avLst/>
          </a:prstGeom>
          <a:noFill/>
        </p:spPr>
        <p:txBody>
          <a:bodyPr wrap="square">
            <a:spAutoFit/>
          </a:bodyPr>
          <a:lstStyle/>
          <a:p>
            <a:r>
              <a:rPr lang="en-US" altLang="zh-CN" sz="1800" dirty="0">
                <a:solidFill>
                  <a:srgbClr val="FF0000"/>
                </a:solidFill>
                <a:effectLst/>
                <a:latin typeface="Palatino Linotype" panose="02040502050505030304" pitchFamily="18" charset="0"/>
              </a:rPr>
              <a:t>Inherited attributes: </a:t>
            </a:r>
            <a:r>
              <a:rPr lang="en-US" altLang="zh-CN" sz="1800" dirty="0" err="1">
                <a:effectLst/>
                <a:latin typeface="Palatino Linotype" panose="02040502050505030304" pitchFamily="18" charset="0"/>
              </a:rPr>
              <a:t>S.next</a:t>
            </a:r>
            <a:r>
              <a:rPr lang="en-US" altLang="zh-CN" sz="1800" dirty="0">
                <a:effectLst/>
                <a:latin typeface="Palatino Linotype" panose="02040502050505030304" pitchFamily="18" charset="0"/>
              </a:rPr>
              <a:t>, </a:t>
            </a:r>
            <a:r>
              <a:rPr lang="en-US" altLang="zh-CN" dirty="0" err="1">
                <a:latin typeface="Palatino Linotype" panose="02040502050505030304" pitchFamily="18" charset="0"/>
              </a:rPr>
              <a:t>B</a:t>
            </a:r>
            <a:r>
              <a:rPr lang="en-US" altLang="zh-CN" sz="1800" dirty="0" err="1">
                <a:effectLst/>
                <a:latin typeface="Palatino Linotype" panose="02040502050505030304" pitchFamily="18" charset="0"/>
              </a:rPr>
              <a:t>.true</a:t>
            </a:r>
            <a:r>
              <a:rPr lang="en-US" altLang="zh-CN" sz="1800" dirty="0">
                <a:effectLst/>
                <a:latin typeface="Palatino Linotype" panose="02040502050505030304" pitchFamily="18" charset="0"/>
              </a:rPr>
              <a:t>, </a:t>
            </a:r>
            <a:r>
              <a:rPr lang="en-US" altLang="zh-CN" dirty="0" err="1">
                <a:latin typeface="Palatino Linotype" panose="02040502050505030304" pitchFamily="18" charset="0"/>
              </a:rPr>
              <a:t>B</a:t>
            </a:r>
            <a:r>
              <a:rPr lang="en-US" altLang="zh-CN" sz="1800" dirty="0" err="1">
                <a:effectLst/>
                <a:latin typeface="Palatino Linotype" panose="02040502050505030304" pitchFamily="18" charset="0"/>
              </a:rPr>
              <a:t>.false</a:t>
            </a:r>
            <a:endParaRPr lang="en-US" altLang="zh-CN" dirty="0"/>
          </a:p>
          <a:p>
            <a:endParaRPr lang="en-US" altLang="zh-CN" sz="1800" dirty="0">
              <a:solidFill>
                <a:srgbClr val="FF0000"/>
              </a:solidFill>
              <a:effectLst/>
              <a:latin typeface="Palatino Linotype" panose="02040502050505030304" pitchFamily="18" charset="0"/>
            </a:endParaRPr>
          </a:p>
          <a:p>
            <a:r>
              <a:rPr lang="en-US" altLang="zh-CN" sz="1800" dirty="0">
                <a:solidFill>
                  <a:srgbClr val="FF0000"/>
                </a:solidFill>
                <a:effectLst/>
                <a:latin typeface="Palatino Linotype" panose="02040502050505030304" pitchFamily="18" charset="0"/>
              </a:rPr>
              <a:t>Synthesized attribute: </a:t>
            </a:r>
            <a:r>
              <a:rPr lang="en-US" altLang="zh-CN" sz="1800" dirty="0" err="1">
                <a:solidFill>
                  <a:srgbClr val="000000"/>
                </a:solidFill>
                <a:effectLst/>
                <a:latin typeface="Cambria Math" panose="02040503050406030204" pitchFamily="18" charset="0"/>
              </a:rPr>
              <a:t>S.code</a:t>
            </a:r>
            <a:r>
              <a:rPr lang="en-US" altLang="zh-CN" sz="1800" dirty="0">
                <a:solidFill>
                  <a:srgbClr val="000000"/>
                </a:solidFill>
                <a:effectLst/>
                <a:latin typeface="Cambria Math" panose="02040503050406030204" pitchFamily="18" charset="0"/>
              </a:rPr>
              <a:t>, S1.code</a:t>
            </a:r>
            <a:endParaRPr lang="zh-CN" altLang="en-US" dirty="0"/>
          </a:p>
        </p:txBody>
      </p:sp>
      <p:pic>
        <p:nvPicPr>
          <p:cNvPr id="48" name="图片 47">
            <a:extLst>
              <a:ext uri="{FF2B5EF4-FFF2-40B4-BE49-F238E27FC236}">
                <a16:creationId xmlns:a16="http://schemas.microsoft.com/office/drawing/2014/main" id="{7FA2AEF3-5B71-EEA3-EB1E-7E879149A569}"/>
              </a:ext>
            </a:extLst>
          </p:cNvPr>
          <p:cNvPicPr>
            <a:picLocks noChangeAspect="1"/>
          </p:cNvPicPr>
          <p:nvPr/>
        </p:nvPicPr>
        <p:blipFill>
          <a:blip r:embed="rId3"/>
          <a:stretch>
            <a:fillRect/>
          </a:stretch>
        </p:blipFill>
        <p:spPr>
          <a:xfrm>
            <a:off x="649707" y="3549852"/>
            <a:ext cx="8123948" cy="1175292"/>
          </a:xfrm>
          <a:prstGeom prst="rect">
            <a:avLst/>
          </a:prstGeom>
        </p:spPr>
      </p:pic>
      <p:pic>
        <p:nvPicPr>
          <p:cNvPr id="49" name="object 14">
            <a:extLst>
              <a:ext uri="{FF2B5EF4-FFF2-40B4-BE49-F238E27FC236}">
                <a16:creationId xmlns:a16="http://schemas.microsoft.com/office/drawing/2014/main" id="{A39ED0FD-86E1-682E-F5AF-FFC6FD2D1BF8}"/>
              </a:ext>
            </a:extLst>
          </p:cNvPr>
          <p:cNvPicPr/>
          <p:nvPr/>
        </p:nvPicPr>
        <p:blipFill>
          <a:blip r:embed="rId4" cstate="print"/>
          <a:stretch>
            <a:fillRect/>
          </a:stretch>
        </p:blipFill>
        <p:spPr bwMode="auto">
          <a:xfrm>
            <a:off x="4847476" y="1665932"/>
            <a:ext cx="3645663" cy="218127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r>
              <a:rPr lang="en-US" altLang="zh-CN" sz="3600" dirty="0">
                <a:latin typeface="Palatino Linotype" panose="02040502050505030304" charset="0"/>
              </a:rPr>
              <a:t>Turning into an SDT</a:t>
            </a:r>
            <a:endParaRPr lang="zh-CN" altLang="en-US" sz="3600" dirty="0">
              <a:latin typeface="Palatino Linotype" panose="02040502050505030304" charset="0"/>
            </a:endParaRPr>
          </a:p>
        </p:txBody>
      </p:sp>
      <p:sp>
        <p:nvSpPr>
          <p:cNvPr id="4" name="内容占位符 3"/>
          <p:cNvSpPr>
            <a:spLocks noGrp="1"/>
          </p:cNvSpPr>
          <p:nvPr>
            <p:ph idx="1"/>
          </p:nvPr>
        </p:nvSpPr>
        <p:spPr>
          <a:xfrm>
            <a:off x="539552" y="1412776"/>
            <a:ext cx="7886700" cy="4351338"/>
          </a:xfrm>
        </p:spPr>
        <p:txBody>
          <a:bodyPr>
            <a:normAutofit/>
          </a:bodyPr>
          <a:lstStyle/>
          <a:p>
            <a:pPr marL="17145" algn="l" rtl="0" eaLnBrk="0" fontAlgn="auto">
              <a:lnSpc>
                <a:spcPct val="150000"/>
              </a:lnSpc>
              <a:spcBef>
                <a:spcPts val="0"/>
              </a:spcBef>
            </a:pPr>
            <a:r>
              <a:rPr lang="en-US" sz="2000" dirty="0">
                <a:latin typeface="Palatino Linotype" panose="02040502050505030304" charset="0"/>
                <a:ea typeface="Palatino Linotype" panose="02040502050505030304"/>
                <a:cs typeface="Palatino Linotype" panose="02040502050505030304"/>
                <a:sym typeface="+mn-ea"/>
              </a:rPr>
              <a:t>• Semantic actions:</a:t>
            </a:r>
          </a:p>
          <a:p>
            <a:pPr marL="457200" lvl="1" indent="0" rtl="0" eaLnBrk="0">
              <a:spcBef>
                <a:spcPts val="0"/>
              </a:spcBef>
              <a:buNone/>
            </a:pPr>
            <a:r>
              <a:rPr lang="en-US" sz="1600" dirty="0">
                <a:latin typeface="Palatino Linotype" panose="02040502050505030304" charset="0"/>
                <a:ea typeface="Palatino Linotype" panose="02040502050505030304"/>
                <a:cs typeface="Palatino Linotype" panose="02040502050505030304"/>
                <a:sym typeface="+mn-ea"/>
              </a:rPr>
              <a:t>a) begin</a:t>
            </a:r>
            <a:r>
              <a:rPr lang="en-US" altLang="zh-CN" sz="1600" dirty="0">
                <a:latin typeface="Palatino Linotype" panose="02040502050505030304" charset="0"/>
                <a:ea typeface="Palatino Linotype" panose="02040502050505030304"/>
                <a:cs typeface="Palatino Linotype" panose="02040502050505030304"/>
                <a:sym typeface="+mn-ea"/>
              </a:rPr>
              <a:t> = </a:t>
            </a:r>
            <a:r>
              <a:rPr lang="en-US" altLang="zh-CN" sz="1600" dirty="0" err="1">
                <a:latin typeface="Palatino Linotype" panose="02040502050505030304" charset="0"/>
                <a:ea typeface="Palatino Linotype" panose="02040502050505030304"/>
                <a:cs typeface="Palatino Linotype" panose="02040502050505030304"/>
                <a:sym typeface="+mn-ea"/>
              </a:rPr>
              <a:t>newlabel</a:t>
            </a:r>
            <a:r>
              <a:rPr lang="en-US" altLang="zh-CN" sz="1600" dirty="0">
                <a:latin typeface="Palatino Linotype" panose="02040502050505030304" charset="0"/>
                <a:ea typeface="Palatino Linotype" panose="02040502050505030304"/>
                <a:cs typeface="Palatino Linotype" panose="02040502050505030304"/>
                <a:sym typeface="+mn-ea"/>
              </a:rPr>
              <a:t>(); </a:t>
            </a:r>
            <a:r>
              <a:rPr lang="en-US" altLang="zh-CN" sz="1600" dirty="0" err="1">
                <a:latin typeface="Palatino Linotype" panose="02040502050505030304" charset="0"/>
                <a:ea typeface="Palatino Linotype" panose="02040502050505030304"/>
                <a:cs typeface="Palatino Linotype" panose="02040502050505030304"/>
                <a:sym typeface="+mn-ea"/>
              </a:rPr>
              <a:t>B.true</a:t>
            </a:r>
            <a:r>
              <a:rPr lang="en-US" altLang="zh-CN" sz="1600" dirty="0">
                <a:latin typeface="Palatino Linotype" panose="02040502050505030304" charset="0"/>
                <a:ea typeface="Palatino Linotype" panose="02040502050505030304"/>
                <a:cs typeface="Palatino Linotype" panose="02040502050505030304"/>
                <a:sym typeface="+mn-ea"/>
              </a:rPr>
              <a:t> = </a:t>
            </a:r>
            <a:r>
              <a:rPr lang="en-US" altLang="zh-CN" sz="1600" dirty="0" err="1">
                <a:latin typeface="Palatino Linotype" panose="02040502050505030304" charset="0"/>
                <a:ea typeface="Palatino Linotype" panose="02040502050505030304"/>
                <a:cs typeface="Palatino Linotype" panose="02040502050505030304"/>
                <a:sym typeface="+mn-ea"/>
              </a:rPr>
              <a:t>newlabel</a:t>
            </a:r>
            <a:r>
              <a:rPr lang="en-US" altLang="zh-CN" sz="1600" dirty="0">
                <a:latin typeface="Palatino Linotype" panose="02040502050505030304" charset="0"/>
                <a:ea typeface="Palatino Linotype" panose="02040502050505030304"/>
                <a:cs typeface="Palatino Linotype" panose="02040502050505030304"/>
                <a:sym typeface="+mn-ea"/>
              </a:rPr>
              <a:t>();</a:t>
            </a:r>
            <a:endParaRPr lang="en-US" sz="1600" dirty="0">
              <a:latin typeface="Palatino Linotype" panose="02040502050505030304" charset="0"/>
              <a:ea typeface="Palatino Linotype" panose="02040502050505030304"/>
              <a:cs typeface="Palatino Linotype" panose="02040502050505030304"/>
              <a:sym typeface="+mn-ea"/>
            </a:endParaRPr>
          </a:p>
          <a:p>
            <a:pPr marL="457200" lvl="1" indent="0" rtl="0" eaLnBrk="0">
              <a:spcBef>
                <a:spcPts val="0"/>
              </a:spcBef>
              <a:buNone/>
            </a:pPr>
            <a:r>
              <a:rPr lang="en-US" sz="1600" dirty="0">
                <a:latin typeface="Palatino Linotype" panose="02040502050505030304" charset="0"/>
                <a:ea typeface="Palatino Linotype" panose="02040502050505030304"/>
                <a:cs typeface="Palatino Linotype" panose="02040502050505030304"/>
                <a:sym typeface="+mn-ea"/>
              </a:rPr>
              <a:t>b) </a:t>
            </a:r>
            <a:r>
              <a:rPr lang="en-US" sz="1600" dirty="0" err="1">
                <a:latin typeface="Palatino Linotype" panose="02040502050505030304" charset="0"/>
                <a:ea typeface="Palatino Linotype" panose="02040502050505030304"/>
                <a:cs typeface="Palatino Linotype" panose="02040502050505030304"/>
                <a:sym typeface="+mn-ea"/>
              </a:rPr>
              <a:t>B.false</a:t>
            </a:r>
            <a:r>
              <a:rPr lang="en-US" sz="1600" dirty="0">
                <a:latin typeface="Palatino Linotype" panose="02040502050505030304" charset="0"/>
                <a:ea typeface="Palatino Linotype" panose="02040502050505030304"/>
                <a:cs typeface="Palatino Linotype" panose="02040502050505030304"/>
                <a:sym typeface="+mn-ea"/>
              </a:rPr>
              <a:t> = </a:t>
            </a:r>
            <a:r>
              <a:rPr lang="en-US" sz="1600" dirty="0" err="1">
                <a:latin typeface="Palatino Linotype" panose="02040502050505030304" charset="0"/>
                <a:ea typeface="Palatino Linotype" panose="02040502050505030304"/>
                <a:cs typeface="Palatino Linotype" panose="02040502050505030304"/>
                <a:sym typeface="+mn-ea"/>
              </a:rPr>
              <a:t>S.next</a:t>
            </a:r>
            <a:r>
              <a:rPr lang="en-US" sz="1600" dirty="0">
                <a:latin typeface="Palatino Linotype" panose="02040502050505030304" charset="0"/>
                <a:ea typeface="Palatino Linotype" panose="02040502050505030304"/>
                <a:cs typeface="Palatino Linotype" panose="02040502050505030304"/>
                <a:sym typeface="+mn-ea"/>
              </a:rPr>
              <a:t>;</a:t>
            </a:r>
          </a:p>
          <a:p>
            <a:pPr marL="457200" lvl="1" indent="0" rtl="0" eaLnBrk="0">
              <a:spcBef>
                <a:spcPts val="0"/>
              </a:spcBef>
              <a:buNone/>
            </a:pPr>
            <a:r>
              <a:rPr lang="en-US" sz="1600" dirty="0">
                <a:latin typeface="Palatino Linotype" panose="02040502050505030304" charset="0"/>
                <a:ea typeface="Palatino Linotype" panose="02040502050505030304"/>
                <a:cs typeface="Palatino Linotype" panose="02040502050505030304"/>
                <a:sym typeface="+mn-ea"/>
              </a:rPr>
              <a:t>c) S</a:t>
            </a:r>
            <a:r>
              <a:rPr lang="en-US" sz="1600" baseline="-25000" dirty="0">
                <a:latin typeface="Palatino Linotype" panose="02040502050505030304" charset="0"/>
                <a:ea typeface="Palatino Linotype" panose="02040502050505030304"/>
                <a:cs typeface="Palatino Linotype" panose="02040502050505030304"/>
                <a:sym typeface="+mn-ea"/>
              </a:rPr>
              <a:t>1</a:t>
            </a:r>
            <a:r>
              <a:rPr lang="en-US" sz="1600" dirty="0">
                <a:latin typeface="Palatino Linotype" panose="02040502050505030304" charset="0"/>
                <a:ea typeface="Palatino Linotype" panose="02040502050505030304"/>
                <a:cs typeface="Palatino Linotype" panose="02040502050505030304"/>
                <a:sym typeface="+mn-ea"/>
              </a:rPr>
              <a:t>.next = begin;</a:t>
            </a:r>
          </a:p>
          <a:p>
            <a:pPr marL="457200" lvl="1" indent="0" rtl="0" eaLnBrk="0">
              <a:spcBef>
                <a:spcPts val="0"/>
              </a:spcBef>
              <a:buNone/>
            </a:pPr>
            <a:r>
              <a:rPr lang="en-US" sz="1600" dirty="0">
                <a:latin typeface="Palatino Linotype" panose="02040502050505030304" charset="0"/>
                <a:ea typeface="Palatino Linotype" panose="02040502050505030304"/>
                <a:cs typeface="Palatino Linotype" panose="02040502050505030304"/>
                <a:sym typeface="+mn-ea"/>
              </a:rPr>
              <a:t>d) </a:t>
            </a:r>
            <a:r>
              <a:rPr lang="en-US" sz="1600" dirty="0" err="1">
                <a:latin typeface="Palatino Linotype" panose="02040502050505030304" charset="0"/>
                <a:ea typeface="Palatino Linotype" panose="02040502050505030304"/>
                <a:cs typeface="Palatino Linotype" panose="02040502050505030304"/>
                <a:sym typeface="+mn-ea"/>
              </a:rPr>
              <a:t>S.code</a:t>
            </a:r>
            <a:r>
              <a:rPr lang="en-US" sz="1600" dirty="0">
                <a:latin typeface="Palatino Linotype" panose="02040502050505030304" charset="0"/>
                <a:ea typeface="Palatino Linotype" panose="02040502050505030304"/>
                <a:cs typeface="Palatino Linotype" panose="02040502050505030304"/>
                <a:sym typeface="+mn-ea"/>
              </a:rPr>
              <a:t> = ⋯ ;</a:t>
            </a:r>
          </a:p>
          <a:p>
            <a:pPr marL="17145" algn="l" rtl="0" eaLnBrk="0" fontAlgn="auto">
              <a:lnSpc>
                <a:spcPct val="150000"/>
              </a:lnSpc>
              <a:spcBef>
                <a:spcPts val="0"/>
              </a:spcBef>
            </a:pPr>
            <a:r>
              <a:rPr lang="en-US" sz="2000" dirty="0">
                <a:latin typeface="Palatino Linotype" panose="02040502050505030304" charset="0"/>
                <a:ea typeface="Palatino Linotype" panose="02040502050505030304"/>
                <a:cs typeface="Palatino Linotype" panose="02040502050505030304"/>
                <a:sym typeface="+mn-ea"/>
              </a:rPr>
              <a:t>According to the rules of action placement:</a:t>
            </a:r>
          </a:p>
          <a:p>
            <a:pPr lvl="1" rtl="0" eaLnBrk="0">
              <a:spcBef>
                <a:spcPts val="0"/>
              </a:spcBef>
            </a:pPr>
            <a:r>
              <a:rPr lang="en-US" sz="1600" dirty="0">
                <a:latin typeface="Palatino Linotype" panose="02040502050505030304" charset="0"/>
                <a:ea typeface="Palatino Linotype" panose="02040502050505030304"/>
                <a:cs typeface="Palatino Linotype" panose="02040502050505030304"/>
                <a:sym typeface="+mn-ea"/>
              </a:rPr>
              <a:t>b) should be placed before C, c) should be placed before S</a:t>
            </a:r>
            <a:r>
              <a:rPr lang="en-US" sz="1600" baseline="-25000" dirty="0">
                <a:latin typeface="Palatino Linotype" panose="02040502050505030304" charset="0"/>
                <a:ea typeface="Palatino Linotype" panose="02040502050505030304"/>
                <a:cs typeface="Palatino Linotype" panose="02040502050505030304"/>
                <a:sym typeface="+mn-ea"/>
              </a:rPr>
              <a:t>1</a:t>
            </a:r>
            <a:r>
              <a:rPr lang="en-US" sz="1600" dirty="0">
                <a:latin typeface="Palatino Linotype" panose="02040502050505030304" charset="0"/>
                <a:ea typeface="Palatino Linotype" panose="02040502050505030304"/>
                <a:cs typeface="Palatino Linotype" panose="02040502050505030304"/>
                <a:sym typeface="+mn-ea"/>
              </a:rPr>
              <a:t>, and d) should be placed at the end of the production body</a:t>
            </a:r>
          </a:p>
          <a:p>
            <a:pPr lvl="1" rtl="0" eaLnBrk="0">
              <a:spcBef>
                <a:spcPts val="0"/>
              </a:spcBef>
            </a:pPr>
            <a:r>
              <a:rPr lang="en-US" sz="1600" dirty="0">
                <a:latin typeface="Palatino Linotype" panose="02040502050505030304" charset="0"/>
                <a:ea typeface="Palatino Linotype" panose="02040502050505030304"/>
                <a:cs typeface="Palatino Linotype" panose="02040502050505030304"/>
                <a:sym typeface="+mn-ea"/>
              </a:rPr>
              <a:t>a) can be placed at the very beginning; there is no constraint</a:t>
            </a:r>
            <a:endParaRPr sz="1600" dirty="0">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60</a:t>
            </a:fld>
            <a:endParaRPr/>
          </a:p>
        </p:txBody>
      </p:sp>
      <p:pic>
        <p:nvPicPr>
          <p:cNvPr id="33" name="图片 32">
            <a:extLst>
              <a:ext uri="{FF2B5EF4-FFF2-40B4-BE49-F238E27FC236}">
                <a16:creationId xmlns:a16="http://schemas.microsoft.com/office/drawing/2014/main" id="{DD5F457D-49BF-E0DB-C008-AC91E3A88626}"/>
              </a:ext>
            </a:extLst>
          </p:cNvPr>
          <p:cNvPicPr>
            <a:picLocks noChangeAspect="1"/>
          </p:cNvPicPr>
          <p:nvPr/>
        </p:nvPicPr>
        <p:blipFill>
          <a:blip r:embed="rId3"/>
          <a:stretch>
            <a:fillRect/>
          </a:stretch>
        </p:blipFill>
        <p:spPr>
          <a:xfrm>
            <a:off x="165798" y="5175850"/>
            <a:ext cx="8634208" cy="830652"/>
          </a:xfrm>
          <a:prstGeom prst="rect">
            <a:avLst/>
          </a:prstGeom>
        </p:spPr>
      </p:pic>
      <p:pic>
        <p:nvPicPr>
          <p:cNvPr id="34" name="object 14">
            <a:extLst>
              <a:ext uri="{FF2B5EF4-FFF2-40B4-BE49-F238E27FC236}">
                <a16:creationId xmlns:a16="http://schemas.microsoft.com/office/drawing/2014/main" id="{41171361-820D-E632-C607-B265C2BD1FE0}"/>
              </a:ext>
            </a:extLst>
          </p:cNvPr>
          <p:cNvPicPr/>
          <p:nvPr/>
        </p:nvPicPr>
        <p:blipFill>
          <a:blip r:embed="rId4" cstate="print"/>
          <a:stretch>
            <a:fillRect/>
          </a:stretch>
        </p:blipFill>
        <p:spPr bwMode="auto">
          <a:xfrm>
            <a:off x="5797593" y="1412776"/>
            <a:ext cx="3002413" cy="179640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lstStyle/>
          <a:p>
            <a:r>
              <a:rPr lang="en-US" sz="3600" b="1" noProof="0" dirty="0">
                <a:ln>
                  <a:noFill/>
                </a:ln>
                <a:solidFill>
                  <a:sysClr val="windowText" lastClr="000000"/>
                </a:solidFill>
                <a:effectLst/>
                <a:uLnTx/>
                <a:uFillTx/>
                <a:latin typeface="Palatino Linotype" panose="02040502050505030304" charset="0"/>
                <a:cs typeface="Palatino Linotype" panose="02040502050505030304"/>
              </a:rPr>
              <a:t>Outline</a:t>
            </a:r>
            <a:endParaRPr lang="en-US" altLang="en-US" sz="3600" b="1" noProof="0" dirty="0">
              <a:ln>
                <a:noFill/>
              </a:ln>
              <a:solidFill>
                <a:sysClr val="windowText" lastClr="000000"/>
              </a:solidFill>
              <a:effectLst/>
              <a:uLnTx/>
              <a:uFillTx/>
              <a:latin typeface="Palatino Linotype" panose="02040502050505030304" charset="0"/>
              <a:cs typeface="Palatino Linotype" panose="02040502050505030304"/>
            </a:endParaRPr>
          </a:p>
        </p:txBody>
      </p:sp>
      <p:sp>
        <p:nvSpPr>
          <p:cNvPr id="4" name="内容占位符 3"/>
          <p:cNvSpPr>
            <a:spLocks noGrp="1"/>
          </p:cNvSpPr>
          <p:nvPr>
            <p:ph idx="1"/>
          </p:nvPr>
        </p:nvSpPr>
        <p:spPr/>
        <p:txBody>
          <a:bodyPr>
            <a:normAutofit fontScale="67500" lnSpcReduction="20000"/>
          </a:bodyPr>
          <a:lstStyle/>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Syntax-Directed Definitions</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Evaluation Orders for SDD’s</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Applications of Syntax-Directed Translation</a:t>
            </a: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solidFill>
                  <a:schemeClr val="bg2">
                    <a:lumMod val="50000"/>
                  </a:schemeClr>
                </a:solidFill>
                <a:effectLst/>
                <a:uLnTx/>
                <a:uFillTx/>
                <a:latin typeface="Palatino Linotype" panose="02040502050505030304" charset="0"/>
                <a:ea typeface="+mj-ea"/>
                <a:cs typeface="Palatino Linotype" panose="02040502050505030304"/>
                <a:sym typeface="+mn-ea"/>
              </a:rPr>
              <a:t>Syntax-Directed Translation Schemes</a:t>
            </a: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endParaRPr lang="en-US" sz="3665" b="1" noProof="0" dirty="0">
              <a:ln>
                <a:noFill/>
              </a:ln>
              <a:solidFill>
                <a:schemeClr val="bg1">
                  <a:lumMod val="75000"/>
                </a:schemeClr>
              </a:solidFill>
              <a:effectLst/>
              <a:uLnTx/>
              <a:uFillTx/>
              <a:latin typeface="Palatino Linotype" panose="02040502050505030304" charset="0"/>
              <a:ea typeface="+mj-ea"/>
              <a:cs typeface="Palatino Linotype" panose="02040502050505030304"/>
              <a:sym typeface="+mn-ea"/>
            </a:endParaRPr>
          </a:p>
          <a:p>
            <a:pPr marL="12700" algn="l" rtl="0" eaLnBrk="0">
              <a:lnSpc>
                <a:spcPct val="81000"/>
              </a:lnSpc>
              <a:spcBef>
                <a:spcPts val="730"/>
              </a:spcBef>
            </a:pPr>
            <a:r>
              <a:rPr lang="en-US" sz="3665" b="1" noProof="0" dirty="0">
                <a:ln>
                  <a:noFill/>
                </a:ln>
                <a:effectLst/>
                <a:uLnTx/>
                <a:uFillTx/>
                <a:latin typeface="Palatino Linotype" panose="02040502050505030304" charset="0"/>
                <a:ea typeface="+mj-ea"/>
                <a:cs typeface="Palatino Linotype" panose="02040502050505030304"/>
                <a:sym typeface="+mn-ea"/>
              </a:rPr>
              <a:t>Implementing L-Attributed SDD’s</a:t>
            </a: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61</a:t>
            </a:fld>
            <a:endParaRPr/>
          </a:p>
        </p:txBody>
      </p:sp>
    </p:spTree>
    <p:extLst>
      <p:ext uri="{BB962C8B-B14F-4D97-AF65-F5344CB8AC3E}">
        <p14:creationId xmlns:p14="http://schemas.microsoft.com/office/powerpoint/2010/main" val="29804829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标题 2"/>
          <p:cNvSpPr>
            <a:spLocks noGrp="1"/>
          </p:cNvSpPr>
          <p:nvPr>
            <p:ph type="title"/>
          </p:nvPr>
        </p:nvSpPr>
        <p:spPr/>
        <p:txBody>
          <a:bodyPr>
            <a:normAutofit/>
          </a:bodyPr>
          <a:lstStyle/>
          <a:p>
            <a:pPr algn="ctr"/>
            <a:r>
              <a:rPr lang="en-US" altLang="zh-CN" sz="3600" dirty="0">
                <a:latin typeface="Palatino Linotype" panose="02040502050505030304" charset="0"/>
              </a:rPr>
              <a:t>Translation During </a:t>
            </a:r>
            <a:br>
              <a:rPr lang="en-US" altLang="zh-CN" sz="3600" dirty="0">
                <a:latin typeface="Palatino Linotype" panose="02040502050505030304" charset="0"/>
              </a:rPr>
            </a:br>
            <a:r>
              <a:rPr lang="en-US" altLang="zh-CN" sz="3600" dirty="0">
                <a:latin typeface="Palatino Linotype" panose="02040502050505030304" charset="0"/>
              </a:rPr>
              <a:t>Recursive-Descent Parsing</a:t>
            </a:r>
            <a:endParaRPr lang="zh-CN" altLang="en-US" sz="3600" dirty="0">
              <a:latin typeface="Palatino Linotype" panose="02040502050505030304" charset="0"/>
            </a:endParaRPr>
          </a:p>
        </p:txBody>
      </p:sp>
      <p:sp>
        <p:nvSpPr>
          <p:cNvPr id="4" name="内容占位符 3"/>
          <p:cNvSpPr>
            <a:spLocks noGrp="1"/>
          </p:cNvSpPr>
          <p:nvPr>
            <p:ph idx="1"/>
          </p:nvPr>
        </p:nvSpPr>
        <p:spPr>
          <a:xfrm>
            <a:off x="628650" y="1556385"/>
            <a:ext cx="7886700" cy="4351338"/>
          </a:xfrm>
        </p:spPr>
        <p:txBody>
          <a:bodyPr>
            <a:noAutofit/>
          </a:bodyPr>
          <a:lstStyle/>
          <a:p>
            <a:pPr marL="17145" algn="l" rtl="0" eaLnBrk="0" fontAlgn="auto">
              <a:lnSpc>
                <a:spcPct val="150000"/>
              </a:lnSpc>
              <a:spcBef>
                <a:spcPts val="0"/>
              </a:spcBef>
            </a:pPr>
            <a:r>
              <a:rPr lang="en-US" sz="2000" dirty="0">
                <a:latin typeface="Palatino Linotype" panose="02040502050505030304" charset="0"/>
                <a:ea typeface="Palatino Linotype" panose="02040502050505030304"/>
                <a:cs typeface="Palatino Linotype" panose="02040502050505030304"/>
                <a:sym typeface="+mn-ea"/>
              </a:rPr>
              <a:t>Many translation applications can be addressed using L-attributed SDD’s. It is possible to </a:t>
            </a:r>
            <a:r>
              <a:rPr lang="en-US" sz="2000" dirty="0">
                <a:solidFill>
                  <a:srgbClr val="FF0000"/>
                </a:solidFill>
                <a:latin typeface="Palatino Linotype" panose="02040502050505030304" charset="0"/>
                <a:ea typeface="Palatino Linotype" panose="02040502050505030304"/>
                <a:cs typeface="Palatino Linotype" panose="02040502050505030304"/>
                <a:sym typeface="+mn-ea"/>
              </a:rPr>
              <a:t>extend a recursive-descent parser to implement L-attributed SDD’s </a:t>
            </a:r>
            <a:r>
              <a:rPr lang="en-US" sz="2000" dirty="0">
                <a:latin typeface="Palatino Linotype" panose="02040502050505030304" charset="0"/>
                <a:ea typeface="Palatino Linotype" panose="02040502050505030304"/>
                <a:cs typeface="Palatino Linotype" panose="02040502050505030304"/>
                <a:sym typeface="+mn-ea"/>
              </a:rPr>
              <a:t>as follows:</a:t>
            </a:r>
          </a:p>
          <a:p>
            <a:pPr lvl="1" rtl="0" eaLnBrk="0">
              <a:spcBef>
                <a:spcPts val="0"/>
              </a:spcBef>
            </a:pPr>
            <a:r>
              <a:rPr lang="en-US" sz="1600" dirty="0">
                <a:latin typeface="Palatino Linotype" panose="02040502050505030304" charset="0"/>
                <a:ea typeface="Palatino Linotype" panose="02040502050505030304"/>
                <a:cs typeface="Palatino Linotype" panose="02040502050505030304"/>
                <a:sym typeface="+mn-ea"/>
              </a:rPr>
              <a:t>A recursive-decent parser has a function A for each nonterminal A</a:t>
            </a:r>
          </a:p>
          <a:p>
            <a:pPr lvl="1" rtl="0" eaLnBrk="0">
              <a:spcBef>
                <a:spcPts val="0"/>
              </a:spcBef>
            </a:pPr>
            <a:r>
              <a:rPr lang="en-US" sz="1600" dirty="0">
                <a:latin typeface="Palatino Linotype" panose="02040502050505030304" charset="0"/>
                <a:ea typeface="Palatino Linotype" panose="02040502050505030304"/>
                <a:cs typeface="Palatino Linotype" panose="02040502050505030304"/>
                <a:sym typeface="+mn-ea"/>
              </a:rPr>
              <a:t>Use the arguments of function A to pass A’s </a:t>
            </a:r>
            <a:r>
              <a:rPr lang="en-US" sz="1600" dirty="0">
                <a:solidFill>
                  <a:srgbClr val="FF0000"/>
                </a:solidFill>
                <a:latin typeface="Palatino Linotype" panose="02040502050505030304" charset="0"/>
                <a:ea typeface="Palatino Linotype" panose="02040502050505030304"/>
                <a:cs typeface="Palatino Linotype" panose="02040502050505030304"/>
                <a:sym typeface="+mn-ea"/>
              </a:rPr>
              <a:t>inherited attributes</a:t>
            </a:r>
          </a:p>
          <a:p>
            <a:pPr lvl="1" rtl="0" eaLnBrk="0">
              <a:spcBef>
                <a:spcPts val="0"/>
              </a:spcBef>
            </a:pPr>
            <a:r>
              <a:rPr lang="en-US" sz="1600" dirty="0">
                <a:latin typeface="Palatino Linotype" panose="02040502050505030304" charset="0"/>
                <a:ea typeface="Palatino Linotype" panose="02040502050505030304"/>
                <a:cs typeface="Palatino Linotype" panose="02040502050505030304"/>
                <a:sym typeface="+mn-ea"/>
              </a:rPr>
              <a:t>Return the </a:t>
            </a:r>
            <a:r>
              <a:rPr lang="en-US" sz="1600" dirty="0">
                <a:solidFill>
                  <a:srgbClr val="FF0000"/>
                </a:solidFill>
                <a:latin typeface="Palatino Linotype" panose="02040502050505030304" charset="0"/>
                <a:ea typeface="Palatino Linotype" panose="02040502050505030304"/>
                <a:cs typeface="Palatino Linotype" panose="02040502050505030304"/>
                <a:sym typeface="+mn-ea"/>
              </a:rPr>
              <a:t>synthesized attributes </a:t>
            </a:r>
            <a:r>
              <a:rPr lang="en-US" sz="1600" dirty="0">
                <a:latin typeface="Palatino Linotype" panose="02040502050505030304" charset="0"/>
                <a:ea typeface="Palatino Linotype" panose="02040502050505030304"/>
                <a:cs typeface="Palatino Linotype" panose="02040502050505030304"/>
                <a:sym typeface="+mn-ea"/>
              </a:rPr>
              <a:t>of A when the function A completes</a:t>
            </a:r>
          </a:p>
          <a:p>
            <a:pPr marL="17145" algn="l" rtl="0" eaLnBrk="0" fontAlgn="auto">
              <a:lnSpc>
                <a:spcPct val="150000"/>
              </a:lnSpc>
              <a:spcBef>
                <a:spcPts val="0"/>
              </a:spcBef>
            </a:pPr>
            <a:r>
              <a:rPr lang="en-US" sz="2000" dirty="0">
                <a:latin typeface="Palatino Linotype" panose="02040502050505030304" charset="0"/>
                <a:ea typeface="Palatino Linotype" panose="02040502050505030304"/>
                <a:cs typeface="Palatino Linotype" panose="02040502050505030304"/>
                <a:sym typeface="+mn-ea"/>
              </a:rPr>
              <a:t>With the above extension, in the body of the function A, we need to both </a:t>
            </a:r>
            <a:r>
              <a:rPr lang="en-US" sz="2000" dirty="0">
                <a:solidFill>
                  <a:srgbClr val="0331FF"/>
                </a:solidFill>
                <a:latin typeface="Palatino Linotype" panose="02040502050505030304" charset="0"/>
                <a:ea typeface="Palatino Linotype" panose="02040502050505030304"/>
                <a:cs typeface="Palatino Linotype" panose="02040502050505030304"/>
                <a:sym typeface="+mn-ea"/>
              </a:rPr>
              <a:t>parse</a:t>
            </a:r>
            <a:r>
              <a:rPr lang="en-US" sz="2000" dirty="0">
                <a:latin typeface="Palatino Linotype" panose="02040502050505030304" charset="0"/>
                <a:ea typeface="Palatino Linotype" panose="02040502050505030304"/>
                <a:cs typeface="Palatino Linotype" panose="02040502050505030304"/>
                <a:sym typeface="+mn-ea"/>
              </a:rPr>
              <a:t> and </a:t>
            </a:r>
            <a:r>
              <a:rPr lang="en-US" sz="2000" dirty="0">
                <a:solidFill>
                  <a:srgbClr val="0331FF"/>
                </a:solidFill>
                <a:latin typeface="Palatino Linotype" panose="02040502050505030304" charset="0"/>
                <a:ea typeface="Palatino Linotype" panose="02040502050505030304"/>
                <a:cs typeface="Palatino Linotype" panose="02040502050505030304"/>
                <a:sym typeface="+mn-ea"/>
              </a:rPr>
              <a:t>handle attributes</a:t>
            </a:r>
            <a:endParaRPr sz="1800" dirty="0">
              <a:solidFill>
                <a:srgbClr val="0331FF"/>
              </a:solidFill>
              <a:latin typeface="Palatino Linotype" panose="02040502050505030304" charset="0"/>
              <a:ea typeface="Palatino Linotype" panose="02040502050505030304"/>
              <a:cs typeface="Palatino Linotype" panose="02040502050505030304"/>
              <a:sym typeface="+mn-ea"/>
            </a:endParaRPr>
          </a:p>
        </p:txBody>
      </p:sp>
      <p:sp>
        <p:nvSpPr>
          <p:cNvPr id="759386475"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1750702991"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1679530982" name="Slide Number Placeholder 4"/>
          <p:cNvSpPr>
            <a:spLocks noGrp="1"/>
          </p:cNvSpPr>
          <p:nvPr>
            <p:ph type="sldNum" sz="quarter" idx="12"/>
          </p:nvPr>
        </p:nvSpPr>
        <p:spPr bwMode="auto"/>
        <p:txBody>
          <a:bodyPr/>
          <a:lstStyle/>
          <a:p>
            <a:pPr>
              <a:defRPr/>
            </a:pPr>
            <a:fld id="{5FFBE95A-A645-E860-F927-9ED647B5B4C2}" type="slidenum">
              <a:rPr/>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194E761-6038-410C-B874-94437FDCE04A}"/>
              </a:ext>
            </a:extLst>
          </p:cNvPr>
          <p:cNvSpPr txBox="1">
            <a:spLocks noChangeArrowheads="1"/>
          </p:cNvSpPr>
          <p:nvPr/>
        </p:nvSpPr>
        <p:spPr bwMode="auto">
          <a:xfrm>
            <a:off x="6000750" y="106363"/>
            <a:ext cx="3000375" cy="4751387"/>
          </a:xfrm>
          <a:prstGeom prst="rect">
            <a:avLst/>
          </a:prstGeom>
        </p:spPr>
        <p:txBody>
          <a:bodyPr vert="horz" lIns="91440" tIns="45720" rIns="91440" bIns="45720" rtlCol="0">
            <a:noAutofit/>
          </a:bodyPr>
          <a:lst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a:lstStyle>
          <a:p>
            <a:pPr marL="272654" indent="-272654">
              <a:spcBef>
                <a:spcPts val="0"/>
              </a:spcBef>
              <a:buFont typeface="Wingdings" pitchFamily="2" charset="2"/>
              <a:buNone/>
              <a:defRPr/>
            </a:pPr>
            <a:r>
              <a:rPr lang="zh-CN" altLang="en-US" sz="1400" b="1" i="1" dirty="0">
                <a:solidFill>
                  <a:schemeClr val="hlink"/>
                </a:solidFill>
                <a:latin typeface="Times New Roman" pitchFamily="18" charset="0"/>
                <a:cs typeface="Times New Roman" pitchFamily="18" charset="0"/>
              </a:rPr>
              <a:t>T</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a:solidFill>
                  <a:schemeClr val="hlink"/>
                </a:solidFill>
                <a:latin typeface="Times New Roman" pitchFamily="18" charset="0"/>
                <a:cs typeface="Times New Roman" pitchFamily="18" charset="0"/>
              </a:rPr>
              <a:t>syn</a:t>
            </a:r>
            <a:r>
              <a:rPr lang="en-US" altLang="zh-CN" sz="1400" b="1" i="1" dirty="0">
                <a:latin typeface="Times New Roman" pitchFamily="18" charset="0"/>
                <a:cs typeface="Times New Roman" pitchFamily="18" charset="0"/>
              </a:rPr>
              <a:t> </a:t>
            </a:r>
            <a:r>
              <a:rPr lang="zh-CN" altLang="en-US" sz="1400" b="1" i="1" dirty="0">
                <a:latin typeface="Times New Roman" pitchFamily="18" charset="0"/>
                <a:cs typeface="Times New Roman" pitchFamily="18" charset="0"/>
              </a:rPr>
              <a:t>T</a:t>
            </a:r>
            <a:r>
              <a:rPr lang="en-US" altLang="zh-CN" sz="1400" b="1" i="1" dirty="0">
                <a:latin typeface="Times New Roman" pitchFamily="18" charset="0"/>
                <a:ea typeface="楷体" pitchFamily="49" charset="-122"/>
                <a:cs typeface="Times New Roman" pitchFamily="18" charset="0"/>
              </a:rPr>
              <a:t>′</a:t>
            </a:r>
            <a:r>
              <a:rPr lang="zh-CN" altLang="en-US" sz="1400" b="1" i="1" dirty="0">
                <a:latin typeface="Times New Roman" pitchFamily="18" charset="0"/>
                <a:cs typeface="Times New Roman" pitchFamily="18" charset="0"/>
                <a:sym typeface="Arial" pitchFamily="34" charset="0"/>
              </a:rPr>
              <a:t> </a:t>
            </a:r>
            <a:r>
              <a:rPr lang="en-US" altLang="zh-CN" sz="1400" b="1" dirty="0">
                <a:latin typeface="Times New Roman" pitchFamily="18" charset="0"/>
                <a:cs typeface="Times New Roman" pitchFamily="18" charset="0"/>
                <a:sym typeface="Arial" pitchFamily="34" charset="0"/>
              </a:rPr>
              <a:t>(</a:t>
            </a:r>
            <a:r>
              <a:rPr lang="en-US" altLang="zh-CN" sz="1400" b="1" i="1" dirty="0">
                <a:latin typeface="Times New Roman" pitchFamily="18" charset="0"/>
                <a:cs typeface="Times New Roman" pitchFamily="18" charset="0"/>
                <a:sym typeface="Arial" pitchFamily="34" charset="0"/>
              </a:rPr>
              <a:t>token, </a:t>
            </a:r>
            <a:r>
              <a:rPr lang="zh-CN" altLang="en-US" sz="1400" b="1" i="1" dirty="0">
                <a:solidFill>
                  <a:schemeClr val="hlink"/>
                </a:solidFill>
                <a:latin typeface="Times New Roman" pitchFamily="18" charset="0"/>
                <a:cs typeface="Times New Roman" pitchFamily="18" charset="0"/>
              </a:rPr>
              <a:t>T</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err="1">
                <a:solidFill>
                  <a:schemeClr val="hlink"/>
                </a:solidFill>
                <a:latin typeface="Times New Roman" pitchFamily="18" charset="0"/>
                <a:cs typeface="Times New Roman" pitchFamily="18" charset="0"/>
                <a:sym typeface="Arial" pitchFamily="34" charset="0"/>
              </a:rPr>
              <a:t>inh</a:t>
            </a:r>
            <a:r>
              <a:rPr lang="en-US" altLang="zh-CN" sz="1400" b="1" dirty="0">
                <a:latin typeface="Times New Roman" pitchFamily="18" charset="0"/>
                <a:cs typeface="Times New Roman" pitchFamily="18" charset="0"/>
                <a:sym typeface="Arial" pitchFamily="34" charset="0"/>
              </a:rPr>
              <a:t>)</a:t>
            </a:r>
          </a:p>
          <a:p>
            <a:pPr marL="272654" indent="-272654">
              <a:spcBef>
                <a:spcPts val="0"/>
              </a:spcBef>
              <a:buFont typeface="Wingdings" pitchFamily="2" charset="2"/>
              <a:buNone/>
              <a:defRPr/>
            </a:pPr>
            <a:r>
              <a:rPr lang="en-US" altLang="zh-CN" sz="1400" b="1" dirty="0">
                <a:latin typeface="Times New Roman" pitchFamily="18" charset="0"/>
                <a:cs typeface="Times New Roman" pitchFamily="18" charset="0"/>
                <a:sym typeface="Arial" pitchFamily="34" charset="0"/>
              </a:rPr>
              <a:t>{ </a:t>
            </a:r>
            <a:r>
              <a:rPr lang="en-US" altLang="zh-CN" sz="1400" b="1" i="1" dirty="0">
                <a:latin typeface="Times New Roman" pitchFamily="18" charset="0"/>
                <a:cs typeface="Times New Roman" pitchFamily="18" charset="0"/>
                <a:sym typeface="Arial" pitchFamily="34" charset="0"/>
              </a:rPr>
              <a:t> </a:t>
            </a:r>
            <a:r>
              <a:rPr lang="en-US" altLang="zh-CN" sz="1400" b="1" i="1" dirty="0">
                <a:solidFill>
                  <a:schemeClr val="hlink"/>
                </a:solidFill>
                <a:latin typeface="Times New Roman" pitchFamily="18" charset="0"/>
                <a:cs typeface="Times New Roman" pitchFamily="18" charset="0"/>
                <a:sym typeface="Arial" pitchFamily="34" charset="0"/>
              </a:rPr>
              <a:t>D</a:t>
            </a:r>
            <a:r>
              <a:rPr lang="en-US" altLang="zh-CN" sz="1400" b="1" dirty="0">
                <a:solidFill>
                  <a:schemeClr val="hlink"/>
                </a:solidFill>
                <a:latin typeface="Times New Roman" pitchFamily="18" charset="0"/>
                <a:cs typeface="Times New Roman" pitchFamily="18" charset="0"/>
                <a:sym typeface="Arial" pitchFamily="34" charset="0"/>
              </a:rPr>
              <a:t>: </a:t>
            </a:r>
            <a:r>
              <a:rPr lang="en-US" altLang="zh-CN" sz="1400" b="1" i="1" dirty="0" err="1">
                <a:solidFill>
                  <a:schemeClr val="hlink"/>
                </a:solidFill>
                <a:latin typeface="Times New Roman" pitchFamily="18" charset="0"/>
                <a:cs typeface="Times New Roman" pitchFamily="18" charset="0"/>
                <a:sym typeface="Arial" pitchFamily="34" charset="0"/>
              </a:rPr>
              <a:t>Fval</a:t>
            </a:r>
            <a:r>
              <a:rPr lang="en-US" altLang="zh-CN" sz="1400" b="1" i="1" dirty="0">
                <a:solidFill>
                  <a:schemeClr val="hlink"/>
                </a:solidFill>
                <a:latin typeface="Times New Roman" pitchFamily="18" charset="0"/>
                <a:cs typeface="Times New Roman" pitchFamily="18" charset="0"/>
                <a:sym typeface="Arial" pitchFamily="34" charset="0"/>
              </a:rPr>
              <a:t>, </a:t>
            </a:r>
            <a:r>
              <a:rPr lang="zh-CN" altLang="en-US" sz="1400" b="1" i="1" dirty="0">
                <a:solidFill>
                  <a:schemeClr val="hlink"/>
                </a:solidFill>
                <a:latin typeface="Times New Roman" pitchFamily="18" charset="0"/>
                <a:cs typeface="Times New Roman" pitchFamily="18" charset="0"/>
              </a:rPr>
              <a:t>T</a:t>
            </a:r>
            <a:r>
              <a:rPr lang="zh-CN" altLang="en-US" sz="1400" b="1" baseline="-25000" dirty="0">
                <a:solidFill>
                  <a:schemeClr val="hlink"/>
                </a:solidFill>
                <a:latin typeface="Times New Roman" pitchFamily="18" charset="0"/>
                <a:cs typeface="Times New Roman" pitchFamily="18" charset="0"/>
              </a:rPr>
              <a:t>1</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err="1">
                <a:solidFill>
                  <a:schemeClr val="hlink"/>
                </a:solidFill>
                <a:latin typeface="Times New Roman" pitchFamily="18" charset="0"/>
                <a:cs typeface="Times New Roman" pitchFamily="18" charset="0"/>
              </a:rPr>
              <a:t>inh</a:t>
            </a:r>
            <a:r>
              <a:rPr lang="en-US" altLang="zh-CN" sz="1400" b="1" i="1" dirty="0">
                <a:solidFill>
                  <a:schemeClr val="hlink"/>
                </a:solidFill>
                <a:latin typeface="Times New Roman" pitchFamily="18" charset="0"/>
                <a:cs typeface="Times New Roman" pitchFamily="18" charset="0"/>
              </a:rPr>
              <a:t>, </a:t>
            </a:r>
            <a:r>
              <a:rPr lang="zh-CN" altLang="en-US" sz="1400" b="1" i="1" dirty="0">
                <a:solidFill>
                  <a:schemeClr val="hlink"/>
                </a:solidFill>
                <a:latin typeface="Times New Roman" pitchFamily="18" charset="0"/>
                <a:cs typeface="Times New Roman" pitchFamily="18" charset="0"/>
              </a:rPr>
              <a:t>T</a:t>
            </a:r>
            <a:r>
              <a:rPr lang="zh-CN" altLang="en-US" sz="1400" b="1" baseline="-25000" dirty="0">
                <a:solidFill>
                  <a:schemeClr val="hlink"/>
                </a:solidFill>
                <a:latin typeface="Times New Roman" pitchFamily="18" charset="0"/>
                <a:cs typeface="Times New Roman" pitchFamily="18" charset="0"/>
              </a:rPr>
              <a:t>1</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a:solidFill>
                  <a:schemeClr val="hlink"/>
                </a:solidFill>
                <a:latin typeface="Times New Roman" pitchFamily="18" charset="0"/>
                <a:cs typeface="Times New Roman" pitchFamily="18" charset="0"/>
              </a:rPr>
              <a:t>syn</a:t>
            </a:r>
            <a:r>
              <a:rPr lang="zh-CN" altLang="en-US" sz="1400" b="1" dirty="0">
                <a:solidFill>
                  <a:schemeClr val="hlink"/>
                </a:solidFill>
                <a:latin typeface="Times New Roman" pitchFamily="18" charset="0"/>
                <a:cs typeface="Times New Roman" pitchFamily="18" charset="0"/>
              </a:rPr>
              <a:t>；</a:t>
            </a:r>
          </a:p>
          <a:p>
            <a:pPr marL="272654" indent="-272654">
              <a:spcBef>
                <a:spcPts val="0"/>
              </a:spcBef>
              <a:buFont typeface="Wingdings" pitchFamily="2" charset="2"/>
              <a:buNone/>
              <a:defRPr/>
            </a:pPr>
            <a:r>
              <a:rPr lang="en-US" altLang="zh-CN" sz="1400" b="1" i="1" dirty="0">
                <a:latin typeface="Times New Roman" pitchFamily="18" charset="0"/>
                <a:cs typeface="Times New Roman" pitchFamily="18" charset="0"/>
                <a:sym typeface="Arial" pitchFamily="34" charset="0"/>
              </a:rPr>
              <a:t>    if token=“*”  then</a:t>
            </a:r>
          </a:p>
          <a:p>
            <a:pPr marL="272654" indent="-272654">
              <a:spcBef>
                <a:spcPts val="0"/>
              </a:spcBef>
              <a:buFont typeface="Wingdings" pitchFamily="2" charset="2"/>
              <a:buNone/>
              <a:defRPr/>
            </a:pPr>
            <a:r>
              <a:rPr lang="en-US" altLang="zh-CN" sz="1400" b="1" i="1" dirty="0">
                <a:latin typeface="Times New Roman" pitchFamily="18" charset="0"/>
                <a:cs typeface="Times New Roman" pitchFamily="18" charset="0"/>
                <a:sym typeface="Arial" pitchFamily="34" charset="0"/>
              </a:rPr>
              <a:t>    </a:t>
            </a:r>
            <a:r>
              <a:rPr lang="en-US" altLang="zh-CN" sz="1400" b="1" dirty="0">
                <a:latin typeface="Times New Roman" pitchFamily="18" charset="0"/>
                <a:cs typeface="Times New Roman" pitchFamily="18" charset="0"/>
                <a:sym typeface="Arial" pitchFamily="34" charset="0"/>
              </a:rPr>
              <a:t>{ </a:t>
            </a:r>
            <a:r>
              <a:rPr lang="en-US" altLang="zh-CN" sz="1400" b="1" i="1" dirty="0">
                <a:latin typeface="Times New Roman" pitchFamily="18" charset="0"/>
                <a:cs typeface="Times New Roman" pitchFamily="18" charset="0"/>
                <a:sym typeface="Arial" pitchFamily="34" charset="0"/>
              </a:rPr>
              <a:t> </a:t>
            </a:r>
            <a:r>
              <a:rPr lang="en-US" altLang="zh-CN" sz="1400" b="1" i="1" dirty="0" err="1">
                <a:latin typeface="Times New Roman" pitchFamily="18" charset="0"/>
                <a:cs typeface="Times New Roman" pitchFamily="18" charset="0"/>
                <a:sym typeface="Arial" pitchFamily="34" charset="0"/>
              </a:rPr>
              <a:t>Getnext</a:t>
            </a:r>
            <a:r>
              <a:rPr lang="en-US" altLang="zh-CN" sz="1400" b="1" dirty="0">
                <a:latin typeface="Times New Roman" pitchFamily="18" charset="0"/>
                <a:cs typeface="Times New Roman" pitchFamily="18" charset="0"/>
                <a:sym typeface="Arial" pitchFamily="34" charset="0"/>
              </a:rPr>
              <a:t>(</a:t>
            </a:r>
            <a:r>
              <a:rPr lang="en-US" altLang="zh-CN" sz="1400" b="1" i="1" dirty="0">
                <a:latin typeface="Times New Roman" pitchFamily="18" charset="0"/>
                <a:cs typeface="Times New Roman" pitchFamily="18" charset="0"/>
                <a:sym typeface="Arial" pitchFamily="34" charset="0"/>
              </a:rPr>
              <a:t>token</a:t>
            </a:r>
            <a:r>
              <a:rPr lang="en-US" altLang="zh-CN" sz="1400" b="1" dirty="0">
                <a:latin typeface="Times New Roman" pitchFamily="18" charset="0"/>
                <a:cs typeface="Times New Roman" pitchFamily="18" charset="0"/>
                <a:sym typeface="Arial" pitchFamily="34" charset="0"/>
              </a:rPr>
              <a:t>)</a:t>
            </a:r>
            <a:r>
              <a:rPr lang="zh-CN" altLang="en-US" sz="1400" b="1" dirty="0">
                <a:latin typeface="Times New Roman" pitchFamily="18" charset="0"/>
                <a:cs typeface="Times New Roman" pitchFamily="18" charset="0"/>
                <a:sym typeface="Arial" pitchFamily="34" charset="0"/>
              </a:rPr>
              <a:t>；</a:t>
            </a:r>
          </a:p>
          <a:p>
            <a:pPr marL="272654" indent="-272654">
              <a:spcBef>
                <a:spcPts val="0"/>
              </a:spcBef>
              <a:buFont typeface="Wingdings" pitchFamily="2" charset="2"/>
              <a:buNone/>
              <a:defRPr/>
            </a:pPr>
            <a:r>
              <a:rPr lang="en-US" altLang="zh-CN" sz="1400" b="1" i="1" dirty="0">
                <a:latin typeface="Times New Roman" pitchFamily="18" charset="0"/>
                <a:cs typeface="Times New Roman" pitchFamily="18" charset="0"/>
                <a:sym typeface="Arial" pitchFamily="34" charset="0"/>
              </a:rPr>
              <a:t>	  </a:t>
            </a:r>
            <a:r>
              <a:rPr lang="en-US" altLang="zh-CN" sz="1400" b="1" i="1" dirty="0">
                <a:solidFill>
                  <a:srgbClr val="FF9900"/>
                </a:solidFill>
                <a:latin typeface="Times New Roman" pitchFamily="18" charset="0"/>
                <a:cs typeface="Times New Roman" pitchFamily="18" charset="0"/>
                <a:sym typeface="Arial" pitchFamily="34" charset="0"/>
              </a:rPr>
              <a:t> </a:t>
            </a:r>
            <a:r>
              <a:rPr lang="en-US" altLang="zh-CN" sz="1400" b="1" i="1" dirty="0" err="1">
                <a:solidFill>
                  <a:schemeClr val="hlink"/>
                </a:solidFill>
                <a:latin typeface="Times New Roman" pitchFamily="18" charset="0"/>
                <a:cs typeface="Times New Roman" pitchFamily="18" charset="0"/>
                <a:sym typeface="Arial" pitchFamily="34" charset="0"/>
              </a:rPr>
              <a:t>Fval</a:t>
            </a:r>
            <a:r>
              <a:rPr lang="en-US" altLang="zh-CN" sz="1400" b="1" i="1" dirty="0">
                <a:solidFill>
                  <a:schemeClr val="hlink"/>
                </a:solidFill>
                <a:latin typeface="Times New Roman" pitchFamily="18" charset="0"/>
                <a:cs typeface="Times New Roman" pitchFamily="18" charset="0"/>
                <a:sym typeface="Arial" pitchFamily="34" charset="0"/>
              </a:rPr>
              <a:t>=</a:t>
            </a:r>
            <a:r>
              <a:rPr lang="en-US" altLang="zh-CN" sz="1400" b="1" i="1" dirty="0">
                <a:latin typeface="Times New Roman" pitchFamily="18" charset="0"/>
                <a:cs typeface="Times New Roman" pitchFamily="18" charset="0"/>
                <a:sym typeface="Arial" pitchFamily="34" charset="0"/>
              </a:rPr>
              <a:t>F(token</a:t>
            </a:r>
            <a:r>
              <a:rPr lang="en-US" altLang="zh-CN" sz="1400" b="1" dirty="0">
                <a:latin typeface="Times New Roman" pitchFamily="18" charset="0"/>
                <a:cs typeface="Times New Roman" pitchFamily="18" charset="0"/>
                <a:sym typeface="Arial" pitchFamily="34" charset="0"/>
              </a:rPr>
              <a:t>)</a:t>
            </a:r>
            <a:r>
              <a:rPr lang="zh-CN" altLang="en-US" sz="1400" b="1" dirty="0">
                <a:latin typeface="Times New Roman" pitchFamily="18" charset="0"/>
                <a:cs typeface="Times New Roman" pitchFamily="18" charset="0"/>
                <a:sym typeface="Arial" pitchFamily="34" charset="0"/>
              </a:rPr>
              <a:t>；</a:t>
            </a:r>
          </a:p>
          <a:p>
            <a:pPr marL="272654" indent="-272654">
              <a:spcBef>
                <a:spcPts val="0"/>
              </a:spcBef>
              <a:buFont typeface="Wingdings" pitchFamily="2" charset="2"/>
              <a:buNone/>
              <a:defRPr/>
            </a:pPr>
            <a:r>
              <a:rPr lang="en-US" altLang="zh-CN" sz="1400" b="1" i="1" dirty="0">
                <a:solidFill>
                  <a:srgbClr val="FF9900"/>
                </a:solidFill>
                <a:latin typeface="Times New Roman" pitchFamily="18" charset="0"/>
                <a:cs typeface="Times New Roman" pitchFamily="18" charset="0"/>
                <a:sym typeface="Arial" pitchFamily="34" charset="0"/>
              </a:rPr>
              <a:t>	   </a:t>
            </a:r>
            <a:r>
              <a:rPr lang="en-US" altLang="zh-CN" sz="1400" b="1" i="1" dirty="0">
                <a:solidFill>
                  <a:schemeClr val="hlink"/>
                </a:solidFill>
                <a:latin typeface="Times New Roman" pitchFamily="18" charset="0"/>
                <a:cs typeface="Times New Roman" pitchFamily="18" charset="0"/>
              </a:rPr>
              <a:t>T</a:t>
            </a:r>
            <a:r>
              <a:rPr lang="zh-CN" altLang="en-US" sz="1400" b="1" baseline="-25000" dirty="0">
                <a:solidFill>
                  <a:schemeClr val="hlink"/>
                </a:solidFill>
                <a:latin typeface="Times New Roman" pitchFamily="18" charset="0"/>
                <a:cs typeface="Times New Roman" pitchFamily="18" charset="0"/>
              </a:rPr>
              <a:t>1</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err="1">
                <a:solidFill>
                  <a:schemeClr val="hlink"/>
                </a:solidFill>
                <a:latin typeface="Times New Roman" pitchFamily="18" charset="0"/>
                <a:cs typeface="Times New Roman" pitchFamily="18" charset="0"/>
              </a:rPr>
              <a:t>inh</a:t>
            </a:r>
            <a:r>
              <a:rPr lang="en-US" altLang="zh-CN" sz="1400" b="1" i="1" dirty="0">
                <a:solidFill>
                  <a:schemeClr val="hlink"/>
                </a:solidFill>
                <a:latin typeface="Times New Roman" pitchFamily="18" charset="0"/>
                <a:cs typeface="Times New Roman" pitchFamily="18" charset="0"/>
              </a:rPr>
              <a:t>= </a:t>
            </a:r>
            <a:r>
              <a:rPr lang="zh-CN" altLang="en-US" sz="1400" b="1" i="1" dirty="0">
                <a:solidFill>
                  <a:schemeClr val="hlink"/>
                </a:solidFill>
                <a:latin typeface="Times New Roman" pitchFamily="18" charset="0"/>
                <a:cs typeface="Times New Roman" pitchFamily="18" charset="0"/>
              </a:rPr>
              <a:t>T</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err="1">
                <a:solidFill>
                  <a:schemeClr val="hlink"/>
                </a:solidFill>
                <a:latin typeface="Times New Roman" pitchFamily="18" charset="0"/>
                <a:cs typeface="Times New Roman" pitchFamily="18" charset="0"/>
              </a:rPr>
              <a:t>inh×Fval</a:t>
            </a:r>
            <a:r>
              <a:rPr lang="zh-CN" altLang="en-US" sz="1400" b="1" dirty="0">
                <a:solidFill>
                  <a:schemeClr val="hlink"/>
                </a:solidFill>
                <a:latin typeface="Times New Roman" pitchFamily="18" charset="0"/>
                <a:cs typeface="Times New Roman" pitchFamily="18" charset="0"/>
              </a:rPr>
              <a:t>；</a:t>
            </a:r>
          </a:p>
          <a:p>
            <a:pPr marL="272654" indent="-272654">
              <a:spcBef>
                <a:spcPts val="0"/>
              </a:spcBef>
              <a:buFont typeface="Wingdings" pitchFamily="2" charset="2"/>
              <a:buNone/>
              <a:defRPr/>
            </a:pPr>
            <a:r>
              <a:rPr lang="en-US" altLang="zh-CN" sz="1400" b="1" i="1" dirty="0">
                <a:latin typeface="Times New Roman" pitchFamily="18" charset="0"/>
                <a:cs typeface="Times New Roman" pitchFamily="18" charset="0"/>
              </a:rPr>
              <a:t>	   </a:t>
            </a:r>
            <a:r>
              <a:rPr lang="en-US" altLang="zh-CN" sz="1400" b="1" i="1" dirty="0" err="1">
                <a:latin typeface="Times New Roman" pitchFamily="18" charset="0"/>
                <a:cs typeface="Times New Roman" pitchFamily="18" charset="0"/>
                <a:sym typeface="Arial" pitchFamily="34" charset="0"/>
              </a:rPr>
              <a:t>Getnext</a:t>
            </a:r>
            <a:r>
              <a:rPr lang="en-US" altLang="zh-CN" sz="1400" b="1" dirty="0">
                <a:latin typeface="Times New Roman" pitchFamily="18" charset="0"/>
                <a:cs typeface="Times New Roman" pitchFamily="18" charset="0"/>
                <a:sym typeface="Arial" pitchFamily="34" charset="0"/>
              </a:rPr>
              <a:t>(</a:t>
            </a:r>
            <a:r>
              <a:rPr lang="en-US" altLang="zh-CN" sz="1400" b="1" i="1" dirty="0">
                <a:latin typeface="Times New Roman" pitchFamily="18" charset="0"/>
                <a:cs typeface="Times New Roman" pitchFamily="18" charset="0"/>
                <a:sym typeface="Arial" pitchFamily="34" charset="0"/>
              </a:rPr>
              <a:t>token</a:t>
            </a:r>
            <a:r>
              <a:rPr lang="en-US" altLang="zh-CN" sz="1400" b="1" dirty="0">
                <a:latin typeface="Times New Roman" pitchFamily="18" charset="0"/>
                <a:cs typeface="Times New Roman" pitchFamily="18" charset="0"/>
                <a:sym typeface="Arial" pitchFamily="34" charset="0"/>
              </a:rPr>
              <a:t>)</a:t>
            </a:r>
            <a:r>
              <a:rPr lang="zh-CN" altLang="en-US" sz="1400" b="1" dirty="0">
                <a:latin typeface="Times New Roman" pitchFamily="18" charset="0"/>
                <a:cs typeface="Times New Roman" pitchFamily="18" charset="0"/>
                <a:sym typeface="Arial" pitchFamily="34" charset="0"/>
              </a:rPr>
              <a:t>；</a:t>
            </a:r>
          </a:p>
          <a:p>
            <a:pPr marL="272654" indent="-272654">
              <a:spcBef>
                <a:spcPts val="0"/>
              </a:spcBef>
              <a:buFont typeface="Wingdings" pitchFamily="2" charset="2"/>
              <a:buNone/>
              <a:defRPr/>
            </a:pPr>
            <a:r>
              <a:rPr lang="en-US" altLang="zh-CN" sz="1400" b="1" i="1" dirty="0">
                <a:latin typeface="Times New Roman" pitchFamily="18" charset="0"/>
                <a:cs typeface="Times New Roman" pitchFamily="18" charset="0"/>
              </a:rPr>
              <a:t>	  </a:t>
            </a:r>
            <a:r>
              <a:rPr lang="en-US" altLang="zh-CN" sz="1400" b="1" i="1" dirty="0">
                <a:solidFill>
                  <a:srgbClr val="FF9900"/>
                </a:solidFill>
                <a:latin typeface="Times New Roman" pitchFamily="18" charset="0"/>
                <a:cs typeface="Times New Roman" pitchFamily="18" charset="0"/>
              </a:rPr>
              <a:t> </a:t>
            </a:r>
            <a:r>
              <a:rPr lang="en-US" altLang="zh-CN" sz="1400" b="1" i="1" dirty="0">
                <a:solidFill>
                  <a:schemeClr val="hlink"/>
                </a:solidFill>
                <a:latin typeface="Times New Roman" pitchFamily="18" charset="0"/>
                <a:cs typeface="Times New Roman" pitchFamily="18" charset="0"/>
              </a:rPr>
              <a:t>T</a:t>
            </a:r>
            <a:r>
              <a:rPr lang="zh-CN" altLang="en-US" sz="1400" b="1" baseline="-25000" dirty="0">
                <a:solidFill>
                  <a:schemeClr val="hlink"/>
                </a:solidFill>
                <a:latin typeface="Times New Roman" pitchFamily="18" charset="0"/>
                <a:cs typeface="Times New Roman" pitchFamily="18" charset="0"/>
              </a:rPr>
              <a:t>1</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a:solidFill>
                  <a:schemeClr val="hlink"/>
                </a:solidFill>
                <a:latin typeface="Times New Roman" pitchFamily="18" charset="0"/>
                <a:cs typeface="Times New Roman" pitchFamily="18" charset="0"/>
              </a:rPr>
              <a:t>syn=</a:t>
            </a:r>
            <a:r>
              <a:rPr lang="en-US" altLang="zh-CN" sz="1400" b="1" i="1" dirty="0">
                <a:latin typeface="Times New Roman" pitchFamily="18" charset="0"/>
                <a:cs typeface="Times New Roman" pitchFamily="18" charset="0"/>
              </a:rPr>
              <a:t>T</a:t>
            </a:r>
            <a:r>
              <a:rPr lang="zh-CN" altLang="en-US" sz="1400" b="1" baseline="-25000" dirty="0">
                <a:latin typeface="Times New Roman" pitchFamily="18" charset="0"/>
                <a:cs typeface="Times New Roman" pitchFamily="18" charset="0"/>
              </a:rPr>
              <a:t>1</a:t>
            </a:r>
            <a:r>
              <a:rPr lang="en-US" altLang="zh-CN" sz="1400" b="1" i="1" dirty="0">
                <a:latin typeface="Times New Roman" pitchFamily="18" charset="0"/>
                <a:ea typeface="楷体" pitchFamily="49" charset="-122"/>
                <a:cs typeface="Times New Roman" pitchFamily="18" charset="0"/>
              </a:rPr>
              <a:t>′</a:t>
            </a:r>
            <a:r>
              <a:rPr lang="en-US" altLang="zh-CN" sz="1400" b="1" i="1" dirty="0">
                <a:latin typeface="Times New Roman" pitchFamily="18" charset="0"/>
                <a:cs typeface="Times New Roman" pitchFamily="18" charset="0"/>
              </a:rPr>
              <a:t>(token, </a:t>
            </a:r>
            <a:r>
              <a:rPr lang="en-US" altLang="zh-CN" sz="1400" b="1" i="1" dirty="0">
                <a:solidFill>
                  <a:schemeClr val="hlink"/>
                </a:solidFill>
                <a:latin typeface="Times New Roman" pitchFamily="18" charset="0"/>
                <a:cs typeface="Times New Roman" pitchFamily="18" charset="0"/>
              </a:rPr>
              <a:t>T</a:t>
            </a:r>
            <a:r>
              <a:rPr lang="zh-CN" altLang="en-US" sz="1400" b="1" baseline="-25000" dirty="0">
                <a:solidFill>
                  <a:schemeClr val="hlink"/>
                </a:solidFill>
                <a:latin typeface="Times New Roman" pitchFamily="18" charset="0"/>
                <a:cs typeface="Times New Roman" pitchFamily="18" charset="0"/>
              </a:rPr>
              <a:t>1</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err="1">
                <a:solidFill>
                  <a:schemeClr val="hlink"/>
                </a:solidFill>
                <a:latin typeface="Times New Roman" pitchFamily="18" charset="0"/>
                <a:cs typeface="Times New Roman" pitchFamily="18" charset="0"/>
              </a:rPr>
              <a:t>inh</a:t>
            </a:r>
            <a:r>
              <a:rPr lang="en-US" altLang="zh-CN" sz="1400" b="1" dirty="0">
                <a:latin typeface="Times New Roman" pitchFamily="18" charset="0"/>
                <a:cs typeface="Times New Roman" pitchFamily="18" charset="0"/>
              </a:rPr>
              <a:t>)</a:t>
            </a:r>
            <a:r>
              <a:rPr lang="zh-CN" altLang="en-US" sz="1400" b="1" dirty="0">
                <a:latin typeface="Times New Roman" pitchFamily="18" charset="0"/>
                <a:cs typeface="Times New Roman" pitchFamily="18" charset="0"/>
              </a:rPr>
              <a:t>；</a:t>
            </a:r>
          </a:p>
          <a:p>
            <a:pPr marL="272654" indent="-272654">
              <a:spcBef>
                <a:spcPts val="0"/>
              </a:spcBef>
              <a:buFont typeface="Wingdings" pitchFamily="2" charset="2"/>
              <a:buNone/>
              <a:defRPr/>
            </a:pPr>
            <a:r>
              <a:rPr lang="en-US" altLang="zh-CN" sz="1400" b="1" i="1" dirty="0">
                <a:latin typeface="Times New Roman" pitchFamily="18" charset="0"/>
                <a:cs typeface="Times New Roman" pitchFamily="18" charset="0"/>
              </a:rPr>
              <a:t>	   </a:t>
            </a:r>
            <a:r>
              <a:rPr lang="zh-CN" altLang="en-US" sz="1400" b="1" i="1" dirty="0">
                <a:solidFill>
                  <a:schemeClr val="hlink"/>
                </a:solidFill>
                <a:latin typeface="Times New Roman" pitchFamily="18" charset="0"/>
                <a:cs typeface="Times New Roman" pitchFamily="18" charset="0"/>
              </a:rPr>
              <a:t>T΄</a:t>
            </a:r>
            <a:r>
              <a:rPr lang="en-US" altLang="zh-CN" sz="1400" b="1" i="1" dirty="0">
                <a:solidFill>
                  <a:schemeClr val="hlink"/>
                </a:solidFill>
                <a:latin typeface="Times New Roman" pitchFamily="18" charset="0"/>
                <a:cs typeface="Times New Roman" pitchFamily="18" charset="0"/>
                <a:sym typeface="Arial" pitchFamily="34" charset="0"/>
              </a:rPr>
              <a:t>syn=</a:t>
            </a:r>
            <a:r>
              <a:rPr lang="en-US" altLang="zh-CN" sz="1400" b="1" i="1" dirty="0">
                <a:solidFill>
                  <a:schemeClr val="hlink"/>
                </a:solidFill>
                <a:latin typeface="Times New Roman" pitchFamily="18" charset="0"/>
                <a:cs typeface="Times New Roman" pitchFamily="18" charset="0"/>
              </a:rPr>
              <a:t>T</a:t>
            </a:r>
            <a:r>
              <a:rPr lang="zh-CN" altLang="en-US" sz="1400" b="1" baseline="-25000" dirty="0">
                <a:solidFill>
                  <a:schemeClr val="hlink"/>
                </a:solidFill>
                <a:latin typeface="Times New Roman" pitchFamily="18" charset="0"/>
                <a:cs typeface="Times New Roman" pitchFamily="18" charset="0"/>
              </a:rPr>
              <a:t>1</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a:solidFill>
                  <a:schemeClr val="hlink"/>
                </a:solidFill>
                <a:latin typeface="Times New Roman" pitchFamily="18" charset="0"/>
                <a:cs typeface="Times New Roman" pitchFamily="18" charset="0"/>
              </a:rPr>
              <a:t>syn</a:t>
            </a:r>
            <a:r>
              <a:rPr lang="zh-CN" altLang="en-US" sz="1400" b="1" dirty="0">
                <a:solidFill>
                  <a:schemeClr val="hlink"/>
                </a:solidFill>
                <a:latin typeface="Times New Roman" pitchFamily="18" charset="0"/>
                <a:cs typeface="Times New Roman" pitchFamily="18" charset="0"/>
              </a:rPr>
              <a:t>；</a:t>
            </a:r>
          </a:p>
          <a:p>
            <a:pPr marL="272654" indent="-272654">
              <a:spcBef>
                <a:spcPts val="0"/>
              </a:spcBef>
              <a:buFont typeface="Wingdings" pitchFamily="2" charset="2"/>
              <a:buNone/>
              <a:defRPr/>
            </a:pPr>
            <a:r>
              <a:rPr lang="en-US" altLang="zh-CN" sz="1400" b="1" i="1" dirty="0">
                <a:solidFill>
                  <a:schemeClr val="hlink"/>
                </a:solidFill>
                <a:latin typeface="Times New Roman" pitchFamily="18" charset="0"/>
                <a:cs typeface="Times New Roman" pitchFamily="18" charset="0"/>
                <a:sym typeface="Arial" pitchFamily="34" charset="0"/>
              </a:rPr>
              <a:t>	   return </a:t>
            </a:r>
            <a:r>
              <a:rPr lang="zh-CN" altLang="en-US" sz="1400" b="1" i="1" dirty="0">
                <a:solidFill>
                  <a:schemeClr val="hlink"/>
                </a:solidFill>
                <a:latin typeface="Times New Roman" pitchFamily="18" charset="0"/>
                <a:cs typeface="Times New Roman" pitchFamily="18" charset="0"/>
              </a:rPr>
              <a:t>T</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a:solidFill>
                  <a:schemeClr val="hlink"/>
                </a:solidFill>
                <a:latin typeface="Times New Roman" pitchFamily="18" charset="0"/>
                <a:cs typeface="Times New Roman" pitchFamily="18" charset="0"/>
                <a:sym typeface="Arial" pitchFamily="34" charset="0"/>
              </a:rPr>
              <a:t>syn</a:t>
            </a:r>
            <a:r>
              <a:rPr lang="zh-CN" altLang="en-US" sz="1400" b="1" dirty="0">
                <a:solidFill>
                  <a:schemeClr val="hlink"/>
                </a:solidFill>
                <a:latin typeface="Times New Roman" pitchFamily="18" charset="0"/>
                <a:cs typeface="Times New Roman" pitchFamily="18" charset="0"/>
                <a:sym typeface="Arial" pitchFamily="34" charset="0"/>
              </a:rPr>
              <a:t>；</a:t>
            </a:r>
          </a:p>
          <a:p>
            <a:pPr marL="272654" indent="-272654">
              <a:spcBef>
                <a:spcPts val="0"/>
              </a:spcBef>
              <a:buFont typeface="Wingdings" pitchFamily="2" charset="2"/>
              <a:buNone/>
              <a:defRPr/>
            </a:pPr>
            <a:r>
              <a:rPr lang="en-US" altLang="zh-CN" sz="1400" b="1" dirty="0">
                <a:latin typeface="Times New Roman" pitchFamily="18" charset="0"/>
                <a:cs typeface="Times New Roman" pitchFamily="18" charset="0"/>
                <a:sym typeface="Arial" pitchFamily="34" charset="0"/>
              </a:rPr>
              <a:t>     }</a:t>
            </a:r>
          </a:p>
          <a:p>
            <a:pPr marL="272654" indent="-272654">
              <a:spcBef>
                <a:spcPts val="0"/>
              </a:spcBef>
              <a:buFont typeface="Wingdings" pitchFamily="2" charset="2"/>
              <a:buNone/>
              <a:defRPr/>
            </a:pPr>
            <a:r>
              <a:rPr lang="en-US" altLang="zh-CN" sz="1400" b="1" i="1" dirty="0">
                <a:latin typeface="Times New Roman" pitchFamily="18" charset="0"/>
                <a:cs typeface="Times New Roman" pitchFamily="18" charset="0"/>
              </a:rPr>
              <a:t>	else if token=</a:t>
            </a:r>
            <a:r>
              <a:rPr lang="el-GR" altLang="zh-CN" sz="1400" b="1" i="1" dirty="0">
                <a:latin typeface="Times New Roman" pitchFamily="18" charset="0"/>
                <a:cs typeface="Times New Roman" pitchFamily="18" charset="0"/>
                <a:sym typeface="Arial" pitchFamily="34" charset="0"/>
              </a:rPr>
              <a:t> </a:t>
            </a:r>
            <a:r>
              <a:rPr lang="en-US" altLang="zh-CN" sz="1400" b="1" i="1" dirty="0">
                <a:latin typeface="Times New Roman" pitchFamily="18" charset="0"/>
                <a:cs typeface="Times New Roman" pitchFamily="18" charset="0"/>
                <a:sym typeface="Arial" pitchFamily="34" charset="0"/>
              </a:rPr>
              <a:t>“ </a:t>
            </a:r>
            <a:r>
              <a:rPr lang="en-US" altLang="zh-CN" sz="1400" b="1" dirty="0">
                <a:latin typeface="+mn-ea"/>
                <a:cs typeface="Times New Roman" pitchFamily="18" charset="0"/>
                <a:sym typeface="Arial" pitchFamily="34" charset="0"/>
              </a:rPr>
              <a:t>$</a:t>
            </a:r>
            <a:r>
              <a:rPr lang="en-US" altLang="zh-CN" sz="1400" b="1" i="1" dirty="0">
                <a:latin typeface="Times New Roman" pitchFamily="18" charset="0"/>
                <a:cs typeface="Times New Roman" pitchFamily="18" charset="0"/>
                <a:sym typeface="Arial" pitchFamily="34" charset="0"/>
              </a:rPr>
              <a:t>”</a:t>
            </a:r>
            <a:r>
              <a:rPr lang="zh-CN" altLang="en-US" sz="1400" b="1" i="1" dirty="0">
                <a:latin typeface="Times New Roman" pitchFamily="18" charset="0"/>
                <a:cs typeface="Times New Roman" pitchFamily="18" charset="0"/>
                <a:sym typeface="Arial" pitchFamily="34" charset="0"/>
              </a:rPr>
              <a:t> </a:t>
            </a:r>
            <a:r>
              <a:rPr lang="en-US" altLang="zh-CN" sz="1400" b="1" i="1" dirty="0">
                <a:latin typeface="Times New Roman" pitchFamily="18" charset="0"/>
                <a:cs typeface="Times New Roman" pitchFamily="18" charset="0"/>
                <a:sym typeface="Arial" pitchFamily="34" charset="0"/>
              </a:rPr>
              <a:t>then</a:t>
            </a:r>
          </a:p>
          <a:p>
            <a:pPr marL="272654" indent="-272654">
              <a:spcBef>
                <a:spcPts val="0"/>
              </a:spcBef>
              <a:buFont typeface="Wingdings" pitchFamily="2" charset="2"/>
              <a:buNone/>
              <a:defRPr/>
            </a:pPr>
            <a:r>
              <a:rPr lang="en-US" altLang="zh-CN" sz="1400" b="1" i="1" dirty="0">
                <a:latin typeface="Times New Roman" pitchFamily="18" charset="0"/>
                <a:cs typeface="Times New Roman" pitchFamily="18" charset="0"/>
                <a:sym typeface="Arial" pitchFamily="34" charset="0"/>
              </a:rPr>
              <a:t>     </a:t>
            </a:r>
            <a:r>
              <a:rPr lang="en-US" altLang="zh-CN" sz="1400" b="1" dirty="0">
                <a:latin typeface="Times New Roman" pitchFamily="18" charset="0"/>
                <a:cs typeface="Times New Roman" pitchFamily="18" charset="0"/>
                <a:sym typeface="Arial" pitchFamily="34" charset="0"/>
              </a:rPr>
              <a:t>{ </a:t>
            </a:r>
            <a:r>
              <a:rPr lang="en-US" altLang="zh-CN" sz="1400" b="1" i="1" dirty="0">
                <a:latin typeface="Times New Roman" pitchFamily="18" charset="0"/>
                <a:cs typeface="Times New Roman" pitchFamily="18" charset="0"/>
                <a:sym typeface="Arial" pitchFamily="34" charset="0"/>
              </a:rPr>
              <a:t> </a:t>
            </a:r>
            <a:r>
              <a:rPr lang="zh-CN" altLang="en-US" sz="1400" b="1" i="1" dirty="0">
                <a:solidFill>
                  <a:schemeClr val="hlink"/>
                </a:solidFill>
                <a:latin typeface="Times New Roman" pitchFamily="18" charset="0"/>
                <a:cs typeface="Times New Roman" pitchFamily="18" charset="0"/>
              </a:rPr>
              <a:t>T</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a:solidFill>
                  <a:schemeClr val="hlink"/>
                </a:solidFill>
                <a:latin typeface="Times New Roman" pitchFamily="18" charset="0"/>
                <a:cs typeface="Times New Roman" pitchFamily="18" charset="0"/>
                <a:sym typeface="Arial" pitchFamily="34" charset="0"/>
              </a:rPr>
              <a:t>syn= </a:t>
            </a:r>
            <a:r>
              <a:rPr lang="zh-CN" altLang="en-US" sz="1400" b="1" i="1" dirty="0">
                <a:solidFill>
                  <a:schemeClr val="hlink"/>
                </a:solidFill>
                <a:latin typeface="Times New Roman" pitchFamily="18" charset="0"/>
                <a:cs typeface="Times New Roman" pitchFamily="18" charset="0"/>
              </a:rPr>
              <a:t>T</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err="1">
                <a:solidFill>
                  <a:schemeClr val="hlink"/>
                </a:solidFill>
                <a:latin typeface="Times New Roman" pitchFamily="18" charset="0"/>
                <a:cs typeface="Times New Roman" pitchFamily="18" charset="0"/>
                <a:sym typeface="Arial" pitchFamily="34" charset="0"/>
              </a:rPr>
              <a:t>inh</a:t>
            </a:r>
            <a:r>
              <a:rPr lang="zh-CN" altLang="en-US" sz="1400" b="1" dirty="0">
                <a:solidFill>
                  <a:schemeClr val="hlink"/>
                </a:solidFill>
                <a:latin typeface="Times New Roman" pitchFamily="18" charset="0"/>
                <a:cs typeface="Times New Roman" pitchFamily="18" charset="0"/>
                <a:sym typeface="Arial" pitchFamily="34" charset="0"/>
              </a:rPr>
              <a:t>；</a:t>
            </a:r>
          </a:p>
          <a:p>
            <a:pPr marL="272654" indent="-272654">
              <a:spcBef>
                <a:spcPts val="0"/>
              </a:spcBef>
              <a:buFont typeface="Wingdings" pitchFamily="2" charset="2"/>
              <a:buNone/>
              <a:defRPr/>
            </a:pPr>
            <a:r>
              <a:rPr lang="en-US" altLang="zh-CN" sz="1400" b="1" i="1" dirty="0">
                <a:solidFill>
                  <a:schemeClr val="hlink"/>
                </a:solidFill>
                <a:latin typeface="Times New Roman" pitchFamily="18" charset="0"/>
                <a:cs typeface="Times New Roman" pitchFamily="18" charset="0"/>
                <a:sym typeface="Arial" pitchFamily="34" charset="0"/>
              </a:rPr>
              <a:t>	   return </a:t>
            </a:r>
            <a:r>
              <a:rPr lang="zh-CN" altLang="en-US" sz="1400" b="1" i="1" dirty="0">
                <a:solidFill>
                  <a:schemeClr val="hlink"/>
                </a:solidFill>
                <a:latin typeface="Times New Roman" pitchFamily="18" charset="0"/>
                <a:cs typeface="Times New Roman" pitchFamily="18" charset="0"/>
              </a:rPr>
              <a:t>T</a:t>
            </a:r>
            <a:r>
              <a:rPr lang="en-US" altLang="zh-CN" sz="1400" b="1" i="1" dirty="0">
                <a:solidFill>
                  <a:schemeClr val="tx2">
                    <a:lumMod val="60000"/>
                    <a:lumOff val="40000"/>
                  </a:schemeClr>
                </a:solidFill>
                <a:latin typeface="Times New Roman" pitchFamily="18" charset="0"/>
                <a:ea typeface="楷体" pitchFamily="49" charset="-122"/>
                <a:cs typeface="Times New Roman" pitchFamily="18" charset="0"/>
              </a:rPr>
              <a:t>′</a:t>
            </a:r>
            <a:r>
              <a:rPr lang="en-US" altLang="zh-CN" sz="1400" b="1" i="1" dirty="0">
                <a:solidFill>
                  <a:schemeClr val="hlink"/>
                </a:solidFill>
                <a:latin typeface="Times New Roman" pitchFamily="18" charset="0"/>
                <a:cs typeface="Times New Roman" pitchFamily="18" charset="0"/>
                <a:sym typeface="Arial" pitchFamily="34" charset="0"/>
              </a:rPr>
              <a:t>syn</a:t>
            </a:r>
            <a:r>
              <a:rPr lang="zh-CN" altLang="en-US" sz="1400" b="1" dirty="0">
                <a:solidFill>
                  <a:schemeClr val="hlink"/>
                </a:solidFill>
                <a:latin typeface="Times New Roman" pitchFamily="18" charset="0"/>
                <a:cs typeface="Times New Roman" pitchFamily="18" charset="0"/>
                <a:sym typeface="Arial" pitchFamily="34" charset="0"/>
              </a:rPr>
              <a:t>；</a:t>
            </a:r>
          </a:p>
          <a:p>
            <a:pPr marL="272654" indent="-272654">
              <a:spcBef>
                <a:spcPts val="0"/>
              </a:spcBef>
              <a:buFont typeface="Wingdings" pitchFamily="2" charset="2"/>
              <a:buNone/>
              <a:defRPr/>
            </a:pPr>
            <a:r>
              <a:rPr lang="en-US" altLang="zh-CN" sz="1400" b="1" dirty="0">
                <a:latin typeface="Times New Roman" pitchFamily="18" charset="0"/>
                <a:cs typeface="Times New Roman" pitchFamily="18" charset="0"/>
                <a:sym typeface="Arial" pitchFamily="34" charset="0"/>
              </a:rPr>
              <a:t>     }</a:t>
            </a:r>
          </a:p>
          <a:p>
            <a:pPr marL="272654" indent="-272654">
              <a:spcBef>
                <a:spcPts val="0"/>
              </a:spcBef>
              <a:buFont typeface="Wingdings" pitchFamily="2" charset="2"/>
              <a:buNone/>
              <a:defRPr/>
            </a:pPr>
            <a:r>
              <a:rPr lang="en-US" altLang="zh-CN" sz="1400" b="1" i="1" dirty="0">
                <a:latin typeface="Times New Roman" pitchFamily="18" charset="0"/>
                <a:cs typeface="Times New Roman" pitchFamily="18" charset="0"/>
                <a:sym typeface="Arial" pitchFamily="34" charset="0"/>
              </a:rPr>
              <a:t>     else Error</a:t>
            </a:r>
            <a:r>
              <a:rPr lang="zh-CN" altLang="en-US" sz="1400" b="1" dirty="0">
                <a:latin typeface="Times New Roman" pitchFamily="18" charset="0"/>
                <a:cs typeface="Times New Roman" pitchFamily="18" charset="0"/>
                <a:sym typeface="Arial" pitchFamily="34" charset="0"/>
              </a:rPr>
              <a:t>；</a:t>
            </a:r>
          </a:p>
          <a:p>
            <a:pPr marL="272654" indent="-272654">
              <a:spcBef>
                <a:spcPts val="0"/>
              </a:spcBef>
              <a:buFont typeface="Wingdings" pitchFamily="2" charset="2"/>
              <a:buNone/>
              <a:defRPr/>
            </a:pPr>
            <a:r>
              <a:rPr lang="en-US" altLang="zh-CN" sz="1400" b="1" dirty="0">
                <a:latin typeface="Times New Roman" pitchFamily="18" charset="0"/>
                <a:cs typeface="Times New Roman" pitchFamily="18" charset="0"/>
                <a:sym typeface="Arial" pitchFamily="34" charset="0"/>
              </a:rPr>
              <a:t>}</a:t>
            </a:r>
            <a:endParaRPr lang="zh-CN" altLang="en-US" sz="1400" b="1" dirty="0">
              <a:latin typeface="Times New Roman" pitchFamily="18" charset="0"/>
              <a:cs typeface="Times New Roman" pitchFamily="18" charset="0"/>
              <a:sym typeface="Arial" pitchFamily="34" charset="0"/>
            </a:endParaRPr>
          </a:p>
        </p:txBody>
      </p:sp>
      <p:grpSp>
        <p:nvGrpSpPr>
          <p:cNvPr id="3" name="组合 5">
            <a:extLst>
              <a:ext uri="{FF2B5EF4-FFF2-40B4-BE49-F238E27FC236}">
                <a16:creationId xmlns:a16="http://schemas.microsoft.com/office/drawing/2014/main" id="{9106AB10-B079-4755-9919-59BE56F9B602}"/>
              </a:ext>
            </a:extLst>
          </p:cNvPr>
          <p:cNvGrpSpPr>
            <a:grpSpLocks/>
          </p:cNvGrpSpPr>
          <p:nvPr/>
        </p:nvGrpSpPr>
        <p:grpSpPr bwMode="auto">
          <a:xfrm>
            <a:off x="1365250" y="1800225"/>
            <a:ext cx="5140325" cy="3255963"/>
            <a:chOff x="1365250" y="1800225"/>
            <a:chExt cx="5140325" cy="3255963"/>
          </a:xfrm>
        </p:grpSpPr>
        <p:sp>
          <p:nvSpPr>
            <p:cNvPr id="4" name="Line 7">
              <a:extLst>
                <a:ext uri="{FF2B5EF4-FFF2-40B4-BE49-F238E27FC236}">
                  <a16:creationId xmlns:a16="http://schemas.microsoft.com/office/drawing/2014/main" id="{CB007BBA-1A44-48D3-BD93-417ED9E0C0B6}"/>
                </a:ext>
              </a:extLst>
            </p:cNvPr>
            <p:cNvSpPr>
              <a:spLocks noChangeShapeType="1"/>
            </p:cNvSpPr>
            <p:nvPr/>
          </p:nvSpPr>
          <p:spPr bwMode="auto">
            <a:xfrm flipV="1">
              <a:off x="5892800" y="1800225"/>
              <a:ext cx="612775" cy="26320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5" name="Line 8">
              <a:extLst>
                <a:ext uri="{FF2B5EF4-FFF2-40B4-BE49-F238E27FC236}">
                  <a16:creationId xmlns:a16="http://schemas.microsoft.com/office/drawing/2014/main" id="{EDF44A19-5C5A-4BBB-AD02-D8308F97943F}"/>
                </a:ext>
              </a:extLst>
            </p:cNvPr>
            <p:cNvSpPr>
              <a:spLocks noChangeShapeType="1"/>
            </p:cNvSpPr>
            <p:nvPr/>
          </p:nvSpPr>
          <p:spPr bwMode="auto">
            <a:xfrm flipV="1">
              <a:off x="5892800" y="2859087"/>
              <a:ext cx="611264" cy="157321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6" name="Line 9">
              <a:extLst>
                <a:ext uri="{FF2B5EF4-FFF2-40B4-BE49-F238E27FC236}">
                  <a16:creationId xmlns:a16="http://schemas.microsoft.com/office/drawing/2014/main" id="{43E71A01-6BEE-43A8-BFA3-F8E652AA3B4A}"/>
                </a:ext>
              </a:extLst>
            </p:cNvPr>
            <p:cNvSpPr>
              <a:spLocks noChangeShapeType="1"/>
            </p:cNvSpPr>
            <p:nvPr/>
          </p:nvSpPr>
          <p:spPr bwMode="auto">
            <a:xfrm flipV="1">
              <a:off x="5892801" y="4233861"/>
              <a:ext cx="611264" cy="198438"/>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7" name="Rectangle 11">
              <a:extLst>
                <a:ext uri="{FF2B5EF4-FFF2-40B4-BE49-F238E27FC236}">
                  <a16:creationId xmlns:a16="http://schemas.microsoft.com/office/drawing/2014/main" id="{654257D5-8422-40CB-84A7-29D30726C70B}"/>
                </a:ext>
              </a:extLst>
            </p:cNvPr>
            <p:cNvSpPr>
              <a:spLocks noChangeArrowheads="1"/>
            </p:cNvSpPr>
            <p:nvPr/>
          </p:nvSpPr>
          <p:spPr bwMode="auto">
            <a:xfrm>
              <a:off x="1365250" y="4432300"/>
              <a:ext cx="4635500" cy="623888"/>
            </a:xfrm>
            <a:prstGeom prst="rect">
              <a:avLst/>
            </a:prstGeom>
            <a:solidFill>
              <a:schemeClr val="accent5">
                <a:lumMod val="60000"/>
                <a:lumOff val="40000"/>
              </a:schemeClr>
            </a:solidFill>
            <a:ln w="12700">
              <a:solidFill>
                <a:schemeClr val="tx1"/>
              </a:solidFill>
              <a:miter lim="800000"/>
              <a:headEnd/>
              <a:tailEnd/>
            </a:ln>
          </p:spPr>
          <p:txBody>
            <a:bodyPr lIns="68580" tIns="34290" rIns="68580" bIns="34290">
              <a:spAutoFit/>
            </a:bodyPr>
            <a:lstStyle/>
            <a:p>
              <a:pPr eaLnBrk="1" hangingPunct="1">
                <a:spcBef>
                  <a:spcPct val="30000"/>
                </a:spcBef>
                <a:defRPr/>
              </a:pPr>
              <a:r>
                <a:rPr lang="zh-CN" altLang="en-US" dirty="0">
                  <a:latin typeface="楷体" pitchFamily="49" charset="-122"/>
                  <a:ea typeface="楷体" pitchFamily="49" charset="-122"/>
                  <a:cs typeface="Times New Roman" pitchFamily="18" charset="0"/>
                </a:rPr>
                <a:t>对于每个动作，将其代码复制到语法分析器，并把对属性的引用改为对相应变量的引用</a:t>
              </a:r>
            </a:p>
          </p:txBody>
        </p:sp>
      </p:grpSp>
      <p:sp>
        <p:nvSpPr>
          <p:cNvPr id="11" name="Rectangle 3">
            <a:extLst>
              <a:ext uri="{FF2B5EF4-FFF2-40B4-BE49-F238E27FC236}">
                <a16:creationId xmlns:a16="http://schemas.microsoft.com/office/drawing/2014/main" id="{E1EBC5EE-CEF4-453C-BBF6-66DC5E70F5F9}"/>
              </a:ext>
            </a:extLst>
          </p:cNvPr>
          <p:cNvSpPr txBox="1">
            <a:spLocks noChangeArrowheads="1"/>
          </p:cNvSpPr>
          <p:nvPr/>
        </p:nvSpPr>
        <p:spPr bwMode="auto">
          <a:xfrm>
            <a:off x="98425" y="1404938"/>
            <a:ext cx="4543425" cy="3027362"/>
          </a:xfrm>
          <a:prstGeom prst="rect">
            <a:avLst/>
          </a:prstGeom>
          <a:noFill/>
          <a:ln>
            <a:noFill/>
          </a:ln>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Char char="Ø"/>
              <a:defRPr/>
            </a:pPr>
            <a:r>
              <a:rPr lang="zh-CN" altLang="en-US" sz="2400" dirty="0">
                <a:latin typeface="华文楷体" panose="02010600040101010101" pitchFamily="2" charset="-122"/>
                <a:ea typeface="华文楷体" panose="02010600040101010101" pitchFamily="2" charset="-122"/>
              </a:rPr>
              <a:t>例</a:t>
            </a:r>
            <a:endParaRPr lang="en-US" altLang="zh-CN" sz="2400" dirty="0">
              <a:latin typeface="华文楷体" panose="02010600040101010101" pitchFamily="2" charset="-122"/>
              <a:ea typeface="华文楷体" panose="02010600040101010101" pitchFamily="2" charset="-122"/>
            </a:endParaRPr>
          </a:p>
          <a:p>
            <a:pPr eaLnBrk="1" hangingPunct="1">
              <a:spcBef>
                <a:spcPct val="20000"/>
              </a:spcBef>
              <a:buSzPct val="100000"/>
              <a:defRPr/>
            </a:pPr>
            <a:r>
              <a:rPr lang="en-US" altLang="zh-CN" sz="2000" i="1" dirty="0">
                <a:latin typeface="Times New Roman" panose="02020603050405020304" pitchFamily="18" charset="0"/>
              </a:rPr>
              <a:t>SDT</a:t>
            </a:r>
            <a:r>
              <a:rPr lang="zh-CN" altLang="en-US"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i="1" dirty="0" err="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F.val</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 </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2)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F</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 {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zh-CN" altLang="en-US" sz="2000" baseline="-25000" dirty="0">
                <a:solidFill>
                  <a:schemeClr val="tx2">
                    <a:lumMod val="60000"/>
                    <a:lumOff val="40000"/>
                  </a:schemeClr>
                </a:solidFill>
                <a:latin typeface="Times New Roman" panose="02020603050405020304" pitchFamily="18" charset="0"/>
                <a:cs typeface="Times New Roman" panose="02020603050405020304" pitchFamily="18" charset="0"/>
              </a:rPr>
              <a:t>1</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.inh </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.inh</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zh-CN" altLang="en-US" sz="2000" baseline="-25000" dirty="0">
                <a:solidFill>
                  <a:schemeClr val="tx2">
                    <a:lumMod val="60000"/>
                    <a:lumOff val="40000"/>
                  </a:schemeClr>
                </a:solidFill>
                <a:latin typeface="Times New Roman" panose="02020603050405020304" pitchFamily="18" charset="0"/>
                <a:cs typeface="Times New Roman" panose="02020603050405020304" pitchFamily="18" charset="0"/>
              </a:rPr>
              <a:t>1</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 </a:t>
            </a:r>
            <a:endPar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endParaRP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	{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syn</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zh-CN" altLang="en-US" sz="2000" baseline="-25000" dirty="0">
                <a:solidFill>
                  <a:schemeClr val="tx2">
                    <a:lumMod val="60000"/>
                    <a:lumOff val="40000"/>
                  </a:schemeClr>
                </a:solidFill>
                <a:latin typeface="Times New Roman" panose="02020603050405020304" pitchFamily="18" charset="0"/>
                <a:cs typeface="Times New Roman" panose="02020603050405020304" pitchFamily="18" charset="0"/>
              </a:rPr>
              <a:t>1</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syn</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3)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syn</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rPr>
              <a:t>inh</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latin typeface="Times New Roman" panose="02020603050405020304" pitchFamily="18" charset="0"/>
              <a:cs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defRPr/>
            </a:pPr>
            <a:endParaRPr lang="zh-CN" altLang="en-US" sz="1500" dirty="0"/>
          </a:p>
        </p:txBody>
      </p:sp>
      <p:sp>
        <p:nvSpPr>
          <p:cNvPr id="12" name="Rectangle 2">
            <a:extLst>
              <a:ext uri="{FF2B5EF4-FFF2-40B4-BE49-F238E27FC236}">
                <a16:creationId xmlns:a16="http://schemas.microsoft.com/office/drawing/2014/main" id="{2D3588A7-7487-4B35-B70C-ABD8ED0D82BE}"/>
              </a:ext>
            </a:extLst>
          </p:cNvPr>
          <p:cNvSpPr txBox="1">
            <a:spLocks noChangeArrowheads="1"/>
          </p:cNvSpPr>
          <p:nvPr/>
        </p:nvSpPr>
        <p:spPr>
          <a:xfrm>
            <a:off x="755650" y="268288"/>
            <a:ext cx="7931150" cy="358775"/>
          </a:xfrm>
          <a:prstGeom prst="rect">
            <a:avLst/>
          </a:prstGeom>
        </p:spPr>
        <p:txBody>
          <a:bodyPr/>
          <a:lstStyle>
            <a:lvl1pPr algn="l" defTabSz="914400">
              <a:lnSpc>
                <a:spcPct val="90000"/>
              </a:lnSpc>
              <a:spcBef>
                <a:spcPts val="0"/>
              </a:spcBef>
              <a:buNone/>
              <a:defRPr sz="4400">
                <a:solidFill>
                  <a:schemeClr val="tx1"/>
                </a:solidFill>
                <a:latin typeface="Ubuntu Mono derivative Powerlin"/>
                <a:ea typeface="+mj-ea"/>
                <a:cs typeface="+mj-cs"/>
              </a:defRPr>
            </a:lvl1pPr>
          </a:lstStyle>
          <a:p>
            <a:pPr>
              <a:defRPr/>
            </a:pPr>
            <a:r>
              <a:rPr kumimoji="1" lang="zh-CN" altLang="en-US" sz="2400" spc="300" dirty="0">
                <a:latin typeface="微软雅黑" pitchFamily="34" charset="-122"/>
                <a:ea typeface="微软雅黑" pitchFamily="34" charset="-122"/>
                <a:cs typeface="Times New Roman" pitchFamily="18" charset="0"/>
              </a:rPr>
              <a:t>算术表达式计算的例子</a:t>
            </a:r>
          </a:p>
        </p:txBody>
      </p:sp>
      <p:grpSp>
        <p:nvGrpSpPr>
          <p:cNvPr id="13" name="组合 3">
            <a:extLst>
              <a:ext uri="{FF2B5EF4-FFF2-40B4-BE49-F238E27FC236}">
                <a16:creationId xmlns:a16="http://schemas.microsoft.com/office/drawing/2014/main" id="{28EABEEA-CE3C-4804-BF32-EE7375B25F55}"/>
              </a:ext>
            </a:extLst>
          </p:cNvPr>
          <p:cNvGrpSpPr>
            <a:grpSpLocks/>
          </p:cNvGrpSpPr>
          <p:nvPr/>
        </p:nvGrpSpPr>
        <p:grpSpPr bwMode="auto">
          <a:xfrm>
            <a:off x="1365250" y="279400"/>
            <a:ext cx="4719638" cy="1485900"/>
            <a:chOff x="1365250" y="278684"/>
            <a:chExt cx="4719397" cy="1486914"/>
          </a:xfrm>
        </p:grpSpPr>
        <p:sp>
          <p:nvSpPr>
            <p:cNvPr id="14" name="矩形 13">
              <a:extLst>
                <a:ext uri="{FF2B5EF4-FFF2-40B4-BE49-F238E27FC236}">
                  <a16:creationId xmlns:a16="http://schemas.microsoft.com/office/drawing/2014/main" id="{E2DB5095-DE7C-40EB-A314-28E3C27466BF}"/>
                </a:ext>
              </a:extLst>
            </p:cNvPr>
            <p:cNvSpPr/>
            <p:nvPr/>
          </p:nvSpPr>
          <p:spPr>
            <a:xfrm>
              <a:off x="1365250" y="842632"/>
              <a:ext cx="4043157" cy="922966"/>
            </a:xfrm>
            <a:prstGeom prst="rect">
              <a:avLst/>
            </a:prstGeom>
            <a:solidFill>
              <a:schemeClr val="accent5">
                <a:lumMod val="60000"/>
                <a:lumOff val="40000"/>
              </a:schemeClr>
            </a:solidFill>
            <a:ln>
              <a:solidFill>
                <a:schemeClr val="tx1"/>
              </a:solidFill>
            </a:ln>
          </p:spPr>
          <p:txBody>
            <a:bodyPr>
              <a:spAutoFit/>
            </a:bodyPr>
            <a:lstStyle/>
            <a:p>
              <a:pPr eaLnBrk="1" hangingPunct="1">
                <a:defRPr/>
              </a:pPr>
              <a:r>
                <a:rPr lang="zh-CN" altLang="en-US" dirty="0">
                  <a:solidFill>
                    <a:prstClr val="black"/>
                  </a:solidFill>
                  <a:latin typeface="Times New Roman" pitchFamily="18" charset="0"/>
                  <a:ea typeface="楷体" pitchFamily="49" charset="-122"/>
                  <a:cs typeface="Times New Roman" pitchFamily="18" charset="0"/>
                </a:rPr>
                <a:t>为每个非终结符</a:t>
              </a:r>
              <a:r>
                <a:rPr lang="en-US" altLang="zh-CN" i="1" dirty="0">
                  <a:solidFill>
                    <a:prstClr val="black"/>
                  </a:solidFill>
                  <a:latin typeface="Times New Roman" pitchFamily="18" charset="0"/>
                  <a:ea typeface="楷体" pitchFamily="49" charset="-122"/>
                  <a:cs typeface="Times New Roman" pitchFamily="18" charset="0"/>
                </a:rPr>
                <a:t>A</a:t>
              </a:r>
              <a:r>
                <a:rPr lang="zh-CN" altLang="en-US" dirty="0">
                  <a:solidFill>
                    <a:prstClr val="black"/>
                  </a:solidFill>
                  <a:latin typeface="Times New Roman" pitchFamily="18" charset="0"/>
                  <a:ea typeface="楷体" pitchFamily="49" charset="-122"/>
                  <a:cs typeface="Times New Roman" pitchFamily="18" charset="0"/>
                </a:rPr>
                <a:t>构造一个</a:t>
              </a:r>
              <a:r>
                <a:rPr lang="zh-CN" altLang="en-US" dirty="0">
                  <a:solidFill>
                    <a:srgbClr val="0000FF"/>
                  </a:solidFill>
                  <a:latin typeface="Times New Roman" pitchFamily="18" charset="0"/>
                  <a:ea typeface="楷体" pitchFamily="49" charset="-122"/>
                  <a:cs typeface="Times New Roman" pitchFamily="18" charset="0"/>
                </a:rPr>
                <a:t>函数</a:t>
              </a:r>
              <a:r>
                <a:rPr lang="zh-CN" altLang="en-US" dirty="0">
                  <a:solidFill>
                    <a:prstClr val="black"/>
                  </a:solidFill>
                  <a:latin typeface="Times New Roman" pitchFamily="18" charset="0"/>
                  <a:ea typeface="楷体" pitchFamily="49" charset="-122"/>
                  <a:cs typeface="Times New Roman" pitchFamily="18" charset="0"/>
                </a:rPr>
                <a:t>，</a:t>
              </a:r>
              <a:r>
                <a:rPr lang="en-US" altLang="zh-CN" i="1" dirty="0">
                  <a:solidFill>
                    <a:prstClr val="black"/>
                  </a:solidFill>
                  <a:latin typeface="Times New Roman" pitchFamily="18" charset="0"/>
                  <a:ea typeface="楷体" pitchFamily="49" charset="-122"/>
                  <a:cs typeface="Times New Roman" pitchFamily="18" charset="0"/>
                </a:rPr>
                <a:t>A</a:t>
              </a:r>
              <a:r>
                <a:rPr lang="zh-CN" altLang="en-US" dirty="0">
                  <a:solidFill>
                    <a:prstClr val="black"/>
                  </a:solidFill>
                  <a:latin typeface="Times New Roman" pitchFamily="18" charset="0"/>
                  <a:ea typeface="楷体" pitchFamily="49" charset="-122"/>
                  <a:cs typeface="Times New Roman" pitchFamily="18" charset="0"/>
                </a:rPr>
                <a:t>的每个</a:t>
              </a:r>
              <a:r>
                <a:rPr lang="zh-CN" altLang="en-US" dirty="0">
                  <a:solidFill>
                    <a:srgbClr val="0000FF"/>
                  </a:solidFill>
                  <a:latin typeface="Times New Roman" pitchFamily="18" charset="0"/>
                  <a:ea typeface="楷体" pitchFamily="49" charset="-122"/>
                  <a:cs typeface="Times New Roman" pitchFamily="18" charset="0"/>
                </a:rPr>
                <a:t>继承属性</a:t>
              </a:r>
              <a:r>
                <a:rPr lang="zh-CN" altLang="en-US" dirty="0">
                  <a:solidFill>
                    <a:prstClr val="black"/>
                  </a:solidFill>
                  <a:latin typeface="Times New Roman" pitchFamily="18" charset="0"/>
                  <a:ea typeface="楷体" pitchFamily="49" charset="-122"/>
                  <a:cs typeface="Times New Roman" pitchFamily="18" charset="0"/>
                </a:rPr>
                <a:t>对应该函数的一个</a:t>
              </a:r>
              <a:r>
                <a:rPr lang="zh-CN" altLang="en-US" dirty="0">
                  <a:solidFill>
                    <a:srgbClr val="0000FF"/>
                  </a:solidFill>
                  <a:latin typeface="Times New Roman" pitchFamily="18" charset="0"/>
                  <a:ea typeface="楷体" pitchFamily="49" charset="-122"/>
                  <a:cs typeface="Times New Roman" pitchFamily="18" charset="0"/>
                </a:rPr>
                <a:t>形参</a:t>
              </a:r>
              <a:r>
                <a:rPr lang="zh-CN" altLang="en-US" dirty="0">
                  <a:solidFill>
                    <a:prstClr val="black"/>
                  </a:solidFill>
                  <a:latin typeface="Times New Roman" pitchFamily="18" charset="0"/>
                  <a:ea typeface="楷体" pitchFamily="49" charset="-122"/>
                  <a:cs typeface="Times New Roman" pitchFamily="18" charset="0"/>
                </a:rPr>
                <a:t>，函数的</a:t>
              </a:r>
              <a:r>
                <a:rPr lang="zh-CN" altLang="en-US" dirty="0">
                  <a:solidFill>
                    <a:srgbClr val="0000FF"/>
                  </a:solidFill>
                  <a:latin typeface="Times New Roman" pitchFamily="18" charset="0"/>
                  <a:ea typeface="楷体" pitchFamily="49" charset="-122"/>
                  <a:cs typeface="Times New Roman" pitchFamily="18" charset="0"/>
                </a:rPr>
                <a:t>返回值</a:t>
              </a:r>
              <a:r>
                <a:rPr lang="zh-CN" altLang="en-US" dirty="0">
                  <a:solidFill>
                    <a:prstClr val="black"/>
                  </a:solidFill>
                  <a:latin typeface="Times New Roman" pitchFamily="18" charset="0"/>
                  <a:ea typeface="楷体" pitchFamily="49" charset="-122"/>
                  <a:cs typeface="Times New Roman" pitchFamily="18" charset="0"/>
                </a:rPr>
                <a:t>是</a:t>
              </a:r>
              <a:r>
                <a:rPr lang="en-US" altLang="zh-CN" i="1" dirty="0">
                  <a:solidFill>
                    <a:prstClr val="black"/>
                  </a:solidFill>
                  <a:latin typeface="Times New Roman" pitchFamily="18" charset="0"/>
                  <a:ea typeface="楷体" pitchFamily="49" charset="-122"/>
                  <a:cs typeface="Times New Roman" pitchFamily="18" charset="0"/>
                </a:rPr>
                <a:t>A</a:t>
              </a:r>
              <a:r>
                <a:rPr lang="zh-CN" altLang="en-US" dirty="0">
                  <a:solidFill>
                    <a:prstClr val="black"/>
                  </a:solidFill>
                  <a:latin typeface="Times New Roman" pitchFamily="18" charset="0"/>
                  <a:ea typeface="楷体" pitchFamily="49" charset="-122"/>
                  <a:cs typeface="Times New Roman" pitchFamily="18" charset="0"/>
                </a:rPr>
                <a:t>的</a:t>
              </a:r>
              <a:r>
                <a:rPr lang="zh-CN" altLang="en-US" dirty="0">
                  <a:solidFill>
                    <a:srgbClr val="0000FF"/>
                  </a:solidFill>
                  <a:latin typeface="Times New Roman" pitchFamily="18" charset="0"/>
                  <a:ea typeface="楷体" pitchFamily="49" charset="-122"/>
                  <a:cs typeface="Times New Roman" pitchFamily="18" charset="0"/>
                </a:rPr>
                <a:t>综合属性</a:t>
              </a:r>
              <a:r>
                <a:rPr lang="zh-CN" altLang="en-US" dirty="0">
                  <a:solidFill>
                    <a:prstClr val="black"/>
                  </a:solidFill>
                  <a:latin typeface="Times New Roman" pitchFamily="18" charset="0"/>
                  <a:ea typeface="楷体" pitchFamily="49" charset="-122"/>
                  <a:cs typeface="Times New Roman" pitchFamily="18" charset="0"/>
                </a:rPr>
                <a:t>值</a:t>
              </a:r>
              <a:endParaRPr kumimoji="1" lang="zh-CN" altLang="en-US" dirty="0">
                <a:solidFill>
                  <a:prstClr val="black"/>
                </a:solidFill>
                <a:latin typeface="Times New Roman" pitchFamily="18" charset="0"/>
                <a:ea typeface="楷体" pitchFamily="49" charset="-122"/>
                <a:cs typeface="Times New Roman" pitchFamily="18" charset="0"/>
              </a:endParaRPr>
            </a:p>
          </p:txBody>
        </p:sp>
        <p:sp>
          <p:nvSpPr>
            <p:cNvPr id="15" name="Line 7">
              <a:extLst>
                <a:ext uri="{FF2B5EF4-FFF2-40B4-BE49-F238E27FC236}">
                  <a16:creationId xmlns:a16="http://schemas.microsoft.com/office/drawing/2014/main" id="{1255923E-F337-4FCA-BF24-DED561DE867E}"/>
                </a:ext>
              </a:extLst>
            </p:cNvPr>
            <p:cNvSpPr>
              <a:spLocks noChangeShapeType="1"/>
            </p:cNvSpPr>
            <p:nvPr/>
          </p:nvSpPr>
          <p:spPr bwMode="auto">
            <a:xfrm flipV="1">
              <a:off x="5408011" y="278684"/>
              <a:ext cx="676636" cy="95321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grpSp>
      <p:grpSp>
        <p:nvGrpSpPr>
          <p:cNvPr id="16" name="组合 4">
            <a:extLst>
              <a:ext uri="{FF2B5EF4-FFF2-40B4-BE49-F238E27FC236}">
                <a16:creationId xmlns:a16="http://schemas.microsoft.com/office/drawing/2014/main" id="{61A25935-6D7C-4038-9F6C-1C5560F87E0C}"/>
              </a:ext>
            </a:extLst>
          </p:cNvPr>
          <p:cNvGrpSpPr>
            <a:grpSpLocks/>
          </p:cNvGrpSpPr>
          <p:nvPr/>
        </p:nvGrpSpPr>
        <p:grpSpPr bwMode="auto">
          <a:xfrm>
            <a:off x="3352800" y="661988"/>
            <a:ext cx="2903538" cy="2197100"/>
            <a:chOff x="3352713" y="661689"/>
            <a:chExt cx="2903252" cy="2198093"/>
          </a:xfrm>
        </p:grpSpPr>
        <p:sp>
          <p:nvSpPr>
            <p:cNvPr id="17" name="矩形 16">
              <a:extLst>
                <a:ext uri="{FF2B5EF4-FFF2-40B4-BE49-F238E27FC236}">
                  <a16:creationId xmlns:a16="http://schemas.microsoft.com/office/drawing/2014/main" id="{2B9D0306-324F-42B4-93B1-1735C46EE2AC}"/>
                </a:ext>
              </a:extLst>
            </p:cNvPr>
            <p:cNvSpPr/>
            <p:nvPr/>
          </p:nvSpPr>
          <p:spPr>
            <a:xfrm>
              <a:off x="3352713" y="1903675"/>
              <a:ext cx="2874680" cy="956107"/>
            </a:xfrm>
            <a:prstGeom prst="rect">
              <a:avLst/>
            </a:prstGeom>
            <a:solidFill>
              <a:schemeClr val="accent5">
                <a:lumMod val="60000"/>
                <a:lumOff val="40000"/>
              </a:schemeClr>
            </a:solidFill>
            <a:ln>
              <a:solidFill>
                <a:schemeClr val="tx1"/>
              </a:solidFill>
            </a:ln>
          </p:spPr>
          <p:txBody>
            <a:bodyPr>
              <a:spAutoFit/>
            </a:bodyPr>
            <a:lstStyle/>
            <a:p>
              <a:pPr eaLnBrk="1" hangingPunct="1">
                <a:defRPr/>
              </a:pPr>
              <a:r>
                <a:rPr lang="zh-CN" altLang="en-US" dirty="0">
                  <a:solidFill>
                    <a:prstClr val="black"/>
                  </a:solidFill>
                  <a:latin typeface="Times New Roman" pitchFamily="18" charset="0"/>
                  <a:ea typeface="楷体" pitchFamily="49" charset="-122"/>
                  <a:cs typeface="Times New Roman" pitchFamily="18" charset="0"/>
                </a:rPr>
                <a:t>对出现在</a:t>
              </a:r>
              <a:r>
                <a:rPr lang="en-US" altLang="zh-CN" i="1" dirty="0">
                  <a:solidFill>
                    <a:prstClr val="black"/>
                  </a:solidFill>
                  <a:latin typeface="Times New Roman" pitchFamily="18" charset="0"/>
                  <a:ea typeface="楷体" pitchFamily="49" charset="-122"/>
                  <a:cs typeface="Times New Roman" pitchFamily="18" charset="0"/>
                </a:rPr>
                <a:t>A</a:t>
              </a:r>
              <a:r>
                <a:rPr lang="zh-CN" altLang="en-US" dirty="0">
                  <a:solidFill>
                    <a:prstClr val="black"/>
                  </a:solidFill>
                  <a:latin typeface="Times New Roman" pitchFamily="18" charset="0"/>
                  <a:ea typeface="楷体" pitchFamily="49" charset="-122"/>
                  <a:cs typeface="Times New Roman" pitchFamily="18" charset="0"/>
                </a:rPr>
                <a:t>产生式右部中的每个文法符号的每个</a:t>
              </a:r>
              <a:r>
                <a:rPr lang="zh-CN" altLang="en-US" dirty="0">
                  <a:solidFill>
                    <a:srgbClr val="0000FF"/>
                  </a:solidFill>
                  <a:latin typeface="Times New Roman" pitchFamily="18" charset="0"/>
                  <a:ea typeface="楷体" pitchFamily="49" charset="-122"/>
                  <a:cs typeface="Times New Roman" pitchFamily="18" charset="0"/>
                </a:rPr>
                <a:t>属性</a:t>
              </a:r>
              <a:r>
                <a:rPr lang="zh-CN" altLang="en-US" dirty="0">
                  <a:solidFill>
                    <a:prstClr val="black"/>
                  </a:solidFill>
                  <a:latin typeface="Times New Roman" pitchFamily="18" charset="0"/>
                  <a:ea typeface="楷体" pitchFamily="49" charset="-122"/>
                  <a:cs typeface="Times New Roman" pitchFamily="18" charset="0"/>
                </a:rPr>
                <a:t>都设置一个</a:t>
              </a:r>
              <a:r>
                <a:rPr lang="zh-CN" altLang="en-US" dirty="0">
                  <a:solidFill>
                    <a:srgbClr val="0000FF"/>
                  </a:solidFill>
                  <a:latin typeface="Times New Roman" pitchFamily="18" charset="0"/>
                  <a:ea typeface="楷体" pitchFamily="49" charset="-122"/>
                  <a:cs typeface="Times New Roman" pitchFamily="18" charset="0"/>
                </a:rPr>
                <a:t>局部变量</a:t>
              </a:r>
            </a:p>
          </p:txBody>
        </p:sp>
        <p:sp>
          <p:nvSpPr>
            <p:cNvPr id="18" name="Line 7">
              <a:extLst>
                <a:ext uri="{FF2B5EF4-FFF2-40B4-BE49-F238E27FC236}">
                  <a16:creationId xmlns:a16="http://schemas.microsoft.com/office/drawing/2014/main" id="{AC5FBB6B-BB32-4F16-91C4-15F77ABEB9DD}"/>
                </a:ext>
              </a:extLst>
            </p:cNvPr>
            <p:cNvSpPr>
              <a:spLocks noChangeShapeType="1"/>
            </p:cNvSpPr>
            <p:nvPr/>
          </p:nvSpPr>
          <p:spPr bwMode="auto">
            <a:xfrm flipV="1">
              <a:off x="5724128" y="661689"/>
              <a:ext cx="531837" cy="124240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grpSp>
    </p:spTree>
    <p:extLst>
      <p:ext uri="{BB962C8B-B14F-4D97-AF65-F5344CB8AC3E}">
        <p14:creationId xmlns:p14="http://schemas.microsoft.com/office/powerpoint/2010/main" val="157936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 calcmode="lin" valueType="num">
                                      <p:cBhvr>
                                        <p:cTn id="14"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2">
                                            <p:txEl>
                                              <p:pRg st="0" end="0"/>
                                            </p:txEl>
                                          </p:spTgt>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p:cTn id="19"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2">
                                            <p:txEl>
                                              <p:pRg st="1" end="1"/>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 calcmode="lin" valueType="num">
                                      <p:cBhvr>
                                        <p:cTn id="24"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2">
                                            <p:txEl>
                                              <p:pRg st="2" end="2"/>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 calcmode="lin" valueType="num">
                                      <p:cBhvr>
                                        <p:cTn id="29"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30" dur="50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31" dur="500"/>
                                        <p:tgtEl>
                                          <p:spTgt spid="2">
                                            <p:txEl>
                                              <p:pRg st="3" end="3"/>
                                            </p:txEl>
                                          </p:spTgt>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2">
                                            <p:txEl>
                                              <p:pRg st="4" end="4"/>
                                            </p:txEl>
                                          </p:spTgt>
                                        </p:tgtEl>
                                        <p:attrNameLst>
                                          <p:attrName>style.visibility</p:attrName>
                                        </p:attrNameLst>
                                      </p:cBhvr>
                                      <p:to>
                                        <p:strVal val="visible"/>
                                      </p:to>
                                    </p:set>
                                    <p:anim calcmode="lin" valueType="num">
                                      <p:cBhvr>
                                        <p:cTn id="34"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35"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36" dur="500"/>
                                        <p:tgtEl>
                                          <p:spTgt spid="2">
                                            <p:txEl>
                                              <p:pRg st="4" end="4"/>
                                            </p:txEl>
                                          </p:spTgt>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2">
                                            <p:txEl>
                                              <p:pRg st="5" end="5"/>
                                            </p:txEl>
                                          </p:spTgt>
                                        </p:tgtEl>
                                        <p:attrNameLst>
                                          <p:attrName>style.visibility</p:attrName>
                                        </p:attrNameLst>
                                      </p:cBhvr>
                                      <p:to>
                                        <p:strVal val="visible"/>
                                      </p:to>
                                    </p:set>
                                    <p:anim calcmode="lin" valueType="num">
                                      <p:cBhvr>
                                        <p:cTn id="39" dur="500" fill="hold"/>
                                        <p:tgtEl>
                                          <p:spTgt spid="2">
                                            <p:txEl>
                                              <p:pRg st="5" end="5"/>
                                            </p:txEl>
                                          </p:spTgt>
                                        </p:tgtEl>
                                        <p:attrNameLst>
                                          <p:attrName>ppt_w</p:attrName>
                                        </p:attrNameLst>
                                      </p:cBhvr>
                                      <p:tavLst>
                                        <p:tav tm="0">
                                          <p:val>
                                            <p:fltVal val="0"/>
                                          </p:val>
                                        </p:tav>
                                        <p:tav tm="100000">
                                          <p:val>
                                            <p:strVal val="#ppt_w"/>
                                          </p:val>
                                        </p:tav>
                                      </p:tavLst>
                                    </p:anim>
                                    <p:anim calcmode="lin" valueType="num">
                                      <p:cBhvr>
                                        <p:cTn id="40" dur="500" fill="hold"/>
                                        <p:tgtEl>
                                          <p:spTgt spid="2">
                                            <p:txEl>
                                              <p:pRg st="5" end="5"/>
                                            </p:txEl>
                                          </p:spTgt>
                                        </p:tgtEl>
                                        <p:attrNameLst>
                                          <p:attrName>ppt_h</p:attrName>
                                        </p:attrNameLst>
                                      </p:cBhvr>
                                      <p:tavLst>
                                        <p:tav tm="0">
                                          <p:val>
                                            <p:fltVal val="0"/>
                                          </p:val>
                                        </p:tav>
                                        <p:tav tm="100000">
                                          <p:val>
                                            <p:strVal val="#ppt_h"/>
                                          </p:val>
                                        </p:tav>
                                      </p:tavLst>
                                    </p:anim>
                                    <p:animEffect transition="in" filter="fade">
                                      <p:cBhvr>
                                        <p:cTn id="41" dur="500"/>
                                        <p:tgtEl>
                                          <p:spTgt spid="2">
                                            <p:txEl>
                                              <p:pRg st="5" end="5"/>
                                            </p:txEl>
                                          </p:spTgt>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2">
                                            <p:txEl>
                                              <p:pRg st="6" end="6"/>
                                            </p:txEl>
                                          </p:spTgt>
                                        </p:tgtEl>
                                        <p:attrNameLst>
                                          <p:attrName>style.visibility</p:attrName>
                                        </p:attrNameLst>
                                      </p:cBhvr>
                                      <p:to>
                                        <p:strVal val="visible"/>
                                      </p:to>
                                    </p:set>
                                    <p:anim calcmode="lin" valueType="num">
                                      <p:cBhvr>
                                        <p:cTn id="44"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45"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46" dur="500"/>
                                        <p:tgtEl>
                                          <p:spTgt spid="2">
                                            <p:txEl>
                                              <p:pRg st="6" end="6"/>
                                            </p:txEl>
                                          </p:spTgt>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p:cTn id="49" dur="500" fill="hold"/>
                                        <p:tgtEl>
                                          <p:spTgt spid="2">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2">
                                            <p:txEl>
                                              <p:pRg st="7" end="7"/>
                                            </p:txEl>
                                          </p:spTgt>
                                        </p:tgtEl>
                                        <p:attrNameLst>
                                          <p:attrName>ppt_h</p:attrName>
                                        </p:attrNameLst>
                                      </p:cBhvr>
                                      <p:tavLst>
                                        <p:tav tm="0">
                                          <p:val>
                                            <p:fltVal val="0"/>
                                          </p:val>
                                        </p:tav>
                                        <p:tav tm="100000">
                                          <p:val>
                                            <p:strVal val="#ppt_h"/>
                                          </p:val>
                                        </p:tav>
                                      </p:tavLst>
                                    </p:anim>
                                    <p:animEffect transition="in" filter="fade">
                                      <p:cBhvr>
                                        <p:cTn id="51" dur="500"/>
                                        <p:tgtEl>
                                          <p:spTgt spid="2">
                                            <p:txEl>
                                              <p:pRg st="7" end="7"/>
                                            </p:txEl>
                                          </p:spTgt>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2">
                                            <p:txEl>
                                              <p:pRg st="8" end="8"/>
                                            </p:txEl>
                                          </p:spTgt>
                                        </p:tgtEl>
                                        <p:attrNameLst>
                                          <p:attrName>style.visibility</p:attrName>
                                        </p:attrNameLst>
                                      </p:cBhvr>
                                      <p:to>
                                        <p:strVal val="visible"/>
                                      </p:to>
                                    </p:set>
                                    <p:anim calcmode="lin" valueType="num">
                                      <p:cBhvr>
                                        <p:cTn id="54" dur="500" fill="hold"/>
                                        <p:tgtEl>
                                          <p:spTgt spid="2">
                                            <p:txEl>
                                              <p:pRg st="8" end="8"/>
                                            </p:txEl>
                                          </p:spTgt>
                                        </p:tgtEl>
                                        <p:attrNameLst>
                                          <p:attrName>ppt_w</p:attrName>
                                        </p:attrNameLst>
                                      </p:cBhvr>
                                      <p:tavLst>
                                        <p:tav tm="0">
                                          <p:val>
                                            <p:fltVal val="0"/>
                                          </p:val>
                                        </p:tav>
                                        <p:tav tm="100000">
                                          <p:val>
                                            <p:strVal val="#ppt_w"/>
                                          </p:val>
                                        </p:tav>
                                      </p:tavLst>
                                    </p:anim>
                                    <p:anim calcmode="lin" valueType="num">
                                      <p:cBhvr>
                                        <p:cTn id="55" dur="500" fill="hold"/>
                                        <p:tgtEl>
                                          <p:spTgt spid="2">
                                            <p:txEl>
                                              <p:pRg st="8" end="8"/>
                                            </p:txEl>
                                          </p:spTgt>
                                        </p:tgtEl>
                                        <p:attrNameLst>
                                          <p:attrName>ppt_h</p:attrName>
                                        </p:attrNameLst>
                                      </p:cBhvr>
                                      <p:tavLst>
                                        <p:tav tm="0">
                                          <p:val>
                                            <p:fltVal val="0"/>
                                          </p:val>
                                        </p:tav>
                                        <p:tav tm="100000">
                                          <p:val>
                                            <p:strVal val="#ppt_h"/>
                                          </p:val>
                                        </p:tav>
                                      </p:tavLst>
                                    </p:anim>
                                    <p:animEffect transition="in" filter="fade">
                                      <p:cBhvr>
                                        <p:cTn id="56" dur="500"/>
                                        <p:tgtEl>
                                          <p:spTgt spid="2">
                                            <p:txEl>
                                              <p:pRg st="8" end="8"/>
                                            </p:txEl>
                                          </p:spTgt>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
                                            <p:txEl>
                                              <p:pRg st="9" end="9"/>
                                            </p:txEl>
                                          </p:spTgt>
                                        </p:tgtEl>
                                        <p:attrNameLst>
                                          <p:attrName>style.visibility</p:attrName>
                                        </p:attrNameLst>
                                      </p:cBhvr>
                                      <p:to>
                                        <p:strVal val="visible"/>
                                      </p:to>
                                    </p:set>
                                    <p:anim calcmode="lin" valueType="num">
                                      <p:cBhvr>
                                        <p:cTn id="59" dur="500" fill="hold"/>
                                        <p:tgtEl>
                                          <p:spTgt spid="2">
                                            <p:txEl>
                                              <p:pRg st="9" end="9"/>
                                            </p:txEl>
                                          </p:spTgt>
                                        </p:tgtEl>
                                        <p:attrNameLst>
                                          <p:attrName>ppt_w</p:attrName>
                                        </p:attrNameLst>
                                      </p:cBhvr>
                                      <p:tavLst>
                                        <p:tav tm="0">
                                          <p:val>
                                            <p:fltVal val="0"/>
                                          </p:val>
                                        </p:tav>
                                        <p:tav tm="100000">
                                          <p:val>
                                            <p:strVal val="#ppt_w"/>
                                          </p:val>
                                        </p:tav>
                                      </p:tavLst>
                                    </p:anim>
                                    <p:anim calcmode="lin" valueType="num">
                                      <p:cBhvr>
                                        <p:cTn id="60" dur="500" fill="hold"/>
                                        <p:tgtEl>
                                          <p:spTgt spid="2">
                                            <p:txEl>
                                              <p:pRg st="9" end="9"/>
                                            </p:txEl>
                                          </p:spTgt>
                                        </p:tgtEl>
                                        <p:attrNameLst>
                                          <p:attrName>ppt_h</p:attrName>
                                        </p:attrNameLst>
                                      </p:cBhvr>
                                      <p:tavLst>
                                        <p:tav tm="0">
                                          <p:val>
                                            <p:fltVal val="0"/>
                                          </p:val>
                                        </p:tav>
                                        <p:tav tm="100000">
                                          <p:val>
                                            <p:strVal val="#ppt_h"/>
                                          </p:val>
                                        </p:tav>
                                      </p:tavLst>
                                    </p:anim>
                                    <p:animEffect transition="in" filter="fade">
                                      <p:cBhvr>
                                        <p:cTn id="61" dur="500"/>
                                        <p:tgtEl>
                                          <p:spTgt spid="2">
                                            <p:txEl>
                                              <p:pRg st="9" end="9"/>
                                            </p:txEl>
                                          </p:spTgt>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2">
                                            <p:txEl>
                                              <p:pRg st="10" end="10"/>
                                            </p:txEl>
                                          </p:spTgt>
                                        </p:tgtEl>
                                        <p:attrNameLst>
                                          <p:attrName>style.visibility</p:attrName>
                                        </p:attrNameLst>
                                      </p:cBhvr>
                                      <p:to>
                                        <p:strVal val="visible"/>
                                      </p:to>
                                    </p:set>
                                    <p:anim calcmode="lin" valueType="num">
                                      <p:cBhvr>
                                        <p:cTn id="64" dur="500" fill="hold"/>
                                        <p:tgtEl>
                                          <p:spTgt spid="2">
                                            <p:txEl>
                                              <p:pRg st="10" end="10"/>
                                            </p:txEl>
                                          </p:spTgt>
                                        </p:tgtEl>
                                        <p:attrNameLst>
                                          <p:attrName>ppt_w</p:attrName>
                                        </p:attrNameLst>
                                      </p:cBhvr>
                                      <p:tavLst>
                                        <p:tav tm="0">
                                          <p:val>
                                            <p:fltVal val="0"/>
                                          </p:val>
                                        </p:tav>
                                        <p:tav tm="100000">
                                          <p:val>
                                            <p:strVal val="#ppt_w"/>
                                          </p:val>
                                        </p:tav>
                                      </p:tavLst>
                                    </p:anim>
                                    <p:anim calcmode="lin" valueType="num">
                                      <p:cBhvr>
                                        <p:cTn id="65" dur="500" fill="hold"/>
                                        <p:tgtEl>
                                          <p:spTgt spid="2">
                                            <p:txEl>
                                              <p:pRg st="10" end="10"/>
                                            </p:txEl>
                                          </p:spTgt>
                                        </p:tgtEl>
                                        <p:attrNameLst>
                                          <p:attrName>ppt_h</p:attrName>
                                        </p:attrNameLst>
                                      </p:cBhvr>
                                      <p:tavLst>
                                        <p:tav tm="0">
                                          <p:val>
                                            <p:fltVal val="0"/>
                                          </p:val>
                                        </p:tav>
                                        <p:tav tm="100000">
                                          <p:val>
                                            <p:strVal val="#ppt_h"/>
                                          </p:val>
                                        </p:tav>
                                      </p:tavLst>
                                    </p:anim>
                                    <p:animEffect transition="in" filter="fade">
                                      <p:cBhvr>
                                        <p:cTn id="66" dur="500"/>
                                        <p:tgtEl>
                                          <p:spTgt spid="2">
                                            <p:txEl>
                                              <p:pRg st="10" end="10"/>
                                            </p:txEl>
                                          </p:spTgt>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2">
                                            <p:txEl>
                                              <p:pRg st="11" end="11"/>
                                            </p:txEl>
                                          </p:spTgt>
                                        </p:tgtEl>
                                        <p:attrNameLst>
                                          <p:attrName>style.visibility</p:attrName>
                                        </p:attrNameLst>
                                      </p:cBhvr>
                                      <p:to>
                                        <p:strVal val="visible"/>
                                      </p:to>
                                    </p:set>
                                    <p:anim calcmode="lin" valueType="num">
                                      <p:cBhvr>
                                        <p:cTn id="69" dur="500" fill="hold"/>
                                        <p:tgtEl>
                                          <p:spTgt spid="2">
                                            <p:txEl>
                                              <p:pRg st="11" end="11"/>
                                            </p:txEl>
                                          </p:spTgt>
                                        </p:tgtEl>
                                        <p:attrNameLst>
                                          <p:attrName>ppt_w</p:attrName>
                                        </p:attrNameLst>
                                      </p:cBhvr>
                                      <p:tavLst>
                                        <p:tav tm="0">
                                          <p:val>
                                            <p:fltVal val="0"/>
                                          </p:val>
                                        </p:tav>
                                        <p:tav tm="100000">
                                          <p:val>
                                            <p:strVal val="#ppt_w"/>
                                          </p:val>
                                        </p:tav>
                                      </p:tavLst>
                                    </p:anim>
                                    <p:anim calcmode="lin" valueType="num">
                                      <p:cBhvr>
                                        <p:cTn id="70" dur="500" fill="hold"/>
                                        <p:tgtEl>
                                          <p:spTgt spid="2">
                                            <p:txEl>
                                              <p:pRg st="11" end="11"/>
                                            </p:txEl>
                                          </p:spTgt>
                                        </p:tgtEl>
                                        <p:attrNameLst>
                                          <p:attrName>ppt_h</p:attrName>
                                        </p:attrNameLst>
                                      </p:cBhvr>
                                      <p:tavLst>
                                        <p:tav tm="0">
                                          <p:val>
                                            <p:fltVal val="0"/>
                                          </p:val>
                                        </p:tav>
                                        <p:tav tm="100000">
                                          <p:val>
                                            <p:strVal val="#ppt_h"/>
                                          </p:val>
                                        </p:tav>
                                      </p:tavLst>
                                    </p:anim>
                                    <p:animEffect transition="in" filter="fade">
                                      <p:cBhvr>
                                        <p:cTn id="71" dur="500"/>
                                        <p:tgtEl>
                                          <p:spTgt spid="2">
                                            <p:txEl>
                                              <p:pRg st="11" end="11"/>
                                            </p:txEl>
                                          </p:spTgt>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2">
                                            <p:txEl>
                                              <p:pRg st="12" end="12"/>
                                            </p:txEl>
                                          </p:spTgt>
                                        </p:tgtEl>
                                        <p:attrNameLst>
                                          <p:attrName>style.visibility</p:attrName>
                                        </p:attrNameLst>
                                      </p:cBhvr>
                                      <p:to>
                                        <p:strVal val="visible"/>
                                      </p:to>
                                    </p:set>
                                    <p:anim calcmode="lin" valueType="num">
                                      <p:cBhvr>
                                        <p:cTn id="74" dur="500" fill="hold"/>
                                        <p:tgtEl>
                                          <p:spTgt spid="2">
                                            <p:txEl>
                                              <p:pRg st="12" end="12"/>
                                            </p:txEl>
                                          </p:spTgt>
                                        </p:tgtEl>
                                        <p:attrNameLst>
                                          <p:attrName>ppt_w</p:attrName>
                                        </p:attrNameLst>
                                      </p:cBhvr>
                                      <p:tavLst>
                                        <p:tav tm="0">
                                          <p:val>
                                            <p:fltVal val="0"/>
                                          </p:val>
                                        </p:tav>
                                        <p:tav tm="100000">
                                          <p:val>
                                            <p:strVal val="#ppt_w"/>
                                          </p:val>
                                        </p:tav>
                                      </p:tavLst>
                                    </p:anim>
                                    <p:anim calcmode="lin" valueType="num">
                                      <p:cBhvr>
                                        <p:cTn id="75" dur="500" fill="hold"/>
                                        <p:tgtEl>
                                          <p:spTgt spid="2">
                                            <p:txEl>
                                              <p:pRg st="12" end="12"/>
                                            </p:txEl>
                                          </p:spTgt>
                                        </p:tgtEl>
                                        <p:attrNameLst>
                                          <p:attrName>ppt_h</p:attrName>
                                        </p:attrNameLst>
                                      </p:cBhvr>
                                      <p:tavLst>
                                        <p:tav tm="0">
                                          <p:val>
                                            <p:fltVal val="0"/>
                                          </p:val>
                                        </p:tav>
                                        <p:tav tm="100000">
                                          <p:val>
                                            <p:strVal val="#ppt_h"/>
                                          </p:val>
                                        </p:tav>
                                      </p:tavLst>
                                    </p:anim>
                                    <p:animEffect transition="in" filter="fade">
                                      <p:cBhvr>
                                        <p:cTn id="76" dur="500"/>
                                        <p:tgtEl>
                                          <p:spTgt spid="2">
                                            <p:txEl>
                                              <p:pRg st="12" end="12"/>
                                            </p:txEl>
                                          </p:spTgt>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2">
                                            <p:txEl>
                                              <p:pRg st="13" end="13"/>
                                            </p:txEl>
                                          </p:spTgt>
                                        </p:tgtEl>
                                        <p:attrNameLst>
                                          <p:attrName>style.visibility</p:attrName>
                                        </p:attrNameLst>
                                      </p:cBhvr>
                                      <p:to>
                                        <p:strVal val="visible"/>
                                      </p:to>
                                    </p:set>
                                    <p:anim calcmode="lin" valueType="num">
                                      <p:cBhvr>
                                        <p:cTn id="79" dur="500" fill="hold"/>
                                        <p:tgtEl>
                                          <p:spTgt spid="2">
                                            <p:txEl>
                                              <p:pRg st="13" end="13"/>
                                            </p:txEl>
                                          </p:spTgt>
                                        </p:tgtEl>
                                        <p:attrNameLst>
                                          <p:attrName>ppt_w</p:attrName>
                                        </p:attrNameLst>
                                      </p:cBhvr>
                                      <p:tavLst>
                                        <p:tav tm="0">
                                          <p:val>
                                            <p:fltVal val="0"/>
                                          </p:val>
                                        </p:tav>
                                        <p:tav tm="100000">
                                          <p:val>
                                            <p:strVal val="#ppt_w"/>
                                          </p:val>
                                        </p:tav>
                                      </p:tavLst>
                                    </p:anim>
                                    <p:anim calcmode="lin" valueType="num">
                                      <p:cBhvr>
                                        <p:cTn id="80" dur="500" fill="hold"/>
                                        <p:tgtEl>
                                          <p:spTgt spid="2">
                                            <p:txEl>
                                              <p:pRg st="13" end="13"/>
                                            </p:txEl>
                                          </p:spTgt>
                                        </p:tgtEl>
                                        <p:attrNameLst>
                                          <p:attrName>ppt_h</p:attrName>
                                        </p:attrNameLst>
                                      </p:cBhvr>
                                      <p:tavLst>
                                        <p:tav tm="0">
                                          <p:val>
                                            <p:fltVal val="0"/>
                                          </p:val>
                                        </p:tav>
                                        <p:tav tm="100000">
                                          <p:val>
                                            <p:strVal val="#ppt_h"/>
                                          </p:val>
                                        </p:tav>
                                      </p:tavLst>
                                    </p:anim>
                                    <p:animEffect transition="in" filter="fade">
                                      <p:cBhvr>
                                        <p:cTn id="81" dur="500"/>
                                        <p:tgtEl>
                                          <p:spTgt spid="2">
                                            <p:txEl>
                                              <p:pRg st="13" end="13"/>
                                            </p:txEl>
                                          </p:spTgt>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2">
                                            <p:txEl>
                                              <p:pRg st="14" end="14"/>
                                            </p:txEl>
                                          </p:spTgt>
                                        </p:tgtEl>
                                        <p:attrNameLst>
                                          <p:attrName>style.visibility</p:attrName>
                                        </p:attrNameLst>
                                      </p:cBhvr>
                                      <p:to>
                                        <p:strVal val="visible"/>
                                      </p:to>
                                    </p:set>
                                    <p:anim calcmode="lin" valueType="num">
                                      <p:cBhvr>
                                        <p:cTn id="84" dur="500" fill="hold"/>
                                        <p:tgtEl>
                                          <p:spTgt spid="2">
                                            <p:txEl>
                                              <p:pRg st="14" end="14"/>
                                            </p:txEl>
                                          </p:spTgt>
                                        </p:tgtEl>
                                        <p:attrNameLst>
                                          <p:attrName>ppt_w</p:attrName>
                                        </p:attrNameLst>
                                      </p:cBhvr>
                                      <p:tavLst>
                                        <p:tav tm="0">
                                          <p:val>
                                            <p:fltVal val="0"/>
                                          </p:val>
                                        </p:tav>
                                        <p:tav tm="100000">
                                          <p:val>
                                            <p:strVal val="#ppt_w"/>
                                          </p:val>
                                        </p:tav>
                                      </p:tavLst>
                                    </p:anim>
                                    <p:anim calcmode="lin" valueType="num">
                                      <p:cBhvr>
                                        <p:cTn id="85" dur="500" fill="hold"/>
                                        <p:tgtEl>
                                          <p:spTgt spid="2">
                                            <p:txEl>
                                              <p:pRg st="14" end="14"/>
                                            </p:txEl>
                                          </p:spTgt>
                                        </p:tgtEl>
                                        <p:attrNameLst>
                                          <p:attrName>ppt_h</p:attrName>
                                        </p:attrNameLst>
                                      </p:cBhvr>
                                      <p:tavLst>
                                        <p:tav tm="0">
                                          <p:val>
                                            <p:fltVal val="0"/>
                                          </p:val>
                                        </p:tav>
                                        <p:tav tm="100000">
                                          <p:val>
                                            <p:strVal val="#ppt_h"/>
                                          </p:val>
                                        </p:tav>
                                      </p:tavLst>
                                    </p:anim>
                                    <p:animEffect transition="in" filter="fade">
                                      <p:cBhvr>
                                        <p:cTn id="86" dur="500"/>
                                        <p:tgtEl>
                                          <p:spTgt spid="2">
                                            <p:txEl>
                                              <p:pRg st="14" end="14"/>
                                            </p:txEl>
                                          </p:spTgt>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
                                            <p:txEl>
                                              <p:pRg st="15" end="15"/>
                                            </p:txEl>
                                          </p:spTgt>
                                        </p:tgtEl>
                                        <p:attrNameLst>
                                          <p:attrName>style.visibility</p:attrName>
                                        </p:attrNameLst>
                                      </p:cBhvr>
                                      <p:to>
                                        <p:strVal val="visible"/>
                                      </p:to>
                                    </p:set>
                                    <p:anim calcmode="lin" valueType="num">
                                      <p:cBhvr>
                                        <p:cTn id="89" dur="500" fill="hold"/>
                                        <p:tgtEl>
                                          <p:spTgt spid="2">
                                            <p:txEl>
                                              <p:pRg st="15" end="15"/>
                                            </p:txEl>
                                          </p:spTgt>
                                        </p:tgtEl>
                                        <p:attrNameLst>
                                          <p:attrName>ppt_w</p:attrName>
                                        </p:attrNameLst>
                                      </p:cBhvr>
                                      <p:tavLst>
                                        <p:tav tm="0">
                                          <p:val>
                                            <p:fltVal val="0"/>
                                          </p:val>
                                        </p:tav>
                                        <p:tav tm="100000">
                                          <p:val>
                                            <p:strVal val="#ppt_w"/>
                                          </p:val>
                                        </p:tav>
                                      </p:tavLst>
                                    </p:anim>
                                    <p:anim calcmode="lin" valueType="num">
                                      <p:cBhvr>
                                        <p:cTn id="90" dur="500" fill="hold"/>
                                        <p:tgtEl>
                                          <p:spTgt spid="2">
                                            <p:txEl>
                                              <p:pRg st="15" end="15"/>
                                            </p:txEl>
                                          </p:spTgt>
                                        </p:tgtEl>
                                        <p:attrNameLst>
                                          <p:attrName>ppt_h</p:attrName>
                                        </p:attrNameLst>
                                      </p:cBhvr>
                                      <p:tavLst>
                                        <p:tav tm="0">
                                          <p:val>
                                            <p:fltVal val="0"/>
                                          </p:val>
                                        </p:tav>
                                        <p:tav tm="100000">
                                          <p:val>
                                            <p:strVal val="#ppt_h"/>
                                          </p:val>
                                        </p:tav>
                                      </p:tavLst>
                                    </p:anim>
                                    <p:animEffect transition="in" filter="fade">
                                      <p:cBhvr>
                                        <p:cTn id="91" dur="500"/>
                                        <p:tgtEl>
                                          <p:spTgt spid="2">
                                            <p:txEl>
                                              <p:pRg st="15" end="15"/>
                                            </p:txEl>
                                          </p:spTgt>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
                                            <p:txEl>
                                              <p:pRg st="16" end="16"/>
                                            </p:txEl>
                                          </p:spTgt>
                                        </p:tgtEl>
                                        <p:attrNameLst>
                                          <p:attrName>style.visibility</p:attrName>
                                        </p:attrNameLst>
                                      </p:cBhvr>
                                      <p:to>
                                        <p:strVal val="visible"/>
                                      </p:to>
                                    </p:set>
                                    <p:anim calcmode="lin" valueType="num">
                                      <p:cBhvr>
                                        <p:cTn id="94" dur="500" fill="hold"/>
                                        <p:tgtEl>
                                          <p:spTgt spid="2">
                                            <p:txEl>
                                              <p:pRg st="16" end="16"/>
                                            </p:txEl>
                                          </p:spTgt>
                                        </p:tgtEl>
                                        <p:attrNameLst>
                                          <p:attrName>ppt_w</p:attrName>
                                        </p:attrNameLst>
                                      </p:cBhvr>
                                      <p:tavLst>
                                        <p:tav tm="0">
                                          <p:val>
                                            <p:fltVal val="0"/>
                                          </p:val>
                                        </p:tav>
                                        <p:tav tm="100000">
                                          <p:val>
                                            <p:strVal val="#ppt_w"/>
                                          </p:val>
                                        </p:tav>
                                      </p:tavLst>
                                    </p:anim>
                                    <p:anim calcmode="lin" valueType="num">
                                      <p:cBhvr>
                                        <p:cTn id="95" dur="500" fill="hold"/>
                                        <p:tgtEl>
                                          <p:spTgt spid="2">
                                            <p:txEl>
                                              <p:pRg st="16" end="16"/>
                                            </p:txEl>
                                          </p:spTgt>
                                        </p:tgtEl>
                                        <p:attrNameLst>
                                          <p:attrName>ppt_h</p:attrName>
                                        </p:attrNameLst>
                                      </p:cBhvr>
                                      <p:tavLst>
                                        <p:tav tm="0">
                                          <p:val>
                                            <p:fltVal val="0"/>
                                          </p:val>
                                        </p:tav>
                                        <p:tav tm="100000">
                                          <p:val>
                                            <p:strVal val="#ppt_h"/>
                                          </p:val>
                                        </p:tav>
                                      </p:tavLst>
                                    </p:anim>
                                    <p:animEffect transition="in" filter="fade">
                                      <p:cBhvr>
                                        <p:cTn id="96" dur="500"/>
                                        <p:tgtEl>
                                          <p:spTgt spid="2">
                                            <p:txEl>
                                              <p:pRg st="16" end="16"/>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16" fill="hold" nodeType="clickEffect">
                                  <p:stCondLst>
                                    <p:cond delay="0"/>
                                  </p:stCondLst>
                                  <p:childTnLst>
                                    <p:set>
                                      <p:cBhvr>
                                        <p:cTn id="100" dur="1" fill="hold">
                                          <p:stCondLst>
                                            <p:cond delay="0"/>
                                          </p:stCondLst>
                                        </p:cTn>
                                        <p:tgtEl>
                                          <p:spTgt spid="13"/>
                                        </p:tgtEl>
                                        <p:attrNameLst>
                                          <p:attrName>style.visibility</p:attrName>
                                        </p:attrNameLst>
                                      </p:cBhvr>
                                      <p:to>
                                        <p:strVal val="visible"/>
                                      </p:to>
                                    </p:set>
                                    <p:anim calcmode="lin" valueType="num">
                                      <p:cBhvr>
                                        <p:cTn id="101" dur="500" fill="hold"/>
                                        <p:tgtEl>
                                          <p:spTgt spid="13"/>
                                        </p:tgtEl>
                                        <p:attrNameLst>
                                          <p:attrName>ppt_w</p:attrName>
                                        </p:attrNameLst>
                                      </p:cBhvr>
                                      <p:tavLst>
                                        <p:tav tm="0">
                                          <p:val>
                                            <p:fltVal val="0"/>
                                          </p:val>
                                        </p:tav>
                                        <p:tav tm="100000">
                                          <p:val>
                                            <p:strVal val="#ppt_w"/>
                                          </p:val>
                                        </p:tav>
                                      </p:tavLst>
                                    </p:anim>
                                    <p:anim calcmode="lin" valueType="num">
                                      <p:cBhvr>
                                        <p:cTn id="102" dur="500" fill="hold"/>
                                        <p:tgtEl>
                                          <p:spTgt spid="13"/>
                                        </p:tgtEl>
                                        <p:attrNameLst>
                                          <p:attrName>ppt_h</p:attrName>
                                        </p:attrNameLst>
                                      </p:cBhvr>
                                      <p:tavLst>
                                        <p:tav tm="0">
                                          <p:val>
                                            <p:fltVal val="0"/>
                                          </p:val>
                                        </p:tav>
                                        <p:tav tm="100000">
                                          <p:val>
                                            <p:strVal val="#ppt_h"/>
                                          </p:val>
                                        </p:tav>
                                      </p:tavLst>
                                    </p:anim>
                                    <p:animEffect transition="in" filter="fade">
                                      <p:cBhvr>
                                        <p:cTn id="103" dur="500"/>
                                        <p:tgtEl>
                                          <p:spTgt spid="13"/>
                                        </p:tgtEl>
                                      </p:cBhvr>
                                    </p:animEffect>
                                  </p:childTnLst>
                                </p:cTn>
                              </p:par>
                            </p:childTnLst>
                          </p:cTn>
                        </p:par>
                      </p:childTnLst>
                    </p:cTn>
                  </p:par>
                  <p:par>
                    <p:cTn id="104" fill="hold">
                      <p:stCondLst>
                        <p:cond delay="indefinite"/>
                      </p:stCondLst>
                      <p:childTnLst>
                        <p:par>
                          <p:cTn id="105" fill="hold">
                            <p:stCondLst>
                              <p:cond delay="0"/>
                            </p:stCondLst>
                            <p:childTnLst>
                              <p:par>
                                <p:cTn id="106" presetID="53" presetClass="entr" presetSubtype="16" fill="hold" nodeType="clickEffect">
                                  <p:stCondLst>
                                    <p:cond delay="0"/>
                                  </p:stCondLst>
                                  <p:childTnLst>
                                    <p:set>
                                      <p:cBhvr>
                                        <p:cTn id="107" dur="1" fill="hold">
                                          <p:stCondLst>
                                            <p:cond delay="0"/>
                                          </p:stCondLst>
                                        </p:cTn>
                                        <p:tgtEl>
                                          <p:spTgt spid="16"/>
                                        </p:tgtEl>
                                        <p:attrNameLst>
                                          <p:attrName>style.visibility</p:attrName>
                                        </p:attrNameLst>
                                      </p:cBhvr>
                                      <p:to>
                                        <p:strVal val="visible"/>
                                      </p:to>
                                    </p:set>
                                    <p:anim calcmode="lin" valueType="num">
                                      <p:cBhvr>
                                        <p:cTn id="108" dur="500" fill="hold"/>
                                        <p:tgtEl>
                                          <p:spTgt spid="16"/>
                                        </p:tgtEl>
                                        <p:attrNameLst>
                                          <p:attrName>ppt_w</p:attrName>
                                        </p:attrNameLst>
                                      </p:cBhvr>
                                      <p:tavLst>
                                        <p:tav tm="0">
                                          <p:val>
                                            <p:fltVal val="0"/>
                                          </p:val>
                                        </p:tav>
                                        <p:tav tm="100000">
                                          <p:val>
                                            <p:strVal val="#ppt_w"/>
                                          </p:val>
                                        </p:tav>
                                      </p:tavLst>
                                    </p:anim>
                                    <p:anim calcmode="lin" valueType="num">
                                      <p:cBhvr>
                                        <p:cTn id="109" dur="500" fill="hold"/>
                                        <p:tgtEl>
                                          <p:spTgt spid="16"/>
                                        </p:tgtEl>
                                        <p:attrNameLst>
                                          <p:attrName>ppt_h</p:attrName>
                                        </p:attrNameLst>
                                      </p:cBhvr>
                                      <p:tavLst>
                                        <p:tav tm="0">
                                          <p:val>
                                            <p:fltVal val="0"/>
                                          </p:val>
                                        </p:tav>
                                        <p:tav tm="100000">
                                          <p:val>
                                            <p:strVal val="#ppt_h"/>
                                          </p:val>
                                        </p:tav>
                                      </p:tavLst>
                                    </p:anim>
                                    <p:animEffect transition="in" filter="fade">
                                      <p:cBhvr>
                                        <p:cTn id="110" dur="500"/>
                                        <p:tgtEl>
                                          <p:spTgt spid="16"/>
                                        </p:tgtEl>
                                      </p:cBhvr>
                                    </p:animEffect>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nodeType="clickEffect">
                                  <p:stCondLst>
                                    <p:cond delay="0"/>
                                  </p:stCondLst>
                                  <p:childTnLst>
                                    <p:set>
                                      <p:cBhvr>
                                        <p:cTn id="114" dur="1" fill="hold">
                                          <p:stCondLst>
                                            <p:cond delay="0"/>
                                          </p:stCondLst>
                                        </p:cTn>
                                        <p:tgtEl>
                                          <p:spTgt spid="3"/>
                                        </p:tgtEl>
                                        <p:attrNameLst>
                                          <p:attrName>style.visibility</p:attrName>
                                        </p:attrNameLst>
                                      </p:cBhvr>
                                      <p:to>
                                        <p:strVal val="visible"/>
                                      </p:to>
                                    </p:set>
                                    <p:anim calcmode="lin" valueType="num">
                                      <p:cBhvr>
                                        <p:cTn id="115" dur="500" fill="hold"/>
                                        <p:tgtEl>
                                          <p:spTgt spid="3"/>
                                        </p:tgtEl>
                                        <p:attrNameLst>
                                          <p:attrName>ppt_w</p:attrName>
                                        </p:attrNameLst>
                                      </p:cBhvr>
                                      <p:tavLst>
                                        <p:tav tm="0">
                                          <p:val>
                                            <p:fltVal val="0"/>
                                          </p:val>
                                        </p:tav>
                                        <p:tav tm="100000">
                                          <p:val>
                                            <p:strVal val="#ppt_w"/>
                                          </p:val>
                                        </p:tav>
                                      </p:tavLst>
                                    </p:anim>
                                    <p:anim calcmode="lin" valueType="num">
                                      <p:cBhvr>
                                        <p:cTn id="116" dur="500" fill="hold"/>
                                        <p:tgtEl>
                                          <p:spTgt spid="3"/>
                                        </p:tgtEl>
                                        <p:attrNameLst>
                                          <p:attrName>ppt_h</p:attrName>
                                        </p:attrNameLst>
                                      </p:cBhvr>
                                      <p:tavLst>
                                        <p:tav tm="0">
                                          <p:val>
                                            <p:fltVal val="0"/>
                                          </p:val>
                                        </p:tav>
                                        <p:tav tm="100000">
                                          <p:val>
                                            <p:strVal val="#ppt_h"/>
                                          </p:val>
                                        </p:tav>
                                      </p:tavLst>
                                    </p:anim>
                                    <p:animEffect transition="in" filter="fade">
                                      <p:cBhvr>
                                        <p:cTn id="117" dur="500"/>
                                        <p:tgtEl>
                                          <p:spTgt spid="3"/>
                                        </p:tgtEl>
                                      </p:cBhvr>
                                    </p:animEffect>
                                  </p:childTnLst>
                                </p:cTn>
                              </p:par>
                            </p:childTnLst>
                          </p:cTn>
                        </p:par>
                      </p:childTnLst>
                    </p:cTn>
                  </p:par>
                  <p:par>
                    <p:cTn id="118" fill="hold">
                      <p:stCondLst>
                        <p:cond delay="indefinite"/>
                      </p:stCondLst>
                      <p:childTnLst>
                        <p:par>
                          <p:cTn id="119" fill="hold">
                            <p:stCondLst>
                              <p:cond delay="0"/>
                            </p:stCondLst>
                            <p:childTnLst>
                              <p:par>
                                <p:cTn id="120" presetID="53" presetClass="exit" presetSubtype="0" fill="hold" nodeType="clickEffect">
                                  <p:stCondLst>
                                    <p:cond delay="0"/>
                                  </p:stCondLst>
                                  <p:childTnLst>
                                    <p:anim calcmode="lin" valueType="num">
                                      <p:cBhvr>
                                        <p:cTn id="121" dur="500"/>
                                        <p:tgtEl>
                                          <p:spTgt spid="2">
                                            <p:txEl>
                                              <p:pRg st="0" end="0"/>
                                            </p:txEl>
                                          </p:spTgt>
                                        </p:tgtEl>
                                        <p:attrNameLst>
                                          <p:attrName>ppt_w</p:attrName>
                                        </p:attrNameLst>
                                      </p:cBhvr>
                                      <p:tavLst>
                                        <p:tav tm="0">
                                          <p:val>
                                            <p:strVal val="ppt_w"/>
                                          </p:val>
                                        </p:tav>
                                        <p:tav tm="100000">
                                          <p:val>
                                            <p:fltVal val="0"/>
                                          </p:val>
                                        </p:tav>
                                      </p:tavLst>
                                    </p:anim>
                                    <p:anim calcmode="lin" valueType="num">
                                      <p:cBhvr>
                                        <p:cTn id="122" dur="500"/>
                                        <p:tgtEl>
                                          <p:spTgt spid="2">
                                            <p:txEl>
                                              <p:pRg st="0" end="0"/>
                                            </p:txEl>
                                          </p:spTgt>
                                        </p:tgtEl>
                                        <p:attrNameLst>
                                          <p:attrName>ppt_h</p:attrName>
                                        </p:attrNameLst>
                                      </p:cBhvr>
                                      <p:tavLst>
                                        <p:tav tm="0">
                                          <p:val>
                                            <p:strVal val="ppt_h"/>
                                          </p:val>
                                        </p:tav>
                                        <p:tav tm="100000">
                                          <p:val>
                                            <p:fltVal val="0"/>
                                          </p:val>
                                        </p:tav>
                                      </p:tavLst>
                                    </p:anim>
                                    <p:animEffect transition="out" filter="fade">
                                      <p:cBhvr>
                                        <p:cTn id="123" dur="500"/>
                                        <p:tgtEl>
                                          <p:spTgt spid="2">
                                            <p:txEl>
                                              <p:pRg st="0" end="0"/>
                                            </p:txEl>
                                          </p:spTgt>
                                        </p:tgtEl>
                                      </p:cBhvr>
                                    </p:animEffect>
                                    <p:set>
                                      <p:cBhvr>
                                        <p:cTn id="124" dur="1" fill="hold">
                                          <p:stCondLst>
                                            <p:cond delay="499"/>
                                          </p:stCondLst>
                                        </p:cTn>
                                        <p:tgtEl>
                                          <p:spTgt spid="2">
                                            <p:txEl>
                                              <p:pRg st="0" end="0"/>
                                            </p:txEl>
                                          </p:spTgt>
                                        </p:tgtEl>
                                        <p:attrNameLst>
                                          <p:attrName>style.visibility</p:attrName>
                                        </p:attrNameLst>
                                      </p:cBhvr>
                                      <p:to>
                                        <p:strVal val="hidden"/>
                                      </p:to>
                                    </p:set>
                                  </p:childTnLst>
                                </p:cTn>
                              </p:par>
                              <p:par>
                                <p:cTn id="125" presetID="53" presetClass="exit" presetSubtype="0" fill="hold" nodeType="withEffect">
                                  <p:stCondLst>
                                    <p:cond delay="0"/>
                                  </p:stCondLst>
                                  <p:childTnLst>
                                    <p:anim calcmode="lin" valueType="num">
                                      <p:cBhvr>
                                        <p:cTn id="126" dur="500"/>
                                        <p:tgtEl>
                                          <p:spTgt spid="2">
                                            <p:txEl>
                                              <p:pRg st="1" end="1"/>
                                            </p:txEl>
                                          </p:spTgt>
                                        </p:tgtEl>
                                        <p:attrNameLst>
                                          <p:attrName>ppt_w</p:attrName>
                                        </p:attrNameLst>
                                      </p:cBhvr>
                                      <p:tavLst>
                                        <p:tav tm="0">
                                          <p:val>
                                            <p:strVal val="ppt_w"/>
                                          </p:val>
                                        </p:tav>
                                        <p:tav tm="100000">
                                          <p:val>
                                            <p:fltVal val="0"/>
                                          </p:val>
                                        </p:tav>
                                      </p:tavLst>
                                    </p:anim>
                                    <p:anim calcmode="lin" valueType="num">
                                      <p:cBhvr>
                                        <p:cTn id="127" dur="500"/>
                                        <p:tgtEl>
                                          <p:spTgt spid="2">
                                            <p:txEl>
                                              <p:pRg st="1" end="1"/>
                                            </p:txEl>
                                          </p:spTgt>
                                        </p:tgtEl>
                                        <p:attrNameLst>
                                          <p:attrName>ppt_h</p:attrName>
                                        </p:attrNameLst>
                                      </p:cBhvr>
                                      <p:tavLst>
                                        <p:tav tm="0">
                                          <p:val>
                                            <p:strVal val="ppt_h"/>
                                          </p:val>
                                        </p:tav>
                                        <p:tav tm="100000">
                                          <p:val>
                                            <p:fltVal val="0"/>
                                          </p:val>
                                        </p:tav>
                                      </p:tavLst>
                                    </p:anim>
                                    <p:animEffect transition="out" filter="fade">
                                      <p:cBhvr>
                                        <p:cTn id="128" dur="500"/>
                                        <p:tgtEl>
                                          <p:spTgt spid="2">
                                            <p:txEl>
                                              <p:pRg st="1" end="1"/>
                                            </p:txEl>
                                          </p:spTgt>
                                        </p:tgtEl>
                                      </p:cBhvr>
                                    </p:animEffect>
                                    <p:set>
                                      <p:cBhvr>
                                        <p:cTn id="129" dur="1" fill="hold">
                                          <p:stCondLst>
                                            <p:cond delay="499"/>
                                          </p:stCondLst>
                                        </p:cTn>
                                        <p:tgtEl>
                                          <p:spTgt spid="2">
                                            <p:txEl>
                                              <p:pRg st="1" end="1"/>
                                            </p:txEl>
                                          </p:spTgt>
                                        </p:tgtEl>
                                        <p:attrNameLst>
                                          <p:attrName>style.visibility</p:attrName>
                                        </p:attrNameLst>
                                      </p:cBhvr>
                                      <p:to>
                                        <p:strVal val="hidden"/>
                                      </p:to>
                                    </p:set>
                                  </p:childTnLst>
                                </p:cTn>
                              </p:par>
                              <p:par>
                                <p:cTn id="130" presetID="53" presetClass="exit" presetSubtype="0" fill="hold" nodeType="withEffect">
                                  <p:stCondLst>
                                    <p:cond delay="0"/>
                                  </p:stCondLst>
                                  <p:childTnLst>
                                    <p:anim calcmode="lin" valueType="num">
                                      <p:cBhvr>
                                        <p:cTn id="131" dur="500"/>
                                        <p:tgtEl>
                                          <p:spTgt spid="2">
                                            <p:txEl>
                                              <p:pRg st="2" end="2"/>
                                            </p:txEl>
                                          </p:spTgt>
                                        </p:tgtEl>
                                        <p:attrNameLst>
                                          <p:attrName>ppt_w</p:attrName>
                                        </p:attrNameLst>
                                      </p:cBhvr>
                                      <p:tavLst>
                                        <p:tav tm="0">
                                          <p:val>
                                            <p:strVal val="ppt_w"/>
                                          </p:val>
                                        </p:tav>
                                        <p:tav tm="100000">
                                          <p:val>
                                            <p:fltVal val="0"/>
                                          </p:val>
                                        </p:tav>
                                      </p:tavLst>
                                    </p:anim>
                                    <p:anim calcmode="lin" valueType="num">
                                      <p:cBhvr>
                                        <p:cTn id="132" dur="500"/>
                                        <p:tgtEl>
                                          <p:spTgt spid="2">
                                            <p:txEl>
                                              <p:pRg st="2" end="2"/>
                                            </p:txEl>
                                          </p:spTgt>
                                        </p:tgtEl>
                                        <p:attrNameLst>
                                          <p:attrName>ppt_h</p:attrName>
                                        </p:attrNameLst>
                                      </p:cBhvr>
                                      <p:tavLst>
                                        <p:tav tm="0">
                                          <p:val>
                                            <p:strVal val="ppt_h"/>
                                          </p:val>
                                        </p:tav>
                                        <p:tav tm="100000">
                                          <p:val>
                                            <p:fltVal val="0"/>
                                          </p:val>
                                        </p:tav>
                                      </p:tavLst>
                                    </p:anim>
                                    <p:animEffect transition="out" filter="fade">
                                      <p:cBhvr>
                                        <p:cTn id="133" dur="500"/>
                                        <p:tgtEl>
                                          <p:spTgt spid="2">
                                            <p:txEl>
                                              <p:pRg st="2" end="2"/>
                                            </p:txEl>
                                          </p:spTgt>
                                        </p:tgtEl>
                                      </p:cBhvr>
                                    </p:animEffect>
                                    <p:set>
                                      <p:cBhvr>
                                        <p:cTn id="134" dur="1" fill="hold">
                                          <p:stCondLst>
                                            <p:cond delay="499"/>
                                          </p:stCondLst>
                                        </p:cTn>
                                        <p:tgtEl>
                                          <p:spTgt spid="2">
                                            <p:txEl>
                                              <p:pRg st="2" end="2"/>
                                            </p:txEl>
                                          </p:spTgt>
                                        </p:tgtEl>
                                        <p:attrNameLst>
                                          <p:attrName>style.visibility</p:attrName>
                                        </p:attrNameLst>
                                      </p:cBhvr>
                                      <p:to>
                                        <p:strVal val="hidden"/>
                                      </p:to>
                                    </p:set>
                                  </p:childTnLst>
                                </p:cTn>
                              </p:par>
                              <p:par>
                                <p:cTn id="135" presetID="53" presetClass="exit" presetSubtype="0" fill="hold" nodeType="withEffect">
                                  <p:stCondLst>
                                    <p:cond delay="0"/>
                                  </p:stCondLst>
                                  <p:childTnLst>
                                    <p:anim calcmode="lin" valueType="num">
                                      <p:cBhvr>
                                        <p:cTn id="136" dur="500"/>
                                        <p:tgtEl>
                                          <p:spTgt spid="2">
                                            <p:txEl>
                                              <p:pRg st="3" end="3"/>
                                            </p:txEl>
                                          </p:spTgt>
                                        </p:tgtEl>
                                        <p:attrNameLst>
                                          <p:attrName>ppt_w</p:attrName>
                                        </p:attrNameLst>
                                      </p:cBhvr>
                                      <p:tavLst>
                                        <p:tav tm="0">
                                          <p:val>
                                            <p:strVal val="ppt_w"/>
                                          </p:val>
                                        </p:tav>
                                        <p:tav tm="100000">
                                          <p:val>
                                            <p:fltVal val="0"/>
                                          </p:val>
                                        </p:tav>
                                      </p:tavLst>
                                    </p:anim>
                                    <p:anim calcmode="lin" valueType="num">
                                      <p:cBhvr>
                                        <p:cTn id="137" dur="500"/>
                                        <p:tgtEl>
                                          <p:spTgt spid="2">
                                            <p:txEl>
                                              <p:pRg st="3" end="3"/>
                                            </p:txEl>
                                          </p:spTgt>
                                        </p:tgtEl>
                                        <p:attrNameLst>
                                          <p:attrName>ppt_h</p:attrName>
                                        </p:attrNameLst>
                                      </p:cBhvr>
                                      <p:tavLst>
                                        <p:tav tm="0">
                                          <p:val>
                                            <p:strVal val="ppt_h"/>
                                          </p:val>
                                        </p:tav>
                                        <p:tav tm="100000">
                                          <p:val>
                                            <p:fltVal val="0"/>
                                          </p:val>
                                        </p:tav>
                                      </p:tavLst>
                                    </p:anim>
                                    <p:animEffect transition="out" filter="fade">
                                      <p:cBhvr>
                                        <p:cTn id="138" dur="500"/>
                                        <p:tgtEl>
                                          <p:spTgt spid="2">
                                            <p:txEl>
                                              <p:pRg st="3" end="3"/>
                                            </p:txEl>
                                          </p:spTgt>
                                        </p:tgtEl>
                                      </p:cBhvr>
                                    </p:animEffect>
                                    <p:set>
                                      <p:cBhvr>
                                        <p:cTn id="139" dur="1" fill="hold">
                                          <p:stCondLst>
                                            <p:cond delay="499"/>
                                          </p:stCondLst>
                                        </p:cTn>
                                        <p:tgtEl>
                                          <p:spTgt spid="2">
                                            <p:txEl>
                                              <p:pRg st="3" end="3"/>
                                            </p:txEl>
                                          </p:spTgt>
                                        </p:tgtEl>
                                        <p:attrNameLst>
                                          <p:attrName>style.visibility</p:attrName>
                                        </p:attrNameLst>
                                      </p:cBhvr>
                                      <p:to>
                                        <p:strVal val="hidden"/>
                                      </p:to>
                                    </p:set>
                                  </p:childTnLst>
                                </p:cTn>
                              </p:par>
                              <p:par>
                                <p:cTn id="140" presetID="53" presetClass="exit" presetSubtype="0" fill="hold" nodeType="withEffect">
                                  <p:stCondLst>
                                    <p:cond delay="0"/>
                                  </p:stCondLst>
                                  <p:childTnLst>
                                    <p:anim calcmode="lin" valueType="num">
                                      <p:cBhvr>
                                        <p:cTn id="141" dur="500"/>
                                        <p:tgtEl>
                                          <p:spTgt spid="2">
                                            <p:txEl>
                                              <p:pRg st="4" end="4"/>
                                            </p:txEl>
                                          </p:spTgt>
                                        </p:tgtEl>
                                        <p:attrNameLst>
                                          <p:attrName>ppt_w</p:attrName>
                                        </p:attrNameLst>
                                      </p:cBhvr>
                                      <p:tavLst>
                                        <p:tav tm="0">
                                          <p:val>
                                            <p:strVal val="ppt_w"/>
                                          </p:val>
                                        </p:tav>
                                        <p:tav tm="100000">
                                          <p:val>
                                            <p:fltVal val="0"/>
                                          </p:val>
                                        </p:tav>
                                      </p:tavLst>
                                    </p:anim>
                                    <p:anim calcmode="lin" valueType="num">
                                      <p:cBhvr>
                                        <p:cTn id="142" dur="500"/>
                                        <p:tgtEl>
                                          <p:spTgt spid="2">
                                            <p:txEl>
                                              <p:pRg st="4" end="4"/>
                                            </p:txEl>
                                          </p:spTgt>
                                        </p:tgtEl>
                                        <p:attrNameLst>
                                          <p:attrName>ppt_h</p:attrName>
                                        </p:attrNameLst>
                                      </p:cBhvr>
                                      <p:tavLst>
                                        <p:tav tm="0">
                                          <p:val>
                                            <p:strVal val="ppt_h"/>
                                          </p:val>
                                        </p:tav>
                                        <p:tav tm="100000">
                                          <p:val>
                                            <p:fltVal val="0"/>
                                          </p:val>
                                        </p:tav>
                                      </p:tavLst>
                                    </p:anim>
                                    <p:animEffect transition="out" filter="fade">
                                      <p:cBhvr>
                                        <p:cTn id="143" dur="500"/>
                                        <p:tgtEl>
                                          <p:spTgt spid="2">
                                            <p:txEl>
                                              <p:pRg st="4" end="4"/>
                                            </p:txEl>
                                          </p:spTgt>
                                        </p:tgtEl>
                                      </p:cBhvr>
                                    </p:animEffect>
                                    <p:set>
                                      <p:cBhvr>
                                        <p:cTn id="144" dur="1" fill="hold">
                                          <p:stCondLst>
                                            <p:cond delay="499"/>
                                          </p:stCondLst>
                                        </p:cTn>
                                        <p:tgtEl>
                                          <p:spTgt spid="2">
                                            <p:txEl>
                                              <p:pRg st="4" end="4"/>
                                            </p:txEl>
                                          </p:spTgt>
                                        </p:tgtEl>
                                        <p:attrNameLst>
                                          <p:attrName>style.visibility</p:attrName>
                                        </p:attrNameLst>
                                      </p:cBhvr>
                                      <p:to>
                                        <p:strVal val="hidden"/>
                                      </p:to>
                                    </p:set>
                                  </p:childTnLst>
                                </p:cTn>
                              </p:par>
                              <p:par>
                                <p:cTn id="145" presetID="53" presetClass="exit" presetSubtype="0" fill="hold" nodeType="withEffect">
                                  <p:stCondLst>
                                    <p:cond delay="0"/>
                                  </p:stCondLst>
                                  <p:childTnLst>
                                    <p:anim calcmode="lin" valueType="num">
                                      <p:cBhvr>
                                        <p:cTn id="146" dur="500"/>
                                        <p:tgtEl>
                                          <p:spTgt spid="2">
                                            <p:txEl>
                                              <p:pRg st="5" end="5"/>
                                            </p:txEl>
                                          </p:spTgt>
                                        </p:tgtEl>
                                        <p:attrNameLst>
                                          <p:attrName>ppt_w</p:attrName>
                                        </p:attrNameLst>
                                      </p:cBhvr>
                                      <p:tavLst>
                                        <p:tav tm="0">
                                          <p:val>
                                            <p:strVal val="ppt_w"/>
                                          </p:val>
                                        </p:tav>
                                        <p:tav tm="100000">
                                          <p:val>
                                            <p:fltVal val="0"/>
                                          </p:val>
                                        </p:tav>
                                      </p:tavLst>
                                    </p:anim>
                                    <p:anim calcmode="lin" valueType="num">
                                      <p:cBhvr>
                                        <p:cTn id="147" dur="500"/>
                                        <p:tgtEl>
                                          <p:spTgt spid="2">
                                            <p:txEl>
                                              <p:pRg st="5" end="5"/>
                                            </p:txEl>
                                          </p:spTgt>
                                        </p:tgtEl>
                                        <p:attrNameLst>
                                          <p:attrName>ppt_h</p:attrName>
                                        </p:attrNameLst>
                                      </p:cBhvr>
                                      <p:tavLst>
                                        <p:tav tm="0">
                                          <p:val>
                                            <p:strVal val="ppt_h"/>
                                          </p:val>
                                        </p:tav>
                                        <p:tav tm="100000">
                                          <p:val>
                                            <p:fltVal val="0"/>
                                          </p:val>
                                        </p:tav>
                                      </p:tavLst>
                                    </p:anim>
                                    <p:animEffect transition="out" filter="fade">
                                      <p:cBhvr>
                                        <p:cTn id="148" dur="500"/>
                                        <p:tgtEl>
                                          <p:spTgt spid="2">
                                            <p:txEl>
                                              <p:pRg st="5" end="5"/>
                                            </p:txEl>
                                          </p:spTgt>
                                        </p:tgtEl>
                                      </p:cBhvr>
                                    </p:animEffect>
                                    <p:set>
                                      <p:cBhvr>
                                        <p:cTn id="149" dur="1" fill="hold">
                                          <p:stCondLst>
                                            <p:cond delay="499"/>
                                          </p:stCondLst>
                                        </p:cTn>
                                        <p:tgtEl>
                                          <p:spTgt spid="2">
                                            <p:txEl>
                                              <p:pRg st="5" end="5"/>
                                            </p:txEl>
                                          </p:spTgt>
                                        </p:tgtEl>
                                        <p:attrNameLst>
                                          <p:attrName>style.visibility</p:attrName>
                                        </p:attrNameLst>
                                      </p:cBhvr>
                                      <p:to>
                                        <p:strVal val="hidden"/>
                                      </p:to>
                                    </p:set>
                                  </p:childTnLst>
                                </p:cTn>
                              </p:par>
                              <p:par>
                                <p:cTn id="150" presetID="53" presetClass="exit" presetSubtype="0" fill="hold" nodeType="withEffect">
                                  <p:stCondLst>
                                    <p:cond delay="0"/>
                                  </p:stCondLst>
                                  <p:childTnLst>
                                    <p:anim calcmode="lin" valueType="num">
                                      <p:cBhvr>
                                        <p:cTn id="151" dur="500"/>
                                        <p:tgtEl>
                                          <p:spTgt spid="2">
                                            <p:txEl>
                                              <p:pRg st="6" end="6"/>
                                            </p:txEl>
                                          </p:spTgt>
                                        </p:tgtEl>
                                        <p:attrNameLst>
                                          <p:attrName>ppt_w</p:attrName>
                                        </p:attrNameLst>
                                      </p:cBhvr>
                                      <p:tavLst>
                                        <p:tav tm="0">
                                          <p:val>
                                            <p:strVal val="ppt_w"/>
                                          </p:val>
                                        </p:tav>
                                        <p:tav tm="100000">
                                          <p:val>
                                            <p:fltVal val="0"/>
                                          </p:val>
                                        </p:tav>
                                      </p:tavLst>
                                    </p:anim>
                                    <p:anim calcmode="lin" valueType="num">
                                      <p:cBhvr>
                                        <p:cTn id="152" dur="500"/>
                                        <p:tgtEl>
                                          <p:spTgt spid="2">
                                            <p:txEl>
                                              <p:pRg st="6" end="6"/>
                                            </p:txEl>
                                          </p:spTgt>
                                        </p:tgtEl>
                                        <p:attrNameLst>
                                          <p:attrName>ppt_h</p:attrName>
                                        </p:attrNameLst>
                                      </p:cBhvr>
                                      <p:tavLst>
                                        <p:tav tm="0">
                                          <p:val>
                                            <p:strVal val="ppt_h"/>
                                          </p:val>
                                        </p:tav>
                                        <p:tav tm="100000">
                                          <p:val>
                                            <p:fltVal val="0"/>
                                          </p:val>
                                        </p:tav>
                                      </p:tavLst>
                                    </p:anim>
                                    <p:animEffect transition="out" filter="fade">
                                      <p:cBhvr>
                                        <p:cTn id="153" dur="500"/>
                                        <p:tgtEl>
                                          <p:spTgt spid="2">
                                            <p:txEl>
                                              <p:pRg st="6" end="6"/>
                                            </p:txEl>
                                          </p:spTgt>
                                        </p:tgtEl>
                                      </p:cBhvr>
                                    </p:animEffect>
                                    <p:set>
                                      <p:cBhvr>
                                        <p:cTn id="154" dur="1" fill="hold">
                                          <p:stCondLst>
                                            <p:cond delay="499"/>
                                          </p:stCondLst>
                                        </p:cTn>
                                        <p:tgtEl>
                                          <p:spTgt spid="2">
                                            <p:txEl>
                                              <p:pRg st="6" end="6"/>
                                            </p:txEl>
                                          </p:spTgt>
                                        </p:tgtEl>
                                        <p:attrNameLst>
                                          <p:attrName>style.visibility</p:attrName>
                                        </p:attrNameLst>
                                      </p:cBhvr>
                                      <p:to>
                                        <p:strVal val="hidden"/>
                                      </p:to>
                                    </p:set>
                                  </p:childTnLst>
                                </p:cTn>
                              </p:par>
                              <p:par>
                                <p:cTn id="155" presetID="53" presetClass="exit" presetSubtype="0" fill="hold" nodeType="withEffect">
                                  <p:stCondLst>
                                    <p:cond delay="0"/>
                                  </p:stCondLst>
                                  <p:childTnLst>
                                    <p:anim calcmode="lin" valueType="num">
                                      <p:cBhvr>
                                        <p:cTn id="156" dur="500"/>
                                        <p:tgtEl>
                                          <p:spTgt spid="2">
                                            <p:txEl>
                                              <p:pRg st="7" end="7"/>
                                            </p:txEl>
                                          </p:spTgt>
                                        </p:tgtEl>
                                        <p:attrNameLst>
                                          <p:attrName>ppt_w</p:attrName>
                                        </p:attrNameLst>
                                      </p:cBhvr>
                                      <p:tavLst>
                                        <p:tav tm="0">
                                          <p:val>
                                            <p:strVal val="ppt_w"/>
                                          </p:val>
                                        </p:tav>
                                        <p:tav tm="100000">
                                          <p:val>
                                            <p:fltVal val="0"/>
                                          </p:val>
                                        </p:tav>
                                      </p:tavLst>
                                    </p:anim>
                                    <p:anim calcmode="lin" valueType="num">
                                      <p:cBhvr>
                                        <p:cTn id="157" dur="500"/>
                                        <p:tgtEl>
                                          <p:spTgt spid="2">
                                            <p:txEl>
                                              <p:pRg st="7" end="7"/>
                                            </p:txEl>
                                          </p:spTgt>
                                        </p:tgtEl>
                                        <p:attrNameLst>
                                          <p:attrName>ppt_h</p:attrName>
                                        </p:attrNameLst>
                                      </p:cBhvr>
                                      <p:tavLst>
                                        <p:tav tm="0">
                                          <p:val>
                                            <p:strVal val="ppt_h"/>
                                          </p:val>
                                        </p:tav>
                                        <p:tav tm="100000">
                                          <p:val>
                                            <p:fltVal val="0"/>
                                          </p:val>
                                        </p:tav>
                                      </p:tavLst>
                                    </p:anim>
                                    <p:animEffect transition="out" filter="fade">
                                      <p:cBhvr>
                                        <p:cTn id="158" dur="500"/>
                                        <p:tgtEl>
                                          <p:spTgt spid="2">
                                            <p:txEl>
                                              <p:pRg st="7" end="7"/>
                                            </p:txEl>
                                          </p:spTgt>
                                        </p:tgtEl>
                                      </p:cBhvr>
                                    </p:animEffect>
                                    <p:set>
                                      <p:cBhvr>
                                        <p:cTn id="159" dur="1" fill="hold">
                                          <p:stCondLst>
                                            <p:cond delay="499"/>
                                          </p:stCondLst>
                                        </p:cTn>
                                        <p:tgtEl>
                                          <p:spTgt spid="2">
                                            <p:txEl>
                                              <p:pRg st="7" end="7"/>
                                            </p:txEl>
                                          </p:spTgt>
                                        </p:tgtEl>
                                        <p:attrNameLst>
                                          <p:attrName>style.visibility</p:attrName>
                                        </p:attrNameLst>
                                      </p:cBhvr>
                                      <p:to>
                                        <p:strVal val="hidden"/>
                                      </p:to>
                                    </p:set>
                                  </p:childTnLst>
                                </p:cTn>
                              </p:par>
                              <p:par>
                                <p:cTn id="160" presetID="53" presetClass="exit" presetSubtype="0" fill="hold" nodeType="withEffect">
                                  <p:stCondLst>
                                    <p:cond delay="0"/>
                                  </p:stCondLst>
                                  <p:childTnLst>
                                    <p:anim calcmode="lin" valueType="num">
                                      <p:cBhvr>
                                        <p:cTn id="161" dur="500"/>
                                        <p:tgtEl>
                                          <p:spTgt spid="2">
                                            <p:txEl>
                                              <p:pRg st="8" end="8"/>
                                            </p:txEl>
                                          </p:spTgt>
                                        </p:tgtEl>
                                        <p:attrNameLst>
                                          <p:attrName>ppt_w</p:attrName>
                                        </p:attrNameLst>
                                      </p:cBhvr>
                                      <p:tavLst>
                                        <p:tav tm="0">
                                          <p:val>
                                            <p:strVal val="ppt_w"/>
                                          </p:val>
                                        </p:tav>
                                        <p:tav tm="100000">
                                          <p:val>
                                            <p:fltVal val="0"/>
                                          </p:val>
                                        </p:tav>
                                      </p:tavLst>
                                    </p:anim>
                                    <p:anim calcmode="lin" valueType="num">
                                      <p:cBhvr>
                                        <p:cTn id="162" dur="500"/>
                                        <p:tgtEl>
                                          <p:spTgt spid="2">
                                            <p:txEl>
                                              <p:pRg st="8" end="8"/>
                                            </p:txEl>
                                          </p:spTgt>
                                        </p:tgtEl>
                                        <p:attrNameLst>
                                          <p:attrName>ppt_h</p:attrName>
                                        </p:attrNameLst>
                                      </p:cBhvr>
                                      <p:tavLst>
                                        <p:tav tm="0">
                                          <p:val>
                                            <p:strVal val="ppt_h"/>
                                          </p:val>
                                        </p:tav>
                                        <p:tav tm="100000">
                                          <p:val>
                                            <p:fltVal val="0"/>
                                          </p:val>
                                        </p:tav>
                                      </p:tavLst>
                                    </p:anim>
                                    <p:animEffect transition="out" filter="fade">
                                      <p:cBhvr>
                                        <p:cTn id="163" dur="500"/>
                                        <p:tgtEl>
                                          <p:spTgt spid="2">
                                            <p:txEl>
                                              <p:pRg st="8" end="8"/>
                                            </p:txEl>
                                          </p:spTgt>
                                        </p:tgtEl>
                                      </p:cBhvr>
                                    </p:animEffect>
                                    <p:set>
                                      <p:cBhvr>
                                        <p:cTn id="164" dur="1" fill="hold">
                                          <p:stCondLst>
                                            <p:cond delay="499"/>
                                          </p:stCondLst>
                                        </p:cTn>
                                        <p:tgtEl>
                                          <p:spTgt spid="2">
                                            <p:txEl>
                                              <p:pRg st="8" end="8"/>
                                            </p:txEl>
                                          </p:spTgt>
                                        </p:tgtEl>
                                        <p:attrNameLst>
                                          <p:attrName>style.visibility</p:attrName>
                                        </p:attrNameLst>
                                      </p:cBhvr>
                                      <p:to>
                                        <p:strVal val="hidden"/>
                                      </p:to>
                                    </p:set>
                                  </p:childTnLst>
                                </p:cTn>
                              </p:par>
                              <p:par>
                                <p:cTn id="165" presetID="53" presetClass="exit" presetSubtype="0" fill="hold" nodeType="withEffect">
                                  <p:stCondLst>
                                    <p:cond delay="0"/>
                                  </p:stCondLst>
                                  <p:childTnLst>
                                    <p:anim calcmode="lin" valueType="num">
                                      <p:cBhvr>
                                        <p:cTn id="166" dur="500"/>
                                        <p:tgtEl>
                                          <p:spTgt spid="2">
                                            <p:txEl>
                                              <p:pRg st="9" end="9"/>
                                            </p:txEl>
                                          </p:spTgt>
                                        </p:tgtEl>
                                        <p:attrNameLst>
                                          <p:attrName>ppt_w</p:attrName>
                                        </p:attrNameLst>
                                      </p:cBhvr>
                                      <p:tavLst>
                                        <p:tav tm="0">
                                          <p:val>
                                            <p:strVal val="ppt_w"/>
                                          </p:val>
                                        </p:tav>
                                        <p:tav tm="100000">
                                          <p:val>
                                            <p:fltVal val="0"/>
                                          </p:val>
                                        </p:tav>
                                      </p:tavLst>
                                    </p:anim>
                                    <p:anim calcmode="lin" valueType="num">
                                      <p:cBhvr>
                                        <p:cTn id="167" dur="500"/>
                                        <p:tgtEl>
                                          <p:spTgt spid="2">
                                            <p:txEl>
                                              <p:pRg st="9" end="9"/>
                                            </p:txEl>
                                          </p:spTgt>
                                        </p:tgtEl>
                                        <p:attrNameLst>
                                          <p:attrName>ppt_h</p:attrName>
                                        </p:attrNameLst>
                                      </p:cBhvr>
                                      <p:tavLst>
                                        <p:tav tm="0">
                                          <p:val>
                                            <p:strVal val="ppt_h"/>
                                          </p:val>
                                        </p:tav>
                                        <p:tav tm="100000">
                                          <p:val>
                                            <p:fltVal val="0"/>
                                          </p:val>
                                        </p:tav>
                                      </p:tavLst>
                                    </p:anim>
                                    <p:animEffect transition="out" filter="fade">
                                      <p:cBhvr>
                                        <p:cTn id="168" dur="500"/>
                                        <p:tgtEl>
                                          <p:spTgt spid="2">
                                            <p:txEl>
                                              <p:pRg st="9" end="9"/>
                                            </p:txEl>
                                          </p:spTgt>
                                        </p:tgtEl>
                                      </p:cBhvr>
                                    </p:animEffect>
                                    <p:set>
                                      <p:cBhvr>
                                        <p:cTn id="169" dur="1" fill="hold">
                                          <p:stCondLst>
                                            <p:cond delay="499"/>
                                          </p:stCondLst>
                                        </p:cTn>
                                        <p:tgtEl>
                                          <p:spTgt spid="2">
                                            <p:txEl>
                                              <p:pRg st="9" end="9"/>
                                            </p:txEl>
                                          </p:spTgt>
                                        </p:tgtEl>
                                        <p:attrNameLst>
                                          <p:attrName>style.visibility</p:attrName>
                                        </p:attrNameLst>
                                      </p:cBhvr>
                                      <p:to>
                                        <p:strVal val="hidden"/>
                                      </p:to>
                                    </p:set>
                                  </p:childTnLst>
                                </p:cTn>
                              </p:par>
                              <p:par>
                                <p:cTn id="170" presetID="53" presetClass="exit" presetSubtype="0" fill="hold" nodeType="withEffect">
                                  <p:stCondLst>
                                    <p:cond delay="0"/>
                                  </p:stCondLst>
                                  <p:childTnLst>
                                    <p:anim calcmode="lin" valueType="num">
                                      <p:cBhvr>
                                        <p:cTn id="171" dur="500"/>
                                        <p:tgtEl>
                                          <p:spTgt spid="2">
                                            <p:txEl>
                                              <p:pRg st="10" end="10"/>
                                            </p:txEl>
                                          </p:spTgt>
                                        </p:tgtEl>
                                        <p:attrNameLst>
                                          <p:attrName>ppt_w</p:attrName>
                                        </p:attrNameLst>
                                      </p:cBhvr>
                                      <p:tavLst>
                                        <p:tav tm="0">
                                          <p:val>
                                            <p:strVal val="ppt_w"/>
                                          </p:val>
                                        </p:tav>
                                        <p:tav tm="100000">
                                          <p:val>
                                            <p:fltVal val="0"/>
                                          </p:val>
                                        </p:tav>
                                      </p:tavLst>
                                    </p:anim>
                                    <p:anim calcmode="lin" valueType="num">
                                      <p:cBhvr>
                                        <p:cTn id="172" dur="500"/>
                                        <p:tgtEl>
                                          <p:spTgt spid="2">
                                            <p:txEl>
                                              <p:pRg st="10" end="10"/>
                                            </p:txEl>
                                          </p:spTgt>
                                        </p:tgtEl>
                                        <p:attrNameLst>
                                          <p:attrName>ppt_h</p:attrName>
                                        </p:attrNameLst>
                                      </p:cBhvr>
                                      <p:tavLst>
                                        <p:tav tm="0">
                                          <p:val>
                                            <p:strVal val="ppt_h"/>
                                          </p:val>
                                        </p:tav>
                                        <p:tav tm="100000">
                                          <p:val>
                                            <p:fltVal val="0"/>
                                          </p:val>
                                        </p:tav>
                                      </p:tavLst>
                                    </p:anim>
                                    <p:animEffect transition="out" filter="fade">
                                      <p:cBhvr>
                                        <p:cTn id="173" dur="500"/>
                                        <p:tgtEl>
                                          <p:spTgt spid="2">
                                            <p:txEl>
                                              <p:pRg st="10" end="10"/>
                                            </p:txEl>
                                          </p:spTgt>
                                        </p:tgtEl>
                                      </p:cBhvr>
                                    </p:animEffect>
                                    <p:set>
                                      <p:cBhvr>
                                        <p:cTn id="174" dur="1" fill="hold">
                                          <p:stCondLst>
                                            <p:cond delay="499"/>
                                          </p:stCondLst>
                                        </p:cTn>
                                        <p:tgtEl>
                                          <p:spTgt spid="2">
                                            <p:txEl>
                                              <p:pRg st="10" end="10"/>
                                            </p:txEl>
                                          </p:spTgt>
                                        </p:tgtEl>
                                        <p:attrNameLst>
                                          <p:attrName>style.visibility</p:attrName>
                                        </p:attrNameLst>
                                      </p:cBhvr>
                                      <p:to>
                                        <p:strVal val="hidden"/>
                                      </p:to>
                                    </p:set>
                                  </p:childTnLst>
                                </p:cTn>
                              </p:par>
                              <p:par>
                                <p:cTn id="175" presetID="53" presetClass="exit" presetSubtype="0" fill="hold" nodeType="withEffect">
                                  <p:stCondLst>
                                    <p:cond delay="0"/>
                                  </p:stCondLst>
                                  <p:childTnLst>
                                    <p:anim calcmode="lin" valueType="num">
                                      <p:cBhvr>
                                        <p:cTn id="176" dur="500"/>
                                        <p:tgtEl>
                                          <p:spTgt spid="2">
                                            <p:txEl>
                                              <p:pRg st="11" end="11"/>
                                            </p:txEl>
                                          </p:spTgt>
                                        </p:tgtEl>
                                        <p:attrNameLst>
                                          <p:attrName>ppt_w</p:attrName>
                                        </p:attrNameLst>
                                      </p:cBhvr>
                                      <p:tavLst>
                                        <p:tav tm="0">
                                          <p:val>
                                            <p:strVal val="ppt_w"/>
                                          </p:val>
                                        </p:tav>
                                        <p:tav tm="100000">
                                          <p:val>
                                            <p:fltVal val="0"/>
                                          </p:val>
                                        </p:tav>
                                      </p:tavLst>
                                    </p:anim>
                                    <p:anim calcmode="lin" valueType="num">
                                      <p:cBhvr>
                                        <p:cTn id="177" dur="500"/>
                                        <p:tgtEl>
                                          <p:spTgt spid="2">
                                            <p:txEl>
                                              <p:pRg st="11" end="11"/>
                                            </p:txEl>
                                          </p:spTgt>
                                        </p:tgtEl>
                                        <p:attrNameLst>
                                          <p:attrName>ppt_h</p:attrName>
                                        </p:attrNameLst>
                                      </p:cBhvr>
                                      <p:tavLst>
                                        <p:tav tm="0">
                                          <p:val>
                                            <p:strVal val="ppt_h"/>
                                          </p:val>
                                        </p:tav>
                                        <p:tav tm="100000">
                                          <p:val>
                                            <p:fltVal val="0"/>
                                          </p:val>
                                        </p:tav>
                                      </p:tavLst>
                                    </p:anim>
                                    <p:animEffect transition="out" filter="fade">
                                      <p:cBhvr>
                                        <p:cTn id="178" dur="500"/>
                                        <p:tgtEl>
                                          <p:spTgt spid="2">
                                            <p:txEl>
                                              <p:pRg st="11" end="11"/>
                                            </p:txEl>
                                          </p:spTgt>
                                        </p:tgtEl>
                                      </p:cBhvr>
                                    </p:animEffect>
                                    <p:set>
                                      <p:cBhvr>
                                        <p:cTn id="179" dur="1" fill="hold">
                                          <p:stCondLst>
                                            <p:cond delay="499"/>
                                          </p:stCondLst>
                                        </p:cTn>
                                        <p:tgtEl>
                                          <p:spTgt spid="2">
                                            <p:txEl>
                                              <p:pRg st="11" end="11"/>
                                            </p:txEl>
                                          </p:spTgt>
                                        </p:tgtEl>
                                        <p:attrNameLst>
                                          <p:attrName>style.visibility</p:attrName>
                                        </p:attrNameLst>
                                      </p:cBhvr>
                                      <p:to>
                                        <p:strVal val="hidden"/>
                                      </p:to>
                                    </p:set>
                                  </p:childTnLst>
                                </p:cTn>
                              </p:par>
                              <p:par>
                                <p:cTn id="180" presetID="53" presetClass="exit" presetSubtype="0" fill="hold" nodeType="withEffect">
                                  <p:stCondLst>
                                    <p:cond delay="0"/>
                                  </p:stCondLst>
                                  <p:childTnLst>
                                    <p:anim calcmode="lin" valueType="num">
                                      <p:cBhvr>
                                        <p:cTn id="181" dur="500"/>
                                        <p:tgtEl>
                                          <p:spTgt spid="2">
                                            <p:txEl>
                                              <p:pRg st="12" end="12"/>
                                            </p:txEl>
                                          </p:spTgt>
                                        </p:tgtEl>
                                        <p:attrNameLst>
                                          <p:attrName>ppt_w</p:attrName>
                                        </p:attrNameLst>
                                      </p:cBhvr>
                                      <p:tavLst>
                                        <p:tav tm="0">
                                          <p:val>
                                            <p:strVal val="ppt_w"/>
                                          </p:val>
                                        </p:tav>
                                        <p:tav tm="100000">
                                          <p:val>
                                            <p:fltVal val="0"/>
                                          </p:val>
                                        </p:tav>
                                      </p:tavLst>
                                    </p:anim>
                                    <p:anim calcmode="lin" valueType="num">
                                      <p:cBhvr>
                                        <p:cTn id="182" dur="500"/>
                                        <p:tgtEl>
                                          <p:spTgt spid="2">
                                            <p:txEl>
                                              <p:pRg st="12" end="12"/>
                                            </p:txEl>
                                          </p:spTgt>
                                        </p:tgtEl>
                                        <p:attrNameLst>
                                          <p:attrName>ppt_h</p:attrName>
                                        </p:attrNameLst>
                                      </p:cBhvr>
                                      <p:tavLst>
                                        <p:tav tm="0">
                                          <p:val>
                                            <p:strVal val="ppt_h"/>
                                          </p:val>
                                        </p:tav>
                                        <p:tav tm="100000">
                                          <p:val>
                                            <p:fltVal val="0"/>
                                          </p:val>
                                        </p:tav>
                                      </p:tavLst>
                                    </p:anim>
                                    <p:animEffect transition="out" filter="fade">
                                      <p:cBhvr>
                                        <p:cTn id="183" dur="500"/>
                                        <p:tgtEl>
                                          <p:spTgt spid="2">
                                            <p:txEl>
                                              <p:pRg st="12" end="12"/>
                                            </p:txEl>
                                          </p:spTgt>
                                        </p:tgtEl>
                                      </p:cBhvr>
                                    </p:animEffect>
                                    <p:set>
                                      <p:cBhvr>
                                        <p:cTn id="184" dur="1" fill="hold">
                                          <p:stCondLst>
                                            <p:cond delay="499"/>
                                          </p:stCondLst>
                                        </p:cTn>
                                        <p:tgtEl>
                                          <p:spTgt spid="2">
                                            <p:txEl>
                                              <p:pRg st="12" end="12"/>
                                            </p:txEl>
                                          </p:spTgt>
                                        </p:tgtEl>
                                        <p:attrNameLst>
                                          <p:attrName>style.visibility</p:attrName>
                                        </p:attrNameLst>
                                      </p:cBhvr>
                                      <p:to>
                                        <p:strVal val="hidden"/>
                                      </p:to>
                                    </p:set>
                                  </p:childTnLst>
                                </p:cTn>
                              </p:par>
                              <p:par>
                                <p:cTn id="185" presetID="53" presetClass="exit" presetSubtype="0" fill="hold" nodeType="withEffect">
                                  <p:stCondLst>
                                    <p:cond delay="0"/>
                                  </p:stCondLst>
                                  <p:childTnLst>
                                    <p:anim calcmode="lin" valueType="num">
                                      <p:cBhvr>
                                        <p:cTn id="186" dur="500"/>
                                        <p:tgtEl>
                                          <p:spTgt spid="2">
                                            <p:txEl>
                                              <p:pRg st="13" end="13"/>
                                            </p:txEl>
                                          </p:spTgt>
                                        </p:tgtEl>
                                        <p:attrNameLst>
                                          <p:attrName>ppt_w</p:attrName>
                                        </p:attrNameLst>
                                      </p:cBhvr>
                                      <p:tavLst>
                                        <p:tav tm="0">
                                          <p:val>
                                            <p:strVal val="ppt_w"/>
                                          </p:val>
                                        </p:tav>
                                        <p:tav tm="100000">
                                          <p:val>
                                            <p:fltVal val="0"/>
                                          </p:val>
                                        </p:tav>
                                      </p:tavLst>
                                    </p:anim>
                                    <p:anim calcmode="lin" valueType="num">
                                      <p:cBhvr>
                                        <p:cTn id="187" dur="500"/>
                                        <p:tgtEl>
                                          <p:spTgt spid="2">
                                            <p:txEl>
                                              <p:pRg st="13" end="13"/>
                                            </p:txEl>
                                          </p:spTgt>
                                        </p:tgtEl>
                                        <p:attrNameLst>
                                          <p:attrName>ppt_h</p:attrName>
                                        </p:attrNameLst>
                                      </p:cBhvr>
                                      <p:tavLst>
                                        <p:tav tm="0">
                                          <p:val>
                                            <p:strVal val="ppt_h"/>
                                          </p:val>
                                        </p:tav>
                                        <p:tav tm="100000">
                                          <p:val>
                                            <p:fltVal val="0"/>
                                          </p:val>
                                        </p:tav>
                                      </p:tavLst>
                                    </p:anim>
                                    <p:animEffect transition="out" filter="fade">
                                      <p:cBhvr>
                                        <p:cTn id="188" dur="500"/>
                                        <p:tgtEl>
                                          <p:spTgt spid="2">
                                            <p:txEl>
                                              <p:pRg st="13" end="13"/>
                                            </p:txEl>
                                          </p:spTgt>
                                        </p:tgtEl>
                                      </p:cBhvr>
                                    </p:animEffect>
                                    <p:set>
                                      <p:cBhvr>
                                        <p:cTn id="189" dur="1" fill="hold">
                                          <p:stCondLst>
                                            <p:cond delay="499"/>
                                          </p:stCondLst>
                                        </p:cTn>
                                        <p:tgtEl>
                                          <p:spTgt spid="2">
                                            <p:txEl>
                                              <p:pRg st="13" end="13"/>
                                            </p:txEl>
                                          </p:spTgt>
                                        </p:tgtEl>
                                        <p:attrNameLst>
                                          <p:attrName>style.visibility</p:attrName>
                                        </p:attrNameLst>
                                      </p:cBhvr>
                                      <p:to>
                                        <p:strVal val="hidden"/>
                                      </p:to>
                                    </p:set>
                                  </p:childTnLst>
                                </p:cTn>
                              </p:par>
                              <p:par>
                                <p:cTn id="190" presetID="53" presetClass="exit" presetSubtype="0" fill="hold" nodeType="withEffect">
                                  <p:stCondLst>
                                    <p:cond delay="0"/>
                                  </p:stCondLst>
                                  <p:childTnLst>
                                    <p:anim calcmode="lin" valueType="num">
                                      <p:cBhvr>
                                        <p:cTn id="191" dur="500"/>
                                        <p:tgtEl>
                                          <p:spTgt spid="2">
                                            <p:txEl>
                                              <p:pRg st="14" end="14"/>
                                            </p:txEl>
                                          </p:spTgt>
                                        </p:tgtEl>
                                        <p:attrNameLst>
                                          <p:attrName>ppt_w</p:attrName>
                                        </p:attrNameLst>
                                      </p:cBhvr>
                                      <p:tavLst>
                                        <p:tav tm="0">
                                          <p:val>
                                            <p:strVal val="ppt_w"/>
                                          </p:val>
                                        </p:tav>
                                        <p:tav tm="100000">
                                          <p:val>
                                            <p:fltVal val="0"/>
                                          </p:val>
                                        </p:tav>
                                      </p:tavLst>
                                    </p:anim>
                                    <p:anim calcmode="lin" valueType="num">
                                      <p:cBhvr>
                                        <p:cTn id="192" dur="500"/>
                                        <p:tgtEl>
                                          <p:spTgt spid="2">
                                            <p:txEl>
                                              <p:pRg st="14" end="14"/>
                                            </p:txEl>
                                          </p:spTgt>
                                        </p:tgtEl>
                                        <p:attrNameLst>
                                          <p:attrName>ppt_h</p:attrName>
                                        </p:attrNameLst>
                                      </p:cBhvr>
                                      <p:tavLst>
                                        <p:tav tm="0">
                                          <p:val>
                                            <p:strVal val="ppt_h"/>
                                          </p:val>
                                        </p:tav>
                                        <p:tav tm="100000">
                                          <p:val>
                                            <p:fltVal val="0"/>
                                          </p:val>
                                        </p:tav>
                                      </p:tavLst>
                                    </p:anim>
                                    <p:animEffect transition="out" filter="fade">
                                      <p:cBhvr>
                                        <p:cTn id="193" dur="500"/>
                                        <p:tgtEl>
                                          <p:spTgt spid="2">
                                            <p:txEl>
                                              <p:pRg st="14" end="14"/>
                                            </p:txEl>
                                          </p:spTgt>
                                        </p:tgtEl>
                                      </p:cBhvr>
                                    </p:animEffect>
                                    <p:set>
                                      <p:cBhvr>
                                        <p:cTn id="194" dur="1" fill="hold">
                                          <p:stCondLst>
                                            <p:cond delay="499"/>
                                          </p:stCondLst>
                                        </p:cTn>
                                        <p:tgtEl>
                                          <p:spTgt spid="2">
                                            <p:txEl>
                                              <p:pRg st="14" end="14"/>
                                            </p:txEl>
                                          </p:spTgt>
                                        </p:tgtEl>
                                        <p:attrNameLst>
                                          <p:attrName>style.visibility</p:attrName>
                                        </p:attrNameLst>
                                      </p:cBhvr>
                                      <p:to>
                                        <p:strVal val="hidden"/>
                                      </p:to>
                                    </p:set>
                                  </p:childTnLst>
                                </p:cTn>
                              </p:par>
                              <p:par>
                                <p:cTn id="195" presetID="53" presetClass="exit" presetSubtype="0" fill="hold" nodeType="withEffect">
                                  <p:stCondLst>
                                    <p:cond delay="0"/>
                                  </p:stCondLst>
                                  <p:childTnLst>
                                    <p:anim calcmode="lin" valueType="num">
                                      <p:cBhvr>
                                        <p:cTn id="196" dur="500"/>
                                        <p:tgtEl>
                                          <p:spTgt spid="2">
                                            <p:txEl>
                                              <p:pRg st="15" end="15"/>
                                            </p:txEl>
                                          </p:spTgt>
                                        </p:tgtEl>
                                        <p:attrNameLst>
                                          <p:attrName>ppt_w</p:attrName>
                                        </p:attrNameLst>
                                      </p:cBhvr>
                                      <p:tavLst>
                                        <p:tav tm="0">
                                          <p:val>
                                            <p:strVal val="ppt_w"/>
                                          </p:val>
                                        </p:tav>
                                        <p:tav tm="100000">
                                          <p:val>
                                            <p:fltVal val="0"/>
                                          </p:val>
                                        </p:tav>
                                      </p:tavLst>
                                    </p:anim>
                                    <p:anim calcmode="lin" valueType="num">
                                      <p:cBhvr>
                                        <p:cTn id="197" dur="500"/>
                                        <p:tgtEl>
                                          <p:spTgt spid="2">
                                            <p:txEl>
                                              <p:pRg st="15" end="15"/>
                                            </p:txEl>
                                          </p:spTgt>
                                        </p:tgtEl>
                                        <p:attrNameLst>
                                          <p:attrName>ppt_h</p:attrName>
                                        </p:attrNameLst>
                                      </p:cBhvr>
                                      <p:tavLst>
                                        <p:tav tm="0">
                                          <p:val>
                                            <p:strVal val="ppt_h"/>
                                          </p:val>
                                        </p:tav>
                                        <p:tav tm="100000">
                                          <p:val>
                                            <p:fltVal val="0"/>
                                          </p:val>
                                        </p:tav>
                                      </p:tavLst>
                                    </p:anim>
                                    <p:animEffect transition="out" filter="fade">
                                      <p:cBhvr>
                                        <p:cTn id="198" dur="500"/>
                                        <p:tgtEl>
                                          <p:spTgt spid="2">
                                            <p:txEl>
                                              <p:pRg st="15" end="15"/>
                                            </p:txEl>
                                          </p:spTgt>
                                        </p:tgtEl>
                                      </p:cBhvr>
                                    </p:animEffect>
                                    <p:set>
                                      <p:cBhvr>
                                        <p:cTn id="199" dur="1" fill="hold">
                                          <p:stCondLst>
                                            <p:cond delay="499"/>
                                          </p:stCondLst>
                                        </p:cTn>
                                        <p:tgtEl>
                                          <p:spTgt spid="2">
                                            <p:txEl>
                                              <p:pRg st="15" end="15"/>
                                            </p:txEl>
                                          </p:spTgt>
                                        </p:tgtEl>
                                        <p:attrNameLst>
                                          <p:attrName>style.visibility</p:attrName>
                                        </p:attrNameLst>
                                      </p:cBhvr>
                                      <p:to>
                                        <p:strVal val="hidden"/>
                                      </p:to>
                                    </p:set>
                                  </p:childTnLst>
                                </p:cTn>
                              </p:par>
                              <p:par>
                                <p:cTn id="200" presetID="53" presetClass="exit" presetSubtype="0" fill="hold" nodeType="withEffect">
                                  <p:stCondLst>
                                    <p:cond delay="0"/>
                                  </p:stCondLst>
                                  <p:childTnLst>
                                    <p:anim calcmode="lin" valueType="num">
                                      <p:cBhvr>
                                        <p:cTn id="201" dur="500"/>
                                        <p:tgtEl>
                                          <p:spTgt spid="2">
                                            <p:txEl>
                                              <p:pRg st="16" end="16"/>
                                            </p:txEl>
                                          </p:spTgt>
                                        </p:tgtEl>
                                        <p:attrNameLst>
                                          <p:attrName>ppt_w</p:attrName>
                                        </p:attrNameLst>
                                      </p:cBhvr>
                                      <p:tavLst>
                                        <p:tav tm="0">
                                          <p:val>
                                            <p:strVal val="ppt_w"/>
                                          </p:val>
                                        </p:tav>
                                        <p:tav tm="100000">
                                          <p:val>
                                            <p:fltVal val="0"/>
                                          </p:val>
                                        </p:tav>
                                      </p:tavLst>
                                    </p:anim>
                                    <p:anim calcmode="lin" valueType="num">
                                      <p:cBhvr>
                                        <p:cTn id="202" dur="500"/>
                                        <p:tgtEl>
                                          <p:spTgt spid="2">
                                            <p:txEl>
                                              <p:pRg st="16" end="16"/>
                                            </p:txEl>
                                          </p:spTgt>
                                        </p:tgtEl>
                                        <p:attrNameLst>
                                          <p:attrName>ppt_h</p:attrName>
                                        </p:attrNameLst>
                                      </p:cBhvr>
                                      <p:tavLst>
                                        <p:tav tm="0">
                                          <p:val>
                                            <p:strVal val="ppt_h"/>
                                          </p:val>
                                        </p:tav>
                                        <p:tav tm="100000">
                                          <p:val>
                                            <p:fltVal val="0"/>
                                          </p:val>
                                        </p:tav>
                                      </p:tavLst>
                                    </p:anim>
                                    <p:animEffect transition="out" filter="fade">
                                      <p:cBhvr>
                                        <p:cTn id="203" dur="500"/>
                                        <p:tgtEl>
                                          <p:spTgt spid="2">
                                            <p:txEl>
                                              <p:pRg st="16" end="16"/>
                                            </p:txEl>
                                          </p:spTgt>
                                        </p:tgtEl>
                                      </p:cBhvr>
                                    </p:animEffect>
                                    <p:set>
                                      <p:cBhvr>
                                        <p:cTn id="204" dur="1" fill="hold">
                                          <p:stCondLst>
                                            <p:cond delay="499"/>
                                          </p:stCondLst>
                                        </p:cTn>
                                        <p:tgtEl>
                                          <p:spTgt spid="2">
                                            <p:txEl>
                                              <p:pRg st="16" end="16"/>
                                            </p:txEl>
                                          </p:spTgt>
                                        </p:tgtEl>
                                        <p:attrNameLst>
                                          <p:attrName>style.visibility</p:attrName>
                                        </p:attrNameLst>
                                      </p:cBhvr>
                                      <p:to>
                                        <p:strVal val="hidden"/>
                                      </p:to>
                                    </p:set>
                                  </p:childTnLst>
                                </p:cTn>
                              </p:par>
                              <p:par>
                                <p:cTn id="205" presetID="53" presetClass="exit" presetSubtype="32" fill="hold" nodeType="withEffect">
                                  <p:stCondLst>
                                    <p:cond delay="0"/>
                                  </p:stCondLst>
                                  <p:childTnLst>
                                    <p:anim calcmode="lin" valueType="num">
                                      <p:cBhvr>
                                        <p:cTn id="206" dur="500"/>
                                        <p:tgtEl>
                                          <p:spTgt spid="13"/>
                                        </p:tgtEl>
                                        <p:attrNameLst>
                                          <p:attrName>ppt_w</p:attrName>
                                        </p:attrNameLst>
                                      </p:cBhvr>
                                      <p:tavLst>
                                        <p:tav tm="0">
                                          <p:val>
                                            <p:strVal val="ppt_w"/>
                                          </p:val>
                                        </p:tav>
                                        <p:tav tm="100000">
                                          <p:val>
                                            <p:fltVal val="0"/>
                                          </p:val>
                                        </p:tav>
                                      </p:tavLst>
                                    </p:anim>
                                    <p:anim calcmode="lin" valueType="num">
                                      <p:cBhvr>
                                        <p:cTn id="207" dur="500"/>
                                        <p:tgtEl>
                                          <p:spTgt spid="13"/>
                                        </p:tgtEl>
                                        <p:attrNameLst>
                                          <p:attrName>ppt_h</p:attrName>
                                        </p:attrNameLst>
                                      </p:cBhvr>
                                      <p:tavLst>
                                        <p:tav tm="0">
                                          <p:val>
                                            <p:strVal val="ppt_h"/>
                                          </p:val>
                                        </p:tav>
                                        <p:tav tm="100000">
                                          <p:val>
                                            <p:fltVal val="0"/>
                                          </p:val>
                                        </p:tav>
                                      </p:tavLst>
                                    </p:anim>
                                    <p:animEffect transition="out" filter="fade">
                                      <p:cBhvr>
                                        <p:cTn id="208" dur="500"/>
                                        <p:tgtEl>
                                          <p:spTgt spid="13"/>
                                        </p:tgtEl>
                                      </p:cBhvr>
                                    </p:animEffect>
                                    <p:set>
                                      <p:cBhvr>
                                        <p:cTn id="209" dur="1" fill="hold">
                                          <p:stCondLst>
                                            <p:cond delay="499"/>
                                          </p:stCondLst>
                                        </p:cTn>
                                        <p:tgtEl>
                                          <p:spTgt spid="13"/>
                                        </p:tgtEl>
                                        <p:attrNameLst>
                                          <p:attrName>style.visibility</p:attrName>
                                        </p:attrNameLst>
                                      </p:cBhvr>
                                      <p:to>
                                        <p:strVal val="hidden"/>
                                      </p:to>
                                    </p:set>
                                  </p:childTnLst>
                                </p:cTn>
                              </p:par>
                              <p:par>
                                <p:cTn id="210" presetID="53" presetClass="exit" presetSubtype="32" fill="hold" nodeType="withEffect">
                                  <p:stCondLst>
                                    <p:cond delay="0"/>
                                  </p:stCondLst>
                                  <p:childTnLst>
                                    <p:anim calcmode="lin" valueType="num">
                                      <p:cBhvr>
                                        <p:cTn id="211" dur="500"/>
                                        <p:tgtEl>
                                          <p:spTgt spid="16"/>
                                        </p:tgtEl>
                                        <p:attrNameLst>
                                          <p:attrName>ppt_w</p:attrName>
                                        </p:attrNameLst>
                                      </p:cBhvr>
                                      <p:tavLst>
                                        <p:tav tm="0">
                                          <p:val>
                                            <p:strVal val="ppt_w"/>
                                          </p:val>
                                        </p:tav>
                                        <p:tav tm="100000">
                                          <p:val>
                                            <p:fltVal val="0"/>
                                          </p:val>
                                        </p:tav>
                                      </p:tavLst>
                                    </p:anim>
                                    <p:anim calcmode="lin" valueType="num">
                                      <p:cBhvr>
                                        <p:cTn id="212" dur="500"/>
                                        <p:tgtEl>
                                          <p:spTgt spid="16"/>
                                        </p:tgtEl>
                                        <p:attrNameLst>
                                          <p:attrName>ppt_h</p:attrName>
                                        </p:attrNameLst>
                                      </p:cBhvr>
                                      <p:tavLst>
                                        <p:tav tm="0">
                                          <p:val>
                                            <p:strVal val="ppt_h"/>
                                          </p:val>
                                        </p:tav>
                                        <p:tav tm="100000">
                                          <p:val>
                                            <p:fltVal val="0"/>
                                          </p:val>
                                        </p:tav>
                                      </p:tavLst>
                                    </p:anim>
                                    <p:animEffect transition="out" filter="fade">
                                      <p:cBhvr>
                                        <p:cTn id="213" dur="500"/>
                                        <p:tgtEl>
                                          <p:spTgt spid="16"/>
                                        </p:tgtEl>
                                      </p:cBhvr>
                                    </p:animEffect>
                                    <p:set>
                                      <p:cBhvr>
                                        <p:cTn id="214" dur="1" fill="hold">
                                          <p:stCondLst>
                                            <p:cond delay="499"/>
                                          </p:stCondLst>
                                        </p:cTn>
                                        <p:tgtEl>
                                          <p:spTgt spid="16"/>
                                        </p:tgtEl>
                                        <p:attrNameLst>
                                          <p:attrName>style.visibility</p:attrName>
                                        </p:attrNameLst>
                                      </p:cBhvr>
                                      <p:to>
                                        <p:strVal val="hidden"/>
                                      </p:to>
                                    </p:set>
                                  </p:childTnLst>
                                </p:cTn>
                              </p:par>
                              <p:par>
                                <p:cTn id="215" presetID="53" presetClass="exit" presetSubtype="32" fill="hold" nodeType="withEffect">
                                  <p:stCondLst>
                                    <p:cond delay="0"/>
                                  </p:stCondLst>
                                  <p:childTnLst>
                                    <p:anim calcmode="lin" valueType="num">
                                      <p:cBhvr>
                                        <p:cTn id="216" dur="500"/>
                                        <p:tgtEl>
                                          <p:spTgt spid="3"/>
                                        </p:tgtEl>
                                        <p:attrNameLst>
                                          <p:attrName>ppt_w</p:attrName>
                                        </p:attrNameLst>
                                      </p:cBhvr>
                                      <p:tavLst>
                                        <p:tav tm="0">
                                          <p:val>
                                            <p:strVal val="ppt_w"/>
                                          </p:val>
                                        </p:tav>
                                        <p:tav tm="100000">
                                          <p:val>
                                            <p:fltVal val="0"/>
                                          </p:val>
                                        </p:tav>
                                      </p:tavLst>
                                    </p:anim>
                                    <p:anim calcmode="lin" valueType="num">
                                      <p:cBhvr>
                                        <p:cTn id="217" dur="500"/>
                                        <p:tgtEl>
                                          <p:spTgt spid="3"/>
                                        </p:tgtEl>
                                        <p:attrNameLst>
                                          <p:attrName>ppt_h</p:attrName>
                                        </p:attrNameLst>
                                      </p:cBhvr>
                                      <p:tavLst>
                                        <p:tav tm="0">
                                          <p:val>
                                            <p:strVal val="ppt_h"/>
                                          </p:val>
                                        </p:tav>
                                        <p:tav tm="100000">
                                          <p:val>
                                            <p:fltVal val="0"/>
                                          </p:val>
                                        </p:tav>
                                      </p:tavLst>
                                    </p:anim>
                                    <p:animEffect transition="out" filter="fade">
                                      <p:cBhvr>
                                        <p:cTn id="218" dur="500"/>
                                        <p:tgtEl>
                                          <p:spTgt spid="3"/>
                                        </p:tgtEl>
                                      </p:cBhvr>
                                    </p:animEffect>
                                    <p:set>
                                      <p:cBhvr>
                                        <p:cTn id="219"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7B71495-0019-4044-AD8A-A600CF387C7E}"/>
              </a:ext>
            </a:extLst>
          </p:cNvPr>
          <p:cNvSpPr txBox="1">
            <a:spLocks noChangeArrowheads="1"/>
          </p:cNvSpPr>
          <p:nvPr/>
        </p:nvSpPr>
        <p:spPr>
          <a:xfrm>
            <a:off x="5003800" y="1074738"/>
            <a:ext cx="3159125" cy="3687762"/>
          </a:xfrm>
          <a:prstGeom prst="rect">
            <a:avLst/>
          </a:prstGeom>
          <a:ln w="12700"/>
        </p:spPr>
        <p:txBody>
          <a:bodyPr/>
          <a:lst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a:lstStyle>
          <a:p>
            <a:pPr marL="272654" indent="-272654">
              <a:spcBef>
                <a:spcPts val="0"/>
              </a:spcBef>
              <a:buFont typeface="Wingdings" pitchFamily="2" charset="2"/>
              <a:buNone/>
              <a:defRPr/>
            </a:pPr>
            <a:r>
              <a:rPr lang="en-US" altLang="zh-CN" sz="2000" b="1" i="1" dirty="0" err="1">
                <a:solidFill>
                  <a:schemeClr val="tx2">
                    <a:lumMod val="60000"/>
                    <a:lumOff val="40000"/>
                  </a:schemeClr>
                </a:solidFill>
                <a:cs typeface="Times New Roman" pitchFamily="18" charset="0"/>
                <a:sym typeface="Times New Roman" pitchFamily="18" charset="0"/>
              </a:rPr>
              <a:t>Tval</a:t>
            </a:r>
            <a:r>
              <a:rPr lang="en-US" altLang="zh-CN" sz="2000" b="1" i="1" dirty="0">
                <a:solidFill>
                  <a:schemeClr val="tx2">
                    <a:lumMod val="60000"/>
                    <a:lumOff val="40000"/>
                  </a:schemeClr>
                </a:solidFill>
                <a:cs typeface="Times New Roman" pitchFamily="18" charset="0"/>
                <a:sym typeface="Times New Roman" pitchFamily="18" charset="0"/>
              </a:rPr>
              <a:t> </a:t>
            </a:r>
            <a:r>
              <a:rPr lang="en-US" altLang="zh-CN" sz="2000" b="1" i="1" dirty="0">
                <a:cs typeface="Times New Roman" pitchFamily="18" charset="0"/>
                <a:sym typeface="Times New Roman" pitchFamily="18" charset="0"/>
              </a:rPr>
              <a:t>T</a:t>
            </a:r>
            <a:r>
              <a:rPr lang="en-US" altLang="zh-CN" sz="2000" b="1" dirty="0">
                <a:cs typeface="Times New Roman" pitchFamily="18" charset="0"/>
                <a:sym typeface="Times New Roman" pitchFamily="18" charset="0"/>
              </a:rPr>
              <a:t>(</a:t>
            </a:r>
            <a:r>
              <a:rPr lang="en-US" altLang="zh-CN" sz="2000" b="1" i="1" dirty="0">
                <a:cs typeface="Times New Roman" pitchFamily="18" charset="0"/>
                <a:sym typeface="Times New Roman" pitchFamily="18" charset="0"/>
              </a:rPr>
              <a:t>token</a:t>
            </a:r>
            <a:r>
              <a:rPr lang="en-US" altLang="zh-CN" sz="2000" b="1" dirty="0">
                <a:cs typeface="Times New Roman" pitchFamily="18" charset="0"/>
                <a:sym typeface="Times New Roman" pitchFamily="18" charset="0"/>
              </a:rPr>
              <a:t>)</a:t>
            </a:r>
          </a:p>
          <a:p>
            <a:pPr marL="272654" indent="-272654">
              <a:spcBef>
                <a:spcPts val="0"/>
              </a:spcBef>
              <a:buFont typeface="Wingdings" pitchFamily="2" charset="2"/>
              <a:buNone/>
              <a:defRPr/>
            </a:pPr>
            <a:r>
              <a:rPr lang="en-US" altLang="zh-CN" sz="2000" b="1" dirty="0">
                <a:cs typeface="Times New Roman" pitchFamily="18" charset="0"/>
                <a:sym typeface="Times New Roman" pitchFamily="18" charset="0"/>
              </a:rPr>
              <a:t>{</a:t>
            </a:r>
          </a:p>
          <a:p>
            <a:pPr marL="272654" indent="-272654">
              <a:spcBef>
                <a:spcPts val="0"/>
              </a:spcBef>
              <a:buFont typeface="Wingdings" pitchFamily="2" charset="2"/>
              <a:buNone/>
              <a:defRPr/>
            </a:pPr>
            <a:r>
              <a:rPr lang="en-US" altLang="zh-CN" sz="2000" b="1" i="1" dirty="0">
                <a:cs typeface="Times New Roman" pitchFamily="18" charset="0"/>
                <a:sym typeface="Times New Roman" pitchFamily="18" charset="0"/>
              </a:rPr>
              <a:t>	</a:t>
            </a:r>
            <a:r>
              <a:rPr lang="en-US" altLang="zh-CN" sz="2000" b="1" i="1" dirty="0">
                <a:solidFill>
                  <a:schemeClr val="tx2">
                    <a:lumMod val="60000"/>
                    <a:lumOff val="40000"/>
                  </a:schemeClr>
                </a:solidFill>
                <a:cs typeface="Times New Roman" pitchFamily="18" charset="0"/>
                <a:sym typeface="Times New Roman" pitchFamily="18" charset="0"/>
              </a:rPr>
              <a:t>D</a:t>
            </a:r>
            <a:r>
              <a:rPr lang="zh-CN" altLang="en-US" sz="2000" b="1" dirty="0">
                <a:solidFill>
                  <a:schemeClr val="tx2">
                    <a:lumMod val="60000"/>
                    <a:lumOff val="40000"/>
                  </a:schemeClr>
                </a:solidFill>
                <a:cs typeface="Times New Roman" pitchFamily="18" charset="0"/>
                <a:sym typeface="Times New Roman" pitchFamily="18" charset="0"/>
              </a:rPr>
              <a:t>：</a:t>
            </a:r>
            <a:r>
              <a:rPr lang="en-US" altLang="zh-CN" sz="2000" b="1" i="1" dirty="0" err="1">
                <a:solidFill>
                  <a:schemeClr val="tx2">
                    <a:lumMod val="60000"/>
                    <a:lumOff val="40000"/>
                  </a:schemeClr>
                </a:solidFill>
                <a:cs typeface="Times New Roman" pitchFamily="18" charset="0"/>
                <a:sym typeface="Times New Roman" pitchFamily="18" charset="0"/>
              </a:rPr>
              <a:t>Fval</a:t>
            </a:r>
            <a:r>
              <a:rPr lang="en-US" altLang="zh-CN" sz="2000" b="1" i="1" dirty="0">
                <a:solidFill>
                  <a:schemeClr val="tx2">
                    <a:lumMod val="60000"/>
                    <a:lumOff val="40000"/>
                  </a:schemeClr>
                </a:solidFill>
                <a:cs typeface="Times New Roman" pitchFamily="18" charset="0"/>
                <a:sym typeface="Times New Roman" pitchFamily="18" charset="0"/>
              </a:rPr>
              <a:t>, </a:t>
            </a:r>
            <a:r>
              <a:rPr lang="zh-CN" altLang="en-US" sz="2000" b="1" i="1" dirty="0">
                <a:solidFill>
                  <a:schemeClr val="tx2">
                    <a:lumMod val="60000"/>
                    <a:lumOff val="40000"/>
                  </a:schemeClr>
                </a:solidFill>
                <a:cs typeface="Times New Roman" pitchFamily="18" charset="0"/>
              </a:rPr>
              <a:t>T</a:t>
            </a:r>
            <a:r>
              <a:rPr lang="en-US" altLang="zh-CN" sz="2000" b="1" i="1" dirty="0">
                <a:solidFill>
                  <a:schemeClr val="tx2">
                    <a:lumMod val="60000"/>
                    <a:lumOff val="40000"/>
                  </a:schemeClr>
                </a:solidFill>
                <a:ea typeface="楷体" pitchFamily="49" charset="-122"/>
                <a:cs typeface="Times New Roman" pitchFamily="18" charset="0"/>
              </a:rPr>
              <a:t>′</a:t>
            </a:r>
            <a:r>
              <a:rPr lang="en-US" altLang="zh-CN" sz="2000" b="1" i="1" dirty="0" err="1">
                <a:solidFill>
                  <a:schemeClr val="tx2">
                    <a:lumMod val="60000"/>
                    <a:lumOff val="40000"/>
                  </a:schemeClr>
                </a:solidFill>
                <a:cs typeface="Times New Roman" pitchFamily="18" charset="0"/>
              </a:rPr>
              <a:t>inh</a:t>
            </a:r>
            <a:r>
              <a:rPr lang="en-US" altLang="zh-CN" sz="2000" b="1" i="1" dirty="0">
                <a:solidFill>
                  <a:schemeClr val="tx2">
                    <a:lumMod val="60000"/>
                    <a:lumOff val="40000"/>
                  </a:schemeClr>
                </a:solidFill>
                <a:cs typeface="Times New Roman" pitchFamily="18" charset="0"/>
              </a:rPr>
              <a:t>, </a:t>
            </a:r>
            <a:r>
              <a:rPr lang="zh-CN" altLang="en-US" sz="2000" b="1" i="1" dirty="0">
                <a:solidFill>
                  <a:schemeClr val="tx2">
                    <a:lumMod val="60000"/>
                    <a:lumOff val="40000"/>
                  </a:schemeClr>
                </a:solidFill>
                <a:cs typeface="Times New Roman" pitchFamily="18" charset="0"/>
              </a:rPr>
              <a:t>T</a:t>
            </a:r>
            <a:r>
              <a:rPr lang="en-US" altLang="zh-CN" sz="2000" b="1" i="1" dirty="0">
                <a:solidFill>
                  <a:schemeClr val="tx2">
                    <a:lumMod val="60000"/>
                    <a:lumOff val="40000"/>
                  </a:schemeClr>
                </a:solidFill>
                <a:ea typeface="楷体" pitchFamily="49" charset="-122"/>
                <a:cs typeface="Times New Roman" pitchFamily="18" charset="0"/>
              </a:rPr>
              <a:t>′</a:t>
            </a:r>
            <a:r>
              <a:rPr lang="en-US" altLang="zh-CN" sz="2000" b="1" i="1" dirty="0">
                <a:solidFill>
                  <a:schemeClr val="tx2">
                    <a:lumMod val="60000"/>
                    <a:lumOff val="40000"/>
                  </a:schemeClr>
                </a:solidFill>
                <a:cs typeface="Times New Roman" pitchFamily="18" charset="0"/>
              </a:rPr>
              <a:t>syn</a:t>
            </a:r>
            <a:r>
              <a:rPr lang="zh-CN" altLang="en-US" sz="2000" b="1" dirty="0">
                <a:solidFill>
                  <a:schemeClr val="tx2">
                    <a:lumMod val="60000"/>
                    <a:lumOff val="40000"/>
                  </a:schemeClr>
                </a:solidFill>
                <a:cs typeface="Times New Roman" pitchFamily="18" charset="0"/>
                <a:sym typeface="Times New Roman" pitchFamily="18" charset="0"/>
              </a:rPr>
              <a:t>；</a:t>
            </a:r>
          </a:p>
          <a:p>
            <a:pPr marL="272654" indent="-272654">
              <a:spcBef>
                <a:spcPts val="0"/>
              </a:spcBef>
              <a:buFont typeface="Wingdings" pitchFamily="2" charset="2"/>
              <a:buNone/>
              <a:defRPr/>
            </a:pPr>
            <a:r>
              <a:rPr lang="en-US" altLang="zh-CN" sz="2000" b="1" i="1" dirty="0">
                <a:solidFill>
                  <a:schemeClr val="hlink"/>
                </a:solidFill>
                <a:cs typeface="Times New Roman" pitchFamily="18" charset="0"/>
                <a:sym typeface="Times New Roman" pitchFamily="18" charset="0"/>
              </a:rPr>
              <a:t>	</a:t>
            </a:r>
            <a:r>
              <a:rPr lang="en-US" altLang="zh-CN" sz="2000" b="1" i="1" dirty="0" err="1">
                <a:solidFill>
                  <a:schemeClr val="tx2">
                    <a:lumMod val="60000"/>
                    <a:lumOff val="40000"/>
                  </a:schemeClr>
                </a:solidFill>
                <a:cs typeface="Times New Roman" pitchFamily="18" charset="0"/>
                <a:sym typeface="Times New Roman" pitchFamily="18" charset="0"/>
              </a:rPr>
              <a:t>Fval</a:t>
            </a:r>
            <a:r>
              <a:rPr lang="en-US" altLang="zh-CN" sz="2000" b="1" i="1" dirty="0">
                <a:solidFill>
                  <a:schemeClr val="tx2">
                    <a:lumMod val="60000"/>
                    <a:lumOff val="40000"/>
                  </a:schemeClr>
                </a:solidFill>
                <a:cs typeface="Times New Roman" pitchFamily="18" charset="0"/>
                <a:sym typeface="Times New Roman" pitchFamily="18" charset="0"/>
              </a:rPr>
              <a:t> = </a:t>
            </a:r>
            <a:r>
              <a:rPr lang="en-US" altLang="zh-CN" sz="2000" b="1" i="1" dirty="0">
                <a:cs typeface="Times New Roman" pitchFamily="18" charset="0"/>
                <a:sym typeface="Times New Roman" pitchFamily="18" charset="0"/>
              </a:rPr>
              <a:t>F</a:t>
            </a:r>
            <a:r>
              <a:rPr lang="en-US" altLang="zh-CN" sz="2000" b="1" dirty="0">
                <a:cs typeface="Times New Roman" pitchFamily="18" charset="0"/>
                <a:sym typeface="Times New Roman" pitchFamily="18" charset="0"/>
              </a:rPr>
              <a:t>(</a:t>
            </a:r>
            <a:r>
              <a:rPr lang="en-US" altLang="zh-CN" sz="2000" b="1" i="1" dirty="0">
                <a:cs typeface="Times New Roman" pitchFamily="18" charset="0"/>
                <a:sym typeface="Times New Roman" pitchFamily="18" charset="0"/>
              </a:rPr>
              <a:t>token</a:t>
            </a:r>
            <a:r>
              <a:rPr lang="en-US" altLang="zh-CN" sz="2000" b="1" dirty="0">
                <a:cs typeface="Times New Roman" pitchFamily="18" charset="0"/>
                <a:sym typeface="Times New Roman" pitchFamily="18" charset="0"/>
              </a:rPr>
              <a:t>);</a:t>
            </a:r>
          </a:p>
          <a:p>
            <a:pPr marL="272654" indent="-272654">
              <a:spcBef>
                <a:spcPts val="0"/>
              </a:spcBef>
              <a:buFont typeface="Wingdings" pitchFamily="2" charset="2"/>
              <a:buNone/>
              <a:defRPr/>
            </a:pPr>
            <a:r>
              <a:rPr lang="en-US" altLang="zh-CN" sz="2000" b="1" i="1" dirty="0">
                <a:solidFill>
                  <a:srgbClr val="FF0000"/>
                </a:solidFill>
                <a:cs typeface="Times New Roman" pitchFamily="18" charset="0"/>
                <a:sym typeface="Times New Roman" pitchFamily="18" charset="0"/>
              </a:rPr>
              <a:t>	</a:t>
            </a:r>
            <a:r>
              <a:rPr lang="zh-CN" altLang="en-US" sz="2000" b="1" i="1" dirty="0">
                <a:solidFill>
                  <a:schemeClr val="accent1"/>
                </a:solidFill>
                <a:cs typeface="Times New Roman" pitchFamily="18" charset="0"/>
              </a:rPr>
              <a:t> </a:t>
            </a:r>
            <a:r>
              <a:rPr lang="zh-CN" altLang="en-US" sz="2000" b="1" i="1" dirty="0">
                <a:solidFill>
                  <a:schemeClr val="tx2">
                    <a:lumMod val="60000"/>
                    <a:lumOff val="40000"/>
                  </a:schemeClr>
                </a:solidFill>
                <a:cs typeface="Times New Roman" pitchFamily="18" charset="0"/>
              </a:rPr>
              <a:t>T</a:t>
            </a:r>
            <a:r>
              <a:rPr lang="en-US" altLang="zh-CN" sz="2000" b="1" i="1" dirty="0">
                <a:solidFill>
                  <a:schemeClr val="tx2">
                    <a:lumMod val="60000"/>
                    <a:lumOff val="40000"/>
                  </a:schemeClr>
                </a:solidFill>
                <a:ea typeface="楷体" pitchFamily="49" charset="-122"/>
                <a:cs typeface="Times New Roman" pitchFamily="18" charset="0"/>
              </a:rPr>
              <a:t>′</a:t>
            </a:r>
            <a:r>
              <a:rPr lang="en-US" altLang="zh-CN" sz="2000" b="1" i="1" dirty="0" err="1">
                <a:solidFill>
                  <a:schemeClr val="tx2">
                    <a:lumMod val="60000"/>
                    <a:lumOff val="40000"/>
                  </a:schemeClr>
                </a:solidFill>
                <a:cs typeface="Times New Roman" pitchFamily="18" charset="0"/>
              </a:rPr>
              <a:t>inh</a:t>
            </a:r>
            <a:r>
              <a:rPr lang="en-US" altLang="zh-CN" sz="2000" b="1" i="1" dirty="0">
                <a:solidFill>
                  <a:schemeClr val="tx2">
                    <a:lumMod val="60000"/>
                    <a:lumOff val="40000"/>
                  </a:schemeClr>
                </a:solidFill>
                <a:cs typeface="Times New Roman" pitchFamily="18" charset="0"/>
              </a:rPr>
              <a:t> = </a:t>
            </a:r>
            <a:r>
              <a:rPr lang="en-US" altLang="zh-CN" sz="2000" b="1" i="1" dirty="0" err="1">
                <a:solidFill>
                  <a:schemeClr val="tx2">
                    <a:lumMod val="60000"/>
                    <a:lumOff val="40000"/>
                  </a:schemeClr>
                </a:solidFill>
                <a:cs typeface="Times New Roman" pitchFamily="18" charset="0"/>
              </a:rPr>
              <a:t>Fval</a:t>
            </a:r>
            <a:r>
              <a:rPr lang="zh-CN" altLang="en-US" sz="2000" b="1" dirty="0">
                <a:solidFill>
                  <a:schemeClr val="tx2">
                    <a:lumMod val="60000"/>
                    <a:lumOff val="40000"/>
                  </a:schemeClr>
                </a:solidFill>
                <a:cs typeface="Times New Roman" pitchFamily="18" charset="0"/>
              </a:rPr>
              <a:t>；</a:t>
            </a:r>
          </a:p>
          <a:p>
            <a:pPr marL="272654" indent="-272654">
              <a:spcBef>
                <a:spcPts val="0"/>
              </a:spcBef>
              <a:buFont typeface="Wingdings" pitchFamily="2" charset="2"/>
              <a:buNone/>
              <a:defRPr/>
            </a:pPr>
            <a:r>
              <a:rPr lang="en-US" altLang="zh-CN" sz="2000" b="1" i="1" dirty="0">
                <a:cs typeface="Times New Roman" pitchFamily="18" charset="0"/>
              </a:rPr>
              <a:t>	</a:t>
            </a:r>
            <a:r>
              <a:rPr lang="en-US" altLang="zh-CN" sz="2000" b="1" i="1" dirty="0" err="1">
                <a:cs typeface="Times New Roman" pitchFamily="18" charset="0"/>
              </a:rPr>
              <a:t>Getnext</a:t>
            </a:r>
            <a:r>
              <a:rPr lang="en-US" altLang="zh-CN" sz="2000" b="1" dirty="0">
                <a:cs typeface="Times New Roman" pitchFamily="18" charset="0"/>
              </a:rPr>
              <a:t>(</a:t>
            </a:r>
            <a:r>
              <a:rPr lang="en-US" altLang="zh-CN" sz="2000" b="1" i="1" dirty="0">
                <a:cs typeface="Times New Roman" pitchFamily="18" charset="0"/>
              </a:rPr>
              <a:t>token</a:t>
            </a:r>
            <a:r>
              <a:rPr lang="en-US" altLang="zh-CN" sz="2000" b="1" dirty="0">
                <a:cs typeface="Times New Roman" pitchFamily="18" charset="0"/>
              </a:rPr>
              <a:t>);</a:t>
            </a:r>
          </a:p>
          <a:p>
            <a:pPr marL="272654" indent="-272654">
              <a:spcBef>
                <a:spcPts val="0"/>
              </a:spcBef>
              <a:buFont typeface="Wingdings" pitchFamily="2" charset="2"/>
              <a:buNone/>
              <a:defRPr/>
            </a:pPr>
            <a:r>
              <a:rPr lang="en-US" altLang="zh-CN" sz="2000" b="1" i="1" dirty="0">
                <a:cs typeface="Times New Roman" pitchFamily="18" charset="0"/>
              </a:rPr>
              <a:t>	</a:t>
            </a:r>
            <a:r>
              <a:rPr lang="zh-CN" altLang="en-US" sz="2000" b="1" i="1" dirty="0">
                <a:solidFill>
                  <a:schemeClr val="tx2">
                    <a:lumMod val="60000"/>
                    <a:lumOff val="40000"/>
                  </a:schemeClr>
                </a:solidFill>
                <a:cs typeface="Times New Roman" pitchFamily="18" charset="0"/>
              </a:rPr>
              <a:t>T</a:t>
            </a:r>
            <a:r>
              <a:rPr lang="en-US" altLang="zh-CN" sz="2000" b="1" i="1" dirty="0">
                <a:solidFill>
                  <a:schemeClr val="tx2">
                    <a:lumMod val="60000"/>
                    <a:lumOff val="40000"/>
                  </a:schemeClr>
                </a:solidFill>
                <a:ea typeface="楷体" pitchFamily="49" charset="-122"/>
                <a:cs typeface="Times New Roman" pitchFamily="18" charset="0"/>
              </a:rPr>
              <a:t>′</a:t>
            </a:r>
            <a:r>
              <a:rPr lang="en-US" altLang="zh-CN" sz="2000" b="1" i="1" dirty="0">
                <a:solidFill>
                  <a:schemeClr val="tx2">
                    <a:lumMod val="60000"/>
                    <a:lumOff val="40000"/>
                  </a:schemeClr>
                </a:solidFill>
                <a:cs typeface="Times New Roman" pitchFamily="18" charset="0"/>
              </a:rPr>
              <a:t>syn =</a:t>
            </a:r>
            <a:r>
              <a:rPr lang="zh-CN" altLang="en-US" sz="2000" b="1" i="1" dirty="0">
                <a:solidFill>
                  <a:schemeClr val="tx2">
                    <a:lumMod val="60000"/>
                    <a:lumOff val="40000"/>
                  </a:schemeClr>
                </a:solidFill>
                <a:cs typeface="Times New Roman" pitchFamily="18" charset="0"/>
              </a:rPr>
              <a:t> </a:t>
            </a:r>
            <a:r>
              <a:rPr lang="zh-CN" altLang="en-US" sz="2000" b="1" i="1" dirty="0">
                <a:cs typeface="Times New Roman" pitchFamily="18" charset="0"/>
              </a:rPr>
              <a:t>T</a:t>
            </a:r>
            <a:r>
              <a:rPr lang="zh-CN" altLang="en-US" sz="2000" b="1" baseline="-25000" dirty="0">
                <a:cs typeface="Times New Roman" pitchFamily="18" charset="0"/>
              </a:rPr>
              <a:t>1</a:t>
            </a:r>
            <a:r>
              <a:rPr lang="en-US" altLang="zh-CN" sz="2000" b="1" i="1" dirty="0">
                <a:ea typeface="楷体" pitchFamily="49" charset="-122"/>
                <a:cs typeface="Times New Roman" pitchFamily="18" charset="0"/>
              </a:rPr>
              <a:t>′ </a:t>
            </a:r>
            <a:r>
              <a:rPr lang="en-US" altLang="zh-CN" sz="2000" b="1" dirty="0">
                <a:cs typeface="Times New Roman" pitchFamily="18" charset="0"/>
              </a:rPr>
              <a:t>(</a:t>
            </a:r>
            <a:r>
              <a:rPr lang="en-US" altLang="zh-CN" sz="2000" b="1" i="1" dirty="0">
                <a:cs typeface="Times New Roman" pitchFamily="18" charset="0"/>
              </a:rPr>
              <a:t>token</a:t>
            </a:r>
            <a:r>
              <a:rPr lang="en-US" altLang="zh-CN" sz="2000" b="1" i="1" dirty="0">
                <a:solidFill>
                  <a:schemeClr val="tx2">
                    <a:lumMod val="60000"/>
                    <a:lumOff val="40000"/>
                  </a:schemeClr>
                </a:solidFill>
                <a:cs typeface="Times New Roman" pitchFamily="18" charset="0"/>
              </a:rPr>
              <a:t>,</a:t>
            </a:r>
            <a:r>
              <a:rPr lang="zh-CN" altLang="en-US" sz="2000" b="1" i="1" dirty="0">
                <a:solidFill>
                  <a:schemeClr val="tx2">
                    <a:lumMod val="60000"/>
                    <a:lumOff val="40000"/>
                  </a:schemeClr>
                </a:solidFill>
                <a:cs typeface="Times New Roman" pitchFamily="18" charset="0"/>
              </a:rPr>
              <a:t> T</a:t>
            </a:r>
            <a:r>
              <a:rPr lang="en-US" altLang="zh-CN" sz="2000" b="1" i="1" dirty="0">
                <a:solidFill>
                  <a:schemeClr val="tx2">
                    <a:lumMod val="60000"/>
                    <a:lumOff val="40000"/>
                  </a:schemeClr>
                </a:solidFill>
                <a:ea typeface="楷体" pitchFamily="49" charset="-122"/>
                <a:cs typeface="Times New Roman" pitchFamily="18" charset="0"/>
              </a:rPr>
              <a:t>′</a:t>
            </a:r>
            <a:r>
              <a:rPr lang="en-US" altLang="zh-CN" sz="2000" b="1" i="1" dirty="0" err="1">
                <a:solidFill>
                  <a:schemeClr val="tx2">
                    <a:lumMod val="60000"/>
                    <a:lumOff val="40000"/>
                  </a:schemeClr>
                </a:solidFill>
                <a:cs typeface="Times New Roman" pitchFamily="18" charset="0"/>
              </a:rPr>
              <a:t>inh</a:t>
            </a:r>
            <a:r>
              <a:rPr lang="en-US" altLang="zh-CN" sz="2000" b="1" dirty="0">
                <a:cs typeface="Times New Roman" pitchFamily="18" charset="0"/>
              </a:rPr>
              <a:t>);</a:t>
            </a:r>
          </a:p>
          <a:p>
            <a:pPr marL="272654" indent="-272654">
              <a:spcBef>
                <a:spcPts val="0"/>
              </a:spcBef>
              <a:buFont typeface="Wingdings" pitchFamily="2" charset="2"/>
              <a:buNone/>
              <a:defRPr/>
            </a:pPr>
            <a:r>
              <a:rPr lang="en-US" altLang="zh-CN" sz="2000" b="1" i="1" dirty="0">
                <a:cs typeface="Times New Roman" pitchFamily="18" charset="0"/>
                <a:sym typeface="Times New Roman" pitchFamily="18" charset="0"/>
              </a:rPr>
              <a:t>	</a:t>
            </a:r>
            <a:r>
              <a:rPr lang="en-US" altLang="zh-CN" sz="2000" b="1" i="1" dirty="0" err="1">
                <a:solidFill>
                  <a:schemeClr val="tx2">
                    <a:lumMod val="60000"/>
                    <a:lumOff val="40000"/>
                  </a:schemeClr>
                </a:solidFill>
                <a:cs typeface="Times New Roman" pitchFamily="18" charset="0"/>
                <a:sym typeface="Times New Roman" pitchFamily="18" charset="0"/>
              </a:rPr>
              <a:t>Tval</a:t>
            </a:r>
            <a:r>
              <a:rPr lang="en-US" altLang="zh-CN" sz="2000" b="1" i="1" dirty="0">
                <a:solidFill>
                  <a:schemeClr val="tx2">
                    <a:lumMod val="60000"/>
                    <a:lumOff val="40000"/>
                  </a:schemeClr>
                </a:solidFill>
                <a:cs typeface="Times New Roman" pitchFamily="18" charset="0"/>
                <a:sym typeface="Times New Roman" pitchFamily="18" charset="0"/>
              </a:rPr>
              <a:t> =</a:t>
            </a:r>
            <a:r>
              <a:rPr lang="zh-CN" altLang="en-US" sz="2000" b="1" i="1" dirty="0">
                <a:solidFill>
                  <a:schemeClr val="tx2">
                    <a:lumMod val="60000"/>
                    <a:lumOff val="40000"/>
                  </a:schemeClr>
                </a:solidFill>
                <a:cs typeface="Times New Roman" pitchFamily="18" charset="0"/>
              </a:rPr>
              <a:t> T</a:t>
            </a:r>
            <a:r>
              <a:rPr lang="en-US" altLang="zh-CN" sz="2000" b="1" i="1" dirty="0">
                <a:solidFill>
                  <a:schemeClr val="tx2">
                    <a:lumMod val="60000"/>
                    <a:lumOff val="40000"/>
                  </a:schemeClr>
                </a:solidFill>
                <a:ea typeface="楷体" pitchFamily="49" charset="-122"/>
                <a:cs typeface="Times New Roman" pitchFamily="18" charset="0"/>
              </a:rPr>
              <a:t>′</a:t>
            </a:r>
            <a:r>
              <a:rPr lang="en-US" altLang="zh-CN" sz="2000" b="1" i="1" dirty="0">
                <a:solidFill>
                  <a:schemeClr val="tx2">
                    <a:lumMod val="60000"/>
                    <a:lumOff val="40000"/>
                  </a:schemeClr>
                </a:solidFill>
                <a:cs typeface="Times New Roman" pitchFamily="18" charset="0"/>
              </a:rPr>
              <a:t>syn</a:t>
            </a:r>
            <a:r>
              <a:rPr lang="en-US" altLang="zh-CN" sz="2000" b="1" dirty="0">
                <a:solidFill>
                  <a:schemeClr val="tx2">
                    <a:lumMod val="60000"/>
                    <a:lumOff val="40000"/>
                  </a:schemeClr>
                </a:solidFill>
                <a:cs typeface="Times New Roman" pitchFamily="18" charset="0"/>
              </a:rPr>
              <a:t>;</a:t>
            </a:r>
          </a:p>
          <a:p>
            <a:pPr marL="272654" indent="-272654">
              <a:spcBef>
                <a:spcPts val="0"/>
              </a:spcBef>
              <a:buFont typeface="Wingdings" pitchFamily="2" charset="2"/>
              <a:buNone/>
              <a:defRPr/>
            </a:pPr>
            <a:r>
              <a:rPr lang="en-US" altLang="zh-CN" sz="2000" b="1" i="1" dirty="0">
                <a:solidFill>
                  <a:schemeClr val="tx2">
                    <a:lumMod val="60000"/>
                    <a:lumOff val="40000"/>
                  </a:schemeClr>
                </a:solidFill>
                <a:cs typeface="Times New Roman" pitchFamily="18" charset="0"/>
                <a:sym typeface="Times New Roman" pitchFamily="18" charset="0"/>
              </a:rPr>
              <a:t>	return </a:t>
            </a:r>
            <a:r>
              <a:rPr lang="en-US" altLang="zh-CN" sz="2000" b="1" i="1" dirty="0" err="1">
                <a:solidFill>
                  <a:schemeClr val="tx2">
                    <a:lumMod val="60000"/>
                    <a:lumOff val="40000"/>
                  </a:schemeClr>
                </a:solidFill>
                <a:cs typeface="Times New Roman" pitchFamily="18" charset="0"/>
                <a:sym typeface="Times New Roman" pitchFamily="18" charset="0"/>
              </a:rPr>
              <a:t>Tval</a:t>
            </a:r>
            <a:r>
              <a:rPr lang="en-US" altLang="zh-CN" sz="2000" b="1" dirty="0">
                <a:solidFill>
                  <a:schemeClr val="tx2">
                    <a:lumMod val="60000"/>
                    <a:lumOff val="40000"/>
                  </a:schemeClr>
                </a:solidFill>
                <a:cs typeface="Times New Roman" pitchFamily="18" charset="0"/>
                <a:sym typeface="Times New Roman" pitchFamily="18" charset="0"/>
              </a:rPr>
              <a:t>;</a:t>
            </a:r>
          </a:p>
          <a:p>
            <a:pPr marL="272654" indent="-272654">
              <a:spcBef>
                <a:spcPts val="0"/>
              </a:spcBef>
              <a:buFont typeface="Wingdings" pitchFamily="2" charset="2"/>
              <a:buNone/>
              <a:defRPr/>
            </a:pPr>
            <a:r>
              <a:rPr lang="en-US" altLang="zh-CN" sz="2000" b="1" dirty="0">
                <a:cs typeface="Times New Roman" pitchFamily="18" charset="0"/>
                <a:sym typeface="Times New Roman" pitchFamily="18" charset="0"/>
              </a:rPr>
              <a:t>}</a:t>
            </a:r>
            <a:endParaRPr lang="zh-CN" altLang="en-US" sz="2000" b="1" dirty="0">
              <a:cs typeface="Times New Roman" pitchFamily="18" charset="0"/>
              <a:sym typeface="Times New Roman" pitchFamily="18" charset="0"/>
            </a:endParaRPr>
          </a:p>
        </p:txBody>
      </p:sp>
      <p:sp>
        <p:nvSpPr>
          <p:cNvPr id="6" name="Rectangle 3">
            <a:extLst>
              <a:ext uri="{FF2B5EF4-FFF2-40B4-BE49-F238E27FC236}">
                <a16:creationId xmlns:a16="http://schemas.microsoft.com/office/drawing/2014/main" id="{02EF3729-1F7A-4814-AD74-62AF22037413}"/>
              </a:ext>
            </a:extLst>
          </p:cNvPr>
          <p:cNvSpPr txBox="1">
            <a:spLocks noChangeArrowheads="1"/>
          </p:cNvSpPr>
          <p:nvPr/>
        </p:nvSpPr>
        <p:spPr bwMode="auto">
          <a:xfrm>
            <a:off x="98425" y="1404938"/>
            <a:ext cx="4543425" cy="3027362"/>
          </a:xfrm>
          <a:prstGeom prst="rect">
            <a:avLst/>
          </a:prstGeom>
          <a:noFill/>
          <a:ln>
            <a:noFill/>
          </a:ln>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Char char="Ø"/>
              <a:defRPr/>
            </a:pPr>
            <a:r>
              <a:rPr lang="zh-CN" altLang="en-US" sz="2400" dirty="0">
                <a:latin typeface="华文楷体" panose="02010600040101010101" pitchFamily="2" charset="-122"/>
                <a:ea typeface="华文楷体" panose="02010600040101010101" pitchFamily="2" charset="-122"/>
              </a:rPr>
              <a:t>例</a:t>
            </a:r>
            <a:endParaRPr lang="en-US" altLang="zh-CN" sz="2400" dirty="0">
              <a:latin typeface="华文楷体" panose="02010600040101010101" pitchFamily="2" charset="-122"/>
              <a:ea typeface="华文楷体" panose="02010600040101010101" pitchFamily="2" charset="-122"/>
            </a:endParaRPr>
          </a:p>
          <a:p>
            <a:pPr eaLnBrk="1" hangingPunct="1">
              <a:spcBef>
                <a:spcPct val="20000"/>
              </a:spcBef>
              <a:buSzPct val="100000"/>
              <a:defRPr/>
            </a:pPr>
            <a:r>
              <a:rPr lang="en-US" altLang="zh-CN" sz="2000" i="1" dirty="0">
                <a:latin typeface="Times New Roman" panose="02020603050405020304" pitchFamily="18" charset="0"/>
              </a:rPr>
              <a:t>SDT</a:t>
            </a:r>
            <a:r>
              <a:rPr lang="zh-CN" altLang="en-US"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rPr>
              <a:t>1)</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rPr>
              <a:t>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rPr>
              <a:t>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i="1" dirty="0" err="1">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F.val</a:t>
            </a:r>
            <a:r>
              <a:rPr lang="en-US" altLang="zh-CN" sz="2000"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 </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solidFill>
                  <a:schemeClr val="tx2">
                    <a:lumMod val="60000"/>
                    <a:lumOff val="40000"/>
                  </a:schemeClr>
                </a:solidFill>
                <a:latin typeface="Times New Roman" panose="02020603050405020304" pitchFamily="18" charset="0"/>
                <a:ea typeface="楷体" panose="02010609060101010101" pitchFamily="49" charset="-122"/>
              </a:rPr>
              <a: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2) </a:t>
            </a:r>
            <a:r>
              <a:rPr lang="en-US" altLang="zh-CN"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.inh </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.inh</a:t>
            </a:r>
            <a:r>
              <a:rPr lang="zh-CN" altLang="en-US" sz="2000" dirty="0">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3)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inh</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latin typeface="Times New Roman" panose="02020603050405020304" pitchFamily="18" charset="0"/>
              <a:cs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defRPr/>
            </a:pPr>
            <a:endParaRPr lang="zh-CN" altLang="en-US" sz="1500" dirty="0"/>
          </a:p>
        </p:txBody>
      </p:sp>
    </p:spTree>
    <p:extLst>
      <p:ext uri="{BB962C8B-B14F-4D97-AF65-F5344CB8AC3E}">
        <p14:creationId xmlns:p14="http://schemas.microsoft.com/office/powerpoint/2010/main" val="308439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1"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par>
                                <p:cTn id="10" presetID="53" presetClass="entr" presetSubtype="16" fill="hold" grpId="1"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p:cTn id="12"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2">
                                            <p:txEl>
                                              <p:pRg st="1" end="1"/>
                                            </p:txEl>
                                          </p:spTgt>
                                        </p:tgtEl>
                                      </p:cBhvr>
                                    </p:animEffect>
                                  </p:childTnLst>
                                </p:cTn>
                              </p:par>
                              <p:par>
                                <p:cTn id="15" presetID="53" presetClass="entr" presetSubtype="16" fill="hold" grpId="1"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p:cTn id="17"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2">
                                            <p:txEl>
                                              <p:pRg st="2" end="2"/>
                                            </p:txEl>
                                          </p:spTgt>
                                        </p:tgtEl>
                                      </p:cBhvr>
                                    </p:animEffect>
                                  </p:childTnLst>
                                </p:cTn>
                              </p:par>
                              <p:par>
                                <p:cTn id="20" presetID="53" presetClass="entr" presetSubtype="16" fill="hold" grpId="1" nodeType="with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 calcmode="lin" valueType="num">
                                      <p:cBhvr>
                                        <p:cTn id="22"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2">
                                            <p:txEl>
                                              <p:pRg st="3" end="3"/>
                                            </p:txEl>
                                          </p:spTgt>
                                        </p:tgtEl>
                                      </p:cBhvr>
                                    </p:animEffect>
                                  </p:childTnLst>
                                </p:cTn>
                              </p:par>
                              <p:par>
                                <p:cTn id="25" presetID="53" presetClass="entr" presetSubtype="16" fill="hold" grpId="1"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p:cTn id="27"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2">
                                            <p:txEl>
                                              <p:pRg st="4" end="4"/>
                                            </p:txEl>
                                          </p:spTgt>
                                        </p:tgtEl>
                                      </p:cBhvr>
                                    </p:animEffect>
                                  </p:childTnLst>
                                </p:cTn>
                              </p:par>
                              <p:par>
                                <p:cTn id="30" presetID="53" presetClass="entr" presetSubtype="16" fill="hold" grpId="1" nodeType="with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 calcmode="lin" valueType="num">
                                      <p:cBhvr>
                                        <p:cTn id="32" dur="500" fill="hold"/>
                                        <p:tgtEl>
                                          <p:spTgt spid="2">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2">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2">
                                            <p:txEl>
                                              <p:pRg st="5" end="5"/>
                                            </p:txEl>
                                          </p:spTgt>
                                        </p:tgtEl>
                                      </p:cBhvr>
                                    </p:animEffect>
                                  </p:childTnLst>
                                </p:cTn>
                              </p:par>
                              <p:par>
                                <p:cTn id="35" presetID="53" presetClass="entr" presetSubtype="16" fill="hold" grpId="1" nodeType="with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 calcmode="lin" valueType="num">
                                      <p:cBhvr>
                                        <p:cTn id="37"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38"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39" dur="500"/>
                                        <p:tgtEl>
                                          <p:spTgt spid="2">
                                            <p:txEl>
                                              <p:pRg st="6" end="6"/>
                                            </p:txEl>
                                          </p:spTgt>
                                        </p:tgtEl>
                                      </p:cBhvr>
                                    </p:animEffect>
                                  </p:childTnLst>
                                </p:cTn>
                              </p:par>
                              <p:par>
                                <p:cTn id="40" presetID="53" presetClass="entr" presetSubtype="16" fill="hold" grpId="1" nodeType="with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 calcmode="lin" valueType="num">
                                      <p:cBhvr>
                                        <p:cTn id="42" dur="500" fill="hold"/>
                                        <p:tgtEl>
                                          <p:spTgt spid="2">
                                            <p:txEl>
                                              <p:pRg st="7" end="7"/>
                                            </p:txEl>
                                          </p:spTgt>
                                        </p:tgtEl>
                                        <p:attrNameLst>
                                          <p:attrName>ppt_w</p:attrName>
                                        </p:attrNameLst>
                                      </p:cBhvr>
                                      <p:tavLst>
                                        <p:tav tm="0">
                                          <p:val>
                                            <p:fltVal val="0"/>
                                          </p:val>
                                        </p:tav>
                                        <p:tav tm="100000">
                                          <p:val>
                                            <p:strVal val="#ppt_w"/>
                                          </p:val>
                                        </p:tav>
                                      </p:tavLst>
                                    </p:anim>
                                    <p:anim calcmode="lin" valueType="num">
                                      <p:cBhvr>
                                        <p:cTn id="43" dur="500" fill="hold"/>
                                        <p:tgtEl>
                                          <p:spTgt spid="2">
                                            <p:txEl>
                                              <p:pRg st="7" end="7"/>
                                            </p:txEl>
                                          </p:spTgt>
                                        </p:tgtEl>
                                        <p:attrNameLst>
                                          <p:attrName>ppt_h</p:attrName>
                                        </p:attrNameLst>
                                      </p:cBhvr>
                                      <p:tavLst>
                                        <p:tav tm="0">
                                          <p:val>
                                            <p:fltVal val="0"/>
                                          </p:val>
                                        </p:tav>
                                        <p:tav tm="100000">
                                          <p:val>
                                            <p:strVal val="#ppt_h"/>
                                          </p:val>
                                        </p:tav>
                                      </p:tavLst>
                                    </p:anim>
                                    <p:animEffect transition="in" filter="fade">
                                      <p:cBhvr>
                                        <p:cTn id="44" dur="500"/>
                                        <p:tgtEl>
                                          <p:spTgt spid="2">
                                            <p:txEl>
                                              <p:pRg st="7" end="7"/>
                                            </p:txEl>
                                          </p:spTgt>
                                        </p:tgtEl>
                                      </p:cBhvr>
                                    </p:animEffect>
                                  </p:childTnLst>
                                </p:cTn>
                              </p:par>
                              <p:par>
                                <p:cTn id="45" presetID="53" presetClass="entr" presetSubtype="16" fill="hold" grpId="1" nodeType="with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 calcmode="lin" valueType="num">
                                      <p:cBhvr>
                                        <p:cTn id="47" dur="500" fill="hold"/>
                                        <p:tgtEl>
                                          <p:spTgt spid="2">
                                            <p:txEl>
                                              <p:pRg st="8" end="8"/>
                                            </p:txEl>
                                          </p:spTgt>
                                        </p:tgtEl>
                                        <p:attrNameLst>
                                          <p:attrName>ppt_w</p:attrName>
                                        </p:attrNameLst>
                                      </p:cBhvr>
                                      <p:tavLst>
                                        <p:tav tm="0">
                                          <p:val>
                                            <p:fltVal val="0"/>
                                          </p:val>
                                        </p:tav>
                                        <p:tav tm="100000">
                                          <p:val>
                                            <p:strVal val="#ppt_w"/>
                                          </p:val>
                                        </p:tav>
                                      </p:tavLst>
                                    </p:anim>
                                    <p:anim calcmode="lin" valueType="num">
                                      <p:cBhvr>
                                        <p:cTn id="48" dur="500" fill="hold"/>
                                        <p:tgtEl>
                                          <p:spTgt spid="2">
                                            <p:txEl>
                                              <p:pRg st="8" end="8"/>
                                            </p:txEl>
                                          </p:spTgt>
                                        </p:tgtEl>
                                        <p:attrNameLst>
                                          <p:attrName>ppt_h</p:attrName>
                                        </p:attrNameLst>
                                      </p:cBhvr>
                                      <p:tavLst>
                                        <p:tav tm="0">
                                          <p:val>
                                            <p:fltVal val="0"/>
                                          </p:val>
                                        </p:tav>
                                        <p:tav tm="100000">
                                          <p:val>
                                            <p:strVal val="#ppt_h"/>
                                          </p:val>
                                        </p:tav>
                                      </p:tavLst>
                                    </p:anim>
                                    <p:animEffect transition="in" filter="fade">
                                      <p:cBhvr>
                                        <p:cTn id="49" dur="500"/>
                                        <p:tgtEl>
                                          <p:spTgt spid="2">
                                            <p:txEl>
                                              <p:pRg st="8" end="8"/>
                                            </p:txEl>
                                          </p:spTgt>
                                        </p:tgtEl>
                                      </p:cBhvr>
                                    </p:animEffect>
                                  </p:childTnLst>
                                </p:cTn>
                              </p:par>
                              <p:par>
                                <p:cTn id="50" presetID="53" presetClass="entr" presetSubtype="16" fill="hold" grpId="1" nodeType="with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 calcmode="lin" valueType="num">
                                      <p:cBhvr>
                                        <p:cTn id="52" dur="500" fill="hold"/>
                                        <p:tgtEl>
                                          <p:spTgt spid="2">
                                            <p:txEl>
                                              <p:pRg st="9" end="9"/>
                                            </p:txEl>
                                          </p:spTgt>
                                        </p:tgtEl>
                                        <p:attrNameLst>
                                          <p:attrName>ppt_w</p:attrName>
                                        </p:attrNameLst>
                                      </p:cBhvr>
                                      <p:tavLst>
                                        <p:tav tm="0">
                                          <p:val>
                                            <p:fltVal val="0"/>
                                          </p:val>
                                        </p:tav>
                                        <p:tav tm="100000">
                                          <p:val>
                                            <p:strVal val="#ppt_w"/>
                                          </p:val>
                                        </p:tav>
                                      </p:tavLst>
                                    </p:anim>
                                    <p:anim calcmode="lin" valueType="num">
                                      <p:cBhvr>
                                        <p:cTn id="53" dur="500" fill="hold"/>
                                        <p:tgtEl>
                                          <p:spTgt spid="2">
                                            <p:txEl>
                                              <p:pRg st="9" end="9"/>
                                            </p:txEl>
                                          </p:spTgt>
                                        </p:tgtEl>
                                        <p:attrNameLst>
                                          <p:attrName>ppt_h</p:attrName>
                                        </p:attrNameLst>
                                      </p:cBhvr>
                                      <p:tavLst>
                                        <p:tav tm="0">
                                          <p:val>
                                            <p:fltVal val="0"/>
                                          </p:val>
                                        </p:tav>
                                        <p:tav tm="100000">
                                          <p:val>
                                            <p:strVal val="#ppt_h"/>
                                          </p:val>
                                        </p:tav>
                                      </p:tavLst>
                                    </p:anim>
                                    <p:animEffect transition="in" filter="fade">
                                      <p:cBhvr>
                                        <p:cTn id="54" dur="500"/>
                                        <p:tgtEl>
                                          <p:spTgt spid="2">
                                            <p:txEl>
                                              <p:pRg st="9" end="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xit" presetSubtype="0" fill="hold" grpId="0" nodeType="clickEffect">
                                  <p:stCondLst>
                                    <p:cond delay="0"/>
                                  </p:stCondLst>
                                  <p:childTnLst>
                                    <p:anim calcmode="lin" valueType="num">
                                      <p:cBhvr>
                                        <p:cTn id="58" dur="500"/>
                                        <p:tgtEl>
                                          <p:spTgt spid="2">
                                            <p:txEl>
                                              <p:pRg st="0" end="0"/>
                                            </p:txEl>
                                          </p:spTgt>
                                        </p:tgtEl>
                                        <p:attrNameLst>
                                          <p:attrName>ppt_w</p:attrName>
                                        </p:attrNameLst>
                                      </p:cBhvr>
                                      <p:tavLst>
                                        <p:tav tm="0">
                                          <p:val>
                                            <p:strVal val="ppt_w"/>
                                          </p:val>
                                        </p:tav>
                                        <p:tav tm="100000">
                                          <p:val>
                                            <p:fltVal val="0"/>
                                          </p:val>
                                        </p:tav>
                                      </p:tavLst>
                                    </p:anim>
                                    <p:anim calcmode="lin" valueType="num">
                                      <p:cBhvr>
                                        <p:cTn id="59" dur="500"/>
                                        <p:tgtEl>
                                          <p:spTgt spid="2">
                                            <p:txEl>
                                              <p:pRg st="0" end="0"/>
                                            </p:txEl>
                                          </p:spTgt>
                                        </p:tgtEl>
                                        <p:attrNameLst>
                                          <p:attrName>ppt_h</p:attrName>
                                        </p:attrNameLst>
                                      </p:cBhvr>
                                      <p:tavLst>
                                        <p:tav tm="0">
                                          <p:val>
                                            <p:strVal val="ppt_h"/>
                                          </p:val>
                                        </p:tav>
                                        <p:tav tm="100000">
                                          <p:val>
                                            <p:fltVal val="0"/>
                                          </p:val>
                                        </p:tav>
                                      </p:tavLst>
                                    </p:anim>
                                    <p:animEffect transition="out" filter="fade">
                                      <p:cBhvr>
                                        <p:cTn id="60" dur="500"/>
                                        <p:tgtEl>
                                          <p:spTgt spid="2">
                                            <p:txEl>
                                              <p:pRg st="0" end="0"/>
                                            </p:txEl>
                                          </p:spTgt>
                                        </p:tgtEl>
                                      </p:cBhvr>
                                    </p:animEffect>
                                    <p:set>
                                      <p:cBhvr>
                                        <p:cTn id="61" dur="1" fill="hold">
                                          <p:stCondLst>
                                            <p:cond delay="499"/>
                                          </p:stCondLst>
                                        </p:cTn>
                                        <p:tgtEl>
                                          <p:spTgt spid="2">
                                            <p:txEl>
                                              <p:pRg st="0" end="0"/>
                                            </p:txEl>
                                          </p:spTgt>
                                        </p:tgtEl>
                                        <p:attrNameLst>
                                          <p:attrName>style.visibility</p:attrName>
                                        </p:attrNameLst>
                                      </p:cBhvr>
                                      <p:to>
                                        <p:strVal val="hidden"/>
                                      </p:to>
                                    </p:set>
                                  </p:childTnLst>
                                </p:cTn>
                              </p:par>
                              <p:par>
                                <p:cTn id="62" presetID="53" presetClass="exit" presetSubtype="0" fill="hold" grpId="0" nodeType="withEffect">
                                  <p:stCondLst>
                                    <p:cond delay="0"/>
                                  </p:stCondLst>
                                  <p:childTnLst>
                                    <p:anim calcmode="lin" valueType="num">
                                      <p:cBhvr>
                                        <p:cTn id="63" dur="500"/>
                                        <p:tgtEl>
                                          <p:spTgt spid="2">
                                            <p:txEl>
                                              <p:pRg st="1" end="1"/>
                                            </p:txEl>
                                          </p:spTgt>
                                        </p:tgtEl>
                                        <p:attrNameLst>
                                          <p:attrName>ppt_w</p:attrName>
                                        </p:attrNameLst>
                                      </p:cBhvr>
                                      <p:tavLst>
                                        <p:tav tm="0">
                                          <p:val>
                                            <p:strVal val="ppt_w"/>
                                          </p:val>
                                        </p:tav>
                                        <p:tav tm="100000">
                                          <p:val>
                                            <p:fltVal val="0"/>
                                          </p:val>
                                        </p:tav>
                                      </p:tavLst>
                                    </p:anim>
                                    <p:anim calcmode="lin" valueType="num">
                                      <p:cBhvr>
                                        <p:cTn id="64" dur="500"/>
                                        <p:tgtEl>
                                          <p:spTgt spid="2">
                                            <p:txEl>
                                              <p:pRg st="1" end="1"/>
                                            </p:txEl>
                                          </p:spTgt>
                                        </p:tgtEl>
                                        <p:attrNameLst>
                                          <p:attrName>ppt_h</p:attrName>
                                        </p:attrNameLst>
                                      </p:cBhvr>
                                      <p:tavLst>
                                        <p:tav tm="0">
                                          <p:val>
                                            <p:strVal val="ppt_h"/>
                                          </p:val>
                                        </p:tav>
                                        <p:tav tm="100000">
                                          <p:val>
                                            <p:fltVal val="0"/>
                                          </p:val>
                                        </p:tav>
                                      </p:tavLst>
                                    </p:anim>
                                    <p:animEffect transition="out" filter="fade">
                                      <p:cBhvr>
                                        <p:cTn id="65" dur="500"/>
                                        <p:tgtEl>
                                          <p:spTgt spid="2">
                                            <p:txEl>
                                              <p:pRg st="1" end="1"/>
                                            </p:txEl>
                                          </p:spTgt>
                                        </p:tgtEl>
                                      </p:cBhvr>
                                    </p:animEffect>
                                    <p:set>
                                      <p:cBhvr>
                                        <p:cTn id="66" dur="1" fill="hold">
                                          <p:stCondLst>
                                            <p:cond delay="499"/>
                                          </p:stCondLst>
                                        </p:cTn>
                                        <p:tgtEl>
                                          <p:spTgt spid="2">
                                            <p:txEl>
                                              <p:pRg st="1" end="1"/>
                                            </p:txEl>
                                          </p:spTgt>
                                        </p:tgtEl>
                                        <p:attrNameLst>
                                          <p:attrName>style.visibility</p:attrName>
                                        </p:attrNameLst>
                                      </p:cBhvr>
                                      <p:to>
                                        <p:strVal val="hidden"/>
                                      </p:to>
                                    </p:set>
                                  </p:childTnLst>
                                </p:cTn>
                              </p:par>
                              <p:par>
                                <p:cTn id="67" presetID="53" presetClass="exit" presetSubtype="0" fill="hold" grpId="0" nodeType="withEffect">
                                  <p:stCondLst>
                                    <p:cond delay="0"/>
                                  </p:stCondLst>
                                  <p:childTnLst>
                                    <p:anim calcmode="lin" valueType="num">
                                      <p:cBhvr>
                                        <p:cTn id="68" dur="500"/>
                                        <p:tgtEl>
                                          <p:spTgt spid="2">
                                            <p:txEl>
                                              <p:pRg st="2" end="2"/>
                                            </p:txEl>
                                          </p:spTgt>
                                        </p:tgtEl>
                                        <p:attrNameLst>
                                          <p:attrName>ppt_w</p:attrName>
                                        </p:attrNameLst>
                                      </p:cBhvr>
                                      <p:tavLst>
                                        <p:tav tm="0">
                                          <p:val>
                                            <p:strVal val="ppt_w"/>
                                          </p:val>
                                        </p:tav>
                                        <p:tav tm="100000">
                                          <p:val>
                                            <p:fltVal val="0"/>
                                          </p:val>
                                        </p:tav>
                                      </p:tavLst>
                                    </p:anim>
                                    <p:anim calcmode="lin" valueType="num">
                                      <p:cBhvr>
                                        <p:cTn id="69" dur="500"/>
                                        <p:tgtEl>
                                          <p:spTgt spid="2">
                                            <p:txEl>
                                              <p:pRg st="2" end="2"/>
                                            </p:txEl>
                                          </p:spTgt>
                                        </p:tgtEl>
                                        <p:attrNameLst>
                                          <p:attrName>ppt_h</p:attrName>
                                        </p:attrNameLst>
                                      </p:cBhvr>
                                      <p:tavLst>
                                        <p:tav tm="0">
                                          <p:val>
                                            <p:strVal val="ppt_h"/>
                                          </p:val>
                                        </p:tav>
                                        <p:tav tm="100000">
                                          <p:val>
                                            <p:fltVal val="0"/>
                                          </p:val>
                                        </p:tav>
                                      </p:tavLst>
                                    </p:anim>
                                    <p:animEffect transition="out" filter="fade">
                                      <p:cBhvr>
                                        <p:cTn id="70" dur="500"/>
                                        <p:tgtEl>
                                          <p:spTgt spid="2">
                                            <p:txEl>
                                              <p:pRg st="2" end="2"/>
                                            </p:txEl>
                                          </p:spTgt>
                                        </p:tgtEl>
                                      </p:cBhvr>
                                    </p:animEffect>
                                    <p:set>
                                      <p:cBhvr>
                                        <p:cTn id="71" dur="1" fill="hold">
                                          <p:stCondLst>
                                            <p:cond delay="499"/>
                                          </p:stCondLst>
                                        </p:cTn>
                                        <p:tgtEl>
                                          <p:spTgt spid="2">
                                            <p:txEl>
                                              <p:pRg st="2" end="2"/>
                                            </p:txEl>
                                          </p:spTgt>
                                        </p:tgtEl>
                                        <p:attrNameLst>
                                          <p:attrName>style.visibility</p:attrName>
                                        </p:attrNameLst>
                                      </p:cBhvr>
                                      <p:to>
                                        <p:strVal val="hidden"/>
                                      </p:to>
                                    </p:set>
                                  </p:childTnLst>
                                </p:cTn>
                              </p:par>
                              <p:par>
                                <p:cTn id="72" presetID="53" presetClass="exit" presetSubtype="0" fill="hold" grpId="0" nodeType="withEffect">
                                  <p:stCondLst>
                                    <p:cond delay="0"/>
                                  </p:stCondLst>
                                  <p:childTnLst>
                                    <p:anim calcmode="lin" valueType="num">
                                      <p:cBhvr>
                                        <p:cTn id="73" dur="500"/>
                                        <p:tgtEl>
                                          <p:spTgt spid="2">
                                            <p:txEl>
                                              <p:pRg st="3" end="3"/>
                                            </p:txEl>
                                          </p:spTgt>
                                        </p:tgtEl>
                                        <p:attrNameLst>
                                          <p:attrName>ppt_w</p:attrName>
                                        </p:attrNameLst>
                                      </p:cBhvr>
                                      <p:tavLst>
                                        <p:tav tm="0">
                                          <p:val>
                                            <p:strVal val="ppt_w"/>
                                          </p:val>
                                        </p:tav>
                                        <p:tav tm="100000">
                                          <p:val>
                                            <p:fltVal val="0"/>
                                          </p:val>
                                        </p:tav>
                                      </p:tavLst>
                                    </p:anim>
                                    <p:anim calcmode="lin" valueType="num">
                                      <p:cBhvr>
                                        <p:cTn id="74" dur="500"/>
                                        <p:tgtEl>
                                          <p:spTgt spid="2">
                                            <p:txEl>
                                              <p:pRg st="3" end="3"/>
                                            </p:txEl>
                                          </p:spTgt>
                                        </p:tgtEl>
                                        <p:attrNameLst>
                                          <p:attrName>ppt_h</p:attrName>
                                        </p:attrNameLst>
                                      </p:cBhvr>
                                      <p:tavLst>
                                        <p:tav tm="0">
                                          <p:val>
                                            <p:strVal val="ppt_h"/>
                                          </p:val>
                                        </p:tav>
                                        <p:tav tm="100000">
                                          <p:val>
                                            <p:fltVal val="0"/>
                                          </p:val>
                                        </p:tav>
                                      </p:tavLst>
                                    </p:anim>
                                    <p:animEffect transition="out" filter="fade">
                                      <p:cBhvr>
                                        <p:cTn id="75" dur="500"/>
                                        <p:tgtEl>
                                          <p:spTgt spid="2">
                                            <p:txEl>
                                              <p:pRg st="3" end="3"/>
                                            </p:txEl>
                                          </p:spTgt>
                                        </p:tgtEl>
                                      </p:cBhvr>
                                    </p:animEffect>
                                    <p:set>
                                      <p:cBhvr>
                                        <p:cTn id="76" dur="1" fill="hold">
                                          <p:stCondLst>
                                            <p:cond delay="499"/>
                                          </p:stCondLst>
                                        </p:cTn>
                                        <p:tgtEl>
                                          <p:spTgt spid="2">
                                            <p:txEl>
                                              <p:pRg st="3" end="3"/>
                                            </p:txEl>
                                          </p:spTgt>
                                        </p:tgtEl>
                                        <p:attrNameLst>
                                          <p:attrName>style.visibility</p:attrName>
                                        </p:attrNameLst>
                                      </p:cBhvr>
                                      <p:to>
                                        <p:strVal val="hidden"/>
                                      </p:to>
                                    </p:set>
                                  </p:childTnLst>
                                </p:cTn>
                              </p:par>
                              <p:par>
                                <p:cTn id="77" presetID="53" presetClass="exit" presetSubtype="0" fill="hold" grpId="0" nodeType="withEffect">
                                  <p:stCondLst>
                                    <p:cond delay="0"/>
                                  </p:stCondLst>
                                  <p:childTnLst>
                                    <p:anim calcmode="lin" valueType="num">
                                      <p:cBhvr>
                                        <p:cTn id="78" dur="500"/>
                                        <p:tgtEl>
                                          <p:spTgt spid="2">
                                            <p:txEl>
                                              <p:pRg st="4" end="4"/>
                                            </p:txEl>
                                          </p:spTgt>
                                        </p:tgtEl>
                                        <p:attrNameLst>
                                          <p:attrName>ppt_w</p:attrName>
                                        </p:attrNameLst>
                                      </p:cBhvr>
                                      <p:tavLst>
                                        <p:tav tm="0">
                                          <p:val>
                                            <p:strVal val="ppt_w"/>
                                          </p:val>
                                        </p:tav>
                                        <p:tav tm="100000">
                                          <p:val>
                                            <p:fltVal val="0"/>
                                          </p:val>
                                        </p:tav>
                                      </p:tavLst>
                                    </p:anim>
                                    <p:anim calcmode="lin" valueType="num">
                                      <p:cBhvr>
                                        <p:cTn id="79" dur="500"/>
                                        <p:tgtEl>
                                          <p:spTgt spid="2">
                                            <p:txEl>
                                              <p:pRg st="4" end="4"/>
                                            </p:txEl>
                                          </p:spTgt>
                                        </p:tgtEl>
                                        <p:attrNameLst>
                                          <p:attrName>ppt_h</p:attrName>
                                        </p:attrNameLst>
                                      </p:cBhvr>
                                      <p:tavLst>
                                        <p:tav tm="0">
                                          <p:val>
                                            <p:strVal val="ppt_h"/>
                                          </p:val>
                                        </p:tav>
                                        <p:tav tm="100000">
                                          <p:val>
                                            <p:fltVal val="0"/>
                                          </p:val>
                                        </p:tav>
                                      </p:tavLst>
                                    </p:anim>
                                    <p:animEffect transition="out" filter="fade">
                                      <p:cBhvr>
                                        <p:cTn id="80" dur="500"/>
                                        <p:tgtEl>
                                          <p:spTgt spid="2">
                                            <p:txEl>
                                              <p:pRg st="4" end="4"/>
                                            </p:txEl>
                                          </p:spTgt>
                                        </p:tgtEl>
                                      </p:cBhvr>
                                    </p:animEffect>
                                    <p:set>
                                      <p:cBhvr>
                                        <p:cTn id="81" dur="1" fill="hold">
                                          <p:stCondLst>
                                            <p:cond delay="499"/>
                                          </p:stCondLst>
                                        </p:cTn>
                                        <p:tgtEl>
                                          <p:spTgt spid="2">
                                            <p:txEl>
                                              <p:pRg st="4" end="4"/>
                                            </p:txEl>
                                          </p:spTgt>
                                        </p:tgtEl>
                                        <p:attrNameLst>
                                          <p:attrName>style.visibility</p:attrName>
                                        </p:attrNameLst>
                                      </p:cBhvr>
                                      <p:to>
                                        <p:strVal val="hidden"/>
                                      </p:to>
                                    </p:set>
                                  </p:childTnLst>
                                </p:cTn>
                              </p:par>
                              <p:par>
                                <p:cTn id="82" presetID="53" presetClass="exit" presetSubtype="0" fill="hold" grpId="0" nodeType="withEffect">
                                  <p:stCondLst>
                                    <p:cond delay="0"/>
                                  </p:stCondLst>
                                  <p:childTnLst>
                                    <p:anim calcmode="lin" valueType="num">
                                      <p:cBhvr>
                                        <p:cTn id="83" dur="500"/>
                                        <p:tgtEl>
                                          <p:spTgt spid="2">
                                            <p:txEl>
                                              <p:pRg st="5" end="5"/>
                                            </p:txEl>
                                          </p:spTgt>
                                        </p:tgtEl>
                                        <p:attrNameLst>
                                          <p:attrName>ppt_w</p:attrName>
                                        </p:attrNameLst>
                                      </p:cBhvr>
                                      <p:tavLst>
                                        <p:tav tm="0">
                                          <p:val>
                                            <p:strVal val="ppt_w"/>
                                          </p:val>
                                        </p:tav>
                                        <p:tav tm="100000">
                                          <p:val>
                                            <p:fltVal val="0"/>
                                          </p:val>
                                        </p:tav>
                                      </p:tavLst>
                                    </p:anim>
                                    <p:anim calcmode="lin" valueType="num">
                                      <p:cBhvr>
                                        <p:cTn id="84" dur="500"/>
                                        <p:tgtEl>
                                          <p:spTgt spid="2">
                                            <p:txEl>
                                              <p:pRg st="5" end="5"/>
                                            </p:txEl>
                                          </p:spTgt>
                                        </p:tgtEl>
                                        <p:attrNameLst>
                                          <p:attrName>ppt_h</p:attrName>
                                        </p:attrNameLst>
                                      </p:cBhvr>
                                      <p:tavLst>
                                        <p:tav tm="0">
                                          <p:val>
                                            <p:strVal val="ppt_h"/>
                                          </p:val>
                                        </p:tav>
                                        <p:tav tm="100000">
                                          <p:val>
                                            <p:fltVal val="0"/>
                                          </p:val>
                                        </p:tav>
                                      </p:tavLst>
                                    </p:anim>
                                    <p:animEffect transition="out" filter="fade">
                                      <p:cBhvr>
                                        <p:cTn id="85" dur="500"/>
                                        <p:tgtEl>
                                          <p:spTgt spid="2">
                                            <p:txEl>
                                              <p:pRg st="5" end="5"/>
                                            </p:txEl>
                                          </p:spTgt>
                                        </p:tgtEl>
                                      </p:cBhvr>
                                    </p:animEffect>
                                    <p:set>
                                      <p:cBhvr>
                                        <p:cTn id="86" dur="1" fill="hold">
                                          <p:stCondLst>
                                            <p:cond delay="499"/>
                                          </p:stCondLst>
                                        </p:cTn>
                                        <p:tgtEl>
                                          <p:spTgt spid="2">
                                            <p:txEl>
                                              <p:pRg st="5" end="5"/>
                                            </p:txEl>
                                          </p:spTgt>
                                        </p:tgtEl>
                                        <p:attrNameLst>
                                          <p:attrName>style.visibility</p:attrName>
                                        </p:attrNameLst>
                                      </p:cBhvr>
                                      <p:to>
                                        <p:strVal val="hidden"/>
                                      </p:to>
                                    </p:set>
                                  </p:childTnLst>
                                </p:cTn>
                              </p:par>
                              <p:par>
                                <p:cTn id="87" presetID="53" presetClass="exit" presetSubtype="0" fill="hold" grpId="0" nodeType="withEffect">
                                  <p:stCondLst>
                                    <p:cond delay="0"/>
                                  </p:stCondLst>
                                  <p:childTnLst>
                                    <p:anim calcmode="lin" valueType="num">
                                      <p:cBhvr>
                                        <p:cTn id="88" dur="500"/>
                                        <p:tgtEl>
                                          <p:spTgt spid="2">
                                            <p:txEl>
                                              <p:pRg st="6" end="6"/>
                                            </p:txEl>
                                          </p:spTgt>
                                        </p:tgtEl>
                                        <p:attrNameLst>
                                          <p:attrName>ppt_w</p:attrName>
                                        </p:attrNameLst>
                                      </p:cBhvr>
                                      <p:tavLst>
                                        <p:tav tm="0">
                                          <p:val>
                                            <p:strVal val="ppt_w"/>
                                          </p:val>
                                        </p:tav>
                                        <p:tav tm="100000">
                                          <p:val>
                                            <p:fltVal val="0"/>
                                          </p:val>
                                        </p:tav>
                                      </p:tavLst>
                                    </p:anim>
                                    <p:anim calcmode="lin" valueType="num">
                                      <p:cBhvr>
                                        <p:cTn id="89" dur="500"/>
                                        <p:tgtEl>
                                          <p:spTgt spid="2">
                                            <p:txEl>
                                              <p:pRg st="6" end="6"/>
                                            </p:txEl>
                                          </p:spTgt>
                                        </p:tgtEl>
                                        <p:attrNameLst>
                                          <p:attrName>ppt_h</p:attrName>
                                        </p:attrNameLst>
                                      </p:cBhvr>
                                      <p:tavLst>
                                        <p:tav tm="0">
                                          <p:val>
                                            <p:strVal val="ppt_h"/>
                                          </p:val>
                                        </p:tav>
                                        <p:tav tm="100000">
                                          <p:val>
                                            <p:fltVal val="0"/>
                                          </p:val>
                                        </p:tav>
                                      </p:tavLst>
                                    </p:anim>
                                    <p:animEffect transition="out" filter="fade">
                                      <p:cBhvr>
                                        <p:cTn id="90" dur="500"/>
                                        <p:tgtEl>
                                          <p:spTgt spid="2">
                                            <p:txEl>
                                              <p:pRg st="6" end="6"/>
                                            </p:txEl>
                                          </p:spTgt>
                                        </p:tgtEl>
                                      </p:cBhvr>
                                    </p:animEffect>
                                    <p:set>
                                      <p:cBhvr>
                                        <p:cTn id="91" dur="1" fill="hold">
                                          <p:stCondLst>
                                            <p:cond delay="499"/>
                                          </p:stCondLst>
                                        </p:cTn>
                                        <p:tgtEl>
                                          <p:spTgt spid="2">
                                            <p:txEl>
                                              <p:pRg st="6" end="6"/>
                                            </p:txEl>
                                          </p:spTgt>
                                        </p:tgtEl>
                                        <p:attrNameLst>
                                          <p:attrName>style.visibility</p:attrName>
                                        </p:attrNameLst>
                                      </p:cBhvr>
                                      <p:to>
                                        <p:strVal val="hidden"/>
                                      </p:to>
                                    </p:set>
                                  </p:childTnLst>
                                </p:cTn>
                              </p:par>
                              <p:par>
                                <p:cTn id="92" presetID="53" presetClass="exit" presetSubtype="0" fill="hold" grpId="0" nodeType="withEffect">
                                  <p:stCondLst>
                                    <p:cond delay="0"/>
                                  </p:stCondLst>
                                  <p:childTnLst>
                                    <p:anim calcmode="lin" valueType="num">
                                      <p:cBhvr>
                                        <p:cTn id="93" dur="500"/>
                                        <p:tgtEl>
                                          <p:spTgt spid="2">
                                            <p:txEl>
                                              <p:pRg st="7" end="7"/>
                                            </p:txEl>
                                          </p:spTgt>
                                        </p:tgtEl>
                                        <p:attrNameLst>
                                          <p:attrName>ppt_w</p:attrName>
                                        </p:attrNameLst>
                                      </p:cBhvr>
                                      <p:tavLst>
                                        <p:tav tm="0">
                                          <p:val>
                                            <p:strVal val="ppt_w"/>
                                          </p:val>
                                        </p:tav>
                                        <p:tav tm="100000">
                                          <p:val>
                                            <p:fltVal val="0"/>
                                          </p:val>
                                        </p:tav>
                                      </p:tavLst>
                                    </p:anim>
                                    <p:anim calcmode="lin" valueType="num">
                                      <p:cBhvr>
                                        <p:cTn id="94" dur="500"/>
                                        <p:tgtEl>
                                          <p:spTgt spid="2">
                                            <p:txEl>
                                              <p:pRg st="7" end="7"/>
                                            </p:txEl>
                                          </p:spTgt>
                                        </p:tgtEl>
                                        <p:attrNameLst>
                                          <p:attrName>ppt_h</p:attrName>
                                        </p:attrNameLst>
                                      </p:cBhvr>
                                      <p:tavLst>
                                        <p:tav tm="0">
                                          <p:val>
                                            <p:strVal val="ppt_h"/>
                                          </p:val>
                                        </p:tav>
                                        <p:tav tm="100000">
                                          <p:val>
                                            <p:fltVal val="0"/>
                                          </p:val>
                                        </p:tav>
                                      </p:tavLst>
                                    </p:anim>
                                    <p:animEffect transition="out" filter="fade">
                                      <p:cBhvr>
                                        <p:cTn id="95" dur="500"/>
                                        <p:tgtEl>
                                          <p:spTgt spid="2">
                                            <p:txEl>
                                              <p:pRg st="7" end="7"/>
                                            </p:txEl>
                                          </p:spTgt>
                                        </p:tgtEl>
                                      </p:cBhvr>
                                    </p:animEffect>
                                    <p:set>
                                      <p:cBhvr>
                                        <p:cTn id="96" dur="1" fill="hold">
                                          <p:stCondLst>
                                            <p:cond delay="499"/>
                                          </p:stCondLst>
                                        </p:cTn>
                                        <p:tgtEl>
                                          <p:spTgt spid="2">
                                            <p:txEl>
                                              <p:pRg st="7" end="7"/>
                                            </p:txEl>
                                          </p:spTgt>
                                        </p:tgtEl>
                                        <p:attrNameLst>
                                          <p:attrName>style.visibility</p:attrName>
                                        </p:attrNameLst>
                                      </p:cBhvr>
                                      <p:to>
                                        <p:strVal val="hidden"/>
                                      </p:to>
                                    </p:set>
                                  </p:childTnLst>
                                </p:cTn>
                              </p:par>
                              <p:par>
                                <p:cTn id="97" presetID="53" presetClass="exit" presetSubtype="0" fill="hold" grpId="0" nodeType="withEffect">
                                  <p:stCondLst>
                                    <p:cond delay="0"/>
                                  </p:stCondLst>
                                  <p:childTnLst>
                                    <p:anim calcmode="lin" valueType="num">
                                      <p:cBhvr>
                                        <p:cTn id="98" dur="500"/>
                                        <p:tgtEl>
                                          <p:spTgt spid="2">
                                            <p:txEl>
                                              <p:pRg st="8" end="8"/>
                                            </p:txEl>
                                          </p:spTgt>
                                        </p:tgtEl>
                                        <p:attrNameLst>
                                          <p:attrName>ppt_w</p:attrName>
                                        </p:attrNameLst>
                                      </p:cBhvr>
                                      <p:tavLst>
                                        <p:tav tm="0">
                                          <p:val>
                                            <p:strVal val="ppt_w"/>
                                          </p:val>
                                        </p:tav>
                                        <p:tav tm="100000">
                                          <p:val>
                                            <p:fltVal val="0"/>
                                          </p:val>
                                        </p:tav>
                                      </p:tavLst>
                                    </p:anim>
                                    <p:anim calcmode="lin" valueType="num">
                                      <p:cBhvr>
                                        <p:cTn id="99" dur="500"/>
                                        <p:tgtEl>
                                          <p:spTgt spid="2">
                                            <p:txEl>
                                              <p:pRg st="8" end="8"/>
                                            </p:txEl>
                                          </p:spTgt>
                                        </p:tgtEl>
                                        <p:attrNameLst>
                                          <p:attrName>ppt_h</p:attrName>
                                        </p:attrNameLst>
                                      </p:cBhvr>
                                      <p:tavLst>
                                        <p:tav tm="0">
                                          <p:val>
                                            <p:strVal val="ppt_h"/>
                                          </p:val>
                                        </p:tav>
                                        <p:tav tm="100000">
                                          <p:val>
                                            <p:fltVal val="0"/>
                                          </p:val>
                                        </p:tav>
                                      </p:tavLst>
                                    </p:anim>
                                    <p:animEffect transition="out" filter="fade">
                                      <p:cBhvr>
                                        <p:cTn id="100" dur="500"/>
                                        <p:tgtEl>
                                          <p:spTgt spid="2">
                                            <p:txEl>
                                              <p:pRg st="8" end="8"/>
                                            </p:txEl>
                                          </p:spTgt>
                                        </p:tgtEl>
                                      </p:cBhvr>
                                    </p:animEffect>
                                    <p:set>
                                      <p:cBhvr>
                                        <p:cTn id="101" dur="1" fill="hold">
                                          <p:stCondLst>
                                            <p:cond delay="499"/>
                                          </p:stCondLst>
                                        </p:cTn>
                                        <p:tgtEl>
                                          <p:spTgt spid="2">
                                            <p:txEl>
                                              <p:pRg st="8" end="8"/>
                                            </p:txEl>
                                          </p:spTgt>
                                        </p:tgtEl>
                                        <p:attrNameLst>
                                          <p:attrName>style.visibility</p:attrName>
                                        </p:attrNameLst>
                                      </p:cBhvr>
                                      <p:to>
                                        <p:strVal val="hidden"/>
                                      </p:to>
                                    </p:set>
                                  </p:childTnLst>
                                </p:cTn>
                              </p:par>
                              <p:par>
                                <p:cTn id="102" presetID="53" presetClass="exit" presetSubtype="0" fill="hold" grpId="0" nodeType="withEffect">
                                  <p:stCondLst>
                                    <p:cond delay="0"/>
                                  </p:stCondLst>
                                  <p:childTnLst>
                                    <p:anim calcmode="lin" valueType="num">
                                      <p:cBhvr>
                                        <p:cTn id="103" dur="500"/>
                                        <p:tgtEl>
                                          <p:spTgt spid="2">
                                            <p:txEl>
                                              <p:pRg st="9" end="9"/>
                                            </p:txEl>
                                          </p:spTgt>
                                        </p:tgtEl>
                                        <p:attrNameLst>
                                          <p:attrName>ppt_w</p:attrName>
                                        </p:attrNameLst>
                                      </p:cBhvr>
                                      <p:tavLst>
                                        <p:tav tm="0">
                                          <p:val>
                                            <p:strVal val="ppt_w"/>
                                          </p:val>
                                        </p:tav>
                                        <p:tav tm="100000">
                                          <p:val>
                                            <p:fltVal val="0"/>
                                          </p:val>
                                        </p:tav>
                                      </p:tavLst>
                                    </p:anim>
                                    <p:anim calcmode="lin" valueType="num">
                                      <p:cBhvr>
                                        <p:cTn id="104" dur="500"/>
                                        <p:tgtEl>
                                          <p:spTgt spid="2">
                                            <p:txEl>
                                              <p:pRg st="9" end="9"/>
                                            </p:txEl>
                                          </p:spTgt>
                                        </p:tgtEl>
                                        <p:attrNameLst>
                                          <p:attrName>ppt_h</p:attrName>
                                        </p:attrNameLst>
                                      </p:cBhvr>
                                      <p:tavLst>
                                        <p:tav tm="0">
                                          <p:val>
                                            <p:strVal val="ppt_h"/>
                                          </p:val>
                                        </p:tav>
                                        <p:tav tm="100000">
                                          <p:val>
                                            <p:fltVal val="0"/>
                                          </p:val>
                                        </p:tav>
                                      </p:tavLst>
                                    </p:anim>
                                    <p:animEffect transition="out" filter="fade">
                                      <p:cBhvr>
                                        <p:cTn id="105" dur="500"/>
                                        <p:tgtEl>
                                          <p:spTgt spid="2">
                                            <p:txEl>
                                              <p:pRg st="9" end="9"/>
                                            </p:txEl>
                                          </p:spTgt>
                                        </p:tgtEl>
                                      </p:cBhvr>
                                    </p:animEffect>
                                    <p:set>
                                      <p:cBhvr>
                                        <p:cTn id="106" dur="1" fill="hold">
                                          <p:stCondLst>
                                            <p:cond delay="499"/>
                                          </p:stCondLst>
                                        </p:cTn>
                                        <p:tgtEl>
                                          <p:spTgt spid="2">
                                            <p:txEl>
                                              <p:pRg st="9" end="9"/>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6FA1310-7EC5-4D1A-A0F0-EB891807111D}"/>
              </a:ext>
            </a:extLst>
          </p:cNvPr>
          <p:cNvSpPr txBox="1">
            <a:spLocks noChangeArrowheads="1"/>
          </p:cNvSpPr>
          <p:nvPr/>
        </p:nvSpPr>
        <p:spPr>
          <a:xfrm>
            <a:off x="4937125" y="1436688"/>
            <a:ext cx="3635375" cy="2206625"/>
          </a:xfrm>
          <a:prstGeom prst="rect">
            <a:avLst/>
          </a:prstGeom>
          <a:solidFill>
            <a:schemeClr val="bg1"/>
          </a:solidFill>
          <a:ln w="12700"/>
        </p:spPr>
        <p:txBody>
          <a:bodyPr/>
          <a:lst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a:lstStyle>
          <a:p>
            <a:pPr marL="272654" indent="-272654">
              <a:spcBef>
                <a:spcPts val="0"/>
              </a:spcBef>
              <a:buFont typeface="Wingdings" pitchFamily="2" charset="2"/>
              <a:buNone/>
              <a:defRPr/>
            </a:pPr>
            <a:r>
              <a:rPr lang="en-US" altLang="zh-CN" sz="2000" b="1" i="1" dirty="0" err="1">
                <a:solidFill>
                  <a:schemeClr val="tx2">
                    <a:lumMod val="60000"/>
                    <a:lumOff val="40000"/>
                  </a:schemeClr>
                </a:solidFill>
                <a:cs typeface="Times New Roman" pitchFamily="18" charset="0"/>
                <a:sym typeface="Times New Roman" pitchFamily="18" charset="0"/>
              </a:rPr>
              <a:t>Fval</a:t>
            </a:r>
            <a:r>
              <a:rPr lang="en-US" altLang="zh-CN" sz="2000" b="1" i="1" dirty="0">
                <a:solidFill>
                  <a:schemeClr val="tx2">
                    <a:lumMod val="60000"/>
                    <a:lumOff val="40000"/>
                  </a:schemeClr>
                </a:solidFill>
                <a:cs typeface="Times New Roman" pitchFamily="18" charset="0"/>
                <a:sym typeface="Times New Roman" pitchFamily="18" charset="0"/>
              </a:rPr>
              <a:t> </a:t>
            </a:r>
            <a:r>
              <a:rPr lang="en-US" altLang="zh-CN" sz="2000" b="1" i="1" dirty="0">
                <a:cs typeface="Times New Roman" pitchFamily="18" charset="0"/>
                <a:sym typeface="Times New Roman" pitchFamily="18" charset="0"/>
              </a:rPr>
              <a:t>F</a:t>
            </a:r>
            <a:r>
              <a:rPr lang="en-US" altLang="zh-CN" sz="2000" b="1" dirty="0">
                <a:cs typeface="Times New Roman" pitchFamily="18" charset="0"/>
                <a:sym typeface="Times New Roman" pitchFamily="18" charset="0"/>
              </a:rPr>
              <a:t>(</a:t>
            </a:r>
            <a:r>
              <a:rPr lang="en-US" altLang="zh-CN" sz="2000" b="1" i="1" dirty="0">
                <a:cs typeface="Times New Roman" pitchFamily="18" charset="0"/>
                <a:sym typeface="Times New Roman" pitchFamily="18" charset="0"/>
              </a:rPr>
              <a:t>token</a:t>
            </a:r>
            <a:r>
              <a:rPr lang="en-US" altLang="zh-CN" sz="2000" b="1" dirty="0">
                <a:cs typeface="Times New Roman" pitchFamily="18" charset="0"/>
                <a:sym typeface="Times New Roman" pitchFamily="18" charset="0"/>
              </a:rPr>
              <a:t>)</a:t>
            </a:r>
          </a:p>
          <a:p>
            <a:pPr marL="272654" indent="-272654">
              <a:spcBef>
                <a:spcPts val="0"/>
              </a:spcBef>
              <a:buFont typeface="Wingdings" pitchFamily="2" charset="2"/>
              <a:buNone/>
              <a:defRPr/>
            </a:pPr>
            <a:r>
              <a:rPr lang="en-US" altLang="zh-CN" sz="2000" b="1" dirty="0">
                <a:cs typeface="Times New Roman" pitchFamily="18" charset="0"/>
                <a:sym typeface="Times New Roman" pitchFamily="18" charset="0"/>
              </a:rPr>
              <a:t>{</a:t>
            </a:r>
          </a:p>
          <a:p>
            <a:pPr marL="272654" indent="-272654">
              <a:spcBef>
                <a:spcPts val="0"/>
              </a:spcBef>
              <a:buFont typeface="Wingdings" pitchFamily="2" charset="2"/>
              <a:buNone/>
              <a:defRPr/>
            </a:pPr>
            <a:r>
              <a:rPr lang="en-US" altLang="zh-CN" sz="2000" b="1" i="1" dirty="0">
                <a:cs typeface="Times New Roman" pitchFamily="18" charset="0"/>
                <a:sym typeface="Times New Roman" pitchFamily="18" charset="0"/>
              </a:rPr>
              <a:t>	if  token </a:t>
            </a:r>
            <a:r>
              <a:rPr lang="en-US" altLang="zh-CN" sz="2000" b="1" i="1" dirty="0">
                <a:cs typeface="Times New Roman" pitchFamily="18" charset="0"/>
              </a:rPr>
              <a:t>≠  </a:t>
            </a:r>
            <a:r>
              <a:rPr lang="en-US" altLang="zh-CN" sz="2000" b="1" dirty="0">
                <a:cs typeface="Times New Roman" pitchFamily="18" charset="0"/>
              </a:rPr>
              <a:t>digit</a:t>
            </a:r>
            <a:r>
              <a:rPr lang="en-US" altLang="zh-CN" sz="2000" b="1" i="1" dirty="0">
                <a:cs typeface="Times New Roman" pitchFamily="18" charset="0"/>
              </a:rPr>
              <a:t>  then  Error</a:t>
            </a:r>
            <a:r>
              <a:rPr lang="zh-CN" altLang="en-US" sz="2000" b="1" dirty="0">
                <a:cs typeface="Times New Roman" pitchFamily="18" charset="0"/>
              </a:rPr>
              <a:t>；</a:t>
            </a:r>
          </a:p>
          <a:p>
            <a:pPr marL="272654" indent="-272654">
              <a:spcBef>
                <a:spcPts val="0"/>
              </a:spcBef>
              <a:buFont typeface="Wingdings" pitchFamily="2" charset="2"/>
              <a:buNone/>
              <a:defRPr/>
            </a:pPr>
            <a:r>
              <a:rPr lang="en-US" altLang="zh-CN" sz="2000" b="1" i="1" dirty="0">
                <a:cs typeface="Times New Roman" pitchFamily="18" charset="0"/>
                <a:sym typeface="Times New Roman" pitchFamily="18" charset="0"/>
              </a:rPr>
              <a:t>	</a:t>
            </a:r>
            <a:r>
              <a:rPr lang="en-US" altLang="zh-CN" sz="2000" b="1" i="1" dirty="0" err="1">
                <a:solidFill>
                  <a:schemeClr val="tx2">
                    <a:lumMod val="60000"/>
                    <a:lumOff val="40000"/>
                  </a:schemeClr>
                </a:solidFill>
                <a:cs typeface="Times New Roman" pitchFamily="18" charset="0"/>
                <a:sym typeface="Times New Roman" pitchFamily="18" charset="0"/>
              </a:rPr>
              <a:t>Fval</a:t>
            </a:r>
            <a:r>
              <a:rPr lang="en-US" altLang="zh-CN" sz="2000" b="1" i="1" dirty="0">
                <a:solidFill>
                  <a:schemeClr val="tx2">
                    <a:lumMod val="60000"/>
                    <a:lumOff val="40000"/>
                  </a:schemeClr>
                </a:solidFill>
                <a:cs typeface="Times New Roman" pitchFamily="18" charset="0"/>
                <a:sym typeface="Times New Roman" pitchFamily="18" charset="0"/>
              </a:rPr>
              <a:t>=</a:t>
            </a:r>
            <a:r>
              <a:rPr lang="en-US" altLang="zh-CN" sz="2000" b="1" i="1" dirty="0" err="1">
                <a:solidFill>
                  <a:schemeClr val="tx2">
                    <a:lumMod val="60000"/>
                    <a:lumOff val="40000"/>
                  </a:schemeClr>
                </a:solidFill>
                <a:cs typeface="Times New Roman" pitchFamily="18" charset="0"/>
                <a:sym typeface="Times New Roman" pitchFamily="18" charset="0"/>
              </a:rPr>
              <a:t>token.lexval</a:t>
            </a:r>
            <a:r>
              <a:rPr lang="zh-CN" altLang="en-US" sz="2000" b="1" dirty="0">
                <a:solidFill>
                  <a:schemeClr val="tx2">
                    <a:lumMod val="60000"/>
                    <a:lumOff val="40000"/>
                  </a:schemeClr>
                </a:solidFill>
                <a:cs typeface="Times New Roman" pitchFamily="18" charset="0"/>
                <a:sym typeface="Times New Roman" pitchFamily="18" charset="0"/>
              </a:rPr>
              <a:t>；</a:t>
            </a:r>
          </a:p>
          <a:p>
            <a:pPr marL="272654" indent="-272654">
              <a:spcBef>
                <a:spcPts val="0"/>
              </a:spcBef>
              <a:buFont typeface="Wingdings" pitchFamily="2" charset="2"/>
              <a:buNone/>
              <a:defRPr/>
            </a:pPr>
            <a:r>
              <a:rPr lang="en-US" altLang="zh-CN" sz="2000" b="1" i="1" dirty="0">
                <a:solidFill>
                  <a:schemeClr val="tx2">
                    <a:lumMod val="60000"/>
                    <a:lumOff val="40000"/>
                  </a:schemeClr>
                </a:solidFill>
                <a:cs typeface="Times New Roman" pitchFamily="18" charset="0"/>
                <a:sym typeface="Times New Roman" pitchFamily="18" charset="0"/>
              </a:rPr>
              <a:t>	 return </a:t>
            </a:r>
            <a:r>
              <a:rPr lang="en-US" altLang="zh-CN" sz="2000" b="1" i="1" dirty="0" err="1">
                <a:solidFill>
                  <a:schemeClr val="tx2">
                    <a:lumMod val="60000"/>
                    <a:lumOff val="40000"/>
                  </a:schemeClr>
                </a:solidFill>
                <a:cs typeface="Times New Roman" pitchFamily="18" charset="0"/>
                <a:sym typeface="Times New Roman" pitchFamily="18" charset="0"/>
              </a:rPr>
              <a:t>Fval</a:t>
            </a:r>
            <a:r>
              <a:rPr lang="zh-CN" altLang="en-US" sz="2000" b="1" dirty="0">
                <a:solidFill>
                  <a:schemeClr val="tx2">
                    <a:lumMod val="60000"/>
                    <a:lumOff val="40000"/>
                  </a:schemeClr>
                </a:solidFill>
                <a:cs typeface="Times New Roman" pitchFamily="18" charset="0"/>
                <a:sym typeface="Times New Roman" pitchFamily="18" charset="0"/>
              </a:rPr>
              <a:t>；</a:t>
            </a:r>
          </a:p>
          <a:p>
            <a:pPr marL="272654" indent="-272654">
              <a:spcBef>
                <a:spcPts val="0"/>
              </a:spcBef>
              <a:buFont typeface="Wingdings" pitchFamily="2" charset="2"/>
              <a:buNone/>
              <a:defRPr/>
            </a:pPr>
            <a:r>
              <a:rPr lang="en-US" altLang="zh-CN" sz="2000" b="1" dirty="0">
                <a:cs typeface="Times New Roman" pitchFamily="18" charset="0"/>
                <a:sym typeface="Times New Roman" pitchFamily="18" charset="0"/>
              </a:rPr>
              <a:t>}</a:t>
            </a:r>
          </a:p>
        </p:txBody>
      </p:sp>
      <p:sp>
        <p:nvSpPr>
          <p:cNvPr id="6" name="Rectangle 3">
            <a:extLst>
              <a:ext uri="{FF2B5EF4-FFF2-40B4-BE49-F238E27FC236}">
                <a16:creationId xmlns:a16="http://schemas.microsoft.com/office/drawing/2014/main" id="{DDEDB008-E92B-48EF-82AB-BDB277AB7F38}"/>
              </a:ext>
            </a:extLst>
          </p:cNvPr>
          <p:cNvSpPr txBox="1">
            <a:spLocks noChangeArrowheads="1"/>
          </p:cNvSpPr>
          <p:nvPr/>
        </p:nvSpPr>
        <p:spPr bwMode="auto">
          <a:xfrm>
            <a:off x="98425" y="1404938"/>
            <a:ext cx="4543425" cy="3027362"/>
          </a:xfrm>
          <a:prstGeom prst="rect">
            <a:avLst/>
          </a:prstGeom>
          <a:noFill/>
          <a:ln>
            <a:noFill/>
          </a:ln>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Char char="Ø"/>
              <a:defRPr/>
            </a:pPr>
            <a:r>
              <a:rPr lang="zh-CN" altLang="en-US" sz="2400" dirty="0">
                <a:latin typeface="华文楷体" panose="02010600040101010101" pitchFamily="2" charset="-122"/>
                <a:ea typeface="华文楷体" panose="02010600040101010101" pitchFamily="2" charset="-122"/>
              </a:rPr>
              <a:t>例</a:t>
            </a:r>
            <a:endParaRPr lang="en-US" altLang="zh-CN" sz="2400" dirty="0">
              <a:latin typeface="华文楷体" panose="02010600040101010101" pitchFamily="2" charset="-122"/>
              <a:ea typeface="华文楷体" panose="02010600040101010101" pitchFamily="2" charset="-122"/>
            </a:endParaRPr>
          </a:p>
          <a:p>
            <a:pPr eaLnBrk="1" hangingPunct="1">
              <a:spcBef>
                <a:spcPct val="20000"/>
              </a:spcBef>
              <a:buSzPct val="100000"/>
              <a:defRPr/>
            </a:pPr>
            <a:r>
              <a:rPr lang="en-US" altLang="zh-CN" sz="2000" i="1" dirty="0">
                <a:latin typeface="Times New Roman" panose="02020603050405020304" pitchFamily="18" charset="0"/>
              </a:rPr>
              <a:t>SDT</a:t>
            </a:r>
            <a:r>
              <a:rPr lang="zh-CN" altLang="en-US"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F</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i="1" dirty="0" err="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F.val</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 </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T.val</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sym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2) </a:t>
            </a:r>
            <a:r>
              <a:rPr lang="en-US" altLang="zh-CN"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F</a:t>
            </a:r>
            <a:r>
              <a:rPr lang="zh-CN" altLang="en-US" sz="2000" dirty="0">
                <a:latin typeface="Times New Roman" panose="02020603050405020304" pitchFamily="18" charset="0"/>
                <a:cs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.inh </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.inh</a:t>
            </a:r>
            <a:r>
              <a:rPr lang="zh-CN" altLang="en-US" sz="2000" dirty="0">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dirty="0">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	{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zh-CN" altLang="en-US" sz="2000"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latin typeface="Times New Roman" panose="02020603050405020304" pitchFamily="18" charset="0"/>
                <a:cs typeface="Times New Roman" panose="02020603050405020304" pitchFamily="18" charset="0"/>
              </a:rPr>
              <a:t>3)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zh-CN" altLang="en-US" sz="2000" i="1"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dirty="0">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dirty="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syn</a:t>
            </a:r>
            <a:r>
              <a:rPr lang="en-US" altLang="zh-CN" sz="2000" i="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zh-CN" altLang="en-US" sz="2000" i="1" dirty="0">
                <a:latin typeface="Times New Roman" panose="02020603050405020304" pitchFamily="18" charset="0"/>
                <a:cs typeface="Times New Roman" panose="02020603050405020304" pitchFamily="18" charset="0"/>
              </a:rPr>
              <a:t>T</a:t>
            </a:r>
            <a:r>
              <a:rPr lang="en-US" altLang="zh-CN" sz="2000" i="1" dirty="0">
                <a:latin typeface="Times New Roman" panose="02020603050405020304" pitchFamily="18" charset="0"/>
                <a:ea typeface="楷体" panose="02010609060101010101" pitchFamily="49" charset="-122"/>
              </a:rPr>
              <a:t>′</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inh</a:t>
            </a:r>
            <a:r>
              <a:rPr lang="en-US" altLang="zh-CN" sz="2000" dirty="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defRPr/>
            </a:pP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dirty="0" err="1">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dirty="0" err="1">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dirty="0">
                <a:solidFill>
                  <a:schemeClr val="tx2">
                    <a:lumMod val="60000"/>
                    <a:lumOff val="40000"/>
                  </a:schemeClr>
                </a:solidFill>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dirty="0">
              <a:solidFill>
                <a:schemeClr val="tx2">
                  <a:lumMod val="60000"/>
                  <a:lumOff val="40000"/>
                </a:schemeClr>
              </a:solidFill>
              <a:latin typeface="Times New Roman" panose="02020603050405020304" pitchFamily="18" charset="0"/>
              <a:cs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defRPr/>
            </a:pPr>
            <a:endParaRPr lang="zh-CN" altLang="en-US" sz="1500" dirty="0"/>
          </a:p>
        </p:txBody>
      </p:sp>
    </p:spTree>
    <p:extLst>
      <p:ext uri="{BB962C8B-B14F-4D97-AF65-F5344CB8AC3E}">
        <p14:creationId xmlns:p14="http://schemas.microsoft.com/office/powerpoint/2010/main" val="420010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0" fill="hold" grpId="0" nodeType="clickEffect">
                                  <p:stCondLst>
                                    <p:cond delay="0"/>
                                  </p:stCondLst>
                                  <p:childTnLst>
                                    <p:anim calcmode="lin" valueType="num">
                                      <p:cBhvr>
                                        <p:cTn id="6" dur="500"/>
                                        <p:tgtEl>
                                          <p:spTgt spid="2">
                                            <p:txEl>
                                              <p:pRg st="0" end="0"/>
                                            </p:txEl>
                                          </p:spTgt>
                                        </p:tgtEl>
                                        <p:attrNameLst>
                                          <p:attrName>ppt_w</p:attrName>
                                        </p:attrNameLst>
                                      </p:cBhvr>
                                      <p:tavLst>
                                        <p:tav tm="0">
                                          <p:val>
                                            <p:strVal val="ppt_w"/>
                                          </p:val>
                                        </p:tav>
                                        <p:tav tm="100000">
                                          <p:val>
                                            <p:fltVal val="0"/>
                                          </p:val>
                                        </p:tav>
                                      </p:tavLst>
                                    </p:anim>
                                    <p:anim calcmode="lin" valueType="num">
                                      <p:cBhvr>
                                        <p:cTn id="7" dur="500"/>
                                        <p:tgtEl>
                                          <p:spTgt spid="2">
                                            <p:txEl>
                                              <p:pRg st="0" end="0"/>
                                            </p:txEl>
                                          </p:spTgt>
                                        </p:tgtEl>
                                        <p:attrNameLst>
                                          <p:attrName>ppt_h</p:attrName>
                                        </p:attrNameLst>
                                      </p:cBhvr>
                                      <p:tavLst>
                                        <p:tav tm="0">
                                          <p:val>
                                            <p:strVal val="ppt_h"/>
                                          </p:val>
                                        </p:tav>
                                        <p:tav tm="100000">
                                          <p:val>
                                            <p:fltVal val="0"/>
                                          </p:val>
                                        </p:tav>
                                      </p:tavLst>
                                    </p:anim>
                                    <p:animEffect transition="out" filter="fade">
                                      <p:cBhvr>
                                        <p:cTn id="8" dur="500"/>
                                        <p:tgtEl>
                                          <p:spTgt spid="2">
                                            <p:txEl>
                                              <p:pRg st="0" end="0"/>
                                            </p:txEl>
                                          </p:spTgt>
                                        </p:tgtEl>
                                      </p:cBhvr>
                                    </p:animEffect>
                                    <p:set>
                                      <p:cBhvr>
                                        <p:cTn id="9" dur="1" fill="hold">
                                          <p:stCondLst>
                                            <p:cond delay="499"/>
                                          </p:stCondLst>
                                        </p:cTn>
                                        <p:tgtEl>
                                          <p:spTgt spid="2">
                                            <p:txEl>
                                              <p:pRg st="0" end="0"/>
                                            </p:txEl>
                                          </p:spTgt>
                                        </p:tgtEl>
                                        <p:attrNameLst>
                                          <p:attrName>style.visibility</p:attrName>
                                        </p:attrNameLst>
                                      </p:cBhvr>
                                      <p:to>
                                        <p:strVal val="hidden"/>
                                      </p:to>
                                    </p:set>
                                  </p:childTnLst>
                                </p:cTn>
                              </p:par>
                              <p:par>
                                <p:cTn id="10" presetID="53" presetClass="exit" presetSubtype="0" fill="hold" grpId="0" nodeType="withEffect">
                                  <p:stCondLst>
                                    <p:cond delay="0"/>
                                  </p:stCondLst>
                                  <p:childTnLst>
                                    <p:anim calcmode="lin" valueType="num">
                                      <p:cBhvr>
                                        <p:cTn id="11" dur="500"/>
                                        <p:tgtEl>
                                          <p:spTgt spid="2">
                                            <p:txEl>
                                              <p:pRg st="1" end="1"/>
                                            </p:txEl>
                                          </p:spTgt>
                                        </p:tgtEl>
                                        <p:attrNameLst>
                                          <p:attrName>ppt_w</p:attrName>
                                        </p:attrNameLst>
                                      </p:cBhvr>
                                      <p:tavLst>
                                        <p:tav tm="0">
                                          <p:val>
                                            <p:strVal val="ppt_w"/>
                                          </p:val>
                                        </p:tav>
                                        <p:tav tm="100000">
                                          <p:val>
                                            <p:fltVal val="0"/>
                                          </p:val>
                                        </p:tav>
                                      </p:tavLst>
                                    </p:anim>
                                    <p:anim calcmode="lin" valueType="num">
                                      <p:cBhvr>
                                        <p:cTn id="12" dur="500"/>
                                        <p:tgtEl>
                                          <p:spTgt spid="2">
                                            <p:txEl>
                                              <p:pRg st="1" end="1"/>
                                            </p:txEl>
                                          </p:spTgt>
                                        </p:tgtEl>
                                        <p:attrNameLst>
                                          <p:attrName>ppt_h</p:attrName>
                                        </p:attrNameLst>
                                      </p:cBhvr>
                                      <p:tavLst>
                                        <p:tav tm="0">
                                          <p:val>
                                            <p:strVal val="ppt_h"/>
                                          </p:val>
                                        </p:tav>
                                        <p:tav tm="100000">
                                          <p:val>
                                            <p:fltVal val="0"/>
                                          </p:val>
                                        </p:tav>
                                      </p:tavLst>
                                    </p:anim>
                                    <p:animEffect transition="out" filter="fade">
                                      <p:cBhvr>
                                        <p:cTn id="13" dur="500"/>
                                        <p:tgtEl>
                                          <p:spTgt spid="2">
                                            <p:txEl>
                                              <p:pRg st="1" end="1"/>
                                            </p:txEl>
                                          </p:spTgt>
                                        </p:tgtEl>
                                      </p:cBhvr>
                                    </p:animEffect>
                                    <p:set>
                                      <p:cBhvr>
                                        <p:cTn id="14" dur="1" fill="hold">
                                          <p:stCondLst>
                                            <p:cond delay="499"/>
                                          </p:stCondLst>
                                        </p:cTn>
                                        <p:tgtEl>
                                          <p:spTgt spid="2">
                                            <p:txEl>
                                              <p:pRg st="1" end="1"/>
                                            </p:txEl>
                                          </p:spTgt>
                                        </p:tgtEl>
                                        <p:attrNameLst>
                                          <p:attrName>style.visibility</p:attrName>
                                        </p:attrNameLst>
                                      </p:cBhvr>
                                      <p:to>
                                        <p:strVal val="hidden"/>
                                      </p:to>
                                    </p:set>
                                  </p:childTnLst>
                                </p:cTn>
                              </p:par>
                              <p:par>
                                <p:cTn id="15" presetID="53" presetClass="exit" presetSubtype="0" fill="hold" grpId="0" nodeType="withEffect">
                                  <p:stCondLst>
                                    <p:cond delay="0"/>
                                  </p:stCondLst>
                                  <p:childTnLst>
                                    <p:anim calcmode="lin" valueType="num">
                                      <p:cBhvr>
                                        <p:cTn id="16" dur="500"/>
                                        <p:tgtEl>
                                          <p:spTgt spid="2">
                                            <p:txEl>
                                              <p:pRg st="2" end="2"/>
                                            </p:txEl>
                                          </p:spTgt>
                                        </p:tgtEl>
                                        <p:attrNameLst>
                                          <p:attrName>ppt_w</p:attrName>
                                        </p:attrNameLst>
                                      </p:cBhvr>
                                      <p:tavLst>
                                        <p:tav tm="0">
                                          <p:val>
                                            <p:strVal val="ppt_w"/>
                                          </p:val>
                                        </p:tav>
                                        <p:tav tm="100000">
                                          <p:val>
                                            <p:fltVal val="0"/>
                                          </p:val>
                                        </p:tav>
                                      </p:tavLst>
                                    </p:anim>
                                    <p:anim calcmode="lin" valueType="num">
                                      <p:cBhvr>
                                        <p:cTn id="17" dur="500"/>
                                        <p:tgtEl>
                                          <p:spTgt spid="2">
                                            <p:txEl>
                                              <p:pRg st="2" end="2"/>
                                            </p:txEl>
                                          </p:spTgt>
                                        </p:tgtEl>
                                        <p:attrNameLst>
                                          <p:attrName>ppt_h</p:attrName>
                                        </p:attrNameLst>
                                      </p:cBhvr>
                                      <p:tavLst>
                                        <p:tav tm="0">
                                          <p:val>
                                            <p:strVal val="ppt_h"/>
                                          </p:val>
                                        </p:tav>
                                        <p:tav tm="100000">
                                          <p:val>
                                            <p:fltVal val="0"/>
                                          </p:val>
                                        </p:tav>
                                      </p:tavLst>
                                    </p:anim>
                                    <p:animEffect transition="out" filter="fade">
                                      <p:cBhvr>
                                        <p:cTn id="18" dur="500"/>
                                        <p:tgtEl>
                                          <p:spTgt spid="2">
                                            <p:txEl>
                                              <p:pRg st="2" end="2"/>
                                            </p:txEl>
                                          </p:spTgt>
                                        </p:tgtEl>
                                      </p:cBhvr>
                                    </p:animEffect>
                                    <p:set>
                                      <p:cBhvr>
                                        <p:cTn id="19" dur="1" fill="hold">
                                          <p:stCondLst>
                                            <p:cond delay="499"/>
                                          </p:stCondLst>
                                        </p:cTn>
                                        <p:tgtEl>
                                          <p:spTgt spid="2">
                                            <p:txEl>
                                              <p:pRg st="2" end="2"/>
                                            </p:txEl>
                                          </p:spTgt>
                                        </p:tgtEl>
                                        <p:attrNameLst>
                                          <p:attrName>style.visibility</p:attrName>
                                        </p:attrNameLst>
                                      </p:cBhvr>
                                      <p:to>
                                        <p:strVal val="hidden"/>
                                      </p:to>
                                    </p:set>
                                  </p:childTnLst>
                                </p:cTn>
                              </p:par>
                              <p:par>
                                <p:cTn id="20" presetID="53" presetClass="exit" presetSubtype="0" fill="hold" grpId="0" nodeType="withEffect">
                                  <p:stCondLst>
                                    <p:cond delay="0"/>
                                  </p:stCondLst>
                                  <p:childTnLst>
                                    <p:anim calcmode="lin" valueType="num">
                                      <p:cBhvr>
                                        <p:cTn id="21" dur="500"/>
                                        <p:tgtEl>
                                          <p:spTgt spid="2">
                                            <p:txEl>
                                              <p:pRg st="3" end="3"/>
                                            </p:txEl>
                                          </p:spTgt>
                                        </p:tgtEl>
                                        <p:attrNameLst>
                                          <p:attrName>ppt_w</p:attrName>
                                        </p:attrNameLst>
                                      </p:cBhvr>
                                      <p:tavLst>
                                        <p:tav tm="0">
                                          <p:val>
                                            <p:strVal val="ppt_w"/>
                                          </p:val>
                                        </p:tav>
                                        <p:tav tm="100000">
                                          <p:val>
                                            <p:fltVal val="0"/>
                                          </p:val>
                                        </p:tav>
                                      </p:tavLst>
                                    </p:anim>
                                    <p:anim calcmode="lin" valueType="num">
                                      <p:cBhvr>
                                        <p:cTn id="22" dur="500"/>
                                        <p:tgtEl>
                                          <p:spTgt spid="2">
                                            <p:txEl>
                                              <p:pRg st="3" end="3"/>
                                            </p:txEl>
                                          </p:spTgt>
                                        </p:tgtEl>
                                        <p:attrNameLst>
                                          <p:attrName>ppt_h</p:attrName>
                                        </p:attrNameLst>
                                      </p:cBhvr>
                                      <p:tavLst>
                                        <p:tav tm="0">
                                          <p:val>
                                            <p:strVal val="ppt_h"/>
                                          </p:val>
                                        </p:tav>
                                        <p:tav tm="100000">
                                          <p:val>
                                            <p:fltVal val="0"/>
                                          </p:val>
                                        </p:tav>
                                      </p:tavLst>
                                    </p:anim>
                                    <p:animEffect transition="out" filter="fade">
                                      <p:cBhvr>
                                        <p:cTn id="23" dur="500"/>
                                        <p:tgtEl>
                                          <p:spTgt spid="2">
                                            <p:txEl>
                                              <p:pRg st="3" end="3"/>
                                            </p:txEl>
                                          </p:spTgt>
                                        </p:tgtEl>
                                      </p:cBhvr>
                                    </p:animEffect>
                                    <p:set>
                                      <p:cBhvr>
                                        <p:cTn id="24" dur="1" fill="hold">
                                          <p:stCondLst>
                                            <p:cond delay="499"/>
                                          </p:stCondLst>
                                        </p:cTn>
                                        <p:tgtEl>
                                          <p:spTgt spid="2">
                                            <p:txEl>
                                              <p:pRg st="3" end="3"/>
                                            </p:txEl>
                                          </p:spTgt>
                                        </p:tgtEl>
                                        <p:attrNameLst>
                                          <p:attrName>style.visibility</p:attrName>
                                        </p:attrNameLst>
                                      </p:cBhvr>
                                      <p:to>
                                        <p:strVal val="hidden"/>
                                      </p:to>
                                    </p:set>
                                  </p:childTnLst>
                                </p:cTn>
                              </p:par>
                              <p:par>
                                <p:cTn id="25" presetID="53" presetClass="exit" presetSubtype="0" fill="hold" grpId="0" nodeType="withEffect">
                                  <p:stCondLst>
                                    <p:cond delay="0"/>
                                  </p:stCondLst>
                                  <p:childTnLst>
                                    <p:anim calcmode="lin" valueType="num">
                                      <p:cBhvr>
                                        <p:cTn id="26" dur="500"/>
                                        <p:tgtEl>
                                          <p:spTgt spid="2">
                                            <p:txEl>
                                              <p:pRg st="4" end="4"/>
                                            </p:txEl>
                                          </p:spTgt>
                                        </p:tgtEl>
                                        <p:attrNameLst>
                                          <p:attrName>ppt_w</p:attrName>
                                        </p:attrNameLst>
                                      </p:cBhvr>
                                      <p:tavLst>
                                        <p:tav tm="0">
                                          <p:val>
                                            <p:strVal val="ppt_w"/>
                                          </p:val>
                                        </p:tav>
                                        <p:tav tm="100000">
                                          <p:val>
                                            <p:fltVal val="0"/>
                                          </p:val>
                                        </p:tav>
                                      </p:tavLst>
                                    </p:anim>
                                    <p:anim calcmode="lin" valueType="num">
                                      <p:cBhvr>
                                        <p:cTn id="27" dur="500"/>
                                        <p:tgtEl>
                                          <p:spTgt spid="2">
                                            <p:txEl>
                                              <p:pRg st="4" end="4"/>
                                            </p:txEl>
                                          </p:spTgt>
                                        </p:tgtEl>
                                        <p:attrNameLst>
                                          <p:attrName>ppt_h</p:attrName>
                                        </p:attrNameLst>
                                      </p:cBhvr>
                                      <p:tavLst>
                                        <p:tav tm="0">
                                          <p:val>
                                            <p:strVal val="ppt_h"/>
                                          </p:val>
                                        </p:tav>
                                        <p:tav tm="100000">
                                          <p:val>
                                            <p:fltVal val="0"/>
                                          </p:val>
                                        </p:tav>
                                      </p:tavLst>
                                    </p:anim>
                                    <p:animEffect transition="out" filter="fade">
                                      <p:cBhvr>
                                        <p:cTn id="28" dur="500"/>
                                        <p:tgtEl>
                                          <p:spTgt spid="2">
                                            <p:txEl>
                                              <p:pRg st="4" end="4"/>
                                            </p:txEl>
                                          </p:spTgt>
                                        </p:tgtEl>
                                      </p:cBhvr>
                                    </p:animEffect>
                                    <p:set>
                                      <p:cBhvr>
                                        <p:cTn id="29" dur="1" fill="hold">
                                          <p:stCondLst>
                                            <p:cond delay="499"/>
                                          </p:stCondLst>
                                        </p:cTn>
                                        <p:tgtEl>
                                          <p:spTgt spid="2">
                                            <p:txEl>
                                              <p:pRg st="4" end="4"/>
                                            </p:txEl>
                                          </p:spTgt>
                                        </p:tgtEl>
                                        <p:attrNameLst>
                                          <p:attrName>style.visibility</p:attrName>
                                        </p:attrNameLst>
                                      </p:cBhvr>
                                      <p:to>
                                        <p:strVal val="hidden"/>
                                      </p:to>
                                    </p:set>
                                  </p:childTnLst>
                                </p:cTn>
                              </p:par>
                              <p:par>
                                <p:cTn id="30" presetID="53" presetClass="exit" presetSubtype="0" fill="hold" grpId="0" nodeType="withEffect">
                                  <p:stCondLst>
                                    <p:cond delay="0"/>
                                  </p:stCondLst>
                                  <p:childTnLst>
                                    <p:anim calcmode="lin" valueType="num">
                                      <p:cBhvr>
                                        <p:cTn id="31" dur="500"/>
                                        <p:tgtEl>
                                          <p:spTgt spid="2">
                                            <p:txEl>
                                              <p:pRg st="5" end="5"/>
                                            </p:txEl>
                                          </p:spTgt>
                                        </p:tgtEl>
                                        <p:attrNameLst>
                                          <p:attrName>ppt_w</p:attrName>
                                        </p:attrNameLst>
                                      </p:cBhvr>
                                      <p:tavLst>
                                        <p:tav tm="0">
                                          <p:val>
                                            <p:strVal val="ppt_w"/>
                                          </p:val>
                                        </p:tav>
                                        <p:tav tm="100000">
                                          <p:val>
                                            <p:fltVal val="0"/>
                                          </p:val>
                                        </p:tav>
                                      </p:tavLst>
                                    </p:anim>
                                    <p:anim calcmode="lin" valueType="num">
                                      <p:cBhvr>
                                        <p:cTn id="32" dur="500"/>
                                        <p:tgtEl>
                                          <p:spTgt spid="2">
                                            <p:txEl>
                                              <p:pRg st="5" end="5"/>
                                            </p:txEl>
                                          </p:spTgt>
                                        </p:tgtEl>
                                        <p:attrNameLst>
                                          <p:attrName>ppt_h</p:attrName>
                                        </p:attrNameLst>
                                      </p:cBhvr>
                                      <p:tavLst>
                                        <p:tav tm="0">
                                          <p:val>
                                            <p:strVal val="ppt_h"/>
                                          </p:val>
                                        </p:tav>
                                        <p:tav tm="100000">
                                          <p:val>
                                            <p:fltVal val="0"/>
                                          </p:val>
                                        </p:tav>
                                      </p:tavLst>
                                    </p:anim>
                                    <p:animEffect transition="out" filter="fade">
                                      <p:cBhvr>
                                        <p:cTn id="33" dur="500"/>
                                        <p:tgtEl>
                                          <p:spTgt spid="2">
                                            <p:txEl>
                                              <p:pRg st="5" end="5"/>
                                            </p:txEl>
                                          </p:spTgt>
                                        </p:tgtEl>
                                      </p:cBhvr>
                                    </p:animEffect>
                                    <p:set>
                                      <p:cBhvr>
                                        <p:cTn id="34" dur="1" fill="hold">
                                          <p:stCondLst>
                                            <p:cond delay="499"/>
                                          </p:stCondLst>
                                        </p:cTn>
                                        <p:tgtEl>
                                          <p:spTgt spid="2">
                                            <p:txEl>
                                              <p:pRg st="5" end="5"/>
                                            </p:txEl>
                                          </p:spTgt>
                                        </p:tgtEl>
                                        <p:attrNameLst>
                                          <p:attrName>style.visibility</p:attrName>
                                        </p:attrNameLst>
                                      </p:cBhvr>
                                      <p:to>
                                        <p:strVal val="hidden"/>
                                      </p:to>
                                    </p:set>
                                  </p:childTnLst>
                                </p:cTn>
                              </p:par>
                              <p:par>
                                <p:cTn id="35" presetID="53" presetClass="exit" presetSubtype="0" fill="hold" grpId="0" nodeType="withEffect">
                                  <p:stCondLst>
                                    <p:cond delay="0"/>
                                  </p:stCondLst>
                                  <p:childTnLst>
                                    <p:anim calcmode="lin" valueType="num">
                                      <p:cBhvr>
                                        <p:cTn id="36" dur="500"/>
                                        <p:tgtEl>
                                          <p:spTgt spid="2">
                                            <p:bg/>
                                          </p:spTgt>
                                        </p:tgtEl>
                                        <p:attrNameLst>
                                          <p:attrName>ppt_w</p:attrName>
                                        </p:attrNameLst>
                                      </p:cBhvr>
                                      <p:tavLst>
                                        <p:tav tm="0">
                                          <p:val>
                                            <p:strVal val="ppt_w"/>
                                          </p:val>
                                        </p:tav>
                                        <p:tav tm="100000">
                                          <p:val>
                                            <p:fltVal val="0"/>
                                          </p:val>
                                        </p:tav>
                                      </p:tavLst>
                                    </p:anim>
                                    <p:anim calcmode="lin" valueType="num">
                                      <p:cBhvr>
                                        <p:cTn id="37" dur="500"/>
                                        <p:tgtEl>
                                          <p:spTgt spid="2">
                                            <p:bg/>
                                          </p:spTgt>
                                        </p:tgtEl>
                                        <p:attrNameLst>
                                          <p:attrName>ppt_h</p:attrName>
                                        </p:attrNameLst>
                                      </p:cBhvr>
                                      <p:tavLst>
                                        <p:tav tm="0">
                                          <p:val>
                                            <p:strVal val="ppt_h"/>
                                          </p:val>
                                        </p:tav>
                                        <p:tav tm="100000">
                                          <p:val>
                                            <p:fltVal val="0"/>
                                          </p:val>
                                        </p:tav>
                                      </p:tavLst>
                                    </p:anim>
                                    <p:animEffect transition="out" filter="fade">
                                      <p:cBhvr>
                                        <p:cTn id="38" dur="500"/>
                                        <p:tgtEl>
                                          <p:spTgt spid="2">
                                            <p:bg/>
                                          </p:spTgt>
                                        </p:tgtEl>
                                      </p:cBhvr>
                                    </p:animEffect>
                                    <p:set>
                                      <p:cBhvr>
                                        <p:cTn id="39" dur="1" fill="hold">
                                          <p:stCondLst>
                                            <p:cond delay="499"/>
                                          </p:stCondLst>
                                        </p:cTn>
                                        <p:tgtEl>
                                          <p:spTgt spid="2">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B9B69DEC-685A-4FF5-95C6-AD656AFD90D3}"/>
              </a:ext>
            </a:extLst>
          </p:cNvPr>
          <p:cNvSpPr txBox="1">
            <a:spLocks noChangeArrowheads="1"/>
          </p:cNvSpPr>
          <p:nvPr/>
        </p:nvSpPr>
        <p:spPr bwMode="auto">
          <a:xfrm>
            <a:off x="98425" y="1404938"/>
            <a:ext cx="4543425" cy="302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257175" indent="-257175">
              <a:defRPr b="1">
                <a:solidFill>
                  <a:schemeClr val="tx1"/>
                </a:solidFill>
                <a:latin typeface="Tahoma" panose="020B0604030504040204" pitchFamily="34" charset="0"/>
                <a:ea typeface="宋体" panose="02010600030101010101" pitchFamily="2" charset="-122"/>
              </a:defRPr>
            </a:lvl1pPr>
            <a:lvl2pPr marL="742950" indent="-285750">
              <a:defRPr b="1">
                <a:solidFill>
                  <a:schemeClr val="tx1"/>
                </a:solidFill>
                <a:latin typeface="Tahoma" panose="020B0604030504040204" pitchFamily="34" charset="0"/>
                <a:ea typeface="宋体" panose="02010600030101010101" pitchFamily="2" charset="-122"/>
              </a:defRPr>
            </a:lvl2pPr>
            <a:lvl3pPr marL="1143000" indent="-228600">
              <a:defRPr b="1">
                <a:solidFill>
                  <a:schemeClr val="tx1"/>
                </a:solidFill>
                <a:latin typeface="Tahoma" panose="020B0604030504040204" pitchFamily="34" charset="0"/>
                <a:ea typeface="宋体" panose="02010600030101010101" pitchFamily="2" charset="-122"/>
              </a:defRPr>
            </a:lvl3pPr>
            <a:lvl4pPr marL="1600200" indent="-228600">
              <a:defRPr b="1">
                <a:solidFill>
                  <a:schemeClr val="tx1"/>
                </a:solidFill>
                <a:latin typeface="Tahoma" panose="020B0604030504040204" pitchFamily="34" charset="0"/>
                <a:ea typeface="宋体" panose="02010600030101010101" pitchFamily="2" charset="-122"/>
              </a:defRPr>
            </a:lvl4pPr>
            <a:lvl5pPr marL="2057400" indent="-22860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Char char="Ø"/>
            </a:pPr>
            <a:r>
              <a:rPr lang="zh-CN" altLang="en-US" sz="2400">
                <a:latin typeface="华文楷体" panose="02010600040101010101" pitchFamily="2" charset="-122"/>
                <a:ea typeface="华文楷体" panose="02010600040101010101" pitchFamily="2" charset="-122"/>
              </a:rPr>
              <a:t>例</a:t>
            </a:r>
            <a:endParaRPr lang="en-US" altLang="zh-CN" sz="2400">
              <a:latin typeface="华文楷体" panose="02010600040101010101" pitchFamily="2" charset="-122"/>
              <a:ea typeface="华文楷体" panose="02010600040101010101" pitchFamily="2" charset="-122"/>
            </a:endParaRPr>
          </a:p>
          <a:p>
            <a:pPr eaLnBrk="1" hangingPunct="1">
              <a:spcBef>
                <a:spcPct val="20000"/>
              </a:spcBef>
              <a:buSzPct val="100000"/>
            </a:pPr>
            <a:r>
              <a:rPr lang="en-US" altLang="zh-CN" sz="2000" i="1">
                <a:latin typeface="Times New Roman" panose="02020603050405020304" pitchFamily="18" charset="0"/>
              </a:rPr>
              <a:t>SDT</a:t>
            </a:r>
            <a:r>
              <a:rPr lang="zh-CN" altLang="en-US" sz="200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rPr>
              <a:t>1)</a:t>
            </a:r>
            <a:r>
              <a:rPr lang="zh-CN" altLang="en-US" sz="2000">
                <a:latin typeface="Times New Roman" panose="02020603050405020304" pitchFamily="18" charset="0"/>
                <a:cs typeface="Times New Roman" panose="02020603050405020304" pitchFamily="18" charset="0"/>
              </a:rPr>
              <a:t> </a:t>
            </a:r>
            <a:r>
              <a:rPr lang="en-US" altLang="zh-CN" sz="2000" i="1">
                <a:latin typeface="Times New Roman" panose="02020603050405020304" pitchFamily="18" charset="0"/>
                <a:cs typeface="Times New Roman" panose="02020603050405020304" pitchFamily="18" charset="0"/>
              </a:rPr>
              <a:t>T </a:t>
            </a:r>
            <a:r>
              <a:rPr lang="en-US" altLang="zh-CN" sz="200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F</a:t>
            </a:r>
            <a:r>
              <a:rPr lang="en-US" altLang="zh-CN" sz="2000">
                <a:latin typeface="Times New Roman" panose="02020603050405020304" pitchFamily="18" charset="0"/>
                <a:cs typeface="Times New Roman" panose="02020603050405020304" pitchFamily="18" charset="0"/>
                <a:sym typeface="Arial" panose="020B0604020202020204" pitchFamily="34" charset="0"/>
              </a:rPr>
              <a:t> { </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T</a:t>
            </a:r>
            <a:r>
              <a:rPr lang="en-US" altLang="zh-CN" sz="2000" i="1">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.inh </a:t>
            </a:r>
            <a:r>
              <a:rPr lang="en-US" altLang="zh-CN" sz="200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a:t>
            </a:r>
            <a:r>
              <a:rPr lang="en-US" altLang="zh-CN" sz="2000" i="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F.val</a:t>
            </a:r>
            <a:r>
              <a:rPr lang="en-US" altLang="zh-CN" sz="2000">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 } </a:t>
            </a:r>
            <a:r>
              <a:rPr lang="en-US" altLang="zh-CN" sz="2000" i="1">
                <a:latin typeface="Times New Roman" panose="02020603050405020304" pitchFamily="18" charset="0"/>
                <a:ea typeface="楷体" panose="02010609060101010101" pitchFamily="49" charset="-122"/>
                <a:cs typeface="Times New Roman" panose="02020603050405020304" pitchFamily="18" charset="0"/>
                <a:sym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a:t>
            </a: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 </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T.val </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.syn</a:t>
            </a: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 }</a:t>
            </a:r>
            <a:endParaRPr lang="zh-CN" altLang="en-US" sz="2000">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rPr>
              <a:t>2) </a:t>
            </a:r>
            <a:r>
              <a:rPr lang="en-US" altLang="zh-CN"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 </a:t>
            </a:r>
            <a:r>
              <a:rPr lang="en-US" altLang="zh-CN" sz="2000">
                <a:latin typeface="Times New Roman" panose="02020603050405020304" pitchFamily="18" charset="0"/>
                <a:cs typeface="Times New Roman" panose="02020603050405020304" pitchFamily="18" charset="0"/>
              </a:rPr>
              <a:t>→ *</a:t>
            </a:r>
            <a:r>
              <a:rPr lang="zh-CN" altLang="en-US" sz="2000" i="1">
                <a:latin typeface="Times New Roman" panose="02020603050405020304" pitchFamily="18" charset="0"/>
                <a:cs typeface="Times New Roman" panose="02020603050405020304" pitchFamily="18" charset="0"/>
              </a:rPr>
              <a:t>F</a:t>
            </a:r>
            <a:r>
              <a:rPr lang="zh-CN" altLang="en-US" sz="2000">
                <a:latin typeface="Times New Roman" panose="02020603050405020304" pitchFamily="18" charset="0"/>
                <a:cs typeface="Times New Roman" panose="02020603050405020304" pitchFamily="18" charset="0"/>
              </a:rPr>
              <a:t> { </a:t>
            </a:r>
            <a:r>
              <a:rPr lang="zh-CN" altLang="en-US" sz="2000" i="1">
                <a:latin typeface="Times New Roman" panose="02020603050405020304" pitchFamily="18" charset="0"/>
                <a:cs typeface="Times New Roman" panose="02020603050405020304" pitchFamily="18" charset="0"/>
              </a:rPr>
              <a:t>T</a:t>
            </a:r>
            <a:r>
              <a:rPr lang="zh-CN" altLang="en-US" sz="2000" baseline="-25000">
                <a:latin typeface="Times New Roman" panose="02020603050405020304" pitchFamily="18" charset="0"/>
                <a:cs typeface="Times New Roman" panose="02020603050405020304" pitchFamily="18" charset="0"/>
              </a:rPr>
              <a:t>1</a:t>
            </a:r>
            <a:r>
              <a:rPr lang="en-US" altLang="zh-CN" sz="2000" i="1">
                <a:latin typeface="Times New Roman" panose="02020603050405020304" pitchFamily="18" charset="0"/>
                <a:ea typeface="楷体" panose="02010609060101010101" pitchFamily="49" charset="-122"/>
              </a:rPr>
              <a:t>′</a:t>
            </a:r>
            <a:r>
              <a:rPr lang="zh-CN" altLang="en-US" sz="2000" i="1">
                <a:latin typeface="Times New Roman" panose="02020603050405020304" pitchFamily="18" charset="0"/>
                <a:cs typeface="Times New Roman" panose="02020603050405020304" pitchFamily="18" charset="0"/>
              </a:rPr>
              <a:t>.inh </a:t>
            </a:r>
            <a:r>
              <a:rPr lang="zh-CN" altLang="en-US" sz="2000">
                <a:latin typeface="Times New Roman" panose="02020603050405020304" pitchFamily="18" charset="0"/>
                <a:cs typeface="Times New Roman" panose="02020603050405020304" pitchFamily="18" charset="0"/>
              </a:rPr>
              <a:t>= </a:t>
            </a:r>
            <a:r>
              <a:rPr lang="zh-CN" altLang="en-US"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zh-CN" altLang="en-US" sz="2000" i="1">
                <a:latin typeface="Times New Roman" panose="02020603050405020304" pitchFamily="18" charset="0"/>
                <a:cs typeface="Times New Roman" panose="02020603050405020304" pitchFamily="18" charset="0"/>
              </a:rPr>
              <a:t>.inh</a:t>
            </a:r>
            <a:r>
              <a:rPr lang="zh-CN" altLang="en-US" sz="2000">
                <a:latin typeface="Times New Roman" panose="02020603050405020304" pitchFamily="18" charset="0"/>
                <a:cs typeface="Times New Roman" panose="02020603050405020304" pitchFamily="18" charset="0"/>
                <a:sym typeface="Times New Roman" panose="02020603050405020304" pitchFamily="18" charset="0"/>
              </a:rPr>
              <a:t>×</a:t>
            </a:r>
            <a:r>
              <a:rPr lang="zh-CN" altLang="en-US" sz="2000" i="1">
                <a:latin typeface="Times New Roman" panose="02020603050405020304" pitchFamily="18" charset="0"/>
                <a:cs typeface="Times New Roman" panose="02020603050405020304" pitchFamily="18" charset="0"/>
                <a:sym typeface="Times New Roman" panose="02020603050405020304" pitchFamily="18" charset="0"/>
              </a:rPr>
              <a:t>F.val</a:t>
            </a:r>
            <a:r>
              <a:rPr lang="zh-CN" altLang="en-US" sz="2000">
                <a:latin typeface="Times New Roman" panose="02020603050405020304" pitchFamily="18" charset="0"/>
                <a:cs typeface="Times New Roman" panose="02020603050405020304" pitchFamily="18" charset="0"/>
                <a:sym typeface="Times New Roman" panose="02020603050405020304" pitchFamily="18" charset="0"/>
              </a:rPr>
              <a:t> } </a:t>
            </a:r>
            <a:r>
              <a:rPr lang="zh-CN" altLang="en-US" sz="2000" i="1">
                <a:latin typeface="Times New Roman" panose="02020603050405020304" pitchFamily="18" charset="0"/>
                <a:cs typeface="Times New Roman" panose="02020603050405020304" pitchFamily="18" charset="0"/>
              </a:rPr>
              <a:t>T</a:t>
            </a:r>
            <a:r>
              <a:rPr lang="zh-CN" altLang="en-US" sz="2000" baseline="-25000">
                <a:latin typeface="Times New Roman" panose="02020603050405020304" pitchFamily="18" charset="0"/>
                <a:cs typeface="Times New Roman" panose="02020603050405020304" pitchFamily="18" charset="0"/>
              </a:rPr>
              <a:t>1</a:t>
            </a:r>
            <a:r>
              <a:rPr lang="en-US" altLang="zh-CN" sz="2000" i="1">
                <a:latin typeface="Times New Roman" panose="02020603050405020304" pitchFamily="18" charset="0"/>
                <a:ea typeface="楷体" panose="02010609060101010101" pitchFamily="49" charset="-122"/>
              </a:rPr>
              <a:t>′</a:t>
            </a:r>
            <a:r>
              <a:rPr lang="zh-CN" altLang="en-US" sz="2000">
                <a:latin typeface="Times New Roman" panose="02020603050405020304" pitchFamily="18" charset="0"/>
                <a:cs typeface="Times New Roman" panose="02020603050405020304" pitchFamily="18" charset="0"/>
              </a:rPr>
              <a:t> </a:t>
            </a:r>
            <a:endParaRPr lang="en-US" altLang="zh-CN" sz="2000">
              <a:latin typeface="Times New Roman" panose="02020603050405020304" pitchFamily="18" charset="0"/>
              <a:cs typeface="Times New Roman" panose="02020603050405020304" pitchFamily="18" charset="0"/>
            </a:endParaRP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rPr>
              <a:t>	{ </a:t>
            </a:r>
            <a:r>
              <a:rPr lang="zh-CN" altLang="en-US"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en-US" altLang="zh-CN" sz="2000" i="1">
                <a:latin typeface="Times New Roman" panose="02020603050405020304" pitchFamily="18" charset="0"/>
                <a:cs typeface="Times New Roman" panose="02020603050405020304" pitchFamily="18" charset="0"/>
              </a:rPr>
              <a:t>.syn </a:t>
            </a:r>
            <a:r>
              <a:rPr lang="en-US" altLang="zh-CN" sz="2000">
                <a:latin typeface="Times New Roman" panose="02020603050405020304" pitchFamily="18" charset="0"/>
                <a:cs typeface="Times New Roman" panose="02020603050405020304" pitchFamily="18" charset="0"/>
              </a:rPr>
              <a:t>= </a:t>
            </a:r>
            <a:r>
              <a:rPr lang="zh-CN" altLang="en-US" sz="2000" i="1">
                <a:latin typeface="Times New Roman" panose="02020603050405020304" pitchFamily="18" charset="0"/>
                <a:cs typeface="Times New Roman" panose="02020603050405020304" pitchFamily="18" charset="0"/>
              </a:rPr>
              <a:t>T</a:t>
            </a:r>
            <a:r>
              <a:rPr lang="zh-CN" altLang="en-US" sz="2000" baseline="-25000">
                <a:latin typeface="Times New Roman" panose="02020603050405020304" pitchFamily="18" charset="0"/>
                <a:cs typeface="Times New Roman" panose="02020603050405020304" pitchFamily="18" charset="0"/>
              </a:rPr>
              <a:t>1</a:t>
            </a:r>
            <a:r>
              <a:rPr lang="en-US" altLang="zh-CN" sz="2000" i="1">
                <a:latin typeface="Times New Roman" panose="02020603050405020304" pitchFamily="18" charset="0"/>
                <a:ea typeface="楷体" panose="02010609060101010101" pitchFamily="49" charset="-122"/>
              </a:rPr>
              <a:t>′</a:t>
            </a:r>
            <a:r>
              <a:rPr lang="en-US" altLang="zh-CN" sz="2000" i="1">
                <a:latin typeface="Times New Roman" panose="02020603050405020304" pitchFamily="18" charset="0"/>
                <a:cs typeface="Times New Roman" panose="02020603050405020304" pitchFamily="18" charset="0"/>
              </a:rPr>
              <a:t>.syn</a:t>
            </a:r>
            <a:r>
              <a:rPr lang="en-US" altLang="zh-CN" sz="200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rPr>
              <a:t>3) </a:t>
            </a:r>
            <a:r>
              <a:rPr lang="zh-CN" altLang="en-US"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zh-CN" altLang="en-US" sz="2000" i="1">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sym typeface="Arial" panose="020B0604020202020204" pitchFamily="34" charset="0"/>
              </a:rPr>
              <a:t>→ </a:t>
            </a:r>
            <a:r>
              <a:rPr lang="el-GR" altLang="zh-CN" sz="2000" i="1">
                <a:latin typeface="Times New Roman" panose="02020603050405020304" pitchFamily="18" charset="0"/>
                <a:cs typeface="Times New Roman" panose="02020603050405020304" pitchFamily="18" charset="0"/>
                <a:sym typeface="Arial" panose="020B0604020202020204" pitchFamily="34" charset="0"/>
              </a:rPr>
              <a:t>ε</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en-US" altLang="zh-CN" sz="2000" i="1">
                <a:latin typeface="Times New Roman" panose="02020603050405020304" pitchFamily="18" charset="0"/>
                <a:cs typeface="Times New Roman" panose="02020603050405020304" pitchFamily="18" charset="0"/>
              </a:rPr>
              <a:t>.syn </a:t>
            </a:r>
            <a:r>
              <a:rPr lang="en-US" altLang="zh-CN" sz="2000">
                <a:latin typeface="Times New Roman" panose="02020603050405020304" pitchFamily="18" charset="0"/>
                <a:cs typeface="Times New Roman" panose="02020603050405020304" pitchFamily="18" charset="0"/>
              </a:rPr>
              <a:t>=</a:t>
            </a:r>
            <a:r>
              <a:rPr lang="zh-CN" altLang="en-US" sz="2000">
                <a:latin typeface="Times New Roman" panose="02020603050405020304" pitchFamily="18" charset="0"/>
                <a:cs typeface="Times New Roman" panose="02020603050405020304" pitchFamily="18" charset="0"/>
              </a:rPr>
              <a:t> </a:t>
            </a:r>
            <a:r>
              <a:rPr lang="zh-CN" altLang="en-US" sz="2000" i="1">
                <a:latin typeface="Times New Roman" panose="02020603050405020304" pitchFamily="18" charset="0"/>
                <a:cs typeface="Times New Roman" panose="02020603050405020304" pitchFamily="18" charset="0"/>
              </a:rPr>
              <a:t>T</a:t>
            </a:r>
            <a:r>
              <a:rPr lang="en-US" altLang="zh-CN" sz="2000" i="1">
                <a:latin typeface="Times New Roman" panose="02020603050405020304" pitchFamily="18" charset="0"/>
                <a:ea typeface="楷体" panose="02010609060101010101" pitchFamily="49" charset="-122"/>
              </a:rPr>
              <a:t>′</a:t>
            </a:r>
            <a:r>
              <a:rPr lang="en-US" altLang="zh-CN" sz="2000" i="1">
                <a:latin typeface="Times New Roman" panose="02020603050405020304" pitchFamily="18" charset="0"/>
                <a:cs typeface="Times New Roman" panose="02020603050405020304" pitchFamily="18" charset="0"/>
              </a:rPr>
              <a:t>.inh</a:t>
            </a:r>
            <a:r>
              <a:rPr lang="en-US" altLang="zh-CN" sz="2000">
                <a:latin typeface="Times New Roman" panose="02020603050405020304" pitchFamily="18" charset="0"/>
                <a:cs typeface="Times New Roman" panose="02020603050405020304" pitchFamily="18" charset="0"/>
              </a:rPr>
              <a:t> }</a:t>
            </a:r>
          </a:p>
          <a:p>
            <a:pPr eaLnBrk="1" hangingPunct="1">
              <a:spcBef>
                <a:spcPct val="20000"/>
              </a:spcBef>
              <a:buClr>
                <a:srgbClr val="3333CC"/>
              </a:buClr>
              <a:buSzPct val="60000"/>
            </a:pPr>
            <a:r>
              <a:rPr lang="en-US" altLang="zh-CN" sz="2000">
                <a:latin typeface="Times New Roman" panose="02020603050405020304" pitchFamily="18" charset="0"/>
                <a:cs typeface="Times New Roman" panose="02020603050405020304" pitchFamily="18" charset="0"/>
                <a:sym typeface="Times New Roman" panose="02020603050405020304" pitchFamily="18" charset="0"/>
              </a:rPr>
              <a:t>4) </a:t>
            </a:r>
            <a:r>
              <a:rPr lang="en-US" altLang="zh-CN" sz="2000" i="1">
                <a:latin typeface="Times New Roman" panose="02020603050405020304" pitchFamily="18" charset="0"/>
                <a:cs typeface="Times New Roman" panose="02020603050405020304" pitchFamily="18" charset="0"/>
                <a:sym typeface="Times New Roman" panose="02020603050405020304" pitchFamily="18" charset="0"/>
              </a:rPr>
              <a:t>F</a:t>
            </a:r>
            <a:r>
              <a:rPr lang="zh-CN" altLang="en-US" sz="2000">
                <a:latin typeface="Times New Roman" panose="02020603050405020304" pitchFamily="18" charset="0"/>
                <a:cs typeface="Times New Roman" panose="02020603050405020304" pitchFamily="18" charset="0"/>
                <a:sym typeface="Arial" panose="020B0604020202020204" pitchFamily="34" charset="0"/>
              </a:rPr>
              <a:t> →</a:t>
            </a:r>
            <a:r>
              <a:rPr lang="zh-CN" altLang="en-US" sz="2000" i="1">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latin typeface="Times New Roman" panose="02020603050405020304" pitchFamily="18" charset="0"/>
                <a:cs typeface="Times New Roman" panose="02020603050405020304" pitchFamily="18" charset="0"/>
                <a:sym typeface="Arial" panose="020B0604020202020204" pitchFamily="34" charset="0"/>
              </a:rPr>
              <a:t>digit</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 </a:t>
            </a:r>
            <a:r>
              <a:rPr lang="en-US" altLang="zh-CN" sz="2000">
                <a:latin typeface="Times New Roman" panose="02020603050405020304" pitchFamily="18" charset="0"/>
                <a:cs typeface="Times New Roman" panose="02020603050405020304" pitchFamily="18" charset="0"/>
                <a:sym typeface="Arial" panose="020B0604020202020204" pitchFamily="34" charset="0"/>
              </a:rPr>
              <a:t>{ </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F.val</a:t>
            </a:r>
            <a:r>
              <a:rPr lang="en-US" altLang="zh-CN" sz="2000">
                <a:latin typeface="Times New Roman" panose="02020603050405020304" pitchFamily="18" charset="0"/>
                <a:cs typeface="Times New Roman" panose="02020603050405020304" pitchFamily="18" charset="0"/>
                <a:sym typeface="Arial" panose="020B0604020202020204" pitchFamily="34" charset="0"/>
              </a:rPr>
              <a:t> = digit.</a:t>
            </a:r>
            <a:r>
              <a:rPr lang="en-US" altLang="zh-CN" sz="2000" i="1">
                <a:latin typeface="Times New Roman" panose="02020603050405020304" pitchFamily="18" charset="0"/>
                <a:cs typeface="Times New Roman" panose="02020603050405020304" pitchFamily="18" charset="0"/>
                <a:sym typeface="Arial" panose="020B0604020202020204" pitchFamily="34" charset="0"/>
              </a:rPr>
              <a:t>lexval</a:t>
            </a:r>
            <a:r>
              <a:rPr lang="en-US" altLang="zh-CN" sz="2000">
                <a:latin typeface="Times New Roman" panose="02020603050405020304" pitchFamily="18" charset="0"/>
                <a:cs typeface="Times New Roman" panose="02020603050405020304" pitchFamily="18" charset="0"/>
                <a:sym typeface="Arial" panose="020B0604020202020204" pitchFamily="34" charset="0"/>
              </a:rPr>
              <a:t> }</a:t>
            </a:r>
            <a:endParaRPr lang="zh-CN" altLang="en-US" sz="2000">
              <a:latin typeface="Times New Roman" panose="02020603050405020304" pitchFamily="18" charset="0"/>
              <a:cs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Char char="n"/>
            </a:pPr>
            <a:endParaRPr lang="zh-CN" altLang="en-US" sz="1500"/>
          </a:p>
        </p:txBody>
      </p:sp>
      <p:sp>
        <p:nvSpPr>
          <p:cNvPr id="7" name="Rectangle 6">
            <a:extLst>
              <a:ext uri="{FF2B5EF4-FFF2-40B4-BE49-F238E27FC236}">
                <a16:creationId xmlns:a16="http://schemas.microsoft.com/office/drawing/2014/main" id="{8AFE1FBE-264F-49FF-BB74-A27D13F938E8}"/>
              </a:ext>
            </a:extLst>
          </p:cNvPr>
          <p:cNvSpPr txBox="1">
            <a:spLocks noChangeArrowheads="1"/>
          </p:cNvSpPr>
          <p:nvPr/>
        </p:nvSpPr>
        <p:spPr>
          <a:xfrm>
            <a:off x="5141913" y="1060450"/>
            <a:ext cx="3216275" cy="3297238"/>
          </a:xfrm>
          <a:prstGeom prst="rect">
            <a:avLst/>
          </a:prstGeom>
          <a:ln w="12700"/>
        </p:spPr>
        <p:txBody>
          <a:bodyPr/>
          <a:lst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a:lstStyle>
          <a:p>
            <a:pPr marL="272654" indent="-272654">
              <a:lnSpc>
                <a:spcPct val="100000"/>
              </a:lnSpc>
              <a:buFont typeface="Wingdings" pitchFamily="2" charset="2"/>
              <a:buNone/>
              <a:defRPr/>
            </a:pPr>
            <a:r>
              <a:rPr lang="en-US" altLang="zh-CN" sz="2000" b="1" i="1" dirty="0" err="1">
                <a:cs typeface="Times New Roman" pitchFamily="18" charset="0"/>
              </a:rPr>
              <a:t>Desent</a:t>
            </a:r>
            <a:r>
              <a:rPr lang="en-US" altLang="zh-CN" sz="2000" b="1" dirty="0">
                <a:cs typeface="Times New Roman" pitchFamily="18" charset="0"/>
              </a:rPr>
              <a:t>()</a:t>
            </a:r>
          </a:p>
          <a:p>
            <a:pPr marL="272654" indent="-272654">
              <a:lnSpc>
                <a:spcPct val="100000"/>
              </a:lnSpc>
              <a:buFont typeface="Wingdings" pitchFamily="2" charset="2"/>
              <a:buNone/>
              <a:defRPr/>
            </a:pPr>
            <a:r>
              <a:rPr lang="en-US" altLang="zh-CN" sz="2000" b="1" dirty="0">
                <a:cs typeface="Times New Roman" pitchFamily="18" charset="0"/>
              </a:rPr>
              <a:t>{</a:t>
            </a:r>
          </a:p>
          <a:p>
            <a:pPr marL="575072" lvl="1" indent="-272654">
              <a:lnSpc>
                <a:spcPct val="100000"/>
              </a:lnSpc>
              <a:buFont typeface="Wingdings" pitchFamily="2" charset="2"/>
              <a:buNone/>
              <a:defRPr/>
            </a:pPr>
            <a:r>
              <a:rPr lang="en-US" altLang="zh-CN" sz="2000" b="1" i="1" dirty="0">
                <a:solidFill>
                  <a:schemeClr val="tx2">
                    <a:lumMod val="60000"/>
                    <a:lumOff val="40000"/>
                  </a:schemeClr>
                </a:solidFill>
                <a:cs typeface="Times New Roman" pitchFamily="18" charset="0"/>
              </a:rPr>
              <a:t>D</a:t>
            </a:r>
            <a:r>
              <a:rPr lang="zh-CN" altLang="en-US" sz="2000" b="1" dirty="0">
                <a:solidFill>
                  <a:schemeClr val="tx2">
                    <a:lumMod val="60000"/>
                    <a:lumOff val="40000"/>
                  </a:schemeClr>
                </a:solidFill>
                <a:cs typeface="Times New Roman" pitchFamily="18" charset="0"/>
              </a:rPr>
              <a:t>：</a:t>
            </a:r>
            <a:r>
              <a:rPr lang="en-US" altLang="zh-CN" sz="2000" b="1" i="1" dirty="0" err="1">
                <a:solidFill>
                  <a:schemeClr val="tx2">
                    <a:lumMod val="60000"/>
                    <a:lumOff val="40000"/>
                  </a:schemeClr>
                </a:solidFill>
                <a:cs typeface="Times New Roman" pitchFamily="18" charset="0"/>
              </a:rPr>
              <a:t>Tval</a:t>
            </a:r>
            <a:r>
              <a:rPr lang="zh-CN" altLang="en-US" sz="2000" b="1" dirty="0">
                <a:solidFill>
                  <a:schemeClr val="tx2">
                    <a:lumMod val="60000"/>
                    <a:lumOff val="40000"/>
                  </a:schemeClr>
                </a:solidFill>
                <a:cs typeface="Times New Roman" pitchFamily="18" charset="0"/>
              </a:rPr>
              <a:t>；</a:t>
            </a:r>
          </a:p>
          <a:p>
            <a:pPr marL="575072" lvl="1" indent="-272654">
              <a:lnSpc>
                <a:spcPct val="100000"/>
              </a:lnSpc>
              <a:buFont typeface="Wingdings" pitchFamily="2" charset="2"/>
              <a:buNone/>
              <a:defRPr/>
            </a:pPr>
            <a:r>
              <a:rPr lang="en-US" altLang="zh-CN" sz="2000" b="1" i="1" dirty="0" err="1">
                <a:cs typeface="Times New Roman" pitchFamily="18" charset="0"/>
              </a:rPr>
              <a:t>Getnext</a:t>
            </a:r>
            <a:r>
              <a:rPr lang="en-US" altLang="zh-CN" sz="2000" b="1" dirty="0">
                <a:cs typeface="Times New Roman" pitchFamily="18" charset="0"/>
              </a:rPr>
              <a:t>(</a:t>
            </a:r>
            <a:r>
              <a:rPr lang="en-US" altLang="zh-CN" sz="2000" b="1" i="1" dirty="0">
                <a:cs typeface="Times New Roman" pitchFamily="18" charset="0"/>
              </a:rPr>
              <a:t>token</a:t>
            </a:r>
            <a:r>
              <a:rPr lang="en-US" altLang="zh-CN" sz="2000" b="1" dirty="0">
                <a:cs typeface="Times New Roman" pitchFamily="18" charset="0"/>
              </a:rPr>
              <a:t>)</a:t>
            </a:r>
            <a:r>
              <a:rPr lang="zh-CN" altLang="en-US" sz="2000" b="1" dirty="0">
                <a:cs typeface="Times New Roman" pitchFamily="18" charset="0"/>
              </a:rPr>
              <a:t>；</a:t>
            </a:r>
          </a:p>
          <a:p>
            <a:pPr marL="575072" lvl="1" indent="-272654">
              <a:lnSpc>
                <a:spcPct val="100000"/>
              </a:lnSpc>
              <a:buFont typeface="Wingdings" pitchFamily="2" charset="2"/>
              <a:buNone/>
              <a:defRPr/>
            </a:pPr>
            <a:r>
              <a:rPr lang="en-US" altLang="zh-CN" sz="2000" b="1" i="1" dirty="0" err="1">
                <a:solidFill>
                  <a:schemeClr val="tx2">
                    <a:lumMod val="60000"/>
                    <a:lumOff val="40000"/>
                  </a:schemeClr>
                </a:solidFill>
                <a:cs typeface="Times New Roman" pitchFamily="18" charset="0"/>
              </a:rPr>
              <a:t>Tval</a:t>
            </a:r>
            <a:r>
              <a:rPr lang="en-US" altLang="zh-CN" sz="2000" b="1" i="1" dirty="0">
                <a:solidFill>
                  <a:schemeClr val="tx2">
                    <a:lumMod val="60000"/>
                    <a:lumOff val="40000"/>
                  </a:schemeClr>
                </a:solidFill>
                <a:cs typeface="Times New Roman" pitchFamily="18" charset="0"/>
              </a:rPr>
              <a:t> = </a:t>
            </a:r>
            <a:r>
              <a:rPr lang="en-US" altLang="zh-CN" sz="2000" b="1" i="1" dirty="0">
                <a:cs typeface="Times New Roman" pitchFamily="18" charset="0"/>
              </a:rPr>
              <a:t>T</a:t>
            </a:r>
            <a:r>
              <a:rPr lang="en-US" altLang="zh-CN" sz="2000" b="1" dirty="0">
                <a:cs typeface="Times New Roman" pitchFamily="18" charset="0"/>
              </a:rPr>
              <a:t>(</a:t>
            </a:r>
            <a:r>
              <a:rPr lang="en-US" altLang="zh-CN" sz="2000" b="1" i="1" dirty="0">
                <a:cs typeface="Times New Roman" pitchFamily="18" charset="0"/>
              </a:rPr>
              <a:t>token</a:t>
            </a:r>
            <a:r>
              <a:rPr lang="en-US" altLang="zh-CN" sz="2000" b="1" dirty="0">
                <a:cs typeface="Times New Roman" pitchFamily="18" charset="0"/>
              </a:rPr>
              <a:t>)</a:t>
            </a:r>
            <a:r>
              <a:rPr lang="zh-CN" altLang="en-US" sz="2000" b="1" dirty="0">
                <a:cs typeface="Times New Roman" pitchFamily="18" charset="0"/>
              </a:rPr>
              <a:t>；</a:t>
            </a:r>
          </a:p>
          <a:p>
            <a:pPr marL="575072" lvl="1" indent="-272654">
              <a:lnSpc>
                <a:spcPct val="100000"/>
              </a:lnSpc>
              <a:buFont typeface="Wingdings" pitchFamily="2" charset="2"/>
              <a:buNone/>
              <a:defRPr/>
            </a:pPr>
            <a:endParaRPr lang="zh-CN" altLang="en-US" sz="2000" b="1" dirty="0">
              <a:cs typeface="Times New Roman" pitchFamily="18" charset="0"/>
            </a:endParaRPr>
          </a:p>
          <a:p>
            <a:pPr marL="575072" lvl="1" indent="-272654">
              <a:lnSpc>
                <a:spcPct val="100000"/>
              </a:lnSpc>
              <a:buFont typeface="Wingdings" pitchFamily="2" charset="2"/>
              <a:buNone/>
              <a:defRPr/>
            </a:pPr>
            <a:r>
              <a:rPr lang="en-US" altLang="zh-CN" sz="2000" b="1" i="1" dirty="0">
                <a:cs typeface="Times New Roman" pitchFamily="18" charset="0"/>
              </a:rPr>
              <a:t>if token ≠ “</a:t>
            </a:r>
            <a:r>
              <a:rPr lang="en-US" altLang="zh-CN" sz="2000" b="1" dirty="0">
                <a:latin typeface="+mn-ea"/>
                <a:cs typeface="Times New Roman" pitchFamily="18" charset="0"/>
              </a:rPr>
              <a:t>$</a:t>
            </a:r>
            <a:r>
              <a:rPr lang="en-US" altLang="zh-CN" sz="2000" b="1" i="1" dirty="0">
                <a:cs typeface="Times New Roman" pitchFamily="18" charset="0"/>
              </a:rPr>
              <a:t>” then Error</a:t>
            </a:r>
            <a:r>
              <a:rPr lang="zh-CN" altLang="en-US" sz="2000" b="1" dirty="0">
                <a:cs typeface="Times New Roman" pitchFamily="18" charset="0"/>
              </a:rPr>
              <a:t>；</a:t>
            </a:r>
          </a:p>
          <a:p>
            <a:pPr marL="575072" lvl="1" indent="-272654">
              <a:lnSpc>
                <a:spcPct val="100000"/>
              </a:lnSpc>
              <a:buFont typeface="Wingdings" pitchFamily="2" charset="2"/>
              <a:buNone/>
              <a:defRPr/>
            </a:pPr>
            <a:r>
              <a:rPr lang="en-US" altLang="zh-CN" sz="2000" b="1" i="1" dirty="0">
                <a:solidFill>
                  <a:schemeClr val="tx2">
                    <a:lumMod val="60000"/>
                    <a:lumOff val="40000"/>
                  </a:schemeClr>
                </a:solidFill>
                <a:cs typeface="Times New Roman" pitchFamily="18" charset="0"/>
              </a:rPr>
              <a:t>return </a:t>
            </a:r>
            <a:r>
              <a:rPr lang="zh-CN" altLang="en-US" sz="2000" b="1" dirty="0">
                <a:solidFill>
                  <a:schemeClr val="tx2">
                    <a:lumMod val="60000"/>
                    <a:lumOff val="40000"/>
                  </a:schemeClr>
                </a:solidFill>
                <a:cs typeface="Times New Roman" pitchFamily="18" charset="0"/>
              </a:rPr>
              <a:t>；</a:t>
            </a:r>
          </a:p>
          <a:p>
            <a:pPr marL="272654" indent="-272654">
              <a:lnSpc>
                <a:spcPct val="100000"/>
              </a:lnSpc>
              <a:buFont typeface="Wingdings" pitchFamily="2" charset="2"/>
              <a:buNone/>
              <a:defRPr/>
            </a:pPr>
            <a:r>
              <a:rPr lang="en-US" altLang="zh-CN" sz="2000" b="1" dirty="0">
                <a:cs typeface="Times New Roman" pitchFamily="18" charset="0"/>
              </a:rPr>
              <a:t>}</a:t>
            </a:r>
            <a:endParaRPr lang="zh-CN" altLang="en-US" sz="2000" b="1" dirty="0">
              <a:cs typeface="Times New Roman" pitchFamily="18" charset="0"/>
            </a:endParaRPr>
          </a:p>
          <a:p>
            <a:pPr marL="272654" indent="-272654">
              <a:defRPr/>
            </a:pPr>
            <a:endParaRPr lang="zh-CN" altLang="en-US" dirty="0">
              <a:cs typeface="Times New Roman" pitchFamily="18" charset="0"/>
            </a:endParaRPr>
          </a:p>
        </p:txBody>
      </p:sp>
    </p:spTree>
    <p:extLst>
      <p:ext uri="{BB962C8B-B14F-4D97-AF65-F5344CB8AC3E}">
        <p14:creationId xmlns:p14="http://schemas.microsoft.com/office/powerpoint/2010/main" val="17332394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QxZWM4MGVjMTlmMGVjOWUyOTA4NGYzNWM4ZDcwZjI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3962</TotalTime>
  <Words>8260</Words>
  <Application>Microsoft Office PowerPoint</Application>
  <PresentationFormat>全屏显示(4:3)</PresentationFormat>
  <Paragraphs>1247</Paragraphs>
  <Slides>66</Slides>
  <Notes>54</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66</vt:i4>
      </vt:variant>
    </vt:vector>
  </HeadingPairs>
  <TitlesOfParts>
    <vt:vector size="93" baseType="lpstr">
      <vt:lpstr>CambriaMath</vt:lpstr>
      <vt:lpstr>PalatinoLinotype-Bold</vt:lpstr>
      <vt:lpstr>PalatinoLinotype-BoldItalic</vt:lpstr>
      <vt:lpstr>PalatinoLinotype-Italic</vt:lpstr>
      <vt:lpstr>PalatinoLinotype-Roman</vt:lpstr>
      <vt:lpstr>PingFang SC</vt:lpstr>
      <vt:lpstr>SBL BibLit</vt:lpstr>
      <vt:lpstr>Söhne</vt:lpstr>
      <vt:lpstr>Ubuntu Mono derivative Powerlin</vt:lpstr>
      <vt:lpstr>Ubuntu Mono derivative Powerline</vt:lpstr>
      <vt:lpstr>等线</vt:lpstr>
      <vt:lpstr>华文楷体</vt:lpstr>
      <vt:lpstr>楷体</vt:lpstr>
      <vt:lpstr>楷体_GB2312</vt:lpstr>
      <vt:lpstr>宋体</vt:lpstr>
      <vt:lpstr>微软雅黑</vt:lpstr>
      <vt:lpstr>Arial</vt:lpstr>
      <vt:lpstr>Calibri</vt:lpstr>
      <vt:lpstr>Cambria Math</vt:lpstr>
      <vt:lpstr>Candara</vt:lpstr>
      <vt:lpstr>Consolas</vt:lpstr>
      <vt:lpstr>Palatino Linotype</vt:lpstr>
      <vt:lpstr>Plantagenet Cherokee</vt:lpstr>
      <vt:lpstr>Tahoma</vt:lpstr>
      <vt:lpstr>Times New Roman</vt:lpstr>
      <vt:lpstr>Wingdings</vt:lpstr>
      <vt:lpstr>Office Theme</vt:lpstr>
      <vt:lpstr>PowerPoint 演示文稿</vt:lpstr>
      <vt:lpstr>Outline</vt:lpstr>
      <vt:lpstr>A Brief Introduction</vt:lpstr>
      <vt:lpstr>Syntax-Directed Definitions</vt:lpstr>
      <vt:lpstr>Annotated Parse Tree</vt:lpstr>
      <vt:lpstr>Synthesized Attributes (综合属性)</vt:lpstr>
      <vt:lpstr>A Complete Example of SDD</vt:lpstr>
      <vt:lpstr>PowerPoint 演示文稿</vt:lpstr>
      <vt:lpstr>Inherited Attributes (继承属性)</vt:lpstr>
      <vt:lpstr>Top-Down Parse of 3*5</vt:lpstr>
      <vt:lpstr>SDD with Inherited Attributes</vt:lpstr>
      <vt:lpstr>Annotated Parse Tree for 3*5</vt:lpstr>
      <vt:lpstr>PowerPoint 演示文稿</vt:lpstr>
      <vt:lpstr>Outline</vt:lpstr>
      <vt:lpstr>Evaluation Orders for SDD’s</vt:lpstr>
      <vt:lpstr>Dependency Graph</vt:lpstr>
      <vt:lpstr>PowerPoint 演示文稿</vt:lpstr>
      <vt:lpstr>Example2: Parsing 3*2</vt:lpstr>
      <vt:lpstr>Ordering the Evaluation of Attributes</vt:lpstr>
      <vt:lpstr>S-Attributed Definitions</vt:lpstr>
      <vt:lpstr>S-Attributed Definitions Cont.</vt:lpstr>
      <vt:lpstr>L-Attributed Definitions</vt:lpstr>
      <vt:lpstr>L-Attributed Definition Example</vt:lpstr>
      <vt:lpstr>Attribute Evaluation  for L-Attributed Definitions</vt:lpstr>
      <vt:lpstr>Attribute Evaluation  for L-Attributed Definitions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Attribute Evaluation  for L-Attributed Definitions</vt:lpstr>
      <vt:lpstr>PowerPoint 演示文稿</vt:lpstr>
      <vt:lpstr>Outline</vt:lpstr>
      <vt:lpstr>Construction of Syntax Tree (1)</vt:lpstr>
      <vt:lpstr>Construction of Syntax Tree (2)</vt:lpstr>
      <vt:lpstr>Construction of Syntax Tree (3)</vt:lpstr>
      <vt:lpstr>PowerPoint 演示文稿</vt:lpstr>
      <vt:lpstr>PowerPoint 演示文稿</vt:lpstr>
      <vt:lpstr>Outline</vt:lpstr>
      <vt:lpstr>Computing the Structure of a Type</vt:lpstr>
      <vt:lpstr>Outline</vt:lpstr>
      <vt:lpstr>Syntax-Directed Translation Schemes</vt:lpstr>
      <vt:lpstr>Implementation of SDT’s</vt:lpstr>
      <vt:lpstr>An Example SDT (1)</vt:lpstr>
      <vt:lpstr>An Example SDT (2)</vt:lpstr>
      <vt:lpstr>SDT’s With Actions Inside Productions</vt:lpstr>
      <vt:lpstr>SDT’s Implementable During Parsing</vt:lpstr>
      <vt:lpstr>A Problematic SDT</vt:lpstr>
      <vt:lpstr>Uses of SDT’s</vt:lpstr>
      <vt:lpstr>Postfix Translation Schemes</vt:lpstr>
      <vt:lpstr>Parser-Stack Implementation of  Postfix SDT’s</vt:lpstr>
      <vt:lpstr>PowerPoint 演示文稿</vt:lpstr>
      <vt:lpstr>The Calculator Example</vt:lpstr>
      <vt:lpstr>PowerPoint 演示文稿</vt:lpstr>
      <vt:lpstr>Uses of SDT’s</vt:lpstr>
      <vt:lpstr>SDT’s for L-Attributed SDD’s</vt:lpstr>
      <vt:lpstr>An L-Attributed SDD</vt:lpstr>
      <vt:lpstr>Turning into an SDT</vt:lpstr>
      <vt:lpstr>Outline</vt:lpstr>
      <vt:lpstr>Translation During  Recursive-Descent Parsing</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xxx</dc:title>
  <dc:creator>胡 玉斌</dc:creator>
  <cp:lastModifiedBy>羽喆 林</cp:lastModifiedBy>
  <cp:revision>95</cp:revision>
  <dcterms:created xsi:type="dcterms:W3CDTF">2023-06-02T10:23:00Z</dcterms:created>
  <dcterms:modified xsi:type="dcterms:W3CDTF">2024-11-08T08:04:45Z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19D841FD2A1349DE8EBFA80B4D23F1EF_13</vt:lpwstr>
  </property>
  <property fmtid="{D5CDD505-2E9C-101B-9397-08002B2CF9AE}" pid="3" name="KSOProductBuildVer">
    <vt:lpwstr>2052-12.1.0.15374</vt:lpwstr>
  </property>
</Properties>
</file>