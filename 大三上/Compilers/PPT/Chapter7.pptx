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2"/>
  </p:notesMasterIdLst>
  <p:sldIdLst>
    <p:sldId id="256" r:id="rId2"/>
    <p:sldId id="265" r:id="rId3"/>
    <p:sldId id="267" r:id="rId4"/>
    <p:sldId id="268" r:id="rId5"/>
    <p:sldId id="269" r:id="rId6"/>
    <p:sldId id="270" r:id="rId7"/>
    <p:sldId id="332" r:id="rId8"/>
    <p:sldId id="333" r:id="rId9"/>
    <p:sldId id="334" r:id="rId10"/>
    <p:sldId id="271" r:id="rId11"/>
    <p:sldId id="272" r:id="rId12"/>
    <p:sldId id="273" r:id="rId13"/>
    <p:sldId id="274" r:id="rId14"/>
    <p:sldId id="275" r:id="rId15"/>
    <p:sldId id="276" r:id="rId16"/>
    <p:sldId id="277" r:id="rId17"/>
    <p:sldId id="278" r:id="rId18"/>
    <p:sldId id="279" r:id="rId19"/>
    <p:sldId id="280" r:id="rId20"/>
    <p:sldId id="281" r:id="rId21"/>
    <p:sldId id="282" r:id="rId22"/>
    <p:sldId id="283" r:id="rId23"/>
    <p:sldId id="284" r:id="rId24"/>
    <p:sldId id="285" r:id="rId25"/>
    <p:sldId id="286" r:id="rId26"/>
    <p:sldId id="287" r:id="rId27"/>
    <p:sldId id="288" r:id="rId28"/>
    <p:sldId id="289" r:id="rId29"/>
    <p:sldId id="290" r:id="rId30"/>
    <p:sldId id="291" r:id="rId31"/>
    <p:sldId id="292" r:id="rId32"/>
    <p:sldId id="293" r:id="rId33"/>
    <p:sldId id="294" r:id="rId34"/>
    <p:sldId id="295" r:id="rId35"/>
    <p:sldId id="296" r:id="rId36"/>
    <p:sldId id="297" r:id="rId37"/>
    <p:sldId id="298" r:id="rId38"/>
    <p:sldId id="299" r:id="rId39"/>
    <p:sldId id="300" r:id="rId40"/>
    <p:sldId id="301" r:id="rId41"/>
    <p:sldId id="302" r:id="rId42"/>
    <p:sldId id="303" r:id="rId43"/>
    <p:sldId id="304" r:id="rId44"/>
    <p:sldId id="305" r:id="rId45"/>
    <p:sldId id="306" r:id="rId46"/>
    <p:sldId id="307" r:id="rId47"/>
    <p:sldId id="308" r:id="rId48"/>
    <p:sldId id="309" r:id="rId49"/>
    <p:sldId id="310" r:id="rId50"/>
    <p:sldId id="311" r:id="rId51"/>
    <p:sldId id="312" r:id="rId52"/>
    <p:sldId id="313" r:id="rId53"/>
    <p:sldId id="314" r:id="rId54"/>
    <p:sldId id="315" r:id="rId55"/>
    <p:sldId id="316" r:id="rId56"/>
    <p:sldId id="317" r:id="rId57"/>
    <p:sldId id="318" r:id="rId58"/>
    <p:sldId id="319" r:id="rId59"/>
    <p:sldId id="320" r:id="rId60"/>
    <p:sldId id="321" r:id="rId61"/>
    <p:sldId id="322" r:id="rId62"/>
    <p:sldId id="323" r:id="rId63"/>
    <p:sldId id="324" r:id="rId64"/>
    <p:sldId id="325" r:id="rId65"/>
    <p:sldId id="326" r:id="rId66"/>
    <p:sldId id="344" r:id="rId67"/>
    <p:sldId id="345" r:id="rId68"/>
    <p:sldId id="346" r:id="rId69"/>
    <p:sldId id="347" r:id="rId70"/>
    <p:sldId id="348" r:id="rId71"/>
    <p:sldId id="349" r:id="rId72"/>
    <p:sldId id="350" r:id="rId73"/>
    <p:sldId id="351" r:id="rId74"/>
    <p:sldId id="352" r:id="rId75"/>
    <p:sldId id="353" r:id="rId76"/>
    <p:sldId id="354" r:id="rId77"/>
    <p:sldId id="355" r:id="rId78"/>
    <p:sldId id="356" r:id="rId79"/>
    <p:sldId id="357" r:id="rId80"/>
    <p:sldId id="358" r:id="rId81"/>
  </p:sldIdLst>
  <p:sldSz cx="9144000" cy="6858000" type="screen4x3"/>
  <p:notesSz cx="12192000" cy="6858000"/>
  <p:defaultTextStyle>
    <a:defPPr>
      <a:defRPr/>
    </a:defPPr>
    <a:lvl1pPr marL="0" algn="l" defTabSz="914400">
      <a:defRPr sz="1800">
        <a:solidFill>
          <a:schemeClr val="tx1"/>
        </a:solidFill>
        <a:latin typeface="+mn-lt"/>
        <a:ea typeface="+mn-ea"/>
        <a:cs typeface="+mn-cs"/>
      </a:defRPr>
    </a:lvl1pPr>
    <a:lvl2pPr marL="457200" algn="l" defTabSz="914400">
      <a:defRPr sz="1800">
        <a:solidFill>
          <a:schemeClr val="tx1"/>
        </a:solidFill>
        <a:latin typeface="+mn-lt"/>
        <a:ea typeface="+mn-ea"/>
        <a:cs typeface="+mn-cs"/>
      </a:defRPr>
    </a:lvl2pPr>
    <a:lvl3pPr marL="914400" algn="l" defTabSz="914400">
      <a:defRPr sz="1800">
        <a:solidFill>
          <a:schemeClr val="tx1"/>
        </a:solidFill>
        <a:latin typeface="+mn-lt"/>
        <a:ea typeface="+mn-ea"/>
        <a:cs typeface="+mn-cs"/>
      </a:defRPr>
    </a:lvl3pPr>
    <a:lvl4pPr marL="1371600" algn="l" defTabSz="914400">
      <a:defRPr sz="1800">
        <a:solidFill>
          <a:schemeClr val="tx1"/>
        </a:solidFill>
        <a:latin typeface="+mn-lt"/>
        <a:ea typeface="+mn-ea"/>
        <a:cs typeface="+mn-cs"/>
      </a:defRPr>
    </a:lvl4pPr>
    <a:lvl5pPr marL="1828800" algn="l" defTabSz="914400">
      <a:defRPr sz="1800">
        <a:solidFill>
          <a:schemeClr val="tx1"/>
        </a:solidFill>
        <a:latin typeface="+mn-lt"/>
        <a:ea typeface="+mn-ea"/>
        <a:cs typeface="+mn-cs"/>
      </a:defRPr>
    </a:lvl5pPr>
    <a:lvl6pPr marL="2286000" algn="l" defTabSz="914400">
      <a:defRPr sz="1800">
        <a:solidFill>
          <a:schemeClr val="tx1"/>
        </a:solidFill>
        <a:latin typeface="+mn-lt"/>
        <a:ea typeface="+mn-ea"/>
        <a:cs typeface="+mn-cs"/>
      </a:defRPr>
    </a:lvl6pPr>
    <a:lvl7pPr marL="2743200" algn="l" defTabSz="914400">
      <a:defRPr sz="1800">
        <a:solidFill>
          <a:schemeClr val="tx1"/>
        </a:solidFill>
        <a:latin typeface="+mn-lt"/>
        <a:ea typeface="+mn-ea"/>
        <a:cs typeface="+mn-cs"/>
      </a:defRPr>
    </a:lvl7pPr>
    <a:lvl8pPr marL="3200400" algn="l" defTabSz="914400">
      <a:defRPr sz="1800">
        <a:solidFill>
          <a:schemeClr val="tx1"/>
        </a:solidFill>
        <a:latin typeface="+mn-lt"/>
        <a:ea typeface="+mn-ea"/>
        <a:cs typeface="+mn-cs"/>
      </a:defRPr>
    </a:lvl8pPr>
    <a:lvl9pPr marL="3657600" algn="l" defTabSz="914400">
      <a:defRPr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27" autoAdjust="0"/>
    <p:restoredTop sz="69231" autoAdjust="0"/>
  </p:normalViewPr>
  <p:slideViewPr>
    <p:cSldViewPr>
      <p:cViewPr varScale="1">
        <p:scale>
          <a:sx n="66" d="100"/>
          <a:sy n="66" d="100"/>
        </p:scale>
        <p:origin x="1484" y="44"/>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viewProps" Target="view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61" Type="http://schemas.openxmlformats.org/officeDocument/2006/relationships/slide" Target="slides/slide60.xml"/><Relationship Id="rId8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65618065-1B94-460E-8A19-03FBEC694BAC}" type="datetimeFigureOut">
              <a:rPr lang="zh-CN" altLang="en-US" smtClean="0"/>
              <a:t>2024/12/18</a:t>
            </a:fld>
            <a:endParaRPr lang="zh-CN" altLang="en-US"/>
          </a:p>
        </p:txBody>
      </p:sp>
      <p:sp>
        <p:nvSpPr>
          <p:cNvPr id="4" name="幻灯片图像占位符 3"/>
          <p:cNvSpPr>
            <a:spLocks noGrp="1" noRot="1" noChangeAspect="1"/>
          </p:cNvSpPr>
          <p:nvPr>
            <p:ph type="sldImg" idx="2"/>
          </p:nvPr>
        </p:nvSpPr>
        <p:spPr>
          <a:xfrm>
            <a:off x="4552950" y="857250"/>
            <a:ext cx="3086100" cy="2314575"/>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87F4D71F-C241-4371-B1C7-6C52E22124B5}" type="slidenum">
              <a:rPr lang="zh-CN" altLang="en-US" smtClean="0"/>
              <a:t>‹#›</a:t>
            </a:fld>
            <a:endParaRPr lang="zh-CN" altLang="en-US"/>
          </a:p>
        </p:txBody>
      </p:sp>
    </p:spTree>
    <p:extLst>
      <p:ext uri="{BB962C8B-B14F-4D97-AF65-F5344CB8AC3E}">
        <p14:creationId xmlns:p14="http://schemas.microsoft.com/office/powerpoint/2010/main" val="27253457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我们的编译器模型的最后阶段是代码生成器。</a:t>
            </a:r>
            <a:endParaRPr lang="zh-CN" altLang="en-US"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1</a:t>
            </a:fld>
            <a:endParaRPr lang="zh-CN" altLang="en-US"/>
          </a:p>
        </p:txBody>
      </p:sp>
    </p:spTree>
    <p:extLst>
      <p:ext uri="{BB962C8B-B14F-4D97-AF65-F5344CB8AC3E}">
        <p14:creationId xmlns:p14="http://schemas.microsoft.com/office/powerpoint/2010/main" val="33524377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本章介绍了一些和代码生成相关的算法，代码生成器可以使这些算法把输入的</a:t>
            </a:r>
            <a:r>
              <a:rPr lang="en-US" altLang="zh-CN" sz="1200" kern="1200" dirty="0">
                <a:solidFill>
                  <a:schemeClr val="tx1"/>
                </a:solidFill>
                <a:effectLst/>
                <a:latin typeface="+mn-lt"/>
                <a:ea typeface="+mn-ea"/>
                <a:cs typeface="+mn-cs"/>
              </a:rPr>
              <a:t> IR </a:t>
            </a:r>
            <a:r>
              <a:rPr lang="zh-CN" altLang="zh-CN" sz="1200" kern="1200" dirty="0">
                <a:solidFill>
                  <a:schemeClr val="tx1"/>
                </a:solidFill>
                <a:effectLst/>
                <a:latin typeface="+mn-lt"/>
                <a:ea typeface="+mn-ea"/>
                <a:cs typeface="+mn-cs"/>
              </a:rPr>
              <a:t>转换为简单寄存器机的目标语言指令序列。这些算法将使用第</a:t>
            </a:r>
            <a:r>
              <a:rPr lang="en-US" altLang="zh-CN" sz="1200" kern="1200" dirty="0">
                <a:solidFill>
                  <a:schemeClr val="tx1"/>
                </a:solidFill>
                <a:effectLst/>
                <a:latin typeface="+mn-lt"/>
                <a:ea typeface="+mn-ea"/>
                <a:cs typeface="+mn-cs"/>
              </a:rPr>
              <a:t> 8.2 </a:t>
            </a:r>
            <a:r>
              <a:rPr lang="zh-CN" altLang="zh-CN" sz="1200" kern="1200" dirty="0">
                <a:solidFill>
                  <a:schemeClr val="tx1"/>
                </a:solidFill>
                <a:effectLst/>
                <a:latin typeface="+mn-lt"/>
                <a:ea typeface="+mn-ea"/>
                <a:cs typeface="+mn-cs"/>
              </a:rPr>
              <a:t>节中的机器模型来说明。第</a:t>
            </a:r>
            <a:r>
              <a:rPr lang="en-US" altLang="zh-CN" sz="1200" kern="1200" dirty="0">
                <a:solidFill>
                  <a:schemeClr val="tx1"/>
                </a:solidFill>
                <a:effectLst/>
                <a:latin typeface="+mn-lt"/>
                <a:ea typeface="+mn-ea"/>
                <a:cs typeface="+mn-cs"/>
              </a:rPr>
              <a:t>10</a:t>
            </a:r>
            <a:r>
              <a:rPr lang="zh-CN" altLang="zh-CN" sz="1200" kern="1200" dirty="0">
                <a:solidFill>
                  <a:schemeClr val="tx1"/>
                </a:solidFill>
                <a:effectLst/>
                <a:latin typeface="+mn-lt"/>
                <a:ea typeface="+mn-ea"/>
                <a:cs typeface="+mn-cs"/>
              </a:rPr>
              <a:t>章讨论了复杂现代机器的代码生成问题，这些机器支持在单个指令内大量并行。</a:t>
            </a:r>
          </a:p>
          <a:p>
            <a:r>
              <a:rPr lang="zh-CN" altLang="zh-CN" sz="1200" kern="1200" dirty="0">
                <a:solidFill>
                  <a:schemeClr val="tx1"/>
                </a:solidFill>
                <a:effectLst/>
                <a:latin typeface="+mn-lt"/>
                <a:ea typeface="+mn-ea"/>
                <a:cs typeface="+mn-cs"/>
              </a:rPr>
              <a:t>在讨论了代码生成器设计中的广泛问题之后，我们展示了编译器需要生成什么样的目标代码来支持典型源语言中所包含的抽象机制。在第</a:t>
            </a:r>
            <a:r>
              <a:rPr lang="en-US" altLang="zh-CN" sz="1200" kern="1200" dirty="0">
                <a:solidFill>
                  <a:schemeClr val="tx1"/>
                </a:solidFill>
                <a:effectLst/>
                <a:latin typeface="+mn-lt"/>
                <a:ea typeface="+mn-ea"/>
                <a:cs typeface="+mn-cs"/>
              </a:rPr>
              <a:t> 8.3 </a:t>
            </a:r>
            <a:r>
              <a:rPr lang="zh-CN" altLang="zh-CN" sz="1200" kern="1200" dirty="0">
                <a:solidFill>
                  <a:schemeClr val="tx1"/>
                </a:solidFill>
                <a:effectLst/>
                <a:latin typeface="+mn-lt"/>
                <a:ea typeface="+mn-ea"/>
                <a:cs typeface="+mn-cs"/>
              </a:rPr>
              <a:t>节中，我们概述了数据区域的静态和栈式分配的实现方法，并说明如何将</a:t>
            </a:r>
            <a:r>
              <a:rPr lang="en-US" altLang="zh-CN" sz="1200" kern="1200" dirty="0">
                <a:solidFill>
                  <a:schemeClr val="tx1"/>
                </a:solidFill>
                <a:effectLst/>
                <a:latin typeface="+mn-lt"/>
                <a:ea typeface="+mn-ea"/>
                <a:cs typeface="+mn-cs"/>
              </a:rPr>
              <a:t> IR </a:t>
            </a:r>
            <a:r>
              <a:rPr lang="zh-CN" altLang="zh-CN" sz="1200" kern="1200" dirty="0">
                <a:solidFill>
                  <a:schemeClr val="tx1"/>
                </a:solidFill>
                <a:effectLst/>
                <a:latin typeface="+mn-lt"/>
                <a:ea typeface="+mn-ea"/>
                <a:cs typeface="+mn-cs"/>
              </a:rPr>
              <a:t>中的名称转换为目标代码中的地址。</a:t>
            </a:r>
          </a:p>
          <a:p>
            <a:r>
              <a:rPr lang="zh-CN" altLang="zh-CN" sz="1200" kern="1200" dirty="0">
                <a:solidFill>
                  <a:schemeClr val="tx1"/>
                </a:solidFill>
                <a:effectLst/>
                <a:latin typeface="+mn-lt"/>
                <a:ea typeface="+mn-ea"/>
                <a:cs typeface="+mn-cs"/>
              </a:rPr>
              <a:t>许多代码生成器将</a:t>
            </a:r>
            <a:r>
              <a:rPr lang="en-US" altLang="zh-CN" sz="1200" kern="1200" dirty="0">
                <a:solidFill>
                  <a:schemeClr val="tx1"/>
                </a:solidFill>
                <a:effectLst/>
                <a:latin typeface="+mn-lt"/>
                <a:ea typeface="+mn-ea"/>
                <a:cs typeface="+mn-cs"/>
              </a:rPr>
              <a:t> IR </a:t>
            </a:r>
            <a:r>
              <a:rPr lang="zh-CN" altLang="zh-CN" sz="1200" kern="1200" dirty="0">
                <a:solidFill>
                  <a:schemeClr val="tx1"/>
                </a:solidFill>
                <a:effectLst/>
                <a:latin typeface="+mn-lt"/>
                <a:ea typeface="+mn-ea"/>
                <a:cs typeface="+mn-cs"/>
              </a:rPr>
              <a:t>指令划分为</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基本块</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，这些基本块由一组总是一起执行的指令组成。将</a:t>
            </a:r>
            <a:r>
              <a:rPr lang="en-US" altLang="zh-CN" sz="1200" kern="1200" dirty="0">
                <a:solidFill>
                  <a:schemeClr val="tx1"/>
                </a:solidFill>
                <a:effectLst/>
                <a:latin typeface="+mn-lt"/>
                <a:ea typeface="+mn-ea"/>
                <a:cs typeface="+mn-cs"/>
              </a:rPr>
              <a:t> IR </a:t>
            </a:r>
            <a:r>
              <a:rPr lang="zh-CN" altLang="zh-CN" sz="1200" kern="1200" dirty="0">
                <a:solidFill>
                  <a:schemeClr val="tx1"/>
                </a:solidFill>
                <a:effectLst/>
                <a:latin typeface="+mn-lt"/>
                <a:ea typeface="+mn-ea"/>
                <a:cs typeface="+mn-cs"/>
              </a:rPr>
              <a:t>划分为基本块是第</a:t>
            </a:r>
            <a:r>
              <a:rPr lang="en-US" altLang="zh-CN" sz="1200" kern="1200" dirty="0">
                <a:solidFill>
                  <a:schemeClr val="tx1"/>
                </a:solidFill>
                <a:effectLst/>
                <a:latin typeface="+mn-lt"/>
                <a:ea typeface="+mn-ea"/>
                <a:cs typeface="+mn-cs"/>
              </a:rPr>
              <a:t> 8.4 </a:t>
            </a:r>
            <a:r>
              <a:rPr lang="zh-CN" altLang="zh-CN" sz="1200" kern="1200" dirty="0">
                <a:solidFill>
                  <a:schemeClr val="tx1"/>
                </a:solidFill>
                <a:effectLst/>
                <a:latin typeface="+mn-lt"/>
                <a:ea typeface="+mn-ea"/>
                <a:cs typeface="+mn-cs"/>
              </a:rPr>
              <a:t>节的主题。接下来介绍了针对基本块的一些简单的局部转换方法。从转换得到的基本块出发可以生成更高效的代码。这些转换是代码优化的基本形式，直到第</a:t>
            </a:r>
            <a:r>
              <a:rPr lang="en-US" altLang="zh-CN" sz="1200" kern="1200" dirty="0">
                <a:solidFill>
                  <a:schemeClr val="tx1"/>
                </a:solidFill>
                <a:effectLst/>
                <a:latin typeface="+mn-lt"/>
                <a:ea typeface="+mn-ea"/>
                <a:cs typeface="+mn-cs"/>
              </a:rPr>
              <a:t> 9 </a:t>
            </a:r>
            <a:r>
              <a:rPr lang="zh-CN" altLang="zh-CN" sz="1200" kern="1200" dirty="0">
                <a:solidFill>
                  <a:schemeClr val="tx1"/>
                </a:solidFill>
                <a:effectLst/>
                <a:latin typeface="+mn-lt"/>
                <a:ea typeface="+mn-ea"/>
                <a:cs typeface="+mn-cs"/>
              </a:rPr>
              <a:t>章才开始讨论更深入的代码优化理论。一个有用的局部变换的例子是在中间代码级别寻找公共子表达式，然后用更简单的复制操作替换算术运算。</a:t>
            </a:r>
          </a:p>
          <a:p>
            <a:r>
              <a:rPr lang="zh-CN" altLang="zh-CN" sz="1200" kern="1200" dirty="0">
                <a:solidFill>
                  <a:schemeClr val="tx1"/>
                </a:solidFill>
                <a:effectLst/>
                <a:latin typeface="+mn-lt"/>
                <a:ea typeface="+mn-ea"/>
                <a:cs typeface="+mn-cs"/>
              </a:rPr>
              <a:t>第</a:t>
            </a:r>
            <a:r>
              <a:rPr lang="en-US" altLang="zh-CN" sz="1200" kern="1200" dirty="0">
                <a:solidFill>
                  <a:schemeClr val="tx1"/>
                </a:solidFill>
                <a:effectLst/>
                <a:latin typeface="+mn-lt"/>
                <a:ea typeface="+mn-ea"/>
                <a:cs typeface="+mn-cs"/>
              </a:rPr>
              <a:t> 8.6 </a:t>
            </a:r>
            <a:r>
              <a:rPr lang="zh-CN" altLang="zh-CN" sz="1200" kern="1200" dirty="0">
                <a:solidFill>
                  <a:schemeClr val="tx1"/>
                </a:solidFill>
                <a:effectLst/>
                <a:latin typeface="+mn-lt"/>
                <a:ea typeface="+mn-ea"/>
                <a:cs typeface="+mn-cs"/>
              </a:rPr>
              <a:t>节介绍了一个简单的变换生成算法，依次为每个语句生成代码，并将运算分量尽可能长时间地保留在寄存器中。这种代码生成器的输出可以很容易通过窥孔优化技术进行改进，例如下面讨论的技术第</a:t>
            </a:r>
            <a:r>
              <a:rPr lang="en-US" altLang="zh-CN" sz="1200" kern="1200" dirty="0">
                <a:solidFill>
                  <a:schemeClr val="tx1"/>
                </a:solidFill>
                <a:effectLst/>
                <a:latin typeface="+mn-lt"/>
                <a:ea typeface="+mn-ea"/>
                <a:cs typeface="+mn-cs"/>
              </a:rPr>
              <a:t> 8.7 </a:t>
            </a:r>
            <a:r>
              <a:rPr lang="zh-CN" altLang="zh-CN" sz="1200" kern="1200" dirty="0">
                <a:solidFill>
                  <a:schemeClr val="tx1"/>
                </a:solidFill>
                <a:effectLst/>
                <a:latin typeface="+mn-lt"/>
                <a:ea typeface="+mn-ea"/>
                <a:cs typeface="+mn-cs"/>
              </a:rPr>
              <a:t>节。</a:t>
            </a:r>
          </a:p>
          <a:p>
            <a:r>
              <a:rPr lang="zh-CN" altLang="zh-CN" sz="1200" kern="1200" dirty="0">
                <a:solidFill>
                  <a:schemeClr val="tx1"/>
                </a:solidFill>
                <a:effectLst/>
                <a:latin typeface="+mn-lt"/>
                <a:ea typeface="+mn-ea"/>
                <a:cs typeface="+mn-cs"/>
              </a:rPr>
              <a:t>其余部分探讨指令选择和寄存器分配。</a:t>
            </a:r>
            <a:endParaRPr lang="zh-CN" altLang="en-US" sz="1800" dirty="0">
              <a:latin typeface="黑体" panose="02010609060101010101" pitchFamily="49" charset="-122"/>
              <a:ea typeface="黑体" panose="02010609060101010101" pitchFamily="49" charset="-122"/>
            </a:endParaRPr>
          </a:p>
        </p:txBody>
      </p:sp>
      <p:sp>
        <p:nvSpPr>
          <p:cNvPr id="4" name="灯片编号占位符 3"/>
          <p:cNvSpPr>
            <a:spLocks noGrp="1"/>
          </p:cNvSpPr>
          <p:nvPr>
            <p:ph type="sldNum" sz="quarter" idx="5"/>
          </p:nvPr>
        </p:nvSpPr>
        <p:spPr/>
        <p:txBody>
          <a:bodyPr/>
          <a:lstStyle/>
          <a:p>
            <a:fld id="{87F4D71F-C241-4371-B1C7-6C52E22124B5}" type="slidenum">
              <a:rPr lang="zh-CN" altLang="en-US" smtClean="0"/>
              <a:t>2</a:t>
            </a:fld>
            <a:endParaRPr lang="zh-CN" altLang="en-US"/>
          </a:p>
        </p:txBody>
      </p:sp>
    </p:spTree>
    <p:extLst>
      <p:ext uri="{BB962C8B-B14F-4D97-AF65-F5344CB8AC3E}">
        <p14:creationId xmlns:p14="http://schemas.microsoft.com/office/powerpoint/2010/main" val="28244771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171450" indent="-171450">
              <a:buFont typeface="Arial" panose="020B0604020202020204" pitchFamily="34" charset="0"/>
              <a:buChar char="•"/>
            </a:pPr>
            <a:r>
              <a:rPr lang="zh-CN" altLang="zh-CN" sz="1200" kern="1200" dirty="0">
                <a:solidFill>
                  <a:schemeClr val="tx1"/>
                </a:solidFill>
                <a:effectLst/>
                <a:latin typeface="+mn-lt"/>
                <a:ea typeface="+mn-ea"/>
                <a:cs typeface="+mn-cs"/>
              </a:rPr>
              <a:t>代码生成器以编译器前端产生的中间表示（</a:t>
            </a:r>
            <a:r>
              <a:rPr lang="en-US" altLang="zh-CN" sz="1200" kern="1200" dirty="0">
                <a:solidFill>
                  <a:schemeClr val="tx1"/>
                </a:solidFill>
                <a:effectLst/>
                <a:latin typeface="+mn-lt"/>
                <a:ea typeface="+mn-ea"/>
                <a:cs typeface="+mn-cs"/>
              </a:rPr>
              <a:t>IR</a:t>
            </a:r>
            <a:r>
              <a:rPr lang="zh-CN" altLang="zh-CN" sz="1200" kern="1200" dirty="0">
                <a:solidFill>
                  <a:schemeClr val="tx1"/>
                </a:solidFill>
                <a:effectLst/>
                <a:latin typeface="+mn-lt"/>
                <a:ea typeface="+mn-ea"/>
                <a:cs typeface="+mn-cs"/>
              </a:rPr>
              <a:t>）以及相关符号表信息作为输入，并产生语义等价的目标程序作为输出，如图</a:t>
            </a:r>
            <a:r>
              <a:rPr lang="en-US" altLang="zh-CN" sz="1200" kern="1200" dirty="0">
                <a:solidFill>
                  <a:schemeClr val="tx1"/>
                </a:solidFill>
                <a:effectLst/>
                <a:latin typeface="+mn-lt"/>
                <a:ea typeface="+mn-ea"/>
                <a:cs typeface="+mn-cs"/>
              </a:rPr>
              <a:t>8.1</a:t>
            </a:r>
            <a:r>
              <a:rPr lang="zh-CN" altLang="zh-CN" sz="1200" kern="1200" dirty="0">
                <a:solidFill>
                  <a:schemeClr val="tx1"/>
                </a:solidFill>
                <a:effectLst/>
                <a:latin typeface="+mn-lt"/>
                <a:ea typeface="+mn-ea"/>
                <a:cs typeface="+mn-cs"/>
              </a:rPr>
              <a:t>所示。</a:t>
            </a:r>
            <a:endParaRPr lang="en-US" altLang="zh-CN" sz="1200" kern="1200" dirty="0">
              <a:solidFill>
                <a:schemeClr val="tx1"/>
              </a:solidFill>
              <a:effectLst/>
              <a:latin typeface="+mn-lt"/>
              <a:ea typeface="+mn-ea"/>
              <a:cs typeface="+mn-cs"/>
            </a:endParaRPr>
          </a:p>
          <a:p>
            <a:pPr marL="171450" indent="-171450">
              <a:buFont typeface="Arial" panose="020B0604020202020204" pitchFamily="34" charset="0"/>
              <a:buChar char="•"/>
            </a:pPr>
            <a:r>
              <a:rPr lang="zh-CN" altLang="zh-CN" sz="1200" kern="1200" dirty="0">
                <a:solidFill>
                  <a:schemeClr val="tx1"/>
                </a:solidFill>
                <a:effectLst/>
                <a:latin typeface="+mn-lt"/>
                <a:ea typeface="+mn-ea"/>
                <a:cs typeface="+mn-cs"/>
              </a:rPr>
              <a:t>对代码生成器的要求非常严格。目标程序必须保留源程序的语义并且是高质量的；也就是说，它必须有效地利用目标机器的可用资源。此外，代码生成器本身必须高效运行。</a:t>
            </a:r>
          </a:p>
          <a:p>
            <a:pPr marL="171450" indent="-171450">
              <a:buFont typeface="Arial" panose="020B0604020202020204" pitchFamily="34" charset="0"/>
              <a:buChar char="•"/>
            </a:pPr>
            <a:r>
              <a:rPr lang="zh-CN" altLang="zh-CN" sz="1200" kern="1200" dirty="0">
                <a:solidFill>
                  <a:schemeClr val="tx1"/>
                </a:solidFill>
                <a:effectLst/>
                <a:latin typeface="+mn-lt"/>
                <a:ea typeface="+mn-ea"/>
                <a:cs typeface="+mn-cs"/>
              </a:rPr>
              <a:t>挑战在于，从数学上来说，为给定源程序生成最优目标程序的问题是不可判定的；代码生成中遇到的许多子问题（例如寄存器分配）都具有难以处理的计算复杂性。在实践中，我们必使用那些能够产生良好但不一定是最佳代码的启发式技术。幸运的是，启发式方法已经足够成熟，精心设计的代码生成器可以生成比普通代码生成器快几倍的代码。</a:t>
            </a:r>
            <a:endParaRPr lang="en-US" altLang="zh-CN" sz="1200" kern="1200" dirty="0">
              <a:solidFill>
                <a:schemeClr val="tx1"/>
              </a:solidFill>
              <a:effectLst/>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zh-CN" altLang="zh-CN" sz="1200" kern="1200" dirty="0">
                <a:solidFill>
                  <a:schemeClr val="tx1"/>
                </a:solidFill>
                <a:effectLst/>
                <a:latin typeface="+mn-lt"/>
                <a:ea typeface="+mn-ea"/>
                <a:cs typeface="+mn-cs"/>
              </a:rPr>
              <a:t>要生成高效目标程序的编译器在代码生成之前包括一个优化阶段。优化器将</a:t>
            </a:r>
            <a:r>
              <a:rPr lang="en-US" altLang="zh-CN" sz="1200" kern="1200" dirty="0">
                <a:solidFill>
                  <a:schemeClr val="tx1"/>
                </a:solidFill>
                <a:effectLst/>
                <a:latin typeface="+mn-lt"/>
                <a:ea typeface="+mn-ea"/>
                <a:cs typeface="+mn-cs"/>
              </a:rPr>
              <a:t> IR </a:t>
            </a:r>
            <a:r>
              <a:rPr lang="zh-CN" altLang="zh-CN" sz="1200" kern="1200" dirty="0">
                <a:solidFill>
                  <a:schemeClr val="tx1"/>
                </a:solidFill>
                <a:effectLst/>
                <a:latin typeface="+mn-lt"/>
                <a:ea typeface="+mn-ea"/>
                <a:cs typeface="+mn-cs"/>
              </a:rPr>
              <a:t>映射到另一个可用于产生高效代码的</a:t>
            </a:r>
            <a:r>
              <a:rPr lang="en-US" altLang="zh-CN" sz="1200" kern="1200" dirty="0">
                <a:solidFill>
                  <a:schemeClr val="tx1"/>
                </a:solidFill>
                <a:effectLst/>
                <a:latin typeface="+mn-lt"/>
                <a:ea typeface="+mn-ea"/>
                <a:cs typeface="+mn-cs"/>
              </a:rPr>
              <a:t>IR</a:t>
            </a:r>
            <a:r>
              <a:rPr lang="zh-CN" altLang="zh-CN" sz="1200" kern="1200" dirty="0">
                <a:solidFill>
                  <a:schemeClr val="tx1"/>
                </a:solidFill>
                <a:effectLst/>
                <a:latin typeface="+mn-lt"/>
                <a:ea typeface="+mn-ea"/>
                <a:cs typeface="+mn-cs"/>
              </a:rPr>
              <a:t>。一般来说，编译器的代码优化和代码生成步骤（通常称为后端）它们可能会在生成目标程序之前对</a:t>
            </a:r>
            <a:r>
              <a:rPr lang="en-US" altLang="zh-CN" sz="1200" kern="1200" dirty="0">
                <a:solidFill>
                  <a:schemeClr val="tx1"/>
                </a:solidFill>
                <a:effectLst/>
                <a:latin typeface="+mn-lt"/>
                <a:ea typeface="+mn-ea"/>
                <a:cs typeface="+mn-cs"/>
              </a:rPr>
              <a:t> IR </a:t>
            </a:r>
            <a:r>
              <a:rPr lang="zh-CN" altLang="zh-CN" sz="1200" kern="1200" dirty="0">
                <a:solidFill>
                  <a:schemeClr val="tx1"/>
                </a:solidFill>
                <a:effectLst/>
                <a:latin typeface="+mn-lt"/>
                <a:ea typeface="+mn-ea"/>
                <a:cs typeface="+mn-cs"/>
              </a:rPr>
              <a:t>进行多次处理。第</a:t>
            </a:r>
            <a:r>
              <a:rPr lang="en-US" altLang="zh-CN" sz="1200" kern="1200" dirty="0">
                <a:solidFill>
                  <a:schemeClr val="tx1"/>
                </a:solidFill>
                <a:effectLst/>
                <a:latin typeface="+mn-lt"/>
                <a:ea typeface="+mn-ea"/>
                <a:cs typeface="+mn-cs"/>
              </a:rPr>
              <a:t> 9 </a:t>
            </a:r>
            <a:r>
              <a:rPr lang="zh-CN" altLang="zh-CN" sz="1200" kern="1200" dirty="0">
                <a:solidFill>
                  <a:schemeClr val="tx1"/>
                </a:solidFill>
                <a:effectLst/>
                <a:latin typeface="+mn-lt"/>
                <a:ea typeface="+mn-ea"/>
                <a:cs typeface="+mn-cs"/>
              </a:rPr>
              <a:t>章详细讨论了代码优化。无论代码生成之前有没有优化步骤，都可以使用本章介绍的技术。</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zh-CN" altLang="zh-CN" sz="1200" kern="1200" dirty="0">
                <a:solidFill>
                  <a:schemeClr val="tx1"/>
                </a:solidFill>
                <a:effectLst/>
                <a:latin typeface="+mn-lt"/>
                <a:ea typeface="+mn-ea"/>
                <a:cs typeface="+mn-cs"/>
              </a:rPr>
              <a:t>代码生成器具有三个主要任务：指令选择、寄存器分配和指派、以及指令排序。第</a:t>
            </a:r>
            <a:r>
              <a:rPr lang="en-US" altLang="zh-CN" sz="1200" kern="1200" dirty="0">
                <a:solidFill>
                  <a:schemeClr val="tx1"/>
                </a:solidFill>
                <a:effectLst/>
                <a:latin typeface="+mn-lt"/>
                <a:ea typeface="+mn-ea"/>
                <a:cs typeface="+mn-cs"/>
              </a:rPr>
              <a:t> 8.1 </a:t>
            </a:r>
            <a:r>
              <a:rPr lang="zh-CN" altLang="zh-CN" sz="1200" kern="1200" dirty="0">
                <a:solidFill>
                  <a:schemeClr val="tx1"/>
                </a:solidFill>
                <a:effectLst/>
                <a:latin typeface="+mn-lt"/>
                <a:ea typeface="+mn-ea"/>
                <a:cs typeface="+mn-cs"/>
              </a:rPr>
              <a:t>节概述了这些任务的重要性。指令选择涉及选择适当的目标机器指令来实现</a:t>
            </a:r>
            <a:r>
              <a:rPr lang="en-US" altLang="zh-CN" sz="1200" kern="1200" dirty="0">
                <a:solidFill>
                  <a:schemeClr val="tx1"/>
                </a:solidFill>
                <a:effectLst/>
                <a:latin typeface="+mn-lt"/>
                <a:ea typeface="+mn-ea"/>
                <a:cs typeface="+mn-cs"/>
              </a:rPr>
              <a:t> IR </a:t>
            </a:r>
            <a:r>
              <a:rPr lang="zh-CN" altLang="zh-CN" sz="1200" kern="1200" dirty="0">
                <a:solidFill>
                  <a:schemeClr val="tx1"/>
                </a:solidFill>
                <a:effectLst/>
                <a:latin typeface="+mn-lt"/>
                <a:ea typeface="+mn-ea"/>
                <a:cs typeface="+mn-cs"/>
              </a:rPr>
              <a:t>语句。寄存器分配和指派涉及决定在哪些寄存器中保留哪些值。指令排序涉及决定以什么顺序安排指令的执行。</a:t>
            </a:r>
          </a:p>
          <a:p>
            <a:pPr marL="171450" indent="-171450">
              <a:buFont typeface="Arial" panose="020B0604020202020204" pitchFamily="34" charset="0"/>
              <a:buChar char="•"/>
            </a:pPr>
            <a:endParaRPr lang="zh-CN"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87F4D71F-C241-4371-B1C7-6C52E22124B5}" type="slidenum">
              <a:rPr lang="zh-CN" altLang="en-US" smtClean="0"/>
              <a:t>3</a:t>
            </a:fld>
            <a:endParaRPr lang="zh-CN" altLang="en-US"/>
          </a:p>
        </p:txBody>
      </p:sp>
    </p:spTree>
    <p:extLst>
      <p:ext uri="{BB962C8B-B14F-4D97-AF65-F5344CB8AC3E}">
        <p14:creationId xmlns:p14="http://schemas.microsoft.com/office/powerpoint/2010/main" val="7146606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buFont typeface="Wingdings" panose="05000000000000000000" pitchFamily="2" charset="2"/>
              <a:buNone/>
            </a:pPr>
            <a:r>
              <a:rPr lang="zh-CN" altLang="zh-CN" sz="1200" kern="1200" dirty="0">
                <a:solidFill>
                  <a:schemeClr val="tx1"/>
                </a:solidFill>
                <a:effectLst/>
                <a:latin typeface="+mn-lt"/>
                <a:ea typeface="+mn-ea"/>
                <a:cs typeface="+mn-cs"/>
              </a:rPr>
              <a:t>虽然代码生成器的涉及依赖于中间表示形式、目标语言和运行时系统的特定细节，但指令选择、寄存器分配和指派以及指令排序等任务会在几乎所有的代码生成器设计中碰到。</a:t>
            </a:r>
          </a:p>
          <a:p>
            <a:pPr marL="171450" indent="-171450">
              <a:buFont typeface="Wingdings" panose="05000000000000000000" pitchFamily="2" charset="2"/>
              <a:buChar char="u"/>
            </a:pPr>
            <a:r>
              <a:rPr lang="zh-CN" altLang="zh-CN" sz="1200" kern="1200" dirty="0">
                <a:solidFill>
                  <a:schemeClr val="tx1"/>
                </a:solidFill>
                <a:effectLst/>
                <a:latin typeface="+mn-lt"/>
                <a:ea typeface="+mn-ea"/>
                <a:cs typeface="+mn-cs"/>
              </a:rPr>
              <a:t>代码生成器最重要的标准是生成正确的代码。</a:t>
            </a:r>
            <a:endParaRPr lang="en-US" altLang="zh-CN" sz="1200" kern="1200" dirty="0">
              <a:solidFill>
                <a:schemeClr val="tx1"/>
              </a:solidFill>
              <a:effectLst/>
              <a:latin typeface="+mn-lt"/>
              <a:ea typeface="+mn-ea"/>
              <a:cs typeface="+mn-cs"/>
            </a:endParaRPr>
          </a:p>
          <a:p>
            <a:pPr marL="628650" lvl="1" indent="-171450">
              <a:buFont typeface="Arial" panose="020B0604020202020204" pitchFamily="34" charset="0"/>
              <a:buChar char="•"/>
            </a:pPr>
            <a:r>
              <a:rPr lang="zh-CN" altLang="zh-CN" sz="1200" kern="1200" dirty="0">
                <a:solidFill>
                  <a:schemeClr val="tx1"/>
                </a:solidFill>
                <a:effectLst/>
                <a:latin typeface="+mn-lt"/>
                <a:ea typeface="+mn-ea"/>
                <a:cs typeface="+mn-cs"/>
              </a:rPr>
              <a:t>正确性问题非常突出的原因是代码生成器可能会碰到很多种特殊情况。</a:t>
            </a:r>
            <a:endParaRPr lang="en-US" altLang="zh-CN" sz="1200" kern="1200" dirty="0">
              <a:solidFill>
                <a:schemeClr val="tx1"/>
              </a:solidFill>
              <a:effectLst/>
              <a:latin typeface="+mn-lt"/>
              <a:ea typeface="+mn-ea"/>
              <a:cs typeface="+mn-cs"/>
            </a:endParaRPr>
          </a:p>
          <a:p>
            <a:pPr marL="628650" lvl="1" indent="-171450">
              <a:buFont typeface="Arial" panose="020B0604020202020204" pitchFamily="34" charset="0"/>
              <a:buChar char="•"/>
            </a:pPr>
            <a:r>
              <a:rPr lang="zh-CN" altLang="zh-CN" sz="1200" kern="1200" dirty="0">
                <a:solidFill>
                  <a:schemeClr val="tx1"/>
                </a:solidFill>
                <a:effectLst/>
                <a:latin typeface="+mn-lt"/>
                <a:ea typeface="+mn-ea"/>
                <a:cs typeface="+mn-cs"/>
              </a:rPr>
              <a:t>在优先考虑正确性的情况下，另一个重要的设计目标是把代码生成器设计得易于实现、测试和维护。</a:t>
            </a:r>
            <a:endParaRPr lang="en-US" altLang="zh-CN" sz="1200" kern="1200" dirty="0">
              <a:solidFill>
                <a:schemeClr val="tx1"/>
              </a:solidFill>
              <a:effectLst/>
              <a:latin typeface="+mn-lt"/>
              <a:ea typeface="+mn-ea"/>
              <a:cs typeface="+mn-cs"/>
            </a:endParaRPr>
          </a:p>
          <a:p>
            <a:pPr marL="0" indent="0">
              <a:buFont typeface="Wingdings" panose="05000000000000000000" pitchFamily="2" charset="2"/>
              <a:buNone/>
            </a:pPr>
            <a:r>
              <a:rPr lang="zh-CN" altLang="zh-CN" sz="1200" kern="1200" dirty="0">
                <a:solidFill>
                  <a:schemeClr val="tx1"/>
                </a:solidFill>
                <a:effectLst/>
                <a:latin typeface="+mn-lt"/>
                <a:ea typeface="+mn-ea"/>
                <a:cs typeface="+mn-cs"/>
              </a:rPr>
              <a:t>代码生成器的输入是前端生成的源程序的中间表示，以及符号表中的信息。这些信息用于确定</a:t>
            </a:r>
            <a:r>
              <a:rPr lang="en-US" altLang="zh-CN" sz="1200" kern="1200" dirty="0">
                <a:solidFill>
                  <a:schemeClr val="tx1"/>
                </a:solidFill>
                <a:effectLst/>
                <a:latin typeface="+mn-lt"/>
                <a:ea typeface="+mn-ea"/>
                <a:cs typeface="+mn-cs"/>
              </a:rPr>
              <a:t>IR</a:t>
            </a:r>
            <a:r>
              <a:rPr lang="zh-CN" altLang="zh-CN" sz="1200" kern="1200" dirty="0">
                <a:solidFill>
                  <a:schemeClr val="tx1"/>
                </a:solidFill>
                <a:effectLst/>
                <a:latin typeface="+mn-lt"/>
                <a:ea typeface="+mn-ea"/>
                <a:cs typeface="+mn-cs"/>
              </a:rPr>
              <a:t>中的名称所指的数据对象的运行时刻地址。</a:t>
            </a:r>
          </a:p>
          <a:p>
            <a:pPr marL="171450" indent="-171450">
              <a:buFont typeface="Wingdings" panose="05000000000000000000" pitchFamily="2" charset="2"/>
              <a:buChar char="u"/>
            </a:pPr>
            <a:r>
              <a:rPr lang="en-US" altLang="zh-CN" sz="1200" kern="1200" dirty="0">
                <a:solidFill>
                  <a:schemeClr val="tx1"/>
                </a:solidFill>
                <a:effectLst/>
                <a:latin typeface="+mn-lt"/>
                <a:ea typeface="+mn-ea"/>
                <a:cs typeface="+mn-cs"/>
              </a:rPr>
              <a:t>IR </a:t>
            </a:r>
            <a:r>
              <a:rPr lang="zh-CN" altLang="zh-CN" sz="1200" kern="1200" dirty="0">
                <a:solidFill>
                  <a:schemeClr val="tx1"/>
                </a:solidFill>
                <a:effectLst/>
                <a:latin typeface="+mn-lt"/>
                <a:ea typeface="+mn-ea"/>
                <a:cs typeface="+mn-cs"/>
              </a:rPr>
              <a:t>的表示形式有多种选择，包括</a:t>
            </a:r>
            <a:r>
              <a:rPr lang="zh-CN" altLang="en-US" sz="1200" kern="1200" dirty="0">
                <a:solidFill>
                  <a:schemeClr val="tx1"/>
                </a:solidFill>
                <a:effectLst/>
                <a:latin typeface="+mn-lt"/>
                <a:ea typeface="+mn-ea"/>
                <a:cs typeface="+mn-cs"/>
              </a:rPr>
              <a:t>：</a:t>
            </a:r>
            <a:endParaRPr lang="en-US" altLang="zh-CN" sz="1200" kern="1200" dirty="0">
              <a:solidFill>
                <a:schemeClr val="tx1"/>
              </a:solidFill>
              <a:effectLst/>
              <a:latin typeface="+mn-lt"/>
              <a:ea typeface="+mn-ea"/>
              <a:cs typeface="+mn-cs"/>
            </a:endParaRPr>
          </a:p>
          <a:p>
            <a:pPr marL="628650" lvl="1" indent="-171450">
              <a:buFont typeface="Arial" panose="020B0604020202020204" pitchFamily="34" charset="0"/>
              <a:buChar char="•"/>
            </a:pPr>
            <a:r>
              <a:rPr lang="zh-CN" altLang="zh-CN" sz="1200" kern="1200" dirty="0">
                <a:solidFill>
                  <a:schemeClr val="tx1"/>
                </a:solidFill>
                <a:effectLst/>
                <a:latin typeface="+mn-lt"/>
                <a:ea typeface="+mn-ea"/>
                <a:cs typeface="+mn-cs"/>
              </a:rPr>
              <a:t>三地址表示，例如四元组、三元组、间接三元组；</a:t>
            </a:r>
            <a:endParaRPr lang="en-US" altLang="zh-CN" sz="1200" kern="1200" dirty="0">
              <a:solidFill>
                <a:schemeClr val="tx1"/>
              </a:solidFill>
              <a:effectLst/>
              <a:latin typeface="+mn-lt"/>
              <a:ea typeface="+mn-ea"/>
              <a:cs typeface="+mn-cs"/>
            </a:endParaRPr>
          </a:p>
          <a:p>
            <a:pPr marL="628650" lvl="1" indent="-171450">
              <a:buFont typeface="Arial" panose="020B0604020202020204" pitchFamily="34" charset="0"/>
              <a:buChar char="•"/>
            </a:pPr>
            <a:r>
              <a:rPr lang="zh-CN" altLang="zh-CN" sz="1200" kern="1200" dirty="0">
                <a:solidFill>
                  <a:schemeClr val="tx1"/>
                </a:solidFill>
                <a:effectLst/>
                <a:latin typeface="+mn-lt"/>
                <a:ea typeface="+mn-ea"/>
                <a:cs typeface="+mn-cs"/>
              </a:rPr>
              <a:t>虚拟机表示，例如字节码和堆栈机代码；</a:t>
            </a:r>
            <a:endParaRPr lang="en-US" altLang="zh-CN" sz="1200" kern="1200" dirty="0">
              <a:solidFill>
                <a:schemeClr val="tx1"/>
              </a:solidFill>
              <a:effectLst/>
              <a:latin typeface="+mn-lt"/>
              <a:ea typeface="+mn-ea"/>
              <a:cs typeface="+mn-cs"/>
            </a:endParaRPr>
          </a:p>
          <a:p>
            <a:pPr marL="628650" lvl="1" indent="-171450">
              <a:buFont typeface="Arial" panose="020B0604020202020204" pitchFamily="34" charset="0"/>
              <a:buChar char="•"/>
            </a:pPr>
            <a:r>
              <a:rPr lang="zh-CN" altLang="zh-CN" sz="1200" kern="1200" dirty="0">
                <a:solidFill>
                  <a:schemeClr val="tx1"/>
                </a:solidFill>
                <a:effectLst/>
                <a:latin typeface="+mn-lt"/>
                <a:ea typeface="+mn-ea"/>
                <a:cs typeface="+mn-cs"/>
              </a:rPr>
              <a:t>线性表示，例如后缀表示法；</a:t>
            </a:r>
            <a:endParaRPr lang="en-US" altLang="zh-CN" sz="1200" kern="1200" dirty="0">
              <a:solidFill>
                <a:schemeClr val="tx1"/>
              </a:solidFill>
              <a:effectLst/>
              <a:latin typeface="+mn-lt"/>
              <a:ea typeface="+mn-ea"/>
              <a:cs typeface="+mn-cs"/>
            </a:endParaRPr>
          </a:p>
          <a:p>
            <a:pPr marL="628650" lvl="1" indent="-171450">
              <a:buFont typeface="Arial" panose="020B0604020202020204" pitchFamily="34" charset="0"/>
              <a:buChar char="•"/>
            </a:pPr>
            <a:r>
              <a:rPr lang="zh-CN" altLang="zh-CN" sz="1200" kern="1200" dirty="0">
                <a:solidFill>
                  <a:schemeClr val="tx1"/>
                </a:solidFill>
                <a:effectLst/>
                <a:latin typeface="+mn-lt"/>
                <a:ea typeface="+mn-ea"/>
                <a:cs typeface="+mn-cs"/>
              </a:rPr>
              <a:t>语法树和</a:t>
            </a:r>
            <a:r>
              <a:rPr lang="en-US" altLang="zh-CN" sz="1200" kern="1200" dirty="0">
                <a:solidFill>
                  <a:schemeClr val="tx1"/>
                </a:solidFill>
                <a:effectLst/>
                <a:latin typeface="+mn-lt"/>
                <a:ea typeface="+mn-ea"/>
                <a:cs typeface="+mn-cs"/>
              </a:rPr>
              <a:t> DAG </a:t>
            </a:r>
            <a:r>
              <a:rPr lang="zh-CN" altLang="zh-CN" sz="1200" kern="1200" dirty="0">
                <a:solidFill>
                  <a:schemeClr val="tx1"/>
                </a:solidFill>
                <a:effectLst/>
                <a:latin typeface="+mn-lt"/>
                <a:ea typeface="+mn-ea"/>
                <a:cs typeface="+mn-cs"/>
              </a:rPr>
              <a:t>等图形表示。本章中的许多算法都是根据第</a:t>
            </a:r>
            <a:r>
              <a:rPr lang="en-US" altLang="zh-CN" sz="1200" kern="1200" dirty="0">
                <a:solidFill>
                  <a:schemeClr val="tx1"/>
                </a:solidFill>
                <a:effectLst/>
                <a:latin typeface="+mn-lt"/>
                <a:ea typeface="+mn-ea"/>
                <a:cs typeface="+mn-cs"/>
              </a:rPr>
              <a:t> 6 </a:t>
            </a:r>
            <a:r>
              <a:rPr lang="zh-CN" altLang="zh-CN" sz="1200" kern="1200" dirty="0">
                <a:solidFill>
                  <a:schemeClr val="tx1"/>
                </a:solidFill>
                <a:effectLst/>
                <a:latin typeface="+mn-lt"/>
                <a:ea typeface="+mn-ea"/>
                <a:cs typeface="+mn-cs"/>
              </a:rPr>
              <a:t>章中考虑的表示形式来表达的：三地址码、树和</a:t>
            </a:r>
            <a:r>
              <a:rPr lang="en-US" altLang="zh-CN" sz="1200" kern="1200" dirty="0">
                <a:solidFill>
                  <a:schemeClr val="tx1"/>
                </a:solidFill>
                <a:effectLst/>
                <a:latin typeface="+mn-lt"/>
                <a:ea typeface="+mn-ea"/>
                <a:cs typeface="+mn-cs"/>
              </a:rPr>
              <a:t> DAG</a:t>
            </a:r>
            <a:r>
              <a:rPr lang="zh-CN" altLang="zh-CN" sz="1200" kern="1200" dirty="0">
                <a:solidFill>
                  <a:schemeClr val="tx1"/>
                </a:solidFill>
                <a:effectLst/>
                <a:latin typeface="+mn-lt"/>
                <a:ea typeface="+mn-ea"/>
                <a:cs typeface="+mn-cs"/>
              </a:rPr>
              <a:t>。然而，我们讨论的技术也可以应用于其他中间表示。</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在本章中，我们假设前端已经将源程序扫描、解析并翻译成一个相对较低级别的</a:t>
            </a:r>
            <a:r>
              <a:rPr lang="en-US" altLang="zh-CN" sz="1200" kern="1200" dirty="0">
                <a:solidFill>
                  <a:schemeClr val="tx1"/>
                </a:solidFill>
                <a:effectLst/>
                <a:latin typeface="+mn-lt"/>
                <a:ea typeface="+mn-ea"/>
                <a:cs typeface="+mn-cs"/>
              </a:rPr>
              <a:t>IR</a:t>
            </a:r>
            <a:r>
              <a:rPr lang="zh-CN" altLang="zh-CN" sz="1200" kern="1200" dirty="0">
                <a:solidFill>
                  <a:schemeClr val="tx1"/>
                </a:solidFill>
                <a:effectLst/>
                <a:latin typeface="+mn-lt"/>
                <a:ea typeface="+mn-ea"/>
                <a:cs typeface="+mn-cs"/>
              </a:rPr>
              <a:t>，使得</a:t>
            </a:r>
            <a:r>
              <a:rPr lang="en-US" altLang="zh-CN" sz="1200" kern="1200" dirty="0">
                <a:solidFill>
                  <a:schemeClr val="tx1"/>
                </a:solidFill>
                <a:effectLst/>
                <a:latin typeface="+mn-lt"/>
                <a:ea typeface="+mn-ea"/>
                <a:cs typeface="+mn-cs"/>
              </a:rPr>
              <a:t>IR</a:t>
            </a:r>
            <a:r>
              <a:rPr lang="zh-CN" altLang="zh-CN" sz="1200" kern="1200" dirty="0">
                <a:solidFill>
                  <a:schemeClr val="tx1"/>
                </a:solidFill>
                <a:effectLst/>
                <a:latin typeface="+mn-lt"/>
                <a:ea typeface="+mn-ea"/>
                <a:cs typeface="+mn-cs"/>
              </a:rPr>
              <a:t>中出现的名称的值可以用目标机直接处理的量来表示。这些量可以是整数和浮动点数等。我们还假设所有语法和静态语义错误都已经被检测出来，必要的类型检查都已经完成，并且类型转换运算已经被插入到必要的地方。因此，代码生成器可以在工作过程中假设它的输入已经排除了这些错误。</a:t>
            </a:r>
            <a:endParaRPr lang="en-US" altLang="zh-CN" sz="1200" kern="1200" dirty="0">
              <a:solidFill>
                <a:schemeClr val="tx1"/>
              </a:solidFill>
              <a:effectLst/>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u"/>
              <a:tabLst/>
              <a:defRPr/>
            </a:pPr>
            <a:r>
              <a:rPr lang="zh-CN" altLang="en-US" sz="1200" kern="1200" dirty="0">
                <a:solidFill>
                  <a:schemeClr val="tx1"/>
                </a:solidFill>
                <a:effectLst/>
                <a:latin typeface="+mn-lt"/>
                <a:ea typeface="+mn-ea"/>
                <a:cs typeface="+mn-cs"/>
              </a:rPr>
              <a:t>目标程序所依托的体系架构和具体的语言形式</a:t>
            </a:r>
            <a:endParaRPr lang="en-US" altLang="zh-CN" sz="1200" kern="1200" dirty="0">
              <a:solidFill>
                <a:schemeClr val="tx1"/>
              </a:solidFill>
              <a:effectLst/>
              <a:latin typeface="+mn-lt"/>
              <a:ea typeface="+mn-ea"/>
              <a:cs typeface="+mn-cs"/>
            </a:endParaRPr>
          </a:p>
          <a:p>
            <a:pPr marL="685800" lvl="1" indent="-228600">
              <a:buFont typeface="Arial" panose="020B0604020202020204" pitchFamily="34" charset="0"/>
              <a:buChar char="•"/>
            </a:pPr>
            <a:r>
              <a:rPr lang="zh-CN" altLang="zh-CN" sz="1200" kern="1200" dirty="0">
                <a:solidFill>
                  <a:schemeClr val="tx1"/>
                </a:solidFill>
                <a:effectLst/>
                <a:latin typeface="+mn-lt"/>
                <a:ea typeface="+mn-ea"/>
                <a:cs typeface="+mn-cs"/>
              </a:rPr>
              <a:t>目标机器的指令集体系结构对构建产生高质量机器代码的良好代码生成器的难度有重大影响。最常见的目标机架构是</a:t>
            </a:r>
            <a:r>
              <a:rPr lang="en-US" altLang="zh-CN" sz="1200" kern="1200" dirty="0">
                <a:solidFill>
                  <a:schemeClr val="tx1"/>
                </a:solidFill>
                <a:effectLst/>
                <a:latin typeface="+mn-lt"/>
                <a:ea typeface="+mn-ea"/>
                <a:cs typeface="+mn-cs"/>
              </a:rPr>
              <a:t> RISC</a:t>
            </a:r>
            <a:r>
              <a:rPr lang="zh-CN" altLang="zh-CN" sz="1200" kern="1200" dirty="0">
                <a:solidFill>
                  <a:schemeClr val="tx1"/>
                </a:solidFill>
                <a:effectLst/>
                <a:latin typeface="+mn-lt"/>
                <a:ea typeface="+mn-ea"/>
                <a:cs typeface="+mn-cs"/>
              </a:rPr>
              <a:t>（精简指令集计算机）、</a:t>
            </a:r>
            <a:r>
              <a:rPr lang="en-US" altLang="zh-CN" sz="1200" kern="1200" dirty="0">
                <a:solidFill>
                  <a:schemeClr val="tx1"/>
                </a:solidFill>
                <a:effectLst/>
                <a:latin typeface="+mn-lt"/>
                <a:ea typeface="+mn-ea"/>
                <a:cs typeface="+mn-cs"/>
              </a:rPr>
              <a:t>CISC</a:t>
            </a:r>
            <a:r>
              <a:rPr lang="zh-CN" altLang="zh-CN" sz="1200" kern="1200" dirty="0">
                <a:solidFill>
                  <a:schemeClr val="tx1"/>
                </a:solidFill>
                <a:effectLst/>
                <a:latin typeface="+mn-lt"/>
                <a:ea typeface="+mn-ea"/>
                <a:cs typeface="+mn-cs"/>
              </a:rPr>
              <a:t>（复杂指令集计算机）和基于堆栈的。</a:t>
            </a:r>
            <a:endParaRPr lang="en-US" altLang="zh-CN" sz="1200" kern="1200" dirty="0">
              <a:solidFill>
                <a:schemeClr val="tx1"/>
              </a:solidFill>
              <a:effectLst/>
              <a:latin typeface="+mn-lt"/>
              <a:ea typeface="+mn-ea"/>
              <a:cs typeface="+mn-cs"/>
            </a:endParaRPr>
          </a:p>
          <a:p>
            <a:pPr marL="685800" lvl="1" indent="-228600">
              <a:buFont typeface="Arial" panose="020B0604020202020204" pitchFamily="34" charset="0"/>
              <a:buChar char="•"/>
            </a:pPr>
            <a:r>
              <a:rPr lang="en-US" altLang="zh-CN" sz="1200" kern="1200" dirty="0">
                <a:solidFill>
                  <a:schemeClr val="tx1"/>
                </a:solidFill>
                <a:effectLst/>
                <a:latin typeface="+mn-lt"/>
                <a:ea typeface="+mn-ea"/>
                <a:cs typeface="+mn-cs"/>
              </a:rPr>
              <a:t> RISC </a:t>
            </a:r>
            <a:r>
              <a:rPr lang="zh-CN" altLang="zh-CN" sz="1200" kern="1200" dirty="0">
                <a:solidFill>
                  <a:schemeClr val="tx1"/>
                </a:solidFill>
                <a:effectLst/>
                <a:latin typeface="+mn-lt"/>
                <a:ea typeface="+mn-ea"/>
                <a:cs typeface="+mn-cs"/>
              </a:rPr>
              <a:t>机器通常具有许多寄存器、三地址指令、简单的寻址模式和相对简单的指令集架构。</a:t>
            </a:r>
            <a:endParaRPr lang="en-US" altLang="zh-CN" sz="1200" kern="1200" dirty="0">
              <a:solidFill>
                <a:schemeClr val="tx1"/>
              </a:solidFill>
              <a:effectLst/>
              <a:latin typeface="+mn-lt"/>
              <a:ea typeface="+mn-ea"/>
              <a:cs typeface="+mn-cs"/>
            </a:endParaRPr>
          </a:p>
          <a:p>
            <a:pPr marL="685800" lvl="1" indent="-228600">
              <a:buFont typeface="Arial" panose="020B0604020202020204" pitchFamily="34" charset="0"/>
              <a:buChar char="•"/>
            </a:pPr>
            <a:r>
              <a:rPr lang="zh-CN" altLang="zh-CN" sz="1200" kern="1200" dirty="0">
                <a:solidFill>
                  <a:schemeClr val="tx1"/>
                </a:solidFill>
                <a:effectLst/>
                <a:latin typeface="+mn-lt"/>
                <a:ea typeface="+mn-ea"/>
                <a:cs typeface="+mn-cs"/>
              </a:rPr>
              <a:t>相比之下，</a:t>
            </a:r>
            <a:r>
              <a:rPr lang="en-US" altLang="zh-CN" sz="1200" kern="1200" dirty="0">
                <a:solidFill>
                  <a:schemeClr val="tx1"/>
                </a:solidFill>
                <a:effectLst/>
                <a:latin typeface="+mn-lt"/>
                <a:ea typeface="+mn-ea"/>
                <a:cs typeface="+mn-cs"/>
              </a:rPr>
              <a:t>CISC</a:t>
            </a:r>
            <a:r>
              <a:rPr lang="zh-CN" altLang="zh-CN" sz="1200" kern="1200" dirty="0">
                <a:solidFill>
                  <a:schemeClr val="tx1"/>
                </a:solidFill>
                <a:effectLst/>
                <a:latin typeface="+mn-lt"/>
                <a:ea typeface="+mn-ea"/>
                <a:cs typeface="+mn-cs"/>
              </a:rPr>
              <a:t>机器通常具有很少的寄存器、双地址指令、多种寻址模式、多个寄存器类别、可变长度指令以及具有副作用的指令。</a:t>
            </a:r>
            <a:endParaRPr lang="en-US" altLang="zh-CN" sz="1200" kern="1200" dirty="0">
              <a:solidFill>
                <a:schemeClr val="tx1"/>
              </a:solidFill>
              <a:effectLst/>
              <a:latin typeface="+mn-lt"/>
              <a:ea typeface="+mn-ea"/>
              <a:cs typeface="+mn-cs"/>
            </a:endParaRPr>
          </a:p>
          <a:p>
            <a:pPr marL="685800" lvl="1" indent="-228600">
              <a:buFont typeface="Arial" panose="020B0604020202020204" pitchFamily="34" charset="0"/>
              <a:buChar char="•"/>
            </a:pPr>
            <a:r>
              <a:rPr lang="zh-CN" altLang="zh-CN" sz="1200" kern="1200" dirty="0">
                <a:solidFill>
                  <a:schemeClr val="tx1"/>
                </a:solidFill>
                <a:effectLst/>
                <a:latin typeface="+mn-lt"/>
                <a:ea typeface="+mn-ea"/>
                <a:cs typeface="+mn-cs"/>
              </a:rPr>
              <a:t>在基于堆栈的机器中，运算是通过将运算分量压入堆栈，然后对堆栈顶部的运算分量进行运算来完成的。为了实现高性能，栈部元素通常保存在寄存器中。因为人们认为堆栈组织过于限制并且需要大量交换和复制操作，所以基于堆栈的机器几乎消失了。</a:t>
            </a:r>
          </a:p>
          <a:p>
            <a:r>
              <a:rPr lang="zh-CN" altLang="zh-CN" sz="1200" kern="1200" dirty="0">
                <a:solidFill>
                  <a:schemeClr val="tx1"/>
                </a:solidFill>
                <a:effectLst/>
                <a:latin typeface="+mn-lt"/>
                <a:ea typeface="+mn-ea"/>
                <a:cs typeface="+mn-cs"/>
              </a:rPr>
              <a:t>然而，随着</a:t>
            </a:r>
            <a:r>
              <a:rPr lang="en-US" altLang="zh-CN" sz="1200" kern="1200" dirty="0">
                <a:solidFill>
                  <a:schemeClr val="tx1"/>
                </a:solidFill>
                <a:effectLst/>
                <a:latin typeface="+mn-lt"/>
                <a:ea typeface="+mn-ea"/>
                <a:cs typeface="+mn-cs"/>
              </a:rPr>
              <a:t> Java </a:t>
            </a:r>
            <a:r>
              <a:rPr lang="zh-CN" altLang="zh-CN" sz="1200" kern="1200" dirty="0">
                <a:solidFill>
                  <a:schemeClr val="tx1"/>
                </a:solidFill>
                <a:effectLst/>
                <a:latin typeface="+mn-lt"/>
                <a:ea typeface="+mn-ea"/>
                <a:cs typeface="+mn-cs"/>
              </a:rPr>
              <a:t>虚拟机</a:t>
            </a:r>
            <a:r>
              <a:rPr lang="en-US" altLang="zh-CN" sz="1200" kern="1200" dirty="0">
                <a:solidFill>
                  <a:schemeClr val="tx1"/>
                </a:solidFill>
                <a:effectLst/>
                <a:latin typeface="+mn-lt"/>
                <a:ea typeface="+mn-ea"/>
                <a:cs typeface="+mn-cs"/>
              </a:rPr>
              <a:t> (JVM) </a:t>
            </a:r>
            <a:r>
              <a:rPr lang="zh-CN" altLang="zh-CN" sz="1200" kern="1200" dirty="0">
                <a:solidFill>
                  <a:schemeClr val="tx1"/>
                </a:solidFill>
                <a:effectLst/>
                <a:latin typeface="+mn-lt"/>
                <a:ea typeface="+mn-ea"/>
                <a:cs typeface="+mn-cs"/>
              </a:rPr>
              <a:t>的引入，基于堆栈的体系结构又复活了。</a:t>
            </a:r>
            <a:r>
              <a:rPr lang="en-US" altLang="zh-CN" sz="1200" kern="1200" dirty="0">
                <a:solidFill>
                  <a:schemeClr val="tx1"/>
                </a:solidFill>
                <a:effectLst/>
                <a:latin typeface="+mn-lt"/>
                <a:ea typeface="+mn-ea"/>
                <a:cs typeface="+mn-cs"/>
              </a:rPr>
              <a:t> JVM </a:t>
            </a:r>
            <a:r>
              <a:rPr lang="zh-CN" altLang="zh-CN" sz="1200" kern="1200" dirty="0">
                <a:solidFill>
                  <a:schemeClr val="tx1"/>
                </a:solidFill>
                <a:effectLst/>
                <a:latin typeface="+mn-lt"/>
                <a:ea typeface="+mn-ea"/>
                <a:cs typeface="+mn-cs"/>
              </a:rPr>
              <a:t>是</a:t>
            </a:r>
            <a:r>
              <a:rPr lang="en-US" altLang="zh-CN" sz="1200" kern="1200" dirty="0">
                <a:solidFill>
                  <a:schemeClr val="tx1"/>
                </a:solidFill>
                <a:effectLst/>
                <a:latin typeface="+mn-lt"/>
                <a:ea typeface="+mn-ea"/>
                <a:cs typeface="+mn-cs"/>
              </a:rPr>
              <a:t> Java </a:t>
            </a:r>
            <a:r>
              <a:rPr lang="zh-CN" altLang="zh-CN" sz="1200" kern="1200" dirty="0">
                <a:solidFill>
                  <a:schemeClr val="tx1"/>
                </a:solidFill>
                <a:effectLst/>
                <a:latin typeface="+mn-lt"/>
                <a:ea typeface="+mn-ea"/>
                <a:cs typeface="+mn-cs"/>
              </a:rPr>
              <a:t>字节码的软件解释器，</a:t>
            </a:r>
            <a:r>
              <a:rPr lang="en-US" altLang="zh-CN" sz="1200" kern="1200" dirty="0">
                <a:solidFill>
                  <a:schemeClr val="tx1"/>
                </a:solidFill>
                <a:effectLst/>
                <a:latin typeface="+mn-lt"/>
                <a:ea typeface="+mn-ea"/>
                <a:cs typeface="+mn-cs"/>
              </a:rPr>
              <a:t>Java </a:t>
            </a:r>
            <a:r>
              <a:rPr lang="zh-CN" altLang="zh-CN" sz="1200" kern="1200" dirty="0">
                <a:solidFill>
                  <a:schemeClr val="tx1"/>
                </a:solidFill>
                <a:effectLst/>
                <a:latin typeface="+mn-lt"/>
                <a:ea typeface="+mn-ea"/>
                <a:cs typeface="+mn-cs"/>
              </a:rPr>
              <a:t>字节码是</a:t>
            </a:r>
            <a:r>
              <a:rPr lang="en-US" altLang="zh-CN" sz="1200" kern="1200" dirty="0">
                <a:solidFill>
                  <a:schemeClr val="tx1"/>
                </a:solidFill>
                <a:effectLst/>
                <a:latin typeface="+mn-lt"/>
                <a:ea typeface="+mn-ea"/>
                <a:cs typeface="+mn-cs"/>
              </a:rPr>
              <a:t> Java </a:t>
            </a:r>
            <a:r>
              <a:rPr lang="zh-CN" altLang="zh-CN" sz="1200" kern="1200" dirty="0">
                <a:solidFill>
                  <a:schemeClr val="tx1"/>
                </a:solidFill>
                <a:effectLst/>
                <a:latin typeface="+mn-lt"/>
                <a:ea typeface="+mn-ea"/>
                <a:cs typeface="+mn-cs"/>
              </a:rPr>
              <a:t>编译器生成的中间语言。这个解释器提供跨多个平台的软件兼容性，这是</a:t>
            </a:r>
            <a:r>
              <a:rPr lang="en-US" altLang="zh-CN" sz="1200" kern="1200" dirty="0">
                <a:solidFill>
                  <a:schemeClr val="tx1"/>
                </a:solidFill>
                <a:effectLst/>
                <a:latin typeface="+mn-lt"/>
                <a:ea typeface="+mn-ea"/>
                <a:cs typeface="+mn-cs"/>
              </a:rPr>
              <a:t> Java </a:t>
            </a:r>
            <a:r>
              <a:rPr lang="zh-CN" altLang="zh-CN" sz="1200" kern="1200" dirty="0">
                <a:solidFill>
                  <a:schemeClr val="tx1"/>
                </a:solidFill>
                <a:effectLst/>
                <a:latin typeface="+mn-lt"/>
                <a:ea typeface="+mn-ea"/>
                <a:cs typeface="+mn-cs"/>
              </a:rPr>
              <a:t>成功的一个主要因素。为了克服解释的高性能损失（大约是</a:t>
            </a:r>
            <a:r>
              <a:rPr lang="en-US" altLang="zh-CN" sz="1200" kern="1200" dirty="0">
                <a:solidFill>
                  <a:schemeClr val="tx1"/>
                </a:solidFill>
                <a:effectLst/>
                <a:latin typeface="+mn-lt"/>
                <a:ea typeface="+mn-ea"/>
                <a:cs typeface="+mn-cs"/>
              </a:rPr>
              <a:t> 10 </a:t>
            </a:r>
            <a:r>
              <a:rPr lang="zh-CN" altLang="zh-CN" sz="1200" kern="1200" dirty="0">
                <a:solidFill>
                  <a:schemeClr val="tx1"/>
                </a:solidFill>
                <a:effectLst/>
                <a:latin typeface="+mn-lt"/>
                <a:ea typeface="+mn-ea"/>
                <a:cs typeface="+mn-cs"/>
              </a:rPr>
              <a:t>倍的数量级），即时</a:t>
            </a:r>
            <a:r>
              <a:rPr lang="en-US" altLang="zh-CN" sz="1200" kern="1200" dirty="0">
                <a:solidFill>
                  <a:schemeClr val="tx1"/>
                </a:solidFill>
                <a:effectLst/>
                <a:latin typeface="+mn-lt"/>
                <a:ea typeface="+mn-ea"/>
                <a:cs typeface="+mn-cs"/>
              </a:rPr>
              <a:t> (JIT) Java </a:t>
            </a:r>
            <a:r>
              <a:rPr lang="zh-CN" altLang="zh-CN" sz="1200" kern="1200" dirty="0">
                <a:solidFill>
                  <a:schemeClr val="tx1"/>
                </a:solidFill>
                <a:effectLst/>
                <a:latin typeface="+mn-lt"/>
                <a:ea typeface="+mn-ea"/>
                <a:cs typeface="+mn-cs"/>
              </a:rPr>
              <a:t>编译器应运而生。这些</a:t>
            </a:r>
            <a:r>
              <a:rPr lang="en-US" altLang="zh-CN" sz="1200" kern="1200" dirty="0">
                <a:solidFill>
                  <a:schemeClr val="tx1"/>
                </a:solidFill>
                <a:effectLst/>
                <a:latin typeface="+mn-lt"/>
                <a:ea typeface="+mn-ea"/>
                <a:cs typeface="+mn-cs"/>
              </a:rPr>
              <a:t> JIT </a:t>
            </a:r>
            <a:r>
              <a:rPr lang="zh-CN" altLang="zh-CN" sz="1200" kern="1200" dirty="0">
                <a:solidFill>
                  <a:schemeClr val="tx1"/>
                </a:solidFill>
                <a:effectLst/>
                <a:latin typeface="+mn-lt"/>
                <a:ea typeface="+mn-ea"/>
                <a:cs typeface="+mn-cs"/>
              </a:rPr>
              <a:t>编译器在运行时将字节码转换为目标机器的本机硬件指令集。提高</a:t>
            </a:r>
            <a:r>
              <a:rPr lang="en-US" altLang="zh-CN" sz="1200" kern="1200" dirty="0">
                <a:solidFill>
                  <a:schemeClr val="tx1"/>
                </a:solidFill>
                <a:effectLst/>
                <a:latin typeface="+mn-lt"/>
                <a:ea typeface="+mn-ea"/>
                <a:cs typeface="+mn-cs"/>
              </a:rPr>
              <a:t>Java</a:t>
            </a:r>
            <a:r>
              <a:rPr lang="zh-CN" altLang="zh-CN" sz="1200" kern="1200" dirty="0">
                <a:solidFill>
                  <a:schemeClr val="tx1"/>
                </a:solidFill>
                <a:effectLst/>
                <a:latin typeface="+mn-lt"/>
                <a:ea typeface="+mn-ea"/>
                <a:cs typeface="+mn-cs"/>
              </a:rPr>
              <a:t>性能的另一种方法是构建一个编译器，把</a:t>
            </a:r>
            <a:r>
              <a:rPr lang="en-US" altLang="zh-CN" sz="1200" kern="1200" dirty="0">
                <a:solidFill>
                  <a:schemeClr val="tx1"/>
                </a:solidFill>
                <a:effectLst/>
                <a:latin typeface="+mn-lt"/>
                <a:ea typeface="+mn-ea"/>
                <a:cs typeface="+mn-cs"/>
              </a:rPr>
              <a:t>Java</a:t>
            </a:r>
            <a:r>
              <a:rPr lang="zh-CN" altLang="zh-CN" sz="1200" kern="1200" dirty="0">
                <a:solidFill>
                  <a:schemeClr val="tx1"/>
                </a:solidFill>
                <a:effectLst/>
                <a:latin typeface="+mn-lt"/>
                <a:ea typeface="+mn-ea"/>
                <a:cs typeface="+mn-cs"/>
              </a:rPr>
              <a:t>程序直接编译成目标机器的机器指令彻底绕过</a:t>
            </a:r>
            <a:r>
              <a:rPr lang="en-US" altLang="zh-CN" sz="1200" kern="1200" dirty="0">
                <a:solidFill>
                  <a:schemeClr val="tx1"/>
                </a:solidFill>
                <a:effectLst/>
                <a:latin typeface="+mn-lt"/>
                <a:ea typeface="+mn-ea"/>
                <a:cs typeface="+mn-cs"/>
              </a:rPr>
              <a:t>Java</a:t>
            </a:r>
            <a:r>
              <a:rPr lang="zh-CN" altLang="zh-CN" sz="1200" kern="1200" dirty="0">
                <a:solidFill>
                  <a:schemeClr val="tx1"/>
                </a:solidFill>
                <a:effectLst/>
                <a:latin typeface="+mn-lt"/>
                <a:ea typeface="+mn-ea"/>
                <a:cs typeface="+mn-cs"/>
              </a:rPr>
              <a:t>字节码。</a:t>
            </a:r>
            <a:endParaRPr lang="en-US" altLang="zh-CN" sz="1200" kern="1200" dirty="0">
              <a:solidFill>
                <a:schemeClr val="tx1"/>
              </a:solidFill>
              <a:effectLst/>
              <a:latin typeface="+mn-lt"/>
              <a:ea typeface="+mn-ea"/>
              <a:cs typeface="+mn-cs"/>
            </a:endParaRP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zh-CN" altLang="en-US" sz="1200" kern="1200" dirty="0">
                <a:solidFill>
                  <a:schemeClr val="tx1"/>
                </a:solidFill>
                <a:effectLst/>
                <a:latin typeface="+mn-lt"/>
                <a:ea typeface="+mn-ea"/>
                <a:cs typeface="+mn-cs"/>
              </a:rPr>
              <a:t>目标程序具体的形式：</a:t>
            </a:r>
            <a:endParaRPr lang="zh-CN" altLang="zh-CN" sz="1200" kern="1200" dirty="0">
              <a:solidFill>
                <a:schemeClr val="tx1"/>
              </a:solidFill>
              <a:effectLst/>
              <a:latin typeface="+mn-lt"/>
              <a:ea typeface="+mn-ea"/>
              <a:cs typeface="+mn-cs"/>
            </a:endParaRPr>
          </a:p>
          <a:p>
            <a:pPr marL="628650" lvl="1" indent="-171450">
              <a:buFont typeface="Arial" panose="020B0604020202020204" pitchFamily="34" charset="0"/>
              <a:buChar char="•"/>
            </a:pPr>
            <a:r>
              <a:rPr lang="zh-CN" altLang="zh-CN" sz="1200" kern="1200" dirty="0">
                <a:solidFill>
                  <a:schemeClr val="tx1"/>
                </a:solidFill>
                <a:effectLst/>
                <a:latin typeface="+mn-lt"/>
                <a:ea typeface="+mn-ea"/>
                <a:cs typeface="+mn-cs"/>
              </a:rPr>
              <a:t>生成一个使用绝对地址的机器语言程序作为输出的优点是程序可以放置在内存中某个固定的位置上，并立即执行。程序可以快速编译和执行。</a:t>
            </a:r>
          </a:p>
          <a:p>
            <a:pPr marL="628650" lvl="1" indent="-171450">
              <a:buFont typeface="Arial" panose="020B0604020202020204" pitchFamily="34" charset="0"/>
              <a:buChar char="•"/>
            </a:pP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输出可重定位的机器语言程序（通常称为目标模块）可以使各个子程序能够被分别编译。一组可重定位的目标模块可以被一个链接加载器链接在一起并加载运行。虽然我们要生成可重定位的目标模块，必须为链接和加载付出代价。但这样做可以使我们获得很多的灵活性。我们可以把子程序分开编译，并从一个目标模块调用其他先前已编译好的的程序。如果目标机没有自动处理重定位，编译器就必须向加载器提供明确的重定位信息，以便把分开编译的程序模块链接起来。</a:t>
            </a:r>
          </a:p>
          <a:p>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生成汇编语言程序作为输出使得代码生成过程更加容易。我们可以生成符号指令并使用汇编器的宏功能来帮助生成代码。这么做的代价是代码生成后还需要增加一个汇编步骤。</a:t>
            </a:r>
          </a:p>
          <a:p>
            <a:r>
              <a:rPr lang="zh-CN" altLang="zh-CN" sz="1200" kern="1200" dirty="0">
                <a:solidFill>
                  <a:schemeClr val="tx1"/>
                </a:solidFill>
                <a:effectLst/>
                <a:latin typeface="+mn-lt"/>
                <a:ea typeface="+mn-ea"/>
                <a:cs typeface="+mn-cs"/>
              </a:rPr>
              <a:t>在本章中，我们将使用一个非常简单的类</a:t>
            </a:r>
            <a:r>
              <a:rPr lang="en-US" altLang="zh-CN" sz="1200" kern="1200" dirty="0">
                <a:solidFill>
                  <a:schemeClr val="tx1"/>
                </a:solidFill>
                <a:effectLst/>
                <a:latin typeface="+mn-lt"/>
                <a:ea typeface="+mn-ea"/>
                <a:cs typeface="+mn-cs"/>
              </a:rPr>
              <a:t> RISC </a:t>
            </a:r>
            <a:r>
              <a:rPr lang="zh-CN" altLang="zh-CN" sz="1200" kern="1200" dirty="0">
                <a:solidFill>
                  <a:schemeClr val="tx1"/>
                </a:solidFill>
                <a:effectLst/>
                <a:latin typeface="+mn-lt"/>
                <a:ea typeface="+mn-ea"/>
                <a:cs typeface="+mn-cs"/>
              </a:rPr>
              <a:t>计算机作为目标机器。我们添加了一些类似</a:t>
            </a:r>
            <a:r>
              <a:rPr lang="en-US" altLang="zh-CN" sz="1200" kern="1200" dirty="0">
                <a:solidFill>
                  <a:schemeClr val="tx1"/>
                </a:solidFill>
                <a:effectLst/>
                <a:latin typeface="+mn-lt"/>
                <a:ea typeface="+mn-ea"/>
                <a:cs typeface="+mn-cs"/>
              </a:rPr>
              <a:t> CISC </a:t>
            </a:r>
            <a:r>
              <a:rPr lang="zh-CN" altLang="zh-CN" sz="1200" kern="1200" dirty="0">
                <a:solidFill>
                  <a:schemeClr val="tx1"/>
                </a:solidFill>
                <a:effectLst/>
                <a:latin typeface="+mn-lt"/>
                <a:ea typeface="+mn-ea"/>
                <a:cs typeface="+mn-cs"/>
              </a:rPr>
              <a:t>的寻址模式，以便我们还可以讨论</a:t>
            </a:r>
            <a:r>
              <a:rPr lang="en-US" altLang="zh-CN" sz="1200" kern="1200" dirty="0">
                <a:solidFill>
                  <a:schemeClr val="tx1"/>
                </a:solidFill>
                <a:effectLst/>
                <a:latin typeface="+mn-lt"/>
                <a:ea typeface="+mn-ea"/>
                <a:cs typeface="+mn-cs"/>
              </a:rPr>
              <a:t> CISC </a:t>
            </a:r>
            <a:r>
              <a:rPr lang="zh-CN" altLang="zh-CN" sz="1200" kern="1200" dirty="0">
                <a:solidFill>
                  <a:schemeClr val="tx1"/>
                </a:solidFill>
                <a:effectLst/>
                <a:latin typeface="+mn-lt"/>
                <a:ea typeface="+mn-ea"/>
                <a:cs typeface="+mn-cs"/>
              </a:rPr>
              <a:t>机器的代码生成技术。为了可读性，我们使用汇编代码作为目标语言。只要可以根据符号表中存储的偏移量和存放于符号表中的其他信息计算出来，代码生成器就可以为源程序中的名字生成可重定位地址或绝对地址。这和生成符号地址一样，都是很简单的事情。</a:t>
            </a:r>
          </a:p>
          <a:p>
            <a:endParaRPr lang="zh-CN" altLang="zh-CN" sz="1200" kern="1200" dirty="0">
              <a:solidFill>
                <a:schemeClr val="tx1"/>
              </a:solidFill>
              <a:effectLst/>
              <a:latin typeface="+mn-lt"/>
              <a:ea typeface="+mn-ea"/>
              <a:cs typeface="+mn-cs"/>
            </a:endParaRPr>
          </a:p>
          <a:p>
            <a:endParaRPr lang="en-US" altLang="zh-CN" sz="1200" kern="1200" dirty="0">
              <a:solidFill>
                <a:schemeClr val="tx1"/>
              </a:solidFill>
              <a:effectLst/>
              <a:latin typeface="+mn-lt"/>
              <a:ea typeface="+mn-ea"/>
              <a:cs typeface="+mn-cs"/>
            </a:endParaRPr>
          </a:p>
          <a:p>
            <a:endParaRPr lang="zh-CN" altLang="zh-CN" sz="1200" kern="1200" dirty="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4</a:t>
            </a:fld>
            <a:endParaRPr lang="zh-CN" altLang="en-US"/>
          </a:p>
        </p:txBody>
      </p:sp>
    </p:spTree>
    <p:extLst>
      <p:ext uri="{BB962C8B-B14F-4D97-AF65-F5344CB8AC3E}">
        <p14:creationId xmlns:p14="http://schemas.microsoft.com/office/powerpoint/2010/main" val="59721513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5</a:t>
            </a:fld>
            <a:endParaRPr lang="zh-CN" altLang="en-US"/>
          </a:p>
        </p:txBody>
      </p:sp>
    </p:spTree>
    <p:extLst>
      <p:ext uri="{BB962C8B-B14F-4D97-AF65-F5344CB8AC3E}">
        <p14:creationId xmlns:p14="http://schemas.microsoft.com/office/powerpoint/2010/main" val="26606813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熟悉目标机器及其指令集是设计良好的代码生成器的先决条件。不幸的是，在代码生成的一般讨论中，不可能足够详细地描述任何目标机器来为该机器上的完整语言生成良好的代码。在本章中，我们将使用一个简单计算机的汇编代码作为目标语言。这个计算机是许多寄存器机器的代表。然而，本章介绍的很多代码生成技术也可以用于许多其他类别的机器。</a:t>
            </a:r>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我们的目标计算机是一个三地址机器的模型，具有加载和存储操作、计算操作、跳转操作和条件跳转。这个计算机的内存按照字节寻址，它具有</a:t>
            </a:r>
            <a:r>
              <a:rPr lang="en-US" altLang="zh-CN" sz="1200" kern="1200" dirty="0">
                <a:solidFill>
                  <a:schemeClr val="tx1"/>
                </a:solidFill>
                <a:effectLst/>
                <a:latin typeface="+mn-lt"/>
                <a:ea typeface="+mn-ea"/>
                <a:cs typeface="+mn-cs"/>
              </a:rPr>
              <a:t>n</a:t>
            </a:r>
            <a:r>
              <a:rPr lang="zh-CN" altLang="zh-CN" sz="1200" kern="1200" dirty="0">
                <a:solidFill>
                  <a:schemeClr val="tx1"/>
                </a:solidFill>
                <a:effectLst/>
                <a:latin typeface="+mn-lt"/>
                <a:ea typeface="+mn-ea"/>
                <a:cs typeface="+mn-cs"/>
              </a:rPr>
              <a:t>个通用寄存器</a:t>
            </a:r>
            <a:r>
              <a:rPr lang="en-US" altLang="zh-CN" sz="1200" kern="1200" dirty="0">
                <a:solidFill>
                  <a:schemeClr val="tx1"/>
                </a:solidFill>
                <a:effectLst/>
                <a:latin typeface="+mn-lt"/>
                <a:ea typeface="+mn-ea"/>
                <a:cs typeface="+mn-cs"/>
              </a:rPr>
              <a:t>R0</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 R1;::: ;Rn . </a:t>
            </a:r>
            <a:r>
              <a:rPr lang="zh-CN" altLang="zh-CN" sz="1200" kern="1200" dirty="0">
                <a:solidFill>
                  <a:schemeClr val="tx1"/>
                </a:solidFill>
                <a:effectLst/>
                <a:latin typeface="+mn-lt"/>
                <a:ea typeface="+mn-ea"/>
                <a:cs typeface="+mn-cs"/>
              </a:rPr>
              <a:t>一个完整的汇编语言具有几十到上百个指令。为了避免因为过多的细节而妨碍对概念的理解，我们将使用一个非常有限的指令集，并假设所有的运算分量都是整数。大多数指令由一个运算符、一个目标地址、一个源运算分量的列表组成。指令之前可能有标号。我们假设有以下类型的指令可用：</a:t>
            </a:r>
          </a:p>
          <a:p>
            <a:pPr marL="171450" indent="-171450">
              <a:buFont typeface="Arial" panose="020B0604020202020204" pitchFamily="34" charset="0"/>
              <a:buChar char="•"/>
            </a:pPr>
            <a:r>
              <a:rPr lang="zh-CN" altLang="zh-CN" sz="1200" kern="1200" dirty="0">
                <a:solidFill>
                  <a:schemeClr val="tx1"/>
                </a:solidFill>
                <a:effectLst/>
                <a:latin typeface="+mn-lt"/>
                <a:ea typeface="+mn-ea"/>
                <a:cs typeface="+mn-cs"/>
              </a:rPr>
              <a:t>加载操作：指令</a:t>
            </a:r>
            <a:r>
              <a:rPr lang="en-US" altLang="zh-CN" sz="1200" kern="1200" dirty="0">
                <a:solidFill>
                  <a:schemeClr val="tx1"/>
                </a:solidFill>
                <a:effectLst/>
                <a:latin typeface="+mn-lt"/>
                <a:ea typeface="+mn-ea"/>
                <a:cs typeface="+mn-cs"/>
              </a:rPr>
              <a:t>LD </a:t>
            </a:r>
            <a:r>
              <a:rPr lang="en-US" altLang="zh-CN" sz="1200" kern="1200" dirty="0" err="1">
                <a:solidFill>
                  <a:schemeClr val="tx1"/>
                </a:solidFill>
                <a:effectLst/>
                <a:latin typeface="+mn-lt"/>
                <a:ea typeface="+mn-ea"/>
                <a:cs typeface="+mn-cs"/>
              </a:rPr>
              <a:t>dst,addr</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将地址</a:t>
            </a:r>
            <a:r>
              <a:rPr lang="en-US" altLang="zh-CN" sz="1200" kern="1200" dirty="0" err="1">
                <a:solidFill>
                  <a:schemeClr val="tx1"/>
                </a:solidFill>
                <a:effectLst/>
                <a:latin typeface="+mn-lt"/>
                <a:ea typeface="+mn-ea"/>
                <a:cs typeface="+mn-cs"/>
              </a:rPr>
              <a:t>addr</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中的值加载到位置</a:t>
            </a:r>
            <a:r>
              <a:rPr lang="en-US" altLang="zh-CN" sz="1200" kern="1200" dirty="0" err="1">
                <a:solidFill>
                  <a:schemeClr val="tx1"/>
                </a:solidFill>
                <a:effectLst/>
                <a:latin typeface="+mn-lt"/>
                <a:ea typeface="+mn-ea"/>
                <a:cs typeface="+mn-cs"/>
              </a:rPr>
              <a:t>dst</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中。该指令表示赋值</a:t>
            </a:r>
            <a:r>
              <a:rPr lang="en-US" altLang="zh-CN" sz="1200" kern="1200" dirty="0">
                <a:solidFill>
                  <a:schemeClr val="tx1"/>
                </a:solidFill>
                <a:effectLst/>
                <a:latin typeface="+mn-lt"/>
                <a:ea typeface="+mn-ea"/>
                <a:cs typeface="+mn-cs"/>
              </a:rPr>
              <a:t> </a:t>
            </a:r>
            <a:r>
              <a:rPr lang="en-US" altLang="zh-CN" sz="1200" kern="1200" dirty="0" err="1">
                <a:solidFill>
                  <a:schemeClr val="tx1"/>
                </a:solidFill>
                <a:effectLst/>
                <a:latin typeface="+mn-lt"/>
                <a:ea typeface="+mn-ea"/>
                <a:cs typeface="+mn-cs"/>
              </a:rPr>
              <a:t>dst</a:t>
            </a:r>
            <a:r>
              <a:rPr lang="en-US" altLang="zh-CN" sz="1200" kern="1200" dirty="0">
                <a:solidFill>
                  <a:schemeClr val="tx1"/>
                </a:solidFill>
                <a:effectLst/>
                <a:latin typeface="+mn-lt"/>
                <a:ea typeface="+mn-ea"/>
                <a:cs typeface="+mn-cs"/>
              </a:rPr>
              <a:t> = </a:t>
            </a:r>
            <a:r>
              <a:rPr lang="en-US" altLang="zh-CN" sz="1200" kern="1200" dirty="0" err="1">
                <a:solidFill>
                  <a:schemeClr val="tx1"/>
                </a:solidFill>
                <a:effectLst/>
                <a:latin typeface="+mn-lt"/>
                <a:ea typeface="+mn-ea"/>
                <a:cs typeface="+mn-cs"/>
              </a:rPr>
              <a:t>addr</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。该指令最常见的形式是</a:t>
            </a:r>
            <a:r>
              <a:rPr lang="en-US" altLang="zh-CN" sz="1200" kern="1200" dirty="0">
                <a:solidFill>
                  <a:schemeClr val="tx1"/>
                </a:solidFill>
                <a:effectLst/>
                <a:latin typeface="+mn-lt"/>
                <a:ea typeface="+mn-ea"/>
                <a:cs typeface="+mn-cs"/>
              </a:rPr>
              <a:t> LD </a:t>
            </a:r>
            <a:r>
              <a:rPr lang="en-US" altLang="zh-CN" sz="1200" kern="1200" dirty="0" err="1">
                <a:solidFill>
                  <a:schemeClr val="tx1"/>
                </a:solidFill>
                <a:effectLst/>
                <a:latin typeface="+mn-lt"/>
                <a:ea typeface="+mn-ea"/>
                <a:cs typeface="+mn-cs"/>
              </a:rPr>
              <a:t>r,x</a:t>
            </a:r>
            <a:r>
              <a:rPr lang="zh-CN" altLang="zh-CN" sz="1200" kern="1200" dirty="0">
                <a:solidFill>
                  <a:schemeClr val="tx1"/>
                </a:solidFill>
                <a:effectLst/>
                <a:latin typeface="+mn-lt"/>
                <a:ea typeface="+mn-ea"/>
                <a:cs typeface="+mn-cs"/>
              </a:rPr>
              <a:t>，它将位置</a:t>
            </a:r>
            <a:r>
              <a:rPr lang="en-US" altLang="zh-CN" sz="1200" kern="1200" dirty="0">
                <a:solidFill>
                  <a:schemeClr val="tx1"/>
                </a:solidFill>
                <a:effectLst/>
                <a:latin typeface="+mn-lt"/>
                <a:ea typeface="+mn-ea"/>
                <a:cs typeface="+mn-cs"/>
              </a:rPr>
              <a:t> x </a:t>
            </a:r>
            <a:r>
              <a:rPr lang="zh-CN" altLang="zh-CN" sz="1200" kern="1200" dirty="0">
                <a:solidFill>
                  <a:schemeClr val="tx1"/>
                </a:solidFill>
                <a:effectLst/>
                <a:latin typeface="+mn-lt"/>
                <a:ea typeface="+mn-ea"/>
                <a:cs typeface="+mn-cs"/>
              </a:rPr>
              <a:t>中的值加载到寄存器</a:t>
            </a:r>
            <a:r>
              <a:rPr lang="en-US" altLang="zh-CN" sz="1200" kern="1200" dirty="0">
                <a:solidFill>
                  <a:schemeClr val="tx1"/>
                </a:solidFill>
                <a:effectLst/>
                <a:latin typeface="+mn-lt"/>
                <a:ea typeface="+mn-ea"/>
                <a:cs typeface="+mn-cs"/>
              </a:rPr>
              <a:t> r </a:t>
            </a:r>
            <a:r>
              <a:rPr lang="zh-CN" altLang="zh-CN" sz="1200" kern="1200" dirty="0">
                <a:solidFill>
                  <a:schemeClr val="tx1"/>
                </a:solidFill>
                <a:effectLst/>
                <a:latin typeface="+mn-lt"/>
                <a:ea typeface="+mn-ea"/>
                <a:cs typeface="+mn-cs"/>
              </a:rPr>
              <a:t>中。</a:t>
            </a:r>
            <a:r>
              <a:rPr lang="en-US" altLang="zh-CN" sz="1200" kern="1200" dirty="0">
                <a:solidFill>
                  <a:schemeClr val="tx1"/>
                </a:solidFill>
                <a:effectLst/>
                <a:latin typeface="+mn-lt"/>
                <a:ea typeface="+mn-ea"/>
                <a:cs typeface="+mn-cs"/>
              </a:rPr>
              <a:t> LD r1,r2 </a:t>
            </a:r>
            <a:r>
              <a:rPr lang="zh-CN" altLang="zh-CN" sz="1200" kern="1200" dirty="0">
                <a:solidFill>
                  <a:schemeClr val="tx1"/>
                </a:solidFill>
                <a:effectLst/>
                <a:latin typeface="+mn-lt"/>
                <a:ea typeface="+mn-ea"/>
                <a:cs typeface="+mn-cs"/>
              </a:rPr>
              <a:t>形式的指令是寄存器到寄存器的复制，其中寄存器</a:t>
            </a:r>
            <a:r>
              <a:rPr lang="en-US" altLang="zh-CN" sz="1200" kern="1200" dirty="0">
                <a:solidFill>
                  <a:schemeClr val="tx1"/>
                </a:solidFill>
                <a:effectLst/>
                <a:latin typeface="+mn-lt"/>
                <a:ea typeface="+mn-ea"/>
                <a:cs typeface="+mn-cs"/>
              </a:rPr>
              <a:t>r2 </a:t>
            </a:r>
            <a:r>
              <a:rPr lang="zh-CN" altLang="zh-CN" sz="1200" kern="1200" dirty="0">
                <a:solidFill>
                  <a:schemeClr val="tx1"/>
                </a:solidFill>
                <a:effectLst/>
                <a:latin typeface="+mn-lt"/>
                <a:ea typeface="+mn-ea"/>
                <a:cs typeface="+mn-cs"/>
              </a:rPr>
              <a:t>的内容被复制到寄存器</a:t>
            </a:r>
            <a:r>
              <a:rPr lang="en-US" altLang="zh-CN" sz="1200" kern="1200" dirty="0">
                <a:solidFill>
                  <a:schemeClr val="tx1"/>
                </a:solidFill>
                <a:effectLst/>
                <a:latin typeface="+mn-lt"/>
                <a:ea typeface="+mn-ea"/>
                <a:cs typeface="+mn-cs"/>
              </a:rPr>
              <a:t>r1 </a:t>
            </a:r>
            <a:r>
              <a:rPr lang="zh-CN" altLang="zh-CN" sz="1200" kern="1200" dirty="0">
                <a:solidFill>
                  <a:schemeClr val="tx1"/>
                </a:solidFill>
                <a:effectLst/>
                <a:latin typeface="+mn-lt"/>
                <a:ea typeface="+mn-ea"/>
                <a:cs typeface="+mn-cs"/>
              </a:rPr>
              <a:t>中。</a:t>
            </a:r>
          </a:p>
          <a:p>
            <a:pPr marL="171450" indent="-171450">
              <a:buFont typeface="Arial" panose="020B0604020202020204" pitchFamily="34" charset="0"/>
              <a:buChar char="•"/>
            </a:pPr>
            <a:r>
              <a:rPr lang="zh-CN" altLang="zh-CN" sz="1200" kern="1200" dirty="0">
                <a:solidFill>
                  <a:schemeClr val="tx1"/>
                </a:solidFill>
                <a:effectLst/>
                <a:latin typeface="+mn-lt"/>
                <a:ea typeface="+mn-ea"/>
                <a:cs typeface="+mn-cs"/>
              </a:rPr>
              <a:t>存储操作：指令</a:t>
            </a:r>
            <a:r>
              <a:rPr lang="en-US" altLang="zh-CN" sz="1200" kern="1200" dirty="0">
                <a:solidFill>
                  <a:schemeClr val="tx1"/>
                </a:solidFill>
                <a:effectLst/>
                <a:latin typeface="+mn-lt"/>
                <a:ea typeface="+mn-ea"/>
                <a:cs typeface="+mn-cs"/>
              </a:rPr>
              <a:t>ST x, r </a:t>
            </a:r>
            <a:r>
              <a:rPr lang="zh-CN" altLang="zh-CN" sz="1200" kern="1200" dirty="0">
                <a:solidFill>
                  <a:schemeClr val="tx1"/>
                </a:solidFill>
                <a:effectLst/>
                <a:latin typeface="+mn-lt"/>
                <a:ea typeface="+mn-ea"/>
                <a:cs typeface="+mn-cs"/>
              </a:rPr>
              <a:t>将寄存器</a:t>
            </a:r>
            <a:r>
              <a:rPr lang="en-US" altLang="zh-CN" sz="1200" kern="1200" dirty="0">
                <a:solidFill>
                  <a:schemeClr val="tx1"/>
                </a:solidFill>
                <a:effectLst/>
                <a:latin typeface="+mn-lt"/>
                <a:ea typeface="+mn-ea"/>
                <a:cs typeface="+mn-cs"/>
              </a:rPr>
              <a:t> r </a:t>
            </a:r>
            <a:r>
              <a:rPr lang="zh-CN" altLang="zh-CN" sz="1200" kern="1200" dirty="0">
                <a:solidFill>
                  <a:schemeClr val="tx1"/>
                </a:solidFill>
                <a:effectLst/>
                <a:latin typeface="+mn-lt"/>
                <a:ea typeface="+mn-ea"/>
                <a:cs typeface="+mn-cs"/>
              </a:rPr>
              <a:t>中的值存储到位置</a:t>
            </a:r>
            <a:r>
              <a:rPr lang="en-US" altLang="zh-CN" sz="1200" kern="1200" dirty="0">
                <a:solidFill>
                  <a:schemeClr val="tx1"/>
                </a:solidFill>
                <a:effectLst/>
                <a:latin typeface="+mn-lt"/>
                <a:ea typeface="+mn-ea"/>
                <a:cs typeface="+mn-cs"/>
              </a:rPr>
              <a:t> x </a:t>
            </a:r>
            <a:r>
              <a:rPr lang="zh-CN" altLang="zh-CN" sz="1200" kern="1200" dirty="0">
                <a:solidFill>
                  <a:schemeClr val="tx1"/>
                </a:solidFill>
                <a:effectLst/>
                <a:latin typeface="+mn-lt"/>
                <a:ea typeface="+mn-ea"/>
                <a:cs typeface="+mn-cs"/>
              </a:rPr>
              <a:t>中。该指令表示赋值</a:t>
            </a:r>
            <a:r>
              <a:rPr lang="en-US" altLang="zh-CN" sz="1200" kern="1200" dirty="0">
                <a:solidFill>
                  <a:schemeClr val="tx1"/>
                </a:solidFill>
                <a:effectLst/>
                <a:latin typeface="+mn-lt"/>
                <a:ea typeface="+mn-ea"/>
                <a:cs typeface="+mn-cs"/>
              </a:rPr>
              <a:t> x = r </a:t>
            </a:r>
            <a:r>
              <a:rPr lang="zh-CN" altLang="zh-CN" sz="1200" kern="1200" dirty="0">
                <a:solidFill>
                  <a:schemeClr val="tx1"/>
                </a:solidFill>
                <a:effectLst/>
                <a:latin typeface="+mn-lt"/>
                <a:ea typeface="+mn-ea"/>
                <a:cs typeface="+mn-cs"/>
              </a:rPr>
              <a:t>。 </a:t>
            </a:r>
          </a:p>
          <a:p>
            <a:pPr marL="171450" indent="-171450">
              <a:buFont typeface="Arial" panose="020B0604020202020204" pitchFamily="34" charset="0"/>
              <a:buChar char="•"/>
            </a:pPr>
            <a:r>
              <a:rPr lang="zh-CN" altLang="zh-CN" sz="1200" kern="1200" dirty="0">
                <a:solidFill>
                  <a:schemeClr val="tx1"/>
                </a:solidFill>
                <a:effectLst/>
                <a:latin typeface="+mn-lt"/>
                <a:ea typeface="+mn-ea"/>
                <a:cs typeface="+mn-cs"/>
              </a:rPr>
              <a:t>计算操作：形如</a:t>
            </a:r>
            <a:r>
              <a:rPr lang="en-US" altLang="zh-CN" sz="1200" kern="1200" dirty="0">
                <a:solidFill>
                  <a:schemeClr val="tx1"/>
                </a:solidFill>
                <a:effectLst/>
                <a:latin typeface="+mn-lt"/>
                <a:ea typeface="+mn-ea"/>
                <a:cs typeface="+mn-cs"/>
              </a:rPr>
              <a:t>OP </a:t>
            </a:r>
            <a:r>
              <a:rPr lang="en-US" altLang="zh-CN" sz="1200" kern="1200" dirty="0" err="1">
                <a:solidFill>
                  <a:schemeClr val="tx1"/>
                </a:solidFill>
                <a:effectLst/>
                <a:latin typeface="+mn-lt"/>
                <a:ea typeface="+mn-ea"/>
                <a:cs typeface="+mn-cs"/>
              </a:rPr>
              <a:t>dst</a:t>
            </a:r>
            <a:r>
              <a:rPr lang="en-US" altLang="zh-CN" sz="1200" kern="1200" dirty="0">
                <a:solidFill>
                  <a:schemeClr val="tx1"/>
                </a:solidFill>
                <a:effectLst/>
                <a:latin typeface="+mn-lt"/>
                <a:ea typeface="+mn-ea"/>
                <a:cs typeface="+mn-cs"/>
              </a:rPr>
              <a:t>, src1, src2 </a:t>
            </a:r>
            <a:r>
              <a:rPr lang="zh-CN" altLang="zh-CN" sz="1200" kern="1200" dirty="0">
                <a:solidFill>
                  <a:schemeClr val="tx1"/>
                </a:solidFill>
                <a:effectLst/>
                <a:latin typeface="+mn-lt"/>
                <a:ea typeface="+mn-ea"/>
                <a:cs typeface="+mn-cs"/>
              </a:rPr>
              <a:t>，其中</a:t>
            </a:r>
            <a:r>
              <a:rPr lang="en-US" altLang="zh-CN" sz="1200" kern="1200" dirty="0">
                <a:solidFill>
                  <a:schemeClr val="tx1"/>
                </a:solidFill>
                <a:effectLst/>
                <a:latin typeface="+mn-lt"/>
                <a:ea typeface="+mn-ea"/>
                <a:cs typeface="+mn-cs"/>
              </a:rPr>
              <a:t> OP </a:t>
            </a:r>
            <a:r>
              <a:rPr lang="zh-CN" altLang="zh-CN" sz="1200" kern="1200" dirty="0">
                <a:solidFill>
                  <a:schemeClr val="tx1"/>
                </a:solidFill>
                <a:effectLst/>
                <a:latin typeface="+mn-lt"/>
                <a:ea typeface="+mn-ea"/>
                <a:cs typeface="+mn-cs"/>
              </a:rPr>
              <a:t>是</a:t>
            </a:r>
            <a:r>
              <a:rPr lang="en-US" altLang="zh-CN" sz="1200" kern="1200" dirty="0">
                <a:solidFill>
                  <a:schemeClr val="tx1"/>
                </a:solidFill>
                <a:effectLst/>
                <a:latin typeface="+mn-lt"/>
                <a:ea typeface="+mn-ea"/>
                <a:cs typeface="+mn-cs"/>
              </a:rPr>
              <a:t> ADD </a:t>
            </a:r>
            <a:r>
              <a:rPr lang="zh-CN" altLang="zh-CN" sz="1200" kern="1200" dirty="0">
                <a:solidFill>
                  <a:schemeClr val="tx1"/>
                </a:solidFill>
                <a:effectLst/>
                <a:latin typeface="+mn-lt"/>
                <a:ea typeface="+mn-ea"/>
                <a:cs typeface="+mn-cs"/>
              </a:rPr>
              <a:t>或</a:t>
            </a:r>
            <a:r>
              <a:rPr lang="en-US" altLang="zh-CN" sz="1200" kern="1200" dirty="0">
                <a:solidFill>
                  <a:schemeClr val="tx1"/>
                </a:solidFill>
                <a:effectLst/>
                <a:latin typeface="+mn-lt"/>
                <a:ea typeface="+mn-ea"/>
                <a:cs typeface="+mn-cs"/>
              </a:rPr>
              <a:t> SUB </a:t>
            </a:r>
            <a:r>
              <a:rPr lang="zh-CN" altLang="zh-CN" sz="1200" kern="1200" dirty="0">
                <a:solidFill>
                  <a:schemeClr val="tx1"/>
                </a:solidFill>
                <a:effectLst/>
                <a:latin typeface="+mn-lt"/>
                <a:ea typeface="+mn-ea"/>
                <a:cs typeface="+mn-cs"/>
              </a:rPr>
              <a:t>等运算符，而</a:t>
            </a:r>
            <a:r>
              <a:rPr lang="en-US" altLang="zh-CN" sz="1200" kern="1200" dirty="0">
                <a:solidFill>
                  <a:schemeClr val="tx1"/>
                </a:solidFill>
                <a:effectLst/>
                <a:latin typeface="+mn-lt"/>
                <a:ea typeface="+mn-ea"/>
                <a:cs typeface="+mn-cs"/>
              </a:rPr>
              <a:t> </a:t>
            </a:r>
            <a:r>
              <a:rPr lang="en-US" altLang="zh-CN" sz="1200" kern="1200" dirty="0" err="1">
                <a:solidFill>
                  <a:schemeClr val="tx1"/>
                </a:solidFill>
                <a:effectLst/>
                <a:latin typeface="+mn-lt"/>
                <a:ea typeface="+mn-ea"/>
                <a:cs typeface="+mn-cs"/>
              </a:rPr>
              <a:t>dst</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src1 </a:t>
            </a:r>
            <a:r>
              <a:rPr lang="zh-CN" altLang="zh-CN"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 src2 </a:t>
            </a:r>
            <a:r>
              <a:rPr lang="zh-CN" altLang="zh-CN" sz="1200" kern="1200" dirty="0">
                <a:solidFill>
                  <a:schemeClr val="tx1"/>
                </a:solidFill>
                <a:effectLst/>
                <a:latin typeface="+mn-lt"/>
                <a:ea typeface="+mn-ea"/>
                <a:cs typeface="+mn-cs"/>
              </a:rPr>
              <a:t>是内存位置，这些位置不一定要相互不同。该机器指令的作用是将</a:t>
            </a:r>
            <a:r>
              <a:rPr lang="en-US" altLang="zh-CN" sz="1200" kern="1200" dirty="0">
                <a:solidFill>
                  <a:schemeClr val="tx1"/>
                </a:solidFill>
                <a:effectLst/>
                <a:latin typeface="+mn-lt"/>
                <a:ea typeface="+mn-ea"/>
                <a:cs typeface="+mn-cs"/>
              </a:rPr>
              <a:t> OP </a:t>
            </a:r>
            <a:r>
              <a:rPr lang="zh-CN" altLang="zh-CN" sz="1200" kern="1200" dirty="0">
                <a:solidFill>
                  <a:schemeClr val="tx1"/>
                </a:solidFill>
                <a:effectLst/>
                <a:latin typeface="+mn-lt"/>
                <a:ea typeface="+mn-ea"/>
                <a:cs typeface="+mn-cs"/>
              </a:rPr>
              <a:t>表示的运算应用于位置</a:t>
            </a:r>
            <a:r>
              <a:rPr lang="en-US" altLang="zh-CN" sz="1200" kern="1200" dirty="0">
                <a:solidFill>
                  <a:schemeClr val="tx1"/>
                </a:solidFill>
                <a:effectLst/>
                <a:latin typeface="+mn-lt"/>
                <a:ea typeface="+mn-ea"/>
                <a:cs typeface="+mn-cs"/>
              </a:rPr>
              <a:t> src1 </a:t>
            </a:r>
            <a:r>
              <a:rPr lang="zh-CN" altLang="zh-CN"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 src2 </a:t>
            </a:r>
            <a:r>
              <a:rPr lang="zh-CN" altLang="zh-CN" sz="1200" kern="1200" dirty="0">
                <a:solidFill>
                  <a:schemeClr val="tx1"/>
                </a:solidFill>
                <a:effectLst/>
                <a:latin typeface="+mn-lt"/>
                <a:ea typeface="+mn-ea"/>
                <a:cs typeface="+mn-cs"/>
              </a:rPr>
              <a:t>中的值，并将该运算的结果放置在位置</a:t>
            </a:r>
            <a:r>
              <a:rPr lang="en-US" altLang="zh-CN" sz="1200" kern="1200" dirty="0">
                <a:solidFill>
                  <a:schemeClr val="tx1"/>
                </a:solidFill>
                <a:effectLst/>
                <a:latin typeface="+mn-lt"/>
                <a:ea typeface="+mn-ea"/>
                <a:cs typeface="+mn-cs"/>
              </a:rPr>
              <a:t> </a:t>
            </a:r>
            <a:r>
              <a:rPr lang="en-US" altLang="zh-CN" sz="1200" kern="1200" dirty="0" err="1">
                <a:solidFill>
                  <a:schemeClr val="tx1"/>
                </a:solidFill>
                <a:effectLst/>
                <a:latin typeface="+mn-lt"/>
                <a:ea typeface="+mn-ea"/>
                <a:cs typeface="+mn-cs"/>
              </a:rPr>
              <a:t>dst</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中。例如，</a:t>
            </a:r>
            <a:r>
              <a:rPr lang="en-US" altLang="zh-CN" sz="1200" kern="1200" dirty="0">
                <a:solidFill>
                  <a:schemeClr val="tx1"/>
                </a:solidFill>
                <a:effectLst/>
                <a:latin typeface="+mn-lt"/>
                <a:ea typeface="+mn-ea"/>
                <a:cs typeface="+mn-cs"/>
              </a:rPr>
              <a:t> SUB r1 ;r2 ;r3 </a:t>
            </a:r>
            <a:r>
              <a:rPr lang="zh-CN" altLang="zh-CN" sz="1200" kern="1200" dirty="0">
                <a:solidFill>
                  <a:schemeClr val="tx1"/>
                </a:solidFill>
                <a:effectLst/>
                <a:latin typeface="+mn-lt"/>
                <a:ea typeface="+mn-ea"/>
                <a:cs typeface="+mn-cs"/>
              </a:rPr>
              <a:t>计算</a:t>
            </a:r>
            <a:r>
              <a:rPr lang="en-US" altLang="zh-CN" sz="1200" kern="1200" dirty="0">
                <a:solidFill>
                  <a:schemeClr val="tx1"/>
                </a:solidFill>
                <a:effectLst/>
                <a:latin typeface="+mn-lt"/>
                <a:ea typeface="+mn-ea"/>
                <a:cs typeface="+mn-cs"/>
              </a:rPr>
              <a:t> r1 = r2- r3 </a:t>
            </a:r>
            <a:r>
              <a:rPr lang="zh-CN" altLang="zh-CN" sz="1200" kern="1200" dirty="0">
                <a:solidFill>
                  <a:schemeClr val="tx1"/>
                </a:solidFill>
                <a:effectLst/>
                <a:latin typeface="+mn-lt"/>
                <a:ea typeface="+mn-ea"/>
                <a:cs typeface="+mn-cs"/>
              </a:rPr>
              <a:t>。先前存储在</a:t>
            </a:r>
            <a:r>
              <a:rPr lang="en-US" altLang="zh-CN" sz="1200" kern="1200" dirty="0">
                <a:solidFill>
                  <a:schemeClr val="tx1"/>
                </a:solidFill>
                <a:effectLst/>
                <a:latin typeface="+mn-lt"/>
                <a:ea typeface="+mn-ea"/>
                <a:cs typeface="+mn-cs"/>
              </a:rPr>
              <a:t> r1 </a:t>
            </a:r>
            <a:r>
              <a:rPr lang="zh-CN" altLang="zh-CN" sz="1200" kern="1200" dirty="0">
                <a:solidFill>
                  <a:schemeClr val="tx1"/>
                </a:solidFill>
                <a:effectLst/>
                <a:latin typeface="+mn-lt"/>
                <a:ea typeface="+mn-ea"/>
                <a:cs typeface="+mn-cs"/>
              </a:rPr>
              <a:t>中的任何值丢失了，但如果</a:t>
            </a:r>
            <a:r>
              <a:rPr lang="en-US" altLang="zh-CN" sz="1200" kern="1200" dirty="0">
                <a:solidFill>
                  <a:schemeClr val="tx1"/>
                </a:solidFill>
                <a:effectLst/>
                <a:latin typeface="+mn-lt"/>
                <a:ea typeface="+mn-ea"/>
                <a:cs typeface="+mn-cs"/>
              </a:rPr>
              <a:t> r1 </a:t>
            </a:r>
            <a:r>
              <a:rPr lang="zh-CN" altLang="zh-CN" sz="1200" kern="1200" dirty="0">
                <a:solidFill>
                  <a:schemeClr val="tx1"/>
                </a:solidFill>
                <a:effectLst/>
                <a:latin typeface="+mn-lt"/>
                <a:ea typeface="+mn-ea"/>
                <a:cs typeface="+mn-cs"/>
              </a:rPr>
              <a:t>等于</a:t>
            </a:r>
            <a:r>
              <a:rPr lang="en-US" altLang="zh-CN" sz="1200" kern="1200" dirty="0">
                <a:solidFill>
                  <a:schemeClr val="tx1"/>
                </a:solidFill>
                <a:effectLst/>
                <a:latin typeface="+mn-lt"/>
                <a:ea typeface="+mn-ea"/>
                <a:cs typeface="+mn-cs"/>
              </a:rPr>
              <a:t> r2 </a:t>
            </a:r>
            <a:r>
              <a:rPr lang="zh-CN" altLang="zh-CN" sz="1200" kern="1200" dirty="0">
                <a:solidFill>
                  <a:schemeClr val="tx1"/>
                </a:solidFill>
                <a:effectLst/>
                <a:latin typeface="+mn-lt"/>
                <a:ea typeface="+mn-ea"/>
                <a:cs typeface="+mn-cs"/>
              </a:rPr>
              <a:t>或</a:t>
            </a:r>
            <a:r>
              <a:rPr lang="en-US" altLang="zh-CN" sz="1200" kern="1200" dirty="0">
                <a:solidFill>
                  <a:schemeClr val="tx1"/>
                </a:solidFill>
                <a:effectLst/>
                <a:latin typeface="+mn-lt"/>
                <a:ea typeface="+mn-ea"/>
                <a:cs typeface="+mn-cs"/>
              </a:rPr>
              <a:t> r3 </a:t>
            </a:r>
            <a:r>
              <a:rPr lang="zh-CN" altLang="zh-CN" sz="1200" kern="1200" dirty="0">
                <a:solidFill>
                  <a:schemeClr val="tx1"/>
                </a:solidFill>
                <a:effectLst/>
                <a:latin typeface="+mn-lt"/>
                <a:ea typeface="+mn-ea"/>
                <a:cs typeface="+mn-cs"/>
              </a:rPr>
              <a:t>，则计算机首先读取原来的值。只需要一个运算分量的单目运算符没有</a:t>
            </a:r>
            <a:r>
              <a:rPr lang="en-US" altLang="zh-CN" sz="1200" kern="1200" dirty="0">
                <a:solidFill>
                  <a:schemeClr val="tx1"/>
                </a:solidFill>
                <a:effectLst/>
                <a:latin typeface="+mn-lt"/>
                <a:ea typeface="+mn-ea"/>
                <a:cs typeface="+mn-cs"/>
              </a:rPr>
              <a:t>src2</a:t>
            </a:r>
            <a:r>
              <a:rPr lang="zh-CN" altLang="zh-CN" sz="1200" kern="1200" dirty="0">
                <a:solidFill>
                  <a:schemeClr val="tx1"/>
                </a:solidFill>
                <a:effectLst/>
                <a:latin typeface="+mn-lt"/>
                <a:ea typeface="+mn-ea"/>
                <a:cs typeface="+mn-cs"/>
              </a:rPr>
              <a:t>。</a:t>
            </a:r>
          </a:p>
          <a:p>
            <a:pPr marL="171450" indent="-171450">
              <a:buFont typeface="Arial" panose="020B0604020202020204" pitchFamily="34" charset="0"/>
              <a:buChar char="•"/>
            </a:pP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无条件跳转：指令</a:t>
            </a:r>
            <a:r>
              <a:rPr lang="en-US" altLang="zh-CN" sz="1200" kern="1200" dirty="0">
                <a:solidFill>
                  <a:schemeClr val="tx1"/>
                </a:solidFill>
                <a:effectLst/>
                <a:latin typeface="+mn-lt"/>
                <a:ea typeface="+mn-ea"/>
                <a:cs typeface="+mn-cs"/>
              </a:rPr>
              <a:t> BR L </a:t>
            </a:r>
            <a:r>
              <a:rPr lang="zh-CN" altLang="zh-CN" sz="1200" kern="1200" dirty="0">
                <a:solidFill>
                  <a:schemeClr val="tx1"/>
                </a:solidFill>
                <a:effectLst/>
                <a:latin typeface="+mn-lt"/>
                <a:ea typeface="+mn-ea"/>
                <a:cs typeface="+mn-cs"/>
              </a:rPr>
              <a:t>使控制转移到带有 标号</a:t>
            </a:r>
            <a:r>
              <a:rPr lang="en-US" altLang="zh-CN" sz="1200" kern="1200" dirty="0">
                <a:solidFill>
                  <a:schemeClr val="tx1"/>
                </a:solidFill>
                <a:effectLst/>
                <a:latin typeface="+mn-lt"/>
                <a:ea typeface="+mn-ea"/>
                <a:cs typeface="+mn-cs"/>
              </a:rPr>
              <a:t> L </a:t>
            </a:r>
            <a:r>
              <a:rPr lang="zh-CN" altLang="zh-CN" sz="1200" kern="1200" dirty="0">
                <a:solidFill>
                  <a:schemeClr val="tx1"/>
                </a:solidFill>
                <a:effectLst/>
                <a:latin typeface="+mn-lt"/>
                <a:ea typeface="+mn-ea"/>
                <a:cs typeface="+mn-cs"/>
              </a:rPr>
              <a:t>的机器指令。（</a:t>
            </a:r>
            <a:r>
              <a:rPr lang="en-US" altLang="zh-CN" sz="1200" kern="1200" dirty="0">
                <a:solidFill>
                  <a:schemeClr val="tx1"/>
                </a:solidFill>
                <a:effectLst/>
                <a:latin typeface="+mn-lt"/>
                <a:ea typeface="+mn-ea"/>
                <a:cs typeface="+mn-cs"/>
              </a:rPr>
              <a:t>BR </a:t>
            </a:r>
            <a:r>
              <a:rPr lang="zh-CN" altLang="zh-CN" sz="1200" kern="1200" dirty="0">
                <a:solidFill>
                  <a:schemeClr val="tx1"/>
                </a:solidFill>
                <a:effectLst/>
                <a:latin typeface="+mn-lt"/>
                <a:ea typeface="+mn-ea"/>
                <a:cs typeface="+mn-cs"/>
              </a:rPr>
              <a:t>代表分支。）</a:t>
            </a:r>
          </a:p>
          <a:p>
            <a:pPr marL="171450" indent="-171450">
              <a:buFont typeface="Arial" panose="020B0604020202020204" pitchFamily="34" charset="0"/>
              <a:buChar char="•"/>
            </a:pPr>
            <a:r>
              <a:rPr lang="zh-CN" altLang="zh-CN" sz="1200" kern="1200" dirty="0">
                <a:solidFill>
                  <a:schemeClr val="tx1"/>
                </a:solidFill>
                <a:effectLst/>
                <a:latin typeface="+mn-lt"/>
                <a:ea typeface="+mn-ea"/>
                <a:cs typeface="+mn-cs"/>
              </a:rPr>
              <a:t>条件跳转：形式为</a:t>
            </a:r>
            <a:r>
              <a:rPr lang="en-US" altLang="zh-CN" sz="1200" kern="1200" dirty="0">
                <a:solidFill>
                  <a:schemeClr val="tx1"/>
                </a:solidFill>
                <a:effectLst/>
                <a:latin typeface="+mn-lt"/>
                <a:ea typeface="+mn-ea"/>
                <a:cs typeface="+mn-cs"/>
              </a:rPr>
              <a:t> </a:t>
            </a:r>
            <a:r>
              <a:rPr lang="en-US" altLang="zh-CN" sz="1200" kern="1200" dirty="0" err="1">
                <a:solidFill>
                  <a:schemeClr val="tx1"/>
                </a:solidFill>
                <a:effectLst/>
                <a:latin typeface="+mn-lt"/>
                <a:ea typeface="+mn-ea"/>
                <a:cs typeface="+mn-cs"/>
              </a:rPr>
              <a:t>Bcond</a:t>
            </a:r>
            <a:r>
              <a:rPr lang="en-US" altLang="zh-CN" sz="1200" kern="1200" dirty="0">
                <a:solidFill>
                  <a:schemeClr val="tx1"/>
                </a:solidFill>
                <a:effectLst/>
                <a:latin typeface="+mn-lt"/>
                <a:ea typeface="+mn-ea"/>
                <a:cs typeface="+mn-cs"/>
              </a:rPr>
              <a:t> </a:t>
            </a:r>
            <a:r>
              <a:rPr lang="en-US" altLang="zh-CN" sz="1200" kern="1200" dirty="0" err="1">
                <a:solidFill>
                  <a:schemeClr val="tx1"/>
                </a:solidFill>
                <a:effectLst/>
                <a:latin typeface="+mn-lt"/>
                <a:ea typeface="+mn-ea"/>
                <a:cs typeface="+mn-cs"/>
              </a:rPr>
              <a:t>r,L</a:t>
            </a:r>
            <a:r>
              <a:rPr lang="zh-CN" altLang="zh-CN" sz="1200" kern="1200" dirty="0">
                <a:solidFill>
                  <a:schemeClr val="tx1"/>
                </a:solidFill>
                <a:effectLst/>
                <a:latin typeface="+mn-lt"/>
                <a:ea typeface="+mn-ea"/>
                <a:cs typeface="+mn-cs"/>
              </a:rPr>
              <a:t>，其中</a:t>
            </a:r>
            <a:r>
              <a:rPr lang="en-US" altLang="zh-CN" sz="1200" kern="1200" dirty="0">
                <a:solidFill>
                  <a:schemeClr val="tx1"/>
                </a:solidFill>
                <a:effectLst/>
                <a:latin typeface="+mn-lt"/>
                <a:ea typeface="+mn-ea"/>
                <a:cs typeface="+mn-cs"/>
              </a:rPr>
              <a:t> r </a:t>
            </a:r>
            <a:r>
              <a:rPr lang="zh-CN" altLang="zh-CN" sz="1200" kern="1200" dirty="0">
                <a:solidFill>
                  <a:schemeClr val="tx1"/>
                </a:solidFill>
                <a:effectLst/>
                <a:latin typeface="+mn-lt"/>
                <a:ea typeface="+mn-ea"/>
                <a:cs typeface="+mn-cs"/>
              </a:rPr>
              <a:t>是寄存器，</a:t>
            </a:r>
            <a:r>
              <a:rPr lang="en-US" altLang="zh-CN" sz="1200" kern="1200" dirty="0">
                <a:solidFill>
                  <a:schemeClr val="tx1"/>
                </a:solidFill>
                <a:effectLst/>
                <a:latin typeface="+mn-lt"/>
                <a:ea typeface="+mn-ea"/>
                <a:cs typeface="+mn-cs"/>
              </a:rPr>
              <a:t>L </a:t>
            </a:r>
            <a:r>
              <a:rPr lang="zh-CN" altLang="zh-CN" sz="1200" kern="1200" dirty="0">
                <a:solidFill>
                  <a:schemeClr val="tx1"/>
                </a:solidFill>
                <a:effectLst/>
                <a:latin typeface="+mn-lt"/>
                <a:ea typeface="+mn-ea"/>
                <a:cs typeface="+mn-cs"/>
              </a:rPr>
              <a:t>是一个标号，而</a:t>
            </a:r>
            <a:r>
              <a:rPr lang="en-US" altLang="zh-CN" sz="1200" kern="1200" dirty="0" err="1">
                <a:solidFill>
                  <a:schemeClr val="tx1"/>
                </a:solidFill>
                <a:effectLst/>
                <a:latin typeface="+mn-lt"/>
                <a:ea typeface="+mn-ea"/>
                <a:cs typeface="+mn-cs"/>
              </a:rPr>
              <a:t>cond</a:t>
            </a:r>
            <a:r>
              <a:rPr lang="zh-CN" altLang="zh-CN" sz="1200" kern="1200" dirty="0">
                <a:solidFill>
                  <a:schemeClr val="tx1"/>
                </a:solidFill>
                <a:effectLst/>
                <a:latin typeface="+mn-lt"/>
                <a:ea typeface="+mn-ea"/>
                <a:cs typeface="+mn-cs"/>
              </a:rPr>
              <a:t>代表对寄存器</a:t>
            </a:r>
            <a:r>
              <a:rPr lang="en-US" altLang="zh-CN" sz="1200" kern="1200" dirty="0">
                <a:solidFill>
                  <a:schemeClr val="tx1"/>
                </a:solidFill>
                <a:effectLst/>
                <a:latin typeface="+mn-lt"/>
                <a:ea typeface="+mn-ea"/>
                <a:cs typeface="+mn-cs"/>
              </a:rPr>
              <a:t> r </a:t>
            </a:r>
            <a:r>
              <a:rPr lang="zh-CN" altLang="zh-CN" sz="1200" kern="1200" dirty="0">
                <a:solidFill>
                  <a:schemeClr val="tx1"/>
                </a:solidFill>
                <a:effectLst/>
                <a:latin typeface="+mn-lt"/>
                <a:ea typeface="+mn-ea"/>
                <a:cs typeface="+mn-cs"/>
              </a:rPr>
              <a:t>中的值所做的的某个常见测试。例如，如果寄存器</a:t>
            </a:r>
            <a:r>
              <a:rPr lang="en-US" altLang="zh-CN" sz="1200" kern="1200" dirty="0">
                <a:solidFill>
                  <a:schemeClr val="tx1"/>
                </a:solidFill>
                <a:effectLst/>
                <a:latin typeface="+mn-lt"/>
                <a:ea typeface="+mn-ea"/>
                <a:cs typeface="+mn-cs"/>
              </a:rPr>
              <a:t> r </a:t>
            </a:r>
            <a:r>
              <a:rPr lang="zh-CN" altLang="zh-CN" sz="1200" kern="1200" dirty="0">
                <a:solidFill>
                  <a:schemeClr val="tx1"/>
                </a:solidFill>
                <a:effectLst/>
                <a:latin typeface="+mn-lt"/>
                <a:ea typeface="+mn-ea"/>
                <a:cs typeface="+mn-cs"/>
              </a:rPr>
              <a:t>中的值小于零，</a:t>
            </a:r>
            <a:r>
              <a:rPr lang="en-US" altLang="zh-CN" sz="1200" kern="1200" dirty="0">
                <a:solidFill>
                  <a:schemeClr val="tx1"/>
                </a:solidFill>
                <a:effectLst/>
                <a:latin typeface="+mn-lt"/>
                <a:ea typeface="+mn-ea"/>
                <a:cs typeface="+mn-cs"/>
              </a:rPr>
              <a:t>BLTZ </a:t>
            </a:r>
            <a:r>
              <a:rPr lang="en-US" altLang="zh-CN" sz="1200" kern="1200" dirty="0" err="1">
                <a:solidFill>
                  <a:schemeClr val="tx1"/>
                </a:solidFill>
                <a:effectLst/>
                <a:latin typeface="+mn-lt"/>
                <a:ea typeface="+mn-ea"/>
                <a:cs typeface="+mn-cs"/>
              </a:rPr>
              <a:t>r,L</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会导致控制跳转到标号</a:t>
            </a:r>
            <a:r>
              <a:rPr lang="en-US" altLang="zh-CN" sz="1200" kern="1200" dirty="0">
                <a:solidFill>
                  <a:schemeClr val="tx1"/>
                </a:solidFill>
                <a:effectLst/>
                <a:latin typeface="+mn-lt"/>
                <a:ea typeface="+mn-ea"/>
                <a:cs typeface="+mn-cs"/>
              </a:rPr>
              <a:t>L</a:t>
            </a:r>
            <a:r>
              <a:rPr lang="zh-CN" altLang="zh-CN" sz="1200" kern="1200" dirty="0">
                <a:solidFill>
                  <a:schemeClr val="tx1"/>
                </a:solidFill>
                <a:effectLst/>
                <a:latin typeface="+mn-lt"/>
                <a:ea typeface="+mn-ea"/>
                <a:cs typeface="+mn-cs"/>
              </a:rPr>
              <a:t>，如果不小于零，则允许控制传递到下一条机器指令。</a:t>
            </a:r>
          </a:p>
          <a:p>
            <a:endParaRPr lang="en-US" altLang="zh-CN" sz="1200" kern="1200" dirty="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6</a:t>
            </a:fld>
            <a:endParaRPr lang="zh-CN" altLang="en-US"/>
          </a:p>
        </p:txBody>
      </p:sp>
    </p:spTree>
    <p:extLst>
      <p:ext uri="{BB962C8B-B14F-4D97-AF65-F5344CB8AC3E}">
        <p14:creationId xmlns:p14="http://schemas.microsoft.com/office/powerpoint/2010/main" val="296416073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我们假设我们的目标机器有多种寻址模式：</a:t>
            </a:r>
          </a:p>
          <a:p>
            <a:pPr marL="171450" indent="-171450">
              <a:buFont typeface="Arial" panose="020B0604020202020204" pitchFamily="34" charset="0"/>
              <a:buChar char="•"/>
            </a:pPr>
            <a:r>
              <a:rPr lang="zh-CN" altLang="zh-CN" sz="1200" kern="1200" dirty="0">
                <a:solidFill>
                  <a:schemeClr val="tx1"/>
                </a:solidFill>
                <a:effectLst/>
                <a:latin typeface="+mn-lt"/>
                <a:ea typeface="+mn-ea"/>
                <a:cs typeface="+mn-cs"/>
              </a:rPr>
              <a:t>在指令中，一个位置可以是变量名</a:t>
            </a:r>
            <a:r>
              <a:rPr lang="en-US" altLang="zh-CN" sz="1200" kern="1200" dirty="0">
                <a:solidFill>
                  <a:schemeClr val="tx1"/>
                </a:solidFill>
                <a:effectLst/>
                <a:latin typeface="+mn-lt"/>
                <a:ea typeface="+mn-ea"/>
                <a:cs typeface="+mn-cs"/>
              </a:rPr>
              <a:t>x</a:t>
            </a:r>
            <a:r>
              <a:rPr lang="zh-CN" altLang="zh-CN" sz="1200" kern="1200" dirty="0">
                <a:solidFill>
                  <a:schemeClr val="tx1"/>
                </a:solidFill>
                <a:effectLst/>
                <a:latin typeface="+mn-lt"/>
                <a:ea typeface="+mn-ea"/>
                <a:cs typeface="+mn-cs"/>
              </a:rPr>
              <a:t>，它指向分配给</a:t>
            </a:r>
            <a:r>
              <a:rPr lang="en-US" altLang="zh-CN" sz="1200" kern="1200" dirty="0">
                <a:solidFill>
                  <a:schemeClr val="tx1"/>
                </a:solidFill>
                <a:effectLst/>
                <a:latin typeface="+mn-lt"/>
                <a:ea typeface="+mn-ea"/>
                <a:cs typeface="+mn-cs"/>
              </a:rPr>
              <a:t>x</a:t>
            </a:r>
            <a:r>
              <a:rPr lang="zh-CN" altLang="zh-CN" sz="1200" kern="1200" dirty="0">
                <a:solidFill>
                  <a:schemeClr val="tx1"/>
                </a:solidFill>
                <a:effectLst/>
                <a:latin typeface="+mn-lt"/>
                <a:ea typeface="+mn-ea"/>
                <a:cs typeface="+mn-cs"/>
              </a:rPr>
              <a:t>的内存位置（即</a:t>
            </a:r>
            <a:r>
              <a:rPr lang="en-US" altLang="zh-CN" sz="1200" kern="1200" dirty="0">
                <a:solidFill>
                  <a:schemeClr val="tx1"/>
                </a:solidFill>
                <a:effectLst/>
                <a:latin typeface="+mn-lt"/>
                <a:ea typeface="+mn-ea"/>
                <a:cs typeface="+mn-cs"/>
              </a:rPr>
              <a:t>x</a:t>
            </a:r>
            <a:r>
              <a:rPr lang="zh-CN" altLang="zh-CN" sz="1200" kern="1200" dirty="0">
                <a:solidFill>
                  <a:schemeClr val="tx1"/>
                </a:solidFill>
                <a:effectLst/>
                <a:latin typeface="+mn-lt"/>
                <a:ea typeface="+mn-ea"/>
                <a:cs typeface="+mn-cs"/>
              </a:rPr>
              <a:t>的左值）。</a:t>
            </a:r>
          </a:p>
          <a:p>
            <a:pPr marL="171450" indent="-171450">
              <a:buFont typeface="Arial" panose="020B0604020202020204" pitchFamily="34" charset="0"/>
              <a:buChar char="•"/>
            </a:pPr>
            <a:r>
              <a:rPr lang="zh-CN" altLang="zh-CN" sz="1200" kern="1200" dirty="0">
                <a:solidFill>
                  <a:schemeClr val="tx1"/>
                </a:solidFill>
                <a:effectLst/>
                <a:latin typeface="+mn-lt"/>
                <a:ea typeface="+mn-ea"/>
                <a:cs typeface="+mn-cs"/>
              </a:rPr>
              <a:t>位置也可以是 一个带有下标的形如</a:t>
            </a:r>
            <a:r>
              <a:rPr lang="en-US" altLang="zh-CN" sz="1200" kern="1200" dirty="0">
                <a:solidFill>
                  <a:schemeClr val="tx1"/>
                </a:solidFill>
                <a:effectLst/>
                <a:latin typeface="+mn-lt"/>
                <a:ea typeface="+mn-ea"/>
                <a:cs typeface="+mn-cs"/>
              </a:rPr>
              <a:t>a(r)</a:t>
            </a:r>
            <a:r>
              <a:rPr lang="zh-CN" altLang="zh-CN" sz="1200" kern="1200" dirty="0">
                <a:solidFill>
                  <a:schemeClr val="tx1"/>
                </a:solidFill>
                <a:effectLst/>
                <a:latin typeface="+mn-lt"/>
                <a:ea typeface="+mn-ea"/>
                <a:cs typeface="+mn-cs"/>
              </a:rPr>
              <a:t>的地址，其中</a:t>
            </a:r>
            <a:r>
              <a:rPr lang="en-US" altLang="zh-CN" sz="1200" kern="1200" dirty="0">
                <a:solidFill>
                  <a:schemeClr val="tx1"/>
                </a:solidFill>
                <a:effectLst/>
                <a:latin typeface="+mn-lt"/>
                <a:ea typeface="+mn-ea"/>
                <a:cs typeface="+mn-cs"/>
              </a:rPr>
              <a:t> a </a:t>
            </a:r>
            <a:r>
              <a:rPr lang="zh-CN" altLang="zh-CN" sz="1200" kern="1200" dirty="0">
                <a:solidFill>
                  <a:schemeClr val="tx1"/>
                </a:solidFill>
                <a:effectLst/>
                <a:latin typeface="+mn-lt"/>
                <a:ea typeface="+mn-ea"/>
                <a:cs typeface="+mn-cs"/>
              </a:rPr>
              <a:t>是变量，</a:t>
            </a:r>
            <a:r>
              <a:rPr lang="en-US" altLang="zh-CN" sz="1200" kern="1200" dirty="0">
                <a:solidFill>
                  <a:schemeClr val="tx1"/>
                </a:solidFill>
                <a:effectLst/>
                <a:latin typeface="+mn-lt"/>
                <a:ea typeface="+mn-ea"/>
                <a:cs typeface="+mn-cs"/>
              </a:rPr>
              <a:t>r </a:t>
            </a:r>
            <a:r>
              <a:rPr lang="zh-CN" altLang="zh-CN" sz="1200" kern="1200" dirty="0">
                <a:solidFill>
                  <a:schemeClr val="tx1"/>
                </a:solidFill>
                <a:effectLst/>
                <a:latin typeface="+mn-lt"/>
                <a:ea typeface="+mn-ea"/>
                <a:cs typeface="+mn-cs"/>
              </a:rPr>
              <a:t>是寄存器。</a:t>
            </a:r>
            <a:r>
              <a:rPr lang="en-US" altLang="zh-CN" sz="1200" kern="1200" dirty="0">
                <a:solidFill>
                  <a:schemeClr val="tx1"/>
                </a:solidFill>
                <a:effectLst/>
                <a:latin typeface="+mn-lt"/>
                <a:ea typeface="+mn-ea"/>
                <a:cs typeface="+mn-cs"/>
              </a:rPr>
              <a:t> a(r) </a:t>
            </a:r>
            <a:r>
              <a:rPr lang="zh-CN" altLang="zh-CN" sz="1200" kern="1200" dirty="0">
                <a:solidFill>
                  <a:schemeClr val="tx1"/>
                </a:solidFill>
                <a:effectLst/>
                <a:latin typeface="+mn-lt"/>
                <a:ea typeface="+mn-ea"/>
                <a:cs typeface="+mn-cs"/>
              </a:rPr>
              <a:t>表示的内存位置是通过获取</a:t>
            </a:r>
            <a:r>
              <a:rPr lang="en-US" altLang="zh-CN" sz="1200" kern="1200" dirty="0">
                <a:solidFill>
                  <a:schemeClr val="tx1"/>
                </a:solidFill>
                <a:effectLst/>
                <a:latin typeface="+mn-lt"/>
                <a:ea typeface="+mn-ea"/>
                <a:cs typeface="+mn-cs"/>
              </a:rPr>
              <a:t> a </a:t>
            </a:r>
            <a:r>
              <a:rPr lang="zh-CN" altLang="zh-CN" sz="1200" kern="1200" dirty="0">
                <a:solidFill>
                  <a:schemeClr val="tx1"/>
                </a:solidFill>
                <a:effectLst/>
                <a:latin typeface="+mn-lt"/>
                <a:ea typeface="+mn-ea"/>
                <a:cs typeface="+mn-cs"/>
              </a:rPr>
              <a:t>的左值加上存放在寄存器</a:t>
            </a:r>
            <a:r>
              <a:rPr lang="en-US" altLang="zh-CN" sz="1200" kern="1200" dirty="0">
                <a:solidFill>
                  <a:schemeClr val="tx1"/>
                </a:solidFill>
                <a:effectLst/>
                <a:latin typeface="+mn-lt"/>
                <a:ea typeface="+mn-ea"/>
                <a:cs typeface="+mn-cs"/>
              </a:rPr>
              <a:t> r </a:t>
            </a:r>
            <a:r>
              <a:rPr lang="zh-CN" altLang="zh-CN" sz="1200" kern="1200" dirty="0">
                <a:solidFill>
                  <a:schemeClr val="tx1"/>
                </a:solidFill>
                <a:effectLst/>
                <a:latin typeface="+mn-lt"/>
                <a:ea typeface="+mn-ea"/>
                <a:cs typeface="+mn-cs"/>
              </a:rPr>
              <a:t>中的值来计算的。例如，指令</a:t>
            </a:r>
            <a:r>
              <a:rPr lang="en-US" altLang="zh-CN" sz="1200" kern="1200" dirty="0">
                <a:solidFill>
                  <a:schemeClr val="tx1"/>
                </a:solidFill>
                <a:effectLst/>
                <a:latin typeface="+mn-lt"/>
                <a:ea typeface="+mn-ea"/>
                <a:cs typeface="+mn-cs"/>
              </a:rPr>
              <a:t>LD R1,a(R2)</a:t>
            </a:r>
            <a:r>
              <a:rPr lang="zh-CN" altLang="zh-CN" sz="1200" kern="1200" dirty="0">
                <a:solidFill>
                  <a:schemeClr val="tx1"/>
                </a:solidFill>
                <a:effectLst/>
                <a:latin typeface="+mn-lt"/>
                <a:ea typeface="+mn-ea"/>
                <a:cs typeface="+mn-cs"/>
              </a:rPr>
              <a:t>的效果是</a:t>
            </a:r>
            <a:r>
              <a:rPr lang="en-US" altLang="zh-CN" sz="1200" kern="1200" dirty="0">
                <a:solidFill>
                  <a:schemeClr val="tx1"/>
                </a:solidFill>
                <a:effectLst/>
                <a:latin typeface="+mn-lt"/>
                <a:ea typeface="+mn-ea"/>
                <a:cs typeface="+mn-cs"/>
              </a:rPr>
              <a:t>R1=contents(</a:t>
            </a:r>
            <a:r>
              <a:rPr lang="en-US" altLang="zh-CN" sz="1200" kern="1200" dirty="0" err="1">
                <a:solidFill>
                  <a:schemeClr val="tx1"/>
                </a:solidFill>
                <a:effectLst/>
                <a:latin typeface="+mn-lt"/>
                <a:ea typeface="+mn-ea"/>
                <a:cs typeface="+mn-cs"/>
              </a:rPr>
              <a:t>a+contents</a:t>
            </a:r>
            <a:r>
              <a:rPr lang="en-US" altLang="zh-CN" sz="1200" kern="1200" dirty="0">
                <a:solidFill>
                  <a:schemeClr val="tx1"/>
                </a:solidFill>
                <a:effectLst/>
                <a:latin typeface="+mn-lt"/>
                <a:ea typeface="+mn-ea"/>
                <a:cs typeface="+mn-cs"/>
              </a:rPr>
              <a:t>(R2))</a:t>
            </a:r>
            <a:r>
              <a:rPr lang="zh-CN" altLang="zh-CN" sz="1200" kern="1200" dirty="0">
                <a:solidFill>
                  <a:schemeClr val="tx1"/>
                </a:solidFill>
                <a:effectLst/>
                <a:latin typeface="+mn-lt"/>
                <a:ea typeface="+mn-ea"/>
                <a:cs typeface="+mn-cs"/>
              </a:rPr>
              <a:t>，其中</a:t>
            </a:r>
            <a:r>
              <a:rPr lang="en-US" altLang="zh-CN" sz="1200" kern="1200" dirty="0">
                <a:solidFill>
                  <a:schemeClr val="tx1"/>
                </a:solidFill>
                <a:effectLst/>
                <a:latin typeface="+mn-lt"/>
                <a:ea typeface="+mn-ea"/>
                <a:cs typeface="+mn-cs"/>
              </a:rPr>
              <a:t>contents(x)</a:t>
            </a:r>
            <a:r>
              <a:rPr lang="zh-CN" altLang="zh-CN" sz="1200" kern="1200" dirty="0">
                <a:solidFill>
                  <a:schemeClr val="tx1"/>
                </a:solidFill>
                <a:effectLst/>
                <a:latin typeface="+mn-lt"/>
                <a:ea typeface="+mn-ea"/>
                <a:cs typeface="+mn-cs"/>
              </a:rPr>
              <a:t>表示由</a:t>
            </a:r>
            <a:r>
              <a:rPr lang="en-US" altLang="zh-CN" sz="1200" kern="1200" dirty="0">
                <a:solidFill>
                  <a:schemeClr val="tx1"/>
                </a:solidFill>
                <a:effectLst/>
                <a:latin typeface="+mn-lt"/>
                <a:ea typeface="+mn-ea"/>
                <a:cs typeface="+mn-cs"/>
              </a:rPr>
              <a:t>x</a:t>
            </a:r>
            <a:r>
              <a:rPr lang="zh-CN" altLang="zh-CN" sz="1200" kern="1200" dirty="0">
                <a:solidFill>
                  <a:schemeClr val="tx1"/>
                </a:solidFill>
                <a:effectLst/>
                <a:latin typeface="+mn-lt"/>
                <a:ea typeface="+mn-ea"/>
                <a:cs typeface="+mn-cs"/>
              </a:rPr>
              <a:t>所表示的寄存器或内存位置中存放的内容。这个寻址模式对于访问数组很有用，其中</a:t>
            </a:r>
            <a:r>
              <a:rPr lang="en-US" altLang="zh-CN" sz="1200" kern="1200" dirty="0">
                <a:solidFill>
                  <a:schemeClr val="tx1"/>
                </a:solidFill>
                <a:effectLst/>
                <a:latin typeface="+mn-lt"/>
                <a:ea typeface="+mn-ea"/>
                <a:cs typeface="+mn-cs"/>
              </a:rPr>
              <a:t> a </a:t>
            </a:r>
            <a:r>
              <a:rPr lang="zh-CN" altLang="zh-CN" sz="1200" kern="1200" dirty="0">
                <a:solidFill>
                  <a:schemeClr val="tx1"/>
                </a:solidFill>
                <a:effectLst/>
                <a:latin typeface="+mn-lt"/>
                <a:ea typeface="+mn-ea"/>
                <a:cs typeface="+mn-cs"/>
              </a:rPr>
              <a:t>是数组的基地址（即第一个元素的地址），</a:t>
            </a:r>
            <a:r>
              <a:rPr lang="en-US" altLang="zh-CN" sz="1200" kern="1200" dirty="0">
                <a:solidFill>
                  <a:schemeClr val="tx1"/>
                </a:solidFill>
                <a:effectLst/>
                <a:latin typeface="+mn-lt"/>
                <a:ea typeface="+mn-ea"/>
                <a:cs typeface="+mn-cs"/>
              </a:rPr>
              <a:t>r </a:t>
            </a:r>
            <a:r>
              <a:rPr lang="zh-CN" altLang="zh-CN" sz="1200" kern="1200" dirty="0">
                <a:solidFill>
                  <a:schemeClr val="tx1"/>
                </a:solidFill>
                <a:effectLst/>
                <a:latin typeface="+mn-lt"/>
                <a:ea typeface="+mn-ea"/>
                <a:cs typeface="+mn-cs"/>
              </a:rPr>
              <a:t>保存从基地址到数组</a:t>
            </a:r>
            <a:r>
              <a:rPr lang="en-US" altLang="zh-CN" sz="1200" kern="1200" dirty="0">
                <a:solidFill>
                  <a:schemeClr val="tx1"/>
                </a:solidFill>
                <a:effectLst/>
                <a:latin typeface="+mn-lt"/>
                <a:ea typeface="+mn-ea"/>
                <a:cs typeface="+mn-cs"/>
              </a:rPr>
              <a:t> a </a:t>
            </a:r>
            <a:r>
              <a:rPr lang="zh-CN" altLang="zh-CN" sz="1200" kern="1200" dirty="0">
                <a:solidFill>
                  <a:schemeClr val="tx1"/>
                </a:solidFill>
                <a:effectLst/>
                <a:latin typeface="+mn-lt"/>
                <a:ea typeface="+mn-ea"/>
                <a:cs typeface="+mn-cs"/>
              </a:rPr>
              <a:t>的某个元素所要经过的字节数。</a:t>
            </a:r>
          </a:p>
          <a:p>
            <a:endParaRPr lang="zh-CN" altLang="en-US"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7</a:t>
            </a:fld>
            <a:endParaRPr lang="zh-CN" altLang="en-US"/>
          </a:p>
        </p:txBody>
      </p:sp>
    </p:spTree>
    <p:extLst>
      <p:ext uri="{BB962C8B-B14F-4D97-AF65-F5344CB8AC3E}">
        <p14:creationId xmlns:p14="http://schemas.microsoft.com/office/powerpoint/2010/main" val="79731370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我们还支持另两种间接寻址模式：</a:t>
            </a:r>
            <a:endParaRPr lang="en-US" altLang="zh-CN" sz="1200" kern="1200" dirty="0">
              <a:solidFill>
                <a:schemeClr val="tx1"/>
              </a:solidFill>
              <a:effectLst/>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zh-CN" sz="1200" kern="1200" dirty="0">
                <a:solidFill>
                  <a:schemeClr val="tx1"/>
                </a:solidFill>
                <a:effectLst/>
                <a:latin typeface="+mn-lt"/>
                <a:ea typeface="+mn-ea"/>
                <a:cs typeface="+mn-cs"/>
              </a:rPr>
              <a:t> *r </a:t>
            </a:r>
            <a:r>
              <a:rPr lang="zh-CN" altLang="zh-CN" sz="1200" kern="1200" dirty="0">
                <a:solidFill>
                  <a:schemeClr val="tx1"/>
                </a:solidFill>
                <a:effectLst/>
                <a:latin typeface="+mn-lt"/>
                <a:ea typeface="+mn-ea"/>
                <a:cs typeface="+mn-cs"/>
              </a:rPr>
              <a:t>表示在寄存器</a:t>
            </a:r>
            <a:r>
              <a:rPr lang="en-US" altLang="zh-CN" sz="1200" kern="1200" dirty="0">
                <a:solidFill>
                  <a:schemeClr val="tx1"/>
                </a:solidFill>
                <a:effectLst/>
                <a:latin typeface="+mn-lt"/>
                <a:ea typeface="+mn-ea"/>
                <a:cs typeface="+mn-cs"/>
              </a:rPr>
              <a:t> r </a:t>
            </a:r>
            <a:r>
              <a:rPr lang="zh-CN" altLang="zh-CN" sz="1200" kern="1200" dirty="0">
                <a:solidFill>
                  <a:schemeClr val="tx1"/>
                </a:solidFill>
                <a:effectLst/>
                <a:latin typeface="+mn-lt"/>
                <a:ea typeface="+mn-ea"/>
                <a:cs typeface="+mn-cs"/>
              </a:rPr>
              <a:t>的内容所表示的位置上存放的内存位置，</a:t>
            </a:r>
            <a:endParaRPr lang="en-US" altLang="zh-CN" sz="1200" kern="1200" dirty="0">
              <a:solidFill>
                <a:schemeClr val="tx1"/>
              </a:solidFill>
              <a:effectLst/>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zh-CN" sz="1200" kern="1200" dirty="0">
                <a:solidFill>
                  <a:schemeClr val="tx1"/>
                </a:solidFill>
                <a:effectLst/>
                <a:latin typeface="+mn-lt"/>
                <a:ea typeface="+mn-ea"/>
                <a:cs typeface="+mn-cs"/>
              </a:rPr>
              <a:t>*100(r ) </a:t>
            </a:r>
            <a:r>
              <a:rPr lang="zh-CN" altLang="zh-CN" sz="1200" kern="1200" dirty="0">
                <a:solidFill>
                  <a:schemeClr val="tx1"/>
                </a:solidFill>
                <a:effectLst/>
                <a:latin typeface="+mn-lt"/>
                <a:ea typeface="+mn-ea"/>
                <a:cs typeface="+mn-cs"/>
              </a:rPr>
              <a:t>表示在寄存器</a:t>
            </a:r>
            <a:r>
              <a:rPr lang="en-US" altLang="zh-CN" sz="1200" kern="1200" dirty="0">
                <a:solidFill>
                  <a:schemeClr val="tx1"/>
                </a:solidFill>
                <a:effectLst/>
                <a:latin typeface="+mn-lt"/>
                <a:ea typeface="+mn-ea"/>
                <a:cs typeface="+mn-cs"/>
              </a:rPr>
              <a:t> r </a:t>
            </a:r>
            <a:r>
              <a:rPr lang="zh-CN" altLang="zh-CN" sz="1200" kern="1200" dirty="0">
                <a:solidFill>
                  <a:schemeClr val="tx1"/>
                </a:solidFill>
                <a:effectLst/>
                <a:latin typeface="+mn-lt"/>
                <a:ea typeface="+mn-ea"/>
                <a:cs typeface="+mn-cs"/>
              </a:rPr>
              <a:t>的内容加</a:t>
            </a:r>
            <a:r>
              <a:rPr lang="en-US" altLang="zh-CN" sz="1200" kern="1200" dirty="0">
                <a:solidFill>
                  <a:schemeClr val="tx1"/>
                </a:solidFill>
                <a:effectLst/>
                <a:latin typeface="+mn-lt"/>
                <a:ea typeface="+mn-ea"/>
                <a:cs typeface="+mn-cs"/>
              </a:rPr>
              <a:t> 100 </a:t>
            </a:r>
            <a:r>
              <a:rPr lang="zh-CN" altLang="zh-CN" sz="1200" kern="1200" dirty="0">
                <a:solidFill>
                  <a:schemeClr val="tx1"/>
                </a:solidFill>
                <a:effectLst/>
                <a:latin typeface="+mn-lt"/>
                <a:ea typeface="+mn-ea"/>
                <a:cs typeface="+mn-cs"/>
              </a:rPr>
              <a:t>的和所代表的位置上的内容所代表的位置。</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zh-CN" altLang="zh-CN" sz="1200" kern="1200" dirty="0">
                <a:solidFill>
                  <a:schemeClr val="tx1"/>
                </a:solidFill>
                <a:effectLst/>
                <a:latin typeface="+mn-lt"/>
                <a:ea typeface="+mn-ea"/>
                <a:cs typeface="+mn-cs"/>
              </a:rPr>
              <a:t>例如，</a:t>
            </a:r>
            <a:r>
              <a:rPr lang="en-US" altLang="zh-CN" sz="1200" kern="1200" dirty="0">
                <a:solidFill>
                  <a:schemeClr val="tx1"/>
                </a:solidFill>
                <a:effectLst/>
                <a:latin typeface="+mn-lt"/>
                <a:ea typeface="+mn-ea"/>
                <a:cs typeface="+mn-cs"/>
              </a:rPr>
              <a:t>LD R1, *100(R2) </a:t>
            </a:r>
            <a:r>
              <a:rPr lang="zh-CN" altLang="zh-CN" sz="1200" kern="1200" dirty="0">
                <a:solidFill>
                  <a:schemeClr val="tx1"/>
                </a:solidFill>
                <a:effectLst/>
                <a:latin typeface="+mn-lt"/>
                <a:ea typeface="+mn-ea"/>
                <a:cs typeface="+mn-cs"/>
              </a:rPr>
              <a:t>的作用是设置</a:t>
            </a:r>
            <a:r>
              <a:rPr lang="en-US" altLang="zh-CN" sz="1200" kern="1200" dirty="0">
                <a:solidFill>
                  <a:schemeClr val="tx1"/>
                </a:solidFill>
                <a:effectLst/>
                <a:latin typeface="+mn-lt"/>
                <a:ea typeface="+mn-ea"/>
                <a:cs typeface="+mn-cs"/>
              </a:rPr>
              <a:t> R1 =contents(contents(100 +contents(R2)))</a:t>
            </a:r>
            <a:r>
              <a:rPr lang="zh-CN" altLang="zh-CN" sz="1200" kern="1200" dirty="0">
                <a:solidFill>
                  <a:schemeClr val="tx1"/>
                </a:solidFill>
                <a:effectLst/>
                <a:latin typeface="+mn-lt"/>
                <a:ea typeface="+mn-ea"/>
                <a:cs typeface="+mn-cs"/>
              </a:rPr>
              <a:t>，即首先将寄存器</a:t>
            </a:r>
            <a:r>
              <a:rPr lang="en-US" altLang="zh-CN" sz="1200" kern="1200" dirty="0">
                <a:solidFill>
                  <a:schemeClr val="tx1"/>
                </a:solidFill>
                <a:effectLst/>
                <a:latin typeface="+mn-lt"/>
                <a:ea typeface="+mn-ea"/>
                <a:cs typeface="+mn-cs"/>
              </a:rPr>
              <a:t> R2 </a:t>
            </a:r>
            <a:r>
              <a:rPr lang="zh-CN" altLang="zh-CN" sz="1200" kern="1200" dirty="0">
                <a:solidFill>
                  <a:schemeClr val="tx1"/>
                </a:solidFill>
                <a:effectLst/>
                <a:latin typeface="+mn-lt"/>
                <a:ea typeface="+mn-ea"/>
                <a:cs typeface="+mn-cs"/>
              </a:rPr>
              <a:t>中的内容加 上</a:t>
            </a:r>
            <a:r>
              <a:rPr lang="en-US" altLang="zh-CN" sz="1200" kern="1200" dirty="0">
                <a:solidFill>
                  <a:schemeClr val="tx1"/>
                </a:solidFill>
                <a:effectLst/>
                <a:latin typeface="+mn-lt"/>
                <a:ea typeface="+mn-ea"/>
                <a:cs typeface="+mn-cs"/>
              </a:rPr>
              <a:t>100</a:t>
            </a:r>
            <a:r>
              <a:rPr lang="zh-CN" altLang="zh-CN" sz="1200" kern="1200" dirty="0">
                <a:solidFill>
                  <a:schemeClr val="tx1"/>
                </a:solidFill>
                <a:effectLst/>
                <a:latin typeface="+mn-lt"/>
                <a:ea typeface="+mn-ea"/>
                <a:cs typeface="+mn-cs"/>
              </a:rPr>
              <a:t>的和，取出和值所指向位置中的内容，再把这个内容代表的位置中的值加载到</a:t>
            </a:r>
            <a:r>
              <a:rPr lang="en-US" altLang="zh-CN" sz="1200" kern="1200" dirty="0">
                <a:solidFill>
                  <a:schemeClr val="tx1"/>
                </a:solidFill>
                <a:effectLst/>
                <a:latin typeface="+mn-lt"/>
                <a:ea typeface="+mn-ea"/>
                <a:cs typeface="+mn-cs"/>
              </a:rPr>
              <a:t> R1 </a:t>
            </a:r>
            <a:r>
              <a:rPr lang="zh-CN" altLang="zh-CN" sz="1200" kern="1200" dirty="0">
                <a:solidFill>
                  <a:schemeClr val="tx1"/>
                </a:solidFill>
                <a:effectLst/>
                <a:latin typeface="+mn-lt"/>
                <a:ea typeface="+mn-ea"/>
                <a:cs typeface="+mn-cs"/>
              </a:rPr>
              <a:t>中。</a:t>
            </a:r>
            <a:endParaRPr lang="en-US" altLang="zh-CN" sz="1200" kern="1200" dirty="0">
              <a:solidFill>
                <a:schemeClr val="tx1"/>
              </a:solidFill>
              <a:effectLst/>
              <a:latin typeface="+mn-lt"/>
              <a:ea typeface="+mn-ea"/>
              <a:cs typeface="+mn-cs"/>
            </a:endParaRPr>
          </a:p>
          <a:p>
            <a:pPr marL="171450" indent="-171450">
              <a:buFont typeface="Arial" panose="020B0604020202020204" pitchFamily="34" charset="0"/>
              <a:buChar char="•"/>
            </a:pPr>
            <a:r>
              <a:rPr lang="zh-CN" altLang="zh-CN" sz="1200" kern="1200" dirty="0">
                <a:solidFill>
                  <a:schemeClr val="tx1"/>
                </a:solidFill>
                <a:effectLst/>
                <a:latin typeface="+mn-lt"/>
                <a:ea typeface="+mn-ea"/>
                <a:cs typeface="+mn-cs"/>
              </a:rPr>
              <a:t>最后，我们支持一个直接常数寻址模式。该常数以</a:t>
            </a:r>
            <a:r>
              <a:rPr lang="en-US" altLang="zh-CN" sz="1200" kern="1200" dirty="0">
                <a:solidFill>
                  <a:schemeClr val="tx1"/>
                </a:solidFill>
                <a:effectLst/>
                <a:latin typeface="+mn-lt"/>
                <a:ea typeface="+mn-ea"/>
                <a:cs typeface="+mn-cs"/>
              </a:rPr>
              <a:t> # </a:t>
            </a:r>
            <a:r>
              <a:rPr lang="zh-CN" altLang="zh-CN" sz="1200" kern="1200" dirty="0">
                <a:solidFill>
                  <a:schemeClr val="tx1"/>
                </a:solidFill>
                <a:effectLst/>
                <a:latin typeface="+mn-lt"/>
                <a:ea typeface="+mn-ea"/>
                <a:cs typeface="+mn-cs"/>
              </a:rPr>
              <a:t>开头。指令</a:t>
            </a:r>
            <a:r>
              <a:rPr lang="en-US" altLang="zh-CN" sz="1200" kern="1200" dirty="0">
                <a:solidFill>
                  <a:schemeClr val="tx1"/>
                </a:solidFill>
                <a:effectLst/>
                <a:latin typeface="+mn-lt"/>
                <a:ea typeface="+mn-ea"/>
                <a:cs typeface="+mn-cs"/>
              </a:rPr>
              <a:t> LD R1, #100 </a:t>
            </a:r>
            <a:r>
              <a:rPr lang="zh-CN" altLang="zh-CN" sz="1200" kern="1200" dirty="0">
                <a:solidFill>
                  <a:schemeClr val="tx1"/>
                </a:solidFill>
                <a:effectLst/>
                <a:latin typeface="+mn-lt"/>
                <a:ea typeface="+mn-ea"/>
                <a:cs typeface="+mn-cs"/>
              </a:rPr>
              <a:t>将整数</a:t>
            </a:r>
            <a:r>
              <a:rPr lang="en-US" altLang="zh-CN" sz="1200" kern="1200" dirty="0">
                <a:solidFill>
                  <a:schemeClr val="tx1"/>
                </a:solidFill>
                <a:effectLst/>
                <a:latin typeface="+mn-lt"/>
                <a:ea typeface="+mn-ea"/>
                <a:cs typeface="+mn-cs"/>
              </a:rPr>
              <a:t> 100 </a:t>
            </a:r>
            <a:r>
              <a:rPr lang="zh-CN" altLang="zh-CN" sz="1200" kern="1200" dirty="0">
                <a:solidFill>
                  <a:schemeClr val="tx1"/>
                </a:solidFill>
                <a:effectLst/>
                <a:latin typeface="+mn-lt"/>
                <a:ea typeface="+mn-ea"/>
                <a:cs typeface="+mn-cs"/>
              </a:rPr>
              <a:t>加载到寄存器</a:t>
            </a:r>
            <a:r>
              <a:rPr lang="en-US" altLang="zh-CN" sz="1200" kern="1200" dirty="0">
                <a:solidFill>
                  <a:schemeClr val="tx1"/>
                </a:solidFill>
                <a:effectLst/>
                <a:latin typeface="+mn-lt"/>
                <a:ea typeface="+mn-ea"/>
                <a:cs typeface="+mn-cs"/>
              </a:rPr>
              <a:t> R1 </a:t>
            </a:r>
            <a:r>
              <a:rPr lang="zh-CN" altLang="zh-CN" sz="1200" kern="1200" dirty="0">
                <a:solidFill>
                  <a:schemeClr val="tx1"/>
                </a:solidFill>
                <a:effectLst/>
                <a:latin typeface="+mn-lt"/>
                <a:ea typeface="+mn-ea"/>
                <a:cs typeface="+mn-cs"/>
              </a:rPr>
              <a:t>中，而</a:t>
            </a:r>
            <a:r>
              <a:rPr lang="en-US" altLang="zh-CN" sz="1200" kern="1200" dirty="0">
                <a:solidFill>
                  <a:schemeClr val="tx1"/>
                </a:solidFill>
                <a:effectLst/>
                <a:latin typeface="+mn-lt"/>
                <a:ea typeface="+mn-ea"/>
                <a:cs typeface="+mn-cs"/>
              </a:rPr>
              <a:t> ADD R1, R1, #100 </a:t>
            </a:r>
            <a:r>
              <a:rPr lang="zh-CN" altLang="zh-CN" sz="1200" kern="1200" dirty="0">
                <a:solidFill>
                  <a:schemeClr val="tx1"/>
                </a:solidFill>
                <a:effectLst/>
                <a:latin typeface="+mn-lt"/>
                <a:ea typeface="+mn-ea"/>
                <a:cs typeface="+mn-cs"/>
              </a:rPr>
              <a:t>将整数</a:t>
            </a:r>
            <a:r>
              <a:rPr lang="en-US" altLang="zh-CN" sz="1200" kern="1200" dirty="0">
                <a:solidFill>
                  <a:schemeClr val="tx1"/>
                </a:solidFill>
                <a:effectLst/>
                <a:latin typeface="+mn-lt"/>
                <a:ea typeface="+mn-ea"/>
                <a:cs typeface="+mn-cs"/>
              </a:rPr>
              <a:t> 100 </a:t>
            </a:r>
            <a:r>
              <a:rPr lang="zh-CN" altLang="zh-CN" sz="1200" kern="1200" dirty="0">
                <a:solidFill>
                  <a:schemeClr val="tx1"/>
                </a:solidFill>
                <a:effectLst/>
                <a:latin typeface="+mn-lt"/>
                <a:ea typeface="+mn-ea"/>
                <a:cs typeface="+mn-cs"/>
              </a:rPr>
              <a:t>加到寄存器</a:t>
            </a:r>
            <a:r>
              <a:rPr lang="en-US" altLang="zh-CN" sz="1200" kern="1200" dirty="0">
                <a:solidFill>
                  <a:schemeClr val="tx1"/>
                </a:solidFill>
                <a:effectLst/>
                <a:latin typeface="+mn-lt"/>
                <a:ea typeface="+mn-ea"/>
                <a:cs typeface="+mn-cs"/>
              </a:rPr>
              <a:t> R1 </a:t>
            </a:r>
            <a:r>
              <a:rPr lang="zh-CN" altLang="zh-CN" sz="1200" kern="1200" dirty="0">
                <a:solidFill>
                  <a:schemeClr val="tx1"/>
                </a:solidFill>
                <a:effectLst/>
                <a:latin typeface="+mn-lt"/>
                <a:ea typeface="+mn-ea"/>
                <a:cs typeface="+mn-cs"/>
              </a:rPr>
              <a:t>中。</a:t>
            </a:r>
          </a:p>
          <a:p>
            <a:r>
              <a:rPr lang="zh-CN" altLang="zh-CN" sz="1200" kern="1200" dirty="0">
                <a:solidFill>
                  <a:schemeClr val="tx1"/>
                </a:solidFill>
                <a:effectLst/>
                <a:latin typeface="+mn-lt"/>
                <a:ea typeface="+mn-ea"/>
                <a:cs typeface="+mn-cs"/>
              </a:rPr>
              <a:t>指令之后的注释由</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开头</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zh-CN" altLang="zh-CN" sz="1200" kern="1200" dirty="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8</a:t>
            </a:fld>
            <a:endParaRPr lang="zh-CN" altLang="en-US"/>
          </a:p>
        </p:txBody>
      </p:sp>
    </p:spTree>
    <p:extLst>
      <p:ext uri="{BB962C8B-B14F-4D97-AF65-F5344CB8AC3E}">
        <p14:creationId xmlns:p14="http://schemas.microsoft.com/office/powerpoint/2010/main" val="347571721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171450" indent="-171450">
              <a:buFont typeface="Arial" panose="020B0604020202020204" pitchFamily="34" charset="0"/>
              <a:buChar char="•"/>
            </a:pPr>
            <a:r>
              <a:rPr lang="zh-CN" altLang="en-US" dirty="0"/>
              <a:t>三地址指令</a:t>
            </a:r>
            <a:r>
              <a:rPr lang="en-US" altLang="zh-CN" dirty="0"/>
              <a:t>x=y-z</a:t>
            </a:r>
            <a:r>
              <a:rPr lang="zh-CN" altLang="en-US" dirty="0"/>
              <a:t>可用机器指令序列来实现：</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也许我们可以做得更好。良好的代码生成算法的目标之一是尽可能避免使用所有这四个指令。例如，</a:t>
            </a:r>
            <a:r>
              <a:rPr lang="en-US" altLang="zh-CN" sz="1200" kern="1200" dirty="0">
                <a:solidFill>
                  <a:schemeClr val="tx1"/>
                </a:solidFill>
                <a:effectLst/>
                <a:latin typeface="+mn-lt"/>
                <a:ea typeface="+mn-ea"/>
                <a:cs typeface="+mn-cs"/>
              </a:rPr>
              <a:t>y </a:t>
            </a:r>
            <a:r>
              <a:rPr lang="zh-CN" altLang="zh-CN"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或</a:t>
            </a:r>
            <a:r>
              <a:rPr lang="en-US" altLang="zh-CN" sz="1200" kern="1200" dirty="0">
                <a:solidFill>
                  <a:schemeClr val="tx1"/>
                </a:solidFill>
                <a:effectLst/>
                <a:latin typeface="+mn-lt"/>
                <a:ea typeface="+mn-ea"/>
                <a:cs typeface="+mn-cs"/>
              </a:rPr>
              <a:t> z </a:t>
            </a:r>
            <a:r>
              <a:rPr lang="zh-CN" altLang="zh-CN" sz="1200" kern="1200" dirty="0">
                <a:solidFill>
                  <a:schemeClr val="tx1"/>
                </a:solidFill>
                <a:effectLst/>
                <a:latin typeface="+mn-lt"/>
                <a:ea typeface="+mn-ea"/>
                <a:cs typeface="+mn-cs"/>
              </a:rPr>
              <a:t>可能已被计算出来并存放在一个寄存器中，如果是这样，我们就可以避免相应的</a:t>
            </a:r>
            <a:r>
              <a:rPr lang="en-US" altLang="zh-CN" sz="1200" kern="1200" dirty="0">
                <a:solidFill>
                  <a:schemeClr val="tx1"/>
                </a:solidFill>
                <a:effectLst/>
                <a:latin typeface="+mn-lt"/>
                <a:ea typeface="+mn-ea"/>
                <a:cs typeface="+mn-cs"/>
              </a:rPr>
              <a:t> LD </a:t>
            </a:r>
            <a:r>
              <a:rPr lang="zh-CN" altLang="zh-CN" sz="1200" kern="1200" dirty="0">
                <a:solidFill>
                  <a:schemeClr val="tx1"/>
                </a:solidFill>
                <a:effectLst/>
                <a:latin typeface="+mn-lt"/>
                <a:ea typeface="+mn-ea"/>
                <a:cs typeface="+mn-cs"/>
              </a:rPr>
              <a:t>步骤。同样，如果</a:t>
            </a:r>
            <a:r>
              <a:rPr lang="en-US" altLang="zh-CN" sz="1200" kern="1200" dirty="0">
                <a:solidFill>
                  <a:schemeClr val="tx1"/>
                </a:solidFill>
                <a:effectLst/>
                <a:latin typeface="+mn-lt"/>
                <a:ea typeface="+mn-ea"/>
                <a:cs typeface="+mn-cs"/>
              </a:rPr>
              <a:t> x </a:t>
            </a:r>
            <a:r>
              <a:rPr lang="zh-CN" altLang="zh-CN" sz="1200" kern="1200" dirty="0">
                <a:solidFill>
                  <a:schemeClr val="tx1"/>
                </a:solidFill>
                <a:effectLst/>
                <a:latin typeface="+mn-lt"/>
                <a:ea typeface="+mn-ea"/>
                <a:cs typeface="+mn-cs"/>
              </a:rPr>
              <a:t>的值被使用时都存放在寄存器中，并且</a:t>
            </a:r>
            <a:r>
              <a:rPr lang="zh-CN" altLang="en-US" sz="1200" kern="1200" dirty="0">
                <a:solidFill>
                  <a:schemeClr val="tx1"/>
                </a:solidFill>
                <a:effectLst/>
                <a:latin typeface="+mn-lt"/>
                <a:ea typeface="+mn-ea"/>
                <a:cs typeface="+mn-cs"/>
              </a:rPr>
              <a:t>以</a:t>
            </a:r>
            <a:r>
              <a:rPr lang="zh-CN" altLang="zh-CN" sz="1200" kern="1200" dirty="0">
                <a:solidFill>
                  <a:schemeClr val="tx1"/>
                </a:solidFill>
                <a:effectLst/>
                <a:latin typeface="+mn-lt"/>
                <a:ea typeface="+mn-ea"/>
                <a:cs typeface="+mn-cs"/>
              </a:rPr>
              <a:t>后不再被用到，我们就不需要把这个值保存回</a:t>
            </a:r>
            <a:r>
              <a:rPr lang="en-US" altLang="zh-CN" sz="1200" kern="1200" dirty="0">
                <a:solidFill>
                  <a:schemeClr val="tx1"/>
                </a:solidFill>
                <a:effectLst/>
                <a:latin typeface="+mn-lt"/>
                <a:ea typeface="+mn-ea"/>
                <a:cs typeface="+mn-cs"/>
              </a:rPr>
              <a:t> x</a:t>
            </a:r>
            <a:r>
              <a:rPr lang="zh-CN" altLang="zh-CN" sz="1200" kern="1200" dirty="0">
                <a:solidFill>
                  <a:schemeClr val="tx1"/>
                </a:solidFill>
                <a:effectLst/>
                <a:latin typeface="+mn-lt"/>
                <a:ea typeface="+mn-ea"/>
                <a:cs typeface="+mn-cs"/>
              </a:rPr>
              <a:t>。</a:t>
            </a:r>
            <a:endParaRPr lang="en-US" altLang="zh-CN" sz="1200" kern="1200" dirty="0">
              <a:solidFill>
                <a:schemeClr val="tx1"/>
              </a:solidFill>
              <a:effectLst/>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zh-CN" altLang="zh-CN" sz="1200" kern="1200" dirty="0">
                <a:solidFill>
                  <a:schemeClr val="tx1"/>
                </a:solidFill>
                <a:effectLst/>
                <a:latin typeface="+mn-lt"/>
                <a:ea typeface="+mn-ea"/>
                <a:cs typeface="+mn-cs"/>
              </a:rPr>
              <a:t>假设</a:t>
            </a:r>
            <a:r>
              <a:rPr lang="en-US" altLang="zh-CN" sz="1200" kern="1200" dirty="0">
                <a:solidFill>
                  <a:schemeClr val="tx1"/>
                </a:solidFill>
                <a:effectLst/>
                <a:latin typeface="+mn-lt"/>
                <a:ea typeface="+mn-ea"/>
                <a:cs typeface="+mn-cs"/>
              </a:rPr>
              <a:t> a </a:t>
            </a:r>
            <a:r>
              <a:rPr lang="zh-CN" altLang="zh-CN" sz="1200" kern="1200" dirty="0">
                <a:solidFill>
                  <a:schemeClr val="tx1"/>
                </a:solidFill>
                <a:effectLst/>
                <a:latin typeface="+mn-lt"/>
                <a:ea typeface="+mn-ea"/>
                <a:cs typeface="+mn-cs"/>
              </a:rPr>
              <a:t>是一个数组，其元素是</a:t>
            </a:r>
            <a:r>
              <a:rPr lang="en-US" altLang="zh-CN" sz="1200" kern="1200" dirty="0">
                <a:solidFill>
                  <a:schemeClr val="tx1"/>
                </a:solidFill>
                <a:effectLst/>
                <a:latin typeface="+mn-lt"/>
                <a:ea typeface="+mn-ea"/>
                <a:cs typeface="+mn-cs"/>
              </a:rPr>
              <a:t> 8</a:t>
            </a:r>
            <a:r>
              <a:rPr lang="zh-CN" altLang="zh-CN" sz="1200" kern="1200" dirty="0">
                <a:solidFill>
                  <a:schemeClr val="tx1"/>
                </a:solidFill>
                <a:effectLst/>
                <a:latin typeface="+mn-lt"/>
                <a:ea typeface="+mn-ea"/>
                <a:cs typeface="+mn-cs"/>
              </a:rPr>
              <a:t>（比如实数） 字节值。还假设</a:t>
            </a:r>
            <a:r>
              <a:rPr lang="en-US" altLang="zh-CN" sz="1200" kern="1200" dirty="0">
                <a:solidFill>
                  <a:schemeClr val="tx1"/>
                </a:solidFill>
                <a:effectLst/>
                <a:latin typeface="+mn-lt"/>
                <a:ea typeface="+mn-ea"/>
                <a:cs typeface="+mn-cs"/>
              </a:rPr>
              <a:t>a</a:t>
            </a:r>
            <a:r>
              <a:rPr lang="zh-CN" altLang="zh-CN" sz="1200" kern="1200" dirty="0">
                <a:solidFill>
                  <a:schemeClr val="tx1"/>
                </a:solidFill>
                <a:effectLst/>
                <a:latin typeface="+mn-lt"/>
                <a:ea typeface="+mn-ea"/>
                <a:cs typeface="+mn-cs"/>
              </a:rPr>
              <a:t>的元素下标从</a:t>
            </a:r>
            <a:r>
              <a:rPr lang="en-US" altLang="zh-CN" sz="1200" kern="1200" dirty="0">
                <a:solidFill>
                  <a:schemeClr val="tx1"/>
                </a:solidFill>
                <a:effectLst/>
                <a:latin typeface="+mn-lt"/>
                <a:ea typeface="+mn-ea"/>
                <a:cs typeface="+mn-cs"/>
              </a:rPr>
              <a:t>0</a:t>
            </a:r>
            <a:r>
              <a:rPr lang="zh-CN" altLang="zh-CN" sz="1200" kern="1200" dirty="0">
                <a:solidFill>
                  <a:schemeClr val="tx1"/>
                </a:solidFill>
                <a:effectLst/>
                <a:latin typeface="+mn-lt"/>
                <a:ea typeface="+mn-ea"/>
                <a:cs typeface="+mn-cs"/>
              </a:rPr>
              <a:t>开始。我们可以通过下面的指令序列执行三地址指令</a:t>
            </a:r>
            <a:r>
              <a:rPr lang="en-US" altLang="zh-CN" sz="1200" kern="1200" dirty="0">
                <a:solidFill>
                  <a:schemeClr val="tx1"/>
                </a:solidFill>
                <a:effectLst/>
                <a:latin typeface="+mn-lt"/>
                <a:ea typeface="+mn-ea"/>
                <a:cs typeface="+mn-cs"/>
              </a:rPr>
              <a:t>b = a[</a:t>
            </a:r>
            <a:r>
              <a:rPr lang="en-US" altLang="zh-CN" sz="1200" kern="1200" dirty="0" err="1">
                <a:solidFill>
                  <a:schemeClr val="tx1"/>
                </a:solidFill>
                <a:effectLst/>
                <a:latin typeface="+mn-lt"/>
                <a:ea typeface="+mn-ea"/>
                <a:cs typeface="+mn-cs"/>
              </a:rPr>
              <a:t>i</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zh-CN" altLang="zh-CN" sz="1200" kern="1200" dirty="0">
                <a:solidFill>
                  <a:schemeClr val="tx1"/>
                </a:solidFill>
                <a:effectLst/>
                <a:latin typeface="+mn-lt"/>
                <a:ea typeface="+mn-ea"/>
                <a:cs typeface="+mn-cs"/>
              </a:rPr>
              <a:t>也就是说，第二步计算</a:t>
            </a:r>
            <a:r>
              <a:rPr lang="en-US" altLang="zh-CN" sz="1200" kern="1200" dirty="0">
                <a:solidFill>
                  <a:schemeClr val="tx1"/>
                </a:solidFill>
                <a:effectLst/>
                <a:latin typeface="+mn-lt"/>
                <a:ea typeface="+mn-ea"/>
                <a:cs typeface="+mn-cs"/>
              </a:rPr>
              <a:t> 8i</a:t>
            </a:r>
            <a:r>
              <a:rPr lang="zh-CN" altLang="zh-CN" sz="1200" kern="1200" dirty="0">
                <a:solidFill>
                  <a:schemeClr val="tx1"/>
                </a:solidFill>
                <a:effectLst/>
                <a:latin typeface="+mn-lt"/>
                <a:ea typeface="+mn-ea"/>
                <a:cs typeface="+mn-cs"/>
              </a:rPr>
              <a:t>，第三步将</a:t>
            </a:r>
            <a:r>
              <a:rPr lang="en-US" altLang="zh-CN" sz="1200" kern="1200" dirty="0">
                <a:solidFill>
                  <a:schemeClr val="tx1"/>
                </a:solidFill>
                <a:effectLst/>
                <a:latin typeface="+mn-lt"/>
                <a:ea typeface="+mn-ea"/>
                <a:cs typeface="+mn-cs"/>
              </a:rPr>
              <a:t> a </a:t>
            </a:r>
            <a:r>
              <a:rPr lang="zh-CN" altLang="zh-CN" sz="1200" kern="1200" dirty="0">
                <a:solidFill>
                  <a:schemeClr val="tx1"/>
                </a:solidFill>
                <a:effectLst/>
                <a:latin typeface="+mn-lt"/>
                <a:ea typeface="+mn-ea"/>
                <a:cs typeface="+mn-cs"/>
              </a:rPr>
              <a:t>的第</a:t>
            </a:r>
            <a:r>
              <a:rPr lang="en-US" altLang="zh-CN" sz="1200" kern="1200" dirty="0">
                <a:solidFill>
                  <a:schemeClr val="tx1"/>
                </a:solidFill>
                <a:effectLst/>
                <a:latin typeface="+mn-lt"/>
                <a:ea typeface="+mn-ea"/>
                <a:cs typeface="+mn-cs"/>
              </a:rPr>
              <a:t> </a:t>
            </a:r>
            <a:r>
              <a:rPr lang="en-US" altLang="zh-CN" sz="1200" kern="1200" dirty="0" err="1">
                <a:solidFill>
                  <a:schemeClr val="tx1"/>
                </a:solidFill>
                <a:effectLst/>
                <a:latin typeface="+mn-lt"/>
                <a:ea typeface="+mn-ea"/>
                <a:cs typeface="+mn-cs"/>
              </a:rPr>
              <a:t>i</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个元素中的值放入寄存器</a:t>
            </a:r>
            <a:r>
              <a:rPr lang="en-US" altLang="zh-CN" sz="1200" kern="1200" dirty="0">
                <a:solidFill>
                  <a:schemeClr val="tx1"/>
                </a:solidFill>
                <a:effectLst/>
                <a:latin typeface="+mn-lt"/>
                <a:ea typeface="+mn-ea"/>
                <a:cs typeface="+mn-cs"/>
              </a:rPr>
              <a:t> R2 </a:t>
            </a:r>
            <a:r>
              <a:rPr lang="zh-CN" altLang="zh-CN" sz="1200" kern="1200" dirty="0">
                <a:solidFill>
                  <a:schemeClr val="tx1"/>
                </a:solidFill>
                <a:effectLst/>
                <a:latin typeface="+mn-lt"/>
                <a:ea typeface="+mn-ea"/>
                <a:cs typeface="+mn-cs"/>
              </a:rPr>
              <a:t>中，这个元素位于离数组</a:t>
            </a:r>
            <a:r>
              <a:rPr lang="en-US" altLang="zh-CN" sz="1200" kern="1200" dirty="0">
                <a:solidFill>
                  <a:schemeClr val="tx1"/>
                </a:solidFill>
                <a:effectLst/>
                <a:latin typeface="+mn-lt"/>
                <a:ea typeface="+mn-ea"/>
                <a:cs typeface="+mn-cs"/>
              </a:rPr>
              <a:t> a </a:t>
            </a:r>
            <a:r>
              <a:rPr lang="zh-CN" altLang="zh-CN" sz="1200" kern="1200" dirty="0">
                <a:solidFill>
                  <a:schemeClr val="tx1"/>
                </a:solidFill>
                <a:effectLst/>
                <a:latin typeface="+mn-lt"/>
                <a:ea typeface="+mn-ea"/>
                <a:cs typeface="+mn-cs"/>
              </a:rPr>
              <a:t>的基地址</a:t>
            </a:r>
            <a:r>
              <a:rPr lang="en-US" altLang="zh-CN" sz="1200" kern="1200" dirty="0">
                <a:solidFill>
                  <a:schemeClr val="tx1"/>
                </a:solidFill>
                <a:effectLst/>
                <a:latin typeface="+mn-lt"/>
                <a:ea typeface="+mn-ea"/>
                <a:cs typeface="+mn-cs"/>
              </a:rPr>
              <a:t> 8i </a:t>
            </a:r>
            <a:r>
              <a:rPr lang="zh-CN" altLang="zh-CN" sz="1200" kern="1200" dirty="0">
                <a:solidFill>
                  <a:schemeClr val="tx1"/>
                </a:solidFill>
                <a:effectLst/>
                <a:latin typeface="+mn-lt"/>
                <a:ea typeface="+mn-ea"/>
                <a:cs typeface="+mn-cs"/>
              </a:rPr>
              <a:t>字节的地方。</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zh-CN"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zh-CN" sz="1200" kern="1200" dirty="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9</a:t>
            </a:fld>
            <a:endParaRPr lang="zh-CN" altLang="en-US"/>
          </a:p>
        </p:txBody>
      </p:sp>
    </p:spTree>
    <p:extLst>
      <p:ext uri="{BB962C8B-B14F-4D97-AF65-F5344CB8AC3E}">
        <p14:creationId xmlns:p14="http://schemas.microsoft.com/office/powerpoint/2010/main" val="361747273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171450" indent="-171450">
              <a:buFont typeface="Arial" panose="020B0604020202020204" pitchFamily="34" charset="0"/>
              <a:buChar char="•"/>
            </a:pPr>
            <a:r>
              <a:rPr lang="zh-CN" altLang="zh-CN" sz="1200" kern="1200" dirty="0">
                <a:solidFill>
                  <a:schemeClr val="tx1"/>
                </a:solidFill>
                <a:effectLst/>
                <a:latin typeface="+mn-lt"/>
                <a:ea typeface="+mn-ea"/>
                <a:cs typeface="+mn-cs"/>
              </a:rPr>
              <a:t>类似地，对三地址指令</a:t>
            </a:r>
            <a:r>
              <a:rPr lang="en-US" altLang="zh-CN" sz="1200" kern="1200" dirty="0">
                <a:solidFill>
                  <a:schemeClr val="tx1"/>
                </a:solidFill>
                <a:effectLst/>
                <a:latin typeface="+mn-lt"/>
                <a:ea typeface="+mn-ea"/>
                <a:cs typeface="+mn-cs"/>
              </a:rPr>
              <a:t> a[j] = c </a:t>
            </a:r>
            <a:r>
              <a:rPr lang="zh-CN" altLang="zh-CN" sz="1200" kern="1200" dirty="0">
                <a:solidFill>
                  <a:schemeClr val="tx1"/>
                </a:solidFill>
                <a:effectLst/>
                <a:latin typeface="+mn-lt"/>
                <a:ea typeface="+mn-ea"/>
                <a:cs typeface="+mn-cs"/>
              </a:rPr>
              <a:t>表示的对数组</a:t>
            </a:r>
            <a:r>
              <a:rPr lang="en-US" altLang="zh-CN" sz="1200" kern="1200" dirty="0">
                <a:solidFill>
                  <a:schemeClr val="tx1"/>
                </a:solidFill>
                <a:effectLst/>
                <a:latin typeface="+mn-lt"/>
                <a:ea typeface="+mn-ea"/>
                <a:cs typeface="+mn-cs"/>
              </a:rPr>
              <a:t> a </a:t>
            </a:r>
            <a:r>
              <a:rPr lang="zh-CN" altLang="zh-CN" sz="1200" kern="1200" dirty="0">
                <a:solidFill>
                  <a:schemeClr val="tx1"/>
                </a:solidFill>
                <a:effectLst/>
                <a:latin typeface="+mn-lt"/>
                <a:ea typeface="+mn-ea"/>
                <a:cs typeface="+mn-cs"/>
              </a:rPr>
              <a:t>的赋值可以实现为：</a:t>
            </a:r>
            <a:endParaRPr lang="en-US" altLang="zh-CN" sz="1200" kern="1200" dirty="0">
              <a:solidFill>
                <a:schemeClr val="tx1"/>
              </a:solidFill>
              <a:effectLst/>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zh-CN" altLang="zh-CN" sz="1200" kern="1200" dirty="0">
                <a:solidFill>
                  <a:schemeClr val="tx1"/>
                </a:solidFill>
                <a:effectLst/>
                <a:latin typeface="+mn-lt"/>
                <a:ea typeface="+mn-ea"/>
                <a:cs typeface="+mn-cs"/>
              </a:rPr>
              <a:t>要实现简单的指针间接寻址，例如三地址语句</a:t>
            </a:r>
            <a:r>
              <a:rPr lang="en-US" altLang="zh-CN" sz="1200" kern="1200" dirty="0">
                <a:solidFill>
                  <a:schemeClr val="tx1"/>
                </a:solidFill>
                <a:effectLst/>
                <a:latin typeface="+mn-lt"/>
                <a:ea typeface="+mn-ea"/>
                <a:cs typeface="+mn-cs"/>
              </a:rPr>
              <a:t> x = *p</a:t>
            </a:r>
            <a:r>
              <a:rPr lang="zh-CN" altLang="zh-CN" sz="1200" kern="1200" dirty="0">
                <a:solidFill>
                  <a:schemeClr val="tx1"/>
                </a:solidFill>
                <a:effectLst/>
                <a:latin typeface="+mn-lt"/>
                <a:ea typeface="+mn-ea"/>
                <a:cs typeface="+mn-cs"/>
              </a:rPr>
              <a:t>，我们可以使用如下机器指令：</a:t>
            </a:r>
          </a:p>
          <a:p>
            <a:pPr marL="171450" indent="-171450">
              <a:buFont typeface="Arial" panose="020B0604020202020204" pitchFamily="34" charset="0"/>
              <a:buChar char="•"/>
            </a:pPr>
            <a:endParaRPr lang="en-US" altLang="zh-CN" sz="1200" kern="1200" dirty="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10</a:t>
            </a:fld>
            <a:endParaRPr lang="zh-CN" altLang="en-US"/>
          </a:p>
        </p:txBody>
      </p:sp>
    </p:spTree>
    <p:extLst>
      <p:ext uri="{BB962C8B-B14F-4D97-AF65-F5344CB8AC3E}">
        <p14:creationId xmlns:p14="http://schemas.microsoft.com/office/powerpoint/2010/main" val="252098155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zh-CN" altLang="zh-CN" sz="1200" kern="1200" dirty="0">
                <a:solidFill>
                  <a:schemeClr val="tx1"/>
                </a:solidFill>
                <a:effectLst/>
                <a:latin typeface="+mn-lt"/>
                <a:ea typeface="+mn-ea"/>
                <a:cs typeface="+mn-cs"/>
              </a:rPr>
              <a:t>通过指针的赋值语句</a:t>
            </a:r>
            <a:r>
              <a:rPr lang="en-US" altLang="zh-CN" sz="1200" kern="1200" dirty="0">
                <a:solidFill>
                  <a:schemeClr val="tx1"/>
                </a:solidFill>
                <a:effectLst/>
                <a:latin typeface="+mn-lt"/>
                <a:ea typeface="+mn-ea"/>
                <a:cs typeface="+mn-cs"/>
              </a:rPr>
              <a:t> *p = y </a:t>
            </a:r>
            <a:r>
              <a:rPr lang="zh-CN" altLang="zh-CN" sz="1200" kern="1200" dirty="0">
                <a:solidFill>
                  <a:schemeClr val="tx1"/>
                </a:solidFill>
                <a:effectLst/>
                <a:latin typeface="+mn-lt"/>
                <a:ea typeface="+mn-ea"/>
                <a:cs typeface="+mn-cs"/>
              </a:rPr>
              <a:t>可以类似地用以下的机器代码实现：</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zh-CN" altLang="zh-CN" sz="1200" kern="1200" dirty="0">
                <a:solidFill>
                  <a:schemeClr val="tx1"/>
                </a:solidFill>
                <a:effectLst/>
                <a:latin typeface="+mn-lt"/>
                <a:ea typeface="+mn-ea"/>
                <a:cs typeface="+mn-cs"/>
              </a:rPr>
              <a:t>最后，考虑一个条件跳转三地址指令，例如</a:t>
            </a:r>
            <a:r>
              <a:rPr lang="en-US" altLang="zh-CN" sz="1200" dirty="0">
                <a:solidFill>
                  <a:srgbClr val="FF0000"/>
                </a:solidFill>
                <a:latin typeface="Cambria Math"/>
                <a:cs typeface="Cambria Math"/>
              </a:rPr>
              <a:t>if</a:t>
            </a:r>
            <a:r>
              <a:rPr lang="en-US" altLang="zh-CN" sz="1200" spc="-30" dirty="0">
                <a:solidFill>
                  <a:srgbClr val="FF0000"/>
                </a:solidFill>
                <a:latin typeface="Cambria Math"/>
                <a:cs typeface="Cambria Math"/>
              </a:rPr>
              <a:t> </a:t>
            </a:r>
            <a:r>
              <a:rPr lang="zh-CN" altLang="en-US" sz="1200" dirty="0">
                <a:solidFill>
                  <a:srgbClr val="FF0000"/>
                </a:solidFill>
                <a:latin typeface="Cambria Math"/>
                <a:cs typeface="Cambria Math"/>
              </a:rPr>
              <a:t>𝑥</a:t>
            </a:r>
            <a:r>
              <a:rPr lang="en-US" altLang="zh-CN" sz="1200" spc="180" dirty="0">
                <a:solidFill>
                  <a:srgbClr val="FF0000"/>
                </a:solidFill>
                <a:latin typeface="Cambria Math"/>
                <a:cs typeface="Cambria Math"/>
              </a:rPr>
              <a:t> </a:t>
            </a:r>
            <a:r>
              <a:rPr lang="en-US" altLang="zh-CN" sz="1200" dirty="0">
                <a:solidFill>
                  <a:srgbClr val="FF0000"/>
                </a:solidFill>
                <a:latin typeface="Cambria Math"/>
                <a:cs typeface="Cambria Math"/>
              </a:rPr>
              <a:t>&lt;</a:t>
            </a:r>
            <a:r>
              <a:rPr lang="en-US" altLang="zh-CN" sz="1200" spc="120" dirty="0">
                <a:solidFill>
                  <a:srgbClr val="FF0000"/>
                </a:solidFill>
                <a:latin typeface="Cambria Math"/>
                <a:cs typeface="Cambria Math"/>
              </a:rPr>
              <a:t> </a:t>
            </a:r>
            <a:r>
              <a:rPr lang="zh-CN" altLang="en-US" sz="1200" dirty="0">
                <a:solidFill>
                  <a:srgbClr val="FF0000"/>
                </a:solidFill>
                <a:latin typeface="Cambria Math"/>
                <a:cs typeface="Cambria Math"/>
              </a:rPr>
              <a:t>𝑦</a:t>
            </a:r>
            <a:r>
              <a:rPr lang="en-US" altLang="zh-CN" sz="1200" spc="10" dirty="0">
                <a:solidFill>
                  <a:srgbClr val="FF0000"/>
                </a:solidFill>
                <a:latin typeface="Cambria Math"/>
                <a:cs typeface="Cambria Math"/>
              </a:rPr>
              <a:t> </a:t>
            </a:r>
            <a:r>
              <a:rPr lang="en-US" altLang="zh-CN" sz="1200" dirty="0" err="1">
                <a:solidFill>
                  <a:srgbClr val="FF0000"/>
                </a:solidFill>
                <a:latin typeface="Cambria Math"/>
                <a:cs typeface="Cambria Math"/>
              </a:rPr>
              <a:t>goto</a:t>
            </a:r>
            <a:r>
              <a:rPr lang="en-US" altLang="zh-CN" sz="1200" spc="-20" dirty="0">
                <a:solidFill>
                  <a:srgbClr val="FF0000"/>
                </a:solidFill>
                <a:latin typeface="Cambria Math"/>
                <a:cs typeface="Cambria Math"/>
              </a:rPr>
              <a:t> </a:t>
            </a:r>
            <a:r>
              <a:rPr lang="en-US" altLang="zh-CN" sz="1200" spc="-50" dirty="0">
                <a:solidFill>
                  <a:srgbClr val="FF0000"/>
                </a:solidFill>
                <a:latin typeface="Cambria Math"/>
                <a:cs typeface="Cambria Math"/>
              </a:rPr>
              <a:t>L</a:t>
            </a:r>
            <a:endParaRPr lang="en-US" altLang="zh-CN" sz="1200" dirty="0">
              <a:solidFill>
                <a:sysClr val="windowText" lastClr="000000"/>
              </a:solidFill>
              <a:latin typeface="Cambria Math"/>
              <a:cs typeface="Cambria Math"/>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等效的机器代码类似于：</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这里，</a:t>
            </a:r>
            <a:r>
              <a:rPr lang="en-US" altLang="zh-CN" sz="1200" kern="1200" dirty="0">
                <a:solidFill>
                  <a:schemeClr val="tx1"/>
                </a:solidFill>
                <a:effectLst/>
                <a:latin typeface="+mn-lt"/>
                <a:ea typeface="+mn-ea"/>
                <a:cs typeface="+mn-cs"/>
              </a:rPr>
              <a:t>M</a:t>
            </a:r>
            <a:r>
              <a:rPr lang="zh-CN" altLang="zh-CN" sz="1200" kern="1200" dirty="0">
                <a:solidFill>
                  <a:schemeClr val="tx1"/>
                </a:solidFill>
                <a:effectLst/>
                <a:latin typeface="+mn-lt"/>
                <a:ea typeface="+mn-ea"/>
                <a:cs typeface="+mn-cs"/>
              </a:rPr>
              <a:t>是从标号为</a:t>
            </a:r>
            <a:r>
              <a:rPr lang="en-US" altLang="zh-CN" sz="1200" kern="1200" dirty="0">
                <a:solidFill>
                  <a:schemeClr val="tx1"/>
                </a:solidFill>
                <a:effectLst/>
                <a:latin typeface="+mn-lt"/>
                <a:ea typeface="+mn-ea"/>
                <a:cs typeface="+mn-cs"/>
              </a:rPr>
              <a:t> L</a:t>
            </a:r>
            <a:r>
              <a:rPr lang="zh-CN" altLang="zh-CN" sz="1200" kern="1200" dirty="0">
                <a:solidFill>
                  <a:schemeClr val="tx1"/>
                </a:solidFill>
                <a:effectLst/>
                <a:latin typeface="+mn-lt"/>
                <a:ea typeface="+mn-ea"/>
                <a:cs typeface="+mn-cs"/>
              </a:rPr>
              <a:t>的三地址指令所产生的机器指令序列中的第一个指令的标号。对于任何三地址指令，我们希望可以省略这些指令中的某些</a:t>
            </a:r>
            <a:r>
              <a:rPr lang="zh-CN" altLang="en-US" sz="1200" kern="1200" dirty="0">
                <a:solidFill>
                  <a:schemeClr val="tx1"/>
                </a:solidFill>
                <a:effectLst/>
                <a:latin typeface="+mn-lt"/>
                <a:ea typeface="+mn-ea"/>
                <a:cs typeface="+mn-cs"/>
              </a:rPr>
              <a:t>指令</a:t>
            </a:r>
            <a:r>
              <a:rPr lang="zh-CN" altLang="zh-CN" sz="1200" kern="1200" dirty="0">
                <a:solidFill>
                  <a:schemeClr val="tx1"/>
                </a:solidFill>
                <a:effectLst/>
                <a:latin typeface="+mn-lt"/>
                <a:ea typeface="+mn-ea"/>
                <a:cs typeface="+mn-cs"/>
              </a:rPr>
              <a:t>，省略的原因是所需要的运算分量已经在寄存器中，也可能因为结果不需要存放回内存。</a:t>
            </a: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zh-CN" sz="1200" kern="1200" dirty="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11</a:t>
            </a:fld>
            <a:endParaRPr lang="zh-CN" altLang="en-US"/>
          </a:p>
        </p:txBody>
      </p:sp>
    </p:spTree>
    <p:extLst>
      <p:ext uri="{BB962C8B-B14F-4D97-AF65-F5344CB8AC3E}">
        <p14:creationId xmlns:p14="http://schemas.microsoft.com/office/powerpoint/2010/main" val="272508918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在本节中，我们通过查看使用静态和栈式内存分配为简单的过程调用和返回生成代码，以此将</a:t>
            </a:r>
            <a:r>
              <a:rPr lang="en-US" altLang="zh-CN" sz="1200" kern="1200" dirty="0">
                <a:solidFill>
                  <a:schemeClr val="tx1"/>
                </a:solidFill>
                <a:effectLst/>
                <a:latin typeface="+mn-lt"/>
                <a:ea typeface="+mn-ea"/>
                <a:cs typeface="+mn-cs"/>
              </a:rPr>
              <a:t> IR </a:t>
            </a:r>
            <a:r>
              <a:rPr lang="zh-CN" altLang="zh-CN" sz="1200" kern="1200" dirty="0">
                <a:solidFill>
                  <a:schemeClr val="tx1"/>
                </a:solidFill>
                <a:effectLst/>
                <a:latin typeface="+mn-lt"/>
                <a:ea typeface="+mn-ea"/>
                <a:cs typeface="+mn-cs"/>
              </a:rPr>
              <a:t>中的名</a:t>
            </a:r>
            <a:r>
              <a:rPr lang="zh-CN" altLang="en-US" sz="1200" kern="1200" dirty="0">
                <a:solidFill>
                  <a:schemeClr val="tx1"/>
                </a:solidFill>
                <a:effectLst/>
                <a:latin typeface="+mn-lt"/>
                <a:ea typeface="+mn-ea"/>
                <a:cs typeface="+mn-cs"/>
              </a:rPr>
              <a:t>字</a:t>
            </a:r>
            <a:r>
              <a:rPr lang="zh-CN" altLang="zh-CN" sz="1200" kern="1200" dirty="0">
                <a:solidFill>
                  <a:schemeClr val="tx1"/>
                </a:solidFill>
                <a:effectLst/>
                <a:latin typeface="+mn-lt"/>
                <a:ea typeface="+mn-ea"/>
                <a:cs typeface="+mn-cs"/>
              </a:rPr>
              <a:t>转换为目标代码中的地址。</a:t>
            </a:r>
            <a:endParaRPr lang="zh-CN" altLang="en-US"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12</a:t>
            </a:fld>
            <a:endParaRPr lang="zh-CN" altLang="en-US"/>
          </a:p>
        </p:txBody>
      </p:sp>
    </p:spTree>
    <p:extLst>
      <p:ext uri="{BB962C8B-B14F-4D97-AF65-F5344CB8AC3E}">
        <p14:creationId xmlns:p14="http://schemas.microsoft.com/office/powerpoint/2010/main" val="254116161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在第</a:t>
            </a:r>
            <a:r>
              <a:rPr lang="en-US" altLang="zh-CN" sz="1200" kern="1200" dirty="0">
                <a:solidFill>
                  <a:schemeClr val="tx1"/>
                </a:solidFill>
                <a:effectLst/>
                <a:latin typeface="+mn-lt"/>
                <a:ea typeface="+mn-ea"/>
                <a:cs typeface="+mn-cs"/>
              </a:rPr>
              <a:t> 7.1 </a:t>
            </a:r>
            <a:r>
              <a:rPr lang="zh-CN" altLang="zh-CN" sz="1200" kern="1200" dirty="0">
                <a:solidFill>
                  <a:schemeClr val="tx1"/>
                </a:solidFill>
                <a:effectLst/>
                <a:latin typeface="+mn-lt"/>
                <a:ea typeface="+mn-ea"/>
                <a:cs typeface="+mn-cs"/>
              </a:rPr>
              <a:t>节中，我们描述了每个正在执行的程序是如何在其逻辑地址空间上运行，该空间被划分为四个代码及数据区域：</a:t>
            </a:r>
          </a:p>
          <a:p>
            <a:r>
              <a:rPr lang="en-US" altLang="zh-CN" sz="1200" kern="1200" dirty="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静态确定的区域代码，保存可执行目标代码。目标代码的大小可以在编译时确定。 </a:t>
            </a:r>
          </a:p>
          <a:p>
            <a:r>
              <a:rPr lang="en-US" altLang="zh-CN" sz="1200" kern="1200" dirty="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静态确定的数据区</a:t>
            </a:r>
            <a:r>
              <a:rPr lang="en-US" altLang="zh-CN" sz="1200" kern="1200" dirty="0">
                <a:solidFill>
                  <a:schemeClr val="tx1"/>
                </a:solidFill>
                <a:effectLst/>
                <a:latin typeface="+mn-lt"/>
                <a:ea typeface="+mn-ea"/>
                <a:cs typeface="+mn-cs"/>
              </a:rPr>
              <a:t>Static</a:t>
            </a:r>
            <a:r>
              <a:rPr lang="zh-CN" altLang="zh-CN" sz="1200" kern="1200" dirty="0">
                <a:solidFill>
                  <a:schemeClr val="tx1"/>
                </a:solidFill>
                <a:effectLst/>
                <a:latin typeface="+mn-lt"/>
                <a:ea typeface="+mn-ea"/>
                <a:cs typeface="+mn-cs"/>
              </a:rPr>
              <a:t>，用于保存全局常量和编译器生成的其他数据。全局常量和编译器数据的大小也可以在编译时确定。 </a:t>
            </a:r>
          </a:p>
          <a:p>
            <a:r>
              <a:rPr lang="en-US" altLang="zh-CN" sz="1200" kern="1200" dirty="0">
                <a:solidFill>
                  <a:schemeClr val="tx1"/>
                </a:solidFill>
                <a:effectLst/>
                <a:latin typeface="+mn-lt"/>
                <a:ea typeface="+mn-ea"/>
                <a:cs typeface="+mn-cs"/>
              </a:rPr>
              <a:t>3. </a:t>
            </a:r>
            <a:r>
              <a:rPr lang="zh-CN" altLang="zh-CN" sz="1200" kern="1200" dirty="0">
                <a:solidFill>
                  <a:schemeClr val="tx1"/>
                </a:solidFill>
                <a:effectLst/>
                <a:latin typeface="+mn-lt"/>
                <a:ea typeface="+mn-ea"/>
                <a:cs typeface="+mn-cs"/>
              </a:rPr>
              <a:t>动态管理区域堆，用于保存程序执行期间分配和释放的数据对象。堆的大小无法在编译时确定。 </a:t>
            </a:r>
          </a:p>
          <a:p>
            <a:r>
              <a:rPr lang="en-US" altLang="zh-CN" sz="1200" kern="1200" dirty="0">
                <a:solidFill>
                  <a:schemeClr val="tx1"/>
                </a:solidFill>
                <a:effectLst/>
                <a:latin typeface="+mn-lt"/>
                <a:ea typeface="+mn-ea"/>
                <a:cs typeface="+mn-cs"/>
              </a:rPr>
              <a:t>4. </a:t>
            </a:r>
            <a:r>
              <a:rPr lang="zh-CN" altLang="zh-CN" sz="1200" kern="1200" dirty="0">
                <a:solidFill>
                  <a:schemeClr val="tx1"/>
                </a:solidFill>
                <a:effectLst/>
                <a:latin typeface="+mn-lt"/>
                <a:ea typeface="+mn-ea"/>
                <a:cs typeface="+mn-cs"/>
              </a:rPr>
              <a:t>动态管理区域栈，用于保存在过程调用和返回期间创建和销毁的活动记录。与堆一样，栈的大小无法在编译时确定。</a:t>
            </a:r>
            <a:endParaRPr lang="zh-CN" altLang="en-US"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13</a:t>
            </a:fld>
            <a:endParaRPr lang="zh-CN" altLang="en-US"/>
          </a:p>
        </p:txBody>
      </p:sp>
    </p:spTree>
    <p:extLst>
      <p:ext uri="{BB962C8B-B14F-4D97-AF65-F5344CB8AC3E}">
        <p14:creationId xmlns:p14="http://schemas.microsoft.com/office/powerpoint/2010/main" val="154395819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buFont typeface="Arial" panose="020B0604020202020204" pitchFamily="34" charset="0"/>
              <a:buNone/>
            </a:pPr>
            <a:r>
              <a:rPr lang="zh-CN" altLang="zh-CN" sz="1200" kern="1200" dirty="0">
                <a:solidFill>
                  <a:schemeClr val="tx1"/>
                </a:solidFill>
                <a:effectLst/>
                <a:latin typeface="+mn-lt"/>
                <a:ea typeface="+mn-ea"/>
                <a:cs typeface="+mn-cs"/>
              </a:rPr>
              <a:t>为了说明简化过程调用和返回的代码生成，我们将重点关注以下三地址语句： </a:t>
            </a:r>
          </a:p>
          <a:p>
            <a:r>
              <a:rPr lang="en-US" altLang="zh-CN" sz="1200" kern="1200" dirty="0">
                <a:solidFill>
                  <a:schemeClr val="tx1"/>
                </a:solidFill>
                <a:effectLst/>
                <a:latin typeface="+mn-lt"/>
                <a:ea typeface="+mn-ea"/>
                <a:cs typeface="+mn-cs"/>
              </a:rPr>
              <a:t>call </a:t>
            </a:r>
            <a:r>
              <a:rPr lang="en-US" altLang="zh-CN" sz="1200" kern="1200" dirty="0" err="1">
                <a:solidFill>
                  <a:schemeClr val="tx1"/>
                </a:solidFill>
                <a:effectLst/>
                <a:latin typeface="+mn-lt"/>
                <a:ea typeface="+mn-ea"/>
                <a:cs typeface="+mn-cs"/>
              </a:rPr>
              <a:t>callee</a:t>
            </a:r>
            <a:r>
              <a:rPr lang="en-US" altLang="zh-CN" sz="1200" kern="1200" dirty="0">
                <a:solidFill>
                  <a:schemeClr val="tx1"/>
                </a:solidFill>
                <a:effectLst/>
                <a:latin typeface="+mn-lt"/>
                <a:ea typeface="+mn-ea"/>
                <a:cs typeface="+mn-cs"/>
              </a:rPr>
              <a:t> </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return</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halt </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action</a:t>
            </a:r>
            <a:r>
              <a:rPr lang="zh-CN" altLang="zh-CN" sz="1200" kern="1200" dirty="0">
                <a:solidFill>
                  <a:schemeClr val="tx1"/>
                </a:solidFill>
                <a:effectLst/>
                <a:latin typeface="+mn-lt"/>
                <a:ea typeface="+mn-ea"/>
                <a:cs typeface="+mn-cs"/>
              </a:rPr>
              <a:t>，这是代表其他三地址语句的占位符</a:t>
            </a:r>
          </a:p>
          <a:p>
            <a:pPr marL="171450" indent="-171450">
              <a:buFont typeface="Arial" panose="020B0604020202020204" pitchFamily="34" charset="0"/>
              <a:buChar char="•"/>
            </a:pPr>
            <a:r>
              <a:rPr lang="zh-CN" altLang="zh-CN" sz="1200" kern="1200" dirty="0">
                <a:solidFill>
                  <a:schemeClr val="tx1"/>
                </a:solidFill>
                <a:effectLst/>
                <a:latin typeface="+mn-lt"/>
                <a:ea typeface="+mn-ea"/>
                <a:cs typeface="+mn-cs"/>
              </a:rPr>
              <a:t>活动记录的大小和布局由代码生成器通过符号表中存储的名字信息来确定。我们将首先说明如何在过程调用时在一个活动记录中存储返回地址，以及在过程调用结束后如何把控制返回到这个地址。为了方便起见，我们假设活动记录中的第一个位置保存返回地址。</a:t>
            </a:r>
          </a:p>
          <a:p>
            <a:pPr marL="171450" indent="-171450">
              <a:buFont typeface="Arial" panose="020B0604020202020204" pitchFamily="34" charset="0"/>
              <a:buChar char="•"/>
            </a:pPr>
            <a:r>
              <a:rPr lang="zh-CN" altLang="zh-CN" sz="1200" kern="1200" dirty="0">
                <a:solidFill>
                  <a:schemeClr val="tx1"/>
                </a:solidFill>
                <a:effectLst/>
                <a:latin typeface="+mn-lt"/>
                <a:ea typeface="+mn-ea"/>
                <a:cs typeface="+mn-cs"/>
              </a:rPr>
              <a:t>让我们首先考虑实现最简单情况（静态分配）所需的代码。这里，中间代码中的</a:t>
            </a:r>
            <a:r>
              <a:rPr lang="en-US" altLang="zh-CN" sz="1200" kern="1200" dirty="0">
                <a:solidFill>
                  <a:schemeClr val="tx1"/>
                </a:solidFill>
                <a:effectLst/>
                <a:latin typeface="+mn-lt"/>
                <a:ea typeface="+mn-ea"/>
                <a:cs typeface="+mn-cs"/>
              </a:rPr>
              <a:t> call </a:t>
            </a:r>
            <a:r>
              <a:rPr lang="en-US" altLang="zh-CN" sz="1200" kern="1200" dirty="0" err="1">
                <a:solidFill>
                  <a:schemeClr val="tx1"/>
                </a:solidFill>
                <a:effectLst/>
                <a:latin typeface="+mn-lt"/>
                <a:ea typeface="+mn-ea"/>
                <a:cs typeface="+mn-cs"/>
              </a:rPr>
              <a:t>callee</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语句可以通过两个目标机器指令的序列来实现：</a:t>
            </a:r>
            <a:endParaRPr lang="en-US" altLang="zh-CN" sz="1200" kern="1200" dirty="0">
              <a:solidFill>
                <a:schemeClr val="tx1"/>
              </a:solidFill>
              <a:effectLst/>
              <a:latin typeface="+mn-lt"/>
              <a:ea typeface="+mn-ea"/>
              <a:cs typeface="+mn-cs"/>
            </a:endParaRPr>
          </a:p>
          <a:p>
            <a:endParaRPr lang="en-US"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ST</a:t>
            </a:r>
            <a:r>
              <a:rPr lang="zh-CN" altLang="zh-CN" sz="1200" kern="1200" dirty="0">
                <a:solidFill>
                  <a:schemeClr val="tx1"/>
                </a:solidFill>
                <a:effectLst/>
                <a:latin typeface="+mn-lt"/>
                <a:ea typeface="+mn-ea"/>
                <a:cs typeface="+mn-cs"/>
              </a:rPr>
              <a:t>指令把返回地址保存在被调用者活动记录的开始处，</a:t>
            </a:r>
            <a:r>
              <a:rPr lang="en-US" altLang="zh-CN" sz="1200" kern="1200" dirty="0">
                <a:solidFill>
                  <a:schemeClr val="tx1"/>
                </a:solidFill>
                <a:effectLst/>
                <a:latin typeface="+mn-lt"/>
                <a:ea typeface="+mn-ea"/>
                <a:cs typeface="+mn-cs"/>
              </a:rPr>
              <a:t>BR</a:t>
            </a:r>
            <a:r>
              <a:rPr lang="zh-CN" altLang="zh-CN" sz="1200" kern="1200" dirty="0">
                <a:solidFill>
                  <a:schemeClr val="tx1"/>
                </a:solidFill>
                <a:effectLst/>
                <a:latin typeface="+mn-lt"/>
                <a:ea typeface="+mn-ea"/>
                <a:cs typeface="+mn-cs"/>
              </a:rPr>
              <a:t>将控制传递到被调用过程的目标代码上。属性</a:t>
            </a:r>
            <a:r>
              <a:rPr lang="en-US" altLang="zh-CN" sz="1200" kern="1200" dirty="0">
                <a:solidFill>
                  <a:schemeClr val="tx1"/>
                </a:solidFill>
                <a:effectLst/>
                <a:latin typeface="+mn-lt"/>
                <a:ea typeface="+mn-ea"/>
                <a:cs typeface="+mn-cs"/>
              </a:rPr>
              <a:t> </a:t>
            </a:r>
            <a:r>
              <a:rPr lang="en-US" altLang="zh-CN" sz="1200" kern="1200" dirty="0" err="1">
                <a:solidFill>
                  <a:schemeClr val="tx1"/>
                </a:solidFill>
                <a:effectLst/>
                <a:latin typeface="+mn-lt"/>
                <a:ea typeface="+mn-ea"/>
                <a:cs typeface="+mn-cs"/>
              </a:rPr>
              <a:t>callee.staticArea</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是一个常量，它给出了</a:t>
            </a:r>
            <a:r>
              <a:rPr lang="en-US" altLang="zh-CN" sz="1200" kern="1200" dirty="0">
                <a:solidFill>
                  <a:schemeClr val="tx1"/>
                </a:solidFill>
                <a:effectLst/>
                <a:latin typeface="+mn-lt"/>
                <a:ea typeface="+mn-ea"/>
                <a:cs typeface="+mn-cs"/>
              </a:rPr>
              <a:t> </a:t>
            </a:r>
            <a:r>
              <a:rPr lang="en-US" altLang="zh-CN" sz="1200" kern="1200" dirty="0" err="1">
                <a:solidFill>
                  <a:schemeClr val="tx1"/>
                </a:solidFill>
                <a:effectLst/>
                <a:latin typeface="+mn-lt"/>
                <a:ea typeface="+mn-ea"/>
                <a:cs typeface="+mn-cs"/>
              </a:rPr>
              <a:t>callee</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的活动记录的开始地址，属性</a:t>
            </a:r>
            <a:r>
              <a:rPr lang="en-US" altLang="zh-CN" sz="1200" kern="1200" dirty="0">
                <a:solidFill>
                  <a:schemeClr val="tx1"/>
                </a:solidFill>
                <a:effectLst/>
                <a:latin typeface="+mn-lt"/>
                <a:ea typeface="+mn-ea"/>
                <a:cs typeface="+mn-cs"/>
              </a:rPr>
              <a:t> </a:t>
            </a:r>
            <a:r>
              <a:rPr lang="en-US" altLang="zh-CN" sz="1200" kern="1200" dirty="0" err="1">
                <a:solidFill>
                  <a:schemeClr val="tx1"/>
                </a:solidFill>
                <a:effectLst/>
                <a:latin typeface="+mn-lt"/>
                <a:ea typeface="+mn-ea"/>
                <a:cs typeface="+mn-cs"/>
              </a:rPr>
              <a:t>callee.codeArea</a:t>
            </a:r>
            <a:r>
              <a:rPr lang="zh-CN" altLang="zh-CN" sz="1200" kern="1200" dirty="0">
                <a:solidFill>
                  <a:schemeClr val="tx1"/>
                </a:solidFill>
                <a:effectLst/>
                <a:latin typeface="+mn-lt"/>
                <a:ea typeface="+mn-ea"/>
                <a:cs typeface="+mn-cs"/>
              </a:rPr>
              <a:t>也是一个常量，指向运行时内存中的</a:t>
            </a:r>
            <a:r>
              <a:rPr lang="en-US" altLang="zh-CN" sz="1200" kern="1200" dirty="0">
                <a:solidFill>
                  <a:schemeClr val="tx1"/>
                </a:solidFill>
                <a:effectLst/>
                <a:latin typeface="+mn-lt"/>
                <a:ea typeface="+mn-ea"/>
                <a:cs typeface="+mn-cs"/>
              </a:rPr>
              <a:t>code</a:t>
            </a:r>
            <a:r>
              <a:rPr lang="zh-CN" altLang="zh-CN" sz="1200" kern="1200" dirty="0">
                <a:solidFill>
                  <a:schemeClr val="tx1"/>
                </a:solidFill>
                <a:effectLst/>
                <a:latin typeface="+mn-lt"/>
                <a:ea typeface="+mn-ea"/>
                <a:cs typeface="+mn-cs"/>
              </a:rPr>
              <a:t>区中被调用过程</a:t>
            </a:r>
            <a:r>
              <a:rPr lang="en-US" altLang="zh-CN" sz="1200" kern="1200" dirty="0">
                <a:solidFill>
                  <a:schemeClr val="tx1"/>
                </a:solidFill>
                <a:effectLst/>
                <a:latin typeface="+mn-lt"/>
                <a:ea typeface="+mn-ea"/>
                <a:cs typeface="+mn-cs"/>
              </a:rPr>
              <a:t> </a:t>
            </a:r>
            <a:r>
              <a:rPr lang="en-US" altLang="zh-CN" sz="1200" kern="1200" dirty="0" err="1">
                <a:solidFill>
                  <a:schemeClr val="tx1"/>
                </a:solidFill>
                <a:effectLst/>
                <a:latin typeface="+mn-lt"/>
                <a:ea typeface="+mn-ea"/>
                <a:cs typeface="+mn-cs"/>
              </a:rPr>
              <a:t>callee</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的第一条指令的地址。</a:t>
            </a:r>
            <a:endParaRPr lang="en-US" altLang="zh-CN" sz="1200" kern="1200" dirty="0">
              <a:solidFill>
                <a:schemeClr val="tx1"/>
              </a:solidFill>
              <a:effectLst/>
              <a:latin typeface="+mn-lt"/>
              <a:ea typeface="+mn-ea"/>
              <a:cs typeface="+mn-cs"/>
            </a:endParaRPr>
          </a:p>
          <a:p>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kern="1200" dirty="0">
                <a:solidFill>
                  <a:schemeClr val="tx1"/>
                </a:solidFill>
                <a:effectLst/>
                <a:latin typeface="+mn-lt"/>
                <a:ea typeface="+mn-ea"/>
                <a:cs typeface="+mn-cs"/>
              </a:rPr>
              <a:t>ST</a:t>
            </a:r>
            <a:r>
              <a:rPr lang="zh-CN" altLang="zh-CN" sz="1200" kern="1200" dirty="0">
                <a:solidFill>
                  <a:schemeClr val="tx1"/>
                </a:solidFill>
                <a:effectLst/>
                <a:latin typeface="+mn-lt"/>
                <a:ea typeface="+mn-ea"/>
                <a:cs typeface="+mn-cs"/>
              </a:rPr>
              <a:t>指令中的运算分量</a:t>
            </a:r>
            <a:r>
              <a:rPr lang="en-US" altLang="zh-CN" sz="1200" kern="1200" dirty="0">
                <a:solidFill>
                  <a:schemeClr val="tx1"/>
                </a:solidFill>
                <a:effectLst/>
                <a:latin typeface="+mn-lt"/>
                <a:ea typeface="+mn-ea"/>
                <a:cs typeface="+mn-cs"/>
              </a:rPr>
              <a:t>#here + 20</a:t>
            </a:r>
            <a:r>
              <a:rPr lang="zh-CN" altLang="zh-CN" sz="1200" kern="1200" dirty="0">
                <a:solidFill>
                  <a:schemeClr val="tx1"/>
                </a:solidFill>
                <a:effectLst/>
                <a:latin typeface="+mn-lt"/>
                <a:ea typeface="+mn-ea"/>
                <a:cs typeface="+mn-cs"/>
              </a:rPr>
              <a:t>是返回地址的文</a:t>
            </a:r>
            <a:r>
              <a:rPr lang="zh-CN" altLang="en-US" sz="1200" kern="1200" dirty="0">
                <a:solidFill>
                  <a:schemeClr val="tx1"/>
                </a:solidFill>
                <a:effectLst/>
                <a:latin typeface="+mn-lt"/>
                <a:ea typeface="+mn-ea"/>
                <a:cs typeface="+mn-cs"/>
              </a:rPr>
              <a:t>字</a:t>
            </a:r>
            <a:r>
              <a:rPr lang="zh-CN" altLang="zh-CN" sz="1200" kern="1200" dirty="0">
                <a:solidFill>
                  <a:schemeClr val="tx1"/>
                </a:solidFill>
                <a:effectLst/>
                <a:latin typeface="+mn-lt"/>
                <a:ea typeface="+mn-ea"/>
                <a:cs typeface="+mn-cs"/>
              </a:rPr>
              <a:t>表示；它是紧跟在</a:t>
            </a:r>
            <a:r>
              <a:rPr lang="en-US" altLang="zh-CN" sz="1200" kern="1200" dirty="0">
                <a:solidFill>
                  <a:schemeClr val="tx1"/>
                </a:solidFill>
                <a:effectLst/>
                <a:latin typeface="+mn-lt"/>
                <a:ea typeface="+mn-ea"/>
                <a:cs typeface="+mn-cs"/>
              </a:rPr>
              <a:t> BR </a:t>
            </a:r>
            <a:r>
              <a:rPr lang="zh-CN" altLang="zh-CN" sz="1200" kern="1200" dirty="0">
                <a:solidFill>
                  <a:schemeClr val="tx1"/>
                </a:solidFill>
                <a:effectLst/>
                <a:latin typeface="+mn-lt"/>
                <a:ea typeface="+mn-ea"/>
                <a:cs typeface="+mn-cs"/>
              </a:rPr>
              <a:t>指令之后的指令的地址。我们假设</a:t>
            </a:r>
            <a:r>
              <a:rPr lang="en-US" altLang="zh-CN" sz="1200" kern="1200" dirty="0">
                <a:solidFill>
                  <a:schemeClr val="tx1"/>
                </a:solidFill>
                <a:effectLst/>
                <a:latin typeface="+mn-lt"/>
                <a:ea typeface="+mn-ea"/>
                <a:cs typeface="+mn-cs"/>
              </a:rPr>
              <a:t>#here</a:t>
            </a:r>
            <a:r>
              <a:rPr lang="zh-CN" altLang="zh-CN" sz="1200" kern="1200" dirty="0">
                <a:solidFill>
                  <a:schemeClr val="tx1"/>
                </a:solidFill>
                <a:effectLst/>
                <a:latin typeface="+mn-lt"/>
                <a:ea typeface="+mn-ea"/>
                <a:cs typeface="+mn-cs"/>
              </a:rPr>
              <a:t>是当前指令的地址，并且调用序列中的三个常量</a:t>
            </a:r>
            <a:r>
              <a:rPr lang="zh-CN" altLang="en-US" sz="1200" kern="1200" dirty="0">
                <a:solidFill>
                  <a:schemeClr val="tx1"/>
                </a:solidFill>
                <a:effectLst/>
                <a:latin typeface="+mn-lt"/>
                <a:ea typeface="+mn-ea"/>
                <a:cs typeface="+mn-cs"/>
              </a:rPr>
              <a:t>（</a:t>
            </a:r>
            <a:r>
              <a:rPr lang="en-US" altLang="zh-CN" sz="1200" kern="1200" dirty="0" err="1">
                <a:solidFill>
                  <a:schemeClr val="tx1"/>
                </a:solidFill>
                <a:effectLst/>
                <a:latin typeface="+mn-lt"/>
                <a:ea typeface="+mn-ea"/>
                <a:cs typeface="+mn-cs"/>
              </a:rPr>
              <a:t>callee.staticArea</a:t>
            </a:r>
            <a:r>
              <a:rPr lang="zh-CN" altLang="en-US" sz="1200" kern="1200" dirty="0">
                <a:solidFill>
                  <a:schemeClr val="tx1"/>
                </a:solidFill>
                <a:effectLst/>
                <a:latin typeface="+mn-lt"/>
                <a:ea typeface="+mn-ea"/>
                <a:cs typeface="+mn-cs"/>
              </a:rPr>
              <a:t>，</a:t>
            </a:r>
            <a:r>
              <a:rPr lang="en-US" altLang="zh-CN" sz="1200" kern="1200" dirty="0" err="1">
                <a:solidFill>
                  <a:schemeClr val="tx1"/>
                </a:solidFill>
                <a:effectLst/>
                <a:latin typeface="+mn-lt"/>
                <a:ea typeface="+mn-ea"/>
                <a:cs typeface="+mn-cs"/>
              </a:rPr>
              <a:t>callee.codeArea</a:t>
            </a:r>
            <a:r>
              <a:rPr lang="zh-CN" altLang="en-US"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#here + 20</a:t>
            </a:r>
            <a:r>
              <a:rPr lang="zh-CN" altLang="en-US"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加上两条指令</a:t>
            </a:r>
            <a:r>
              <a:rPr lang="zh-CN" altLang="en-US"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ST</a:t>
            </a:r>
            <a:r>
              <a:rPr lang="zh-CN" altLang="en-US"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BR</a:t>
            </a:r>
            <a:r>
              <a:rPr lang="zh-CN" altLang="en-US"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的长度为</a:t>
            </a:r>
            <a:r>
              <a:rPr lang="en-US" altLang="zh-CN" sz="1200" kern="1200" dirty="0">
                <a:solidFill>
                  <a:schemeClr val="tx1"/>
                </a:solidFill>
                <a:effectLst/>
                <a:latin typeface="+mn-lt"/>
                <a:ea typeface="+mn-ea"/>
                <a:cs typeface="+mn-cs"/>
              </a:rPr>
              <a:t>5</a:t>
            </a:r>
            <a:r>
              <a:rPr lang="zh-CN" altLang="zh-CN" sz="1200" kern="1200" dirty="0">
                <a:solidFill>
                  <a:schemeClr val="tx1"/>
                </a:solidFill>
                <a:effectLst/>
                <a:latin typeface="+mn-lt"/>
                <a:ea typeface="+mn-ea"/>
                <a:cs typeface="+mn-cs"/>
              </a:rPr>
              <a:t>个字，即</a:t>
            </a:r>
            <a:r>
              <a:rPr lang="en-US" altLang="zh-CN" sz="1200" kern="1200" dirty="0">
                <a:solidFill>
                  <a:schemeClr val="tx1"/>
                </a:solidFill>
                <a:effectLst/>
                <a:latin typeface="+mn-lt"/>
                <a:ea typeface="+mn-ea"/>
                <a:cs typeface="+mn-cs"/>
              </a:rPr>
              <a:t>20</a:t>
            </a:r>
            <a:r>
              <a:rPr lang="zh-CN" altLang="zh-CN" sz="1200" kern="1200" dirty="0">
                <a:solidFill>
                  <a:schemeClr val="tx1"/>
                </a:solidFill>
                <a:effectLst/>
                <a:latin typeface="+mn-lt"/>
                <a:ea typeface="+mn-ea"/>
                <a:cs typeface="+mn-cs"/>
              </a:rPr>
              <a:t>个字节。</a:t>
            </a:r>
          </a:p>
          <a:p>
            <a:endParaRPr lang="zh-CN" altLang="zh-CN" sz="1200" kern="1200" dirty="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14</a:t>
            </a:fld>
            <a:endParaRPr lang="zh-CN" altLang="en-US"/>
          </a:p>
        </p:txBody>
      </p:sp>
    </p:spTree>
    <p:extLst>
      <p:ext uri="{BB962C8B-B14F-4D97-AF65-F5344CB8AC3E}">
        <p14:creationId xmlns:p14="http://schemas.microsoft.com/office/powerpoint/2010/main" val="405765316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过程代码的结尾处是一个返回到调用过程的指令，但是没有调用者的第一个过程例外，它的最后一个指令是</a:t>
            </a:r>
            <a:r>
              <a:rPr lang="en-US" altLang="zh-CN" sz="1200" kern="1200" dirty="0">
                <a:solidFill>
                  <a:schemeClr val="tx1"/>
                </a:solidFill>
                <a:effectLst/>
                <a:latin typeface="+mn-lt"/>
                <a:ea typeface="+mn-ea"/>
                <a:cs typeface="+mn-cs"/>
              </a:rPr>
              <a:t>HALT</a:t>
            </a:r>
            <a:r>
              <a:rPr lang="zh-CN" altLang="zh-CN" sz="1200" kern="1200" dirty="0">
                <a:solidFill>
                  <a:schemeClr val="tx1"/>
                </a:solidFill>
                <a:effectLst/>
                <a:latin typeface="+mn-lt"/>
                <a:ea typeface="+mn-ea"/>
                <a:cs typeface="+mn-cs"/>
              </a:rPr>
              <a:t>，它将控制权返回给操作系统。</a:t>
            </a:r>
            <a:r>
              <a:rPr lang="en-US" altLang="zh-CN" sz="1200" kern="1200" dirty="0">
                <a:solidFill>
                  <a:schemeClr val="tx1"/>
                </a:solidFill>
                <a:effectLst/>
                <a:latin typeface="+mn-lt"/>
                <a:ea typeface="+mn-ea"/>
                <a:cs typeface="+mn-cs"/>
              </a:rPr>
              <a:t> return </a:t>
            </a:r>
            <a:r>
              <a:rPr lang="zh-CN" altLang="zh-CN" sz="1200" kern="1200" dirty="0">
                <a:solidFill>
                  <a:schemeClr val="tx1"/>
                </a:solidFill>
                <a:effectLst/>
                <a:latin typeface="+mn-lt"/>
                <a:ea typeface="+mn-ea"/>
                <a:cs typeface="+mn-cs"/>
              </a:rPr>
              <a:t>语句可以通过简单的跳转指令</a:t>
            </a:r>
            <a:r>
              <a:rPr lang="en-US" altLang="zh-CN" sz="1200" kern="1200" dirty="0">
                <a:solidFill>
                  <a:schemeClr val="tx1"/>
                </a:solidFill>
                <a:effectLst/>
                <a:latin typeface="+mn-lt"/>
                <a:ea typeface="+mn-ea"/>
                <a:cs typeface="+mn-cs"/>
              </a:rPr>
              <a:t> BR *</a:t>
            </a:r>
            <a:r>
              <a:rPr lang="en-US" altLang="zh-CN" sz="1200" kern="1200" dirty="0" err="1">
                <a:solidFill>
                  <a:schemeClr val="tx1"/>
                </a:solidFill>
                <a:effectLst/>
                <a:latin typeface="+mn-lt"/>
                <a:ea typeface="+mn-ea"/>
                <a:cs typeface="+mn-cs"/>
              </a:rPr>
              <a:t>callee.staticArea</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来实现，该指令将控制转移到被调用者活动记录开头位置的地址上。</a:t>
            </a:r>
            <a:endParaRPr lang="zh-CN" altLang="en-US"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15</a:t>
            </a:fld>
            <a:endParaRPr lang="zh-CN" altLang="en-US"/>
          </a:p>
        </p:txBody>
      </p:sp>
    </p:spTree>
    <p:extLst>
      <p:ext uri="{BB962C8B-B14F-4D97-AF65-F5344CB8AC3E}">
        <p14:creationId xmlns:p14="http://schemas.microsoft.com/office/powerpoint/2010/main" val="405949117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zh-CN" altLang="zh-CN" sz="1200" kern="1200" dirty="0">
                <a:solidFill>
                  <a:schemeClr val="tx1"/>
                </a:solidFill>
                <a:effectLst/>
                <a:latin typeface="+mn-lt"/>
                <a:ea typeface="+mn-ea"/>
                <a:cs typeface="+mn-cs"/>
              </a:rPr>
              <a:t>图</a:t>
            </a:r>
            <a:r>
              <a:rPr lang="en-US" altLang="zh-CN" sz="1200" kern="1200" dirty="0">
                <a:solidFill>
                  <a:schemeClr val="tx1"/>
                </a:solidFill>
                <a:effectLst/>
                <a:latin typeface="+mn-lt"/>
                <a:ea typeface="+mn-ea"/>
                <a:cs typeface="+mn-cs"/>
              </a:rPr>
              <a:t> 8.4 </a:t>
            </a:r>
            <a:r>
              <a:rPr lang="zh-CN" altLang="zh-CN" sz="1200" kern="1200" dirty="0">
                <a:solidFill>
                  <a:schemeClr val="tx1"/>
                </a:solidFill>
                <a:effectLst/>
                <a:latin typeface="+mn-lt"/>
                <a:ea typeface="+mn-ea"/>
                <a:cs typeface="+mn-cs"/>
              </a:rPr>
              <a:t>显示了该三地址代码的目标程序。我们使用伪指令</a:t>
            </a:r>
            <a:r>
              <a:rPr lang="en-US" altLang="zh-CN" sz="1200" kern="1200" dirty="0">
                <a:solidFill>
                  <a:schemeClr val="tx1"/>
                </a:solidFill>
                <a:effectLst/>
                <a:latin typeface="+mn-lt"/>
                <a:ea typeface="+mn-ea"/>
                <a:cs typeface="+mn-cs"/>
              </a:rPr>
              <a:t>ACTION</a:t>
            </a:r>
            <a:r>
              <a:rPr lang="zh-CN" altLang="zh-CN" sz="1200" kern="1200" dirty="0">
                <a:solidFill>
                  <a:schemeClr val="tx1"/>
                </a:solidFill>
                <a:effectLst/>
                <a:latin typeface="+mn-lt"/>
                <a:ea typeface="+mn-ea"/>
                <a:cs typeface="+mn-cs"/>
              </a:rPr>
              <a:t>来表示执行语句</a:t>
            </a:r>
            <a:r>
              <a:rPr lang="en-US" altLang="zh-CN" sz="1200" kern="1200" dirty="0">
                <a:solidFill>
                  <a:schemeClr val="tx1"/>
                </a:solidFill>
                <a:effectLst/>
                <a:latin typeface="+mn-lt"/>
                <a:ea typeface="+mn-ea"/>
                <a:cs typeface="+mn-cs"/>
              </a:rPr>
              <a:t>action</a:t>
            </a:r>
            <a:r>
              <a:rPr lang="zh-CN" altLang="zh-CN" sz="1200" kern="1200" dirty="0">
                <a:solidFill>
                  <a:schemeClr val="tx1"/>
                </a:solidFill>
                <a:effectLst/>
                <a:latin typeface="+mn-lt"/>
                <a:ea typeface="+mn-ea"/>
                <a:cs typeface="+mn-cs"/>
              </a:rPr>
              <a:t>的机器指令序列，它表示与本讨论无关的三地址代码。我们假定过程</a:t>
            </a:r>
            <a:r>
              <a:rPr lang="en-US" altLang="zh-CN" sz="1200" kern="1200" dirty="0">
                <a:solidFill>
                  <a:schemeClr val="tx1"/>
                </a:solidFill>
                <a:effectLst/>
                <a:latin typeface="+mn-lt"/>
                <a:ea typeface="+mn-ea"/>
                <a:cs typeface="+mn-cs"/>
              </a:rPr>
              <a:t> c </a:t>
            </a:r>
            <a:r>
              <a:rPr lang="zh-CN" altLang="zh-CN" sz="1200" kern="1200" dirty="0">
                <a:solidFill>
                  <a:schemeClr val="tx1"/>
                </a:solidFill>
                <a:effectLst/>
                <a:latin typeface="+mn-lt"/>
                <a:ea typeface="+mn-ea"/>
                <a:cs typeface="+mn-cs"/>
              </a:rPr>
              <a:t>的代码从地址</a:t>
            </a:r>
            <a:r>
              <a:rPr lang="en-US" altLang="zh-CN" sz="1200" kern="1200" dirty="0">
                <a:solidFill>
                  <a:schemeClr val="tx1"/>
                </a:solidFill>
                <a:effectLst/>
                <a:latin typeface="+mn-lt"/>
                <a:ea typeface="+mn-ea"/>
                <a:cs typeface="+mn-cs"/>
              </a:rPr>
              <a:t> 100 </a:t>
            </a:r>
            <a:r>
              <a:rPr lang="zh-CN" altLang="zh-CN" sz="1200" kern="1200" dirty="0">
                <a:solidFill>
                  <a:schemeClr val="tx1"/>
                </a:solidFill>
                <a:effectLst/>
                <a:latin typeface="+mn-lt"/>
                <a:ea typeface="+mn-ea"/>
                <a:cs typeface="+mn-cs"/>
              </a:rPr>
              <a:t>处开始，过程</a:t>
            </a:r>
            <a:r>
              <a:rPr lang="en-US" altLang="zh-CN" sz="1200" kern="1200" dirty="0">
                <a:solidFill>
                  <a:schemeClr val="tx1"/>
                </a:solidFill>
                <a:effectLst/>
                <a:latin typeface="+mn-lt"/>
                <a:ea typeface="+mn-ea"/>
                <a:cs typeface="+mn-cs"/>
              </a:rPr>
              <a:t> p </a:t>
            </a:r>
            <a:r>
              <a:rPr lang="zh-CN" altLang="zh-CN" sz="1200" kern="1200" dirty="0">
                <a:solidFill>
                  <a:schemeClr val="tx1"/>
                </a:solidFill>
                <a:effectLst/>
                <a:latin typeface="+mn-lt"/>
                <a:ea typeface="+mn-ea"/>
                <a:cs typeface="+mn-cs"/>
              </a:rPr>
              <a:t>的代码从地址</a:t>
            </a:r>
            <a:r>
              <a:rPr lang="en-US" altLang="zh-CN" sz="1200" kern="1200" dirty="0">
                <a:solidFill>
                  <a:schemeClr val="tx1"/>
                </a:solidFill>
                <a:effectLst/>
                <a:latin typeface="+mn-lt"/>
                <a:ea typeface="+mn-ea"/>
                <a:cs typeface="+mn-cs"/>
              </a:rPr>
              <a:t> 200 </a:t>
            </a:r>
            <a:r>
              <a:rPr lang="zh-CN" altLang="zh-CN" sz="1200" kern="1200" dirty="0">
                <a:solidFill>
                  <a:schemeClr val="tx1"/>
                </a:solidFill>
                <a:effectLst/>
                <a:latin typeface="+mn-lt"/>
                <a:ea typeface="+mn-ea"/>
                <a:cs typeface="+mn-cs"/>
              </a:rPr>
              <a:t>处开始。我们假设每个</a:t>
            </a:r>
            <a:r>
              <a:rPr lang="en-US" altLang="zh-CN" sz="1200" kern="1200" dirty="0">
                <a:solidFill>
                  <a:schemeClr val="tx1"/>
                </a:solidFill>
                <a:effectLst/>
                <a:latin typeface="+mn-lt"/>
                <a:ea typeface="+mn-ea"/>
                <a:cs typeface="+mn-cs"/>
              </a:rPr>
              <a:t> ACTION </a:t>
            </a:r>
            <a:r>
              <a:rPr lang="zh-CN" altLang="zh-CN" sz="1200" kern="1200" dirty="0">
                <a:solidFill>
                  <a:schemeClr val="tx1"/>
                </a:solidFill>
                <a:effectLst/>
                <a:latin typeface="+mn-lt"/>
                <a:ea typeface="+mn-ea"/>
                <a:cs typeface="+mn-cs"/>
              </a:rPr>
              <a:t>伪指令占用</a:t>
            </a:r>
            <a:r>
              <a:rPr lang="en-US" altLang="zh-CN" sz="1200" kern="1200" dirty="0">
                <a:solidFill>
                  <a:schemeClr val="tx1"/>
                </a:solidFill>
                <a:effectLst/>
                <a:latin typeface="+mn-lt"/>
                <a:ea typeface="+mn-ea"/>
                <a:cs typeface="+mn-cs"/>
              </a:rPr>
              <a:t> 20 </a:t>
            </a:r>
            <a:r>
              <a:rPr lang="zh-CN" altLang="zh-CN" sz="1200" kern="1200" dirty="0">
                <a:solidFill>
                  <a:schemeClr val="tx1"/>
                </a:solidFill>
                <a:effectLst/>
                <a:latin typeface="+mn-lt"/>
                <a:ea typeface="+mn-ea"/>
                <a:cs typeface="+mn-cs"/>
              </a:rPr>
              <a:t>个字节。我们进一步假设这些过程的活动记录以静态方式分配，其位置分别是</a:t>
            </a:r>
            <a:r>
              <a:rPr lang="en-US" altLang="zh-CN" sz="1200" kern="1200" dirty="0">
                <a:solidFill>
                  <a:schemeClr val="tx1"/>
                </a:solidFill>
                <a:effectLst/>
                <a:latin typeface="+mn-lt"/>
                <a:ea typeface="+mn-ea"/>
                <a:cs typeface="+mn-cs"/>
              </a:rPr>
              <a:t>300</a:t>
            </a:r>
            <a:r>
              <a:rPr lang="zh-CN" altLang="zh-CN"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364</a:t>
            </a:r>
            <a:r>
              <a:rPr lang="zh-CN" altLang="zh-CN" sz="1200" kern="1200" dirty="0">
                <a:solidFill>
                  <a:schemeClr val="tx1"/>
                </a:solidFill>
                <a:effectLst/>
                <a:latin typeface="+mn-lt"/>
                <a:ea typeface="+mn-ea"/>
                <a:cs typeface="+mn-cs"/>
              </a:rPr>
              <a:t>。</a:t>
            </a:r>
          </a:p>
          <a:p>
            <a:pPr marL="171450" indent="-171450">
              <a:buFont typeface="Arial" panose="020B0604020202020204" pitchFamily="34" charset="0"/>
              <a:buChar char="•"/>
            </a:pPr>
            <a:r>
              <a:rPr lang="zh-CN" altLang="zh-CN" sz="1200" kern="1200" dirty="0">
                <a:solidFill>
                  <a:schemeClr val="tx1"/>
                </a:solidFill>
                <a:effectLst/>
                <a:latin typeface="+mn-lt"/>
                <a:ea typeface="+mn-ea"/>
                <a:cs typeface="+mn-cs"/>
              </a:rPr>
              <a:t>从地址</a:t>
            </a:r>
            <a:r>
              <a:rPr lang="en-US" altLang="zh-CN" sz="1200" kern="1200" dirty="0">
                <a:solidFill>
                  <a:schemeClr val="tx1"/>
                </a:solidFill>
                <a:effectLst/>
                <a:latin typeface="+mn-lt"/>
                <a:ea typeface="+mn-ea"/>
                <a:cs typeface="+mn-cs"/>
              </a:rPr>
              <a:t>100</a:t>
            </a:r>
            <a:r>
              <a:rPr lang="zh-CN" altLang="zh-CN" sz="1200" kern="1200" dirty="0">
                <a:solidFill>
                  <a:schemeClr val="tx1"/>
                </a:solidFill>
                <a:effectLst/>
                <a:latin typeface="+mn-lt"/>
                <a:ea typeface="+mn-ea"/>
                <a:cs typeface="+mn-cs"/>
              </a:rPr>
              <a:t>开始的指令实现了过程</a:t>
            </a:r>
            <a:r>
              <a:rPr lang="en-US" altLang="zh-CN" sz="1200" kern="1200" dirty="0">
                <a:solidFill>
                  <a:schemeClr val="tx1"/>
                </a:solidFill>
                <a:effectLst/>
                <a:latin typeface="+mn-lt"/>
                <a:ea typeface="+mn-ea"/>
                <a:cs typeface="+mn-cs"/>
              </a:rPr>
              <a:t>c</a:t>
            </a:r>
            <a:r>
              <a:rPr lang="zh-CN" altLang="zh-CN" sz="1200" kern="1200" dirty="0">
                <a:solidFill>
                  <a:schemeClr val="tx1"/>
                </a:solidFill>
                <a:effectLst/>
                <a:latin typeface="+mn-lt"/>
                <a:ea typeface="+mn-ea"/>
                <a:cs typeface="+mn-cs"/>
              </a:rPr>
              <a:t>的语句</a:t>
            </a:r>
            <a:r>
              <a:rPr lang="en-US" altLang="zh-CN" sz="1200" kern="1200" dirty="0">
                <a:solidFill>
                  <a:schemeClr val="tx1"/>
                </a:solidFill>
                <a:effectLst/>
                <a:latin typeface="+mn-lt"/>
                <a:ea typeface="+mn-ea"/>
                <a:cs typeface="+mn-cs"/>
              </a:rPr>
              <a:t>.</a:t>
            </a:r>
          </a:p>
          <a:p>
            <a:pPr marL="628650" lvl="1" indent="-171450">
              <a:buFont typeface="Arial" panose="020B0604020202020204" pitchFamily="34" charset="0"/>
              <a:buChar char="•"/>
            </a:pPr>
            <a:r>
              <a:rPr lang="zh-CN" altLang="zh-CN" sz="1200" kern="1200" dirty="0">
                <a:solidFill>
                  <a:schemeClr val="tx1"/>
                </a:solidFill>
                <a:effectLst/>
                <a:latin typeface="+mn-lt"/>
                <a:ea typeface="+mn-ea"/>
                <a:cs typeface="+mn-cs"/>
              </a:rPr>
              <a:t>因此，程序的运行从地址</a:t>
            </a:r>
            <a:r>
              <a:rPr lang="en-US" altLang="zh-CN" sz="1200" kern="1200" dirty="0">
                <a:solidFill>
                  <a:schemeClr val="tx1"/>
                </a:solidFill>
                <a:effectLst/>
                <a:latin typeface="+mn-lt"/>
                <a:ea typeface="+mn-ea"/>
                <a:cs typeface="+mn-cs"/>
              </a:rPr>
              <a:t> 100</a:t>
            </a:r>
            <a:r>
              <a:rPr lang="zh-CN" altLang="zh-CN" sz="1200" kern="1200" dirty="0">
                <a:solidFill>
                  <a:schemeClr val="tx1"/>
                </a:solidFill>
                <a:effectLst/>
                <a:latin typeface="+mn-lt"/>
                <a:ea typeface="+mn-ea"/>
                <a:cs typeface="+mn-cs"/>
              </a:rPr>
              <a:t>上的指令</a:t>
            </a:r>
            <a:r>
              <a:rPr lang="en-US" altLang="zh-CN" sz="1200" kern="1200" dirty="0">
                <a:solidFill>
                  <a:schemeClr val="tx1"/>
                </a:solidFill>
                <a:effectLst/>
                <a:latin typeface="+mn-lt"/>
                <a:ea typeface="+mn-ea"/>
                <a:cs typeface="+mn-cs"/>
              </a:rPr>
              <a:t> ACTION1 </a:t>
            </a:r>
            <a:r>
              <a:rPr lang="zh-CN" altLang="zh-CN" sz="1200" kern="1200" dirty="0">
                <a:solidFill>
                  <a:schemeClr val="tx1"/>
                </a:solidFill>
                <a:effectLst/>
                <a:latin typeface="+mn-lt"/>
                <a:ea typeface="+mn-ea"/>
                <a:cs typeface="+mn-cs"/>
              </a:rPr>
              <a:t>开始。地址</a:t>
            </a:r>
            <a:r>
              <a:rPr lang="en-US" altLang="zh-CN" sz="1200" kern="1200" dirty="0">
                <a:solidFill>
                  <a:schemeClr val="tx1"/>
                </a:solidFill>
                <a:effectLst/>
                <a:latin typeface="+mn-lt"/>
                <a:ea typeface="+mn-ea"/>
                <a:cs typeface="+mn-cs"/>
              </a:rPr>
              <a:t> 120 </a:t>
            </a:r>
            <a:r>
              <a:rPr lang="zh-CN" altLang="zh-CN" sz="1200" kern="1200" dirty="0">
                <a:solidFill>
                  <a:schemeClr val="tx1"/>
                </a:solidFill>
                <a:effectLst/>
                <a:latin typeface="+mn-lt"/>
                <a:ea typeface="+mn-ea"/>
                <a:cs typeface="+mn-cs"/>
              </a:rPr>
              <a:t>处的</a:t>
            </a:r>
            <a:r>
              <a:rPr lang="en-US" altLang="zh-CN" sz="1200" kern="1200" dirty="0">
                <a:solidFill>
                  <a:schemeClr val="tx1"/>
                </a:solidFill>
                <a:effectLst/>
                <a:latin typeface="+mn-lt"/>
                <a:ea typeface="+mn-ea"/>
                <a:cs typeface="+mn-cs"/>
              </a:rPr>
              <a:t> ST </a:t>
            </a:r>
            <a:r>
              <a:rPr lang="zh-CN" altLang="zh-CN" sz="1200" kern="1200" dirty="0">
                <a:solidFill>
                  <a:schemeClr val="tx1"/>
                </a:solidFill>
                <a:effectLst/>
                <a:latin typeface="+mn-lt"/>
                <a:ea typeface="+mn-ea"/>
                <a:cs typeface="+mn-cs"/>
              </a:rPr>
              <a:t>指令将返回地址</a:t>
            </a:r>
            <a:r>
              <a:rPr lang="en-US" altLang="zh-CN" sz="1200" kern="1200" dirty="0">
                <a:solidFill>
                  <a:schemeClr val="tx1"/>
                </a:solidFill>
                <a:effectLst/>
                <a:latin typeface="+mn-lt"/>
                <a:ea typeface="+mn-ea"/>
                <a:cs typeface="+mn-cs"/>
              </a:rPr>
              <a:t> 140 </a:t>
            </a:r>
            <a:r>
              <a:rPr lang="zh-CN" altLang="zh-CN" sz="1200" kern="1200" dirty="0">
                <a:solidFill>
                  <a:schemeClr val="tx1"/>
                </a:solidFill>
                <a:effectLst/>
                <a:latin typeface="+mn-lt"/>
                <a:ea typeface="+mn-ea"/>
                <a:cs typeface="+mn-cs"/>
              </a:rPr>
              <a:t>保存在机器状态字段中，这是</a:t>
            </a:r>
            <a:r>
              <a:rPr lang="en-US" altLang="zh-CN" sz="1200" kern="1200" dirty="0">
                <a:solidFill>
                  <a:schemeClr val="tx1"/>
                </a:solidFill>
                <a:effectLst/>
                <a:latin typeface="+mn-lt"/>
                <a:ea typeface="+mn-ea"/>
                <a:cs typeface="+mn-cs"/>
              </a:rPr>
              <a:t> p </a:t>
            </a:r>
            <a:r>
              <a:rPr lang="zh-CN" altLang="zh-CN" sz="1200" kern="1200" dirty="0">
                <a:solidFill>
                  <a:schemeClr val="tx1"/>
                </a:solidFill>
                <a:effectLst/>
                <a:latin typeface="+mn-lt"/>
                <a:ea typeface="+mn-ea"/>
                <a:cs typeface="+mn-cs"/>
              </a:rPr>
              <a:t>的活动记录中的第一个字。地址</a:t>
            </a:r>
            <a:r>
              <a:rPr lang="en-US" altLang="zh-CN" sz="1200" kern="1200" dirty="0">
                <a:solidFill>
                  <a:schemeClr val="tx1"/>
                </a:solidFill>
                <a:effectLst/>
                <a:latin typeface="+mn-lt"/>
                <a:ea typeface="+mn-ea"/>
                <a:cs typeface="+mn-cs"/>
              </a:rPr>
              <a:t>132</a:t>
            </a:r>
            <a:r>
              <a:rPr lang="zh-CN" altLang="zh-CN" sz="1200" kern="1200" dirty="0">
                <a:solidFill>
                  <a:schemeClr val="tx1"/>
                </a:solidFill>
                <a:effectLst/>
                <a:latin typeface="+mn-lt"/>
                <a:ea typeface="+mn-ea"/>
                <a:cs typeface="+mn-cs"/>
              </a:rPr>
              <a:t>处的</a:t>
            </a:r>
            <a:r>
              <a:rPr lang="en-US" altLang="zh-CN" sz="1200" kern="1200" dirty="0">
                <a:solidFill>
                  <a:schemeClr val="tx1"/>
                </a:solidFill>
                <a:effectLst/>
                <a:latin typeface="+mn-lt"/>
                <a:ea typeface="+mn-ea"/>
                <a:cs typeface="+mn-cs"/>
              </a:rPr>
              <a:t>BR</a:t>
            </a:r>
            <a:r>
              <a:rPr lang="zh-CN" altLang="zh-CN" sz="1200" kern="1200" dirty="0">
                <a:solidFill>
                  <a:schemeClr val="tx1"/>
                </a:solidFill>
                <a:effectLst/>
                <a:latin typeface="+mn-lt"/>
                <a:ea typeface="+mn-ea"/>
                <a:cs typeface="+mn-cs"/>
              </a:rPr>
              <a:t>指令把控制转移到被调用过程</a:t>
            </a:r>
            <a:r>
              <a:rPr lang="en-US" altLang="zh-CN" sz="1200" kern="1200" dirty="0">
                <a:solidFill>
                  <a:schemeClr val="tx1"/>
                </a:solidFill>
                <a:effectLst/>
                <a:latin typeface="+mn-lt"/>
                <a:ea typeface="+mn-ea"/>
                <a:cs typeface="+mn-cs"/>
              </a:rPr>
              <a:t>p</a:t>
            </a:r>
            <a:r>
              <a:rPr lang="zh-CN" altLang="zh-CN" sz="1200" kern="1200" dirty="0">
                <a:solidFill>
                  <a:schemeClr val="tx1"/>
                </a:solidFill>
                <a:effectLst/>
                <a:latin typeface="+mn-lt"/>
                <a:ea typeface="+mn-ea"/>
                <a:cs typeface="+mn-cs"/>
              </a:rPr>
              <a:t>的目标代码中的第一条指令。</a:t>
            </a:r>
          </a:p>
          <a:p>
            <a:r>
              <a:rPr lang="zh-CN" altLang="zh-CN" sz="1200" kern="1200" dirty="0">
                <a:solidFill>
                  <a:schemeClr val="tx1"/>
                </a:solidFill>
                <a:effectLst/>
                <a:latin typeface="+mn-lt"/>
                <a:ea typeface="+mn-ea"/>
                <a:cs typeface="+mn-cs"/>
              </a:rPr>
              <a:t>执行</a:t>
            </a:r>
            <a:r>
              <a:rPr lang="en-US" altLang="zh-CN" sz="1200" kern="1200" dirty="0">
                <a:solidFill>
                  <a:schemeClr val="tx1"/>
                </a:solidFill>
                <a:effectLst/>
                <a:latin typeface="+mn-lt"/>
                <a:ea typeface="+mn-ea"/>
                <a:cs typeface="+mn-cs"/>
              </a:rPr>
              <a:t>ACTION3</a:t>
            </a:r>
            <a:r>
              <a:rPr lang="zh-CN" altLang="zh-CN" sz="1200" kern="1200" dirty="0">
                <a:solidFill>
                  <a:schemeClr val="tx1"/>
                </a:solidFill>
                <a:effectLst/>
                <a:latin typeface="+mn-lt"/>
                <a:ea typeface="+mn-ea"/>
                <a:cs typeface="+mn-cs"/>
              </a:rPr>
              <a:t>后，位于地址</a:t>
            </a:r>
            <a:r>
              <a:rPr lang="en-US" altLang="zh-CN" sz="1200" kern="1200" dirty="0">
                <a:solidFill>
                  <a:schemeClr val="tx1"/>
                </a:solidFill>
                <a:effectLst/>
                <a:latin typeface="+mn-lt"/>
                <a:ea typeface="+mn-ea"/>
                <a:cs typeface="+mn-cs"/>
              </a:rPr>
              <a:t>220</a:t>
            </a:r>
            <a:r>
              <a:rPr lang="zh-CN" altLang="zh-CN" sz="1200" kern="1200" dirty="0">
                <a:solidFill>
                  <a:schemeClr val="tx1"/>
                </a:solidFill>
                <a:effectLst/>
                <a:latin typeface="+mn-lt"/>
                <a:ea typeface="+mn-ea"/>
                <a:cs typeface="+mn-cs"/>
              </a:rPr>
              <a:t>的跳转指令被执行。由于上述调用序列将位置</a:t>
            </a:r>
            <a:r>
              <a:rPr lang="en-US" altLang="zh-CN" sz="1200" kern="1200" dirty="0">
                <a:solidFill>
                  <a:schemeClr val="tx1"/>
                </a:solidFill>
                <a:effectLst/>
                <a:latin typeface="+mn-lt"/>
                <a:ea typeface="+mn-ea"/>
                <a:cs typeface="+mn-cs"/>
              </a:rPr>
              <a:t> 140 </a:t>
            </a:r>
            <a:r>
              <a:rPr lang="zh-CN" altLang="zh-CN" sz="1200" kern="1200" dirty="0">
                <a:solidFill>
                  <a:schemeClr val="tx1"/>
                </a:solidFill>
                <a:effectLst/>
                <a:latin typeface="+mn-lt"/>
                <a:ea typeface="+mn-ea"/>
                <a:cs typeface="+mn-cs"/>
              </a:rPr>
              <a:t>保存在地址</a:t>
            </a:r>
            <a:r>
              <a:rPr lang="en-US" altLang="zh-CN" sz="1200" kern="1200" dirty="0">
                <a:solidFill>
                  <a:schemeClr val="tx1"/>
                </a:solidFill>
                <a:effectLst/>
                <a:latin typeface="+mn-lt"/>
                <a:ea typeface="+mn-ea"/>
                <a:cs typeface="+mn-cs"/>
              </a:rPr>
              <a:t> 364 </a:t>
            </a:r>
            <a:r>
              <a:rPr lang="zh-CN" altLang="zh-CN" sz="1200" kern="1200" dirty="0">
                <a:solidFill>
                  <a:schemeClr val="tx1"/>
                </a:solidFill>
                <a:effectLst/>
                <a:latin typeface="+mn-lt"/>
                <a:ea typeface="+mn-ea"/>
                <a:cs typeface="+mn-cs"/>
              </a:rPr>
              <a:t>处，因此当执行地址</a:t>
            </a:r>
            <a:r>
              <a:rPr lang="en-US" altLang="zh-CN" sz="1200" kern="1200" dirty="0">
                <a:solidFill>
                  <a:schemeClr val="tx1"/>
                </a:solidFill>
                <a:effectLst/>
                <a:latin typeface="+mn-lt"/>
                <a:ea typeface="+mn-ea"/>
                <a:cs typeface="+mn-cs"/>
              </a:rPr>
              <a:t> 220 </a:t>
            </a:r>
            <a:r>
              <a:rPr lang="zh-CN" altLang="zh-CN" sz="1200" kern="1200" dirty="0">
                <a:solidFill>
                  <a:schemeClr val="tx1"/>
                </a:solidFill>
                <a:effectLst/>
                <a:latin typeface="+mn-lt"/>
                <a:ea typeface="+mn-ea"/>
                <a:cs typeface="+mn-cs"/>
              </a:rPr>
              <a:t>处的</a:t>
            </a:r>
            <a:r>
              <a:rPr lang="en-US" altLang="zh-CN" sz="1200" kern="1200" dirty="0">
                <a:solidFill>
                  <a:schemeClr val="tx1"/>
                </a:solidFill>
                <a:effectLst/>
                <a:latin typeface="+mn-lt"/>
                <a:ea typeface="+mn-ea"/>
                <a:cs typeface="+mn-cs"/>
              </a:rPr>
              <a:t> BR </a:t>
            </a:r>
            <a:r>
              <a:rPr lang="zh-CN" altLang="zh-CN" sz="1200" kern="1200" dirty="0">
                <a:solidFill>
                  <a:schemeClr val="tx1"/>
                </a:solidFill>
                <a:effectLst/>
                <a:latin typeface="+mn-lt"/>
                <a:ea typeface="+mn-ea"/>
                <a:cs typeface="+mn-cs"/>
              </a:rPr>
              <a:t>语句时，</a:t>
            </a:r>
            <a:r>
              <a:rPr lang="en-US" altLang="zh-CN" sz="1200" kern="1200" dirty="0">
                <a:solidFill>
                  <a:schemeClr val="tx1"/>
                </a:solidFill>
                <a:effectLst/>
                <a:latin typeface="+mn-lt"/>
                <a:ea typeface="+mn-ea"/>
                <a:cs typeface="+mn-cs"/>
              </a:rPr>
              <a:t>*364 </a:t>
            </a:r>
            <a:r>
              <a:rPr lang="zh-CN" altLang="zh-CN" sz="1200" kern="1200" dirty="0">
                <a:solidFill>
                  <a:schemeClr val="tx1"/>
                </a:solidFill>
                <a:effectLst/>
                <a:latin typeface="+mn-lt"/>
                <a:ea typeface="+mn-ea"/>
                <a:cs typeface="+mn-cs"/>
              </a:rPr>
              <a:t>代表</a:t>
            </a:r>
            <a:r>
              <a:rPr lang="en-US" altLang="zh-CN" sz="1200" kern="1200" dirty="0">
                <a:solidFill>
                  <a:schemeClr val="tx1"/>
                </a:solidFill>
                <a:effectLst/>
                <a:latin typeface="+mn-lt"/>
                <a:ea typeface="+mn-ea"/>
                <a:cs typeface="+mn-cs"/>
              </a:rPr>
              <a:t> 140</a:t>
            </a:r>
            <a:r>
              <a:rPr lang="zh-CN" altLang="zh-CN" sz="1200" kern="1200" dirty="0">
                <a:solidFill>
                  <a:schemeClr val="tx1"/>
                </a:solidFill>
                <a:effectLst/>
                <a:latin typeface="+mn-lt"/>
                <a:ea typeface="+mn-ea"/>
                <a:cs typeface="+mn-cs"/>
              </a:rPr>
              <a:t>。因此，当过程</a:t>
            </a:r>
            <a:r>
              <a:rPr lang="en-US" altLang="zh-CN" sz="1200" kern="1200" dirty="0">
                <a:solidFill>
                  <a:schemeClr val="tx1"/>
                </a:solidFill>
                <a:effectLst/>
                <a:latin typeface="+mn-lt"/>
                <a:ea typeface="+mn-ea"/>
                <a:cs typeface="+mn-cs"/>
              </a:rPr>
              <a:t>p</a:t>
            </a:r>
            <a:r>
              <a:rPr lang="zh-CN" altLang="zh-CN" sz="1200" kern="1200" dirty="0">
                <a:solidFill>
                  <a:schemeClr val="tx1"/>
                </a:solidFill>
                <a:effectLst/>
                <a:latin typeface="+mn-lt"/>
                <a:ea typeface="+mn-ea"/>
                <a:cs typeface="+mn-cs"/>
              </a:rPr>
              <a:t>终止时，控制返回到地址</a:t>
            </a:r>
            <a:r>
              <a:rPr lang="en-US" altLang="zh-CN" sz="1200" kern="1200" dirty="0">
                <a:solidFill>
                  <a:schemeClr val="tx1"/>
                </a:solidFill>
                <a:effectLst/>
                <a:latin typeface="+mn-lt"/>
                <a:ea typeface="+mn-ea"/>
                <a:cs typeface="+mn-cs"/>
              </a:rPr>
              <a:t>140</a:t>
            </a:r>
            <a:r>
              <a:rPr lang="zh-CN" altLang="zh-CN" sz="1200" kern="1200" dirty="0">
                <a:solidFill>
                  <a:schemeClr val="tx1"/>
                </a:solidFill>
                <a:effectLst/>
                <a:latin typeface="+mn-lt"/>
                <a:ea typeface="+mn-ea"/>
                <a:cs typeface="+mn-cs"/>
              </a:rPr>
              <a:t>，过程</a:t>
            </a:r>
            <a:r>
              <a:rPr lang="en-US" altLang="zh-CN" sz="1200" kern="1200" dirty="0">
                <a:solidFill>
                  <a:schemeClr val="tx1"/>
                </a:solidFill>
                <a:effectLst/>
                <a:latin typeface="+mn-lt"/>
                <a:ea typeface="+mn-ea"/>
                <a:cs typeface="+mn-cs"/>
              </a:rPr>
              <a:t>c</a:t>
            </a:r>
            <a:r>
              <a:rPr lang="zh-CN" altLang="zh-CN" sz="1200" kern="1200" dirty="0">
                <a:solidFill>
                  <a:schemeClr val="tx1"/>
                </a:solidFill>
                <a:effectLst/>
                <a:latin typeface="+mn-lt"/>
                <a:ea typeface="+mn-ea"/>
                <a:cs typeface="+mn-cs"/>
              </a:rPr>
              <a:t>继续执行。</a:t>
            </a:r>
          </a:p>
          <a:p>
            <a:endParaRPr lang="zh-CN" altLang="en-US"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16</a:t>
            </a:fld>
            <a:endParaRPr lang="zh-CN" altLang="en-US"/>
          </a:p>
        </p:txBody>
      </p:sp>
    </p:spTree>
    <p:extLst>
      <p:ext uri="{BB962C8B-B14F-4D97-AF65-F5344CB8AC3E}">
        <p14:creationId xmlns:p14="http://schemas.microsoft.com/office/powerpoint/2010/main" val="73633441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zh-CN" altLang="zh-CN" sz="1200" kern="1200" dirty="0">
                <a:solidFill>
                  <a:schemeClr val="tx1"/>
                </a:solidFill>
                <a:effectLst/>
                <a:latin typeface="+mn-lt"/>
                <a:ea typeface="+mn-ea"/>
                <a:cs typeface="+mn-cs"/>
              </a:rPr>
              <a:t>如果在保存活动记录时使用相对地址，静态分配就可以变栈分配。</a:t>
            </a:r>
            <a:endParaRPr lang="en-US" altLang="zh-CN" sz="1200" kern="1200" dirty="0">
              <a:solidFill>
                <a:schemeClr val="tx1"/>
              </a:solidFill>
              <a:effectLst/>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zh-CN" altLang="zh-CN" sz="1200" kern="1200" dirty="0">
                <a:solidFill>
                  <a:schemeClr val="tx1"/>
                </a:solidFill>
                <a:effectLst/>
                <a:latin typeface="+mn-lt"/>
                <a:ea typeface="+mn-ea"/>
                <a:cs typeface="+mn-cs"/>
              </a:rPr>
              <a:t>然而，在栈分配中，只有等到运行时才能知道一个过程的活动记录的位置。该位置通常存储在寄存器中，因此活动记录中的字可以通过相对于寄存器中值的偏移量来访问。目标机器的下标地址模式可以方便地完成这种访问。</a:t>
            </a:r>
            <a:endParaRPr lang="en-US" altLang="zh-CN" sz="1200" kern="1200" dirty="0">
              <a:solidFill>
                <a:schemeClr val="tx1"/>
              </a:solidFill>
              <a:effectLst/>
              <a:latin typeface="+mn-lt"/>
              <a:ea typeface="+mn-ea"/>
              <a:cs typeface="+mn-cs"/>
            </a:endParaRP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zh-CN" altLang="zh-CN" sz="1200" kern="1200" dirty="0">
                <a:solidFill>
                  <a:schemeClr val="tx1"/>
                </a:solidFill>
                <a:effectLst/>
                <a:latin typeface="+mn-lt"/>
                <a:ea typeface="+mn-ea"/>
                <a:cs typeface="+mn-cs"/>
              </a:rPr>
              <a:t>活动记录的相对地址可以用相对于活动记录中的任一已知位置的偏移量来表示，正如我们在第</a:t>
            </a:r>
            <a:r>
              <a:rPr lang="en-US" altLang="zh-CN" sz="1200" kern="1200" dirty="0">
                <a:solidFill>
                  <a:schemeClr val="tx1"/>
                </a:solidFill>
                <a:effectLst/>
                <a:latin typeface="+mn-lt"/>
                <a:ea typeface="+mn-ea"/>
                <a:cs typeface="+mn-cs"/>
              </a:rPr>
              <a:t> 7 </a:t>
            </a:r>
            <a:r>
              <a:rPr lang="zh-CN" altLang="zh-CN" sz="1200" kern="1200" dirty="0">
                <a:solidFill>
                  <a:schemeClr val="tx1"/>
                </a:solidFill>
                <a:effectLst/>
                <a:latin typeface="+mn-lt"/>
                <a:ea typeface="+mn-ea"/>
                <a:cs typeface="+mn-cs"/>
              </a:rPr>
              <a:t>章中看到的那样。那么，我们将在寄存器</a:t>
            </a:r>
            <a:r>
              <a:rPr lang="en-US" altLang="zh-CN" sz="1200" kern="1200" dirty="0">
                <a:solidFill>
                  <a:schemeClr val="tx1"/>
                </a:solidFill>
                <a:effectLst/>
                <a:latin typeface="+mn-lt"/>
                <a:ea typeface="+mn-ea"/>
                <a:cs typeface="+mn-cs"/>
              </a:rPr>
              <a:t> SP </a:t>
            </a:r>
            <a:r>
              <a:rPr lang="zh-CN" altLang="zh-CN" sz="1200" kern="1200" dirty="0">
                <a:solidFill>
                  <a:schemeClr val="tx1"/>
                </a:solidFill>
                <a:effectLst/>
                <a:latin typeface="+mn-lt"/>
                <a:ea typeface="+mn-ea"/>
                <a:cs typeface="+mn-cs"/>
              </a:rPr>
              <a:t>中维护一个指向栈顶活动记录开始处的指针，这样就可以使所有的偏移量都是正偏移量。当过程调用发生时，调用过程增加</a:t>
            </a:r>
            <a:r>
              <a:rPr lang="en-US" altLang="zh-CN" sz="1200" kern="1200" dirty="0">
                <a:solidFill>
                  <a:schemeClr val="tx1"/>
                </a:solidFill>
                <a:effectLst/>
                <a:latin typeface="+mn-lt"/>
                <a:ea typeface="+mn-ea"/>
                <a:cs typeface="+mn-cs"/>
              </a:rPr>
              <a:t> SP</a:t>
            </a:r>
            <a:r>
              <a:rPr lang="zh-CN" altLang="zh-CN" sz="1200" kern="1200" dirty="0">
                <a:solidFill>
                  <a:schemeClr val="tx1"/>
                </a:solidFill>
                <a:effectLst/>
                <a:latin typeface="+mn-lt"/>
                <a:ea typeface="+mn-ea"/>
                <a:cs typeface="+mn-cs"/>
              </a:rPr>
              <a:t>的值，并将控制权转移给被调用过程。当控制权返回给调用者后，我们减少</a:t>
            </a:r>
            <a:r>
              <a:rPr lang="en-US" altLang="zh-CN" sz="1200" kern="1200" dirty="0">
                <a:solidFill>
                  <a:schemeClr val="tx1"/>
                </a:solidFill>
                <a:effectLst/>
                <a:latin typeface="+mn-lt"/>
                <a:ea typeface="+mn-ea"/>
                <a:cs typeface="+mn-cs"/>
              </a:rPr>
              <a:t>SP</a:t>
            </a:r>
            <a:r>
              <a:rPr lang="zh-CN" altLang="zh-CN" sz="1200" kern="1200" dirty="0">
                <a:solidFill>
                  <a:schemeClr val="tx1"/>
                </a:solidFill>
                <a:effectLst/>
                <a:latin typeface="+mn-lt"/>
                <a:ea typeface="+mn-ea"/>
                <a:cs typeface="+mn-cs"/>
              </a:rPr>
              <a:t>的值，从而释放被调用过程的活动记录。</a:t>
            </a:r>
            <a:endParaRPr lang="en-US" altLang="zh-CN" sz="1200" kern="1200" dirty="0">
              <a:solidFill>
                <a:schemeClr val="tx1"/>
              </a:solidFill>
              <a:effectLst/>
              <a:latin typeface="+mn-lt"/>
              <a:ea typeface="+mn-ea"/>
              <a:cs typeface="+mn-cs"/>
            </a:endParaRPr>
          </a:p>
          <a:p>
            <a:pPr marL="171450" indent="-171450">
              <a:buFont typeface="Arial" panose="020B0604020202020204" pitchFamily="34" charset="0"/>
              <a:buChar char="•"/>
            </a:pPr>
            <a:r>
              <a:rPr lang="zh-CN" altLang="zh-CN" sz="1200" kern="1200" dirty="0">
                <a:solidFill>
                  <a:schemeClr val="tx1"/>
                </a:solidFill>
                <a:effectLst/>
                <a:latin typeface="+mn-lt"/>
                <a:ea typeface="+mn-ea"/>
                <a:cs typeface="+mn-cs"/>
              </a:rPr>
              <a:t>第一个过程的代码通过将</a:t>
            </a:r>
            <a:r>
              <a:rPr lang="en-US" altLang="zh-CN" sz="1200" kern="1200" dirty="0">
                <a:solidFill>
                  <a:schemeClr val="tx1"/>
                </a:solidFill>
                <a:effectLst/>
                <a:latin typeface="+mn-lt"/>
                <a:ea typeface="+mn-ea"/>
                <a:cs typeface="+mn-cs"/>
              </a:rPr>
              <a:t> SP </a:t>
            </a:r>
            <a:r>
              <a:rPr lang="zh-CN" altLang="zh-CN" sz="1200" kern="1200" dirty="0">
                <a:solidFill>
                  <a:schemeClr val="tx1"/>
                </a:solidFill>
                <a:effectLst/>
                <a:latin typeface="+mn-lt"/>
                <a:ea typeface="+mn-ea"/>
                <a:cs typeface="+mn-cs"/>
              </a:rPr>
              <a:t>设置为内存中栈区的开始位置，完成对栈的初始化：</a:t>
            </a:r>
          </a:p>
          <a:p>
            <a:endParaRPr lang="zh-CN" altLang="en-US"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17</a:t>
            </a:fld>
            <a:endParaRPr lang="zh-CN" altLang="en-US"/>
          </a:p>
        </p:txBody>
      </p:sp>
    </p:spTree>
    <p:extLst>
      <p:ext uri="{BB962C8B-B14F-4D97-AF65-F5344CB8AC3E}">
        <p14:creationId xmlns:p14="http://schemas.microsoft.com/office/powerpoint/2010/main" val="245185381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zh-CN" altLang="zh-CN" sz="1200" kern="1200" dirty="0">
                <a:solidFill>
                  <a:schemeClr val="tx1"/>
                </a:solidFill>
                <a:effectLst/>
                <a:latin typeface="+mn-lt"/>
                <a:ea typeface="+mn-ea"/>
                <a:cs typeface="+mn-cs"/>
              </a:rPr>
              <a:t>一个过程调用序列递增</a:t>
            </a:r>
            <a:r>
              <a:rPr lang="en-US" altLang="zh-CN" sz="1200" kern="1200" dirty="0">
                <a:solidFill>
                  <a:schemeClr val="tx1"/>
                </a:solidFill>
                <a:effectLst/>
                <a:latin typeface="+mn-lt"/>
                <a:ea typeface="+mn-ea"/>
                <a:cs typeface="+mn-cs"/>
              </a:rPr>
              <a:t> SP</a:t>
            </a:r>
            <a:r>
              <a:rPr lang="zh-CN" altLang="zh-CN" sz="1200" kern="1200" dirty="0">
                <a:solidFill>
                  <a:schemeClr val="tx1"/>
                </a:solidFill>
                <a:effectLst/>
                <a:latin typeface="+mn-lt"/>
                <a:ea typeface="+mn-ea"/>
                <a:cs typeface="+mn-cs"/>
              </a:rPr>
              <a:t>的值，保存返回地址，并将控制权转移到被调用的过程</a:t>
            </a:r>
            <a:r>
              <a:rPr lang="zh-CN" altLang="en-US" sz="1200" kern="1200" dirty="0">
                <a:solidFill>
                  <a:schemeClr val="tx1"/>
                </a:solidFill>
                <a:effectLst/>
                <a:latin typeface="+mn-lt"/>
                <a:ea typeface="+mn-ea"/>
                <a:cs typeface="+mn-cs"/>
              </a:rPr>
              <a:t>：</a:t>
            </a:r>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运算分量</a:t>
            </a:r>
            <a:r>
              <a:rPr lang="en-US" altLang="zh-CN" sz="1200" kern="1200" dirty="0">
                <a:solidFill>
                  <a:schemeClr val="tx1"/>
                </a:solidFill>
                <a:effectLst/>
                <a:latin typeface="+mn-lt"/>
                <a:ea typeface="+mn-ea"/>
                <a:cs typeface="+mn-cs"/>
              </a:rPr>
              <a:t>#</a:t>
            </a:r>
            <a:r>
              <a:rPr lang="en-US" altLang="zh-CN" sz="1200" kern="1200" dirty="0" err="1">
                <a:solidFill>
                  <a:schemeClr val="tx1"/>
                </a:solidFill>
                <a:effectLst/>
                <a:latin typeface="+mn-lt"/>
                <a:ea typeface="+mn-ea"/>
                <a:cs typeface="+mn-cs"/>
              </a:rPr>
              <a:t>caller.recordSize</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表示一条活动记录的大小，因此</a:t>
            </a:r>
            <a:r>
              <a:rPr lang="en-US" altLang="zh-CN" sz="1200" kern="1200" dirty="0">
                <a:solidFill>
                  <a:schemeClr val="tx1"/>
                </a:solidFill>
                <a:effectLst/>
                <a:latin typeface="+mn-lt"/>
                <a:ea typeface="+mn-ea"/>
                <a:cs typeface="+mn-cs"/>
              </a:rPr>
              <a:t>ADD </a:t>
            </a:r>
            <a:r>
              <a:rPr lang="zh-CN" altLang="zh-CN" sz="1200" kern="1200" dirty="0">
                <a:solidFill>
                  <a:schemeClr val="tx1"/>
                </a:solidFill>
                <a:effectLst/>
                <a:latin typeface="+mn-lt"/>
                <a:ea typeface="+mn-ea"/>
                <a:cs typeface="+mn-cs"/>
              </a:rPr>
              <a:t>指令使</a:t>
            </a:r>
            <a:r>
              <a:rPr lang="en-US" altLang="zh-CN" sz="1200" kern="1200" dirty="0">
                <a:solidFill>
                  <a:schemeClr val="tx1"/>
                </a:solidFill>
                <a:effectLst/>
                <a:latin typeface="+mn-lt"/>
                <a:ea typeface="+mn-ea"/>
                <a:cs typeface="+mn-cs"/>
              </a:rPr>
              <a:t>SP </a:t>
            </a:r>
            <a:r>
              <a:rPr lang="zh-CN" altLang="zh-CN" sz="1200" kern="1200" dirty="0">
                <a:solidFill>
                  <a:schemeClr val="tx1"/>
                </a:solidFill>
                <a:effectLst/>
                <a:latin typeface="+mn-lt"/>
                <a:ea typeface="+mn-ea"/>
                <a:cs typeface="+mn-cs"/>
              </a:rPr>
              <a:t>指向下一条活动记录。</a:t>
            </a:r>
            <a:r>
              <a:rPr lang="en-US" altLang="zh-CN" sz="1200" kern="1200" dirty="0">
                <a:solidFill>
                  <a:schemeClr val="tx1"/>
                </a:solidFill>
                <a:effectLst/>
                <a:latin typeface="+mn-lt"/>
                <a:ea typeface="+mn-ea"/>
                <a:cs typeface="+mn-cs"/>
              </a:rPr>
              <a:t> </a:t>
            </a:r>
          </a:p>
          <a:p>
            <a:r>
              <a:rPr lang="en-US" altLang="zh-CN" sz="1200" kern="1200" dirty="0">
                <a:solidFill>
                  <a:schemeClr val="tx1"/>
                </a:solidFill>
                <a:effectLst/>
                <a:latin typeface="+mn-lt"/>
                <a:ea typeface="+mn-ea"/>
                <a:cs typeface="+mn-cs"/>
              </a:rPr>
              <a:t>ST</a:t>
            </a:r>
            <a:r>
              <a:rPr lang="zh-CN" altLang="zh-CN" sz="1200" kern="1200" dirty="0">
                <a:solidFill>
                  <a:schemeClr val="tx1"/>
                </a:solidFill>
                <a:effectLst/>
                <a:latin typeface="+mn-lt"/>
                <a:ea typeface="+mn-ea"/>
                <a:cs typeface="+mn-cs"/>
              </a:rPr>
              <a:t>指令中的运算分量</a:t>
            </a:r>
            <a:r>
              <a:rPr lang="en-US" altLang="zh-CN" sz="1200" kern="1200" dirty="0">
                <a:solidFill>
                  <a:schemeClr val="tx1"/>
                </a:solidFill>
                <a:effectLst/>
                <a:latin typeface="+mn-lt"/>
                <a:ea typeface="+mn-ea"/>
                <a:cs typeface="+mn-cs"/>
              </a:rPr>
              <a:t>#here+16</a:t>
            </a:r>
            <a:r>
              <a:rPr lang="zh-CN" altLang="zh-CN" sz="1200" kern="1200" dirty="0">
                <a:solidFill>
                  <a:schemeClr val="tx1"/>
                </a:solidFill>
                <a:effectLst/>
                <a:latin typeface="+mn-lt"/>
                <a:ea typeface="+mn-ea"/>
                <a:cs typeface="+mn-cs"/>
              </a:rPr>
              <a:t>是跟随</a:t>
            </a:r>
            <a:r>
              <a:rPr lang="en-US" altLang="zh-CN" sz="1200" kern="1200" dirty="0">
                <a:solidFill>
                  <a:schemeClr val="tx1"/>
                </a:solidFill>
                <a:effectLst/>
                <a:latin typeface="+mn-lt"/>
                <a:ea typeface="+mn-ea"/>
                <a:cs typeface="+mn-cs"/>
              </a:rPr>
              <a:t>BR</a:t>
            </a:r>
            <a:r>
              <a:rPr lang="zh-CN" altLang="zh-CN" sz="1200" kern="1200" dirty="0">
                <a:solidFill>
                  <a:schemeClr val="tx1"/>
                </a:solidFill>
                <a:effectLst/>
                <a:latin typeface="+mn-lt"/>
                <a:ea typeface="+mn-ea"/>
                <a:cs typeface="+mn-cs"/>
              </a:rPr>
              <a:t>之后的指令的地址；它保存在</a:t>
            </a:r>
            <a:r>
              <a:rPr lang="en-US" altLang="zh-CN" sz="1200" kern="1200" dirty="0">
                <a:solidFill>
                  <a:schemeClr val="tx1"/>
                </a:solidFill>
                <a:effectLst/>
                <a:latin typeface="+mn-lt"/>
                <a:ea typeface="+mn-ea"/>
                <a:cs typeface="+mn-cs"/>
              </a:rPr>
              <a:t>SP</a:t>
            </a:r>
            <a:r>
              <a:rPr lang="zh-CN" altLang="zh-CN" sz="1200" kern="1200" dirty="0">
                <a:solidFill>
                  <a:schemeClr val="tx1"/>
                </a:solidFill>
                <a:effectLst/>
                <a:latin typeface="+mn-lt"/>
                <a:ea typeface="+mn-ea"/>
                <a:cs typeface="+mn-cs"/>
              </a:rPr>
              <a:t>指向的地址中。</a:t>
            </a:r>
          </a:p>
          <a:p>
            <a:pPr marL="171450" indent="-171450">
              <a:buFont typeface="Arial" panose="020B0604020202020204" pitchFamily="34" charset="0"/>
              <a:buChar char="•"/>
            </a:pPr>
            <a:r>
              <a:rPr lang="zh-CN" altLang="zh-CN" sz="1200" kern="1200" dirty="0">
                <a:solidFill>
                  <a:schemeClr val="tx1"/>
                </a:solidFill>
                <a:effectLst/>
                <a:latin typeface="+mn-lt"/>
                <a:ea typeface="+mn-ea"/>
                <a:cs typeface="+mn-cs"/>
              </a:rPr>
              <a:t>返回序列由两部分组成。</a:t>
            </a:r>
            <a:endParaRPr lang="en-US" altLang="zh-CN" sz="1200" kern="1200" dirty="0">
              <a:solidFill>
                <a:schemeClr val="tx1"/>
              </a:solidFill>
              <a:effectLst/>
              <a:latin typeface="+mn-lt"/>
              <a:ea typeface="+mn-ea"/>
              <a:cs typeface="+mn-cs"/>
            </a:endParaRPr>
          </a:p>
          <a:p>
            <a:pPr marL="628650" lvl="1" indent="-171450">
              <a:buFont typeface="Arial" panose="020B0604020202020204" pitchFamily="34" charset="0"/>
              <a:buChar char="•"/>
            </a:pPr>
            <a:r>
              <a:rPr lang="zh-CN" altLang="zh-CN" sz="1200" kern="1200" dirty="0">
                <a:solidFill>
                  <a:schemeClr val="tx1"/>
                </a:solidFill>
                <a:effectLst/>
                <a:latin typeface="+mn-lt"/>
                <a:ea typeface="+mn-ea"/>
                <a:cs typeface="+mn-cs"/>
              </a:rPr>
              <a:t>被调用的过程使用以下命令将控制权转移到返回地址：在</a:t>
            </a:r>
            <a:r>
              <a:rPr lang="en-US" altLang="zh-CN" sz="1200" kern="1200" dirty="0">
                <a:solidFill>
                  <a:schemeClr val="tx1"/>
                </a:solidFill>
                <a:effectLst/>
                <a:latin typeface="+mn-lt"/>
                <a:ea typeface="+mn-ea"/>
                <a:cs typeface="+mn-cs"/>
              </a:rPr>
              <a:t>BR</a:t>
            </a:r>
            <a:r>
              <a:rPr lang="zh-CN" altLang="zh-CN" sz="1200" kern="1200" dirty="0">
                <a:solidFill>
                  <a:schemeClr val="tx1"/>
                </a:solidFill>
                <a:effectLst/>
                <a:latin typeface="+mn-lt"/>
                <a:ea typeface="+mn-ea"/>
                <a:cs typeface="+mn-cs"/>
              </a:rPr>
              <a:t>指令中使用</a:t>
            </a:r>
            <a:r>
              <a:rPr lang="en-US" altLang="zh-CN" sz="1200" kern="1200" dirty="0">
                <a:solidFill>
                  <a:schemeClr val="tx1"/>
                </a:solidFill>
                <a:effectLst/>
                <a:latin typeface="+mn-lt"/>
                <a:ea typeface="+mn-ea"/>
                <a:cs typeface="+mn-cs"/>
              </a:rPr>
              <a:t>*0(SP)</a:t>
            </a:r>
            <a:r>
              <a:rPr lang="zh-CN" altLang="zh-CN" sz="1200" kern="1200" dirty="0">
                <a:solidFill>
                  <a:schemeClr val="tx1"/>
                </a:solidFill>
                <a:effectLst/>
                <a:latin typeface="+mn-lt"/>
                <a:ea typeface="+mn-ea"/>
                <a:cs typeface="+mn-cs"/>
              </a:rPr>
              <a:t>的原因是我们需要两级间接寻址：</a:t>
            </a:r>
            <a:r>
              <a:rPr lang="en-US" altLang="zh-CN" sz="1200" kern="1200" dirty="0">
                <a:solidFill>
                  <a:schemeClr val="tx1"/>
                </a:solidFill>
                <a:effectLst/>
                <a:latin typeface="+mn-lt"/>
                <a:ea typeface="+mn-ea"/>
                <a:cs typeface="+mn-cs"/>
              </a:rPr>
              <a:t>0(SP)</a:t>
            </a:r>
            <a:r>
              <a:rPr lang="zh-CN" altLang="zh-CN" sz="1200" kern="1200" dirty="0">
                <a:solidFill>
                  <a:schemeClr val="tx1"/>
                </a:solidFill>
                <a:effectLst/>
                <a:latin typeface="+mn-lt"/>
                <a:ea typeface="+mn-ea"/>
                <a:cs typeface="+mn-cs"/>
              </a:rPr>
              <a:t>是活动记录中第一个字所在的位置，而</a:t>
            </a:r>
            <a:r>
              <a:rPr lang="en-US" altLang="zh-CN" sz="1200" kern="1200" dirty="0">
                <a:solidFill>
                  <a:schemeClr val="tx1"/>
                </a:solidFill>
                <a:effectLst/>
                <a:latin typeface="+mn-lt"/>
                <a:ea typeface="+mn-ea"/>
                <a:cs typeface="+mn-cs"/>
              </a:rPr>
              <a:t>*0(SP)</a:t>
            </a:r>
            <a:r>
              <a:rPr lang="zh-CN" altLang="zh-CN" sz="1200" kern="1200" dirty="0">
                <a:solidFill>
                  <a:schemeClr val="tx1"/>
                </a:solidFill>
                <a:effectLst/>
                <a:latin typeface="+mn-lt"/>
                <a:ea typeface="+mn-ea"/>
                <a:cs typeface="+mn-cs"/>
              </a:rPr>
              <a:t>是保存在那里的返回地址。</a:t>
            </a:r>
          </a:p>
          <a:p>
            <a:pPr marL="628650" lvl="1" indent="-171450">
              <a:buFont typeface="Arial" panose="020B0604020202020204" pitchFamily="34" charset="0"/>
              <a:buChar char="•"/>
            </a:pPr>
            <a:r>
              <a:rPr lang="zh-CN" altLang="zh-CN" sz="1200" kern="1200" dirty="0">
                <a:solidFill>
                  <a:schemeClr val="tx1"/>
                </a:solidFill>
                <a:effectLst/>
                <a:latin typeface="+mn-lt"/>
                <a:ea typeface="+mn-ea"/>
                <a:cs typeface="+mn-cs"/>
              </a:rPr>
              <a:t>返回序列的第二部分位于调用者中，这个序列减少</a:t>
            </a:r>
            <a:r>
              <a:rPr lang="en-US" altLang="zh-CN" sz="1200" kern="1200" dirty="0">
                <a:solidFill>
                  <a:schemeClr val="tx1"/>
                </a:solidFill>
                <a:effectLst/>
                <a:latin typeface="+mn-lt"/>
                <a:ea typeface="+mn-ea"/>
                <a:cs typeface="+mn-cs"/>
              </a:rPr>
              <a:t> SP</a:t>
            </a:r>
            <a:r>
              <a:rPr lang="zh-CN" altLang="zh-CN" sz="1200" kern="1200" dirty="0">
                <a:solidFill>
                  <a:schemeClr val="tx1"/>
                </a:solidFill>
                <a:effectLst/>
                <a:latin typeface="+mn-lt"/>
                <a:ea typeface="+mn-ea"/>
                <a:cs typeface="+mn-cs"/>
              </a:rPr>
              <a:t>的值，从而将</a:t>
            </a:r>
            <a:r>
              <a:rPr lang="en-US" altLang="zh-CN" sz="1200" kern="1200" dirty="0">
                <a:solidFill>
                  <a:schemeClr val="tx1"/>
                </a:solidFill>
                <a:effectLst/>
                <a:latin typeface="+mn-lt"/>
                <a:ea typeface="+mn-ea"/>
                <a:cs typeface="+mn-cs"/>
              </a:rPr>
              <a:t> SP </a:t>
            </a:r>
            <a:r>
              <a:rPr lang="zh-CN" altLang="zh-CN" sz="1200" kern="1200" dirty="0">
                <a:solidFill>
                  <a:schemeClr val="tx1"/>
                </a:solidFill>
                <a:effectLst/>
                <a:latin typeface="+mn-lt"/>
                <a:ea typeface="+mn-ea"/>
                <a:cs typeface="+mn-cs"/>
              </a:rPr>
              <a:t>恢复为之前的值。</a:t>
            </a:r>
            <a:r>
              <a:rPr lang="zh-CN" altLang="en-US" sz="1200" kern="1200" dirty="0">
                <a:solidFill>
                  <a:schemeClr val="tx1"/>
                </a:solidFill>
                <a:effectLst/>
                <a:latin typeface="+mn-lt"/>
                <a:ea typeface="+mn-ea"/>
                <a:cs typeface="+mn-cs"/>
              </a:rPr>
              <a:t>也就是说，减法运算后 </a:t>
            </a:r>
            <a:r>
              <a:rPr lang="en-US" altLang="zh-CN" sz="1200" kern="1200" dirty="0">
                <a:solidFill>
                  <a:schemeClr val="tx1"/>
                </a:solidFill>
                <a:effectLst/>
                <a:latin typeface="+mn-lt"/>
                <a:ea typeface="+mn-ea"/>
                <a:cs typeface="+mn-cs"/>
              </a:rPr>
              <a:t>SP </a:t>
            </a:r>
            <a:r>
              <a:rPr lang="zh-CN" altLang="en-US" sz="1200" kern="1200" dirty="0">
                <a:solidFill>
                  <a:schemeClr val="tx1"/>
                </a:solidFill>
                <a:effectLst/>
                <a:latin typeface="+mn-lt"/>
                <a:ea typeface="+mn-ea"/>
                <a:cs typeface="+mn-cs"/>
              </a:rPr>
              <a:t>指向调用者活动记录的开头</a:t>
            </a:r>
            <a:endParaRPr lang="zh-CN" altLang="zh-CN" sz="1200" kern="1200" dirty="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18</a:t>
            </a:fld>
            <a:endParaRPr lang="zh-CN" altLang="en-US"/>
          </a:p>
        </p:txBody>
      </p:sp>
    </p:spTree>
    <p:extLst>
      <p:ext uri="{BB962C8B-B14F-4D97-AF65-F5344CB8AC3E}">
        <p14:creationId xmlns:p14="http://schemas.microsoft.com/office/powerpoint/2010/main" val="242097657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171450" indent="-171450">
              <a:buFont typeface="Arial" panose="020B0604020202020204" pitchFamily="34" charset="0"/>
              <a:buChar char="•"/>
            </a:pPr>
            <a:r>
              <a:rPr lang="zh-CN" altLang="en-US" dirty="0"/>
              <a:t>例</a:t>
            </a:r>
            <a:r>
              <a:rPr lang="en-US" altLang="zh-CN" dirty="0"/>
              <a:t>8.4</a:t>
            </a:r>
            <a:r>
              <a:rPr lang="zh-CN" altLang="en-US" dirty="0"/>
              <a:t>：图</a:t>
            </a:r>
            <a:r>
              <a:rPr lang="en-US" altLang="zh-CN" dirty="0"/>
              <a:t>8.5</a:t>
            </a:r>
            <a:r>
              <a:rPr lang="zh-CN" altLang="en-US" dirty="0"/>
              <a:t>中的程序是上一章中的快速排序程序的抽象。过程 </a:t>
            </a:r>
            <a:r>
              <a:rPr lang="en-US" altLang="zh-CN" dirty="0"/>
              <a:t>q </a:t>
            </a:r>
            <a:r>
              <a:rPr lang="zh-CN" altLang="en-US" dirty="0"/>
              <a:t>是递归的，因此 </a:t>
            </a:r>
            <a:r>
              <a:rPr lang="en-US" altLang="zh-CN" dirty="0"/>
              <a:t>q </a:t>
            </a:r>
            <a:r>
              <a:rPr lang="zh-CN" altLang="en-US" dirty="0"/>
              <a:t>的同一时刻可能有多个活跃的</a:t>
            </a:r>
            <a:r>
              <a:rPr lang="en-US" altLang="zh-CN" dirty="0"/>
              <a:t>q</a:t>
            </a:r>
            <a:r>
              <a:rPr lang="zh-CN" altLang="en-US" dirty="0"/>
              <a:t>的活动记录。</a:t>
            </a:r>
            <a:endParaRPr lang="en-US" altLang="zh-CN" dirty="0"/>
          </a:p>
          <a:p>
            <a:pPr marL="171450" indent="-171450">
              <a:buFont typeface="Arial" panose="020B0604020202020204" pitchFamily="34" charset="0"/>
              <a:buChar char="•"/>
            </a:pPr>
            <a:r>
              <a:rPr lang="zh-CN" altLang="zh-CN" sz="1200" kern="1200" dirty="0">
                <a:solidFill>
                  <a:schemeClr val="tx1"/>
                </a:solidFill>
                <a:effectLst/>
                <a:latin typeface="+mn-lt"/>
                <a:ea typeface="+mn-ea"/>
                <a:cs typeface="+mn-cs"/>
              </a:rPr>
              <a:t>假设过程</a:t>
            </a:r>
            <a:r>
              <a:rPr lang="en-US" altLang="zh-CN" sz="1200" kern="1200" dirty="0">
                <a:solidFill>
                  <a:schemeClr val="tx1"/>
                </a:solidFill>
                <a:effectLst/>
                <a:latin typeface="+mn-lt"/>
                <a:ea typeface="+mn-ea"/>
                <a:cs typeface="+mn-cs"/>
              </a:rPr>
              <a:t> m</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p </a:t>
            </a:r>
            <a:r>
              <a:rPr lang="zh-CN" altLang="zh-CN"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 q </a:t>
            </a:r>
            <a:r>
              <a:rPr lang="zh-CN" altLang="zh-CN" sz="1200" kern="1200" dirty="0">
                <a:solidFill>
                  <a:schemeClr val="tx1"/>
                </a:solidFill>
                <a:effectLst/>
                <a:latin typeface="+mn-lt"/>
                <a:ea typeface="+mn-ea"/>
                <a:cs typeface="+mn-cs"/>
              </a:rPr>
              <a:t>的活动记录的大小已分别确定为</a:t>
            </a:r>
            <a:r>
              <a:rPr lang="en-US" altLang="zh-CN" sz="1200" kern="1200" dirty="0">
                <a:solidFill>
                  <a:schemeClr val="tx1"/>
                </a:solidFill>
                <a:effectLst/>
                <a:latin typeface="+mn-lt"/>
                <a:ea typeface="+mn-ea"/>
                <a:cs typeface="+mn-cs"/>
              </a:rPr>
              <a:t> </a:t>
            </a:r>
            <a:r>
              <a:rPr lang="en-US" altLang="zh-CN" sz="1200" kern="1200" dirty="0" err="1">
                <a:solidFill>
                  <a:schemeClr val="tx1"/>
                </a:solidFill>
                <a:effectLst/>
                <a:latin typeface="+mn-lt"/>
                <a:ea typeface="+mn-ea"/>
                <a:cs typeface="+mn-cs"/>
              </a:rPr>
              <a:t>msize</a:t>
            </a:r>
            <a:r>
              <a:rPr lang="zh-CN" altLang="zh-CN" sz="1200" kern="1200" dirty="0">
                <a:solidFill>
                  <a:schemeClr val="tx1"/>
                </a:solidFill>
                <a:effectLst/>
                <a:latin typeface="+mn-lt"/>
                <a:ea typeface="+mn-ea"/>
                <a:cs typeface="+mn-cs"/>
              </a:rPr>
              <a:t>、</a:t>
            </a:r>
            <a:r>
              <a:rPr lang="en-US" altLang="zh-CN" sz="1200" kern="1200" dirty="0" err="1">
                <a:solidFill>
                  <a:schemeClr val="tx1"/>
                </a:solidFill>
                <a:effectLst/>
                <a:latin typeface="+mn-lt"/>
                <a:ea typeface="+mn-ea"/>
                <a:cs typeface="+mn-cs"/>
              </a:rPr>
              <a:t>psize</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 </a:t>
            </a:r>
            <a:r>
              <a:rPr lang="en-US" altLang="zh-CN" sz="1200" kern="1200" dirty="0" err="1">
                <a:solidFill>
                  <a:schemeClr val="tx1"/>
                </a:solidFill>
                <a:effectLst/>
                <a:latin typeface="+mn-lt"/>
                <a:ea typeface="+mn-ea"/>
                <a:cs typeface="+mn-cs"/>
              </a:rPr>
              <a:t>qsize</a:t>
            </a:r>
            <a:r>
              <a:rPr lang="zh-CN" altLang="zh-CN" sz="1200" kern="1200" dirty="0">
                <a:solidFill>
                  <a:schemeClr val="tx1"/>
                </a:solidFill>
                <a:effectLst/>
                <a:latin typeface="+mn-lt"/>
                <a:ea typeface="+mn-ea"/>
                <a:cs typeface="+mn-cs"/>
              </a:rPr>
              <a:t>。每个活动记录中的第一个字将保存一个返回地址。我们任意假设这些过程的代码分别从地址</a:t>
            </a:r>
            <a:r>
              <a:rPr lang="en-US" altLang="zh-CN" sz="1200" kern="1200" dirty="0">
                <a:solidFill>
                  <a:schemeClr val="tx1"/>
                </a:solidFill>
                <a:effectLst/>
                <a:latin typeface="+mn-lt"/>
                <a:ea typeface="+mn-ea"/>
                <a:cs typeface="+mn-cs"/>
              </a:rPr>
              <a:t> 100</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200 </a:t>
            </a:r>
            <a:r>
              <a:rPr lang="zh-CN" altLang="zh-CN"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 300 </a:t>
            </a:r>
            <a:r>
              <a:rPr lang="zh-CN" altLang="zh-CN" sz="1200" kern="1200" dirty="0">
                <a:solidFill>
                  <a:schemeClr val="tx1"/>
                </a:solidFill>
                <a:effectLst/>
                <a:latin typeface="+mn-lt"/>
                <a:ea typeface="+mn-ea"/>
                <a:cs typeface="+mn-cs"/>
              </a:rPr>
              <a:t>开始，栈从地址</a:t>
            </a:r>
            <a:r>
              <a:rPr lang="en-US" altLang="zh-CN" sz="1200" kern="1200" dirty="0">
                <a:solidFill>
                  <a:schemeClr val="tx1"/>
                </a:solidFill>
                <a:effectLst/>
                <a:latin typeface="+mn-lt"/>
                <a:ea typeface="+mn-ea"/>
                <a:cs typeface="+mn-cs"/>
              </a:rPr>
              <a:t>600</a:t>
            </a:r>
            <a:r>
              <a:rPr lang="zh-CN" altLang="zh-CN" sz="1200" kern="1200" dirty="0">
                <a:solidFill>
                  <a:schemeClr val="tx1"/>
                </a:solidFill>
                <a:effectLst/>
                <a:latin typeface="+mn-lt"/>
                <a:ea typeface="+mn-ea"/>
                <a:cs typeface="+mn-cs"/>
              </a:rPr>
              <a:t>开始。目标程序如图</a:t>
            </a:r>
            <a:r>
              <a:rPr lang="en-US" altLang="zh-CN" sz="1200" kern="1200" dirty="0">
                <a:solidFill>
                  <a:schemeClr val="tx1"/>
                </a:solidFill>
                <a:effectLst/>
                <a:latin typeface="+mn-lt"/>
                <a:ea typeface="+mn-ea"/>
                <a:cs typeface="+mn-cs"/>
              </a:rPr>
              <a:t>8.6</a:t>
            </a:r>
            <a:r>
              <a:rPr lang="zh-CN" altLang="zh-CN" sz="1200" kern="1200" dirty="0">
                <a:solidFill>
                  <a:schemeClr val="tx1"/>
                </a:solidFill>
                <a:effectLst/>
                <a:latin typeface="+mn-lt"/>
                <a:ea typeface="+mn-ea"/>
                <a:cs typeface="+mn-cs"/>
              </a:rPr>
              <a:t>所示。</a:t>
            </a:r>
          </a:p>
          <a:p>
            <a:pPr marL="171450" indent="-171450">
              <a:buFont typeface="Arial" panose="020B0604020202020204" pitchFamily="34" charset="0"/>
              <a:buChar char="•"/>
            </a:pPr>
            <a:r>
              <a:rPr lang="zh-CN" altLang="zh-CN" sz="1200" kern="1200" dirty="0">
                <a:solidFill>
                  <a:schemeClr val="tx1"/>
                </a:solidFill>
                <a:effectLst/>
                <a:latin typeface="+mn-lt"/>
                <a:ea typeface="+mn-ea"/>
                <a:cs typeface="+mn-cs"/>
              </a:rPr>
              <a:t>我们假设</a:t>
            </a:r>
            <a:r>
              <a:rPr lang="en-US" altLang="zh-CN" sz="1200" kern="1200" dirty="0">
                <a:solidFill>
                  <a:schemeClr val="tx1"/>
                </a:solidFill>
                <a:effectLst/>
                <a:latin typeface="+mn-lt"/>
                <a:ea typeface="+mn-ea"/>
                <a:cs typeface="+mn-cs"/>
              </a:rPr>
              <a:t> ACTION4 </a:t>
            </a:r>
            <a:r>
              <a:rPr lang="zh-CN" altLang="zh-CN" sz="1200" kern="1200" dirty="0">
                <a:solidFill>
                  <a:schemeClr val="tx1"/>
                </a:solidFill>
                <a:effectLst/>
                <a:latin typeface="+mn-lt"/>
                <a:ea typeface="+mn-ea"/>
                <a:cs typeface="+mn-cs"/>
              </a:rPr>
              <a:t>包含了一个条件跳转指令，跳转到</a:t>
            </a:r>
            <a:r>
              <a:rPr lang="en-US" altLang="zh-CN" sz="1200" kern="1200" dirty="0">
                <a:solidFill>
                  <a:schemeClr val="tx1"/>
                </a:solidFill>
                <a:effectLst/>
                <a:latin typeface="+mn-lt"/>
                <a:ea typeface="+mn-ea"/>
                <a:cs typeface="+mn-cs"/>
              </a:rPr>
              <a:t>q </a:t>
            </a:r>
            <a:r>
              <a:rPr lang="zh-CN" altLang="zh-CN" sz="1200" kern="1200" dirty="0">
                <a:solidFill>
                  <a:schemeClr val="tx1"/>
                </a:solidFill>
                <a:effectLst/>
                <a:latin typeface="+mn-lt"/>
                <a:ea typeface="+mn-ea"/>
                <a:cs typeface="+mn-cs"/>
              </a:rPr>
              <a:t>的返回代码序列开始地址</a:t>
            </a:r>
            <a:r>
              <a:rPr lang="en-US" altLang="zh-CN" sz="1200" kern="1200" dirty="0">
                <a:solidFill>
                  <a:schemeClr val="tx1"/>
                </a:solidFill>
                <a:effectLst/>
                <a:latin typeface="+mn-lt"/>
                <a:ea typeface="+mn-ea"/>
                <a:cs typeface="+mn-cs"/>
              </a:rPr>
              <a:t> 456</a:t>
            </a:r>
            <a:r>
              <a:rPr lang="zh-CN" altLang="zh-CN" sz="1200" kern="1200" dirty="0">
                <a:solidFill>
                  <a:schemeClr val="tx1"/>
                </a:solidFill>
                <a:effectLst/>
                <a:latin typeface="+mn-lt"/>
                <a:ea typeface="+mn-ea"/>
                <a:cs typeface="+mn-cs"/>
              </a:rPr>
              <a:t>；否则，递归过程</a:t>
            </a:r>
            <a:r>
              <a:rPr lang="en-US" altLang="zh-CN" sz="1200" kern="1200" dirty="0">
                <a:solidFill>
                  <a:schemeClr val="tx1"/>
                </a:solidFill>
                <a:effectLst/>
                <a:latin typeface="+mn-lt"/>
                <a:ea typeface="+mn-ea"/>
                <a:cs typeface="+mn-cs"/>
              </a:rPr>
              <a:t> q </a:t>
            </a:r>
            <a:r>
              <a:rPr lang="zh-CN" altLang="zh-CN" sz="1200" kern="1200" dirty="0">
                <a:solidFill>
                  <a:schemeClr val="tx1"/>
                </a:solidFill>
                <a:effectLst/>
                <a:latin typeface="+mn-lt"/>
                <a:ea typeface="+mn-ea"/>
                <a:cs typeface="+mn-cs"/>
              </a:rPr>
              <a:t>注定会永远调用自己。</a:t>
            </a:r>
          </a:p>
          <a:p>
            <a:pPr marL="171450" indent="-171450">
              <a:buFont typeface="Arial" panose="020B0604020202020204" pitchFamily="34" charset="0"/>
              <a:buChar char="•"/>
            </a:pPr>
            <a:r>
              <a:rPr lang="zh-CN" altLang="zh-CN" sz="1200" kern="1200" dirty="0">
                <a:solidFill>
                  <a:schemeClr val="tx1"/>
                </a:solidFill>
                <a:effectLst/>
                <a:latin typeface="+mn-lt"/>
                <a:ea typeface="+mn-ea"/>
                <a:cs typeface="+mn-cs"/>
              </a:rPr>
              <a:t>令</a:t>
            </a:r>
            <a:r>
              <a:rPr lang="en-US" altLang="zh-CN" sz="1200" kern="1200" dirty="0">
                <a:solidFill>
                  <a:schemeClr val="tx1"/>
                </a:solidFill>
                <a:effectLst/>
                <a:latin typeface="+mn-lt"/>
                <a:ea typeface="+mn-ea"/>
                <a:cs typeface="+mn-cs"/>
              </a:rPr>
              <a:t> </a:t>
            </a:r>
            <a:r>
              <a:rPr lang="en-US" altLang="zh-CN" sz="1200" kern="1200" dirty="0" err="1">
                <a:solidFill>
                  <a:schemeClr val="tx1"/>
                </a:solidFill>
                <a:effectLst/>
                <a:latin typeface="+mn-lt"/>
                <a:ea typeface="+mn-ea"/>
                <a:cs typeface="+mn-cs"/>
              </a:rPr>
              <a:t>msize</a:t>
            </a:r>
            <a:r>
              <a:rPr lang="zh-CN" altLang="zh-CN" sz="1200" kern="1200" dirty="0">
                <a:solidFill>
                  <a:schemeClr val="tx1"/>
                </a:solidFill>
                <a:effectLst/>
                <a:latin typeface="+mn-lt"/>
                <a:ea typeface="+mn-ea"/>
                <a:cs typeface="+mn-cs"/>
              </a:rPr>
              <a:t>、</a:t>
            </a:r>
            <a:r>
              <a:rPr lang="en-US" altLang="zh-CN" sz="1200" kern="1200" dirty="0" err="1">
                <a:solidFill>
                  <a:schemeClr val="tx1"/>
                </a:solidFill>
                <a:effectLst/>
                <a:latin typeface="+mn-lt"/>
                <a:ea typeface="+mn-ea"/>
                <a:cs typeface="+mn-cs"/>
              </a:rPr>
              <a:t>psize</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 </a:t>
            </a:r>
            <a:r>
              <a:rPr lang="en-US" altLang="zh-CN" sz="1200" kern="1200" dirty="0" err="1">
                <a:solidFill>
                  <a:schemeClr val="tx1"/>
                </a:solidFill>
                <a:effectLst/>
                <a:latin typeface="+mn-lt"/>
                <a:ea typeface="+mn-ea"/>
                <a:cs typeface="+mn-cs"/>
              </a:rPr>
              <a:t>qsize</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分别为</a:t>
            </a:r>
            <a:r>
              <a:rPr lang="en-US" altLang="zh-CN" sz="1200" kern="1200" dirty="0">
                <a:solidFill>
                  <a:schemeClr val="tx1"/>
                </a:solidFill>
                <a:effectLst/>
                <a:latin typeface="+mn-lt"/>
                <a:ea typeface="+mn-ea"/>
                <a:cs typeface="+mn-cs"/>
              </a:rPr>
              <a:t> 20</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40 </a:t>
            </a:r>
            <a:r>
              <a:rPr lang="zh-CN" altLang="zh-CN"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 60</a:t>
            </a:r>
            <a:r>
              <a:rPr lang="zh-CN" altLang="zh-CN" sz="1200" kern="1200" dirty="0">
                <a:solidFill>
                  <a:schemeClr val="tx1"/>
                </a:solidFill>
                <a:effectLst/>
                <a:latin typeface="+mn-lt"/>
                <a:ea typeface="+mn-ea"/>
                <a:cs typeface="+mn-cs"/>
              </a:rPr>
              <a:t>。地址</a:t>
            </a:r>
            <a:r>
              <a:rPr lang="en-US" altLang="zh-CN" sz="1200" kern="1200" dirty="0">
                <a:solidFill>
                  <a:schemeClr val="tx1"/>
                </a:solidFill>
                <a:effectLst/>
                <a:latin typeface="+mn-lt"/>
                <a:ea typeface="+mn-ea"/>
                <a:cs typeface="+mn-cs"/>
              </a:rPr>
              <a:t> 100 </a:t>
            </a:r>
            <a:r>
              <a:rPr lang="zh-CN" altLang="zh-CN" sz="1200" kern="1200" dirty="0">
                <a:solidFill>
                  <a:schemeClr val="tx1"/>
                </a:solidFill>
                <a:effectLst/>
                <a:latin typeface="+mn-lt"/>
                <a:ea typeface="+mn-ea"/>
                <a:cs typeface="+mn-cs"/>
              </a:rPr>
              <a:t>处的第一条指令将</a:t>
            </a:r>
            <a:r>
              <a:rPr lang="en-US" altLang="zh-CN" sz="1200" kern="1200" dirty="0">
                <a:solidFill>
                  <a:schemeClr val="tx1"/>
                </a:solidFill>
                <a:effectLst/>
                <a:latin typeface="+mn-lt"/>
                <a:ea typeface="+mn-ea"/>
                <a:cs typeface="+mn-cs"/>
              </a:rPr>
              <a:t> SP </a:t>
            </a:r>
            <a:r>
              <a:rPr lang="zh-CN" altLang="zh-CN" sz="1200" kern="1200" dirty="0">
                <a:solidFill>
                  <a:schemeClr val="tx1"/>
                </a:solidFill>
                <a:effectLst/>
                <a:latin typeface="+mn-lt"/>
                <a:ea typeface="+mn-ea"/>
                <a:cs typeface="+mn-cs"/>
              </a:rPr>
              <a:t>初始化为</a:t>
            </a:r>
            <a:r>
              <a:rPr lang="en-US" altLang="zh-CN" sz="1200" kern="1200" dirty="0">
                <a:solidFill>
                  <a:schemeClr val="tx1"/>
                </a:solidFill>
                <a:effectLst/>
                <a:latin typeface="+mn-lt"/>
                <a:ea typeface="+mn-ea"/>
                <a:cs typeface="+mn-cs"/>
              </a:rPr>
              <a:t> 600</a:t>
            </a:r>
            <a:r>
              <a:rPr lang="zh-CN" altLang="zh-CN" sz="1200" kern="1200" dirty="0">
                <a:solidFill>
                  <a:schemeClr val="tx1"/>
                </a:solidFill>
                <a:effectLst/>
                <a:latin typeface="+mn-lt"/>
                <a:ea typeface="+mn-ea"/>
                <a:cs typeface="+mn-cs"/>
              </a:rPr>
              <a:t>，即栈的起始地址。在控制权从</a:t>
            </a:r>
            <a:r>
              <a:rPr lang="en-US" altLang="zh-CN" sz="1200" kern="1200" dirty="0">
                <a:solidFill>
                  <a:schemeClr val="tx1"/>
                </a:solidFill>
                <a:effectLst/>
                <a:latin typeface="+mn-lt"/>
                <a:ea typeface="+mn-ea"/>
                <a:cs typeface="+mn-cs"/>
              </a:rPr>
              <a:t> m </a:t>
            </a:r>
            <a:r>
              <a:rPr lang="zh-CN" altLang="zh-CN" sz="1200" kern="1200" dirty="0">
                <a:solidFill>
                  <a:schemeClr val="tx1"/>
                </a:solidFill>
                <a:effectLst/>
                <a:latin typeface="+mn-lt"/>
                <a:ea typeface="+mn-ea"/>
                <a:cs typeface="+mn-cs"/>
              </a:rPr>
              <a:t>转移到</a:t>
            </a:r>
            <a:r>
              <a:rPr lang="en-US" altLang="zh-CN" sz="1200" kern="1200" dirty="0">
                <a:solidFill>
                  <a:schemeClr val="tx1"/>
                </a:solidFill>
                <a:effectLst/>
                <a:latin typeface="+mn-lt"/>
                <a:ea typeface="+mn-ea"/>
                <a:cs typeface="+mn-cs"/>
              </a:rPr>
              <a:t> q</a:t>
            </a:r>
            <a:r>
              <a:rPr lang="zh-CN" altLang="zh-CN" sz="1200" kern="1200" dirty="0">
                <a:solidFill>
                  <a:schemeClr val="tx1"/>
                </a:solidFill>
                <a:effectLst/>
                <a:latin typeface="+mn-lt"/>
                <a:ea typeface="+mn-ea"/>
                <a:cs typeface="+mn-cs"/>
              </a:rPr>
              <a:t>的前一刻，</a:t>
            </a:r>
            <a:r>
              <a:rPr lang="en-US" altLang="zh-CN" sz="1200" kern="1200" dirty="0">
                <a:solidFill>
                  <a:schemeClr val="tx1"/>
                </a:solidFill>
                <a:effectLst/>
                <a:latin typeface="+mn-lt"/>
                <a:ea typeface="+mn-ea"/>
                <a:cs typeface="+mn-cs"/>
              </a:rPr>
              <a:t>SP</a:t>
            </a:r>
            <a:r>
              <a:rPr lang="zh-CN" altLang="zh-CN" sz="1200" kern="1200" dirty="0">
                <a:solidFill>
                  <a:schemeClr val="tx1"/>
                </a:solidFill>
                <a:effectLst/>
                <a:latin typeface="+mn-lt"/>
                <a:ea typeface="+mn-ea"/>
                <a:cs typeface="+mn-cs"/>
              </a:rPr>
              <a:t>中的值是</a:t>
            </a:r>
            <a:r>
              <a:rPr lang="en-US" altLang="zh-CN" sz="1200" kern="1200" dirty="0">
                <a:solidFill>
                  <a:schemeClr val="tx1"/>
                </a:solidFill>
                <a:effectLst/>
                <a:latin typeface="+mn-lt"/>
                <a:ea typeface="+mn-ea"/>
                <a:cs typeface="+mn-cs"/>
              </a:rPr>
              <a:t>620</a:t>
            </a:r>
            <a:r>
              <a:rPr lang="zh-CN" altLang="zh-CN" sz="1200" kern="1200" dirty="0">
                <a:solidFill>
                  <a:schemeClr val="tx1"/>
                </a:solidFill>
                <a:effectLst/>
                <a:latin typeface="+mn-lt"/>
                <a:ea typeface="+mn-ea"/>
                <a:cs typeface="+mn-cs"/>
              </a:rPr>
              <a:t>（因为</a:t>
            </a:r>
            <a:r>
              <a:rPr lang="en-US" altLang="zh-CN" sz="1200" kern="1200" dirty="0">
                <a:solidFill>
                  <a:schemeClr val="tx1"/>
                </a:solidFill>
                <a:effectLst/>
                <a:latin typeface="+mn-lt"/>
                <a:ea typeface="+mn-ea"/>
                <a:cs typeface="+mn-cs"/>
              </a:rPr>
              <a:t> </a:t>
            </a:r>
            <a:r>
              <a:rPr lang="en-US" altLang="zh-CN" sz="1200" kern="1200" dirty="0" err="1">
                <a:solidFill>
                  <a:schemeClr val="tx1"/>
                </a:solidFill>
                <a:effectLst/>
                <a:latin typeface="+mn-lt"/>
                <a:ea typeface="+mn-ea"/>
                <a:cs typeface="+mn-cs"/>
              </a:rPr>
              <a:t>msize</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为</a:t>
            </a:r>
            <a:r>
              <a:rPr lang="en-US" altLang="zh-CN" sz="1200" kern="1200" dirty="0">
                <a:solidFill>
                  <a:schemeClr val="tx1"/>
                </a:solidFill>
                <a:effectLst/>
                <a:latin typeface="+mn-lt"/>
                <a:ea typeface="+mn-ea"/>
                <a:cs typeface="+mn-cs"/>
              </a:rPr>
              <a:t> 20</a:t>
            </a:r>
            <a:r>
              <a:rPr lang="zh-CN" altLang="zh-CN" sz="1200" kern="1200" dirty="0">
                <a:solidFill>
                  <a:schemeClr val="tx1"/>
                </a:solidFill>
                <a:effectLst/>
                <a:latin typeface="+mn-lt"/>
                <a:ea typeface="+mn-ea"/>
                <a:cs typeface="+mn-cs"/>
              </a:rPr>
              <a:t>）。随后，当</a:t>
            </a:r>
            <a:r>
              <a:rPr lang="en-US" altLang="zh-CN" sz="1200" kern="1200" dirty="0">
                <a:solidFill>
                  <a:schemeClr val="tx1"/>
                </a:solidFill>
                <a:effectLst/>
                <a:latin typeface="+mn-lt"/>
                <a:ea typeface="+mn-ea"/>
                <a:cs typeface="+mn-cs"/>
              </a:rPr>
              <a:t> q </a:t>
            </a:r>
            <a:r>
              <a:rPr lang="zh-CN" altLang="zh-CN" sz="1200" kern="1200" dirty="0">
                <a:solidFill>
                  <a:schemeClr val="tx1"/>
                </a:solidFill>
                <a:effectLst/>
                <a:latin typeface="+mn-lt"/>
                <a:ea typeface="+mn-ea"/>
                <a:cs typeface="+mn-cs"/>
              </a:rPr>
              <a:t>调用</a:t>
            </a:r>
            <a:r>
              <a:rPr lang="en-US" altLang="zh-CN" sz="1200" kern="1200" dirty="0">
                <a:solidFill>
                  <a:schemeClr val="tx1"/>
                </a:solidFill>
                <a:effectLst/>
                <a:latin typeface="+mn-lt"/>
                <a:ea typeface="+mn-ea"/>
                <a:cs typeface="+mn-cs"/>
              </a:rPr>
              <a:t> p </a:t>
            </a:r>
            <a:r>
              <a:rPr lang="zh-CN" altLang="zh-CN" sz="1200" kern="1200" dirty="0">
                <a:solidFill>
                  <a:schemeClr val="tx1"/>
                </a:solidFill>
                <a:effectLst/>
                <a:latin typeface="+mn-lt"/>
                <a:ea typeface="+mn-ea"/>
                <a:cs typeface="+mn-cs"/>
              </a:rPr>
              <a:t>时，在地址</a:t>
            </a:r>
            <a:r>
              <a:rPr lang="en-US" altLang="zh-CN" sz="1200" kern="1200" dirty="0">
                <a:solidFill>
                  <a:schemeClr val="tx1"/>
                </a:solidFill>
                <a:effectLst/>
                <a:latin typeface="+mn-lt"/>
                <a:ea typeface="+mn-ea"/>
                <a:cs typeface="+mn-cs"/>
              </a:rPr>
              <a:t> 320 </a:t>
            </a:r>
            <a:r>
              <a:rPr lang="zh-CN" altLang="zh-CN" sz="1200" kern="1200" dirty="0">
                <a:solidFill>
                  <a:schemeClr val="tx1"/>
                </a:solidFill>
                <a:effectLst/>
                <a:latin typeface="+mn-lt"/>
                <a:ea typeface="+mn-ea"/>
                <a:cs typeface="+mn-cs"/>
              </a:rPr>
              <a:t>处的指令将</a:t>
            </a:r>
            <a:r>
              <a:rPr lang="en-US" altLang="zh-CN" sz="1200" kern="1200" dirty="0">
                <a:solidFill>
                  <a:schemeClr val="tx1"/>
                </a:solidFill>
                <a:effectLst/>
                <a:latin typeface="+mn-lt"/>
                <a:ea typeface="+mn-ea"/>
                <a:cs typeface="+mn-cs"/>
              </a:rPr>
              <a:t> SP </a:t>
            </a:r>
            <a:r>
              <a:rPr lang="zh-CN" altLang="zh-CN" sz="1200" kern="1200" dirty="0">
                <a:solidFill>
                  <a:schemeClr val="tx1"/>
                </a:solidFill>
                <a:effectLst/>
                <a:latin typeface="+mn-lt"/>
                <a:ea typeface="+mn-ea"/>
                <a:cs typeface="+mn-cs"/>
              </a:rPr>
              <a:t>递增到</a:t>
            </a:r>
            <a:r>
              <a:rPr lang="en-US" altLang="zh-CN" sz="1200" kern="1200" dirty="0">
                <a:solidFill>
                  <a:schemeClr val="tx1"/>
                </a:solidFill>
                <a:effectLst/>
                <a:latin typeface="+mn-lt"/>
                <a:ea typeface="+mn-ea"/>
                <a:cs typeface="+mn-cs"/>
              </a:rPr>
              <a:t> 680</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p </a:t>
            </a:r>
            <a:r>
              <a:rPr lang="zh-CN" altLang="zh-CN" sz="1200" kern="1200" dirty="0">
                <a:solidFill>
                  <a:schemeClr val="tx1"/>
                </a:solidFill>
                <a:effectLst/>
                <a:latin typeface="+mn-lt"/>
                <a:ea typeface="+mn-ea"/>
                <a:cs typeface="+mn-cs"/>
              </a:rPr>
              <a:t>的活动记录从这里开始；当控制返回到</a:t>
            </a:r>
            <a:r>
              <a:rPr lang="en-US" altLang="zh-CN" sz="1200" kern="1200" dirty="0">
                <a:solidFill>
                  <a:schemeClr val="tx1"/>
                </a:solidFill>
                <a:effectLst/>
                <a:latin typeface="+mn-lt"/>
                <a:ea typeface="+mn-ea"/>
                <a:cs typeface="+mn-cs"/>
              </a:rPr>
              <a:t> q</a:t>
            </a:r>
            <a:r>
              <a:rPr lang="zh-CN" altLang="zh-CN" sz="1200" kern="1200" dirty="0">
                <a:solidFill>
                  <a:schemeClr val="tx1"/>
                </a:solidFill>
                <a:effectLst/>
                <a:latin typeface="+mn-lt"/>
                <a:ea typeface="+mn-ea"/>
                <a:cs typeface="+mn-cs"/>
              </a:rPr>
              <a:t>的时候，</a:t>
            </a:r>
            <a:r>
              <a:rPr lang="en-US" altLang="zh-CN" sz="1200" kern="1200" dirty="0">
                <a:solidFill>
                  <a:schemeClr val="tx1"/>
                </a:solidFill>
                <a:effectLst/>
                <a:latin typeface="+mn-lt"/>
                <a:ea typeface="+mn-ea"/>
                <a:cs typeface="+mn-cs"/>
              </a:rPr>
              <a:t>SP </a:t>
            </a:r>
            <a:r>
              <a:rPr lang="zh-CN" altLang="zh-CN" sz="1200" kern="1200" dirty="0">
                <a:solidFill>
                  <a:schemeClr val="tx1"/>
                </a:solidFill>
                <a:effectLst/>
                <a:latin typeface="+mn-lt"/>
                <a:ea typeface="+mn-ea"/>
                <a:cs typeface="+mn-cs"/>
              </a:rPr>
              <a:t>恢复到</a:t>
            </a:r>
            <a:r>
              <a:rPr lang="en-US" altLang="zh-CN" sz="1200" kern="1200" dirty="0">
                <a:solidFill>
                  <a:schemeClr val="tx1"/>
                </a:solidFill>
                <a:effectLst/>
                <a:latin typeface="+mn-lt"/>
                <a:ea typeface="+mn-ea"/>
                <a:cs typeface="+mn-cs"/>
              </a:rPr>
              <a:t> 620</a:t>
            </a:r>
            <a:r>
              <a:rPr lang="zh-CN" altLang="zh-CN" sz="1200" kern="1200" dirty="0">
                <a:solidFill>
                  <a:schemeClr val="tx1"/>
                </a:solidFill>
                <a:effectLst/>
                <a:latin typeface="+mn-lt"/>
                <a:ea typeface="+mn-ea"/>
                <a:cs typeface="+mn-cs"/>
              </a:rPr>
              <a:t>。如果 接下来的两个对</a:t>
            </a:r>
            <a:r>
              <a:rPr lang="en-US" altLang="zh-CN" sz="1200" kern="1200" dirty="0">
                <a:solidFill>
                  <a:schemeClr val="tx1"/>
                </a:solidFill>
                <a:effectLst/>
                <a:latin typeface="+mn-lt"/>
                <a:ea typeface="+mn-ea"/>
                <a:cs typeface="+mn-cs"/>
              </a:rPr>
              <a:t>q</a:t>
            </a:r>
            <a:r>
              <a:rPr lang="zh-CN" altLang="zh-CN" sz="1200" kern="1200" dirty="0">
                <a:solidFill>
                  <a:schemeClr val="tx1"/>
                </a:solidFill>
                <a:effectLst/>
                <a:latin typeface="+mn-lt"/>
                <a:ea typeface="+mn-ea"/>
                <a:cs typeface="+mn-cs"/>
              </a:rPr>
              <a:t>的递归调用立即返回，则此执行期间</a:t>
            </a:r>
            <a:r>
              <a:rPr lang="en-US" altLang="zh-CN" sz="1200" kern="1200" dirty="0">
                <a:solidFill>
                  <a:schemeClr val="tx1"/>
                </a:solidFill>
                <a:effectLst/>
                <a:latin typeface="+mn-lt"/>
                <a:ea typeface="+mn-ea"/>
                <a:cs typeface="+mn-cs"/>
              </a:rPr>
              <a:t> SP </a:t>
            </a:r>
            <a:r>
              <a:rPr lang="zh-CN" altLang="zh-CN" sz="1200" kern="1200" dirty="0">
                <a:solidFill>
                  <a:schemeClr val="tx1"/>
                </a:solidFill>
                <a:effectLst/>
                <a:latin typeface="+mn-lt"/>
                <a:ea typeface="+mn-ea"/>
                <a:cs typeface="+mn-cs"/>
              </a:rPr>
              <a:t>的最大值为</a:t>
            </a:r>
            <a:r>
              <a:rPr lang="en-US" altLang="zh-CN" sz="1200" kern="1200" dirty="0">
                <a:solidFill>
                  <a:schemeClr val="tx1"/>
                </a:solidFill>
                <a:effectLst/>
                <a:latin typeface="+mn-lt"/>
                <a:ea typeface="+mn-ea"/>
                <a:cs typeface="+mn-cs"/>
              </a:rPr>
              <a:t> 680</a:t>
            </a:r>
            <a:r>
              <a:rPr lang="zh-CN" altLang="zh-CN" sz="1200" kern="1200" dirty="0">
                <a:solidFill>
                  <a:schemeClr val="tx1"/>
                </a:solidFill>
                <a:effectLst/>
                <a:latin typeface="+mn-lt"/>
                <a:ea typeface="+mn-ea"/>
                <a:cs typeface="+mn-cs"/>
              </a:rPr>
              <a:t>。</a:t>
            </a:r>
            <a:r>
              <a:rPr lang="zh-CN" altLang="zh-CN" sz="1200" b="1" kern="1200" dirty="0">
                <a:solidFill>
                  <a:schemeClr val="tx1"/>
                </a:solidFill>
                <a:effectLst/>
                <a:latin typeface="+mn-lt"/>
                <a:ea typeface="+mn-ea"/>
                <a:cs typeface="+mn-cs"/>
              </a:rPr>
              <a:t>但是请注意，栈区中最后被使用的位置是</a:t>
            </a:r>
            <a:r>
              <a:rPr lang="en-US" altLang="zh-CN" sz="1200" b="1" kern="1200" dirty="0">
                <a:solidFill>
                  <a:schemeClr val="tx1"/>
                </a:solidFill>
                <a:effectLst/>
                <a:latin typeface="+mn-lt"/>
                <a:ea typeface="+mn-ea"/>
                <a:cs typeface="+mn-cs"/>
              </a:rPr>
              <a:t> 739</a:t>
            </a:r>
            <a:r>
              <a:rPr lang="zh-CN" altLang="zh-CN" sz="1200" b="1" kern="1200" dirty="0">
                <a:solidFill>
                  <a:schemeClr val="tx1"/>
                </a:solidFill>
                <a:effectLst/>
                <a:latin typeface="+mn-lt"/>
                <a:ea typeface="+mn-ea"/>
                <a:cs typeface="+mn-cs"/>
              </a:rPr>
              <a:t>，因为从位置</a:t>
            </a:r>
            <a:r>
              <a:rPr lang="en-US" altLang="zh-CN" sz="1200" b="1" kern="1200" dirty="0">
                <a:solidFill>
                  <a:schemeClr val="tx1"/>
                </a:solidFill>
                <a:effectLst/>
                <a:latin typeface="+mn-lt"/>
                <a:ea typeface="+mn-ea"/>
                <a:cs typeface="+mn-cs"/>
              </a:rPr>
              <a:t> 680 </a:t>
            </a:r>
            <a:r>
              <a:rPr lang="zh-CN" altLang="zh-CN" sz="1200" b="1" kern="1200" dirty="0">
                <a:solidFill>
                  <a:schemeClr val="tx1"/>
                </a:solidFill>
                <a:effectLst/>
                <a:latin typeface="+mn-lt"/>
                <a:ea typeface="+mn-ea"/>
                <a:cs typeface="+mn-cs"/>
              </a:rPr>
              <a:t>开始的</a:t>
            </a:r>
            <a:r>
              <a:rPr lang="en-US" altLang="zh-CN" sz="1200" b="1" kern="1200" dirty="0">
                <a:solidFill>
                  <a:schemeClr val="tx1"/>
                </a:solidFill>
                <a:effectLst/>
                <a:latin typeface="+mn-lt"/>
                <a:ea typeface="+mn-ea"/>
                <a:cs typeface="+mn-cs"/>
              </a:rPr>
              <a:t> q </a:t>
            </a:r>
            <a:r>
              <a:rPr lang="zh-CN" altLang="zh-CN" sz="1200" b="1" kern="1200" dirty="0">
                <a:solidFill>
                  <a:schemeClr val="tx1"/>
                </a:solidFill>
                <a:effectLst/>
                <a:latin typeface="+mn-lt"/>
                <a:ea typeface="+mn-ea"/>
                <a:cs typeface="+mn-cs"/>
              </a:rPr>
              <a:t>的活动记录总共有</a:t>
            </a:r>
            <a:r>
              <a:rPr lang="en-US" altLang="zh-CN" sz="1200" b="1" kern="1200" dirty="0">
                <a:solidFill>
                  <a:schemeClr val="tx1"/>
                </a:solidFill>
                <a:effectLst/>
                <a:latin typeface="+mn-lt"/>
                <a:ea typeface="+mn-ea"/>
                <a:cs typeface="+mn-cs"/>
              </a:rPr>
              <a:t> 60</a:t>
            </a:r>
            <a:r>
              <a:rPr lang="zh-CN" altLang="zh-CN" sz="1200" b="1" kern="1200" dirty="0">
                <a:solidFill>
                  <a:schemeClr val="tx1"/>
                </a:solidFill>
                <a:effectLst/>
                <a:latin typeface="+mn-lt"/>
                <a:ea typeface="+mn-ea"/>
                <a:cs typeface="+mn-cs"/>
              </a:rPr>
              <a:t>字节。</a:t>
            </a:r>
            <a:r>
              <a:rPr lang="zh-CN" altLang="en-US" sz="1200" b="1" kern="1200" dirty="0">
                <a:solidFill>
                  <a:schemeClr val="tx1"/>
                </a:solidFill>
                <a:effectLst/>
                <a:latin typeface="+mn-lt"/>
                <a:ea typeface="+mn-ea"/>
                <a:cs typeface="+mn-cs"/>
              </a:rPr>
              <a:t>？</a:t>
            </a:r>
            <a:endParaRPr lang="en-US" altLang="zh-CN" b="1" dirty="0"/>
          </a:p>
          <a:p>
            <a:endParaRPr lang="zh-CN" altLang="en-US"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19</a:t>
            </a:fld>
            <a:endParaRPr lang="zh-CN" altLang="en-US"/>
          </a:p>
        </p:txBody>
      </p:sp>
    </p:spTree>
    <p:extLst>
      <p:ext uri="{BB962C8B-B14F-4D97-AF65-F5344CB8AC3E}">
        <p14:creationId xmlns:p14="http://schemas.microsoft.com/office/powerpoint/2010/main" val="356248420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20</a:t>
            </a:fld>
            <a:endParaRPr lang="zh-CN" altLang="en-US"/>
          </a:p>
        </p:txBody>
      </p:sp>
    </p:spTree>
    <p:extLst>
      <p:ext uri="{BB962C8B-B14F-4D97-AF65-F5344CB8AC3E}">
        <p14:creationId xmlns:p14="http://schemas.microsoft.com/office/powerpoint/2010/main" val="258383940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21</a:t>
            </a:fld>
            <a:endParaRPr lang="zh-CN" altLang="en-US"/>
          </a:p>
        </p:txBody>
      </p:sp>
    </p:spTree>
    <p:extLst>
      <p:ext uri="{BB962C8B-B14F-4D97-AF65-F5344CB8AC3E}">
        <p14:creationId xmlns:p14="http://schemas.microsoft.com/office/powerpoint/2010/main" val="23326133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zh-CN" altLang="zh-CN" sz="1200" kern="1200" dirty="0">
                <a:solidFill>
                  <a:schemeClr val="tx1"/>
                </a:solidFill>
                <a:effectLst/>
                <a:latin typeface="+mn-lt"/>
                <a:ea typeface="+mn-ea"/>
                <a:cs typeface="+mn-cs"/>
              </a:rPr>
              <a:t>存储分配策略和过程的活动记录中局部数据的布局决定了如何访问名字对应的内存位置。在第六章中，我们假设三地址语句中的名字实际上是指向该名字的符号表条目的指针。这种方法有一个显着的优点：它使编译器更加易于移植，因为即使将编译器移植到使用不同运行时组织的其他机器上，也不需要更改前端。另一方面，在生成中间代码的同时生成特定的访问步骤序列对于一个优化编译器也有极大的好处，因为它可以让优化器利用原本在简单的三地址语句中看不到的细节。</a:t>
            </a:r>
            <a:endParaRPr lang="en-US" altLang="zh-CN" sz="1200" kern="1200" dirty="0">
              <a:solidFill>
                <a:schemeClr val="tx1"/>
              </a:solidFill>
              <a:effectLst/>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zh-CN" altLang="zh-CN" sz="1200" kern="1200" dirty="0">
                <a:solidFill>
                  <a:schemeClr val="tx1"/>
                </a:solidFill>
                <a:effectLst/>
                <a:latin typeface="+mn-lt"/>
                <a:ea typeface="+mn-ea"/>
                <a:cs typeface="+mn-cs"/>
              </a:rPr>
              <a:t>无论哪种情况，名字最终都必须被替换为访问存储位置的代码。因此，我们考虑简单三地址复制语句</a:t>
            </a:r>
            <a:r>
              <a:rPr lang="en-US" altLang="zh-CN" sz="1200" kern="1200" dirty="0">
                <a:solidFill>
                  <a:schemeClr val="tx1"/>
                </a:solidFill>
                <a:effectLst/>
                <a:latin typeface="+mn-lt"/>
                <a:ea typeface="+mn-ea"/>
                <a:cs typeface="+mn-cs"/>
              </a:rPr>
              <a:t> x = 0 </a:t>
            </a:r>
            <a:r>
              <a:rPr lang="zh-CN" altLang="zh-CN" sz="1200" kern="1200" dirty="0">
                <a:solidFill>
                  <a:schemeClr val="tx1"/>
                </a:solidFill>
                <a:effectLst/>
                <a:latin typeface="+mn-lt"/>
                <a:ea typeface="+mn-ea"/>
                <a:cs typeface="+mn-cs"/>
              </a:rPr>
              <a:t>的一些细节。</a:t>
            </a:r>
            <a:endParaRPr lang="en-US" altLang="zh-CN" sz="1200" kern="1200" dirty="0">
              <a:solidFill>
                <a:schemeClr val="tx1"/>
              </a:solidFill>
              <a:effectLst/>
              <a:latin typeface="+mn-lt"/>
              <a:ea typeface="+mn-ea"/>
              <a:cs typeface="+mn-cs"/>
            </a:endParaRP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zh-CN" altLang="zh-CN" sz="1200" kern="1200" dirty="0">
                <a:solidFill>
                  <a:schemeClr val="tx1"/>
                </a:solidFill>
                <a:effectLst/>
                <a:latin typeface="+mn-lt"/>
                <a:ea typeface="+mn-ea"/>
                <a:cs typeface="+mn-cs"/>
              </a:rPr>
              <a:t>在处理过程中的声明之后，假设</a:t>
            </a:r>
            <a:r>
              <a:rPr lang="en-US" altLang="zh-CN" sz="1200" kern="1200" dirty="0">
                <a:solidFill>
                  <a:schemeClr val="tx1"/>
                </a:solidFill>
                <a:effectLst/>
                <a:latin typeface="+mn-lt"/>
                <a:ea typeface="+mn-ea"/>
                <a:cs typeface="+mn-cs"/>
              </a:rPr>
              <a:t> x </a:t>
            </a:r>
            <a:r>
              <a:rPr lang="zh-CN" altLang="zh-CN" sz="1200" kern="1200" dirty="0">
                <a:solidFill>
                  <a:schemeClr val="tx1"/>
                </a:solidFill>
                <a:effectLst/>
                <a:latin typeface="+mn-lt"/>
                <a:ea typeface="+mn-ea"/>
                <a:cs typeface="+mn-cs"/>
              </a:rPr>
              <a:t>的符号表条目包含</a:t>
            </a:r>
            <a:r>
              <a:rPr lang="en-US" altLang="zh-CN" sz="1200" kern="1200" dirty="0">
                <a:solidFill>
                  <a:schemeClr val="tx1"/>
                </a:solidFill>
                <a:effectLst/>
                <a:latin typeface="+mn-lt"/>
                <a:ea typeface="+mn-ea"/>
                <a:cs typeface="+mn-cs"/>
              </a:rPr>
              <a:t> x </a:t>
            </a:r>
            <a:r>
              <a:rPr lang="zh-CN" altLang="zh-CN" sz="1200" kern="1200" dirty="0">
                <a:solidFill>
                  <a:schemeClr val="tx1"/>
                </a:solidFill>
                <a:effectLst/>
                <a:latin typeface="+mn-lt"/>
                <a:ea typeface="+mn-ea"/>
                <a:cs typeface="+mn-cs"/>
              </a:rPr>
              <a:t>的相对地址</a:t>
            </a:r>
            <a:r>
              <a:rPr lang="en-US" altLang="zh-CN" sz="1200" kern="1200" dirty="0">
                <a:solidFill>
                  <a:schemeClr val="tx1"/>
                </a:solidFill>
                <a:effectLst/>
                <a:latin typeface="+mn-lt"/>
                <a:ea typeface="+mn-ea"/>
                <a:cs typeface="+mn-cs"/>
              </a:rPr>
              <a:t> 12</a:t>
            </a:r>
            <a:r>
              <a:rPr lang="zh-CN" altLang="zh-CN" sz="1200" kern="1200" dirty="0">
                <a:solidFill>
                  <a:schemeClr val="tx1"/>
                </a:solidFill>
                <a:effectLst/>
                <a:latin typeface="+mn-lt"/>
                <a:ea typeface="+mn-ea"/>
                <a:cs typeface="+mn-cs"/>
              </a:rPr>
              <a:t>。</a:t>
            </a:r>
            <a:endParaRPr lang="en-US" altLang="zh-CN" sz="1200" kern="1200" dirty="0">
              <a:solidFill>
                <a:schemeClr val="tx1"/>
              </a:solidFill>
              <a:effectLst/>
              <a:latin typeface="+mn-lt"/>
              <a:ea typeface="+mn-ea"/>
              <a:cs typeface="+mn-cs"/>
            </a:endParaRP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zh-CN" altLang="zh-CN" sz="1200" kern="1200" dirty="0">
                <a:solidFill>
                  <a:schemeClr val="tx1"/>
                </a:solidFill>
                <a:effectLst/>
                <a:latin typeface="+mn-lt"/>
                <a:ea typeface="+mn-ea"/>
                <a:cs typeface="+mn-cs"/>
              </a:rPr>
              <a:t>例如，考虑</a:t>
            </a:r>
            <a:r>
              <a:rPr lang="en-US" altLang="zh-CN" sz="1200" kern="1200" dirty="0">
                <a:solidFill>
                  <a:schemeClr val="tx1"/>
                </a:solidFill>
                <a:effectLst/>
                <a:latin typeface="+mn-lt"/>
                <a:ea typeface="+mn-ea"/>
                <a:cs typeface="+mn-cs"/>
              </a:rPr>
              <a:t> x </a:t>
            </a:r>
            <a:r>
              <a:rPr lang="zh-CN" altLang="zh-CN" sz="1200" kern="1200" dirty="0">
                <a:solidFill>
                  <a:schemeClr val="tx1"/>
                </a:solidFill>
                <a:effectLst/>
                <a:latin typeface="+mn-lt"/>
                <a:ea typeface="+mn-ea"/>
                <a:cs typeface="+mn-cs"/>
              </a:rPr>
              <a:t>位于从地址</a:t>
            </a:r>
            <a:r>
              <a:rPr lang="en-US" altLang="zh-CN" sz="1200" kern="1200" dirty="0">
                <a:solidFill>
                  <a:schemeClr val="tx1"/>
                </a:solidFill>
                <a:effectLst/>
                <a:latin typeface="+mn-lt"/>
                <a:ea typeface="+mn-ea"/>
                <a:cs typeface="+mn-cs"/>
              </a:rPr>
              <a:t> static </a:t>
            </a:r>
            <a:r>
              <a:rPr lang="zh-CN" altLang="zh-CN" sz="1200" kern="1200" dirty="0">
                <a:solidFill>
                  <a:schemeClr val="tx1"/>
                </a:solidFill>
                <a:effectLst/>
                <a:latin typeface="+mn-lt"/>
                <a:ea typeface="+mn-ea"/>
                <a:cs typeface="+mn-cs"/>
              </a:rPr>
              <a:t>开始的静态分配区域中的情况。那么</a:t>
            </a:r>
            <a:r>
              <a:rPr lang="en-US" altLang="zh-CN" sz="1200" kern="1200" dirty="0">
                <a:solidFill>
                  <a:schemeClr val="tx1"/>
                </a:solidFill>
                <a:effectLst/>
                <a:latin typeface="+mn-lt"/>
                <a:ea typeface="+mn-ea"/>
                <a:cs typeface="+mn-cs"/>
              </a:rPr>
              <a:t>x</a:t>
            </a:r>
            <a:r>
              <a:rPr lang="zh-CN" altLang="zh-CN" sz="1200" kern="1200" dirty="0">
                <a:solidFill>
                  <a:schemeClr val="tx1"/>
                </a:solidFill>
                <a:effectLst/>
                <a:latin typeface="+mn-lt"/>
                <a:ea typeface="+mn-ea"/>
                <a:cs typeface="+mn-cs"/>
              </a:rPr>
              <a:t>的实际运行时地址是</a:t>
            </a:r>
            <a:r>
              <a:rPr lang="en-US" altLang="zh-CN" sz="1200" kern="1200" dirty="0">
                <a:solidFill>
                  <a:schemeClr val="tx1"/>
                </a:solidFill>
                <a:effectLst/>
                <a:latin typeface="+mn-lt"/>
                <a:ea typeface="+mn-ea"/>
                <a:cs typeface="+mn-cs"/>
              </a:rPr>
              <a:t>static + 12</a:t>
            </a:r>
            <a:r>
              <a:rPr lang="zh-CN" altLang="zh-CN" sz="1200" kern="1200" dirty="0">
                <a:solidFill>
                  <a:schemeClr val="tx1"/>
                </a:solidFill>
                <a:effectLst/>
                <a:latin typeface="+mn-lt"/>
                <a:ea typeface="+mn-ea"/>
                <a:cs typeface="+mn-cs"/>
              </a:rPr>
              <a:t>。虽然编译器最终可以在编译时确定</a:t>
            </a:r>
            <a:r>
              <a:rPr lang="en-US" altLang="zh-CN" sz="1200" kern="1200" dirty="0">
                <a:solidFill>
                  <a:schemeClr val="tx1"/>
                </a:solidFill>
                <a:effectLst/>
                <a:latin typeface="+mn-lt"/>
                <a:ea typeface="+mn-ea"/>
                <a:cs typeface="+mn-cs"/>
              </a:rPr>
              <a:t>static + 12</a:t>
            </a:r>
            <a:r>
              <a:rPr lang="zh-CN" altLang="zh-CN" sz="1200" kern="1200" dirty="0">
                <a:solidFill>
                  <a:schemeClr val="tx1"/>
                </a:solidFill>
                <a:effectLst/>
                <a:latin typeface="+mn-lt"/>
                <a:ea typeface="+mn-ea"/>
                <a:cs typeface="+mn-cs"/>
              </a:rPr>
              <a:t>的值，但是在生成访问该名字的中间代码时，可能还不知道静态区域的位置。在这种情况下，生成</a:t>
            </a:r>
            <a:r>
              <a:rPr lang="zh-CN" altLang="en-US"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计算”</a:t>
            </a:r>
            <a:r>
              <a:rPr lang="en-US" altLang="zh-CN" sz="1200" kern="1200" dirty="0">
                <a:solidFill>
                  <a:schemeClr val="tx1"/>
                </a:solidFill>
                <a:effectLst/>
                <a:latin typeface="+mn-lt"/>
                <a:ea typeface="+mn-ea"/>
                <a:cs typeface="+mn-cs"/>
              </a:rPr>
              <a:t>static + 12</a:t>
            </a:r>
            <a:r>
              <a:rPr lang="zh-CN" altLang="en-US" sz="1200" kern="1200" dirty="0">
                <a:solidFill>
                  <a:schemeClr val="tx1"/>
                </a:solidFill>
                <a:effectLst/>
                <a:latin typeface="+mn-lt"/>
                <a:ea typeface="+mn-ea"/>
                <a:cs typeface="+mn-cs"/>
              </a:rPr>
              <a:t>的</a:t>
            </a:r>
            <a:r>
              <a:rPr lang="zh-CN" altLang="zh-CN" sz="1200" kern="1200" dirty="0">
                <a:solidFill>
                  <a:schemeClr val="tx1"/>
                </a:solidFill>
                <a:effectLst/>
                <a:latin typeface="+mn-lt"/>
                <a:ea typeface="+mn-ea"/>
                <a:cs typeface="+mn-cs"/>
              </a:rPr>
              <a:t>三地址代码是有意义的。当然我们能要理解，该计算在程序运行之前就会完成：它或者在代码生成阶段完成，或者由加载器完成。那么，赋值语句</a:t>
            </a:r>
            <a:r>
              <a:rPr lang="en-US" altLang="zh-CN" sz="1200" kern="1200" dirty="0">
                <a:solidFill>
                  <a:schemeClr val="tx1"/>
                </a:solidFill>
                <a:effectLst/>
                <a:latin typeface="+mn-lt"/>
                <a:ea typeface="+mn-ea"/>
                <a:cs typeface="+mn-cs"/>
              </a:rPr>
              <a:t> x = 0 </a:t>
            </a:r>
            <a:r>
              <a:rPr lang="zh-CN" altLang="zh-CN" sz="1200" kern="1200" dirty="0">
                <a:solidFill>
                  <a:schemeClr val="tx1"/>
                </a:solidFill>
                <a:effectLst/>
                <a:latin typeface="+mn-lt"/>
                <a:ea typeface="+mn-ea"/>
                <a:cs typeface="+mn-cs"/>
              </a:rPr>
              <a:t>被翻译成</a:t>
            </a:r>
            <a:r>
              <a:rPr lang="en-US" altLang="zh-CN" sz="1200" kern="1200" dirty="0">
                <a:solidFill>
                  <a:schemeClr val="tx1"/>
                </a:solidFill>
                <a:effectLst/>
                <a:latin typeface="+mn-lt"/>
                <a:ea typeface="+mn-ea"/>
                <a:cs typeface="+mn-cs"/>
              </a:rPr>
              <a:t> static[12] = 0 </a:t>
            </a:r>
            <a:r>
              <a:rPr lang="zh-CN" altLang="en-US"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如果静态区域从地址</a:t>
            </a:r>
            <a:r>
              <a:rPr lang="en-US" altLang="zh-CN" sz="1200" kern="1200" dirty="0">
                <a:solidFill>
                  <a:schemeClr val="tx1"/>
                </a:solidFill>
                <a:effectLst/>
                <a:latin typeface="+mn-lt"/>
                <a:ea typeface="+mn-ea"/>
                <a:cs typeface="+mn-cs"/>
              </a:rPr>
              <a:t> 100 </a:t>
            </a:r>
            <a:r>
              <a:rPr lang="zh-CN" altLang="zh-CN" sz="1200" kern="1200" dirty="0">
                <a:solidFill>
                  <a:schemeClr val="tx1"/>
                </a:solidFill>
                <a:effectLst/>
                <a:latin typeface="+mn-lt"/>
                <a:ea typeface="+mn-ea"/>
                <a:cs typeface="+mn-cs"/>
              </a:rPr>
              <a:t>开始，则该语句的目标代码是</a:t>
            </a:r>
            <a:r>
              <a:rPr lang="en-US" altLang="zh-CN" sz="1200" dirty="0">
                <a:solidFill>
                  <a:srgbClr val="0432FF"/>
                </a:solidFill>
                <a:latin typeface="Consolas"/>
                <a:cs typeface="Consolas"/>
              </a:rPr>
              <a:t>LD</a:t>
            </a:r>
            <a:r>
              <a:rPr lang="en-US" altLang="zh-CN" sz="1200" spc="-30" dirty="0">
                <a:solidFill>
                  <a:srgbClr val="0432FF"/>
                </a:solidFill>
                <a:latin typeface="Consolas"/>
                <a:cs typeface="Consolas"/>
              </a:rPr>
              <a:t> </a:t>
            </a:r>
            <a:r>
              <a:rPr lang="en-US" altLang="zh-CN" sz="1200" dirty="0">
                <a:solidFill>
                  <a:srgbClr val="0432FF"/>
                </a:solidFill>
                <a:latin typeface="Consolas"/>
                <a:cs typeface="Consolas"/>
              </a:rPr>
              <a:t>112,</a:t>
            </a:r>
            <a:r>
              <a:rPr lang="en-US" altLang="zh-CN" sz="1200" spc="-30" dirty="0">
                <a:solidFill>
                  <a:srgbClr val="0432FF"/>
                </a:solidFill>
                <a:latin typeface="Consolas"/>
                <a:cs typeface="Consolas"/>
              </a:rPr>
              <a:t> </a:t>
            </a:r>
            <a:r>
              <a:rPr lang="en-US" altLang="zh-CN" sz="1200" dirty="0">
                <a:solidFill>
                  <a:srgbClr val="0432FF"/>
                </a:solidFill>
                <a:latin typeface="Consolas"/>
                <a:cs typeface="Consolas"/>
              </a:rPr>
              <a:t>#0</a:t>
            </a:r>
            <a:r>
              <a:rPr lang="en-US" altLang="zh-CN" sz="1200" spc="-25" dirty="0">
                <a:solidFill>
                  <a:srgbClr val="0432FF"/>
                </a:solidFill>
                <a:latin typeface="Consolas"/>
                <a:cs typeface="Consolas"/>
              </a:rPr>
              <a:t> </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zh-CN" altLang="en-US" sz="1200" kern="1200" spc="-25" dirty="0">
                <a:solidFill>
                  <a:srgbClr val="0432FF"/>
                </a:solidFill>
                <a:effectLst/>
                <a:latin typeface="Consolas"/>
                <a:ea typeface="+mn-ea"/>
                <a:cs typeface="+mn-cs"/>
              </a:rPr>
              <a:t>如果</a:t>
            </a:r>
            <a:r>
              <a:rPr lang="en-US" altLang="zh-CN" sz="1200" kern="1200" spc="-25" dirty="0">
                <a:solidFill>
                  <a:srgbClr val="0432FF"/>
                </a:solidFill>
                <a:effectLst/>
                <a:latin typeface="Consolas"/>
                <a:ea typeface="+mn-ea"/>
                <a:cs typeface="+mn-cs"/>
              </a:rPr>
              <a:t>x</a:t>
            </a:r>
            <a:r>
              <a:rPr lang="zh-CN" altLang="en-US" sz="1200" kern="1200" spc="-25" dirty="0">
                <a:solidFill>
                  <a:srgbClr val="0432FF"/>
                </a:solidFill>
                <a:effectLst/>
                <a:latin typeface="Consolas"/>
                <a:ea typeface="+mn-ea"/>
                <a:cs typeface="+mn-cs"/>
              </a:rPr>
              <a:t>位于栈中（活动记录中），</a:t>
            </a:r>
            <a:r>
              <a:rPr lang="zh-CN" altLang="zh-CN" sz="1200" kern="1200" dirty="0">
                <a:solidFill>
                  <a:schemeClr val="tx1"/>
                </a:solidFill>
                <a:effectLst/>
                <a:latin typeface="+mn-lt"/>
                <a:ea typeface="+mn-ea"/>
                <a:cs typeface="+mn-cs"/>
              </a:rPr>
              <a:t>目标代码是</a:t>
            </a:r>
            <a:r>
              <a:rPr lang="en-US" altLang="zh-CN" sz="1200" dirty="0">
                <a:solidFill>
                  <a:srgbClr val="0432FF"/>
                </a:solidFill>
                <a:latin typeface="Consolas"/>
                <a:cs typeface="Consolas"/>
              </a:rPr>
              <a:t>LD</a:t>
            </a:r>
            <a:r>
              <a:rPr lang="en-US" altLang="zh-CN" sz="1200" spc="-30" dirty="0">
                <a:solidFill>
                  <a:srgbClr val="0432FF"/>
                </a:solidFill>
                <a:latin typeface="Consolas"/>
                <a:cs typeface="Consolas"/>
              </a:rPr>
              <a:t> </a:t>
            </a:r>
            <a:r>
              <a:rPr lang="en-US" altLang="zh-CN" sz="1200" dirty="0">
                <a:solidFill>
                  <a:srgbClr val="0432FF"/>
                </a:solidFill>
                <a:latin typeface="Consolas"/>
                <a:cs typeface="Consolas"/>
              </a:rPr>
              <a:t>12(SP),</a:t>
            </a:r>
            <a:r>
              <a:rPr lang="en-US" altLang="zh-CN" sz="1200" spc="-30" dirty="0">
                <a:solidFill>
                  <a:srgbClr val="0432FF"/>
                </a:solidFill>
                <a:latin typeface="Consolas"/>
                <a:cs typeface="Consolas"/>
              </a:rPr>
              <a:t> </a:t>
            </a:r>
            <a:r>
              <a:rPr lang="en-US" altLang="zh-CN" sz="1200" dirty="0">
                <a:solidFill>
                  <a:srgbClr val="0432FF"/>
                </a:solidFill>
                <a:latin typeface="Consolas"/>
                <a:cs typeface="Consolas"/>
              </a:rPr>
              <a:t>#0</a:t>
            </a:r>
            <a:r>
              <a:rPr lang="en-US" altLang="zh-CN" sz="1200" spc="-25" dirty="0">
                <a:solidFill>
                  <a:srgbClr val="0432FF"/>
                </a:solidFill>
                <a:latin typeface="Consolas"/>
                <a:cs typeface="Consolas"/>
              </a:rPr>
              <a:t> </a:t>
            </a:r>
            <a:endParaRPr lang="zh-CN" altLang="zh-CN" sz="1200" kern="1200" dirty="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22</a:t>
            </a:fld>
            <a:endParaRPr lang="zh-CN" altLang="en-US"/>
          </a:p>
        </p:txBody>
      </p:sp>
    </p:spTree>
    <p:extLst>
      <p:ext uri="{BB962C8B-B14F-4D97-AF65-F5344CB8AC3E}">
        <p14:creationId xmlns:p14="http://schemas.microsoft.com/office/powerpoint/2010/main" val="84786260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23</a:t>
            </a:fld>
            <a:endParaRPr lang="zh-CN" altLang="en-US"/>
          </a:p>
        </p:txBody>
      </p:sp>
    </p:spTree>
    <p:extLst>
      <p:ext uri="{BB962C8B-B14F-4D97-AF65-F5344CB8AC3E}">
        <p14:creationId xmlns:p14="http://schemas.microsoft.com/office/powerpoint/2010/main" val="248153520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本节介绍中间代码的图形表示，即使图形不是由代码生成算法显式构造的，它也有助于讨论代码生成。代码生成受益于上下文。如果我们知道如何定义和使用值，我们就可以更好地进行寄存器分配，正如我们将在第</a:t>
            </a:r>
            <a:r>
              <a:rPr lang="en-US" altLang="zh-CN" sz="1200" kern="1200" dirty="0">
                <a:solidFill>
                  <a:schemeClr val="tx1"/>
                </a:solidFill>
                <a:effectLst/>
                <a:latin typeface="+mn-lt"/>
                <a:ea typeface="+mn-ea"/>
                <a:cs typeface="+mn-cs"/>
              </a:rPr>
              <a:t> 8.8 </a:t>
            </a:r>
            <a:r>
              <a:rPr lang="zh-CN" altLang="zh-CN" sz="1200" kern="1200" dirty="0">
                <a:solidFill>
                  <a:schemeClr val="tx1"/>
                </a:solidFill>
                <a:effectLst/>
                <a:latin typeface="+mn-lt"/>
                <a:ea typeface="+mn-ea"/>
                <a:cs typeface="+mn-cs"/>
              </a:rPr>
              <a:t>节中看到的那样。我们可以通过查看三地址语句序列来更好地进行指令选择，正如我们将在第</a:t>
            </a:r>
            <a:r>
              <a:rPr lang="en-US" altLang="zh-CN" sz="1200" kern="1200" dirty="0">
                <a:solidFill>
                  <a:schemeClr val="tx1"/>
                </a:solidFill>
                <a:effectLst/>
                <a:latin typeface="+mn-lt"/>
                <a:ea typeface="+mn-ea"/>
                <a:cs typeface="+mn-cs"/>
              </a:rPr>
              <a:t> 8.9 </a:t>
            </a:r>
            <a:r>
              <a:rPr lang="zh-CN" altLang="zh-CN" sz="1200" kern="1200" dirty="0">
                <a:solidFill>
                  <a:schemeClr val="tx1"/>
                </a:solidFill>
                <a:effectLst/>
                <a:latin typeface="+mn-lt"/>
                <a:ea typeface="+mn-ea"/>
                <a:cs typeface="+mn-cs"/>
              </a:rPr>
              <a:t>节中看到的那样。该表示的构造如下：</a:t>
            </a:r>
            <a:endParaRPr lang="en-US"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1. </a:t>
            </a:r>
            <a:r>
              <a:rPr lang="zh-CN" altLang="zh-CN" sz="1200" kern="1200" dirty="0">
                <a:solidFill>
                  <a:schemeClr val="tx1"/>
                </a:solidFill>
                <a:effectLst/>
                <a:latin typeface="+mn-lt"/>
                <a:ea typeface="+mn-ea"/>
                <a:cs typeface="+mn-cs"/>
              </a:rPr>
              <a:t>将中间代码划分为基本块，这些基本块是连续三地址指令的最大序列，具有以下属性：</a:t>
            </a:r>
            <a:endParaRPr lang="en-US"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(a) </a:t>
            </a:r>
            <a:r>
              <a:rPr lang="zh-CN" altLang="zh-CN" sz="1200" kern="1200" dirty="0">
                <a:solidFill>
                  <a:schemeClr val="tx1"/>
                </a:solidFill>
                <a:effectLst/>
                <a:latin typeface="+mn-lt"/>
                <a:ea typeface="+mn-ea"/>
                <a:cs typeface="+mn-cs"/>
              </a:rPr>
              <a:t>控制流只能通过基本块的中第一个指令进入</a:t>
            </a:r>
            <a:r>
              <a:rPr lang="zh-CN" altLang="en-US" sz="1200" kern="1200" dirty="0">
                <a:solidFill>
                  <a:schemeClr val="tx1"/>
                </a:solidFill>
                <a:effectLst/>
                <a:latin typeface="+mn-lt"/>
                <a:ea typeface="+mn-ea"/>
                <a:cs typeface="+mn-cs"/>
              </a:rPr>
              <a:t>该块</a:t>
            </a:r>
            <a:r>
              <a:rPr lang="zh-CN" altLang="zh-CN" sz="1200" kern="1200" dirty="0">
                <a:solidFill>
                  <a:schemeClr val="tx1"/>
                </a:solidFill>
                <a:effectLst/>
                <a:latin typeface="+mn-lt"/>
                <a:ea typeface="+mn-ea"/>
                <a:cs typeface="+mn-cs"/>
              </a:rPr>
              <a:t>。也就是说，没有跳转到块中间的转移指令。</a:t>
            </a:r>
            <a:endParaRPr lang="en-US"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(b)</a:t>
            </a:r>
            <a:r>
              <a:rPr lang="zh-CN" altLang="zh-CN" sz="1200" kern="1200" dirty="0">
                <a:solidFill>
                  <a:schemeClr val="tx1"/>
                </a:solidFill>
                <a:effectLst/>
                <a:latin typeface="+mn-lt"/>
                <a:ea typeface="+mn-ea"/>
                <a:cs typeface="+mn-cs"/>
              </a:rPr>
              <a:t>除了基本块的最后一条指令，控制流在离开基本块之前不会停机或者跳转。</a:t>
            </a:r>
            <a:r>
              <a:rPr lang="en-US" altLang="zh-CN" sz="1200" kern="1200" dirty="0">
                <a:solidFill>
                  <a:schemeClr val="tx1"/>
                </a:solidFill>
                <a:effectLst/>
                <a:latin typeface="+mn-lt"/>
                <a:ea typeface="+mn-ea"/>
                <a:cs typeface="+mn-cs"/>
              </a:rPr>
              <a:t> </a:t>
            </a:r>
          </a:p>
          <a:p>
            <a:r>
              <a:rPr lang="en-US" altLang="zh-CN" sz="1200" kern="1200" dirty="0">
                <a:solidFill>
                  <a:schemeClr val="tx1"/>
                </a:solidFill>
                <a:effectLst/>
                <a:latin typeface="+mn-lt"/>
                <a:ea typeface="+mn-ea"/>
                <a:cs typeface="+mn-cs"/>
              </a:rPr>
              <a:t>2. </a:t>
            </a:r>
            <a:r>
              <a:rPr lang="zh-CN" altLang="zh-CN" sz="1200" kern="1200" dirty="0">
                <a:solidFill>
                  <a:schemeClr val="tx1"/>
                </a:solidFill>
                <a:effectLst/>
                <a:latin typeface="+mn-lt"/>
                <a:ea typeface="+mn-ea"/>
                <a:cs typeface="+mn-cs"/>
              </a:rPr>
              <a:t>基本块成为流图的节点，</a:t>
            </a:r>
            <a:r>
              <a:rPr lang="zh-CN" altLang="en-US" sz="1200" kern="1200" dirty="0">
                <a:solidFill>
                  <a:schemeClr val="tx1"/>
                </a:solidFill>
                <a:effectLst/>
                <a:latin typeface="+mn-lt"/>
                <a:ea typeface="+mn-ea"/>
                <a:cs typeface="+mn-cs"/>
              </a:rPr>
              <a:t>流图的</a:t>
            </a:r>
            <a:r>
              <a:rPr lang="zh-CN" altLang="zh-CN" sz="1200" kern="1200" dirty="0">
                <a:solidFill>
                  <a:schemeClr val="tx1"/>
                </a:solidFill>
                <a:effectLst/>
                <a:latin typeface="+mn-lt"/>
                <a:ea typeface="+mn-ea"/>
                <a:cs typeface="+mn-cs"/>
              </a:rPr>
              <a:t>边指示哪些块可以跟随哪些其他块。</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从第</a:t>
            </a:r>
            <a:r>
              <a:rPr lang="en-US" altLang="zh-CN" sz="1200" kern="1200" dirty="0">
                <a:solidFill>
                  <a:schemeClr val="tx1"/>
                </a:solidFill>
                <a:effectLst/>
                <a:latin typeface="+mn-lt"/>
                <a:ea typeface="+mn-ea"/>
                <a:cs typeface="+mn-cs"/>
              </a:rPr>
              <a:t> 9 </a:t>
            </a:r>
            <a:r>
              <a:rPr lang="zh-CN" altLang="zh-CN" sz="1200" kern="1200" dirty="0">
                <a:solidFill>
                  <a:schemeClr val="tx1"/>
                </a:solidFill>
                <a:effectLst/>
                <a:latin typeface="+mn-lt"/>
                <a:ea typeface="+mn-ea"/>
                <a:cs typeface="+mn-cs"/>
              </a:rPr>
              <a:t>章开始，我们讨论流图上的转换，将原始中间代码转换为</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优化</a:t>
            </a:r>
            <a:r>
              <a:rPr lang="zh-CN" altLang="en-US" sz="1200" kern="1200" dirty="0">
                <a:solidFill>
                  <a:schemeClr val="tx1"/>
                </a:solidFill>
                <a:effectLst/>
                <a:latin typeface="+mn-lt"/>
                <a:ea typeface="+mn-ea"/>
                <a:cs typeface="+mn-cs"/>
              </a:rPr>
              <a:t>后</a:t>
            </a:r>
            <a:r>
              <a:rPr lang="en-US" altLang="zh-CN"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的</a:t>
            </a:r>
            <a:r>
              <a:rPr lang="zh-CN" altLang="zh-CN" sz="1200" kern="1200" dirty="0">
                <a:solidFill>
                  <a:schemeClr val="tx1"/>
                </a:solidFill>
                <a:effectLst/>
                <a:latin typeface="+mn-lt"/>
                <a:ea typeface="+mn-ea"/>
                <a:cs typeface="+mn-cs"/>
              </a:rPr>
              <a:t>中间代码，而从中可以生成更好的目标代码。使用</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优化</a:t>
            </a:r>
            <a:r>
              <a:rPr lang="zh-CN" altLang="en-US" sz="1200" kern="1200" dirty="0">
                <a:solidFill>
                  <a:schemeClr val="tx1"/>
                </a:solidFill>
                <a:effectLst/>
                <a:latin typeface="+mn-lt"/>
                <a:ea typeface="+mn-ea"/>
                <a:cs typeface="+mn-cs"/>
              </a:rPr>
              <a:t>后</a:t>
            </a:r>
            <a:r>
              <a:rPr lang="en-US" altLang="zh-CN"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的</a:t>
            </a:r>
            <a:r>
              <a:rPr lang="zh-CN" altLang="zh-CN" sz="1200" kern="1200" dirty="0">
                <a:solidFill>
                  <a:schemeClr val="tx1"/>
                </a:solidFill>
                <a:effectLst/>
                <a:latin typeface="+mn-lt"/>
                <a:ea typeface="+mn-ea"/>
                <a:cs typeface="+mn-cs"/>
              </a:rPr>
              <a:t>中间代码将其转换为机器代码将使用本章中的代码生成技术。</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200" dirty="0">
                <a:solidFill>
                  <a:schemeClr val="tx1"/>
                </a:solidFill>
                <a:effectLst/>
                <a:latin typeface="+mn-lt"/>
                <a:ea typeface="+mn-ea"/>
                <a:cs typeface="+mn-cs"/>
              </a:rPr>
              <a:t>流程图是代码优化的基础，它们描述了控制如何在基本模块之间流动，我们可以知道值是如何定义和使用的。</a:t>
            </a:r>
            <a:endParaRPr lang="zh-CN" altLang="zh-CN" sz="1200" kern="1200" dirty="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24</a:t>
            </a:fld>
            <a:endParaRPr lang="zh-CN" altLang="en-US"/>
          </a:p>
        </p:txBody>
      </p:sp>
    </p:spTree>
    <p:extLst>
      <p:ext uri="{BB962C8B-B14F-4D97-AF65-F5344CB8AC3E}">
        <p14:creationId xmlns:p14="http://schemas.microsoft.com/office/powerpoint/2010/main" val="253056493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我们的第一项工作是将一系列三地址指令划分为基本块。我们从第一条指令开始一个新的基本块，并不断添加指令，直到我们遇到下一条指令的跳转、条件跳转或下一个指令前的标号为止。当没有跳转和标号的情况下，控制按顺序从一条指令进行到下一条指令。这个想法在以下算法中形式化地表示出来。</a:t>
            </a:r>
          </a:p>
          <a:p>
            <a:r>
              <a:rPr lang="en-US" altLang="zh-CN" sz="1200" kern="1200" dirty="0">
                <a:solidFill>
                  <a:schemeClr val="tx1"/>
                </a:solidFill>
                <a:effectLst/>
                <a:latin typeface="+mn-lt"/>
                <a:ea typeface="+mn-ea"/>
                <a:cs typeface="+mn-cs"/>
              </a:rPr>
              <a:t> </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算法</a:t>
            </a:r>
            <a:r>
              <a:rPr lang="en-US" altLang="zh-CN" sz="1200" kern="1200" dirty="0">
                <a:solidFill>
                  <a:schemeClr val="tx1"/>
                </a:solidFill>
                <a:effectLst/>
                <a:latin typeface="+mn-lt"/>
                <a:ea typeface="+mn-ea"/>
                <a:cs typeface="+mn-cs"/>
              </a:rPr>
              <a:t> 8.5</a:t>
            </a:r>
            <a:r>
              <a:rPr lang="zh-CN" altLang="zh-CN" sz="1200" kern="1200" dirty="0">
                <a:solidFill>
                  <a:schemeClr val="tx1"/>
                </a:solidFill>
                <a:effectLst/>
                <a:latin typeface="+mn-lt"/>
                <a:ea typeface="+mn-ea"/>
                <a:cs typeface="+mn-cs"/>
              </a:rPr>
              <a:t>：将三地址指令划分为基本块。</a:t>
            </a:r>
          </a:p>
          <a:p>
            <a:r>
              <a:rPr lang="zh-CN" altLang="zh-CN" sz="1200" kern="1200" dirty="0">
                <a:solidFill>
                  <a:schemeClr val="tx1"/>
                </a:solidFill>
                <a:effectLst/>
                <a:latin typeface="+mn-lt"/>
                <a:ea typeface="+mn-ea"/>
                <a:cs typeface="+mn-cs"/>
              </a:rPr>
              <a:t>输入：三地址指令序列。</a:t>
            </a:r>
          </a:p>
          <a:p>
            <a:r>
              <a:rPr lang="zh-CN" altLang="zh-CN" sz="1200" kern="1200" dirty="0">
                <a:solidFill>
                  <a:schemeClr val="tx1"/>
                </a:solidFill>
                <a:effectLst/>
                <a:latin typeface="+mn-lt"/>
                <a:ea typeface="+mn-ea"/>
                <a:cs typeface="+mn-cs"/>
              </a:rPr>
              <a:t>输出：该序列的基本块列表，其中每条指令恰好被分配给一个基本块。</a:t>
            </a:r>
          </a:p>
          <a:p>
            <a:r>
              <a:rPr lang="zh-CN" altLang="zh-CN" sz="1200" kern="1200" dirty="0">
                <a:solidFill>
                  <a:schemeClr val="tx1"/>
                </a:solidFill>
                <a:effectLst/>
                <a:latin typeface="+mn-lt"/>
                <a:ea typeface="+mn-ea"/>
                <a:cs typeface="+mn-cs"/>
              </a:rPr>
              <a:t>方法：首先，我们确定中间代码中的哪些指令是首指令，即某个基本块中的第一个指令。跟在中间程序末尾之后的指令不包含在首指令集合中。选择首指令的规则如下：</a:t>
            </a:r>
          </a:p>
          <a:p>
            <a:r>
              <a:rPr lang="en-US" altLang="zh-CN" sz="1200" kern="1200" dirty="0">
                <a:solidFill>
                  <a:schemeClr val="tx1"/>
                </a:solidFill>
                <a:effectLst/>
                <a:latin typeface="+mn-lt"/>
                <a:ea typeface="+mn-ea"/>
                <a:cs typeface="+mn-cs"/>
              </a:rPr>
              <a:t>1. </a:t>
            </a:r>
            <a:r>
              <a:rPr lang="zh-CN" altLang="zh-CN" sz="1200" kern="1200" dirty="0">
                <a:solidFill>
                  <a:schemeClr val="tx1"/>
                </a:solidFill>
                <a:effectLst/>
                <a:latin typeface="+mn-lt"/>
                <a:ea typeface="+mn-ea"/>
                <a:cs typeface="+mn-cs"/>
              </a:rPr>
              <a:t>中间代码中的第一条三地址指令是首指令。</a:t>
            </a:r>
          </a:p>
          <a:p>
            <a:r>
              <a:rPr lang="en-US" altLang="zh-CN" sz="1200" kern="1200" dirty="0">
                <a:solidFill>
                  <a:schemeClr val="tx1"/>
                </a:solidFill>
                <a:effectLst/>
                <a:latin typeface="+mn-lt"/>
                <a:ea typeface="+mn-ea"/>
                <a:cs typeface="+mn-cs"/>
              </a:rPr>
              <a:t>2. </a:t>
            </a:r>
            <a:r>
              <a:rPr lang="zh-CN" altLang="zh-CN" sz="1200" kern="1200" dirty="0">
                <a:solidFill>
                  <a:schemeClr val="tx1"/>
                </a:solidFill>
                <a:effectLst/>
                <a:latin typeface="+mn-lt"/>
                <a:ea typeface="+mn-ea"/>
                <a:cs typeface="+mn-cs"/>
              </a:rPr>
              <a:t>作为条件或无条件跳转指令的目标指令是一个首指令。</a:t>
            </a:r>
          </a:p>
          <a:p>
            <a:r>
              <a:rPr lang="en-US" altLang="zh-CN" sz="1200" kern="1200" dirty="0">
                <a:solidFill>
                  <a:schemeClr val="tx1"/>
                </a:solidFill>
                <a:effectLst/>
                <a:latin typeface="+mn-lt"/>
                <a:ea typeface="+mn-ea"/>
                <a:cs typeface="+mn-cs"/>
              </a:rPr>
              <a:t>3. </a:t>
            </a:r>
            <a:r>
              <a:rPr lang="zh-CN" altLang="zh-CN" sz="1200" kern="1200" dirty="0">
                <a:solidFill>
                  <a:schemeClr val="tx1"/>
                </a:solidFill>
                <a:effectLst/>
                <a:latin typeface="+mn-lt"/>
                <a:ea typeface="+mn-ea"/>
                <a:cs typeface="+mn-cs"/>
              </a:rPr>
              <a:t>紧跟在一个条件或无条件跳转之后的指令是一个首指令。</a:t>
            </a:r>
          </a:p>
          <a:p>
            <a:r>
              <a:rPr lang="zh-CN" altLang="zh-CN" sz="1200" kern="1200" dirty="0">
                <a:solidFill>
                  <a:schemeClr val="tx1"/>
                </a:solidFill>
                <a:effectLst/>
                <a:latin typeface="+mn-lt"/>
                <a:ea typeface="+mn-ea"/>
                <a:cs typeface="+mn-cs"/>
              </a:rPr>
              <a:t>然后，每个首指令对应的基本块包括从它自己开始，直到下一个首指令（不含）或者中间程序的结尾指令之间的所有指令。</a:t>
            </a:r>
            <a:endParaRPr lang="zh-CN" altLang="en-US"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25</a:t>
            </a:fld>
            <a:endParaRPr lang="zh-CN" altLang="en-US"/>
          </a:p>
        </p:txBody>
      </p:sp>
    </p:spTree>
    <p:extLst>
      <p:ext uri="{BB962C8B-B14F-4D97-AF65-F5344CB8AC3E}">
        <p14:creationId xmlns:p14="http://schemas.microsoft.com/office/powerpoint/2010/main" val="248582784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图</a:t>
            </a:r>
            <a:r>
              <a:rPr lang="en-US" altLang="zh-CN" sz="1200" kern="1200" dirty="0">
                <a:solidFill>
                  <a:schemeClr val="tx1"/>
                </a:solidFill>
                <a:effectLst/>
                <a:latin typeface="+mn-lt"/>
                <a:ea typeface="+mn-ea"/>
                <a:cs typeface="+mn-cs"/>
              </a:rPr>
              <a:t> 8.7 </a:t>
            </a:r>
            <a:r>
              <a:rPr lang="zh-CN" altLang="zh-CN" sz="1200" kern="1200" dirty="0">
                <a:solidFill>
                  <a:schemeClr val="tx1"/>
                </a:solidFill>
                <a:effectLst/>
                <a:latin typeface="+mn-lt"/>
                <a:ea typeface="+mn-ea"/>
                <a:cs typeface="+mn-cs"/>
              </a:rPr>
              <a:t>中的中间代码将</a:t>
            </a:r>
            <a:r>
              <a:rPr lang="en-US" altLang="zh-CN" sz="1200" kern="1200" dirty="0">
                <a:solidFill>
                  <a:schemeClr val="tx1"/>
                </a:solidFill>
                <a:effectLst/>
                <a:latin typeface="+mn-lt"/>
                <a:ea typeface="+mn-ea"/>
                <a:cs typeface="+mn-cs"/>
              </a:rPr>
              <a:t> 10X10 </a:t>
            </a:r>
            <a:r>
              <a:rPr lang="zh-CN" altLang="zh-CN" sz="1200" kern="1200" dirty="0">
                <a:solidFill>
                  <a:schemeClr val="tx1"/>
                </a:solidFill>
                <a:effectLst/>
                <a:latin typeface="+mn-lt"/>
                <a:ea typeface="+mn-ea"/>
                <a:cs typeface="+mn-cs"/>
              </a:rPr>
              <a:t>矩阵</a:t>
            </a:r>
            <a:r>
              <a:rPr lang="en-US" altLang="zh-CN" sz="1200" kern="1200" dirty="0">
                <a:solidFill>
                  <a:schemeClr val="tx1"/>
                </a:solidFill>
                <a:effectLst/>
                <a:latin typeface="+mn-lt"/>
                <a:ea typeface="+mn-ea"/>
                <a:cs typeface="+mn-cs"/>
              </a:rPr>
              <a:t> a </a:t>
            </a:r>
            <a:r>
              <a:rPr lang="zh-CN" altLang="zh-CN" sz="1200" kern="1200" dirty="0">
                <a:solidFill>
                  <a:schemeClr val="tx1"/>
                </a:solidFill>
                <a:effectLst/>
                <a:latin typeface="+mn-lt"/>
                <a:ea typeface="+mn-ea"/>
                <a:cs typeface="+mn-cs"/>
              </a:rPr>
              <a:t>转换为单位矩阵。尽管该代码来自何处并不重要，但它可能是图</a:t>
            </a:r>
            <a:r>
              <a:rPr lang="en-US" altLang="zh-CN" sz="1200" kern="1200" dirty="0">
                <a:solidFill>
                  <a:schemeClr val="tx1"/>
                </a:solidFill>
                <a:effectLst/>
                <a:latin typeface="+mn-lt"/>
                <a:ea typeface="+mn-ea"/>
                <a:cs typeface="+mn-cs"/>
              </a:rPr>
              <a:t> 8.8 </a:t>
            </a:r>
            <a:r>
              <a:rPr lang="zh-CN" altLang="zh-CN" sz="1200" kern="1200" dirty="0">
                <a:solidFill>
                  <a:schemeClr val="tx1"/>
                </a:solidFill>
                <a:effectLst/>
                <a:latin typeface="+mn-lt"/>
                <a:ea typeface="+mn-ea"/>
                <a:cs typeface="+mn-cs"/>
              </a:rPr>
              <a:t>中伪代码的翻译。在生成中间代码时，我们假设每个实</a:t>
            </a:r>
            <a:r>
              <a:rPr lang="zh-CN" altLang="en-US" sz="1200" kern="1200" dirty="0">
                <a:solidFill>
                  <a:schemeClr val="tx1"/>
                </a:solidFill>
                <a:effectLst/>
                <a:latin typeface="+mn-lt"/>
                <a:ea typeface="+mn-ea"/>
                <a:cs typeface="+mn-cs"/>
              </a:rPr>
              <a:t>数</a:t>
            </a:r>
            <a:r>
              <a:rPr lang="zh-CN" altLang="zh-CN" sz="1200" kern="1200" dirty="0">
                <a:solidFill>
                  <a:schemeClr val="tx1"/>
                </a:solidFill>
                <a:effectLst/>
                <a:latin typeface="+mn-lt"/>
                <a:ea typeface="+mn-ea"/>
                <a:cs typeface="+mn-cs"/>
              </a:rPr>
              <a:t>值</a:t>
            </a:r>
            <a:r>
              <a:rPr lang="zh-CN" altLang="en-US" sz="1200" kern="1200" dirty="0">
                <a:solidFill>
                  <a:schemeClr val="tx1"/>
                </a:solidFill>
                <a:effectLst/>
                <a:latin typeface="+mn-lt"/>
                <a:ea typeface="+mn-ea"/>
                <a:cs typeface="+mn-cs"/>
              </a:rPr>
              <a:t>的</a:t>
            </a:r>
            <a:r>
              <a:rPr lang="zh-CN" altLang="zh-CN" sz="1200" kern="1200" dirty="0">
                <a:solidFill>
                  <a:schemeClr val="tx1"/>
                </a:solidFill>
                <a:effectLst/>
                <a:latin typeface="+mn-lt"/>
                <a:ea typeface="+mn-ea"/>
                <a:cs typeface="+mn-cs"/>
              </a:rPr>
              <a:t>数组元素占用</a:t>
            </a:r>
            <a:r>
              <a:rPr lang="en-US" altLang="zh-CN" sz="1200" kern="1200" dirty="0">
                <a:solidFill>
                  <a:schemeClr val="tx1"/>
                </a:solidFill>
                <a:effectLst/>
                <a:latin typeface="+mn-lt"/>
                <a:ea typeface="+mn-ea"/>
                <a:cs typeface="+mn-cs"/>
              </a:rPr>
              <a:t> 8 </a:t>
            </a:r>
            <a:r>
              <a:rPr lang="zh-CN" altLang="zh-CN" sz="1200" kern="1200" dirty="0">
                <a:solidFill>
                  <a:schemeClr val="tx1"/>
                </a:solidFill>
                <a:effectLst/>
                <a:latin typeface="+mn-lt"/>
                <a:ea typeface="+mn-ea"/>
                <a:cs typeface="+mn-cs"/>
              </a:rPr>
              <a:t>个字节，并且矩阵</a:t>
            </a:r>
            <a:r>
              <a:rPr lang="en-US" altLang="zh-CN" sz="1200" kern="1200" dirty="0">
                <a:solidFill>
                  <a:schemeClr val="tx1"/>
                </a:solidFill>
                <a:effectLst/>
                <a:latin typeface="+mn-lt"/>
                <a:ea typeface="+mn-ea"/>
                <a:cs typeface="+mn-cs"/>
              </a:rPr>
              <a:t> a </a:t>
            </a:r>
            <a:r>
              <a:rPr lang="zh-CN" altLang="zh-CN" sz="1200" kern="1200" dirty="0">
                <a:solidFill>
                  <a:schemeClr val="tx1"/>
                </a:solidFill>
                <a:effectLst/>
                <a:latin typeface="+mn-lt"/>
                <a:ea typeface="+mn-ea"/>
                <a:cs typeface="+mn-cs"/>
              </a:rPr>
              <a:t>以行优先形式存储。</a:t>
            </a:r>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首先，根据算法</a:t>
            </a:r>
            <a:r>
              <a:rPr lang="en-US" altLang="zh-CN" sz="1200" kern="1200" dirty="0">
                <a:solidFill>
                  <a:schemeClr val="tx1"/>
                </a:solidFill>
                <a:effectLst/>
                <a:latin typeface="+mn-lt"/>
                <a:ea typeface="+mn-ea"/>
                <a:cs typeface="+mn-cs"/>
              </a:rPr>
              <a:t> 8.5 </a:t>
            </a:r>
            <a:r>
              <a:rPr lang="zh-CN" altLang="zh-CN" sz="1200" kern="1200" dirty="0">
                <a:solidFill>
                  <a:schemeClr val="tx1"/>
                </a:solidFill>
                <a:effectLst/>
                <a:latin typeface="+mn-lt"/>
                <a:ea typeface="+mn-ea"/>
                <a:cs typeface="+mn-cs"/>
              </a:rPr>
              <a:t>的规则</a:t>
            </a:r>
            <a:r>
              <a:rPr lang="en-US" altLang="zh-CN" sz="1200" kern="1200" dirty="0">
                <a:solidFill>
                  <a:schemeClr val="tx1"/>
                </a:solidFill>
                <a:effectLst/>
                <a:latin typeface="+mn-lt"/>
                <a:ea typeface="+mn-ea"/>
                <a:cs typeface="+mn-cs"/>
              </a:rPr>
              <a:t> (1)</a:t>
            </a:r>
            <a:r>
              <a:rPr lang="zh-CN" altLang="zh-CN" sz="1200" kern="1200" dirty="0">
                <a:solidFill>
                  <a:schemeClr val="tx1"/>
                </a:solidFill>
                <a:effectLst/>
                <a:latin typeface="+mn-lt"/>
                <a:ea typeface="+mn-ea"/>
                <a:cs typeface="+mn-cs"/>
              </a:rPr>
              <a:t>，指令</a:t>
            </a:r>
            <a:r>
              <a:rPr lang="en-US" altLang="zh-CN" sz="1200" kern="1200" dirty="0">
                <a:solidFill>
                  <a:schemeClr val="tx1"/>
                </a:solidFill>
                <a:effectLst/>
                <a:latin typeface="+mn-lt"/>
                <a:ea typeface="+mn-ea"/>
                <a:cs typeface="+mn-cs"/>
              </a:rPr>
              <a:t> 1 </a:t>
            </a:r>
            <a:r>
              <a:rPr lang="zh-CN" altLang="zh-CN" sz="1200" kern="1200" dirty="0">
                <a:solidFill>
                  <a:schemeClr val="tx1"/>
                </a:solidFill>
                <a:effectLst/>
                <a:latin typeface="+mn-lt"/>
                <a:ea typeface="+mn-ea"/>
                <a:cs typeface="+mn-cs"/>
              </a:rPr>
              <a:t>是一个首指令。为了找到其他的首指令，我们首先要找到跳转指令。在这个例子中，指令</a:t>
            </a:r>
            <a:r>
              <a:rPr lang="en-US" altLang="zh-CN" sz="1200" kern="1200" dirty="0">
                <a:solidFill>
                  <a:schemeClr val="tx1"/>
                </a:solidFill>
                <a:effectLst/>
                <a:latin typeface="+mn-lt"/>
                <a:ea typeface="+mn-ea"/>
                <a:cs typeface="+mn-cs"/>
              </a:rPr>
              <a:t> 9</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11 </a:t>
            </a:r>
            <a:r>
              <a:rPr lang="zh-CN" altLang="zh-CN"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 17 </a:t>
            </a:r>
            <a:r>
              <a:rPr lang="zh-CN" altLang="zh-CN" sz="1200" kern="1200" dirty="0">
                <a:solidFill>
                  <a:schemeClr val="tx1"/>
                </a:solidFill>
                <a:effectLst/>
                <a:latin typeface="+mn-lt"/>
                <a:ea typeface="+mn-ea"/>
                <a:cs typeface="+mn-cs"/>
              </a:rPr>
              <a:t>处有</a:t>
            </a:r>
            <a:r>
              <a:rPr lang="en-US" altLang="zh-CN" sz="1200" kern="1200" dirty="0">
                <a:solidFill>
                  <a:schemeClr val="tx1"/>
                </a:solidFill>
                <a:effectLst/>
                <a:latin typeface="+mn-lt"/>
                <a:ea typeface="+mn-ea"/>
                <a:cs typeface="+mn-cs"/>
              </a:rPr>
              <a:t> 3 </a:t>
            </a:r>
            <a:r>
              <a:rPr lang="zh-CN" altLang="zh-CN" sz="1200" kern="1200" dirty="0">
                <a:solidFill>
                  <a:schemeClr val="tx1"/>
                </a:solidFill>
                <a:effectLst/>
                <a:latin typeface="+mn-lt"/>
                <a:ea typeface="+mn-ea"/>
                <a:cs typeface="+mn-cs"/>
              </a:rPr>
              <a:t>个跳转，都是有条件跳转指令。根据规则</a:t>
            </a:r>
            <a:r>
              <a:rPr lang="en-US" altLang="zh-CN" sz="1200" kern="1200" dirty="0">
                <a:solidFill>
                  <a:schemeClr val="tx1"/>
                </a:solidFill>
                <a:effectLst/>
                <a:latin typeface="+mn-lt"/>
                <a:ea typeface="+mn-ea"/>
                <a:cs typeface="+mn-cs"/>
              </a:rPr>
              <a:t> (2)</a:t>
            </a:r>
            <a:r>
              <a:rPr lang="zh-CN" altLang="zh-CN" sz="1200" kern="1200" dirty="0">
                <a:solidFill>
                  <a:schemeClr val="tx1"/>
                </a:solidFill>
                <a:effectLst/>
                <a:latin typeface="+mn-lt"/>
                <a:ea typeface="+mn-ea"/>
                <a:cs typeface="+mn-cs"/>
              </a:rPr>
              <a:t>，这些跳转指令的目标是首指令；它们分别是指令 </a:t>
            </a:r>
            <a:r>
              <a:rPr lang="en-US" altLang="zh-CN" sz="1200" kern="1200" dirty="0">
                <a:solidFill>
                  <a:schemeClr val="tx1"/>
                </a:solidFill>
                <a:effectLst/>
                <a:latin typeface="+mn-lt"/>
                <a:ea typeface="+mn-ea"/>
                <a:cs typeface="+mn-cs"/>
              </a:rPr>
              <a:t>3</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2 </a:t>
            </a:r>
            <a:r>
              <a:rPr lang="zh-CN" altLang="zh-CN"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 13</a:t>
            </a:r>
            <a:r>
              <a:rPr lang="zh-CN" altLang="zh-CN" sz="1200" kern="1200" dirty="0">
                <a:solidFill>
                  <a:schemeClr val="tx1"/>
                </a:solidFill>
                <a:effectLst/>
                <a:latin typeface="+mn-lt"/>
                <a:ea typeface="+mn-ea"/>
                <a:cs typeface="+mn-cs"/>
              </a:rPr>
              <a:t>。然后，根据规则（</a:t>
            </a:r>
            <a:r>
              <a:rPr lang="en-US" altLang="zh-CN" sz="1200" kern="1200" dirty="0">
                <a:solidFill>
                  <a:schemeClr val="tx1"/>
                </a:solidFill>
                <a:effectLst/>
                <a:latin typeface="+mn-lt"/>
                <a:ea typeface="+mn-ea"/>
                <a:cs typeface="+mn-cs"/>
              </a:rPr>
              <a:t>3</a:t>
            </a:r>
            <a:r>
              <a:rPr lang="zh-CN" altLang="zh-CN"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跟在一个</a:t>
            </a:r>
            <a:r>
              <a:rPr lang="zh-CN" altLang="zh-CN" sz="1200" kern="1200" dirty="0">
                <a:solidFill>
                  <a:schemeClr val="tx1"/>
                </a:solidFill>
                <a:effectLst/>
                <a:latin typeface="+mn-lt"/>
                <a:ea typeface="+mn-ea"/>
                <a:cs typeface="+mn-cs"/>
              </a:rPr>
              <a:t>跳转</a:t>
            </a:r>
            <a:r>
              <a:rPr lang="zh-CN" altLang="en-US" sz="1200" kern="1200" dirty="0">
                <a:solidFill>
                  <a:schemeClr val="tx1"/>
                </a:solidFill>
                <a:effectLst/>
                <a:latin typeface="+mn-lt"/>
                <a:ea typeface="+mn-ea"/>
                <a:cs typeface="+mn-cs"/>
              </a:rPr>
              <a:t>指令</a:t>
            </a:r>
            <a:r>
              <a:rPr lang="zh-CN" altLang="zh-CN" sz="1200" kern="1200" dirty="0">
                <a:solidFill>
                  <a:schemeClr val="tx1"/>
                </a:solidFill>
                <a:effectLst/>
                <a:latin typeface="+mn-lt"/>
                <a:ea typeface="+mn-ea"/>
                <a:cs typeface="+mn-cs"/>
              </a:rPr>
              <a:t>后的每条指令都是首指令；它们是指令</a:t>
            </a:r>
            <a:r>
              <a:rPr lang="en-US" altLang="zh-CN" sz="1200" kern="1200" dirty="0">
                <a:solidFill>
                  <a:schemeClr val="tx1"/>
                </a:solidFill>
                <a:effectLst/>
                <a:latin typeface="+mn-lt"/>
                <a:ea typeface="+mn-ea"/>
                <a:cs typeface="+mn-cs"/>
              </a:rPr>
              <a:t> 10 </a:t>
            </a:r>
            <a:r>
              <a:rPr lang="zh-CN" altLang="zh-CN"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 12</a:t>
            </a:r>
            <a:r>
              <a:rPr lang="zh-CN" altLang="zh-CN" sz="1200" kern="1200" dirty="0">
                <a:solidFill>
                  <a:schemeClr val="tx1"/>
                </a:solidFill>
                <a:effectLst/>
                <a:latin typeface="+mn-lt"/>
                <a:ea typeface="+mn-ea"/>
                <a:cs typeface="+mn-cs"/>
              </a:rPr>
              <a:t>。请注意，在此代码中，</a:t>
            </a:r>
            <a:r>
              <a:rPr lang="en-US" altLang="zh-CN" sz="1200" kern="1200" dirty="0">
                <a:solidFill>
                  <a:schemeClr val="tx1"/>
                </a:solidFill>
                <a:effectLst/>
                <a:latin typeface="+mn-lt"/>
                <a:ea typeface="+mn-ea"/>
                <a:cs typeface="+mn-cs"/>
              </a:rPr>
              <a:t>17 </a:t>
            </a:r>
            <a:r>
              <a:rPr lang="zh-CN" altLang="zh-CN" sz="1200" kern="1200" dirty="0">
                <a:solidFill>
                  <a:schemeClr val="tx1"/>
                </a:solidFill>
                <a:effectLst/>
                <a:latin typeface="+mn-lt"/>
                <a:ea typeface="+mn-ea"/>
                <a:cs typeface="+mn-cs"/>
              </a:rPr>
              <a:t>后面没有指令，但如果后面有代码，则第</a:t>
            </a:r>
            <a:r>
              <a:rPr lang="en-US" altLang="zh-CN" sz="1200" kern="1200" dirty="0">
                <a:solidFill>
                  <a:schemeClr val="tx1"/>
                </a:solidFill>
                <a:effectLst/>
                <a:latin typeface="+mn-lt"/>
                <a:ea typeface="+mn-ea"/>
                <a:cs typeface="+mn-cs"/>
              </a:rPr>
              <a:t> 18 </a:t>
            </a:r>
            <a:r>
              <a:rPr lang="zh-CN" altLang="zh-CN" sz="1200" kern="1200" dirty="0">
                <a:solidFill>
                  <a:schemeClr val="tx1"/>
                </a:solidFill>
                <a:effectLst/>
                <a:latin typeface="+mn-lt"/>
                <a:ea typeface="+mn-ea"/>
                <a:cs typeface="+mn-cs"/>
              </a:rPr>
              <a:t>条指令也将是首指令。</a:t>
            </a:r>
          </a:p>
          <a:p>
            <a:r>
              <a:rPr lang="zh-CN" altLang="zh-CN" sz="1200" kern="1200" dirty="0">
                <a:solidFill>
                  <a:schemeClr val="tx1"/>
                </a:solidFill>
                <a:effectLst/>
                <a:latin typeface="+mn-lt"/>
                <a:ea typeface="+mn-ea"/>
                <a:cs typeface="+mn-cs"/>
              </a:rPr>
              <a:t>我们得出结论，指令</a:t>
            </a:r>
            <a:r>
              <a:rPr lang="en-US" altLang="zh-CN" sz="1200" kern="1200" dirty="0">
                <a:solidFill>
                  <a:schemeClr val="tx1"/>
                </a:solidFill>
                <a:effectLst/>
                <a:latin typeface="+mn-lt"/>
                <a:ea typeface="+mn-ea"/>
                <a:cs typeface="+mn-cs"/>
              </a:rPr>
              <a:t> 1</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3</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10</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12 </a:t>
            </a:r>
            <a:r>
              <a:rPr lang="zh-CN" altLang="zh-CN"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 13</a:t>
            </a:r>
            <a:r>
              <a:rPr lang="zh-CN" altLang="zh-CN" sz="1200" kern="1200" dirty="0">
                <a:solidFill>
                  <a:schemeClr val="tx1"/>
                </a:solidFill>
                <a:effectLst/>
                <a:latin typeface="+mn-lt"/>
                <a:ea typeface="+mn-ea"/>
                <a:cs typeface="+mn-cs"/>
              </a:rPr>
              <a:t>是首指令。每个首指令对应的基本块包含了从其自身到下一个首指令之前的所有指令。因此，指令</a:t>
            </a:r>
            <a:r>
              <a:rPr lang="en-US" altLang="zh-CN" sz="1200" kern="1200" dirty="0">
                <a:solidFill>
                  <a:schemeClr val="tx1"/>
                </a:solidFill>
                <a:effectLst/>
                <a:latin typeface="+mn-lt"/>
                <a:ea typeface="+mn-ea"/>
                <a:cs typeface="+mn-cs"/>
              </a:rPr>
              <a:t>1 </a:t>
            </a:r>
            <a:r>
              <a:rPr lang="zh-CN" altLang="zh-CN" sz="1200" kern="1200" dirty="0">
                <a:solidFill>
                  <a:schemeClr val="tx1"/>
                </a:solidFill>
                <a:effectLst/>
                <a:latin typeface="+mn-lt"/>
                <a:ea typeface="+mn-ea"/>
                <a:cs typeface="+mn-cs"/>
              </a:rPr>
              <a:t>的基本块就是指令</a:t>
            </a:r>
            <a:r>
              <a:rPr lang="en-US" altLang="zh-CN" sz="1200" kern="1200" dirty="0">
                <a:solidFill>
                  <a:schemeClr val="tx1"/>
                </a:solidFill>
                <a:effectLst/>
                <a:latin typeface="+mn-lt"/>
                <a:ea typeface="+mn-ea"/>
                <a:cs typeface="+mn-cs"/>
              </a:rPr>
              <a:t> 1</a:t>
            </a:r>
            <a:r>
              <a:rPr lang="zh-CN" altLang="zh-CN" sz="1200" kern="1200" dirty="0">
                <a:solidFill>
                  <a:schemeClr val="tx1"/>
                </a:solidFill>
                <a:effectLst/>
                <a:latin typeface="+mn-lt"/>
                <a:ea typeface="+mn-ea"/>
                <a:cs typeface="+mn-cs"/>
              </a:rPr>
              <a:t>，指令</a:t>
            </a:r>
            <a:r>
              <a:rPr lang="en-US" altLang="zh-CN" sz="1200" kern="1200" dirty="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的基本块是指令</a:t>
            </a:r>
            <a:r>
              <a:rPr lang="en-US" altLang="zh-CN" sz="1200" kern="1200" dirty="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 。然而，首指令</a:t>
            </a:r>
            <a:r>
              <a:rPr lang="en-US" altLang="zh-CN" sz="1200" kern="1200" dirty="0">
                <a:solidFill>
                  <a:schemeClr val="tx1"/>
                </a:solidFill>
                <a:effectLst/>
                <a:latin typeface="+mn-lt"/>
                <a:ea typeface="+mn-ea"/>
                <a:cs typeface="+mn-cs"/>
              </a:rPr>
              <a:t> 3 </a:t>
            </a:r>
            <a:r>
              <a:rPr lang="zh-CN" altLang="zh-CN" sz="1200" kern="1200" dirty="0">
                <a:solidFill>
                  <a:schemeClr val="tx1"/>
                </a:solidFill>
                <a:effectLst/>
                <a:latin typeface="+mn-lt"/>
                <a:ea typeface="+mn-ea"/>
                <a:cs typeface="+mn-cs"/>
              </a:rPr>
              <a:t>的基本块包含了从指令</a:t>
            </a:r>
            <a:r>
              <a:rPr lang="en-US" altLang="zh-CN" sz="1200" kern="1200" dirty="0">
                <a:solidFill>
                  <a:schemeClr val="tx1"/>
                </a:solidFill>
                <a:effectLst/>
                <a:latin typeface="+mn-lt"/>
                <a:ea typeface="+mn-ea"/>
                <a:cs typeface="+mn-cs"/>
              </a:rPr>
              <a:t> 3 </a:t>
            </a:r>
            <a:r>
              <a:rPr lang="zh-CN" altLang="zh-CN" sz="1200" kern="1200" dirty="0">
                <a:solidFill>
                  <a:schemeClr val="tx1"/>
                </a:solidFill>
                <a:effectLst/>
                <a:latin typeface="+mn-lt"/>
                <a:ea typeface="+mn-ea"/>
                <a:cs typeface="+mn-cs"/>
              </a:rPr>
              <a:t>到</a:t>
            </a:r>
            <a:r>
              <a:rPr lang="en-US" altLang="zh-CN" sz="1200" kern="1200" dirty="0">
                <a:solidFill>
                  <a:schemeClr val="tx1"/>
                </a:solidFill>
                <a:effectLst/>
                <a:latin typeface="+mn-lt"/>
                <a:ea typeface="+mn-ea"/>
                <a:cs typeface="+mn-cs"/>
              </a:rPr>
              <a:t> 9</a:t>
            </a:r>
            <a:r>
              <a:rPr lang="zh-CN" altLang="zh-CN" sz="1200" kern="1200" dirty="0">
                <a:solidFill>
                  <a:schemeClr val="tx1"/>
                </a:solidFill>
                <a:effectLst/>
                <a:latin typeface="+mn-lt"/>
                <a:ea typeface="+mn-ea"/>
                <a:cs typeface="+mn-cs"/>
              </a:rPr>
              <a:t>的所有指令。指令</a:t>
            </a:r>
            <a:r>
              <a:rPr lang="en-US" altLang="zh-CN" sz="1200" kern="1200" dirty="0">
                <a:solidFill>
                  <a:schemeClr val="tx1"/>
                </a:solidFill>
                <a:effectLst/>
                <a:latin typeface="+mn-lt"/>
                <a:ea typeface="+mn-ea"/>
                <a:cs typeface="+mn-cs"/>
              </a:rPr>
              <a:t>10</a:t>
            </a:r>
            <a:r>
              <a:rPr lang="zh-CN" altLang="zh-CN" sz="1200" kern="1200" dirty="0">
                <a:solidFill>
                  <a:schemeClr val="tx1"/>
                </a:solidFill>
                <a:effectLst/>
                <a:latin typeface="+mn-lt"/>
                <a:ea typeface="+mn-ea"/>
                <a:cs typeface="+mn-cs"/>
              </a:rPr>
              <a:t>的基本块是</a:t>
            </a:r>
            <a:r>
              <a:rPr lang="en-US" altLang="zh-CN" sz="1200" kern="1200" dirty="0">
                <a:solidFill>
                  <a:schemeClr val="tx1"/>
                </a:solidFill>
                <a:effectLst/>
                <a:latin typeface="+mn-lt"/>
                <a:ea typeface="+mn-ea"/>
                <a:cs typeface="+mn-cs"/>
              </a:rPr>
              <a:t>10</a:t>
            </a:r>
            <a:r>
              <a:rPr lang="zh-CN" altLang="zh-CN"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11</a:t>
            </a:r>
            <a:r>
              <a:rPr lang="zh-CN" altLang="zh-CN" sz="1200" kern="1200" dirty="0">
                <a:solidFill>
                  <a:schemeClr val="tx1"/>
                </a:solidFill>
                <a:effectLst/>
                <a:latin typeface="+mn-lt"/>
                <a:ea typeface="+mn-ea"/>
                <a:cs typeface="+mn-cs"/>
              </a:rPr>
              <a:t>；指令</a:t>
            </a:r>
            <a:r>
              <a:rPr lang="en-US" altLang="zh-CN" sz="1200" kern="1200" dirty="0">
                <a:solidFill>
                  <a:schemeClr val="tx1"/>
                </a:solidFill>
                <a:effectLst/>
                <a:latin typeface="+mn-lt"/>
                <a:ea typeface="+mn-ea"/>
                <a:cs typeface="+mn-cs"/>
              </a:rPr>
              <a:t> 12 </a:t>
            </a:r>
            <a:r>
              <a:rPr lang="zh-CN" altLang="zh-CN" sz="1200" kern="1200" dirty="0">
                <a:solidFill>
                  <a:schemeClr val="tx1"/>
                </a:solidFill>
                <a:effectLst/>
                <a:latin typeface="+mn-lt"/>
                <a:ea typeface="+mn-ea"/>
                <a:cs typeface="+mn-cs"/>
              </a:rPr>
              <a:t>的基本块只包含指令</a:t>
            </a:r>
            <a:r>
              <a:rPr lang="en-US" altLang="zh-CN" sz="1200" kern="1200" dirty="0">
                <a:solidFill>
                  <a:schemeClr val="tx1"/>
                </a:solidFill>
                <a:effectLst/>
                <a:latin typeface="+mn-lt"/>
                <a:ea typeface="+mn-ea"/>
                <a:cs typeface="+mn-cs"/>
              </a:rPr>
              <a:t> 12</a:t>
            </a:r>
            <a:r>
              <a:rPr lang="zh-CN" altLang="zh-CN" sz="1200" kern="1200" dirty="0">
                <a:solidFill>
                  <a:schemeClr val="tx1"/>
                </a:solidFill>
                <a:effectLst/>
                <a:latin typeface="+mn-lt"/>
                <a:ea typeface="+mn-ea"/>
                <a:cs typeface="+mn-cs"/>
              </a:rPr>
              <a:t>，而指令</a:t>
            </a:r>
            <a:r>
              <a:rPr lang="en-US" altLang="zh-CN" sz="1200" kern="1200" dirty="0">
                <a:solidFill>
                  <a:schemeClr val="tx1"/>
                </a:solidFill>
                <a:effectLst/>
                <a:latin typeface="+mn-lt"/>
                <a:ea typeface="+mn-ea"/>
                <a:cs typeface="+mn-cs"/>
              </a:rPr>
              <a:t> 13 </a:t>
            </a:r>
            <a:r>
              <a:rPr lang="zh-CN" altLang="zh-CN" sz="1200" kern="1200" dirty="0">
                <a:solidFill>
                  <a:schemeClr val="tx1"/>
                </a:solidFill>
                <a:effectLst/>
                <a:latin typeface="+mn-lt"/>
                <a:ea typeface="+mn-ea"/>
                <a:cs typeface="+mn-cs"/>
              </a:rPr>
              <a:t>的基本块是 指令</a:t>
            </a:r>
            <a:r>
              <a:rPr lang="en-US" altLang="zh-CN" sz="1200" kern="1200" dirty="0">
                <a:solidFill>
                  <a:schemeClr val="tx1"/>
                </a:solidFill>
                <a:effectLst/>
                <a:latin typeface="+mn-lt"/>
                <a:ea typeface="+mn-ea"/>
                <a:cs typeface="+mn-cs"/>
              </a:rPr>
              <a:t>13 </a:t>
            </a:r>
            <a:r>
              <a:rPr lang="zh-CN" altLang="zh-CN" sz="1200" kern="1200" dirty="0">
                <a:solidFill>
                  <a:schemeClr val="tx1"/>
                </a:solidFill>
                <a:effectLst/>
                <a:latin typeface="+mn-lt"/>
                <a:ea typeface="+mn-ea"/>
                <a:cs typeface="+mn-cs"/>
              </a:rPr>
              <a:t>到</a:t>
            </a:r>
            <a:r>
              <a:rPr lang="en-US" altLang="zh-CN" sz="1200" kern="1200" dirty="0">
                <a:solidFill>
                  <a:schemeClr val="tx1"/>
                </a:solidFill>
                <a:effectLst/>
                <a:latin typeface="+mn-lt"/>
                <a:ea typeface="+mn-ea"/>
                <a:cs typeface="+mn-cs"/>
              </a:rPr>
              <a:t> 17</a:t>
            </a:r>
            <a:r>
              <a:rPr lang="zh-CN" altLang="zh-CN" sz="1200" kern="1200" dirty="0">
                <a:solidFill>
                  <a:schemeClr val="tx1"/>
                </a:solidFill>
                <a:effectLst/>
                <a:latin typeface="+mn-lt"/>
                <a:ea typeface="+mn-ea"/>
                <a:cs typeface="+mn-cs"/>
              </a:rPr>
              <a:t>。</a:t>
            </a:r>
          </a:p>
          <a:p>
            <a:endParaRPr lang="zh-CN" altLang="en-US"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26</a:t>
            </a:fld>
            <a:endParaRPr lang="zh-CN" altLang="en-US"/>
          </a:p>
        </p:txBody>
      </p:sp>
    </p:spTree>
    <p:extLst>
      <p:ext uri="{BB962C8B-B14F-4D97-AF65-F5344CB8AC3E}">
        <p14:creationId xmlns:p14="http://schemas.microsoft.com/office/powerpoint/2010/main" val="264049985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在一个三地址语句中对一个名字的使用定义如下。</a:t>
            </a:r>
            <a:endParaRPr lang="en-US" altLang="zh-CN" sz="1200" kern="1200" dirty="0">
              <a:solidFill>
                <a:schemeClr val="tx1"/>
              </a:solidFill>
              <a:effectLst/>
              <a:latin typeface="+mn-lt"/>
              <a:ea typeface="+mn-ea"/>
              <a:cs typeface="+mn-cs"/>
            </a:endParaRPr>
          </a:p>
          <a:p>
            <a:pPr marL="171450" indent="-171450">
              <a:buFont typeface="Arial" panose="020B0604020202020204" pitchFamily="34" charset="0"/>
              <a:buChar char="•"/>
            </a:pPr>
            <a:r>
              <a:rPr lang="zh-CN" altLang="zh-CN" sz="1200" kern="1200" dirty="0">
                <a:solidFill>
                  <a:schemeClr val="tx1"/>
                </a:solidFill>
                <a:effectLst/>
                <a:latin typeface="+mn-lt"/>
                <a:ea typeface="+mn-ea"/>
                <a:cs typeface="+mn-cs"/>
              </a:rPr>
              <a:t>假设三地址语句</a:t>
            </a:r>
            <a:r>
              <a:rPr lang="en-US" altLang="zh-CN" sz="1200" kern="1200" dirty="0" err="1">
                <a:solidFill>
                  <a:schemeClr val="tx1"/>
                </a:solidFill>
                <a:effectLst/>
                <a:latin typeface="+mn-lt"/>
                <a:ea typeface="+mn-ea"/>
                <a:cs typeface="+mn-cs"/>
              </a:rPr>
              <a:t>i</a:t>
            </a:r>
            <a:r>
              <a:rPr lang="zh-CN" altLang="zh-CN" sz="1200" kern="1200" dirty="0">
                <a:solidFill>
                  <a:schemeClr val="tx1"/>
                </a:solidFill>
                <a:effectLst/>
                <a:latin typeface="+mn-lt"/>
                <a:ea typeface="+mn-ea"/>
                <a:cs typeface="+mn-cs"/>
              </a:rPr>
              <a:t>给</a:t>
            </a:r>
            <a:r>
              <a:rPr lang="en-US" altLang="zh-CN" sz="1200" kern="1200" dirty="0">
                <a:solidFill>
                  <a:schemeClr val="tx1"/>
                </a:solidFill>
                <a:effectLst/>
                <a:latin typeface="+mn-lt"/>
                <a:ea typeface="+mn-ea"/>
                <a:cs typeface="+mn-cs"/>
              </a:rPr>
              <a:t>x</a:t>
            </a:r>
            <a:r>
              <a:rPr lang="zh-CN" altLang="zh-CN" sz="1200" kern="1200" dirty="0">
                <a:solidFill>
                  <a:schemeClr val="tx1"/>
                </a:solidFill>
                <a:effectLst/>
                <a:latin typeface="+mn-lt"/>
                <a:ea typeface="+mn-ea"/>
                <a:cs typeface="+mn-cs"/>
              </a:rPr>
              <a:t>赋了一个值。如果语句</a:t>
            </a:r>
            <a:r>
              <a:rPr lang="en-US" altLang="zh-CN" sz="1200" kern="1200" dirty="0">
                <a:solidFill>
                  <a:schemeClr val="tx1"/>
                </a:solidFill>
                <a:effectLst/>
                <a:latin typeface="+mn-lt"/>
                <a:ea typeface="+mn-ea"/>
                <a:cs typeface="+mn-cs"/>
              </a:rPr>
              <a:t> j </a:t>
            </a:r>
            <a:r>
              <a:rPr lang="zh-CN" altLang="zh-CN" sz="1200" kern="1200" dirty="0">
                <a:solidFill>
                  <a:schemeClr val="tx1"/>
                </a:solidFill>
                <a:effectLst/>
                <a:latin typeface="+mn-lt"/>
                <a:ea typeface="+mn-ea"/>
                <a:cs typeface="+mn-cs"/>
              </a:rPr>
              <a:t>将</a:t>
            </a:r>
            <a:r>
              <a:rPr lang="en-US" altLang="zh-CN" sz="1200" kern="1200" dirty="0">
                <a:solidFill>
                  <a:schemeClr val="tx1"/>
                </a:solidFill>
                <a:effectLst/>
                <a:latin typeface="+mn-lt"/>
                <a:ea typeface="+mn-ea"/>
                <a:cs typeface="+mn-cs"/>
              </a:rPr>
              <a:t> x </a:t>
            </a:r>
            <a:r>
              <a:rPr lang="zh-CN" altLang="zh-CN" sz="1200" kern="1200" dirty="0">
                <a:solidFill>
                  <a:schemeClr val="tx1"/>
                </a:solidFill>
                <a:effectLst/>
                <a:latin typeface="+mn-lt"/>
                <a:ea typeface="+mn-ea"/>
                <a:cs typeface="+mn-cs"/>
              </a:rPr>
              <a:t>作为运算分量，并且控制可以沿着没有中间对</a:t>
            </a:r>
            <a:r>
              <a:rPr lang="en-US" altLang="zh-CN" sz="1200" kern="1200" dirty="0">
                <a:solidFill>
                  <a:schemeClr val="tx1"/>
                </a:solidFill>
                <a:effectLst/>
                <a:latin typeface="+mn-lt"/>
                <a:ea typeface="+mn-ea"/>
                <a:cs typeface="+mn-cs"/>
              </a:rPr>
              <a:t> x </a:t>
            </a:r>
            <a:r>
              <a:rPr lang="zh-CN" altLang="zh-CN" sz="1200" kern="1200" dirty="0">
                <a:solidFill>
                  <a:schemeClr val="tx1"/>
                </a:solidFill>
                <a:effectLst/>
                <a:latin typeface="+mn-lt"/>
                <a:ea typeface="+mn-ea"/>
                <a:cs typeface="+mn-cs"/>
              </a:rPr>
              <a:t>赋值的路径从语句</a:t>
            </a:r>
            <a:r>
              <a:rPr lang="en-US" altLang="zh-CN" sz="1200" kern="1200" dirty="0">
                <a:solidFill>
                  <a:schemeClr val="tx1"/>
                </a:solidFill>
                <a:effectLst/>
                <a:latin typeface="+mn-lt"/>
                <a:ea typeface="+mn-ea"/>
                <a:cs typeface="+mn-cs"/>
              </a:rPr>
              <a:t> </a:t>
            </a:r>
            <a:r>
              <a:rPr lang="en-US" altLang="zh-CN" sz="1200" kern="1200" dirty="0" err="1">
                <a:solidFill>
                  <a:schemeClr val="tx1"/>
                </a:solidFill>
                <a:effectLst/>
                <a:latin typeface="+mn-lt"/>
                <a:ea typeface="+mn-ea"/>
                <a:cs typeface="+mn-cs"/>
              </a:rPr>
              <a:t>i</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流向</a:t>
            </a:r>
            <a:r>
              <a:rPr lang="en-US" altLang="zh-CN" sz="1200" kern="1200" dirty="0">
                <a:solidFill>
                  <a:schemeClr val="tx1"/>
                </a:solidFill>
                <a:effectLst/>
                <a:latin typeface="+mn-lt"/>
                <a:ea typeface="+mn-ea"/>
                <a:cs typeface="+mn-cs"/>
              </a:rPr>
              <a:t> j</a:t>
            </a:r>
            <a:r>
              <a:rPr lang="zh-CN" altLang="zh-CN" sz="1200" kern="1200" dirty="0">
                <a:solidFill>
                  <a:schemeClr val="tx1"/>
                </a:solidFill>
                <a:effectLst/>
                <a:latin typeface="+mn-lt"/>
                <a:ea typeface="+mn-ea"/>
                <a:cs typeface="+mn-cs"/>
              </a:rPr>
              <a:t>，则我们说语句</a:t>
            </a:r>
            <a:r>
              <a:rPr lang="en-US" altLang="zh-CN" sz="1200" kern="1200" dirty="0">
                <a:solidFill>
                  <a:schemeClr val="tx1"/>
                </a:solidFill>
                <a:effectLst/>
                <a:latin typeface="+mn-lt"/>
                <a:ea typeface="+mn-ea"/>
                <a:cs typeface="+mn-cs"/>
              </a:rPr>
              <a:t> j </a:t>
            </a:r>
            <a:r>
              <a:rPr lang="zh-CN" altLang="zh-CN" sz="1200" kern="1200" dirty="0">
                <a:solidFill>
                  <a:schemeClr val="tx1"/>
                </a:solidFill>
                <a:effectLst/>
                <a:latin typeface="+mn-lt"/>
                <a:ea typeface="+mn-ea"/>
                <a:cs typeface="+mn-cs"/>
              </a:rPr>
              <a:t>使用在语句</a:t>
            </a:r>
            <a:r>
              <a:rPr lang="en-US" altLang="zh-CN" sz="1200" kern="1200" dirty="0">
                <a:solidFill>
                  <a:schemeClr val="tx1"/>
                </a:solidFill>
                <a:effectLst/>
                <a:latin typeface="+mn-lt"/>
                <a:ea typeface="+mn-ea"/>
                <a:cs typeface="+mn-cs"/>
              </a:rPr>
              <a:t> </a:t>
            </a:r>
            <a:r>
              <a:rPr lang="en-US" altLang="zh-CN" sz="1200" kern="1200" dirty="0" err="1">
                <a:solidFill>
                  <a:schemeClr val="tx1"/>
                </a:solidFill>
                <a:effectLst/>
                <a:latin typeface="+mn-lt"/>
                <a:ea typeface="+mn-ea"/>
                <a:cs typeface="+mn-cs"/>
              </a:rPr>
              <a:t>i</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计算的</a:t>
            </a:r>
            <a:r>
              <a:rPr lang="en-US" altLang="zh-CN" sz="1200" kern="1200" dirty="0">
                <a:solidFill>
                  <a:schemeClr val="tx1"/>
                </a:solidFill>
                <a:effectLst/>
                <a:latin typeface="+mn-lt"/>
                <a:ea typeface="+mn-ea"/>
                <a:cs typeface="+mn-cs"/>
              </a:rPr>
              <a:t> x </a:t>
            </a:r>
            <a:r>
              <a:rPr lang="zh-CN" altLang="zh-CN" sz="1200" kern="1200" dirty="0">
                <a:solidFill>
                  <a:schemeClr val="tx1"/>
                </a:solidFill>
                <a:effectLst/>
                <a:latin typeface="+mn-lt"/>
                <a:ea typeface="+mn-ea"/>
                <a:cs typeface="+mn-cs"/>
              </a:rPr>
              <a:t>值。</a:t>
            </a:r>
            <a:endParaRPr lang="en-US" altLang="zh-CN" sz="1200" kern="1200" dirty="0">
              <a:solidFill>
                <a:schemeClr val="tx1"/>
              </a:solidFill>
              <a:effectLst/>
              <a:latin typeface="+mn-lt"/>
              <a:ea typeface="+mn-ea"/>
              <a:cs typeface="+mn-cs"/>
            </a:endParaRPr>
          </a:p>
          <a:p>
            <a:pPr marL="171450" indent="-171450">
              <a:buFont typeface="Arial" panose="020B0604020202020204" pitchFamily="34" charset="0"/>
              <a:buChar char="•"/>
            </a:pPr>
            <a:r>
              <a:rPr lang="zh-CN" altLang="zh-CN" sz="1200" kern="1200" dirty="0">
                <a:solidFill>
                  <a:schemeClr val="tx1"/>
                </a:solidFill>
                <a:effectLst/>
                <a:latin typeface="+mn-lt"/>
                <a:ea typeface="+mn-ea"/>
                <a:cs typeface="+mn-cs"/>
              </a:rPr>
              <a:t>我们进一步说</a:t>
            </a:r>
            <a:r>
              <a:rPr lang="en-US" altLang="zh-CN" sz="1200" kern="1200" dirty="0">
                <a:solidFill>
                  <a:schemeClr val="tx1"/>
                </a:solidFill>
                <a:effectLst/>
                <a:latin typeface="+mn-lt"/>
                <a:ea typeface="+mn-ea"/>
                <a:cs typeface="+mn-cs"/>
              </a:rPr>
              <a:t> x </a:t>
            </a:r>
            <a:r>
              <a:rPr lang="zh-CN" altLang="zh-CN" sz="1200" kern="1200" dirty="0">
                <a:solidFill>
                  <a:schemeClr val="tx1"/>
                </a:solidFill>
                <a:effectLst/>
                <a:latin typeface="+mn-lt"/>
                <a:ea typeface="+mn-ea"/>
                <a:cs typeface="+mn-cs"/>
              </a:rPr>
              <a:t>在语句</a:t>
            </a:r>
            <a:r>
              <a:rPr lang="en-US" altLang="zh-CN" sz="1200" kern="1200" dirty="0">
                <a:solidFill>
                  <a:schemeClr val="tx1"/>
                </a:solidFill>
                <a:effectLst/>
                <a:latin typeface="+mn-lt"/>
                <a:ea typeface="+mn-ea"/>
                <a:cs typeface="+mn-cs"/>
              </a:rPr>
              <a:t> </a:t>
            </a:r>
            <a:r>
              <a:rPr lang="en-US" altLang="zh-CN" sz="1200" kern="1200" dirty="0" err="1">
                <a:solidFill>
                  <a:schemeClr val="tx1"/>
                </a:solidFill>
                <a:effectLst/>
                <a:latin typeface="+mn-lt"/>
                <a:ea typeface="+mn-ea"/>
                <a:cs typeface="+mn-cs"/>
              </a:rPr>
              <a:t>i</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处处于活动状态。</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知道一个变量的值接下来会在何时使用对于生成良好的代码至关重要。如果当前位于寄存器中的变量的值随后永远不会被引用，则可以将该寄存器分配给另一个变量。</a:t>
            </a:r>
          </a:p>
          <a:p>
            <a:endParaRPr lang="zh-CN" altLang="en-US"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27</a:t>
            </a:fld>
            <a:endParaRPr lang="zh-CN" altLang="en-US"/>
          </a:p>
        </p:txBody>
      </p:sp>
    </p:spTree>
    <p:extLst>
      <p:ext uri="{BB962C8B-B14F-4D97-AF65-F5344CB8AC3E}">
        <p14:creationId xmlns:p14="http://schemas.microsoft.com/office/powerpoint/2010/main" val="129906357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对于每个类似于</a:t>
            </a:r>
            <a:r>
              <a:rPr lang="en-US" altLang="zh-CN" sz="1200" kern="1200" dirty="0">
                <a:solidFill>
                  <a:schemeClr val="tx1"/>
                </a:solidFill>
                <a:effectLst/>
                <a:latin typeface="+mn-lt"/>
                <a:ea typeface="+mn-ea"/>
                <a:cs typeface="+mn-cs"/>
              </a:rPr>
              <a:t>x = y + z</a:t>
            </a:r>
            <a:r>
              <a:rPr lang="zh-CN" altLang="zh-CN" sz="1200" kern="1200" dirty="0">
                <a:solidFill>
                  <a:schemeClr val="tx1"/>
                </a:solidFill>
                <a:effectLst/>
                <a:latin typeface="+mn-lt"/>
                <a:ea typeface="+mn-ea"/>
                <a:cs typeface="+mn-cs"/>
              </a:rPr>
              <a:t>的三地址语句，我们希望确定对</a:t>
            </a:r>
            <a:r>
              <a:rPr lang="en-US" altLang="zh-CN" sz="1200" kern="1200" dirty="0">
                <a:solidFill>
                  <a:schemeClr val="tx1"/>
                </a:solidFill>
                <a:effectLst/>
                <a:latin typeface="+mn-lt"/>
                <a:ea typeface="+mn-ea"/>
                <a:cs typeface="+mn-cs"/>
              </a:rPr>
              <a:t> x</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y </a:t>
            </a:r>
            <a:r>
              <a:rPr lang="zh-CN" altLang="zh-CN"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 z </a:t>
            </a:r>
            <a:r>
              <a:rPr lang="zh-CN" altLang="zh-CN" sz="1200" kern="1200" dirty="0">
                <a:solidFill>
                  <a:schemeClr val="tx1"/>
                </a:solidFill>
                <a:effectLst/>
                <a:latin typeface="+mn-lt"/>
                <a:ea typeface="+mn-ea"/>
                <a:cs typeface="+mn-cs"/>
              </a:rPr>
              <a:t>的下一次使用是什么。我们确定活跃性和后续使用信息的算法对每个基本块进行一次反向</a:t>
            </a:r>
            <a:r>
              <a:rPr lang="zh-CN" altLang="en-US" sz="1200" kern="1200" dirty="0">
                <a:solidFill>
                  <a:schemeClr val="tx1"/>
                </a:solidFill>
                <a:effectLst/>
                <a:latin typeface="+mn-lt"/>
                <a:ea typeface="+mn-ea"/>
                <a:cs typeface="+mn-cs"/>
              </a:rPr>
              <a:t>遍历</a:t>
            </a:r>
            <a:r>
              <a:rPr lang="zh-CN" altLang="zh-CN" sz="1200" kern="1200" dirty="0">
                <a:solidFill>
                  <a:schemeClr val="tx1"/>
                </a:solidFill>
                <a:effectLst/>
                <a:latin typeface="+mn-lt"/>
                <a:ea typeface="+mn-ea"/>
                <a:cs typeface="+mn-cs"/>
              </a:rPr>
              <a:t>。我们将得到的信息存储在符号表中。</a:t>
            </a:r>
            <a:r>
              <a:rPr lang="zh-CN" altLang="en-US" sz="1200" kern="1200" dirty="0">
                <a:solidFill>
                  <a:schemeClr val="tx1"/>
                </a:solidFill>
                <a:effectLst/>
                <a:latin typeface="+mn-lt"/>
                <a:ea typeface="+mn-ea"/>
                <a:cs typeface="+mn-cs"/>
              </a:rPr>
              <a:t>（在扫描过程中通过为每个名字建立相应的下次引用信息链何额活跃变量信息链，收集各名字在基本块内的下次引用信息和活跃信息）。活跃信息用于代码优化时全局数据流分析。）</a:t>
            </a:r>
            <a:r>
              <a:rPr lang="zh-CN" altLang="zh-CN" sz="1200" kern="1200" dirty="0">
                <a:solidFill>
                  <a:schemeClr val="tx1"/>
                </a:solidFill>
                <a:effectLst/>
                <a:latin typeface="+mn-lt"/>
                <a:ea typeface="+mn-ea"/>
                <a:cs typeface="+mn-cs"/>
              </a:rPr>
              <a:t>如算法</a:t>
            </a:r>
            <a:r>
              <a:rPr lang="en-US" altLang="zh-CN" sz="1200" kern="1200" dirty="0">
                <a:solidFill>
                  <a:schemeClr val="tx1"/>
                </a:solidFill>
                <a:effectLst/>
                <a:latin typeface="+mn-lt"/>
                <a:ea typeface="+mn-ea"/>
                <a:cs typeface="+mn-cs"/>
              </a:rPr>
              <a:t> 8.5 </a:t>
            </a:r>
            <a:r>
              <a:rPr lang="zh-CN" altLang="zh-CN" sz="1200" kern="1200" dirty="0">
                <a:solidFill>
                  <a:schemeClr val="tx1"/>
                </a:solidFill>
                <a:effectLst/>
                <a:latin typeface="+mn-lt"/>
                <a:ea typeface="+mn-ea"/>
                <a:cs typeface="+mn-cs"/>
              </a:rPr>
              <a:t>所示，我们可以轻松地扫描三地址语句流来找到各个基本块的结尾。由于过程可以有任意的副作用</a:t>
            </a:r>
            <a:r>
              <a:rPr lang="zh-CN" altLang="en-US" sz="1200" kern="1200" dirty="0">
                <a:solidFill>
                  <a:schemeClr val="tx1"/>
                </a:solidFill>
                <a:effectLst/>
                <a:latin typeface="+mn-lt"/>
                <a:ea typeface="+mn-ea"/>
                <a:cs typeface="+mn-cs"/>
              </a:rPr>
              <a:t>（比如修改某个外部变量的值）</a:t>
            </a:r>
            <a:r>
              <a:rPr lang="zh-CN" altLang="zh-CN" sz="1200" kern="1200" dirty="0">
                <a:solidFill>
                  <a:schemeClr val="tx1"/>
                </a:solidFill>
                <a:effectLst/>
                <a:latin typeface="+mn-lt"/>
                <a:ea typeface="+mn-ea"/>
                <a:cs typeface="+mn-cs"/>
              </a:rPr>
              <a:t>，为了方便起见，我们假设每个过程调用指令是一个新的基本块的</a:t>
            </a:r>
            <a:r>
              <a:rPr lang="zh-CN" altLang="en-US" sz="1200" kern="1200" dirty="0">
                <a:solidFill>
                  <a:schemeClr val="tx1"/>
                </a:solidFill>
                <a:effectLst/>
                <a:latin typeface="+mn-lt"/>
                <a:ea typeface="+mn-ea"/>
                <a:cs typeface="+mn-cs"/>
              </a:rPr>
              <a:t>入口</a:t>
            </a:r>
            <a:r>
              <a:rPr lang="zh-CN" altLang="zh-CN" sz="1200" kern="1200" dirty="0">
                <a:solidFill>
                  <a:schemeClr val="tx1"/>
                </a:solidFill>
                <a:effectLst/>
                <a:latin typeface="+mn-lt"/>
                <a:ea typeface="+mn-ea"/>
                <a:cs typeface="+mn-cs"/>
              </a:rPr>
              <a:t>。</a:t>
            </a:r>
          </a:p>
          <a:p>
            <a:r>
              <a:rPr lang="zh-CN" altLang="zh-CN" sz="1200" kern="1200" dirty="0">
                <a:solidFill>
                  <a:schemeClr val="tx1"/>
                </a:solidFill>
                <a:effectLst/>
                <a:latin typeface="+mn-lt"/>
                <a:ea typeface="+mn-ea"/>
                <a:cs typeface="+mn-cs"/>
              </a:rPr>
              <a:t>对于一个基本块中的每一个语句确定活跃性与后续使用信息。</a:t>
            </a:r>
          </a:p>
          <a:p>
            <a:r>
              <a:rPr lang="zh-CN" altLang="zh-CN" sz="1200" kern="1200" dirty="0">
                <a:solidFill>
                  <a:schemeClr val="tx1"/>
                </a:solidFill>
                <a:effectLst/>
                <a:latin typeface="+mn-lt"/>
                <a:ea typeface="+mn-ea"/>
                <a:cs typeface="+mn-cs"/>
              </a:rPr>
              <a:t>输入：一个三地址语句的基本块</a:t>
            </a:r>
            <a:r>
              <a:rPr lang="en-US" altLang="zh-CN" sz="1200" kern="1200" dirty="0">
                <a:solidFill>
                  <a:schemeClr val="tx1"/>
                </a:solidFill>
                <a:effectLst/>
                <a:latin typeface="+mn-lt"/>
                <a:ea typeface="+mn-ea"/>
                <a:cs typeface="+mn-cs"/>
              </a:rPr>
              <a:t> B</a:t>
            </a:r>
            <a:r>
              <a:rPr lang="zh-CN" altLang="zh-CN" sz="1200" kern="1200" dirty="0">
                <a:solidFill>
                  <a:schemeClr val="tx1"/>
                </a:solidFill>
                <a:effectLst/>
                <a:latin typeface="+mn-lt"/>
                <a:ea typeface="+mn-ea"/>
                <a:cs typeface="+mn-cs"/>
              </a:rPr>
              <a:t>。我们假设最初符号表显示</a:t>
            </a:r>
            <a:r>
              <a:rPr lang="en-US" altLang="zh-CN" sz="1200" kern="1200" dirty="0">
                <a:solidFill>
                  <a:schemeClr val="tx1"/>
                </a:solidFill>
                <a:effectLst/>
                <a:latin typeface="+mn-lt"/>
                <a:ea typeface="+mn-ea"/>
                <a:cs typeface="+mn-cs"/>
              </a:rPr>
              <a:t> B </a:t>
            </a:r>
            <a:r>
              <a:rPr lang="zh-CN" altLang="zh-CN" sz="1200" kern="1200" dirty="0">
                <a:solidFill>
                  <a:schemeClr val="tx1"/>
                </a:solidFill>
                <a:effectLst/>
                <a:latin typeface="+mn-lt"/>
                <a:ea typeface="+mn-ea"/>
                <a:cs typeface="+mn-cs"/>
              </a:rPr>
              <a:t>中的所有非临时变量都是活跃的。</a:t>
            </a:r>
            <a:r>
              <a:rPr lang="zh-CN" altLang="en-US" sz="1200" kern="1200" dirty="0">
                <a:solidFill>
                  <a:schemeClr val="tx1"/>
                </a:solidFill>
                <a:effectLst/>
                <a:latin typeface="+mn-lt"/>
                <a:ea typeface="+mn-ea"/>
                <a:cs typeface="+mn-cs"/>
              </a:rPr>
              <a:t>（如果产生中间代码的算法允许某些临时变量在基本块之外引用，也假定这些临时变量在出口处是活跃的。）</a:t>
            </a:r>
            <a:endParaRPr lang="zh-CN"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输出：对于</a:t>
            </a:r>
            <a:r>
              <a:rPr lang="en-US" altLang="zh-CN" sz="1200" kern="1200" dirty="0">
                <a:solidFill>
                  <a:schemeClr val="tx1"/>
                </a:solidFill>
                <a:effectLst/>
                <a:latin typeface="+mn-lt"/>
                <a:ea typeface="+mn-ea"/>
                <a:cs typeface="+mn-cs"/>
              </a:rPr>
              <a:t>B </a:t>
            </a:r>
            <a:r>
              <a:rPr lang="zh-CN" altLang="zh-CN" sz="1200" kern="1200" dirty="0">
                <a:solidFill>
                  <a:schemeClr val="tx1"/>
                </a:solidFill>
                <a:effectLst/>
                <a:latin typeface="+mn-lt"/>
                <a:ea typeface="+mn-ea"/>
                <a:cs typeface="+mn-cs"/>
              </a:rPr>
              <a:t>中的每个语句</a:t>
            </a:r>
            <a:r>
              <a:rPr lang="en-US" altLang="zh-CN" sz="1200" kern="1200" dirty="0">
                <a:solidFill>
                  <a:schemeClr val="tx1"/>
                </a:solidFill>
                <a:effectLst/>
                <a:latin typeface="+mn-lt"/>
                <a:ea typeface="+mn-ea"/>
                <a:cs typeface="+mn-cs"/>
              </a:rPr>
              <a:t> i: x = y + z </a:t>
            </a:r>
            <a:r>
              <a:rPr lang="zh-CN" altLang="zh-CN" sz="1200" kern="1200" dirty="0">
                <a:solidFill>
                  <a:schemeClr val="tx1"/>
                </a:solidFill>
                <a:effectLst/>
                <a:latin typeface="+mn-lt"/>
                <a:ea typeface="+mn-ea"/>
                <a:cs typeface="+mn-cs"/>
              </a:rPr>
              <a:t>中，我们将</a:t>
            </a:r>
            <a:r>
              <a:rPr lang="en-US" altLang="zh-CN" sz="1200" kern="1200" dirty="0">
                <a:solidFill>
                  <a:schemeClr val="tx1"/>
                </a:solidFill>
                <a:effectLst/>
                <a:latin typeface="+mn-lt"/>
                <a:ea typeface="+mn-ea"/>
                <a:cs typeface="+mn-cs"/>
              </a:rPr>
              <a:t> x</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y </a:t>
            </a:r>
            <a:r>
              <a:rPr lang="zh-CN" altLang="zh-CN"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 z </a:t>
            </a:r>
            <a:r>
              <a:rPr lang="zh-CN" altLang="zh-CN" sz="1200" kern="1200" dirty="0">
                <a:solidFill>
                  <a:schemeClr val="tx1"/>
                </a:solidFill>
                <a:effectLst/>
                <a:latin typeface="+mn-lt"/>
                <a:ea typeface="+mn-ea"/>
                <a:cs typeface="+mn-cs"/>
              </a:rPr>
              <a:t>的活跃信息以及后续使用信息关联到</a:t>
            </a:r>
            <a:r>
              <a:rPr lang="en-US" altLang="zh-CN" sz="1200" kern="1200" dirty="0">
                <a:solidFill>
                  <a:schemeClr val="tx1"/>
                </a:solidFill>
                <a:effectLst/>
                <a:latin typeface="+mn-lt"/>
                <a:ea typeface="+mn-ea"/>
                <a:cs typeface="+mn-cs"/>
              </a:rPr>
              <a:t> </a:t>
            </a:r>
            <a:r>
              <a:rPr lang="en-US" altLang="zh-CN" sz="1200" kern="1200" dirty="0" err="1">
                <a:solidFill>
                  <a:schemeClr val="tx1"/>
                </a:solidFill>
                <a:effectLst/>
                <a:latin typeface="+mn-lt"/>
                <a:ea typeface="+mn-ea"/>
                <a:cs typeface="+mn-cs"/>
              </a:rPr>
              <a:t>i</a:t>
            </a:r>
            <a:r>
              <a:rPr lang="zh-CN" altLang="zh-CN"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这里</a:t>
            </a:r>
            <a:r>
              <a:rPr lang="zh-CN" altLang="zh-CN" sz="1200" kern="1200" dirty="0">
                <a:solidFill>
                  <a:schemeClr val="tx1"/>
                </a:solidFill>
                <a:effectLst/>
                <a:latin typeface="+mn-lt"/>
                <a:ea typeface="+mn-ea"/>
                <a:cs typeface="+mn-cs"/>
              </a:rPr>
              <a:t>，我们不关心考虑包含本三地址语句的基本块之外的使用。</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为了计算名字的下次引用信息，需要对符号表进行扩充，增加记录下次引用信息和活跃信息的域，同时对保存三地址语句的结构进行扩充，使之可以记录语句中出现的每个名字的下次引用信息和活跃信息</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方法：我们从</a:t>
            </a:r>
            <a:r>
              <a:rPr lang="en-US" altLang="zh-CN" sz="1200" kern="1200" dirty="0">
                <a:solidFill>
                  <a:schemeClr val="tx1"/>
                </a:solidFill>
                <a:effectLst/>
                <a:latin typeface="+mn-lt"/>
                <a:ea typeface="+mn-ea"/>
                <a:cs typeface="+mn-cs"/>
              </a:rPr>
              <a:t> B </a:t>
            </a:r>
            <a:r>
              <a:rPr lang="zh-CN" altLang="zh-CN" sz="1200" kern="1200" dirty="0">
                <a:solidFill>
                  <a:schemeClr val="tx1"/>
                </a:solidFill>
                <a:effectLst/>
                <a:latin typeface="+mn-lt"/>
                <a:ea typeface="+mn-ea"/>
                <a:cs typeface="+mn-cs"/>
              </a:rPr>
              <a:t>中的最后一个语句开始，</a:t>
            </a:r>
            <a:r>
              <a:rPr lang="zh-CN" altLang="en-US" sz="1200" kern="1200" dirty="0">
                <a:solidFill>
                  <a:schemeClr val="tx1"/>
                </a:solidFill>
                <a:effectLst/>
                <a:latin typeface="+mn-lt"/>
                <a:ea typeface="+mn-ea"/>
                <a:cs typeface="+mn-cs"/>
              </a:rPr>
              <a:t>反向</a:t>
            </a:r>
            <a:r>
              <a:rPr lang="zh-CN" altLang="zh-CN" sz="1200" kern="1200" dirty="0">
                <a:solidFill>
                  <a:schemeClr val="tx1"/>
                </a:solidFill>
                <a:effectLst/>
                <a:latin typeface="+mn-lt"/>
                <a:ea typeface="+mn-ea"/>
                <a:cs typeface="+mn-cs"/>
              </a:rPr>
              <a:t>扫描到</a:t>
            </a:r>
            <a:r>
              <a:rPr lang="en-US" altLang="zh-CN" sz="1200" kern="1200" dirty="0">
                <a:solidFill>
                  <a:schemeClr val="tx1"/>
                </a:solidFill>
                <a:effectLst/>
                <a:latin typeface="+mn-lt"/>
                <a:ea typeface="+mn-ea"/>
                <a:cs typeface="+mn-cs"/>
              </a:rPr>
              <a:t> B </a:t>
            </a:r>
            <a:r>
              <a:rPr lang="zh-CN" altLang="zh-CN" sz="1200" kern="1200" dirty="0">
                <a:solidFill>
                  <a:schemeClr val="tx1"/>
                </a:solidFill>
                <a:effectLst/>
                <a:latin typeface="+mn-lt"/>
                <a:ea typeface="+mn-ea"/>
                <a:cs typeface="+mn-cs"/>
              </a:rPr>
              <a:t>的开始处。对于</a:t>
            </a:r>
            <a:r>
              <a:rPr lang="en-US" altLang="zh-CN" sz="1200" kern="1200" dirty="0">
                <a:solidFill>
                  <a:schemeClr val="tx1"/>
                </a:solidFill>
                <a:effectLst/>
                <a:latin typeface="+mn-lt"/>
                <a:ea typeface="+mn-ea"/>
                <a:cs typeface="+mn-cs"/>
              </a:rPr>
              <a:t>B </a:t>
            </a:r>
            <a:r>
              <a:rPr lang="zh-CN" altLang="zh-CN" sz="1200" kern="1200" dirty="0">
                <a:solidFill>
                  <a:schemeClr val="tx1"/>
                </a:solidFill>
                <a:effectLst/>
                <a:latin typeface="+mn-lt"/>
                <a:ea typeface="+mn-ea"/>
                <a:cs typeface="+mn-cs"/>
              </a:rPr>
              <a:t>中的每个语句</a:t>
            </a:r>
            <a:r>
              <a:rPr lang="en-US" altLang="zh-CN" sz="1200" kern="1200" dirty="0">
                <a:solidFill>
                  <a:schemeClr val="tx1"/>
                </a:solidFill>
                <a:effectLst/>
                <a:latin typeface="+mn-lt"/>
                <a:ea typeface="+mn-ea"/>
                <a:cs typeface="+mn-cs"/>
              </a:rPr>
              <a:t> i: x = y + z </a:t>
            </a:r>
            <a:r>
              <a:rPr lang="zh-CN" altLang="zh-CN" sz="1200" kern="1200" dirty="0">
                <a:solidFill>
                  <a:schemeClr val="tx1"/>
                </a:solidFill>
                <a:effectLst/>
                <a:latin typeface="+mn-lt"/>
                <a:ea typeface="+mn-ea"/>
                <a:cs typeface="+mn-cs"/>
              </a:rPr>
              <a:t>，我们执行以下操作：</a:t>
            </a:r>
          </a:p>
          <a:p>
            <a:r>
              <a:rPr lang="en-US" altLang="zh-CN" sz="1200" kern="1200" dirty="0">
                <a:solidFill>
                  <a:schemeClr val="tx1"/>
                </a:solidFill>
                <a:effectLst/>
                <a:latin typeface="+mn-lt"/>
                <a:ea typeface="+mn-ea"/>
                <a:cs typeface="+mn-cs"/>
              </a:rPr>
              <a:t>1. </a:t>
            </a:r>
            <a:r>
              <a:rPr lang="zh-CN" altLang="zh-CN" sz="1200" kern="1200" dirty="0">
                <a:solidFill>
                  <a:schemeClr val="tx1"/>
                </a:solidFill>
                <a:effectLst/>
                <a:latin typeface="+mn-lt"/>
                <a:ea typeface="+mn-ea"/>
                <a:cs typeface="+mn-cs"/>
              </a:rPr>
              <a:t>把在当前符号表中找到的有关</a:t>
            </a:r>
            <a:r>
              <a:rPr lang="en-US" altLang="zh-CN" sz="1200" kern="1200" dirty="0">
                <a:solidFill>
                  <a:schemeClr val="tx1"/>
                </a:solidFill>
                <a:effectLst/>
                <a:latin typeface="+mn-lt"/>
                <a:ea typeface="+mn-ea"/>
                <a:cs typeface="+mn-cs"/>
              </a:rPr>
              <a:t> x</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y </a:t>
            </a:r>
            <a:r>
              <a:rPr lang="zh-CN" altLang="zh-CN"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 z </a:t>
            </a:r>
            <a:r>
              <a:rPr lang="zh-CN" altLang="zh-CN" sz="1200" kern="1200" dirty="0">
                <a:solidFill>
                  <a:schemeClr val="tx1"/>
                </a:solidFill>
                <a:effectLst/>
                <a:latin typeface="+mn-lt"/>
                <a:ea typeface="+mn-ea"/>
                <a:cs typeface="+mn-cs"/>
              </a:rPr>
              <a:t>的当前后续使用和活跃信息与语句</a:t>
            </a:r>
            <a:r>
              <a:rPr lang="en-US" altLang="zh-CN" sz="1200" kern="1200" dirty="0">
                <a:solidFill>
                  <a:schemeClr val="tx1"/>
                </a:solidFill>
                <a:effectLst/>
                <a:latin typeface="+mn-lt"/>
                <a:ea typeface="+mn-ea"/>
                <a:cs typeface="+mn-cs"/>
              </a:rPr>
              <a:t> </a:t>
            </a:r>
            <a:r>
              <a:rPr lang="en-US" altLang="zh-CN" sz="1200" kern="1200" dirty="0" err="1">
                <a:solidFill>
                  <a:schemeClr val="tx1"/>
                </a:solidFill>
                <a:effectLst/>
                <a:latin typeface="+mn-lt"/>
                <a:ea typeface="+mn-ea"/>
                <a:cs typeface="+mn-cs"/>
              </a:rPr>
              <a:t>i</a:t>
            </a:r>
            <a:r>
              <a:rPr lang="zh-CN" altLang="zh-CN" sz="1200" kern="1200" dirty="0">
                <a:solidFill>
                  <a:schemeClr val="tx1"/>
                </a:solidFill>
                <a:effectLst/>
                <a:latin typeface="+mn-lt"/>
                <a:ea typeface="+mn-ea"/>
                <a:cs typeface="+mn-cs"/>
              </a:rPr>
              <a:t>关联起来。</a:t>
            </a:r>
          </a:p>
          <a:p>
            <a:r>
              <a:rPr lang="en-US" altLang="zh-CN" sz="1200" kern="1200" dirty="0">
                <a:solidFill>
                  <a:schemeClr val="tx1"/>
                </a:solidFill>
                <a:effectLst/>
                <a:latin typeface="+mn-lt"/>
                <a:ea typeface="+mn-ea"/>
                <a:cs typeface="+mn-cs"/>
              </a:rPr>
              <a:t>2. </a:t>
            </a:r>
            <a:r>
              <a:rPr lang="zh-CN" altLang="zh-CN" sz="1200" kern="1200" dirty="0">
                <a:solidFill>
                  <a:schemeClr val="tx1"/>
                </a:solidFill>
                <a:effectLst/>
                <a:latin typeface="+mn-lt"/>
                <a:ea typeface="+mn-ea"/>
                <a:cs typeface="+mn-cs"/>
              </a:rPr>
              <a:t>在符号表中，将</a:t>
            </a:r>
            <a:r>
              <a:rPr lang="en-US" altLang="zh-CN" sz="1200" kern="1200" dirty="0">
                <a:solidFill>
                  <a:schemeClr val="tx1"/>
                </a:solidFill>
                <a:effectLst/>
                <a:latin typeface="+mn-lt"/>
                <a:ea typeface="+mn-ea"/>
                <a:cs typeface="+mn-cs"/>
              </a:rPr>
              <a:t> x </a:t>
            </a:r>
            <a:r>
              <a:rPr lang="zh-CN" altLang="en-US" sz="1200" kern="1200" dirty="0">
                <a:solidFill>
                  <a:schemeClr val="tx1"/>
                </a:solidFill>
                <a:effectLst/>
                <a:latin typeface="+mn-lt"/>
                <a:ea typeface="+mn-ea"/>
                <a:cs typeface="+mn-cs"/>
              </a:rPr>
              <a:t>的活跃信息和下次引用信息分别</a:t>
            </a:r>
            <a:r>
              <a:rPr lang="zh-CN" altLang="zh-CN" sz="1200" kern="1200" dirty="0">
                <a:solidFill>
                  <a:schemeClr val="tx1"/>
                </a:solidFill>
                <a:effectLst/>
                <a:latin typeface="+mn-lt"/>
                <a:ea typeface="+mn-ea"/>
                <a:cs typeface="+mn-cs"/>
              </a:rPr>
              <a:t>设置为</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不活跃</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无后续使用</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（因为</a:t>
            </a:r>
            <a:r>
              <a:rPr lang="en-US" altLang="zh-CN" sz="1200" kern="1200" dirty="0">
                <a:solidFill>
                  <a:schemeClr val="tx1"/>
                </a:solidFill>
                <a:effectLst/>
                <a:latin typeface="+mn-lt"/>
                <a:ea typeface="+mn-ea"/>
                <a:cs typeface="+mn-cs"/>
              </a:rPr>
              <a:t>x</a:t>
            </a:r>
            <a:r>
              <a:rPr lang="zh-CN" altLang="en-US" sz="1200" kern="1200" dirty="0">
                <a:solidFill>
                  <a:schemeClr val="tx1"/>
                </a:solidFill>
                <a:effectLst/>
                <a:latin typeface="+mn-lt"/>
                <a:ea typeface="+mn-ea"/>
                <a:cs typeface="+mn-cs"/>
              </a:rPr>
              <a:t>被重新计算了，之前的值被更改）</a:t>
            </a:r>
            <a:r>
              <a:rPr lang="zh-CN" altLang="zh-CN" sz="1200" kern="1200" dirty="0">
                <a:solidFill>
                  <a:schemeClr val="tx1"/>
                </a:solidFill>
                <a:effectLst/>
                <a:latin typeface="+mn-lt"/>
                <a:ea typeface="+mn-ea"/>
                <a:cs typeface="+mn-cs"/>
              </a:rPr>
              <a:t> </a:t>
            </a:r>
          </a:p>
          <a:p>
            <a:r>
              <a:rPr lang="en-US" altLang="zh-CN" sz="1200" kern="1200" dirty="0">
                <a:solidFill>
                  <a:schemeClr val="tx1"/>
                </a:solidFill>
                <a:effectLst/>
                <a:latin typeface="+mn-lt"/>
                <a:ea typeface="+mn-ea"/>
                <a:cs typeface="+mn-cs"/>
              </a:rPr>
              <a:t>3. </a:t>
            </a:r>
            <a:r>
              <a:rPr lang="zh-CN" altLang="zh-CN" sz="1200" kern="1200" dirty="0">
                <a:solidFill>
                  <a:schemeClr val="tx1"/>
                </a:solidFill>
                <a:effectLst/>
                <a:latin typeface="+mn-lt"/>
                <a:ea typeface="+mn-ea"/>
                <a:cs typeface="+mn-cs"/>
              </a:rPr>
              <a:t>在符号表中，将</a:t>
            </a:r>
            <a:r>
              <a:rPr lang="en-US" altLang="zh-CN" sz="1200" kern="1200" dirty="0">
                <a:solidFill>
                  <a:schemeClr val="tx1"/>
                </a:solidFill>
                <a:effectLst/>
                <a:latin typeface="+mn-lt"/>
                <a:ea typeface="+mn-ea"/>
                <a:cs typeface="+mn-cs"/>
              </a:rPr>
              <a:t> y </a:t>
            </a:r>
            <a:r>
              <a:rPr lang="zh-CN" altLang="zh-CN"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 z </a:t>
            </a:r>
            <a:r>
              <a:rPr lang="zh-CN" altLang="zh-CN" sz="1200" kern="1200" dirty="0">
                <a:solidFill>
                  <a:schemeClr val="tx1"/>
                </a:solidFill>
                <a:effectLst/>
                <a:latin typeface="+mn-lt"/>
                <a:ea typeface="+mn-ea"/>
                <a:cs typeface="+mn-cs"/>
              </a:rPr>
              <a:t>设置为“活跃</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，并把它们的下一次使用设置为语句</a:t>
            </a:r>
            <a:r>
              <a:rPr lang="en-US" altLang="zh-CN" sz="1200" kern="1200" dirty="0" err="1">
                <a:solidFill>
                  <a:schemeClr val="tx1"/>
                </a:solidFill>
                <a:effectLst/>
                <a:latin typeface="+mn-lt"/>
                <a:ea typeface="+mn-ea"/>
                <a:cs typeface="+mn-cs"/>
              </a:rPr>
              <a:t>i</a:t>
            </a:r>
            <a:r>
              <a:rPr lang="zh-CN" altLang="zh-CN" sz="1200" kern="1200" dirty="0">
                <a:solidFill>
                  <a:schemeClr val="tx1"/>
                </a:solidFill>
                <a:effectLst/>
                <a:latin typeface="+mn-lt"/>
                <a:ea typeface="+mn-ea"/>
                <a:cs typeface="+mn-cs"/>
              </a:rPr>
              <a:t>。</a:t>
            </a:r>
          </a:p>
          <a:p>
            <a:r>
              <a:rPr lang="zh-CN" altLang="zh-CN" sz="1200" kern="1200" dirty="0">
                <a:solidFill>
                  <a:schemeClr val="tx1"/>
                </a:solidFill>
                <a:effectLst/>
                <a:latin typeface="+mn-lt"/>
                <a:ea typeface="+mn-ea"/>
                <a:cs typeface="+mn-cs"/>
              </a:rPr>
              <a:t>这里，我们使用</a:t>
            </a:r>
            <a:r>
              <a:rPr lang="en-US" altLang="zh-CN" sz="1200" kern="1200" dirty="0">
                <a:solidFill>
                  <a:schemeClr val="tx1"/>
                </a:solidFill>
                <a:effectLst/>
                <a:latin typeface="+mn-lt"/>
                <a:ea typeface="+mn-ea"/>
                <a:cs typeface="+mn-cs"/>
              </a:rPr>
              <a:t> + </a:t>
            </a:r>
            <a:r>
              <a:rPr lang="zh-CN" altLang="zh-CN" sz="1200" kern="1200" dirty="0">
                <a:solidFill>
                  <a:schemeClr val="tx1"/>
                </a:solidFill>
                <a:effectLst/>
                <a:latin typeface="+mn-lt"/>
                <a:ea typeface="+mn-ea"/>
                <a:cs typeface="+mn-cs"/>
              </a:rPr>
              <a:t>作为代表任意运算符的符号。如果三地址语句</a:t>
            </a:r>
            <a:r>
              <a:rPr lang="en-US" altLang="zh-CN" sz="1200" kern="1200" dirty="0">
                <a:solidFill>
                  <a:schemeClr val="tx1"/>
                </a:solidFill>
                <a:effectLst/>
                <a:latin typeface="+mn-lt"/>
                <a:ea typeface="+mn-ea"/>
                <a:cs typeface="+mn-cs"/>
              </a:rPr>
              <a:t> </a:t>
            </a:r>
            <a:r>
              <a:rPr lang="en-US" altLang="zh-CN" sz="1200" kern="1200" dirty="0" err="1">
                <a:solidFill>
                  <a:schemeClr val="tx1"/>
                </a:solidFill>
                <a:effectLst/>
                <a:latin typeface="+mn-lt"/>
                <a:ea typeface="+mn-ea"/>
                <a:cs typeface="+mn-cs"/>
              </a:rPr>
              <a:t>i</a:t>
            </a:r>
            <a:r>
              <a:rPr lang="zh-CN" altLang="zh-CN" sz="1200" kern="1200" dirty="0">
                <a:solidFill>
                  <a:schemeClr val="tx1"/>
                </a:solidFill>
                <a:effectLst/>
                <a:latin typeface="+mn-lt"/>
                <a:ea typeface="+mn-ea"/>
                <a:cs typeface="+mn-cs"/>
              </a:rPr>
              <a:t>形如</a:t>
            </a:r>
            <a:r>
              <a:rPr lang="en-US" altLang="zh-CN" sz="1200" kern="1200" dirty="0">
                <a:solidFill>
                  <a:schemeClr val="tx1"/>
                </a:solidFill>
                <a:effectLst/>
                <a:latin typeface="+mn-lt"/>
                <a:ea typeface="+mn-ea"/>
                <a:cs typeface="+mn-cs"/>
              </a:rPr>
              <a:t> x =+y </a:t>
            </a:r>
            <a:r>
              <a:rPr lang="zh-CN" altLang="zh-CN" sz="1200" kern="1200" dirty="0">
                <a:solidFill>
                  <a:schemeClr val="tx1"/>
                </a:solidFill>
                <a:effectLst/>
                <a:latin typeface="+mn-lt"/>
                <a:ea typeface="+mn-ea"/>
                <a:cs typeface="+mn-cs"/>
              </a:rPr>
              <a:t>或</a:t>
            </a:r>
            <a:r>
              <a:rPr lang="en-US" altLang="zh-CN" sz="1200" kern="1200" dirty="0">
                <a:solidFill>
                  <a:schemeClr val="tx1"/>
                </a:solidFill>
                <a:effectLst/>
                <a:latin typeface="+mn-lt"/>
                <a:ea typeface="+mn-ea"/>
                <a:cs typeface="+mn-cs"/>
              </a:rPr>
              <a:t> x = y </a:t>
            </a:r>
            <a:r>
              <a:rPr lang="zh-CN" altLang="zh-CN" sz="1200" kern="1200" dirty="0">
                <a:solidFill>
                  <a:schemeClr val="tx1"/>
                </a:solidFill>
                <a:effectLst/>
                <a:latin typeface="+mn-lt"/>
                <a:ea typeface="+mn-ea"/>
                <a:cs typeface="+mn-cs"/>
              </a:rPr>
              <a:t>，那么处理步骤依然和上面相同，只是忽略了对</a:t>
            </a:r>
            <a:r>
              <a:rPr lang="en-US" altLang="zh-CN" sz="1200" kern="1200" dirty="0">
                <a:solidFill>
                  <a:schemeClr val="tx1"/>
                </a:solidFill>
                <a:effectLst/>
                <a:latin typeface="+mn-lt"/>
                <a:ea typeface="+mn-ea"/>
                <a:cs typeface="+mn-cs"/>
              </a:rPr>
              <a:t> z</a:t>
            </a:r>
            <a:r>
              <a:rPr lang="zh-CN" altLang="zh-CN" sz="1200" kern="1200" dirty="0">
                <a:solidFill>
                  <a:schemeClr val="tx1"/>
                </a:solidFill>
                <a:effectLst/>
                <a:latin typeface="+mn-lt"/>
                <a:ea typeface="+mn-ea"/>
                <a:cs typeface="+mn-cs"/>
              </a:rPr>
              <a:t>的处理 。请注意，步骤</a:t>
            </a:r>
            <a:r>
              <a:rPr lang="en-US" altLang="zh-CN" sz="1200" kern="1200" dirty="0">
                <a:solidFill>
                  <a:schemeClr val="tx1"/>
                </a:solidFill>
                <a:effectLst/>
                <a:latin typeface="+mn-lt"/>
                <a:ea typeface="+mn-ea"/>
                <a:cs typeface="+mn-cs"/>
              </a:rPr>
              <a:t> (2) </a:t>
            </a:r>
            <a:r>
              <a:rPr lang="zh-CN" altLang="zh-CN"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 (3) </a:t>
            </a:r>
            <a:r>
              <a:rPr lang="zh-CN" altLang="zh-CN" sz="1200" kern="1200" dirty="0">
                <a:solidFill>
                  <a:schemeClr val="tx1"/>
                </a:solidFill>
                <a:effectLst/>
                <a:latin typeface="+mn-lt"/>
                <a:ea typeface="+mn-ea"/>
                <a:cs typeface="+mn-cs"/>
              </a:rPr>
              <a:t>的顺序不能</a:t>
            </a:r>
            <a:r>
              <a:rPr lang="zh-CN" altLang="en-US" sz="1200" kern="1200" dirty="0">
                <a:solidFill>
                  <a:schemeClr val="tx1"/>
                </a:solidFill>
                <a:effectLst/>
                <a:latin typeface="+mn-lt"/>
                <a:ea typeface="+mn-ea"/>
                <a:cs typeface="+mn-cs"/>
              </a:rPr>
              <a:t>颠倒</a:t>
            </a:r>
            <a:r>
              <a:rPr lang="zh-CN" altLang="zh-CN" sz="1200" kern="1200" dirty="0">
                <a:solidFill>
                  <a:schemeClr val="tx1"/>
                </a:solidFill>
                <a:effectLst/>
                <a:latin typeface="+mn-lt"/>
                <a:ea typeface="+mn-ea"/>
                <a:cs typeface="+mn-cs"/>
              </a:rPr>
              <a:t>，因为</a:t>
            </a:r>
            <a:r>
              <a:rPr lang="en-US" altLang="zh-CN" sz="1200" kern="1200" dirty="0">
                <a:solidFill>
                  <a:schemeClr val="tx1"/>
                </a:solidFill>
                <a:effectLst/>
                <a:latin typeface="+mn-lt"/>
                <a:ea typeface="+mn-ea"/>
                <a:cs typeface="+mn-cs"/>
              </a:rPr>
              <a:t> x </a:t>
            </a:r>
            <a:r>
              <a:rPr lang="zh-CN" altLang="zh-CN" sz="1200" kern="1200" dirty="0">
                <a:solidFill>
                  <a:schemeClr val="tx1"/>
                </a:solidFill>
                <a:effectLst/>
                <a:latin typeface="+mn-lt"/>
                <a:ea typeface="+mn-ea"/>
                <a:cs typeface="+mn-cs"/>
              </a:rPr>
              <a:t>可能是</a:t>
            </a:r>
            <a:r>
              <a:rPr lang="en-US" altLang="zh-CN" sz="1200" kern="1200" dirty="0">
                <a:solidFill>
                  <a:schemeClr val="tx1"/>
                </a:solidFill>
                <a:effectLst/>
                <a:latin typeface="+mn-lt"/>
                <a:ea typeface="+mn-ea"/>
                <a:cs typeface="+mn-cs"/>
              </a:rPr>
              <a:t> y </a:t>
            </a:r>
            <a:r>
              <a:rPr lang="zh-CN" altLang="zh-CN" sz="1200" kern="1200" dirty="0">
                <a:solidFill>
                  <a:schemeClr val="tx1"/>
                </a:solidFill>
                <a:effectLst/>
                <a:latin typeface="+mn-lt"/>
                <a:ea typeface="+mn-ea"/>
                <a:cs typeface="+mn-cs"/>
              </a:rPr>
              <a:t>或</a:t>
            </a:r>
            <a:r>
              <a:rPr lang="en-US" altLang="zh-CN" sz="1200" kern="1200" dirty="0">
                <a:solidFill>
                  <a:schemeClr val="tx1"/>
                </a:solidFill>
                <a:effectLst/>
                <a:latin typeface="+mn-lt"/>
                <a:ea typeface="+mn-ea"/>
                <a:cs typeface="+mn-cs"/>
              </a:rPr>
              <a:t> z</a:t>
            </a:r>
            <a:r>
              <a:rPr lang="zh-CN" altLang="zh-CN" sz="1200" kern="1200" dirty="0">
                <a:solidFill>
                  <a:schemeClr val="tx1"/>
                </a:solidFill>
                <a:effectLst/>
                <a:latin typeface="+mn-lt"/>
                <a:ea typeface="+mn-ea"/>
                <a:cs typeface="+mn-cs"/>
              </a:rPr>
              <a:t>。</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通过应用此算法，基本块中所有名字的下次引用信息都被收集到，并且保存于符号表中和三地址语句上。如果一个变量在基本块中被引用，则由该变量在符号表中的下次引用信息，以及附加在各三地址语句</a:t>
            </a:r>
            <a:r>
              <a:rPr lang="en-US" altLang="zh-CN" sz="1200" kern="1200" dirty="0" err="1">
                <a:solidFill>
                  <a:schemeClr val="tx1"/>
                </a:solidFill>
                <a:effectLst/>
                <a:latin typeface="+mn-lt"/>
                <a:ea typeface="+mn-ea"/>
                <a:cs typeface="+mn-cs"/>
              </a:rPr>
              <a:t>i</a:t>
            </a:r>
            <a:r>
              <a:rPr lang="zh-CN" altLang="en-US" sz="1200" kern="1200" dirty="0">
                <a:solidFill>
                  <a:schemeClr val="tx1"/>
                </a:solidFill>
                <a:effectLst/>
                <a:latin typeface="+mn-lt"/>
                <a:ea typeface="+mn-ea"/>
                <a:cs typeface="+mn-cs"/>
              </a:rPr>
              <a:t>上的信息，可以从前到后依次指示出该名字在基本块中的各个引用所在的位置。</a:t>
            </a:r>
            <a:endParaRPr lang="en-US" altLang="zh-CN" sz="1200" kern="1200" dirty="0">
              <a:solidFill>
                <a:schemeClr val="tx1"/>
              </a:solidFill>
              <a:effectLst/>
              <a:latin typeface="+mn-lt"/>
              <a:ea typeface="+mn-ea"/>
              <a:cs typeface="+mn-cs"/>
            </a:endParaRPr>
          </a:p>
          <a:p>
            <a:endParaRPr lang="zh-CN" altLang="zh-CN" sz="1200" kern="1200" dirty="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28</a:t>
            </a:fld>
            <a:endParaRPr lang="zh-CN" altLang="en-US"/>
          </a:p>
        </p:txBody>
      </p:sp>
    </p:spTree>
    <p:extLst>
      <p:ext uri="{BB962C8B-B14F-4D97-AF65-F5344CB8AC3E}">
        <p14:creationId xmlns:p14="http://schemas.microsoft.com/office/powerpoint/2010/main" val="107478641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cs typeface="+mn-cs"/>
              </a:rPr>
              <a:t>为了计算名字的下次引用信息，需要对符号表进行扩充，增加记录下次引用信息和活跃信息的域。</a:t>
            </a:r>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我们假设最初符号表显示</a:t>
            </a:r>
            <a:r>
              <a:rPr lang="en-US" altLang="zh-CN" sz="1200" kern="1200" dirty="0">
                <a:solidFill>
                  <a:schemeClr val="tx1"/>
                </a:solidFill>
                <a:effectLst/>
                <a:latin typeface="+mn-lt"/>
                <a:ea typeface="+mn-ea"/>
                <a:cs typeface="+mn-cs"/>
              </a:rPr>
              <a:t> B </a:t>
            </a:r>
            <a:r>
              <a:rPr lang="zh-CN" altLang="zh-CN" sz="1200" kern="1200" dirty="0">
                <a:solidFill>
                  <a:schemeClr val="tx1"/>
                </a:solidFill>
                <a:effectLst/>
                <a:latin typeface="+mn-lt"/>
                <a:ea typeface="+mn-ea"/>
                <a:cs typeface="+mn-cs"/>
              </a:rPr>
              <a:t>中的所有非临时变量都是活跃的。</a:t>
            </a:r>
            <a:endParaRPr lang="zh-CN" altLang="en-US"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29</a:t>
            </a:fld>
            <a:endParaRPr lang="zh-CN" altLang="en-US"/>
          </a:p>
        </p:txBody>
      </p:sp>
    </p:spTree>
    <p:extLst>
      <p:ext uri="{BB962C8B-B14F-4D97-AF65-F5344CB8AC3E}">
        <p14:creationId xmlns:p14="http://schemas.microsoft.com/office/powerpoint/2010/main" val="192610746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ea typeface="+mn-ea"/>
                <a:cs typeface="+mn-cs"/>
              </a:rPr>
              <a:t>1. </a:t>
            </a:r>
            <a:r>
              <a:rPr lang="zh-CN" altLang="zh-CN" sz="1200" kern="1200" dirty="0">
                <a:solidFill>
                  <a:schemeClr val="tx1"/>
                </a:solidFill>
                <a:effectLst/>
                <a:latin typeface="+mn-lt"/>
                <a:ea typeface="+mn-ea"/>
                <a:cs typeface="+mn-cs"/>
              </a:rPr>
              <a:t>把在当前符号表中找到的有关</a:t>
            </a:r>
            <a:r>
              <a:rPr lang="en-US" altLang="zh-CN" sz="1200" kern="1200" dirty="0">
                <a:solidFill>
                  <a:schemeClr val="tx1"/>
                </a:solidFill>
                <a:effectLst/>
                <a:latin typeface="+mn-lt"/>
                <a:ea typeface="+mn-ea"/>
                <a:cs typeface="+mn-cs"/>
              </a:rPr>
              <a:t> x</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y </a:t>
            </a:r>
            <a:r>
              <a:rPr lang="zh-CN" altLang="zh-CN"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 z </a:t>
            </a:r>
            <a:r>
              <a:rPr lang="zh-CN" altLang="zh-CN" sz="1200" kern="1200" dirty="0">
                <a:solidFill>
                  <a:schemeClr val="tx1"/>
                </a:solidFill>
                <a:effectLst/>
                <a:latin typeface="+mn-lt"/>
                <a:ea typeface="+mn-ea"/>
                <a:cs typeface="+mn-cs"/>
              </a:rPr>
              <a:t>的当前后续使用和活跃信息与语句</a:t>
            </a:r>
            <a:r>
              <a:rPr lang="en-US" altLang="zh-CN" sz="1200" kern="1200" dirty="0">
                <a:solidFill>
                  <a:schemeClr val="tx1"/>
                </a:solidFill>
                <a:effectLst/>
                <a:latin typeface="+mn-lt"/>
                <a:ea typeface="+mn-ea"/>
                <a:cs typeface="+mn-cs"/>
              </a:rPr>
              <a:t> 8</a:t>
            </a:r>
            <a:r>
              <a:rPr lang="zh-CN" altLang="zh-CN" sz="1200" kern="1200" dirty="0">
                <a:solidFill>
                  <a:schemeClr val="tx1"/>
                </a:solidFill>
                <a:effectLst/>
                <a:latin typeface="+mn-lt"/>
                <a:ea typeface="+mn-ea"/>
                <a:cs typeface="+mn-cs"/>
              </a:rPr>
              <a:t>关联起来。</a:t>
            </a:r>
            <a:r>
              <a:rPr lang="zh-CN" altLang="en-US"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j</a:t>
            </a:r>
            <a:r>
              <a:rPr lang="zh-CN" altLang="en-US" sz="1200" kern="1200" dirty="0">
                <a:solidFill>
                  <a:schemeClr val="tx1"/>
                </a:solidFill>
                <a:effectLst/>
                <a:latin typeface="+mn-lt"/>
                <a:ea typeface="+mn-ea"/>
                <a:cs typeface="+mn-cs"/>
              </a:rPr>
              <a:t>）</a:t>
            </a:r>
            <a:endParaRPr lang="zh-CN" altLang="zh-CN" sz="1200" kern="1200" dirty="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30</a:t>
            </a:fld>
            <a:endParaRPr lang="zh-CN" altLang="en-US"/>
          </a:p>
        </p:txBody>
      </p:sp>
    </p:spTree>
    <p:extLst>
      <p:ext uri="{BB962C8B-B14F-4D97-AF65-F5344CB8AC3E}">
        <p14:creationId xmlns:p14="http://schemas.microsoft.com/office/powerpoint/2010/main" val="317994736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ea typeface="+mn-ea"/>
                <a:cs typeface="+mn-cs"/>
              </a:rPr>
              <a:t>2. </a:t>
            </a:r>
            <a:r>
              <a:rPr lang="zh-CN" altLang="zh-CN" sz="1200" kern="1200" dirty="0">
                <a:solidFill>
                  <a:schemeClr val="tx1"/>
                </a:solidFill>
                <a:effectLst/>
                <a:latin typeface="+mn-lt"/>
                <a:ea typeface="+mn-ea"/>
                <a:cs typeface="+mn-cs"/>
              </a:rPr>
              <a:t>在符号表中，将</a:t>
            </a:r>
            <a:r>
              <a:rPr lang="en-US" altLang="zh-CN" sz="1200" kern="1200" dirty="0">
                <a:solidFill>
                  <a:schemeClr val="tx1"/>
                </a:solidFill>
                <a:effectLst/>
                <a:latin typeface="+mn-lt"/>
                <a:ea typeface="+mn-ea"/>
                <a:cs typeface="+mn-cs"/>
              </a:rPr>
              <a:t> j </a:t>
            </a:r>
            <a:r>
              <a:rPr lang="zh-CN" altLang="en-US" sz="1200" kern="1200" dirty="0">
                <a:solidFill>
                  <a:schemeClr val="tx1"/>
                </a:solidFill>
                <a:effectLst/>
                <a:latin typeface="+mn-lt"/>
                <a:ea typeface="+mn-ea"/>
                <a:cs typeface="+mn-cs"/>
              </a:rPr>
              <a:t>的活跃信息和下次引用信息分别</a:t>
            </a:r>
            <a:r>
              <a:rPr lang="zh-CN" altLang="zh-CN" sz="1200" kern="1200" dirty="0">
                <a:solidFill>
                  <a:schemeClr val="tx1"/>
                </a:solidFill>
                <a:effectLst/>
                <a:latin typeface="+mn-lt"/>
                <a:ea typeface="+mn-ea"/>
                <a:cs typeface="+mn-cs"/>
              </a:rPr>
              <a:t>设置为</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不活跃</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无后续使用</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（因为</a:t>
            </a:r>
            <a:r>
              <a:rPr lang="en-US" altLang="zh-CN" sz="1200" kern="1200" dirty="0">
                <a:solidFill>
                  <a:schemeClr val="tx1"/>
                </a:solidFill>
                <a:effectLst/>
                <a:latin typeface="+mn-lt"/>
                <a:ea typeface="+mn-ea"/>
                <a:cs typeface="+mn-cs"/>
              </a:rPr>
              <a:t>x</a:t>
            </a:r>
            <a:r>
              <a:rPr lang="zh-CN" altLang="en-US" sz="1200" kern="1200" dirty="0">
                <a:solidFill>
                  <a:schemeClr val="tx1"/>
                </a:solidFill>
                <a:effectLst/>
                <a:latin typeface="+mn-lt"/>
                <a:ea typeface="+mn-ea"/>
                <a:cs typeface="+mn-cs"/>
              </a:rPr>
              <a:t>被重新计算了，之前的值被更改）</a:t>
            </a:r>
            <a:r>
              <a:rPr lang="zh-CN" altLang="zh-CN" sz="1200" kern="1200" dirty="0">
                <a:solidFill>
                  <a:schemeClr val="tx1"/>
                </a:solidFill>
                <a:effectLst/>
                <a:latin typeface="+mn-lt"/>
                <a:ea typeface="+mn-ea"/>
                <a:cs typeface="+mn-cs"/>
              </a:rPr>
              <a:t> </a:t>
            </a:r>
          </a:p>
          <a:p>
            <a:r>
              <a:rPr lang="en-US" altLang="zh-CN" sz="1200" kern="1200" dirty="0">
                <a:solidFill>
                  <a:schemeClr val="tx1"/>
                </a:solidFill>
                <a:effectLst/>
                <a:latin typeface="+mn-lt"/>
                <a:ea typeface="+mn-ea"/>
                <a:cs typeface="+mn-cs"/>
              </a:rPr>
              <a:t>3. </a:t>
            </a:r>
            <a:r>
              <a:rPr lang="zh-CN" altLang="zh-CN" sz="1200" kern="1200" dirty="0">
                <a:solidFill>
                  <a:schemeClr val="tx1"/>
                </a:solidFill>
                <a:effectLst/>
                <a:latin typeface="+mn-lt"/>
                <a:ea typeface="+mn-ea"/>
                <a:cs typeface="+mn-cs"/>
              </a:rPr>
              <a:t>在符号表中，将</a:t>
            </a:r>
            <a:r>
              <a:rPr lang="en-US" altLang="zh-CN" sz="1200" kern="1200" dirty="0">
                <a:solidFill>
                  <a:schemeClr val="tx1"/>
                </a:solidFill>
                <a:effectLst/>
                <a:latin typeface="+mn-lt"/>
                <a:ea typeface="+mn-ea"/>
                <a:cs typeface="+mn-cs"/>
              </a:rPr>
              <a:t> j </a:t>
            </a:r>
            <a:r>
              <a:rPr lang="zh-CN" altLang="zh-CN" sz="1200" kern="1200" dirty="0">
                <a:solidFill>
                  <a:schemeClr val="tx1"/>
                </a:solidFill>
                <a:effectLst/>
                <a:latin typeface="+mn-lt"/>
                <a:ea typeface="+mn-ea"/>
                <a:cs typeface="+mn-cs"/>
              </a:rPr>
              <a:t>设置为“活跃</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，并把它们的下一次使用设置为语句</a:t>
            </a:r>
            <a:r>
              <a:rPr lang="en-US" altLang="zh-CN" sz="1200" kern="1200" dirty="0">
                <a:solidFill>
                  <a:schemeClr val="tx1"/>
                </a:solidFill>
                <a:effectLst/>
                <a:latin typeface="+mn-lt"/>
                <a:ea typeface="+mn-ea"/>
                <a:cs typeface="+mn-cs"/>
              </a:rPr>
              <a:t>8</a:t>
            </a:r>
            <a:r>
              <a:rPr lang="zh-CN" altLang="zh-CN" sz="1200" kern="1200" dirty="0">
                <a:solidFill>
                  <a:schemeClr val="tx1"/>
                </a:solidFill>
                <a:effectLst/>
                <a:latin typeface="+mn-lt"/>
                <a:ea typeface="+mn-ea"/>
                <a:cs typeface="+mn-cs"/>
              </a:rPr>
              <a:t>。</a:t>
            </a:r>
          </a:p>
          <a:p>
            <a:endParaRPr lang="zh-CN" altLang="en-US"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31</a:t>
            </a:fld>
            <a:endParaRPr lang="zh-CN" altLang="en-US"/>
          </a:p>
        </p:txBody>
      </p:sp>
    </p:spTree>
    <p:extLst>
      <p:ext uri="{BB962C8B-B14F-4D97-AF65-F5344CB8AC3E}">
        <p14:creationId xmlns:p14="http://schemas.microsoft.com/office/powerpoint/2010/main" val="98392904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kern="1200" dirty="0">
                <a:solidFill>
                  <a:schemeClr val="tx1"/>
                </a:solidFill>
                <a:effectLst/>
                <a:latin typeface="+mn-lt"/>
                <a:ea typeface="+mn-ea"/>
                <a:cs typeface="+mn-cs"/>
              </a:rPr>
              <a:t>1. </a:t>
            </a:r>
            <a:r>
              <a:rPr lang="zh-CN" altLang="zh-CN" sz="1200" kern="1200" dirty="0">
                <a:solidFill>
                  <a:schemeClr val="tx1"/>
                </a:solidFill>
                <a:effectLst/>
                <a:latin typeface="+mn-lt"/>
                <a:ea typeface="+mn-ea"/>
                <a:cs typeface="+mn-cs"/>
              </a:rPr>
              <a:t>把在当前符号表中找到的有关</a:t>
            </a:r>
            <a:r>
              <a:rPr lang="en-US" altLang="zh-CN" sz="1200" kern="1200" dirty="0">
                <a:solidFill>
                  <a:schemeClr val="tx1"/>
                </a:solidFill>
                <a:effectLst/>
                <a:latin typeface="+mn-lt"/>
                <a:ea typeface="+mn-ea"/>
                <a:cs typeface="+mn-cs"/>
              </a:rPr>
              <a:t> x</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y </a:t>
            </a:r>
            <a:r>
              <a:rPr lang="zh-CN" altLang="zh-CN"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 z </a:t>
            </a:r>
            <a:r>
              <a:rPr lang="zh-CN" altLang="zh-CN" sz="1200" kern="1200" dirty="0">
                <a:solidFill>
                  <a:schemeClr val="tx1"/>
                </a:solidFill>
                <a:effectLst/>
                <a:latin typeface="+mn-lt"/>
                <a:ea typeface="+mn-ea"/>
                <a:cs typeface="+mn-cs"/>
              </a:rPr>
              <a:t>的当前后续使用和活跃信息与语句</a:t>
            </a:r>
            <a:r>
              <a:rPr lang="en-US" altLang="zh-CN" sz="1200" kern="1200" dirty="0">
                <a:solidFill>
                  <a:schemeClr val="tx1"/>
                </a:solidFill>
                <a:effectLst/>
                <a:latin typeface="+mn-lt"/>
                <a:ea typeface="+mn-ea"/>
                <a:cs typeface="+mn-cs"/>
              </a:rPr>
              <a:t> 7</a:t>
            </a:r>
            <a:r>
              <a:rPr lang="zh-CN" altLang="zh-CN" sz="1200" kern="1200" dirty="0">
                <a:solidFill>
                  <a:schemeClr val="tx1"/>
                </a:solidFill>
                <a:effectLst/>
                <a:latin typeface="+mn-lt"/>
                <a:ea typeface="+mn-ea"/>
                <a:cs typeface="+mn-cs"/>
              </a:rPr>
              <a:t>关联起来。</a:t>
            </a:r>
          </a:p>
          <a:p>
            <a:endParaRPr lang="en-US" altLang="zh-CN" sz="1200" kern="1200" dirty="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32</a:t>
            </a:fld>
            <a:endParaRPr lang="zh-CN" altLang="en-US"/>
          </a:p>
        </p:txBody>
      </p:sp>
    </p:spTree>
    <p:extLst>
      <p:ext uri="{BB962C8B-B14F-4D97-AF65-F5344CB8AC3E}">
        <p14:creationId xmlns:p14="http://schemas.microsoft.com/office/powerpoint/2010/main" val="391495872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ea typeface="+mn-ea"/>
                <a:cs typeface="+mn-cs"/>
              </a:rPr>
              <a:t>2. </a:t>
            </a:r>
            <a:r>
              <a:rPr lang="zh-CN" altLang="zh-CN" sz="1200" kern="1200" dirty="0">
                <a:solidFill>
                  <a:schemeClr val="tx1"/>
                </a:solidFill>
                <a:effectLst/>
                <a:latin typeface="+mn-lt"/>
                <a:ea typeface="+mn-ea"/>
                <a:cs typeface="+mn-cs"/>
              </a:rPr>
              <a:t>在符号表中，将</a:t>
            </a:r>
            <a:r>
              <a:rPr lang="en-US" altLang="zh-CN" sz="1200" kern="1200" dirty="0">
                <a:solidFill>
                  <a:schemeClr val="tx1"/>
                </a:solidFill>
                <a:effectLst/>
                <a:latin typeface="+mn-lt"/>
                <a:ea typeface="+mn-ea"/>
                <a:cs typeface="+mn-cs"/>
              </a:rPr>
              <a:t> a </a:t>
            </a:r>
            <a:r>
              <a:rPr lang="zh-CN" altLang="zh-CN"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 t </a:t>
            </a:r>
            <a:r>
              <a:rPr lang="zh-CN" altLang="en-US" sz="1200" kern="1200" dirty="0">
                <a:solidFill>
                  <a:schemeClr val="tx1"/>
                </a:solidFill>
                <a:effectLst/>
                <a:latin typeface="+mn-lt"/>
                <a:ea typeface="+mn-ea"/>
                <a:cs typeface="+mn-cs"/>
              </a:rPr>
              <a:t>的活跃信息和下次引用信息分别</a:t>
            </a:r>
            <a:r>
              <a:rPr lang="zh-CN" altLang="zh-CN" sz="1200" kern="1200" dirty="0">
                <a:solidFill>
                  <a:schemeClr val="tx1"/>
                </a:solidFill>
                <a:effectLst/>
                <a:latin typeface="+mn-lt"/>
                <a:ea typeface="+mn-ea"/>
                <a:cs typeface="+mn-cs"/>
              </a:rPr>
              <a:t>设置为</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不活跃</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无后续使用</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（因为？被重新计算了，之前的值被更改）</a:t>
            </a:r>
            <a:r>
              <a:rPr lang="zh-CN" altLang="zh-CN" sz="1200" kern="1200" dirty="0">
                <a:solidFill>
                  <a:schemeClr val="tx1"/>
                </a:solidFill>
                <a:effectLst/>
                <a:latin typeface="+mn-lt"/>
                <a:ea typeface="+mn-ea"/>
                <a:cs typeface="+mn-cs"/>
              </a:rPr>
              <a:t> </a:t>
            </a:r>
          </a:p>
          <a:p>
            <a:r>
              <a:rPr lang="en-US" altLang="zh-CN" sz="1200" kern="1200" dirty="0">
                <a:solidFill>
                  <a:schemeClr val="tx1"/>
                </a:solidFill>
                <a:effectLst/>
                <a:latin typeface="+mn-lt"/>
                <a:ea typeface="+mn-ea"/>
                <a:cs typeface="+mn-cs"/>
              </a:rPr>
              <a:t>3. </a:t>
            </a:r>
            <a:r>
              <a:rPr lang="zh-CN" altLang="zh-CN" sz="1200" kern="1200" dirty="0">
                <a:solidFill>
                  <a:schemeClr val="tx1"/>
                </a:solidFill>
                <a:effectLst/>
                <a:latin typeface="+mn-lt"/>
                <a:ea typeface="+mn-ea"/>
                <a:cs typeface="+mn-cs"/>
              </a:rPr>
              <a:t>在符号表中，将</a:t>
            </a:r>
            <a:r>
              <a:rPr lang="en-US" altLang="zh-CN" sz="1200" kern="1200" dirty="0">
                <a:solidFill>
                  <a:schemeClr val="tx1"/>
                </a:solidFill>
                <a:effectLst/>
                <a:latin typeface="+mn-lt"/>
                <a:ea typeface="+mn-ea"/>
                <a:cs typeface="+mn-cs"/>
              </a:rPr>
              <a:t> a </a:t>
            </a:r>
            <a:r>
              <a:rPr lang="zh-CN" altLang="zh-CN"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 t4 </a:t>
            </a:r>
            <a:r>
              <a:rPr lang="zh-CN" altLang="zh-CN" sz="1200" kern="1200" dirty="0">
                <a:solidFill>
                  <a:schemeClr val="tx1"/>
                </a:solidFill>
                <a:effectLst/>
                <a:latin typeface="+mn-lt"/>
                <a:ea typeface="+mn-ea"/>
                <a:cs typeface="+mn-cs"/>
              </a:rPr>
              <a:t>设置为“活跃</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，并把它们的下一次使用设置为语句</a:t>
            </a:r>
            <a:r>
              <a:rPr lang="en-US" altLang="zh-CN" sz="1200" kern="1200" dirty="0">
                <a:solidFill>
                  <a:schemeClr val="tx1"/>
                </a:solidFill>
                <a:effectLst/>
                <a:latin typeface="+mn-lt"/>
                <a:ea typeface="+mn-ea"/>
                <a:cs typeface="+mn-cs"/>
              </a:rPr>
              <a:t>7</a:t>
            </a:r>
            <a:r>
              <a:rPr lang="zh-CN" altLang="zh-CN" sz="1200" kern="1200" dirty="0">
                <a:solidFill>
                  <a:schemeClr val="tx1"/>
                </a:solidFill>
                <a:effectLst/>
                <a:latin typeface="+mn-lt"/>
                <a:ea typeface="+mn-ea"/>
                <a:cs typeface="+mn-cs"/>
              </a:rPr>
              <a:t>。</a:t>
            </a:r>
          </a:p>
          <a:p>
            <a:endParaRPr lang="zh-CN" altLang="en-US"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33</a:t>
            </a:fld>
            <a:endParaRPr lang="zh-CN" altLang="en-US"/>
          </a:p>
        </p:txBody>
      </p:sp>
    </p:spTree>
    <p:extLst>
      <p:ext uri="{BB962C8B-B14F-4D97-AF65-F5344CB8AC3E}">
        <p14:creationId xmlns:p14="http://schemas.microsoft.com/office/powerpoint/2010/main" val="164545131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kern="1200" dirty="0">
                <a:solidFill>
                  <a:schemeClr val="tx1"/>
                </a:solidFill>
                <a:effectLst/>
                <a:latin typeface="+mn-lt"/>
                <a:ea typeface="+mn-ea"/>
                <a:cs typeface="+mn-cs"/>
              </a:rPr>
              <a:t>1. </a:t>
            </a:r>
            <a:r>
              <a:rPr lang="zh-CN" altLang="zh-CN" sz="1200" kern="1200" dirty="0">
                <a:solidFill>
                  <a:schemeClr val="tx1"/>
                </a:solidFill>
                <a:effectLst/>
                <a:latin typeface="+mn-lt"/>
                <a:ea typeface="+mn-ea"/>
                <a:cs typeface="+mn-cs"/>
              </a:rPr>
              <a:t>把在当前符号表中找到的有关</a:t>
            </a:r>
            <a:r>
              <a:rPr lang="en-US" altLang="zh-CN" sz="1200" kern="1200" dirty="0">
                <a:solidFill>
                  <a:schemeClr val="tx1"/>
                </a:solidFill>
                <a:effectLst/>
                <a:latin typeface="+mn-lt"/>
                <a:ea typeface="+mn-ea"/>
                <a:cs typeface="+mn-cs"/>
              </a:rPr>
              <a:t> t4</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t3 </a:t>
            </a:r>
            <a:r>
              <a:rPr lang="zh-CN" altLang="zh-CN" sz="1200" kern="1200" dirty="0">
                <a:solidFill>
                  <a:schemeClr val="tx1"/>
                </a:solidFill>
                <a:effectLst/>
                <a:latin typeface="+mn-lt"/>
                <a:ea typeface="+mn-ea"/>
                <a:cs typeface="+mn-cs"/>
              </a:rPr>
              <a:t>的当前后续使用和活跃信息与语句</a:t>
            </a:r>
            <a:r>
              <a:rPr lang="en-US" altLang="zh-CN" sz="1200" kern="1200" dirty="0">
                <a:solidFill>
                  <a:schemeClr val="tx1"/>
                </a:solidFill>
                <a:effectLst/>
                <a:latin typeface="+mn-lt"/>
                <a:ea typeface="+mn-ea"/>
                <a:cs typeface="+mn-cs"/>
              </a:rPr>
              <a:t> 6</a:t>
            </a:r>
            <a:r>
              <a:rPr lang="zh-CN" altLang="zh-CN" sz="1200" kern="1200" dirty="0">
                <a:solidFill>
                  <a:schemeClr val="tx1"/>
                </a:solidFill>
                <a:effectLst/>
                <a:latin typeface="+mn-lt"/>
                <a:ea typeface="+mn-ea"/>
                <a:cs typeface="+mn-cs"/>
              </a:rPr>
              <a:t>关联起来。</a:t>
            </a:r>
          </a:p>
          <a:p>
            <a:endParaRPr lang="zh-CN" altLang="en-US"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34</a:t>
            </a:fld>
            <a:endParaRPr lang="zh-CN" altLang="en-US"/>
          </a:p>
        </p:txBody>
      </p:sp>
    </p:spTree>
    <p:extLst>
      <p:ext uri="{BB962C8B-B14F-4D97-AF65-F5344CB8AC3E}">
        <p14:creationId xmlns:p14="http://schemas.microsoft.com/office/powerpoint/2010/main" val="283312074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ea typeface="+mn-ea"/>
                <a:cs typeface="+mn-cs"/>
              </a:rPr>
              <a:t>2. </a:t>
            </a:r>
            <a:r>
              <a:rPr lang="zh-CN" altLang="zh-CN" sz="1200" kern="1200" dirty="0">
                <a:solidFill>
                  <a:schemeClr val="tx1"/>
                </a:solidFill>
                <a:effectLst/>
                <a:latin typeface="+mn-lt"/>
                <a:ea typeface="+mn-ea"/>
                <a:cs typeface="+mn-cs"/>
              </a:rPr>
              <a:t>在符号表中，将</a:t>
            </a:r>
            <a:r>
              <a:rPr lang="en-US" altLang="zh-CN" sz="1200" kern="1200" dirty="0">
                <a:solidFill>
                  <a:schemeClr val="tx1"/>
                </a:solidFill>
                <a:effectLst/>
                <a:latin typeface="+mn-lt"/>
                <a:ea typeface="+mn-ea"/>
                <a:cs typeface="+mn-cs"/>
              </a:rPr>
              <a:t> t4</a:t>
            </a:r>
            <a:r>
              <a:rPr lang="zh-CN" altLang="en-US" sz="1200" kern="1200" dirty="0">
                <a:solidFill>
                  <a:schemeClr val="tx1"/>
                </a:solidFill>
                <a:effectLst/>
                <a:latin typeface="+mn-lt"/>
                <a:ea typeface="+mn-ea"/>
                <a:cs typeface="+mn-cs"/>
              </a:rPr>
              <a:t>的活跃信息和下次引用信息分别</a:t>
            </a:r>
            <a:r>
              <a:rPr lang="zh-CN" altLang="zh-CN" sz="1200" kern="1200" dirty="0">
                <a:solidFill>
                  <a:schemeClr val="tx1"/>
                </a:solidFill>
                <a:effectLst/>
                <a:latin typeface="+mn-lt"/>
                <a:ea typeface="+mn-ea"/>
                <a:cs typeface="+mn-cs"/>
              </a:rPr>
              <a:t>设置为</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不活跃</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无后续使用</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（因为？被重新计算了，之前的值被更改）</a:t>
            </a:r>
            <a:r>
              <a:rPr lang="zh-CN" altLang="zh-CN" sz="1200" kern="1200" dirty="0">
                <a:solidFill>
                  <a:schemeClr val="tx1"/>
                </a:solidFill>
                <a:effectLst/>
                <a:latin typeface="+mn-lt"/>
                <a:ea typeface="+mn-ea"/>
                <a:cs typeface="+mn-cs"/>
              </a:rPr>
              <a:t> </a:t>
            </a:r>
          </a:p>
          <a:p>
            <a:r>
              <a:rPr lang="en-US" altLang="zh-CN" sz="1200" kern="1200" dirty="0">
                <a:solidFill>
                  <a:schemeClr val="tx1"/>
                </a:solidFill>
                <a:effectLst/>
                <a:latin typeface="+mn-lt"/>
                <a:ea typeface="+mn-ea"/>
                <a:cs typeface="+mn-cs"/>
              </a:rPr>
              <a:t>3. </a:t>
            </a:r>
            <a:r>
              <a:rPr lang="zh-CN" altLang="zh-CN" sz="1200" kern="1200" dirty="0">
                <a:solidFill>
                  <a:schemeClr val="tx1"/>
                </a:solidFill>
                <a:effectLst/>
                <a:latin typeface="+mn-lt"/>
                <a:ea typeface="+mn-ea"/>
                <a:cs typeface="+mn-cs"/>
              </a:rPr>
              <a:t>在符号表中，将</a:t>
            </a:r>
            <a:r>
              <a:rPr lang="en-US" altLang="zh-CN" sz="1200" kern="1200" dirty="0">
                <a:solidFill>
                  <a:schemeClr val="tx1"/>
                </a:solidFill>
                <a:effectLst/>
                <a:latin typeface="+mn-lt"/>
                <a:ea typeface="+mn-ea"/>
                <a:cs typeface="+mn-cs"/>
              </a:rPr>
              <a:t> t3 </a:t>
            </a:r>
            <a:r>
              <a:rPr lang="zh-CN" altLang="zh-CN" sz="1200" kern="1200" dirty="0">
                <a:solidFill>
                  <a:schemeClr val="tx1"/>
                </a:solidFill>
                <a:effectLst/>
                <a:latin typeface="+mn-lt"/>
                <a:ea typeface="+mn-ea"/>
                <a:cs typeface="+mn-cs"/>
              </a:rPr>
              <a:t>设置为“活跃</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，并把它们的下一次使用设置为语句</a:t>
            </a:r>
            <a:r>
              <a:rPr lang="en-US" altLang="zh-CN" sz="1200" kern="1200" dirty="0">
                <a:solidFill>
                  <a:schemeClr val="tx1"/>
                </a:solidFill>
                <a:effectLst/>
                <a:latin typeface="+mn-lt"/>
                <a:ea typeface="+mn-ea"/>
                <a:cs typeface="+mn-cs"/>
              </a:rPr>
              <a:t>6</a:t>
            </a:r>
            <a:r>
              <a:rPr lang="zh-CN" altLang="zh-CN" sz="1200" kern="1200" dirty="0">
                <a:solidFill>
                  <a:schemeClr val="tx1"/>
                </a:solidFill>
                <a:effectLst/>
                <a:latin typeface="+mn-lt"/>
                <a:ea typeface="+mn-ea"/>
                <a:cs typeface="+mn-cs"/>
              </a:rPr>
              <a:t>。</a:t>
            </a:r>
          </a:p>
          <a:p>
            <a:endParaRPr lang="zh-CN" altLang="en-US"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35</a:t>
            </a:fld>
            <a:endParaRPr lang="zh-CN" altLang="en-US"/>
          </a:p>
        </p:txBody>
      </p:sp>
    </p:spTree>
    <p:extLst>
      <p:ext uri="{BB962C8B-B14F-4D97-AF65-F5344CB8AC3E}">
        <p14:creationId xmlns:p14="http://schemas.microsoft.com/office/powerpoint/2010/main" val="68526452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kern="1200" dirty="0">
                <a:solidFill>
                  <a:schemeClr val="tx1"/>
                </a:solidFill>
                <a:effectLst/>
                <a:latin typeface="+mn-lt"/>
                <a:ea typeface="+mn-ea"/>
                <a:cs typeface="+mn-cs"/>
              </a:rPr>
              <a:t>1. </a:t>
            </a:r>
            <a:r>
              <a:rPr lang="zh-CN" altLang="zh-CN" sz="1200" kern="1200" dirty="0">
                <a:solidFill>
                  <a:schemeClr val="tx1"/>
                </a:solidFill>
                <a:effectLst/>
                <a:latin typeface="+mn-lt"/>
                <a:ea typeface="+mn-ea"/>
                <a:cs typeface="+mn-cs"/>
              </a:rPr>
              <a:t>把在当前符号表中找到的有关</a:t>
            </a:r>
            <a:r>
              <a:rPr lang="en-US" altLang="zh-CN" sz="1200" kern="1200" dirty="0">
                <a:solidFill>
                  <a:schemeClr val="tx1"/>
                </a:solidFill>
                <a:effectLst/>
                <a:latin typeface="+mn-lt"/>
                <a:ea typeface="+mn-ea"/>
                <a:cs typeface="+mn-cs"/>
              </a:rPr>
              <a:t> t3</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t2 </a:t>
            </a:r>
            <a:r>
              <a:rPr lang="zh-CN" altLang="zh-CN" sz="1200" kern="1200" dirty="0">
                <a:solidFill>
                  <a:schemeClr val="tx1"/>
                </a:solidFill>
                <a:effectLst/>
                <a:latin typeface="+mn-lt"/>
                <a:ea typeface="+mn-ea"/>
                <a:cs typeface="+mn-cs"/>
              </a:rPr>
              <a:t>的当前后续使用和活跃信息与语句</a:t>
            </a:r>
            <a:r>
              <a:rPr lang="en-US" altLang="zh-CN" sz="1200" kern="1200" dirty="0">
                <a:solidFill>
                  <a:schemeClr val="tx1"/>
                </a:solidFill>
                <a:effectLst/>
                <a:latin typeface="+mn-lt"/>
                <a:ea typeface="+mn-ea"/>
                <a:cs typeface="+mn-cs"/>
              </a:rPr>
              <a:t> 5</a:t>
            </a:r>
            <a:r>
              <a:rPr lang="zh-CN" altLang="zh-CN" sz="1200" kern="1200" dirty="0">
                <a:solidFill>
                  <a:schemeClr val="tx1"/>
                </a:solidFill>
                <a:effectLst/>
                <a:latin typeface="+mn-lt"/>
                <a:ea typeface="+mn-ea"/>
                <a:cs typeface="+mn-cs"/>
              </a:rPr>
              <a:t>关联起来。</a:t>
            </a:r>
          </a:p>
          <a:p>
            <a:endParaRPr lang="zh-CN" altLang="en-US"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36</a:t>
            </a:fld>
            <a:endParaRPr lang="zh-CN" altLang="en-US"/>
          </a:p>
        </p:txBody>
      </p:sp>
    </p:spTree>
    <p:extLst>
      <p:ext uri="{BB962C8B-B14F-4D97-AF65-F5344CB8AC3E}">
        <p14:creationId xmlns:p14="http://schemas.microsoft.com/office/powerpoint/2010/main" val="170075203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ea typeface="+mn-ea"/>
                <a:cs typeface="+mn-cs"/>
              </a:rPr>
              <a:t>2. </a:t>
            </a:r>
            <a:r>
              <a:rPr lang="zh-CN" altLang="zh-CN" sz="1200" kern="1200" dirty="0">
                <a:solidFill>
                  <a:schemeClr val="tx1"/>
                </a:solidFill>
                <a:effectLst/>
                <a:latin typeface="+mn-lt"/>
                <a:ea typeface="+mn-ea"/>
                <a:cs typeface="+mn-cs"/>
              </a:rPr>
              <a:t>在符号表中，将</a:t>
            </a:r>
            <a:r>
              <a:rPr lang="en-US" altLang="zh-CN" sz="1200" kern="1200" dirty="0">
                <a:solidFill>
                  <a:schemeClr val="tx1"/>
                </a:solidFill>
                <a:effectLst/>
                <a:latin typeface="+mn-lt"/>
                <a:ea typeface="+mn-ea"/>
                <a:cs typeface="+mn-cs"/>
              </a:rPr>
              <a:t> t3</a:t>
            </a:r>
            <a:r>
              <a:rPr lang="zh-CN" altLang="en-US" sz="1200" kern="1200" dirty="0">
                <a:solidFill>
                  <a:schemeClr val="tx1"/>
                </a:solidFill>
                <a:effectLst/>
                <a:latin typeface="+mn-lt"/>
                <a:ea typeface="+mn-ea"/>
                <a:cs typeface="+mn-cs"/>
              </a:rPr>
              <a:t>的活跃信息和下次引用信息分别</a:t>
            </a:r>
            <a:r>
              <a:rPr lang="zh-CN" altLang="zh-CN" sz="1200" kern="1200" dirty="0">
                <a:solidFill>
                  <a:schemeClr val="tx1"/>
                </a:solidFill>
                <a:effectLst/>
                <a:latin typeface="+mn-lt"/>
                <a:ea typeface="+mn-ea"/>
                <a:cs typeface="+mn-cs"/>
              </a:rPr>
              <a:t>设置为</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不活跃</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无后续使用</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（因为？被重新计算了，之前的值被更改）</a:t>
            </a:r>
            <a:r>
              <a:rPr lang="zh-CN" altLang="zh-CN" sz="1200" kern="1200" dirty="0">
                <a:solidFill>
                  <a:schemeClr val="tx1"/>
                </a:solidFill>
                <a:effectLst/>
                <a:latin typeface="+mn-lt"/>
                <a:ea typeface="+mn-ea"/>
                <a:cs typeface="+mn-cs"/>
              </a:rPr>
              <a:t> </a:t>
            </a:r>
          </a:p>
          <a:p>
            <a:r>
              <a:rPr lang="en-US" altLang="zh-CN" sz="1200" kern="1200" dirty="0">
                <a:solidFill>
                  <a:schemeClr val="tx1"/>
                </a:solidFill>
                <a:effectLst/>
                <a:latin typeface="+mn-lt"/>
                <a:ea typeface="+mn-ea"/>
                <a:cs typeface="+mn-cs"/>
              </a:rPr>
              <a:t>3. </a:t>
            </a:r>
            <a:r>
              <a:rPr lang="zh-CN" altLang="zh-CN" sz="1200" kern="1200" dirty="0">
                <a:solidFill>
                  <a:schemeClr val="tx1"/>
                </a:solidFill>
                <a:effectLst/>
                <a:latin typeface="+mn-lt"/>
                <a:ea typeface="+mn-ea"/>
                <a:cs typeface="+mn-cs"/>
              </a:rPr>
              <a:t>在符号表中，将</a:t>
            </a:r>
            <a:r>
              <a:rPr lang="en-US" altLang="zh-CN" sz="1200" kern="1200" dirty="0">
                <a:solidFill>
                  <a:schemeClr val="tx1"/>
                </a:solidFill>
                <a:effectLst/>
                <a:latin typeface="+mn-lt"/>
                <a:ea typeface="+mn-ea"/>
                <a:cs typeface="+mn-cs"/>
              </a:rPr>
              <a:t> t2 </a:t>
            </a:r>
            <a:r>
              <a:rPr lang="zh-CN" altLang="zh-CN" sz="1200" kern="1200" dirty="0">
                <a:solidFill>
                  <a:schemeClr val="tx1"/>
                </a:solidFill>
                <a:effectLst/>
                <a:latin typeface="+mn-lt"/>
                <a:ea typeface="+mn-ea"/>
                <a:cs typeface="+mn-cs"/>
              </a:rPr>
              <a:t>设置为“活跃</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，并把它们的下一次使用设置为语句</a:t>
            </a:r>
            <a:r>
              <a:rPr lang="en-US" altLang="zh-CN" sz="1200" kern="1200" dirty="0">
                <a:solidFill>
                  <a:schemeClr val="tx1"/>
                </a:solidFill>
                <a:effectLst/>
                <a:latin typeface="+mn-lt"/>
                <a:ea typeface="+mn-ea"/>
                <a:cs typeface="+mn-cs"/>
              </a:rPr>
              <a:t>5</a:t>
            </a:r>
            <a:r>
              <a:rPr lang="zh-CN" altLang="zh-CN" sz="1200" kern="1200" dirty="0">
                <a:solidFill>
                  <a:schemeClr val="tx1"/>
                </a:solidFill>
                <a:effectLst/>
                <a:latin typeface="+mn-lt"/>
                <a:ea typeface="+mn-ea"/>
                <a:cs typeface="+mn-cs"/>
              </a:rPr>
              <a:t>。</a:t>
            </a:r>
          </a:p>
          <a:p>
            <a:endParaRPr lang="zh-CN" altLang="en-US"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37</a:t>
            </a:fld>
            <a:endParaRPr lang="zh-CN" altLang="en-US"/>
          </a:p>
        </p:txBody>
      </p:sp>
    </p:spTree>
    <p:extLst>
      <p:ext uri="{BB962C8B-B14F-4D97-AF65-F5344CB8AC3E}">
        <p14:creationId xmlns:p14="http://schemas.microsoft.com/office/powerpoint/2010/main" val="367902917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kern="1200" dirty="0">
                <a:solidFill>
                  <a:schemeClr val="tx1"/>
                </a:solidFill>
                <a:effectLst/>
                <a:latin typeface="+mn-lt"/>
                <a:ea typeface="+mn-ea"/>
                <a:cs typeface="+mn-cs"/>
              </a:rPr>
              <a:t>1. </a:t>
            </a:r>
            <a:r>
              <a:rPr lang="zh-CN" altLang="zh-CN" sz="1200" kern="1200" dirty="0">
                <a:solidFill>
                  <a:schemeClr val="tx1"/>
                </a:solidFill>
                <a:effectLst/>
                <a:latin typeface="+mn-lt"/>
                <a:ea typeface="+mn-ea"/>
                <a:cs typeface="+mn-cs"/>
              </a:rPr>
              <a:t>把在当前符号表中找到的有关</a:t>
            </a:r>
            <a:r>
              <a:rPr lang="en-US" altLang="zh-CN" sz="1200" kern="1200" dirty="0">
                <a:solidFill>
                  <a:schemeClr val="tx1"/>
                </a:solidFill>
                <a:effectLst/>
                <a:latin typeface="+mn-lt"/>
                <a:ea typeface="+mn-ea"/>
                <a:cs typeface="+mn-cs"/>
              </a:rPr>
              <a:t> t2</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t1 </a:t>
            </a:r>
            <a:r>
              <a:rPr lang="zh-CN" altLang="en-US"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j</a:t>
            </a:r>
            <a:r>
              <a:rPr lang="zh-CN" altLang="zh-CN" sz="1200" kern="1200" dirty="0">
                <a:solidFill>
                  <a:schemeClr val="tx1"/>
                </a:solidFill>
                <a:effectLst/>
                <a:latin typeface="+mn-lt"/>
                <a:ea typeface="+mn-ea"/>
                <a:cs typeface="+mn-cs"/>
              </a:rPr>
              <a:t>的当前后续使用和活跃信息与语句</a:t>
            </a:r>
            <a:r>
              <a:rPr lang="en-US" altLang="zh-CN" sz="1200" kern="1200" dirty="0">
                <a:solidFill>
                  <a:schemeClr val="tx1"/>
                </a:solidFill>
                <a:effectLst/>
                <a:latin typeface="+mn-lt"/>
                <a:ea typeface="+mn-ea"/>
                <a:cs typeface="+mn-cs"/>
              </a:rPr>
              <a:t> 4</a:t>
            </a:r>
            <a:r>
              <a:rPr lang="zh-CN" altLang="zh-CN" sz="1200" kern="1200" dirty="0">
                <a:solidFill>
                  <a:schemeClr val="tx1"/>
                </a:solidFill>
                <a:effectLst/>
                <a:latin typeface="+mn-lt"/>
                <a:ea typeface="+mn-ea"/>
                <a:cs typeface="+mn-cs"/>
              </a:rPr>
              <a:t>关联起来。</a:t>
            </a:r>
          </a:p>
          <a:p>
            <a:endParaRPr lang="zh-CN" altLang="en-US"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38</a:t>
            </a:fld>
            <a:endParaRPr lang="zh-CN" altLang="en-US"/>
          </a:p>
        </p:txBody>
      </p:sp>
    </p:spTree>
    <p:extLst>
      <p:ext uri="{BB962C8B-B14F-4D97-AF65-F5344CB8AC3E}">
        <p14:creationId xmlns:p14="http://schemas.microsoft.com/office/powerpoint/2010/main" val="402484833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ea typeface="+mn-ea"/>
                <a:cs typeface="+mn-cs"/>
              </a:rPr>
              <a:t>2. </a:t>
            </a:r>
            <a:r>
              <a:rPr lang="zh-CN" altLang="zh-CN" sz="1200" kern="1200" dirty="0">
                <a:solidFill>
                  <a:schemeClr val="tx1"/>
                </a:solidFill>
                <a:effectLst/>
                <a:latin typeface="+mn-lt"/>
                <a:ea typeface="+mn-ea"/>
                <a:cs typeface="+mn-cs"/>
              </a:rPr>
              <a:t>在符号表中，将</a:t>
            </a:r>
            <a:r>
              <a:rPr lang="en-US" altLang="zh-CN" sz="1200" kern="1200" dirty="0">
                <a:solidFill>
                  <a:schemeClr val="tx1"/>
                </a:solidFill>
                <a:effectLst/>
                <a:latin typeface="+mn-lt"/>
                <a:ea typeface="+mn-ea"/>
                <a:cs typeface="+mn-cs"/>
              </a:rPr>
              <a:t> t2</a:t>
            </a:r>
            <a:r>
              <a:rPr lang="zh-CN" altLang="en-US" sz="1200" kern="1200" dirty="0">
                <a:solidFill>
                  <a:schemeClr val="tx1"/>
                </a:solidFill>
                <a:effectLst/>
                <a:latin typeface="+mn-lt"/>
                <a:ea typeface="+mn-ea"/>
                <a:cs typeface="+mn-cs"/>
              </a:rPr>
              <a:t>的活跃信息和下次引用信息分别</a:t>
            </a:r>
            <a:r>
              <a:rPr lang="zh-CN" altLang="zh-CN" sz="1200" kern="1200" dirty="0">
                <a:solidFill>
                  <a:schemeClr val="tx1"/>
                </a:solidFill>
                <a:effectLst/>
                <a:latin typeface="+mn-lt"/>
                <a:ea typeface="+mn-ea"/>
                <a:cs typeface="+mn-cs"/>
              </a:rPr>
              <a:t>设置为</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不活跃</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无后续使用</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（因为？被重新计算了，之前的值被更改）</a:t>
            </a:r>
            <a:r>
              <a:rPr lang="zh-CN" altLang="zh-CN" sz="1200" kern="1200" dirty="0">
                <a:solidFill>
                  <a:schemeClr val="tx1"/>
                </a:solidFill>
                <a:effectLst/>
                <a:latin typeface="+mn-lt"/>
                <a:ea typeface="+mn-ea"/>
                <a:cs typeface="+mn-cs"/>
              </a:rPr>
              <a:t> </a:t>
            </a:r>
          </a:p>
          <a:p>
            <a:r>
              <a:rPr lang="en-US" altLang="zh-CN" sz="1200" kern="1200" dirty="0">
                <a:solidFill>
                  <a:schemeClr val="tx1"/>
                </a:solidFill>
                <a:effectLst/>
                <a:latin typeface="+mn-lt"/>
                <a:ea typeface="+mn-ea"/>
                <a:cs typeface="+mn-cs"/>
              </a:rPr>
              <a:t>3. </a:t>
            </a:r>
            <a:r>
              <a:rPr lang="zh-CN" altLang="zh-CN" sz="1200" kern="1200" dirty="0">
                <a:solidFill>
                  <a:schemeClr val="tx1"/>
                </a:solidFill>
                <a:effectLst/>
                <a:latin typeface="+mn-lt"/>
                <a:ea typeface="+mn-ea"/>
                <a:cs typeface="+mn-cs"/>
              </a:rPr>
              <a:t>在符号表中，将</a:t>
            </a:r>
            <a:r>
              <a:rPr lang="en-US" altLang="zh-CN" sz="1200" kern="1200" dirty="0">
                <a:solidFill>
                  <a:schemeClr val="tx1"/>
                </a:solidFill>
                <a:effectLst/>
                <a:latin typeface="+mn-lt"/>
                <a:ea typeface="+mn-ea"/>
                <a:cs typeface="+mn-cs"/>
              </a:rPr>
              <a:t> t1</a:t>
            </a:r>
            <a:r>
              <a:rPr lang="zh-CN" altLang="en-US"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j </a:t>
            </a:r>
            <a:r>
              <a:rPr lang="zh-CN" altLang="zh-CN" sz="1200" kern="1200" dirty="0">
                <a:solidFill>
                  <a:schemeClr val="tx1"/>
                </a:solidFill>
                <a:effectLst/>
                <a:latin typeface="+mn-lt"/>
                <a:ea typeface="+mn-ea"/>
                <a:cs typeface="+mn-cs"/>
              </a:rPr>
              <a:t>设置为“活跃</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，并把它们的下一次使用设置为语句</a:t>
            </a:r>
            <a:r>
              <a:rPr lang="en-US" altLang="zh-CN" sz="1200" kern="1200" dirty="0">
                <a:solidFill>
                  <a:schemeClr val="tx1"/>
                </a:solidFill>
                <a:effectLst/>
                <a:latin typeface="+mn-lt"/>
                <a:ea typeface="+mn-ea"/>
                <a:cs typeface="+mn-cs"/>
              </a:rPr>
              <a:t>4</a:t>
            </a:r>
            <a:r>
              <a:rPr lang="zh-CN" altLang="zh-CN" sz="1200" kern="1200" dirty="0">
                <a:solidFill>
                  <a:schemeClr val="tx1"/>
                </a:solidFill>
                <a:effectLst/>
                <a:latin typeface="+mn-lt"/>
                <a:ea typeface="+mn-ea"/>
                <a:cs typeface="+mn-cs"/>
              </a:rPr>
              <a:t>。</a:t>
            </a:r>
          </a:p>
          <a:p>
            <a:endParaRPr lang="zh-CN" altLang="en-US"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39</a:t>
            </a:fld>
            <a:endParaRPr lang="zh-CN" altLang="en-US"/>
          </a:p>
        </p:txBody>
      </p:sp>
    </p:spTree>
    <p:extLst>
      <p:ext uri="{BB962C8B-B14F-4D97-AF65-F5344CB8AC3E}">
        <p14:creationId xmlns:p14="http://schemas.microsoft.com/office/powerpoint/2010/main" val="133229355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kern="1200" dirty="0">
                <a:solidFill>
                  <a:schemeClr val="tx1"/>
                </a:solidFill>
                <a:effectLst/>
                <a:latin typeface="+mn-lt"/>
                <a:ea typeface="+mn-ea"/>
                <a:cs typeface="+mn-cs"/>
              </a:rPr>
              <a:t>1. </a:t>
            </a:r>
            <a:r>
              <a:rPr lang="zh-CN" altLang="zh-CN" sz="1200" kern="1200" dirty="0">
                <a:solidFill>
                  <a:schemeClr val="tx1"/>
                </a:solidFill>
                <a:effectLst/>
                <a:latin typeface="+mn-lt"/>
                <a:ea typeface="+mn-ea"/>
                <a:cs typeface="+mn-cs"/>
              </a:rPr>
              <a:t>把在当前符号表中找到的有关</a:t>
            </a:r>
            <a:r>
              <a:rPr lang="en-US" altLang="zh-CN" sz="1200" kern="1200" dirty="0">
                <a:solidFill>
                  <a:schemeClr val="tx1"/>
                </a:solidFill>
                <a:effectLst/>
                <a:latin typeface="+mn-lt"/>
                <a:ea typeface="+mn-ea"/>
                <a:cs typeface="+mn-cs"/>
              </a:rPr>
              <a:t> t1</a:t>
            </a:r>
            <a:r>
              <a:rPr lang="zh-CN" altLang="zh-CN" sz="1200" kern="1200" dirty="0">
                <a:solidFill>
                  <a:schemeClr val="tx1"/>
                </a:solidFill>
                <a:effectLst/>
                <a:latin typeface="+mn-lt"/>
                <a:ea typeface="+mn-ea"/>
                <a:cs typeface="+mn-cs"/>
              </a:rPr>
              <a:t>、</a:t>
            </a:r>
            <a:r>
              <a:rPr lang="en-US" altLang="zh-CN" sz="1200" kern="1200" dirty="0" err="1">
                <a:solidFill>
                  <a:schemeClr val="tx1"/>
                </a:solidFill>
                <a:effectLst/>
                <a:latin typeface="+mn-lt"/>
                <a:ea typeface="+mn-ea"/>
                <a:cs typeface="+mn-cs"/>
              </a:rPr>
              <a:t>i</a:t>
            </a:r>
            <a:r>
              <a:rPr lang="en-US" altLang="zh-CN" sz="1200" kern="1200" dirty="0">
                <a:solidFill>
                  <a:schemeClr val="tx1"/>
                </a:solidFill>
                <a:effectLst/>
                <a:latin typeface="+mn-lt"/>
                <a:ea typeface="+mn-ea"/>
                <a:cs typeface="+mn-cs"/>
              </a:rPr>
              <a:t> </a:t>
            </a:r>
            <a:r>
              <a:rPr lang="zh-CN" altLang="en-US"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j</a:t>
            </a:r>
            <a:r>
              <a:rPr lang="zh-CN" altLang="zh-CN" sz="1200" kern="1200" dirty="0">
                <a:solidFill>
                  <a:schemeClr val="tx1"/>
                </a:solidFill>
                <a:effectLst/>
                <a:latin typeface="+mn-lt"/>
                <a:ea typeface="+mn-ea"/>
                <a:cs typeface="+mn-cs"/>
              </a:rPr>
              <a:t>的当前后续使用和活跃信息与语句</a:t>
            </a:r>
            <a:r>
              <a:rPr lang="en-US" altLang="zh-CN" sz="1200" kern="1200" dirty="0">
                <a:solidFill>
                  <a:schemeClr val="tx1"/>
                </a:solidFill>
                <a:effectLst/>
                <a:latin typeface="+mn-lt"/>
                <a:ea typeface="+mn-ea"/>
                <a:cs typeface="+mn-cs"/>
              </a:rPr>
              <a:t> 3</a:t>
            </a:r>
            <a:r>
              <a:rPr lang="zh-CN" altLang="zh-CN" sz="1200" kern="1200" dirty="0">
                <a:solidFill>
                  <a:schemeClr val="tx1"/>
                </a:solidFill>
                <a:effectLst/>
                <a:latin typeface="+mn-lt"/>
                <a:ea typeface="+mn-ea"/>
                <a:cs typeface="+mn-cs"/>
              </a:rPr>
              <a:t>关联起来。</a:t>
            </a:r>
          </a:p>
          <a:p>
            <a:endParaRPr lang="zh-CN" altLang="en-US"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40</a:t>
            </a:fld>
            <a:endParaRPr lang="zh-CN" altLang="en-US"/>
          </a:p>
        </p:txBody>
      </p:sp>
    </p:spTree>
    <p:extLst>
      <p:ext uri="{BB962C8B-B14F-4D97-AF65-F5344CB8AC3E}">
        <p14:creationId xmlns:p14="http://schemas.microsoft.com/office/powerpoint/2010/main" val="343028359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ea typeface="+mn-ea"/>
                <a:cs typeface="+mn-cs"/>
              </a:rPr>
              <a:t>2. </a:t>
            </a:r>
            <a:r>
              <a:rPr lang="zh-CN" altLang="zh-CN" sz="1200" kern="1200" dirty="0">
                <a:solidFill>
                  <a:schemeClr val="tx1"/>
                </a:solidFill>
                <a:effectLst/>
                <a:latin typeface="+mn-lt"/>
                <a:ea typeface="+mn-ea"/>
                <a:cs typeface="+mn-cs"/>
              </a:rPr>
              <a:t>在符号表中，将</a:t>
            </a:r>
            <a:r>
              <a:rPr lang="en-US" altLang="zh-CN" sz="1200" kern="1200" dirty="0">
                <a:solidFill>
                  <a:schemeClr val="tx1"/>
                </a:solidFill>
                <a:effectLst/>
                <a:latin typeface="+mn-lt"/>
                <a:ea typeface="+mn-ea"/>
                <a:cs typeface="+mn-cs"/>
              </a:rPr>
              <a:t> t1</a:t>
            </a:r>
            <a:r>
              <a:rPr lang="zh-CN" altLang="en-US" sz="1200" kern="1200" dirty="0">
                <a:solidFill>
                  <a:schemeClr val="tx1"/>
                </a:solidFill>
                <a:effectLst/>
                <a:latin typeface="+mn-lt"/>
                <a:ea typeface="+mn-ea"/>
                <a:cs typeface="+mn-cs"/>
              </a:rPr>
              <a:t>的活跃信息和下次引用信息分别</a:t>
            </a:r>
            <a:r>
              <a:rPr lang="zh-CN" altLang="zh-CN" sz="1200" kern="1200" dirty="0">
                <a:solidFill>
                  <a:schemeClr val="tx1"/>
                </a:solidFill>
                <a:effectLst/>
                <a:latin typeface="+mn-lt"/>
                <a:ea typeface="+mn-ea"/>
                <a:cs typeface="+mn-cs"/>
              </a:rPr>
              <a:t>设置为</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不活跃</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无后续使用</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（因为？被重新计算了，之前的值被更改）</a:t>
            </a:r>
            <a:r>
              <a:rPr lang="zh-CN" altLang="zh-CN" sz="1200" kern="1200" dirty="0">
                <a:solidFill>
                  <a:schemeClr val="tx1"/>
                </a:solidFill>
                <a:effectLst/>
                <a:latin typeface="+mn-lt"/>
                <a:ea typeface="+mn-ea"/>
                <a:cs typeface="+mn-cs"/>
              </a:rPr>
              <a:t> </a:t>
            </a:r>
          </a:p>
          <a:p>
            <a:r>
              <a:rPr lang="en-US" altLang="zh-CN" sz="1200" kern="1200" dirty="0">
                <a:solidFill>
                  <a:schemeClr val="tx1"/>
                </a:solidFill>
                <a:effectLst/>
                <a:latin typeface="+mn-lt"/>
                <a:ea typeface="+mn-ea"/>
                <a:cs typeface="+mn-cs"/>
              </a:rPr>
              <a:t>3. </a:t>
            </a:r>
            <a:r>
              <a:rPr lang="zh-CN" altLang="zh-CN" sz="1200" kern="1200" dirty="0">
                <a:solidFill>
                  <a:schemeClr val="tx1"/>
                </a:solidFill>
                <a:effectLst/>
                <a:latin typeface="+mn-lt"/>
                <a:ea typeface="+mn-ea"/>
                <a:cs typeface="+mn-cs"/>
              </a:rPr>
              <a:t>在符号表中，将</a:t>
            </a:r>
            <a:r>
              <a:rPr lang="en-US" altLang="zh-CN" sz="1200" kern="1200" dirty="0">
                <a:solidFill>
                  <a:schemeClr val="tx1"/>
                </a:solidFill>
                <a:effectLst/>
                <a:latin typeface="+mn-lt"/>
                <a:ea typeface="+mn-ea"/>
                <a:cs typeface="+mn-cs"/>
              </a:rPr>
              <a:t> </a:t>
            </a:r>
            <a:r>
              <a:rPr lang="en-US" altLang="zh-CN" sz="1200" kern="1200" dirty="0" err="1">
                <a:solidFill>
                  <a:schemeClr val="tx1"/>
                </a:solidFill>
                <a:effectLst/>
                <a:latin typeface="+mn-lt"/>
                <a:ea typeface="+mn-ea"/>
                <a:cs typeface="+mn-cs"/>
              </a:rPr>
              <a:t>i</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设置为“活跃</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，并把它们的下一次使用设置为语句</a:t>
            </a:r>
            <a:r>
              <a:rPr lang="en-US" altLang="zh-CN" sz="1200" kern="1200" dirty="0">
                <a:solidFill>
                  <a:schemeClr val="tx1"/>
                </a:solidFill>
                <a:effectLst/>
                <a:latin typeface="+mn-lt"/>
                <a:ea typeface="+mn-ea"/>
                <a:cs typeface="+mn-cs"/>
              </a:rPr>
              <a:t>3</a:t>
            </a:r>
            <a:r>
              <a:rPr lang="zh-CN" altLang="zh-CN" sz="1200" kern="1200" dirty="0">
                <a:solidFill>
                  <a:schemeClr val="tx1"/>
                </a:solidFill>
                <a:effectLst/>
                <a:latin typeface="+mn-lt"/>
                <a:ea typeface="+mn-ea"/>
                <a:cs typeface="+mn-cs"/>
              </a:rPr>
              <a:t>。</a:t>
            </a:r>
          </a:p>
          <a:p>
            <a:endParaRPr lang="zh-CN" altLang="en-US"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41</a:t>
            </a:fld>
            <a:endParaRPr lang="zh-CN" altLang="en-US"/>
          </a:p>
        </p:txBody>
      </p:sp>
    </p:spTree>
    <p:extLst>
      <p:ext uri="{BB962C8B-B14F-4D97-AF65-F5344CB8AC3E}">
        <p14:creationId xmlns:p14="http://schemas.microsoft.com/office/powerpoint/2010/main" val="251110179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一旦中间代码程序被划分为基本块，我们就可以通过流图来表示它们之间的控制流。流图的节点是基本块。当且仅当块</a:t>
            </a:r>
            <a:r>
              <a:rPr lang="en-US" altLang="zh-CN" sz="1200" kern="1200" dirty="0">
                <a:solidFill>
                  <a:schemeClr val="tx1"/>
                </a:solidFill>
                <a:effectLst/>
                <a:latin typeface="+mn-lt"/>
                <a:ea typeface="+mn-ea"/>
                <a:cs typeface="+mn-cs"/>
              </a:rPr>
              <a:t> C </a:t>
            </a:r>
            <a:r>
              <a:rPr lang="zh-CN" altLang="zh-CN" sz="1200" kern="1200" dirty="0">
                <a:solidFill>
                  <a:schemeClr val="tx1"/>
                </a:solidFill>
                <a:effectLst/>
                <a:latin typeface="+mn-lt"/>
                <a:ea typeface="+mn-ea"/>
                <a:cs typeface="+mn-cs"/>
              </a:rPr>
              <a:t>中的第一条指令可能紧跟在块</a:t>
            </a:r>
            <a:r>
              <a:rPr lang="en-US" altLang="zh-CN" sz="1200" kern="1200" dirty="0">
                <a:solidFill>
                  <a:schemeClr val="tx1"/>
                </a:solidFill>
                <a:effectLst/>
                <a:latin typeface="+mn-lt"/>
                <a:ea typeface="+mn-ea"/>
                <a:cs typeface="+mn-cs"/>
              </a:rPr>
              <a:t> B </a:t>
            </a:r>
            <a:r>
              <a:rPr lang="zh-CN" altLang="zh-CN" sz="1200" kern="1200" dirty="0">
                <a:solidFill>
                  <a:schemeClr val="tx1"/>
                </a:solidFill>
                <a:effectLst/>
                <a:latin typeface="+mn-lt"/>
                <a:ea typeface="+mn-ea"/>
                <a:cs typeface="+mn-cs"/>
              </a:rPr>
              <a:t>中的最后一条指令之后时，才存在从块</a:t>
            </a:r>
            <a:r>
              <a:rPr lang="en-US" altLang="zh-CN" sz="1200" kern="1200" dirty="0">
                <a:solidFill>
                  <a:schemeClr val="tx1"/>
                </a:solidFill>
                <a:effectLst/>
                <a:latin typeface="+mn-lt"/>
                <a:ea typeface="+mn-ea"/>
                <a:cs typeface="+mn-cs"/>
              </a:rPr>
              <a:t> B </a:t>
            </a:r>
            <a:r>
              <a:rPr lang="zh-CN" altLang="zh-CN" sz="1200" kern="1200" dirty="0">
                <a:solidFill>
                  <a:schemeClr val="tx1"/>
                </a:solidFill>
                <a:effectLst/>
                <a:latin typeface="+mn-lt"/>
                <a:ea typeface="+mn-ea"/>
                <a:cs typeface="+mn-cs"/>
              </a:rPr>
              <a:t>到块</a:t>
            </a:r>
            <a:r>
              <a:rPr lang="en-US" altLang="zh-CN" sz="1200" kern="1200" dirty="0">
                <a:solidFill>
                  <a:schemeClr val="tx1"/>
                </a:solidFill>
                <a:effectLst/>
                <a:latin typeface="+mn-lt"/>
                <a:ea typeface="+mn-ea"/>
                <a:cs typeface="+mn-cs"/>
              </a:rPr>
              <a:t> C </a:t>
            </a:r>
            <a:r>
              <a:rPr lang="zh-CN" altLang="zh-CN" sz="1200" kern="1200" dirty="0">
                <a:solidFill>
                  <a:schemeClr val="tx1"/>
                </a:solidFill>
                <a:effectLst/>
                <a:latin typeface="+mn-lt"/>
                <a:ea typeface="+mn-ea"/>
                <a:cs typeface="+mn-cs"/>
              </a:rPr>
              <a:t>的边沿。存在这样的一条边的原因有两种：</a:t>
            </a:r>
          </a:p>
          <a:p>
            <a:pPr marL="0" indent="0">
              <a:buFont typeface="Arial" panose="020B0604020202020204" pitchFamily="34" charset="0"/>
              <a:buNone/>
            </a:pPr>
            <a:r>
              <a:rPr lang="en-US" altLang="zh-CN" sz="1200" kern="1200" dirty="0">
                <a:solidFill>
                  <a:schemeClr val="tx1"/>
                </a:solidFill>
                <a:effectLst/>
                <a:latin typeface="+mn-lt"/>
                <a:ea typeface="+mn-ea"/>
                <a:cs typeface="+mn-cs"/>
              </a:rPr>
              <a:t>Case1:</a:t>
            </a:r>
            <a:r>
              <a:rPr lang="zh-CN" altLang="zh-CN" sz="1200" kern="1200" dirty="0">
                <a:solidFill>
                  <a:schemeClr val="tx1"/>
                </a:solidFill>
                <a:effectLst/>
                <a:latin typeface="+mn-lt"/>
                <a:ea typeface="+mn-ea"/>
                <a:cs typeface="+mn-cs"/>
              </a:rPr>
              <a:t>有一个从</a:t>
            </a:r>
            <a:r>
              <a:rPr lang="en-US" altLang="zh-CN" sz="1200" kern="1200" dirty="0">
                <a:solidFill>
                  <a:schemeClr val="tx1"/>
                </a:solidFill>
                <a:effectLst/>
                <a:latin typeface="+mn-lt"/>
                <a:ea typeface="+mn-ea"/>
                <a:cs typeface="+mn-cs"/>
              </a:rPr>
              <a:t> B </a:t>
            </a:r>
            <a:r>
              <a:rPr lang="zh-CN" altLang="zh-CN" sz="1200" kern="1200" dirty="0">
                <a:solidFill>
                  <a:schemeClr val="tx1"/>
                </a:solidFill>
                <a:effectLst/>
                <a:latin typeface="+mn-lt"/>
                <a:ea typeface="+mn-ea"/>
                <a:cs typeface="+mn-cs"/>
              </a:rPr>
              <a:t>的末尾到</a:t>
            </a:r>
            <a:r>
              <a:rPr lang="en-US" altLang="zh-CN" sz="1200" kern="1200" dirty="0">
                <a:solidFill>
                  <a:schemeClr val="tx1"/>
                </a:solidFill>
                <a:effectLst/>
                <a:latin typeface="+mn-lt"/>
                <a:ea typeface="+mn-ea"/>
                <a:cs typeface="+mn-cs"/>
              </a:rPr>
              <a:t> C </a:t>
            </a:r>
            <a:r>
              <a:rPr lang="zh-CN" altLang="zh-CN" sz="1200" kern="1200" dirty="0">
                <a:solidFill>
                  <a:schemeClr val="tx1"/>
                </a:solidFill>
                <a:effectLst/>
                <a:latin typeface="+mn-lt"/>
                <a:ea typeface="+mn-ea"/>
                <a:cs typeface="+mn-cs"/>
              </a:rPr>
              <a:t>的开头的有条件或无条件跳转。</a:t>
            </a:r>
          </a:p>
          <a:p>
            <a:pPr marL="0" indent="0">
              <a:buFont typeface="Arial" panose="020B0604020202020204" pitchFamily="34" charset="0"/>
              <a:buNone/>
            </a:pPr>
            <a:r>
              <a:rPr lang="en-US" altLang="zh-CN" sz="1200" kern="1200" dirty="0">
                <a:solidFill>
                  <a:schemeClr val="tx1"/>
                </a:solidFill>
                <a:effectLst/>
                <a:latin typeface="+mn-lt"/>
                <a:ea typeface="+mn-ea"/>
                <a:cs typeface="+mn-cs"/>
              </a:rPr>
              <a:t>Case2:</a:t>
            </a:r>
            <a:r>
              <a:rPr lang="zh-CN" altLang="zh-CN" sz="1200" kern="1200" dirty="0">
                <a:solidFill>
                  <a:schemeClr val="tx1"/>
                </a:solidFill>
                <a:effectLst/>
                <a:latin typeface="+mn-lt"/>
                <a:ea typeface="+mn-ea"/>
                <a:cs typeface="+mn-cs"/>
              </a:rPr>
              <a:t>按照原来的三地址指令序列中的顺序，</a:t>
            </a:r>
            <a:r>
              <a:rPr lang="en-US" altLang="zh-CN" sz="1200" kern="1200" dirty="0">
                <a:solidFill>
                  <a:schemeClr val="tx1"/>
                </a:solidFill>
                <a:effectLst/>
                <a:latin typeface="+mn-lt"/>
                <a:ea typeface="+mn-ea"/>
                <a:cs typeface="+mn-cs"/>
              </a:rPr>
              <a:t>C </a:t>
            </a:r>
            <a:r>
              <a:rPr lang="zh-CN" altLang="zh-CN" sz="1200" kern="1200" dirty="0">
                <a:solidFill>
                  <a:schemeClr val="tx1"/>
                </a:solidFill>
                <a:effectLst/>
                <a:latin typeface="+mn-lt"/>
                <a:ea typeface="+mn-ea"/>
                <a:cs typeface="+mn-cs"/>
              </a:rPr>
              <a:t>紧跟在</a:t>
            </a:r>
            <a:r>
              <a:rPr lang="en-US" altLang="zh-CN" sz="1200" kern="1200" dirty="0">
                <a:solidFill>
                  <a:schemeClr val="tx1"/>
                </a:solidFill>
                <a:effectLst/>
                <a:latin typeface="+mn-lt"/>
                <a:ea typeface="+mn-ea"/>
                <a:cs typeface="+mn-cs"/>
              </a:rPr>
              <a:t> B </a:t>
            </a:r>
            <a:r>
              <a:rPr lang="zh-CN" altLang="zh-CN" sz="1200" kern="1200" dirty="0">
                <a:solidFill>
                  <a:schemeClr val="tx1"/>
                </a:solidFill>
                <a:effectLst/>
                <a:latin typeface="+mn-lt"/>
                <a:ea typeface="+mn-ea"/>
                <a:cs typeface="+mn-cs"/>
              </a:rPr>
              <a:t>之后，且</a:t>
            </a:r>
            <a:r>
              <a:rPr lang="en-US" altLang="zh-CN" sz="1200" kern="1200" dirty="0">
                <a:solidFill>
                  <a:schemeClr val="tx1"/>
                </a:solidFill>
                <a:effectLst/>
                <a:latin typeface="+mn-lt"/>
                <a:ea typeface="+mn-ea"/>
                <a:cs typeface="+mn-cs"/>
              </a:rPr>
              <a:t> B</a:t>
            </a:r>
            <a:r>
              <a:rPr lang="zh-CN" altLang="zh-CN" sz="1200" kern="1200" dirty="0">
                <a:solidFill>
                  <a:schemeClr val="tx1"/>
                </a:solidFill>
                <a:effectLst/>
                <a:latin typeface="+mn-lt"/>
                <a:ea typeface="+mn-ea"/>
                <a:cs typeface="+mn-cs"/>
              </a:rPr>
              <a:t>的结尾不存在无条件跳转语句。</a:t>
            </a:r>
          </a:p>
          <a:p>
            <a:pPr marL="171450" indent="-171450">
              <a:buFont typeface="Arial" panose="020B0604020202020204" pitchFamily="34" charset="0"/>
              <a:buChar char="•"/>
            </a:pPr>
            <a:r>
              <a:rPr lang="zh-CN" altLang="zh-CN" sz="1200" kern="1200" dirty="0">
                <a:solidFill>
                  <a:schemeClr val="tx1"/>
                </a:solidFill>
                <a:effectLst/>
                <a:latin typeface="+mn-lt"/>
                <a:ea typeface="+mn-ea"/>
                <a:cs typeface="+mn-cs"/>
              </a:rPr>
              <a:t>我们说</a:t>
            </a:r>
            <a:r>
              <a:rPr lang="en-US" altLang="zh-CN" sz="1200" kern="1200" dirty="0">
                <a:solidFill>
                  <a:schemeClr val="tx1"/>
                </a:solidFill>
                <a:effectLst/>
                <a:latin typeface="+mn-lt"/>
                <a:ea typeface="+mn-ea"/>
                <a:cs typeface="+mn-cs"/>
              </a:rPr>
              <a:t> B </a:t>
            </a:r>
            <a:r>
              <a:rPr lang="zh-CN" altLang="zh-CN" sz="1200" kern="1200" dirty="0">
                <a:solidFill>
                  <a:schemeClr val="tx1"/>
                </a:solidFill>
                <a:effectLst/>
                <a:latin typeface="+mn-lt"/>
                <a:ea typeface="+mn-ea"/>
                <a:cs typeface="+mn-cs"/>
              </a:rPr>
              <a:t>是</a:t>
            </a:r>
            <a:r>
              <a:rPr lang="en-US" altLang="zh-CN" sz="1200" kern="1200" dirty="0">
                <a:solidFill>
                  <a:schemeClr val="tx1"/>
                </a:solidFill>
                <a:effectLst/>
                <a:latin typeface="+mn-lt"/>
                <a:ea typeface="+mn-ea"/>
                <a:cs typeface="+mn-cs"/>
              </a:rPr>
              <a:t> C </a:t>
            </a:r>
            <a:r>
              <a:rPr lang="zh-CN" altLang="zh-CN" sz="1200" kern="1200" dirty="0">
                <a:solidFill>
                  <a:schemeClr val="tx1"/>
                </a:solidFill>
                <a:effectLst/>
                <a:latin typeface="+mn-lt"/>
                <a:ea typeface="+mn-ea"/>
                <a:cs typeface="+mn-cs"/>
              </a:rPr>
              <a:t>的前</a:t>
            </a:r>
            <a:r>
              <a:rPr lang="zh-CN" altLang="en-US" sz="1200" kern="1200" dirty="0">
                <a:solidFill>
                  <a:schemeClr val="tx1"/>
                </a:solidFill>
                <a:effectLst/>
                <a:latin typeface="+mn-lt"/>
                <a:ea typeface="+mn-ea"/>
                <a:cs typeface="+mn-cs"/>
              </a:rPr>
              <a:t>驱</a:t>
            </a:r>
            <a:r>
              <a:rPr lang="zh-CN" altLang="zh-CN" sz="1200" kern="1200" dirty="0">
                <a:solidFill>
                  <a:schemeClr val="tx1"/>
                </a:solidFill>
                <a:effectLst/>
                <a:latin typeface="+mn-lt"/>
                <a:ea typeface="+mn-ea"/>
                <a:cs typeface="+mn-cs"/>
              </a:rPr>
              <a:t>，而</a:t>
            </a:r>
            <a:r>
              <a:rPr lang="en-US" altLang="zh-CN" sz="1200" kern="1200" dirty="0">
                <a:solidFill>
                  <a:schemeClr val="tx1"/>
                </a:solidFill>
                <a:effectLst/>
                <a:latin typeface="+mn-lt"/>
                <a:ea typeface="+mn-ea"/>
                <a:cs typeface="+mn-cs"/>
              </a:rPr>
              <a:t> C </a:t>
            </a:r>
            <a:r>
              <a:rPr lang="zh-CN" altLang="zh-CN" sz="1200" kern="1200" dirty="0">
                <a:solidFill>
                  <a:schemeClr val="tx1"/>
                </a:solidFill>
                <a:effectLst/>
                <a:latin typeface="+mn-lt"/>
                <a:ea typeface="+mn-ea"/>
                <a:cs typeface="+mn-cs"/>
              </a:rPr>
              <a:t>是</a:t>
            </a:r>
            <a:r>
              <a:rPr lang="en-US" altLang="zh-CN" sz="1200" kern="1200" dirty="0">
                <a:solidFill>
                  <a:schemeClr val="tx1"/>
                </a:solidFill>
                <a:effectLst/>
                <a:latin typeface="+mn-lt"/>
                <a:ea typeface="+mn-ea"/>
                <a:cs typeface="+mn-cs"/>
              </a:rPr>
              <a:t> B </a:t>
            </a:r>
            <a:r>
              <a:rPr lang="zh-CN" altLang="zh-CN" sz="1200" kern="1200" dirty="0">
                <a:solidFill>
                  <a:schemeClr val="tx1"/>
                </a:solidFill>
                <a:effectLst/>
                <a:latin typeface="+mn-lt"/>
                <a:ea typeface="+mn-ea"/>
                <a:cs typeface="+mn-cs"/>
              </a:rPr>
              <a:t>的后继。</a:t>
            </a:r>
            <a:endParaRPr lang="en-US" altLang="zh-CN" sz="1200" kern="1200" dirty="0">
              <a:solidFill>
                <a:schemeClr val="tx1"/>
              </a:solidFill>
              <a:effectLst/>
              <a:latin typeface="+mn-lt"/>
              <a:ea typeface="+mn-ea"/>
              <a:cs typeface="+mn-cs"/>
            </a:endParaRPr>
          </a:p>
          <a:p>
            <a:pPr marL="0" indent="0">
              <a:buFont typeface="Arial" panose="020B0604020202020204" pitchFamily="34" charset="0"/>
              <a:buNone/>
            </a:pPr>
            <a:r>
              <a:rPr lang="zh-CN" altLang="zh-CN" sz="1200" kern="1200" dirty="0">
                <a:solidFill>
                  <a:schemeClr val="tx1"/>
                </a:solidFill>
                <a:effectLst/>
                <a:latin typeface="+mn-lt"/>
                <a:ea typeface="+mn-ea"/>
                <a:cs typeface="+mn-cs"/>
              </a:rPr>
              <a:t>通常我们会添加两个分别称为入口和出口的结点</a:t>
            </a:r>
            <a:endParaRPr lang="en-US" altLang="zh-CN" sz="1200" kern="1200" dirty="0">
              <a:solidFill>
                <a:schemeClr val="tx1"/>
              </a:solidFill>
              <a:effectLst/>
              <a:latin typeface="+mn-lt"/>
              <a:ea typeface="+mn-ea"/>
              <a:cs typeface="+mn-cs"/>
            </a:endParaRPr>
          </a:p>
          <a:p>
            <a:pPr marL="171450" indent="-171450">
              <a:buFont typeface="Arial" panose="020B0604020202020204" pitchFamily="34" charset="0"/>
              <a:buChar char="•"/>
            </a:pPr>
            <a:r>
              <a:rPr lang="zh-CN" altLang="zh-CN" sz="1200" kern="1200" dirty="0">
                <a:solidFill>
                  <a:schemeClr val="tx1"/>
                </a:solidFill>
                <a:effectLst/>
                <a:latin typeface="+mn-lt"/>
                <a:ea typeface="+mn-ea"/>
                <a:cs typeface="+mn-cs"/>
              </a:rPr>
              <a:t>它们不和任何可执行的中间指令对应。</a:t>
            </a:r>
            <a:endParaRPr lang="en-US" altLang="zh-CN" sz="1200" kern="1200" dirty="0">
              <a:solidFill>
                <a:schemeClr val="tx1"/>
              </a:solidFill>
              <a:effectLst/>
              <a:latin typeface="+mn-lt"/>
              <a:ea typeface="+mn-ea"/>
              <a:cs typeface="+mn-cs"/>
            </a:endParaRPr>
          </a:p>
          <a:p>
            <a:pPr marL="171450" indent="-171450">
              <a:buFont typeface="Arial" panose="020B0604020202020204" pitchFamily="34" charset="0"/>
              <a:buChar char="•"/>
            </a:pPr>
            <a:r>
              <a:rPr lang="zh-CN" altLang="zh-CN" sz="1200" kern="1200" dirty="0">
                <a:solidFill>
                  <a:schemeClr val="tx1"/>
                </a:solidFill>
                <a:effectLst/>
                <a:latin typeface="+mn-lt"/>
                <a:ea typeface="+mn-ea"/>
                <a:cs typeface="+mn-cs"/>
              </a:rPr>
              <a:t>从入口到流图的第一个可执行节点（即包含了中间代码的第一条指令的基本块）有一条边。从任何包含了可能是程序的最后执行指令的基本块到出口有一条边。如果程序的最后指令不是一个无条件跳转，则包含了程序最后指令的块是出口结点的一个前驱。但任何包含了跳转到程序之外的跳转指令的基本块也是出口结点的前驱。</a:t>
            </a:r>
            <a:endParaRPr lang="zh-CN" altLang="zh-CN" sz="1200" b="1" kern="1200" dirty="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42</a:t>
            </a:fld>
            <a:endParaRPr lang="zh-CN" altLang="en-US"/>
          </a:p>
        </p:txBody>
      </p:sp>
    </p:spTree>
    <p:extLst>
      <p:ext uri="{BB962C8B-B14F-4D97-AF65-F5344CB8AC3E}">
        <p14:creationId xmlns:p14="http://schemas.microsoft.com/office/powerpoint/2010/main" val="237135847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例</a:t>
            </a:r>
            <a:r>
              <a:rPr lang="en-US" altLang="zh-CN" sz="1200" kern="1200" dirty="0">
                <a:solidFill>
                  <a:schemeClr val="tx1"/>
                </a:solidFill>
                <a:effectLst/>
                <a:latin typeface="+mn-lt"/>
                <a:ea typeface="+mn-ea"/>
                <a:cs typeface="+mn-cs"/>
              </a:rPr>
              <a:t> 8.8</a:t>
            </a:r>
            <a:r>
              <a:rPr lang="zh-CN" altLang="zh-CN" sz="1200" kern="1200" dirty="0">
                <a:solidFill>
                  <a:schemeClr val="tx1"/>
                </a:solidFill>
                <a:effectLst/>
                <a:latin typeface="+mn-lt"/>
                <a:ea typeface="+mn-ea"/>
                <a:cs typeface="+mn-cs"/>
              </a:rPr>
              <a:t>：例</a:t>
            </a:r>
            <a:r>
              <a:rPr lang="en-US" altLang="zh-CN" sz="1200" kern="1200" dirty="0">
                <a:solidFill>
                  <a:schemeClr val="tx1"/>
                </a:solidFill>
                <a:effectLst/>
                <a:latin typeface="+mn-lt"/>
                <a:ea typeface="+mn-ea"/>
                <a:cs typeface="+mn-cs"/>
              </a:rPr>
              <a:t> 8.6 </a:t>
            </a:r>
            <a:r>
              <a:rPr lang="zh-CN" altLang="en-US"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10X10</a:t>
            </a:r>
            <a:r>
              <a:rPr lang="zh-CN" altLang="en-US" sz="1200" kern="1200" dirty="0">
                <a:solidFill>
                  <a:schemeClr val="tx1"/>
                </a:solidFill>
                <a:effectLst/>
                <a:latin typeface="+mn-lt"/>
                <a:ea typeface="+mn-ea"/>
                <a:cs typeface="+mn-cs"/>
              </a:rPr>
              <a:t>矩阵转成单位阵）</a:t>
            </a:r>
            <a:r>
              <a:rPr lang="zh-CN" altLang="zh-CN" sz="1200" kern="1200" dirty="0">
                <a:solidFill>
                  <a:schemeClr val="tx1"/>
                </a:solidFill>
                <a:effectLst/>
                <a:latin typeface="+mn-lt"/>
                <a:ea typeface="+mn-ea"/>
                <a:cs typeface="+mn-cs"/>
              </a:rPr>
              <a:t>中构造的一组基本块可以生成图</a:t>
            </a:r>
            <a:r>
              <a:rPr lang="en-US" altLang="zh-CN" sz="1200" kern="1200" dirty="0">
                <a:solidFill>
                  <a:schemeClr val="tx1"/>
                </a:solidFill>
                <a:effectLst/>
                <a:latin typeface="+mn-lt"/>
                <a:ea typeface="+mn-ea"/>
                <a:cs typeface="+mn-cs"/>
              </a:rPr>
              <a:t> 8.9 </a:t>
            </a:r>
            <a:r>
              <a:rPr lang="zh-CN" altLang="zh-CN" sz="1200" kern="1200" dirty="0">
                <a:solidFill>
                  <a:schemeClr val="tx1"/>
                </a:solidFill>
                <a:effectLst/>
                <a:latin typeface="+mn-lt"/>
                <a:ea typeface="+mn-ea"/>
                <a:cs typeface="+mn-cs"/>
              </a:rPr>
              <a:t>的流图。入口点指向基本块</a:t>
            </a:r>
            <a:r>
              <a:rPr lang="en-US" altLang="zh-CN" sz="1200" kern="1200" dirty="0">
                <a:solidFill>
                  <a:schemeClr val="tx1"/>
                </a:solidFill>
                <a:effectLst/>
                <a:latin typeface="+mn-lt"/>
                <a:ea typeface="+mn-ea"/>
                <a:cs typeface="+mn-cs"/>
              </a:rPr>
              <a:t>B1</a:t>
            </a:r>
            <a:r>
              <a:rPr lang="zh-CN" altLang="zh-CN" sz="1200" kern="1200" dirty="0">
                <a:solidFill>
                  <a:schemeClr val="tx1"/>
                </a:solidFill>
                <a:effectLst/>
                <a:latin typeface="+mn-lt"/>
                <a:ea typeface="+mn-ea"/>
                <a:cs typeface="+mn-cs"/>
              </a:rPr>
              <a:t>，因为</a:t>
            </a:r>
            <a:r>
              <a:rPr lang="en-US" altLang="zh-CN" sz="1200" kern="1200" dirty="0">
                <a:solidFill>
                  <a:schemeClr val="tx1"/>
                </a:solidFill>
                <a:effectLst/>
                <a:latin typeface="+mn-lt"/>
                <a:ea typeface="+mn-ea"/>
                <a:cs typeface="+mn-cs"/>
              </a:rPr>
              <a:t>B1</a:t>
            </a:r>
            <a:r>
              <a:rPr lang="zh-CN" altLang="zh-CN" sz="1200" kern="1200" dirty="0">
                <a:solidFill>
                  <a:schemeClr val="tx1"/>
                </a:solidFill>
                <a:effectLst/>
                <a:latin typeface="+mn-lt"/>
                <a:ea typeface="+mn-ea"/>
                <a:cs typeface="+mn-cs"/>
              </a:rPr>
              <a:t>包含程序的第一条指令。</a:t>
            </a:r>
            <a:r>
              <a:rPr lang="en-US" altLang="zh-CN" sz="1200" kern="1200" dirty="0">
                <a:solidFill>
                  <a:schemeClr val="tx1"/>
                </a:solidFill>
                <a:effectLst/>
                <a:latin typeface="+mn-lt"/>
                <a:ea typeface="+mn-ea"/>
                <a:cs typeface="+mn-cs"/>
              </a:rPr>
              <a:t> B1 </a:t>
            </a:r>
            <a:r>
              <a:rPr lang="zh-CN" altLang="zh-CN" sz="1200" kern="1200" dirty="0">
                <a:solidFill>
                  <a:schemeClr val="tx1"/>
                </a:solidFill>
                <a:effectLst/>
                <a:latin typeface="+mn-lt"/>
                <a:ea typeface="+mn-ea"/>
                <a:cs typeface="+mn-cs"/>
              </a:rPr>
              <a:t>的唯一后继者是</a:t>
            </a:r>
            <a:r>
              <a:rPr lang="en-US" altLang="zh-CN" sz="1200" kern="1200" dirty="0">
                <a:solidFill>
                  <a:schemeClr val="tx1"/>
                </a:solidFill>
                <a:effectLst/>
                <a:latin typeface="+mn-lt"/>
                <a:ea typeface="+mn-ea"/>
                <a:cs typeface="+mn-cs"/>
              </a:rPr>
              <a:t> B2</a:t>
            </a:r>
            <a:r>
              <a:rPr lang="zh-CN" altLang="zh-CN" sz="1200" kern="1200" dirty="0">
                <a:solidFill>
                  <a:schemeClr val="tx1"/>
                </a:solidFill>
                <a:effectLst/>
                <a:latin typeface="+mn-lt"/>
                <a:ea typeface="+mn-ea"/>
                <a:cs typeface="+mn-cs"/>
              </a:rPr>
              <a:t>，因为</a:t>
            </a:r>
            <a:r>
              <a:rPr lang="en-US" altLang="zh-CN" sz="1200" kern="1200" dirty="0">
                <a:solidFill>
                  <a:schemeClr val="tx1"/>
                </a:solidFill>
                <a:effectLst/>
                <a:latin typeface="+mn-lt"/>
                <a:ea typeface="+mn-ea"/>
                <a:cs typeface="+mn-cs"/>
              </a:rPr>
              <a:t> B1 </a:t>
            </a:r>
            <a:r>
              <a:rPr lang="zh-CN" altLang="zh-CN" sz="1200" kern="1200" dirty="0">
                <a:solidFill>
                  <a:schemeClr val="tx1"/>
                </a:solidFill>
                <a:effectLst/>
                <a:latin typeface="+mn-lt"/>
                <a:ea typeface="+mn-ea"/>
                <a:cs typeface="+mn-cs"/>
              </a:rPr>
              <a:t>的结尾不是一个无条件跳指令，且</a:t>
            </a:r>
            <a:r>
              <a:rPr lang="en-US" altLang="zh-CN" sz="1200" kern="1200" dirty="0">
                <a:solidFill>
                  <a:schemeClr val="tx1"/>
                </a:solidFill>
                <a:effectLst/>
                <a:latin typeface="+mn-lt"/>
                <a:ea typeface="+mn-ea"/>
                <a:cs typeface="+mn-cs"/>
              </a:rPr>
              <a:t> B2 </a:t>
            </a:r>
            <a:r>
              <a:rPr lang="zh-CN" altLang="zh-CN" sz="1200" kern="1200" dirty="0">
                <a:solidFill>
                  <a:schemeClr val="tx1"/>
                </a:solidFill>
                <a:effectLst/>
                <a:latin typeface="+mn-lt"/>
                <a:ea typeface="+mn-ea"/>
                <a:cs typeface="+mn-cs"/>
              </a:rPr>
              <a:t>的首指令紧跟在</a:t>
            </a:r>
            <a:r>
              <a:rPr lang="en-US" altLang="zh-CN" sz="1200" kern="1200" dirty="0">
                <a:solidFill>
                  <a:schemeClr val="tx1"/>
                </a:solidFill>
                <a:effectLst/>
                <a:latin typeface="+mn-lt"/>
                <a:ea typeface="+mn-ea"/>
                <a:cs typeface="+mn-cs"/>
              </a:rPr>
              <a:t> B1 </a:t>
            </a:r>
            <a:r>
              <a:rPr lang="zh-CN" altLang="zh-CN" sz="1200" kern="1200" dirty="0">
                <a:solidFill>
                  <a:schemeClr val="tx1"/>
                </a:solidFill>
                <a:effectLst/>
                <a:latin typeface="+mn-lt"/>
                <a:ea typeface="+mn-ea"/>
                <a:cs typeface="+mn-cs"/>
              </a:rPr>
              <a:t>的结尾指令之后。</a:t>
            </a:r>
          </a:p>
          <a:p>
            <a:r>
              <a:rPr lang="zh-CN" altLang="zh-CN" sz="1200" kern="1200" dirty="0">
                <a:solidFill>
                  <a:schemeClr val="tx1"/>
                </a:solidFill>
                <a:effectLst/>
                <a:latin typeface="+mn-lt"/>
                <a:ea typeface="+mn-ea"/>
                <a:cs typeface="+mn-cs"/>
              </a:rPr>
              <a:t>基本块</a:t>
            </a:r>
            <a:r>
              <a:rPr lang="en-US" altLang="zh-CN" sz="1200" kern="1200" dirty="0">
                <a:solidFill>
                  <a:schemeClr val="tx1"/>
                </a:solidFill>
                <a:effectLst/>
                <a:latin typeface="+mn-lt"/>
                <a:ea typeface="+mn-ea"/>
                <a:cs typeface="+mn-cs"/>
              </a:rPr>
              <a:t>B3</a:t>
            </a:r>
            <a:r>
              <a:rPr lang="zh-CN" altLang="zh-CN" sz="1200" kern="1200" dirty="0">
                <a:solidFill>
                  <a:schemeClr val="tx1"/>
                </a:solidFill>
                <a:effectLst/>
                <a:latin typeface="+mn-lt"/>
                <a:ea typeface="+mn-ea"/>
                <a:cs typeface="+mn-cs"/>
              </a:rPr>
              <a:t>有两个后继。其中的一个是它本身，因为</a:t>
            </a:r>
            <a:r>
              <a:rPr lang="en-US" altLang="zh-CN" sz="1200" kern="1200" dirty="0">
                <a:solidFill>
                  <a:schemeClr val="tx1"/>
                </a:solidFill>
                <a:effectLst/>
                <a:latin typeface="+mn-lt"/>
                <a:ea typeface="+mn-ea"/>
                <a:cs typeface="+mn-cs"/>
              </a:rPr>
              <a:t> B3 </a:t>
            </a:r>
            <a:r>
              <a:rPr lang="zh-CN" altLang="zh-CN" sz="1200" kern="1200" dirty="0">
                <a:solidFill>
                  <a:schemeClr val="tx1"/>
                </a:solidFill>
                <a:effectLst/>
                <a:latin typeface="+mn-lt"/>
                <a:ea typeface="+mn-ea"/>
                <a:cs typeface="+mn-cs"/>
              </a:rPr>
              <a:t>的首指令</a:t>
            </a:r>
            <a:r>
              <a:rPr lang="zh-CN" altLang="en-US" sz="1200" kern="1200" dirty="0">
                <a:solidFill>
                  <a:schemeClr val="tx1"/>
                </a:solidFill>
                <a:effectLst/>
                <a:latin typeface="+mn-lt"/>
                <a:ea typeface="+mn-ea"/>
                <a:cs typeface="+mn-cs"/>
              </a:rPr>
              <a:t>（指令</a:t>
            </a:r>
            <a:r>
              <a:rPr lang="en-US" altLang="zh-CN" sz="1200" kern="1200" dirty="0">
                <a:solidFill>
                  <a:schemeClr val="tx1"/>
                </a:solidFill>
                <a:effectLst/>
                <a:latin typeface="+mn-lt"/>
                <a:ea typeface="+mn-ea"/>
                <a:cs typeface="+mn-cs"/>
              </a:rPr>
              <a:t> 3</a:t>
            </a:r>
            <a:r>
              <a:rPr lang="zh-CN" altLang="en-US"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是</a:t>
            </a:r>
            <a:r>
              <a:rPr lang="en-US" altLang="zh-CN" sz="1200" kern="1200" dirty="0">
                <a:solidFill>
                  <a:schemeClr val="tx1"/>
                </a:solidFill>
                <a:effectLst/>
                <a:latin typeface="+mn-lt"/>
                <a:ea typeface="+mn-ea"/>
                <a:cs typeface="+mn-cs"/>
              </a:rPr>
              <a:t> B3</a:t>
            </a:r>
            <a:r>
              <a:rPr lang="zh-CN" altLang="zh-CN" sz="1200" kern="1200" dirty="0">
                <a:solidFill>
                  <a:schemeClr val="tx1"/>
                </a:solidFill>
                <a:effectLst/>
                <a:latin typeface="+mn-lt"/>
                <a:ea typeface="+mn-ea"/>
                <a:cs typeface="+mn-cs"/>
              </a:rPr>
              <a:t>结尾处的条件跳转指令</a:t>
            </a:r>
            <a:r>
              <a:rPr lang="zh-CN" altLang="en-US" sz="1200" kern="1200" dirty="0">
                <a:solidFill>
                  <a:schemeClr val="tx1"/>
                </a:solidFill>
                <a:effectLst/>
                <a:latin typeface="+mn-lt"/>
                <a:ea typeface="+mn-ea"/>
                <a:cs typeface="+mn-cs"/>
              </a:rPr>
              <a:t>（指令</a:t>
            </a:r>
            <a:r>
              <a:rPr lang="en-US" altLang="zh-CN" sz="1200" kern="1200" dirty="0">
                <a:solidFill>
                  <a:schemeClr val="tx1"/>
                </a:solidFill>
                <a:effectLst/>
                <a:latin typeface="+mn-lt"/>
                <a:ea typeface="+mn-ea"/>
                <a:cs typeface="+mn-cs"/>
              </a:rPr>
              <a:t> 9</a:t>
            </a:r>
            <a:r>
              <a:rPr lang="zh-CN" altLang="en-US"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的目标。另一个后继是</a:t>
            </a:r>
            <a:r>
              <a:rPr lang="en-US" altLang="zh-CN" sz="1200" kern="1200" dirty="0">
                <a:solidFill>
                  <a:schemeClr val="tx1"/>
                </a:solidFill>
                <a:effectLst/>
                <a:latin typeface="+mn-lt"/>
                <a:ea typeface="+mn-ea"/>
                <a:cs typeface="+mn-cs"/>
              </a:rPr>
              <a:t> B4</a:t>
            </a:r>
            <a:r>
              <a:rPr lang="zh-CN" altLang="zh-CN" sz="1200" kern="1200" dirty="0">
                <a:solidFill>
                  <a:schemeClr val="tx1"/>
                </a:solidFill>
                <a:effectLst/>
                <a:latin typeface="+mn-lt"/>
                <a:ea typeface="+mn-ea"/>
                <a:cs typeface="+mn-cs"/>
              </a:rPr>
              <a:t>，因为控制可以穿越</a:t>
            </a:r>
            <a:r>
              <a:rPr lang="en-US" altLang="zh-CN" sz="1200" kern="1200" dirty="0">
                <a:solidFill>
                  <a:schemeClr val="tx1"/>
                </a:solidFill>
                <a:effectLst/>
                <a:latin typeface="+mn-lt"/>
                <a:ea typeface="+mn-ea"/>
                <a:cs typeface="+mn-cs"/>
              </a:rPr>
              <a:t> B3 </a:t>
            </a:r>
            <a:r>
              <a:rPr lang="zh-CN" altLang="zh-CN" sz="1200" kern="1200" dirty="0">
                <a:solidFill>
                  <a:schemeClr val="tx1"/>
                </a:solidFill>
                <a:effectLst/>
                <a:latin typeface="+mn-lt"/>
                <a:ea typeface="+mn-ea"/>
                <a:cs typeface="+mn-cs"/>
              </a:rPr>
              <a:t>结尾处的条件跳转指令而到达</a:t>
            </a:r>
            <a:r>
              <a:rPr lang="en-US" altLang="zh-CN" sz="1200" kern="1200" dirty="0">
                <a:solidFill>
                  <a:schemeClr val="tx1"/>
                </a:solidFill>
                <a:effectLst/>
                <a:latin typeface="+mn-lt"/>
                <a:ea typeface="+mn-ea"/>
                <a:cs typeface="+mn-cs"/>
              </a:rPr>
              <a:t>B4</a:t>
            </a:r>
            <a:r>
              <a:rPr lang="zh-CN" altLang="zh-CN" sz="1200" kern="1200" dirty="0">
                <a:solidFill>
                  <a:schemeClr val="tx1"/>
                </a:solidFill>
                <a:effectLst/>
                <a:latin typeface="+mn-lt"/>
                <a:ea typeface="+mn-ea"/>
                <a:cs typeface="+mn-cs"/>
              </a:rPr>
              <a:t>的首指令。</a:t>
            </a:r>
          </a:p>
          <a:p>
            <a:r>
              <a:rPr lang="zh-CN" altLang="zh-CN" sz="1200" kern="1200" dirty="0">
                <a:solidFill>
                  <a:schemeClr val="tx1"/>
                </a:solidFill>
                <a:effectLst/>
                <a:latin typeface="+mn-lt"/>
                <a:ea typeface="+mn-ea"/>
                <a:cs typeface="+mn-cs"/>
              </a:rPr>
              <a:t>只有</a:t>
            </a:r>
            <a:r>
              <a:rPr lang="en-US" altLang="zh-CN" sz="1200" kern="1200" dirty="0">
                <a:solidFill>
                  <a:schemeClr val="tx1"/>
                </a:solidFill>
                <a:effectLst/>
                <a:latin typeface="+mn-lt"/>
                <a:ea typeface="+mn-ea"/>
                <a:cs typeface="+mn-cs"/>
              </a:rPr>
              <a:t> B6 </a:t>
            </a:r>
            <a:r>
              <a:rPr lang="zh-CN" altLang="zh-CN" sz="1200" kern="1200" dirty="0">
                <a:solidFill>
                  <a:schemeClr val="tx1"/>
                </a:solidFill>
                <a:effectLst/>
                <a:latin typeface="+mn-lt"/>
                <a:ea typeface="+mn-ea"/>
                <a:cs typeface="+mn-cs"/>
              </a:rPr>
              <a:t>指向流图的出口结点，因为到达紧跟在流图对应的程序之后的代码的唯一方法是穿越</a:t>
            </a:r>
            <a:r>
              <a:rPr lang="en-US" altLang="zh-CN" sz="1200" kern="1200" dirty="0">
                <a:solidFill>
                  <a:schemeClr val="tx1"/>
                </a:solidFill>
                <a:effectLst/>
                <a:latin typeface="+mn-lt"/>
                <a:ea typeface="+mn-ea"/>
                <a:cs typeface="+mn-cs"/>
              </a:rPr>
              <a:t> B6</a:t>
            </a:r>
            <a:r>
              <a:rPr lang="zh-CN" altLang="zh-CN" sz="1200" kern="1200" dirty="0">
                <a:solidFill>
                  <a:schemeClr val="tx1"/>
                </a:solidFill>
                <a:effectLst/>
                <a:latin typeface="+mn-lt"/>
                <a:ea typeface="+mn-ea"/>
                <a:cs typeface="+mn-cs"/>
              </a:rPr>
              <a:t>结尾处的条件跳转指令。</a:t>
            </a:r>
            <a:endParaRPr lang="en-US" altLang="zh-CN" sz="1200" kern="1200" dirty="0">
              <a:solidFill>
                <a:schemeClr val="tx1"/>
              </a:solidFill>
              <a:effectLst/>
              <a:latin typeface="+mn-lt"/>
              <a:ea typeface="+mn-ea"/>
              <a:cs typeface="+mn-cs"/>
            </a:endParaRPr>
          </a:p>
          <a:p>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首先，从图</a:t>
            </a:r>
            <a:r>
              <a:rPr lang="en-US" altLang="zh-CN" sz="1200" kern="1200" dirty="0">
                <a:solidFill>
                  <a:schemeClr val="tx1"/>
                </a:solidFill>
                <a:effectLst/>
                <a:latin typeface="+mn-lt"/>
                <a:ea typeface="+mn-ea"/>
                <a:cs typeface="+mn-cs"/>
              </a:rPr>
              <a:t> 8.9 </a:t>
            </a:r>
            <a:r>
              <a:rPr lang="zh-CN" altLang="zh-CN" sz="1200" kern="1200" dirty="0">
                <a:solidFill>
                  <a:schemeClr val="tx1"/>
                </a:solidFill>
                <a:effectLst/>
                <a:latin typeface="+mn-lt"/>
                <a:ea typeface="+mn-ea"/>
                <a:cs typeface="+mn-cs"/>
              </a:rPr>
              <a:t>中注意到，在流程图中，把到达指令的序号或标号的跳转指令替换为到达基本块的跳转，这么做是很正常的。回想一下，每个条件或无条件跳转都是到某个基本块的首指令，而现在这些跳转指令指向了相应的基本块。这么做的原因是，在构建了流图之后，经常会对多个基本块中的指令进行实质性更改。如果跳转的目标是指令，我们将不得不在每次改变了某个目标指令之后修正跳转指令的目标。</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流图就是通常的图，它可以用任何表示图的数据结构来表示。结点（基本块）的内容需要有它们自己的表示方式。我们可能会用一个指向该基本块在三地址指令组中的首指令的指针，以及基本块的指令数量或一个指向结尾指令的指针来表示结点的内容。然而，由于我们可能经常更改基本块中的指令数量，所以为每个基本块创建一个指令链接列表可能会更有效。</a:t>
            </a:r>
          </a:p>
          <a:p>
            <a:endParaRPr lang="zh-CN" altLang="en-US"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43</a:t>
            </a:fld>
            <a:endParaRPr lang="zh-CN" altLang="en-US"/>
          </a:p>
        </p:txBody>
      </p:sp>
    </p:spTree>
    <p:extLst>
      <p:ext uri="{BB962C8B-B14F-4D97-AF65-F5344CB8AC3E}">
        <p14:creationId xmlns:p14="http://schemas.microsoft.com/office/powerpoint/2010/main" val="317736556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像</a:t>
            </a:r>
            <a:r>
              <a:rPr lang="en-US" altLang="zh-CN" sz="1200" kern="1200" dirty="0">
                <a:solidFill>
                  <a:schemeClr val="tx1"/>
                </a:solidFill>
                <a:effectLst/>
                <a:latin typeface="+mn-lt"/>
                <a:ea typeface="+mn-ea"/>
                <a:cs typeface="+mn-cs"/>
              </a:rPr>
              <a:t> while </a:t>
            </a:r>
            <a:r>
              <a:rPr lang="zh-CN" altLang="zh-CN" sz="1200" kern="1200" dirty="0">
                <a:solidFill>
                  <a:schemeClr val="tx1"/>
                </a:solidFill>
                <a:effectLst/>
                <a:latin typeface="+mn-lt"/>
                <a:ea typeface="+mn-ea"/>
                <a:cs typeface="+mn-cs"/>
              </a:rPr>
              <a:t>语句、</a:t>
            </a:r>
            <a:r>
              <a:rPr lang="en-US" altLang="zh-CN" sz="1200" kern="1200" dirty="0">
                <a:solidFill>
                  <a:schemeClr val="tx1"/>
                </a:solidFill>
                <a:effectLst/>
                <a:latin typeface="+mn-lt"/>
                <a:ea typeface="+mn-ea"/>
                <a:cs typeface="+mn-cs"/>
              </a:rPr>
              <a:t>do-while </a:t>
            </a:r>
            <a:r>
              <a:rPr lang="zh-CN" altLang="zh-CN" sz="1200" kern="1200" dirty="0">
                <a:solidFill>
                  <a:schemeClr val="tx1"/>
                </a:solidFill>
                <a:effectLst/>
                <a:latin typeface="+mn-lt"/>
                <a:ea typeface="+mn-ea"/>
                <a:cs typeface="+mn-cs"/>
              </a:rPr>
              <a:t>语句和</a:t>
            </a:r>
            <a:r>
              <a:rPr lang="en-US" altLang="zh-CN" sz="1200" kern="1200" dirty="0">
                <a:solidFill>
                  <a:schemeClr val="tx1"/>
                </a:solidFill>
                <a:effectLst/>
                <a:latin typeface="+mn-lt"/>
                <a:ea typeface="+mn-ea"/>
                <a:cs typeface="+mn-cs"/>
              </a:rPr>
              <a:t> for </a:t>
            </a:r>
            <a:r>
              <a:rPr lang="zh-CN" altLang="zh-CN" sz="1200" kern="1200" dirty="0">
                <a:solidFill>
                  <a:schemeClr val="tx1"/>
                </a:solidFill>
                <a:effectLst/>
                <a:latin typeface="+mn-lt"/>
                <a:ea typeface="+mn-ea"/>
                <a:cs typeface="+mn-cs"/>
              </a:rPr>
              <a:t>语句这样的程序语言结构自然地把循环引入到程序中。由于实际上每个程序的大部分时间都在执行其循环操作，因此编译器为循环操作生成良好的代码尤为重要。许多代码转换最终取决于流图中</a:t>
            </a:r>
            <a:r>
              <a:rPr lang="zh-CN" altLang="en-US" sz="1200" kern="1200" dirty="0">
                <a:solidFill>
                  <a:schemeClr val="tx1"/>
                </a:solidFill>
                <a:effectLst/>
                <a:latin typeface="+mn-lt"/>
                <a:ea typeface="+mn-ea"/>
                <a:cs typeface="+mn-cs"/>
              </a:rPr>
              <a:t>“循环”</a:t>
            </a:r>
            <a:r>
              <a:rPr lang="zh-CN" altLang="zh-CN" sz="1200" kern="1200" dirty="0">
                <a:solidFill>
                  <a:schemeClr val="tx1"/>
                </a:solidFill>
                <a:effectLst/>
                <a:latin typeface="+mn-lt"/>
                <a:ea typeface="+mn-ea"/>
                <a:cs typeface="+mn-cs"/>
              </a:rPr>
              <a:t>的识别。</a:t>
            </a:r>
            <a:r>
              <a:rPr lang="zh-CN" altLang="en-US" sz="1200" kern="1200" dirty="0">
                <a:solidFill>
                  <a:schemeClr val="tx1"/>
                </a:solidFill>
                <a:effectLst/>
                <a:latin typeface="+mn-lt"/>
                <a:ea typeface="+mn-ea"/>
                <a:cs typeface="+mn-cs"/>
              </a:rPr>
              <a:t>如果下列条件成立，我们就是流图中的一个结点集合</a:t>
            </a:r>
            <a:r>
              <a:rPr lang="en-US" altLang="zh-CN" sz="1200" kern="1200" dirty="0">
                <a:solidFill>
                  <a:schemeClr val="tx1"/>
                </a:solidFill>
                <a:effectLst/>
                <a:latin typeface="+mn-lt"/>
                <a:ea typeface="+mn-ea"/>
                <a:cs typeface="+mn-cs"/>
              </a:rPr>
              <a:t>L</a:t>
            </a:r>
            <a:r>
              <a:rPr lang="zh-CN" altLang="en-US" sz="1200" kern="1200" dirty="0">
                <a:solidFill>
                  <a:schemeClr val="tx1"/>
                </a:solidFill>
                <a:effectLst/>
                <a:latin typeface="+mn-lt"/>
                <a:ea typeface="+mn-ea"/>
                <a:cs typeface="+mn-cs"/>
              </a:rPr>
              <a:t>是一个</a:t>
            </a:r>
            <a:r>
              <a:rPr lang="zh-CN" altLang="zh-CN" sz="1200" kern="1200" dirty="0">
                <a:solidFill>
                  <a:schemeClr val="tx1"/>
                </a:solidFill>
                <a:effectLst/>
                <a:latin typeface="+mn-lt"/>
                <a:ea typeface="+mn-ea"/>
                <a:cs typeface="+mn-cs"/>
              </a:rPr>
              <a:t>循环，</a:t>
            </a:r>
          </a:p>
          <a:p>
            <a:pPr lvl="0"/>
            <a:r>
              <a:rPr lang="en-US" altLang="zh-CN" sz="1200" kern="1200" dirty="0">
                <a:solidFill>
                  <a:schemeClr val="tx1"/>
                </a:solidFill>
                <a:effectLst/>
                <a:latin typeface="+mn-lt"/>
                <a:ea typeface="+mn-ea"/>
                <a:cs typeface="+mn-cs"/>
              </a:rPr>
              <a:t>1</a:t>
            </a:r>
            <a:r>
              <a:rPr lang="zh-CN" altLang="en-US"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在</a:t>
            </a:r>
            <a:r>
              <a:rPr lang="en-US" altLang="zh-CN" sz="1200" kern="1200" dirty="0">
                <a:solidFill>
                  <a:schemeClr val="tx1"/>
                </a:solidFill>
                <a:effectLst/>
                <a:latin typeface="+mn-lt"/>
                <a:ea typeface="+mn-ea"/>
                <a:cs typeface="+mn-cs"/>
              </a:rPr>
              <a:t>L</a:t>
            </a:r>
            <a:r>
              <a:rPr lang="zh-CN" altLang="zh-CN" sz="1200" kern="1200" dirty="0">
                <a:solidFill>
                  <a:schemeClr val="tx1"/>
                </a:solidFill>
                <a:effectLst/>
                <a:latin typeface="+mn-lt"/>
                <a:ea typeface="+mn-ea"/>
                <a:cs typeface="+mn-cs"/>
              </a:rPr>
              <a:t>中有一个被称为循环入口的结点，它是唯一的其前驱可能在</a:t>
            </a:r>
            <a:r>
              <a:rPr lang="en-US" altLang="zh-CN" sz="1200" kern="1200" dirty="0">
                <a:solidFill>
                  <a:schemeClr val="tx1"/>
                </a:solidFill>
                <a:effectLst/>
                <a:latin typeface="+mn-lt"/>
                <a:ea typeface="+mn-ea"/>
                <a:cs typeface="+mn-cs"/>
              </a:rPr>
              <a:t>L</a:t>
            </a:r>
            <a:r>
              <a:rPr lang="zh-CN" altLang="zh-CN" sz="1200" kern="1200" dirty="0">
                <a:solidFill>
                  <a:schemeClr val="tx1"/>
                </a:solidFill>
                <a:effectLst/>
                <a:latin typeface="+mn-lt"/>
                <a:ea typeface="+mn-ea"/>
                <a:cs typeface="+mn-cs"/>
              </a:rPr>
              <a:t>之外的结点。也就是说，从整个流图的入口结点开始到</a:t>
            </a:r>
            <a:r>
              <a:rPr lang="en-US" altLang="zh-CN" sz="1200" kern="1200" dirty="0">
                <a:solidFill>
                  <a:schemeClr val="tx1"/>
                </a:solidFill>
                <a:effectLst/>
                <a:latin typeface="+mn-lt"/>
                <a:ea typeface="+mn-ea"/>
                <a:cs typeface="+mn-cs"/>
              </a:rPr>
              <a:t>L</a:t>
            </a:r>
            <a:r>
              <a:rPr lang="zh-CN" altLang="zh-CN" sz="1200" kern="1200" dirty="0">
                <a:solidFill>
                  <a:schemeClr val="tx1"/>
                </a:solidFill>
                <a:effectLst/>
                <a:latin typeface="+mn-lt"/>
                <a:ea typeface="+mn-ea"/>
                <a:cs typeface="+mn-cs"/>
              </a:rPr>
              <a:t>中的任何结点的路径都必然经过循环入口结点，并且这循环入口结点不是整个流图的入口结点本身。</a:t>
            </a:r>
          </a:p>
          <a:p>
            <a:r>
              <a:rPr lang="en-US" altLang="zh-CN" sz="1200" kern="1200" dirty="0">
                <a:solidFill>
                  <a:schemeClr val="tx1"/>
                </a:solidFill>
                <a:effectLst/>
                <a:latin typeface="+mn-lt"/>
                <a:ea typeface="+mn-ea"/>
                <a:cs typeface="+mn-cs"/>
              </a:rPr>
              <a:t>2</a:t>
            </a:r>
            <a:r>
              <a:rPr lang="zh-CN" altLang="en-US"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L</a:t>
            </a:r>
            <a:r>
              <a:rPr lang="zh-CN" altLang="zh-CN" sz="1200" kern="1200" dirty="0">
                <a:solidFill>
                  <a:schemeClr val="tx1"/>
                </a:solidFill>
                <a:effectLst/>
                <a:latin typeface="+mn-lt"/>
                <a:ea typeface="+mn-ea"/>
                <a:cs typeface="+mn-cs"/>
              </a:rPr>
              <a:t>中的每个结点都有一个到达</a:t>
            </a:r>
            <a:r>
              <a:rPr lang="en-US" altLang="zh-CN" sz="1200" kern="1200" dirty="0">
                <a:solidFill>
                  <a:schemeClr val="tx1"/>
                </a:solidFill>
                <a:effectLst/>
                <a:latin typeface="+mn-lt"/>
                <a:ea typeface="+mn-ea"/>
                <a:cs typeface="+mn-cs"/>
              </a:rPr>
              <a:t>L</a:t>
            </a:r>
            <a:r>
              <a:rPr lang="zh-CN" altLang="zh-CN" sz="1200" kern="1200" dirty="0">
                <a:solidFill>
                  <a:schemeClr val="tx1"/>
                </a:solidFill>
                <a:effectLst/>
                <a:latin typeface="+mn-lt"/>
                <a:ea typeface="+mn-ea"/>
                <a:cs typeface="+mn-cs"/>
              </a:rPr>
              <a:t>的入口结点的非空路径，并且该路</a:t>
            </a:r>
            <a:r>
              <a:rPr lang="zh-CN" altLang="en-US" sz="1200" kern="1200" dirty="0">
                <a:solidFill>
                  <a:schemeClr val="tx1"/>
                </a:solidFill>
                <a:effectLst/>
                <a:latin typeface="+mn-lt"/>
                <a:ea typeface="+mn-ea"/>
                <a:cs typeface="+mn-cs"/>
              </a:rPr>
              <a:t>径</a:t>
            </a:r>
            <a:r>
              <a:rPr lang="zh-CN" altLang="zh-CN" sz="1200" kern="1200" dirty="0">
                <a:solidFill>
                  <a:schemeClr val="tx1"/>
                </a:solidFill>
                <a:effectLst/>
                <a:latin typeface="+mn-lt"/>
                <a:ea typeface="+mn-ea"/>
                <a:cs typeface="+mn-cs"/>
              </a:rPr>
              <a:t>全部都在</a:t>
            </a:r>
            <a:r>
              <a:rPr lang="en-US" altLang="zh-CN" sz="1200" kern="1200" dirty="0">
                <a:solidFill>
                  <a:schemeClr val="tx1"/>
                </a:solidFill>
                <a:effectLst/>
                <a:latin typeface="+mn-lt"/>
                <a:ea typeface="+mn-ea"/>
                <a:cs typeface="+mn-cs"/>
              </a:rPr>
              <a:t>L</a:t>
            </a:r>
            <a:r>
              <a:rPr lang="zh-CN" altLang="zh-CN" sz="1200" kern="1200" dirty="0">
                <a:solidFill>
                  <a:schemeClr val="tx1"/>
                </a:solidFill>
                <a:effectLst/>
                <a:latin typeface="+mn-lt"/>
                <a:ea typeface="+mn-ea"/>
                <a:cs typeface="+mn-cs"/>
              </a:rPr>
              <a:t>中。</a:t>
            </a:r>
            <a:endParaRPr lang="zh-CN" altLang="en-US"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44</a:t>
            </a:fld>
            <a:endParaRPr lang="zh-CN" altLang="en-US"/>
          </a:p>
        </p:txBody>
      </p:sp>
    </p:spTree>
    <p:extLst>
      <p:ext uri="{BB962C8B-B14F-4D97-AF65-F5344CB8AC3E}">
        <p14:creationId xmlns:p14="http://schemas.microsoft.com/office/powerpoint/2010/main" val="420983240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示例</a:t>
            </a:r>
            <a:r>
              <a:rPr lang="en-US" altLang="zh-CN" sz="1200" kern="1200" dirty="0">
                <a:solidFill>
                  <a:schemeClr val="tx1"/>
                </a:solidFill>
                <a:effectLst/>
                <a:latin typeface="+mn-lt"/>
                <a:ea typeface="+mn-ea"/>
                <a:cs typeface="+mn-cs"/>
              </a:rPr>
              <a:t> 8.9</a:t>
            </a:r>
            <a:r>
              <a:rPr lang="zh-CN" altLang="zh-CN" sz="1200" kern="1200" dirty="0">
                <a:solidFill>
                  <a:schemeClr val="tx1"/>
                </a:solidFill>
                <a:effectLst/>
                <a:latin typeface="+mn-lt"/>
                <a:ea typeface="+mn-ea"/>
                <a:cs typeface="+mn-cs"/>
              </a:rPr>
              <a:t>：图</a:t>
            </a:r>
            <a:r>
              <a:rPr lang="en-US" altLang="zh-CN" sz="1200" kern="1200" dirty="0">
                <a:solidFill>
                  <a:schemeClr val="tx1"/>
                </a:solidFill>
                <a:effectLst/>
                <a:latin typeface="+mn-lt"/>
                <a:ea typeface="+mn-ea"/>
                <a:cs typeface="+mn-cs"/>
              </a:rPr>
              <a:t> 8.9 </a:t>
            </a:r>
            <a:r>
              <a:rPr lang="zh-CN" altLang="zh-CN" sz="1200" kern="1200" dirty="0">
                <a:solidFill>
                  <a:schemeClr val="tx1"/>
                </a:solidFill>
                <a:effectLst/>
                <a:latin typeface="+mn-lt"/>
                <a:ea typeface="+mn-ea"/>
                <a:cs typeface="+mn-cs"/>
              </a:rPr>
              <a:t>的流图具有三个循环： </a:t>
            </a:r>
          </a:p>
          <a:p>
            <a:r>
              <a:rPr lang="en-US" altLang="zh-CN" sz="1200" kern="1200" dirty="0">
                <a:solidFill>
                  <a:schemeClr val="tx1"/>
                </a:solidFill>
                <a:effectLst/>
                <a:latin typeface="+mn-lt"/>
                <a:ea typeface="+mn-ea"/>
                <a:cs typeface="+mn-cs"/>
              </a:rPr>
              <a:t>1. B3 </a:t>
            </a:r>
            <a:r>
              <a:rPr lang="zh-CN" altLang="zh-CN" sz="1200" kern="1200" dirty="0">
                <a:solidFill>
                  <a:schemeClr val="tx1"/>
                </a:solidFill>
                <a:effectLst/>
                <a:latin typeface="+mn-lt"/>
                <a:ea typeface="+mn-ea"/>
                <a:cs typeface="+mn-cs"/>
              </a:rPr>
              <a:t>本身。 </a:t>
            </a:r>
          </a:p>
          <a:p>
            <a:r>
              <a:rPr lang="en-US" altLang="zh-CN" sz="1200" kern="1200" dirty="0">
                <a:solidFill>
                  <a:schemeClr val="tx1"/>
                </a:solidFill>
                <a:effectLst/>
                <a:latin typeface="+mn-lt"/>
                <a:ea typeface="+mn-ea"/>
                <a:cs typeface="+mn-cs"/>
              </a:rPr>
              <a:t>2. {B2;B3;B4}</a:t>
            </a:r>
            <a:r>
              <a:rPr lang="zh-CN" altLang="zh-CN" sz="1200" kern="1200" dirty="0">
                <a:solidFill>
                  <a:schemeClr val="tx1"/>
                </a:solidFill>
                <a:effectLst/>
                <a:latin typeface="+mn-lt"/>
                <a:ea typeface="+mn-ea"/>
                <a:cs typeface="+mn-cs"/>
              </a:rPr>
              <a:t>。</a:t>
            </a:r>
          </a:p>
          <a:p>
            <a:r>
              <a:rPr lang="en-US" altLang="zh-CN" sz="1200" kern="1200" dirty="0">
                <a:solidFill>
                  <a:schemeClr val="tx1"/>
                </a:solidFill>
                <a:effectLst/>
                <a:latin typeface="+mn-lt"/>
                <a:ea typeface="+mn-ea"/>
                <a:cs typeface="+mn-cs"/>
              </a:rPr>
              <a:t>L = {B2 ;B3 ;B4}</a:t>
            </a:r>
            <a:r>
              <a:rPr lang="zh-CN" altLang="zh-CN" sz="1200" kern="1200" dirty="0">
                <a:solidFill>
                  <a:schemeClr val="tx1"/>
                </a:solidFill>
                <a:effectLst/>
                <a:latin typeface="+mn-lt"/>
                <a:ea typeface="+mn-ea"/>
                <a:cs typeface="+mn-cs"/>
              </a:rPr>
              <a:t>的循环入口结点是</a:t>
            </a:r>
            <a:r>
              <a:rPr lang="en-US" altLang="zh-CN" sz="1200" kern="1200" dirty="0">
                <a:solidFill>
                  <a:schemeClr val="tx1"/>
                </a:solidFill>
                <a:effectLst/>
                <a:latin typeface="+mn-lt"/>
                <a:ea typeface="+mn-ea"/>
                <a:cs typeface="+mn-cs"/>
              </a:rPr>
              <a:t> B2</a:t>
            </a:r>
            <a:r>
              <a:rPr lang="zh-CN" altLang="zh-CN" sz="1200" kern="1200" dirty="0">
                <a:solidFill>
                  <a:schemeClr val="tx1"/>
                </a:solidFill>
                <a:effectLst/>
                <a:latin typeface="+mn-lt"/>
                <a:ea typeface="+mn-ea"/>
                <a:cs typeface="+mn-cs"/>
              </a:rPr>
              <a:t>。请注意，这三个节点中，只有</a:t>
            </a:r>
            <a:r>
              <a:rPr lang="en-US" altLang="zh-CN" sz="1200" kern="1200" dirty="0">
                <a:solidFill>
                  <a:schemeClr val="tx1"/>
                </a:solidFill>
                <a:effectLst/>
                <a:latin typeface="+mn-lt"/>
                <a:ea typeface="+mn-ea"/>
                <a:cs typeface="+mn-cs"/>
              </a:rPr>
              <a:t> B2</a:t>
            </a:r>
            <a:r>
              <a:rPr lang="zh-CN" altLang="zh-CN" sz="1200" kern="1200" dirty="0">
                <a:solidFill>
                  <a:schemeClr val="tx1"/>
                </a:solidFill>
                <a:effectLst/>
                <a:latin typeface="+mn-lt"/>
                <a:ea typeface="+mn-ea"/>
                <a:cs typeface="+mn-cs"/>
              </a:rPr>
              <a:t>有一个不在</a:t>
            </a:r>
            <a:r>
              <a:rPr lang="en-US" altLang="zh-CN" sz="1200" kern="1200" dirty="0">
                <a:solidFill>
                  <a:schemeClr val="tx1"/>
                </a:solidFill>
                <a:effectLst/>
                <a:latin typeface="+mn-lt"/>
                <a:ea typeface="+mn-ea"/>
                <a:cs typeface="+mn-cs"/>
              </a:rPr>
              <a:t>L</a:t>
            </a:r>
            <a:r>
              <a:rPr lang="zh-CN" altLang="zh-CN" sz="1200" kern="1200" dirty="0">
                <a:solidFill>
                  <a:schemeClr val="tx1"/>
                </a:solidFill>
                <a:effectLst/>
                <a:latin typeface="+mn-lt"/>
                <a:ea typeface="+mn-ea"/>
                <a:cs typeface="+mn-cs"/>
              </a:rPr>
              <a:t>中的前驱</a:t>
            </a:r>
            <a:r>
              <a:rPr lang="en-US" altLang="zh-CN" sz="1200" kern="1200" dirty="0">
                <a:solidFill>
                  <a:schemeClr val="tx1"/>
                </a:solidFill>
                <a:effectLst/>
                <a:latin typeface="+mn-lt"/>
                <a:ea typeface="+mn-ea"/>
                <a:cs typeface="+mn-cs"/>
              </a:rPr>
              <a:t> B1 </a:t>
            </a:r>
            <a:r>
              <a:rPr lang="zh-CN" altLang="zh-CN" sz="1200" kern="1200" dirty="0">
                <a:solidFill>
                  <a:schemeClr val="tx1"/>
                </a:solidFill>
                <a:effectLst/>
                <a:latin typeface="+mn-lt"/>
                <a:ea typeface="+mn-ea"/>
                <a:cs typeface="+mn-cs"/>
              </a:rPr>
              <a:t>。此外，这三个结点中都有在</a:t>
            </a:r>
            <a:r>
              <a:rPr lang="en-US" altLang="zh-CN" sz="1200" kern="1200" dirty="0">
                <a:solidFill>
                  <a:schemeClr val="tx1"/>
                </a:solidFill>
                <a:effectLst/>
                <a:latin typeface="+mn-lt"/>
                <a:ea typeface="+mn-ea"/>
                <a:cs typeface="+mn-cs"/>
              </a:rPr>
              <a:t>L</a:t>
            </a:r>
            <a:r>
              <a:rPr lang="zh-CN" altLang="zh-CN" sz="1200" kern="1200" dirty="0">
                <a:solidFill>
                  <a:schemeClr val="tx1"/>
                </a:solidFill>
                <a:effectLst/>
                <a:latin typeface="+mn-lt"/>
                <a:ea typeface="+mn-ea"/>
                <a:cs typeface="+mn-cs"/>
              </a:rPr>
              <a:t>中且到达</a:t>
            </a:r>
            <a:r>
              <a:rPr lang="en-US" altLang="zh-CN" sz="1200" kern="1200" dirty="0">
                <a:solidFill>
                  <a:schemeClr val="tx1"/>
                </a:solidFill>
                <a:effectLst/>
                <a:latin typeface="+mn-lt"/>
                <a:ea typeface="+mn-ea"/>
                <a:cs typeface="+mn-cs"/>
              </a:rPr>
              <a:t> B2 </a:t>
            </a:r>
            <a:r>
              <a:rPr lang="zh-CN" altLang="zh-CN" sz="1200" kern="1200" dirty="0">
                <a:solidFill>
                  <a:schemeClr val="tx1"/>
                </a:solidFill>
                <a:effectLst/>
                <a:latin typeface="+mn-lt"/>
                <a:ea typeface="+mn-ea"/>
                <a:cs typeface="+mn-cs"/>
              </a:rPr>
              <a:t>的非空路径。比如，从</a:t>
            </a:r>
            <a:r>
              <a:rPr lang="en-US" altLang="zh-CN" sz="1200" kern="1200" dirty="0">
                <a:solidFill>
                  <a:schemeClr val="tx1"/>
                </a:solidFill>
                <a:effectLst/>
                <a:latin typeface="+mn-lt"/>
                <a:ea typeface="+mn-ea"/>
                <a:cs typeface="+mn-cs"/>
              </a:rPr>
              <a:t>B2</a:t>
            </a:r>
            <a:r>
              <a:rPr lang="zh-CN" altLang="zh-CN" sz="1200" kern="1200" dirty="0">
                <a:solidFill>
                  <a:schemeClr val="tx1"/>
                </a:solidFill>
                <a:effectLst/>
                <a:latin typeface="+mn-lt"/>
                <a:ea typeface="+mn-ea"/>
                <a:cs typeface="+mn-cs"/>
              </a:rPr>
              <a:t>开始就有路径</a:t>
            </a:r>
            <a:r>
              <a:rPr lang="en-US" altLang="zh-CN" sz="1200" kern="1200" dirty="0">
                <a:solidFill>
                  <a:schemeClr val="tx1"/>
                </a:solidFill>
                <a:effectLst/>
                <a:latin typeface="+mn-lt"/>
                <a:ea typeface="+mn-ea"/>
                <a:cs typeface="+mn-cs"/>
              </a:rPr>
              <a:t> B2</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B3</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 B4</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B2.</a:t>
            </a:r>
            <a:endParaRPr lang="zh-CN"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kern="1200" dirty="0">
                <a:solidFill>
                  <a:schemeClr val="tx1"/>
                </a:solidFill>
                <a:effectLst/>
                <a:latin typeface="+mn-lt"/>
                <a:ea typeface="+mn-ea"/>
                <a:cs typeface="+mn-cs"/>
              </a:rPr>
              <a:t>3. B6 </a:t>
            </a:r>
            <a:r>
              <a:rPr lang="zh-CN" altLang="zh-CN" sz="1200" kern="1200" dirty="0">
                <a:solidFill>
                  <a:schemeClr val="tx1"/>
                </a:solidFill>
                <a:effectLst/>
                <a:latin typeface="+mn-lt"/>
                <a:ea typeface="+mn-ea"/>
                <a:cs typeface="+mn-cs"/>
              </a:rPr>
              <a:t>本身。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kern="1200" dirty="0">
                <a:solidFill>
                  <a:schemeClr val="tx1"/>
                </a:solidFill>
                <a:effectLst/>
                <a:latin typeface="+mn-lt"/>
                <a:ea typeface="+mn-ea"/>
                <a:cs typeface="+mn-cs"/>
              </a:rPr>
              <a:t>B3</a:t>
            </a:r>
            <a:r>
              <a:rPr lang="zh-CN" altLang="en-US"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B6</a:t>
            </a:r>
            <a:r>
              <a:rPr lang="zh-CN" altLang="zh-CN" sz="1200" kern="1200" dirty="0">
                <a:solidFill>
                  <a:schemeClr val="tx1"/>
                </a:solidFill>
                <a:effectLst/>
                <a:latin typeface="+mn-lt"/>
                <a:ea typeface="+mn-ea"/>
                <a:cs typeface="+mn-cs"/>
              </a:rPr>
              <a:t>是单个节点，这些结点都有到其自身的边。例如，</a:t>
            </a:r>
            <a:r>
              <a:rPr lang="en-US" altLang="zh-CN" sz="1200" kern="1200" dirty="0">
                <a:solidFill>
                  <a:schemeClr val="tx1"/>
                </a:solidFill>
                <a:effectLst/>
                <a:latin typeface="+mn-lt"/>
                <a:ea typeface="+mn-ea"/>
                <a:cs typeface="+mn-cs"/>
              </a:rPr>
              <a:t>B3</a:t>
            </a:r>
            <a:r>
              <a:rPr lang="zh-CN" altLang="zh-CN" sz="1200" kern="1200" dirty="0">
                <a:solidFill>
                  <a:schemeClr val="tx1"/>
                </a:solidFill>
                <a:effectLst/>
                <a:latin typeface="+mn-lt"/>
                <a:ea typeface="+mn-ea"/>
                <a:cs typeface="+mn-cs"/>
              </a:rPr>
              <a:t>形成一个以</a:t>
            </a:r>
            <a:r>
              <a:rPr lang="en-US" altLang="zh-CN" sz="1200" kern="1200" dirty="0">
                <a:solidFill>
                  <a:schemeClr val="tx1"/>
                </a:solidFill>
                <a:effectLst/>
                <a:latin typeface="+mn-lt"/>
                <a:ea typeface="+mn-ea"/>
                <a:cs typeface="+mn-cs"/>
              </a:rPr>
              <a:t>B3</a:t>
            </a:r>
            <a:r>
              <a:rPr lang="zh-CN" altLang="zh-CN" sz="1200" kern="1200" dirty="0">
                <a:solidFill>
                  <a:schemeClr val="tx1"/>
                </a:solidFill>
                <a:effectLst/>
                <a:latin typeface="+mn-lt"/>
                <a:ea typeface="+mn-ea"/>
                <a:cs typeface="+mn-cs"/>
              </a:rPr>
              <a:t>本身为入口的循环。请注意，循环的最后一个要求是从</a:t>
            </a:r>
            <a:r>
              <a:rPr lang="en-US" altLang="zh-CN" sz="1200" kern="1200" dirty="0">
                <a:solidFill>
                  <a:schemeClr val="tx1"/>
                </a:solidFill>
                <a:effectLst/>
                <a:latin typeface="+mn-lt"/>
                <a:ea typeface="+mn-ea"/>
                <a:cs typeface="+mn-cs"/>
              </a:rPr>
              <a:t> B3 </a:t>
            </a:r>
            <a:r>
              <a:rPr lang="zh-CN" altLang="zh-CN" sz="1200" kern="1200" dirty="0">
                <a:solidFill>
                  <a:schemeClr val="tx1"/>
                </a:solidFill>
                <a:effectLst/>
                <a:latin typeface="+mn-lt"/>
                <a:ea typeface="+mn-ea"/>
                <a:cs typeface="+mn-cs"/>
              </a:rPr>
              <a:t>到其自身有一条非空路径。因此，像</a:t>
            </a:r>
            <a:r>
              <a:rPr lang="en-US" altLang="zh-CN" sz="1200" kern="1200" dirty="0">
                <a:solidFill>
                  <a:schemeClr val="tx1"/>
                </a:solidFill>
                <a:effectLst/>
                <a:latin typeface="+mn-lt"/>
                <a:ea typeface="+mn-ea"/>
                <a:cs typeface="+mn-cs"/>
              </a:rPr>
              <a:t> B2 </a:t>
            </a:r>
            <a:r>
              <a:rPr lang="zh-CN" altLang="zh-CN" sz="1200" kern="1200" dirty="0">
                <a:solidFill>
                  <a:schemeClr val="tx1"/>
                </a:solidFill>
                <a:effectLst/>
                <a:latin typeface="+mn-lt"/>
                <a:ea typeface="+mn-ea"/>
                <a:cs typeface="+mn-cs"/>
              </a:rPr>
              <a:t>这样的单个节点（它没有一条</a:t>
            </a:r>
            <a:r>
              <a:rPr lang="en-US" altLang="zh-CN" sz="1200" kern="1200" dirty="0">
                <a:solidFill>
                  <a:schemeClr val="tx1"/>
                </a:solidFill>
                <a:effectLst/>
                <a:latin typeface="+mn-lt"/>
                <a:ea typeface="+mn-ea"/>
                <a:cs typeface="+mn-cs"/>
              </a:rPr>
              <a:t> B2→ B2</a:t>
            </a:r>
            <a:r>
              <a:rPr lang="zh-CN" altLang="zh-CN" sz="1200" kern="1200" dirty="0">
                <a:solidFill>
                  <a:schemeClr val="tx1"/>
                </a:solidFill>
                <a:effectLst/>
                <a:latin typeface="+mn-lt"/>
                <a:ea typeface="+mn-ea"/>
                <a:cs typeface="+mn-cs"/>
              </a:rPr>
              <a:t>的边） 不是循环，因为没有从</a:t>
            </a:r>
            <a:r>
              <a:rPr lang="en-US" altLang="zh-CN" sz="1200" kern="1200" dirty="0">
                <a:solidFill>
                  <a:schemeClr val="tx1"/>
                </a:solidFill>
                <a:effectLst/>
                <a:latin typeface="+mn-lt"/>
                <a:ea typeface="+mn-ea"/>
                <a:cs typeface="+mn-cs"/>
              </a:rPr>
              <a:t>B2</a:t>
            </a:r>
            <a:r>
              <a:rPr lang="zh-CN" altLang="zh-CN" sz="1200" kern="1200" dirty="0">
                <a:solidFill>
                  <a:schemeClr val="tx1"/>
                </a:solidFill>
                <a:effectLst/>
                <a:latin typeface="+mn-lt"/>
                <a:ea typeface="+mn-ea"/>
                <a:cs typeface="+mn-cs"/>
              </a:rPr>
              <a:t>到其自身，且在集合</a:t>
            </a:r>
            <a:r>
              <a:rPr lang="en-US" altLang="zh-CN" sz="1200" kern="1200" dirty="0">
                <a:solidFill>
                  <a:schemeClr val="tx1"/>
                </a:solidFill>
                <a:effectLst/>
                <a:latin typeface="+mn-lt"/>
                <a:ea typeface="+mn-ea"/>
                <a:cs typeface="+mn-cs"/>
              </a:rPr>
              <a:t>{B2}</a:t>
            </a:r>
            <a:r>
              <a:rPr lang="zh-CN" altLang="zh-CN" sz="1200" kern="1200" dirty="0">
                <a:solidFill>
                  <a:schemeClr val="tx1"/>
                </a:solidFill>
                <a:effectLst/>
                <a:latin typeface="+mn-lt"/>
                <a:ea typeface="+mn-ea"/>
                <a:cs typeface="+mn-cs"/>
              </a:rPr>
              <a:t>中的非空路径。</a:t>
            </a:r>
          </a:p>
          <a:p>
            <a:endParaRPr lang="zh-CN" altLang="en-US"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45</a:t>
            </a:fld>
            <a:endParaRPr lang="zh-CN" altLang="en-US"/>
          </a:p>
        </p:txBody>
      </p:sp>
    </p:spTree>
    <p:extLst>
      <p:ext uri="{BB962C8B-B14F-4D97-AF65-F5344CB8AC3E}">
        <p14:creationId xmlns:p14="http://schemas.microsoft.com/office/powerpoint/2010/main" val="311610180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我们通常可以仅通过在每个基本块本身内执行局部优化来显着提高代码的运行时间。从第</a:t>
            </a:r>
            <a:r>
              <a:rPr lang="en-US" altLang="zh-CN" sz="1200" kern="1200" dirty="0">
                <a:solidFill>
                  <a:schemeClr val="tx1"/>
                </a:solidFill>
                <a:effectLst/>
                <a:latin typeface="+mn-lt"/>
                <a:ea typeface="+mn-ea"/>
                <a:cs typeface="+mn-cs"/>
              </a:rPr>
              <a:t> 9 </a:t>
            </a:r>
            <a:r>
              <a:rPr lang="zh-CN" altLang="zh-CN" sz="1200" kern="1200" dirty="0">
                <a:solidFill>
                  <a:schemeClr val="tx1"/>
                </a:solidFill>
                <a:effectLst/>
                <a:latin typeface="+mn-lt"/>
                <a:ea typeface="+mn-ea"/>
                <a:cs typeface="+mn-cs"/>
              </a:rPr>
              <a:t>章开始，后面的章节将介绍更彻底的全局优化，它着眼于信息如何在程序的基本块之间流动。这是一个复杂的主题，需要考虑许多不同的技术</a:t>
            </a:r>
          </a:p>
          <a:p>
            <a:endParaRPr lang="zh-CN" altLang="en-US"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46</a:t>
            </a:fld>
            <a:endParaRPr lang="zh-CN" altLang="en-US"/>
          </a:p>
        </p:txBody>
      </p:sp>
    </p:spTree>
    <p:extLst>
      <p:ext uri="{BB962C8B-B14F-4D97-AF65-F5344CB8AC3E}">
        <p14:creationId xmlns:p14="http://schemas.microsoft.com/office/powerpoint/2010/main" val="103508497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许多重要的局部优化技术都是从将基本块转换为</a:t>
            </a:r>
            <a:r>
              <a:rPr lang="en-US" altLang="zh-CN" sz="1200" kern="1200" dirty="0">
                <a:solidFill>
                  <a:schemeClr val="tx1"/>
                </a:solidFill>
                <a:effectLst/>
                <a:latin typeface="+mn-lt"/>
                <a:ea typeface="+mn-ea"/>
                <a:cs typeface="+mn-cs"/>
              </a:rPr>
              <a:t> DAG</a:t>
            </a:r>
            <a:r>
              <a:rPr lang="zh-CN" altLang="zh-CN" sz="1200" kern="1200" dirty="0">
                <a:solidFill>
                  <a:schemeClr val="tx1"/>
                </a:solidFill>
                <a:effectLst/>
                <a:latin typeface="+mn-lt"/>
                <a:ea typeface="+mn-ea"/>
                <a:cs typeface="+mn-cs"/>
              </a:rPr>
              <a:t>（有向无环图）开始的。在第</a:t>
            </a:r>
            <a:r>
              <a:rPr lang="en-US" altLang="zh-CN" sz="1200" kern="1200" dirty="0">
                <a:solidFill>
                  <a:schemeClr val="tx1"/>
                </a:solidFill>
                <a:effectLst/>
                <a:latin typeface="+mn-lt"/>
                <a:ea typeface="+mn-ea"/>
                <a:cs typeface="+mn-cs"/>
              </a:rPr>
              <a:t> 6.1.1 </a:t>
            </a:r>
            <a:r>
              <a:rPr lang="zh-CN" altLang="zh-CN" sz="1200" kern="1200" dirty="0">
                <a:solidFill>
                  <a:schemeClr val="tx1"/>
                </a:solidFill>
                <a:effectLst/>
                <a:latin typeface="+mn-lt"/>
                <a:ea typeface="+mn-ea"/>
                <a:cs typeface="+mn-cs"/>
              </a:rPr>
              <a:t>节中，我们介绍了 用于表示简单表达式的</a:t>
            </a:r>
            <a:r>
              <a:rPr lang="en-US" altLang="zh-CN" sz="1200" kern="1200" dirty="0">
                <a:solidFill>
                  <a:schemeClr val="tx1"/>
                </a:solidFill>
                <a:effectLst/>
                <a:latin typeface="+mn-lt"/>
                <a:ea typeface="+mn-ea"/>
                <a:cs typeface="+mn-cs"/>
              </a:rPr>
              <a:t>DAG</a:t>
            </a:r>
            <a:r>
              <a:rPr lang="zh-CN" altLang="zh-CN" sz="1200" kern="1200" dirty="0">
                <a:solidFill>
                  <a:schemeClr val="tx1"/>
                </a:solidFill>
                <a:effectLst/>
                <a:latin typeface="+mn-lt"/>
                <a:ea typeface="+mn-ea"/>
                <a:cs typeface="+mn-cs"/>
              </a:rPr>
              <a:t>。这一想法自然地延伸到在一个基本块内创建的表达式的集合。</a:t>
            </a:r>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基本块的</a:t>
            </a:r>
            <a:r>
              <a:rPr lang="en-US" altLang="zh-CN" sz="1200" kern="1200" dirty="0">
                <a:solidFill>
                  <a:schemeClr val="tx1"/>
                </a:solidFill>
                <a:effectLst/>
                <a:latin typeface="+mn-lt"/>
                <a:ea typeface="+mn-ea"/>
                <a:cs typeface="+mn-cs"/>
              </a:rPr>
              <a:t> DAG </a:t>
            </a:r>
            <a:r>
              <a:rPr lang="zh-CN" altLang="zh-CN" sz="1200" kern="1200" dirty="0">
                <a:solidFill>
                  <a:schemeClr val="tx1"/>
                </a:solidFill>
                <a:effectLst/>
                <a:latin typeface="+mn-lt"/>
                <a:ea typeface="+mn-ea"/>
                <a:cs typeface="+mn-cs"/>
              </a:rPr>
              <a:t>表示允许我们对块表示的代码执行一些转换，以改进代码的质量。</a:t>
            </a:r>
          </a:p>
          <a:p>
            <a:pPr marL="171450" lvl="0" indent="-171450">
              <a:buFont typeface="Arial" panose="020B0604020202020204" pitchFamily="34" charset="0"/>
              <a:buChar char="•"/>
            </a:pPr>
            <a:r>
              <a:rPr lang="zh-CN" altLang="zh-CN" sz="1200" kern="1200" dirty="0">
                <a:solidFill>
                  <a:schemeClr val="tx1"/>
                </a:solidFill>
                <a:effectLst/>
                <a:latin typeface="+mn-lt"/>
                <a:ea typeface="+mn-ea"/>
                <a:cs typeface="+mn-cs"/>
              </a:rPr>
              <a:t>我们可以消除局部公共子表达式，所谓公共子表达式就是重复计算一个已经计算过的值的指令。 </a:t>
            </a:r>
          </a:p>
          <a:p>
            <a:pPr marL="171450" lvl="0" indent="-171450">
              <a:buFont typeface="Arial" panose="020B0604020202020204" pitchFamily="34" charset="0"/>
              <a:buChar char="•"/>
            </a:pPr>
            <a:r>
              <a:rPr lang="zh-CN" altLang="zh-CN" sz="1200" kern="1200" dirty="0">
                <a:solidFill>
                  <a:schemeClr val="tx1"/>
                </a:solidFill>
                <a:effectLst/>
                <a:latin typeface="+mn-lt"/>
                <a:ea typeface="+mn-ea"/>
                <a:cs typeface="+mn-cs"/>
              </a:rPr>
              <a:t>我们可以消除死代码，即计算得到的值不会被使用的指令。 </a:t>
            </a:r>
          </a:p>
          <a:p>
            <a:pPr marL="171450" lvl="0" indent="-171450">
              <a:buFont typeface="Arial" panose="020B0604020202020204" pitchFamily="34" charset="0"/>
              <a:buChar char="•"/>
            </a:pPr>
            <a:r>
              <a:rPr lang="zh-CN" altLang="zh-CN" sz="1200" kern="1200" dirty="0">
                <a:solidFill>
                  <a:schemeClr val="tx1"/>
                </a:solidFill>
                <a:effectLst/>
                <a:latin typeface="+mn-lt"/>
                <a:ea typeface="+mn-ea"/>
                <a:cs typeface="+mn-cs"/>
              </a:rPr>
              <a:t>我们可以对相互独立的语句重新排序；这种重新排序可以减少临时值需要保存在寄存器中的时间。 </a:t>
            </a:r>
          </a:p>
          <a:p>
            <a:pPr marL="171450" indent="-171450">
              <a:buFont typeface="Arial" panose="020B0604020202020204" pitchFamily="34" charset="0"/>
              <a:buChar char="•"/>
            </a:pPr>
            <a:r>
              <a:rPr lang="zh-CN" altLang="zh-CN" sz="1200" kern="1200" dirty="0">
                <a:solidFill>
                  <a:schemeClr val="tx1"/>
                </a:solidFill>
                <a:effectLst/>
                <a:latin typeface="+mn-lt"/>
                <a:ea typeface="+mn-ea"/>
                <a:cs typeface="+mn-cs"/>
              </a:rPr>
              <a:t>我们可以应用代数定律对三地址指令的运算分量重新排序，这么做有时可以简化计算过程。</a:t>
            </a:r>
            <a:endParaRPr lang="zh-CN" altLang="en-US"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47</a:t>
            </a:fld>
            <a:endParaRPr lang="zh-CN" altLang="en-US"/>
          </a:p>
        </p:txBody>
      </p:sp>
    </p:spTree>
    <p:extLst>
      <p:ext uri="{BB962C8B-B14F-4D97-AF65-F5344CB8AC3E}">
        <p14:creationId xmlns:p14="http://schemas.microsoft.com/office/powerpoint/2010/main" val="292719762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我们为基本块构造一个</a:t>
            </a:r>
            <a:r>
              <a:rPr lang="en-US" altLang="zh-CN" sz="1200" kern="1200" dirty="0">
                <a:solidFill>
                  <a:schemeClr val="tx1"/>
                </a:solidFill>
                <a:effectLst/>
                <a:latin typeface="+mn-lt"/>
                <a:ea typeface="+mn-ea"/>
                <a:cs typeface="+mn-cs"/>
              </a:rPr>
              <a:t> DAG</a:t>
            </a:r>
            <a:r>
              <a:rPr lang="zh-CN" altLang="zh-CN" sz="1200" kern="1200" dirty="0">
                <a:solidFill>
                  <a:schemeClr val="tx1"/>
                </a:solidFill>
                <a:effectLst/>
                <a:latin typeface="+mn-lt"/>
                <a:ea typeface="+mn-ea"/>
                <a:cs typeface="+mn-cs"/>
              </a:rPr>
              <a:t>，如下所示：</a:t>
            </a:r>
          </a:p>
          <a:p>
            <a:pPr marL="228600" indent="-228600">
              <a:buAutoNum type="arabicPeriod"/>
            </a:pPr>
            <a:r>
              <a:rPr lang="zh-CN" altLang="zh-CN" sz="1200" kern="1200" dirty="0">
                <a:solidFill>
                  <a:schemeClr val="tx1"/>
                </a:solidFill>
                <a:effectLst/>
                <a:latin typeface="+mn-lt"/>
                <a:ea typeface="+mn-ea"/>
                <a:cs typeface="+mn-cs"/>
              </a:rPr>
              <a:t>对于基本块中出现的每个变量有一个对应的</a:t>
            </a:r>
            <a:r>
              <a:rPr lang="en-US" altLang="zh-CN" sz="1200" kern="1200" dirty="0">
                <a:solidFill>
                  <a:schemeClr val="tx1"/>
                </a:solidFill>
                <a:effectLst/>
                <a:latin typeface="+mn-lt"/>
                <a:ea typeface="+mn-ea"/>
                <a:cs typeface="+mn-cs"/>
              </a:rPr>
              <a:t>DAG</a:t>
            </a:r>
            <a:r>
              <a:rPr lang="zh-CN" altLang="zh-CN" sz="1200" kern="1200" dirty="0">
                <a:solidFill>
                  <a:schemeClr val="tx1"/>
                </a:solidFill>
                <a:effectLst/>
                <a:latin typeface="+mn-lt"/>
                <a:ea typeface="+mn-ea"/>
                <a:cs typeface="+mn-cs"/>
              </a:rPr>
              <a:t>的结点表示其初始值。 </a:t>
            </a:r>
            <a:endParaRPr lang="en-US" altLang="zh-CN" sz="1200" kern="1200" dirty="0">
              <a:solidFill>
                <a:schemeClr val="tx1"/>
              </a:solidFill>
              <a:effectLst/>
              <a:latin typeface="+mn-lt"/>
              <a:ea typeface="+mn-ea"/>
              <a:cs typeface="+mn-cs"/>
            </a:endParaRP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zh-CN" altLang="zh-CN" sz="1200" kern="1200" dirty="0">
              <a:solidFill>
                <a:schemeClr val="tx1"/>
              </a:solidFill>
              <a:effectLst/>
              <a:latin typeface="+mn-lt"/>
              <a:ea typeface="+mn-ea"/>
              <a:cs typeface="+mn-cs"/>
            </a:endParaRPr>
          </a:p>
          <a:p>
            <a:pPr marL="228600" indent="-228600">
              <a:buAutoNum type="arabicPeriod"/>
            </a:pPr>
            <a:endParaRPr lang="zh-CN" altLang="zh-CN" sz="1200" kern="1200" dirty="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48</a:t>
            </a:fld>
            <a:endParaRPr lang="zh-CN" altLang="en-US"/>
          </a:p>
        </p:txBody>
      </p:sp>
    </p:spTree>
    <p:extLst>
      <p:ext uri="{BB962C8B-B14F-4D97-AF65-F5344CB8AC3E}">
        <p14:creationId xmlns:p14="http://schemas.microsoft.com/office/powerpoint/2010/main" val="53586581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kern="1200" dirty="0">
                <a:solidFill>
                  <a:schemeClr val="tx1"/>
                </a:solidFill>
                <a:effectLst/>
                <a:latin typeface="+mn-lt"/>
                <a:ea typeface="+mn-ea"/>
                <a:cs typeface="+mn-cs"/>
              </a:rPr>
              <a:t>2. </a:t>
            </a:r>
            <a:r>
              <a:rPr lang="zh-CN" altLang="zh-CN" sz="1200" kern="1200" dirty="0">
                <a:solidFill>
                  <a:schemeClr val="tx1"/>
                </a:solidFill>
                <a:effectLst/>
                <a:latin typeface="+mn-lt"/>
                <a:ea typeface="+mn-ea"/>
                <a:cs typeface="+mn-cs"/>
              </a:rPr>
              <a:t>基本块内的每个语句</a:t>
            </a:r>
            <a:r>
              <a:rPr lang="en-US" altLang="zh-CN" sz="1200" kern="1200" dirty="0">
                <a:solidFill>
                  <a:schemeClr val="tx1"/>
                </a:solidFill>
                <a:effectLst/>
                <a:latin typeface="+mn-lt"/>
                <a:ea typeface="+mn-ea"/>
                <a:cs typeface="+mn-cs"/>
              </a:rPr>
              <a:t>s</a:t>
            </a:r>
            <a:r>
              <a:rPr lang="zh-CN" altLang="zh-CN" sz="1200" kern="1200" dirty="0">
                <a:solidFill>
                  <a:schemeClr val="tx1"/>
                </a:solidFill>
                <a:effectLst/>
                <a:latin typeface="+mn-lt"/>
                <a:ea typeface="+mn-ea"/>
                <a:cs typeface="+mn-cs"/>
              </a:rPr>
              <a:t>都有一个相关联的结点</a:t>
            </a:r>
            <a:r>
              <a:rPr lang="en-US" altLang="zh-CN" sz="1200" kern="1200" dirty="0">
                <a:solidFill>
                  <a:schemeClr val="tx1"/>
                </a:solidFill>
                <a:effectLst/>
                <a:latin typeface="+mn-lt"/>
                <a:ea typeface="+mn-ea"/>
                <a:cs typeface="+mn-cs"/>
              </a:rPr>
              <a:t>N</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 N </a:t>
            </a:r>
            <a:r>
              <a:rPr lang="zh-CN" altLang="zh-CN" sz="1200" kern="1200" dirty="0">
                <a:solidFill>
                  <a:schemeClr val="tx1"/>
                </a:solidFill>
                <a:effectLst/>
                <a:latin typeface="+mn-lt"/>
                <a:ea typeface="+mn-ea"/>
                <a:cs typeface="+mn-cs"/>
              </a:rPr>
              <a:t>的子结点是基本块中的其他语句的对应结点。这些语句是在</a:t>
            </a:r>
            <a:r>
              <a:rPr lang="en-US" altLang="zh-CN" sz="1200" kern="1200" dirty="0">
                <a:solidFill>
                  <a:schemeClr val="tx1"/>
                </a:solidFill>
                <a:effectLst/>
                <a:latin typeface="+mn-lt"/>
                <a:ea typeface="+mn-ea"/>
                <a:cs typeface="+mn-cs"/>
              </a:rPr>
              <a:t>s</a:t>
            </a:r>
            <a:r>
              <a:rPr lang="zh-CN" altLang="zh-CN" sz="1200" kern="1200" dirty="0">
                <a:solidFill>
                  <a:schemeClr val="tx1"/>
                </a:solidFill>
                <a:effectLst/>
                <a:latin typeface="+mn-lt"/>
                <a:ea typeface="+mn-ea"/>
                <a:cs typeface="+mn-cs"/>
              </a:rPr>
              <a:t>之前、最后一个对所使用的某个运算分量进行定值的语句。 </a:t>
            </a:r>
            <a:endParaRPr lang="en-US"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3. </a:t>
            </a:r>
            <a:r>
              <a:rPr lang="zh-CN" altLang="zh-CN" sz="1200" kern="1200" dirty="0">
                <a:solidFill>
                  <a:schemeClr val="tx1"/>
                </a:solidFill>
                <a:effectLst/>
                <a:latin typeface="+mn-lt"/>
                <a:ea typeface="+mn-ea"/>
                <a:cs typeface="+mn-cs"/>
              </a:rPr>
              <a:t>结点</a:t>
            </a:r>
            <a:r>
              <a:rPr lang="en-US" altLang="zh-CN" sz="1200" kern="1200" dirty="0">
                <a:solidFill>
                  <a:schemeClr val="tx1"/>
                </a:solidFill>
                <a:effectLst/>
                <a:latin typeface="+mn-lt"/>
                <a:ea typeface="+mn-ea"/>
                <a:cs typeface="+mn-cs"/>
              </a:rPr>
              <a:t> N</a:t>
            </a:r>
            <a:r>
              <a:rPr lang="zh-CN" altLang="zh-CN" sz="1200" kern="1200" dirty="0">
                <a:solidFill>
                  <a:schemeClr val="tx1"/>
                </a:solidFill>
                <a:effectLst/>
                <a:latin typeface="+mn-lt"/>
                <a:ea typeface="+mn-ea"/>
                <a:cs typeface="+mn-cs"/>
              </a:rPr>
              <a:t>的标号是</a:t>
            </a:r>
            <a:r>
              <a:rPr lang="en-US" altLang="zh-CN" sz="1200" kern="1200" dirty="0">
                <a:solidFill>
                  <a:schemeClr val="tx1"/>
                </a:solidFill>
                <a:effectLst/>
                <a:latin typeface="+mn-lt"/>
                <a:ea typeface="+mn-ea"/>
                <a:cs typeface="+mn-cs"/>
              </a:rPr>
              <a:t>s</a:t>
            </a:r>
            <a:r>
              <a:rPr lang="zh-CN" altLang="zh-CN" sz="1200" kern="1200" dirty="0">
                <a:solidFill>
                  <a:schemeClr val="tx1"/>
                </a:solidFill>
                <a:effectLst/>
                <a:latin typeface="+mn-lt"/>
                <a:ea typeface="+mn-ea"/>
                <a:cs typeface="+mn-cs"/>
              </a:rPr>
              <a:t>中的运算符；同时还有一组变量被关联到</a:t>
            </a:r>
            <a:r>
              <a:rPr lang="en-US" altLang="zh-CN" sz="1200" kern="1200" dirty="0">
                <a:solidFill>
                  <a:schemeClr val="tx1"/>
                </a:solidFill>
                <a:effectLst/>
                <a:latin typeface="+mn-lt"/>
                <a:ea typeface="+mn-ea"/>
                <a:cs typeface="+mn-cs"/>
              </a:rPr>
              <a:t>N</a:t>
            </a:r>
            <a:r>
              <a:rPr lang="zh-CN" altLang="zh-CN" sz="1200" kern="1200" dirty="0">
                <a:solidFill>
                  <a:schemeClr val="tx1"/>
                </a:solidFill>
                <a:effectLst/>
                <a:latin typeface="+mn-lt"/>
                <a:ea typeface="+mn-ea"/>
                <a:cs typeface="+mn-cs"/>
              </a:rPr>
              <a:t>，表示</a:t>
            </a:r>
            <a:r>
              <a:rPr lang="en-US" altLang="zh-CN" sz="1200" kern="1200" dirty="0">
                <a:solidFill>
                  <a:schemeClr val="tx1"/>
                </a:solidFill>
                <a:effectLst/>
                <a:latin typeface="+mn-lt"/>
                <a:ea typeface="+mn-ea"/>
                <a:cs typeface="+mn-cs"/>
              </a:rPr>
              <a:t>s</a:t>
            </a:r>
            <a:r>
              <a:rPr lang="zh-CN" altLang="zh-CN" sz="1200" kern="1200" dirty="0">
                <a:solidFill>
                  <a:schemeClr val="tx1"/>
                </a:solidFill>
                <a:effectLst/>
                <a:latin typeface="+mn-lt"/>
                <a:ea typeface="+mn-ea"/>
                <a:cs typeface="+mn-cs"/>
              </a:rPr>
              <a:t>是在此基本块内</a:t>
            </a:r>
            <a:r>
              <a:rPr lang="zh-CN" altLang="en-US" sz="1200" kern="1200" dirty="0">
                <a:solidFill>
                  <a:schemeClr val="tx1"/>
                </a:solidFill>
                <a:effectLst/>
                <a:latin typeface="+mn-lt"/>
                <a:ea typeface="+mn-ea"/>
                <a:cs typeface="+mn-cs"/>
              </a:rPr>
              <a:t>最</a:t>
            </a:r>
            <a:r>
              <a:rPr lang="zh-CN" altLang="zh-CN" sz="1200" kern="1200" dirty="0">
                <a:solidFill>
                  <a:schemeClr val="tx1"/>
                </a:solidFill>
                <a:effectLst/>
                <a:latin typeface="+mn-lt"/>
                <a:ea typeface="+mn-ea"/>
                <a:cs typeface="+mn-cs"/>
              </a:rPr>
              <a:t>组晚对这些变量进行定值的语句。</a:t>
            </a:r>
          </a:p>
          <a:p>
            <a:r>
              <a:rPr lang="en-US" altLang="zh-CN" sz="1200" kern="1200" dirty="0">
                <a:solidFill>
                  <a:schemeClr val="tx1"/>
                </a:solidFill>
                <a:effectLst/>
                <a:latin typeface="+mn-lt"/>
                <a:ea typeface="+mn-ea"/>
                <a:cs typeface="+mn-cs"/>
              </a:rPr>
              <a:t>4. </a:t>
            </a:r>
            <a:r>
              <a:rPr lang="zh-CN" altLang="zh-CN" sz="1200" kern="1200" dirty="0">
                <a:solidFill>
                  <a:schemeClr val="tx1"/>
                </a:solidFill>
                <a:effectLst/>
                <a:latin typeface="+mn-lt"/>
                <a:ea typeface="+mn-ea"/>
                <a:cs typeface="+mn-cs"/>
              </a:rPr>
              <a:t>某些结点被指明为输出结点。这些结点的变量在基本块的出口处活跃。也就是说，这些变量的值可以稍后在流图的另一个块中使用。这些</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活跃变量</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的计算是全局数据流分析的问题，在第</a:t>
            </a:r>
            <a:r>
              <a:rPr lang="en-US" altLang="zh-CN" sz="1200" kern="1200" dirty="0">
                <a:solidFill>
                  <a:schemeClr val="tx1"/>
                </a:solidFill>
                <a:effectLst/>
                <a:latin typeface="+mn-lt"/>
                <a:ea typeface="+mn-ea"/>
                <a:cs typeface="+mn-cs"/>
              </a:rPr>
              <a:t> 9.2.5 </a:t>
            </a:r>
            <a:r>
              <a:rPr lang="zh-CN" altLang="zh-CN" sz="1200" kern="1200" dirty="0">
                <a:solidFill>
                  <a:schemeClr val="tx1"/>
                </a:solidFill>
                <a:effectLst/>
                <a:latin typeface="+mn-lt"/>
                <a:ea typeface="+mn-ea"/>
                <a:cs typeface="+mn-cs"/>
              </a:rPr>
              <a:t>节中讨论。</a:t>
            </a:r>
          </a:p>
          <a:p>
            <a:endParaRPr lang="zh-CN" altLang="en-US"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49</a:t>
            </a:fld>
            <a:endParaRPr lang="zh-CN" altLang="en-US"/>
          </a:p>
        </p:txBody>
      </p:sp>
    </p:spTree>
    <p:extLst>
      <p:ext uri="{BB962C8B-B14F-4D97-AF65-F5344CB8AC3E}">
        <p14:creationId xmlns:p14="http://schemas.microsoft.com/office/powerpoint/2010/main" val="373958507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我们为基本块构造一个</a:t>
            </a:r>
            <a:r>
              <a:rPr lang="en-US" altLang="zh-CN" sz="1200" kern="1200" dirty="0">
                <a:solidFill>
                  <a:schemeClr val="tx1"/>
                </a:solidFill>
                <a:effectLst/>
                <a:latin typeface="+mn-lt"/>
                <a:ea typeface="+mn-ea"/>
                <a:cs typeface="+mn-cs"/>
              </a:rPr>
              <a:t> DAG</a:t>
            </a:r>
            <a:r>
              <a:rPr lang="zh-CN" altLang="zh-CN" sz="1200" kern="1200" dirty="0">
                <a:solidFill>
                  <a:schemeClr val="tx1"/>
                </a:solidFill>
                <a:effectLst/>
                <a:latin typeface="+mn-lt"/>
                <a:ea typeface="+mn-ea"/>
                <a:cs typeface="+mn-cs"/>
              </a:rPr>
              <a:t>，如下所示：</a:t>
            </a:r>
          </a:p>
          <a:p>
            <a:pPr marL="228600" indent="-228600">
              <a:buAutoNum type="arabicPeriod"/>
            </a:pPr>
            <a:r>
              <a:rPr lang="zh-CN" altLang="zh-CN" sz="1200" kern="1200" dirty="0">
                <a:solidFill>
                  <a:schemeClr val="tx1"/>
                </a:solidFill>
                <a:effectLst/>
                <a:latin typeface="+mn-lt"/>
                <a:ea typeface="+mn-ea"/>
                <a:cs typeface="+mn-cs"/>
              </a:rPr>
              <a:t>对于基本块中出现的每个变量有一个对应的</a:t>
            </a:r>
            <a:r>
              <a:rPr lang="en-US" altLang="zh-CN" sz="1200" kern="1200" dirty="0">
                <a:solidFill>
                  <a:schemeClr val="tx1"/>
                </a:solidFill>
                <a:effectLst/>
                <a:latin typeface="+mn-lt"/>
                <a:ea typeface="+mn-ea"/>
                <a:cs typeface="+mn-cs"/>
              </a:rPr>
              <a:t>DAG</a:t>
            </a:r>
            <a:r>
              <a:rPr lang="zh-CN" altLang="zh-CN" sz="1200" kern="1200" dirty="0">
                <a:solidFill>
                  <a:schemeClr val="tx1"/>
                </a:solidFill>
                <a:effectLst/>
                <a:latin typeface="+mn-lt"/>
                <a:ea typeface="+mn-ea"/>
                <a:cs typeface="+mn-cs"/>
              </a:rPr>
              <a:t>的结点表示其初始值。 </a:t>
            </a:r>
            <a:endParaRPr lang="en-US" altLang="zh-CN" sz="1200" kern="1200" dirty="0">
              <a:solidFill>
                <a:schemeClr val="tx1"/>
              </a:solidFill>
              <a:effectLst/>
              <a:latin typeface="+mn-lt"/>
              <a:ea typeface="+mn-ea"/>
              <a:cs typeface="+mn-cs"/>
            </a:endParaRP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zh-CN" altLang="zh-CN" sz="1200" kern="1200" dirty="0">
                <a:solidFill>
                  <a:schemeClr val="tx1"/>
                </a:solidFill>
                <a:effectLst/>
                <a:latin typeface="+mn-lt"/>
                <a:ea typeface="+mn-ea"/>
                <a:cs typeface="+mn-cs"/>
              </a:rPr>
              <a:t>基本块内的每个语句</a:t>
            </a:r>
            <a:r>
              <a:rPr lang="en-US" altLang="zh-CN" sz="1200" kern="1200" dirty="0">
                <a:solidFill>
                  <a:schemeClr val="tx1"/>
                </a:solidFill>
                <a:effectLst/>
                <a:latin typeface="+mn-lt"/>
                <a:ea typeface="+mn-ea"/>
                <a:cs typeface="+mn-cs"/>
              </a:rPr>
              <a:t>s</a:t>
            </a:r>
            <a:r>
              <a:rPr lang="zh-CN" altLang="zh-CN" sz="1200" kern="1200" dirty="0">
                <a:solidFill>
                  <a:schemeClr val="tx1"/>
                </a:solidFill>
                <a:effectLst/>
                <a:latin typeface="+mn-lt"/>
                <a:ea typeface="+mn-ea"/>
                <a:cs typeface="+mn-cs"/>
              </a:rPr>
              <a:t>都有一个相关联的结点</a:t>
            </a:r>
            <a:r>
              <a:rPr lang="en-US" altLang="zh-CN" sz="1200" kern="1200" dirty="0">
                <a:solidFill>
                  <a:schemeClr val="tx1"/>
                </a:solidFill>
                <a:effectLst/>
                <a:latin typeface="+mn-lt"/>
                <a:ea typeface="+mn-ea"/>
                <a:cs typeface="+mn-cs"/>
              </a:rPr>
              <a:t>N</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 N </a:t>
            </a:r>
            <a:r>
              <a:rPr lang="zh-CN" altLang="zh-CN" sz="1200" kern="1200" dirty="0">
                <a:solidFill>
                  <a:schemeClr val="tx1"/>
                </a:solidFill>
                <a:effectLst/>
                <a:latin typeface="+mn-lt"/>
                <a:ea typeface="+mn-ea"/>
                <a:cs typeface="+mn-cs"/>
              </a:rPr>
              <a:t>的子结点是基本块中的其他语句的对应结点。这些语句是在</a:t>
            </a:r>
            <a:r>
              <a:rPr lang="en-US" altLang="zh-CN" sz="1200" kern="1200" dirty="0">
                <a:solidFill>
                  <a:schemeClr val="tx1"/>
                </a:solidFill>
                <a:effectLst/>
                <a:latin typeface="+mn-lt"/>
                <a:ea typeface="+mn-ea"/>
                <a:cs typeface="+mn-cs"/>
              </a:rPr>
              <a:t>s</a:t>
            </a:r>
            <a:r>
              <a:rPr lang="zh-CN" altLang="zh-CN" sz="1200" kern="1200" dirty="0">
                <a:solidFill>
                  <a:schemeClr val="tx1"/>
                </a:solidFill>
                <a:effectLst/>
                <a:latin typeface="+mn-lt"/>
                <a:ea typeface="+mn-ea"/>
                <a:cs typeface="+mn-cs"/>
              </a:rPr>
              <a:t>之前、最后一个对所使用的某个运算分量进行定值的语句。 </a:t>
            </a:r>
            <a:endParaRPr lang="en-US"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3. </a:t>
            </a:r>
            <a:r>
              <a:rPr lang="zh-CN" altLang="zh-CN" sz="1200" kern="1200" dirty="0">
                <a:solidFill>
                  <a:schemeClr val="tx1"/>
                </a:solidFill>
                <a:effectLst/>
                <a:latin typeface="+mn-lt"/>
                <a:ea typeface="+mn-ea"/>
                <a:cs typeface="+mn-cs"/>
              </a:rPr>
              <a:t>结点</a:t>
            </a:r>
            <a:r>
              <a:rPr lang="en-US" altLang="zh-CN" sz="1200" kern="1200" dirty="0">
                <a:solidFill>
                  <a:schemeClr val="tx1"/>
                </a:solidFill>
                <a:effectLst/>
                <a:latin typeface="+mn-lt"/>
                <a:ea typeface="+mn-ea"/>
                <a:cs typeface="+mn-cs"/>
              </a:rPr>
              <a:t> N</a:t>
            </a:r>
            <a:r>
              <a:rPr lang="zh-CN" altLang="zh-CN" sz="1200" kern="1200" dirty="0">
                <a:solidFill>
                  <a:schemeClr val="tx1"/>
                </a:solidFill>
                <a:effectLst/>
                <a:latin typeface="+mn-lt"/>
                <a:ea typeface="+mn-ea"/>
                <a:cs typeface="+mn-cs"/>
              </a:rPr>
              <a:t>的标号是</a:t>
            </a:r>
            <a:r>
              <a:rPr lang="en-US" altLang="zh-CN" sz="1200" kern="1200" dirty="0">
                <a:solidFill>
                  <a:schemeClr val="tx1"/>
                </a:solidFill>
                <a:effectLst/>
                <a:latin typeface="+mn-lt"/>
                <a:ea typeface="+mn-ea"/>
                <a:cs typeface="+mn-cs"/>
              </a:rPr>
              <a:t>s</a:t>
            </a:r>
            <a:r>
              <a:rPr lang="zh-CN" altLang="zh-CN" sz="1200" kern="1200" dirty="0">
                <a:solidFill>
                  <a:schemeClr val="tx1"/>
                </a:solidFill>
                <a:effectLst/>
                <a:latin typeface="+mn-lt"/>
                <a:ea typeface="+mn-ea"/>
                <a:cs typeface="+mn-cs"/>
              </a:rPr>
              <a:t>中的运算符；同时还有一组变量被关联到</a:t>
            </a:r>
            <a:r>
              <a:rPr lang="en-US" altLang="zh-CN" sz="1200" kern="1200" dirty="0">
                <a:solidFill>
                  <a:schemeClr val="tx1"/>
                </a:solidFill>
                <a:effectLst/>
                <a:latin typeface="+mn-lt"/>
                <a:ea typeface="+mn-ea"/>
                <a:cs typeface="+mn-cs"/>
              </a:rPr>
              <a:t>N</a:t>
            </a:r>
            <a:r>
              <a:rPr lang="zh-CN" altLang="zh-CN" sz="1200" kern="1200" dirty="0">
                <a:solidFill>
                  <a:schemeClr val="tx1"/>
                </a:solidFill>
                <a:effectLst/>
                <a:latin typeface="+mn-lt"/>
                <a:ea typeface="+mn-ea"/>
                <a:cs typeface="+mn-cs"/>
              </a:rPr>
              <a:t>，表示</a:t>
            </a:r>
            <a:r>
              <a:rPr lang="en-US" altLang="zh-CN" sz="1200" kern="1200" dirty="0">
                <a:solidFill>
                  <a:schemeClr val="tx1"/>
                </a:solidFill>
                <a:effectLst/>
                <a:latin typeface="+mn-lt"/>
                <a:ea typeface="+mn-ea"/>
                <a:cs typeface="+mn-cs"/>
              </a:rPr>
              <a:t>s</a:t>
            </a:r>
            <a:r>
              <a:rPr lang="zh-CN" altLang="zh-CN" sz="1200" kern="1200" dirty="0">
                <a:solidFill>
                  <a:schemeClr val="tx1"/>
                </a:solidFill>
                <a:effectLst/>
                <a:latin typeface="+mn-lt"/>
                <a:ea typeface="+mn-ea"/>
                <a:cs typeface="+mn-cs"/>
              </a:rPr>
              <a:t>是在此基本块内</a:t>
            </a:r>
            <a:r>
              <a:rPr lang="zh-CN" altLang="en-US" sz="1200" kern="1200" dirty="0">
                <a:solidFill>
                  <a:schemeClr val="tx1"/>
                </a:solidFill>
                <a:effectLst/>
                <a:latin typeface="+mn-lt"/>
                <a:ea typeface="+mn-ea"/>
                <a:cs typeface="+mn-cs"/>
              </a:rPr>
              <a:t>最</a:t>
            </a:r>
            <a:r>
              <a:rPr lang="zh-CN" altLang="zh-CN" sz="1200" kern="1200" dirty="0">
                <a:solidFill>
                  <a:schemeClr val="tx1"/>
                </a:solidFill>
                <a:effectLst/>
                <a:latin typeface="+mn-lt"/>
                <a:ea typeface="+mn-ea"/>
                <a:cs typeface="+mn-cs"/>
              </a:rPr>
              <a:t>组晚对这些变量进行定值的语句。</a:t>
            </a:r>
          </a:p>
          <a:p>
            <a:r>
              <a:rPr lang="en-US" altLang="zh-CN" sz="1200" kern="1200" dirty="0">
                <a:solidFill>
                  <a:schemeClr val="tx1"/>
                </a:solidFill>
                <a:effectLst/>
                <a:latin typeface="+mn-lt"/>
                <a:ea typeface="+mn-ea"/>
                <a:cs typeface="+mn-cs"/>
              </a:rPr>
              <a:t>4. </a:t>
            </a:r>
            <a:r>
              <a:rPr lang="zh-CN" altLang="zh-CN" sz="1200" kern="1200" dirty="0">
                <a:solidFill>
                  <a:schemeClr val="tx1"/>
                </a:solidFill>
                <a:effectLst/>
                <a:latin typeface="+mn-lt"/>
                <a:ea typeface="+mn-ea"/>
                <a:cs typeface="+mn-cs"/>
              </a:rPr>
              <a:t>某些结点被指明为输出结点。这些结点的变量在基本块的出口处活跃。也就是说，这些变量的值可以稍后在流图的另一个块中使用。这些</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活跃变量</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的计算是全局数据流分析的问题，在第</a:t>
            </a:r>
            <a:r>
              <a:rPr lang="en-US" altLang="zh-CN" sz="1200" kern="1200" dirty="0">
                <a:solidFill>
                  <a:schemeClr val="tx1"/>
                </a:solidFill>
                <a:effectLst/>
                <a:latin typeface="+mn-lt"/>
                <a:ea typeface="+mn-ea"/>
                <a:cs typeface="+mn-cs"/>
              </a:rPr>
              <a:t> 9.2.5 </a:t>
            </a:r>
            <a:r>
              <a:rPr lang="zh-CN" altLang="zh-CN" sz="1200" kern="1200" dirty="0">
                <a:solidFill>
                  <a:schemeClr val="tx1"/>
                </a:solidFill>
                <a:effectLst/>
                <a:latin typeface="+mn-lt"/>
                <a:ea typeface="+mn-ea"/>
                <a:cs typeface="+mn-cs"/>
              </a:rPr>
              <a:t>节中讨论。</a:t>
            </a:r>
          </a:p>
          <a:p>
            <a:endParaRPr lang="zh-CN" altLang="en-US"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50</a:t>
            </a:fld>
            <a:endParaRPr lang="zh-CN" altLang="en-US"/>
          </a:p>
        </p:txBody>
      </p:sp>
    </p:spTree>
    <p:extLst>
      <p:ext uri="{BB962C8B-B14F-4D97-AF65-F5344CB8AC3E}">
        <p14:creationId xmlns:p14="http://schemas.microsoft.com/office/powerpoint/2010/main" val="30036555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kern="1200" dirty="0">
                <a:solidFill>
                  <a:schemeClr val="tx1"/>
                </a:solidFill>
                <a:effectLst/>
                <a:latin typeface="+mn-lt"/>
                <a:ea typeface="+mn-ea"/>
                <a:cs typeface="+mn-cs"/>
              </a:rPr>
              <a:t>2. </a:t>
            </a:r>
            <a:r>
              <a:rPr lang="zh-CN" altLang="zh-CN" sz="1200" kern="1200" dirty="0">
                <a:solidFill>
                  <a:schemeClr val="tx1"/>
                </a:solidFill>
                <a:effectLst/>
                <a:latin typeface="+mn-lt"/>
                <a:ea typeface="+mn-ea"/>
                <a:cs typeface="+mn-cs"/>
              </a:rPr>
              <a:t>基本块内的每个语句</a:t>
            </a:r>
            <a:r>
              <a:rPr lang="en-US" altLang="zh-CN" sz="1200" kern="1200" dirty="0">
                <a:solidFill>
                  <a:schemeClr val="tx1"/>
                </a:solidFill>
                <a:effectLst/>
                <a:latin typeface="+mn-lt"/>
                <a:ea typeface="+mn-ea"/>
                <a:cs typeface="+mn-cs"/>
              </a:rPr>
              <a:t>s</a:t>
            </a:r>
            <a:r>
              <a:rPr lang="zh-CN" altLang="zh-CN" sz="1200" kern="1200" dirty="0">
                <a:solidFill>
                  <a:schemeClr val="tx1"/>
                </a:solidFill>
                <a:effectLst/>
                <a:latin typeface="+mn-lt"/>
                <a:ea typeface="+mn-ea"/>
                <a:cs typeface="+mn-cs"/>
              </a:rPr>
              <a:t>都有一个相关联的结点</a:t>
            </a:r>
            <a:r>
              <a:rPr lang="en-US" altLang="zh-CN" sz="1200" kern="1200" dirty="0">
                <a:solidFill>
                  <a:schemeClr val="tx1"/>
                </a:solidFill>
                <a:effectLst/>
                <a:latin typeface="+mn-lt"/>
                <a:ea typeface="+mn-ea"/>
                <a:cs typeface="+mn-cs"/>
              </a:rPr>
              <a:t>N</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 N </a:t>
            </a:r>
            <a:r>
              <a:rPr lang="zh-CN" altLang="zh-CN" sz="1200" kern="1200" dirty="0">
                <a:solidFill>
                  <a:schemeClr val="tx1"/>
                </a:solidFill>
                <a:effectLst/>
                <a:latin typeface="+mn-lt"/>
                <a:ea typeface="+mn-ea"/>
                <a:cs typeface="+mn-cs"/>
              </a:rPr>
              <a:t>的子结点是基本块中的其他语句的对应结点。这些语句是在</a:t>
            </a:r>
            <a:r>
              <a:rPr lang="en-US" altLang="zh-CN" sz="1200" kern="1200" dirty="0">
                <a:solidFill>
                  <a:schemeClr val="tx1"/>
                </a:solidFill>
                <a:effectLst/>
                <a:latin typeface="+mn-lt"/>
                <a:ea typeface="+mn-ea"/>
                <a:cs typeface="+mn-cs"/>
              </a:rPr>
              <a:t>s</a:t>
            </a:r>
            <a:r>
              <a:rPr lang="zh-CN" altLang="zh-CN" sz="1200" kern="1200" dirty="0">
                <a:solidFill>
                  <a:schemeClr val="tx1"/>
                </a:solidFill>
                <a:effectLst/>
                <a:latin typeface="+mn-lt"/>
                <a:ea typeface="+mn-ea"/>
                <a:cs typeface="+mn-cs"/>
              </a:rPr>
              <a:t>之前、最后一个对所使用的某个运算分量进行定值的语句。 </a:t>
            </a:r>
            <a:endParaRPr lang="en-US"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3. </a:t>
            </a:r>
            <a:r>
              <a:rPr lang="zh-CN" altLang="zh-CN" sz="1200" kern="1200" dirty="0">
                <a:solidFill>
                  <a:schemeClr val="tx1"/>
                </a:solidFill>
                <a:effectLst/>
                <a:latin typeface="+mn-lt"/>
                <a:ea typeface="+mn-ea"/>
                <a:cs typeface="+mn-cs"/>
              </a:rPr>
              <a:t>结点</a:t>
            </a:r>
            <a:r>
              <a:rPr lang="en-US" altLang="zh-CN" sz="1200" kern="1200" dirty="0">
                <a:solidFill>
                  <a:schemeClr val="tx1"/>
                </a:solidFill>
                <a:effectLst/>
                <a:latin typeface="+mn-lt"/>
                <a:ea typeface="+mn-ea"/>
                <a:cs typeface="+mn-cs"/>
              </a:rPr>
              <a:t> N</a:t>
            </a:r>
            <a:r>
              <a:rPr lang="zh-CN" altLang="zh-CN" sz="1200" kern="1200" dirty="0">
                <a:solidFill>
                  <a:schemeClr val="tx1"/>
                </a:solidFill>
                <a:effectLst/>
                <a:latin typeface="+mn-lt"/>
                <a:ea typeface="+mn-ea"/>
                <a:cs typeface="+mn-cs"/>
              </a:rPr>
              <a:t>的标号是</a:t>
            </a:r>
            <a:r>
              <a:rPr lang="en-US" altLang="zh-CN" sz="1200" kern="1200" dirty="0">
                <a:solidFill>
                  <a:schemeClr val="tx1"/>
                </a:solidFill>
                <a:effectLst/>
                <a:latin typeface="+mn-lt"/>
                <a:ea typeface="+mn-ea"/>
                <a:cs typeface="+mn-cs"/>
              </a:rPr>
              <a:t>s</a:t>
            </a:r>
            <a:r>
              <a:rPr lang="zh-CN" altLang="zh-CN" sz="1200" kern="1200" dirty="0">
                <a:solidFill>
                  <a:schemeClr val="tx1"/>
                </a:solidFill>
                <a:effectLst/>
                <a:latin typeface="+mn-lt"/>
                <a:ea typeface="+mn-ea"/>
                <a:cs typeface="+mn-cs"/>
              </a:rPr>
              <a:t>中的运算符；同时还有一组变量被关联到</a:t>
            </a:r>
            <a:r>
              <a:rPr lang="en-US" altLang="zh-CN" sz="1200" kern="1200" dirty="0">
                <a:solidFill>
                  <a:schemeClr val="tx1"/>
                </a:solidFill>
                <a:effectLst/>
                <a:latin typeface="+mn-lt"/>
                <a:ea typeface="+mn-ea"/>
                <a:cs typeface="+mn-cs"/>
              </a:rPr>
              <a:t>N</a:t>
            </a:r>
            <a:r>
              <a:rPr lang="zh-CN" altLang="zh-CN" sz="1200" kern="1200" dirty="0">
                <a:solidFill>
                  <a:schemeClr val="tx1"/>
                </a:solidFill>
                <a:effectLst/>
                <a:latin typeface="+mn-lt"/>
                <a:ea typeface="+mn-ea"/>
                <a:cs typeface="+mn-cs"/>
              </a:rPr>
              <a:t>，表示</a:t>
            </a:r>
            <a:r>
              <a:rPr lang="en-US" altLang="zh-CN" sz="1200" kern="1200" dirty="0">
                <a:solidFill>
                  <a:schemeClr val="tx1"/>
                </a:solidFill>
                <a:effectLst/>
                <a:latin typeface="+mn-lt"/>
                <a:ea typeface="+mn-ea"/>
                <a:cs typeface="+mn-cs"/>
              </a:rPr>
              <a:t>s</a:t>
            </a:r>
            <a:r>
              <a:rPr lang="zh-CN" altLang="zh-CN" sz="1200" kern="1200" dirty="0">
                <a:solidFill>
                  <a:schemeClr val="tx1"/>
                </a:solidFill>
                <a:effectLst/>
                <a:latin typeface="+mn-lt"/>
                <a:ea typeface="+mn-ea"/>
                <a:cs typeface="+mn-cs"/>
              </a:rPr>
              <a:t>是在此基本块内</a:t>
            </a:r>
            <a:r>
              <a:rPr lang="zh-CN" altLang="en-US" sz="1200" kern="1200" dirty="0">
                <a:solidFill>
                  <a:schemeClr val="tx1"/>
                </a:solidFill>
                <a:effectLst/>
                <a:latin typeface="+mn-lt"/>
                <a:ea typeface="+mn-ea"/>
                <a:cs typeface="+mn-cs"/>
              </a:rPr>
              <a:t>最</a:t>
            </a:r>
            <a:r>
              <a:rPr lang="zh-CN" altLang="zh-CN" sz="1200" kern="1200" dirty="0">
                <a:solidFill>
                  <a:schemeClr val="tx1"/>
                </a:solidFill>
                <a:effectLst/>
                <a:latin typeface="+mn-lt"/>
                <a:ea typeface="+mn-ea"/>
                <a:cs typeface="+mn-cs"/>
              </a:rPr>
              <a:t>组晚对这些变量进行定值的语句。</a:t>
            </a:r>
          </a:p>
          <a:p>
            <a:r>
              <a:rPr lang="en-US" altLang="zh-CN" sz="1200" kern="1200" dirty="0">
                <a:solidFill>
                  <a:schemeClr val="tx1"/>
                </a:solidFill>
                <a:effectLst/>
                <a:latin typeface="+mn-lt"/>
                <a:ea typeface="+mn-ea"/>
                <a:cs typeface="+mn-cs"/>
              </a:rPr>
              <a:t>4. </a:t>
            </a:r>
            <a:r>
              <a:rPr lang="zh-CN" altLang="zh-CN" sz="1200" kern="1200" dirty="0">
                <a:solidFill>
                  <a:schemeClr val="tx1"/>
                </a:solidFill>
                <a:effectLst/>
                <a:latin typeface="+mn-lt"/>
                <a:ea typeface="+mn-ea"/>
                <a:cs typeface="+mn-cs"/>
              </a:rPr>
              <a:t>某些结点被指明为输出结点。这些结点的变量在基本块的出口处活跃。也就是说，这些变量的值可以稍后在流图的另一个块中使用。这些</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活跃变量</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的计算是全局数据流分析的问题，在第</a:t>
            </a:r>
            <a:r>
              <a:rPr lang="en-US" altLang="zh-CN" sz="1200" kern="1200" dirty="0">
                <a:solidFill>
                  <a:schemeClr val="tx1"/>
                </a:solidFill>
                <a:effectLst/>
                <a:latin typeface="+mn-lt"/>
                <a:ea typeface="+mn-ea"/>
                <a:cs typeface="+mn-cs"/>
              </a:rPr>
              <a:t> 9.2.5 </a:t>
            </a:r>
            <a:r>
              <a:rPr lang="zh-CN" altLang="zh-CN" sz="1200" kern="1200" dirty="0">
                <a:solidFill>
                  <a:schemeClr val="tx1"/>
                </a:solidFill>
                <a:effectLst/>
                <a:latin typeface="+mn-lt"/>
                <a:ea typeface="+mn-ea"/>
                <a:cs typeface="+mn-cs"/>
              </a:rPr>
              <a:t>节中讨论。</a:t>
            </a:r>
          </a:p>
          <a:p>
            <a:endParaRPr lang="zh-CN" altLang="en-US"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51</a:t>
            </a:fld>
            <a:endParaRPr lang="zh-CN" altLang="en-US"/>
          </a:p>
        </p:txBody>
      </p:sp>
    </p:spTree>
    <p:extLst>
      <p:ext uri="{BB962C8B-B14F-4D97-AF65-F5344CB8AC3E}">
        <p14:creationId xmlns:p14="http://schemas.microsoft.com/office/powerpoint/2010/main" val="3284824353"/>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检测公共子表达式的方法是这样的，当一个新的节点</a:t>
            </a:r>
            <a:r>
              <a:rPr lang="en-US" altLang="zh-CN" sz="1200" kern="1200" dirty="0">
                <a:solidFill>
                  <a:schemeClr val="tx1"/>
                </a:solidFill>
                <a:effectLst/>
                <a:latin typeface="+mn-lt"/>
                <a:ea typeface="+mn-ea"/>
                <a:cs typeface="+mn-cs"/>
              </a:rPr>
              <a:t> M </a:t>
            </a:r>
            <a:r>
              <a:rPr lang="zh-CN" altLang="zh-CN" sz="1200" kern="1200" dirty="0">
                <a:solidFill>
                  <a:schemeClr val="tx1"/>
                </a:solidFill>
                <a:effectLst/>
                <a:latin typeface="+mn-lt"/>
                <a:ea typeface="+mn-ea"/>
                <a:cs typeface="+mn-cs"/>
              </a:rPr>
              <a:t>被加入到</a:t>
            </a:r>
            <a:r>
              <a:rPr lang="en-US" altLang="zh-CN" sz="1200" kern="1200" dirty="0">
                <a:solidFill>
                  <a:schemeClr val="tx1"/>
                </a:solidFill>
                <a:effectLst/>
                <a:latin typeface="+mn-lt"/>
                <a:ea typeface="+mn-ea"/>
                <a:cs typeface="+mn-cs"/>
              </a:rPr>
              <a:t>DAG</a:t>
            </a:r>
            <a:r>
              <a:rPr lang="zh-CN" altLang="zh-CN" sz="1200" kern="1200" dirty="0">
                <a:solidFill>
                  <a:schemeClr val="tx1"/>
                </a:solidFill>
                <a:effectLst/>
                <a:latin typeface="+mn-lt"/>
                <a:ea typeface="+mn-ea"/>
                <a:cs typeface="+mn-cs"/>
              </a:rPr>
              <a:t>时，检测是否存在一个结点</a:t>
            </a:r>
            <a:r>
              <a:rPr lang="en-US" altLang="zh-CN" sz="1200" kern="1200" dirty="0">
                <a:solidFill>
                  <a:schemeClr val="tx1"/>
                </a:solidFill>
                <a:effectLst/>
                <a:latin typeface="+mn-lt"/>
                <a:ea typeface="+mn-ea"/>
                <a:cs typeface="+mn-cs"/>
              </a:rPr>
              <a:t>N</a:t>
            </a:r>
            <a:r>
              <a:rPr lang="zh-CN" altLang="zh-CN" sz="1200" kern="1200" dirty="0">
                <a:solidFill>
                  <a:schemeClr val="tx1"/>
                </a:solidFill>
                <a:effectLst/>
                <a:latin typeface="+mn-lt"/>
                <a:ea typeface="+mn-ea"/>
                <a:cs typeface="+mn-cs"/>
              </a:rPr>
              <a:t>，它和</a:t>
            </a:r>
            <a:r>
              <a:rPr lang="en-US" altLang="zh-CN" sz="1200" kern="1200" dirty="0">
                <a:solidFill>
                  <a:schemeClr val="tx1"/>
                </a:solidFill>
                <a:effectLst/>
                <a:latin typeface="+mn-lt"/>
                <a:ea typeface="+mn-ea"/>
                <a:cs typeface="+mn-cs"/>
              </a:rPr>
              <a:t>M</a:t>
            </a:r>
            <a:r>
              <a:rPr lang="zh-CN" altLang="zh-CN" sz="1200" kern="1200" dirty="0">
                <a:solidFill>
                  <a:schemeClr val="tx1"/>
                </a:solidFill>
                <a:effectLst/>
                <a:latin typeface="+mn-lt"/>
                <a:ea typeface="+mn-ea"/>
                <a:cs typeface="+mn-cs"/>
              </a:rPr>
              <a:t>具有相同运算符和子节点，且子节点的顺序相同。如果是这样，</a:t>
            </a:r>
            <a:r>
              <a:rPr lang="en-US" altLang="zh-CN" sz="1200" kern="1200" dirty="0">
                <a:solidFill>
                  <a:schemeClr val="tx1"/>
                </a:solidFill>
                <a:effectLst/>
                <a:latin typeface="+mn-lt"/>
                <a:ea typeface="+mn-ea"/>
                <a:cs typeface="+mn-cs"/>
              </a:rPr>
              <a:t>N </a:t>
            </a:r>
            <a:r>
              <a:rPr lang="zh-CN" altLang="zh-CN" sz="1200" kern="1200" dirty="0">
                <a:solidFill>
                  <a:schemeClr val="tx1"/>
                </a:solidFill>
                <a:effectLst/>
                <a:latin typeface="+mn-lt"/>
                <a:ea typeface="+mn-ea"/>
                <a:cs typeface="+mn-cs"/>
              </a:rPr>
              <a:t>计算的值与</a:t>
            </a:r>
            <a:r>
              <a:rPr lang="en-US" altLang="zh-CN" sz="1200" kern="1200" dirty="0">
                <a:solidFill>
                  <a:schemeClr val="tx1"/>
                </a:solidFill>
                <a:effectLst/>
                <a:latin typeface="+mn-lt"/>
                <a:ea typeface="+mn-ea"/>
                <a:cs typeface="+mn-cs"/>
              </a:rPr>
              <a:t> M</a:t>
            </a:r>
            <a:r>
              <a:rPr lang="zh-CN" altLang="zh-CN" sz="1200" kern="1200" dirty="0">
                <a:solidFill>
                  <a:schemeClr val="tx1"/>
                </a:solidFill>
                <a:effectLst/>
                <a:latin typeface="+mn-lt"/>
                <a:ea typeface="+mn-ea"/>
                <a:cs typeface="+mn-cs"/>
              </a:rPr>
              <a:t>计算的的值是一样的，因此，可以用</a:t>
            </a:r>
            <a:r>
              <a:rPr lang="en-US" altLang="zh-CN" sz="1200" kern="1200" dirty="0">
                <a:solidFill>
                  <a:schemeClr val="tx1"/>
                </a:solidFill>
                <a:effectLst/>
                <a:latin typeface="+mn-lt"/>
                <a:ea typeface="+mn-ea"/>
                <a:cs typeface="+mn-cs"/>
              </a:rPr>
              <a:t>N</a:t>
            </a:r>
            <a:r>
              <a:rPr lang="zh-CN" altLang="zh-CN" sz="1200" kern="1200" dirty="0">
                <a:solidFill>
                  <a:schemeClr val="tx1"/>
                </a:solidFill>
                <a:effectLst/>
                <a:latin typeface="+mn-lt"/>
                <a:ea typeface="+mn-ea"/>
                <a:cs typeface="+mn-cs"/>
              </a:rPr>
              <a:t>替换</a:t>
            </a:r>
            <a:r>
              <a:rPr lang="en-US" altLang="zh-CN" sz="1200" kern="1200" dirty="0">
                <a:solidFill>
                  <a:schemeClr val="tx1"/>
                </a:solidFill>
                <a:effectLst/>
                <a:latin typeface="+mn-lt"/>
                <a:ea typeface="+mn-ea"/>
                <a:cs typeface="+mn-cs"/>
              </a:rPr>
              <a:t>M</a:t>
            </a:r>
            <a:r>
              <a:rPr lang="zh-CN" altLang="zh-CN" sz="1200" kern="1200" dirty="0">
                <a:solidFill>
                  <a:schemeClr val="tx1"/>
                </a:solidFill>
                <a:effectLst/>
                <a:latin typeface="+mn-lt"/>
                <a:ea typeface="+mn-ea"/>
                <a:cs typeface="+mn-cs"/>
              </a:rPr>
              <a:t>。该技术在第</a:t>
            </a:r>
            <a:r>
              <a:rPr lang="en-US" altLang="zh-CN" sz="1200" kern="1200" dirty="0">
                <a:solidFill>
                  <a:schemeClr val="tx1"/>
                </a:solidFill>
                <a:effectLst/>
                <a:latin typeface="+mn-lt"/>
                <a:ea typeface="+mn-ea"/>
                <a:cs typeface="+mn-cs"/>
              </a:rPr>
              <a:t> 6.1.1 </a:t>
            </a:r>
            <a:r>
              <a:rPr lang="zh-CN" altLang="zh-CN" sz="1200" kern="1200" dirty="0">
                <a:solidFill>
                  <a:schemeClr val="tx1"/>
                </a:solidFill>
                <a:effectLst/>
                <a:latin typeface="+mn-lt"/>
                <a:ea typeface="+mn-ea"/>
                <a:cs typeface="+mn-cs"/>
              </a:rPr>
              <a:t>节中作为检测公共子表达式的</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值编码</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方法引入。</a:t>
            </a:r>
          </a:p>
          <a:p>
            <a:endParaRPr lang="zh-CN" altLang="en-US"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52</a:t>
            </a:fld>
            <a:endParaRPr lang="zh-CN" altLang="en-US"/>
          </a:p>
        </p:txBody>
      </p:sp>
    </p:spTree>
    <p:extLst>
      <p:ext uri="{BB962C8B-B14F-4D97-AF65-F5344CB8AC3E}">
        <p14:creationId xmlns:p14="http://schemas.microsoft.com/office/powerpoint/2010/main" val="3894898159"/>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53</a:t>
            </a:fld>
            <a:endParaRPr lang="zh-CN" altLang="en-US"/>
          </a:p>
        </p:txBody>
      </p:sp>
    </p:spTree>
    <p:extLst>
      <p:ext uri="{BB962C8B-B14F-4D97-AF65-F5344CB8AC3E}">
        <p14:creationId xmlns:p14="http://schemas.microsoft.com/office/powerpoint/2010/main" val="3948380645"/>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当我们为第三条语句</a:t>
            </a:r>
            <a:r>
              <a:rPr lang="en-US" altLang="zh-CN" sz="1200" kern="1200" dirty="0">
                <a:solidFill>
                  <a:schemeClr val="tx1"/>
                </a:solidFill>
                <a:effectLst/>
                <a:latin typeface="+mn-lt"/>
                <a:ea typeface="+mn-ea"/>
                <a:cs typeface="+mn-cs"/>
              </a:rPr>
              <a:t> c = </a:t>
            </a:r>
            <a:r>
              <a:rPr lang="en-US" altLang="zh-CN" sz="1200" kern="1200" dirty="0" err="1">
                <a:solidFill>
                  <a:schemeClr val="tx1"/>
                </a:solidFill>
                <a:effectLst/>
                <a:latin typeface="+mn-lt"/>
                <a:ea typeface="+mn-ea"/>
                <a:cs typeface="+mn-cs"/>
              </a:rPr>
              <a:t>b+c</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构造结点时，我们知道</a:t>
            </a:r>
            <a:r>
              <a:rPr lang="en-US" altLang="zh-CN" sz="1200" kern="1200" dirty="0">
                <a:solidFill>
                  <a:schemeClr val="tx1"/>
                </a:solidFill>
                <a:effectLst/>
                <a:latin typeface="+mn-lt"/>
                <a:ea typeface="+mn-ea"/>
                <a:cs typeface="+mn-cs"/>
              </a:rPr>
              <a:t> </a:t>
            </a:r>
            <a:r>
              <a:rPr lang="en-US" altLang="zh-CN" sz="1200" kern="1200" dirty="0" err="1">
                <a:solidFill>
                  <a:schemeClr val="tx1"/>
                </a:solidFill>
                <a:effectLst/>
                <a:latin typeface="+mn-lt"/>
                <a:ea typeface="+mn-ea"/>
                <a:cs typeface="+mn-cs"/>
              </a:rPr>
              <a:t>b+c</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中使用的</a:t>
            </a:r>
            <a:r>
              <a:rPr lang="en-US" altLang="zh-CN" sz="1200" kern="1200" dirty="0">
                <a:solidFill>
                  <a:schemeClr val="tx1"/>
                </a:solidFill>
                <a:effectLst/>
                <a:latin typeface="+mn-lt"/>
                <a:ea typeface="+mn-ea"/>
                <a:cs typeface="+mn-cs"/>
              </a:rPr>
              <a:t> b </a:t>
            </a:r>
            <a:r>
              <a:rPr lang="zh-CN" altLang="zh-CN" sz="1200" kern="1200" dirty="0">
                <a:solidFill>
                  <a:schemeClr val="tx1"/>
                </a:solidFill>
                <a:effectLst/>
                <a:latin typeface="+mn-lt"/>
                <a:ea typeface="+mn-ea"/>
                <a:cs typeface="+mn-cs"/>
              </a:rPr>
              <a:t>指的是图</a:t>
            </a:r>
            <a:r>
              <a:rPr lang="en-US" altLang="zh-CN" sz="1200" kern="1200" dirty="0">
                <a:solidFill>
                  <a:schemeClr val="tx1"/>
                </a:solidFill>
                <a:effectLst/>
                <a:latin typeface="+mn-lt"/>
                <a:ea typeface="+mn-ea"/>
                <a:cs typeface="+mn-cs"/>
              </a:rPr>
              <a:t> 8.12 </a:t>
            </a:r>
            <a:r>
              <a:rPr lang="zh-CN" altLang="zh-CN" sz="1200" kern="1200" dirty="0">
                <a:solidFill>
                  <a:schemeClr val="tx1"/>
                </a:solidFill>
                <a:effectLst/>
                <a:latin typeface="+mn-lt"/>
                <a:ea typeface="+mn-ea"/>
                <a:cs typeface="+mn-cs"/>
              </a:rPr>
              <a:t>中 标号为－的节点。因为这个结点是</a:t>
            </a:r>
            <a:r>
              <a:rPr lang="en-US" altLang="zh-CN" sz="1200" kern="1200" dirty="0">
                <a:solidFill>
                  <a:schemeClr val="tx1"/>
                </a:solidFill>
                <a:effectLst/>
                <a:latin typeface="+mn-lt"/>
                <a:ea typeface="+mn-ea"/>
                <a:cs typeface="+mn-cs"/>
              </a:rPr>
              <a:t>b </a:t>
            </a:r>
            <a:r>
              <a:rPr lang="zh-CN" altLang="zh-CN" sz="1200" kern="1200" dirty="0">
                <a:solidFill>
                  <a:schemeClr val="tx1"/>
                </a:solidFill>
                <a:effectLst/>
                <a:latin typeface="+mn-lt"/>
                <a:ea typeface="+mn-ea"/>
                <a:cs typeface="+mn-cs"/>
              </a:rPr>
              <a:t>的最近的定值。因此，我们不会混淆语句１和语句三３所计算的值。</a:t>
            </a:r>
          </a:p>
          <a:p>
            <a:endParaRPr lang="zh-CN" altLang="en-US"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54</a:t>
            </a:fld>
            <a:endParaRPr lang="zh-CN" altLang="en-US"/>
          </a:p>
        </p:txBody>
      </p:sp>
    </p:spTree>
    <p:extLst>
      <p:ext uri="{BB962C8B-B14F-4D97-AF65-F5344CB8AC3E}">
        <p14:creationId xmlns:p14="http://schemas.microsoft.com/office/powerpoint/2010/main" val="133123663"/>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然而，对应于第四条语句</a:t>
            </a:r>
            <a:r>
              <a:rPr lang="en-US" altLang="zh-CN" sz="1200" kern="1200" dirty="0">
                <a:solidFill>
                  <a:schemeClr val="tx1"/>
                </a:solidFill>
                <a:effectLst/>
                <a:latin typeface="+mn-lt"/>
                <a:ea typeface="+mn-ea"/>
                <a:cs typeface="+mn-cs"/>
              </a:rPr>
              <a:t> d = a-d </a:t>
            </a:r>
            <a:r>
              <a:rPr lang="zh-CN" altLang="zh-CN" sz="1200" kern="1200" dirty="0">
                <a:solidFill>
                  <a:schemeClr val="tx1"/>
                </a:solidFill>
                <a:effectLst/>
                <a:latin typeface="+mn-lt"/>
                <a:ea typeface="+mn-ea"/>
                <a:cs typeface="+mn-cs"/>
              </a:rPr>
              <a:t>的结点</a:t>
            </a:r>
            <a:r>
              <a:rPr lang="zh-CN" altLang="en-US" sz="1200" kern="1200" dirty="0">
                <a:solidFill>
                  <a:schemeClr val="tx1"/>
                </a:solidFill>
                <a:effectLst/>
                <a:latin typeface="+mn-lt"/>
                <a:ea typeface="+mn-ea"/>
                <a:cs typeface="+mn-cs"/>
              </a:rPr>
              <a:t>的</a:t>
            </a:r>
            <a:r>
              <a:rPr lang="zh-CN" altLang="zh-CN" sz="1200" kern="1200" dirty="0">
                <a:solidFill>
                  <a:schemeClr val="tx1"/>
                </a:solidFill>
                <a:effectLst/>
                <a:latin typeface="+mn-lt"/>
                <a:ea typeface="+mn-ea"/>
                <a:cs typeface="+mn-cs"/>
              </a:rPr>
              <a:t>运算符是－，且它的子结点是标记有变量ａ和</a:t>
            </a:r>
            <a:r>
              <a:rPr lang="en-US" altLang="zh-CN" sz="1200" kern="1200" dirty="0">
                <a:solidFill>
                  <a:schemeClr val="tx1"/>
                </a:solidFill>
                <a:effectLst/>
                <a:latin typeface="+mn-lt"/>
                <a:ea typeface="+mn-ea"/>
                <a:cs typeface="+mn-cs"/>
              </a:rPr>
              <a:t> d0</a:t>
            </a:r>
            <a:r>
              <a:rPr lang="zh-CN" altLang="zh-CN" sz="1200" kern="1200" dirty="0">
                <a:solidFill>
                  <a:schemeClr val="tx1"/>
                </a:solidFill>
                <a:effectLst/>
                <a:latin typeface="+mn-lt"/>
                <a:ea typeface="+mn-ea"/>
                <a:cs typeface="+mn-cs"/>
              </a:rPr>
              <a:t>的结点。由于运算符和子结点都与语句２对应的 结点相同，我们我们不需要创建此结点，而是将</a:t>
            </a:r>
            <a:r>
              <a:rPr lang="en-US" altLang="zh-CN" sz="1200" kern="1200" dirty="0">
                <a:solidFill>
                  <a:schemeClr val="tx1"/>
                </a:solidFill>
                <a:effectLst/>
                <a:latin typeface="+mn-lt"/>
                <a:ea typeface="+mn-ea"/>
                <a:cs typeface="+mn-cs"/>
              </a:rPr>
              <a:t> d </a:t>
            </a:r>
            <a:r>
              <a:rPr lang="zh-CN" altLang="zh-CN" sz="1200" kern="1200" dirty="0">
                <a:solidFill>
                  <a:schemeClr val="tx1"/>
                </a:solidFill>
                <a:effectLst/>
                <a:latin typeface="+mn-lt"/>
                <a:ea typeface="+mn-ea"/>
                <a:cs typeface="+mn-cs"/>
              </a:rPr>
              <a:t>添加到这个标记为－的结点的定值变量表中。</a:t>
            </a:r>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由于图</a:t>
            </a:r>
            <a:r>
              <a:rPr lang="en-US" altLang="zh-CN" sz="1200" kern="1200" dirty="0">
                <a:solidFill>
                  <a:schemeClr val="tx1"/>
                </a:solidFill>
                <a:effectLst/>
                <a:latin typeface="+mn-lt"/>
                <a:ea typeface="+mn-ea"/>
                <a:cs typeface="+mn-cs"/>
              </a:rPr>
              <a:t> 8.12 </a:t>
            </a:r>
            <a:r>
              <a:rPr lang="zh-CN" altLang="zh-CN" sz="1200" kern="1200" dirty="0">
                <a:solidFill>
                  <a:schemeClr val="tx1"/>
                </a:solidFill>
                <a:effectLst/>
                <a:latin typeface="+mn-lt"/>
                <a:ea typeface="+mn-ea"/>
                <a:cs typeface="+mn-cs"/>
              </a:rPr>
              <a:t>的</a:t>
            </a:r>
            <a:r>
              <a:rPr lang="en-US" altLang="zh-CN" sz="1200" kern="1200" dirty="0">
                <a:solidFill>
                  <a:schemeClr val="tx1"/>
                </a:solidFill>
                <a:effectLst/>
                <a:latin typeface="+mn-lt"/>
                <a:ea typeface="+mn-ea"/>
                <a:cs typeface="+mn-cs"/>
              </a:rPr>
              <a:t> DAG </a:t>
            </a:r>
            <a:r>
              <a:rPr lang="zh-CN" altLang="zh-CN" sz="1200" kern="1200" dirty="0">
                <a:solidFill>
                  <a:schemeClr val="tx1"/>
                </a:solidFill>
                <a:effectLst/>
                <a:latin typeface="+mn-lt"/>
                <a:ea typeface="+mn-ea"/>
                <a:cs typeface="+mn-cs"/>
              </a:rPr>
              <a:t>中只有三个非叶节点，看起来示例</a:t>
            </a:r>
            <a:r>
              <a:rPr lang="en-US" altLang="zh-CN" sz="1200" kern="1200" dirty="0">
                <a:solidFill>
                  <a:schemeClr val="tx1"/>
                </a:solidFill>
                <a:effectLst/>
                <a:latin typeface="+mn-lt"/>
                <a:ea typeface="+mn-ea"/>
                <a:cs typeface="+mn-cs"/>
              </a:rPr>
              <a:t> 8.10 </a:t>
            </a:r>
            <a:r>
              <a:rPr lang="zh-CN" altLang="zh-CN" sz="1200" kern="1200" dirty="0">
                <a:solidFill>
                  <a:schemeClr val="tx1"/>
                </a:solidFill>
                <a:effectLst/>
                <a:latin typeface="+mn-lt"/>
                <a:ea typeface="+mn-ea"/>
                <a:cs typeface="+mn-cs"/>
              </a:rPr>
              <a:t>中的基本块可以替换为一个只有三个语句的基本块。事实上，如果</a:t>
            </a:r>
            <a:r>
              <a:rPr lang="en-US" altLang="zh-CN" sz="1200" kern="1200" dirty="0">
                <a:solidFill>
                  <a:schemeClr val="tx1"/>
                </a:solidFill>
                <a:effectLst/>
                <a:latin typeface="+mn-lt"/>
                <a:ea typeface="+mn-ea"/>
                <a:cs typeface="+mn-cs"/>
              </a:rPr>
              <a:t> b </a:t>
            </a:r>
            <a:r>
              <a:rPr lang="zh-CN" altLang="zh-CN" sz="1200" kern="1200" dirty="0">
                <a:solidFill>
                  <a:schemeClr val="tx1"/>
                </a:solidFill>
                <a:effectLst/>
                <a:latin typeface="+mn-lt"/>
                <a:ea typeface="+mn-ea"/>
                <a:cs typeface="+mn-cs"/>
              </a:rPr>
              <a:t>在退出块时不活跃，那么我们不需要计算该变量ｂ，并且可以使用</a:t>
            </a:r>
            <a:r>
              <a:rPr lang="en-US" altLang="zh-CN" sz="1200" kern="1200" dirty="0">
                <a:solidFill>
                  <a:schemeClr val="tx1"/>
                </a:solidFill>
                <a:effectLst/>
                <a:latin typeface="+mn-lt"/>
                <a:ea typeface="+mn-ea"/>
                <a:cs typeface="+mn-cs"/>
              </a:rPr>
              <a:t> d </a:t>
            </a:r>
            <a:r>
              <a:rPr lang="zh-CN" altLang="zh-CN" sz="1200" kern="1200" dirty="0">
                <a:solidFill>
                  <a:schemeClr val="tx1"/>
                </a:solidFill>
                <a:effectLst/>
                <a:latin typeface="+mn-lt"/>
                <a:ea typeface="+mn-ea"/>
                <a:cs typeface="+mn-cs"/>
              </a:rPr>
              <a:t>来存放由图</a:t>
            </a:r>
            <a:r>
              <a:rPr lang="en-US" altLang="zh-CN" sz="1200" kern="1200" dirty="0">
                <a:solidFill>
                  <a:schemeClr val="tx1"/>
                </a:solidFill>
                <a:effectLst/>
                <a:latin typeface="+mn-lt"/>
                <a:ea typeface="+mn-ea"/>
                <a:cs typeface="+mn-cs"/>
              </a:rPr>
              <a:t> 8.12 </a:t>
            </a:r>
            <a:r>
              <a:rPr lang="zh-CN" altLang="zh-CN" sz="1200" kern="1200" dirty="0">
                <a:solidFill>
                  <a:schemeClr val="tx1"/>
                </a:solidFill>
                <a:effectLst/>
                <a:latin typeface="+mn-lt"/>
                <a:ea typeface="+mn-ea"/>
                <a:cs typeface="+mn-cs"/>
              </a:rPr>
              <a:t>中的标号为－的结点所代表的值。这个基本块就变成了</a:t>
            </a:r>
          </a:p>
          <a:p>
            <a:r>
              <a:rPr lang="en-US" altLang="zh-CN" sz="1200" kern="1200" dirty="0">
                <a:solidFill>
                  <a:schemeClr val="tx1"/>
                </a:solidFill>
                <a:effectLst/>
                <a:latin typeface="+mn-lt"/>
                <a:ea typeface="+mn-ea"/>
                <a:cs typeface="+mn-cs"/>
              </a:rPr>
              <a:t>a=b+ c </a:t>
            </a:r>
          </a:p>
          <a:p>
            <a:r>
              <a:rPr lang="en-US" altLang="zh-CN" sz="1200" kern="1200" dirty="0">
                <a:solidFill>
                  <a:schemeClr val="tx1"/>
                </a:solidFill>
                <a:effectLst/>
                <a:latin typeface="+mn-lt"/>
                <a:ea typeface="+mn-ea"/>
                <a:cs typeface="+mn-cs"/>
              </a:rPr>
              <a:t>d=a- d </a:t>
            </a:r>
          </a:p>
          <a:p>
            <a:r>
              <a:rPr lang="en-US" altLang="zh-CN" sz="1200" kern="1200" dirty="0">
                <a:solidFill>
                  <a:schemeClr val="tx1"/>
                </a:solidFill>
                <a:effectLst/>
                <a:latin typeface="+mn-lt"/>
                <a:ea typeface="+mn-ea"/>
                <a:cs typeface="+mn-cs"/>
              </a:rPr>
              <a:t>c=d+ c</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然而，如果</a:t>
            </a:r>
            <a:r>
              <a:rPr lang="en-US" altLang="zh-CN" sz="1200" kern="1200" dirty="0">
                <a:solidFill>
                  <a:schemeClr val="tx1"/>
                </a:solidFill>
                <a:effectLst/>
                <a:latin typeface="+mn-lt"/>
                <a:ea typeface="+mn-ea"/>
                <a:cs typeface="+mn-cs"/>
              </a:rPr>
              <a:t> b </a:t>
            </a:r>
            <a:r>
              <a:rPr lang="zh-CN" altLang="zh-CN"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 d </a:t>
            </a:r>
            <a:r>
              <a:rPr lang="zh-CN" altLang="zh-CN" sz="1200" kern="1200" dirty="0">
                <a:solidFill>
                  <a:schemeClr val="tx1"/>
                </a:solidFill>
                <a:effectLst/>
                <a:latin typeface="+mn-lt"/>
                <a:ea typeface="+mn-ea"/>
                <a:cs typeface="+mn-cs"/>
              </a:rPr>
              <a:t>在出口处活跃，则必须使用第四条语句将值从一个复制到另一个</a:t>
            </a:r>
            <a:r>
              <a:rPr lang="zh-CN" altLang="en-US" sz="1200" kern="1200" dirty="0">
                <a:solidFill>
                  <a:schemeClr val="tx1"/>
                </a:solidFill>
                <a:effectLst/>
                <a:latin typeface="+mn-lt"/>
                <a:ea typeface="+mn-ea"/>
                <a:cs typeface="+mn-cs"/>
              </a:rPr>
              <a:t>。</a:t>
            </a:r>
            <a:endParaRPr lang="zh-CN" altLang="en-US"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55</a:t>
            </a:fld>
            <a:endParaRPr lang="zh-CN" altLang="en-US"/>
          </a:p>
        </p:txBody>
      </p:sp>
    </p:spTree>
    <p:extLst>
      <p:ext uri="{BB962C8B-B14F-4D97-AF65-F5344CB8AC3E}">
        <p14:creationId xmlns:p14="http://schemas.microsoft.com/office/powerpoint/2010/main" val="19174347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对应于死码消除的</a:t>
            </a:r>
            <a:r>
              <a:rPr lang="en-US" altLang="zh-CN" sz="1200" kern="1200" dirty="0">
                <a:solidFill>
                  <a:schemeClr val="tx1"/>
                </a:solidFill>
                <a:effectLst/>
                <a:latin typeface="+mn-lt"/>
                <a:ea typeface="+mn-ea"/>
                <a:cs typeface="+mn-cs"/>
              </a:rPr>
              <a:t> DAG </a:t>
            </a:r>
            <a:r>
              <a:rPr lang="zh-CN" altLang="zh-CN" sz="1200" kern="1200" dirty="0">
                <a:solidFill>
                  <a:schemeClr val="tx1"/>
                </a:solidFill>
                <a:effectLst/>
                <a:latin typeface="+mn-lt"/>
                <a:ea typeface="+mn-ea"/>
                <a:cs typeface="+mn-cs"/>
              </a:rPr>
              <a:t>操作可以按如下方式实现。</a:t>
            </a:r>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我们从一个</a:t>
            </a:r>
            <a:r>
              <a:rPr lang="en-US" altLang="zh-CN" sz="1200" kern="1200" dirty="0">
                <a:solidFill>
                  <a:schemeClr val="tx1"/>
                </a:solidFill>
                <a:effectLst/>
                <a:latin typeface="+mn-lt"/>
                <a:ea typeface="+mn-ea"/>
                <a:cs typeface="+mn-cs"/>
              </a:rPr>
              <a:t>DAG</a:t>
            </a:r>
            <a:r>
              <a:rPr lang="zh-CN" altLang="zh-CN" sz="1200" kern="1200" dirty="0">
                <a:solidFill>
                  <a:schemeClr val="tx1"/>
                </a:solidFill>
                <a:effectLst/>
                <a:latin typeface="+mn-lt"/>
                <a:ea typeface="+mn-ea"/>
                <a:cs typeface="+mn-cs"/>
              </a:rPr>
              <a:t>上删除所有没有附加活跃变量的根结点（没有祖先的节点）。</a:t>
            </a:r>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重复应用此处理过程，就可从</a:t>
            </a:r>
            <a:r>
              <a:rPr lang="en-US" altLang="zh-CN" sz="1200" kern="1200" dirty="0">
                <a:solidFill>
                  <a:schemeClr val="tx1"/>
                </a:solidFill>
                <a:effectLst/>
                <a:latin typeface="+mn-lt"/>
                <a:ea typeface="+mn-ea"/>
                <a:cs typeface="+mn-cs"/>
              </a:rPr>
              <a:t> DAG </a:t>
            </a:r>
            <a:r>
              <a:rPr lang="zh-CN" altLang="zh-CN" sz="1200" kern="1200" dirty="0">
                <a:solidFill>
                  <a:schemeClr val="tx1"/>
                </a:solidFill>
                <a:effectLst/>
                <a:latin typeface="+mn-lt"/>
                <a:ea typeface="+mn-ea"/>
                <a:cs typeface="+mn-cs"/>
              </a:rPr>
              <a:t>中删除与死代码对应的所有节点。</a:t>
            </a:r>
          </a:p>
          <a:p>
            <a:r>
              <a:rPr lang="zh-CN" altLang="zh-CN" sz="1200" kern="1200" dirty="0">
                <a:solidFill>
                  <a:schemeClr val="tx1"/>
                </a:solidFill>
                <a:effectLst/>
                <a:latin typeface="+mn-lt"/>
                <a:ea typeface="+mn-ea"/>
                <a:cs typeface="+mn-cs"/>
              </a:rPr>
              <a:t>例</a:t>
            </a:r>
            <a:r>
              <a:rPr lang="en-US" altLang="zh-CN" sz="1200" kern="1200" dirty="0">
                <a:solidFill>
                  <a:schemeClr val="tx1"/>
                </a:solidFill>
                <a:effectLst/>
                <a:latin typeface="+mn-lt"/>
                <a:ea typeface="+mn-ea"/>
                <a:cs typeface="+mn-cs"/>
              </a:rPr>
              <a:t> 8.12</a:t>
            </a:r>
            <a:r>
              <a:rPr lang="zh-CN" altLang="zh-CN" sz="1200" kern="1200" dirty="0">
                <a:solidFill>
                  <a:schemeClr val="tx1"/>
                </a:solidFill>
                <a:effectLst/>
                <a:latin typeface="+mn-lt"/>
                <a:ea typeface="+mn-ea"/>
                <a:cs typeface="+mn-cs"/>
              </a:rPr>
              <a:t>：如果在图</a:t>
            </a:r>
            <a:r>
              <a:rPr lang="en-US" altLang="zh-CN" sz="1200" kern="1200" dirty="0">
                <a:solidFill>
                  <a:schemeClr val="tx1"/>
                </a:solidFill>
                <a:effectLst/>
                <a:latin typeface="+mn-lt"/>
                <a:ea typeface="+mn-ea"/>
                <a:cs typeface="+mn-cs"/>
              </a:rPr>
              <a:t> 8.13 </a:t>
            </a:r>
            <a:r>
              <a:rPr lang="zh-CN" altLang="zh-CN" sz="1200" kern="1200" dirty="0">
                <a:solidFill>
                  <a:schemeClr val="tx1"/>
                </a:solidFill>
                <a:effectLst/>
                <a:latin typeface="+mn-lt"/>
                <a:ea typeface="+mn-ea"/>
                <a:cs typeface="+mn-cs"/>
              </a:rPr>
              <a:t>中，</a:t>
            </a:r>
            <a:r>
              <a:rPr lang="en-US" altLang="zh-CN" sz="1200" kern="1200" dirty="0">
                <a:solidFill>
                  <a:schemeClr val="tx1"/>
                </a:solidFill>
                <a:effectLst/>
                <a:latin typeface="+mn-lt"/>
                <a:ea typeface="+mn-ea"/>
                <a:cs typeface="+mn-cs"/>
              </a:rPr>
              <a:t>a </a:t>
            </a:r>
            <a:r>
              <a:rPr lang="zh-CN" altLang="zh-CN"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 b </a:t>
            </a:r>
            <a:r>
              <a:rPr lang="zh-CN" altLang="zh-CN" sz="1200" kern="1200" dirty="0">
                <a:solidFill>
                  <a:schemeClr val="tx1"/>
                </a:solidFill>
                <a:effectLst/>
                <a:latin typeface="+mn-lt"/>
                <a:ea typeface="+mn-ea"/>
                <a:cs typeface="+mn-cs"/>
              </a:rPr>
              <a:t>是活跃变量，而</a:t>
            </a:r>
            <a:r>
              <a:rPr lang="en-US" altLang="zh-CN" sz="1200" kern="1200" dirty="0">
                <a:solidFill>
                  <a:schemeClr val="tx1"/>
                </a:solidFill>
                <a:effectLst/>
                <a:latin typeface="+mn-lt"/>
                <a:ea typeface="+mn-ea"/>
                <a:cs typeface="+mn-cs"/>
              </a:rPr>
              <a:t> c </a:t>
            </a:r>
            <a:r>
              <a:rPr lang="zh-CN" altLang="zh-CN"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 e </a:t>
            </a:r>
            <a:r>
              <a:rPr lang="zh-CN" altLang="zh-CN" sz="1200" kern="1200" dirty="0">
                <a:solidFill>
                  <a:schemeClr val="tx1"/>
                </a:solidFill>
                <a:effectLst/>
                <a:latin typeface="+mn-lt"/>
                <a:ea typeface="+mn-ea"/>
                <a:cs typeface="+mn-cs"/>
              </a:rPr>
              <a:t>不是，我们可以立即删除标记为</a:t>
            </a:r>
            <a:r>
              <a:rPr lang="en-US" altLang="zh-CN" sz="1200" kern="1200" dirty="0">
                <a:solidFill>
                  <a:schemeClr val="tx1"/>
                </a:solidFill>
                <a:effectLst/>
                <a:latin typeface="+mn-lt"/>
                <a:ea typeface="+mn-ea"/>
                <a:cs typeface="+mn-cs"/>
              </a:rPr>
              <a:t> e </a:t>
            </a:r>
            <a:r>
              <a:rPr lang="zh-CN" altLang="zh-CN" sz="1200" kern="1200" dirty="0">
                <a:solidFill>
                  <a:schemeClr val="tx1"/>
                </a:solidFill>
                <a:effectLst/>
                <a:latin typeface="+mn-lt"/>
                <a:ea typeface="+mn-ea"/>
                <a:cs typeface="+mn-cs"/>
              </a:rPr>
              <a:t>的根结点。然后，标记为</a:t>
            </a:r>
            <a:r>
              <a:rPr lang="en-US" altLang="zh-CN" sz="1200" kern="1200" dirty="0">
                <a:solidFill>
                  <a:schemeClr val="tx1"/>
                </a:solidFill>
                <a:effectLst/>
                <a:latin typeface="+mn-lt"/>
                <a:ea typeface="+mn-ea"/>
                <a:cs typeface="+mn-cs"/>
              </a:rPr>
              <a:t>c</a:t>
            </a:r>
            <a:r>
              <a:rPr lang="zh-CN" altLang="zh-CN" sz="1200" kern="1200" dirty="0">
                <a:solidFill>
                  <a:schemeClr val="tx1"/>
                </a:solidFill>
                <a:effectLst/>
                <a:latin typeface="+mn-lt"/>
                <a:ea typeface="+mn-ea"/>
                <a:cs typeface="+mn-cs"/>
              </a:rPr>
              <a:t>的结点就变成根节点，也可以被删除。标有</a:t>
            </a:r>
            <a:r>
              <a:rPr lang="en-US" altLang="zh-CN" sz="1200" kern="1200" dirty="0">
                <a:solidFill>
                  <a:schemeClr val="tx1"/>
                </a:solidFill>
                <a:effectLst/>
                <a:latin typeface="+mn-lt"/>
                <a:ea typeface="+mn-ea"/>
                <a:cs typeface="+mn-cs"/>
              </a:rPr>
              <a:t> a </a:t>
            </a:r>
            <a:r>
              <a:rPr lang="zh-CN" altLang="zh-CN"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 b </a:t>
            </a:r>
            <a:r>
              <a:rPr lang="zh-CN" altLang="zh-CN" sz="1200" kern="1200" dirty="0">
                <a:solidFill>
                  <a:schemeClr val="tx1"/>
                </a:solidFill>
                <a:effectLst/>
                <a:latin typeface="+mn-lt"/>
                <a:ea typeface="+mn-ea"/>
                <a:cs typeface="+mn-cs"/>
              </a:rPr>
              <a:t>的根结点被保留下来，因为它们各自都附加了活跃变量。</a:t>
            </a:r>
          </a:p>
        </p:txBody>
      </p:sp>
      <p:sp>
        <p:nvSpPr>
          <p:cNvPr id="4" name="灯片编号占位符 3"/>
          <p:cNvSpPr>
            <a:spLocks noGrp="1"/>
          </p:cNvSpPr>
          <p:nvPr>
            <p:ph type="sldNum" sz="quarter" idx="5"/>
          </p:nvPr>
        </p:nvSpPr>
        <p:spPr/>
        <p:txBody>
          <a:bodyPr/>
          <a:lstStyle/>
          <a:p>
            <a:fld id="{87F4D71F-C241-4371-B1C7-6C52E22124B5}" type="slidenum">
              <a:rPr lang="zh-CN" altLang="en-US" smtClean="0"/>
              <a:t>56</a:t>
            </a:fld>
            <a:endParaRPr lang="zh-CN" altLang="en-US"/>
          </a:p>
        </p:txBody>
      </p:sp>
    </p:spTree>
    <p:extLst>
      <p:ext uri="{BB962C8B-B14F-4D97-AF65-F5344CB8AC3E}">
        <p14:creationId xmlns:p14="http://schemas.microsoft.com/office/powerpoint/2010/main" val="3999587019"/>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代数恒等式代表了基本块上另一类重要的优化。例如，我们可以应用算术恒等式，例如消除基本块中的计算步骤。</a:t>
            </a:r>
            <a:endParaRPr lang="en-US" altLang="zh-CN" sz="1200" kern="1200" dirty="0">
              <a:solidFill>
                <a:schemeClr val="tx1"/>
              </a:solidFill>
              <a:effectLst/>
              <a:latin typeface="+mn-lt"/>
              <a:ea typeface="+mn-ea"/>
              <a:cs typeface="+mn-cs"/>
            </a:endParaRPr>
          </a:p>
          <a:p>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另一类代数优化包括局部强度削弱，即用代价低的运算替换代价高的运算，如下所示：</a:t>
            </a:r>
          </a:p>
          <a:p>
            <a:r>
              <a:rPr lang="en-US" altLang="zh-CN" sz="1200" kern="1200" dirty="0">
                <a:solidFill>
                  <a:schemeClr val="tx1"/>
                </a:solidFill>
                <a:effectLst/>
                <a:latin typeface="+mn-lt"/>
                <a:ea typeface="+mn-ea"/>
                <a:cs typeface="+mn-cs"/>
              </a:rPr>
              <a:t> </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第三类相关优化是常量合并。使用这种方法时，我们在编译时计算常量表达式，并</a:t>
            </a:r>
            <a:r>
              <a:rPr lang="zh-CN" altLang="en-US" sz="1200" kern="1200" dirty="0">
                <a:solidFill>
                  <a:schemeClr val="tx1"/>
                </a:solidFill>
                <a:effectLst/>
                <a:latin typeface="+mn-lt"/>
                <a:ea typeface="+mn-ea"/>
                <a:cs typeface="+mn-cs"/>
              </a:rPr>
              <a:t>把此</a:t>
            </a:r>
            <a:r>
              <a:rPr lang="zh-CN" altLang="zh-CN" sz="1200" kern="1200" dirty="0">
                <a:solidFill>
                  <a:schemeClr val="tx1"/>
                </a:solidFill>
                <a:effectLst/>
                <a:latin typeface="+mn-lt"/>
                <a:ea typeface="+mn-ea"/>
                <a:cs typeface="+mn-cs"/>
              </a:rPr>
              <a:t>常量表达式</a:t>
            </a:r>
            <a:r>
              <a:rPr lang="zh-CN" altLang="en-US" sz="1200" kern="1200" dirty="0">
                <a:solidFill>
                  <a:schemeClr val="tx1"/>
                </a:solidFill>
                <a:effectLst/>
                <a:latin typeface="+mn-lt"/>
                <a:ea typeface="+mn-ea"/>
                <a:cs typeface="+mn-cs"/>
              </a:rPr>
              <a:t>替换为求出的</a:t>
            </a:r>
            <a:r>
              <a:rPr lang="zh-CN" altLang="zh-CN" sz="1200" kern="1200" dirty="0">
                <a:solidFill>
                  <a:schemeClr val="tx1"/>
                </a:solidFill>
                <a:effectLst/>
                <a:latin typeface="+mn-lt"/>
                <a:ea typeface="+mn-ea"/>
                <a:cs typeface="+mn-cs"/>
              </a:rPr>
              <a:t>值。因此，表达式</a:t>
            </a:r>
            <a:r>
              <a:rPr lang="en-US" altLang="zh-CN" sz="1200" kern="1200" dirty="0">
                <a:solidFill>
                  <a:schemeClr val="tx1"/>
                </a:solidFill>
                <a:effectLst/>
                <a:latin typeface="+mn-lt"/>
                <a:ea typeface="+mn-ea"/>
                <a:cs typeface="+mn-cs"/>
              </a:rPr>
              <a:t> 2X3:14 </a:t>
            </a:r>
            <a:r>
              <a:rPr lang="zh-CN" altLang="zh-CN" sz="1200" kern="1200" dirty="0">
                <a:solidFill>
                  <a:schemeClr val="tx1"/>
                </a:solidFill>
                <a:effectLst/>
                <a:latin typeface="+mn-lt"/>
                <a:ea typeface="+mn-ea"/>
                <a:cs typeface="+mn-cs"/>
              </a:rPr>
              <a:t>将被</a:t>
            </a:r>
            <a:r>
              <a:rPr lang="en-US" altLang="zh-CN" sz="1200" kern="1200" dirty="0">
                <a:solidFill>
                  <a:schemeClr val="tx1"/>
                </a:solidFill>
                <a:effectLst/>
                <a:latin typeface="+mn-lt"/>
                <a:ea typeface="+mn-ea"/>
                <a:cs typeface="+mn-cs"/>
              </a:rPr>
              <a:t> 6.28 </a:t>
            </a:r>
            <a:r>
              <a:rPr lang="zh-CN" altLang="zh-CN" sz="1200" kern="1200" dirty="0">
                <a:solidFill>
                  <a:schemeClr val="tx1"/>
                </a:solidFill>
                <a:effectLst/>
                <a:latin typeface="+mn-lt"/>
                <a:ea typeface="+mn-ea"/>
                <a:cs typeface="+mn-cs"/>
              </a:rPr>
              <a:t>替换。实际中由于程序中频繁使用符号常量，</a:t>
            </a:r>
            <a:r>
              <a:rPr lang="zh-CN" altLang="en-US" sz="1200" kern="1200" dirty="0">
                <a:solidFill>
                  <a:schemeClr val="tx1"/>
                </a:solidFill>
                <a:effectLst/>
                <a:latin typeface="+mn-lt"/>
                <a:ea typeface="+mn-ea"/>
                <a:cs typeface="+mn-cs"/>
              </a:rPr>
              <a:t>所有会</a:t>
            </a:r>
            <a:r>
              <a:rPr lang="zh-CN" altLang="zh-CN" sz="1200" kern="1200" dirty="0">
                <a:solidFill>
                  <a:schemeClr val="tx1"/>
                </a:solidFill>
                <a:effectLst/>
                <a:latin typeface="+mn-lt"/>
                <a:ea typeface="+mn-ea"/>
                <a:cs typeface="+mn-cs"/>
              </a:rPr>
              <a:t>出现许多常量表达式。</a:t>
            </a: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57</a:t>
            </a:fld>
            <a:endParaRPr lang="zh-CN" altLang="en-US"/>
          </a:p>
        </p:txBody>
      </p:sp>
    </p:spTree>
    <p:extLst>
      <p:ext uri="{BB962C8B-B14F-4D97-AF65-F5344CB8AC3E}">
        <p14:creationId xmlns:p14="http://schemas.microsoft.com/office/powerpoint/2010/main" val="2162776459"/>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58</a:t>
            </a:fld>
            <a:endParaRPr lang="zh-CN" altLang="en-US"/>
          </a:p>
        </p:txBody>
      </p:sp>
    </p:spTree>
    <p:extLst>
      <p:ext uri="{BB962C8B-B14F-4D97-AF65-F5344CB8AC3E}">
        <p14:creationId xmlns:p14="http://schemas.microsoft.com/office/powerpoint/2010/main" val="2090789636"/>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在本节中，我们将考虑一种为单个基本块生成代码的算法。它依次考虑每个三地址指令，并跟踪哪些寄存器中有哪些值</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基本目标是：</a:t>
            </a:r>
            <a:r>
              <a:rPr lang="zh-CN" altLang="zh-CN" sz="1200" kern="1200" dirty="0">
                <a:solidFill>
                  <a:schemeClr val="tx1"/>
                </a:solidFill>
                <a:effectLst/>
                <a:latin typeface="+mn-lt"/>
                <a:ea typeface="+mn-ea"/>
                <a:cs typeface="+mn-cs"/>
              </a:rPr>
              <a:t>避免生成不必要的加载和存储指令。</a:t>
            </a:r>
          </a:p>
          <a:p>
            <a:r>
              <a:rPr lang="zh-CN" altLang="zh-CN" sz="1200" kern="1200" dirty="0">
                <a:solidFill>
                  <a:schemeClr val="tx1"/>
                </a:solidFill>
                <a:effectLst/>
                <a:latin typeface="+mn-lt"/>
                <a:ea typeface="+mn-ea"/>
                <a:cs typeface="+mn-cs"/>
              </a:rPr>
              <a:t>代码生成过程中的主要问题之一是决定如何最大程度地使用寄存器。寄存器有四种主要用途： </a:t>
            </a:r>
            <a:endParaRPr lang="en-US" altLang="zh-CN" sz="1200" kern="1200" dirty="0">
              <a:solidFill>
                <a:schemeClr val="tx1"/>
              </a:solidFill>
              <a:effectLst/>
              <a:latin typeface="+mn-lt"/>
              <a:ea typeface="+mn-ea"/>
              <a:cs typeface="+mn-cs"/>
            </a:endParaRPr>
          </a:p>
          <a:p>
            <a:pPr marL="171450" indent="-171450">
              <a:buFont typeface="Arial" panose="020B0604020202020204" pitchFamily="34" charset="0"/>
              <a:buChar char="•"/>
            </a:pPr>
            <a:r>
              <a:rPr lang="zh-CN" altLang="zh-CN" sz="1200" kern="1200" dirty="0">
                <a:solidFill>
                  <a:schemeClr val="tx1"/>
                </a:solidFill>
                <a:effectLst/>
                <a:latin typeface="+mn-lt"/>
                <a:ea typeface="+mn-ea"/>
                <a:cs typeface="+mn-cs"/>
              </a:rPr>
              <a:t>在大多数机器体系结构中，执行一个运算时该运算的部分或全部运算分量必须位于寄存器中。</a:t>
            </a:r>
          </a:p>
          <a:p>
            <a:pPr marL="171450" indent="-171450">
              <a:buFont typeface="Arial" panose="020B0604020202020204" pitchFamily="34" charset="0"/>
              <a:buChar char="•"/>
            </a:pPr>
            <a:r>
              <a:rPr lang="zh-CN" altLang="zh-CN" sz="1200" kern="1200" dirty="0">
                <a:solidFill>
                  <a:schemeClr val="tx1"/>
                </a:solidFill>
                <a:effectLst/>
                <a:latin typeface="+mn-lt"/>
                <a:ea typeface="+mn-ea"/>
                <a:cs typeface="+mn-cs"/>
              </a:rPr>
              <a:t>寄存器很适合做临时存储器，即在计算较大表达式时保存其子表达式结果，或者更一般地说，寄存器适合用于保存仅在单个基本块中使用的变量的值。</a:t>
            </a:r>
          </a:p>
          <a:p>
            <a:pPr marL="171450" indent="-171450">
              <a:buFont typeface="Arial" panose="020B0604020202020204" pitchFamily="34" charset="0"/>
              <a:buChar char="•"/>
            </a:pPr>
            <a:r>
              <a:rPr lang="zh-CN" altLang="zh-CN" sz="1200" kern="1200" dirty="0">
                <a:solidFill>
                  <a:schemeClr val="tx1"/>
                </a:solidFill>
                <a:effectLst/>
                <a:latin typeface="+mn-lt"/>
                <a:ea typeface="+mn-ea"/>
                <a:cs typeface="+mn-cs"/>
              </a:rPr>
              <a:t>寄存器用于保存在一个基本块中计算并在其他块中使用的（全局）值，例如，循环下标的值，每次循环都对该值做增量运算，并在循环体内多次被使用。</a:t>
            </a:r>
          </a:p>
          <a:p>
            <a:pPr marL="171450" indent="-171450">
              <a:buFont typeface="Arial" panose="020B0604020202020204" pitchFamily="34" charset="0"/>
              <a:buChar char="•"/>
            </a:pPr>
            <a:r>
              <a:rPr lang="zh-CN" altLang="zh-CN" sz="1200" kern="1200" dirty="0">
                <a:solidFill>
                  <a:schemeClr val="tx1"/>
                </a:solidFill>
                <a:effectLst/>
                <a:latin typeface="+mn-lt"/>
                <a:ea typeface="+mn-ea"/>
                <a:cs typeface="+mn-cs"/>
              </a:rPr>
              <a:t>寄存器通常用于帮助运行时存储管理，例如，管理运行时堆栈，包括堆栈指针的维护以及堆栈的顶部元素也可能被存放在寄存器中。</a:t>
            </a:r>
            <a:endParaRPr lang="en-US" altLang="zh-CN" sz="1200" kern="1200" dirty="0">
              <a:solidFill>
                <a:schemeClr val="tx1"/>
              </a:solidFill>
              <a:effectLst/>
              <a:latin typeface="+mn-lt"/>
              <a:ea typeface="+mn-ea"/>
              <a:cs typeface="+mn-cs"/>
            </a:endParaRPr>
          </a:p>
          <a:p>
            <a:pPr marL="0" indent="0">
              <a:buFont typeface="Arial" panose="020B0604020202020204" pitchFamily="34" charset="0"/>
              <a:buNone/>
            </a:pPr>
            <a:r>
              <a:rPr lang="zh-CN" altLang="zh-CN" sz="1200" kern="1200" dirty="0">
                <a:solidFill>
                  <a:schemeClr val="tx1"/>
                </a:solidFill>
                <a:effectLst/>
                <a:latin typeface="+mn-lt"/>
                <a:ea typeface="+mn-ea"/>
                <a:cs typeface="+mn-cs"/>
              </a:rPr>
              <a:t>这些都是相互竞争的需求，因为可用的寄存器数量是有限的。</a:t>
            </a:r>
          </a:p>
          <a:p>
            <a:endParaRPr lang="zh-CN" altLang="en-US"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59</a:t>
            </a:fld>
            <a:endParaRPr lang="zh-CN" altLang="en-US"/>
          </a:p>
        </p:txBody>
      </p:sp>
    </p:spTree>
    <p:extLst>
      <p:ext uri="{BB962C8B-B14F-4D97-AF65-F5344CB8AC3E}">
        <p14:creationId xmlns:p14="http://schemas.microsoft.com/office/powerpoint/2010/main" val="2104443194"/>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本节中的算法假设有一组寄存器可用于保存块内使用的值。通常，这组寄存器不包括机器的所有寄存器，因为一些寄存器是专门为全局变量和管理堆栈保留的。我们假设基本块已经通过诸如公共子表达式合并之类的转换而被转换成我们希望的三地址指令序列。我们进一步假设对于每个运算符，有且只有一个对应的机器指令。这个指令对存放在寄存器中的所需的运算分量进行运算，并将结果保留存在寄存器中。机器指令的形式为</a:t>
            </a:r>
          </a:p>
          <a:p>
            <a:r>
              <a:rPr lang="en-US" altLang="zh-CN" sz="1200" kern="1200" dirty="0">
                <a:solidFill>
                  <a:schemeClr val="tx1"/>
                </a:solidFill>
                <a:effectLst/>
                <a:latin typeface="+mn-lt"/>
                <a:ea typeface="+mn-ea"/>
                <a:cs typeface="+mn-cs"/>
              </a:rPr>
              <a:t>LD reg</a:t>
            </a:r>
            <a:r>
              <a:rPr lang="zh-CN" altLang="en-US"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mem</a:t>
            </a:r>
          </a:p>
          <a:p>
            <a:r>
              <a:rPr lang="en-US" altLang="zh-CN" sz="1200" kern="1200" dirty="0">
                <a:solidFill>
                  <a:schemeClr val="tx1"/>
                </a:solidFill>
                <a:effectLst/>
                <a:latin typeface="+mn-lt"/>
                <a:ea typeface="+mn-ea"/>
                <a:cs typeface="+mn-cs"/>
              </a:rPr>
              <a:t>ST  mem</a:t>
            </a:r>
            <a:r>
              <a:rPr lang="zh-CN" altLang="en-US"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reg</a:t>
            </a:r>
          </a:p>
          <a:p>
            <a:r>
              <a:rPr lang="en-US" altLang="zh-CN" sz="1200" kern="1200" dirty="0">
                <a:solidFill>
                  <a:schemeClr val="tx1"/>
                </a:solidFill>
                <a:effectLst/>
                <a:latin typeface="+mn-lt"/>
                <a:ea typeface="+mn-ea"/>
                <a:cs typeface="+mn-cs"/>
              </a:rPr>
              <a:t>OP </a:t>
            </a:r>
            <a:r>
              <a:rPr lang="en-US" altLang="zh-CN" sz="1200" kern="1200" dirty="0" err="1">
                <a:solidFill>
                  <a:schemeClr val="tx1"/>
                </a:solidFill>
                <a:effectLst/>
                <a:latin typeface="+mn-lt"/>
                <a:ea typeface="+mn-ea"/>
                <a:cs typeface="+mn-cs"/>
              </a:rPr>
              <a:t>reg,reg,reg</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我们的代码生成算法依次考虑每个三地址指令，</a:t>
            </a:r>
            <a:endParaRPr lang="en-US" altLang="zh-CN" sz="1200" kern="1200" dirty="0">
              <a:solidFill>
                <a:schemeClr val="tx1"/>
              </a:solidFill>
              <a:effectLst/>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zh-CN" altLang="zh-CN" sz="1200" kern="1200" dirty="0">
                <a:solidFill>
                  <a:schemeClr val="tx1"/>
                </a:solidFill>
                <a:effectLst/>
                <a:latin typeface="+mn-lt"/>
                <a:ea typeface="+mn-ea"/>
                <a:cs typeface="+mn-cs"/>
              </a:rPr>
              <a:t>并决定需要哪些加载指令来把所需运算加载进寄存器。</a:t>
            </a:r>
            <a:endParaRPr lang="en-US" altLang="zh-CN" sz="1200" kern="1200" dirty="0">
              <a:solidFill>
                <a:schemeClr val="tx1"/>
              </a:solidFill>
              <a:effectLst/>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zh-CN" altLang="zh-CN" sz="1200" kern="1200" dirty="0">
                <a:solidFill>
                  <a:schemeClr val="tx1"/>
                </a:solidFill>
                <a:effectLst/>
                <a:latin typeface="+mn-lt"/>
                <a:ea typeface="+mn-ea"/>
                <a:cs typeface="+mn-cs"/>
              </a:rPr>
              <a:t>在生成加载指令后，它会生成运算代码。</a:t>
            </a:r>
            <a:endParaRPr lang="en-US" altLang="zh-CN" sz="1200" kern="1200" dirty="0">
              <a:solidFill>
                <a:schemeClr val="tx1"/>
              </a:solidFill>
              <a:effectLst/>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zh-CN" altLang="zh-CN" sz="1200" kern="1200" dirty="0">
                <a:solidFill>
                  <a:schemeClr val="tx1"/>
                </a:solidFill>
                <a:effectLst/>
                <a:latin typeface="+mn-lt"/>
                <a:ea typeface="+mn-ea"/>
                <a:cs typeface="+mn-cs"/>
              </a:rPr>
              <a:t>然后，如果需要将结果存储到内存位置，它还会生成相应的保存指令。</a:t>
            </a:r>
          </a:p>
          <a:p>
            <a:endParaRPr lang="en-US" altLang="zh-CN" sz="1200" kern="1200" dirty="0">
              <a:solidFill>
                <a:schemeClr val="tx1"/>
              </a:solidFill>
              <a:effectLst/>
              <a:latin typeface="+mn-lt"/>
              <a:ea typeface="+mn-ea"/>
              <a:cs typeface="+mn-cs"/>
            </a:endParaRPr>
          </a:p>
          <a:p>
            <a:endParaRPr lang="zh-CN" altLang="zh-CN" sz="1200" kern="1200" dirty="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60</a:t>
            </a:fld>
            <a:endParaRPr lang="zh-CN" altLang="en-US"/>
          </a:p>
        </p:txBody>
      </p:sp>
    </p:spTree>
    <p:extLst>
      <p:ext uri="{BB962C8B-B14F-4D97-AF65-F5344CB8AC3E}">
        <p14:creationId xmlns:p14="http://schemas.microsoft.com/office/powerpoint/2010/main" val="1821755202"/>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为了做出这些必要的决策，我们需要一个数据结构来说明哪些程序变量的值当前被存放在哪个或哪些寄存器里面。我们还需要知道给定变量的内存位置上的值是否就是该变量的正确值，因为该变量的新值可能已在寄存器中计算出来但尚未存放到内存中。这个数据结构具有以下描述符： </a:t>
            </a:r>
          </a:p>
          <a:p>
            <a:r>
              <a:rPr lang="en-US" altLang="zh-CN" sz="1200" kern="1200" dirty="0">
                <a:solidFill>
                  <a:schemeClr val="tx1"/>
                </a:solidFill>
                <a:effectLst/>
                <a:latin typeface="+mn-lt"/>
                <a:ea typeface="+mn-ea"/>
                <a:cs typeface="+mn-cs"/>
              </a:rPr>
              <a:t>1. </a:t>
            </a:r>
            <a:r>
              <a:rPr lang="zh-CN" altLang="zh-CN" sz="1200" kern="1200" dirty="0">
                <a:solidFill>
                  <a:schemeClr val="tx1"/>
                </a:solidFill>
                <a:effectLst/>
                <a:latin typeface="+mn-lt"/>
                <a:ea typeface="+mn-ea"/>
                <a:cs typeface="+mn-cs"/>
              </a:rPr>
              <a:t>对于每个可用寄存器，寄存器描述符跟踪有哪些变量的当前值存放在此寄存器中。由于我们将考虑那些用于存放在一个基本块内的局部值的寄存器，因此我们假设最初所有寄存器描述符都是空的。随着代码生成的进行，每个寄存器将保存零个或多个变量名字的值。</a:t>
            </a:r>
          </a:p>
          <a:p>
            <a:r>
              <a:rPr lang="en-US" altLang="zh-CN" sz="1200" kern="1200" dirty="0">
                <a:solidFill>
                  <a:schemeClr val="tx1"/>
                </a:solidFill>
                <a:effectLst/>
                <a:latin typeface="+mn-lt"/>
                <a:ea typeface="+mn-ea"/>
                <a:cs typeface="+mn-cs"/>
              </a:rPr>
              <a:t>2. </a:t>
            </a:r>
            <a:r>
              <a:rPr lang="zh-CN" altLang="zh-CN" sz="1200" kern="1200" dirty="0">
                <a:solidFill>
                  <a:schemeClr val="tx1"/>
                </a:solidFill>
                <a:effectLst/>
                <a:latin typeface="+mn-lt"/>
                <a:ea typeface="+mn-ea"/>
                <a:cs typeface="+mn-cs"/>
              </a:rPr>
              <a:t>对于每个程序变量，地址描述符会跟踪记录在哪个或哪些位置上可以找到该变量的当前值。该位置可能是寄存器、内存地址、堆栈位置或其中多个位置的组成的一个集合。该信息可以存储在该变量名对应的符号表条目中。</a:t>
            </a:r>
            <a:endParaRPr lang="zh-CN" altLang="en-US"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61</a:t>
            </a:fld>
            <a:endParaRPr lang="zh-CN" altLang="en-US"/>
          </a:p>
        </p:txBody>
      </p:sp>
    </p:spTree>
    <p:extLst>
      <p:ext uri="{BB962C8B-B14F-4D97-AF65-F5344CB8AC3E}">
        <p14:creationId xmlns:p14="http://schemas.microsoft.com/office/powerpoint/2010/main" val="1003337834"/>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该算法的一个重要部分是函数</a:t>
            </a:r>
            <a:r>
              <a:rPr lang="en-US" altLang="zh-CN" sz="1200" kern="1200" dirty="0">
                <a:solidFill>
                  <a:schemeClr val="tx1"/>
                </a:solidFill>
                <a:effectLst/>
                <a:latin typeface="+mn-lt"/>
                <a:ea typeface="+mn-ea"/>
                <a:cs typeface="+mn-cs"/>
              </a:rPr>
              <a:t> </a:t>
            </a:r>
            <a:r>
              <a:rPr lang="en-US" altLang="zh-CN" sz="1200" kern="1200" dirty="0" err="1">
                <a:solidFill>
                  <a:schemeClr val="tx1"/>
                </a:solidFill>
                <a:effectLst/>
                <a:latin typeface="+mn-lt"/>
                <a:ea typeface="+mn-ea"/>
                <a:cs typeface="+mn-cs"/>
              </a:rPr>
              <a:t>getReg</a:t>
            </a:r>
            <a:r>
              <a:rPr lang="en-US" altLang="zh-CN" sz="1200" kern="1200" dirty="0">
                <a:solidFill>
                  <a:schemeClr val="tx1"/>
                </a:solidFill>
                <a:effectLst/>
                <a:latin typeface="+mn-lt"/>
                <a:ea typeface="+mn-ea"/>
                <a:cs typeface="+mn-cs"/>
              </a:rPr>
              <a:t>(I )</a:t>
            </a:r>
            <a:r>
              <a:rPr lang="zh-CN" altLang="zh-CN" sz="1200" kern="1200" dirty="0">
                <a:solidFill>
                  <a:schemeClr val="tx1"/>
                </a:solidFill>
                <a:effectLst/>
                <a:latin typeface="+mn-lt"/>
                <a:ea typeface="+mn-ea"/>
                <a:cs typeface="+mn-cs"/>
              </a:rPr>
              <a:t>，它为每个与三地址指令</a:t>
            </a:r>
            <a:r>
              <a:rPr lang="en-US" altLang="zh-CN" sz="1200" kern="1200" dirty="0">
                <a:solidFill>
                  <a:schemeClr val="tx1"/>
                </a:solidFill>
                <a:effectLst/>
                <a:latin typeface="+mn-lt"/>
                <a:ea typeface="+mn-ea"/>
                <a:cs typeface="+mn-cs"/>
              </a:rPr>
              <a:t> I </a:t>
            </a:r>
            <a:r>
              <a:rPr lang="zh-CN" altLang="zh-CN" sz="1200" kern="1200" dirty="0">
                <a:solidFill>
                  <a:schemeClr val="tx1"/>
                </a:solidFill>
                <a:effectLst/>
                <a:latin typeface="+mn-lt"/>
                <a:ea typeface="+mn-ea"/>
                <a:cs typeface="+mn-cs"/>
              </a:rPr>
              <a:t>有关的内存位置选择寄存器。函数</a:t>
            </a:r>
            <a:r>
              <a:rPr lang="en-US" altLang="zh-CN" sz="1200" kern="1200" dirty="0">
                <a:solidFill>
                  <a:schemeClr val="tx1"/>
                </a:solidFill>
                <a:effectLst/>
                <a:latin typeface="+mn-lt"/>
                <a:ea typeface="+mn-ea"/>
                <a:cs typeface="+mn-cs"/>
              </a:rPr>
              <a:t> </a:t>
            </a:r>
            <a:r>
              <a:rPr lang="en-US" altLang="zh-CN" sz="1200" kern="1200" dirty="0" err="1">
                <a:solidFill>
                  <a:schemeClr val="tx1"/>
                </a:solidFill>
                <a:effectLst/>
                <a:latin typeface="+mn-lt"/>
                <a:ea typeface="+mn-ea"/>
                <a:cs typeface="+mn-cs"/>
              </a:rPr>
              <a:t>getReg</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可以访问基本块的所有变量对应的寄存器和地址描述符，并且还可以访问某些有用的数据流信息，例如哪些变量在基本块出口处活跃。我们将在介绍基本算法之后讨论</a:t>
            </a:r>
            <a:r>
              <a:rPr lang="en-US" altLang="zh-CN" sz="1200" kern="1200" dirty="0">
                <a:solidFill>
                  <a:schemeClr val="tx1"/>
                </a:solidFill>
                <a:effectLst/>
                <a:latin typeface="+mn-lt"/>
                <a:ea typeface="+mn-ea"/>
                <a:cs typeface="+mn-cs"/>
              </a:rPr>
              <a:t> </a:t>
            </a:r>
            <a:r>
              <a:rPr lang="en-US" altLang="zh-CN" sz="1200" kern="1200" dirty="0" err="1">
                <a:solidFill>
                  <a:schemeClr val="tx1"/>
                </a:solidFill>
                <a:effectLst/>
                <a:latin typeface="+mn-lt"/>
                <a:ea typeface="+mn-ea"/>
                <a:cs typeface="+mn-cs"/>
              </a:rPr>
              <a:t>getReg</a:t>
            </a:r>
            <a:r>
              <a:rPr lang="zh-CN" altLang="zh-CN" sz="1200" kern="1200" dirty="0">
                <a:solidFill>
                  <a:schemeClr val="tx1"/>
                </a:solidFill>
                <a:effectLst/>
                <a:latin typeface="+mn-lt"/>
                <a:ea typeface="+mn-ea"/>
                <a:cs typeface="+mn-cs"/>
              </a:rPr>
              <a:t>。虽然我们不知道总共有多少寄存器可用于存放基本块的局部数据，因此假设有足够的寄存器，使得在把值存放回内存，释放了所有可用寄存器之后，空闲的寄存器足以完成任何三地址运算。</a:t>
            </a:r>
          </a:p>
          <a:p>
            <a:endParaRPr lang="zh-CN" altLang="en-US"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62</a:t>
            </a:fld>
            <a:endParaRPr lang="zh-CN" altLang="en-US"/>
          </a:p>
        </p:txBody>
      </p:sp>
    </p:spTree>
    <p:extLst>
      <p:ext uri="{BB962C8B-B14F-4D97-AF65-F5344CB8AC3E}">
        <p14:creationId xmlns:p14="http://schemas.microsoft.com/office/powerpoint/2010/main" val="3666821503"/>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在一个形如</a:t>
            </a:r>
            <a:r>
              <a:rPr lang="en-US" altLang="zh-CN" sz="1200" kern="1200" dirty="0">
                <a:solidFill>
                  <a:schemeClr val="tx1"/>
                </a:solidFill>
                <a:effectLst/>
                <a:latin typeface="+mn-lt"/>
                <a:ea typeface="+mn-ea"/>
                <a:cs typeface="+mn-cs"/>
              </a:rPr>
              <a:t>x = </a:t>
            </a:r>
            <a:r>
              <a:rPr lang="en-US" altLang="zh-CN" sz="1200" kern="1200" dirty="0" err="1">
                <a:solidFill>
                  <a:schemeClr val="tx1"/>
                </a:solidFill>
                <a:effectLst/>
                <a:latin typeface="+mn-lt"/>
                <a:ea typeface="+mn-ea"/>
                <a:cs typeface="+mn-cs"/>
              </a:rPr>
              <a:t>y+z</a:t>
            </a:r>
            <a:r>
              <a:rPr lang="zh-CN" altLang="zh-CN" sz="1200" kern="1200" dirty="0">
                <a:solidFill>
                  <a:schemeClr val="tx1"/>
                </a:solidFill>
                <a:effectLst/>
                <a:latin typeface="+mn-lt"/>
                <a:ea typeface="+mn-ea"/>
                <a:cs typeface="+mn-cs"/>
              </a:rPr>
              <a:t>的三地址指令中，我们将</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视为一般的运算符，将</a:t>
            </a:r>
            <a:r>
              <a:rPr lang="en-US" altLang="zh-CN" sz="1200" kern="1200" dirty="0">
                <a:solidFill>
                  <a:schemeClr val="tx1"/>
                </a:solidFill>
                <a:effectLst/>
                <a:latin typeface="+mn-lt"/>
                <a:ea typeface="+mn-ea"/>
                <a:cs typeface="+mn-cs"/>
              </a:rPr>
              <a:t>ADD</a:t>
            </a:r>
            <a:r>
              <a:rPr lang="zh-CN" altLang="zh-CN" sz="1200" kern="1200" dirty="0">
                <a:solidFill>
                  <a:schemeClr val="tx1"/>
                </a:solidFill>
                <a:effectLst/>
                <a:latin typeface="+mn-lt"/>
                <a:ea typeface="+mn-ea"/>
                <a:cs typeface="+mn-cs"/>
              </a:rPr>
              <a:t>视为等价的机器指令。因此，我们没利用</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的交换性。这样，当我们实现该运算时，</a:t>
            </a:r>
            <a:r>
              <a:rPr lang="en-US" altLang="zh-CN" sz="1200" kern="1200" dirty="0">
                <a:solidFill>
                  <a:schemeClr val="tx1"/>
                </a:solidFill>
                <a:effectLst/>
                <a:latin typeface="+mn-lt"/>
                <a:ea typeface="+mn-ea"/>
                <a:cs typeface="+mn-cs"/>
              </a:rPr>
              <a:t>y</a:t>
            </a:r>
            <a:r>
              <a:rPr lang="zh-CN" altLang="zh-CN" sz="1200" kern="1200" dirty="0">
                <a:solidFill>
                  <a:schemeClr val="tx1"/>
                </a:solidFill>
                <a:effectLst/>
                <a:latin typeface="+mn-lt"/>
                <a:ea typeface="+mn-ea"/>
                <a:cs typeface="+mn-cs"/>
              </a:rPr>
              <a:t>的值必须位于</a:t>
            </a:r>
            <a:r>
              <a:rPr lang="en-US" altLang="zh-CN" sz="1200" kern="1200" dirty="0">
                <a:solidFill>
                  <a:schemeClr val="tx1"/>
                </a:solidFill>
                <a:effectLst/>
                <a:latin typeface="+mn-lt"/>
                <a:ea typeface="+mn-ea"/>
                <a:cs typeface="+mn-cs"/>
              </a:rPr>
              <a:t>ADD</a:t>
            </a:r>
            <a:r>
              <a:rPr lang="zh-CN" altLang="zh-CN" sz="1200" kern="1200" dirty="0">
                <a:solidFill>
                  <a:schemeClr val="tx1"/>
                </a:solidFill>
                <a:effectLst/>
                <a:latin typeface="+mn-lt"/>
                <a:ea typeface="+mn-ea"/>
                <a:cs typeface="+mn-cs"/>
              </a:rPr>
              <a:t>指令中提到的第二个寄存器中，而不是第三个寄存器中。</a:t>
            </a:r>
            <a:r>
              <a:rPr lang="zh-CN" altLang="en-US" sz="1200" kern="1200" dirty="0">
                <a:solidFill>
                  <a:schemeClr val="tx1"/>
                </a:solidFill>
                <a:effectLst/>
                <a:latin typeface="+mn-lt"/>
                <a:ea typeface="+mn-ea"/>
                <a:cs typeface="+mn-cs"/>
              </a:rPr>
              <a:t>可以按照下面的方式来改造</a:t>
            </a:r>
            <a:r>
              <a:rPr lang="zh-CN" altLang="zh-CN" sz="1200" kern="1200" dirty="0">
                <a:solidFill>
                  <a:schemeClr val="tx1"/>
                </a:solidFill>
                <a:effectLst/>
                <a:latin typeface="+mn-lt"/>
                <a:ea typeface="+mn-ea"/>
                <a:cs typeface="+mn-cs"/>
              </a:rPr>
              <a:t>算法</a:t>
            </a:r>
            <a:r>
              <a:rPr lang="zh-CN" altLang="en-US"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只</a:t>
            </a:r>
            <a:r>
              <a:rPr lang="zh-CN" altLang="en-US" sz="1200" kern="1200" dirty="0">
                <a:solidFill>
                  <a:schemeClr val="tx1"/>
                </a:solidFill>
                <a:effectLst/>
                <a:latin typeface="+mn-lt"/>
                <a:ea typeface="+mn-ea"/>
                <a:cs typeface="+mn-cs"/>
              </a:rPr>
              <a:t>要</a:t>
            </a:r>
            <a:r>
              <a:rPr lang="en-US" altLang="zh-CN" sz="1200" kern="1200" dirty="0">
                <a:solidFill>
                  <a:schemeClr val="tx1"/>
                </a:solidFill>
                <a:effectLst/>
                <a:latin typeface="+mn-lt"/>
                <a:ea typeface="+mn-ea"/>
                <a:cs typeface="+mn-cs"/>
              </a:rPr>
              <a:t> + </a:t>
            </a:r>
            <a:r>
              <a:rPr lang="zh-CN" altLang="zh-CN" sz="1200" kern="1200" dirty="0">
                <a:solidFill>
                  <a:schemeClr val="tx1"/>
                </a:solidFill>
                <a:effectLst/>
                <a:latin typeface="+mn-lt"/>
                <a:ea typeface="+mn-ea"/>
                <a:cs typeface="+mn-cs"/>
              </a:rPr>
              <a:t>是满足交换律的运算符，算法同时为</a:t>
            </a:r>
            <a:r>
              <a:rPr lang="en-US" altLang="zh-CN" sz="1200" kern="1200" dirty="0">
                <a:solidFill>
                  <a:schemeClr val="tx1"/>
                </a:solidFill>
                <a:effectLst/>
                <a:latin typeface="+mn-lt"/>
                <a:ea typeface="+mn-ea"/>
                <a:cs typeface="+mn-cs"/>
              </a:rPr>
              <a:t> x = </a:t>
            </a:r>
            <a:r>
              <a:rPr lang="en-US" altLang="zh-CN" sz="1200" kern="1200" dirty="0" err="1">
                <a:solidFill>
                  <a:schemeClr val="tx1"/>
                </a:solidFill>
                <a:effectLst/>
                <a:latin typeface="+mn-lt"/>
                <a:ea typeface="+mn-ea"/>
                <a:cs typeface="+mn-cs"/>
              </a:rPr>
              <a:t>y+z</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 x = </a:t>
            </a:r>
            <a:r>
              <a:rPr lang="en-US" altLang="zh-CN" sz="1200" kern="1200" dirty="0" err="1">
                <a:solidFill>
                  <a:schemeClr val="tx1"/>
                </a:solidFill>
                <a:effectLst/>
                <a:latin typeface="+mn-lt"/>
                <a:ea typeface="+mn-ea"/>
                <a:cs typeface="+mn-cs"/>
              </a:rPr>
              <a:t>z+y</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生成代码，随后</a:t>
            </a:r>
            <a:r>
              <a:rPr lang="zh-CN" altLang="en-US" sz="1200" kern="1200" dirty="0">
                <a:solidFill>
                  <a:schemeClr val="tx1"/>
                </a:solidFill>
                <a:effectLst/>
                <a:latin typeface="+mn-lt"/>
                <a:ea typeface="+mn-ea"/>
                <a:cs typeface="+mn-cs"/>
              </a:rPr>
              <a:t>再</a:t>
            </a:r>
            <a:r>
              <a:rPr lang="zh-CN" altLang="zh-CN" sz="1200" kern="1200" dirty="0">
                <a:solidFill>
                  <a:schemeClr val="tx1"/>
                </a:solidFill>
                <a:effectLst/>
                <a:latin typeface="+mn-lt"/>
                <a:ea typeface="+mn-ea"/>
                <a:cs typeface="+mn-cs"/>
              </a:rPr>
              <a:t>选择一个</a:t>
            </a:r>
            <a:r>
              <a:rPr lang="zh-CN" altLang="en-US" sz="1200" kern="1200" dirty="0">
                <a:solidFill>
                  <a:schemeClr val="tx1"/>
                </a:solidFill>
                <a:effectLst/>
                <a:latin typeface="+mn-lt"/>
                <a:ea typeface="+mn-ea"/>
                <a:cs typeface="+mn-cs"/>
              </a:rPr>
              <a:t>比较</a:t>
            </a:r>
            <a:r>
              <a:rPr lang="zh-CN" altLang="zh-CN" sz="1200" kern="1200" dirty="0">
                <a:solidFill>
                  <a:schemeClr val="tx1"/>
                </a:solidFill>
                <a:effectLst/>
                <a:latin typeface="+mn-lt"/>
                <a:ea typeface="+mn-ea"/>
                <a:cs typeface="+mn-cs"/>
              </a:rPr>
              <a:t>好的代码序列。</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运算的机器指令</a:t>
            </a:r>
          </a:p>
          <a:p>
            <a:r>
              <a:rPr lang="zh-CN" altLang="zh-CN" sz="1200" kern="1200" dirty="0">
                <a:solidFill>
                  <a:schemeClr val="tx1"/>
                </a:solidFill>
                <a:effectLst/>
                <a:latin typeface="+mn-lt"/>
                <a:ea typeface="+mn-ea"/>
                <a:cs typeface="+mn-cs"/>
              </a:rPr>
              <a:t>对于三地址指令（例如</a:t>
            </a:r>
            <a:r>
              <a:rPr lang="en-US" altLang="zh-CN" sz="1200" kern="1200" dirty="0">
                <a:solidFill>
                  <a:schemeClr val="tx1"/>
                </a:solidFill>
                <a:effectLst/>
                <a:latin typeface="+mn-lt"/>
                <a:ea typeface="+mn-ea"/>
                <a:cs typeface="+mn-cs"/>
              </a:rPr>
              <a:t> x = y + z </a:t>
            </a:r>
            <a:r>
              <a:rPr lang="zh-CN" altLang="zh-CN" sz="1200" kern="1200" dirty="0">
                <a:solidFill>
                  <a:schemeClr val="tx1"/>
                </a:solidFill>
                <a:effectLst/>
                <a:latin typeface="+mn-lt"/>
                <a:ea typeface="+mn-ea"/>
                <a:cs typeface="+mn-cs"/>
              </a:rPr>
              <a:t>），请执行以下操作： </a:t>
            </a:r>
          </a:p>
          <a:p>
            <a:r>
              <a:rPr lang="en-US" altLang="zh-CN" sz="1200" kern="1200" dirty="0">
                <a:solidFill>
                  <a:schemeClr val="tx1"/>
                </a:solidFill>
                <a:effectLst/>
                <a:latin typeface="+mn-lt"/>
                <a:ea typeface="+mn-ea"/>
                <a:cs typeface="+mn-cs"/>
              </a:rPr>
              <a:t>1. </a:t>
            </a:r>
            <a:r>
              <a:rPr lang="zh-CN" altLang="zh-CN" sz="1200" kern="1200" dirty="0">
                <a:solidFill>
                  <a:schemeClr val="tx1"/>
                </a:solidFill>
                <a:effectLst/>
                <a:latin typeface="+mn-lt"/>
                <a:ea typeface="+mn-ea"/>
                <a:cs typeface="+mn-cs"/>
              </a:rPr>
              <a:t>使用</a:t>
            </a:r>
            <a:r>
              <a:rPr lang="en-US" altLang="zh-CN" sz="1200" kern="1200" dirty="0">
                <a:solidFill>
                  <a:schemeClr val="tx1"/>
                </a:solidFill>
                <a:effectLst/>
                <a:latin typeface="+mn-lt"/>
                <a:ea typeface="+mn-ea"/>
                <a:cs typeface="+mn-cs"/>
              </a:rPr>
              <a:t> </a:t>
            </a:r>
            <a:r>
              <a:rPr lang="en-US" altLang="zh-CN" sz="1200" kern="1200" dirty="0" err="1">
                <a:solidFill>
                  <a:schemeClr val="tx1"/>
                </a:solidFill>
                <a:effectLst/>
                <a:latin typeface="+mn-lt"/>
                <a:ea typeface="+mn-ea"/>
                <a:cs typeface="+mn-cs"/>
              </a:rPr>
              <a:t>getReg</a:t>
            </a:r>
            <a:r>
              <a:rPr lang="en-US" altLang="zh-CN" sz="1200" kern="1200" dirty="0">
                <a:solidFill>
                  <a:schemeClr val="tx1"/>
                </a:solidFill>
                <a:effectLst/>
                <a:latin typeface="+mn-lt"/>
                <a:ea typeface="+mn-ea"/>
                <a:cs typeface="+mn-cs"/>
              </a:rPr>
              <a:t>(x = y + z ) </a:t>
            </a:r>
            <a:r>
              <a:rPr lang="zh-CN" altLang="zh-CN" sz="1200" kern="1200" dirty="0">
                <a:solidFill>
                  <a:schemeClr val="tx1"/>
                </a:solidFill>
                <a:effectLst/>
                <a:latin typeface="+mn-lt"/>
                <a:ea typeface="+mn-ea"/>
                <a:cs typeface="+mn-cs"/>
              </a:rPr>
              <a:t>选择</a:t>
            </a:r>
            <a:r>
              <a:rPr lang="en-US" altLang="zh-CN" sz="1200" kern="1200" dirty="0">
                <a:solidFill>
                  <a:schemeClr val="tx1"/>
                </a:solidFill>
                <a:effectLst/>
                <a:latin typeface="+mn-lt"/>
                <a:ea typeface="+mn-ea"/>
                <a:cs typeface="+mn-cs"/>
              </a:rPr>
              <a:t> x</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y </a:t>
            </a:r>
            <a:r>
              <a:rPr lang="zh-CN" altLang="zh-CN"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 z </a:t>
            </a:r>
            <a:r>
              <a:rPr lang="zh-CN" altLang="zh-CN" sz="1200" kern="1200" dirty="0">
                <a:solidFill>
                  <a:schemeClr val="tx1"/>
                </a:solidFill>
                <a:effectLst/>
                <a:latin typeface="+mn-lt"/>
                <a:ea typeface="+mn-ea"/>
                <a:cs typeface="+mn-cs"/>
              </a:rPr>
              <a:t>的寄存器。将这些称为</a:t>
            </a:r>
            <a:r>
              <a:rPr lang="en-US" altLang="zh-CN" sz="1200" kern="1200" dirty="0">
                <a:solidFill>
                  <a:schemeClr val="tx1"/>
                </a:solidFill>
                <a:effectLst/>
                <a:latin typeface="+mn-lt"/>
                <a:ea typeface="+mn-ea"/>
                <a:cs typeface="+mn-cs"/>
              </a:rPr>
              <a:t> Rx</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Ry </a:t>
            </a:r>
            <a:r>
              <a:rPr lang="zh-CN" altLang="zh-CN"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 </a:t>
            </a:r>
            <a:r>
              <a:rPr lang="en-US" altLang="zh-CN" sz="1200" kern="1200" dirty="0" err="1">
                <a:solidFill>
                  <a:schemeClr val="tx1"/>
                </a:solidFill>
                <a:effectLst/>
                <a:latin typeface="+mn-lt"/>
                <a:ea typeface="+mn-ea"/>
                <a:cs typeface="+mn-cs"/>
              </a:rPr>
              <a:t>Rz</a:t>
            </a:r>
            <a:r>
              <a:rPr lang="zh-CN" altLang="zh-CN" sz="1200" kern="1200" dirty="0">
                <a:solidFill>
                  <a:schemeClr val="tx1"/>
                </a:solidFill>
                <a:effectLst/>
                <a:latin typeface="+mn-lt"/>
                <a:ea typeface="+mn-ea"/>
                <a:cs typeface="+mn-cs"/>
              </a:rPr>
              <a:t>。 </a:t>
            </a:r>
          </a:p>
          <a:p>
            <a:r>
              <a:rPr lang="en-US" altLang="zh-CN" sz="1200" kern="1200" dirty="0">
                <a:solidFill>
                  <a:schemeClr val="tx1"/>
                </a:solidFill>
                <a:effectLst/>
                <a:latin typeface="+mn-lt"/>
                <a:ea typeface="+mn-ea"/>
                <a:cs typeface="+mn-cs"/>
              </a:rPr>
              <a:t>2. </a:t>
            </a:r>
            <a:r>
              <a:rPr lang="zh-CN" altLang="zh-CN" sz="1200" kern="1200" dirty="0">
                <a:solidFill>
                  <a:schemeClr val="tx1"/>
                </a:solidFill>
                <a:effectLst/>
                <a:latin typeface="+mn-lt"/>
                <a:ea typeface="+mn-ea"/>
                <a:cs typeface="+mn-cs"/>
              </a:rPr>
              <a:t>如果</a:t>
            </a:r>
            <a:r>
              <a:rPr lang="en-US" altLang="zh-CN" sz="1200" kern="1200" dirty="0">
                <a:solidFill>
                  <a:schemeClr val="tx1"/>
                </a:solidFill>
                <a:effectLst/>
                <a:latin typeface="+mn-lt"/>
                <a:ea typeface="+mn-ea"/>
                <a:cs typeface="+mn-cs"/>
              </a:rPr>
              <a:t> y </a:t>
            </a:r>
            <a:r>
              <a:rPr lang="zh-CN" altLang="zh-CN" sz="1200" kern="1200" dirty="0">
                <a:solidFill>
                  <a:schemeClr val="tx1"/>
                </a:solidFill>
                <a:effectLst/>
                <a:latin typeface="+mn-lt"/>
                <a:ea typeface="+mn-ea"/>
                <a:cs typeface="+mn-cs"/>
              </a:rPr>
              <a:t>不在</a:t>
            </a:r>
            <a:r>
              <a:rPr lang="en-US" altLang="zh-CN" sz="1200" kern="1200" dirty="0">
                <a:solidFill>
                  <a:schemeClr val="tx1"/>
                </a:solidFill>
                <a:effectLst/>
                <a:latin typeface="+mn-lt"/>
                <a:ea typeface="+mn-ea"/>
                <a:cs typeface="+mn-cs"/>
              </a:rPr>
              <a:t> Ry </a:t>
            </a:r>
            <a:r>
              <a:rPr lang="zh-CN" altLang="zh-CN" sz="1200" kern="1200" dirty="0">
                <a:solidFill>
                  <a:schemeClr val="tx1"/>
                </a:solidFill>
                <a:effectLst/>
                <a:latin typeface="+mn-lt"/>
                <a:ea typeface="+mn-ea"/>
                <a:cs typeface="+mn-cs"/>
              </a:rPr>
              <a:t>中（根据</a:t>
            </a:r>
            <a:r>
              <a:rPr lang="en-US" altLang="zh-CN" sz="1200" kern="1200" dirty="0">
                <a:solidFill>
                  <a:schemeClr val="tx1"/>
                </a:solidFill>
                <a:effectLst/>
                <a:latin typeface="+mn-lt"/>
                <a:ea typeface="+mn-ea"/>
                <a:cs typeface="+mn-cs"/>
              </a:rPr>
              <a:t> Ry </a:t>
            </a:r>
            <a:r>
              <a:rPr lang="zh-CN" altLang="zh-CN" sz="1200" kern="1200" dirty="0">
                <a:solidFill>
                  <a:schemeClr val="tx1"/>
                </a:solidFill>
                <a:effectLst/>
                <a:latin typeface="+mn-lt"/>
                <a:ea typeface="+mn-ea"/>
                <a:cs typeface="+mn-cs"/>
              </a:rPr>
              <a:t>的寄存器描述符），则生成指令</a:t>
            </a:r>
            <a:r>
              <a:rPr lang="en-US" altLang="zh-CN" sz="1200" kern="1200" dirty="0">
                <a:solidFill>
                  <a:schemeClr val="tx1"/>
                </a:solidFill>
                <a:effectLst/>
                <a:latin typeface="+mn-lt"/>
                <a:ea typeface="+mn-ea"/>
                <a:cs typeface="+mn-cs"/>
              </a:rPr>
              <a:t> LD Ry ;y</a:t>
            </a:r>
            <a:r>
              <a:rPr lang="zh-CN" altLang="zh-CN" sz="1200" kern="1200" dirty="0">
                <a:solidFill>
                  <a:schemeClr val="tx1"/>
                </a:solidFill>
                <a:effectLst/>
                <a:latin typeface="+mn-lt"/>
                <a:ea typeface="+mn-ea"/>
                <a:cs typeface="+mn-cs"/>
              </a:rPr>
              <a:t>‘ ，其中</a:t>
            </a:r>
            <a:r>
              <a:rPr lang="en-US" altLang="zh-CN" sz="1200" kern="1200" dirty="0">
                <a:solidFill>
                  <a:schemeClr val="tx1"/>
                </a:solidFill>
                <a:effectLst/>
                <a:latin typeface="+mn-lt"/>
                <a:ea typeface="+mn-ea"/>
                <a:cs typeface="+mn-cs"/>
              </a:rPr>
              <a:t> y </a:t>
            </a:r>
            <a:r>
              <a:rPr lang="zh-CN" altLang="zh-CN" sz="1200" kern="1200" dirty="0">
                <a:solidFill>
                  <a:schemeClr val="tx1"/>
                </a:solidFill>
                <a:effectLst/>
                <a:latin typeface="+mn-lt"/>
                <a:ea typeface="+mn-ea"/>
                <a:cs typeface="+mn-cs"/>
              </a:rPr>
              <a:t>’ 是存放</a:t>
            </a:r>
            <a:r>
              <a:rPr lang="en-US" altLang="zh-CN" sz="1200" kern="1200" dirty="0">
                <a:solidFill>
                  <a:schemeClr val="tx1"/>
                </a:solidFill>
                <a:effectLst/>
                <a:latin typeface="+mn-lt"/>
                <a:ea typeface="+mn-ea"/>
                <a:cs typeface="+mn-cs"/>
              </a:rPr>
              <a:t> y </a:t>
            </a:r>
            <a:r>
              <a:rPr lang="zh-CN" altLang="zh-CN" sz="1200" kern="1200" dirty="0">
                <a:solidFill>
                  <a:schemeClr val="tx1"/>
                </a:solidFill>
                <a:effectLst/>
                <a:latin typeface="+mn-lt"/>
                <a:ea typeface="+mn-ea"/>
                <a:cs typeface="+mn-cs"/>
              </a:rPr>
              <a:t>的内存位置之一（</a:t>
            </a:r>
            <a:r>
              <a:rPr lang="en-US" altLang="zh-CN" sz="1200" kern="1200" dirty="0">
                <a:solidFill>
                  <a:schemeClr val="tx1"/>
                </a:solidFill>
                <a:effectLst/>
                <a:latin typeface="+mn-lt"/>
                <a:ea typeface="+mn-ea"/>
                <a:cs typeface="+mn-cs"/>
              </a:rPr>
              <a:t>y’</a:t>
            </a:r>
            <a:r>
              <a:rPr lang="zh-CN" altLang="zh-CN" sz="1200" kern="1200" dirty="0">
                <a:solidFill>
                  <a:schemeClr val="tx1"/>
                </a:solidFill>
                <a:effectLst/>
                <a:latin typeface="+mn-lt"/>
                <a:ea typeface="+mn-ea"/>
                <a:cs typeface="+mn-cs"/>
              </a:rPr>
              <a:t>可根据</a:t>
            </a:r>
            <a:r>
              <a:rPr lang="en-US" altLang="zh-CN" sz="1200" kern="1200" dirty="0">
                <a:solidFill>
                  <a:schemeClr val="tx1"/>
                </a:solidFill>
                <a:effectLst/>
                <a:latin typeface="+mn-lt"/>
                <a:ea typeface="+mn-ea"/>
                <a:cs typeface="+mn-cs"/>
              </a:rPr>
              <a:t> y </a:t>
            </a:r>
            <a:r>
              <a:rPr lang="zh-CN" altLang="zh-CN" sz="1200" kern="1200" dirty="0">
                <a:solidFill>
                  <a:schemeClr val="tx1"/>
                </a:solidFill>
                <a:effectLst/>
                <a:latin typeface="+mn-lt"/>
                <a:ea typeface="+mn-ea"/>
                <a:cs typeface="+mn-cs"/>
              </a:rPr>
              <a:t>‘的地址描述符得到）。 </a:t>
            </a:r>
          </a:p>
          <a:p>
            <a:r>
              <a:rPr lang="en-US" altLang="zh-CN" sz="1200" kern="1200" dirty="0">
                <a:solidFill>
                  <a:schemeClr val="tx1"/>
                </a:solidFill>
                <a:effectLst/>
                <a:latin typeface="+mn-lt"/>
                <a:ea typeface="+mn-ea"/>
                <a:cs typeface="+mn-cs"/>
              </a:rPr>
              <a:t>3. </a:t>
            </a:r>
            <a:r>
              <a:rPr lang="zh-CN" altLang="zh-CN" sz="1200" kern="1200" dirty="0">
                <a:solidFill>
                  <a:schemeClr val="tx1"/>
                </a:solidFill>
                <a:effectLst/>
                <a:latin typeface="+mn-lt"/>
                <a:ea typeface="+mn-ea"/>
                <a:cs typeface="+mn-cs"/>
              </a:rPr>
              <a:t>类似地，如果</a:t>
            </a:r>
            <a:r>
              <a:rPr lang="en-US" altLang="zh-CN" sz="1200" kern="1200" dirty="0">
                <a:solidFill>
                  <a:schemeClr val="tx1"/>
                </a:solidFill>
                <a:effectLst/>
                <a:latin typeface="+mn-lt"/>
                <a:ea typeface="+mn-ea"/>
                <a:cs typeface="+mn-cs"/>
              </a:rPr>
              <a:t> z </a:t>
            </a:r>
            <a:r>
              <a:rPr lang="zh-CN" altLang="zh-CN" sz="1200" kern="1200" dirty="0">
                <a:solidFill>
                  <a:schemeClr val="tx1"/>
                </a:solidFill>
                <a:effectLst/>
                <a:latin typeface="+mn-lt"/>
                <a:ea typeface="+mn-ea"/>
                <a:cs typeface="+mn-cs"/>
              </a:rPr>
              <a:t>不在</a:t>
            </a:r>
            <a:r>
              <a:rPr lang="en-US" altLang="zh-CN" sz="1200" kern="1200" dirty="0">
                <a:solidFill>
                  <a:schemeClr val="tx1"/>
                </a:solidFill>
                <a:effectLst/>
                <a:latin typeface="+mn-lt"/>
                <a:ea typeface="+mn-ea"/>
                <a:cs typeface="+mn-cs"/>
              </a:rPr>
              <a:t> </a:t>
            </a:r>
            <a:r>
              <a:rPr lang="en-US" altLang="zh-CN" sz="1200" kern="1200" dirty="0" err="1">
                <a:solidFill>
                  <a:schemeClr val="tx1"/>
                </a:solidFill>
                <a:effectLst/>
                <a:latin typeface="+mn-lt"/>
                <a:ea typeface="+mn-ea"/>
                <a:cs typeface="+mn-cs"/>
              </a:rPr>
              <a:t>Rz</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中，则生成指令</a:t>
            </a:r>
            <a:r>
              <a:rPr lang="en-US" altLang="zh-CN" sz="1200" kern="1200" dirty="0">
                <a:solidFill>
                  <a:schemeClr val="tx1"/>
                </a:solidFill>
                <a:effectLst/>
                <a:latin typeface="+mn-lt"/>
                <a:ea typeface="+mn-ea"/>
                <a:cs typeface="+mn-cs"/>
              </a:rPr>
              <a:t> LD </a:t>
            </a:r>
            <a:r>
              <a:rPr lang="en-US" altLang="zh-CN" sz="1200" kern="1200" dirty="0" err="1">
                <a:solidFill>
                  <a:schemeClr val="tx1"/>
                </a:solidFill>
                <a:effectLst/>
                <a:latin typeface="+mn-lt"/>
                <a:ea typeface="+mn-ea"/>
                <a:cs typeface="+mn-cs"/>
              </a:rPr>
              <a:t>Rz</a:t>
            </a:r>
            <a:r>
              <a:rPr lang="en-US" altLang="zh-CN" sz="1200" kern="1200" dirty="0">
                <a:solidFill>
                  <a:schemeClr val="tx1"/>
                </a:solidFill>
                <a:effectLst/>
                <a:latin typeface="+mn-lt"/>
                <a:ea typeface="+mn-ea"/>
                <a:cs typeface="+mn-cs"/>
              </a:rPr>
              <a:t> ;z</a:t>
            </a:r>
            <a:r>
              <a:rPr lang="zh-CN" altLang="zh-CN" sz="1200" kern="1200" dirty="0">
                <a:solidFill>
                  <a:schemeClr val="tx1"/>
                </a:solidFill>
                <a:effectLst/>
                <a:latin typeface="+mn-lt"/>
                <a:ea typeface="+mn-ea"/>
                <a:cs typeface="+mn-cs"/>
              </a:rPr>
              <a:t>‘ ，其中</a:t>
            </a:r>
            <a:r>
              <a:rPr lang="en-US" altLang="zh-CN" sz="1200" kern="1200" dirty="0">
                <a:solidFill>
                  <a:schemeClr val="tx1"/>
                </a:solidFill>
                <a:effectLst/>
                <a:latin typeface="+mn-lt"/>
                <a:ea typeface="+mn-ea"/>
                <a:cs typeface="+mn-cs"/>
              </a:rPr>
              <a:t> z </a:t>
            </a:r>
            <a:r>
              <a:rPr lang="zh-CN" altLang="zh-CN" sz="1200" kern="1200" dirty="0">
                <a:solidFill>
                  <a:schemeClr val="tx1"/>
                </a:solidFill>
                <a:effectLst/>
                <a:latin typeface="+mn-lt"/>
                <a:ea typeface="+mn-ea"/>
                <a:cs typeface="+mn-cs"/>
              </a:rPr>
              <a:t>‘ 是存放 </a:t>
            </a:r>
            <a:r>
              <a:rPr lang="en-US" altLang="zh-CN" sz="1200" kern="1200" dirty="0">
                <a:solidFill>
                  <a:schemeClr val="tx1"/>
                </a:solidFill>
                <a:effectLst/>
                <a:latin typeface="+mn-lt"/>
                <a:ea typeface="+mn-ea"/>
                <a:cs typeface="+mn-cs"/>
              </a:rPr>
              <a:t>z </a:t>
            </a:r>
            <a:r>
              <a:rPr lang="zh-CN" altLang="zh-CN" sz="1200" kern="1200" dirty="0">
                <a:solidFill>
                  <a:schemeClr val="tx1"/>
                </a:solidFill>
                <a:effectLst/>
                <a:latin typeface="+mn-lt"/>
                <a:ea typeface="+mn-ea"/>
                <a:cs typeface="+mn-cs"/>
              </a:rPr>
              <a:t>的位置。</a:t>
            </a:r>
          </a:p>
          <a:p>
            <a:r>
              <a:rPr lang="en-US" altLang="zh-CN" sz="1200" kern="1200" dirty="0">
                <a:solidFill>
                  <a:schemeClr val="tx1"/>
                </a:solidFill>
                <a:effectLst/>
                <a:latin typeface="+mn-lt"/>
                <a:ea typeface="+mn-ea"/>
                <a:cs typeface="+mn-cs"/>
              </a:rPr>
              <a:t>4. </a:t>
            </a:r>
            <a:r>
              <a:rPr lang="zh-CN" altLang="zh-CN" sz="1200" kern="1200" dirty="0">
                <a:solidFill>
                  <a:schemeClr val="tx1"/>
                </a:solidFill>
                <a:effectLst/>
                <a:latin typeface="+mn-lt"/>
                <a:ea typeface="+mn-ea"/>
                <a:cs typeface="+mn-cs"/>
              </a:rPr>
              <a:t>生成指令</a:t>
            </a:r>
            <a:r>
              <a:rPr lang="en-US" altLang="zh-CN" sz="1200" kern="1200" dirty="0">
                <a:solidFill>
                  <a:schemeClr val="tx1"/>
                </a:solidFill>
                <a:effectLst/>
                <a:latin typeface="+mn-lt"/>
                <a:ea typeface="+mn-ea"/>
                <a:cs typeface="+mn-cs"/>
              </a:rPr>
              <a:t> ADD Rx ;Ry ;</a:t>
            </a:r>
            <a:r>
              <a:rPr lang="en-US" altLang="zh-CN" sz="1200" kern="1200" dirty="0" err="1">
                <a:solidFill>
                  <a:schemeClr val="tx1"/>
                </a:solidFill>
                <a:effectLst/>
                <a:latin typeface="+mn-lt"/>
                <a:ea typeface="+mn-ea"/>
                <a:cs typeface="+mn-cs"/>
              </a:rPr>
              <a:t>Rz</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a:t>
            </a:r>
          </a:p>
          <a:p>
            <a:endParaRPr lang="zh-CN" altLang="en-US"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63</a:t>
            </a:fld>
            <a:endParaRPr lang="zh-CN" altLang="en-US"/>
          </a:p>
        </p:txBody>
      </p:sp>
    </p:spTree>
    <p:extLst>
      <p:ext uri="{BB962C8B-B14F-4D97-AF65-F5344CB8AC3E}">
        <p14:creationId xmlns:p14="http://schemas.microsoft.com/office/powerpoint/2010/main" val="3021846608"/>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复制语句的机器指令 </a:t>
            </a:r>
          </a:p>
          <a:p>
            <a:r>
              <a:rPr lang="en-US" altLang="zh-CN" sz="1200" kern="1200" dirty="0">
                <a:solidFill>
                  <a:schemeClr val="tx1"/>
                </a:solidFill>
                <a:effectLst/>
                <a:latin typeface="+mn-lt"/>
                <a:ea typeface="+mn-ea"/>
                <a:cs typeface="+mn-cs"/>
              </a:rPr>
              <a:t>x = y </a:t>
            </a:r>
            <a:r>
              <a:rPr lang="zh-CN" altLang="zh-CN" sz="1200" kern="1200" dirty="0">
                <a:solidFill>
                  <a:schemeClr val="tx1"/>
                </a:solidFill>
                <a:effectLst/>
                <a:latin typeface="+mn-lt"/>
                <a:ea typeface="+mn-ea"/>
                <a:cs typeface="+mn-cs"/>
              </a:rPr>
              <a:t>形式的三地址复制语句是一个重要的特例。我们假设</a:t>
            </a:r>
            <a:r>
              <a:rPr lang="en-US" altLang="zh-CN" sz="1200" kern="1200" dirty="0">
                <a:solidFill>
                  <a:schemeClr val="tx1"/>
                </a:solidFill>
                <a:effectLst/>
                <a:latin typeface="+mn-lt"/>
                <a:ea typeface="+mn-ea"/>
                <a:cs typeface="+mn-cs"/>
              </a:rPr>
              <a:t> </a:t>
            </a:r>
            <a:r>
              <a:rPr lang="en-US" altLang="zh-CN" sz="1200" kern="1200" dirty="0" err="1">
                <a:solidFill>
                  <a:schemeClr val="tx1"/>
                </a:solidFill>
                <a:effectLst/>
                <a:latin typeface="+mn-lt"/>
                <a:ea typeface="+mn-ea"/>
                <a:cs typeface="+mn-cs"/>
              </a:rPr>
              <a:t>getReg</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总是为</a:t>
            </a:r>
            <a:r>
              <a:rPr lang="en-US" altLang="zh-CN" sz="1200" kern="1200" dirty="0">
                <a:solidFill>
                  <a:schemeClr val="tx1"/>
                </a:solidFill>
                <a:effectLst/>
                <a:latin typeface="+mn-lt"/>
                <a:ea typeface="+mn-ea"/>
                <a:cs typeface="+mn-cs"/>
              </a:rPr>
              <a:t> x </a:t>
            </a:r>
            <a:r>
              <a:rPr lang="zh-CN" altLang="zh-CN"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 y </a:t>
            </a:r>
            <a:r>
              <a:rPr lang="zh-CN" altLang="zh-CN" sz="1200" kern="1200" dirty="0">
                <a:solidFill>
                  <a:schemeClr val="tx1"/>
                </a:solidFill>
                <a:effectLst/>
                <a:latin typeface="+mn-lt"/>
                <a:ea typeface="+mn-ea"/>
                <a:cs typeface="+mn-cs"/>
              </a:rPr>
              <a:t>选择相同的寄存器。如果</a:t>
            </a:r>
            <a:r>
              <a:rPr lang="en-US" altLang="zh-CN" sz="1200" kern="1200" dirty="0">
                <a:solidFill>
                  <a:schemeClr val="tx1"/>
                </a:solidFill>
                <a:effectLst/>
                <a:latin typeface="+mn-lt"/>
                <a:ea typeface="+mn-ea"/>
                <a:cs typeface="+mn-cs"/>
              </a:rPr>
              <a:t> y </a:t>
            </a:r>
            <a:r>
              <a:rPr lang="zh-CN" altLang="zh-CN" sz="1200" kern="1200" dirty="0">
                <a:solidFill>
                  <a:schemeClr val="tx1"/>
                </a:solidFill>
                <a:effectLst/>
                <a:latin typeface="+mn-lt"/>
                <a:ea typeface="+mn-ea"/>
                <a:cs typeface="+mn-cs"/>
              </a:rPr>
              <a:t>尚未在该寄存器</a:t>
            </a:r>
            <a:r>
              <a:rPr lang="en-US" altLang="zh-CN" sz="1200" kern="1200" dirty="0">
                <a:solidFill>
                  <a:schemeClr val="tx1"/>
                </a:solidFill>
                <a:effectLst/>
                <a:latin typeface="+mn-lt"/>
                <a:ea typeface="+mn-ea"/>
                <a:cs typeface="+mn-cs"/>
              </a:rPr>
              <a:t> Ry </a:t>
            </a:r>
            <a:r>
              <a:rPr lang="zh-CN" altLang="zh-CN" sz="1200" kern="1200" dirty="0">
                <a:solidFill>
                  <a:schemeClr val="tx1"/>
                </a:solidFill>
                <a:effectLst/>
                <a:latin typeface="+mn-lt"/>
                <a:ea typeface="+mn-ea"/>
                <a:cs typeface="+mn-cs"/>
              </a:rPr>
              <a:t>中，则生成机器指令</a:t>
            </a:r>
            <a:r>
              <a:rPr lang="en-US" altLang="zh-CN" sz="1200" kern="1200" dirty="0">
                <a:solidFill>
                  <a:schemeClr val="tx1"/>
                </a:solidFill>
                <a:effectLst/>
                <a:latin typeface="+mn-lt"/>
                <a:ea typeface="+mn-ea"/>
                <a:cs typeface="+mn-cs"/>
              </a:rPr>
              <a:t> LD Ry </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 y</a:t>
            </a:r>
            <a:r>
              <a:rPr lang="zh-CN" altLang="zh-CN" sz="1200" kern="1200" dirty="0">
                <a:solidFill>
                  <a:schemeClr val="tx1"/>
                </a:solidFill>
                <a:effectLst/>
                <a:latin typeface="+mn-lt"/>
                <a:ea typeface="+mn-ea"/>
                <a:cs typeface="+mn-cs"/>
              </a:rPr>
              <a:t>。如果</a:t>
            </a:r>
            <a:r>
              <a:rPr lang="en-US" altLang="zh-CN" sz="1200" kern="1200" dirty="0">
                <a:solidFill>
                  <a:schemeClr val="tx1"/>
                </a:solidFill>
                <a:effectLst/>
                <a:latin typeface="+mn-lt"/>
                <a:ea typeface="+mn-ea"/>
                <a:cs typeface="+mn-cs"/>
              </a:rPr>
              <a:t> y </a:t>
            </a:r>
            <a:r>
              <a:rPr lang="zh-CN" altLang="zh-CN" sz="1200" kern="1200" dirty="0">
                <a:solidFill>
                  <a:schemeClr val="tx1"/>
                </a:solidFill>
                <a:effectLst/>
                <a:latin typeface="+mn-lt"/>
                <a:ea typeface="+mn-ea"/>
                <a:cs typeface="+mn-cs"/>
              </a:rPr>
              <a:t>已经在</a:t>
            </a:r>
            <a:r>
              <a:rPr lang="en-US" altLang="zh-CN" sz="1200" kern="1200" dirty="0">
                <a:solidFill>
                  <a:schemeClr val="tx1"/>
                </a:solidFill>
                <a:effectLst/>
                <a:latin typeface="+mn-lt"/>
                <a:ea typeface="+mn-ea"/>
                <a:cs typeface="+mn-cs"/>
              </a:rPr>
              <a:t> Ry </a:t>
            </a:r>
            <a:r>
              <a:rPr lang="zh-CN" altLang="zh-CN" sz="1200" kern="1200" dirty="0">
                <a:solidFill>
                  <a:schemeClr val="tx1"/>
                </a:solidFill>
                <a:effectLst/>
                <a:latin typeface="+mn-lt"/>
                <a:ea typeface="+mn-ea"/>
                <a:cs typeface="+mn-cs"/>
              </a:rPr>
              <a:t>中，我们什么也不做。我们只需调整</a:t>
            </a:r>
            <a:r>
              <a:rPr lang="en-US" altLang="zh-CN" sz="1200" kern="1200" dirty="0">
                <a:solidFill>
                  <a:schemeClr val="tx1"/>
                </a:solidFill>
                <a:effectLst/>
                <a:latin typeface="+mn-lt"/>
                <a:ea typeface="+mn-ea"/>
                <a:cs typeface="+mn-cs"/>
              </a:rPr>
              <a:t> Ry </a:t>
            </a:r>
            <a:r>
              <a:rPr lang="zh-CN" altLang="zh-CN" sz="1200" kern="1200" dirty="0">
                <a:solidFill>
                  <a:schemeClr val="tx1"/>
                </a:solidFill>
                <a:effectLst/>
                <a:latin typeface="+mn-lt"/>
                <a:ea typeface="+mn-ea"/>
                <a:cs typeface="+mn-cs"/>
              </a:rPr>
              <a:t>的寄存器描述符，表明</a:t>
            </a:r>
            <a:r>
              <a:rPr lang="en-US" altLang="zh-CN" sz="1200" kern="1200" dirty="0">
                <a:solidFill>
                  <a:schemeClr val="tx1"/>
                </a:solidFill>
                <a:effectLst/>
                <a:latin typeface="+mn-lt"/>
                <a:ea typeface="+mn-ea"/>
                <a:cs typeface="+mn-cs"/>
              </a:rPr>
              <a:t>Ry</a:t>
            </a:r>
            <a:r>
              <a:rPr lang="zh-CN" altLang="zh-CN" sz="1200" kern="1200" dirty="0">
                <a:solidFill>
                  <a:schemeClr val="tx1"/>
                </a:solidFill>
                <a:effectLst/>
                <a:latin typeface="+mn-lt"/>
                <a:ea typeface="+mn-ea"/>
                <a:cs typeface="+mn-cs"/>
              </a:rPr>
              <a:t>中也存放了</a:t>
            </a:r>
            <a:r>
              <a:rPr lang="en-US" altLang="zh-CN" sz="1200" kern="1200" dirty="0">
                <a:solidFill>
                  <a:schemeClr val="tx1"/>
                </a:solidFill>
                <a:effectLst/>
                <a:latin typeface="+mn-lt"/>
                <a:ea typeface="+mn-ea"/>
                <a:cs typeface="+mn-cs"/>
              </a:rPr>
              <a:t> x</a:t>
            </a:r>
            <a:r>
              <a:rPr lang="zh-CN" altLang="zh-CN" sz="1200" kern="1200" dirty="0">
                <a:solidFill>
                  <a:schemeClr val="tx1"/>
                </a:solidFill>
                <a:effectLst/>
                <a:latin typeface="+mn-lt"/>
                <a:ea typeface="+mn-ea"/>
                <a:cs typeface="+mn-cs"/>
              </a:rPr>
              <a:t>的值。</a:t>
            </a:r>
            <a:endParaRPr lang="en-US" altLang="zh-CN" sz="1200" kern="1200" dirty="0">
              <a:solidFill>
                <a:schemeClr val="tx1"/>
              </a:solidFill>
              <a:effectLst/>
              <a:latin typeface="+mn-lt"/>
              <a:ea typeface="+mn-ea"/>
              <a:cs typeface="+mn-cs"/>
            </a:endParaRPr>
          </a:p>
          <a:p>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基本块的收尾工作</a:t>
            </a:r>
          </a:p>
          <a:p>
            <a:r>
              <a:rPr lang="zh-CN" altLang="zh-CN" sz="1200" kern="1200" dirty="0">
                <a:solidFill>
                  <a:schemeClr val="tx1"/>
                </a:solidFill>
                <a:effectLst/>
                <a:latin typeface="+mn-lt"/>
                <a:ea typeface="+mn-ea"/>
                <a:cs typeface="+mn-cs"/>
              </a:rPr>
              <a:t>我们描述算法时表明，在代码结束的时候，基本块中使用的变量可能仅存放在某个寄存器中。如果这个变量是一个仅在块内使用的临时变量，那就没问题；当块结束时，我们可以忘记这些临时变量的值并假设其寄存器为空。但是，如果变量在块出口处活跃，或者如果我们不知道哪些变量在出口处活跃，那么我们需要假设稍后还会用到该变量的值。在这种情况下，对于每个变量</a:t>
            </a:r>
            <a:r>
              <a:rPr lang="en-US" altLang="zh-CN" sz="1200" kern="1200" dirty="0">
                <a:solidFill>
                  <a:schemeClr val="tx1"/>
                </a:solidFill>
                <a:effectLst/>
                <a:latin typeface="+mn-lt"/>
                <a:ea typeface="+mn-ea"/>
                <a:cs typeface="+mn-cs"/>
              </a:rPr>
              <a:t> x</a:t>
            </a:r>
            <a:r>
              <a:rPr lang="zh-CN" altLang="zh-CN" sz="1200" kern="1200" dirty="0">
                <a:solidFill>
                  <a:schemeClr val="tx1"/>
                </a:solidFill>
                <a:effectLst/>
                <a:latin typeface="+mn-lt"/>
                <a:ea typeface="+mn-ea"/>
                <a:cs typeface="+mn-cs"/>
              </a:rPr>
              <a:t>，如</a:t>
            </a:r>
            <a:r>
              <a:rPr lang="zh-CN" altLang="en-US" sz="1200" kern="1200" dirty="0">
                <a:solidFill>
                  <a:schemeClr val="tx1"/>
                </a:solidFill>
                <a:effectLst/>
                <a:latin typeface="+mn-lt"/>
                <a:ea typeface="+mn-ea"/>
                <a:cs typeface="+mn-cs"/>
              </a:rPr>
              <a:t>它</a:t>
            </a:r>
            <a:r>
              <a:rPr lang="zh-CN" altLang="zh-CN" sz="1200" kern="1200" dirty="0">
                <a:solidFill>
                  <a:schemeClr val="tx1"/>
                </a:solidFill>
                <a:effectLst/>
                <a:latin typeface="+mn-lt"/>
                <a:ea typeface="+mn-ea"/>
                <a:cs typeface="+mn-cs"/>
              </a:rPr>
              <a:t>的地址描述符表明它的值没有存放在</a:t>
            </a:r>
            <a:r>
              <a:rPr lang="en-US" altLang="zh-CN" sz="1200" kern="1200" dirty="0">
                <a:solidFill>
                  <a:schemeClr val="tx1"/>
                </a:solidFill>
                <a:effectLst/>
                <a:latin typeface="+mn-lt"/>
                <a:ea typeface="+mn-ea"/>
                <a:cs typeface="+mn-cs"/>
              </a:rPr>
              <a:t> x </a:t>
            </a:r>
            <a:r>
              <a:rPr lang="zh-CN" altLang="zh-CN" sz="1200" kern="1200" dirty="0">
                <a:solidFill>
                  <a:schemeClr val="tx1"/>
                </a:solidFill>
                <a:effectLst/>
                <a:latin typeface="+mn-lt"/>
                <a:ea typeface="+mn-ea"/>
                <a:cs typeface="+mn-cs"/>
              </a:rPr>
              <a:t>的内存位置上，我们必须生成指令</a:t>
            </a:r>
            <a:r>
              <a:rPr lang="en-US" altLang="zh-CN" sz="1200" kern="1200" dirty="0">
                <a:solidFill>
                  <a:schemeClr val="tx1"/>
                </a:solidFill>
                <a:effectLst/>
                <a:latin typeface="+mn-lt"/>
                <a:ea typeface="+mn-ea"/>
                <a:cs typeface="+mn-cs"/>
              </a:rPr>
              <a:t> ST x</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 R </a:t>
            </a:r>
            <a:r>
              <a:rPr lang="zh-CN" altLang="zh-CN" sz="1200" kern="1200" dirty="0">
                <a:solidFill>
                  <a:schemeClr val="tx1"/>
                </a:solidFill>
                <a:effectLst/>
                <a:latin typeface="+mn-lt"/>
                <a:ea typeface="+mn-ea"/>
                <a:cs typeface="+mn-cs"/>
              </a:rPr>
              <a:t>，其中</a:t>
            </a:r>
            <a:r>
              <a:rPr lang="en-US" altLang="zh-CN" sz="1200" kern="1200" dirty="0">
                <a:solidFill>
                  <a:schemeClr val="tx1"/>
                </a:solidFill>
                <a:effectLst/>
                <a:latin typeface="+mn-lt"/>
                <a:ea typeface="+mn-ea"/>
                <a:cs typeface="+mn-cs"/>
              </a:rPr>
              <a:t> R </a:t>
            </a:r>
            <a:r>
              <a:rPr lang="zh-CN" altLang="zh-CN" sz="1200" kern="1200" dirty="0">
                <a:solidFill>
                  <a:schemeClr val="tx1"/>
                </a:solidFill>
                <a:effectLst/>
                <a:latin typeface="+mn-lt"/>
                <a:ea typeface="+mn-ea"/>
                <a:cs typeface="+mn-cs"/>
              </a:rPr>
              <a:t>是在基本块的结尾处存放</a:t>
            </a:r>
            <a:r>
              <a:rPr lang="en-US" altLang="zh-CN" sz="1200" kern="1200" dirty="0">
                <a:solidFill>
                  <a:schemeClr val="tx1"/>
                </a:solidFill>
                <a:effectLst/>
                <a:latin typeface="+mn-lt"/>
                <a:ea typeface="+mn-ea"/>
                <a:cs typeface="+mn-cs"/>
              </a:rPr>
              <a:t> x </a:t>
            </a:r>
            <a:r>
              <a:rPr lang="zh-CN" altLang="zh-CN" sz="1200" kern="1200" dirty="0">
                <a:solidFill>
                  <a:schemeClr val="tx1"/>
                </a:solidFill>
                <a:effectLst/>
                <a:latin typeface="+mn-lt"/>
                <a:ea typeface="+mn-ea"/>
                <a:cs typeface="+mn-cs"/>
              </a:rPr>
              <a:t>值的寄存器。</a:t>
            </a:r>
          </a:p>
          <a:p>
            <a:endParaRPr lang="zh-CN" altLang="zh-CN" sz="1200" kern="1200" dirty="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64</a:t>
            </a:fld>
            <a:endParaRPr lang="zh-CN" altLang="en-US"/>
          </a:p>
        </p:txBody>
      </p:sp>
    </p:spTree>
    <p:extLst>
      <p:ext uri="{BB962C8B-B14F-4D97-AF65-F5344CB8AC3E}">
        <p14:creationId xmlns:p14="http://schemas.microsoft.com/office/powerpoint/2010/main" val="2693700000"/>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管理寄存器和地址描述符 </a:t>
            </a:r>
          </a:p>
          <a:p>
            <a:r>
              <a:rPr lang="zh-CN" altLang="zh-CN" sz="1200" kern="1200" dirty="0">
                <a:solidFill>
                  <a:schemeClr val="tx1"/>
                </a:solidFill>
                <a:effectLst/>
                <a:latin typeface="+mn-lt"/>
                <a:ea typeface="+mn-ea"/>
                <a:cs typeface="+mn-cs"/>
              </a:rPr>
              <a:t>当代码生成算法生成加载、存储和其他机器指令时，它必须更新寄存器和地址描述符。规则如下： </a:t>
            </a:r>
          </a:p>
          <a:p>
            <a:r>
              <a:rPr lang="en-US" altLang="zh-CN" sz="1200" kern="1200" dirty="0">
                <a:solidFill>
                  <a:schemeClr val="tx1"/>
                </a:solidFill>
                <a:effectLst/>
                <a:latin typeface="+mn-lt"/>
                <a:ea typeface="+mn-ea"/>
                <a:cs typeface="+mn-cs"/>
              </a:rPr>
              <a:t>1. </a:t>
            </a:r>
            <a:r>
              <a:rPr lang="zh-CN" altLang="zh-CN" sz="1200" kern="1200" dirty="0">
                <a:solidFill>
                  <a:schemeClr val="tx1"/>
                </a:solidFill>
                <a:effectLst/>
                <a:latin typeface="+mn-lt"/>
                <a:ea typeface="+mn-ea"/>
                <a:cs typeface="+mn-cs"/>
              </a:rPr>
              <a:t>对于指令</a:t>
            </a:r>
            <a:r>
              <a:rPr lang="en-US" altLang="zh-CN" sz="1200" kern="1200" dirty="0">
                <a:solidFill>
                  <a:schemeClr val="tx1"/>
                </a:solidFill>
                <a:effectLst/>
                <a:latin typeface="+mn-lt"/>
                <a:ea typeface="+mn-ea"/>
                <a:cs typeface="+mn-cs"/>
              </a:rPr>
              <a:t>LD R</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 x </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(a) </a:t>
            </a:r>
            <a:r>
              <a:rPr lang="zh-CN" altLang="zh-CN" sz="1200" kern="1200" dirty="0">
                <a:solidFill>
                  <a:schemeClr val="tx1"/>
                </a:solidFill>
                <a:effectLst/>
                <a:latin typeface="+mn-lt"/>
                <a:ea typeface="+mn-ea"/>
                <a:cs typeface="+mn-cs"/>
              </a:rPr>
              <a:t>更改寄存器</a:t>
            </a:r>
            <a:r>
              <a:rPr lang="en-US" altLang="zh-CN" sz="1200" kern="1200" dirty="0">
                <a:solidFill>
                  <a:schemeClr val="tx1"/>
                </a:solidFill>
                <a:effectLst/>
                <a:latin typeface="+mn-lt"/>
                <a:ea typeface="+mn-ea"/>
                <a:cs typeface="+mn-cs"/>
              </a:rPr>
              <a:t> R </a:t>
            </a:r>
            <a:r>
              <a:rPr lang="zh-CN" altLang="zh-CN" sz="1200" kern="1200" dirty="0">
                <a:solidFill>
                  <a:schemeClr val="tx1"/>
                </a:solidFill>
                <a:effectLst/>
                <a:latin typeface="+mn-lt"/>
                <a:ea typeface="+mn-ea"/>
                <a:cs typeface="+mn-cs"/>
              </a:rPr>
              <a:t>的寄存器描述符，使其仅包含</a:t>
            </a:r>
            <a:r>
              <a:rPr lang="en-US" altLang="zh-CN" sz="1200" kern="1200" dirty="0">
                <a:solidFill>
                  <a:schemeClr val="tx1"/>
                </a:solidFill>
                <a:effectLst/>
                <a:latin typeface="+mn-lt"/>
                <a:ea typeface="+mn-ea"/>
                <a:cs typeface="+mn-cs"/>
              </a:rPr>
              <a:t> x</a:t>
            </a:r>
            <a:r>
              <a:rPr lang="zh-CN" altLang="zh-CN" sz="1200" kern="1200" dirty="0">
                <a:solidFill>
                  <a:schemeClr val="tx1"/>
                </a:solidFill>
                <a:effectLst/>
                <a:latin typeface="+mn-lt"/>
                <a:ea typeface="+mn-ea"/>
                <a:cs typeface="+mn-cs"/>
              </a:rPr>
              <a:t>。 </a:t>
            </a:r>
          </a:p>
          <a:p>
            <a:r>
              <a:rPr lang="en-US" altLang="zh-CN" sz="1200" kern="1200" dirty="0">
                <a:solidFill>
                  <a:schemeClr val="tx1"/>
                </a:solidFill>
                <a:effectLst/>
                <a:latin typeface="+mn-lt"/>
                <a:ea typeface="+mn-ea"/>
                <a:cs typeface="+mn-cs"/>
              </a:rPr>
              <a:t>(b) </a:t>
            </a:r>
            <a:r>
              <a:rPr lang="zh-CN" altLang="zh-CN" sz="1200" kern="1200" dirty="0">
                <a:solidFill>
                  <a:schemeClr val="tx1"/>
                </a:solidFill>
                <a:effectLst/>
                <a:latin typeface="+mn-lt"/>
                <a:ea typeface="+mn-ea"/>
                <a:cs typeface="+mn-cs"/>
              </a:rPr>
              <a:t>更改</a:t>
            </a:r>
            <a:r>
              <a:rPr lang="en-US" altLang="zh-CN" sz="1200" kern="1200" dirty="0">
                <a:solidFill>
                  <a:schemeClr val="tx1"/>
                </a:solidFill>
                <a:effectLst/>
                <a:latin typeface="+mn-lt"/>
                <a:ea typeface="+mn-ea"/>
                <a:cs typeface="+mn-cs"/>
              </a:rPr>
              <a:t> x </a:t>
            </a:r>
            <a:r>
              <a:rPr lang="zh-CN" altLang="zh-CN" sz="1200" kern="1200" dirty="0">
                <a:solidFill>
                  <a:schemeClr val="tx1"/>
                </a:solidFill>
                <a:effectLst/>
                <a:latin typeface="+mn-lt"/>
                <a:ea typeface="+mn-ea"/>
                <a:cs typeface="+mn-cs"/>
              </a:rPr>
              <a:t>的地址描述符，把寄存器</a:t>
            </a:r>
            <a:r>
              <a:rPr lang="en-US" altLang="zh-CN" sz="1200" kern="1200" dirty="0">
                <a:solidFill>
                  <a:schemeClr val="tx1"/>
                </a:solidFill>
                <a:effectLst/>
                <a:latin typeface="+mn-lt"/>
                <a:ea typeface="+mn-ea"/>
                <a:cs typeface="+mn-cs"/>
              </a:rPr>
              <a:t> R </a:t>
            </a:r>
            <a:r>
              <a:rPr lang="zh-CN" altLang="zh-CN" sz="1200" kern="1200" dirty="0">
                <a:solidFill>
                  <a:schemeClr val="tx1"/>
                </a:solidFill>
                <a:effectLst/>
                <a:latin typeface="+mn-lt"/>
                <a:ea typeface="+mn-ea"/>
                <a:cs typeface="+mn-cs"/>
              </a:rPr>
              <a:t>作为新增位置加入到</a:t>
            </a:r>
            <a:r>
              <a:rPr lang="en-US" altLang="zh-CN" sz="1200" kern="1200" dirty="0">
                <a:solidFill>
                  <a:schemeClr val="tx1"/>
                </a:solidFill>
                <a:effectLst/>
                <a:latin typeface="+mn-lt"/>
                <a:ea typeface="+mn-ea"/>
                <a:cs typeface="+mn-cs"/>
              </a:rPr>
              <a:t>x</a:t>
            </a:r>
            <a:r>
              <a:rPr lang="zh-CN" altLang="zh-CN" sz="1200" kern="1200" dirty="0">
                <a:solidFill>
                  <a:schemeClr val="tx1"/>
                </a:solidFill>
                <a:effectLst/>
                <a:latin typeface="+mn-lt"/>
                <a:ea typeface="+mn-ea"/>
                <a:cs typeface="+mn-cs"/>
              </a:rPr>
              <a:t>的位置集合中。</a:t>
            </a:r>
          </a:p>
          <a:p>
            <a:r>
              <a:rPr lang="en-US" altLang="zh-CN" sz="1200" kern="1200" dirty="0">
                <a:solidFill>
                  <a:schemeClr val="tx1"/>
                </a:solidFill>
                <a:effectLst/>
                <a:latin typeface="+mn-lt"/>
                <a:ea typeface="+mn-ea"/>
                <a:cs typeface="+mn-cs"/>
              </a:rPr>
              <a:t>(c) </a:t>
            </a:r>
            <a:r>
              <a:rPr lang="zh-CN" altLang="zh-CN" sz="1200" kern="1200" dirty="0">
                <a:solidFill>
                  <a:schemeClr val="tx1"/>
                </a:solidFill>
                <a:effectLst/>
                <a:latin typeface="+mn-lt"/>
                <a:ea typeface="+mn-ea"/>
                <a:cs typeface="+mn-cs"/>
              </a:rPr>
              <a:t>从任何不同于</a:t>
            </a:r>
            <a:r>
              <a:rPr lang="en-US" altLang="zh-CN" sz="1200" kern="1200" dirty="0">
                <a:solidFill>
                  <a:schemeClr val="tx1"/>
                </a:solidFill>
                <a:effectLst/>
                <a:latin typeface="+mn-lt"/>
                <a:ea typeface="+mn-ea"/>
                <a:cs typeface="+mn-cs"/>
              </a:rPr>
              <a:t>x</a:t>
            </a:r>
            <a:r>
              <a:rPr lang="zh-CN" altLang="zh-CN" sz="1200" kern="1200" dirty="0">
                <a:solidFill>
                  <a:schemeClr val="tx1"/>
                </a:solidFill>
                <a:effectLst/>
                <a:latin typeface="+mn-lt"/>
                <a:ea typeface="+mn-ea"/>
                <a:cs typeface="+mn-cs"/>
              </a:rPr>
              <a:t>的变量的地址描述符中删除</a:t>
            </a:r>
            <a:r>
              <a:rPr lang="en-US" altLang="zh-CN" sz="1200" kern="1200" dirty="0">
                <a:solidFill>
                  <a:schemeClr val="tx1"/>
                </a:solidFill>
                <a:effectLst/>
                <a:latin typeface="+mn-lt"/>
                <a:ea typeface="+mn-ea"/>
                <a:cs typeface="+mn-cs"/>
              </a:rPr>
              <a:t>R</a:t>
            </a:r>
            <a:r>
              <a:rPr lang="zh-CN" altLang="zh-CN" sz="1200" kern="1200" dirty="0">
                <a:solidFill>
                  <a:schemeClr val="tx1"/>
                </a:solidFill>
                <a:effectLst/>
                <a:latin typeface="+mn-lt"/>
                <a:ea typeface="+mn-ea"/>
                <a:cs typeface="+mn-cs"/>
              </a:rPr>
              <a:t>。 </a:t>
            </a:r>
          </a:p>
          <a:p>
            <a:r>
              <a:rPr lang="en-US" altLang="zh-CN" sz="1200" kern="1200" dirty="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、对于指令</a:t>
            </a:r>
            <a:r>
              <a:rPr lang="en-US" altLang="zh-CN" sz="1200" kern="1200" dirty="0">
                <a:solidFill>
                  <a:schemeClr val="tx1"/>
                </a:solidFill>
                <a:effectLst/>
                <a:latin typeface="+mn-lt"/>
                <a:ea typeface="+mn-ea"/>
                <a:cs typeface="+mn-cs"/>
              </a:rPr>
              <a:t>ST x</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 R </a:t>
            </a:r>
            <a:r>
              <a:rPr lang="zh-CN" altLang="zh-CN" sz="1200" kern="1200" dirty="0">
                <a:solidFill>
                  <a:schemeClr val="tx1"/>
                </a:solidFill>
                <a:effectLst/>
                <a:latin typeface="+mn-lt"/>
                <a:ea typeface="+mn-ea"/>
                <a:cs typeface="+mn-cs"/>
              </a:rPr>
              <a:t>，更改</a:t>
            </a:r>
            <a:r>
              <a:rPr lang="en-US" altLang="zh-CN" sz="1200" kern="1200" dirty="0">
                <a:solidFill>
                  <a:schemeClr val="tx1"/>
                </a:solidFill>
                <a:effectLst/>
                <a:latin typeface="+mn-lt"/>
                <a:ea typeface="+mn-ea"/>
                <a:cs typeface="+mn-cs"/>
              </a:rPr>
              <a:t> x </a:t>
            </a:r>
            <a:r>
              <a:rPr lang="zh-CN" altLang="zh-CN" sz="1200" kern="1200" dirty="0">
                <a:solidFill>
                  <a:schemeClr val="tx1"/>
                </a:solidFill>
                <a:effectLst/>
                <a:latin typeface="+mn-lt"/>
                <a:ea typeface="+mn-ea"/>
                <a:cs typeface="+mn-cs"/>
              </a:rPr>
              <a:t>的地址描述符使之包含其自己的内存位置。 </a:t>
            </a:r>
          </a:p>
        </p:txBody>
      </p:sp>
      <p:sp>
        <p:nvSpPr>
          <p:cNvPr id="4" name="灯片编号占位符 3"/>
          <p:cNvSpPr>
            <a:spLocks noGrp="1"/>
          </p:cNvSpPr>
          <p:nvPr>
            <p:ph type="sldNum" sz="quarter" idx="5"/>
          </p:nvPr>
        </p:nvSpPr>
        <p:spPr/>
        <p:txBody>
          <a:bodyPr/>
          <a:lstStyle/>
          <a:p>
            <a:fld id="{87F4D71F-C241-4371-B1C7-6C52E22124B5}" type="slidenum">
              <a:rPr lang="zh-CN" altLang="en-US" smtClean="0"/>
              <a:t>65</a:t>
            </a:fld>
            <a:endParaRPr lang="zh-CN" altLang="en-US"/>
          </a:p>
        </p:txBody>
      </p:sp>
    </p:spTree>
    <p:extLst>
      <p:ext uri="{BB962C8B-B14F-4D97-AF65-F5344CB8AC3E}">
        <p14:creationId xmlns:p14="http://schemas.microsoft.com/office/powerpoint/2010/main" val="3079233742"/>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ea typeface="+mn-ea"/>
                <a:cs typeface="+mn-cs"/>
              </a:rPr>
              <a:t>3. </a:t>
            </a:r>
            <a:r>
              <a:rPr lang="zh-CN" altLang="zh-CN" sz="1200" kern="1200" dirty="0">
                <a:solidFill>
                  <a:schemeClr val="tx1"/>
                </a:solidFill>
                <a:effectLst/>
                <a:latin typeface="+mn-lt"/>
                <a:ea typeface="+mn-ea"/>
                <a:cs typeface="+mn-cs"/>
              </a:rPr>
              <a:t>对于实现三地址指令</a:t>
            </a:r>
            <a:r>
              <a:rPr lang="en-US" altLang="zh-CN" sz="1200" kern="1200" dirty="0">
                <a:solidFill>
                  <a:schemeClr val="tx1"/>
                </a:solidFill>
                <a:effectLst/>
                <a:latin typeface="+mn-lt"/>
                <a:ea typeface="+mn-ea"/>
                <a:cs typeface="+mn-cs"/>
              </a:rPr>
              <a:t> x = y + z </a:t>
            </a:r>
            <a:r>
              <a:rPr lang="zh-CN" altLang="zh-CN" sz="1200" kern="1200" dirty="0">
                <a:solidFill>
                  <a:schemeClr val="tx1"/>
                </a:solidFill>
                <a:effectLst/>
                <a:latin typeface="+mn-lt"/>
                <a:ea typeface="+mn-ea"/>
                <a:cs typeface="+mn-cs"/>
              </a:rPr>
              <a:t>的</a:t>
            </a:r>
            <a:r>
              <a:rPr lang="en-US" altLang="zh-CN" sz="1200" kern="1200" dirty="0">
                <a:solidFill>
                  <a:schemeClr val="tx1"/>
                </a:solidFill>
                <a:effectLst/>
                <a:latin typeface="+mn-lt"/>
                <a:ea typeface="+mn-ea"/>
                <a:cs typeface="+mn-cs"/>
              </a:rPr>
              <a:t> ADD Rx ;Ry ;</a:t>
            </a:r>
            <a:r>
              <a:rPr lang="en-US" altLang="zh-CN" sz="1200" kern="1200" dirty="0" err="1">
                <a:solidFill>
                  <a:schemeClr val="tx1"/>
                </a:solidFill>
                <a:effectLst/>
                <a:latin typeface="+mn-lt"/>
                <a:ea typeface="+mn-ea"/>
                <a:cs typeface="+mn-cs"/>
              </a:rPr>
              <a:t>Rz</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这样的运算而言</a:t>
            </a:r>
          </a:p>
          <a:p>
            <a:r>
              <a:rPr lang="en-US" altLang="zh-CN" sz="1200" kern="1200" dirty="0">
                <a:solidFill>
                  <a:schemeClr val="tx1"/>
                </a:solidFill>
                <a:effectLst/>
                <a:latin typeface="+mn-lt"/>
                <a:ea typeface="+mn-ea"/>
                <a:cs typeface="+mn-cs"/>
              </a:rPr>
              <a:t> (a) </a:t>
            </a:r>
            <a:r>
              <a:rPr lang="zh-CN" altLang="zh-CN" sz="1200" kern="1200" dirty="0">
                <a:solidFill>
                  <a:schemeClr val="tx1"/>
                </a:solidFill>
                <a:effectLst/>
                <a:latin typeface="+mn-lt"/>
                <a:ea typeface="+mn-ea"/>
                <a:cs typeface="+mn-cs"/>
              </a:rPr>
              <a:t>更改</a:t>
            </a:r>
            <a:r>
              <a:rPr lang="en-US" altLang="zh-CN" sz="1200" kern="1200" dirty="0">
                <a:solidFill>
                  <a:schemeClr val="tx1"/>
                </a:solidFill>
                <a:effectLst/>
                <a:latin typeface="+mn-lt"/>
                <a:ea typeface="+mn-ea"/>
                <a:cs typeface="+mn-cs"/>
              </a:rPr>
              <a:t> Rx </a:t>
            </a:r>
            <a:r>
              <a:rPr lang="zh-CN" altLang="zh-CN" sz="1200" kern="1200" dirty="0">
                <a:solidFill>
                  <a:schemeClr val="tx1"/>
                </a:solidFill>
                <a:effectLst/>
                <a:latin typeface="+mn-lt"/>
                <a:ea typeface="+mn-ea"/>
                <a:cs typeface="+mn-cs"/>
              </a:rPr>
              <a:t>的寄存器描述符，使其仅</a:t>
            </a:r>
            <a:r>
              <a:rPr lang="zh-CN" altLang="en-US" sz="1200" kern="1200" dirty="0">
                <a:solidFill>
                  <a:schemeClr val="tx1"/>
                </a:solidFill>
                <a:effectLst/>
                <a:latin typeface="+mn-lt"/>
                <a:ea typeface="+mn-ea"/>
                <a:cs typeface="+mn-cs"/>
              </a:rPr>
              <a:t>包含</a:t>
            </a:r>
            <a:r>
              <a:rPr lang="en-US" altLang="zh-CN" sz="1200" kern="1200" dirty="0">
                <a:solidFill>
                  <a:schemeClr val="tx1"/>
                </a:solidFill>
                <a:effectLst/>
                <a:latin typeface="+mn-lt"/>
                <a:ea typeface="+mn-ea"/>
                <a:cs typeface="+mn-cs"/>
              </a:rPr>
              <a:t> x</a:t>
            </a:r>
            <a:r>
              <a:rPr lang="zh-CN" altLang="zh-CN" sz="1200" kern="1200" dirty="0">
                <a:solidFill>
                  <a:schemeClr val="tx1"/>
                </a:solidFill>
                <a:effectLst/>
                <a:latin typeface="+mn-lt"/>
                <a:ea typeface="+mn-ea"/>
                <a:cs typeface="+mn-cs"/>
              </a:rPr>
              <a:t>。</a:t>
            </a:r>
          </a:p>
          <a:p>
            <a:r>
              <a:rPr lang="en-US" altLang="zh-CN" sz="1200" kern="1200" dirty="0">
                <a:solidFill>
                  <a:schemeClr val="tx1"/>
                </a:solidFill>
                <a:effectLst/>
                <a:latin typeface="+mn-lt"/>
                <a:ea typeface="+mn-ea"/>
                <a:cs typeface="+mn-cs"/>
              </a:rPr>
              <a:t> (b) </a:t>
            </a:r>
            <a:r>
              <a:rPr lang="zh-CN" altLang="zh-CN" sz="1200" kern="1200" dirty="0">
                <a:solidFill>
                  <a:schemeClr val="tx1"/>
                </a:solidFill>
                <a:effectLst/>
                <a:latin typeface="+mn-lt"/>
                <a:ea typeface="+mn-ea"/>
                <a:cs typeface="+mn-cs"/>
              </a:rPr>
              <a:t>更改</a:t>
            </a:r>
            <a:r>
              <a:rPr lang="en-US" altLang="zh-CN" sz="1200" kern="1200" dirty="0">
                <a:solidFill>
                  <a:schemeClr val="tx1"/>
                </a:solidFill>
                <a:effectLst/>
                <a:latin typeface="+mn-lt"/>
                <a:ea typeface="+mn-ea"/>
                <a:cs typeface="+mn-cs"/>
              </a:rPr>
              <a:t> x </a:t>
            </a:r>
            <a:r>
              <a:rPr lang="zh-CN" altLang="zh-CN" sz="1200" kern="1200" dirty="0">
                <a:solidFill>
                  <a:schemeClr val="tx1"/>
                </a:solidFill>
                <a:effectLst/>
                <a:latin typeface="+mn-lt"/>
                <a:ea typeface="+mn-ea"/>
                <a:cs typeface="+mn-cs"/>
              </a:rPr>
              <a:t>的地址描述符，使其只包含位置</a:t>
            </a:r>
            <a:r>
              <a:rPr lang="en-US" altLang="zh-CN" sz="1200" kern="1200" dirty="0">
                <a:solidFill>
                  <a:schemeClr val="tx1"/>
                </a:solidFill>
                <a:effectLst/>
                <a:latin typeface="+mn-lt"/>
                <a:ea typeface="+mn-ea"/>
                <a:cs typeface="+mn-cs"/>
              </a:rPr>
              <a:t> Rx </a:t>
            </a:r>
            <a:r>
              <a:rPr lang="zh-CN" altLang="zh-CN" sz="1200" kern="1200" dirty="0">
                <a:solidFill>
                  <a:schemeClr val="tx1"/>
                </a:solidFill>
                <a:effectLst/>
                <a:latin typeface="+mn-lt"/>
                <a:ea typeface="+mn-ea"/>
                <a:cs typeface="+mn-cs"/>
              </a:rPr>
              <a:t>。请注意，</a:t>
            </a:r>
            <a:r>
              <a:rPr lang="en-US" altLang="zh-CN" sz="1200" kern="1200" dirty="0">
                <a:solidFill>
                  <a:schemeClr val="tx1"/>
                </a:solidFill>
                <a:effectLst/>
                <a:latin typeface="+mn-lt"/>
                <a:ea typeface="+mn-ea"/>
                <a:cs typeface="+mn-cs"/>
              </a:rPr>
              <a:t>x</a:t>
            </a:r>
            <a:r>
              <a:rPr lang="zh-CN" altLang="zh-CN" sz="1200" kern="1200" dirty="0">
                <a:solidFill>
                  <a:schemeClr val="tx1"/>
                </a:solidFill>
                <a:effectLst/>
                <a:latin typeface="+mn-lt"/>
                <a:ea typeface="+mn-ea"/>
                <a:cs typeface="+mn-cs"/>
              </a:rPr>
              <a:t>的地址描述符不</a:t>
            </a:r>
            <a:r>
              <a:rPr lang="zh-CN" altLang="en-US" sz="1200" kern="1200" dirty="0">
                <a:solidFill>
                  <a:schemeClr val="tx1"/>
                </a:solidFill>
                <a:effectLst/>
                <a:latin typeface="+mn-lt"/>
                <a:ea typeface="+mn-ea"/>
                <a:cs typeface="+mn-cs"/>
              </a:rPr>
              <a:t>包含</a:t>
            </a:r>
            <a:r>
              <a:rPr lang="en-US" altLang="zh-CN" sz="1200" kern="1200" dirty="0">
                <a:solidFill>
                  <a:schemeClr val="tx1"/>
                </a:solidFill>
                <a:effectLst/>
                <a:latin typeface="+mn-lt"/>
                <a:ea typeface="+mn-ea"/>
                <a:cs typeface="+mn-cs"/>
              </a:rPr>
              <a:t> x</a:t>
            </a:r>
            <a:r>
              <a:rPr lang="zh-CN" altLang="zh-CN" sz="1200" kern="1200" dirty="0">
                <a:solidFill>
                  <a:schemeClr val="tx1"/>
                </a:solidFill>
                <a:effectLst/>
                <a:latin typeface="+mn-lt"/>
                <a:ea typeface="+mn-ea"/>
                <a:cs typeface="+mn-cs"/>
              </a:rPr>
              <a:t>的内存位置。</a:t>
            </a:r>
          </a:p>
          <a:p>
            <a:r>
              <a:rPr lang="en-US" altLang="zh-CN" sz="1200" kern="1200" dirty="0">
                <a:solidFill>
                  <a:schemeClr val="tx1"/>
                </a:solidFill>
                <a:effectLst/>
                <a:latin typeface="+mn-lt"/>
                <a:ea typeface="+mn-ea"/>
                <a:cs typeface="+mn-cs"/>
              </a:rPr>
              <a:t> (c) </a:t>
            </a:r>
            <a:r>
              <a:rPr lang="zh-CN" altLang="zh-CN" sz="1200" kern="1200" dirty="0">
                <a:solidFill>
                  <a:schemeClr val="tx1"/>
                </a:solidFill>
                <a:effectLst/>
                <a:latin typeface="+mn-lt"/>
                <a:ea typeface="+mn-ea"/>
                <a:cs typeface="+mn-cs"/>
              </a:rPr>
              <a:t>从任何不同于</a:t>
            </a:r>
            <a:r>
              <a:rPr lang="en-US" altLang="zh-CN" sz="1200" kern="1200" dirty="0">
                <a:solidFill>
                  <a:schemeClr val="tx1"/>
                </a:solidFill>
                <a:effectLst/>
                <a:latin typeface="+mn-lt"/>
                <a:ea typeface="+mn-ea"/>
                <a:cs typeface="+mn-cs"/>
              </a:rPr>
              <a:t> x</a:t>
            </a:r>
            <a:r>
              <a:rPr lang="zh-CN" altLang="zh-CN" sz="1200" kern="1200" dirty="0">
                <a:solidFill>
                  <a:schemeClr val="tx1"/>
                </a:solidFill>
                <a:effectLst/>
                <a:latin typeface="+mn-lt"/>
                <a:ea typeface="+mn-ea"/>
                <a:cs typeface="+mn-cs"/>
              </a:rPr>
              <a:t>的变量的地址描述符中删除</a:t>
            </a:r>
            <a:r>
              <a:rPr lang="en-US" altLang="zh-CN" sz="1200" kern="1200" dirty="0">
                <a:solidFill>
                  <a:schemeClr val="tx1"/>
                </a:solidFill>
                <a:effectLst/>
                <a:latin typeface="+mn-lt"/>
                <a:ea typeface="+mn-ea"/>
                <a:cs typeface="+mn-cs"/>
              </a:rPr>
              <a:t> Rx</a:t>
            </a:r>
            <a:r>
              <a:rPr lang="zh-CN" altLang="zh-CN" sz="1200" kern="1200" dirty="0">
                <a:solidFill>
                  <a:schemeClr val="tx1"/>
                </a:solidFill>
                <a:effectLst/>
                <a:latin typeface="+mn-lt"/>
                <a:ea typeface="+mn-ea"/>
                <a:cs typeface="+mn-cs"/>
              </a:rPr>
              <a:t>。 </a:t>
            </a:r>
          </a:p>
          <a:p>
            <a:r>
              <a:rPr lang="en-US" altLang="zh-CN" sz="1200" kern="1200" dirty="0">
                <a:solidFill>
                  <a:schemeClr val="tx1"/>
                </a:solidFill>
                <a:effectLst/>
                <a:latin typeface="+mn-lt"/>
                <a:ea typeface="+mn-ea"/>
                <a:cs typeface="+mn-cs"/>
              </a:rPr>
              <a:t>4. </a:t>
            </a:r>
            <a:r>
              <a:rPr lang="zh-CN" altLang="zh-CN" sz="1200" kern="1200" dirty="0">
                <a:solidFill>
                  <a:schemeClr val="tx1"/>
                </a:solidFill>
                <a:effectLst/>
                <a:latin typeface="+mn-lt"/>
                <a:ea typeface="+mn-ea"/>
                <a:cs typeface="+mn-cs"/>
              </a:rPr>
              <a:t>当我们处理复制语句</a:t>
            </a:r>
            <a:r>
              <a:rPr lang="en-US" altLang="zh-CN" sz="1200" kern="1200" dirty="0">
                <a:solidFill>
                  <a:schemeClr val="tx1"/>
                </a:solidFill>
                <a:effectLst/>
                <a:latin typeface="+mn-lt"/>
                <a:ea typeface="+mn-ea"/>
                <a:cs typeface="+mn-cs"/>
              </a:rPr>
              <a:t> x = y </a:t>
            </a:r>
            <a:r>
              <a:rPr lang="zh-CN" altLang="zh-CN" sz="1200" kern="1200" dirty="0">
                <a:solidFill>
                  <a:schemeClr val="tx1"/>
                </a:solidFill>
                <a:effectLst/>
                <a:latin typeface="+mn-lt"/>
                <a:ea typeface="+mn-ea"/>
                <a:cs typeface="+mn-cs"/>
              </a:rPr>
              <a:t>时，</a:t>
            </a:r>
            <a:endParaRPr lang="en-US"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(a) </a:t>
            </a:r>
            <a:r>
              <a:rPr lang="zh-CN" altLang="zh-CN" sz="1200" kern="1200" dirty="0">
                <a:solidFill>
                  <a:schemeClr val="tx1"/>
                </a:solidFill>
                <a:effectLst/>
                <a:latin typeface="+mn-lt"/>
                <a:ea typeface="+mn-ea"/>
                <a:cs typeface="+mn-cs"/>
              </a:rPr>
              <a:t>如果</a:t>
            </a:r>
            <a:r>
              <a:rPr lang="zh-CN" altLang="en-US" sz="1200" kern="1200" dirty="0">
                <a:solidFill>
                  <a:schemeClr val="tx1"/>
                </a:solidFill>
                <a:effectLst/>
                <a:latin typeface="+mn-lt"/>
                <a:ea typeface="+mn-ea"/>
                <a:cs typeface="+mn-cs"/>
              </a:rPr>
              <a:t>有必要</a:t>
            </a:r>
            <a:r>
              <a:rPr lang="zh-CN" altLang="zh-CN" sz="1200" kern="1200" dirty="0">
                <a:solidFill>
                  <a:schemeClr val="tx1"/>
                </a:solidFill>
                <a:effectLst/>
                <a:latin typeface="+mn-lt"/>
                <a:ea typeface="+mn-ea"/>
                <a:cs typeface="+mn-cs"/>
              </a:rPr>
              <a:t>生成把</a:t>
            </a:r>
            <a:r>
              <a:rPr lang="en-US" altLang="zh-CN" sz="1200" kern="1200" dirty="0">
                <a:solidFill>
                  <a:schemeClr val="tx1"/>
                </a:solidFill>
                <a:effectLst/>
                <a:latin typeface="+mn-lt"/>
                <a:ea typeface="+mn-ea"/>
                <a:cs typeface="+mn-cs"/>
              </a:rPr>
              <a:t> y</a:t>
            </a:r>
            <a:r>
              <a:rPr lang="zh-CN" altLang="zh-CN" sz="1200" kern="1200" dirty="0">
                <a:solidFill>
                  <a:schemeClr val="tx1"/>
                </a:solidFill>
                <a:effectLst/>
                <a:latin typeface="+mn-lt"/>
                <a:ea typeface="+mn-ea"/>
                <a:cs typeface="+mn-cs"/>
              </a:rPr>
              <a:t>加</a:t>
            </a:r>
            <a:r>
              <a:rPr lang="zh-CN" altLang="en-US" sz="1200" kern="1200" dirty="0">
                <a:solidFill>
                  <a:schemeClr val="tx1"/>
                </a:solidFill>
                <a:effectLst/>
                <a:latin typeface="+mn-lt"/>
                <a:ea typeface="+mn-ea"/>
                <a:cs typeface="+mn-cs"/>
              </a:rPr>
              <a:t>载入</a:t>
            </a:r>
            <a:r>
              <a:rPr lang="en-US" altLang="zh-CN" sz="1200" kern="1200" dirty="0">
                <a:solidFill>
                  <a:schemeClr val="tx1"/>
                </a:solidFill>
                <a:effectLst/>
                <a:latin typeface="+mn-lt"/>
                <a:ea typeface="+mn-ea"/>
                <a:cs typeface="+mn-cs"/>
              </a:rPr>
              <a:t> Ry</a:t>
            </a:r>
            <a:r>
              <a:rPr lang="zh-CN" altLang="zh-CN" sz="1200" kern="1200" dirty="0">
                <a:solidFill>
                  <a:schemeClr val="tx1"/>
                </a:solidFill>
                <a:effectLst/>
                <a:latin typeface="+mn-lt"/>
                <a:ea typeface="+mn-ea"/>
                <a:cs typeface="+mn-cs"/>
              </a:rPr>
              <a:t>的加载指令，那么在生成加载指令并（按照规则</a:t>
            </a:r>
            <a:r>
              <a:rPr lang="en-US" altLang="zh-CN" sz="1200" kern="1200" dirty="0">
                <a:solidFill>
                  <a:schemeClr val="tx1"/>
                </a:solidFill>
                <a:effectLst/>
                <a:latin typeface="+mn-lt"/>
                <a:ea typeface="+mn-ea"/>
                <a:cs typeface="+mn-cs"/>
              </a:rPr>
              <a:t> 1</a:t>
            </a:r>
            <a:r>
              <a:rPr lang="zh-CN" altLang="zh-CN" sz="1200" kern="1200" dirty="0">
                <a:solidFill>
                  <a:schemeClr val="tx1"/>
                </a:solidFill>
                <a:effectLst/>
                <a:latin typeface="+mn-lt"/>
                <a:ea typeface="+mn-ea"/>
                <a:cs typeface="+mn-cs"/>
              </a:rPr>
              <a:t>）像处理所有的加载指令那样处理完各个描述符之后，再进行下面的处理： </a:t>
            </a:r>
          </a:p>
          <a:p>
            <a:r>
              <a:rPr lang="en-US" altLang="zh-CN" sz="1200" kern="1200" dirty="0">
                <a:solidFill>
                  <a:schemeClr val="tx1"/>
                </a:solidFill>
                <a:effectLst/>
                <a:latin typeface="+mn-lt"/>
                <a:ea typeface="+mn-ea"/>
                <a:cs typeface="+mn-cs"/>
              </a:rPr>
              <a:t>(1) </a:t>
            </a:r>
            <a:r>
              <a:rPr lang="zh-CN" altLang="zh-CN" sz="1200" kern="1200" dirty="0">
                <a:solidFill>
                  <a:schemeClr val="tx1"/>
                </a:solidFill>
                <a:effectLst/>
                <a:latin typeface="+mn-lt"/>
                <a:ea typeface="+mn-ea"/>
                <a:cs typeface="+mn-cs"/>
              </a:rPr>
              <a:t>将</a:t>
            </a:r>
            <a:r>
              <a:rPr lang="en-US" altLang="zh-CN" sz="1200" kern="1200" dirty="0">
                <a:solidFill>
                  <a:schemeClr val="tx1"/>
                </a:solidFill>
                <a:effectLst/>
                <a:latin typeface="+mn-lt"/>
                <a:ea typeface="+mn-ea"/>
                <a:cs typeface="+mn-cs"/>
              </a:rPr>
              <a:t> x </a:t>
            </a:r>
            <a:r>
              <a:rPr lang="zh-CN" altLang="zh-CN" sz="1200" kern="1200" dirty="0">
                <a:solidFill>
                  <a:schemeClr val="tx1"/>
                </a:solidFill>
                <a:effectLst/>
                <a:latin typeface="+mn-lt"/>
                <a:ea typeface="+mn-ea"/>
                <a:cs typeface="+mn-cs"/>
              </a:rPr>
              <a:t>添加到寄存器</a:t>
            </a:r>
            <a:r>
              <a:rPr lang="en-US" altLang="zh-CN" sz="1200" kern="1200" dirty="0">
                <a:solidFill>
                  <a:schemeClr val="tx1"/>
                </a:solidFill>
                <a:effectLst/>
                <a:latin typeface="+mn-lt"/>
                <a:ea typeface="+mn-ea"/>
                <a:cs typeface="+mn-cs"/>
              </a:rPr>
              <a:t>Ry </a:t>
            </a:r>
            <a:r>
              <a:rPr lang="zh-CN" altLang="zh-CN" sz="1200" kern="1200" dirty="0">
                <a:solidFill>
                  <a:schemeClr val="tx1"/>
                </a:solidFill>
                <a:effectLst/>
                <a:latin typeface="+mn-lt"/>
                <a:ea typeface="+mn-ea"/>
                <a:cs typeface="+mn-cs"/>
              </a:rPr>
              <a:t>的描述符。 </a:t>
            </a:r>
          </a:p>
          <a:p>
            <a:r>
              <a:rPr lang="en-US" altLang="zh-CN" sz="1200" kern="1200" dirty="0">
                <a:solidFill>
                  <a:schemeClr val="tx1"/>
                </a:solidFill>
                <a:effectLst/>
                <a:latin typeface="+mn-lt"/>
                <a:ea typeface="+mn-ea"/>
                <a:cs typeface="+mn-cs"/>
              </a:rPr>
              <a:t>(2) </a:t>
            </a:r>
            <a:r>
              <a:rPr lang="zh-CN" altLang="zh-CN" sz="1200" kern="1200" dirty="0">
                <a:solidFill>
                  <a:schemeClr val="tx1"/>
                </a:solidFill>
                <a:effectLst/>
                <a:latin typeface="+mn-lt"/>
                <a:ea typeface="+mn-ea"/>
                <a:cs typeface="+mn-cs"/>
              </a:rPr>
              <a:t>更改</a:t>
            </a:r>
            <a:r>
              <a:rPr lang="en-US" altLang="zh-CN" sz="1200" kern="1200" dirty="0">
                <a:solidFill>
                  <a:schemeClr val="tx1"/>
                </a:solidFill>
                <a:effectLst/>
                <a:latin typeface="+mn-lt"/>
                <a:ea typeface="+mn-ea"/>
                <a:cs typeface="+mn-cs"/>
              </a:rPr>
              <a:t> x </a:t>
            </a:r>
            <a:r>
              <a:rPr lang="zh-CN" altLang="zh-CN" sz="1200" kern="1200" dirty="0">
                <a:solidFill>
                  <a:schemeClr val="tx1"/>
                </a:solidFill>
                <a:effectLst/>
                <a:latin typeface="+mn-lt"/>
                <a:ea typeface="+mn-ea"/>
                <a:cs typeface="+mn-cs"/>
              </a:rPr>
              <a:t>的地址描述符，使其只包含唯一的位置</a:t>
            </a:r>
            <a:r>
              <a:rPr lang="en-US" altLang="zh-CN" sz="1200" kern="1200" dirty="0">
                <a:solidFill>
                  <a:schemeClr val="tx1"/>
                </a:solidFill>
                <a:effectLst/>
                <a:latin typeface="+mn-lt"/>
                <a:ea typeface="+mn-ea"/>
                <a:cs typeface="+mn-cs"/>
              </a:rPr>
              <a:t> Ry</a:t>
            </a:r>
            <a:r>
              <a:rPr lang="zh-CN" altLang="zh-CN" sz="1200" kern="1200" dirty="0">
                <a:solidFill>
                  <a:schemeClr val="tx1"/>
                </a:solidFill>
                <a:effectLst/>
                <a:latin typeface="+mn-lt"/>
                <a:ea typeface="+mn-ea"/>
                <a:cs typeface="+mn-cs"/>
              </a:rPr>
              <a:t>。</a:t>
            </a: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66</a:t>
            </a:fld>
            <a:endParaRPr lang="zh-CN" altLang="en-US"/>
          </a:p>
        </p:txBody>
      </p:sp>
    </p:spTree>
    <p:extLst>
      <p:ext uri="{BB962C8B-B14F-4D97-AF65-F5344CB8AC3E}">
        <p14:creationId xmlns:p14="http://schemas.microsoft.com/office/powerpoint/2010/main" val="1909355077"/>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这里我们假设</a:t>
            </a:r>
            <a:r>
              <a:rPr lang="en-US" altLang="zh-CN" sz="1200" kern="1200" dirty="0">
                <a:solidFill>
                  <a:schemeClr val="tx1"/>
                </a:solidFill>
                <a:effectLst/>
                <a:latin typeface="+mn-lt"/>
                <a:ea typeface="+mn-ea"/>
                <a:cs typeface="+mn-cs"/>
              </a:rPr>
              <a:t> t</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u </a:t>
            </a:r>
            <a:r>
              <a:rPr lang="zh-CN" altLang="zh-CN"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 v </a:t>
            </a:r>
            <a:r>
              <a:rPr lang="zh-CN" altLang="zh-CN" sz="1200" kern="1200" dirty="0">
                <a:solidFill>
                  <a:schemeClr val="tx1"/>
                </a:solidFill>
                <a:effectLst/>
                <a:latin typeface="+mn-lt"/>
                <a:ea typeface="+mn-ea"/>
                <a:cs typeface="+mn-cs"/>
              </a:rPr>
              <a:t>是块的局部临时变量，而变量</a:t>
            </a:r>
            <a:r>
              <a:rPr lang="en-US" altLang="zh-CN" sz="1200" kern="1200" dirty="0">
                <a:solidFill>
                  <a:schemeClr val="tx1"/>
                </a:solidFill>
                <a:effectLst/>
                <a:latin typeface="+mn-lt"/>
                <a:ea typeface="+mn-ea"/>
                <a:cs typeface="+mn-cs"/>
              </a:rPr>
              <a:t>a</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b</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c </a:t>
            </a:r>
            <a:r>
              <a:rPr lang="zh-CN" altLang="zh-CN"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 d </a:t>
            </a:r>
            <a:r>
              <a:rPr lang="zh-CN" altLang="zh-CN" sz="1200" kern="1200" dirty="0">
                <a:solidFill>
                  <a:schemeClr val="tx1"/>
                </a:solidFill>
                <a:effectLst/>
                <a:latin typeface="+mn-lt"/>
                <a:ea typeface="+mn-ea"/>
                <a:cs typeface="+mn-cs"/>
              </a:rPr>
              <a:t>是在块出口处活跃。由于我们还没有讨论 </a:t>
            </a:r>
            <a:r>
              <a:rPr lang="en-US" altLang="zh-CN" sz="1200" kern="1200" dirty="0" err="1">
                <a:solidFill>
                  <a:schemeClr val="tx1"/>
                </a:solidFill>
                <a:effectLst/>
                <a:latin typeface="+mn-lt"/>
                <a:ea typeface="+mn-ea"/>
                <a:cs typeface="+mn-cs"/>
              </a:rPr>
              <a:t>getReg</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函数如何工作，我们将简单地假设有我们需要的寄存器，但是当不再需要寄存器的值时（例如，它只保存一个临时变量的值，且对这个临时变量的所有使用都已经处理完了），我们就重用这个寄存器。</a:t>
            </a:r>
          </a:p>
          <a:p>
            <a:endParaRPr lang="zh-CN" altLang="en-US"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67</a:t>
            </a:fld>
            <a:endParaRPr lang="zh-CN" altLang="en-US"/>
          </a:p>
        </p:txBody>
      </p:sp>
    </p:spTree>
    <p:extLst>
      <p:ext uri="{BB962C8B-B14F-4D97-AF65-F5344CB8AC3E}">
        <p14:creationId xmlns:p14="http://schemas.microsoft.com/office/powerpoint/2010/main" val="108801860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生成的所有机器代码指令的摘要如图</a:t>
            </a:r>
            <a:r>
              <a:rPr lang="en-US" altLang="zh-CN" sz="1200" kern="1200" dirty="0">
                <a:solidFill>
                  <a:schemeClr val="tx1"/>
                </a:solidFill>
                <a:effectLst/>
                <a:latin typeface="+mn-lt"/>
                <a:ea typeface="+mn-ea"/>
                <a:cs typeface="+mn-cs"/>
              </a:rPr>
              <a:t> 8.16 </a:t>
            </a:r>
            <a:r>
              <a:rPr lang="zh-CN" altLang="zh-CN" sz="1200" kern="1200" dirty="0">
                <a:solidFill>
                  <a:schemeClr val="tx1"/>
                </a:solidFill>
                <a:effectLst/>
                <a:latin typeface="+mn-lt"/>
                <a:ea typeface="+mn-ea"/>
                <a:cs typeface="+mn-cs"/>
              </a:rPr>
              <a:t>所示。该图还显示了每个三地址指令转换之前和之后的寄存器和地址描述符。</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kern="1200" dirty="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因为寄存器中最初没有任何内容，我们需要为第一个三地址指令</a:t>
            </a:r>
            <a:r>
              <a:rPr lang="en-US" altLang="zh-CN" sz="1200" kern="1200" dirty="0">
                <a:solidFill>
                  <a:schemeClr val="tx1"/>
                </a:solidFill>
                <a:effectLst/>
                <a:latin typeface="+mn-lt"/>
                <a:ea typeface="+mn-ea"/>
                <a:cs typeface="+mn-cs"/>
              </a:rPr>
              <a:t> t = a-b</a:t>
            </a:r>
            <a:r>
              <a:rPr lang="zh-CN" altLang="zh-CN" sz="1200" kern="1200" dirty="0">
                <a:solidFill>
                  <a:schemeClr val="tx1"/>
                </a:solidFill>
                <a:effectLst/>
                <a:latin typeface="+mn-lt"/>
                <a:ea typeface="+mn-ea"/>
                <a:cs typeface="+mn-cs"/>
              </a:rPr>
              <a:t>，生成三个指令。因此，我们看到</a:t>
            </a:r>
            <a:r>
              <a:rPr lang="en-US" altLang="zh-CN" sz="1200" kern="1200" dirty="0">
                <a:solidFill>
                  <a:schemeClr val="tx1"/>
                </a:solidFill>
                <a:effectLst/>
                <a:latin typeface="+mn-lt"/>
                <a:ea typeface="+mn-ea"/>
                <a:cs typeface="+mn-cs"/>
              </a:rPr>
              <a:t> a </a:t>
            </a:r>
            <a:r>
              <a:rPr lang="zh-CN" altLang="zh-CN"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 b </a:t>
            </a:r>
            <a:r>
              <a:rPr lang="zh-CN" altLang="zh-CN" sz="1200" kern="1200" dirty="0">
                <a:solidFill>
                  <a:schemeClr val="tx1"/>
                </a:solidFill>
                <a:effectLst/>
                <a:latin typeface="+mn-lt"/>
                <a:ea typeface="+mn-ea"/>
                <a:cs typeface="+mn-cs"/>
              </a:rPr>
              <a:t>被加载存入寄存器</a:t>
            </a:r>
            <a:r>
              <a:rPr lang="en-US" altLang="zh-CN" sz="1200" kern="1200" dirty="0">
                <a:solidFill>
                  <a:schemeClr val="tx1"/>
                </a:solidFill>
                <a:effectLst/>
                <a:latin typeface="+mn-lt"/>
                <a:ea typeface="+mn-ea"/>
                <a:cs typeface="+mn-cs"/>
              </a:rPr>
              <a:t> R1 </a:t>
            </a:r>
            <a:r>
              <a:rPr lang="zh-CN" altLang="zh-CN"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 R2</a:t>
            </a:r>
            <a:r>
              <a:rPr lang="zh-CN" altLang="zh-CN" sz="1200" kern="1200" dirty="0">
                <a:solidFill>
                  <a:schemeClr val="tx1"/>
                </a:solidFill>
                <a:effectLst/>
                <a:latin typeface="+mn-lt"/>
                <a:ea typeface="+mn-ea"/>
                <a:cs typeface="+mn-cs"/>
              </a:rPr>
              <a:t>，并且</a:t>
            </a:r>
            <a:r>
              <a:rPr lang="en-US" altLang="zh-CN" sz="1200" kern="1200" dirty="0">
                <a:solidFill>
                  <a:schemeClr val="tx1"/>
                </a:solidFill>
                <a:effectLst/>
                <a:latin typeface="+mn-lt"/>
                <a:ea typeface="+mn-ea"/>
                <a:cs typeface="+mn-cs"/>
              </a:rPr>
              <a:t>t</a:t>
            </a:r>
            <a:r>
              <a:rPr lang="zh-CN" altLang="zh-CN" sz="1200" kern="1200" dirty="0">
                <a:solidFill>
                  <a:schemeClr val="tx1"/>
                </a:solidFill>
                <a:effectLst/>
                <a:latin typeface="+mn-lt"/>
                <a:ea typeface="+mn-ea"/>
                <a:cs typeface="+mn-cs"/>
              </a:rPr>
              <a:t>的值生成后存放在寄存器</a:t>
            </a:r>
            <a:r>
              <a:rPr lang="en-US" altLang="zh-CN" sz="1200" kern="1200" dirty="0">
                <a:solidFill>
                  <a:schemeClr val="tx1"/>
                </a:solidFill>
                <a:effectLst/>
                <a:latin typeface="+mn-lt"/>
                <a:ea typeface="+mn-ea"/>
                <a:cs typeface="+mn-cs"/>
              </a:rPr>
              <a:t> R2 </a:t>
            </a:r>
            <a:r>
              <a:rPr lang="zh-CN" altLang="zh-CN" sz="1200" kern="1200" dirty="0">
                <a:solidFill>
                  <a:schemeClr val="tx1"/>
                </a:solidFill>
                <a:effectLst/>
                <a:latin typeface="+mn-lt"/>
                <a:ea typeface="+mn-ea"/>
                <a:cs typeface="+mn-cs"/>
              </a:rPr>
              <a:t>中。请注意，我们可以将</a:t>
            </a:r>
            <a:r>
              <a:rPr lang="en-US" altLang="zh-CN" sz="1200" kern="1200" dirty="0">
                <a:solidFill>
                  <a:schemeClr val="tx1"/>
                </a:solidFill>
                <a:effectLst/>
                <a:latin typeface="+mn-lt"/>
                <a:ea typeface="+mn-ea"/>
                <a:cs typeface="+mn-cs"/>
              </a:rPr>
              <a:t> R2 </a:t>
            </a:r>
            <a:r>
              <a:rPr lang="zh-CN" altLang="zh-CN" sz="1200" kern="1200" dirty="0">
                <a:solidFill>
                  <a:schemeClr val="tx1"/>
                </a:solidFill>
                <a:effectLst/>
                <a:latin typeface="+mn-lt"/>
                <a:ea typeface="+mn-ea"/>
                <a:cs typeface="+mn-cs"/>
              </a:rPr>
              <a:t>用于</a:t>
            </a:r>
            <a:r>
              <a:rPr lang="en-US" altLang="zh-CN" sz="1200" kern="1200" dirty="0">
                <a:solidFill>
                  <a:schemeClr val="tx1"/>
                </a:solidFill>
                <a:effectLst/>
                <a:latin typeface="+mn-lt"/>
                <a:ea typeface="+mn-ea"/>
                <a:cs typeface="+mn-cs"/>
              </a:rPr>
              <a:t> t</a:t>
            </a:r>
            <a:r>
              <a:rPr lang="zh-CN" altLang="zh-CN" sz="1200" kern="1200" dirty="0">
                <a:solidFill>
                  <a:schemeClr val="tx1"/>
                </a:solidFill>
                <a:effectLst/>
                <a:latin typeface="+mn-lt"/>
                <a:ea typeface="+mn-ea"/>
                <a:cs typeface="+mn-cs"/>
              </a:rPr>
              <a:t>是因为块内不需要</a:t>
            </a:r>
            <a:r>
              <a:rPr lang="en-US" altLang="zh-CN" sz="1200" kern="1200" dirty="0">
                <a:solidFill>
                  <a:schemeClr val="tx1"/>
                </a:solidFill>
                <a:effectLst/>
                <a:latin typeface="+mn-lt"/>
                <a:ea typeface="+mn-ea"/>
                <a:cs typeface="+mn-cs"/>
              </a:rPr>
              <a:t> R2 </a:t>
            </a:r>
            <a:r>
              <a:rPr lang="zh-CN" altLang="zh-CN" sz="1200" kern="1200" dirty="0">
                <a:solidFill>
                  <a:schemeClr val="tx1"/>
                </a:solidFill>
                <a:effectLst/>
                <a:latin typeface="+mn-lt"/>
                <a:ea typeface="+mn-ea"/>
                <a:cs typeface="+mn-cs"/>
              </a:rPr>
              <a:t>中先前的值</a:t>
            </a:r>
            <a:r>
              <a:rPr lang="en-US" altLang="zh-CN" sz="1200" kern="1200" dirty="0">
                <a:solidFill>
                  <a:schemeClr val="tx1"/>
                </a:solidFill>
                <a:effectLst/>
                <a:latin typeface="+mn-lt"/>
                <a:ea typeface="+mn-ea"/>
                <a:cs typeface="+mn-cs"/>
              </a:rPr>
              <a:t> b</a:t>
            </a:r>
            <a:r>
              <a:rPr lang="zh-CN" altLang="zh-CN" sz="1200" kern="1200" dirty="0">
                <a:solidFill>
                  <a:schemeClr val="tx1"/>
                </a:solidFill>
                <a:effectLst/>
                <a:latin typeface="+mn-lt"/>
                <a:ea typeface="+mn-ea"/>
                <a:cs typeface="+mn-cs"/>
              </a:rPr>
              <a:t>。由于</a:t>
            </a:r>
            <a:r>
              <a:rPr lang="en-US" altLang="zh-CN" sz="1200" kern="1200" dirty="0">
                <a:solidFill>
                  <a:schemeClr val="tx1"/>
                </a:solidFill>
                <a:effectLst/>
                <a:latin typeface="+mn-lt"/>
                <a:ea typeface="+mn-ea"/>
                <a:cs typeface="+mn-cs"/>
              </a:rPr>
              <a:t> b </a:t>
            </a:r>
            <a:r>
              <a:rPr lang="zh-CN" altLang="zh-CN" sz="1200" kern="1200" dirty="0">
                <a:solidFill>
                  <a:schemeClr val="tx1"/>
                </a:solidFill>
                <a:effectLst/>
                <a:latin typeface="+mn-lt"/>
                <a:ea typeface="+mn-ea"/>
                <a:cs typeface="+mn-cs"/>
              </a:rPr>
              <a:t>可能在块退出时处于活跃状态，如果它不在自己的内存位置（如其地址描述符所示），我们就必须首先将</a:t>
            </a:r>
            <a:r>
              <a:rPr lang="en-US" altLang="zh-CN" sz="1200" kern="1200" dirty="0">
                <a:solidFill>
                  <a:schemeClr val="tx1"/>
                </a:solidFill>
                <a:effectLst/>
                <a:latin typeface="+mn-lt"/>
                <a:ea typeface="+mn-ea"/>
                <a:cs typeface="+mn-cs"/>
              </a:rPr>
              <a:t> R2 </a:t>
            </a:r>
            <a:r>
              <a:rPr lang="zh-CN" altLang="zh-CN" sz="1200" kern="1200" dirty="0">
                <a:solidFill>
                  <a:schemeClr val="tx1"/>
                </a:solidFill>
                <a:effectLst/>
                <a:latin typeface="+mn-lt"/>
                <a:ea typeface="+mn-ea"/>
                <a:cs typeface="+mn-cs"/>
              </a:rPr>
              <a:t>存储到</a:t>
            </a:r>
            <a:r>
              <a:rPr lang="en-US" altLang="zh-CN" sz="1200" kern="1200" dirty="0">
                <a:solidFill>
                  <a:schemeClr val="tx1"/>
                </a:solidFill>
                <a:effectLst/>
                <a:latin typeface="+mn-lt"/>
                <a:ea typeface="+mn-ea"/>
                <a:cs typeface="+mn-cs"/>
              </a:rPr>
              <a:t> b </a:t>
            </a:r>
            <a:r>
              <a:rPr lang="zh-CN" altLang="zh-CN" sz="1200" kern="1200" dirty="0">
                <a:solidFill>
                  <a:schemeClr val="tx1"/>
                </a:solidFill>
                <a:effectLst/>
                <a:latin typeface="+mn-lt"/>
                <a:ea typeface="+mn-ea"/>
                <a:cs typeface="+mn-cs"/>
              </a:rPr>
              <a:t>中。如果我们需要</a:t>
            </a:r>
            <a:r>
              <a:rPr lang="en-US" altLang="zh-CN" sz="1200" kern="1200" dirty="0">
                <a:solidFill>
                  <a:schemeClr val="tx1"/>
                </a:solidFill>
                <a:effectLst/>
                <a:latin typeface="+mn-lt"/>
                <a:ea typeface="+mn-ea"/>
                <a:cs typeface="+mn-cs"/>
              </a:rPr>
              <a:t> R2</a:t>
            </a:r>
            <a:r>
              <a:rPr lang="zh-CN" altLang="zh-CN" sz="1200" kern="1200" dirty="0">
                <a:solidFill>
                  <a:schemeClr val="tx1"/>
                </a:solidFill>
                <a:effectLst/>
                <a:latin typeface="+mn-lt"/>
                <a:ea typeface="+mn-ea"/>
                <a:cs typeface="+mn-cs"/>
              </a:rPr>
              <a:t>，那么生成指令</a:t>
            </a:r>
            <a:r>
              <a:rPr lang="en-US" altLang="zh-CN" sz="1200" kern="1200" dirty="0">
                <a:solidFill>
                  <a:schemeClr val="tx1"/>
                </a:solidFill>
                <a:effectLst/>
                <a:latin typeface="+mn-lt"/>
                <a:ea typeface="+mn-ea"/>
                <a:cs typeface="+mn-cs"/>
              </a:rPr>
              <a:t> ST b R2</a:t>
            </a:r>
            <a:r>
              <a:rPr lang="zh-CN" altLang="zh-CN" sz="1200" kern="1200" dirty="0">
                <a:solidFill>
                  <a:schemeClr val="tx1"/>
                </a:solidFill>
                <a:effectLst/>
                <a:latin typeface="+mn-lt"/>
                <a:ea typeface="+mn-ea"/>
                <a:cs typeface="+mn-cs"/>
              </a:rPr>
              <a:t>的决定将由</a:t>
            </a:r>
            <a:r>
              <a:rPr lang="en-US" altLang="zh-CN" sz="1200" kern="1200" dirty="0">
                <a:solidFill>
                  <a:schemeClr val="tx1"/>
                </a:solidFill>
                <a:effectLst/>
                <a:latin typeface="+mn-lt"/>
                <a:ea typeface="+mn-ea"/>
                <a:cs typeface="+mn-cs"/>
              </a:rPr>
              <a:t> </a:t>
            </a:r>
            <a:r>
              <a:rPr lang="en-US" altLang="zh-CN" sz="1200" kern="1200" dirty="0" err="1">
                <a:solidFill>
                  <a:schemeClr val="tx1"/>
                </a:solidFill>
                <a:effectLst/>
                <a:latin typeface="+mn-lt"/>
                <a:ea typeface="+mn-ea"/>
                <a:cs typeface="+mn-cs"/>
              </a:rPr>
              <a:t>getReg</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做出。</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kern="1200" dirty="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第二条指令</a:t>
            </a:r>
            <a:r>
              <a:rPr lang="en-US" altLang="zh-CN" sz="1200" kern="1200" dirty="0">
                <a:solidFill>
                  <a:schemeClr val="tx1"/>
                </a:solidFill>
                <a:effectLst/>
                <a:latin typeface="+mn-lt"/>
                <a:ea typeface="+mn-ea"/>
                <a:cs typeface="+mn-cs"/>
              </a:rPr>
              <a:t> u = a-c </a:t>
            </a:r>
            <a:r>
              <a:rPr lang="zh-CN" altLang="zh-CN" sz="1200" kern="1200" dirty="0">
                <a:solidFill>
                  <a:schemeClr val="tx1"/>
                </a:solidFill>
                <a:effectLst/>
                <a:latin typeface="+mn-lt"/>
                <a:ea typeface="+mn-ea"/>
                <a:cs typeface="+mn-cs"/>
              </a:rPr>
              <a:t>不需要加载</a:t>
            </a:r>
            <a:r>
              <a:rPr lang="en-US" altLang="zh-CN" sz="1200" kern="1200" dirty="0">
                <a:solidFill>
                  <a:schemeClr val="tx1"/>
                </a:solidFill>
                <a:effectLst/>
                <a:latin typeface="+mn-lt"/>
                <a:ea typeface="+mn-ea"/>
                <a:cs typeface="+mn-cs"/>
              </a:rPr>
              <a:t> a</a:t>
            </a:r>
            <a:r>
              <a:rPr lang="zh-CN" altLang="zh-CN" sz="1200" kern="1200" dirty="0">
                <a:solidFill>
                  <a:schemeClr val="tx1"/>
                </a:solidFill>
                <a:effectLst/>
                <a:latin typeface="+mn-lt"/>
                <a:ea typeface="+mn-ea"/>
                <a:cs typeface="+mn-cs"/>
              </a:rPr>
              <a:t>的指令，因为</a:t>
            </a:r>
            <a:r>
              <a:rPr lang="en-US" altLang="zh-CN" sz="1200" kern="1200" dirty="0">
                <a:solidFill>
                  <a:schemeClr val="tx1"/>
                </a:solidFill>
                <a:effectLst/>
                <a:latin typeface="+mn-lt"/>
                <a:ea typeface="+mn-ea"/>
                <a:cs typeface="+mn-cs"/>
              </a:rPr>
              <a:t>a</a:t>
            </a:r>
            <a:r>
              <a:rPr lang="zh-CN" altLang="zh-CN" sz="1200" kern="1200" dirty="0">
                <a:solidFill>
                  <a:schemeClr val="tx1"/>
                </a:solidFill>
                <a:effectLst/>
                <a:latin typeface="+mn-lt"/>
                <a:ea typeface="+mn-ea"/>
                <a:cs typeface="+mn-cs"/>
              </a:rPr>
              <a:t>已经在寄存器</a:t>
            </a:r>
            <a:r>
              <a:rPr lang="en-US" altLang="zh-CN" sz="1200" kern="1200" dirty="0">
                <a:solidFill>
                  <a:schemeClr val="tx1"/>
                </a:solidFill>
                <a:effectLst/>
                <a:latin typeface="+mn-lt"/>
                <a:ea typeface="+mn-ea"/>
                <a:cs typeface="+mn-cs"/>
              </a:rPr>
              <a:t> R1 </a:t>
            </a:r>
            <a:r>
              <a:rPr lang="zh-CN" altLang="zh-CN" sz="1200" kern="1200" dirty="0">
                <a:solidFill>
                  <a:schemeClr val="tx1"/>
                </a:solidFill>
                <a:effectLst/>
                <a:latin typeface="+mn-lt"/>
                <a:ea typeface="+mn-ea"/>
                <a:cs typeface="+mn-cs"/>
              </a:rPr>
              <a:t>中。我们可以重用</a:t>
            </a:r>
            <a:r>
              <a:rPr lang="en-US" altLang="zh-CN" sz="1200" kern="1200" dirty="0">
                <a:solidFill>
                  <a:schemeClr val="tx1"/>
                </a:solidFill>
                <a:effectLst/>
                <a:latin typeface="+mn-lt"/>
                <a:ea typeface="+mn-ea"/>
                <a:cs typeface="+mn-cs"/>
              </a:rPr>
              <a:t> R1 </a:t>
            </a:r>
            <a:r>
              <a:rPr lang="zh-CN" altLang="zh-CN" sz="1200" kern="1200" dirty="0">
                <a:solidFill>
                  <a:schemeClr val="tx1"/>
                </a:solidFill>
                <a:effectLst/>
                <a:latin typeface="+mn-lt"/>
                <a:ea typeface="+mn-ea"/>
                <a:cs typeface="+mn-cs"/>
              </a:rPr>
              <a:t>作为结果</a:t>
            </a:r>
            <a:r>
              <a:rPr lang="en-US" altLang="zh-CN" sz="1200" kern="1200" dirty="0">
                <a:solidFill>
                  <a:schemeClr val="tx1"/>
                </a:solidFill>
                <a:effectLst/>
                <a:latin typeface="+mn-lt"/>
                <a:ea typeface="+mn-ea"/>
                <a:cs typeface="+mn-cs"/>
              </a:rPr>
              <a:t> u</a:t>
            </a:r>
            <a:r>
              <a:rPr lang="zh-CN" altLang="zh-CN" sz="1200" kern="1200" dirty="0">
                <a:solidFill>
                  <a:schemeClr val="tx1"/>
                </a:solidFill>
                <a:effectLst/>
                <a:latin typeface="+mn-lt"/>
                <a:ea typeface="+mn-ea"/>
                <a:cs typeface="+mn-cs"/>
              </a:rPr>
              <a:t>，因为块内不再需要先前在该寄存器中的</a:t>
            </a:r>
            <a:r>
              <a:rPr lang="en-US" altLang="zh-CN" sz="1200" kern="1200" dirty="0">
                <a:solidFill>
                  <a:schemeClr val="tx1"/>
                </a:solidFill>
                <a:effectLst/>
                <a:latin typeface="+mn-lt"/>
                <a:ea typeface="+mn-ea"/>
                <a:cs typeface="+mn-cs"/>
              </a:rPr>
              <a:t> a </a:t>
            </a:r>
            <a:r>
              <a:rPr lang="zh-CN" altLang="zh-CN" sz="1200" kern="1200" dirty="0">
                <a:solidFill>
                  <a:schemeClr val="tx1"/>
                </a:solidFill>
                <a:effectLst/>
                <a:latin typeface="+mn-lt"/>
                <a:ea typeface="+mn-ea"/>
                <a:cs typeface="+mn-cs"/>
              </a:rPr>
              <a:t>值，并且如果块外需要</a:t>
            </a:r>
            <a:r>
              <a:rPr lang="en-US" altLang="zh-CN" sz="1200" kern="1200" dirty="0">
                <a:solidFill>
                  <a:schemeClr val="tx1"/>
                </a:solidFill>
                <a:effectLst/>
                <a:latin typeface="+mn-lt"/>
                <a:ea typeface="+mn-ea"/>
                <a:cs typeface="+mn-cs"/>
              </a:rPr>
              <a:t> a</a:t>
            </a:r>
            <a:r>
              <a:rPr lang="zh-CN" altLang="zh-CN" sz="1200" kern="1200" dirty="0">
                <a:solidFill>
                  <a:schemeClr val="tx1"/>
                </a:solidFill>
                <a:effectLst/>
                <a:latin typeface="+mn-lt"/>
                <a:ea typeface="+mn-ea"/>
                <a:cs typeface="+mn-cs"/>
              </a:rPr>
              <a:t>，则其值位于其自己的内存位置中。请注意，我们更改了</a:t>
            </a:r>
            <a:r>
              <a:rPr lang="en-US" altLang="zh-CN" sz="1200" kern="1200" dirty="0">
                <a:solidFill>
                  <a:schemeClr val="tx1"/>
                </a:solidFill>
                <a:effectLst/>
                <a:latin typeface="+mn-lt"/>
                <a:ea typeface="+mn-ea"/>
                <a:cs typeface="+mn-cs"/>
              </a:rPr>
              <a:t> a </a:t>
            </a:r>
            <a:r>
              <a:rPr lang="zh-CN" altLang="zh-CN" sz="1200" kern="1200" dirty="0">
                <a:solidFill>
                  <a:schemeClr val="tx1"/>
                </a:solidFill>
                <a:effectLst/>
                <a:latin typeface="+mn-lt"/>
                <a:ea typeface="+mn-ea"/>
                <a:cs typeface="+mn-cs"/>
              </a:rPr>
              <a:t>的地址描述符，以表明它不再位于</a:t>
            </a:r>
            <a:r>
              <a:rPr lang="en-US" altLang="zh-CN" sz="1200" kern="1200" dirty="0">
                <a:solidFill>
                  <a:schemeClr val="tx1"/>
                </a:solidFill>
                <a:effectLst/>
                <a:latin typeface="+mn-lt"/>
                <a:ea typeface="+mn-ea"/>
                <a:cs typeface="+mn-cs"/>
              </a:rPr>
              <a:t> R1 </a:t>
            </a:r>
            <a:r>
              <a:rPr lang="zh-CN" altLang="zh-CN" sz="1200" kern="1200" dirty="0">
                <a:solidFill>
                  <a:schemeClr val="tx1"/>
                </a:solidFill>
                <a:effectLst/>
                <a:latin typeface="+mn-lt"/>
                <a:ea typeface="+mn-ea"/>
                <a:cs typeface="+mn-cs"/>
              </a:rPr>
              <a:t>中，而是位于名为</a:t>
            </a:r>
            <a:r>
              <a:rPr lang="en-US" altLang="zh-CN" sz="1200" kern="1200" dirty="0">
                <a:solidFill>
                  <a:schemeClr val="tx1"/>
                </a:solidFill>
                <a:effectLst/>
                <a:latin typeface="+mn-lt"/>
                <a:ea typeface="+mn-ea"/>
                <a:cs typeface="+mn-cs"/>
              </a:rPr>
              <a:t> a </a:t>
            </a:r>
            <a:r>
              <a:rPr lang="zh-CN" altLang="zh-CN" sz="1200" kern="1200" dirty="0">
                <a:solidFill>
                  <a:schemeClr val="tx1"/>
                </a:solidFill>
                <a:effectLst/>
                <a:latin typeface="+mn-lt"/>
                <a:ea typeface="+mn-ea"/>
                <a:cs typeface="+mn-cs"/>
              </a:rPr>
              <a:t>的内存位置中。</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kern="1200" dirty="0">
                <a:solidFill>
                  <a:schemeClr val="tx1"/>
                </a:solidFill>
                <a:effectLst/>
                <a:latin typeface="+mn-lt"/>
                <a:ea typeface="+mn-ea"/>
                <a:cs typeface="+mn-cs"/>
              </a:rPr>
              <a:t>3.</a:t>
            </a:r>
            <a:r>
              <a:rPr lang="zh-CN" altLang="zh-CN" sz="1200" kern="1200" dirty="0">
                <a:solidFill>
                  <a:schemeClr val="tx1"/>
                </a:solidFill>
                <a:effectLst/>
                <a:latin typeface="+mn-lt"/>
                <a:ea typeface="+mn-ea"/>
                <a:cs typeface="+mn-cs"/>
              </a:rPr>
              <a:t>第三条指令</a:t>
            </a:r>
            <a:r>
              <a:rPr lang="en-US" altLang="zh-CN" sz="1200" kern="1200" dirty="0">
                <a:solidFill>
                  <a:schemeClr val="tx1"/>
                </a:solidFill>
                <a:effectLst/>
                <a:latin typeface="+mn-lt"/>
                <a:ea typeface="+mn-ea"/>
                <a:cs typeface="+mn-cs"/>
              </a:rPr>
              <a:t> v = </a:t>
            </a:r>
            <a:r>
              <a:rPr lang="en-US" altLang="zh-CN" sz="1200" kern="1200" dirty="0" err="1">
                <a:solidFill>
                  <a:schemeClr val="tx1"/>
                </a:solidFill>
                <a:effectLst/>
                <a:latin typeface="+mn-lt"/>
                <a:ea typeface="+mn-ea"/>
                <a:cs typeface="+mn-cs"/>
              </a:rPr>
              <a:t>t+u</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仅需要一个加法指令。我们可以使用</a:t>
            </a:r>
            <a:r>
              <a:rPr lang="en-US" altLang="zh-CN" sz="1200" kern="1200" dirty="0">
                <a:solidFill>
                  <a:schemeClr val="tx1"/>
                </a:solidFill>
                <a:effectLst/>
                <a:latin typeface="+mn-lt"/>
                <a:ea typeface="+mn-ea"/>
                <a:cs typeface="+mn-cs"/>
              </a:rPr>
              <a:t> R3 </a:t>
            </a:r>
            <a:r>
              <a:rPr lang="zh-CN" altLang="zh-CN" sz="1200" kern="1200" dirty="0">
                <a:solidFill>
                  <a:schemeClr val="tx1"/>
                </a:solidFill>
                <a:effectLst/>
                <a:latin typeface="+mn-lt"/>
                <a:ea typeface="+mn-ea"/>
                <a:cs typeface="+mn-cs"/>
              </a:rPr>
              <a:t>来存放结果</a:t>
            </a:r>
            <a:r>
              <a:rPr lang="en-US" altLang="zh-CN" sz="1200" kern="1200" dirty="0">
                <a:solidFill>
                  <a:schemeClr val="tx1"/>
                </a:solidFill>
                <a:effectLst/>
                <a:latin typeface="+mn-lt"/>
                <a:ea typeface="+mn-ea"/>
                <a:cs typeface="+mn-cs"/>
              </a:rPr>
              <a:t> v</a:t>
            </a:r>
            <a:r>
              <a:rPr lang="zh-CN" altLang="zh-CN" sz="1200" kern="1200" dirty="0">
                <a:solidFill>
                  <a:schemeClr val="tx1"/>
                </a:solidFill>
                <a:effectLst/>
                <a:latin typeface="+mn-lt"/>
                <a:ea typeface="+mn-ea"/>
                <a:cs typeface="+mn-cs"/>
              </a:rPr>
              <a:t>，因为块内不再需要该寄存器中的</a:t>
            </a:r>
            <a:r>
              <a:rPr lang="en-US" altLang="zh-CN" sz="1200" kern="1200" dirty="0">
                <a:solidFill>
                  <a:schemeClr val="tx1"/>
                </a:solidFill>
                <a:effectLst/>
                <a:latin typeface="+mn-lt"/>
                <a:ea typeface="+mn-ea"/>
                <a:cs typeface="+mn-cs"/>
              </a:rPr>
              <a:t> c </a:t>
            </a:r>
            <a:r>
              <a:rPr lang="zh-CN" altLang="zh-CN" sz="1200" kern="1200" dirty="0">
                <a:solidFill>
                  <a:schemeClr val="tx1"/>
                </a:solidFill>
                <a:effectLst/>
                <a:latin typeface="+mn-lt"/>
                <a:ea typeface="+mn-ea"/>
                <a:cs typeface="+mn-cs"/>
              </a:rPr>
              <a:t>值，并且</a:t>
            </a:r>
            <a:r>
              <a:rPr lang="en-US" altLang="zh-CN" sz="1200" kern="1200" dirty="0">
                <a:solidFill>
                  <a:schemeClr val="tx1"/>
                </a:solidFill>
                <a:effectLst/>
                <a:latin typeface="+mn-lt"/>
                <a:ea typeface="+mn-ea"/>
                <a:cs typeface="+mn-cs"/>
              </a:rPr>
              <a:t> c </a:t>
            </a:r>
            <a:r>
              <a:rPr lang="zh-CN" altLang="zh-CN" sz="1200" kern="1200" dirty="0">
                <a:solidFill>
                  <a:schemeClr val="tx1"/>
                </a:solidFill>
                <a:effectLst/>
                <a:latin typeface="+mn-lt"/>
                <a:ea typeface="+mn-ea"/>
                <a:cs typeface="+mn-cs"/>
              </a:rPr>
              <a:t>在其自己的内存位置中有其值。</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zh-CN" sz="1200" kern="1200" dirty="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68</a:t>
            </a:fld>
            <a:endParaRPr lang="zh-CN" altLang="en-US"/>
          </a:p>
        </p:txBody>
      </p:sp>
    </p:spTree>
    <p:extLst>
      <p:ext uri="{BB962C8B-B14F-4D97-AF65-F5344CB8AC3E}">
        <p14:creationId xmlns:p14="http://schemas.microsoft.com/office/powerpoint/2010/main" val="1749431527"/>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kern="1200" dirty="0">
                <a:solidFill>
                  <a:schemeClr val="tx1"/>
                </a:solidFill>
                <a:effectLst/>
                <a:latin typeface="+mn-lt"/>
                <a:ea typeface="+mn-ea"/>
                <a:cs typeface="+mn-cs"/>
              </a:rPr>
              <a:t>4. </a:t>
            </a:r>
            <a:r>
              <a:rPr lang="zh-CN" altLang="zh-CN" sz="1200" kern="1200" dirty="0">
                <a:solidFill>
                  <a:schemeClr val="tx1"/>
                </a:solidFill>
                <a:effectLst/>
                <a:latin typeface="+mn-lt"/>
                <a:ea typeface="+mn-ea"/>
                <a:cs typeface="+mn-cs"/>
              </a:rPr>
              <a:t>复制指令</a:t>
            </a:r>
            <a:r>
              <a:rPr lang="en-US" altLang="zh-CN" sz="1200" kern="1200" dirty="0">
                <a:solidFill>
                  <a:schemeClr val="tx1"/>
                </a:solidFill>
                <a:effectLst/>
                <a:latin typeface="+mn-lt"/>
                <a:ea typeface="+mn-ea"/>
                <a:cs typeface="+mn-cs"/>
              </a:rPr>
              <a:t> a=d </a:t>
            </a:r>
            <a:r>
              <a:rPr lang="zh-CN" altLang="zh-CN" sz="1200" kern="1200" dirty="0">
                <a:solidFill>
                  <a:schemeClr val="tx1"/>
                </a:solidFill>
                <a:effectLst/>
                <a:latin typeface="+mn-lt"/>
                <a:ea typeface="+mn-ea"/>
                <a:cs typeface="+mn-cs"/>
              </a:rPr>
              <a:t>需要一个指令来加载</a:t>
            </a:r>
            <a:r>
              <a:rPr lang="en-US" altLang="zh-CN" sz="1200" kern="1200" dirty="0">
                <a:solidFill>
                  <a:schemeClr val="tx1"/>
                </a:solidFill>
                <a:effectLst/>
                <a:latin typeface="+mn-lt"/>
                <a:ea typeface="+mn-ea"/>
                <a:cs typeface="+mn-cs"/>
              </a:rPr>
              <a:t> d</a:t>
            </a:r>
            <a:r>
              <a:rPr lang="zh-CN" altLang="zh-CN" sz="1200" kern="1200" dirty="0">
                <a:solidFill>
                  <a:schemeClr val="tx1"/>
                </a:solidFill>
                <a:effectLst/>
                <a:latin typeface="+mn-lt"/>
                <a:ea typeface="+mn-ea"/>
                <a:cs typeface="+mn-cs"/>
              </a:rPr>
              <a:t>，因为</a:t>
            </a:r>
            <a:r>
              <a:rPr lang="en-US" altLang="zh-CN" sz="1200" kern="1200" dirty="0">
                <a:solidFill>
                  <a:schemeClr val="tx1"/>
                </a:solidFill>
                <a:effectLst/>
                <a:latin typeface="+mn-lt"/>
                <a:ea typeface="+mn-ea"/>
                <a:cs typeface="+mn-cs"/>
              </a:rPr>
              <a:t>d</a:t>
            </a:r>
            <a:r>
              <a:rPr lang="zh-CN" altLang="zh-CN" sz="1200" kern="1200" dirty="0">
                <a:solidFill>
                  <a:schemeClr val="tx1"/>
                </a:solidFill>
                <a:effectLst/>
                <a:latin typeface="+mn-lt"/>
                <a:ea typeface="+mn-ea"/>
                <a:cs typeface="+mn-cs"/>
              </a:rPr>
              <a:t>不在寄存器中。我们展示了寄存器</a:t>
            </a:r>
            <a:r>
              <a:rPr lang="en-US" altLang="zh-CN" sz="1200" kern="1200" dirty="0">
                <a:solidFill>
                  <a:schemeClr val="tx1"/>
                </a:solidFill>
                <a:effectLst/>
                <a:latin typeface="+mn-lt"/>
                <a:ea typeface="+mn-ea"/>
                <a:cs typeface="+mn-cs"/>
              </a:rPr>
              <a:t> R2 </a:t>
            </a:r>
            <a:r>
              <a:rPr lang="zh-CN" altLang="zh-CN" sz="1200" kern="1200" dirty="0">
                <a:solidFill>
                  <a:schemeClr val="tx1"/>
                </a:solidFill>
                <a:effectLst/>
                <a:latin typeface="+mn-lt"/>
                <a:ea typeface="+mn-ea"/>
                <a:cs typeface="+mn-cs"/>
              </a:rPr>
              <a:t>的描述符，其中包含</a:t>
            </a:r>
            <a:r>
              <a:rPr lang="en-US" altLang="zh-CN" sz="1200" kern="1200" dirty="0">
                <a:solidFill>
                  <a:schemeClr val="tx1"/>
                </a:solidFill>
                <a:effectLst/>
                <a:latin typeface="+mn-lt"/>
                <a:ea typeface="+mn-ea"/>
                <a:cs typeface="+mn-cs"/>
              </a:rPr>
              <a:t> a </a:t>
            </a:r>
            <a:r>
              <a:rPr lang="zh-CN" altLang="zh-CN"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 d</a:t>
            </a:r>
            <a:r>
              <a:rPr lang="zh-CN" altLang="zh-CN" sz="1200" kern="1200" dirty="0">
                <a:solidFill>
                  <a:schemeClr val="tx1"/>
                </a:solidFill>
                <a:effectLst/>
                <a:latin typeface="+mn-lt"/>
                <a:ea typeface="+mn-ea"/>
                <a:cs typeface="+mn-cs"/>
              </a:rPr>
              <a:t>。寄存器描述符中添加</a:t>
            </a:r>
            <a:r>
              <a:rPr lang="en-US" altLang="zh-CN" sz="1200" kern="1200" dirty="0">
                <a:solidFill>
                  <a:schemeClr val="tx1"/>
                </a:solidFill>
                <a:effectLst/>
                <a:latin typeface="+mn-lt"/>
                <a:ea typeface="+mn-ea"/>
                <a:cs typeface="+mn-cs"/>
              </a:rPr>
              <a:t> a </a:t>
            </a:r>
            <a:r>
              <a:rPr lang="zh-CN" altLang="zh-CN" sz="1200" kern="1200" dirty="0">
                <a:solidFill>
                  <a:schemeClr val="tx1"/>
                </a:solidFill>
                <a:effectLst/>
                <a:latin typeface="+mn-lt"/>
                <a:ea typeface="+mn-ea"/>
                <a:cs typeface="+mn-cs"/>
              </a:rPr>
              <a:t>是我们处理复制语句的结果，而不是任何机器指令的结果。</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kern="1200" dirty="0">
                <a:solidFill>
                  <a:schemeClr val="tx1"/>
                </a:solidFill>
                <a:effectLst/>
                <a:latin typeface="+mn-lt"/>
                <a:ea typeface="+mn-ea"/>
                <a:cs typeface="+mn-cs"/>
              </a:rPr>
              <a:t>5.</a:t>
            </a:r>
            <a:r>
              <a:rPr lang="zh-CN" altLang="zh-CN" sz="1200" kern="1200" dirty="0">
                <a:solidFill>
                  <a:schemeClr val="tx1"/>
                </a:solidFill>
                <a:effectLst/>
                <a:latin typeface="+mn-lt"/>
                <a:ea typeface="+mn-ea"/>
                <a:cs typeface="+mn-cs"/>
              </a:rPr>
              <a:t>第五条指令</a:t>
            </a:r>
            <a:r>
              <a:rPr lang="en-US" altLang="zh-CN" sz="1200" kern="1200" dirty="0">
                <a:solidFill>
                  <a:schemeClr val="tx1"/>
                </a:solidFill>
                <a:effectLst/>
                <a:latin typeface="+mn-lt"/>
                <a:ea typeface="+mn-ea"/>
                <a:cs typeface="+mn-cs"/>
              </a:rPr>
              <a:t> d = </a:t>
            </a:r>
            <a:r>
              <a:rPr lang="en-US" altLang="zh-CN" sz="1200" kern="1200" dirty="0" err="1">
                <a:solidFill>
                  <a:schemeClr val="tx1"/>
                </a:solidFill>
                <a:effectLst/>
                <a:latin typeface="+mn-lt"/>
                <a:ea typeface="+mn-ea"/>
                <a:cs typeface="+mn-cs"/>
              </a:rPr>
              <a:t>v+u</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使用两个存放在寄存器中的值。由于</a:t>
            </a:r>
            <a:r>
              <a:rPr lang="en-US" altLang="zh-CN" sz="1200" kern="1200" dirty="0">
                <a:solidFill>
                  <a:schemeClr val="tx1"/>
                </a:solidFill>
                <a:effectLst/>
                <a:latin typeface="+mn-lt"/>
                <a:ea typeface="+mn-ea"/>
                <a:cs typeface="+mn-cs"/>
              </a:rPr>
              <a:t> u </a:t>
            </a:r>
            <a:r>
              <a:rPr lang="zh-CN" altLang="zh-CN" sz="1200" kern="1200" dirty="0">
                <a:solidFill>
                  <a:schemeClr val="tx1"/>
                </a:solidFill>
                <a:effectLst/>
                <a:latin typeface="+mn-lt"/>
                <a:ea typeface="+mn-ea"/>
                <a:cs typeface="+mn-cs"/>
              </a:rPr>
              <a:t>是一个临时变量，其值不再需要，因此我们选择重用其寄存器</a:t>
            </a:r>
            <a:r>
              <a:rPr lang="en-US" altLang="zh-CN" sz="1200" kern="1200" dirty="0">
                <a:solidFill>
                  <a:schemeClr val="tx1"/>
                </a:solidFill>
                <a:effectLst/>
                <a:latin typeface="+mn-lt"/>
                <a:ea typeface="+mn-ea"/>
                <a:cs typeface="+mn-cs"/>
              </a:rPr>
              <a:t> R1 </a:t>
            </a:r>
            <a:r>
              <a:rPr lang="zh-CN" altLang="zh-CN" sz="1200" kern="1200" dirty="0">
                <a:solidFill>
                  <a:schemeClr val="tx1"/>
                </a:solidFill>
                <a:effectLst/>
                <a:latin typeface="+mn-lt"/>
                <a:ea typeface="+mn-ea"/>
                <a:cs typeface="+mn-cs"/>
              </a:rPr>
              <a:t>来存放</a:t>
            </a:r>
            <a:r>
              <a:rPr lang="en-US" altLang="zh-CN" sz="1200" kern="1200" dirty="0">
                <a:solidFill>
                  <a:schemeClr val="tx1"/>
                </a:solidFill>
                <a:effectLst/>
                <a:latin typeface="+mn-lt"/>
                <a:ea typeface="+mn-ea"/>
                <a:cs typeface="+mn-cs"/>
              </a:rPr>
              <a:t> d </a:t>
            </a:r>
            <a:r>
              <a:rPr lang="zh-CN" altLang="zh-CN" sz="1200" kern="1200" dirty="0">
                <a:solidFill>
                  <a:schemeClr val="tx1"/>
                </a:solidFill>
                <a:effectLst/>
                <a:latin typeface="+mn-lt"/>
                <a:ea typeface="+mn-ea"/>
                <a:cs typeface="+mn-cs"/>
              </a:rPr>
              <a:t>的新值。请注意，</a:t>
            </a:r>
            <a:r>
              <a:rPr lang="en-US" altLang="zh-CN" sz="1200" kern="1200" dirty="0">
                <a:solidFill>
                  <a:schemeClr val="tx1"/>
                </a:solidFill>
                <a:effectLst/>
                <a:latin typeface="+mn-lt"/>
                <a:ea typeface="+mn-ea"/>
                <a:cs typeface="+mn-cs"/>
              </a:rPr>
              <a:t>d </a:t>
            </a:r>
            <a:r>
              <a:rPr lang="zh-CN" altLang="zh-CN" sz="1200" kern="1200" dirty="0">
                <a:solidFill>
                  <a:schemeClr val="tx1"/>
                </a:solidFill>
                <a:effectLst/>
                <a:latin typeface="+mn-lt"/>
                <a:ea typeface="+mn-ea"/>
                <a:cs typeface="+mn-cs"/>
              </a:rPr>
              <a:t>现在仅位于</a:t>
            </a:r>
            <a:r>
              <a:rPr lang="en-US" altLang="zh-CN" sz="1200" kern="1200" dirty="0">
                <a:solidFill>
                  <a:schemeClr val="tx1"/>
                </a:solidFill>
                <a:effectLst/>
                <a:latin typeface="+mn-lt"/>
                <a:ea typeface="+mn-ea"/>
                <a:cs typeface="+mn-cs"/>
              </a:rPr>
              <a:t> R1 </a:t>
            </a:r>
            <a:r>
              <a:rPr lang="zh-CN" altLang="zh-CN" sz="1200" kern="1200" dirty="0">
                <a:solidFill>
                  <a:schemeClr val="tx1"/>
                </a:solidFill>
                <a:effectLst/>
                <a:latin typeface="+mn-lt"/>
                <a:ea typeface="+mn-ea"/>
                <a:cs typeface="+mn-cs"/>
              </a:rPr>
              <a:t>中，而不位于其自己的内存位置中。这同样适用于</a:t>
            </a:r>
            <a:r>
              <a:rPr lang="en-US" altLang="zh-CN" sz="1200" kern="1200" dirty="0">
                <a:solidFill>
                  <a:schemeClr val="tx1"/>
                </a:solidFill>
                <a:effectLst/>
                <a:latin typeface="+mn-lt"/>
                <a:ea typeface="+mn-ea"/>
                <a:cs typeface="+mn-cs"/>
              </a:rPr>
              <a:t> a</a:t>
            </a:r>
            <a:r>
              <a:rPr lang="zh-CN" altLang="zh-CN" sz="1200" kern="1200" dirty="0">
                <a:solidFill>
                  <a:schemeClr val="tx1"/>
                </a:solidFill>
                <a:effectLst/>
                <a:latin typeface="+mn-lt"/>
                <a:ea typeface="+mn-ea"/>
                <a:cs typeface="+mn-cs"/>
              </a:rPr>
              <a:t>，它在</a:t>
            </a:r>
            <a:r>
              <a:rPr lang="en-US" altLang="zh-CN" sz="1200" kern="1200" dirty="0">
                <a:solidFill>
                  <a:schemeClr val="tx1"/>
                </a:solidFill>
                <a:effectLst/>
                <a:latin typeface="+mn-lt"/>
                <a:ea typeface="+mn-ea"/>
                <a:cs typeface="+mn-cs"/>
              </a:rPr>
              <a:t> R2 </a:t>
            </a:r>
            <a:r>
              <a:rPr lang="zh-CN" altLang="zh-CN" sz="1200" kern="1200" dirty="0">
                <a:solidFill>
                  <a:schemeClr val="tx1"/>
                </a:solidFill>
                <a:effectLst/>
                <a:latin typeface="+mn-lt"/>
                <a:ea typeface="+mn-ea"/>
                <a:cs typeface="+mn-cs"/>
              </a:rPr>
              <a:t>中而不是在称为</a:t>
            </a:r>
            <a:r>
              <a:rPr lang="en-US" altLang="zh-CN" sz="1200" kern="1200" dirty="0">
                <a:solidFill>
                  <a:schemeClr val="tx1"/>
                </a:solidFill>
                <a:effectLst/>
                <a:latin typeface="+mn-lt"/>
                <a:ea typeface="+mn-ea"/>
                <a:cs typeface="+mn-cs"/>
              </a:rPr>
              <a:t> a </a:t>
            </a:r>
            <a:r>
              <a:rPr lang="zh-CN" altLang="zh-CN" sz="1200" kern="1200" dirty="0">
                <a:solidFill>
                  <a:schemeClr val="tx1"/>
                </a:solidFill>
                <a:effectLst/>
                <a:latin typeface="+mn-lt"/>
                <a:ea typeface="+mn-ea"/>
                <a:cs typeface="+mn-cs"/>
              </a:rPr>
              <a:t>的内存位置中。因此，我们需要为基本块的机器代码增加一个“尾声”，它把出口处活跃的变量</a:t>
            </a:r>
            <a:r>
              <a:rPr lang="en-US" altLang="zh-CN" sz="1200" kern="1200" dirty="0">
                <a:solidFill>
                  <a:schemeClr val="tx1"/>
                </a:solidFill>
                <a:effectLst/>
                <a:latin typeface="+mn-lt"/>
                <a:ea typeface="+mn-ea"/>
                <a:cs typeface="+mn-cs"/>
              </a:rPr>
              <a:t> a </a:t>
            </a:r>
            <a:r>
              <a:rPr lang="zh-CN" altLang="zh-CN"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 d </a:t>
            </a:r>
            <a:r>
              <a:rPr lang="zh-CN" altLang="zh-CN" sz="1200" kern="1200" dirty="0">
                <a:solidFill>
                  <a:schemeClr val="tx1"/>
                </a:solidFill>
                <a:effectLst/>
                <a:latin typeface="+mn-lt"/>
                <a:ea typeface="+mn-ea"/>
                <a:cs typeface="+mn-cs"/>
              </a:rPr>
              <a:t>的值保存到它们的内存位置。这就是图中的最后两条指令。</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zh-CN" sz="1200" kern="1200" dirty="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69</a:t>
            </a:fld>
            <a:endParaRPr lang="zh-CN" altLang="en-US"/>
          </a:p>
        </p:txBody>
      </p:sp>
    </p:spTree>
    <p:extLst>
      <p:ext uri="{BB962C8B-B14F-4D97-AF65-F5344CB8AC3E}">
        <p14:creationId xmlns:p14="http://schemas.microsoft.com/office/powerpoint/2010/main" val="2363821544"/>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最后，让我们考虑如何实现三地址指令</a:t>
            </a:r>
            <a:r>
              <a:rPr lang="en-US" altLang="zh-CN" sz="1200" kern="1200" dirty="0">
                <a:solidFill>
                  <a:schemeClr val="tx1"/>
                </a:solidFill>
                <a:effectLst/>
                <a:latin typeface="+mn-lt"/>
                <a:ea typeface="+mn-ea"/>
                <a:cs typeface="+mn-cs"/>
              </a:rPr>
              <a:t> I </a:t>
            </a:r>
            <a:r>
              <a:rPr lang="zh-CN" altLang="zh-CN" sz="1200" kern="1200" dirty="0">
                <a:solidFill>
                  <a:schemeClr val="tx1"/>
                </a:solidFill>
                <a:effectLst/>
                <a:latin typeface="+mn-lt"/>
                <a:ea typeface="+mn-ea"/>
                <a:cs typeface="+mn-cs"/>
              </a:rPr>
              <a:t>的</a:t>
            </a:r>
            <a:r>
              <a:rPr lang="en-US" altLang="zh-CN" sz="1200" kern="1200" dirty="0">
                <a:solidFill>
                  <a:schemeClr val="tx1"/>
                </a:solidFill>
                <a:effectLst/>
                <a:latin typeface="+mn-lt"/>
                <a:ea typeface="+mn-ea"/>
                <a:cs typeface="+mn-cs"/>
              </a:rPr>
              <a:t> </a:t>
            </a:r>
            <a:r>
              <a:rPr lang="en-US" altLang="zh-CN" sz="1200" kern="1200" dirty="0" err="1">
                <a:solidFill>
                  <a:schemeClr val="tx1"/>
                </a:solidFill>
                <a:effectLst/>
                <a:latin typeface="+mn-lt"/>
                <a:ea typeface="+mn-ea"/>
                <a:cs typeface="+mn-cs"/>
              </a:rPr>
              <a:t>getReg</a:t>
            </a:r>
            <a:r>
              <a:rPr lang="en-US" altLang="zh-CN" sz="1200" kern="1200" dirty="0">
                <a:solidFill>
                  <a:schemeClr val="tx1"/>
                </a:solidFill>
                <a:effectLst/>
                <a:latin typeface="+mn-lt"/>
                <a:ea typeface="+mn-ea"/>
                <a:cs typeface="+mn-cs"/>
              </a:rPr>
              <a:t>(I)</a:t>
            </a:r>
            <a:r>
              <a:rPr lang="zh-CN" altLang="zh-CN" sz="1200" kern="1200" dirty="0">
                <a:solidFill>
                  <a:schemeClr val="tx1"/>
                </a:solidFill>
                <a:effectLst/>
                <a:latin typeface="+mn-lt"/>
                <a:ea typeface="+mn-ea"/>
                <a:cs typeface="+mn-cs"/>
              </a:rPr>
              <a:t>。有很多选择，但也有一些绝对禁止的选择，这些选择会因丢失一个或多个活跃变量的值而导致错误的代码。我们从操作步骤的情况开始进行研究，对此我们再次使用</a:t>
            </a:r>
            <a:r>
              <a:rPr lang="en-US" altLang="zh-CN" sz="1200" kern="1200" dirty="0">
                <a:solidFill>
                  <a:schemeClr val="tx1"/>
                </a:solidFill>
                <a:effectLst/>
                <a:latin typeface="+mn-lt"/>
                <a:ea typeface="+mn-ea"/>
                <a:cs typeface="+mn-cs"/>
              </a:rPr>
              <a:t> x = y + z </a:t>
            </a:r>
            <a:r>
              <a:rPr lang="zh-CN" altLang="zh-CN" sz="1200" kern="1200" dirty="0">
                <a:solidFill>
                  <a:schemeClr val="tx1"/>
                </a:solidFill>
                <a:effectLst/>
                <a:latin typeface="+mn-lt"/>
                <a:ea typeface="+mn-ea"/>
                <a:cs typeface="+mn-cs"/>
              </a:rPr>
              <a:t>作为通用示例。首先，我们必须为</a:t>
            </a:r>
            <a:r>
              <a:rPr lang="en-US" altLang="zh-CN" sz="1200" kern="1200" dirty="0">
                <a:solidFill>
                  <a:schemeClr val="tx1"/>
                </a:solidFill>
                <a:effectLst/>
                <a:latin typeface="+mn-lt"/>
                <a:ea typeface="+mn-ea"/>
                <a:cs typeface="+mn-cs"/>
              </a:rPr>
              <a:t> y </a:t>
            </a:r>
            <a:r>
              <a:rPr lang="zh-CN" altLang="zh-CN" sz="1200" kern="1200" dirty="0">
                <a:solidFill>
                  <a:schemeClr val="tx1"/>
                </a:solidFill>
                <a:effectLst/>
                <a:latin typeface="+mn-lt"/>
                <a:ea typeface="+mn-ea"/>
                <a:cs typeface="+mn-cs"/>
              </a:rPr>
              <a:t>选择一个寄存器，为</a:t>
            </a:r>
            <a:r>
              <a:rPr lang="en-US" altLang="zh-CN" sz="1200" kern="1200" dirty="0">
                <a:solidFill>
                  <a:schemeClr val="tx1"/>
                </a:solidFill>
                <a:effectLst/>
                <a:latin typeface="+mn-lt"/>
                <a:ea typeface="+mn-ea"/>
                <a:cs typeface="+mn-cs"/>
              </a:rPr>
              <a:t> z </a:t>
            </a:r>
            <a:r>
              <a:rPr lang="zh-CN" altLang="zh-CN" sz="1200" kern="1200" dirty="0">
                <a:solidFill>
                  <a:schemeClr val="tx1"/>
                </a:solidFill>
                <a:effectLst/>
                <a:latin typeface="+mn-lt"/>
                <a:ea typeface="+mn-ea"/>
                <a:cs typeface="+mn-cs"/>
              </a:rPr>
              <a:t>选择一个寄存器。这两次选择所面临的问题是相同的，因此我们将集中精力为</a:t>
            </a:r>
            <a:r>
              <a:rPr lang="en-US" altLang="zh-CN" sz="1200" kern="1200" dirty="0">
                <a:solidFill>
                  <a:schemeClr val="tx1"/>
                </a:solidFill>
                <a:effectLst/>
                <a:latin typeface="+mn-lt"/>
                <a:ea typeface="+mn-ea"/>
                <a:cs typeface="+mn-cs"/>
              </a:rPr>
              <a:t> y </a:t>
            </a:r>
            <a:r>
              <a:rPr lang="zh-CN" altLang="zh-CN" sz="1200" kern="1200" dirty="0">
                <a:solidFill>
                  <a:schemeClr val="tx1"/>
                </a:solidFill>
                <a:effectLst/>
                <a:latin typeface="+mn-lt"/>
                <a:ea typeface="+mn-ea"/>
                <a:cs typeface="+mn-cs"/>
              </a:rPr>
              <a:t>选择寄存器</a:t>
            </a:r>
            <a:r>
              <a:rPr lang="en-US" altLang="zh-CN" sz="1200" kern="1200" dirty="0">
                <a:solidFill>
                  <a:schemeClr val="tx1"/>
                </a:solidFill>
                <a:effectLst/>
                <a:latin typeface="+mn-lt"/>
                <a:ea typeface="+mn-ea"/>
                <a:cs typeface="+mn-cs"/>
              </a:rPr>
              <a:t> Ry </a:t>
            </a:r>
            <a:r>
              <a:rPr lang="zh-CN" altLang="zh-CN" sz="1200" kern="1200" dirty="0">
                <a:solidFill>
                  <a:schemeClr val="tx1"/>
                </a:solidFill>
                <a:effectLst/>
                <a:latin typeface="+mn-lt"/>
                <a:ea typeface="+mn-ea"/>
                <a:cs typeface="+mn-cs"/>
              </a:rPr>
              <a:t>。规则如下：</a:t>
            </a:r>
            <a:endParaRPr lang="en-US"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1. </a:t>
            </a:r>
            <a:r>
              <a:rPr lang="zh-CN" altLang="zh-CN" sz="1200" kern="1200" dirty="0">
                <a:solidFill>
                  <a:schemeClr val="tx1"/>
                </a:solidFill>
                <a:effectLst/>
                <a:latin typeface="+mn-lt"/>
                <a:ea typeface="+mn-ea"/>
                <a:cs typeface="+mn-cs"/>
              </a:rPr>
              <a:t>如果</a:t>
            </a:r>
            <a:r>
              <a:rPr lang="en-US" altLang="zh-CN" sz="1200" kern="1200" dirty="0">
                <a:solidFill>
                  <a:schemeClr val="tx1"/>
                </a:solidFill>
                <a:effectLst/>
                <a:latin typeface="+mn-lt"/>
                <a:ea typeface="+mn-ea"/>
                <a:cs typeface="+mn-cs"/>
              </a:rPr>
              <a:t> y </a:t>
            </a:r>
            <a:r>
              <a:rPr lang="zh-CN" altLang="zh-CN" sz="1200" kern="1200" dirty="0">
                <a:solidFill>
                  <a:schemeClr val="tx1"/>
                </a:solidFill>
                <a:effectLst/>
                <a:latin typeface="+mn-lt"/>
                <a:ea typeface="+mn-ea"/>
                <a:cs typeface="+mn-cs"/>
              </a:rPr>
              <a:t>当前在寄存器中，则选择已经包含</a:t>
            </a:r>
            <a:r>
              <a:rPr lang="en-US" altLang="zh-CN" sz="1200" kern="1200" dirty="0">
                <a:solidFill>
                  <a:schemeClr val="tx1"/>
                </a:solidFill>
                <a:effectLst/>
                <a:latin typeface="+mn-lt"/>
                <a:ea typeface="+mn-ea"/>
                <a:cs typeface="+mn-cs"/>
              </a:rPr>
              <a:t> y </a:t>
            </a:r>
            <a:r>
              <a:rPr lang="zh-CN" altLang="zh-CN" sz="1200" kern="1200" dirty="0">
                <a:solidFill>
                  <a:schemeClr val="tx1"/>
                </a:solidFill>
                <a:effectLst/>
                <a:latin typeface="+mn-lt"/>
                <a:ea typeface="+mn-ea"/>
                <a:cs typeface="+mn-cs"/>
              </a:rPr>
              <a:t>的寄存器作为</a:t>
            </a:r>
            <a:r>
              <a:rPr lang="en-US" altLang="zh-CN" sz="1200" kern="1200" dirty="0">
                <a:solidFill>
                  <a:schemeClr val="tx1"/>
                </a:solidFill>
                <a:effectLst/>
                <a:latin typeface="+mn-lt"/>
                <a:ea typeface="+mn-ea"/>
                <a:cs typeface="+mn-cs"/>
              </a:rPr>
              <a:t> Ry </a:t>
            </a:r>
            <a:r>
              <a:rPr lang="zh-CN" altLang="zh-CN" sz="1200" kern="1200" dirty="0">
                <a:solidFill>
                  <a:schemeClr val="tx1"/>
                </a:solidFill>
                <a:effectLst/>
                <a:latin typeface="+mn-lt"/>
                <a:ea typeface="+mn-ea"/>
                <a:cs typeface="+mn-cs"/>
              </a:rPr>
              <a:t>。不需要生成一个机器指令来把</a:t>
            </a:r>
            <a:r>
              <a:rPr lang="en-US" altLang="zh-CN" sz="1200" kern="1200" dirty="0">
                <a:solidFill>
                  <a:schemeClr val="tx1"/>
                </a:solidFill>
                <a:effectLst/>
                <a:latin typeface="+mn-lt"/>
                <a:ea typeface="+mn-ea"/>
                <a:cs typeface="+mn-cs"/>
              </a:rPr>
              <a:t>y</a:t>
            </a:r>
            <a:r>
              <a:rPr lang="zh-CN" altLang="zh-CN" sz="1200" kern="1200" dirty="0">
                <a:solidFill>
                  <a:schemeClr val="tx1"/>
                </a:solidFill>
                <a:effectLst/>
                <a:latin typeface="+mn-lt"/>
                <a:ea typeface="+mn-ea"/>
                <a:cs typeface="+mn-cs"/>
              </a:rPr>
              <a:t>加载该寄存器。 </a:t>
            </a:r>
          </a:p>
          <a:p>
            <a:r>
              <a:rPr lang="en-US" altLang="zh-CN" sz="1200" kern="1200" dirty="0">
                <a:solidFill>
                  <a:schemeClr val="tx1"/>
                </a:solidFill>
                <a:effectLst/>
                <a:latin typeface="+mn-lt"/>
                <a:ea typeface="+mn-ea"/>
                <a:cs typeface="+mn-cs"/>
              </a:rPr>
              <a:t>2. </a:t>
            </a:r>
            <a:r>
              <a:rPr lang="zh-CN" altLang="zh-CN" sz="1200" kern="1200" dirty="0">
                <a:solidFill>
                  <a:schemeClr val="tx1"/>
                </a:solidFill>
                <a:effectLst/>
                <a:latin typeface="+mn-lt"/>
                <a:ea typeface="+mn-ea"/>
                <a:cs typeface="+mn-cs"/>
              </a:rPr>
              <a:t>如果</a:t>
            </a:r>
            <a:r>
              <a:rPr lang="en-US" altLang="zh-CN" sz="1200" kern="1200" dirty="0">
                <a:solidFill>
                  <a:schemeClr val="tx1"/>
                </a:solidFill>
                <a:effectLst/>
                <a:latin typeface="+mn-lt"/>
                <a:ea typeface="+mn-ea"/>
                <a:cs typeface="+mn-cs"/>
              </a:rPr>
              <a:t> y </a:t>
            </a:r>
            <a:r>
              <a:rPr lang="zh-CN" altLang="zh-CN" sz="1200" kern="1200" dirty="0">
                <a:solidFill>
                  <a:schemeClr val="tx1"/>
                </a:solidFill>
                <a:effectLst/>
                <a:latin typeface="+mn-lt"/>
                <a:ea typeface="+mn-ea"/>
                <a:cs typeface="+mn-cs"/>
              </a:rPr>
              <a:t>不在寄存器中，但有一个寄存器当前为空，则选择一个这样的寄存器作为</a:t>
            </a:r>
            <a:r>
              <a:rPr lang="en-US" altLang="zh-CN" sz="1200" kern="1200" dirty="0">
                <a:solidFill>
                  <a:schemeClr val="tx1"/>
                </a:solidFill>
                <a:effectLst/>
                <a:latin typeface="+mn-lt"/>
                <a:ea typeface="+mn-ea"/>
                <a:cs typeface="+mn-cs"/>
              </a:rPr>
              <a:t> Ry </a:t>
            </a:r>
            <a:r>
              <a:rPr lang="zh-CN" altLang="zh-CN" sz="1200" kern="1200" dirty="0">
                <a:solidFill>
                  <a:schemeClr val="tx1"/>
                </a:solidFill>
                <a:effectLst/>
                <a:latin typeface="+mn-lt"/>
                <a:ea typeface="+mn-ea"/>
                <a:cs typeface="+mn-cs"/>
              </a:rPr>
              <a:t>。</a:t>
            </a:r>
            <a:endParaRPr lang="en-US"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3. </a:t>
            </a:r>
            <a:r>
              <a:rPr lang="zh-CN" altLang="zh-CN" sz="1200" kern="1200" dirty="0">
                <a:solidFill>
                  <a:schemeClr val="tx1"/>
                </a:solidFill>
                <a:effectLst/>
                <a:latin typeface="+mn-lt"/>
                <a:ea typeface="+mn-ea"/>
                <a:cs typeface="+mn-cs"/>
              </a:rPr>
              <a:t>当</a:t>
            </a:r>
            <a:r>
              <a:rPr lang="en-US" altLang="zh-CN" sz="1200" kern="1200" dirty="0">
                <a:solidFill>
                  <a:schemeClr val="tx1"/>
                </a:solidFill>
                <a:effectLst/>
                <a:latin typeface="+mn-lt"/>
                <a:ea typeface="+mn-ea"/>
                <a:cs typeface="+mn-cs"/>
              </a:rPr>
              <a:t> y </a:t>
            </a:r>
            <a:r>
              <a:rPr lang="zh-CN" altLang="zh-CN" sz="1200" kern="1200" dirty="0">
                <a:solidFill>
                  <a:schemeClr val="tx1"/>
                </a:solidFill>
                <a:effectLst/>
                <a:latin typeface="+mn-lt"/>
                <a:ea typeface="+mn-ea"/>
                <a:cs typeface="+mn-cs"/>
              </a:rPr>
              <a:t>不在寄存器中并且没有当前为空的寄存器时，就会出现困难的情况。</a:t>
            </a:r>
            <a:endParaRPr lang="zh-CN" altLang="en-US"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70</a:t>
            </a:fld>
            <a:endParaRPr lang="zh-CN" altLang="en-US"/>
          </a:p>
        </p:txBody>
      </p:sp>
    </p:spTree>
    <p:extLst>
      <p:ext uri="{BB962C8B-B14F-4D97-AF65-F5344CB8AC3E}">
        <p14:creationId xmlns:p14="http://schemas.microsoft.com/office/powerpoint/2010/main" val="590971535"/>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当</a:t>
            </a:r>
            <a:r>
              <a:rPr lang="en-US" altLang="zh-CN" sz="1200" kern="1200" dirty="0">
                <a:solidFill>
                  <a:schemeClr val="tx1"/>
                </a:solidFill>
                <a:effectLst/>
                <a:latin typeface="+mn-lt"/>
                <a:ea typeface="+mn-ea"/>
                <a:cs typeface="+mn-cs"/>
              </a:rPr>
              <a:t> y </a:t>
            </a:r>
            <a:r>
              <a:rPr lang="zh-CN" altLang="zh-CN" sz="1200" kern="1200" dirty="0">
                <a:solidFill>
                  <a:schemeClr val="tx1"/>
                </a:solidFill>
                <a:effectLst/>
                <a:latin typeface="+mn-lt"/>
                <a:ea typeface="+mn-ea"/>
                <a:cs typeface="+mn-cs"/>
              </a:rPr>
              <a:t>不在寄存器中并且没有当前为空的寄存器时，无论如何，我们需要选择一个可行的寄存器，并且我们需要确保它可以安全地重用。</a:t>
            </a:r>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设</a:t>
            </a:r>
            <a:r>
              <a:rPr lang="en-US" altLang="zh-CN" sz="1200" kern="1200" dirty="0">
                <a:solidFill>
                  <a:schemeClr val="tx1"/>
                </a:solidFill>
                <a:effectLst/>
                <a:latin typeface="+mn-lt"/>
                <a:ea typeface="+mn-ea"/>
                <a:cs typeface="+mn-cs"/>
              </a:rPr>
              <a:t>R</a:t>
            </a:r>
            <a:r>
              <a:rPr lang="zh-CN" altLang="zh-CN" sz="1200" kern="1200" dirty="0">
                <a:solidFill>
                  <a:schemeClr val="tx1"/>
                </a:solidFill>
                <a:effectLst/>
                <a:latin typeface="+mn-lt"/>
                <a:ea typeface="+mn-ea"/>
                <a:cs typeface="+mn-cs"/>
              </a:rPr>
              <a:t>为候选者寄存器，并且假设</a:t>
            </a:r>
            <a:r>
              <a:rPr lang="en-US" altLang="zh-CN" sz="1200" kern="1200" dirty="0">
                <a:solidFill>
                  <a:schemeClr val="tx1"/>
                </a:solidFill>
                <a:effectLst/>
                <a:latin typeface="+mn-lt"/>
                <a:ea typeface="+mn-ea"/>
                <a:cs typeface="+mn-cs"/>
              </a:rPr>
              <a:t> v </a:t>
            </a:r>
            <a:r>
              <a:rPr lang="zh-CN" altLang="zh-CN" sz="1200" kern="1200" dirty="0">
                <a:solidFill>
                  <a:schemeClr val="tx1"/>
                </a:solidFill>
                <a:effectLst/>
                <a:latin typeface="+mn-lt"/>
                <a:ea typeface="+mn-ea"/>
                <a:cs typeface="+mn-cs"/>
              </a:rPr>
              <a:t>是</a:t>
            </a:r>
            <a:r>
              <a:rPr lang="en-US" altLang="zh-CN" sz="1200" kern="1200" dirty="0">
                <a:solidFill>
                  <a:schemeClr val="tx1"/>
                </a:solidFill>
                <a:effectLst/>
                <a:latin typeface="+mn-lt"/>
                <a:ea typeface="+mn-ea"/>
                <a:cs typeface="+mn-cs"/>
              </a:rPr>
              <a:t> R </a:t>
            </a:r>
            <a:r>
              <a:rPr lang="zh-CN" altLang="zh-CN" sz="1200" kern="1200" dirty="0">
                <a:solidFill>
                  <a:schemeClr val="tx1"/>
                </a:solidFill>
                <a:effectLst/>
                <a:latin typeface="+mn-lt"/>
                <a:ea typeface="+mn-ea"/>
                <a:cs typeface="+mn-cs"/>
              </a:rPr>
              <a:t>的寄存器描述符表明的位于</a:t>
            </a:r>
            <a:r>
              <a:rPr lang="en-US" altLang="zh-CN" sz="1200" kern="1200" dirty="0">
                <a:solidFill>
                  <a:schemeClr val="tx1"/>
                </a:solidFill>
                <a:effectLst/>
                <a:latin typeface="+mn-lt"/>
                <a:ea typeface="+mn-ea"/>
                <a:cs typeface="+mn-cs"/>
              </a:rPr>
              <a:t> R </a:t>
            </a:r>
            <a:r>
              <a:rPr lang="zh-CN" altLang="zh-CN" sz="1200" kern="1200" dirty="0">
                <a:solidFill>
                  <a:schemeClr val="tx1"/>
                </a:solidFill>
                <a:effectLst/>
                <a:latin typeface="+mn-lt"/>
                <a:ea typeface="+mn-ea"/>
                <a:cs typeface="+mn-cs"/>
              </a:rPr>
              <a:t>中的变量。我们需要确保</a:t>
            </a:r>
            <a:r>
              <a:rPr lang="en-US" altLang="zh-CN" sz="1200" kern="1200" dirty="0">
                <a:solidFill>
                  <a:schemeClr val="tx1"/>
                </a:solidFill>
                <a:effectLst/>
                <a:latin typeface="+mn-lt"/>
                <a:ea typeface="+mn-ea"/>
                <a:cs typeface="+mn-cs"/>
              </a:rPr>
              <a:t> v </a:t>
            </a:r>
            <a:r>
              <a:rPr lang="zh-CN" altLang="zh-CN" sz="1200" kern="1200" dirty="0">
                <a:solidFill>
                  <a:schemeClr val="tx1"/>
                </a:solidFill>
                <a:effectLst/>
                <a:latin typeface="+mn-lt"/>
                <a:ea typeface="+mn-ea"/>
                <a:cs typeface="+mn-cs"/>
              </a:rPr>
              <a:t>的值不是真正需要的，或者我们可以从其他地方获取</a:t>
            </a:r>
            <a:r>
              <a:rPr lang="en-US" altLang="zh-CN" sz="1200" kern="1200" dirty="0">
                <a:solidFill>
                  <a:schemeClr val="tx1"/>
                </a:solidFill>
                <a:effectLst/>
                <a:latin typeface="+mn-lt"/>
                <a:ea typeface="+mn-ea"/>
                <a:cs typeface="+mn-cs"/>
              </a:rPr>
              <a:t> v </a:t>
            </a:r>
            <a:r>
              <a:rPr lang="zh-CN" altLang="zh-CN" sz="1200" kern="1200" dirty="0">
                <a:solidFill>
                  <a:schemeClr val="tx1"/>
                </a:solidFill>
                <a:effectLst/>
                <a:latin typeface="+mn-lt"/>
                <a:ea typeface="+mn-ea"/>
                <a:cs typeface="+mn-cs"/>
              </a:rPr>
              <a:t>的值。可能的情况是： </a:t>
            </a:r>
          </a:p>
          <a:p>
            <a:r>
              <a:rPr lang="en-US" altLang="zh-CN" sz="1200" kern="1200" dirty="0">
                <a:solidFill>
                  <a:schemeClr val="tx1"/>
                </a:solidFill>
                <a:effectLst/>
                <a:latin typeface="+mn-lt"/>
                <a:ea typeface="+mn-ea"/>
                <a:cs typeface="+mn-cs"/>
              </a:rPr>
              <a:t>(a) </a:t>
            </a:r>
            <a:r>
              <a:rPr lang="zh-CN" altLang="zh-CN" sz="1200" kern="1200" dirty="0">
                <a:solidFill>
                  <a:schemeClr val="tx1"/>
                </a:solidFill>
                <a:effectLst/>
                <a:latin typeface="+mn-lt"/>
                <a:ea typeface="+mn-ea"/>
                <a:cs typeface="+mn-cs"/>
              </a:rPr>
              <a:t>如果</a:t>
            </a:r>
            <a:r>
              <a:rPr lang="en-US" altLang="zh-CN" sz="1200" kern="1200" dirty="0">
                <a:solidFill>
                  <a:schemeClr val="tx1"/>
                </a:solidFill>
                <a:effectLst/>
                <a:latin typeface="+mn-lt"/>
                <a:ea typeface="+mn-ea"/>
                <a:cs typeface="+mn-cs"/>
              </a:rPr>
              <a:t> v </a:t>
            </a:r>
            <a:r>
              <a:rPr lang="zh-CN" altLang="zh-CN" sz="1200" kern="1200" dirty="0">
                <a:solidFill>
                  <a:schemeClr val="tx1"/>
                </a:solidFill>
                <a:effectLst/>
                <a:latin typeface="+mn-lt"/>
                <a:ea typeface="+mn-ea"/>
                <a:cs typeface="+mn-cs"/>
              </a:rPr>
              <a:t>的地址描述符表明</a:t>
            </a:r>
            <a:r>
              <a:rPr lang="en-US" altLang="zh-CN" sz="1200" kern="1200" dirty="0">
                <a:solidFill>
                  <a:schemeClr val="tx1"/>
                </a:solidFill>
                <a:effectLst/>
                <a:latin typeface="+mn-lt"/>
                <a:ea typeface="+mn-ea"/>
                <a:cs typeface="+mn-cs"/>
              </a:rPr>
              <a:t> v </a:t>
            </a:r>
            <a:r>
              <a:rPr lang="zh-CN" altLang="zh-CN" sz="1200" kern="1200" dirty="0">
                <a:solidFill>
                  <a:schemeClr val="tx1"/>
                </a:solidFill>
                <a:effectLst/>
                <a:latin typeface="+mn-lt"/>
                <a:ea typeface="+mn-ea"/>
                <a:cs typeface="+mn-cs"/>
              </a:rPr>
              <a:t>位于</a:t>
            </a:r>
            <a:r>
              <a:rPr lang="en-US" altLang="zh-CN" sz="1200" kern="1200" dirty="0">
                <a:solidFill>
                  <a:schemeClr val="tx1"/>
                </a:solidFill>
                <a:effectLst/>
                <a:latin typeface="+mn-lt"/>
                <a:ea typeface="+mn-ea"/>
                <a:cs typeface="+mn-cs"/>
              </a:rPr>
              <a:t> R </a:t>
            </a:r>
            <a:r>
              <a:rPr lang="zh-CN" altLang="zh-CN" sz="1200" kern="1200" dirty="0">
                <a:solidFill>
                  <a:schemeClr val="tx1"/>
                </a:solidFill>
                <a:effectLst/>
                <a:latin typeface="+mn-lt"/>
                <a:ea typeface="+mn-ea"/>
                <a:cs typeface="+mn-cs"/>
              </a:rPr>
              <a:t>之外的某个位置，那么我们就完成了任务。</a:t>
            </a:r>
          </a:p>
          <a:p>
            <a:r>
              <a:rPr lang="en-US" altLang="zh-CN" sz="1200" kern="1200" dirty="0">
                <a:solidFill>
                  <a:schemeClr val="tx1"/>
                </a:solidFill>
                <a:effectLst/>
                <a:latin typeface="+mn-lt"/>
                <a:ea typeface="+mn-ea"/>
                <a:cs typeface="+mn-cs"/>
              </a:rPr>
              <a:t>(b) </a:t>
            </a:r>
            <a:r>
              <a:rPr lang="zh-CN" altLang="zh-CN" sz="1200" kern="1200" dirty="0">
                <a:solidFill>
                  <a:schemeClr val="tx1"/>
                </a:solidFill>
                <a:effectLst/>
                <a:latin typeface="+mn-lt"/>
                <a:ea typeface="+mn-ea"/>
                <a:cs typeface="+mn-cs"/>
              </a:rPr>
              <a:t>如果</a:t>
            </a:r>
            <a:r>
              <a:rPr lang="en-US" altLang="zh-CN" sz="1200" kern="1200" dirty="0">
                <a:solidFill>
                  <a:schemeClr val="tx1"/>
                </a:solidFill>
                <a:effectLst/>
                <a:latin typeface="+mn-lt"/>
                <a:ea typeface="+mn-ea"/>
                <a:cs typeface="+mn-cs"/>
              </a:rPr>
              <a:t> v </a:t>
            </a:r>
            <a:r>
              <a:rPr lang="zh-CN" altLang="zh-CN" sz="1200" kern="1200" dirty="0">
                <a:solidFill>
                  <a:schemeClr val="tx1"/>
                </a:solidFill>
                <a:effectLst/>
                <a:latin typeface="+mn-lt"/>
                <a:ea typeface="+mn-ea"/>
                <a:cs typeface="+mn-cs"/>
              </a:rPr>
              <a:t>是</a:t>
            </a:r>
            <a:r>
              <a:rPr lang="en-US" altLang="zh-CN" sz="1200" kern="1200" dirty="0">
                <a:solidFill>
                  <a:schemeClr val="tx1"/>
                </a:solidFill>
                <a:effectLst/>
                <a:latin typeface="+mn-lt"/>
                <a:ea typeface="+mn-ea"/>
                <a:cs typeface="+mn-cs"/>
              </a:rPr>
              <a:t> x</a:t>
            </a:r>
            <a:r>
              <a:rPr lang="zh-CN" altLang="zh-CN" sz="1200" kern="1200" dirty="0">
                <a:solidFill>
                  <a:schemeClr val="tx1"/>
                </a:solidFill>
                <a:effectLst/>
                <a:latin typeface="+mn-lt"/>
                <a:ea typeface="+mn-ea"/>
                <a:cs typeface="+mn-cs"/>
              </a:rPr>
              <a:t>，即由指令</a:t>
            </a:r>
            <a:r>
              <a:rPr lang="en-US" altLang="zh-CN" sz="1200" kern="1200" dirty="0">
                <a:solidFill>
                  <a:schemeClr val="tx1"/>
                </a:solidFill>
                <a:effectLst/>
                <a:latin typeface="+mn-lt"/>
                <a:ea typeface="+mn-ea"/>
                <a:cs typeface="+mn-cs"/>
              </a:rPr>
              <a:t> I </a:t>
            </a:r>
            <a:r>
              <a:rPr lang="zh-CN" altLang="zh-CN" sz="1200" kern="1200" dirty="0">
                <a:solidFill>
                  <a:schemeClr val="tx1"/>
                </a:solidFill>
                <a:effectLst/>
                <a:latin typeface="+mn-lt"/>
                <a:ea typeface="+mn-ea"/>
                <a:cs typeface="+mn-cs"/>
              </a:rPr>
              <a:t>计算的变量，并且</a:t>
            </a:r>
            <a:r>
              <a:rPr lang="en-US" altLang="zh-CN" sz="1200" kern="1200" dirty="0">
                <a:solidFill>
                  <a:schemeClr val="tx1"/>
                </a:solidFill>
                <a:effectLst/>
                <a:latin typeface="+mn-lt"/>
                <a:ea typeface="+mn-ea"/>
                <a:cs typeface="+mn-cs"/>
              </a:rPr>
              <a:t> x </a:t>
            </a:r>
            <a:r>
              <a:rPr lang="zh-CN" altLang="zh-CN" sz="1200" kern="1200" dirty="0">
                <a:solidFill>
                  <a:schemeClr val="tx1"/>
                </a:solidFill>
                <a:effectLst/>
                <a:latin typeface="+mn-lt"/>
                <a:ea typeface="+mn-ea"/>
                <a:cs typeface="+mn-cs"/>
              </a:rPr>
              <a:t>也不是指令</a:t>
            </a:r>
            <a:r>
              <a:rPr lang="en-US" altLang="zh-CN" sz="1200" kern="1200" dirty="0">
                <a:solidFill>
                  <a:schemeClr val="tx1"/>
                </a:solidFill>
                <a:effectLst/>
                <a:latin typeface="+mn-lt"/>
                <a:ea typeface="+mn-ea"/>
                <a:cs typeface="+mn-cs"/>
              </a:rPr>
              <a:t> I </a:t>
            </a:r>
            <a:r>
              <a:rPr lang="zh-CN" altLang="zh-CN" sz="1200" kern="1200" dirty="0">
                <a:solidFill>
                  <a:schemeClr val="tx1"/>
                </a:solidFill>
                <a:effectLst/>
                <a:latin typeface="+mn-lt"/>
                <a:ea typeface="+mn-ea"/>
                <a:cs typeface="+mn-cs"/>
              </a:rPr>
              <a:t>的其他运算分量之一（本例中为</a:t>
            </a:r>
            <a:r>
              <a:rPr lang="en-US" altLang="zh-CN" sz="1200" kern="1200" dirty="0">
                <a:solidFill>
                  <a:schemeClr val="tx1"/>
                </a:solidFill>
                <a:effectLst/>
                <a:latin typeface="+mn-lt"/>
                <a:ea typeface="+mn-ea"/>
                <a:cs typeface="+mn-cs"/>
              </a:rPr>
              <a:t> z</a:t>
            </a:r>
            <a:r>
              <a:rPr lang="zh-CN" altLang="zh-CN" sz="1200" kern="1200" dirty="0">
                <a:solidFill>
                  <a:schemeClr val="tx1"/>
                </a:solidFill>
                <a:effectLst/>
                <a:latin typeface="+mn-lt"/>
                <a:ea typeface="+mn-ea"/>
                <a:cs typeface="+mn-cs"/>
              </a:rPr>
              <a:t>），那么我们就完成了任务。原因是，在这种情况下，我们知道</a:t>
            </a:r>
            <a:r>
              <a:rPr lang="en-US" altLang="zh-CN" sz="1200" kern="1200" dirty="0">
                <a:solidFill>
                  <a:schemeClr val="tx1"/>
                </a:solidFill>
                <a:effectLst/>
                <a:latin typeface="+mn-lt"/>
                <a:ea typeface="+mn-ea"/>
                <a:cs typeface="+mn-cs"/>
              </a:rPr>
              <a:t> x </a:t>
            </a:r>
            <a:r>
              <a:rPr lang="zh-CN" altLang="zh-CN" sz="1200" kern="1200" dirty="0">
                <a:solidFill>
                  <a:schemeClr val="tx1"/>
                </a:solidFill>
                <a:effectLst/>
                <a:latin typeface="+mn-lt"/>
                <a:ea typeface="+mn-ea"/>
                <a:cs typeface="+mn-cs"/>
              </a:rPr>
              <a:t>的这个值永远不会再被使用，所以我们可以忽略它。</a:t>
            </a:r>
            <a:r>
              <a:rPr lang="en-US" altLang="zh-CN" sz="1200" kern="1200" dirty="0">
                <a:solidFill>
                  <a:schemeClr val="tx1"/>
                </a:solidFill>
                <a:effectLst/>
                <a:latin typeface="+mn-lt"/>
                <a:ea typeface="+mn-ea"/>
                <a:cs typeface="+mn-cs"/>
              </a:rPr>
              <a:t> </a:t>
            </a:r>
          </a:p>
          <a:p>
            <a:r>
              <a:rPr lang="en-US" altLang="zh-CN" sz="1200" kern="1200" dirty="0">
                <a:solidFill>
                  <a:schemeClr val="tx1"/>
                </a:solidFill>
                <a:effectLst/>
                <a:latin typeface="+mn-lt"/>
                <a:ea typeface="+mn-ea"/>
                <a:cs typeface="+mn-cs"/>
              </a:rPr>
              <a:t>(c) </a:t>
            </a:r>
            <a:r>
              <a:rPr lang="zh-CN" altLang="zh-CN" sz="1200" kern="1200" dirty="0">
                <a:solidFill>
                  <a:schemeClr val="tx1"/>
                </a:solidFill>
                <a:effectLst/>
                <a:latin typeface="+mn-lt"/>
                <a:ea typeface="+mn-ea"/>
                <a:cs typeface="+mn-cs"/>
              </a:rPr>
              <a:t>否则，如果稍后不使用</a:t>
            </a:r>
            <a:r>
              <a:rPr lang="en-US" altLang="zh-CN" sz="1200" kern="1200" dirty="0">
                <a:solidFill>
                  <a:schemeClr val="tx1"/>
                </a:solidFill>
                <a:effectLst/>
                <a:latin typeface="+mn-lt"/>
                <a:ea typeface="+mn-ea"/>
                <a:cs typeface="+mn-cs"/>
              </a:rPr>
              <a:t> v </a:t>
            </a:r>
            <a:r>
              <a:rPr lang="zh-CN" altLang="zh-CN" sz="1200" kern="1200" dirty="0">
                <a:solidFill>
                  <a:schemeClr val="tx1"/>
                </a:solidFill>
                <a:effectLst/>
                <a:latin typeface="+mn-lt"/>
                <a:ea typeface="+mn-ea"/>
                <a:cs typeface="+mn-cs"/>
              </a:rPr>
              <a:t>（即，在指令</a:t>
            </a:r>
            <a:r>
              <a:rPr lang="en-US" altLang="zh-CN" sz="1200" kern="1200" dirty="0">
                <a:solidFill>
                  <a:schemeClr val="tx1"/>
                </a:solidFill>
                <a:effectLst/>
                <a:latin typeface="+mn-lt"/>
                <a:ea typeface="+mn-ea"/>
                <a:cs typeface="+mn-cs"/>
              </a:rPr>
              <a:t> I </a:t>
            </a:r>
            <a:r>
              <a:rPr lang="zh-CN" altLang="zh-CN" sz="1200" kern="1200" dirty="0">
                <a:solidFill>
                  <a:schemeClr val="tx1"/>
                </a:solidFill>
                <a:effectLst/>
                <a:latin typeface="+mn-lt"/>
                <a:ea typeface="+mn-ea"/>
                <a:cs typeface="+mn-cs"/>
              </a:rPr>
              <a:t>之后，不再使用</a:t>
            </a:r>
            <a:r>
              <a:rPr lang="en-US" altLang="zh-CN" sz="1200" kern="1200" dirty="0">
                <a:solidFill>
                  <a:schemeClr val="tx1"/>
                </a:solidFill>
                <a:effectLst/>
                <a:latin typeface="+mn-lt"/>
                <a:ea typeface="+mn-ea"/>
                <a:cs typeface="+mn-cs"/>
              </a:rPr>
              <a:t> v </a:t>
            </a:r>
            <a:r>
              <a:rPr lang="zh-CN" altLang="zh-CN" sz="1200" kern="1200" dirty="0">
                <a:solidFill>
                  <a:schemeClr val="tx1"/>
                </a:solidFill>
                <a:effectLst/>
                <a:latin typeface="+mn-lt"/>
                <a:ea typeface="+mn-ea"/>
                <a:cs typeface="+mn-cs"/>
              </a:rPr>
              <a:t>，并且如果</a:t>
            </a:r>
            <a:r>
              <a:rPr lang="en-US" altLang="zh-CN" sz="1200" kern="1200" dirty="0">
                <a:solidFill>
                  <a:schemeClr val="tx1"/>
                </a:solidFill>
                <a:effectLst/>
                <a:latin typeface="+mn-lt"/>
                <a:ea typeface="+mn-ea"/>
                <a:cs typeface="+mn-cs"/>
              </a:rPr>
              <a:t> v </a:t>
            </a:r>
            <a:r>
              <a:rPr lang="zh-CN" altLang="zh-CN" sz="1200" kern="1200" dirty="0">
                <a:solidFill>
                  <a:schemeClr val="tx1"/>
                </a:solidFill>
                <a:effectLst/>
                <a:latin typeface="+mn-lt"/>
                <a:ea typeface="+mn-ea"/>
                <a:cs typeface="+mn-cs"/>
              </a:rPr>
              <a:t>在块出口处活跃，那么</a:t>
            </a:r>
            <a:r>
              <a:rPr lang="en-US" altLang="zh-CN" sz="1200" kern="1200" dirty="0">
                <a:solidFill>
                  <a:schemeClr val="tx1"/>
                </a:solidFill>
                <a:effectLst/>
                <a:latin typeface="+mn-lt"/>
                <a:ea typeface="+mn-ea"/>
                <a:cs typeface="+mn-cs"/>
              </a:rPr>
              <a:t>v</a:t>
            </a:r>
            <a:r>
              <a:rPr lang="zh-CN" altLang="zh-CN" sz="1200" kern="1200" dirty="0">
                <a:solidFill>
                  <a:schemeClr val="tx1"/>
                </a:solidFill>
                <a:effectLst/>
                <a:latin typeface="+mn-lt"/>
                <a:ea typeface="+mn-ea"/>
                <a:cs typeface="+mn-cs"/>
              </a:rPr>
              <a:t>的值必然在基本块中被重新计算</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），那么我们就完成了任务。 </a:t>
            </a:r>
          </a:p>
          <a:p>
            <a:r>
              <a:rPr lang="en-US" altLang="zh-CN" sz="1200" kern="1200" dirty="0">
                <a:solidFill>
                  <a:schemeClr val="tx1"/>
                </a:solidFill>
                <a:effectLst/>
                <a:latin typeface="+mn-lt"/>
                <a:ea typeface="+mn-ea"/>
                <a:cs typeface="+mn-cs"/>
              </a:rPr>
              <a:t>(d) </a:t>
            </a:r>
            <a:r>
              <a:rPr lang="zh-CN" altLang="zh-CN" sz="1200" kern="1200" dirty="0">
                <a:solidFill>
                  <a:schemeClr val="tx1"/>
                </a:solidFill>
                <a:effectLst/>
                <a:latin typeface="+mn-lt"/>
                <a:ea typeface="+mn-ea"/>
                <a:cs typeface="+mn-cs"/>
              </a:rPr>
              <a:t>如果前三种情况都不满足，则需要生成存储指令</a:t>
            </a:r>
            <a:r>
              <a:rPr lang="en-US" altLang="zh-CN" sz="1200" kern="1200" dirty="0">
                <a:solidFill>
                  <a:schemeClr val="tx1"/>
                </a:solidFill>
                <a:effectLst/>
                <a:latin typeface="+mn-lt"/>
                <a:ea typeface="+mn-ea"/>
                <a:cs typeface="+mn-cs"/>
              </a:rPr>
              <a:t> ST v</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 R </a:t>
            </a:r>
            <a:r>
              <a:rPr lang="zh-CN" altLang="zh-CN" sz="1200" kern="1200" dirty="0">
                <a:solidFill>
                  <a:schemeClr val="tx1"/>
                </a:solidFill>
                <a:effectLst/>
                <a:latin typeface="+mn-lt"/>
                <a:ea typeface="+mn-ea"/>
                <a:cs typeface="+mn-cs"/>
              </a:rPr>
              <a:t>将</a:t>
            </a:r>
            <a:r>
              <a:rPr lang="en-US" altLang="zh-CN" sz="1200" kern="1200" dirty="0">
                <a:solidFill>
                  <a:schemeClr val="tx1"/>
                </a:solidFill>
                <a:effectLst/>
                <a:latin typeface="+mn-lt"/>
                <a:ea typeface="+mn-ea"/>
                <a:cs typeface="+mn-cs"/>
              </a:rPr>
              <a:t> v </a:t>
            </a:r>
            <a:r>
              <a:rPr lang="zh-CN" altLang="zh-CN" sz="1200" kern="1200" dirty="0">
                <a:solidFill>
                  <a:schemeClr val="tx1"/>
                </a:solidFill>
                <a:effectLst/>
                <a:latin typeface="+mn-lt"/>
                <a:ea typeface="+mn-ea"/>
                <a:cs typeface="+mn-cs"/>
              </a:rPr>
              <a:t>的副本放置在其自己的内存位置中。这种操作称为溢出。</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由于</a:t>
            </a:r>
            <a:r>
              <a:rPr lang="en-US" altLang="zh-CN" sz="1200" kern="1200" dirty="0">
                <a:solidFill>
                  <a:schemeClr val="tx1"/>
                </a:solidFill>
                <a:effectLst/>
                <a:latin typeface="+mn-lt"/>
                <a:ea typeface="+mn-ea"/>
                <a:cs typeface="+mn-cs"/>
              </a:rPr>
              <a:t> R </a:t>
            </a:r>
            <a:r>
              <a:rPr lang="zh-CN" altLang="zh-CN" sz="1200" kern="1200" dirty="0">
                <a:solidFill>
                  <a:schemeClr val="tx1"/>
                </a:solidFill>
                <a:effectLst/>
                <a:latin typeface="+mn-lt"/>
                <a:ea typeface="+mn-ea"/>
                <a:cs typeface="+mn-cs"/>
              </a:rPr>
              <a:t>此时可能包含多个变量，因此我们对每个这样的变量</a:t>
            </a:r>
            <a:r>
              <a:rPr lang="en-US" altLang="zh-CN" sz="1200" kern="1200" dirty="0">
                <a:solidFill>
                  <a:schemeClr val="tx1"/>
                </a:solidFill>
                <a:effectLst/>
                <a:latin typeface="+mn-lt"/>
                <a:ea typeface="+mn-ea"/>
                <a:cs typeface="+mn-cs"/>
              </a:rPr>
              <a:t> v </a:t>
            </a:r>
            <a:r>
              <a:rPr lang="zh-CN" altLang="zh-CN" sz="1200" kern="1200" dirty="0">
                <a:solidFill>
                  <a:schemeClr val="tx1"/>
                </a:solidFill>
                <a:effectLst/>
                <a:latin typeface="+mn-lt"/>
                <a:ea typeface="+mn-ea"/>
                <a:cs typeface="+mn-cs"/>
              </a:rPr>
              <a:t>重复上述步骤。最后，</a:t>
            </a:r>
            <a:r>
              <a:rPr lang="en-US" altLang="zh-CN" sz="1200" kern="1200" dirty="0">
                <a:solidFill>
                  <a:schemeClr val="tx1"/>
                </a:solidFill>
                <a:effectLst/>
                <a:latin typeface="+mn-lt"/>
                <a:ea typeface="+mn-ea"/>
                <a:cs typeface="+mn-cs"/>
              </a:rPr>
              <a:t> R </a:t>
            </a:r>
            <a:r>
              <a:rPr lang="zh-CN" altLang="zh-CN" sz="1200" kern="1200" dirty="0">
                <a:solidFill>
                  <a:schemeClr val="tx1"/>
                </a:solidFill>
                <a:effectLst/>
                <a:latin typeface="+mn-lt"/>
                <a:ea typeface="+mn-ea"/>
                <a:cs typeface="+mn-cs"/>
              </a:rPr>
              <a:t>的得分是我们需要生成的保存指令的个数。选择得分最低的寄存器（或者之一）。</a:t>
            </a:r>
          </a:p>
          <a:p>
            <a:endParaRPr lang="zh-CN" altLang="en-US"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71</a:t>
            </a:fld>
            <a:endParaRPr lang="zh-CN" altLang="en-US"/>
          </a:p>
        </p:txBody>
      </p:sp>
    </p:spTree>
    <p:extLst>
      <p:ext uri="{BB962C8B-B14F-4D97-AF65-F5344CB8AC3E}">
        <p14:creationId xmlns:p14="http://schemas.microsoft.com/office/powerpoint/2010/main" val="3013389822"/>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现在，考虑寄存器 </a:t>
            </a:r>
            <a:r>
              <a:rPr lang="en-US" altLang="zh-CN" dirty="0"/>
              <a:t>Rx </a:t>
            </a:r>
            <a:r>
              <a:rPr lang="zh-CN" altLang="en-US" dirty="0"/>
              <a:t>的选择。其中的难点和可选项几乎与选择</a:t>
            </a:r>
            <a:r>
              <a:rPr lang="en-US" altLang="zh-CN" dirty="0"/>
              <a:t>R y</a:t>
            </a:r>
            <a:r>
              <a:rPr lang="zh-CN" altLang="en-US" dirty="0"/>
              <a:t>时的 一样，所以我们只提及其中的区别。</a:t>
            </a:r>
          </a:p>
          <a:p>
            <a:r>
              <a:rPr lang="en-US" altLang="zh-CN" dirty="0"/>
              <a:t>1. </a:t>
            </a:r>
            <a:r>
              <a:rPr lang="zh-CN" altLang="en-US" dirty="0"/>
              <a:t>由于正在计算 </a:t>
            </a:r>
            <a:r>
              <a:rPr lang="en-US" altLang="zh-CN" dirty="0"/>
              <a:t>x </a:t>
            </a:r>
            <a:r>
              <a:rPr lang="zh-CN" altLang="en-US" dirty="0"/>
              <a:t>的新值，因此仅保存 </a:t>
            </a:r>
            <a:r>
              <a:rPr lang="en-US" altLang="zh-CN" dirty="0"/>
              <a:t>x </a:t>
            </a:r>
            <a:r>
              <a:rPr lang="zh-CN" altLang="en-US" dirty="0"/>
              <a:t>的寄存器始终是 </a:t>
            </a:r>
            <a:r>
              <a:rPr lang="en-US" altLang="zh-CN" dirty="0"/>
              <a:t>Rx </a:t>
            </a:r>
            <a:r>
              <a:rPr lang="zh-CN" altLang="en-US" dirty="0"/>
              <a:t>可接受的选择。即使 </a:t>
            </a:r>
            <a:r>
              <a:rPr lang="en-US" altLang="zh-CN" dirty="0"/>
              <a:t>x </a:t>
            </a:r>
            <a:r>
              <a:rPr lang="zh-CN" altLang="en-US" dirty="0"/>
              <a:t>就是 </a:t>
            </a:r>
            <a:r>
              <a:rPr lang="en-US" altLang="zh-CN" dirty="0"/>
              <a:t>y </a:t>
            </a:r>
            <a:r>
              <a:rPr lang="zh-CN" altLang="en-US" dirty="0"/>
              <a:t>或 </a:t>
            </a:r>
            <a:r>
              <a:rPr lang="en-US" altLang="zh-CN" dirty="0"/>
              <a:t>z </a:t>
            </a:r>
            <a:r>
              <a:rPr lang="zh-CN" altLang="en-US" dirty="0"/>
              <a:t>之一，该语句仍然成立，因为我们的机器指令允许在一条指令中的两个寄存器相同。 </a:t>
            </a:r>
          </a:p>
          <a:p>
            <a:r>
              <a:rPr lang="en-US" altLang="zh-CN" dirty="0"/>
              <a:t>2.</a:t>
            </a:r>
            <a:r>
              <a:rPr lang="zh-CN" altLang="en-US" dirty="0"/>
              <a:t>如果（像上面对变量</a:t>
            </a:r>
            <a:r>
              <a:rPr lang="en-US" altLang="zh-CN" dirty="0"/>
              <a:t>v</a:t>
            </a:r>
            <a:r>
              <a:rPr lang="zh-CN" altLang="en-US" dirty="0"/>
              <a:t>的描述那样）</a:t>
            </a:r>
            <a:r>
              <a:rPr lang="en-US" altLang="zh-CN" dirty="0"/>
              <a:t>y</a:t>
            </a:r>
            <a:r>
              <a:rPr lang="zh-CN" altLang="en-US" dirty="0"/>
              <a:t>在指令</a:t>
            </a:r>
            <a:r>
              <a:rPr lang="en-US" altLang="zh-CN" dirty="0"/>
              <a:t>I</a:t>
            </a:r>
            <a:r>
              <a:rPr lang="zh-CN" altLang="en-US" dirty="0"/>
              <a:t>之后不再使用，且（在必要时加载</a:t>
            </a:r>
            <a:r>
              <a:rPr lang="en-US" altLang="zh-CN" dirty="0"/>
              <a:t>y</a:t>
            </a:r>
            <a:r>
              <a:rPr lang="zh-CN" altLang="en-US" dirty="0"/>
              <a:t>之后）</a:t>
            </a:r>
            <a:r>
              <a:rPr lang="en-US" altLang="zh-CN" dirty="0"/>
              <a:t>Ry</a:t>
            </a:r>
            <a:r>
              <a:rPr lang="zh-CN" altLang="en-US" dirty="0"/>
              <a:t>仅保存了</a:t>
            </a:r>
            <a:r>
              <a:rPr lang="en-US" altLang="zh-CN" dirty="0"/>
              <a:t>y</a:t>
            </a:r>
            <a:r>
              <a:rPr lang="zh-CN" altLang="en-US" dirty="0"/>
              <a:t>的值，则</a:t>
            </a:r>
            <a:r>
              <a:rPr lang="en-US" altLang="zh-CN" dirty="0"/>
              <a:t>Ry</a:t>
            </a:r>
            <a:r>
              <a:rPr lang="zh-CN" altLang="en-US" dirty="0"/>
              <a:t>同时也可以用作</a:t>
            </a:r>
            <a:r>
              <a:rPr lang="en-US" altLang="zh-CN" dirty="0"/>
              <a:t>Rx</a:t>
            </a:r>
            <a:r>
              <a:rPr lang="zh-CN" altLang="en-US" dirty="0"/>
              <a:t>。对于 </a:t>
            </a:r>
            <a:r>
              <a:rPr lang="en-US" altLang="zh-CN" dirty="0"/>
              <a:t>z </a:t>
            </a:r>
            <a:r>
              <a:rPr lang="zh-CN" altLang="en-US" dirty="0"/>
              <a:t>和 </a:t>
            </a:r>
            <a:r>
              <a:rPr lang="en-US" altLang="zh-CN" dirty="0" err="1"/>
              <a:t>Rz</a:t>
            </a:r>
            <a:r>
              <a:rPr lang="en-US" altLang="zh-CN" dirty="0"/>
              <a:t> </a:t>
            </a:r>
            <a:r>
              <a:rPr lang="zh-CN" altLang="en-US" dirty="0"/>
              <a:t>也有类似的选项。</a:t>
            </a:r>
          </a:p>
          <a:p>
            <a:r>
              <a:rPr lang="zh-CN" altLang="en-US" dirty="0"/>
              <a:t>最后要特别考虑的问题是当 </a:t>
            </a:r>
            <a:r>
              <a:rPr lang="en-US" altLang="zh-CN" dirty="0"/>
              <a:t>I </a:t>
            </a:r>
            <a:r>
              <a:rPr lang="zh-CN" altLang="en-US" dirty="0"/>
              <a:t>是复制指令 </a:t>
            </a:r>
            <a:r>
              <a:rPr lang="en-US" altLang="zh-CN" dirty="0"/>
              <a:t>x = y </a:t>
            </a:r>
            <a:r>
              <a:rPr lang="zh-CN" altLang="en-US" dirty="0"/>
              <a:t>时的情况。我们用上面描述的方法选择寄存器 </a:t>
            </a:r>
            <a:r>
              <a:rPr lang="en-US" altLang="zh-CN" dirty="0"/>
              <a:t>Ry</a:t>
            </a:r>
            <a:r>
              <a:rPr lang="zh-CN" altLang="en-US" dirty="0"/>
              <a:t>，然后是让 </a:t>
            </a:r>
            <a:r>
              <a:rPr lang="en-US" altLang="zh-CN" dirty="0"/>
              <a:t>Rx = Ry </a:t>
            </a:r>
            <a:r>
              <a:rPr lang="zh-CN" altLang="en-US" dirty="0"/>
              <a:t>。</a:t>
            </a:r>
          </a:p>
          <a:p>
            <a:endParaRPr lang="zh-CN" altLang="en-US"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72</a:t>
            </a:fld>
            <a:endParaRPr lang="zh-CN" altLang="en-US"/>
          </a:p>
        </p:txBody>
      </p:sp>
    </p:spTree>
    <p:extLst>
      <p:ext uri="{BB962C8B-B14F-4D97-AF65-F5344CB8AC3E}">
        <p14:creationId xmlns:p14="http://schemas.microsoft.com/office/powerpoint/2010/main" val="2147757624"/>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虽然大多数生产编译器通过仔细的指令选择和寄存器分配来生成良好的代码，但也有一些编译器使用另一种策略：它们生成简单的代码，然后通过对目标代码应用“优化”转换来提高目标代码的质量。术语“优化”有些误导，因为不能保证生成的代码在任何数学测量下都是最优的。然而，许多简单的转换可以显着提高目标程序的运行时间或空间要求。</a:t>
            </a:r>
          </a:p>
          <a:p>
            <a:r>
              <a:rPr lang="zh-CN" altLang="en-US" dirty="0"/>
              <a:t>用于局部改进目标代码的一种简单但有效的技术是窥孔优化，它是检查目标指令的滑动窗口（称为窥孔）并且只要有可能就在窥孔内用更短或更快的指令替换窥孔内的指令序列。也可以在中间代码生成之后直接应用窥孔优化，以改进中间表示。</a:t>
            </a:r>
            <a:endParaRPr lang="en-US" altLang="zh-CN" dirty="0"/>
          </a:p>
          <a:p>
            <a:r>
              <a:rPr lang="zh-CN" altLang="zh-CN" sz="1200" kern="1200" dirty="0">
                <a:solidFill>
                  <a:schemeClr val="tx1"/>
                </a:solidFill>
                <a:effectLst/>
                <a:latin typeface="+mn-lt"/>
                <a:ea typeface="+mn-ea"/>
                <a:cs typeface="+mn-cs"/>
              </a:rPr>
              <a:t>窥孔是程序上的一个小的滑动窗口。窥孔中的代码不需要是连续的，尽管某些实现确实需要这样做。窥孔优化的特点是每次改进又可能产生出新的优化机会。一般来说，为了获得最大利益，需要重复多次扫描目标代码。在本节中，我们将给出以下具有窥孔优化特征的程序转换示例： </a:t>
            </a:r>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冗余指令消除</a:t>
            </a:r>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控制流优化</a:t>
            </a:r>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代数简化</a:t>
            </a:r>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机器特有指令的使用。</a:t>
            </a: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73</a:t>
            </a:fld>
            <a:endParaRPr lang="zh-CN" altLang="en-US"/>
          </a:p>
        </p:txBody>
      </p:sp>
    </p:spTree>
    <p:extLst>
      <p:ext uri="{BB962C8B-B14F-4D97-AF65-F5344CB8AC3E}">
        <p14:creationId xmlns:p14="http://schemas.microsoft.com/office/powerpoint/2010/main" val="2467885579"/>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如果我们在目标程序中看到指令序列</a:t>
            </a:r>
            <a:r>
              <a:rPr lang="en-US" altLang="zh-CN" sz="1200" kern="1200" dirty="0">
                <a:solidFill>
                  <a:schemeClr val="tx1"/>
                </a:solidFill>
                <a:effectLst/>
                <a:latin typeface="+mn-lt"/>
                <a:ea typeface="+mn-ea"/>
                <a:cs typeface="+mn-cs"/>
              </a:rPr>
              <a:t> LD R0, a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kern="1200" dirty="0">
                <a:solidFill>
                  <a:schemeClr val="tx1"/>
                </a:solidFill>
                <a:effectLst/>
                <a:latin typeface="+mn-lt"/>
                <a:ea typeface="+mn-ea"/>
                <a:cs typeface="+mn-cs"/>
              </a:rPr>
              <a:t>ST a, R0</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我们可以删除保存指令 ，因为无论何时执行它，第一条指令都会确保</a:t>
            </a:r>
            <a:r>
              <a:rPr lang="en-US" altLang="zh-CN" sz="1200" kern="1200" dirty="0">
                <a:solidFill>
                  <a:schemeClr val="tx1"/>
                </a:solidFill>
                <a:effectLst/>
                <a:latin typeface="+mn-lt"/>
                <a:ea typeface="+mn-ea"/>
                <a:cs typeface="+mn-cs"/>
              </a:rPr>
              <a:t> a </a:t>
            </a:r>
            <a:r>
              <a:rPr lang="zh-CN" altLang="zh-CN" sz="1200" kern="1200" dirty="0">
                <a:solidFill>
                  <a:schemeClr val="tx1"/>
                </a:solidFill>
                <a:effectLst/>
                <a:latin typeface="+mn-lt"/>
                <a:ea typeface="+mn-ea"/>
                <a:cs typeface="+mn-cs"/>
              </a:rPr>
              <a:t>的值已经加载到寄存器</a:t>
            </a:r>
            <a:r>
              <a:rPr lang="en-US" altLang="zh-CN" sz="1200" kern="1200" dirty="0">
                <a:solidFill>
                  <a:schemeClr val="tx1"/>
                </a:solidFill>
                <a:effectLst/>
                <a:latin typeface="+mn-lt"/>
                <a:ea typeface="+mn-ea"/>
                <a:cs typeface="+mn-cs"/>
              </a:rPr>
              <a:t> R0 </a:t>
            </a:r>
            <a:r>
              <a:rPr lang="zh-CN" altLang="zh-CN" sz="1200" kern="1200" dirty="0">
                <a:solidFill>
                  <a:schemeClr val="tx1"/>
                </a:solidFill>
                <a:effectLst/>
                <a:latin typeface="+mn-lt"/>
                <a:ea typeface="+mn-ea"/>
                <a:cs typeface="+mn-cs"/>
              </a:rPr>
              <a:t>中。</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请注意，如果存储指令有</a:t>
            </a:r>
            <a:r>
              <a:rPr lang="zh-CN" altLang="en-US" sz="1200" kern="1200" dirty="0">
                <a:solidFill>
                  <a:schemeClr val="tx1"/>
                </a:solidFill>
                <a:effectLst/>
                <a:latin typeface="+mn-lt"/>
                <a:ea typeface="+mn-ea"/>
                <a:cs typeface="+mn-cs"/>
              </a:rPr>
              <a:t>标号</a:t>
            </a:r>
            <a:r>
              <a:rPr lang="zh-CN" altLang="zh-CN" sz="1200" kern="1200" dirty="0">
                <a:solidFill>
                  <a:schemeClr val="tx1"/>
                </a:solidFill>
                <a:effectLst/>
                <a:latin typeface="+mn-lt"/>
                <a:ea typeface="+mn-ea"/>
                <a:cs typeface="+mn-cs"/>
              </a:rPr>
              <a:t>，我们无法确定第一条指令总是在第二条指令之前执行，因此我们无法删除存储指令。换句话说，两条指令必须位于同一个基本块中，这样转换才能安全。这种性质的冗余加载和存储不会由上一节的简单代码生成算法生成。然而，像第</a:t>
            </a:r>
            <a:r>
              <a:rPr lang="en-US" altLang="zh-CN" sz="1200" kern="1200" dirty="0">
                <a:solidFill>
                  <a:schemeClr val="tx1"/>
                </a:solidFill>
                <a:effectLst/>
                <a:latin typeface="+mn-lt"/>
                <a:ea typeface="+mn-ea"/>
                <a:cs typeface="+mn-cs"/>
              </a:rPr>
              <a:t> 8.1.3 </a:t>
            </a:r>
            <a:r>
              <a:rPr lang="zh-CN" altLang="zh-CN" sz="1200" kern="1200" dirty="0">
                <a:solidFill>
                  <a:schemeClr val="tx1"/>
                </a:solidFill>
                <a:effectLst/>
                <a:latin typeface="+mn-lt"/>
                <a:ea typeface="+mn-ea"/>
                <a:cs typeface="+mn-cs"/>
              </a:rPr>
              <a:t>节中的原始的代码生成器可能会生成类似的冗余代码序列。</a:t>
            </a:r>
          </a:p>
          <a:p>
            <a:endParaRPr lang="zh-CN" altLang="en-US"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74</a:t>
            </a:fld>
            <a:endParaRPr lang="zh-CN" altLang="en-US"/>
          </a:p>
        </p:txBody>
      </p:sp>
    </p:spTree>
    <p:extLst>
      <p:ext uri="{BB962C8B-B14F-4D97-AF65-F5344CB8AC3E}">
        <p14:creationId xmlns:p14="http://schemas.microsoft.com/office/powerpoint/2010/main" val="772970694"/>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另一个窥孔优化的机会是删除无法到达的指令。</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紧随无条件跳转之后的不带标号的指令可以被删除。可以重复该操作以消除指令序列。例如，出于调试目的，大型程序中可能包含某些代码片段，仅当变量</a:t>
            </a:r>
            <a:r>
              <a:rPr lang="en-US" altLang="zh-CN" sz="1200" kern="1200" dirty="0">
                <a:solidFill>
                  <a:schemeClr val="tx1"/>
                </a:solidFill>
                <a:effectLst/>
                <a:latin typeface="+mn-lt"/>
                <a:ea typeface="+mn-ea"/>
                <a:cs typeface="+mn-cs"/>
              </a:rPr>
              <a:t> debug </a:t>
            </a:r>
            <a:r>
              <a:rPr lang="zh-CN" altLang="zh-CN" sz="1200" kern="1200" dirty="0">
                <a:solidFill>
                  <a:schemeClr val="tx1"/>
                </a:solidFill>
                <a:effectLst/>
                <a:latin typeface="+mn-lt"/>
                <a:ea typeface="+mn-ea"/>
                <a:cs typeface="+mn-cs"/>
              </a:rPr>
              <a:t>等于</a:t>
            </a:r>
            <a:r>
              <a:rPr lang="en-US" altLang="zh-CN" sz="1200" kern="1200" dirty="0">
                <a:solidFill>
                  <a:schemeClr val="tx1"/>
                </a:solidFill>
                <a:effectLst/>
                <a:latin typeface="+mn-lt"/>
                <a:ea typeface="+mn-ea"/>
                <a:cs typeface="+mn-cs"/>
              </a:rPr>
              <a:t> 1 </a:t>
            </a:r>
            <a:r>
              <a:rPr lang="zh-CN" altLang="zh-CN" sz="1200" kern="1200" dirty="0">
                <a:solidFill>
                  <a:schemeClr val="tx1"/>
                </a:solidFill>
                <a:effectLst/>
                <a:latin typeface="+mn-lt"/>
                <a:ea typeface="+mn-ea"/>
                <a:cs typeface="+mn-cs"/>
              </a:rPr>
              <a:t>时才执行这些代码片段。在中间表示中，此代码可能看起来像</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kern="1200" dirty="0">
                <a:solidFill>
                  <a:schemeClr val="tx1"/>
                </a:solidFill>
                <a:effectLst/>
                <a:latin typeface="+mn-lt"/>
                <a:ea typeface="+mn-ea"/>
                <a:cs typeface="+mn-cs"/>
              </a:rPr>
              <a:t>      if debug == 1 </a:t>
            </a:r>
            <a:r>
              <a:rPr lang="en-US" altLang="zh-CN" sz="1200" kern="1200" dirty="0" err="1">
                <a:solidFill>
                  <a:schemeClr val="tx1"/>
                </a:solidFill>
                <a:effectLst/>
                <a:latin typeface="+mn-lt"/>
                <a:ea typeface="+mn-ea"/>
                <a:cs typeface="+mn-cs"/>
              </a:rPr>
              <a:t>goto</a:t>
            </a:r>
            <a:r>
              <a:rPr lang="en-US" altLang="zh-CN" sz="1200" kern="1200" dirty="0">
                <a:solidFill>
                  <a:schemeClr val="tx1"/>
                </a:solidFill>
                <a:effectLst/>
                <a:latin typeface="+mn-lt"/>
                <a:ea typeface="+mn-ea"/>
                <a:cs typeface="+mn-cs"/>
              </a:rPr>
              <a:t> L1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kern="1200" dirty="0">
                <a:solidFill>
                  <a:schemeClr val="tx1"/>
                </a:solidFill>
                <a:effectLst/>
                <a:latin typeface="+mn-lt"/>
                <a:ea typeface="+mn-ea"/>
                <a:cs typeface="+mn-cs"/>
              </a:rPr>
              <a:t>       </a:t>
            </a:r>
            <a:r>
              <a:rPr lang="en-US" altLang="zh-CN" sz="1200" kern="1200" dirty="0" err="1">
                <a:solidFill>
                  <a:schemeClr val="tx1"/>
                </a:solidFill>
                <a:effectLst/>
                <a:latin typeface="+mn-lt"/>
                <a:ea typeface="+mn-ea"/>
                <a:cs typeface="+mn-cs"/>
              </a:rPr>
              <a:t>goto</a:t>
            </a:r>
            <a:r>
              <a:rPr lang="en-US" altLang="zh-CN" sz="1200" kern="1200" dirty="0">
                <a:solidFill>
                  <a:schemeClr val="tx1"/>
                </a:solidFill>
                <a:effectLst/>
                <a:latin typeface="+mn-lt"/>
                <a:ea typeface="+mn-ea"/>
                <a:cs typeface="+mn-cs"/>
              </a:rPr>
              <a:t> L2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kern="1200" dirty="0">
                <a:solidFill>
                  <a:schemeClr val="tx1"/>
                </a:solidFill>
                <a:effectLst/>
                <a:latin typeface="+mn-lt"/>
                <a:ea typeface="+mn-ea"/>
                <a:cs typeface="+mn-cs"/>
              </a:rPr>
              <a:t>L1</a:t>
            </a:r>
            <a:r>
              <a:rPr lang="zh-CN" altLang="zh-CN" sz="1200" kern="1200" dirty="0">
                <a:solidFill>
                  <a:schemeClr val="tx1"/>
                </a:solidFill>
                <a:effectLst/>
                <a:latin typeface="+mn-lt"/>
                <a:ea typeface="+mn-ea"/>
                <a:cs typeface="+mn-cs"/>
              </a:rPr>
              <a:t>：</a:t>
            </a:r>
            <a:r>
              <a:rPr lang="en-US" altLang="zh-CN" sz="1200" dirty="0">
                <a:solidFill>
                  <a:sysClr val="windowText" lastClr="000000"/>
                </a:solidFill>
                <a:latin typeface="Consolas"/>
                <a:cs typeface="Consolas"/>
              </a:rPr>
              <a:t>print</a:t>
            </a:r>
            <a:r>
              <a:rPr lang="en-US" altLang="zh-CN" sz="1200" spc="-10" dirty="0">
                <a:solidFill>
                  <a:sysClr val="windowText" lastClr="000000"/>
                </a:solidFill>
                <a:latin typeface="Consolas"/>
                <a:cs typeface="Consolas"/>
              </a:rPr>
              <a:t> </a:t>
            </a:r>
            <a:r>
              <a:rPr lang="en-US" altLang="zh-CN" sz="1200" dirty="0">
                <a:solidFill>
                  <a:sysClr val="windowText" lastClr="000000"/>
                </a:solidFill>
                <a:latin typeface="Consolas"/>
                <a:cs typeface="Consolas"/>
              </a:rPr>
              <a:t>debugging</a:t>
            </a:r>
            <a:r>
              <a:rPr lang="en-US" altLang="zh-CN" sz="1200" spc="-10" dirty="0">
                <a:solidFill>
                  <a:sysClr val="windowText" lastClr="000000"/>
                </a:solidFill>
                <a:latin typeface="Consolas"/>
                <a:cs typeface="Consolas"/>
              </a:rPr>
              <a:t> information </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kern="1200" dirty="0">
                <a:solidFill>
                  <a:schemeClr val="tx1"/>
                </a:solidFill>
                <a:effectLst/>
                <a:latin typeface="+mn-lt"/>
                <a:ea typeface="+mn-ea"/>
                <a:cs typeface="+mn-cs"/>
              </a:rPr>
              <a:t>L2</a:t>
            </a:r>
            <a:r>
              <a:rPr lang="zh-CN" altLang="zh-CN" sz="1200" kern="1200" dirty="0">
                <a:solidFill>
                  <a:schemeClr val="tx1"/>
                </a:solidFill>
                <a:effectLst/>
                <a:latin typeface="+mn-lt"/>
                <a:ea typeface="+mn-ea"/>
                <a:cs typeface="+mn-cs"/>
              </a:rPr>
              <a:t>：</a:t>
            </a:r>
          </a:p>
          <a:p>
            <a:r>
              <a:rPr lang="zh-CN" altLang="zh-CN" sz="1200" kern="1200" dirty="0">
                <a:solidFill>
                  <a:schemeClr val="tx1"/>
                </a:solidFill>
                <a:effectLst/>
                <a:latin typeface="+mn-lt"/>
                <a:ea typeface="+mn-ea"/>
                <a:cs typeface="+mn-cs"/>
              </a:rPr>
              <a:t>一个明显的窥孔优化是消除级联跳转指令。因此，无论</a:t>
            </a:r>
            <a:r>
              <a:rPr lang="en-US" altLang="zh-CN" sz="1200" kern="1200" dirty="0">
                <a:solidFill>
                  <a:schemeClr val="tx1"/>
                </a:solidFill>
                <a:effectLst/>
                <a:latin typeface="+mn-lt"/>
                <a:ea typeface="+mn-ea"/>
                <a:cs typeface="+mn-cs"/>
              </a:rPr>
              <a:t>debug</a:t>
            </a:r>
            <a:r>
              <a:rPr lang="zh-CN" altLang="zh-CN" sz="1200" kern="1200" dirty="0">
                <a:solidFill>
                  <a:schemeClr val="tx1"/>
                </a:solidFill>
                <a:effectLst/>
                <a:latin typeface="+mn-lt"/>
                <a:ea typeface="+mn-ea"/>
                <a:cs typeface="+mn-cs"/>
              </a:rPr>
              <a:t>的值是什么，上面的代码序列都可以替换为</a:t>
            </a:r>
            <a:endParaRPr lang="en-US"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if debug != 1 </a:t>
            </a:r>
            <a:r>
              <a:rPr lang="en-US" altLang="zh-CN" sz="1200" kern="1200" dirty="0" err="1">
                <a:solidFill>
                  <a:schemeClr val="tx1"/>
                </a:solidFill>
                <a:effectLst/>
                <a:latin typeface="+mn-lt"/>
                <a:ea typeface="+mn-ea"/>
                <a:cs typeface="+mn-cs"/>
              </a:rPr>
              <a:t>goto</a:t>
            </a:r>
            <a:r>
              <a:rPr lang="en-US" altLang="zh-CN" sz="1200" kern="1200" dirty="0">
                <a:solidFill>
                  <a:schemeClr val="tx1"/>
                </a:solidFill>
                <a:effectLst/>
                <a:latin typeface="+mn-lt"/>
                <a:ea typeface="+mn-ea"/>
                <a:cs typeface="+mn-cs"/>
              </a:rPr>
              <a:t> L2 </a:t>
            </a:r>
          </a:p>
          <a:p>
            <a:r>
              <a:rPr lang="en-US" altLang="zh-CN" sz="1200" dirty="0">
                <a:solidFill>
                  <a:sysClr val="windowText" lastClr="000000"/>
                </a:solidFill>
                <a:latin typeface="Consolas"/>
                <a:cs typeface="Consolas"/>
              </a:rPr>
              <a:t>       print</a:t>
            </a:r>
            <a:r>
              <a:rPr lang="en-US" altLang="zh-CN" sz="1200" spc="-10" dirty="0">
                <a:solidFill>
                  <a:sysClr val="windowText" lastClr="000000"/>
                </a:solidFill>
                <a:latin typeface="Consolas"/>
                <a:cs typeface="Consolas"/>
              </a:rPr>
              <a:t> </a:t>
            </a:r>
            <a:r>
              <a:rPr lang="en-US" altLang="zh-CN" sz="1200" dirty="0">
                <a:solidFill>
                  <a:sysClr val="windowText" lastClr="000000"/>
                </a:solidFill>
                <a:latin typeface="Consolas"/>
                <a:cs typeface="Consolas"/>
              </a:rPr>
              <a:t>debugging</a:t>
            </a:r>
            <a:r>
              <a:rPr lang="en-US" altLang="zh-CN" sz="1200" spc="-10" dirty="0">
                <a:solidFill>
                  <a:sysClr val="windowText" lastClr="000000"/>
                </a:solidFill>
                <a:latin typeface="Consolas"/>
                <a:cs typeface="Consolas"/>
              </a:rPr>
              <a:t> information </a:t>
            </a:r>
          </a:p>
          <a:p>
            <a:r>
              <a:rPr lang="en-US" altLang="zh-CN" sz="1200" kern="1200" dirty="0">
                <a:solidFill>
                  <a:schemeClr val="tx1"/>
                </a:solidFill>
                <a:effectLst/>
                <a:latin typeface="+mn-lt"/>
                <a:ea typeface="+mn-ea"/>
                <a:cs typeface="+mn-cs"/>
              </a:rPr>
              <a:t>L2: </a:t>
            </a:r>
          </a:p>
          <a:p>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solidFill>
                  <a:srgbClr val="FF0000"/>
                </a:solidFill>
                <a:latin typeface="Palatino Linotype"/>
                <a:cs typeface="Palatino Linotype"/>
              </a:rPr>
              <a:t>How</a:t>
            </a:r>
            <a:r>
              <a:rPr lang="en-US" altLang="zh-CN" spc="-55" dirty="0">
                <a:solidFill>
                  <a:srgbClr val="FF0000"/>
                </a:solidFill>
                <a:latin typeface="Palatino Linotype"/>
                <a:cs typeface="Palatino Linotype"/>
              </a:rPr>
              <a:t> </a:t>
            </a:r>
            <a:r>
              <a:rPr lang="en-US" altLang="zh-CN" dirty="0">
                <a:solidFill>
                  <a:srgbClr val="FF0000"/>
                </a:solidFill>
                <a:latin typeface="Palatino Linotype"/>
                <a:cs typeface="Palatino Linotype"/>
              </a:rPr>
              <a:t>to</a:t>
            </a:r>
            <a:r>
              <a:rPr lang="en-US" altLang="zh-CN" spc="-25" dirty="0">
                <a:solidFill>
                  <a:srgbClr val="FF0000"/>
                </a:solidFill>
                <a:latin typeface="Palatino Linotype"/>
                <a:cs typeface="Palatino Linotype"/>
              </a:rPr>
              <a:t> </a:t>
            </a:r>
            <a:r>
              <a:rPr lang="en-US" altLang="zh-CN" dirty="0">
                <a:solidFill>
                  <a:srgbClr val="FF0000"/>
                </a:solidFill>
                <a:latin typeface="Palatino Linotype"/>
                <a:cs typeface="Palatino Linotype"/>
              </a:rPr>
              <a:t>optimize</a:t>
            </a:r>
            <a:r>
              <a:rPr lang="en-US" altLang="zh-CN" spc="-20" dirty="0">
                <a:solidFill>
                  <a:srgbClr val="FF0000"/>
                </a:solidFill>
                <a:latin typeface="Palatino Linotype"/>
                <a:cs typeface="Palatino Linotype"/>
              </a:rPr>
              <a:t> </a:t>
            </a:r>
            <a:r>
              <a:rPr lang="en-US" altLang="zh-CN" dirty="0">
                <a:solidFill>
                  <a:srgbClr val="FF0000"/>
                </a:solidFill>
                <a:latin typeface="Palatino Linotype"/>
                <a:cs typeface="Palatino Linotype"/>
              </a:rPr>
              <a:t>the</a:t>
            </a:r>
            <a:r>
              <a:rPr lang="en-US" altLang="zh-CN" spc="-25" dirty="0">
                <a:solidFill>
                  <a:srgbClr val="FF0000"/>
                </a:solidFill>
                <a:latin typeface="Palatino Linotype"/>
                <a:cs typeface="Palatino Linotype"/>
              </a:rPr>
              <a:t> </a:t>
            </a:r>
            <a:r>
              <a:rPr lang="en-US" altLang="zh-CN" dirty="0">
                <a:solidFill>
                  <a:srgbClr val="FF0000"/>
                </a:solidFill>
                <a:latin typeface="Palatino Linotype"/>
                <a:cs typeface="Palatino Linotype"/>
              </a:rPr>
              <a:t>code</a:t>
            </a:r>
            <a:r>
              <a:rPr lang="en-US" altLang="zh-CN" spc="-25" dirty="0">
                <a:solidFill>
                  <a:srgbClr val="FF0000"/>
                </a:solidFill>
                <a:latin typeface="Palatino Linotype"/>
                <a:cs typeface="Palatino Linotype"/>
              </a:rPr>
              <a:t> </a:t>
            </a:r>
            <a:r>
              <a:rPr lang="en-US" altLang="zh-CN" dirty="0">
                <a:solidFill>
                  <a:srgbClr val="FF0000"/>
                </a:solidFill>
                <a:latin typeface="Palatino Linotype"/>
                <a:cs typeface="Palatino Linotype"/>
              </a:rPr>
              <a:t>if</a:t>
            </a:r>
            <a:r>
              <a:rPr lang="en-US" altLang="zh-CN" spc="-25" dirty="0">
                <a:solidFill>
                  <a:srgbClr val="FF0000"/>
                </a:solidFill>
                <a:latin typeface="Palatino Linotype"/>
                <a:cs typeface="Palatino Linotype"/>
              </a:rPr>
              <a:t> </a:t>
            </a:r>
            <a:r>
              <a:rPr lang="en-US" altLang="zh-CN" dirty="0">
                <a:solidFill>
                  <a:srgbClr val="FF0000"/>
                </a:solidFill>
                <a:latin typeface="Palatino Linotype"/>
                <a:cs typeface="Palatino Linotype"/>
              </a:rPr>
              <a:t>we</a:t>
            </a:r>
            <a:r>
              <a:rPr lang="en-US" altLang="zh-CN" spc="-20" dirty="0">
                <a:solidFill>
                  <a:srgbClr val="FF0000"/>
                </a:solidFill>
                <a:latin typeface="Palatino Linotype"/>
                <a:cs typeface="Palatino Linotype"/>
              </a:rPr>
              <a:t> </a:t>
            </a:r>
            <a:r>
              <a:rPr lang="en-US" altLang="zh-CN" dirty="0">
                <a:solidFill>
                  <a:srgbClr val="FF0000"/>
                </a:solidFill>
                <a:latin typeface="Palatino Linotype"/>
                <a:cs typeface="Palatino Linotype"/>
              </a:rPr>
              <a:t>know</a:t>
            </a:r>
            <a:r>
              <a:rPr lang="en-US" altLang="zh-CN" spc="-30" dirty="0">
                <a:solidFill>
                  <a:srgbClr val="FF0000"/>
                </a:solidFill>
                <a:latin typeface="Palatino Linotype"/>
                <a:cs typeface="Palatino Linotype"/>
              </a:rPr>
              <a:t> </a:t>
            </a:r>
            <a:r>
              <a:rPr lang="en-US" altLang="zh-CN" spc="-10" dirty="0">
                <a:solidFill>
                  <a:srgbClr val="FF0000"/>
                </a:solidFill>
                <a:latin typeface="Consolas"/>
                <a:cs typeface="Consolas"/>
              </a:rPr>
              <a:t>debug</a:t>
            </a:r>
            <a:r>
              <a:rPr lang="en-US" altLang="zh-CN" spc="-545" dirty="0">
                <a:solidFill>
                  <a:srgbClr val="FF0000"/>
                </a:solidFill>
                <a:latin typeface="Consolas"/>
                <a:cs typeface="Consolas"/>
              </a:rPr>
              <a:t> </a:t>
            </a:r>
            <a:r>
              <a:rPr lang="en-US" altLang="zh-CN" dirty="0">
                <a:solidFill>
                  <a:srgbClr val="FF0000"/>
                </a:solidFill>
                <a:latin typeface="Palatino Linotype"/>
                <a:cs typeface="Palatino Linotype"/>
              </a:rPr>
              <a:t>is</a:t>
            </a:r>
            <a:r>
              <a:rPr lang="en-US" altLang="zh-CN" spc="-30" dirty="0">
                <a:solidFill>
                  <a:srgbClr val="FF0000"/>
                </a:solidFill>
                <a:latin typeface="Palatino Linotype"/>
                <a:cs typeface="Palatino Linotype"/>
              </a:rPr>
              <a:t> </a:t>
            </a:r>
            <a:r>
              <a:rPr lang="en-US" altLang="zh-CN" dirty="0">
                <a:solidFill>
                  <a:srgbClr val="FF0000"/>
                </a:solidFill>
                <a:latin typeface="Palatino Linotype"/>
                <a:cs typeface="Palatino Linotype"/>
              </a:rPr>
              <a:t>a</a:t>
            </a:r>
            <a:r>
              <a:rPr lang="en-US" altLang="zh-CN" spc="-20" dirty="0">
                <a:solidFill>
                  <a:srgbClr val="FF0000"/>
                </a:solidFill>
                <a:latin typeface="Palatino Linotype"/>
                <a:cs typeface="Palatino Linotype"/>
              </a:rPr>
              <a:t> </a:t>
            </a:r>
            <a:r>
              <a:rPr lang="en-US" altLang="zh-CN" dirty="0">
                <a:solidFill>
                  <a:srgbClr val="FF0000"/>
                </a:solidFill>
                <a:latin typeface="Palatino Linotype"/>
                <a:cs typeface="Palatino Linotype"/>
              </a:rPr>
              <a:t>constant</a:t>
            </a:r>
            <a:r>
              <a:rPr lang="en-US" altLang="zh-CN" spc="-25" dirty="0">
                <a:solidFill>
                  <a:srgbClr val="FF0000"/>
                </a:solidFill>
                <a:latin typeface="Palatino Linotype"/>
                <a:cs typeface="Palatino Linotype"/>
              </a:rPr>
              <a:t> 0?</a:t>
            </a:r>
            <a:endParaRPr lang="en-US" altLang="zh-CN" dirty="0">
              <a:solidFill>
                <a:sysClr val="windowText" lastClr="000000"/>
              </a:solidFill>
              <a:latin typeface="Palatino Linotype"/>
              <a:cs typeface="Palatino Linotype"/>
            </a:endParaRPr>
          </a:p>
          <a:p>
            <a:r>
              <a:rPr lang="zh-CN" altLang="zh-CN" sz="1200" kern="1200" dirty="0">
                <a:solidFill>
                  <a:schemeClr val="tx1"/>
                </a:solidFill>
                <a:effectLst/>
                <a:latin typeface="+mn-lt"/>
                <a:ea typeface="+mn-ea"/>
                <a:cs typeface="+mn-cs"/>
              </a:rPr>
              <a:t>如果在程序开始时将</a:t>
            </a:r>
            <a:r>
              <a:rPr lang="en-US" altLang="zh-CN" sz="1200" kern="1200" dirty="0">
                <a:solidFill>
                  <a:schemeClr val="tx1"/>
                </a:solidFill>
                <a:effectLst/>
                <a:latin typeface="+mn-lt"/>
                <a:ea typeface="+mn-ea"/>
                <a:cs typeface="+mn-cs"/>
              </a:rPr>
              <a:t> debug </a:t>
            </a:r>
            <a:r>
              <a:rPr lang="zh-CN" altLang="zh-CN" sz="1200" kern="1200" dirty="0">
                <a:solidFill>
                  <a:schemeClr val="tx1"/>
                </a:solidFill>
                <a:effectLst/>
                <a:latin typeface="+mn-lt"/>
                <a:ea typeface="+mn-ea"/>
                <a:cs typeface="+mn-cs"/>
              </a:rPr>
              <a:t>设置为</a:t>
            </a:r>
            <a:r>
              <a:rPr lang="en-US" altLang="zh-CN" sz="1200" kern="1200" dirty="0">
                <a:solidFill>
                  <a:schemeClr val="tx1"/>
                </a:solidFill>
                <a:effectLst/>
                <a:latin typeface="+mn-lt"/>
                <a:ea typeface="+mn-ea"/>
                <a:cs typeface="+mn-cs"/>
              </a:rPr>
              <a:t> 0</a:t>
            </a:r>
            <a:r>
              <a:rPr lang="zh-CN" altLang="zh-CN" sz="1200" kern="1200" dirty="0">
                <a:solidFill>
                  <a:schemeClr val="tx1"/>
                </a:solidFill>
                <a:effectLst/>
                <a:latin typeface="+mn-lt"/>
                <a:ea typeface="+mn-ea"/>
                <a:cs typeface="+mn-cs"/>
              </a:rPr>
              <a:t>，则常量传播会将此序列转换为</a:t>
            </a:r>
            <a:endParaRPr lang="en-US"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if 0 != 1 </a:t>
            </a:r>
            <a:r>
              <a:rPr lang="en-US" altLang="zh-CN" sz="1200" kern="1200" dirty="0" err="1">
                <a:solidFill>
                  <a:schemeClr val="tx1"/>
                </a:solidFill>
                <a:effectLst/>
                <a:latin typeface="+mn-lt"/>
                <a:ea typeface="+mn-ea"/>
                <a:cs typeface="+mn-cs"/>
              </a:rPr>
              <a:t>goto</a:t>
            </a:r>
            <a:r>
              <a:rPr lang="en-US" altLang="zh-CN" sz="1200" kern="1200" dirty="0">
                <a:solidFill>
                  <a:schemeClr val="tx1"/>
                </a:solidFill>
                <a:effectLst/>
                <a:latin typeface="+mn-lt"/>
                <a:ea typeface="+mn-ea"/>
                <a:cs typeface="+mn-cs"/>
              </a:rPr>
              <a:t> L2 </a:t>
            </a:r>
          </a:p>
          <a:p>
            <a:r>
              <a:rPr lang="en-US" altLang="zh-CN" sz="1200" dirty="0">
                <a:solidFill>
                  <a:sysClr val="windowText" lastClr="000000"/>
                </a:solidFill>
                <a:latin typeface="Consolas"/>
                <a:cs typeface="Consolas"/>
              </a:rPr>
              <a:t>     print</a:t>
            </a:r>
            <a:r>
              <a:rPr lang="en-US" altLang="zh-CN" sz="1200" spc="-10" dirty="0">
                <a:solidFill>
                  <a:sysClr val="windowText" lastClr="000000"/>
                </a:solidFill>
                <a:latin typeface="Consolas"/>
                <a:cs typeface="Consolas"/>
              </a:rPr>
              <a:t> </a:t>
            </a:r>
            <a:r>
              <a:rPr lang="en-US" altLang="zh-CN" sz="1200" dirty="0">
                <a:solidFill>
                  <a:sysClr val="windowText" lastClr="000000"/>
                </a:solidFill>
                <a:latin typeface="Consolas"/>
                <a:cs typeface="Consolas"/>
              </a:rPr>
              <a:t>debugging</a:t>
            </a:r>
            <a:r>
              <a:rPr lang="en-US" altLang="zh-CN" sz="1200" spc="-10" dirty="0">
                <a:solidFill>
                  <a:sysClr val="windowText" lastClr="000000"/>
                </a:solidFill>
                <a:latin typeface="Consolas"/>
                <a:cs typeface="Consolas"/>
              </a:rPr>
              <a:t> information </a:t>
            </a:r>
          </a:p>
          <a:p>
            <a:r>
              <a:rPr lang="en-US" altLang="zh-CN" sz="1200" kern="1200" dirty="0">
                <a:solidFill>
                  <a:schemeClr val="tx1"/>
                </a:solidFill>
                <a:effectLst/>
                <a:latin typeface="+mn-lt"/>
                <a:ea typeface="+mn-ea"/>
                <a:cs typeface="+mn-cs"/>
              </a:rPr>
              <a:t>L2: </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现在，第一条语句的计算结果始终为</a:t>
            </a:r>
            <a:r>
              <a:rPr lang="en-US" altLang="zh-CN" sz="1200" kern="1200" dirty="0">
                <a:solidFill>
                  <a:schemeClr val="tx1"/>
                </a:solidFill>
                <a:effectLst/>
                <a:latin typeface="+mn-lt"/>
                <a:ea typeface="+mn-ea"/>
                <a:cs typeface="+mn-cs"/>
              </a:rPr>
              <a:t> true</a:t>
            </a:r>
            <a:r>
              <a:rPr lang="zh-CN" altLang="zh-CN" sz="1200" kern="1200" dirty="0">
                <a:solidFill>
                  <a:schemeClr val="tx1"/>
                </a:solidFill>
                <a:effectLst/>
                <a:latin typeface="+mn-lt"/>
                <a:ea typeface="+mn-ea"/>
                <a:cs typeface="+mn-cs"/>
              </a:rPr>
              <a:t>，因此该语句可以用</a:t>
            </a:r>
            <a:r>
              <a:rPr lang="en-US" altLang="zh-CN" sz="1200" kern="1200" dirty="0">
                <a:solidFill>
                  <a:schemeClr val="tx1"/>
                </a:solidFill>
                <a:effectLst/>
                <a:latin typeface="+mn-lt"/>
                <a:ea typeface="+mn-ea"/>
                <a:cs typeface="+mn-cs"/>
              </a:rPr>
              <a:t> </a:t>
            </a:r>
            <a:r>
              <a:rPr lang="en-US" altLang="zh-CN" sz="1200" kern="1200" dirty="0" err="1">
                <a:solidFill>
                  <a:schemeClr val="tx1"/>
                </a:solidFill>
                <a:effectLst/>
                <a:latin typeface="+mn-lt"/>
                <a:ea typeface="+mn-ea"/>
                <a:cs typeface="+mn-cs"/>
              </a:rPr>
              <a:t>goto</a:t>
            </a:r>
            <a:r>
              <a:rPr lang="en-US" altLang="zh-CN" sz="1200" kern="1200" dirty="0">
                <a:solidFill>
                  <a:schemeClr val="tx1"/>
                </a:solidFill>
                <a:effectLst/>
                <a:latin typeface="+mn-lt"/>
                <a:ea typeface="+mn-ea"/>
                <a:cs typeface="+mn-cs"/>
              </a:rPr>
              <a:t> L2 </a:t>
            </a:r>
            <a:r>
              <a:rPr lang="zh-CN" altLang="zh-CN" sz="1200" kern="1200" dirty="0">
                <a:solidFill>
                  <a:schemeClr val="tx1"/>
                </a:solidFill>
                <a:effectLst/>
                <a:latin typeface="+mn-lt"/>
                <a:ea typeface="+mn-ea"/>
                <a:cs typeface="+mn-cs"/>
              </a:rPr>
              <a:t>替换。那么所有打印调试信息的语句都是不可达的，可以被逐一删除。</a:t>
            </a:r>
          </a:p>
          <a:p>
            <a:endParaRPr lang="zh-CN" altLang="en-US"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75</a:t>
            </a:fld>
            <a:endParaRPr lang="zh-CN" altLang="en-US"/>
          </a:p>
        </p:txBody>
      </p:sp>
    </p:spTree>
    <p:extLst>
      <p:ext uri="{BB962C8B-B14F-4D97-AF65-F5344CB8AC3E}">
        <p14:creationId xmlns:p14="http://schemas.microsoft.com/office/powerpoint/2010/main" val="1220080649"/>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简单的中间代码生成算法经常产生目标为无条件跳转指令的无条件跳转指令，到达条件跳转的无条件跳转指令，或者达到无条件跳转指令的条件跳转指令。这些不必要的跳转指令可以通过以下类型的窥孔优化在中间代码或目标代码中消除。我们可以替换顺序</a:t>
            </a:r>
            <a:endParaRPr lang="en-US"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a:t>
            </a:r>
            <a:r>
              <a:rPr lang="en-US" altLang="zh-CN" sz="1200" kern="1200" dirty="0" err="1">
                <a:solidFill>
                  <a:schemeClr val="tx1"/>
                </a:solidFill>
                <a:effectLst/>
                <a:latin typeface="+mn-lt"/>
                <a:ea typeface="+mn-ea"/>
                <a:cs typeface="+mn-cs"/>
              </a:rPr>
              <a:t>goto</a:t>
            </a:r>
            <a:r>
              <a:rPr lang="en-US" altLang="zh-CN" sz="1200" kern="1200" dirty="0">
                <a:solidFill>
                  <a:schemeClr val="tx1"/>
                </a:solidFill>
                <a:effectLst/>
                <a:latin typeface="+mn-lt"/>
                <a:ea typeface="+mn-ea"/>
                <a:cs typeface="+mn-cs"/>
              </a:rPr>
              <a:t> L1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kern="1200" dirty="0">
                <a:solidFill>
                  <a:schemeClr val="tx1"/>
                </a:solidFill>
                <a:effectLst/>
                <a:latin typeface="+mn-lt"/>
                <a:ea typeface="+mn-ea"/>
                <a:cs typeface="+mn-cs"/>
              </a:rPr>
              <a:t>      ... </a:t>
            </a:r>
          </a:p>
          <a:p>
            <a:r>
              <a:rPr lang="en-US" altLang="zh-CN" sz="1200" kern="1200" dirty="0">
                <a:solidFill>
                  <a:schemeClr val="tx1"/>
                </a:solidFill>
                <a:effectLst/>
                <a:latin typeface="+mn-lt"/>
                <a:ea typeface="+mn-ea"/>
                <a:cs typeface="+mn-cs"/>
              </a:rPr>
              <a:t>L1: </a:t>
            </a:r>
            <a:r>
              <a:rPr lang="en-US" altLang="zh-CN" sz="1200" kern="1200" dirty="0" err="1">
                <a:solidFill>
                  <a:schemeClr val="tx1"/>
                </a:solidFill>
                <a:effectLst/>
                <a:latin typeface="+mn-lt"/>
                <a:ea typeface="+mn-ea"/>
                <a:cs typeface="+mn-cs"/>
              </a:rPr>
              <a:t>goto</a:t>
            </a:r>
            <a:r>
              <a:rPr lang="en-US" altLang="zh-CN" sz="1200" kern="1200" dirty="0">
                <a:solidFill>
                  <a:schemeClr val="tx1"/>
                </a:solidFill>
                <a:effectLst/>
                <a:latin typeface="+mn-lt"/>
                <a:ea typeface="+mn-ea"/>
                <a:cs typeface="+mn-cs"/>
              </a:rPr>
              <a:t> L2</a:t>
            </a:r>
          </a:p>
          <a:p>
            <a:r>
              <a:rPr lang="zh-CN" altLang="en-US" sz="1200" kern="1200" dirty="0">
                <a:solidFill>
                  <a:schemeClr val="tx1"/>
                </a:solidFill>
                <a:effectLst/>
                <a:latin typeface="+mn-lt"/>
                <a:ea typeface="+mn-ea"/>
                <a:cs typeface="+mn-cs"/>
              </a:rPr>
              <a:t>替换为</a:t>
            </a:r>
            <a:endParaRPr lang="en-US"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a:t>
            </a:r>
            <a:r>
              <a:rPr lang="en-US" altLang="zh-CN" sz="1200" kern="1200" dirty="0" err="1">
                <a:solidFill>
                  <a:schemeClr val="tx1"/>
                </a:solidFill>
                <a:effectLst/>
                <a:latin typeface="+mn-lt"/>
                <a:ea typeface="+mn-ea"/>
                <a:cs typeface="+mn-cs"/>
              </a:rPr>
              <a:t>goto</a:t>
            </a:r>
            <a:r>
              <a:rPr lang="en-US" altLang="zh-CN" sz="1200" kern="1200" dirty="0">
                <a:solidFill>
                  <a:schemeClr val="tx1"/>
                </a:solidFill>
                <a:effectLst/>
                <a:latin typeface="+mn-lt"/>
                <a:ea typeface="+mn-ea"/>
                <a:cs typeface="+mn-cs"/>
              </a:rPr>
              <a:t> L2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kern="1200" dirty="0">
                <a:solidFill>
                  <a:schemeClr val="tx1"/>
                </a:solidFill>
                <a:effectLst/>
                <a:latin typeface="+mn-lt"/>
                <a:ea typeface="+mn-ea"/>
                <a:cs typeface="+mn-cs"/>
              </a:rPr>
              <a:t>      ... </a:t>
            </a:r>
          </a:p>
          <a:p>
            <a:r>
              <a:rPr lang="en-US" altLang="zh-CN" sz="1200" kern="1200" dirty="0">
                <a:solidFill>
                  <a:schemeClr val="tx1"/>
                </a:solidFill>
                <a:effectLst/>
                <a:latin typeface="+mn-lt"/>
                <a:ea typeface="+mn-ea"/>
                <a:cs typeface="+mn-cs"/>
              </a:rPr>
              <a:t>L1: </a:t>
            </a:r>
            <a:r>
              <a:rPr lang="en-US" altLang="zh-CN" sz="1200" kern="1200" dirty="0" err="1">
                <a:solidFill>
                  <a:schemeClr val="tx1"/>
                </a:solidFill>
                <a:effectLst/>
                <a:latin typeface="+mn-lt"/>
                <a:ea typeface="+mn-ea"/>
                <a:cs typeface="+mn-cs"/>
              </a:rPr>
              <a:t>goto</a:t>
            </a:r>
            <a:r>
              <a:rPr lang="en-US" altLang="zh-CN" sz="1200" kern="1200" dirty="0">
                <a:solidFill>
                  <a:schemeClr val="tx1"/>
                </a:solidFill>
                <a:effectLst/>
                <a:latin typeface="+mn-lt"/>
                <a:ea typeface="+mn-ea"/>
                <a:cs typeface="+mn-cs"/>
              </a:rPr>
              <a:t> L2 </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如果现在没有跳转到</a:t>
            </a:r>
            <a:r>
              <a:rPr lang="en-US" altLang="zh-CN" sz="1200" kern="1200" dirty="0">
                <a:solidFill>
                  <a:schemeClr val="tx1"/>
                </a:solidFill>
                <a:effectLst/>
                <a:latin typeface="+mn-lt"/>
                <a:ea typeface="+mn-ea"/>
                <a:cs typeface="+mn-cs"/>
              </a:rPr>
              <a:t> L1</a:t>
            </a:r>
            <a:r>
              <a:rPr lang="zh-CN" altLang="zh-CN" sz="1200" kern="1200" dirty="0">
                <a:solidFill>
                  <a:schemeClr val="tx1"/>
                </a:solidFill>
                <a:effectLst/>
                <a:latin typeface="+mn-lt"/>
                <a:ea typeface="+mn-ea"/>
                <a:cs typeface="+mn-cs"/>
              </a:rPr>
              <a:t>的指令，并且语句</a:t>
            </a:r>
            <a:endParaRPr lang="en-US"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L1: </a:t>
            </a:r>
            <a:r>
              <a:rPr lang="en-US" altLang="zh-CN" sz="1200" kern="1200" dirty="0" err="1">
                <a:solidFill>
                  <a:schemeClr val="tx1"/>
                </a:solidFill>
                <a:effectLst/>
                <a:latin typeface="+mn-lt"/>
                <a:ea typeface="+mn-ea"/>
                <a:cs typeface="+mn-cs"/>
              </a:rPr>
              <a:t>goto</a:t>
            </a:r>
            <a:r>
              <a:rPr lang="en-US" altLang="zh-CN" sz="1200" kern="1200" dirty="0">
                <a:solidFill>
                  <a:schemeClr val="tx1"/>
                </a:solidFill>
                <a:effectLst/>
                <a:latin typeface="+mn-lt"/>
                <a:ea typeface="+mn-ea"/>
                <a:cs typeface="+mn-cs"/>
              </a:rPr>
              <a:t> L2</a:t>
            </a:r>
            <a:r>
              <a:rPr lang="zh-CN" altLang="zh-CN" sz="1200" kern="1200" dirty="0">
                <a:solidFill>
                  <a:schemeClr val="tx1"/>
                </a:solidFill>
                <a:effectLst/>
                <a:latin typeface="+mn-lt"/>
                <a:ea typeface="+mn-ea"/>
                <a:cs typeface="+mn-cs"/>
              </a:rPr>
              <a:t>之前是一个无条件跳转指令，则可以消除这个语句。</a:t>
            </a:r>
          </a:p>
          <a:p>
            <a:r>
              <a:rPr lang="zh-CN" altLang="zh-CN" sz="1200" kern="1200" dirty="0">
                <a:solidFill>
                  <a:schemeClr val="tx1"/>
                </a:solidFill>
                <a:effectLst/>
                <a:latin typeface="+mn-lt"/>
                <a:ea typeface="+mn-ea"/>
                <a:cs typeface="+mn-cs"/>
              </a:rPr>
              <a:t>类似地，序列</a:t>
            </a:r>
            <a:endParaRPr lang="en-US"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if a &lt; b </a:t>
            </a:r>
            <a:r>
              <a:rPr lang="en-US" altLang="zh-CN" sz="1200" kern="1200" dirty="0" err="1">
                <a:solidFill>
                  <a:schemeClr val="tx1"/>
                </a:solidFill>
                <a:effectLst/>
                <a:latin typeface="+mn-lt"/>
                <a:ea typeface="+mn-ea"/>
                <a:cs typeface="+mn-cs"/>
              </a:rPr>
              <a:t>goto</a:t>
            </a:r>
            <a:r>
              <a:rPr lang="en-US" altLang="zh-CN" sz="1200" kern="1200" dirty="0">
                <a:solidFill>
                  <a:schemeClr val="tx1"/>
                </a:solidFill>
                <a:effectLst/>
                <a:latin typeface="+mn-lt"/>
                <a:ea typeface="+mn-ea"/>
                <a:cs typeface="+mn-cs"/>
              </a:rPr>
              <a:t> L1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kern="1200" dirty="0">
                <a:solidFill>
                  <a:schemeClr val="tx1"/>
                </a:solidFill>
                <a:effectLst/>
                <a:latin typeface="+mn-lt"/>
                <a:ea typeface="+mn-ea"/>
                <a:cs typeface="+mn-cs"/>
              </a:rPr>
              <a:t>      ... </a:t>
            </a:r>
          </a:p>
          <a:p>
            <a:r>
              <a:rPr lang="en-US" altLang="zh-CN" sz="1200" kern="1200" dirty="0">
                <a:solidFill>
                  <a:schemeClr val="tx1"/>
                </a:solidFill>
                <a:effectLst/>
                <a:latin typeface="+mn-lt"/>
                <a:ea typeface="+mn-ea"/>
                <a:cs typeface="+mn-cs"/>
              </a:rPr>
              <a:t>L1: </a:t>
            </a:r>
            <a:r>
              <a:rPr lang="en-US" altLang="zh-CN" sz="1200" kern="1200" dirty="0" err="1">
                <a:solidFill>
                  <a:schemeClr val="tx1"/>
                </a:solidFill>
                <a:effectLst/>
                <a:latin typeface="+mn-lt"/>
                <a:ea typeface="+mn-ea"/>
                <a:cs typeface="+mn-cs"/>
              </a:rPr>
              <a:t>goto</a:t>
            </a:r>
            <a:r>
              <a:rPr lang="en-US" altLang="zh-CN" sz="1200" kern="1200" dirty="0">
                <a:solidFill>
                  <a:schemeClr val="tx1"/>
                </a:solidFill>
                <a:effectLst/>
                <a:latin typeface="+mn-lt"/>
                <a:ea typeface="+mn-ea"/>
                <a:cs typeface="+mn-cs"/>
              </a:rPr>
              <a:t> L2 </a:t>
            </a:r>
          </a:p>
          <a:p>
            <a:r>
              <a:rPr lang="zh-CN" altLang="zh-CN" sz="1200" kern="1200" dirty="0">
                <a:solidFill>
                  <a:schemeClr val="tx1"/>
                </a:solidFill>
                <a:effectLst/>
                <a:latin typeface="+mn-lt"/>
                <a:ea typeface="+mn-ea"/>
                <a:cs typeface="+mn-cs"/>
              </a:rPr>
              <a:t>可以替换为序列</a:t>
            </a:r>
            <a:endParaRPr lang="en-US"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if a &lt; b </a:t>
            </a:r>
            <a:r>
              <a:rPr lang="en-US" altLang="zh-CN" sz="1200" kern="1200" dirty="0" err="1">
                <a:solidFill>
                  <a:schemeClr val="tx1"/>
                </a:solidFill>
                <a:effectLst/>
                <a:latin typeface="+mn-lt"/>
                <a:ea typeface="+mn-ea"/>
                <a:cs typeface="+mn-cs"/>
              </a:rPr>
              <a:t>goto</a:t>
            </a:r>
            <a:r>
              <a:rPr lang="en-US" altLang="zh-CN" sz="1200" kern="1200" dirty="0">
                <a:solidFill>
                  <a:schemeClr val="tx1"/>
                </a:solidFill>
                <a:effectLst/>
                <a:latin typeface="+mn-lt"/>
                <a:ea typeface="+mn-ea"/>
                <a:cs typeface="+mn-cs"/>
              </a:rPr>
              <a:t> L2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kern="1200" dirty="0">
                <a:solidFill>
                  <a:schemeClr val="tx1"/>
                </a:solidFill>
                <a:effectLst/>
                <a:latin typeface="+mn-lt"/>
                <a:ea typeface="+mn-ea"/>
                <a:cs typeface="+mn-cs"/>
              </a:rPr>
              <a:t>     ... </a:t>
            </a:r>
          </a:p>
          <a:p>
            <a:r>
              <a:rPr lang="en-US" altLang="zh-CN" sz="1200" kern="1200" dirty="0">
                <a:solidFill>
                  <a:schemeClr val="tx1"/>
                </a:solidFill>
                <a:effectLst/>
                <a:latin typeface="+mn-lt"/>
                <a:ea typeface="+mn-ea"/>
                <a:cs typeface="+mn-cs"/>
              </a:rPr>
              <a:t>L1: </a:t>
            </a:r>
            <a:r>
              <a:rPr lang="en-US" altLang="zh-CN" sz="1200" kern="1200" dirty="0" err="1">
                <a:solidFill>
                  <a:schemeClr val="tx1"/>
                </a:solidFill>
                <a:effectLst/>
                <a:latin typeface="+mn-lt"/>
                <a:ea typeface="+mn-ea"/>
                <a:cs typeface="+mn-cs"/>
              </a:rPr>
              <a:t>goto</a:t>
            </a:r>
            <a:r>
              <a:rPr lang="en-US" altLang="zh-CN" sz="1200" kern="1200" dirty="0">
                <a:solidFill>
                  <a:schemeClr val="tx1"/>
                </a:solidFill>
                <a:effectLst/>
                <a:latin typeface="+mn-lt"/>
                <a:ea typeface="+mn-ea"/>
                <a:cs typeface="+mn-cs"/>
              </a:rPr>
              <a:t> L2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solidFill>
                  <a:srgbClr val="FF0000"/>
                </a:solidFill>
                <a:latin typeface="Palatino Linotype"/>
                <a:cs typeface="Palatino Linotype"/>
              </a:rPr>
              <a:t>Can</a:t>
            </a:r>
            <a:r>
              <a:rPr lang="en-US" altLang="zh-CN" spc="-30" dirty="0">
                <a:solidFill>
                  <a:srgbClr val="FF0000"/>
                </a:solidFill>
                <a:latin typeface="Palatino Linotype"/>
                <a:cs typeface="Palatino Linotype"/>
              </a:rPr>
              <a:t> </a:t>
            </a:r>
            <a:r>
              <a:rPr lang="en-US" altLang="zh-CN" dirty="0">
                <a:solidFill>
                  <a:srgbClr val="FF0000"/>
                </a:solidFill>
                <a:latin typeface="Palatino Linotype"/>
                <a:cs typeface="Palatino Linotype"/>
              </a:rPr>
              <a:t>we</a:t>
            </a:r>
            <a:r>
              <a:rPr lang="en-US" altLang="zh-CN" spc="-25" dirty="0">
                <a:solidFill>
                  <a:srgbClr val="FF0000"/>
                </a:solidFill>
                <a:latin typeface="Palatino Linotype"/>
                <a:cs typeface="Palatino Linotype"/>
              </a:rPr>
              <a:t> </a:t>
            </a:r>
            <a:r>
              <a:rPr lang="en-US" altLang="zh-CN" dirty="0">
                <a:solidFill>
                  <a:srgbClr val="FF0000"/>
                </a:solidFill>
                <a:latin typeface="Palatino Linotype"/>
                <a:cs typeface="Palatino Linotype"/>
              </a:rPr>
              <a:t>further</a:t>
            </a:r>
            <a:r>
              <a:rPr lang="en-US" altLang="zh-CN" spc="-25" dirty="0">
                <a:solidFill>
                  <a:srgbClr val="FF0000"/>
                </a:solidFill>
                <a:latin typeface="Palatino Linotype"/>
                <a:cs typeface="Palatino Linotype"/>
              </a:rPr>
              <a:t> </a:t>
            </a:r>
            <a:r>
              <a:rPr lang="en-US" altLang="zh-CN" dirty="0">
                <a:solidFill>
                  <a:srgbClr val="FF0000"/>
                </a:solidFill>
                <a:latin typeface="Palatino Linotype"/>
                <a:cs typeface="Palatino Linotype"/>
              </a:rPr>
              <a:t>eliminate</a:t>
            </a:r>
            <a:r>
              <a:rPr lang="en-US" altLang="zh-CN" spc="-30" dirty="0">
                <a:solidFill>
                  <a:srgbClr val="FF0000"/>
                </a:solidFill>
                <a:latin typeface="Palatino Linotype"/>
                <a:cs typeface="Palatino Linotype"/>
              </a:rPr>
              <a:t> </a:t>
            </a:r>
            <a:r>
              <a:rPr lang="en-US" altLang="zh-CN" dirty="0">
                <a:solidFill>
                  <a:srgbClr val="FF0000"/>
                </a:solidFill>
                <a:latin typeface="Consolas"/>
                <a:cs typeface="Consolas"/>
              </a:rPr>
              <a:t>L1:</a:t>
            </a:r>
            <a:r>
              <a:rPr lang="en-US" altLang="zh-CN" spc="-60" dirty="0">
                <a:solidFill>
                  <a:srgbClr val="FF0000"/>
                </a:solidFill>
                <a:latin typeface="Consolas"/>
                <a:cs typeface="Consolas"/>
              </a:rPr>
              <a:t> </a:t>
            </a:r>
            <a:r>
              <a:rPr lang="en-US" altLang="zh-CN" dirty="0" err="1">
                <a:solidFill>
                  <a:srgbClr val="FF0000"/>
                </a:solidFill>
                <a:latin typeface="Consolas"/>
                <a:cs typeface="Consolas"/>
              </a:rPr>
              <a:t>goto</a:t>
            </a:r>
            <a:r>
              <a:rPr lang="en-US" altLang="zh-CN" spc="-65">
                <a:solidFill>
                  <a:srgbClr val="FF0000"/>
                </a:solidFill>
                <a:latin typeface="Consolas"/>
                <a:cs typeface="Consolas"/>
              </a:rPr>
              <a:t> </a:t>
            </a:r>
            <a:r>
              <a:rPr lang="en-US" altLang="zh-CN" spc="-25">
                <a:solidFill>
                  <a:srgbClr val="FF0000"/>
                </a:solidFill>
                <a:latin typeface="Consolas"/>
                <a:cs typeface="Consolas"/>
              </a:rPr>
              <a:t>L2</a:t>
            </a:r>
            <a:r>
              <a:rPr lang="en-US" altLang="zh-CN" spc="-25">
                <a:solidFill>
                  <a:srgbClr val="FF0000"/>
                </a:solidFill>
                <a:latin typeface="Palatino Linotype"/>
                <a:cs typeface="Palatino Linotype"/>
              </a:rPr>
              <a:t>?</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最后，假设只有一个达到</a:t>
            </a:r>
            <a:r>
              <a:rPr lang="en-US" altLang="zh-CN" sz="1200" kern="1200" dirty="0">
                <a:solidFill>
                  <a:schemeClr val="tx1"/>
                </a:solidFill>
                <a:effectLst/>
                <a:latin typeface="+mn-lt"/>
                <a:ea typeface="+mn-ea"/>
                <a:cs typeface="+mn-cs"/>
              </a:rPr>
              <a:t>L1</a:t>
            </a:r>
            <a:r>
              <a:rPr lang="zh-CN" altLang="zh-CN" sz="1200" kern="1200" dirty="0">
                <a:solidFill>
                  <a:schemeClr val="tx1"/>
                </a:solidFill>
                <a:effectLst/>
                <a:latin typeface="+mn-lt"/>
                <a:ea typeface="+mn-ea"/>
                <a:cs typeface="+mn-cs"/>
              </a:rPr>
              <a:t>的跳转指令，并且</a:t>
            </a:r>
            <a:r>
              <a:rPr lang="en-US" altLang="zh-CN" sz="1200" kern="1200" dirty="0">
                <a:solidFill>
                  <a:schemeClr val="tx1"/>
                </a:solidFill>
                <a:effectLst/>
                <a:latin typeface="+mn-lt"/>
                <a:ea typeface="+mn-ea"/>
                <a:cs typeface="+mn-cs"/>
              </a:rPr>
              <a:t> L1 </a:t>
            </a:r>
            <a:r>
              <a:rPr lang="zh-CN" altLang="zh-CN" sz="1200" kern="1200" dirty="0">
                <a:solidFill>
                  <a:schemeClr val="tx1"/>
                </a:solidFill>
                <a:effectLst/>
                <a:latin typeface="+mn-lt"/>
                <a:ea typeface="+mn-ea"/>
                <a:cs typeface="+mn-cs"/>
              </a:rPr>
              <a:t>之前有一个无条件跳转指令，那么序列</a:t>
            </a:r>
            <a:endParaRPr lang="en-US"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a:t>
            </a:r>
            <a:r>
              <a:rPr lang="en-US" altLang="zh-CN" sz="1200" kern="1200" dirty="0" err="1">
                <a:solidFill>
                  <a:schemeClr val="tx1"/>
                </a:solidFill>
                <a:effectLst/>
                <a:latin typeface="+mn-lt"/>
                <a:ea typeface="+mn-ea"/>
                <a:cs typeface="+mn-cs"/>
              </a:rPr>
              <a:t>goto</a:t>
            </a:r>
            <a:r>
              <a:rPr lang="en-US" altLang="zh-CN" sz="1200" kern="1200" dirty="0">
                <a:solidFill>
                  <a:schemeClr val="tx1"/>
                </a:solidFill>
                <a:effectLst/>
                <a:latin typeface="+mn-lt"/>
                <a:ea typeface="+mn-ea"/>
                <a:cs typeface="+mn-cs"/>
              </a:rPr>
              <a:t> L1</a:t>
            </a:r>
          </a:p>
          <a:p>
            <a:r>
              <a:rPr lang="en-US" altLang="zh-CN" sz="1200" kern="1200" dirty="0">
                <a:solidFill>
                  <a:schemeClr val="tx1"/>
                </a:solidFill>
                <a:effectLst/>
                <a:latin typeface="+mn-lt"/>
                <a:ea typeface="+mn-ea"/>
                <a:cs typeface="+mn-cs"/>
              </a:rPr>
              <a:t>      ... </a:t>
            </a:r>
          </a:p>
          <a:p>
            <a:r>
              <a:rPr lang="en-US" altLang="zh-CN" sz="1200" kern="1200" dirty="0">
                <a:solidFill>
                  <a:schemeClr val="tx1"/>
                </a:solidFill>
                <a:effectLst/>
                <a:latin typeface="+mn-lt"/>
                <a:ea typeface="+mn-ea"/>
                <a:cs typeface="+mn-cs"/>
              </a:rPr>
              <a:t>L1: if a &lt; b </a:t>
            </a:r>
            <a:r>
              <a:rPr lang="en-US" altLang="zh-CN" sz="1200" kern="1200" dirty="0" err="1">
                <a:solidFill>
                  <a:schemeClr val="tx1"/>
                </a:solidFill>
                <a:effectLst/>
                <a:latin typeface="+mn-lt"/>
                <a:ea typeface="+mn-ea"/>
                <a:cs typeface="+mn-cs"/>
              </a:rPr>
              <a:t>goto</a:t>
            </a:r>
            <a:r>
              <a:rPr lang="en-US" altLang="zh-CN" sz="1200" kern="1200" dirty="0">
                <a:solidFill>
                  <a:schemeClr val="tx1"/>
                </a:solidFill>
                <a:effectLst/>
                <a:latin typeface="+mn-lt"/>
                <a:ea typeface="+mn-ea"/>
                <a:cs typeface="+mn-cs"/>
              </a:rPr>
              <a:t> L2 </a:t>
            </a:r>
          </a:p>
          <a:p>
            <a:r>
              <a:rPr lang="en-US" altLang="zh-CN" sz="1200" kern="1200" dirty="0">
                <a:solidFill>
                  <a:schemeClr val="tx1"/>
                </a:solidFill>
                <a:effectLst/>
                <a:latin typeface="+mn-lt"/>
                <a:ea typeface="+mn-ea"/>
                <a:cs typeface="+mn-cs"/>
              </a:rPr>
              <a:t>L3: </a:t>
            </a:r>
          </a:p>
          <a:p>
            <a:r>
              <a:rPr lang="zh-CN" altLang="zh-CN" sz="1200" kern="1200" dirty="0">
                <a:solidFill>
                  <a:schemeClr val="tx1"/>
                </a:solidFill>
                <a:effectLst/>
                <a:latin typeface="+mn-lt"/>
                <a:ea typeface="+mn-ea"/>
                <a:cs typeface="+mn-cs"/>
              </a:rPr>
              <a:t>可以被替换为序列</a:t>
            </a:r>
            <a:endParaRPr lang="en-US"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if a &lt; b </a:t>
            </a:r>
            <a:r>
              <a:rPr lang="en-US" altLang="zh-CN" sz="1200" kern="1200" dirty="0" err="1">
                <a:solidFill>
                  <a:schemeClr val="tx1"/>
                </a:solidFill>
                <a:effectLst/>
                <a:latin typeface="+mn-lt"/>
                <a:ea typeface="+mn-ea"/>
                <a:cs typeface="+mn-cs"/>
              </a:rPr>
              <a:t>goto</a:t>
            </a:r>
            <a:r>
              <a:rPr lang="en-US" altLang="zh-CN" sz="1200" kern="1200" dirty="0">
                <a:solidFill>
                  <a:schemeClr val="tx1"/>
                </a:solidFill>
                <a:effectLst/>
                <a:latin typeface="+mn-lt"/>
                <a:ea typeface="+mn-ea"/>
                <a:cs typeface="+mn-cs"/>
              </a:rPr>
              <a:t> L2 </a:t>
            </a:r>
          </a:p>
          <a:p>
            <a:r>
              <a:rPr lang="en-US" altLang="zh-CN" sz="1200" kern="1200" dirty="0">
                <a:solidFill>
                  <a:schemeClr val="tx1"/>
                </a:solidFill>
                <a:effectLst/>
                <a:latin typeface="+mn-lt"/>
                <a:ea typeface="+mn-ea"/>
                <a:cs typeface="+mn-cs"/>
              </a:rPr>
              <a:t>    </a:t>
            </a:r>
            <a:r>
              <a:rPr lang="en-US" altLang="zh-CN" sz="1200" kern="1200" dirty="0" err="1">
                <a:solidFill>
                  <a:schemeClr val="tx1"/>
                </a:solidFill>
                <a:effectLst/>
                <a:latin typeface="+mn-lt"/>
                <a:ea typeface="+mn-ea"/>
                <a:cs typeface="+mn-cs"/>
              </a:rPr>
              <a:t>goto</a:t>
            </a:r>
            <a:r>
              <a:rPr lang="en-US" altLang="zh-CN" sz="1200" kern="1200" dirty="0">
                <a:solidFill>
                  <a:schemeClr val="tx1"/>
                </a:solidFill>
                <a:effectLst/>
                <a:latin typeface="+mn-lt"/>
                <a:ea typeface="+mn-ea"/>
                <a:cs typeface="+mn-cs"/>
              </a:rPr>
              <a:t> L3</a:t>
            </a:r>
          </a:p>
          <a:p>
            <a:r>
              <a:rPr lang="en-US" altLang="zh-CN" sz="1200" kern="1200" dirty="0">
                <a:solidFill>
                  <a:schemeClr val="tx1"/>
                </a:solidFill>
                <a:effectLst/>
                <a:latin typeface="+mn-lt"/>
                <a:ea typeface="+mn-ea"/>
                <a:cs typeface="+mn-cs"/>
              </a:rPr>
              <a:t>    ... </a:t>
            </a:r>
          </a:p>
          <a:p>
            <a:r>
              <a:rPr lang="en-US" altLang="zh-CN" sz="1200" kern="1200" dirty="0">
                <a:solidFill>
                  <a:schemeClr val="tx1"/>
                </a:solidFill>
                <a:effectLst/>
                <a:latin typeface="+mn-lt"/>
                <a:ea typeface="+mn-ea"/>
                <a:cs typeface="+mn-cs"/>
              </a:rPr>
              <a:t>L3: </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虽然两个序列中的指令数量相同，但</a:t>
            </a:r>
            <a:r>
              <a:rPr lang="zh-CN" altLang="en-US" sz="1200" kern="1200" dirty="0">
                <a:solidFill>
                  <a:schemeClr val="tx1"/>
                </a:solidFill>
                <a:effectLst/>
                <a:latin typeface="+mn-lt"/>
                <a:ea typeface="+mn-ea"/>
                <a:cs typeface="+mn-cs"/>
              </a:rPr>
              <a:t>在</a:t>
            </a:r>
            <a:r>
              <a:rPr lang="zh-CN" altLang="zh-CN" sz="1200" kern="1200" dirty="0">
                <a:solidFill>
                  <a:schemeClr val="tx1"/>
                </a:solidFill>
                <a:effectLst/>
                <a:latin typeface="+mn-lt"/>
                <a:ea typeface="+mn-ea"/>
                <a:cs typeface="+mn-cs"/>
              </a:rPr>
              <a:t>第二个序列我们有时</a:t>
            </a:r>
            <a:r>
              <a:rPr lang="zh-CN" altLang="en-US" sz="1200" kern="1200" dirty="0">
                <a:solidFill>
                  <a:schemeClr val="tx1"/>
                </a:solidFill>
                <a:effectLst/>
                <a:latin typeface="+mn-lt"/>
                <a:ea typeface="+mn-ea"/>
                <a:cs typeface="+mn-cs"/>
              </a:rPr>
              <a:t>可以</a:t>
            </a:r>
            <a:r>
              <a:rPr lang="zh-CN" altLang="zh-CN" sz="1200" kern="1200" dirty="0">
                <a:solidFill>
                  <a:schemeClr val="tx1"/>
                </a:solidFill>
                <a:effectLst/>
                <a:latin typeface="+mn-lt"/>
                <a:ea typeface="+mn-ea"/>
                <a:cs typeface="+mn-cs"/>
              </a:rPr>
              <a:t>跳过无条件跳转</a:t>
            </a:r>
            <a:r>
              <a:rPr lang="zh-CN" altLang="en-US" sz="1200" kern="1200" dirty="0">
                <a:solidFill>
                  <a:schemeClr val="tx1"/>
                </a:solidFill>
                <a:effectLst/>
                <a:latin typeface="+mn-lt"/>
                <a:ea typeface="+mn-ea"/>
                <a:cs typeface="+mn-cs"/>
              </a:rPr>
              <a:t>指令</a:t>
            </a:r>
            <a:r>
              <a:rPr lang="zh-CN" altLang="zh-CN" sz="1200" kern="1200" dirty="0">
                <a:solidFill>
                  <a:schemeClr val="tx1"/>
                </a:solidFill>
                <a:effectLst/>
                <a:latin typeface="+mn-lt"/>
                <a:ea typeface="+mn-ea"/>
                <a:cs typeface="+mn-cs"/>
              </a:rPr>
              <a:t>，但</a:t>
            </a:r>
            <a:r>
              <a:rPr lang="zh-CN" altLang="en-US" sz="1200" kern="1200" dirty="0">
                <a:solidFill>
                  <a:schemeClr val="tx1"/>
                </a:solidFill>
                <a:effectLst/>
                <a:latin typeface="+mn-lt"/>
                <a:ea typeface="+mn-ea"/>
                <a:cs typeface="+mn-cs"/>
              </a:rPr>
              <a:t>在</a:t>
            </a:r>
            <a:r>
              <a:rPr lang="zh-CN" altLang="zh-CN" sz="1200" kern="1200" dirty="0">
                <a:solidFill>
                  <a:schemeClr val="tx1"/>
                </a:solidFill>
                <a:effectLst/>
                <a:latin typeface="+mn-lt"/>
                <a:ea typeface="+mn-ea"/>
                <a:cs typeface="+mn-cs"/>
              </a:rPr>
              <a:t>第一个序列中的</a:t>
            </a:r>
            <a:r>
              <a:rPr lang="zh-CN" altLang="en-US" sz="1200" kern="1200" dirty="0">
                <a:solidFill>
                  <a:schemeClr val="tx1"/>
                </a:solidFill>
                <a:effectLst/>
                <a:latin typeface="+mn-lt"/>
                <a:ea typeface="+mn-ea"/>
                <a:cs typeface="+mn-cs"/>
              </a:rPr>
              <a:t>却不能</a:t>
            </a:r>
            <a:r>
              <a:rPr lang="zh-CN" altLang="zh-CN" sz="1200" kern="1200" dirty="0">
                <a:solidFill>
                  <a:schemeClr val="tx1"/>
                </a:solidFill>
                <a:effectLst/>
                <a:latin typeface="+mn-lt"/>
                <a:ea typeface="+mn-ea"/>
                <a:cs typeface="+mn-cs"/>
              </a:rPr>
              <a:t>。因此，第二个序列的执行时间优于第一个序列</a:t>
            </a:r>
            <a:r>
              <a:rPr lang="zh-CN" altLang="en-US" sz="1200" kern="1200" dirty="0">
                <a:solidFill>
                  <a:schemeClr val="tx1"/>
                </a:solidFill>
                <a:effectLst/>
                <a:latin typeface="+mn-lt"/>
                <a:ea typeface="+mn-ea"/>
                <a:cs typeface="+mn-cs"/>
              </a:rPr>
              <a:t>的执行时间</a:t>
            </a:r>
            <a:r>
              <a:rPr lang="zh-CN" altLang="zh-CN" sz="1200" kern="1200" dirty="0">
                <a:solidFill>
                  <a:schemeClr val="tx1"/>
                </a:solidFill>
                <a:effectLst/>
                <a:latin typeface="+mn-lt"/>
                <a:ea typeface="+mn-ea"/>
                <a:cs typeface="+mn-cs"/>
              </a:rPr>
              <a:t>。</a:t>
            </a:r>
          </a:p>
          <a:p>
            <a:endParaRPr lang="zh-CN" altLang="en-US"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76</a:t>
            </a:fld>
            <a:endParaRPr lang="zh-CN" altLang="en-US"/>
          </a:p>
        </p:txBody>
      </p:sp>
    </p:spTree>
    <p:extLst>
      <p:ext uri="{BB962C8B-B14F-4D97-AF65-F5344CB8AC3E}">
        <p14:creationId xmlns:p14="http://schemas.microsoft.com/office/powerpoint/2010/main" val="4163703343"/>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77</a:t>
            </a:fld>
            <a:endParaRPr lang="zh-CN" altLang="en-US"/>
          </a:p>
        </p:txBody>
      </p:sp>
    </p:spTree>
    <p:extLst>
      <p:ext uri="{BB962C8B-B14F-4D97-AF65-F5344CB8AC3E}">
        <p14:creationId xmlns:p14="http://schemas.microsoft.com/office/powerpoint/2010/main" val="886642866"/>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仅涉及寄存器运算分量的指令比涉及存储器运算分量的指令更快。在现代机器上，处理器速度通常比内存速度快一个数量级或更高。因此，寄存器的有效利用对于生成良好的代码至关重要。本节介绍了各种策略，用于在程序中的每个点决定哪些值应驻留在寄存器中（寄存器分配）以及各个值应驻留在哪个寄存器中（寄存器指派）。</a:t>
            </a:r>
          </a:p>
          <a:p>
            <a:endParaRPr lang="zh-CN" altLang="en-US"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78</a:t>
            </a:fld>
            <a:endParaRPr lang="zh-CN" altLang="en-US"/>
          </a:p>
        </p:txBody>
      </p:sp>
    </p:spTree>
    <p:extLst>
      <p:ext uri="{BB962C8B-B14F-4D97-AF65-F5344CB8AC3E}">
        <p14:creationId xmlns:p14="http://schemas.microsoft.com/office/powerpoint/2010/main" val="2276934135"/>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寄存器分配和赋值的一种方法是将目标程序中的特定值分配给特定的寄存器。例如，我们可以决定将基地址分配给一组寄存器，将算术计算分配给另一组，栈顶指针分配给一个固定寄存器，等等。</a:t>
            </a:r>
          </a:p>
          <a:p>
            <a:r>
              <a:rPr lang="zh-CN" altLang="zh-CN" sz="1200" kern="1200" dirty="0">
                <a:solidFill>
                  <a:schemeClr val="tx1"/>
                </a:solidFill>
                <a:effectLst/>
                <a:latin typeface="+mn-lt"/>
                <a:ea typeface="+mn-ea"/>
                <a:cs typeface="+mn-cs"/>
              </a:rPr>
              <a:t>这种方法的优点是简化了代码生成器的设计。但因为它的应用有太多限制，所以寄存器的使用效率低下；某些被占用的寄存器可能在大部分代码运行中未使用，同时却不得不生成很多不必要的而其他寄存器的加载和保存运算指令。然而，在大多数计算环境中还是要保留一些寄存器，这些被保留的寄存器可以被用作基址寄存器、堆栈指针寄存器或其他类似的用途，其他寄存器则由代码生成器在它认为适当的时候使用。</a:t>
            </a:r>
          </a:p>
          <a:p>
            <a:endParaRPr lang="zh-CN" altLang="en-US"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79</a:t>
            </a:fld>
            <a:endParaRPr lang="zh-CN" altLang="en-US"/>
          </a:p>
        </p:txBody>
      </p:sp>
    </p:spTree>
    <p:extLst>
      <p:ext uri="{BB962C8B-B14F-4D97-AF65-F5344CB8AC3E}">
        <p14:creationId xmlns:p14="http://schemas.microsoft.com/office/powerpoint/2010/main" val="469032978"/>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第</a:t>
            </a:r>
            <a:r>
              <a:rPr lang="en-US" altLang="zh-CN" sz="1200" kern="1200" dirty="0">
                <a:solidFill>
                  <a:schemeClr val="tx1"/>
                </a:solidFill>
                <a:effectLst/>
                <a:latin typeface="+mn-lt"/>
                <a:ea typeface="+mn-ea"/>
                <a:cs typeface="+mn-cs"/>
              </a:rPr>
              <a:t> 8.6 </a:t>
            </a:r>
            <a:r>
              <a:rPr lang="zh-CN" altLang="zh-CN" sz="1200" kern="1200" dirty="0">
                <a:solidFill>
                  <a:schemeClr val="tx1"/>
                </a:solidFill>
                <a:effectLst/>
                <a:latin typeface="+mn-lt"/>
                <a:ea typeface="+mn-ea"/>
                <a:cs typeface="+mn-cs"/>
              </a:rPr>
              <a:t>节中的代码生成算法在单个基本块的运行期间使用寄存器来存放值。然而，在每个基本块的结尾处，所有活跃变量的值都被保存到内存中。为了省略一部分这样的保存及相应的存储指令，我们可以把一些寄存器指派给频繁使用的变量，并使得这些寄存器在不同基本块中的（即全局的）指派保持一致。</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由于程序大部分时间都花在它的内部循环上，因此一个自然的全局寄存器指派方法是尝试在整个循环中将频繁使用的值保留在固定寄存器中。暂时假设我们知道一个流图的循环结构，并且我们知道在基本块中计算的哪些值会在该块之外使用。下一章将介绍计算这些信息的技术。</a:t>
            </a:r>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全局寄存器分配的一种策略是分配一些固定数量的寄存器来保存每个内部循环中最活跃的值。不同循环中选择的值可能不同。尚未分配的寄存器可用于保存一个块的局部值，如第</a:t>
            </a:r>
            <a:r>
              <a:rPr lang="en-US" altLang="zh-CN" sz="1200" kern="1200" dirty="0">
                <a:solidFill>
                  <a:schemeClr val="tx1"/>
                </a:solidFill>
                <a:effectLst/>
                <a:latin typeface="+mn-lt"/>
                <a:ea typeface="+mn-ea"/>
                <a:cs typeface="+mn-cs"/>
              </a:rPr>
              <a:t> 8.6 </a:t>
            </a:r>
            <a:r>
              <a:rPr lang="zh-CN" altLang="zh-CN" sz="1200" kern="1200" dirty="0">
                <a:solidFill>
                  <a:schemeClr val="tx1"/>
                </a:solidFill>
                <a:effectLst/>
                <a:latin typeface="+mn-lt"/>
                <a:ea typeface="+mn-ea"/>
                <a:cs typeface="+mn-cs"/>
              </a:rPr>
              <a:t>节所示。这种方法的缺点是固定数量的寄存器并不总是恰好等于用于全局寄存器分配的最佳数量。然而，该方法实现起来很简单，并在</a:t>
            </a:r>
            <a:r>
              <a:rPr lang="en-US" altLang="zh-CN" sz="1200" kern="1200" dirty="0">
                <a:solidFill>
                  <a:schemeClr val="tx1"/>
                </a:solidFill>
                <a:effectLst/>
                <a:latin typeface="+mn-lt"/>
                <a:ea typeface="+mn-ea"/>
                <a:cs typeface="+mn-cs"/>
              </a:rPr>
              <a:t> Fortran H </a:t>
            </a:r>
            <a:r>
              <a:rPr lang="zh-CN" altLang="zh-CN" sz="1200" kern="1200" dirty="0">
                <a:solidFill>
                  <a:schemeClr val="tx1"/>
                </a:solidFill>
                <a:effectLst/>
                <a:latin typeface="+mn-lt"/>
                <a:ea typeface="+mn-ea"/>
                <a:cs typeface="+mn-cs"/>
              </a:rPr>
              <a:t>中使用，</a:t>
            </a:r>
            <a:r>
              <a:rPr lang="en-US" altLang="zh-CN" sz="1200" kern="1200" dirty="0">
                <a:solidFill>
                  <a:schemeClr val="tx1"/>
                </a:solidFill>
                <a:effectLst/>
                <a:latin typeface="+mn-lt"/>
                <a:ea typeface="+mn-ea"/>
                <a:cs typeface="+mn-cs"/>
              </a:rPr>
              <a:t>Fortran H </a:t>
            </a:r>
            <a:r>
              <a:rPr lang="zh-CN" altLang="zh-CN" sz="1200" kern="1200" dirty="0">
                <a:solidFill>
                  <a:schemeClr val="tx1"/>
                </a:solidFill>
                <a:effectLst/>
                <a:latin typeface="+mn-lt"/>
                <a:ea typeface="+mn-ea"/>
                <a:cs typeface="+mn-cs"/>
              </a:rPr>
              <a:t>是</a:t>
            </a:r>
            <a:r>
              <a:rPr lang="en-US" altLang="zh-CN" sz="1200" kern="1200" dirty="0">
                <a:solidFill>
                  <a:schemeClr val="tx1"/>
                </a:solidFill>
                <a:effectLst/>
                <a:latin typeface="+mn-lt"/>
                <a:ea typeface="+mn-ea"/>
                <a:cs typeface="+mn-cs"/>
              </a:rPr>
              <a:t> IBM </a:t>
            </a:r>
            <a:r>
              <a:rPr lang="zh-CN" altLang="zh-CN" sz="1200" kern="1200" dirty="0">
                <a:solidFill>
                  <a:schemeClr val="tx1"/>
                </a:solidFill>
                <a:effectLst/>
                <a:latin typeface="+mn-lt"/>
                <a:ea typeface="+mn-ea"/>
                <a:cs typeface="+mn-cs"/>
              </a:rPr>
              <a:t>在</a:t>
            </a:r>
            <a:r>
              <a:rPr lang="en-US" altLang="zh-CN" sz="1200" kern="1200" dirty="0">
                <a:solidFill>
                  <a:schemeClr val="tx1"/>
                </a:solidFill>
                <a:effectLst/>
                <a:latin typeface="+mn-lt"/>
                <a:ea typeface="+mn-ea"/>
                <a:cs typeface="+mn-cs"/>
              </a:rPr>
              <a:t> 20 </a:t>
            </a:r>
            <a:r>
              <a:rPr lang="zh-CN" altLang="zh-CN" sz="1200" kern="1200" dirty="0">
                <a:solidFill>
                  <a:schemeClr val="tx1"/>
                </a:solidFill>
                <a:effectLst/>
                <a:latin typeface="+mn-lt"/>
                <a:ea typeface="+mn-ea"/>
                <a:cs typeface="+mn-cs"/>
              </a:rPr>
              <a:t>世纪</a:t>
            </a:r>
            <a:r>
              <a:rPr lang="en-US" altLang="zh-CN" sz="1200" kern="1200" dirty="0">
                <a:solidFill>
                  <a:schemeClr val="tx1"/>
                </a:solidFill>
                <a:effectLst/>
                <a:latin typeface="+mn-lt"/>
                <a:ea typeface="+mn-ea"/>
                <a:cs typeface="+mn-cs"/>
              </a:rPr>
              <a:t> 60 </a:t>
            </a:r>
            <a:r>
              <a:rPr lang="zh-CN" altLang="zh-CN" sz="1200" kern="1200" dirty="0">
                <a:solidFill>
                  <a:schemeClr val="tx1"/>
                </a:solidFill>
                <a:effectLst/>
                <a:latin typeface="+mn-lt"/>
                <a:ea typeface="+mn-ea"/>
                <a:cs typeface="+mn-cs"/>
              </a:rPr>
              <a:t>年代末为</a:t>
            </a:r>
            <a:r>
              <a:rPr lang="en-US" altLang="zh-CN" sz="1200" kern="1200" dirty="0">
                <a:solidFill>
                  <a:schemeClr val="tx1"/>
                </a:solidFill>
                <a:effectLst/>
                <a:latin typeface="+mn-lt"/>
                <a:ea typeface="+mn-ea"/>
                <a:cs typeface="+mn-cs"/>
              </a:rPr>
              <a:t> 360 </a:t>
            </a:r>
            <a:r>
              <a:rPr lang="zh-CN" altLang="zh-CN" sz="1200" kern="1200" dirty="0">
                <a:solidFill>
                  <a:schemeClr val="tx1"/>
                </a:solidFill>
                <a:effectLst/>
                <a:latin typeface="+mn-lt"/>
                <a:ea typeface="+mn-ea"/>
                <a:cs typeface="+mn-cs"/>
              </a:rPr>
              <a:t>系列机器开发的优化</a:t>
            </a:r>
            <a:r>
              <a:rPr lang="en-US" altLang="zh-CN" sz="1200" kern="1200" dirty="0">
                <a:solidFill>
                  <a:schemeClr val="tx1"/>
                </a:solidFill>
                <a:effectLst/>
                <a:latin typeface="+mn-lt"/>
                <a:ea typeface="+mn-ea"/>
                <a:cs typeface="+mn-cs"/>
              </a:rPr>
              <a:t> Fortran </a:t>
            </a:r>
            <a:r>
              <a:rPr lang="zh-CN" altLang="zh-CN" sz="1200" kern="1200" dirty="0">
                <a:solidFill>
                  <a:schemeClr val="tx1"/>
                </a:solidFill>
                <a:effectLst/>
                <a:latin typeface="+mn-lt"/>
                <a:ea typeface="+mn-ea"/>
                <a:cs typeface="+mn-cs"/>
              </a:rPr>
              <a:t>编译器。</a:t>
            </a:r>
          </a:p>
          <a:p>
            <a:r>
              <a:rPr lang="zh-CN" altLang="zh-CN" sz="1200" kern="1200" dirty="0">
                <a:solidFill>
                  <a:schemeClr val="tx1"/>
                </a:solidFill>
                <a:effectLst/>
                <a:latin typeface="+mn-lt"/>
                <a:ea typeface="+mn-ea"/>
                <a:cs typeface="+mn-cs"/>
              </a:rPr>
              <a:t>使用早期的</a:t>
            </a:r>
            <a:r>
              <a:rPr lang="en-US" altLang="zh-CN" sz="1200" kern="1200" dirty="0">
                <a:solidFill>
                  <a:schemeClr val="tx1"/>
                </a:solidFill>
                <a:effectLst/>
                <a:latin typeface="+mn-lt"/>
                <a:ea typeface="+mn-ea"/>
                <a:cs typeface="+mn-cs"/>
              </a:rPr>
              <a:t> C </a:t>
            </a:r>
            <a:r>
              <a:rPr lang="zh-CN" altLang="zh-CN" sz="1200" kern="1200" dirty="0">
                <a:solidFill>
                  <a:schemeClr val="tx1"/>
                </a:solidFill>
                <a:effectLst/>
                <a:latin typeface="+mn-lt"/>
                <a:ea typeface="+mn-ea"/>
                <a:cs typeface="+mn-cs"/>
              </a:rPr>
              <a:t>编译器，程序员可以通过使用寄存器声明显式地进行一些寄存器分配，以便在过程运行期间将某些值保留在寄存器中。明智地使用寄存器声明确实加快了许多程序的速度，但应鼓励程序员在分配寄存器分配之前首先获取程序运行时刻特征并确定程序的热点代码。</a:t>
            </a: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zh-CN" sz="1200" kern="1200" dirty="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5"/>
          </p:nvPr>
        </p:nvSpPr>
        <p:spPr/>
        <p:txBody>
          <a:bodyPr/>
          <a:lstStyle/>
          <a:p>
            <a:fld id="{87F4D71F-C241-4371-B1C7-6C52E22124B5}" type="slidenum">
              <a:rPr lang="zh-CN" altLang="en-US" smtClean="0"/>
              <a:t>80</a:t>
            </a:fld>
            <a:endParaRPr lang="zh-CN" altLang="en-US"/>
          </a:p>
        </p:txBody>
      </p:sp>
    </p:spTree>
    <p:extLst>
      <p:ext uri="{BB962C8B-B14F-4D97-AF65-F5344CB8AC3E}">
        <p14:creationId xmlns:p14="http://schemas.microsoft.com/office/powerpoint/2010/main" val="318095539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PhAnim="0" type="title" preserve="1" userDrawn="1">
  <p:cSld name="Title Slide">
    <p:spTree>
      <p:nvGrpSpPr>
        <p:cNvPr id="1" name=""/>
        <p:cNvGrpSpPr/>
        <p:nvPr/>
      </p:nvGrpSpPr>
      <p:grpSpPr bwMode="auto">
        <a:xfrm>
          <a:off x="0" y="0"/>
          <a:ext cx="0" cy="0"/>
          <a:chOff x="0" y="0"/>
          <a:chExt cx="0" cy="0"/>
        </a:xfrm>
      </p:grpSpPr>
      <p:sp>
        <p:nvSpPr>
          <p:cNvPr id="2" name="Title 1"/>
          <p:cNvSpPr>
            <a:spLocks noGrp="1"/>
          </p:cNvSpPr>
          <p:nvPr>
            <p:ph type="ctrTitle" hasCustomPrompt="1"/>
          </p:nvPr>
        </p:nvSpPr>
        <p:spPr bwMode="auto">
          <a:xfrm>
            <a:off x="1143000" y="1122363"/>
            <a:ext cx="6858000" cy="2387600"/>
          </a:xfrm>
        </p:spPr>
        <p:txBody>
          <a:bodyPr anchor="b"/>
          <a:lstStyle>
            <a:lvl1pPr algn="ctr">
              <a:defRPr sz="6000" b="0" i="0">
                <a:latin typeface="Ubuntu Mono derivative Powerlin"/>
                <a:cs typeface="Courier New"/>
              </a:defRPr>
            </a:lvl1pPr>
          </a:lstStyle>
          <a:p>
            <a:pPr>
              <a:defRPr/>
            </a:pPr>
            <a:r>
              <a:rPr lang="en-US"/>
              <a:t>Chapter</a:t>
            </a:r>
            <a:r>
              <a:rPr lang="zh-CN"/>
              <a:t> </a:t>
            </a:r>
            <a:r>
              <a:rPr lang="en-US"/>
              <a:t>1: Introduction</a:t>
            </a:r>
            <a:endParaRPr/>
          </a:p>
        </p:txBody>
      </p:sp>
      <p:sp>
        <p:nvSpPr>
          <p:cNvPr id="3" name="Subtitle 2"/>
          <p:cNvSpPr>
            <a:spLocks noGrp="1"/>
          </p:cNvSpPr>
          <p:nvPr>
            <p:ph type="subTitle" idx="1"/>
          </p:nvPr>
        </p:nvSpPr>
        <p:spPr bwMode="auto">
          <a:xfrm>
            <a:off x="1143000" y="3602038"/>
            <a:ext cx="6858000" cy="1655762"/>
          </a:xfrm>
        </p:spPr>
        <p:txBody>
          <a:bodyPr/>
          <a:lstStyle>
            <a:lvl1pPr marL="0" indent="0" algn="ctr">
              <a:buNone/>
              <a:defRPr sz="2400">
                <a:latin typeface="Ubuntu Mono derivative Powerlin"/>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a:defRPr/>
            </a:pPr>
            <a:endParaRPr lang="en-US"/>
          </a:p>
          <a:p>
            <a:pPr>
              <a:defRPr/>
            </a:pPr>
            <a:r>
              <a:rPr lang="en-US"/>
              <a:t>Yanhui Guo</a:t>
            </a:r>
            <a:endParaRPr/>
          </a:p>
        </p:txBody>
      </p:sp>
      <p:sp>
        <p:nvSpPr>
          <p:cNvPr id="4" name="Date Placeholder 3"/>
          <p:cNvSpPr>
            <a:spLocks noGrp="1"/>
          </p:cNvSpPr>
          <p:nvPr>
            <p:ph type="dt" sz="half" idx="10"/>
          </p:nvPr>
        </p:nvSpPr>
        <p:spPr bwMode="auto"/>
        <p:txBody>
          <a:bodyPr/>
          <a:lstStyle>
            <a:lvl1pPr>
              <a:defRPr>
                <a:latin typeface="Ubuntu Mono derivative Powerlin"/>
              </a:defRPr>
            </a:lvl1pPr>
          </a:lstStyle>
          <a:p>
            <a:pPr>
              <a:defRPr/>
            </a:pPr>
            <a:r>
              <a:rPr lang="en-US" altLang="zh-CN"/>
              <a:t>Fall 2024</a:t>
            </a:r>
            <a:endParaRPr/>
          </a:p>
        </p:txBody>
      </p:sp>
      <p:sp>
        <p:nvSpPr>
          <p:cNvPr id="5" name="Footer Placeholder 4"/>
          <p:cNvSpPr>
            <a:spLocks noGrp="1"/>
          </p:cNvSpPr>
          <p:nvPr>
            <p:ph type="ftr" sz="quarter" idx="11"/>
          </p:nvPr>
        </p:nvSpPr>
        <p:spPr bwMode="auto"/>
        <p:txBody>
          <a:bodyPr/>
          <a:lstStyle>
            <a:lvl1pPr>
              <a:defRPr>
                <a:latin typeface="Ubuntu Mono derivative Powerlin"/>
              </a:defRPr>
            </a:lvl1pPr>
          </a:lstStyle>
          <a:p>
            <a:pPr>
              <a:defRPr/>
            </a:pPr>
            <a:r>
              <a:t>BUPT Compilers</a:t>
            </a:r>
          </a:p>
        </p:txBody>
      </p:sp>
      <p:sp>
        <p:nvSpPr>
          <p:cNvPr id="6" name="Slide Number Placeholder 5"/>
          <p:cNvSpPr>
            <a:spLocks noGrp="1"/>
          </p:cNvSpPr>
          <p:nvPr>
            <p:ph type="sldNum" sz="quarter" idx="12"/>
          </p:nvPr>
        </p:nvSpPr>
        <p:spPr bwMode="auto"/>
        <p:txBody>
          <a:bodyPr/>
          <a:lstStyle/>
          <a:p>
            <a:pPr>
              <a:defRPr/>
            </a:pPr>
            <a:fld id="{2FBC720A-3716-234A-B2DF-CBC7E48049F5}" type="slidenum">
              <a:rPr/>
              <a:t>‹#›</a:t>
            </a:fld>
            <a:endParaRPr/>
          </a:p>
        </p:txBody>
      </p:sp>
      <p:pic>
        <p:nvPicPr>
          <p:cNvPr id="7" name="Picture 7" descr="A picture containing text, font, logo, symbol&#10;&#10;Description automatically generated">
            <a:extLst>
              <a:ext uri="{FF2B5EF4-FFF2-40B4-BE49-F238E27FC236}">
                <a16:creationId xmlns:a16="http://schemas.microsoft.com/office/drawing/2014/main" id="{782B8BB1-B0D2-C76F-8E59-FA264C6B0E54}"/>
              </a:ext>
            </a:extLst>
          </p:cNvPr>
          <p:cNvPicPr>
            <a:picLocks noChangeAspect="1"/>
          </p:cNvPicPr>
          <p:nvPr userDrawn="1"/>
        </p:nvPicPr>
        <p:blipFill>
          <a:blip r:embed="rId2"/>
          <a:stretch/>
        </p:blipFill>
        <p:spPr bwMode="auto">
          <a:xfrm>
            <a:off x="0" y="0"/>
            <a:ext cx="3543024" cy="1235110"/>
          </a:xfrm>
          <a:prstGeom prst="rect">
            <a:avLst/>
          </a:prstGeom>
        </p:spPr>
      </p:pic>
    </p:spTree>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PhAnim="0" type="obj" preserve="1" userDrawn="1">
  <p:cSld name="Title and Content">
    <p:spTree>
      <p:nvGrpSpPr>
        <p:cNvPr id="1" name=""/>
        <p:cNvGrpSpPr/>
        <p:nvPr/>
      </p:nvGrpSpPr>
      <p:grpSpPr bwMode="auto">
        <a:xfrm>
          <a:off x="0" y="0"/>
          <a:ext cx="0" cy="0"/>
          <a:chOff x="0" y="0"/>
          <a:chExt cx="0" cy="0"/>
        </a:xfrm>
      </p:grpSpPr>
      <p:sp>
        <p:nvSpPr>
          <p:cNvPr id="2" name="Title 1"/>
          <p:cNvSpPr>
            <a:spLocks noGrp="1"/>
          </p:cNvSpPr>
          <p:nvPr>
            <p:ph type="title" hasCustomPrompt="1"/>
          </p:nvPr>
        </p:nvSpPr>
        <p:spPr bwMode="auto"/>
        <p:txBody>
          <a:bodyPr/>
          <a:lstStyle>
            <a:lvl1pPr>
              <a:defRPr>
                <a:latin typeface="Ubuntu Mono derivative Powerlin"/>
              </a:defRPr>
            </a:lvl1pPr>
          </a:lstStyle>
          <a:p>
            <a:pPr>
              <a:defRPr/>
            </a:pPr>
            <a:r>
              <a:rPr lang="en-US"/>
              <a:t>Outline</a:t>
            </a:r>
            <a:endParaRPr/>
          </a:p>
        </p:txBody>
      </p:sp>
      <p:sp>
        <p:nvSpPr>
          <p:cNvPr id="3" name="Content Placeholder 2"/>
          <p:cNvSpPr>
            <a:spLocks noGrp="1"/>
          </p:cNvSpPr>
          <p:nvPr>
            <p:ph idx="1" hasCustomPrompt="1"/>
          </p:nvPr>
        </p:nvSpPr>
        <p:spPr bwMode="auto"/>
        <p:txBody>
          <a:bodyPr/>
          <a:lstStyle>
            <a:lvl1pPr>
              <a:lnSpc>
                <a:spcPct val="150000"/>
              </a:lnSpc>
              <a:defRPr>
                <a:latin typeface="Ubuntu Mono derivative Powerlin"/>
              </a:defRPr>
            </a:lvl1pPr>
          </a:lstStyle>
          <a:p>
            <a:pPr lvl="0">
              <a:defRPr/>
            </a:pPr>
            <a:r>
              <a:rPr lang="en-US"/>
              <a:t>One</a:t>
            </a:r>
            <a:endParaRPr/>
          </a:p>
          <a:p>
            <a:pPr lvl="0">
              <a:defRPr/>
            </a:pPr>
            <a:r>
              <a:t>Two</a:t>
            </a:r>
          </a:p>
          <a:p>
            <a:pPr lvl="0">
              <a:defRPr/>
            </a:pPr>
            <a:r>
              <a:t>Three</a:t>
            </a:r>
          </a:p>
          <a:p>
            <a:pPr lvl="0">
              <a:defRPr/>
            </a:pPr>
            <a:r>
              <a:t>Four</a:t>
            </a:r>
          </a:p>
        </p:txBody>
      </p:sp>
      <p:sp>
        <p:nvSpPr>
          <p:cNvPr id="4" name="Date Placeholder 3"/>
          <p:cNvSpPr>
            <a:spLocks noGrp="1"/>
          </p:cNvSpPr>
          <p:nvPr>
            <p:ph type="dt" sz="half" idx="10"/>
          </p:nvPr>
        </p:nvSpPr>
        <p:spPr bwMode="auto"/>
        <p:txBody>
          <a:bodyPr/>
          <a:lstStyle>
            <a:lvl1pPr>
              <a:defRPr>
                <a:latin typeface="Ubuntu Mono derivative Powerlin"/>
              </a:defRPr>
            </a:lvl1pPr>
          </a:lstStyle>
          <a:p>
            <a:pPr>
              <a:defRPr/>
            </a:pPr>
            <a:r>
              <a:rPr lang="en-US" altLang="zh-CN"/>
              <a:t>Fall 2024</a:t>
            </a:r>
            <a:endParaRPr/>
          </a:p>
        </p:txBody>
      </p:sp>
      <p:sp>
        <p:nvSpPr>
          <p:cNvPr id="5" name="Footer Placeholder 4"/>
          <p:cNvSpPr>
            <a:spLocks noGrp="1"/>
          </p:cNvSpPr>
          <p:nvPr>
            <p:ph type="ftr" sz="quarter" idx="11"/>
          </p:nvPr>
        </p:nvSpPr>
        <p:spPr bwMode="auto"/>
        <p:txBody>
          <a:bodyPr/>
          <a:lstStyle>
            <a:lvl1pPr>
              <a:defRPr>
                <a:latin typeface="Ubuntu Mono derivative Powerlin"/>
              </a:defRPr>
            </a:lvl1pPr>
          </a:lstStyle>
          <a:p>
            <a:pPr>
              <a:defRPr/>
            </a:pPr>
            <a:r>
              <a:t>BUPT Compilers</a:t>
            </a:r>
          </a:p>
        </p:txBody>
      </p:sp>
      <p:sp>
        <p:nvSpPr>
          <p:cNvPr id="6" name="Slide Number Placeholder 5"/>
          <p:cNvSpPr>
            <a:spLocks noGrp="1"/>
          </p:cNvSpPr>
          <p:nvPr>
            <p:ph type="sldNum" sz="quarter" idx="12"/>
          </p:nvPr>
        </p:nvSpPr>
        <p:spPr bwMode="auto"/>
        <p:txBody>
          <a:bodyPr/>
          <a:lstStyle/>
          <a:p>
            <a:pPr>
              <a:defRPr/>
            </a:pPr>
            <a:fld id="{2FBC720A-3716-234A-B2DF-CBC7E48049F5}" type="slidenum">
              <a:rPr/>
              <a:t>‹#›</a:t>
            </a:fld>
            <a:endParaRPr/>
          </a:p>
        </p:txBody>
      </p:sp>
    </p:spTree>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PhAnim="0" type="titleOnly" preserve="1" userDrawn="1">
  <p:cSld name="Title Only">
    <p:spTree>
      <p:nvGrpSpPr>
        <p:cNvPr id="1" name=""/>
        <p:cNvGrpSpPr/>
        <p:nvPr/>
      </p:nvGrpSpPr>
      <p:grpSpPr bwMode="auto">
        <a:xfrm>
          <a:off x="0" y="0"/>
          <a:ext cx="0" cy="0"/>
          <a:chOff x="0" y="0"/>
          <a:chExt cx="0" cy="0"/>
        </a:xfrm>
      </p:grpSpPr>
      <p:sp>
        <p:nvSpPr>
          <p:cNvPr id="2" name="Title 1"/>
          <p:cNvSpPr>
            <a:spLocks noGrp="1"/>
          </p:cNvSpPr>
          <p:nvPr>
            <p:ph type="title" hasCustomPrompt="1"/>
          </p:nvPr>
        </p:nvSpPr>
        <p:spPr bwMode="auto"/>
        <p:txBody>
          <a:bodyPr/>
          <a:lstStyle>
            <a:lvl1pPr>
              <a:defRPr>
                <a:latin typeface="Ubuntu Mono derivative Powerlin"/>
              </a:defRPr>
            </a:lvl1pPr>
          </a:lstStyle>
          <a:p>
            <a:pPr>
              <a:defRPr/>
            </a:pPr>
            <a:r>
              <a:rPr lang="en-US"/>
              <a:t>Title</a:t>
            </a:r>
            <a:endParaRPr/>
          </a:p>
        </p:txBody>
      </p:sp>
      <p:sp>
        <p:nvSpPr>
          <p:cNvPr id="3" name="Date Placeholder 2"/>
          <p:cNvSpPr>
            <a:spLocks noGrp="1"/>
          </p:cNvSpPr>
          <p:nvPr>
            <p:ph type="dt" sz="half" idx="10"/>
          </p:nvPr>
        </p:nvSpPr>
        <p:spPr bwMode="auto"/>
        <p:txBody>
          <a:bodyPr/>
          <a:lstStyle>
            <a:lvl1pPr>
              <a:defRPr>
                <a:latin typeface="Ubuntu Mono derivative Powerlin"/>
              </a:defRPr>
            </a:lvl1pPr>
          </a:lstStyle>
          <a:p>
            <a:pPr>
              <a:defRPr/>
            </a:pPr>
            <a:r>
              <a:rPr lang="en-US" altLang="zh-CN"/>
              <a:t>Fall 2024</a:t>
            </a:r>
            <a:endParaRPr/>
          </a:p>
        </p:txBody>
      </p:sp>
      <p:sp>
        <p:nvSpPr>
          <p:cNvPr id="4" name="Footer Placeholder 3"/>
          <p:cNvSpPr>
            <a:spLocks noGrp="1"/>
          </p:cNvSpPr>
          <p:nvPr>
            <p:ph type="ftr" sz="quarter" idx="11"/>
          </p:nvPr>
        </p:nvSpPr>
        <p:spPr bwMode="auto"/>
        <p:txBody>
          <a:bodyPr/>
          <a:lstStyle>
            <a:lvl1pPr>
              <a:defRPr>
                <a:latin typeface="Ubuntu Mono derivative Powerlin"/>
              </a:defRPr>
            </a:lvl1pPr>
          </a:lstStyle>
          <a:p>
            <a:pPr>
              <a:defRPr/>
            </a:pPr>
            <a:r>
              <a:t>BUPT Compilers</a:t>
            </a:r>
          </a:p>
        </p:txBody>
      </p:sp>
      <p:sp>
        <p:nvSpPr>
          <p:cNvPr id="5" name="Slide Number Placeholder 4"/>
          <p:cNvSpPr>
            <a:spLocks noGrp="1"/>
          </p:cNvSpPr>
          <p:nvPr>
            <p:ph type="sldNum" sz="quarter" idx="12"/>
          </p:nvPr>
        </p:nvSpPr>
        <p:spPr bwMode="auto"/>
        <p:txBody>
          <a:bodyPr/>
          <a:lstStyle/>
          <a:p>
            <a:pPr>
              <a:defRPr/>
            </a:pPr>
            <a:fld id="{2FBC720A-3716-234A-B2DF-CBC7E48049F5}" type="slidenum">
              <a:rPr/>
              <a:t>‹#›</a:t>
            </a:fld>
            <a:endParaRPr/>
          </a:p>
        </p:txBody>
      </p:sp>
    </p:spTree>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PhAnim="0" preserve="1" userDrawn="1">
  <p:cSld name="1_Title Only">
    <p:spTree>
      <p:nvGrpSpPr>
        <p:cNvPr id="1" name=""/>
        <p:cNvGrpSpPr/>
        <p:nvPr/>
      </p:nvGrpSpPr>
      <p:grpSpPr bwMode="auto">
        <a:xfrm>
          <a:off x="0" y="0"/>
          <a:ext cx="0" cy="0"/>
          <a:chOff x="0" y="0"/>
          <a:chExt cx="0" cy="0"/>
        </a:xfrm>
      </p:grpSpPr>
      <p:sp>
        <p:nvSpPr>
          <p:cNvPr id="3" name="Date Placeholder 2"/>
          <p:cNvSpPr>
            <a:spLocks noGrp="1"/>
          </p:cNvSpPr>
          <p:nvPr>
            <p:ph type="dt" sz="half" idx="10"/>
          </p:nvPr>
        </p:nvSpPr>
        <p:spPr bwMode="auto"/>
        <p:txBody>
          <a:bodyPr/>
          <a:lstStyle>
            <a:lvl1pPr>
              <a:defRPr>
                <a:latin typeface="Ubuntu Mono derivative Powerlin"/>
              </a:defRPr>
            </a:lvl1pPr>
          </a:lstStyle>
          <a:p>
            <a:pPr>
              <a:defRPr/>
            </a:pPr>
            <a:r>
              <a:rPr lang="en-US" altLang="zh-CN"/>
              <a:t>Fall 2024</a:t>
            </a:r>
            <a:endParaRPr/>
          </a:p>
        </p:txBody>
      </p:sp>
      <p:sp>
        <p:nvSpPr>
          <p:cNvPr id="4" name="Footer Placeholder 3"/>
          <p:cNvSpPr>
            <a:spLocks noGrp="1"/>
          </p:cNvSpPr>
          <p:nvPr>
            <p:ph type="ftr" sz="quarter" idx="11"/>
          </p:nvPr>
        </p:nvSpPr>
        <p:spPr bwMode="auto"/>
        <p:txBody>
          <a:bodyPr/>
          <a:lstStyle>
            <a:lvl1pPr>
              <a:defRPr>
                <a:latin typeface="Ubuntu Mono derivative Powerlin"/>
              </a:defRPr>
            </a:lvl1pPr>
          </a:lstStyle>
          <a:p>
            <a:pPr>
              <a:defRPr/>
            </a:pPr>
            <a:r>
              <a:t>BUPT Compilers</a:t>
            </a:r>
          </a:p>
        </p:txBody>
      </p:sp>
      <p:sp>
        <p:nvSpPr>
          <p:cNvPr id="5" name="Slide Number Placeholder 4"/>
          <p:cNvSpPr>
            <a:spLocks noGrp="1"/>
          </p:cNvSpPr>
          <p:nvPr>
            <p:ph type="sldNum" sz="quarter" idx="12"/>
          </p:nvPr>
        </p:nvSpPr>
        <p:spPr bwMode="auto"/>
        <p:txBody>
          <a:bodyPr/>
          <a:lstStyle/>
          <a:p>
            <a:pPr>
              <a:defRPr/>
            </a:pPr>
            <a:fld id="{2FBC720A-3716-234A-B2DF-CBC7E48049F5}" type="slidenum">
              <a:rPr/>
              <a:t>‹#›</a:t>
            </a:fld>
            <a:endParaRPr/>
          </a:p>
        </p:txBody>
      </p:sp>
    </p:spTree>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bwMode="auto">
        <a:xfrm>
          <a:off x="0" y="0"/>
          <a:ext cx="0" cy="0"/>
          <a:chOff x="0" y="0"/>
          <a:chExt cx="0" cy="0"/>
        </a:xfrm>
      </p:grpSpPr>
      <p:sp>
        <p:nvSpPr>
          <p:cNvPr id="2" name="Title Placeholder 1"/>
          <p:cNvSpPr>
            <a:spLocks noGrp="1"/>
          </p:cNvSpPr>
          <p:nvPr>
            <p:ph type="title"/>
          </p:nvPr>
        </p:nvSpPr>
        <p:spPr bwMode="auto">
          <a:xfrm>
            <a:off x="628650" y="365126"/>
            <a:ext cx="7886700" cy="1325563"/>
          </a:xfrm>
          <a:prstGeom prst="rect">
            <a:avLst/>
          </a:prstGeom>
        </p:spPr>
        <p:txBody>
          <a:bodyPr vert="horz" lIns="91440" tIns="45720" rIns="91440" bIns="45720" rtlCol="0" anchor="ctr">
            <a:normAutofit/>
          </a:bodyPr>
          <a:lstStyle/>
          <a:p>
            <a:pPr>
              <a:defRPr/>
            </a:pPr>
            <a:r>
              <a:rPr lang="en-US"/>
              <a:t>Click to edit Master title style</a:t>
            </a:r>
            <a:endParaRPr/>
          </a:p>
        </p:txBody>
      </p:sp>
      <p:sp>
        <p:nvSpPr>
          <p:cNvPr id="3" name="Text Placeholder 2"/>
          <p:cNvSpPr>
            <a:spLocks noGrp="1"/>
          </p:cNvSpPr>
          <p:nvPr>
            <p:ph type="body" idx="1"/>
          </p:nvPr>
        </p:nvSpPr>
        <p:spPr bwMode="auto">
          <a:xfrm>
            <a:off x="628650" y="1825625"/>
            <a:ext cx="7886700" cy="4351338"/>
          </a:xfrm>
          <a:prstGeom prst="rect">
            <a:avLst/>
          </a:prstGeom>
        </p:spPr>
        <p:txBody>
          <a:bodyPr vert="horz" lIns="91440" tIns="45720" rIns="91440" bIns="45720" rtlCol="0">
            <a:normAutofit/>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4" name="Date Placeholder 3"/>
          <p:cNvSpPr>
            <a:spLocks noGrp="1"/>
          </p:cNvSpPr>
          <p:nvPr>
            <p:ph type="dt" sz="half" idx="2"/>
          </p:nvPr>
        </p:nvSpPr>
        <p:spPr bwMode="auto">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latin typeface="Ubuntu Mono derivative Powerlin"/>
              </a:defRPr>
            </a:lvl1pPr>
          </a:lstStyle>
          <a:p>
            <a:pPr>
              <a:defRPr/>
            </a:pPr>
            <a:r>
              <a:rPr lang="en-US" altLang="zh-CN"/>
              <a:t>Fall 2024</a:t>
            </a:r>
            <a:endParaRPr/>
          </a:p>
        </p:txBody>
      </p:sp>
      <p:sp>
        <p:nvSpPr>
          <p:cNvPr id="5" name="Footer Placeholder 4"/>
          <p:cNvSpPr>
            <a:spLocks noGrp="1"/>
          </p:cNvSpPr>
          <p:nvPr>
            <p:ph type="ftr" sz="quarter" idx="3"/>
          </p:nvPr>
        </p:nvSpPr>
        <p:spPr bwMode="auto">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latin typeface="Ubuntu Mono derivative Powerlin"/>
              </a:defRPr>
            </a:lvl1pPr>
          </a:lstStyle>
          <a:p>
            <a:pPr>
              <a:defRPr/>
            </a:pPr>
            <a:r>
              <a:t>BUPT Compilers</a:t>
            </a:r>
          </a:p>
        </p:txBody>
      </p:sp>
      <p:sp>
        <p:nvSpPr>
          <p:cNvPr id="6" name="Slide Number Placeholder 5"/>
          <p:cNvSpPr>
            <a:spLocks noGrp="1"/>
          </p:cNvSpPr>
          <p:nvPr>
            <p:ph type="sldNum" sz="quarter" idx="4"/>
          </p:nvPr>
        </p:nvSpPr>
        <p:spPr bwMode="auto">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2FBC720A-3716-234A-B2DF-CBC7E48049F5}" type="slidenum">
              <a:rPr/>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hdr="0"/>
  <p:txStyles>
    <p:titleStyle>
      <a:lvl1pPr algn="l" defTabSz="914400">
        <a:lnSpc>
          <a:spcPct val="90000"/>
        </a:lnSpc>
        <a:spcBef>
          <a:spcPts val="0"/>
        </a:spcBef>
        <a:buNone/>
        <a:defRPr sz="4400">
          <a:solidFill>
            <a:schemeClr val="tx1"/>
          </a:solidFill>
          <a:latin typeface="Ubuntu Mono derivative Powerlin"/>
          <a:ea typeface="+mj-ea"/>
          <a:cs typeface="+mj-cs"/>
        </a:defRPr>
      </a:lvl1pPr>
    </p:titleStyle>
    <p:bodyStyle>
      <a:lvl1pPr marL="228600" indent="-228600" algn="l" defTabSz="914400">
        <a:lnSpc>
          <a:spcPct val="150000"/>
        </a:lnSpc>
        <a:spcBef>
          <a:spcPts val="1000"/>
        </a:spcBef>
        <a:buFont typeface="Arial"/>
        <a:buChar char="•"/>
        <a:defRPr sz="2800">
          <a:solidFill>
            <a:schemeClr val="tx1"/>
          </a:solidFill>
          <a:latin typeface="Ubuntu Mono derivative Powerlin"/>
          <a:ea typeface="+mn-ea"/>
          <a:cs typeface="+mn-cs"/>
        </a:defRPr>
      </a:lvl1pPr>
      <a:lvl2pPr marL="685800" indent="-228600" algn="l" defTabSz="914400">
        <a:lnSpc>
          <a:spcPct val="150000"/>
        </a:lnSpc>
        <a:spcBef>
          <a:spcPts val="500"/>
        </a:spcBef>
        <a:buFont typeface="Arial"/>
        <a:buChar char="•"/>
        <a:defRPr sz="2400">
          <a:solidFill>
            <a:schemeClr val="tx1"/>
          </a:solidFill>
          <a:latin typeface="Ubuntu Mono derivative Powerlin"/>
          <a:ea typeface="+mn-ea"/>
          <a:cs typeface="+mn-cs"/>
        </a:defRPr>
      </a:lvl2pPr>
      <a:lvl3pPr marL="1143000" indent="-228600" algn="l" defTabSz="914400">
        <a:lnSpc>
          <a:spcPct val="150000"/>
        </a:lnSpc>
        <a:spcBef>
          <a:spcPts val="500"/>
        </a:spcBef>
        <a:buFont typeface="Arial"/>
        <a:buChar char="•"/>
        <a:defRPr sz="2000">
          <a:solidFill>
            <a:schemeClr val="tx1"/>
          </a:solidFill>
          <a:latin typeface="Ubuntu Mono derivative Powerlin"/>
          <a:ea typeface="+mn-ea"/>
          <a:cs typeface="+mn-cs"/>
        </a:defRPr>
      </a:lvl3pPr>
      <a:lvl4pPr marL="1600200" indent="-228600" algn="l" defTabSz="914400">
        <a:lnSpc>
          <a:spcPct val="150000"/>
        </a:lnSpc>
        <a:spcBef>
          <a:spcPts val="500"/>
        </a:spcBef>
        <a:buFont typeface="Arial"/>
        <a:buChar char="•"/>
        <a:defRPr sz="1800">
          <a:solidFill>
            <a:schemeClr val="tx1"/>
          </a:solidFill>
          <a:latin typeface="Ubuntu Mono derivative Powerlin"/>
          <a:ea typeface="+mn-ea"/>
          <a:cs typeface="+mn-cs"/>
        </a:defRPr>
      </a:lvl4pPr>
      <a:lvl5pPr marL="2057400" indent="-228600" algn="l" defTabSz="914400">
        <a:lnSpc>
          <a:spcPct val="150000"/>
        </a:lnSpc>
        <a:spcBef>
          <a:spcPts val="500"/>
        </a:spcBef>
        <a:buFont typeface="Arial"/>
        <a:buChar char="•"/>
        <a:defRPr sz="1800">
          <a:solidFill>
            <a:schemeClr val="tx1"/>
          </a:solidFill>
          <a:latin typeface="Ubuntu Mono derivative Powerlin"/>
          <a:ea typeface="+mn-ea"/>
          <a:cs typeface="+mn-cs"/>
        </a:defRPr>
      </a:lvl5pPr>
      <a:lvl6pPr marL="2514600" indent="-228600" algn="l" defTabSz="91440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a:lnSpc>
          <a:spcPct val="90000"/>
        </a:lnSpc>
        <a:spcBef>
          <a:spcPts val="500"/>
        </a:spcBef>
        <a:buFont typeface="Arial"/>
        <a:buChar char="•"/>
        <a:defRPr sz="1800">
          <a:solidFill>
            <a:schemeClr val="tx1"/>
          </a:solidFill>
          <a:latin typeface="+mn-lt"/>
          <a:ea typeface="+mn-ea"/>
          <a:cs typeface="+mn-cs"/>
        </a:defRPr>
      </a:lvl9pPr>
    </p:bodyStyle>
    <p:otherStyle>
      <a:defPPr>
        <a:defRPr/>
      </a:defPPr>
      <a:lvl1pPr marL="0" algn="l" defTabSz="914400">
        <a:defRPr sz="1800">
          <a:solidFill>
            <a:schemeClr val="tx1"/>
          </a:solidFill>
          <a:latin typeface="+mn-lt"/>
          <a:ea typeface="+mn-ea"/>
          <a:cs typeface="+mn-cs"/>
        </a:defRPr>
      </a:lvl1pPr>
      <a:lvl2pPr marL="457200" algn="l" defTabSz="914400">
        <a:defRPr sz="1800">
          <a:solidFill>
            <a:schemeClr val="tx1"/>
          </a:solidFill>
          <a:latin typeface="+mn-lt"/>
          <a:ea typeface="+mn-ea"/>
          <a:cs typeface="+mn-cs"/>
        </a:defRPr>
      </a:lvl2pPr>
      <a:lvl3pPr marL="914400" algn="l" defTabSz="914400">
        <a:defRPr sz="1800">
          <a:solidFill>
            <a:schemeClr val="tx1"/>
          </a:solidFill>
          <a:latin typeface="+mn-lt"/>
          <a:ea typeface="+mn-ea"/>
          <a:cs typeface="+mn-cs"/>
        </a:defRPr>
      </a:lvl3pPr>
      <a:lvl4pPr marL="1371600" algn="l" defTabSz="914400">
        <a:defRPr sz="1800">
          <a:solidFill>
            <a:schemeClr val="tx1"/>
          </a:solidFill>
          <a:latin typeface="+mn-lt"/>
          <a:ea typeface="+mn-ea"/>
          <a:cs typeface="+mn-cs"/>
        </a:defRPr>
      </a:lvl4pPr>
      <a:lvl5pPr marL="1828800" algn="l" defTabSz="914400">
        <a:defRPr sz="1800">
          <a:solidFill>
            <a:schemeClr val="tx1"/>
          </a:solidFill>
          <a:latin typeface="+mn-lt"/>
          <a:ea typeface="+mn-ea"/>
          <a:cs typeface="+mn-cs"/>
        </a:defRPr>
      </a:lvl5pPr>
      <a:lvl6pPr marL="2286000" algn="l" defTabSz="914400">
        <a:defRPr sz="1800">
          <a:solidFill>
            <a:schemeClr val="tx1"/>
          </a:solidFill>
          <a:latin typeface="+mn-lt"/>
          <a:ea typeface="+mn-ea"/>
          <a:cs typeface="+mn-cs"/>
        </a:defRPr>
      </a:lvl6pPr>
      <a:lvl7pPr marL="2743200" algn="l" defTabSz="914400">
        <a:defRPr sz="1800">
          <a:solidFill>
            <a:schemeClr val="tx1"/>
          </a:solidFill>
          <a:latin typeface="+mn-lt"/>
          <a:ea typeface="+mn-ea"/>
          <a:cs typeface="+mn-cs"/>
        </a:defRPr>
      </a:lvl7pPr>
      <a:lvl8pPr marL="3200400" algn="l" defTabSz="914400">
        <a:defRPr sz="1800">
          <a:solidFill>
            <a:schemeClr val="tx1"/>
          </a:solidFill>
          <a:latin typeface="+mn-lt"/>
          <a:ea typeface="+mn-ea"/>
          <a:cs typeface="+mn-cs"/>
        </a:defRPr>
      </a:lvl8pPr>
      <a:lvl9pPr marL="3657600" algn="l" defTabSz="914400">
        <a:defRPr sz="18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4.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4.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4.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4.xml"/><Relationship Id="rId1" Type="http://schemas.openxmlformats.org/officeDocument/2006/relationships/slideLayout" Target="../slideLayouts/slideLayout4.xml"/><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16.xml"/><Relationship Id="rId1" Type="http://schemas.openxmlformats.org/officeDocument/2006/relationships/slideLayout" Target="../slideLayouts/slideLayout4.xml"/><Relationship Id="rId5" Type="http://schemas.openxmlformats.org/officeDocument/2006/relationships/image" Target="../media/image14.png"/><Relationship Id="rId4" Type="http://schemas.openxmlformats.org/officeDocument/2006/relationships/image" Target="../media/image13.png"/></Relationships>
</file>

<file path=ppt/slides/_rels/slide17.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18.xml"/><Relationship Id="rId1" Type="http://schemas.openxmlformats.org/officeDocument/2006/relationships/slideLayout" Target="../slideLayouts/slideLayout4.xml"/><Relationship Id="rId5" Type="http://schemas.openxmlformats.org/officeDocument/2006/relationships/image" Target="../media/image18.jpg"/><Relationship Id="rId4" Type="http://schemas.openxmlformats.org/officeDocument/2006/relationships/image" Target="../media/image17.jpg"/></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9.xml"/><Relationship Id="rId1" Type="http://schemas.openxmlformats.org/officeDocument/2006/relationships/slideLayout" Target="../slideLayouts/slideLayout4.xml"/><Relationship Id="rId5" Type="http://schemas.openxmlformats.org/officeDocument/2006/relationships/image" Target="../media/image21.png"/><Relationship Id="rId4" Type="http://schemas.openxmlformats.org/officeDocument/2006/relationships/image" Target="../media/image20.png"/></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0.xml"/><Relationship Id="rId1" Type="http://schemas.openxmlformats.org/officeDocument/2006/relationships/slideLayout" Target="../slideLayouts/slideLayout4.xml"/><Relationship Id="rId4" Type="http://schemas.openxmlformats.org/officeDocument/2006/relationships/image" Target="../media/image22.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6.xml"/><Relationship Id="rId1" Type="http://schemas.openxmlformats.org/officeDocument/2006/relationships/slideLayout" Target="../slideLayouts/slideLayout4.xml"/><Relationship Id="rId4" Type="http://schemas.openxmlformats.org/officeDocument/2006/relationships/image" Target="../media/image24.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9.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0.xml"/><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1.xm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3.xml"/><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5.xml"/><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3" Type="http://schemas.openxmlformats.org/officeDocument/2006/relationships/image" Target="../media/image27.jpg"/><Relationship Id="rId2" Type="http://schemas.openxmlformats.org/officeDocument/2006/relationships/notesSlide" Target="../notesSlides/notesSlide47.xml"/><Relationship Id="rId1" Type="http://schemas.openxmlformats.org/officeDocument/2006/relationships/slideLayout" Target="../slideLayouts/slideLayout4.xml"/><Relationship Id="rId4" Type="http://schemas.openxmlformats.org/officeDocument/2006/relationships/image" Target="../media/image28.png"/></Relationships>
</file>

<file path=ppt/slides/_rels/slide4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8.xml"/><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9.xml"/><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50.xml"/><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51.xml"/><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52.xml"/><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53.xml"/><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54.xml"/><Relationship Id="rId1" Type="http://schemas.openxmlformats.org/officeDocument/2006/relationships/slideLayout" Target="../slideLayouts/slideLayout4.xml"/><Relationship Id="rId4" Type="http://schemas.openxmlformats.org/officeDocument/2006/relationships/image" Target="../media/image30.png"/></Relationships>
</file>

<file path=ppt/slides/_rels/slide5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55.xml"/><Relationship Id="rId1" Type="http://schemas.openxmlformats.org/officeDocument/2006/relationships/slideLayout" Target="../slideLayouts/slideLayout4.xml"/><Relationship Id="rId4" Type="http://schemas.openxmlformats.org/officeDocument/2006/relationships/image" Target="../media/image30.png"/></Relationships>
</file>

<file path=ppt/slides/_rels/slide56.xml.rels><?xml version="1.0" encoding="UTF-8" standalone="yes"?>
<Relationships xmlns="http://schemas.openxmlformats.org/package/2006/relationships"><Relationship Id="rId3" Type="http://schemas.openxmlformats.org/officeDocument/2006/relationships/image" Target="../media/image31.jpg"/><Relationship Id="rId2" Type="http://schemas.openxmlformats.org/officeDocument/2006/relationships/notesSlide" Target="../notesSlides/notesSlide56.xml"/><Relationship Id="rId1" Type="http://schemas.openxmlformats.org/officeDocument/2006/relationships/slideLayout" Target="../slideLayouts/slideLayout4.xml"/><Relationship Id="rId5" Type="http://schemas.openxmlformats.org/officeDocument/2006/relationships/image" Target="../media/image33.jpg"/><Relationship Id="rId4" Type="http://schemas.openxmlformats.org/officeDocument/2006/relationships/image" Target="../media/image32.jpg"/></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4.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4.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4.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4.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4.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4.xml"/></Relationships>
</file>

<file path=ppt/slides/_rels/slide6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68.xml"/><Relationship Id="rId1" Type="http://schemas.openxmlformats.org/officeDocument/2006/relationships/slideLayout" Target="../slideLayouts/slideLayout4.xml"/><Relationship Id="rId5" Type="http://schemas.openxmlformats.org/officeDocument/2006/relationships/image" Target="../media/image36.png"/><Relationship Id="rId4" Type="http://schemas.openxmlformats.org/officeDocument/2006/relationships/image" Target="../media/image35.png"/></Relationships>
</file>

<file path=ppt/slides/_rels/slide6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69.xml"/><Relationship Id="rId1" Type="http://schemas.openxmlformats.org/officeDocument/2006/relationships/slideLayout" Target="../slideLayouts/slideLayout4.xml"/><Relationship Id="rId5" Type="http://schemas.openxmlformats.org/officeDocument/2006/relationships/image" Target="../media/image38.png"/><Relationship Id="rId4" Type="http://schemas.openxmlformats.org/officeDocument/2006/relationships/image" Target="../media/image30.png"/></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4.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4.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4.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4.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4.xml"/></Relationships>
</file>

<file path=ppt/slides/_rels/slide7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75.xml"/><Relationship Id="rId1" Type="http://schemas.openxmlformats.org/officeDocument/2006/relationships/slideLayout" Target="../slideLayouts/slideLayout4.xml"/></Relationships>
</file>

<file path=ppt/slides/_rels/slide7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76.xml"/><Relationship Id="rId1" Type="http://schemas.openxmlformats.org/officeDocument/2006/relationships/slideLayout" Target="../slideLayouts/slideLayout4.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4.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4.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4.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Subtitle 2"/>
          <p:cNvSpPr>
            <a:spLocks noGrp="1"/>
          </p:cNvSpPr>
          <p:nvPr>
            <p:ph type="subTitle" idx="1"/>
          </p:nvPr>
        </p:nvSpPr>
        <p:spPr bwMode="auto"/>
        <p:txBody>
          <a:bodyPr/>
          <a:lstStyle/>
          <a:p>
            <a:pPr>
              <a:defRPr/>
            </a:pPr>
            <a:r>
              <a:rPr lang="en-US" altLang="zh-CN" sz="3200" dirty="0" err="1">
                <a:solidFill>
                  <a:srgbClr val="000000"/>
                </a:solidFill>
                <a:latin typeface="Palatino Linotype"/>
                <a:ea typeface="Palatino Linotype"/>
                <a:cs typeface="Palatino Linotype"/>
              </a:rPr>
              <a:t>Yanhui</a:t>
            </a:r>
            <a:r>
              <a:rPr lang="en-US" altLang="zh-CN" sz="3200" dirty="0">
                <a:solidFill>
                  <a:srgbClr val="000000"/>
                </a:solidFill>
                <a:latin typeface="Palatino Linotype"/>
                <a:ea typeface="Palatino Linotype"/>
                <a:cs typeface="Palatino Linotype"/>
              </a:rPr>
              <a:t> Guo</a:t>
            </a:r>
            <a:endParaRPr lang="zh-CN" altLang="en-US" sz="3200" dirty="0">
              <a:solidFill>
                <a:srgbClr val="000000"/>
              </a:solidFill>
              <a:latin typeface="Palatino Linotype"/>
              <a:ea typeface="Palatino Linotype"/>
              <a:cs typeface="Palatino Linotype"/>
            </a:endParaRPr>
          </a:p>
          <a:p>
            <a:pPr>
              <a:defRPr/>
            </a:pPr>
            <a:r>
              <a:rPr lang="en-US" sz="3200" spc="4" dirty="0">
                <a:solidFill>
                  <a:srgbClr val="000000"/>
                </a:solidFill>
                <a:latin typeface="Palatino Linotype"/>
                <a:ea typeface="Palatino Linotype"/>
                <a:cs typeface="Palatino Linotype"/>
              </a:rPr>
              <a:t> </a:t>
            </a:r>
            <a:r>
              <a:rPr lang="en-US" sz="3200" spc="-4" dirty="0">
                <a:solidFill>
                  <a:srgbClr val="000000"/>
                </a:solidFill>
                <a:latin typeface="Palatino Linotype"/>
                <a:ea typeface="Palatino Linotype"/>
                <a:cs typeface="Palatino Linotype"/>
              </a:rPr>
              <a:t>yhguo@bupt.edu.cn</a:t>
            </a:r>
            <a:endParaRPr dirty="0"/>
          </a:p>
        </p:txBody>
      </p:sp>
      <p:sp>
        <p:nvSpPr>
          <p:cNvPr id="1688287224" name="Slide Number Placeholder 5"/>
          <p:cNvSpPr>
            <a:spLocks noGrp="1"/>
          </p:cNvSpPr>
          <p:nvPr>
            <p:ph type="sldNum" sz="quarter" idx="12"/>
          </p:nvPr>
        </p:nvSpPr>
        <p:spPr bwMode="auto"/>
        <p:txBody>
          <a:bodyPr/>
          <a:lstStyle/>
          <a:p>
            <a:pPr>
              <a:defRPr/>
            </a:pPr>
            <a:fld id="{FB84656F-ACB0-5C0A-4CED-E490BACA254F}" type="slidenum">
              <a:rPr/>
              <a:t>1</a:t>
            </a:fld>
            <a:endParaRPr/>
          </a:p>
        </p:txBody>
      </p:sp>
      <p:sp>
        <p:nvSpPr>
          <p:cNvPr id="1341913610" name="Footer Placeholder 4"/>
          <p:cNvSpPr>
            <a:spLocks noGrp="1"/>
          </p:cNvSpPr>
          <p:nvPr>
            <p:ph type="ftr" sz="quarter" idx="11"/>
          </p:nvPr>
        </p:nvSpPr>
        <p:spPr bwMode="auto"/>
        <p:txBody>
          <a:bodyPr/>
          <a:lstStyle>
            <a:lvl1pPr>
              <a:defRPr>
                <a:latin typeface="Ubuntu Mono derivative Powerlin"/>
              </a:defRPr>
            </a:lvl1pPr>
          </a:lstStyle>
          <a:p>
            <a:pPr>
              <a:defRPr/>
            </a:pPr>
            <a:r>
              <a:t>BUPT Compilers</a:t>
            </a:r>
          </a:p>
        </p:txBody>
      </p:sp>
      <p:sp>
        <p:nvSpPr>
          <p:cNvPr id="683812125" name="Date Placeholder 3"/>
          <p:cNvSpPr>
            <a:spLocks noGrp="1"/>
          </p:cNvSpPr>
          <p:nvPr>
            <p:ph type="dt" sz="half" idx="10"/>
          </p:nvPr>
        </p:nvSpPr>
        <p:spPr bwMode="auto"/>
        <p:txBody>
          <a:bodyPr/>
          <a:lstStyle>
            <a:lvl1pPr>
              <a:defRPr>
                <a:latin typeface="Ubuntu Mono derivative Powerlin"/>
              </a:defRPr>
            </a:lvl1pPr>
          </a:lstStyle>
          <a:p>
            <a:pPr>
              <a:defRPr/>
            </a:pPr>
            <a:r>
              <a:rPr lang="en-US" altLang="zh-CN"/>
              <a:t>Fall 2024</a:t>
            </a:r>
            <a:endParaRPr/>
          </a:p>
        </p:txBody>
      </p:sp>
      <p:sp>
        <p:nvSpPr>
          <p:cNvPr id="5" name="object 2">
            <a:extLst>
              <a:ext uri="{FF2B5EF4-FFF2-40B4-BE49-F238E27FC236}">
                <a16:creationId xmlns:a16="http://schemas.microsoft.com/office/drawing/2014/main" id="{94AAA35A-3D61-3A5F-F9F7-130355F74CA5}"/>
              </a:ext>
            </a:extLst>
          </p:cNvPr>
          <p:cNvSpPr txBox="1">
            <a:spLocks/>
          </p:cNvSpPr>
          <p:nvPr/>
        </p:nvSpPr>
        <p:spPr>
          <a:xfrm>
            <a:off x="848454" y="2108708"/>
            <a:ext cx="7447090" cy="756919"/>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a:spcBef>
                <a:spcPts val="100"/>
              </a:spcBef>
            </a:pPr>
            <a:r>
              <a:rPr lang="en-US" sz="4800" dirty="0">
                <a:solidFill>
                  <a:srgbClr val="262626"/>
                </a:solidFill>
                <a:latin typeface="Times New Roman"/>
                <a:cs typeface="Times New Roman"/>
              </a:rPr>
              <a:t>Chapter</a:t>
            </a:r>
            <a:r>
              <a:rPr lang="en-US" sz="4800" spc="-160" dirty="0">
                <a:solidFill>
                  <a:srgbClr val="262626"/>
                </a:solidFill>
                <a:latin typeface="Times New Roman"/>
                <a:cs typeface="Times New Roman"/>
              </a:rPr>
              <a:t> </a:t>
            </a:r>
            <a:r>
              <a:rPr lang="en-US" sz="4800" dirty="0">
                <a:solidFill>
                  <a:srgbClr val="262626"/>
                </a:solidFill>
                <a:latin typeface="Times New Roman"/>
                <a:cs typeface="Times New Roman"/>
              </a:rPr>
              <a:t>7:</a:t>
            </a:r>
            <a:r>
              <a:rPr lang="en-US" sz="4800" spc="-70" dirty="0">
                <a:solidFill>
                  <a:srgbClr val="262626"/>
                </a:solidFill>
                <a:latin typeface="Times New Roman"/>
                <a:cs typeface="Times New Roman"/>
              </a:rPr>
              <a:t> </a:t>
            </a:r>
            <a:r>
              <a:rPr lang="en-US" sz="4800" dirty="0">
                <a:solidFill>
                  <a:srgbClr val="262626"/>
                </a:solidFill>
                <a:latin typeface="Times New Roman"/>
                <a:cs typeface="Times New Roman"/>
              </a:rPr>
              <a:t>Code</a:t>
            </a:r>
            <a:r>
              <a:rPr lang="en-US" sz="4800" spc="-75" dirty="0">
                <a:solidFill>
                  <a:srgbClr val="262626"/>
                </a:solidFill>
                <a:latin typeface="Times New Roman"/>
                <a:cs typeface="Times New Roman"/>
              </a:rPr>
              <a:t> </a:t>
            </a:r>
            <a:r>
              <a:rPr lang="en-US" sz="4800" spc="-10" dirty="0">
                <a:solidFill>
                  <a:srgbClr val="262626"/>
                </a:solidFill>
                <a:latin typeface="Times New Roman"/>
                <a:cs typeface="Times New Roman"/>
              </a:rPr>
              <a:t>Generation</a:t>
            </a:r>
            <a:endParaRPr lang="en-US" sz="4800" dirty="0">
              <a:latin typeface="Times New Roman"/>
              <a:cs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2</a:t>
            </a:fld>
            <a:endParaRPr lang="en-US"/>
          </a:p>
        </p:txBody>
      </p:sp>
      <p:sp>
        <p:nvSpPr>
          <p:cNvPr id="11" name="object 2">
            <a:extLst>
              <a:ext uri="{FF2B5EF4-FFF2-40B4-BE49-F238E27FC236}">
                <a16:creationId xmlns:a16="http://schemas.microsoft.com/office/drawing/2014/main" id="{7C54EA4C-D26A-5604-F27C-08930437B0E9}"/>
              </a:ext>
            </a:extLst>
          </p:cNvPr>
          <p:cNvSpPr txBox="1">
            <a:spLocks/>
          </p:cNvSpPr>
          <p:nvPr/>
        </p:nvSpPr>
        <p:spPr>
          <a:xfrm>
            <a:off x="707390" y="524763"/>
            <a:ext cx="7729219" cy="63500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4000" b="1" i="0" u="none" strike="noStrike" kern="0" cap="none" spc="-10" normalizeH="0" baseline="0" noProof="0">
                <a:ln>
                  <a:noFill/>
                </a:ln>
                <a:solidFill>
                  <a:sysClr val="windowText" lastClr="000000"/>
                </a:solidFill>
                <a:effectLst/>
                <a:uLnTx/>
                <a:uFillTx/>
                <a:latin typeface="Palatino Linotype"/>
                <a:ea typeface="+mj-ea"/>
              </a:rPr>
              <a:t>Outline</a:t>
            </a:r>
            <a:endParaRPr kumimoji="0" lang="en-US" sz="4000" b="1" i="0" u="none" strike="noStrike" kern="0" cap="none" spc="-10" normalizeH="0" baseline="0" noProof="0" dirty="0">
              <a:ln>
                <a:noFill/>
              </a:ln>
              <a:solidFill>
                <a:sysClr val="windowText" lastClr="000000"/>
              </a:solidFill>
              <a:effectLst/>
              <a:uLnTx/>
              <a:uFillTx/>
              <a:latin typeface="Palatino Linotype"/>
              <a:ea typeface="+mj-ea"/>
            </a:endParaRPr>
          </a:p>
        </p:txBody>
      </p:sp>
      <p:sp>
        <p:nvSpPr>
          <p:cNvPr id="12" name="object 3">
            <a:extLst>
              <a:ext uri="{FF2B5EF4-FFF2-40B4-BE49-F238E27FC236}">
                <a16:creationId xmlns:a16="http://schemas.microsoft.com/office/drawing/2014/main" id="{3F747CEB-ED06-3038-1AFF-E49DB1A7E34F}"/>
              </a:ext>
            </a:extLst>
          </p:cNvPr>
          <p:cNvSpPr txBox="1"/>
          <p:nvPr/>
        </p:nvSpPr>
        <p:spPr>
          <a:xfrm>
            <a:off x="707390" y="1631188"/>
            <a:ext cx="4697730" cy="4146550"/>
          </a:xfrm>
          <a:prstGeom prst="rect">
            <a:avLst/>
          </a:prstGeom>
        </p:spPr>
        <p:txBody>
          <a:bodyPr vert="horz" wrap="square" lIns="0" tIns="12700" rIns="0" bIns="0" rtlCol="0">
            <a:spAutoFit/>
          </a:bodyPr>
          <a:lstStyle/>
          <a:p>
            <a:pPr marL="242570" indent="-229870">
              <a:spcBef>
                <a:spcPts val="100"/>
              </a:spcBef>
              <a:buFont typeface="Arial MT"/>
              <a:buChar char="•"/>
              <a:tabLst>
                <a:tab pos="242570" algn="l"/>
              </a:tabLst>
            </a:pPr>
            <a:r>
              <a:rPr sz="2200" dirty="0">
                <a:solidFill>
                  <a:sysClr val="windowText" lastClr="000000"/>
                </a:solidFill>
                <a:latin typeface="Palatino Linotype"/>
                <a:cs typeface="Palatino Linotype"/>
              </a:rPr>
              <a:t>Design</a:t>
            </a:r>
            <a:r>
              <a:rPr sz="2200" spc="-45" dirty="0">
                <a:solidFill>
                  <a:sysClr val="windowText" lastClr="000000"/>
                </a:solidFill>
                <a:latin typeface="Palatino Linotype"/>
                <a:cs typeface="Palatino Linotype"/>
              </a:rPr>
              <a:t> </a:t>
            </a:r>
            <a:r>
              <a:rPr sz="2200" spc="-10" dirty="0">
                <a:solidFill>
                  <a:sysClr val="windowText" lastClr="000000"/>
                </a:solidFill>
                <a:latin typeface="Palatino Linotype"/>
                <a:cs typeface="Palatino Linotype"/>
              </a:rPr>
              <a:t>Issues</a:t>
            </a:r>
            <a:endParaRPr sz="2200" dirty="0">
              <a:solidFill>
                <a:sysClr val="windowText" lastClr="000000"/>
              </a:solidFill>
              <a:latin typeface="Palatino Linotype"/>
              <a:cs typeface="Palatino Linotype"/>
            </a:endParaRPr>
          </a:p>
          <a:p>
            <a:pPr marL="242570" indent="-229870">
              <a:spcBef>
                <a:spcPts val="2255"/>
              </a:spcBef>
              <a:buFont typeface="Arial MT"/>
              <a:buChar char="•"/>
              <a:tabLst>
                <a:tab pos="242570" algn="l"/>
              </a:tabLst>
            </a:pPr>
            <a:r>
              <a:rPr sz="2200" dirty="0">
                <a:solidFill>
                  <a:sysClr val="windowText" lastClr="000000"/>
                </a:solidFill>
                <a:latin typeface="Palatino Linotype"/>
                <a:cs typeface="Palatino Linotype"/>
              </a:rPr>
              <a:t>The</a:t>
            </a:r>
            <a:r>
              <a:rPr sz="2200" spc="-55" dirty="0">
                <a:solidFill>
                  <a:sysClr val="windowText" lastClr="000000"/>
                </a:solidFill>
                <a:latin typeface="Palatino Linotype"/>
                <a:cs typeface="Palatino Linotype"/>
              </a:rPr>
              <a:t> </a:t>
            </a:r>
            <a:r>
              <a:rPr sz="2200" spc="-25" dirty="0">
                <a:solidFill>
                  <a:sysClr val="windowText" lastClr="000000"/>
                </a:solidFill>
                <a:latin typeface="Palatino Linotype"/>
                <a:cs typeface="Palatino Linotype"/>
              </a:rPr>
              <a:t>Target</a:t>
            </a:r>
            <a:r>
              <a:rPr sz="2200" spc="-55" dirty="0">
                <a:solidFill>
                  <a:sysClr val="windowText" lastClr="000000"/>
                </a:solidFill>
                <a:latin typeface="Palatino Linotype"/>
                <a:cs typeface="Palatino Linotype"/>
              </a:rPr>
              <a:t> </a:t>
            </a:r>
            <a:r>
              <a:rPr sz="2200" spc="-10" dirty="0">
                <a:solidFill>
                  <a:sysClr val="windowText" lastClr="000000"/>
                </a:solidFill>
                <a:latin typeface="Palatino Linotype"/>
                <a:cs typeface="Palatino Linotype"/>
              </a:rPr>
              <a:t>Language</a:t>
            </a:r>
            <a:endParaRPr sz="2200" dirty="0">
              <a:solidFill>
                <a:sysClr val="windowText" lastClr="000000"/>
              </a:solidFill>
              <a:latin typeface="Palatino Linotype"/>
              <a:cs typeface="Palatino Linotype"/>
            </a:endParaRPr>
          </a:p>
          <a:p>
            <a:pPr marL="242570" indent="-229870">
              <a:spcBef>
                <a:spcPts val="2350"/>
              </a:spcBef>
              <a:buFont typeface="Arial MT"/>
              <a:buChar char="•"/>
              <a:tabLst>
                <a:tab pos="242570" algn="l"/>
              </a:tabLst>
            </a:pPr>
            <a:r>
              <a:rPr sz="2200" dirty="0">
                <a:solidFill>
                  <a:sysClr val="windowText" lastClr="000000"/>
                </a:solidFill>
                <a:latin typeface="Palatino Linotype"/>
                <a:cs typeface="Palatino Linotype"/>
              </a:rPr>
              <a:t>Addresses</a:t>
            </a:r>
            <a:r>
              <a:rPr sz="2200" spc="-40" dirty="0">
                <a:solidFill>
                  <a:sysClr val="windowText" lastClr="000000"/>
                </a:solidFill>
                <a:latin typeface="Palatino Linotype"/>
                <a:cs typeface="Palatino Linotype"/>
              </a:rPr>
              <a:t> </a:t>
            </a:r>
            <a:r>
              <a:rPr sz="2200" dirty="0">
                <a:solidFill>
                  <a:sysClr val="windowText" lastClr="000000"/>
                </a:solidFill>
                <a:latin typeface="Palatino Linotype"/>
                <a:cs typeface="Palatino Linotype"/>
              </a:rPr>
              <a:t>in</a:t>
            </a:r>
            <a:r>
              <a:rPr sz="2200" spc="-50" dirty="0">
                <a:solidFill>
                  <a:sysClr val="windowText" lastClr="000000"/>
                </a:solidFill>
                <a:latin typeface="Palatino Linotype"/>
                <a:cs typeface="Palatino Linotype"/>
              </a:rPr>
              <a:t> </a:t>
            </a:r>
            <a:r>
              <a:rPr sz="2200" dirty="0">
                <a:solidFill>
                  <a:sysClr val="windowText" lastClr="000000"/>
                </a:solidFill>
                <a:latin typeface="Palatino Linotype"/>
                <a:cs typeface="Palatino Linotype"/>
              </a:rPr>
              <a:t>the</a:t>
            </a:r>
            <a:r>
              <a:rPr sz="2200" spc="-45" dirty="0">
                <a:solidFill>
                  <a:sysClr val="windowText" lastClr="000000"/>
                </a:solidFill>
                <a:latin typeface="Palatino Linotype"/>
                <a:cs typeface="Palatino Linotype"/>
              </a:rPr>
              <a:t> </a:t>
            </a:r>
            <a:r>
              <a:rPr sz="2200" spc="-25" dirty="0">
                <a:solidFill>
                  <a:sysClr val="windowText" lastClr="000000"/>
                </a:solidFill>
                <a:latin typeface="Palatino Linotype"/>
                <a:cs typeface="Palatino Linotype"/>
              </a:rPr>
              <a:t>Target</a:t>
            </a:r>
            <a:r>
              <a:rPr sz="2200" spc="-45" dirty="0">
                <a:solidFill>
                  <a:sysClr val="windowText" lastClr="000000"/>
                </a:solidFill>
                <a:latin typeface="Palatino Linotype"/>
                <a:cs typeface="Palatino Linotype"/>
              </a:rPr>
              <a:t> </a:t>
            </a:r>
            <a:r>
              <a:rPr sz="2200" spc="-20" dirty="0">
                <a:solidFill>
                  <a:sysClr val="windowText" lastClr="000000"/>
                </a:solidFill>
                <a:latin typeface="Palatino Linotype"/>
                <a:cs typeface="Palatino Linotype"/>
              </a:rPr>
              <a:t>Code</a:t>
            </a:r>
            <a:endParaRPr sz="2200" dirty="0">
              <a:solidFill>
                <a:sysClr val="windowText" lastClr="000000"/>
              </a:solidFill>
              <a:latin typeface="Palatino Linotype"/>
              <a:cs typeface="Palatino Linotype"/>
            </a:endParaRPr>
          </a:p>
          <a:p>
            <a:pPr marL="242570" indent="-229870">
              <a:spcBef>
                <a:spcPts val="2375"/>
              </a:spcBef>
              <a:buFont typeface="Arial MT"/>
              <a:buChar char="•"/>
              <a:tabLst>
                <a:tab pos="242570" algn="l"/>
              </a:tabLst>
            </a:pPr>
            <a:r>
              <a:rPr sz="2200" dirty="0">
                <a:solidFill>
                  <a:sysClr val="windowText" lastClr="000000"/>
                </a:solidFill>
                <a:latin typeface="Palatino Linotype"/>
                <a:cs typeface="Palatino Linotype"/>
              </a:rPr>
              <a:t>Basic</a:t>
            </a:r>
            <a:r>
              <a:rPr sz="2200" spc="-45" dirty="0">
                <a:solidFill>
                  <a:sysClr val="windowText" lastClr="000000"/>
                </a:solidFill>
                <a:latin typeface="Palatino Linotype"/>
                <a:cs typeface="Palatino Linotype"/>
              </a:rPr>
              <a:t> </a:t>
            </a:r>
            <a:r>
              <a:rPr sz="2200" dirty="0">
                <a:solidFill>
                  <a:sysClr val="windowText" lastClr="000000"/>
                </a:solidFill>
                <a:latin typeface="Palatino Linotype"/>
                <a:cs typeface="Palatino Linotype"/>
              </a:rPr>
              <a:t>Blocks</a:t>
            </a:r>
            <a:r>
              <a:rPr sz="2200" spc="-30" dirty="0">
                <a:solidFill>
                  <a:sysClr val="windowText" lastClr="000000"/>
                </a:solidFill>
                <a:latin typeface="Palatino Linotype"/>
                <a:cs typeface="Palatino Linotype"/>
              </a:rPr>
              <a:t> </a:t>
            </a:r>
            <a:r>
              <a:rPr sz="2200" dirty="0">
                <a:solidFill>
                  <a:sysClr val="windowText" lastClr="000000"/>
                </a:solidFill>
                <a:latin typeface="Palatino Linotype"/>
                <a:cs typeface="Palatino Linotype"/>
              </a:rPr>
              <a:t>and</a:t>
            </a:r>
            <a:r>
              <a:rPr sz="2200" spc="-30" dirty="0">
                <a:solidFill>
                  <a:sysClr val="windowText" lastClr="000000"/>
                </a:solidFill>
                <a:latin typeface="Palatino Linotype"/>
                <a:cs typeface="Palatino Linotype"/>
              </a:rPr>
              <a:t> </a:t>
            </a:r>
            <a:r>
              <a:rPr sz="2200" dirty="0">
                <a:solidFill>
                  <a:sysClr val="windowText" lastClr="000000"/>
                </a:solidFill>
                <a:latin typeface="Palatino Linotype"/>
                <a:cs typeface="Palatino Linotype"/>
              </a:rPr>
              <a:t>Flow</a:t>
            </a:r>
            <a:r>
              <a:rPr sz="2200" spc="-35" dirty="0">
                <a:solidFill>
                  <a:sysClr val="windowText" lastClr="000000"/>
                </a:solidFill>
                <a:latin typeface="Palatino Linotype"/>
                <a:cs typeface="Palatino Linotype"/>
              </a:rPr>
              <a:t> </a:t>
            </a:r>
            <a:r>
              <a:rPr sz="2200" spc="-10" dirty="0">
                <a:solidFill>
                  <a:sysClr val="windowText" lastClr="000000"/>
                </a:solidFill>
                <a:latin typeface="Palatino Linotype"/>
                <a:cs typeface="Palatino Linotype"/>
              </a:rPr>
              <a:t>Graph</a:t>
            </a:r>
            <a:endParaRPr sz="2200" dirty="0">
              <a:solidFill>
                <a:sysClr val="windowText" lastClr="000000"/>
              </a:solidFill>
              <a:latin typeface="Palatino Linotype"/>
              <a:cs typeface="Palatino Linotype"/>
            </a:endParaRPr>
          </a:p>
          <a:p>
            <a:pPr marL="242570" indent="-229870">
              <a:spcBef>
                <a:spcPts val="2260"/>
              </a:spcBef>
              <a:buFont typeface="Arial MT"/>
              <a:buChar char="•"/>
              <a:tabLst>
                <a:tab pos="242570" algn="l"/>
              </a:tabLst>
            </a:pPr>
            <a:r>
              <a:rPr sz="2200" dirty="0">
                <a:solidFill>
                  <a:sysClr val="windowText" lastClr="000000"/>
                </a:solidFill>
                <a:latin typeface="Palatino Linotype"/>
                <a:cs typeface="Palatino Linotype"/>
              </a:rPr>
              <a:t>Optimization</a:t>
            </a:r>
            <a:r>
              <a:rPr sz="2200" spc="-45" dirty="0">
                <a:solidFill>
                  <a:sysClr val="windowText" lastClr="000000"/>
                </a:solidFill>
                <a:latin typeface="Palatino Linotype"/>
                <a:cs typeface="Palatino Linotype"/>
              </a:rPr>
              <a:t> </a:t>
            </a:r>
            <a:r>
              <a:rPr sz="2200" dirty="0">
                <a:solidFill>
                  <a:sysClr val="windowText" lastClr="000000"/>
                </a:solidFill>
                <a:latin typeface="Palatino Linotype"/>
                <a:cs typeface="Palatino Linotype"/>
              </a:rPr>
              <a:t>of</a:t>
            </a:r>
            <a:r>
              <a:rPr sz="2200" spc="-35" dirty="0">
                <a:solidFill>
                  <a:sysClr val="windowText" lastClr="000000"/>
                </a:solidFill>
                <a:latin typeface="Palatino Linotype"/>
                <a:cs typeface="Palatino Linotype"/>
              </a:rPr>
              <a:t> </a:t>
            </a:r>
            <a:r>
              <a:rPr sz="2200" dirty="0">
                <a:solidFill>
                  <a:sysClr val="windowText" lastClr="000000"/>
                </a:solidFill>
                <a:latin typeface="Palatino Linotype"/>
                <a:cs typeface="Palatino Linotype"/>
              </a:rPr>
              <a:t>Basic</a:t>
            </a:r>
            <a:r>
              <a:rPr sz="2200" spc="-40" dirty="0">
                <a:solidFill>
                  <a:sysClr val="windowText" lastClr="000000"/>
                </a:solidFill>
                <a:latin typeface="Palatino Linotype"/>
                <a:cs typeface="Palatino Linotype"/>
              </a:rPr>
              <a:t> </a:t>
            </a:r>
            <a:r>
              <a:rPr sz="2200" spc="-10" dirty="0">
                <a:solidFill>
                  <a:sysClr val="windowText" lastClr="000000"/>
                </a:solidFill>
                <a:latin typeface="Palatino Linotype"/>
                <a:cs typeface="Palatino Linotype"/>
              </a:rPr>
              <a:t>Blocks</a:t>
            </a:r>
            <a:endParaRPr sz="2200" dirty="0">
              <a:solidFill>
                <a:sysClr val="windowText" lastClr="000000"/>
              </a:solidFill>
              <a:latin typeface="Palatino Linotype"/>
              <a:cs typeface="Palatino Linotype"/>
            </a:endParaRPr>
          </a:p>
          <a:p>
            <a:pPr marL="242570" indent="-229870">
              <a:spcBef>
                <a:spcPts val="2350"/>
              </a:spcBef>
              <a:buFont typeface="Arial MT"/>
              <a:buChar char="•"/>
              <a:tabLst>
                <a:tab pos="242570" algn="l"/>
              </a:tabLst>
            </a:pPr>
            <a:r>
              <a:rPr sz="2200" spc="-20" dirty="0">
                <a:solidFill>
                  <a:sysClr val="windowText" lastClr="000000"/>
                </a:solidFill>
                <a:latin typeface="Palatino Linotype"/>
                <a:cs typeface="Palatino Linotype"/>
              </a:rPr>
              <a:t>A</a:t>
            </a:r>
            <a:r>
              <a:rPr sz="2200" spc="-125" dirty="0">
                <a:solidFill>
                  <a:sysClr val="windowText" lastClr="000000"/>
                </a:solidFill>
                <a:latin typeface="Palatino Linotype"/>
                <a:cs typeface="Palatino Linotype"/>
              </a:rPr>
              <a:t> </a:t>
            </a:r>
            <a:r>
              <a:rPr sz="2200" dirty="0">
                <a:solidFill>
                  <a:sysClr val="windowText" lastClr="000000"/>
                </a:solidFill>
                <a:latin typeface="Palatino Linotype"/>
                <a:cs typeface="Palatino Linotype"/>
              </a:rPr>
              <a:t>Simple</a:t>
            </a:r>
            <a:r>
              <a:rPr sz="2200" spc="-45" dirty="0">
                <a:solidFill>
                  <a:sysClr val="windowText" lastClr="000000"/>
                </a:solidFill>
                <a:latin typeface="Palatino Linotype"/>
                <a:cs typeface="Palatino Linotype"/>
              </a:rPr>
              <a:t> </a:t>
            </a:r>
            <a:r>
              <a:rPr sz="2200" dirty="0">
                <a:solidFill>
                  <a:sysClr val="windowText" lastClr="000000"/>
                </a:solidFill>
                <a:latin typeface="Palatino Linotype"/>
                <a:cs typeface="Palatino Linotype"/>
              </a:rPr>
              <a:t>Code</a:t>
            </a:r>
            <a:r>
              <a:rPr sz="2200" spc="-25" dirty="0">
                <a:solidFill>
                  <a:sysClr val="windowText" lastClr="000000"/>
                </a:solidFill>
                <a:latin typeface="Palatino Linotype"/>
                <a:cs typeface="Palatino Linotype"/>
              </a:rPr>
              <a:t> </a:t>
            </a:r>
            <a:r>
              <a:rPr sz="2200" spc="-10" dirty="0">
                <a:solidFill>
                  <a:sysClr val="windowText" lastClr="000000"/>
                </a:solidFill>
                <a:latin typeface="Palatino Linotype"/>
                <a:cs typeface="Palatino Linotype"/>
              </a:rPr>
              <a:t>Generator</a:t>
            </a:r>
            <a:endParaRPr sz="2200" dirty="0">
              <a:solidFill>
                <a:sysClr val="windowText" lastClr="000000"/>
              </a:solidFill>
              <a:latin typeface="Palatino Linotype"/>
              <a:cs typeface="Palatino Linotype"/>
            </a:endParaRPr>
          </a:p>
          <a:p>
            <a:pPr marL="242570" indent="-229870">
              <a:spcBef>
                <a:spcPts val="2375"/>
              </a:spcBef>
              <a:buFont typeface="Arial MT"/>
              <a:buChar char="•"/>
              <a:tabLst>
                <a:tab pos="242570" algn="l"/>
              </a:tabLst>
            </a:pPr>
            <a:r>
              <a:rPr sz="2200" dirty="0">
                <a:solidFill>
                  <a:sysClr val="windowText" lastClr="000000"/>
                </a:solidFill>
                <a:latin typeface="Palatino Linotype"/>
                <a:cs typeface="Palatino Linotype"/>
              </a:rPr>
              <a:t>Register</a:t>
            </a:r>
            <a:r>
              <a:rPr sz="2200" spc="-120" dirty="0">
                <a:solidFill>
                  <a:sysClr val="windowText" lastClr="000000"/>
                </a:solidFill>
                <a:latin typeface="Palatino Linotype"/>
                <a:cs typeface="Palatino Linotype"/>
              </a:rPr>
              <a:t> </a:t>
            </a:r>
            <a:r>
              <a:rPr sz="2200" dirty="0">
                <a:solidFill>
                  <a:sysClr val="windowText" lastClr="000000"/>
                </a:solidFill>
                <a:latin typeface="Palatino Linotype"/>
                <a:cs typeface="Palatino Linotype"/>
              </a:rPr>
              <a:t>Allocation</a:t>
            </a:r>
            <a:r>
              <a:rPr sz="2200" spc="-65" dirty="0">
                <a:solidFill>
                  <a:sysClr val="windowText" lastClr="000000"/>
                </a:solidFill>
                <a:latin typeface="Palatino Linotype"/>
                <a:cs typeface="Palatino Linotype"/>
              </a:rPr>
              <a:t> </a:t>
            </a:r>
            <a:r>
              <a:rPr sz="2200" dirty="0">
                <a:solidFill>
                  <a:sysClr val="windowText" lastClr="000000"/>
                </a:solidFill>
                <a:latin typeface="Palatino Linotype"/>
                <a:cs typeface="Palatino Linotype"/>
              </a:rPr>
              <a:t>and</a:t>
            </a:r>
            <a:r>
              <a:rPr sz="2200" spc="-120" dirty="0">
                <a:solidFill>
                  <a:sysClr val="windowText" lastClr="000000"/>
                </a:solidFill>
                <a:latin typeface="Palatino Linotype"/>
                <a:cs typeface="Palatino Linotype"/>
              </a:rPr>
              <a:t> </a:t>
            </a:r>
            <a:r>
              <a:rPr sz="2200" spc="-10" dirty="0">
                <a:solidFill>
                  <a:sysClr val="windowText" lastClr="000000"/>
                </a:solidFill>
                <a:latin typeface="Palatino Linotype"/>
                <a:cs typeface="Palatino Linotype"/>
              </a:rPr>
              <a:t>Assignment</a:t>
            </a:r>
            <a:endParaRPr sz="2200" dirty="0">
              <a:solidFill>
                <a:sysClr val="windowText" lastClr="000000"/>
              </a:solidFill>
              <a:latin typeface="Palatino Linotype"/>
              <a:cs typeface="Palatino Linotype"/>
            </a:endParaRPr>
          </a:p>
        </p:txBody>
      </p:sp>
    </p:spTree>
    <p:extLst>
      <p:ext uri="{BB962C8B-B14F-4D97-AF65-F5344CB8AC3E}">
        <p14:creationId xmlns:p14="http://schemas.microsoft.com/office/powerpoint/2010/main" val="4696931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3</a:t>
            </a:fld>
            <a:endParaRPr lang="en-US"/>
          </a:p>
        </p:txBody>
      </p:sp>
      <p:sp>
        <p:nvSpPr>
          <p:cNvPr id="8" name="object 2">
            <a:extLst>
              <a:ext uri="{FF2B5EF4-FFF2-40B4-BE49-F238E27FC236}">
                <a16:creationId xmlns:a16="http://schemas.microsoft.com/office/drawing/2014/main" id="{062D060B-A472-681A-4C3A-BE587D539F24}"/>
              </a:ext>
            </a:extLst>
          </p:cNvPr>
          <p:cNvSpPr txBox="1">
            <a:spLocks/>
          </p:cNvSpPr>
          <p:nvPr/>
        </p:nvSpPr>
        <p:spPr>
          <a:xfrm>
            <a:off x="707390" y="524763"/>
            <a:ext cx="7729219" cy="63500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4000" b="1" i="0" u="none" strike="noStrike" kern="0" cap="none" spc="0" normalizeH="0" baseline="0" noProof="0">
                <a:ln>
                  <a:noFill/>
                </a:ln>
                <a:solidFill>
                  <a:sysClr val="windowText" lastClr="000000"/>
                </a:solidFill>
                <a:effectLst/>
                <a:uLnTx/>
                <a:uFillTx/>
                <a:latin typeface="Palatino Linotype"/>
                <a:ea typeface="+mj-ea"/>
              </a:rPr>
              <a:t>Code</a:t>
            </a:r>
            <a:r>
              <a:rPr kumimoji="0" lang="en-US" sz="4000" b="1" i="0" u="none" strike="noStrike" kern="0" cap="none" spc="-40" normalizeH="0" baseline="0" noProof="0">
                <a:ln>
                  <a:noFill/>
                </a:ln>
                <a:solidFill>
                  <a:sysClr val="windowText" lastClr="000000"/>
                </a:solidFill>
                <a:effectLst/>
                <a:uLnTx/>
                <a:uFillTx/>
                <a:latin typeface="Palatino Linotype"/>
                <a:ea typeface="+mj-ea"/>
              </a:rPr>
              <a:t> </a:t>
            </a:r>
            <a:r>
              <a:rPr kumimoji="0" lang="en-US" sz="4000" b="1" i="0" u="none" strike="noStrike" kern="0" cap="none" spc="-10" normalizeH="0" baseline="0" noProof="0">
                <a:ln>
                  <a:noFill/>
                </a:ln>
                <a:solidFill>
                  <a:sysClr val="windowText" lastClr="000000"/>
                </a:solidFill>
                <a:effectLst/>
                <a:uLnTx/>
                <a:uFillTx/>
                <a:latin typeface="Palatino Linotype"/>
                <a:ea typeface="+mj-ea"/>
              </a:rPr>
              <a:t>Generator</a:t>
            </a:r>
            <a:endParaRPr kumimoji="0" lang="en-US" sz="4000" b="1" i="0" u="none" strike="noStrike" kern="0" cap="none" spc="-10" normalizeH="0" baseline="0" noProof="0" dirty="0">
              <a:ln>
                <a:noFill/>
              </a:ln>
              <a:solidFill>
                <a:sysClr val="windowText" lastClr="000000"/>
              </a:solidFill>
              <a:effectLst/>
              <a:uLnTx/>
              <a:uFillTx/>
              <a:latin typeface="Palatino Linotype"/>
              <a:ea typeface="+mj-ea"/>
            </a:endParaRPr>
          </a:p>
        </p:txBody>
      </p:sp>
      <p:sp>
        <p:nvSpPr>
          <p:cNvPr id="9" name="object 3">
            <a:extLst>
              <a:ext uri="{FF2B5EF4-FFF2-40B4-BE49-F238E27FC236}">
                <a16:creationId xmlns:a16="http://schemas.microsoft.com/office/drawing/2014/main" id="{C34F80CE-D3CC-4A35-5408-C0C5B6AFAA6C}"/>
              </a:ext>
            </a:extLst>
          </p:cNvPr>
          <p:cNvSpPr txBox="1"/>
          <p:nvPr/>
        </p:nvSpPr>
        <p:spPr>
          <a:xfrm>
            <a:off x="707390" y="1659635"/>
            <a:ext cx="6984365" cy="2888615"/>
          </a:xfrm>
          <a:prstGeom prst="rect">
            <a:avLst/>
          </a:prstGeom>
        </p:spPr>
        <p:txBody>
          <a:bodyPr vert="horz" wrap="square" lIns="0" tIns="12700" rIns="0" bIns="0" rtlCol="0">
            <a:spAutoFit/>
          </a:bodyPr>
          <a:lstStyle/>
          <a:p>
            <a:pPr marL="242570" indent="-229870">
              <a:spcBef>
                <a:spcPts val="100"/>
              </a:spcBef>
              <a:buClr>
                <a:srgbClr val="000000"/>
              </a:buClr>
              <a:buFont typeface="Arial MT"/>
              <a:buChar char="•"/>
              <a:tabLst>
                <a:tab pos="242570" algn="l"/>
              </a:tabLst>
            </a:pPr>
            <a:r>
              <a:rPr sz="2000" dirty="0">
                <a:solidFill>
                  <a:srgbClr val="0432FF"/>
                </a:solidFill>
                <a:latin typeface="Palatino Linotype"/>
                <a:cs typeface="Palatino Linotype"/>
              </a:rPr>
              <a:t>Input:</a:t>
            </a:r>
            <a:r>
              <a:rPr sz="2000" spc="-30" dirty="0">
                <a:solidFill>
                  <a:srgbClr val="0432FF"/>
                </a:solidFill>
                <a:latin typeface="Palatino Linotype"/>
                <a:cs typeface="Palatino Linotype"/>
              </a:rPr>
              <a:t> </a:t>
            </a:r>
            <a:r>
              <a:rPr sz="2000" dirty="0">
                <a:solidFill>
                  <a:sysClr val="windowText" lastClr="000000"/>
                </a:solidFill>
                <a:latin typeface="Palatino Linotype"/>
                <a:cs typeface="Palatino Linotype"/>
              </a:rPr>
              <a:t>IR</a:t>
            </a:r>
            <a:r>
              <a:rPr sz="2000" spc="-70" dirty="0">
                <a:solidFill>
                  <a:sysClr val="windowText" lastClr="000000"/>
                </a:solidFill>
                <a:latin typeface="Palatino Linotype"/>
                <a:cs typeface="Palatino Linotype"/>
              </a:rPr>
              <a:t> </a:t>
            </a:r>
            <a:r>
              <a:rPr sz="2000" dirty="0">
                <a:solidFill>
                  <a:srgbClr val="A6A6A6"/>
                </a:solidFill>
                <a:latin typeface="Palatino Linotype"/>
                <a:cs typeface="Palatino Linotype"/>
              </a:rPr>
              <a:t>+</a:t>
            </a:r>
            <a:r>
              <a:rPr sz="2000" spc="-25" dirty="0">
                <a:solidFill>
                  <a:srgbClr val="A6A6A6"/>
                </a:solidFill>
                <a:latin typeface="Palatino Linotype"/>
                <a:cs typeface="Palatino Linotype"/>
              </a:rPr>
              <a:t> </a:t>
            </a:r>
            <a:r>
              <a:rPr sz="2000" dirty="0">
                <a:solidFill>
                  <a:srgbClr val="A6A6A6"/>
                </a:solidFill>
                <a:latin typeface="Palatino Linotype"/>
                <a:cs typeface="Palatino Linotype"/>
              </a:rPr>
              <a:t>symbol</a:t>
            </a:r>
            <a:r>
              <a:rPr sz="2000" spc="-20" dirty="0">
                <a:solidFill>
                  <a:srgbClr val="A6A6A6"/>
                </a:solidFill>
                <a:latin typeface="Palatino Linotype"/>
                <a:cs typeface="Palatino Linotype"/>
              </a:rPr>
              <a:t> </a:t>
            </a:r>
            <a:r>
              <a:rPr sz="2000" dirty="0">
                <a:solidFill>
                  <a:srgbClr val="A6A6A6"/>
                </a:solidFill>
                <a:latin typeface="Palatino Linotype"/>
                <a:cs typeface="Palatino Linotype"/>
              </a:rPr>
              <a:t>table</a:t>
            </a:r>
            <a:r>
              <a:rPr sz="2000" dirty="0">
                <a:solidFill>
                  <a:sysClr val="windowText" lastClr="000000"/>
                </a:solidFill>
                <a:latin typeface="Palatino Linotype"/>
                <a:cs typeface="Palatino Linotype"/>
              </a:rPr>
              <a:t>;</a:t>
            </a:r>
            <a:r>
              <a:rPr sz="2000" spc="-30" dirty="0">
                <a:solidFill>
                  <a:sysClr val="windowText" lastClr="000000"/>
                </a:solidFill>
                <a:latin typeface="Palatino Linotype"/>
                <a:cs typeface="Palatino Linotype"/>
              </a:rPr>
              <a:t> </a:t>
            </a:r>
            <a:r>
              <a:rPr sz="2000" dirty="0">
                <a:solidFill>
                  <a:srgbClr val="0432FF"/>
                </a:solidFill>
                <a:latin typeface="Palatino Linotype"/>
                <a:cs typeface="Palatino Linotype"/>
              </a:rPr>
              <a:t>Output:</a:t>
            </a:r>
            <a:r>
              <a:rPr sz="2000" spc="-25" dirty="0">
                <a:solidFill>
                  <a:srgbClr val="0432FF"/>
                </a:solidFill>
                <a:latin typeface="Palatino Linotype"/>
                <a:cs typeface="Palatino Linotype"/>
              </a:rPr>
              <a:t> </a:t>
            </a:r>
            <a:r>
              <a:rPr sz="2000" dirty="0">
                <a:solidFill>
                  <a:sysClr val="windowText" lastClr="000000"/>
                </a:solidFill>
                <a:latin typeface="Palatino Linotype"/>
                <a:cs typeface="Palatino Linotype"/>
              </a:rPr>
              <a:t>target</a:t>
            </a:r>
            <a:r>
              <a:rPr sz="2000" spc="-30" dirty="0">
                <a:solidFill>
                  <a:sysClr val="windowText" lastClr="000000"/>
                </a:solidFill>
                <a:latin typeface="Palatino Linotype"/>
                <a:cs typeface="Palatino Linotype"/>
              </a:rPr>
              <a:t> </a:t>
            </a:r>
            <a:r>
              <a:rPr sz="2000" spc="-10" dirty="0">
                <a:solidFill>
                  <a:sysClr val="windowText" lastClr="000000"/>
                </a:solidFill>
                <a:latin typeface="Palatino Linotype"/>
                <a:cs typeface="Palatino Linotype"/>
              </a:rPr>
              <a:t>program</a:t>
            </a:r>
            <a:endParaRPr sz="2000">
              <a:solidFill>
                <a:sysClr val="windowText" lastClr="000000"/>
              </a:solidFill>
              <a:latin typeface="Palatino Linotype"/>
              <a:cs typeface="Palatino Linotype"/>
            </a:endParaRPr>
          </a:p>
          <a:p>
            <a:pPr>
              <a:spcBef>
                <a:spcPts val="85"/>
              </a:spcBef>
              <a:buFont typeface="Arial MT"/>
              <a:buChar char="•"/>
            </a:pPr>
            <a:endParaRPr sz="2000">
              <a:solidFill>
                <a:sysClr val="windowText" lastClr="000000"/>
              </a:solidFill>
              <a:latin typeface="Palatino Linotype"/>
              <a:cs typeface="Palatino Linotype"/>
            </a:endParaRPr>
          </a:p>
          <a:p>
            <a:pPr marL="242570" indent="-229870">
              <a:buFont typeface="Arial MT"/>
              <a:buChar char="•"/>
              <a:tabLst>
                <a:tab pos="242570" algn="l"/>
              </a:tabLst>
            </a:pPr>
            <a:r>
              <a:rPr sz="2000" dirty="0">
                <a:solidFill>
                  <a:sysClr val="windowText" lastClr="000000"/>
                </a:solidFill>
                <a:latin typeface="Palatino Linotype"/>
                <a:cs typeface="Palatino Linotype"/>
              </a:rPr>
              <a:t>There</a:t>
            </a:r>
            <a:r>
              <a:rPr sz="2000" spc="-3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is</a:t>
            </a:r>
            <a:r>
              <a:rPr sz="2000" spc="-3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often</a:t>
            </a:r>
            <a:r>
              <a:rPr sz="2000" spc="-3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an</a:t>
            </a:r>
            <a:r>
              <a:rPr sz="2000" spc="-3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optimization</a:t>
            </a:r>
            <a:r>
              <a:rPr sz="2000" spc="-3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phase</a:t>
            </a:r>
            <a:r>
              <a:rPr sz="2000" spc="-2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before</a:t>
            </a:r>
            <a:r>
              <a:rPr sz="2000" spc="-3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code</a:t>
            </a:r>
            <a:r>
              <a:rPr sz="2000" spc="-30" dirty="0">
                <a:solidFill>
                  <a:sysClr val="windowText" lastClr="000000"/>
                </a:solidFill>
                <a:latin typeface="Palatino Linotype"/>
                <a:cs typeface="Palatino Linotype"/>
              </a:rPr>
              <a:t> </a:t>
            </a:r>
            <a:r>
              <a:rPr sz="2000" spc="-10" dirty="0">
                <a:solidFill>
                  <a:sysClr val="windowText" lastClr="000000"/>
                </a:solidFill>
                <a:latin typeface="Palatino Linotype"/>
                <a:cs typeface="Palatino Linotype"/>
              </a:rPr>
              <a:t>generation</a:t>
            </a:r>
            <a:endParaRPr sz="2000">
              <a:solidFill>
                <a:sysClr val="windowText" lastClr="000000"/>
              </a:solidFill>
              <a:latin typeface="Palatino Linotype"/>
              <a:cs typeface="Palatino Linotype"/>
            </a:endParaRPr>
          </a:p>
          <a:p>
            <a:pPr>
              <a:spcBef>
                <a:spcPts val="204"/>
              </a:spcBef>
              <a:buFont typeface="Arial MT"/>
              <a:buChar char="•"/>
            </a:pPr>
            <a:endParaRPr sz="2000">
              <a:solidFill>
                <a:sysClr val="windowText" lastClr="000000"/>
              </a:solidFill>
              <a:latin typeface="Palatino Linotype"/>
              <a:cs typeface="Palatino Linotype"/>
            </a:endParaRPr>
          </a:p>
          <a:p>
            <a:pPr marL="242570" indent="-229870">
              <a:buClr>
                <a:srgbClr val="000000"/>
              </a:buClr>
              <a:buFont typeface="Arial MT"/>
              <a:buChar char="•"/>
              <a:tabLst>
                <a:tab pos="242570" algn="l"/>
              </a:tabLst>
            </a:pPr>
            <a:r>
              <a:rPr sz="2000" dirty="0">
                <a:solidFill>
                  <a:srgbClr val="FF0000"/>
                </a:solidFill>
                <a:latin typeface="Palatino Linotype"/>
                <a:cs typeface="Palatino Linotype"/>
              </a:rPr>
              <a:t>Three</a:t>
            </a:r>
            <a:r>
              <a:rPr sz="2000" spc="-25" dirty="0">
                <a:solidFill>
                  <a:srgbClr val="FF0000"/>
                </a:solidFill>
                <a:latin typeface="Palatino Linotype"/>
                <a:cs typeface="Palatino Linotype"/>
              </a:rPr>
              <a:t> </a:t>
            </a:r>
            <a:r>
              <a:rPr sz="2000" dirty="0">
                <a:solidFill>
                  <a:srgbClr val="FF0000"/>
                </a:solidFill>
                <a:latin typeface="Palatino Linotype"/>
                <a:cs typeface="Palatino Linotype"/>
              </a:rPr>
              <a:t>primary</a:t>
            </a:r>
            <a:r>
              <a:rPr sz="2000" spc="-25" dirty="0">
                <a:solidFill>
                  <a:srgbClr val="FF0000"/>
                </a:solidFill>
                <a:latin typeface="Palatino Linotype"/>
                <a:cs typeface="Palatino Linotype"/>
              </a:rPr>
              <a:t> </a:t>
            </a:r>
            <a:r>
              <a:rPr sz="2000" dirty="0">
                <a:solidFill>
                  <a:srgbClr val="FF0000"/>
                </a:solidFill>
                <a:latin typeface="Palatino Linotype"/>
                <a:cs typeface="Palatino Linotype"/>
              </a:rPr>
              <a:t>tasks</a:t>
            </a:r>
            <a:r>
              <a:rPr sz="2000" spc="-25" dirty="0">
                <a:solidFill>
                  <a:srgbClr val="FF0000"/>
                </a:solidFill>
                <a:latin typeface="Palatino Linotype"/>
                <a:cs typeface="Palatino Linotype"/>
              </a:rPr>
              <a:t> </a:t>
            </a:r>
            <a:r>
              <a:rPr sz="2000" dirty="0">
                <a:solidFill>
                  <a:srgbClr val="FF0000"/>
                </a:solidFill>
                <a:latin typeface="Palatino Linotype"/>
                <a:cs typeface="Palatino Linotype"/>
              </a:rPr>
              <a:t>of</a:t>
            </a:r>
            <a:r>
              <a:rPr sz="2000" spc="-30" dirty="0">
                <a:solidFill>
                  <a:srgbClr val="FF0000"/>
                </a:solidFill>
                <a:latin typeface="Palatino Linotype"/>
                <a:cs typeface="Palatino Linotype"/>
              </a:rPr>
              <a:t> </a:t>
            </a:r>
            <a:r>
              <a:rPr sz="2000" dirty="0">
                <a:solidFill>
                  <a:srgbClr val="FF0000"/>
                </a:solidFill>
                <a:latin typeface="Palatino Linotype"/>
                <a:cs typeface="Palatino Linotype"/>
              </a:rPr>
              <a:t>a</a:t>
            </a:r>
            <a:r>
              <a:rPr sz="2000" spc="-25" dirty="0">
                <a:solidFill>
                  <a:srgbClr val="FF0000"/>
                </a:solidFill>
                <a:latin typeface="Palatino Linotype"/>
                <a:cs typeface="Palatino Linotype"/>
              </a:rPr>
              <a:t> </a:t>
            </a:r>
            <a:r>
              <a:rPr sz="2000" dirty="0">
                <a:solidFill>
                  <a:srgbClr val="FF0000"/>
                </a:solidFill>
                <a:latin typeface="Palatino Linotype"/>
                <a:cs typeface="Palatino Linotype"/>
              </a:rPr>
              <a:t>code</a:t>
            </a:r>
            <a:r>
              <a:rPr sz="2000" spc="-25" dirty="0">
                <a:solidFill>
                  <a:srgbClr val="FF0000"/>
                </a:solidFill>
                <a:latin typeface="Palatino Linotype"/>
                <a:cs typeface="Palatino Linotype"/>
              </a:rPr>
              <a:t> </a:t>
            </a:r>
            <a:r>
              <a:rPr sz="2000" spc="-10" dirty="0">
                <a:solidFill>
                  <a:srgbClr val="FF0000"/>
                </a:solidFill>
                <a:latin typeface="Palatino Linotype"/>
                <a:cs typeface="Palatino Linotype"/>
              </a:rPr>
              <a:t>generator:</a:t>
            </a:r>
            <a:endParaRPr sz="2000">
              <a:solidFill>
                <a:sysClr val="windowText" lastClr="000000"/>
              </a:solidFill>
              <a:latin typeface="Palatino Linotype"/>
              <a:cs typeface="Palatino Linotype"/>
            </a:endParaRPr>
          </a:p>
          <a:p>
            <a:pPr marL="697865" lvl="1" indent="-227965">
              <a:spcBef>
                <a:spcPts val="1110"/>
              </a:spcBef>
              <a:buFont typeface="Wingdings"/>
              <a:buChar char=""/>
              <a:tabLst>
                <a:tab pos="697865" algn="l"/>
              </a:tabLst>
            </a:pPr>
            <a:r>
              <a:rPr dirty="0">
                <a:solidFill>
                  <a:sysClr val="windowText" lastClr="000000"/>
                </a:solidFill>
                <a:latin typeface="Palatino Linotype"/>
                <a:cs typeface="Palatino Linotype"/>
              </a:rPr>
              <a:t>Instruction</a:t>
            </a:r>
            <a:r>
              <a:rPr spc="-80" dirty="0">
                <a:solidFill>
                  <a:sysClr val="windowText" lastClr="000000"/>
                </a:solidFill>
                <a:latin typeface="Palatino Linotype"/>
                <a:cs typeface="Palatino Linotype"/>
              </a:rPr>
              <a:t> </a:t>
            </a:r>
            <a:r>
              <a:rPr spc="-10" dirty="0">
                <a:solidFill>
                  <a:sysClr val="windowText" lastClr="000000"/>
                </a:solidFill>
                <a:latin typeface="Palatino Linotype"/>
                <a:cs typeface="Palatino Linotype"/>
              </a:rPr>
              <a:t>selection</a:t>
            </a:r>
            <a:endParaRPr>
              <a:solidFill>
                <a:sysClr val="windowText" lastClr="000000"/>
              </a:solidFill>
              <a:latin typeface="Palatino Linotype"/>
              <a:cs typeface="Palatino Linotype"/>
            </a:endParaRPr>
          </a:p>
          <a:p>
            <a:pPr marL="697865" lvl="1" indent="-227965">
              <a:spcBef>
                <a:spcPts val="1035"/>
              </a:spcBef>
              <a:buFont typeface="Wingdings"/>
              <a:buChar char=""/>
              <a:tabLst>
                <a:tab pos="697865" algn="l"/>
              </a:tabLst>
            </a:pPr>
            <a:r>
              <a:rPr dirty="0">
                <a:solidFill>
                  <a:sysClr val="windowText" lastClr="000000"/>
                </a:solidFill>
                <a:latin typeface="Palatino Linotype"/>
                <a:cs typeface="Palatino Linotype"/>
              </a:rPr>
              <a:t>Register</a:t>
            </a:r>
            <a:r>
              <a:rPr spc="-60"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allocation</a:t>
            </a:r>
            <a:r>
              <a:rPr spc="-55"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and</a:t>
            </a:r>
            <a:r>
              <a:rPr spc="-55" dirty="0">
                <a:solidFill>
                  <a:sysClr val="windowText" lastClr="000000"/>
                </a:solidFill>
                <a:latin typeface="Palatino Linotype"/>
                <a:cs typeface="Palatino Linotype"/>
              </a:rPr>
              <a:t> </a:t>
            </a:r>
            <a:r>
              <a:rPr spc="-10" dirty="0">
                <a:solidFill>
                  <a:sysClr val="windowText" lastClr="000000"/>
                </a:solidFill>
                <a:latin typeface="Palatino Linotype"/>
                <a:cs typeface="Palatino Linotype"/>
              </a:rPr>
              <a:t>assignment</a:t>
            </a:r>
            <a:endParaRPr>
              <a:solidFill>
                <a:sysClr val="windowText" lastClr="000000"/>
              </a:solidFill>
              <a:latin typeface="Palatino Linotype"/>
              <a:cs typeface="Palatino Linotype"/>
            </a:endParaRPr>
          </a:p>
          <a:p>
            <a:pPr marL="697865" lvl="1" indent="-227965">
              <a:spcBef>
                <a:spcPts val="1030"/>
              </a:spcBef>
              <a:buFont typeface="Wingdings"/>
              <a:buChar char=""/>
              <a:tabLst>
                <a:tab pos="697865" algn="l"/>
              </a:tabLst>
            </a:pPr>
            <a:r>
              <a:rPr dirty="0">
                <a:solidFill>
                  <a:sysClr val="windowText" lastClr="000000"/>
                </a:solidFill>
                <a:latin typeface="Palatino Linotype"/>
                <a:cs typeface="Palatino Linotype"/>
              </a:rPr>
              <a:t>Instruction</a:t>
            </a:r>
            <a:r>
              <a:rPr spc="-80" dirty="0">
                <a:solidFill>
                  <a:sysClr val="windowText" lastClr="000000"/>
                </a:solidFill>
                <a:latin typeface="Palatino Linotype"/>
                <a:cs typeface="Palatino Linotype"/>
              </a:rPr>
              <a:t> </a:t>
            </a:r>
            <a:r>
              <a:rPr spc="-10" dirty="0">
                <a:solidFill>
                  <a:sysClr val="windowText" lastClr="000000"/>
                </a:solidFill>
                <a:latin typeface="Palatino Linotype"/>
                <a:cs typeface="Palatino Linotype"/>
              </a:rPr>
              <a:t>ordering</a:t>
            </a:r>
            <a:endParaRPr>
              <a:solidFill>
                <a:sysClr val="windowText" lastClr="000000"/>
              </a:solidFill>
              <a:latin typeface="Palatino Linotype"/>
              <a:cs typeface="Palatino Linotype"/>
            </a:endParaRPr>
          </a:p>
        </p:txBody>
      </p:sp>
      <p:pic>
        <p:nvPicPr>
          <p:cNvPr id="10" name="object 4">
            <a:extLst>
              <a:ext uri="{FF2B5EF4-FFF2-40B4-BE49-F238E27FC236}">
                <a16:creationId xmlns:a16="http://schemas.microsoft.com/office/drawing/2014/main" id="{258E6D28-417A-DCD2-BF28-8A250BF723DD}"/>
              </a:ext>
            </a:extLst>
          </p:cNvPr>
          <p:cNvPicPr/>
          <p:nvPr/>
        </p:nvPicPr>
        <p:blipFill>
          <a:blip r:embed="rId3" cstate="print"/>
          <a:stretch>
            <a:fillRect/>
          </a:stretch>
        </p:blipFill>
        <p:spPr>
          <a:xfrm>
            <a:off x="771041" y="5113284"/>
            <a:ext cx="7601915" cy="702825"/>
          </a:xfrm>
          <a:prstGeom prst="rect">
            <a:avLst/>
          </a:prstGeom>
        </p:spPr>
      </p:pic>
    </p:spTree>
    <p:extLst>
      <p:ext uri="{BB962C8B-B14F-4D97-AF65-F5344CB8AC3E}">
        <p14:creationId xmlns:p14="http://schemas.microsoft.com/office/powerpoint/2010/main" val="17761544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4</a:t>
            </a:fld>
            <a:endParaRPr lang="en-US"/>
          </a:p>
        </p:txBody>
      </p:sp>
      <p:sp>
        <p:nvSpPr>
          <p:cNvPr id="7" name="object 2">
            <a:extLst>
              <a:ext uri="{FF2B5EF4-FFF2-40B4-BE49-F238E27FC236}">
                <a16:creationId xmlns:a16="http://schemas.microsoft.com/office/drawing/2014/main" id="{58D31489-EFB6-4534-19A0-F9040E7CFDA9}"/>
              </a:ext>
            </a:extLst>
          </p:cNvPr>
          <p:cNvSpPr txBox="1">
            <a:spLocks/>
          </p:cNvSpPr>
          <p:nvPr/>
        </p:nvSpPr>
        <p:spPr>
          <a:xfrm>
            <a:off x="707390" y="524763"/>
            <a:ext cx="7729219" cy="63500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4000" b="1" i="0" u="none" strike="noStrike" kern="0" cap="none" spc="0" normalizeH="0" baseline="0" noProof="0">
                <a:ln>
                  <a:noFill/>
                </a:ln>
                <a:solidFill>
                  <a:sysClr val="windowText" lastClr="000000"/>
                </a:solidFill>
                <a:effectLst/>
                <a:uLnTx/>
                <a:uFillTx/>
                <a:latin typeface="Palatino Linotype"/>
                <a:ea typeface="+mj-ea"/>
              </a:rPr>
              <a:t>Design</a:t>
            </a:r>
            <a:r>
              <a:rPr kumimoji="0" lang="en-US" sz="4000" b="1" i="0" u="none" strike="noStrike" kern="0" cap="none" spc="-80" normalizeH="0" baseline="0" noProof="0">
                <a:ln>
                  <a:noFill/>
                </a:ln>
                <a:solidFill>
                  <a:sysClr val="windowText" lastClr="000000"/>
                </a:solidFill>
                <a:effectLst/>
                <a:uLnTx/>
                <a:uFillTx/>
                <a:latin typeface="Palatino Linotype"/>
                <a:ea typeface="+mj-ea"/>
              </a:rPr>
              <a:t> </a:t>
            </a:r>
            <a:r>
              <a:rPr kumimoji="0" lang="en-US" sz="4000" b="1" i="0" u="none" strike="noStrike" kern="0" cap="none" spc="-10" normalizeH="0" baseline="0" noProof="0">
                <a:ln>
                  <a:noFill/>
                </a:ln>
                <a:solidFill>
                  <a:sysClr val="windowText" lastClr="000000"/>
                </a:solidFill>
                <a:effectLst/>
                <a:uLnTx/>
                <a:uFillTx/>
                <a:latin typeface="Palatino Linotype"/>
                <a:ea typeface="+mj-ea"/>
              </a:rPr>
              <a:t>Issues</a:t>
            </a:r>
            <a:endParaRPr kumimoji="0" lang="en-US" sz="4000" b="1" i="0" u="none" strike="noStrike" kern="0" cap="none" spc="-10" normalizeH="0" baseline="0" noProof="0" dirty="0">
              <a:ln>
                <a:noFill/>
              </a:ln>
              <a:solidFill>
                <a:sysClr val="windowText" lastClr="000000"/>
              </a:solidFill>
              <a:effectLst/>
              <a:uLnTx/>
              <a:uFillTx/>
              <a:latin typeface="Palatino Linotype"/>
              <a:ea typeface="+mj-ea"/>
            </a:endParaRPr>
          </a:p>
        </p:txBody>
      </p:sp>
      <p:sp>
        <p:nvSpPr>
          <p:cNvPr id="11" name="object 3">
            <a:extLst>
              <a:ext uri="{FF2B5EF4-FFF2-40B4-BE49-F238E27FC236}">
                <a16:creationId xmlns:a16="http://schemas.microsoft.com/office/drawing/2014/main" id="{237181F5-1D81-E87E-6C50-F1718B8BFA1E}"/>
              </a:ext>
            </a:extLst>
          </p:cNvPr>
          <p:cNvSpPr txBox="1"/>
          <p:nvPr/>
        </p:nvSpPr>
        <p:spPr>
          <a:xfrm>
            <a:off x="707390" y="1500885"/>
            <a:ext cx="7089775" cy="4554220"/>
          </a:xfrm>
          <a:prstGeom prst="rect">
            <a:avLst/>
          </a:prstGeom>
        </p:spPr>
        <p:txBody>
          <a:bodyPr vert="horz" wrap="square" lIns="0" tIns="171450" rIns="0" bIns="0" rtlCol="0">
            <a:spAutoFit/>
          </a:bodyPr>
          <a:lstStyle/>
          <a:p>
            <a:pPr marL="242570" indent="-229870">
              <a:spcBef>
                <a:spcPts val="1350"/>
              </a:spcBef>
              <a:buClr>
                <a:srgbClr val="000000"/>
              </a:buClr>
              <a:buFont typeface="Arial MT"/>
              <a:buChar char="•"/>
              <a:tabLst>
                <a:tab pos="242570" algn="l"/>
              </a:tabLst>
            </a:pPr>
            <a:r>
              <a:rPr sz="2000" dirty="0">
                <a:solidFill>
                  <a:srgbClr val="FF0000"/>
                </a:solidFill>
                <a:latin typeface="Palatino Linotype"/>
                <a:cs typeface="Palatino Linotype"/>
              </a:rPr>
              <a:t>Design</a:t>
            </a:r>
            <a:r>
              <a:rPr sz="2000" spc="-55" dirty="0">
                <a:solidFill>
                  <a:srgbClr val="FF0000"/>
                </a:solidFill>
                <a:latin typeface="Palatino Linotype"/>
                <a:cs typeface="Palatino Linotype"/>
              </a:rPr>
              <a:t> </a:t>
            </a:r>
            <a:r>
              <a:rPr sz="2000" spc="-10" dirty="0">
                <a:solidFill>
                  <a:srgbClr val="FF0000"/>
                </a:solidFill>
                <a:latin typeface="Palatino Linotype"/>
                <a:cs typeface="Palatino Linotype"/>
              </a:rPr>
              <a:t>goals:</a:t>
            </a:r>
            <a:endParaRPr sz="2000">
              <a:solidFill>
                <a:sysClr val="windowText" lastClr="000000"/>
              </a:solidFill>
              <a:latin typeface="Palatino Linotype"/>
              <a:cs typeface="Palatino Linotype"/>
            </a:endParaRPr>
          </a:p>
          <a:p>
            <a:pPr marL="697865" lvl="1" indent="-227965">
              <a:spcBef>
                <a:spcPts val="1000"/>
              </a:spcBef>
              <a:buFont typeface="Wingdings"/>
              <a:buChar char=""/>
              <a:tabLst>
                <a:tab pos="697865" algn="l"/>
              </a:tabLst>
            </a:pPr>
            <a:r>
              <a:rPr sz="1600" dirty="0">
                <a:solidFill>
                  <a:sysClr val="windowText" lastClr="000000"/>
                </a:solidFill>
                <a:latin typeface="Palatino Linotype"/>
                <a:cs typeface="Palatino Linotype"/>
              </a:rPr>
              <a:t>Correctness</a:t>
            </a:r>
            <a:r>
              <a:rPr sz="1600" spc="-35"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(the</a:t>
            </a:r>
            <a:r>
              <a:rPr sz="1600" spc="-35"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most</a:t>
            </a:r>
            <a:r>
              <a:rPr sz="1600" spc="-30" dirty="0">
                <a:solidFill>
                  <a:sysClr val="windowText" lastClr="000000"/>
                </a:solidFill>
                <a:latin typeface="Palatino Linotype"/>
                <a:cs typeface="Palatino Linotype"/>
              </a:rPr>
              <a:t> </a:t>
            </a:r>
            <a:r>
              <a:rPr sz="1600" spc="-10" dirty="0">
                <a:solidFill>
                  <a:sysClr val="windowText" lastClr="000000"/>
                </a:solidFill>
                <a:latin typeface="Palatino Linotype"/>
                <a:cs typeface="Palatino Linotype"/>
              </a:rPr>
              <a:t>important)</a:t>
            </a:r>
            <a:endParaRPr sz="1600">
              <a:solidFill>
                <a:sysClr val="windowText" lastClr="000000"/>
              </a:solidFill>
              <a:latin typeface="Palatino Linotype"/>
              <a:cs typeface="Palatino Linotype"/>
            </a:endParaRPr>
          </a:p>
          <a:p>
            <a:pPr marL="697865" lvl="1" indent="-227965">
              <a:spcBef>
                <a:spcPts val="960"/>
              </a:spcBef>
              <a:buFont typeface="Wingdings"/>
              <a:buChar char=""/>
              <a:tabLst>
                <a:tab pos="697865" algn="l"/>
              </a:tabLst>
            </a:pPr>
            <a:r>
              <a:rPr sz="1600" dirty="0">
                <a:solidFill>
                  <a:sysClr val="windowText" lastClr="000000"/>
                </a:solidFill>
                <a:latin typeface="Palatino Linotype"/>
                <a:cs typeface="Palatino Linotype"/>
              </a:rPr>
              <a:t>Ease</a:t>
            </a:r>
            <a:r>
              <a:rPr sz="1600" spc="-40"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of</a:t>
            </a:r>
            <a:r>
              <a:rPr sz="1600" spc="-30"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implementation,</a:t>
            </a:r>
            <a:r>
              <a:rPr sz="1600" spc="-30"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testing,</a:t>
            </a:r>
            <a:r>
              <a:rPr sz="1600" spc="-30"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and</a:t>
            </a:r>
            <a:r>
              <a:rPr sz="1600" spc="-35" dirty="0">
                <a:solidFill>
                  <a:sysClr val="windowText" lastClr="000000"/>
                </a:solidFill>
                <a:latin typeface="Palatino Linotype"/>
                <a:cs typeface="Palatino Linotype"/>
              </a:rPr>
              <a:t> </a:t>
            </a:r>
            <a:r>
              <a:rPr sz="1600" spc="-10" dirty="0">
                <a:solidFill>
                  <a:sysClr val="windowText" lastClr="000000"/>
                </a:solidFill>
                <a:latin typeface="Palatino Linotype"/>
                <a:cs typeface="Palatino Linotype"/>
              </a:rPr>
              <a:t>maintenance</a:t>
            </a:r>
            <a:endParaRPr sz="1600">
              <a:solidFill>
                <a:sysClr val="windowText" lastClr="000000"/>
              </a:solidFill>
              <a:latin typeface="Palatino Linotype"/>
              <a:cs typeface="Palatino Linotype"/>
            </a:endParaRPr>
          </a:p>
          <a:p>
            <a:pPr marL="0" lvl="1">
              <a:spcBef>
                <a:spcPts val="30"/>
              </a:spcBef>
              <a:buFont typeface="Wingdings"/>
              <a:buChar char=""/>
            </a:pPr>
            <a:endParaRPr sz="1600">
              <a:solidFill>
                <a:sysClr val="windowText" lastClr="000000"/>
              </a:solidFill>
              <a:latin typeface="Palatino Linotype"/>
              <a:cs typeface="Palatino Linotype"/>
            </a:endParaRPr>
          </a:p>
          <a:p>
            <a:pPr marL="242570" indent="-229870">
              <a:buClr>
                <a:srgbClr val="000000"/>
              </a:buClr>
              <a:buFont typeface="Arial MT"/>
              <a:buChar char="•"/>
              <a:tabLst>
                <a:tab pos="242570" algn="l"/>
              </a:tabLst>
            </a:pPr>
            <a:r>
              <a:rPr sz="2000" dirty="0">
                <a:solidFill>
                  <a:srgbClr val="FF0000"/>
                </a:solidFill>
                <a:latin typeface="Palatino Linotype"/>
                <a:cs typeface="Palatino Linotype"/>
              </a:rPr>
              <a:t>Many</a:t>
            </a:r>
            <a:r>
              <a:rPr sz="2000" spc="-25" dirty="0">
                <a:solidFill>
                  <a:srgbClr val="FF0000"/>
                </a:solidFill>
                <a:latin typeface="Palatino Linotype"/>
                <a:cs typeface="Palatino Linotype"/>
              </a:rPr>
              <a:t> </a:t>
            </a:r>
            <a:r>
              <a:rPr sz="2000" dirty="0">
                <a:solidFill>
                  <a:srgbClr val="FF0000"/>
                </a:solidFill>
                <a:latin typeface="Palatino Linotype"/>
                <a:cs typeface="Palatino Linotype"/>
              </a:rPr>
              <a:t>choices</a:t>
            </a:r>
            <a:r>
              <a:rPr sz="2000" spc="-25" dirty="0">
                <a:solidFill>
                  <a:srgbClr val="FF0000"/>
                </a:solidFill>
                <a:latin typeface="Palatino Linotype"/>
                <a:cs typeface="Palatino Linotype"/>
              </a:rPr>
              <a:t> </a:t>
            </a:r>
            <a:r>
              <a:rPr sz="2000" dirty="0">
                <a:solidFill>
                  <a:srgbClr val="FF0000"/>
                </a:solidFill>
                <a:latin typeface="Palatino Linotype"/>
                <a:cs typeface="Palatino Linotype"/>
              </a:rPr>
              <a:t>for</a:t>
            </a:r>
            <a:r>
              <a:rPr sz="2000" spc="-25" dirty="0">
                <a:solidFill>
                  <a:srgbClr val="FF0000"/>
                </a:solidFill>
                <a:latin typeface="Palatino Linotype"/>
                <a:cs typeface="Palatino Linotype"/>
              </a:rPr>
              <a:t> </a:t>
            </a:r>
            <a:r>
              <a:rPr sz="2000" dirty="0">
                <a:solidFill>
                  <a:srgbClr val="FF0000"/>
                </a:solidFill>
                <a:latin typeface="Palatino Linotype"/>
                <a:cs typeface="Palatino Linotype"/>
              </a:rPr>
              <a:t>the</a:t>
            </a:r>
            <a:r>
              <a:rPr sz="2000" spc="-25" dirty="0">
                <a:solidFill>
                  <a:srgbClr val="FF0000"/>
                </a:solidFill>
                <a:latin typeface="Palatino Linotype"/>
                <a:cs typeface="Palatino Linotype"/>
              </a:rPr>
              <a:t> </a:t>
            </a:r>
            <a:r>
              <a:rPr sz="2000" dirty="0">
                <a:solidFill>
                  <a:srgbClr val="FF0000"/>
                </a:solidFill>
                <a:latin typeface="Palatino Linotype"/>
                <a:cs typeface="Palatino Linotype"/>
              </a:rPr>
              <a:t>input</a:t>
            </a:r>
            <a:r>
              <a:rPr sz="2000" spc="-30" dirty="0">
                <a:solidFill>
                  <a:srgbClr val="FF0000"/>
                </a:solidFill>
                <a:latin typeface="Palatino Linotype"/>
                <a:cs typeface="Palatino Linotype"/>
              </a:rPr>
              <a:t> </a:t>
            </a:r>
            <a:r>
              <a:rPr sz="2000" spc="-25" dirty="0">
                <a:solidFill>
                  <a:srgbClr val="FF0000"/>
                </a:solidFill>
                <a:latin typeface="Palatino Linotype"/>
                <a:cs typeface="Palatino Linotype"/>
              </a:rPr>
              <a:t>IR:</a:t>
            </a:r>
            <a:endParaRPr sz="2000">
              <a:solidFill>
                <a:sysClr val="windowText" lastClr="000000"/>
              </a:solidFill>
              <a:latin typeface="Palatino Linotype"/>
              <a:cs typeface="Palatino Linotype"/>
            </a:endParaRPr>
          </a:p>
          <a:p>
            <a:pPr marL="697865" lvl="1" indent="-227965">
              <a:spcBef>
                <a:spcPts val="1100"/>
              </a:spcBef>
              <a:buClr>
                <a:srgbClr val="000000"/>
              </a:buClr>
              <a:buFont typeface="Wingdings"/>
              <a:buChar char=""/>
              <a:tabLst>
                <a:tab pos="697865" algn="l"/>
              </a:tabLst>
            </a:pPr>
            <a:r>
              <a:rPr sz="1600" spc="-10" dirty="0">
                <a:solidFill>
                  <a:srgbClr val="0432FF"/>
                </a:solidFill>
                <a:latin typeface="Palatino Linotype"/>
                <a:cs typeface="Palatino Linotype"/>
              </a:rPr>
              <a:t>Three-</a:t>
            </a:r>
            <a:r>
              <a:rPr sz="1600" dirty="0">
                <a:solidFill>
                  <a:srgbClr val="0432FF"/>
                </a:solidFill>
                <a:latin typeface="Palatino Linotype"/>
                <a:cs typeface="Palatino Linotype"/>
              </a:rPr>
              <a:t>address</a:t>
            </a:r>
            <a:r>
              <a:rPr sz="1600" spc="-60" dirty="0">
                <a:solidFill>
                  <a:srgbClr val="0432FF"/>
                </a:solidFill>
                <a:latin typeface="Palatino Linotype"/>
                <a:cs typeface="Palatino Linotype"/>
              </a:rPr>
              <a:t> </a:t>
            </a:r>
            <a:r>
              <a:rPr sz="1600" dirty="0">
                <a:solidFill>
                  <a:srgbClr val="0432FF"/>
                </a:solidFill>
                <a:latin typeface="Palatino Linotype"/>
                <a:cs typeface="Palatino Linotype"/>
              </a:rPr>
              <a:t>representations:</a:t>
            </a:r>
            <a:r>
              <a:rPr sz="1600" spc="-45" dirty="0">
                <a:solidFill>
                  <a:srgbClr val="0432FF"/>
                </a:solidFill>
                <a:latin typeface="Palatino Linotype"/>
                <a:cs typeface="Palatino Linotype"/>
              </a:rPr>
              <a:t> </a:t>
            </a:r>
            <a:r>
              <a:rPr sz="1600" dirty="0">
                <a:solidFill>
                  <a:sysClr val="windowText" lastClr="000000"/>
                </a:solidFill>
                <a:latin typeface="Palatino Linotype"/>
                <a:cs typeface="Palatino Linotype"/>
              </a:rPr>
              <a:t>quadruples,</a:t>
            </a:r>
            <a:r>
              <a:rPr sz="1600" spc="-45"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triples,</a:t>
            </a:r>
            <a:r>
              <a:rPr sz="1600" spc="-40"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indirect</a:t>
            </a:r>
            <a:r>
              <a:rPr sz="1600" spc="-40" dirty="0">
                <a:solidFill>
                  <a:sysClr val="windowText" lastClr="000000"/>
                </a:solidFill>
                <a:latin typeface="Palatino Linotype"/>
                <a:cs typeface="Palatino Linotype"/>
              </a:rPr>
              <a:t> </a:t>
            </a:r>
            <a:r>
              <a:rPr sz="1600" spc="-10" dirty="0">
                <a:solidFill>
                  <a:sysClr val="windowText" lastClr="000000"/>
                </a:solidFill>
                <a:latin typeface="Palatino Linotype"/>
                <a:cs typeface="Palatino Linotype"/>
              </a:rPr>
              <a:t>triples</a:t>
            </a:r>
            <a:endParaRPr sz="1600">
              <a:solidFill>
                <a:sysClr val="windowText" lastClr="000000"/>
              </a:solidFill>
              <a:latin typeface="Palatino Linotype"/>
              <a:cs typeface="Palatino Linotype"/>
            </a:endParaRPr>
          </a:p>
          <a:p>
            <a:pPr marL="697865" lvl="1" indent="-227965">
              <a:spcBef>
                <a:spcPts val="980"/>
              </a:spcBef>
              <a:buClr>
                <a:srgbClr val="000000"/>
              </a:buClr>
              <a:buFont typeface="Wingdings"/>
              <a:buChar char=""/>
              <a:tabLst>
                <a:tab pos="697865" algn="l"/>
              </a:tabLst>
            </a:pPr>
            <a:r>
              <a:rPr sz="1600" dirty="0">
                <a:solidFill>
                  <a:srgbClr val="0432FF"/>
                </a:solidFill>
                <a:latin typeface="Palatino Linotype"/>
                <a:cs typeface="Palatino Linotype"/>
              </a:rPr>
              <a:t>VM</a:t>
            </a:r>
            <a:r>
              <a:rPr sz="1600" spc="-40" dirty="0">
                <a:solidFill>
                  <a:srgbClr val="0432FF"/>
                </a:solidFill>
                <a:latin typeface="Palatino Linotype"/>
                <a:cs typeface="Palatino Linotype"/>
              </a:rPr>
              <a:t> </a:t>
            </a:r>
            <a:r>
              <a:rPr sz="1600" dirty="0">
                <a:solidFill>
                  <a:srgbClr val="0432FF"/>
                </a:solidFill>
                <a:latin typeface="Palatino Linotype"/>
                <a:cs typeface="Palatino Linotype"/>
              </a:rPr>
              <a:t>representations:</a:t>
            </a:r>
            <a:r>
              <a:rPr sz="1600" spc="-35" dirty="0">
                <a:solidFill>
                  <a:srgbClr val="0432FF"/>
                </a:solidFill>
                <a:latin typeface="Palatino Linotype"/>
                <a:cs typeface="Palatino Linotype"/>
              </a:rPr>
              <a:t> </a:t>
            </a:r>
            <a:r>
              <a:rPr sz="1600" dirty="0">
                <a:solidFill>
                  <a:sysClr val="windowText" lastClr="000000"/>
                </a:solidFill>
                <a:latin typeface="Palatino Linotype"/>
                <a:cs typeface="Palatino Linotype"/>
              </a:rPr>
              <a:t>bytecodes</a:t>
            </a:r>
            <a:r>
              <a:rPr sz="1600" spc="-35"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and</a:t>
            </a:r>
            <a:r>
              <a:rPr sz="1600" spc="-40" dirty="0">
                <a:solidFill>
                  <a:sysClr val="windowText" lastClr="000000"/>
                </a:solidFill>
                <a:latin typeface="Palatino Linotype"/>
                <a:cs typeface="Palatino Linotype"/>
              </a:rPr>
              <a:t> </a:t>
            </a:r>
            <a:r>
              <a:rPr sz="1600" spc="-10" dirty="0">
                <a:solidFill>
                  <a:sysClr val="windowText" lastClr="000000"/>
                </a:solidFill>
                <a:latin typeface="Palatino Linotype"/>
                <a:cs typeface="Palatino Linotype"/>
              </a:rPr>
              <a:t>stack-</a:t>
            </a:r>
            <a:r>
              <a:rPr sz="1600" dirty="0">
                <a:solidFill>
                  <a:sysClr val="windowText" lastClr="000000"/>
                </a:solidFill>
                <a:latin typeface="Palatino Linotype"/>
                <a:cs typeface="Palatino Linotype"/>
              </a:rPr>
              <a:t>machine</a:t>
            </a:r>
            <a:r>
              <a:rPr sz="1600" spc="-40" dirty="0">
                <a:solidFill>
                  <a:sysClr val="windowText" lastClr="000000"/>
                </a:solidFill>
                <a:latin typeface="Palatino Linotype"/>
                <a:cs typeface="Palatino Linotype"/>
              </a:rPr>
              <a:t> </a:t>
            </a:r>
            <a:r>
              <a:rPr sz="1600" spc="-20" dirty="0">
                <a:solidFill>
                  <a:sysClr val="windowText" lastClr="000000"/>
                </a:solidFill>
                <a:latin typeface="Palatino Linotype"/>
                <a:cs typeface="Palatino Linotype"/>
              </a:rPr>
              <a:t>code</a:t>
            </a:r>
            <a:endParaRPr sz="1600">
              <a:solidFill>
                <a:sysClr val="windowText" lastClr="000000"/>
              </a:solidFill>
              <a:latin typeface="Palatino Linotype"/>
              <a:cs typeface="Palatino Linotype"/>
            </a:endParaRPr>
          </a:p>
          <a:p>
            <a:pPr marL="697865" lvl="1" indent="-227965">
              <a:spcBef>
                <a:spcPts val="985"/>
              </a:spcBef>
              <a:buClr>
                <a:srgbClr val="000000"/>
              </a:buClr>
              <a:buFont typeface="Wingdings"/>
              <a:buChar char=""/>
              <a:tabLst>
                <a:tab pos="697865" algn="l"/>
              </a:tabLst>
            </a:pPr>
            <a:r>
              <a:rPr sz="1600" dirty="0">
                <a:solidFill>
                  <a:srgbClr val="0432FF"/>
                </a:solidFill>
                <a:latin typeface="Palatino Linotype"/>
                <a:cs typeface="Palatino Linotype"/>
              </a:rPr>
              <a:t>Graphical</a:t>
            </a:r>
            <a:r>
              <a:rPr sz="1600" spc="-45" dirty="0">
                <a:solidFill>
                  <a:srgbClr val="0432FF"/>
                </a:solidFill>
                <a:latin typeface="Palatino Linotype"/>
                <a:cs typeface="Palatino Linotype"/>
              </a:rPr>
              <a:t> </a:t>
            </a:r>
            <a:r>
              <a:rPr sz="1600" dirty="0">
                <a:solidFill>
                  <a:srgbClr val="0432FF"/>
                </a:solidFill>
                <a:latin typeface="Palatino Linotype"/>
                <a:cs typeface="Palatino Linotype"/>
              </a:rPr>
              <a:t>representations:</a:t>
            </a:r>
            <a:r>
              <a:rPr sz="1600" spc="-40" dirty="0">
                <a:solidFill>
                  <a:srgbClr val="0432FF"/>
                </a:solidFill>
                <a:latin typeface="Palatino Linotype"/>
                <a:cs typeface="Palatino Linotype"/>
              </a:rPr>
              <a:t> </a:t>
            </a:r>
            <a:r>
              <a:rPr sz="1600" dirty="0">
                <a:solidFill>
                  <a:sysClr val="windowText" lastClr="000000"/>
                </a:solidFill>
                <a:latin typeface="Palatino Linotype"/>
                <a:cs typeface="Palatino Linotype"/>
              </a:rPr>
              <a:t>syntax</a:t>
            </a:r>
            <a:r>
              <a:rPr sz="1600" spc="-45"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trees</a:t>
            </a:r>
            <a:r>
              <a:rPr sz="1600" spc="-45"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and</a:t>
            </a:r>
            <a:r>
              <a:rPr sz="1600" spc="-40" dirty="0">
                <a:solidFill>
                  <a:sysClr val="windowText" lastClr="000000"/>
                </a:solidFill>
                <a:latin typeface="Palatino Linotype"/>
                <a:cs typeface="Palatino Linotype"/>
              </a:rPr>
              <a:t> </a:t>
            </a:r>
            <a:r>
              <a:rPr sz="1600" spc="-10" dirty="0">
                <a:solidFill>
                  <a:sysClr val="windowText" lastClr="000000"/>
                </a:solidFill>
                <a:latin typeface="Palatino Linotype"/>
                <a:cs typeface="Palatino Linotype"/>
              </a:rPr>
              <a:t>DAG’s</a:t>
            </a:r>
            <a:endParaRPr sz="1600">
              <a:solidFill>
                <a:sysClr val="windowText" lastClr="000000"/>
              </a:solidFill>
              <a:latin typeface="Palatino Linotype"/>
              <a:cs typeface="Palatino Linotype"/>
            </a:endParaRPr>
          </a:p>
          <a:p>
            <a:pPr marL="0" lvl="1">
              <a:spcBef>
                <a:spcPts val="10"/>
              </a:spcBef>
              <a:buFont typeface="Wingdings"/>
              <a:buChar char=""/>
            </a:pPr>
            <a:endParaRPr sz="1600">
              <a:solidFill>
                <a:sysClr val="windowText" lastClr="000000"/>
              </a:solidFill>
              <a:latin typeface="Palatino Linotype"/>
              <a:cs typeface="Palatino Linotype"/>
            </a:endParaRPr>
          </a:p>
          <a:p>
            <a:pPr marL="242570" indent="-229870">
              <a:buClr>
                <a:srgbClr val="000000"/>
              </a:buClr>
              <a:buFont typeface="Arial MT"/>
              <a:buChar char="•"/>
              <a:tabLst>
                <a:tab pos="242570" algn="l"/>
              </a:tabLst>
            </a:pPr>
            <a:r>
              <a:rPr sz="2000" dirty="0">
                <a:solidFill>
                  <a:srgbClr val="FF0000"/>
                </a:solidFill>
                <a:latin typeface="Palatino Linotype"/>
                <a:cs typeface="Palatino Linotype"/>
              </a:rPr>
              <a:t>The</a:t>
            </a:r>
            <a:r>
              <a:rPr sz="2000" spc="-30" dirty="0">
                <a:solidFill>
                  <a:srgbClr val="FF0000"/>
                </a:solidFill>
                <a:latin typeface="Palatino Linotype"/>
                <a:cs typeface="Palatino Linotype"/>
              </a:rPr>
              <a:t> </a:t>
            </a:r>
            <a:r>
              <a:rPr sz="2000" dirty="0">
                <a:solidFill>
                  <a:srgbClr val="FF0000"/>
                </a:solidFill>
                <a:latin typeface="Palatino Linotype"/>
                <a:cs typeface="Palatino Linotype"/>
              </a:rPr>
              <a:t>target</a:t>
            </a:r>
            <a:r>
              <a:rPr sz="2000" spc="-30" dirty="0">
                <a:solidFill>
                  <a:srgbClr val="FF0000"/>
                </a:solidFill>
                <a:latin typeface="Palatino Linotype"/>
                <a:cs typeface="Palatino Linotype"/>
              </a:rPr>
              <a:t> </a:t>
            </a:r>
            <a:r>
              <a:rPr sz="2000" spc="-10" dirty="0">
                <a:solidFill>
                  <a:srgbClr val="FF0000"/>
                </a:solidFill>
                <a:latin typeface="Palatino Linotype"/>
                <a:cs typeface="Palatino Linotype"/>
              </a:rPr>
              <a:t>program:</a:t>
            </a:r>
            <a:endParaRPr sz="2000">
              <a:solidFill>
                <a:sysClr val="windowText" lastClr="000000"/>
              </a:solidFill>
              <a:latin typeface="Palatino Linotype"/>
              <a:cs typeface="Palatino Linotype"/>
            </a:endParaRPr>
          </a:p>
          <a:p>
            <a:pPr marL="697865" lvl="1" indent="-227965">
              <a:spcBef>
                <a:spcPts val="1095"/>
              </a:spcBef>
              <a:buFont typeface="Wingdings"/>
              <a:buChar char=""/>
              <a:tabLst>
                <a:tab pos="697865" algn="l"/>
              </a:tabLst>
            </a:pPr>
            <a:r>
              <a:rPr sz="1600" dirty="0">
                <a:solidFill>
                  <a:sysClr val="windowText" lastClr="000000"/>
                </a:solidFill>
                <a:latin typeface="Palatino Linotype"/>
                <a:cs typeface="Palatino Linotype"/>
              </a:rPr>
              <a:t>RISC</a:t>
            </a:r>
            <a:r>
              <a:rPr sz="1600" spc="-40"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(reduced</a:t>
            </a:r>
            <a:r>
              <a:rPr sz="1600" spc="-40"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instruction</a:t>
            </a:r>
            <a:r>
              <a:rPr sz="1600" spc="-35"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set</a:t>
            </a:r>
            <a:r>
              <a:rPr sz="1600" spc="-35"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computer),</a:t>
            </a:r>
            <a:r>
              <a:rPr sz="1600" spc="-40"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CISC</a:t>
            </a:r>
            <a:r>
              <a:rPr sz="1600" spc="-35"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(complex</a:t>
            </a:r>
            <a:r>
              <a:rPr sz="1600" spc="-40" dirty="0">
                <a:solidFill>
                  <a:sysClr val="windowText" lastClr="000000"/>
                </a:solidFill>
                <a:latin typeface="Palatino Linotype"/>
                <a:cs typeface="Palatino Linotype"/>
              </a:rPr>
              <a:t> </a:t>
            </a:r>
            <a:r>
              <a:rPr sz="1600" spc="-10" dirty="0">
                <a:solidFill>
                  <a:sysClr val="windowText" lastClr="000000"/>
                </a:solidFill>
                <a:latin typeface="Palatino Linotype"/>
                <a:cs typeface="Palatino Linotype"/>
              </a:rPr>
              <a:t>instruction…)</a:t>
            </a:r>
            <a:endParaRPr sz="1600">
              <a:solidFill>
                <a:sysClr val="windowText" lastClr="000000"/>
              </a:solidFill>
              <a:latin typeface="Palatino Linotype"/>
              <a:cs typeface="Palatino Linotype"/>
            </a:endParaRPr>
          </a:p>
          <a:p>
            <a:pPr marL="698500" marR="146685" lvl="1" indent="-228600">
              <a:lnSpc>
                <a:spcPct val="120000"/>
              </a:lnSpc>
              <a:spcBef>
                <a:spcPts val="600"/>
              </a:spcBef>
              <a:buFont typeface="Wingdings"/>
              <a:buChar char=""/>
              <a:tabLst>
                <a:tab pos="698500" algn="l"/>
              </a:tabLst>
            </a:pPr>
            <a:r>
              <a:rPr sz="1600" dirty="0">
                <a:solidFill>
                  <a:sysClr val="windowText" lastClr="000000"/>
                </a:solidFill>
                <a:latin typeface="Palatino Linotype"/>
                <a:cs typeface="Palatino Linotype"/>
              </a:rPr>
              <a:t>Absolute</a:t>
            </a:r>
            <a:r>
              <a:rPr sz="1600" spc="-35" dirty="0">
                <a:solidFill>
                  <a:sysClr val="windowText" lastClr="000000"/>
                </a:solidFill>
                <a:latin typeface="Palatino Linotype"/>
                <a:cs typeface="Palatino Linotype"/>
              </a:rPr>
              <a:t> </a:t>
            </a:r>
            <a:r>
              <a:rPr sz="1600" spc="-10" dirty="0">
                <a:solidFill>
                  <a:sysClr val="windowText" lastClr="000000"/>
                </a:solidFill>
                <a:latin typeface="Palatino Linotype"/>
                <a:cs typeface="Palatino Linotype"/>
              </a:rPr>
              <a:t>machine-</a:t>
            </a:r>
            <a:r>
              <a:rPr sz="1600" dirty="0">
                <a:solidFill>
                  <a:sysClr val="windowText" lastClr="000000"/>
                </a:solidFill>
                <a:latin typeface="Palatino Linotype"/>
                <a:cs typeface="Palatino Linotype"/>
              </a:rPr>
              <a:t>language</a:t>
            </a:r>
            <a:r>
              <a:rPr sz="1600" spc="-30"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programs;</a:t>
            </a:r>
            <a:r>
              <a:rPr sz="1600" spc="-30"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relocatable</a:t>
            </a:r>
            <a:r>
              <a:rPr sz="1600" spc="-30" dirty="0">
                <a:solidFill>
                  <a:sysClr val="windowText" lastClr="000000"/>
                </a:solidFill>
                <a:latin typeface="Palatino Linotype"/>
                <a:cs typeface="Palatino Linotype"/>
              </a:rPr>
              <a:t> </a:t>
            </a:r>
            <a:r>
              <a:rPr sz="1600" spc="-10" dirty="0">
                <a:solidFill>
                  <a:sysClr val="windowText" lastClr="000000"/>
                </a:solidFill>
                <a:latin typeface="Palatino Linotype"/>
                <a:cs typeface="Palatino Linotype"/>
              </a:rPr>
              <a:t>machine-language </a:t>
            </a:r>
            <a:r>
              <a:rPr sz="1600" dirty="0">
                <a:solidFill>
                  <a:sysClr val="windowText" lastClr="000000"/>
                </a:solidFill>
                <a:latin typeface="Palatino Linotype"/>
                <a:cs typeface="Palatino Linotype"/>
              </a:rPr>
              <a:t>programs;</a:t>
            </a:r>
            <a:r>
              <a:rPr sz="1600" spc="-15" dirty="0">
                <a:solidFill>
                  <a:sysClr val="windowText" lastClr="000000"/>
                </a:solidFill>
                <a:latin typeface="Palatino Linotype"/>
                <a:cs typeface="Palatino Linotype"/>
              </a:rPr>
              <a:t> </a:t>
            </a:r>
            <a:r>
              <a:rPr sz="1600" spc="-10" dirty="0">
                <a:solidFill>
                  <a:sysClr val="windowText" lastClr="000000"/>
                </a:solidFill>
                <a:latin typeface="Palatino Linotype"/>
                <a:cs typeface="Palatino Linotype"/>
              </a:rPr>
              <a:t>assembly-</a:t>
            </a:r>
            <a:r>
              <a:rPr sz="1600" dirty="0">
                <a:solidFill>
                  <a:sysClr val="windowText" lastClr="000000"/>
                </a:solidFill>
                <a:latin typeface="Palatino Linotype"/>
                <a:cs typeface="Palatino Linotype"/>
              </a:rPr>
              <a:t>language</a:t>
            </a:r>
            <a:r>
              <a:rPr sz="1600" spc="-15" dirty="0">
                <a:solidFill>
                  <a:sysClr val="windowText" lastClr="000000"/>
                </a:solidFill>
                <a:latin typeface="Palatino Linotype"/>
                <a:cs typeface="Palatino Linotype"/>
              </a:rPr>
              <a:t> </a:t>
            </a:r>
            <a:r>
              <a:rPr sz="1600" spc="-10" dirty="0">
                <a:solidFill>
                  <a:sysClr val="windowText" lastClr="000000"/>
                </a:solidFill>
                <a:latin typeface="Palatino Linotype"/>
                <a:cs typeface="Palatino Linotype"/>
              </a:rPr>
              <a:t>programs</a:t>
            </a:r>
            <a:endParaRPr sz="1600">
              <a:solidFill>
                <a:sysClr val="windowText" lastClr="000000"/>
              </a:solidFill>
              <a:latin typeface="Palatino Linotype"/>
              <a:cs typeface="Palatino Linotype"/>
            </a:endParaRPr>
          </a:p>
        </p:txBody>
      </p:sp>
    </p:spTree>
    <p:extLst>
      <p:ext uri="{BB962C8B-B14F-4D97-AF65-F5344CB8AC3E}">
        <p14:creationId xmlns:p14="http://schemas.microsoft.com/office/powerpoint/2010/main" val="16645091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5</a:t>
            </a:fld>
            <a:endParaRPr lang="en-US"/>
          </a:p>
        </p:txBody>
      </p:sp>
      <p:sp>
        <p:nvSpPr>
          <p:cNvPr id="7" name="object 2">
            <a:extLst>
              <a:ext uri="{FF2B5EF4-FFF2-40B4-BE49-F238E27FC236}">
                <a16:creationId xmlns:a16="http://schemas.microsoft.com/office/drawing/2014/main" id="{7FC03A4C-1B2D-464D-82E2-AE0D2E413B26}"/>
              </a:ext>
            </a:extLst>
          </p:cNvPr>
          <p:cNvSpPr txBox="1">
            <a:spLocks/>
          </p:cNvSpPr>
          <p:nvPr/>
        </p:nvSpPr>
        <p:spPr>
          <a:xfrm>
            <a:off x="707390" y="524763"/>
            <a:ext cx="7729219" cy="63500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4000" b="1" i="0" u="none" strike="noStrike" kern="0" cap="none" spc="-10" normalizeH="0" baseline="0" noProof="0">
                <a:ln>
                  <a:noFill/>
                </a:ln>
                <a:solidFill>
                  <a:sysClr val="windowText" lastClr="000000"/>
                </a:solidFill>
                <a:effectLst/>
                <a:uLnTx/>
                <a:uFillTx/>
                <a:latin typeface="Palatino Linotype"/>
                <a:ea typeface="+mj-ea"/>
              </a:rPr>
              <a:t>Outline</a:t>
            </a:r>
            <a:endParaRPr kumimoji="0" lang="en-US" sz="4000" b="1" i="0" u="none" strike="noStrike" kern="0" cap="none" spc="-10" normalizeH="0" baseline="0" noProof="0" dirty="0">
              <a:ln>
                <a:noFill/>
              </a:ln>
              <a:solidFill>
                <a:sysClr val="windowText" lastClr="000000"/>
              </a:solidFill>
              <a:effectLst/>
              <a:uLnTx/>
              <a:uFillTx/>
              <a:latin typeface="Palatino Linotype"/>
              <a:ea typeface="+mj-ea"/>
            </a:endParaRPr>
          </a:p>
        </p:txBody>
      </p:sp>
      <p:sp>
        <p:nvSpPr>
          <p:cNvPr id="8" name="object 3">
            <a:extLst>
              <a:ext uri="{FF2B5EF4-FFF2-40B4-BE49-F238E27FC236}">
                <a16:creationId xmlns:a16="http://schemas.microsoft.com/office/drawing/2014/main" id="{15290448-6941-A05F-76BC-1B3BDB4BAC81}"/>
              </a:ext>
            </a:extLst>
          </p:cNvPr>
          <p:cNvSpPr txBox="1"/>
          <p:nvPr/>
        </p:nvSpPr>
        <p:spPr>
          <a:xfrm>
            <a:off x="707390" y="1631188"/>
            <a:ext cx="4697730" cy="4146550"/>
          </a:xfrm>
          <a:prstGeom prst="rect">
            <a:avLst/>
          </a:prstGeom>
        </p:spPr>
        <p:txBody>
          <a:bodyPr vert="horz" wrap="square" lIns="0" tIns="12700" rIns="0" bIns="0" rtlCol="0">
            <a:spAutoFit/>
          </a:bodyPr>
          <a:lstStyle/>
          <a:p>
            <a:pPr marL="242570" indent="-229870">
              <a:spcBef>
                <a:spcPts val="100"/>
              </a:spcBef>
              <a:buClr>
                <a:srgbClr val="000000"/>
              </a:buClr>
              <a:buFont typeface="Arial MT"/>
              <a:buChar char="•"/>
              <a:tabLst>
                <a:tab pos="242570" algn="l"/>
              </a:tabLst>
            </a:pPr>
            <a:r>
              <a:rPr sz="2200" dirty="0">
                <a:solidFill>
                  <a:srgbClr val="A6A6A6"/>
                </a:solidFill>
                <a:latin typeface="Palatino Linotype"/>
                <a:cs typeface="Palatino Linotype"/>
              </a:rPr>
              <a:t>Design</a:t>
            </a:r>
            <a:r>
              <a:rPr sz="2200" spc="-45" dirty="0">
                <a:solidFill>
                  <a:srgbClr val="A6A6A6"/>
                </a:solidFill>
                <a:latin typeface="Palatino Linotype"/>
                <a:cs typeface="Palatino Linotype"/>
              </a:rPr>
              <a:t> </a:t>
            </a:r>
            <a:r>
              <a:rPr sz="2200" spc="-10" dirty="0">
                <a:solidFill>
                  <a:srgbClr val="A6A6A6"/>
                </a:solidFill>
                <a:latin typeface="Palatino Linotype"/>
                <a:cs typeface="Palatino Linotype"/>
              </a:rPr>
              <a:t>Issues</a:t>
            </a:r>
            <a:endParaRPr sz="2200">
              <a:solidFill>
                <a:sysClr val="windowText" lastClr="000000"/>
              </a:solidFill>
              <a:latin typeface="Palatino Linotype"/>
              <a:cs typeface="Palatino Linotype"/>
            </a:endParaRPr>
          </a:p>
          <a:p>
            <a:pPr marL="242570" indent="-229870">
              <a:spcBef>
                <a:spcPts val="2255"/>
              </a:spcBef>
              <a:buFont typeface="Arial MT"/>
              <a:buChar char="•"/>
              <a:tabLst>
                <a:tab pos="242570" algn="l"/>
              </a:tabLst>
            </a:pPr>
            <a:r>
              <a:rPr sz="2200" dirty="0">
                <a:solidFill>
                  <a:sysClr val="windowText" lastClr="000000"/>
                </a:solidFill>
                <a:latin typeface="Palatino Linotype"/>
                <a:cs typeface="Palatino Linotype"/>
              </a:rPr>
              <a:t>The</a:t>
            </a:r>
            <a:r>
              <a:rPr sz="2200" spc="-55" dirty="0">
                <a:solidFill>
                  <a:sysClr val="windowText" lastClr="000000"/>
                </a:solidFill>
                <a:latin typeface="Palatino Linotype"/>
                <a:cs typeface="Palatino Linotype"/>
              </a:rPr>
              <a:t> </a:t>
            </a:r>
            <a:r>
              <a:rPr sz="2200" spc="-25" dirty="0">
                <a:solidFill>
                  <a:sysClr val="windowText" lastClr="000000"/>
                </a:solidFill>
                <a:latin typeface="Palatino Linotype"/>
                <a:cs typeface="Palatino Linotype"/>
              </a:rPr>
              <a:t>Target</a:t>
            </a:r>
            <a:r>
              <a:rPr sz="2200" spc="-55" dirty="0">
                <a:solidFill>
                  <a:sysClr val="windowText" lastClr="000000"/>
                </a:solidFill>
                <a:latin typeface="Palatino Linotype"/>
                <a:cs typeface="Palatino Linotype"/>
              </a:rPr>
              <a:t> </a:t>
            </a:r>
            <a:r>
              <a:rPr sz="2200" spc="-10" dirty="0">
                <a:solidFill>
                  <a:sysClr val="windowText" lastClr="000000"/>
                </a:solidFill>
                <a:latin typeface="Palatino Linotype"/>
                <a:cs typeface="Palatino Linotype"/>
              </a:rPr>
              <a:t>Language</a:t>
            </a:r>
            <a:endParaRPr sz="2200">
              <a:solidFill>
                <a:sysClr val="windowText" lastClr="000000"/>
              </a:solidFill>
              <a:latin typeface="Palatino Linotype"/>
              <a:cs typeface="Palatino Linotype"/>
            </a:endParaRPr>
          </a:p>
          <a:p>
            <a:pPr marL="242570" indent="-229870">
              <a:spcBef>
                <a:spcPts val="2350"/>
              </a:spcBef>
              <a:buClr>
                <a:srgbClr val="000000"/>
              </a:buClr>
              <a:buFont typeface="Arial MT"/>
              <a:buChar char="•"/>
              <a:tabLst>
                <a:tab pos="242570" algn="l"/>
              </a:tabLst>
            </a:pPr>
            <a:r>
              <a:rPr sz="2200" dirty="0">
                <a:solidFill>
                  <a:srgbClr val="A6A6A6"/>
                </a:solidFill>
                <a:latin typeface="Palatino Linotype"/>
                <a:cs typeface="Palatino Linotype"/>
              </a:rPr>
              <a:t>Addresses</a:t>
            </a:r>
            <a:r>
              <a:rPr sz="2200" spc="-40" dirty="0">
                <a:solidFill>
                  <a:srgbClr val="A6A6A6"/>
                </a:solidFill>
                <a:latin typeface="Palatino Linotype"/>
                <a:cs typeface="Palatino Linotype"/>
              </a:rPr>
              <a:t> </a:t>
            </a:r>
            <a:r>
              <a:rPr sz="2200" dirty="0">
                <a:solidFill>
                  <a:srgbClr val="A6A6A6"/>
                </a:solidFill>
                <a:latin typeface="Palatino Linotype"/>
                <a:cs typeface="Palatino Linotype"/>
              </a:rPr>
              <a:t>in</a:t>
            </a:r>
            <a:r>
              <a:rPr sz="2200" spc="-50" dirty="0">
                <a:solidFill>
                  <a:srgbClr val="A6A6A6"/>
                </a:solidFill>
                <a:latin typeface="Palatino Linotype"/>
                <a:cs typeface="Palatino Linotype"/>
              </a:rPr>
              <a:t> </a:t>
            </a:r>
            <a:r>
              <a:rPr sz="2200" dirty="0">
                <a:solidFill>
                  <a:srgbClr val="A6A6A6"/>
                </a:solidFill>
                <a:latin typeface="Palatino Linotype"/>
                <a:cs typeface="Palatino Linotype"/>
              </a:rPr>
              <a:t>the</a:t>
            </a:r>
            <a:r>
              <a:rPr sz="2200" spc="-45" dirty="0">
                <a:solidFill>
                  <a:srgbClr val="A6A6A6"/>
                </a:solidFill>
                <a:latin typeface="Palatino Linotype"/>
                <a:cs typeface="Palatino Linotype"/>
              </a:rPr>
              <a:t> </a:t>
            </a:r>
            <a:r>
              <a:rPr sz="2200" spc="-25" dirty="0">
                <a:solidFill>
                  <a:srgbClr val="A6A6A6"/>
                </a:solidFill>
                <a:latin typeface="Palatino Linotype"/>
                <a:cs typeface="Palatino Linotype"/>
              </a:rPr>
              <a:t>Target</a:t>
            </a:r>
            <a:r>
              <a:rPr sz="2200" spc="-45" dirty="0">
                <a:solidFill>
                  <a:srgbClr val="A6A6A6"/>
                </a:solidFill>
                <a:latin typeface="Palatino Linotype"/>
                <a:cs typeface="Palatino Linotype"/>
              </a:rPr>
              <a:t> </a:t>
            </a:r>
            <a:r>
              <a:rPr sz="2200" spc="-20" dirty="0">
                <a:solidFill>
                  <a:srgbClr val="A6A6A6"/>
                </a:solidFill>
                <a:latin typeface="Palatino Linotype"/>
                <a:cs typeface="Palatino Linotype"/>
              </a:rPr>
              <a:t>Code</a:t>
            </a:r>
            <a:endParaRPr sz="2200">
              <a:solidFill>
                <a:sysClr val="windowText" lastClr="000000"/>
              </a:solidFill>
              <a:latin typeface="Palatino Linotype"/>
              <a:cs typeface="Palatino Linotype"/>
            </a:endParaRPr>
          </a:p>
          <a:p>
            <a:pPr marL="242570" indent="-229870">
              <a:spcBef>
                <a:spcPts val="2375"/>
              </a:spcBef>
              <a:buClr>
                <a:srgbClr val="000000"/>
              </a:buClr>
              <a:buFont typeface="Arial MT"/>
              <a:buChar char="•"/>
              <a:tabLst>
                <a:tab pos="242570" algn="l"/>
              </a:tabLst>
            </a:pPr>
            <a:r>
              <a:rPr sz="2200" dirty="0">
                <a:solidFill>
                  <a:srgbClr val="A6A6A6"/>
                </a:solidFill>
                <a:latin typeface="Palatino Linotype"/>
                <a:cs typeface="Palatino Linotype"/>
              </a:rPr>
              <a:t>Basic</a:t>
            </a:r>
            <a:r>
              <a:rPr sz="2200" spc="-45" dirty="0">
                <a:solidFill>
                  <a:srgbClr val="A6A6A6"/>
                </a:solidFill>
                <a:latin typeface="Palatino Linotype"/>
                <a:cs typeface="Palatino Linotype"/>
              </a:rPr>
              <a:t> </a:t>
            </a:r>
            <a:r>
              <a:rPr sz="2200" dirty="0">
                <a:solidFill>
                  <a:srgbClr val="A6A6A6"/>
                </a:solidFill>
                <a:latin typeface="Palatino Linotype"/>
                <a:cs typeface="Palatino Linotype"/>
              </a:rPr>
              <a:t>Blocks</a:t>
            </a:r>
            <a:r>
              <a:rPr sz="2200" spc="-30" dirty="0">
                <a:solidFill>
                  <a:srgbClr val="A6A6A6"/>
                </a:solidFill>
                <a:latin typeface="Palatino Linotype"/>
                <a:cs typeface="Palatino Linotype"/>
              </a:rPr>
              <a:t> </a:t>
            </a:r>
            <a:r>
              <a:rPr sz="2200" dirty="0">
                <a:solidFill>
                  <a:srgbClr val="A6A6A6"/>
                </a:solidFill>
                <a:latin typeface="Palatino Linotype"/>
                <a:cs typeface="Palatino Linotype"/>
              </a:rPr>
              <a:t>and</a:t>
            </a:r>
            <a:r>
              <a:rPr sz="2200" spc="-30" dirty="0">
                <a:solidFill>
                  <a:srgbClr val="A6A6A6"/>
                </a:solidFill>
                <a:latin typeface="Palatino Linotype"/>
                <a:cs typeface="Palatino Linotype"/>
              </a:rPr>
              <a:t> </a:t>
            </a:r>
            <a:r>
              <a:rPr sz="2200" dirty="0">
                <a:solidFill>
                  <a:srgbClr val="A6A6A6"/>
                </a:solidFill>
                <a:latin typeface="Palatino Linotype"/>
                <a:cs typeface="Palatino Linotype"/>
              </a:rPr>
              <a:t>Flow</a:t>
            </a:r>
            <a:r>
              <a:rPr sz="2200" spc="-35" dirty="0">
                <a:solidFill>
                  <a:srgbClr val="A6A6A6"/>
                </a:solidFill>
                <a:latin typeface="Palatino Linotype"/>
                <a:cs typeface="Palatino Linotype"/>
              </a:rPr>
              <a:t> </a:t>
            </a:r>
            <a:r>
              <a:rPr sz="2200" spc="-10" dirty="0">
                <a:solidFill>
                  <a:srgbClr val="A6A6A6"/>
                </a:solidFill>
                <a:latin typeface="Palatino Linotype"/>
                <a:cs typeface="Palatino Linotype"/>
              </a:rPr>
              <a:t>Graph</a:t>
            </a:r>
            <a:endParaRPr sz="2200">
              <a:solidFill>
                <a:sysClr val="windowText" lastClr="000000"/>
              </a:solidFill>
              <a:latin typeface="Palatino Linotype"/>
              <a:cs typeface="Palatino Linotype"/>
            </a:endParaRPr>
          </a:p>
          <a:p>
            <a:pPr marL="242570" indent="-229870">
              <a:spcBef>
                <a:spcPts val="2260"/>
              </a:spcBef>
              <a:buClr>
                <a:srgbClr val="000000"/>
              </a:buClr>
              <a:buFont typeface="Arial MT"/>
              <a:buChar char="•"/>
              <a:tabLst>
                <a:tab pos="242570" algn="l"/>
              </a:tabLst>
            </a:pPr>
            <a:r>
              <a:rPr sz="2200" dirty="0">
                <a:solidFill>
                  <a:srgbClr val="A6A6A6"/>
                </a:solidFill>
                <a:latin typeface="Palatino Linotype"/>
                <a:cs typeface="Palatino Linotype"/>
              </a:rPr>
              <a:t>Optimization</a:t>
            </a:r>
            <a:r>
              <a:rPr sz="2200" spc="-45" dirty="0">
                <a:solidFill>
                  <a:srgbClr val="A6A6A6"/>
                </a:solidFill>
                <a:latin typeface="Palatino Linotype"/>
                <a:cs typeface="Palatino Linotype"/>
              </a:rPr>
              <a:t> </a:t>
            </a:r>
            <a:r>
              <a:rPr sz="2200" dirty="0">
                <a:solidFill>
                  <a:srgbClr val="A6A6A6"/>
                </a:solidFill>
                <a:latin typeface="Palatino Linotype"/>
                <a:cs typeface="Palatino Linotype"/>
              </a:rPr>
              <a:t>of</a:t>
            </a:r>
            <a:r>
              <a:rPr sz="2200" spc="-35" dirty="0">
                <a:solidFill>
                  <a:srgbClr val="A6A6A6"/>
                </a:solidFill>
                <a:latin typeface="Palatino Linotype"/>
                <a:cs typeface="Palatino Linotype"/>
              </a:rPr>
              <a:t> </a:t>
            </a:r>
            <a:r>
              <a:rPr sz="2200" dirty="0">
                <a:solidFill>
                  <a:srgbClr val="A6A6A6"/>
                </a:solidFill>
                <a:latin typeface="Palatino Linotype"/>
                <a:cs typeface="Palatino Linotype"/>
              </a:rPr>
              <a:t>Basic</a:t>
            </a:r>
            <a:r>
              <a:rPr sz="2200" spc="-40" dirty="0">
                <a:solidFill>
                  <a:srgbClr val="A6A6A6"/>
                </a:solidFill>
                <a:latin typeface="Palatino Linotype"/>
                <a:cs typeface="Palatino Linotype"/>
              </a:rPr>
              <a:t> </a:t>
            </a:r>
            <a:r>
              <a:rPr sz="2200" spc="-10" dirty="0">
                <a:solidFill>
                  <a:srgbClr val="A6A6A6"/>
                </a:solidFill>
                <a:latin typeface="Palatino Linotype"/>
                <a:cs typeface="Palatino Linotype"/>
              </a:rPr>
              <a:t>Blocks</a:t>
            </a:r>
            <a:endParaRPr sz="2200">
              <a:solidFill>
                <a:sysClr val="windowText" lastClr="000000"/>
              </a:solidFill>
              <a:latin typeface="Palatino Linotype"/>
              <a:cs typeface="Palatino Linotype"/>
            </a:endParaRPr>
          </a:p>
          <a:p>
            <a:pPr marL="242570" indent="-229870">
              <a:spcBef>
                <a:spcPts val="2350"/>
              </a:spcBef>
              <a:buClr>
                <a:srgbClr val="000000"/>
              </a:buClr>
              <a:buFont typeface="Arial MT"/>
              <a:buChar char="•"/>
              <a:tabLst>
                <a:tab pos="242570" algn="l"/>
              </a:tabLst>
            </a:pPr>
            <a:r>
              <a:rPr sz="2200" spc="-20" dirty="0">
                <a:solidFill>
                  <a:srgbClr val="A6A6A6"/>
                </a:solidFill>
                <a:latin typeface="Palatino Linotype"/>
                <a:cs typeface="Palatino Linotype"/>
              </a:rPr>
              <a:t>A</a:t>
            </a:r>
            <a:r>
              <a:rPr sz="2200" spc="-125" dirty="0">
                <a:solidFill>
                  <a:srgbClr val="A6A6A6"/>
                </a:solidFill>
                <a:latin typeface="Palatino Linotype"/>
                <a:cs typeface="Palatino Linotype"/>
              </a:rPr>
              <a:t> </a:t>
            </a:r>
            <a:r>
              <a:rPr sz="2200" dirty="0">
                <a:solidFill>
                  <a:srgbClr val="A6A6A6"/>
                </a:solidFill>
                <a:latin typeface="Palatino Linotype"/>
                <a:cs typeface="Palatino Linotype"/>
              </a:rPr>
              <a:t>Simple</a:t>
            </a:r>
            <a:r>
              <a:rPr sz="2200" spc="-45" dirty="0">
                <a:solidFill>
                  <a:srgbClr val="A6A6A6"/>
                </a:solidFill>
                <a:latin typeface="Palatino Linotype"/>
                <a:cs typeface="Palatino Linotype"/>
              </a:rPr>
              <a:t> </a:t>
            </a:r>
            <a:r>
              <a:rPr sz="2200" dirty="0">
                <a:solidFill>
                  <a:srgbClr val="A6A6A6"/>
                </a:solidFill>
                <a:latin typeface="Palatino Linotype"/>
                <a:cs typeface="Palatino Linotype"/>
              </a:rPr>
              <a:t>Code</a:t>
            </a:r>
            <a:r>
              <a:rPr sz="2200" spc="-25" dirty="0">
                <a:solidFill>
                  <a:srgbClr val="A6A6A6"/>
                </a:solidFill>
                <a:latin typeface="Palatino Linotype"/>
                <a:cs typeface="Palatino Linotype"/>
              </a:rPr>
              <a:t> </a:t>
            </a:r>
            <a:r>
              <a:rPr sz="2200" spc="-10" dirty="0">
                <a:solidFill>
                  <a:srgbClr val="A6A6A6"/>
                </a:solidFill>
                <a:latin typeface="Palatino Linotype"/>
                <a:cs typeface="Palatino Linotype"/>
              </a:rPr>
              <a:t>Generator</a:t>
            </a:r>
            <a:endParaRPr sz="2200">
              <a:solidFill>
                <a:sysClr val="windowText" lastClr="000000"/>
              </a:solidFill>
              <a:latin typeface="Palatino Linotype"/>
              <a:cs typeface="Palatino Linotype"/>
            </a:endParaRPr>
          </a:p>
          <a:p>
            <a:pPr marL="242570" indent="-229870">
              <a:spcBef>
                <a:spcPts val="2375"/>
              </a:spcBef>
              <a:buClr>
                <a:srgbClr val="000000"/>
              </a:buClr>
              <a:buFont typeface="Arial MT"/>
              <a:buChar char="•"/>
              <a:tabLst>
                <a:tab pos="242570" algn="l"/>
              </a:tabLst>
            </a:pPr>
            <a:r>
              <a:rPr sz="2200" dirty="0">
                <a:solidFill>
                  <a:srgbClr val="A6A6A6"/>
                </a:solidFill>
                <a:latin typeface="Palatino Linotype"/>
                <a:cs typeface="Palatino Linotype"/>
              </a:rPr>
              <a:t>Register</a:t>
            </a:r>
            <a:r>
              <a:rPr sz="2200" spc="-120" dirty="0">
                <a:solidFill>
                  <a:srgbClr val="A6A6A6"/>
                </a:solidFill>
                <a:latin typeface="Palatino Linotype"/>
                <a:cs typeface="Palatino Linotype"/>
              </a:rPr>
              <a:t> </a:t>
            </a:r>
            <a:r>
              <a:rPr sz="2200" dirty="0">
                <a:solidFill>
                  <a:srgbClr val="A6A6A6"/>
                </a:solidFill>
                <a:latin typeface="Palatino Linotype"/>
                <a:cs typeface="Palatino Linotype"/>
              </a:rPr>
              <a:t>Allocation</a:t>
            </a:r>
            <a:r>
              <a:rPr sz="2200" spc="-65" dirty="0">
                <a:solidFill>
                  <a:srgbClr val="A6A6A6"/>
                </a:solidFill>
                <a:latin typeface="Palatino Linotype"/>
                <a:cs typeface="Palatino Linotype"/>
              </a:rPr>
              <a:t> </a:t>
            </a:r>
            <a:r>
              <a:rPr sz="2200" dirty="0">
                <a:solidFill>
                  <a:srgbClr val="A6A6A6"/>
                </a:solidFill>
                <a:latin typeface="Palatino Linotype"/>
                <a:cs typeface="Palatino Linotype"/>
              </a:rPr>
              <a:t>and</a:t>
            </a:r>
            <a:r>
              <a:rPr sz="2200" spc="-120" dirty="0">
                <a:solidFill>
                  <a:srgbClr val="A6A6A6"/>
                </a:solidFill>
                <a:latin typeface="Palatino Linotype"/>
                <a:cs typeface="Palatino Linotype"/>
              </a:rPr>
              <a:t> </a:t>
            </a:r>
            <a:r>
              <a:rPr sz="2200" spc="-10" dirty="0">
                <a:solidFill>
                  <a:srgbClr val="A6A6A6"/>
                </a:solidFill>
                <a:latin typeface="Palatino Linotype"/>
                <a:cs typeface="Palatino Linotype"/>
              </a:rPr>
              <a:t>Assignment</a:t>
            </a:r>
            <a:endParaRPr sz="2200">
              <a:solidFill>
                <a:sysClr val="windowText" lastClr="000000"/>
              </a:solidFill>
              <a:latin typeface="Palatino Linotype"/>
              <a:cs typeface="Palatino Linotype"/>
            </a:endParaRPr>
          </a:p>
        </p:txBody>
      </p:sp>
    </p:spTree>
    <p:extLst>
      <p:ext uri="{BB962C8B-B14F-4D97-AF65-F5344CB8AC3E}">
        <p14:creationId xmlns:p14="http://schemas.microsoft.com/office/powerpoint/2010/main" val="7123073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6</a:t>
            </a:fld>
            <a:endParaRPr lang="en-US"/>
          </a:p>
        </p:txBody>
      </p:sp>
      <p:sp>
        <p:nvSpPr>
          <p:cNvPr id="8" name="object 2">
            <a:extLst>
              <a:ext uri="{FF2B5EF4-FFF2-40B4-BE49-F238E27FC236}">
                <a16:creationId xmlns:a16="http://schemas.microsoft.com/office/drawing/2014/main" id="{7CF40317-F3A3-994C-F86B-8733B731D6CD}"/>
              </a:ext>
            </a:extLst>
          </p:cNvPr>
          <p:cNvSpPr txBox="1">
            <a:spLocks/>
          </p:cNvSpPr>
          <p:nvPr/>
        </p:nvSpPr>
        <p:spPr>
          <a:xfrm>
            <a:off x="707390" y="524763"/>
            <a:ext cx="7729219" cy="63500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4000" b="1" i="0" u="none" strike="noStrike" kern="0" cap="none" spc="0" normalizeH="0" baseline="0" noProof="0">
                <a:ln>
                  <a:noFill/>
                </a:ln>
                <a:solidFill>
                  <a:sysClr val="windowText" lastClr="000000"/>
                </a:solidFill>
                <a:effectLst/>
                <a:uLnTx/>
                <a:uFillTx/>
                <a:latin typeface="Palatino Linotype"/>
                <a:ea typeface="+mj-ea"/>
              </a:rPr>
              <a:t>A</a:t>
            </a:r>
            <a:r>
              <a:rPr kumimoji="0" lang="en-US" sz="4000" b="1" i="0" u="none" strike="noStrike" kern="0" cap="none" spc="-85" normalizeH="0" baseline="0" noProof="0">
                <a:ln>
                  <a:noFill/>
                </a:ln>
                <a:solidFill>
                  <a:sysClr val="windowText" lastClr="000000"/>
                </a:solidFill>
                <a:effectLst/>
                <a:uLnTx/>
                <a:uFillTx/>
                <a:latin typeface="Palatino Linotype"/>
                <a:ea typeface="+mj-ea"/>
              </a:rPr>
              <a:t> </a:t>
            </a:r>
            <a:r>
              <a:rPr kumimoji="0" lang="en-US" sz="4000" b="1" i="0" u="none" strike="noStrike" kern="0" cap="none" spc="0" normalizeH="0" baseline="0" noProof="0">
                <a:ln>
                  <a:noFill/>
                </a:ln>
                <a:solidFill>
                  <a:sysClr val="windowText" lastClr="000000"/>
                </a:solidFill>
                <a:effectLst/>
                <a:uLnTx/>
                <a:uFillTx/>
                <a:latin typeface="Palatino Linotype"/>
                <a:ea typeface="+mj-ea"/>
              </a:rPr>
              <a:t>Simple</a:t>
            </a:r>
            <a:r>
              <a:rPr kumimoji="0" lang="en-US" sz="4000" b="1" i="0" u="none" strike="noStrike" kern="0" cap="none" spc="-80" normalizeH="0" baseline="0" noProof="0">
                <a:ln>
                  <a:noFill/>
                </a:ln>
                <a:solidFill>
                  <a:sysClr val="windowText" lastClr="000000"/>
                </a:solidFill>
                <a:effectLst/>
                <a:uLnTx/>
                <a:uFillTx/>
                <a:latin typeface="Palatino Linotype"/>
                <a:ea typeface="+mj-ea"/>
              </a:rPr>
              <a:t> </a:t>
            </a:r>
            <a:r>
              <a:rPr kumimoji="0" lang="en-US" sz="4000" b="1" i="0" u="none" strike="noStrike" kern="0" cap="none" spc="-45" normalizeH="0" baseline="0" noProof="0">
                <a:ln>
                  <a:noFill/>
                </a:ln>
                <a:solidFill>
                  <a:sysClr val="windowText" lastClr="000000"/>
                </a:solidFill>
                <a:effectLst/>
                <a:uLnTx/>
                <a:uFillTx/>
                <a:latin typeface="Palatino Linotype"/>
                <a:ea typeface="+mj-ea"/>
              </a:rPr>
              <a:t>Target</a:t>
            </a:r>
            <a:r>
              <a:rPr kumimoji="0" lang="en-US" sz="4000" b="1" i="0" u="none" strike="noStrike" kern="0" cap="none" spc="-80" normalizeH="0" baseline="0" noProof="0">
                <a:ln>
                  <a:noFill/>
                </a:ln>
                <a:solidFill>
                  <a:sysClr val="windowText" lastClr="000000"/>
                </a:solidFill>
                <a:effectLst/>
                <a:uLnTx/>
                <a:uFillTx/>
                <a:latin typeface="Palatino Linotype"/>
                <a:ea typeface="+mj-ea"/>
              </a:rPr>
              <a:t> </a:t>
            </a:r>
            <a:r>
              <a:rPr kumimoji="0" lang="en-US" sz="4000" b="1" i="0" u="none" strike="noStrike" kern="0" cap="none" spc="0" normalizeH="0" baseline="0" noProof="0">
                <a:ln>
                  <a:noFill/>
                </a:ln>
                <a:solidFill>
                  <a:sysClr val="windowText" lastClr="000000"/>
                </a:solidFill>
                <a:effectLst/>
                <a:uLnTx/>
                <a:uFillTx/>
                <a:latin typeface="Palatino Linotype"/>
                <a:ea typeface="+mj-ea"/>
              </a:rPr>
              <a:t>Machine</a:t>
            </a:r>
            <a:r>
              <a:rPr kumimoji="0" lang="en-US" sz="4000" b="1" i="0" u="none" strike="noStrike" kern="0" cap="none" spc="-80" normalizeH="0" baseline="0" noProof="0">
                <a:ln>
                  <a:noFill/>
                </a:ln>
                <a:solidFill>
                  <a:sysClr val="windowText" lastClr="000000"/>
                </a:solidFill>
                <a:effectLst/>
                <a:uLnTx/>
                <a:uFillTx/>
                <a:latin typeface="Palatino Linotype"/>
                <a:ea typeface="+mj-ea"/>
              </a:rPr>
              <a:t> </a:t>
            </a:r>
            <a:r>
              <a:rPr kumimoji="0" lang="en-US" sz="4000" b="1" i="0" u="none" strike="noStrike" kern="0" cap="none" spc="-10" normalizeH="0" baseline="0" noProof="0">
                <a:ln>
                  <a:noFill/>
                </a:ln>
                <a:solidFill>
                  <a:sysClr val="windowText" lastClr="000000"/>
                </a:solidFill>
                <a:effectLst/>
                <a:uLnTx/>
                <a:uFillTx/>
                <a:latin typeface="Palatino Linotype"/>
                <a:ea typeface="+mj-ea"/>
              </a:rPr>
              <a:t>Model</a:t>
            </a:r>
            <a:endParaRPr kumimoji="0" lang="en-US" sz="4000" b="1" i="0" u="none" strike="noStrike" kern="0" cap="none" spc="-10" normalizeH="0" baseline="0" noProof="0" dirty="0">
              <a:ln>
                <a:noFill/>
              </a:ln>
              <a:solidFill>
                <a:sysClr val="windowText" lastClr="000000"/>
              </a:solidFill>
              <a:effectLst/>
              <a:uLnTx/>
              <a:uFillTx/>
              <a:latin typeface="Palatino Linotype"/>
              <a:ea typeface="+mj-ea"/>
            </a:endParaRPr>
          </a:p>
        </p:txBody>
      </p:sp>
      <p:sp>
        <p:nvSpPr>
          <p:cNvPr id="9" name="object 3">
            <a:extLst>
              <a:ext uri="{FF2B5EF4-FFF2-40B4-BE49-F238E27FC236}">
                <a16:creationId xmlns:a16="http://schemas.microsoft.com/office/drawing/2014/main" id="{4BE6709B-A237-DE1B-44E9-3EC7F1A2A67C}"/>
              </a:ext>
            </a:extLst>
          </p:cNvPr>
          <p:cNvSpPr txBox="1"/>
          <p:nvPr/>
        </p:nvSpPr>
        <p:spPr>
          <a:xfrm>
            <a:off x="707390" y="1610867"/>
            <a:ext cx="7639684" cy="732790"/>
          </a:xfrm>
          <a:prstGeom prst="rect">
            <a:avLst/>
          </a:prstGeom>
        </p:spPr>
        <p:txBody>
          <a:bodyPr vert="horz" wrap="square" lIns="0" tIns="12700" rIns="0" bIns="0" rtlCol="0">
            <a:spAutoFit/>
          </a:bodyPr>
          <a:lstStyle/>
          <a:p>
            <a:pPr marL="242570" marR="5080" indent="-230504">
              <a:lnSpc>
                <a:spcPct val="115999"/>
              </a:lnSpc>
              <a:spcBef>
                <a:spcPts val="100"/>
              </a:spcBef>
              <a:buClr>
                <a:srgbClr val="000000"/>
              </a:buClr>
              <a:buFont typeface="Arial MT"/>
              <a:buChar char="•"/>
              <a:tabLst>
                <a:tab pos="242570" algn="l"/>
              </a:tabLst>
            </a:pPr>
            <a:r>
              <a:rPr sz="2000" dirty="0">
                <a:solidFill>
                  <a:srgbClr val="FF0000"/>
                </a:solidFill>
                <a:latin typeface="Palatino Linotype"/>
                <a:cs typeface="Palatino Linotype"/>
              </a:rPr>
              <a:t>A</a:t>
            </a:r>
            <a:r>
              <a:rPr sz="2000" spc="-125" dirty="0">
                <a:solidFill>
                  <a:srgbClr val="FF0000"/>
                </a:solidFill>
                <a:latin typeface="Palatino Linotype"/>
                <a:cs typeface="Palatino Linotype"/>
              </a:rPr>
              <a:t> </a:t>
            </a:r>
            <a:r>
              <a:rPr sz="2000" spc="-10" dirty="0">
                <a:solidFill>
                  <a:srgbClr val="FF0000"/>
                </a:solidFill>
                <a:latin typeface="Palatino Linotype"/>
                <a:cs typeface="Palatino Linotype"/>
              </a:rPr>
              <a:t>three-</a:t>
            </a:r>
            <a:r>
              <a:rPr sz="2000" dirty="0">
                <a:solidFill>
                  <a:srgbClr val="FF0000"/>
                </a:solidFill>
                <a:latin typeface="Palatino Linotype"/>
                <a:cs typeface="Palatino Linotype"/>
              </a:rPr>
              <a:t>address</a:t>
            </a:r>
            <a:r>
              <a:rPr sz="2000" spc="-50" dirty="0">
                <a:solidFill>
                  <a:srgbClr val="FF0000"/>
                </a:solidFill>
                <a:latin typeface="Palatino Linotype"/>
                <a:cs typeface="Palatino Linotype"/>
              </a:rPr>
              <a:t> </a:t>
            </a:r>
            <a:r>
              <a:rPr sz="2000" dirty="0">
                <a:solidFill>
                  <a:srgbClr val="FF0000"/>
                </a:solidFill>
                <a:latin typeface="Palatino Linotype"/>
                <a:cs typeface="Palatino Linotype"/>
              </a:rPr>
              <a:t>machine</a:t>
            </a:r>
            <a:r>
              <a:rPr sz="2000" spc="-30" dirty="0">
                <a:solidFill>
                  <a:srgbClr val="FF0000"/>
                </a:solidFill>
                <a:latin typeface="Palatino Linotype"/>
                <a:cs typeface="Palatino Linotype"/>
              </a:rPr>
              <a:t> </a:t>
            </a:r>
            <a:r>
              <a:rPr sz="2000" dirty="0">
                <a:solidFill>
                  <a:sysClr val="windowText" lastClr="000000"/>
                </a:solidFill>
                <a:latin typeface="Palatino Linotype"/>
                <a:cs typeface="Palatino Linotype"/>
              </a:rPr>
              <a:t>with</a:t>
            </a:r>
            <a:r>
              <a:rPr sz="2000" spc="-3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load</a:t>
            </a:r>
            <a:r>
              <a:rPr sz="2000" spc="-3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and</a:t>
            </a:r>
            <a:r>
              <a:rPr sz="2000" spc="-3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store,</a:t>
            </a:r>
            <a:r>
              <a:rPr sz="2000" spc="-3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computation,</a:t>
            </a:r>
            <a:r>
              <a:rPr sz="2000" spc="-30" dirty="0">
                <a:solidFill>
                  <a:sysClr val="windowText" lastClr="000000"/>
                </a:solidFill>
                <a:latin typeface="Palatino Linotype"/>
                <a:cs typeface="Palatino Linotype"/>
              </a:rPr>
              <a:t> </a:t>
            </a:r>
            <a:r>
              <a:rPr sz="2000" spc="-10" dirty="0">
                <a:solidFill>
                  <a:sysClr val="windowText" lastClr="000000"/>
                </a:solidFill>
                <a:latin typeface="Palatino Linotype"/>
                <a:cs typeface="Palatino Linotype"/>
              </a:rPr>
              <a:t>jump, </a:t>
            </a:r>
            <a:r>
              <a:rPr sz="2000" dirty="0">
                <a:solidFill>
                  <a:sysClr val="windowText" lastClr="000000"/>
                </a:solidFill>
                <a:latin typeface="Palatino Linotype"/>
                <a:cs typeface="Palatino Linotype"/>
              </a:rPr>
              <a:t>and</a:t>
            </a:r>
            <a:r>
              <a:rPr sz="2000" spc="-3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conditional</a:t>
            </a:r>
            <a:r>
              <a:rPr sz="2000" spc="-3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jump</a:t>
            </a:r>
            <a:r>
              <a:rPr sz="2000" spc="-40" dirty="0">
                <a:solidFill>
                  <a:sysClr val="windowText" lastClr="000000"/>
                </a:solidFill>
                <a:latin typeface="Palatino Linotype"/>
                <a:cs typeface="Palatino Linotype"/>
              </a:rPr>
              <a:t> </a:t>
            </a:r>
            <a:r>
              <a:rPr sz="2000" spc="-10" dirty="0">
                <a:solidFill>
                  <a:sysClr val="windowText" lastClr="000000"/>
                </a:solidFill>
                <a:latin typeface="Palatino Linotype"/>
                <a:cs typeface="Palatino Linotype"/>
              </a:rPr>
              <a:t>operations</a:t>
            </a:r>
            <a:endParaRPr sz="2000">
              <a:solidFill>
                <a:sysClr val="windowText" lastClr="000000"/>
              </a:solidFill>
              <a:latin typeface="Palatino Linotype"/>
              <a:cs typeface="Palatino Linotype"/>
            </a:endParaRPr>
          </a:p>
        </p:txBody>
      </p:sp>
      <p:graphicFrame>
        <p:nvGraphicFramePr>
          <p:cNvPr id="10" name="object 4">
            <a:extLst>
              <a:ext uri="{FF2B5EF4-FFF2-40B4-BE49-F238E27FC236}">
                <a16:creationId xmlns:a16="http://schemas.microsoft.com/office/drawing/2014/main" id="{83B39A02-82BA-790F-D214-2A5DEC6DB0BB}"/>
              </a:ext>
            </a:extLst>
          </p:cNvPr>
          <p:cNvGraphicFramePr>
            <a:graphicFrameLocks noGrp="1"/>
          </p:cNvGraphicFramePr>
          <p:nvPr/>
        </p:nvGraphicFramePr>
        <p:xfrm>
          <a:off x="739979" y="2747661"/>
          <a:ext cx="7611745" cy="3252466"/>
        </p:xfrm>
        <a:graphic>
          <a:graphicData uri="http://schemas.openxmlformats.org/drawingml/2006/table">
            <a:tbl>
              <a:tblPr firstRow="1" bandRow="1"/>
              <a:tblGrid>
                <a:gridCol w="1612265">
                  <a:extLst>
                    <a:ext uri="{9D8B030D-6E8A-4147-A177-3AD203B41FA5}">
                      <a16:colId xmlns:a16="http://schemas.microsoft.com/office/drawing/2014/main" val="20000"/>
                    </a:ext>
                  </a:extLst>
                </a:gridCol>
                <a:gridCol w="1718310">
                  <a:extLst>
                    <a:ext uri="{9D8B030D-6E8A-4147-A177-3AD203B41FA5}">
                      <a16:colId xmlns:a16="http://schemas.microsoft.com/office/drawing/2014/main" val="20001"/>
                    </a:ext>
                  </a:extLst>
                </a:gridCol>
                <a:gridCol w="4281170">
                  <a:extLst>
                    <a:ext uri="{9D8B030D-6E8A-4147-A177-3AD203B41FA5}">
                      <a16:colId xmlns:a16="http://schemas.microsoft.com/office/drawing/2014/main" val="20002"/>
                    </a:ext>
                  </a:extLst>
                </a:gridCol>
              </a:tblGrid>
              <a:tr h="432434">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gn="ctr">
                        <a:lnSpc>
                          <a:spcPct val="100000"/>
                        </a:lnSpc>
                        <a:spcBef>
                          <a:spcPts val="640"/>
                        </a:spcBef>
                      </a:pPr>
                      <a:r>
                        <a:rPr sz="1600" b="1" spc="-20" dirty="0">
                          <a:solidFill>
                            <a:srgbClr val="FF0000"/>
                          </a:solidFill>
                          <a:latin typeface="Palatino Linotype"/>
                          <a:cs typeface="Palatino Linotype"/>
                        </a:rPr>
                        <a:t>Type</a:t>
                      </a:r>
                      <a:endParaRPr sz="1600">
                        <a:latin typeface="Palatino Linotype"/>
                        <a:cs typeface="Palatino Linotype"/>
                      </a:endParaRPr>
                    </a:p>
                  </a:txBody>
                  <a:tcPr marL="0" marR="0" marT="812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gn="ctr">
                        <a:lnSpc>
                          <a:spcPct val="100000"/>
                        </a:lnSpc>
                        <a:spcBef>
                          <a:spcPts val="640"/>
                        </a:spcBef>
                      </a:pPr>
                      <a:r>
                        <a:rPr sz="1600" b="1" spc="-20" dirty="0">
                          <a:solidFill>
                            <a:srgbClr val="FF0000"/>
                          </a:solidFill>
                          <a:latin typeface="Palatino Linotype"/>
                          <a:cs typeface="Palatino Linotype"/>
                        </a:rPr>
                        <a:t>Form</a:t>
                      </a:r>
                      <a:endParaRPr sz="1600">
                        <a:latin typeface="Palatino Linotype"/>
                        <a:cs typeface="Palatino Linotype"/>
                      </a:endParaRPr>
                    </a:p>
                  </a:txBody>
                  <a:tcPr marL="0" marR="0" marT="812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gn="ctr">
                        <a:lnSpc>
                          <a:spcPct val="100000"/>
                        </a:lnSpc>
                        <a:spcBef>
                          <a:spcPts val="640"/>
                        </a:spcBef>
                      </a:pPr>
                      <a:r>
                        <a:rPr sz="1600" b="1" spc="-10" dirty="0">
                          <a:solidFill>
                            <a:srgbClr val="FF0000"/>
                          </a:solidFill>
                          <a:latin typeface="Palatino Linotype"/>
                          <a:cs typeface="Palatino Linotype"/>
                        </a:rPr>
                        <a:t>Effect</a:t>
                      </a:r>
                      <a:endParaRPr sz="1600">
                        <a:latin typeface="Palatino Linotype"/>
                        <a:cs typeface="Palatino Linotype"/>
                      </a:endParaRPr>
                    </a:p>
                  </a:txBody>
                  <a:tcPr marL="0" marR="0" marT="812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518159">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marL="635" algn="ctr">
                        <a:lnSpc>
                          <a:spcPct val="100000"/>
                        </a:lnSpc>
                        <a:spcBef>
                          <a:spcPts val="1105"/>
                        </a:spcBef>
                      </a:pPr>
                      <a:r>
                        <a:rPr sz="1400" spc="-20" dirty="0">
                          <a:solidFill>
                            <a:srgbClr val="0432FF"/>
                          </a:solidFill>
                          <a:latin typeface="Palatino Linotype"/>
                          <a:cs typeface="Palatino Linotype"/>
                        </a:rPr>
                        <a:t>Load</a:t>
                      </a:r>
                      <a:endParaRPr sz="1400">
                        <a:latin typeface="Palatino Linotype"/>
                        <a:cs typeface="Palatino Linotype"/>
                      </a:endParaRPr>
                    </a:p>
                  </a:txBody>
                  <a:tcPr marL="0" marR="0" marT="1403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marR="40005" algn="ctr">
                        <a:lnSpc>
                          <a:spcPct val="100000"/>
                        </a:lnSpc>
                        <a:spcBef>
                          <a:spcPts val="1105"/>
                        </a:spcBef>
                      </a:pPr>
                      <a:r>
                        <a:rPr sz="1400" dirty="0">
                          <a:latin typeface="Cambria Math"/>
                          <a:cs typeface="Cambria Math"/>
                        </a:rPr>
                        <a:t>LD 𝑑𝑠𝑡,</a:t>
                      </a:r>
                      <a:r>
                        <a:rPr sz="1400" spc="-70" dirty="0">
                          <a:latin typeface="Cambria Math"/>
                          <a:cs typeface="Cambria Math"/>
                        </a:rPr>
                        <a:t> </a:t>
                      </a:r>
                      <a:r>
                        <a:rPr sz="1400" spc="-20" dirty="0">
                          <a:latin typeface="Cambria Math"/>
                          <a:cs typeface="Cambria Math"/>
                        </a:rPr>
                        <a:t>𝑎𝑑𝑑𝑟</a:t>
                      </a:r>
                      <a:endParaRPr sz="1400">
                        <a:latin typeface="Cambria Math"/>
                        <a:cs typeface="Cambria Math"/>
                      </a:endParaRPr>
                    </a:p>
                  </a:txBody>
                  <a:tcPr marL="0" marR="0" marT="1403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marL="1045844" marR="232410" indent="-806450">
                        <a:lnSpc>
                          <a:spcPct val="101400"/>
                        </a:lnSpc>
                        <a:spcBef>
                          <a:spcPts val="240"/>
                        </a:spcBef>
                      </a:pPr>
                      <a:r>
                        <a:rPr sz="1400" dirty="0">
                          <a:latin typeface="Palatino Linotype"/>
                          <a:cs typeface="Palatino Linotype"/>
                        </a:rPr>
                        <a:t>load</a:t>
                      </a:r>
                      <a:r>
                        <a:rPr sz="1400" spc="-35" dirty="0">
                          <a:latin typeface="Palatino Linotype"/>
                          <a:cs typeface="Palatino Linotype"/>
                        </a:rPr>
                        <a:t> </a:t>
                      </a:r>
                      <a:r>
                        <a:rPr sz="1400" dirty="0">
                          <a:latin typeface="Palatino Linotype"/>
                          <a:cs typeface="Palatino Linotype"/>
                        </a:rPr>
                        <a:t>the</a:t>
                      </a:r>
                      <a:r>
                        <a:rPr sz="1400" spc="-25" dirty="0">
                          <a:latin typeface="Palatino Linotype"/>
                          <a:cs typeface="Palatino Linotype"/>
                        </a:rPr>
                        <a:t> </a:t>
                      </a:r>
                      <a:r>
                        <a:rPr sz="1400" dirty="0">
                          <a:latin typeface="Palatino Linotype"/>
                          <a:cs typeface="Palatino Linotype"/>
                        </a:rPr>
                        <a:t>value</a:t>
                      </a:r>
                      <a:r>
                        <a:rPr sz="1400" spc="-20" dirty="0">
                          <a:latin typeface="Palatino Linotype"/>
                          <a:cs typeface="Palatino Linotype"/>
                        </a:rPr>
                        <a:t> </a:t>
                      </a:r>
                      <a:r>
                        <a:rPr sz="1400" dirty="0">
                          <a:latin typeface="Palatino Linotype"/>
                          <a:cs typeface="Palatino Linotype"/>
                        </a:rPr>
                        <a:t>in</a:t>
                      </a:r>
                      <a:r>
                        <a:rPr sz="1400" spc="-30" dirty="0">
                          <a:latin typeface="Palatino Linotype"/>
                          <a:cs typeface="Palatino Linotype"/>
                        </a:rPr>
                        <a:t> </a:t>
                      </a:r>
                      <a:r>
                        <a:rPr sz="1400" dirty="0">
                          <a:latin typeface="Palatino Linotype"/>
                          <a:cs typeface="Palatino Linotype"/>
                        </a:rPr>
                        <a:t>location</a:t>
                      </a:r>
                      <a:r>
                        <a:rPr sz="1400" spc="-25" dirty="0">
                          <a:latin typeface="Palatino Linotype"/>
                          <a:cs typeface="Palatino Linotype"/>
                        </a:rPr>
                        <a:t> </a:t>
                      </a:r>
                      <a:r>
                        <a:rPr sz="1400" dirty="0">
                          <a:latin typeface="Cambria Math"/>
                          <a:cs typeface="Cambria Math"/>
                        </a:rPr>
                        <a:t>𝑎𝑑𝑑𝑟</a:t>
                      </a:r>
                      <a:r>
                        <a:rPr sz="1400" spc="40" dirty="0">
                          <a:latin typeface="Cambria Math"/>
                          <a:cs typeface="Cambria Math"/>
                        </a:rPr>
                        <a:t> </a:t>
                      </a:r>
                      <a:r>
                        <a:rPr sz="1400" dirty="0">
                          <a:latin typeface="Palatino Linotype"/>
                          <a:cs typeface="Palatino Linotype"/>
                        </a:rPr>
                        <a:t>into</a:t>
                      </a:r>
                      <a:r>
                        <a:rPr sz="1400" spc="-30" dirty="0">
                          <a:latin typeface="Palatino Linotype"/>
                          <a:cs typeface="Palatino Linotype"/>
                        </a:rPr>
                        <a:t> </a:t>
                      </a:r>
                      <a:r>
                        <a:rPr sz="1400" dirty="0">
                          <a:latin typeface="Palatino Linotype"/>
                          <a:cs typeface="Palatino Linotype"/>
                        </a:rPr>
                        <a:t>location</a:t>
                      </a:r>
                      <a:r>
                        <a:rPr sz="1400" spc="-25" dirty="0">
                          <a:latin typeface="Palatino Linotype"/>
                          <a:cs typeface="Palatino Linotype"/>
                        </a:rPr>
                        <a:t> </a:t>
                      </a:r>
                      <a:r>
                        <a:rPr sz="1400" spc="-20" dirty="0">
                          <a:latin typeface="Cambria Math"/>
                          <a:cs typeface="Cambria Math"/>
                        </a:rPr>
                        <a:t>𝑑𝑠𝑡</a:t>
                      </a:r>
                      <a:r>
                        <a:rPr sz="1400" spc="-20" dirty="0">
                          <a:latin typeface="Palatino Linotype"/>
                          <a:cs typeface="Palatino Linotype"/>
                        </a:rPr>
                        <a:t>, </a:t>
                      </a:r>
                      <a:r>
                        <a:rPr sz="1400" dirty="0">
                          <a:latin typeface="Palatino Linotype"/>
                          <a:cs typeface="Palatino Linotype"/>
                        </a:rPr>
                        <a:t>where</a:t>
                      </a:r>
                      <a:r>
                        <a:rPr sz="1400" spc="-15" dirty="0">
                          <a:latin typeface="Palatino Linotype"/>
                          <a:cs typeface="Palatino Linotype"/>
                        </a:rPr>
                        <a:t> </a:t>
                      </a:r>
                      <a:r>
                        <a:rPr sz="1400" dirty="0">
                          <a:latin typeface="Cambria Math"/>
                          <a:cs typeface="Cambria Math"/>
                        </a:rPr>
                        <a:t>𝑑𝑠𝑡</a:t>
                      </a:r>
                      <a:r>
                        <a:rPr sz="1400" spc="55" dirty="0">
                          <a:latin typeface="Cambria Math"/>
                          <a:cs typeface="Cambria Math"/>
                        </a:rPr>
                        <a:t> </a:t>
                      </a:r>
                      <a:r>
                        <a:rPr sz="1400" dirty="0">
                          <a:latin typeface="Palatino Linotype"/>
                          <a:cs typeface="Palatino Linotype"/>
                        </a:rPr>
                        <a:t>is</a:t>
                      </a:r>
                      <a:r>
                        <a:rPr sz="1400" spc="-25" dirty="0">
                          <a:latin typeface="Palatino Linotype"/>
                          <a:cs typeface="Palatino Linotype"/>
                        </a:rPr>
                        <a:t> </a:t>
                      </a:r>
                      <a:r>
                        <a:rPr sz="1400" dirty="0">
                          <a:latin typeface="Palatino Linotype"/>
                          <a:cs typeface="Palatino Linotype"/>
                        </a:rPr>
                        <a:t>often</a:t>
                      </a:r>
                      <a:r>
                        <a:rPr sz="1400" spc="-20" dirty="0">
                          <a:latin typeface="Palatino Linotype"/>
                          <a:cs typeface="Palatino Linotype"/>
                        </a:rPr>
                        <a:t> </a:t>
                      </a:r>
                      <a:r>
                        <a:rPr sz="1400" dirty="0">
                          <a:latin typeface="Palatino Linotype"/>
                          <a:cs typeface="Palatino Linotype"/>
                        </a:rPr>
                        <a:t>a</a:t>
                      </a:r>
                      <a:r>
                        <a:rPr sz="1400" spc="-15" dirty="0">
                          <a:latin typeface="Palatino Linotype"/>
                          <a:cs typeface="Palatino Linotype"/>
                        </a:rPr>
                        <a:t> </a:t>
                      </a:r>
                      <a:r>
                        <a:rPr sz="1400" spc="-10" dirty="0">
                          <a:latin typeface="Palatino Linotype"/>
                          <a:cs typeface="Palatino Linotype"/>
                        </a:rPr>
                        <a:t>register</a:t>
                      </a:r>
                      <a:endParaRPr sz="1400">
                        <a:latin typeface="Palatino Linotype"/>
                        <a:cs typeface="Palatino Linotype"/>
                      </a:endParaRPr>
                    </a:p>
                  </a:txBody>
                  <a:tcPr marL="0" marR="0" marT="30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432434">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gn="ctr">
                        <a:lnSpc>
                          <a:spcPct val="100000"/>
                        </a:lnSpc>
                        <a:spcBef>
                          <a:spcPts val="770"/>
                        </a:spcBef>
                      </a:pPr>
                      <a:r>
                        <a:rPr sz="1400" spc="-10" dirty="0">
                          <a:solidFill>
                            <a:srgbClr val="0432FF"/>
                          </a:solidFill>
                          <a:latin typeface="Palatino Linotype"/>
                          <a:cs typeface="Palatino Linotype"/>
                        </a:rPr>
                        <a:t>Store</a:t>
                      </a:r>
                      <a:endParaRPr sz="1400">
                        <a:latin typeface="Palatino Linotype"/>
                        <a:cs typeface="Palatino Linotype"/>
                      </a:endParaRPr>
                    </a:p>
                  </a:txBody>
                  <a:tcPr marL="0" marR="0" marT="9779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marR="40005" algn="ctr">
                        <a:lnSpc>
                          <a:spcPct val="100000"/>
                        </a:lnSpc>
                        <a:spcBef>
                          <a:spcPts val="770"/>
                        </a:spcBef>
                      </a:pPr>
                      <a:r>
                        <a:rPr sz="1400" dirty="0">
                          <a:latin typeface="Cambria Math"/>
                          <a:cs typeface="Cambria Math"/>
                        </a:rPr>
                        <a:t>ST</a:t>
                      </a:r>
                      <a:r>
                        <a:rPr sz="1400" spc="-10" dirty="0">
                          <a:latin typeface="Cambria Math"/>
                          <a:cs typeface="Cambria Math"/>
                        </a:rPr>
                        <a:t> </a:t>
                      </a:r>
                      <a:r>
                        <a:rPr sz="1400" dirty="0">
                          <a:latin typeface="Cambria Math"/>
                          <a:cs typeface="Cambria Math"/>
                        </a:rPr>
                        <a:t>𝑥,</a:t>
                      </a:r>
                      <a:r>
                        <a:rPr sz="1400" spc="-75" dirty="0">
                          <a:latin typeface="Cambria Math"/>
                          <a:cs typeface="Cambria Math"/>
                        </a:rPr>
                        <a:t> </a:t>
                      </a:r>
                      <a:r>
                        <a:rPr sz="1400" spc="-50" dirty="0">
                          <a:latin typeface="Cambria Math"/>
                          <a:cs typeface="Cambria Math"/>
                        </a:rPr>
                        <a:t>𝑟</a:t>
                      </a:r>
                      <a:endParaRPr sz="1400">
                        <a:latin typeface="Cambria Math"/>
                        <a:cs typeface="Cambria Math"/>
                      </a:endParaRPr>
                    </a:p>
                  </a:txBody>
                  <a:tcPr marL="0" marR="0" marT="9779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gn="ctr">
                        <a:lnSpc>
                          <a:spcPct val="100000"/>
                        </a:lnSpc>
                        <a:spcBef>
                          <a:spcPts val="770"/>
                        </a:spcBef>
                      </a:pPr>
                      <a:r>
                        <a:rPr sz="1400" dirty="0">
                          <a:latin typeface="Palatino Linotype"/>
                          <a:cs typeface="Palatino Linotype"/>
                        </a:rPr>
                        <a:t>store</a:t>
                      </a:r>
                      <a:r>
                        <a:rPr sz="1400" spc="-25" dirty="0">
                          <a:latin typeface="Palatino Linotype"/>
                          <a:cs typeface="Palatino Linotype"/>
                        </a:rPr>
                        <a:t> </a:t>
                      </a:r>
                      <a:r>
                        <a:rPr sz="1400" dirty="0">
                          <a:latin typeface="Palatino Linotype"/>
                          <a:cs typeface="Palatino Linotype"/>
                        </a:rPr>
                        <a:t>the</a:t>
                      </a:r>
                      <a:r>
                        <a:rPr sz="1400" spc="-25" dirty="0">
                          <a:latin typeface="Palatino Linotype"/>
                          <a:cs typeface="Palatino Linotype"/>
                        </a:rPr>
                        <a:t> </a:t>
                      </a:r>
                      <a:r>
                        <a:rPr sz="1400" dirty="0">
                          <a:latin typeface="Palatino Linotype"/>
                          <a:cs typeface="Palatino Linotype"/>
                        </a:rPr>
                        <a:t>value</a:t>
                      </a:r>
                      <a:r>
                        <a:rPr sz="1400" spc="-25" dirty="0">
                          <a:latin typeface="Palatino Linotype"/>
                          <a:cs typeface="Palatino Linotype"/>
                        </a:rPr>
                        <a:t> </a:t>
                      </a:r>
                      <a:r>
                        <a:rPr sz="1400" dirty="0">
                          <a:latin typeface="Palatino Linotype"/>
                          <a:cs typeface="Palatino Linotype"/>
                        </a:rPr>
                        <a:t>in</a:t>
                      </a:r>
                      <a:r>
                        <a:rPr sz="1400" spc="-30" dirty="0">
                          <a:latin typeface="Palatino Linotype"/>
                          <a:cs typeface="Palatino Linotype"/>
                        </a:rPr>
                        <a:t> </a:t>
                      </a:r>
                      <a:r>
                        <a:rPr sz="1400" dirty="0">
                          <a:latin typeface="Palatino Linotype"/>
                          <a:cs typeface="Palatino Linotype"/>
                        </a:rPr>
                        <a:t>register</a:t>
                      </a:r>
                      <a:r>
                        <a:rPr sz="1400" spc="-25" dirty="0">
                          <a:latin typeface="Palatino Linotype"/>
                          <a:cs typeface="Palatino Linotype"/>
                        </a:rPr>
                        <a:t> </a:t>
                      </a:r>
                      <a:r>
                        <a:rPr sz="1400" dirty="0">
                          <a:latin typeface="Cambria Math"/>
                          <a:cs typeface="Cambria Math"/>
                        </a:rPr>
                        <a:t>𝑟</a:t>
                      </a:r>
                      <a:r>
                        <a:rPr sz="1400" spc="40" dirty="0">
                          <a:latin typeface="Cambria Math"/>
                          <a:cs typeface="Cambria Math"/>
                        </a:rPr>
                        <a:t> </a:t>
                      </a:r>
                      <a:r>
                        <a:rPr sz="1400" dirty="0">
                          <a:latin typeface="Palatino Linotype"/>
                          <a:cs typeface="Palatino Linotype"/>
                        </a:rPr>
                        <a:t>into</a:t>
                      </a:r>
                      <a:r>
                        <a:rPr sz="1400" spc="-30" dirty="0">
                          <a:latin typeface="Palatino Linotype"/>
                          <a:cs typeface="Palatino Linotype"/>
                        </a:rPr>
                        <a:t> </a:t>
                      </a:r>
                      <a:r>
                        <a:rPr sz="1400" dirty="0">
                          <a:latin typeface="Palatino Linotype"/>
                          <a:cs typeface="Palatino Linotype"/>
                        </a:rPr>
                        <a:t>the</a:t>
                      </a:r>
                      <a:r>
                        <a:rPr sz="1400" spc="-25" dirty="0">
                          <a:latin typeface="Palatino Linotype"/>
                          <a:cs typeface="Palatino Linotype"/>
                        </a:rPr>
                        <a:t> </a:t>
                      </a:r>
                      <a:r>
                        <a:rPr sz="1400" dirty="0">
                          <a:latin typeface="Palatino Linotype"/>
                          <a:cs typeface="Palatino Linotype"/>
                        </a:rPr>
                        <a:t>location</a:t>
                      </a:r>
                      <a:r>
                        <a:rPr sz="1400" spc="-30" dirty="0">
                          <a:latin typeface="Palatino Linotype"/>
                          <a:cs typeface="Palatino Linotype"/>
                        </a:rPr>
                        <a:t> </a:t>
                      </a:r>
                      <a:r>
                        <a:rPr sz="1400" spc="-50" dirty="0">
                          <a:latin typeface="Cambria Math"/>
                          <a:cs typeface="Cambria Math"/>
                        </a:rPr>
                        <a:t>𝑥</a:t>
                      </a:r>
                      <a:endParaRPr sz="1400">
                        <a:latin typeface="Cambria Math"/>
                        <a:cs typeface="Cambria Math"/>
                      </a:endParaRPr>
                    </a:p>
                  </a:txBody>
                  <a:tcPr marL="0" marR="0" marT="9779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518159">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gn="ctr">
                        <a:lnSpc>
                          <a:spcPct val="100000"/>
                        </a:lnSpc>
                        <a:spcBef>
                          <a:spcPts val="1105"/>
                        </a:spcBef>
                      </a:pPr>
                      <a:r>
                        <a:rPr sz="1400" spc="-10" dirty="0">
                          <a:solidFill>
                            <a:srgbClr val="0432FF"/>
                          </a:solidFill>
                          <a:latin typeface="Palatino Linotype"/>
                          <a:cs typeface="Palatino Linotype"/>
                        </a:rPr>
                        <a:t>Computation</a:t>
                      </a:r>
                      <a:endParaRPr sz="1400">
                        <a:latin typeface="Palatino Linotype"/>
                        <a:cs typeface="Palatino Linotype"/>
                      </a:endParaRPr>
                    </a:p>
                  </a:txBody>
                  <a:tcPr marL="0" marR="0" marT="1403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marR="45085" algn="ctr">
                        <a:lnSpc>
                          <a:spcPct val="100000"/>
                        </a:lnSpc>
                        <a:spcBef>
                          <a:spcPts val="1105"/>
                        </a:spcBef>
                      </a:pPr>
                      <a:r>
                        <a:rPr sz="1400" dirty="0">
                          <a:latin typeface="Cambria Math"/>
                          <a:cs typeface="Cambria Math"/>
                        </a:rPr>
                        <a:t>𝑂𝑃</a:t>
                      </a:r>
                      <a:r>
                        <a:rPr sz="1400" spc="40" dirty="0">
                          <a:latin typeface="Cambria Math"/>
                          <a:cs typeface="Cambria Math"/>
                        </a:rPr>
                        <a:t> </a:t>
                      </a:r>
                      <a:r>
                        <a:rPr sz="1400" dirty="0">
                          <a:latin typeface="Cambria Math"/>
                          <a:cs typeface="Cambria Math"/>
                        </a:rPr>
                        <a:t>𝑑𝑠𝑡,</a:t>
                      </a:r>
                      <a:r>
                        <a:rPr sz="1400" spc="-70" dirty="0">
                          <a:latin typeface="Cambria Math"/>
                          <a:cs typeface="Cambria Math"/>
                        </a:rPr>
                        <a:t> </a:t>
                      </a:r>
                      <a:r>
                        <a:rPr sz="1400" dirty="0">
                          <a:latin typeface="Cambria Math"/>
                          <a:cs typeface="Cambria Math"/>
                        </a:rPr>
                        <a:t>𝑠𝑟𝑐</a:t>
                      </a:r>
                      <a:r>
                        <a:rPr sz="1500" baseline="-16666" dirty="0">
                          <a:latin typeface="Cambria Math"/>
                          <a:cs typeface="Cambria Math"/>
                        </a:rPr>
                        <a:t>1</a:t>
                      </a:r>
                      <a:r>
                        <a:rPr sz="1400" dirty="0">
                          <a:latin typeface="Cambria Math"/>
                          <a:cs typeface="Cambria Math"/>
                        </a:rPr>
                        <a:t>,</a:t>
                      </a:r>
                      <a:r>
                        <a:rPr sz="1400" spc="-65" dirty="0">
                          <a:latin typeface="Cambria Math"/>
                          <a:cs typeface="Cambria Math"/>
                        </a:rPr>
                        <a:t> </a:t>
                      </a:r>
                      <a:r>
                        <a:rPr sz="1400" spc="-20" dirty="0">
                          <a:latin typeface="Cambria Math"/>
                          <a:cs typeface="Cambria Math"/>
                        </a:rPr>
                        <a:t>𝑠𝑟𝑐</a:t>
                      </a:r>
                      <a:r>
                        <a:rPr sz="1500" spc="-30" baseline="-16666" dirty="0">
                          <a:latin typeface="Cambria Math"/>
                          <a:cs typeface="Cambria Math"/>
                        </a:rPr>
                        <a:t>2</a:t>
                      </a:r>
                      <a:endParaRPr sz="1500" baseline="-16666">
                        <a:latin typeface="Cambria Math"/>
                        <a:cs typeface="Cambria Math"/>
                      </a:endParaRPr>
                    </a:p>
                  </a:txBody>
                  <a:tcPr marL="0" marR="0" marT="1403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marL="232410">
                        <a:lnSpc>
                          <a:spcPct val="100000"/>
                        </a:lnSpc>
                        <a:spcBef>
                          <a:spcPts val="265"/>
                        </a:spcBef>
                      </a:pPr>
                      <a:r>
                        <a:rPr sz="1400" dirty="0">
                          <a:latin typeface="Palatino Linotype"/>
                          <a:cs typeface="Palatino Linotype"/>
                        </a:rPr>
                        <a:t>apply</a:t>
                      </a:r>
                      <a:r>
                        <a:rPr sz="1400" spc="-25" dirty="0">
                          <a:latin typeface="Palatino Linotype"/>
                          <a:cs typeface="Palatino Linotype"/>
                        </a:rPr>
                        <a:t> </a:t>
                      </a:r>
                      <a:r>
                        <a:rPr sz="1400" dirty="0">
                          <a:latin typeface="Palatino Linotype"/>
                          <a:cs typeface="Palatino Linotype"/>
                        </a:rPr>
                        <a:t>the</a:t>
                      </a:r>
                      <a:r>
                        <a:rPr sz="1400" spc="-20" dirty="0">
                          <a:latin typeface="Palatino Linotype"/>
                          <a:cs typeface="Palatino Linotype"/>
                        </a:rPr>
                        <a:t> </a:t>
                      </a:r>
                      <a:r>
                        <a:rPr sz="1400" dirty="0">
                          <a:latin typeface="Palatino Linotype"/>
                          <a:cs typeface="Palatino Linotype"/>
                        </a:rPr>
                        <a:t>operation</a:t>
                      </a:r>
                      <a:r>
                        <a:rPr sz="1400" spc="-25" dirty="0">
                          <a:latin typeface="Palatino Linotype"/>
                          <a:cs typeface="Palatino Linotype"/>
                        </a:rPr>
                        <a:t> </a:t>
                      </a:r>
                      <a:r>
                        <a:rPr sz="1400" dirty="0">
                          <a:latin typeface="Cambria Math"/>
                          <a:cs typeface="Cambria Math"/>
                        </a:rPr>
                        <a:t>𝑂𝑃</a:t>
                      </a:r>
                      <a:r>
                        <a:rPr sz="1400" spc="40" dirty="0">
                          <a:latin typeface="Cambria Math"/>
                          <a:cs typeface="Cambria Math"/>
                        </a:rPr>
                        <a:t> </a:t>
                      </a:r>
                      <a:r>
                        <a:rPr sz="1400" dirty="0">
                          <a:latin typeface="Palatino Linotype"/>
                          <a:cs typeface="Palatino Linotype"/>
                        </a:rPr>
                        <a:t>to</a:t>
                      </a:r>
                      <a:r>
                        <a:rPr sz="1400" spc="-25" dirty="0">
                          <a:latin typeface="Palatino Linotype"/>
                          <a:cs typeface="Palatino Linotype"/>
                        </a:rPr>
                        <a:t> </a:t>
                      </a:r>
                      <a:r>
                        <a:rPr sz="1400" dirty="0">
                          <a:latin typeface="Palatino Linotype"/>
                          <a:cs typeface="Palatino Linotype"/>
                        </a:rPr>
                        <a:t>the</a:t>
                      </a:r>
                      <a:r>
                        <a:rPr sz="1400" spc="-20" dirty="0">
                          <a:latin typeface="Palatino Linotype"/>
                          <a:cs typeface="Palatino Linotype"/>
                        </a:rPr>
                        <a:t> </a:t>
                      </a:r>
                      <a:r>
                        <a:rPr sz="1400" dirty="0">
                          <a:latin typeface="Palatino Linotype"/>
                          <a:cs typeface="Palatino Linotype"/>
                        </a:rPr>
                        <a:t>values</a:t>
                      </a:r>
                      <a:r>
                        <a:rPr sz="1400" spc="-30" dirty="0">
                          <a:latin typeface="Palatino Linotype"/>
                          <a:cs typeface="Palatino Linotype"/>
                        </a:rPr>
                        <a:t> </a:t>
                      </a:r>
                      <a:r>
                        <a:rPr sz="1400" dirty="0">
                          <a:latin typeface="Palatino Linotype"/>
                          <a:cs typeface="Palatino Linotype"/>
                        </a:rPr>
                        <a:t>in</a:t>
                      </a:r>
                      <a:r>
                        <a:rPr sz="1400" spc="-25" dirty="0">
                          <a:latin typeface="Palatino Linotype"/>
                          <a:cs typeface="Palatino Linotype"/>
                        </a:rPr>
                        <a:t> </a:t>
                      </a:r>
                      <a:r>
                        <a:rPr sz="1400" spc="-10" dirty="0">
                          <a:latin typeface="Palatino Linotype"/>
                          <a:cs typeface="Palatino Linotype"/>
                        </a:rPr>
                        <a:t>locations</a:t>
                      </a:r>
                      <a:endParaRPr sz="1400">
                        <a:latin typeface="Palatino Linotype"/>
                        <a:cs typeface="Palatino Linotype"/>
                      </a:endParaRPr>
                    </a:p>
                    <a:p>
                      <a:pPr marL="215900">
                        <a:lnSpc>
                          <a:spcPct val="100000"/>
                        </a:lnSpc>
                        <a:spcBef>
                          <a:spcPts val="25"/>
                        </a:spcBef>
                      </a:pPr>
                      <a:r>
                        <a:rPr sz="1400" dirty="0">
                          <a:latin typeface="Cambria Math"/>
                          <a:cs typeface="Cambria Math"/>
                        </a:rPr>
                        <a:t>𝑠𝑟𝑐</a:t>
                      </a:r>
                      <a:r>
                        <a:rPr sz="1500" baseline="-13888" dirty="0">
                          <a:latin typeface="Cambria Math"/>
                          <a:cs typeface="Cambria Math"/>
                        </a:rPr>
                        <a:t>1</a:t>
                      </a:r>
                      <a:r>
                        <a:rPr sz="1500" spc="270" baseline="-13888" dirty="0">
                          <a:latin typeface="Cambria Math"/>
                          <a:cs typeface="Cambria Math"/>
                        </a:rPr>
                        <a:t> </a:t>
                      </a:r>
                      <a:r>
                        <a:rPr sz="1400" dirty="0">
                          <a:latin typeface="Palatino Linotype"/>
                          <a:cs typeface="Palatino Linotype"/>
                        </a:rPr>
                        <a:t>and</a:t>
                      </a:r>
                      <a:r>
                        <a:rPr sz="1400" spc="-25" dirty="0">
                          <a:latin typeface="Palatino Linotype"/>
                          <a:cs typeface="Palatino Linotype"/>
                        </a:rPr>
                        <a:t> </a:t>
                      </a:r>
                      <a:r>
                        <a:rPr sz="1400" dirty="0">
                          <a:latin typeface="Cambria Math"/>
                          <a:cs typeface="Cambria Math"/>
                        </a:rPr>
                        <a:t>𝑠𝑟𝑐</a:t>
                      </a:r>
                      <a:r>
                        <a:rPr sz="1500" baseline="-13888" dirty="0">
                          <a:latin typeface="Cambria Math"/>
                          <a:cs typeface="Cambria Math"/>
                        </a:rPr>
                        <a:t>2</a:t>
                      </a:r>
                      <a:r>
                        <a:rPr sz="1400" dirty="0">
                          <a:latin typeface="Palatino Linotype"/>
                          <a:cs typeface="Palatino Linotype"/>
                        </a:rPr>
                        <a:t>,</a:t>
                      </a:r>
                      <a:r>
                        <a:rPr sz="1400" spc="-10" dirty="0">
                          <a:latin typeface="Palatino Linotype"/>
                          <a:cs typeface="Palatino Linotype"/>
                        </a:rPr>
                        <a:t> </a:t>
                      </a:r>
                      <a:r>
                        <a:rPr sz="1400" dirty="0">
                          <a:latin typeface="Palatino Linotype"/>
                          <a:cs typeface="Palatino Linotype"/>
                        </a:rPr>
                        <a:t>and</a:t>
                      </a:r>
                      <a:r>
                        <a:rPr sz="1400" spc="-25" dirty="0">
                          <a:latin typeface="Palatino Linotype"/>
                          <a:cs typeface="Palatino Linotype"/>
                        </a:rPr>
                        <a:t> </a:t>
                      </a:r>
                      <a:r>
                        <a:rPr sz="1400" dirty="0">
                          <a:latin typeface="Palatino Linotype"/>
                          <a:cs typeface="Palatino Linotype"/>
                        </a:rPr>
                        <a:t>place</a:t>
                      </a:r>
                      <a:r>
                        <a:rPr sz="1400" spc="-15" dirty="0">
                          <a:latin typeface="Palatino Linotype"/>
                          <a:cs typeface="Palatino Linotype"/>
                        </a:rPr>
                        <a:t> </a:t>
                      </a:r>
                      <a:r>
                        <a:rPr sz="1400" dirty="0">
                          <a:latin typeface="Palatino Linotype"/>
                          <a:cs typeface="Palatino Linotype"/>
                        </a:rPr>
                        <a:t>the</a:t>
                      </a:r>
                      <a:r>
                        <a:rPr sz="1400" spc="-15" dirty="0">
                          <a:latin typeface="Palatino Linotype"/>
                          <a:cs typeface="Palatino Linotype"/>
                        </a:rPr>
                        <a:t> </a:t>
                      </a:r>
                      <a:r>
                        <a:rPr sz="1400" dirty="0">
                          <a:latin typeface="Palatino Linotype"/>
                          <a:cs typeface="Palatino Linotype"/>
                        </a:rPr>
                        <a:t>result</a:t>
                      </a:r>
                      <a:r>
                        <a:rPr sz="1400" spc="-10" dirty="0">
                          <a:latin typeface="Palatino Linotype"/>
                          <a:cs typeface="Palatino Linotype"/>
                        </a:rPr>
                        <a:t> </a:t>
                      </a:r>
                      <a:r>
                        <a:rPr sz="1400" dirty="0">
                          <a:latin typeface="Palatino Linotype"/>
                          <a:cs typeface="Palatino Linotype"/>
                        </a:rPr>
                        <a:t>in</a:t>
                      </a:r>
                      <a:r>
                        <a:rPr sz="1400" spc="-15" dirty="0">
                          <a:latin typeface="Palatino Linotype"/>
                          <a:cs typeface="Palatino Linotype"/>
                        </a:rPr>
                        <a:t> </a:t>
                      </a:r>
                      <a:r>
                        <a:rPr sz="1400" dirty="0">
                          <a:latin typeface="Palatino Linotype"/>
                          <a:cs typeface="Palatino Linotype"/>
                        </a:rPr>
                        <a:t>location</a:t>
                      </a:r>
                      <a:r>
                        <a:rPr sz="1400" spc="-20" dirty="0">
                          <a:latin typeface="Palatino Linotype"/>
                          <a:cs typeface="Palatino Linotype"/>
                        </a:rPr>
                        <a:t> </a:t>
                      </a:r>
                      <a:r>
                        <a:rPr sz="1400" spc="-25" dirty="0">
                          <a:latin typeface="Cambria Math"/>
                          <a:cs typeface="Cambria Math"/>
                        </a:rPr>
                        <a:t>𝑑𝑠𝑡</a:t>
                      </a:r>
                      <a:endParaRPr sz="1400">
                        <a:latin typeface="Cambria Math"/>
                        <a:cs typeface="Cambria Math"/>
                      </a:endParaRPr>
                    </a:p>
                  </a:txBody>
                  <a:tcPr marL="0" marR="0" marT="3365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675640">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marL="561975" marR="232410" indent="-323215">
                        <a:lnSpc>
                          <a:spcPct val="100000"/>
                        </a:lnSpc>
                        <a:spcBef>
                          <a:spcPts val="890"/>
                        </a:spcBef>
                      </a:pPr>
                      <a:r>
                        <a:rPr sz="1400" spc="-10" dirty="0">
                          <a:solidFill>
                            <a:srgbClr val="0432FF"/>
                          </a:solidFill>
                          <a:latin typeface="Palatino Linotype"/>
                          <a:cs typeface="Palatino Linotype"/>
                        </a:rPr>
                        <a:t>Unconditional jumps</a:t>
                      </a:r>
                      <a:endParaRPr sz="1400">
                        <a:latin typeface="Palatino Linotype"/>
                        <a:cs typeface="Palatino Linotype"/>
                      </a:endParaRPr>
                    </a:p>
                  </a:txBody>
                  <a:tcPr marL="0" marR="0" marT="11303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nSpc>
                          <a:spcPct val="100000"/>
                        </a:lnSpc>
                        <a:spcBef>
                          <a:spcPts val="114"/>
                        </a:spcBef>
                      </a:pPr>
                      <a:endParaRPr sz="1400">
                        <a:latin typeface="Times New Roman"/>
                        <a:cs typeface="Times New Roman"/>
                      </a:endParaRPr>
                    </a:p>
                    <a:p>
                      <a:pPr marR="40640" algn="ctr">
                        <a:lnSpc>
                          <a:spcPct val="100000"/>
                        </a:lnSpc>
                        <a:spcBef>
                          <a:spcPts val="5"/>
                        </a:spcBef>
                      </a:pPr>
                      <a:r>
                        <a:rPr sz="1400" dirty="0">
                          <a:latin typeface="Cambria Math"/>
                          <a:cs typeface="Cambria Math"/>
                        </a:rPr>
                        <a:t>BR</a:t>
                      </a:r>
                      <a:r>
                        <a:rPr sz="1400" spc="-5" dirty="0">
                          <a:latin typeface="Cambria Math"/>
                          <a:cs typeface="Cambria Math"/>
                        </a:rPr>
                        <a:t> </a:t>
                      </a:r>
                      <a:r>
                        <a:rPr sz="1400" spc="-50" dirty="0">
                          <a:latin typeface="Cambria Math"/>
                          <a:cs typeface="Cambria Math"/>
                        </a:rPr>
                        <a:t>𝐿</a:t>
                      </a:r>
                      <a:endParaRPr sz="1400">
                        <a:latin typeface="Cambria Math"/>
                        <a:cs typeface="Cambria Math"/>
                      </a:endParaRPr>
                    </a:p>
                  </a:txBody>
                  <a:tcPr marL="0" marR="0" marT="146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nSpc>
                          <a:spcPct val="100000"/>
                        </a:lnSpc>
                        <a:spcBef>
                          <a:spcPts val="114"/>
                        </a:spcBef>
                      </a:pPr>
                      <a:endParaRPr sz="1400">
                        <a:latin typeface="Times New Roman"/>
                        <a:cs typeface="Times New Roman"/>
                      </a:endParaRPr>
                    </a:p>
                    <a:p>
                      <a:pPr algn="ctr">
                        <a:lnSpc>
                          <a:spcPct val="100000"/>
                        </a:lnSpc>
                        <a:spcBef>
                          <a:spcPts val="5"/>
                        </a:spcBef>
                      </a:pPr>
                      <a:r>
                        <a:rPr sz="1400" dirty="0">
                          <a:latin typeface="Palatino Linotype"/>
                          <a:cs typeface="Palatino Linotype"/>
                        </a:rPr>
                        <a:t>jump</a:t>
                      </a:r>
                      <a:r>
                        <a:rPr sz="1400" spc="-35" dirty="0">
                          <a:latin typeface="Palatino Linotype"/>
                          <a:cs typeface="Palatino Linotype"/>
                        </a:rPr>
                        <a:t> </a:t>
                      </a:r>
                      <a:r>
                        <a:rPr sz="1400" dirty="0">
                          <a:latin typeface="Palatino Linotype"/>
                          <a:cs typeface="Palatino Linotype"/>
                        </a:rPr>
                        <a:t>to</a:t>
                      </a:r>
                      <a:r>
                        <a:rPr sz="1400" spc="-30" dirty="0">
                          <a:latin typeface="Palatino Linotype"/>
                          <a:cs typeface="Palatino Linotype"/>
                        </a:rPr>
                        <a:t> </a:t>
                      </a:r>
                      <a:r>
                        <a:rPr sz="1400" dirty="0">
                          <a:latin typeface="Palatino Linotype"/>
                          <a:cs typeface="Palatino Linotype"/>
                        </a:rPr>
                        <a:t>the</a:t>
                      </a:r>
                      <a:r>
                        <a:rPr sz="1400" spc="-25" dirty="0">
                          <a:latin typeface="Palatino Linotype"/>
                          <a:cs typeface="Palatino Linotype"/>
                        </a:rPr>
                        <a:t> </a:t>
                      </a:r>
                      <a:r>
                        <a:rPr sz="1400" dirty="0">
                          <a:latin typeface="Palatino Linotype"/>
                          <a:cs typeface="Palatino Linotype"/>
                        </a:rPr>
                        <a:t>machine</a:t>
                      </a:r>
                      <a:r>
                        <a:rPr sz="1400" spc="-30" dirty="0">
                          <a:latin typeface="Palatino Linotype"/>
                          <a:cs typeface="Palatino Linotype"/>
                        </a:rPr>
                        <a:t> </a:t>
                      </a:r>
                      <a:r>
                        <a:rPr sz="1400" dirty="0">
                          <a:latin typeface="Palatino Linotype"/>
                          <a:cs typeface="Palatino Linotype"/>
                        </a:rPr>
                        <a:t>instruction</a:t>
                      </a:r>
                      <a:r>
                        <a:rPr sz="1400" spc="-30" dirty="0">
                          <a:latin typeface="Palatino Linotype"/>
                          <a:cs typeface="Palatino Linotype"/>
                        </a:rPr>
                        <a:t> </a:t>
                      </a:r>
                      <a:r>
                        <a:rPr sz="1400" dirty="0">
                          <a:latin typeface="Palatino Linotype"/>
                          <a:cs typeface="Palatino Linotype"/>
                        </a:rPr>
                        <a:t>with</a:t>
                      </a:r>
                      <a:r>
                        <a:rPr sz="1400" spc="-30" dirty="0">
                          <a:latin typeface="Palatino Linotype"/>
                          <a:cs typeface="Palatino Linotype"/>
                        </a:rPr>
                        <a:t> </a:t>
                      </a:r>
                      <a:r>
                        <a:rPr sz="1400" dirty="0">
                          <a:latin typeface="Palatino Linotype"/>
                          <a:cs typeface="Palatino Linotype"/>
                        </a:rPr>
                        <a:t>label</a:t>
                      </a:r>
                      <a:r>
                        <a:rPr sz="1400" spc="-25" dirty="0">
                          <a:latin typeface="Palatino Linotype"/>
                          <a:cs typeface="Palatino Linotype"/>
                        </a:rPr>
                        <a:t> </a:t>
                      </a:r>
                      <a:r>
                        <a:rPr sz="1400" spc="-50" dirty="0">
                          <a:latin typeface="Cambria Math"/>
                          <a:cs typeface="Cambria Math"/>
                        </a:rPr>
                        <a:t>𝐿</a:t>
                      </a:r>
                      <a:endParaRPr sz="1400">
                        <a:latin typeface="Cambria Math"/>
                        <a:cs typeface="Cambria Math"/>
                      </a:endParaRPr>
                    </a:p>
                  </a:txBody>
                  <a:tcPr marL="0" marR="0" marT="146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675640">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marL="561975" marR="329565" indent="-225425">
                        <a:lnSpc>
                          <a:spcPct val="101400"/>
                        </a:lnSpc>
                        <a:spcBef>
                          <a:spcPts val="844"/>
                        </a:spcBef>
                      </a:pPr>
                      <a:r>
                        <a:rPr sz="1400" spc="-10" dirty="0">
                          <a:solidFill>
                            <a:srgbClr val="0432FF"/>
                          </a:solidFill>
                          <a:latin typeface="Palatino Linotype"/>
                          <a:cs typeface="Palatino Linotype"/>
                        </a:rPr>
                        <a:t>Conditional jumps</a:t>
                      </a:r>
                      <a:endParaRPr sz="1400">
                        <a:latin typeface="Palatino Linotype"/>
                        <a:cs typeface="Palatino Linotype"/>
                      </a:endParaRPr>
                    </a:p>
                  </a:txBody>
                  <a:tcPr marL="0" marR="0" marT="10731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nSpc>
                          <a:spcPct val="100000"/>
                        </a:lnSpc>
                        <a:spcBef>
                          <a:spcPts val="100"/>
                        </a:spcBef>
                      </a:pPr>
                      <a:endParaRPr sz="1400">
                        <a:latin typeface="Times New Roman"/>
                        <a:cs typeface="Times New Roman"/>
                      </a:endParaRPr>
                    </a:p>
                    <a:p>
                      <a:pPr marR="40640" algn="ctr">
                        <a:lnSpc>
                          <a:spcPct val="100000"/>
                        </a:lnSpc>
                      </a:pPr>
                      <a:r>
                        <a:rPr sz="1400" dirty="0">
                          <a:latin typeface="Cambria Math"/>
                          <a:cs typeface="Cambria Math"/>
                        </a:rPr>
                        <a:t>B𝑐𝑜𝑛𝑑</a:t>
                      </a:r>
                      <a:r>
                        <a:rPr sz="1400" spc="40" dirty="0">
                          <a:latin typeface="Cambria Math"/>
                          <a:cs typeface="Cambria Math"/>
                        </a:rPr>
                        <a:t> </a:t>
                      </a:r>
                      <a:r>
                        <a:rPr sz="1400" dirty="0">
                          <a:latin typeface="Cambria Math"/>
                          <a:cs typeface="Cambria Math"/>
                        </a:rPr>
                        <a:t>𝑟,</a:t>
                      </a:r>
                      <a:r>
                        <a:rPr sz="1400" spc="-75" dirty="0">
                          <a:latin typeface="Cambria Math"/>
                          <a:cs typeface="Cambria Math"/>
                        </a:rPr>
                        <a:t> </a:t>
                      </a:r>
                      <a:r>
                        <a:rPr sz="1400" spc="-50" dirty="0">
                          <a:latin typeface="Cambria Math"/>
                          <a:cs typeface="Cambria Math"/>
                        </a:rPr>
                        <a:t>𝐿</a:t>
                      </a:r>
                      <a:endParaRPr sz="1400">
                        <a:latin typeface="Cambria Math"/>
                        <a:cs typeface="Cambria Math"/>
                      </a:endParaRPr>
                    </a:p>
                  </a:txBody>
                  <a:tcPr marL="0" marR="0" marT="127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gn="ctr">
                        <a:lnSpc>
                          <a:spcPct val="100000"/>
                        </a:lnSpc>
                        <a:spcBef>
                          <a:spcPts val="869"/>
                        </a:spcBef>
                      </a:pPr>
                      <a:r>
                        <a:rPr sz="1400" dirty="0">
                          <a:latin typeface="Palatino Linotype"/>
                          <a:cs typeface="Palatino Linotype"/>
                        </a:rPr>
                        <a:t>jump</a:t>
                      </a:r>
                      <a:r>
                        <a:rPr sz="1400" spc="-25" dirty="0">
                          <a:latin typeface="Palatino Linotype"/>
                          <a:cs typeface="Palatino Linotype"/>
                        </a:rPr>
                        <a:t> </a:t>
                      </a:r>
                      <a:r>
                        <a:rPr sz="1400" dirty="0">
                          <a:latin typeface="Palatino Linotype"/>
                          <a:cs typeface="Palatino Linotype"/>
                        </a:rPr>
                        <a:t>to</a:t>
                      </a:r>
                      <a:r>
                        <a:rPr sz="1400" spc="-25" dirty="0">
                          <a:latin typeface="Palatino Linotype"/>
                          <a:cs typeface="Palatino Linotype"/>
                        </a:rPr>
                        <a:t> </a:t>
                      </a:r>
                      <a:r>
                        <a:rPr sz="1400" dirty="0">
                          <a:latin typeface="Palatino Linotype"/>
                          <a:cs typeface="Palatino Linotype"/>
                        </a:rPr>
                        <a:t>label</a:t>
                      </a:r>
                      <a:r>
                        <a:rPr sz="1400" spc="-15" dirty="0">
                          <a:latin typeface="Palatino Linotype"/>
                          <a:cs typeface="Palatino Linotype"/>
                        </a:rPr>
                        <a:t> </a:t>
                      </a:r>
                      <a:r>
                        <a:rPr sz="1400" dirty="0">
                          <a:latin typeface="Cambria Math"/>
                          <a:cs typeface="Cambria Math"/>
                        </a:rPr>
                        <a:t>𝐿</a:t>
                      </a:r>
                      <a:r>
                        <a:rPr sz="1400" spc="55" dirty="0">
                          <a:latin typeface="Cambria Math"/>
                          <a:cs typeface="Cambria Math"/>
                        </a:rPr>
                        <a:t> </a:t>
                      </a:r>
                      <a:r>
                        <a:rPr sz="1400" dirty="0">
                          <a:latin typeface="Palatino Linotype"/>
                          <a:cs typeface="Palatino Linotype"/>
                        </a:rPr>
                        <a:t>if</a:t>
                      </a:r>
                      <a:r>
                        <a:rPr sz="1400" spc="-25" dirty="0">
                          <a:latin typeface="Palatino Linotype"/>
                          <a:cs typeface="Palatino Linotype"/>
                        </a:rPr>
                        <a:t> </a:t>
                      </a:r>
                      <a:r>
                        <a:rPr sz="1400" dirty="0">
                          <a:latin typeface="Palatino Linotype"/>
                          <a:cs typeface="Palatino Linotype"/>
                        </a:rPr>
                        <a:t>the</a:t>
                      </a:r>
                      <a:r>
                        <a:rPr sz="1400" spc="-15" dirty="0">
                          <a:latin typeface="Palatino Linotype"/>
                          <a:cs typeface="Palatino Linotype"/>
                        </a:rPr>
                        <a:t> </a:t>
                      </a:r>
                      <a:r>
                        <a:rPr sz="1400" dirty="0">
                          <a:latin typeface="Palatino Linotype"/>
                          <a:cs typeface="Palatino Linotype"/>
                        </a:rPr>
                        <a:t>value</a:t>
                      </a:r>
                      <a:r>
                        <a:rPr sz="1400" spc="-20" dirty="0">
                          <a:latin typeface="Palatino Linotype"/>
                          <a:cs typeface="Palatino Linotype"/>
                        </a:rPr>
                        <a:t> </a:t>
                      </a:r>
                      <a:r>
                        <a:rPr sz="1400" dirty="0">
                          <a:latin typeface="Palatino Linotype"/>
                          <a:cs typeface="Palatino Linotype"/>
                        </a:rPr>
                        <a:t>in</a:t>
                      </a:r>
                      <a:r>
                        <a:rPr sz="1400" spc="-25" dirty="0">
                          <a:latin typeface="Palatino Linotype"/>
                          <a:cs typeface="Palatino Linotype"/>
                        </a:rPr>
                        <a:t> </a:t>
                      </a:r>
                      <a:r>
                        <a:rPr sz="1400" dirty="0">
                          <a:latin typeface="Palatino Linotype"/>
                          <a:cs typeface="Palatino Linotype"/>
                        </a:rPr>
                        <a:t>register</a:t>
                      </a:r>
                      <a:r>
                        <a:rPr sz="1400" spc="-20" dirty="0">
                          <a:latin typeface="Palatino Linotype"/>
                          <a:cs typeface="Palatino Linotype"/>
                        </a:rPr>
                        <a:t> </a:t>
                      </a:r>
                      <a:r>
                        <a:rPr sz="1400" dirty="0">
                          <a:latin typeface="Cambria Math"/>
                          <a:cs typeface="Cambria Math"/>
                        </a:rPr>
                        <a:t>𝑟</a:t>
                      </a:r>
                      <a:r>
                        <a:rPr sz="1400" spc="45" dirty="0">
                          <a:latin typeface="Cambria Math"/>
                          <a:cs typeface="Cambria Math"/>
                        </a:rPr>
                        <a:t> </a:t>
                      </a:r>
                      <a:r>
                        <a:rPr sz="1400" dirty="0">
                          <a:latin typeface="Palatino Linotype"/>
                          <a:cs typeface="Palatino Linotype"/>
                        </a:rPr>
                        <a:t>pass</a:t>
                      </a:r>
                      <a:r>
                        <a:rPr sz="1400" spc="-30" dirty="0">
                          <a:latin typeface="Palatino Linotype"/>
                          <a:cs typeface="Palatino Linotype"/>
                        </a:rPr>
                        <a:t> </a:t>
                      </a:r>
                      <a:r>
                        <a:rPr sz="1400" dirty="0">
                          <a:latin typeface="Palatino Linotype"/>
                          <a:cs typeface="Palatino Linotype"/>
                        </a:rPr>
                        <a:t>the</a:t>
                      </a:r>
                      <a:r>
                        <a:rPr sz="1400" spc="-20" dirty="0">
                          <a:latin typeface="Palatino Linotype"/>
                          <a:cs typeface="Palatino Linotype"/>
                        </a:rPr>
                        <a:t> test</a:t>
                      </a:r>
                      <a:endParaRPr sz="1400">
                        <a:latin typeface="Palatino Linotype"/>
                        <a:cs typeface="Palatino Linotype"/>
                      </a:endParaRPr>
                    </a:p>
                    <a:p>
                      <a:pPr algn="ctr">
                        <a:lnSpc>
                          <a:spcPct val="100000"/>
                        </a:lnSpc>
                        <a:spcBef>
                          <a:spcPts val="25"/>
                        </a:spcBef>
                      </a:pPr>
                      <a:r>
                        <a:rPr sz="1400" dirty="0">
                          <a:latin typeface="Cambria Math"/>
                          <a:cs typeface="Cambria Math"/>
                        </a:rPr>
                        <a:t>B𝑐𝑜𝑛𝑑</a:t>
                      </a:r>
                      <a:r>
                        <a:rPr sz="1400" dirty="0">
                          <a:latin typeface="Palatino Linotype"/>
                          <a:cs typeface="Palatino Linotype"/>
                        </a:rPr>
                        <a:t>,</a:t>
                      </a:r>
                      <a:r>
                        <a:rPr sz="1400" spc="-10" dirty="0">
                          <a:latin typeface="Palatino Linotype"/>
                          <a:cs typeface="Palatino Linotype"/>
                        </a:rPr>
                        <a:t> </a:t>
                      </a:r>
                      <a:r>
                        <a:rPr sz="1400" dirty="0">
                          <a:latin typeface="Palatino Linotype"/>
                          <a:cs typeface="Palatino Linotype"/>
                        </a:rPr>
                        <a:t>e.g.,</a:t>
                      </a:r>
                      <a:r>
                        <a:rPr sz="1400" spc="-10" dirty="0">
                          <a:latin typeface="Palatino Linotype"/>
                          <a:cs typeface="Palatino Linotype"/>
                        </a:rPr>
                        <a:t> </a:t>
                      </a:r>
                      <a:r>
                        <a:rPr sz="1400" dirty="0">
                          <a:latin typeface="Palatino Linotype"/>
                          <a:cs typeface="Palatino Linotype"/>
                        </a:rPr>
                        <a:t>less</a:t>
                      </a:r>
                      <a:r>
                        <a:rPr sz="1400" spc="-15" dirty="0">
                          <a:latin typeface="Palatino Linotype"/>
                          <a:cs typeface="Palatino Linotype"/>
                        </a:rPr>
                        <a:t> </a:t>
                      </a:r>
                      <a:r>
                        <a:rPr sz="1400" dirty="0">
                          <a:latin typeface="Palatino Linotype"/>
                          <a:cs typeface="Palatino Linotype"/>
                        </a:rPr>
                        <a:t>than</a:t>
                      </a:r>
                      <a:r>
                        <a:rPr sz="1400" spc="-15" dirty="0">
                          <a:latin typeface="Palatino Linotype"/>
                          <a:cs typeface="Palatino Linotype"/>
                        </a:rPr>
                        <a:t> </a:t>
                      </a:r>
                      <a:r>
                        <a:rPr sz="1400" spc="-20" dirty="0">
                          <a:latin typeface="Palatino Linotype"/>
                          <a:cs typeface="Palatino Linotype"/>
                        </a:rPr>
                        <a:t>zero</a:t>
                      </a:r>
                      <a:endParaRPr sz="1400">
                        <a:latin typeface="Palatino Linotype"/>
                        <a:cs typeface="Palatino Linotype"/>
                      </a:endParaRPr>
                    </a:p>
                  </a:txBody>
                  <a:tcPr marL="0" marR="0" marT="110489"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0828890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7</a:t>
            </a:fld>
            <a:endParaRPr lang="en-US"/>
          </a:p>
        </p:txBody>
      </p:sp>
      <p:sp>
        <p:nvSpPr>
          <p:cNvPr id="7" name="object 2">
            <a:extLst>
              <a:ext uri="{FF2B5EF4-FFF2-40B4-BE49-F238E27FC236}">
                <a16:creationId xmlns:a16="http://schemas.microsoft.com/office/drawing/2014/main" id="{18C08EBF-3A6A-5DDF-B505-77BF820BEAF2}"/>
              </a:ext>
            </a:extLst>
          </p:cNvPr>
          <p:cNvSpPr txBox="1">
            <a:spLocks/>
          </p:cNvSpPr>
          <p:nvPr/>
        </p:nvSpPr>
        <p:spPr>
          <a:xfrm>
            <a:off x="707390" y="524763"/>
            <a:ext cx="7729219" cy="63500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4000" b="1" i="0" u="none" strike="noStrike" kern="0" cap="none" spc="0" normalizeH="0" baseline="0" noProof="0">
                <a:ln>
                  <a:noFill/>
                </a:ln>
                <a:solidFill>
                  <a:sysClr val="windowText" lastClr="000000"/>
                </a:solidFill>
                <a:effectLst/>
                <a:uLnTx/>
                <a:uFillTx/>
                <a:latin typeface="Palatino Linotype"/>
                <a:ea typeface="+mj-ea"/>
              </a:rPr>
              <a:t>Addressing</a:t>
            </a:r>
            <a:r>
              <a:rPr kumimoji="0" lang="en-US" sz="4000" b="1" i="0" u="none" strike="noStrike" kern="0" cap="none" spc="-55" normalizeH="0" baseline="0" noProof="0">
                <a:ln>
                  <a:noFill/>
                </a:ln>
                <a:solidFill>
                  <a:sysClr val="windowText" lastClr="000000"/>
                </a:solidFill>
                <a:effectLst/>
                <a:uLnTx/>
                <a:uFillTx/>
                <a:latin typeface="Palatino Linotype"/>
                <a:ea typeface="+mj-ea"/>
              </a:rPr>
              <a:t> </a:t>
            </a:r>
            <a:r>
              <a:rPr kumimoji="0" lang="en-US" sz="4000" b="1" i="0" u="none" strike="noStrike" kern="0" cap="none" spc="0" normalizeH="0" baseline="0" noProof="0">
                <a:ln>
                  <a:noFill/>
                </a:ln>
                <a:solidFill>
                  <a:sysClr val="windowText" lastClr="000000"/>
                </a:solidFill>
                <a:effectLst/>
                <a:uLnTx/>
                <a:uFillTx/>
                <a:latin typeface="Palatino Linotype"/>
                <a:ea typeface="+mj-ea"/>
              </a:rPr>
              <a:t>Modes</a:t>
            </a:r>
            <a:r>
              <a:rPr kumimoji="0" lang="en-US" sz="4000" b="1" i="0" u="none" strike="noStrike" kern="0" cap="none" spc="-40" normalizeH="0" baseline="0" noProof="0">
                <a:ln>
                  <a:noFill/>
                </a:ln>
                <a:solidFill>
                  <a:sysClr val="windowText" lastClr="000000"/>
                </a:solidFill>
                <a:effectLst/>
                <a:uLnTx/>
                <a:uFillTx/>
                <a:latin typeface="Palatino Linotype"/>
                <a:ea typeface="+mj-ea"/>
              </a:rPr>
              <a:t> (</a:t>
            </a:r>
            <a:r>
              <a:rPr kumimoji="0" lang="zh-CN" altLang="en-US" sz="3900" b="0" i="0" u="none" strike="noStrike" kern="0" cap="none" spc="85" normalizeH="0" baseline="0" noProof="0">
                <a:ln>
                  <a:noFill/>
                </a:ln>
                <a:solidFill>
                  <a:sysClr val="windowText" lastClr="000000"/>
                </a:solidFill>
                <a:effectLst/>
                <a:uLnTx/>
                <a:uFillTx/>
                <a:latin typeface="SimSun"/>
                <a:ea typeface="宋体" panose="02010600030101010101" pitchFamily="2" charset="-122"/>
                <a:cs typeface="SimSun"/>
              </a:rPr>
              <a:t>寻址模式</a:t>
            </a:r>
            <a:r>
              <a:rPr kumimoji="0" lang="en-US" altLang="zh-CN" sz="4000" b="1" i="0" u="none" strike="noStrike" kern="0" cap="none" spc="-50" normalizeH="0" baseline="0" noProof="0">
                <a:ln>
                  <a:noFill/>
                </a:ln>
                <a:solidFill>
                  <a:sysClr val="windowText" lastClr="000000"/>
                </a:solidFill>
                <a:effectLst/>
                <a:uLnTx/>
                <a:uFillTx/>
                <a:latin typeface="Palatino Linotype"/>
                <a:ea typeface="宋体" panose="02010600030101010101" pitchFamily="2" charset="-122"/>
              </a:rPr>
              <a:t>)</a:t>
            </a:r>
            <a:endParaRPr kumimoji="0" lang="zh-CN" altLang="en-US" sz="4000" b="1" i="0" u="none" strike="noStrike" kern="0" cap="none" spc="0" normalizeH="0" baseline="0" noProof="0">
              <a:ln>
                <a:noFill/>
              </a:ln>
              <a:solidFill>
                <a:sysClr val="windowText" lastClr="000000"/>
              </a:solidFill>
              <a:effectLst/>
              <a:uLnTx/>
              <a:uFillTx/>
              <a:latin typeface="SimSun"/>
              <a:ea typeface="宋体" panose="02010600030101010101" pitchFamily="2" charset="-122"/>
              <a:cs typeface="SimSun"/>
            </a:endParaRPr>
          </a:p>
        </p:txBody>
      </p:sp>
      <p:sp>
        <p:nvSpPr>
          <p:cNvPr id="8" name="object 3">
            <a:extLst>
              <a:ext uri="{FF2B5EF4-FFF2-40B4-BE49-F238E27FC236}">
                <a16:creationId xmlns:a16="http://schemas.microsoft.com/office/drawing/2014/main" id="{00F0DC28-9DBE-FCFB-7244-21DE7FA64810}"/>
              </a:ext>
            </a:extLst>
          </p:cNvPr>
          <p:cNvSpPr txBox="1"/>
          <p:nvPr/>
        </p:nvSpPr>
        <p:spPr>
          <a:xfrm>
            <a:off x="707390" y="1659635"/>
            <a:ext cx="7585709" cy="2324100"/>
          </a:xfrm>
          <a:prstGeom prst="rect">
            <a:avLst/>
          </a:prstGeom>
        </p:spPr>
        <p:txBody>
          <a:bodyPr vert="horz" wrap="square" lIns="0" tIns="12700" rIns="0" bIns="0" rtlCol="0">
            <a:spAutoFit/>
          </a:bodyPr>
          <a:lstStyle/>
          <a:p>
            <a:pPr marL="12700">
              <a:spcBef>
                <a:spcPts val="100"/>
              </a:spcBef>
            </a:pPr>
            <a:r>
              <a:rPr sz="2000" b="1" dirty="0">
                <a:solidFill>
                  <a:sysClr val="windowText" lastClr="000000"/>
                </a:solidFill>
                <a:latin typeface="Palatino Linotype"/>
                <a:cs typeface="Palatino Linotype"/>
              </a:rPr>
              <a:t>In</a:t>
            </a:r>
            <a:r>
              <a:rPr sz="2000" b="1" spc="-40" dirty="0">
                <a:solidFill>
                  <a:sysClr val="windowText" lastClr="000000"/>
                </a:solidFill>
                <a:latin typeface="Palatino Linotype"/>
                <a:cs typeface="Palatino Linotype"/>
              </a:rPr>
              <a:t> </a:t>
            </a:r>
            <a:r>
              <a:rPr sz="2000" b="1" dirty="0">
                <a:solidFill>
                  <a:sysClr val="windowText" lastClr="000000"/>
                </a:solidFill>
                <a:latin typeface="Palatino Linotype"/>
                <a:cs typeface="Palatino Linotype"/>
              </a:rPr>
              <a:t>instructions,</a:t>
            </a:r>
            <a:r>
              <a:rPr sz="2000" b="1" spc="-35" dirty="0">
                <a:solidFill>
                  <a:sysClr val="windowText" lastClr="000000"/>
                </a:solidFill>
                <a:latin typeface="Palatino Linotype"/>
                <a:cs typeface="Palatino Linotype"/>
              </a:rPr>
              <a:t> </a:t>
            </a:r>
            <a:r>
              <a:rPr sz="2000" b="1" dirty="0">
                <a:solidFill>
                  <a:sysClr val="windowText" lastClr="000000"/>
                </a:solidFill>
                <a:latin typeface="Palatino Linotype"/>
                <a:cs typeface="Palatino Linotype"/>
              </a:rPr>
              <a:t>a</a:t>
            </a:r>
            <a:r>
              <a:rPr sz="2000" b="1" spc="-40" dirty="0">
                <a:solidFill>
                  <a:sysClr val="windowText" lastClr="000000"/>
                </a:solidFill>
                <a:latin typeface="Palatino Linotype"/>
                <a:cs typeface="Palatino Linotype"/>
              </a:rPr>
              <a:t> </a:t>
            </a:r>
            <a:r>
              <a:rPr sz="2000" b="1" dirty="0">
                <a:solidFill>
                  <a:sysClr val="windowText" lastClr="000000"/>
                </a:solidFill>
                <a:latin typeface="Palatino Linotype"/>
                <a:cs typeface="Palatino Linotype"/>
              </a:rPr>
              <a:t>location</a:t>
            </a:r>
            <a:r>
              <a:rPr sz="2000" b="1" spc="-35" dirty="0">
                <a:solidFill>
                  <a:sysClr val="windowText" lastClr="000000"/>
                </a:solidFill>
                <a:latin typeface="Palatino Linotype"/>
                <a:cs typeface="Palatino Linotype"/>
              </a:rPr>
              <a:t> </a:t>
            </a:r>
            <a:r>
              <a:rPr sz="2000" b="1" dirty="0">
                <a:solidFill>
                  <a:sysClr val="windowText" lastClr="000000"/>
                </a:solidFill>
                <a:latin typeface="Palatino Linotype"/>
                <a:cs typeface="Palatino Linotype"/>
              </a:rPr>
              <a:t>can</a:t>
            </a:r>
            <a:r>
              <a:rPr sz="2000" b="1" spc="-40" dirty="0">
                <a:solidFill>
                  <a:sysClr val="windowText" lastClr="000000"/>
                </a:solidFill>
                <a:latin typeface="Palatino Linotype"/>
                <a:cs typeface="Palatino Linotype"/>
              </a:rPr>
              <a:t> </a:t>
            </a:r>
            <a:r>
              <a:rPr sz="2000" b="1" spc="-25" dirty="0">
                <a:solidFill>
                  <a:sysClr val="windowText" lastClr="000000"/>
                </a:solidFill>
                <a:latin typeface="Palatino Linotype"/>
                <a:cs typeface="Palatino Linotype"/>
              </a:rPr>
              <a:t>be:</a:t>
            </a:r>
            <a:endParaRPr sz="2000" dirty="0">
              <a:solidFill>
                <a:sysClr val="windowText" lastClr="000000"/>
              </a:solidFill>
              <a:latin typeface="Palatino Linotype"/>
              <a:cs typeface="Palatino Linotype"/>
            </a:endParaRPr>
          </a:p>
          <a:p>
            <a:pPr marL="242570" indent="-229870">
              <a:spcBef>
                <a:spcPts val="2180"/>
              </a:spcBef>
              <a:buClr>
                <a:srgbClr val="000000"/>
              </a:buClr>
              <a:buFont typeface="Arial MT"/>
              <a:buChar char="•"/>
              <a:tabLst>
                <a:tab pos="242570" algn="l"/>
              </a:tabLst>
            </a:pPr>
            <a:r>
              <a:rPr sz="2000" b="1" spc="-25" dirty="0">
                <a:solidFill>
                  <a:srgbClr val="FF0000"/>
                </a:solidFill>
                <a:latin typeface="Palatino Linotype"/>
                <a:cs typeface="Palatino Linotype"/>
              </a:rPr>
              <a:t>Variable</a:t>
            </a:r>
            <a:r>
              <a:rPr sz="2000" b="1" spc="-35" dirty="0">
                <a:solidFill>
                  <a:srgbClr val="FF0000"/>
                </a:solidFill>
                <a:latin typeface="Palatino Linotype"/>
                <a:cs typeface="Palatino Linotype"/>
              </a:rPr>
              <a:t> </a:t>
            </a:r>
            <a:r>
              <a:rPr sz="2000" b="1" dirty="0">
                <a:solidFill>
                  <a:srgbClr val="FF0000"/>
                </a:solidFill>
                <a:latin typeface="Palatino Linotype"/>
                <a:cs typeface="Palatino Linotype"/>
              </a:rPr>
              <a:t>name</a:t>
            </a:r>
            <a:r>
              <a:rPr sz="2000" b="1" spc="-35" dirty="0">
                <a:solidFill>
                  <a:srgbClr val="FF0000"/>
                </a:solidFill>
                <a:latin typeface="Palatino Linotype"/>
                <a:cs typeface="Palatino Linotype"/>
              </a:rPr>
              <a:t> </a:t>
            </a:r>
            <a:r>
              <a:rPr sz="2000" dirty="0">
                <a:solidFill>
                  <a:srgbClr val="FF0000"/>
                </a:solidFill>
                <a:latin typeface="Cambria Math"/>
                <a:cs typeface="Cambria Math"/>
              </a:rPr>
              <a:t>𝒙</a:t>
            </a:r>
            <a:r>
              <a:rPr sz="2000" b="1" dirty="0">
                <a:solidFill>
                  <a:srgbClr val="FF0000"/>
                </a:solidFill>
                <a:latin typeface="Palatino Linotype"/>
                <a:cs typeface="Palatino Linotype"/>
              </a:rPr>
              <a:t>:</a:t>
            </a:r>
            <a:r>
              <a:rPr sz="2000" b="1" spc="-35" dirty="0">
                <a:solidFill>
                  <a:srgbClr val="FF0000"/>
                </a:solidFill>
                <a:latin typeface="Palatino Linotype"/>
                <a:cs typeface="Palatino Linotype"/>
              </a:rPr>
              <a:t> </a:t>
            </a:r>
            <a:r>
              <a:rPr sz="2000" dirty="0">
                <a:solidFill>
                  <a:sysClr val="windowText" lastClr="000000"/>
                </a:solidFill>
                <a:latin typeface="Palatino Linotype"/>
                <a:cs typeface="Palatino Linotype"/>
              </a:rPr>
              <a:t>the</a:t>
            </a:r>
            <a:r>
              <a:rPr sz="2000" spc="-3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memory</a:t>
            </a:r>
            <a:r>
              <a:rPr sz="2000" spc="-3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location</a:t>
            </a:r>
            <a:r>
              <a:rPr sz="2000" spc="-4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reserved</a:t>
            </a:r>
            <a:r>
              <a:rPr sz="2000" spc="-3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for</a:t>
            </a:r>
            <a:r>
              <a:rPr sz="2000" spc="-40" dirty="0">
                <a:solidFill>
                  <a:sysClr val="windowText" lastClr="000000"/>
                </a:solidFill>
                <a:latin typeface="Palatino Linotype"/>
                <a:cs typeface="Palatino Linotype"/>
              </a:rPr>
              <a:t> </a:t>
            </a:r>
            <a:r>
              <a:rPr sz="2000" dirty="0">
                <a:solidFill>
                  <a:sysClr val="windowText" lastClr="000000"/>
                </a:solidFill>
                <a:latin typeface="Cambria Math"/>
                <a:cs typeface="Cambria Math"/>
              </a:rPr>
              <a:t>𝑥</a:t>
            </a:r>
            <a:r>
              <a:rPr sz="2000" spc="80" dirty="0">
                <a:solidFill>
                  <a:sysClr val="windowText" lastClr="000000"/>
                </a:solidFill>
                <a:latin typeface="Cambria Math"/>
                <a:cs typeface="Cambria Math"/>
              </a:rPr>
              <a:t> </a:t>
            </a:r>
            <a:r>
              <a:rPr sz="2000" spc="-20" dirty="0">
                <a:solidFill>
                  <a:sysClr val="windowText" lastClr="000000"/>
                </a:solidFill>
                <a:latin typeface="Palatino Linotype"/>
                <a:cs typeface="Palatino Linotype"/>
              </a:rPr>
              <a:t>(</a:t>
            </a:r>
            <a:r>
              <a:rPr sz="2000" spc="-20" dirty="0">
                <a:solidFill>
                  <a:sysClr val="windowText" lastClr="000000"/>
                </a:solidFill>
                <a:latin typeface="Cambria Math"/>
                <a:cs typeface="Cambria Math"/>
              </a:rPr>
              <a:t>𝑥</a:t>
            </a:r>
            <a:r>
              <a:rPr sz="2000" spc="-20" dirty="0">
                <a:solidFill>
                  <a:sysClr val="windowText" lastClr="000000"/>
                </a:solidFill>
                <a:latin typeface="Palatino Linotype"/>
                <a:cs typeface="Palatino Linotype"/>
              </a:rPr>
              <a:t>’s</a:t>
            </a:r>
            <a:r>
              <a:rPr sz="2000" spc="-35" dirty="0">
                <a:solidFill>
                  <a:sysClr val="windowText" lastClr="000000"/>
                </a:solidFill>
                <a:latin typeface="Palatino Linotype"/>
                <a:cs typeface="Palatino Linotype"/>
              </a:rPr>
              <a:t> </a:t>
            </a:r>
            <a:r>
              <a:rPr sz="2000" dirty="0">
                <a:solidFill>
                  <a:sysClr val="windowText" lastClr="000000"/>
                </a:solidFill>
                <a:latin typeface="Cambria Math"/>
                <a:cs typeface="Cambria Math"/>
              </a:rPr>
              <a:t>𝑙</a:t>
            </a:r>
            <a:r>
              <a:rPr sz="2000" dirty="0">
                <a:solidFill>
                  <a:sysClr val="windowText" lastClr="000000"/>
                </a:solidFill>
                <a:latin typeface="Palatino Linotype"/>
                <a:cs typeface="Palatino Linotype"/>
              </a:rPr>
              <a:t>-</a:t>
            </a:r>
            <a:r>
              <a:rPr sz="2000" spc="-10" dirty="0">
                <a:solidFill>
                  <a:sysClr val="windowText" lastClr="000000"/>
                </a:solidFill>
                <a:latin typeface="Palatino Linotype"/>
                <a:cs typeface="Palatino Linotype"/>
              </a:rPr>
              <a:t>value)</a:t>
            </a:r>
            <a:endParaRPr sz="2000" dirty="0">
              <a:solidFill>
                <a:sysClr val="windowText" lastClr="000000"/>
              </a:solidFill>
              <a:latin typeface="Palatino Linotype"/>
              <a:cs typeface="Palatino Linotype"/>
            </a:endParaRPr>
          </a:p>
          <a:p>
            <a:pPr marL="242570" marR="67310" indent="-230504">
              <a:lnSpc>
                <a:spcPct val="121000"/>
              </a:lnSpc>
              <a:spcBef>
                <a:spcPts val="2405"/>
              </a:spcBef>
              <a:buClr>
                <a:srgbClr val="000000"/>
              </a:buClr>
              <a:buFont typeface="Arial MT"/>
              <a:buChar char="•"/>
              <a:tabLst>
                <a:tab pos="242570" algn="l"/>
              </a:tabLst>
            </a:pPr>
            <a:r>
              <a:rPr sz="2000" dirty="0">
                <a:solidFill>
                  <a:srgbClr val="FF0000"/>
                </a:solidFill>
                <a:latin typeface="Cambria Math"/>
                <a:cs typeface="Cambria Math"/>
              </a:rPr>
              <a:t>𝒂(𝒓):</a:t>
            </a:r>
            <a:r>
              <a:rPr sz="2000" spc="30" dirty="0">
                <a:solidFill>
                  <a:srgbClr val="FF0000"/>
                </a:solidFill>
                <a:latin typeface="Cambria Math"/>
                <a:cs typeface="Cambria Math"/>
              </a:rPr>
              <a:t> </a:t>
            </a:r>
            <a:r>
              <a:rPr sz="2000" dirty="0">
                <a:solidFill>
                  <a:sysClr val="windowText" lastClr="000000"/>
                </a:solidFill>
                <a:latin typeface="Cambria Math"/>
                <a:cs typeface="Cambria Math"/>
              </a:rPr>
              <a:t>𝑎</a:t>
            </a:r>
            <a:r>
              <a:rPr sz="2000" spc="80" dirty="0">
                <a:solidFill>
                  <a:sysClr val="windowText" lastClr="000000"/>
                </a:solidFill>
                <a:latin typeface="Cambria Math"/>
                <a:cs typeface="Cambria Math"/>
              </a:rPr>
              <a:t> </a:t>
            </a:r>
            <a:r>
              <a:rPr sz="2000" dirty="0">
                <a:solidFill>
                  <a:sysClr val="windowText" lastClr="000000"/>
                </a:solidFill>
                <a:latin typeface="Palatino Linotype"/>
                <a:cs typeface="Palatino Linotype"/>
              </a:rPr>
              <a:t>is</a:t>
            </a:r>
            <a:r>
              <a:rPr sz="2000" spc="-2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a</a:t>
            </a:r>
            <a:r>
              <a:rPr sz="2000" spc="-2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variable</a:t>
            </a:r>
            <a:r>
              <a:rPr sz="2000" spc="-2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and</a:t>
            </a:r>
            <a:r>
              <a:rPr sz="2000" spc="-25" dirty="0">
                <a:solidFill>
                  <a:sysClr val="windowText" lastClr="000000"/>
                </a:solidFill>
                <a:latin typeface="Palatino Linotype"/>
                <a:cs typeface="Palatino Linotype"/>
              </a:rPr>
              <a:t> </a:t>
            </a:r>
            <a:r>
              <a:rPr sz="2000" dirty="0">
                <a:solidFill>
                  <a:sysClr val="windowText" lastClr="000000"/>
                </a:solidFill>
                <a:latin typeface="Cambria Math"/>
                <a:cs typeface="Cambria Math"/>
              </a:rPr>
              <a:t>𝑟</a:t>
            </a:r>
            <a:r>
              <a:rPr sz="2000" spc="75" dirty="0">
                <a:solidFill>
                  <a:sysClr val="windowText" lastClr="000000"/>
                </a:solidFill>
                <a:latin typeface="Cambria Math"/>
                <a:cs typeface="Cambria Math"/>
              </a:rPr>
              <a:t> </a:t>
            </a:r>
            <a:r>
              <a:rPr sz="2000" dirty="0">
                <a:solidFill>
                  <a:sysClr val="windowText" lastClr="000000"/>
                </a:solidFill>
                <a:latin typeface="Palatino Linotype"/>
                <a:cs typeface="Palatino Linotype"/>
              </a:rPr>
              <a:t>is</a:t>
            </a:r>
            <a:r>
              <a:rPr sz="2000" spc="-2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a</a:t>
            </a:r>
            <a:r>
              <a:rPr sz="2000" spc="-2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register;</a:t>
            </a:r>
            <a:r>
              <a:rPr sz="2000" spc="-2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the</a:t>
            </a:r>
            <a:r>
              <a:rPr sz="2000" spc="-2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memory</a:t>
            </a:r>
            <a:r>
              <a:rPr sz="2000" spc="-2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location</a:t>
            </a:r>
            <a:r>
              <a:rPr sz="2000" spc="-30" dirty="0">
                <a:solidFill>
                  <a:sysClr val="windowText" lastClr="000000"/>
                </a:solidFill>
                <a:latin typeface="Palatino Linotype"/>
                <a:cs typeface="Palatino Linotype"/>
              </a:rPr>
              <a:t> </a:t>
            </a:r>
            <a:r>
              <a:rPr sz="2000" spc="-25" dirty="0">
                <a:solidFill>
                  <a:sysClr val="windowText" lastClr="000000"/>
                </a:solidFill>
                <a:latin typeface="Palatino Linotype"/>
                <a:cs typeface="Palatino Linotype"/>
              </a:rPr>
              <a:t>is </a:t>
            </a:r>
            <a:r>
              <a:rPr sz="2000" dirty="0">
                <a:solidFill>
                  <a:sysClr val="windowText" lastClr="000000"/>
                </a:solidFill>
                <a:latin typeface="Palatino Linotype"/>
                <a:cs typeface="Palatino Linotype"/>
              </a:rPr>
              <a:t>computed</a:t>
            </a:r>
            <a:r>
              <a:rPr sz="2000" spc="-3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by</a:t>
            </a:r>
            <a:r>
              <a:rPr sz="2000" spc="-3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taking</a:t>
            </a:r>
            <a:r>
              <a:rPr sz="2000" spc="-3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the</a:t>
            </a:r>
            <a:r>
              <a:rPr sz="2000" spc="-25" dirty="0">
                <a:solidFill>
                  <a:sysClr val="windowText" lastClr="000000"/>
                </a:solidFill>
                <a:latin typeface="Palatino Linotype"/>
                <a:cs typeface="Palatino Linotype"/>
              </a:rPr>
              <a:t> </a:t>
            </a:r>
            <a:r>
              <a:rPr sz="2000" dirty="0">
                <a:solidFill>
                  <a:sysClr val="windowText" lastClr="000000"/>
                </a:solidFill>
                <a:latin typeface="Cambria Math"/>
                <a:cs typeface="Cambria Math"/>
              </a:rPr>
              <a:t>𝑙</a:t>
            </a:r>
            <a:r>
              <a:rPr sz="2000" dirty="0">
                <a:solidFill>
                  <a:sysClr val="windowText" lastClr="000000"/>
                </a:solidFill>
                <a:latin typeface="Palatino Linotype"/>
                <a:cs typeface="Palatino Linotype"/>
              </a:rPr>
              <a:t>-value</a:t>
            </a:r>
            <a:r>
              <a:rPr sz="2000" spc="-3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of</a:t>
            </a:r>
            <a:r>
              <a:rPr sz="2000" spc="-35" dirty="0">
                <a:solidFill>
                  <a:sysClr val="windowText" lastClr="000000"/>
                </a:solidFill>
                <a:latin typeface="Palatino Linotype"/>
                <a:cs typeface="Palatino Linotype"/>
              </a:rPr>
              <a:t> </a:t>
            </a:r>
            <a:r>
              <a:rPr sz="2000" dirty="0">
                <a:solidFill>
                  <a:sysClr val="windowText" lastClr="000000"/>
                </a:solidFill>
                <a:latin typeface="Cambria Math"/>
                <a:cs typeface="Cambria Math"/>
              </a:rPr>
              <a:t>𝑎</a:t>
            </a:r>
            <a:r>
              <a:rPr sz="2000" spc="75" dirty="0">
                <a:solidFill>
                  <a:sysClr val="windowText" lastClr="000000"/>
                </a:solidFill>
                <a:latin typeface="Cambria Math"/>
                <a:cs typeface="Cambria Math"/>
              </a:rPr>
              <a:t> </a:t>
            </a:r>
            <a:r>
              <a:rPr sz="2000" dirty="0">
                <a:solidFill>
                  <a:sysClr val="windowText" lastClr="000000"/>
                </a:solidFill>
                <a:latin typeface="Palatino Linotype"/>
                <a:cs typeface="Palatino Linotype"/>
              </a:rPr>
              <a:t>and</a:t>
            </a:r>
            <a:r>
              <a:rPr sz="2000" spc="-3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adding</a:t>
            </a:r>
            <a:r>
              <a:rPr sz="2000" spc="-2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to</a:t>
            </a:r>
            <a:r>
              <a:rPr sz="2000" spc="-3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it</a:t>
            </a:r>
            <a:r>
              <a:rPr sz="2000" spc="-3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the</a:t>
            </a:r>
            <a:r>
              <a:rPr sz="2000" spc="-2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value</a:t>
            </a:r>
            <a:r>
              <a:rPr sz="2000" spc="-30" dirty="0">
                <a:solidFill>
                  <a:sysClr val="windowText" lastClr="000000"/>
                </a:solidFill>
                <a:latin typeface="Palatino Linotype"/>
                <a:cs typeface="Palatino Linotype"/>
              </a:rPr>
              <a:t> </a:t>
            </a:r>
            <a:r>
              <a:rPr sz="2000" spc="-25" dirty="0">
                <a:solidFill>
                  <a:sysClr val="windowText" lastClr="000000"/>
                </a:solidFill>
                <a:latin typeface="Palatino Linotype"/>
                <a:cs typeface="Palatino Linotype"/>
              </a:rPr>
              <a:t>in </a:t>
            </a:r>
            <a:r>
              <a:rPr sz="2000" dirty="0">
                <a:solidFill>
                  <a:sysClr val="windowText" lastClr="000000"/>
                </a:solidFill>
                <a:latin typeface="Palatino Linotype"/>
                <a:cs typeface="Palatino Linotype"/>
              </a:rPr>
              <a:t>register</a:t>
            </a:r>
            <a:r>
              <a:rPr sz="2000" spc="-40" dirty="0">
                <a:solidFill>
                  <a:sysClr val="windowText" lastClr="000000"/>
                </a:solidFill>
                <a:latin typeface="Palatino Linotype"/>
                <a:cs typeface="Palatino Linotype"/>
              </a:rPr>
              <a:t> </a:t>
            </a:r>
            <a:r>
              <a:rPr sz="2000" dirty="0">
                <a:solidFill>
                  <a:sysClr val="windowText" lastClr="000000"/>
                </a:solidFill>
                <a:latin typeface="Cambria Math"/>
                <a:cs typeface="Cambria Math"/>
              </a:rPr>
              <a:t>𝑟</a:t>
            </a:r>
            <a:r>
              <a:rPr sz="2000" spc="65" dirty="0">
                <a:solidFill>
                  <a:sysClr val="windowText" lastClr="000000"/>
                </a:solidFill>
                <a:latin typeface="Cambria Math"/>
                <a:cs typeface="Cambria Math"/>
              </a:rPr>
              <a:t> </a:t>
            </a:r>
            <a:r>
              <a:rPr sz="2000" dirty="0">
                <a:solidFill>
                  <a:sysClr val="windowText" lastClr="000000"/>
                </a:solidFill>
                <a:latin typeface="Palatino Linotype"/>
                <a:cs typeface="Palatino Linotype"/>
              </a:rPr>
              <a:t>(</a:t>
            </a:r>
            <a:r>
              <a:rPr sz="2000" dirty="0">
                <a:solidFill>
                  <a:srgbClr val="0432FF"/>
                </a:solidFill>
                <a:latin typeface="Palatino Linotype"/>
                <a:cs typeface="Palatino Linotype"/>
              </a:rPr>
              <a:t>this</a:t>
            </a:r>
            <a:r>
              <a:rPr sz="2000" spc="-35" dirty="0">
                <a:solidFill>
                  <a:srgbClr val="0432FF"/>
                </a:solidFill>
                <a:latin typeface="Palatino Linotype"/>
                <a:cs typeface="Palatino Linotype"/>
              </a:rPr>
              <a:t> </a:t>
            </a:r>
            <a:r>
              <a:rPr sz="2000" dirty="0">
                <a:solidFill>
                  <a:srgbClr val="0432FF"/>
                </a:solidFill>
                <a:latin typeface="Palatino Linotype"/>
                <a:cs typeface="Palatino Linotype"/>
              </a:rPr>
              <a:t>is</a:t>
            </a:r>
            <a:r>
              <a:rPr sz="2000" spc="-35" dirty="0">
                <a:solidFill>
                  <a:srgbClr val="0432FF"/>
                </a:solidFill>
                <a:latin typeface="Palatino Linotype"/>
                <a:cs typeface="Palatino Linotype"/>
              </a:rPr>
              <a:t> </a:t>
            </a:r>
            <a:r>
              <a:rPr sz="2000" dirty="0">
                <a:solidFill>
                  <a:srgbClr val="0432FF"/>
                </a:solidFill>
                <a:latin typeface="Palatino Linotype"/>
                <a:cs typeface="Palatino Linotype"/>
              </a:rPr>
              <a:t>very</a:t>
            </a:r>
            <a:r>
              <a:rPr sz="2000" spc="-35" dirty="0">
                <a:solidFill>
                  <a:srgbClr val="0432FF"/>
                </a:solidFill>
                <a:latin typeface="Palatino Linotype"/>
                <a:cs typeface="Palatino Linotype"/>
              </a:rPr>
              <a:t> </a:t>
            </a:r>
            <a:r>
              <a:rPr sz="2000" dirty="0">
                <a:solidFill>
                  <a:srgbClr val="0432FF"/>
                </a:solidFill>
                <a:latin typeface="Palatino Linotype"/>
                <a:cs typeface="Palatino Linotype"/>
              </a:rPr>
              <a:t>useful</a:t>
            </a:r>
            <a:r>
              <a:rPr sz="2000" spc="-25" dirty="0">
                <a:solidFill>
                  <a:srgbClr val="0432FF"/>
                </a:solidFill>
                <a:latin typeface="Palatino Linotype"/>
                <a:cs typeface="Palatino Linotype"/>
              </a:rPr>
              <a:t> </a:t>
            </a:r>
            <a:r>
              <a:rPr sz="2000" dirty="0">
                <a:solidFill>
                  <a:srgbClr val="0432FF"/>
                </a:solidFill>
                <a:latin typeface="Palatino Linotype"/>
                <a:cs typeface="Palatino Linotype"/>
              </a:rPr>
              <a:t>for</a:t>
            </a:r>
            <a:r>
              <a:rPr sz="2000" spc="-40" dirty="0">
                <a:solidFill>
                  <a:srgbClr val="0432FF"/>
                </a:solidFill>
                <a:latin typeface="Palatino Linotype"/>
                <a:cs typeface="Palatino Linotype"/>
              </a:rPr>
              <a:t> </a:t>
            </a:r>
            <a:r>
              <a:rPr sz="2000" dirty="0">
                <a:solidFill>
                  <a:srgbClr val="0432FF"/>
                </a:solidFill>
                <a:latin typeface="Palatino Linotype"/>
                <a:cs typeface="Palatino Linotype"/>
              </a:rPr>
              <a:t>accessing</a:t>
            </a:r>
            <a:r>
              <a:rPr sz="2000" spc="-35" dirty="0">
                <a:solidFill>
                  <a:srgbClr val="0432FF"/>
                </a:solidFill>
                <a:latin typeface="Palatino Linotype"/>
                <a:cs typeface="Palatino Linotype"/>
              </a:rPr>
              <a:t> </a:t>
            </a:r>
            <a:r>
              <a:rPr sz="2000" spc="-10" dirty="0">
                <a:solidFill>
                  <a:srgbClr val="0432FF"/>
                </a:solidFill>
                <a:latin typeface="Palatino Linotype"/>
                <a:cs typeface="Palatino Linotype"/>
              </a:rPr>
              <a:t>arrays</a:t>
            </a:r>
            <a:r>
              <a:rPr sz="2000" spc="-10" dirty="0">
                <a:solidFill>
                  <a:sysClr val="windowText" lastClr="000000"/>
                </a:solidFill>
                <a:latin typeface="Palatino Linotype"/>
                <a:cs typeface="Palatino Linotype"/>
              </a:rPr>
              <a:t>)</a:t>
            </a:r>
            <a:endParaRPr sz="2000" dirty="0">
              <a:solidFill>
                <a:sysClr val="windowText" lastClr="000000"/>
              </a:solidFill>
              <a:latin typeface="Palatino Linotype"/>
              <a:cs typeface="Palatino Linotype"/>
            </a:endParaRPr>
          </a:p>
        </p:txBody>
      </p:sp>
    </p:spTree>
    <p:extLst>
      <p:ext uri="{BB962C8B-B14F-4D97-AF65-F5344CB8AC3E}">
        <p14:creationId xmlns:p14="http://schemas.microsoft.com/office/powerpoint/2010/main" val="41762722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8</a:t>
            </a:fld>
            <a:endParaRPr lang="en-US"/>
          </a:p>
        </p:txBody>
      </p:sp>
      <p:sp>
        <p:nvSpPr>
          <p:cNvPr id="7" name="object 2">
            <a:extLst>
              <a:ext uri="{FF2B5EF4-FFF2-40B4-BE49-F238E27FC236}">
                <a16:creationId xmlns:a16="http://schemas.microsoft.com/office/drawing/2014/main" id="{CF0098B0-E953-5539-5F3B-E0210ADB5A18}"/>
              </a:ext>
            </a:extLst>
          </p:cNvPr>
          <p:cNvSpPr txBox="1">
            <a:spLocks/>
          </p:cNvSpPr>
          <p:nvPr/>
        </p:nvSpPr>
        <p:spPr>
          <a:xfrm>
            <a:off x="707390" y="524763"/>
            <a:ext cx="7729219" cy="63500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4000" b="1" i="0" u="none" strike="noStrike" kern="0" cap="none" spc="0" normalizeH="0" baseline="0" noProof="0">
                <a:ln>
                  <a:noFill/>
                </a:ln>
                <a:solidFill>
                  <a:sysClr val="windowText" lastClr="000000"/>
                </a:solidFill>
                <a:effectLst/>
                <a:uLnTx/>
                <a:uFillTx/>
                <a:latin typeface="Palatino Linotype"/>
                <a:ea typeface="+mj-ea"/>
              </a:rPr>
              <a:t>Addressing</a:t>
            </a:r>
            <a:r>
              <a:rPr kumimoji="0" lang="en-US" sz="4000" b="1" i="0" u="none" strike="noStrike" kern="0" cap="none" spc="-55" normalizeH="0" baseline="0" noProof="0">
                <a:ln>
                  <a:noFill/>
                </a:ln>
                <a:solidFill>
                  <a:sysClr val="windowText" lastClr="000000"/>
                </a:solidFill>
                <a:effectLst/>
                <a:uLnTx/>
                <a:uFillTx/>
                <a:latin typeface="Palatino Linotype"/>
                <a:ea typeface="+mj-ea"/>
              </a:rPr>
              <a:t> </a:t>
            </a:r>
            <a:r>
              <a:rPr kumimoji="0" lang="en-US" sz="4000" b="1" i="0" u="none" strike="noStrike" kern="0" cap="none" spc="0" normalizeH="0" baseline="0" noProof="0">
                <a:ln>
                  <a:noFill/>
                </a:ln>
                <a:solidFill>
                  <a:sysClr val="windowText" lastClr="000000"/>
                </a:solidFill>
                <a:effectLst/>
                <a:uLnTx/>
                <a:uFillTx/>
                <a:latin typeface="Palatino Linotype"/>
                <a:ea typeface="+mj-ea"/>
              </a:rPr>
              <a:t>Modes</a:t>
            </a:r>
            <a:r>
              <a:rPr kumimoji="0" lang="en-US" sz="4000" b="1" i="0" u="none" strike="noStrike" kern="0" cap="none" spc="-40" normalizeH="0" baseline="0" noProof="0">
                <a:ln>
                  <a:noFill/>
                </a:ln>
                <a:solidFill>
                  <a:sysClr val="windowText" lastClr="000000"/>
                </a:solidFill>
                <a:effectLst/>
                <a:uLnTx/>
                <a:uFillTx/>
                <a:latin typeface="Palatino Linotype"/>
                <a:ea typeface="+mj-ea"/>
              </a:rPr>
              <a:t> (</a:t>
            </a:r>
            <a:r>
              <a:rPr kumimoji="0" lang="zh-CN" altLang="en-US" sz="3900" b="0" i="0" u="none" strike="noStrike" kern="0" cap="none" spc="85" normalizeH="0" baseline="0" noProof="0">
                <a:ln>
                  <a:noFill/>
                </a:ln>
                <a:solidFill>
                  <a:sysClr val="windowText" lastClr="000000"/>
                </a:solidFill>
                <a:effectLst/>
                <a:uLnTx/>
                <a:uFillTx/>
                <a:latin typeface="SimSun"/>
                <a:ea typeface="宋体" panose="02010600030101010101" pitchFamily="2" charset="-122"/>
                <a:cs typeface="SimSun"/>
              </a:rPr>
              <a:t>寻址模式</a:t>
            </a:r>
            <a:r>
              <a:rPr kumimoji="0" lang="en-US" altLang="zh-CN" sz="4000" b="1" i="0" u="none" strike="noStrike" kern="0" cap="none" spc="-50" normalizeH="0" baseline="0" noProof="0">
                <a:ln>
                  <a:noFill/>
                </a:ln>
                <a:solidFill>
                  <a:sysClr val="windowText" lastClr="000000"/>
                </a:solidFill>
                <a:effectLst/>
                <a:uLnTx/>
                <a:uFillTx/>
                <a:latin typeface="Palatino Linotype"/>
                <a:ea typeface="宋体" panose="02010600030101010101" pitchFamily="2" charset="-122"/>
              </a:rPr>
              <a:t>)</a:t>
            </a:r>
            <a:endParaRPr kumimoji="0" lang="zh-CN" altLang="en-US" sz="4000" b="1" i="0" u="none" strike="noStrike" kern="0" cap="none" spc="0" normalizeH="0" baseline="0" noProof="0">
              <a:ln>
                <a:noFill/>
              </a:ln>
              <a:solidFill>
                <a:sysClr val="windowText" lastClr="000000"/>
              </a:solidFill>
              <a:effectLst/>
              <a:uLnTx/>
              <a:uFillTx/>
              <a:latin typeface="SimSun"/>
              <a:ea typeface="宋体" panose="02010600030101010101" pitchFamily="2" charset="-122"/>
              <a:cs typeface="SimSun"/>
            </a:endParaRPr>
          </a:p>
        </p:txBody>
      </p:sp>
      <p:sp>
        <p:nvSpPr>
          <p:cNvPr id="8" name="object 3">
            <a:extLst>
              <a:ext uri="{FF2B5EF4-FFF2-40B4-BE49-F238E27FC236}">
                <a16:creationId xmlns:a16="http://schemas.microsoft.com/office/drawing/2014/main" id="{51E606BD-187D-F81C-BF41-84F25830653D}"/>
              </a:ext>
            </a:extLst>
          </p:cNvPr>
          <p:cNvSpPr txBox="1"/>
          <p:nvPr/>
        </p:nvSpPr>
        <p:spPr>
          <a:xfrm>
            <a:off x="707390" y="1659635"/>
            <a:ext cx="7724140" cy="3657600"/>
          </a:xfrm>
          <a:prstGeom prst="rect">
            <a:avLst/>
          </a:prstGeom>
        </p:spPr>
        <p:txBody>
          <a:bodyPr vert="horz" wrap="square" lIns="0" tIns="12700" rIns="0" bIns="0" rtlCol="0">
            <a:spAutoFit/>
          </a:bodyPr>
          <a:lstStyle/>
          <a:p>
            <a:pPr marL="12700">
              <a:spcBef>
                <a:spcPts val="100"/>
              </a:spcBef>
            </a:pPr>
            <a:r>
              <a:rPr sz="2000" b="1" dirty="0">
                <a:solidFill>
                  <a:sysClr val="windowText" lastClr="000000"/>
                </a:solidFill>
                <a:latin typeface="Palatino Linotype"/>
                <a:cs typeface="Palatino Linotype"/>
              </a:rPr>
              <a:t>In</a:t>
            </a:r>
            <a:r>
              <a:rPr sz="2000" b="1" spc="-40" dirty="0">
                <a:solidFill>
                  <a:sysClr val="windowText" lastClr="000000"/>
                </a:solidFill>
                <a:latin typeface="Palatino Linotype"/>
                <a:cs typeface="Palatino Linotype"/>
              </a:rPr>
              <a:t> </a:t>
            </a:r>
            <a:r>
              <a:rPr sz="2000" b="1" dirty="0">
                <a:solidFill>
                  <a:sysClr val="windowText" lastClr="000000"/>
                </a:solidFill>
                <a:latin typeface="Palatino Linotype"/>
                <a:cs typeface="Palatino Linotype"/>
              </a:rPr>
              <a:t>instructions,</a:t>
            </a:r>
            <a:r>
              <a:rPr sz="2000" b="1" spc="-35" dirty="0">
                <a:solidFill>
                  <a:sysClr val="windowText" lastClr="000000"/>
                </a:solidFill>
                <a:latin typeface="Palatino Linotype"/>
                <a:cs typeface="Palatino Linotype"/>
              </a:rPr>
              <a:t> </a:t>
            </a:r>
            <a:r>
              <a:rPr sz="2000" b="1" dirty="0">
                <a:solidFill>
                  <a:sysClr val="windowText" lastClr="000000"/>
                </a:solidFill>
                <a:latin typeface="Palatino Linotype"/>
                <a:cs typeface="Palatino Linotype"/>
              </a:rPr>
              <a:t>a</a:t>
            </a:r>
            <a:r>
              <a:rPr sz="2000" b="1" spc="-40" dirty="0">
                <a:solidFill>
                  <a:sysClr val="windowText" lastClr="000000"/>
                </a:solidFill>
                <a:latin typeface="Palatino Linotype"/>
                <a:cs typeface="Palatino Linotype"/>
              </a:rPr>
              <a:t> </a:t>
            </a:r>
            <a:r>
              <a:rPr sz="2000" b="1" dirty="0">
                <a:solidFill>
                  <a:sysClr val="windowText" lastClr="000000"/>
                </a:solidFill>
                <a:latin typeface="Palatino Linotype"/>
                <a:cs typeface="Palatino Linotype"/>
              </a:rPr>
              <a:t>location</a:t>
            </a:r>
            <a:r>
              <a:rPr sz="2000" b="1" spc="-35" dirty="0">
                <a:solidFill>
                  <a:sysClr val="windowText" lastClr="000000"/>
                </a:solidFill>
                <a:latin typeface="Palatino Linotype"/>
                <a:cs typeface="Palatino Linotype"/>
              </a:rPr>
              <a:t> </a:t>
            </a:r>
            <a:r>
              <a:rPr sz="2000" b="1" dirty="0">
                <a:solidFill>
                  <a:sysClr val="windowText" lastClr="000000"/>
                </a:solidFill>
                <a:latin typeface="Palatino Linotype"/>
                <a:cs typeface="Palatino Linotype"/>
              </a:rPr>
              <a:t>can</a:t>
            </a:r>
            <a:r>
              <a:rPr sz="2000" b="1" spc="-40" dirty="0">
                <a:solidFill>
                  <a:sysClr val="windowText" lastClr="000000"/>
                </a:solidFill>
                <a:latin typeface="Palatino Linotype"/>
                <a:cs typeface="Palatino Linotype"/>
              </a:rPr>
              <a:t> </a:t>
            </a:r>
            <a:r>
              <a:rPr sz="2000" b="1" spc="-25" dirty="0">
                <a:solidFill>
                  <a:sysClr val="windowText" lastClr="000000"/>
                </a:solidFill>
                <a:latin typeface="Palatino Linotype"/>
                <a:cs typeface="Palatino Linotype"/>
              </a:rPr>
              <a:t>be:</a:t>
            </a:r>
            <a:endParaRPr sz="2000">
              <a:solidFill>
                <a:sysClr val="windowText" lastClr="000000"/>
              </a:solidFill>
              <a:latin typeface="Palatino Linotype"/>
              <a:cs typeface="Palatino Linotype"/>
            </a:endParaRPr>
          </a:p>
          <a:p>
            <a:pPr marL="242570" marR="144780" indent="-230504">
              <a:lnSpc>
                <a:spcPct val="121000"/>
              </a:lnSpc>
              <a:spcBef>
                <a:spcPts val="1680"/>
              </a:spcBef>
              <a:buClr>
                <a:srgbClr val="000000"/>
              </a:buClr>
              <a:buFont typeface="Arial MT"/>
              <a:buChar char="•"/>
              <a:tabLst>
                <a:tab pos="242570" algn="l"/>
              </a:tabLst>
            </a:pPr>
            <a:r>
              <a:rPr sz="2000" dirty="0">
                <a:solidFill>
                  <a:srgbClr val="FF0000"/>
                </a:solidFill>
                <a:latin typeface="Cambria Math"/>
                <a:cs typeface="Cambria Math"/>
              </a:rPr>
              <a:t>∗</a:t>
            </a:r>
            <a:r>
              <a:rPr sz="2000" spc="-25" dirty="0">
                <a:solidFill>
                  <a:srgbClr val="FF0000"/>
                </a:solidFill>
                <a:latin typeface="Cambria Math"/>
                <a:cs typeface="Cambria Math"/>
              </a:rPr>
              <a:t> </a:t>
            </a:r>
            <a:r>
              <a:rPr sz="2000" dirty="0">
                <a:solidFill>
                  <a:srgbClr val="FF0000"/>
                </a:solidFill>
                <a:latin typeface="Cambria Math"/>
                <a:cs typeface="Cambria Math"/>
              </a:rPr>
              <a:t>𝒓</a:t>
            </a:r>
            <a:r>
              <a:rPr sz="2000" b="1" dirty="0">
                <a:solidFill>
                  <a:srgbClr val="FF0000"/>
                </a:solidFill>
                <a:latin typeface="Palatino Linotype"/>
                <a:cs typeface="Palatino Linotype"/>
              </a:rPr>
              <a:t>:</a:t>
            </a:r>
            <a:r>
              <a:rPr sz="2000" b="1" spc="-25" dirty="0">
                <a:solidFill>
                  <a:srgbClr val="FF0000"/>
                </a:solidFill>
                <a:latin typeface="Palatino Linotype"/>
                <a:cs typeface="Palatino Linotype"/>
              </a:rPr>
              <a:t> </a:t>
            </a:r>
            <a:r>
              <a:rPr sz="2000" dirty="0">
                <a:solidFill>
                  <a:sysClr val="windowText" lastClr="000000"/>
                </a:solidFill>
                <a:latin typeface="Palatino Linotype"/>
                <a:cs typeface="Palatino Linotype"/>
              </a:rPr>
              <a:t>the</a:t>
            </a:r>
            <a:r>
              <a:rPr sz="2000" spc="-3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memory</a:t>
            </a:r>
            <a:r>
              <a:rPr sz="2000" spc="-2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location</a:t>
            </a:r>
            <a:r>
              <a:rPr sz="2000" spc="-3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found</a:t>
            </a:r>
            <a:r>
              <a:rPr sz="2000" spc="-2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in</a:t>
            </a:r>
            <a:r>
              <a:rPr sz="2000" spc="-3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the</a:t>
            </a:r>
            <a:r>
              <a:rPr sz="2000" spc="-3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location</a:t>
            </a:r>
            <a:r>
              <a:rPr sz="2000" spc="-3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represented</a:t>
            </a:r>
            <a:r>
              <a:rPr sz="2000" spc="-2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by</a:t>
            </a:r>
            <a:r>
              <a:rPr sz="2000" spc="-25" dirty="0">
                <a:solidFill>
                  <a:sysClr val="windowText" lastClr="000000"/>
                </a:solidFill>
                <a:latin typeface="Palatino Linotype"/>
                <a:cs typeface="Palatino Linotype"/>
              </a:rPr>
              <a:t> the </a:t>
            </a:r>
            <a:r>
              <a:rPr sz="2000" dirty="0">
                <a:solidFill>
                  <a:sysClr val="windowText" lastClr="000000"/>
                </a:solidFill>
                <a:latin typeface="Palatino Linotype"/>
                <a:cs typeface="Palatino Linotype"/>
              </a:rPr>
              <a:t>contents</a:t>
            </a:r>
            <a:r>
              <a:rPr sz="2000" spc="-3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of</a:t>
            </a:r>
            <a:r>
              <a:rPr sz="2000" spc="-4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register</a:t>
            </a:r>
            <a:r>
              <a:rPr sz="2000" spc="-40" dirty="0">
                <a:solidFill>
                  <a:sysClr val="windowText" lastClr="000000"/>
                </a:solidFill>
                <a:latin typeface="Palatino Linotype"/>
                <a:cs typeface="Palatino Linotype"/>
              </a:rPr>
              <a:t> </a:t>
            </a:r>
            <a:r>
              <a:rPr sz="2000" spc="-50" dirty="0">
                <a:solidFill>
                  <a:sysClr val="windowText" lastClr="000000"/>
                </a:solidFill>
                <a:latin typeface="Cambria Math"/>
                <a:cs typeface="Cambria Math"/>
              </a:rPr>
              <a:t>𝑟</a:t>
            </a:r>
            <a:endParaRPr sz="2000">
              <a:solidFill>
                <a:sysClr val="windowText" lastClr="000000"/>
              </a:solidFill>
              <a:latin typeface="Cambria Math"/>
              <a:cs typeface="Cambria Math"/>
            </a:endParaRPr>
          </a:p>
          <a:p>
            <a:pPr marL="697865" lvl="1" indent="-227965">
              <a:spcBef>
                <a:spcPts val="1095"/>
              </a:spcBef>
              <a:buClr>
                <a:srgbClr val="000000"/>
              </a:buClr>
              <a:buFont typeface="Wingdings"/>
              <a:buChar char=""/>
              <a:tabLst>
                <a:tab pos="697865" algn="l"/>
              </a:tabLst>
            </a:pPr>
            <a:r>
              <a:rPr sz="1600" dirty="0">
                <a:solidFill>
                  <a:srgbClr val="0432FF"/>
                </a:solidFill>
                <a:latin typeface="Cambria Math"/>
                <a:cs typeface="Cambria Math"/>
              </a:rPr>
              <a:t>LD</a:t>
            </a:r>
            <a:r>
              <a:rPr sz="1600" spc="-10" dirty="0">
                <a:solidFill>
                  <a:srgbClr val="0432FF"/>
                </a:solidFill>
                <a:latin typeface="Cambria Math"/>
                <a:cs typeface="Cambria Math"/>
              </a:rPr>
              <a:t> </a:t>
            </a:r>
            <a:r>
              <a:rPr sz="1600" dirty="0">
                <a:solidFill>
                  <a:srgbClr val="0432FF"/>
                </a:solidFill>
                <a:latin typeface="Cambria Math"/>
                <a:cs typeface="Cambria Math"/>
              </a:rPr>
              <a:t>R1,</a:t>
            </a:r>
            <a:r>
              <a:rPr sz="1600" spc="415" dirty="0">
                <a:solidFill>
                  <a:srgbClr val="0432FF"/>
                </a:solidFill>
                <a:latin typeface="Cambria Math"/>
                <a:cs typeface="Cambria Math"/>
              </a:rPr>
              <a:t> </a:t>
            </a:r>
            <a:r>
              <a:rPr sz="1600" dirty="0">
                <a:solidFill>
                  <a:srgbClr val="0432FF"/>
                </a:solidFill>
                <a:latin typeface="Cambria Math"/>
                <a:cs typeface="Cambria Math"/>
              </a:rPr>
              <a:t>∗</a:t>
            </a:r>
            <a:r>
              <a:rPr sz="1600" spc="-5" dirty="0">
                <a:solidFill>
                  <a:srgbClr val="0432FF"/>
                </a:solidFill>
                <a:latin typeface="Cambria Math"/>
                <a:cs typeface="Cambria Math"/>
              </a:rPr>
              <a:t> </a:t>
            </a:r>
            <a:r>
              <a:rPr sz="1600" dirty="0">
                <a:solidFill>
                  <a:srgbClr val="0432FF"/>
                </a:solidFill>
                <a:latin typeface="Cambria Math"/>
                <a:cs typeface="Cambria Math"/>
              </a:rPr>
              <a:t>R2</a:t>
            </a:r>
            <a:r>
              <a:rPr sz="1600" spc="35" dirty="0">
                <a:solidFill>
                  <a:srgbClr val="0432FF"/>
                </a:solidFill>
                <a:latin typeface="Cambria Math"/>
                <a:cs typeface="Cambria Math"/>
              </a:rPr>
              <a:t> </a:t>
            </a:r>
            <a:r>
              <a:rPr sz="1600" dirty="0">
                <a:solidFill>
                  <a:sysClr val="windowText" lastClr="000000"/>
                </a:solidFill>
                <a:latin typeface="Palatino Linotype"/>
                <a:cs typeface="Palatino Linotype"/>
              </a:rPr>
              <a:t>has</a:t>
            </a:r>
            <a:r>
              <a:rPr sz="1600" spc="-15"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the</a:t>
            </a:r>
            <a:r>
              <a:rPr sz="1600" spc="-15"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effect:</a:t>
            </a:r>
            <a:r>
              <a:rPr sz="1600" spc="-15" dirty="0">
                <a:solidFill>
                  <a:sysClr val="windowText" lastClr="000000"/>
                </a:solidFill>
                <a:latin typeface="Palatino Linotype"/>
                <a:cs typeface="Palatino Linotype"/>
              </a:rPr>
              <a:t> </a:t>
            </a:r>
            <a:r>
              <a:rPr sz="1600" dirty="0">
                <a:solidFill>
                  <a:sysClr val="windowText" lastClr="000000"/>
                </a:solidFill>
                <a:latin typeface="Cambria Math"/>
                <a:cs typeface="Cambria Math"/>
              </a:rPr>
              <a:t>R1</a:t>
            </a:r>
            <a:r>
              <a:rPr sz="1600" spc="415" dirty="0">
                <a:solidFill>
                  <a:sysClr val="windowText" lastClr="000000"/>
                </a:solidFill>
                <a:latin typeface="Cambria Math"/>
                <a:cs typeface="Cambria Math"/>
              </a:rPr>
              <a:t> </a:t>
            </a:r>
            <a:r>
              <a:rPr sz="1600" dirty="0">
                <a:solidFill>
                  <a:sysClr val="windowText" lastClr="000000"/>
                </a:solidFill>
                <a:latin typeface="Cambria Math"/>
                <a:cs typeface="Cambria Math"/>
              </a:rPr>
              <a:t>=</a:t>
            </a:r>
            <a:r>
              <a:rPr sz="1600" spc="420" dirty="0">
                <a:solidFill>
                  <a:sysClr val="windowText" lastClr="000000"/>
                </a:solidFill>
                <a:latin typeface="Cambria Math"/>
                <a:cs typeface="Cambria Math"/>
              </a:rPr>
              <a:t> </a:t>
            </a:r>
            <a:r>
              <a:rPr sz="1600" spc="-10" dirty="0">
                <a:solidFill>
                  <a:sysClr val="windowText" lastClr="000000"/>
                </a:solidFill>
                <a:latin typeface="Cambria Math"/>
                <a:cs typeface="Cambria Math"/>
              </a:rPr>
              <a:t>𝑐𝑜𝑛𝑡𝑒𝑛𝑡𝑠(𝑐𝑜𝑛𝑡𝑒𝑛𝑡𝑠(𝑐𝑜𝑛𝑡𝑒𝑛𝑡𝑠(R2)))</a:t>
            </a:r>
            <a:endParaRPr sz="1600">
              <a:solidFill>
                <a:sysClr val="windowText" lastClr="000000"/>
              </a:solidFill>
              <a:latin typeface="Cambria Math"/>
              <a:cs typeface="Cambria Math"/>
            </a:endParaRPr>
          </a:p>
          <a:p>
            <a:pPr marL="242570" marR="5080" indent="-230504">
              <a:lnSpc>
                <a:spcPct val="121000"/>
              </a:lnSpc>
              <a:spcBef>
                <a:spcPts val="1685"/>
              </a:spcBef>
              <a:buClr>
                <a:srgbClr val="000000"/>
              </a:buClr>
              <a:buFont typeface="Arial MT"/>
              <a:buChar char="•"/>
              <a:tabLst>
                <a:tab pos="242570" algn="l"/>
              </a:tabLst>
            </a:pPr>
            <a:r>
              <a:rPr sz="2000" dirty="0">
                <a:solidFill>
                  <a:srgbClr val="FF0000"/>
                </a:solidFill>
                <a:latin typeface="Cambria Math"/>
                <a:cs typeface="Cambria Math"/>
              </a:rPr>
              <a:t>∗</a:t>
            </a:r>
            <a:r>
              <a:rPr sz="2000" spc="-30" dirty="0">
                <a:solidFill>
                  <a:srgbClr val="FF0000"/>
                </a:solidFill>
                <a:latin typeface="Cambria Math"/>
                <a:cs typeface="Cambria Math"/>
              </a:rPr>
              <a:t> </a:t>
            </a:r>
            <a:r>
              <a:rPr sz="2000" dirty="0">
                <a:solidFill>
                  <a:srgbClr val="FF0000"/>
                </a:solidFill>
                <a:latin typeface="Cambria Math"/>
                <a:cs typeface="Cambria Math"/>
              </a:rPr>
              <a:t>𝐜𝐨𝐧𝐬𝐭𝐚𝐧𝐭(𝒓)</a:t>
            </a:r>
            <a:r>
              <a:rPr sz="2000" b="1" dirty="0">
                <a:solidFill>
                  <a:srgbClr val="FF0000"/>
                </a:solidFill>
                <a:latin typeface="Palatino Linotype"/>
                <a:cs typeface="Palatino Linotype"/>
              </a:rPr>
              <a:t>:</a:t>
            </a:r>
            <a:r>
              <a:rPr sz="2000" b="1" spc="-30" dirty="0">
                <a:solidFill>
                  <a:srgbClr val="FF0000"/>
                </a:solidFill>
                <a:latin typeface="Palatino Linotype"/>
                <a:cs typeface="Palatino Linotype"/>
              </a:rPr>
              <a:t> </a:t>
            </a:r>
            <a:r>
              <a:rPr sz="2000" dirty="0">
                <a:solidFill>
                  <a:sysClr val="windowText" lastClr="000000"/>
                </a:solidFill>
                <a:latin typeface="Palatino Linotype"/>
                <a:cs typeface="Palatino Linotype"/>
              </a:rPr>
              <a:t>the</a:t>
            </a:r>
            <a:r>
              <a:rPr sz="2000" spc="-3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memory</a:t>
            </a:r>
            <a:r>
              <a:rPr sz="2000" spc="-3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location</a:t>
            </a:r>
            <a:r>
              <a:rPr sz="2000" spc="-4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found</a:t>
            </a:r>
            <a:r>
              <a:rPr sz="2000" spc="-3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in</a:t>
            </a:r>
            <a:r>
              <a:rPr sz="2000" spc="-3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the</a:t>
            </a:r>
            <a:r>
              <a:rPr sz="2000" spc="-3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location</a:t>
            </a:r>
            <a:r>
              <a:rPr sz="2000" spc="-35" dirty="0">
                <a:solidFill>
                  <a:sysClr val="windowText" lastClr="000000"/>
                </a:solidFill>
                <a:latin typeface="Palatino Linotype"/>
                <a:cs typeface="Palatino Linotype"/>
              </a:rPr>
              <a:t> </a:t>
            </a:r>
            <a:r>
              <a:rPr sz="2000" spc="-10" dirty="0">
                <a:solidFill>
                  <a:sysClr val="windowText" lastClr="000000"/>
                </a:solidFill>
                <a:latin typeface="Palatino Linotype"/>
                <a:cs typeface="Palatino Linotype"/>
              </a:rPr>
              <a:t>obtained </a:t>
            </a:r>
            <a:r>
              <a:rPr sz="2000" dirty="0">
                <a:solidFill>
                  <a:sysClr val="windowText" lastClr="000000"/>
                </a:solidFill>
                <a:latin typeface="Palatino Linotype"/>
                <a:cs typeface="Palatino Linotype"/>
              </a:rPr>
              <a:t>by</a:t>
            </a:r>
            <a:r>
              <a:rPr sz="2000" spc="-2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adding</a:t>
            </a:r>
            <a:r>
              <a:rPr sz="2000" spc="-2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the</a:t>
            </a:r>
            <a:r>
              <a:rPr sz="2000" spc="-2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constant</a:t>
            </a:r>
            <a:r>
              <a:rPr sz="2000" spc="-2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to</a:t>
            </a:r>
            <a:r>
              <a:rPr sz="2000" spc="-2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the</a:t>
            </a:r>
            <a:r>
              <a:rPr sz="2000" spc="-2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contents</a:t>
            </a:r>
            <a:r>
              <a:rPr sz="2000" spc="-2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of</a:t>
            </a:r>
            <a:r>
              <a:rPr sz="2000" spc="-30" dirty="0">
                <a:solidFill>
                  <a:sysClr val="windowText" lastClr="000000"/>
                </a:solidFill>
                <a:latin typeface="Palatino Linotype"/>
                <a:cs typeface="Palatino Linotype"/>
              </a:rPr>
              <a:t> </a:t>
            </a:r>
            <a:r>
              <a:rPr sz="2000" dirty="0">
                <a:solidFill>
                  <a:sysClr val="windowText" lastClr="000000"/>
                </a:solidFill>
                <a:latin typeface="Cambria Math"/>
                <a:cs typeface="Cambria Math"/>
              </a:rPr>
              <a:t>𝑟</a:t>
            </a:r>
            <a:r>
              <a:rPr sz="2000" spc="80" dirty="0">
                <a:solidFill>
                  <a:sysClr val="windowText" lastClr="000000"/>
                </a:solidFill>
                <a:latin typeface="Cambria Math"/>
                <a:cs typeface="Cambria Math"/>
              </a:rPr>
              <a:t> </a:t>
            </a:r>
            <a:r>
              <a:rPr sz="2000" dirty="0">
                <a:solidFill>
                  <a:sysClr val="windowText" lastClr="000000"/>
                </a:solidFill>
                <a:latin typeface="Palatino Linotype"/>
                <a:cs typeface="Palatino Linotype"/>
              </a:rPr>
              <a:t>(e.g.,</a:t>
            </a:r>
            <a:r>
              <a:rPr sz="2000" spc="-25" dirty="0">
                <a:solidFill>
                  <a:sysClr val="windowText" lastClr="000000"/>
                </a:solidFill>
                <a:latin typeface="Palatino Linotype"/>
                <a:cs typeface="Palatino Linotype"/>
              </a:rPr>
              <a:t> </a:t>
            </a:r>
            <a:r>
              <a:rPr sz="2000" dirty="0">
                <a:solidFill>
                  <a:srgbClr val="0432FF"/>
                </a:solidFill>
                <a:latin typeface="Cambria Math"/>
                <a:cs typeface="Cambria Math"/>
              </a:rPr>
              <a:t>∗</a:t>
            </a:r>
            <a:r>
              <a:rPr sz="2000" spc="-20" dirty="0">
                <a:solidFill>
                  <a:srgbClr val="0432FF"/>
                </a:solidFill>
                <a:latin typeface="Cambria Math"/>
                <a:cs typeface="Cambria Math"/>
              </a:rPr>
              <a:t> </a:t>
            </a:r>
            <a:r>
              <a:rPr sz="2000" spc="-10" dirty="0">
                <a:solidFill>
                  <a:srgbClr val="0432FF"/>
                </a:solidFill>
                <a:latin typeface="Cambria Math"/>
                <a:cs typeface="Cambria Math"/>
              </a:rPr>
              <a:t>100(𝑟)</a:t>
            </a:r>
            <a:r>
              <a:rPr sz="2000" spc="-10" dirty="0">
                <a:solidFill>
                  <a:sysClr val="windowText" lastClr="000000"/>
                </a:solidFill>
                <a:latin typeface="Palatino Linotype"/>
                <a:cs typeface="Palatino Linotype"/>
              </a:rPr>
              <a:t>)</a:t>
            </a:r>
            <a:endParaRPr sz="2000">
              <a:solidFill>
                <a:sysClr val="windowText" lastClr="000000"/>
              </a:solidFill>
              <a:latin typeface="Palatino Linotype"/>
              <a:cs typeface="Palatino Linotype"/>
            </a:endParaRPr>
          </a:p>
          <a:p>
            <a:pPr marL="242570" indent="-229870">
              <a:spcBef>
                <a:spcPts val="2285"/>
              </a:spcBef>
              <a:buClr>
                <a:srgbClr val="000000"/>
              </a:buClr>
              <a:buFont typeface="Arial MT"/>
              <a:buChar char="•"/>
              <a:tabLst>
                <a:tab pos="242570" algn="l"/>
              </a:tabLst>
            </a:pPr>
            <a:r>
              <a:rPr sz="2000" dirty="0">
                <a:solidFill>
                  <a:srgbClr val="FF0000"/>
                </a:solidFill>
                <a:latin typeface="Cambria Math"/>
                <a:cs typeface="Cambria Math"/>
              </a:rPr>
              <a:t>#𝐜𝐨𝐧𝐬𝐭𝐚𝐧𝐭</a:t>
            </a:r>
            <a:r>
              <a:rPr sz="2000" b="1" dirty="0">
                <a:solidFill>
                  <a:srgbClr val="FF0000"/>
                </a:solidFill>
                <a:latin typeface="Palatino Linotype"/>
                <a:cs typeface="Palatino Linotype"/>
              </a:rPr>
              <a:t>:</a:t>
            </a:r>
            <a:r>
              <a:rPr sz="2000" b="1" spc="-70" dirty="0">
                <a:solidFill>
                  <a:srgbClr val="FF0000"/>
                </a:solidFill>
                <a:latin typeface="Palatino Linotype"/>
                <a:cs typeface="Palatino Linotype"/>
              </a:rPr>
              <a:t> </a:t>
            </a:r>
            <a:r>
              <a:rPr sz="2000" dirty="0">
                <a:solidFill>
                  <a:sysClr val="windowText" lastClr="000000"/>
                </a:solidFill>
                <a:latin typeface="Palatino Linotype"/>
                <a:cs typeface="Palatino Linotype"/>
              </a:rPr>
              <a:t>immediate</a:t>
            </a:r>
            <a:r>
              <a:rPr sz="2000" spc="-6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constant</a:t>
            </a:r>
            <a:r>
              <a:rPr sz="2000" spc="-7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addressing</a:t>
            </a:r>
            <a:r>
              <a:rPr sz="2000" spc="-65" dirty="0">
                <a:solidFill>
                  <a:sysClr val="windowText" lastClr="000000"/>
                </a:solidFill>
                <a:latin typeface="Palatino Linotype"/>
                <a:cs typeface="Palatino Linotype"/>
              </a:rPr>
              <a:t> </a:t>
            </a:r>
            <a:r>
              <a:rPr sz="2000" spc="-20" dirty="0">
                <a:solidFill>
                  <a:sysClr val="windowText" lastClr="000000"/>
                </a:solidFill>
                <a:latin typeface="Palatino Linotype"/>
                <a:cs typeface="Palatino Linotype"/>
              </a:rPr>
              <a:t>mode</a:t>
            </a:r>
            <a:endParaRPr sz="2000">
              <a:solidFill>
                <a:sysClr val="windowText" lastClr="000000"/>
              </a:solidFill>
              <a:latin typeface="Palatino Linotype"/>
              <a:cs typeface="Palatino Linotype"/>
            </a:endParaRPr>
          </a:p>
          <a:p>
            <a:pPr marL="697865" lvl="1" indent="-227965">
              <a:spcBef>
                <a:spcPts val="1600"/>
              </a:spcBef>
              <a:buClr>
                <a:srgbClr val="000000"/>
              </a:buClr>
              <a:buFont typeface="Wingdings"/>
              <a:buChar char=""/>
              <a:tabLst>
                <a:tab pos="697865" algn="l"/>
              </a:tabLst>
            </a:pPr>
            <a:r>
              <a:rPr sz="1600" dirty="0">
                <a:solidFill>
                  <a:srgbClr val="0432FF"/>
                </a:solidFill>
                <a:latin typeface="Cambria Math"/>
                <a:cs typeface="Cambria Math"/>
              </a:rPr>
              <a:t>LD</a:t>
            </a:r>
            <a:r>
              <a:rPr sz="1600" spc="-30" dirty="0">
                <a:solidFill>
                  <a:srgbClr val="0432FF"/>
                </a:solidFill>
                <a:latin typeface="Cambria Math"/>
                <a:cs typeface="Cambria Math"/>
              </a:rPr>
              <a:t> </a:t>
            </a:r>
            <a:r>
              <a:rPr sz="1600" spc="-10" dirty="0">
                <a:solidFill>
                  <a:srgbClr val="0432FF"/>
                </a:solidFill>
                <a:latin typeface="Cambria Math"/>
                <a:cs typeface="Cambria Math"/>
              </a:rPr>
              <a:t>R1,</a:t>
            </a:r>
            <a:r>
              <a:rPr sz="1600" spc="-90" dirty="0">
                <a:solidFill>
                  <a:srgbClr val="0432FF"/>
                </a:solidFill>
                <a:latin typeface="Cambria Math"/>
                <a:cs typeface="Cambria Math"/>
              </a:rPr>
              <a:t> </a:t>
            </a:r>
            <a:r>
              <a:rPr sz="1600" dirty="0">
                <a:solidFill>
                  <a:srgbClr val="0432FF"/>
                </a:solidFill>
                <a:latin typeface="Cambria Math"/>
                <a:cs typeface="Cambria Math"/>
              </a:rPr>
              <a:t>#100</a:t>
            </a:r>
            <a:r>
              <a:rPr sz="1600" spc="25" dirty="0">
                <a:solidFill>
                  <a:srgbClr val="0432FF"/>
                </a:solidFill>
                <a:latin typeface="Cambria Math"/>
                <a:cs typeface="Cambria Math"/>
              </a:rPr>
              <a:t> </a:t>
            </a:r>
            <a:r>
              <a:rPr sz="1600" dirty="0">
                <a:solidFill>
                  <a:sysClr val="windowText" lastClr="000000"/>
                </a:solidFill>
                <a:latin typeface="Palatino Linotype"/>
                <a:cs typeface="Palatino Linotype"/>
              </a:rPr>
              <a:t>loads</a:t>
            </a:r>
            <a:r>
              <a:rPr sz="1600" spc="-25"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the</a:t>
            </a:r>
            <a:r>
              <a:rPr sz="1600" spc="-20"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integer</a:t>
            </a:r>
            <a:r>
              <a:rPr sz="1600" spc="-15"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100</a:t>
            </a:r>
            <a:r>
              <a:rPr sz="1600" spc="-20"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into</a:t>
            </a:r>
            <a:r>
              <a:rPr sz="1600" spc="-20"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register</a:t>
            </a:r>
            <a:r>
              <a:rPr sz="1600" spc="-20" dirty="0">
                <a:solidFill>
                  <a:sysClr val="windowText" lastClr="000000"/>
                </a:solidFill>
                <a:latin typeface="Palatino Linotype"/>
                <a:cs typeface="Palatino Linotype"/>
              </a:rPr>
              <a:t> </a:t>
            </a:r>
            <a:r>
              <a:rPr sz="1600" spc="-25" dirty="0">
                <a:solidFill>
                  <a:sysClr val="windowText" lastClr="000000"/>
                </a:solidFill>
                <a:latin typeface="Cambria Math"/>
                <a:cs typeface="Cambria Math"/>
              </a:rPr>
              <a:t>R1</a:t>
            </a:r>
            <a:endParaRPr sz="1600">
              <a:solidFill>
                <a:sysClr val="windowText" lastClr="000000"/>
              </a:solidFill>
              <a:latin typeface="Cambria Math"/>
              <a:cs typeface="Cambria Math"/>
            </a:endParaRPr>
          </a:p>
        </p:txBody>
      </p:sp>
    </p:spTree>
    <p:extLst>
      <p:ext uri="{BB962C8B-B14F-4D97-AF65-F5344CB8AC3E}">
        <p14:creationId xmlns:p14="http://schemas.microsoft.com/office/powerpoint/2010/main" val="6139623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9</a:t>
            </a:fld>
            <a:endParaRPr lang="en-US"/>
          </a:p>
        </p:txBody>
      </p:sp>
      <p:sp>
        <p:nvSpPr>
          <p:cNvPr id="10" name="object 2">
            <a:extLst>
              <a:ext uri="{FF2B5EF4-FFF2-40B4-BE49-F238E27FC236}">
                <a16:creationId xmlns:a16="http://schemas.microsoft.com/office/drawing/2014/main" id="{B409CD70-328B-7328-20BF-AF50F9983F74}"/>
              </a:ext>
            </a:extLst>
          </p:cNvPr>
          <p:cNvSpPr txBox="1">
            <a:spLocks/>
          </p:cNvSpPr>
          <p:nvPr/>
        </p:nvSpPr>
        <p:spPr>
          <a:xfrm>
            <a:off x="707390" y="524763"/>
            <a:ext cx="7729219" cy="63500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4000" b="1" i="0" u="none" strike="noStrike" kern="0" cap="none" spc="0" normalizeH="0" baseline="0" noProof="0">
                <a:ln>
                  <a:noFill/>
                </a:ln>
                <a:solidFill>
                  <a:sysClr val="windowText" lastClr="000000"/>
                </a:solidFill>
                <a:effectLst/>
                <a:uLnTx/>
                <a:uFillTx/>
                <a:latin typeface="Palatino Linotype"/>
                <a:ea typeface="+mj-ea"/>
              </a:rPr>
              <a:t>Examples</a:t>
            </a:r>
            <a:r>
              <a:rPr kumimoji="0" lang="en-US" sz="4000" b="1" i="0" u="none" strike="noStrike" kern="0" cap="none" spc="-130" normalizeH="0" baseline="0" noProof="0">
                <a:ln>
                  <a:noFill/>
                </a:ln>
                <a:solidFill>
                  <a:sysClr val="windowText" lastClr="000000"/>
                </a:solidFill>
                <a:effectLst/>
                <a:uLnTx/>
                <a:uFillTx/>
                <a:latin typeface="Palatino Linotype"/>
                <a:ea typeface="+mj-ea"/>
              </a:rPr>
              <a:t> </a:t>
            </a:r>
            <a:r>
              <a:rPr kumimoji="0" lang="en-US" sz="4000" b="1" i="0" u="none" strike="noStrike" kern="0" cap="none" spc="-25" normalizeH="0" baseline="0" noProof="0">
                <a:ln>
                  <a:noFill/>
                </a:ln>
                <a:solidFill>
                  <a:sysClr val="windowText" lastClr="000000"/>
                </a:solidFill>
                <a:effectLst/>
                <a:uLnTx/>
                <a:uFillTx/>
                <a:latin typeface="Palatino Linotype"/>
                <a:ea typeface="+mj-ea"/>
              </a:rPr>
              <a:t>(1)</a:t>
            </a:r>
            <a:endParaRPr kumimoji="0" lang="en-US" sz="4000" b="1" i="0" u="none" strike="noStrike" kern="0" cap="none" spc="-25" normalizeH="0" baseline="0" noProof="0" dirty="0">
              <a:ln>
                <a:noFill/>
              </a:ln>
              <a:solidFill>
                <a:sysClr val="windowText" lastClr="000000"/>
              </a:solidFill>
              <a:effectLst/>
              <a:uLnTx/>
              <a:uFillTx/>
              <a:latin typeface="Palatino Linotype"/>
              <a:ea typeface="+mj-ea"/>
            </a:endParaRPr>
          </a:p>
        </p:txBody>
      </p:sp>
      <p:sp>
        <p:nvSpPr>
          <p:cNvPr id="11" name="object 3">
            <a:extLst>
              <a:ext uri="{FF2B5EF4-FFF2-40B4-BE49-F238E27FC236}">
                <a16:creationId xmlns:a16="http://schemas.microsoft.com/office/drawing/2014/main" id="{814980B6-F5D8-BD91-4989-120E3B8EF3F3}"/>
              </a:ext>
            </a:extLst>
          </p:cNvPr>
          <p:cNvSpPr txBox="1"/>
          <p:nvPr/>
        </p:nvSpPr>
        <p:spPr>
          <a:xfrm>
            <a:off x="707390" y="1590547"/>
            <a:ext cx="1775460" cy="391160"/>
          </a:xfrm>
          <a:prstGeom prst="rect">
            <a:avLst/>
          </a:prstGeom>
        </p:spPr>
        <p:txBody>
          <a:bodyPr vert="horz" wrap="square" lIns="0" tIns="12700" rIns="0" bIns="0" rtlCol="0">
            <a:spAutoFit/>
          </a:bodyPr>
          <a:lstStyle/>
          <a:p>
            <a:pPr marL="241935" indent="-229235">
              <a:spcBef>
                <a:spcPts val="100"/>
              </a:spcBef>
              <a:buClr>
                <a:srgbClr val="000000"/>
              </a:buClr>
              <a:buFont typeface="Arial MT"/>
              <a:buChar char="•"/>
              <a:tabLst>
                <a:tab pos="241935" algn="l"/>
                <a:tab pos="565150" algn="l"/>
                <a:tab pos="943610" algn="l"/>
                <a:tab pos="1252855" algn="l"/>
                <a:tab pos="1614805" algn="l"/>
              </a:tabLst>
            </a:pPr>
            <a:r>
              <a:rPr sz="2400" spc="-50" dirty="0">
                <a:solidFill>
                  <a:srgbClr val="FF0000"/>
                </a:solidFill>
                <a:latin typeface="Cambria Math"/>
                <a:cs typeface="Cambria Math"/>
              </a:rPr>
              <a:t>𝑥</a:t>
            </a:r>
            <a:r>
              <a:rPr sz="2400" dirty="0">
                <a:solidFill>
                  <a:srgbClr val="FF0000"/>
                </a:solidFill>
                <a:latin typeface="Cambria Math"/>
                <a:cs typeface="Cambria Math"/>
              </a:rPr>
              <a:t>	</a:t>
            </a:r>
            <a:r>
              <a:rPr sz="2400" spc="-50" dirty="0">
                <a:solidFill>
                  <a:srgbClr val="FF0000"/>
                </a:solidFill>
                <a:latin typeface="Cambria Math"/>
                <a:cs typeface="Cambria Math"/>
              </a:rPr>
              <a:t>=</a:t>
            </a:r>
            <a:r>
              <a:rPr sz="2400" dirty="0">
                <a:solidFill>
                  <a:srgbClr val="FF0000"/>
                </a:solidFill>
                <a:latin typeface="Cambria Math"/>
                <a:cs typeface="Cambria Math"/>
              </a:rPr>
              <a:t>	</a:t>
            </a:r>
            <a:r>
              <a:rPr sz="2400" spc="-50" dirty="0">
                <a:solidFill>
                  <a:srgbClr val="FF0000"/>
                </a:solidFill>
                <a:latin typeface="Cambria Math"/>
                <a:cs typeface="Cambria Math"/>
              </a:rPr>
              <a:t>𝑦</a:t>
            </a:r>
            <a:r>
              <a:rPr sz="2400" dirty="0">
                <a:solidFill>
                  <a:srgbClr val="FF0000"/>
                </a:solidFill>
                <a:latin typeface="Cambria Math"/>
                <a:cs typeface="Cambria Math"/>
              </a:rPr>
              <a:t>	</a:t>
            </a:r>
            <a:r>
              <a:rPr sz="2400" spc="-50" dirty="0">
                <a:solidFill>
                  <a:srgbClr val="FF0000"/>
                </a:solidFill>
                <a:latin typeface="Cambria Math"/>
                <a:cs typeface="Cambria Math"/>
              </a:rPr>
              <a:t>−</a:t>
            </a:r>
            <a:r>
              <a:rPr sz="2400" dirty="0">
                <a:solidFill>
                  <a:srgbClr val="FF0000"/>
                </a:solidFill>
                <a:latin typeface="Cambria Math"/>
                <a:cs typeface="Cambria Math"/>
              </a:rPr>
              <a:t>	</a:t>
            </a:r>
            <a:r>
              <a:rPr sz="2400" spc="-50" dirty="0">
                <a:solidFill>
                  <a:srgbClr val="FF0000"/>
                </a:solidFill>
                <a:latin typeface="Cambria Math"/>
                <a:cs typeface="Cambria Math"/>
              </a:rPr>
              <a:t>𝑧</a:t>
            </a:r>
            <a:endParaRPr sz="2400">
              <a:solidFill>
                <a:sysClr val="windowText" lastClr="000000"/>
              </a:solidFill>
              <a:latin typeface="Cambria Math"/>
              <a:cs typeface="Cambria Math"/>
            </a:endParaRPr>
          </a:p>
        </p:txBody>
      </p:sp>
      <p:sp>
        <p:nvSpPr>
          <p:cNvPr id="12" name="object 4">
            <a:extLst>
              <a:ext uri="{FF2B5EF4-FFF2-40B4-BE49-F238E27FC236}">
                <a16:creationId xmlns:a16="http://schemas.microsoft.com/office/drawing/2014/main" id="{88C57A2A-B465-8F89-2FB0-183A1254C579}"/>
              </a:ext>
            </a:extLst>
          </p:cNvPr>
          <p:cNvSpPr txBox="1"/>
          <p:nvPr/>
        </p:nvSpPr>
        <p:spPr>
          <a:xfrm>
            <a:off x="707390" y="3937507"/>
            <a:ext cx="1388110" cy="391160"/>
          </a:xfrm>
          <a:prstGeom prst="rect">
            <a:avLst/>
          </a:prstGeom>
        </p:spPr>
        <p:txBody>
          <a:bodyPr vert="horz" wrap="square" lIns="0" tIns="12700" rIns="0" bIns="0" rtlCol="0">
            <a:spAutoFit/>
          </a:bodyPr>
          <a:lstStyle/>
          <a:p>
            <a:pPr marL="241935" indent="-229235">
              <a:spcBef>
                <a:spcPts val="100"/>
              </a:spcBef>
              <a:buClr>
                <a:srgbClr val="000000"/>
              </a:buClr>
              <a:buFont typeface="Arial MT"/>
              <a:buChar char="•"/>
              <a:tabLst>
                <a:tab pos="241935" algn="l"/>
                <a:tab pos="565785" algn="l"/>
              </a:tabLst>
            </a:pPr>
            <a:r>
              <a:rPr sz="2400" spc="-50" dirty="0">
                <a:solidFill>
                  <a:srgbClr val="FF0000"/>
                </a:solidFill>
                <a:latin typeface="Cambria Math"/>
                <a:cs typeface="Cambria Math"/>
              </a:rPr>
              <a:t>𝑏</a:t>
            </a:r>
            <a:r>
              <a:rPr sz="2400" dirty="0">
                <a:solidFill>
                  <a:srgbClr val="FF0000"/>
                </a:solidFill>
                <a:latin typeface="Cambria Math"/>
                <a:cs typeface="Cambria Math"/>
              </a:rPr>
              <a:t>	=</a:t>
            </a:r>
            <a:r>
              <a:rPr sz="2400" spc="130" dirty="0">
                <a:solidFill>
                  <a:srgbClr val="FF0000"/>
                </a:solidFill>
                <a:latin typeface="Cambria Math"/>
                <a:cs typeface="Cambria Math"/>
              </a:rPr>
              <a:t> </a:t>
            </a:r>
            <a:r>
              <a:rPr sz="2400" spc="-20" dirty="0">
                <a:solidFill>
                  <a:srgbClr val="FF0000"/>
                </a:solidFill>
                <a:latin typeface="Cambria Math"/>
                <a:cs typeface="Cambria Math"/>
              </a:rPr>
              <a:t>𝑎[𝑖]</a:t>
            </a:r>
            <a:endParaRPr sz="2400">
              <a:solidFill>
                <a:sysClr val="windowText" lastClr="000000"/>
              </a:solidFill>
              <a:latin typeface="Cambria Math"/>
              <a:cs typeface="Cambria Math"/>
            </a:endParaRPr>
          </a:p>
        </p:txBody>
      </p:sp>
      <p:pic>
        <p:nvPicPr>
          <p:cNvPr id="13" name="object 5">
            <a:extLst>
              <a:ext uri="{FF2B5EF4-FFF2-40B4-BE49-F238E27FC236}">
                <a16:creationId xmlns:a16="http://schemas.microsoft.com/office/drawing/2014/main" id="{12484E41-C591-E064-973E-0753FF60C2C1}"/>
              </a:ext>
            </a:extLst>
          </p:cNvPr>
          <p:cNvPicPr/>
          <p:nvPr/>
        </p:nvPicPr>
        <p:blipFill>
          <a:blip r:embed="rId3" cstate="print"/>
          <a:stretch>
            <a:fillRect/>
          </a:stretch>
        </p:blipFill>
        <p:spPr>
          <a:xfrm>
            <a:off x="923597" y="2279849"/>
            <a:ext cx="4752166" cy="1201290"/>
          </a:xfrm>
          <a:prstGeom prst="rect">
            <a:avLst/>
          </a:prstGeom>
        </p:spPr>
      </p:pic>
      <p:pic>
        <p:nvPicPr>
          <p:cNvPr id="14" name="object 6">
            <a:extLst>
              <a:ext uri="{FF2B5EF4-FFF2-40B4-BE49-F238E27FC236}">
                <a16:creationId xmlns:a16="http://schemas.microsoft.com/office/drawing/2014/main" id="{C112E38C-F089-6F8F-D9A6-AC5B710BFD37}"/>
              </a:ext>
            </a:extLst>
          </p:cNvPr>
          <p:cNvPicPr/>
          <p:nvPr/>
        </p:nvPicPr>
        <p:blipFill>
          <a:blip r:embed="rId4" cstate="print"/>
          <a:stretch>
            <a:fillRect/>
          </a:stretch>
        </p:blipFill>
        <p:spPr>
          <a:xfrm>
            <a:off x="957621" y="4643216"/>
            <a:ext cx="7289576" cy="1199000"/>
          </a:xfrm>
          <a:prstGeom prst="rect">
            <a:avLst/>
          </a:prstGeom>
        </p:spPr>
      </p:pic>
    </p:spTree>
    <p:extLst>
      <p:ext uri="{BB962C8B-B14F-4D97-AF65-F5344CB8AC3E}">
        <p14:creationId xmlns:p14="http://schemas.microsoft.com/office/powerpoint/2010/main" val="23284613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10</a:t>
            </a:fld>
            <a:endParaRPr lang="en-US"/>
          </a:p>
        </p:txBody>
      </p:sp>
      <p:sp>
        <p:nvSpPr>
          <p:cNvPr id="12" name="object 2">
            <a:extLst>
              <a:ext uri="{FF2B5EF4-FFF2-40B4-BE49-F238E27FC236}">
                <a16:creationId xmlns:a16="http://schemas.microsoft.com/office/drawing/2014/main" id="{E4F141F5-8953-B9E3-F0C5-DA0677F9BD23}"/>
              </a:ext>
            </a:extLst>
          </p:cNvPr>
          <p:cNvSpPr txBox="1">
            <a:spLocks/>
          </p:cNvSpPr>
          <p:nvPr/>
        </p:nvSpPr>
        <p:spPr>
          <a:xfrm>
            <a:off x="707390" y="524763"/>
            <a:ext cx="7729219" cy="63500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4000" b="1" i="0" u="none" strike="noStrike" kern="0" cap="none" spc="0" normalizeH="0" baseline="0" noProof="0">
                <a:ln>
                  <a:noFill/>
                </a:ln>
                <a:solidFill>
                  <a:sysClr val="windowText" lastClr="000000"/>
                </a:solidFill>
                <a:effectLst/>
                <a:uLnTx/>
                <a:uFillTx/>
                <a:latin typeface="Palatino Linotype"/>
                <a:ea typeface="+mj-ea"/>
              </a:rPr>
              <a:t>Examples</a:t>
            </a:r>
            <a:r>
              <a:rPr kumimoji="0" lang="en-US" sz="4000" b="1" i="0" u="none" strike="noStrike" kern="0" cap="none" spc="-130" normalizeH="0" baseline="0" noProof="0">
                <a:ln>
                  <a:noFill/>
                </a:ln>
                <a:solidFill>
                  <a:sysClr val="windowText" lastClr="000000"/>
                </a:solidFill>
                <a:effectLst/>
                <a:uLnTx/>
                <a:uFillTx/>
                <a:latin typeface="Palatino Linotype"/>
                <a:ea typeface="+mj-ea"/>
              </a:rPr>
              <a:t> </a:t>
            </a:r>
            <a:r>
              <a:rPr kumimoji="0" lang="en-US" sz="4000" b="1" i="0" u="none" strike="noStrike" kern="0" cap="none" spc="-25" normalizeH="0" baseline="0" noProof="0">
                <a:ln>
                  <a:noFill/>
                </a:ln>
                <a:solidFill>
                  <a:sysClr val="windowText" lastClr="000000"/>
                </a:solidFill>
                <a:effectLst/>
                <a:uLnTx/>
                <a:uFillTx/>
                <a:latin typeface="Palatino Linotype"/>
                <a:ea typeface="+mj-ea"/>
              </a:rPr>
              <a:t>(2)</a:t>
            </a:r>
            <a:endParaRPr kumimoji="0" lang="en-US" sz="4000" b="1" i="0" u="none" strike="noStrike" kern="0" cap="none" spc="-25" normalizeH="0" baseline="0" noProof="0" dirty="0">
              <a:ln>
                <a:noFill/>
              </a:ln>
              <a:solidFill>
                <a:sysClr val="windowText" lastClr="000000"/>
              </a:solidFill>
              <a:effectLst/>
              <a:uLnTx/>
              <a:uFillTx/>
              <a:latin typeface="Palatino Linotype"/>
              <a:ea typeface="+mj-ea"/>
            </a:endParaRPr>
          </a:p>
        </p:txBody>
      </p:sp>
      <p:sp>
        <p:nvSpPr>
          <p:cNvPr id="13" name="object 3">
            <a:extLst>
              <a:ext uri="{FF2B5EF4-FFF2-40B4-BE49-F238E27FC236}">
                <a16:creationId xmlns:a16="http://schemas.microsoft.com/office/drawing/2014/main" id="{C2787990-34C6-EFA2-9B41-D25194752E20}"/>
              </a:ext>
            </a:extLst>
          </p:cNvPr>
          <p:cNvSpPr txBox="1"/>
          <p:nvPr/>
        </p:nvSpPr>
        <p:spPr>
          <a:xfrm>
            <a:off x="707390" y="3937507"/>
            <a:ext cx="1124585" cy="391160"/>
          </a:xfrm>
          <a:prstGeom prst="rect">
            <a:avLst/>
          </a:prstGeom>
        </p:spPr>
        <p:txBody>
          <a:bodyPr vert="horz" wrap="square" lIns="0" tIns="12700" rIns="0" bIns="0" rtlCol="0">
            <a:spAutoFit/>
          </a:bodyPr>
          <a:lstStyle/>
          <a:p>
            <a:pPr marL="241935" indent="-229235">
              <a:spcBef>
                <a:spcPts val="100"/>
              </a:spcBef>
              <a:buClr>
                <a:srgbClr val="000000"/>
              </a:buClr>
              <a:buFont typeface="Arial MT"/>
              <a:buChar char="•"/>
              <a:tabLst>
                <a:tab pos="241935" algn="l"/>
              </a:tabLst>
            </a:pPr>
            <a:r>
              <a:rPr sz="2400" dirty="0">
                <a:solidFill>
                  <a:srgbClr val="FF0000"/>
                </a:solidFill>
                <a:latin typeface="Cambria Math"/>
                <a:cs typeface="Cambria Math"/>
              </a:rPr>
              <a:t>𝑥</a:t>
            </a:r>
            <a:r>
              <a:rPr sz="2400" spc="190" dirty="0">
                <a:solidFill>
                  <a:srgbClr val="FF0000"/>
                </a:solidFill>
                <a:latin typeface="Cambria Math"/>
                <a:cs typeface="Cambria Math"/>
              </a:rPr>
              <a:t> </a:t>
            </a:r>
            <a:r>
              <a:rPr sz="2400" dirty="0">
                <a:solidFill>
                  <a:srgbClr val="FF0000"/>
                </a:solidFill>
                <a:latin typeface="Cambria Math"/>
                <a:cs typeface="Cambria Math"/>
              </a:rPr>
              <a:t>=∗</a:t>
            </a:r>
            <a:r>
              <a:rPr sz="2400" spc="-5" dirty="0">
                <a:solidFill>
                  <a:srgbClr val="FF0000"/>
                </a:solidFill>
                <a:latin typeface="Cambria Math"/>
                <a:cs typeface="Cambria Math"/>
              </a:rPr>
              <a:t> </a:t>
            </a:r>
            <a:r>
              <a:rPr sz="2400" spc="-50" dirty="0">
                <a:solidFill>
                  <a:srgbClr val="FF0000"/>
                </a:solidFill>
                <a:latin typeface="Cambria Math"/>
                <a:cs typeface="Cambria Math"/>
              </a:rPr>
              <a:t>𝑝</a:t>
            </a:r>
            <a:endParaRPr sz="2400">
              <a:solidFill>
                <a:sysClr val="windowText" lastClr="000000"/>
              </a:solidFill>
              <a:latin typeface="Cambria Math"/>
              <a:cs typeface="Cambria Math"/>
            </a:endParaRPr>
          </a:p>
        </p:txBody>
      </p:sp>
      <p:sp>
        <p:nvSpPr>
          <p:cNvPr id="14" name="object 4">
            <a:extLst>
              <a:ext uri="{FF2B5EF4-FFF2-40B4-BE49-F238E27FC236}">
                <a16:creationId xmlns:a16="http://schemas.microsoft.com/office/drawing/2014/main" id="{AB0CE5F3-EEEF-7B2C-CFEF-FD394DB6C500}"/>
              </a:ext>
            </a:extLst>
          </p:cNvPr>
          <p:cNvSpPr/>
          <p:nvPr/>
        </p:nvSpPr>
        <p:spPr>
          <a:xfrm>
            <a:off x="1355699" y="1678939"/>
            <a:ext cx="66675" cy="283210"/>
          </a:xfrm>
          <a:custGeom>
            <a:avLst/>
            <a:gdLst/>
            <a:ahLst/>
            <a:cxnLst/>
            <a:rect l="l" t="t" r="r" b="b"/>
            <a:pathLst>
              <a:path w="66675" h="283210">
                <a:moveTo>
                  <a:pt x="66382" y="0"/>
                </a:moveTo>
                <a:lnTo>
                  <a:pt x="0" y="0"/>
                </a:lnTo>
                <a:lnTo>
                  <a:pt x="0" y="11430"/>
                </a:lnTo>
                <a:lnTo>
                  <a:pt x="41681" y="11430"/>
                </a:lnTo>
                <a:lnTo>
                  <a:pt x="41681" y="271780"/>
                </a:lnTo>
                <a:lnTo>
                  <a:pt x="0" y="271780"/>
                </a:lnTo>
                <a:lnTo>
                  <a:pt x="0" y="283210"/>
                </a:lnTo>
                <a:lnTo>
                  <a:pt x="66382" y="283210"/>
                </a:lnTo>
                <a:lnTo>
                  <a:pt x="66382" y="271780"/>
                </a:lnTo>
                <a:lnTo>
                  <a:pt x="66382" y="11430"/>
                </a:lnTo>
                <a:lnTo>
                  <a:pt x="66382" y="0"/>
                </a:lnTo>
                <a:close/>
              </a:path>
            </a:pathLst>
          </a:custGeom>
          <a:solidFill>
            <a:srgbClr val="FF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5" name="object 5">
            <a:extLst>
              <a:ext uri="{FF2B5EF4-FFF2-40B4-BE49-F238E27FC236}">
                <a16:creationId xmlns:a16="http://schemas.microsoft.com/office/drawing/2014/main" id="{46774D31-21EF-71AB-C2AE-6B8C00A956D3}"/>
              </a:ext>
            </a:extLst>
          </p:cNvPr>
          <p:cNvSpPr/>
          <p:nvPr/>
        </p:nvSpPr>
        <p:spPr>
          <a:xfrm>
            <a:off x="1161808" y="1678939"/>
            <a:ext cx="66675" cy="283210"/>
          </a:xfrm>
          <a:custGeom>
            <a:avLst/>
            <a:gdLst/>
            <a:ahLst/>
            <a:cxnLst/>
            <a:rect l="l" t="t" r="r" b="b"/>
            <a:pathLst>
              <a:path w="66675" h="283210">
                <a:moveTo>
                  <a:pt x="66382" y="0"/>
                </a:moveTo>
                <a:lnTo>
                  <a:pt x="0" y="0"/>
                </a:lnTo>
                <a:lnTo>
                  <a:pt x="0" y="11430"/>
                </a:lnTo>
                <a:lnTo>
                  <a:pt x="0" y="271780"/>
                </a:lnTo>
                <a:lnTo>
                  <a:pt x="0" y="283210"/>
                </a:lnTo>
                <a:lnTo>
                  <a:pt x="66382" y="283210"/>
                </a:lnTo>
                <a:lnTo>
                  <a:pt x="66382" y="271780"/>
                </a:lnTo>
                <a:lnTo>
                  <a:pt x="24714" y="271780"/>
                </a:lnTo>
                <a:lnTo>
                  <a:pt x="24714" y="11430"/>
                </a:lnTo>
                <a:lnTo>
                  <a:pt x="66382" y="11430"/>
                </a:lnTo>
                <a:lnTo>
                  <a:pt x="66382" y="0"/>
                </a:lnTo>
                <a:close/>
              </a:path>
            </a:pathLst>
          </a:custGeom>
          <a:solidFill>
            <a:srgbClr val="FF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6" name="object 6">
            <a:extLst>
              <a:ext uri="{FF2B5EF4-FFF2-40B4-BE49-F238E27FC236}">
                <a16:creationId xmlns:a16="http://schemas.microsoft.com/office/drawing/2014/main" id="{D1F2B5AC-1DE4-2F6B-878A-4128234DE169}"/>
              </a:ext>
            </a:extLst>
          </p:cNvPr>
          <p:cNvSpPr txBox="1"/>
          <p:nvPr/>
        </p:nvSpPr>
        <p:spPr>
          <a:xfrm>
            <a:off x="707390" y="1590547"/>
            <a:ext cx="1297940" cy="391160"/>
          </a:xfrm>
          <a:prstGeom prst="rect">
            <a:avLst/>
          </a:prstGeom>
        </p:spPr>
        <p:txBody>
          <a:bodyPr vert="horz" wrap="square" lIns="0" tIns="12700" rIns="0" bIns="0" rtlCol="0">
            <a:spAutoFit/>
          </a:bodyPr>
          <a:lstStyle/>
          <a:p>
            <a:pPr marL="241935" indent="-229235">
              <a:spcBef>
                <a:spcPts val="100"/>
              </a:spcBef>
              <a:buClr>
                <a:srgbClr val="000000"/>
              </a:buClr>
              <a:buFont typeface="Arial MT"/>
              <a:buChar char="•"/>
              <a:tabLst>
                <a:tab pos="241935" algn="l"/>
                <a:tab pos="833119" algn="l"/>
              </a:tabLst>
            </a:pPr>
            <a:r>
              <a:rPr sz="2400" dirty="0">
                <a:solidFill>
                  <a:srgbClr val="FF0000"/>
                </a:solidFill>
                <a:latin typeface="Cambria Math"/>
                <a:cs typeface="Cambria Math"/>
              </a:rPr>
              <a:t>𝑎</a:t>
            </a:r>
            <a:r>
              <a:rPr sz="2400" spc="350" dirty="0">
                <a:solidFill>
                  <a:srgbClr val="FF0000"/>
                </a:solidFill>
                <a:latin typeface="Cambria Math"/>
                <a:cs typeface="Cambria Math"/>
              </a:rPr>
              <a:t> </a:t>
            </a:r>
            <a:r>
              <a:rPr sz="2400" spc="-60" dirty="0">
                <a:solidFill>
                  <a:srgbClr val="FF0000"/>
                </a:solidFill>
                <a:latin typeface="Cambria Math"/>
                <a:cs typeface="Cambria Math"/>
              </a:rPr>
              <a:t>𝑗</a:t>
            </a:r>
            <a:r>
              <a:rPr sz="2400" dirty="0">
                <a:solidFill>
                  <a:srgbClr val="FF0000"/>
                </a:solidFill>
                <a:latin typeface="Cambria Math"/>
                <a:cs typeface="Cambria Math"/>
              </a:rPr>
              <a:t>	=</a:t>
            </a:r>
            <a:r>
              <a:rPr sz="2400" spc="130" dirty="0">
                <a:solidFill>
                  <a:srgbClr val="FF0000"/>
                </a:solidFill>
                <a:latin typeface="Cambria Math"/>
                <a:cs typeface="Cambria Math"/>
              </a:rPr>
              <a:t> </a:t>
            </a:r>
            <a:r>
              <a:rPr sz="2400" spc="-50" dirty="0">
                <a:solidFill>
                  <a:srgbClr val="FF0000"/>
                </a:solidFill>
                <a:latin typeface="Cambria Math"/>
                <a:cs typeface="Cambria Math"/>
              </a:rPr>
              <a:t>𝑐</a:t>
            </a:r>
            <a:endParaRPr sz="2400">
              <a:solidFill>
                <a:sysClr val="windowText" lastClr="000000"/>
              </a:solidFill>
              <a:latin typeface="Cambria Math"/>
              <a:cs typeface="Cambria Math"/>
            </a:endParaRPr>
          </a:p>
        </p:txBody>
      </p:sp>
      <p:pic>
        <p:nvPicPr>
          <p:cNvPr id="17" name="object 7">
            <a:extLst>
              <a:ext uri="{FF2B5EF4-FFF2-40B4-BE49-F238E27FC236}">
                <a16:creationId xmlns:a16="http://schemas.microsoft.com/office/drawing/2014/main" id="{D9149F08-C6FE-320B-0C48-18897817E7F9}"/>
              </a:ext>
            </a:extLst>
          </p:cNvPr>
          <p:cNvPicPr/>
          <p:nvPr/>
        </p:nvPicPr>
        <p:blipFill>
          <a:blip r:embed="rId3" cstate="print"/>
          <a:stretch>
            <a:fillRect/>
          </a:stretch>
        </p:blipFill>
        <p:spPr>
          <a:xfrm>
            <a:off x="943065" y="2270193"/>
            <a:ext cx="7457425" cy="1200845"/>
          </a:xfrm>
          <a:prstGeom prst="rect">
            <a:avLst/>
          </a:prstGeom>
        </p:spPr>
      </p:pic>
      <p:pic>
        <p:nvPicPr>
          <p:cNvPr id="18" name="object 8">
            <a:extLst>
              <a:ext uri="{FF2B5EF4-FFF2-40B4-BE49-F238E27FC236}">
                <a16:creationId xmlns:a16="http://schemas.microsoft.com/office/drawing/2014/main" id="{C0075EC2-B6B8-36D7-582C-3B8A84A63C23}"/>
              </a:ext>
            </a:extLst>
          </p:cNvPr>
          <p:cNvPicPr/>
          <p:nvPr/>
        </p:nvPicPr>
        <p:blipFill>
          <a:blip r:embed="rId4" cstate="print"/>
          <a:stretch>
            <a:fillRect/>
          </a:stretch>
        </p:blipFill>
        <p:spPr>
          <a:xfrm>
            <a:off x="925613" y="4588407"/>
            <a:ext cx="7294107" cy="895462"/>
          </a:xfrm>
          <a:prstGeom prst="rect">
            <a:avLst/>
          </a:prstGeom>
        </p:spPr>
      </p:pic>
    </p:spTree>
    <p:extLst>
      <p:ext uri="{BB962C8B-B14F-4D97-AF65-F5344CB8AC3E}">
        <p14:creationId xmlns:p14="http://schemas.microsoft.com/office/powerpoint/2010/main" val="17754597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11</a:t>
            </a:fld>
            <a:endParaRPr lang="en-US"/>
          </a:p>
        </p:txBody>
      </p:sp>
      <p:sp>
        <p:nvSpPr>
          <p:cNvPr id="11" name="object 2">
            <a:extLst>
              <a:ext uri="{FF2B5EF4-FFF2-40B4-BE49-F238E27FC236}">
                <a16:creationId xmlns:a16="http://schemas.microsoft.com/office/drawing/2014/main" id="{1393BBB3-700A-2CA7-FAC4-CFE61C493514}"/>
              </a:ext>
            </a:extLst>
          </p:cNvPr>
          <p:cNvSpPr txBox="1">
            <a:spLocks/>
          </p:cNvSpPr>
          <p:nvPr/>
        </p:nvSpPr>
        <p:spPr>
          <a:xfrm>
            <a:off x="707390" y="524763"/>
            <a:ext cx="7729219" cy="63500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4000" b="1" i="0" u="none" strike="noStrike" kern="0" cap="none" spc="0" normalizeH="0" baseline="0" noProof="0">
                <a:ln>
                  <a:noFill/>
                </a:ln>
                <a:solidFill>
                  <a:sysClr val="windowText" lastClr="000000"/>
                </a:solidFill>
                <a:effectLst/>
                <a:uLnTx/>
                <a:uFillTx/>
                <a:latin typeface="Palatino Linotype"/>
                <a:ea typeface="+mj-ea"/>
              </a:rPr>
              <a:t>Examples</a:t>
            </a:r>
            <a:r>
              <a:rPr kumimoji="0" lang="en-US" sz="4000" b="1" i="0" u="none" strike="noStrike" kern="0" cap="none" spc="-130" normalizeH="0" baseline="0" noProof="0">
                <a:ln>
                  <a:noFill/>
                </a:ln>
                <a:solidFill>
                  <a:sysClr val="windowText" lastClr="000000"/>
                </a:solidFill>
                <a:effectLst/>
                <a:uLnTx/>
                <a:uFillTx/>
                <a:latin typeface="Palatino Linotype"/>
                <a:ea typeface="+mj-ea"/>
              </a:rPr>
              <a:t> </a:t>
            </a:r>
            <a:r>
              <a:rPr kumimoji="0" lang="en-US" sz="4000" b="1" i="0" u="none" strike="noStrike" kern="0" cap="none" spc="-25" normalizeH="0" baseline="0" noProof="0">
                <a:ln>
                  <a:noFill/>
                </a:ln>
                <a:solidFill>
                  <a:sysClr val="windowText" lastClr="000000"/>
                </a:solidFill>
                <a:effectLst/>
                <a:uLnTx/>
                <a:uFillTx/>
                <a:latin typeface="Palatino Linotype"/>
                <a:ea typeface="+mj-ea"/>
              </a:rPr>
              <a:t>(3)</a:t>
            </a:r>
            <a:endParaRPr kumimoji="0" lang="en-US" sz="4000" b="1" i="0" u="none" strike="noStrike" kern="0" cap="none" spc="-25" normalizeH="0" baseline="0" noProof="0" dirty="0">
              <a:ln>
                <a:noFill/>
              </a:ln>
              <a:solidFill>
                <a:sysClr val="windowText" lastClr="000000"/>
              </a:solidFill>
              <a:effectLst/>
              <a:uLnTx/>
              <a:uFillTx/>
              <a:latin typeface="Palatino Linotype"/>
              <a:ea typeface="+mj-ea"/>
            </a:endParaRPr>
          </a:p>
        </p:txBody>
      </p:sp>
      <p:sp>
        <p:nvSpPr>
          <p:cNvPr id="12" name="object 3">
            <a:extLst>
              <a:ext uri="{FF2B5EF4-FFF2-40B4-BE49-F238E27FC236}">
                <a16:creationId xmlns:a16="http://schemas.microsoft.com/office/drawing/2014/main" id="{1565569F-C456-EED1-B15F-C55FECD70C12}"/>
              </a:ext>
            </a:extLst>
          </p:cNvPr>
          <p:cNvSpPr txBox="1"/>
          <p:nvPr/>
        </p:nvSpPr>
        <p:spPr>
          <a:xfrm>
            <a:off x="707390" y="3727195"/>
            <a:ext cx="2114550" cy="391160"/>
          </a:xfrm>
          <a:prstGeom prst="rect">
            <a:avLst/>
          </a:prstGeom>
        </p:spPr>
        <p:txBody>
          <a:bodyPr vert="horz" wrap="square" lIns="0" tIns="12700" rIns="0" bIns="0" rtlCol="0">
            <a:spAutoFit/>
          </a:bodyPr>
          <a:lstStyle/>
          <a:p>
            <a:pPr marL="241935" indent="-229235">
              <a:spcBef>
                <a:spcPts val="100"/>
              </a:spcBef>
              <a:buClr>
                <a:srgbClr val="000000"/>
              </a:buClr>
              <a:buFont typeface="Arial MT"/>
              <a:buChar char="•"/>
              <a:tabLst>
                <a:tab pos="241935" algn="l"/>
              </a:tabLst>
            </a:pPr>
            <a:r>
              <a:rPr sz="2400" dirty="0">
                <a:solidFill>
                  <a:srgbClr val="FF0000"/>
                </a:solidFill>
                <a:latin typeface="Cambria Math"/>
                <a:cs typeface="Cambria Math"/>
              </a:rPr>
              <a:t>if</a:t>
            </a:r>
            <a:r>
              <a:rPr sz="2400" spc="-30" dirty="0">
                <a:solidFill>
                  <a:srgbClr val="FF0000"/>
                </a:solidFill>
                <a:latin typeface="Cambria Math"/>
                <a:cs typeface="Cambria Math"/>
              </a:rPr>
              <a:t> </a:t>
            </a:r>
            <a:r>
              <a:rPr sz="2400" dirty="0">
                <a:solidFill>
                  <a:srgbClr val="FF0000"/>
                </a:solidFill>
                <a:latin typeface="Cambria Math"/>
                <a:cs typeface="Cambria Math"/>
              </a:rPr>
              <a:t>𝑥</a:t>
            </a:r>
            <a:r>
              <a:rPr sz="2400" spc="180" dirty="0">
                <a:solidFill>
                  <a:srgbClr val="FF0000"/>
                </a:solidFill>
                <a:latin typeface="Cambria Math"/>
                <a:cs typeface="Cambria Math"/>
              </a:rPr>
              <a:t> </a:t>
            </a:r>
            <a:r>
              <a:rPr sz="2400" dirty="0">
                <a:solidFill>
                  <a:srgbClr val="FF0000"/>
                </a:solidFill>
                <a:latin typeface="Cambria Math"/>
                <a:cs typeface="Cambria Math"/>
              </a:rPr>
              <a:t>&lt;</a:t>
            </a:r>
            <a:r>
              <a:rPr sz="2400" spc="120" dirty="0">
                <a:solidFill>
                  <a:srgbClr val="FF0000"/>
                </a:solidFill>
                <a:latin typeface="Cambria Math"/>
                <a:cs typeface="Cambria Math"/>
              </a:rPr>
              <a:t> </a:t>
            </a:r>
            <a:r>
              <a:rPr sz="2400" dirty="0">
                <a:solidFill>
                  <a:srgbClr val="FF0000"/>
                </a:solidFill>
                <a:latin typeface="Cambria Math"/>
                <a:cs typeface="Cambria Math"/>
              </a:rPr>
              <a:t>𝑦</a:t>
            </a:r>
            <a:r>
              <a:rPr sz="2400" spc="10" dirty="0">
                <a:solidFill>
                  <a:srgbClr val="FF0000"/>
                </a:solidFill>
                <a:latin typeface="Cambria Math"/>
                <a:cs typeface="Cambria Math"/>
              </a:rPr>
              <a:t> </a:t>
            </a:r>
            <a:r>
              <a:rPr sz="2400" dirty="0">
                <a:solidFill>
                  <a:srgbClr val="FF0000"/>
                </a:solidFill>
                <a:latin typeface="Cambria Math"/>
                <a:cs typeface="Cambria Math"/>
              </a:rPr>
              <a:t>goto</a:t>
            </a:r>
            <a:r>
              <a:rPr sz="2400" spc="-20" dirty="0">
                <a:solidFill>
                  <a:srgbClr val="FF0000"/>
                </a:solidFill>
                <a:latin typeface="Cambria Math"/>
                <a:cs typeface="Cambria Math"/>
              </a:rPr>
              <a:t> </a:t>
            </a:r>
            <a:r>
              <a:rPr sz="2400" spc="-50" dirty="0">
                <a:solidFill>
                  <a:srgbClr val="FF0000"/>
                </a:solidFill>
                <a:latin typeface="Cambria Math"/>
                <a:cs typeface="Cambria Math"/>
              </a:rPr>
              <a:t>L</a:t>
            </a:r>
            <a:endParaRPr sz="2400" dirty="0">
              <a:solidFill>
                <a:sysClr val="windowText" lastClr="000000"/>
              </a:solidFill>
              <a:latin typeface="Cambria Math"/>
              <a:cs typeface="Cambria Math"/>
            </a:endParaRPr>
          </a:p>
        </p:txBody>
      </p:sp>
      <p:sp>
        <p:nvSpPr>
          <p:cNvPr id="13" name="object 4">
            <a:extLst>
              <a:ext uri="{FF2B5EF4-FFF2-40B4-BE49-F238E27FC236}">
                <a16:creationId xmlns:a16="http://schemas.microsoft.com/office/drawing/2014/main" id="{033BC82D-4188-5631-A161-AA13DAEC3514}"/>
              </a:ext>
            </a:extLst>
          </p:cNvPr>
          <p:cNvSpPr txBox="1"/>
          <p:nvPr/>
        </p:nvSpPr>
        <p:spPr>
          <a:xfrm>
            <a:off x="707390" y="1590547"/>
            <a:ext cx="1212215" cy="391160"/>
          </a:xfrm>
          <a:prstGeom prst="rect">
            <a:avLst/>
          </a:prstGeom>
        </p:spPr>
        <p:txBody>
          <a:bodyPr vert="horz" wrap="square" lIns="0" tIns="12700" rIns="0" bIns="0" rtlCol="0">
            <a:spAutoFit/>
          </a:bodyPr>
          <a:lstStyle/>
          <a:p>
            <a:pPr marL="241935" indent="-229235">
              <a:spcBef>
                <a:spcPts val="100"/>
              </a:spcBef>
              <a:buClr>
                <a:srgbClr val="000000"/>
              </a:buClr>
              <a:buFont typeface="Arial MT"/>
              <a:buChar char="•"/>
              <a:tabLst>
                <a:tab pos="241935" algn="l"/>
              </a:tabLst>
            </a:pPr>
            <a:r>
              <a:rPr sz="2400" dirty="0">
                <a:solidFill>
                  <a:srgbClr val="FF0000"/>
                </a:solidFill>
                <a:latin typeface="Cambria Math"/>
                <a:cs typeface="Cambria Math"/>
              </a:rPr>
              <a:t>∗ 𝑝</a:t>
            </a:r>
            <a:r>
              <a:rPr sz="2400" spc="160" dirty="0">
                <a:solidFill>
                  <a:srgbClr val="FF0000"/>
                </a:solidFill>
                <a:latin typeface="Cambria Math"/>
                <a:cs typeface="Cambria Math"/>
              </a:rPr>
              <a:t> </a:t>
            </a:r>
            <a:r>
              <a:rPr sz="2400" dirty="0">
                <a:solidFill>
                  <a:srgbClr val="FF0000"/>
                </a:solidFill>
                <a:latin typeface="Cambria Math"/>
                <a:cs typeface="Cambria Math"/>
              </a:rPr>
              <a:t>=</a:t>
            </a:r>
            <a:r>
              <a:rPr sz="2400" spc="125" dirty="0">
                <a:solidFill>
                  <a:srgbClr val="FF0000"/>
                </a:solidFill>
                <a:latin typeface="Cambria Math"/>
                <a:cs typeface="Cambria Math"/>
              </a:rPr>
              <a:t> </a:t>
            </a:r>
            <a:r>
              <a:rPr sz="2400" spc="-50" dirty="0">
                <a:solidFill>
                  <a:srgbClr val="FF0000"/>
                </a:solidFill>
                <a:latin typeface="Cambria Math"/>
                <a:cs typeface="Cambria Math"/>
              </a:rPr>
              <a:t>𝑦</a:t>
            </a:r>
            <a:endParaRPr sz="2400">
              <a:solidFill>
                <a:sysClr val="windowText" lastClr="000000"/>
              </a:solidFill>
              <a:latin typeface="Cambria Math"/>
              <a:cs typeface="Cambria Math"/>
            </a:endParaRPr>
          </a:p>
        </p:txBody>
      </p:sp>
      <p:pic>
        <p:nvPicPr>
          <p:cNvPr id="14" name="object 5">
            <a:extLst>
              <a:ext uri="{FF2B5EF4-FFF2-40B4-BE49-F238E27FC236}">
                <a16:creationId xmlns:a16="http://schemas.microsoft.com/office/drawing/2014/main" id="{EA926BA9-9B7F-D4C7-D478-1227FEE44CE4}"/>
              </a:ext>
            </a:extLst>
          </p:cNvPr>
          <p:cNvPicPr/>
          <p:nvPr/>
        </p:nvPicPr>
        <p:blipFill>
          <a:blip r:embed="rId3" cstate="print"/>
          <a:stretch>
            <a:fillRect/>
          </a:stretch>
        </p:blipFill>
        <p:spPr>
          <a:xfrm>
            <a:off x="927141" y="2328373"/>
            <a:ext cx="7534518" cy="894835"/>
          </a:xfrm>
          <a:prstGeom prst="rect">
            <a:avLst/>
          </a:prstGeom>
        </p:spPr>
      </p:pic>
      <p:pic>
        <p:nvPicPr>
          <p:cNvPr id="15" name="object 6">
            <a:extLst>
              <a:ext uri="{FF2B5EF4-FFF2-40B4-BE49-F238E27FC236}">
                <a16:creationId xmlns:a16="http://schemas.microsoft.com/office/drawing/2014/main" id="{328E9B1A-5254-9CE1-6730-13C23A9C80E2}"/>
              </a:ext>
            </a:extLst>
          </p:cNvPr>
          <p:cNvPicPr/>
          <p:nvPr/>
        </p:nvPicPr>
        <p:blipFill>
          <a:blip r:embed="rId4" cstate="print"/>
          <a:stretch>
            <a:fillRect/>
          </a:stretch>
        </p:blipFill>
        <p:spPr>
          <a:xfrm>
            <a:off x="907194" y="4415382"/>
            <a:ext cx="5500140" cy="1172575"/>
          </a:xfrm>
          <a:prstGeom prst="rect">
            <a:avLst/>
          </a:prstGeom>
        </p:spPr>
      </p:pic>
      <p:sp>
        <p:nvSpPr>
          <p:cNvPr id="16" name="object 7">
            <a:extLst>
              <a:ext uri="{FF2B5EF4-FFF2-40B4-BE49-F238E27FC236}">
                <a16:creationId xmlns:a16="http://schemas.microsoft.com/office/drawing/2014/main" id="{5E4647FD-8479-05A1-37FC-4CC279DDEADD}"/>
              </a:ext>
            </a:extLst>
          </p:cNvPr>
          <p:cNvSpPr txBox="1"/>
          <p:nvPr/>
        </p:nvSpPr>
        <p:spPr>
          <a:xfrm>
            <a:off x="907416" y="5765292"/>
            <a:ext cx="7896859" cy="482600"/>
          </a:xfrm>
          <a:prstGeom prst="rect">
            <a:avLst/>
          </a:prstGeom>
        </p:spPr>
        <p:txBody>
          <a:bodyPr vert="horz" wrap="square" lIns="0" tIns="12700" rIns="0" bIns="0" rtlCol="0">
            <a:spAutoFit/>
          </a:bodyPr>
          <a:lstStyle/>
          <a:p>
            <a:pPr marL="12700" marR="5080">
              <a:lnSpc>
                <a:spcPct val="107100"/>
              </a:lnSpc>
              <a:spcBef>
                <a:spcPts val="100"/>
              </a:spcBef>
            </a:pPr>
            <a:r>
              <a:rPr sz="1400" spc="-10" dirty="0">
                <a:solidFill>
                  <a:srgbClr val="A6A6A6"/>
                </a:solidFill>
                <a:latin typeface="Consolas"/>
                <a:cs typeface="Consolas"/>
              </a:rPr>
              <a:t>M</a:t>
            </a:r>
            <a:r>
              <a:rPr sz="1400" spc="-415" dirty="0">
                <a:solidFill>
                  <a:srgbClr val="A6A6A6"/>
                </a:solidFill>
                <a:latin typeface="Consolas"/>
                <a:cs typeface="Consolas"/>
              </a:rPr>
              <a:t> </a:t>
            </a:r>
            <a:r>
              <a:rPr sz="1400" dirty="0">
                <a:solidFill>
                  <a:srgbClr val="A6A6A6"/>
                </a:solidFill>
                <a:latin typeface="Palatino Linotype"/>
                <a:cs typeface="Palatino Linotype"/>
              </a:rPr>
              <a:t>is</a:t>
            </a:r>
            <a:r>
              <a:rPr sz="1400" spc="-65" dirty="0">
                <a:solidFill>
                  <a:srgbClr val="A6A6A6"/>
                </a:solidFill>
                <a:latin typeface="Palatino Linotype"/>
                <a:cs typeface="Palatino Linotype"/>
              </a:rPr>
              <a:t> </a:t>
            </a:r>
            <a:r>
              <a:rPr sz="1400" dirty="0">
                <a:solidFill>
                  <a:srgbClr val="A6A6A6"/>
                </a:solidFill>
                <a:latin typeface="Palatino Linotype"/>
                <a:cs typeface="Palatino Linotype"/>
              </a:rPr>
              <a:t>a</a:t>
            </a:r>
            <a:r>
              <a:rPr sz="1400" spc="-25" dirty="0">
                <a:solidFill>
                  <a:srgbClr val="A6A6A6"/>
                </a:solidFill>
                <a:latin typeface="Palatino Linotype"/>
                <a:cs typeface="Palatino Linotype"/>
              </a:rPr>
              <a:t> </a:t>
            </a:r>
            <a:r>
              <a:rPr sz="1400" dirty="0">
                <a:solidFill>
                  <a:srgbClr val="A6A6A6"/>
                </a:solidFill>
                <a:latin typeface="Palatino Linotype"/>
                <a:cs typeface="Palatino Linotype"/>
              </a:rPr>
              <a:t>label</a:t>
            </a:r>
            <a:r>
              <a:rPr sz="1400" spc="-25" dirty="0">
                <a:solidFill>
                  <a:srgbClr val="A6A6A6"/>
                </a:solidFill>
                <a:latin typeface="Palatino Linotype"/>
                <a:cs typeface="Palatino Linotype"/>
              </a:rPr>
              <a:t> </a:t>
            </a:r>
            <a:r>
              <a:rPr sz="1400" dirty="0">
                <a:solidFill>
                  <a:srgbClr val="A6A6A6"/>
                </a:solidFill>
                <a:latin typeface="Palatino Linotype"/>
                <a:cs typeface="Palatino Linotype"/>
              </a:rPr>
              <a:t>that</a:t>
            </a:r>
            <a:r>
              <a:rPr sz="1400" spc="-20" dirty="0">
                <a:solidFill>
                  <a:srgbClr val="A6A6A6"/>
                </a:solidFill>
                <a:latin typeface="Palatino Linotype"/>
                <a:cs typeface="Palatino Linotype"/>
              </a:rPr>
              <a:t> </a:t>
            </a:r>
            <a:r>
              <a:rPr sz="1400" dirty="0">
                <a:solidFill>
                  <a:srgbClr val="A6A6A6"/>
                </a:solidFill>
                <a:latin typeface="Palatino Linotype"/>
                <a:cs typeface="Palatino Linotype"/>
              </a:rPr>
              <a:t>represents</a:t>
            </a:r>
            <a:r>
              <a:rPr sz="1400" spc="-35" dirty="0">
                <a:solidFill>
                  <a:srgbClr val="A6A6A6"/>
                </a:solidFill>
                <a:latin typeface="Palatino Linotype"/>
                <a:cs typeface="Palatino Linotype"/>
              </a:rPr>
              <a:t> </a:t>
            </a:r>
            <a:r>
              <a:rPr sz="1400" dirty="0">
                <a:solidFill>
                  <a:srgbClr val="A6A6A6"/>
                </a:solidFill>
                <a:latin typeface="Palatino Linotype"/>
                <a:cs typeface="Palatino Linotype"/>
              </a:rPr>
              <a:t>the</a:t>
            </a:r>
            <a:r>
              <a:rPr sz="1400" spc="-25" dirty="0">
                <a:solidFill>
                  <a:srgbClr val="A6A6A6"/>
                </a:solidFill>
                <a:latin typeface="Palatino Linotype"/>
                <a:cs typeface="Palatino Linotype"/>
              </a:rPr>
              <a:t> </a:t>
            </a:r>
            <a:r>
              <a:rPr sz="1400" dirty="0">
                <a:solidFill>
                  <a:srgbClr val="A6A6A6"/>
                </a:solidFill>
                <a:latin typeface="Palatino Linotype"/>
                <a:cs typeface="Palatino Linotype"/>
              </a:rPr>
              <a:t>first</a:t>
            </a:r>
            <a:r>
              <a:rPr sz="1400" spc="-25" dirty="0">
                <a:solidFill>
                  <a:srgbClr val="A6A6A6"/>
                </a:solidFill>
                <a:latin typeface="Palatino Linotype"/>
                <a:cs typeface="Palatino Linotype"/>
              </a:rPr>
              <a:t> </a:t>
            </a:r>
            <a:r>
              <a:rPr sz="1400" dirty="0">
                <a:solidFill>
                  <a:srgbClr val="A6A6A6"/>
                </a:solidFill>
                <a:latin typeface="Palatino Linotype"/>
                <a:cs typeface="Palatino Linotype"/>
              </a:rPr>
              <a:t>machine</a:t>
            </a:r>
            <a:r>
              <a:rPr sz="1400" spc="-25" dirty="0">
                <a:solidFill>
                  <a:srgbClr val="A6A6A6"/>
                </a:solidFill>
                <a:latin typeface="Palatino Linotype"/>
                <a:cs typeface="Palatino Linotype"/>
              </a:rPr>
              <a:t> </a:t>
            </a:r>
            <a:r>
              <a:rPr sz="1400" dirty="0">
                <a:solidFill>
                  <a:srgbClr val="A6A6A6"/>
                </a:solidFill>
                <a:latin typeface="Palatino Linotype"/>
                <a:cs typeface="Palatino Linotype"/>
              </a:rPr>
              <a:t>instruction</a:t>
            </a:r>
            <a:r>
              <a:rPr sz="1400" spc="-30" dirty="0">
                <a:solidFill>
                  <a:srgbClr val="A6A6A6"/>
                </a:solidFill>
                <a:latin typeface="Palatino Linotype"/>
                <a:cs typeface="Palatino Linotype"/>
              </a:rPr>
              <a:t> </a:t>
            </a:r>
            <a:r>
              <a:rPr sz="1400" dirty="0">
                <a:solidFill>
                  <a:srgbClr val="A6A6A6"/>
                </a:solidFill>
                <a:latin typeface="Palatino Linotype"/>
                <a:cs typeface="Palatino Linotype"/>
              </a:rPr>
              <a:t>generated</a:t>
            </a:r>
            <a:r>
              <a:rPr sz="1400" spc="-35" dirty="0">
                <a:solidFill>
                  <a:srgbClr val="A6A6A6"/>
                </a:solidFill>
                <a:latin typeface="Palatino Linotype"/>
                <a:cs typeface="Palatino Linotype"/>
              </a:rPr>
              <a:t> </a:t>
            </a:r>
            <a:r>
              <a:rPr sz="1400" dirty="0">
                <a:solidFill>
                  <a:srgbClr val="A6A6A6"/>
                </a:solidFill>
                <a:latin typeface="Palatino Linotype"/>
                <a:cs typeface="Palatino Linotype"/>
              </a:rPr>
              <a:t>from</a:t>
            </a:r>
            <a:r>
              <a:rPr sz="1400" spc="-30" dirty="0">
                <a:solidFill>
                  <a:srgbClr val="A6A6A6"/>
                </a:solidFill>
                <a:latin typeface="Palatino Linotype"/>
                <a:cs typeface="Palatino Linotype"/>
              </a:rPr>
              <a:t> </a:t>
            </a:r>
            <a:r>
              <a:rPr sz="1400" dirty="0">
                <a:solidFill>
                  <a:srgbClr val="A6A6A6"/>
                </a:solidFill>
                <a:latin typeface="Palatino Linotype"/>
                <a:cs typeface="Palatino Linotype"/>
              </a:rPr>
              <a:t>the</a:t>
            </a:r>
            <a:r>
              <a:rPr sz="1400" spc="-25" dirty="0">
                <a:solidFill>
                  <a:srgbClr val="A6A6A6"/>
                </a:solidFill>
                <a:latin typeface="Palatino Linotype"/>
                <a:cs typeface="Palatino Linotype"/>
              </a:rPr>
              <a:t> </a:t>
            </a:r>
            <a:r>
              <a:rPr sz="1400" spc="-10" dirty="0">
                <a:solidFill>
                  <a:srgbClr val="A6A6A6"/>
                </a:solidFill>
                <a:latin typeface="Palatino Linotype"/>
                <a:cs typeface="Palatino Linotype"/>
              </a:rPr>
              <a:t>three-</a:t>
            </a:r>
            <a:r>
              <a:rPr sz="1400" dirty="0">
                <a:solidFill>
                  <a:srgbClr val="A6A6A6"/>
                </a:solidFill>
                <a:latin typeface="Palatino Linotype"/>
                <a:cs typeface="Palatino Linotype"/>
              </a:rPr>
              <a:t>address</a:t>
            </a:r>
            <a:r>
              <a:rPr sz="1400" spc="-35" dirty="0">
                <a:solidFill>
                  <a:srgbClr val="A6A6A6"/>
                </a:solidFill>
                <a:latin typeface="Palatino Linotype"/>
                <a:cs typeface="Palatino Linotype"/>
              </a:rPr>
              <a:t> </a:t>
            </a:r>
            <a:r>
              <a:rPr sz="1400" spc="-10" dirty="0">
                <a:solidFill>
                  <a:srgbClr val="A6A6A6"/>
                </a:solidFill>
                <a:latin typeface="Palatino Linotype"/>
                <a:cs typeface="Palatino Linotype"/>
              </a:rPr>
              <a:t>instruction </a:t>
            </a:r>
            <a:r>
              <a:rPr sz="1400" dirty="0">
                <a:solidFill>
                  <a:srgbClr val="A6A6A6"/>
                </a:solidFill>
                <a:latin typeface="Palatino Linotype"/>
                <a:cs typeface="Palatino Linotype"/>
              </a:rPr>
              <a:t>that</a:t>
            </a:r>
            <a:r>
              <a:rPr sz="1400" spc="-20" dirty="0">
                <a:solidFill>
                  <a:srgbClr val="A6A6A6"/>
                </a:solidFill>
                <a:latin typeface="Palatino Linotype"/>
                <a:cs typeface="Palatino Linotype"/>
              </a:rPr>
              <a:t> </a:t>
            </a:r>
            <a:r>
              <a:rPr sz="1400" dirty="0">
                <a:solidFill>
                  <a:srgbClr val="A6A6A6"/>
                </a:solidFill>
                <a:latin typeface="Palatino Linotype"/>
                <a:cs typeface="Palatino Linotype"/>
              </a:rPr>
              <a:t>has</a:t>
            </a:r>
            <a:r>
              <a:rPr sz="1400" spc="-35" dirty="0">
                <a:solidFill>
                  <a:srgbClr val="A6A6A6"/>
                </a:solidFill>
                <a:latin typeface="Palatino Linotype"/>
                <a:cs typeface="Palatino Linotype"/>
              </a:rPr>
              <a:t> </a:t>
            </a:r>
            <a:r>
              <a:rPr sz="1400" dirty="0">
                <a:solidFill>
                  <a:srgbClr val="A6A6A6"/>
                </a:solidFill>
                <a:latin typeface="Palatino Linotype"/>
                <a:cs typeface="Palatino Linotype"/>
              </a:rPr>
              <a:t>label</a:t>
            </a:r>
            <a:r>
              <a:rPr sz="1400" spc="-15" dirty="0">
                <a:solidFill>
                  <a:srgbClr val="A6A6A6"/>
                </a:solidFill>
                <a:latin typeface="Palatino Linotype"/>
                <a:cs typeface="Palatino Linotype"/>
              </a:rPr>
              <a:t> </a:t>
            </a:r>
            <a:r>
              <a:rPr sz="1400" spc="-50" dirty="0">
                <a:solidFill>
                  <a:srgbClr val="A6A6A6"/>
                </a:solidFill>
                <a:latin typeface="Palatino Linotype"/>
                <a:cs typeface="Palatino Linotype"/>
              </a:rPr>
              <a:t>L</a:t>
            </a:r>
            <a:endParaRPr sz="1400">
              <a:solidFill>
                <a:sysClr val="windowText" lastClr="000000"/>
              </a:solidFill>
              <a:latin typeface="Palatino Linotype"/>
              <a:cs typeface="Palatino Linotype"/>
            </a:endParaRPr>
          </a:p>
        </p:txBody>
      </p:sp>
    </p:spTree>
    <p:extLst>
      <p:ext uri="{BB962C8B-B14F-4D97-AF65-F5344CB8AC3E}">
        <p14:creationId xmlns:p14="http://schemas.microsoft.com/office/powerpoint/2010/main" val="7777136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12</a:t>
            </a:fld>
            <a:endParaRPr lang="en-US"/>
          </a:p>
        </p:txBody>
      </p:sp>
      <p:sp>
        <p:nvSpPr>
          <p:cNvPr id="7" name="object 2">
            <a:extLst>
              <a:ext uri="{FF2B5EF4-FFF2-40B4-BE49-F238E27FC236}">
                <a16:creationId xmlns:a16="http://schemas.microsoft.com/office/drawing/2014/main" id="{53396F27-E2FC-6B87-5069-B6187B93709D}"/>
              </a:ext>
            </a:extLst>
          </p:cNvPr>
          <p:cNvSpPr txBox="1">
            <a:spLocks/>
          </p:cNvSpPr>
          <p:nvPr/>
        </p:nvSpPr>
        <p:spPr>
          <a:xfrm>
            <a:off x="707390" y="524763"/>
            <a:ext cx="7729219" cy="63500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4000" b="1" i="0" u="none" strike="noStrike" kern="0" cap="none" spc="-10" normalizeH="0" baseline="0" noProof="0">
                <a:ln>
                  <a:noFill/>
                </a:ln>
                <a:solidFill>
                  <a:sysClr val="windowText" lastClr="000000"/>
                </a:solidFill>
                <a:effectLst/>
                <a:uLnTx/>
                <a:uFillTx/>
                <a:latin typeface="Palatino Linotype"/>
                <a:ea typeface="+mj-ea"/>
              </a:rPr>
              <a:t>Outline</a:t>
            </a:r>
            <a:endParaRPr kumimoji="0" lang="en-US" sz="4000" b="1" i="0" u="none" strike="noStrike" kern="0" cap="none" spc="-10" normalizeH="0" baseline="0" noProof="0" dirty="0">
              <a:ln>
                <a:noFill/>
              </a:ln>
              <a:solidFill>
                <a:sysClr val="windowText" lastClr="000000"/>
              </a:solidFill>
              <a:effectLst/>
              <a:uLnTx/>
              <a:uFillTx/>
              <a:latin typeface="Palatino Linotype"/>
              <a:ea typeface="+mj-ea"/>
            </a:endParaRPr>
          </a:p>
        </p:txBody>
      </p:sp>
      <p:sp>
        <p:nvSpPr>
          <p:cNvPr id="8" name="object 3">
            <a:extLst>
              <a:ext uri="{FF2B5EF4-FFF2-40B4-BE49-F238E27FC236}">
                <a16:creationId xmlns:a16="http://schemas.microsoft.com/office/drawing/2014/main" id="{F5EBBB53-D725-B535-B1CF-83BC38C0C860}"/>
              </a:ext>
            </a:extLst>
          </p:cNvPr>
          <p:cNvSpPr txBox="1"/>
          <p:nvPr/>
        </p:nvSpPr>
        <p:spPr>
          <a:xfrm>
            <a:off x="707390" y="1631188"/>
            <a:ext cx="4697730" cy="4146550"/>
          </a:xfrm>
          <a:prstGeom prst="rect">
            <a:avLst/>
          </a:prstGeom>
        </p:spPr>
        <p:txBody>
          <a:bodyPr vert="horz" wrap="square" lIns="0" tIns="12700" rIns="0" bIns="0" rtlCol="0">
            <a:spAutoFit/>
          </a:bodyPr>
          <a:lstStyle/>
          <a:p>
            <a:pPr marL="242570" indent="-229870">
              <a:spcBef>
                <a:spcPts val="100"/>
              </a:spcBef>
              <a:buClr>
                <a:srgbClr val="000000"/>
              </a:buClr>
              <a:buFont typeface="Arial MT"/>
              <a:buChar char="•"/>
              <a:tabLst>
                <a:tab pos="242570" algn="l"/>
              </a:tabLst>
            </a:pPr>
            <a:r>
              <a:rPr sz="2200" dirty="0">
                <a:solidFill>
                  <a:srgbClr val="A6A6A6"/>
                </a:solidFill>
                <a:latin typeface="Palatino Linotype"/>
                <a:cs typeface="Palatino Linotype"/>
              </a:rPr>
              <a:t>Design</a:t>
            </a:r>
            <a:r>
              <a:rPr sz="2200" spc="-45" dirty="0">
                <a:solidFill>
                  <a:srgbClr val="A6A6A6"/>
                </a:solidFill>
                <a:latin typeface="Palatino Linotype"/>
                <a:cs typeface="Palatino Linotype"/>
              </a:rPr>
              <a:t> </a:t>
            </a:r>
            <a:r>
              <a:rPr sz="2200" spc="-10" dirty="0">
                <a:solidFill>
                  <a:srgbClr val="A6A6A6"/>
                </a:solidFill>
                <a:latin typeface="Palatino Linotype"/>
                <a:cs typeface="Palatino Linotype"/>
              </a:rPr>
              <a:t>Issues</a:t>
            </a:r>
            <a:endParaRPr sz="2200">
              <a:solidFill>
                <a:sysClr val="windowText" lastClr="000000"/>
              </a:solidFill>
              <a:latin typeface="Palatino Linotype"/>
              <a:cs typeface="Palatino Linotype"/>
            </a:endParaRPr>
          </a:p>
          <a:p>
            <a:pPr marL="242570" indent="-229870">
              <a:spcBef>
                <a:spcPts val="2255"/>
              </a:spcBef>
              <a:buClr>
                <a:srgbClr val="000000"/>
              </a:buClr>
              <a:buFont typeface="Arial MT"/>
              <a:buChar char="•"/>
              <a:tabLst>
                <a:tab pos="242570" algn="l"/>
              </a:tabLst>
            </a:pPr>
            <a:r>
              <a:rPr sz="2200" dirty="0">
                <a:solidFill>
                  <a:srgbClr val="A6A6A6"/>
                </a:solidFill>
                <a:latin typeface="Palatino Linotype"/>
                <a:cs typeface="Palatino Linotype"/>
              </a:rPr>
              <a:t>The</a:t>
            </a:r>
            <a:r>
              <a:rPr sz="2200" spc="-55" dirty="0">
                <a:solidFill>
                  <a:srgbClr val="A6A6A6"/>
                </a:solidFill>
                <a:latin typeface="Palatino Linotype"/>
                <a:cs typeface="Palatino Linotype"/>
              </a:rPr>
              <a:t> </a:t>
            </a:r>
            <a:r>
              <a:rPr sz="2200" spc="-25" dirty="0">
                <a:solidFill>
                  <a:srgbClr val="A6A6A6"/>
                </a:solidFill>
                <a:latin typeface="Palatino Linotype"/>
                <a:cs typeface="Palatino Linotype"/>
              </a:rPr>
              <a:t>Target</a:t>
            </a:r>
            <a:r>
              <a:rPr sz="2200" spc="-55" dirty="0">
                <a:solidFill>
                  <a:srgbClr val="A6A6A6"/>
                </a:solidFill>
                <a:latin typeface="Palatino Linotype"/>
                <a:cs typeface="Palatino Linotype"/>
              </a:rPr>
              <a:t> </a:t>
            </a:r>
            <a:r>
              <a:rPr sz="2200" spc="-10" dirty="0">
                <a:solidFill>
                  <a:srgbClr val="A6A6A6"/>
                </a:solidFill>
                <a:latin typeface="Palatino Linotype"/>
                <a:cs typeface="Palatino Linotype"/>
              </a:rPr>
              <a:t>Language</a:t>
            </a:r>
            <a:endParaRPr sz="2200">
              <a:solidFill>
                <a:sysClr val="windowText" lastClr="000000"/>
              </a:solidFill>
              <a:latin typeface="Palatino Linotype"/>
              <a:cs typeface="Palatino Linotype"/>
            </a:endParaRPr>
          </a:p>
          <a:p>
            <a:pPr marL="242570" indent="-229870">
              <a:spcBef>
                <a:spcPts val="2350"/>
              </a:spcBef>
              <a:buFont typeface="Arial MT"/>
              <a:buChar char="•"/>
              <a:tabLst>
                <a:tab pos="242570" algn="l"/>
              </a:tabLst>
            </a:pPr>
            <a:r>
              <a:rPr sz="2200" dirty="0">
                <a:solidFill>
                  <a:sysClr val="windowText" lastClr="000000"/>
                </a:solidFill>
                <a:latin typeface="Palatino Linotype"/>
                <a:cs typeface="Palatino Linotype"/>
              </a:rPr>
              <a:t>Addresses</a:t>
            </a:r>
            <a:r>
              <a:rPr sz="2200" spc="-40" dirty="0">
                <a:solidFill>
                  <a:sysClr val="windowText" lastClr="000000"/>
                </a:solidFill>
                <a:latin typeface="Palatino Linotype"/>
                <a:cs typeface="Palatino Linotype"/>
              </a:rPr>
              <a:t> </a:t>
            </a:r>
            <a:r>
              <a:rPr sz="2200" dirty="0">
                <a:solidFill>
                  <a:sysClr val="windowText" lastClr="000000"/>
                </a:solidFill>
                <a:latin typeface="Palatino Linotype"/>
                <a:cs typeface="Palatino Linotype"/>
              </a:rPr>
              <a:t>in</a:t>
            </a:r>
            <a:r>
              <a:rPr sz="2200" spc="-50" dirty="0">
                <a:solidFill>
                  <a:sysClr val="windowText" lastClr="000000"/>
                </a:solidFill>
                <a:latin typeface="Palatino Linotype"/>
                <a:cs typeface="Palatino Linotype"/>
              </a:rPr>
              <a:t> </a:t>
            </a:r>
            <a:r>
              <a:rPr sz="2200" dirty="0">
                <a:solidFill>
                  <a:sysClr val="windowText" lastClr="000000"/>
                </a:solidFill>
                <a:latin typeface="Palatino Linotype"/>
                <a:cs typeface="Palatino Linotype"/>
              </a:rPr>
              <a:t>the</a:t>
            </a:r>
            <a:r>
              <a:rPr sz="2200" spc="-45" dirty="0">
                <a:solidFill>
                  <a:sysClr val="windowText" lastClr="000000"/>
                </a:solidFill>
                <a:latin typeface="Palatino Linotype"/>
                <a:cs typeface="Palatino Linotype"/>
              </a:rPr>
              <a:t> </a:t>
            </a:r>
            <a:r>
              <a:rPr sz="2200" spc="-25" dirty="0">
                <a:solidFill>
                  <a:sysClr val="windowText" lastClr="000000"/>
                </a:solidFill>
                <a:latin typeface="Palatino Linotype"/>
                <a:cs typeface="Palatino Linotype"/>
              </a:rPr>
              <a:t>Target</a:t>
            </a:r>
            <a:r>
              <a:rPr sz="2200" spc="-45" dirty="0">
                <a:solidFill>
                  <a:sysClr val="windowText" lastClr="000000"/>
                </a:solidFill>
                <a:latin typeface="Palatino Linotype"/>
                <a:cs typeface="Palatino Linotype"/>
              </a:rPr>
              <a:t> </a:t>
            </a:r>
            <a:r>
              <a:rPr sz="2200" spc="-20" dirty="0">
                <a:solidFill>
                  <a:sysClr val="windowText" lastClr="000000"/>
                </a:solidFill>
                <a:latin typeface="Palatino Linotype"/>
                <a:cs typeface="Palatino Linotype"/>
              </a:rPr>
              <a:t>Code</a:t>
            </a:r>
            <a:endParaRPr sz="2200">
              <a:solidFill>
                <a:sysClr val="windowText" lastClr="000000"/>
              </a:solidFill>
              <a:latin typeface="Palatino Linotype"/>
              <a:cs typeface="Palatino Linotype"/>
            </a:endParaRPr>
          </a:p>
          <a:p>
            <a:pPr marL="242570" indent="-229870">
              <a:spcBef>
                <a:spcPts val="2375"/>
              </a:spcBef>
              <a:buClr>
                <a:srgbClr val="000000"/>
              </a:buClr>
              <a:buFont typeface="Arial MT"/>
              <a:buChar char="•"/>
              <a:tabLst>
                <a:tab pos="242570" algn="l"/>
              </a:tabLst>
            </a:pPr>
            <a:r>
              <a:rPr sz="2200" dirty="0">
                <a:solidFill>
                  <a:srgbClr val="A6A6A6"/>
                </a:solidFill>
                <a:latin typeface="Palatino Linotype"/>
                <a:cs typeface="Palatino Linotype"/>
              </a:rPr>
              <a:t>Basic</a:t>
            </a:r>
            <a:r>
              <a:rPr sz="2200" spc="-45" dirty="0">
                <a:solidFill>
                  <a:srgbClr val="A6A6A6"/>
                </a:solidFill>
                <a:latin typeface="Palatino Linotype"/>
                <a:cs typeface="Palatino Linotype"/>
              </a:rPr>
              <a:t> </a:t>
            </a:r>
            <a:r>
              <a:rPr sz="2200" dirty="0">
                <a:solidFill>
                  <a:srgbClr val="A6A6A6"/>
                </a:solidFill>
                <a:latin typeface="Palatino Linotype"/>
                <a:cs typeface="Palatino Linotype"/>
              </a:rPr>
              <a:t>Blocks</a:t>
            </a:r>
            <a:r>
              <a:rPr sz="2200" spc="-30" dirty="0">
                <a:solidFill>
                  <a:srgbClr val="A6A6A6"/>
                </a:solidFill>
                <a:latin typeface="Palatino Linotype"/>
                <a:cs typeface="Palatino Linotype"/>
              </a:rPr>
              <a:t> </a:t>
            </a:r>
            <a:r>
              <a:rPr sz="2200" dirty="0">
                <a:solidFill>
                  <a:srgbClr val="A6A6A6"/>
                </a:solidFill>
                <a:latin typeface="Palatino Linotype"/>
                <a:cs typeface="Palatino Linotype"/>
              </a:rPr>
              <a:t>and</a:t>
            </a:r>
            <a:r>
              <a:rPr sz="2200" spc="-30" dirty="0">
                <a:solidFill>
                  <a:srgbClr val="A6A6A6"/>
                </a:solidFill>
                <a:latin typeface="Palatino Linotype"/>
                <a:cs typeface="Palatino Linotype"/>
              </a:rPr>
              <a:t> </a:t>
            </a:r>
            <a:r>
              <a:rPr sz="2200" dirty="0">
                <a:solidFill>
                  <a:srgbClr val="A6A6A6"/>
                </a:solidFill>
                <a:latin typeface="Palatino Linotype"/>
                <a:cs typeface="Palatino Linotype"/>
              </a:rPr>
              <a:t>Flow</a:t>
            </a:r>
            <a:r>
              <a:rPr sz="2200" spc="-35" dirty="0">
                <a:solidFill>
                  <a:srgbClr val="A6A6A6"/>
                </a:solidFill>
                <a:latin typeface="Palatino Linotype"/>
                <a:cs typeface="Palatino Linotype"/>
              </a:rPr>
              <a:t> </a:t>
            </a:r>
            <a:r>
              <a:rPr sz="2200" spc="-10" dirty="0">
                <a:solidFill>
                  <a:srgbClr val="A6A6A6"/>
                </a:solidFill>
                <a:latin typeface="Palatino Linotype"/>
                <a:cs typeface="Palatino Linotype"/>
              </a:rPr>
              <a:t>Graph</a:t>
            </a:r>
            <a:endParaRPr sz="2200">
              <a:solidFill>
                <a:sysClr val="windowText" lastClr="000000"/>
              </a:solidFill>
              <a:latin typeface="Palatino Linotype"/>
              <a:cs typeface="Palatino Linotype"/>
            </a:endParaRPr>
          </a:p>
          <a:p>
            <a:pPr marL="242570" indent="-229870">
              <a:spcBef>
                <a:spcPts val="2260"/>
              </a:spcBef>
              <a:buClr>
                <a:srgbClr val="000000"/>
              </a:buClr>
              <a:buFont typeface="Arial MT"/>
              <a:buChar char="•"/>
              <a:tabLst>
                <a:tab pos="242570" algn="l"/>
              </a:tabLst>
            </a:pPr>
            <a:r>
              <a:rPr sz="2200" dirty="0">
                <a:solidFill>
                  <a:srgbClr val="A6A6A6"/>
                </a:solidFill>
                <a:latin typeface="Palatino Linotype"/>
                <a:cs typeface="Palatino Linotype"/>
              </a:rPr>
              <a:t>Optimization</a:t>
            </a:r>
            <a:r>
              <a:rPr sz="2200" spc="-45" dirty="0">
                <a:solidFill>
                  <a:srgbClr val="A6A6A6"/>
                </a:solidFill>
                <a:latin typeface="Palatino Linotype"/>
                <a:cs typeface="Palatino Linotype"/>
              </a:rPr>
              <a:t> </a:t>
            </a:r>
            <a:r>
              <a:rPr sz="2200" dirty="0">
                <a:solidFill>
                  <a:srgbClr val="A6A6A6"/>
                </a:solidFill>
                <a:latin typeface="Palatino Linotype"/>
                <a:cs typeface="Palatino Linotype"/>
              </a:rPr>
              <a:t>of</a:t>
            </a:r>
            <a:r>
              <a:rPr sz="2200" spc="-35" dirty="0">
                <a:solidFill>
                  <a:srgbClr val="A6A6A6"/>
                </a:solidFill>
                <a:latin typeface="Palatino Linotype"/>
                <a:cs typeface="Palatino Linotype"/>
              </a:rPr>
              <a:t> </a:t>
            </a:r>
            <a:r>
              <a:rPr sz="2200" dirty="0">
                <a:solidFill>
                  <a:srgbClr val="A6A6A6"/>
                </a:solidFill>
                <a:latin typeface="Palatino Linotype"/>
                <a:cs typeface="Palatino Linotype"/>
              </a:rPr>
              <a:t>Basic</a:t>
            </a:r>
            <a:r>
              <a:rPr sz="2200" spc="-40" dirty="0">
                <a:solidFill>
                  <a:srgbClr val="A6A6A6"/>
                </a:solidFill>
                <a:latin typeface="Palatino Linotype"/>
                <a:cs typeface="Palatino Linotype"/>
              </a:rPr>
              <a:t> </a:t>
            </a:r>
            <a:r>
              <a:rPr sz="2200" spc="-10" dirty="0">
                <a:solidFill>
                  <a:srgbClr val="A6A6A6"/>
                </a:solidFill>
                <a:latin typeface="Palatino Linotype"/>
                <a:cs typeface="Palatino Linotype"/>
              </a:rPr>
              <a:t>Blocks</a:t>
            </a:r>
            <a:endParaRPr sz="2200">
              <a:solidFill>
                <a:sysClr val="windowText" lastClr="000000"/>
              </a:solidFill>
              <a:latin typeface="Palatino Linotype"/>
              <a:cs typeface="Palatino Linotype"/>
            </a:endParaRPr>
          </a:p>
          <a:p>
            <a:pPr marL="242570" indent="-229870">
              <a:spcBef>
                <a:spcPts val="2350"/>
              </a:spcBef>
              <a:buClr>
                <a:srgbClr val="000000"/>
              </a:buClr>
              <a:buFont typeface="Arial MT"/>
              <a:buChar char="•"/>
              <a:tabLst>
                <a:tab pos="242570" algn="l"/>
              </a:tabLst>
            </a:pPr>
            <a:r>
              <a:rPr sz="2200" spc="-20" dirty="0">
                <a:solidFill>
                  <a:srgbClr val="A6A6A6"/>
                </a:solidFill>
                <a:latin typeface="Palatino Linotype"/>
                <a:cs typeface="Palatino Linotype"/>
              </a:rPr>
              <a:t>A</a:t>
            </a:r>
            <a:r>
              <a:rPr sz="2200" spc="-125" dirty="0">
                <a:solidFill>
                  <a:srgbClr val="A6A6A6"/>
                </a:solidFill>
                <a:latin typeface="Palatino Linotype"/>
                <a:cs typeface="Palatino Linotype"/>
              </a:rPr>
              <a:t> </a:t>
            </a:r>
            <a:r>
              <a:rPr sz="2200" dirty="0">
                <a:solidFill>
                  <a:srgbClr val="A6A6A6"/>
                </a:solidFill>
                <a:latin typeface="Palatino Linotype"/>
                <a:cs typeface="Palatino Linotype"/>
              </a:rPr>
              <a:t>Simple</a:t>
            </a:r>
            <a:r>
              <a:rPr sz="2200" spc="-45" dirty="0">
                <a:solidFill>
                  <a:srgbClr val="A6A6A6"/>
                </a:solidFill>
                <a:latin typeface="Palatino Linotype"/>
                <a:cs typeface="Palatino Linotype"/>
              </a:rPr>
              <a:t> </a:t>
            </a:r>
            <a:r>
              <a:rPr sz="2200" dirty="0">
                <a:solidFill>
                  <a:srgbClr val="A6A6A6"/>
                </a:solidFill>
                <a:latin typeface="Palatino Linotype"/>
                <a:cs typeface="Palatino Linotype"/>
              </a:rPr>
              <a:t>Code</a:t>
            </a:r>
            <a:r>
              <a:rPr sz="2200" spc="-25" dirty="0">
                <a:solidFill>
                  <a:srgbClr val="A6A6A6"/>
                </a:solidFill>
                <a:latin typeface="Palatino Linotype"/>
                <a:cs typeface="Palatino Linotype"/>
              </a:rPr>
              <a:t> </a:t>
            </a:r>
            <a:r>
              <a:rPr sz="2200" spc="-10" dirty="0">
                <a:solidFill>
                  <a:srgbClr val="A6A6A6"/>
                </a:solidFill>
                <a:latin typeface="Palatino Linotype"/>
                <a:cs typeface="Palatino Linotype"/>
              </a:rPr>
              <a:t>Generator</a:t>
            </a:r>
            <a:endParaRPr sz="2200">
              <a:solidFill>
                <a:sysClr val="windowText" lastClr="000000"/>
              </a:solidFill>
              <a:latin typeface="Palatino Linotype"/>
              <a:cs typeface="Palatino Linotype"/>
            </a:endParaRPr>
          </a:p>
          <a:p>
            <a:pPr marL="242570" indent="-229870">
              <a:spcBef>
                <a:spcPts val="2375"/>
              </a:spcBef>
              <a:buClr>
                <a:srgbClr val="000000"/>
              </a:buClr>
              <a:buFont typeface="Arial MT"/>
              <a:buChar char="•"/>
              <a:tabLst>
                <a:tab pos="242570" algn="l"/>
              </a:tabLst>
            </a:pPr>
            <a:r>
              <a:rPr sz="2200" dirty="0">
                <a:solidFill>
                  <a:srgbClr val="A6A6A6"/>
                </a:solidFill>
                <a:latin typeface="Palatino Linotype"/>
                <a:cs typeface="Palatino Linotype"/>
              </a:rPr>
              <a:t>Register</a:t>
            </a:r>
            <a:r>
              <a:rPr sz="2200" spc="-120" dirty="0">
                <a:solidFill>
                  <a:srgbClr val="A6A6A6"/>
                </a:solidFill>
                <a:latin typeface="Palatino Linotype"/>
                <a:cs typeface="Palatino Linotype"/>
              </a:rPr>
              <a:t> </a:t>
            </a:r>
            <a:r>
              <a:rPr sz="2200" dirty="0">
                <a:solidFill>
                  <a:srgbClr val="A6A6A6"/>
                </a:solidFill>
                <a:latin typeface="Palatino Linotype"/>
                <a:cs typeface="Palatino Linotype"/>
              </a:rPr>
              <a:t>Allocation</a:t>
            </a:r>
            <a:r>
              <a:rPr sz="2200" spc="-65" dirty="0">
                <a:solidFill>
                  <a:srgbClr val="A6A6A6"/>
                </a:solidFill>
                <a:latin typeface="Palatino Linotype"/>
                <a:cs typeface="Palatino Linotype"/>
              </a:rPr>
              <a:t> </a:t>
            </a:r>
            <a:r>
              <a:rPr sz="2200" dirty="0">
                <a:solidFill>
                  <a:srgbClr val="A6A6A6"/>
                </a:solidFill>
                <a:latin typeface="Palatino Linotype"/>
                <a:cs typeface="Palatino Linotype"/>
              </a:rPr>
              <a:t>and</a:t>
            </a:r>
            <a:r>
              <a:rPr sz="2200" spc="-120" dirty="0">
                <a:solidFill>
                  <a:srgbClr val="A6A6A6"/>
                </a:solidFill>
                <a:latin typeface="Palatino Linotype"/>
                <a:cs typeface="Palatino Linotype"/>
              </a:rPr>
              <a:t> </a:t>
            </a:r>
            <a:r>
              <a:rPr sz="2200" spc="-10" dirty="0">
                <a:solidFill>
                  <a:srgbClr val="A6A6A6"/>
                </a:solidFill>
                <a:latin typeface="Palatino Linotype"/>
                <a:cs typeface="Palatino Linotype"/>
              </a:rPr>
              <a:t>Assignment</a:t>
            </a:r>
            <a:endParaRPr sz="2200">
              <a:solidFill>
                <a:sysClr val="windowText" lastClr="000000"/>
              </a:solidFill>
              <a:latin typeface="Palatino Linotype"/>
              <a:cs typeface="Palatino Linotype"/>
            </a:endParaRPr>
          </a:p>
        </p:txBody>
      </p:sp>
    </p:spTree>
    <p:extLst>
      <p:ext uri="{BB962C8B-B14F-4D97-AF65-F5344CB8AC3E}">
        <p14:creationId xmlns:p14="http://schemas.microsoft.com/office/powerpoint/2010/main" val="23183229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13</a:t>
            </a:fld>
            <a:endParaRPr lang="en-US"/>
          </a:p>
        </p:txBody>
      </p:sp>
      <p:sp>
        <p:nvSpPr>
          <p:cNvPr id="7" name="object 2">
            <a:extLst>
              <a:ext uri="{FF2B5EF4-FFF2-40B4-BE49-F238E27FC236}">
                <a16:creationId xmlns:a16="http://schemas.microsoft.com/office/drawing/2014/main" id="{D02FF67C-4B8E-97BC-42F3-02D344A56B94}"/>
              </a:ext>
            </a:extLst>
          </p:cNvPr>
          <p:cNvSpPr txBox="1">
            <a:spLocks/>
          </p:cNvSpPr>
          <p:nvPr/>
        </p:nvSpPr>
        <p:spPr>
          <a:xfrm>
            <a:off x="707390" y="524763"/>
            <a:ext cx="7729219" cy="63500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4000" b="1" i="0" u="none" strike="noStrike" kern="0" cap="none" spc="0" normalizeH="0" baseline="0" noProof="0">
                <a:ln>
                  <a:noFill/>
                </a:ln>
                <a:solidFill>
                  <a:sysClr val="windowText" lastClr="000000"/>
                </a:solidFill>
                <a:effectLst/>
                <a:uLnTx/>
                <a:uFillTx/>
                <a:latin typeface="Palatino Linotype"/>
                <a:ea typeface="+mj-ea"/>
              </a:rPr>
              <a:t>Addresses</a:t>
            </a:r>
            <a:r>
              <a:rPr kumimoji="0" lang="en-US" sz="4000" b="1" i="0" u="none" strike="noStrike" kern="0" cap="none" spc="-80" normalizeH="0" baseline="0" noProof="0">
                <a:ln>
                  <a:noFill/>
                </a:ln>
                <a:solidFill>
                  <a:sysClr val="windowText" lastClr="000000"/>
                </a:solidFill>
                <a:effectLst/>
                <a:uLnTx/>
                <a:uFillTx/>
                <a:latin typeface="Palatino Linotype"/>
                <a:ea typeface="+mj-ea"/>
              </a:rPr>
              <a:t> </a:t>
            </a:r>
            <a:r>
              <a:rPr kumimoji="0" lang="en-US" sz="4000" b="1" i="0" u="none" strike="noStrike" kern="0" cap="none" spc="0" normalizeH="0" baseline="0" noProof="0">
                <a:ln>
                  <a:noFill/>
                </a:ln>
                <a:solidFill>
                  <a:sysClr val="windowText" lastClr="000000"/>
                </a:solidFill>
                <a:effectLst/>
                <a:uLnTx/>
                <a:uFillTx/>
                <a:latin typeface="Palatino Linotype"/>
                <a:ea typeface="+mj-ea"/>
              </a:rPr>
              <a:t>in</a:t>
            </a:r>
            <a:r>
              <a:rPr kumimoji="0" lang="en-US" sz="4000" b="1" i="0" u="none" strike="noStrike" kern="0" cap="none" spc="-85" normalizeH="0" baseline="0" noProof="0">
                <a:ln>
                  <a:noFill/>
                </a:ln>
                <a:solidFill>
                  <a:sysClr val="windowText" lastClr="000000"/>
                </a:solidFill>
                <a:effectLst/>
                <a:uLnTx/>
                <a:uFillTx/>
                <a:latin typeface="Palatino Linotype"/>
                <a:ea typeface="+mj-ea"/>
              </a:rPr>
              <a:t> </a:t>
            </a:r>
            <a:r>
              <a:rPr kumimoji="0" lang="en-US" sz="4000" b="1" i="0" u="none" strike="noStrike" kern="0" cap="none" spc="0" normalizeH="0" baseline="0" noProof="0">
                <a:ln>
                  <a:noFill/>
                </a:ln>
                <a:solidFill>
                  <a:sysClr val="windowText" lastClr="000000"/>
                </a:solidFill>
                <a:effectLst/>
                <a:uLnTx/>
                <a:uFillTx/>
                <a:latin typeface="Palatino Linotype"/>
                <a:ea typeface="+mj-ea"/>
              </a:rPr>
              <a:t>the</a:t>
            </a:r>
            <a:r>
              <a:rPr kumimoji="0" lang="en-US" sz="4000" b="1" i="0" u="none" strike="noStrike" kern="0" cap="none" spc="-75" normalizeH="0" baseline="0" noProof="0">
                <a:ln>
                  <a:noFill/>
                </a:ln>
                <a:solidFill>
                  <a:sysClr val="windowText" lastClr="000000"/>
                </a:solidFill>
                <a:effectLst/>
                <a:uLnTx/>
                <a:uFillTx/>
                <a:latin typeface="Palatino Linotype"/>
                <a:ea typeface="+mj-ea"/>
              </a:rPr>
              <a:t> </a:t>
            </a:r>
            <a:r>
              <a:rPr kumimoji="0" lang="en-US" sz="4000" b="1" i="0" u="none" strike="noStrike" kern="0" cap="none" spc="-45" normalizeH="0" baseline="0" noProof="0">
                <a:ln>
                  <a:noFill/>
                </a:ln>
                <a:solidFill>
                  <a:sysClr val="windowText" lastClr="000000"/>
                </a:solidFill>
                <a:effectLst/>
                <a:uLnTx/>
                <a:uFillTx/>
                <a:latin typeface="Palatino Linotype"/>
                <a:ea typeface="+mj-ea"/>
              </a:rPr>
              <a:t>Target</a:t>
            </a:r>
            <a:r>
              <a:rPr kumimoji="0" lang="en-US" sz="4000" b="1" i="0" u="none" strike="noStrike" kern="0" cap="none" spc="-65" normalizeH="0" baseline="0" noProof="0">
                <a:ln>
                  <a:noFill/>
                </a:ln>
                <a:solidFill>
                  <a:sysClr val="windowText" lastClr="000000"/>
                </a:solidFill>
                <a:effectLst/>
                <a:uLnTx/>
                <a:uFillTx/>
                <a:latin typeface="Palatino Linotype"/>
                <a:ea typeface="+mj-ea"/>
              </a:rPr>
              <a:t> </a:t>
            </a:r>
            <a:r>
              <a:rPr kumimoji="0" lang="en-US" sz="4000" b="1" i="0" u="none" strike="noStrike" kern="0" cap="none" spc="-20" normalizeH="0" baseline="0" noProof="0">
                <a:ln>
                  <a:noFill/>
                </a:ln>
                <a:solidFill>
                  <a:sysClr val="windowText" lastClr="000000"/>
                </a:solidFill>
                <a:effectLst/>
                <a:uLnTx/>
                <a:uFillTx/>
                <a:latin typeface="Palatino Linotype"/>
                <a:ea typeface="+mj-ea"/>
              </a:rPr>
              <a:t>Code</a:t>
            </a:r>
            <a:endParaRPr kumimoji="0" lang="en-US" sz="4000" b="1" i="0" u="none" strike="noStrike" kern="0" cap="none" spc="-20" normalizeH="0" baseline="0" noProof="0" dirty="0">
              <a:ln>
                <a:noFill/>
              </a:ln>
              <a:solidFill>
                <a:sysClr val="windowText" lastClr="000000"/>
              </a:solidFill>
              <a:effectLst/>
              <a:uLnTx/>
              <a:uFillTx/>
              <a:latin typeface="Palatino Linotype"/>
              <a:ea typeface="+mj-ea"/>
            </a:endParaRPr>
          </a:p>
        </p:txBody>
      </p:sp>
      <p:sp>
        <p:nvSpPr>
          <p:cNvPr id="8" name="object 3">
            <a:extLst>
              <a:ext uri="{FF2B5EF4-FFF2-40B4-BE49-F238E27FC236}">
                <a16:creationId xmlns:a16="http://schemas.microsoft.com/office/drawing/2014/main" id="{2C66591E-C916-ED9F-68B5-AE177344822D}"/>
              </a:ext>
            </a:extLst>
          </p:cNvPr>
          <p:cNvSpPr txBox="1"/>
          <p:nvPr/>
        </p:nvSpPr>
        <p:spPr>
          <a:xfrm>
            <a:off x="707390" y="1495947"/>
            <a:ext cx="6982459" cy="2617470"/>
          </a:xfrm>
          <a:prstGeom prst="rect">
            <a:avLst/>
          </a:prstGeom>
        </p:spPr>
        <p:txBody>
          <a:bodyPr vert="horz" wrap="square" lIns="0" tIns="175260" rIns="0" bIns="0" rtlCol="0">
            <a:spAutoFit/>
          </a:bodyPr>
          <a:lstStyle/>
          <a:p>
            <a:pPr marL="242570" indent="-229870">
              <a:spcBef>
                <a:spcPts val="1380"/>
              </a:spcBef>
              <a:buFont typeface="Arial MT"/>
              <a:buChar char="•"/>
              <a:tabLst>
                <a:tab pos="242570" algn="l"/>
              </a:tabLst>
            </a:pPr>
            <a:r>
              <a:rPr sz="2200" dirty="0">
                <a:solidFill>
                  <a:sysClr val="windowText" lastClr="000000"/>
                </a:solidFill>
                <a:latin typeface="Palatino Linotype"/>
                <a:cs typeface="Palatino Linotype"/>
              </a:rPr>
              <a:t>How</a:t>
            </a:r>
            <a:r>
              <a:rPr sz="2200" spc="-30" dirty="0">
                <a:solidFill>
                  <a:sysClr val="windowText" lastClr="000000"/>
                </a:solidFill>
                <a:latin typeface="Palatino Linotype"/>
                <a:cs typeface="Palatino Linotype"/>
              </a:rPr>
              <a:t> </a:t>
            </a:r>
            <a:r>
              <a:rPr sz="2200" dirty="0">
                <a:solidFill>
                  <a:sysClr val="windowText" lastClr="000000"/>
                </a:solidFill>
                <a:latin typeface="Palatino Linotype"/>
                <a:cs typeface="Palatino Linotype"/>
              </a:rPr>
              <a:t>to</a:t>
            </a:r>
            <a:r>
              <a:rPr sz="2200" spc="-35" dirty="0">
                <a:solidFill>
                  <a:sysClr val="windowText" lastClr="000000"/>
                </a:solidFill>
                <a:latin typeface="Palatino Linotype"/>
                <a:cs typeface="Palatino Linotype"/>
              </a:rPr>
              <a:t> </a:t>
            </a:r>
            <a:r>
              <a:rPr sz="2200" dirty="0">
                <a:solidFill>
                  <a:sysClr val="windowText" lastClr="000000"/>
                </a:solidFill>
                <a:latin typeface="Palatino Linotype"/>
                <a:cs typeface="Palatino Linotype"/>
              </a:rPr>
              <a:t>generate</a:t>
            </a:r>
            <a:r>
              <a:rPr sz="2200" spc="-30" dirty="0">
                <a:solidFill>
                  <a:sysClr val="windowText" lastClr="000000"/>
                </a:solidFill>
                <a:latin typeface="Palatino Linotype"/>
                <a:cs typeface="Palatino Linotype"/>
              </a:rPr>
              <a:t> </a:t>
            </a:r>
            <a:r>
              <a:rPr sz="2200" dirty="0">
                <a:solidFill>
                  <a:sysClr val="windowText" lastClr="000000"/>
                </a:solidFill>
                <a:latin typeface="Palatino Linotype"/>
                <a:cs typeface="Palatino Linotype"/>
              </a:rPr>
              <a:t>code</a:t>
            </a:r>
            <a:r>
              <a:rPr sz="2200" spc="-35" dirty="0">
                <a:solidFill>
                  <a:sysClr val="windowText" lastClr="000000"/>
                </a:solidFill>
                <a:latin typeface="Palatino Linotype"/>
                <a:cs typeface="Palatino Linotype"/>
              </a:rPr>
              <a:t> </a:t>
            </a:r>
            <a:r>
              <a:rPr sz="2200" dirty="0">
                <a:solidFill>
                  <a:sysClr val="windowText" lastClr="000000"/>
                </a:solidFill>
                <a:latin typeface="Palatino Linotype"/>
                <a:cs typeface="Palatino Linotype"/>
              </a:rPr>
              <a:t>for</a:t>
            </a:r>
            <a:r>
              <a:rPr sz="2200" spc="-25" dirty="0">
                <a:solidFill>
                  <a:sysClr val="windowText" lastClr="000000"/>
                </a:solidFill>
                <a:latin typeface="Palatino Linotype"/>
                <a:cs typeface="Palatino Linotype"/>
              </a:rPr>
              <a:t> </a:t>
            </a:r>
            <a:r>
              <a:rPr sz="2200" dirty="0">
                <a:solidFill>
                  <a:sysClr val="windowText" lastClr="000000"/>
                </a:solidFill>
                <a:latin typeface="Palatino Linotype"/>
                <a:cs typeface="Palatino Linotype"/>
              </a:rPr>
              <a:t>procedure</a:t>
            </a:r>
            <a:r>
              <a:rPr sz="2200" spc="-30" dirty="0">
                <a:solidFill>
                  <a:sysClr val="windowText" lastClr="000000"/>
                </a:solidFill>
                <a:latin typeface="Palatino Linotype"/>
                <a:cs typeface="Palatino Linotype"/>
              </a:rPr>
              <a:t> </a:t>
            </a:r>
            <a:r>
              <a:rPr sz="2200" dirty="0">
                <a:solidFill>
                  <a:sysClr val="windowText" lastClr="000000"/>
                </a:solidFill>
                <a:latin typeface="Palatino Linotype"/>
                <a:cs typeface="Palatino Linotype"/>
              </a:rPr>
              <a:t>calls</a:t>
            </a:r>
            <a:r>
              <a:rPr sz="2200" spc="-25" dirty="0">
                <a:solidFill>
                  <a:sysClr val="windowText" lastClr="000000"/>
                </a:solidFill>
                <a:latin typeface="Palatino Linotype"/>
                <a:cs typeface="Palatino Linotype"/>
              </a:rPr>
              <a:t> </a:t>
            </a:r>
            <a:r>
              <a:rPr sz="2200" dirty="0">
                <a:solidFill>
                  <a:sysClr val="windowText" lastClr="000000"/>
                </a:solidFill>
                <a:latin typeface="Palatino Linotype"/>
                <a:cs typeface="Palatino Linotype"/>
              </a:rPr>
              <a:t>and</a:t>
            </a:r>
            <a:r>
              <a:rPr sz="2200" spc="-25" dirty="0">
                <a:solidFill>
                  <a:sysClr val="windowText" lastClr="000000"/>
                </a:solidFill>
                <a:latin typeface="Palatino Linotype"/>
                <a:cs typeface="Palatino Linotype"/>
              </a:rPr>
              <a:t> </a:t>
            </a:r>
            <a:r>
              <a:rPr sz="2200" spc="-10" dirty="0">
                <a:solidFill>
                  <a:sysClr val="windowText" lastClr="000000"/>
                </a:solidFill>
                <a:latin typeface="Palatino Linotype"/>
                <a:cs typeface="Palatino Linotype"/>
              </a:rPr>
              <a:t>returns?</a:t>
            </a:r>
            <a:endParaRPr sz="2200">
              <a:solidFill>
                <a:sysClr val="windowText" lastClr="000000"/>
              </a:solidFill>
              <a:latin typeface="Palatino Linotype"/>
              <a:cs typeface="Palatino Linotype"/>
            </a:endParaRPr>
          </a:p>
          <a:p>
            <a:pPr marL="697865" lvl="1" indent="-227965">
              <a:spcBef>
                <a:spcPts val="1045"/>
              </a:spcBef>
              <a:buClr>
                <a:srgbClr val="000000"/>
              </a:buClr>
              <a:buFont typeface="Wingdings"/>
              <a:buChar char=""/>
              <a:tabLst>
                <a:tab pos="697865" algn="l"/>
              </a:tabLst>
            </a:pPr>
            <a:r>
              <a:rPr dirty="0">
                <a:solidFill>
                  <a:srgbClr val="FF0000"/>
                </a:solidFill>
                <a:latin typeface="Palatino Linotype"/>
                <a:cs typeface="Palatino Linotype"/>
              </a:rPr>
              <a:t>Static</a:t>
            </a:r>
            <a:r>
              <a:rPr spc="-65" dirty="0">
                <a:solidFill>
                  <a:srgbClr val="FF0000"/>
                </a:solidFill>
                <a:latin typeface="Palatino Linotype"/>
                <a:cs typeface="Palatino Linotype"/>
              </a:rPr>
              <a:t> </a:t>
            </a:r>
            <a:r>
              <a:rPr dirty="0">
                <a:solidFill>
                  <a:srgbClr val="FF0000"/>
                </a:solidFill>
                <a:latin typeface="Palatino Linotype"/>
                <a:cs typeface="Palatino Linotype"/>
              </a:rPr>
              <a:t>allocation</a:t>
            </a:r>
            <a:r>
              <a:rPr spc="-60" dirty="0">
                <a:solidFill>
                  <a:srgbClr val="FF0000"/>
                </a:solidFill>
                <a:latin typeface="Palatino Linotype"/>
                <a:cs typeface="Palatino Linotype"/>
              </a:rPr>
              <a:t> </a:t>
            </a:r>
            <a:r>
              <a:rPr spc="-10" dirty="0">
                <a:solidFill>
                  <a:sysClr val="windowText" lastClr="000000"/>
                </a:solidFill>
                <a:latin typeface="Palatino Linotype"/>
                <a:cs typeface="Palatino Linotype"/>
              </a:rPr>
              <a:t>(</a:t>
            </a:r>
            <a:r>
              <a:rPr dirty="0">
                <a:solidFill>
                  <a:srgbClr val="FF0000"/>
                </a:solidFill>
                <a:latin typeface="SimSun"/>
                <a:cs typeface="SimSun"/>
              </a:rPr>
              <a:t>静态分配</a:t>
            </a:r>
            <a:r>
              <a:rPr spc="-50" dirty="0">
                <a:solidFill>
                  <a:sysClr val="windowText" lastClr="000000"/>
                </a:solidFill>
                <a:latin typeface="Palatino Linotype"/>
                <a:cs typeface="Palatino Linotype"/>
              </a:rPr>
              <a:t>)</a:t>
            </a:r>
            <a:endParaRPr>
              <a:solidFill>
                <a:sysClr val="windowText" lastClr="000000"/>
              </a:solidFill>
              <a:latin typeface="Palatino Linotype"/>
              <a:cs typeface="Palatino Linotype"/>
            </a:endParaRPr>
          </a:p>
          <a:p>
            <a:pPr marL="697865" lvl="1" indent="-227965">
              <a:spcBef>
                <a:spcPts val="1060"/>
              </a:spcBef>
              <a:buClr>
                <a:srgbClr val="000000"/>
              </a:buClr>
              <a:buFont typeface="Wingdings"/>
              <a:buChar char=""/>
              <a:tabLst>
                <a:tab pos="697865" algn="l"/>
              </a:tabLst>
            </a:pPr>
            <a:r>
              <a:rPr dirty="0">
                <a:solidFill>
                  <a:srgbClr val="FF0000"/>
                </a:solidFill>
                <a:latin typeface="Palatino Linotype"/>
                <a:cs typeface="Palatino Linotype"/>
              </a:rPr>
              <a:t>Stack</a:t>
            </a:r>
            <a:r>
              <a:rPr spc="-60" dirty="0">
                <a:solidFill>
                  <a:srgbClr val="FF0000"/>
                </a:solidFill>
                <a:latin typeface="Palatino Linotype"/>
                <a:cs typeface="Palatino Linotype"/>
              </a:rPr>
              <a:t> </a:t>
            </a:r>
            <a:r>
              <a:rPr dirty="0">
                <a:solidFill>
                  <a:srgbClr val="FF0000"/>
                </a:solidFill>
                <a:latin typeface="Palatino Linotype"/>
                <a:cs typeface="Palatino Linotype"/>
              </a:rPr>
              <a:t>allocation</a:t>
            </a:r>
            <a:r>
              <a:rPr spc="-55" dirty="0">
                <a:solidFill>
                  <a:srgbClr val="FF0000"/>
                </a:solidFill>
                <a:latin typeface="Palatino Linotype"/>
                <a:cs typeface="Palatino Linotype"/>
              </a:rPr>
              <a:t> </a:t>
            </a:r>
            <a:r>
              <a:rPr spc="-10" dirty="0">
                <a:solidFill>
                  <a:sysClr val="windowText" lastClr="000000"/>
                </a:solidFill>
                <a:latin typeface="Palatino Linotype"/>
                <a:cs typeface="Palatino Linotype"/>
              </a:rPr>
              <a:t>(</a:t>
            </a:r>
            <a:r>
              <a:rPr dirty="0">
                <a:solidFill>
                  <a:srgbClr val="FF0000"/>
                </a:solidFill>
                <a:latin typeface="SimSun"/>
                <a:cs typeface="SimSun"/>
              </a:rPr>
              <a:t>栈式分配</a:t>
            </a:r>
            <a:r>
              <a:rPr spc="-50" dirty="0">
                <a:solidFill>
                  <a:sysClr val="windowText" lastClr="000000"/>
                </a:solidFill>
                <a:latin typeface="Palatino Linotype"/>
                <a:cs typeface="Palatino Linotype"/>
              </a:rPr>
              <a:t>)</a:t>
            </a:r>
            <a:endParaRPr>
              <a:solidFill>
                <a:sysClr val="windowText" lastClr="000000"/>
              </a:solidFill>
              <a:latin typeface="Palatino Linotype"/>
              <a:cs typeface="Palatino Linotype"/>
            </a:endParaRPr>
          </a:p>
          <a:p>
            <a:pPr marL="0" lvl="1">
              <a:spcBef>
                <a:spcPts val="1250"/>
              </a:spcBef>
              <a:buFont typeface="Wingdings"/>
              <a:buChar char=""/>
            </a:pPr>
            <a:endParaRPr>
              <a:solidFill>
                <a:sysClr val="windowText" lastClr="000000"/>
              </a:solidFill>
              <a:latin typeface="Palatino Linotype"/>
              <a:cs typeface="Palatino Linotype"/>
            </a:endParaRPr>
          </a:p>
          <a:p>
            <a:pPr marL="242570" marR="168910" indent="-230504">
              <a:lnSpc>
                <a:spcPct val="120900"/>
              </a:lnSpc>
              <a:buClr>
                <a:srgbClr val="000000"/>
              </a:buClr>
              <a:buFont typeface="Arial MT"/>
              <a:buChar char="•"/>
              <a:tabLst>
                <a:tab pos="242570" algn="l"/>
              </a:tabLst>
            </a:pPr>
            <a:r>
              <a:rPr sz="2200" dirty="0">
                <a:solidFill>
                  <a:srgbClr val="A6A6A6"/>
                </a:solidFill>
                <a:latin typeface="Palatino Linotype"/>
                <a:cs typeface="Palatino Linotype"/>
              </a:rPr>
              <a:t>How</a:t>
            </a:r>
            <a:r>
              <a:rPr sz="2200" spc="-20" dirty="0">
                <a:solidFill>
                  <a:srgbClr val="A6A6A6"/>
                </a:solidFill>
                <a:latin typeface="Palatino Linotype"/>
                <a:cs typeface="Palatino Linotype"/>
              </a:rPr>
              <a:t> </a:t>
            </a:r>
            <a:r>
              <a:rPr sz="2200" dirty="0">
                <a:solidFill>
                  <a:srgbClr val="A6A6A6"/>
                </a:solidFill>
                <a:latin typeface="Palatino Linotype"/>
                <a:cs typeface="Palatino Linotype"/>
              </a:rPr>
              <a:t>to</a:t>
            </a:r>
            <a:r>
              <a:rPr sz="2200" spc="-25" dirty="0">
                <a:solidFill>
                  <a:srgbClr val="A6A6A6"/>
                </a:solidFill>
                <a:latin typeface="Palatino Linotype"/>
                <a:cs typeface="Palatino Linotype"/>
              </a:rPr>
              <a:t> </a:t>
            </a:r>
            <a:r>
              <a:rPr sz="2200" dirty="0">
                <a:solidFill>
                  <a:srgbClr val="A6A6A6"/>
                </a:solidFill>
                <a:latin typeface="Palatino Linotype"/>
                <a:cs typeface="Palatino Linotype"/>
              </a:rPr>
              <a:t>replace</a:t>
            </a:r>
            <a:r>
              <a:rPr sz="2200" spc="-25" dirty="0">
                <a:solidFill>
                  <a:srgbClr val="A6A6A6"/>
                </a:solidFill>
                <a:latin typeface="Palatino Linotype"/>
                <a:cs typeface="Palatino Linotype"/>
              </a:rPr>
              <a:t> </a:t>
            </a:r>
            <a:r>
              <a:rPr sz="2200" dirty="0">
                <a:solidFill>
                  <a:srgbClr val="A6A6A6"/>
                </a:solidFill>
                <a:latin typeface="Palatino Linotype"/>
                <a:cs typeface="Palatino Linotype"/>
              </a:rPr>
              <a:t>names</a:t>
            </a:r>
            <a:r>
              <a:rPr sz="2200" spc="-15" dirty="0">
                <a:solidFill>
                  <a:srgbClr val="A6A6A6"/>
                </a:solidFill>
                <a:latin typeface="Palatino Linotype"/>
                <a:cs typeface="Palatino Linotype"/>
              </a:rPr>
              <a:t> </a:t>
            </a:r>
            <a:r>
              <a:rPr sz="2200" dirty="0">
                <a:solidFill>
                  <a:srgbClr val="A6A6A6"/>
                </a:solidFill>
                <a:latin typeface="Palatino Linotype"/>
                <a:cs typeface="Palatino Linotype"/>
              </a:rPr>
              <a:t>in</a:t>
            </a:r>
            <a:r>
              <a:rPr sz="2200" spc="-30" dirty="0">
                <a:solidFill>
                  <a:srgbClr val="A6A6A6"/>
                </a:solidFill>
                <a:latin typeface="Palatino Linotype"/>
                <a:cs typeface="Palatino Linotype"/>
              </a:rPr>
              <a:t> </a:t>
            </a:r>
            <a:r>
              <a:rPr sz="2200" dirty="0">
                <a:solidFill>
                  <a:srgbClr val="A6A6A6"/>
                </a:solidFill>
                <a:latin typeface="Palatino Linotype"/>
                <a:cs typeface="Palatino Linotype"/>
              </a:rPr>
              <a:t>IR</a:t>
            </a:r>
            <a:r>
              <a:rPr sz="2200" spc="-65" dirty="0">
                <a:solidFill>
                  <a:srgbClr val="A6A6A6"/>
                </a:solidFill>
                <a:latin typeface="Palatino Linotype"/>
                <a:cs typeface="Palatino Linotype"/>
              </a:rPr>
              <a:t> </a:t>
            </a:r>
            <a:r>
              <a:rPr sz="2200" dirty="0">
                <a:solidFill>
                  <a:srgbClr val="A6A6A6"/>
                </a:solidFill>
                <a:latin typeface="Palatino Linotype"/>
                <a:cs typeface="Palatino Linotype"/>
              </a:rPr>
              <a:t>by</a:t>
            </a:r>
            <a:r>
              <a:rPr sz="2200" spc="-20" dirty="0">
                <a:solidFill>
                  <a:srgbClr val="A6A6A6"/>
                </a:solidFill>
                <a:latin typeface="Palatino Linotype"/>
                <a:cs typeface="Palatino Linotype"/>
              </a:rPr>
              <a:t> </a:t>
            </a:r>
            <a:r>
              <a:rPr sz="2200" dirty="0">
                <a:solidFill>
                  <a:srgbClr val="A6A6A6"/>
                </a:solidFill>
                <a:latin typeface="Palatino Linotype"/>
                <a:cs typeface="Palatino Linotype"/>
              </a:rPr>
              <a:t>code</a:t>
            </a:r>
            <a:r>
              <a:rPr sz="2200" spc="-20" dirty="0">
                <a:solidFill>
                  <a:srgbClr val="A6A6A6"/>
                </a:solidFill>
                <a:latin typeface="Palatino Linotype"/>
                <a:cs typeface="Palatino Linotype"/>
              </a:rPr>
              <a:t> </a:t>
            </a:r>
            <a:r>
              <a:rPr sz="2200" dirty="0">
                <a:solidFill>
                  <a:srgbClr val="A6A6A6"/>
                </a:solidFill>
                <a:latin typeface="Palatino Linotype"/>
                <a:cs typeface="Palatino Linotype"/>
              </a:rPr>
              <a:t>to</a:t>
            </a:r>
            <a:r>
              <a:rPr sz="2200" spc="-25" dirty="0">
                <a:solidFill>
                  <a:srgbClr val="A6A6A6"/>
                </a:solidFill>
                <a:latin typeface="Palatino Linotype"/>
                <a:cs typeface="Palatino Linotype"/>
              </a:rPr>
              <a:t> </a:t>
            </a:r>
            <a:r>
              <a:rPr sz="2200" dirty="0">
                <a:solidFill>
                  <a:srgbClr val="A6A6A6"/>
                </a:solidFill>
                <a:latin typeface="Palatino Linotype"/>
                <a:cs typeface="Palatino Linotype"/>
              </a:rPr>
              <a:t>access</a:t>
            </a:r>
            <a:r>
              <a:rPr sz="2200" spc="-15" dirty="0">
                <a:solidFill>
                  <a:srgbClr val="A6A6A6"/>
                </a:solidFill>
                <a:latin typeface="Palatino Linotype"/>
                <a:cs typeface="Palatino Linotype"/>
              </a:rPr>
              <a:t> </a:t>
            </a:r>
            <a:r>
              <a:rPr sz="2200" spc="-10" dirty="0">
                <a:solidFill>
                  <a:srgbClr val="A6A6A6"/>
                </a:solidFill>
                <a:latin typeface="Palatino Linotype"/>
                <a:cs typeface="Palatino Linotype"/>
              </a:rPr>
              <a:t>storage locations?</a:t>
            </a:r>
            <a:endParaRPr sz="2200">
              <a:solidFill>
                <a:sysClr val="windowText" lastClr="000000"/>
              </a:solidFill>
              <a:latin typeface="Palatino Linotype"/>
              <a:cs typeface="Palatino Linotype"/>
            </a:endParaRPr>
          </a:p>
        </p:txBody>
      </p:sp>
    </p:spTree>
    <p:extLst>
      <p:ext uri="{BB962C8B-B14F-4D97-AF65-F5344CB8AC3E}">
        <p14:creationId xmlns:p14="http://schemas.microsoft.com/office/powerpoint/2010/main" val="41960179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14</a:t>
            </a:fld>
            <a:endParaRPr lang="en-US"/>
          </a:p>
        </p:txBody>
      </p:sp>
      <p:sp>
        <p:nvSpPr>
          <p:cNvPr id="13" name="object 2">
            <a:extLst>
              <a:ext uri="{FF2B5EF4-FFF2-40B4-BE49-F238E27FC236}">
                <a16:creationId xmlns:a16="http://schemas.microsoft.com/office/drawing/2014/main" id="{4E7C0BAA-2E60-954E-6EE4-C2FD45556B8B}"/>
              </a:ext>
            </a:extLst>
          </p:cNvPr>
          <p:cNvSpPr txBox="1">
            <a:spLocks/>
          </p:cNvSpPr>
          <p:nvPr/>
        </p:nvSpPr>
        <p:spPr>
          <a:xfrm>
            <a:off x="707390" y="524763"/>
            <a:ext cx="7729219" cy="63500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4000" b="1" i="0" u="none" strike="noStrike" kern="0" cap="none" spc="0" normalizeH="0" baseline="0" noProof="0">
                <a:ln>
                  <a:noFill/>
                </a:ln>
                <a:solidFill>
                  <a:sysClr val="windowText" lastClr="000000"/>
                </a:solidFill>
                <a:effectLst/>
                <a:uLnTx/>
                <a:uFillTx/>
                <a:latin typeface="Palatino Linotype"/>
                <a:ea typeface="+mj-ea"/>
              </a:rPr>
              <a:t>Static</a:t>
            </a:r>
            <a:r>
              <a:rPr kumimoji="0" lang="en-US" sz="4000" b="1" i="0" u="none" strike="noStrike" kern="0" cap="none" spc="-95" normalizeH="0" baseline="0" noProof="0">
                <a:ln>
                  <a:noFill/>
                </a:ln>
                <a:solidFill>
                  <a:sysClr val="windowText" lastClr="000000"/>
                </a:solidFill>
                <a:effectLst/>
                <a:uLnTx/>
                <a:uFillTx/>
                <a:latin typeface="Palatino Linotype"/>
                <a:ea typeface="+mj-ea"/>
              </a:rPr>
              <a:t> </a:t>
            </a:r>
            <a:r>
              <a:rPr kumimoji="0" lang="en-US" sz="4000" b="1" i="0" u="none" strike="noStrike" kern="0" cap="none" spc="0" normalizeH="0" baseline="0" noProof="0">
                <a:ln>
                  <a:noFill/>
                </a:ln>
                <a:solidFill>
                  <a:sysClr val="windowText" lastClr="000000"/>
                </a:solidFill>
                <a:effectLst/>
                <a:uLnTx/>
                <a:uFillTx/>
                <a:latin typeface="Palatino Linotype"/>
                <a:ea typeface="+mj-ea"/>
              </a:rPr>
              <a:t>Allocation</a:t>
            </a:r>
            <a:r>
              <a:rPr kumimoji="0" lang="en-US" sz="4000" b="1" i="0" u="none" strike="noStrike" kern="0" cap="none" spc="-55" normalizeH="0" baseline="0" noProof="0">
                <a:ln>
                  <a:noFill/>
                </a:ln>
                <a:solidFill>
                  <a:sysClr val="windowText" lastClr="000000"/>
                </a:solidFill>
                <a:effectLst/>
                <a:uLnTx/>
                <a:uFillTx/>
                <a:latin typeface="Palatino Linotype"/>
                <a:ea typeface="+mj-ea"/>
              </a:rPr>
              <a:t> (</a:t>
            </a:r>
            <a:r>
              <a:rPr kumimoji="0" lang="zh-CN" altLang="en-US" sz="3900" b="0" i="0" u="none" strike="noStrike" kern="0" cap="none" spc="85" normalizeH="0" baseline="0" noProof="0">
                <a:ln>
                  <a:noFill/>
                </a:ln>
                <a:solidFill>
                  <a:sysClr val="windowText" lastClr="000000"/>
                </a:solidFill>
                <a:effectLst/>
                <a:uLnTx/>
                <a:uFillTx/>
                <a:latin typeface="SimSun"/>
                <a:ea typeface="宋体" panose="02010600030101010101" pitchFamily="2" charset="-122"/>
                <a:cs typeface="SimSun"/>
              </a:rPr>
              <a:t>静态分配</a:t>
            </a:r>
            <a:r>
              <a:rPr kumimoji="0" lang="en-US" altLang="zh-CN" sz="4000" b="1" i="0" u="none" strike="noStrike" kern="0" cap="none" spc="-50" normalizeH="0" baseline="0" noProof="0">
                <a:ln>
                  <a:noFill/>
                </a:ln>
                <a:solidFill>
                  <a:sysClr val="windowText" lastClr="000000"/>
                </a:solidFill>
                <a:effectLst/>
                <a:uLnTx/>
                <a:uFillTx/>
                <a:latin typeface="Palatino Linotype"/>
                <a:ea typeface="宋体" panose="02010600030101010101" pitchFamily="2" charset="-122"/>
              </a:rPr>
              <a:t>)</a:t>
            </a:r>
            <a:endParaRPr kumimoji="0" lang="zh-CN" altLang="en-US" sz="4000" b="1" i="0" u="none" strike="noStrike" kern="0" cap="none" spc="0" normalizeH="0" baseline="0" noProof="0">
              <a:ln>
                <a:noFill/>
              </a:ln>
              <a:solidFill>
                <a:sysClr val="windowText" lastClr="000000"/>
              </a:solidFill>
              <a:effectLst/>
              <a:uLnTx/>
              <a:uFillTx/>
              <a:latin typeface="SimSun"/>
              <a:ea typeface="宋体" panose="02010600030101010101" pitchFamily="2" charset="-122"/>
              <a:cs typeface="SimSun"/>
            </a:endParaRPr>
          </a:p>
        </p:txBody>
      </p:sp>
      <p:sp>
        <p:nvSpPr>
          <p:cNvPr id="14" name="object 3">
            <a:extLst>
              <a:ext uri="{FF2B5EF4-FFF2-40B4-BE49-F238E27FC236}">
                <a16:creationId xmlns:a16="http://schemas.microsoft.com/office/drawing/2014/main" id="{7F1A2010-BCBF-0EDB-14AD-DFB59238B6BD}"/>
              </a:ext>
            </a:extLst>
          </p:cNvPr>
          <p:cNvSpPr txBox="1"/>
          <p:nvPr/>
        </p:nvSpPr>
        <p:spPr>
          <a:xfrm>
            <a:off x="707388" y="1610867"/>
            <a:ext cx="7741920" cy="1699260"/>
          </a:xfrm>
          <a:prstGeom prst="rect">
            <a:avLst/>
          </a:prstGeom>
        </p:spPr>
        <p:txBody>
          <a:bodyPr vert="horz" wrap="square" lIns="0" tIns="12700" rIns="0" bIns="0" rtlCol="0">
            <a:spAutoFit/>
          </a:bodyPr>
          <a:lstStyle/>
          <a:p>
            <a:pPr marL="243204" marR="404495" indent="-230504">
              <a:lnSpc>
                <a:spcPct val="115999"/>
              </a:lnSpc>
              <a:spcBef>
                <a:spcPts val="100"/>
              </a:spcBef>
              <a:buFont typeface="Arial MT"/>
              <a:buChar char="•"/>
              <a:tabLst>
                <a:tab pos="243204" algn="l"/>
              </a:tabLst>
            </a:pPr>
            <a:r>
              <a:rPr sz="2000" dirty="0">
                <a:solidFill>
                  <a:sysClr val="windowText" lastClr="000000"/>
                </a:solidFill>
                <a:latin typeface="Palatino Linotype"/>
                <a:cs typeface="Palatino Linotype"/>
              </a:rPr>
              <a:t>The</a:t>
            </a:r>
            <a:r>
              <a:rPr sz="2000" spc="-4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size</a:t>
            </a:r>
            <a:r>
              <a:rPr sz="2000" spc="-4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and</a:t>
            </a:r>
            <a:r>
              <a:rPr sz="2000" spc="-4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layout</a:t>
            </a:r>
            <a:r>
              <a:rPr sz="2000" spc="-4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of</a:t>
            </a:r>
            <a:r>
              <a:rPr sz="2000" spc="-4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activation</a:t>
            </a:r>
            <a:r>
              <a:rPr sz="2000" spc="-4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records</a:t>
            </a:r>
            <a:r>
              <a:rPr sz="2000" spc="-4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are</a:t>
            </a:r>
            <a:r>
              <a:rPr sz="2000" spc="-4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determined</a:t>
            </a:r>
            <a:r>
              <a:rPr sz="2000" spc="-4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by</a:t>
            </a:r>
            <a:r>
              <a:rPr sz="2000" spc="-40" dirty="0">
                <a:solidFill>
                  <a:sysClr val="windowText" lastClr="000000"/>
                </a:solidFill>
                <a:latin typeface="Palatino Linotype"/>
                <a:cs typeface="Palatino Linotype"/>
              </a:rPr>
              <a:t> </a:t>
            </a:r>
            <a:r>
              <a:rPr sz="2000" spc="-25" dirty="0">
                <a:solidFill>
                  <a:sysClr val="windowText" lastClr="000000"/>
                </a:solidFill>
                <a:latin typeface="Palatino Linotype"/>
                <a:cs typeface="Palatino Linotype"/>
              </a:rPr>
              <a:t>the </a:t>
            </a:r>
            <a:r>
              <a:rPr sz="2000" dirty="0">
                <a:solidFill>
                  <a:sysClr val="windowText" lastClr="000000"/>
                </a:solidFill>
                <a:latin typeface="Palatino Linotype"/>
                <a:cs typeface="Palatino Linotype"/>
              </a:rPr>
              <a:t>code</a:t>
            </a:r>
            <a:r>
              <a:rPr sz="2000" spc="-3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generator</a:t>
            </a:r>
            <a:r>
              <a:rPr sz="2000" spc="-3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via</a:t>
            </a:r>
            <a:r>
              <a:rPr sz="2000" spc="-3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the</a:t>
            </a:r>
            <a:r>
              <a:rPr sz="2000" spc="-2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information</a:t>
            </a:r>
            <a:r>
              <a:rPr sz="2000" spc="-3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in</a:t>
            </a:r>
            <a:r>
              <a:rPr sz="2000" spc="-3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the</a:t>
            </a:r>
            <a:r>
              <a:rPr sz="2000" spc="-2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symbol</a:t>
            </a:r>
            <a:r>
              <a:rPr sz="2000" spc="-25" dirty="0">
                <a:solidFill>
                  <a:sysClr val="windowText" lastClr="000000"/>
                </a:solidFill>
                <a:latin typeface="Palatino Linotype"/>
                <a:cs typeface="Palatino Linotype"/>
              </a:rPr>
              <a:t> </a:t>
            </a:r>
            <a:r>
              <a:rPr sz="2000" spc="-10" dirty="0">
                <a:solidFill>
                  <a:sysClr val="windowText" lastClr="000000"/>
                </a:solidFill>
                <a:latin typeface="Palatino Linotype"/>
                <a:cs typeface="Palatino Linotype"/>
              </a:rPr>
              <a:t>table</a:t>
            </a:r>
            <a:endParaRPr sz="2000">
              <a:solidFill>
                <a:sysClr val="windowText" lastClr="000000"/>
              </a:solidFill>
              <a:latin typeface="Palatino Linotype"/>
              <a:cs typeface="Palatino Linotype"/>
            </a:endParaRPr>
          </a:p>
          <a:p>
            <a:pPr marL="697865" lvl="1" indent="-227965">
              <a:spcBef>
                <a:spcPts val="1095"/>
              </a:spcBef>
              <a:buFont typeface="Wingdings"/>
              <a:buChar char=""/>
              <a:tabLst>
                <a:tab pos="697865" algn="l"/>
              </a:tabLst>
            </a:pPr>
            <a:r>
              <a:rPr sz="1600" dirty="0">
                <a:solidFill>
                  <a:sysClr val="windowText" lastClr="000000"/>
                </a:solidFill>
                <a:latin typeface="Palatino Linotype"/>
                <a:cs typeface="Palatino Linotype"/>
              </a:rPr>
              <a:t>Constant</a:t>
            </a:r>
            <a:r>
              <a:rPr sz="1600" spc="-30" dirty="0">
                <a:solidFill>
                  <a:sysClr val="windowText" lastClr="000000"/>
                </a:solidFill>
                <a:latin typeface="Palatino Linotype"/>
                <a:cs typeface="Palatino Linotype"/>
              </a:rPr>
              <a:t> </a:t>
            </a:r>
            <a:r>
              <a:rPr sz="1600" dirty="0">
                <a:solidFill>
                  <a:srgbClr val="FF0000"/>
                </a:solidFill>
                <a:latin typeface="Cambria Math"/>
                <a:cs typeface="Cambria Math"/>
              </a:rPr>
              <a:t>𝑠𝑡𝑎𝑡𝑖𝑐𝐴𝑟𝑒𝑎</a:t>
            </a:r>
            <a:r>
              <a:rPr sz="1600" spc="50" dirty="0">
                <a:solidFill>
                  <a:srgbClr val="FF0000"/>
                </a:solidFill>
                <a:latin typeface="Cambria Math"/>
                <a:cs typeface="Cambria Math"/>
              </a:rPr>
              <a:t> </a:t>
            </a:r>
            <a:r>
              <a:rPr sz="1600" dirty="0">
                <a:solidFill>
                  <a:sysClr val="windowText" lastClr="000000"/>
                </a:solidFill>
                <a:latin typeface="Palatino Linotype"/>
                <a:cs typeface="Palatino Linotype"/>
              </a:rPr>
              <a:t>gives</a:t>
            </a:r>
            <a:r>
              <a:rPr sz="1600" spc="-35"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the</a:t>
            </a:r>
            <a:r>
              <a:rPr sz="1600" spc="-30"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address</a:t>
            </a:r>
            <a:r>
              <a:rPr sz="1600" spc="-35"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of</a:t>
            </a:r>
            <a:r>
              <a:rPr sz="1600" spc="-25"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the</a:t>
            </a:r>
            <a:r>
              <a:rPr sz="1600" spc="-35"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beginning</a:t>
            </a:r>
            <a:r>
              <a:rPr sz="1600" spc="-35"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of</a:t>
            </a:r>
            <a:r>
              <a:rPr sz="1600" spc="-25"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an</a:t>
            </a:r>
            <a:r>
              <a:rPr sz="1600" spc="-25" dirty="0">
                <a:solidFill>
                  <a:sysClr val="windowText" lastClr="000000"/>
                </a:solidFill>
                <a:latin typeface="Palatino Linotype"/>
                <a:cs typeface="Palatino Linotype"/>
              </a:rPr>
              <a:t> </a:t>
            </a:r>
            <a:r>
              <a:rPr sz="1600" spc="-10" dirty="0">
                <a:solidFill>
                  <a:sysClr val="windowText" lastClr="000000"/>
                </a:solidFill>
                <a:latin typeface="Palatino Linotype"/>
                <a:cs typeface="Palatino Linotype"/>
              </a:rPr>
              <a:t>activation</a:t>
            </a:r>
            <a:r>
              <a:rPr sz="1600" spc="-25" dirty="0">
                <a:solidFill>
                  <a:sysClr val="windowText" lastClr="000000"/>
                </a:solidFill>
                <a:latin typeface="Palatino Linotype"/>
                <a:cs typeface="Palatino Linotype"/>
              </a:rPr>
              <a:t> </a:t>
            </a:r>
            <a:r>
              <a:rPr sz="1600" spc="-10" dirty="0">
                <a:solidFill>
                  <a:sysClr val="windowText" lastClr="000000"/>
                </a:solidFill>
                <a:latin typeface="Palatino Linotype"/>
                <a:cs typeface="Palatino Linotype"/>
              </a:rPr>
              <a:t>record</a:t>
            </a:r>
            <a:endParaRPr sz="1600">
              <a:solidFill>
                <a:sysClr val="windowText" lastClr="000000"/>
              </a:solidFill>
              <a:latin typeface="Palatino Linotype"/>
              <a:cs typeface="Palatino Linotype"/>
            </a:endParaRPr>
          </a:p>
          <a:p>
            <a:pPr marL="0" lvl="1">
              <a:spcBef>
                <a:spcPts val="30"/>
              </a:spcBef>
              <a:buFont typeface="Wingdings"/>
              <a:buChar char=""/>
            </a:pPr>
            <a:endParaRPr sz="1600">
              <a:solidFill>
                <a:sysClr val="windowText" lastClr="000000"/>
              </a:solidFill>
              <a:latin typeface="Palatino Linotype"/>
              <a:cs typeface="Palatino Linotype"/>
            </a:endParaRPr>
          </a:p>
          <a:p>
            <a:pPr marL="242570" indent="-229870">
              <a:spcBef>
                <a:spcPts val="5"/>
              </a:spcBef>
              <a:buFont typeface="Arial MT"/>
              <a:buChar char="•"/>
              <a:tabLst>
                <a:tab pos="242570" algn="l"/>
              </a:tabLst>
            </a:pPr>
            <a:r>
              <a:rPr sz="2000" spc="-20" dirty="0">
                <a:solidFill>
                  <a:sysClr val="windowText" lastClr="000000"/>
                </a:solidFill>
                <a:latin typeface="Palatino Linotype"/>
                <a:cs typeface="Palatino Linotype"/>
              </a:rPr>
              <a:t>Target</a:t>
            </a:r>
            <a:r>
              <a:rPr sz="2000" spc="-4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program</a:t>
            </a:r>
            <a:r>
              <a:rPr sz="2000" spc="-4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code</a:t>
            </a:r>
            <a:r>
              <a:rPr sz="2000" spc="-3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for</a:t>
            </a:r>
            <a:r>
              <a:rPr sz="2000" spc="-3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the</a:t>
            </a:r>
            <a:r>
              <a:rPr sz="2000" spc="-35" dirty="0">
                <a:solidFill>
                  <a:sysClr val="windowText" lastClr="000000"/>
                </a:solidFill>
                <a:latin typeface="Palatino Linotype"/>
                <a:cs typeface="Palatino Linotype"/>
              </a:rPr>
              <a:t> </a:t>
            </a:r>
            <a:r>
              <a:rPr sz="2000" spc="-10" dirty="0">
                <a:solidFill>
                  <a:sysClr val="windowText" lastClr="000000"/>
                </a:solidFill>
                <a:latin typeface="Palatino Linotype"/>
                <a:cs typeface="Palatino Linotype"/>
              </a:rPr>
              <a:t>three-</a:t>
            </a:r>
            <a:r>
              <a:rPr sz="2000" dirty="0">
                <a:solidFill>
                  <a:sysClr val="windowText" lastClr="000000"/>
                </a:solidFill>
                <a:latin typeface="Palatino Linotype"/>
                <a:cs typeface="Palatino Linotype"/>
              </a:rPr>
              <a:t>address</a:t>
            </a:r>
            <a:r>
              <a:rPr sz="2000" spc="-3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code</a:t>
            </a:r>
            <a:r>
              <a:rPr sz="2000" spc="-30" dirty="0">
                <a:solidFill>
                  <a:sysClr val="windowText" lastClr="000000"/>
                </a:solidFill>
                <a:latin typeface="Palatino Linotype"/>
                <a:cs typeface="Palatino Linotype"/>
              </a:rPr>
              <a:t> </a:t>
            </a:r>
            <a:r>
              <a:rPr sz="2000" dirty="0">
                <a:solidFill>
                  <a:srgbClr val="0432FF"/>
                </a:solidFill>
                <a:latin typeface="Cambria Math"/>
                <a:cs typeface="Cambria Math"/>
              </a:rPr>
              <a:t>call</a:t>
            </a:r>
            <a:r>
              <a:rPr sz="2000" spc="-40" dirty="0">
                <a:solidFill>
                  <a:srgbClr val="0432FF"/>
                </a:solidFill>
                <a:latin typeface="Cambria Math"/>
                <a:cs typeface="Cambria Math"/>
              </a:rPr>
              <a:t> </a:t>
            </a:r>
            <a:r>
              <a:rPr sz="2000" spc="-10" dirty="0">
                <a:solidFill>
                  <a:srgbClr val="0432FF"/>
                </a:solidFill>
                <a:latin typeface="Cambria Math"/>
                <a:cs typeface="Cambria Math"/>
              </a:rPr>
              <a:t>𝑐𝑎𝑙𝑙𝑒𝑒</a:t>
            </a:r>
            <a:endParaRPr sz="2000">
              <a:solidFill>
                <a:sysClr val="windowText" lastClr="000000"/>
              </a:solidFill>
              <a:latin typeface="Cambria Math"/>
              <a:cs typeface="Cambria Math"/>
            </a:endParaRPr>
          </a:p>
        </p:txBody>
      </p:sp>
      <p:grpSp>
        <p:nvGrpSpPr>
          <p:cNvPr id="15" name="object 4">
            <a:extLst>
              <a:ext uri="{FF2B5EF4-FFF2-40B4-BE49-F238E27FC236}">
                <a16:creationId xmlns:a16="http://schemas.microsoft.com/office/drawing/2014/main" id="{0A1C731B-AC2A-179D-4078-CD21C2C4E7EB}"/>
              </a:ext>
            </a:extLst>
          </p:cNvPr>
          <p:cNvGrpSpPr/>
          <p:nvPr/>
        </p:nvGrpSpPr>
        <p:grpSpPr>
          <a:xfrm>
            <a:off x="942484" y="3721510"/>
            <a:ext cx="3789679" cy="520700"/>
            <a:chOff x="942484" y="3721510"/>
            <a:chExt cx="3789679" cy="520700"/>
          </a:xfrm>
        </p:grpSpPr>
        <p:pic>
          <p:nvPicPr>
            <p:cNvPr id="16" name="object 5">
              <a:extLst>
                <a:ext uri="{FF2B5EF4-FFF2-40B4-BE49-F238E27FC236}">
                  <a16:creationId xmlns:a16="http://schemas.microsoft.com/office/drawing/2014/main" id="{E398EE94-86E9-60B6-DAE4-F520FB35A162}"/>
                </a:ext>
              </a:extLst>
            </p:cNvPr>
            <p:cNvPicPr/>
            <p:nvPr/>
          </p:nvPicPr>
          <p:blipFill>
            <a:blip r:embed="rId3" cstate="print"/>
            <a:stretch>
              <a:fillRect/>
            </a:stretch>
          </p:blipFill>
          <p:spPr>
            <a:xfrm>
              <a:off x="942484" y="3721510"/>
              <a:ext cx="3741028" cy="520165"/>
            </a:xfrm>
            <a:prstGeom prst="rect">
              <a:avLst/>
            </a:prstGeom>
          </p:spPr>
        </p:pic>
        <p:sp>
          <p:nvSpPr>
            <p:cNvPr id="17" name="object 6">
              <a:extLst>
                <a:ext uri="{FF2B5EF4-FFF2-40B4-BE49-F238E27FC236}">
                  <a16:creationId xmlns:a16="http://schemas.microsoft.com/office/drawing/2014/main" id="{4AA22589-09A6-D256-6F8B-C37544839B3D}"/>
                </a:ext>
              </a:extLst>
            </p:cNvPr>
            <p:cNvSpPr/>
            <p:nvPr/>
          </p:nvSpPr>
          <p:spPr>
            <a:xfrm>
              <a:off x="3533613" y="4070887"/>
              <a:ext cx="1198880" cy="0"/>
            </a:xfrm>
            <a:custGeom>
              <a:avLst/>
              <a:gdLst/>
              <a:ahLst/>
              <a:cxnLst/>
              <a:rect l="l" t="t" r="r" b="b"/>
              <a:pathLst>
                <a:path w="1198879">
                  <a:moveTo>
                    <a:pt x="0" y="0"/>
                  </a:moveTo>
                  <a:lnTo>
                    <a:pt x="1198535" y="1"/>
                  </a:lnTo>
                </a:path>
              </a:pathLst>
            </a:custGeom>
            <a:ln w="19050">
              <a:solidFill>
                <a:srgbClr val="FF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18" name="object 7">
            <a:extLst>
              <a:ext uri="{FF2B5EF4-FFF2-40B4-BE49-F238E27FC236}">
                <a16:creationId xmlns:a16="http://schemas.microsoft.com/office/drawing/2014/main" id="{D074FA2A-6E0A-AC84-0E5C-DF774D626D29}"/>
              </a:ext>
            </a:extLst>
          </p:cNvPr>
          <p:cNvSpPr txBox="1"/>
          <p:nvPr/>
        </p:nvSpPr>
        <p:spPr>
          <a:xfrm>
            <a:off x="5047283" y="3574784"/>
            <a:ext cx="3736975" cy="851535"/>
          </a:xfrm>
          <a:prstGeom prst="rect">
            <a:avLst/>
          </a:prstGeom>
          <a:solidFill>
            <a:srgbClr val="FFF2CC"/>
          </a:solidFill>
          <a:ln w="9525">
            <a:solidFill>
              <a:srgbClr val="000000"/>
            </a:solidFill>
          </a:ln>
        </p:spPr>
        <p:txBody>
          <a:bodyPr vert="horz" wrap="square" lIns="0" tIns="15875" rIns="0" bIns="0" rtlCol="0">
            <a:spAutoFit/>
          </a:bodyPr>
          <a:lstStyle/>
          <a:p>
            <a:pPr marL="90805" marR="234950" algn="just">
              <a:lnSpc>
                <a:spcPct val="119300"/>
              </a:lnSpc>
              <a:spcBef>
                <a:spcPts val="125"/>
              </a:spcBef>
            </a:pPr>
            <a:r>
              <a:rPr sz="1400" dirty="0">
                <a:solidFill>
                  <a:sysClr val="windowText" lastClr="000000"/>
                </a:solidFill>
                <a:latin typeface="Palatino Linotype"/>
                <a:cs typeface="Palatino Linotype"/>
              </a:rPr>
              <a:t>Store</a:t>
            </a:r>
            <a:r>
              <a:rPr sz="1400" spc="-30" dirty="0">
                <a:solidFill>
                  <a:sysClr val="windowText" lastClr="000000"/>
                </a:solidFill>
                <a:latin typeface="Palatino Linotype"/>
                <a:cs typeface="Palatino Linotype"/>
              </a:rPr>
              <a:t> </a:t>
            </a:r>
            <a:r>
              <a:rPr sz="1400" dirty="0">
                <a:solidFill>
                  <a:sysClr val="windowText" lastClr="000000"/>
                </a:solidFill>
                <a:latin typeface="Palatino Linotype"/>
                <a:cs typeface="Palatino Linotype"/>
              </a:rPr>
              <a:t>the</a:t>
            </a:r>
            <a:r>
              <a:rPr sz="1400" spc="-30" dirty="0">
                <a:solidFill>
                  <a:sysClr val="windowText" lastClr="000000"/>
                </a:solidFill>
                <a:latin typeface="Palatino Linotype"/>
                <a:cs typeface="Palatino Linotype"/>
              </a:rPr>
              <a:t> </a:t>
            </a:r>
            <a:r>
              <a:rPr sz="1400" dirty="0">
                <a:solidFill>
                  <a:sysClr val="windowText" lastClr="000000"/>
                </a:solidFill>
                <a:latin typeface="Palatino Linotype"/>
                <a:cs typeface="Palatino Linotype"/>
              </a:rPr>
              <a:t>literal</a:t>
            </a:r>
            <a:r>
              <a:rPr sz="1400" spc="-20" dirty="0">
                <a:solidFill>
                  <a:sysClr val="windowText" lastClr="000000"/>
                </a:solidFill>
                <a:latin typeface="Palatino Linotype"/>
                <a:cs typeface="Palatino Linotype"/>
              </a:rPr>
              <a:t> </a:t>
            </a:r>
            <a:r>
              <a:rPr sz="1400" dirty="0">
                <a:solidFill>
                  <a:srgbClr val="FF0000"/>
                </a:solidFill>
                <a:latin typeface="Palatino Linotype"/>
                <a:cs typeface="Palatino Linotype"/>
              </a:rPr>
              <a:t>return</a:t>
            </a:r>
            <a:r>
              <a:rPr sz="1400" spc="-35" dirty="0">
                <a:solidFill>
                  <a:srgbClr val="FF0000"/>
                </a:solidFill>
                <a:latin typeface="Palatino Linotype"/>
                <a:cs typeface="Palatino Linotype"/>
              </a:rPr>
              <a:t> </a:t>
            </a:r>
            <a:r>
              <a:rPr sz="1400" dirty="0">
                <a:solidFill>
                  <a:srgbClr val="FF0000"/>
                </a:solidFill>
                <a:latin typeface="Palatino Linotype"/>
                <a:cs typeface="Palatino Linotype"/>
              </a:rPr>
              <a:t>address</a:t>
            </a:r>
            <a:r>
              <a:rPr sz="1400" spc="-35" dirty="0">
                <a:solidFill>
                  <a:srgbClr val="FF0000"/>
                </a:solidFill>
                <a:latin typeface="Palatino Linotype"/>
                <a:cs typeface="Palatino Linotype"/>
              </a:rPr>
              <a:t> </a:t>
            </a:r>
            <a:r>
              <a:rPr sz="1400" dirty="0">
                <a:solidFill>
                  <a:sysClr val="windowText" lastClr="000000"/>
                </a:solidFill>
                <a:latin typeface="Palatino Linotype"/>
                <a:cs typeface="Palatino Linotype"/>
              </a:rPr>
              <a:t>(</a:t>
            </a:r>
            <a:r>
              <a:rPr sz="1400" dirty="0">
                <a:solidFill>
                  <a:srgbClr val="0432FF"/>
                </a:solidFill>
                <a:latin typeface="Palatino Linotype"/>
                <a:cs typeface="Palatino Linotype"/>
              </a:rPr>
              <a:t>the</a:t>
            </a:r>
            <a:r>
              <a:rPr sz="1400" spc="-30" dirty="0">
                <a:solidFill>
                  <a:srgbClr val="0432FF"/>
                </a:solidFill>
                <a:latin typeface="Palatino Linotype"/>
                <a:cs typeface="Palatino Linotype"/>
              </a:rPr>
              <a:t> </a:t>
            </a:r>
            <a:r>
              <a:rPr sz="1400" spc="-10" dirty="0">
                <a:solidFill>
                  <a:srgbClr val="0432FF"/>
                </a:solidFill>
                <a:latin typeface="Palatino Linotype"/>
                <a:cs typeface="Palatino Linotype"/>
              </a:rPr>
              <a:t>address </a:t>
            </a:r>
            <a:r>
              <a:rPr sz="1400" dirty="0">
                <a:solidFill>
                  <a:srgbClr val="0432FF"/>
                </a:solidFill>
                <a:latin typeface="Palatino Linotype"/>
                <a:cs typeface="Palatino Linotype"/>
              </a:rPr>
              <a:t>of</a:t>
            </a:r>
            <a:r>
              <a:rPr sz="1400" spc="-25" dirty="0">
                <a:solidFill>
                  <a:srgbClr val="0432FF"/>
                </a:solidFill>
                <a:latin typeface="Palatino Linotype"/>
                <a:cs typeface="Palatino Linotype"/>
              </a:rPr>
              <a:t> </a:t>
            </a:r>
            <a:r>
              <a:rPr sz="1400" dirty="0">
                <a:solidFill>
                  <a:srgbClr val="0432FF"/>
                </a:solidFill>
                <a:latin typeface="Palatino Linotype"/>
                <a:cs typeface="Palatino Linotype"/>
              </a:rPr>
              <a:t>the</a:t>
            </a:r>
            <a:r>
              <a:rPr sz="1400" spc="-20" dirty="0">
                <a:solidFill>
                  <a:srgbClr val="0432FF"/>
                </a:solidFill>
                <a:latin typeface="Palatino Linotype"/>
                <a:cs typeface="Palatino Linotype"/>
              </a:rPr>
              <a:t> </a:t>
            </a:r>
            <a:r>
              <a:rPr sz="1400" dirty="0">
                <a:solidFill>
                  <a:srgbClr val="0432FF"/>
                </a:solidFill>
                <a:latin typeface="Palatino Linotype"/>
                <a:cs typeface="Palatino Linotype"/>
              </a:rPr>
              <a:t>instruction</a:t>
            </a:r>
            <a:r>
              <a:rPr sz="1400" spc="-20" dirty="0">
                <a:solidFill>
                  <a:srgbClr val="0432FF"/>
                </a:solidFill>
                <a:latin typeface="Palatino Linotype"/>
                <a:cs typeface="Palatino Linotype"/>
              </a:rPr>
              <a:t> </a:t>
            </a:r>
            <a:r>
              <a:rPr sz="1400" dirty="0">
                <a:solidFill>
                  <a:srgbClr val="0432FF"/>
                </a:solidFill>
                <a:latin typeface="Palatino Linotype"/>
                <a:cs typeface="Palatino Linotype"/>
              </a:rPr>
              <a:t>after</a:t>
            </a:r>
            <a:r>
              <a:rPr sz="1400" spc="-25" dirty="0">
                <a:solidFill>
                  <a:srgbClr val="0432FF"/>
                </a:solidFill>
                <a:latin typeface="Palatino Linotype"/>
                <a:cs typeface="Palatino Linotype"/>
              </a:rPr>
              <a:t> </a:t>
            </a:r>
            <a:r>
              <a:rPr sz="1400" dirty="0">
                <a:solidFill>
                  <a:srgbClr val="0432FF"/>
                </a:solidFill>
                <a:latin typeface="Cambria Math"/>
                <a:cs typeface="Cambria Math"/>
              </a:rPr>
              <a:t>BR</a:t>
            </a:r>
            <a:r>
              <a:rPr sz="1400" dirty="0">
                <a:solidFill>
                  <a:sysClr val="windowText" lastClr="000000"/>
                </a:solidFill>
                <a:latin typeface="Palatino Linotype"/>
                <a:cs typeface="Palatino Linotype"/>
              </a:rPr>
              <a:t>)</a:t>
            </a:r>
            <a:r>
              <a:rPr sz="1400" spc="-20" dirty="0">
                <a:solidFill>
                  <a:sysClr val="windowText" lastClr="000000"/>
                </a:solidFill>
                <a:latin typeface="Palatino Linotype"/>
                <a:cs typeface="Palatino Linotype"/>
              </a:rPr>
              <a:t> </a:t>
            </a:r>
            <a:r>
              <a:rPr sz="1400" dirty="0">
                <a:solidFill>
                  <a:sysClr val="windowText" lastClr="000000"/>
                </a:solidFill>
                <a:latin typeface="Palatino Linotype"/>
                <a:cs typeface="Palatino Linotype"/>
              </a:rPr>
              <a:t>at</a:t>
            </a:r>
            <a:r>
              <a:rPr sz="1400" spc="-15" dirty="0">
                <a:solidFill>
                  <a:sysClr val="windowText" lastClr="000000"/>
                </a:solidFill>
                <a:latin typeface="Palatino Linotype"/>
                <a:cs typeface="Palatino Linotype"/>
              </a:rPr>
              <a:t> </a:t>
            </a:r>
            <a:r>
              <a:rPr sz="1400" dirty="0">
                <a:solidFill>
                  <a:sysClr val="windowText" lastClr="000000"/>
                </a:solidFill>
                <a:latin typeface="Palatino Linotype"/>
                <a:cs typeface="Palatino Linotype"/>
              </a:rPr>
              <a:t>the</a:t>
            </a:r>
            <a:r>
              <a:rPr sz="1400" spc="-15" dirty="0">
                <a:solidFill>
                  <a:sysClr val="windowText" lastClr="000000"/>
                </a:solidFill>
                <a:latin typeface="Palatino Linotype"/>
                <a:cs typeface="Palatino Linotype"/>
              </a:rPr>
              <a:t> </a:t>
            </a:r>
            <a:r>
              <a:rPr sz="1400" spc="-10" dirty="0">
                <a:solidFill>
                  <a:sysClr val="windowText" lastClr="000000"/>
                </a:solidFill>
                <a:latin typeface="Palatino Linotype"/>
                <a:cs typeface="Palatino Linotype"/>
              </a:rPr>
              <a:t>beginning </a:t>
            </a:r>
            <a:r>
              <a:rPr sz="1400" dirty="0">
                <a:solidFill>
                  <a:sysClr val="windowText" lastClr="000000"/>
                </a:solidFill>
                <a:latin typeface="Palatino Linotype"/>
                <a:cs typeface="Palatino Linotype"/>
              </a:rPr>
              <a:t>of</a:t>
            </a:r>
            <a:r>
              <a:rPr sz="1400" spc="-15" dirty="0">
                <a:solidFill>
                  <a:sysClr val="windowText" lastClr="000000"/>
                </a:solidFill>
                <a:latin typeface="Palatino Linotype"/>
                <a:cs typeface="Palatino Linotype"/>
              </a:rPr>
              <a:t> </a:t>
            </a:r>
            <a:r>
              <a:rPr sz="1400" dirty="0">
                <a:solidFill>
                  <a:sysClr val="windowText" lastClr="000000"/>
                </a:solidFill>
                <a:latin typeface="Palatino Linotype"/>
                <a:cs typeface="Palatino Linotype"/>
              </a:rPr>
              <a:t>the</a:t>
            </a:r>
            <a:r>
              <a:rPr sz="1400" spc="-10" dirty="0">
                <a:solidFill>
                  <a:sysClr val="windowText" lastClr="000000"/>
                </a:solidFill>
                <a:latin typeface="Palatino Linotype"/>
                <a:cs typeface="Palatino Linotype"/>
              </a:rPr>
              <a:t> </a:t>
            </a:r>
            <a:r>
              <a:rPr sz="1400" spc="-20" dirty="0">
                <a:solidFill>
                  <a:sysClr val="windowText" lastClr="000000"/>
                </a:solidFill>
                <a:latin typeface="Palatino Linotype"/>
                <a:cs typeface="Palatino Linotype"/>
              </a:rPr>
              <a:t>callee’s</a:t>
            </a:r>
            <a:r>
              <a:rPr sz="1400" spc="-15" dirty="0">
                <a:solidFill>
                  <a:sysClr val="windowText" lastClr="000000"/>
                </a:solidFill>
                <a:latin typeface="Palatino Linotype"/>
                <a:cs typeface="Palatino Linotype"/>
              </a:rPr>
              <a:t> </a:t>
            </a:r>
            <a:r>
              <a:rPr sz="1400" spc="-10" dirty="0">
                <a:solidFill>
                  <a:sysClr val="windowText" lastClr="000000"/>
                </a:solidFill>
                <a:latin typeface="Palatino Linotype"/>
                <a:cs typeface="Palatino Linotype"/>
              </a:rPr>
              <a:t>activation</a:t>
            </a:r>
            <a:r>
              <a:rPr sz="1400" spc="-15" dirty="0">
                <a:solidFill>
                  <a:sysClr val="windowText" lastClr="000000"/>
                </a:solidFill>
                <a:latin typeface="Palatino Linotype"/>
                <a:cs typeface="Palatino Linotype"/>
              </a:rPr>
              <a:t> </a:t>
            </a:r>
            <a:r>
              <a:rPr sz="1400" spc="-10" dirty="0">
                <a:solidFill>
                  <a:sysClr val="windowText" lastClr="000000"/>
                </a:solidFill>
                <a:latin typeface="Palatino Linotype"/>
                <a:cs typeface="Palatino Linotype"/>
              </a:rPr>
              <a:t>record</a:t>
            </a:r>
            <a:endParaRPr sz="1400">
              <a:solidFill>
                <a:sysClr val="windowText" lastClr="000000"/>
              </a:solidFill>
              <a:latin typeface="Palatino Linotype"/>
              <a:cs typeface="Palatino Linotype"/>
            </a:endParaRPr>
          </a:p>
        </p:txBody>
      </p:sp>
      <p:sp>
        <p:nvSpPr>
          <p:cNvPr id="19" name="object 8">
            <a:extLst>
              <a:ext uri="{FF2B5EF4-FFF2-40B4-BE49-F238E27FC236}">
                <a16:creationId xmlns:a16="http://schemas.microsoft.com/office/drawing/2014/main" id="{CA13F947-F9F2-7AB5-F2DC-E534F6DB61B4}"/>
              </a:ext>
            </a:extLst>
          </p:cNvPr>
          <p:cNvSpPr txBox="1"/>
          <p:nvPr/>
        </p:nvSpPr>
        <p:spPr>
          <a:xfrm>
            <a:off x="2837967" y="5041336"/>
            <a:ext cx="5052695" cy="593090"/>
          </a:xfrm>
          <a:prstGeom prst="rect">
            <a:avLst/>
          </a:prstGeom>
          <a:solidFill>
            <a:srgbClr val="FFF2CC"/>
          </a:solidFill>
          <a:ln w="9525">
            <a:solidFill>
              <a:srgbClr val="000000"/>
            </a:solidFill>
          </a:ln>
        </p:spPr>
        <p:txBody>
          <a:bodyPr vert="horz" wrap="square" lIns="0" tIns="13970" rIns="0" bIns="0" rtlCol="0">
            <a:spAutoFit/>
          </a:bodyPr>
          <a:lstStyle/>
          <a:p>
            <a:pPr marL="91440" marR="88900">
              <a:lnSpc>
                <a:spcPct val="120000"/>
              </a:lnSpc>
              <a:spcBef>
                <a:spcPts val="110"/>
              </a:spcBef>
            </a:pPr>
            <a:r>
              <a:rPr sz="1400" dirty="0">
                <a:solidFill>
                  <a:sysClr val="windowText" lastClr="000000"/>
                </a:solidFill>
                <a:latin typeface="Palatino Linotype"/>
                <a:cs typeface="Palatino Linotype"/>
              </a:rPr>
              <a:t>Constant</a:t>
            </a:r>
            <a:r>
              <a:rPr sz="1400" spc="-30" dirty="0">
                <a:solidFill>
                  <a:sysClr val="windowText" lastClr="000000"/>
                </a:solidFill>
                <a:latin typeface="Palatino Linotype"/>
                <a:cs typeface="Palatino Linotype"/>
              </a:rPr>
              <a:t> </a:t>
            </a:r>
            <a:r>
              <a:rPr sz="1400" dirty="0">
                <a:solidFill>
                  <a:srgbClr val="FF0000"/>
                </a:solidFill>
                <a:latin typeface="Cambria Math"/>
                <a:cs typeface="Cambria Math"/>
              </a:rPr>
              <a:t>𝑐𝑜𝑑𝑒𝐴𝑟𝑒𝑎</a:t>
            </a:r>
            <a:r>
              <a:rPr sz="1400" spc="30" dirty="0">
                <a:solidFill>
                  <a:srgbClr val="FF0000"/>
                </a:solidFill>
                <a:latin typeface="Cambria Math"/>
                <a:cs typeface="Cambria Math"/>
              </a:rPr>
              <a:t> </a:t>
            </a:r>
            <a:r>
              <a:rPr sz="1400" dirty="0">
                <a:solidFill>
                  <a:sysClr val="windowText" lastClr="000000"/>
                </a:solidFill>
                <a:latin typeface="Palatino Linotype"/>
                <a:cs typeface="Palatino Linotype"/>
              </a:rPr>
              <a:t>gives</a:t>
            </a:r>
            <a:r>
              <a:rPr sz="1400" spc="-40" dirty="0">
                <a:solidFill>
                  <a:sysClr val="windowText" lastClr="000000"/>
                </a:solidFill>
                <a:latin typeface="Palatino Linotype"/>
                <a:cs typeface="Palatino Linotype"/>
              </a:rPr>
              <a:t> </a:t>
            </a:r>
            <a:r>
              <a:rPr sz="1400" dirty="0">
                <a:solidFill>
                  <a:sysClr val="windowText" lastClr="000000"/>
                </a:solidFill>
                <a:latin typeface="Palatino Linotype"/>
                <a:cs typeface="Palatino Linotype"/>
              </a:rPr>
              <a:t>the</a:t>
            </a:r>
            <a:r>
              <a:rPr sz="1400" spc="-35" dirty="0">
                <a:solidFill>
                  <a:sysClr val="windowText" lastClr="000000"/>
                </a:solidFill>
                <a:latin typeface="Palatino Linotype"/>
                <a:cs typeface="Palatino Linotype"/>
              </a:rPr>
              <a:t> </a:t>
            </a:r>
            <a:r>
              <a:rPr sz="1400" dirty="0">
                <a:solidFill>
                  <a:sysClr val="windowText" lastClr="000000"/>
                </a:solidFill>
                <a:latin typeface="Palatino Linotype"/>
                <a:cs typeface="Palatino Linotype"/>
              </a:rPr>
              <a:t>address</a:t>
            </a:r>
            <a:r>
              <a:rPr sz="1400" spc="-40" dirty="0">
                <a:solidFill>
                  <a:sysClr val="windowText" lastClr="000000"/>
                </a:solidFill>
                <a:latin typeface="Palatino Linotype"/>
                <a:cs typeface="Palatino Linotype"/>
              </a:rPr>
              <a:t> </a:t>
            </a:r>
            <a:r>
              <a:rPr sz="1400" dirty="0">
                <a:solidFill>
                  <a:sysClr val="windowText" lastClr="000000"/>
                </a:solidFill>
                <a:latin typeface="Palatino Linotype"/>
                <a:cs typeface="Palatino Linotype"/>
              </a:rPr>
              <a:t>of</a:t>
            </a:r>
            <a:r>
              <a:rPr sz="1400" spc="-40" dirty="0">
                <a:solidFill>
                  <a:sysClr val="windowText" lastClr="000000"/>
                </a:solidFill>
                <a:latin typeface="Palatino Linotype"/>
                <a:cs typeface="Palatino Linotype"/>
              </a:rPr>
              <a:t> </a:t>
            </a:r>
            <a:r>
              <a:rPr sz="1400" dirty="0">
                <a:solidFill>
                  <a:srgbClr val="0432FF"/>
                </a:solidFill>
                <a:latin typeface="Palatino Linotype"/>
                <a:cs typeface="Palatino Linotype"/>
              </a:rPr>
              <a:t>the</a:t>
            </a:r>
            <a:r>
              <a:rPr sz="1400" spc="-30" dirty="0">
                <a:solidFill>
                  <a:srgbClr val="0432FF"/>
                </a:solidFill>
                <a:latin typeface="Palatino Linotype"/>
                <a:cs typeface="Palatino Linotype"/>
              </a:rPr>
              <a:t> </a:t>
            </a:r>
            <a:r>
              <a:rPr sz="1400" dirty="0">
                <a:solidFill>
                  <a:srgbClr val="0432FF"/>
                </a:solidFill>
                <a:latin typeface="Palatino Linotype"/>
                <a:cs typeface="Palatino Linotype"/>
              </a:rPr>
              <a:t>first</a:t>
            </a:r>
            <a:r>
              <a:rPr sz="1400" spc="-30" dirty="0">
                <a:solidFill>
                  <a:srgbClr val="0432FF"/>
                </a:solidFill>
                <a:latin typeface="Palatino Linotype"/>
                <a:cs typeface="Palatino Linotype"/>
              </a:rPr>
              <a:t> </a:t>
            </a:r>
            <a:r>
              <a:rPr sz="1400" dirty="0">
                <a:solidFill>
                  <a:srgbClr val="0432FF"/>
                </a:solidFill>
                <a:latin typeface="Palatino Linotype"/>
                <a:cs typeface="Palatino Linotype"/>
              </a:rPr>
              <a:t>instruction</a:t>
            </a:r>
            <a:r>
              <a:rPr sz="1400" spc="-35" dirty="0">
                <a:solidFill>
                  <a:srgbClr val="0432FF"/>
                </a:solidFill>
                <a:latin typeface="Palatino Linotype"/>
                <a:cs typeface="Palatino Linotype"/>
              </a:rPr>
              <a:t> </a:t>
            </a:r>
            <a:r>
              <a:rPr sz="1400" spc="-25" dirty="0">
                <a:solidFill>
                  <a:srgbClr val="0432FF"/>
                </a:solidFill>
                <a:latin typeface="Palatino Linotype"/>
                <a:cs typeface="Palatino Linotype"/>
              </a:rPr>
              <a:t>of </a:t>
            </a:r>
            <a:r>
              <a:rPr sz="1400" dirty="0">
                <a:solidFill>
                  <a:srgbClr val="0432FF"/>
                </a:solidFill>
                <a:latin typeface="Palatino Linotype"/>
                <a:cs typeface="Palatino Linotype"/>
              </a:rPr>
              <a:t>the</a:t>
            </a:r>
            <a:r>
              <a:rPr sz="1400" spc="-15" dirty="0">
                <a:solidFill>
                  <a:srgbClr val="0432FF"/>
                </a:solidFill>
                <a:latin typeface="Palatino Linotype"/>
                <a:cs typeface="Palatino Linotype"/>
              </a:rPr>
              <a:t> </a:t>
            </a:r>
            <a:r>
              <a:rPr sz="1400" i="1" dirty="0">
                <a:solidFill>
                  <a:srgbClr val="0432FF"/>
                </a:solidFill>
                <a:latin typeface="Palatino Linotype"/>
                <a:cs typeface="Palatino Linotype"/>
              </a:rPr>
              <a:t>callee</a:t>
            </a:r>
            <a:r>
              <a:rPr sz="1400" i="1" spc="-10" dirty="0">
                <a:solidFill>
                  <a:srgbClr val="0432FF"/>
                </a:solidFill>
                <a:latin typeface="Palatino Linotype"/>
                <a:cs typeface="Palatino Linotype"/>
              </a:rPr>
              <a:t> </a:t>
            </a:r>
            <a:r>
              <a:rPr sz="1400" dirty="0">
                <a:solidFill>
                  <a:sysClr val="windowText" lastClr="000000"/>
                </a:solidFill>
                <a:latin typeface="Palatino Linotype"/>
                <a:cs typeface="Palatino Linotype"/>
              </a:rPr>
              <a:t>in</a:t>
            </a:r>
            <a:r>
              <a:rPr sz="1400" spc="-20" dirty="0">
                <a:solidFill>
                  <a:sysClr val="windowText" lastClr="000000"/>
                </a:solidFill>
                <a:latin typeface="Palatino Linotype"/>
                <a:cs typeface="Palatino Linotype"/>
              </a:rPr>
              <a:t> </a:t>
            </a:r>
            <a:r>
              <a:rPr sz="1400" dirty="0">
                <a:solidFill>
                  <a:sysClr val="windowText" lastClr="000000"/>
                </a:solidFill>
                <a:latin typeface="Palatino Linotype"/>
                <a:cs typeface="Palatino Linotype"/>
              </a:rPr>
              <a:t>the</a:t>
            </a:r>
            <a:r>
              <a:rPr sz="1400" spc="-15" dirty="0">
                <a:solidFill>
                  <a:sysClr val="windowText" lastClr="000000"/>
                </a:solidFill>
                <a:latin typeface="Palatino Linotype"/>
                <a:cs typeface="Palatino Linotype"/>
              </a:rPr>
              <a:t> </a:t>
            </a:r>
            <a:r>
              <a:rPr sz="1400" dirty="0">
                <a:solidFill>
                  <a:sysClr val="windowText" lastClr="000000"/>
                </a:solidFill>
                <a:latin typeface="Cambria Math"/>
                <a:cs typeface="Cambria Math"/>
              </a:rPr>
              <a:t>𝐶𝑜𝑑𝑒</a:t>
            </a:r>
            <a:r>
              <a:rPr sz="1400" spc="60" dirty="0">
                <a:solidFill>
                  <a:sysClr val="windowText" lastClr="000000"/>
                </a:solidFill>
                <a:latin typeface="Cambria Math"/>
                <a:cs typeface="Cambria Math"/>
              </a:rPr>
              <a:t> </a:t>
            </a:r>
            <a:r>
              <a:rPr sz="1400" dirty="0">
                <a:solidFill>
                  <a:sysClr val="windowText" lastClr="000000"/>
                </a:solidFill>
                <a:latin typeface="Palatino Linotype"/>
                <a:cs typeface="Palatino Linotype"/>
              </a:rPr>
              <a:t>area</a:t>
            </a:r>
            <a:r>
              <a:rPr sz="1400" spc="-15" dirty="0">
                <a:solidFill>
                  <a:sysClr val="windowText" lastClr="000000"/>
                </a:solidFill>
                <a:latin typeface="Palatino Linotype"/>
                <a:cs typeface="Palatino Linotype"/>
              </a:rPr>
              <a:t> </a:t>
            </a:r>
            <a:r>
              <a:rPr sz="1400" dirty="0">
                <a:solidFill>
                  <a:sysClr val="windowText" lastClr="000000"/>
                </a:solidFill>
                <a:latin typeface="Palatino Linotype"/>
                <a:cs typeface="Palatino Linotype"/>
              </a:rPr>
              <a:t>of</a:t>
            </a:r>
            <a:r>
              <a:rPr sz="1400" spc="-20" dirty="0">
                <a:solidFill>
                  <a:sysClr val="windowText" lastClr="000000"/>
                </a:solidFill>
                <a:latin typeface="Palatino Linotype"/>
                <a:cs typeface="Palatino Linotype"/>
              </a:rPr>
              <a:t> </a:t>
            </a:r>
            <a:r>
              <a:rPr sz="1400" dirty="0">
                <a:solidFill>
                  <a:sysClr val="windowText" lastClr="000000"/>
                </a:solidFill>
                <a:latin typeface="Palatino Linotype"/>
                <a:cs typeface="Palatino Linotype"/>
              </a:rPr>
              <a:t>the</a:t>
            </a:r>
            <a:r>
              <a:rPr sz="1400" spc="-15" dirty="0">
                <a:solidFill>
                  <a:sysClr val="windowText" lastClr="000000"/>
                </a:solidFill>
                <a:latin typeface="Palatino Linotype"/>
                <a:cs typeface="Palatino Linotype"/>
              </a:rPr>
              <a:t> </a:t>
            </a:r>
            <a:r>
              <a:rPr sz="1400" spc="-10" dirty="0">
                <a:solidFill>
                  <a:sysClr val="windowText" lastClr="000000"/>
                </a:solidFill>
                <a:latin typeface="Palatino Linotype"/>
                <a:cs typeface="Palatino Linotype"/>
              </a:rPr>
              <a:t>run-</a:t>
            </a:r>
            <a:r>
              <a:rPr sz="1400" dirty="0">
                <a:solidFill>
                  <a:sysClr val="windowText" lastClr="000000"/>
                </a:solidFill>
                <a:latin typeface="Palatino Linotype"/>
                <a:cs typeface="Palatino Linotype"/>
              </a:rPr>
              <a:t>time</a:t>
            </a:r>
            <a:r>
              <a:rPr sz="1400" spc="-15" dirty="0">
                <a:solidFill>
                  <a:sysClr val="windowText" lastClr="000000"/>
                </a:solidFill>
                <a:latin typeface="Palatino Linotype"/>
                <a:cs typeface="Palatino Linotype"/>
              </a:rPr>
              <a:t> </a:t>
            </a:r>
            <a:r>
              <a:rPr sz="1400" spc="-10" dirty="0">
                <a:solidFill>
                  <a:sysClr val="windowText" lastClr="000000"/>
                </a:solidFill>
                <a:latin typeface="Palatino Linotype"/>
                <a:cs typeface="Palatino Linotype"/>
              </a:rPr>
              <a:t>memory</a:t>
            </a:r>
            <a:endParaRPr sz="1400">
              <a:solidFill>
                <a:sysClr val="windowText" lastClr="000000"/>
              </a:solidFill>
              <a:latin typeface="Palatino Linotype"/>
              <a:cs typeface="Palatino Linotype"/>
            </a:endParaRPr>
          </a:p>
        </p:txBody>
      </p:sp>
      <p:sp>
        <p:nvSpPr>
          <p:cNvPr id="20" name="object 9">
            <a:extLst>
              <a:ext uri="{FF2B5EF4-FFF2-40B4-BE49-F238E27FC236}">
                <a16:creationId xmlns:a16="http://schemas.microsoft.com/office/drawing/2014/main" id="{40E14992-5F5E-3340-6566-7E7D058493BF}"/>
              </a:ext>
            </a:extLst>
          </p:cNvPr>
          <p:cNvSpPr/>
          <p:nvPr/>
        </p:nvSpPr>
        <p:spPr>
          <a:xfrm>
            <a:off x="2608983" y="4300461"/>
            <a:ext cx="1172845" cy="741045"/>
          </a:xfrm>
          <a:custGeom>
            <a:avLst/>
            <a:gdLst/>
            <a:ahLst/>
            <a:cxnLst/>
            <a:rect l="l" t="t" r="r" b="b"/>
            <a:pathLst>
              <a:path w="1172845" h="741045">
                <a:moveTo>
                  <a:pt x="1063508" y="718296"/>
                </a:moveTo>
                <a:lnTo>
                  <a:pt x="1059108" y="722420"/>
                </a:lnTo>
                <a:lnTo>
                  <a:pt x="1058767" y="732936"/>
                </a:lnTo>
                <a:lnTo>
                  <a:pt x="1062890" y="737336"/>
                </a:lnTo>
                <a:lnTo>
                  <a:pt x="1172639" y="740896"/>
                </a:lnTo>
                <a:lnTo>
                  <a:pt x="1171601" y="738913"/>
                </a:lnTo>
                <a:lnTo>
                  <a:pt x="1151563" y="738913"/>
                </a:lnTo>
                <a:lnTo>
                  <a:pt x="1121723" y="720184"/>
                </a:lnTo>
                <a:lnTo>
                  <a:pt x="1063508" y="718296"/>
                </a:lnTo>
                <a:close/>
              </a:path>
              <a:path w="1172845" h="741045">
                <a:moveTo>
                  <a:pt x="1121723" y="720184"/>
                </a:moveTo>
                <a:lnTo>
                  <a:pt x="1151563" y="738913"/>
                </a:lnTo>
                <a:lnTo>
                  <a:pt x="1153853" y="735265"/>
                </a:lnTo>
                <a:lnTo>
                  <a:pt x="1148189" y="735265"/>
                </a:lnTo>
                <a:lnTo>
                  <a:pt x="1140616" y="720797"/>
                </a:lnTo>
                <a:lnTo>
                  <a:pt x="1121723" y="720184"/>
                </a:lnTo>
                <a:close/>
              </a:path>
              <a:path w="1172845" h="741045">
                <a:moveTo>
                  <a:pt x="1115961" y="641811"/>
                </a:moveTo>
                <a:lnTo>
                  <a:pt x="1106639" y="646690"/>
                </a:lnTo>
                <a:lnTo>
                  <a:pt x="1104839" y="652445"/>
                </a:lnTo>
                <a:lnTo>
                  <a:pt x="1131850" y="704050"/>
                </a:lnTo>
                <a:lnTo>
                  <a:pt x="1161690" y="722779"/>
                </a:lnTo>
                <a:lnTo>
                  <a:pt x="1151563" y="738913"/>
                </a:lnTo>
                <a:lnTo>
                  <a:pt x="1171601" y="738913"/>
                </a:lnTo>
                <a:lnTo>
                  <a:pt x="1121717" y="643611"/>
                </a:lnTo>
                <a:lnTo>
                  <a:pt x="1115961" y="641811"/>
                </a:lnTo>
                <a:close/>
              </a:path>
              <a:path w="1172845" h="741045">
                <a:moveTo>
                  <a:pt x="1140616" y="720797"/>
                </a:moveTo>
                <a:lnTo>
                  <a:pt x="1148189" y="735265"/>
                </a:lnTo>
                <a:lnTo>
                  <a:pt x="1156936" y="721326"/>
                </a:lnTo>
                <a:lnTo>
                  <a:pt x="1140616" y="720797"/>
                </a:lnTo>
                <a:close/>
              </a:path>
              <a:path w="1172845" h="741045">
                <a:moveTo>
                  <a:pt x="1131850" y="704050"/>
                </a:moveTo>
                <a:lnTo>
                  <a:pt x="1140616" y="720797"/>
                </a:lnTo>
                <a:lnTo>
                  <a:pt x="1156936" y="721326"/>
                </a:lnTo>
                <a:lnTo>
                  <a:pt x="1148189" y="735265"/>
                </a:lnTo>
                <a:lnTo>
                  <a:pt x="1153853" y="735265"/>
                </a:lnTo>
                <a:lnTo>
                  <a:pt x="1161690" y="722779"/>
                </a:lnTo>
                <a:lnTo>
                  <a:pt x="1131850" y="704050"/>
                </a:lnTo>
                <a:close/>
              </a:path>
              <a:path w="1172845" h="741045">
                <a:moveTo>
                  <a:pt x="10126" y="0"/>
                </a:moveTo>
                <a:lnTo>
                  <a:pt x="0" y="16135"/>
                </a:lnTo>
                <a:lnTo>
                  <a:pt x="1121723" y="720184"/>
                </a:lnTo>
                <a:lnTo>
                  <a:pt x="1140616" y="720797"/>
                </a:lnTo>
                <a:lnTo>
                  <a:pt x="1131850" y="704050"/>
                </a:lnTo>
                <a:lnTo>
                  <a:pt x="10126" y="0"/>
                </a:lnTo>
                <a:close/>
              </a:path>
            </a:pathLst>
          </a:custGeom>
          <a:solidFill>
            <a:srgbClr val="FF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pic>
        <p:nvPicPr>
          <p:cNvPr id="2" name="图片 1">
            <a:extLst>
              <a:ext uri="{FF2B5EF4-FFF2-40B4-BE49-F238E27FC236}">
                <a16:creationId xmlns:a16="http://schemas.microsoft.com/office/drawing/2014/main" id="{A839C824-3140-4CD5-82F2-E519CD9992EA}"/>
              </a:ext>
            </a:extLst>
          </p:cNvPr>
          <p:cNvPicPr>
            <a:picLocks noChangeAspect="1"/>
          </p:cNvPicPr>
          <p:nvPr/>
        </p:nvPicPr>
        <p:blipFill rotWithShape="1">
          <a:blip r:embed="rId4"/>
          <a:srcRect r="32921"/>
          <a:stretch/>
        </p:blipFill>
        <p:spPr>
          <a:xfrm>
            <a:off x="8172400" y="136524"/>
            <a:ext cx="919014" cy="1679933"/>
          </a:xfrm>
          <a:prstGeom prst="rect">
            <a:avLst/>
          </a:prstGeom>
        </p:spPr>
      </p:pic>
    </p:spTree>
    <p:extLst>
      <p:ext uri="{BB962C8B-B14F-4D97-AF65-F5344CB8AC3E}">
        <p14:creationId xmlns:p14="http://schemas.microsoft.com/office/powerpoint/2010/main" val="33614400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15</a:t>
            </a:fld>
            <a:endParaRPr lang="en-US"/>
          </a:p>
        </p:txBody>
      </p:sp>
      <p:sp>
        <p:nvSpPr>
          <p:cNvPr id="10" name="object 2">
            <a:extLst>
              <a:ext uri="{FF2B5EF4-FFF2-40B4-BE49-F238E27FC236}">
                <a16:creationId xmlns:a16="http://schemas.microsoft.com/office/drawing/2014/main" id="{F7E8B721-5208-0512-DBE0-5DCCC0B76FA1}"/>
              </a:ext>
            </a:extLst>
          </p:cNvPr>
          <p:cNvSpPr txBox="1">
            <a:spLocks/>
          </p:cNvSpPr>
          <p:nvPr/>
        </p:nvSpPr>
        <p:spPr>
          <a:xfrm>
            <a:off x="707390" y="524763"/>
            <a:ext cx="7729219" cy="63500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4000" b="1" i="0" u="none" strike="noStrike" kern="0" cap="none" spc="0" normalizeH="0" baseline="0" noProof="0">
                <a:ln>
                  <a:noFill/>
                </a:ln>
                <a:solidFill>
                  <a:sysClr val="windowText" lastClr="000000"/>
                </a:solidFill>
                <a:effectLst/>
                <a:uLnTx/>
                <a:uFillTx/>
                <a:latin typeface="Palatino Linotype"/>
                <a:ea typeface="+mj-ea"/>
              </a:rPr>
              <a:t>Static</a:t>
            </a:r>
            <a:r>
              <a:rPr kumimoji="0" lang="en-US" sz="4000" b="1" i="0" u="none" strike="noStrike" kern="0" cap="none" spc="-95" normalizeH="0" baseline="0" noProof="0">
                <a:ln>
                  <a:noFill/>
                </a:ln>
                <a:solidFill>
                  <a:sysClr val="windowText" lastClr="000000"/>
                </a:solidFill>
                <a:effectLst/>
                <a:uLnTx/>
                <a:uFillTx/>
                <a:latin typeface="Palatino Linotype"/>
                <a:ea typeface="+mj-ea"/>
              </a:rPr>
              <a:t> </a:t>
            </a:r>
            <a:r>
              <a:rPr kumimoji="0" lang="en-US" sz="4000" b="1" i="0" u="none" strike="noStrike" kern="0" cap="none" spc="0" normalizeH="0" baseline="0" noProof="0">
                <a:ln>
                  <a:noFill/>
                </a:ln>
                <a:solidFill>
                  <a:sysClr val="windowText" lastClr="000000"/>
                </a:solidFill>
                <a:effectLst/>
                <a:uLnTx/>
                <a:uFillTx/>
                <a:latin typeface="Palatino Linotype"/>
                <a:ea typeface="+mj-ea"/>
              </a:rPr>
              <a:t>Allocation</a:t>
            </a:r>
            <a:r>
              <a:rPr kumimoji="0" lang="en-US" sz="4000" b="1" i="0" u="none" strike="noStrike" kern="0" cap="none" spc="-55" normalizeH="0" baseline="0" noProof="0">
                <a:ln>
                  <a:noFill/>
                </a:ln>
                <a:solidFill>
                  <a:sysClr val="windowText" lastClr="000000"/>
                </a:solidFill>
                <a:effectLst/>
                <a:uLnTx/>
                <a:uFillTx/>
                <a:latin typeface="Palatino Linotype"/>
                <a:ea typeface="+mj-ea"/>
              </a:rPr>
              <a:t> (</a:t>
            </a:r>
            <a:r>
              <a:rPr kumimoji="0" lang="zh-CN" altLang="en-US" sz="3900" b="0" i="0" u="none" strike="noStrike" kern="0" cap="none" spc="85" normalizeH="0" baseline="0" noProof="0">
                <a:ln>
                  <a:noFill/>
                </a:ln>
                <a:solidFill>
                  <a:sysClr val="windowText" lastClr="000000"/>
                </a:solidFill>
                <a:effectLst/>
                <a:uLnTx/>
                <a:uFillTx/>
                <a:latin typeface="SimSun"/>
                <a:ea typeface="宋体" panose="02010600030101010101" pitchFamily="2" charset="-122"/>
                <a:cs typeface="SimSun"/>
              </a:rPr>
              <a:t>静态分配</a:t>
            </a:r>
            <a:r>
              <a:rPr kumimoji="0" lang="en-US" altLang="zh-CN" sz="4000" b="1" i="0" u="none" strike="noStrike" kern="0" cap="none" spc="-50" normalizeH="0" baseline="0" noProof="0">
                <a:ln>
                  <a:noFill/>
                </a:ln>
                <a:solidFill>
                  <a:sysClr val="windowText" lastClr="000000"/>
                </a:solidFill>
                <a:effectLst/>
                <a:uLnTx/>
                <a:uFillTx/>
                <a:latin typeface="Palatino Linotype"/>
                <a:ea typeface="宋体" panose="02010600030101010101" pitchFamily="2" charset="-122"/>
              </a:rPr>
              <a:t>)</a:t>
            </a:r>
            <a:endParaRPr kumimoji="0" lang="zh-CN" altLang="en-US" sz="4000" b="1" i="0" u="none" strike="noStrike" kern="0" cap="none" spc="0" normalizeH="0" baseline="0" noProof="0">
              <a:ln>
                <a:noFill/>
              </a:ln>
              <a:solidFill>
                <a:sysClr val="windowText" lastClr="000000"/>
              </a:solidFill>
              <a:effectLst/>
              <a:uLnTx/>
              <a:uFillTx/>
              <a:latin typeface="SimSun"/>
              <a:ea typeface="宋体" panose="02010600030101010101" pitchFamily="2" charset="-122"/>
              <a:cs typeface="SimSun"/>
            </a:endParaRPr>
          </a:p>
        </p:txBody>
      </p:sp>
      <p:sp>
        <p:nvSpPr>
          <p:cNvPr id="11" name="object 3">
            <a:extLst>
              <a:ext uri="{FF2B5EF4-FFF2-40B4-BE49-F238E27FC236}">
                <a16:creationId xmlns:a16="http://schemas.microsoft.com/office/drawing/2014/main" id="{E351EDF0-2542-0F59-551E-A88A9A23233B}"/>
              </a:ext>
            </a:extLst>
          </p:cNvPr>
          <p:cNvSpPr txBox="1"/>
          <p:nvPr/>
        </p:nvSpPr>
        <p:spPr>
          <a:xfrm>
            <a:off x="707390" y="1657603"/>
            <a:ext cx="5636260" cy="391160"/>
          </a:xfrm>
          <a:prstGeom prst="rect">
            <a:avLst/>
          </a:prstGeom>
        </p:spPr>
        <p:txBody>
          <a:bodyPr vert="horz" wrap="square" lIns="0" tIns="12700" rIns="0" bIns="0" rtlCol="0">
            <a:spAutoFit/>
          </a:bodyPr>
          <a:lstStyle/>
          <a:p>
            <a:pPr marL="241935" indent="-229235">
              <a:spcBef>
                <a:spcPts val="100"/>
              </a:spcBef>
              <a:buFont typeface="Arial MT"/>
              <a:buChar char="•"/>
              <a:tabLst>
                <a:tab pos="241935" algn="l"/>
              </a:tabLst>
            </a:pPr>
            <a:r>
              <a:rPr sz="2400" dirty="0">
                <a:solidFill>
                  <a:sysClr val="windowText" lastClr="000000"/>
                </a:solidFill>
                <a:latin typeface="Palatino Linotype"/>
                <a:cs typeface="Palatino Linotype"/>
              </a:rPr>
              <a:t>Code</a:t>
            </a:r>
            <a:r>
              <a:rPr sz="2400" spc="-40" dirty="0">
                <a:solidFill>
                  <a:sysClr val="windowText" lastClr="000000"/>
                </a:solidFill>
                <a:latin typeface="Palatino Linotype"/>
                <a:cs typeface="Palatino Linotype"/>
              </a:rPr>
              <a:t> </a:t>
            </a:r>
            <a:r>
              <a:rPr sz="2400" dirty="0">
                <a:solidFill>
                  <a:sysClr val="windowText" lastClr="000000"/>
                </a:solidFill>
                <a:latin typeface="Palatino Linotype"/>
                <a:cs typeface="Palatino Linotype"/>
              </a:rPr>
              <a:t>for</a:t>
            </a:r>
            <a:r>
              <a:rPr sz="2400" spc="-35" dirty="0">
                <a:solidFill>
                  <a:sysClr val="windowText" lastClr="000000"/>
                </a:solidFill>
                <a:latin typeface="Palatino Linotype"/>
                <a:cs typeface="Palatino Linotype"/>
              </a:rPr>
              <a:t> </a:t>
            </a:r>
            <a:r>
              <a:rPr sz="2400" dirty="0">
                <a:solidFill>
                  <a:sysClr val="windowText" lastClr="000000"/>
                </a:solidFill>
                <a:latin typeface="Palatino Linotype"/>
                <a:cs typeface="Palatino Linotype"/>
              </a:rPr>
              <a:t>the</a:t>
            </a:r>
            <a:r>
              <a:rPr sz="2400" spc="-35" dirty="0">
                <a:solidFill>
                  <a:sysClr val="windowText" lastClr="000000"/>
                </a:solidFill>
                <a:latin typeface="Palatino Linotype"/>
                <a:cs typeface="Palatino Linotype"/>
              </a:rPr>
              <a:t> </a:t>
            </a:r>
            <a:r>
              <a:rPr sz="2400" dirty="0">
                <a:solidFill>
                  <a:srgbClr val="0432FF"/>
                </a:solidFill>
                <a:latin typeface="Cambria Math"/>
                <a:cs typeface="Cambria Math"/>
              </a:rPr>
              <a:t>𝑟𝑒𝑡𝑢𝑟𝑛</a:t>
            </a:r>
            <a:r>
              <a:rPr sz="2400" spc="75" dirty="0">
                <a:solidFill>
                  <a:srgbClr val="0432FF"/>
                </a:solidFill>
                <a:latin typeface="Cambria Math"/>
                <a:cs typeface="Cambria Math"/>
              </a:rPr>
              <a:t> </a:t>
            </a:r>
            <a:r>
              <a:rPr sz="2400" dirty="0">
                <a:solidFill>
                  <a:sysClr val="windowText" lastClr="000000"/>
                </a:solidFill>
                <a:latin typeface="Palatino Linotype"/>
                <a:cs typeface="Palatino Linotype"/>
              </a:rPr>
              <a:t>statement</a:t>
            </a:r>
            <a:r>
              <a:rPr sz="2400" spc="-35" dirty="0">
                <a:solidFill>
                  <a:sysClr val="windowText" lastClr="000000"/>
                </a:solidFill>
                <a:latin typeface="Palatino Linotype"/>
                <a:cs typeface="Palatino Linotype"/>
              </a:rPr>
              <a:t> </a:t>
            </a:r>
            <a:r>
              <a:rPr sz="2400" dirty="0">
                <a:solidFill>
                  <a:sysClr val="windowText" lastClr="000000"/>
                </a:solidFill>
                <a:latin typeface="Palatino Linotype"/>
                <a:cs typeface="Palatino Linotype"/>
              </a:rPr>
              <a:t>in</a:t>
            </a:r>
            <a:r>
              <a:rPr sz="2400" spc="-35" dirty="0">
                <a:solidFill>
                  <a:sysClr val="windowText" lastClr="000000"/>
                </a:solidFill>
                <a:latin typeface="Palatino Linotype"/>
                <a:cs typeface="Palatino Linotype"/>
              </a:rPr>
              <a:t> </a:t>
            </a:r>
            <a:r>
              <a:rPr sz="2400" dirty="0">
                <a:solidFill>
                  <a:sysClr val="windowText" lastClr="000000"/>
                </a:solidFill>
                <a:latin typeface="Palatino Linotype"/>
                <a:cs typeface="Palatino Linotype"/>
              </a:rPr>
              <a:t>a</a:t>
            </a:r>
            <a:r>
              <a:rPr sz="2400" spc="-35" dirty="0">
                <a:solidFill>
                  <a:sysClr val="windowText" lastClr="000000"/>
                </a:solidFill>
                <a:latin typeface="Palatino Linotype"/>
                <a:cs typeface="Palatino Linotype"/>
              </a:rPr>
              <a:t> </a:t>
            </a:r>
            <a:r>
              <a:rPr sz="2400" i="1" spc="-10" dirty="0">
                <a:solidFill>
                  <a:sysClr val="windowText" lastClr="000000"/>
                </a:solidFill>
                <a:latin typeface="Palatino Linotype"/>
                <a:cs typeface="Palatino Linotype"/>
              </a:rPr>
              <a:t>callee</a:t>
            </a:r>
            <a:endParaRPr sz="2400">
              <a:solidFill>
                <a:sysClr val="windowText" lastClr="000000"/>
              </a:solidFill>
              <a:latin typeface="Palatino Linotype"/>
              <a:cs typeface="Palatino Linotype"/>
            </a:endParaRPr>
          </a:p>
        </p:txBody>
      </p:sp>
      <p:pic>
        <p:nvPicPr>
          <p:cNvPr id="12" name="object 4">
            <a:extLst>
              <a:ext uri="{FF2B5EF4-FFF2-40B4-BE49-F238E27FC236}">
                <a16:creationId xmlns:a16="http://schemas.microsoft.com/office/drawing/2014/main" id="{C9E3B58E-C4F6-59AE-D978-9ED815A3F5EF}"/>
              </a:ext>
            </a:extLst>
          </p:cNvPr>
          <p:cNvPicPr/>
          <p:nvPr/>
        </p:nvPicPr>
        <p:blipFill>
          <a:blip r:embed="rId3" cstate="print"/>
          <a:stretch>
            <a:fillRect/>
          </a:stretch>
        </p:blipFill>
        <p:spPr>
          <a:xfrm>
            <a:off x="981026" y="2586729"/>
            <a:ext cx="3385906" cy="274997"/>
          </a:xfrm>
          <a:prstGeom prst="rect">
            <a:avLst/>
          </a:prstGeom>
        </p:spPr>
      </p:pic>
      <p:sp>
        <p:nvSpPr>
          <p:cNvPr id="13" name="object 5">
            <a:extLst>
              <a:ext uri="{FF2B5EF4-FFF2-40B4-BE49-F238E27FC236}">
                <a16:creationId xmlns:a16="http://schemas.microsoft.com/office/drawing/2014/main" id="{98B36C56-8411-2F02-7D76-2FEB5AAF8128}"/>
              </a:ext>
            </a:extLst>
          </p:cNvPr>
          <p:cNvSpPr txBox="1"/>
          <p:nvPr/>
        </p:nvSpPr>
        <p:spPr>
          <a:xfrm>
            <a:off x="2838772" y="3743491"/>
            <a:ext cx="5052695" cy="735965"/>
          </a:xfrm>
          <a:prstGeom prst="rect">
            <a:avLst/>
          </a:prstGeom>
          <a:solidFill>
            <a:srgbClr val="FFF2CC"/>
          </a:solidFill>
          <a:ln w="9525">
            <a:solidFill>
              <a:srgbClr val="000000"/>
            </a:solidFill>
          </a:ln>
        </p:spPr>
        <p:txBody>
          <a:bodyPr vert="horz" wrap="square" lIns="0" tIns="19685" rIns="0" bIns="0" rtlCol="0">
            <a:spAutoFit/>
          </a:bodyPr>
          <a:lstStyle/>
          <a:p>
            <a:pPr marL="361315" marR="344170" indent="-10160">
              <a:lnSpc>
                <a:spcPts val="2620"/>
              </a:lnSpc>
              <a:spcBef>
                <a:spcPts val="155"/>
              </a:spcBef>
            </a:pPr>
            <a:r>
              <a:rPr spc="-20" dirty="0">
                <a:solidFill>
                  <a:sysClr val="windowText" lastClr="000000"/>
                </a:solidFill>
                <a:latin typeface="Palatino Linotype"/>
                <a:cs typeface="Palatino Linotype"/>
              </a:rPr>
              <a:t>Transfer</a:t>
            </a:r>
            <a:r>
              <a:rPr spc="-40"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control</a:t>
            </a:r>
            <a:r>
              <a:rPr spc="-40"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to</a:t>
            </a:r>
            <a:r>
              <a:rPr spc="-35"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the</a:t>
            </a:r>
            <a:r>
              <a:rPr spc="-40"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address</a:t>
            </a:r>
            <a:r>
              <a:rPr spc="-45"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saved</a:t>
            </a:r>
            <a:r>
              <a:rPr spc="-35"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at</a:t>
            </a:r>
            <a:r>
              <a:rPr spc="-40" dirty="0">
                <a:solidFill>
                  <a:sysClr val="windowText" lastClr="000000"/>
                </a:solidFill>
                <a:latin typeface="Palatino Linotype"/>
                <a:cs typeface="Palatino Linotype"/>
              </a:rPr>
              <a:t> </a:t>
            </a:r>
            <a:r>
              <a:rPr spc="-25" dirty="0">
                <a:solidFill>
                  <a:sysClr val="windowText" lastClr="000000"/>
                </a:solidFill>
                <a:latin typeface="Palatino Linotype"/>
                <a:cs typeface="Palatino Linotype"/>
              </a:rPr>
              <a:t>the </a:t>
            </a:r>
            <a:r>
              <a:rPr dirty="0">
                <a:solidFill>
                  <a:sysClr val="windowText" lastClr="000000"/>
                </a:solidFill>
                <a:latin typeface="Palatino Linotype"/>
                <a:cs typeface="Palatino Linotype"/>
              </a:rPr>
              <a:t>beginning</a:t>
            </a:r>
            <a:r>
              <a:rPr spc="-40"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of</a:t>
            </a:r>
            <a:r>
              <a:rPr spc="-35"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the</a:t>
            </a:r>
            <a:r>
              <a:rPr spc="-35" dirty="0">
                <a:solidFill>
                  <a:sysClr val="windowText" lastClr="000000"/>
                </a:solidFill>
                <a:latin typeface="Palatino Linotype"/>
                <a:cs typeface="Palatino Linotype"/>
              </a:rPr>
              <a:t> </a:t>
            </a:r>
            <a:r>
              <a:rPr spc="-10" dirty="0">
                <a:solidFill>
                  <a:sysClr val="windowText" lastClr="000000"/>
                </a:solidFill>
                <a:latin typeface="Palatino Linotype"/>
                <a:cs typeface="Palatino Linotype"/>
              </a:rPr>
              <a:t>activation</a:t>
            </a:r>
            <a:r>
              <a:rPr spc="-35"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record</a:t>
            </a:r>
            <a:r>
              <a:rPr spc="-35"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for</a:t>
            </a:r>
            <a:r>
              <a:rPr spc="-35" dirty="0">
                <a:solidFill>
                  <a:sysClr val="windowText" lastClr="000000"/>
                </a:solidFill>
                <a:latin typeface="Palatino Linotype"/>
                <a:cs typeface="Palatino Linotype"/>
              </a:rPr>
              <a:t> </a:t>
            </a:r>
            <a:r>
              <a:rPr i="1" spc="-10" dirty="0">
                <a:solidFill>
                  <a:sysClr val="windowText" lastClr="000000"/>
                </a:solidFill>
                <a:latin typeface="Palatino Linotype"/>
                <a:cs typeface="Palatino Linotype"/>
              </a:rPr>
              <a:t>callee</a:t>
            </a:r>
            <a:endParaRPr>
              <a:solidFill>
                <a:sysClr val="windowText" lastClr="000000"/>
              </a:solidFill>
              <a:latin typeface="Palatino Linotype"/>
              <a:cs typeface="Palatino Linotype"/>
            </a:endParaRPr>
          </a:p>
        </p:txBody>
      </p:sp>
      <p:sp>
        <p:nvSpPr>
          <p:cNvPr id="14" name="object 6">
            <a:extLst>
              <a:ext uri="{FF2B5EF4-FFF2-40B4-BE49-F238E27FC236}">
                <a16:creationId xmlns:a16="http://schemas.microsoft.com/office/drawing/2014/main" id="{7FD34C2D-7D11-03F4-5570-A45EBBAE3C6D}"/>
              </a:ext>
            </a:extLst>
          </p:cNvPr>
          <p:cNvSpPr/>
          <p:nvPr/>
        </p:nvSpPr>
        <p:spPr>
          <a:xfrm>
            <a:off x="2609788" y="3002616"/>
            <a:ext cx="1172845" cy="741045"/>
          </a:xfrm>
          <a:custGeom>
            <a:avLst/>
            <a:gdLst/>
            <a:ahLst/>
            <a:cxnLst/>
            <a:rect l="l" t="t" r="r" b="b"/>
            <a:pathLst>
              <a:path w="1172845" h="741045">
                <a:moveTo>
                  <a:pt x="1063509" y="718296"/>
                </a:moveTo>
                <a:lnTo>
                  <a:pt x="1059108" y="722420"/>
                </a:lnTo>
                <a:lnTo>
                  <a:pt x="1058768" y="732936"/>
                </a:lnTo>
                <a:lnTo>
                  <a:pt x="1062892" y="737336"/>
                </a:lnTo>
                <a:lnTo>
                  <a:pt x="1172640" y="740896"/>
                </a:lnTo>
                <a:lnTo>
                  <a:pt x="1171602" y="738913"/>
                </a:lnTo>
                <a:lnTo>
                  <a:pt x="1151564" y="738913"/>
                </a:lnTo>
                <a:lnTo>
                  <a:pt x="1121724" y="720184"/>
                </a:lnTo>
                <a:lnTo>
                  <a:pt x="1063509" y="718296"/>
                </a:lnTo>
                <a:close/>
              </a:path>
              <a:path w="1172845" h="741045">
                <a:moveTo>
                  <a:pt x="1121724" y="720184"/>
                </a:moveTo>
                <a:lnTo>
                  <a:pt x="1151564" y="738913"/>
                </a:lnTo>
                <a:lnTo>
                  <a:pt x="1153855" y="735263"/>
                </a:lnTo>
                <a:lnTo>
                  <a:pt x="1148190" y="735263"/>
                </a:lnTo>
                <a:lnTo>
                  <a:pt x="1140618" y="720797"/>
                </a:lnTo>
                <a:lnTo>
                  <a:pt x="1121724" y="720184"/>
                </a:lnTo>
                <a:close/>
              </a:path>
              <a:path w="1172845" h="741045">
                <a:moveTo>
                  <a:pt x="1115962" y="641811"/>
                </a:moveTo>
                <a:lnTo>
                  <a:pt x="1106641" y="646690"/>
                </a:lnTo>
                <a:lnTo>
                  <a:pt x="1104840" y="652445"/>
                </a:lnTo>
                <a:lnTo>
                  <a:pt x="1131851" y="704049"/>
                </a:lnTo>
                <a:lnTo>
                  <a:pt x="1161691" y="722778"/>
                </a:lnTo>
                <a:lnTo>
                  <a:pt x="1151564" y="738913"/>
                </a:lnTo>
                <a:lnTo>
                  <a:pt x="1171602" y="738913"/>
                </a:lnTo>
                <a:lnTo>
                  <a:pt x="1121718" y="643611"/>
                </a:lnTo>
                <a:lnTo>
                  <a:pt x="1115962" y="641811"/>
                </a:lnTo>
                <a:close/>
              </a:path>
              <a:path w="1172845" h="741045">
                <a:moveTo>
                  <a:pt x="1140618" y="720797"/>
                </a:moveTo>
                <a:lnTo>
                  <a:pt x="1148190" y="735263"/>
                </a:lnTo>
                <a:lnTo>
                  <a:pt x="1156938" y="721326"/>
                </a:lnTo>
                <a:lnTo>
                  <a:pt x="1140618" y="720797"/>
                </a:lnTo>
                <a:close/>
              </a:path>
              <a:path w="1172845" h="741045">
                <a:moveTo>
                  <a:pt x="1131851" y="704049"/>
                </a:moveTo>
                <a:lnTo>
                  <a:pt x="1140618" y="720797"/>
                </a:lnTo>
                <a:lnTo>
                  <a:pt x="1156938" y="721326"/>
                </a:lnTo>
                <a:lnTo>
                  <a:pt x="1148190" y="735263"/>
                </a:lnTo>
                <a:lnTo>
                  <a:pt x="1153855" y="735263"/>
                </a:lnTo>
                <a:lnTo>
                  <a:pt x="1161691" y="722778"/>
                </a:lnTo>
                <a:lnTo>
                  <a:pt x="1131851" y="704049"/>
                </a:lnTo>
                <a:close/>
              </a:path>
              <a:path w="1172845" h="741045">
                <a:moveTo>
                  <a:pt x="10126" y="0"/>
                </a:moveTo>
                <a:lnTo>
                  <a:pt x="0" y="16135"/>
                </a:lnTo>
                <a:lnTo>
                  <a:pt x="1121724" y="720184"/>
                </a:lnTo>
                <a:lnTo>
                  <a:pt x="1140618" y="720797"/>
                </a:lnTo>
                <a:lnTo>
                  <a:pt x="1131851" y="704049"/>
                </a:lnTo>
                <a:lnTo>
                  <a:pt x="10126" y="0"/>
                </a:lnTo>
                <a:close/>
              </a:path>
            </a:pathLst>
          </a:custGeom>
          <a:solidFill>
            <a:srgbClr val="FF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Tree>
    <p:extLst>
      <p:ext uri="{BB962C8B-B14F-4D97-AF65-F5344CB8AC3E}">
        <p14:creationId xmlns:p14="http://schemas.microsoft.com/office/powerpoint/2010/main" val="24132230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16</a:t>
            </a:fld>
            <a:endParaRPr lang="en-US"/>
          </a:p>
        </p:txBody>
      </p:sp>
      <p:sp>
        <p:nvSpPr>
          <p:cNvPr id="28" name="object 2">
            <a:extLst>
              <a:ext uri="{FF2B5EF4-FFF2-40B4-BE49-F238E27FC236}">
                <a16:creationId xmlns:a16="http://schemas.microsoft.com/office/drawing/2014/main" id="{CE72019C-4762-0E6B-2550-C2B6417B82AB}"/>
              </a:ext>
            </a:extLst>
          </p:cNvPr>
          <p:cNvSpPr txBox="1">
            <a:spLocks/>
          </p:cNvSpPr>
          <p:nvPr/>
        </p:nvSpPr>
        <p:spPr>
          <a:xfrm>
            <a:off x="707390" y="524763"/>
            <a:ext cx="2027555" cy="63500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4000" b="1" i="0" u="none" strike="noStrike" kern="0" cap="none" spc="-10" normalizeH="0" baseline="0" noProof="0">
                <a:ln>
                  <a:noFill/>
                </a:ln>
                <a:solidFill>
                  <a:sysClr val="windowText" lastClr="000000"/>
                </a:solidFill>
                <a:effectLst/>
                <a:uLnTx/>
                <a:uFillTx/>
                <a:latin typeface="Palatino Linotype"/>
                <a:ea typeface="+mj-ea"/>
              </a:rPr>
              <a:t>Example</a:t>
            </a:r>
            <a:endParaRPr kumimoji="0" lang="en-US" sz="4000" b="1" i="0" u="none" strike="noStrike" kern="0" cap="none" spc="-10" normalizeH="0" baseline="0" noProof="0" dirty="0">
              <a:ln>
                <a:noFill/>
              </a:ln>
              <a:solidFill>
                <a:sysClr val="windowText" lastClr="000000"/>
              </a:solidFill>
              <a:effectLst/>
              <a:uLnTx/>
              <a:uFillTx/>
              <a:latin typeface="Palatino Linotype"/>
              <a:ea typeface="+mj-ea"/>
            </a:endParaRPr>
          </a:p>
        </p:txBody>
      </p:sp>
      <p:grpSp>
        <p:nvGrpSpPr>
          <p:cNvPr id="29" name="object 3">
            <a:extLst>
              <a:ext uri="{FF2B5EF4-FFF2-40B4-BE49-F238E27FC236}">
                <a16:creationId xmlns:a16="http://schemas.microsoft.com/office/drawing/2014/main" id="{F0CB025F-8199-E7AF-42E3-F96043307B6C}"/>
              </a:ext>
            </a:extLst>
          </p:cNvPr>
          <p:cNvGrpSpPr/>
          <p:nvPr/>
        </p:nvGrpSpPr>
        <p:grpSpPr>
          <a:xfrm>
            <a:off x="2575292" y="1541920"/>
            <a:ext cx="6069330" cy="4350385"/>
            <a:chOff x="2575292" y="1541920"/>
            <a:chExt cx="6069330" cy="4350385"/>
          </a:xfrm>
        </p:grpSpPr>
        <p:pic>
          <p:nvPicPr>
            <p:cNvPr id="30" name="object 4">
              <a:extLst>
                <a:ext uri="{FF2B5EF4-FFF2-40B4-BE49-F238E27FC236}">
                  <a16:creationId xmlns:a16="http://schemas.microsoft.com/office/drawing/2014/main" id="{C36A56D5-A71A-4855-150C-4D0CA21B61EB}"/>
                </a:ext>
              </a:extLst>
            </p:cNvPr>
            <p:cNvPicPr/>
            <p:nvPr/>
          </p:nvPicPr>
          <p:blipFill>
            <a:blip r:embed="rId3" cstate="print"/>
            <a:stretch>
              <a:fillRect/>
            </a:stretch>
          </p:blipFill>
          <p:spPr>
            <a:xfrm>
              <a:off x="2575292" y="1541920"/>
              <a:ext cx="5956339" cy="4274284"/>
            </a:xfrm>
            <a:prstGeom prst="rect">
              <a:avLst/>
            </a:prstGeom>
          </p:spPr>
        </p:pic>
        <p:sp>
          <p:nvSpPr>
            <p:cNvPr id="31" name="object 5">
              <a:extLst>
                <a:ext uri="{FF2B5EF4-FFF2-40B4-BE49-F238E27FC236}">
                  <a16:creationId xmlns:a16="http://schemas.microsoft.com/office/drawing/2014/main" id="{919C6B04-E949-0B5E-8225-4563F89558CE}"/>
                </a:ext>
              </a:extLst>
            </p:cNvPr>
            <p:cNvSpPr/>
            <p:nvPr/>
          </p:nvSpPr>
          <p:spPr>
            <a:xfrm>
              <a:off x="3028949" y="1983783"/>
              <a:ext cx="1501775" cy="269240"/>
            </a:xfrm>
            <a:custGeom>
              <a:avLst/>
              <a:gdLst/>
              <a:ahLst/>
              <a:cxnLst/>
              <a:rect l="l" t="t" r="r" b="b"/>
              <a:pathLst>
                <a:path w="1501775" h="269239">
                  <a:moveTo>
                    <a:pt x="0" y="134318"/>
                  </a:moveTo>
                  <a:lnTo>
                    <a:pt x="33757" y="94376"/>
                  </a:lnTo>
                  <a:lnTo>
                    <a:pt x="90624" y="70294"/>
                  </a:lnTo>
                  <a:lnTo>
                    <a:pt x="128235" y="59219"/>
                  </a:lnTo>
                  <a:lnTo>
                    <a:pt x="171460" y="48879"/>
                  </a:lnTo>
                  <a:lnTo>
                    <a:pt x="219921" y="39340"/>
                  </a:lnTo>
                  <a:lnTo>
                    <a:pt x="273243" y="30671"/>
                  </a:lnTo>
                  <a:lnTo>
                    <a:pt x="331047" y="22939"/>
                  </a:lnTo>
                  <a:lnTo>
                    <a:pt x="392955" y="16211"/>
                  </a:lnTo>
                  <a:lnTo>
                    <a:pt x="458591" y="10555"/>
                  </a:lnTo>
                  <a:lnTo>
                    <a:pt x="527577" y="6038"/>
                  </a:lnTo>
                  <a:lnTo>
                    <a:pt x="599535" y="2728"/>
                  </a:lnTo>
                  <a:lnTo>
                    <a:pt x="674089" y="693"/>
                  </a:lnTo>
                  <a:lnTo>
                    <a:pt x="750860" y="0"/>
                  </a:lnTo>
                  <a:lnTo>
                    <a:pt x="827631" y="693"/>
                  </a:lnTo>
                  <a:lnTo>
                    <a:pt x="902185" y="2728"/>
                  </a:lnTo>
                  <a:lnTo>
                    <a:pt x="974143" y="6038"/>
                  </a:lnTo>
                  <a:lnTo>
                    <a:pt x="1043129" y="10555"/>
                  </a:lnTo>
                  <a:lnTo>
                    <a:pt x="1108765" y="16211"/>
                  </a:lnTo>
                  <a:lnTo>
                    <a:pt x="1170673" y="22939"/>
                  </a:lnTo>
                  <a:lnTo>
                    <a:pt x="1228477" y="30671"/>
                  </a:lnTo>
                  <a:lnTo>
                    <a:pt x="1281798" y="39340"/>
                  </a:lnTo>
                  <a:lnTo>
                    <a:pt x="1330260" y="48879"/>
                  </a:lnTo>
                  <a:lnTo>
                    <a:pt x="1373485" y="59219"/>
                  </a:lnTo>
                  <a:lnTo>
                    <a:pt x="1411096" y="70294"/>
                  </a:lnTo>
                  <a:lnTo>
                    <a:pt x="1467963" y="94376"/>
                  </a:lnTo>
                  <a:lnTo>
                    <a:pt x="1497844" y="120585"/>
                  </a:lnTo>
                  <a:lnTo>
                    <a:pt x="1501721" y="134318"/>
                  </a:lnTo>
                  <a:lnTo>
                    <a:pt x="1497844" y="148051"/>
                  </a:lnTo>
                  <a:lnTo>
                    <a:pt x="1467963" y="174260"/>
                  </a:lnTo>
                  <a:lnTo>
                    <a:pt x="1411096" y="198342"/>
                  </a:lnTo>
                  <a:lnTo>
                    <a:pt x="1373485" y="209417"/>
                  </a:lnTo>
                  <a:lnTo>
                    <a:pt x="1330260" y="219757"/>
                  </a:lnTo>
                  <a:lnTo>
                    <a:pt x="1281798" y="229296"/>
                  </a:lnTo>
                  <a:lnTo>
                    <a:pt x="1228477" y="237965"/>
                  </a:lnTo>
                  <a:lnTo>
                    <a:pt x="1170673" y="245697"/>
                  </a:lnTo>
                  <a:lnTo>
                    <a:pt x="1108765" y="252425"/>
                  </a:lnTo>
                  <a:lnTo>
                    <a:pt x="1043129" y="258081"/>
                  </a:lnTo>
                  <a:lnTo>
                    <a:pt x="974143" y="262598"/>
                  </a:lnTo>
                  <a:lnTo>
                    <a:pt x="902185" y="265908"/>
                  </a:lnTo>
                  <a:lnTo>
                    <a:pt x="827631" y="267943"/>
                  </a:lnTo>
                  <a:lnTo>
                    <a:pt x="750860" y="268637"/>
                  </a:lnTo>
                  <a:lnTo>
                    <a:pt x="674089" y="267943"/>
                  </a:lnTo>
                  <a:lnTo>
                    <a:pt x="599535" y="265908"/>
                  </a:lnTo>
                  <a:lnTo>
                    <a:pt x="527577" y="262598"/>
                  </a:lnTo>
                  <a:lnTo>
                    <a:pt x="458591" y="258081"/>
                  </a:lnTo>
                  <a:lnTo>
                    <a:pt x="392955" y="252425"/>
                  </a:lnTo>
                  <a:lnTo>
                    <a:pt x="331047" y="245697"/>
                  </a:lnTo>
                  <a:lnTo>
                    <a:pt x="273243" y="237965"/>
                  </a:lnTo>
                  <a:lnTo>
                    <a:pt x="219921" y="229296"/>
                  </a:lnTo>
                  <a:lnTo>
                    <a:pt x="171460" y="219757"/>
                  </a:lnTo>
                  <a:lnTo>
                    <a:pt x="128235" y="209417"/>
                  </a:lnTo>
                  <a:lnTo>
                    <a:pt x="90624" y="198342"/>
                  </a:lnTo>
                  <a:lnTo>
                    <a:pt x="33757" y="174260"/>
                  </a:lnTo>
                  <a:lnTo>
                    <a:pt x="3876" y="148051"/>
                  </a:lnTo>
                  <a:lnTo>
                    <a:pt x="0" y="134318"/>
                  </a:lnTo>
                  <a:close/>
                </a:path>
              </a:pathLst>
            </a:custGeom>
            <a:ln w="12700">
              <a:solidFill>
                <a:srgbClr val="FF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32" name="object 6">
              <a:extLst>
                <a:ext uri="{FF2B5EF4-FFF2-40B4-BE49-F238E27FC236}">
                  <a16:creationId xmlns:a16="http://schemas.microsoft.com/office/drawing/2014/main" id="{49A56C2A-F70A-2AC5-8851-B8EE4745BFF8}"/>
                </a:ext>
              </a:extLst>
            </p:cNvPr>
            <p:cNvSpPr/>
            <p:nvPr/>
          </p:nvSpPr>
          <p:spPr>
            <a:xfrm>
              <a:off x="4773477" y="1983783"/>
              <a:ext cx="3864610" cy="269240"/>
            </a:xfrm>
            <a:custGeom>
              <a:avLst/>
              <a:gdLst/>
              <a:ahLst/>
              <a:cxnLst/>
              <a:rect l="l" t="t" r="r" b="b"/>
              <a:pathLst>
                <a:path w="3864609" h="269239">
                  <a:moveTo>
                    <a:pt x="0" y="0"/>
                  </a:moveTo>
                  <a:lnTo>
                    <a:pt x="3864244" y="0"/>
                  </a:lnTo>
                  <a:lnTo>
                    <a:pt x="3864244" y="268637"/>
                  </a:lnTo>
                  <a:lnTo>
                    <a:pt x="0" y="268637"/>
                  </a:lnTo>
                  <a:lnTo>
                    <a:pt x="0" y="0"/>
                  </a:lnTo>
                  <a:close/>
                </a:path>
              </a:pathLst>
            </a:custGeom>
            <a:ln w="12700">
              <a:solidFill>
                <a:srgbClr val="FF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33" name="object 7">
              <a:extLst>
                <a:ext uri="{FF2B5EF4-FFF2-40B4-BE49-F238E27FC236}">
                  <a16:creationId xmlns:a16="http://schemas.microsoft.com/office/drawing/2014/main" id="{F86A429D-859C-1243-4549-75192694BE7E}"/>
                </a:ext>
              </a:extLst>
            </p:cNvPr>
            <p:cNvSpPr/>
            <p:nvPr/>
          </p:nvSpPr>
          <p:spPr>
            <a:xfrm>
              <a:off x="4773477" y="5048597"/>
              <a:ext cx="3864610" cy="836930"/>
            </a:xfrm>
            <a:custGeom>
              <a:avLst/>
              <a:gdLst/>
              <a:ahLst/>
              <a:cxnLst/>
              <a:rect l="l" t="t" r="r" b="b"/>
              <a:pathLst>
                <a:path w="3864609" h="836929">
                  <a:moveTo>
                    <a:pt x="0" y="0"/>
                  </a:moveTo>
                  <a:lnTo>
                    <a:pt x="3864244" y="0"/>
                  </a:lnTo>
                  <a:lnTo>
                    <a:pt x="3864244" y="836909"/>
                  </a:lnTo>
                  <a:lnTo>
                    <a:pt x="0" y="836909"/>
                  </a:lnTo>
                  <a:lnTo>
                    <a:pt x="0" y="0"/>
                  </a:lnTo>
                  <a:close/>
                </a:path>
              </a:pathLst>
            </a:custGeom>
            <a:ln w="12700">
              <a:solidFill>
                <a:srgbClr val="FF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34" name="object 8">
              <a:extLst>
                <a:ext uri="{FF2B5EF4-FFF2-40B4-BE49-F238E27FC236}">
                  <a16:creationId xmlns:a16="http://schemas.microsoft.com/office/drawing/2014/main" id="{3B9DB400-E954-9C8C-4C74-63CC11AA4E1C}"/>
                </a:ext>
              </a:extLst>
            </p:cNvPr>
            <p:cNvSpPr/>
            <p:nvPr/>
          </p:nvSpPr>
          <p:spPr>
            <a:xfrm>
              <a:off x="3028948" y="3657085"/>
              <a:ext cx="1016635" cy="269240"/>
            </a:xfrm>
            <a:custGeom>
              <a:avLst/>
              <a:gdLst/>
              <a:ahLst/>
              <a:cxnLst/>
              <a:rect l="l" t="t" r="r" b="b"/>
              <a:pathLst>
                <a:path w="1016635" h="269239">
                  <a:moveTo>
                    <a:pt x="0" y="134318"/>
                  </a:moveTo>
                  <a:lnTo>
                    <a:pt x="18148" y="98611"/>
                  </a:lnTo>
                  <a:lnTo>
                    <a:pt x="69364" y="66525"/>
                  </a:lnTo>
                  <a:lnTo>
                    <a:pt x="105859" y="52240"/>
                  </a:lnTo>
                  <a:lnTo>
                    <a:pt x="148805" y="39340"/>
                  </a:lnTo>
                  <a:lnTo>
                    <a:pt x="197597" y="27986"/>
                  </a:lnTo>
                  <a:lnTo>
                    <a:pt x="251629" y="18338"/>
                  </a:lnTo>
                  <a:lnTo>
                    <a:pt x="310296" y="10555"/>
                  </a:lnTo>
                  <a:lnTo>
                    <a:pt x="372993" y="4797"/>
                  </a:lnTo>
                  <a:lnTo>
                    <a:pt x="439114" y="1226"/>
                  </a:lnTo>
                  <a:lnTo>
                    <a:pt x="508054" y="0"/>
                  </a:lnTo>
                  <a:lnTo>
                    <a:pt x="576994" y="1226"/>
                  </a:lnTo>
                  <a:lnTo>
                    <a:pt x="643115" y="4797"/>
                  </a:lnTo>
                  <a:lnTo>
                    <a:pt x="705812" y="10555"/>
                  </a:lnTo>
                  <a:lnTo>
                    <a:pt x="764479" y="18338"/>
                  </a:lnTo>
                  <a:lnTo>
                    <a:pt x="818511" y="27986"/>
                  </a:lnTo>
                  <a:lnTo>
                    <a:pt x="867303" y="39340"/>
                  </a:lnTo>
                  <a:lnTo>
                    <a:pt x="910249" y="52240"/>
                  </a:lnTo>
                  <a:lnTo>
                    <a:pt x="946744" y="66525"/>
                  </a:lnTo>
                  <a:lnTo>
                    <a:pt x="997960" y="98611"/>
                  </a:lnTo>
                  <a:lnTo>
                    <a:pt x="1016109" y="134318"/>
                  </a:lnTo>
                  <a:lnTo>
                    <a:pt x="1011471" y="152544"/>
                  </a:lnTo>
                  <a:lnTo>
                    <a:pt x="976183" y="186601"/>
                  </a:lnTo>
                  <a:lnTo>
                    <a:pt x="910249" y="216396"/>
                  </a:lnTo>
                  <a:lnTo>
                    <a:pt x="867303" y="229296"/>
                  </a:lnTo>
                  <a:lnTo>
                    <a:pt x="818511" y="240650"/>
                  </a:lnTo>
                  <a:lnTo>
                    <a:pt x="764479" y="250298"/>
                  </a:lnTo>
                  <a:lnTo>
                    <a:pt x="705812" y="258081"/>
                  </a:lnTo>
                  <a:lnTo>
                    <a:pt x="643115" y="263839"/>
                  </a:lnTo>
                  <a:lnTo>
                    <a:pt x="576994" y="267410"/>
                  </a:lnTo>
                  <a:lnTo>
                    <a:pt x="508054" y="268637"/>
                  </a:lnTo>
                  <a:lnTo>
                    <a:pt x="439114" y="267410"/>
                  </a:lnTo>
                  <a:lnTo>
                    <a:pt x="372993" y="263839"/>
                  </a:lnTo>
                  <a:lnTo>
                    <a:pt x="310296" y="258081"/>
                  </a:lnTo>
                  <a:lnTo>
                    <a:pt x="251629" y="250298"/>
                  </a:lnTo>
                  <a:lnTo>
                    <a:pt x="197597" y="240650"/>
                  </a:lnTo>
                  <a:lnTo>
                    <a:pt x="148805" y="229296"/>
                  </a:lnTo>
                  <a:lnTo>
                    <a:pt x="105859" y="216396"/>
                  </a:lnTo>
                  <a:lnTo>
                    <a:pt x="69364" y="202111"/>
                  </a:lnTo>
                  <a:lnTo>
                    <a:pt x="18148" y="170025"/>
                  </a:lnTo>
                  <a:lnTo>
                    <a:pt x="0" y="134318"/>
                  </a:lnTo>
                  <a:close/>
                </a:path>
              </a:pathLst>
            </a:custGeom>
            <a:ln w="12700">
              <a:solidFill>
                <a:srgbClr val="0432FF"/>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35" name="object 9">
              <a:extLst>
                <a:ext uri="{FF2B5EF4-FFF2-40B4-BE49-F238E27FC236}">
                  <a16:creationId xmlns:a16="http://schemas.microsoft.com/office/drawing/2014/main" id="{89A487B8-57A1-B156-D8D7-CF33F17EB14B}"/>
                </a:ext>
              </a:extLst>
            </p:cNvPr>
            <p:cNvSpPr/>
            <p:nvPr/>
          </p:nvSpPr>
          <p:spPr>
            <a:xfrm>
              <a:off x="4773477" y="3577770"/>
              <a:ext cx="3864610" cy="410845"/>
            </a:xfrm>
            <a:custGeom>
              <a:avLst/>
              <a:gdLst/>
              <a:ahLst/>
              <a:cxnLst/>
              <a:rect l="l" t="t" r="r" b="b"/>
              <a:pathLst>
                <a:path w="3864609" h="410845">
                  <a:moveTo>
                    <a:pt x="0" y="0"/>
                  </a:moveTo>
                  <a:lnTo>
                    <a:pt x="3864244" y="0"/>
                  </a:lnTo>
                  <a:lnTo>
                    <a:pt x="3864244" y="410460"/>
                  </a:lnTo>
                  <a:lnTo>
                    <a:pt x="0" y="410460"/>
                  </a:lnTo>
                  <a:lnTo>
                    <a:pt x="0" y="0"/>
                  </a:lnTo>
                  <a:close/>
                </a:path>
              </a:pathLst>
            </a:custGeom>
            <a:ln w="12700">
              <a:solidFill>
                <a:srgbClr val="0432FF"/>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36" name="object 10">
              <a:extLst>
                <a:ext uri="{FF2B5EF4-FFF2-40B4-BE49-F238E27FC236}">
                  <a16:creationId xmlns:a16="http://schemas.microsoft.com/office/drawing/2014/main" id="{6764C58A-75AC-D7ED-9168-F8D1FFF77B3A}"/>
                </a:ext>
              </a:extLst>
            </p:cNvPr>
            <p:cNvSpPr/>
            <p:nvPr/>
          </p:nvSpPr>
          <p:spPr>
            <a:xfrm>
              <a:off x="5013727" y="5349477"/>
              <a:ext cx="1485265" cy="269240"/>
            </a:xfrm>
            <a:custGeom>
              <a:avLst/>
              <a:gdLst/>
              <a:ahLst/>
              <a:cxnLst/>
              <a:rect l="l" t="t" r="r" b="b"/>
              <a:pathLst>
                <a:path w="1485264" h="269239">
                  <a:moveTo>
                    <a:pt x="0" y="134318"/>
                  </a:moveTo>
                  <a:lnTo>
                    <a:pt x="33386" y="94376"/>
                  </a:lnTo>
                  <a:lnTo>
                    <a:pt x="89629" y="70294"/>
                  </a:lnTo>
                  <a:lnTo>
                    <a:pt x="126826" y="59219"/>
                  </a:lnTo>
                  <a:lnTo>
                    <a:pt x="169577" y="48879"/>
                  </a:lnTo>
                  <a:lnTo>
                    <a:pt x="217506" y="39340"/>
                  </a:lnTo>
                  <a:lnTo>
                    <a:pt x="270242" y="30671"/>
                  </a:lnTo>
                  <a:lnTo>
                    <a:pt x="327411" y="22939"/>
                  </a:lnTo>
                  <a:lnTo>
                    <a:pt x="388640" y="16211"/>
                  </a:lnTo>
                  <a:lnTo>
                    <a:pt x="453555" y="10555"/>
                  </a:lnTo>
                  <a:lnTo>
                    <a:pt x="521784" y="6038"/>
                  </a:lnTo>
                  <a:lnTo>
                    <a:pt x="592952" y="2728"/>
                  </a:lnTo>
                  <a:lnTo>
                    <a:pt x="666686" y="693"/>
                  </a:lnTo>
                  <a:lnTo>
                    <a:pt x="742615" y="0"/>
                  </a:lnTo>
                  <a:lnTo>
                    <a:pt x="818543" y="693"/>
                  </a:lnTo>
                  <a:lnTo>
                    <a:pt x="892277" y="2728"/>
                  </a:lnTo>
                  <a:lnTo>
                    <a:pt x="963446" y="6038"/>
                  </a:lnTo>
                  <a:lnTo>
                    <a:pt x="1031674" y="10555"/>
                  </a:lnTo>
                  <a:lnTo>
                    <a:pt x="1096589" y="16211"/>
                  </a:lnTo>
                  <a:lnTo>
                    <a:pt x="1157818" y="22939"/>
                  </a:lnTo>
                  <a:lnTo>
                    <a:pt x="1214987" y="30671"/>
                  </a:lnTo>
                  <a:lnTo>
                    <a:pt x="1267723" y="39340"/>
                  </a:lnTo>
                  <a:lnTo>
                    <a:pt x="1315652" y="48879"/>
                  </a:lnTo>
                  <a:lnTo>
                    <a:pt x="1358403" y="59219"/>
                  </a:lnTo>
                  <a:lnTo>
                    <a:pt x="1395600" y="70294"/>
                  </a:lnTo>
                  <a:lnTo>
                    <a:pt x="1451843" y="94376"/>
                  </a:lnTo>
                  <a:lnTo>
                    <a:pt x="1481395" y="120585"/>
                  </a:lnTo>
                  <a:lnTo>
                    <a:pt x="1485230" y="134318"/>
                  </a:lnTo>
                  <a:lnTo>
                    <a:pt x="1481395" y="148051"/>
                  </a:lnTo>
                  <a:lnTo>
                    <a:pt x="1451843" y="174260"/>
                  </a:lnTo>
                  <a:lnTo>
                    <a:pt x="1395600" y="198342"/>
                  </a:lnTo>
                  <a:lnTo>
                    <a:pt x="1358403" y="209417"/>
                  </a:lnTo>
                  <a:lnTo>
                    <a:pt x="1315652" y="219757"/>
                  </a:lnTo>
                  <a:lnTo>
                    <a:pt x="1267723" y="229296"/>
                  </a:lnTo>
                  <a:lnTo>
                    <a:pt x="1214987" y="237965"/>
                  </a:lnTo>
                  <a:lnTo>
                    <a:pt x="1157818" y="245697"/>
                  </a:lnTo>
                  <a:lnTo>
                    <a:pt x="1096589" y="252425"/>
                  </a:lnTo>
                  <a:lnTo>
                    <a:pt x="1031674" y="258081"/>
                  </a:lnTo>
                  <a:lnTo>
                    <a:pt x="963446" y="262598"/>
                  </a:lnTo>
                  <a:lnTo>
                    <a:pt x="892277" y="265908"/>
                  </a:lnTo>
                  <a:lnTo>
                    <a:pt x="818543" y="267943"/>
                  </a:lnTo>
                  <a:lnTo>
                    <a:pt x="742615" y="268637"/>
                  </a:lnTo>
                  <a:lnTo>
                    <a:pt x="666686" y="267943"/>
                  </a:lnTo>
                  <a:lnTo>
                    <a:pt x="592952" y="265908"/>
                  </a:lnTo>
                  <a:lnTo>
                    <a:pt x="521784" y="262598"/>
                  </a:lnTo>
                  <a:lnTo>
                    <a:pt x="453555" y="258081"/>
                  </a:lnTo>
                  <a:lnTo>
                    <a:pt x="388640" y="252425"/>
                  </a:lnTo>
                  <a:lnTo>
                    <a:pt x="327411" y="245697"/>
                  </a:lnTo>
                  <a:lnTo>
                    <a:pt x="270242" y="237965"/>
                  </a:lnTo>
                  <a:lnTo>
                    <a:pt x="217506" y="229296"/>
                  </a:lnTo>
                  <a:lnTo>
                    <a:pt x="169577" y="219757"/>
                  </a:lnTo>
                  <a:lnTo>
                    <a:pt x="126826" y="209417"/>
                  </a:lnTo>
                  <a:lnTo>
                    <a:pt x="89629" y="198342"/>
                  </a:lnTo>
                  <a:lnTo>
                    <a:pt x="33386" y="174260"/>
                  </a:lnTo>
                  <a:lnTo>
                    <a:pt x="3834" y="148051"/>
                  </a:lnTo>
                  <a:lnTo>
                    <a:pt x="0" y="134318"/>
                  </a:lnTo>
                  <a:close/>
                </a:path>
              </a:pathLst>
            </a:custGeom>
            <a:ln w="12700">
              <a:solidFill>
                <a:srgbClr val="0432FF"/>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37" name="object 11">
              <a:extLst>
                <a:ext uri="{FF2B5EF4-FFF2-40B4-BE49-F238E27FC236}">
                  <a16:creationId xmlns:a16="http://schemas.microsoft.com/office/drawing/2014/main" id="{63B22335-1250-9EAD-7660-830B6FC80DD2}"/>
                </a:ext>
              </a:extLst>
            </p:cNvPr>
            <p:cNvSpPr/>
            <p:nvPr/>
          </p:nvSpPr>
          <p:spPr>
            <a:xfrm>
              <a:off x="3900463" y="2628883"/>
              <a:ext cx="452120" cy="1160780"/>
            </a:xfrm>
            <a:custGeom>
              <a:avLst/>
              <a:gdLst/>
              <a:ahLst/>
              <a:cxnLst/>
              <a:rect l="l" t="t" r="r" b="b"/>
              <a:pathLst>
                <a:path w="452120" h="1160779">
                  <a:moveTo>
                    <a:pt x="224674" y="1059007"/>
                  </a:moveTo>
                  <a:lnTo>
                    <a:pt x="209904" y="1059007"/>
                  </a:lnTo>
                  <a:lnTo>
                    <a:pt x="151770" y="1153989"/>
                  </a:lnTo>
                  <a:lnTo>
                    <a:pt x="162601" y="1160618"/>
                  </a:lnTo>
                  <a:lnTo>
                    <a:pt x="220757" y="1065601"/>
                  </a:lnTo>
                  <a:lnTo>
                    <a:pt x="224674" y="1059007"/>
                  </a:lnTo>
                  <a:close/>
                </a:path>
                <a:path w="452120" h="1160779">
                  <a:moveTo>
                    <a:pt x="280468" y="964807"/>
                  </a:moveTo>
                  <a:lnTo>
                    <a:pt x="265859" y="964807"/>
                  </a:lnTo>
                  <a:lnTo>
                    <a:pt x="209872" y="1059059"/>
                  </a:lnTo>
                  <a:lnTo>
                    <a:pt x="224674" y="1059007"/>
                  </a:lnTo>
                  <a:lnTo>
                    <a:pt x="276809" y="971241"/>
                  </a:lnTo>
                  <a:lnTo>
                    <a:pt x="280468" y="964807"/>
                  </a:lnTo>
                  <a:close/>
                </a:path>
                <a:path w="452120" h="1160779">
                  <a:moveTo>
                    <a:pt x="306795" y="918264"/>
                  </a:moveTo>
                  <a:lnTo>
                    <a:pt x="292331" y="918264"/>
                  </a:lnTo>
                  <a:lnTo>
                    <a:pt x="265831" y="964854"/>
                  </a:lnTo>
                  <a:lnTo>
                    <a:pt x="280468" y="964807"/>
                  </a:lnTo>
                  <a:lnTo>
                    <a:pt x="303397" y="924493"/>
                  </a:lnTo>
                  <a:lnTo>
                    <a:pt x="306795" y="918264"/>
                  </a:lnTo>
                  <a:close/>
                </a:path>
                <a:path w="452120" h="1160779">
                  <a:moveTo>
                    <a:pt x="331766" y="872162"/>
                  </a:moveTo>
                  <a:lnTo>
                    <a:pt x="317473" y="872162"/>
                  </a:lnTo>
                  <a:lnTo>
                    <a:pt x="292316" y="918289"/>
                  </a:lnTo>
                  <a:lnTo>
                    <a:pt x="306795" y="918264"/>
                  </a:lnTo>
                  <a:lnTo>
                    <a:pt x="328656" y="878180"/>
                  </a:lnTo>
                  <a:lnTo>
                    <a:pt x="331766" y="872162"/>
                  </a:lnTo>
                  <a:close/>
                </a:path>
                <a:path w="452120" h="1160779">
                  <a:moveTo>
                    <a:pt x="355100" y="826620"/>
                  </a:moveTo>
                  <a:lnTo>
                    <a:pt x="341003" y="826620"/>
                  </a:lnTo>
                  <a:lnTo>
                    <a:pt x="317452" y="872199"/>
                  </a:lnTo>
                  <a:lnTo>
                    <a:pt x="331766" y="872162"/>
                  </a:lnTo>
                  <a:lnTo>
                    <a:pt x="352325" y="832371"/>
                  </a:lnTo>
                  <a:lnTo>
                    <a:pt x="355100" y="826620"/>
                  </a:lnTo>
                  <a:close/>
                </a:path>
                <a:path w="452120" h="1160779">
                  <a:moveTo>
                    <a:pt x="376535" y="781730"/>
                  </a:moveTo>
                  <a:lnTo>
                    <a:pt x="362654" y="781730"/>
                  </a:lnTo>
                  <a:lnTo>
                    <a:pt x="340943" y="826736"/>
                  </a:lnTo>
                  <a:lnTo>
                    <a:pt x="355100" y="826620"/>
                  </a:lnTo>
                  <a:lnTo>
                    <a:pt x="374139" y="787152"/>
                  </a:lnTo>
                  <a:lnTo>
                    <a:pt x="376535" y="781730"/>
                  </a:lnTo>
                  <a:close/>
                </a:path>
                <a:path w="452120" h="1160779">
                  <a:moveTo>
                    <a:pt x="395808" y="737589"/>
                  </a:moveTo>
                  <a:lnTo>
                    <a:pt x="382159" y="737589"/>
                  </a:lnTo>
                  <a:lnTo>
                    <a:pt x="362605" y="781833"/>
                  </a:lnTo>
                  <a:lnTo>
                    <a:pt x="376535" y="781730"/>
                  </a:lnTo>
                  <a:lnTo>
                    <a:pt x="393826" y="742605"/>
                  </a:lnTo>
                  <a:lnTo>
                    <a:pt x="395808" y="737589"/>
                  </a:lnTo>
                  <a:close/>
                </a:path>
                <a:path w="452120" h="1160779">
                  <a:moveTo>
                    <a:pt x="412662" y="694289"/>
                  </a:moveTo>
                  <a:lnTo>
                    <a:pt x="399253" y="694289"/>
                  </a:lnTo>
                  <a:lnTo>
                    <a:pt x="382107" y="737706"/>
                  </a:lnTo>
                  <a:lnTo>
                    <a:pt x="395808" y="737589"/>
                  </a:lnTo>
                  <a:lnTo>
                    <a:pt x="411121" y="698813"/>
                  </a:lnTo>
                  <a:lnTo>
                    <a:pt x="412662" y="694289"/>
                  </a:lnTo>
                  <a:close/>
                </a:path>
                <a:path w="452120" h="1160779">
                  <a:moveTo>
                    <a:pt x="426843" y="651931"/>
                  </a:moveTo>
                  <a:lnTo>
                    <a:pt x="413672" y="651931"/>
                  </a:lnTo>
                  <a:lnTo>
                    <a:pt x="399194" y="694438"/>
                  </a:lnTo>
                  <a:lnTo>
                    <a:pt x="399253" y="694289"/>
                  </a:lnTo>
                  <a:lnTo>
                    <a:pt x="412662" y="694289"/>
                  </a:lnTo>
                  <a:lnTo>
                    <a:pt x="425752" y="655854"/>
                  </a:lnTo>
                  <a:lnTo>
                    <a:pt x="426843" y="651931"/>
                  </a:lnTo>
                  <a:close/>
                </a:path>
                <a:path w="452120" h="1160779">
                  <a:moveTo>
                    <a:pt x="438108" y="610612"/>
                  </a:moveTo>
                  <a:lnTo>
                    <a:pt x="425154" y="610612"/>
                  </a:lnTo>
                  <a:lnTo>
                    <a:pt x="425053" y="611028"/>
                  </a:lnTo>
                  <a:lnTo>
                    <a:pt x="413614" y="652101"/>
                  </a:lnTo>
                  <a:lnTo>
                    <a:pt x="413672" y="651931"/>
                  </a:lnTo>
                  <a:lnTo>
                    <a:pt x="426843" y="651931"/>
                  </a:lnTo>
                  <a:lnTo>
                    <a:pt x="437447" y="613808"/>
                  </a:lnTo>
                  <a:lnTo>
                    <a:pt x="438108" y="610612"/>
                  </a:lnTo>
                  <a:close/>
                </a:path>
                <a:path w="452120" h="1160779">
                  <a:moveTo>
                    <a:pt x="425098" y="610811"/>
                  </a:moveTo>
                  <a:lnTo>
                    <a:pt x="425038" y="611028"/>
                  </a:lnTo>
                  <a:lnTo>
                    <a:pt x="425098" y="610811"/>
                  </a:lnTo>
                  <a:close/>
                </a:path>
                <a:path w="452120" h="1160779">
                  <a:moveTo>
                    <a:pt x="446218" y="570431"/>
                  </a:moveTo>
                  <a:lnTo>
                    <a:pt x="433439" y="570431"/>
                  </a:lnTo>
                  <a:lnTo>
                    <a:pt x="433357" y="570929"/>
                  </a:lnTo>
                  <a:lnTo>
                    <a:pt x="425098" y="610811"/>
                  </a:lnTo>
                  <a:lnTo>
                    <a:pt x="425154" y="610612"/>
                  </a:lnTo>
                  <a:lnTo>
                    <a:pt x="438108" y="610612"/>
                  </a:lnTo>
                  <a:lnTo>
                    <a:pt x="445928" y="572752"/>
                  </a:lnTo>
                  <a:lnTo>
                    <a:pt x="446218" y="570431"/>
                  </a:lnTo>
                  <a:close/>
                </a:path>
                <a:path w="452120" h="1160779">
                  <a:moveTo>
                    <a:pt x="433387" y="570682"/>
                  </a:moveTo>
                  <a:lnTo>
                    <a:pt x="433336" y="570929"/>
                  </a:lnTo>
                  <a:lnTo>
                    <a:pt x="433387" y="570682"/>
                  </a:lnTo>
                  <a:close/>
                </a:path>
                <a:path w="452120" h="1160779">
                  <a:moveTo>
                    <a:pt x="450953" y="531488"/>
                  </a:moveTo>
                  <a:lnTo>
                    <a:pt x="438274" y="531488"/>
                  </a:lnTo>
                  <a:lnTo>
                    <a:pt x="438228" y="532077"/>
                  </a:lnTo>
                  <a:lnTo>
                    <a:pt x="438115" y="532766"/>
                  </a:lnTo>
                  <a:lnTo>
                    <a:pt x="433387" y="570682"/>
                  </a:lnTo>
                  <a:lnTo>
                    <a:pt x="433439" y="570431"/>
                  </a:lnTo>
                  <a:lnTo>
                    <a:pt x="446218" y="570431"/>
                  </a:lnTo>
                  <a:lnTo>
                    <a:pt x="450913" y="532766"/>
                  </a:lnTo>
                  <a:lnTo>
                    <a:pt x="450953" y="531488"/>
                  </a:lnTo>
                  <a:close/>
                </a:path>
                <a:path w="452120" h="1160779">
                  <a:moveTo>
                    <a:pt x="438237" y="531781"/>
                  </a:moveTo>
                  <a:lnTo>
                    <a:pt x="438200" y="532077"/>
                  </a:lnTo>
                  <a:lnTo>
                    <a:pt x="438237" y="531781"/>
                  </a:lnTo>
                  <a:close/>
                </a:path>
                <a:path w="452120" h="1160779">
                  <a:moveTo>
                    <a:pt x="452110" y="493881"/>
                  </a:moveTo>
                  <a:lnTo>
                    <a:pt x="439411" y="493881"/>
                  </a:lnTo>
                  <a:lnTo>
                    <a:pt x="439426" y="494563"/>
                  </a:lnTo>
                  <a:lnTo>
                    <a:pt x="438237" y="531781"/>
                  </a:lnTo>
                  <a:lnTo>
                    <a:pt x="438274" y="531488"/>
                  </a:lnTo>
                  <a:lnTo>
                    <a:pt x="450953" y="531488"/>
                  </a:lnTo>
                  <a:lnTo>
                    <a:pt x="452110" y="493881"/>
                  </a:lnTo>
                  <a:close/>
                </a:path>
                <a:path w="452120" h="1160779">
                  <a:moveTo>
                    <a:pt x="439400" y="494225"/>
                  </a:moveTo>
                  <a:lnTo>
                    <a:pt x="439389" y="494563"/>
                  </a:lnTo>
                  <a:lnTo>
                    <a:pt x="439400" y="494225"/>
                  </a:lnTo>
                  <a:close/>
                </a:path>
                <a:path w="452120" h="1160779">
                  <a:moveTo>
                    <a:pt x="449342" y="457700"/>
                  </a:moveTo>
                  <a:lnTo>
                    <a:pt x="436604" y="457700"/>
                  </a:lnTo>
                  <a:lnTo>
                    <a:pt x="436706" y="458445"/>
                  </a:lnTo>
                  <a:lnTo>
                    <a:pt x="439400" y="494225"/>
                  </a:lnTo>
                  <a:lnTo>
                    <a:pt x="439411" y="493881"/>
                  </a:lnTo>
                  <a:lnTo>
                    <a:pt x="452110" y="493881"/>
                  </a:lnTo>
                  <a:lnTo>
                    <a:pt x="449342" y="457700"/>
                  </a:lnTo>
                  <a:close/>
                </a:path>
                <a:path w="452120" h="1160779">
                  <a:moveTo>
                    <a:pt x="436633" y="458077"/>
                  </a:moveTo>
                  <a:lnTo>
                    <a:pt x="436661" y="458445"/>
                  </a:lnTo>
                  <a:lnTo>
                    <a:pt x="436633" y="458077"/>
                  </a:lnTo>
                  <a:close/>
                </a:path>
                <a:path w="452120" h="1160779">
                  <a:moveTo>
                    <a:pt x="442649" y="422977"/>
                  </a:moveTo>
                  <a:lnTo>
                    <a:pt x="429704" y="422977"/>
                  </a:lnTo>
                  <a:lnTo>
                    <a:pt x="429891" y="423696"/>
                  </a:lnTo>
                  <a:lnTo>
                    <a:pt x="436633" y="458077"/>
                  </a:lnTo>
                  <a:lnTo>
                    <a:pt x="436604" y="457700"/>
                  </a:lnTo>
                  <a:lnTo>
                    <a:pt x="449342" y="457700"/>
                  </a:lnTo>
                  <a:lnTo>
                    <a:pt x="449239" y="456356"/>
                  </a:lnTo>
                  <a:lnTo>
                    <a:pt x="442649" y="422977"/>
                  </a:lnTo>
                  <a:close/>
                </a:path>
                <a:path w="452120" h="1160779">
                  <a:moveTo>
                    <a:pt x="429775" y="423337"/>
                  </a:moveTo>
                  <a:lnTo>
                    <a:pt x="429846" y="423696"/>
                  </a:lnTo>
                  <a:lnTo>
                    <a:pt x="429775" y="423337"/>
                  </a:lnTo>
                  <a:close/>
                </a:path>
                <a:path w="452120" h="1160779">
                  <a:moveTo>
                    <a:pt x="429704" y="422977"/>
                  </a:moveTo>
                  <a:lnTo>
                    <a:pt x="429775" y="423337"/>
                  </a:lnTo>
                  <a:lnTo>
                    <a:pt x="429891" y="423696"/>
                  </a:lnTo>
                  <a:lnTo>
                    <a:pt x="429704" y="422977"/>
                  </a:lnTo>
                  <a:close/>
                </a:path>
                <a:path w="452120" h="1160779">
                  <a:moveTo>
                    <a:pt x="432230" y="389562"/>
                  </a:moveTo>
                  <a:lnTo>
                    <a:pt x="418886" y="389562"/>
                  </a:lnTo>
                  <a:lnTo>
                    <a:pt x="419135" y="390211"/>
                  </a:lnTo>
                  <a:lnTo>
                    <a:pt x="429775" y="423337"/>
                  </a:lnTo>
                  <a:lnTo>
                    <a:pt x="429704" y="422977"/>
                  </a:lnTo>
                  <a:lnTo>
                    <a:pt x="442649" y="422977"/>
                  </a:lnTo>
                  <a:lnTo>
                    <a:pt x="442092" y="420154"/>
                  </a:lnTo>
                  <a:lnTo>
                    <a:pt x="432230" y="389562"/>
                  </a:lnTo>
                  <a:close/>
                </a:path>
                <a:path w="452120" h="1160779">
                  <a:moveTo>
                    <a:pt x="418994" y="389895"/>
                  </a:moveTo>
                  <a:lnTo>
                    <a:pt x="419095" y="390211"/>
                  </a:lnTo>
                  <a:lnTo>
                    <a:pt x="418994" y="389895"/>
                  </a:lnTo>
                  <a:close/>
                </a:path>
                <a:path w="452120" h="1160779">
                  <a:moveTo>
                    <a:pt x="418886" y="389562"/>
                  </a:moveTo>
                  <a:lnTo>
                    <a:pt x="418994" y="389895"/>
                  </a:lnTo>
                  <a:lnTo>
                    <a:pt x="419135" y="390211"/>
                  </a:lnTo>
                  <a:lnTo>
                    <a:pt x="418886" y="389562"/>
                  </a:lnTo>
                  <a:close/>
                </a:path>
                <a:path w="452120" h="1160779">
                  <a:moveTo>
                    <a:pt x="418312" y="357322"/>
                  </a:moveTo>
                  <a:lnTo>
                    <a:pt x="404395" y="357322"/>
                  </a:lnTo>
                  <a:lnTo>
                    <a:pt x="404682" y="357884"/>
                  </a:lnTo>
                  <a:lnTo>
                    <a:pt x="418994" y="389895"/>
                  </a:lnTo>
                  <a:lnTo>
                    <a:pt x="418886" y="389562"/>
                  </a:lnTo>
                  <a:lnTo>
                    <a:pt x="432230" y="389562"/>
                  </a:lnTo>
                  <a:lnTo>
                    <a:pt x="430867" y="385334"/>
                  </a:lnTo>
                  <a:lnTo>
                    <a:pt x="418312" y="357322"/>
                  </a:lnTo>
                  <a:close/>
                </a:path>
                <a:path w="452120" h="1160779">
                  <a:moveTo>
                    <a:pt x="404523" y="357607"/>
                  </a:moveTo>
                  <a:lnTo>
                    <a:pt x="404648" y="357884"/>
                  </a:lnTo>
                  <a:lnTo>
                    <a:pt x="404523" y="357607"/>
                  </a:lnTo>
                  <a:close/>
                </a:path>
                <a:path w="452120" h="1160779">
                  <a:moveTo>
                    <a:pt x="404395" y="357322"/>
                  </a:moveTo>
                  <a:lnTo>
                    <a:pt x="404523" y="357607"/>
                  </a:lnTo>
                  <a:lnTo>
                    <a:pt x="404682" y="357884"/>
                  </a:lnTo>
                  <a:lnTo>
                    <a:pt x="404395" y="357322"/>
                  </a:lnTo>
                  <a:close/>
                </a:path>
                <a:path w="452120" h="1160779">
                  <a:moveTo>
                    <a:pt x="401115" y="326152"/>
                  </a:moveTo>
                  <a:lnTo>
                    <a:pt x="386473" y="326152"/>
                  </a:lnTo>
                  <a:lnTo>
                    <a:pt x="386774" y="326627"/>
                  </a:lnTo>
                  <a:lnTo>
                    <a:pt x="404523" y="357607"/>
                  </a:lnTo>
                  <a:lnTo>
                    <a:pt x="404395" y="357322"/>
                  </a:lnTo>
                  <a:lnTo>
                    <a:pt x="418312" y="357322"/>
                  </a:lnTo>
                  <a:lnTo>
                    <a:pt x="415855" y="351839"/>
                  </a:lnTo>
                  <a:lnTo>
                    <a:pt x="401115" y="326152"/>
                  </a:lnTo>
                  <a:close/>
                </a:path>
                <a:path w="452120" h="1160779">
                  <a:moveTo>
                    <a:pt x="386615" y="326398"/>
                  </a:moveTo>
                  <a:lnTo>
                    <a:pt x="386746" y="326627"/>
                  </a:lnTo>
                  <a:lnTo>
                    <a:pt x="386615" y="326398"/>
                  </a:lnTo>
                  <a:close/>
                </a:path>
                <a:path w="452120" h="1160779">
                  <a:moveTo>
                    <a:pt x="380852" y="295962"/>
                  </a:moveTo>
                  <a:lnTo>
                    <a:pt x="365363" y="295962"/>
                  </a:lnTo>
                  <a:lnTo>
                    <a:pt x="365659" y="296353"/>
                  </a:lnTo>
                  <a:lnTo>
                    <a:pt x="386615" y="326398"/>
                  </a:lnTo>
                  <a:lnTo>
                    <a:pt x="386473" y="326152"/>
                  </a:lnTo>
                  <a:lnTo>
                    <a:pt x="401115" y="326152"/>
                  </a:lnTo>
                  <a:lnTo>
                    <a:pt x="397348" y="319587"/>
                  </a:lnTo>
                  <a:lnTo>
                    <a:pt x="380852" y="295962"/>
                  </a:lnTo>
                  <a:close/>
                </a:path>
                <a:path w="452120" h="1160779">
                  <a:moveTo>
                    <a:pt x="365506" y="296166"/>
                  </a:moveTo>
                  <a:lnTo>
                    <a:pt x="365636" y="296353"/>
                  </a:lnTo>
                  <a:lnTo>
                    <a:pt x="365506" y="296166"/>
                  </a:lnTo>
                  <a:close/>
                </a:path>
                <a:path w="452120" h="1160779">
                  <a:moveTo>
                    <a:pt x="357738" y="266666"/>
                  </a:moveTo>
                  <a:lnTo>
                    <a:pt x="341313" y="266666"/>
                  </a:lnTo>
                  <a:lnTo>
                    <a:pt x="341591" y="266984"/>
                  </a:lnTo>
                  <a:lnTo>
                    <a:pt x="365506" y="296166"/>
                  </a:lnTo>
                  <a:lnTo>
                    <a:pt x="365363" y="295962"/>
                  </a:lnTo>
                  <a:lnTo>
                    <a:pt x="380852" y="295962"/>
                  </a:lnTo>
                  <a:lnTo>
                    <a:pt x="375635" y="288490"/>
                  </a:lnTo>
                  <a:lnTo>
                    <a:pt x="357738" y="266666"/>
                  </a:lnTo>
                  <a:close/>
                </a:path>
                <a:path w="452120" h="1160779">
                  <a:moveTo>
                    <a:pt x="341450" y="266834"/>
                  </a:moveTo>
                  <a:lnTo>
                    <a:pt x="341574" y="266984"/>
                  </a:lnTo>
                  <a:lnTo>
                    <a:pt x="341450" y="266834"/>
                  </a:lnTo>
                  <a:close/>
                </a:path>
                <a:path w="452120" h="1160779">
                  <a:moveTo>
                    <a:pt x="331991" y="238187"/>
                  </a:moveTo>
                  <a:lnTo>
                    <a:pt x="314577" y="238187"/>
                  </a:lnTo>
                  <a:lnTo>
                    <a:pt x="314830" y="238442"/>
                  </a:lnTo>
                  <a:lnTo>
                    <a:pt x="341450" y="266834"/>
                  </a:lnTo>
                  <a:lnTo>
                    <a:pt x="341313" y="266666"/>
                  </a:lnTo>
                  <a:lnTo>
                    <a:pt x="357738" y="266666"/>
                  </a:lnTo>
                  <a:lnTo>
                    <a:pt x="351000" y="258450"/>
                  </a:lnTo>
                  <a:lnTo>
                    <a:pt x="331991" y="238187"/>
                  </a:lnTo>
                  <a:close/>
                </a:path>
                <a:path w="452120" h="1160779">
                  <a:moveTo>
                    <a:pt x="314706" y="238324"/>
                  </a:moveTo>
                  <a:close/>
                </a:path>
                <a:path w="452120" h="1160779">
                  <a:moveTo>
                    <a:pt x="303836" y="210445"/>
                  </a:moveTo>
                  <a:lnTo>
                    <a:pt x="285414" y="210445"/>
                  </a:lnTo>
                  <a:lnTo>
                    <a:pt x="285638" y="210648"/>
                  </a:lnTo>
                  <a:lnTo>
                    <a:pt x="314706" y="238324"/>
                  </a:lnTo>
                  <a:lnTo>
                    <a:pt x="314577" y="238187"/>
                  </a:lnTo>
                  <a:lnTo>
                    <a:pt x="331991" y="238187"/>
                  </a:lnTo>
                  <a:lnTo>
                    <a:pt x="323716" y="229367"/>
                  </a:lnTo>
                  <a:lnTo>
                    <a:pt x="303836" y="210445"/>
                  </a:lnTo>
                  <a:close/>
                </a:path>
                <a:path w="452120" h="1160779">
                  <a:moveTo>
                    <a:pt x="285528" y="210553"/>
                  </a:moveTo>
                  <a:close/>
                </a:path>
                <a:path w="452120" h="1160779">
                  <a:moveTo>
                    <a:pt x="273503" y="183363"/>
                  </a:moveTo>
                  <a:lnTo>
                    <a:pt x="254087" y="183363"/>
                  </a:lnTo>
                  <a:lnTo>
                    <a:pt x="254280" y="183523"/>
                  </a:lnTo>
                  <a:lnTo>
                    <a:pt x="285528" y="210553"/>
                  </a:lnTo>
                  <a:lnTo>
                    <a:pt x="303836" y="210445"/>
                  </a:lnTo>
                  <a:lnTo>
                    <a:pt x="294060" y="201141"/>
                  </a:lnTo>
                  <a:lnTo>
                    <a:pt x="273503" y="183363"/>
                  </a:lnTo>
                  <a:close/>
                </a:path>
                <a:path w="452120" h="1160779">
                  <a:moveTo>
                    <a:pt x="254177" y="183441"/>
                  </a:moveTo>
                  <a:close/>
                </a:path>
                <a:path w="452120" h="1160779">
                  <a:moveTo>
                    <a:pt x="241224" y="156861"/>
                  </a:moveTo>
                  <a:lnTo>
                    <a:pt x="220861" y="156861"/>
                  </a:lnTo>
                  <a:lnTo>
                    <a:pt x="221024" y="156987"/>
                  </a:lnTo>
                  <a:lnTo>
                    <a:pt x="254177" y="183441"/>
                  </a:lnTo>
                  <a:lnTo>
                    <a:pt x="273503" y="183363"/>
                  </a:lnTo>
                  <a:lnTo>
                    <a:pt x="262299" y="173675"/>
                  </a:lnTo>
                  <a:lnTo>
                    <a:pt x="241224" y="156861"/>
                  </a:lnTo>
                  <a:close/>
                </a:path>
                <a:path w="452120" h="1160779">
                  <a:moveTo>
                    <a:pt x="220947" y="156930"/>
                  </a:moveTo>
                  <a:close/>
                </a:path>
                <a:path w="452120" h="1160779">
                  <a:moveTo>
                    <a:pt x="207241" y="130858"/>
                  </a:moveTo>
                  <a:lnTo>
                    <a:pt x="186004" y="130858"/>
                  </a:lnTo>
                  <a:lnTo>
                    <a:pt x="186137" y="130954"/>
                  </a:lnTo>
                  <a:lnTo>
                    <a:pt x="220947" y="156930"/>
                  </a:lnTo>
                  <a:lnTo>
                    <a:pt x="241224" y="156861"/>
                  </a:lnTo>
                  <a:lnTo>
                    <a:pt x="228701" y="146870"/>
                  </a:lnTo>
                  <a:lnTo>
                    <a:pt x="207241" y="130858"/>
                  </a:lnTo>
                  <a:close/>
                </a:path>
                <a:path w="452120" h="1160779">
                  <a:moveTo>
                    <a:pt x="186062" y="130901"/>
                  </a:moveTo>
                  <a:close/>
                </a:path>
                <a:path w="452120" h="1160779">
                  <a:moveTo>
                    <a:pt x="171792" y="105270"/>
                  </a:moveTo>
                  <a:lnTo>
                    <a:pt x="149783" y="105270"/>
                  </a:lnTo>
                  <a:lnTo>
                    <a:pt x="149927" y="105369"/>
                  </a:lnTo>
                  <a:lnTo>
                    <a:pt x="186062" y="130901"/>
                  </a:lnTo>
                  <a:lnTo>
                    <a:pt x="207241" y="130858"/>
                  </a:lnTo>
                  <a:lnTo>
                    <a:pt x="193532" y="120629"/>
                  </a:lnTo>
                  <a:lnTo>
                    <a:pt x="171792" y="105270"/>
                  </a:lnTo>
                  <a:close/>
                </a:path>
                <a:path w="452120" h="1160779">
                  <a:moveTo>
                    <a:pt x="149869" y="105330"/>
                  </a:moveTo>
                  <a:close/>
                </a:path>
                <a:path w="452120" h="1160779">
                  <a:moveTo>
                    <a:pt x="97189" y="54979"/>
                  </a:moveTo>
                  <a:lnTo>
                    <a:pt x="74282" y="54979"/>
                  </a:lnTo>
                  <a:lnTo>
                    <a:pt x="149869" y="105330"/>
                  </a:lnTo>
                  <a:lnTo>
                    <a:pt x="171792" y="105270"/>
                  </a:lnTo>
                  <a:lnTo>
                    <a:pt x="157040" y="94848"/>
                  </a:lnTo>
                  <a:lnTo>
                    <a:pt x="97189" y="54979"/>
                  </a:lnTo>
                  <a:close/>
                </a:path>
                <a:path w="452120" h="1160779">
                  <a:moveTo>
                    <a:pt x="0" y="0"/>
                  </a:moveTo>
                  <a:lnTo>
                    <a:pt x="46865" y="91282"/>
                  </a:lnTo>
                  <a:lnTo>
                    <a:pt x="50693" y="92513"/>
                  </a:lnTo>
                  <a:lnTo>
                    <a:pt x="56932" y="89308"/>
                  </a:lnTo>
                  <a:lnTo>
                    <a:pt x="58163" y="85482"/>
                  </a:lnTo>
                  <a:lnTo>
                    <a:pt x="26998" y="24780"/>
                  </a:lnTo>
                  <a:lnTo>
                    <a:pt x="7202" y="12136"/>
                  </a:lnTo>
                  <a:lnTo>
                    <a:pt x="14038" y="1432"/>
                  </a:lnTo>
                  <a:lnTo>
                    <a:pt x="35496" y="1432"/>
                  </a:lnTo>
                  <a:lnTo>
                    <a:pt x="0" y="0"/>
                  </a:lnTo>
                  <a:close/>
                </a:path>
                <a:path w="452120" h="1160779">
                  <a:moveTo>
                    <a:pt x="74340" y="55018"/>
                  </a:moveTo>
                  <a:close/>
                </a:path>
                <a:path w="452120" h="1160779">
                  <a:moveTo>
                    <a:pt x="21242" y="13568"/>
                  </a:moveTo>
                  <a:lnTo>
                    <a:pt x="26998" y="24780"/>
                  </a:lnTo>
                  <a:lnTo>
                    <a:pt x="74340" y="55018"/>
                  </a:lnTo>
                  <a:lnTo>
                    <a:pt x="97189" y="54979"/>
                  </a:lnTo>
                  <a:lnTo>
                    <a:pt x="81272" y="44376"/>
                  </a:lnTo>
                  <a:lnTo>
                    <a:pt x="33833" y="14075"/>
                  </a:lnTo>
                  <a:lnTo>
                    <a:pt x="21242" y="13568"/>
                  </a:lnTo>
                  <a:close/>
                </a:path>
                <a:path w="452120" h="1160779">
                  <a:moveTo>
                    <a:pt x="14038" y="1432"/>
                  </a:moveTo>
                  <a:lnTo>
                    <a:pt x="7202" y="12136"/>
                  </a:lnTo>
                  <a:lnTo>
                    <a:pt x="26998" y="24780"/>
                  </a:lnTo>
                  <a:lnTo>
                    <a:pt x="21242" y="13568"/>
                  </a:lnTo>
                  <a:lnTo>
                    <a:pt x="10364" y="13129"/>
                  </a:lnTo>
                  <a:lnTo>
                    <a:pt x="16269" y="3883"/>
                  </a:lnTo>
                  <a:lnTo>
                    <a:pt x="17876" y="3883"/>
                  </a:lnTo>
                  <a:lnTo>
                    <a:pt x="14038" y="1432"/>
                  </a:lnTo>
                  <a:close/>
                </a:path>
                <a:path w="452120" h="1160779">
                  <a:moveTo>
                    <a:pt x="35496" y="1432"/>
                  </a:moveTo>
                  <a:lnTo>
                    <a:pt x="14038" y="1432"/>
                  </a:lnTo>
                  <a:lnTo>
                    <a:pt x="33833" y="14075"/>
                  </a:lnTo>
                  <a:lnTo>
                    <a:pt x="102014" y="16826"/>
                  </a:lnTo>
                  <a:lnTo>
                    <a:pt x="104969" y="14100"/>
                  </a:lnTo>
                  <a:lnTo>
                    <a:pt x="105252" y="7092"/>
                  </a:lnTo>
                  <a:lnTo>
                    <a:pt x="102525" y="4137"/>
                  </a:lnTo>
                  <a:lnTo>
                    <a:pt x="35496" y="1432"/>
                  </a:lnTo>
                  <a:close/>
                </a:path>
                <a:path w="452120" h="1160779">
                  <a:moveTo>
                    <a:pt x="17876" y="3883"/>
                  </a:moveTo>
                  <a:lnTo>
                    <a:pt x="16269" y="3883"/>
                  </a:lnTo>
                  <a:lnTo>
                    <a:pt x="21242" y="13568"/>
                  </a:lnTo>
                  <a:lnTo>
                    <a:pt x="33833" y="14075"/>
                  </a:lnTo>
                  <a:lnTo>
                    <a:pt x="17876" y="3883"/>
                  </a:lnTo>
                  <a:close/>
                </a:path>
                <a:path w="452120" h="1160779">
                  <a:moveTo>
                    <a:pt x="16269" y="3883"/>
                  </a:moveTo>
                  <a:lnTo>
                    <a:pt x="10364" y="13129"/>
                  </a:lnTo>
                  <a:lnTo>
                    <a:pt x="21242" y="13568"/>
                  </a:lnTo>
                  <a:lnTo>
                    <a:pt x="16269" y="3883"/>
                  </a:lnTo>
                  <a:close/>
                </a:path>
              </a:pathLst>
            </a:custGeom>
            <a:solidFill>
              <a:srgbClr val="0432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grpSp>
        <p:nvGrpSpPr>
          <p:cNvPr id="38" name="object 12">
            <a:extLst>
              <a:ext uri="{FF2B5EF4-FFF2-40B4-BE49-F238E27FC236}">
                <a16:creationId xmlns:a16="http://schemas.microsoft.com/office/drawing/2014/main" id="{5AB499DC-5AF8-BB27-69E3-B7B417A34B73}"/>
              </a:ext>
            </a:extLst>
          </p:cNvPr>
          <p:cNvGrpSpPr/>
          <p:nvPr/>
        </p:nvGrpSpPr>
        <p:grpSpPr>
          <a:xfrm>
            <a:off x="412103" y="2282432"/>
            <a:ext cx="1499235" cy="1205865"/>
            <a:chOff x="412103" y="2282432"/>
            <a:chExt cx="1499235" cy="1205865"/>
          </a:xfrm>
        </p:grpSpPr>
        <p:pic>
          <p:nvPicPr>
            <p:cNvPr id="39" name="object 13">
              <a:extLst>
                <a:ext uri="{FF2B5EF4-FFF2-40B4-BE49-F238E27FC236}">
                  <a16:creationId xmlns:a16="http://schemas.microsoft.com/office/drawing/2014/main" id="{1429FCDE-13F1-4CFF-B7DC-04C16B42C94E}"/>
                </a:ext>
              </a:extLst>
            </p:cNvPr>
            <p:cNvPicPr/>
            <p:nvPr/>
          </p:nvPicPr>
          <p:blipFill>
            <a:blip r:embed="rId4" cstate="print"/>
            <a:stretch>
              <a:fillRect/>
            </a:stretch>
          </p:blipFill>
          <p:spPr>
            <a:xfrm>
              <a:off x="883226" y="2328907"/>
              <a:ext cx="874486" cy="1079764"/>
            </a:xfrm>
            <a:prstGeom prst="rect">
              <a:avLst/>
            </a:prstGeom>
          </p:spPr>
        </p:pic>
        <p:sp>
          <p:nvSpPr>
            <p:cNvPr id="40" name="object 14">
              <a:extLst>
                <a:ext uri="{FF2B5EF4-FFF2-40B4-BE49-F238E27FC236}">
                  <a16:creationId xmlns:a16="http://schemas.microsoft.com/office/drawing/2014/main" id="{860837C6-AD72-AA29-9BF0-0D8A938EF018}"/>
                </a:ext>
              </a:extLst>
            </p:cNvPr>
            <p:cNvSpPr/>
            <p:nvPr/>
          </p:nvSpPr>
          <p:spPr>
            <a:xfrm>
              <a:off x="784035" y="2287195"/>
              <a:ext cx="1122680" cy="1196340"/>
            </a:xfrm>
            <a:custGeom>
              <a:avLst/>
              <a:gdLst/>
              <a:ahLst/>
              <a:cxnLst/>
              <a:rect l="l" t="t" r="r" b="b"/>
              <a:pathLst>
                <a:path w="1122680" h="1196339">
                  <a:moveTo>
                    <a:pt x="0" y="0"/>
                  </a:moveTo>
                  <a:lnTo>
                    <a:pt x="1122134" y="0"/>
                  </a:lnTo>
                  <a:lnTo>
                    <a:pt x="1122134" y="1196034"/>
                  </a:lnTo>
                  <a:lnTo>
                    <a:pt x="0" y="1196034"/>
                  </a:lnTo>
                  <a:lnTo>
                    <a:pt x="0" y="0"/>
                  </a:lnTo>
                  <a:close/>
                </a:path>
              </a:pathLst>
            </a:custGeom>
            <a:ln w="952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1" name="object 15">
              <a:extLst>
                <a:ext uri="{FF2B5EF4-FFF2-40B4-BE49-F238E27FC236}">
                  <a16:creationId xmlns:a16="http://schemas.microsoft.com/office/drawing/2014/main" id="{7C415970-E0D6-CA21-E948-D5AA4F5E1602}"/>
                </a:ext>
              </a:extLst>
            </p:cNvPr>
            <p:cNvSpPr/>
            <p:nvPr/>
          </p:nvSpPr>
          <p:spPr>
            <a:xfrm>
              <a:off x="418453" y="2659895"/>
              <a:ext cx="432434" cy="130175"/>
            </a:xfrm>
            <a:custGeom>
              <a:avLst/>
              <a:gdLst/>
              <a:ahLst/>
              <a:cxnLst/>
              <a:rect l="l" t="t" r="r" b="b"/>
              <a:pathLst>
                <a:path w="432434" h="130175">
                  <a:moveTo>
                    <a:pt x="367438" y="0"/>
                  </a:moveTo>
                  <a:lnTo>
                    <a:pt x="367438" y="32449"/>
                  </a:lnTo>
                  <a:lnTo>
                    <a:pt x="0" y="32449"/>
                  </a:lnTo>
                  <a:lnTo>
                    <a:pt x="0" y="97349"/>
                  </a:lnTo>
                  <a:lnTo>
                    <a:pt x="367438" y="97349"/>
                  </a:lnTo>
                  <a:lnTo>
                    <a:pt x="367438" y="129797"/>
                  </a:lnTo>
                  <a:lnTo>
                    <a:pt x="432336" y="64899"/>
                  </a:lnTo>
                  <a:lnTo>
                    <a:pt x="367438" y="0"/>
                  </a:lnTo>
                  <a:close/>
                </a:path>
              </a:pathLst>
            </a:custGeom>
            <a:solidFill>
              <a:srgbClr val="FF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2" name="object 16">
              <a:extLst>
                <a:ext uri="{FF2B5EF4-FFF2-40B4-BE49-F238E27FC236}">
                  <a16:creationId xmlns:a16="http://schemas.microsoft.com/office/drawing/2014/main" id="{E990557F-0D6B-411F-BE19-A680D2DFD735}"/>
                </a:ext>
              </a:extLst>
            </p:cNvPr>
            <p:cNvSpPr/>
            <p:nvPr/>
          </p:nvSpPr>
          <p:spPr>
            <a:xfrm>
              <a:off x="418453" y="2659895"/>
              <a:ext cx="432434" cy="130175"/>
            </a:xfrm>
            <a:custGeom>
              <a:avLst/>
              <a:gdLst/>
              <a:ahLst/>
              <a:cxnLst/>
              <a:rect l="l" t="t" r="r" b="b"/>
              <a:pathLst>
                <a:path w="432434" h="130175">
                  <a:moveTo>
                    <a:pt x="0" y="32449"/>
                  </a:moveTo>
                  <a:lnTo>
                    <a:pt x="367438" y="32449"/>
                  </a:lnTo>
                  <a:lnTo>
                    <a:pt x="367438" y="0"/>
                  </a:lnTo>
                  <a:lnTo>
                    <a:pt x="432337" y="64899"/>
                  </a:lnTo>
                  <a:lnTo>
                    <a:pt x="367438" y="129798"/>
                  </a:lnTo>
                  <a:lnTo>
                    <a:pt x="367438" y="97348"/>
                  </a:lnTo>
                  <a:lnTo>
                    <a:pt x="0" y="97348"/>
                  </a:lnTo>
                  <a:lnTo>
                    <a:pt x="0" y="32449"/>
                  </a:lnTo>
                  <a:close/>
                </a:path>
              </a:pathLst>
            </a:custGeom>
            <a:ln w="12700">
              <a:solidFill>
                <a:srgbClr val="FF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grpSp>
        <p:nvGrpSpPr>
          <p:cNvPr id="43" name="object 17">
            <a:extLst>
              <a:ext uri="{FF2B5EF4-FFF2-40B4-BE49-F238E27FC236}">
                <a16:creationId xmlns:a16="http://schemas.microsoft.com/office/drawing/2014/main" id="{F34EE23D-4013-E498-95C7-54F907701CBF}"/>
              </a:ext>
            </a:extLst>
          </p:cNvPr>
          <p:cNvGrpSpPr/>
          <p:nvPr/>
        </p:nvGrpSpPr>
        <p:grpSpPr>
          <a:xfrm>
            <a:off x="412103" y="4838879"/>
            <a:ext cx="1499235" cy="638175"/>
            <a:chOff x="412103" y="4838879"/>
            <a:chExt cx="1499235" cy="638175"/>
          </a:xfrm>
        </p:grpSpPr>
        <p:pic>
          <p:nvPicPr>
            <p:cNvPr id="44" name="object 18">
              <a:extLst>
                <a:ext uri="{FF2B5EF4-FFF2-40B4-BE49-F238E27FC236}">
                  <a16:creationId xmlns:a16="http://schemas.microsoft.com/office/drawing/2014/main" id="{0ECEFE9E-49C7-8416-2C9D-A98874392618}"/>
                </a:ext>
              </a:extLst>
            </p:cNvPr>
            <p:cNvPicPr/>
            <p:nvPr/>
          </p:nvPicPr>
          <p:blipFill>
            <a:blip r:embed="rId5" cstate="print"/>
            <a:stretch>
              <a:fillRect/>
            </a:stretch>
          </p:blipFill>
          <p:spPr>
            <a:xfrm>
              <a:off x="841551" y="4867586"/>
              <a:ext cx="1026285" cy="546712"/>
            </a:xfrm>
            <a:prstGeom prst="rect">
              <a:avLst/>
            </a:prstGeom>
          </p:spPr>
        </p:pic>
        <p:sp>
          <p:nvSpPr>
            <p:cNvPr id="45" name="object 19">
              <a:extLst>
                <a:ext uri="{FF2B5EF4-FFF2-40B4-BE49-F238E27FC236}">
                  <a16:creationId xmlns:a16="http://schemas.microsoft.com/office/drawing/2014/main" id="{E69A3803-6767-E1C7-AE33-D462E60848B7}"/>
                </a:ext>
              </a:extLst>
            </p:cNvPr>
            <p:cNvSpPr/>
            <p:nvPr/>
          </p:nvSpPr>
          <p:spPr>
            <a:xfrm>
              <a:off x="784035" y="4843641"/>
              <a:ext cx="1122680" cy="628650"/>
            </a:xfrm>
            <a:custGeom>
              <a:avLst/>
              <a:gdLst/>
              <a:ahLst/>
              <a:cxnLst/>
              <a:rect l="l" t="t" r="r" b="b"/>
              <a:pathLst>
                <a:path w="1122680" h="628650">
                  <a:moveTo>
                    <a:pt x="0" y="0"/>
                  </a:moveTo>
                  <a:lnTo>
                    <a:pt x="1122134" y="0"/>
                  </a:lnTo>
                  <a:lnTo>
                    <a:pt x="1122134" y="628174"/>
                  </a:lnTo>
                  <a:lnTo>
                    <a:pt x="0" y="628174"/>
                  </a:lnTo>
                  <a:lnTo>
                    <a:pt x="0" y="0"/>
                  </a:lnTo>
                  <a:close/>
                </a:path>
              </a:pathLst>
            </a:custGeom>
            <a:ln w="952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6" name="object 20">
              <a:extLst>
                <a:ext uri="{FF2B5EF4-FFF2-40B4-BE49-F238E27FC236}">
                  <a16:creationId xmlns:a16="http://schemas.microsoft.com/office/drawing/2014/main" id="{467A80A6-7431-0744-4BAC-B144984C2FF9}"/>
                </a:ext>
              </a:extLst>
            </p:cNvPr>
            <p:cNvSpPr/>
            <p:nvPr/>
          </p:nvSpPr>
          <p:spPr>
            <a:xfrm>
              <a:off x="418453" y="5250605"/>
              <a:ext cx="432434" cy="130175"/>
            </a:xfrm>
            <a:custGeom>
              <a:avLst/>
              <a:gdLst/>
              <a:ahLst/>
              <a:cxnLst/>
              <a:rect l="l" t="t" r="r" b="b"/>
              <a:pathLst>
                <a:path w="432434" h="130175">
                  <a:moveTo>
                    <a:pt x="367438" y="0"/>
                  </a:moveTo>
                  <a:lnTo>
                    <a:pt x="367438" y="32449"/>
                  </a:lnTo>
                  <a:lnTo>
                    <a:pt x="0" y="32449"/>
                  </a:lnTo>
                  <a:lnTo>
                    <a:pt x="0" y="97349"/>
                  </a:lnTo>
                  <a:lnTo>
                    <a:pt x="367438" y="97349"/>
                  </a:lnTo>
                  <a:lnTo>
                    <a:pt x="367438" y="129799"/>
                  </a:lnTo>
                  <a:lnTo>
                    <a:pt x="432336" y="64899"/>
                  </a:lnTo>
                  <a:lnTo>
                    <a:pt x="367438" y="0"/>
                  </a:lnTo>
                  <a:close/>
                </a:path>
              </a:pathLst>
            </a:custGeom>
            <a:solidFill>
              <a:srgbClr val="0432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7" name="object 21">
              <a:extLst>
                <a:ext uri="{FF2B5EF4-FFF2-40B4-BE49-F238E27FC236}">
                  <a16:creationId xmlns:a16="http://schemas.microsoft.com/office/drawing/2014/main" id="{DAC401A7-C5F0-7B51-411B-3A7585CF9F22}"/>
                </a:ext>
              </a:extLst>
            </p:cNvPr>
            <p:cNvSpPr/>
            <p:nvPr/>
          </p:nvSpPr>
          <p:spPr>
            <a:xfrm>
              <a:off x="418453" y="5250605"/>
              <a:ext cx="432434" cy="130175"/>
            </a:xfrm>
            <a:custGeom>
              <a:avLst/>
              <a:gdLst/>
              <a:ahLst/>
              <a:cxnLst/>
              <a:rect l="l" t="t" r="r" b="b"/>
              <a:pathLst>
                <a:path w="432434" h="130175">
                  <a:moveTo>
                    <a:pt x="0" y="32449"/>
                  </a:moveTo>
                  <a:lnTo>
                    <a:pt x="367438" y="32449"/>
                  </a:lnTo>
                  <a:lnTo>
                    <a:pt x="367438" y="0"/>
                  </a:lnTo>
                  <a:lnTo>
                    <a:pt x="432337" y="64899"/>
                  </a:lnTo>
                  <a:lnTo>
                    <a:pt x="367438" y="129798"/>
                  </a:lnTo>
                  <a:lnTo>
                    <a:pt x="367438" y="97348"/>
                  </a:lnTo>
                  <a:lnTo>
                    <a:pt x="0" y="97348"/>
                  </a:lnTo>
                  <a:lnTo>
                    <a:pt x="0" y="32449"/>
                  </a:lnTo>
                  <a:close/>
                </a:path>
              </a:pathLst>
            </a:custGeom>
            <a:ln w="12700">
              <a:solidFill>
                <a:srgbClr val="0432FF"/>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48" name="object 22">
            <a:extLst>
              <a:ext uri="{FF2B5EF4-FFF2-40B4-BE49-F238E27FC236}">
                <a16:creationId xmlns:a16="http://schemas.microsoft.com/office/drawing/2014/main" id="{0A03CCF0-7DB3-5FD4-32D4-C266F2BE8518}"/>
              </a:ext>
            </a:extLst>
          </p:cNvPr>
          <p:cNvSpPr txBox="1"/>
          <p:nvPr/>
        </p:nvSpPr>
        <p:spPr>
          <a:xfrm>
            <a:off x="756400" y="4197604"/>
            <a:ext cx="1310640" cy="510540"/>
          </a:xfrm>
          <a:prstGeom prst="rect">
            <a:avLst/>
          </a:prstGeom>
        </p:spPr>
        <p:txBody>
          <a:bodyPr vert="horz" wrap="square" lIns="0" tIns="22860" rIns="0" bIns="0" rtlCol="0">
            <a:spAutoFit/>
          </a:bodyPr>
          <a:lstStyle/>
          <a:p>
            <a:pPr marL="12700" marR="5080">
              <a:lnSpc>
                <a:spcPts val="1900"/>
              </a:lnSpc>
              <a:spcBef>
                <a:spcPts val="180"/>
              </a:spcBef>
            </a:pPr>
            <a:r>
              <a:rPr sz="1600" spc="-10" dirty="0">
                <a:solidFill>
                  <a:srgbClr val="FF0000"/>
                </a:solidFill>
                <a:latin typeface="Palatino Linotype"/>
                <a:cs typeface="Palatino Linotype"/>
              </a:rPr>
              <a:t>Three-address </a:t>
            </a:r>
            <a:r>
              <a:rPr sz="1600" dirty="0">
                <a:solidFill>
                  <a:srgbClr val="FF0000"/>
                </a:solidFill>
                <a:latin typeface="Palatino Linotype"/>
                <a:cs typeface="Palatino Linotype"/>
              </a:rPr>
              <a:t>code</a:t>
            </a:r>
            <a:r>
              <a:rPr sz="1600" spc="-30" dirty="0">
                <a:solidFill>
                  <a:srgbClr val="FF0000"/>
                </a:solidFill>
                <a:latin typeface="Palatino Linotype"/>
                <a:cs typeface="Palatino Linotype"/>
              </a:rPr>
              <a:t> </a:t>
            </a:r>
            <a:r>
              <a:rPr sz="1600" dirty="0">
                <a:solidFill>
                  <a:srgbClr val="FF0000"/>
                </a:solidFill>
                <a:latin typeface="Palatino Linotype"/>
                <a:cs typeface="Palatino Linotype"/>
              </a:rPr>
              <a:t>for</a:t>
            </a:r>
            <a:r>
              <a:rPr sz="1600" spc="-15" dirty="0">
                <a:solidFill>
                  <a:srgbClr val="FF0000"/>
                </a:solidFill>
                <a:latin typeface="Palatino Linotype"/>
                <a:cs typeface="Palatino Linotype"/>
              </a:rPr>
              <a:t> </a:t>
            </a:r>
            <a:r>
              <a:rPr sz="1600" spc="-25" dirty="0">
                <a:solidFill>
                  <a:srgbClr val="FF0000"/>
                </a:solidFill>
                <a:latin typeface="Consolas"/>
                <a:cs typeface="Consolas"/>
              </a:rPr>
              <a:t>p</a:t>
            </a:r>
            <a:r>
              <a:rPr sz="1600" spc="-25" dirty="0">
                <a:solidFill>
                  <a:srgbClr val="FF0000"/>
                </a:solidFill>
                <a:latin typeface="Palatino Linotype"/>
                <a:cs typeface="Palatino Linotype"/>
              </a:rPr>
              <a:t>:</a:t>
            </a:r>
            <a:endParaRPr sz="1600">
              <a:solidFill>
                <a:sysClr val="windowText" lastClr="000000"/>
              </a:solidFill>
              <a:latin typeface="Palatino Linotype"/>
              <a:cs typeface="Palatino Linotype"/>
            </a:endParaRPr>
          </a:p>
        </p:txBody>
      </p:sp>
      <p:sp>
        <p:nvSpPr>
          <p:cNvPr id="49" name="object 23">
            <a:extLst>
              <a:ext uri="{FF2B5EF4-FFF2-40B4-BE49-F238E27FC236}">
                <a16:creationId xmlns:a16="http://schemas.microsoft.com/office/drawing/2014/main" id="{94F26DE5-4DEF-1C64-307E-3AB185F33E64}"/>
              </a:ext>
            </a:extLst>
          </p:cNvPr>
          <p:cNvSpPr txBox="1"/>
          <p:nvPr/>
        </p:nvSpPr>
        <p:spPr>
          <a:xfrm>
            <a:off x="756400" y="1640332"/>
            <a:ext cx="1310640" cy="510540"/>
          </a:xfrm>
          <a:prstGeom prst="rect">
            <a:avLst/>
          </a:prstGeom>
        </p:spPr>
        <p:txBody>
          <a:bodyPr vert="horz" wrap="square" lIns="0" tIns="22860" rIns="0" bIns="0" rtlCol="0">
            <a:spAutoFit/>
          </a:bodyPr>
          <a:lstStyle/>
          <a:p>
            <a:pPr marL="12700" marR="5080">
              <a:lnSpc>
                <a:spcPts val="1900"/>
              </a:lnSpc>
              <a:spcBef>
                <a:spcPts val="180"/>
              </a:spcBef>
            </a:pPr>
            <a:r>
              <a:rPr sz="1600" spc="-10" dirty="0">
                <a:solidFill>
                  <a:srgbClr val="FF0000"/>
                </a:solidFill>
                <a:latin typeface="Palatino Linotype"/>
                <a:cs typeface="Palatino Linotype"/>
              </a:rPr>
              <a:t>Three-address </a:t>
            </a:r>
            <a:r>
              <a:rPr sz="1600" dirty="0">
                <a:solidFill>
                  <a:srgbClr val="FF0000"/>
                </a:solidFill>
                <a:latin typeface="Palatino Linotype"/>
                <a:cs typeface="Palatino Linotype"/>
              </a:rPr>
              <a:t>code</a:t>
            </a:r>
            <a:r>
              <a:rPr sz="1600" spc="-30" dirty="0">
                <a:solidFill>
                  <a:srgbClr val="FF0000"/>
                </a:solidFill>
                <a:latin typeface="Palatino Linotype"/>
                <a:cs typeface="Palatino Linotype"/>
              </a:rPr>
              <a:t> </a:t>
            </a:r>
            <a:r>
              <a:rPr sz="1600" dirty="0">
                <a:solidFill>
                  <a:srgbClr val="FF0000"/>
                </a:solidFill>
                <a:latin typeface="Palatino Linotype"/>
                <a:cs typeface="Palatino Linotype"/>
              </a:rPr>
              <a:t>for</a:t>
            </a:r>
            <a:r>
              <a:rPr sz="1600" spc="-15" dirty="0">
                <a:solidFill>
                  <a:srgbClr val="FF0000"/>
                </a:solidFill>
                <a:latin typeface="Palatino Linotype"/>
                <a:cs typeface="Palatino Linotype"/>
              </a:rPr>
              <a:t> </a:t>
            </a:r>
            <a:r>
              <a:rPr sz="1600" spc="-25" dirty="0">
                <a:solidFill>
                  <a:srgbClr val="FF0000"/>
                </a:solidFill>
                <a:latin typeface="Consolas"/>
                <a:cs typeface="Consolas"/>
              </a:rPr>
              <a:t>c</a:t>
            </a:r>
            <a:r>
              <a:rPr sz="1600" spc="-25" dirty="0">
                <a:solidFill>
                  <a:srgbClr val="FF0000"/>
                </a:solidFill>
                <a:latin typeface="Palatino Linotype"/>
                <a:cs typeface="Palatino Linotype"/>
              </a:rPr>
              <a:t>:</a:t>
            </a:r>
            <a:endParaRPr sz="1600">
              <a:solidFill>
                <a:sysClr val="windowText" lastClr="000000"/>
              </a:solidFill>
              <a:latin typeface="Palatino Linotype"/>
              <a:cs typeface="Palatino Linotype"/>
            </a:endParaRPr>
          </a:p>
        </p:txBody>
      </p:sp>
      <p:sp>
        <p:nvSpPr>
          <p:cNvPr id="50" name="object 24">
            <a:extLst>
              <a:ext uri="{FF2B5EF4-FFF2-40B4-BE49-F238E27FC236}">
                <a16:creationId xmlns:a16="http://schemas.microsoft.com/office/drawing/2014/main" id="{CBC42D3D-5C04-A03A-77DE-C6C48B885305}"/>
              </a:ext>
            </a:extLst>
          </p:cNvPr>
          <p:cNvSpPr txBox="1"/>
          <p:nvPr/>
        </p:nvSpPr>
        <p:spPr>
          <a:xfrm>
            <a:off x="3028948" y="365128"/>
            <a:ext cx="5836285" cy="742950"/>
          </a:xfrm>
          <a:prstGeom prst="rect">
            <a:avLst/>
          </a:prstGeom>
          <a:solidFill>
            <a:srgbClr val="FFF2CC"/>
          </a:solidFill>
          <a:ln w="9525">
            <a:solidFill>
              <a:srgbClr val="000000"/>
            </a:solidFill>
          </a:ln>
        </p:spPr>
        <p:txBody>
          <a:bodyPr vert="horz" wrap="square" lIns="0" tIns="18415" rIns="0" bIns="0" rtlCol="0">
            <a:spAutoFit/>
          </a:bodyPr>
          <a:lstStyle/>
          <a:p>
            <a:pPr marL="91440" marR="172720">
              <a:lnSpc>
                <a:spcPct val="121700"/>
              </a:lnSpc>
              <a:spcBef>
                <a:spcPts val="145"/>
              </a:spcBef>
            </a:pPr>
            <a:r>
              <a:rPr sz="1200" b="1" dirty="0">
                <a:solidFill>
                  <a:srgbClr val="595959"/>
                </a:solidFill>
                <a:latin typeface="Palatino Linotype"/>
                <a:cs typeface="Palatino Linotype"/>
              </a:rPr>
              <a:t>Note:</a:t>
            </a:r>
            <a:r>
              <a:rPr sz="1200" b="1" spc="-25" dirty="0">
                <a:solidFill>
                  <a:srgbClr val="595959"/>
                </a:solidFill>
                <a:latin typeface="Palatino Linotype"/>
                <a:cs typeface="Palatino Linotype"/>
              </a:rPr>
              <a:t> </a:t>
            </a:r>
            <a:r>
              <a:rPr sz="1200" dirty="0">
                <a:solidFill>
                  <a:srgbClr val="595959"/>
                </a:solidFill>
                <a:latin typeface="Palatino Linotype"/>
                <a:cs typeface="Palatino Linotype"/>
              </a:rPr>
              <a:t>Here</a:t>
            </a:r>
            <a:r>
              <a:rPr sz="1200" spc="-20" dirty="0">
                <a:solidFill>
                  <a:srgbClr val="595959"/>
                </a:solidFill>
                <a:latin typeface="Palatino Linotype"/>
                <a:cs typeface="Palatino Linotype"/>
              </a:rPr>
              <a:t> </a:t>
            </a:r>
            <a:r>
              <a:rPr sz="1200" dirty="0">
                <a:solidFill>
                  <a:srgbClr val="595959"/>
                </a:solidFill>
                <a:latin typeface="Palatino Linotype"/>
                <a:cs typeface="Palatino Linotype"/>
              </a:rPr>
              <a:t>the</a:t>
            </a:r>
            <a:r>
              <a:rPr sz="1200" spc="-20" dirty="0">
                <a:solidFill>
                  <a:srgbClr val="595959"/>
                </a:solidFill>
                <a:latin typeface="Palatino Linotype"/>
                <a:cs typeface="Palatino Linotype"/>
              </a:rPr>
              <a:t> </a:t>
            </a:r>
            <a:r>
              <a:rPr sz="1200" dirty="0">
                <a:solidFill>
                  <a:srgbClr val="595959"/>
                </a:solidFill>
                <a:latin typeface="Palatino Linotype"/>
                <a:cs typeface="Palatino Linotype"/>
              </a:rPr>
              <a:t>return</a:t>
            </a:r>
            <a:r>
              <a:rPr sz="1200" spc="-20" dirty="0">
                <a:solidFill>
                  <a:srgbClr val="595959"/>
                </a:solidFill>
                <a:latin typeface="Palatino Linotype"/>
                <a:cs typeface="Palatino Linotype"/>
              </a:rPr>
              <a:t> </a:t>
            </a:r>
            <a:r>
              <a:rPr sz="1200" dirty="0">
                <a:solidFill>
                  <a:srgbClr val="595959"/>
                </a:solidFill>
                <a:latin typeface="Palatino Linotype"/>
                <a:cs typeface="Palatino Linotype"/>
              </a:rPr>
              <a:t>address</a:t>
            </a:r>
            <a:r>
              <a:rPr sz="1200" spc="-20" dirty="0">
                <a:solidFill>
                  <a:srgbClr val="595959"/>
                </a:solidFill>
                <a:latin typeface="Palatino Linotype"/>
                <a:cs typeface="Palatino Linotype"/>
              </a:rPr>
              <a:t> </a:t>
            </a:r>
            <a:r>
              <a:rPr sz="1200" dirty="0">
                <a:solidFill>
                  <a:srgbClr val="595959"/>
                </a:solidFill>
                <a:latin typeface="Palatino Linotype"/>
                <a:cs typeface="Palatino Linotype"/>
              </a:rPr>
              <a:t>is</a:t>
            </a:r>
            <a:r>
              <a:rPr sz="1200" spc="-20" dirty="0">
                <a:solidFill>
                  <a:srgbClr val="595959"/>
                </a:solidFill>
                <a:latin typeface="Palatino Linotype"/>
                <a:cs typeface="Palatino Linotype"/>
              </a:rPr>
              <a:t> </a:t>
            </a:r>
            <a:r>
              <a:rPr sz="1200" dirty="0">
                <a:solidFill>
                  <a:srgbClr val="595959"/>
                </a:solidFill>
                <a:latin typeface="Palatino Linotype"/>
                <a:cs typeface="Palatino Linotype"/>
              </a:rPr>
              <a:t>stored</a:t>
            </a:r>
            <a:r>
              <a:rPr sz="1200" spc="-20" dirty="0">
                <a:solidFill>
                  <a:srgbClr val="595959"/>
                </a:solidFill>
                <a:latin typeface="Palatino Linotype"/>
                <a:cs typeface="Palatino Linotype"/>
              </a:rPr>
              <a:t> </a:t>
            </a:r>
            <a:r>
              <a:rPr sz="1200" dirty="0">
                <a:solidFill>
                  <a:srgbClr val="595959"/>
                </a:solidFill>
                <a:latin typeface="Palatino Linotype"/>
                <a:cs typeface="Palatino Linotype"/>
              </a:rPr>
              <a:t>at</a:t>
            </a:r>
            <a:r>
              <a:rPr sz="1200" spc="-25" dirty="0">
                <a:solidFill>
                  <a:srgbClr val="595959"/>
                </a:solidFill>
                <a:latin typeface="Palatino Linotype"/>
                <a:cs typeface="Palatino Linotype"/>
              </a:rPr>
              <a:t> </a:t>
            </a:r>
            <a:r>
              <a:rPr sz="1200" dirty="0">
                <a:solidFill>
                  <a:srgbClr val="595959"/>
                </a:solidFill>
                <a:latin typeface="Palatino Linotype"/>
                <a:cs typeface="Palatino Linotype"/>
              </a:rPr>
              <a:t>the</a:t>
            </a:r>
            <a:r>
              <a:rPr sz="1200" spc="-20" dirty="0">
                <a:solidFill>
                  <a:srgbClr val="595959"/>
                </a:solidFill>
                <a:latin typeface="Palatino Linotype"/>
                <a:cs typeface="Palatino Linotype"/>
              </a:rPr>
              <a:t> </a:t>
            </a:r>
            <a:r>
              <a:rPr sz="1200" dirty="0">
                <a:solidFill>
                  <a:srgbClr val="595959"/>
                </a:solidFill>
                <a:latin typeface="Palatino Linotype"/>
                <a:cs typeface="Palatino Linotype"/>
              </a:rPr>
              <a:t>beginning</a:t>
            </a:r>
            <a:r>
              <a:rPr sz="1200" spc="-25" dirty="0">
                <a:solidFill>
                  <a:srgbClr val="595959"/>
                </a:solidFill>
                <a:latin typeface="Palatino Linotype"/>
                <a:cs typeface="Palatino Linotype"/>
              </a:rPr>
              <a:t> </a:t>
            </a:r>
            <a:r>
              <a:rPr sz="1200" dirty="0">
                <a:solidFill>
                  <a:srgbClr val="595959"/>
                </a:solidFill>
                <a:latin typeface="Palatino Linotype"/>
                <a:cs typeface="Palatino Linotype"/>
              </a:rPr>
              <a:t>of</a:t>
            </a:r>
            <a:r>
              <a:rPr sz="1200" spc="-20" dirty="0">
                <a:solidFill>
                  <a:srgbClr val="595959"/>
                </a:solidFill>
                <a:latin typeface="Palatino Linotype"/>
                <a:cs typeface="Palatino Linotype"/>
              </a:rPr>
              <a:t> </a:t>
            </a:r>
            <a:r>
              <a:rPr sz="1200" dirty="0">
                <a:solidFill>
                  <a:srgbClr val="595959"/>
                </a:solidFill>
                <a:latin typeface="Palatino Linotype"/>
                <a:cs typeface="Palatino Linotype"/>
              </a:rPr>
              <a:t>the</a:t>
            </a:r>
            <a:r>
              <a:rPr sz="1200" spc="-20" dirty="0">
                <a:solidFill>
                  <a:srgbClr val="595959"/>
                </a:solidFill>
                <a:latin typeface="Palatino Linotype"/>
                <a:cs typeface="Palatino Linotype"/>
              </a:rPr>
              <a:t> callee’s </a:t>
            </a:r>
            <a:r>
              <a:rPr sz="1200" spc="-10" dirty="0">
                <a:solidFill>
                  <a:srgbClr val="595959"/>
                </a:solidFill>
                <a:latin typeface="Palatino Linotype"/>
                <a:cs typeface="Palatino Linotype"/>
              </a:rPr>
              <a:t>activation </a:t>
            </a:r>
            <a:r>
              <a:rPr sz="1200" dirty="0">
                <a:solidFill>
                  <a:srgbClr val="595959"/>
                </a:solidFill>
                <a:latin typeface="Palatino Linotype"/>
                <a:cs typeface="Palatino Linotype"/>
              </a:rPr>
              <a:t>record,</a:t>
            </a:r>
            <a:r>
              <a:rPr sz="1200" spc="-25" dirty="0">
                <a:solidFill>
                  <a:srgbClr val="595959"/>
                </a:solidFill>
                <a:latin typeface="Palatino Linotype"/>
                <a:cs typeface="Palatino Linotype"/>
              </a:rPr>
              <a:t> </a:t>
            </a:r>
            <a:r>
              <a:rPr sz="1200" dirty="0">
                <a:solidFill>
                  <a:srgbClr val="595959"/>
                </a:solidFill>
                <a:latin typeface="Palatino Linotype"/>
                <a:cs typeface="Palatino Linotype"/>
              </a:rPr>
              <a:t>which</a:t>
            </a:r>
            <a:r>
              <a:rPr sz="1200" spc="-25" dirty="0">
                <a:solidFill>
                  <a:srgbClr val="595959"/>
                </a:solidFill>
                <a:latin typeface="Palatino Linotype"/>
                <a:cs typeface="Palatino Linotype"/>
              </a:rPr>
              <a:t> </a:t>
            </a:r>
            <a:r>
              <a:rPr sz="1200" dirty="0">
                <a:solidFill>
                  <a:srgbClr val="595959"/>
                </a:solidFill>
                <a:latin typeface="Palatino Linotype"/>
                <a:cs typeface="Palatino Linotype"/>
              </a:rPr>
              <a:t>is</a:t>
            </a:r>
            <a:r>
              <a:rPr sz="1200" spc="-20" dirty="0">
                <a:solidFill>
                  <a:srgbClr val="595959"/>
                </a:solidFill>
                <a:latin typeface="Palatino Linotype"/>
                <a:cs typeface="Palatino Linotype"/>
              </a:rPr>
              <a:t> </a:t>
            </a:r>
            <a:r>
              <a:rPr sz="1200" dirty="0">
                <a:solidFill>
                  <a:srgbClr val="595959"/>
                </a:solidFill>
                <a:latin typeface="Palatino Linotype"/>
                <a:cs typeface="Palatino Linotype"/>
              </a:rPr>
              <a:t>different</a:t>
            </a:r>
            <a:r>
              <a:rPr sz="1200" spc="-30" dirty="0">
                <a:solidFill>
                  <a:srgbClr val="595959"/>
                </a:solidFill>
                <a:latin typeface="Palatino Linotype"/>
                <a:cs typeface="Palatino Linotype"/>
              </a:rPr>
              <a:t> </a:t>
            </a:r>
            <a:r>
              <a:rPr sz="1200" dirty="0">
                <a:solidFill>
                  <a:srgbClr val="595959"/>
                </a:solidFill>
                <a:latin typeface="Palatino Linotype"/>
                <a:cs typeface="Palatino Linotype"/>
              </a:rPr>
              <a:t>from</a:t>
            </a:r>
            <a:r>
              <a:rPr sz="1200" spc="-25" dirty="0">
                <a:solidFill>
                  <a:srgbClr val="595959"/>
                </a:solidFill>
                <a:latin typeface="Palatino Linotype"/>
                <a:cs typeface="Palatino Linotype"/>
              </a:rPr>
              <a:t> </a:t>
            </a:r>
            <a:r>
              <a:rPr sz="1200" dirty="0">
                <a:solidFill>
                  <a:srgbClr val="595959"/>
                </a:solidFill>
                <a:latin typeface="Palatino Linotype"/>
                <a:cs typeface="Palatino Linotype"/>
              </a:rPr>
              <a:t>Chapter</a:t>
            </a:r>
            <a:r>
              <a:rPr sz="1200" spc="-20" dirty="0">
                <a:solidFill>
                  <a:srgbClr val="595959"/>
                </a:solidFill>
                <a:latin typeface="Palatino Linotype"/>
                <a:cs typeface="Palatino Linotype"/>
              </a:rPr>
              <a:t> </a:t>
            </a:r>
            <a:r>
              <a:rPr sz="1200" dirty="0">
                <a:solidFill>
                  <a:srgbClr val="595959"/>
                </a:solidFill>
                <a:latin typeface="Palatino Linotype"/>
                <a:cs typeface="Palatino Linotype"/>
              </a:rPr>
              <a:t>6.</a:t>
            </a:r>
            <a:r>
              <a:rPr sz="1200" spc="-25" dirty="0">
                <a:solidFill>
                  <a:srgbClr val="595959"/>
                </a:solidFill>
                <a:latin typeface="Palatino Linotype"/>
                <a:cs typeface="Palatino Linotype"/>
              </a:rPr>
              <a:t> </a:t>
            </a:r>
            <a:r>
              <a:rPr sz="1200" dirty="0">
                <a:solidFill>
                  <a:srgbClr val="595959"/>
                </a:solidFill>
                <a:latin typeface="Palatino Linotype"/>
                <a:cs typeface="Palatino Linotype"/>
              </a:rPr>
              <a:t>This</a:t>
            </a:r>
            <a:r>
              <a:rPr sz="1200" spc="-20" dirty="0">
                <a:solidFill>
                  <a:srgbClr val="595959"/>
                </a:solidFill>
                <a:latin typeface="Palatino Linotype"/>
                <a:cs typeface="Palatino Linotype"/>
              </a:rPr>
              <a:t> </a:t>
            </a:r>
            <a:r>
              <a:rPr sz="1200" dirty="0">
                <a:solidFill>
                  <a:srgbClr val="595959"/>
                </a:solidFill>
                <a:latin typeface="Palatino Linotype"/>
                <a:cs typeface="Palatino Linotype"/>
              </a:rPr>
              <a:t>is</a:t>
            </a:r>
            <a:r>
              <a:rPr sz="1200" spc="-25" dirty="0">
                <a:solidFill>
                  <a:srgbClr val="595959"/>
                </a:solidFill>
                <a:latin typeface="Palatino Linotype"/>
                <a:cs typeface="Palatino Linotype"/>
              </a:rPr>
              <a:t> </a:t>
            </a:r>
            <a:r>
              <a:rPr sz="1200" dirty="0">
                <a:solidFill>
                  <a:srgbClr val="595959"/>
                </a:solidFill>
                <a:latin typeface="Palatino Linotype"/>
                <a:cs typeface="Palatino Linotype"/>
              </a:rPr>
              <a:t>fine</a:t>
            </a:r>
            <a:r>
              <a:rPr sz="1200" spc="-25" dirty="0">
                <a:solidFill>
                  <a:srgbClr val="595959"/>
                </a:solidFill>
                <a:latin typeface="Palatino Linotype"/>
                <a:cs typeface="Palatino Linotype"/>
              </a:rPr>
              <a:t> </a:t>
            </a:r>
            <a:r>
              <a:rPr sz="1200" dirty="0">
                <a:solidFill>
                  <a:srgbClr val="595959"/>
                </a:solidFill>
                <a:latin typeface="Palatino Linotype"/>
                <a:cs typeface="Palatino Linotype"/>
              </a:rPr>
              <a:t>since</a:t>
            </a:r>
            <a:r>
              <a:rPr sz="1200" spc="-20" dirty="0">
                <a:solidFill>
                  <a:srgbClr val="595959"/>
                </a:solidFill>
                <a:latin typeface="Palatino Linotype"/>
                <a:cs typeface="Palatino Linotype"/>
              </a:rPr>
              <a:t> </a:t>
            </a:r>
            <a:r>
              <a:rPr sz="1200" dirty="0">
                <a:solidFill>
                  <a:srgbClr val="595959"/>
                </a:solidFill>
                <a:latin typeface="Palatino Linotype"/>
                <a:cs typeface="Palatino Linotype"/>
              </a:rPr>
              <a:t>the</a:t>
            </a:r>
            <a:r>
              <a:rPr sz="1200" spc="-25" dirty="0">
                <a:solidFill>
                  <a:srgbClr val="595959"/>
                </a:solidFill>
                <a:latin typeface="Palatino Linotype"/>
                <a:cs typeface="Palatino Linotype"/>
              </a:rPr>
              <a:t> </a:t>
            </a:r>
            <a:r>
              <a:rPr sz="1200" dirty="0">
                <a:solidFill>
                  <a:srgbClr val="595959"/>
                </a:solidFill>
                <a:latin typeface="Palatino Linotype"/>
                <a:cs typeface="Palatino Linotype"/>
              </a:rPr>
              <a:t>order</a:t>
            </a:r>
            <a:r>
              <a:rPr sz="1200" spc="-20" dirty="0">
                <a:solidFill>
                  <a:srgbClr val="595959"/>
                </a:solidFill>
                <a:latin typeface="Palatino Linotype"/>
                <a:cs typeface="Palatino Linotype"/>
              </a:rPr>
              <a:t> </a:t>
            </a:r>
            <a:r>
              <a:rPr sz="1200" dirty="0">
                <a:solidFill>
                  <a:srgbClr val="595959"/>
                </a:solidFill>
                <a:latin typeface="Palatino Linotype"/>
                <a:cs typeface="Palatino Linotype"/>
              </a:rPr>
              <a:t>among</a:t>
            </a:r>
            <a:r>
              <a:rPr sz="1200" spc="-30" dirty="0">
                <a:solidFill>
                  <a:srgbClr val="595959"/>
                </a:solidFill>
                <a:latin typeface="Palatino Linotype"/>
                <a:cs typeface="Palatino Linotype"/>
              </a:rPr>
              <a:t> </a:t>
            </a:r>
            <a:r>
              <a:rPr sz="1200" spc="-10" dirty="0">
                <a:solidFill>
                  <a:srgbClr val="595959"/>
                </a:solidFill>
                <a:latin typeface="Palatino Linotype"/>
                <a:cs typeface="Palatino Linotype"/>
              </a:rPr>
              <a:t>actual </a:t>
            </a:r>
            <a:r>
              <a:rPr sz="1200" dirty="0">
                <a:solidFill>
                  <a:srgbClr val="595959"/>
                </a:solidFill>
                <a:latin typeface="Palatino Linotype"/>
                <a:cs typeface="Palatino Linotype"/>
              </a:rPr>
              <a:t>parameters,</a:t>
            </a:r>
            <a:r>
              <a:rPr sz="1200" spc="-40" dirty="0">
                <a:solidFill>
                  <a:srgbClr val="595959"/>
                </a:solidFill>
                <a:latin typeface="Palatino Linotype"/>
                <a:cs typeface="Palatino Linotype"/>
              </a:rPr>
              <a:t> </a:t>
            </a:r>
            <a:r>
              <a:rPr sz="1200" dirty="0">
                <a:solidFill>
                  <a:srgbClr val="595959"/>
                </a:solidFill>
                <a:latin typeface="Palatino Linotype"/>
                <a:cs typeface="Palatino Linotype"/>
              </a:rPr>
              <a:t>returned</a:t>
            </a:r>
            <a:r>
              <a:rPr sz="1200" spc="-35" dirty="0">
                <a:solidFill>
                  <a:srgbClr val="595959"/>
                </a:solidFill>
                <a:latin typeface="Palatino Linotype"/>
                <a:cs typeface="Palatino Linotype"/>
              </a:rPr>
              <a:t> </a:t>
            </a:r>
            <a:r>
              <a:rPr sz="1200" dirty="0">
                <a:solidFill>
                  <a:srgbClr val="595959"/>
                </a:solidFill>
                <a:latin typeface="Palatino Linotype"/>
                <a:cs typeface="Palatino Linotype"/>
              </a:rPr>
              <a:t>values,</a:t>
            </a:r>
            <a:r>
              <a:rPr sz="1200" spc="-40" dirty="0">
                <a:solidFill>
                  <a:srgbClr val="595959"/>
                </a:solidFill>
                <a:latin typeface="Palatino Linotype"/>
                <a:cs typeface="Palatino Linotype"/>
              </a:rPr>
              <a:t> </a:t>
            </a:r>
            <a:r>
              <a:rPr sz="1200" dirty="0">
                <a:solidFill>
                  <a:srgbClr val="595959"/>
                </a:solidFill>
                <a:latin typeface="Palatino Linotype"/>
                <a:cs typeface="Palatino Linotype"/>
              </a:rPr>
              <a:t>and</a:t>
            </a:r>
            <a:r>
              <a:rPr sz="1200" spc="-35" dirty="0">
                <a:solidFill>
                  <a:srgbClr val="595959"/>
                </a:solidFill>
                <a:latin typeface="Palatino Linotype"/>
                <a:cs typeface="Palatino Linotype"/>
              </a:rPr>
              <a:t> </a:t>
            </a:r>
            <a:r>
              <a:rPr sz="1200" dirty="0">
                <a:solidFill>
                  <a:srgbClr val="595959"/>
                </a:solidFill>
                <a:latin typeface="Palatino Linotype"/>
                <a:cs typeface="Palatino Linotype"/>
              </a:rPr>
              <a:t>saved</a:t>
            </a:r>
            <a:r>
              <a:rPr sz="1200" spc="-35" dirty="0">
                <a:solidFill>
                  <a:srgbClr val="595959"/>
                </a:solidFill>
                <a:latin typeface="Palatino Linotype"/>
                <a:cs typeface="Palatino Linotype"/>
              </a:rPr>
              <a:t> </a:t>
            </a:r>
            <a:r>
              <a:rPr sz="1200" dirty="0">
                <a:solidFill>
                  <a:srgbClr val="595959"/>
                </a:solidFill>
                <a:latin typeface="Palatino Linotype"/>
                <a:cs typeface="Palatino Linotype"/>
              </a:rPr>
              <a:t>machine</a:t>
            </a:r>
            <a:r>
              <a:rPr sz="1200" spc="-40" dirty="0">
                <a:solidFill>
                  <a:srgbClr val="595959"/>
                </a:solidFill>
                <a:latin typeface="Palatino Linotype"/>
                <a:cs typeface="Palatino Linotype"/>
              </a:rPr>
              <a:t> </a:t>
            </a:r>
            <a:r>
              <a:rPr sz="1200" dirty="0">
                <a:solidFill>
                  <a:srgbClr val="595959"/>
                </a:solidFill>
                <a:latin typeface="Palatino Linotype"/>
                <a:cs typeface="Palatino Linotype"/>
              </a:rPr>
              <a:t>status</a:t>
            </a:r>
            <a:r>
              <a:rPr sz="1200" spc="-35" dirty="0">
                <a:solidFill>
                  <a:srgbClr val="595959"/>
                </a:solidFill>
                <a:latin typeface="Palatino Linotype"/>
                <a:cs typeface="Palatino Linotype"/>
              </a:rPr>
              <a:t> </a:t>
            </a:r>
            <a:r>
              <a:rPr sz="1200" dirty="0">
                <a:solidFill>
                  <a:srgbClr val="595959"/>
                </a:solidFill>
                <a:latin typeface="Palatino Linotype"/>
                <a:cs typeface="Palatino Linotype"/>
              </a:rPr>
              <a:t>does</a:t>
            </a:r>
            <a:r>
              <a:rPr sz="1200" spc="-40" dirty="0">
                <a:solidFill>
                  <a:srgbClr val="595959"/>
                </a:solidFill>
                <a:latin typeface="Palatino Linotype"/>
                <a:cs typeface="Palatino Linotype"/>
              </a:rPr>
              <a:t> </a:t>
            </a:r>
            <a:r>
              <a:rPr sz="1200" dirty="0">
                <a:solidFill>
                  <a:srgbClr val="595959"/>
                </a:solidFill>
                <a:latin typeface="Palatino Linotype"/>
                <a:cs typeface="Palatino Linotype"/>
              </a:rPr>
              <a:t>not</a:t>
            </a:r>
            <a:r>
              <a:rPr sz="1200" spc="-40" dirty="0">
                <a:solidFill>
                  <a:srgbClr val="595959"/>
                </a:solidFill>
                <a:latin typeface="Palatino Linotype"/>
                <a:cs typeface="Palatino Linotype"/>
              </a:rPr>
              <a:t> </a:t>
            </a:r>
            <a:r>
              <a:rPr sz="1200" spc="-10" dirty="0">
                <a:solidFill>
                  <a:srgbClr val="595959"/>
                </a:solidFill>
                <a:latin typeface="Palatino Linotype"/>
                <a:cs typeface="Palatino Linotype"/>
              </a:rPr>
              <a:t>matter.</a:t>
            </a:r>
            <a:endParaRPr sz="1200">
              <a:solidFill>
                <a:sysClr val="windowText" lastClr="000000"/>
              </a:solidFill>
              <a:latin typeface="Palatino Linotype"/>
              <a:cs typeface="Palatino Linotype"/>
            </a:endParaRPr>
          </a:p>
        </p:txBody>
      </p:sp>
    </p:spTree>
    <p:extLst>
      <p:ext uri="{BB962C8B-B14F-4D97-AF65-F5344CB8AC3E}">
        <p14:creationId xmlns:p14="http://schemas.microsoft.com/office/powerpoint/2010/main" val="1400252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17</a:t>
            </a:fld>
            <a:endParaRPr lang="en-US"/>
          </a:p>
        </p:txBody>
      </p:sp>
      <p:sp>
        <p:nvSpPr>
          <p:cNvPr id="12" name="object 2">
            <a:extLst>
              <a:ext uri="{FF2B5EF4-FFF2-40B4-BE49-F238E27FC236}">
                <a16:creationId xmlns:a16="http://schemas.microsoft.com/office/drawing/2014/main" id="{E321B1C8-CEAC-A816-C4EA-2E7D15554A9B}"/>
              </a:ext>
            </a:extLst>
          </p:cNvPr>
          <p:cNvSpPr txBox="1">
            <a:spLocks/>
          </p:cNvSpPr>
          <p:nvPr/>
        </p:nvSpPr>
        <p:spPr>
          <a:xfrm>
            <a:off x="707390" y="524763"/>
            <a:ext cx="7729219" cy="63500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4000" b="1" i="0" u="none" strike="noStrike" kern="0" cap="none" spc="0" normalizeH="0" baseline="0" noProof="0">
                <a:ln>
                  <a:noFill/>
                </a:ln>
                <a:solidFill>
                  <a:sysClr val="windowText" lastClr="000000"/>
                </a:solidFill>
                <a:effectLst/>
                <a:uLnTx/>
                <a:uFillTx/>
                <a:latin typeface="Palatino Linotype"/>
                <a:ea typeface="+mj-ea"/>
              </a:rPr>
              <a:t>Stack</a:t>
            </a:r>
            <a:r>
              <a:rPr kumimoji="0" lang="en-US" sz="4000" b="1" i="0" u="none" strike="noStrike" kern="0" cap="none" spc="-80" normalizeH="0" baseline="0" noProof="0">
                <a:ln>
                  <a:noFill/>
                </a:ln>
                <a:solidFill>
                  <a:sysClr val="windowText" lastClr="000000"/>
                </a:solidFill>
                <a:effectLst/>
                <a:uLnTx/>
                <a:uFillTx/>
                <a:latin typeface="Palatino Linotype"/>
                <a:ea typeface="+mj-ea"/>
              </a:rPr>
              <a:t> </a:t>
            </a:r>
            <a:r>
              <a:rPr kumimoji="0" lang="en-US" sz="4000" b="1" i="0" u="none" strike="noStrike" kern="0" cap="none" spc="0" normalizeH="0" baseline="0" noProof="0">
                <a:ln>
                  <a:noFill/>
                </a:ln>
                <a:solidFill>
                  <a:sysClr val="windowText" lastClr="000000"/>
                </a:solidFill>
                <a:effectLst/>
                <a:uLnTx/>
                <a:uFillTx/>
                <a:latin typeface="Palatino Linotype"/>
                <a:ea typeface="+mj-ea"/>
              </a:rPr>
              <a:t>Allocation</a:t>
            </a:r>
            <a:r>
              <a:rPr kumimoji="0" lang="en-US" sz="4000" b="1" i="0" u="none" strike="noStrike" kern="0" cap="none" spc="-50" normalizeH="0" baseline="0" noProof="0">
                <a:ln>
                  <a:noFill/>
                </a:ln>
                <a:solidFill>
                  <a:sysClr val="windowText" lastClr="000000"/>
                </a:solidFill>
                <a:effectLst/>
                <a:uLnTx/>
                <a:uFillTx/>
                <a:latin typeface="Palatino Linotype"/>
                <a:ea typeface="+mj-ea"/>
              </a:rPr>
              <a:t> (</a:t>
            </a:r>
            <a:r>
              <a:rPr kumimoji="0" lang="zh-CN" altLang="en-US" sz="3900" b="0" i="0" u="none" strike="noStrike" kern="0" cap="none" spc="85" normalizeH="0" baseline="0" noProof="0">
                <a:ln>
                  <a:noFill/>
                </a:ln>
                <a:solidFill>
                  <a:sysClr val="windowText" lastClr="000000"/>
                </a:solidFill>
                <a:effectLst/>
                <a:uLnTx/>
                <a:uFillTx/>
                <a:latin typeface="SimSun"/>
                <a:ea typeface="宋体" panose="02010600030101010101" pitchFamily="2" charset="-122"/>
                <a:cs typeface="SimSun"/>
              </a:rPr>
              <a:t>栈式分配</a:t>
            </a:r>
            <a:r>
              <a:rPr kumimoji="0" lang="en-US" altLang="zh-CN" sz="4000" b="1" i="0" u="none" strike="noStrike" kern="0" cap="none" spc="-50" normalizeH="0" baseline="0" noProof="0">
                <a:ln>
                  <a:noFill/>
                </a:ln>
                <a:solidFill>
                  <a:sysClr val="windowText" lastClr="000000"/>
                </a:solidFill>
                <a:effectLst/>
                <a:uLnTx/>
                <a:uFillTx/>
                <a:latin typeface="Palatino Linotype"/>
                <a:ea typeface="宋体" panose="02010600030101010101" pitchFamily="2" charset="-122"/>
              </a:rPr>
              <a:t>)</a:t>
            </a:r>
            <a:endParaRPr kumimoji="0" lang="zh-CN" altLang="en-US" sz="4000" b="1" i="0" u="none" strike="noStrike" kern="0" cap="none" spc="0" normalizeH="0" baseline="0" noProof="0">
              <a:ln>
                <a:noFill/>
              </a:ln>
              <a:solidFill>
                <a:sysClr val="windowText" lastClr="000000"/>
              </a:solidFill>
              <a:effectLst/>
              <a:uLnTx/>
              <a:uFillTx/>
              <a:latin typeface="SimSun"/>
              <a:ea typeface="宋体" panose="02010600030101010101" pitchFamily="2" charset="-122"/>
              <a:cs typeface="SimSun"/>
            </a:endParaRPr>
          </a:p>
        </p:txBody>
      </p:sp>
      <p:sp>
        <p:nvSpPr>
          <p:cNvPr id="13" name="object 3">
            <a:extLst>
              <a:ext uri="{FF2B5EF4-FFF2-40B4-BE49-F238E27FC236}">
                <a16:creationId xmlns:a16="http://schemas.microsoft.com/office/drawing/2014/main" id="{D6711B3B-9F72-B161-45CD-6F8450F3F797}"/>
              </a:ext>
            </a:extLst>
          </p:cNvPr>
          <p:cNvSpPr txBox="1"/>
          <p:nvPr/>
        </p:nvSpPr>
        <p:spPr>
          <a:xfrm>
            <a:off x="707390" y="1659635"/>
            <a:ext cx="7707630" cy="2616200"/>
          </a:xfrm>
          <a:prstGeom prst="rect">
            <a:avLst/>
          </a:prstGeom>
        </p:spPr>
        <p:txBody>
          <a:bodyPr vert="horz" wrap="square" lIns="0" tIns="12700" rIns="0" bIns="0" rtlCol="0">
            <a:spAutoFit/>
          </a:bodyPr>
          <a:lstStyle/>
          <a:p>
            <a:pPr marL="242570" indent="-229870">
              <a:spcBef>
                <a:spcPts val="100"/>
              </a:spcBef>
              <a:buFont typeface="Arial MT"/>
              <a:buChar char="•"/>
              <a:tabLst>
                <a:tab pos="242570" algn="l"/>
              </a:tabLst>
            </a:pPr>
            <a:r>
              <a:rPr sz="2000" dirty="0">
                <a:solidFill>
                  <a:sysClr val="windowText" lastClr="000000"/>
                </a:solidFill>
                <a:latin typeface="Palatino Linotype"/>
                <a:cs typeface="Palatino Linotype"/>
              </a:rPr>
              <a:t>Static</a:t>
            </a:r>
            <a:r>
              <a:rPr sz="2000" spc="-4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allocation</a:t>
            </a:r>
            <a:r>
              <a:rPr sz="2000" spc="-4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uses</a:t>
            </a:r>
            <a:r>
              <a:rPr sz="2000" spc="-40" dirty="0">
                <a:solidFill>
                  <a:sysClr val="windowText" lastClr="000000"/>
                </a:solidFill>
                <a:latin typeface="Palatino Linotype"/>
                <a:cs typeface="Palatino Linotype"/>
              </a:rPr>
              <a:t> </a:t>
            </a:r>
            <a:r>
              <a:rPr sz="2000" dirty="0">
                <a:solidFill>
                  <a:srgbClr val="FF0000"/>
                </a:solidFill>
                <a:latin typeface="Palatino Linotype"/>
                <a:cs typeface="Palatino Linotype"/>
              </a:rPr>
              <a:t>absolute</a:t>
            </a:r>
            <a:r>
              <a:rPr sz="2000" spc="-40" dirty="0">
                <a:solidFill>
                  <a:srgbClr val="FF0000"/>
                </a:solidFill>
                <a:latin typeface="Palatino Linotype"/>
                <a:cs typeface="Palatino Linotype"/>
              </a:rPr>
              <a:t> </a:t>
            </a:r>
            <a:r>
              <a:rPr sz="2000" spc="-10" dirty="0">
                <a:solidFill>
                  <a:srgbClr val="FF0000"/>
                </a:solidFill>
                <a:latin typeface="Palatino Linotype"/>
                <a:cs typeface="Palatino Linotype"/>
              </a:rPr>
              <a:t>addresses</a:t>
            </a:r>
            <a:endParaRPr sz="2000">
              <a:solidFill>
                <a:sysClr val="windowText" lastClr="000000"/>
              </a:solidFill>
              <a:latin typeface="Palatino Linotype"/>
              <a:cs typeface="Palatino Linotype"/>
            </a:endParaRPr>
          </a:p>
          <a:p>
            <a:pPr marL="242570" marR="574675" indent="-230504">
              <a:lnSpc>
                <a:spcPct val="121000"/>
              </a:lnSpc>
              <a:spcBef>
                <a:spcPts val="1680"/>
              </a:spcBef>
              <a:buFont typeface="Arial MT"/>
              <a:buChar char="•"/>
              <a:tabLst>
                <a:tab pos="242570" algn="l"/>
              </a:tabLst>
            </a:pPr>
            <a:r>
              <a:rPr sz="2000" dirty="0">
                <a:solidFill>
                  <a:sysClr val="windowText" lastClr="000000"/>
                </a:solidFill>
                <a:latin typeface="Palatino Linotype"/>
                <a:cs typeface="Palatino Linotype"/>
              </a:rPr>
              <a:t>Static</a:t>
            </a:r>
            <a:r>
              <a:rPr sz="2000" spc="-3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allocation</a:t>
            </a:r>
            <a:r>
              <a:rPr sz="2000" spc="-3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can</a:t>
            </a:r>
            <a:r>
              <a:rPr sz="2000" spc="-3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become</a:t>
            </a:r>
            <a:r>
              <a:rPr sz="2000" spc="-2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stack</a:t>
            </a:r>
            <a:r>
              <a:rPr sz="2000" spc="-3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allocation</a:t>
            </a:r>
            <a:r>
              <a:rPr sz="2000" spc="-3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by</a:t>
            </a:r>
            <a:r>
              <a:rPr sz="2000" spc="-3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using</a:t>
            </a:r>
            <a:r>
              <a:rPr sz="2000" spc="-25" dirty="0">
                <a:solidFill>
                  <a:sysClr val="windowText" lastClr="000000"/>
                </a:solidFill>
                <a:latin typeface="Palatino Linotype"/>
                <a:cs typeface="Palatino Linotype"/>
              </a:rPr>
              <a:t> </a:t>
            </a:r>
            <a:r>
              <a:rPr sz="2000" spc="-10" dirty="0">
                <a:solidFill>
                  <a:srgbClr val="FF0000"/>
                </a:solidFill>
                <a:latin typeface="Palatino Linotype"/>
                <a:cs typeface="Palatino Linotype"/>
              </a:rPr>
              <a:t>relative </a:t>
            </a:r>
            <a:r>
              <a:rPr sz="2000" dirty="0">
                <a:solidFill>
                  <a:srgbClr val="FF0000"/>
                </a:solidFill>
                <a:latin typeface="Palatino Linotype"/>
                <a:cs typeface="Palatino Linotype"/>
              </a:rPr>
              <a:t>addresses</a:t>
            </a:r>
            <a:r>
              <a:rPr sz="2000" spc="-50" dirty="0">
                <a:solidFill>
                  <a:srgbClr val="FF0000"/>
                </a:solidFill>
                <a:latin typeface="Palatino Linotype"/>
                <a:cs typeface="Palatino Linotype"/>
              </a:rPr>
              <a:t> </a:t>
            </a:r>
            <a:r>
              <a:rPr sz="2000" dirty="0">
                <a:solidFill>
                  <a:sysClr val="windowText" lastClr="000000"/>
                </a:solidFill>
                <a:latin typeface="Palatino Linotype"/>
                <a:cs typeface="Palatino Linotype"/>
              </a:rPr>
              <a:t>for</a:t>
            </a:r>
            <a:r>
              <a:rPr sz="2000" spc="-5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storage</a:t>
            </a:r>
            <a:r>
              <a:rPr sz="2000" spc="-5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in</a:t>
            </a:r>
            <a:r>
              <a:rPr sz="2000" spc="-5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activation</a:t>
            </a:r>
            <a:r>
              <a:rPr sz="2000" spc="-55" dirty="0">
                <a:solidFill>
                  <a:sysClr val="windowText" lastClr="000000"/>
                </a:solidFill>
                <a:latin typeface="Palatino Linotype"/>
                <a:cs typeface="Palatino Linotype"/>
              </a:rPr>
              <a:t> </a:t>
            </a:r>
            <a:r>
              <a:rPr sz="2000" spc="-10" dirty="0">
                <a:solidFill>
                  <a:sysClr val="windowText" lastClr="000000"/>
                </a:solidFill>
                <a:latin typeface="Palatino Linotype"/>
                <a:cs typeface="Palatino Linotype"/>
              </a:rPr>
              <a:t>records</a:t>
            </a:r>
            <a:endParaRPr sz="2000">
              <a:solidFill>
                <a:sysClr val="windowText" lastClr="000000"/>
              </a:solidFill>
              <a:latin typeface="Palatino Linotype"/>
              <a:cs typeface="Palatino Linotype"/>
            </a:endParaRPr>
          </a:p>
          <a:p>
            <a:pPr marL="698500" marR="5080" lvl="1" indent="-228600">
              <a:lnSpc>
                <a:spcPct val="120000"/>
              </a:lnSpc>
              <a:spcBef>
                <a:spcPts val="710"/>
              </a:spcBef>
              <a:buFont typeface="Wingdings"/>
              <a:buChar char=""/>
              <a:tabLst>
                <a:tab pos="698500" algn="l"/>
              </a:tabLst>
            </a:pPr>
            <a:r>
              <a:rPr sz="1600" dirty="0">
                <a:solidFill>
                  <a:sysClr val="windowText" lastClr="000000"/>
                </a:solidFill>
                <a:latin typeface="Palatino Linotype"/>
                <a:cs typeface="Palatino Linotype"/>
              </a:rPr>
              <a:t>Maintain</a:t>
            </a:r>
            <a:r>
              <a:rPr sz="1600" spc="-35"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in</a:t>
            </a:r>
            <a:r>
              <a:rPr sz="1600" spc="-10" dirty="0">
                <a:solidFill>
                  <a:sysClr val="windowText" lastClr="000000"/>
                </a:solidFill>
                <a:latin typeface="Palatino Linotype"/>
                <a:cs typeface="Palatino Linotype"/>
              </a:rPr>
              <a:t> </a:t>
            </a:r>
            <a:r>
              <a:rPr sz="1600" u="sng" dirty="0">
                <a:solidFill>
                  <a:srgbClr val="FF0000"/>
                </a:solidFill>
                <a:uFill>
                  <a:solidFill>
                    <a:srgbClr val="FF0000"/>
                  </a:solidFill>
                </a:uFill>
                <a:latin typeface="Palatino Linotype"/>
                <a:cs typeface="Palatino Linotype"/>
              </a:rPr>
              <a:t>a</a:t>
            </a:r>
            <a:r>
              <a:rPr sz="1600" u="sng" spc="-20" dirty="0">
                <a:solidFill>
                  <a:srgbClr val="FF0000"/>
                </a:solidFill>
                <a:uFill>
                  <a:solidFill>
                    <a:srgbClr val="FF0000"/>
                  </a:solidFill>
                </a:uFill>
                <a:latin typeface="Palatino Linotype"/>
                <a:cs typeface="Palatino Linotype"/>
              </a:rPr>
              <a:t> </a:t>
            </a:r>
            <a:r>
              <a:rPr sz="1600" u="sng" dirty="0">
                <a:solidFill>
                  <a:srgbClr val="FF0000"/>
                </a:solidFill>
                <a:uFill>
                  <a:solidFill>
                    <a:srgbClr val="FF0000"/>
                  </a:solidFill>
                </a:uFill>
                <a:latin typeface="Palatino Linotype"/>
                <a:cs typeface="Palatino Linotype"/>
              </a:rPr>
              <a:t>register</a:t>
            </a:r>
            <a:r>
              <a:rPr sz="1600" u="sng" spc="-10" dirty="0">
                <a:solidFill>
                  <a:srgbClr val="FF0000"/>
                </a:solidFill>
                <a:uFill>
                  <a:solidFill>
                    <a:srgbClr val="FF0000"/>
                  </a:solidFill>
                </a:uFill>
                <a:latin typeface="Palatino Linotype"/>
                <a:cs typeface="Palatino Linotype"/>
              </a:rPr>
              <a:t> </a:t>
            </a:r>
            <a:r>
              <a:rPr sz="1600" u="sng" spc="-10" dirty="0">
                <a:solidFill>
                  <a:srgbClr val="FF0000"/>
                </a:solidFill>
                <a:uFill>
                  <a:solidFill>
                    <a:srgbClr val="FF0000"/>
                  </a:solidFill>
                </a:uFill>
                <a:latin typeface="Consolas"/>
                <a:cs typeface="Consolas"/>
              </a:rPr>
              <a:t>SP</a:t>
            </a:r>
            <a:r>
              <a:rPr sz="1600" spc="-480" dirty="0">
                <a:solidFill>
                  <a:srgbClr val="FF0000"/>
                </a:solidFill>
                <a:latin typeface="Consolas"/>
                <a:cs typeface="Consolas"/>
              </a:rPr>
              <a:t> </a:t>
            </a:r>
            <a:r>
              <a:rPr sz="1600" dirty="0">
                <a:solidFill>
                  <a:sysClr val="windowText" lastClr="000000"/>
                </a:solidFill>
                <a:latin typeface="Palatino Linotype"/>
                <a:cs typeface="Palatino Linotype"/>
              </a:rPr>
              <a:t>a</a:t>
            </a:r>
            <a:r>
              <a:rPr sz="1600" spc="-20"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pointer</a:t>
            </a:r>
            <a:r>
              <a:rPr sz="1600" spc="-10"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to</a:t>
            </a:r>
            <a:r>
              <a:rPr sz="1600" spc="-20" dirty="0">
                <a:solidFill>
                  <a:sysClr val="windowText" lastClr="000000"/>
                </a:solidFill>
                <a:latin typeface="Palatino Linotype"/>
                <a:cs typeface="Palatino Linotype"/>
              </a:rPr>
              <a:t> </a:t>
            </a:r>
            <a:r>
              <a:rPr sz="1600" dirty="0">
                <a:solidFill>
                  <a:srgbClr val="0432FF"/>
                </a:solidFill>
                <a:latin typeface="Palatino Linotype"/>
                <a:cs typeface="Palatino Linotype"/>
              </a:rPr>
              <a:t>the</a:t>
            </a:r>
            <a:r>
              <a:rPr sz="1600" spc="-20" dirty="0">
                <a:solidFill>
                  <a:srgbClr val="0432FF"/>
                </a:solidFill>
                <a:latin typeface="Palatino Linotype"/>
                <a:cs typeface="Palatino Linotype"/>
              </a:rPr>
              <a:t> </a:t>
            </a:r>
            <a:r>
              <a:rPr sz="1600" dirty="0">
                <a:solidFill>
                  <a:srgbClr val="0432FF"/>
                </a:solidFill>
                <a:latin typeface="Palatino Linotype"/>
                <a:cs typeface="Palatino Linotype"/>
              </a:rPr>
              <a:t>beginning</a:t>
            </a:r>
            <a:r>
              <a:rPr sz="1600" spc="-25" dirty="0">
                <a:solidFill>
                  <a:srgbClr val="0432FF"/>
                </a:solidFill>
                <a:latin typeface="Palatino Linotype"/>
                <a:cs typeface="Palatino Linotype"/>
              </a:rPr>
              <a:t> </a:t>
            </a:r>
            <a:r>
              <a:rPr sz="1600" dirty="0">
                <a:solidFill>
                  <a:srgbClr val="0432FF"/>
                </a:solidFill>
                <a:latin typeface="Palatino Linotype"/>
                <a:cs typeface="Palatino Linotype"/>
              </a:rPr>
              <a:t>of</a:t>
            </a:r>
            <a:r>
              <a:rPr sz="1600" spc="-15" dirty="0">
                <a:solidFill>
                  <a:srgbClr val="0432FF"/>
                </a:solidFill>
                <a:latin typeface="Palatino Linotype"/>
                <a:cs typeface="Palatino Linotype"/>
              </a:rPr>
              <a:t> </a:t>
            </a:r>
            <a:r>
              <a:rPr sz="1600" dirty="0">
                <a:solidFill>
                  <a:srgbClr val="0432FF"/>
                </a:solidFill>
                <a:latin typeface="Palatino Linotype"/>
                <a:cs typeface="Palatino Linotype"/>
              </a:rPr>
              <a:t>the</a:t>
            </a:r>
            <a:r>
              <a:rPr sz="1600" spc="-25" dirty="0">
                <a:solidFill>
                  <a:srgbClr val="0432FF"/>
                </a:solidFill>
                <a:latin typeface="Palatino Linotype"/>
                <a:cs typeface="Palatino Linotype"/>
              </a:rPr>
              <a:t> </a:t>
            </a:r>
            <a:r>
              <a:rPr sz="1600" spc="-10" dirty="0">
                <a:solidFill>
                  <a:srgbClr val="0432FF"/>
                </a:solidFill>
                <a:latin typeface="Palatino Linotype"/>
                <a:cs typeface="Palatino Linotype"/>
              </a:rPr>
              <a:t>activation </a:t>
            </a:r>
            <a:r>
              <a:rPr sz="1600" dirty="0">
                <a:solidFill>
                  <a:srgbClr val="0432FF"/>
                </a:solidFill>
                <a:latin typeface="Palatino Linotype"/>
                <a:cs typeface="Palatino Linotype"/>
              </a:rPr>
              <a:t>record</a:t>
            </a:r>
            <a:r>
              <a:rPr sz="1600" spc="-25" dirty="0">
                <a:solidFill>
                  <a:srgbClr val="0432FF"/>
                </a:solidFill>
                <a:latin typeface="Palatino Linotype"/>
                <a:cs typeface="Palatino Linotype"/>
              </a:rPr>
              <a:t> on </a:t>
            </a:r>
            <a:r>
              <a:rPr sz="1600" dirty="0">
                <a:solidFill>
                  <a:srgbClr val="0432FF"/>
                </a:solidFill>
                <a:latin typeface="Palatino Linotype"/>
                <a:cs typeface="Palatino Linotype"/>
              </a:rPr>
              <a:t>top</a:t>
            </a:r>
            <a:r>
              <a:rPr sz="1600" spc="-20" dirty="0">
                <a:solidFill>
                  <a:srgbClr val="0432FF"/>
                </a:solidFill>
                <a:latin typeface="Palatino Linotype"/>
                <a:cs typeface="Palatino Linotype"/>
              </a:rPr>
              <a:t> </a:t>
            </a:r>
            <a:r>
              <a:rPr sz="1600" dirty="0">
                <a:solidFill>
                  <a:srgbClr val="0432FF"/>
                </a:solidFill>
                <a:latin typeface="Palatino Linotype"/>
                <a:cs typeface="Palatino Linotype"/>
              </a:rPr>
              <a:t>of</a:t>
            </a:r>
            <a:r>
              <a:rPr sz="1600" spc="-15" dirty="0">
                <a:solidFill>
                  <a:srgbClr val="0432FF"/>
                </a:solidFill>
                <a:latin typeface="Palatino Linotype"/>
                <a:cs typeface="Palatino Linotype"/>
              </a:rPr>
              <a:t> </a:t>
            </a:r>
            <a:r>
              <a:rPr sz="1600" dirty="0">
                <a:solidFill>
                  <a:srgbClr val="0432FF"/>
                </a:solidFill>
                <a:latin typeface="Palatino Linotype"/>
                <a:cs typeface="Palatino Linotype"/>
              </a:rPr>
              <a:t>the</a:t>
            </a:r>
            <a:r>
              <a:rPr sz="1600" spc="-20" dirty="0">
                <a:solidFill>
                  <a:srgbClr val="0432FF"/>
                </a:solidFill>
                <a:latin typeface="Palatino Linotype"/>
                <a:cs typeface="Palatino Linotype"/>
              </a:rPr>
              <a:t> stack</a:t>
            </a:r>
            <a:endParaRPr sz="1600">
              <a:solidFill>
                <a:sysClr val="windowText" lastClr="000000"/>
              </a:solidFill>
              <a:latin typeface="Palatino Linotype"/>
              <a:cs typeface="Palatino Linotype"/>
            </a:endParaRPr>
          </a:p>
          <a:p>
            <a:pPr marL="0" lvl="1">
              <a:spcBef>
                <a:spcPts val="635"/>
              </a:spcBef>
              <a:buFont typeface="Wingdings"/>
              <a:buChar char=""/>
            </a:pPr>
            <a:endParaRPr sz="1600">
              <a:solidFill>
                <a:sysClr val="windowText" lastClr="000000"/>
              </a:solidFill>
              <a:latin typeface="Palatino Linotype"/>
              <a:cs typeface="Palatino Linotype"/>
            </a:endParaRPr>
          </a:p>
          <a:p>
            <a:pPr marL="242570" indent="-229870">
              <a:buFont typeface="Arial MT"/>
              <a:buChar char="•"/>
              <a:tabLst>
                <a:tab pos="242570" algn="l"/>
              </a:tabLst>
            </a:pPr>
            <a:r>
              <a:rPr sz="2000" dirty="0">
                <a:solidFill>
                  <a:sysClr val="windowText" lastClr="000000"/>
                </a:solidFill>
                <a:latin typeface="Palatino Linotype"/>
                <a:cs typeface="Palatino Linotype"/>
              </a:rPr>
              <a:t>The</a:t>
            </a:r>
            <a:r>
              <a:rPr sz="2000" spc="-3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code</a:t>
            </a:r>
            <a:r>
              <a:rPr sz="2000" spc="-3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for</a:t>
            </a:r>
            <a:r>
              <a:rPr sz="2000" spc="-3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the</a:t>
            </a:r>
            <a:r>
              <a:rPr sz="2000" spc="-3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first</a:t>
            </a:r>
            <a:r>
              <a:rPr sz="2000" spc="-3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procedure</a:t>
            </a:r>
            <a:r>
              <a:rPr sz="2000" spc="-30" dirty="0">
                <a:solidFill>
                  <a:sysClr val="windowText" lastClr="000000"/>
                </a:solidFill>
                <a:latin typeface="Palatino Linotype"/>
                <a:cs typeface="Palatino Linotype"/>
              </a:rPr>
              <a:t> </a:t>
            </a:r>
            <a:r>
              <a:rPr sz="2000" spc="-10" dirty="0">
                <a:solidFill>
                  <a:sysClr val="windowText" lastClr="000000"/>
                </a:solidFill>
                <a:latin typeface="Palatino Linotype"/>
                <a:cs typeface="Palatino Linotype"/>
              </a:rPr>
              <a:t>(</a:t>
            </a:r>
            <a:r>
              <a:rPr sz="2000" spc="-10" dirty="0">
                <a:solidFill>
                  <a:sysClr val="windowText" lastClr="000000"/>
                </a:solidFill>
                <a:latin typeface="Consolas"/>
                <a:cs typeface="Consolas"/>
              </a:rPr>
              <a:t>main</a:t>
            </a:r>
            <a:r>
              <a:rPr sz="2000" spc="-10" dirty="0">
                <a:solidFill>
                  <a:sysClr val="windowText" lastClr="000000"/>
                </a:solidFill>
                <a:latin typeface="Palatino Linotype"/>
                <a:cs typeface="Palatino Linotype"/>
              </a:rPr>
              <a:t>)</a:t>
            </a:r>
            <a:endParaRPr sz="2000">
              <a:solidFill>
                <a:sysClr val="windowText" lastClr="000000"/>
              </a:solidFill>
              <a:latin typeface="Palatino Linotype"/>
              <a:cs typeface="Palatino Linotype"/>
            </a:endParaRPr>
          </a:p>
        </p:txBody>
      </p:sp>
      <p:pic>
        <p:nvPicPr>
          <p:cNvPr id="14" name="object 4">
            <a:extLst>
              <a:ext uri="{FF2B5EF4-FFF2-40B4-BE49-F238E27FC236}">
                <a16:creationId xmlns:a16="http://schemas.microsoft.com/office/drawing/2014/main" id="{A0FC4411-BFFA-5CDA-DAC1-C2F78A9CC19C}"/>
              </a:ext>
            </a:extLst>
          </p:cNvPr>
          <p:cNvPicPr/>
          <p:nvPr/>
        </p:nvPicPr>
        <p:blipFill>
          <a:blip r:embed="rId3" cstate="print"/>
          <a:stretch>
            <a:fillRect/>
          </a:stretch>
        </p:blipFill>
        <p:spPr>
          <a:xfrm>
            <a:off x="998205" y="4712879"/>
            <a:ext cx="2862707" cy="767565"/>
          </a:xfrm>
          <a:prstGeom prst="rect">
            <a:avLst/>
          </a:prstGeom>
        </p:spPr>
      </p:pic>
      <p:sp>
        <p:nvSpPr>
          <p:cNvPr id="15" name="object 5">
            <a:extLst>
              <a:ext uri="{FF2B5EF4-FFF2-40B4-BE49-F238E27FC236}">
                <a16:creationId xmlns:a16="http://schemas.microsoft.com/office/drawing/2014/main" id="{93692250-1690-5816-D858-5B95E085CBB2}"/>
              </a:ext>
            </a:extLst>
          </p:cNvPr>
          <p:cNvSpPr txBox="1"/>
          <p:nvPr/>
        </p:nvSpPr>
        <p:spPr>
          <a:xfrm>
            <a:off x="4675328" y="4689285"/>
            <a:ext cx="3736975" cy="593090"/>
          </a:xfrm>
          <a:prstGeom prst="rect">
            <a:avLst/>
          </a:prstGeom>
          <a:solidFill>
            <a:srgbClr val="FFF2CC"/>
          </a:solidFill>
          <a:ln w="9525">
            <a:solidFill>
              <a:srgbClr val="000000"/>
            </a:solidFill>
          </a:ln>
        </p:spPr>
        <p:txBody>
          <a:bodyPr vert="horz" wrap="square" lIns="0" tIns="58419" rIns="0" bIns="0" rtlCol="0">
            <a:spAutoFit/>
          </a:bodyPr>
          <a:lstStyle/>
          <a:p>
            <a:pPr marL="90805">
              <a:spcBef>
                <a:spcPts val="459"/>
              </a:spcBef>
            </a:pPr>
            <a:r>
              <a:rPr sz="1400" b="1" dirty="0">
                <a:solidFill>
                  <a:srgbClr val="FF0000"/>
                </a:solidFill>
                <a:latin typeface="Palatino Linotype"/>
                <a:cs typeface="Palatino Linotype"/>
              </a:rPr>
              <a:t>Initialization:</a:t>
            </a:r>
            <a:r>
              <a:rPr sz="1400" b="1" spc="-45" dirty="0">
                <a:solidFill>
                  <a:srgbClr val="FF0000"/>
                </a:solidFill>
                <a:latin typeface="Palatino Linotype"/>
                <a:cs typeface="Palatino Linotype"/>
              </a:rPr>
              <a:t> </a:t>
            </a:r>
            <a:r>
              <a:rPr sz="1400" dirty="0">
                <a:solidFill>
                  <a:sysClr val="windowText" lastClr="000000"/>
                </a:solidFill>
                <a:latin typeface="Palatino Linotype"/>
                <a:cs typeface="Palatino Linotype"/>
              </a:rPr>
              <a:t>setting</a:t>
            </a:r>
            <a:r>
              <a:rPr sz="1400" spc="-20" dirty="0">
                <a:solidFill>
                  <a:sysClr val="windowText" lastClr="000000"/>
                </a:solidFill>
                <a:latin typeface="Palatino Linotype"/>
                <a:cs typeface="Palatino Linotype"/>
              </a:rPr>
              <a:t> </a:t>
            </a:r>
            <a:r>
              <a:rPr sz="1400" spc="-10" dirty="0">
                <a:solidFill>
                  <a:sysClr val="windowText" lastClr="000000"/>
                </a:solidFill>
                <a:latin typeface="Consolas"/>
                <a:cs typeface="Consolas"/>
              </a:rPr>
              <a:t>SP</a:t>
            </a:r>
            <a:r>
              <a:rPr sz="1400" spc="-415" dirty="0">
                <a:solidFill>
                  <a:sysClr val="windowText" lastClr="000000"/>
                </a:solidFill>
                <a:latin typeface="Consolas"/>
                <a:cs typeface="Consolas"/>
              </a:rPr>
              <a:t> </a:t>
            </a:r>
            <a:r>
              <a:rPr sz="1400" dirty="0">
                <a:solidFill>
                  <a:sysClr val="windowText" lastClr="000000"/>
                </a:solidFill>
                <a:latin typeface="Palatino Linotype"/>
                <a:cs typeface="Palatino Linotype"/>
              </a:rPr>
              <a:t>to</a:t>
            </a:r>
            <a:r>
              <a:rPr sz="1400" spc="-25" dirty="0">
                <a:solidFill>
                  <a:sysClr val="windowText" lastClr="000000"/>
                </a:solidFill>
                <a:latin typeface="Palatino Linotype"/>
                <a:cs typeface="Palatino Linotype"/>
              </a:rPr>
              <a:t> </a:t>
            </a:r>
            <a:r>
              <a:rPr sz="1400" dirty="0">
                <a:solidFill>
                  <a:sysClr val="windowText" lastClr="000000"/>
                </a:solidFill>
                <a:latin typeface="Palatino Linotype"/>
                <a:cs typeface="Palatino Linotype"/>
              </a:rPr>
              <a:t>the</a:t>
            </a:r>
            <a:r>
              <a:rPr sz="1400" spc="-20" dirty="0">
                <a:solidFill>
                  <a:sysClr val="windowText" lastClr="000000"/>
                </a:solidFill>
                <a:latin typeface="Palatino Linotype"/>
                <a:cs typeface="Palatino Linotype"/>
              </a:rPr>
              <a:t> </a:t>
            </a:r>
            <a:r>
              <a:rPr sz="1400" dirty="0">
                <a:solidFill>
                  <a:sysClr val="windowText" lastClr="000000"/>
                </a:solidFill>
                <a:latin typeface="Palatino Linotype"/>
                <a:cs typeface="Palatino Linotype"/>
              </a:rPr>
              <a:t>start</a:t>
            </a:r>
            <a:r>
              <a:rPr sz="1400" spc="-10" dirty="0">
                <a:solidFill>
                  <a:sysClr val="windowText" lastClr="000000"/>
                </a:solidFill>
                <a:latin typeface="Palatino Linotype"/>
                <a:cs typeface="Palatino Linotype"/>
              </a:rPr>
              <a:t> </a:t>
            </a:r>
            <a:r>
              <a:rPr sz="1400" dirty="0">
                <a:solidFill>
                  <a:sysClr val="windowText" lastClr="000000"/>
                </a:solidFill>
                <a:latin typeface="Palatino Linotype"/>
                <a:cs typeface="Palatino Linotype"/>
              </a:rPr>
              <a:t>of</a:t>
            </a:r>
            <a:r>
              <a:rPr sz="1400" spc="-25" dirty="0">
                <a:solidFill>
                  <a:sysClr val="windowText" lastClr="000000"/>
                </a:solidFill>
                <a:latin typeface="Palatino Linotype"/>
                <a:cs typeface="Palatino Linotype"/>
              </a:rPr>
              <a:t> the</a:t>
            </a:r>
            <a:endParaRPr sz="1400">
              <a:solidFill>
                <a:sysClr val="windowText" lastClr="000000"/>
              </a:solidFill>
              <a:latin typeface="Palatino Linotype"/>
              <a:cs typeface="Palatino Linotype"/>
            </a:endParaRPr>
          </a:p>
          <a:p>
            <a:pPr marL="90805">
              <a:spcBef>
                <a:spcPts val="310"/>
              </a:spcBef>
            </a:pPr>
            <a:r>
              <a:rPr sz="1400" dirty="0">
                <a:solidFill>
                  <a:sysClr val="windowText" lastClr="000000"/>
                </a:solidFill>
                <a:latin typeface="Cambria Math"/>
                <a:cs typeface="Cambria Math"/>
              </a:rPr>
              <a:t>𝑠𝑡𝑎𝑐𝑘</a:t>
            </a:r>
            <a:r>
              <a:rPr sz="1400" spc="60" dirty="0">
                <a:solidFill>
                  <a:sysClr val="windowText" lastClr="000000"/>
                </a:solidFill>
                <a:latin typeface="Cambria Math"/>
                <a:cs typeface="Cambria Math"/>
              </a:rPr>
              <a:t> </a:t>
            </a:r>
            <a:r>
              <a:rPr sz="1400" dirty="0">
                <a:solidFill>
                  <a:sysClr val="windowText" lastClr="000000"/>
                </a:solidFill>
                <a:latin typeface="Palatino Linotype"/>
                <a:cs typeface="Palatino Linotype"/>
              </a:rPr>
              <a:t>area</a:t>
            </a:r>
            <a:r>
              <a:rPr sz="1400" spc="-10" dirty="0">
                <a:solidFill>
                  <a:sysClr val="windowText" lastClr="000000"/>
                </a:solidFill>
                <a:latin typeface="Palatino Linotype"/>
                <a:cs typeface="Palatino Linotype"/>
              </a:rPr>
              <a:t> </a:t>
            </a:r>
            <a:r>
              <a:rPr sz="1400" dirty="0">
                <a:solidFill>
                  <a:sysClr val="windowText" lastClr="000000"/>
                </a:solidFill>
                <a:latin typeface="Palatino Linotype"/>
                <a:cs typeface="Palatino Linotype"/>
              </a:rPr>
              <a:t>in</a:t>
            </a:r>
            <a:r>
              <a:rPr sz="1400" spc="-20" dirty="0">
                <a:solidFill>
                  <a:sysClr val="windowText" lastClr="000000"/>
                </a:solidFill>
                <a:latin typeface="Palatino Linotype"/>
                <a:cs typeface="Palatino Linotype"/>
              </a:rPr>
              <a:t> </a:t>
            </a:r>
            <a:r>
              <a:rPr sz="1400" spc="-10" dirty="0">
                <a:solidFill>
                  <a:sysClr val="windowText" lastClr="000000"/>
                </a:solidFill>
                <a:latin typeface="Palatino Linotype"/>
                <a:cs typeface="Palatino Linotype"/>
              </a:rPr>
              <a:t>run-</a:t>
            </a:r>
            <a:r>
              <a:rPr sz="1400" dirty="0">
                <a:solidFill>
                  <a:sysClr val="windowText" lastClr="000000"/>
                </a:solidFill>
                <a:latin typeface="Palatino Linotype"/>
                <a:cs typeface="Palatino Linotype"/>
              </a:rPr>
              <a:t>time</a:t>
            </a:r>
            <a:r>
              <a:rPr sz="1400" spc="-15" dirty="0">
                <a:solidFill>
                  <a:sysClr val="windowText" lastClr="000000"/>
                </a:solidFill>
                <a:latin typeface="Palatino Linotype"/>
                <a:cs typeface="Palatino Linotype"/>
              </a:rPr>
              <a:t> </a:t>
            </a:r>
            <a:r>
              <a:rPr sz="1400" spc="-10" dirty="0">
                <a:solidFill>
                  <a:sysClr val="windowText" lastClr="000000"/>
                </a:solidFill>
                <a:latin typeface="Palatino Linotype"/>
                <a:cs typeface="Palatino Linotype"/>
              </a:rPr>
              <a:t>memory</a:t>
            </a:r>
            <a:endParaRPr sz="1400">
              <a:solidFill>
                <a:sysClr val="windowText" lastClr="000000"/>
              </a:solidFill>
              <a:latin typeface="Palatino Linotype"/>
              <a:cs typeface="Palatino Linotype"/>
            </a:endParaRPr>
          </a:p>
        </p:txBody>
      </p:sp>
      <p:sp>
        <p:nvSpPr>
          <p:cNvPr id="16" name="object 6">
            <a:extLst>
              <a:ext uri="{FF2B5EF4-FFF2-40B4-BE49-F238E27FC236}">
                <a16:creationId xmlns:a16="http://schemas.microsoft.com/office/drawing/2014/main" id="{2413ECAA-531B-7616-1A66-A101369A65CA}"/>
              </a:ext>
            </a:extLst>
          </p:cNvPr>
          <p:cNvSpPr/>
          <p:nvPr/>
        </p:nvSpPr>
        <p:spPr>
          <a:xfrm>
            <a:off x="3331192" y="4777530"/>
            <a:ext cx="1344295" cy="246379"/>
          </a:xfrm>
          <a:custGeom>
            <a:avLst/>
            <a:gdLst/>
            <a:ahLst/>
            <a:cxnLst/>
            <a:rect l="l" t="t" r="r" b="b"/>
            <a:pathLst>
              <a:path w="1344295" h="246379">
                <a:moveTo>
                  <a:pt x="1307531" y="208946"/>
                </a:moveTo>
                <a:lnTo>
                  <a:pt x="1244137" y="234193"/>
                </a:lnTo>
                <a:lnTo>
                  <a:pt x="1242547" y="237886"/>
                </a:lnTo>
                <a:lnTo>
                  <a:pt x="1245143" y="244402"/>
                </a:lnTo>
                <a:lnTo>
                  <a:pt x="1248836" y="245991"/>
                </a:lnTo>
                <a:lnTo>
                  <a:pt x="1333098" y="212434"/>
                </a:lnTo>
                <a:lnTo>
                  <a:pt x="1330754" y="212434"/>
                </a:lnTo>
                <a:lnTo>
                  <a:pt x="1307531" y="208946"/>
                </a:lnTo>
                <a:close/>
              </a:path>
              <a:path w="1344295" h="246379">
                <a:moveTo>
                  <a:pt x="1319238" y="204283"/>
                </a:moveTo>
                <a:lnTo>
                  <a:pt x="1307531" y="208946"/>
                </a:lnTo>
                <a:lnTo>
                  <a:pt x="1330754" y="212434"/>
                </a:lnTo>
                <a:lnTo>
                  <a:pt x="1330953" y="211104"/>
                </a:lnTo>
                <a:lnTo>
                  <a:pt x="1327722" y="211104"/>
                </a:lnTo>
                <a:lnTo>
                  <a:pt x="1319238" y="204283"/>
                </a:lnTo>
                <a:close/>
              </a:path>
              <a:path w="1344295" h="246379">
                <a:moveTo>
                  <a:pt x="1264194" y="143734"/>
                </a:moveTo>
                <a:lnTo>
                  <a:pt x="1260198" y="144169"/>
                </a:lnTo>
                <a:lnTo>
                  <a:pt x="1255802" y="149635"/>
                </a:lnTo>
                <a:lnTo>
                  <a:pt x="1256237" y="153631"/>
                </a:lnTo>
                <a:lnTo>
                  <a:pt x="1309416" y="196387"/>
                </a:lnTo>
                <a:lnTo>
                  <a:pt x="1332640" y="199875"/>
                </a:lnTo>
                <a:lnTo>
                  <a:pt x="1330754" y="212434"/>
                </a:lnTo>
                <a:lnTo>
                  <a:pt x="1333098" y="212434"/>
                </a:lnTo>
                <a:lnTo>
                  <a:pt x="1344164" y="208027"/>
                </a:lnTo>
                <a:lnTo>
                  <a:pt x="1264194" y="143734"/>
                </a:lnTo>
                <a:close/>
              </a:path>
              <a:path w="1344295" h="246379">
                <a:moveTo>
                  <a:pt x="1329352" y="200256"/>
                </a:moveTo>
                <a:lnTo>
                  <a:pt x="1319238" y="204283"/>
                </a:lnTo>
                <a:lnTo>
                  <a:pt x="1327722" y="211104"/>
                </a:lnTo>
                <a:lnTo>
                  <a:pt x="1329352" y="200256"/>
                </a:lnTo>
                <a:close/>
              </a:path>
              <a:path w="1344295" h="246379">
                <a:moveTo>
                  <a:pt x="1332582" y="200256"/>
                </a:moveTo>
                <a:lnTo>
                  <a:pt x="1329352" y="200256"/>
                </a:lnTo>
                <a:lnTo>
                  <a:pt x="1327722" y="211104"/>
                </a:lnTo>
                <a:lnTo>
                  <a:pt x="1330953" y="211104"/>
                </a:lnTo>
                <a:lnTo>
                  <a:pt x="1332582" y="200256"/>
                </a:lnTo>
                <a:close/>
              </a:path>
              <a:path w="1344295" h="246379">
                <a:moveTo>
                  <a:pt x="1887" y="0"/>
                </a:moveTo>
                <a:lnTo>
                  <a:pt x="0" y="12559"/>
                </a:lnTo>
                <a:lnTo>
                  <a:pt x="1307531" y="208946"/>
                </a:lnTo>
                <a:lnTo>
                  <a:pt x="1319238" y="204283"/>
                </a:lnTo>
                <a:lnTo>
                  <a:pt x="1309416" y="196387"/>
                </a:lnTo>
                <a:lnTo>
                  <a:pt x="1887" y="0"/>
                </a:lnTo>
                <a:close/>
              </a:path>
              <a:path w="1344295" h="246379">
                <a:moveTo>
                  <a:pt x="1309416" y="196387"/>
                </a:moveTo>
                <a:lnTo>
                  <a:pt x="1319238" y="204283"/>
                </a:lnTo>
                <a:lnTo>
                  <a:pt x="1329352" y="200256"/>
                </a:lnTo>
                <a:lnTo>
                  <a:pt x="1332582" y="200256"/>
                </a:lnTo>
                <a:lnTo>
                  <a:pt x="1332640" y="199875"/>
                </a:lnTo>
                <a:lnTo>
                  <a:pt x="1309416" y="196387"/>
                </a:lnTo>
                <a:close/>
              </a:path>
            </a:pathLst>
          </a:custGeom>
          <a:solidFill>
            <a:srgbClr val="FF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7" name="object 7">
            <a:extLst>
              <a:ext uri="{FF2B5EF4-FFF2-40B4-BE49-F238E27FC236}">
                <a16:creationId xmlns:a16="http://schemas.microsoft.com/office/drawing/2014/main" id="{4398F2D2-3A70-1C9E-A112-CB18F0F972A2}"/>
              </a:ext>
            </a:extLst>
          </p:cNvPr>
          <p:cNvSpPr txBox="1"/>
          <p:nvPr/>
        </p:nvSpPr>
        <p:spPr>
          <a:xfrm>
            <a:off x="2723262" y="5806876"/>
            <a:ext cx="2618740" cy="334010"/>
          </a:xfrm>
          <a:prstGeom prst="rect">
            <a:avLst/>
          </a:prstGeom>
          <a:solidFill>
            <a:srgbClr val="FFF2CC"/>
          </a:solidFill>
          <a:ln w="9525">
            <a:solidFill>
              <a:srgbClr val="000000"/>
            </a:solidFill>
          </a:ln>
        </p:spPr>
        <p:txBody>
          <a:bodyPr vert="horz" wrap="square" lIns="0" tIns="59055" rIns="0" bIns="0" rtlCol="0">
            <a:spAutoFit/>
          </a:bodyPr>
          <a:lstStyle/>
          <a:p>
            <a:pPr marL="506095">
              <a:spcBef>
                <a:spcPts val="465"/>
              </a:spcBef>
            </a:pPr>
            <a:r>
              <a:rPr sz="1400" spc="-10" dirty="0">
                <a:solidFill>
                  <a:sysClr val="windowText" lastClr="000000"/>
                </a:solidFill>
                <a:latin typeface="Palatino Linotype"/>
                <a:cs typeface="Palatino Linotype"/>
              </a:rPr>
              <a:t>Terminate</a:t>
            </a:r>
            <a:r>
              <a:rPr sz="1400" spc="-65" dirty="0">
                <a:solidFill>
                  <a:sysClr val="windowText" lastClr="000000"/>
                </a:solidFill>
                <a:latin typeface="Palatino Linotype"/>
                <a:cs typeface="Palatino Linotype"/>
              </a:rPr>
              <a:t> </a:t>
            </a:r>
            <a:r>
              <a:rPr sz="1400" spc="-10" dirty="0">
                <a:solidFill>
                  <a:sysClr val="windowText" lastClr="000000"/>
                </a:solidFill>
                <a:latin typeface="Palatino Linotype"/>
                <a:cs typeface="Palatino Linotype"/>
              </a:rPr>
              <a:t>execution</a:t>
            </a:r>
            <a:endParaRPr sz="1400">
              <a:solidFill>
                <a:sysClr val="windowText" lastClr="000000"/>
              </a:solidFill>
              <a:latin typeface="Palatino Linotype"/>
              <a:cs typeface="Palatino Linotype"/>
            </a:endParaRPr>
          </a:p>
        </p:txBody>
      </p:sp>
      <p:sp>
        <p:nvSpPr>
          <p:cNvPr id="18" name="object 8">
            <a:extLst>
              <a:ext uri="{FF2B5EF4-FFF2-40B4-BE49-F238E27FC236}">
                <a16:creationId xmlns:a16="http://schemas.microsoft.com/office/drawing/2014/main" id="{9FA236D3-4A98-925A-0FDA-9FAEF1F5CEE6}"/>
              </a:ext>
            </a:extLst>
          </p:cNvPr>
          <p:cNvSpPr/>
          <p:nvPr/>
        </p:nvSpPr>
        <p:spPr>
          <a:xfrm>
            <a:off x="1499116" y="5417394"/>
            <a:ext cx="1224280" cy="567690"/>
          </a:xfrm>
          <a:custGeom>
            <a:avLst/>
            <a:gdLst/>
            <a:ahLst/>
            <a:cxnLst/>
            <a:rect l="l" t="t" r="r" b="b"/>
            <a:pathLst>
              <a:path w="1224280" h="567689">
                <a:moveTo>
                  <a:pt x="1188660" y="547450"/>
                </a:moveTo>
                <a:lnTo>
                  <a:pt x="1120796" y="554570"/>
                </a:lnTo>
                <a:lnTo>
                  <a:pt x="1118266" y="557694"/>
                </a:lnTo>
                <a:lnTo>
                  <a:pt x="1118998" y="564670"/>
                </a:lnTo>
                <a:lnTo>
                  <a:pt x="1122122" y="567201"/>
                </a:lnTo>
                <a:lnTo>
                  <a:pt x="1218321" y="557108"/>
                </a:lnTo>
                <a:lnTo>
                  <a:pt x="1210082" y="557108"/>
                </a:lnTo>
                <a:lnTo>
                  <a:pt x="1188660" y="547450"/>
                </a:lnTo>
                <a:close/>
              </a:path>
              <a:path w="1224280" h="567689">
                <a:moveTo>
                  <a:pt x="1201194" y="546135"/>
                </a:moveTo>
                <a:lnTo>
                  <a:pt x="1188660" y="547450"/>
                </a:lnTo>
                <a:lnTo>
                  <a:pt x="1210082" y="557108"/>
                </a:lnTo>
                <a:lnTo>
                  <a:pt x="1211033" y="555000"/>
                </a:lnTo>
                <a:lnTo>
                  <a:pt x="1207512" y="555000"/>
                </a:lnTo>
                <a:lnTo>
                  <a:pt x="1201194" y="546135"/>
                </a:lnTo>
                <a:close/>
              </a:path>
              <a:path w="1224280" h="567689">
                <a:moveTo>
                  <a:pt x="1160655" y="472268"/>
                </a:moveTo>
                <a:lnTo>
                  <a:pt x="1154943" y="476339"/>
                </a:lnTo>
                <a:lnTo>
                  <a:pt x="1154277" y="480304"/>
                </a:lnTo>
                <a:lnTo>
                  <a:pt x="1193880" y="535873"/>
                </a:lnTo>
                <a:lnTo>
                  <a:pt x="1215302" y="545530"/>
                </a:lnTo>
                <a:lnTo>
                  <a:pt x="1210082" y="557108"/>
                </a:lnTo>
                <a:lnTo>
                  <a:pt x="1218321" y="557108"/>
                </a:lnTo>
                <a:lnTo>
                  <a:pt x="1224172" y="556494"/>
                </a:lnTo>
                <a:lnTo>
                  <a:pt x="1164620" y="472934"/>
                </a:lnTo>
                <a:lnTo>
                  <a:pt x="1160655" y="472268"/>
                </a:lnTo>
                <a:close/>
              </a:path>
              <a:path w="1224280" h="567689">
                <a:moveTo>
                  <a:pt x="1212020" y="544999"/>
                </a:moveTo>
                <a:lnTo>
                  <a:pt x="1201194" y="546135"/>
                </a:lnTo>
                <a:lnTo>
                  <a:pt x="1207512" y="555000"/>
                </a:lnTo>
                <a:lnTo>
                  <a:pt x="1212020" y="544999"/>
                </a:lnTo>
                <a:close/>
              </a:path>
              <a:path w="1224280" h="567689">
                <a:moveTo>
                  <a:pt x="1214125" y="544999"/>
                </a:moveTo>
                <a:lnTo>
                  <a:pt x="1212020" y="544999"/>
                </a:lnTo>
                <a:lnTo>
                  <a:pt x="1207512" y="555000"/>
                </a:lnTo>
                <a:lnTo>
                  <a:pt x="1211033" y="555000"/>
                </a:lnTo>
                <a:lnTo>
                  <a:pt x="1215302" y="545530"/>
                </a:lnTo>
                <a:lnTo>
                  <a:pt x="1214125" y="544999"/>
                </a:lnTo>
                <a:close/>
              </a:path>
              <a:path w="1224280" h="567689">
                <a:moveTo>
                  <a:pt x="5219" y="0"/>
                </a:moveTo>
                <a:lnTo>
                  <a:pt x="0" y="11578"/>
                </a:lnTo>
                <a:lnTo>
                  <a:pt x="1188660" y="547450"/>
                </a:lnTo>
                <a:lnTo>
                  <a:pt x="1201194" y="546135"/>
                </a:lnTo>
                <a:lnTo>
                  <a:pt x="1193880" y="535873"/>
                </a:lnTo>
                <a:lnTo>
                  <a:pt x="5219" y="0"/>
                </a:lnTo>
                <a:close/>
              </a:path>
              <a:path w="1224280" h="567689">
                <a:moveTo>
                  <a:pt x="1193880" y="535873"/>
                </a:moveTo>
                <a:lnTo>
                  <a:pt x="1201194" y="546135"/>
                </a:lnTo>
                <a:lnTo>
                  <a:pt x="1212020" y="544999"/>
                </a:lnTo>
                <a:lnTo>
                  <a:pt x="1214125" y="544999"/>
                </a:lnTo>
                <a:lnTo>
                  <a:pt x="1193880" y="535873"/>
                </a:lnTo>
                <a:close/>
              </a:path>
            </a:pathLst>
          </a:custGeom>
          <a:solidFill>
            <a:srgbClr val="FF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Tree>
    <p:extLst>
      <p:ext uri="{BB962C8B-B14F-4D97-AF65-F5344CB8AC3E}">
        <p14:creationId xmlns:p14="http://schemas.microsoft.com/office/powerpoint/2010/main" val="24717104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18</a:t>
            </a:fld>
            <a:endParaRPr lang="en-US"/>
          </a:p>
        </p:txBody>
      </p:sp>
      <p:sp>
        <p:nvSpPr>
          <p:cNvPr id="26" name="object 2">
            <a:extLst>
              <a:ext uri="{FF2B5EF4-FFF2-40B4-BE49-F238E27FC236}">
                <a16:creationId xmlns:a16="http://schemas.microsoft.com/office/drawing/2014/main" id="{495B93DE-0B2C-F76C-FF1D-EA54DEDC09A7}"/>
              </a:ext>
            </a:extLst>
          </p:cNvPr>
          <p:cNvSpPr txBox="1">
            <a:spLocks/>
          </p:cNvSpPr>
          <p:nvPr/>
        </p:nvSpPr>
        <p:spPr>
          <a:xfrm>
            <a:off x="707390" y="524763"/>
            <a:ext cx="6354445" cy="63500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4000" b="1" i="0" u="none" strike="noStrike" kern="0" cap="none" spc="0" normalizeH="0" baseline="0" noProof="0">
                <a:ln>
                  <a:noFill/>
                </a:ln>
                <a:solidFill>
                  <a:sysClr val="windowText" lastClr="000000"/>
                </a:solidFill>
                <a:effectLst/>
                <a:uLnTx/>
                <a:uFillTx/>
                <a:latin typeface="Palatino Linotype"/>
                <a:ea typeface="+mj-ea"/>
              </a:rPr>
              <a:t>Stack</a:t>
            </a:r>
            <a:r>
              <a:rPr kumimoji="0" lang="en-US" sz="4000" b="1" i="0" u="none" strike="noStrike" kern="0" cap="none" spc="-80" normalizeH="0" baseline="0" noProof="0">
                <a:ln>
                  <a:noFill/>
                </a:ln>
                <a:solidFill>
                  <a:sysClr val="windowText" lastClr="000000"/>
                </a:solidFill>
                <a:effectLst/>
                <a:uLnTx/>
                <a:uFillTx/>
                <a:latin typeface="Palatino Linotype"/>
                <a:ea typeface="+mj-ea"/>
              </a:rPr>
              <a:t> </a:t>
            </a:r>
            <a:r>
              <a:rPr kumimoji="0" lang="en-US" sz="4000" b="1" i="0" u="none" strike="noStrike" kern="0" cap="none" spc="0" normalizeH="0" baseline="0" noProof="0">
                <a:ln>
                  <a:noFill/>
                </a:ln>
                <a:solidFill>
                  <a:sysClr val="windowText" lastClr="000000"/>
                </a:solidFill>
                <a:effectLst/>
                <a:uLnTx/>
                <a:uFillTx/>
                <a:latin typeface="Palatino Linotype"/>
                <a:ea typeface="+mj-ea"/>
              </a:rPr>
              <a:t>Allocation</a:t>
            </a:r>
            <a:r>
              <a:rPr kumimoji="0" lang="en-US" sz="4000" b="1" i="0" u="none" strike="noStrike" kern="0" cap="none" spc="-50" normalizeH="0" baseline="0" noProof="0">
                <a:ln>
                  <a:noFill/>
                </a:ln>
                <a:solidFill>
                  <a:sysClr val="windowText" lastClr="000000"/>
                </a:solidFill>
                <a:effectLst/>
                <a:uLnTx/>
                <a:uFillTx/>
                <a:latin typeface="Palatino Linotype"/>
                <a:ea typeface="+mj-ea"/>
              </a:rPr>
              <a:t> (</a:t>
            </a:r>
            <a:r>
              <a:rPr kumimoji="0" lang="zh-CN" altLang="en-US" sz="3900" b="0" i="0" u="none" strike="noStrike" kern="0" cap="none" spc="85" normalizeH="0" baseline="0" noProof="0">
                <a:ln>
                  <a:noFill/>
                </a:ln>
                <a:solidFill>
                  <a:sysClr val="windowText" lastClr="000000"/>
                </a:solidFill>
                <a:effectLst/>
                <a:uLnTx/>
                <a:uFillTx/>
                <a:latin typeface="SimSun"/>
                <a:ea typeface="宋体" panose="02010600030101010101" pitchFamily="2" charset="-122"/>
                <a:cs typeface="SimSun"/>
              </a:rPr>
              <a:t>栈式分配</a:t>
            </a:r>
            <a:r>
              <a:rPr kumimoji="0" lang="en-US" altLang="zh-CN" sz="4000" b="1" i="0" u="none" strike="noStrike" kern="0" cap="none" spc="-50" normalizeH="0" baseline="0" noProof="0">
                <a:ln>
                  <a:noFill/>
                </a:ln>
                <a:solidFill>
                  <a:sysClr val="windowText" lastClr="000000"/>
                </a:solidFill>
                <a:effectLst/>
                <a:uLnTx/>
                <a:uFillTx/>
                <a:latin typeface="Palatino Linotype"/>
                <a:ea typeface="宋体" panose="02010600030101010101" pitchFamily="2" charset="-122"/>
              </a:rPr>
              <a:t>)</a:t>
            </a:r>
            <a:endParaRPr kumimoji="0" lang="zh-CN" altLang="en-US" sz="4000" b="1" i="0" u="none" strike="noStrike" kern="0" cap="none" spc="0" normalizeH="0" baseline="0" noProof="0">
              <a:ln>
                <a:noFill/>
              </a:ln>
              <a:solidFill>
                <a:sysClr val="windowText" lastClr="000000"/>
              </a:solidFill>
              <a:effectLst/>
              <a:uLnTx/>
              <a:uFillTx/>
              <a:latin typeface="SimSun"/>
              <a:ea typeface="宋体" panose="02010600030101010101" pitchFamily="2" charset="-122"/>
              <a:cs typeface="SimSun"/>
            </a:endParaRPr>
          </a:p>
        </p:txBody>
      </p:sp>
      <p:sp>
        <p:nvSpPr>
          <p:cNvPr id="27" name="object 3">
            <a:extLst>
              <a:ext uri="{FF2B5EF4-FFF2-40B4-BE49-F238E27FC236}">
                <a16:creationId xmlns:a16="http://schemas.microsoft.com/office/drawing/2014/main" id="{356A1000-1FB3-D4F2-E717-6D210599B032}"/>
              </a:ext>
            </a:extLst>
          </p:cNvPr>
          <p:cNvSpPr txBox="1"/>
          <p:nvPr/>
        </p:nvSpPr>
        <p:spPr>
          <a:xfrm>
            <a:off x="707390" y="1657603"/>
            <a:ext cx="4228465" cy="391160"/>
          </a:xfrm>
          <a:prstGeom prst="rect">
            <a:avLst/>
          </a:prstGeom>
        </p:spPr>
        <p:txBody>
          <a:bodyPr vert="horz" wrap="square" lIns="0" tIns="12700" rIns="0" bIns="0" rtlCol="0">
            <a:spAutoFit/>
          </a:bodyPr>
          <a:lstStyle/>
          <a:p>
            <a:pPr marL="241935" indent="-229235">
              <a:spcBef>
                <a:spcPts val="100"/>
              </a:spcBef>
              <a:buFont typeface="Arial MT"/>
              <a:buChar char="•"/>
              <a:tabLst>
                <a:tab pos="241935" algn="l"/>
              </a:tabLst>
            </a:pPr>
            <a:r>
              <a:rPr sz="2400" dirty="0">
                <a:solidFill>
                  <a:sysClr val="windowText" lastClr="000000"/>
                </a:solidFill>
                <a:latin typeface="Palatino Linotype"/>
                <a:cs typeface="Palatino Linotype"/>
              </a:rPr>
              <a:t>A</a:t>
            </a:r>
            <a:r>
              <a:rPr sz="2400" spc="-150" dirty="0">
                <a:solidFill>
                  <a:sysClr val="windowText" lastClr="000000"/>
                </a:solidFill>
                <a:latin typeface="Palatino Linotype"/>
                <a:cs typeface="Palatino Linotype"/>
              </a:rPr>
              <a:t> </a:t>
            </a:r>
            <a:r>
              <a:rPr sz="2400" dirty="0">
                <a:solidFill>
                  <a:sysClr val="windowText" lastClr="000000"/>
                </a:solidFill>
                <a:latin typeface="Palatino Linotype"/>
                <a:cs typeface="Palatino Linotype"/>
              </a:rPr>
              <a:t>procedure</a:t>
            </a:r>
            <a:r>
              <a:rPr sz="2400" spc="-75" dirty="0">
                <a:solidFill>
                  <a:sysClr val="windowText" lastClr="000000"/>
                </a:solidFill>
                <a:latin typeface="Palatino Linotype"/>
                <a:cs typeface="Palatino Linotype"/>
              </a:rPr>
              <a:t> </a:t>
            </a:r>
            <a:r>
              <a:rPr sz="2400" dirty="0">
                <a:solidFill>
                  <a:srgbClr val="FF0000"/>
                </a:solidFill>
                <a:latin typeface="Palatino Linotype"/>
                <a:cs typeface="Palatino Linotype"/>
              </a:rPr>
              <a:t>calling</a:t>
            </a:r>
            <a:r>
              <a:rPr sz="2400" spc="-45" dirty="0">
                <a:solidFill>
                  <a:srgbClr val="FF0000"/>
                </a:solidFill>
                <a:latin typeface="Palatino Linotype"/>
                <a:cs typeface="Palatino Linotype"/>
              </a:rPr>
              <a:t> </a:t>
            </a:r>
            <a:r>
              <a:rPr sz="2400" spc="-10" dirty="0">
                <a:solidFill>
                  <a:srgbClr val="FF0000"/>
                </a:solidFill>
                <a:latin typeface="Palatino Linotype"/>
                <a:cs typeface="Palatino Linotype"/>
              </a:rPr>
              <a:t>sequence</a:t>
            </a:r>
            <a:endParaRPr sz="2400">
              <a:solidFill>
                <a:sysClr val="windowText" lastClr="000000"/>
              </a:solidFill>
              <a:latin typeface="Palatino Linotype"/>
              <a:cs typeface="Palatino Linotype"/>
            </a:endParaRPr>
          </a:p>
        </p:txBody>
      </p:sp>
      <p:grpSp>
        <p:nvGrpSpPr>
          <p:cNvPr id="28" name="object 4">
            <a:extLst>
              <a:ext uri="{FF2B5EF4-FFF2-40B4-BE49-F238E27FC236}">
                <a16:creationId xmlns:a16="http://schemas.microsoft.com/office/drawing/2014/main" id="{D6D5E25C-31BD-5741-58E1-3187F9D6498B}"/>
              </a:ext>
            </a:extLst>
          </p:cNvPr>
          <p:cNvGrpSpPr/>
          <p:nvPr/>
        </p:nvGrpSpPr>
        <p:grpSpPr>
          <a:xfrm>
            <a:off x="964657" y="2366984"/>
            <a:ext cx="7560309" cy="982344"/>
            <a:chOff x="964657" y="2366984"/>
            <a:chExt cx="7560309" cy="982344"/>
          </a:xfrm>
        </p:grpSpPr>
        <p:pic>
          <p:nvPicPr>
            <p:cNvPr id="29" name="object 5">
              <a:extLst>
                <a:ext uri="{FF2B5EF4-FFF2-40B4-BE49-F238E27FC236}">
                  <a16:creationId xmlns:a16="http://schemas.microsoft.com/office/drawing/2014/main" id="{FB33F115-DBFD-BCAD-53AD-A00E62D421CE}"/>
                </a:ext>
              </a:extLst>
            </p:cNvPr>
            <p:cNvPicPr/>
            <p:nvPr/>
          </p:nvPicPr>
          <p:blipFill>
            <a:blip r:embed="rId3" cstate="print"/>
            <a:stretch>
              <a:fillRect/>
            </a:stretch>
          </p:blipFill>
          <p:spPr>
            <a:xfrm>
              <a:off x="964657" y="2446233"/>
              <a:ext cx="7442231" cy="902595"/>
            </a:xfrm>
            <a:prstGeom prst="rect">
              <a:avLst/>
            </a:prstGeom>
          </p:spPr>
        </p:pic>
        <p:sp>
          <p:nvSpPr>
            <p:cNvPr id="30" name="object 6">
              <a:extLst>
                <a:ext uri="{FF2B5EF4-FFF2-40B4-BE49-F238E27FC236}">
                  <a16:creationId xmlns:a16="http://schemas.microsoft.com/office/drawing/2014/main" id="{F769014C-4317-773A-E55D-9FF3C2051521}"/>
                </a:ext>
              </a:extLst>
            </p:cNvPr>
            <p:cNvSpPr/>
            <p:nvPr/>
          </p:nvSpPr>
          <p:spPr>
            <a:xfrm>
              <a:off x="5237017" y="2376509"/>
              <a:ext cx="3278504" cy="338455"/>
            </a:xfrm>
            <a:custGeom>
              <a:avLst/>
              <a:gdLst/>
              <a:ahLst/>
              <a:cxnLst/>
              <a:rect l="l" t="t" r="r" b="b"/>
              <a:pathLst>
                <a:path w="3278504" h="338455">
                  <a:moveTo>
                    <a:pt x="0" y="0"/>
                  </a:moveTo>
                  <a:lnTo>
                    <a:pt x="3278332" y="0"/>
                  </a:lnTo>
                  <a:lnTo>
                    <a:pt x="3278332" y="338334"/>
                  </a:lnTo>
                  <a:lnTo>
                    <a:pt x="0" y="338334"/>
                  </a:lnTo>
                  <a:lnTo>
                    <a:pt x="0" y="0"/>
                  </a:lnTo>
                  <a:close/>
                </a:path>
              </a:pathLst>
            </a:custGeom>
            <a:ln w="19050">
              <a:solidFill>
                <a:srgbClr val="FF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31" name="object 7">
            <a:extLst>
              <a:ext uri="{FF2B5EF4-FFF2-40B4-BE49-F238E27FC236}">
                <a16:creationId xmlns:a16="http://schemas.microsoft.com/office/drawing/2014/main" id="{B8A11442-396E-810B-06F5-A7C9850F8A2E}"/>
              </a:ext>
            </a:extLst>
          </p:cNvPr>
          <p:cNvSpPr txBox="1"/>
          <p:nvPr/>
        </p:nvSpPr>
        <p:spPr>
          <a:xfrm>
            <a:off x="5265078" y="1700276"/>
            <a:ext cx="3129280" cy="568325"/>
          </a:xfrm>
          <a:prstGeom prst="rect">
            <a:avLst/>
          </a:prstGeom>
        </p:spPr>
        <p:txBody>
          <a:bodyPr vert="horz" wrap="square" lIns="0" tIns="26670" rIns="0" bIns="0" rtlCol="0">
            <a:spAutoFit/>
          </a:bodyPr>
          <a:lstStyle/>
          <a:p>
            <a:pPr marL="777240" marR="5080" indent="-765175">
              <a:lnSpc>
                <a:spcPts val="2110"/>
              </a:lnSpc>
              <a:spcBef>
                <a:spcPts val="210"/>
              </a:spcBef>
            </a:pPr>
            <a:r>
              <a:rPr dirty="0">
                <a:solidFill>
                  <a:srgbClr val="FF0000"/>
                </a:solidFill>
                <a:latin typeface="Palatino Linotype"/>
                <a:cs typeface="Palatino Linotype"/>
              </a:rPr>
              <a:t>Additional</a:t>
            </a:r>
            <a:r>
              <a:rPr spc="-65" dirty="0">
                <a:solidFill>
                  <a:srgbClr val="FF0000"/>
                </a:solidFill>
                <a:latin typeface="Palatino Linotype"/>
                <a:cs typeface="Palatino Linotype"/>
              </a:rPr>
              <a:t> </a:t>
            </a:r>
            <a:r>
              <a:rPr dirty="0">
                <a:solidFill>
                  <a:srgbClr val="FF0000"/>
                </a:solidFill>
                <a:latin typeface="Palatino Linotype"/>
                <a:cs typeface="Palatino Linotype"/>
              </a:rPr>
              <a:t>work</a:t>
            </a:r>
            <a:r>
              <a:rPr spc="-70" dirty="0">
                <a:solidFill>
                  <a:srgbClr val="FF0000"/>
                </a:solidFill>
                <a:latin typeface="Palatino Linotype"/>
                <a:cs typeface="Palatino Linotype"/>
              </a:rPr>
              <a:t> </a:t>
            </a:r>
            <a:r>
              <a:rPr dirty="0">
                <a:solidFill>
                  <a:srgbClr val="FF0000"/>
                </a:solidFill>
                <a:latin typeface="Palatino Linotype"/>
                <a:cs typeface="Palatino Linotype"/>
              </a:rPr>
              <a:t>comparing</a:t>
            </a:r>
            <a:r>
              <a:rPr spc="-70" dirty="0">
                <a:solidFill>
                  <a:srgbClr val="FF0000"/>
                </a:solidFill>
                <a:latin typeface="Palatino Linotype"/>
                <a:cs typeface="Palatino Linotype"/>
              </a:rPr>
              <a:t> </a:t>
            </a:r>
            <a:r>
              <a:rPr spc="-25" dirty="0">
                <a:solidFill>
                  <a:srgbClr val="FF0000"/>
                </a:solidFill>
                <a:latin typeface="Palatino Linotype"/>
                <a:cs typeface="Palatino Linotype"/>
              </a:rPr>
              <a:t>to </a:t>
            </a:r>
            <a:r>
              <a:rPr dirty="0">
                <a:solidFill>
                  <a:srgbClr val="FF0000"/>
                </a:solidFill>
                <a:latin typeface="Palatino Linotype"/>
                <a:cs typeface="Palatino Linotype"/>
              </a:rPr>
              <a:t>static</a:t>
            </a:r>
            <a:r>
              <a:rPr spc="-45" dirty="0">
                <a:solidFill>
                  <a:srgbClr val="FF0000"/>
                </a:solidFill>
                <a:latin typeface="Palatino Linotype"/>
                <a:cs typeface="Palatino Linotype"/>
              </a:rPr>
              <a:t> </a:t>
            </a:r>
            <a:r>
              <a:rPr spc="-10" dirty="0">
                <a:solidFill>
                  <a:srgbClr val="FF0000"/>
                </a:solidFill>
                <a:latin typeface="Palatino Linotype"/>
                <a:cs typeface="Palatino Linotype"/>
              </a:rPr>
              <a:t>allocation</a:t>
            </a:r>
            <a:endParaRPr>
              <a:solidFill>
                <a:sysClr val="windowText" lastClr="000000"/>
              </a:solidFill>
              <a:latin typeface="Palatino Linotype"/>
              <a:cs typeface="Palatino Linotype"/>
            </a:endParaRPr>
          </a:p>
        </p:txBody>
      </p:sp>
      <p:sp>
        <p:nvSpPr>
          <p:cNvPr id="32" name="object 8">
            <a:extLst>
              <a:ext uri="{FF2B5EF4-FFF2-40B4-BE49-F238E27FC236}">
                <a16:creationId xmlns:a16="http://schemas.microsoft.com/office/drawing/2014/main" id="{0531B083-661A-44FB-F436-4E76A49E5CB3}"/>
              </a:ext>
            </a:extLst>
          </p:cNvPr>
          <p:cNvSpPr txBox="1"/>
          <p:nvPr/>
        </p:nvSpPr>
        <p:spPr>
          <a:xfrm>
            <a:off x="7955098" y="2715259"/>
            <a:ext cx="139700" cy="299720"/>
          </a:xfrm>
          <a:prstGeom prst="rect">
            <a:avLst/>
          </a:prstGeom>
        </p:spPr>
        <p:txBody>
          <a:bodyPr vert="horz" wrap="square" lIns="0" tIns="12700" rIns="0" bIns="0" rtlCol="0">
            <a:spAutoFit/>
          </a:bodyPr>
          <a:lstStyle/>
          <a:p>
            <a:pPr marL="12700">
              <a:spcBef>
                <a:spcPts val="100"/>
              </a:spcBef>
            </a:pPr>
            <a:r>
              <a:rPr spc="-50" dirty="0">
                <a:solidFill>
                  <a:sysClr val="windowText" lastClr="000000"/>
                </a:solidFill>
                <a:cs typeface="Calibri"/>
              </a:rPr>
              <a:t>*</a:t>
            </a:r>
            <a:endParaRPr>
              <a:solidFill>
                <a:sysClr val="windowText" lastClr="000000"/>
              </a:solidFill>
              <a:cs typeface="Calibri"/>
            </a:endParaRPr>
          </a:p>
        </p:txBody>
      </p:sp>
      <p:sp>
        <p:nvSpPr>
          <p:cNvPr id="33" name="object 9">
            <a:extLst>
              <a:ext uri="{FF2B5EF4-FFF2-40B4-BE49-F238E27FC236}">
                <a16:creationId xmlns:a16="http://schemas.microsoft.com/office/drawing/2014/main" id="{6A384C55-F1EB-D0F5-5EA1-E52E642C27F3}"/>
              </a:ext>
            </a:extLst>
          </p:cNvPr>
          <p:cNvSpPr txBox="1"/>
          <p:nvPr/>
        </p:nvSpPr>
        <p:spPr>
          <a:xfrm>
            <a:off x="707390" y="3772916"/>
            <a:ext cx="3004185" cy="391160"/>
          </a:xfrm>
          <a:prstGeom prst="rect">
            <a:avLst/>
          </a:prstGeom>
        </p:spPr>
        <p:txBody>
          <a:bodyPr vert="horz" wrap="square" lIns="0" tIns="12700" rIns="0" bIns="0" rtlCol="0">
            <a:spAutoFit/>
          </a:bodyPr>
          <a:lstStyle/>
          <a:p>
            <a:pPr marL="241935" indent="-229235">
              <a:spcBef>
                <a:spcPts val="100"/>
              </a:spcBef>
              <a:buFont typeface="Arial MT"/>
              <a:buChar char="•"/>
              <a:tabLst>
                <a:tab pos="241935" algn="l"/>
              </a:tabLst>
            </a:pPr>
            <a:r>
              <a:rPr sz="2400" dirty="0">
                <a:solidFill>
                  <a:sysClr val="windowText" lastClr="000000"/>
                </a:solidFill>
                <a:latin typeface="Palatino Linotype"/>
                <a:cs typeface="Palatino Linotype"/>
              </a:rPr>
              <a:t>The</a:t>
            </a:r>
            <a:r>
              <a:rPr sz="2400" spc="-55" dirty="0">
                <a:solidFill>
                  <a:sysClr val="windowText" lastClr="000000"/>
                </a:solidFill>
                <a:latin typeface="Palatino Linotype"/>
                <a:cs typeface="Palatino Linotype"/>
              </a:rPr>
              <a:t> </a:t>
            </a:r>
            <a:r>
              <a:rPr sz="2400" dirty="0">
                <a:solidFill>
                  <a:srgbClr val="0432FF"/>
                </a:solidFill>
                <a:latin typeface="Palatino Linotype"/>
                <a:cs typeface="Palatino Linotype"/>
              </a:rPr>
              <a:t>return</a:t>
            </a:r>
            <a:r>
              <a:rPr sz="2400" spc="-55" dirty="0">
                <a:solidFill>
                  <a:srgbClr val="0432FF"/>
                </a:solidFill>
                <a:latin typeface="Palatino Linotype"/>
                <a:cs typeface="Palatino Linotype"/>
              </a:rPr>
              <a:t> </a:t>
            </a:r>
            <a:r>
              <a:rPr sz="2400" spc="-10" dirty="0">
                <a:solidFill>
                  <a:srgbClr val="0432FF"/>
                </a:solidFill>
                <a:latin typeface="Palatino Linotype"/>
                <a:cs typeface="Palatino Linotype"/>
              </a:rPr>
              <a:t>sequence</a:t>
            </a:r>
            <a:endParaRPr sz="2400">
              <a:solidFill>
                <a:sysClr val="windowText" lastClr="000000"/>
              </a:solidFill>
              <a:latin typeface="Palatino Linotype"/>
              <a:cs typeface="Palatino Linotype"/>
            </a:endParaRPr>
          </a:p>
        </p:txBody>
      </p:sp>
      <p:pic>
        <p:nvPicPr>
          <p:cNvPr id="34" name="object 10">
            <a:extLst>
              <a:ext uri="{FF2B5EF4-FFF2-40B4-BE49-F238E27FC236}">
                <a16:creationId xmlns:a16="http://schemas.microsoft.com/office/drawing/2014/main" id="{D48461A1-3472-9007-C527-15E507EB2883}"/>
              </a:ext>
            </a:extLst>
          </p:cNvPr>
          <p:cNvPicPr/>
          <p:nvPr/>
        </p:nvPicPr>
        <p:blipFill>
          <a:blip r:embed="rId4" cstate="print"/>
          <a:stretch>
            <a:fillRect/>
          </a:stretch>
        </p:blipFill>
        <p:spPr>
          <a:xfrm>
            <a:off x="937446" y="4584412"/>
            <a:ext cx="6289886" cy="218426"/>
          </a:xfrm>
          <a:prstGeom prst="rect">
            <a:avLst/>
          </a:prstGeom>
        </p:spPr>
      </p:pic>
      <p:grpSp>
        <p:nvGrpSpPr>
          <p:cNvPr id="35" name="object 11">
            <a:extLst>
              <a:ext uri="{FF2B5EF4-FFF2-40B4-BE49-F238E27FC236}">
                <a16:creationId xmlns:a16="http://schemas.microsoft.com/office/drawing/2014/main" id="{19731AE9-EC78-0C7C-F93F-9668C2960C2A}"/>
              </a:ext>
            </a:extLst>
          </p:cNvPr>
          <p:cNvGrpSpPr/>
          <p:nvPr/>
        </p:nvGrpSpPr>
        <p:grpSpPr>
          <a:xfrm>
            <a:off x="928242" y="4937816"/>
            <a:ext cx="6697345" cy="329565"/>
            <a:chOff x="928242" y="4937816"/>
            <a:chExt cx="6697345" cy="329565"/>
          </a:xfrm>
        </p:grpSpPr>
        <p:pic>
          <p:nvPicPr>
            <p:cNvPr id="36" name="object 12">
              <a:extLst>
                <a:ext uri="{FF2B5EF4-FFF2-40B4-BE49-F238E27FC236}">
                  <a16:creationId xmlns:a16="http://schemas.microsoft.com/office/drawing/2014/main" id="{28605260-91D6-FD35-62D3-1E4DD486037F}"/>
                </a:ext>
              </a:extLst>
            </p:cNvPr>
            <p:cNvPicPr/>
            <p:nvPr/>
          </p:nvPicPr>
          <p:blipFill>
            <a:blip r:embed="rId5" cstate="print"/>
            <a:stretch>
              <a:fillRect/>
            </a:stretch>
          </p:blipFill>
          <p:spPr>
            <a:xfrm>
              <a:off x="928242" y="4998453"/>
              <a:ext cx="6624669" cy="240560"/>
            </a:xfrm>
            <a:prstGeom prst="rect">
              <a:avLst/>
            </a:prstGeom>
          </p:spPr>
        </p:pic>
        <p:sp>
          <p:nvSpPr>
            <p:cNvPr id="37" name="object 13">
              <a:extLst>
                <a:ext uri="{FF2B5EF4-FFF2-40B4-BE49-F238E27FC236}">
                  <a16:creationId xmlns:a16="http://schemas.microsoft.com/office/drawing/2014/main" id="{7C64388B-FE80-2759-03DF-1650F90CE01D}"/>
                </a:ext>
              </a:extLst>
            </p:cNvPr>
            <p:cNvSpPr/>
            <p:nvPr/>
          </p:nvSpPr>
          <p:spPr>
            <a:xfrm>
              <a:off x="4669011" y="4947341"/>
              <a:ext cx="2947035" cy="310515"/>
            </a:xfrm>
            <a:custGeom>
              <a:avLst/>
              <a:gdLst/>
              <a:ahLst/>
              <a:cxnLst/>
              <a:rect l="l" t="t" r="r" b="b"/>
              <a:pathLst>
                <a:path w="2947034" h="310514">
                  <a:moveTo>
                    <a:pt x="0" y="0"/>
                  </a:moveTo>
                  <a:lnTo>
                    <a:pt x="2946816" y="0"/>
                  </a:lnTo>
                  <a:lnTo>
                    <a:pt x="2946816" y="310458"/>
                  </a:lnTo>
                  <a:lnTo>
                    <a:pt x="0" y="310458"/>
                  </a:lnTo>
                  <a:lnTo>
                    <a:pt x="0" y="0"/>
                  </a:lnTo>
                  <a:close/>
                </a:path>
              </a:pathLst>
            </a:custGeom>
            <a:ln w="19050">
              <a:solidFill>
                <a:srgbClr val="0432FF"/>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38" name="object 14">
            <a:extLst>
              <a:ext uri="{FF2B5EF4-FFF2-40B4-BE49-F238E27FC236}">
                <a16:creationId xmlns:a16="http://schemas.microsoft.com/office/drawing/2014/main" id="{91ED1C7A-C234-15A7-9EFF-DFA02604E26B}"/>
              </a:ext>
            </a:extLst>
          </p:cNvPr>
          <p:cNvSpPr txBox="1"/>
          <p:nvPr/>
        </p:nvSpPr>
        <p:spPr>
          <a:xfrm>
            <a:off x="951467" y="4560316"/>
            <a:ext cx="8058784" cy="1594485"/>
          </a:xfrm>
          <a:prstGeom prst="rect">
            <a:avLst/>
          </a:prstGeom>
        </p:spPr>
        <p:txBody>
          <a:bodyPr vert="horz" wrap="square" lIns="0" tIns="12700" rIns="0" bIns="0" rtlCol="0">
            <a:spAutoFit/>
          </a:bodyPr>
          <a:lstStyle/>
          <a:p>
            <a:pPr marR="237490" algn="r">
              <a:spcBef>
                <a:spcPts val="100"/>
              </a:spcBef>
            </a:pPr>
            <a:r>
              <a:rPr sz="1600" dirty="0">
                <a:solidFill>
                  <a:srgbClr val="0432FF"/>
                </a:solidFill>
                <a:latin typeface="Palatino Linotype"/>
                <a:cs typeface="Palatino Linotype"/>
              </a:rPr>
              <a:t>(done</a:t>
            </a:r>
            <a:r>
              <a:rPr sz="1600" spc="-25" dirty="0">
                <a:solidFill>
                  <a:srgbClr val="0432FF"/>
                </a:solidFill>
                <a:latin typeface="Palatino Linotype"/>
                <a:cs typeface="Palatino Linotype"/>
              </a:rPr>
              <a:t> </a:t>
            </a:r>
            <a:r>
              <a:rPr sz="1600" dirty="0">
                <a:solidFill>
                  <a:srgbClr val="0432FF"/>
                </a:solidFill>
                <a:latin typeface="Palatino Linotype"/>
                <a:cs typeface="Palatino Linotype"/>
              </a:rPr>
              <a:t>in</a:t>
            </a:r>
            <a:r>
              <a:rPr sz="1600" spc="-15" dirty="0">
                <a:solidFill>
                  <a:srgbClr val="0432FF"/>
                </a:solidFill>
                <a:latin typeface="Palatino Linotype"/>
                <a:cs typeface="Palatino Linotype"/>
              </a:rPr>
              <a:t> </a:t>
            </a:r>
            <a:r>
              <a:rPr sz="1600" spc="-10" dirty="0">
                <a:solidFill>
                  <a:srgbClr val="0432FF"/>
                </a:solidFill>
                <a:latin typeface="Palatino Linotype"/>
                <a:cs typeface="Palatino Linotype"/>
              </a:rPr>
              <a:t>callee)</a:t>
            </a:r>
            <a:endParaRPr sz="1600">
              <a:solidFill>
                <a:sysClr val="windowText" lastClr="000000"/>
              </a:solidFill>
              <a:latin typeface="Palatino Linotype"/>
              <a:cs typeface="Palatino Linotype"/>
            </a:endParaRPr>
          </a:p>
          <a:p>
            <a:pPr marR="5080" algn="r">
              <a:spcBef>
                <a:spcPts val="1295"/>
              </a:spcBef>
            </a:pPr>
            <a:r>
              <a:rPr sz="1600" dirty="0">
                <a:solidFill>
                  <a:srgbClr val="0432FF"/>
                </a:solidFill>
                <a:latin typeface="Palatino Linotype"/>
                <a:cs typeface="Palatino Linotype"/>
              </a:rPr>
              <a:t>(done</a:t>
            </a:r>
            <a:r>
              <a:rPr sz="1600" spc="-25" dirty="0">
                <a:solidFill>
                  <a:srgbClr val="0432FF"/>
                </a:solidFill>
                <a:latin typeface="Palatino Linotype"/>
                <a:cs typeface="Palatino Linotype"/>
              </a:rPr>
              <a:t> </a:t>
            </a:r>
            <a:r>
              <a:rPr sz="1600" dirty="0">
                <a:solidFill>
                  <a:srgbClr val="0432FF"/>
                </a:solidFill>
                <a:latin typeface="Palatino Linotype"/>
                <a:cs typeface="Palatino Linotype"/>
              </a:rPr>
              <a:t>in</a:t>
            </a:r>
            <a:r>
              <a:rPr sz="1600" spc="-15" dirty="0">
                <a:solidFill>
                  <a:srgbClr val="0432FF"/>
                </a:solidFill>
                <a:latin typeface="Palatino Linotype"/>
                <a:cs typeface="Palatino Linotype"/>
              </a:rPr>
              <a:t> </a:t>
            </a:r>
            <a:r>
              <a:rPr sz="1600" spc="-10" dirty="0">
                <a:solidFill>
                  <a:srgbClr val="0432FF"/>
                </a:solidFill>
                <a:latin typeface="Palatino Linotype"/>
                <a:cs typeface="Palatino Linotype"/>
              </a:rPr>
              <a:t>caller)</a:t>
            </a:r>
            <a:endParaRPr sz="1600">
              <a:solidFill>
                <a:sysClr val="windowText" lastClr="000000"/>
              </a:solidFill>
              <a:latin typeface="Palatino Linotype"/>
              <a:cs typeface="Palatino Linotype"/>
            </a:endParaRPr>
          </a:p>
          <a:p>
            <a:pPr marL="4518025" marR="1193165" indent="-765175">
              <a:lnSpc>
                <a:spcPts val="2110"/>
              </a:lnSpc>
              <a:spcBef>
                <a:spcPts val="1925"/>
              </a:spcBef>
            </a:pPr>
            <a:r>
              <a:rPr dirty="0">
                <a:solidFill>
                  <a:srgbClr val="0432FF"/>
                </a:solidFill>
                <a:latin typeface="Palatino Linotype"/>
                <a:cs typeface="Palatino Linotype"/>
              </a:rPr>
              <a:t>Additional</a:t>
            </a:r>
            <a:r>
              <a:rPr spc="-65" dirty="0">
                <a:solidFill>
                  <a:srgbClr val="0432FF"/>
                </a:solidFill>
                <a:latin typeface="Palatino Linotype"/>
                <a:cs typeface="Palatino Linotype"/>
              </a:rPr>
              <a:t> </a:t>
            </a:r>
            <a:r>
              <a:rPr dirty="0">
                <a:solidFill>
                  <a:srgbClr val="0432FF"/>
                </a:solidFill>
                <a:latin typeface="Palatino Linotype"/>
                <a:cs typeface="Palatino Linotype"/>
              </a:rPr>
              <a:t>work</a:t>
            </a:r>
            <a:r>
              <a:rPr spc="-70" dirty="0">
                <a:solidFill>
                  <a:srgbClr val="0432FF"/>
                </a:solidFill>
                <a:latin typeface="Palatino Linotype"/>
                <a:cs typeface="Palatino Linotype"/>
              </a:rPr>
              <a:t> </a:t>
            </a:r>
            <a:r>
              <a:rPr dirty="0">
                <a:solidFill>
                  <a:srgbClr val="0432FF"/>
                </a:solidFill>
                <a:latin typeface="Palatino Linotype"/>
                <a:cs typeface="Palatino Linotype"/>
              </a:rPr>
              <a:t>comparing</a:t>
            </a:r>
            <a:r>
              <a:rPr spc="-70" dirty="0">
                <a:solidFill>
                  <a:srgbClr val="0432FF"/>
                </a:solidFill>
                <a:latin typeface="Palatino Linotype"/>
                <a:cs typeface="Palatino Linotype"/>
              </a:rPr>
              <a:t> </a:t>
            </a:r>
            <a:r>
              <a:rPr spc="-25" dirty="0">
                <a:solidFill>
                  <a:srgbClr val="0432FF"/>
                </a:solidFill>
                <a:latin typeface="Palatino Linotype"/>
                <a:cs typeface="Palatino Linotype"/>
              </a:rPr>
              <a:t>to </a:t>
            </a:r>
            <a:r>
              <a:rPr dirty="0">
                <a:solidFill>
                  <a:srgbClr val="0432FF"/>
                </a:solidFill>
                <a:latin typeface="Palatino Linotype"/>
                <a:cs typeface="Palatino Linotype"/>
              </a:rPr>
              <a:t>static</a:t>
            </a:r>
            <a:r>
              <a:rPr spc="-45" dirty="0">
                <a:solidFill>
                  <a:srgbClr val="0432FF"/>
                </a:solidFill>
                <a:latin typeface="Palatino Linotype"/>
                <a:cs typeface="Palatino Linotype"/>
              </a:rPr>
              <a:t> </a:t>
            </a:r>
            <a:r>
              <a:rPr spc="-10" dirty="0">
                <a:solidFill>
                  <a:srgbClr val="0432FF"/>
                </a:solidFill>
                <a:latin typeface="Palatino Linotype"/>
                <a:cs typeface="Palatino Linotype"/>
              </a:rPr>
              <a:t>allocation</a:t>
            </a:r>
            <a:endParaRPr>
              <a:solidFill>
                <a:sysClr val="windowText" lastClr="000000"/>
              </a:solidFill>
              <a:latin typeface="Palatino Linotype"/>
              <a:cs typeface="Palatino Linotype"/>
            </a:endParaRPr>
          </a:p>
          <a:p>
            <a:pPr marL="12700">
              <a:lnSpc>
                <a:spcPts val="1070"/>
              </a:lnSpc>
            </a:pPr>
            <a:r>
              <a:rPr sz="1200" dirty="0">
                <a:solidFill>
                  <a:srgbClr val="A6A6A6"/>
                </a:solidFill>
                <a:latin typeface="Palatino Linotype"/>
                <a:cs typeface="Palatino Linotype"/>
              </a:rPr>
              <a:t>*</a:t>
            </a:r>
            <a:r>
              <a:rPr sz="1200" spc="-20" dirty="0">
                <a:solidFill>
                  <a:srgbClr val="A6A6A6"/>
                </a:solidFill>
                <a:latin typeface="Palatino Linotype"/>
                <a:cs typeface="Palatino Linotype"/>
              </a:rPr>
              <a:t> </a:t>
            </a:r>
            <a:r>
              <a:rPr sz="1200" dirty="0">
                <a:solidFill>
                  <a:srgbClr val="A6A6A6"/>
                </a:solidFill>
                <a:latin typeface="Palatino Linotype"/>
                <a:cs typeface="Palatino Linotype"/>
              </a:rPr>
              <a:t>Return</a:t>
            </a:r>
            <a:r>
              <a:rPr sz="1200" spc="-15" dirty="0">
                <a:solidFill>
                  <a:srgbClr val="A6A6A6"/>
                </a:solidFill>
                <a:latin typeface="Palatino Linotype"/>
                <a:cs typeface="Palatino Linotype"/>
              </a:rPr>
              <a:t> </a:t>
            </a:r>
            <a:r>
              <a:rPr sz="1200" dirty="0">
                <a:solidFill>
                  <a:srgbClr val="A6A6A6"/>
                </a:solidFill>
                <a:latin typeface="Palatino Linotype"/>
                <a:cs typeface="Palatino Linotype"/>
              </a:rPr>
              <a:t>address</a:t>
            </a:r>
            <a:r>
              <a:rPr sz="1200" spc="-15" dirty="0">
                <a:solidFill>
                  <a:srgbClr val="A6A6A6"/>
                </a:solidFill>
                <a:latin typeface="Palatino Linotype"/>
                <a:cs typeface="Palatino Linotype"/>
              </a:rPr>
              <a:t> </a:t>
            </a:r>
            <a:r>
              <a:rPr sz="1200" dirty="0">
                <a:solidFill>
                  <a:srgbClr val="A6A6A6"/>
                </a:solidFill>
                <a:latin typeface="Palatino Linotype"/>
                <a:cs typeface="Palatino Linotype"/>
              </a:rPr>
              <a:t>is</a:t>
            </a:r>
            <a:r>
              <a:rPr sz="1200" spc="-15" dirty="0">
                <a:solidFill>
                  <a:srgbClr val="A6A6A6"/>
                </a:solidFill>
                <a:latin typeface="Palatino Linotype"/>
                <a:cs typeface="Palatino Linotype"/>
              </a:rPr>
              <a:t> </a:t>
            </a:r>
            <a:r>
              <a:rPr sz="1200" dirty="0">
                <a:solidFill>
                  <a:srgbClr val="A6A6A6"/>
                </a:solidFill>
                <a:latin typeface="Palatino Linotype"/>
                <a:cs typeface="Palatino Linotype"/>
              </a:rPr>
              <a:t>at</a:t>
            </a:r>
            <a:r>
              <a:rPr sz="1200" spc="-20" dirty="0">
                <a:solidFill>
                  <a:srgbClr val="A6A6A6"/>
                </a:solidFill>
                <a:latin typeface="Palatino Linotype"/>
                <a:cs typeface="Palatino Linotype"/>
              </a:rPr>
              <a:t> </a:t>
            </a:r>
            <a:r>
              <a:rPr sz="1200" dirty="0">
                <a:solidFill>
                  <a:srgbClr val="A6A6A6"/>
                </a:solidFill>
                <a:latin typeface="Palatino Linotype"/>
                <a:cs typeface="Palatino Linotype"/>
              </a:rPr>
              <a:t>the</a:t>
            </a:r>
            <a:r>
              <a:rPr sz="1200" spc="-15" dirty="0">
                <a:solidFill>
                  <a:srgbClr val="A6A6A6"/>
                </a:solidFill>
                <a:latin typeface="Palatino Linotype"/>
                <a:cs typeface="Palatino Linotype"/>
              </a:rPr>
              <a:t> </a:t>
            </a:r>
            <a:r>
              <a:rPr sz="1200" dirty="0">
                <a:solidFill>
                  <a:srgbClr val="A6A6A6"/>
                </a:solidFill>
                <a:latin typeface="Palatino Linotype"/>
                <a:cs typeface="Palatino Linotype"/>
              </a:rPr>
              <a:t>beginning</a:t>
            </a:r>
            <a:r>
              <a:rPr sz="1200" spc="-15" dirty="0">
                <a:solidFill>
                  <a:srgbClr val="A6A6A6"/>
                </a:solidFill>
                <a:latin typeface="Palatino Linotype"/>
                <a:cs typeface="Palatino Linotype"/>
              </a:rPr>
              <a:t> </a:t>
            </a:r>
            <a:r>
              <a:rPr sz="1200" dirty="0">
                <a:solidFill>
                  <a:srgbClr val="A6A6A6"/>
                </a:solidFill>
                <a:latin typeface="Palatino Linotype"/>
                <a:cs typeface="Palatino Linotype"/>
              </a:rPr>
              <a:t>of</a:t>
            </a:r>
            <a:r>
              <a:rPr sz="1200" spc="-15" dirty="0">
                <a:solidFill>
                  <a:srgbClr val="A6A6A6"/>
                </a:solidFill>
                <a:latin typeface="Palatino Linotype"/>
                <a:cs typeface="Palatino Linotype"/>
              </a:rPr>
              <a:t> </a:t>
            </a:r>
            <a:r>
              <a:rPr sz="1200" dirty="0">
                <a:solidFill>
                  <a:srgbClr val="A6A6A6"/>
                </a:solidFill>
                <a:latin typeface="Palatino Linotype"/>
                <a:cs typeface="Palatino Linotype"/>
              </a:rPr>
              <a:t>the</a:t>
            </a:r>
            <a:r>
              <a:rPr sz="1200" spc="-15" dirty="0">
                <a:solidFill>
                  <a:srgbClr val="A6A6A6"/>
                </a:solidFill>
                <a:latin typeface="Palatino Linotype"/>
                <a:cs typeface="Palatino Linotype"/>
              </a:rPr>
              <a:t> </a:t>
            </a:r>
            <a:r>
              <a:rPr sz="1200" spc="-10" dirty="0">
                <a:solidFill>
                  <a:srgbClr val="A6A6A6"/>
                </a:solidFill>
                <a:latin typeface="Palatino Linotype"/>
                <a:cs typeface="Palatino Linotype"/>
              </a:rPr>
              <a:t>activation</a:t>
            </a:r>
            <a:r>
              <a:rPr sz="1200" spc="-15" dirty="0">
                <a:solidFill>
                  <a:srgbClr val="A6A6A6"/>
                </a:solidFill>
                <a:latin typeface="Palatino Linotype"/>
                <a:cs typeface="Palatino Linotype"/>
              </a:rPr>
              <a:t> </a:t>
            </a:r>
            <a:r>
              <a:rPr sz="1200" spc="-10" dirty="0">
                <a:solidFill>
                  <a:srgbClr val="A6A6A6"/>
                </a:solidFill>
                <a:latin typeface="Palatino Linotype"/>
                <a:cs typeface="Palatino Linotype"/>
              </a:rPr>
              <a:t>record</a:t>
            </a:r>
            <a:endParaRPr sz="1200">
              <a:solidFill>
                <a:sysClr val="windowText" lastClr="000000"/>
              </a:solidFill>
              <a:latin typeface="Palatino Linotype"/>
              <a:cs typeface="Palatino Linotype"/>
            </a:endParaRPr>
          </a:p>
        </p:txBody>
      </p:sp>
      <p:sp>
        <p:nvSpPr>
          <p:cNvPr id="39" name="object 15">
            <a:extLst>
              <a:ext uri="{FF2B5EF4-FFF2-40B4-BE49-F238E27FC236}">
                <a16:creationId xmlns:a16="http://schemas.microsoft.com/office/drawing/2014/main" id="{FDC752FB-E764-29D0-B174-0F85ECF53F84}"/>
              </a:ext>
            </a:extLst>
          </p:cNvPr>
          <p:cNvSpPr/>
          <p:nvPr/>
        </p:nvSpPr>
        <p:spPr>
          <a:xfrm>
            <a:off x="942974" y="2696405"/>
            <a:ext cx="1457325" cy="0"/>
          </a:xfrm>
          <a:custGeom>
            <a:avLst/>
            <a:gdLst/>
            <a:ahLst/>
            <a:cxnLst/>
            <a:rect l="l" t="t" r="r" b="b"/>
            <a:pathLst>
              <a:path w="1457325">
                <a:moveTo>
                  <a:pt x="0" y="0"/>
                </a:moveTo>
                <a:lnTo>
                  <a:pt x="1457326" y="1"/>
                </a:lnTo>
              </a:path>
            </a:pathLst>
          </a:custGeom>
          <a:ln w="12700">
            <a:solidFill>
              <a:srgbClr val="FF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aphicFrame>
        <p:nvGraphicFramePr>
          <p:cNvPr id="40" name="object 16">
            <a:extLst>
              <a:ext uri="{FF2B5EF4-FFF2-40B4-BE49-F238E27FC236}">
                <a16:creationId xmlns:a16="http://schemas.microsoft.com/office/drawing/2014/main" id="{77280F93-FC9C-7CBE-50B8-FCEDBBA1E5E7}"/>
              </a:ext>
            </a:extLst>
          </p:cNvPr>
          <p:cNvGraphicFramePr>
            <a:graphicFrameLocks noGrp="1"/>
          </p:cNvGraphicFramePr>
          <p:nvPr/>
        </p:nvGraphicFramePr>
        <p:xfrm>
          <a:off x="7331847" y="306242"/>
          <a:ext cx="773430" cy="1112520"/>
        </p:xfrm>
        <a:graphic>
          <a:graphicData uri="http://schemas.openxmlformats.org/drawingml/2006/table">
            <a:tbl>
              <a:tblPr firstRow="1" bandRow="1"/>
              <a:tblGrid>
                <a:gridCol w="773430">
                  <a:extLst>
                    <a:ext uri="{9D8B030D-6E8A-4147-A177-3AD203B41FA5}">
                      <a16:colId xmlns:a16="http://schemas.microsoft.com/office/drawing/2014/main" val="20000"/>
                    </a:ext>
                  </a:extLst>
                </a:gridCol>
              </a:tblGrid>
              <a:tr h="370840">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gn="ctr">
                        <a:lnSpc>
                          <a:spcPct val="100000"/>
                        </a:lnSpc>
                        <a:spcBef>
                          <a:spcPts val="250"/>
                        </a:spcBef>
                      </a:pPr>
                      <a:r>
                        <a:rPr sz="1800" spc="-10" dirty="0">
                          <a:latin typeface="Palatino Linotype"/>
                          <a:cs typeface="Palatino Linotype"/>
                        </a:rPr>
                        <a:t>caller</a:t>
                      </a:r>
                      <a:endParaRPr sz="1800">
                        <a:latin typeface="Palatino Linotype"/>
                        <a:cs typeface="Palatino Linotype"/>
                      </a:endParaRPr>
                    </a:p>
                  </a:txBody>
                  <a:tcPr marL="0" marR="0" marT="317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370840">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gn="ctr">
                        <a:lnSpc>
                          <a:spcPct val="100000"/>
                        </a:lnSpc>
                        <a:spcBef>
                          <a:spcPts val="254"/>
                        </a:spcBef>
                      </a:pPr>
                      <a:r>
                        <a:rPr sz="1800" spc="-10" dirty="0">
                          <a:latin typeface="Palatino Linotype"/>
                          <a:cs typeface="Palatino Linotype"/>
                        </a:rPr>
                        <a:t>callee</a:t>
                      </a:r>
                      <a:endParaRPr sz="1800">
                        <a:latin typeface="Palatino Linotype"/>
                        <a:cs typeface="Palatino Linotype"/>
                      </a:endParaRPr>
                    </a:p>
                  </a:txBody>
                  <a:tcPr marL="0" marR="0" marT="3238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370840">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nSpc>
                          <a:spcPct val="100000"/>
                        </a:lnSpc>
                      </a:pPr>
                      <a:endParaRPr sz="18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bl>
          </a:graphicData>
        </a:graphic>
      </p:graphicFrame>
      <p:grpSp>
        <p:nvGrpSpPr>
          <p:cNvPr id="41" name="object 17">
            <a:extLst>
              <a:ext uri="{FF2B5EF4-FFF2-40B4-BE49-F238E27FC236}">
                <a16:creationId xmlns:a16="http://schemas.microsoft.com/office/drawing/2014/main" id="{396BEBB2-98F8-6C87-2BC0-E26A8436F1B1}"/>
              </a:ext>
            </a:extLst>
          </p:cNvPr>
          <p:cNvGrpSpPr/>
          <p:nvPr/>
        </p:nvGrpSpPr>
        <p:grpSpPr>
          <a:xfrm>
            <a:off x="8109572" y="260891"/>
            <a:ext cx="398145" cy="478790"/>
            <a:chOff x="8109572" y="260891"/>
            <a:chExt cx="398145" cy="478790"/>
          </a:xfrm>
        </p:grpSpPr>
        <p:sp>
          <p:nvSpPr>
            <p:cNvPr id="42" name="object 18">
              <a:extLst>
                <a:ext uri="{FF2B5EF4-FFF2-40B4-BE49-F238E27FC236}">
                  <a16:creationId xmlns:a16="http://schemas.microsoft.com/office/drawing/2014/main" id="{C4689F68-1C62-1511-F76C-0D4956473139}"/>
                </a:ext>
              </a:extLst>
            </p:cNvPr>
            <p:cNvSpPr/>
            <p:nvPr/>
          </p:nvSpPr>
          <p:spPr>
            <a:xfrm>
              <a:off x="8109572" y="260895"/>
              <a:ext cx="398145" cy="478790"/>
            </a:xfrm>
            <a:custGeom>
              <a:avLst/>
              <a:gdLst/>
              <a:ahLst/>
              <a:cxnLst/>
              <a:rect l="l" t="t" r="r" b="b"/>
              <a:pathLst>
                <a:path w="398145" h="478790">
                  <a:moveTo>
                    <a:pt x="396024" y="420700"/>
                  </a:moveTo>
                  <a:lnTo>
                    <a:pt x="36080" y="420700"/>
                  </a:lnTo>
                  <a:lnTo>
                    <a:pt x="95021" y="386308"/>
                  </a:lnTo>
                  <a:lnTo>
                    <a:pt x="96050" y="382422"/>
                  </a:lnTo>
                  <a:lnTo>
                    <a:pt x="92519" y="376364"/>
                  </a:lnTo>
                  <a:lnTo>
                    <a:pt x="88620" y="375348"/>
                  </a:lnTo>
                  <a:lnTo>
                    <a:pt x="0" y="427050"/>
                  </a:lnTo>
                  <a:lnTo>
                    <a:pt x="88620" y="478751"/>
                  </a:lnTo>
                  <a:lnTo>
                    <a:pt x="92519" y="477723"/>
                  </a:lnTo>
                  <a:lnTo>
                    <a:pt x="96050" y="471665"/>
                  </a:lnTo>
                  <a:lnTo>
                    <a:pt x="95021" y="467779"/>
                  </a:lnTo>
                  <a:lnTo>
                    <a:pt x="36080" y="433400"/>
                  </a:lnTo>
                  <a:lnTo>
                    <a:pt x="396024" y="433400"/>
                  </a:lnTo>
                  <a:lnTo>
                    <a:pt x="396024" y="420700"/>
                  </a:lnTo>
                  <a:close/>
                </a:path>
                <a:path w="398145" h="478790">
                  <a:moveTo>
                    <a:pt x="397725" y="45351"/>
                  </a:moveTo>
                  <a:lnTo>
                    <a:pt x="37795" y="45351"/>
                  </a:lnTo>
                  <a:lnTo>
                    <a:pt x="96735" y="10972"/>
                  </a:lnTo>
                  <a:lnTo>
                    <a:pt x="97751" y="7086"/>
                  </a:lnTo>
                  <a:lnTo>
                    <a:pt x="94221" y="1028"/>
                  </a:lnTo>
                  <a:lnTo>
                    <a:pt x="90335" y="0"/>
                  </a:lnTo>
                  <a:lnTo>
                    <a:pt x="1701" y="51701"/>
                  </a:lnTo>
                  <a:lnTo>
                    <a:pt x="90335" y="103403"/>
                  </a:lnTo>
                  <a:lnTo>
                    <a:pt x="94221" y="102387"/>
                  </a:lnTo>
                  <a:lnTo>
                    <a:pt x="97751" y="96316"/>
                  </a:lnTo>
                  <a:lnTo>
                    <a:pt x="96735" y="92430"/>
                  </a:lnTo>
                  <a:lnTo>
                    <a:pt x="37795" y="58051"/>
                  </a:lnTo>
                  <a:lnTo>
                    <a:pt x="397725" y="58051"/>
                  </a:lnTo>
                  <a:lnTo>
                    <a:pt x="397725" y="45351"/>
                  </a:lnTo>
                  <a:close/>
                </a:path>
              </a:pathLst>
            </a:custGeom>
            <a:solidFill>
              <a:srgbClr val="FF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3" name="object 19">
              <a:extLst>
                <a:ext uri="{FF2B5EF4-FFF2-40B4-BE49-F238E27FC236}">
                  <a16:creationId xmlns:a16="http://schemas.microsoft.com/office/drawing/2014/main" id="{A7E7687A-9E66-27E3-8CC0-1DB362BE91E8}"/>
                </a:ext>
              </a:extLst>
            </p:cNvPr>
            <p:cNvSpPr/>
            <p:nvPr/>
          </p:nvSpPr>
          <p:spPr>
            <a:xfrm>
              <a:off x="8320773" y="312592"/>
              <a:ext cx="103505" cy="375920"/>
            </a:xfrm>
            <a:custGeom>
              <a:avLst/>
              <a:gdLst/>
              <a:ahLst/>
              <a:cxnLst/>
              <a:rect l="l" t="t" r="r" b="b"/>
              <a:pathLst>
                <a:path w="103504" h="375920">
                  <a:moveTo>
                    <a:pt x="58051" y="0"/>
                  </a:moveTo>
                  <a:lnTo>
                    <a:pt x="45351" y="0"/>
                  </a:lnTo>
                  <a:lnTo>
                    <a:pt x="45351" y="50800"/>
                  </a:lnTo>
                  <a:lnTo>
                    <a:pt x="58051" y="50800"/>
                  </a:lnTo>
                  <a:lnTo>
                    <a:pt x="58051" y="0"/>
                  </a:lnTo>
                  <a:close/>
                </a:path>
                <a:path w="103504" h="375920">
                  <a:moveTo>
                    <a:pt x="58051" y="88900"/>
                  </a:moveTo>
                  <a:lnTo>
                    <a:pt x="45351" y="88900"/>
                  </a:lnTo>
                  <a:lnTo>
                    <a:pt x="45351" y="139700"/>
                  </a:lnTo>
                  <a:lnTo>
                    <a:pt x="58051" y="139700"/>
                  </a:lnTo>
                  <a:lnTo>
                    <a:pt x="58051" y="88900"/>
                  </a:lnTo>
                  <a:close/>
                </a:path>
                <a:path w="103504" h="375920">
                  <a:moveTo>
                    <a:pt x="58051" y="177800"/>
                  </a:moveTo>
                  <a:lnTo>
                    <a:pt x="45351" y="177800"/>
                  </a:lnTo>
                  <a:lnTo>
                    <a:pt x="45351" y="228600"/>
                  </a:lnTo>
                  <a:lnTo>
                    <a:pt x="58051" y="228600"/>
                  </a:lnTo>
                  <a:lnTo>
                    <a:pt x="58051" y="177800"/>
                  </a:lnTo>
                  <a:close/>
                </a:path>
                <a:path w="103504" h="375920">
                  <a:moveTo>
                    <a:pt x="7081" y="279318"/>
                  </a:moveTo>
                  <a:lnTo>
                    <a:pt x="1023" y="282853"/>
                  </a:lnTo>
                  <a:lnTo>
                    <a:pt x="0" y="286741"/>
                  </a:lnTo>
                  <a:lnTo>
                    <a:pt x="51702" y="375373"/>
                  </a:lnTo>
                  <a:lnTo>
                    <a:pt x="59054" y="362771"/>
                  </a:lnTo>
                  <a:lnTo>
                    <a:pt x="45352" y="362771"/>
                  </a:lnTo>
                  <a:lnTo>
                    <a:pt x="45352" y="355600"/>
                  </a:lnTo>
                  <a:lnTo>
                    <a:pt x="48534" y="355600"/>
                  </a:lnTo>
                  <a:lnTo>
                    <a:pt x="51702" y="350168"/>
                  </a:lnTo>
                  <a:lnTo>
                    <a:pt x="10970" y="280342"/>
                  </a:lnTo>
                  <a:lnTo>
                    <a:pt x="7081" y="279318"/>
                  </a:lnTo>
                  <a:close/>
                </a:path>
                <a:path w="103504" h="375920">
                  <a:moveTo>
                    <a:pt x="48534" y="355600"/>
                  </a:moveTo>
                  <a:lnTo>
                    <a:pt x="45352" y="355600"/>
                  </a:lnTo>
                  <a:lnTo>
                    <a:pt x="45352" y="362771"/>
                  </a:lnTo>
                  <a:lnTo>
                    <a:pt x="58052" y="362771"/>
                  </a:lnTo>
                  <a:lnTo>
                    <a:pt x="58052" y="359571"/>
                  </a:lnTo>
                  <a:lnTo>
                    <a:pt x="46217" y="359571"/>
                  </a:lnTo>
                  <a:lnTo>
                    <a:pt x="48534" y="355600"/>
                  </a:lnTo>
                  <a:close/>
                </a:path>
                <a:path w="103504" h="375920">
                  <a:moveTo>
                    <a:pt x="63237" y="355600"/>
                  </a:moveTo>
                  <a:lnTo>
                    <a:pt x="58052" y="355600"/>
                  </a:lnTo>
                  <a:lnTo>
                    <a:pt x="58052" y="362771"/>
                  </a:lnTo>
                  <a:lnTo>
                    <a:pt x="59054" y="362771"/>
                  </a:lnTo>
                  <a:lnTo>
                    <a:pt x="63237" y="355600"/>
                  </a:lnTo>
                  <a:close/>
                </a:path>
                <a:path w="103504" h="375920">
                  <a:moveTo>
                    <a:pt x="51702" y="350168"/>
                  </a:moveTo>
                  <a:lnTo>
                    <a:pt x="46217" y="359571"/>
                  </a:lnTo>
                  <a:lnTo>
                    <a:pt x="57188" y="359571"/>
                  </a:lnTo>
                  <a:lnTo>
                    <a:pt x="51702" y="350168"/>
                  </a:lnTo>
                  <a:close/>
                </a:path>
                <a:path w="103504" h="375920">
                  <a:moveTo>
                    <a:pt x="96323" y="279318"/>
                  </a:moveTo>
                  <a:lnTo>
                    <a:pt x="92434" y="280342"/>
                  </a:lnTo>
                  <a:lnTo>
                    <a:pt x="51702" y="350168"/>
                  </a:lnTo>
                  <a:lnTo>
                    <a:pt x="57188" y="359571"/>
                  </a:lnTo>
                  <a:lnTo>
                    <a:pt x="58052" y="359571"/>
                  </a:lnTo>
                  <a:lnTo>
                    <a:pt x="58052" y="355600"/>
                  </a:lnTo>
                  <a:lnTo>
                    <a:pt x="63237" y="355600"/>
                  </a:lnTo>
                  <a:lnTo>
                    <a:pt x="103404" y="286741"/>
                  </a:lnTo>
                  <a:lnTo>
                    <a:pt x="102381" y="282853"/>
                  </a:lnTo>
                  <a:lnTo>
                    <a:pt x="96323" y="279318"/>
                  </a:lnTo>
                  <a:close/>
                </a:path>
                <a:path w="103504" h="375920">
                  <a:moveTo>
                    <a:pt x="58051" y="266700"/>
                  </a:moveTo>
                  <a:lnTo>
                    <a:pt x="45351" y="266700"/>
                  </a:lnTo>
                  <a:lnTo>
                    <a:pt x="45352" y="317500"/>
                  </a:lnTo>
                  <a:lnTo>
                    <a:pt x="58052" y="317500"/>
                  </a:lnTo>
                  <a:lnTo>
                    <a:pt x="58051" y="266700"/>
                  </a:lnTo>
                  <a:close/>
                </a:path>
              </a:pathLst>
            </a:custGeom>
            <a:solidFill>
              <a:srgbClr val="4472C4"/>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44" name="object 20">
            <a:extLst>
              <a:ext uri="{FF2B5EF4-FFF2-40B4-BE49-F238E27FC236}">
                <a16:creationId xmlns:a16="http://schemas.microsoft.com/office/drawing/2014/main" id="{A7FBAFD3-5C3A-65B7-B217-C4C60EF1846F}"/>
              </a:ext>
            </a:extLst>
          </p:cNvPr>
          <p:cNvSpPr txBox="1"/>
          <p:nvPr/>
        </p:nvSpPr>
        <p:spPr>
          <a:xfrm>
            <a:off x="8670069" y="12700"/>
            <a:ext cx="255904" cy="781685"/>
          </a:xfrm>
          <a:prstGeom prst="rect">
            <a:avLst/>
          </a:prstGeom>
        </p:spPr>
        <p:txBody>
          <a:bodyPr vert="horz" wrap="square" lIns="0" tIns="12700" rIns="0" bIns="0" rtlCol="0">
            <a:spAutoFit/>
          </a:bodyPr>
          <a:lstStyle/>
          <a:p>
            <a:pPr marL="12700" marR="5080" indent="1270">
              <a:lnSpc>
                <a:spcPct val="155000"/>
              </a:lnSpc>
              <a:spcBef>
                <a:spcPts val="100"/>
              </a:spcBef>
            </a:pPr>
            <a:r>
              <a:rPr sz="1600" spc="-25" dirty="0">
                <a:solidFill>
                  <a:srgbClr val="FF0000"/>
                </a:solidFill>
                <a:latin typeface="Palatino Linotype"/>
                <a:cs typeface="Palatino Linotype"/>
              </a:rPr>
              <a:t>SP SP</a:t>
            </a:r>
            <a:endParaRPr sz="1600">
              <a:solidFill>
                <a:sysClr val="windowText" lastClr="000000"/>
              </a:solidFill>
              <a:latin typeface="Palatino Linotype"/>
              <a:cs typeface="Palatino Linotype"/>
            </a:endParaRPr>
          </a:p>
        </p:txBody>
      </p:sp>
      <p:sp>
        <p:nvSpPr>
          <p:cNvPr id="45" name="object 21">
            <a:extLst>
              <a:ext uri="{FF2B5EF4-FFF2-40B4-BE49-F238E27FC236}">
                <a16:creationId xmlns:a16="http://schemas.microsoft.com/office/drawing/2014/main" id="{7BBB034E-39AD-5EAC-B0BE-B18D5BDB3DDF}"/>
              </a:ext>
            </a:extLst>
          </p:cNvPr>
          <p:cNvSpPr txBox="1"/>
          <p:nvPr/>
        </p:nvSpPr>
        <p:spPr>
          <a:xfrm>
            <a:off x="112494" y="2480564"/>
            <a:ext cx="514350" cy="299720"/>
          </a:xfrm>
          <a:prstGeom prst="rect">
            <a:avLst/>
          </a:prstGeom>
        </p:spPr>
        <p:txBody>
          <a:bodyPr vert="horz" wrap="square" lIns="0" tIns="12700" rIns="0" bIns="0" rtlCol="0">
            <a:spAutoFit/>
          </a:bodyPr>
          <a:lstStyle/>
          <a:p>
            <a:pPr marL="12700">
              <a:spcBef>
                <a:spcPts val="100"/>
              </a:spcBef>
            </a:pPr>
            <a:r>
              <a:rPr spc="-20" dirty="0">
                <a:solidFill>
                  <a:srgbClr val="FF0000"/>
                </a:solidFill>
                <a:latin typeface="Palatino Linotype"/>
                <a:cs typeface="Palatino Linotype"/>
              </a:rPr>
              <a:t>Each</a:t>
            </a:r>
            <a:endParaRPr>
              <a:solidFill>
                <a:sysClr val="windowText" lastClr="000000"/>
              </a:solidFill>
              <a:latin typeface="Palatino Linotype"/>
              <a:cs typeface="Palatino Linotype"/>
            </a:endParaRPr>
          </a:p>
        </p:txBody>
      </p:sp>
      <p:sp>
        <p:nvSpPr>
          <p:cNvPr id="46" name="object 22">
            <a:extLst>
              <a:ext uri="{FF2B5EF4-FFF2-40B4-BE49-F238E27FC236}">
                <a16:creationId xmlns:a16="http://schemas.microsoft.com/office/drawing/2014/main" id="{66AF0B8B-6C57-D58C-B79A-F5FEE156D141}"/>
              </a:ext>
            </a:extLst>
          </p:cNvPr>
          <p:cNvSpPr txBox="1"/>
          <p:nvPr/>
        </p:nvSpPr>
        <p:spPr>
          <a:xfrm>
            <a:off x="112494" y="2745740"/>
            <a:ext cx="1915160" cy="580390"/>
          </a:xfrm>
          <a:prstGeom prst="rect">
            <a:avLst/>
          </a:prstGeom>
        </p:spPr>
        <p:txBody>
          <a:bodyPr vert="horz" wrap="square" lIns="0" tIns="12700" rIns="0" bIns="0" rtlCol="0">
            <a:spAutoFit/>
          </a:bodyPr>
          <a:lstStyle/>
          <a:p>
            <a:pPr marL="12700">
              <a:spcBef>
                <a:spcPts val="100"/>
              </a:spcBef>
              <a:tabLst>
                <a:tab pos="1901825" algn="l"/>
              </a:tabLst>
            </a:pPr>
            <a:r>
              <a:rPr dirty="0">
                <a:solidFill>
                  <a:srgbClr val="FF0000"/>
                </a:solidFill>
                <a:latin typeface="Palatino Linotype"/>
                <a:cs typeface="Palatino Linotype"/>
              </a:rPr>
              <a:t>takes 4</a:t>
            </a:r>
            <a:r>
              <a:rPr spc="525" dirty="0">
                <a:solidFill>
                  <a:srgbClr val="FF0000"/>
                </a:solidFill>
                <a:latin typeface="Palatino Linotype"/>
                <a:cs typeface="Palatino Linotype"/>
              </a:rPr>
              <a:t> </a:t>
            </a:r>
            <a:r>
              <a:rPr u="sng" dirty="0">
                <a:solidFill>
                  <a:srgbClr val="FF0000"/>
                </a:solidFill>
                <a:uFill>
                  <a:solidFill>
                    <a:srgbClr val="FF0000"/>
                  </a:solidFill>
                </a:uFill>
                <a:latin typeface="Times New Roman"/>
                <a:cs typeface="Times New Roman"/>
              </a:rPr>
              <a:t>	</a:t>
            </a:r>
            <a:endParaRPr>
              <a:solidFill>
                <a:sysClr val="windowText" lastClr="000000"/>
              </a:solidFill>
              <a:latin typeface="Times New Roman"/>
              <a:cs typeface="Times New Roman"/>
            </a:endParaRPr>
          </a:p>
          <a:p>
            <a:pPr marL="12700">
              <a:spcBef>
                <a:spcPts val="45"/>
              </a:spcBef>
              <a:tabLst>
                <a:tab pos="829944" algn="l"/>
                <a:tab pos="1229995" algn="l"/>
              </a:tabLst>
            </a:pPr>
            <a:r>
              <a:rPr spc="-10" dirty="0">
                <a:solidFill>
                  <a:srgbClr val="FF0000"/>
                </a:solidFill>
                <a:latin typeface="Palatino Linotype"/>
                <a:cs typeface="Palatino Linotype"/>
              </a:rPr>
              <a:t>bytes</a:t>
            </a:r>
            <a:r>
              <a:rPr dirty="0">
                <a:solidFill>
                  <a:srgbClr val="FF0000"/>
                </a:solidFill>
                <a:latin typeface="Palatino Linotype"/>
                <a:cs typeface="Palatino Linotype"/>
              </a:rPr>
              <a:t>	</a:t>
            </a:r>
            <a:r>
              <a:rPr u="sng" dirty="0">
                <a:solidFill>
                  <a:srgbClr val="FF0000"/>
                </a:solidFill>
                <a:uFill>
                  <a:solidFill>
                    <a:srgbClr val="FF0000"/>
                  </a:solidFill>
                </a:uFill>
                <a:latin typeface="Times New Roman"/>
                <a:cs typeface="Times New Roman"/>
              </a:rPr>
              <a:t>	</a:t>
            </a:r>
            <a:endParaRPr>
              <a:solidFill>
                <a:sysClr val="windowText" lastClr="000000"/>
              </a:solidFill>
              <a:latin typeface="Times New Roman"/>
              <a:cs typeface="Times New Roman"/>
            </a:endParaRPr>
          </a:p>
        </p:txBody>
      </p:sp>
    </p:spTree>
    <p:extLst>
      <p:ext uri="{BB962C8B-B14F-4D97-AF65-F5344CB8AC3E}">
        <p14:creationId xmlns:p14="http://schemas.microsoft.com/office/powerpoint/2010/main" val="9564627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19</a:t>
            </a:fld>
            <a:endParaRPr lang="en-US"/>
          </a:p>
        </p:txBody>
      </p:sp>
      <p:sp>
        <p:nvSpPr>
          <p:cNvPr id="26" name="object 2">
            <a:extLst>
              <a:ext uri="{FF2B5EF4-FFF2-40B4-BE49-F238E27FC236}">
                <a16:creationId xmlns:a16="http://schemas.microsoft.com/office/drawing/2014/main" id="{48952BA3-F8F6-D531-8BE5-21B57E7C2192}"/>
              </a:ext>
            </a:extLst>
          </p:cNvPr>
          <p:cNvSpPr txBox="1">
            <a:spLocks/>
          </p:cNvSpPr>
          <p:nvPr/>
        </p:nvSpPr>
        <p:spPr>
          <a:xfrm>
            <a:off x="707390" y="524763"/>
            <a:ext cx="2027555" cy="63500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4000" b="1" i="0" u="none" strike="noStrike" kern="0" cap="none" spc="-10" normalizeH="0" baseline="0" noProof="0">
                <a:ln>
                  <a:noFill/>
                </a:ln>
                <a:solidFill>
                  <a:sysClr val="windowText" lastClr="000000"/>
                </a:solidFill>
                <a:effectLst/>
                <a:uLnTx/>
                <a:uFillTx/>
                <a:latin typeface="Palatino Linotype"/>
                <a:ea typeface="+mj-ea"/>
              </a:rPr>
              <a:t>Example</a:t>
            </a:r>
            <a:endParaRPr kumimoji="0" lang="en-US" sz="4000" b="1" i="0" u="none" strike="noStrike" kern="0" cap="none" spc="-10" normalizeH="0" baseline="0" noProof="0" dirty="0">
              <a:ln>
                <a:noFill/>
              </a:ln>
              <a:solidFill>
                <a:sysClr val="windowText" lastClr="000000"/>
              </a:solidFill>
              <a:effectLst/>
              <a:uLnTx/>
              <a:uFillTx/>
              <a:latin typeface="Palatino Linotype"/>
              <a:ea typeface="+mj-ea"/>
            </a:endParaRPr>
          </a:p>
        </p:txBody>
      </p:sp>
      <p:grpSp>
        <p:nvGrpSpPr>
          <p:cNvPr id="27" name="object 3">
            <a:extLst>
              <a:ext uri="{FF2B5EF4-FFF2-40B4-BE49-F238E27FC236}">
                <a16:creationId xmlns:a16="http://schemas.microsoft.com/office/drawing/2014/main" id="{51D22C3F-DBCC-2782-D14A-9080D089A10B}"/>
              </a:ext>
            </a:extLst>
          </p:cNvPr>
          <p:cNvGrpSpPr/>
          <p:nvPr/>
        </p:nvGrpSpPr>
        <p:grpSpPr>
          <a:xfrm>
            <a:off x="750841" y="1535139"/>
            <a:ext cx="926465" cy="4303395"/>
            <a:chOff x="750841" y="1535139"/>
            <a:chExt cx="926465" cy="4303395"/>
          </a:xfrm>
        </p:grpSpPr>
        <p:pic>
          <p:nvPicPr>
            <p:cNvPr id="28" name="object 4">
              <a:extLst>
                <a:ext uri="{FF2B5EF4-FFF2-40B4-BE49-F238E27FC236}">
                  <a16:creationId xmlns:a16="http://schemas.microsoft.com/office/drawing/2014/main" id="{E79885D6-965F-2A50-7E57-54C41DF2B42E}"/>
                </a:ext>
              </a:extLst>
            </p:cNvPr>
            <p:cNvPicPr/>
            <p:nvPr/>
          </p:nvPicPr>
          <p:blipFill>
            <a:blip r:embed="rId3" cstate="print"/>
            <a:stretch>
              <a:fillRect/>
            </a:stretch>
          </p:blipFill>
          <p:spPr>
            <a:xfrm>
              <a:off x="779507" y="1605919"/>
              <a:ext cx="857547" cy="4146176"/>
            </a:xfrm>
            <a:prstGeom prst="rect">
              <a:avLst/>
            </a:prstGeom>
          </p:spPr>
        </p:pic>
        <p:sp>
          <p:nvSpPr>
            <p:cNvPr id="29" name="object 5">
              <a:extLst>
                <a:ext uri="{FF2B5EF4-FFF2-40B4-BE49-F238E27FC236}">
                  <a16:creationId xmlns:a16="http://schemas.microsoft.com/office/drawing/2014/main" id="{173D869F-2B9C-B7A1-B795-62B47A555287}"/>
                </a:ext>
              </a:extLst>
            </p:cNvPr>
            <p:cNvSpPr/>
            <p:nvPr/>
          </p:nvSpPr>
          <p:spPr>
            <a:xfrm>
              <a:off x="755603" y="1539901"/>
              <a:ext cx="916940" cy="4293870"/>
            </a:xfrm>
            <a:custGeom>
              <a:avLst/>
              <a:gdLst/>
              <a:ahLst/>
              <a:cxnLst/>
              <a:rect l="l" t="t" r="r" b="b"/>
              <a:pathLst>
                <a:path w="916939" h="4293870">
                  <a:moveTo>
                    <a:pt x="0" y="0"/>
                  </a:moveTo>
                  <a:lnTo>
                    <a:pt x="916841" y="0"/>
                  </a:lnTo>
                  <a:lnTo>
                    <a:pt x="916841" y="4293525"/>
                  </a:lnTo>
                  <a:lnTo>
                    <a:pt x="0" y="4293525"/>
                  </a:lnTo>
                  <a:lnTo>
                    <a:pt x="0" y="0"/>
                  </a:lnTo>
                  <a:close/>
                </a:path>
              </a:pathLst>
            </a:custGeom>
            <a:ln w="952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grpSp>
        <p:nvGrpSpPr>
          <p:cNvPr id="30" name="object 6">
            <a:extLst>
              <a:ext uri="{FF2B5EF4-FFF2-40B4-BE49-F238E27FC236}">
                <a16:creationId xmlns:a16="http://schemas.microsoft.com/office/drawing/2014/main" id="{425D2183-4545-E7CD-86C5-683636BE2161}"/>
              </a:ext>
            </a:extLst>
          </p:cNvPr>
          <p:cNvGrpSpPr/>
          <p:nvPr/>
        </p:nvGrpSpPr>
        <p:grpSpPr>
          <a:xfrm>
            <a:off x="2558805" y="1535139"/>
            <a:ext cx="5852160" cy="2736850"/>
            <a:chOff x="2558805" y="1535139"/>
            <a:chExt cx="5852160" cy="2736850"/>
          </a:xfrm>
        </p:grpSpPr>
        <p:pic>
          <p:nvPicPr>
            <p:cNvPr id="31" name="object 7">
              <a:extLst>
                <a:ext uri="{FF2B5EF4-FFF2-40B4-BE49-F238E27FC236}">
                  <a16:creationId xmlns:a16="http://schemas.microsoft.com/office/drawing/2014/main" id="{43267BA7-B787-6F10-BD43-12062FA09B38}"/>
                </a:ext>
              </a:extLst>
            </p:cNvPr>
            <p:cNvPicPr/>
            <p:nvPr/>
          </p:nvPicPr>
          <p:blipFill>
            <a:blip r:embed="rId4" cstate="print"/>
            <a:stretch>
              <a:fillRect/>
            </a:stretch>
          </p:blipFill>
          <p:spPr>
            <a:xfrm>
              <a:off x="2671046" y="1610584"/>
              <a:ext cx="5480654" cy="2600178"/>
            </a:xfrm>
            <a:prstGeom prst="rect">
              <a:avLst/>
            </a:prstGeom>
          </p:spPr>
        </p:pic>
        <p:sp>
          <p:nvSpPr>
            <p:cNvPr id="32" name="object 8">
              <a:extLst>
                <a:ext uri="{FF2B5EF4-FFF2-40B4-BE49-F238E27FC236}">
                  <a16:creationId xmlns:a16="http://schemas.microsoft.com/office/drawing/2014/main" id="{0981061F-8141-D7E3-762A-ED9A339CBBD7}"/>
                </a:ext>
              </a:extLst>
            </p:cNvPr>
            <p:cNvSpPr/>
            <p:nvPr/>
          </p:nvSpPr>
          <p:spPr>
            <a:xfrm>
              <a:off x="2563567" y="1539901"/>
              <a:ext cx="5842635" cy="2727325"/>
            </a:xfrm>
            <a:custGeom>
              <a:avLst/>
              <a:gdLst/>
              <a:ahLst/>
              <a:cxnLst/>
              <a:rect l="l" t="t" r="r" b="b"/>
              <a:pathLst>
                <a:path w="5842634" h="2727325">
                  <a:moveTo>
                    <a:pt x="0" y="0"/>
                  </a:moveTo>
                  <a:lnTo>
                    <a:pt x="5842350" y="0"/>
                  </a:lnTo>
                  <a:lnTo>
                    <a:pt x="5842350" y="2726895"/>
                  </a:lnTo>
                  <a:lnTo>
                    <a:pt x="0" y="2726895"/>
                  </a:lnTo>
                  <a:lnTo>
                    <a:pt x="0" y="0"/>
                  </a:lnTo>
                  <a:close/>
                </a:path>
              </a:pathLst>
            </a:custGeom>
            <a:ln w="952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33" name="object 9">
              <a:extLst>
                <a:ext uri="{FF2B5EF4-FFF2-40B4-BE49-F238E27FC236}">
                  <a16:creationId xmlns:a16="http://schemas.microsoft.com/office/drawing/2014/main" id="{71A53EC5-42EF-FA83-2DBD-69CC5A3A19AD}"/>
                </a:ext>
              </a:extLst>
            </p:cNvPr>
            <p:cNvSpPr/>
            <p:nvPr/>
          </p:nvSpPr>
          <p:spPr>
            <a:xfrm>
              <a:off x="3179616" y="2397744"/>
              <a:ext cx="5124450" cy="789305"/>
            </a:xfrm>
            <a:custGeom>
              <a:avLst/>
              <a:gdLst/>
              <a:ahLst/>
              <a:cxnLst/>
              <a:rect l="l" t="t" r="r" b="b"/>
              <a:pathLst>
                <a:path w="5124450" h="789305">
                  <a:moveTo>
                    <a:pt x="0" y="0"/>
                  </a:moveTo>
                  <a:lnTo>
                    <a:pt x="5123873" y="0"/>
                  </a:lnTo>
                  <a:lnTo>
                    <a:pt x="5123873" y="788800"/>
                  </a:lnTo>
                  <a:lnTo>
                    <a:pt x="0" y="788800"/>
                  </a:lnTo>
                  <a:lnTo>
                    <a:pt x="0" y="0"/>
                  </a:lnTo>
                  <a:close/>
                </a:path>
              </a:pathLst>
            </a:custGeom>
            <a:ln w="19050">
              <a:solidFill>
                <a:srgbClr val="FF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34" name="object 10">
              <a:extLst>
                <a:ext uri="{FF2B5EF4-FFF2-40B4-BE49-F238E27FC236}">
                  <a16:creationId xmlns:a16="http://schemas.microsoft.com/office/drawing/2014/main" id="{1712D2E1-9E34-EF82-994E-743C0D2027E1}"/>
                </a:ext>
              </a:extLst>
            </p:cNvPr>
            <p:cNvSpPr/>
            <p:nvPr/>
          </p:nvSpPr>
          <p:spPr>
            <a:xfrm>
              <a:off x="3179616" y="3224397"/>
              <a:ext cx="5124450" cy="223520"/>
            </a:xfrm>
            <a:custGeom>
              <a:avLst/>
              <a:gdLst/>
              <a:ahLst/>
              <a:cxnLst/>
              <a:rect l="l" t="t" r="r" b="b"/>
              <a:pathLst>
                <a:path w="5124450" h="223520">
                  <a:moveTo>
                    <a:pt x="0" y="0"/>
                  </a:moveTo>
                  <a:lnTo>
                    <a:pt x="5123873" y="0"/>
                  </a:lnTo>
                  <a:lnTo>
                    <a:pt x="5123873" y="223074"/>
                  </a:lnTo>
                  <a:lnTo>
                    <a:pt x="0" y="223074"/>
                  </a:lnTo>
                  <a:lnTo>
                    <a:pt x="0" y="0"/>
                  </a:lnTo>
                  <a:close/>
                </a:path>
              </a:pathLst>
            </a:custGeom>
            <a:ln w="19050">
              <a:solidFill>
                <a:srgbClr val="0432FF"/>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grpSp>
        <p:nvGrpSpPr>
          <p:cNvPr id="35" name="object 11">
            <a:extLst>
              <a:ext uri="{FF2B5EF4-FFF2-40B4-BE49-F238E27FC236}">
                <a16:creationId xmlns:a16="http://schemas.microsoft.com/office/drawing/2014/main" id="{9F2359B9-01C0-2DF2-0842-8DABDBFFA664}"/>
              </a:ext>
            </a:extLst>
          </p:cNvPr>
          <p:cNvGrpSpPr/>
          <p:nvPr/>
        </p:nvGrpSpPr>
        <p:grpSpPr>
          <a:xfrm>
            <a:off x="2558805" y="4760786"/>
            <a:ext cx="4670425" cy="1077595"/>
            <a:chOff x="2558805" y="4760786"/>
            <a:chExt cx="4670425" cy="1077595"/>
          </a:xfrm>
        </p:grpSpPr>
        <p:pic>
          <p:nvPicPr>
            <p:cNvPr id="36" name="object 12">
              <a:extLst>
                <a:ext uri="{FF2B5EF4-FFF2-40B4-BE49-F238E27FC236}">
                  <a16:creationId xmlns:a16="http://schemas.microsoft.com/office/drawing/2014/main" id="{EF480AFB-F33F-D8BD-6489-168B396E3604}"/>
                </a:ext>
              </a:extLst>
            </p:cNvPr>
            <p:cNvPicPr/>
            <p:nvPr/>
          </p:nvPicPr>
          <p:blipFill>
            <a:blip r:embed="rId5" cstate="print"/>
            <a:stretch>
              <a:fillRect/>
            </a:stretch>
          </p:blipFill>
          <p:spPr>
            <a:xfrm>
              <a:off x="2672457" y="4832163"/>
              <a:ext cx="4269240" cy="927776"/>
            </a:xfrm>
            <a:prstGeom prst="rect">
              <a:avLst/>
            </a:prstGeom>
          </p:spPr>
        </p:pic>
        <p:sp>
          <p:nvSpPr>
            <p:cNvPr id="37" name="object 13">
              <a:extLst>
                <a:ext uri="{FF2B5EF4-FFF2-40B4-BE49-F238E27FC236}">
                  <a16:creationId xmlns:a16="http://schemas.microsoft.com/office/drawing/2014/main" id="{CCD77E72-3583-47CF-7C2F-810075EA4F57}"/>
                </a:ext>
              </a:extLst>
            </p:cNvPr>
            <p:cNvSpPr/>
            <p:nvPr/>
          </p:nvSpPr>
          <p:spPr>
            <a:xfrm>
              <a:off x="2563567" y="4765549"/>
              <a:ext cx="4660900" cy="1068070"/>
            </a:xfrm>
            <a:custGeom>
              <a:avLst/>
              <a:gdLst/>
              <a:ahLst/>
              <a:cxnLst/>
              <a:rect l="l" t="t" r="r" b="b"/>
              <a:pathLst>
                <a:path w="4660900" h="1068070">
                  <a:moveTo>
                    <a:pt x="0" y="0"/>
                  </a:moveTo>
                  <a:lnTo>
                    <a:pt x="4660567" y="0"/>
                  </a:lnTo>
                  <a:lnTo>
                    <a:pt x="4660567" y="1067877"/>
                  </a:lnTo>
                  <a:lnTo>
                    <a:pt x="0" y="1067877"/>
                  </a:lnTo>
                  <a:lnTo>
                    <a:pt x="0" y="0"/>
                  </a:lnTo>
                  <a:close/>
                </a:path>
              </a:pathLst>
            </a:custGeom>
            <a:ln w="952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38" name="object 14">
              <a:extLst>
                <a:ext uri="{FF2B5EF4-FFF2-40B4-BE49-F238E27FC236}">
                  <a16:creationId xmlns:a16="http://schemas.microsoft.com/office/drawing/2014/main" id="{587AD05A-8A17-49D3-6CCE-1181B7ED7D09}"/>
                </a:ext>
              </a:extLst>
            </p:cNvPr>
            <p:cNvSpPr/>
            <p:nvPr/>
          </p:nvSpPr>
          <p:spPr>
            <a:xfrm>
              <a:off x="3179616" y="5322571"/>
              <a:ext cx="3590925" cy="223520"/>
            </a:xfrm>
            <a:custGeom>
              <a:avLst/>
              <a:gdLst/>
              <a:ahLst/>
              <a:cxnLst/>
              <a:rect l="l" t="t" r="r" b="b"/>
              <a:pathLst>
                <a:path w="3590925" h="223520">
                  <a:moveTo>
                    <a:pt x="0" y="0"/>
                  </a:moveTo>
                  <a:lnTo>
                    <a:pt x="3590639" y="0"/>
                  </a:lnTo>
                  <a:lnTo>
                    <a:pt x="3590639" y="223074"/>
                  </a:lnTo>
                  <a:lnTo>
                    <a:pt x="0" y="223074"/>
                  </a:lnTo>
                  <a:lnTo>
                    <a:pt x="0" y="0"/>
                  </a:lnTo>
                  <a:close/>
                </a:path>
              </a:pathLst>
            </a:custGeom>
            <a:ln w="19050">
              <a:solidFill>
                <a:srgbClr val="0432FF"/>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39" name="object 15">
            <a:extLst>
              <a:ext uri="{FF2B5EF4-FFF2-40B4-BE49-F238E27FC236}">
                <a16:creationId xmlns:a16="http://schemas.microsoft.com/office/drawing/2014/main" id="{B5D37DA7-6C99-7955-8EDD-8CE4870F1705}"/>
              </a:ext>
            </a:extLst>
          </p:cNvPr>
          <p:cNvSpPr txBox="1"/>
          <p:nvPr/>
        </p:nvSpPr>
        <p:spPr>
          <a:xfrm>
            <a:off x="4356381" y="730535"/>
            <a:ext cx="1836420" cy="332740"/>
          </a:xfrm>
          <a:prstGeom prst="rect">
            <a:avLst/>
          </a:prstGeom>
          <a:ln w="19050">
            <a:solidFill>
              <a:srgbClr val="FF0000"/>
            </a:solidFill>
          </a:ln>
        </p:spPr>
        <p:txBody>
          <a:bodyPr vert="horz" wrap="square" lIns="0" tIns="15875" rIns="0" bIns="0" rtlCol="0">
            <a:spAutoFit/>
          </a:bodyPr>
          <a:lstStyle/>
          <a:p>
            <a:pPr marL="220979">
              <a:spcBef>
                <a:spcPts val="125"/>
              </a:spcBef>
            </a:pPr>
            <a:r>
              <a:rPr dirty="0">
                <a:solidFill>
                  <a:sysClr val="windowText" lastClr="000000"/>
                </a:solidFill>
                <a:latin typeface="Palatino Linotype"/>
                <a:cs typeface="Palatino Linotype"/>
              </a:rPr>
              <a:t>Call</a:t>
            </a:r>
            <a:r>
              <a:rPr spc="-25" dirty="0">
                <a:solidFill>
                  <a:sysClr val="windowText" lastClr="000000"/>
                </a:solidFill>
                <a:latin typeface="Palatino Linotype"/>
                <a:cs typeface="Palatino Linotype"/>
              </a:rPr>
              <a:t> </a:t>
            </a:r>
            <a:r>
              <a:rPr spc="-10" dirty="0">
                <a:solidFill>
                  <a:sysClr val="windowText" lastClr="000000"/>
                </a:solidFill>
                <a:latin typeface="Palatino Linotype"/>
                <a:cs typeface="Palatino Linotype"/>
              </a:rPr>
              <a:t>sequence</a:t>
            </a:r>
            <a:endParaRPr>
              <a:solidFill>
                <a:sysClr val="windowText" lastClr="000000"/>
              </a:solidFill>
              <a:latin typeface="Palatino Linotype"/>
              <a:cs typeface="Palatino Linotype"/>
            </a:endParaRPr>
          </a:p>
        </p:txBody>
      </p:sp>
      <p:sp>
        <p:nvSpPr>
          <p:cNvPr id="40" name="object 16">
            <a:extLst>
              <a:ext uri="{FF2B5EF4-FFF2-40B4-BE49-F238E27FC236}">
                <a16:creationId xmlns:a16="http://schemas.microsoft.com/office/drawing/2014/main" id="{B12E6CEE-54C9-A2FB-80ED-E57094818A4E}"/>
              </a:ext>
            </a:extLst>
          </p:cNvPr>
          <p:cNvSpPr txBox="1"/>
          <p:nvPr/>
        </p:nvSpPr>
        <p:spPr>
          <a:xfrm>
            <a:off x="6343755" y="730535"/>
            <a:ext cx="2057400" cy="332740"/>
          </a:xfrm>
          <a:prstGeom prst="rect">
            <a:avLst/>
          </a:prstGeom>
          <a:ln w="19050">
            <a:solidFill>
              <a:srgbClr val="0432FF"/>
            </a:solidFill>
          </a:ln>
        </p:spPr>
        <p:txBody>
          <a:bodyPr vert="horz" wrap="square" lIns="0" tIns="15875" rIns="0" bIns="0" rtlCol="0">
            <a:spAutoFit/>
          </a:bodyPr>
          <a:lstStyle/>
          <a:p>
            <a:pPr marL="186690">
              <a:spcBef>
                <a:spcPts val="125"/>
              </a:spcBef>
            </a:pPr>
            <a:r>
              <a:rPr dirty="0">
                <a:solidFill>
                  <a:sysClr val="windowText" lastClr="000000"/>
                </a:solidFill>
                <a:latin typeface="Palatino Linotype"/>
                <a:cs typeface="Palatino Linotype"/>
              </a:rPr>
              <a:t>Return</a:t>
            </a:r>
            <a:r>
              <a:rPr spc="-50" dirty="0">
                <a:solidFill>
                  <a:sysClr val="windowText" lastClr="000000"/>
                </a:solidFill>
                <a:latin typeface="Palatino Linotype"/>
                <a:cs typeface="Palatino Linotype"/>
              </a:rPr>
              <a:t> </a:t>
            </a:r>
            <a:r>
              <a:rPr spc="-10" dirty="0">
                <a:solidFill>
                  <a:sysClr val="windowText" lastClr="000000"/>
                </a:solidFill>
                <a:latin typeface="Palatino Linotype"/>
                <a:cs typeface="Palatino Linotype"/>
              </a:rPr>
              <a:t>sequence</a:t>
            </a:r>
            <a:endParaRPr>
              <a:solidFill>
                <a:sysClr val="windowText" lastClr="000000"/>
              </a:solidFill>
              <a:latin typeface="Palatino Linotype"/>
              <a:cs typeface="Palatino Linotype"/>
            </a:endParaRPr>
          </a:p>
        </p:txBody>
      </p:sp>
      <p:sp>
        <p:nvSpPr>
          <p:cNvPr id="41" name="object 17">
            <a:extLst>
              <a:ext uri="{FF2B5EF4-FFF2-40B4-BE49-F238E27FC236}">
                <a16:creationId xmlns:a16="http://schemas.microsoft.com/office/drawing/2014/main" id="{FF489FC0-69BA-9B16-0184-55D7D23F9225}"/>
              </a:ext>
            </a:extLst>
          </p:cNvPr>
          <p:cNvSpPr/>
          <p:nvPr/>
        </p:nvSpPr>
        <p:spPr>
          <a:xfrm>
            <a:off x="457201" y="1544664"/>
            <a:ext cx="171450" cy="1073785"/>
          </a:xfrm>
          <a:custGeom>
            <a:avLst/>
            <a:gdLst/>
            <a:ahLst/>
            <a:cxnLst/>
            <a:rect l="l" t="t" r="r" b="b"/>
            <a:pathLst>
              <a:path w="171450" h="1073785">
                <a:moveTo>
                  <a:pt x="171450" y="1073255"/>
                </a:moveTo>
                <a:lnTo>
                  <a:pt x="138081" y="1072132"/>
                </a:lnTo>
                <a:lnTo>
                  <a:pt x="110832" y="1069070"/>
                </a:lnTo>
                <a:lnTo>
                  <a:pt x="92461" y="1064529"/>
                </a:lnTo>
                <a:lnTo>
                  <a:pt x="85724" y="1058968"/>
                </a:lnTo>
                <a:lnTo>
                  <a:pt x="85725" y="550914"/>
                </a:lnTo>
                <a:lnTo>
                  <a:pt x="78988" y="545353"/>
                </a:lnTo>
                <a:lnTo>
                  <a:pt x="60617" y="540811"/>
                </a:lnTo>
                <a:lnTo>
                  <a:pt x="33368" y="537750"/>
                </a:lnTo>
                <a:lnTo>
                  <a:pt x="0" y="536627"/>
                </a:lnTo>
                <a:lnTo>
                  <a:pt x="33368" y="535504"/>
                </a:lnTo>
                <a:lnTo>
                  <a:pt x="60617" y="532443"/>
                </a:lnTo>
                <a:lnTo>
                  <a:pt x="78988" y="527901"/>
                </a:lnTo>
                <a:lnTo>
                  <a:pt x="85725" y="522340"/>
                </a:lnTo>
                <a:lnTo>
                  <a:pt x="85725" y="14286"/>
                </a:lnTo>
                <a:lnTo>
                  <a:pt x="92462" y="8725"/>
                </a:lnTo>
                <a:lnTo>
                  <a:pt x="110834" y="4184"/>
                </a:lnTo>
                <a:lnTo>
                  <a:pt x="138082" y="1122"/>
                </a:lnTo>
                <a:lnTo>
                  <a:pt x="171451" y="0"/>
                </a:lnTo>
              </a:path>
            </a:pathLst>
          </a:custGeom>
          <a:ln w="12700">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2" name="object 18">
            <a:extLst>
              <a:ext uri="{FF2B5EF4-FFF2-40B4-BE49-F238E27FC236}">
                <a16:creationId xmlns:a16="http://schemas.microsoft.com/office/drawing/2014/main" id="{3E8E6338-7EDA-3BC6-4699-1C29427FB598}"/>
              </a:ext>
            </a:extLst>
          </p:cNvPr>
          <p:cNvSpPr txBox="1"/>
          <p:nvPr/>
        </p:nvSpPr>
        <p:spPr>
          <a:xfrm>
            <a:off x="190557" y="1889252"/>
            <a:ext cx="227329" cy="299720"/>
          </a:xfrm>
          <a:prstGeom prst="rect">
            <a:avLst/>
          </a:prstGeom>
        </p:spPr>
        <p:txBody>
          <a:bodyPr vert="horz" wrap="square" lIns="0" tIns="12700" rIns="0" bIns="0" rtlCol="0">
            <a:spAutoFit/>
          </a:bodyPr>
          <a:lstStyle/>
          <a:p>
            <a:pPr marL="12700">
              <a:spcBef>
                <a:spcPts val="100"/>
              </a:spcBef>
            </a:pPr>
            <a:r>
              <a:rPr spc="-50" dirty="0">
                <a:solidFill>
                  <a:srgbClr val="FF0000"/>
                </a:solidFill>
                <a:latin typeface="Palatino Linotype"/>
                <a:cs typeface="Palatino Linotype"/>
              </a:rPr>
              <a:t>m</a:t>
            </a:r>
            <a:endParaRPr>
              <a:solidFill>
                <a:sysClr val="windowText" lastClr="000000"/>
              </a:solidFill>
              <a:latin typeface="Palatino Linotype"/>
              <a:cs typeface="Palatino Linotype"/>
            </a:endParaRPr>
          </a:p>
        </p:txBody>
      </p:sp>
      <p:sp>
        <p:nvSpPr>
          <p:cNvPr id="43" name="object 19">
            <a:extLst>
              <a:ext uri="{FF2B5EF4-FFF2-40B4-BE49-F238E27FC236}">
                <a16:creationId xmlns:a16="http://schemas.microsoft.com/office/drawing/2014/main" id="{A9BE7DC4-BAA1-5B61-5821-2E89E7D21695}"/>
              </a:ext>
            </a:extLst>
          </p:cNvPr>
          <p:cNvSpPr/>
          <p:nvPr/>
        </p:nvSpPr>
        <p:spPr>
          <a:xfrm>
            <a:off x="457198" y="2877253"/>
            <a:ext cx="205740" cy="655955"/>
          </a:xfrm>
          <a:custGeom>
            <a:avLst/>
            <a:gdLst/>
            <a:ahLst/>
            <a:cxnLst/>
            <a:rect l="l" t="t" r="r" b="b"/>
            <a:pathLst>
              <a:path w="205740" h="655954">
                <a:moveTo>
                  <a:pt x="205501" y="655451"/>
                </a:moveTo>
                <a:lnTo>
                  <a:pt x="165505" y="654105"/>
                </a:lnTo>
                <a:lnTo>
                  <a:pt x="132845" y="650435"/>
                </a:lnTo>
                <a:lnTo>
                  <a:pt x="110825" y="644992"/>
                </a:lnTo>
                <a:lnTo>
                  <a:pt x="102750" y="638326"/>
                </a:lnTo>
                <a:lnTo>
                  <a:pt x="102750" y="344850"/>
                </a:lnTo>
                <a:lnTo>
                  <a:pt x="94675" y="338184"/>
                </a:lnTo>
                <a:lnTo>
                  <a:pt x="72655" y="332741"/>
                </a:lnTo>
                <a:lnTo>
                  <a:pt x="39995" y="329071"/>
                </a:lnTo>
                <a:lnTo>
                  <a:pt x="0" y="327725"/>
                </a:lnTo>
                <a:lnTo>
                  <a:pt x="39995" y="326379"/>
                </a:lnTo>
                <a:lnTo>
                  <a:pt x="72655" y="322709"/>
                </a:lnTo>
                <a:lnTo>
                  <a:pt x="94675" y="317266"/>
                </a:lnTo>
                <a:lnTo>
                  <a:pt x="102750" y="310600"/>
                </a:lnTo>
                <a:lnTo>
                  <a:pt x="102750" y="17124"/>
                </a:lnTo>
                <a:lnTo>
                  <a:pt x="110825" y="10458"/>
                </a:lnTo>
                <a:lnTo>
                  <a:pt x="132845" y="5015"/>
                </a:lnTo>
                <a:lnTo>
                  <a:pt x="165505" y="1345"/>
                </a:lnTo>
                <a:lnTo>
                  <a:pt x="205501" y="0"/>
                </a:lnTo>
              </a:path>
            </a:pathLst>
          </a:custGeom>
          <a:ln w="12700">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4" name="object 20">
            <a:extLst>
              <a:ext uri="{FF2B5EF4-FFF2-40B4-BE49-F238E27FC236}">
                <a16:creationId xmlns:a16="http://schemas.microsoft.com/office/drawing/2014/main" id="{54F031F3-F25A-2B45-FB48-37E631948690}"/>
              </a:ext>
            </a:extLst>
          </p:cNvPr>
          <p:cNvSpPr txBox="1"/>
          <p:nvPr/>
        </p:nvSpPr>
        <p:spPr>
          <a:xfrm>
            <a:off x="190556" y="3041396"/>
            <a:ext cx="163195" cy="299720"/>
          </a:xfrm>
          <a:prstGeom prst="rect">
            <a:avLst/>
          </a:prstGeom>
        </p:spPr>
        <p:txBody>
          <a:bodyPr vert="horz" wrap="square" lIns="0" tIns="12700" rIns="0" bIns="0" rtlCol="0">
            <a:spAutoFit/>
          </a:bodyPr>
          <a:lstStyle/>
          <a:p>
            <a:pPr marL="12700">
              <a:spcBef>
                <a:spcPts val="100"/>
              </a:spcBef>
            </a:pPr>
            <a:r>
              <a:rPr spc="-50" dirty="0">
                <a:solidFill>
                  <a:srgbClr val="FF0000"/>
                </a:solidFill>
                <a:latin typeface="Palatino Linotype"/>
                <a:cs typeface="Palatino Linotype"/>
              </a:rPr>
              <a:t>p</a:t>
            </a:r>
            <a:endParaRPr>
              <a:solidFill>
                <a:sysClr val="windowText" lastClr="000000"/>
              </a:solidFill>
              <a:latin typeface="Palatino Linotype"/>
              <a:cs typeface="Palatino Linotype"/>
            </a:endParaRPr>
          </a:p>
        </p:txBody>
      </p:sp>
      <p:sp>
        <p:nvSpPr>
          <p:cNvPr id="45" name="object 21">
            <a:extLst>
              <a:ext uri="{FF2B5EF4-FFF2-40B4-BE49-F238E27FC236}">
                <a16:creationId xmlns:a16="http://schemas.microsoft.com/office/drawing/2014/main" id="{644CB3B8-3803-8CF1-6E1E-B28EC2B5C0F9}"/>
              </a:ext>
            </a:extLst>
          </p:cNvPr>
          <p:cNvSpPr/>
          <p:nvPr/>
        </p:nvSpPr>
        <p:spPr>
          <a:xfrm>
            <a:off x="457201" y="3913729"/>
            <a:ext cx="205740" cy="1915160"/>
          </a:xfrm>
          <a:custGeom>
            <a:avLst/>
            <a:gdLst/>
            <a:ahLst/>
            <a:cxnLst/>
            <a:rect l="l" t="t" r="r" b="b"/>
            <a:pathLst>
              <a:path w="205740" h="1915160">
                <a:moveTo>
                  <a:pt x="205499" y="1914934"/>
                </a:moveTo>
                <a:lnTo>
                  <a:pt x="165503" y="1913588"/>
                </a:lnTo>
                <a:lnTo>
                  <a:pt x="132843" y="1909918"/>
                </a:lnTo>
                <a:lnTo>
                  <a:pt x="110823" y="1904475"/>
                </a:lnTo>
                <a:lnTo>
                  <a:pt x="102748" y="1897810"/>
                </a:lnTo>
                <a:lnTo>
                  <a:pt x="102750" y="974591"/>
                </a:lnTo>
                <a:lnTo>
                  <a:pt x="94675" y="967925"/>
                </a:lnTo>
                <a:lnTo>
                  <a:pt x="72655" y="962482"/>
                </a:lnTo>
                <a:lnTo>
                  <a:pt x="39995" y="958812"/>
                </a:lnTo>
                <a:lnTo>
                  <a:pt x="0" y="957467"/>
                </a:lnTo>
                <a:lnTo>
                  <a:pt x="39995" y="956121"/>
                </a:lnTo>
                <a:lnTo>
                  <a:pt x="72655" y="952451"/>
                </a:lnTo>
                <a:lnTo>
                  <a:pt x="94675" y="947008"/>
                </a:lnTo>
                <a:lnTo>
                  <a:pt x="102750" y="940342"/>
                </a:lnTo>
                <a:lnTo>
                  <a:pt x="102750" y="17124"/>
                </a:lnTo>
                <a:lnTo>
                  <a:pt x="110825" y="10458"/>
                </a:lnTo>
                <a:lnTo>
                  <a:pt x="132845" y="5015"/>
                </a:lnTo>
                <a:lnTo>
                  <a:pt x="165505" y="1345"/>
                </a:lnTo>
                <a:lnTo>
                  <a:pt x="205501" y="0"/>
                </a:lnTo>
              </a:path>
            </a:pathLst>
          </a:custGeom>
          <a:ln w="12700">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6" name="object 22">
            <a:extLst>
              <a:ext uri="{FF2B5EF4-FFF2-40B4-BE49-F238E27FC236}">
                <a16:creationId xmlns:a16="http://schemas.microsoft.com/office/drawing/2014/main" id="{2887991F-BA4D-6A94-2123-669378A86404}"/>
              </a:ext>
            </a:extLst>
          </p:cNvPr>
          <p:cNvSpPr txBox="1"/>
          <p:nvPr/>
        </p:nvSpPr>
        <p:spPr>
          <a:xfrm>
            <a:off x="190558" y="4705604"/>
            <a:ext cx="153670" cy="299720"/>
          </a:xfrm>
          <a:prstGeom prst="rect">
            <a:avLst/>
          </a:prstGeom>
        </p:spPr>
        <p:txBody>
          <a:bodyPr vert="horz" wrap="square" lIns="0" tIns="12700" rIns="0" bIns="0" rtlCol="0">
            <a:spAutoFit/>
          </a:bodyPr>
          <a:lstStyle/>
          <a:p>
            <a:pPr marL="12700">
              <a:spcBef>
                <a:spcPts val="100"/>
              </a:spcBef>
            </a:pPr>
            <a:r>
              <a:rPr spc="-50" dirty="0">
                <a:solidFill>
                  <a:srgbClr val="FF0000"/>
                </a:solidFill>
                <a:latin typeface="Palatino Linotype"/>
                <a:cs typeface="Palatino Linotype"/>
              </a:rPr>
              <a:t>q</a:t>
            </a:r>
            <a:endParaRPr>
              <a:solidFill>
                <a:sysClr val="windowText" lastClr="000000"/>
              </a:solidFill>
              <a:latin typeface="Palatino Linotype"/>
              <a:cs typeface="Palatino Linotype"/>
            </a:endParaRPr>
          </a:p>
        </p:txBody>
      </p:sp>
    </p:spTree>
    <p:extLst>
      <p:ext uri="{BB962C8B-B14F-4D97-AF65-F5344CB8AC3E}">
        <p14:creationId xmlns:p14="http://schemas.microsoft.com/office/powerpoint/2010/main" val="19033399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20</a:t>
            </a:fld>
            <a:endParaRPr lang="en-US"/>
          </a:p>
        </p:txBody>
      </p:sp>
      <p:sp>
        <p:nvSpPr>
          <p:cNvPr id="18" name="object 2">
            <a:extLst>
              <a:ext uri="{FF2B5EF4-FFF2-40B4-BE49-F238E27FC236}">
                <a16:creationId xmlns:a16="http://schemas.microsoft.com/office/drawing/2014/main" id="{F9FC9509-01A5-4866-109D-D69495E99C0F}"/>
              </a:ext>
            </a:extLst>
          </p:cNvPr>
          <p:cNvSpPr txBox="1">
            <a:spLocks/>
          </p:cNvSpPr>
          <p:nvPr/>
        </p:nvSpPr>
        <p:spPr>
          <a:xfrm>
            <a:off x="707390" y="524763"/>
            <a:ext cx="7729219" cy="63500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4000" b="1" i="0" u="none" strike="noStrike" kern="0" cap="none" spc="-10" normalizeH="0" baseline="0" noProof="0">
                <a:ln>
                  <a:noFill/>
                </a:ln>
                <a:solidFill>
                  <a:sysClr val="windowText" lastClr="000000"/>
                </a:solidFill>
                <a:effectLst/>
                <a:uLnTx/>
                <a:uFillTx/>
                <a:latin typeface="Palatino Linotype"/>
                <a:ea typeface="+mj-ea"/>
              </a:rPr>
              <a:t>Example</a:t>
            </a:r>
            <a:endParaRPr kumimoji="0" lang="en-US" sz="4000" b="1" i="0" u="none" strike="noStrike" kern="0" cap="none" spc="-10" normalizeH="0" baseline="0" noProof="0" dirty="0">
              <a:ln>
                <a:noFill/>
              </a:ln>
              <a:solidFill>
                <a:sysClr val="windowText" lastClr="000000"/>
              </a:solidFill>
              <a:effectLst/>
              <a:uLnTx/>
              <a:uFillTx/>
              <a:latin typeface="Palatino Linotype"/>
              <a:ea typeface="+mj-ea"/>
            </a:endParaRPr>
          </a:p>
        </p:txBody>
      </p:sp>
      <p:grpSp>
        <p:nvGrpSpPr>
          <p:cNvPr id="19" name="object 3">
            <a:extLst>
              <a:ext uri="{FF2B5EF4-FFF2-40B4-BE49-F238E27FC236}">
                <a16:creationId xmlns:a16="http://schemas.microsoft.com/office/drawing/2014/main" id="{6C413FD4-5B8C-5E28-8170-FCBD2432266D}"/>
              </a:ext>
            </a:extLst>
          </p:cNvPr>
          <p:cNvGrpSpPr/>
          <p:nvPr/>
        </p:nvGrpSpPr>
        <p:grpSpPr>
          <a:xfrm>
            <a:off x="750841" y="1535139"/>
            <a:ext cx="926465" cy="4303395"/>
            <a:chOff x="750841" y="1535139"/>
            <a:chExt cx="926465" cy="4303395"/>
          </a:xfrm>
        </p:grpSpPr>
        <p:pic>
          <p:nvPicPr>
            <p:cNvPr id="20" name="object 4">
              <a:extLst>
                <a:ext uri="{FF2B5EF4-FFF2-40B4-BE49-F238E27FC236}">
                  <a16:creationId xmlns:a16="http://schemas.microsoft.com/office/drawing/2014/main" id="{2B5088B2-06E0-4371-FFBC-73F53437B1EB}"/>
                </a:ext>
              </a:extLst>
            </p:cNvPr>
            <p:cNvPicPr/>
            <p:nvPr/>
          </p:nvPicPr>
          <p:blipFill>
            <a:blip r:embed="rId3" cstate="print"/>
            <a:stretch>
              <a:fillRect/>
            </a:stretch>
          </p:blipFill>
          <p:spPr>
            <a:xfrm>
              <a:off x="779507" y="1605919"/>
              <a:ext cx="857547" cy="4146176"/>
            </a:xfrm>
            <a:prstGeom prst="rect">
              <a:avLst/>
            </a:prstGeom>
          </p:spPr>
        </p:pic>
        <p:sp>
          <p:nvSpPr>
            <p:cNvPr id="21" name="object 5">
              <a:extLst>
                <a:ext uri="{FF2B5EF4-FFF2-40B4-BE49-F238E27FC236}">
                  <a16:creationId xmlns:a16="http://schemas.microsoft.com/office/drawing/2014/main" id="{C0A6965B-470F-0DA0-E9A4-567310BC4878}"/>
                </a:ext>
              </a:extLst>
            </p:cNvPr>
            <p:cNvSpPr/>
            <p:nvPr/>
          </p:nvSpPr>
          <p:spPr>
            <a:xfrm>
              <a:off x="755603" y="1539901"/>
              <a:ext cx="916940" cy="4293870"/>
            </a:xfrm>
            <a:custGeom>
              <a:avLst/>
              <a:gdLst/>
              <a:ahLst/>
              <a:cxnLst/>
              <a:rect l="l" t="t" r="r" b="b"/>
              <a:pathLst>
                <a:path w="916939" h="4293870">
                  <a:moveTo>
                    <a:pt x="0" y="0"/>
                  </a:moveTo>
                  <a:lnTo>
                    <a:pt x="916841" y="0"/>
                  </a:lnTo>
                  <a:lnTo>
                    <a:pt x="916841" y="4293525"/>
                  </a:lnTo>
                  <a:lnTo>
                    <a:pt x="0" y="4293525"/>
                  </a:lnTo>
                  <a:lnTo>
                    <a:pt x="0" y="0"/>
                  </a:lnTo>
                  <a:close/>
                </a:path>
              </a:pathLst>
            </a:custGeom>
            <a:ln w="952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grpSp>
        <p:nvGrpSpPr>
          <p:cNvPr id="22" name="object 6">
            <a:extLst>
              <a:ext uri="{FF2B5EF4-FFF2-40B4-BE49-F238E27FC236}">
                <a16:creationId xmlns:a16="http://schemas.microsoft.com/office/drawing/2014/main" id="{CC877A31-7ED6-F862-C3E5-B7008DBAAC4C}"/>
              </a:ext>
            </a:extLst>
          </p:cNvPr>
          <p:cNvGrpSpPr/>
          <p:nvPr/>
        </p:nvGrpSpPr>
        <p:grpSpPr>
          <a:xfrm>
            <a:off x="2444775" y="1535139"/>
            <a:ext cx="5948680" cy="4303395"/>
            <a:chOff x="2444775" y="1535139"/>
            <a:chExt cx="5948680" cy="4303395"/>
          </a:xfrm>
        </p:grpSpPr>
        <p:pic>
          <p:nvPicPr>
            <p:cNvPr id="23" name="object 7">
              <a:extLst>
                <a:ext uri="{FF2B5EF4-FFF2-40B4-BE49-F238E27FC236}">
                  <a16:creationId xmlns:a16="http://schemas.microsoft.com/office/drawing/2014/main" id="{4AC51613-962B-DB72-7A62-AC85579FE15C}"/>
                </a:ext>
              </a:extLst>
            </p:cNvPr>
            <p:cNvPicPr/>
            <p:nvPr/>
          </p:nvPicPr>
          <p:blipFill>
            <a:blip r:embed="rId4" cstate="print"/>
            <a:stretch>
              <a:fillRect/>
            </a:stretch>
          </p:blipFill>
          <p:spPr>
            <a:xfrm>
              <a:off x="2546275" y="1581384"/>
              <a:ext cx="5794435" cy="4204439"/>
            </a:xfrm>
            <a:prstGeom prst="rect">
              <a:avLst/>
            </a:prstGeom>
          </p:spPr>
        </p:pic>
        <p:sp>
          <p:nvSpPr>
            <p:cNvPr id="24" name="object 8">
              <a:extLst>
                <a:ext uri="{FF2B5EF4-FFF2-40B4-BE49-F238E27FC236}">
                  <a16:creationId xmlns:a16="http://schemas.microsoft.com/office/drawing/2014/main" id="{E61D3F2D-6CE5-DBB7-95BD-4280C8CFB126}"/>
                </a:ext>
              </a:extLst>
            </p:cNvPr>
            <p:cNvSpPr/>
            <p:nvPr/>
          </p:nvSpPr>
          <p:spPr>
            <a:xfrm>
              <a:off x="2449538" y="1539901"/>
              <a:ext cx="5939155" cy="4293870"/>
            </a:xfrm>
            <a:custGeom>
              <a:avLst/>
              <a:gdLst/>
              <a:ahLst/>
              <a:cxnLst/>
              <a:rect l="l" t="t" r="r" b="b"/>
              <a:pathLst>
                <a:path w="5939155" h="4293870">
                  <a:moveTo>
                    <a:pt x="0" y="0"/>
                  </a:moveTo>
                  <a:lnTo>
                    <a:pt x="5938858" y="0"/>
                  </a:lnTo>
                  <a:lnTo>
                    <a:pt x="5938858" y="4293525"/>
                  </a:lnTo>
                  <a:lnTo>
                    <a:pt x="0" y="4293525"/>
                  </a:lnTo>
                  <a:lnTo>
                    <a:pt x="0" y="0"/>
                  </a:lnTo>
                  <a:close/>
                </a:path>
              </a:pathLst>
            </a:custGeom>
            <a:ln w="952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25" name="object 9">
            <a:extLst>
              <a:ext uri="{FF2B5EF4-FFF2-40B4-BE49-F238E27FC236}">
                <a16:creationId xmlns:a16="http://schemas.microsoft.com/office/drawing/2014/main" id="{AF7B130F-0541-DA96-9D5E-81698E22B5BF}"/>
              </a:ext>
            </a:extLst>
          </p:cNvPr>
          <p:cNvSpPr/>
          <p:nvPr/>
        </p:nvSpPr>
        <p:spPr>
          <a:xfrm>
            <a:off x="457201" y="1544664"/>
            <a:ext cx="171450" cy="1073785"/>
          </a:xfrm>
          <a:custGeom>
            <a:avLst/>
            <a:gdLst/>
            <a:ahLst/>
            <a:cxnLst/>
            <a:rect l="l" t="t" r="r" b="b"/>
            <a:pathLst>
              <a:path w="171450" h="1073785">
                <a:moveTo>
                  <a:pt x="171450" y="1073255"/>
                </a:moveTo>
                <a:lnTo>
                  <a:pt x="138081" y="1072132"/>
                </a:lnTo>
                <a:lnTo>
                  <a:pt x="110832" y="1069070"/>
                </a:lnTo>
                <a:lnTo>
                  <a:pt x="92461" y="1064529"/>
                </a:lnTo>
                <a:lnTo>
                  <a:pt x="85724" y="1058968"/>
                </a:lnTo>
                <a:lnTo>
                  <a:pt x="85725" y="550914"/>
                </a:lnTo>
                <a:lnTo>
                  <a:pt x="78988" y="545353"/>
                </a:lnTo>
                <a:lnTo>
                  <a:pt x="60617" y="540811"/>
                </a:lnTo>
                <a:lnTo>
                  <a:pt x="33368" y="537750"/>
                </a:lnTo>
                <a:lnTo>
                  <a:pt x="0" y="536627"/>
                </a:lnTo>
                <a:lnTo>
                  <a:pt x="33368" y="535504"/>
                </a:lnTo>
                <a:lnTo>
                  <a:pt x="60617" y="532443"/>
                </a:lnTo>
                <a:lnTo>
                  <a:pt x="78988" y="527901"/>
                </a:lnTo>
                <a:lnTo>
                  <a:pt x="85725" y="522340"/>
                </a:lnTo>
                <a:lnTo>
                  <a:pt x="85725" y="14286"/>
                </a:lnTo>
                <a:lnTo>
                  <a:pt x="92462" y="8725"/>
                </a:lnTo>
                <a:lnTo>
                  <a:pt x="110834" y="4184"/>
                </a:lnTo>
                <a:lnTo>
                  <a:pt x="138082" y="1122"/>
                </a:lnTo>
                <a:lnTo>
                  <a:pt x="171451" y="0"/>
                </a:lnTo>
              </a:path>
            </a:pathLst>
          </a:custGeom>
          <a:ln w="12700">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6" name="object 10">
            <a:extLst>
              <a:ext uri="{FF2B5EF4-FFF2-40B4-BE49-F238E27FC236}">
                <a16:creationId xmlns:a16="http://schemas.microsoft.com/office/drawing/2014/main" id="{276E6B53-214F-4561-A513-D4BA2C9F98EF}"/>
              </a:ext>
            </a:extLst>
          </p:cNvPr>
          <p:cNvSpPr txBox="1"/>
          <p:nvPr/>
        </p:nvSpPr>
        <p:spPr>
          <a:xfrm>
            <a:off x="190557" y="1889252"/>
            <a:ext cx="227329" cy="299720"/>
          </a:xfrm>
          <a:prstGeom prst="rect">
            <a:avLst/>
          </a:prstGeom>
        </p:spPr>
        <p:txBody>
          <a:bodyPr vert="horz" wrap="square" lIns="0" tIns="12700" rIns="0" bIns="0" rtlCol="0">
            <a:spAutoFit/>
          </a:bodyPr>
          <a:lstStyle/>
          <a:p>
            <a:pPr marL="12700">
              <a:spcBef>
                <a:spcPts val="100"/>
              </a:spcBef>
            </a:pPr>
            <a:r>
              <a:rPr spc="-50" dirty="0">
                <a:solidFill>
                  <a:sysClr val="windowText" lastClr="000000"/>
                </a:solidFill>
                <a:latin typeface="Palatino Linotype"/>
                <a:cs typeface="Palatino Linotype"/>
              </a:rPr>
              <a:t>m</a:t>
            </a:r>
            <a:endParaRPr>
              <a:solidFill>
                <a:sysClr val="windowText" lastClr="000000"/>
              </a:solidFill>
              <a:latin typeface="Palatino Linotype"/>
              <a:cs typeface="Palatino Linotype"/>
            </a:endParaRPr>
          </a:p>
        </p:txBody>
      </p:sp>
      <p:sp>
        <p:nvSpPr>
          <p:cNvPr id="27" name="object 11">
            <a:extLst>
              <a:ext uri="{FF2B5EF4-FFF2-40B4-BE49-F238E27FC236}">
                <a16:creationId xmlns:a16="http://schemas.microsoft.com/office/drawing/2014/main" id="{DCCDCF44-1557-ADCB-E9C2-E373FEF682DC}"/>
              </a:ext>
            </a:extLst>
          </p:cNvPr>
          <p:cNvSpPr/>
          <p:nvPr/>
        </p:nvSpPr>
        <p:spPr>
          <a:xfrm>
            <a:off x="457198" y="2877253"/>
            <a:ext cx="205740" cy="655955"/>
          </a:xfrm>
          <a:custGeom>
            <a:avLst/>
            <a:gdLst/>
            <a:ahLst/>
            <a:cxnLst/>
            <a:rect l="l" t="t" r="r" b="b"/>
            <a:pathLst>
              <a:path w="205740" h="655954">
                <a:moveTo>
                  <a:pt x="205501" y="655451"/>
                </a:moveTo>
                <a:lnTo>
                  <a:pt x="165505" y="654105"/>
                </a:lnTo>
                <a:lnTo>
                  <a:pt x="132845" y="650435"/>
                </a:lnTo>
                <a:lnTo>
                  <a:pt x="110825" y="644992"/>
                </a:lnTo>
                <a:lnTo>
                  <a:pt x="102750" y="638326"/>
                </a:lnTo>
                <a:lnTo>
                  <a:pt x="102750" y="344850"/>
                </a:lnTo>
                <a:lnTo>
                  <a:pt x="94675" y="338184"/>
                </a:lnTo>
                <a:lnTo>
                  <a:pt x="72655" y="332741"/>
                </a:lnTo>
                <a:lnTo>
                  <a:pt x="39995" y="329071"/>
                </a:lnTo>
                <a:lnTo>
                  <a:pt x="0" y="327725"/>
                </a:lnTo>
                <a:lnTo>
                  <a:pt x="39995" y="326379"/>
                </a:lnTo>
                <a:lnTo>
                  <a:pt x="72655" y="322709"/>
                </a:lnTo>
                <a:lnTo>
                  <a:pt x="94675" y="317266"/>
                </a:lnTo>
                <a:lnTo>
                  <a:pt x="102750" y="310600"/>
                </a:lnTo>
                <a:lnTo>
                  <a:pt x="102750" y="17124"/>
                </a:lnTo>
                <a:lnTo>
                  <a:pt x="110825" y="10458"/>
                </a:lnTo>
                <a:lnTo>
                  <a:pt x="132845" y="5015"/>
                </a:lnTo>
                <a:lnTo>
                  <a:pt x="165505" y="1345"/>
                </a:lnTo>
                <a:lnTo>
                  <a:pt x="205501" y="0"/>
                </a:lnTo>
              </a:path>
            </a:pathLst>
          </a:custGeom>
          <a:ln w="12700">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8" name="object 12">
            <a:extLst>
              <a:ext uri="{FF2B5EF4-FFF2-40B4-BE49-F238E27FC236}">
                <a16:creationId xmlns:a16="http://schemas.microsoft.com/office/drawing/2014/main" id="{0F129529-0C5E-F29C-7335-436EBE8FD1A3}"/>
              </a:ext>
            </a:extLst>
          </p:cNvPr>
          <p:cNvSpPr txBox="1"/>
          <p:nvPr/>
        </p:nvSpPr>
        <p:spPr>
          <a:xfrm>
            <a:off x="190556" y="3041396"/>
            <a:ext cx="163195" cy="299720"/>
          </a:xfrm>
          <a:prstGeom prst="rect">
            <a:avLst/>
          </a:prstGeom>
        </p:spPr>
        <p:txBody>
          <a:bodyPr vert="horz" wrap="square" lIns="0" tIns="12700" rIns="0" bIns="0" rtlCol="0">
            <a:spAutoFit/>
          </a:bodyPr>
          <a:lstStyle/>
          <a:p>
            <a:pPr marL="12700">
              <a:spcBef>
                <a:spcPts val="100"/>
              </a:spcBef>
            </a:pPr>
            <a:r>
              <a:rPr spc="-50" dirty="0">
                <a:solidFill>
                  <a:sysClr val="windowText" lastClr="000000"/>
                </a:solidFill>
                <a:latin typeface="Palatino Linotype"/>
                <a:cs typeface="Palatino Linotype"/>
              </a:rPr>
              <a:t>p</a:t>
            </a:r>
            <a:endParaRPr>
              <a:solidFill>
                <a:sysClr val="windowText" lastClr="000000"/>
              </a:solidFill>
              <a:latin typeface="Palatino Linotype"/>
              <a:cs typeface="Palatino Linotype"/>
            </a:endParaRPr>
          </a:p>
        </p:txBody>
      </p:sp>
      <p:sp>
        <p:nvSpPr>
          <p:cNvPr id="29" name="object 13">
            <a:extLst>
              <a:ext uri="{FF2B5EF4-FFF2-40B4-BE49-F238E27FC236}">
                <a16:creationId xmlns:a16="http://schemas.microsoft.com/office/drawing/2014/main" id="{63305952-118D-E082-CC1A-DC53815E9D1F}"/>
              </a:ext>
            </a:extLst>
          </p:cNvPr>
          <p:cNvSpPr/>
          <p:nvPr/>
        </p:nvSpPr>
        <p:spPr>
          <a:xfrm>
            <a:off x="457201" y="3913729"/>
            <a:ext cx="205740" cy="1915160"/>
          </a:xfrm>
          <a:custGeom>
            <a:avLst/>
            <a:gdLst/>
            <a:ahLst/>
            <a:cxnLst/>
            <a:rect l="l" t="t" r="r" b="b"/>
            <a:pathLst>
              <a:path w="205740" h="1915160">
                <a:moveTo>
                  <a:pt x="205499" y="1914934"/>
                </a:moveTo>
                <a:lnTo>
                  <a:pt x="165503" y="1913588"/>
                </a:lnTo>
                <a:lnTo>
                  <a:pt x="132843" y="1909918"/>
                </a:lnTo>
                <a:lnTo>
                  <a:pt x="110823" y="1904475"/>
                </a:lnTo>
                <a:lnTo>
                  <a:pt x="102748" y="1897810"/>
                </a:lnTo>
                <a:lnTo>
                  <a:pt x="102750" y="974591"/>
                </a:lnTo>
                <a:lnTo>
                  <a:pt x="94675" y="967925"/>
                </a:lnTo>
                <a:lnTo>
                  <a:pt x="72655" y="962482"/>
                </a:lnTo>
                <a:lnTo>
                  <a:pt x="39995" y="958812"/>
                </a:lnTo>
                <a:lnTo>
                  <a:pt x="0" y="957467"/>
                </a:lnTo>
                <a:lnTo>
                  <a:pt x="39995" y="956121"/>
                </a:lnTo>
                <a:lnTo>
                  <a:pt x="72655" y="952451"/>
                </a:lnTo>
                <a:lnTo>
                  <a:pt x="94675" y="947008"/>
                </a:lnTo>
                <a:lnTo>
                  <a:pt x="102750" y="940342"/>
                </a:lnTo>
                <a:lnTo>
                  <a:pt x="102750" y="17124"/>
                </a:lnTo>
                <a:lnTo>
                  <a:pt x="110825" y="10458"/>
                </a:lnTo>
                <a:lnTo>
                  <a:pt x="132845" y="5015"/>
                </a:lnTo>
                <a:lnTo>
                  <a:pt x="165505" y="1345"/>
                </a:lnTo>
                <a:lnTo>
                  <a:pt x="205501" y="0"/>
                </a:lnTo>
              </a:path>
            </a:pathLst>
          </a:custGeom>
          <a:ln w="12700">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30" name="object 14">
            <a:extLst>
              <a:ext uri="{FF2B5EF4-FFF2-40B4-BE49-F238E27FC236}">
                <a16:creationId xmlns:a16="http://schemas.microsoft.com/office/drawing/2014/main" id="{E343BAE2-A778-923B-12C5-E539A5D212B8}"/>
              </a:ext>
            </a:extLst>
          </p:cNvPr>
          <p:cNvSpPr txBox="1"/>
          <p:nvPr/>
        </p:nvSpPr>
        <p:spPr>
          <a:xfrm>
            <a:off x="190558" y="4705604"/>
            <a:ext cx="153670" cy="299720"/>
          </a:xfrm>
          <a:prstGeom prst="rect">
            <a:avLst/>
          </a:prstGeom>
        </p:spPr>
        <p:txBody>
          <a:bodyPr vert="horz" wrap="square" lIns="0" tIns="12700" rIns="0" bIns="0" rtlCol="0">
            <a:spAutoFit/>
          </a:bodyPr>
          <a:lstStyle/>
          <a:p>
            <a:pPr marL="12700">
              <a:spcBef>
                <a:spcPts val="100"/>
              </a:spcBef>
            </a:pPr>
            <a:r>
              <a:rPr spc="-50" dirty="0">
                <a:solidFill>
                  <a:sysClr val="windowText" lastClr="000000"/>
                </a:solidFill>
                <a:latin typeface="Palatino Linotype"/>
                <a:cs typeface="Palatino Linotype"/>
              </a:rPr>
              <a:t>q</a:t>
            </a:r>
            <a:endParaRPr>
              <a:solidFill>
                <a:sysClr val="windowText" lastClr="000000"/>
              </a:solidFill>
              <a:latin typeface="Palatino Linotype"/>
              <a:cs typeface="Palatino Linotype"/>
            </a:endParaRPr>
          </a:p>
        </p:txBody>
      </p:sp>
    </p:spTree>
    <p:extLst>
      <p:ext uri="{BB962C8B-B14F-4D97-AF65-F5344CB8AC3E}">
        <p14:creationId xmlns:p14="http://schemas.microsoft.com/office/powerpoint/2010/main" val="256816672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21</a:t>
            </a:fld>
            <a:endParaRPr lang="en-US"/>
          </a:p>
        </p:txBody>
      </p:sp>
      <p:sp>
        <p:nvSpPr>
          <p:cNvPr id="7" name="object 2">
            <a:extLst>
              <a:ext uri="{FF2B5EF4-FFF2-40B4-BE49-F238E27FC236}">
                <a16:creationId xmlns:a16="http://schemas.microsoft.com/office/drawing/2014/main" id="{F5A0DA16-9311-6A34-BD1A-43F5670E7E38}"/>
              </a:ext>
            </a:extLst>
          </p:cNvPr>
          <p:cNvSpPr txBox="1">
            <a:spLocks/>
          </p:cNvSpPr>
          <p:nvPr/>
        </p:nvSpPr>
        <p:spPr>
          <a:xfrm>
            <a:off x="707390" y="524763"/>
            <a:ext cx="7729219" cy="63500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4000" b="1" i="0" u="none" strike="noStrike" kern="0" cap="none" spc="0" normalizeH="0" baseline="0" noProof="0">
                <a:ln>
                  <a:noFill/>
                </a:ln>
                <a:solidFill>
                  <a:sysClr val="windowText" lastClr="000000"/>
                </a:solidFill>
                <a:effectLst/>
                <a:uLnTx/>
                <a:uFillTx/>
                <a:latin typeface="Palatino Linotype"/>
                <a:ea typeface="+mj-ea"/>
              </a:rPr>
              <a:t>Addresses</a:t>
            </a:r>
            <a:r>
              <a:rPr kumimoji="0" lang="en-US" sz="4000" b="1" i="0" u="none" strike="noStrike" kern="0" cap="none" spc="-80" normalizeH="0" baseline="0" noProof="0">
                <a:ln>
                  <a:noFill/>
                </a:ln>
                <a:solidFill>
                  <a:sysClr val="windowText" lastClr="000000"/>
                </a:solidFill>
                <a:effectLst/>
                <a:uLnTx/>
                <a:uFillTx/>
                <a:latin typeface="Palatino Linotype"/>
                <a:ea typeface="+mj-ea"/>
              </a:rPr>
              <a:t> </a:t>
            </a:r>
            <a:r>
              <a:rPr kumimoji="0" lang="en-US" sz="4000" b="1" i="0" u="none" strike="noStrike" kern="0" cap="none" spc="0" normalizeH="0" baseline="0" noProof="0">
                <a:ln>
                  <a:noFill/>
                </a:ln>
                <a:solidFill>
                  <a:sysClr val="windowText" lastClr="000000"/>
                </a:solidFill>
                <a:effectLst/>
                <a:uLnTx/>
                <a:uFillTx/>
                <a:latin typeface="Palatino Linotype"/>
                <a:ea typeface="+mj-ea"/>
              </a:rPr>
              <a:t>in</a:t>
            </a:r>
            <a:r>
              <a:rPr kumimoji="0" lang="en-US" sz="4000" b="1" i="0" u="none" strike="noStrike" kern="0" cap="none" spc="-85" normalizeH="0" baseline="0" noProof="0">
                <a:ln>
                  <a:noFill/>
                </a:ln>
                <a:solidFill>
                  <a:sysClr val="windowText" lastClr="000000"/>
                </a:solidFill>
                <a:effectLst/>
                <a:uLnTx/>
                <a:uFillTx/>
                <a:latin typeface="Palatino Linotype"/>
                <a:ea typeface="+mj-ea"/>
              </a:rPr>
              <a:t> </a:t>
            </a:r>
            <a:r>
              <a:rPr kumimoji="0" lang="en-US" sz="4000" b="1" i="0" u="none" strike="noStrike" kern="0" cap="none" spc="0" normalizeH="0" baseline="0" noProof="0">
                <a:ln>
                  <a:noFill/>
                </a:ln>
                <a:solidFill>
                  <a:sysClr val="windowText" lastClr="000000"/>
                </a:solidFill>
                <a:effectLst/>
                <a:uLnTx/>
                <a:uFillTx/>
                <a:latin typeface="Palatino Linotype"/>
                <a:ea typeface="+mj-ea"/>
              </a:rPr>
              <a:t>the</a:t>
            </a:r>
            <a:r>
              <a:rPr kumimoji="0" lang="en-US" sz="4000" b="1" i="0" u="none" strike="noStrike" kern="0" cap="none" spc="-75" normalizeH="0" baseline="0" noProof="0">
                <a:ln>
                  <a:noFill/>
                </a:ln>
                <a:solidFill>
                  <a:sysClr val="windowText" lastClr="000000"/>
                </a:solidFill>
                <a:effectLst/>
                <a:uLnTx/>
                <a:uFillTx/>
                <a:latin typeface="Palatino Linotype"/>
                <a:ea typeface="+mj-ea"/>
              </a:rPr>
              <a:t> </a:t>
            </a:r>
            <a:r>
              <a:rPr kumimoji="0" lang="en-US" sz="4000" b="1" i="0" u="none" strike="noStrike" kern="0" cap="none" spc="-45" normalizeH="0" baseline="0" noProof="0">
                <a:ln>
                  <a:noFill/>
                </a:ln>
                <a:solidFill>
                  <a:sysClr val="windowText" lastClr="000000"/>
                </a:solidFill>
                <a:effectLst/>
                <a:uLnTx/>
                <a:uFillTx/>
                <a:latin typeface="Palatino Linotype"/>
                <a:ea typeface="+mj-ea"/>
              </a:rPr>
              <a:t>Target</a:t>
            </a:r>
            <a:r>
              <a:rPr kumimoji="0" lang="en-US" sz="4000" b="1" i="0" u="none" strike="noStrike" kern="0" cap="none" spc="-65" normalizeH="0" baseline="0" noProof="0">
                <a:ln>
                  <a:noFill/>
                </a:ln>
                <a:solidFill>
                  <a:sysClr val="windowText" lastClr="000000"/>
                </a:solidFill>
                <a:effectLst/>
                <a:uLnTx/>
                <a:uFillTx/>
                <a:latin typeface="Palatino Linotype"/>
                <a:ea typeface="+mj-ea"/>
              </a:rPr>
              <a:t> </a:t>
            </a:r>
            <a:r>
              <a:rPr kumimoji="0" lang="en-US" sz="4000" b="1" i="0" u="none" strike="noStrike" kern="0" cap="none" spc="-20" normalizeH="0" baseline="0" noProof="0">
                <a:ln>
                  <a:noFill/>
                </a:ln>
                <a:solidFill>
                  <a:sysClr val="windowText" lastClr="000000"/>
                </a:solidFill>
                <a:effectLst/>
                <a:uLnTx/>
                <a:uFillTx/>
                <a:latin typeface="Palatino Linotype"/>
                <a:ea typeface="+mj-ea"/>
              </a:rPr>
              <a:t>Code</a:t>
            </a:r>
            <a:endParaRPr kumimoji="0" lang="en-US" sz="4000" b="1" i="0" u="none" strike="noStrike" kern="0" cap="none" spc="-20" normalizeH="0" baseline="0" noProof="0" dirty="0">
              <a:ln>
                <a:noFill/>
              </a:ln>
              <a:solidFill>
                <a:sysClr val="windowText" lastClr="000000"/>
              </a:solidFill>
              <a:effectLst/>
              <a:uLnTx/>
              <a:uFillTx/>
              <a:latin typeface="Palatino Linotype"/>
              <a:ea typeface="+mj-ea"/>
            </a:endParaRPr>
          </a:p>
        </p:txBody>
      </p:sp>
      <p:sp>
        <p:nvSpPr>
          <p:cNvPr id="8" name="object 3">
            <a:extLst>
              <a:ext uri="{FF2B5EF4-FFF2-40B4-BE49-F238E27FC236}">
                <a16:creationId xmlns:a16="http://schemas.microsoft.com/office/drawing/2014/main" id="{D7AAE718-326D-C968-1AFE-BA4CD73AB8AF}"/>
              </a:ext>
            </a:extLst>
          </p:cNvPr>
          <p:cNvSpPr txBox="1"/>
          <p:nvPr/>
        </p:nvSpPr>
        <p:spPr>
          <a:xfrm>
            <a:off x="707390" y="1495947"/>
            <a:ext cx="6982459" cy="2617470"/>
          </a:xfrm>
          <a:prstGeom prst="rect">
            <a:avLst/>
          </a:prstGeom>
        </p:spPr>
        <p:txBody>
          <a:bodyPr vert="horz" wrap="square" lIns="0" tIns="175260" rIns="0" bIns="0" rtlCol="0">
            <a:spAutoFit/>
          </a:bodyPr>
          <a:lstStyle/>
          <a:p>
            <a:pPr marL="242570" indent="-229870">
              <a:spcBef>
                <a:spcPts val="1380"/>
              </a:spcBef>
              <a:buClr>
                <a:srgbClr val="000000"/>
              </a:buClr>
              <a:buFont typeface="Arial MT"/>
              <a:buChar char="•"/>
              <a:tabLst>
                <a:tab pos="242570" algn="l"/>
              </a:tabLst>
            </a:pPr>
            <a:r>
              <a:rPr sz="2200" dirty="0">
                <a:solidFill>
                  <a:srgbClr val="A6A6A6"/>
                </a:solidFill>
                <a:latin typeface="Palatino Linotype"/>
                <a:cs typeface="Palatino Linotype"/>
              </a:rPr>
              <a:t>How</a:t>
            </a:r>
            <a:r>
              <a:rPr sz="2200" spc="-30" dirty="0">
                <a:solidFill>
                  <a:srgbClr val="A6A6A6"/>
                </a:solidFill>
                <a:latin typeface="Palatino Linotype"/>
                <a:cs typeface="Palatino Linotype"/>
              </a:rPr>
              <a:t> </a:t>
            </a:r>
            <a:r>
              <a:rPr sz="2200" dirty="0">
                <a:solidFill>
                  <a:srgbClr val="A6A6A6"/>
                </a:solidFill>
                <a:latin typeface="Palatino Linotype"/>
                <a:cs typeface="Palatino Linotype"/>
              </a:rPr>
              <a:t>to</a:t>
            </a:r>
            <a:r>
              <a:rPr sz="2200" spc="-35" dirty="0">
                <a:solidFill>
                  <a:srgbClr val="A6A6A6"/>
                </a:solidFill>
                <a:latin typeface="Palatino Linotype"/>
                <a:cs typeface="Palatino Linotype"/>
              </a:rPr>
              <a:t> </a:t>
            </a:r>
            <a:r>
              <a:rPr sz="2200" dirty="0">
                <a:solidFill>
                  <a:srgbClr val="A6A6A6"/>
                </a:solidFill>
                <a:latin typeface="Palatino Linotype"/>
                <a:cs typeface="Palatino Linotype"/>
              </a:rPr>
              <a:t>generate</a:t>
            </a:r>
            <a:r>
              <a:rPr sz="2200" spc="-30" dirty="0">
                <a:solidFill>
                  <a:srgbClr val="A6A6A6"/>
                </a:solidFill>
                <a:latin typeface="Palatino Linotype"/>
                <a:cs typeface="Palatino Linotype"/>
              </a:rPr>
              <a:t> </a:t>
            </a:r>
            <a:r>
              <a:rPr sz="2200" dirty="0">
                <a:solidFill>
                  <a:srgbClr val="A6A6A6"/>
                </a:solidFill>
                <a:latin typeface="Palatino Linotype"/>
                <a:cs typeface="Palatino Linotype"/>
              </a:rPr>
              <a:t>code</a:t>
            </a:r>
            <a:r>
              <a:rPr sz="2200" spc="-35" dirty="0">
                <a:solidFill>
                  <a:srgbClr val="A6A6A6"/>
                </a:solidFill>
                <a:latin typeface="Palatino Linotype"/>
                <a:cs typeface="Palatino Linotype"/>
              </a:rPr>
              <a:t> </a:t>
            </a:r>
            <a:r>
              <a:rPr sz="2200" dirty="0">
                <a:solidFill>
                  <a:srgbClr val="A6A6A6"/>
                </a:solidFill>
                <a:latin typeface="Palatino Linotype"/>
                <a:cs typeface="Palatino Linotype"/>
              </a:rPr>
              <a:t>for</a:t>
            </a:r>
            <a:r>
              <a:rPr sz="2200" spc="-25" dirty="0">
                <a:solidFill>
                  <a:srgbClr val="A6A6A6"/>
                </a:solidFill>
                <a:latin typeface="Palatino Linotype"/>
                <a:cs typeface="Palatino Linotype"/>
              </a:rPr>
              <a:t> </a:t>
            </a:r>
            <a:r>
              <a:rPr sz="2200" dirty="0">
                <a:solidFill>
                  <a:srgbClr val="A6A6A6"/>
                </a:solidFill>
                <a:latin typeface="Palatino Linotype"/>
                <a:cs typeface="Palatino Linotype"/>
              </a:rPr>
              <a:t>procedure</a:t>
            </a:r>
            <a:r>
              <a:rPr sz="2200" spc="-30" dirty="0">
                <a:solidFill>
                  <a:srgbClr val="A6A6A6"/>
                </a:solidFill>
                <a:latin typeface="Palatino Linotype"/>
                <a:cs typeface="Palatino Linotype"/>
              </a:rPr>
              <a:t> </a:t>
            </a:r>
            <a:r>
              <a:rPr sz="2200" dirty="0">
                <a:solidFill>
                  <a:srgbClr val="A6A6A6"/>
                </a:solidFill>
                <a:latin typeface="Palatino Linotype"/>
                <a:cs typeface="Palatino Linotype"/>
              </a:rPr>
              <a:t>calls</a:t>
            </a:r>
            <a:r>
              <a:rPr sz="2200" spc="-25" dirty="0">
                <a:solidFill>
                  <a:srgbClr val="A6A6A6"/>
                </a:solidFill>
                <a:latin typeface="Palatino Linotype"/>
                <a:cs typeface="Palatino Linotype"/>
              </a:rPr>
              <a:t> </a:t>
            </a:r>
            <a:r>
              <a:rPr sz="2200" dirty="0">
                <a:solidFill>
                  <a:srgbClr val="A6A6A6"/>
                </a:solidFill>
                <a:latin typeface="Palatino Linotype"/>
                <a:cs typeface="Palatino Linotype"/>
              </a:rPr>
              <a:t>and</a:t>
            </a:r>
            <a:r>
              <a:rPr sz="2200" spc="-25" dirty="0">
                <a:solidFill>
                  <a:srgbClr val="A6A6A6"/>
                </a:solidFill>
                <a:latin typeface="Palatino Linotype"/>
                <a:cs typeface="Palatino Linotype"/>
              </a:rPr>
              <a:t> </a:t>
            </a:r>
            <a:r>
              <a:rPr sz="2200" spc="-10" dirty="0">
                <a:solidFill>
                  <a:srgbClr val="A6A6A6"/>
                </a:solidFill>
                <a:latin typeface="Palatino Linotype"/>
                <a:cs typeface="Palatino Linotype"/>
              </a:rPr>
              <a:t>returns?</a:t>
            </a:r>
            <a:endParaRPr sz="2200">
              <a:solidFill>
                <a:sysClr val="windowText" lastClr="000000"/>
              </a:solidFill>
              <a:latin typeface="Palatino Linotype"/>
              <a:cs typeface="Palatino Linotype"/>
            </a:endParaRPr>
          </a:p>
          <a:p>
            <a:pPr marL="697865" lvl="1" indent="-227965">
              <a:spcBef>
                <a:spcPts val="1045"/>
              </a:spcBef>
              <a:buClr>
                <a:srgbClr val="000000"/>
              </a:buClr>
              <a:buFont typeface="Wingdings"/>
              <a:buChar char=""/>
              <a:tabLst>
                <a:tab pos="697865" algn="l"/>
              </a:tabLst>
            </a:pPr>
            <a:r>
              <a:rPr dirty="0">
                <a:solidFill>
                  <a:srgbClr val="A6A6A6"/>
                </a:solidFill>
                <a:latin typeface="Palatino Linotype"/>
                <a:cs typeface="Palatino Linotype"/>
              </a:rPr>
              <a:t>Static</a:t>
            </a:r>
            <a:r>
              <a:rPr spc="-65" dirty="0">
                <a:solidFill>
                  <a:srgbClr val="A6A6A6"/>
                </a:solidFill>
                <a:latin typeface="Palatino Linotype"/>
                <a:cs typeface="Palatino Linotype"/>
              </a:rPr>
              <a:t> </a:t>
            </a:r>
            <a:r>
              <a:rPr dirty="0">
                <a:solidFill>
                  <a:srgbClr val="A6A6A6"/>
                </a:solidFill>
                <a:latin typeface="Palatino Linotype"/>
                <a:cs typeface="Palatino Linotype"/>
              </a:rPr>
              <a:t>allocation</a:t>
            </a:r>
            <a:r>
              <a:rPr spc="-35" dirty="0">
                <a:solidFill>
                  <a:srgbClr val="A6A6A6"/>
                </a:solidFill>
                <a:latin typeface="Palatino Linotype"/>
                <a:cs typeface="Palatino Linotype"/>
              </a:rPr>
              <a:t> (</a:t>
            </a:r>
            <a:r>
              <a:rPr dirty="0">
                <a:solidFill>
                  <a:srgbClr val="A6A6A6"/>
                </a:solidFill>
                <a:latin typeface="SimSun"/>
                <a:cs typeface="SimSun"/>
              </a:rPr>
              <a:t>静态分配</a:t>
            </a:r>
            <a:r>
              <a:rPr spc="-50" dirty="0">
                <a:solidFill>
                  <a:srgbClr val="A6A6A6"/>
                </a:solidFill>
                <a:latin typeface="Palatino Linotype"/>
                <a:cs typeface="Palatino Linotype"/>
              </a:rPr>
              <a:t>)</a:t>
            </a:r>
            <a:endParaRPr>
              <a:solidFill>
                <a:sysClr val="windowText" lastClr="000000"/>
              </a:solidFill>
              <a:latin typeface="Palatino Linotype"/>
              <a:cs typeface="Palatino Linotype"/>
            </a:endParaRPr>
          </a:p>
          <a:p>
            <a:pPr marL="697865" lvl="1" indent="-227965">
              <a:spcBef>
                <a:spcPts val="1060"/>
              </a:spcBef>
              <a:buClr>
                <a:srgbClr val="000000"/>
              </a:buClr>
              <a:buFont typeface="Wingdings"/>
              <a:buChar char=""/>
              <a:tabLst>
                <a:tab pos="697865" algn="l"/>
              </a:tabLst>
            </a:pPr>
            <a:r>
              <a:rPr dirty="0">
                <a:solidFill>
                  <a:srgbClr val="A6A6A6"/>
                </a:solidFill>
                <a:latin typeface="Palatino Linotype"/>
                <a:cs typeface="Palatino Linotype"/>
              </a:rPr>
              <a:t>Stack</a:t>
            </a:r>
            <a:r>
              <a:rPr spc="-60" dirty="0">
                <a:solidFill>
                  <a:srgbClr val="A6A6A6"/>
                </a:solidFill>
                <a:latin typeface="Palatino Linotype"/>
                <a:cs typeface="Palatino Linotype"/>
              </a:rPr>
              <a:t> </a:t>
            </a:r>
            <a:r>
              <a:rPr dirty="0">
                <a:solidFill>
                  <a:srgbClr val="A6A6A6"/>
                </a:solidFill>
                <a:latin typeface="Palatino Linotype"/>
                <a:cs typeface="Palatino Linotype"/>
              </a:rPr>
              <a:t>allocation</a:t>
            </a:r>
            <a:r>
              <a:rPr spc="-35" dirty="0">
                <a:solidFill>
                  <a:srgbClr val="A6A6A6"/>
                </a:solidFill>
                <a:latin typeface="Palatino Linotype"/>
                <a:cs typeface="Palatino Linotype"/>
              </a:rPr>
              <a:t> (</a:t>
            </a:r>
            <a:r>
              <a:rPr dirty="0">
                <a:solidFill>
                  <a:srgbClr val="A6A6A6"/>
                </a:solidFill>
                <a:latin typeface="SimSun"/>
                <a:cs typeface="SimSun"/>
              </a:rPr>
              <a:t>栈式分配</a:t>
            </a:r>
            <a:r>
              <a:rPr spc="-50" dirty="0">
                <a:solidFill>
                  <a:srgbClr val="A6A6A6"/>
                </a:solidFill>
                <a:latin typeface="Palatino Linotype"/>
                <a:cs typeface="Palatino Linotype"/>
              </a:rPr>
              <a:t>)</a:t>
            </a:r>
            <a:endParaRPr>
              <a:solidFill>
                <a:sysClr val="windowText" lastClr="000000"/>
              </a:solidFill>
              <a:latin typeface="Palatino Linotype"/>
              <a:cs typeface="Palatino Linotype"/>
            </a:endParaRPr>
          </a:p>
          <a:p>
            <a:pPr marL="0" lvl="1">
              <a:spcBef>
                <a:spcPts val="1250"/>
              </a:spcBef>
              <a:buFont typeface="Wingdings"/>
              <a:buChar char=""/>
            </a:pPr>
            <a:endParaRPr>
              <a:solidFill>
                <a:sysClr val="windowText" lastClr="000000"/>
              </a:solidFill>
              <a:latin typeface="Palatino Linotype"/>
              <a:cs typeface="Palatino Linotype"/>
            </a:endParaRPr>
          </a:p>
          <a:p>
            <a:pPr marL="242570" marR="168910" indent="-230504">
              <a:lnSpc>
                <a:spcPct val="120900"/>
              </a:lnSpc>
              <a:buFont typeface="Arial MT"/>
              <a:buChar char="•"/>
              <a:tabLst>
                <a:tab pos="242570" algn="l"/>
              </a:tabLst>
            </a:pPr>
            <a:r>
              <a:rPr sz="2200" dirty="0">
                <a:solidFill>
                  <a:sysClr val="windowText" lastClr="000000"/>
                </a:solidFill>
                <a:latin typeface="Palatino Linotype"/>
                <a:cs typeface="Palatino Linotype"/>
              </a:rPr>
              <a:t>How</a:t>
            </a:r>
            <a:r>
              <a:rPr sz="2200" spc="-20" dirty="0">
                <a:solidFill>
                  <a:sysClr val="windowText" lastClr="000000"/>
                </a:solidFill>
                <a:latin typeface="Palatino Linotype"/>
                <a:cs typeface="Palatino Linotype"/>
              </a:rPr>
              <a:t> </a:t>
            </a:r>
            <a:r>
              <a:rPr sz="2200" dirty="0">
                <a:solidFill>
                  <a:sysClr val="windowText" lastClr="000000"/>
                </a:solidFill>
                <a:latin typeface="Palatino Linotype"/>
                <a:cs typeface="Palatino Linotype"/>
              </a:rPr>
              <a:t>to</a:t>
            </a:r>
            <a:r>
              <a:rPr sz="2200" spc="-25" dirty="0">
                <a:solidFill>
                  <a:sysClr val="windowText" lastClr="000000"/>
                </a:solidFill>
                <a:latin typeface="Palatino Linotype"/>
                <a:cs typeface="Palatino Linotype"/>
              </a:rPr>
              <a:t> </a:t>
            </a:r>
            <a:r>
              <a:rPr sz="2200" dirty="0">
                <a:solidFill>
                  <a:sysClr val="windowText" lastClr="000000"/>
                </a:solidFill>
                <a:latin typeface="Palatino Linotype"/>
                <a:cs typeface="Palatino Linotype"/>
              </a:rPr>
              <a:t>replace</a:t>
            </a:r>
            <a:r>
              <a:rPr sz="2200" spc="-25" dirty="0">
                <a:solidFill>
                  <a:sysClr val="windowText" lastClr="000000"/>
                </a:solidFill>
                <a:latin typeface="Palatino Linotype"/>
                <a:cs typeface="Palatino Linotype"/>
              </a:rPr>
              <a:t> </a:t>
            </a:r>
            <a:r>
              <a:rPr sz="2200" dirty="0">
                <a:solidFill>
                  <a:sysClr val="windowText" lastClr="000000"/>
                </a:solidFill>
                <a:latin typeface="Palatino Linotype"/>
                <a:cs typeface="Palatino Linotype"/>
              </a:rPr>
              <a:t>names</a:t>
            </a:r>
            <a:r>
              <a:rPr sz="2200" spc="-15" dirty="0">
                <a:solidFill>
                  <a:sysClr val="windowText" lastClr="000000"/>
                </a:solidFill>
                <a:latin typeface="Palatino Linotype"/>
                <a:cs typeface="Palatino Linotype"/>
              </a:rPr>
              <a:t> </a:t>
            </a:r>
            <a:r>
              <a:rPr sz="2200" dirty="0">
                <a:solidFill>
                  <a:sysClr val="windowText" lastClr="000000"/>
                </a:solidFill>
                <a:latin typeface="Palatino Linotype"/>
                <a:cs typeface="Palatino Linotype"/>
              </a:rPr>
              <a:t>in</a:t>
            </a:r>
            <a:r>
              <a:rPr sz="2200" spc="-30" dirty="0">
                <a:solidFill>
                  <a:sysClr val="windowText" lastClr="000000"/>
                </a:solidFill>
                <a:latin typeface="Palatino Linotype"/>
                <a:cs typeface="Palatino Linotype"/>
              </a:rPr>
              <a:t> </a:t>
            </a:r>
            <a:r>
              <a:rPr sz="2200" dirty="0">
                <a:solidFill>
                  <a:sysClr val="windowText" lastClr="000000"/>
                </a:solidFill>
                <a:latin typeface="Palatino Linotype"/>
                <a:cs typeface="Palatino Linotype"/>
              </a:rPr>
              <a:t>IR</a:t>
            </a:r>
            <a:r>
              <a:rPr sz="2200" spc="-65" dirty="0">
                <a:solidFill>
                  <a:sysClr val="windowText" lastClr="000000"/>
                </a:solidFill>
                <a:latin typeface="Palatino Linotype"/>
                <a:cs typeface="Palatino Linotype"/>
              </a:rPr>
              <a:t> </a:t>
            </a:r>
            <a:r>
              <a:rPr sz="2200" dirty="0">
                <a:solidFill>
                  <a:sysClr val="windowText" lastClr="000000"/>
                </a:solidFill>
                <a:latin typeface="Palatino Linotype"/>
                <a:cs typeface="Palatino Linotype"/>
              </a:rPr>
              <a:t>by</a:t>
            </a:r>
            <a:r>
              <a:rPr sz="2200" spc="-20" dirty="0">
                <a:solidFill>
                  <a:sysClr val="windowText" lastClr="000000"/>
                </a:solidFill>
                <a:latin typeface="Palatino Linotype"/>
                <a:cs typeface="Palatino Linotype"/>
              </a:rPr>
              <a:t> </a:t>
            </a:r>
            <a:r>
              <a:rPr sz="2200" dirty="0">
                <a:solidFill>
                  <a:sysClr val="windowText" lastClr="000000"/>
                </a:solidFill>
                <a:latin typeface="Palatino Linotype"/>
                <a:cs typeface="Palatino Linotype"/>
              </a:rPr>
              <a:t>code</a:t>
            </a:r>
            <a:r>
              <a:rPr sz="2200" spc="-20" dirty="0">
                <a:solidFill>
                  <a:sysClr val="windowText" lastClr="000000"/>
                </a:solidFill>
                <a:latin typeface="Palatino Linotype"/>
                <a:cs typeface="Palatino Linotype"/>
              </a:rPr>
              <a:t> </a:t>
            </a:r>
            <a:r>
              <a:rPr sz="2200" dirty="0">
                <a:solidFill>
                  <a:sysClr val="windowText" lastClr="000000"/>
                </a:solidFill>
                <a:latin typeface="Palatino Linotype"/>
                <a:cs typeface="Palatino Linotype"/>
              </a:rPr>
              <a:t>to</a:t>
            </a:r>
            <a:r>
              <a:rPr sz="2200" spc="-25" dirty="0">
                <a:solidFill>
                  <a:sysClr val="windowText" lastClr="000000"/>
                </a:solidFill>
                <a:latin typeface="Palatino Linotype"/>
                <a:cs typeface="Palatino Linotype"/>
              </a:rPr>
              <a:t> </a:t>
            </a:r>
            <a:r>
              <a:rPr sz="2200" dirty="0">
                <a:solidFill>
                  <a:sysClr val="windowText" lastClr="000000"/>
                </a:solidFill>
                <a:latin typeface="Palatino Linotype"/>
                <a:cs typeface="Palatino Linotype"/>
              </a:rPr>
              <a:t>access</a:t>
            </a:r>
            <a:r>
              <a:rPr sz="2200" spc="-15" dirty="0">
                <a:solidFill>
                  <a:sysClr val="windowText" lastClr="000000"/>
                </a:solidFill>
                <a:latin typeface="Palatino Linotype"/>
                <a:cs typeface="Palatino Linotype"/>
              </a:rPr>
              <a:t> </a:t>
            </a:r>
            <a:r>
              <a:rPr sz="2200" spc="-10" dirty="0">
                <a:solidFill>
                  <a:sysClr val="windowText" lastClr="000000"/>
                </a:solidFill>
                <a:latin typeface="Palatino Linotype"/>
                <a:cs typeface="Palatino Linotype"/>
              </a:rPr>
              <a:t>storage locations?</a:t>
            </a:r>
            <a:endParaRPr sz="2200">
              <a:solidFill>
                <a:sysClr val="windowText" lastClr="000000"/>
              </a:solidFill>
              <a:latin typeface="Palatino Linotype"/>
              <a:cs typeface="Palatino Linotype"/>
            </a:endParaRPr>
          </a:p>
        </p:txBody>
      </p:sp>
    </p:spTree>
    <p:extLst>
      <p:ext uri="{BB962C8B-B14F-4D97-AF65-F5344CB8AC3E}">
        <p14:creationId xmlns:p14="http://schemas.microsoft.com/office/powerpoint/2010/main" val="254999047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22</a:t>
            </a:fld>
            <a:endParaRPr lang="en-US"/>
          </a:p>
        </p:txBody>
      </p:sp>
      <p:sp>
        <p:nvSpPr>
          <p:cNvPr id="7" name="object 2">
            <a:extLst>
              <a:ext uri="{FF2B5EF4-FFF2-40B4-BE49-F238E27FC236}">
                <a16:creationId xmlns:a16="http://schemas.microsoft.com/office/drawing/2014/main" id="{8BF397CA-C229-8584-2258-7ACA60A797F5}"/>
              </a:ext>
            </a:extLst>
          </p:cNvPr>
          <p:cNvSpPr txBox="1">
            <a:spLocks/>
          </p:cNvSpPr>
          <p:nvPr/>
        </p:nvSpPr>
        <p:spPr>
          <a:xfrm>
            <a:off x="707390" y="524763"/>
            <a:ext cx="7729219" cy="63500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4000" b="1" i="0" u="none" strike="noStrike" kern="0" cap="none" spc="-90" normalizeH="0" baseline="0" noProof="0">
                <a:ln>
                  <a:noFill/>
                </a:ln>
                <a:solidFill>
                  <a:sysClr val="windowText" lastClr="000000"/>
                </a:solidFill>
                <a:effectLst/>
                <a:uLnTx/>
                <a:uFillTx/>
                <a:latin typeface="Palatino Linotype"/>
                <a:ea typeface="+mj-ea"/>
              </a:rPr>
              <a:t>Run-</a:t>
            </a:r>
            <a:r>
              <a:rPr kumimoji="0" lang="en-US" sz="4000" b="1" i="0" u="none" strike="noStrike" kern="0" cap="none" spc="0" normalizeH="0" baseline="0" noProof="0">
                <a:ln>
                  <a:noFill/>
                </a:ln>
                <a:solidFill>
                  <a:sysClr val="windowText" lastClr="000000"/>
                </a:solidFill>
                <a:effectLst/>
                <a:uLnTx/>
                <a:uFillTx/>
                <a:latin typeface="Palatino Linotype"/>
                <a:ea typeface="+mj-ea"/>
              </a:rPr>
              <a:t>Time</a:t>
            </a:r>
            <a:r>
              <a:rPr kumimoji="0" lang="en-US" sz="4000" b="1" i="0" u="none" strike="noStrike" kern="0" cap="none" spc="-100" normalizeH="0" baseline="0" noProof="0">
                <a:ln>
                  <a:noFill/>
                </a:ln>
                <a:solidFill>
                  <a:sysClr val="windowText" lastClr="000000"/>
                </a:solidFill>
                <a:effectLst/>
                <a:uLnTx/>
                <a:uFillTx/>
                <a:latin typeface="Palatino Linotype"/>
                <a:ea typeface="+mj-ea"/>
              </a:rPr>
              <a:t> </a:t>
            </a:r>
            <a:r>
              <a:rPr kumimoji="0" lang="en-US" sz="4000" b="1" i="0" u="none" strike="noStrike" kern="0" cap="none" spc="0" normalizeH="0" baseline="0" noProof="0">
                <a:ln>
                  <a:noFill/>
                </a:ln>
                <a:solidFill>
                  <a:sysClr val="windowText" lastClr="000000"/>
                </a:solidFill>
                <a:effectLst/>
                <a:uLnTx/>
                <a:uFillTx/>
                <a:latin typeface="Palatino Linotype"/>
                <a:ea typeface="+mj-ea"/>
              </a:rPr>
              <a:t>Addresses</a:t>
            </a:r>
            <a:r>
              <a:rPr kumimoji="0" lang="en-US" sz="4000" b="1" i="0" u="none" strike="noStrike" kern="0" cap="none" spc="-100" normalizeH="0" baseline="0" noProof="0">
                <a:ln>
                  <a:noFill/>
                </a:ln>
                <a:solidFill>
                  <a:sysClr val="windowText" lastClr="000000"/>
                </a:solidFill>
                <a:effectLst/>
                <a:uLnTx/>
                <a:uFillTx/>
                <a:latin typeface="Palatino Linotype"/>
                <a:ea typeface="+mj-ea"/>
              </a:rPr>
              <a:t> </a:t>
            </a:r>
            <a:r>
              <a:rPr kumimoji="0" lang="en-US" sz="4000" b="1" i="0" u="none" strike="noStrike" kern="0" cap="none" spc="0" normalizeH="0" baseline="0" noProof="0">
                <a:ln>
                  <a:noFill/>
                </a:ln>
                <a:solidFill>
                  <a:sysClr val="windowText" lastClr="000000"/>
                </a:solidFill>
                <a:effectLst/>
                <a:uLnTx/>
                <a:uFillTx/>
                <a:latin typeface="Palatino Linotype"/>
                <a:ea typeface="+mj-ea"/>
              </a:rPr>
              <a:t>for</a:t>
            </a:r>
            <a:r>
              <a:rPr kumimoji="0" lang="en-US" sz="4000" b="1" i="0" u="none" strike="noStrike" kern="0" cap="none" spc="-95" normalizeH="0" baseline="0" noProof="0">
                <a:ln>
                  <a:noFill/>
                </a:ln>
                <a:solidFill>
                  <a:sysClr val="windowText" lastClr="000000"/>
                </a:solidFill>
                <a:effectLst/>
                <a:uLnTx/>
                <a:uFillTx/>
                <a:latin typeface="Palatino Linotype"/>
                <a:ea typeface="+mj-ea"/>
              </a:rPr>
              <a:t> </a:t>
            </a:r>
            <a:r>
              <a:rPr kumimoji="0" lang="en-US" sz="4000" b="1" i="0" u="none" strike="noStrike" kern="0" cap="none" spc="-10" normalizeH="0" baseline="0" noProof="0">
                <a:ln>
                  <a:noFill/>
                </a:ln>
                <a:solidFill>
                  <a:sysClr val="windowText" lastClr="000000"/>
                </a:solidFill>
                <a:effectLst/>
                <a:uLnTx/>
                <a:uFillTx/>
                <a:latin typeface="Palatino Linotype"/>
                <a:ea typeface="+mj-ea"/>
              </a:rPr>
              <a:t>Names</a:t>
            </a:r>
            <a:endParaRPr kumimoji="0" lang="en-US" sz="4000" b="1" i="0" u="none" strike="noStrike" kern="0" cap="none" spc="-10" normalizeH="0" baseline="0" noProof="0" dirty="0">
              <a:ln>
                <a:noFill/>
              </a:ln>
              <a:solidFill>
                <a:sysClr val="windowText" lastClr="000000"/>
              </a:solidFill>
              <a:effectLst/>
              <a:uLnTx/>
              <a:uFillTx/>
              <a:latin typeface="Palatino Linotype"/>
              <a:ea typeface="+mj-ea"/>
            </a:endParaRPr>
          </a:p>
        </p:txBody>
      </p:sp>
      <p:sp>
        <p:nvSpPr>
          <p:cNvPr id="8" name="object 3">
            <a:extLst>
              <a:ext uri="{FF2B5EF4-FFF2-40B4-BE49-F238E27FC236}">
                <a16:creationId xmlns:a16="http://schemas.microsoft.com/office/drawing/2014/main" id="{1547E9C1-8B93-4382-EE69-388213C0FC18}"/>
              </a:ext>
            </a:extLst>
          </p:cNvPr>
          <p:cNvSpPr txBox="1"/>
          <p:nvPr/>
        </p:nvSpPr>
        <p:spPr>
          <a:xfrm>
            <a:off x="707390" y="1600200"/>
            <a:ext cx="7465695" cy="3980179"/>
          </a:xfrm>
          <a:prstGeom prst="rect">
            <a:avLst/>
          </a:prstGeom>
        </p:spPr>
        <p:txBody>
          <a:bodyPr vert="horz" wrap="square" lIns="0" tIns="12700" rIns="0" bIns="0" rtlCol="0">
            <a:spAutoFit/>
          </a:bodyPr>
          <a:lstStyle/>
          <a:p>
            <a:pPr marL="242570" marR="589280" indent="-230504">
              <a:lnSpc>
                <a:spcPct val="117300"/>
              </a:lnSpc>
              <a:spcBef>
                <a:spcPts val="100"/>
              </a:spcBef>
              <a:buFont typeface="Arial MT"/>
              <a:buChar char="•"/>
              <a:tabLst>
                <a:tab pos="242570" algn="l"/>
              </a:tabLst>
            </a:pPr>
            <a:r>
              <a:rPr sz="2200" spc="-20" dirty="0">
                <a:solidFill>
                  <a:sysClr val="windowText" lastClr="000000"/>
                </a:solidFill>
                <a:latin typeface="Palatino Linotype"/>
                <a:cs typeface="Palatino Linotype"/>
              </a:rPr>
              <a:t>A</a:t>
            </a:r>
            <a:r>
              <a:rPr sz="2200" spc="-125" dirty="0">
                <a:solidFill>
                  <a:sysClr val="windowText" lastClr="000000"/>
                </a:solidFill>
                <a:latin typeface="Palatino Linotype"/>
                <a:cs typeface="Palatino Linotype"/>
              </a:rPr>
              <a:t> </a:t>
            </a:r>
            <a:r>
              <a:rPr sz="2200" dirty="0">
                <a:solidFill>
                  <a:srgbClr val="FF0000"/>
                </a:solidFill>
                <a:latin typeface="Palatino Linotype"/>
                <a:cs typeface="Palatino Linotype"/>
              </a:rPr>
              <a:t>name</a:t>
            </a:r>
            <a:r>
              <a:rPr sz="2200" spc="-45" dirty="0">
                <a:solidFill>
                  <a:srgbClr val="FF0000"/>
                </a:solidFill>
                <a:latin typeface="Palatino Linotype"/>
                <a:cs typeface="Palatino Linotype"/>
              </a:rPr>
              <a:t> </a:t>
            </a:r>
            <a:r>
              <a:rPr sz="2200" dirty="0">
                <a:solidFill>
                  <a:sysClr val="windowText" lastClr="000000"/>
                </a:solidFill>
                <a:latin typeface="Palatino Linotype"/>
                <a:cs typeface="Palatino Linotype"/>
              </a:rPr>
              <a:t>in</a:t>
            </a:r>
            <a:r>
              <a:rPr sz="2200" spc="-30" dirty="0">
                <a:solidFill>
                  <a:sysClr val="windowText" lastClr="000000"/>
                </a:solidFill>
                <a:latin typeface="Palatino Linotype"/>
                <a:cs typeface="Palatino Linotype"/>
              </a:rPr>
              <a:t> </a:t>
            </a:r>
            <a:r>
              <a:rPr sz="2200" dirty="0">
                <a:solidFill>
                  <a:sysClr val="windowText" lastClr="000000"/>
                </a:solidFill>
                <a:latin typeface="Palatino Linotype"/>
                <a:cs typeface="Palatino Linotype"/>
              </a:rPr>
              <a:t>a</a:t>
            </a:r>
            <a:r>
              <a:rPr sz="2200" spc="-25" dirty="0">
                <a:solidFill>
                  <a:sysClr val="windowText" lastClr="000000"/>
                </a:solidFill>
                <a:latin typeface="Palatino Linotype"/>
                <a:cs typeface="Palatino Linotype"/>
              </a:rPr>
              <a:t> </a:t>
            </a:r>
            <a:r>
              <a:rPr sz="2200" spc="-10" dirty="0">
                <a:solidFill>
                  <a:sysClr val="windowText" lastClr="000000"/>
                </a:solidFill>
                <a:latin typeface="Palatino Linotype"/>
                <a:cs typeface="Palatino Linotype"/>
              </a:rPr>
              <a:t>three-</a:t>
            </a:r>
            <a:r>
              <a:rPr sz="2200" dirty="0">
                <a:solidFill>
                  <a:sysClr val="windowText" lastClr="000000"/>
                </a:solidFill>
                <a:latin typeface="Palatino Linotype"/>
                <a:cs typeface="Palatino Linotype"/>
              </a:rPr>
              <a:t>address</a:t>
            </a:r>
            <a:r>
              <a:rPr sz="2200" spc="-15" dirty="0">
                <a:solidFill>
                  <a:sysClr val="windowText" lastClr="000000"/>
                </a:solidFill>
                <a:latin typeface="Palatino Linotype"/>
                <a:cs typeface="Palatino Linotype"/>
              </a:rPr>
              <a:t> </a:t>
            </a:r>
            <a:r>
              <a:rPr sz="2200" dirty="0">
                <a:solidFill>
                  <a:sysClr val="windowText" lastClr="000000"/>
                </a:solidFill>
                <a:latin typeface="Palatino Linotype"/>
                <a:cs typeface="Palatino Linotype"/>
              </a:rPr>
              <a:t>statement</a:t>
            </a:r>
            <a:r>
              <a:rPr sz="2200" spc="-25" dirty="0">
                <a:solidFill>
                  <a:sysClr val="windowText" lastClr="000000"/>
                </a:solidFill>
                <a:latin typeface="Palatino Linotype"/>
                <a:cs typeface="Palatino Linotype"/>
              </a:rPr>
              <a:t> </a:t>
            </a:r>
            <a:r>
              <a:rPr sz="2200" dirty="0">
                <a:solidFill>
                  <a:sysClr val="windowText" lastClr="000000"/>
                </a:solidFill>
                <a:latin typeface="Palatino Linotype"/>
                <a:cs typeface="Palatino Linotype"/>
              </a:rPr>
              <a:t>corresponds</a:t>
            </a:r>
            <a:r>
              <a:rPr sz="2200" spc="-15" dirty="0">
                <a:solidFill>
                  <a:sysClr val="windowText" lastClr="000000"/>
                </a:solidFill>
                <a:latin typeface="Palatino Linotype"/>
                <a:cs typeface="Palatino Linotype"/>
              </a:rPr>
              <a:t> </a:t>
            </a:r>
            <a:r>
              <a:rPr sz="2200" dirty="0">
                <a:solidFill>
                  <a:sysClr val="windowText" lastClr="000000"/>
                </a:solidFill>
                <a:latin typeface="Palatino Linotype"/>
                <a:cs typeface="Palatino Linotype"/>
              </a:rPr>
              <a:t>to</a:t>
            </a:r>
            <a:r>
              <a:rPr sz="2200" spc="-30" dirty="0">
                <a:solidFill>
                  <a:sysClr val="windowText" lastClr="000000"/>
                </a:solidFill>
                <a:latin typeface="Palatino Linotype"/>
                <a:cs typeface="Palatino Linotype"/>
              </a:rPr>
              <a:t> </a:t>
            </a:r>
            <a:r>
              <a:rPr sz="2200" spc="-60" dirty="0">
                <a:solidFill>
                  <a:sysClr val="windowText" lastClr="000000"/>
                </a:solidFill>
                <a:latin typeface="Palatino Linotype"/>
                <a:cs typeface="Palatino Linotype"/>
              </a:rPr>
              <a:t>a </a:t>
            </a:r>
            <a:r>
              <a:rPr sz="2200" spc="-10" dirty="0">
                <a:solidFill>
                  <a:sysClr val="windowText" lastClr="000000"/>
                </a:solidFill>
                <a:latin typeface="Palatino Linotype"/>
                <a:cs typeface="Palatino Linotype"/>
              </a:rPr>
              <a:t>symbol-</a:t>
            </a:r>
            <a:r>
              <a:rPr sz="2200" dirty="0">
                <a:solidFill>
                  <a:sysClr val="windowText" lastClr="000000"/>
                </a:solidFill>
                <a:latin typeface="Palatino Linotype"/>
                <a:cs typeface="Palatino Linotype"/>
              </a:rPr>
              <a:t>table</a:t>
            </a:r>
            <a:r>
              <a:rPr sz="2200" spc="-5" dirty="0">
                <a:solidFill>
                  <a:sysClr val="windowText" lastClr="000000"/>
                </a:solidFill>
                <a:latin typeface="Palatino Linotype"/>
                <a:cs typeface="Palatino Linotype"/>
              </a:rPr>
              <a:t> </a:t>
            </a:r>
            <a:r>
              <a:rPr sz="2200" spc="-20" dirty="0">
                <a:solidFill>
                  <a:sysClr val="windowText" lastClr="000000"/>
                </a:solidFill>
                <a:latin typeface="Palatino Linotype"/>
                <a:cs typeface="Palatino Linotype"/>
              </a:rPr>
              <a:t>entry</a:t>
            </a:r>
            <a:endParaRPr sz="2200" dirty="0">
              <a:solidFill>
                <a:sysClr val="windowText" lastClr="000000"/>
              </a:solidFill>
              <a:latin typeface="Palatino Linotype"/>
              <a:cs typeface="Palatino Linotype"/>
            </a:endParaRPr>
          </a:p>
          <a:p>
            <a:pPr marL="242570" indent="-229870">
              <a:spcBef>
                <a:spcPts val="2950"/>
              </a:spcBef>
              <a:buFont typeface="Arial MT"/>
              <a:buChar char="•"/>
              <a:tabLst>
                <a:tab pos="242570" algn="l"/>
              </a:tabLst>
            </a:pPr>
            <a:r>
              <a:rPr sz="2200" dirty="0">
                <a:solidFill>
                  <a:sysClr val="windowText" lastClr="000000"/>
                </a:solidFill>
                <a:latin typeface="Palatino Linotype"/>
                <a:cs typeface="Palatino Linotype"/>
              </a:rPr>
              <a:t>Statement</a:t>
            </a:r>
            <a:r>
              <a:rPr sz="2200" spc="-20" dirty="0">
                <a:solidFill>
                  <a:sysClr val="windowText" lastClr="000000"/>
                </a:solidFill>
                <a:latin typeface="Palatino Linotype"/>
                <a:cs typeface="Palatino Linotype"/>
              </a:rPr>
              <a:t> </a:t>
            </a:r>
            <a:r>
              <a:rPr sz="2200" dirty="0">
                <a:solidFill>
                  <a:srgbClr val="0432FF"/>
                </a:solidFill>
                <a:latin typeface="Consolas"/>
                <a:cs typeface="Consolas"/>
              </a:rPr>
              <a:t>x</a:t>
            </a:r>
            <a:r>
              <a:rPr sz="2200" spc="-25" dirty="0">
                <a:solidFill>
                  <a:srgbClr val="0432FF"/>
                </a:solidFill>
                <a:latin typeface="Consolas"/>
                <a:cs typeface="Consolas"/>
              </a:rPr>
              <a:t> </a:t>
            </a:r>
            <a:r>
              <a:rPr sz="2200" dirty="0">
                <a:solidFill>
                  <a:srgbClr val="0432FF"/>
                </a:solidFill>
                <a:latin typeface="Consolas"/>
                <a:cs typeface="Consolas"/>
              </a:rPr>
              <a:t>=</a:t>
            </a:r>
            <a:r>
              <a:rPr sz="2200" spc="-20" dirty="0">
                <a:solidFill>
                  <a:srgbClr val="0432FF"/>
                </a:solidFill>
                <a:latin typeface="Consolas"/>
                <a:cs typeface="Consolas"/>
              </a:rPr>
              <a:t> </a:t>
            </a:r>
            <a:r>
              <a:rPr sz="2200" spc="-50" dirty="0">
                <a:solidFill>
                  <a:srgbClr val="0432FF"/>
                </a:solidFill>
                <a:latin typeface="Consolas"/>
                <a:cs typeface="Consolas"/>
              </a:rPr>
              <a:t>0</a:t>
            </a:r>
            <a:endParaRPr sz="2200" dirty="0">
              <a:solidFill>
                <a:sysClr val="windowText" lastClr="000000"/>
              </a:solidFill>
              <a:latin typeface="Consolas"/>
              <a:cs typeface="Consolas"/>
            </a:endParaRPr>
          </a:p>
          <a:p>
            <a:pPr marL="697865" lvl="1" indent="-227965">
              <a:spcBef>
                <a:spcPts val="1670"/>
              </a:spcBef>
              <a:buFont typeface="Wingdings"/>
              <a:buChar char=""/>
              <a:tabLst>
                <a:tab pos="697865" algn="l"/>
              </a:tabLst>
            </a:pPr>
            <a:r>
              <a:rPr dirty="0">
                <a:solidFill>
                  <a:sysClr val="windowText" lastClr="000000"/>
                </a:solidFill>
                <a:latin typeface="Palatino Linotype"/>
                <a:cs typeface="Palatino Linotype"/>
              </a:rPr>
              <a:t>Suppose</a:t>
            </a:r>
            <a:r>
              <a:rPr spc="-75"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the</a:t>
            </a:r>
            <a:r>
              <a:rPr spc="-35" dirty="0">
                <a:solidFill>
                  <a:sysClr val="windowText" lastClr="000000"/>
                </a:solidFill>
                <a:latin typeface="Palatino Linotype"/>
                <a:cs typeface="Palatino Linotype"/>
              </a:rPr>
              <a:t> </a:t>
            </a:r>
            <a:r>
              <a:rPr spc="-10" dirty="0">
                <a:solidFill>
                  <a:sysClr val="windowText" lastClr="000000"/>
                </a:solidFill>
                <a:latin typeface="Palatino Linotype"/>
                <a:cs typeface="Palatino Linotype"/>
              </a:rPr>
              <a:t>symbol-</a:t>
            </a:r>
            <a:r>
              <a:rPr dirty="0">
                <a:solidFill>
                  <a:sysClr val="windowText" lastClr="000000"/>
                </a:solidFill>
                <a:latin typeface="Palatino Linotype"/>
                <a:cs typeface="Palatino Linotype"/>
              </a:rPr>
              <a:t>table</a:t>
            </a:r>
            <a:r>
              <a:rPr spc="-35"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entry</a:t>
            </a:r>
            <a:r>
              <a:rPr spc="-40"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for</a:t>
            </a:r>
            <a:r>
              <a:rPr spc="-35" dirty="0">
                <a:solidFill>
                  <a:sysClr val="windowText" lastClr="000000"/>
                </a:solidFill>
                <a:latin typeface="Palatino Linotype"/>
                <a:cs typeface="Palatino Linotype"/>
              </a:rPr>
              <a:t> </a:t>
            </a:r>
            <a:r>
              <a:rPr dirty="0">
                <a:solidFill>
                  <a:sysClr val="windowText" lastClr="000000"/>
                </a:solidFill>
                <a:latin typeface="Consolas"/>
                <a:cs typeface="Consolas"/>
              </a:rPr>
              <a:t>x</a:t>
            </a:r>
            <a:r>
              <a:rPr spc="-545" dirty="0">
                <a:solidFill>
                  <a:sysClr val="windowText" lastClr="000000"/>
                </a:solidFill>
                <a:latin typeface="Consolas"/>
                <a:cs typeface="Consolas"/>
              </a:rPr>
              <a:t> </a:t>
            </a:r>
            <a:r>
              <a:rPr dirty="0">
                <a:solidFill>
                  <a:sysClr val="windowText" lastClr="000000"/>
                </a:solidFill>
                <a:latin typeface="Palatino Linotype"/>
                <a:cs typeface="Palatino Linotype"/>
              </a:rPr>
              <a:t>contains</a:t>
            </a:r>
            <a:r>
              <a:rPr spc="-40"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a</a:t>
            </a:r>
            <a:r>
              <a:rPr spc="-35"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relative</a:t>
            </a:r>
            <a:r>
              <a:rPr spc="-40"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address</a:t>
            </a:r>
            <a:r>
              <a:rPr spc="-40" dirty="0">
                <a:solidFill>
                  <a:sysClr val="windowText" lastClr="000000"/>
                </a:solidFill>
                <a:latin typeface="Palatino Linotype"/>
                <a:cs typeface="Palatino Linotype"/>
              </a:rPr>
              <a:t> </a:t>
            </a:r>
            <a:r>
              <a:rPr spc="-25" dirty="0">
                <a:solidFill>
                  <a:sysClr val="windowText" lastClr="000000"/>
                </a:solidFill>
                <a:latin typeface="Palatino Linotype"/>
                <a:cs typeface="Palatino Linotype"/>
              </a:rPr>
              <a:t>12</a:t>
            </a:r>
            <a:endParaRPr dirty="0">
              <a:solidFill>
                <a:sysClr val="windowText" lastClr="000000"/>
              </a:solidFill>
              <a:latin typeface="Palatino Linotype"/>
              <a:cs typeface="Palatino Linotype"/>
            </a:endParaRPr>
          </a:p>
          <a:p>
            <a:pPr marL="697865" lvl="1" indent="-227965">
              <a:spcBef>
                <a:spcPts val="1635"/>
              </a:spcBef>
              <a:buFont typeface="Wingdings"/>
              <a:buChar char=""/>
              <a:tabLst>
                <a:tab pos="697865" algn="l"/>
              </a:tabLst>
            </a:pPr>
            <a:r>
              <a:rPr dirty="0">
                <a:solidFill>
                  <a:sysClr val="windowText" lastClr="000000"/>
                </a:solidFill>
                <a:latin typeface="Palatino Linotype"/>
                <a:cs typeface="Palatino Linotype"/>
              </a:rPr>
              <a:t>If</a:t>
            </a:r>
            <a:r>
              <a:rPr spc="-50" dirty="0">
                <a:solidFill>
                  <a:sysClr val="windowText" lastClr="000000"/>
                </a:solidFill>
                <a:latin typeface="Palatino Linotype"/>
                <a:cs typeface="Palatino Linotype"/>
              </a:rPr>
              <a:t> </a:t>
            </a:r>
            <a:r>
              <a:rPr dirty="0">
                <a:solidFill>
                  <a:sysClr val="windowText" lastClr="000000"/>
                </a:solidFill>
                <a:latin typeface="Consolas"/>
                <a:cs typeface="Consolas"/>
              </a:rPr>
              <a:t>x</a:t>
            </a:r>
            <a:r>
              <a:rPr spc="-545" dirty="0">
                <a:solidFill>
                  <a:sysClr val="windowText" lastClr="000000"/>
                </a:solidFill>
                <a:latin typeface="Consolas"/>
                <a:cs typeface="Consolas"/>
              </a:rPr>
              <a:t> </a:t>
            </a:r>
            <a:r>
              <a:rPr dirty="0">
                <a:solidFill>
                  <a:sysClr val="windowText" lastClr="000000"/>
                </a:solidFill>
                <a:latin typeface="Palatino Linotype"/>
                <a:cs typeface="Palatino Linotype"/>
              </a:rPr>
              <a:t>is</a:t>
            </a:r>
            <a:r>
              <a:rPr spc="-30"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in</a:t>
            </a:r>
            <a:r>
              <a:rPr spc="-25"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a</a:t>
            </a:r>
            <a:r>
              <a:rPr spc="-25" dirty="0">
                <a:solidFill>
                  <a:sysClr val="windowText" lastClr="000000"/>
                </a:solidFill>
                <a:latin typeface="Palatino Linotype"/>
                <a:cs typeface="Palatino Linotype"/>
              </a:rPr>
              <a:t> </a:t>
            </a:r>
            <a:r>
              <a:rPr dirty="0">
                <a:solidFill>
                  <a:srgbClr val="FF0000"/>
                </a:solidFill>
                <a:latin typeface="Palatino Linotype"/>
                <a:cs typeface="Palatino Linotype"/>
              </a:rPr>
              <a:t>statically</a:t>
            </a:r>
            <a:r>
              <a:rPr spc="-25" dirty="0">
                <a:solidFill>
                  <a:srgbClr val="FF0000"/>
                </a:solidFill>
                <a:latin typeface="Palatino Linotype"/>
                <a:cs typeface="Palatino Linotype"/>
              </a:rPr>
              <a:t> </a:t>
            </a:r>
            <a:r>
              <a:rPr dirty="0">
                <a:solidFill>
                  <a:srgbClr val="FF0000"/>
                </a:solidFill>
                <a:latin typeface="Palatino Linotype"/>
                <a:cs typeface="Palatino Linotype"/>
              </a:rPr>
              <a:t>allocated</a:t>
            </a:r>
            <a:r>
              <a:rPr spc="-25" dirty="0">
                <a:solidFill>
                  <a:srgbClr val="FF0000"/>
                </a:solidFill>
                <a:latin typeface="Palatino Linotype"/>
                <a:cs typeface="Palatino Linotype"/>
              </a:rPr>
              <a:t> </a:t>
            </a:r>
            <a:r>
              <a:rPr dirty="0">
                <a:solidFill>
                  <a:srgbClr val="FF0000"/>
                </a:solidFill>
                <a:latin typeface="Palatino Linotype"/>
                <a:cs typeface="Palatino Linotype"/>
              </a:rPr>
              <a:t>area</a:t>
            </a:r>
            <a:r>
              <a:rPr spc="-25" dirty="0">
                <a:solidFill>
                  <a:srgbClr val="FF0000"/>
                </a:solidFill>
                <a:latin typeface="Palatino Linotype"/>
                <a:cs typeface="Palatino Linotype"/>
              </a:rPr>
              <a:t> </a:t>
            </a:r>
            <a:r>
              <a:rPr dirty="0">
                <a:solidFill>
                  <a:sysClr val="windowText" lastClr="000000"/>
                </a:solidFill>
                <a:latin typeface="Palatino Linotype"/>
                <a:cs typeface="Palatino Linotype"/>
              </a:rPr>
              <a:t>(i.e.,</a:t>
            </a:r>
            <a:r>
              <a:rPr spc="-30" dirty="0">
                <a:solidFill>
                  <a:sysClr val="windowText" lastClr="000000"/>
                </a:solidFill>
                <a:latin typeface="Palatino Linotype"/>
                <a:cs typeface="Palatino Linotype"/>
              </a:rPr>
              <a:t> </a:t>
            </a:r>
            <a:r>
              <a:rPr spc="-10" dirty="0">
                <a:solidFill>
                  <a:sysClr val="windowText" lastClr="000000"/>
                </a:solidFill>
                <a:latin typeface="Consolas"/>
                <a:cs typeface="Consolas"/>
              </a:rPr>
              <a:t>static</a:t>
            </a:r>
            <a:r>
              <a:rPr spc="-10" dirty="0">
                <a:solidFill>
                  <a:sysClr val="windowText" lastClr="000000"/>
                </a:solidFill>
                <a:latin typeface="Palatino Linotype"/>
                <a:cs typeface="Palatino Linotype"/>
              </a:rPr>
              <a:t>):</a:t>
            </a:r>
            <a:endParaRPr dirty="0">
              <a:solidFill>
                <a:sysClr val="windowText" lastClr="000000"/>
              </a:solidFill>
              <a:latin typeface="Palatino Linotype"/>
              <a:cs typeface="Palatino Linotype"/>
            </a:endParaRPr>
          </a:p>
          <a:p>
            <a:pPr marL="1153795" lvl="2" indent="-227329">
              <a:spcBef>
                <a:spcPts val="1045"/>
              </a:spcBef>
              <a:buFont typeface="Courier New"/>
              <a:buChar char="o"/>
              <a:tabLst>
                <a:tab pos="1153795" algn="l"/>
              </a:tabLst>
            </a:pPr>
            <a:r>
              <a:rPr sz="1400" dirty="0">
                <a:solidFill>
                  <a:sysClr val="windowText" lastClr="000000"/>
                </a:solidFill>
                <a:latin typeface="Palatino Linotype"/>
                <a:cs typeface="Palatino Linotype"/>
              </a:rPr>
              <a:t>The</a:t>
            </a:r>
            <a:r>
              <a:rPr sz="1400" spc="-10" dirty="0">
                <a:solidFill>
                  <a:sysClr val="windowText" lastClr="000000"/>
                </a:solidFill>
                <a:latin typeface="Palatino Linotype"/>
                <a:cs typeface="Palatino Linotype"/>
              </a:rPr>
              <a:t> </a:t>
            </a:r>
            <a:r>
              <a:rPr sz="1400" dirty="0">
                <a:solidFill>
                  <a:sysClr val="windowText" lastClr="000000"/>
                </a:solidFill>
                <a:latin typeface="Palatino Linotype"/>
                <a:cs typeface="Palatino Linotype"/>
              </a:rPr>
              <a:t>effect</a:t>
            </a:r>
            <a:r>
              <a:rPr sz="1400" spc="-5" dirty="0">
                <a:solidFill>
                  <a:sysClr val="windowText" lastClr="000000"/>
                </a:solidFill>
                <a:latin typeface="Palatino Linotype"/>
                <a:cs typeface="Palatino Linotype"/>
              </a:rPr>
              <a:t> </a:t>
            </a:r>
            <a:r>
              <a:rPr sz="1400" dirty="0">
                <a:solidFill>
                  <a:sysClr val="windowText" lastClr="000000"/>
                </a:solidFill>
                <a:latin typeface="Palatino Linotype"/>
                <a:cs typeface="Palatino Linotype"/>
              </a:rPr>
              <a:t>of</a:t>
            </a:r>
            <a:r>
              <a:rPr sz="1400" spc="-15" dirty="0">
                <a:solidFill>
                  <a:sysClr val="windowText" lastClr="000000"/>
                </a:solidFill>
                <a:latin typeface="Palatino Linotype"/>
                <a:cs typeface="Palatino Linotype"/>
              </a:rPr>
              <a:t> </a:t>
            </a:r>
            <a:r>
              <a:rPr sz="1400" dirty="0">
                <a:solidFill>
                  <a:sysClr val="windowText" lastClr="000000"/>
                </a:solidFill>
                <a:latin typeface="Consolas"/>
                <a:cs typeface="Consolas"/>
              </a:rPr>
              <a:t>x</a:t>
            </a:r>
            <a:r>
              <a:rPr sz="1400" spc="-10" dirty="0">
                <a:solidFill>
                  <a:sysClr val="windowText" lastClr="000000"/>
                </a:solidFill>
                <a:latin typeface="Consolas"/>
                <a:cs typeface="Consolas"/>
              </a:rPr>
              <a:t> </a:t>
            </a:r>
            <a:r>
              <a:rPr sz="1400" dirty="0">
                <a:solidFill>
                  <a:sysClr val="windowText" lastClr="000000"/>
                </a:solidFill>
                <a:latin typeface="Consolas"/>
                <a:cs typeface="Consolas"/>
              </a:rPr>
              <a:t>=</a:t>
            </a:r>
            <a:r>
              <a:rPr sz="1400" spc="-5" dirty="0">
                <a:solidFill>
                  <a:sysClr val="windowText" lastClr="000000"/>
                </a:solidFill>
                <a:latin typeface="Consolas"/>
                <a:cs typeface="Consolas"/>
              </a:rPr>
              <a:t> </a:t>
            </a:r>
            <a:r>
              <a:rPr sz="1400" dirty="0">
                <a:solidFill>
                  <a:sysClr val="windowText" lastClr="000000"/>
                </a:solidFill>
                <a:latin typeface="Consolas"/>
                <a:cs typeface="Consolas"/>
              </a:rPr>
              <a:t>0</a:t>
            </a:r>
            <a:r>
              <a:rPr sz="1400" dirty="0">
                <a:solidFill>
                  <a:sysClr val="windowText" lastClr="000000"/>
                </a:solidFill>
                <a:latin typeface="Palatino Linotype"/>
                <a:cs typeface="Palatino Linotype"/>
              </a:rPr>
              <a:t>:</a:t>
            </a:r>
            <a:r>
              <a:rPr sz="1400" spc="405" dirty="0">
                <a:solidFill>
                  <a:sysClr val="windowText" lastClr="000000"/>
                </a:solidFill>
                <a:latin typeface="Palatino Linotype"/>
                <a:cs typeface="Palatino Linotype"/>
              </a:rPr>
              <a:t> </a:t>
            </a:r>
            <a:r>
              <a:rPr sz="1400" dirty="0">
                <a:solidFill>
                  <a:srgbClr val="0432FF"/>
                </a:solidFill>
                <a:latin typeface="Consolas"/>
                <a:cs typeface="Consolas"/>
              </a:rPr>
              <a:t>static[12]</a:t>
            </a:r>
            <a:r>
              <a:rPr sz="1400" spc="-10" dirty="0">
                <a:solidFill>
                  <a:srgbClr val="0432FF"/>
                </a:solidFill>
                <a:latin typeface="Consolas"/>
                <a:cs typeface="Consolas"/>
              </a:rPr>
              <a:t> </a:t>
            </a:r>
            <a:r>
              <a:rPr sz="1400" dirty="0">
                <a:solidFill>
                  <a:srgbClr val="0432FF"/>
                </a:solidFill>
                <a:latin typeface="Consolas"/>
                <a:cs typeface="Consolas"/>
              </a:rPr>
              <a:t>=</a:t>
            </a:r>
            <a:r>
              <a:rPr sz="1400" spc="-10" dirty="0">
                <a:solidFill>
                  <a:srgbClr val="0432FF"/>
                </a:solidFill>
                <a:latin typeface="Consolas"/>
                <a:cs typeface="Consolas"/>
              </a:rPr>
              <a:t> </a:t>
            </a:r>
            <a:r>
              <a:rPr sz="1400" spc="-50" dirty="0">
                <a:solidFill>
                  <a:srgbClr val="0432FF"/>
                </a:solidFill>
                <a:latin typeface="Consolas"/>
                <a:cs typeface="Consolas"/>
              </a:rPr>
              <a:t>0</a:t>
            </a:r>
            <a:endParaRPr sz="1400" dirty="0">
              <a:solidFill>
                <a:sysClr val="windowText" lastClr="000000"/>
              </a:solidFill>
              <a:latin typeface="Consolas"/>
              <a:cs typeface="Consolas"/>
            </a:endParaRPr>
          </a:p>
          <a:p>
            <a:pPr marL="1153795" lvl="2" indent="-227329">
              <a:spcBef>
                <a:spcPts val="915"/>
              </a:spcBef>
              <a:buFont typeface="Courier New"/>
              <a:buChar char="o"/>
              <a:tabLst>
                <a:tab pos="1153795" algn="l"/>
              </a:tabLst>
            </a:pPr>
            <a:r>
              <a:rPr sz="1400" spc="-20" dirty="0">
                <a:solidFill>
                  <a:sysClr val="windowText" lastClr="000000"/>
                </a:solidFill>
                <a:latin typeface="Palatino Linotype"/>
                <a:cs typeface="Palatino Linotype"/>
              </a:rPr>
              <a:t>Target</a:t>
            </a:r>
            <a:r>
              <a:rPr sz="1400" spc="-15" dirty="0">
                <a:solidFill>
                  <a:sysClr val="windowText" lastClr="000000"/>
                </a:solidFill>
                <a:latin typeface="Palatino Linotype"/>
                <a:cs typeface="Palatino Linotype"/>
              </a:rPr>
              <a:t> </a:t>
            </a:r>
            <a:r>
              <a:rPr sz="1400" dirty="0">
                <a:solidFill>
                  <a:sysClr val="windowText" lastClr="000000"/>
                </a:solidFill>
                <a:latin typeface="Palatino Linotype"/>
                <a:cs typeface="Palatino Linotype"/>
              </a:rPr>
              <a:t>code:</a:t>
            </a:r>
            <a:r>
              <a:rPr sz="1400" spc="390" dirty="0">
                <a:solidFill>
                  <a:sysClr val="windowText" lastClr="000000"/>
                </a:solidFill>
                <a:latin typeface="Palatino Linotype"/>
                <a:cs typeface="Palatino Linotype"/>
              </a:rPr>
              <a:t> </a:t>
            </a:r>
            <a:r>
              <a:rPr sz="1400" dirty="0">
                <a:solidFill>
                  <a:srgbClr val="0432FF"/>
                </a:solidFill>
                <a:latin typeface="Consolas"/>
                <a:cs typeface="Consolas"/>
              </a:rPr>
              <a:t>LD</a:t>
            </a:r>
            <a:r>
              <a:rPr sz="1400" spc="-30" dirty="0">
                <a:solidFill>
                  <a:srgbClr val="0432FF"/>
                </a:solidFill>
                <a:latin typeface="Consolas"/>
                <a:cs typeface="Consolas"/>
              </a:rPr>
              <a:t> </a:t>
            </a:r>
            <a:r>
              <a:rPr sz="1400" dirty="0">
                <a:solidFill>
                  <a:srgbClr val="0432FF"/>
                </a:solidFill>
                <a:latin typeface="Consolas"/>
                <a:cs typeface="Consolas"/>
              </a:rPr>
              <a:t>112,</a:t>
            </a:r>
            <a:r>
              <a:rPr sz="1400" spc="-30" dirty="0">
                <a:solidFill>
                  <a:srgbClr val="0432FF"/>
                </a:solidFill>
                <a:latin typeface="Consolas"/>
                <a:cs typeface="Consolas"/>
              </a:rPr>
              <a:t> </a:t>
            </a:r>
            <a:r>
              <a:rPr sz="1400" dirty="0">
                <a:solidFill>
                  <a:srgbClr val="0432FF"/>
                </a:solidFill>
                <a:latin typeface="Consolas"/>
                <a:cs typeface="Consolas"/>
              </a:rPr>
              <a:t>#0</a:t>
            </a:r>
            <a:r>
              <a:rPr sz="1400" spc="-25" dirty="0">
                <a:solidFill>
                  <a:srgbClr val="0432FF"/>
                </a:solidFill>
                <a:latin typeface="Consolas"/>
                <a:cs typeface="Consolas"/>
              </a:rPr>
              <a:t> </a:t>
            </a:r>
            <a:r>
              <a:rPr sz="1400" dirty="0">
                <a:solidFill>
                  <a:sysClr val="windowText" lastClr="000000"/>
                </a:solidFill>
                <a:latin typeface="Palatino Linotype"/>
                <a:cs typeface="Palatino Linotype"/>
              </a:rPr>
              <a:t>(suppose</a:t>
            </a:r>
            <a:r>
              <a:rPr sz="1400" spc="-20" dirty="0">
                <a:solidFill>
                  <a:sysClr val="windowText" lastClr="000000"/>
                </a:solidFill>
                <a:latin typeface="Palatino Linotype"/>
                <a:cs typeface="Palatino Linotype"/>
              </a:rPr>
              <a:t> </a:t>
            </a:r>
            <a:r>
              <a:rPr sz="1400" dirty="0">
                <a:solidFill>
                  <a:sysClr val="windowText" lastClr="000000"/>
                </a:solidFill>
                <a:latin typeface="Palatino Linotype"/>
                <a:cs typeface="Palatino Linotype"/>
              </a:rPr>
              <a:t>static</a:t>
            </a:r>
            <a:r>
              <a:rPr sz="1400" spc="-15" dirty="0">
                <a:solidFill>
                  <a:sysClr val="windowText" lastClr="000000"/>
                </a:solidFill>
                <a:latin typeface="Palatino Linotype"/>
                <a:cs typeface="Palatino Linotype"/>
              </a:rPr>
              <a:t> </a:t>
            </a:r>
            <a:r>
              <a:rPr sz="1400" dirty="0">
                <a:solidFill>
                  <a:sysClr val="windowText" lastClr="000000"/>
                </a:solidFill>
                <a:latin typeface="Palatino Linotype"/>
                <a:cs typeface="Palatino Linotype"/>
              </a:rPr>
              <a:t>area</a:t>
            </a:r>
            <a:r>
              <a:rPr sz="1400" spc="-15" dirty="0">
                <a:solidFill>
                  <a:sysClr val="windowText" lastClr="000000"/>
                </a:solidFill>
                <a:latin typeface="Palatino Linotype"/>
                <a:cs typeface="Palatino Linotype"/>
              </a:rPr>
              <a:t> </a:t>
            </a:r>
            <a:r>
              <a:rPr sz="1400" dirty="0">
                <a:solidFill>
                  <a:sysClr val="windowText" lastClr="000000"/>
                </a:solidFill>
                <a:latin typeface="Palatino Linotype"/>
                <a:cs typeface="Palatino Linotype"/>
              </a:rPr>
              <a:t>starts</a:t>
            </a:r>
            <a:r>
              <a:rPr sz="1400" spc="-30" dirty="0">
                <a:solidFill>
                  <a:sysClr val="windowText" lastClr="000000"/>
                </a:solidFill>
                <a:latin typeface="Palatino Linotype"/>
                <a:cs typeface="Palatino Linotype"/>
              </a:rPr>
              <a:t> </a:t>
            </a:r>
            <a:r>
              <a:rPr sz="1400" dirty="0">
                <a:solidFill>
                  <a:sysClr val="windowText" lastClr="000000"/>
                </a:solidFill>
                <a:latin typeface="Palatino Linotype"/>
                <a:cs typeface="Palatino Linotype"/>
              </a:rPr>
              <a:t>at</a:t>
            </a:r>
            <a:r>
              <a:rPr sz="1400" spc="-10" dirty="0">
                <a:solidFill>
                  <a:sysClr val="windowText" lastClr="000000"/>
                </a:solidFill>
                <a:latin typeface="Palatino Linotype"/>
                <a:cs typeface="Palatino Linotype"/>
              </a:rPr>
              <a:t> </a:t>
            </a:r>
            <a:r>
              <a:rPr sz="1400" dirty="0">
                <a:solidFill>
                  <a:sysClr val="windowText" lastClr="000000"/>
                </a:solidFill>
                <a:latin typeface="Palatino Linotype"/>
                <a:cs typeface="Palatino Linotype"/>
              </a:rPr>
              <a:t>address</a:t>
            </a:r>
            <a:r>
              <a:rPr sz="1400" spc="-25" dirty="0">
                <a:solidFill>
                  <a:sysClr val="windowText" lastClr="000000"/>
                </a:solidFill>
                <a:latin typeface="Palatino Linotype"/>
                <a:cs typeface="Palatino Linotype"/>
              </a:rPr>
              <a:t> </a:t>
            </a:r>
            <a:r>
              <a:rPr sz="1400" spc="-20" dirty="0">
                <a:solidFill>
                  <a:sysClr val="windowText" lastClr="000000"/>
                </a:solidFill>
                <a:latin typeface="Palatino Linotype"/>
                <a:cs typeface="Palatino Linotype"/>
              </a:rPr>
              <a:t>100)</a:t>
            </a:r>
            <a:endParaRPr sz="1400" dirty="0">
              <a:solidFill>
                <a:sysClr val="windowText" lastClr="000000"/>
              </a:solidFill>
              <a:latin typeface="Palatino Linotype"/>
              <a:cs typeface="Palatino Linotype"/>
            </a:endParaRPr>
          </a:p>
          <a:p>
            <a:pPr marL="697865" lvl="1" indent="-227965">
              <a:spcBef>
                <a:spcPts val="1614"/>
              </a:spcBef>
              <a:buFont typeface="Wingdings"/>
              <a:buChar char=""/>
              <a:tabLst>
                <a:tab pos="697865" algn="l"/>
              </a:tabLst>
            </a:pPr>
            <a:r>
              <a:rPr dirty="0">
                <a:solidFill>
                  <a:sysClr val="windowText" lastClr="000000"/>
                </a:solidFill>
                <a:latin typeface="Palatino Linotype"/>
                <a:cs typeface="Palatino Linotype"/>
              </a:rPr>
              <a:t>If</a:t>
            </a:r>
            <a:r>
              <a:rPr spc="-35" dirty="0">
                <a:solidFill>
                  <a:sysClr val="windowText" lastClr="000000"/>
                </a:solidFill>
                <a:latin typeface="Palatino Linotype"/>
                <a:cs typeface="Palatino Linotype"/>
              </a:rPr>
              <a:t> </a:t>
            </a:r>
            <a:r>
              <a:rPr dirty="0">
                <a:solidFill>
                  <a:sysClr val="windowText" lastClr="000000"/>
                </a:solidFill>
                <a:latin typeface="Consolas"/>
                <a:cs typeface="Consolas"/>
              </a:rPr>
              <a:t>x</a:t>
            </a:r>
            <a:r>
              <a:rPr spc="-545" dirty="0">
                <a:solidFill>
                  <a:sysClr val="windowText" lastClr="000000"/>
                </a:solidFill>
                <a:latin typeface="Consolas"/>
                <a:cs typeface="Consolas"/>
              </a:rPr>
              <a:t> </a:t>
            </a:r>
            <a:r>
              <a:rPr dirty="0">
                <a:solidFill>
                  <a:sysClr val="windowText" lastClr="000000"/>
                </a:solidFill>
                <a:latin typeface="Palatino Linotype"/>
                <a:cs typeface="Palatino Linotype"/>
              </a:rPr>
              <a:t>is</a:t>
            </a:r>
            <a:r>
              <a:rPr spc="-20"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in</a:t>
            </a:r>
            <a:r>
              <a:rPr spc="-20" dirty="0">
                <a:solidFill>
                  <a:sysClr val="windowText" lastClr="000000"/>
                </a:solidFill>
                <a:latin typeface="Palatino Linotype"/>
                <a:cs typeface="Palatino Linotype"/>
              </a:rPr>
              <a:t> </a:t>
            </a:r>
            <a:r>
              <a:rPr dirty="0">
                <a:solidFill>
                  <a:srgbClr val="FF0000"/>
                </a:solidFill>
                <a:latin typeface="Palatino Linotype"/>
                <a:cs typeface="Palatino Linotype"/>
              </a:rPr>
              <a:t>stack</a:t>
            </a:r>
            <a:r>
              <a:rPr spc="-20" dirty="0">
                <a:solidFill>
                  <a:srgbClr val="FF0000"/>
                </a:solidFill>
                <a:latin typeface="Palatino Linotype"/>
                <a:cs typeface="Palatino Linotype"/>
              </a:rPr>
              <a:t> </a:t>
            </a:r>
            <a:r>
              <a:rPr dirty="0">
                <a:solidFill>
                  <a:sysClr val="windowText" lastClr="000000"/>
                </a:solidFill>
                <a:latin typeface="Palatino Linotype"/>
                <a:cs typeface="Palatino Linotype"/>
              </a:rPr>
              <a:t>(in</a:t>
            </a:r>
            <a:r>
              <a:rPr spc="-15"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an</a:t>
            </a:r>
            <a:r>
              <a:rPr spc="-15" dirty="0">
                <a:solidFill>
                  <a:sysClr val="windowText" lastClr="000000"/>
                </a:solidFill>
                <a:latin typeface="Palatino Linotype"/>
                <a:cs typeface="Palatino Linotype"/>
              </a:rPr>
              <a:t> </a:t>
            </a:r>
            <a:r>
              <a:rPr spc="-10" dirty="0">
                <a:solidFill>
                  <a:sysClr val="windowText" lastClr="000000"/>
                </a:solidFill>
                <a:latin typeface="Palatino Linotype"/>
                <a:cs typeface="Palatino Linotype"/>
              </a:rPr>
              <a:t>activation</a:t>
            </a:r>
            <a:r>
              <a:rPr spc="-20" dirty="0">
                <a:solidFill>
                  <a:sysClr val="windowText" lastClr="000000"/>
                </a:solidFill>
                <a:latin typeface="Palatino Linotype"/>
                <a:cs typeface="Palatino Linotype"/>
              </a:rPr>
              <a:t> </a:t>
            </a:r>
            <a:r>
              <a:rPr spc="-10" dirty="0">
                <a:solidFill>
                  <a:sysClr val="windowText" lastClr="000000"/>
                </a:solidFill>
                <a:latin typeface="Palatino Linotype"/>
                <a:cs typeface="Palatino Linotype"/>
              </a:rPr>
              <a:t>record):</a:t>
            </a:r>
            <a:endParaRPr dirty="0">
              <a:solidFill>
                <a:sysClr val="windowText" lastClr="000000"/>
              </a:solidFill>
              <a:latin typeface="Palatino Linotype"/>
              <a:cs typeface="Palatino Linotype"/>
            </a:endParaRPr>
          </a:p>
          <a:p>
            <a:pPr marL="1153795" lvl="2" indent="-227329">
              <a:spcBef>
                <a:spcPts val="950"/>
              </a:spcBef>
              <a:buFont typeface="Courier New"/>
              <a:buChar char="o"/>
              <a:tabLst>
                <a:tab pos="1153795" algn="l"/>
              </a:tabLst>
            </a:pPr>
            <a:r>
              <a:rPr sz="1400" dirty="0">
                <a:solidFill>
                  <a:sysClr val="windowText" lastClr="000000"/>
                </a:solidFill>
                <a:latin typeface="Consolas"/>
                <a:cs typeface="Consolas"/>
              </a:rPr>
              <a:t>LD</a:t>
            </a:r>
            <a:r>
              <a:rPr sz="1400" spc="-10" dirty="0">
                <a:solidFill>
                  <a:sysClr val="windowText" lastClr="000000"/>
                </a:solidFill>
                <a:latin typeface="Consolas"/>
                <a:cs typeface="Consolas"/>
              </a:rPr>
              <a:t> </a:t>
            </a:r>
            <a:r>
              <a:rPr sz="1400" dirty="0">
                <a:solidFill>
                  <a:sysClr val="windowText" lastClr="000000"/>
                </a:solidFill>
                <a:latin typeface="Consolas"/>
                <a:cs typeface="Consolas"/>
              </a:rPr>
              <a:t>12(SP),</a:t>
            </a:r>
            <a:r>
              <a:rPr sz="1400" spc="-5" dirty="0">
                <a:solidFill>
                  <a:sysClr val="windowText" lastClr="000000"/>
                </a:solidFill>
                <a:latin typeface="Consolas"/>
                <a:cs typeface="Consolas"/>
              </a:rPr>
              <a:t> </a:t>
            </a:r>
            <a:r>
              <a:rPr sz="1400" spc="-25" dirty="0">
                <a:solidFill>
                  <a:sysClr val="windowText" lastClr="000000"/>
                </a:solidFill>
                <a:latin typeface="Consolas"/>
                <a:cs typeface="Consolas"/>
              </a:rPr>
              <a:t>#0</a:t>
            </a:r>
            <a:endParaRPr sz="1400" dirty="0">
              <a:solidFill>
                <a:sysClr val="windowText" lastClr="000000"/>
              </a:solidFill>
              <a:latin typeface="Consolas"/>
              <a:cs typeface="Consolas"/>
            </a:endParaRPr>
          </a:p>
        </p:txBody>
      </p:sp>
    </p:spTree>
    <p:extLst>
      <p:ext uri="{BB962C8B-B14F-4D97-AF65-F5344CB8AC3E}">
        <p14:creationId xmlns:p14="http://schemas.microsoft.com/office/powerpoint/2010/main" val="329367589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23</a:t>
            </a:fld>
            <a:endParaRPr lang="en-US"/>
          </a:p>
        </p:txBody>
      </p:sp>
      <p:sp>
        <p:nvSpPr>
          <p:cNvPr id="7" name="object 2">
            <a:extLst>
              <a:ext uri="{FF2B5EF4-FFF2-40B4-BE49-F238E27FC236}">
                <a16:creationId xmlns:a16="http://schemas.microsoft.com/office/drawing/2014/main" id="{2BB893E9-760D-A587-1C61-155F69B4BE78}"/>
              </a:ext>
            </a:extLst>
          </p:cNvPr>
          <p:cNvSpPr txBox="1">
            <a:spLocks/>
          </p:cNvSpPr>
          <p:nvPr/>
        </p:nvSpPr>
        <p:spPr>
          <a:xfrm>
            <a:off x="707390" y="524763"/>
            <a:ext cx="7729219" cy="63500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4000" b="1" i="0" u="none" strike="noStrike" kern="0" cap="none" spc="-10" normalizeH="0" baseline="0" noProof="0">
                <a:ln>
                  <a:noFill/>
                </a:ln>
                <a:solidFill>
                  <a:sysClr val="windowText" lastClr="000000"/>
                </a:solidFill>
                <a:effectLst/>
                <a:uLnTx/>
                <a:uFillTx/>
                <a:latin typeface="Palatino Linotype"/>
                <a:ea typeface="+mj-ea"/>
              </a:rPr>
              <a:t>Outline</a:t>
            </a:r>
            <a:endParaRPr kumimoji="0" lang="en-US" sz="4000" b="1" i="0" u="none" strike="noStrike" kern="0" cap="none" spc="-10" normalizeH="0" baseline="0" noProof="0" dirty="0">
              <a:ln>
                <a:noFill/>
              </a:ln>
              <a:solidFill>
                <a:sysClr val="windowText" lastClr="000000"/>
              </a:solidFill>
              <a:effectLst/>
              <a:uLnTx/>
              <a:uFillTx/>
              <a:latin typeface="Palatino Linotype"/>
              <a:ea typeface="+mj-ea"/>
            </a:endParaRPr>
          </a:p>
        </p:txBody>
      </p:sp>
      <p:sp>
        <p:nvSpPr>
          <p:cNvPr id="8" name="object 3">
            <a:extLst>
              <a:ext uri="{FF2B5EF4-FFF2-40B4-BE49-F238E27FC236}">
                <a16:creationId xmlns:a16="http://schemas.microsoft.com/office/drawing/2014/main" id="{87ED1BFC-319A-7BAA-0B23-B80F9921AF87}"/>
              </a:ext>
            </a:extLst>
          </p:cNvPr>
          <p:cNvSpPr txBox="1"/>
          <p:nvPr/>
        </p:nvSpPr>
        <p:spPr>
          <a:xfrm>
            <a:off x="707390" y="1631188"/>
            <a:ext cx="5796280" cy="4146550"/>
          </a:xfrm>
          <a:prstGeom prst="rect">
            <a:avLst/>
          </a:prstGeom>
        </p:spPr>
        <p:txBody>
          <a:bodyPr vert="horz" wrap="square" lIns="0" tIns="12700" rIns="0" bIns="0" rtlCol="0">
            <a:spAutoFit/>
          </a:bodyPr>
          <a:lstStyle/>
          <a:p>
            <a:pPr marL="242570" indent="-229870">
              <a:spcBef>
                <a:spcPts val="100"/>
              </a:spcBef>
              <a:buClr>
                <a:srgbClr val="000000"/>
              </a:buClr>
              <a:buFont typeface="Arial MT"/>
              <a:buChar char="•"/>
              <a:tabLst>
                <a:tab pos="242570" algn="l"/>
              </a:tabLst>
            </a:pPr>
            <a:r>
              <a:rPr sz="2200" dirty="0">
                <a:solidFill>
                  <a:srgbClr val="A6A6A6"/>
                </a:solidFill>
                <a:latin typeface="Palatino Linotype"/>
                <a:cs typeface="Palatino Linotype"/>
              </a:rPr>
              <a:t>Design</a:t>
            </a:r>
            <a:r>
              <a:rPr sz="2200" spc="-45" dirty="0">
                <a:solidFill>
                  <a:srgbClr val="A6A6A6"/>
                </a:solidFill>
                <a:latin typeface="Palatino Linotype"/>
                <a:cs typeface="Palatino Linotype"/>
              </a:rPr>
              <a:t> </a:t>
            </a:r>
            <a:r>
              <a:rPr sz="2200" spc="-10" dirty="0">
                <a:solidFill>
                  <a:srgbClr val="A6A6A6"/>
                </a:solidFill>
                <a:latin typeface="Palatino Linotype"/>
                <a:cs typeface="Palatino Linotype"/>
              </a:rPr>
              <a:t>Issues</a:t>
            </a:r>
            <a:endParaRPr sz="2200">
              <a:solidFill>
                <a:sysClr val="windowText" lastClr="000000"/>
              </a:solidFill>
              <a:latin typeface="Palatino Linotype"/>
              <a:cs typeface="Palatino Linotype"/>
            </a:endParaRPr>
          </a:p>
          <a:p>
            <a:pPr marL="242570" indent="-229870">
              <a:spcBef>
                <a:spcPts val="2255"/>
              </a:spcBef>
              <a:buClr>
                <a:srgbClr val="000000"/>
              </a:buClr>
              <a:buFont typeface="Arial MT"/>
              <a:buChar char="•"/>
              <a:tabLst>
                <a:tab pos="242570" algn="l"/>
              </a:tabLst>
            </a:pPr>
            <a:r>
              <a:rPr sz="2200" dirty="0">
                <a:solidFill>
                  <a:srgbClr val="A6A6A6"/>
                </a:solidFill>
                <a:latin typeface="Palatino Linotype"/>
                <a:cs typeface="Palatino Linotype"/>
              </a:rPr>
              <a:t>The</a:t>
            </a:r>
            <a:r>
              <a:rPr sz="2200" spc="-55" dirty="0">
                <a:solidFill>
                  <a:srgbClr val="A6A6A6"/>
                </a:solidFill>
                <a:latin typeface="Palatino Linotype"/>
                <a:cs typeface="Palatino Linotype"/>
              </a:rPr>
              <a:t> </a:t>
            </a:r>
            <a:r>
              <a:rPr sz="2200" spc="-25" dirty="0">
                <a:solidFill>
                  <a:srgbClr val="A6A6A6"/>
                </a:solidFill>
                <a:latin typeface="Palatino Linotype"/>
                <a:cs typeface="Palatino Linotype"/>
              </a:rPr>
              <a:t>Target</a:t>
            </a:r>
            <a:r>
              <a:rPr sz="2200" spc="-55" dirty="0">
                <a:solidFill>
                  <a:srgbClr val="A6A6A6"/>
                </a:solidFill>
                <a:latin typeface="Palatino Linotype"/>
                <a:cs typeface="Palatino Linotype"/>
              </a:rPr>
              <a:t> </a:t>
            </a:r>
            <a:r>
              <a:rPr sz="2200" spc="-10" dirty="0">
                <a:solidFill>
                  <a:srgbClr val="A6A6A6"/>
                </a:solidFill>
                <a:latin typeface="Palatino Linotype"/>
                <a:cs typeface="Palatino Linotype"/>
              </a:rPr>
              <a:t>Language</a:t>
            </a:r>
            <a:endParaRPr sz="2200">
              <a:solidFill>
                <a:sysClr val="windowText" lastClr="000000"/>
              </a:solidFill>
              <a:latin typeface="Palatino Linotype"/>
              <a:cs typeface="Palatino Linotype"/>
            </a:endParaRPr>
          </a:p>
          <a:p>
            <a:pPr marL="242570" indent="-229870">
              <a:spcBef>
                <a:spcPts val="2350"/>
              </a:spcBef>
              <a:buClr>
                <a:srgbClr val="000000"/>
              </a:buClr>
              <a:buFont typeface="Arial MT"/>
              <a:buChar char="•"/>
              <a:tabLst>
                <a:tab pos="242570" algn="l"/>
              </a:tabLst>
            </a:pPr>
            <a:r>
              <a:rPr sz="2200" dirty="0">
                <a:solidFill>
                  <a:srgbClr val="A6A6A6"/>
                </a:solidFill>
                <a:latin typeface="Palatino Linotype"/>
                <a:cs typeface="Palatino Linotype"/>
              </a:rPr>
              <a:t>Addresses</a:t>
            </a:r>
            <a:r>
              <a:rPr sz="2200" spc="-40" dirty="0">
                <a:solidFill>
                  <a:srgbClr val="A6A6A6"/>
                </a:solidFill>
                <a:latin typeface="Palatino Linotype"/>
                <a:cs typeface="Palatino Linotype"/>
              </a:rPr>
              <a:t> </a:t>
            </a:r>
            <a:r>
              <a:rPr sz="2200" dirty="0">
                <a:solidFill>
                  <a:srgbClr val="A6A6A6"/>
                </a:solidFill>
                <a:latin typeface="Palatino Linotype"/>
                <a:cs typeface="Palatino Linotype"/>
              </a:rPr>
              <a:t>in</a:t>
            </a:r>
            <a:r>
              <a:rPr sz="2200" spc="-50" dirty="0">
                <a:solidFill>
                  <a:srgbClr val="A6A6A6"/>
                </a:solidFill>
                <a:latin typeface="Palatino Linotype"/>
                <a:cs typeface="Palatino Linotype"/>
              </a:rPr>
              <a:t> </a:t>
            </a:r>
            <a:r>
              <a:rPr sz="2200" dirty="0">
                <a:solidFill>
                  <a:srgbClr val="A6A6A6"/>
                </a:solidFill>
                <a:latin typeface="Palatino Linotype"/>
                <a:cs typeface="Palatino Linotype"/>
              </a:rPr>
              <a:t>the</a:t>
            </a:r>
            <a:r>
              <a:rPr sz="2200" spc="-45" dirty="0">
                <a:solidFill>
                  <a:srgbClr val="A6A6A6"/>
                </a:solidFill>
                <a:latin typeface="Palatino Linotype"/>
                <a:cs typeface="Palatino Linotype"/>
              </a:rPr>
              <a:t> </a:t>
            </a:r>
            <a:r>
              <a:rPr sz="2200" spc="-25" dirty="0">
                <a:solidFill>
                  <a:srgbClr val="A6A6A6"/>
                </a:solidFill>
                <a:latin typeface="Palatino Linotype"/>
                <a:cs typeface="Palatino Linotype"/>
              </a:rPr>
              <a:t>Target</a:t>
            </a:r>
            <a:r>
              <a:rPr sz="2200" spc="-45" dirty="0">
                <a:solidFill>
                  <a:srgbClr val="A6A6A6"/>
                </a:solidFill>
                <a:latin typeface="Palatino Linotype"/>
                <a:cs typeface="Palatino Linotype"/>
              </a:rPr>
              <a:t> </a:t>
            </a:r>
            <a:r>
              <a:rPr sz="2200" spc="-20" dirty="0">
                <a:solidFill>
                  <a:srgbClr val="A6A6A6"/>
                </a:solidFill>
                <a:latin typeface="Palatino Linotype"/>
                <a:cs typeface="Palatino Linotype"/>
              </a:rPr>
              <a:t>Code</a:t>
            </a:r>
            <a:endParaRPr sz="2200">
              <a:solidFill>
                <a:sysClr val="windowText" lastClr="000000"/>
              </a:solidFill>
              <a:latin typeface="Palatino Linotype"/>
              <a:cs typeface="Palatino Linotype"/>
            </a:endParaRPr>
          </a:p>
          <a:p>
            <a:pPr marL="242570" indent="-229870">
              <a:spcBef>
                <a:spcPts val="2375"/>
              </a:spcBef>
              <a:buFont typeface="Arial MT"/>
              <a:buChar char="•"/>
              <a:tabLst>
                <a:tab pos="242570" algn="l"/>
              </a:tabLst>
            </a:pPr>
            <a:r>
              <a:rPr sz="2200" dirty="0">
                <a:solidFill>
                  <a:sysClr val="windowText" lastClr="000000"/>
                </a:solidFill>
                <a:latin typeface="Palatino Linotype"/>
                <a:cs typeface="Palatino Linotype"/>
              </a:rPr>
              <a:t>Basic</a:t>
            </a:r>
            <a:r>
              <a:rPr sz="2200" spc="-45" dirty="0">
                <a:solidFill>
                  <a:sysClr val="windowText" lastClr="000000"/>
                </a:solidFill>
                <a:latin typeface="Palatino Linotype"/>
                <a:cs typeface="Palatino Linotype"/>
              </a:rPr>
              <a:t> </a:t>
            </a:r>
            <a:r>
              <a:rPr sz="2200" dirty="0">
                <a:solidFill>
                  <a:sysClr val="windowText" lastClr="000000"/>
                </a:solidFill>
                <a:latin typeface="Palatino Linotype"/>
                <a:cs typeface="Palatino Linotype"/>
              </a:rPr>
              <a:t>Blocks</a:t>
            </a:r>
            <a:r>
              <a:rPr sz="2200" spc="-30" dirty="0">
                <a:solidFill>
                  <a:sysClr val="windowText" lastClr="000000"/>
                </a:solidFill>
                <a:latin typeface="Palatino Linotype"/>
                <a:cs typeface="Palatino Linotype"/>
              </a:rPr>
              <a:t> </a:t>
            </a:r>
            <a:r>
              <a:rPr sz="2200" dirty="0">
                <a:solidFill>
                  <a:sysClr val="windowText" lastClr="000000"/>
                </a:solidFill>
                <a:latin typeface="Palatino Linotype"/>
                <a:cs typeface="Palatino Linotype"/>
              </a:rPr>
              <a:t>and</a:t>
            </a:r>
            <a:r>
              <a:rPr sz="2200" spc="-30" dirty="0">
                <a:solidFill>
                  <a:sysClr val="windowText" lastClr="000000"/>
                </a:solidFill>
                <a:latin typeface="Palatino Linotype"/>
                <a:cs typeface="Palatino Linotype"/>
              </a:rPr>
              <a:t> </a:t>
            </a:r>
            <a:r>
              <a:rPr sz="2200" dirty="0">
                <a:solidFill>
                  <a:sysClr val="windowText" lastClr="000000"/>
                </a:solidFill>
                <a:latin typeface="Palatino Linotype"/>
                <a:cs typeface="Palatino Linotype"/>
              </a:rPr>
              <a:t>Flow</a:t>
            </a:r>
            <a:r>
              <a:rPr sz="2200" spc="-35" dirty="0">
                <a:solidFill>
                  <a:sysClr val="windowText" lastClr="000000"/>
                </a:solidFill>
                <a:latin typeface="Palatino Linotype"/>
                <a:cs typeface="Palatino Linotype"/>
              </a:rPr>
              <a:t> </a:t>
            </a:r>
            <a:r>
              <a:rPr sz="2200" dirty="0">
                <a:solidFill>
                  <a:sysClr val="windowText" lastClr="000000"/>
                </a:solidFill>
                <a:latin typeface="Palatino Linotype"/>
                <a:cs typeface="Palatino Linotype"/>
              </a:rPr>
              <a:t>Graph</a:t>
            </a:r>
            <a:r>
              <a:rPr sz="2200" spc="-30" dirty="0">
                <a:solidFill>
                  <a:sysClr val="windowText" lastClr="000000"/>
                </a:solidFill>
                <a:latin typeface="Palatino Linotype"/>
                <a:cs typeface="Palatino Linotype"/>
              </a:rPr>
              <a:t> (</a:t>
            </a:r>
            <a:r>
              <a:rPr sz="2200" dirty="0">
                <a:solidFill>
                  <a:sysClr val="windowText" lastClr="000000"/>
                </a:solidFill>
                <a:latin typeface="SimSun"/>
                <a:cs typeface="SimSun"/>
              </a:rPr>
              <a:t>基本块和流图</a:t>
            </a:r>
            <a:r>
              <a:rPr sz="2200" spc="-50" dirty="0">
                <a:solidFill>
                  <a:sysClr val="windowText" lastClr="000000"/>
                </a:solidFill>
                <a:latin typeface="Palatino Linotype"/>
                <a:cs typeface="Palatino Linotype"/>
              </a:rPr>
              <a:t>)</a:t>
            </a:r>
            <a:endParaRPr sz="2200">
              <a:solidFill>
                <a:sysClr val="windowText" lastClr="000000"/>
              </a:solidFill>
              <a:latin typeface="Palatino Linotype"/>
              <a:cs typeface="Palatino Linotype"/>
            </a:endParaRPr>
          </a:p>
          <a:p>
            <a:pPr marL="242570" indent="-229870">
              <a:spcBef>
                <a:spcPts val="2260"/>
              </a:spcBef>
              <a:buClr>
                <a:srgbClr val="000000"/>
              </a:buClr>
              <a:buFont typeface="Arial MT"/>
              <a:buChar char="•"/>
              <a:tabLst>
                <a:tab pos="242570" algn="l"/>
              </a:tabLst>
            </a:pPr>
            <a:r>
              <a:rPr sz="2200" dirty="0">
                <a:solidFill>
                  <a:srgbClr val="A6A6A6"/>
                </a:solidFill>
                <a:latin typeface="Palatino Linotype"/>
                <a:cs typeface="Palatino Linotype"/>
              </a:rPr>
              <a:t>Optimization</a:t>
            </a:r>
            <a:r>
              <a:rPr sz="2200" spc="-45" dirty="0">
                <a:solidFill>
                  <a:srgbClr val="A6A6A6"/>
                </a:solidFill>
                <a:latin typeface="Palatino Linotype"/>
                <a:cs typeface="Palatino Linotype"/>
              </a:rPr>
              <a:t> </a:t>
            </a:r>
            <a:r>
              <a:rPr sz="2200" dirty="0">
                <a:solidFill>
                  <a:srgbClr val="A6A6A6"/>
                </a:solidFill>
                <a:latin typeface="Palatino Linotype"/>
                <a:cs typeface="Palatino Linotype"/>
              </a:rPr>
              <a:t>of</a:t>
            </a:r>
            <a:r>
              <a:rPr sz="2200" spc="-35" dirty="0">
                <a:solidFill>
                  <a:srgbClr val="A6A6A6"/>
                </a:solidFill>
                <a:latin typeface="Palatino Linotype"/>
                <a:cs typeface="Palatino Linotype"/>
              </a:rPr>
              <a:t> </a:t>
            </a:r>
            <a:r>
              <a:rPr sz="2200" dirty="0">
                <a:solidFill>
                  <a:srgbClr val="A6A6A6"/>
                </a:solidFill>
                <a:latin typeface="Palatino Linotype"/>
                <a:cs typeface="Palatino Linotype"/>
              </a:rPr>
              <a:t>Basic</a:t>
            </a:r>
            <a:r>
              <a:rPr sz="2200" spc="-40" dirty="0">
                <a:solidFill>
                  <a:srgbClr val="A6A6A6"/>
                </a:solidFill>
                <a:latin typeface="Palatino Linotype"/>
                <a:cs typeface="Palatino Linotype"/>
              </a:rPr>
              <a:t> </a:t>
            </a:r>
            <a:r>
              <a:rPr sz="2200" spc="-10" dirty="0">
                <a:solidFill>
                  <a:srgbClr val="A6A6A6"/>
                </a:solidFill>
                <a:latin typeface="Palatino Linotype"/>
                <a:cs typeface="Palatino Linotype"/>
              </a:rPr>
              <a:t>Blocks</a:t>
            </a:r>
            <a:endParaRPr sz="2200">
              <a:solidFill>
                <a:sysClr val="windowText" lastClr="000000"/>
              </a:solidFill>
              <a:latin typeface="Palatino Linotype"/>
              <a:cs typeface="Palatino Linotype"/>
            </a:endParaRPr>
          </a:p>
          <a:p>
            <a:pPr marL="242570" indent="-229870">
              <a:spcBef>
                <a:spcPts val="2350"/>
              </a:spcBef>
              <a:buClr>
                <a:srgbClr val="000000"/>
              </a:buClr>
              <a:buFont typeface="Arial MT"/>
              <a:buChar char="•"/>
              <a:tabLst>
                <a:tab pos="242570" algn="l"/>
              </a:tabLst>
            </a:pPr>
            <a:r>
              <a:rPr sz="2200" spc="-20" dirty="0">
                <a:solidFill>
                  <a:srgbClr val="A6A6A6"/>
                </a:solidFill>
                <a:latin typeface="Palatino Linotype"/>
                <a:cs typeface="Palatino Linotype"/>
              </a:rPr>
              <a:t>A</a:t>
            </a:r>
            <a:r>
              <a:rPr sz="2200" spc="-125" dirty="0">
                <a:solidFill>
                  <a:srgbClr val="A6A6A6"/>
                </a:solidFill>
                <a:latin typeface="Palatino Linotype"/>
                <a:cs typeface="Palatino Linotype"/>
              </a:rPr>
              <a:t> </a:t>
            </a:r>
            <a:r>
              <a:rPr sz="2200" dirty="0">
                <a:solidFill>
                  <a:srgbClr val="A6A6A6"/>
                </a:solidFill>
                <a:latin typeface="Palatino Linotype"/>
                <a:cs typeface="Palatino Linotype"/>
              </a:rPr>
              <a:t>Simple</a:t>
            </a:r>
            <a:r>
              <a:rPr sz="2200" spc="-45" dirty="0">
                <a:solidFill>
                  <a:srgbClr val="A6A6A6"/>
                </a:solidFill>
                <a:latin typeface="Palatino Linotype"/>
                <a:cs typeface="Palatino Linotype"/>
              </a:rPr>
              <a:t> </a:t>
            </a:r>
            <a:r>
              <a:rPr sz="2200" dirty="0">
                <a:solidFill>
                  <a:srgbClr val="A6A6A6"/>
                </a:solidFill>
                <a:latin typeface="Palatino Linotype"/>
                <a:cs typeface="Palatino Linotype"/>
              </a:rPr>
              <a:t>Code</a:t>
            </a:r>
            <a:r>
              <a:rPr sz="2200" spc="-25" dirty="0">
                <a:solidFill>
                  <a:srgbClr val="A6A6A6"/>
                </a:solidFill>
                <a:latin typeface="Palatino Linotype"/>
                <a:cs typeface="Palatino Linotype"/>
              </a:rPr>
              <a:t> </a:t>
            </a:r>
            <a:r>
              <a:rPr sz="2200" spc="-10" dirty="0">
                <a:solidFill>
                  <a:srgbClr val="A6A6A6"/>
                </a:solidFill>
                <a:latin typeface="Palatino Linotype"/>
                <a:cs typeface="Palatino Linotype"/>
              </a:rPr>
              <a:t>Generator</a:t>
            </a:r>
            <a:endParaRPr sz="2200">
              <a:solidFill>
                <a:sysClr val="windowText" lastClr="000000"/>
              </a:solidFill>
              <a:latin typeface="Palatino Linotype"/>
              <a:cs typeface="Palatino Linotype"/>
            </a:endParaRPr>
          </a:p>
          <a:p>
            <a:pPr marL="242570" indent="-229870">
              <a:spcBef>
                <a:spcPts val="2375"/>
              </a:spcBef>
              <a:buClr>
                <a:srgbClr val="000000"/>
              </a:buClr>
              <a:buFont typeface="Arial MT"/>
              <a:buChar char="•"/>
              <a:tabLst>
                <a:tab pos="242570" algn="l"/>
              </a:tabLst>
            </a:pPr>
            <a:r>
              <a:rPr sz="2200" dirty="0">
                <a:solidFill>
                  <a:srgbClr val="A6A6A6"/>
                </a:solidFill>
                <a:latin typeface="Palatino Linotype"/>
                <a:cs typeface="Palatino Linotype"/>
              </a:rPr>
              <a:t>Register</a:t>
            </a:r>
            <a:r>
              <a:rPr sz="2200" spc="-120" dirty="0">
                <a:solidFill>
                  <a:srgbClr val="A6A6A6"/>
                </a:solidFill>
                <a:latin typeface="Palatino Linotype"/>
                <a:cs typeface="Palatino Linotype"/>
              </a:rPr>
              <a:t> </a:t>
            </a:r>
            <a:r>
              <a:rPr sz="2200" dirty="0">
                <a:solidFill>
                  <a:srgbClr val="A6A6A6"/>
                </a:solidFill>
                <a:latin typeface="Palatino Linotype"/>
                <a:cs typeface="Palatino Linotype"/>
              </a:rPr>
              <a:t>Allocation</a:t>
            </a:r>
            <a:r>
              <a:rPr sz="2200" spc="-65" dirty="0">
                <a:solidFill>
                  <a:srgbClr val="A6A6A6"/>
                </a:solidFill>
                <a:latin typeface="Palatino Linotype"/>
                <a:cs typeface="Palatino Linotype"/>
              </a:rPr>
              <a:t> </a:t>
            </a:r>
            <a:r>
              <a:rPr sz="2200" dirty="0">
                <a:solidFill>
                  <a:srgbClr val="A6A6A6"/>
                </a:solidFill>
                <a:latin typeface="Palatino Linotype"/>
                <a:cs typeface="Palatino Linotype"/>
              </a:rPr>
              <a:t>and</a:t>
            </a:r>
            <a:r>
              <a:rPr sz="2200" spc="-120" dirty="0">
                <a:solidFill>
                  <a:srgbClr val="A6A6A6"/>
                </a:solidFill>
                <a:latin typeface="Palatino Linotype"/>
                <a:cs typeface="Palatino Linotype"/>
              </a:rPr>
              <a:t> </a:t>
            </a:r>
            <a:r>
              <a:rPr sz="2200" spc="-10" dirty="0">
                <a:solidFill>
                  <a:srgbClr val="A6A6A6"/>
                </a:solidFill>
                <a:latin typeface="Palatino Linotype"/>
                <a:cs typeface="Palatino Linotype"/>
              </a:rPr>
              <a:t>Assignment</a:t>
            </a:r>
            <a:endParaRPr sz="2200">
              <a:solidFill>
                <a:sysClr val="windowText" lastClr="000000"/>
              </a:solidFill>
              <a:latin typeface="Palatino Linotype"/>
              <a:cs typeface="Palatino Linotype"/>
            </a:endParaRPr>
          </a:p>
        </p:txBody>
      </p:sp>
    </p:spTree>
    <p:extLst>
      <p:ext uri="{BB962C8B-B14F-4D97-AF65-F5344CB8AC3E}">
        <p14:creationId xmlns:p14="http://schemas.microsoft.com/office/powerpoint/2010/main" val="181922857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24</a:t>
            </a:fld>
            <a:endParaRPr lang="en-US"/>
          </a:p>
        </p:txBody>
      </p:sp>
      <p:sp>
        <p:nvSpPr>
          <p:cNvPr id="7" name="object 2">
            <a:extLst>
              <a:ext uri="{FF2B5EF4-FFF2-40B4-BE49-F238E27FC236}">
                <a16:creationId xmlns:a16="http://schemas.microsoft.com/office/drawing/2014/main" id="{F8E790D3-EF84-1597-25F3-786371DF1BE3}"/>
              </a:ext>
            </a:extLst>
          </p:cNvPr>
          <p:cNvSpPr txBox="1">
            <a:spLocks/>
          </p:cNvSpPr>
          <p:nvPr/>
        </p:nvSpPr>
        <p:spPr>
          <a:xfrm>
            <a:off x="707390" y="524763"/>
            <a:ext cx="7729219" cy="63500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4000" b="1" i="0" u="none" strike="noStrike" kern="0" cap="none" spc="0" normalizeH="0" baseline="0" noProof="0">
                <a:ln>
                  <a:noFill/>
                </a:ln>
                <a:solidFill>
                  <a:sysClr val="windowText" lastClr="000000"/>
                </a:solidFill>
                <a:effectLst/>
                <a:uLnTx/>
                <a:uFillTx/>
                <a:latin typeface="Palatino Linotype"/>
                <a:ea typeface="+mj-ea"/>
              </a:rPr>
              <a:t>Basic</a:t>
            </a:r>
            <a:r>
              <a:rPr kumimoji="0" lang="en-US" sz="4000" b="1" i="0" u="none" strike="noStrike" kern="0" cap="none" spc="-45" normalizeH="0" baseline="0" noProof="0">
                <a:ln>
                  <a:noFill/>
                </a:ln>
                <a:solidFill>
                  <a:sysClr val="windowText" lastClr="000000"/>
                </a:solidFill>
                <a:effectLst/>
                <a:uLnTx/>
                <a:uFillTx/>
                <a:latin typeface="Palatino Linotype"/>
                <a:ea typeface="+mj-ea"/>
              </a:rPr>
              <a:t> </a:t>
            </a:r>
            <a:r>
              <a:rPr kumimoji="0" lang="en-US" sz="4000" b="1" i="0" u="none" strike="noStrike" kern="0" cap="none" spc="0" normalizeH="0" baseline="0" noProof="0">
                <a:ln>
                  <a:noFill/>
                </a:ln>
                <a:solidFill>
                  <a:sysClr val="windowText" lastClr="000000"/>
                </a:solidFill>
                <a:effectLst/>
                <a:uLnTx/>
                <a:uFillTx/>
                <a:latin typeface="Palatino Linotype"/>
                <a:ea typeface="+mj-ea"/>
              </a:rPr>
              <a:t>Block</a:t>
            </a:r>
            <a:r>
              <a:rPr kumimoji="0" lang="en-US" sz="4000" b="1" i="0" u="none" strike="noStrike" kern="0" cap="none" spc="-45" normalizeH="0" baseline="0" noProof="0">
                <a:ln>
                  <a:noFill/>
                </a:ln>
                <a:solidFill>
                  <a:sysClr val="windowText" lastClr="000000"/>
                </a:solidFill>
                <a:effectLst/>
                <a:uLnTx/>
                <a:uFillTx/>
                <a:latin typeface="Palatino Linotype"/>
                <a:ea typeface="+mj-ea"/>
              </a:rPr>
              <a:t> </a:t>
            </a:r>
            <a:r>
              <a:rPr kumimoji="0" lang="en-US" sz="4000" b="1" i="0" u="none" strike="noStrike" kern="0" cap="none" spc="0" normalizeH="0" baseline="0" noProof="0">
                <a:ln>
                  <a:noFill/>
                </a:ln>
                <a:solidFill>
                  <a:sysClr val="windowText" lastClr="000000"/>
                </a:solidFill>
                <a:effectLst/>
                <a:uLnTx/>
                <a:uFillTx/>
                <a:latin typeface="Palatino Linotype"/>
                <a:ea typeface="+mj-ea"/>
              </a:rPr>
              <a:t>and</a:t>
            </a:r>
            <a:r>
              <a:rPr kumimoji="0" lang="en-US" sz="4000" b="1" i="0" u="none" strike="noStrike" kern="0" cap="none" spc="-45" normalizeH="0" baseline="0" noProof="0">
                <a:ln>
                  <a:noFill/>
                </a:ln>
                <a:solidFill>
                  <a:sysClr val="windowText" lastClr="000000"/>
                </a:solidFill>
                <a:effectLst/>
                <a:uLnTx/>
                <a:uFillTx/>
                <a:latin typeface="Palatino Linotype"/>
                <a:ea typeface="+mj-ea"/>
              </a:rPr>
              <a:t> </a:t>
            </a:r>
            <a:r>
              <a:rPr kumimoji="0" lang="en-US" sz="4000" b="1" i="0" u="none" strike="noStrike" kern="0" cap="none" spc="0" normalizeH="0" baseline="0" noProof="0">
                <a:ln>
                  <a:noFill/>
                </a:ln>
                <a:solidFill>
                  <a:sysClr val="windowText" lastClr="000000"/>
                </a:solidFill>
                <a:effectLst/>
                <a:uLnTx/>
                <a:uFillTx/>
                <a:latin typeface="Palatino Linotype"/>
                <a:ea typeface="+mj-ea"/>
              </a:rPr>
              <a:t>Flow</a:t>
            </a:r>
            <a:r>
              <a:rPr kumimoji="0" lang="en-US" sz="4000" b="1" i="0" u="none" strike="noStrike" kern="0" cap="none" spc="-30" normalizeH="0" baseline="0" noProof="0">
                <a:ln>
                  <a:noFill/>
                </a:ln>
                <a:solidFill>
                  <a:sysClr val="windowText" lastClr="000000"/>
                </a:solidFill>
                <a:effectLst/>
                <a:uLnTx/>
                <a:uFillTx/>
                <a:latin typeface="Palatino Linotype"/>
                <a:ea typeface="+mj-ea"/>
              </a:rPr>
              <a:t> </a:t>
            </a:r>
            <a:r>
              <a:rPr kumimoji="0" lang="en-US" sz="4000" b="1" i="0" u="none" strike="noStrike" kern="0" cap="none" spc="-10" normalizeH="0" baseline="0" noProof="0">
                <a:ln>
                  <a:noFill/>
                </a:ln>
                <a:solidFill>
                  <a:sysClr val="windowText" lastClr="000000"/>
                </a:solidFill>
                <a:effectLst/>
                <a:uLnTx/>
                <a:uFillTx/>
                <a:latin typeface="Palatino Linotype"/>
                <a:ea typeface="+mj-ea"/>
              </a:rPr>
              <a:t>Graph</a:t>
            </a:r>
            <a:endParaRPr kumimoji="0" lang="en-US" sz="4000" b="1" i="0" u="none" strike="noStrike" kern="0" cap="none" spc="-10" normalizeH="0" baseline="0" noProof="0" dirty="0">
              <a:ln>
                <a:noFill/>
              </a:ln>
              <a:solidFill>
                <a:sysClr val="windowText" lastClr="000000"/>
              </a:solidFill>
              <a:effectLst/>
              <a:uLnTx/>
              <a:uFillTx/>
              <a:latin typeface="Palatino Linotype"/>
              <a:ea typeface="+mj-ea"/>
            </a:endParaRPr>
          </a:p>
        </p:txBody>
      </p:sp>
      <p:sp>
        <p:nvSpPr>
          <p:cNvPr id="8" name="object 3">
            <a:extLst>
              <a:ext uri="{FF2B5EF4-FFF2-40B4-BE49-F238E27FC236}">
                <a16:creationId xmlns:a16="http://schemas.microsoft.com/office/drawing/2014/main" id="{1082F09B-5245-095E-C26C-D622280BF19D}"/>
              </a:ext>
            </a:extLst>
          </p:cNvPr>
          <p:cNvSpPr txBox="1"/>
          <p:nvPr/>
        </p:nvSpPr>
        <p:spPr>
          <a:xfrm>
            <a:off x="707390" y="1500885"/>
            <a:ext cx="7603490" cy="4008754"/>
          </a:xfrm>
          <a:prstGeom prst="rect">
            <a:avLst/>
          </a:prstGeom>
        </p:spPr>
        <p:txBody>
          <a:bodyPr vert="horz" wrap="square" lIns="0" tIns="171450" rIns="0" bIns="0" rtlCol="0">
            <a:spAutoFit/>
          </a:bodyPr>
          <a:lstStyle/>
          <a:p>
            <a:pPr marL="242570" indent="-229870">
              <a:spcBef>
                <a:spcPts val="1350"/>
              </a:spcBef>
              <a:buFont typeface="Arial MT"/>
              <a:buChar char="•"/>
              <a:tabLst>
                <a:tab pos="242570" algn="l"/>
              </a:tabLst>
            </a:pPr>
            <a:r>
              <a:rPr sz="2000" dirty="0">
                <a:solidFill>
                  <a:sysClr val="windowText" lastClr="000000"/>
                </a:solidFill>
                <a:latin typeface="Palatino Linotype"/>
                <a:cs typeface="Palatino Linotype"/>
              </a:rPr>
              <a:t>Graph</a:t>
            </a:r>
            <a:r>
              <a:rPr sz="2000" spc="-5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representation</a:t>
            </a:r>
            <a:r>
              <a:rPr sz="2000" spc="-5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of</a:t>
            </a:r>
            <a:r>
              <a:rPr sz="2000" spc="-5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intermediate</a:t>
            </a:r>
            <a:r>
              <a:rPr sz="2000" spc="-45" dirty="0">
                <a:solidFill>
                  <a:sysClr val="windowText" lastClr="000000"/>
                </a:solidFill>
                <a:latin typeface="Palatino Linotype"/>
                <a:cs typeface="Palatino Linotype"/>
              </a:rPr>
              <a:t> </a:t>
            </a:r>
            <a:r>
              <a:rPr sz="2000" spc="-20" dirty="0">
                <a:solidFill>
                  <a:sysClr val="windowText" lastClr="000000"/>
                </a:solidFill>
                <a:latin typeface="Palatino Linotype"/>
                <a:cs typeface="Palatino Linotype"/>
              </a:rPr>
              <a:t>code</a:t>
            </a:r>
            <a:endParaRPr sz="2000" dirty="0">
              <a:solidFill>
                <a:sysClr val="windowText" lastClr="000000"/>
              </a:solidFill>
              <a:latin typeface="Palatino Linotype"/>
              <a:cs typeface="Palatino Linotype"/>
            </a:endParaRPr>
          </a:p>
          <a:p>
            <a:pPr marL="697865" lvl="1" indent="-227965">
              <a:spcBef>
                <a:spcPts val="1000"/>
              </a:spcBef>
              <a:buFont typeface="Wingdings"/>
              <a:buChar char=""/>
              <a:tabLst>
                <a:tab pos="697865" algn="l"/>
              </a:tabLst>
            </a:pPr>
            <a:r>
              <a:rPr sz="1600" dirty="0">
                <a:solidFill>
                  <a:sysClr val="windowText" lastClr="000000"/>
                </a:solidFill>
                <a:latin typeface="Palatino Linotype"/>
                <a:cs typeface="Palatino Linotype"/>
              </a:rPr>
              <a:t>Partition</a:t>
            </a:r>
            <a:r>
              <a:rPr sz="1600" spc="-40"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the</a:t>
            </a:r>
            <a:r>
              <a:rPr sz="1600" spc="-45"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intermediate</a:t>
            </a:r>
            <a:r>
              <a:rPr sz="1600" spc="-45"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code</a:t>
            </a:r>
            <a:r>
              <a:rPr sz="1600" spc="-45"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into</a:t>
            </a:r>
            <a:r>
              <a:rPr sz="1600" spc="-40" dirty="0">
                <a:solidFill>
                  <a:sysClr val="windowText" lastClr="000000"/>
                </a:solidFill>
                <a:latin typeface="Palatino Linotype"/>
                <a:cs typeface="Palatino Linotype"/>
              </a:rPr>
              <a:t> </a:t>
            </a:r>
            <a:r>
              <a:rPr sz="1600" b="1" i="1" dirty="0">
                <a:solidFill>
                  <a:srgbClr val="FF0000"/>
                </a:solidFill>
                <a:latin typeface="Palatino Linotype"/>
                <a:cs typeface="Palatino Linotype"/>
              </a:rPr>
              <a:t>basic</a:t>
            </a:r>
            <a:r>
              <a:rPr sz="1600" b="1" i="1" spc="-40" dirty="0">
                <a:solidFill>
                  <a:srgbClr val="FF0000"/>
                </a:solidFill>
                <a:latin typeface="Palatino Linotype"/>
                <a:cs typeface="Palatino Linotype"/>
              </a:rPr>
              <a:t> </a:t>
            </a:r>
            <a:r>
              <a:rPr sz="1600" b="1" i="1" spc="-10" dirty="0">
                <a:solidFill>
                  <a:srgbClr val="FF0000"/>
                </a:solidFill>
                <a:latin typeface="Palatino Linotype"/>
                <a:cs typeface="Palatino Linotype"/>
              </a:rPr>
              <a:t>blocks</a:t>
            </a:r>
            <a:endParaRPr sz="1600" dirty="0">
              <a:solidFill>
                <a:sysClr val="windowText" lastClr="000000"/>
              </a:solidFill>
              <a:latin typeface="Palatino Linotype"/>
              <a:cs typeface="Palatino Linotype"/>
            </a:endParaRPr>
          </a:p>
          <a:p>
            <a:pPr marL="1153795" lvl="2" indent="-227329">
              <a:spcBef>
                <a:spcPts val="965"/>
              </a:spcBef>
              <a:buFont typeface="Courier New"/>
              <a:buChar char="o"/>
              <a:tabLst>
                <a:tab pos="1153795" algn="l"/>
              </a:tabLst>
            </a:pPr>
            <a:r>
              <a:rPr sz="1400" dirty="0">
                <a:solidFill>
                  <a:sysClr val="windowText" lastClr="000000"/>
                </a:solidFill>
                <a:latin typeface="Palatino Linotype"/>
                <a:cs typeface="Palatino Linotype"/>
              </a:rPr>
              <a:t>The</a:t>
            </a:r>
            <a:r>
              <a:rPr sz="1400" spc="-20" dirty="0">
                <a:solidFill>
                  <a:sysClr val="windowText" lastClr="000000"/>
                </a:solidFill>
                <a:latin typeface="Palatino Linotype"/>
                <a:cs typeface="Palatino Linotype"/>
              </a:rPr>
              <a:t> </a:t>
            </a:r>
            <a:r>
              <a:rPr sz="1400" dirty="0">
                <a:solidFill>
                  <a:sysClr val="windowText" lastClr="000000"/>
                </a:solidFill>
                <a:latin typeface="Palatino Linotype"/>
                <a:cs typeface="Palatino Linotype"/>
              </a:rPr>
              <a:t>flow</a:t>
            </a:r>
            <a:r>
              <a:rPr sz="1400" spc="-25" dirty="0">
                <a:solidFill>
                  <a:sysClr val="windowText" lastClr="000000"/>
                </a:solidFill>
                <a:latin typeface="Palatino Linotype"/>
                <a:cs typeface="Palatino Linotype"/>
              </a:rPr>
              <a:t> </a:t>
            </a:r>
            <a:r>
              <a:rPr sz="1400" dirty="0">
                <a:solidFill>
                  <a:sysClr val="windowText" lastClr="000000"/>
                </a:solidFill>
                <a:latin typeface="Palatino Linotype"/>
                <a:cs typeface="Palatino Linotype"/>
              </a:rPr>
              <a:t>of</a:t>
            </a:r>
            <a:r>
              <a:rPr sz="1400" spc="-25" dirty="0">
                <a:solidFill>
                  <a:sysClr val="windowText" lastClr="000000"/>
                </a:solidFill>
                <a:latin typeface="Palatino Linotype"/>
                <a:cs typeface="Palatino Linotype"/>
              </a:rPr>
              <a:t> </a:t>
            </a:r>
            <a:r>
              <a:rPr sz="1400" dirty="0">
                <a:solidFill>
                  <a:sysClr val="windowText" lastClr="000000"/>
                </a:solidFill>
                <a:latin typeface="Palatino Linotype"/>
                <a:cs typeface="Palatino Linotype"/>
              </a:rPr>
              <a:t>control</a:t>
            </a:r>
            <a:r>
              <a:rPr sz="1400" spc="-15" dirty="0">
                <a:solidFill>
                  <a:sysClr val="windowText" lastClr="000000"/>
                </a:solidFill>
                <a:latin typeface="Palatino Linotype"/>
                <a:cs typeface="Palatino Linotype"/>
              </a:rPr>
              <a:t> </a:t>
            </a:r>
            <a:r>
              <a:rPr sz="1400" dirty="0">
                <a:solidFill>
                  <a:sysClr val="windowText" lastClr="000000"/>
                </a:solidFill>
                <a:latin typeface="Palatino Linotype"/>
                <a:cs typeface="Palatino Linotype"/>
              </a:rPr>
              <a:t>can</a:t>
            </a:r>
            <a:r>
              <a:rPr sz="1400" spc="-25" dirty="0">
                <a:solidFill>
                  <a:sysClr val="windowText" lastClr="000000"/>
                </a:solidFill>
                <a:latin typeface="Palatino Linotype"/>
                <a:cs typeface="Palatino Linotype"/>
              </a:rPr>
              <a:t> </a:t>
            </a:r>
            <a:r>
              <a:rPr sz="1400" dirty="0">
                <a:solidFill>
                  <a:sysClr val="windowText" lastClr="000000"/>
                </a:solidFill>
                <a:latin typeface="Palatino Linotype"/>
                <a:cs typeface="Palatino Linotype"/>
              </a:rPr>
              <a:t>only</a:t>
            </a:r>
            <a:r>
              <a:rPr sz="1400" spc="-25" dirty="0">
                <a:solidFill>
                  <a:sysClr val="windowText" lastClr="000000"/>
                </a:solidFill>
                <a:latin typeface="Palatino Linotype"/>
                <a:cs typeface="Palatino Linotype"/>
              </a:rPr>
              <a:t> </a:t>
            </a:r>
            <a:r>
              <a:rPr sz="1400" dirty="0">
                <a:solidFill>
                  <a:sysClr val="windowText" lastClr="000000"/>
                </a:solidFill>
                <a:latin typeface="Palatino Linotype"/>
                <a:cs typeface="Palatino Linotype"/>
              </a:rPr>
              <a:t>enter</a:t>
            </a:r>
            <a:r>
              <a:rPr sz="1400" spc="-25" dirty="0">
                <a:solidFill>
                  <a:sysClr val="windowText" lastClr="000000"/>
                </a:solidFill>
                <a:latin typeface="Palatino Linotype"/>
                <a:cs typeface="Palatino Linotype"/>
              </a:rPr>
              <a:t> </a:t>
            </a:r>
            <a:r>
              <a:rPr sz="1400" dirty="0">
                <a:solidFill>
                  <a:sysClr val="windowText" lastClr="000000"/>
                </a:solidFill>
                <a:latin typeface="Palatino Linotype"/>
                <a:cs typeface="Palatino Linotype"/>
              </a:rPr>
              <a:t>the</a:t>
            </a:r>
            <a:r>
              <a:rPr sz="1400" spc="-20" dirty="0">
                <a:solidFill>
                  <a:sysClr val="windowText" lastClr="000000"/>
                </a:solidFill>
                <a:latin typeface="Palatino Linotype"/>
                <a:cs typeface="Palatino Linotype"/>
              </a:rPr>
              <a:t> </a:t>
            </a:r>
            <a:r>
              <a:rPr sz="1400" dirty="0">
                <a:solidFill>
                  <a:sysClr val="windowText" lastClr="000000"/>
                </a:solidFill>
                <a:latin typeface="Palatino Linotype"/>
                <a:cs typeface="Palatino Linotype"/>
              </a:rPr>
              <a:t>basic</a:t>
            </a:r>
            <a:r>
              <a:rPr sz="1400" spc="-20" dirty="0">
                <a:solidFill>
                  <a:sysClr val="windowText" lastClr="000000"/>
                </a:solidFill>
                <a:latin typeface="Palatino Linotype"/>
                <a:cs typeface="Palatino Linotype"/>
              </a:rPr>
              <a:t> </a:t>
            </a:r>
            <a:r>
              <a:rPr sz="1400" dirty="0">
                <a:solidFill>
                  <a:sysClr val="windowText" lastClr="000000"/>
                </a:solidFill>
                <a:latin typeface="Palatino Linotype"/>
                <a:cs typeface="Palatino Linotype"/>
              </a:rPr>
              <a:t>block</a:t>
            </a:r>
            <a:r>
              <a:rPr sz="1400" spc="-20" dirty="0">
                <a:solidFill>
                  <a:sysClr val="windowText" lastClr="000000"/>
                </a:solidFill>
                <a:latin typeface="Palatino Linotype"/>
                <a:cs typeface="Palatino Linotype"/>
              </a:rPr>
              <a:t> </a:t>
            </a:r>
            <a:r>
              <a:rPr sz="1400" dirty="0">
                <a:solidFill>
                  <a:sysClr val="windowText" lastClr="000000"/>
                </a:solidFill>
                <a:latin typeface="Palatino Linotype"/>
                <a:cs typeface="Palatino Linotype"/>
              </a:rPr>
              <a:t>through</a:t>
            </a:r>
            <a:r>
              <a:rPr sz="1400" spc="-25" dirty="0">
                <a:solidFill>
                  <a:sysClr val="windowText" lastClr="000000"/>
                </a:solidFill>
                <a:latin typeface="Palatino Linotype"/>
                <a:cs typeface="Palatino Linotype"/>
              </a:rPr>
              <a:t> </a:t>
            </a:r>
            <a:r>
              <a:rPr sz="1400" dirty="0">
                <a:solidFill>
                  <a:sysClr val="windowText" lastClr="000000"/>
                </a:solidFill>
                <a:latin typeface="Palatino Linotype"/>
                <a:cs typeface="Palatino Linotype"/>
              </a:rPr>
              <a:t>its</a:t>
            </a:r>
            <a:r>
              <a:rPr sz="1400" spc="-30" dirty="0">
                <a:solidFill>
                  <a:sysClr val="windowText" lastClr="000000"/>
                </a:solidFill>
                <a:latin typeface="Palatino Linotype"/>
                <a:cs typeface="Palatino Linotype"/>
              </a:rPr>
              <a:t> </a:t>
            </a:r>
            <a:r>
              <a:rPr sz="1400" dirty="0">
                <a:solidFill>
                  <a:sysClr val="windowText" lastClr="000000"/>
                </a:solidFill>
                <a:latin typeface="Palatino Linotype"/>
                <a:cs typeface="Palatino Linotype"/>
              </a:rPr>
              <a:t>first</a:t>
            </a:r>
            <a:r>
              <a:rPr sz="1400" spc="-15" dirty="0">
                <a:solidFill>
                  <a:sysClr val="windowText" lastClr="000000"/>
                </a:solidFill>
                <a:latin typeface="Palatino Linotype"/>
                <a:cs typeface="Palatino Linotype"/>
              </a:rPr>
              <a:t> </a:t>
            </a:r>
            <a:r>
              <a:rPr sz="1400" spc="-10" dirty="0">
                <a:solidFill>
                  <a:sysClr val="windowText" lastClr="000000"/>
                </a:solidFill>
                <a:latin typeface="Palatino Linotype"/>
                <a:cs typeface="Palatino Linotype"/>
              </a:rPr>
              <a:t>instruction</a:t>
            </a:r>
            <a:endParaRPr sz="1400" dirty="0">
              <a:solidFill>
                <a:sysClr val="windowText" lastClr="000000"/>
              </a:solidFill>
              <a:latin typeface="Palatino Linotype"/>
              <a:cs typeface="Palatino Linotype"/>
            </a:endParaRPr>
          </a:p>
          <a:p>
            <a:pPr marL="1153795" marR="5080" lvl="2" indent="-227329">
              <a:lnSpc>
                <a:spcPct val="120000"/>
              </a:lnSpc>
              <a:spcBef>
                <a:spcPts val="580"/>
              </a:spcBef>
              <a:buFont typeface="Courier New"/>
              <a:buChar char="o"/>
              <a:tabLst>
                <a:tab pos="1155065" algn="l"/>
              </a:tabLst>
            </a:pPr>
            <a:r>
              <a:rPr sz="1400" dirty="0">
                <a:solidFill>
                  <a:sysClr val="windowText" lastClr="000000"/>
                </a:solidFill>
                <a:latin typeface="Palatino Linotype"/>
                <a:cs typeface="Palatino Linotype"/>
              </a:rPr>
              <a:t>Control</a:t>
            </a:r>
            <a:r>
              <a:rPr sz="1400" spc="-25" dirty="0">
                <a:solidFill>
                  <a:sysClr val="windowText" lastClr="000000"/>
                </a:solidFill>
                <a:latin typeface="Palatino Linotype"/>
                <a:cs typeface="Palatino Linotype"/>
              </a:rPr>
              <a:t> </a:t>
            </a:r>
            <a:r>
              <a:rPr sz="1400" dirty="0">
                <a:solidFill>
                  <a:sysClr val="windowText" lastClr="000000"/>
                </a:solidFill>
                <a:latin typeface="Palatino Linotype"/>
                <a:cs typeface="Palatino Linotype"/>
              </a:rPr>
              <a:t>will</a:t>
            </a:r>
            <a:r>
              <a:rPr sz="1400" spc="-20" dirty="0">
                <a:solidFill>
                  <a:sysClr val="windowText" lastClr="000000"/>
                </a:solidFill>
                <a:latin typeface="Palatino Linotype"/>
                <a:cs typeface="Palatino Linotype"/>
              </a:rPr>
              <a:t> </a:t>
            </a:r>
            <a:r>
              <a:rPr sz="1400" dirty="0">
                <a:solidFill>
                  <a:sysClr val="windowText" lastClr="000000"/>
                </a:solidFill>
                <a:latin typeface="Palatino Linotype"/>
                <a:cs typeface="Palatino Linotype"/>
              </a:rPr>
              <a:t>not</a:t>
            </a:r>
            <a:r>
              <a:rPr sz="1400" spc="-25" dirty="0">
                <a:solidFill>
                  <a:sysClr val="windowText" lastClr="000000"/>
                </a:solidFill>
                <a:latin typeface="Palatino Linotype"/>
                <a:cs typeface="Palatino Linotype"/>
              </a:rPr>
              <a:t> </a:t>
            </a:r>
            <a:r>
              <a:rPr sz="1400" dirty="0">
                <a:solidFill>
                  <a:sysClr val="windowText" lastClr="000000"/>
                </a:solidFill>
                <a:latin typeface="Palatino Linotype"/>
                <a:cs typeface="Palatino Linotype"/>
              </a:rPr>
              <a:t>leave</a:t>
            </a:r>
            <a:r>
              <a:rPr sz="1400" spc="-25" dirty="0">
                <a:solidFill>
                  <a:sysClr val="windowText" lastClr="000000"/>
                </a:solidFill>
                <a:latin typeface="Palatino Linotype"/>
                <a:cs typeface="Palatino Linotype"/>
              </a:rPr>
              <a:t> </a:t>
            </a:r>
            <a:r>
              <a:rPr sz="1400" dirty="0">
                <a:solidFill>
                  <a:sysClr val="windowText" lastClr="000000"/>
                </a:solidFill>
                <a:latin typeface="Palatino Linotype"/>
                <a:cs typeface="Palatino Linotype"/>
              </a:rPr>
              <a:t>the</a:t>
            </a:r>
            <a:r>
              <a:rPr sz="1400" spc="-30" dirty="0">
                <a:solidFill>
                  <a:sysClr val="windowText" lastClr="000000"/>
                </a:solidFill>
                <a:latin typeface="Palatino Linotype"/>
                <a:cs typeface="Palatino Linotype"/>
              </a:rPr>
              <a:t> </a:t>
            </a:r>
            <a:r>
              <a:rPr sz="1400" dirty="0">
                <a:solidFill>
                  <a:sysClr val="windowText" lastClr="000000"/>
                </a:solidFill>
                <a:latin typeface="Palatino Linotype"/>
                <a:cs typeface="Palatino Linotype"/>
              </a:rPr>
              <a:t>block,</a:t>
            </a:r>
            <a:r>
              <a:rPr sz="1400" spc="-25" dirty="0">
                <a:solidFill>
                  <a:sysClr val="windowText" lastClr="000000"/>
                </a:solidFill>
                <a:latin typeface="Palatino Linotype"/>
                <a:cs typeface="Palatino Linotype"/>
              </a:rPr>
              <a:t> </a:t>
            </a:r>
            <a:r>
              <a:rPr sz="1400" dirty="0">
                <a:solidFill>
                  <a:sysClr val="windowText" lastClr="000000"/>
                </a:solidFill>
                <a:latin typeface="Palatino Linotype"/>
                <a:cs typeface="Palatino Linotype"/>
              </a:rPr>
              <a:t>except</a:t>
            </a:r>
            <a:r>
              <a:rPr sz="1400" spc="-20" dirty="0">
                <a:solidFill>
                  <a:sysClr val="windowText" lastClr="000000"/>
                </a:solidFill>
                <a:latin typeface="Palatino Linotype"/>
                <a:cs typeface="Palatino Linotype"/>
              </a:rPr>
              <a:t> </a:t>
            </a:r>
            <a:r>
              <a:rPr sz="1400" dirty="0">
                <a:solidFill>
                  <a:sysClr val="windowText" lastClr="000000"/>
                </a:solidFill>
                <a:latin typeface="Palatino Linotype"/>
                <a:cs typeface="Palatino Linotype"/>
              </a:rPr>
              <a:t>possibly</a:t>
            </a:r>
            <a:r>
              <a:rPr sz="1400" spc="-35" dirty="0">
                <a:solidFill>
                  <a:sysClr val="windowText" lastClr="000000"/>
                </a:solidFill>
                <a:latin typeface="Palatino Linotype"/>
                <a:cs typeface="Palatino Linotype"/>
              </a:rPr>
              <a:t> </a:t>
            </a:r>
            <a:r>
              <a:rPr sz="1400" dirty="0">
                <a:solidFill>
                  <a:sysClr val="windowText" lastClr="000000"/>
                </a:solidFill>
                <a:latin typeface="Palatino Linotype"/>
                <a:cs typeface="Palatino Linotype"/>
              </a:rPr>
              <a:t>at</a:t>
            </a:r>
            <a:r>
              <a:rPr sz="1400" spc="-20" dirty="0">
                <a:solidFill>
                  <a:sysClr val="windowText" lastClr="000000"/>
                </a:solidFill>
                <a:latin typeface="Palatino Linotype"/>
                <a:cs typeface="Palatino Linotype"/>
              </a:rPr>
              <a:t> </a:t>
            </a:r>
            <a:r>
              <a:rPr sz="1400" dirty="0">
                <a:solidFill>
                  <a:sysClr val="windowText" lastClr="000000"/>
                </a:solidFill>
                <a:latin typeface="Palatino Linotype"/>
                <a:cs typeface="Palatino Linotype"/>
              </a:rPr>
              <a:t>the</a:t>
            </a:r>
            <a:r>
              <a:rPr sz="1400" spc="-25" dirty="0">
                <a:solidFill>
                  <a:sysClr val="windowText" lastClr="000000"/>
                </a:solidFill>
                <a:latin typeface="Palatino Linotype"/>
                <a:cs typeface="Palatino Linotype"/>
              </a:rPr>
              <a:t> </a:t>
            </a:r>
            <a:r>
              <a:rPr sz="1400" dirty="0">
                <a:solidFill>
                  <a:sysClr val="windowText" lastClr="000000"/>
                </a:solidFill>
                <a:latin typeface="Palatino Linotype"/>
                <a:cs typeface="Palatino Linotype"/>
              </a:rPr>
              <a:t>last</a:t>
            </a:r>
            <a:r>
              <a:rPr sz="1400" spc="-25" dirty="0">
                <a:solidFill>
                  <a:sysClr val="windowText" lastClr="000000"/>
                </a:solidFill>
                <a:latin typeface="Palatino Linotype"/>
                <a:cs typeface="Palatino Linotype"/>
              </a:rPr>
              <a:t> </a:t>
            </a:r>
            <a:r>
              <a:rPr sz="1400" dirty="0">
                <a:solidFill>
                  <a:sysClr val="windowText" lastClr="000000"/>
                </a:solidFill>
                <a:latin typeface="Palatino Linotype"/>
                <a:cs typeface="Palatino Linotype"/>
              </a:rPr>
              <a:t>instruction</a:t>
            </a:r>
            <a:r>
              <a:rPr sz="1400" spc="-30" dirty="0">
                <a:solidFill>
                  <a:sysClr val="windowText" lastClr="000000"/>
                </a:solidFill>
                <a:latin typeface="Palatino Linotype"/>
                <a:cs typeface="Palatino Linotype"/>
              </a:rPr>
              <a:t> </a:t>
            </a:r>
            <a:r>
              <a:rPr sz="1400" dirty="0">
                <a:solidFill>
                  <a:sysClr val="windowText" lastClr="000000"/>
                </a:solidFill>
                <a:latin typeface="Palatino Linotype"/>
                <a:cs typeface="Palatino Linotype"/>
              </a:rPr>
              <a:t>in</a:t>
            </a:r>
            <a:r>
              <a:rPr sz="1400" spc="-30" dirty="0">
                <a:solidFill>
                  <a:sysClr val="windowText" lastClr="000000"/>
                </a:solidFill>
                <a:latin typeface="Palatino Linotype"/>
                <a:cs typeface="Palatino Linotype"/>
              </a:rPr>
              <a:t> </a:t>
            </a:r>
            <a:r>
              <a:rPr sz="1400" dirty="0">
                <a:solidFill>
                  <a:sysClr val="windowText" lastClr="000000"/>
                </a:solidFill>
                <a:latin typeface="Palatino Linotype"/>
                <a:cs typeface="Palatino Linotype"/>
              </a:rPr>
              <a:t>the</a:t>
            </a:r>
            <a:r>
              <a:rPr sz="1400" spc="-30" dirty="0">
                <a:solidFill>
                  <a:sysClr val="windowText" lastClr="000000"/>
                </a:solidFill>
                <a:latin typeface="Palatino Linotype"/>
                <a:cs typeface="Palatino Linotype"/>
              </a:rPr>
              <a:t> </a:t>
            </a:r>
            <a:r>
              <a:rPr sz="1400" spc="-10" dirty="0">
                <a:solidFill>
                  <a:sysClr val="windowText" lastClr="000000"/>
                </a:solidFill>
                <a:latin typeface="Palatino Linotype"/>
                <a:cs typeface="Palatino Linotype"/>
              </a:rPr>
              <a:t>block 	</a:t>
            </a:r>
            <a:r>
              <a:rPr sz="1400" dirty="0">
                <a:solidFill>
                  <a:sysClr val="windowText" lastClr="000000"/>
                </a:solidFill>
                <a:latin typeface="Palatino Linotype"/>
                <a:cs typeface="Palatino Linotype"/>
              </a:rPr>
              <a:t>(</a:t>
            </a:r>
            <a:r>
              <a:rPr sz="1400" dirty="0">
                <a:solidFill>
                  <a:srgbClr val="FF0000"/>
                </a:solidFill>
                <a:latin typeface="Palatino Linotype"/>
                <a:cs typeface="Palatino Linotype"/>
              </a:rPr>
              <a:t>no</a:t>
            </a:r>
            <a:r>
              <a:rPr sz="1400" spc="-30" dirty="0">
                <a:solidFill>
                  <a:srgbClr val="FF0000"/>
                </a:solidFill>
                <a:latin typeface="Palatino Linotype"/>
                <a:cs typeface="Palatino Linotype"/>
              </a:rPr>
              <a:t> </a:t>
            </a:r>
            <a:r>
              <a:rPr sz="1400" dirty="0">
                <a:solidFill>
                  <a:srgbClr val="FF0000"/>
                </a:solidFill>
                <a:latin typeface="Palatino Linotype"/>
                <a:cs typeface="Palatino Linotype"/>
              </a:rPr>
              <a:t>halting/branching</a:t>
            </a:r>
            <a:r>
              <a:rPr sz="1400" spc="-30" dirty="0">
                <a:solidFill>
                  <a:srgbClr val="FF0000"/>
                </a:solidFill>
                <a:latin typeface="Palatino Linotype"/>
                <a:cs typeface="Palatino Linotype"/>
              </a:rPr>
              <a:t> </a:t>
            </a:r>
            <a:r>
              <a:rPr sz="1400" dirty="0">
                <a:solidFill>
                  <a:srgbClr val="FF0000"/>
                </a:solidFill>
                <a:latin typeface="Palatino Linotype"/>
                <a:cs typeface="Palatino Linotype"/>
              </a:rPr>
              <a:t>in</a:t>
            </a:r>
            <a:r>
              <a:rPr sz="1400" spc="-30" dirty="0">
                <a:solidFill>
                  <a:srgbClr val="FF0000"/>
                </a:solidFill>
                <a:latin typeface="Palatino Linotype"/>
                <a:cs typeface="Palatino Linotype"/>
              </a:rPr>
              <a:t> </a:t>
            </a:r>
            <a:r>
              <a:rPr sz="1400" dirty="0">
                <a:solidFill>
                  <a:srgbClr val="FF0000"/>
                </a:solidFill>
                <a:latin typeface="Palatino Linotype"/>
                <a:cs typeface="Palatino Linotype"/>
              </a:rPr>
              <a:t>the</a:t>
            </a:r>
            <a:r>
              <a:rPr sz="1400" spc="-25" dirty="0">
                <a:solidFill>
                  <a:srgbClr val="FF0000"/>
                </a:solidFill>
                <a:latin typeface="Palatino Linotype"/>
                <a:cs typeface="Palatino Linotype"/>
              </a:rPr>
              <a:t> </a:t>
            </a:r>
            <a:r>
              <a:rPr sz="1400" spc="-10" dirty="0">
                <a:solidFill>
                  <a:srgbClr val="FF0000"/>
                </a:solidFill>
                <a:latin typeface="Palatino Linotype"/>
                <a:cs typeface="Palatino Linotype"/>
              </a:rPr>
              <a:t>middle</a:t>
            </a:r>
            <a:r>
              <a:rPr sz="1400" spc="-10" dirty="0">
                <a:solidFill>
                  <a:sysClr val="windowText" lastClr="000000"/>
                </a:solidFill>
                <a:latin typeface="Palatino Linotype"/>
                <a:cs typeface="Palatino Linotype"/>
              </a:rPr>
              <a:t>)</a:t>
            </a:r>
            <a:endParaRPr sz="1400" dirty="0">
              <a:solidFill>
                <a:sysClr val="windowText" lastClr="000000"/>
              </a:solidFill>
              <a:latin typeface="Palatino Linotype"/>
              <a:cs typeface="Palatino Linotype"/>
            </a:endParaRPr>
          </a:p>
          <a:p>
            <a:pPr marL="698500" marR="114300" lvl="1" indent="-228600">
              <a:lnSpc>
                <a:spcPct val="118800"/>
              </a:lnSpc>
              <a:spcBef>
                <a:spcPts val="660"/>
              </a:spcBef>
              <a:buClr>
                <a:srgbClr val="000000"/>
              </a:buClr>
              <a:buFont typeface="Wingdings"/>
              <a:buChar char=""/>
              <a:tabLst>
                <a:tab pos="698500" algn="l"/>
              </a:tabLst>
            </a:pPr>
            <a:r>
              <a:rPr sz="1600" b="1" i="1" dirty="0">
                <a:solidFill>
                  <a:srgbClr val="FF0000"/>
                </a:solidFill>
                <a:latin typeface="Palatino Linotype"/>
                <a:cs typeface="Palatino Linotype"/>
              </a:rPr>
              <a:t>Flow</a:t>
            </a:r>
            <a:r>
              <a:rPr sz="1600" b="1" i="1" spc="-30" dirty="0">
                <a:solidFill>
                  <a:srgbClr val="FF0000"/>
                </a:solidFill>
                <a:latin typeface="Palatino Linotype"/>
                <a:cs typeface="Palatino Linotype"/>
              </a:rPr>
              <a:t> </a:t>
            </a:r>
            <a:r>
              <a:rPr sz="1600" b="1" i="1" dirty="0">
                <a:solidFill>
                  <a:srgbClr val="FF0000"/>
                </a:solidFill>
                <a:latin typeface="Palatino Linotype"/>
                <a:cs typeface="Palatino Linotype"/>
              </a:rPr>
              <a:t>graphs</a:t>
            </a:r>
            <a:r>
              <a:rPr sz="1600" dirty="0">
                <a:solidFill>
                  <a:sysClr val="windowText" lastClr="000000"/>
                </a:solidFill>
                <a:latin typeface="Palatino Linotype"/>
                <a:cs typeface="Palatino Linotype"/>
              </a:rPr>
              <a:t>:</a:t>
            </a:r>
            <a:r>
              <a:rPr sz="1600" spc="-25"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basic</a:t>
            </a:r>
            <a:r>
              <a:rPr sz="1600" spc="-30"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blocks</a:t>
            </a:r>
            <a:r>
              <a:rPr sz="1600" spc="-30"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are</a:t>
            </a:r>
            <a:r>
              <a:rPr sz="1600" spc="-35" dirty="0">
                <a:solidFill>
                  <a:sysClr val="windowText" lastClr="000000"/>
                </a:solidFill>
                <a:latin typeface="Palatino Linotype"/>
                <a:cs typeface="Palatino Linotype"/>
              </a:rPr>
              <a:t> </a:t>
            </a:r>
            <a:r>
              <a:rPr sz="1600" dirty="0">
                <a:solidFill>
                  <a:srgbClr val="0432FF"/>
                </a:solidFill>
                <a:latin typeface="Palatino Linotype"/>
                <a:cs typeface="Palatino Linotype"/>
              </a:rPr>
              <a:t>nodes</a:t>
            </a:r>
            <a:r>
              <a:rPr sz="1600" spc="-30" dirty="0">
                <a:solidFill>
                  <a:srgbClr val="0432FF"/>
                </a:solidFill>
                <a:latin typeface="Palatino Linotype"/>
                <a:cs typeface="Palatino Linotype"/>
              </a:rPr>
              <a:t> </a:t>
            </a:r>
            <a:r>
              <a:rPr sz="1600" dirty="0">
                <a:solidFill>
                  <a:sysClr val="windowText" lastClr="000000"/>
                </a:solidFill>
                <a:latin typeface="Palatino Linotype"/>
                <a:cs typeface="Palatino Linotype"/>
              </a:rPr>
              <a:t>and</a:t>
            </a:r>
            <a:r>
              <a:rPr sz="1600" spc="-30"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the</a:t>
            </a:r>
            <a:r>
              <a:rPr sz="1600" spc="-35" dirty="0">
                <a:solidFill>
                  <a:sysClr val="windowText" lastClr="000000"/>
                </a:solidFill>
                <a:latin typeface="Palatino Linotype"/>
                <a:cs typeface="Palatino Linotype"/>
              </a:rPr>
              <a:t> </a:t>
            </a:r>
            <a:r>
              <a:rPr sz="1600" dirty="0">
                <a:solidFill>
                  <a:srgbClr val="0432FF"/>
                </a:solidFill>
                <a:latin typeface="Palatino Linotype"/>
                <a:cs typeface="Palatino Linotype"/>
              </a:rPr>
              <a:t>edges</a:t>
            </a:r>
            <a:r>
              <a:rPr sz="1600" spc="-30" dirty="0">
                <a:solidFill>
                  <a:srgbClr val="0432FF"/>
                </a:solidFill>
                <a:latin typeface="Palatino Linotype"/>
                <a:cs typeface="Palatino Linotype"/>
              </a:rPr>
              <a:t> </a:t>
            </a:r>
            <a:r>
              <a:rPr sz="1600" dirty="0">
                <a:solidFill>
                  <a:sysClr val="windowText" lastClr="000000"/>
                </a:solidFill>
                <a:latin typeface="Palatino Linotype"/>
                <a:cs typeface="Palatino Linotype"/>
              </a:rPr>
              <a:t>indicate</a:t>
            </a:r>
            <a:r>
              <a:rPr sz="1600" spc="-30"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which</a:t>
            </a:r>
            <a:r>
              <a:rPr sz="1600" spc="-25"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block</a:t>
            </a:r>
            <a:r>
              <a:rPr sz="1600" spc="-30" dirty="0">
                <a:solidFill>
                  <a:sysClr val="windowText" lastClr="000000"/>
                </a:solidFill>
                <a:latin typeface="Palatino Linotype"/>
                <a:cs typeface="Palatino Linotype"/>
              </a:rPr>
              <a:t> </a:t>
            </a:r>
            <a:r>
              <a:rPr sz="1600" spc="-25" dirty="0">
                <a:solidFill>
                  <a:sysClr val="windowText" lastClr="000000"/>
                </a:solidFill>
                <a:latin typeface="Palatino Linotype"/>
                <a:cs typeface="Palatino Linotype"/>
              </a:rPr>
              <a:t>can </a:t>
            </a:r>
            <a:r>
              <a:rPr sz="1600" dirty="0">
                <a:solidFill>
                  <a:sysClr val="windowText" lastClr="000000"/>
                </a:solidFill>
                <a:latin typeface="Palatino Linotype"/>
                <a:cs typeface="Palatino Linotype"/>
              </a:rPr>
              <a:t>follow</a:t>
            </a:r>
            <a:r>
              <a:rPr sz="1600" spc="-40"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which</a:t>
            </a:r>
            <a:r>
              <a:rPr sz="1600" spc="-35"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other</a:t>
            </a:r>
            <a:r>
              <a:rPr sz="1600" spc="-35" dirty="0">
                <a:solidFill>
                  <a:sysClr val="windowText" lastClr="000000"/>
                </a:solidFill>
                <a:latin typeface="Palatino Linotype"/>
                <a:cs typeface="Palatino Linotype"/>
              </a:rPr>
              <a:t> </a:t>
            </a:r>
            <a:r>
              <a:rPr sz="1600" spc="-10" dirty="0">
                <a:solidFill>
                  <a:sysClr val="windowText" lastClr="000000"/>
                </a:solidFill>
                <a:latin typeface="Palatino Linotype"/>
                <a:cs typeface="Palatino Linotype"/>
              </a:rPr>
              <a:t>blocks</a:t>
            </a:r>
            <a:endParaRPr sz="1600" dirty="0">
              <a:solidFill>
                <a:sysClr val="windowText" lastClr="000000"/>
              </a:solidFill>
              <a:latin typeface="Palatino Linotype"/>
              <a:cs typeface="Palatino Linotype"/>
            </a:endParaRPr>
          </a:p>
          <a:p>
            <a:pPr marL="0" lvl="1">
              <a:spcBef>
                <a:spcPts val="635"/>
              </a:spcBef>
              <a:buFont typeface="Wingdings"/>
              <a:buChar char=""/>
            </a:pPr>
            <a:endParaRPr sz="1600" dirty="0">
              <a:solidFill>
                <a:sysClr val="windowText" lastClr="000000"/>
              </a:solidFill>
              <a:latin typeface="Palatino Linotype"/>
              <a:cs typeface="Palatino Linotype"/>
            </a:endParaRPr>
          </a:p>
          <a:p>
            <a:pPr marL="242570" indent="-229870">
              <a:buFont typeface="Arial MT"/>
              <a:buChar char="•"/>
              <a:tabLst>
                <a:tab pos="242570" algn="l"/>
              </a:tabLst>
            </a:pPr>
            <a:r>
              <a:rPr sz="2000" dirty="0">
                <a:solidFill>
                  <a:sysClr val="windowText" lastClr="000000"/>
                </a:solidFill>
                <a:latin typeface="Palatino Linotype"/>
                <a:cs typeface="Palatino Linotype"/>
              </a:rPr>
              <a:t>Flow</a:t>
            </a:r>
            <a:r>
              <a:rPr sz="2000" spc="-3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graphs</a:t>
            </a:r>
            <a:r>
              <a:rPr sz="2000" spc="-2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form</a:t>
            </a:r>
            <a:r>
              <a:rPr sz="2000" spc="-25" dirty="0">
                <a:solidFill>
                  <a:sysClr val="windowText" lastClr="000000"/>
                </a:solidFill>
                <a:latin typeface="Palatino Linotype"/>
                <a:cs typeface="Palatino Linotype"/>
              </a:rPr>
              <a:t> </a:t>
            </a:r>
            <a:r>
              <a:rPr sz="2000" dirty="0">
                <a:solidFill>
                  <a:srgbClr val="FF0000"/>
                </a:solidFill>
                <a:latin typeface="Palatino Linotype"/>
                <a:cs typeface="Palatino Linotype"/>
              </a:rPr>
              <a:t>the</a:t>
            </a:r>
            <a:r>
              <a:rPr sz="2000" spc="-25" dirty="0">
                <a:solidFill>
                  <a:srgbClr val="FF0000"/>
                </a:solidFill>
                <a:latin typeface="Palatino Linotype"/>
                <a:cs typeface="Palatino Linotype"/>
              </a:rPr>
              <a:t> </a:t>
            </a:r>
            <a:r>
              <a:rPr sz="2000" dirty="0">
                <a:solidFill>
                  <a:srgbClr val="FF0000"/>
                </a:solidFill>
                <a:latin typeface="Palatino Linotype"/>
                <a:cs typeface="Palatino Linotype"/>
              </a:rPr>
              <a:t>basis</a:t>
            </a:r>
            <a:r>
              <a:rPr sz="2000" spc="-25" dirty="0">
                <a:solidFill>
                  <a:srgbClr val="FF0000"/>
                </a:solidFill>
                <a:latin typeface="Palatino Linotype"/>
                <a:cs typeface="Palatino Linotype"/>
              </a:rPr>
              <a:t> </a:t>
            </a:r>
            <a:r>
              <a:rPr sz="2000" dirty="0">
                <a:solidFill>
                  <a:srgbClr val="FF0000"/>
                </a:solidFill>
                <a:latin typeface="Palatino Linotype"/>
                <a:cs typeface="Palatino Linotype"/>
              </a:rPr>
              <a:t>of</a:t>
            </a:r>
            <a:r>
              <a:rPr sz="2000" spc="-25" dirty="0">
                <a:solidFill>
                  <a:srgbClr val="FF0000"/>
                </a:solidFill>
                <a:latin typeface="Palatino Linotype"/>
                <a:cs typeface="Palatino Linotype"/>
              </a:rPr>
              <a:t> </a:t>
            </a:r>
            <a:r>
              <a:rPr sz="2000" dirty="0">
                <a:solidFill>
                  <a:srgbClr val="FF0000"/>
                </a:solidFill>
                <a:latin typeface="Palatino Linotype"/>
                <a:cs typeface="Palatino Linotype"/>
              </a:rPr>
              <a:t>code</a:t>
            </a:r>
            <a:r>
              <a:rPr sz="2000" spc="-25" dirty="0">
                <a:solidFill>
                  <a:srgbClr val="FF0000"/>
                </a:solidFill>
                <a:latin typeface="Palatino Linotype"/>
                <a:cs typeface="Palatino Linotype"/>
              </a:rPr>
              <a:t> </a:t>
            </a:r>
            <a:r>
              <a:rPr sz="2000" spc="-10" dirty="0">
                <a:solidFill>
                  <a:srgbClr val="FF0000"/>
                </a:solidFill>
                <a:latin typeface="Palatino Linotype"/>
                <a:cs typeface="Palatino Linotype"/>
              </a:rPr>
              <a:t>optimization</a:t>
            </a:r>
            <a:endParaRPr sz="2000" dirty="0">
              <a:solidFill>
                <a:sysClr val="windowText" lastClr="000000"/>
              </a:solidFill>
              <a:latin typeface="Palatino Linotype"/>
              <a:cs typeface="Palatino Linotype"/>
            </a:endParaRPr>
          </a:p>
          <a:p>
            <a:pPr marL="697865" lvl="1" indent="-227965">
              <a:spcBef>
                <a:spcPts val="1600"/>
              </a:spcBef>
              <a:buFont typeface="Wingdings"/>
              <a:buChar char=""/>
              <a:tabLst>
                <a:tab pos="697865" algn="l"/>
              </a:tabLst>
            </a:pPr>
            <a:r>
              <a:rPr sz="1600" dirty="0">
                <a:solidFill>
                  <a:sysClr val="windowText" lastClr="000000"/>
                </a:solidFill>
                <a:latin typeface="Palatino Linotype"/>
                <a:cs typeface="Palatino Linotype"/>
              </a:rPr>
              <a:t>They</a:t>
            </a:r>
            <a:r>
              <a:rPr sz="1600" spc="-35"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describe</a:t>
            </a:r>
            <a:r>
              <a:rPr sz="1600" spc="-30"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how</a:t>
            </a:r>
            <a:r>
              <a:rPr sz="1600" spc="-30"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control</a:t>
            </a:r>
            <a:r>
              <a:rPr sz="1600" spc="-30"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flows</a:t>
            </a:r>
            <a:r>
              <a:rPr sz="1600" spc="-35"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among</a:t>
            </a:r>
            <a:r>
              <a:rPr sz="1600" spc="-30"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basic</a:t>
            </a:r>
            <a:r>
              <a:rPr sz="1600" spc="-30" dirty="0">
                <a:solidFill>
                  <a:sysClr val="windowText" lastClr="000000"/>
                </a:solidFill>
                <a:latin typeface="Palatino Linotype"/>
                <a:cs typeface="Palatino Linotype"/>
              </a:rPr>
              <a:t> </a:t>
            </a:r>
            <a:r>
              <a:rPr sz="1600" spc="-10" dirty="0">
                <a:solidFill>
                  <a:sysClr val="windowText" lastClr="000000"/>
                </a:solidFill>
                <a:latin typeface="Palatino Linotype"/>
                <a:cs typeface="Palatino Linotype"/>
              </a:rPr>
              <a:t>blocks</a:t>
            </a:r>
            <a:endParaRPr sz="1600" dirty="0">
              <a:solidFill>
                <a:sysClr val="windowText" lastClr="000000"/>
              </a:solidFill>
              <a:latin typeface="Palatino Linotype"/>
              <a:cs typeface="Palatino Linotype"/>
            </a:endParaRPr>
          </a:p>
          <a:p>
            <a:pPr marL="697865" lvl="1" indent="-227965">
              <a:spcBef>
                <a:spcPts val="1680"/>
              </a:spcBef>
              <a:buFont typeface="Wingdings"/>
              <a:buChar char=""/>
              <a:tabLst>
                <a:tab pos="697865" algn="l"/>
              </a:tabLst>
            </a:pPr>
            <a:r>
              <a:rPr sz="1600" spc="-20" dirty="0">
                <a:solidFill>
                  <a:sysClr val="windowText" lastClr="000000"/>
                </a:solidFill>
                <a:latin typeface="Palatino Linotype"/>
                <a:cs typeface="Palatino Linotype"/>
              </a:rPr>
              <a:t>We</a:t>
            </a:r>
            <a:r>
              <a:rPr sz="1600" spc="-40"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can</a:t>
            </a:r>
            <a:r>
              <a:rPr sz="1600" spc="-35"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know</a:t>
            </a:r>
            <a:r>
              <a:rPr sz="1600" spc="-35"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how</a:t>
            </a:r>
            <a:r>
              <a:rPr sz="1600" spc="-35"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values</a:t>
            </a:r>
            <a:r>
              <a:rPr sz="1600" spc="-35"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are</a:t>
            </a:r>
            <a:r>
              <a:rPr sz="1600" spc="-40"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defined</a:t>
            </a:r>
            <a:r>
              <a:rPr sz="1600" spc="-40"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and</a:t>
            </a:r>
            <a:r>
              <a:rPr sz="1600" spc="-40" dirty="0">
                <a:solidFill>
                  <a:sysClr val="windowText" lastClr="000000"/>
                </a:solidFill>
                <a:latin typeface="Palatino Linotype"/>
                <a:cs typeface="Palatino Linotype"/>
              </a:rPr>
              <a:t> </a:t>
            </a:r>
            <a:r>
              <a:rPr sz="1600" spc="-20" dirty="0">
                <a:solidFill>
                  <a:sysClr val="windowText" lastClr="000000"/>
                </a:solidFill>
                <a:latin typeface="Palatino Linotype"/>
                <a:cs typeface="Palatino Linotype"/>
              </a:rPr>
              <a:t>used</a:t>
            </a:r>
            <a:endParaRPr sz="1600" dirty="0">
              <a:solidFill>
                <a:sysClr val="windowText" lastClr="000000"/>
              </a:solidFill>
              <a:latin typeface="Palatino Linotype"/>
              <a:cs typeface="Palatino Linotype"/>
            </a:endParaRPr>
          </a:p>
        </p:txBody>
      </p:sp>
    </p:spTree>
    <p:extLst>
      <p:ext uri="{BB962C8B-B14F-4D97-AF65-F5344CB8AC3E}">
        <p14:creationId xmlns:p14="http://schemas.microsoft.com/office/powerpoint/2010/main" val="30014050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25</a:t>
            </a:fld>
            <a:endParaRPr lang="en-US"/>
          </a:p>
        </p:txBody>
      </p:sp>
      <p:sp>
        <p:nvSpPr>
          <p:cNvPr id="7" name="object 2">
            <a:extLst>
              <a:ext uri="{FF2B5EF4-FFF2-40B4-BE49-F238E27FC236}">
                <a16:creationId xmlns:a16="http://schemas.microsoft.com/office/drawing/2014/main" id="{3B6FAB81-7250-EF80-C589-526901333900}"/>
              </a:ext>
            </a:extLst>
          </p:cNvPr>
          <p:cNvSpPr txBox="1">
            <a:spLocks/>
          </p:cNvSpPr>
          <p:nvPr/>
        </p:nvSpPr>
        <p:spPr>
          <a:xfrm>
            <a:off x="1127125" y="408939"/>
            <a:ext cx="6890384" cy="124460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marR="5080" lvl="0" indent="249554" defTabSz="914400" eaLnBrk="1" fontAlgn="auto" latinLnBrk="0" hangingPunct="1">
              <a:lnSpc>
                <a:spcPct val="100000"/>
              </a:lnSpc>
              <a:spcBef>
                <a:spcPts val="100"/>
              </a:spcBef>
              <a:spcAft>
                <a:spcPts val="0"/>
              </a:spcAft>
              <a:buClrTx/>
              <a:buSzTx/>
              <a:buFontTx/>
              <a:buNone/>
              <a:tabLst/>
              <a:defRPr/>
            </a:pPr>
            <a:r>
              <a:rPr kumimoji="0" lang="en-US" sz="4000" b="1" i="0" u="none" strike="noStrike" kern="0" cap="none" spc="0" normalizeH="0" baseline="0" noProof="0">
                <a:ln>
                  <a:noFill/>
                </a:ln>
                <a:solidFill>
                  <a:sysClr val="windowText" lastClr="000000"/>
                </a:solidFill>
                <a:effectLst/>
                <a:uLnTx/>
                <a:uFillTx/>
                <a:latin typeface="Palatino Linotype"/>
                <a:ea typeface="+mj-ea"/>
              </a:rPr>
              <a:t>Partitioning</a:t>
            </a:r>
            <a:r>
              <a:rPr kumimoji="0" lang="en-US" sz="4000" b="1" i="0" u="none" strike="noStrike" kern="0" cap="none" spc="-130" normalizeH="0" baseline="0" noProof="0">
                <a:ln>
                  <a:noFill/>
                </a:ln>
                <a:solidFill>
                  <a:sysClr val="windowText" lastClr="000000"/>
                </a:solidFill>
                <a:effectLst/>
                <a:uLnTx/>
                <a:uFillTx/>
                <a:latin typeface="Palatino Linotype"/>
                <a:ea typeface="+mj-ea"/>
              </a:rPr>
              <a:t> </a:t>
            </a:r>
            <a:r>
              <a:rPr kumimoji="0" lang="en-US" sz="4000" b="1" i="0" u="none" strike="noStrike" kern="0" cap="none" spc="-10" normalizeH="0" baseline="0" noProof="0">
                <a:ln>
                  <a:noFill/>
                </a:ln>
                <a:solidFill>
                  <a:sysClr val="windowText" lastClr="000000"/>
                </a:solidFill>
                <a:effectLst/>
                <a:uLnTx/>
                <a:uFillTx/>
                <a:latin typeface="Palatino Linotype"/>
                <a:ea typeface="+mj-ea"/>
              </a:rPr>
              <a:t>Three-Address </a:t>
            </a:r>
            <a:r>
              <a:rPr kumimoji="0" lang="en-US" sz="4000" b="1" i="0" u="none" strike="noStrike" kern="0" cap="none" spc="0" normalizeH="0" baseline="0" noProof="0">
                <a:ln>
                  <a:noFill/>
                </a:ln>
                <a:solidFill>
                  <a:sysClr val="windowText" lastClr="000000"/>
                </a:solidFill>
                <a:effectLst/>
                <a:uLnTx/>
                <a:uFillTx/>
                <a:latin typeface="Palatino Linotype"/>
                <a:ea typeface="+mj-ea"/>
              </a:rPr>
              <a:t>Instructions</a:t>
            </a:r>
            <a:r>
              <a:rPr kumimoji="0" lang="en-US" sz="4000" b="1" i="0" u="none" strike="noStrike" kern="0" cap="none" spc="-65" normalizeH="0" baseline="0" noProof="0">
                <a:ln>
                  <a:noFill/>
                </a:ln>
                <a:solidFill>
                  <a:sysClr val="windowText" lastClr="000000"/>
                </a:solidFill>
                <a:effectLst/>
                <a:uLnTx/>
                <a:uFillTx/>
                <a:latin typeface="Palatino Linotype"/>
                <a:ea typeface="+mj-ea"/>
              </a:rPr>
              <a:t> </a:t>
            </a:r>
            <a:r>
              <a:rPr kumimoji="0" lang="en-US" sz="4000" b="1" i="0" u="none" strike="noStrike" kern="0" cap="none" spc="0" normalizeH="0" baseline="0" noProof="0">
                <a:ln>
                  <a:noFill/>
                </a:ln>
                <a:solidFill>
                  <a:sysClr val="windowText" lastClr="000000"/>
                </a:solidFill>
                <a:effectLst/>
                <a:uLnTx/>
                <a:uFillTx/>
                <a:latin typeface="Palatino Linotype"/>
                <a:ea typeface="+mj-ea"/>
              </a:rPr>
              <a:t>into</a:t>
            </a:r>
            <a:r>
              <a:rPr kumimoji="0" lang="en-US" sz="4000" b="1" i="0" u="none" strike="noStrike" kern="0" cap="none" spc="-60" normalizeH="0" baseline="0" noProof="0">
                <a:ln>
                  <a:noFill/>
                </a:ln>
                <a:solidFill>
                  <a:sysClr val="windowText" lastClr="000000"/>
                </a:solidFill>
                <a:effectLst/>
                <a:uLnTx/>
                <a:uFillTx/>
                <a:latin typeface="Palatino Linotype"/>
                <a:ea typeface="+mj-ea"/>
              </a:rPr>
              <a:t> </a:t>
            </a:r>
            <a:r>
              <a:rPr kumimoji="0" lang="en-US" sz="4000" b="1" i="0" u="none" strike="noStrike" kern="0" cap="none" spc="0" normalizeH="0" baseline="0" noProof="0">
                <a:ln>
                  <a:noFill/>
                </a:ln>
                <a:solidFill>
                  <a:sysClr val="windowText" lastClr="000000"/>
                </a:solidFill>
                <a:effectLst/>
                <a:uLnTx/>
                <a:uFillTx/>
                <a:latin typeface="Palatino Linotype"/>
                <a:ea typeface="+mj-ea"/>
              </a:rPr>
              <a:t>Basic</a:t>
            </a:r>
            <a:r>
              <a:rPr kumimoji="0" lang="en-US" sz="4000" b="1" i="0" u="none" strike="noStrike" kern="0" cap="none" spc="-65" normalizeH="0" baseline="0" noProof="0">
                <a:ln>
                  <a:noFill/>
                </a:ln>
                <a:solidFill>
                  <a:sysClr val="windowText" lastClr="000000"/>
                </a:solidFill>
                <a:effectLst/>
                <a:uLnTx/>
                <a:uFillTx/>
                <a:latin typeface="Palatino Linotype"/>
                <a:ea typeface="+mj-ea"/>
              </a:rPr>
              <a:t> </a:t>
            </a:r>
            <a:r>
              <a:rPr kumimoji="0" lang="en-US" sz="4000" b="1" i="0" u="none" strike="noStrike" kern="0" cap="none" spc="-10" normalizeH="0" baseline="0" noProof="0">
                <a:ln>
                  <a:noFill/>
                </a:ln>
                <a:solidFill>
                  <a:sysClr val="windowText" lastClr="000000"/>
                </a:solidFill>
                <a:effectLst/>
                <a:uLnTx/>
                <a:uFillTx/>
                <a:latin typeface="Palatino Linotype"/>
                <a:ea typeface="+mj-ea"/>
              </a:rPr>
              <a:t>Blocks</a:t>
            </a:r>
            <a:endParaRPr kumimoji="0" lang="en-US" sz="4000" b="1" i="0" u="none" strike="noStrike" kern="0" cap="none" spc="-10" normalizeH="0" baseline="0" noProof="0" dirty="0">
              <a:ln>
                <a:noFill/>
              </a:ln>
              <a:solidFill>
                <a:sysClr val="windowText" lastClr="000000"/>
              </a:solidFill>
              <a:effectLst/>
              <a:uLnTx/>
              <a:uFillTx/>
              <a:latin typeface="Palatino Linotype"/>
              <a:ea typeface="+mj-ea"/>
            </a:endParaRPr>
          </a:p>
        </p:txBody>
      </p:sp>
      <p:sp>
        <p:nvSpPr>
          <p:cNvPr id="8" name="object 3">
            <a:extLst>
              <a:ext uri="{FF2B5EF4-FFF2-40B4-BE49-F238E27FC236}">
                <a16:creationId xmlns:a16="http://schemas.microsoft.com/office/drawing/2014/main" id="{538B35A2-8684-7F05-EB28-8D6E2A203BF9}"/>
              </a:ext>
            </a:extLst>
          </p:cNvPr>
          <p:cNvSpPr txBox="1"/>
          <p:nvPr/>
        </p:nvSpPr>
        <p:spPr>
          <a:xfrm>
            <a:off x="694690" y="2107691"/>
            <a:ext cx="7742555" cy="3520440"/>
          </a:xfrm>
          <a:prstGeom prst="rect">
            <a:avLst/>
          </a:prstGeom>
        </p:spPr>
        <p:txBody>
          <a:bodyPr vert="horz" wrap="square" lIns="0" tIns="12700" rIns="0" bIns="0" rtlCol="0">
            <a:spAutoFit/>
          </a:bodyPr>
          <a:lstStyle/>
          <a:p>
            <a:pPr marL="255270" indent="-229870">
              <a:spcBef>
                <a:spcPts val="100"/>
              </a:spcBef>
              <a:buFont typeface="Arial MT"/>
              <a:buChar char="•"/>
              <a:tabLst>
                <a:tab pos="255270" algn="l"/>
              </a:tabLst>
            </a:pPr>
            <a:r>
              <a:rPr sz="2000" b="1" dirty="0">
                <a:solidFill>
                  <a:sysClr val="windowText" lastClr="000000"/>
                </a:solidFill>
                <a:latin typeface="Palatino Linotype"/>
                <a:cs typeface="Palatino Linotype"/>
              </a:rPr>
              <a:t>Input:</a:t>
            </a:r>
            <a:r>
              <a:rPr sz="2000" b="1" spc="-6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A</a:t>
            </a:r>
            <a:r>
              <a:rPr sz="2000" spc="-12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sequence</a:t>
            </a:r>
            <a:r>
              <a:rPr sz="2000" spc="-3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of</a:t>
            </a:r>
            <a:r>
              <a:rPr sz="2000" spc="-40" dirty="0">
                <a:solidFill>
                  <a:sysClr val="windowText" lastClr="000000"/>
                </a:solidFill>
                <a:latin typeface="Palatino Linotype"/>
                <a:cs typeface="Palatino Linotype"/>
              </a:rPr>
              <a:t> </a:t>
            </a:r>
            <a:r>
              <a:rPr sz="2000" spc="-10" dirty="0">
                <a:solidFill>
                  <a:sysClr val="windowText" lastClr="000000"/>
                </a:solidFill>
                <a:latin typeface="Palatino Linotype"/>
                <a:cs typeface="Palatino Linotype"/>
              </a:rPr>
              <a:t>three-</a:t>
            </a:r>
            <a:r>
              <a:rPr sz="2000" dirty="0">
                <a:solidFill>
                  <a:sysClr val="windowText" lastClr="000000"/>
                </a:solidFill>
                <a:latin typeface="Palatino Linotype"/>
                <a:cs typeface="Palatino Linotype"/>
              </a:rPr>
              <a:t>address</a:t>
            </a:r>
            <a:r>
              <a:rPr sz="2000" spc="-35" dirty="0">
                <a:solidFill>
                  <a:sysClr val="windowText" lastClr="000000"/>
                </a:solidFill>
                <a:latin typeface="Palatino Linotype"/>
                <a:cs typeface="Palatino Linotype"/>
              </a:rPr>
              <a:t> </a:t>
            </a:r>
            <a:r>
              <a:rPr sz="2000" spc="-10" dirty="0">
                <a:solidFill>
                  <a:sysClr val="windowText" lastClr="000000"/>
                </a:solidFill>
                <a:latin typeface="Palatino Linotype"/>
                <a:cs typeface="Palatino Linotype"/>
              </a:rPr>
              <a:t>instructions</a:t>
            </a:r>
            <a:endParaRPr sz="2000">
              <a:solidFill>
                <a:sysClr val="windowText" lastClr="000000"/>
              </a:solidFill>
              <a:latin typeface="Palatino Linotype"/>
              <a:cs typeface="Palatino Linotype"/>
            </a:endParaRPr>
          </a:p>
          <a:p>
            <a:pPr marL="255270" indent="-229870">
              <a:spcBef>
                <a:spcPts val="2205"/>
              </a:spcBef>
              <a:buFont typeface="Arial MT"/>
              <a:buChar char="•"/>
              <a:tabLst>
                <a:tab pos="255270" algn="l"/>
              </a:tabLst>
            </a:pPr>
            <a:r>
              <a:rPr sz="2000" b="1" dirty="0">
                <a:solidFill>
                  <a:sysClr val="windowText" lastClr="000000"/>
                </a:solidFill>
                <a:latin typeface="Palatino Linotype"/>
                <a:cs typeface="Palatino Linotype"/>
              </a:rPr>
              <a:t>Output:</a:t>
            </a:r>
            <a:r>
              <a:rPr sz="2000" b="1" spc="-4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A</a:t>
            </a:r>
            <a:r>
              <a:rPr sz="2000" spc="-12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list</a:t>
            </a:r>
            <a:r>
              <a:rPr sz="2000" spc="-2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of</a:t>
            </a:r>
            <a:r>
              <a:rPr sz="2000" spc="-3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basic</a:t>
            </a:r>
            <a:r>
              <a:rPr sz="2000" spc="-2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blocks</a:t>
            </a:r>
            <a:r>
              <a:rPr sz="2000" spc="-2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(each</a:t>
            </a:r>
            <a:r>
              <a:rPr sz="2000" spc="-2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inst.</a:t>
            </a:r>
            <a:r>
              <a:rPr sz="2000" spc="-2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is</a:t>
            </a:r>
            <a:r>
              <a:rPr sz="2000" spc="-2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assigned</a:t>
            </a:r>
            <a:r>
              <a:rPr sz="2000" spc="-2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to</a:t>
            </a:r>
            <a:r>
              <a:rPr sz="2000" spc="-3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one</a:t>
            </a:r>
            <a:r>
              <a:rPr sz="2000" spc="-20" dirty="0">
                <a:solidFill>
                  <a:sysClr val="windowText" lastClr="000000"/>
                </a:solidFill>
                <a:latin typeface="Palatino Linotype"/>
                <a:cs typeface="Palatino Linotype"/>
              </a:rPr>
              <a:t> </a:t>
            </a:r>
            <a:r>
              <a:rPr sz="2000" spc="-10" dirty="0">
                <a:solidFill>
                  <a:sysClr val="windowText" lastClr="000000"/>
                </a:solidFill>
                <a:latin typeface="Palatino Linotype"/>
                <a:cs typeface="Palatino Linotype"/>
              </a:rPr>
              <a:t>block)</a:t>
            </a:r>
            <a:endParaRPr sz="2000">
              <a:solidFill>
                <a:sysClr val="windowText" lastClr="000000"/>
              </a:solidFill>
              <a:latin typeface="Palatino Linotype"/>
              <a:cs typeface="Palatino Linotype"/>
            </a:endParaRPr>
          </a:p>
          <a:p>
            <a:pPr marL="255270" indent="-229870">
              <a:spcBef>
                <a:spcPts val="2305"/>
              </a:spcBef>
              <a:buFont typeface="Arial MT"/>
              <a:buChar char="•"/>
              <a:tabLst>
                <a:tab pos="255270" algn="l"/>
              </a:tabLst>
            </a:pPr>
            <a:r>
              <a:rPr sz="2000" b="1" spc="-10" dirty="0">
                <a:solidFill>
                  <a:sysClr val="windowText" lastClr="000000"/>
                </a:solidFill>
                <a:latin typeface="Palatino Linotype"/>
                <a:cs typeface="Palatino Linotype"/>
              </a:rPr>
              <a:t>Method:</a:t>
            </a:r>
            <a:endParaRPr sz="2000">
              <a:solidFill>
                <a:sysClr val="windowText" lastClr="000000"/>
              </a:solidFill>
              <a:latin typeface="Palatino Linotype"/>
              <a:cs typeface="Palatino Linotype"/>
            </a:endParaRPr>
          </a:p>
          <a:p>
            <a:pPr marL="710565" lvl="1" indent="-227965">
              <a:spcBef>
                <a:spcPts val="1095"/>
              </a:spcBef>
              <a:buFont typeface="Wingdings"/>
              <a:buChar char=""/>
              <a:tabLst>
                <a:tab pos="710565" algn="l"/>
              </a:tabLst>
            </a:pPr>
            <a:r>
              <a:rPr sz="1600" dirty="0">
                <a:solidFill>
                  <a:sysClr val="windowText" lastClr="000000"/>
                </a:solidFill>
                <a:latin typeface="Palatino Linotype"/>
                <a:cs typeface="Palatino Linotype"/>
              </a:rPr>
              <a:t>Rules</a:t>
            </a:r>
            <a:r>
              <a:rPr sz="1600" spc="-35"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for</a:t>
            </a:r>
            <a:r>
              <a:rPr sz="1600" spc="-20"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finding</a:t>
            </a:r>
            <a:r>
              <a:rPr sz="1600" spc="-30" dirty="0">
                <a:solidFill>
                  <a:sysClr val="windowText" lastClr="000000"/>
                </a:solidFill>
                <a:latin typeface="Palatino Linotype"/>
                <a:cs typeface="Palatino Linotype"/>
              </a:rPr>
              <a:t> </a:t>
            </a:r>
            <a:r>
              <a:rPr sz="1600" i="1" dirty="0">
                <a:solidFill>
                  <a:srgbClr val="FF0000"/>
                </a:solidFill>
                <a:latin typeface="Palatino Linotype"/>
                <a:cs typeface="Palatino Linotype"/>
              </a:rPr>
              <a:t>leader</a:t>
            </a:r>
            <a:r>
              <a:rPr sz="1600" i="1" spc="-25" dirty="0">
                <a:solidFill>
                  <a:srgbClr val="FF0000"/>
                </a:solidFill>
                <a:latin typeface="Palatino Linotype"/>
                <a:cs typeface="Palatino Linotype"/>
              </a:rPr>
              <a:t> </a:t>
            </a:r>
            <a:r>
              <a:rPr sz="1600" i="1" dirty="0">
                <a:solidFill>
                  <a:srgbClr val="FF0000"/>
                </a:solidFill>
                <a:latin typeface="Palatino Linotype"/>
                <a:cs typeface="Palatino Linotype"/>
              </a:rPr>
              <a:t>instructions</a:t>
            </a:r>
            <a:r>
              <a:rPr sz="1600" i="1" spc="-25" dirty="0">
                <a:solidFill>
                  <a:srgbClr val="FF0000"/>
                </a:solidFill>
                <a:latin typeface="Palatino Linotype"/>
                <a:cs typeface="Palatino Linotype"/>
              </a:rPr>
              <a:t> </a:t>
            </a:r>
            <a:r>
              <a:rPr sz="1600" spc="-10" dirty="0">
                <a:solidFill>
                  <a:sysClr val="windowText" lastClr="000000"/>
                </a:solidFill>
                <a:latin typeface="Palatino Linotype"/>
                <a:cs typeface="Palatino Linotype"/>
              </a:rPr>
              <a:t>(</a:t>
            </a:r>
            <a:r>
              <a:rPr sz="1600" dirty="0">
                <a:solidFill>
                  <a:srgbClr val="FF0000"/>
                </a:solidFill>
                <a:latin typeface="SimSun"/>
                <a:cs typeface="SimSun"/>
              </a:rPr>
              <a:t>首指令</a:t>
            </a:r>
            <a:r>
              <a:rPr sz="1600" spc="-15"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the</a:t>
            </a:r>
            <a:r>
              <a:rPr sz="1600" spc="-30"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1</a:t>
            </a:r>
            <a:r>
              <a:rPr sz="1650" baseline="25252" dirty="0">
                <a:solidFill>
                  <a:sysClr val="windowText" lastClr="000000"/>
                </a:solidFill>
                <a:latin typeface="Palatino Linotype"/>
                <a:cs typeface="Palatino Linotype"/>
              </a:rPr>
              <a:t>st</a:t>
            </a:r>
            <a:r>
              <a:rPr sz="1650" spc="135" baseline="25252"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instruction</a:t>
            </a:r>
            <a:r>
              <a:rPr sz="1600" spc="-20"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of</a:t>
            </a:r>
            <a:r>
              <a:rPr sz="1600" spc="-25"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a</a:t>
            </a:r>
            <a:r>
              <a:rPr sz="1600" spc="-25"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basic</a:t>
            </a:r>
            <a:r>
              <a:rPr sz="1600" spc="-25" dirty="0">
                <a:solidFill>
                  <a:sysClr val="windowText" lastClr="000000"/>
                </a:solidFill>
                <a:latin typeface="Palatino Linotype"/>
                <a:cs typeface="Palatino Linotype"/>
              </a:rPr>
              <a:t> </a:t>
            </a:r>
            <a:r>
              <a:rPr sz="1600" spc="-10" dirty="0">
                <a:solidFill>
                  <a:sysClr val="windowText" lastClr="000000"/>
                </a:solidFill>
                <a:latin typeface="Palatino Linotype"/>
                <a:cs typeface="Palatino Linotype"/>
              </a:rPr>
              <a:t>block)</a:t>
            </a:r>
            <a:endParaRPr sz="1600">
              <a:solidFill>
                <a:sysClr val="windowText" lastClr="000000"/>
              </a:solidFill>
              <a:latin typeface="Palatino Linotype"/>
              <a:cs typeface="Palatino Linotype"/>
            </a:endParaRPr>
          </a:p>
          <a:p>
            <a:pPr marL="1167765" lvl="2" indent="-228600">
              <a:spcBef>
                <a:spcPts val="880"/>
              </a:spcBef>
              <a:buFontTx/>
              <a:buAutoNum type="arabicPeriod"/>
              <a:tabLst>
                <a:tab pos="1167765" algn="l"/>
              </a:tabLst>
            </a:pPr>
            <a:r>
              <a:rPr sz="1200" dirty="0">
                <a:solidFill>
                  <a:sysClr val="windowText" lastClr="000000"/>
                </a:solidFill>
                <a:latin typeface="Palatino Linotype"/>
                <a:cs typeface="Palatino Linotype"/>
              </a:rPr>
              <a:t>The</a:t>
            </a:r>
            <a:r>
              <a:rPr sz="1200" spc="-25" dirty="0">
                <a:solidFill>
                  <a:sysClr val="windowText" lastClr="000000"/>
                </a:solidFill>
                <a:latin typeface="Palatino Linotype"/>
                <a:cs typeface="Palatino Linotype"/>
              </a:rPr>
              <a:t> </a:t>
            </a:r>
            <a:r>
              <a:rPr sz="1200" dirty="0">
                <a:solidFill>
                  <a:srgbClr val="0432FF"/>
                </a:solidFill>
                <a:latin typeface="Palatino Linotype"/>
                <a:cs typeface="Palatino Linotype"/>
              </a:rPr>
              <a:t>first</a:t>
            </a:r>
            <a:r>
              <a:rPr sz="1200" spc="-30" dirty="0">
                <a:solidFill>
                  <a:srgbClr val="0432FF"/>
                </a:solidFill>
                <a:latin typeface="Palatino Linotype"/>
                <a:cs typeface="Palatino Linotype"/>
              </a:rPr>
              <a:t> </a:t>
            </a:r>
            <a:r>
              <a:rPr sz="1200" dirty="0">
                <a:solidFill>
                  <a:srgbClr val="0432FF"/>
                </a:solidFill>
                <a:latin typeface="Palatino Linotype"/>
                <a:cs typeface="Palatino Linotype"/>
              </a:rPr>
              <a:t>instruction</a:t>
            </a:r>
            <a:r>
              <a:rPr sz="1200" spc="-20" dirty="0">
                <a:solidFill>
                  <a:srgbClr val="0432FF"/>
                </a:solidFill>
                <a:latin typeface="Palatino Linotype"/>
                <a:cs typeface="Palatino Linotype"/>
              </a:rPr>
              <a:t> </a:t>
            </a:r>
            <a:r>
              <a:rPr sz="1200" dirty="0">
                <a:solidFill>
                  <a:sysClr val="windowText" lastClr="000000"/>
                </a:solidFill>
                <a:latin typeface="Palatino Linotype"/>
                <a:cs typeface="Palatino Linotype"/>
              </a:rPr>
              <a:t>in</a:t>
            </a:r>
            <a:r>
              <a:rPr sz="1200" spc="-25" dirty="0">
                <a:solidFill>
                  <a:sysClr val="windowText" lastClr="000000"/>
                </a:solidFill>
                <a:latin typeface="Palatino Linotype"/>
                <a:cs typeface="Palatino Linotype"/>
              </a:rPr>
              <a:t> </a:t>
            </a:r>
            <a:r>
              <a:rPr sz="1200" dirty="0">
                <a:solidFill>
                  <a:sysClr val="windowText" lastClr="000000"/>
                </a:solidFill>
                <a:latin typeface="Palatino Linotype"/>
                <a:cs typeface="Palatino Linotype"/>
              </a:rPr>
              <a:t>the</a:t>
            </a:r>
            <a:r>
              <a:rPr sz="1200" spc="-25" dirty="0">
                <a:solidFill>
                  <a:sysClr val="windowText" lastClr="000000"/>
                </a:solidFill>
                <a:latin typeface="Palatino Linotype"/>
                <a:cs typeface="Palatino Linotype"/>
              </a:rPr>
              <a:t> </a:t>
            </a:r>
            <a:r>
              <a:rPr sz="1200" dirty="0">
                <a:solidFill>
                  <a:sysClr val="windowText" lastClr="000000"/>
                </a:solidFill>
                <a:latin typeface="Palatino Linotype"/>
                <a:cs typeface="Palatino Linotype"/>
              </a:rPr>
              <a:t>entire</a:t>
            </a:r>
            <a:r>
              <a:rPr sz="1200" spc="-25" dirty="0">
                <a:solidFill>
                  <a:sysClr val="windowText" lastClr="000000"/>
                </a:solidFill>
                <a:latin typeface="Palatino Linotype"/>
                <a:cs typeface="Palatino Linotype"/>
              </a:rPr>
              <a:t> </a:t>
            </a:r>
            <a:r>
              <a:rPr sz="1200" dirty="0">
                <a:solidFill>
                  <a:sysClr val="windowText" lastClr="000000"/>
                </a:solidFill>
                <a:latin typeface="Palatino Linotype"/>
                <a:cs typeface="Palatino Linotype"/>
              </a:rPr>
              <a:t>intermediate</a:t>
            </a:r>
            <a:r>
              <a:rPr sz="1200" spc="-20" dirty="0">
                <a:solidFill>
                  <a:sysClr val="windowText" lastClr="000000"/>
                </a:solidFill>
                <a:latin typeface="Palatino Linotype"/>
                <a:cs typeface="Palatino Linotype"/>
              </a:rPr>
              <a:t> </a:t>
            </a:r>
            <a:r>
              <a:rPr sz="1200" dirty="0">
                <a:solidFill>
                  <a:sysClr val="windowText" lastClr="000000"/>
                </a:solidFill>
                <a:latin typeface="Palatino Linotype"/>
                <a:cs typeface="Palatino Linotype"/>
              </a:rPr>
              <a:t>code</a:t>
            </a:r>
            <a:r>
              <a:rPr sz="1200" spc="-25" dirty="0">
                <a:solidFill>
                  <a:sysClr val="windowText" lastClr="000000"/>
                </a:solidFill>
                <a:latin typeface="Palatino Linotype"/>
                <a:cs typeface="Palatino Linotype"/>
              </a:rPr>
              <a:t> </a:t>
            </a:r>
            <a:r>
              <a:rPr sz="1200" dirty="0">
                <a:solidFill>
                  <a:sysClr val="windowText" lastClr="000000"/>
                </a:solidFill>
                <a:latin typeface="Palatino Linotype"/>
                <a:cs typeface="Palatino Linotype"/>
              </a:rPr>
              <a:t>is</a:t>
            </a:r>
            <a:r>
              <a:rPr sz="1200" spc="-25" dirty="0">
                <a:solidFill>
                  <a:sysClr val="windowText" lastClr="000000"/>
                </a:solidFill>
                <a:latin typeface="Palatino Linotype"/>
                <a:cs typeface="Palatino Linotype"/>
              </a:rPr>
              <a:t> </a:t>
            </a:r>
            <a:r>
              <a:rPr sz="1200" dirty="0">
                <a:solidFill>
                  <a:sysClr val="windowText" lastClr="000000"/>
                </a:solidFill>
                <a:latin typeface="Palatino Linotype"/>
                <a:cs typeface="Palatino Linotype"/>
              </a:rPr>
              <a:t>a</a:t>
            </a:r>
            <a:r>
              <a:rPr sz="1200" spc="-20" dirty="0">
                <a:solidFill>
                  <a:sysClr val="windowText" lastClr="000000"/>
                </a:solidFill>
                <a:latin typeface="Palatino Linotype"/>
                <a:cs typeface="Palatino Linotype"/>
              </a:rPr>
              <a:t> </a:t>
            </a:r>
            <a:r>
              <a:rPr sz="1200" spc="-10" dirty="0">
                <a:solidFill>
                  <a:sysClr val="windowText" lastClr="000000"/>
                </a:solidFill>
                <a:latin typeface="Palatino Linotype"/>
                <a:cs typeface="Palatino Linotype"/>
              </a:rPr>
              <a:t>leader</a:t>
            </a:r>
            <a:endParaRPr sz="1200">
              <a:solidFill>
                <a:sysClr val="windowText" lastClr="000000"/>
              </a:solidFill>
              <a:latin typeface="Palatino Linotype"/>
              <a:cs typeface="Palatino Linotype"/>
            </a:endParaRPr>
          </a:p>
          <a:p>
            <a:pPr marL="1167765" lvl="2" indent="-228600">
              <a:spcBef>
                <a:spcPts val="960"/>
              </a:spcBef>
              <a:buFontTx/>
              <a:buAutoNum type="arabicPeriod"/>
              <a:tabLst>
                <a:tab pos="1167765" algn="l"/>
              </a:tabLst>
            </a:pPr>
            <a:r>
              <a:rPr sz="1200" dirty="0">
                <a:solidFill>
                  <a:sysClr val="windowText" lastClr="000000"/>
                </a:solidFill>
                <a:latin typeface="Palatino Linotype"/>
                <a:cs typeface="Palatino Linotype"/>
              </a:rPr>
              <a:t>Any</a:t>
            </a:r>
            <a:r>
              <a:rPr sz="1200" spc="-10" dirty="0">
                <a:solidFill>
                  <a:sysClr val="windowText" lastClr="000000"/>
                </a:solidFill>
                <a:latin typeface="Palatino Linotype"/>
                <a:cs typeface="Palatino Linotype"/>
              </a:rPr>
              <a:t> </a:t>
            </a:r>
            <a:r>
              <a:rPr sz="1200" dirty="0">
                <a:solidFill>
                  <a:sysClr val="windowText" lastClr="000000"/>
                </a:solidFill>
                <a:latin typeface="Palatino Linotype"/>
                <a:cs typeface="Palatino Linotype"/>
              </a:rPr>
              <a:t>instruction</a:t>
            </a:r>
            <a:r>
              <a:rPr sz="1200" spc="-5" dirty="0">
                <a:solidFill>
                  <a:sysClr val="windowText" lastClr="000000"/>
                </a:solidFill>
                <a:latin typeface="Palatino Linotype"/>
                <a:cs typeface="Palatino Linotype"/>
              </a:rPr>
              <a:t> </a:t>
            </a:r>
            <a:r>
              <a:rPr sz="1200" dirty="0">
                <a:solidFill>
                  <a:sysClr val="windowText" lastClr="000000"/>
                </a:solidFill>
                <a:latin typeface="Palatino Linotype"/>
                <a:cs typeface="Palatino Linotype"/>
              </a:rPr>
              <a:t>that</a:t>
            </a:r>
            <a:r>
              <a:rPr sz="1200" spc="-10" dirty="0">
                <a:solidFill>
                  <a:sysClr val="windowText" lastClr="000000"/>
                </a:solidFill>
                <a:latin typeface="Palatino Linotype"/>
                <a:cs typeface="Palatino Linotype"/>
              </a:rPr>
              <a:t> </a:t>
            </a:r>
            <a:r>
              <a:rPr sz="1200" dirty="0">
                <a:solidFill>
                  <a:sysClr val="windowText" lastClr="000000"/>
                </a:solidFill>
                <a:latin typeface="Palatino Linotype"/>
                <a:cs typeface="Palatino Linotype"/>
              </a:rPr>
              <a:t>is</a:t>
            </a:r>
            <a:r>
              <a:rPr sz="1200" spc="-5" dirty="0">
                <a:solidFill>
                  <a:sysClr val="windowText" lastClr="000000"/>
                </a:solidFill>
                <a:latin typeface="Palatino Linotype"/>
                <a:cs typeface="Palatino Linotype"/>
              </a:rPr>
              <a:t> </a:t>
            </a:r>
            <a:r>
              <a:rPr sz="1200" dirty="0">
                <a:solidFill>
                  <a:sysClr val="windowText" lastClr="000000"/>
                </a:solidFill>
                <a:latin typeface="Palatino Linotype"/>
                <a:cs typeface="Palatino Linotype"/>
              </a:rPr>
              <a:t>the </a:t>
            </a:r>
            <a:r>
              <a:rPr sz="1200" dirty="0">
                <a:solidFill>
                  <a:srgbClr val="0432FF"/>
                </a:solidFill>
                <a:latin typeface="Palatino Linotype"/>
                <a:cs typeface="Palatino Linotype"/>
              </a:rPr>
              <a:t>target</a:t>
            </a:r>
            <a:r>
              <a:rPr sz="1200" spc="-10" dirty="0">
                <a:solidFill>
                  <a:srgbClr val="0432FF"/>
                </a:solidFill>
                <a:latin typeface="Palatino Linotype"/>
                <a:cs typeface="Palatino Linotype"/>
              </a:rPr>
              <a:t> </a:t>
            </a:r>
            <a:r>
              <a:rPr sz="1200" dirty="0">
                <a:solidFill>
                  <a:srgbClr val="0432FF"/>
                </a:solidFill>
                <a:latin typeface="Palatino Linotype"/>
                <a:cs typeface="Palatino Linotype"/>
              </a:rPr>
              <a:t>of</a:t>
            </a:r>
            <a:r>
              <a:rPr sz="1200" spc="-5" dirty="0">
                <a:solidFill>
                  <a:srgbClr val="0432FF"/>
                </a:solidFill>
                <a:latin typeface="Palatino Linotype"/>
                <a:cs typeface="Palatino Linotype"/>
              </a:rPr>
              <a:t> </a:t>
            </a:r>
            <a:r>
              <a:rPr sz="1200" dirty="0">
                <a:solidFill>
                  <a:srgbClr val="0432FF"/>
                </a:solidFill>
                <a:latin typeface="Palatino Linotype"/>
                <a:cs typeface="Palatino Linotype"/>
              </a:rPr>
              <a:t>a</a:t>
            </a:r>
            <a:r>
              <a:rPr sz="1200" spc="-5" dirty="0">
                <a:solidFill>
                  <a:srgbClr val="0432FF"/>
                </a:solidFill>
                <a:latin typeface="Palatino Linotype"/>
                <a:cs typeface="Palatino Linotype"/>
              </a:rPr>
              <a:t> </a:t>
            </a:r>
            <a:r>
              <a:rPr sz="1200" spc="-10" dirty="0">
                <a:solidFill>
                  <a:srgbClr val="0432FF"/>
                </a:solidFill>
                <a:latin typeface="Palatino Linotype"/>
                <a:cs typeface="Palatino Linotype"/>
              </a:rPr>
              <a:t>conditional/unconditional</a:t>
            </a:r>
            <a:r>
              <a:rPr sz="1200" dirty="0">
                <a:solidFill>
                  <a:srgbClr val="0432FF"/>
                </a:solidFill>
                <a:latin typeface="Palatino Linotype"/>
                <a:cs typeface="Palatino Linotype"/>
              </a:rPr>
              <a:t> jump</a:t>
            </a:r>
            <a:r>
              <a:rPr sz="1200" spc="-5" dirty="0">
                <a:solidFill>
                  <a:srgbClr val="0432FF"/>
                </a:solidFill>
                <a:latin typeface="Palatino Linotype"/>
                <a:cs typeface="Palatino Linotype"/>
              </a:rPr>
              <a:t> </a:t>
            </a:r>
            <a:r>
              <a:rPr sz="1200" dirty="0">
                <a:solidFill>
                  <a:sysClr val="windowText" lastClr="000000"/>
                </a:solidFill>
                <a:latin typeface="Palatino Linotype"/>
                <a:cs typeface="Palatino Linotype"/>
              </a:rPr>
              <a:t>is</a:t>
            </a:r>
            <a:r>
              <a:rPr sz="1200" spc="-5" dirty="0">
                <a:solidFill>
                  <a:sysClr val="windowText" lastClr="000000"/>
                </a:solidFill>
                <a:latin typeface="Palatino Linotype"/>
                <a:cs typeface="Palatino Linotype"/>
              </a:rPr>
              <a:t> </a:t>
            </a:r>
            <a:r>
              <a:rPr sz="1200" dirty="0">
                <a:solidFill>
                  <a:sysClr val="windowText" lastClr="000000"/>
                </a:solidFill>
                <a:latin typeface="Palatino Linotype"/>
                <a:cs typeface="Palatino Linotype"/>
              </a:rPr>
              <a:t>a</a:t>
            </a:r>
            <a:r>
              <a:rPr sz="1200" spc="-5" dirty="0">
                <a:solidFill>
                  <a:sysClr val="windowText" lastClr="000000"/>
                </a:solidFill>
                <a:latin typeface="Palatino Linotype"/>
                <a:cs typeface="Palatino Linotype"/>
              </a:rPr>
              <a:t> </a:t>
            </a:r>
            <a:r>
              <a:rPr sz="1200" spc="-10" dirty="0">
                <a:solidFill>
                  <a:sysClr val="windowText" lastClr="000000"/>
                </a:solidFill>
                <a:latin typeface="Palatino Linotype"/>
                <a:cs typeface="Palatino Linotype"/>
              </a:rPr>
              <a:t>leader</a:t>
            </a:r>
            <a:endParaRPr sz="1200">
              <a:solidFill>
                <a:sysClr val="windowText" lastClr="000000"/>
              </a:solidFill>
              <a:latin typeface="Palatino Linotype"/>
              <a:cs typeface="Palatino Linotype"/>
            </a:endParaRPr>
          </a:p>
          <a:p>
            <a:pPr marL="1167765" lvl="2" indent="-228600">
              <a:spcBef>
                <a:spcPts val="865"/>
              </a:spcBef>
              <a:buFontTx/>
              <a:buAutoNum type="arabicPeriod"/>
              <a:tabLst>
                <a:tab pos="1167765" algn="l"/>
              </a:tabLst>
            </a:pPr>
            <a:r>
              <a:rPr sz="1200" dirty="0">
                <a:solidFill>
                  <a:sysClr val="windowText" lastClr="000000"/>
                </a:solidFill>
                <a:latin typeface="Palatino Linotype"/>
                <a:cs typeface="Palatino Linotype"/>
              </a:rPr>
              <a:t>Any</a:t>
            </a:r>
            <a:r>
              <a:rPr sz="1200" spc="-15" dirty="0">
                <a:solidFill>
                  <a:sysClr val="windowText" lastClr="000000"/>
                </a:solidFill>
                <a:latin typeface="Palatino Linotype"/>
                <a:cs typeface="Palatino Linotype"/>
              </a:rPr>
              <a:t> </a:t>
            </a:r>
            <a:r>
              <a:rPr sz="1200" dirty="0">
                <a:solidFill>
                  <a:sysClr val="windowText" lastClr="000000"/>
                </a:solidFill>
                <a:latin typeface="Palatino Linotype"/>
                <a:cs typeface="Palatino Linotype"/>
              </a:rPr>
              <a:t>instruction</a:t>
            </a:r>
            <a:r>
              <a:rPr sz="1200" spc="-10" dirty="0">
                <a:solidFill>
                  <a:sysClr val="windowText" lastClr="000000"/>
                </a:solidFill>
                <a:latin typeface="Palatino Linotype"/>
                <a:cs typeface="Palatino Linotype"/>
              </a:rPr>
              <a:t> </a:t>
            </a:r>
            <a:r>
              <a:rPr sz="1200" dirty="0">
                <a:solidFill>
                  <a:sysClr val="windowText" lastClr="000000"/>
                </a:solidFill>
                <a:latin typeface="Palatino Linotype"/>
                <a:cs typeface="Palatino Linotype"/>
              </a:rPr>
              <a:t>that</a:t>
            </a:r>
            <a:r>
              <a:rPr sz="1200" spc="-15" dirty="0">
                <a:solidFill>
                  <a:sysClr val="windowText" lastClr="000000"/>
                </a:solidFill>
                <a:latin typeface="Palatino Linotype"/>
                <a:cs typeface="Palatino Linotype"/>
              </a:rPr>
              <a:t> </a:t>
            </a:r>
            <a:r>
              <a:rPr sz="1200" dirty="0">
                <a:solidFill>
                  <a:srgbClr val="0432FF"/>
                </a:solidFill>
                <a:latin typeface="Palatino Linotype"/>
                <a:cs typeface="Palatino Linotype"/>
              </a:rPr>
              <a:t>immediately</a:t>
            </a:r>
            <a:r>
              <a:rPr sz="1200" spc="-10" dirty="0">
                <a:solidFill>
                  <a:srgbClr val="0432FF"/>
                </a:solidFill>
                <a:latin typeface="Palatino Linotype"/>
                <a:cs typeface="Palatino Linotype"/>
              </a:rPr>
              <a:t> </a:t>
            </a:r>
            <a:r>
              <a:rPr sz="1200" dirty="0">
                <a:solidFill>
                  <a:srgbClr val="0432FF"/>
                </a:solidFill>
                <a:latin typeface="Palatino Linotype"/>
                <a:cs typeface="Palatino Linotype"/>
              </a:rPr>
              <a:t>follows</a:t>
            </a:r>
            <a:r>
              <a:rPr sz="1200" spc="-10" dirty="0">
                <a:solidFill>
                  <a:srgbClr val="0432FF"/>
                </a:solidFill>
                <a:latin typeface="Palatino Linotype"/>
                <a:cs typeface="Palatino Linotype"/>
              </a:rPr>
              <a:t> </a:t>
            </a:r>
            <a:r>
              <a:rPr sz="1200" dirty="0">
                <a:solidFill>
                  <a:srgbClr val="0432FF"/>
                </a:solidFill>
                <a:latin typeface="Palatino Linotype"/>
                <a:cs typeface="Palatino Linotype"/>
              </a:rPr>
              <a:t>a</a:t>
            </a:r>
            <a:r>
              <a:rPr sz="1200" spc="-10" dirty="0">
                <a:solidFill>
                  <a:srgbClr val="0432FF"/>
                </a:solidFill>
                <a:latin typeface="Palatino Linotype"/>
                <a:cs typeface="Palatino Linotype"/>
              </a:rPr>
              <a:t> conditional/unconditional </a:t>
            </a:r>
            <a:r>
              <a:rPr sz="1200" dirty="0">
                <a:solidFill>
                  <a:srgbClr val="0432FF"/>
                </a:solidFill>
                <a:latin typeface="Palatino Linotype"/>
                <a:cs typeface="Palatino Linotype"/>
              </a:rPr>
              <a:t>jump</a:t>
            </a:r>
            <a:r>
              <a:rPr sz="1200" spc="-5" dirty="0">
                <a:solidFill>
                  <a:srgbClr val="0432FF"/>
                </a:solidFill>
                <a:latin typeface="Palatino Linotype"/>
                <a:cs typeface="Palatino Linotype"/>
              </a:rPr>
              <a:t> </a:t>
            </a:r>
            <a:r>
              <a:rPr sz="1200" dirty="0">
                <a:solidFill>
                  <a:sysClr val="windowText" lastClr="000000"/>
                </a:solidFill>
                <a:latin typeface="Palatino Linotype"/>
                <a:cs typeface="Palatino Linotype"/>
              </a:rPr>
              <a:t>is</a:t>
            </a:r>
            <a:r>
              <a:rPr sz="1200" spc="-10" dirty="0">
                <a:solidFill>
                  <a:sysClr val="windowText" lastClr="000000"/>
                </a:solidFill>
                <a:latin typeface="Palatino Linotype"/>
                <a:cs typeface="Palatino Linotype"/>
              </a:rPr>
              <a:t> </a:t>
            </a:r>
            <a:r>
              <a:rPr sz="1200" dirty="0">
                <a:solidFill>
                  <a:sysClr val="windowText" lastClr="000000"/>
                </a:solidFill>
                <a:latin typeface="Palatino Linotype"/>
                <a:cs typeface="Palatino Linotype"/>
              </a:rPr>
              <a:t>a</a:t>
            </a:r>
            <a:r>
              <a:rPr sz="1200" spc="-10" dirty="0">
                <a:solidFill>
                  <a:sysClr val="windowText" lastClr="000000"/>
                </a:solidFill>
                <a:latin typeface="Palatino Linotype"/>
                <a:cs typeface="Palatino Linotype"/>
              </a:rPr>
              <a:t> leader</a:t>
            </a:r>
            <a:endParaRPr sz="1200">
              <a:solidFill>
                <a:sysClr val="windowText" lastClr="000000"/>
              </a:solidFill>
              <a:latin typeface="Palatino Linotype"/>
              <a:cs typeface="Palatino Linotype"/>
            </a:endParaRPr>
          </a:p>
          <a:p>
            <a:pPr marL="711200" marR="17780" lvl="1" indent="-228600">
              <a:lnSpc>
                <a:spcPct val="120000"/>
              </a:lnSpc>
              <a:spcBef>
                <a:spcPts val="1160"/>
              </a:spcBef>
              <a:buFont typeface="Wingdings"/>
              <a:buChar char=""/>
              <a:tabLst>
                <a:tab pos="711200" algn="l"/>
              </a:tabLst>
            </a:pPr>
            <a:r>
              <a:rPr sz="1600" dirty="0">
                <a:solidFill>
                  <a:sysClr val="windowText" lastClr="000000"/>
                </a:solidFill>
                <a:latin typeface="Palatino Linotype"/>
                <a:cs typeface="Palatino Linotype"/>
              </a:rPr>
              <a:t>Then,</a:t>
            </a:r>
            <a:r>
              <a:rPr sz="1600" spc="-30"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for</a:t>
            </a:r>
            <a:r>
              <a:rPr sz="1600" spc="-25"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each</a:t>
            </a:r>
            <a:r>
              <a:rPr sz="1600" spc="-25"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leader,</a:t>
            </a:r>
            <a:r>
              <a:rPr sz="1600" spc="-30"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its</a:t>
            </a:r>
            <a:r>
              <a:rPr sz="1600" spc="-35"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basic</a:t>
            </a:r>
            <a:r>
              <a:rPr sz="1600" spc="-25"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block</a:t>
            </a:r>
            <a:r>
              <a:rPr sz="1600" spc="-35"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consists</a:t>
            </a:r>
            <a:r>
              <a:rPr sz="1600" spc="-35"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of</a:t>
            </a:r>
            <a:r>
              <a:rPr sz="1600" spc="-30" dirty="0">
                <a:solidFill>
                  <a:sysClr val="windowText" lastClr="000000"/>
                </a:solidFill>
                <a:latin typeface="Palatino Linotype"/>
                <a:cs typeface="Palatino Linotype"/>
              </a:rPr>
              <a:t> </a:t>
            </a:r>
            <a:r>
              <a:rPr sz="1600" dirty="0">
                <a:solidFill>
                  <a:srgbClr val="0432FF"/>
                </a:solidFill>
                <a:latin typeface="Palatino Linotype"/>
                <a:cs typeface="Palatino Linotype"/>
              </a:rPr>
              <a:t>itself</a:t>
            </a:r>
            <a:r>
              <a:rPr sz="1600" spc="-25" dirty="0">
                <a:solidFill>
                  <a:srgbClr val="0432FF"/>
                </a:solidFill>
                <a:latin typeface="Palatino Linotype"/>
                <a:cs typeface="Palatino Linotype"/>
              </a:rPr>
              <a:t> </a:t>
            </a:r>
            <a:r>
              <a:rPr sz="1600" dirty="0">
                <a:solidFill>
                  <a:srgbClr val="0432FF"/>
                </a:solidFill>
                <a:latin typeface="Palatino Linotype"/>
                <a:cs typeface="Palatino Linotype"/>
              </a:rPr>
              <a:t>and</a:t>
            </a:r>
            <a:r>
              <a:rPr sz="1600" spc="-35" dirty="0">
                <a:solidFill>
                  <a:srgbClr val="0432FF"/>
                </a:solidFill>
                <a:latin typeface="Palatino Linotype"/>
                <a:cs typeface="Palatino Linotype"/>
              </a:rPr>
              <a:t> </a:t>
            </a:r>
            <a:r>
              <a:rPr sz="1600" dirty="0">
                <a:solidFill>
                  <a:srgbClr val="0432FF"/>
                </a:solidFill>
                <a:latin typeface="Palatino Linotype"/>
                <a:cs typeface="Palatino Linotype"/>
              </a:rPr>
              <a:t>all</a:t>
            </a:r>
            <a:r>
              <a:rPr sz="1600" spc="-35" dirty="0">
                <a:solidFill>
                  <a:srgbClr val="0432FF"/>
                </a:solidFill>
                <a:latin typeface="Palatino Linotype"/>
                <a:cs typeface="Palatino Linotype"/>
              </a:rPr>
              <a:t> </a:t>
            </a:r>
            <a:r>
              <a:rPr sz="1600" dirty="0">
                <a:solidFill>
                  <a:srgbClr val="0432FF"/>
                </a:solidFill>
                <a:latin typeface="Palatino Linotype"/>
                <a:cs typeface="Palatino Linotype"/>
              </a:rPr>
              <a:t>instructions</a:t>
            </a:r>
            <a:r>
              <a:rPr sz="1600" spc="-35" dirty="0">
                <a:solidFill>
                  <a:srgbClr val="0432FF"/>
                </a:solidFill>
                <a:latin typeface="Palatino Linotype"/>
                <a:cs typeface="Palatino Linotype"/>
              </a:rPr>
              <a:t> </a:t>
            </a:r>
            <a:r>
              <a:rPr sz="1600" dirty="0">
                <a:solidFill>
                  <a:srgbClr val="0432FF"/>
                </a:solidFill>
                <a:latin typeface="Palatino Linotype"/>
                <a:cs typeface="Palatino Linotype"/>
              </a:rPr>
              <a:t>up</a:t>
            </a:r>
            <a:r>
              <a:rPr sz="1600" spc="-25" dirty="0">
                <a:solidFill>
                  <a:srgbClr val="0432FF"/>
                </a:solidFill>
                <a:latin typeface="Palatino Linotype"/>
                <a:cs typeface="Palatino Linotype"/>
              </a:rPr>
              <a:t> to </a:t>
            </a:r>
            <a:r>
              <a:rPr sz="1600" dirty="0">
                <a:solidFill>
                  <a:srgbClr val="0432FF"/>
                </a:solidFill>
                <a:latin typeface="Palatino Linotype"/>
                <a:cs typeface="Palatino Linotype"/>
              </a:rPr>
              <a:t>but</a:t>
            </a:r>
            <a:r>
              <a:rPr sz="1600" spc="-25" dirty="0">
                <a:solidFill>
                  <a:srgbClr val="0432FF"/>
                </a:solidFill>
                <a:latin typeface="Palatino Linotype"/>
                <a:cs typeface="Palatino Linotype"/>
              </a:rPr>
              <a:t> </a:t>
            </a:r>
            <a:r>
              <a:rPr sz="1600" dirty="0">
                <a:solidFill>
                  <a:srgbClr val="0432FF"/>
                </a:solidFill>
                <a:latin typeface="Palatino Linotype"/>
                <a:cs typeface="Palatino Linotype"/>
              </a:rPr>
              <a:t>not</a:t>
            </a:r>
            <a:r>
              <a:rPr sz="1600" spc="-20" dirty="0">
                <a:solidFill>
                  <a:srgbClr val="0432FF"/>
                </a:solidFill>
                <a:latin typeface="Palatino Linotype"/>
                <a:cs typeface="Palatino Linotype"/>
              </a:rPr>
              <a:t> </a:t>
            </a:r>
            <a:r>
              <a:rPr sz="1600" dirty="0">
                <a:solidFill>
                  <a:srgbClr val="0432FF"/>
                </a:solidFill>
                <a:latin typeface="Palatino Linotype"/>
                <a:cs typeface="Palatino Linotype"/>
              </a:rPr>
              <a:t>including</a:t>
            </a:r>
            <a:r>
              <a:rPr sz="1600" spc="-25" dirty="0">
                <a:solidFill>
                  <a:srgbClr val="0432FF"/>
                </a:solidFill>
                <a:latin typeface="Palatino Linotype"/>
                <a:cs typeface="Palatino Linotype"/>
              </a:rPr>
              <a:t> </a:t>
            </a:r>
            <a:r>
              <a:rPr sz="1600" dirty="0">
                <a:solidFill>
                  <a:srgbClr val="0432FF"/>
                </a:solidFill>
                <a:latin typeface="Palatino Linotype"/>
                <a:cs typeface="Palatino Linotype"/>
              </a:rPr>
              <a:t>the</a:t>
            </a:r>
            <a:r>
              <a:rPr sz="1600" spc="-25" dirty="0">
                <a:solidFill>
                  <a:srgbClr val="0432FF"/>
                </a:solidFill>
                <a:latin typeface="Palatino Linotype"/>
                <a:cs typeface="Palatino Linotype"/>
              </a:rPr>
              <a:t> </a:t>
            </a:r>
            <a:r>
              <a:rPr sz="1600" dirty="0">
                <a:solidFill>
                  <a:srgbClr val="0432FF"/>
                </a:solidFill>
                <a:latin typeface="Palatino Linotype"/>
                <a:cs typeface="Palatino Linotype"/>
              </a:rPr>
              <a:t>next</a:t>
            </a:r>
            <a:r>
              <a:rPr sz="1600" spc="-20" dirty="0">
                <a:solidFill>
                  <a:srgbClr val="0432FF"/>
                </a:solidFill>
                <a:latin typeface="Palatino Linotype"/>
                <a:cs typeface="Palatino Linotype"/>
              </a:rPr>
              <a:t> </a:t>
            </a:r>
            <a:r>
              <a:rPr sz="1600" dirty="0">
                <a:solidFill>
                  <a:srgbClr val="0432FF"/>
                </a:solidFill>
                <a:latin typeface="Palatino Linotype"/>
                <a:cs typeface="Palatino Linotype"/>
              </a:rPr>
              <a:t>leader</a:t>
            </a:r>
            <a:r>
              <a:rPr sz="1600" spc="-15" dirty="0">
                <a:solidFill>
                  <a:srgbClr val="0432FF"/>
                </a:solidFill>
                <a:latin typeface="Palatino Linotype"/>
                <a:cs typeface="Palatino Linotype"/>
              </a:rPr>
              <a:t> </a:t>
            </a:r>
            <a:r>
              <a:rPr sz="1600" dirty="0">
                <a:solidFill>
                  <a:srgbClr val="A6A6A6"/>
                </a:solidFill>
                <a:latin typeface="Palatino Linotype"/>
                <a:cs typeface="Palatino Linotype"/>
              </a:rPr>
              <a:t>or</a:t>
            </a:r>
            <a:r>
              <a:rPr sz="1600" spc="-15" dirty="0">
                <a:solidFill>
                  <a:srgbClr val="A6A6A6"/>
                </a:solidFill>
                <a:latin typeface="Palatino Linotype"/>
                <a:cs typeface="Palatino Linotype"/>
              </a:rPr>
              <a:t> </a:t>
            </a:r>
            <a:r>
              <a:rPr sz="1600" dirty="0">
                <a:solidFill>
                  <a:srgbClr val="A6A6A6"/>
                </a:solidFill>
                <a:latin typeface="Palatino Linotype"/>
                <a:cs typeface="Palatino Linotype"/>
              </a:rPr>
              <a:t>the</a:t>
            </a:r>
            <a:r>
              <a:rPr sz="1600" spc="-25" dirty="0">
                <a:solidFill>
                  <a:srgbClr val="A6A6A6"/>
                </a:solidFill>
                <a:latin typeface="Palatino Linotype"/>
                <a:cs typeface="Palatino Linotype"/>
              </a:rPr>
              <a:t> </a:t>
            </a:r>
            <a:r>
              <a:rPr sz="1600" dirty="0">
                <a:solidFill>
                  <a:srgbClr val="A6A6A6"/>
                </a:solidFill>
                <a:latin typeface="Palatino Linotype"/>
                <a:cs typeface="Palatino Linotype"/>
              </a:rPr>
              <a:t>end</a:t>
            </a:r>
            <a:r>
              <a:rPr sz="1600" spc="-25" dirty="0">
                <a:solidFill>
                  <a:srgbClr val="A6A6A6"/>
                </a:solidFill>
                <a:latin typeface="Palatino Linotype"/>
                <a:cs typeface="Palatino Linotype"/>
              </a:rPr>
              <a:t> </a:t>
            </a:r>
            <a:r>
              <a:rPr sz="1600" dirty="0">
                <a:solidFill>
                  <a:srgbClr val="A6A6A6"/>
                </a:solidFill>
                <a:latin typeface="Palatino Linotype"/>
                <a:cs typeface="Palatino Linotype"/>
              </a:rPr>
              <a:t>of</a:t>
            </a:r>
            <a:r>
              <a:rPr sz="1600" spc="-25" dirty="0">
                <a:solidFill>
                  <a:srgbClr val="A6A6A6"/>
                </a:solidFill>
                <a:latin typeface="Palatino Linotype"/>
                <a:cs typeface="Palatino Linotype"/>
              </a:rPr>
              <a:t> </a:t>
            </a:r>
            <a:r>
              <a:rPr sz="1600" dirty="0">
                <a:solidFill>
                  <a:srgbClr val="A6A6A6"/>
                </a:solidFill>
                <a:latin typeface="Palatino Linotype"/>
                <a:cs typeface="Palatino Linotype"/>
              </a:rPr>
              <a:t>the</a:t>
            </a:r>
            <a:r>
              <a:rPr sz="1600" spc="-25" dirty="0">
                <a:solidFill>
                  <a:srgbClr val="A6A6A6"/>
                </a:solidFill>
                <a:latin typeface="Palatino Linotype"/>
                <a:cs typeface="Palatino Linotype"/>
              </a:rPr>
              <a:t> </a:t>
            </a:r>
            <a:r>
              <a:rPr sz="1600" dirty="0">
                <a:solidFill>
                  <a:srgbClr val="A6A6A6"/>
                </a:solidFill>
                <a:latin typeface="Palatino Linotype"/>
                <a:cs typeface="Palatino Linotype"/>
              </a:rPr>
              <a:t>intermediate</a:t>
            </a:r>
            <a:r>
              <a:rPr sz="1600" spc="-25" dirty="0">
                <a:solidFill>
                  <a:srgbClr val="A6A6A6"/>
                </a:solidFill>
                <a:latin typeface="Palatino Linotype"/>
                <a:cs typeface="Palatino Linotype"/>
              </a:rPr>
              <a:t> </a:t>
            </a:r>
            <a:r>
              <a:rPr sz="1600" spc="-10" dirty="0">
                <a:solidFill>
                  <a:srgbClr val="A6A6A6"/>
                </a:solidFill>
                <a:latin typeface="Palatino Linotype"/>
                <a:cs typeface="Palatino Linotype"/>
              </a:rPr>
              <a:t>program</a:t>
            </a:r>
            <a:endParaRPr sz="1600">
              <a:solidFill>
                <a:sysClr val="windowText" lastClr="000000"/>
              </a:solidFill>
              <a:latin typeface="Palatino Linotype"/>
              <a:cs typeface="Palatino Linotype"/>
            </a:endParaRPr>
          </a:p>
        </p:txBody>
      </p:sp>
    </p:spTree>
    <p:extLst>
      <p:ext uri="{BB962C8B-B14F-4D97-AF65-F5344CB8AC3E}">
        <p14:creationId xmlns:p14="http://schemas.microsoft.com/office/powerpoint/2010/main" val="338621847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26</a:t>
            </a:fld>
            <a:endParaRPr lang="en-US"/>
          </a:p>
        </p:txBody>
      </p:sp>
      <p:sp>
        <p:nvSpPr>
          <p:cNvPr id="15" name="object 2">
            <a:extLst>
              <a:ext uri="{FF2B5EF4-FFF2-40B4-BE49-F238E27FC236}">
                <a16:creationId xmlns:a16="http://schemas.microsoft.com/office/drawing/2014/main" id="{5865999D-F7B0-DF7A-9D40-960E16847370}"/>
              </a:ext>
            </a:extLst>
          </p:cNvPr>
          <p:cNvSpPr txBox="1">
            <a:spLocks/>
          </p:cNvSpPr>
          <p:nvPr/>
        </p:nvSpPr>
        <p:spPr>
          <a:xfrm>
            <a:off x="707390" y="524763"/>
            <a:ext cx="7729219" cy="63500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4000" b="1" i="0" u="none" strike="noStrike" kern="0" cap="none" spc="0" normalizeH="0" baseline="0" noProof="0">
                <a:ln>
                  <a:noFill/>
                </a:ln>
                <a:solidFill>
                  <a:sysClr val="windowText" lastClr="000000"/>
                </a:solidFill>
                <a:effectLst/>
                <a:uLnTx/>
                <a:uFillTx/>
                <a:latin typeface="Palatino Linotype"/>
                <a:ea typeface="+mj-ea"/>
              </a:rPr>
              <a:t>Basic</a:t>
            </a:r>
            <a:r>
              <a:rPr kumimoji="0" lang="en-US" sz="4000" b="1" i="0" u="none" strike="noStrike" kern="0" cap="none" spc="-35" normalizeH="0" baseline="0" noProof="0">
                <a:ln>
                  <a:noFill/>
                </a:ln>
                <a:solidFill>
                  <a:sysClr val="windowText" lastClr="000000"/>
                </a:solidFill>
                <a:effectLst/>
                <a:uLnTx/>
                <a:uFillTx/>
                <a:latin typeface="Palatino Linotype"/>
                <a:ea typeface="+mj-ea"/>
              </a:rPr>
              <a:t> </a:t>
            </a:r>
            <a:r>
              <a:rPr kumimoji="0" lang="en-US" sz="4000" b="1" i="0" u="none" strike="noStrike" kern="0" cap="none" spc="0" normalizeH="0" baseline="0" noProof="0">
                <a:ln>
                  <a:noFill/>
                </a:ln>
                <a:solidFill>
                  <a:sysClr val="windowText" lastClr="000000"/>
                </a:solidFill>
                <a:effectLst/>
                <a:uLnTx/>
                <a:uFillTx/>
                <a:latin typeface="Palatino Linotype"/>
                <a:ea typeface="+mj-ea"/>
              </a:rPr>
              <a:t>Block</a:t>
            </a:r>
            <a:r>
              <a:rPr kumimoji="0" lang="en-US" sz="4000" b="1" i="0" u="none" strike="noStrike" kern="0" cap="none" spc="-40" normalizeH="0" baseline="0" noProof="0">
                <a:ln>
                  <a:noFill/>
                </a:ln>
                <a:solidFill>
                  <a:sysClr val="windowText" lastClr="000000"/>
                </a:solidFill>
                <a:effectLst/>
                <a:uLnTx/>
                <a:uFillTx/>
                <a:latin typeface="Palatino Linotype"/>
                <a:ea typeface="+mj-ea"/>
              </a:rPr>
              <a:t> </a:t>
            </a:r>
            <a:r>
              <a:rPr kumimoji="0" lang="en-US" sz="4000" b="1" i="0" u="none" strike="noStrike" kern="0" cap="none" spc="-10" normalizeH="0" baseline="0" noProof="0">
                <a:ln>
                  <a:noFill/>
                </a:ln>
                <a:solidFill>
                  <a:sysClr val="windowText" lastClr="000000"/>
                </a:solidFill>
                <a:effectLst/>
                <a:uLnTx/>
                <a:uFillTx/>
                <a:latin typeface="Palatino Linotype"/>
                <a:ea typeface="+mj-ea"/>
              </a:rPr>
              <a:t>Example</a:t>
            </a:r>
            <a:endParaRPr kumimoji="0" lang="en-US" sz="4000" b="1" i="0" u="none" strike="noStrike" kern="0" cap="none" spc="-10" normalizeH="0" baseline="0" noProof="0" dirty="0">
              <a:ln>
                <a:noFill/>
              </a:ln>
              <a:solidFill>
                <a:sysClr val="windowText" lastClr="000000"/>
              </a:solidFill>
              <a:effectLst/>
              <a:uLnTx/>
              <a:uFillTx/>
              <a:latin typeface="Palatino Linotype"/>
              <a:ea typeface="+mj-ea"/>
            </a:endParaRPr>
          </a:p>
        </p:txBody>
      </p:sp>
      <p:sp>
        <p:nvSpPr>
          <p:cNvPr id="16" name="object 3">
            <a:extLst>
              <a:ext uri="{FF2B5EF4-FFF2-40B4-BE49-F238E27FC236}">
                <a16:creationId xmlns:a16="http://schemas.microsoft.com/office/drawing/2014/main" id="{F5EE7F64-F45D-AB37-DADE-86877BC67ECC}"/>
              </a:ext>
            </a:extLst>
          </p:cNvPr>
          <p:cNvSpPr txBox="1"/>
          <p:nvPr/>
        </p:nvSpPr>
        <p:spPr>
          <a:xfrm>
            <a:off x="707388" y="1495947"/>
            <a:ext cx="4085590" cy="2693670"/>
          </a:xfrm>
          <a:prstGeom prst="rect">
            <a:avLst/>
          </a:prstGeom>
        </p:spPr>
        <p:txBody>
          <a:bodyPr vert="horz" wrap="square" lIns="0" tIns="175260" rIns="0" bIns="0" rtlCol="0">
            <a:spAutoFit/>
          </a:bodyPr>
          <a:lstStyle/>
          <a:p>
            <a:pPr marL="242570" indent="-229870">
              <a:spcBef>
                <a:spcPts val="1380"/>
              </a:spcBef>
              <a:buClr>
                <a:srgbClr val="000000"/>
              </a:buClr>
              <a:buFont typeface="Arial MT"/>
              <a:buChar char="•"/>
              <a:tabLst>
                <a:tab pos="242570" algn="l"/>
              </a:tabLst>
            </a:pPr>
            <a:r>
              <a:rPr sz="2200" dirty="0">
                <a:solidFill>
                  <a:srgbClr val="FF0000"/>
                </a:solidFill>
                <a:latin typeface="Palatino Linotype"/>
                <a:cs typeface="Palatino Linotype"/>
              </a:rPr>
              <a:t>Leader</a:t>
            </a:r>
            <a:r>
              <a:rPr sz="2200" spc="-45" dirty="0">
                <a:solidFill>
                  <a:srgbClr val="FF0000"/>
                </a:solidFill>
                <a:latin typeface="Palatino Linotype"/>
                <a:cs typeface="Palatino Linotype"/>
              </a:rPr>
              <a:t> </a:t>
            </a:r>
            <a:r>
              <a:rPr sz="2200" spc="-10" dirty="0">
                <a:solidFill>
                  <a:srgbClr val="FF0000"/>
                </a:solidFill>
                <a:latin typeface="Palatino Linotype"/>
                <a:cs typeface="Palatino Linotype"/>
              </a:rPr>
              <a:t>instructions:</a:t>
            </a:r>
            <a:endParaRPr sz="2200">
              <a:solidFill>
                <a:sysClr val="windowText" lastClr="000000"/>
              </a:solidFill>
              <a:latin typeface="Palatino Linotype"/>
              <a:cs typeface="Palatino Linotype"/>
            </a:endParaRPr>
          </a:p>
          <a:p>
            <a:pPr marL="697865" lvl="1" indent="-227965">
              <a:spcBef>
                <a:spcPts val="1045"/>
              </a:spcBef>
              <a:buFont typeface="Wingdings"/>
              <a:buChar char=""/>
              <a:tabLst>
                <a:tab pos="697865" algn="l"/>
              </a:tabLst>
            </a:pPr>
            <a:r>
              <a:rPr dirty="0">
                <a:solidFill>
                  <a:sysClr val="windowText" lastClr="000000"/>
                </a:solidFill>
                <a:latin typeface="Palatino Linotype"/>
                <a:cs typeface="Palatino Linotype"/>
              </a:rPr>
              <a:t>The</a:t>
            </a:r>
            <a:r>
              <a:rPr spc="-40"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first</a:t>
            </a:r>
            <a:r>
              <a:rPr spc="-40"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instruction</a:t>
            </a:r>
            <a:r>
              <a:rPr spc="-40"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(rule</a:t>
            </a:r>
            <a:r>
              <a:rPr spc="-40"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#1):</a:t>
            </a:r>
            <a:r>
              <a:rPr spc="-40" dirty="0">
                <a:solidFill>
                  <a:sysClr val="windowText" lastClr="000000"/>
                </a:solidFill>
                <a:latin typeface="Palatino Linotype"/>
                <a:cs typeface="Palatino Linotype"/>
              </a:rPr>
              <a:t> </a:t>
            </a:r>
            <a:r>
              <a:rPr spc="-50" dirty="0">
                <a:solidFill>
                  <a:srgbClr val="0432FF"/>
                </a:solidFill>
                <a:latin typeface="Palatino Linotype"/>
                <a:cs typeface="Palatino Linotype"/>
              </a:rPr>
              <a:t>1</a:t>
            </a:r>
            <a:endParaRPr>
              <a:solidFill>
                <a:sysClr val="windowText" lastClr="000000"/>
              </a:solidFill>
              <a:latin typeface="Palatino Linotype"/>
              <a:cs typeface="Palatino Linotype"/>
            </a:endParaRPr>
          </a:p>
          <a:p>
            <a:pPr marL="697865" lvl="1" indent="-227965">
              <a:spcBef>
                <a:spcPts val="1060"/>
              </a:spcBef>
              <a:buFont typeface="Wingdings"/>
              <a:buChar char=""/>
              <a:tabLst>
                <a:tab pos="697865" algn="l"/>
              </a:tabLst>
            </a:pPr>
            <a:r>
              <a:rPr spc="-20" dirty="0">
                <a:solidFill>
                  <a:sysClr val="windowText" lastClr="000000"/>
                </a:solidFill>
                <a:latin typeface="Palatino Linotype"/>
                <a:cs typeface="Palatino Linotype"/>
              </a:rPr>
              <a:t>Targets</a:t>
            </a:r>
            <a:r>
              <a:rPr spc="-30"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of</a:t>
            </a:r>
            <a:r>
              <a:rPr spc="-20"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jumps</a:t>
            </a:r>
            <a:r>
              <a:rPr spc="-25"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(rule</a:t>
            </a:r>
            <a:r>
              <a:rPr spc="-25"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#2):</a:t>
            </a:r>
            <a:r>
              <a:rPr spc="-25" dirty="0">
                <a:solidFill>
                  <a:sysClr val="windowText" lastClr="000000"/>
                </a:solidFill>
                <a:latin typeface="Palatino Linotype"/>
                <a:cs typeface="Palatino Linotype"/>
              </a:rPr>
              <a:t> </a:t>
            </a:r>
            <a:r>
              <a:rPr dirty="0">
                <a:solidFill>
                  <a:srgbClr val="0432FF"/>
                </a:solidFill>
                <a:latin typeface="Palatino Linotype"/>
                <a:cs typeface="Palatino Linotype"/>
              </a:rPr>
              <a:t>3,</a:t>
            </a:r>
            <a:r>
              <a:rPr spc="-20" dirty="0">
                <a:solidFill>
                  <a:srgbClr val="0432FF"/>
                </a:solidFill>
                <a:latin typeface="Palatino Linotype"/>
                <a:cs typeface="Palatino Linotype"/>
              </a:rPr>
              <a:t> </a:t>
            </a:r>
            <a:r>
              <a:rPr dirty="0">
                <a:solidFill>
                  <a:srgbClr val="0432FF"/>
                </a:solidFill>
                <a:latin typeface="Palatino Linotype"/>
                <a:cs typeface="Palatino Linotype"/>
              </a:rPr>
              <a:t>2,</a:t>
            </a:r>
            <a:r>
              <a:rPr spc="-20" dirty="0">
                <a:solidFill>
                  <a:srgbClr val="0432FF"/>
                </a:solidFill>
                <a:latin typeface="Palatino Linotype"/>
                <a:cs typeface="Palatino Linotype"/>
              </a:rPr>
              <a:t> </a:t>
            </a:r>
            <a:r>
              <a:rPr spc="-25" dirty="0">
                <a:solidFill>
                  <a:srgbClr val="0432FF"/>
                </a:solidFill>
                <a:latin typeface="Palatino Linotype"/>
                <a:cs typeface="Palatino Linotype"/>
              </a:rPr>
              <a:t>13</a:t>
            </a:r>
            <a:endParaRPr>
              <a:solidFill>
                <a:sysClr val="windowText" lastClr="000000"/>
              </a:solidFill>
              <a:latin typeface="Palatino Linotype"/>
              <a:cs typeface="Palatino Linotype"/>
            </a:endParaRPr>
          </a:p>
          <a:p>
            <a:pPr marL="697865" marR="133985" lvl="1" indent="-228600">
              <a:lnSpc>
                <a:spcPct val="120000"/>
              </a:lnSpc>
              <a:spcBef>
                <a:spcPts val="600"/>
              </a:spcBef>
              <a:buFont typeface="Wingdings"/>
              <a:buChar char=""/>
              <a:tabLst>
                <a:tab pos="697865" algn="l"/>
              </a:tabLst>
            </a:pPr>
            <a:r>
              <a:rPr dirty="0">
                <a:solidFill>
                  <a:sysClr val="windowText" lastClr="000000"/>
                </a:solidFill>
                <a:latin typeface="Palatino Linotype"/>
                <a:cs typeface="Palatino Linotype"/>
              </a:rPr>
              <a:t>Instructions</a:t>
            </a:r>
            <a:r>
              <a:rPr spc="-85" dirty="0">
                <a:solidFill>
                  <a:sysClr val="windowText" lastClr="000000"/>
                </a:solidFill>
                <a:latin typeface="Palatino Linotype"/>
                <a:cs typeface="Palatino Linotype"/>
              </a:rPr>
              <a:t> </a:t>
            </a:r>
            <a:r>
              <a:rPr spc="-10" dirty="0">
                <a:solidFill>
                  <a:sysClr val="windowText" lastClr="000000"/>
                </a:solidFill>
                <a:latin typeface="Palatino Linotype"/>
                <a:cs typeface="Palatino Linotype"/>
              </a:rPr>
              <a:t>immediately </a:t>
            </a:r>
            <a:r>
              <a:rPr dirty="0">
                <a:solidFill>
                  <a:sysClr val="windowText" lastClr="000000"/>
                </a:solidFill>
                <a:latin typeface="Palatino Linotype"/>
                <a:cs typeface="Palatino Linotype"/>
              </a:rPr>
              <a:t>following</a:t>
            </a:r>
            <a:r>
              <a:rPr spc="-35"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jumps</a:t>
            </a:r>
            <a:r>
              <a:rPr spc="-35"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(rule</a:t>
            </a:r>
            <a:r>
              <a:rPr spc="-30"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#3):</a:t>
            </a:r>
            <a:r>
              <a:rPr spc="-35" dirty="0">
                <a:solidFill>
                  <a:sysClr val="windowText" lastClr="000000"/>
                </a:solidFill>
                <a:latin typeface="Palatino Linotype"/>
                <a:cs typeface="Palatino Linotype"/>
              </a:rPr>
              <a:t> </a:t>
            </a:r>
            <a:r>
              <a:rPr dirty="0">
                <a:solidFill>
                  <a:srgbClr val="0432FF"/>
                </a:solidFill>
                <a:latin typeface="Palatino Linotype"/>
                <a:cs typeface="Palatino Linotype"/>
              </a:rPr>
              <a:t>10,</a:t>
            </a:r>
            <a:r>
              <a:rPr spc="-25" dirty="0">
                <a:solidFill>
                  <a:srgbClr val="0432FF"/>
                </a:solidFill>
                <a:latin typeface="Palatino Linotype"/>
                <a:cs typeface="Palatino Linotype"/>
              </a:rPr>
              <a:t> 12</a:t>
            </a:r>
            <a:endParaRPr>
              <a:solidFill>
                <a:sysClr val="windowText" lastClr="000000"/>
              </a:solidFill>
              <a:latin typeface="Palatino Linotype"/>
              <a:cs typeface="Palatino Linotype"/>
            </a:endParaRPr>
          </a:p>
          <a:p>
            <a:pPr marL="242570" indent="-229870">
              <a:spcBef>
                <a:spcPts val="2240"/>
              </a:spcBef>
              <a:buClr>
                <a:srgbClr val="000000"/>
              </a:buClr>
              <a:buFont typeface="Arial MT"/>
              <a:buChar char="•"/>
              <a:tabLst>
                <a:tab pos="242570" algn="l"/>
              </a:tabLst>
            </a:pPr>
            <a:r>
              <a:rPr sz="2200" dirty="0">
                <a:solidFill>
                  <a:srgbClr val="FF0000"/>
                </a:solidFill>
                <a:latin typeface="Palatino Linotype"/>
                <a:cs typeface="Palatino Linotype"/>
              </a:rPr>
              <a:t>Basic</a:t>
            </a:r>
            <a:r>
              <a:rPr sz="2200" spc="-35" dirty="0">
                <a:solidFill>
                  <a:srgbClr val="FF0000"/>
                </a:solidFill>
                <a:latin typeface="Palatino Linotype"/>
                <a:cs typeface="Palatino Linotype"/>
              </a:rPr>
              <a:t> </a:t>
            </a:r>
            <a:r>
              <a:rPr sz="2200" spc="-10" dirty="0">
                <a:solidFill>
                  <a:srgbClr val="FF0000"/>
                </a:solidFill>
                <a:latin typeface="Palatino Linotype"/>
                <a:cs typeface="Palatino Linotype"/>
              </a:rPr>
              <a:t>blocks</a:t>
            </a:r>
            <a:endParaRPr sz="2200">
              <a:solidFill>
                <a:sysClr val="windowText" lastClr="000000"/>
              </a:solidFill>
              <a:latin typeface="Palatino Linotype"/>
              <a:cs typeface="Palatino Linotype"/>
            </a:endParaRPr>
          </a:p>
        </p:txBody>
      </p:sp>
      <p:sp>
        <p:nvSpPr>
          <p:cNvPr id="17" name="object 4">
            <a:extLst>
              <a:ext uri="{FF2B5EF4-FFF2-40B4-BE49-F238E27FC236}">
                <a16:creationId xmlns:a16="http://schemas.microsoft.com/office/drawing/2014/main" id="{9E175834-8006-63DA-7EF0-C5932789C61F}"/>
              </a:ext>
            </a:extLst>
          </p:cNvPr>
          <p:cNvSpPr txBox="1"/>
          <p:nvPr/>
        </p:nvSpPr>
        <p:spPr>
          <a:xfrm>
            <a:off x="1164588" y="4169155"/>
            <a:ext cx="787400" cy="1244600"/>
          </a:xfrm>
          <a:prstGeom prst="rect">
            <a:avLst/>
          </a:prstGeom>
        </p:spPr>
        <p:txBody>
          <a:bodyPr vert="horz" wrap="square" lIns="0" tIns="143510" rIns="0" bIns="0" rtlCol="0">
            <a:spAutoFit/>
          </a:bodyPr>
          <a:lstStyle/>
          <a:p>
            <a:pPr marL="240665" indent="-227965">
              <a:spcBef>
                <a:spcPts val="1130"/>
              </a:spcBef>
              <a:buClr>
                <a:srgbClr val="000000"/>
              </a:buClr>
              <a:buFont typeface="Wingdings"/>
              <a:buChar char=""/>
              <a:tabLst>
                <a:tab pos="240665" algn="l"/>
              </a:tabLst>
            </a:pPr>
            <a:r>
              <a:rPr spc="-10" dirty="0">
                <a:solidFill>
                  <a:srgbClr val="0432FF"/>
                </a:solidFill>
                <a:latin typeface="Palatino Linotype"/>
                <a:cs typeface="Palatino Linotype"/>
              </a:rPr>
              <a:t>1-</a:t>
            </a:r>
            <a:r>
              <a:rPr spc="-50" dirty="0">
                <a:solidFill>
                  <a:srgbClr val="0432FF"/>
                </a:solidFill>
                <a:latin typeface="Palatino Linotype"/>
                <a:cs typeface="Palatino Linotype"/>
              </a:rPr>
              <a:t>1</a:t>
            </a:r>
            <a:endParaRPr>
              <a:solidFill>
                <a:sysClr val="windowText" lastClr="000000"/>
              </a:solidFill>
              <a:latin typeface="Palatino Linotype"/>
              <a:cs typeface="Palatino Linotype"/>
            </a:endParaRPr>
          </a:p>
          <a:p>
            <a:pPr marL="240665" indent="-227965">
              <a:spcBef>
                <a:spcPts val="1030"/>
              </a:spcBef>
              <a:buClr>
                <a:srgbClr val="000000"/>
              </a:buClr>
              <a:buFont typeface="Wingdings"/>
              <a:buChar char=""/>
              <a:tabLst>
                <a:tab pos="240665" algn="l"/>
              </a:tabLst>
            </a:pPr>
            <a:r>
              <a:rPr spc="-10" dirty="0">
                <a:solidFill>
                  <a:srgbClr val="0432FF"/>
                </a:solidFill>
                <a:latin typeface="Palatino Linotype"/>
                <a:cs typeface="Palatino Linotype"/>
              </a:rPr>
              <a:t>3-</a:t>
            </a:r>
            <a:r>
              <a:rPr spc="-50" dirty="0">
                <a:solidFill>
                  <a:srgbClr val="0432FF"/>
                </a:solidFill>
                <a:latin typeface="Palatino Linotype"/>
                <a:cs typeface="Palatino Linotype"/>
              </a:rPr>
              <a:t>9</a:t>
            </a:r>
            <a:endParaRPr>
              <a:solidFill>
                <a:sysClr val="windowText" lastClr="000000"/>
              </a:solidFill>
              <a:latin typeface="Palatino Linotype"/>
              <a:cs typeface="Palatino Linotype"/>
            </a:endParaRPr>
          </a:p>
          <a:p>
            <a:pPr marL="240665" indent="-227965">
              <a:spcBef>
                <a:spcPts val="1060"/>
              </a:spcBef>
              <a:buClr>
                <a:srgbClr val="000000"/>
              </a:buClr>
              <a:buFont typeface="Wingdings"/>
              <a:buChar char=""/>
              <a:tabLst>
                <a:tab pos="240665" algn="l"/>
              </a:tabLst>
            </a:pPr>
            <a:r>
              <a:rPr spc="-10" dirty="0">
                <a:solidFill>
                  <a:srgbClr val="0432FF"/>
                </a:solidFill>
                <a:latin typeface="Palatino Linotype"/>
                <a:cs typeface="Palatino Linotype"/>
              </a:rPr>
              <a:t>12-</a:t>
            </a:r>
            <a:r>
              <a:rPr spc="-25" dirty="0">
                <a:solidFill>
                  <a:srgbClr val="0432FF"/>
                </a:solidFill>
                <a:latin typeface="Palatino Linotype"/>
                <a:cs typeface="Palatino Linotype"/>
              </a:rPr>
              <a:t>12</a:t>
            </a:r>
            <a:endParaRPr>
              <a:solidFill>
                <a:sysClr val="windowText" lastClr="000000"/>
              </a:solidFill>
              <a:latin typeface="Palatino Linotype"/>
              <a:cs typeface="Palatino Linotype"/>
            </a:endParaRPr>
          </a:p>
        </p:txBody>
      </p:sp>
      <p:sp>
        <p:nvSpPr>
          <p:cNvPr id="18" name="object 5">
            <a:extLst>
              <a:ext uri="{FF2B5EF4-FFF2-40B4-BE49-F238E27FC236}">
                <a16:creationId xmlns:a16="http://schemas.microsoft.com/office/drawing/2014/main" id="{F6C4B64A-B51F-6F63-F4EB-EF6B42A13B0C}"/>
              </a:ext>
            </a:extLst>
          </p:cNvPr>
          <p:cNvSpPr txBox="1"/>
          <p:nvPr/>
        </p:nvSpPr>
        <p:spPr>
          <a:xfrm>
            <a:off x="2536188" y="4169155"/>
            <a:ext cx="558800" cy="1244600"/>
          </a:xfrm>
          <a:prstGeom prst="rect">
            <a:avLst/>
          </a:prstGeom>
        </p:spPr>
        <p:txBody>
          <a:bodyPr vert="horz" wrap="square" lIns="0" tIns="143510" rIns="0" bIns="0" rtlCol="0">
            <a:spAutoFit/>
          </a:bodyPr>
          <a:lstStyle/>
          <a:p>
            <a:pPr marL="12700">
              <a:spcBef>
                <a:spcPts val="1130"/>
              </a:spcBef>
            </a:pPr>
            <a:r>
              <a:rPr spc="-10" dirty="0">
                <a:solidFill>
                  <a:srgbClr val="0432FF"/>
                </a:solidFill>
                <a:latin typeface="Palatino Linotype"/>
                <a:cs typeface="Palatino Linotype"/>
              </a:rPr>
              <a:t>2-</a:t>
            </a:r>
            <a:r>
              <a:rPr spc="-50" dirty="0">
                <a:solidFill>
                  <a:srgbClr val="0432FF"/>
                </a:solidFill>
                <a:latin typeface="Palatino Linotype"/>
                <a:cs typeface="Palatino Linotype"/>
              </a:rPr>
              <a:t>2</a:t>
            </a:r>
            <a:endParaRPr>
              <a:solidFill>
                <a:sysClr val="windowText" lastClr="000000"/>
              </a:solidFill>
              <a:latin typeface="Palatino Linotype"/>
              <a:cs typeface="Palatino Linotype"/>
            </a:endParaRPr>
          </a:p>
          <a:p>
            <a:pPr marL="12700">
              <a:spcBef>
                <a:spcPts val="1030"/>
              </a:spcBef>
            </a:pPr>
            <a:r>
              <a:rPr spc="-10" dirty="0">
                <a:solidFill>
                  <a:srgbClr val="0432FF"/>
                </a:solidFill>
                <a:latin typeface="Palatino Linotype"/>
                <a:cs typeface="Palatino Linotype"/>
              </a:rPr>
              <a:t>10-</a:t>
            </a:r>
            <a:r>
              <a:rPr spc="-25" dirty="0">
                <a:solidFill>
                  <a:srgbClr val="0432FF"/>
                </a:solidFill>
                <a:latin typeface="Palatino Linotype"/>
                <a:cs typeface="Palatino Linotype"/>
              </a:rPr>
              <a:t>11</a:t>
            </a:r>
            <a:endParaRPr>
              <a:solidFill>
                <a:sysClr val="windowText" lastClr="000000"/>
              </a:solidFill>
              <a:latin typeface="Palatino Linotype"/>
              <a:cs typeface="Palatino Linotype"/>
            </a:endParaRPr>
          </a:p>
          <a:p>
            <a:pPr marL="12700">
              <a:spcBef>
                <a:spcPts val="1060"/>
              </a:spcBef>
            </a:pPr>
            <a:r>
              <a:rPr spc="-10" dirty="0">
                <a:solidFill>
                  <a:srgbClr val="0432FF"/>
                </a:solidFill>
                <a:latin typeface="Palatino Linotype"/>
                <a:cs typeface="Palatino Linotype"/>
              </a:rPr>
              <a:t>13-</a:t>
            </a:r>
            <a:r>
              <a:rPr spc="-25" dirty="0">
                <a:solidFill>
                  <a:srgbClr val="0432FF"/>
                </a:solidFill>
                <a:latin typeface="Palatino Linotype"/>
                <a:cs typeface="Palatino Linotype"/>
              </a:rPr>
              <a:t>17</a:t>
            </a:r>
            <a:endParaRPr>
              <a:solidFill>
                <a:sysClr val="windowText" lastClr="000000"/>
              </a:solidFill>
              <a:latin typeface="Palatino Linotype"/>
              <a:cs typeface="Palatino Linotype"/>
            </a:endParaRPr>
          </a:p>
        </p:txBody>
      </p:sp>
      <p:grpSp>
        <p:nvGrpSpPr>
          <p:cNvPr id="19" name="object 6">
            <a:extLst>
              <a:ext uri="{FF2B5EF4-FFF2-40B4-BE49-F238E27FC236}">
                <a16:creationId xmlns:a16="http://schemas.microsoft.com/office/drawing/2014/main" id="{B83FA608-9186-FC7A-548F-7A6FA345B207}"/>
              </a:ext>
            </a:extLst>
          </p:cNvPr>
          <p:cNvGrpSpPr/>
          <p:nvPr/>
        </p:nvGrpSpPr>
        <p:grpSpPr>
          <a:xfrm>
            <a:off x="4913980" y="1365996"/>
            <a:ext cx="3300729" cy="4180204"/>
            <a:chOff x="4913980" y="1365996"/>
            <a:chExt cx="3300729" cy="4180204"/>
          </a:xfrm>
        </p:grpSpPr>
        <p:pic>
          <p:nvPicPr>
            <p:cNvPr id="20" name="object 7">
              <a:extLst>
                <a:ext uri="{FF2B5EF4-FFF2-40B4-BE49-F238E27FC236}">
                  <a16:creationId xmlns:a16="http://schemas.microsoft.com/office/drawing/2014/main" id="{D90979FC-05EE-B7FE-679B-ADE6808E9859}"/>
                </a:ext>
              </a:extLst>
            </p:cNvPr>
            <p:cNvPicPr/>
            <p:nvPr/>
          </p:nvPicPr>
          <p:blipFill>
            <a:blip r:embed="rId3" cstate="print"/>
            <a:stretch>
              <a:fillRect/>
            </a:stretch>
          </p:blipFill>
          <p:spPr>
            <a:xfrm>
              <a:off x="5450783" y="1365996"/>
              <a:ext cx="2618789" cy="4174451"/>
            </a:xfrm>
            <a:prstGeom prst="rect">
              <a:avLst/>
            </a:prstGeom>
          </p:spPr>
        </p:pic>
        <p:sp>
          <p:nvSpPr>
            <p:cNvPr id="21" name="object 8">
              <a:extLst>
                <a:ext uri="{FF2B5EF4-FFF2-40B4-BE49-F238E27FC236}">
                  <a16:creationId xmlns:a16="http://schemas.microsoft.com/office/drawing/2014/main" id="{1ADCF326-756F-C9D9-7B0D-6B5DCFDAC0B6}"/>
                </a:ext>
              </a:extLst>
            </p:cNvPr>
            <p:cNvSpPr/>
            <p:nvPr/>
          </p:nvSpPr>
          <p:spPr>
            <a:xfrm>
              <a:off x="5297612" y="3323690"/>
              <a:ext cx="2844800" cy="241935"/>
            </a:xfrm>
            <a:custGeom>
              <a:avLst/>
              <a:gdLst/>
              <a:ahLst/>
              <a:cxnLst/>
              <a:rect l="l" t="t" r="r" b="b"/>
              <a:pathLst>
                <a:path w="2844800" h="241935">
                  <a:moveTo>
                    <a:pt x="0" y="0"/>
                  </a:moveTo>
                  <a:lnTo>
                    <a:pt x="2844630" y="0"/>
                  </a:lnTo>
                  <a:lnTo>
                    <a:pt x="2844630" y="241442"/>
                  </a:lnTo>
                  <a:lnTo>
                    <a:pt x="0" y="241442"/>
                  </a:lnTo>
                  <a:lnTo>
                    <a:pt x="0" y="0"/>
                  </a:lnTo>
                  <a:close/>
                </a:path>
              </a:pathLst>
            </a:custGeom>
            <a:ln w="12700">
              <a:solidFill>
                <a:srgbClr val="FF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2" name="object 9">
              <a:extLst>
                <a:ext uri="{FF2B5EF4-FFF2-40B4-BE49-F238E27FC236}">
                  <a16:creationId xmlns:a16="http://schemas.microsoft.com/office/drawing/2014/main" id="{5DB88425-57E4-C3B6-E633-A8E3B9284498}"/>
                </a:ext>
              </a:extLst>
            </p:cNvPr>
            <p:cNvSpPr/>
            <p:nvPr/>
          </p:nvSpPr>
          <p:spPr>
            <a:xfrm>
              <a:off x="5297612" y="3825449"/>
              <a:ext cx="2844800" cy="241935"/>
            </a:xfrm>
            <a:custGeom>
              <a:avLst/>
              <a:gdLst/>
              <a:ahLst/>
              <a:cxnLst/>
              <a:rect l="l" t="t" r="r" b="b"/>
              <a:pathLst>
                <a:path w="2844800" h="241935">
                  <a:moveTo>
                    <a:pt x="0" y="0"/>
                  </a:moveTo>
                  <a:lnTo>
                    <a:pt x="2844630" y="0"/>
                  </a:lnTo>
                  <a:lnTo>
                    <a:pt x="2844630" y="241442"/>
                  </a:lnTo>
                  <a:lnTo>
                    <a:pt x="0" y="241442"/>
                  </a:lnTo>
                  <a:lnTo>
                    <a:pt x="0" y="0"/>
                  </a:lnTo>
                  <a:close/>
                </a:path>
              </a:pathLst>
            </a:custGeom>
            <a:ln w="12700">
              <a:solidFill>
                <a:srgbClr val="FF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3" name="object 10">
              <a:extLst>
                <a:ext uri="{FF2B5EF4-FFF2-40B4-BE49-F238E27FC236}">
                  <a16:creationId xmlns:a16="http://schemas.microsoft.com/office/drawing/2014/main" id="{A946F33F-C72E-087F-5A46-77637EB49B1D}"/>
                </a:ext>
              </a:extLst>
            </p:cNvPr>
            <p:cNvSpPr/>
            <p:nvPr/>
          </p:nvSpPr>
          <p:spPr>
            <a:xfrm>
              <a:off x="5363432" y="5298076"/>
              <a:ext cx="2844800" cy="241935"/>
            </a:xfrm>
            <a:custGeom>
              <a:avLst/>
              <a:gdLst/>
              <a:ahLst/>
              <a:cxnLst/>
              <a:rect l="l" t="t" r="r" b="b"/>
              <a:pathLst>
                <a:path w="2844800" h="241935">
                  <a:moveTo>
                    <a:pt x="0" y="0"/>
                  </a:moveTo>
                  <a:lnTo>
                    <a:pt x="2844630" y="0"/>
                  </a:lnTo>
                  <a:lnTo>
                    <a:pt x="2844630" y="241442"/>
                  </a:lnTo>
                  <a:lnTo>
                    <a:pt x="0" y="241442"/>
                  </a:lnTo>
                  <a:lnTo>
                    <a:pt x="0" y="0"/>
                  </a:lnTo>
                  <a:close/>
                </a:path>
              </a:pathLst>
            </a:custGeom>
            <a:ln w="12700">
              <a:solidFill>
                <a:srgbClr val="FF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4" name="object 11">
              <a:extLst>
                <a:ext uri="{FF2B5EF4-FFF2-40B4-BE49-F238E27FC236}">
                  <a16:creationId xmlns:a16="http://schemas.microsoft.com/office/drawing/2014/main" id="{F26ECE9E-0111-3C01-DF9A-DB90D98FF7CB}"/>
                </a:ext>
              </a:extLst>
            </p:cNvPr>
            <p:cNvSpPr/>
            <p:nvPr/>
          </p:nvSpPr>
          <p:spPr>
            <a:xfrm>
              <a:off x="4913973" y="1415783"/>
              <a:ext cx="515620" cy="3046730"/>
            </a:xfrm>
            <a:custGeom>
              <a:avLst/>
              <a:gdLst/>
              <a:ahLst/>
              <a:cxnLst/>
              <a:rect l="l" t="t" r="r" b="b"/>
              <a:pathLst>
                <a:path w="515620" h="3046729">
                  <a:moveTo>
                    <a:pt x="449453" y="2277605"/>
                  </a:moveTo>
                  <a:lnTo>
                    <a:pt x="373253" y="2239505"/>
                  </a:lnTo>
                  <a:lnTo>
                    <a:pt x="373253" y="2271255"/>
                  </a:lnTo>
                  <a:lnTo>
                    <a:pt x="0" y="2271255"/>
                  </a:lnTo>
                  <a:lnTo>
                    <a:pt x="0" y="2283955"/>
                  </a:lnTo>
                  <a:lnTo>
                    <a:pt x="373253" y="2283955"/>
                  </a:lnTo>
                  <a:lnTo>
                    <a:pt x="373253" y="2315705"/>
                  </a:lnTo>
                  <a:lnTo>
                    <a:pt x="436753" y="2283955"/>
                  </a:lnTo>
                  <a:lnTo>
                    <a:pt x="449453" y="2277605"/>
                  </a:lnTo>
                  <a:close/>
                </a:path>
                <a:path w="515620" h="3046729">
                  <a:moveTo>
                    <a:pt x="459981" y="3008617"/>
                  </a:moveTo>
                  <a:lnTo>
                    <a:pt x="383781" y="2970517"/>
                  </a:lnTo>
                  <a:lnTo>
                    <a:pt x="383781" y="3002267"/>
                  </a:lnTo>
                  <a:lnTo>
                    <a:pt x="10528" y="3002267"/>
                  </a:lnTo>
                  <a:lnTo>
                    <a:pt x="10528" y="3014967"/>
                  </a:lnTo>
                  <a:lnTo>
                    <a:pt x="383781" y="3014967"/>
                  </a:lnTo>
                  <a:lnTo>
                    <a:pt x="383781" y="3046717"/>
                  </a:lnTo>
                  <a:lnTo>
                    <a:pt x="447281" y="3014967"/>
                  </a:lnTo>
                  <a:lnTo>
                    <a:pt x="459981" y="3008617"/>
                  </a:lnTo>
                  <a:close/>
                </a:path>
                <a:path w="515620" h="3046729">
                  <a:moveTo>
                    <a:pt x="459981" y="2770975"/>
                  </a:moveTo>
                  <a:lnTo>
                    <a:pt x="383781" y="2732875"/>
                  </a:lnTo>
                  <a:lnTo>
                    <a:pt x="383781" y="2764625"/>
                  </a:lnTo>
                  <a:lnTo>
                    <a:pt x="10528" y="2764625"/>
                  </a:lnTo>
                  <a:lnTo>
                    <a:pt x="10528" y="2777325"/>
                  </a:lnTo>
                  <a:lnTo>
                    <a:pt x="383781" y="2777325"/>
                  </a:lnTo>
                  <a:lnTo>
                    <a:pt x="383781" y="2809075"/>
                  </a:lnTo>
                  <a:lnTo>
                    <a:pt x="447281" y="2777325"/>
                  </a:lnTo>
                  <a:lnTo>
                    <a:pt x="459981" y="2770975"/>
                  </a:lnTo>
                  <a:close/>
                </a:path>
                <a:path w="515620" h="3046729">
                  <a:moveTo>
                    <a:pt x="515277" y="546963"/>
                  </a:moveTo>
                  <a:lnTo>
                    <a:pt x="439077" y="508863"/>
                  </a:lnTo>
                  <a:lnTo>
                    <a:pt x="439077" y="540613"/>
                  </a:lnTo>
                  <a:lnTo>
                    <a:pt x="65824" y="540613"/>
                  </a:lnTo>
                  <a:lnTo>
                    <a:pt x="65824" y="553313"/>
                  </a:lnTo>
                  <a:lnTo>
                    <a:pt x="439077" y="553313"/>
                  </a:lnTo>
                  <a:lnTo>
                    <a:pt x="439077" y="585063"/>
                  </a:lnTo>
                  <a:lnTo>
                    <a:pt x="502577" y="553313"/>
                  </a:lnTo>
                  <a:lnTo>
                    <a:pt x="515277" y="546963"/>
                  </a:lnTo>
                  <a:close/>
                </a:path>
                <a:path w="515620" h="3046729">
                  <a:moveTo>
                    <a:pt x="515277" y="296405"/>
                  </a:moveTo>
                  <a:lnTo>
                    <a:pt x="439077" y="258305"/>
                  </a:lnTo>
                  <a:lnTo>
                    <a:pt x="439077" y="290055"/>
                  </a:lnTo>
                  <a:lnTo>
                    <a:pt x="65824" y="290055"/>
                  </a:lnTo>
                  <a:lnTo>
                    <a:pt x="65824" y="302755"/>
                  </a:lnTo>
                  <a:lnTo>
                    <a:pt x="439077" y="302755"/>
                  </a:lnTo>
                  <a:lnTo>
                    <a:pt x="439077" y="334505"/>
                  </a:lnTo>
                  <a:lnTo>
                    <a:pt x="502577" y="302755"/>
                  </a:lnTo>
                  <a:lnTo>
                    <a:pt x="515277" y="296405"/>
                  </a:lnTo>
                  <a:close/>
                </a:path>
                <a:path w="515620" h="3046729">
                  <a:moveTo>
                    <a:pt x="515277" y="38100"/>
                  </a:moveTo>
                  <a:lnTo>
                    <a:pt x="439077" y="0"/>
                  </a:lnTo>
                  <a:lnTo>
                    <a:pt x="439077" y="31750"/>
                  </a:lnTo>
                  <a:lnTo>
                    <a:pt x="65824" y="31750"/>
                  </a:lnTo>
                  <a:lnTo>
                    <a:pt x="65824" y="44450"/>
                  </a:lnTo>
                  <a:lnTo>
                    <a:pt x="439077" y="44450"/>
                  </a:lnTo>
                  <a:lnTo>
                    <a:pt x="439077" y="76200"/>
                  </a:lnTo>
                  <a:lnTo>
                    <a:pt x="502577" y="44450"/>
                  </a:lnTo>
                  <a:lnTo>
                    <a:pt x="515277" y="38100"/>
                  </a:lnTo>
                  <a:close/>
                </a:path>
              </a:pathLst>
            </a:custGeom>
            <a:solidFill>
              <a:srgbClr val="0432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pic>
        <p:nvPicPr>
          <p:cNvPr id="2" name="图片 1">
            <a:extLst>
              <a:ext uri="{FF2B5EF4-FFF2-40B4-BE49-F238E27FC236}">
                <a16:creationId xmlns:a16="http://schemas.microsoft.com/office/drawing/2014/main" id="{7ED87D13-6423-4340-9795-A94FC21DA4E5}"/>
              </a:ext>
            </a:extLst>
          </p:cNvPr>
          <p:cNvPicPr>
            <a:picLocks noChangeAspect="1"/>
          </p:cNvPicPr>
          <p:nvPr/>
        </p:nvPicPr>
        <p:blipFill>
          <a:blip r:embed="rId4"/>
          <a:stretch>
            <a:fillRect/>
          </a:stretch>
        </p:blipFill>
        <p:spPr>
          <a:xfrm>
            <a:off x="6611963" y="251347"/>
            <a:ext cx="2338339" cy="1244600"/>
          </a:xfrm>
          <a:prstGeom prst="rect">
            <a:avLst/>
          </a:prstGeom>
        </p:spPr>
      </p:pic>
    </p:spTree>
    <p:extLst>
      <p:ext uri="{BB962C8B-B14F-4D97-AF65-F5344CB8AC3E}">
        <p14:creationId xmlns:p14="http://schemas.microsoft.com/office/powerpoint/2010/main" val="291805178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27</a:t>
            </a:fld>
            <a:endParaRPr lang="en-US"/>
          </a:p>
        </p:txBody>
      </p:sp>
      <p:sp>
        <p:nvSpPr>
          <p:cNvPr id="7" name="object 2">
            <a:extLst>
              <a:ext uri="{FF2B5EF4-FFF2-40B4-BE49-F238E27FC236}">
                <a16:creationId xmlns:a16="http://schemas.microsoft.com/office/drawing/2014/main" id="{91495FE3-5891-9885-FEF5-9B0F8637A0C4}"/>
              </a:ext>
            </a:extLst>
          </p:cNvPr>
          <p:cNvSpPr txBox="1">
            <a:spLocks/>
          </p:cNvSpPr>
          <p:nvPr/>
        </p:nvSpPr>
        <p:spPr>
          <a:xfrm>
            <a:off x="707390" y="566419"/>
            <a:ext cx="7781925" cy="57404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3600" b="1" i="0" u="none" strike="noStrike" kern="0" cap="none" spc="-25" normalizeH="0" baseline="0" noProof="0">
                <a:ln>
                  <a:noFill/>
                </a:ln>
                <a:solidFill>
                  <a:sysClr val="windowText" lastClr="000000"/>
                </a:solidFill>
                <a:effectLst/>
                <a:uLnTx/>
                <a:uFillTx/>
                <a:latin typeface="Palatino Linotype"/>
                <a:ea typeface="+mj-ea"/>
              </a:rPr>
              <a:t>Next-</a:t>
            </a:r>
            <a:r>
              <a:rPr kumimoji="0" lang="en-US" sz="3600" b="1" i="0" u="none" strike="noStrike" kern="0" cap="none" spc="0" normalizeH="0" baseline="0" noProof="0">
                <a:ln>
                  <a:noFill/>
                </a:ln>
                <a:solidFill>
                  <a:sysClr val="windowText" lastClr="000000"/>
                </a:solidFill>
                <a:effectLst/>
                <a:uLnTx/>
                <a:uFillTx/>
                <a:latin typeface="Palatino Linotype"/>
                <a:ea typeface="+mj-ea"/>
              </a:rPr>
              <a:t>Use</a:t>
            </a:r>
            <a:r>
              <a:rPr kumimoji="0" lang="en-US" sz="3600" b="1" i="0" u="none" strike="noStrike" kern="0" cap="none" spc="-50" normalizeH="0" baseline="0" noProof="0">
                <a:ln>
                  <a:noFill/>
                </a:ln>
                <a:solidFill>
                  <a:sysClr val="windowText" lastClr="000000"/>
                </a:solidFill>
                <a:effectLst/>
                <a:uLnTx/>
                <a:uFillTx/>
                <a:latin typeface="Palatino Linotype"/>
                <a:ea typeface="+mj-ea"/>
              </a:rPr>
              <a:t> </a:t>
            </a:r>
            <a:r>
              <a:rPr kumimoji="0" lang="en-US" sz="3600" b="1" i="0" u="none" strike="noStrike" kern="0" cap="none" spc="0" normalizeH="0" baseline="0" noProof="0">
                <a:ln>
                  <a:noFill/>
                </a:ln>
                <a:solidFill>
                  <a:sysClr val="windowText" lastClr="000000"/>
                </a:solidFill>
                <a:effectLst/>
                <a:uLnTx/>
                <a:uFillTx/>
                <a:latin typeface="Palatino Linotype"/>
                <a:ea typeface="+mj-ea"/>
              </a:rPr>
              <a:t>Information</a:t>
            </a:r>
            <a:r>
              <a:rPr kumimoji="0" lang="en-US" sz="3600" b="1" i="0" u="none" strike="noStrike" kern="0" cap="none" spc="-35" normalizeH="0" baseline="0" noProof="0">
                <a:ln>
                  <a:noFill/>
                </a:ln>
                <a:solidFill>
                  <a:sysClr val="windowText" lastClr="000000"/>
                </a:solidFill>
                <a:effectLst/>
                <a:uLnTx/>
                <a:uFillTx/>
                <a:latin typeface="Palatino Linotype"/>
                <a:ea typeface="+mj-ea"/>
              </a:rPr>
              <a:t> (</a:t>
            </a:r>
            <a:r>
              <a:rPr kumimoji="0" lang="zh-CN" altLang="en-US" sz="3500" b="0" i="0" u="none" strike="noStrike" kern="0" cap="none" spc="80" normalizeH="0" baseline="0" noProof="0">
                <a:ln>
                  <a:noFill/>
                </a:ln>
                <a:solidFill>
                  <a:sysClr val="windowText" lastClr="000000"/>
                </a:solidFill>
                <a:effectLst/>
                <a:uLnTx/>
                <a:uFillTx/>
                <a:latin typeface="SimSun"/>
                <a:ea typeface="宋体" panose="02010600030101010101" pitchFamily="2" charset="-122"/>
                <a:cs typeface="SimSun"/>
              </a:rPr>
              <a:t>后续使用信息</a:t>
            </a:r>
            <a:r>
              <a:rPr kumimoji="0" lang="en-US" altLang="zh-CN" sz="3600" b="1" i="0" u="none" strike="noStrike" kern="0" cap="none" spc="-50" normalizeH="0" baseline="0" noProof="0">
                <a:ln>
                  <a:noFill/>
                </a:ln>
                <a:solidFill>
                  <a:sysClr val="windowText" lastClr="000000"/>
                </a:solidFill>
                <a:effectLst/>
                <a:uLnTx/>
                <a:uFillTx/>
                <a:latin typeface="Palatino Linotype"/>
                <a:ea typeface="宋体" panose="02010600030101010101" pitchFamily="2" charset="-122"/>
              </a:rPr>
              <a:t>)</a:t>
            </a:r>
            <a:endParaRPr kumimoji="0" lang="zh-CN" altLang="en-US" sz="3600" b="1" i="0" u="none" strike="noStrike" kern="0" cap="none" spc="0" normalizeH="0" baseline="0" noProof="0">
              <a:ln>
                <a:noFill/>
              </a:ln>
              <a:solidFill>
                <a:sysClr val="windowText" lastClr="000000"/>
              </a:solidFill>
              <a:effectLst/>
              <a:uLnTx/>
              <a:uFillTx/>
              <a:latin typeface="SimSun"/>
              <a:ea typeface="宋体" panose="02010600030101010101" pitchFamily="2" charset="-122"/>
              <a:cs typeface="SimSun"/>
            </a:endParaRPr>
          </a:p>
        </p:txBody>
      </p:sp>
      <p:sp>
        <p:nvSpPr>
          <p:cNvPr id="8" name="object 3">
            <a:extLst>
              <a:ext uri="{FF2B5EF4-FFF2-40B4-BE49-F238E27FC236}">
                <a16:creationId xmlns:a16="http://schemas.microsoft.com/office/drawing/2014/main" id="{EE3CCDFC-8163-9875-89A1-D9CCDC0B8538}"/>
              </a:ext>
            </a:extLst>
          </p:cNvPr>
          <p:cNvSpPr txBox="1"/>
          <p:nvPr/>
        </p:nvSpPr>
        <p:spPr>
          <a:xfrm>
            <a:off x="707390" y="1500885"/>
            <a:ext cx="7679055" cy="3551554"/>
          </a:xfrm>
          <a:prstGeom prst="rect">
            <a:avLst/>
          </a:prstGeom>
        </p:spPr>
        <p:txBody>
          <a:bodyPr vert="horz" wrap="square" lIns="0" tIns="171450" rIns="0" bIns="0" rtlCol="0">
            <a:spAutoFit/>
          </a:bodyPr>
          <a:lstStyle/>
          <a:p>
            <a:pPr marL="242570" indent="-229870">
              <a:spcBef>
                <a:spcPts val="1350"/>
              </a:spcBef>
              <a:buFont typeface="Arial MT"/>
              <a:buChar char="•"/>
              <a:tabLst>
                <a:tab pos="242570" algn="l"/>
              </a:tabLst>
            </a:pPr>
            <a:r>
              <a:rPr sz="2000" dirty="0">
                <a:solidFill>
                  <a:sysClr val="windowText" lastClr="000000"/>
                </a:solidFill>
                <a:latin typeface="Palatino Linotype"/>
                <a:cs typeface="Palatino Linotype"/>
              </a:rPr>
              <a:t>The</a:t>
            </a:r>
            <a:r>
              <a:rPr sz="2000" spc="-15" dirty="0">
                <a:solidFill>
                  <a:sysClr val="windowText" lastClr="000000"/>
                </a:solidFill>
                <a:latin typeface="Palatino Linotype"/>
                <a:cs typeface="Palatino Linotype"/>
              </a:rPr>
              <a:t> </a:t>
            </a:r>
            <a:r>
              <a:rPr sz="2000" i="1" dirty="0">
                <a:solidFill>
                  <a:srgbClr val="FF0000"/>
                </a:solidFill>
                <a:latin typeface="Palatino Linotype"/>
                <a:cs typeface="Palatino Linotype"/>
              </a:rPr>
              <a:t>use</a:t>
            </a:r>
            <a:r>
              <a:rPr sz="2000" i="1" spc="-20" dirty="0">
                <a:solidFill>
                  <a:srgbClr val="FF0000"/>
                </a:solidFill>
                <a:latin typeface="Palatino Linotype"/>
                <a:cs typeface="Palatino Linotype"/>
              </a:rPr>
              <a:t> </a:t>
            </a:r>
            <a:r>
              <a:rPr sz="2000" dirty="0">
                <a:solidFill>
                  <a:sysClr val="windowText" lastClr="000000"/>
                </a:solidFill>
                <a:latin typeface="Palatino Linotype"/>
                <a:cs typeface="Palatino Linotype"/>
              </a:rPr>
              <a:t>of</a:t>
            </a:r>
            <a:r>
              <a:rPr sz="2000" spc="-2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a</a:t>
            </a:r>
            <a:r>
              <a:rPr sz="2000" spc="-1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name</a:t>
            </a:r>
            <a:r>
              <a:rPr sz="2000" spc="-1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in</a:t>
            </a:r>
            <a:r>
              <a:rPr sz="2000" spc="-2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a</a:t>
            </a:r>
            <a:r>
              <a:rPr sz="2000" spc="-15" dirty="0">
                <a:solidFill>
                  <a:sysClr val="windowText" lastClr="000000"/>
                </a:solidFill>
                <a:latin typeface="Palatino Linotype"/>
                <a:cs typeface="Palatino Linotype"/>
              </a:rPr>
              <a:t> </a:t>
            </a:r>
            <a:r>
              <a:rPr sz="2000" spc="-10" dirty="0">
                <a:solidFill>
                  <a:sysClr val="windowText" lastClr="000000"/>
                </a:solidFill>
                <a:latin typeface="Palatino Linotype"/>
                <a:cs typeface="Palatino Linotype"/>
              </a:rPr>
              <a:t>three-</a:t>
            </a:r>
            <a:r>
              <a:rPr sz="2000" dirty="0">
                <a:solidFill>
                  <a:sysClr val="windowText" lastClr="000000"/>
                </a:solidFill>
                <a:latin typeface="Palatino Linotype"/>
                <a:cs typeface="Palatino Linotype"/>
              </a:rPr>
              <a:t>address</a:t>
            </a:r>
            <a:r>
              <a:rPr sz="2000" spc="-15" dirty="0">
                <a:solidFill>
                  <a:sysClr val="windowText" lastClr="000000"/>
                </a:solidFill>
                <a:latin typeface="Palatino Linotype"/>
                <a:cs typeface="Palatino Linotype"/>
              </a:rPr>
              <a:t> </a:t>
            </a:r>
            <a:r>
              <a:rPr sz="2000" spc="-10" dirty="0">
                <a:solidFill>
                  <a:sysClr val="windowText" lastClr="000000"/>
                </a:solidFill>
                <a:latin typeface="Palatino Linotype"/>
                <a:cs typeface="Palatino Linotype"/>
              </a:rPr>
              <a:t>statement</a:t>
            </a:r>
            <a:endParaRPr sz="2000">
              <a:solidFill>
                <a:sysClr val="windowText" lastClr="000000"/>
              </a:solidFill>
              <a:latin typeface="Palatino Linotype"/>
              <a:cs typeface="Palatino Linotype"/>
            </a:endParaRPr>
          </a:p>
          <a:p>
            <a:pPr marL="698500" marR="31115" lvl="1" indent="-228600">
              <a:lnSpc>
                <a:spcPct val="119400"/>
              </a:lnSpc>
              <a:spcBef>
                <a:spcPts val="625"/>
              </a:spcBef>
              <a:buFont typeface="Wingdings"/>
              <a:buChar char=""/>
              <a:tabLst>
                <a:tab pos="698500" algn="l"/>
              </a:tabLst>
            </a:pPr>
            <a:r>
              <a:rPr sz="1600" dirty="0">
                <a:solidFill>
                  <a:sysClr val="windowText" lastClr="000000"/>
                </a:solidFill>
                <a:latin typeface="Palatino Linotype"/>
                <a:cs typeface="Palatino Linotype"/>
              </a:rPr>
              <a:t>Suppose</a:t>
            </a:r>
            <a:r>
              <a:rPr sz="1600" spc="-30"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a</a:t>
            </a:r>
            <a:r>
              <a:rPr sz="1600" spc="-15"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statement</a:t>
            </a:r>
            <a:r>
              <a:rPr sz="1600" spc="-15" dirty="0">
                <a:solidFill>
                  <a:sysClr val="windowText" lastClr="000000"/>
                </a:solidFill>
                <a:latin typeface="Palatino Linotype"/>
                <a:cs typeface="Palatino Linotype"/>
              </a:rPr>
              <a:t> </a:t>
            </a:r>
            <a:r>
              <a:rPr sz="1600" dirty="0">
                <a:solidFill>
                  <a:sysClr val="windowText" lastClr="000000"/>
                </a:solidFill>
                <a:latin typeface="Cambria Math"/>
                <a:cs typeface="Cambria Math"/>
              </a:rPr>
              <a:t>𝑖</a:t>
            </a:r>
            <a:r>
              <a:rPr sz="1600" spc="80" dirty="0">
                <a:solidFill>
                  <a:sysClr val="windowText" lastClr="000000"/>
                </a:solidFill>
                <a:latin typeface="Cambria Math"/>
                <a:cs typeface="Cambria Math"/>
              </a:rPr>
              <a:t> </a:t>
            </a:r>
            <a:r>
              <a:rPr sz="1600" dirty="0">
                <a:solidFill>
                  <a:sysClr val="windowText" lastClr="000000"/>
                </a:solidFill>
                <a:latin typeface="Palatino Linotype"/>
                <a:cs typeface="Palatino Linotype"/>
              </a:rPr>
              <a:t>assigns</a:t>
            </a:r>
            <a:r>
              <a:rPr sz="1600" spc="-20"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a</a:t>
            </a:r>
            <a:r>
              <a:rPr sz="1600" spc="-15"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value</a:t>
            </a:r>
            <a:r>
              <a:rPr sz="1600" spc="-15"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to</a:t>
            </a:r>
            <a:r>
              <a:rPr sz="1600" spc="-15" dirty="0">
                <a:solidFill>
                  <a:sysClr val="windowText" lastClr="000000"/>
                </a:solidFill>
                <a:latin typeface="Palatino Linotype"/>
                <a:cs typeface="Palatino Linotype"/>
              </a:rPr>
              <a:t> </a:t>
            </a:r>
            <a:r>
              <a:rPr sz="1600" dirty="0">
                <a:solidFill>
                  <a:sysClr val="windowText" lastClr="000000"/>
                </a:solidFill>
                <a:latin typeface="Cambria Math"/>
                <a:cs typeface="Cambria Math"/>
              </a:rPr>
              <a:t>𝑥</a:t>
            </a:r>
            <a:r>
              <a:rPr sz="1600" dirty="0">
                <a:solidFill>
                  <a:sysClr val="windowText" lastClr="000000"/>
                </a:solidFill>
                <a:latin typeface="Palatino Linotype"/>
                <a:cs typeface="Palatino Linotype"/>
              </a:rPr>
              <a:t>.</a:t>
            </a:r>
            <a:r>
              <a:rPr sz="1600" spc="-15"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If</a:t>
            </a:r>
            <a:r>
              <a:rPr sz="1600" spc="-15"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statement</a:t>
            </a:r>
            <a:r>
              <a:rPr sz="1600" spc="-15" dirty="0">
                <a:solidFill>
                  <a:sysClr val="windowText" lastClr="000000"/>
                </a:solidFill>
                <a:latin typeface="Palatino Linotype"/>
                <a:cs typeface="Palatino Linotype"/>
              </a:rPr>
              <a:t> </a:t>
            </a:r>
            <a:r>
              <a:rPr sz="1600" dirty="0">
                <a:solidFill>
                  <a:sysClr val="windowText" lastClr="000000"/>
                </a:solidFill>
                <a:latin typeface="Cambria Math"/>
                <a:cs typeface="Cambria Math"/>
              </a:rPr>
              <a:t>𝑗</a:t>
            </a:r>
            <a:r>
              <a:rPr sz="1600" spc="60" dirty="0">
                <a:solidFill>
                  <a:sysClr val="windowText" lastClr="000000"/>
                </a:solidFill>
                <a:latin typeface="Cambria Math"/>
                <a:cs typeface="Cambria Math"/>
              </a:rPr>
              <a:t> </a:t>
            </a:r>
            <a:r>
              <a:rPr sz="1600" dirty="0">
                <a:solidFill>
                  <a:sysClr val="windowText" lastClr="000000"/>
                </a:solidFill>
                <a:latin typeface="Palatino Linotype"/>
                <a:cs typeface="Palatino Linotype"/>
              </a:rPr>
              <a:t>has</a:t>
            </a:r>
            <a:r>
              <a:rPr sz="1600" spc="-20" dirty="0">
                <a:solidFill>
                  <a:sysClr val="windowText" lastClr="000000"/>
                </a:solidFill>
                <a:latin typeface="Palatino Linotype"/>
                <a:cs typeface="Palatino Linotype"/>
              </a:rPr>
              <a:t> </a:t>
            </a:r>
            <a:r>
              <a:rPr sz="1600" dirty="0">
                <a:solidFill>
                  <a:sysClr val="windowText" lastClr="000000"/>
                </a:solidFill>
                <a:latin typeface="Cambria Math"/>
                <a:cs typeface="Cambria Math"/>
              </a:rPr>
              <a:t>𝑥</a:t>
            </a:r>
            <a:r>
              <a:rPr sz="1600" spc="70" dirty="0">
                <a:solidFill>
                  <a:sysClr val="windowText" lastClr="000000"/>
                </a:solidFill>
                <a:latin typeface="Cambria Math"/>
                <a:cs typeface="Cambria Math"/>
              </a:rPr>
              <a:t> </a:t>
            </a:r>
            <a:r>
              <a:rPr sz="1600" dirty="0">
                <a:solidFill>
                  <a:sysClr val="windowText" lastClr="000000"/>
                </a:solidFill>
                <a:latin typeface="Palatino Linotype"/>
                <a:cs typeface="Palatino Linotype"/>
              </a:rPr>
              <a:t>as</a:t>
            </a:r>
            <a:r>
              <a:rPr sz="1600" spc="-15"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an</a:t>
            </a:r>
            <a:r>
              <a:rPr sz="1600" spc="-10" dirty="0">
                <a:solidFill>
                  <a:sysClr val="windowText" lastClr="000000"/>
                </a:solidFill>
                <a:latin typeface="Palatino Linotype"/>
                <a:cs typeface="Palatino Linotype"/>
              </a:rPr>
              <a:t> operand, </a:t>
            </a:r>
            <a:r>
              <a:rPr sz="1600" dirty="0">
                <a:solidFill>
                  <a:sysClr val="windowText" lastClr="000000"/>
                </a:solidFill>
                <a:latin typeface="Palatino Linotype"/>
                <a:cs typeface="Palatino Linotype"/>
              </a:rPr>
              <a:t>and</a:t>
            </a:r>
            <a:r>
              <a:rPr sz="1600" spc="-25"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control</a:t>
            </a:r>
            <a:r>
              <a:rPr sz="1600" spc="-25"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can</a:t>
            </a:r>
            <a:r>
              <a:rPr sz="1600" spc="-10"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flow</a:t>
            </a:r>
            <a:r>
              <a:rPr sz="1600" spc="-20"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from</a:t>
            </a:r>
            <a:r>
              <a:rPr sz="1600" spc="-15" dirty="0">
                <a:solidFill>
                  <a:sysClr val="windowText" lastClr="000000"/>
                </a:solidFill>
                <a:latin typeface="Palatino Linotype"/>
                <a:cs typeface="Palatino Linotype"/>
              </a:rPr>
              <a:t> </a:t>
            </a:r>
            <a:r>
              <a:rPr sz="1600" dirty="0">
                <a:solidFill>
                  <a:sysClr val="windowText" lastClr="000000"/>
                </a:solidFill>
                <a:latin typeface="Cambria Math"/>
                <a:cs typeface="Cambria Math"/>
              </a:rPr>
              <a:t>𝑖</a:t>
            </a:r>
            <a:r>
              <a:rPr sz="1600" spc="75" dirty="0">
                <a:solidFill>
                  <a:sysClr val="windowText" lastClr="000000"/>
                </a:solidFill>
                <a:latin typeface="Cambria Math"/>
                <a:cs typeface="Cambria Math"/>
              </a:rPr>
              <a:t> </a:t>
            </a:r>
            <a:r>
              <a:rPr sz="1600" dirty="0">
                <a:solidFill>
                  <a:sysClr val="windowText" lastClr="000000"/>
                </a:solidFill>
                <a:latin typeface="Palatino Linotype"/>
                <a:cs typeface="Palatino Linotype"/>
              </a:rPr>
              <a:t>to</a:t>
            </a:r>
            <a:r>
              <a:rPr sz="1600" spc="-15" dirty="0">
                <a:solidFill>
                  <a:sysClr val="windowText" lastClr="000000"/>
                </a:solidFill>
                <a:latin typeface="Palatino Linotype"/>
                <a:cs typeface="Palatino Linotype"/>
              </a:rPr>
              <a:t> </a:t>
            </a:r>
            <a:r>
              <a:rPr sz="1600" dirty="0">
                <a:solidFill>
                  <a:sysClr val="windowText" lastClr="000000"/>
                </a:solidFill>
                <a:latin typeface="Cambria Math"/>
                <a:cs typeface="Cambria Math"/>
              </a:rPr>
              <a:t>𝑗</a:t>
            </a:r>
            <a:r>
              <a:rPr sz="1600" spc="55" dirty="0">
                <a:solidFill>
                  <a:sysClr val="windowText" lastClr="000000"/>
                </a:solidFill>
                <a:latin typeface="Cambria Math"/>
                <a:cs typeface="Cambria Math"/>
              </a:rPr>
              <a:t> </a:t>
            </a:r>
            <a:r>
              <a:rPr sz="1600" dirty="0">
                <a:solidFill>
                  <a:sysClr val="windowText" lastClr="000000"/>
                </a:solidFill>
                <a:latin typeface="Palatino Linotype"/>
                <a:cs typeface="Palatino Linotype"/>
              </a:rPr>
              <a:t>along</a:t>
            </a:r>
            <a:r>
              <a:rPr sz="1600" spc="-25"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a</a:t>
            </a:r>
            <a:r>
              <a:rPr sz="1600" spc="-15"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path</a:t>
            </a:r>
            <a:r>
              <a:rPr sz="1600" spc="-15"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that</a:t>
            </a:r>
            <a:r>
              <a:rPr sz="1600" spc="-15"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has</a:t>
            </a:r>
            <a:r>
              <a:rPr sz="1600" spc="-25"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no</a:t>
            </a:r>
            <a:r>
              <a:rPr sz="1600" spc="-20" dirty="0">
                <a:solidFill>
                  <a:sysClr val="windowText" lastClr="000000"/>
                </a:solidFill>
                <a:latin typeface="Palatino Linotype"/>
                <a:cs typeface="Palatino Linotype"/>
              </a:rPr>
              <a:t> </a:t>
            </a:r>
            <a:r>
              <a:rPr sz="1600" spc="-10" dirty="0">
                <a:solidFill>
                  <a:sysClr val="windowText" lastClr="000000"/>
                </a:solidFill>
                <a:latin typeface="Palatino Linotype"/>
                <a:cs typeface="Palatino Linotype"/>
              </a:rPr>
              <a:t>intervening </a:t>
            </a:r>
            <a:r>
              <a:rPr sz="1600" dirty="0">
                <a:solidFill>
                  <a:sysClr val="windowText" lastClr="000000"/>
                </a:solidFill>
                <a:latin typeface="Palatino Linotype"/>
                <a:cs typeface="Palatino Linotype"/>
              </a:rPr>
              <a:t>assignments</a:t>
            </a:r>
            <a:r>
              <a:rPr sz="1600" spc="-25"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to</a:t>
            </a:r>
            <a:r>
              <a:rPr sz="1600" spc="-15" dirty="0">
                <a:solidFill>
                  <a:sysClr val="windowText" lastClr="000000"/>
                </a:solidFill>
                <a:latin typeface="Palatino Linotype"/>
                <a:cs typeface="Palatino Linotype"/>
              </a:rPr>
              <a:t> </a:t>
            </a:r>
            <a:r>
              <a:rPr sz="1600" dirty="0">
                <a:solidFill>
                  <a:sysClr val="windowText" lastClr="000000"/>
                </a:solidFill>
                <a:latin typeface="Cambria Math"/>
                <a:cs typeface="Cambria Math"/>
              </a:rPr>
              <a:t>𝑥</a:t>
            </a:r>
            <a:r>
              <a:rPr sz="1600" dirty="0">
                <a:solidFill>
                  <a:sysClr val="windowText" lastClr="000000"/>
                </a:solidFill>
                <a:latin typeface="Palatino Linotype"/>
                <a:cs typeface="Palatino Linotype"/>
              </a:rPr>
              <a:t>,</a:t>
            </a:r>
            <a:r>
              <a:rPr sz="1600" spc="-20"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then</a:t>
            </a:r>
            <a:r>
              <a:rPr sz="1600" spc="-10"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we</a:t>
            </a:r>
            <a:r>
              <a:rPr sz="1600" spc="-20"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say</a:t>
            </a:r>
            <a:r>
              <a:rPr sz="1600" spc="-25" dirty="0">
                <a:solidFill>
                  <a:sysClr val="windowText" lastClr="000000"/>
                </a:solidFill>
                <a:latin typeface="Palatino Linotype"/>
                <a:cs typeface="Palatino Linotype"/>
              </a:rPr>
              <a:t> </a:t>
            </a:r>
            <a:r>
              <a:rPr sz="1600" dirty="0">
                <a:solidFill>
                  <a:srgbClr val="0432FF"/>
                </a:solidFill>
                <a:latin typeface="Cambria Math"/>
                <a:cs typeface="Cambria Math"/>
              </a:rPr>
              <a:t>𝑗</a:t>
            </a:r>
            <a:r>
              <a:rPr sz="1600" spc="60" dirty="0">
                <a:solidFill>
                  <a:srgbClr val="0432FF"/>
                </a:solidFill>
                <a:latin typeface="Cambria Math"/>
                <a:cs typeface="Cambria Math"/>
              </a:rPr>
              <a:t> </a:t>
            </a:r>
            <a:r>
              <a:rPr sz="1600" dirty="0">
                <a:solidFill>
                  <a:srgbClr val="0432FF"/>
                </a:solidFill>
                <a:latin typeface="Palatino Linotype"/>
                <a:cs typeface="Palatino Linotype"/>
              </a:rPr>
              <a:t>uses</a:t>
            </a:r>
            <a:r>
              <a:rPr sz="1600" spc="-25" dirty="0">
                <a:solidFill>
                  <a:srgbClr val="0432FF"/>
                </a:solidFill>
                <a:latin typeface="Palatino Linotype"/>
                <a:cs typeface="Palatino Linotype"/>
              </a:rPr>
              <a:t> </a:t>
            </a:r>
            <a:r>
              <a:rPr sz="1600" dirty="0">
                <a:solidFill>
                  <a:srgbClr val="0432FF"/>
                </a:solidFill>
                <a:latin typeface="Palatino Linotype"/>
                <a:cs typeface="Palatino Linotype"/>
              </a:rPr>
              <a:t>the</a:t>
            </a:r>
            <a:r>
              <a:rPr sz="1600" spc="-20" dirty="0">
                <a:solidFill>
                  <a:srgbClr val="0432FF"/>
                </a:solidFill>
                <a:latin typeface="Palatino Linotype"/>
                <a:cs typeface="Palatino Linotype"/>
              </a:rPr>
              <a:t> </a:t>
            </a:r>
            <a:r>
              <a:rPr sz="1600" dirty="0">
                <a:solidFill>
                  <a:srgbClr val="0432FF"/>
                </a:solidFill>
                <a:latin typeface="Palatino Linotype"/>
                <a:cs typeface="Palatino Linotype"/>
              </a:rPr>
              <a:t>value</a:t>
            </a:r>
            <a:r>
              <a:rPr sz="1600" spc="-20" dirty="0">
                <a:solidFill>
                  <a:srgbClr val="0432FF"/>
                </a:solidFill>
                <a:latin typeface="Palatino Linotype"/>
                <a:cs typeface="Palatino Linotype"/>
              </a:rPr>
              <a:t> </a:t>
            </a:r>
            <a:r>
              <a:rPr sz="1600" dirty="0">
                <a:solidFill>
                  <a:srgbClr val="0432FF"/>
                </a:solidFill>
                <a:latin typeface="Palatino Linotype"/>
                <a:cs typeface="Palatino Linotype"/>
              </a:rPr>
              <a:t>of</a:t>
            </a:r>
            <a:r>
              <a:rPr sz="1600" spc="-20" dirty="0">
                <a:solidFill>
                  <a:srgbClr val="0432FF"/>
                </a:solidFill>
                <a:latin typeface="Palatino Linotype"/>
                <a:cs typeface="Palatino Linotype"/>
              </a:rPr>
              <a:t> </a:t>
            </a:r>
            <a:r>
              <a:rPr sz="1600" dirty="0">
                <a:solidFill>
                  <a:srgbClr val="0432FF"/>
                </a:solidFill>
                <a:latin typeface="Cambria Math"/>
                <a:cs typeface="Cambria Math"/>
              </a:rPr>
              <a:t>𝑥</a:t>
            </a:r>
            <a:r>
              <a:rPr sz="1600" spc="75" dirty="0">
                <a:solidFill>
                  <a:srgbClr val="0432FF"/>
                </a:solidFill>
                <a:latin typeface="Cambria Math"/>
                <a:cs typeface="Cambria Math"/>
              </a:rPr>
              <a:t> </a:t>
            </a:r>
            <a:r>
              <a:rPr sz="1600" dirty="0">
                <a:solidFill>
                  <a:srgbClr val="0432FF"/>
                </a:solidFill>
                <a:latin typeface="Palatino Linotype"/>
                <a:cs typeface="Palatino Linotype"/>
              </a:rPr>
              <a:t>computed</a:t>
            </a:r>
            <a:r>
              <a:rPr sz="1600" spc="-25" dirty="0">
                <a:solidFill>
                  <a:srgbClr val="0432FF"/>
                </a:solidFill>
                <a:latin typeface="Palatino Linotype"/>
                <a:cs typeface="Palatino Linotype"/>
              </a:rPr>
              <a:t> </a:t>
            </a:r>
            <a:r>
              <a:rPr sz="1600" dirty="0">
                <a:solidFill>
                  <a:srgbClr val="0432FF"/>
                </a:solidFill>
                <a:latin typeface="Palatino Linotype"/>
                <a:cs typeface="Palatino Linotype"/>
              </a:rPr>
              <a:t>at</a:t>
            </a:r>
            <a:r>
              <a:rPr sz="1600" spc="-15" dirty="0">
                <a:solidFill>
                  <a:srgbClr val="0432FF"/>
                </a:solidFill>
                <a:latin typeface="Palatino Linotype"/>
                <a:cs typeface="Palatino Linotype"/>
              </a:rPr>
              <a:t> </a:t>
            </a:r>
            <a:r>
              <a:rPr sz="1600" spc="-50" dirty="0">
                <a:solidFill>
                  <a:srgbClr val="0432FF"/>
                </a:solidFill>
                <a:latin typeface="Cambria Math"/>
                <a:cs typeface="Cambria Math"/>
              </a:rPr>
              <a:t>𝑖</a:t>
            </a:r>
            <a:endParaRPr sz="1600">
              <a:solidFill>
                <a:sysClr val="windowText" lastClr="000000"/>
              </a:solidFill>
              <a:latin typeface="Cambria Math"/>
              <a:cs typeface="Cambria Math"/>
            </a:endParaRPr>
          </a:p>
          <a:p>
            <a:pPr marL="697865" lvl="1" indent="-227965">
              <a:spcBef>
                <a:spcPts val="1585"/>
              </a:spcBef>
              <a:buFont typeface="Wingdings"/>
              <a:buChar char=""/>
              <a:tabLst>
                <a:tab pos="697865" algn="l"/>
              </a:tabLst>
            </a:pPr>
            <a:r>
              <a:rPr sz="1600" spc="-20" dirty="0">
                <a:solidFill>
                  <a:sysClr val="windowText" lastClr="000000"/>
                </a:solidFill>
                <a:latin typeface="Palatino Linotype"/>
                <a:cs typeface="Palatino Linotype"/>
              </a:rPr>
              <a:t>We</a:t>
            </a:r>
            <a:r>
              <a:rPr sz="1600" spc="-40"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further</a:t>
            </a:r>
            <a:r>
              <a:rPr sz="1600" spc="-20"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say</a:t>
            </a:r>
            <a:r>
              <a:rPr sz="1600" spc="-30"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that</a:t>
            </a:r>
            <a:r>
              <a:rPr sz="1600" spc="-20" dirty="0">
                <a:solidFill>
                  <a:sysClr val="windowText" lastClr="000000"/>
                </a:solidFill>
                <a:latin typeface="Palatino Linotype"/>
                <a:cs typeface="Palatino Linotype"/>
              </a:rPr>
              <a:t> </a:t>
            </a:r>
            <a:r>
              <a:rPr sz="1600" dirty="0">
                <a:solidFill>
                  <a:sysClr val="windowText" lastClr="000000"/>
                </a:solidFill>
                <a:latin typeface="Cambria Math"/>
                <a:cs typeface="Cambria Math"/>
              </a:rPr>
              <a:t>𝑥</a:t>
            </a:r>
            <a:r>
              <a:rPr sz="1600" spc="60" dirty="0">
                <a:solidFill>
                  <a:sysClr val="windowText" lastClr="000000"/>
                </a:solidFill>
                <a:latin typeface="Cambria Math"/>
                <a:cs typeface="Cambria Math"/>
              </a:rPr>
              <a:t> </a:t>
            </a:r>
            <a:r>
              <a:rPr sz="1600" dirty="0">
                <a:solidFill>
                  <a:sysClr val="windowText" lastClr="000000"/>
                </a:solidFill>
                <a:latin typeface="Palatino Linotype"/>
                <a:cs typeface="Palatino Linotype"/>
              </a:rPr>
              <a:t>is</a:t>
            </a:r>
            <a:r>
              <a:rPr sz="1600" spc="-25" dirty="0">
                <a:solidFill>
                  <a:sysClr val="windowText" lastClr="000000"/>
                </a:solidFill>
                <a:latin typeface="Palatino Linotype"/>
                <a:cs typeface="Palatino Linotype"/>
              </a:rPr>
              <a:t> </a:t>
            </a:r>
            <a:r>
              <a:rPr sz="1600" i="1" dirty="0">
                <a:solidFill>
                  <a:srgbClr val="FF0000"/>
                </a:solidFill>
                <a:latin typeface="Palatino Linotype"/>
                <a:cs typeface="Palatino Linotype"/>
              </a:rPr>
              <a:t>live</a:t>
            </a:r>
            <a:r>
              <a:rPr sz="1600" i="1" spc="-25" dirty="0">
                <a:solidFill>
                  <a:srgbClr val="FF0000"/>
                </a:solidFill>
                <a:latin typeface="Palatino Linotype"/>
                <a:cs typeface="Palatino Linotype"/>
              </a:rPr>
              <a:t> </a:t>
            </a:r>
            <a:r>
              <a:rPr sz="1600" spc="-10" dirty="0">
                <a:solidFill>
                  <a:sysClr val="windowText" lastClr="000000"/>
                </a:solidFill>
                <a:latin typeface="Palatino Linotype"/>
                <a:cs typeface="Palatino Linotype"/>
              </a:rPr>
              <a:t>(</a:t>
            </a:r>
            <a:r>
              <a:rPr sz="1600" dirty="0">
                <a:solidFill>
                  <a:srgbClr val="FF0000"/>
                </a:solidFill>
                <a:latin typeface="SimSun"/>
                <a:cs typeface="SimSun"/>
              </a:rPr>
              <a:t>活跃</a:t>
            </a:r>
            <a:r>
              <a:rPr sz="1600" spc="-15"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at</a:t>
            </a:r>
            <a:r>
              <a:rPr sz="1600" spc="-25"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statement</a:t>
            </a:r>
            <a:r>
              <a:rPr sz="1600" spc="-20" dirty="0">
                <a:solidFill>
                  <a:sysClr val="windowText" lastClr="000000"/>
                </a:solidFill>
                <a:latin typeface="Palatino Linotype"/>
                <a:cs typeface="Palatino Linotype"/>
              </a:rPr>
              <a:t> </a:t>
            </a:r>
            <a:r>
              <a:rPr sz="1600" spc="-50" dirty="0">
                <a:solidFill>
                  <a:sysClr val="windowText" lastClr="000000"/>
                </a:solidFill>
                <a:latin typeface="Cambria Math"/>
                <a:cs typeface="Cambria Math"/>
              </a:rPr>
              <a:t>𝑖</a:t>
            </a:r>
            <a:endParaRPr sz="1600">
              <a:solidFill>
                <a:sysClr val="windowText" lastClr="000000"/>
              </a:solidFill>
              <a:latin typeface="Cambria Math"/>
              <a:cs typeface="Cambria Math"/>
            </a:endParaRPr>
          </a:p>
          <a:p>
            <a:pPr marL="1153795" lvl="2" indent="-227329">
              <a:spcBef>
                <a:spcPts val="990"/>
              </a:spcBef>
              <a:buClr>
                <a:srgbClr val="000000"/>
              </a:buClr>
              <a:buFont typeface="Courier New"/>
              <a:buChar char="o"/>
              <a:tabLst>
                <a:tab pos="1153795" algn="l"/>
              </a:tabLst>
            </a:pPr>
            <a:r>
              <a:rPr sz="1400" i="1" dirty="0">
                <a:solidFill>
                  <a:srgbClr val="FF0000"/>
                </a:solidFill>
                <a:latin typeface="Palatino Linotype"/>
                <a:cs typeface="Palatino Linotype"/>
              </a:rPr>
              <a:t>Not</a:t>
            </a:r>
            <a:r>
              <a:rPr sz="1400" i="1" spc="-35" dirty="0">
                <a:solidFill>
                  <a:srgbClr val="FF0000"/>
                </a:solidFill>
                <a:latin typeface="Palatino Linotype"/>
                <a:cs typeface="Palatino Linotype"/>
              </a:rPr>
              <a:t> </a:t>
            </a:r>
            <a:r>
              <a:rPr sz="1400" i="1" dirty="0">
                <a:solidFill>
                  <a:srgbClr val="FF0000"/>
                </a:solidFill>
                <a:latin typeface="Palatino Linotype"/>
                <a:cs typeface="Palatino Linotype"/>
              </a:rPr>
              <a:t>live</a:t>
            </a:r>
            <a:r>
              <a:rPr sz="1400" dirty="0">
                <a:solidFill>
                  <a:sysClr val="windowText" lastClr="000000"/>
                </a:solidFill>
                <a:latin typeface="Palatino Linotype"/>
                <a:cs typeface="Palatino Linotype"/>
              </a:rPr>
              <a:t>:</a:t>
            </a:r>
            <a:r>
              <a:rPr sz="1400" spc="-25" dirty="0">
                <a:solidFill>
                  <a:sysClr val="windowText" lastClr="000000"/>
                </a:solidFill>
                <a:latin typeface="Palatino Linotype"/>
                <a:cs typeface="Palatino Linotype"/>
              </a:rPr>
              <a:t> </a:t>
            </a:r>
            <a:r>
              <a:rPr sz="1400" dirty="0">
                <a:solidFill>
                  <a:sysClr val="windowText" lastClr="000000"/>
                </a:solidFill>
                <a:latin typeface="Palatino Linotype"/>
                <a:cs typeface="Palatino Linotype"/>
              </a:rPr>
              <a:t>the</a:t>
            </a:r>
            <a:r>
              <a:rPr sz="1400" spc="-30" dirty="0">
                <a:solidFill>
                  <a:sysClr val="windowText" lastClr="000000"/>
                </a:solidFill>
                <a:latin typeface="Palatino Linotype"/>
                <a:cs typeface="Palatino Linotype"/>
              </a:rPr>
              <a:t> </a:t>
            </a:r>
            <a:r>
              <a:rPr sz="1400" dirty="0">
                <a:solidFill>
                  <a:srgbClr val="0432FF"/>
                </a:solidFill>
                <a:latin typeface="Palatino Linotype"/>
                <a:cs typeface="Palatino Linotype"/>
              </a:rPr>
              <a:t>value</a:t>
            </a:r>
            <a:r>
              <a:rPr sz="1400" spc="-25" dirty="0">
                <a:solidFill>
                  <a:srgbClr val="0432FF"/>
                </a:solidFill>
                <a:latin typeface="Palatino Linotype"/>
                <a:cs typeface="Palatino Linotype"/>
              </a:rPr>
              <a:t> </a:t>
            </a:r>
            <a:r>
              <a:rPr sz="1400" dirty="0">
                <a:solidFill>
                  <a:sysClr val="windowText" lastClr="000000"/>
                </a:solidFill>
                <a:latin typeface="Palatino Linotype"/>
                <a:cs typeface="Palatino Linotype"/>
              </a:rPr>
              <a:t>computed</a:t>
            </a:r>
            <a:r>
              <a:rPr sz="1400" spc="-40" dirty="0">
                <a:solidFill>
                  <a:sysClr val="windowText" lastClr="000000"/>
                </a:solidFill>
                <a:latin typeface="Palatino Linotype"/>
                <a:cs typeface="Palatino Linotype"/>
              </a:rPr>
              <a:t> </a:t>
            </a:r>
            <a:r>
              <a:rPr sz="1400" dirty="0">
                <a:solidFill>
                  <a:sysClr val="windowText" lastClr="000000"/>
                </a:solidFill>
                <a:latin typeface="Palatino Linotype"/>
                <a:cs typeface="Palatino Linotype"/>
              </a:rPr>
              <a:t>will</a:t>
            </a:r>
            <a:r>
              <a:rPr sz="1400" spc="-20" dirty="0">
                <a:solidFill>
                  <a:sysClr val="windowText" lastClr="000000"/>
                </a:solidFill>
                <a:latin typeface="Palatino Linotype"/>
                <a:cs typeface="Palatino Linotype"/>
              </a:rPr>
              <a:t> </a:t>
            </a:r>
            <a:r>
              <a:rPr sz="1400" dirty="0">
                <a:solidFill>
                  <a:sysClr val="windowText" lastClr="000000"/>
                </a:solidFill>
                <a:latin typeface="Palatino Linotype"/>
                <a:cs typeface="Palatino Linotype"/>
              </a:rPr>
              <a:t>not</a:t>
            </a:r>
            <a:r>
              <a:rPr sz="1400" spc="-25" dirty="0">
                <a:solidFill>
                  <a:sysClr val="windowText" lastClr="000000"/>
                </a:solidFill>
                <a:latin typeface="Palatino Linotype"/>
                <a:cs typeface="Palatino Linotype"/>
              </a:rPr>
              <a:t> </a:t>
            </a:r>
            <a:r>
              <a:rPr sz="1400" dirty="0">
                <a:solidFill>
                  <a:sysClr val="windowText" lastClr="000000"/>
                </a:solidFill>
                <a:latin typeface="Palatino Linotype"/>
                <a:cs typeface="Palatino Linotype"/>
              </a:rPr>
              <a:t>be</a:t>
            </a:r>
            <a:r>
              <a:rPr sz="1400" spc="-25" dirty="0">
                <a:solidFill>
                  <a:sysClr val="windowText" lastClr="000000"/>
                </a:solidFill>
                <a:latin typeface="Palatino Linotype"/>
                <a:cs typeface="Palatino Linotype"/>
              </a:rPr>
              <a:t> </a:t>
            </a:r>
            <a:r>
              <a:rPr sz="1400" dirty="0">
                <a:solidFill>
                  <a:sysClr val="windowText" lastClr="000000"/>
                </a:solidFill>
                <a:latin typeface="Palatino Linotype"/>
                <a:cs typeface="Palatino Linotype"/>
              </a:rPr>
              <a:t>used,</a:t>
            </a:r>
            <a:r>
              <a:rPr sz="1400" spc="-25" dirty="0">
                <a:solidFill>
                  <a:sysClr val="windowText" lastClr="000000"/>
                </a:solidFill>
                <a:latin typeface="Palatino Linotype"/>
                <a:cs typeface="Palatino Linotype"/>
              </a:rPr>
              <a:t> </a:t>
            </a:r>
            <a:r>
              <a:rPr sz="1400" dirty="0">
                <a:solidFill>
                  <a:sysClr val="windowText" lastClr="000000"/>
                </a:solidFill>
                <a:latin typeface="Palatino Linotype"/>
                <a:cs typeface="Palatino Linotype"/>
              </a:rPr>
              <a:t>not</a:t>
            </a:r>
            <a:r>
              <a:rPr sz="1400" spc="-25" dirty="0">
                <a:solidFill>
                  <a:sysClr val="windowText" lastClr="000000"/>
                </a:solidFill>
                <a:latin typeface="Palatino Linotype"/>
                <a:cs typeface="Palatino Linotype"/>
              </a:rPr>
              <a:t> </a:t>
            </a:r>
            <a:r>
              <a:rPr sz="1400" dirty="0">
                <a:solidFill>
                  <a:sysClr val="windowText" lastClr="000000"/>
                </a:solidFill>
                <a:latin typeface="Palatino Linotype"/>
                <a:cs typeface="Palatino Linotype"/>
              </a:rPr>
              <a:t>the</a:t>
            </a:r>
            <a:r>
              <a:rPr sz="1400" spc="-25" dirty="0">
                <a:solidFill>
                  <a:sysClr val="windowText" lastClr="000000"/>
                </a:solidFill>
                <a:latin typeface="Palatino Linotype"/>
                <a:cs typeface="Palatino Linotype"/>
              </a:rPr>
              <a:t> </a:t>
            </a:r>
            <a:r>
              <a:rPr sz="1400" dirty="0">
                <a:solidFill>
                  <a:sysClr val="windowText" lastClr="000000"/>
                </a:solidFill>
                <a:latin typeface="Palatino Linotype"/>
                <a:cs typeface="Palatino Linotype"/>
              </a:rPr>
              <a:t>variable</a:t>
            </a:r>
            <a:r>
              <a:rPr sz="1400" spc="-30" dirty="0">
                <a:solidFill>
                  <a:sysClr val="windowText" lastClr="000000"/>
                </a:solidFill>
                <a:latin typeface="Palatino Linotype"/>
                <a:cs typeface="Palatino Linotype"/>
              </a:rPr>
              <a:t> </a:t>
            </a:r>
            <a:r>
              <a:rPr sz="1400" dirty="0">
                <a:solidFill>
                  <a:sysClr val="windowText" lastClr="000000"/>
                </a:solidFill>
                <a:latin typeface="Palatino Linotype"/>
                <a:cs typeface="Palatino Linotype"/>
              </a:rPr>
              <a:t>will</a:t>
            </a:r>
            <a:r>
              <a:rPr sz="1400" spc="-20" dirty="0">
                <a:solidFill>
                  <a:sysClr val="windowText" lastClr="000000"/>
                </a:solidFill>
                <a:latin typeface="Palatino Linotype"/>
                <a:cs typeface="Palatino Linotype"/>
              </a:rPr>
              <a:t> </a:t>
            </a:r>
            <a:r>
              <a:rPr sz="1400" dirty="0">
                <a:solidFill>
                  <a:sysClr val="windowText" lastClr="000000"/>
                </a:solidFill>
                <a:latin typeface="Palatino Linotype"/>
                <a:cs typeface="Palatino Linotype"/>
              </a:rPr>
              <a:t>not</a:t>
            </a:r>
            <a:r>
              <a:rPr sz="1400" spc="-25" dirty="0">
                <a:solidFill>
                  <a:sysClr val="windowText" lastClr="000000"/>
                </a:solidFill>
                <a:latin typeface="Palatino Linotype"/>
                <a:cs typeface="Palatino Linotype"/>
              </a:rPr>
              <a:t> </a:t>
            </a:r>
            <a:r>
              <a:rPr sz="1400" dirty="0">
                <a:solidFill>
                  <a:sysClr val="windowText" lastClr="000000"/>
                </a:solidFill>
                <a:latin typeface="Palatino Linotype"/>
                <a:cs typeface="Palatino Linotype"/>
              </a:rPr>
              <a:t>be</a:t>
            </a:r>
            <a:r>
              <a:rPr sz="1400" spc="-25" dirty="0">
                <a:solidFill>
                  <a:sysClr val="windowText" lastClr="000000"/>
                </a:solidFill>
                <a:latin typeface="Palatino Linotype"/>
                <a:cs typeface="Palatino Linotype"/>
              </a:rPr>
              <a:t> </a:t>
            </a:r>
            <a:r>
              <a:rPr sz="1400" spc="-20" dirty="0">
                <a:solidFill>
                  <a:sysClr val="windowText" lastClr="000000"/>
                </a:solidFill>
                <a:latin typeface="Palatino Linotype"/>
                <a:cs typeface="Palatino Linotype"/>
              </a:rPr>
              <a:t>used</a:t>
            </a:r>
            <a:endParaRPr sz="1400">
              <a:solidFill>
                <a:sysClr val="windowText" lastClr="000000"/>
              </a:solidFill>
              <a:latin typeface="Palatino Linotype"/>
              <a:cs typeface="Palatino Linotype"/>
            </a:endParaRPr>
          </a:p>
          <a:p>
            <a:pPr marL="0" lvl="2">
              <a:spcBef>
                <a:spcPts val="919"/>
              </a:spcBef>
              <a:buFont typeface="Courier New"/>
              <a:buChar char="o"/>
            </a:pPr>
            <a:endParaRPr sz="1400">
              <a:solidFill>
                <a:sysClr val="windowText" lastClr="000000"/>
              </a:solidFill>
              <a:latin typeface="Palatino Linotype"/>
              <a:cs typeface="Palatino Linotype"/>
            </a:endParaRPr>
          </a:p>
          <a:p>
            <a:pPr marL="242570" indent="-229870">
              <a:buClr>
                <a:srgbClr val="000000"/>
              </a:buClr>
              <a:buFont typeface="Arial MT"/>
              <a:buChar char="•"/>
              <a:tabLst>
                <a:tab pos="242570" algn="l"/>
              </a:tabLst>
            </a:pPr>
            <a:r>
              <a:rPr sz="2000" dirty="0">
                <a:solidFill>
                  <a:srgbClr val="FF0000"/>
                </a:solidFill>
                <a:latin typeface="Palatino Linotype"/>
                <a:cs typeface="Palatino Linotype"/>
              </a:rPr>
              <a:t>Code</a:t>
            </a:r>
            <a:r>
              <a:rPr sz="2000" spc="-30" dirty="0">
                <a:solidFill>
                  <a:srgbClr val="FF0000"/>
                </a:solidFill>
                <a:latin typeface="Palatino Linotype"/>
                <a:cs typeface="Palatino Linotype"/>
              </a:rPr>
              <a:t> </a:t>
            </a:r>
            <a:r>
              <a:rPr sz="2000" dirty="0">
                <a:solidFill>
                  <a:srgbClr val="FF0000"/>
                </a:solidFill>
                <a:latin typeface="Palatino Linotype"/>
                <a:cs typeface="Palatino Linotype"/>
              </a:rPr>
              <a:t>generation</a:t>
            </a:r>
            <a:r>
              <a:rPr sz="2000" spc="-35" dirty="0">
                <a:solidFill>
                  <a:srgbClr val="FF0000"/>
                </a:solidFill>
                <a:latin typeface="Palatino Linotype"/>
                <a:cs typeface="Palatino Linotype"/>
              </a:rPr>
              <a:t> </a:t>
            </a:r>
            <a:r>
              <a:rPr sz="2000" dirty="0">
                <a:solidFill>
                  <a:srgbClr val="FF0000"/>
                </a:solidFill>
                <a:latin typeface="Palatino Linotype"/>
                <a:cs typeface="Palatino Linotype"/>
              </a:rPr>
              <a:t>can</a:t>
            </a:r>
            <a:r>
              <a:rPr sz="2000" spc="-35" dirty="0">
                <a:solidFill>
                  <a:srgbClr val="FF0000"/>
                </a:solidFill>
                <a:latin typeface="Palatino Linotype"/>
                <a:cs typeface="Palatino Linotype"/>
              </a:rPr>
              <a:t> </a:t>
            </a:r>
            <a:r>
              <a:rPr sz="2000" dirty="0">
                <a:solidFill>
                  <a:srgbClr val="FF0000"/>
                </a:solidFill>
                <a:latin typeface="Palatino Linotype"/>
                <a:cs typeface="Palatino Linotype"/>
              </a:rPr>
              <a:t>benefit</a:t>
            </a:r>
            <a:r>
              <a:rPr sz="2000" spc="-35" dirty="0">
                <a:solidFill>
                  <a:srgbClr val="FF0000"/>
                </a:solidFill>
                <a:latin typeface="Palatino Linotype"/>
                <a:cs typeface="Palatino Linotype"/>
              </a:rPr>
              <a:t> </a:t>
            </a:r>
            <a:r>
              <a:rPr sz="2000" dirty="0">
                <a:solidFill>
                  <a:srgbClr val="FF0000"/>
                </a:solidFill>
                <a:latin typeface="Palatino Linotype"/>
                <a:cs typeface="Palatino Linotype"/>
              </a:rPr>
              <a:t>from</a:t>
            </a:r>
            <a:r>
              <a:rPr sz="2000" spc="-35" dirty="0">
                <a:solidFill>
                  <a:srgbClr val="FF0000"/>
                </a:solidFill>
                <a:latin typeface="Palatino Linotype"/>
                <a:cs typeface="Palatino Linotype"/>
              </a:rPr>
              <a:t> </a:t>
            </a:r>
            <a:r>
              <a:rPr sz="2000" dirty="0">
                <a:solidFill>
                  <a:srgbClr val="FF0000"/>
                </a:solidFill>
                <a:latin typeface="Palatino Linotype"/>
                <a:cs typeface="Palatino Linotype"/>
              </a:rPr>
              <a:t>such</a:t>
            </a:r>
            <a:r>
              <a:rPr sz="2000" spc="-35" dirty="0">
                <a:solidFill>
                  <a:srgbClr val="FF0000"/>
                </a:solidFill>
                <a:latin typeface="Palatino Linotype"/>
                <a:cs typeface="Palatino Linotype"/>
              </a:rPr>
              <a:t> </a:t>
            </a:r>
            <a:r>
              <a:rPr sz="2000" spc="-10" dirty="0">
                <a:solidFill>
                  <a:srgbClr val="FF0000"/>
                </a:solidFill>
                <a:latin typeface="Palatino Linotype"/>
                <a:cs typeface="Palatino Linotype"/>
              </a:rPr>
              <a:t>information</a:t>
            </a:r>
            <a:endParaRPr sz="2000">
              <a:solidFill>
                <a:sysClr val="windowText" lastClr="000000"/>
              </a:solidFill>
              <a:latin typeface="Palatino Linotype"/>
              <a:cs typeface="Palatino Linotype"/>
            </a:endParaRPr>
          </a:p>
          <a:p>
            <a:pPr marL="698500" marR="5080" lvl="1" indent="-228600">
              <a:lnSpc>
                <a:spcPct val="120000"/>
              </a:lnSpc>
              <a:spcBef>
                <a:spcPts val="615"/>
              </a:spcBef>
              <a:buFont typeface="Wingdings"/>
              <a:buChar char=""/>
              <a:tabLst>
                <a:tab pos="698500" algn="l"/>
              </a:tabLst>
            </a:pPr>
            <a:r>
              <a:rPr sz="1600" dirty="0">
                <a:solidFill>
                  <a:sysClr val="windowText" lastClr="000000"/>
                </a:solidFill>
                <a:latin typeface="Palatino Linotype"/>
                <a:cs typeface="Palatino Linotype"/>
              </a:rPr>
              <a:t>If</a:t>
            </a:r>
            <a:r>
              <a:rPr sz="1600" spc="-30"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the</a:t>
            </a:r>
            <a:r>
              <a:rPr sz="1600" spc="-30"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value</a:t>
            </a:r>
            <a:r>
              <a:rPr sz="1600" spc="-30"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of</a:t>
            </a:r>
            <a:r>
              <a:rPr sz="1600" spc="-25"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a</a:t>
            </a:r>
            <a:r>
              <a:rPr sz="1600" spc="-30"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variable</a:t>
            </a:r>
            <a:r>
              <a:rPr sz="1600" spc="-30"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that</a:t>
            </a:r>
            <a:r>
              <a:rPr sz="1600" spc="-25"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is</a:t>
            </a:r>
            <a:r>
              <a:rPr sz="1600" spc="-30"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currently</a:t>
            </a:r>
            <a:r>
              <a:rPr sz="1600" spc="-30"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in</a:t>
            </a:r>
            <a:r>
              <a:rPr sz="1600" spc="-25"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a</a:t>
            </a:r>
            <a:r>
              <a:rPr sz="1600" spc="-25"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register</a:t>
            </a:r>
            <a:r>
              <a:rPr sz="1600" spc="-20"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will</a:t>
            </a:r>
            <a:r>
              <a:rPr sz="1600" spc="-35"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never</a:t>
            </a:r>
            <a:r>
              <a:rPr sz="1600" spc="-20"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be</a:t>
            </a:r>
            <a:r>
              <a:rPr sz="1600" spc="-30" dirty="0">
                <a:solidFill>
                  <a:sysClr val="windowText" lastClr="000000"/>
                </a:solidFill>
                <a:latin typeface="Palatino Linotype"/>
                <a:cs typeface="Palatino Linotype"/>
              </a:rPr>
              <a:t> </a:t>
            </a:r>
            <a:r>
              <a:rPr sz="1600" spc="-10" dirty="0">
                <a:solidFill>
                  <a:sysClr val="windowText" lastClr="000000"/>
                </a:solidFill>
                <a:latin typeface="Palatino Linotype"/>
                <a:cs typeface="Palatino Linotype"/>
              </a:rPr>
              <a:t>referenced </a:t>
            </a:r>
            <a:r>
              <a:rPr sz="1600" spc="-20" dirty="0">
                <a:solidFill>
                  <a:sysClr val="windowText" lastClr="000000"/>
                </a:solidFill>
                <a:latin typeface="Palatino Linotype"/>
                <a:cs typeface="Palatino Linotype"/>
              </a:rPr>
              <a:t>subsequently,</a:t>
            </a:r>
            <a:r>
              <a:rPr sz="1600" spc="-25"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we</a:t>
            </a:r>
            <a:r>
              <a:rPr sz="1600" spc="-30"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can</a:t>
            </a:r>
            <a:r>
              <a:rPr sz="1600" spc="-20"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assign</a:t>
            </a:r>
            <a:r>
              <a:rPr sz="1600" spc="-15"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the</a:t>
            </a:r>
            <a:r>
              <a:rPr sz="1600" spc="-30"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register</a:t>
            </a:r>
            <a:r>
              <a:rPr sz="1600" spc="-20"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to</a:t>
            </a:r>
            <a:r>
              <a:rPr sz="1600" spc="-20"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another</a:t>
            </a:r>
            <a:r>
              <a:rPr sz="1600" spc="-20" dirty="0">
                <a:solidFill>
                  <a:sysClr val="windowText" lastClr="000000"/>
                </a:solidFill>
                <a:latin typeface="Palatino Linotype"/>
                <a:cs typeface="Palatino Linotype"/>
              </a:rPr>
              <a:t> </a:t>
            </a:r>
            <a:r>
              <a:rPr sz="1600" spc="-10" dirty="0">
                <a:solidFill>
                  <a:sysClr val="windowText" lastClr="000000"/>
                </a:solidFill>
                <a:latin typeface="Palatino Linotype"/>
                <a:cs typeface="Palatino Linotype"/>
              </a:rPr>
              <a:t>variable</a:t>
            </a:r>
            <a:endParaRPr sz="1600">
              <a:solidFill>
                <a:sysClr val="windowText" lastClr="000000"/>
              </a:solidFill>
              <a:latin typeface="Palatino Linotype"/>
              <a:cs typeface="Palatino Linotype"/>
            </a:endParaRPr>
          </a:p>
        </p:txBody>
      </p:sp>
    </p:spTree>
    <p:extLst>
      <p:ext uri="{BB962C8B-B14F-4D97-AF65-F5344CB8AC3E}">
        <p14:creationId xmlns:p14="http://schemas.microsoft.com/office/powerpoint/2010/main" val="394254164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28</a:t>
            </a:fld>
            <a:endParaRPr lang="en-US"/>
          </a:p>
        </p:txBody>
      </p:sp>
      <p:sp>
        <p:nvSpPr>
          <p:cNvPr id="7" name="object 2">
            <a:extLst>
              <a:ext uri="{FF2B5EF4-FFF2-40B4-BE49-F238E27FC236}">
                <a16:creationId xmlns:a16="http://schemas.microsoft.com/office/drawing/2014/main" id="{68CEB914-130C-05A8-20E9-7725082FBF3D}"/>
              </a:ext>
            </a:extLst>
          </p:cNvPr>
          <p:cNvSpPr txBox="1">
            <a:spLocks/>
          </p:cNvSpPr>
          <p:nvPr/>
        </p:nvSpPr>
        <p:spPr>
          <a:xfrm>
            <a:off x="998537" y="301244"/>
            <a:ext cx="7146925" cy="1120140"/>
          </a:xfrm>
          <a:prstGeom prst="rect">
            <a:avLst/>
          </a:prstGeom>
        </p:spPr>
        <p:txBody>
          <a:bodyPr vert="horz" wrap="square" lIns="0" tIns="27305" rIns="0" bIns="0" rtlCol="0">
            <a:spAutoFit/>
          </a:bodyPr>
          <a:lstStyle>
            <a:lvl1pPr>
              <a:defRPr sz="4000" b="1" i="0">
                <a:solidFill>
                  <a:schemeClr val="tx1"/>
                </a:solidFill>
                <a:latin typeface="Palatino Linotype"/>
                <a:ea typeface="+mj-ea"/>
                <a:cs typeface="Palatino Linotype"/>
              </a:defRPr>
            </a:lvl1pPr>
          </a:lstStyle>
          <a:p>
            <a:pPr marL="278130" marR="5080" lvl="0" indent="-266065" defTabSz="914400" eaLnBrk="1" fontAlgn="auto" latinLnBrk="0" hangingPunct="1">
              <a:lnSpc>
                <a:spcPts val="4300"/>
              </a:lnSpc>
              <a:spcBef>
                <a:spcPts val="215"/>
              </a:spcBef>
              <a:spcAft>
                <a:spcPts val="0"/>
              </a:spcAft>
              <a:buClrTx/>
              <a:buSzTx/>
              <a:buFontTx/>
              <a:buNone/>
              <a:tabLst/>
              <a:defRPr/>
            </a:pPr>
            <a:r>
              <a:rPr kumimoji="0" lang="en-US" sz="3600" b="1" i="0" u="none" strike="noStrike" kern="0" cap="none" spc="0" normalizeH="0" baseline="0" noProof="0">
                <a:ln>
                  <a:noFill/>
                </a:ln>
                <a:solidFill>
                  <a:sysClr val="windowText" lastClr="000000"/>
                </a:solidFill>
                <a:effectLst/>
                <a:uLnTx/>
                <a:uFillTx/>
                <a:latin typeface="Palatino Linotype"/>
                <a:ea typeface="+mj-ea"/>
              </a:rPr>
              <a:t>Determine</a:t>
            </a:r>
            <a:r>
              <a:rPr kumimoji="0" lang="en-US" sz="3600" b="1" i="0" u="none" strike="noStrike" kern="0" cap="none" spc="-80" normalizeH="0" baseline="0" noProof="0">
                <a:ln>
                  <a:noFill/>
                </a:ln>
                <a:solidFill>
                  <a:sysClr val="windowText" lastClr="000000"/>
                </a:solidFill>
                <a:effectLst/>
                <a:uLnTx/>
                <a:uFillTx/>
                <a:latin typeface="Palatino Linotype"/>
                <a:ea typeface="+mj-ea"/>
              </a:rPr>
              <a:t> </a:t>
            </a:r>
            <a:r>
              <a:rPr kumimoji="0" lang="en-US" sz="3600" b="1" i="0" u="none" strike="noStrike" kern="0" cap="none" spc="0" normalizeH="0" baseline="0" noProof="0">
                <a:ln>
                  <a:noFill/>
                </a:ln>
                <a:solidFill>
                  <a:sysClr val="windowText" lastClr="000000"/>
                </a:solidFill>
                <a:effectLst/>
                <a:uLnTx/>
                <a:uFillTx/>
                <a:latin typeface="Palatino Linotype"/>
                <a:ea typeface="+mj-ea"/>
              </a:rPr>
              <a:t>Liveness</a:t>
            </a:r>
            <a:r>
              <a:rPr kumimoji="0" lang="en-US" sz="3600" b="1" i="0" u="none" strike="noStrike" kern="0" cap="none" spc="-80" normalizeH="0" baseline="0" noProof="0">
                <a:ln>
                  <a:noFill/>
                </a:ln>
                <a:solidFill>
                  <a:sysClr val="windowText" lastClr="000000"/>
                </a:solidFill>
                <a:effectLst/>
                <a:uLnTx/>
                <a:uFillTx/>
                <a:latin typeface="Palatino Linotype"/>
                <a:ea typeface="+mj-ea"/>
              </a:rPr>
              <a:t> </a:t>
            </a:r>
            <a:r>
              <a:rPr kumimoji="0" lang="en-US" sz="3600" b="1" i="0" u="none" strike="noStrike" kern="0" cap="none" spc="0" normalizeH="0" baseline="0" noProof="0">
                <a:ln>
                  <a:noFill/>
                </a:ln>
                <a:solidFill>
                  <a:sysClr val="windowText" lastClr="000000"/>
                </a:solidFill>
                <a:effectLst/>
                <a:uLnTx/>
                <a:uFillTx/>
                <a:latin typeface="Palatino Linotype"/>
                <a:ea typeface="+mj-ea"/>
              </a:rPr>
              <a:t>and</a:t>
            </a:r>
            <a:r>
              <a:rPr kumimoji="0" lang="en-US" sz="3600" b="1" i="0" u="none" strike="noStrike" kern="0" cap="none" spc="-75" normalizeH="0" baseline="0" noProof="0">
                <a:ln>
                  <a:noFill/>
                </a:ln>
                <a:solidFill>
                  <a:sysClr val="windowText" lastClr="000000"/>
                </a:solidFill>
                <a:effectLst/>
                <a:uLnTx/>
                <a:uFillTx/>
                <a:latin typeface="Palatino Linotype"/>
                <a:ea typeface="+mj-ea"/>
              </a:rPr>
              <a:t> </a:t>
            </a:r>
            <a:r>
              <a:rPr kumimoji="0" lang="en-US" sz="3600" b="1" i="0" u="none" strike="noStrike" kern="0" cap="none" spc="-25" normalizeH="0" baseline="0" noProof="0">
                <a:ln>
                  <a:noFill/>
                </a:ln>
                <a:solidFill>
                  <a:sysClr val="windowText" lastClr="000000"/>
                </a:solidFill>
                <a:effectLst/>
                <a:uLnTx/>
                <a:uFillTx/>
                <a:latin typeface="Palatino Linotype"/>
                <a:ea typeface="+mj-ea"/>
              </a:rPr>
              <a:t>Next-Use </a:t>
            </a:r>
            <a:r>
              <a:rPr kumimoji="0" lang="en-US" sz="3600" b="1" i="0" u="none" strike="noStrike" kern="0" cap="none" spc="0" normalizeH="0" baseline="0" noProof="0">
                <a:ln>
                  <a:noFill/>
                </a:ln>
                <a:solidFill>
                  <a:sysClr val="windowText" lastClr="000000"/>
                </a:solidFill>
                <a:effectLst/>
                <a:uLnTx/>
                <a:uFillTx/>
                <a:latin typeface="Palatino Linotype"/>
                <a:ea typeface="+mj-ea"/>
              </a:rPr>
              <a:t>Information</a:t>
            </a:r>
            <a:r>
              <a:rPr kumimoji="0" lang="en-US" sz="3600" b="1" i="0" u="none" strike="noStrike" kern="0" cap="none" spc="-70" normalizeH="0" baseline="0" noProof="0">
                <a:ln>
                  <a:noFill/>
                </a:ln>
                <a:solidFill>
                  <a:sysClr val="windowText" lastClr="000000"/>
                </a:solidFill>
                <a:effectLst/>
                <a:uLnTx/>
                <a:uFillTx/>
                <a:latin typeface="Palatino Linotype"/>
                <a:ea typeface="+mj-ea"/>
              </a:rPr>
              <a:t> </a:t>
            </a:r>
            <a:r>
              <a:rPr kumimoji="0" lang="en-US" sz="3600" b="1" i="0" u="none" strike="noStrike" kern="0" cap="none" spc="0" normalizeH="0" baseline="0" noProof="0">
                <a:ln>
                  <a:noFill/>
                </a:ln>
                <a:solidFill>
                  <a:sysClr val="windowText" lastClr="000000"/>
                </a:solidFill>
                <a:effectLst/>
                <a:uLnTx/>
                <a:uFillTx/>
                <a:latin typeface="Palatino Linotype"/>
                <a:ea typeface="+mj-ea"/>
              </a:rPr>
              <a:t>for</a:t>
            </a:r>
            <a:r>
              <a:rPr kumimoji="0" lang="en-US" sz="3600" b="1" i="0" u="none" strike="noStrike" kern="0" cap="none" spc="-70" normalizeH="0" baseline="0" noProof="0">
                <a:ln>
                  <a:noFill/>
                </a:ln>
                <a:solidFill>
                  <a:sysClr val="windowText" lastClr="000000"/>
                </a:solidFill>
                <a:effectLst/>
                <a:uLnTx/>
                <a:uFillTx/>
                <a:latin typeface="Palatino Linotype"/>
                <a:ea typeface="+mj-ea"/>
              </a:rPr>
              <a:t> </a:t>
            </a:r>
            <a:r>
              <a:rPr kumimoji="0" lang="en-US" sz="3600" b="1" i="0" u="none" strike="noStrike" kern="0" cap="none" spc="0" normalizeH="0" baseline="0" noProof="0">
                <a:ln>
                  <a:noFill/>
                </a:ln>
                <a:solidFill>
                  <a:sysClr val="windowText" lastClr="000000"/>
                </a:solidFill>
                <a:effectLst/>
                <a:uLnTx/>
                <a:uFillTx/>
                <a:latin typeface="Palatino Linotype"/>
                <a:ea typeface="+mj-ea"/>
              </a:rPr>
              <a:t>Each</a:t>
            </a:r>
            <a:r>
              <a:rPr kumimoji="0" lang="en-US" sz="3600" b="1" i="0" u="none" strike="noStrike" kern="0" cap="none" spc="-65" normalizeH="0" baseline="0" noProof="0">
                <a:ln>
                  <a:noFill/>
                </a:ln>
                <a:solidFill>
                  <a:sysClr val="windowText" lastClr="000000"/>
                </a:solidFill>
                <a:effectLst/>
                <a:uLnTx/>
                <a:uFillTx/>
                <a:latin typeface="Palatino Linotype"/>
                <a:ea typeface="+mj-ea"/>
              </a:rPr>
              <a:t> </a:t>
            </a:r>
            <a:r>
              <a:rPr kumimoji="0" lang="en-US" sz="3600" b="1" i="0" u="none" strike="noStrike" kern="0" cap="none" spc="-10" normalizeH="0" baseline="0" noProof="0">
                <a:ln>
                  <a:noFill/>
                </a:ln>
                <a:solidFill>
                  <a:sysClr val="windowText" lastClr="000000"/>
                </a:solidFill>
                <a:effectLst/>
                <a:uLnTx/>
                <a:uFillTx/>
                <a:latin typeface="Palatino Linotype"/>
                <a:ea typeface="+mj-ea"/>
              </a:rPr>
              <a:t>Statement</a:t>
            </a:r>
            <a:endParaRPr kumimoji="0" lang="en-US" sz="3600" b="1" i="0" u="none" strike="noStrike" kern="0" cap="none" spc="0" normalizeH="0" baseline="0" noProof="0">
              <a:ln>
                <a:noFill/>
              </a:ln>
              <a:solidFill>
                <a:sysClr val="windowText" lastClr="000000"/>
              </a:solidFill>
              <a:effectLst/>
              <a:uLnTx/>
              <a:uFillTx/>
              <a:latin typeface="Palatino Linotype"/>
              <a:ea typeface="+mj-ea"/>
            </a:endParaRPr>
          </a:p>
        </p:txBody>
      </p:sp>
      <p:sp>
        <p:nvSpPr>
          <p:cNvPr id="8" name="object 3">
            <a:extLst>
              <a:ext uri="{FF2B5EF4-FFF2-40B4-BE49-F238E27FC236}">
                <a16:creationId xmlns:a16="http://schemas.microsoft.com/office/drawing/2014/main" id="{3BBA747B-12A7-03EE-846A-F2B6721B53FE}"/>
              </a:ext>
            </a:extLst>
          </p:cNvPr>
          <p:cNvSpPr txBox="1"/>
          <p:nvPr/>
        </p:nvSpPr>
        <p:spPr>
          <a:xfrm>
            <a:off x="707390" y="1742947"/>
            <a:ext cx="7707630" cy="4231005"/>
          </a:xfrm>
          <a:prstGeom prst="rect">
            <a:avLst/>
          </a:prstGeom>
        </p:spPr>
        <p:txBody>
          <a:bodyPr vert="horz" wrap="square" lIns="0" tIns="12700" rIns="0" bIns="0" rtlCol="0">
            <a:spAutoFit/>
          </a:bodyPr>
          <a:lstStyle/>
          <a:p>
            <a:pPr marL="242570" marR="259079" indent="-230504">
              <a:lnSpc>
                <a:spcPct val="120000"/>
              </a:lnSpc>
              <a:spcBef>
                <a:spcPts val="100"/>
              </a:spcBef>
              <a:buFont typeface="Arial MT"/>
              <a:buChar char="•"/>
              <a:tabLst>
                <a:tab pos="242570" algn="l"/>
              </a:tabLst>
            </a:pPr>
            <a:r>
              <a:rPr b="1" dirty="0">
                <a:solidFill>
                  <a:sysClr val="windowText" lastClr="000000"/>
                </a:solidFill>
                <a:latin typeface="Palatino Linotype"/>
                <a:cs typeface="Palatino Linotype"/>
              </a:rPr>
              <a:t>Input:</a:t>
            </a:r>
            <a:r>
              <a:rPr b="1" spc="-45" dirty="0">
                <a:solidFill>
                  <a:sysClr val="windowText" lastClr="000000"/>
                </a:solidFill>
                <a:latin typeface="Palatino Linotype"/>
                <a:cs typeface="Palatino Linotype"/>
              </a:rPr>
              <a:t> </a:t>
            </a:r>
            <a:r>
              <a:rPr dirty="0">
                <a:solidFill>
                  <a:srgbClr val="0432FF"/>
                </a:solidFill>
                <a:latin typeface="Palatino Linotype"/>
                <a:cs typeface="Palatino Linotype"/>
              </a:rPr>
              <a:t>A</a:t>
            </a:r>
            <a:r>
              <a:rPr spc="-114" dirty="0">
                <a:solidFill>
                  <a:srgbClr val="0432FF"/>
                </a:solidFill>
                <a:latin typeface="Palatino Linotype"/>
                <a:cs typeface="Palatino Linotype"/>
              </a:rPr>
              <a:t> </a:t>
            </a:r>
            <a:r>
              <a:rPr dirty="0">
                <a:solidFill>
                  <a:srgbClr val="0432FF"/>
                </a:solidFill>
                <a:latin typeface="Palatino Linotype"/>
                <a:cs typeface="Palatino Linotype"/>
              </a:rPr>
              <a:t>basic</a:t>
            </a:r>
            <a:r>
              <a:rPr spc="-25" dirty="0">
                <a:solidFill>
                  <a:srgbClr val="0432FF"/>
                </a:solidFill>
                <a:latin typeface="Palatino Linotype"/>
                <a:cs typeface="Palatino Linotype"/>
              </a:rPr>
              <a:t> </a:t>
            </a:r>
            <a:r>
              <a:rPr dirty="0">
                <a:solidFill>
                  <a:srgbClr val="0432FF"/>
                </a:solidFill>
                <a:latin typeface="Palatino Linotype"/>
                <a:cs typeface="Palatino Linotype"/>
              </a:rPr>
              <a:t>block</a:t>
            </a:r>
            <a:r>
              <a:rPr spc="-35" dirty="0">
                <a:solidFill>
                  <a:srgbClr val="0432FF"/>
                </a:solidFill>
                <a:latin typeface="Palatino Linotype"/>
                <a:cs typeface="Palatino Linotype"/>
              </a:rPr>
              <a:t> </a:t>
            </a:r>
            <a:r>
              <a:rPr dirty="0">
                <a:solidFill>
                  <a:srgbClr val="0432FF"/>
                </a:solidFill>
                <a:latin typeface="Cambria Math"/>
                <a:cs typeface="Cambria Math"/>
              </a:rPr>
              <a:t>𝐵</a:t>
            </a:r>
            <a:r>
              <a:rPr dirty="0">
                <a:solidFill>
                  <a:sysClr val="windowText" lastClr="000000"/>
                </a:solidFill>
                <a:latin typeface="Palatino Linotype"/>
                <a:cs typeface="Palatino Linotype"/>
              </a:rPr>
              <a:t>.</a:t>
            </a:r>
            <a:r>
              <a:rPr spc="-90"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Assume</a:t>
            </a:r>
            <a:r>
              <a:rPr spc="-30"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that</a:t>
            </a:r>
            <a:r>
              <a:rPr spc="-30"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the</a:t>
            </a:r>
            <a:r>
              <a:rPr spc="-25"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symbol</a:t>
            </a:r>
            <a:r>
              <a:rPr spc="-30"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table</a:t>
            </a:r>
            <a:r>
              <a:rPr spc="-30"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initially</a:t>
            </a:r>
            <a:r>
              <a:rPr spc="-35"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shows</a:t>
            </a:r>
            <a:r>
              <a:rPr spc="-30" dirty="0">
                <a:solidFill>
                  <a:sysClr val="windowText" lastClr="000000"/>
                </a:solidFill>
                <a:latin typeface="Palatino Linotype"/>
                <a:cs typeface="Palatino Linotype"/>
              </a:rPr>
              <a:t> </a:t>
            </a:r>
            <a:r>
              <a:rPr spc="-25" dirty="0">
                <a:solidFill>
                  <a:sysClr val="windowText" lastClr="000000"/>
                </a:solidFill>
                <a:latin typeface="Palatino Linotype"/>
                <a:cs typeface="Palatino Linotype"/>
              </a:rPr>
              <a:t>all </a:t>
            </a:r>
            <a:r>
              <a:rPr dirty="0">
                <a:solidFill>
                  <a:sysClr val="windowText" lastClr="000000"/>
                </a:solidFill>
                <a:latin typeface="Palatino Linotype"/>
                <a:cs typeface="Palatino Linotype"/>
              </a:rPr>
              <a:t>nontemporary</a:t>
            </a:r>
            <a:r>
              <a:rPr spc="-40" dirty="0">
                <a:solidFill>
                  <a:sysClr val="windowText" lastClr="000000"/>
                </a:solidFill>
                <a:latin typeface="Palatino Linotype"/>
                <a:cs typeface="Palatino Linotype"/>
              </a:rPr>
              <a:t> </a:t>
            </a:r>
            <a:r>
              <a:rPr spc="-10" dirty="0">
                <a:solidFill>
                  <a:sysClr val="windowText" lastClr="000000"/>
                </a:solidFill>
                <a:latin typeface="Palatino Linotype"/>
                <a:cs typeface="Palatino Linotype"/>
              </a:rPr>
              <a:t>variables</a:t>
            </a:r>
            <a:r>
              <a:rPr spc="-35"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in</a:t>
            </a:r>
            <a:r>
              <a:rPr spc="-30" dirty="0">
                <a:solidFill>
                  <a:sysClr val="windowText" lastClr="000000"/>
                </a:solidFill>
                <a:latin typeface="Palatino Linotype"/>
                <a:cs typeface="Palatino Linotype"/>
              </a:rPr>
              <a:t> </a:t>
            </a:r>
            <a:r>
              <a:rPr dirty="0">
                <a:solidFill>
                  <a:sysClr val="windowText" lastClr="000000"/>
                </a:solidFill>
                <a:latin typeface="Cambria Math"/>
                <a:cs typeface="Cambria Math"/>
              </a:rPr>
              <a:t>𝐵</a:t>
            </a:r>
            <a:r>
              <a:rPr spc="70" dirty="0">
                <a:solidFill>
                  <a:sysClr val="windowText" lastClr="000000"/>
                </a:solidFill>
                <a:latin typeface="Cambria Math"/>
                <a:cs typeface="Cambria Math"/>
              </a:rPr>
              <a:t> </a:t>
            </a:r>
            <a:r>
              <a:rPr dirty="0">
                <a:solidFill>
                  <a:sysClr val="windowText" lastClr="000000"/>
                </a:solidFill>
                <a:latin typeface="Palatino Linotype"/>
                <a:cs typeface="Palatino Linotype"/>
              </a:rPr>
              <a:t>as</a:t>
            </a:r>
            <a:r>
              <a:rPr spc="-40"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being</a:t>
            </a:r>
            <a:r>
              <a:rPr spc="-35" dirty="0">
                <a:solidFill>
                  <a:sysClr val="windowText" lastClr="000000"/>
                </a:solidFill>
                <a:latin typeface="Palatino Linotype"/>
                <a:cs typeface="Palatino Linotype"/>
              </a:rPr>
              <a:t> </a:t>
            </a:r>
            <a:r>
              <a:rPr dirty="0">
                <a:solidFill>
                  <a:srgbClr val="FF0000"/>
                </a:solidFill>
                <a:latin typeface="Palatino Linotype"/>
                <a:cs typeface="Palatino Linotype"/>
              </a:rPr>
              <a:t>live</a:t>
            </a:r>
            <a:r>
              <a:rPr spc="-30" dirty="0">
                <a:solidFill>
                  <a:srgbClr val="FF0000"/>
                </a:solidFill>
                <a:latin typeface="Palatino Linotype"/>
                <a:cs typeface="Palatino Linotype"/>
              </a:rPr>
              <a:t> </a:t>
            </a:r>
            <a:r>
              <a:rPr dirty="0">
                <a:solidFill>
                  <a:srgbClr val="FF0000"/>
                </a:solidFill>
                <a:latin typeface="Palatino Linotype"/>
                <a:cs typeface="Palatino Linotype"/>
              </a:rPr>
              <a:t>on</a:t>
            </a:r>
            <a:r>
              <a:rPr spc="-35" dirty="0">
                <a:solidFill>
                  <a:srgbClr val="FF0000"/>
                </a:solidFill>
                <a:latin typeface="Palatino Linotype"/>
                <a:cs typeface="Palatino Linotype"/>
              </a:rPr>
              <a:t> </a:t>
            </a:r>
            <a:r>
              <a:rPr spc="-20" dirty="0">
                <a:solidFill>
                  <a:srgbClr val="FF0000"/>
                </a:solidFill>
                <a:latin typeface="Palatino Linotype"/>
                <a:cs typeface="Palatino Linotype"/>
              </a:rPr>
              <a:t>exit</a:t>
            </a:r>
            <a:endParaRPr>
              <a:solidFill>
                <a:sysClr val="windowText" lastClr="000000"/>
              </a:solidFill>
              <a:latin typeface="Palatino Linotype"/>
              <a:cs typeface="Palatino Linotype"/>
            </a:endParaRPr>
          </a:p>
          <a:p>
            <a:pPr marL="242570" marR="5080" indent="-230504">
              <a:lnSpc>
                <a:spcPct val="120000"/>
              </a:lnSpc>
              <a:spcBef>
                <a:spcPts val="1225"/>
              </a:spcBef>
              <a:buFont typeface="Arial MT"/>
              <a:buChar char="•"/>
              <a:tabLst>
                <a:tab pos="242570" algn="l"/>
              </a:tabLst>
            </a:pPr>
            <a:r>
              <a:rPr b="1" dirty="0">
                <a:solidFill>
                  <a:sysClr val="windowText" lastClr="000000"/>
                </a:solidFill>
                <a:latin typeface="Palatino Linotype"/>
                <a:cs typeface="Palatino Linotype"/>
              </a:rPr>
              <a:t>Output:</a:t>
            </a:r>
            <a:r>
              <a:rPr b="1" spc="-20" dirty="0">
                <a:solidFill>
                  <a:sysClr val="windowText" lastClr="000000"/>
                </a:solidFill>
                <a:latin typeface="Palatino Linotype"/>
                <a:cs typeface="Palatino Linotype"/>
              </a:rPr>
              <a:t> </a:t>
            </a:r>
            <a:r>
              <a:rPr u="sng" dirty="0">
                <a:solidFill>
                  <a:srgbClr val="FF0000"/>
                </a:solidFill>
                <a:uFill>
                  <a:solidFill>
                    <a:srgbClr val="FF0000"/>
                  </a:solidFill>
                </a:uFill>
                <a:latin typeface="Palatino Linotype"/>
                <a:cs typeface="Palatino Linotype"/>
              </a:rPr>
              <a:t>At</a:t>
            </a:r>
            <a:r>
              <a:rPr u="sng" spc="-20" dirty="0">
                <a:solidFill>
                  <a:srgbClr val="FF0000"/>
                </a:solidFill>
                <a:uFill>
                  <a:solidFill>
                    <a:srgbClr val="FF0000"/>
                  </a:solidFill>
                </a:uFill>
                <a:latin typeface="Palatino Linotype"/>
                <a:cs typeface="Palatino Linotype"/>
              </a:rPr>
              <a:t> </a:t>
            </a:r>
            <a:r>
              <a:rPr u="sng" dirty="0">
                <a:solidFill>
                  <a:srgbClr val="FF0000"/>
                </a:solidFill>
                <a:uFill>
                  <a:solidFill>
                    <a:srgbClr val="FF0000"/>
                  </a:solidFill>
                </a:uFill>
                <a:latin typeface="Palatino Linotype"/>
                <a:cs typeface="Palatino Linotype"/>
              </a:rPr>
              <a:t>each</a:t>
            </a:r>
            <a:r>
              <a:rPr u="sng" spc="-20" dirty="0">
                <a:solidFill>
                  <a:srgbClr val="FF0000"/>
                </a:solidFill>
                <a:uFill>
                  <a:solidFill>
                    <a:srgbClr val="FF0000"/>
                  </a:solidFill>
                </a:uFill>
                <a:latin typeface="Palatino Linotype"/>
                <a:cs typeface="Palatino Linotype"/>
              </a:rPr>
              <a:t> </a:t>
            </a:r>
            <a:r>
              <a:rPr u="sng" dirty="0">
                <a:solidFill>
                  <a:srgbClr val="FF0000"/>
                </a:solidFill>
                <a:uFill>
                  <a:solidFill>
                    <a:srgbClr val="FF0000"/>
                  </a:solidFill>
                </a:uFill>
                <a:latin typeface="Palatino Linotype"/>
                <a:cs typeface="Palatino Linotype"/>
              </a:rPr>
              <a:t>statement</a:t>
            </a:r>
            <a:r>
              <a:rPr spc="-20" dirty="0">
                <a:solidFill>
                  <a:srgbClr val="FF0000"/>
                </a:solidFill>
                <a:latin typeface="Palatino Linotype"/>
                <a:cs typeface="Palatino Linotype"/>
              </a:rPr>
              <a:t> </a:t>
            </a:r>
            <a:r>
              <a:rPr dirty="0">
                <a:solidFill>
                  <a:sysClr val="windowText" lastClr="000000"/>
                </a:solidFill>
                <a:latin typeface="Cambria Math"/>
                <a:cs typeface="Cambria Math"/>
              </a:rPr>
              <a:t>𝑖:</a:t>
            </a:r>
            <a:r>
              <a:rPr spc="275" dirty="0">
                <a:solidFill>
                  <a:sysClr val="windowText" lastClr="000000"/>
                </a:solidFill>
                <a:latin typeface="Cambria Math"/>
                <a:cs typeface="Cambria Math"/>
              </a:rPr>
              <a:t> </a:t>
            </a:r>
            <a:r>
              <a:rPr dirty="0">
                <a:solidFill>
                  <a:sysClr val="windowText" lastClr="000000"/>
                </a:solidFill>
                <a:latin typeface="Cambria Math"/>
                <a:cs typeface="Cambria Math"/>
              </a:rPr>
              <a:t>𝑥</a:t>
            </a:r>
            <a:r>
              <a:rPr spc="60" dirty="0">
                <a:solidFill>
                  <a:sysClr val="windowText" lastClr="000000"/>
                </a:solidFill>
                <a:latin typeface="Cambria Math"/>
                <a:cs typeface="Cambria Math"/>
              </a:rPr>
              <a:t>  </a:t>
            </a:r>
            <a:r>
              <a:rPr dirty="0">
                <a:solidFill>
                  <a:sysClr val="windowText" lastClr="000000"/>
                </a:solidFill>
                <a:latin typeface="Cambria Math"/>
                <a:cs typeface="Cambria Math"/>
              </a:rPr>
              <a:t>=</a:t>
            </a:r>
            <a:r>
              <a:rPr spc="475" dirty="0">
                <a:solidFill>
                  <a:sysClr val="windowText" lastClr="000000"/>
                </a:solidFill>
                <a:latin typeface="Cambria Math"/>
                <a:cs typeface="Cambria Math"/>
              </a:rPr>
              <a:t> </a:t>
            </a:r>
            <a:r>
              <a:rPr dirty="0">
                <a:solidFill>
                  <a:sysClr val="windowText" lastClr="000000"/>
                </a:solidFill>
                <a:latin typeface="Cambria Math"/>
                <a:cs typeface="Cambria Math"/>
              </a:rPr>
              <a:t>𝑦</a:t>
            </a:r>
            <a:r>
              <a:rPr spc="15" dirty="0">
                <a:solidFill>
                  <a:sysClr val="windowText" lastClr="000000"/>
                </a:solidFill>
                <a:latin typeface="Cambria Math"/>
                <a:cs typeface="Cambria Math"/>
              </a:rPr>
              <a:t> </a:t>
            </a:r>
            <a:r>
              <a:rPr dirty="0">
                <a:solidFill>
                  <a:sysClr val="windowText" lastClr="000000"/>
                </a:solidFill>
                <a:latin typeface="Cambria Math"/>
                <a:cs typeface="Cambria Math"/>
              </a:rPr>
              <a:t>𝑜𝑝</a:t>
            </a:r>
            <a:r>
              <a:rPr spc="5" dirty="0">
                <a:solidFill>
                  <a:sysClr val="windowText" lastClr="000000"/>
                </a:solidFill>
                <a:latin typeface="Cambria Math"/>
                <a:cs typeface="Cambria Math"/>
              </a:rPr>
              <a:t> </a:t>
            </a:r>
            <a:r>
              <a:rPr dirty="0">
                <a:solidFill>
                  <a:sysClr val="windowText" lastClr="000000"/>
                </a:solidFill>
                <a:latin typeface="Cambria Math"/>
                <a:cs typeface="Cambria Math"/>
              </a:rPr>
              <a:t>𝑧</a:t>
            </a:r>
            <a:r>
              <a:rPr dirty="0">
                <a:solidFill>
                  <a:sysClr val="windowText" lastClr="000000"/>
                </a:solidFill>
                <a:latin typeface="Palatino Linotype"/>
                <a:cs typeface="Palatino Linotype"/>
              </a:rPr>
              <a:t>,</a:t>
            </a:r>
            <a:r>
              <a:rPr spc="-20"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we</a:t>
            </a:r>
            <a:r>
              <a:rPr spc="-20"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attach</a:t>
            </a:r>
            <a:r>
              <a:rPr spc="-20"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to</a:t>
            </a:r>
            <a:r>
              <a:rPr spc="-20" dirty="0">
                <a:solidFill>
                  <a:sysClr val="windowText" lastClr="000000"/>
                </a:solidFill>
                <a:latin typeface="Palatino Linotype"/>
                <a:cs typeface="Palatino Linotype"/>
              </a:rPr>
              <a:t> </a:t>
            </a:r>
            <a:r>
              <a:rPr dirty="0">
                <a:solidFill>
                  <a:sysClr val="windowText" lastClr="000000"/>
                </a:solidFill>
                <a:latin typeface="Cambria Math"/>
                <a:cs typeface="Cambria Math"/>
              </a:rPr>
              <a:t>𝑖</a:t>
            </a:r>
            <a:r>
              <a:rPr spc="95" dirty="0">
                <a:solidFill>
                  <a:sysClr val="windowText" lastClr="000000"/>
                </a:solidFill>
                <a:latin typeface="Cambria Math"/>
                <a:cs typeface="Cambria Math"/>
              </a:rPr>
              <a:t> </a:t>
            </a:r>
            <a:r>
              <a:rPr dirty="0">
                <a:solidFill>
                  <a:sysClr val="windowText" lastClr="000000"/>
                </a:solidFill>
                <a:latin typeface="Palatino Linotype"/>
                <a:cs typeface="Palatino Linotype"/>
              </a:rPr>
              <a:t>the</a:t>
            </a:r>
            <a:r>
              <a:rPr spc="-25" dirty="0">
                <a:solidFill>
                  <a:sysClr val="windowText" lastClr="000000"/>
                </a:solidFill>
                <a:latin typeface="Palatino Linotype"/>
                <a:cs typeface="Palatino Linotype"/>
              </a:rPr>
              <a:t> </a:t>
            </a:r>
            <a:r>
              <a:rPr dirty="0">
                <a:solidFill>
                  <a:srgbClr val="0432FF"/>
                </a:solidFill>
                <a:latin typeface="Palatino Linotype"/>
                <a:cs typeface="Palatino Linotype"/>
              </a:rPr>
              <a:t>liveness</a:t>
            </a:r>
            <a:r>
              <a:rPr spc="-25" dirty="0">
                <a:solidFill>
                  <a:srgbClr val="0432FF"/>
                </a:solidFill>
                <a:latin typeface="Palatino Linotype"/>
                <a:cs typeface="Palatino Linotype"/>
              </a:rPr>
              <a:t> and </a:t>
            </a:r>
            <a:r>
              <a:rPr spc="-10" dirty="0">
                <a:solidFill>
                  <a:srgbClr val="0432FF"/>
                </a:solidFill>
                <a:latin typeface="Palatino Linotype"/>
                <a:cs typeface="Palatino Linotype"/>
              </a:rPr>
              <a:t>next-</a:t>
            </a:r>
            <a:r>
              <a:rPr dirty="0">
                <a:solidFill>
                  <a:srgbClr val="0432FF"/>
                </a:solidFill>
                <a:latin typeface="Palatino Linotype"/>
                <a:cs typeface="Palatino Linotype"/>
              </a:rPr>
              <a:t>use</a:t>
            </a:r>
            <a:r>
              <a:rPr spc="-25" dirty="0">
                <a:solidFill>
                  <a:srgbClr val="0432FF"/>
                </a:solidFill>
                <a:latin typeface="Palatino Linotype"/>
                <a:cs typeface="Palatino Linotype"/>
              </a:rPr>
              <a:t> </a:t>
            </a:r>
            <a:r>
              <a:rPr dirty="0">
                <a:solidFill>
                  <a:srgbClr val="0432FF"/>
                </a:solidFill>
                <a:latin typeface="Palatino Linotype"/>
                <a:cs typeface="Palatino Linotype"/>
              </a:rPr>
              <a:t>information</a:t>
            </a:r>
            <a:r>
              <a:rPr spc="-20" dirty="0">
                <a:solidFill>
                  <a:srgbClr val="0432FF"/>
                </a:solidFill>
                <a:latin typeface="Palatino Linotype"/>
                <a:cs typeface="Palatino Linotype"/>
              </a:rPr>
              <a:t> </a:t>
            </a:r>
            <a:r>
              <a:rPr dirty="0">
                <a:solidFill>
                  <a:sysClr val="windowText" lastClr="000000"/>
                </a:solidFill>
                <a:latin typeface="Palatino Linotype"/>
                <a:cs typeface="Palatino Linotype"/>
              </a:rPr>
              <a:t>of</a:t>
            </a:r>
            <a:r>
              <a:rPr spc="-20" dirty="0">
                <a:solidFill>
                  <a:sysClr val="windowText" lastClr="000000"/>
                </a:solidFill>
                <a:latin typeface="Palatino Linotype"/>
                <a:cs typeface="Palatino Linotype"/>
              </a:rPr>
              <a:t> </a:t>
            </a:r>
            <a:r>
              <a:rPr dirty="0">
                <a:solidFill>
                  <a:sysClr val="windowText" lastClr="000000"/>
                </a:solidFill>
                <a:latin typeface="Cambria Math"/>
                <a:cs typeface="Cambria Math"/>
              </a:rPr>
              <a:t>𝑥</a:t>
            </a:r>
            <a:r>
              <a:rPr dirty="0">
                <a:solidFill>
                  <a:sysClr val="windowText" lastClr="000000"/>
                </a:solidFill>
                <a:latin typeface="Palatino Linotype"/>
                <a:cs typeface="Palatino Linotype"/>
              </a:rPr>
              <a:t>,</a:t>
            </a:r>
            <a:r>
              <a:rPr spc="-25" dirty="0">
                <a:solidFill>
                  <a:sysClr val="windowText" lastClr="000000"/>
                </a:solidFill>
                <a:latin typeface="Palatino Linotype"/>
                <a:cs typeface="Palatino Linotype"/>
              </a:rPr>
              <a:t> </a:t>
            </a:r>
            <a:r>
              <a:rPr dirty="0">
                <a:solidFill>
                  <a:sysClr val="windowText" lastClr="000000"/>
                </a:solidFill>
                <a:latin typeface="Cambria Math"/>
                <a:cs typeface="Cambria Math"/>
              </a:rPr>
              <a:t>𝑦</a:t>
            </a:r>
            <a:r>
              <a:rPr dirty="0">
                <a:solidFill>
                  <a:sysClr val="windowText" lastClr="000000"/>
                </a:solidFill>
                <a:latin typeface="Palatino Linotype"/>
                <a:cs typeface="Palatino Linotype"/>
              </a:rPr>
              <a:t>,</a:t>
            </a:r>
            <a:r>
              <a:rPr spc="-20"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and</a:t>
            </a:r>
            <a:r>
              <a:rPr spc="-20" dirty="0">
                <a:solidFill>
                  <a:sysClr val="windowText" lastClr="000000"/>
                </a:solidFill>
                <a:latin typeface="Palatino Linotype"/>
                <a:cs typeface="Palatino Linotype"/>
              </a:rPr>
              <a:t> </a:t>
            </a:r>
            <a:r>
              <a:rPr dirty="0">
                <a:solidFill>
                  <a:sysClr val="windowText" lastClr="000000"/>
                </a:solidFill>
                <a:latin typeface="Cambria Math"/>
                <a:cs typeface="Cambria Math"/>
              </a:rPr>
              <a:t>𝑧</a:t>
            </a:r>
            <a:r>
              <a:rPr dirty="0">
                <a:solidFill>
                  <a:sysClr val="windowText" lastClr="000000"/>
                </a:solidFill>
                <a:latin typeface="Palatino Linotype"/>
                <a:cs typeface="Palatino Linotype"/>
              </a:rPr>
              <a:t>.</a:t>
            </a:r>
            <a:r>
              <a:rPr spc="-25"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Here,</a:t>
            </a:r>
            <a:r>
              <a:rPr spc="-20" dirty="0">
                <a:solidFill>
                  <a:sysClr val="windowText" lastClr="000000"/>
                </a:solidFill>
                <a:latin typeface="Palatino Linotype"/>
                <a:cs typeface="Palatino Linotype"/>
              </a:rPr>
              <a:t> </a:t>
            </a:r>
            <a:r>
              <a:rPr dirty="0">
                <a:solidFill>
                  <a:srgbClr val="FF0000"/>
                </a:solidFill>
                <a:latin typeface="Palatino Linotype"/>
                <a:cs typeface="Palatino Linotype"/>
              </a:rPr>
              <a:t>we</a:t>
            </a:r>
            <a:r>
              <a:rPr spc="-20" dirty="0">
                <a:solidFill>
                  <a:srgbClr val="FF0000"/>
                </a:solidFill>
                <a:latin typeface="Palatino Linotype"/>
                <a:cs typeface="Palatino Linotype"/>
              </a:rPr>
              <a:t> </a:t>
            </a:r>
            <a:r>
              <a:rPr dirty="0">
                <a:solidFill>
                  <a:srgbClr val="FF0000"/>
                </a:solidFill>
                <a:latin typeface="Palatino Linotype"/>
                <a:cs typeface="Palatino Linotype"/>
              </a:rPr>
              <a:t>do</a:t>
            </a:r>
            <a:r>
              <a:rPr spc="-25" dirty="0">
                <a:solidFill>
                  <a:srgbClr val="FF0000"/>
                </a:solidFill>
                <a:latin typeface="Palatino Linotype"/>
                <a:cs typeface="Palatino Linotype"/>
              </a:rPr>
              <a:t> </a:t>
            </a:r>
            <a:r>
              <a:rPr dirty="0">
                <a:solidFill>
                  <a:srgbClr val="FF0000"/>
                </a:solidFill>
                <a:latin typeface="Palatino Linotype"/>
                <a:cs typeface="Palatino Linotype"/>
              </a:rPr>
              <a:t>not</a:t>
            </a:r>
            <a:r>
              <a:rPr spc="-20" dirty="0">
                <a:solidFill>
                  <a:srgbClr val="FF0000"/>
                </a:solidFill>
                <a:latin typeface="Palatino Linotype"/>
                <a:cs typeface="Palatino Linotype"/>
              </a:rPr>
              <a:t> </a:t>
            </a:r>
            <a:r>
              <a:rPr dirty="0">
                <a:solidFill>
                  <a:srgbClr val="FF0000"/>
                </a:solidFill>
                <a:latin typeface="Palatino Linotype"/>
                <a:cs typeface="Palatino Linotype"/>
              </a:rPr>
              <a:t>consider</a:t>
            </a:r>
            <a:r>
              <a:rPr spc="-20" dirty="0">
                <a:solidFill>
                  <a:srgbClr val="FF0000"/>
                </a:solidFill>
                <a:latin typeface="Palatino Linotype"/>
                <a:cs typeface="Palatino Linotype"/>
              </a:rPr>
              <a:t> </a:t>
            </a:r>
            <a:r>
              <a:rPr dirty="0">
                <a:solidFill>
                  <a:srgbClr val="FF0000"/>
                </a:solidFill>
                <a:latin typeface="Palatino Linotype"/>
                <a:cs typeface="Palatino Linotype"/>
              </a:rPr>
              <a:t>uses</a:t>
            </a:r>
            <a:r>
              <a:rPr spc="-25" dirty="0">
                <a:solidFill>
                  <a:srgbClr val="FF0000"/>
                </a:solidFill>
                <a:latin typeface="Palatino Linotype"/>
                <a:cs typeface="Palatino Linotype"/>
              </a:rPr>
              <a:t> </a:t>
            </a:r>
            <a:r>
              <a:rPr spc="-10" dirty="0">
                <a:solidFill>
                  <a:srgbClr val="FF0000"/>
                </a:solidFill>
                <a:latin typeface="Palatino Linotype"/>
                <a:cs typeface="Palatino Linotype"/>
              </a:rPr>
              <a:t>outside </a:t>
            </a:r>
            <a:r>
              <a:rPr dirty="0">
                <a:solidFill>
                  <a:srgbClr val="FF0000"/>
                </a:solidFill>
                <a:latin typeface="Palatino Linotype"/>
                <a:cs typeface="Palatino Linotype"/>
              </a:rPr>
              <a:t>the</a:t>
            </a:r>
            <a:r>
              <a:rPr spc="-30" dirty="0">
                <a:solidFill>
                  <a:srgbClr val="FF0000"/>
                </a:solidFill>
                <a:latin typeface="Palatino Linotype"/>
                <a:cs typeface="Palatino Linotype"/>
              </a:rPr>
              <a:t> </a:t>
            </a:r>
            <a:r>
              <a:rPr dirty="0">
                <a:solidFill>
                  <a:srgbClr val="FF0000"/>
                </a:solidFill>
                <a:latin typeface="Palatino Linotype"/>
                <a:cs typeface="Palatino Linotype"/>
              </a:rPr>
              <a:t>basic</a:t>
            </a:r>
            <a:r>
              <a:rPr spc="-25" dirty="0">
                <a:solidFill>
                  <a:srgbClr val="FF0000"/>
                </a:solidFill>
                <a:latin typeface="Palatino Linotype"/>
                <a:cs typeface="Palatino Linotype"/>
              </a:rPr>
              <a:t> </a:t>
            </a:r>
            <a:r>
              <a:rPr spc="-20" dirty="0">
                <a:solidFill>
                  <a:srgbClr val="FF0000"/>
                </a:solidFill>
                <a:latin typeface="Palatino Linotype"/>
                <a:cs typeface="Palatino Linotype"/>
              </a:rPr>
              <a:t>block</a:t>
            </a:r>
            <a:endParaRPr>
              <a:solidFill>
                <a:sysClr val="windowText" lastClr="000000"/>
              </a:solidFill>
              <a:latin typeface="Palatino Linotype"/>
              <a:cs typeface="Palatino Linotype"/>
            </a:endParaRPr>
          </a:p>
          <a:p>
            <a:pPr marL="242570" indent="-229870">
              <a:spcBef>
                <a:spcPts val="1655"/>
              </a:spcBef>
              <a:buFont typeface="Arial MT"/>
              <a:buChar char="•"/>
              <a:tabLst>
                <a:tab pos="242570" algn="l"/>
              </a:tabLst>
            </a:pPr>
            <a:r>
              <a:rPr b="1" spc="-10" dirty="0">
                <a:solidFill>
                  <a:sysClr val="windowText" lastClr="000000"/>
                </a:solidFill>
                <a:latin typeface="Palatino Linotype"/>
                <a:cs typeface="Palatino Linotype"/>
              </a:rPr>
              <a:t>Method:</a:t>
            </a:r>
            <a:endParaRPr>
              <a:solidFill>
                <a:sysClr val="windowText" lastClr="000000"/>
              </a:solidFill>
              <a:latin typeface="Palatino Linotype"/>
              <a:cs typeface="Palatino Linotype"/>
            </a:endParaRPr>
          </a:p>
          <a:p>
            <a:pPr marL="698500" marR="8255" lvl="1" indent="-228600">
              <a:lnSpc>
                <a:spcPct val="118800"/>
              </a:lnSpc>
              <a:spcBef>
                <a:spcPts val="680"/>
              </a:spcBef>
              <a:buClr>
                <a:srgbClr val="000000"/>
              </a:buClr>
              <a:buFont typeface="Wingdings"/>
              <a:buChar char=""/>
              <a:tabLst>
                <a:tab pos="698500" algn="l"/>
              </a:tabLst>
            </a:pPr>
            <a:r>
              <a:rPr sz="1600" dirty="0">
                <a:solidFill>
                  <a:srgbClr val="FF0000"/>
                </a:solidFill>
                <a:latin typeface="Palatino Linotype"/>
                <a:cs typeface="Palatino Linotype"/>
              </a:rPr>
              <a:t>Scan</a:t>
            </a:r>
            <a:r>
              <a:rPr sz="1600" spc="-5" dirty="0">
                <a:solidFill>
                  <a:srgbClr val="FF0000"/>
                </a:solidFill>
                <a:latin typeface="Palatino Linotype"/>
                <a:cs typeface="Palatino Linotype"/>
              </a:rPr>
              <a:t> </a:t>
            </a:r>
            <a:r>
              <a:rPr sz="1600" spc="-10" dirty="0">
                <a:solidFill>
                  <a:srgbClr val="FF0000"/>
                </a:solidFill>
                <a:latin typeface="Palatino Linotype"/>
                <a:cs typeface="Palatino Linotype"/>
              </a:rPr>
              <a:t>backwards</a:t>
            </a:r>
            <a:r>
              <a:rPr sz="1600" spc="-15" dirty="0">
                <a:solidFill>
                  <a:srgbClr val="FF0000"/>
                </a:solidFill>
                <a:latin typeface="Palatino Linotype"/>
                <a:cs typeface="Palatino Linotype"/>
              </a:rPr>
              <a:t> </a:t>
            </a:r>
            <a:r>
              <a:rPr sz="1600" dirty="0">
                <a:solidFill>
                  <a:srgbClr val="FF0000"/>
                </a:solidFill>
                <a:latin typeface="Palatino Linotype"/>
                <a:cs typeface="Palatino Linotype"/>
              </a:rPr>
              <a:t>from</a:t>
            </a:r>
            <a:r>
              <a:rPr sz="1600" spc="-10" dirty="0">
                <a:solidFill>
                  <a:srgbClr val="FF0000"/>
                </a:solidFill>
                <a:latin typeface="Palatino Linotype"/>
                <a:cs typeface="Palatino Linotype"/>
              </a:rPr>
              <a:t> </a:t>
            </a:r>
            <a:r>
              <a:rPr sz="1600" dirty="0">
                <a:solidFill>
                  <a:srgbClr val="FF0000"/>
                </a:solidFill>
                <a:latin typeface="Palatino Linotype"/>
                <a:cs typeface="Palatino Linotype"/>
              </a:rPr>
              <a:t>the</a:t>
            </a:r>
            <a:r>
              <a:rPr sz="1600" spc="-15" dirty="0">
                <a:solidFill>
                  <a:srgbClr val="FF0000"/>
                </a:solidFill>
                <a:latin typeface="Palatino Linotype"/>
                <a:cs typeface="Palatino Linotype"/>
              </a:rPr>
              <a:t> </a:t>
            </a:r>
            <a:r>
              <a:rPr sz="1600" dirty="0">
                <a:solidFill>
                  <a:srgbClr val="FF0000"/>
                </a:solidFill>
                <a:latin typeface="Palatino Linotype"/>
                <a:cs typeface="Palatino Linotype"/>
              </a:rPr>
              <a:t>last</a:t>
            </a:r>
            <a:r>
              <a:rPr sz="1600" spc="-10" dirty="0">
                <a:solidFill>
                  <a:srgbClr val="FF0000"/>
                </a:solidFill>
                <a:latin typeface="Palatino Linotype"/>
                <a:cs typeface="Palatino Linotype"/>
              </a:rPr>
              <a:t> </a:t>
            </a:r>
            <a:r>
              <a:rPr sz="1600" dirty="0">
                <a:solidFill>
                  <a:srgbClr val="FF0000"/>
                </a:solidFill>
                <a:latin typeface="Palatino Linotype"/>
                <a:cs typeface="Palatino Linotype"/>
              </a:rPr>
              <a:t>statement</a:t>
            </a:r>
            <a:r>
              <a:rPr sz="1600" spc="-10" dirty="0">
                <a:solidFill>
                  <a:srgbClr val="FF0000"/>
                </a:solidFill>
                <a:latin typeface="Palatino Linotype"/>
                <a:cs typeface="Palatino Linotype"/>
              </a:rPr>
              <a:t> </a:t>
            </a:r>
            <a:r>
              <a:rPr sz="1600" dirty="0">
                <a:solidFill>
                  <a:srgbClr val="FF0000"/>
                </a:solidFill>
                <a:latin typeface="Palatino Linotype"/>
                <a:cs typeface="Palatino Linotype"/>
              </a:rPr>
              <a:t>in</a:t>
            </a:r>
            <a:r>
              <a:rPr sz="1600" spc="-5" dirty="0">
                <a:solidFill>
                  <a:srgbClr val="FF0000"/>
                </a:solidFill>
                <a:latin typeface="Palatino Linotype"/>
                <a:cs typeface="Palatino Linotype"/>
              </a:rPr>
              <a:t> </a:t>
            </a:r>
            <a:r>
              <a:rPr sz="1600" dirty="0">
                <a:solidFill>
                  <a:srgbClr val="FF0000"/>
                </a:solidFill>
                <a:latin typeface="Cambria Math"/>
                <a:cs typeface="Cambria Math"/>
              </a:rPr>
              <a:t>𝐵</a:t>
            </a:r>
            <a:r>
              <a:rPr sz="1600" dirty="0">
                <a:solidFill>
                  <a:sysClr val="windowText" lastClr="000000"/>
                </a:solidFill>
                <a:latin typeface="Palatino Linotype"/>
                <a:cs typeface="Palatino Linotype"/>
              </a:rPr>
              <a:t>.</a:t>
            </a:r>
            <a:r>
              <a:rPr sz="1600" spc="-70"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At</a:t>
            </a:r>
            <a:r>
              <a:rPr sz="1600" spc="-10"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each</a:t>
            </a:r>
            <a:r>
              <a:rPr sz="1600" spc="-5"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statement</a:t>
            </a:r>
            <a:r>
              <a:rPr sz="1600" spc="-10" dirty="0">
                <a:solidFill>
                  <a:sysClr val="windowText" lastClr="000000"/>
                </a:solidFill>
                <a:latin typeface="Palatino Linotype"/>
                <a:cs typeface="Palatino Linotype"/>
              </a:rPr>
              <a:t> </a:t>
            </a:r>
            <a:r>
              <a:rPr sz="1600" dirty="0">
                <a:solidFill>
                  <a:srgbClr val="0432FF"/>
                </a:solidFill>
                <a:latin typeface="Cambria Math"/>
                <a:cs typeface="Cambria Math"/>
              </a:rPr>
              <a:t>𝑖:</a:t>
            </a:r>
            <a:r>
              <a:rPr sz="1600" spc="245" dirty="0">
                <a:solidFill>
                  <a:srgbClr val="0432FF"/>
                </a:solidFill>
                <a:latin typeface="Cambria Math"/>
                <a:cs typeface="Cambria Math"/>
              </a:rPr>
              <a:t> </a:t>
            </a:r>
            <a:r>
              <a:rPr sz="1600" dirty="0">
                <a:solidFill>
                  <a:srgbClr val="0432FF"/>
                </a:solidFill>
                <a:latin typeface="Cambria Math"/>
                <a:cs typeface="Cambria Math"/>
              </a:rPr>
              <a:t>𝑥</a:t>
            </a:r>
            <a:r>
              <a:rPr sz="1600" spc="465" dirty="0">
                <a:solidFill>
                  <a:srgbClr val="0432FF"/>
                </a:solidFill>
                <a:latin typeface="Cambria Math"/>
                <a:cs typeface="Cambria Math"/>
              </a:rPr>
              <a:t> </a:t>
            </a:r>
            <a:r>
              <a:rPr sz="1600" dirty="0">
                <a:solidFill>
                  <a:srgbClr val="0432FF"/>
                </a:solidFill>
                <a:latin typeface="Cambria Math"/>
                <a:cs typeface="Cambria Math"/>
              </a:rPr>
              <a:t>=</a:t>
            </a:r>
            <a:r>
              <a:rPr sz="1600" spc="420" dirty="0">
                <a:solidFill>
                  <a:srgbClr val="0432FF"/>
                </a:solidFill>
                <a:latin typeface="Cambria Math"/>
                <a:cs typeface="Cambria Math"/>
              </a:rPr>
              <a:t> </a:t>
            </a:r>
            <a:r>
              <a:rPr sz="1600" dirty="0">
                <a:solidFill>
                  <a:srgbClr val="0432FF"/>
                </a:solidFill>
                <a:latin typeface="Cambria Math"/>
                <a:cs typeface="Cambria Math"/>
              </a:rPr>
              <a:t>𝑦</a:t>
            </a:r>
            <a:r>
              <a:rPr sz="1600" spc="15" dirty="0">
                <a:solidFill>
                  <a:srgbClr val="0432FF"/>
                </a:solidFill>
                <a:latin typeface="Cambria Math"/>
                <a:cs typeface="Cambria Math"/>
              </a:rPr>
              <a:t> </a:t>
            </a:r>
            <a:r>
              <a:rPr sz="1600" dirty="0">
                <a:solidFill>
                  <a:srgbClr val="0432FF"/>
                </a:solidFill>
                <a:latin typeface="Cambria Math"/>
                <a:cs typeface="Cambria Math"/>
              </a:rPr>
              <a:t>𝑜𝑝</a:t>
            </a:r>
            <a:r>
              <a:rPr sz="1600" spc="5" dirty="0">
                <a:solidFill>
                  <a:srgbClr val="0432FF"/>
                </a:solidFill>
                <a:latin typeface="Cambria Math"/>
                <a:cs typeface="Cambria Math"/>
              </a:rPr>
              <a:t> </a:t>
            </a:r>
            <a:r>
              <a:rPr sz="1600" spc="-25" dirty="0">
                <a:solidFill>
                  <a:srgbClr val="0432FF"/>
                </a:solidFill>
                <a:latin typeface="Cambria Math"/>
                <a:cs typeface="Cambria Math"/>
              </a:rPr>
              <a:t>𝑧</a:t>
            </a:r>
            <a:r>
              <a:rPr sz="1600" spc="-25"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do</a:t>
            </a:r>
            <a:r>
              <a:rPr sz="1600" spc="-20"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the</a:t>
            </a:r>
            <a:r>
              <a:rPr sz="1600" spc="-20"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following</a:t>
            </a:r>
            <a:r>
              <a:rPr sz="1600" spc="-25"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(the</a:t>
            </a:r>
            <a:r>
              <a:rPr sz="1600" spc="-20"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order</a:t>
            </a:r>
            <a:r>
              <a:rPr sz="1600" spc="-15"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matters</a:t>
            </a:r>
            <a:r>
              <a:rPr sz="1600" spc="-20"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as</a:t>
            </a:r>
            <a:r>
              <a:rPr sz="1600" spc="-25" dirty="0">
                <a:solidFill>
                  <a:sysClr val="windowText" lastClr="000000"/>
                </a:solidFill>
                <a:latin typeface="Palatino Linotype"/>
                <a:cs typeface="Palatino Linotype"/>
              </a:rPr>
              <a:t> </a:t>
            </a:r>
            <a:r>
              <a:rPr sz="1600" dirty="0">
                <a:solidFill>
                  <a:sysClr val="windowText" lastClr="000000"/>
                </a:solidFill>
                <a:latin typeface="Cambria Math"/>
                <a:cs typeface="Cambria Math"/>
              </a:rPr>
              <a:t>𝑥</a:t>
            </a:r>
            <a:r>
              <a:rPr sz="1600" spc="70" dirty="0">
                <a:solidFill>
                  <a:sysClr val="windowText" lastClr="000000"/>
                </a:solidFill>
                <a:latin typeface="Cambria Math"/>
                <a:cs typeface="Cambria Math"/>
              </a:rPr>
              <a:t> </a:t>
            </a:r>
            <a:r>
              <a:rPr sz="1600" dirty="0">
                <a:solidFill>
                  <a:sysClr val="windowText" lastClr="000000"/>
                </a:solidFill>
                <a:latin typeface="Palatino Linotype"/>
                <a:cs typeface="Palatino Linotype"/>
              </a:rPr>
              <a:t>maybe</a:t>
            </a:r>
            <a:r>
              <a:rPr sz="1600" spc="-20" dirty="0">
                <a:solidFill>
                  <a:sysClr val="windowText" lastClr="000000"/>
                </a:solidFill>
                <a:latin typeface="Palatino Linotype"/>
                <a:cs typeface="Palatino Linotype"/>
              </a:rPr>
              <a:t> </a:t>
            </a:r>
            <a:r>
              <a:rPr sz="1600" dirty="0">
                <a:solidFill>
                  <a:sysClr val="windowText" lastClr="000000"/>
                </a:solidFill>
                <a:latin typeface="Cambria Math"/>
                <a:cs typeface="Cambria Math"/>
              </a:rPr>
              <a:t>𝑦</a:t>
            </a:r>
            <a:r>
              <a:rPr sz="1600" spc="55" dirty="0">
                <a:solidFill>
                  <a:sysClr val="windowText" lastClr="000000"/>
                </a:solidFill>
                <a:latin typeface="Cambria Math"/>
                <a:cs typeface="Cambria Math"/>
              </a:rPr>
              <a:t> </a:t>
            </a:r>
            <a:r>
              <a:rPr sz="1600" dirty="0">
                <a:solidFill>
                  <a:sysClr val="windowText" lastClr="000000"/>
                </a:solidFill>
                <a:latin typeface="Palatino Linotype"/>
                <a:cs typeface="Palatino Linotype"/>
              </a:rPr>
              <a:t>or</a:t>
            </a:r>
            <a:r>
              <a:rPr sz="1600" spc="-10" dirty="0">
                <a:solidFill>
                  <a:sysClr val="windowText" lastClr="000000"/>
                </a:solidFill>
                <a:latin typeface="Palatino Linotype"/>
                <a:cs typeface="Palatino Linotype"/>
              </a:rPr>
              <a:t> </a:t>
            </a:r>
            <a:r>
              <a:rPr sz="1600" spc="-25" dirty="0">
                <a:solidFill>
                  <a:sysClr val="windowText" lastClr="000000"/>
                </a:solidFill>
                <a:latin typeface="Cambria Math"/>
                <a:cs typeface="Cambria Math"/>
              </a:rPr>
              <a:t>𝑧</a:t>
            </a:r>
            <a:r>
              <a:rPr sz="1600" spc="-25" dirty="0">
                <a:solidFill>
                  <a:sysClr val="windowText" lastClr="000000"/>
                </a:solidFill>
                <a:latin typeface="Palatino Linotype"/>
                <a:cs typeface="Palatino Linotype"/>
              </a:rPr>
              <a:t>):</a:t>
            </a:r>
            <a:endParaRPr sz="1600">
              <a:solidFill>
                <a:sysClr val="windowText" lastClr="000000"/>
              </a:solidFill>
              <a:latin typeface="Palatino Linotype"/>
              <a:cs typeface="Palatino Linotype"/>
            </a:endParaRPr>
          </a:p>
          <a:p>
            <a:pPr marL="1269365" marR="201295" lvl="2" indent="-342900">
              <a:lnSpc>
                <a:spcPct val="118600"/>
              </a:lnSpc>
              <a:spcBef>
                <a:spcPts val="675"/>
              </a:spcBef>
              <a:buFontTx/>
              <a:buAutoNum type="arabicPeriod"/>
              <a:tabLst>
                <a:tab pos="1269365" algn="l"/>
              </a:tabLst>
            </a:pPr>
            <a:r>
              <a:rPr sz="1400" dirty="0">
                <a:solidFill>
                  <a:sysClr val="windowText" lastClr="000000"/>
                </a:solidFill>
                <a:latin typeface="Palatino Linotype"/>
                <a:cs typeface="Palatino Linotype"/>
              </a:rPr>
              <a:t>Attach</a:t>
            </a:r>
            <a:r>
              <a:rPr sz="1400" spc="-30" dirty="0">
                <a:solidFill>
                  <a:sysClr val="windowText" lastClr="000000"/>
                </a:solidFill>
                <a:latin typeface="Palatino Linotype"/>
                <a:cs typeface="Palatino Linotype"/>
              </a:rPr>
              <a:t> </a:t>
            </a:r>
            <a:r>
              <a:rPr sz="1400" dirty="0">
                <a:solidFill>
                  <a:sysClr val="windowText" lastClr="000000"/>
                </a:solidFill>
                <a:latin typeface="Palatino Linotype"/>
                <a:cs typeface="Palatino Linotype"/>
              </a:rPr>
              <a:t>to</a:t>
            </a:r>
            <a:r>
              <a:rPr sz="1400" spc="-30" dirty="0">
                <a:solidFill>
                  <a:sysClr val="windowText" lastClr="000000"/>
                </a:solidFill>
                <a:latin typeface="Palatino Linotype"/>
                <a:cs typeface="Palatino Linotype"/>
              </a:rPr>
              <a:t> </a:t>
            </a:r>
            <a:r>
              <a:rPr sz="1400" dirty="0">
                <a:solidFill>
                  <a:sysClr val="windowText" lastClr="000000"/>
                </a:solidFill>
                <a:latin typeface="Cambria Math"/>
                <a:cs typeface="Cambria Math"/>
              </a:rPr>
              <a:t>𝑖</a:t>
            </a:r>
            <a:r>
              <a:rPr sz="1400" spc="50" dirty="0">
                <a:solidFill>
                  <a:sysClr val="windowText" lastClr="000000"/>
                </a:solidFill>
                <a:latin typeface="Cambria Math"/>
                <a:cs typeface="Cambria Math"/>
              </a:rPr>
              <a:t> </a:t>
            </a:r>
            <a:r>
              <a:rPr sz="1400" dirty="0">
                <a:solidFill>
                  <a:sysClr val="windowText" lastClr="000000"/>
                </a:solidFill>
                <a:latin typeface="Palatino Linotype"/>
                <a:cs typeface="Palatino Linotype"/>
              </a:rPr>
              <a:t>the</a:t>
            </a:r>
            <a:r>
              <a:rPr sz="1400" spc="-25" dirty="0">
                <a:solidFill>
                  <a:sysClr val="windowText" lastClr="000000"/>
                </a:solidFill>
                <a:latin typeface="Palatino Linotype"/>
                <a:cs typeface="Palatino Linotype"/>
              </a:rPr>
              <a:t> </a:t>
            </a:r>
            <a:r>
              <a:rPr sz="1400" dirty="0">
                <a:solidFill>
                  <a:sysClr val="windowText" lastClr="000000"/>
                </a:solidFill>
                <a:latin typeface="Palatino Linotype"/>
                <a:cs typeface="Palatino Linotype"/>
              </a:rPr>
              <a:t>information</a:t>
            </a:r>
            <a:r>
              <a:rPr sz="1400" spc="-30" dirty="0">
                <a:solidFill>
                  <a:sysClr val="windowText" lastClr="000000"/>
                </a:solidFill>
                <a:latin typeface="Palatino Linotype"/>
                <a:cs typeface="Palatino Linotype"/>
              </a:rPr>
              <a:t> </a:t>
            </a:r>
            <a:r>
              <a:rPr sz="1400" dirty="0">
                <a:solidFill>
                  <a:sysClr val="windowText" lastClr="000000"/>
                </a:solidFill>
                <a:latin typeface="Palatino Linotype"/>
                <a:cs typeface="Palatino Linotype"/>
              </a:rPr>
              <a:t>currently</a:t>
            </a:r>
            <a:r>
              <a:rPr sz="1400" spc="-25" dirty="0">
                <a:solidFill>
                  <a:sysClr val="windowText" lastClr="000000"/>
                </a:solidFill>
                <a:latin typeface="Palatino Linotype"/>
                <a:cs typeface="Palatino Linotype"/>
              </a:rPr>
              <a:t> </a:t>
            </a:r>
            <a:r>
              <a:rPr sz="1400" dirty="0">
                <a:solidFill>
                  <a:sysClr val="windowText" lastClr="000000"/>
                </a:solidFill>
                <a:latin typeface="Palatino Linotype"/>
                <a:cs typeface="Palatino Linotype"/>
              </a:rPr>
              <a:t>in</a:t>
            </a:r>
            <a:r>
              <a:rPr sz="1400" spc="-30" dirty="0">
                <a:solidFill>
                  <a:sysClr val="windowText" lastClr="000000"/>
                </a:solidFill>
                <a:latin typeface="Palatino Linotype"/>
                <a:cs typeface="Palatino Linotype"/>
              </a:rPr>
              <a:t> </a:t>
            </a:r>
            <a:r>
              <a:rPr sz="1400" dirty="0">
                <a:solidFill>
                  <a:sysClr val="windowText" lastClr="000000"/>
                </a:solidFill>
                <a:latin typeface="Palatino Linotype"/>
                <a:cs typeface="Palatino Linotype"/>
              </a:rPr>
              <a:t>the</a:t>
            </a:r>
            <a:r>
              <a:rPr sz="1400" spc="-25" dirty="0">
                <a:solidFill>
                  <a:sysClr val="windowText" lastClr="000000"/>
                </a:solidFill>
                <a:latin typeface="Palatino Linotype"/>
                <a:cs typeface="Palatino Linotype"/>
              </a:rPr>
              <a:t> </a:t>
            </a:r>
            <a:r>
              <a:rPr sz="1400" dirty="0">
                <a:solidFill>
                  <a:sysClr val="windowText" lastClr="000000"/>
                </a:solidFill>
                <a:latin typeface="Palatino Linotype"/>
                <a:cs typeface="Palatino Linotype"/>
              </a:rPr>
              <a:t>symbol</a:t>
            </a:r>
            <a:r>
              <a:rPr sz="1400" spc="-20" dirty="0">
                <a:solidFill>
                  <a:sysClr val="windowText" lastClr="000000"/>
                </a:solidFill>
                <a:latin typeface="Palatino Linotype"/>
                <a:cs typeface="Palatino Linotype"/>
              </a:rPr>
              <a:t> </a:t>
            </a:r>
            <a:r>
              <a:rPr sz="1400" dirty="0">
                <a:solidFill>
                  <a:sysClr val="windowText" lastClr="000000"/>
                </a:solidFill>
                <a:latin typeface="Palatino Linotype"/>
                <a:cs typeface="Palatino Linotype"/>
              </a:rPr>
              <a:t>table</a:t>
            </a:r>
            <a:r>
              <a:rPr sz="1400" spc="-25" dirty="0">
                <a:solidFill>
                  <a:sysClr val="windowText" lastClr="000000"/>
                </a:solidFill>
                <a:latin typeface="Palatino Linotype"/>
                <a:cs typeface="Palatino Linotype"/>
              </a:rPr>
              <a:t> </a:t>
            </a:r>
            <a:r>
              <a:rPr sz="1400" dirty="0">
                <a:solidFill>
                  <a:sysClr val="windowText" lastClr="000000"/>
                </a:solidFill>
                <a:latin typeface="Palatino Linotype"/>
                <a:cs typeface="Palatino Linotype"/>
              </a:rPr>
              <a:t>regarding</a:t>
            </a:r>
            <a:r>
              <a:rPr sz="1400" spc="-30" dirty="0">
                <a:solidFill>
                  <a:sysClr val="windowText" lastClr="000000"/>
                </a:solidFill>
                <a:latin typeface="Palatino Linotype"/>
                <a:cs typeface="Palatino Linotype"/>
              </a:rPr>
              <a:t> </a:t>
            </a:r>
            <a:r>
              <a:rPr sz="1400" dirty="0">
                <a:solidFill>
                  <a:sysClr val="windowText" lastClr="000000"/>
                </a:solidFill>
                <a:latin typeface="Palatino Linotype"/>
                <a:cs typeface="Palatino Linotype"/>
              </a:rPr>
              <a:t>the</a:t>
            </a:r>
            <a:r>
              <a:rPr sz="1400" spc="-25" dirty="0">
                <a:solidFill>
                  <a:sysClr val="windowText" lastClr="000000"/>
                </a:solidFill>
                <a:latin typeface="Palatino Linotype"/>
                <a:cs typeface="Palatino Linotype"/>
              </a:rPr>
              <a:t> </a:t>
            </a:r>
            <a:r>
              <a:rPr sz="1400" dirty="0">
                <a:solidFill>
                  <a:sysClr val="windowText" lastClr="000000"/>
                </a:solidFill>
                <a:latin typeface="Palatino Linotype"/>
                <a:cs typeface="Palatino Linotype"/>
              </a:rPr>
              <a:t>next</a:t>
            </a:r>
            <a:r>
              <a:rPr sz="1400" spc="-20" dirty="0">
                <a:solidFill>
                  <a:sysClr val="windowText" lastClr="000000"/>
                </a:solidFill>
                <a:latin typeface="Palatino Linotype"/>
                <a:cs typeface="Palatino Linotype"/>
              </a:rPr>
              <a:t> </a:t>
            </a:r>
            <a:r>
              <a:rPr sz="1400" spc="-25" dirty="0">
                <a:solidFill>
                  <a:sysClr val="windowText" lastClr="000000"/>
                </a:solidFill>
                <a:latin typeface="Palatino Linotype"/>
                <a:cs typeface="Palatino Linotype"/>
              </a:rPr>
              <a:t>use </a:t>
            </a:r>
            <a:r>
              <a:rPr sz="1400" dirty="0">
                <a:solidFill>
                  <a:sysClr val="windowText" lastClr="000000"/>
                </a:solidFill>
                <a:latin typeface="Palatino Linotype"/>
                <a:cs typeface="Palatino Linotype"/>
              </a:rPr>
              <a:t>and</a:t>
            </a:r>
            <a:r>
              <a:rPr sz="1400" spc="-15" dirty="0">
                <a:solidFill>
                  <a:sysClr val="windowText" lastClr="000000"/>
                </a:solidFill>
                <a:latin typeface="Palatino Linotype"/>
                <a:cs typeface="Palatino Linotype"/>
              </a:rPr>
              <a:t> </a:t>
            </a:r>
            <a:r>
              <a:rPr sz="1400" dirty="0">
                <a:solidFill>
                  <a:sysClr val="windowText" lastClr="000000"/>
                </a:solidFill>
                <a:latin typeface="Palatino Linotype"/>
                <a:cs typeface="Palatino Linotype"/>
              </a:rPr>
              <a:t>liveness</a:t>
            </a:r>
            <a:r>
              <a:rPr sz="1400" spc="-15" dirty="0">
                <a:solidFill>
                  <a:sysClr val="windowText" lastClr="000000"/>
                </a:solidFill>
                <a:latin typeface="Palatino Linotype"/>
                <a:cs typeface="Palatino Linotype"/>
              </a:rPr>
              <a:t> </a:t>
            </a:r>
            <a:r>
              <a:rPr sz="1400" dirty="0">
                <a:solidFill>
                  <a:sysClr val="windowText" lastClr="000000"/>
                </a:solidFill>
                <a:latin typeface="Palatino Linotype"/>
                <a:cs typeface="Palatino Linotype"/>
              </a:rPr>
              <a:t>of</a:t>
            </a:r>
            <a:r>
              <a:rPr sz="1400" spc="-10" dirty="0">
                <a:solidFill>
                  <a:sysClr val="windowText" lastClr="000000"/>
                </a:solidFill>
                <a:latin typeface="Palatino Linotype"/>
                <a:cs typeface="Palatino Linotype"/>
              </a:rPr>
              <a:t> </a:t>
            </a:r>
            <a:r>
              <a:rPr sz="1400" dirty="0">
                <a:solidFill>
                  <a:sysClr val="windowText" lastClr="000000"/>
                </a:solidFill>
                <a:latin typeface="Cambria Math"/>
                <a:cs typeface="Cambria Math"/>
              </a:rPr>
              <a:t>𝑥</a:t>
            </a:r>
            <a:r>
              <a:rPr sz="1400" dirty="0">
                <a:solidFill>
                  <a:sysClr val="windowText" lastClr="000000"/>
                </a:solidFill>
                <a:latin typeface="Palatino Linotype"/>
                <a:cs typeface="Palatino Linotype"/>
              </a:rPr>
              <a:t>,</a:t>
            </a:r>
            <a:r>
              <a:rPr sz="1400" spc="-5" dirty="0">
                <a:solidFill>
                  <a:sysClr val="windowText" lastClr="000000"/>
                </a:solidFill>
                <a:latin typeface="Palatino Linotype"/>
                <a:cs typeface="Palatino Linotype"/>
              </a:rPr>
              <a:t> </a:t>
            </a:r>
            <a:r>
              <a:rPr sz="1400" dirty="0">
                <a:solidFill>
                  <a:sysClr val="windowText" lastClr="000000"/>
                </a:solidFill>
                <a:latin typeface="Cambria Math"/>
                <a:cs typeface="Cambria Math"/>
              </a:rPr>
              <a:t>𝑦</a:t>
            </a:r>
            <a:r>
              <a:rPr sz="1400" dirty="0">
                <a:solidFill>
                  <a:sysClr val="windowText" lastClr="000000"/>
                </a:solidFill>
                <a:latin typeface="Palatino Linotype"/>
                <a:cs typeface="Palatino Linotype"/>
              </a:rPr>
              <a:t>,</a:t>
            </a:r>
            <a:r>
              <a:rPr sz="1400" spc="-5" dirty="0">
                <a:solidFill>
                  <a:sysClr val="windowText" lastClr="000000"/>
                </a:solidFill>
                <a:latin typeface="Palatino Linotype"/>
                <a:cs typeface="Palatino Linotype"/>
              </a:rPr>
              <a:t> </a:t>
            </a:r>
            <a:r>
              <a:rPr sz="1400" dirty="0">
                <a:solidFill>
                  <a:sysClr val="windowText" lastClr="000000"/>
                </a:solidFill>
                <a:latin typeface="Palatino Linotype"/>
                <a:cs typeface="Palatino Linotype"/>
              </a:rPr>
              <a:t>and</a:t>
            </a:r>
            <a:r>
              <a:rPr sz="1400" spc="-15" dirty="0">
                <a:solidFill>
                  <a:sysClr val="windowText" lastClr="000000"/>
                </a:solidFill>
                <a:latin typeface="Palatino Linotype"/>
                <a:cs typeface="Palatino Linotype"/>
              </a:rPr>
              <a:t> </a:t>
            </a:r>
            <a:r>
              <a:rPr sz="1400" spc="-50" dirty="0">
                <a:solidFill>
                  <a:sysClr val="windowText" lastClr="000000"/>
                </a:solidFill>
                <a:latin typeface="Cambria Math"/>
                <a:cs typeface="Cambria Math"/>
              </a:rPr>
              <a:t>𝑧</a:t>
            </a:r>
            <a:endParaRPr sz="1400">
              <a:solidFill>
                <a:sysClr val="windowText" lastClr="000000"/>
              </a:solidFill>
              <a:latin typeface="Cambria Math"/>
              <a:cs typeface="Cambria Math"/>
            </a:endParaRPr>
          </a:p>
          <a:p>
            <a:pPr marL="1269365" lvl="2" indent="-342900">
              <a:spcBef>
                <a:spcPts val="940"/>
              </a:spcBef>
              <a:buFontTx/>
              <a:buAutoNum type="arabicPeriod"/>
              <a:tabLst>
                <a:tab pos="1269365" algn="l"/>
              </a:tabLst>
            </a:pPr>
            <a:r>
              <a:rPr sz="1400" dirty="0">
                <a:solidFill>
                  <a:sysClr val="windowText" lastClr="000000"/>
                </a:solidFill>
                <a:latin typeface="Palatino Linotype"/>
                <a:cs typeface="Palatino Linotype"/>
              </a:rPr>
              <a:t>In</a:t>
            </a:r>
            <a:r>
              <a:rPr sz="1400" spc="-25" dirty="0">
                <a:solidFill>
                  <a:sysClr val="windowText" lastClr="000000"/>
                </a:solidFill>
                <a:latin typeface="Palatino Linotype"/>
                <a:cs typeface="Palatino Linotype"/>
              </a:rPr>
              <a:t> </a:t>
            </a:r>
            <a:r>
              <a:rPr sz="1400" dirty="0">
                <a:solidFill>
                  <a:sysClr val="windowText" lastClr="000000"/>
                </a:solidFill>
                <a:latin typeface="Palatino Linotype"/>
                <a:cs typeface="Palatino Linotype"/>
              </a:rPr>
              <a:t>the</a:t>
            </a:r>
            <a:r>
              <a:rPr sz="1400" spc="-15" dirty="0">
                <a:solidFill>
                  <a:sysClr val="windowText" lastClr="000000"/>
                </a:solidFill>
                <a:latin typeface="Palatino Linotype"/>
                <a:cs typeface="Palatino Linotype"/>
              </a:rPr>
              <a:t> </a:t>
            </a:r>
            <a:r>
              <a:rPr sz="1400" dirty="0">
                <a:solidFill>
                  <a:sysClr val="windowText" lastClr="000000"/>
                </a:solidFill>
                <a:latin typeface="Palatino Linotype"/>
                <a:cs typeface="Palatino Linotype"/>
              </a:rPr>
              <a:t>symbol</a:t>
            </a:r>
            <a:r>
              <a:rPr sz="1400" spc="-10" dirty="0">
                <a:solidFill>
                  <a:sysClr val="windowText" lastClr="000000"/>
                </a:solidFill>
                <a:latin typeface="Palatino Linotype"/>
                <a:cs typeface="Palatino Linotype"/>
              </a:rPr>
              <a:t> </a:t>
            </a:r>
            <a:r>
              <a:rPr sz="1400" dirty="0">
                <a:solidFill>
                  <a:sysClr val="windowText" lastClr="000000"/>
                </a:solidFill>
                <a:latin typeface="Palatino Linotype"/>
                <a:cs typeface="Palatino Linotype"/>
              </a:rPr>
              <a:t>table,</a:t>
            </a:r>
            <a:r>
              <a:rPr sz="1400" spc="-15" dirty="0">
                <a:solidFill>
                  <a:sysClr val="windowText" lastClr="000000"/>
                </a:solidFill>
                <a:latin typeface="Palatino Linotype"/>
                <a:cs typeface="Palatino Linotype"/>
              </a:rPr>
              <a:t> </a:t>
            </a:r>
            <a:r>
              <a:rPr sz="1400" dirty="0">
                <a:solidFill>
                  <a:sysClr val="windowText" lastClr="000000"/>
                </a:solidFill>
                <a:latin typeface="Palatino Linotype"/>
                <a:cs typeface="Palatino Linotype"/>
              </a:rPr>
              <a:t>set</a:t>
            </a:r>
            <a:r>
              <a:rPr sz="1400" spc="-15" dirty="0">
                <a:solidFill>
                  <a:sysClr val="windowText" lastClr="000000"/>
                </a:solidFill>
                <a:latin typeface="Palatino Linotype"/>
                <a:cs typeface="Palatino Linotype"/>
              </a:rPr>
              <a:t> </a:t>
            </a:r>
            <a:r>
              <a:rPr sz="1400" dirty="0">
                <a:solidFill>
                  <a:sysClr val="windowText" lastClr="000000"/>
                </a:solidFill>
                <a:latin typeface="Cambria Math"/>
                <a:cs typeface="Cambria Math"/>
              </a:rPr>
              <a:t>𝑥</a:t>
            </a:r>
            <a:r>
              <a:rPr sz="1400" spc="70" dirty="0">
                <a:solidFill>
                  <a:sysClr val="windowText" lastClr="000000"/>
                </a:solidFill>
                <a:latin typeface="Cambria Math"/>
                <a:cs typeface="Cambria Math"/>
              </a:rPr>
              <a:t> </a:t>
            </a:r>
            <a:r>
              <a:rPr sz="1400" dirty="0">
                <a:solidFill>
                  <a:sysClr val="windowText" lastClr="000000"/>
                </a:solidFill>
                <a:latin typeface="Palatino Linotype"/>
                <a:cs typeface="Palatino Linotype"/>
              </a:rPr>
              <a:t>to</a:t>
            </a:r>
            <a:r>
              <a:rPr sz="1400" spc="-25" dirty="0">
                <a:solidFill>
                  <a:sysClr val="windowText" lastClr="000000"/>
                </a:solidFill>
                <a:latin typeface="Palatino Linotype"/>
                <a:cs typeface="Palatino Linotype"/>
              </a:rPr>
              <a:t> </a:t>
            </a:r>
            <a:r>
              <a:rPr sz="1400" dirty="0">
                <a:solidFill>
                  <a:sysClr val="windowText" lastClr="000000"/>
                </a:solidFill>
                <a:latin typeface="Palatino Linotype"/>
                <a:cs typeface="Palatino Linotype"/>
              </a:rPr>
              <a:t>“</a:t>
            </a:r>
            <a:r>
              <a:rPr sz="1400" i="1" dirty="0">
                <a:solidFill>
                  <a:sysClr val="windowText" lastClr="000000"/>
                </a:solidFill>
                <a:latin typeface="Palatino Linotype"/>
                <a:cs typeface="Palatino Linotype"/>
              </a:rPr>
              <a:t>not</a:t>
            </a:r>
            <a:r>
              <a:rPr sz="1400" i="1" spc="-20" dirty="0">
                <a:solidFill>
                  <a:sysClr val="windowText" lastClr="000000"/>
                </a:solidFill>
                <a:latin typeface="Palatino Linotype"/>
                <a:cs typeface="Palatino Linotype"/>
              </a:rPr>
              <a:t> </a:t>
            </a:r>
            <a:r>
              <a:rPr sz="1400" i="1" dirty="0">
                <a:solidFill>
                  <a:sysClr val="windowText" lastClr="000000"/>
                </a:solidFill>
                <a:latin typeface="Palatino Linotype"/>
                <a:cs typeface="Palatino Linotype"/>
              </a:rPr>
              <a:t>live</a:t>
            </a:r>
            <a:r>
              <a:rPr sz="1400" dirty="0">
                <a:solidFill>
                  <a:sysClr val="windowText" lastClr="000000"/>
                </a:solidFill>
                <a:latin typeface="Palatino Linotype"/>
                <a:cs typeface="Palatino Linotype"/>
              </a:rPr>
              <a:t>”</a:t>
            </a:r>
            <a:r>
              <a:rPr sz="1400" spc="-15" dirty="0">
                <a:solidFill>
                  <a:sysClr val="windowText" lastClr="000000"/>
                </a:solidFill>
                <a:latin typeface="Palatino Linotype"/>
                <a:cs typeface="Palatino Linotype"/>
              </a:rPr>
              <a:t> </a:t>
            </a:r>
            <a:r>
              <a:rPr sz="1400" dirty="0">
                <a:solidFill>
                  <a:sysClr val="windowText" lastClr="000000"/>
                </a:solidFill>
                <a:latin typeface="Palatino Linotype"/>
                <a:cs typeface="Palatino Linotype"/>
              </a:rPr>
              <a:t>and</a:t>
            </a:r>
            <a:r>
              <a:rPr sz="1400" spc="-25" dirty="0">
                <a:solidFill>
                  <a:sysClr val="windowText" lastClr="000000"/>
                </a:solidFill>
                <a:latin typeface="Palatino Linotype"/>
                <a:cs typeface="Palatino Linotype"/>
              </a:rPr>
              <a:t> </a:t>
            </a:r>
            <a:r>
              <a:rPr sz="1400" dirty="0">
                <a:solidFill>
                  <a:sysClr val="windowText" lastClr="000000"/>
                </a:solidFill>
                <a:latin typeface="Palatino Linotype"/>
                <a:cs typeface="Palatino Linotype"/>
              </a:rPr>
              <a:t>“</a:t>
            </a:r>
            <a:r>
              <a:rPr sz="1400" i="1" dirty="0">
                <a:solidFill>
                  <a:sysClr val="windowText" lastClr="000000"/>
                </a:solidFill>
                <a:latin typeface="Palatino Linotype"/>
                <a:cs typeface="Palatino Linotype"/>
              </a:rPr>
              <a:t>no</a:t>
            </a:r>
            <a:r>
              <a:rPr sz="1400" i="1" spc="-20" dirty="0">
                <a:solidFill>
                  <a:sysClr val="windowText" lastClr="000000"/>
                </a:solidFill>
                <a:latin typeface="Palatino Linotype"/>
                <a:cs typeface="Palatino Linotype"/>
              </a:rPr>
              <a:t> </a:t>
            </a:r>
            <a:r>
              <a:rPr sz="1400" i="1" dirty="0">
                <a:solidFill>
                  <a:sysClr val="windowText" lastClr="000000"/>
                </a:solidFill>
                <a:latin typeface="Palatino Linotype"/>
                <a:cs typeface="Palatino Linotype"/>
              </a:rPr>
              <a:t>next</a:t>
            </a:r>
            <a:r>
              <a:rPr sz="1400" i="1" spc="-20" dirty="0">
                <a:solidFill>
                  <a:sysClr val="windowText" lastClr="000000"/>
                </a:solidFill>
                <a:latin typeface="Palatino Linotype"/>
                <a:cs typeface="Palatino Linotype"/>
              </a:rPr>
              <a:t> use</a:t>
            </a:r>
            <a:r>
              <a:rPr sz="1400" spc="-20" dirty="0">
                <a:solidFill>
                  <a:sysClr val="windowText" lastClr="000000"/>
                </a:solidFill>
                <a:latin typeface="Palatino Linotype"/>
                <a:cs typeface="Palatino Linotype"/>
              </a:rPr>
              <a:t>”</a:t>
            </a:r>
            <a:endParaRPr sz="1400">
              <a:solidFill>
                <a:sysClr val="windowText" lastClr="000000"/>
              </a:solidFill>
              <a:latin typeface="Palatino Linotype"/>
              <a:cs typeface="Palatino Linotype"/>
            </a:endParaRPr>
          </a:p>
          <a:p>
            <a:pPr marL="1269365" lvl="2" indent="-342900">
              <a:spcBef>
                <a:spcPts val="910"/>
              </a:spcBef>
              <a:buFontTx/>
              <a:buAutoNum type="arabicPeriod"/>
              <a:tabLst>
                <a:tab pos="1269365" algn="l"/>
              </a:tabLst>
            </a:pPr>
            <a:r>
              <a:rPr sz="1400" dirty="0">
                <a:solidFill>
                  <a:sysClr val="windowText" lastClr="000000"/>
                </a:solidFill>
                <a:latin typeface="Palatino Linotype"/>
                <a:cs typeface="Palatino Linotype"/>
              </a:rPr>
              <a:t>In</a:t>
            </a:r>
            <a:r>
              <a:rPr sz="1400" spc="-25" dirty="0">
                <a:solidFill>
                  <a:sysClr val="windowText" lastClr="000000"/>
                </a:solidFill>
                <a:latin typeface="Palatino Linotype"/>
                <a:cs typeface="Palatino Linotype"/>
              </a:rPr>
              <a:t> </a:t>
            </a:r>
            <a:r>
              <a:rPr sz="1400" dirty="0">
                <a:solidFill>
                  <a:sysClr val="windowText" lastClr="000000"/>
                </a:solidFill>
                <a:latin typeface="Palatino Linotype"/>
                <a:cs typeface="Palatino Linotype"/>
              </a:rPr>
              <a:t>the</a:t>
            </a:r>
            <a:r>
              <a:rPr sz="1400" spc="-15" dirty="0">
                <a:solidFill>
                  <a:sysClr val="windowText" lastClr="000000"/>
                </a:solidFill>
                <a:latin typeface="Palatino Linotype"/>
                <a:cs typeface="Palatino Linotype"/>
              </a:rPr>
              <a:t> </a:t>
            </a:r>
            <a:r>
              <a:rPr sz="1400" dirty="0">
                <a:solidFill>
                  <a:sysClr val="windowText" lastClr="000000"/>
                </a:solidFill>
                <a:latin typeface="Palatino Linotype"/>
                <a:cs typeface="Palatino Linotype"/>
              </a:rPr>
              <a:t>symbol</a:t>
            </a:r>
            <a:r>
              <a:rPr sz="1400" spc="-10" dirty="0">
                <a:solidFill>
                  <a:sysClr val="windowText" lastClr="000000"/>
                </a:solidFill>
                <a:latin typeface="Palatino Linotype"/>
                <a:cs typeface="Palatino Linotype"/>
              </a:rPr>
              <a:t> </a:t>
            </a:r>
            <a:r>
              <a:rPr sz="1400" dirty="0">
                <a:solidFill>
                  <a:sysClr val="windowText" lastClr="000000"/>
                </a:solidFill>
                <a:latin typeface="Palatino Linotype"/>
                <a:cs typeface="Palatino Linotype"/>
              </a:rPr>
              <a:t>table,</a:t>
            </a:r>
            <a:r>
              <a:rPr sz="1400" spc="-20" dirty="0">
                <a:solidFill>
                  <a:sysClr val="windowText" lastClr="000000"/>
                </a:solidFill>
                <a:latin typeface="Palatino Linotype"/>
                <a:cs typeface="Palatino Linotype"/>
              </a:rPr>
              <a:t> </a:t>
            </a:r>
            <a:r>
              <a:rPr sz="1400" dirty="0">
                <a:solidFill>
                  <a:sysClr val="windowText" lastClr="000000"/>
                </a:solidFill>
                <a:latin typeface="Palatino Linotype"/>
                <a:cs typeface="Palatino Linotype"/>
              </a:rPr>
              <a:t>set</a:t>
            </a:r>
            <a:r>
              <a:rPr sz="1400" spc="-10" dirty="0">
                <a:solidFill>
                  <a:sysClr val="windowText" lastClr="000000"/>
                </a:solidFill>
                <a:latin typeface="Palatino Linotype"/>
                <a:cs typeface="Palatino Linotype"/>
              </a:rPr>
              <a:t> </a:t>
            </a:r>
            <a:r>
              <a:rPr sz="1400" dirty="0">
                <a:solidFill>
                  <a:sysClr val="windowText" lastClr="000000"/>
                </a:solidFill>
                <a:latin typeface="Cambria Math"/>
                <a:cs typeface="Cambria Math"/>
              </a:rPr>
              <a:t>𝑦</a:t>
            </a:r>
            <a:r>
              <a:rPr sz="1400" spc="50" dirty="0">
                <a:solidFill>
                  <a:sysClr val="windowText" lastClr="000000"/>
                </a:solidFill>
                <a:latin typeface="Cambria Math"/>
                <a:cs typeface="Cambria Math"/>
              </a:rPr>
              <a:t> </a:t>
            </a:r>
            <a:r>
              <a:rPr sz="1400" dirty="0">
                <a:solidFill>
                  <a:sysClr val="windowText" lastClr="000000"/>
                </a:solidFill>
                <a:latin typeface="Palatino Linotype"/>
                <a:cs typeface="Palatino Linotype"/>
              </a:rPr>
              <a:t>and</a:t>
            </a:r>
            <a:r>
              <a:rPr sz="1400" spc="-30" dirty="0">
                <a:solidFill>
                  <a:sysClr val="windowText" lastClr="000000"/>
                </a:solidFill>
                <a:latin typeface="Palatino Linotype"/>
                <a:cs typeface="Palatino Linotype"/>
              </a:rPr>
              <a:t> </a:t>
            </a:r>
            <a:r>
              <a:rPr sz="1400" dirty="0">
                <a:solidFill>
                  <a:sysClr val="windowText" lastClr="000000"/>
                </a:solidFill>
                <a:latin typeface="Cambria Math"/>
                <a:cs typeface="Cambria Math"/>
              </a:rPr>
              <a:t>𝑧</a:t>
            </a:r>
            <a:r>
              <a:rPr sz="1400" spc="45" dirty="0">
                <a:solidFill>
                  <a:sysClr val="windowText" lastClr="000000"/>
                </a:solidFill>
                <a:latin typeface="Cambria Math"/>
                <a:cs typeface="Cambria Math"/>
              </a:rPr>
              <a:t> </a:t>
            </a:r>
            <a:r>
              <a:rPr sz="1400" dirty="0">
                <a:solidFill>
                  <a:sysClr val="windowText" lastClr="000000"/>
                </a:solidFill>
                <a:latin typeface="Palatino Linotype"/>
                <a:cs typeface="Palatino Linotype"/>
              </a:rPr>
              <a:t>to</a:t>
            </a:r>
            <a:r>
              <a:rPr sz="1400" spc="-20" dirty="0">
                <a:solidFill>
                  <a:sysClr val="windowText" lastClr="000000"/>
                </a:solidFill>
                <a:latin typeface="Palatino Linotype"/>
                <a:cs typeface="Palatino Linotype"/>
              </a:rPr>
              <a:t> </a:t>
            </a:r>
            <a:r>
              <a:rPr sz="1400" dirty="0">
                <a:solidFill>
                  <a:sysClr val="windowText" lastClr="000000"/>
                </a:solidFill>
                <a:latin typeface="Palatino Linotype"/>
                <a:cs typeface="Palatino Linotype"/>
              </a:rPr>
              <a:t>“</a:t>
            </a:r>
            <a:r>
              <a:rPr sz="1400" i="1" dirty="0">
                <a:solidFill>
                  <a:sysClr val="windowText" lastClr="000000"/>
                </a:solidFill>
                <a:latin typeface="Palatino Linotype"/>
                <a:cs typeface="Palatino Linotype"/>
              </a:rPr>
              <a:t>live</a:t>
            </a:r>
            <a:r>
              <a:rPr sz="1400" dirty="0">
                <a:solidFill>
                  <a:sysClr val="windowText" lastClr="000000"/>
                </a:solidFill>
                <a:latin typeface="Palatino Linotype"/>
                <a:cs typeface="Palatino Linotype"/>
              </a:rPr>
              <a:t>”</a:t>
            </a:r>
            <a:r>
              <a:rPr sz="1400" spc="-20" dirty="0">
                <a:solidFill>
                  <a:sysClr val="windowText" lastClr="000000"/>
                </a:solidFill>
                <a:latin typeface="Palatino Linotype"/>
                <a:cs typeface="Palatino Linotype"/>
              </a:rPr>
              <a:t> </a:t>
            </a:r>
            <a:r>
              <a:rPr sz="1400" dirty="0">
                <a:solidFill>
                  <a:sysClr val="windowText" lastClr="000000"/>
                </a:solidFill>
                <a:latin typeface="Palatino Linotype"/>
                <a:cs typeface="Palatino Linotype"/>
              </a:rPr>
              <a:t>and</a:t>
            </a:r>
            <a:r>
              <a:rPr sz="1400" spc="-25" dirty="0">
                <a:solidFill>
                  <a:sysClr val="windowText" lastClr="000000"/>
                </a:solidFill>
                <a:latin typeface="Palatino Linotype"/>
                <a:cs typeface="Palatino Linotype"/>
              </a:rPr>
              <a:t> </a:t>
            </a:r>
            <a:r>
              <a:rPr sz="1400" dirty="0">
                <a:solidFill>
                  <a:sysClr val="windowText" lastClr="000000"/>
                </a:solidFill>
                <a:latin typeface="Palatino Linotype"/>
                <a:cs typeface="Palatino Linotype"/>
              </a:rPr>
              <a:t>their</a:t>
            </a:r>
            <a:r>
              <a:rPr sz="1400" spc="-20" dirty="0">
                <a:solidFill>
                  <a:sysClr val="windowText" lastClr="000000"/>
                </a:solidFill>
                <a:latin typeface="Palatino Linotype"/>
                <a:cs typeface="Palatino Linotype"/>
              </a:rPr>
              <a:t> </a:t>
            </a:r>
            <a:r>
              <a:rPr sz="1400" dirty="0">
                <a:solidFill>
                  <a:sysClr val="windowText" lastClr="000000"/>
                </a:solidFill>
                <a:latin typeface="Palatino Linotype"/>
                <a:cs typeface="Palatino Linotype"/>
              </a:rPr>
              <a:t>next</a:t>
            </a:r>
            <a:r>
              <a:rPr sz="1400" spc="-10" dirty="0">
                <a:solidFill>
                  <a:sysClr val="windowText" lastClr="000000"/>
                </a:solidFill>
                <a:latin typeface="Palatino Linotype"/>
                <a:cs typeface="Palatino Linotype"/>
              </a:rPr>
              <a:t> </a:t>
            </a:r>
            <a:r>
              <a:rPr sz="1400" dirty="0">
                <a:solidFill>
                  <a:sysClr val="windowText" lastClr="000000"/>
                </a:solidFill>
                <a:latin typeface="Palatino Linotype"/>
                <a:cs typeface="Palatino Linotype"/>
              </a:rPr>
              <a:t>uses</a:t>
            </a:r>
            <a:r>
              <a:rPr sz="1400" spc="-25" dirty="0">
                <a:solidFill>
                  <a:sysClr val="windowText" lastClr="000000"/>
                </a:solidFill>
                <a:latin typeface="Palatino Linotype"/>
                <a:cs typeface="Palatino Linotype"/>
              </a:rPr>
              <a:t> </a:t>
            </a:r>
            <a:r>
              <a:rPr sz="1400" dirty="0">
                <a:solidFill>
                  <a:sysClr val="windowText" lastClr="000000"/>
                </a:solidFill>
                <a:latin typeface="Palatino Linotype"/>
                <a:cs typeface="Palatino Linotype"/>
              </a:rPr>
              <a:t>to</a:t>
            </a:r>
            <a:r>
              <a:rPr sz="1400" spc="-25" dirty="0">
                <a:solidFill>
                  <a:sysClr val="windowText" lastClr="000000"/>
                </a:solidFill>
                <a:latin typeface="Palatino Linotype"/>
                <a:cs typeface="Palatino Linotype"/>
              </a:rPr>
              <a:t> </a:t>
            </a:r>
            <a:r>
              <a:rPr sz="1400" spc="-50" dirty="0">
                <a:solidFill>
                  <a:sysClr val="windowText" lastClr="000000"/>
                </a:solidFill>
                <a:latin typeface="Cambria Math"/>
                <a:cs typeface="Cambria Math"/>
              </a:rPr>
              <a:t>𝑖</a:t>
            </a:r>
            <a:endParaRPr sz="1400">
              <a:solidFill>
                <a:sysClr val="windowText" lastClr="000000"/>
              </a:solidFill>
              <a:latin typeface="Cambria Math"/>
              <a:cs typeface="Cambria Math"/>
            </a:endParaRPr>
          </a:p>
        </p:txBody>
      </p:sp>
    </p:spTree>
    <p:extLst>
      <p:ext uri="{BB962C8B-B14F-4D97-AF65-F5344CB8AC3E}">
        <p14:creationId xmlns:p14="http://schemas.microsoft.com/office/powerpoint/2010/main" val="226300767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29</a:t>
            </a:fld>
            <a:endParaRPr lang="en-US"/>
          </a:p>
        </p:txBody>
      </p:sp>
      <p:sp>
        <p:nvSpPr>
          <p:cNvPr id="9" name="object 2">
            <a:extLst>
              <a:ext uri="{FF2B5EF4-FFF2-40B4-BE49-F238E27FC236}">
                <a16:creationId xmlns:a16="http://schemas.microsoft.com/office/drawing/2014/main" id="{30BFE4FF-3C3A-3532-E5C0-C620E71BAB57}"/>
              </a:ext>
            </a:extLst>
          </p:cNvPr>
          <p:cNvSpPr txBox="1">
            <a:spLocks/>
          </p:cNvSpPr>
          <p:nvPr/>
        </p:nvSpPr>
        <p:spPr>
          <a:xfrm>
            <a:off x="707390" y="524763"/>
            <a:ext cx="7729219" cy="63500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4000" b="1" i="0" u="none" strike="noStrike" kern="0" cap="none" spc="0" normalizeH="0" baseline="0" noProof="0">
                <a:ln>
                  <a:noFill/>
                </a:ln>
                <a:solidFill>
                  <a:sysClr val="windowText" lastClr="000000"/>
                </a:solidFill>
                <a:effectLst/>
                <a:uLnTx/>
                <a:uFillTx/>
                <a:latin typeface="Palatino Linotype"/>
                <a:ea typeface="+mj-ea"/>
              </a:rPr>
              <a:t>Running</a:t>
            </a:r>
            <a:r>
              <a:rPr kumimoji="0" lang="en-US" sz="4000" b="1" i="0" u="none" strike="noStrike" kern="0" cap="none" spc="-85" normalizeH="0" baseline="0" noProof="0">
                <a:ln>
                  <a:noFill/>
                </a:ln>
                <a:solidFill>
                  <a:sysClr val="windowText" lastClr="000000"/>
                </a:solidFill>
                <a:effectLst/>
                <a:uLnTx/>
                <a:uFillTx/>
                <a:latin typeface="Palatino Linotype"/>
                <a:ea typeface="+mj-ea"/>
              </a:rPr>
              <a:t> </a:t>
            </a:r>
            <a:r>
              <a:rPr kumimoji="0" lang="en-US" sz="4000" b="1" i="0" u="none" strike="noStrike" kern="0" cap="none" spc="-10" normalizeH="0" baseline="0" noProof="0">
                <a:ln>
                  <a:noFill/>
                </a:ln>
                <a:solidFill>
                  <a:sysClr val="windowText" lastClr="000000"/>
                </a:solidFill>
                <a:effectLst/>
                <a:uLnTx/>
                <a:uFillTx/>
                <a:latin typeface="Palatino Linotype"/>
                <a:ea typeface="+mj-ea"/>
              </a:rPr>
              <a:t>Example</a:t>
            </a:r>
            <a:endParaRPr kumimoji="0" lang="en-US" sz="4000" b="1" i="0" u="none" strike="noStrike" kern="0" cap="none" spc="-10" normalizeH="0" baseline="0" noProof="0" dirty="0">
              <a:ln>
                <a:noFill/>
              </a:ln>
              <a:solidFill>
                <a:sysClr val="windowText" lastClr="000000"/>
              </a:solidFill>
              <a:effectLst/>
              <a:uLnTx/>
              <a:uFillTx/>
              <a:latin typeface="Palatino Linotype"/>
              <a:ea typeface="+mj-ea"/>
            </a:endParaRPr>
          </a:p>
        </p:txBody>
      </p:sp>
      <p:sp>
        <p:nvSpPr>
          <p:cNvPr id="10" name="object 3">
            <a:extLst>
              <a:ext uri="{FF2B5EF4-FFF2-40B4-BE49-F238E27FC236}">
                <a16:creationId xmlns:a16="http://schemas.microsoft.com/office/drawing/2014/main" id="{05D07F31-0223-496F-9410-E4AC0DC9132A}"/>
              </a:ext>
            </a:extLst>
          </p:cNvPr>
          <p:cNvSpPr txBox="1"/>
          <p:nvPr/>
        </p:nvSpPr>
        <p:spPr>
          <a:xfrm>
            <a:off x="707390" y="1787652"/>
            <a:ext cx="7476490" cy="732790"/>
          </a:xfrm>
          <a:prstGeom prst="rect">
            <a:avLst/>
          </a:prstGeom>
        </p:spPr>
        <p:txBody>
          <a:bodyPr vert="horz" wrap="square" lIns="0" tIns="12700" rIns="0" bIns="0" rtlCol="0">
            <a:spAutoFit/>
          </a:bodyPr>
          <a:lstStyle/>
          <a:p>
            <a:pPr marL="242570" marR="5080" indent="-230504">
              <a:lnSpc>
                <a:spcPct val="115999"/>
              </a:lnSpc>
              <a:spcBef>
                <a:spcPts val="100"/>
              </a:spcBef>
              <a:buFont typeface="Arial MT"/>
              <a:buChar char="•"/>
              <a:tabLst>
                <a:tab pos="242570" algn="l"/>
              </a:tabLst>
            </a:pPr>
            <a:r>
              <a:rPr sz="2000" dirty="0">
                <a:solidFill>
                  <a:sysClr val="windowText" lastClr="000000"/>
                </a:solidFill>
                <a:latin typeface="Cambria Math"/>
                <a:cs typeface="Cambria Math"/>
              </a:rPr>
              <a:t>𝑖</a:t>
            </a:r>
            <a:r>
              <a:rPr sz="2000" dirty="0">
                <a:solidFill>
                  <a:sysClr val="windowText" lastClr="000000"/>
                </a:solidFill>
                <a:latin typeface="Palatino Linotype"/>
                <a:cs typeface="Palatino Linotype"/>
              </a:rPr>
              <a:t>,</a:t>
            </a:r>
            <a:r>
              <a:rPr sz="2000" spc="-15" dirty="0">
                <a:solidFill>
                  <a:sysClr val="windowText" lastClr="000000"/>
                </a:solidFill>
                <a:latin typeface="Palatino Linotype"/>
                <a:cs typeface="Palatino Linotype"/>
              </a:rPr>
              <a:t> </a:t>
            </a:r>
            <a:r>
              <a:rPr sz="2000" dirty="0">
                <a:solidFill>
                  <a:sysClr val="windowText" lastClr="000000"/>
                </a:solidFill>
                <a:latin typeface="Cambria Math"/>
                <a:cs typeface="Cambria Math"/>
              </a:rPr>
              <a:t>𝑗</a:t>
            </a:r>
            <a:r>
              <a:rPr sz="2000" dirty="0">
                <a:solidFill>
                  <a:sysClr val="windowText" lastClr="000000"/>
                </a:solidFill>
                <a:latin typeface="Palatino Linotype"/>
                <a:cs typeface="Palatino Linotype"/>
              </a:rPr>
              <a:t>,</a:t>
            </a:r>
            <a:r>
              <a:rPr sz="2000" spc="-15" dirty="0">
                <a:solidFill>
                  <a:sysClr val="windowText" lastClr="000000"/>
                </a:solidFill>
                <a:latin typeface="Palatino Linotype"/>
                <a:cs typeface="Palatino Linotype"/>
              </a:rPr>
              <a:t> </a:t>
            </a:r>
            <a:r>
              <a:rPr sz="2000" dirty="0">
                <a:solidFill>
                  <a:sysClr val="windowText" lastClr="000000"/>
                </a:solidFill>
                <a:latin typeface="Cambria Math"/>
                <a:cs typeface="Cambria Math"/>
              </a:rPr>
              <a:t>𝑎</a:t>
            </a:r>
            <a:r>
              <a:rPr sz="2000" spc="90" dirty="0">
                <a:solidFill>
                  <a:sysClr val="windowText" lastClr="000000"/>
                </a:solidFill>
                <a:latin typeface="Cambria Math"/>
                <a:cs typeface="Cambria Math"/>
              </a:rPr>
              <a:t> </a:t>
            </a:r>
            <a:r>
              <a:rPr sz="2000" dirty="0">
                <a:solidFill>
                  <a:sysClr val="windowText" lastClr="000000"/>
                </a:solidFill>
                <a:latin typeface="Palatino Linotype"/>
                <a:cs typeface="Palatino Linotype"/>
              </a:rPr>
              <a:t>are</a:t>
            </a:r>
            <a:r>
              <a:rPr sz="2000" spc="-1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not</a:t>
            </a:r>
            <a:r>
              <a:rPr sz="2000" spc="-2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temporary</a:t>
            </a:r>
            <a:r>
              <a:rPr sz="2000" spc="-1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names</a:t>
            </a:r>
            <a:r>
              <a:rPr sz="2000" spc="-1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generated</a:t>
            </a:r>
            <a:r>
              <a:rPr sz="2000" spc="-1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by</a:t>
            </a:r>
            <a:r>
              <a:rPr sz="2000" spc="-1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compilers.</a:t>
            </a:r>
            <a:r>
              <a:rPr sz="2000" spc="-15" dirty="0">
                <a:solidFill>
                  <a:sysClr val="windowText" lastClr="000000"/>
                </a:solidFill>
                <a:latin typeface="Palatino Linotype"/>
                <a:cs typeface="Palatino Linotype"/>
              </a:rPr>
              <a:t> </a:t>
            </a:r>
            <a:r>
              <a:rPr sz="2000" spc="-10" dirty="0">
                <a:solidFill>
                  <a:sysClr val="windowText" lastClr="000000"/>
                </a:solidFill>
                <a:latin typeface="Palatino Linotype"/>
                <a:cs typeface="Palatino Linotype"/>
              </a:rPr>
              <a:t>Initially, </a:t>
            </a:r>
            <a:r>
              <a:rPr sz="2000" dirty="0">
                <a:solidFill>
                  <a:sysClr val="windowText" lastClr="000000"/>
                </a:solidFill>
                <a:latin typeface="Palatino Linotype"/>
                <a:cs typeface="Palatino Linotype"/>
              </a:rPr>
              <a:t>only</a:t>
            </a:r>
            <a:r>
              <a:rPr sz="2000" spc="-2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they</a:t>
            </a:r>
            <a:r>
              <a:rPr sz="2000" spc="-2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are</a:t>
            </a:r>
            <a:r>
              <a:rPr sz="2000" spc="-2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live</a:t>
            </a:r>
            <a:r>
              <a:rPr sz="2000" spc="-2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on</a:t>
            </a:r>
            <a:r>
              <a:rPr sz="2000" spc="-30" dirty="0">
                <a:solidFill>
                  <a:sysClr val="windowText" lastClr="000000"/>
                </a:solidFill>
                <a:latin typeface="Palatino Linotype"/>
                <a:cs typeface="Palatino Linotype"/>
              </a:rPr>
              <a:t> </a:t>
            </a:r>
            <a:r>
              <a:rPr sz="2000" spc="-20" dirty="0">
                <a:solidFill>
                  <a:sysClr val="windowText" lastClr="000000"/>
                </a:solidFill>
                <a:latin typeface="Palatino Linotype"/>
                <a:cs typeface="Palatino Linotype"/>
              </a:rPr>
              <a:t>exit</a:t>
            </a:r>
            <a:endParaRPr sz="2000">
              <a:solidFill>
                <a:sysClr val="windowText" lastClr="000000"/>
              </a:solidFill>
              <a:latin typeface="Palatino Linotype"/>
              <a:cs typeface="Palatino Linotype"/>
            </a:endParaRPr>
          </a:p>
        </p:txBody>
      </p:sp>
      <p:pic>
        <p:nvPicPr>
          <p:cNvPr id="11" name="object 4">
            <a:extLst>
              <a:ext uri="{FF2B5EF4-FFF2-40B4-BE49-F238E27FC236}">
                <a16:creationId xmlns:a16="http://schemas.microsoft.com/office/drawing/2014/main" id="{1B192381-011D-14CC-A8BE-4079BE2DE686}"/>
              </a:ext>
            </a:extLst>
          </p:cNvPr>
          <p:cNvPicPr/>
          <p:nvPr/>
        </p:nvPicPr>
        <p:blipFill>
          <a:blip r:embed="rId3" cstate="print"/>
          <a:stretch>
            <a:fillRect/>
          </a:stretch>
        </p:blipFill>
        <p:spPr>
          <a:xfrm>
            <a:off x="6740925" y="313327"/>
            <a:ext cx="1387753" cy="1183468"/>
          </a:xfrm>
          <a:prstGeom prst="rect">
            <a:avLst/>
          </a:prstGeom>
        </p:spPr>
      </p:pic>
      <p:graphicFrame>
        <p:nvGraphicFramePr>
          <p:cNvPr id="12" name="object 5">
            <a:extLst>
              <a:ext uri="{FF2B5EF4-FFF2-40B4-BE49-F238E27FC236}">
                <a16:creationId xmlns:a16="http://schemas.microsoft.com/office/drawing/2014/main" id="{F238A3CC-EB5C-108E-A019-1BD23AB8CB58}"/>
              </a:ext>
            </a:extLst>
          </p:cNvPr>
          <p:cNvGraphicFramePr>
            <a:graphicFrameLocks noGrp="1"/>
          </p:cNvGraphicFramePr>
          <p:nvPr>
            <p:extLst>
              <p:ext uri="{D42A27DB-BD31-4B8C-83A1-F6EECF244321}">
                <p14:modId xmlns:p14="http://schemas.microsoft.com/office/powerpoint/2010/main" val="2323184640"/>
              </p:ext>
            </p:extLst>
          </p:nvPr>
        </p:nvGraphicFramePr>
        <p:xfrm>
          <a:off x="1517650" y="2852936"/>
          <a:ext cx="6096000" cy="2958227"/>
        </p:xfrm>
        <a:graphic>
          <a:graphicData uri="http://schemas.openxmlformats.org/drawingml/2006/table">
            <a:tbl>
              <a:tblPr firstRow="1" bandRow="1"/>
              <a:tblGrid>
                <a:gridCol w="2032000">
                  <a:extLst>
                    <a:ext uri="{9D8B030D-6E8A-4147-A177-3AD203B41FA5}">
                      <a16:colId xmlns:a16="http://schemas.microsoft.com/office/drawing/2014/main" val="20000"/>
                    </a:ext>
                  </a:extLst>
                </a:gridCol>
                <a:gridCol w="2032000">
                  <a:extLst>
                    <a:ext uri="{9D8B030D-6E8A-4147-A177-3AD203B41FA5}">
                      <a16:colId xmlns:a16="http://schemas.microsoft.com/office/drawing/2014/main" val="20001"/>
                    </a:ext>
                  </a:extLst>
                </a:gridCol>
                <a:gridCol w="2032000">
                  <a:extLst>
                    <a:ext uri="{9D8B030D-6E8A-4147-A177-3AD203B41FA5}">
                      <a16:colId xmlns:a16="http://schemas.microsoft.com/office/drawing/2014/main" val="20002"/>
                    </a:ext>
                  </a:extLst>
                </a:gridCol>
              </a:tblGrid>
              <a:tr h="362347">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gn="ctr">
                        <a:lnSpc>
                          <a:spcPct val="100000"/>
                        </a:lnSpc>
                        <a:spcBef>
                          <a:spcPts val="265"/>
                        </a:spcBef>
                      </a:pPr>
                      <a:r>
                        <a:rPr sz="1600" b="1" spc="-20" dirty="0">
                          <a:latin typeface="Palatino Linotype"/>
                          <a:cs typeface="Palatino Linotype"/>
                        </a:rPr>
                        <a:t>Name</a:t>
                      </a:r>
                      <a:endParaRPr sz="1600">
                        <a:latin typeface="Palatino Linotype"/>
                        <a:cs typeface="Palatino Linotype"/>
                      </a:endParaRPr>
                    </a:p>
                  </a:txBody>
                  <a:tcPr marL="0" marR="0" marT="3365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gn="ctr">
                        <a:lnSpc>
                          <a:spcPct val="100000"/>
                        </a:lnSpc>
                        <a:spcBef>
                          <a:spcPts val="265"/>
                        </a:spcBef>
                      </a:pPr>
                      <a:r>
                        <a:rPr sz="1600" b="1" spc="-10" dirty="0">
                          <a:latin typeface="Palatino Linotype"/>
                          <a:cs typeface="Palatino Linotype"/>
                        </a:rPr>
                        <a:t>Liveness</a:t>
                      </a:r>
                      <a:endParaRPr sz="1600">
                        <a:latin typeface="Palatino Linotype"/>
                        <a:cs typeface="Palatino Linotype"/>
                      </a:endParaRPr>
                    </a:p>
                  </a:txBody>
                  <a:tcPr marL="0" marR="0" marT="3365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marL="602615">
                        <a:lnSpc>
                          <a:spcPct val="100000"/>
                        </a:lnSpc>
                        <a:spcBef>
                          <a:spcPts val="265"/>
                        </a:spcBef>
                      </a:pPr>
                      <a:r>
                        <a:rPr sz="1600" b="1" spc="-10" dirty="0">
                          <a:latin typeface="Palatino Linotype"/>
                          <a:cs typeface="Palatino Linotype"/>
                        </a:rPr>
                        <a:t>Next-</a:t>
                      </a:r>
                      <a:r>
                        <a:rPr sz="1600" b="1" spc="-25" dirty="0">
                          <a:latin typeface="Palatino Linotype"/>
                          <a:cs typeface="Palatino Linotype"/>
                        </a:rPr>
                        <a:t>use</a:t>
                      </a:r>
                      <a:endParaRPr sz="1600" dirty="0">
                        <a:latin typeface="Palatino Linotype"/>
                        <a:cs typeface="Palatino Linotype"/>
                      </a:endParaRPr>
                    </a:p>
                  </a:txBody>
                  <a:tcPr marL="0" marR="0" marT="3365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370840">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marR="50165" algn="ctr">
                        <a:lnSpc>
                          <a:spcPct val="100000"/>
                        </a:lnSpc>
                        <a:spcBef>
                          <a:spcPts val="245"/>
                        </a:spcBef>
                      </a:pPr>
                      <a:r>
                        <a:rPr sz="1600" spc="-50" dirty="0">
                          <a:solidFill>
                            <a:srgbClr val="FF0000"/>
                          </a:solidFill>
                          <a:latin typeface="Cambria Math"/>
                          <a:cs typeface="Cambria Math"/>
                        </a:rPr>
                        <a:t>𝑖</a:t>
                      </a:r>
                      <a:endParaRPr sz="1600">
                        <a:latin typeface="Cambria Math"/>
                        <a:cs typeface="Cambria Math"/>
                      </a:endParaRPr>
                    </a:p>
                  </a:txBody>
                  <a:tcPr marL="0" marR="0" marT="311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gn="ctr">
                        <a:lnSpc>
                          <a:spcPct val="100000"/>
                        </a:lnSpc>
                        <a:spcBef>
                          <a:spcPts val="245"/>
                        </a:spcBef>
                      </a:pPr>
                      <a:r>
                        <a:rPr sz="1600" spc="-20" dirty="0">
                          <a:solidFill>
                            <a:srgbClr val="FF0000"/>
                          </a:solidFill>
                          <a:latin typeface="Palatino Linotype"/>
                          <a:cs typeface="Palatino Linotype"/>
                        </a:rPr>
                        <a:t>Live</a:t>
                      </a:r>
                      <a:endParaRPr sz="1600" dirty="0">
                        <a:latin typeface="Palatino Linotype"/>
                        <a:cs typeface="Palatino Linotype"/>
                      </a:endParaRPr>
                    </a:p>
                  </a:txBody>
                  <a:tcPr marL="0" marR="0" marT="311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nSpc>
                          <a:spcPct val="100000"/>
                        </a:lnSpc>
                      </a:pPr>
                      <a:endParaRPr sz="1800" dirty="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370840">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marR="46355" algn="ctr">
                        <a:lnSpc>
                          <a:spcPct val="100000"/>
                        </a:lnSpc>
                        <a:spcBef>
                          <a:spcPts val="254"/>
                        </a:spcBef>
                      </a:pPr>
                      <a:r>
                        <a:rPr sz="1600" spc="-50" dirty="0">
                          <a:solidFill>
                            <a:srgbClr val="FF0000"/>
                          </a:solidFill>
                          <a:latin typeface="Cambria Math"/>
                          <a:cs typeface="Cambria Math"/>
                        </a:rPr>
                        <a:t>𝑗</a:t>
                      </a:r>
                      <a:endParaRPr sz="1600">
                        <a:latin typeface="Cambria Math"/>
                        <a:cs typeface="Cambria Math"/>
                      </a:endParaRPr>
                    </a:p>
                  </a:txBody>
                  <a:tcPr marL="0" marR="0" marT="3238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gn="ctr">
                        <a:lnSpc>
                          <a:spcPct val="100000"/>
                        </a:lnSpc>
                        <a:spcBef>
                          <a:spcPts val="254"/>
                        </a:spcBef>
                      </a:pPr>
                      <a:r>
                        <a:rPr sz="1600" spc="-20" dirty="0">
                          <a:solidFill>
                            <a:srgbClr val="FF0000"/>
                          </a:solidFill>
                          <a:latin typeface="Palatino Linotype"/>
                          <a:cs typeface="Palatino Linotype"/>
                        </a:rPr>
                        <a:t>Live</a:t>
                      </a:r>
                      <a:endParaRPr sz="1600">
                        <a:latin typeface="Palatino Linotype"/>
                        <a:cs typeface="Palatino Linotype"/>
                      </a:endParaRPr>
                    </a:p>
                  </a:txBody>
                  <a:tcPr marL="0" marR="0" marT="3238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nSpc>
                          <a:spcPct val="100000"/>
                        </a:lnSpc>
                      </a:pPr>
                      <a:endParaRPr sz="18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370840">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marR="47625" algn="ctr">
                        <a:lnSpc>
                          <a:spcPct val="100000"/>
                        </a:lnSpc>
                        <a:spcBef>
                          <a:spcPts val="265"/>
                        </a:spcBef>
                      </a:pPr>
                      <a:r>
                        <a:rPr sz="1600" spc="-50" dirty="0">
                          <a:solidFill>
                            <a:srgbClr val="FF0000"/>
                          </a:solidFill>
                          <a:latin typeface="Cambria Math"/>
                          <a:cs typeface="Cambria Math"/>
                        </a:rPr>
                        <a:t>𝑎</a:t>
                      </a:r>
                      <a:endParaRPr sz="1600">
                        <a:latin typeface="Cambria Math"/>
                        <a:cs typeface="Cambria Math"/>
                      </a:endParaRPr>
                    </a:p>
                  </a:txBody>
                  <a:tcPr marL="0" marR="0" marT="3365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gn="ctr">
                        <a:lnSpc>
                          <a:spcPct val="100000"/>
                        </a:lnSpc>
                        <a:spcBef>
                          <a:spcPts val="265"/>
                        </a:spcBef>
                      </a:pPr>
                      <a:r>
                        <a:rPr sz="1600" spc="-20" dirty="0">
                          <a:solidFill>
                            <a:srgbClr val="FF0000"/>
                          </a:solidFill>
                          <a:latin typeface="Palatino Linotype"/>
                          <a:cs typeface="Palatino Linotype"/>
                        </a:rPr>
                        <a:t>Live</a:t>
                      </a:r>
                      <a:endParaRPr sz="1600">
                        <a:latin typeface="Palatino Linotype"/>
                        <a:cs typeface="Palatino Linotype"/>
                      </a:endParaRPr>
                    </a:p>
                  </a:txBody>
                  <a:tcPr marL="0" marR="0" marT="3365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nSpc>
                          <a:spcPct val="100000"/>
                        </a:lnSpc>
                      </a:pPr>
                      <a:endParaRPr sz="18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370840">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marR="42545" algn="ctr">
                        <a:lnSpc>
                          <a:spcPct val="100000"/>
                        </a:lnSpc>
                        <a:spcBef>
                          <a:spcPts val="245"/>
                        </a:spcBef>
                      </a:pPr>
                      <a:r>
                        <a:rPr sz="1600" spc="-25" dirty="0">
                          <a:latin typeface="Cambria Math"/>
                          <a:cs typeface="Cambria Math"/>
                        </a:rPr>
                        <a:t>𝑡1</a:t>
                      </a:r>
                      <a:endParaRPr sz="1600">
                        <a:latin typeface="Cambria Math"/>
                        <a:cs typeface="Cambria Math"/>
                      </a:endParaRPr>
                    </a:p>
                  </a:txBody>
                  <a:tcPr marL="0" marR="0" marT="311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gn="ctr">
                        <a:lnSpc>
                          <a:spcPct val="100000"/>
                        </a:lnSpc>
                        <a:spcBef>
                          <a:spcPts val="245"/>
                        </a:spcBef>
                      </a:pPr>
                      <a:r>
                        <a:rPr sz="1600" dirty="0">
                          <a:latin typeface="Palatino Linotype"/>
                          <a:cs typeface="Palatino Linotype"/>
                        </a:rPr>
                        <a:t>Not</a:t>
                      </a:r>
                      <a:r>
                        <a:rPr sz="1600" spc="-20" dirty="0">
                          <a:latin typeface="Palatino Linotype"/>
                          <a:cs typeface="Palatino Linotype"/>
                        </a:rPr>
                        <a:t> live</a:t>
                      </a:r>
                      <a:endParaRPr sz="1600">
                        <a:latin typeface="Palatino Linotype"/>
                        <a:cs typeface="Palatino Linotype"/>
                      </a:endParaRPr>
                    </a:p>
                  </a:txBody>
                  <a:tcPr marL="0" marR="0" marT="311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nSpc>
                          <a:spcPct val="100000"/>
                        </a:lnSpc>
                      </a:pPr>
                      <a:endParaRPr sz="18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370840">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marR="42545" algn="ctr">
                        <a:lnSpc>
                          <a:spcPct val="100000"/>
                        </a:lnSpc>
                        <a:spcBef>
                          <a:spcPts val="254"/>
                        </a:spcBef>
                      </a:pPr>
                      <a:r>
                        <a:rPr sz="1600" spc="-25" dirty="0">
                          <a:latin typeface="Cambria Math"/>
                          <a:cs typeface="Cambria Math"/>
                        </a:rPr>
                        <a:t>𝑡2</a:t>
                      </a:r>
                      <a:endParaRPr sz="1600">
                        <a:latin typeface="Cambria Math"/>
                        <a:cs typeface="Cambria Math"/>
                      </a:endParaRPr>
                    </a:p>
                  </a:txBody>
                  <a:tcPr marL="0" marR="0" marT="3238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gn="ctr">
                        <a:lnSpc>
                          <a:spcPct val="100000"/>
                        </a:lnSpc>
                        <a:spcBef>
                          <a:spcPts val="254"/>
                        </a:spcBef>
                      </a:pPr>
                      <a:r>
                        <a:rPr sz="1600" dirty="0">
                          <a:latin typeface="Palatino Linotype"/>
                          <a:cs typeface="Palatino Linotype"/>
                        </a:rPr>
                        <a:t>Not</a:t>
                      </a:r>
                      <a:r>
                        <a:rPr sz="1600" spc="-20" dirty="0">
                          <a:latin typeface="Palatino Linotype"/>
                          <a:cs typeface="Palatino Linotype"/>
                        </a:rPr>
                        <a:t> live</a:t>
                      </a:r>
                      <a:endParaRPr sz="1600">
                        <a:latin typeface="Palatino Linotype"/>
                        <a:cs typeface="Palatino Linotype"/>
                      </a:endParaRPr>
                    </a:p>
                  </a:txBody>
                  <a:tcPr marL="0" marR="0" marT="3238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nSpc>
                          <a:spcPct val="100000"/>
                        </a:lnSpc>
                      </a:pPr>
                      <a:endParaRPr sz="18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370840">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marR="42545" algn="ctr">
                        <a:lnSpc>
                          <a:spcPct val="100000"/>
                        </a:lnSpc>
                        <a:spcBef>
                          <a:spcPts val="265"/>
                        </a:spcBef>
                      </a:pPr>
                      <a:r>
                        <a:rPr sz="1600" spc="-25" dirty="0">
                          <a:latin typeface="Cambria Math"/>
                          <a:cs typeface="Cambria Math"/>
                        </a:rPr>
                        <a:t>𝑡3</a:t>
                      </a:r>
                      <a:endParaRPr sz="1600">
                        <a:latin typeface="Cambria Math"/>
                        <a:cs typeface="Cambria Math"/>
                      </a:endParaRPr>
                    </a:p>
                  </a:txBody>
                  <a:tcPr marL="0" marR="0" marT="3365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gn="ctr">
                        <a:lnSpc>
                          <a:spcPct val="100000"/>
                        </a:lnSpc>
                        <a:spcBef>
                          <a:spcPts val="265"/>
                        </a:spcBef>
                      </a:pPr>
                      <a:r>
                        <a:rPr sz="1600" dirty="0">
                          <a:latin typeface="Palatino Linotype"/>
                          <a:cs typeface="Palatino Linotype"/>
                        </a:rPr>
                        <a:t>Not</a:t>
                      </a:r>
                      <a:r>
                        <a:rPr sz="1600" spc="-20" dirty="0">
                          <a:latin typeface="Palatino Linotype"/>
                          <a:cs typeface="Palatino Linotype"/>
                        </a:rPr>
                        <a:t> live</a:t>
                      </a:r>
                      <a:endParaRPr sz="1600">
                        <a:latin typeface="Palatino Linotype"/>
                        <a:cs typeface="Palatino Linotype"/>
                      </a:endParaRPr>
                    </a:p>
                  </a:txBody>
                  <a:tcPr marL="0" marR="0" marT="3365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nSpc>
                          <a:spcPct val="100000"/>
                        </a:lnSpc>
                      </a:pPr>
                      <a:endParaRPr sz="18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370840">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marR="42545" algn="ctr">
                        <a:lnSpc>
                          <a:spcPct val="100000"/>
                        </a:lnSpc>
                        <a:spcBef>
                          <a:spcPts val="245"/>
                        </a:spcBef>
                      </a:pPr>
                      <a:r>
                        <a:rPr sz="1600" spc="-25" dirty="0">
                          <a:latin typeface="Cambria Math"/>
                          <a:cs typeface="Cambria Math"/>
                        </a:rPr>
                        <a:t>𝑡4</a:t>
                      </a:r>
                      <a:endParaRPr sz="1600">
                        <a:latin typeface="Cambria Math"/>
                        <a:cs typeface="Cambria Math"/>
                      </a:endParaRPr>
                    </a:p>
                  </a:txBody>
                  <a:tcPr marL="0" marR="0" marT="311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gn="ctr">
                        <a:lnSpc>
                          <a:spcPct val="100000"/>
                        </a:lnSpc>
                        <a:spcBef>
                          <a:spcPts val="245"/>
                        </a:spcBef>
                      </a:pPr>
                      <a:r>
                        <a:rPr sz="1600" dirty="0">
                          <a:latin typeface="Palatino Linotype"/>
                          <a:cs typeface="Palatino Linotype"/>
                        </a:rPr>
                        <a:t>Not</a:t>
                      </a:r>
                      <a:r>
                        <a:rPr sz="1600" spc="-20" dirty="0">
                          <a:latin typeface="Palatino Linotype"/>
                          <a:cs typeface="Palatino Linotype"/>
                        </a:rPr>
                        <a:t> live</a:t>
                      </a:r>
                      <a:endParaRPr sz="1600">
                        <a:latin typeface="Palatino Linotype"/>
                        <a:cs typeface="Palatino Linotype"/>
                      </a:endParaRPr>
                    </a:p>
                  </a:txBody>
                  <a:tcPr marL="0" marR="0" marT="311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nSpc>
                          <a:spcPct val="100000"/>
                        </a:lnSpc>
                      </a:pPr>
                      <a:endParaRPr sz="1800" dirty="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124092180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30</a:t>
            </a:fld>
            <a:endParaRPr lang="en-US"/>
          </a:p>
        </p:txBody>
      </p:sp>
      <p:sp>
        <p:nvSpPr>
          <p:cNvPr id="11" name="object 2">
            <a:extLst>
              <a:ext uri="{FF2B5EF4-FFF2-40B4-BE49-F238E27FC236}">
                <a16:creationId xmlns:a16="http://schemas.microsoft.com/office/drawing/2014/main" id="{88DCEB5C-EF05-5276-43ED-88DDAE46E18D}"/>
              </a:ext>
            </a:extLst>
          </p:cNvPr>
          <p:cNvSpPr txBox="1">
            <a:spLocks/>
          </p:cNvSpPr>
          <p:nvPr/>
        </p:nvSpPr>
        <p:spPr>
          <a:xfrm>
            <a:off x="707390" y="524763"/>
            <a:ext cx="7729219" cy="63500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4000" b="1" i="0" u="none" strike="noStrike" kern="0" cap="none" spc="0" normalizeH="0" baseline="0" noProof="0">
                <a:ln>
                  <a:noFill/>
                </a:ln>
                <a:solidFill>
                  <a:sysClr val="windowText" lastClr="000000"/>
                </a:solidFill>
                <a:effectLst/>
                <a:uLnTx/>
                <a:uFillTx/>
                <a:latin typeface="Palatino Linotype"/>
                <a:ea typeface="+mj-ea"/>
              </a:rPr>
              <a:t>Running</a:t>
            </a:r>
            <a:r>
              <a:rPr kumimoji="0" lang="en-US" sz="4000" b="1" i="0" u="none" strike="noStrike" kern="0" cap="none" spc="-85" normalizeH="0" baseline="0" noProof="0">
                <a:ln>
                  <a:noFill/>
                </a:ln>
                <a:solidFill>
                  <a:sysClr val="windowText" lastClr="000000"/>
                </a:solidFill>
                <a:effectLst/>
                <a:uLnTx/>
                <a:uFillTx/>
                <a:latin typeface="Palatino Linotype"/>
                <a:ea typeface="+mj-ea"/>
              </a:rPr>
              <a:t> </a:t>
            </a:r>
            <a:r>
              <a:rPr kumimoji="0" lang="en-US" sz="4000" b="1" i="0" u="none" strike="noStrike" kern="0" cap="none" spc="-10" normalizeH="0" baseline="0" noProof="0">
                <a:ln>
                  <a:noFill/>
                </a:ln>
                <a:solidFill>
                  <a:sysClr val="windowText" lastClr="000000"/>
                </a:solidFill>
                <a:effectLst/>
                <a:uLnTx/>
                <a:uFillTx/>
                <a:latin typeface="Palatino Linotype"/>
                <a:ea typeface="+mj-ea"/>
              </a:rPr>
              <a:t>Example</a:t>
            </a:r>
            <a:endParaRPr kumimoji="0" lang="en-US" sz="4000" b="1" i="0" u="none" strike="noStrike" kern="0" cap="none" spc="-10" normalizeH="0" baseline="0" noProof="0" dirty="0">
              <a:ln>
                <a:noFill/>
              </a:ln>
              <a:solidFill>
                <a:sysClr val="windowText" lastClr="000000"/>
              </a:solidFill>
              <a:effectLst/>
              <a:uLnTx/>
              <a:uFillTx/>
              <a:latin typeface="Palatino Linotype"/>
              <a:ea typeface="+mj-ea"/>
            </a:endParaRPr>
          </a:p>
        </p:txBody>
      </p:sp>
      <p:sp>
        <p:nvSpPr>
          <p:cNvPr id="12" name="object 3">
            <a:extLst>
              <a:ext uri="{FF2B5EF4-FFF2-40B4-BE49-F238E27FC236}">
                <a16:creationId xmlns:a16="http://schemas.microsoft.com/office/drawing/2014/main" id="{5BBE56AA-3434-35F3-F214-BD7EAC0FE43D}"/>
              </a:ext>
            </a:extLst>
          </p:cNvPr>
          <p:cNvSpPr txBox="1"/>
          <p:nvPr/>
        </p:nvSpPr>
        <p:spPr>
          <a:xfrm>
            <a:off x="707390" y="1836420"/>
            <a:ext cx="6589395" cy="330200"/>
          </a:xfrm>
          <a:prstGeom prst="rect">
            <a:avLst/>
          </a:prstGeom>
        </p:spPr>
        <p:txBody>
          <a:bodyPr vert="horz" wrap="square" lIns="0" tIns="12700" rIns="0" bIns="0" rtlCol="0">
            <a:spAutoFit/>
          </a:bodyPr>
          <a:lstStyle/>
          <a:p>
            <a:pPr marL="242570" indent="-229870">
              <a:spcBef>
                <a:spcPts val="100"/>
              </a:spcBef>
              <a:buClr>
                <a:srgbClr val="000000"/>
              </a:buClr>
              <a:buFont typeface="Arial MT"/>
              <a:buChar char="•"/>
              <a:tabLst>
                <a:tab pos="242570" algn="l"/>
              </a:tabLst>
            </a:pPr>
            <a:r>
              <a:rPr sz="2000" b="1" dirty="0">
                <a:solidFill>
                  <a:srgbClr val="FF0000"/>
                </a:solidFill>
                <a:latin typeface="Palatino Linotype"/>
                <a:cs typeface="Palatino Linotype"/>
              </a:rPr>
              <a:t>Analyzing</a:t>
            </a:r>
            <a:r>
              <a:rPr sz="2000" b="1" spc="-30" dirty="0">
                <a:solidFill>
                  <a:srgbClr val="FF0000"/>
                </a:solidFill>
                <a:latin typeface="Palatino Linotype"/>
                <a:cs typeface="Palatino Linotype"/>
              </a:rPr>
              <a:t> </a:t>
            </a:r>
            <a:r>
              <a:rPr sz="2000" b="1" dirty="0">
                <a:solidFill>
                  <a:srgbClr val="FF0000"/>
                </a:solidFill>
                <a:latin typeface="Palatino Linotype"/>
                <a:cs typeface="Palatino Linotype"/>
              </a:rPr>
              <a:t>line</a:t>
            </a:r>
            <a:r>
              <a:rPr sz="2000" b="1" spc="-30" dirty="0">
                <a:solidFill>
                  <a:srgbClr val="FF0000"/>
                </a:solidFill>
                <a:latin typeface="Palatino Linotype"/>
                <a:cs typeface="Palatino Linotype"/>
              </a:rPr>
              <a:t> </a:t>
            </a:r>
            <a:r>
              <a:rPr sz="2000" b="1" dirty="0">
                <a:solidFill>
                  <a:srgbClr val="FF0000"/>
                </a:solidFill>
                <a:latin typeface="Palatino Linotype"/>
                <a:cs typeface="Palatino Linotype"/>
              </a:rPr>
              <a:t>8):</a:t>
            </a:r>
            <a:r>
              <a:rPr sz="2000" b="1" spc="-25" dirty="0">
                <a:solidFill>
                  <a:srgbClr val="FF0000"/>
                </a:solidFill>
                <a:latin typeface="Palatino Linotype"/>
                <a:cs typeface="Palatino Linotype"/>
              </a:rPr>
              <a:t> </a:t>
            </a:r>
            <a:r>
              <a:rPr sz="2000" dirty="0">
                <a:solidFill>
                  <a:sysClr val="windowText" lastClr="000000"/>
                </a:solidFill>
                <a:latin typeface="Palatino Linotype"/>
                <a:cs typeface="Palatino Linotype"/>
              </a:rPr>
              <a:t>attach</a:t>
            </a:r>
            <a:r>
              <a:rPr sz="2000" spc="-3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the</a:t>
            </a:r>
            <a:r>
              <a:rPr sz="2000" spc="-3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following</a:t>
            </a:r>
            <a:r>
              <a:rPr sz="2000" spc="-2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information</a:t>
            </a:r>
            <a:r>
              <a:rPr sz="2000" spc="-3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to</a:t>
            </a:r>
            <a:r>
              <a:rPr sz="2000" spc="-30" dirty="0">
                <a:solidFill>
                  <a:sysClr val="windowText" lastClr="000000"/>
                </a:solidFill>
                <a:latin typeface="Palatino Linotype"/>
                <a:cs typeface="Palatino Linotype"/>
              </a:rPr>
              <a:t> </a:t>
            </a:r>
            <a:r>
              <a:rPr sz="2000" spc="-25" dirty="0">
                <a:solidFill>
                  <a:sysClr val="windowText" lastClr="000000"/>
                </a:solidFill>
                <a:latin typeface="Palatino Linotype"/>
                <a:cs typeface="Palatino Linotype"/>
              </a:rPr>
              <a:t>8)</a:t>
            </a:r>
            <a:endParaRPr sz="2000">
              <a:solidFill>
                <a:sysClr val="windowText" lastClr="000000"/>
              </a:solidFill>
              <a:latin typeface="Palatino Linotype"/>
              <a:cs typeface="Palatino Linotype"/>
            </a:endParaRPr>
          </a:p>
        </p:txBody>
      </p:sp>
      <p:pic>
        <p:nvPicPr>
          <p:cNvPr id="13" name="object 4">
            <a:extLst>
              <a:ext uri="{FF2B5EF4-FFF2-40B4-BE49-F238E27FC236}">
                <a16:creationId xmlns:a16="http://schemas.microsoft.com/office/drawing/2014/main" id="{4491721D-CFFD-4912-3A3D-531007EBFE82}"/>
              </a:ext>
            </a:extLst>
          </p:cNvPr>
          <p:cNvPicPr/>
          <p:nvPr/>
        </p:nvPicPr>
        <p:blipFill>
          <a:blip r:embed="rId3" cstate="print"/>
          <a:stretch>
            <a:fillRect/>
          </a:stretch>
        </p:blipFill>
        <p:spPr>
          <a:xfrm>
            <a:off x="6740925" y="313327"/>
            <a:ext cx="1387753" cy="1183468"/>
          </a:xfrm>
          <a:prstGeom prst="rect">
            <a:avLst/>
          </a:prstGeom>
        </p:spPr>
      </p:pic>
      <p:graphicFrame>
        <p:nvGraphicFramePr>
          <p:cNvPr id="14" name="object 5">
            <a:extLst>
              <a:ext uri="{FF2B5EF4-FFF2-40B4-BE49-F238E27FC236}">
                <a16:creationId xmlns:a16="http://schemas.microsoft.com/office/drawing/2014/main" id="{776F5015-0833-F138-B2FC-5E698F117D9F}"/>
              </a:ext>
            </a:extLst>
          </p:cNvPr>
          <p:cNvGraphicFramePr>
            <a:graphicFrameLocks noGrp="1"/>
          </p:cNvGraphicFramePr>
          <p:nvPr/>
        </p:nvGraphicFramePr>
        <p:xfrm>
          <a:off x="1517650" y="2556765"/>
          <a:ext cx="6096000" cy="741680"/>
        </p:xfrm>
        <a:graphic>
          <a:graphicData uri="http://schemas.openxmlformats.org/drawingml/2006/table">
            <a:tbl>
              <a:tblPr firstRow="1" bandRow="1"/>
              <a:tblGrid>
                <a:gridCol w="2032000">
                  <a:extLst>
                    <a:ext uri="{9D8B030D-6E8A-4147-A177-3AD203B41FA5}">
                      <a16:colId xmlns:a16="http://schemas.microsoft.com/office/drawing/2014/main" val="20000"/>
                    </a:ext>
                  </a:extLst>
                </a:gridCol>
                <a:gridCol w="2032000">
                  <a:extLst>
                    <a:ext uri="{9D8B030D-6E8A-4147-A177-3AD203B41FA5}">
                      <a16:colId xmlns:a16="http://schemas.microsoft.com/office/drawing/2014/main" val="20001"/>
                    </a:ext>
                  </a:extLst>
                </a:gridCol>
                <a:gridCol w="2032000">
                  <a:extLst>
                    <a:ext uri="{9D8B030D-6E8A-4147-A177-3AD203B41FA5}">
                      <a16:colId xmlns:a16="http://schemas.microsoft.com/office/drawing/2014/main" val="20002"/>
                    </a:ext>
                  </a:extLst>
                </a:gridCol>
              </a:tblGrid>
              <a:tr h="370840">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gn="ctr">
                        <a:lnSpc>
                          <a:spcPct val="100000"/>
                        </a:lnSpc>
                        <a:spcBef>
                          <a:spcPts val="250"/>
                        </a:spcBef>
                      </a:pPr>
                      <a:r>
                        <a:rPr sz="1600" b="1" spc="-20" dirty="0">
                          <a:latin typeface="Palatino Linotype"/>
                          <a:cs typeface="Palatino Linotype"/>
                        </a:rPr>
                        <a:t>Name</a:t>
                      </a:r>
                      <a:endParaRPr sz="1600">
                        <a:latin typeface="Palatino Linotype"/>
                        <a:cs typeface="Palatino Linotype"/>
                      </a:endParaRPr>
                    </a:p>
                  </a:txBody>
                  <a:tcPr marL="0" marR="0" marT="317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gn="ctr">
                        <a:lnSpc>
                          <a:spcPct val="100000"/>
                        </a:lnSpc>
                        <a:spcBef>
                          <a:spcPts val="250"/>
                        </a:spcBef>
                      </a:pPr>
                      <a:r>
                        <a:rPr sz="1600" b="1" spc="-10" dirty="0">
                          <a:latin typeface="Palatino Linotype"/>
                          <a:cs typeface="Palatino Linotype"/>
                        </a:rPr>
                        <a:t>Liveness</a:t>
                      </a:r>
                      <a:endParaRPr sz="1600">
                        <a:latin typeface="Palatino Linotype"/>
                        <a:cs typeface="Palatino Linotype"/>
                      </a:endParaRPr>
                    </a:p>
                  </a:txBody>
                  <a:tcPr marL="0" marR="0" marT="317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marL="602615">
                        <a:lnSpc>
                          <a:spcPct val="100000"/>
                        </a:lnSpc>
                        <a:spcBef>
                          <a:spcPts val="250"/>
                        </a:spcBef>
                      </a:pPr>
                      <a:r>
                        <a:rPr sz="1600" b="1" spc="-10" dirty="0">
                          <a:latin typeface="Palatino Linotype"/>
                          <a:cs typeface="Palatino Linotype"/>
                        </a:rPr>
                        <a:t>Next-</a:t>
                      </a:r>
                      <a:r>
                        <a:rPr sz="1600" b="1" spc="-25" dirty="0">
                          <a:latin typeface="Palatino Linotype"/>
                          <a:cs typeface="Palatino Linotype"/>
                        </a:rPr>
                        <a:t>use</a:t>
                      </a:r>
                      <a:endParaRPr sz="1600">
                        <a:latin typeface="Palatino Linotype"/>
                        <a:cs typeface="Palatino Linotype"/>
                      </a:endParaRPr>
                    </a:p>
                  </a:txBody>
                  <a:tcPr marL="0" marR="0" marT="317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370840">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marR="46355" algn="ctr">
                        <a:lnSpc>
                          <a:spcPct val="100000"/>
                        </a:lnSpc>
                        <a:spcBef>
                          <a:spcPts val="254"/>
                        </a:spcBef>
                      </a:pPr>
                      <a:r>
                        <a:rPr sz="1600" spc="-50" dirty="0">
                          <a:latin typeface="Cambria Math"/>
                          <a:cs typeface="Cambria Math"/>
                        </a:rPr>
                        <a:t>𝑗</a:t>
                      </a:r>
                      <a:endParaRPr sz="1600">
                        <a:latin typeface="Cambria Math"/>
                        <a:cs typeface="Cambria Math"/>
                      </a:endParaRPr>
                    </a:p>
                  </a:txBody>
                  <a:tcPr marL="0" marR="0" marT="3238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marL="1905" algn="ctr">
                        <a:lnSpc>
                          <a:spcPct val="100000"/>
                        </a:lnSpc>
                        <a:spcBef>
                          <a:spcPts val="254"/>
                        </a:spcBef>
                      </a:pPr>
                      <a:r>
                        <a:rPr sz="1600" spc="-10" dirty="0">
                          <a:latin typeface="Palatino Linotype"/>
                          <a:cs typeface="Palatino Linotype"/>
                        </a:rPr>
                        <a:t>Live</a:t>
                      </a:r>
                      <a:r>
                        <a:rPr sz="1650" spc="-15" baseline="25252" dirty="0">
                          <a:latin typeface="Palatino Linotype"/>
                          <a:cs typeface="Palatino Linotype"/>
                        </a:rPr>
                        <a:t>*</a:t>
                      </a:r>
                      <a:endParaRPr sz="1650" baseline="25252">
                        <a:latin typeface="Palatino Linotype"/>
                        <a:cs typeface="Palatino Linotype"/>
                      </a:endParaRPr>
                    </a:p>
                  </a:txBody>
                  <a:tcPr marL="0" marR="0" marT="3238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nSpc>
                          <a:spcPct val="100000"/>
                        </a:lnSpc>
                      </a:pPr>
                      <a:endParaRPr sz="16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sp>
        <p:nvSpPr>
          <p:cNvPr id="15" name="object 6">
            <a:extLst>
              <a:ext uri="{FF2B5EF4-FFF2-40B4-BE49-F238E27FC236}">
                <a16:creationId xmlns:a16="http://schemas.microsoft.com/office/drawing/2014/main" id="{6648872C-5AFA-65A2-DBF7-EFB08C89E63B}"/>
              </a:ext>
            </a:extLst>
          </p:cNvPr>
          <p:cNvSpPr txBox="1"/>
          <p:nvPr/>
        </p:nvSpPr>
        <p:spPr>
          <a:xfrm>
            <a:off x="1515410" y="3555492"/>
            <a:ext cx="5873115" cy="537845"/>
          </a:xfrm>
          <a:prstGeom prst="rect">
            <a:avLst/>
          </a:prstGeom>
        </p:spPr>
        <p:txBody>
          <a:bodyPr vert="horz" wrap="square" lIns="0" tIns="55244" rIns="0" bIns="0" rtlCol="0">
            <a:spAutoFit/>
          </a:bodyPr>
          <a:lstStyle/>
          <a:p>
            <a:pPr marL="12700">
              <a:spcBef>
                <a:spcPts val="434"/>
              </a:spcBef>
            </a:pPr>
            <a:r>
              <a:rPr sz="1400" dirty="0">
                <a:solidFill>
                  <a:sysClr val="windowText" lastClr="000000"/>
                </a:solidFill>
                <a:latin typeface="Palatino Linotype"/>
                <a:cs typeface="Palatino Linotype"/>
              </a:rPr>
              <a:t>*</a:t>
            </a:r>
            <a:r>
              <a:rPr sz="1400" spc="-25" dirty="0">
                <a:solidFill>
                  <a:sysClr val="windowText" lastClr="000000"/>
                </a:solidFill>
                <a:latin typeface="Palatino Linotype"/>
                <a:cs typeface="Palatino Linotype"/>
              </a:rPr>
              <a:t> </a:t>
            </a:r>
            <a:r>
              <a:rPr sz="1400" dirty="0">
                <a:solidFill>
                  <a:srgbClr val="FF0000"/>
                </a:solidFill>
                <a:latin typeface="Palatino Linotype"/>
                <a:cs typeface="Palatino Linotype"/>
              </a:rPr>
              <a:t>Live</a:t>
            </a:r>
            <a:r>
              <a:rPr sz="1400" spc="-30" dirty="0">
                <a:solidFill>
                  <a:srgbClr val="FF0000"/>
                </a:solidFill>
                <a:latin typeface="Palatino Linotype"/>
                <a:cs typeface="Palatino Linotype"/>
              </a:rPr>
              <a:t> </a:t>
            </a:r>
            <a:r>
              <a:rPr sz="1400" dirty="0">
                <a:solidFill>
                  <a:srgbClr val="FF0000"/>
                </a:solidFill>
                <a:latin typeface="Palatino Linotype"/>
                <a:cs typeface="Palatino Linotype"/>
              </a:rPr>
              <a:t>at</a:t>
            </a:r>
            <a:r>
              <a:rPr sz="1400" spc="-25" dirty="0">
                <a:solidFill>
                  <a:srgbClr val="FF0000"/>
                </a:solidFill>
                <a:latin typeface="Palatino Linotype"/>
                <a:cs typeface="Palatino Linotype"/>
              </a:rPr>
              <a:t> </a:t>
            </a:r>
            <a:r>
              <a:rPr sz="1400" dirty="0">
                <a:solidFill>
                  <a:srgbClr val="FF0000"/>
                </a:solidFill>
                <a:latin typeface="Palatino Linotype"/>
                <a:cs typeface="Palatino Linotype"/>
              </a:rPr>
              <a:t>statement</a:t>
            </a:r>
            <a:r>
              <a:rPr sz="1400" spc="-25" dirty="0">
                <a:solidFill>
                  <a:srgbClr val="FF0000"/>
                </a:solidFill>
                <a:latin typeface="Palatino Linotype"/>
                <a:cs typeface="Palatino Linotype"/>
              </a:rPr>
              <a:t> </a:t>
            </a:r>
            <a:r>
              <a:rPr sz="1400" dirty="0">
                <a:solidFill>
                  <a:srgbClr val="FF0000"/>
                </a:solidFill>
                <a:latin typeface="Palatino Linotype"/>
                <a:cs typeface="Palatino Linotype"/>
              </a:rPr>
              <a:t>8</a:t>
            </a:r>
            <a:r>
              <a:rPr sz="1400" spc="-25" dirty="0">
                <a:solidFill>
                  <a:srgbClr val="FF0000"/>
                </a:solidFill>
                <a:latin typeface="Palatino Linotype"/>
                <a:cs typeface="Palatino Linotype"/>
              </a:rPr>
              <a:t> </a:t>
            </a:r>
            <a:r>
              <a:rPr sz="1400" dirty="0">
                <a:solidFill>
                  <a:srgbClr val="FF0000"/>
                </a:solidFill>
                <a:latin typeface="Palatino Linotype"/>
                <a:cs typeface="Palatino Linotype"/>
              </a:rPr>
              <a:t>(block</a:t>
            </a:r>
            <a:r>
              <a:rPr sz="1400" spc="-35" dirty="0">
                <a:solidFill>
                  <a:srgbClr val="FF0000"/>
                </a:solidFill>
                <a:latin typeface="Palatino Linotype"/>
                <a:cs typeface="Palatino Linotype"/>
              </a:rPr>
              <a:t> </a:t>
            </a:r>
            <a:r>
              <a:rPr sz="1400" dirty="0">
                <a:solidFill>
                  <a:srgbClr val="FF0000"/>
                </a:solidFill>
                <a:latin typeface="Palatino Linotype"/>
                <a:cs typeface="Palatino Linotype"/>
              </a:rPr>
              <a:t>exit):</a:t>
            </a:r>
            <a:r>
              <a:rPr sz="1400" spc="-30" dirty="0">
                <a:solidFill>
                  <a:srgbClr val="FF0000"/>
                </a:solidFill>
                <a:latin typeface="Palatino Linotype"/>
                <a:cs typeface="Palatino Linotype"/>
              </a:rPr>
              <a:t> </a:t>
            </a:r>
            <a:r>
              <a:rPr sz="1400" dirty="0">
                <a:solidFill>
                  <a:sysClr val="windowText" lastClr="000000"/>
                </a:solidFill>
                <a:latin typeface="Palatino Linotype"/>
                <a:cs typeface="Palatino Linotype"/>
              </a:rPr>
              <a:t>after</a:t>
            </a:r>
            <a:r>
              <a:rPr sz="1400" spc="-30" dirty="0">
                <a:solidFill>
                  <a:sysClr val="windowText" lastClr="000000"/>
                </a:solidFill>
                <a:latin typeface="Palatino Linotype"/>
                <a:cs typeface="Palatino Linotype"/>
              </a:rPr>
              <a:t> </a:t>
            </a:r>
            <a:r>
              <a:rPr sz="1400" dirty="0">
                <a:solidFill>
                  <a:sysClr val="windowText" lastClr="000000"/>
                </a:solidFill>
                <a:latin typeface="Palatino Linotype"/>
                <a:cs typeface="Palatino Linotype"/>
              </a:rPr>
              <a:t>executing</a:t>
            </a:r>
            <a:r>
              <a:rPr sz="1400" spc="-35" dirty="0">
                <a:solidFill>
                  <a:sysClr val="windowText" lastClr="000000"/>
                </a:solidFill>
                <a:latin typeface="Palatino Linotype"/>
                <a:cs typeface="Palatino Linotype"/>
              </a:rPr>
              <a:t> </a:t>
            </a:r>
            <a:r>
              <a:rPr sz="1400" dirty="0">
                <a:solidFill>
                  <a:sysClr val="windowText" lastClr="000000"/>
                </a:solidFill>
                <a:latin typeface="Palatino Linotype"/>
                <a:cs typeface="Palatino Linotype"/>
              </a:rPr>
              <a:t>statement</a:t>
            </a:r>
            <a:r>
              <a:rPr sz="1400" spc="-25" dirty="0">
                <a:solidFill>
                  <a:sysClr val="windowText" lastClr="000000"/>
                </a:solidFill>
                <a:latin typeface="Palatino Linotype"/>
                <a:cs typeface="Palatino Linotype"/>
              </a:rPr>
              <a:t> </a:t>
            </a:r>
            <a:r>
              <a:rPr sz="1400" dirty="0">
                <a:solidFill>
                  <a:sysClr val="windowText" lastClr="000000"/>
                </a:solidFill>
                <a:latin typeface="Palatino Linotype"/>
                <a:cs typeface="Palatino Linotype"/>
              </a:rPr>
              <a:t>8,</a:t>
            </a:r>
            <a:r>
              <a:rPr sz="1400" spc="-25" dirty="0">
                <a:solidFill>
                  <a:sysClr val="windowText" lastClr="000000"/>
                </a:solidFill>
                <a:latin typeface="Palatino Linotype"/>
                <a:cs typeface="Palatino Linotype"/>
              </a:rPr>
              <a:t> </a:t>
            </a:r>
            <a:r>
              <a:rPr sz="1400" dirty="0">
                <a:solidFill>
                  <a:sysClr val="windowText" lastClr="000000"/>
                </a:solidFill>
                <a:latin typeface="Palatino Linotype"/>
                <a:cs typeface="Palatino Linotype"/>
              </a:rPr>
              <a:t>the</a:t>
            </a:r>
            <a:r>
              <a:rPr sz="1400" spc="-30" dirty="0">
                <a:solidFill>
                  <a:sysClr val="windowText" lastClr="000000"/>
                </a:solidFill>
                <a:latin typeface="Palatino Linotype"/>
                <a:cs typeface="Palatino Linotype"/>
              </a:rPr>
              <a:t> </a:t>
            </a:r>
            <a:r>
              <a:rPr sz="1400" dirty="0">
                <a:solidFill>
                  <a:sysClr val="windowText" lastClr="000000"/>
                </a:solidFill>
                <a:latin typeface="Palatino Linotype"/>
                <a:cs typeface="Palatino Linotype"/>
              </a:rPr>
              <a:t>value</a:t>
            </a:r>
            <a:r>
              <a:rPr sz="1400" spc="-30" dirty="0">
                <a:solidFill>
                  <a:sysClr val="windowText" lastClr="000000"/>
                </a:solidFill>
                <a:latin typeface="Palatino Linotype"/>
                <a:cs typeface="Palatino Linotype"/>
              </a:rPr>
              <a:t> </a:t>
            </a:r>
            <a:r>
              <a:rPr sz="1400" dirty="0">
                <a:solidFill>
                  <a:sysClr val="windowText" lastClr="000000"/>
                </a:solidFill>
                <a:latin typeface="Palatino Linotype"/>
                <a:cs typeface="Palatino Linotype"/>
              </a:rPr>
              <a:t>of</a:t>
            </a:r>
            <a:r>
              <a:rPr sz="1400" spc="-30" dirty="0">
                <a:solidFill>
                  <a:sysClr val="windowText" lastClr="000000"/>
                </a:solidFill>
                <a:latin typeface="Palatino Linotype"/>
                <a:cs typeface="Palatino Linotype"/>
              </a:rPr>
              <a:t> </a:t>
            </a:r>
            <a:r>
              <a:rPr sz="1400" spc="-50" dirty="0">
                <a:solidFill>
                  <a:sysClr val="windowText" lastClr="000000"/>
                </a:solidFill>
                <a:latin typeface="Cambria Math"/>
                <a:cs typeface="Cambria Math"/>
              </a:rPr>
              <a:t>𝑗</a:t>
            </a:r>
            <a:endParaRPr sz="1400">
              <a:solidFill>
                <a:sysClr val="windowText" lastClr="000000"/>
              </a:solidFill>
              <a:latin typeface="Cambria Math"/>
              <a:cs typeface="Cambria Math"/>
            </a:endParaRPr>
          </a:p>
          <a:p>
            <a:pPr marL="12700">
              <a:spcBef>
                <a:spcPts val="335"/>
              </a:spcBef>
            </a:pPr>
            <a:r>
              <a:rPr sz="1400" dirty="0">
                <a:solidFill>
                  <a:sysClr val="windowText" lastClr="000000"/>
                </a:solidFill>
                <a:latin typeface="Palatino Linotype"/>
                <a:cs typeface="Palatino Linotype"/>
              </a:rPr>
              <a:t>will</a:t>
            </a:r>
            <a:r>
              <a:rPr sz="1400" spc="-25" dirty="0">
                <a:solidFill>
                  <a:sysClr val="windowText" lastClr="000000"/>
                </a:solidFill>
                <a:latin typeface="Palatino Linotype"/>
                <a:cs typeface="Palatino Linotype"/>
              </a:rPr>
              <a:t> </a:t>
            </a:r>
            <a:r>
              <a:rPr sz="1400" dirty="0">
                <a:solidFill>
                  <a:sysClr val="windowText" lastClr="000000"/>
                </a:solidFill>
                <a:latin typeface="Palatino Linotype"/>
                <a:cs typeface="Palatino Linotype"/>
              </a:rPr>
              <a:t>be</a:t>
            </a:r>
            <a:r>
              <a:rPr sz="1400" spc="-25" dirty="0">
                <a:solidFill>
                  <a:sysClr val="windowText" lastClr="000000"/>
                </a:solidFill>
                <a:latin typeface="Palatino Linotype"/>
                <a:cs typeface="Palatino Linotype"/>
              </a:rPr>
              <a:t> </a:t>
            </a:r>
            <a:r>
              <a:rPr sz="1400" dirty="0">
                <a:solidFill>
                  <a:sysClr val="windowText" lastClr="000000"/>
                </a:solidFill>
                <a:latin typeface="Palatino Linotype"/>
                <a:cs typeface="Palatino Linotype"/>
              </a:rPr>
              <a:t>used</a:t>
            </a:r>
            <a:r>
              <a:rPr sz="1400" spc="-35" dirty="0">
                <a:solidFill>
                  <a:sysClr val="windowText" lastClr="000000"/>
                </a:solidFill>
                <a:latin typeface="Palatino Linotype"/>
                <a:cs typeface="Palatino Linotype"/>
              </a:rPr>
              <a:t> </a:t>
            </a:r>
            <a:r>
              <a:rPr sz="1400" dirty="0">
                <a:solidFill>
                  <a:sysClr val="windowText" lastClr="000000"/>
                </a:solidFill>
                <a:latin typeface="Palatino Linotype"/>
                <a:cs typeface="Palatino Linotype"/>
              </a:rPr>
              <a:t>by</a:t>
            </a:r>
            <a:r>
              <a:rPr sz="1400" spc="-35" dirty="0">
                <a:solidFill>
                  <a:sysClr val="windowText" lastClr="000000"/>
                </a:solidFill>
                <a:latin typeface="Palatino Linotype"/>
                <a:cs typeface="Palatino Linotype"/>
              </a:rPr>
              <a:t> </a:t>
            </a:r>
            <a:r>
              <a:rPr sz="1400" dirty="0">
                <a:solidFill>
                  <a:sysClr val="windowText" lastClr="000000"/>
                </a:solidFill>
                <a:latin typeface="Palatino Linotype"/>
                <a:cs typeface="Palatino Linotype"/>
              </a:rPr>
              <a:t>subsequent</a:t>
            </a:r>
            <a:r>
              <a:rPr sz="1400" spc="-20" dirty="0">
                <a:solidFill>
                  <a:sysClr val="windowText" lastClr="000000"/>
                </a:solidFill>
                <a:latin typeface="Palatino Linotype"/>
                <a:cs typeface="Palatino Linotype"/>
              </a:rPr>
              <a:t> </a:t>
            </a:r>
            <a:r>
              <a:rPr sz="1400" spc="-10" dirty="0">
                <a:solidFill>
                  <a:sysClr val="windowText" lastClr="000000"/>
                </a:solidFill>
                <a:latin typeface="Palatino Linotype"/>
                <a:cs typeface="Palatino Linotype"/>
              </a:rPr>
              <a:t>statements</a:t>
            </a:r>
            <a:endParaRPr sz="1400">
              <a:solidFill>
                <a:sysClr val="windowText" lastClr="000000"/>
              </a:solidFill>
              <a:latin typeface="Palatino Linotype"/>
              <a:cs typeface="Palatino Linotype"/>
            </a:endParaRPr>
          </a:p>
        </p:txBody>
      </p:sp>
      <p:sp>
        <p:nvSpPr>
          <p:cNvPr id="16" name="object 7">
            <a:extLst>
              <a:ext uri="{FF2B5EF4-FFF2-40B4-BE49-F238E27FC236}">
                <a16:creationId xmlns:a16="http://schemas.microsoft.com/office/drawing/2014/main" id="{125285AA-C723-356E-190E-81E13EF27156}"/>
              </a:ext>
            </a:extLst>
          </p:cNvPr>
          <p:cNvSpPr/>
          <p:nvPr/>
        </p:nvSpPr>
        <p:spPr>
          <a:xfrm>
            <a:off x="6292311" y="1353790"/>
            <a:ext cx="351790" cy="76200"/>
          </a:xfrm>
          <a:custGeom>
            <a:avLst/>
            <a:gdLst/>
            <a:ahLst/>
            <a:cxnLst/>
            <a:rect l="l" t="t" r="r" b="b"/>
            <a:pathLst>
              <a:path w="351790" h="76200">
                <a:moveTo>
                  <a:pt x="275337" y="44449"/>
                </a:moveTo>
                <a:lnTo>
                  <a:pt x="275337" y="76200"/>
                </a:lnTo>
                <a:lnTo>
                  <a:pt x="338837" y="44450"/>
                </a:lnTo>
                <a:lnTo>
                  <a:pt x="275337" y="44449"/>
                </a:lnTo>
                <a:close/>
              </a:path>
              <a:path w="351790" h="76200">
                <a:moveTo>
                  <a:pt x="275337" y="31749"/>
                </a:moveTo>
                <a:lnTo>
                  <a:pt x="275337" y="44449"/>
                </a:lnTo>
                <a:lnTo>
                  <a:pt x="288037" y="44450"/>
                </a:lnTo>
                <a:lnTo>
                  <a:pt x="288037" y="31750"/>
                </a:lnTo>
                <a:lnTo>
                  <a:pt x="275337" y="31749"/>
                </a:lnTo>
                <a:close/>
              </a:path>
              <a:path w="351790" h="76200">
                <a:moveTo>
                  <a:pt x="275337" y="0"/>
                </a:moveTo>
                <a:lnTo>
                  <a:pt x="275337" y="31749"/>
                </a:lnTo>
                <a:lnTo>
                  <a:pt x="288037" y="31750"/>
                </a:lnTo>
                <a:lnTo>
                  <a:pt x="288037" y="44450"/>
                </a:lnTo>
                <a:lnTo>
                  <a:pt x="338839" y="44448"/>
                </a:lnTo>
                <a:lnTo>
                  <a:pt x="351537" y="38100"/>
                </a:lnTo>
                <a:lnTo>
                  <a:pt x="275337" y="0"/>
                </a:lnTo>
                <a:close/>
              </a:path>
              <a:path w="351790" h="76200">
                <a:moveTo>
                  <a:pt x="0" y="31748"/>
                </a:moveTo>
                <a:lnTo>
                  <a:pt x="0" y="44448"/>
                </a:lnTo>
                <a:lnTo>
                  <a:pt x="275337" y="44449"/>
                </a:lnTo>
                <a:lnTo>
                  <a:pt x="275337" y="31749"/>
                </a:lnTo>
                <a:lnTo>
                  <a:pt x="0" y="31748"/>
                </a:lnTo>
                <a:close/>
              </a:path>
            </a:pathLst>
          </a:custGeom>
          <a:solidFill>
            <a:srgbClr val="FF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Tree>
    <p:extLst>
      <p:ext uri="{BB962C8B-B14F-4D97-AF65-F5344CB8AC3E}">
        <p14:creationId xmlns:p14="http://schemas.microsoft.com/office/powerpoint/2010/main" val="223485952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31</a:t>
            </a:fld>
            <a:endParaRPr lang="en-US"/>
          </a:p>
        </p:txBody>
      </p:sp>
      <p:sp>
        <p:nvSpPr>
          <p:cNvPr id="11" name="object 2">
            <a:extLst>
              <a:ext uri="{FF2B5EF4-FFF2-40B4-BE49-F238E27FC236}">
                <a16:creationId xmlns:a16="http://schemas.microsoft.com/office/drawing/2014/main" id="{034C61FC-5882-EC26-C510-9EF22CEC58B2}"/>
              </a:ext>
            </a:extLst>
          </p:cNvPr>
          <p:cNvSpPr txBox="1">
            <a:spLocks/>
          </p:cNvSpPr>
          <p:nvPr/>
        </p:nvSpPr>
        <p:spPr>
          <a:xfrm>
            <a:off x="707390" y="524763"/>
            <a:ext cx="7729219" cy="63500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4000" b="1" i="0" u="none" strike="noStrike" kern="0" cap="none" spc="0" normalizeH="0" baseline="0" noProof="0">
                <a:ln>
                  <a:noFill/>
                </a:ln>
                <a:solidFill>
                  <a:sysClr val="windowText" lastClr="000000"/>
                </a:solidFill>
                <a:effectLst/>
                <a:uLnTx/>
                <a:uFillTx/>
                <a:latin typeface="Palatino Linotype"/>
                <a:ea typeface="+mj-ea"/>
              </a:rPr>
              <a:t>Running</a:t>
            </a:r>
            <a:r>
              <a:rPr kumimoji="0" lang="en-US" sz="4000" b="1" i="0" u="none" strike="noStrike" kern="0" cap="none" spc="-85" normalizeH="0" baseline="0" noProof="0">
                <a:ln>
                  <a:noFill/>
                </a:ln>
                <a:solidFill>
                  <a:sysClr val="windowText" lastClr="000000"/>
                </a:solidFill>
                <a:effectLst/>
                <a:uLnTx/>
                <a:uFillTx/>
                <a:latin typeface="Palatino Linotype"/>
                <a:ea typeface="+mj-ea"/>
              </a:rPr>
              <a:t> </a:t>
            </a:r>
            <a:r>
              <a:rPr kumimoji="0" lang="en-US" sz="4000" b="1" i="0" u="none" strike="noStrike" kern="0" cap="none" spc="-10" normalizeH="0" baseline="0" noProof="0">
                <a:ln>
                  <a:noFill/>
                </a:ln>
                <a:solidFill>
                  <a:sysClr val="windowText" lastClr="000000"/>
                </a:solidFill>
                <a:effectLst/>
                <a:uLnTx/>
                <a:uFillTx/>
                <a:latin typeface="Palatino Linotype"/>
                <a:ea typeface="+mj-ea"/>
              </a:rPr>
              <a:t>Example</a:t>
            </a:r>
            <a:endParaRPr kumimoji="0" lang="en-US" sz="4000" b="1" i="0" u="none" strike="noStrike" kern="0" cap="none" spc="-10" normalizeH="0" baseline="0" noProof="0" dirty="0">
              <a:ln>
                <a:noFill/>
              </a:ln>
              <a:solidFill>
                <a:sysClr val="windowText" lastClr="000000"/>
              </a:solidFill>
              <a:effectLst/>
              <a:uLnTx/>
              <a:uFillTx/>
              <a:latin typeface="Palatino Linotype"/>
              <a:ea typeface="+mj-ea"/>
            </a:endParaRPr>
          </a:p>
        </p:txBody>
      </p:sp>
      <p:sp>
        <p:nvSpPr>
          <p:cNvPr id="12" name="object 3">
            <a:extLst>
              <a:ext uri="{FF2B5EF4-FFF2-40B4-BE49-F238E27FC236}">
                <a16:creationId xmlns:a16="http://schemas.microsoft.com/office/drawing/2014/main" id="{BF738880-2EA8-927E-0893-DC80F8096B75}"/>
              </a:ext>
            </a:extLst>
          </p:cNvPr>
          <p:cNvSpPr txBox="1"/>
          <p:nvPr/>
        </p:nvSpPr>
        <p:spPr>
          <a:xfrm>
            <a:off x="681990" y="1836420"/>
            <a:ext cx="4794250" cy="330200"/>
          </a:xfrm>
          <a:prstGeom prst="rect">
            <a:avLst/>
          </a:prstGeom>
        </p:spPr>
        <p:txBody>
          <a:bodyPr vert="horz" wrap="square" lIns="0" tIns="12700" rIns="0" bIns="0" rtlCol="0">
            <a:spAutoFit/>
          </a:bodyPr>
          <a:lstStyle/>
          <a:p>
            <a:pPr marL="267970" indent="-229870">
              <a:spcBef>
                <a:spcPts val="100"/>
              </a:spcBef>
              <a:buClr>
                <a:srgbClr val="000000"/>
              </a:buClr>
              <a:buFont typeface="Arial MT"/>
              <a:buChar char="•"/>
              <a:tabLst>
                <a:tab pos="267970" algn="l"/>
              </a:tabLst>
            </a:pPr>
            <a:r>
              <a:rPr sz="2000" b="1" dirty="0">
                <a:solidFill>
                  <a:srgbClr val="FF0000"/>
                </a:solidFill>
                <a:latin typeface="Palatino Linotype"/>
                <a:cs typeface="Palatino Linotype"/>
              </a:rPr>
              <a:t>Analyzing</a:t>
            </a:r>
            <a:r>
              <a:rPr sz="2000" b="1" spc="-40" dirty="0">
                <a:solidFill>
                  <a:srgbClr val="FF0000"/>
                </a:solidFill>
                <a:latin typeface="Palatino Linotype"/>
                <a:cs typeface="Palatino Linotype"/>
              </a:rPr>
              <a:t> </a:t>
            </a:r>
            <a:r>
              <a:rPr sz="2000" b="1" dirty="0">
                <a:solidFill>
                  <a:srgbClr val="FF0000"/>
                </a:solidFill>
                <a:latin typeface="Palatino Linotype"/>
                <a:cs typeface="Palatino Linotype"/>
              </a:rPr>
              <a:t>line</a:t>
            </a:r>
            <a:r>
              <a:rPr sz="2000" b="1" spc="-35" dirty="0">
                <a:solidFill>
                  <a:srgbClr val="FF0000"/>
                </a:solidFill>
                <a:latin typeface="Palatino Linotype"/>
                <a:cs typeface="Palatino Linotype"/>
              </a:rPr>
              <a:t> </a:t>
            </a:r>
            <a:r>
              <a:rPr sz="2000" b="1" dirty="0">
                <a:solidFill>
                  <a:srgbClr val="FF0000"/>
                </a:solidFill>
                <a:latin typeface="Palatino Linotype"/>
                <a:cs typeface="Palatino Linotype"/>
              </a:rPr>
              <a:t>8):</a:t>
            </a:r>
            <a:r>
              <a:rPr sz="2000" b="1" spc="-35" dirty="0">
                <a:solidFill>
                  <a:srgbClr val="FF0000"/>
                </a:solidFill>
                <a:latin typeface="Palatino Linotype"/>
                <a:cs typeface="Palatino Linotype"/>
              </a:rPr>
              <a:t> </a:t>
            </a:r>
            <a:r>
              <a:rPr sz="2000" dirty="0">
                <a:solidFill>
                  <a:sysClr val="windowText" lastClr="000000"/>
                </a:solidFill>
                <a:latin typeface="Palatino Linotype"/>
                <a:cs typeface="Palatino Linotype"/>
              </a:rPr>
              <a:t>update</a:t>
            </a:r>
            <a:r>
              <a:rPr sz="2000" spc="-4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symbol</a:t>
            </a:r>
            <a:r>
              <a:rPr sz="2000" spc="-30" dirty="0">
                <a:solidFill>
                  <a:sysClr val="windowText" lastClr="000000"/>
                </a:solidFill>
                <a:latin typeface="Palatino Linotype"/>
                <a:cs typeface="Palatino Linotype"/>
              </a:rPr>
              <a:t> </a:t>
            </a:r>
            <a:r>
              <a:rPr sz="2000" spc="-10" dirty="0">
                <a:solidFill>
                  <a:sysClr val="windowText" lastClr="000000"/>
                </a:solidFill>
                <a:latin typeface="Palatino Linotype"/>
                <a:cs typeface="Palatino Linotype"/>
              </a:rPr>
              <a:t>table</a:t>
            </a:r>
            <a:r>
              <a:rPr sz="1950" spc="-15" baseline="25641" dirty="0">
                <a:solidFill>
                  <a:sysClr val="windowText" lastClr="000000"/>
                </a:solidFill>
                <a:latin typeface="Palatino Linotype"/>
                <a:cs typeface="Palatino Linotype"/>
              </a:rPr>
              <a:t>*</a:t>
            </a:r>
            <a:endParaRPr sz="1950" baseline="25641">
              <a:solidFill>
                <a:sysClr val="windowText" lastClr="000000"/>
              </a:solidFill>
              <a:latin typeface="Palatino Linotype"/>
              <a:cs typeface="Palatino Linotype"/>
            </a:endParaRPr>
          </a:p>
        </p:txBody>
      </p:sp>
      <p:pic>
        <p:nvPicPr>
          <p:cNvPr id="13" name="object 4">
            <a:extLst>
              <a:ext uri="{FF2B5EF4-FFF2-40B4-BE49-F238E27FC236}">
                <a16:creationId xmlns:a16="http://schemas.microsoft.com/office/drawing/2014/main" id="{0A1F8B25-46D3-FFC1-5984-316738CAE2A4}"/>
              </a:ext>
            </a:extLst>
          </p:cNvPr>
          <p:cNvPicPr/>
          <p:nvPr/>
        </p:nvPicPr>
        <p:blipFill>
          <a:blip r:embed="rId3" cstate="print"/>
          <a:stretch>
            <a:fillRect/>
          </a:stretch>
        </p:blipFill>
        <p:spPr>
          <a:xfrm>
            <a:off x="6740925" y="313327"/>
            <a:ext cx="1387753" cy="1183468"/>
          </a:xfrm>
          <a:prstGeom prst="rect">
            <a:avLst/>
          </a:prstGeom>
        </p:spPr>
      </p:pic>
      <p:graphicFrame>
        <p:nvGraphicFramePr>
          <p:cNvPr id="14" name="object 5">
            <a:extLst>
              <a:ext uri="{FF2B5EF4-FFF2-40B4-BE49-F238E27FC236}">
                <a16:creationId xmlns:a16="http://schemas.microsoft.com/office/drawing/2014/main" id="{348914CF-DEA9-4071-6E69-8B41E59486C3}"/>
              </a:ext>
            </a:extLst>
          </p:cNvPr>
          <p:cNvGraphicFramePr>
            <a:graphicFrameLocks noGrp="1"/>
          </p:cNvGraphicFramePr>
          <p:nvPr/>
        </p:nvGraphicFramePr>
        <p:xfrm>
          <a:off x="1517650" y="2556765"/>
          <a:ext cx="6096000" cy="2966720"/>
        </p:xfrm>
        <a:graphic>
          <a:graphicData uri="http://schemas.openxmlformats.org/drawingml/2006/table">
            <a:tbl>
              <a:tblPr firstRow="1" bandRow="1"/>
              <a:tblGrid>
                <a:gridCol w="2032000">
                  <a:extLst>
                    <a:ext uri="{9D8B030D-6E8A-4147-A177-3AD203B41FA5}">
                      <a16:colId xmlns:a16="http://schemas.microsoft.com/office/drawing/2014/main" val="20000"/>
                    </a:ext>
                  </a:extLst>
                </a:gridCol>
                <a:gridCol w="2032000">
                  <a:extLst>
                    <a:ext uri="{9D8B030D-6E8A-4147-A177-3AD203B41FA5}">
                      <a16:colId xmlns:a16="http://schemas.microsoft.com/office/drawing/2014/main" val="20001"/>
                    </a:ext>
                  </a:extLst>
                </a:gridCol>
                <a:gridCol w="2032000">
                  <a:extLst>
                    <a:ext uri="{9D8B030D-6E8A-4147-A177-3AD203B41FA5}">
                      <a16:colId xmlns:a16="http://schemas.microsoft.com/office/drawing/2014/main" val="20002"/>
                    </a:ext>
                  </a:extLst>
                </a:gridCol>
              </a:tblGrid>
              <a:tr h="370840">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gn="ctr">
                        <a:lnSpc>
                          <a:spcPct val="100000"/>
                        </a:lnSpc>
                        <a:spcBef>
                          <a:spcPts val="250"/>
                        </a:spcBef>
                      </a:pPr>
                      <a:r>
                        <a:rPr sz="1600" b="1" spc="-20" dirty="0">
                          <a:latin typeface="Palatino Linotype"/>
                          <a:cs typeface="Palatino Linotype"/>
                        </a:rPr>
                        <a:t>Name</a:t>
                      </a:r>
                      <a:endParaRPr sz="1600">
                        <a:latin typeface="Palatino Linotype"/>
                        <a:cs typeface="Palatino Linotype"/>
                      </a:endParaRPr>
                    </a:p>
                  </a:txBody>
                  <a:tcPr marL="0" marR="0" marT="317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gn="ctr">
                        <a:lnSpc>
                          <a:spcPct val="100000"/>
                        </a:lnSpc>
                        <a:spcBef>
                          <a:spcPts val="250"/>
                        </a:spcBef>
                      </a:pPr>
                      <a:r>
                        <a:rPr sz="1600" b="1" spc="-10" dirty="0">
                          <a:latin typeface="Palatino Linotype"/>
                          <a:cs typeface="Palatino Linotype"/>
                        </a:rPr>
                        <a:t>Liveness</a:t>
                      </a:r>
                      <a:endParaRPr sz="1600">
                        <a:latin typeface="Palatino Linotype"/>
                        <a:cs typeface="Palatino Linotype"/>
                      </a:endParaRPr>
                    </a:p>
                  </a:txBody>
                  <a:tcPr marL="0" marR="0" marT="317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gn="ctr">
                        <a:lnSpc>
                          <a:spcPct val="100000"/>
                        </a:lnSpc>
                        <a:spcBef>
                          <a:spcPts val="250"/>
                        </a:spcBef>
                      </a:pPr>
                      <a:r>
                        <a:rPr sz="1600" b="1" spc="-10" dirty="0">
                          <a:latin typeface="Palatino Linotype"/>
                          <a:cs typeface="Palatino Linotype"/>
                        </a:rPr>
                        <a:t>Next-</a:t>
                      </a:r>
                      <a:r>
                        <a:rPr sz="1600" b="1" spc="-25" dirty="0">
                          <a:latin typeface="Palatino Linotype"/>
                          <a:cs typeface="Palatino Linotype"/>
                        </a:rPr>
                        <a:t>use</a:t>
                      </a:r>
                      <a:endParaRPr sz="1600">
                        <a:latin typeface="Palatino Linotype"/>
                        <a:cs typeface="Palatino Linotype"/>
                      </a:endParaRPr>
                    </a:p>
                  </a:txBody>
                  <a:tcPr marL="0" marR="0" marT="317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370840">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marR="50165" algn="ctr">
                        <a:lnSpc>
                          <a:spcPct val="100000"/>
                        </a:lnSpc>
                        <a:spcBef>
                          <a:spcPts val="254"/>
                        </a:spcBef>
                      </a:pPr>
                      <a:r>
                        <a:rPr sz="1600" spc="-50" dirty="0">
                          <a:latin typeface="Cambria Math"/>
                          <a:cs typeface="Cambria Math"/>
                        </a:rPr>
                        <a:t>𝑖</a:t>
                      </a:r>
                      <a:endParaRPr sz="1600">
                        <a:latin typeface="Cambria Math"/>
                        <a:cs typeface="Cambria Math"/>
                      </a:endParaRPr>
                    </a:p>
                  </a:txBody>
                  <a:tcPr marL="0" marR="0" marT="3238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gn="ctr">
                        <a:lnSpc>
                          <a:spcPct val="100000"/>
                        </a:lnSpc>
                        <a:spcBef>
                          <a:spcPts val="254"/>
                        </a:spcBef>
                      </a:pPr>
                      <a:r>
                        <a:rPr sz="1600" spc="-20" dirty="0">
                          <a:latin typeface="Palatino Linotype"/>
                          <a:cs typeface="Palatino Linotype"/>
                        </a:rPr>
                        <a:t>Live</a:t>
                      </a:r>
                      <a:endParaRPr sz="1600">
                        <a:latin typeface="Palatino Linotype"/>
                        <a:cs typeface="Palatino Linotype"/>
                      </a:endParaRPr>
                    </a:p>
                  </a:txBody>
                  <a:tcPr marL="0" marR="0" marT="3238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nSpc>
                          <a:spcPct val="100000"/>
                        </a:lnSpc>
                      </a:pPr>
                      <a:endParaRPr sz="16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370840">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marR="46355" algn="ctr">
                        <a:lnSpc>
                          <a:spcPct val="100000"/>
                        </a:lnSpc>
                        <a:spcBef>
                          <a:spcPts val="265"/>
                        </a:spcBef>
                      </a:pPr>
                      <a:r>
                        <a:rPr sz="1600" spc="-50" dirty="0">
                          <a:solidFill>
                            <a:srgbClr val="FF0000"/>
                          </a:solidFill>
                          <a:latin typeface="Cambria Math"/>
                          <a:cs typeface="Cambria Math"/>
                        </a:rPr>
                        <a:t>𝑗</a:t>
                      </a:r>
                      <a:endParaRPr sz="1600">
                        <a:latin typeface="Cambria Math"/>
                        <a:cs typeface="Cambria Math"/>
                      </a:endParaRPr>
                    </a:p>
                  </a:txBody>
                  <a:tcPr marL="0" marR="0" marT="3365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gn="ctr">
                        <a:lnSpc>
                          <a:spcPct val="100000"/>
                        </a:lnSpc>
                        <a:spcBef>
                          <a:spcPts val="265"/>
                        </a:spcBef>
                      </a:pPr>
                      <a:r>
                        <a:rPr sz="1600" spc="-20" dirty="0">
                          <a:solidFill>
                            <a:srgbClr val="FF0000"/>
                          </a:solidFill>
                          <a:latin typeface="Palatino Linotype"/>
                          <a:cs typeface="Palatino Linotype"/>
                        </a:rPr>
                        <a:t>Live</a:t>
                      </a:r>
                      <a:endParaRPr sz="1600">
                        <a:latin typeface="Palatino Linotype"/>
                        <a:cs typeface="Palatino Linotype"/>
                      </a:endParaRPr>
                    </a:p>
                  </a:txBody>
                  <a:tcPr marL="0" marR="0" marT="3365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gn="ctr">
                        <a:lnSpc>
                          <a:spcPct val="100000"/>
                        </a:lnSpc>
                        <a:spcBef>
                          <a:spcPts val="265"/>
                        </a:spcBef>
                      </a:pPr>
                      <a:r>
                        <a:rPr sz="1600" spc="-50" dirty="0">
                          <a:solidFill>
                            <a:srgbClr val="FF0000"/>
                          </a:solidFill>
                          <a:latin typeface="Palatino Linotype"/>
                          <a:cs typeface="Palatino Linotype"/>
                        </a:rPr>
                        <a:t>8</a:t>
                      </a:r>
                      <a:endParaRPr sz="1600">
                        <a:latin typeface="Palatino Linotype"/>
                        <a:cs typeface="Palatino Linotype"/>
                      </a:endParaRPr>
                    </a:p>
                  </a:txBody>
                  <a:tcPr marL="0" marR="0" marT="3365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370840">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marR="47625" algn="ctr">
                        <a:lnSpc>
                          <a:spcPct val="100000"/>
                        </a:lnSpc>
                        <a:spcBef>
                          <a:spcPts val="250"/>
                        </a:spcBef>
                      </a:pPr>
                      <a:r>
                        <a:rPr sz="1600" spc="-50" dirty="0">
                          <a:latin typeface="Cambria Math"/>
                          <a:cs typeface="Cambria Math"/>
                        </a:rPr>
                        <a:t>𝑎</a:t>
                      </a:r>
                      <a:endParaRPr sz="1600">
                        <a:latin typeface="Cambria Math"/>
                        <a:cs typeface="Cambria Math"/>
                      </a:endParaRPr>
                    </a:p>
                  </a:txBody>
                  <a:tcPr marL="0" marR="0" marT="317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gn="ctr">
                        <a:lnSpc>
                          <a:spcPct val="100000"/>
                        </a:lnSpc>
                        <a:spcBef>
                          <a:spcPts val="250"/>
                        </a:spcBef>
                      </a:pPr>
                      <a:r>
                        <a:rPr sz="1600" spc="-20" dirty="0">
                          <a:latin typeface="Palatino Linotype"/>
                          <a:cs typeface="Palatino Linotype"/>
                        </a:rPr>
                        <a:t>Live</a:t>
                      </a:r>
                      <a:endParaRPr sz="1600">
                        <a:latin typeface="Palatino Linotype"/>
                        <a:cs typeface="Palatino Linotype"/>
                      </a:endParaRPr>
                    </a:p>
                  </a:txBody>
                  <a:tcPr marL="0" marR="0" marT="317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nSpc>
                          <a:spcPct val="100000"/>
                        </a:lnSpc>
                      </a:pPr>
                      <a:endParaRPr sz="16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370840">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marR="42545" algn="ctr">
                        <a:lnSpc>
                          <a:spcPct val="100000"/>
                        </a:lnSpc>
                        <a:spcBef>
                          <a:spcPts val="254"/>
                        </a:spcBef>
                      </a:pPr>
                      <a:r>
                        <a:rPr sz="1600" spc="-25" dirty="0">
                          <a:latin typeface="Cambria Math"/>
                          <a:cs typeface="Cambria Math"/>
                        </a:rPr>
                        <a:t>𝑡1</a:t>
                      </a:r>
                      <a:endParaRPr sz="1600">
                        <a:latin typeface="Cambria Math"/>
                        <a:cs typeface="Cambria Math"/>
                      </a:endParaRPr>
                    </a:p>
                  </a:txBody>
                  <a:tcPr marL="0" marR="0" marT="3238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gn="ctr">
                        <a:lnSpc>
                          <a:spcPct val="100000"/>
                        </a:lnSpc>
                        <a:spcBef>
                          <a:spcPts val="254"/>
                        </a:spcBef>
                      </a:pPr>
                      <a:r>
                        <a:rPr sz="1600" dirty="0">
                          <a:latin typeface="Palatino Linotype"/>
                          <a:cs typeface="Palatino Linotype"/>
                        </a:rPr>
                        <a:t>Not</a:t>
                      </a:r>
                      <a:r>
                        <a:rPr sz="1600" spc="-20" dirty="0">
                          <a:latin typeface="Palatino Linotype"/>
                          <a:cs typeface="Palatino Linotype"/>
                        </a:rPr>
                        <a:t> live</a:t>
                      </a:r>
                      <a:endParaRPr sz="1600">
                        <a:latin typeface="Palatino Linotype"/>
                        <a:cs typeface="Palatino Linotype"/>
                      </a:endParaRPr>
                    </a:p>
                  </a:txBody>
                  <a:tcPr marL="0" marR="0" marT="3238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nSpc>
                          <a:spcPct val="100000"/>
                        </a:lnSpc>
                      </a:pPr>
                      <a:endParaRPr sz="16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370840">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marR="42545" algn="ctr">
                        <a:lnSpc>
                          <a:spcPct val="100000"/>
                        </a:lnSpc>
                        <a:spcBef>
                          <a:spcPts val="265"/>
                        </a:spcBef>
                      </a:pPr>
                      <a:r>
                        <a:rPr sz="1600" spc="-25" dirty="0">
                          <a:latin typeface="Cambria Math"/>
                          <a:cs typeface="Cambria Math"/>
                        </a:rPr>
                        <a:t>𝑡2</a:t>
                      </a:r>
                      <a:endParaRPr sz="1600">
                        <a:latin typeface="Cambria Math"/>
                        <a:cs typeface="Cambria Math"/>
                      </a:endParaRPr>
                    </a:p>
                  </a:txBody>
                  <a:tcPr marL="0" marR="0" marT="3365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gn="ctr">
                        <a:lnSpc>
                          <a:spcPct val="100000"/>
                        </a:lnSpc>
                        <a:spcBef>
                          <a:spcPts val="265"/>
                        </a:spcBef>
                      </a:pPr>
                      <a:r>
                        <a:rPr sz="1600" dirty="0">
                          <a:latin typeface="Palatino Linotype"/>
                          <a:cs typeface="Palatino Linotype"/>
                        </a:rPr>
                        <a:t>Not</a:t>
                      </a:r>
                      <a:r>
                        <a:rPr sz="1600" spc="-20" dirty="0">
                          <a:latin typeface="Palatino Linotype"/>
                          <a:cs typeface="Palatino Linotype"/>
                        </a:rPr>
                        <a:t> live</a:t>
                      </a:r>
                      <a:endParaRPr sz="1600">
                        <a:latin typeface="Palatino Linotype"/>
                        <a:cs typeface="Palatino Linotype"/>
                      </a:endParaRPr>
                    </a:p>
                  </a:txBody>
                  <a:tcPr marL="0" marR="0" marT="3365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nSpc>
                          <a:spcPct val="100000"/>
                        </a:lnSpc>
                      </a:pPr>
                      <a:endParaRPr sz="16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370840">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marR="42545" algn="ctr">
                        <a:lnSpc>
                          <a:spcPct val="100000"/>
                        </a:lnSpc>
                        <a:spcBef>
                          <a:spcPts val="250"/>
                        </a:spcBef>
                      </a:pPr>
                      <a:r>
                        <a:rPr sz="1600" spc="-25" dirty="0">
                          <a:latin typeface="Cambria Math"/>
                          <a:cs typeface="Cambria Math"/>
                        </a:rPr>
                        <a:t>𝑡3</a:t>
                      </a:r>
                      <a:endParaRPr sz="1600">
                        <a:latin typeface="Cambria Math"/>
                        <a:cs typeface="Cambria Math"/>
                      </a:endParaRPr>
                    </a:p>
                  </a:txBody>
                  <a:tcPr marL="0" marR="0" marT="317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gn="ctr">
                        <a:lnSpc>
                          <a:spcPct val="100000"/>
                        </a:lnSpc>
                        <a:spcBef>
                          <a:spcPts val="250"/>
                        </a:spcBef>
                      </a:pPr>
                      <a:r>
                        <a:rPr sz="1600" dirty="0">
                          <a:latin typeface="Palatino Linotype"/>
                          <a:cs typeface="Palatino Linotype"/>
                        </a:rPr>
                        <a:t>Not</a:t>
                      </a:r>
                      <a:r>
                        <a:rPr sz="1600" spc="-20" dirty="0">
                          <a:latin typeface="Palatino Linotype"/>
                          <a:cs typeface="Palatino Linotype"/>
                        </a:rPr>
                        <a:t> live</a:t>
                      </a:r>
                      <a:endParaRPr sz="1600">
                        <a:latin typeface="Palatino Linotype"/>
                        <a:cs typeface="Palatino Linotype"/>
                      </a:endParaRPr>
                    </a:p>
                  </a:txBody>
                  <a:tcPr marL="0" marR="0" marT="317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nSpc>
                          <a:spcPct val="100000"/>
                        </a:lnSpc>
                      </a:pPr>
                      <a:endParaRPr sz="16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370840">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marR="42545" algn="ctr">
                        <a:lnSpc>
                          <a:spcPct val="100000"/>
                        </a:lnSpc>
                        <a:spcBef>
                          <a:spcPts val="254"/>
                        </a:spcBef>
                      </a:pPr>
                      <a:r>
                        <a:rPr sz="1600" spc="-25" dirty="0">
                          <a:latin typeface="Cambria Math"/>
                          <a:cs typeface="Cambria Math"/>
                        </a:rPr>
                        <a:t>𝑡4</a:t>
                      </a:r>
                      <a:endParaRPr sz="1600">
                        <a:latin typeface="Cambria Math"/>
                        <a:cs typeface="Cambria Math"/>
                      </a:endParaRPr>
                    </a:p>
                  </a:txBody>
                  <a:tcPr marL="0" marR="0" marT="3238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gn="ctr">
                        <a:lnSpc>
                          <a:spcPct val="100000"/>
                        </a:lnSpc>
                        <a:spcBef>
                          <a:spcPts val="254"/>
                        </a:spcBef>
                      </a:pPr>
                      <a:r>
                        <a:rPr sz="1600" dirty="0">
                          <a:latin typeface="Palatino Linotype"/>
                          <a:cs typeface="Palatino Linotype"/>
                        </a:rPr>
                        <a:t>Not</a:t>
                      </a:r>
                      <a:r>
                        <a:rPr sz="1600" spc="-20" dirty="0">
                          <a:latin typeface="Palatino Linotype"/>
                          <a:cs typeface="Palatino Linotype"/>
                        </a:rPr>
                        <a:t> live</a:t>
                      </a:r>
                      <a:endParaRPr sz="1600">
                        <a:latin typeface="Palatino Linotype"/>
                        <a:cs typeface="Palatino Linotype"/>
                      </a:endParaRPr>
                    </a:p>
                  </a:txBody>
                  <a:tcPr marL="0" marR="0" marT="3238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nSpc>
                          <a:spcPct val="100000"/>
                        </a:lnSpc>
                      </a:pPr>
                      <a:endParaRPr sz="16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7"/>
                  </a:ext>
                </a:extLst>
              </a:tr>
            </a:tbl>
          </a:graphicData>
        </a:graphic>
      </p:graphicFrame>
      <p:sp>
        <p:nvSpPr>
          <p:cNvPr id="15" name="object 6">
            <a:extLst>
              <a:ext uri="{FF2B5EF4-FFF2-40B4-BE49-F238E27FC236}">
                <a16:creationId xmlns:a16="http://schemas.microsoft.com/office/drawing/2014/main" id="{FA0611BC-E753-DF9D-5493-595830F99E6A}"/>
              </a:ext>
            </a:extLst>
          </p:cNvPr>
          <p:cNvSpPr txBox="1"/>
          <p:nvPr/>
        </p:nvSpPr>
        <p:spPr>
          <a:xfrm>
            <a:off x="1515409" y="5628132"/>
            <a:ext cx="6471285" cy="238760"/>
          </a:xfrm>
          <a:prstGeom prst="rect">
            <a:avLst/>
          </a:prstGeom>
        </p:spPr>
        <p:txBody>
          <a:bodyPr vert="horz" wrap="square" lIns="0" tIns="12700" rIns="0" bIns="0" rtlCol="0">
            <a:spAutoFit/>
          </a:bodyPr>
          <a:lstStyle/>
          <a:p>
            <a:pPr marL="12700">
              <a:spcBef>
                <a:spcPts val="100"/>
              </a:spcBef>
            </a:pPr>
            <a:r>
              <a:rPr sz="1400" dirty="0">
                <a:solidFill>
                  <a:srgbClr val="FF0000"/>
                </a:solidFill>
                <a:latin typeface="Palatino Linotype"/>
                <a:cs typeface="Palatino Linotype"/>
              </a:rPr>
              <a:t>*</a:t>
            </a:r>
            <a:r>
              <a:rPr sz="1400" spc="-20" dirty="0">
                <a:solidFill>
                  <a:srgbClr val="FF0000"/>
                </a:solidFill>
                <a:latin typeface="Palatino Linotype"/>
                <a:cs typeface="Palatino Linotype"/>
              </a:rPr>
              <a:t> </a:t>
            </a:r>
            <a:r>
              <a:rPr sz="1400" dirty="0">
                <a:solidFill>
                  <a:srgbClr val="FF0000"/>
                </a:solidFill>
                <a:latin typeface="Palatino Linotype"/>
                <a:cs typeface="Palatino Linotype"/>
              </a:rPr>
              <a:t>The</a:t>
            </a:r>
            <a:r>
              <a:rPr sz="1400" spc="-25" dirty="0">
                <a:solidFill>
                  <a:srgbClr val="FF0000"/>
                </a:solidFill>
                <a:latin typeface="Palatino Linotype"/>
                <a:cs typeface="Palatino Linotype"/>
              </a:rPr>
              <a:t> </a:t>
            </a:r>
            <a:r>
              <a:rPr sz="1400" dirty="0">
                <a:solidFill>
                  <a:srgbClr val="FF0000"/>
                </a:solidFill>
                <a:latin typeface="Palatino Linotype"/>
                <a:cs typeface="Palatino Linotype"/>
              </a:rPr>
              <a:t>updated</a:t>
            </a:r>
            <a:r>
              <a:rPr sz="1400" spc="-35" dirty="0">
                <a:solidFill>
                  <a:srgbClr val="FF0000"/>
                </a:solidFill>
                <a:latin typeface="Palatino Linotype"/>
                <a:cs typeface="Palatino Linotype"/>
              </a:rPr>
              <a:t> </a:t>
            </a:r>
            <a:r>
              <a:rPr sz="1400" dirty="0">
                <a:solidFill>
                  <a:srgbClr val="FF0000"/>
                </a:solidFill>
                <a:latin typeface="Palatino Linotype"/>
                <a:cs typeface="Palatino Linotype"/>
              </a:rPr>
              <a:t>information</a:t>
            </a:r>
            <a:r>
              <a:rPr sz="1400" spc="-30" dirty="0">
                <a:solidFill>
                  <a:srgbClr val="FF0000"/>
                </a:solidFill>
                <a:latin typeface="Palatino Linotype"/>
                <a:cs typeface="Palatino Linotype"/>
              </a:rPr>
              <a:t> </a:t>
            </a:r>
            <a:r>
              <a:rPr sz="1400" dirty="0">
                <a:solidFill>
                  <a:srgbClr val="FF0000"/>
                </a:solidFill>
                <a:latin typeface="Palatino Linotype"/>
                <a:cs typeface="Palatino Linotype"/>
              </a:rPr>
              <a:t>will</a:t>
            </a:r>
            <a:r>
              <a:rPr sz="1400" spc="-15" dirty="0">
                <a:solidFill>
                  <a:srgbClr val="FF0000"/>
                </a:solidFill>
                <a:latin typeface="Palatino Linotype"/>
                <a:cs typeface="Palatino Linotype"/>
              </a:rPr>
              <a:t> </a:t>
            </a:r>
            <a:r>
              <a:rPr sz="1400" dirty="0">
                <a:solidFill>
                  <a:srgbClr val="FF0000"/>
                </a:solidFill>
                <a:latin typeface="Palatino Linotype"/>
                <a:cs typeface="Palatino Linotype"/>
              </a:rPr>
              <a:t>be</a:t>
            </a:r>
            <a:r>
              <a:rPr sz="1400" spc="-25" dirty="0">
                <a:solidFill>
                  <a:srgbClr val="FF0000"/>
                </a:solidFill>
                <a:latin typeface="Palatino Linotype"/>
                <a:cs typeface="Palatino Linotype"/>
              </a:rPr>
              <a:t> </a:t>
            </a:r>
            <a:r>
              <a:rPr sz="1400" dirty="0">
                <a:solidFill>
                  <a:srgbClr val="FF0000"/>
                </a:solidFill>
                <a:latin typeface="Palatino Linotype"/>
                <a:cs typeface="Palatino Linotype"/>
              </a:rPr>
              <a:t>passed</a:t>
            </a:r>
            <a:r>
              <a:rPr sz="1400" spc="-35" dirty="0">
                <a:solidFill>
                  <a:srgbClr val="FF0000"/>
                </a:solidFill>
                <a:latin typeface="Palatino Linotype"/>
                <a:cs typeface="Palatino Linotype"/>
              </a:rPr>
              <a:t> </a:t>
            </a:r>
            <a:r>
              <a:rPr sz="1400" dirty="0">
                <a:solidFill>
                  <a:srgbClr val="FF0000"/>
                </a:solidFill>
                <a:latin typeface="Palatino Linotype"/>
                <a:cs typeface="Palatino Linotype"/>
              </a:rPr>
              <a:t>and</a:t>
            </a:r>
            <a:r>
              <a:rPr sz="1400" spc="-30" dirty="0">
                <a:solidFill>
                  <a:srgbClr val="FF0000"/>
                </a:solidFill>
                <a:latin typeface="Palatino Linotype"/>
                <a:cs typeface="Palatino Linotype"/>
              </a:rPr>
              <a:t> </a:t>
            </a:r>
            <a:r>
              <a:rPr sz="1400" dirty="0">
                <a:solidFill>
                  <a:srgbClr val="FF0000"/>
                </a:solidFill>
                <a:latin typeface="Palatino Linotype"/>
                <a:cs typeface="Palatino Linotype"/>
              </a:rPr>
              <a:t>attached</a:t>
            </a:r>
            <a:r>
              <a:rPr sz="1400" spc="-35" dirty="0">
                <a:solidFill>
                  <a:srgbClr val="FF0000"/>
                </a:solidFill>
                <a:latin typeface="Palatino Linotype"/>
                <a:cs typeface="Palatino Linotype"/>
              </a:rPr>
              <a:t> </a:t>
            </a:r>
            <a:r>
              <a:rPr sz="1400" dirty="0">
                <a:solidFill>
                  <a:srgbClr val="FF0000"/>
                </a:solidFill>
                <a:latin typeface="Palatino Linotype"/>
                <a:cs typeface="Palatino Linotype"/>
              </a:rPr>
              <a:t>to</a:t>
            </a:r>
            <a:r>
              <a:rPr sz="1400" spc="-30" dirty="0">
                <a:solidFill>
                  <a:srgbClr val="FF0000"/>
                </a:solidFill>
                <a:latin typeface="Palatino Linotype"/>
                <a:cs typeface="Palatino Linotype"/>
              </a:rPr>
              <a:t> </a:t>
            </a:r>
            <a:r>
              <a:rPr sz="1400" dirty="0">
                <a:solidFill>
                  <a:srgbClr val="FF0000"/>
                </a:solidFill>
                <a:latin typeface="Palatino Linotype"/>
                <a:cs typeface="Palatino Linotype"/>
              </a:rPr>
              <a:t>the</a:t>
            </a:r>
            <a:r>
              <a:rPr sz="1400" spc="-25" dirty="0">
                <a:solidFill>
                  <a:srgbClr val="FF0000"/>
                </a:solidFill>
                <a:latin typeface="Palatino Linotype"/>
                <a:cs typeface="Palatino Linotype"/>
              </a:rPr>
              <a:t> </a:t>
            </a:r>
            <a:r>
              <a:rPr sz="1400" dirty="0">
                <a:solidFill>
                  <a:srgbClr val="FF0000"/>
                </a:solidFill>
                <a:latin typeface="Palatino Linotype"/>
                <a:cs typeface="Palatino Linotype"/>
              </a:rPr>
              <a:t>previous</a:t>
            </a:r>
            <a:r>
              <a:rPr sz="1400" spc="-30" dirty="0">
                <a:solidFill>
                  <a:srgbClr val="FF0000"/>
                </a:solidFill>
                <a:latin typeface="Palatino Linotype"/>
                <a:cs typeface="Palatino Linotype"/>
              </a:rPr>
              <a:t> </a:t>
            </a:r>
            <a:r>
              <a:rPr sz="1400" spc="-10" dirty="0">
                <a:solidFill>
                  <a:srgbClr val="FF0000"/>
                </a:solidFill>
                <a:latin typeface="Palatino Linotype"/>
                <a:cs typeface="Palatino Linotype"/>
              </a:rPr>
              <a:t>statements</a:t>
            </a:r>
            <a:endParaRPr sz="1400">
              <a:solidFill>
                <a:sysClr val="windowText" lastClr="000000"/>
              </a:solidFill>
              <a:latin typeface="Palatino Linotype"/>
              <a:cs typeface="Palatino Linotype"/>
            </a:endParaRPr>
          </a:p>
        </p:txBody>
      </p:sp>
      <p:sp>
        <p:nvSpPr>
          <p:cNvPr id="16" name="object 7">
            <a:extLst>
              <a:ext uri="{FF2B5EF4-FFF2-40B4-BE49-F238E27FC236}">
                <a16:creationId xmlns:a16="http://schemas.microsoft.com/office/drawing/2014/main" id="{A492937E-1F74-BD6B-7B9C-60D16C16BE5E}"/>
              </a:ext>
            </a:extLst>
          </p:cNvPr>
          <p:cNvSpPr/>
          <p:nvPr/>
        </p:nvSpPr>
        <p:spPr>
          <a:xfrm>
            <a:off x="6292311" y="1353790"/>
            <a:ext cx="351790" cy="76200"/>
          </a:xfrm>
          <a:custGeom>
            <a:avLst/>
            <a:gdLst/>
            <a:ahLst/>
            <a:cxnLst/>
            <a:rect l="l" t="t" r="r" b="b"/>
            <a:pathLst>
              <a:path w="351790" h="76200">
                <a:moveTo>
                  <a:pt x="275337" y="44449"/>
                </a:moveTo>
                <a:lnTo>
                  <a:pt x="275337" y="76200"/>
                </a:lnTo>
                <a:lnTo>
                  <a:pt x="338837" y="44450"/>
                </a:lnTo>
                <a:lnTo>
                  <a:pt x="275337" y="44449"/>
                </a:lnTo>
                <a:close/>
              </a:path>
              <a:path w="351790" h="76200">
                <a:moveTo>
                  <a:pt x="275337" y="31749"/>
                </a:moveTo>
                <a:lnTo>
                  <a:pt x="275337" y="44449"/>
                </a:lnTo>
                <a:lnTo>
                  <a:pt x="288037" y="44450"/>
                </a:lnTo>
                <a:lnTo>
                  <a:pt x="288037" y="31750"/>
                </a:lnTo>
                <a:lnTo>
                  <a:pt x="275337" y="31749"/>
                </a:lnTo>
                <a:close/>
              </a:path>
              <a:path w="351790" h="76200">
                <a:moveTo>
                  <a:pt x="275337" y="0"/>
                </a:moveTo>
                <a:lnTo>
                  <a:pt x="275337" y="31749"/>
                </a:lnTo>
                <a:lnTo>
                  <a:pt x="288037" y="31750"/>
                </a:lnTo>
                <a:lnTo>
                  <a:pt x="288037" y="44450"/>
                </a:lnTo>
                <a:lnTo>
                  <a:pt x="338839" y="44448"/>
                </a:lnTo>
                <a:lnTo>
                  <a:pt x="351537" y="38100"/>
                </a:lnTo>
                <a:lnTo>
                  <a:pt x="275337" y="0"/>
                </a:lnTo>
                <a:close/>
              </a:path>
              <a:path w="351790" h="76200">
                <a:moveTo>
                  <a:pt x="0" y="31748"/>
                </a:moveTo>
                <a:lnTo>
                  <a:pt x="0" y="44448"/>
                </a:lnTo>
                <a:lnTo>
                  <a:pt x="275337" y="44449"/>
                </a:lnTo>
                <a:lnTo>
                  <a:pt x="275337" y="31749"/>
                </a:lnTo>
                <a:lnTo>
                  <a:pt x="0" y="31748"/>
                </a:lnTo>
                <a:close/>
              </a:path>
            </a:pathLst>
          </a:custGeom>
          <a:solidFill>
            <a:srgbClr val="FF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Tree>
    <p:extLst>
      <p:ext uri="{BB962C8B-B14F-4D97-AF65-F5344CB8AC3E}">
        <p14:creationId xmlns:p14="http://schemas.microsoft.com/office/powerpoint/2010/main" val="163159650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32</a:t>
            </a:fld>
            <a:endParaRPr lang="en-US"/>
          </a:p>
        </p:txBody>
      </p:sp>
      <p:sp>
        <p:nvSpPr>
          <p:cNvPr id="10" name="object 2">
            <a:extLst>
              <a:ext uri="{FF2B5EF4-FFF2-40B4-BE49-F238E27FC236}">
                <a16:creationId xmlns:a16="http://schemas.microsoft.com/office/drawing/2014/main" id="{BADF955A-9C6B-D897-2236-C09A02B66CDA}"/>
              </a:ext>
            </a:extLst>
          </p:cNvPr>
          <p:cNvSpPr txBox="1">
            <a:spLocks/>
          </p:cNvSpPr>
          <p:nvPr/>
        </p:nvSpPr>
        <p:spPr>
          <a:xfrm>
            <a:off x="707390" y="524763"/>
            <a:ext cx="7729219" cy="63500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4000" b="1" i="0" u="none" strike="noStrike" kern="0" cap="none" spc="0" normalizeH="0" baseline="0" noProof="0">
                <a:ln>
                  <a:noFill/>
                </a:ln>
                <a:solidFill>
                  <a:sysClr val="windowText" lastClr="000000"/>
                </a:solidFill>
                <a:effectLst/>
                <a:uLnTx/>
                <a:uFillTx/>
                <a:latin typeface="Palatino Linotype"/>
                <a:ea typeface="+mj-ea"/>
              </a:rPr>
              <a:t>Running</a:t>
            </a:r>
            <a:r>
              <a:rPr kumimoji="0" lang="en-US" sz="4000" b="1" i="0" u="none" strike="noStrike" kern="0" cap="none" spc="-85" normalizeH="0" baseline="0" noProof="0">
                <a:ln>
                  <a:noFill/>
                </a:ln>
                <a:solidFill>
                  <a:sysClr val="windowText" lastClr="000000"/>
                </a:solidFill>
                <a:effectLst/>
                <a:uLnTx/>
                <a:uFillTx/>
                <a:latin typeface="Palatino Linotype"/>
                <a:ea typeface="+mj-ea"/>
              </a:rPr>
              <a:t> </a:t>
            </a:r>
            <a:r>
              <a:rPr kumimoji="0" lang="en-US" sz="4000" b="1" i="0" u="none" strike="noStrike" kern="0" cap="none" spc="-10" normalizeH="0" baseline="0" noProof="0">
                <a:ln>
                  <a:noFill/>
                </a:ln>
                <a:solidFill>
                  <a:sysClr val="windowText" lastClr="000000"/>
                </a:solidFill>
                <a:effectLst/>
                <a:uLnTx/>
                <a:uFillTx/>
                <a:latin typeface="Palatino Linotype"/>
                <a:ea typeface="+mj-ea"/>
              </a:rPr>
              <a:t>Example</a:t>
            </a:r>
            <a:endParaRPr kumimoji="0" lang="en-US" sz="4000" b="1" i="0" u="none" strike="noStrike" kern="0" cap="none" spc="-10" normalizeH="0" baseline="0" noProof="0" dirty="0">
              <a:ln>
                <a:noFill/>
              </a:ln>
              <a:solidFill>
                <a:sysClr val="windowText" lastClr="000000"/>
              </a:solidFill>
              <a:effectLst/>
              <a:uLnTx/>
              <a:uFillTx/>
              <a:latin typeface="Palatino Linotype"/>
              <a:ea typeface="+mj-ea"/>
            </a:endParaRPr>
          </a:p>
        </p:txBody>
      </p:sp>
      <p:sp>
        <p:nvSpPr>
          <p:cNvPr id="11" name="object 3">
            <a:extLst>
              <a:ext uri="{FF2B5EF4-FFF2-40B4-BE49-F238E27FC236}">
                <a16:creationId xmlns:a16="http://schemas.microsoft.com/office/drawing/2014/main" id="{A3E478C1-4376-54C8-6D8A-E16FF956F9DC}"/>
              </a:ext>
            </a:extLst>
          </p:cNvPr>
          <p:cNvSpPr txBox="1"/>
          <p:nvPr/>
        </p:nvSpPr>
        <p:spPr>
          <a:xfrm>
            <a:off x="707390" y="1836420"/>
            <a:ext cx="6589395" cy="330200"/>
          </a:xfrm>
          <a:prstGeom prst="rect">
            <a:avLst/>
          </a:prstGeom>
        </p:spPr>
        <p:txBody>
          <a:bodyPr vert="horz" wrap="square" lIns="0" tIns="12700" rIns="0" bIns="0" rtlCol="0">
            <a:spAutoFit/>
          </a:bodyPr>
          <a:lstStyle/>
          <a:p>
            <a:pPr marL="242570" indent="-229870">
              <a:spcBef>
                <a:spcPts val="100"/>
              </a:spcBef>
              <a:buClr>
                <a:srgbClr val="000000"/>
              </a:buClr>
              <a:buFont typeface="Arial MT"/>
              <a:buChar char="•"/>
              <a:tabLst>
                <a:tab pos="242570" algn="l"/>
              </a:tabLst>
            </a:pPr>
            <a:r>
              <a:rPr sz="2000" b="1" dirty="0">
                <a:solidFill>
                  <a:srgbClr val="FF0000"/>
                </a:solidFill>
                <a:latin typeface="Palatino Linotype"/>
                <a:cs typeface="Palatino Linotype"/>
              </a:rPr>
              <a:t>Analyzing</a:t>
            </a:r>
            <a:r>
              <a:rPr sz="2000" b="1" spc="-30" dirty="0">
                <a:solidFill>
                  <a:srgbClr val="FF0000"/>
                </a:solidFill>
                <a:latin typeface="Palatino Linotype"/>
                <a:cs typeface="Palatino Linotype"/>
              </a:rPr>
              <a:t> </a:t>
            </a:r>
            <a:r>
              <a:rPr sz="2000" b="1" dirty="0">
                <a:solidFill>
                  <a:srgbClr val="FF0000"/>
                </a:solidFill>
                <a:latin typeface="Palatino Linotype"/>
                <a:cs typeface="Palatino Linotype"/>
              </a:rPr>
              <a:t>line</a:t>
            </a:r>
            <a:r>
              <a:rPr sz="2000" b="1" spc="-30" dirty="0">
                <a:solidFill>
                  <a:srgbClr val="FF0000"/>
                </a:solidFill>
                <a:latin typeface="Palatino Linotype"/>
                <a:cs typeface="Palatino Linotype"/>
              </a:rPr>
              <a:t> </a:t>
            </a:r>
            <a:r>
              <a:rPr sz="2000" b="1" dirty="0">
                <a:solidFill>
                  <a:srgbClr val="FF0000"/>
                </a:solidFill>
                <a:latin typeface="Palatino Linotype"/>
                <a:cs typeface="Palatino Linotype"/>
              </a:rPr>
              <a:t>7):</a:t>
            </a:r>
            <a:r>
              <a:rPr sz="2000" b="1" spc="-25" dirty="0">
                <a:solidFill>
                  <a:srgbClr val="FF0000"/>
                </a:solidFill>
                <a:latin typeface="Palatino Linotype"/>
                <a:cs typeface="Palatino Linotype"/>
              </a:rPr>
              <a:t> </a:t>
            </a:r>
            <a:r>
              <a:rPr sz="2000" dirty="0">
                <a:solidFill>
                  <a:sysClr val="windowText" lastClr="000000"/>
                </a:solidFill>
                <a:latin typeface="Palatino Linotype"/>
                <a:cs typeface="Palatino Linotype"/>
              </a:rPr>
              <a:t>attach</a:t>
            </a:r>
            <a:r>
              <a:rPr sz="2000" spc="-3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the</a:t>
            </a:r>
            <a:r>
              <a:rPr sz="2000" spc="-3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following</a:t>
            </a:r>
            <a:r>
              <a:rPr sz="2000" spc="-2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information</a:t>
            </a:r>
            <a:r>
              <a:rPr sz="2000" spc="-3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to</a:t>
            </a:r>
            <a:r>
              <a:rPr sz="2000" spc="-30" dirty="0">
                <a:solidFill>
                  <a:sysClr val="windowText" lastClr="000000"/>
                </a:solidFill>
                <a:latin typeface="Palatino Linotype"/>
                <a:cs typeface="Palatino Linotype"/>
              </a:rPr>
              <a:t> </a:t>
            </a:r>
            <a:r>
              <a:rPr sz="2000" spc="-25" dirty="0">
                <a:solidFill>
                  <a:sysClr val="windowText" lastClr="000000"/>
                </a:solidFill>
                <a:latin typeface="Palatino Linotype"/>
                <a:cs typeface="Palatino Linotype"/>
              </a:rPr>
              <a:t>7)</a:t>
            </a:r>
            <a:endParaRPr sz="2000">
              <a:solidFill>
                <a:sysClr val="windowText" lastClr="000000"/>
              </a:solidFill>
              <a:latin typeface="Palatino Linotype"/>
              <a:cs typeface="Palatino Linotype"/>
            </a:endParaRPr>
          </a:p>
        </p:txBody>
      </p:sp>
      <p:pic>
        <p:nvPicPr>
          <p:cNvPr id="12" name="object 4">
            <a:extLst>
              <a:ext uri="{FF2B5EF4-FFF2-40B4-BE49-F238E27FC236}">
                <a16:creationId xmlns:a16="http://schemas.microsoft.com/office/drawing/2014/main" id="{273C016D-6B85-9EB5-2FE0-B86403431622}"/>
              </a:ext>
            </a:extLst>
          </p:cNvPr>
          <p:cNvPicPr/>
          <p:nvPr/>
        </p:nvPicPr>
        <p:blipFill>
          <a:blip r:embed="rId3" cstate="print"/>
          <a:stretch>
            <a:fillRect/>
          </a:stretch>
        </p:blipFill>
        <p:spPr>
          <a:xfrm>
            <a:off x="6740925" y="313327"/>
            <a:ext cx="1387753" cy="1183468"/>
          </a:xfrm>
          <a:prstGeom prst="rect">
            <a:avLst/>
          </a:prstGeom>
        </p:spPr>
      </p:pic>
      <p:graphicFrame>
        <p:nvGraphicFramePr>
          <p:cNvPr id="13" name="object 5">
            <a:extLst>
              <a:ext uri="{FF2B5EF4-FFF2-40B4-BE49-F238E27FC236}">
                <a16:creationId xmlns:a16="http://schemas.microsoft.com/office/drawing/2014/main" id="{A76F7B4F-C8F3-5E48-D562-2FDF483FE797}"/>
              </a:ext>
            </a:extLst>
          </p:cNvPr>
          <p:cNvGraphicFramePr>
            <a:graphicFrameLocks noGrp="1"/>
          </p:cNvGraphicFramePr>
          <p:nvPr/>
        </p:nvGraphicFramePr>
        <p:xfrm>
          <a:off x="1517650" y="2556765"/>
          <a:ext cx="6096000" cy="1112520"/>
        </p:xfrm>
        <a:graphic>
          <a:graphicData uri="http://schemas.openxmlformats.org/drawingml/2006/table">
            <a:tbl>
              <a:tblPr firstRow="1" bandRow="1"/>
              <a:tblGrid>
                <a:gridCol w="2032000">
                  <a:extLst>
                    <a:ext uri="{9D8B030D-6E8A-4147-A177-3AD203B41FA5}">
                      <a16:colId xmlns:a16="http://schemas.microsoft.com/office/drawing/2014/main" val="20000"/>
                    </a:ext>
                  </a:extLst>
                </a:gridCol>
                <a:gridCol w="2032000">
                  <a:extLst>
                    <a:ext uri="{9D8B030D-6E8A-4147-A177-3AD203B41FA5}">
                      <a16:colId xmlns:a16="http://schemas.microsoft.com/office/drawing/2014/main" val="20001"/>
                    </a:ext>
                  </a:extLst>
                </a:gridCol>
                <a:gridCol w="2032000">
                  <a:extLst>
                    <a:ext uri="{9D8B030D-6E8A-4147-A177-3AD203B41FA5}">
                      <a16:colId xmlns:a16="http://schemas.microsoft.com/office/drawing/2014/main" val="20002"/>
                    </a:ext>
                  </a:extLst>
                </a:gridCol>
              </a:tblGrid>
              <a:tr h="370840">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gn="ctr">
                        <a:lnSpc>
                          <a:spcPct val="100000"/>
                        </a:lnSpc>
                        <a:spcBef>
                          <a:spcPts val="250"/>
                        </a:spcBef>
                      </a:pPr>
                      <a:r>
                        <a:rPr sz="1600" b="1" spc="-20" dirty="0">
                          <a:latin typeface="Palatino Linotype"/>
                          <a:cs typeface="Palatino Linotype"/>
                        </a:rPr>
                        <a:t>Name</a:t>
                      </a:r>
                      <a:endParaRPr sz="1600">
                        <a:latin typeface="Palatino Linotype"/>
                        <a:cs typeface="Palatino Linotype"/>
                      </a:endParaRPr>
                    </a:p>
                  </a:txBody>
                  <a:tcPr marL="0" marR="0" marT="317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gn="ctr">
                        <a:lnSpc>
                          <a:spcPct val="100000"/>
                        </a:lnSpc>
                        <a:spcBef>
                          <a:spcPts val="250"/>
                        </a:spcBef>
                      </a:pPr>
                      <a:r>
                        <a:rPr sz="1600" b="1" spc="-10" dirty="0">
                          <a:latin typeface="Palatino Linotype"/>
                          <a:cs typeface="Palatino Linotype"/>
                        </a:rPr>
                        <a:t>Liveness</a:t>
                      </a:r>
                      <a:endParaRPr sz="1600">
                        <a:latin typeface="Palatino Linotype"/>
                        <a:cs typeface="Palatino Linotype"/>
                      </a:endParaRPr>
                    </a:p>
                  </a:txBody>
                  <a:tcPr marL="0" marR="0" marT="317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marL="602615">
                        <a:lnSpc>
                          <a:spcPct val="100000"/>
                        </a:lnSpc>
                        <a:spcBef>
                          <a:spcPts val="250"/>
                        </a:spcBef>
                      </a:pPr>
                      <a:r>
                        <a:rPr sz="1600" b="1" spc="-10" dirty="0">
                          <a:latin typeface="Palatino Linotype"/>
                          <a:cs typeface="Palatino Linotype"/>
                        </a:rPr>
                        <a:t>Next-</a:t>
                      </a:r>
                      <a:r>
                        <a:rPr sz="1600" b="1" spc="-25" dirty="0">
                          <a:latin typeface="Palatino Linotype"/>
                          <a:cs typeface="Palatino Linotype"/>
                        </a:rPr>
                        <a:t>use</a:t>
                      </a:r>
                      <a:endParaRPr sz="1600">
                        <a:latin typeface="Palatino Linotype"/>
                        <a:cs typeface="Palatino Linotype"/>
                      </a:endParaRPr>
                    </a:p>
                  </a:txBody>
                  <a:tcPr marL="0" marR="0" marT="317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370840">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marR="47625" algn="ctr">
                        <a:lnSpc>
                          <a:spcPct val="100000"/>
                        </a:lnSpc>
                        <a:spcBef>
                          <a:spcPts val="254"/>
                        </a:spcBef>
                      </a:pPr>
                      <a:r>
                        <a:rPr sz="1600" spc="-50" dirty="0">
                          <a:latin typeface="Cambria Math"/>
                          <a:cs typeface="Cambria Math"/>
                        </a:rPr>
                        <a:t>𝑎</a:t>
                      </a:r>
                      <a:endParaRPr sz="1600">
                        <a:latin typeface="Cambria Math"/>
                        <a:cs typeface="Cambria Math"/>
                      </a:endParaRPr>
                    </a:p>
                  </a:txBody>
                  <a:tcPr marL="0" marR="0" marT="3238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gn="ctr">
                        <a:lnSpc>
                          <a:spcPct val="100000"/>
                        </a:lnSpc>
                        <a:spcBef>
                          <a:spcPts val="254"/>
                        </a:spcBef>
                      </a:pPr>
                      <a:r>
                        <a:rPr sz="1600" spc="-20" dirty="0">
                          <a:latin typeface="Palatino Linotype"/>
                          <a:cs typeface="Palatino Linotype"/>
                        </a:rPr>
                        <a:t>Live</a:t>
                      </a:r>
                      <a:endParaRPr sz="1600">
                        <a:latin typeface="Palatino Linotype"/>
                        <a:cs typeface="Palatino Linotype"/>
                      </a:endParaRPr>
                    </a:p>
                  </a:txBody>
                  <a:tcPr marL="0" marR="0" marT="3238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nSpc>
                          <a:spcPct val="100000"/>
                        </a:lnSpc>
                      </a:pPr>
                      <a:endParaRPr sz="19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370840">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marR="42545" algn="ctr">
                        <a:lnSpc>
                          <a:spcPct val="100000"/>
                        </a:lnSpc>
                        <a:spcBef>
                          <a:spcPts val="265"/>
                        </a:spcBef>
                      </a:pPr>
                      <a:r>
                        <a:rPr sz="1600" spc="-25" dirty="0">
                          <a:latin typeface="Cambria Math"/>
                          <a:cs typeface="Cambria Math"/>
                        </a:rPr>
                        <a:t>𝑡4</a:t>
                      </a:r>
                      <a:endParaRPr sz="1600">
                        <a:latin typeface="Cambria Math"/>
                        <a:cs typeface="Cambria Math"/>
                      </a:endParaRPr>
                    </a:p>
                  </a:txBody>
                  <a:tcPr marL="0" marR="0" marT="3365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gn="ctr">
                        <a:lnSpc>
                          <a:spcPct val="100000"/>
                        </a:lnSpc>
                        <a:spcBef>
                          <a:spcPts val="265"/>
                        </a:spcBef>
                      </a:pPr>
                      <a:r>
                        <a:rPr sz="1600" dirty="0">
                          <a:latin typeface="Palatino Linotype"/>
                          <a:cs typeface="Palatino Linotype"/>
                        </a:rPr>
                        <a:t>Not</a:t>
                      </a:r>
                      <a:r>
                        <a:rPr sz="1600" spc="-20" dirty="0">
                          <a:latin typeface="Palatino Linotype"/>
                          <a:cs typeface="Palatino Linotype"/>
                        </a:rPr>
                        <a:t> live</a:t>
                      </a:r>
                      <a:endParaRPr sz="1600">
                        <a:latin typeface="Palatino Linotype"/>
                        <a:cs typeface="Palatino Linotype"/>
                      </a:endParaRPr>
                    </a:p>
                  </a:txBody>
                  <a:tcPr marL="0" marR="0" marT="3365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nSpc>
                          <a:spcPct val="100000"/>
                        </a:lnSpc>
                      </a:pPr>
                      <a:endParaRPr sz="19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bl>
          </a:graphicData>
        </a:graphic>
      </p:graphicFrame>
      <p:sp>
        <p:nvSpPr>
          <p:cNvPr id="14" name="object 6">
            <a:extLst>
              <a:ext uri="{FF2B5EF4-FFF2-40B4-BE49-F238E27FC236}">
                <a16:creationId xmlns:a16="http://schemas.microsoft.com/office/drawing/2014/main" id="{F093075A-0857-8895-0773-5CA378F5B50D}"/>
              </a:ext>
            </a:extLst>
          </p:cNvPr>
          <p:cNvSpPr/>
          <p:nvPr/>
        </p:nvSpPr>
        <p:spPr>
          <a:xfrm>
            <a:off x="6292311" y="1167814"/>
            <a:ext cx="351790" cy="76200"/>
          </a:xfrm>
          <a:custGeom>
            <a:avLst/>
            <a:gdLst/>
            <a:ahLst/>
            <a:cxnLst/>
            <a:rect l="l" t="t" r="r" b="b"/>
            <a:pathLst>
              <a:path w="351790" h="76200">
                <a:moveTo>
                  <a:pt x="275337" y="0"/>
                </a:moveTo>
                <a:lnTo>
                  <a:pt x="275337" y="76200"/>
                </a:lnTo>
                <a:lnTo>
                  <a:pt x="338837" y="44450"/>
                </a:lnTo>
                <a:lnTo>
                  <a:pt x="288037" y="44450"/>
                </a:lnTo>
                <a:lnTo>
                  <a:pt x="288037" y="31750"/>
                </a:lnTo>
                <a:lnTo>
                  <a:pt x="338837" y="31750"/>
                </a:lnTo>
                <a:lnTo>
                  <a:pt x="275337" y="0"/>
                </a:lnTo>
                <a:close/>
              </a:path>
              <a:path w="351790" h="76200">
                <a:moveTo>
                  <a:pt x="275337" y="31750"/>
                </a:moveTo>
                <a:lnTo>
                  <a:pt x="0" y="31750"/>
                </a:lnTo>
                <a:lnTo>
                  <a:pt x="0" y="44450"/>
                </a:lnTo>
                <a:lnTo>
                  <a:pt x="275337" y="44450"/>
                </a:lnTo>
                <a:lnTo>
                  <a:pt x="275337" y="31750"/>
                </a:lnTo>
                <a:close/>
              </a:path>
              <a:path w="351790" h="76200">
                <a:moveTo>
                  <a:pt x="338837" y="31750"/>
                </a:moveTo>
                <a:lnTo>
                  <a:pt x="288037" y="31750"/>
                </a:lnTo>
                <a:lnTo>
                  <a:pt x="288037" y="44450"/>
                </a:lnTo>
                <a:lnTo>
                  <a:pt x="338837" y="44450"/>
                </a:lnTo>
                <a:lnTo>
                  <a:pt x="351537" y="38100"/>
                </a:lnTo>
                <a:lnTo>
                  <a:pt x="338837" y="31750"/>
                </a:lnTo>
                <a:close/>
              </a:path>
            </a:pathLst>
          </a:custGeom>
          <a:solidFill>
            <a:srgbClr val="FF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Tree>
    <p:extLst>
      <p:ext uri="{BB962C8B-B14F-4D97-AF65-F5344CB8AC3E}">
        <p14:creationId xmlns:p14="http://schemas.microsoft.com/office/powerpoint/2010/main" val="55709450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33</a:t>
            </a:fld>
            <a:endParaRPr lang="en-US"/>
          </a:p>
        </p:txBody>
      </p:sp>
      <p:sp>
        <p:nvSpPr>
          <p:cNvPr id="10" name="object 2">
            <a:extLst>
              <a:ext uri="{FF2B5EF4-FFF2-40B4-BE49-F238E27FC236}">
                <a16:creationId xmlns:a16="http://schemas.microsoft.com/office/drawing/2014/main" id="{2D62A2CA-326F-DBB6-E8FD-22F3E0F05FA2}"/>
              </a:ext>
            </a:extLst>
          </p:cNvPr>
          <p:cNvSpPr txBox="1">
            <a:spLocks/>
          </p:cNvSpPr>
          <p:nvPr/>
        </p:nvSpPr>
        <p:spPr>
          <a:xfrm>
            <a:off x="707390" y="524763"/>
            <a:ext cx="7729219" cy="63500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4000" b="1" i="0" u="none" strike="noStrike" kern="0" cap="none" spc="0" normalizeH="0" baseline="0" noProof="0">
                <a:ln>
                  <a:noFill/>
                </a:ln>
                <a:solidFill>
                  <a:sysClr val="windowText" lastClr="000000"/>
                </a:solidFill>
                <a:effectLst/>
                <a:uLnTx/>
                <a:uFillTx/>
                <a:latin typeface="Palatino Linotype"/>
                <a:ea typeface="+mj-ea"/>
              </a:rPr>
              <a:t>Running</a:t>
            </a:r>
            <a:r>
              <a:rPr kumimoji="0" lang="en-US" sz="4000" b="1" i="0" u="none" strike="noStrike" kern="0" cap="none" spc="-85" normalizeH="0" baseline="0" noProof="0">
                <a:ln>
                  <a:noFill/>
                </a:ln>
                <a:solidFill>
                  <a:sysClr val="windowText" lastClr="000000"/>
                </a:solidFill>
                <a:effectLst/>
                <a:uLnTx/>
                <a:uFillTx/>
                <a:latin typeface="Palatino Linotype"/>
                <a:ea typeface="+mj-ea"/>
              </a:rPr>
              <a:t> </a:t>
            </a:r>
            <a:r>
              <a:rPr kumimoji="0" lang="en-US" sz="4000" b="1" i="0" u="none" strike="noStrike" kern="0" cap="none" spc="-10" normalizeH="0" baseline="0" noProof="0">
                <a:ln>
                  <a:noFill/>
                </a:ln>
                <a:solidFill>
                  <a:sysClr val="windowText" lastClr="000000"/>
                </a:solidFill>
                <a:effectLst/>
                <a:uLnTx/>
                <a:uFillTx/>
                <a:latin typeface="Palatino Linotype"/>
                <a:ea typeface="+mj-ea"/>
              </a:rPr>
              <a:t>Example</a:t>
            </a:r>
            <a:endParaRPr kumimoji="0" lang="en-US" sz="4000" b="1" i="0" u="none" strike="noStrike" kern="0" cap="none" spc="-10" normalizeH="0" baseline="0" noProof="0" dirty="0">
              <a:ln>
                <a:noFill/>
              </a:ln>
              <a:solidFill>
                <a:sysClr val="windowText" lastClr="000000"/>
              </a:solidFill>
              <a:effectLst/>
              <a:uLnTx/>
              <a:uFillTx/>
              <a:latin typeface="Palatino Linotype"/>
              <a:ea typeface="+mj-ea"/>
            </a:endParaRPr>
          </a:p>
        </p:txBody>
      </p:sp>
      <p:sp>
        <p:nvSpPr>
          <p:cNvPr id="11" name="object 3">
            <a:extLst>
              <a:ext uri="{FF2B5EF4-FFF2-40B4-BE49-F238E27FC236}">
                <a16:creationId xmlns:a16="http://schemas.microsoft.com/office/drawing/2014/main" id="{945F4364-973F-9110-393D-049867651A32}"/>
              </a:ext>
            </a:extLst>
          </p:cNvPr>
          <p:cNvSpPr txBox="1"/>
          <p:nvPr/>
        </p:nvSpPr>
        <p:spPr>
          <a:xfrm>
            <a:off x="707390" y="1836420"/>
            <a:ext cx="4678680" cy="330200"/>
          </a:xfrm>
          <a:prstGeom prst="rect">
            <a:avLst/>
          </a:prstGeom>
        </p:spPr>
        <p:txBody>
          <a:bodyPr vert="horz" wrap="square" lIns="0" tIns="12700" rIns="0" bIns="0" rtlCol="0">
            <a:spAutoFit/>
          </a:bodyPr>
          <a:lstStyle/>
          <a:p>
            <a:pPr marL="242570" indent="-229870">
              <a:spcBef>
                <a:spcPts val="100"/>
              </a:spcBef>
              <a:buClr>
                <a:srgbClr val="000000"/>
              </a:buClr>
              <a:buFont typeface="Arial MT"/>
              <a:buChar char="•"/>
              <a:tabLst>
                <a:tab pos="242570" algn="l"/>
              </a:tabLst>
            </a:pPr>
            <a:r>
              <a:rPr sz="2000" b="1" dirty="0">
                <a:solidFill>
                  <a:srgbClr val="FF0000"/>
                </a:solidFill>
                <a:latin typeface="Palatino Linotype"/>
                <a:cs typeface="Palatino Linotype"/>
              </a:rPr>
              <a:t>Analyzing</a:t>
            </a:r>
            <a:r>
              <a:rPr sz="2000" b="1" spc="-40" dirty="0">
                <a:solidFill>
                  <a:srgbClr val="FF0000"/>
                </a:solidFill>
                <a:latin typeface="Palatino Linotype"/>
                <a:cs typeface="Palatino Linotype"/>
              </a:rPr>
              <a:t> </a:t>
            </a:r>
            <a:r>
              <a:rPr sz="2000" b="1" dirty="0">
                <a:solidFill>
                  <a:srgbClr val="FF0000"/>
                </a:solidFill>
                <a:latin typeface="Palatino Linotype"/>
                <a:cs typeface="Palatino Linotype"/>
              </a:rPr>
              <a:t>line</a:t>
            </a:r>
            <a:r>
              <a:rPr sz="2000" b="1" spc="-35" dirty="0">
                <a:solidFill>
                  <a:srgbClr val="FF0000"/>
                </a:solidFill>
                <a:latin typeface="Palatino Linotype"/>
                <a:cs typeface="Palatino Linotype"/>
              </a:rPr>
              <a:t> </a:t>
            </a:r>
            <a:r>
              <a:rPr sz="2000" b="1" dirty="0">
                <a:solidFill>
                  <a:srgbClr val="FF0000"/>
                </a:solidFill>
                <a:latin typeface="Palatino Linotype"/>
                <a:cs typeface="Palatino Linotype"/>
              </a:rPr>
              <a:t>7):</a:t>
            </a:r>
            <a:r>
              <a:rPr sz="2000" b="1" spc="-35" dirty="0">
                <a:solidFill>
                  <a:srgbClr val="FF0000"/>
                </a:solidFill>
                <a:latin typeface="Palatino Linotype"/>
                <a:cs typeface="Palatino Linotype"/>
              </a:rPr>
              <a:t> </a:t>
            </a:r>
            <a:r>
              <a:rPr sz="2000" dirty="0">
                <a:solidFill>
                  <a:sysClr val="windowText" lastClr="000000"/>
                </a:solidFill>
                <a:latin typeface="Palatino Linotype"/>
                <a:cs typeface="Palatino Linotype"/>
              </a:rPr>
              <a:t>update</a:t>
            </a:r>
            <a:r>
              <a:rPr sz="2000" spc="-4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symbol</a:t>
            </a:r>
            <a:r>
              <a:rPr sz="2000" spc="-30" dirty="0">
                <a:solidFill>
                  <a:sysClr val="windowText" lastClr="000000"/>
                </a:solidFill>
                <a:latin typeface="Palatino Linotype"/>
                <a:cs typeface="Palatino Linotype"/>
              </a:rPr>
              <a:t> </a:t>
            </a:r>
            <a:r>
              <a:rPr sz="2000" spc="-10" dirty="0">
                <a:solidFill>
                  <a:sysClr val="windowText" lastClr="000000"/>
                </a:solidFill>
                <a:latin typeface="Palatino Linotype"/>
                <a:cs typeface="Palatino Linotype"/>
              </a:rPr>
              <a:t>table</a:t>
            </a:r>
            <a:endParaRPr sz="2000">
              <a:solidFill>
                <a:sysClr val="windowText" lastClr="000000"/>
              </a:solidFill>
              <a:latin typeface="Palatino Linotype"/>
              <a:cs typeface="Palatino Linotype"/>
            </a:endParaRPr>
          </a:p>
        </p:txBody>
      </p:sp>
      <p:pic>
        <p:nvPicPr>
          <p:cNvPr id="12" name="object 4">
            <a:extLst>
              <a:ext uri="{FF2B5EF4-FFF2-40B4-BE49-F238E27FC236}">
                <a16:creationId xmlns:a16="http://schemas.microsoft.com/office/drawing/2014/main" id="{86D7052D-11B3-42E1-767E-6E09DA1231D3}"/>
              </a:ext>
            </a:extLst>
          </p:cNvPr>
          <p:cNvPicPr/>
          <p:nvPr/>
        </p:nvPicPr>
        <p:blipFill>
          <a:blip r:embed="rId3" cstate="print"/>
          <a:stretch>
            <a:fillRect/>
          </a:stretch>
        </p:blipFill>
        <p:spPr>
          <a:xfrm>
            <a:off x="6740925" y="313327"/>
            <a:ext cx="1387753" cy="1183468"/>
          </a:xfrm>
          <a:prstGeom prst="rect">
            <a:avLst/>
          </a:prstGeom>
        </p:spPr>
      </p:pic>
      <p:graphicFrame>
        <p:nvGraphicFramePr>
          <p:cNvPr id="13" name="object 5">
            <a:extLst>
              <a:ext uri="{FF2B5EF4-FFF2-40B4-BE49-F238E27FC236}">
                <a16:creationId xmlns:a16="http://schemas.microsoft.com/office/drawing/2014/main" id="{DE5EA09C-74D2-A516-F9A6-7CB2DCB725F8}"/>
              </a:ext>
            </a:extLst>
          </p:cNvPr>
          <p:cNvGraphicFramePr>
            <a:graphicFrameLocks noGrp="1"/>
          </p:cNvGraphicFramePr>
          <p:nvPr/>
        </p:nvGraphicFramePr>
        <p:xfrm>
          <a:off x="1517650" y="2556765"/>
          <a:ext cx="6096000" cy="2966720"/>
        </p:xfrm>
        <a:graphic>
          <a:graphicData uri="http://schemas.openxmlformats.org/drawingml/2006/table">
            <a:tbl>
              <a:tblPr firstRow="1" bandRow="1"/>
              <a:tblGrid>
                <a:gridCol w="2032000">
                  <a:extLst>
                    <a:ext uri="{9D8B030D-6E8A-4147-A177-3AD203B41FA5}">
                      <a16:colId xmlns:a16="http://schemas.microsoft.com/office/drawing/2014/main" val="20000"/>
                    </a:ext>
                  </a:extLst>
                </a:gridCol>
                <a:gridCol w="2032000">
                  <a:extLst>
                    <a:ext uri="{9D8B030D-6E8A-4147-A177-3AD203B41FA5}">
                      <a16:colId xmlns:a16="http://schemas.microsoft.com/office/drawing/2014/main" val="20001"/>
                    </a:ext>
                  </a:extLst>
                </a:gridCol>
                <a:gridCol w="2032000">
                  <a:extLst>
                    <a:ext uri="{9D8B030D-6E8A-4147-A177-3AD203B41FA5}">
                      <a16:colId xmlns:a16="http://schemas.microsoft.com/office/drawing/2014/main" val="20002"/>
                    </a:ext>
                  </a:extLst>
                </a:gridCol>
              </a:tblGrid>
              <a:tr h="370840">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gn="ctr">
                        <a:lnSpc>
                          <a:spcPct val="100000"/>
                        </a:lnSpc>
                        <a:spcBef>
                          <a:spcPts val="250"/>
                        </a:spcBef>
                      </a:pPr>
                      <a:r>
                        <a:rPr sz="1600" b="1" spc="-20" dirty="0">
                          <a:latin typeface="Palatino Linotype"/>
                          <a:cs typeface="Palatino Linotype"/>
                        </a:rPr>
                        <a:t>Name</a:t>
                      </a:r>
                      <a:endParaRPr sz="1600">
                        <a:latin typeface="Palatino Linotype"/>
                        <a:cs typeface="Palatino Linotype"/>
                      </a:endParaRPr>
                    </a:p>
                  </a:txBody>
                  <a:tcPr marL="0" marR="0" marT="317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gn="ctr">
                        <a:lnSpc>
                          <a:spcPct val="100000"/>
                        </a:lnSpc>
                        <a:spcBef>
                          <a:spcPts val="250"/>
                        </a:spcBef>
                      </a:pPr>
                      <a:r>
                        <a:rPr sz="1600" b="1" spc="-10" dirty="0">
                          <a:latin typeface="Palatino Linotype"/>
                          <a:cs typeface="Palatino Linotype"/>
                        </a:rPr>
                        <a:t>Liveness</a:t>
                      </a:r>
                      <a:endParaRPr sz="1600">
                        <a:latin typeface="Palatino Linotype"/>
                        <a:cs typeface="Palatino Linotype"/>
                      </a:endParaRPr>
                    </a:p>
                  </a:txBody>
                  <a:tcPr marL="0" marR="0" marT="317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gn="ctr">
                        <a:lnSpc>
                          <a:spcPct val="100000"/>
                        </a:lnSpc>
                        <a:spcBef>
                          <a:spcPts val="250"/>
                        </a:spcBef>
                      </a:pPr>
                      <a:r>
                        <a:rPr sz="1600" b="1" spc="-10" dirty="0">
                          <a:latin typeface="Palatino Linotype"/>
                          <a:cs typeface="Palatino Linotype"/>
                        </a:rPr>
                        <a:t>Next-</a:t>
                      </a:r>
                      <a:r>
                        <a:rPr sz="1600" b="1" spc="-25" dirty="0">
                          <a:latin typeface="Palatino Linotype"/>
                          <a:cs typeface="Palatino Linotype"/>
                        </a:rPr>
                        <a:t>use</a:t>
                      </a:r>
                      <a:endParaRPr sz="1600">
                        <a:latin typeface="Palatino Linotype"/>
                        <a:cs typeface="Palatino Linotype"/>
                      </a:endParaRPr>
                    </a:p>
                  </a:txBody>
                  <a:tcPr marL="0" marR="0" marT="317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370840">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marR="50165" algn="ctr">
                        <a:lnSpc>
                          <a:spcPct val="100000"/>
                        </a:lnSpc>
                        <a:spcBef>
                          <a:spcPts val="254"/>
                        </a:spcBef>
                      </a:pPr>
                      <a:r>
                        <a:rPr sz="1600" spc="-50" dirty="0">
                          <a:latin typeface="Cambria Math"/>
                          <a:cs typeface="Cambria Math"/>
                        </a:rPr>
                        <a:t>𝑖</a:t>
                      </a:r>
                      <a:endParaRPr sz="1600">
                        <a:latin typeface="Cambria Math"/>
                        <a:cs typeface="Cambria Math"/>
                      </a:endParaRPr>
                    </a:p>
                  </a:txBody>
                  <a:tcPr marL="0" marR="0" marT="3238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gn="ctr">
                        <a:lnSpc>
                          <a:spcPct val="100000"/>
                        </a:lnSpc>
                        <a:spcBef>
                          <a:spcPts val="254"/>
                        </a:spcBef>
                      </a:pPr>
                      <a:r>
                        <a:rPr sz="1600" spc="-20" dirty="0">
                          <a:latin typeface="Palatino Linotype"/>
                          <a:cs typeface="Palatino Linotype"/>
                        </a:rPr>
                        <a:t>Live</a:t>
                      </a:r>
                      <a:endParaRPr sz="1600">
                        <a:latin typeface="Palatino Linotype"/>
                        <a:cs typeface="Palatino Linotype"/>
                      </a:endParaRPr>
                    </a:p>
                  </a:txBody>
                  <a:tcPr marL="0" marR="0" marT="3238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nSpc>
                          <a:spcPct val="100000"/>
                        </a:lnSpc>
                      </a:pPr>
                      <a:endParaRPr sz="18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370840">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marR="46355" algn="ctr">
                        <a:lnSpc>
                          <a:spcPct val="100000"/>
                        </a:lnSpc>
                        <a:spcBef>
                          <a:spcPts val="265"/>
                        </a:spcBef>
                      </a:pPr>
                      <a:r>
                        <a:rPr sz="1600" spc="-50" dirty="0">
                          <a:latin typeface="Cambria Math"/>
                          <a:cs typeface="Cambria Math"/>
                        </a:rPr>
                        <a:t>𝑗</a:t>
                      </a:r>
                      <a:endParaRPr sz="1600">
                        <a:latin typeface="Cambria Math"/>
                        <a:cs typeface="Cambria Math"/>
                      </a:endParaRPr>
                    </a:p>
                  </a:txBody>
                  <a:tcPr marL="0" marR="0" marT="3365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gn="ctr">
                        <a:lnSpc>
                          <a:spcPct val="100000"/>
                        </a:lnSpc>
                        <a:spcBef>
                          <a:spcPts val="265"/>
                        </a:spcBef>
                      </a:pPr>
                      <a:r>
                        <a:rPr sz="1600" spc="-20" dirty="0">
                          <a:latin typeface="Palatino Linotype"/>
                          <a:cs typeface="Palatino Linotype"/>
                        </a:rPr>
                        <a:t>Live</a:t>
                      </a:r>
                      <a:endParaRPr sz="1600">
                        <a:latin typeface="Palatino Linotype"/>
                        <a:cs typeface="Palatino Linotype"/>
                      </a:endParaRPr>
                    </a:p>
                  </a:txBody>
                  <a:tcPr marL="0" marR="0" marT="3365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gn="ctr">
                        <a:lnSpc>
                          <a:spcPct val="100000"/>
                        </a:lnSpc>
                        <a:spcBef>
                          <a:spcPts val="265"/>
                        </a:spcBef>
                      </a:pPr>
                      <a:r>
                        <a:rPr sz="1600" spc="-50" dirty="0">
                          <a:latin typeface="Palatino Linotype"/>
                          <a:cs typeface="Palatino Linotype"/>
                        </a:rPr>
                        <a:t>8</a:t>
                      </a:r>
                      <a:endParaRPr sz="1600">
                        <a:latin typeface="Palatino Linotype"/>
                        <a:cs typeface="Palatino Linotype"/>
                      </a:endParaRPr>
                    </a:p>
                  </a:txBody>
                  <a:tcPr marL="0" marR="0" marT="3365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370840">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marR="47625" algn="ctr">
                        <a:lnSpc>
                          <a:spcPct val="100000"/>
                        </a:lnSpc>
                        <a:spcBef>
                          <a:spcPts val="250"/>
                        </a:spcBef>
                      </a:pPr>
                      <a:r>
                        <a:rPr sz="1600" spc="-50" dirty="0">
                          <a:solidFill>
                            <a:srgbClr val="FF0000"/>
                          </a:solidFill>
                          <a:latin typeface="Cambria Math"/>
                          <a:cs typeface="Cambria Math"/>
                        </a:rPr>
                        <a:t>𝑎</a:t>
                      </a:r>
                      <a:endParaRPr sz="1600">
                        <a:latin typeface="Cambria Math"/>
                        <a:cs typeface="Cambria Math"/>
                      </a:endParaRPr>
                    </a:p>
                  </a:txBody>
                  <a:tcPr marL="0" marR="0" marT="317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gn="ctr">
                        <a:lnSpc>
                          <a:spcPct val="100000"/>
                        </a:lnSpc>
                        <a:spcBef>
                          <a:spcPts val="250"/>
                        </a:spcBef>
                      </a:pPr>
                      <a:r>
                        <a:rPr sz="1600" spc="-20" dirty="0">
                          <a:solidFill>
                            <a:srgbClr val="FF0000"/>
                          </a:solidFill>
                          <a:latin typeface="Palatino Linotype"/>
                          <a:cs typeface="Palatino Linotype"/>
                        </a:rPr>
                        <a:t>Live</a:t>
                      </a:r>
                      <a:endParaRPr sz="1600">
                        <a:latin typeface="Palatino Linotype"/>
                        <a:cs typeface="Palatino Linotype"/>
                      </a:endParaRPr>
                    </a:p>
                  </a:txBody>
                  <a:tcPr marL="0" marR="0" marT="317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gn="ctr">
                        <a:lnSpc>
                          <a:spcPct val="100000"/>
                        </a:lnSpc>
                        <a:spcBef>
                          <a:spcPts val="250"/>
                        </a:spcBef>
                      </a:pPr>
                      <a:r>
                        <a:rPr sz="1600" spc="-50" dirty="0">
                          <a:solidFill>
                            <a:srgbClr val="FF0000"/>
                          </a:solidFill>
                          <a:latin typeface="Palatino Linotype"/>
                          <a:cs typeface="Palatino Linotype"/>
                        </a:rPr>
                        <a:t>7</a:t>
                      </a:r>
                      <a:endParaRPr sz="1600">
                        <a:latin typeface="Palatino Linotype"/>
                        <a:cs typeface="Palatino Linotype"/>
                      </a:endParaRPr>
                    </a:p>
                  </a:txBody>
                  <a:tcPr marL="0" marR="0" marT="317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370840">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marR="42545" algn="ctr">
                        <a:lnSpc>
                          <a:spcPct val="100000"/>
                        </a:lnSpc>
                        <a:spcBef>
                          <a:spcPts val="254"/>
                        </a:spcBef>
                      </a:pPr>
                      <a:r>
                        <a:rPr sz="1600" spc="-25" dirty="0">
                          <a:latin typeface="Cambria Math"/>
                          <a:cs typeface="Cambria Math"/>
                        </a:rPr>
                        <a:t>𝑡1</a:t>
                      </a:r>
                      <a:endParaRPr sz="1600">
                        <a:latin typeface="Cambria Math"/>
                        <a:cs typeface="Cambria Math"/>
                      </a:endParaRPr>
                    </a:p>
                  </a:txBody>
                  <a:tcPr marL="0" marR="0" marT="3238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gn="ctr">
                        <a:lnSpc>
                          <a:spcPct val="100000"/>
                        </a:lnSpc>
                        <a:spcBef>
                          <a:spcPts val="254"/>
                        </a:spcBef>
                      </a:pPr>
                      <a:r>
                        <a:rPr sz="1600" dirty="0">
                          <a:latin typeface="Palatino Linotype"/>
                          <a:cs typeface="Palatino Linotype"/>
                        </a:rPr>
                        <a:t>Not</a:t>
                      </a:r>
                      <a:r>
                        <a:rPr sz="1600" spc="-20" dirty="0">
                          <a:latin typeface="Palatino Linotype"/>
                          <a:cs typeface="Palatino Linotype"/>
                        </a:rPr>
                        <a:t> live</a:t>
                      </a:r>
                      <a:endParaRPr sz="1600">
                        <a:latin typeface="Palatino Linotype"/>
                        <a:cs typeface="Palatino Linotype"/>
                      </a:endParaRPr>
                    </a:p>
                  </a:txBody>
                  <a:tcPr marL="0" marR="0" marT="3238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nSpc>
                          <a:spcPct val="100000"/>
                        </a:lnSpc>
                      </a:pPr>
                      <a:endParaRPr sz="18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370840">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marR="42545" algn="ctr">
                        <a:lnSpc>
                          <a:spcPct val="100000"/>
                        </a:lnSpc>
                        <a:spcBef>
                          <a:spcPts val="265"/>
                        </a:spcBef>
                      </a:pPr>
                      <a:r>
                        <a:rPr sz="1600" spc="-25" dirty="0">
                          <a:latin typeface="Cambria Math"/>
                          <a:cs typeface="Cambria Math"/>
                        </a:rPr>
                        <a:t>𝑡2</a:t>
                      </a:r>
                      <a:endParaRPr sz="1600">
                        <a:latin typeface="Cambria Math"/>
                        <a:cs typeface="Cambria Math"/>
                      </a:endParaRPr>
                    </a:p>
                  </a:txBody>
                  <a:tcPr marL="0" marR="0" marT="3365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gn="ctr">
                        <a:lnSpc>
                          <a:spcPct val="100000"/>
                        </a:lnSpc>
                        <a:spcBef>
                          <a:spcPts val="265"/>
                        </a:spcBef>
                      </a:pPr>
                      <a:r>
                        <a:rPr sz="1600" dirty="0">
                          <a:latin typeface="Palatino Linotype"/>
                          <a:cs typeface="Palatino Linotype"/>
                        </a:rPr>
                        <a:t>Not</a:t>
                      </a:r>
                      <a:r>
                        <a:rPr sz="1600" spc="-20" dirty="0">
                          <a:latin typeface="Palatino Linotype"/>
                          <a:cs typeface="Palatino Linotype"/>
                        </a:rPr>
                        <a:t> live</a:t>
                      </a:r>
                      <a:endParaRPr sz="1600">
                        <a:latin typeface="Palatino Linotype"/>
                        <a:cs typeface="Palatino Linotype"/>
                      </a:endParaRPr>
                    </a:p>
                  </a:txBody>
                  <a:tcPr marL="0" marR="0" marT="3365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nSpc>
                          <a:spcPct val="100000"/>
                        </a:lnSpc>
                      </a:pPr>
                      <a:endParaRPr sz="18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370840">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marR="42545" algn="ctr">
                        <a:lnSpc>
                          <a:spcPct val="100000"/>
                        </a:lnSpc>
                        <a:spcBef>
                          <a:spcPts val="250"/>
                        </a:spcBef>
                      </a:pPr>
                      <a:r>
                        <a:rPr sz="1600" spc="-25" dirty="0">
                          <a:latin typeface="Cambria Math"/>
                          <a:cs typeface="Cambria Math"/>
                        </a:rPr>
                        <a:t>𝑡3</a:t>
                      </a:r>
                      <a:endParaRPr sz="1600">
                        <a:latin typeface="Cambria Math"/>
                        <a:cs typeface="Cambria Math"/>
                      </a:endParaRPr>
                    </a:p>
                  </a:txBody>
                  <a:tcPr marL="0" marR="0" marT="317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gn="ctr">
                        <a:lnSpc>
                          <a:spcPct val="100000"/>
                        </a:lnSpc>
                        <a:spcBef>
                          <a:spcPts val="250"/>
                        </a:spcBef>
                      </a:pPr>
                      <a:r>
                        <a:rPr sz="1600" dirty="0">
                          <a:latin typeface="Palatino Linotype"/>
                          <a:cs typeface="Palatino Linotype"/>
                        </a:rPr>
                        <a:t>Not</a:t>
                      </a:r>
                      <a:r>
                        <a:rPr sz="1600" spc="-20" dirty="0">
                          <a:latin typeface="Palatino Linotype"/>
                          <a:cs typeface="Palatino Linotype"/>
                        </a:rPr>
                        <a:t> live</a:t>
                      </a:r>
                      <a:endParaRPr sz="1600">
                        <a:latin typeface="Palatino Linotype"/>
                        <a:cs typeface="Palatino Linotype"/>
                      </a:endParaRPr>
                    </a:p>
                  </a:txBody>
                  <a:tcPr marL="0" marR="0" marT="317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nSpc>
                          <a:spcPct val="100000"/>
                        </a:lnSpc>
                      </a:pPr>
                      <a:endParaRPr sz="18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370840">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marR="42545" algn="ctr">
                        <a:lnSpc>
                          <a:spcPct val="100000"/>
                        </a:lnSpc>
                        <a:spcBef>
                          <a:spcPts val="254"/>
                        </a:spcBef>
                      </a:pPr>
                      <a:r>
                        <a:rPr sz="1600" spc="-25" dirty="0">
                          <a:solidFill>
                            <a:srgbClr val="FF0000"/>
                          </a:solidFill>
                          <a:latin typeface="Cambria Math"/>
                          <a:cs typeface="Cambria Math"/>
                        </a:rPr>
                        <a:t>𝑡4</a:t>
                      </a:r>
                      <a:endParaRPr sz="1600">
                        <a:latin typeface="Cambria Math"/>
                        <a:cs typeface="Cambria Math"/>
                      </a:endParaRPr>
                    </a:p>
                  </a:txBody>
                  <a:tcPr marL="0" marR="0" marT="3238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gn="ctr">
                        <a:lnSpc>
                          <a:spcPct val="100000"/>
                        </a:lnSpc>
                        <a:spcBef>
                          <a:spcPts val="254"/>
                        </a:spcBef>
                      </a:pPr>
                      <a:r>
                        <a:rPr sz="1600" spc="-20" dirty="0">
                          <a:solidFill>
                            <a:srgbClr val="FF0000"/>
                          </a:solidFill>
                          <a:latin typeface="Palatino Linotype"/>
                          <a:cs typeface="Palatino Linotype"/>
                        </a:rPr>
                        <a:t>Live</a:t>
                      </a:r>
                      <a:endParaRPr sz="1600">
                        <a:latin typeface="Palatino Linotype"/>
                        <a:cs typeface="Palatino Linotype"/>
                      </a:endParaRPr>
                    </a:p>
                  </a:txBody>
                  <a:tcPr marL="0" marR="0" marT="3238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gn="ctr">
                        <a:lnSpc>
                          <a:spcPct val="100000"/>
                        </a:lnSpc>
                        <a:spcBef>
                          <a:spcPts val="254"/>
                        </a:spcBef>
                      </a:pPr>
                      <a:r>
                        <a:rPr sz="1600" spc="-50" dirty="0">
                          <a:solidFill>
                            <a:srgbClr val="FF0000"/>
                          </a:solidFill>
                          <a:latin typeface="Palatino Linotype"/>
                          <a:cs typeface="Palatino Linotype"/>
                        </a:rPr>
                        <a:t>7</a:t>
                      </a:r>
                      <a:endParaRPr sz="1600">
                        <a:latin typeface="Palatino Linotype"/>
                        <a:cs typeface="Palatino Linotype"/>
                      </a:endParaRPr>
                    </a:p>
                  </a:txBody>
                  <a:tcPr marL="0" marR="0" marT="3238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7"/>
                  </a:ext>
                </a:extLst>
              </a:tr>
            </a:tbl>
          </a:graphicData>
        </a:graphic>
      </p:graphicFrame>
      <p:sp>
        <p:nvSpPr>
          <p:cNvPr id="14" name="object 6">
            <a:extLst>
              <a:ext uri="{FF2B5EF4-FFF2-40B4-BE49-F238E27FC236}">
                <a16:creationId xmlns:a16="http://schemas.microsoft.com/office/drawing/2014/main" id="{EDC38748-57FB-5BB5-AAF3-0ACB6E76E6E8}"/>
              </a:ext>
            </a:extLst>
          </p:cNvPr>
          <p:cNvSpPr/>
          <p:nvPr/>
        </p:nvSpPr>
        <p:spPr>
          <a:xfrm>
            <a:off x="6292311" y="1167814"/>
            <a:ext cx="351790" cy="76200"/>
          </a:xfrm>
          <a:custGeom>
            <a:avLst/>
            <a:gdLst/>
            <a:ahLst/>
            <a:cxnLst/>
            <a:rect l="l" t="t" r="r" b="b"/>
            <a:pathLst>
              <a:path w="351790" h="76200">
                <a:moveTo>
                  <a:pt x="275337" y="0"/>
                </a:moveTo>
                <a:lnTo>
                  <a:pt x="275337" y="76200"/>
                </a:lnTo>
                <a:lnTo>
                  <a:pt x="338837" y="44450"/>
                </a:lnTo>
                <a:lnTo>
                  <a:pt x="288037" y="44450"/>
                </a:lnTo>
                <a:lnTo>
                  <a:pt x="288037" y="31750"/>
                </a:lnTo>
                <a:lnTo>
                  <a:pt x="338837" y="31750"/>
                </a:lnTo>
                <a:lnTo>
                  <a:pt x="275337" y="0"/>
                </a:lnTo>
                <a:close/>
              </a:path>
              <a:path w="351790" h="76200">
                <a:moveTo>
                  <a:pt x="275337" y="31750"/>
                </a:moveTo>
                <a:lnTo>
                  <a:pt x="0" y="31750"/>
                </a:lnTo>
                <a:lnTo>
                  <a:pt x="0" y="44450"/>
                </a:lnTo>
                <a:lnTo>
                  <a:pt x="275337" y="44450"/>
                </a:lnTo>
                <a:lnTo>
                  <a:pt x="275337" y="31750"/>
                </a:lnTo>
                <a:close/>
              </a:path>
              <a:path w="351790" h="76200">
                <a:moveTo>
                  <a:pt x="338837" y="31750"/>
                </a:moveTo>
                <a:lnTo>
                  <a:pt x="288037" y="31750"/>
                </a:lnTo>
                <a:lnTo>
                  <a:pt x="288037" y="44450"/>
                </a:lnTo>
                <a:lnTo>
                  <a:pt x="338837" y="44450"/>
                </a:lnTo>
                <a:lnTo>
                  <a:pt x="351537" y="38100"/>
                </a:lnTo>
                <a:lnTo>
                  <a:pt x="338837" y="31750"/>
                </a:lnTo>
                <a:close/>
              </a:path>
            </a:pathLst>
          </a:custGeom>
          <a:solidFill>
            <a:srgbClr val="FF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Tree>
    <p:extLst>
      <p:ext uri="{BB962C8B-B14F-4D97-AF65-F5344CB8AC3E}">
        <p14:creationId xmlns:p14="http://schemas.microsoft.com/office/powerpoint/2010/main" val="84914539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34</a:t>
            </a:fld>
            <a:endParaRPr lang="en-US"/>
          </a:p>
        </p:txBody>
      </p:sp>
      <p:sp>
        <p:nvSpPr>
          <p:cNvPr id="10" name="object 2">
            <a:extLst>
              <a:ext uri="{FF2B5EF4-FFF2-40B4-BE49-F238E27FC236}">
                <a16:creationId xmlns:a16="http://schemas.microsoft.com/office/drawing/2014/main" id="{84B7A8F2-4A8D-4083-EAC6-7250A07F647A}"/>
              </a:ext>
            </a:extLst>
          </p:cNvPr>
          <p:cNvSpPr txBox="1">
            <a:spLocks/>
          </p:cNvSpPr>
          <p:nvPr/>
        </p:nvSpPr>
        <p:spPr>
          <a:xfrm>
            <a:off x="707390" y="524763"/>
            <a:ext cx="7729219" cy="63500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4000" b="1" i="0" u="none" strike="noStrike" kern="0" cap="none" spc="0" normalizeH="0" baseline="0" noProof="0">
                <a:ln>
                  <a:noFill/>
                </a:ln>
                <a:solidFill>
                  <a:sysClr val="windowText" lastClr="000000"/>
                </a:solidFill>
                <a:effectLst/>
                <a:uLnTx/>
                <a:uFillTx/>
                <a:latin typeface="Palatino Linotype"/>
                <a:ea typeface="+mj-ea"/>
              </a:rPr>
              <a:t>Running</a:t>
            </a:r>
            <a:r>
              <a:rPr kumimoji="0" lang="en-US" sz="4000" b="1" i="0" u="none" strike="noStrike" kern="0" cap="none" spc="-85" normalizeH="0" baseline="0" noProof="0">
                <a:ln>
                  <a:noFill/>
                </a:ln>
                <a:solidFill>
                  <a:sysClr val="windowText" lastClr="000000"/>
                </a:solidFill>
                <a:effectLst/>
                <a:uLnTx/>
                <a:uFillTx/>
                <a:latin typeface="Palatino Linotype"/>
                <a:ea typeface="+mj-ea"/>
              </a:rPr>
              <a:t> </a:t>
            </a:r>
            <a:r>
              <a:rPr kumimoji="0" lang="en-US" sz="4000" b="1" i="0" u="none" strike="noStrike" kern="0" cap="none" spc="-10" normalizeH="0" baseline="0" noProof="0">
                <a:ln>
                  <a:noFill/>
                </a:ln>
                <a:solidFill>
                  <a:sysClr val="windowText" lastClr="000000"/>
                </a:solidFill>
                <a:effectLst/>
                <a:uLnTx/>
                <a:uFillTx/>
                <a:latin typeface="Palatino Linotype"/>
                <a:ea typeface="+mj-ea"/>
              </a:rPr>
              <a:t>Example</a:t>
            </a:r>
            <a:endParaRPr kumimoji="0" lang="en-US" sz="4000" b="1" i="0" u="none" strike="noStrike" kern="0" cap="none" spc="-10" normalizeH="0" baseline="0" noProof="0" dirty="0">
              <a:ln>
                <a:noFill/>
              </a:ln>
              <a:solidFill>
                <a:sysClr val="windowText" lastClr="000000"/>
              </a:solidFill>
              <a:effectLst/>
              <a:uLnTx/>
              <a:uFillTx/>
              <a:latin typeface="Palatino Linotype"/>
              <a:ea typeface="+mj-ea"/>
            </a:endParaRPr>
          </a:p>
        </p:txBody>
      </p:sp>
      <p:sp>
        <p:nvSpPr>
          <p:cNvPr id="11" name="object 3">
            <a:extLst>
              <a:ext uri="{FF2B5EF4-FFF2-40B4-BE49-F238E27FC236}">
                <a16:creationId xmlns:a16="http://schemas.microsoft.com/office/drawing/2014/main" id="{7BE943E5-5EFA-2645-B822-7553F3BB83FF}"/>
              </a:ext>
            </a:extLst>
          </p:cNvPr>
          <p:cNvSpPr txBox="1"/>
          <p:nvPr/>
        </p:nvSpPr>
        <p:spPr>
          <a:xfrm>
            <a:off x="707390" y="1836420"/>
            <a:ext cx="6589395" cy="330200"/>
          </a:xfrm>
          <a:prstGeom prst="rect">
            <a:avLst/>
          </a:prstGeom>
        </p:spPr>
        <p:txBody>
          <a:bodyPr vert="horz" wrap="square" lIns="0" tIns="12700" rIns="0" bIns="0" rtlCol="0">
            <a:spAutoFit/>
          </a:bodyPr>
          <a:lstStyle/>
          <a:p>
            <a:pPr marL="242570" indent="-229870">
              <a:spcBef>
                <a:spcPts val="100"/>
              </a:spcBef>
              <a:buClr>
                <a:srgbClr val="000000"/>
              </a:buClr>
              <a:buFont typeface="Arial MT"/>
              <a:buChar char="•"/>
              <a:tabLst>
                <a:tab pos="242570" algn="l"/>
              </a:tabLst>
            </a:pPr>
            <a:r>
              <a:rPr sz="2000" b="1" dirty="0">
                <a:solidFill>
                  <a:srgbClr val="FF0000"/>
                </a:solidFill>
                <a:latin typeface="Palatino Linotype"/>
                <a:cs typeface="Palatino Linotype"/>
              </a:rPr>
              <a:t>Analyzing</a:t>
            </a:r>
            <a:r>
              <a:rPr sz="2000" b="1" spc="-30" dirty="0">
                <a:solidFill>
                  <a:srgbClr val="FF0000"/>
                </a:solidFill>
                <a:latin typeface="Palatino Linotype"/>
                <a:cs typeface="Palatino Linotype"/>
              </a:rPr>
              <a:t> </a:t>
            </a:r>
            <a:r>
              <a:rPr sz="2000" b="1" dirty="0">
                <a:solidFill>
                  <a:srgbClr val="FF0000"/>
                </a:solidFill>
                <a:latin typeface="Palatino Linotype"/>
                <a:cs typeface="Palatino Linotype"/>
              </a:rPr>
              <a:t>line</a:t>
            </a:r>
            <a:r>
              <a:rPr sz="2000" b="1" spc="-30" dirty="0">
                <a:solidFill>
                  <a:srgbClr val="FF0000"/>
                </a:solidFill>
                <a:latin typeface="Palatino Linotype"/>
                <a:cs typeface="Palatino Linotype"/>
              </a:rPr>
              <a:t> </a:t>
            </a:r>
            <a:r>
              <a:rPr sz="2000" b="1" dirty="0">
                <a:solidFill>
                  <a:srgbClr val="FF0000"/>
                </a:solidFill>
                <a:latin typeface="Palatino Linotype"/>
                <a:cs typeface="Palatino Linotype"/>
              </a:rPr>
              <a:t>6):</a:t>
            </a:r>
            <a:r>
              <a:rPr sz="2000" b="1" spc="-25" dirty="0">
                <a:solidFill>
                  <a:srgbClr val="FF0000"/>
                </a:solidFill>
                <a:latin typeface="Palatino Linotype"/>
                <a:cs typeface="Palatino Linotype"/>
              </a:rPr>
              <a:t> </a:t>
            </a:r>
            <a:r>
              <a:rPr sz="2000" dirty="0">
                <a:solidFill>
                  <a:sysClr val="windowText" lastClr="000000"/>
                </a:solidFill>
                <a:latin typeface="Palatino Linotype"/>
                <a:cs typeface="Palatino Linotype"/>
              </a:rPr>
              <a:t>attach</a:t>
            </a:r>
            <a:r>
              <a:rPr sz="2000" spc="-3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the</a:t>
            </a:r>
            <a:r>
              <a:rPr sz="2000" spc="-3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following</a:t>
            </a:r>
            <a:r>
              <a:rPr sz="2000" spc="-2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information</a:t>
            </a:r>
            <a:r>
              <a:rPr sz="2000" spc="-3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to</a:t>
            </a:r>
            <a:r>
              <a:rPr sz="2000" spc="-30" dirty="0">
                <a:solidFill>
                  <a:sysClr val="windowText" lastClr="000000"/>
                </a:solidFill>
                <a:latin typeface="Palatino Linotype"/>
                <a:cs typeface="Palatino Linotype"/>
              </a:rPr>
              <a:t> </a:t>
            </a:r>
            <a:r>
              <a:rPr sz="2000" spc="-25" dirty="0">
                <a:solidFill>
                  <a:sysClr val="windowText" lastClr="000000"/>
                </a:solidFill>
                <a:latin typeface="Palatino Linotype"/>
                <a:cs typeface="Palatino Linotype"/>
              </a:rPr>
              <a:t>6)</a:t>
            </a:r>
            <a:endParaRPr sz="2000">
              <a:solidFill>
                <a:sysClr val="windowText" lastClr="000000"/>
              </a:solidFill>
              <a:latin typeface="Palatino Linotype"/>
              <a:cs typeface="Palatino Linotype"/>
            </a:endParaRPr>
          </a:p>
        </p:txBody>
      </p:sp>
      <p:pic>
        <p:nvPicPr>
          <p:cNvPr id="12" name="object 4">
            <a:extLst>
              <a:ext uri="{FF2B5EF4-FFF2-40B4-BE49-F238E27FC236}">
                <a16:creationId xmlns:a16="http://schemas.microsoft.com/office/drawing/2014/main" id="{A8087FB6-0417-6BF3-8A7E-8CF124264839}"/>
              </a:ext>
            </a:extLst>
          </p:cNvPr>
          <p:cNvPicPr/>
          <p:nvPr/>
        </p:nvPicPr>
        <p:blipFill>
          <a:blip r:embed="rId3" cstate="print"/>
          <a:stretch>
            <a:fillRect/>
          </a:stretch>
        </p:blipFill>
        <p:spPr>
          <a:xfrm>
            <a:off x="6740925" y="313327"/>
            <a:ext cx="1387753" cy="1183468"/>
          </a:xfrm>
          <a:prstGeom prst="rect">
            <a:avLst/>
          </a:prstGeom>
        </p:spPr>
      </p:pic>
      <p:graphicFrame>
        <p:nvGraphicFramePr>
          <p:cNvPr id="13" name="object 5">
            <a:extLst>
              <a:ext uri="{FF2B5EF4-FFF2-40B4-BE49-F238E27FC236}">
                <a16:creationId xmlns:a16="http://schemas.microsoft.com/office/drawing/2014/main" id="{564CAD85-4DB2-2DF4-AE8B-9B5FE2CFFF81}"/>
              </a:ext>
            </a:extLst>
          </p:cNvPr>
          <p:cNvGraphicFramePr>
            <a:graphicFrameLocks noGrp="1"/>
          </p:cNvGraphicFramePr>
          <p:nvPr/>
        </p:nvGraphicFramePr>
        <p:xfrm>
          <a:off x="1517650" y="2556765"/>
          <a:ext cx="6096000" cy="1112520"/>
        </p:xfrm>
        <a:graphic>
          <a:graphicData uri="http://schemas.openxmlformats.org/drawingml/2006/table">
            <a:tbl>
              <a:tblPr firstRow="1" bandRow="1"/>
              <a:tblGrid>
                <a:gridCol w="2032000">
                  <a:extLst>
                    <a:ext uri="{9D8B030D-6E8A-4147-A177-3AD203B41FA5}">
                      <a16:colId xmlns:a16="http://schemas.microsoft.com/office/drawing/2014/main" val="20000"/>
                    </a:ext>
                  </a:extLst>
                </a:gridCol>
                <a:gridCol w="2032000">
                  <a:extLst>
                    <a:ext uri="{9D8B030D-6E8A-4147-A177-3AD203B41FA5}">
                      <a16:colId xmlns:a16="http://schemas.microsoft.com/office/drawing/2014/main" val="20001"/>
                    </a:ext>
                  </a:extLst>
                </a:gridCol>
                <a:gridCol w="2032000">
                  <a:extLst>
                    <a:ext uri="{9D8B030D-6E8A-4147-A177-3AD203B41FA5}">
                      <a16:colId xmlns:a16="http://schemas.microsoft.com/office/drawing/2014/main" val="20002"/>
                    </a:ext>
                  </a:extLst>
                </a:gridCol>
              </a:tblGrid>
              <a:tr h="370840">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gn="ctr">
                        <a:lnSpc>
                          <a:spcPct val="100000"/>
                        </a:lnSpc>
                        <a:spcBef>
                          <a:spcPts val="250"/>
                        </a:spcBef>
                      </a:pPr>
                      <a:r>
                        <a:rPr sz="1600" b="1" spc="-20" dirty="0">
                          <a:latin typeface="Palatino Linotype"/>
                          <a:cs typeface="Palatino Linotype"/>
                        </a:rPr>
                        <a:t>Name</a:t>
                      </a:r>
                      <a:endParaRPr sz="1600">
                        <a:latin typeface="Palatino Linotype"/>
                        <a:cs typeface="Palatino Linotype"/>
                      </a:endParaRPr>
                    </a:p>
                  </a:txBody>
                  <a:tcPr marL="0" marR="0" marT="317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gn="ctr">
                        <a:lnSpc>
                          <a:spcPct val="100000"/>
                        </a:lnSpc>
                        <a:spcBef>
                          <a:spcPts val="250"/>
                        </a:spcBef>
                      </a:pPr>
                      <a:r>
                        <a:rPr sz="1600" b="1" spc="-10" dirty="0">
                          <a:latin typeface="Palatino Linotype"/>
                          <a:cs typeface="Palatino Linotype"/>
                        </a:rPr>
                        <a:t>Liveness</a:t>
                      </a:r>
                      <a:endParaRPr sz="1600">
                        <a:latin typeface="Palatino Linotype"/>
                        <a:cs typeface="Palatino Linotype"/>
                      </a:endParaRPr>
                    </a:p>
                  </a:txBody>
                  <a:tcPr marL="0" marR="0" marT="317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gn="ctr">
                        <a:lnSpc>
                          <a:spcPct val="100000"/>
                        </a:lnSpc>
                        <a:spcBef>
                          <a:spcPts val="250"/>
                        </a:spcBef>
                      </a:pPr>
                      <a:r>
                        <a:rPr sz="1600" b="1" spc="-10" dirty="0">
                          <a:latin typeface="Palatino Linotype"/>
                          <a:cs typeface="Palatino Linotype"/>
                        </a:rPr>
                        <a:t>Next-</a:t>
                      </a:r>
                      <a:r>
                        <a:rPr sz="1600" b="1" spc="-25" dirty="0">
                          <a:latin typeface="Palatino Linotype"/>
                          <a:cs typeface="Palatino Linotype"/>
                        </a:rPr>
                        <a:t>use</a:t>
                      </a:r>
                      <a:endParaRPr sz="1600">
                        <a:latin typeface="Palatino Linotype"/>
                        <a:cs typeface="Palatino Linotype"/>
                      </a:endParaRPr>
                    </a:p>
                  </a:txBody>
                  <a:tcPr marL="0" marR="0" marT="317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370840">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marR="42545" algn="ctr">
                        <a:lnSpc>
                          <a:spcPct val="100000"/>
                        </a:lnSpc>
                        <a:spcBef>
                          <a:spcPts val="254"/>
                        </a:spcBef>
                      </a:pPr>
                      <a:r>
                        <a:rPr sz="1600" spc="-25" dirty="0">
                          <a:latin typeface="Cambria Math"/>
                          <a:cs typeface="Cambria Math"/>
                        </a:rPr>
                        <a:t>𝑡3</a:t>
                      </a:r>
                      <a:endParaRPr sz="1600">
                        <a:latin typeface="Cambria Math"/>
                        <a:cs typeface="Cambria Math"/>
                      </a:endParaRPr>
                    </a:p>
                  </a:txBody>
                  <a:tcPr marL="0" marR="0" marT="3238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gn="ctr">
                        <a:lnSpc>
                          <a:spcPct val="100000"/>
                        </a:lnSpc>
                        <a:spcBef>
                          <a:spcPts val="254"/>
                        </a:spcBef>
                      </a:pPr>
                      <a:r>
                        <a:rPr sz="1600" dirty="0">
                          <a:latin typeface="Palatino Linotype"/>
                          <a:cs typeface="Palatino Linotype"/>
                        </a:rPr>
                        <a:t>Not</a:t>
                      </a:r>
                      <a:r>
                        <a:rPr sz="1600" spc="-20" dirty="0">
                          <a:latin typeface="Palatino Linotype"/>
                          <a:cs typeface="Palatino Linotype"/>
                        </a:rPr>
                        <a:t> live</a:t>
                      </a:r>
                      <a:endParaRPr sz="1600">
                        <a:latin typeface="Palatino Linotype"/>
                        <a:cs typeface="Palatino Linotype"/>
                      </a:endParaRPr>
                    </a:p>
                  </a:txBody>
                  <a:tcPr marL="0" marR="0" marT="3238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nSpc>
                          <a:spcPct val="100000"/>
                        </a:lnSpc>
                      </a:pPr>
                      <a:endParaRPr sz="19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370840">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marR="42545" algn="ctr">
                        <a:lnSpc>
                          <a:spcPct val="100000"/>
                        </a:lnSpc>
                        <a:spcBef>
                          <a:spcPts val="265"/>
                        </a:spcBef>
                      </a:pPr>
                      <a:r>
                        <a:rPr sz="1600" spc="-25" dirty="0">
                          <a:latin typeface="Cambria Math"/>
                          <a:cs typeface="Cambria Math"/>
                        </a:rPr>
                        <a:t>𝑡4</a:t>
                      </a:r>
                      <a:endParaRPr sz="1600">
                        <a:latin typeface="Cambria Math"/>
                        <a:cs typeface="Cambria Math"/>
                      </a:endParaRPr>
                    </a:p>
                  </a:txBody>
                  <a:tcPr marL="0" marR="0" marT="3365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gn="ctr">
                        <a:lnSpc>
                          <a:spcPct val="100000"/>
                        </a:lnSpc>
                        <a:spcBef>
                          <a:spcPts val="265"/>
                        </a:spcBef>
                      </a:pPr>
                      <a:r>
                        <a:rPr sz="1600" spc="-20" dirty="0">
                          <a:latin typeface="Palatino Linotype"/>
                          <a:cs typeface="Palatino Linotype"/>
                        </a:rPr>
                        <a:t>Live</a:t>
                      </a:r>
                      <a:endParaRPr sz="1600">
                        <a:latin typeface="Palatino Linotype"/>
                        <a:cs typeface="Palatino Linotype"/>
                      </a:endParaRPr>
                    </a:p>
                  </a:txBody>
                  <a:tcPr marL="0" marR="0" marT="3365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gn="ctr">
                        <a:lnSpc>
                          <a:spcPct val="100000"/>
                        </a:lnSpc>
                        <a:spcBef>
                          <a:spcPts val="265"/>
                        </a:spcBef>
                      </a:pPr>
                      <a:r>
                        <a:rPr sz="1600" spc="-50" dirty="0">
                          <a:latin typeface="Palatino Linotype"/>
                          <a:cs typeface="Palatino Linotype"/>
                        </a:rPr>
                        <a:t>7</a:t>
                      </a:r>
                      <a:endParaRPr sz="1600">
                        <a:latin typeface="Palatino Linotype"/>
                        <a:cs typeface="Palatino Linotype"/>
                      </a:endParaRPr>
                    </a:p>
                  </a:txBody>
                  <a:tcPr marL="0" marR="0" marT="3365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bl>
          </a:graphicData>
        </a:graphic>
      </p:graphicFrame>
      <p:sp>
        <p:nvSpPr>
          <p:cNvPr id="14" name="object 6">
            <a:extLst>
              <a:ext uri="{FF2B5EF4-FFF2-40B4-BE49-F238E27FC236}">
                <a16:creationId xmlns:a16="http://schemas.microsoft.com/office/drawing/2014/main" id="{FD04E2E8-6E19-5ED8-07CF-629D12D92C8E}"/>
              </a:ext>
            </a:extLst>
          </p:cNvPr>
          <p:cNvSpPr/>
          <p:nvPr/>
        </p:nvSpPr>
        <p:spPr>
          <a:xfrm>
            <a:off x="6292311" y="950838"/>
            <a:ext cx="351790" cy="76200"/>
          </a:xfrm>
          <a:custGeom>
            <a:avLst/>
            <a:gdLst/>
            <a:ahLst/>
            <a:cxnLst/>
            <a:rect l="l" t="t" r="r" b="b"/>
            <a:pathLst>
              <a:path w="351790" h="76200">
                <a:moveTo>
                  <a:pt x="275337" y="44449"/>
                </a:moveTo>
                <a:lnTo>
                  <a:pt x="275337" y="76200"/>
                </a:lnTo>
                <a:lnTo>
                  <a:pt x="338837" y="44450"/>
                </a:lnTo>
                <a:lnTo>
                  <a:pt x="275337" y="44449"/>
                </a:lnTo>
                <a:close/>
              </a:path>
              <a:path w="351790" h="76200">
                <a:moveTo>
                  <a:pt x="275337" y="31749"/>
                </a:moveTo>
                <a:lnTo>
                  <a:pt x="275337" y="44449"/>
                </a:lnTo>
                <a:lnTo>
                  <a:pt x="288037" y="44450"/>
                </a:lnTo>
                <a:lnTo>
                  <a:pt x="288037" y="31750"/>
                </a:lnTo>
                <a:lnTo>
                  <a:pt x="275337" y="31749"/>
                </a:lnTo>
                <a:close/>
              </a:path>
              <a:path w="351790" h="76200">
                <a:moveTo>
                  <a:pt x="275337" y="0"/>
                </a:moveTo>
                <a:lnTo>
                  <a:pt x="275337" y="31749"/>
                </a:lnTo>
                <a:lnTo>
                  <a:pt x="288037" y="31750"/>
                </a:lnTo>
                <a:lnTo>
                  <a:pt x="288037" y="44450"/>
                </a:lnTo>
                <a:lnTo>
                  <a:pt x="338839" y="44448"/>
                </a:lnTo>
                <a:lnTo>
                  <a:pt x="351537" y="38100"/>
                </a:lnTo>
                <a:lnTo>
                  <a:pt x="275337" y="0"/>
                </a:lnTo>
                <a:close/>
              </a:path>
              <a:path w="351790" h="76200">
                <a:moveTo>
                  <a:pt x="0" y="31748"/>
                </a:moveTo>
                <a:lnTo>
                  <a:pt x="0" y="44448"/>
                </a:lnTo>
                <a:lnTo>
                  <a:pt x="275337" y="44449"/>
                </a:lnTo>
                <a:lnTo>
                  <a:pt x="275337" y="31749"/>
                </a:lnTo>
                <a:lnTo>
                  <a:pt x="0" y="31748"/>
                </a:lnTo>
                <a:close/>
              </a:path>
            </a:pathLst>
          </a:custGeom>
          <a:solidFill>
            <a:srgbClr val="FF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Tree>
    <p:extLst>
      <p:ext uri="{BB962C8B-B14F-4D97-AF65-F5344CB8AC3E}">
        <p14:creationId xmlns:p14="http://schemas.microsoft.com/office/powerpoint/2010/main" val="183684147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35</a:t>
            </a:fld>
            <a:endParaRPr lang="en-US"/>
          </a:p>
        </p:txBody>
      </p:sp>
      <p:sp>
        <p:nvSpPr>
          <p:cNvPr id="10" name="object 2">
            <a:extLst>
              <a:ext uri="{FF2B5EF4-FFF2-40B4-BE49-F238E27FC236}">
                <a16:creationId xmlns:a16="http://schemas.microsoft.com/office/drawing/2014/main" id="{CE13CEF2-845C-BD74-6971-829B9C70E5D1}"/>
              </a:ext>
            </a:extLst>
          </p:cNvPr>
          <p:cNvSpPr txBox="1">
            <a:spLocks/>
          </p:cNvSpPr>
          <p:nvPr/>
        </p:nvSpPr>
        <p:spPr>
          <a:xfrm>
            <a:off x="707390" y="524763"/>
            <a:ext cx="7729219" cy="63500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4000" b="1" i="0" u="none" strike="noStrike" kern="0" cap="none" spc="0" normalizeH="0" baseline="0" noProof="0">
                <a:ln>
                  <a:noFill/>
                </a:ln>
                <a:solidFill>
                  <a:sysClr val="windowText" lastClr="000000"/>
                </a:solidFill>
                <a:effectLst/>
                <a:uLnTx/>
                <a:uFillTx/>
                <a:latin typeface="Palatino Linotype"/>
                <a:ea typeface="+mj-ea"/>
              </a:rPr>
              <a:t>Running</a:t>
            </a:r>
            <a:r>
              <a:rPr kumimoji="0" lang="en-US" sz="4000" b="1" i="0" u="none" strike="noStrike" kern="0" cap="none" spc="-85" normalizeH="0" baseline="0" noProof="0">
                <a:ln>
                  <a:noFill/>
                </a:ln>
                <a:solidFill>
                  <a:sysClr val="windowText" lastClr="000000"/>
                </a:solidFill>
                <a:effectLst/>
                <a:uLnTx/>
                <a:uFillTx/>
                <a:latin typeface="Palatino Linotype"/>
                <a:ea typeface="+mj-ea"/>
              </a:rPr>
              <a:t> </a:t>
            </a:r>
            <a:r>
              <a:rPr kumimoji="0" lang="en-US" sz="4000" b="1" i="0" u="none" strike="noStrike" kern="0" cap="none" spc="-10" normalizeH="0" baseline="0" noProof="0">
                <a:ln>
                  <a:noFill/>
                </a:ln>
                <a:solidFill>
                  <a:sysClr val="windowText" lastClr="000000"/>
                </a:solidFill>
                <a:effectLst/>
                <a:uLnTx/>
                <a:uFillTx/>
                <a:latin typeface="Palatino Linotype"/>
                <a:ea typeface="+mj-ea"/>
              </a:rPr>
              <a:t>Example</a:t>
            </a:r>
            <a:endParaRPr kumimoji="0" lang="en-US" sz="4000" b="1" i="0" u="none" strike="noStrike" kern="0" cap="none" spc="-10" normalizeH="0" baseline="0" noProof="0" dirty="0">
              <a:ln>
                <a:noFill/>
              </a:ln>
              <a:solidFill>
                <a:sysClr val="windowText" lastClr="000000"/>
              </a:solidFill>
              <a:effectLst/>
              <a:uLnTx/>
              <a:uFillTx/>
              <a:latin typeface="Palatino Linotype"/>
              <a:ea typeface="+mj-ea"/>
            </a:endParaRPr>
          </a:p>
        </p:txBody>
      </p:sp>
      <p:sp>
        <p:nvSpPr>
          <p:cNvPr id="11" name="object 3">
            <a:extLst>
              <a:ext uri="{FF2B5EF4-FFF2-40B4-BE49-F238E27FC236}">
                <a16:creationId xmlns:a16="http://schemas.microsoft.com/office/drawing/2014/main" id="{36BB09A7-81B4-FA96-9745-3143ACC8A979}"/>
              </a:ext>
            </a:extLst>
          </p:cNvPr>
          <p:cNvSpPr txBox="1"/>
          <p:nvPr/>
        </p:nvSpPr>
        <p:spPr>
          <a:xfrm>
            <a:off x="707390" y="1836420"/>
            <a:ext cx="4678680" cy="330200"/>
          </a:xfrm>
          <a:prstGeom prst="rect">
            <a:avLst/>
          </a:prstGeom>
        </p:spPr>
        <p:txBody>
          <a:bodyPr vert="horz" wrap="square" lIns="0" tIns="12700" rIns="0" bIns="0" rtlCol="0">
            <a:spAutoFit/>
          </a:bodyPr>
          <a:lstStyle/>
          <a:p>
            <a:pPr marL="242570" indent="-229870">
              <a:spcBef>
                <a:spcPts val="100"/>
              </a:spcBef>
              <a:buClr>
                <a:srgbClr val="000000"/>
              </a:buClr>
              <a:buFont typeface="Arial MT"/>
              <a:buChar char="•"/>
              <a:tabLst>
                <a:tab pos="242570" algn="l"/>
              </a:tabLst>
            </a:pPr>
            <a:r>
              <a:rPr sz="2000" b="1" dirty="0">
                <a:solidFill>
                  <a:srgbClr val="FF0000"/>
                </a:solidFill>
                <a:latin typeface="Palatino Linotype"/>
                <a:cs typeface="Palatino Linotype"/>
              </a:rPr>
              <a:t>Analyzing</a:t>
            </a:r>
            <a:r>
              <a:rPr sz="2000" b="1" spc="-40" dirty="0">
                <a:solidFill>
                  <a:srgbClr val="FF0000"/>
                </a:solidFill>
                <a:latin typeface="Palatino Linotype"/>
                <a:cs typeface="Palatino Linotype"/>
              </a:rPr>
              <a:t> </a:t>
            </a:r>
            <a:r>
              <a:rPr sz="2000" b="1" dirty="0">
                <a:solidFill>
                  <a:srgbClr val="FF0000"/>
                </a:solidFill>
                <a:latin typeface="Palatino Linotype"/>
                <a:cs typeface="Palatino Linotype"/>
              </a:rPr>
              <a:t>line</a:t>
            </a:r>
            <a:r>
              <a:rPr sz="2000" b="1" spc="-35" dirty="0">
                <a:solidFill>
                  <a:srgbClr val="FF0000"/>
                </a:solidFill>
                <a:latin typeface="Palatino Linotype"/>
                <a:cs typeface="Palatino Linotype"/>
              </a:rPr>
              <a:t> </a:t>
            </a:r>
            <a:r>
              <a:rPr sz="2000" b="1" dirty="0">
                <a:solidFill>
                  <a:srgbClr val="FF0000"/>
                </a:solidFill>
                <a:latin typeface="Palatino Linotype"/>
                <a:cs typeface="Palatino Linotype"/>
              </a:rPr>
              <a:t>6):</a:t>
            </a:r>
            <a:r>
              <a:rPr sz="2000" b="1" spc="-35" dirty="0">
                <a:solidFill>
                  <a:srgbClr val="FF0000"/>
                </a:solidFill>
                <a:latin typeface="Palatino Linotype"/>
                <a:cs typeface="Palatino Linotype"/>
              </a:rPr>
              <a:t> </a:t>
            </a:r>
            <a:r>
              <a:rPr sz="2000" dirty="0">
                <a:solidFill>
                  <a:sysClr val="windowText" lastClr="000000"/>
                </a:solidFill>
                <a:latin typeface="Palatino Linotype"/>
                <a:cs typeface="Palatino Linotype"/>
              </a:rPr>
              <a:t>update</a:t>
            </a:r>
            <a:r>
              <a:rPr sz="2000" spc="-4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symbol</a:t>
            </a:r>
            <a:r>
              <a:rPr sz="2000" spc="-30" dirty="0">
                <a:solidFill>
                  <a:sysClr val="windowText" lastClr="000000"/>
                </a:solidFill>
                <a:latin typeface="Palatino Linotype"/>
                <a:cs typeface="Palatino Linotype"/>
              </a:rPr>
              <a:t> </a:t>
            </a:r>
            <a:r>
              <a:rPr sz="2000" spc="-10" dirty="0">
                <a:solidFill>
                  <a:sysClr val="windowText" lastClr="000000"/>
                </a:solidFill>
                <a:latin typeface="Palatino Linotype"/>
                <a:cs typeface="Palatino Linotype"/>
              </a:rPr>
              <a:t>table</a:t>
            </a:r>
            <a:endParaRPr sz="2000">
              <a:solidFill>
                <a:sysClr val="windowText" lastClr="000000"/>
              </a:solidFill>
              <a:latin typeface="Palatino Linotype"/>
              <a:cs typeface="Palatino Linotype"/>
            </a:endParaRPr>
          </a:p>
        </p:txBody>
      </p:sp>
      <p:pic>
        <p:nvPicPr>
          <p:cNvPr id="12" name="object 4">
            <a:extLst>
              <a:ext uri="{FF2B5EF4-FFF2-40B4-BE49-F238E27FC236}">
                <a16:creationId xmlns:a16="http://schemas.microsoft.com/office/drawing/2014/main" id="{76E4CE14-293D-0593-79DE-6DDBA3E12667}"/>
              </a:ext>
            </a:extLst>
          </p:cNvPr>
          <p:cNvPicPr/>
          <p:nvPr/>
        </p:nvPicPr>
        <p:blipFill>
          <a:blip r:embed="rId3" cstate="print"/>
          <a:stretch>
            <a:fillRect/>
          </a:stretch>
        </p:blipFill>
        <p:spPr>
          <a:xfrm>
            <a:off x="6740925" y="313327"/>
            <a:ext cx="1387753" cy="1183468"/>
          </a:xfrm>
          <a:prstGeom prst="rect">
            <a:avLst/>
          </a:prstGeom>
        </p:spPr>
      </p:pic>
      <p:graphicFrame>
        <p:nvGraphicFramePr>
          <p:cNvPr id="13" name="object 5">
            <a:extLst>
              <a:ext uri="{FF2B5EF4-FFF2-40B4-BE49-F238E27FC236}">
                <a16:creationId xmlns:a16="http://schemas.microsoft.com/office/drawing/2014/main" id="{539036F0-E25C-9475-C6B6-D084B44A67A5}"/>
              </a:ext>
            </a:extLst>
          </p:cNvPr>
          <p:cNvGraphicFramePr>
            <a:graphicFrameLocks noGrp="1"/>
          </p:cNvGraphicFramePr>
          <p:nvPr/>
        </p:nvGraphicFramePr>
        <p:xfrm>
          <a:off x="1517650" y="2556765"/>
          <a:ext cx="6096000" cy="2966720"/>
        </p:xfrm>
        <a:graphic>
          <a:graphicData uri="http://schemas.openxmlformats.org/drawingml/2006/table">
            <a:tbl>
              <a:tblPr firstRow="1" bandRow="1"/>
              <a:tblGrid>
                <a:gridCol w="2032000">
                  <a:extLst>
                    <a:ext uri="{9D8B030D-6E8A-4147-A177-3AD203B41FA5}">
                      <a16:colId xmlns:a16="http://schemas.microsoft.com/office/drawing/2014/main" val="20000"/>
                    </a:ext>
                  </a:extLst>
                </a:gridCol>
                <a:gridCol w="2032000">
                  <a:extLst>
                    <a:ext uri="{9D8B030D-6E8A-4147-A177-3AD203B41FA5}">
                      <a16:colId xmlns:a16="http://schemas.microsoft.com/office/drawing/2014/main" val="20001"/>
                    </a:ext>
                  </a:extLst>
                </a:gridCol>
                <a:gridCol w="2032000">
                  <a:extLst>
                    <a:ext uri="{9D8B030D-6E8A-4147-A177-3AD203B41FA5}">
                      <a16:colId xmlns:a16="http://schemas.microsoft.com/office/drawing/2014/main" val="20002"/>
                    </a:ext>
                  </a:extLst>
                </a:gridCol>
              </a:tblGrid>
              <a:tr h="370840">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gn="ctr">
                        <a:lnSpc>
                          <a:spcPct val="100000"/>
                        </a:lnSpc>
                        <a:spcBef>
                          <a:spcPts val="250"/>
                        </a:spcBef>
                      </a:pPr>
                      <a:r>
                        <a:rPr sz="1600" b="1" spc="-20" dirty="0">
                          <a:latin typeface="Palatino Linotype"/>
                          <a:cs typeface="Palatino Linotype"/>
                        </a:rPr>
                        <a:t>Name</a:t>
                      </a:r>
                      <a:endParaRPr sz="1600">
                        <a:latin typeface="Palatino Linotype"/>
                        <a:cs typeface="Palatino Linotype"/>
                      </a:endParaRPr>
                    </a:p>
                  </a:txBody>
                  <a:tcPr marL="0" marR="0" marT="317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gn="ctr">
                        <a:lnSpc>
                          <a:spcPct val="100000"/>
                        </a:lnSpc>
                        <a:spcBef>
                          <a:spcPts val="250"/>
                        </a:spcBef>
                      </a:pPr>
                      <a:r>
                        <a:rPr sz="1600" b="1" spc="-10" dirty="0">
                          <a:latin typeface="Palatino Linotype"/>
                          <a:cs typeface="Palatino Linotype"/>
                        </a:rPr>
                        <a:t>Liveness</a:t>
                      </a:r>
                      <a:endParaRPr sz="1600">
                        <a:latin typeface="Palatino Linotype"/>
                        <a:cs typeface="Palatino Linotype"/>
                      </a:endParaRPr>
                    </a:p>
                  </a:txBody>
                  <a:tcPr marL="0" marR="0" marT="317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gn="ctr">
                        <a:lnSpc>
                          <a:spcPct val="100000"/>
                        </a:lnSpc>
                        <a:spcBef>
                          <a:spcPts val="250"/>
                        </a:spcBef>
                      </a:pPr>
                      <a:r>
                        <a:rPr sz="1600" b="1" spc="-10" dirty="0">
                          <a:latin typeface="Palatino Linotype"/>
                          <a:cs typeface="Palatino Linotype"/>
                        </a:rPr>
                        <a:t>Next-</a:t>
                      </a:r>
                      <a:r>
                        <a:rPr sz="1600" b="1" spc="-25" dirty="0">
                          <a:latin typeface="Palatino Linotype"/>
                          <a:cs typeface="Palatino Linotype"/>
                        </a:rPr>
                        <a:t>use</a:t>
                      </a:r>
                      <a:endParaRPr sz="1600">
                        <a:latin typeface="Palatino Linotype"/>
                        <a:cs typeface="Palatino Linotype"/>
                      </a:endParaRPr>
                    </a:p>
                  </a:txBody>
                  <a:tcPr marL="0" marR="0" marT="317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370840">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marR="50165" algn="ctr">
                        <a:lnSpc>
                          <a:spcPct val="100000"/>
                        </a:lnSpc>
                        <a:spcBef>
                          <a:spcPts val="254"/>
                        </a:spcBef>
                      </a:pPr>
                      <a:r>
                        <a:rPr sz="1600" spc="-50" dirty="0">
                          <a:latin typeface="Cambria Math"/>
                          <a:cs typeface="Cambria Math"/>
                        </a:rPr>
                        <a:t>𝑖</a:t>
                      </a:r>
                      <a:endParaRPr sz="1600">
                        <a:latin typeface="Cambria Math"/>
                        <a:cs typeface="Cambria Math"/>
                      </a:endParaRPr>
                    </a:p>
                  </a:txBody>
                  <a:tcPr marL="0" marR="0" marT="3238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gn="ctr">
                        <a:lnSpc>
                          <a:spcPct val="100000"/>
                        </a:lnSpc>
                        <a:spcBef>
                          <a:spcPts val="254"/>
                        </a:spcBef>
                      </a:pPr>
                      <a:r>
                        <a:rPr sz="1600" spc="-20" dirty="0">
                          <a:latin typeface="Palatino Linotype"/>
                          <a:cs typeface="Palatino Linotype"/>
                        </a:rPr>
                        <a:t>Live</a:t>
                      </a:r>
                      <a:endParaRPr sz="1600">
                        <a:latin typeface="Palatino Linotype"/>
                        <a:cs typeface="Palatino Linotype"/>
                      </a:endParaRPr>
                    </a:p>
                  </a:txBody>
                  <a:tcPr marL="0" marR="0" marT="3238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nSpc>
                          <a:spcPct val="100000"/>
                        </a:lnSpc>
                      </a:pPr>
                      <a:endParaRPr sz="18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370840">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marR="46355" algn="ctr">
                        <a:lnSpc>
                          <a:spcPct val="100000"/>
                        </a:lnSpc>
                        <a:spcBef>
                          <a:spcPts val="265"/>
                        </a:spcBef>
                      </a:pPr>
                      <a:r>
                        <a:rPr sz="1600" spc="-50" dirty="0">
                          <a:latin typeface="Cambria Math"/>
                          <a:cs typeface="Cambria Math"/>
                        </a:rPr>
                        <a:t>𝑗</a:t>
                      </a:r>
                      <a:endParaRPr sz="1600">
                        <a:latin typeface="Cambria Math"/>
                        <a:cs typeface="Cambria Math"/>
                      </a:endParaRPr>
                    </a:p>
                  </a:txBody>
                  <a:tcPr marL="0" marR="0" marT="3365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gn="ctr">
                        <a:lnSpc>
                          <a:spcPct val="100000"/>
                        </a:lnSpc>
                        <a:spcBef>
                          <a:spcPts val="265"/>
                        </a:spcBef>
                      </a:pPr>
                      <a:r>
                        <a:rPr sz="1600" spc="-20" dirty="0">
                          <a:latin typeface="Palatino Linotype"/>
                          <a:cs typeface="Palatino Linotype"/>
                        </a:rPr>
                        <a:t>Live</a:t>
                      </a:r>
                      <a:endParaRPr sz="1600">
                        <a:latin typeface="Palatino Linotype"/>
                        <a:cs typeface="Palatino Linotype"/>
                      </a:endParaRPr>
                    </a:p>
                  </a:txBody>
                  <a:tcPr marL="0" marR="0" marT="3365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gn="ctr">
                        <a:lnSpc>
                          <a:spcPct val="100000"/>
                        </a:lnSpc>
                        <a:spcBef>
                          <a:spcPts val="265"/>
                        </a:spcBef>
                      </a:pPr>
                      <a:r>
                        <a:rPr sz="1600" spc="-50" dirty="0">
                          <a:latin typeface="Palatino Linotype"/>
                          <a:cs typeface="Palatino Linotype"/>
                        </a:rPr>
                        <a:t>8</a:t>
                      </a:r>
                      <a:endParaRPr sz="1600">
                        <a:latin typeface="Palatino Linotype"/>
                        <a:cs typeface="Palatino Linotype"/>
                      </a:endParaRPr>
                    </a:p>
                  </a:txBody>
                  <a:tcPr marL="0" marR="0" marT="3365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370840">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marR="47625" algn="ctr">
                        <a:lnSpc>
                          <a:spcPct val="100000"/>
                        </a:lnSpc>
                        <a:spcBef>
                          <a:spcPts val="250"/>
                        </a:spcBef>
                      </a:pPr>
                      <a:r>
                        <a:rPr sz="1600" spc="-50" dirty="0">
                          <a:latin typeface="Cambria Math"/>
                          <a:cs typeface="Cambria Math"/>
                        </a:rPr>
                        <a:t>𝑎</a:t>
                      </a:r>
                      <a:endParaRPr sz="1600">
                        <a:latin typeface="Cambria Math"/>
                        <a:cs typeface="Cambria Math"/>
                      </a:endParaRPr>
                    </a:p>
                  </a:txBody>
                  <a:tcPr marL="0" marR="0" marT="317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gn="ctr">
                        <a:lnSpc>
                          <a:spcPct val="100000"/>
                        </a:lnSpc>
                        <a:spcBef>
                          <a:spcPts val="250"/>
                        </a:spcBef>
                      </a:pPr>
                      <a:r>
                        <a:rPr sz="1600" spc="-20" dirty="0">
                          <a:latin typeface="Palatino Linotype"/>
                          <a:cs typeface="Palatino Linotype"/>
                        </a:rPr>
                        <a:t>Live</a:t>
                      </a:r>
                      <a:endParaRPr sz="1600">
                        <a:latin typeface="Palatino Linotype"/>
                        <a:cs typeface="Palatino Linotype"/>
                      </a:endParaRPr>
                    </a:p>
                  </a:txBody>
                  <a:tcPr marL="0" marR="0" marT="317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gn="ctr">
                        <a:lnSpc>
                          <a:spcPct val="100000"/>
                        </a:lnSpc>
                        <a:spcBef>
                          <a:spcPts val="250"/>
                        </a:spcBef>
                      </a:pPr>
                      <a:r>
                        <a:rPr sz="1600" spc="-50" dirty="0">
                          <a:latin typeface="Palatino Linotype"/>
                          <a:cs typeface="Palatino Linotype"/>
                        </a:rPr>
                        <a:t>7</a:t>
                      </a:r>
                      <a:endParaRPr sz="1600">
                        <a:latin typeface="Palatino Linotype"/>
                        <a:cs typeface="Palatino Linotype"/>
                      </a:endParaRPr>
                    </a:p>
                  </a:txBody>
                  <a:tcPr marL="0" marR="0" marT="317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370840">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marR="42545" algn="ctr">
                        <a:lnSpc>
                          <a:spcPct val="100000"/>
                        </a:lnSpc>
                        <a:spcBef>
                          <a:spcPts val="254"/>
                        </a:spcBef>
                      </a:pPr>
                      <a:r>
                        <a:rPr sz="1600" spc="-25" dirty="0">
                          <a:latin typeface="Cambria Math"/>
                          <a:cs typeface="Cambria Math"/>
                        </a:rPr>
                        <a:t>𝑡1</a:t>
                      </a:r>
                      <a:endParaRPr sz="1600">
                        <a:latin typeface="Cambria Math"/>
                        <a:cs typeface="Cambria Math"/>
                      </a:endParaRPr>
                    </a:p>
                  </a:txBody>
                  <a:tcPr marL="0" marR="0" marT="3238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gn="ctr">
                        <a:lnSpc>
                          <a:spcPct val="100000"/>
                        </a:lnSpc>
                        <a:spcBef>
                          <a:spcPts val="254"/>
                        </a:spcBef>
                      </a:pPr>
                      <a:r>
                        <a:rPr sz="1600" dirty="0">
                          <a:latin typeface="Palatino Linotype"/>
                          <a:cs typeface="Palatino Linotype"/>
                        </a:rPr>
                        <a:t>Not</a:t>
                      </a:r>
                      <a:r>
                        <a:rPr sz="1600" spc="-20" dirty="0">
                          <a:latin typeface="Palatino Linotype"/>
                          <a:cs typeface="Palatino Linotype"/>
                        </a:rPr>
                        <a:t> live</a:t>
                      </a:r>
                      <a:endParaRPr sz="1600">
                        <a:latin typeface="Palatino Linotype"/>
                        <a:cs typeface="Palatino Linotype"/>
                      </a:endParaRPr>
                    </a:p>
                  </a:txBody>
                  <a:tcPr marL="0" marR="0" marT="3238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nSpc>
                          <a:spcPct val="100000"/>
                        </a:lnSpc>
                      </a:pPr>
                      <a:endParaRPr sz="18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370840">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marR="42545" algn="ctr">
                        <a:lnSpc>
                          <a:spcPct val="100000"/>
                        </a:lnSpc>
                        <a:spcBef>
                          <a:spcPts val="265"/>
                        </a:spcBef>
                      </a:pPr>
                      <a:r>
                        <a:rPr sz="1600" spc="-25" dirty="0">
                          <a:latin typeface="Cambria Math"/>
                          <a:cs typeface="Cambria Math"/>
                        </a:rPr>
                        <a:t>𝑡2</a:t>
                      </a:r>
                      <a:endParaRPr sz="1600">
                        <a:latin typeface="Cambria Math"/>
                        <a:cs typeface="Cambria Math"/>
                      </a:endParaRPr>
                    </a:p>
                  </a:txBody>
                  <a:tcPr marL="0" marR="0" marT="3365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gn="ctr">
                        <a:lnSpc>
                          <a:spcPct val="100000"/>
                        </a:lnSpc>
                        <a:spcBef>
                          <a:spcPts val="265"/>
                        </a:spcBef>
                      </a:pPr>
                      <a:r>
                        <a:rPr sz="1600" dirty="0">
                          <a:latin typeface="Palatino Linotype"/>
                          <a:cs typeface="Palatino Linotype"/>
                        </a:rPr>
                        <a:t>Not</a:t>
                      </a:r>
                      <a:r>
                        <a:rPr sz="1600" spc="-20" dirty="0">
                          <a:latin typeface="Palatino Linotype"/>
                          <a:cs typeface="Palatino Linotype"/>
                        </a:rPr>
                        <a:t> live</a:t>
                      </a:r>
                      <a:endParaRPr sz="1600">
                        <a:latin typeface="Palatino Linotype"/>
                        <a:cs typeface="Palatino Linotype"/>
                      </a:endParaRPr>
                    </a:p>
                  </a:txBody>
                  <a:tcPr marL="0" marR="0" marT="3365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nSpc>
                          <a:spcPct val="100000"/>
                        </a:lnSpc>
                      </a:pPr>
                      <a:endParaRPr sz="18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370840">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marR="42545" algn="ctr">
                        <a:lnSpc>
                          <a:spcPct val="100000"/>
                        </a:lnSpc>
                        <a:spcBef>
                          <a:spcPts val="250"/>
                        </a:spcBef>
                      </a:pPr>
                      <a:r>
                        <a:rPr sz="1600" spc="-25" dirty="0">
                          <a:solidFill>
                            <a:srgbClr val="FF0000"/>
                          </a:solidFill>
                          <a:latin typeface="Cambria Math"/>
                          <a:cs typeface="Cambria Math"/>
                        </a:rPr>
                        <a:t>𝑡3</a:t>
                      </a:r>
                      <a:endParaRPr sz="1600">
                        <a:latin typeface="Cambria Math"/>
                        <a:cs typeface="Cambria Math"/>
                      </a:endParaRPr>
                    </a:p>
                  </a:txBody>
                  <a:tcPr marL="0" marR="0" marT="317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gn="ctr">
                        <a:lnSpc>
                          <a:spcPct val="100000"/>
                        </a:lnSpc>
                        <a:spcBef>
                          <a:spcPts val="250"/>
                        </a:spcBef>
                      </a:pPr>
                      <a:r>
                        <a:rPr sz="1600" spc="-20" dirty="0">
                          <a:solidFill>
                            <a:srgbClr val="FF0000"/>
                          </a:solidFill>
                          <a:latin typeface="Palatino Linotype"/>
                          <a:cs typeface="Palatino Linotype"/>
                        </a:rPr>
                        <a:t>Live</a:t>
                      </a:r>
                      <a:endParaRPr sz="1600">
                        <a:latin typeface="Palatino Linotype"/>
                        <a:cs typeface="Palatino Linotype"/>
                      </a:endParaRPr>
                    </a:p>
                  </a:txBody>
                  <a:tcPr marL="0" marR="0" marT="317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gn="ctr">
                        <a:lnSpc>
                          <a:spcPct val="100000"/>
                        </a:lnSpc>
                        <a:spcBef>
                          <a:spcPts val="250"/>
                        </a:spcBef>
                      </a:pPr>
                      <a:r>
                        <a:rPr sz="1600" spc="-50" dirty="0">
                          <a:solidFill>
                            <a:srgbClr val="FF0000"/>
                          </a:solidFill>
                          <a:latin typeface="Palatino Linotype"/>
                          <a:cs typeface="Palatino Linotype"/>
                        </a:rPr>
                        <a:t>6</a:t>
                      </a:r>
                      <a:endParaRPr sz="1600">
                        <a:latin typeface="Palatino Linotype"/>
                        <a:cs typeface="Palatino Linotype"/>
                      </a:endParaRPr>
                    </a:p>
                  </a:txBody>
                  <a:tcPr marL="0" marR="0" marT="317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370840">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marR="42545" algn="ctr">
                        <a:lnSpc>
                          <a:spcPct val="100000"/>
                        </a:lnSpc>
                        <a:spcBef>
                          <a:spcPts val="254"/>
                        </a:spcBef>
                      </a:pPr>
                      <a:r>
                        <a:rPr sz="1600" spc="-25" dirty="0">
                          <a:solidFill>
                            <a:srgbClr val="FF0000"/>
                          </a:solidFill>
                          <a:latin typeface="Cambria Math"/>
                          <a:cs typeface="Cambria Math"/>
                        </a:rPr>
                        <a:t>𝑡4</a:t>
                      </a:r>
                      <a:endParaRPr sz="1600">
                        <a:latin typeface="Cambria Math"/>
                        <a:cs typeface="Cambria Math"/>
                      </a:endParaRPr>
                    </a:p>
                  </a:txBody>
                  <a:tcPr marL="0" marR="0" marT="3238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gn="ctr">
                        <a:lnSpc>
                          <a:spcPct val="100000"/>
                        </a:lnSpc>
                        <a:spcBef>
                          <a:spcPts val="254"/>
                        </a:spcBef>
                      </a:pPr>
                      <a:r>
                        <a:rPr sz="1600" dirty="0">
                          <a:solidFill>
                            <a:srgbClr val="FF0000"/>
                          </a:solidFill>
                          <a:latin typeface="Palatino Linotype"/>
                          <a:cs typeface="Palatino Linotype"/>
                        </a:rPr>
                        <a:t>Not</a:t>
                      </a:r>
                      <a:r>
                        <a:rPr sz="1600" spc="-20" dirty="0">
                          <a:solidFill>
                            <a:srgbClr val="FF0000"/>
                          </a:solidFill>
                          <a:latin typeface="Palatino Linotype"/>
                          <a:cs typeface="Palatino Linotype"/>
                        </a:rPr>
                        <a:t> live</a:t>
                      </a:r>
                      <a:endParaRPr sz="1600">
                        <a:latin typeface="Palatino Linotype"/>
                        <a:cs typeface="Palatino Linotype"/>
                      </a:endParaRPr>
                    </a:p>
                  </a:txBody>
                  <a:tcPr marL="0" marR="0" marT="3238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nSpc>
                          <a:spcPct val="100000"/>
                        </a:lnSpc>
                      </a:pPr>
                      <a:endParaRPr sz="18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7"/>
                  </a:ext>
                </a:extLst>
              </a:tr>
            </a:tbl>
          </a:graphicData>
        </a:graphic>
      </p:graphicFrame>
      <p:sp>
        <p:nvSpPr>
          <p:cNvPr id="14" name="object 6">
            <a:extLst>
              <a:ext uri="{FF2B5EF4-FFF2-40B4-BE49-F238E27FC236}">
                <a16:creationId xmlns:a16="http://schemas.microsoft.com/office/drawing/2014/main" id="{FB0BA4B3-1A0A-28B1-E7C4-6BD30FF7E483}"/>
              </a:ext>
            </a:extLst>
          </p:cNvPr>
          <p:cNvSpPr/>
          <p:nvPr/>
        </p:nvSpPr>
        <p:spPr>
          <a:xfrm>
            <a:off x="6292311" y="950838"/>
            <a:ext cx="351790" cy="76200"/>
          </a:xfrm>
          <a:custGeom>
            <a:avLst/>
            <a:gdLst/>
            <a:ahLst/>
            <a:cxnLst/>
            <a:rect l="l" t="t" r="r" b="b"/>
            <a:pathLst>
              <a:path w="351790" h="76200">
                <a:moveTo>
                  <a:pt x="275337" y="44449"/>
                </a:moveTo>
                <a:lnTo>
                  <a:pt x="275337" y="76200"/>
                </a:lnTo>
                <a:lnTo>
                  <a:pt x="338837" y="44450"/>
                </a:lnTo>
                <a:lnTo>
                  <a:pt x="275337" y="44449"/>
                </a:lnTo>
                <a:close/>
              </a:path>
              <a:path w="351790" h="76200">
                <a:moveTo>
                  <a:pt x="275337" y="31749"/>
                </a:moveTo>
                <a:lnTo>
                  <a:pt x="275337" y="44449"/>
                </a:lnTo>
                <a:lnTo>
                  <a:pt x="288037" y="44450"/>
                </a:lnTo>
                <a:lnTo>
                  <a:pt x="288037" y="31750"/>
                </a:lnTo>
                <a:lnTo>
                  <a:pt x="275337" y="31749"/>
                </a:lnTo>
                <a:close/>
              </a:path>
              <a:path w="351790" h="76200">
                <a:moveTo>
                  <a:pt x="275337" y="0"/>
                </a:moveTo>
                <a:lnTo>
                  <a:pt x="275337" y="31749"/>
                </a:lnTo>
                <a:lnTo>
                  <a:pt x="288037" y="31750"/>
                </a:lnTo>
                <a:lnTo>
                  <a:pt x="288037" y="44450"/>
                </a:lnTo>
                <a:lnTo>
                  <a:pt x="338839" y="44448"/>
                </a:lnTo>
                <a:lnTo>
                  <a:pt x="351537" y="38100"/>
                </a:lnTo>
                <a:lnTo>
                  <a:pt x="275337" y="0"/>
                </a:lnTo>
                <a:close/>
              </a:path>
              <a:path w="351790" h="76200">
                <a:moveTo>
                  <a:pt x="0" y="31748"/>
                </a:moveTo>
                <a:lnTo>
                  <a:pt x="0" y="44448"/>
                </a:lnTo>
                <a:lnTo>
                  <a:pt x="275337" y="44449"/>
                </a:lnTo>
                <a:lnTo>
                  <a:pt x="275337" y="31749"/>
                </a:lnTo>
                <a:lnTo>
                  <a:pt x="0" y="31748"/>
                </a:lnTo>
                <a:close/>
              </a:path>
            </a:pathLst>
          </a:custGeom>
          <a:solidFill>
            <a:srgbClr val="FF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Tree>
    <p:extLst>
      <p:ext uri="{BB962C8B-B14F-4D97-AF65-F5344CB8AC3E}">
        <p14:creationId xmlns:p14="http://schemas.microsoft.com/office/powerpoint/2010/main" val="17363887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36</a:t>
            </a:fld>
            <a:endParaRPr lang="en-US"/>
          </a:p>
        </p:txBody>
      </p:sp>
      <p:sp>
        <p:nvSpPr>
          <p:cNvPr id="10" name="object 2">
            <a:extLst>
              <a:ext uri="{FF2B5EF4-FFF2-40B4-BE49-F238E27FC236}">
                <a16:creationId xmlns:a16="http://schemas.microsoft.com/office/drawing/2014/main" id="{932CFB55-DB93-619D-602D-817C2526AFBE}"/>
              </a:ext>
            </a:extLst>
          </p:cNvPr>
          <p:cNvSpPr txBox="1">
            <a:spLocks/>
          </p:cNvSpPr>
          <p:nvPr/>
        </p:nvSpPr>
        <p:spPr>
          <a:xfrm>
            <a:off x="707390" y="524763"/>
            <a:ext cx="7729219" cy="63500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4000" b="1" i="0" u="none" strike="noStrike" kern="0" cap="none" spc="0" normalizeH="0" baseline="0" noProof="0">
                <a:ln>
                  <a:noFill/>
                </a:ln>
                <a:solidFill>
                  <a:sysClr val="windowText" lastClr="000000"/>
                </a:solidFill>
                <a:effectLst/>
                <a:uLnTx/>
                <a:uFillTx/>
                <a:latin typeface="Palatino Linotype"/>
                <a:ea typeface="+mj-ea"/>
              </a:rPr>
              <a:t>Running</a:t>
            </a:r>
            <a:r>
              <a:rPr kumimoji="0" lang="en-US" sz="4000" b="1" i="0" u="none" strike="noStrike" kern="0" cap="none" spc="-85" normalizeH="0" baseline="0" noProof="0">
                <a:ln>
                  <a:noFill/>
                </a:ln>
                <a:solidFill>
                  <a:sysClr val="windowText" lastClr="000000"/>
                </a:solidFill>
                <a:effectLst/>
                <a:uLnTx/>
                <a:uFillTx/>
                <a:latin typeface="Palatino Linotype"/>
                <a:ea typeface="+mj-ea"/>
              </a:rPr>
              <a:t> </a:t>
            </a:r>
            <a:r>
              <a:rPr kumimoji="0" lang="en-US" sz="4000" b="1" i="0" u="none" strike="noStrike" kern="0" cap="none" spc="-10" normalizeH="0" baseline="0" noProof="0">
                <a:ln>
                  <a:noFill/>
                </a:ln>
                <a:solidFill>
                  <a:sysClr val="windowText" lastClr="000000"/>
                </a:solidFill>
                <a:effectLst/>
                <a:uLnTx/>
                <a:uFillTx/>
                <a:latin typeface="Palatino Linotype"/>
                <a:ea typeface="+mj-ea"/>
              </a:rPr>
              <a:t>Example</a:t>
            </a:r>
            <a:endParaRPr kumimoji="0" lang="en-US" sz="4000" b="1" i="0" u="none" strike="noStrike" kern="0" cap="none" spc="-10" normalizeH="0" baseline="0" noProof="0" dirty="0">
              <a:ln>
                <a:noFill/>
              </a:ln>
              <a:solidFill>
                <a:sysClr val="windowText" lastClr="000000"/>
              </a:solidFill>
              <a:effectLst/>
              <a:uLnTx/>
              <a:uFillTx/>
              <a:latin typeface="Palatino Linotype"/>
              <a:ea typeface="+mj-ea"/>
            </a:endParaRPr>
          </a:p>
        </p:txBody>
      </p:sp>
      <p:sp>
        <p:nvSpPr>
          <p:cNvPr id="11" name="object 3">
            <a:extLst>
              <a:ext uri="{FF2B5EF4-FFF2-40B4-BE49-F238E27FC236}">
                <a16:creationId xmlns:a16="http://schemas.microsoft.com/office/drawing/2014/main" id="{9EF247DF-1C6B-26AC-78CB-86B053A7E6A8}"/>
              </a:ext>
            </a:extLst>
          </p:cNvPr>
          <p:cNvSpPr txBox="1"/>
          <p:nvPr/>
        </p:nvSpPr>
        <p:spPr>
          <a:xfrm>
            <a:off x="707390" y="1836420"/>
            <a:ext cx="6589395" cy="330200"/>
          </a:xfrm>
          <a:prstGeom prst="rect">
            <a:avLst/>
          </a:prstGeom>
        </p:spPr>
        <p:txBody>
          <a:bodyPr vert="horz" wrap="square" lIns="0" tIns="12700" rIns="0" bIns="0" rtlCol="0">
            <a:spAutoFit/>
          </a:bodyPr>
          <a:lstStyle/>
          <a:p>
            <a:pPr marL="242570" indent="-229870">
              <a:spcBef>
                <a:spcPts val="100"/>
              </a:spcBef>
              <a:buClr>
                <a:srgbClr val="000000"/>
              </a:buClr>
              <a:buFont typeface="Arial MT"/>
              <a:buChar char="•"/>
              <a:tabLst>
                <a:tab pos="242570" algn="l"/>
              </a:tabLst>
            </a:pPr>
            <a:r>
              <a:rPr sz="2000" b="1" dirty="0">
                <a:solidFill>
                  <a:srgbClr val="FF0000"/>
                </a:solidFill>
                <a:latin typeface="Palatino Linotype"/>
                <a:cs typeface="Palatino Linotype"/>
              </a:rPr>
              <a:t>Analyzing</a:t>
            </a:r>
            <a:r>
              <a:rPr sz="2000" b="1" spc="-30" dirty="0">
                <a:solidFill>
                  <a:srgbClr val="FF0000"/>
                </a:solidFill>
                <a:latin typeface="Palatino Linotype"/>
                <a:cs typeface="Palatino Linotype"/>
              </a:rPr>
              <a:t> </a:t>
            </a:r>
            <a:r>
              <a:rPr sz="2000" b="1" dirty="0">
                <a:solidFill>
                  <a:srgbClr val="FF0000"/>
                </a:solidFill>
                <a:latin typeface="Palatino Linotype"/>
                <a:cs typeface="Palatino Linotype"/>
              </a:rPr>
              <a:t>line</a:t>
            </a:r>
            <a:r>
              <a:rPr sz="2000" b="1" spc="-30" dirty="0">
                <a:solidFill>
                  <a:srgbClr val="FF0000"/>
                </a:solidFill>
                <a:latin typeface="Palatino Linotype"/>
                <a:cs typeface="Palatino Linotype"/>
              </a:rPr>
              <a:t> </a:t>
            </a:r>
            <a:r>
              <a:rPr sz="2000" b="1" dirty="0">
                <a:solidFill>
                  <a:srgbClr val="FF0000"/>
                </a:solidFill>
                <a:latin typeface="Palatino Linotype"/>
                <a:cs typeface="Palatino Linotype"/>
              </a:rPr>
              <a:t>5):</a:t>
            </a:r>
            <a:r>
              <a:rPr sz="2000" b="1" spc="-25" dirty="0">
                <a:solidFill>
                  <a:srgbClr val="FF0000"/>
                </a:solidFill>
                <a:latin typeface="Palatino Linotype"/>
                <a:cs typeface="Palatino Linotype"/>
              </a:rPr>
              <a:t> </a:t>
            </a:r>
            <a:r>
              <a:rPr sz="2000" dirty="0">
                <a:solidFill>
                  <a:sysClr val="windowText" lastClr="000000"/>
                </a:solidFill>
                <a:latin typeface="Palatino Linotype"/>
                <a:cs typeface="Palatino Linotype"/>
              </a:rPr>
              <a:t>attach</a:t>
            </a:r>
            <a:r>
              <a:rPr sz="2000" spc="-3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the</a:t>
            </a:r>
            <a:r>
              <a:rPr sz="2000" spc="-3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following</a:t>
            </a:r>
            <a:r>
              <a:rPr sz="2000" spc="-2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information</a:t>
            </a:r>
            <a:r>
              <a:rPr sz="2000" spc="-3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to</a:t>
            </a:r>
            <a:r>
              <a:rPr sz="2000" spc="-30" dirty="0">
                <a:solidFill>
                  <a:sysClr val="windowText" lastClr="000000"/>
                </a:solidFill>
                <a:latin typeface="Palatino Linotype"/>
                <a:cs typeface="Palatino Linotype"/>
              </a:rPr>
              <a:t> </a:t>
            </a:r>
            <a:r>
              <a:rPr sz="2000" spc="-25" dirty="0">
                <a:solidFill>
                  <a:sysClr val="windowText" lastClr="000000"/>
                </a:solidFill>
                <a:latin typeface="Palatino Linotype"/>
                <a:cs typeface="Palatino Linotype"/>
              </a:rPr>
              <a:t>5)</a:t>
            </a:r>
            <a:endParaRPr sz="2000">
              <a:solidFill>
                <a:sysClr val="windowText" lastClr="000000"/>
              </a:solidFill>
              <a:latin typeface="Palatino Linotype"/>
              <a:cs typeface="Palatino Linotype"/>
            </a:endParaRPr>
          </a:p>
        </p:txBody>
      </p:sp>
      <p:pic>
        <p:nvPicPr>
          <p:cNvPr id="12" name="object 4">
            <a:extLst>
              <a:ext uri="{FF2B5EF4-FFF2-40B4-BE49-F238E27FC236}">
                <a16:creationId xmlns:a16="http://schemas.microsoft.com/office/drawing/2014/main" id="{ABA86EE4-00FE-580F-7DA6-884A7DF2F3E6}"/>
              </a:ext>
            </a:extLst>
          </p:cNvPr>
          <p:cNvPicPr/>
          <p:nvPr/>
        </p:nvPicPr>
        <p:blipFill>
          <a:blip r:embed="rId3" cstate="print"/>
          <a:stretch>
            <a:fillRect/>
          </a:stretch>
        </p:blipFill>
        <p:spPr>
          <a:xfrm>
            <a:off x="6740925" y="313327"/>
            <a:ext cx="1387753" cy="1183468"/>
          </a:xfrm>
          <a:prstGeom prst="rect">
            <a:avLst/>
          </a:prstGeom>
        </p:spPr>
      </p:pic>
      <p:graphicFrame>
        <p:nvGraphicFramePr>
          <p:cNvPr id="13" name="object 5">
            <a:extLst>
              <a:ext uri="{FF2B5EF4-FFF2-40B4-BE49-F238E27FC236}">
                <a16:creationId xmlns:a16="http://schemas.microsoft.com/office/drawing/2014/main" id="{D606A9C9-6580-5EDE-A136-D8DFEF31FF8B}"/>
              </a:ext>
            </a:extLst>
          </p:cNvPr>
          <p:cNvGraphicFramePr>
            <a:graphicFrameLocks noGrp="1"/>
          </p:cNvGraphicFramePr>
          <p:nvPr/>
        </p:nvGraphicFramePr>
        <p:xfrm>
          <a:off x="1517650" y="2556765"/>
          <a:ext cx="6096000" cy="1112520"/>
        </p:xfrm>
        <a:graphic>
          <a:graphicData uri="http://schemas.openxmlformats.org/drawingml/2006/table">
            <a:tbl>
              <a:tblPr firstRow="1" bandRow="1"/>
              <a:tblGrid>
                <a:gridCol w="2032000">
                  <a:extLst>
                    <a:ext uri="{9D8B030D-6E8A-4147-A177-3AD203B41FA5}">
                      <a16:colId xmlns:a16="http://schemas.microsoft.com/office/drawing/2014/main" val="20000"/>
                    </a:ext>
                  </a:extLst>
                </a:gridCol>
                <a:gridCol w="2032000">
                  <a:extLst>
                    <a:ext uri="{9D8B030D-6E8A-4147-A177-3AD203B41FA5}">
                      <a16:colId xmlns:a16="http://schemas.microsoft.com/office/drawing/2014/main" val="20001"/>
                    </a:ext>
                  </a:extLst>
                </a:gridCol>
                <a:gridCol w="2032000">
                  <a:extLst>
                    <a:ext uri="{9D8B030D-6E8A-4147-A177-3AD203B41FA5}">
                      <a16:colId xmlns:a16="http://schemas.microsoft.com/office/drawing/2014/main" val="20002"/>
                    </a:ext>
                  </a:extLst>
                </a:gridCol>
              </a:tblGrid>
              <a:tr h="370840">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gn="ctr">
                        <a:lnSpc>
                          <a:spcPct val="100000"/>
                        </a:lnSpc>
                        <a:spcBef>
                          <a:spcPts val="250"/>
                        </a:spcBef>
                      </a:pPr>
                      <a:r>
                        <a:rPr sz="1600" b="1" spc="-20" dirty="0">
                          <a:latin typeface="Palatino Linotype"/>
                          <a:cs typeface="Palatino Linotype"/>
                        </a:rPr>
                        <a:t>Name</a:t>
                      </a:r>
                      <a:endParaRPr sz="1600">
                        <a:latin typeface="Palatino Linotype"/>
                        <a:cs typeface="Palatino Linotype"/>
                      </a:endParaRPr>
                    </a:p>
                  </a:txBody>
                  <a:tcPr marL="0" marR="0" marT="317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gn="ctr">
                        <a:lnSpc>
                          <a:spcPct val="100000"/>
                        </a:lnSpc>
                        <a:spcBef>
                          <a:spcPts val="250"/>
                        </a:spcBef>
                      </a:pPr>
                      <a:r>
                        <a:rPr sz="1600" b="1" spc="-10" dirty="0">
                          <a:latin typeface="Palatino Linotype"/>
                          <a:cs typeface="Palatino Linotype"/>
                        </a:rPr>
                        <a:t>Liveness</a:t>
                      </a:r>
                      <a:endParaRPr sz="1600">
                        <a:latin typeface="Palatino Linotype"/>
                        <a:cs typeface="Palatino Linotype"/>
                      </a:endParaRPr>
                    </a:p>
                  </a:txBody>
                  <a:tcPr marL="0" marR="0" marT="317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gn="ctr">
                        <a:lnSpc>
                          <a:spcPct val="100000"/>
                        </a:lnSpc>
                        <a:spcBef>
                          <a:spcPts val="250"/>
                        </a:spcBef>
                      </a:pPr>
                      <a:r>
                        <a:rPr sz="1600" b="1" spc="-10" dirty="0">
                          <a:latin typeface="Palatino Linotype"/>
                          <a:cs typeface="Palatino Linotype"/>
                        </a:rPr>
                        <a:t>Next-</a:t>
                      </a:r>
                      <a:r>
                        <a:rPr sz="1600" b="1" spc="-25" dirty="0">
                          <a:latin typeface="Palatino Linotype"/>
                          <a:cs typeface="Palatino Linotype"/>
                        </a:rPr>
                        <a:t>use</a:t>
                      </a:r>
                      <a:endParaRPr sz="1600">
                        <a:latin typeface="Palatino Linotype"/>
                        <a:cs typeface="Palatino Linotype"/>
                      </a:endParaRPr>
                    </a:p>
                  </a:txBody>
                  <a:tcPr marL="0" marR="0" marT="317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370840">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marR="42545" algn="ctr">
                        <a:lnSpc>
                          <a:spcPct val="100000"/>
                        </a:lnSpc>
                        <a:spcBef>
                          <a:spcPts val="254"/>
                        </a:spcBef>
                      </a:pPr>
                      <a:r>
                        <a:rPr sz="1600" spc="-25" dirty="0">
                          <a:latin typeface="Cambria Math"/>
                          <a:cs typeface="Cambria Math"/>
                        </a:rPr>
                        <a:t>𝑡2</a:t>
                      </a:r>
                      <a:endParaRPr sz="1600">
                        <a:latin typeface="Cambria Math"/>
                        <a:cs typeface="Cambria Math"/>
                      </a:endParaRPr>
                    </a:p>
                  </a:txBody>
                  <a:tcPr marL="0" marR="0" marT="3238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gn="ctr">
                        <a:lnSpc>
                          <a:spcPct val="100000"/>
                        </a:lnSpc>
                        <a:spcBef>
                          <a:spcPts val="254"/>
                        </a:spcBef>
                      </a:pPr>
                      <a:r>
                        <a:rPr sz="1600" dirty="0">
                          <a:latin typeface="Palatino Linotype"/>
                          <a:cs typeface="Palatino Linotype"/>
                        </a:rPr>
                        <a:t>Not</a:t>
                      </a:r>
                      <a:r>
                        <a:rPr sz="1600" spc="-20" dirty="0">
                          <a:latin typeface="Palatino Linotype"/>
                          <a:cs typeface="Palatino Linotype"/>
                        </a:rPr>
                        <a:t> live</a:t>
                      </a:r>
                      <a:endParaRPr sz="1600">
                        <a:latin typeface="Palatino Linotype"/>
                        <a:cs typeface="Palatino Linotype"/>
                      </a:endParaRPr>
                    </a:p>
                  </a:txBody>
                  <a:tcPr marL="0" marR="0" marT="3238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nSpc>
                          <a:spcPct val="100000"/>
                        </a:lnSpc>
                      </a:pPr>
                      <a:endParaRPr sz="19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370840">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marR="42545" algn="ctr">
                        <a:lnSpc>
                          <a:spcPct val="100000"/>
                        </a:lnSpc>
                        <a:spcBef>
                          <a:spcPts val="265"/>
                        </a:spcBef>
                      </a:pPr>
                      <a:r>
                        <a:rPr sz="1600" spc="-25" dirty="0">
                          <a:latin typeface="Cambria Math"/>
                          <a:cs typeface="Cambria Math"/>
                        </a:rPr>
                        <a:t>𝑡3</a:t>
                      </a:r>
                      <a:endParaRPr sz="1600">
                        <a:latin typeface="Cambria Math"/>
                        <a:cs typeface="Cambria Math"/>
                      </a:endParaRPr>
                    </a:p>
                  </a:txBody>
                  <a:tcPr marL="0" marR="0" marT="3365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gn="ctr">
                        <a:lnSpc>
                          <a:spcPct val="100000"/>
                        </a:lnSpc>
                        <a:spcBef>
                          <a:spcPts val="265"/>
                        </a:spcBef>
                      </a:pPr>
                      <a:r>
                        <a:rPr sz="1600" spc="-20" dirty="0">
                          <a:latin typeface="Palatino Linotype"/>
                          <a:cs typeface="Palatino Linotype"/>
                        </a:rPr>
                        <a:t>Live</a:t>
                      </a:r>
                      <a:endParaRPr sz="1600">
                        <a:latin typeface="Palatino Linotype"/>
                        <a:cs typeface="Palatino Linotype"/>
                      </a:endParaRPr>
                    </a:p>
                  </a:txBody>
                  <a:tcPr marL="0" marR="0" marT="3365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gn="ctr">
                        <a:lnSpc>
                          <a:spcPct val="100000"/>
                        </a:lnSpc>
                        <a:spcBef>
                          <a:spcPts val="265"/>
                        </a:spcBef>
                      </a:pPr>
                      <a:r>
                        <a:rPr sz="1600" spc="-50" dirty="0">
                          <a:latin typeface="Palatino Linotype"/>
                          <a:cs typeface="Palatino Linotype"/>
                        </a:rPr>
                        <a:t>6</a:t>
                      </a:r>
                      <a:endParaRPr sz="1600">
                        <a:latin typeface="Palatino Linotype"/>
                        <a:cs typeface="Palatino Linotype"/>
                      </a:endParaRPr>
                    </a:p>
                  </a:txBody>
                  <a:tcPr marL="0" marR="0" marT="3365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bl>
          </a:graphicData>
        </a:graphic>
      </p:graphicFrame>
      <p:sp>
        <p:nvSpPr>
          <p:cNvPr id="14" name="object 6">
            <a:extLst>
              <a:ext uri="{FF2B5EF4-FFF2-40B4-BE49-F238E27FC236}">
                <a16:creationId xmlns:a16="http://schemas.microsoft.com/office/drawing/2014/main" id="{CEF845FE-D854-D364-7F36-3322436B4875}"/>
              </a:ext>
            </a:extLst>
          </p:cNvPr>
          <p:cNvSpPr/>
          <p:nvPr/>
        </p:nvSpPr>
        <p:spPr>
          <a:xfrm>
            <a:off x="6292311" y="764861"/>
            <a:ext cx="351790" cy="76200"/>
          </a:xfrm>
          <a:custGeom>
            <a:avLst/>
            <a:gdLst/>
            <a:ahLst/>
            <a:cxnLst/>
            <a:rect l="l" t="t" r="r" b="b"/>
            <a:pathLst>
              <a:path w="351790" h="76200">
                <a:moveTo>
                  <a:pt x="275337" y="0"/>
                </a:moveTo>
                <a:lnTo>
                  <a:pt x="275337" y="76200"/>
                </a:lnTo>
                <a:lnTo>
                  <a:pt x="338839" y="44450"/>
                </a:lnTo>
                <a:lnTo>
                  <a:pt x="288037" y="44450"/>
                </a:lnTo>
                <a:lnTo>
                  <a:pt x="288037" y="31750"/>
                </a:lnTo>
                <a:lnTo>
                  <a:pt x="338835" y="31750"/>
                </a:lnTo>
                <a:lnTo>
                  <a:pt x="275337" y="0"/>
                </a:lnTo>
                <a:close/>
              </a:path>
              <a:path w="351790" h="76200">
                <a:moveTo>
                  <a:pt x="275337" y="31750"/>
                </a:moveTo>
                <a:lnTo>
                  <a:pt x="0" y="31750"/>
                </a:lnTo>
                <a:lnTo>
                  <a:pt x="0" y="44450"/>
                </a:lnTo>
                <a:lnTo>
                  <a:pt x="275337" y="44450"/>
                </a:lnTo>
                <a:lnTo>
                  <a:pt x="275337" y="31750"/>
                </a:lnTo>
                <a:close/>
              </a:path>
              <a:path w="351790" h="76200">
                <a:moveTo>
                  <a:pt x="338835" y="31750"/>
                </a:moveTo>
                <a:lnTo>
                  <a:pt x="288037" y="31750"/>
                </a:lnTo>
                <a:lnTo>
                  <a:pt x="288037" y="44450"/>
                </a:lnTo>
                <a:lnTo>
                  <a:pt x="338839" y="44450"/>
                </a:lnTo>
                <a:lnTo>
                  <a:pt x="351537" y="38101"/>
                </a:lnTo>
                <a:lnTo>
                  <a:pt x="338835" y="31750"/>
                </a:lnTo>
                <a:close/>
              </a:path>
            </a:pathLst>
          </a:custGeom>
          <a:solidFill>
            <a:srgbClr val="FF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Tree>
    <p:extLst>
      <p:ext uri="{BB962C8B-B14F-4D97-AF65-F5344CB8AC3E}">
        <p14:creationId xmlns:p14="http://schemas.microsoft.com/office/powerpoint/2010/main" val="129467066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37</a:t>
            </a:fld>
            <a:endParaRPr lang="en-US"/>
          </a:p>
        </p:txBody>
      </p:sp>
      <p:sp>
        <p:nvSpPr>
          <p:cNvPr id="10" name="object 2">
            <a:extLst>
              <a:ext uri="{FF2B5EF4-FFF2-40B4-BE49-F238E27FC236}">
                <a16:creationId xmlns:a16="http://schemas.microsoft.com/office/drawing/2014/main" id="{7D6F74B4-B46E-837C-79AB-AAFA8F5A132C}"/>
              </a:ext>
            </a:extLst>
          </p:cNvPr>
          <p:cNvSpPr txBox="1">
            <a:spLocks/>
          </p:cNvSpPr>
          <p:nvPr/>
        </p:nvSpPr>
        <p:spPr>
          <a:xfrm>
            <a:off x="707390" y="524763"/>
            <a:ext cx="7729219" cy="63500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4000" b="1" i="0" u="none" strike="noStrike" kern="0" cap="none" spc="0" normalizeH="0" baseline="0" noProof="0">
                <a:ln>
                  <a:noFill/>
                </a:ln>
                <a:solidFill>
                  <a:sysClr val="windowText" lastClr="000000"/>
                </a:solidFill>
                <a:effectLst/>
                <a:uLnTx/>
                <a:uFillTx/>
                <a:latin typeface="Palatino Linotype"/>
                <a:ea typeface="+mj-ea"/>
              </a:rPr>
              <a:t>Running</a:t>
            </a:r>
            <a:r>
              <a:rPr kumimoji="0" lang="en-US" sz="4000" b="1" i="0" u="none" strike="noStrike" kern="0" cap="none" spc="-85" normalizeH="0" baseline="0" noProof="0">
                <a:ln>
                  <a:noFill/>
                </a:ln>
                <a:solidFill>
                  <a:sysClr val="windowText" lastClr="000000"/>
                </a:solidFill>
                <a:effectLst/>
                <a:uLnTx/>
                <a:uFillTx/>
                <a:latin typeface="Palatino Linotype"/>
                <a:ea typeface="+mj-ea"/>
              </a:rPr>
              <a:t> </a:t>
            </a:r>
            <a:r>
              <a:rPr kumimoji="0" lang="en-US" sz="4000" b="1" i="0" u="none" strike="noStrike" kern="0" cap="none" spc="-10" normalizeH="0" baseline="0" noProof="0">
                <a:ln>
                  <a:noFill/>
                </a:ln>
                <a:solidFill>
                  <a:sysClr val="windowText" lastClr="000000"/>
                </a:solidFill>
                <a:effectLst/>
                <a:uLnTx/>
                <a:uFillTx/>
                <a:latin typeface="Palatino Linotype"/>
                <a:ea typeface="+mj-ea"/>
              </a:rPr>
              <a:t>Example</a:t>
            </a:r>
            <a:endParaRPr kumimoji="0" lang="en-US" sz="4000" b="1" i="0" u="none" strike="noStrike" kern="0" cap="none" spc="-10" normalizeH="0" baseline="0" noProof="0" dirty="0">
              <a:ln>
                <a:noFill/>
              </a:ln>
              <a:solidFill>
                <a:sysClr val="windowText" lastClr="000000"/>
              </a:solidFill>
              <a:effectLst/>
              <a:uLnTx/>
              <a:uFillTx/>
              <a:latin typeface="Palatino Linotype"/>
              <a:ea typeface="+mj-ea"/>
            </a:endParaRPr>
          </a:p>
        </p:txBody>
      </p:sp>
      <p:sp>
        <p:nvSpPr>
          <p:cNvPr id="11" name="object 3">
            <a:extLst>
              <a:ext uri="{FF2B5EF4-FFF2-40B4-BE49-F238E27FC236}">
                <a16:creationId xmlns:a16="http://schemas.microsoft.com/office/drawing/2014/main" id="{07DC1425-7609-9579-38C9-79C4315F1355}"/>
              </a:ext>
            </a:extLst>
          </p:cNvPr>
          <p:cNvSpPr txBox="1"/>
          <p:nvPr/>
        </p:nvSpPr>
        <p:spPr>
          <a:xfrm>
            <a:off x="707390" y="1836420"/>
            <a:ext cx="4678680" cy="330200"/>
          </a:xfrm>
          <a:prstGeom prst="rect">
            <a:avLst/>
          </a:prstGeom>
        </p:spPr>
        <p:txBody>
          <a:bodyPr vert="horz" wrap="square" lIns="0" tIns="12700" rIns="0" bIns="0" rtlCol="0">
            <a:spAutoFit/>
          </a:bodyPr>
          <a:lstStyle/>
          <a:p>
            <a:pPr marL="242570" indent="-229870">
              <a:spcBef>
                <a:spcPts val="100"/>
              </a:spcBef>
              <a:buClr>
                <a:srgbClr val="000000"/>
              </a:buClr>
              <a:buFont typeface="Arial MT"/>
              <a:buChar char="•"/>
              <a:tabLst>
                <a:tab pos="242570" algn="l"/>
              </a:tabLst>
            </a:pPr>
            <a:r>
              <a:rPr sz="2000" b="1" dirty="0">
                <a:solidFill>
                  <a:srgbClr val="FF0000"/>
                </a:solidFill>
                <a:latin typeface="Palatino Linotype"/>
                <a:cs typeface="Palatino Linotype"/>
              </a:rPr>
              <a:t>Analyzing</a:t>
            </a:r>
            <a:r>
              <a:rPr sz="2000" b="1" spc="-40" dirty="0">
                <a:solidFill>
                  <a:srgbClr val="FF0000"/>
                </a:solidFill>
                <a:latin typeface="Palatino Linotype"/>
                <a:cs typeface="Palatino Linotype"/>
              </a:rPr>
              <a:t> </a:t>
            </a:r>
            <a:r>
              <a:rPr sz="2000" b="1" dirty="0">
                <a:solidFill>
                  <a:srgbClr val="FF0000"/>
                </a:solidFill>
                <a:latin typeface="Palatino Linotype"/>
                <a:cs typeface="Palatino Linotype"/>
              </a:rPr>
              <a:t>line</a:t>
            </a:r>
            <a:r>
              <a:rPr sz="2000" b="1" spc="-35" dirty="0">
                <a:solidFill>
                  <a:srgbClr val="FF0000"/>
                </a:solidFill>
                <a:latin typeface="Palatino Linotype"/>
                <a:cs typeface="Palatino Linotype"/>
              </a:rPr>
              <a:t> </a:t>
            </a:r>
            <a:r>
              <a:rPr sz="2000" b="1" dirty="0">
                <a:solidFill>
                  <a:srgbClr val="FF0000"/>
                </a:solidFill>
                <a:latin typeface="Palatino Linotype"/>
                <a:cs typeface="Palatino Linotype"/>
              </a:rPr>
              <a:t>5):</a:t>
            </a:r>
            <a:r>
              <a:rPr sz="2000" b="1" spc="-35" dirty="0">
                <a:solidFill>
                  <a:srgbClr val="FF0000"/>
                </a:solidFill>
                <a:latin typeface="Palatino Linotype"/>
                <a:cs typeface="Palatino Linotype"/>
              </a:rPr>
              <a:t> </a:t>
            </a:r>
            <a:r>
              <a:rPr sz="2000" dirty="0">
                <a:solidFill>
                  <a:sysClr val="windowText" lastClr="000000"/>
                </a:solidFill>
                <a:latin typeface="Palatino Linotype"/>
                <a:cs typeface="Palatino Linotype"/>
              </a:rPr>
              <a:t>update</a:t>
            </a:r>
            <a:r>
              <a:rPr sz="2000" spc="-4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symbol</a:t>
            </a:r>
            <a:r>
              <a:rPr sz="2000" spc="-30" dirty="0">
                <a:solidFill>
                  <a:sysClr val="windowText" lastClr="000000"/>
                </a:solidFill>
                <a:latin typeface="Palatino Linotype"/>
                <a:cs typeface="Palatino Linotype"/>
              </a:rPr>
              <a:t> </a:t>
            </a:r>
            <a:r>
              <a:rPr sz="2000" spc="-10" dirty="0">
                <a:solidFill>
                  <a:sysClr val="windowText" lastClr="000000"/>
                </a:solidFill>
                <a:latin typeface="Palatino Linotype"/>
                <a:cs typeface="Palatino Linotype"/>
              </a:rPr>
              <a:t>table</a:t>
            </a:r>
            <a:endParaRPr sz="2000">
              <a:solidFill>
                <a:sysClr val="windowText" lastClr="000000"/>
              </a:solidFill>
              <a:latin typeface="Palatino Linotype"/>
              <a:cs typeface="Palatino Linotype"/>
            </a:endParaRPr>
          </a:p>
        </p:txBody>
      </p:sp>
      <p:pic>
        <p:nvPicPr>
          <p:cNvPr id="12" name="object 4">
            <a:extLst>
              <a:ext uri="{FF2B5EF4-FFF2-40B4-BE49-F238E27FC236}">
                <a16:creationId xmlns:a16="http://schemas.microsoft.com/office/drawing/2014/main" id="{AE8A8E50-93E7-EB60-EBEF-9EADE10C96CB}"/>
              </a:ext>
            </a:extLst>
          </p:cNvPr>
          <p:cNvPicPr/>
          <p:nvPr/>
        </p:nvPicPr>
        <p:blipFill>
          <a:blip r:embed="rId3" cstate="print"/>
          <a:stretch>
            <a:fillRect/>
          </a:stretch>
        </p:blipFill>
        <p:spPr>
          <a:xfrm>
            <a:off x="6740925" y="313327"/>
            <a:ext cx="1387753" cy="1183468"/>
          </a:xfrm>
          <a:prstGeom prst="rect">
            <a:avLst/>
          </a:prstGeom>
        </p:spPr>
      </p:pic>
      <p:graphicFrame>
        <p:nvGraphicFramePr>
          <p:cNvPr id="13" name="object 5">
            <a:extLst>
              <a:ext uri="{FF2B5EF4-FFF2-40B4-BE49-F238E27FC236}">
                <a16:creationId xmlns:a16="http://schemas.microsoft.com/office/drawing/2014/main" id="{786C200F-C4E5-E17F-2F8D-1AF4E067BA4A}"/>
              </a:ext>
            </a:extLst>
          </p:cNvPr>
          <p:cNvGraphicFramePr>
            <a:graphicFrameLocks noGrp="1"/>
          </p:cNvGraphicFramePr>
          <p:nvPr/>
        </p:nvGraphicFramePr>
        <p:xfrm>
          <a:off x="1517650" y="2556765"/>
          <a:ext cx="6096000" cy="2966720"/>
        </p:xfrm>
        <a:graphic>
          <a:graphicData uri="http://schemas.openxmlformats.org/drawingml/2006/table">
            <a:tbl>
              <a:tblPr firstRow="1" bandRow="1"/>
              <a:tblGrid>
                <a:gridCol w="2032000">
                  <a:extLst>
                    <a:ext uri="{9D8B030D-6E8A-4147-A177-3AD203B41FA5}">
                      <a16:colId xmlns:a16="http://schemas.microsoft.com/office/drawing/2014/main" val="20000"/>
                    </a:ext>
                  </a:extLst>
                </a:gridCol>
                <a:gridCol w="2032000">
                  <a:extLst>
                    <a:ext uri="{9D8B030D-6E8A-4147-A177-3AD203B41FA5}">
                      <a16:colId xmlns:a16="http://schemas.microsoft.com/office/drawing/2014/main" val="20001"/>
                    </a:ext>
                  </a:extLst>
                </a:gridCol>
                <a:gridCol w="2032000">
                  <a:extLst>
                    <a:ext uri="{9D8B030D-6E8A-4147-A177-3AD203B41FA5}">
                      <a16:colId xmlns:a16="http://schemas.microsoft.com/office/drawing/2014/main" val="20002"/>
                    </a:ext>
                  </a:extLst>
                </a:gridCol>
              </a:tblGrid>
              <a:tr h="370840">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gn="ctr">
                        <a:lnSpc>
                          <a:spcPct val="100000"/>
                        </a:lnSpc>
                        <a:spcBef>
                          <a:spcPts val="250"/>
                        </a:spcBef>
                      </a:pPr>
                      <a:r>
                        <a:rPr sz="1600" b="1" spc="-20" dirty="0">
                          <a:latin typeface="Palatino Linotype"/>
                          <a:cs typeface="Palatino Linotype"/>
                        </a:rPr>
                        <a:t>Name</a:t>
                      </a:r>
                      <a:endParaRPr sz="1600">
                        <a:latin typeface="Palatino Linotype"/>
                        <a:cs typeface="Palatino Linotype"/>
                      </a:endParaRPr>
                    </a:p>
                  </a:txBody>
                  <a:tcPr marL="0" marR="0" marT="317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gn="ctr">
                        <a:lnSpc>
                          <a:spcPct val="100000"/>
                        </a:lnSpc>
                        <a:spcBef>
                          <a:spcPts val="250"/>
                        </a:spcBef>
                      </a:pPr>
                      <a:r>
                        <a:rPr sz="1600" b="1" spc="-10" dirty="0">
                          <a:latin typeface="Palatino Linotype"/>
                          <a:cs typeface="Palatino Linotype"/>
                        </a:rPr>
                        <a:t>Liveness</a:t>
                      </a:r>
                      <a:endParaRPr sz="1600">
                        <a:latin typeface="Palatino Linotype"/>
                        <a:cs typeface="Palatino Linotype"/>
                      </a:endParaRPr>
                    </a:p>
                  </a:txBody>
                  <a:tcPr marL="0" marR="0" marT="317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gn="ctr">
                        <a:lnSpc>
                          <a:spcPct val="100000"/>
                        </a:lnSpc>
                        <a:spcBef>
                          <a:spcPts val="250"/>
                        </a:spcBef>
                      </a:pPr>
                      <a:r>
                        <a:rPr sz="1600" b="1" spc="-10" dirty="0">
                          <a:latin typeface="Palatino Linotype"/>
                          <a:cs typeface="Palatino Linotype"/>
                        </a:rPr>
                        <a:t>Next-</a:t>
                      </a:r>
                      <a:r>
                        <a:rPr sz="1600" b="1" spc="-25" dirty="0">
                          <a:latin typeface="Palatino Linotype"/>
                          <a:cs typeface="Palatino Linotype"/>
                        </a:rPr>
                        <a:t>use</a:t>
                      </a:r>
                      <a:endParaRPr sz="1600">
                        <a:latin typeface="Palatino Linotype"/>
                        <a:cs typeface="Palatino Linotype"/>
                      </a:endParaRPr>
                    </a:p>
                  </a:txBody>
                  <a:tcPr marL="0" marR="0" marT="317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370840">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marR="50165" algn="ctr">
                        <a:lnSpc>
                          <a:spcPct val="100000"/>
                        </a:lnSpc>
                        <a:spcBef>
                          <a:spcPts val="254"/>
                        </a:spcBef>
                      </a:pPr>
                      <a:r>
                        <a:rPr sz="1600" spc="-50" dirty="0">
                          <a:latin typeface="Cambria Math"/>
                          <a:cs typeface="Cambria Math"/>
                        </a:rPr>
                        <a:t>𝑖</a:t>
                      </a:r>
                      <a:endParaRPr sz="1600">
                        <a:latin typeface="Cambria Math"/>
                        <a:cs typeface="Cambria Math"/>
                      </a:endParaRPr>
                    </a:p>
                  </a:txBody>
                  <a:tcPr marL="0" marR="0" marT="3238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gn="ctr">
                        <a:lnSpc>
                          <a:spcPct val="100000"/>
                        </a:lnSpc>
                        <a:spcBef>
                          <a:spcPts val="254"/>
                        </a:spcBef>
                      </a:pPr>
                      <a:r>
                        <a:rPr sz="1600" spc="-20" dirty="0">
                          <a:latin typeface="Palatino Linotype"/>
                          <a:cs typeface="Palatino Linotype"/>
                        </a:rPr>
                        <a:t>Live</a:t>
                      </a:r>
                      <a:endParaRPr sz="1600">
                        <a:latin typeface="Palatino Linotype"/>
                        <a:cs typeface="Palatino Linotype"/>
                      </a:endParaRPr>
                    </a:p>
                  </a:txBody>
                  <a:tcPr marL="0" marR="0" marT="3238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nSpc>
                          <a:spcPct val="100000"/>
                        </a:lnSpc>
                      </a:pPr>
                      <a:endParaRPr sz="18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370840">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marR="46355" algn="ctr">
                        <a:lnSpc>
                          <a:spcPct val="100000"/>
                        </a:lnSpc>
                        <a:spcBef>
                          <a:spcPts val="265"/>
                        </a:spcBef>
                      </a:pPr>
                      <a:r>
                        <a:rPr sz="1600" spc="-50" dirty="0">
                          <a:latin typeface="Cambria Math"/>
                          <a:cs typeface="Cambria Math"/>
                        </a:rPr>
                        <a:t>𝑗</a:t>
                      </a:r>
                      <a:endParaRPr sz="1600">
                        <a:latin typeface="Cambria Math"/>
                        <a:cs typeface="Cambria Math"/>
                      </a:endParaRPr>
                    </a:p>
                  </a:txBody>
                  <a:tcPr marL="0" marR="0" marT="3365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gn="ctr">
                        <a:lnSpc>
                          <a:spcPct val="100000"/>
                        </a:lnSpc>
                        <a:spcBef>
                          <a:spcPts val="265"/>
                        </a:spcBef>
                      </a:pPr>
                      <a:r>
                        <a:rPr sz="1600" spc="-20" dirty="0">
                          <a:latin typeface="Palatino Linotype"/>
                          <a:cs typeface="Palatino Linotype"/>
                        </a:rPr>
                        <a:t>Live</a:t>
                      </a:r>
                      <a:endParaRPr sz="1600">
                        <a:latin typeface="Palatino Linotype"/>
                        <a:cs typeface="Palatino Linotype"/>
                      </a:endParaRPr>
                    </a:p>
                  </a:txBody>
                  <a:tcPr marL="0" marR="0" marT="3365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gn="ctr">
                        <a:lnSpc>
                          <a:spcPct val="100000"/>
                        </a:lnSpc>
                        <a:spcBef>
                          <a:spcPts val="265"/>
                        </a:spcBef>
                      </a:pPr>
                      <a:r>
                        <a:rPr sz="1600" spc="-50" dirty="0">
                          <a:latin typeface="Palatino Linotype"/>
                          <a:cs typeface="Palatino Linotype"/>
                        </a:rPr>
                        <a:t>8</a:t>
                      </a:r>
                      <a:endParaRPr sz="1600">
                        <a:latin typeface="Palatino Linotype"/>
                        <a:cs typeface="Palatino Linotype"/>
                      </a:endParaRPr>
                    </a:p>
                  </a:txBody>
                  <a:tcPr marL="0" marR="0" marT="3365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370840">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marR="47625" algn="ctr">
                        <a:lnSpc>
                          <a:spcPct val="100000"/>
                        </a:lnSpc>
                        <a:spcBef>
                          <a:spcPts val="250"/>
                        </a:spcBef>
                      </a:pPr>
                      <a:r>
                        <a:rPr sz="1600" spc="-50" dirty="0">
                          <a:latin typeface="Cambria Math"/>
                          <a:cs typeface="Cambria Math"/>
                        </a:rPr>
                        <a:t>𝑎</a:t>
                      </a:r>
                      <a:endParaRPr sz="1600">
                        <a:latin typeface="Cambria Math"/>
                        <a:cs typeface="Cambria Math"/>
                      </a:endParaRPr>
                    </a:p>
                  </a:txBody>
                  <a:tcPr marL="0" marR="0" marT="317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gn="ctr">
                        <a:lnSpc>
                          <a:spcPct val="100000"/>
                        </a:lnSpc>
                        <a:spcBef>
                          <a:spcPts val="250"/>
                        </a:spcBef>
                      </a:pPr>
                      <a:r>
                        <a:rPr sz="1600" spc="-20" dirty="0">
                          <a:latin typeface="Palatino Linotype"/>
                          <a:cs typeface="Palatino Linotype"/>
                        </a:rPr>
                        <a:t>Live</a:t>
                      </a:r>
                      <a:endParaRPr sz="1600">
                        <a:latin typeface="Palatino Linotype"/>
                        <a:cs typeface="Palatino Linotype"/>
                      </a:endParaRPr>
                    </a:p>
                  </a:txBody>
                  <a:tcPr marL="0" marR="0" marT="317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gn="ctr">
                        <a:lnSpc>
                          <a:spcPct val="100000"/>
                        </a:lnSpc>
                        <a:spcBef>
                          <a:spcPts val="250"/>
                        </a:spcBef>
                      </a:pPr>
                      <a:r>
                        <a:rPr sz="1600" spc="-50" dirty="0">
                          <a:latin typeface="Palatino Linotype"/>
                          <a:cs typeface="Palatino Linotype"/>
                        </a:rPr>
                        <a:t>7</a:t>
                      </a:r>
                      <a:endParaRPr sz="1600">
                        <a:latin typeface="Palatino Linotype"/>
                        <a:cs typeface="Palatino Linotype"/>
                      </a:endParaRPr>
                    </a:p>
                  </a:txBody>
                  <a:tcPr marL="0" marR="0" marT="317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370840">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marR="42545" algn="ctr">
                        <a:lnSpc>
                          <a:spcPct val="100000"/>
                        </a:lnSpc>
                        <a:spcBef>
                          <a:spcPts val="254"/>
                        </a:spcBef>
                      </a:pPr>
                      <a:r>
                        <a:rPr sz="1600" spc="-25" dirty="0">
                          <a:latin typeface="Cambria Math"/>
                          <a:cs typeface="Cambria Math"/>
                        </a:rPr>
                        <a:t>𝑡1</a:t>
                      </a:r>
                      <a:endParaRPr sz="1600">
                        <a:latin typeface="Cambria Math"/>
                        <a:cs typeface="Cambria Math"/>
                      </a:endParaRPr>
                    </a:p>
                  </a:txBody>
                  <a:tcPr marL="0" marR="0" marT="3238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gn="ctr">
                        <a:lnSpc>
                          <a:spcPct val="100000"/>
                        </a:lnSpc>
                        <a:spcBef>
                          <a:spcPts val="254"/>
                        </a:spcBef>
                      </a:pPr>
                      <a:r>
                        <a:rPr sz="1600" dirty="0">
                          <a:latin typeface="Palatino Linotype"/>
                          <a:cs typeface="Palatino Linotype"/>
                        </a:rPr>
                        <a:t>Not</a:t>
                      </a:r>
                      <a:r>
                        <a:rPr sz="1600" spc="-20" dirty="0">
                          <a:latin typeface="Palatino Linotype"/>
                          <a:cs typeface="Palatino Linotype"/>
                        </a:rPr>
                        <a:t> live</a:t>
                      </a:r>
                      <a:endParaRPr sz="1600">
                        <a:latin typeface="Palatino Linotype"/>
                        <a:cs typeface="Palatino Linotype"/>
                      </a:endParaRPr>
                    </a:p>
                  </a:txBody>
                  <a:tcPr marL="0" marR="0" marT="3238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nSpc>
                          <a:spcPct val="100000"/>
                        </a:lnSpc>
                      </a:pPr>
                      <a:endParaRPr sz="18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370840">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marR="42545" algn="ctr">
                        <a:lnSpc>
                          <a:spcPct val="100000"/>
                        </a:lnSpc>
                        <a:spcBef>
                          <a:spcPts val="265"/>
                        </a:spcBef>
                      </a:pPr>
                      <a:r>
                        <a:rPr sz="1600" spc="-25" dirty="0">
                          <a:solidFill>
                            <a:srgbClr val="FF0000"/>
                          </a:solidFill>
                          <a:latin typeface="Cambria Math"/>
                          <a:cs typeface="Cambria Math"/>
                        </a:rPr>
                        <a:t>𝑡2</a:t>
                      </a:r>
                      <a:endParaRPr sz="1600">
                        <a:latin typeface="Cambria Math"/>
                        <a:cs typeface="Cambria Math"/>
                      </a:endParaRPr>
                    </a:p>
                  </a:txBody>
                  <a:tcPr marL="0" marR="0" marT="3365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gn="ctr">
                        <a:lnSpc>
                          <a:spcPct val="100000"/>
                        </a:lnSpc>
                        <a:spcBef>
                          <a:spcPts val="265"/>
                        </a:spcBef>
                      </a:pPr>
                      <a:r>
                        <a:rPr sz="1600" spc="-20" dirty="0">
                          <a:solidFill>
                            <a:srgbClr val="FF0000"/>
                          </a:solidFill>
                          <a:latin typeface="Palatino Linotype"/>
                          <a:cs typeface="Palatino Linotype"/>
                        </a:rPr>
                        <a:t>Live</a:t>
                      </a:r>
                      <a:endParaRPr sz="1600">
                        <a:latin typeface="Palatino Linotype"/>
                        <a:cs typeface="Palatino Linotype"/>
                      </a:endParaRPr>
                    </a:p>
                  </a:txBody>
                  <a:tcPr marL="0" marR="0" marT="3365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gn="ctr">
                        <a:lnSpc>
                          <a:spcPct val="100000"/>
                        </a:lnSpc>
                        <a:spcBef>
                          <a:spcPts val="265"/>
                        </a:spcBef>
                      </a:pPr>
                      <a:r>
                        <a:rPr sz="1600" spc="-50" dirty="0">
                          <a:solidFill>
                            <a:srgbClr val="FF0000"/>
                          </a:solidFill>
                          <a:latin typeface="Palatino Linotype"/>
                          <a:cs typeface="Palatino Linotype"/>
                        </a:rPr>
                        <a:t>5</a:t>
                      </a:r>
                      <a:endParaRPr sz="1600">
                        <a:latin typeface="Palatino Linotype"/>
                        <a:cs typeface="Palatino Linotype"/>
                      </a:endParaRPr>
                    </a:p>
                  </a:txBody>
                  <a:tcPr marL="0" marR="0" marT="3365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370840">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marR="42545" algn="ctr">
                        <a:lnSpc>
                          <a:spcPct val="100000"/>
                        </a:lnSpc>
                        <a:spcBef>
                          <a:spcPts val="250"/>
                        </a:spcBef>
                      </a:pPr>
                      <a:r>
                        <a:rPr sz="1600" spc="-25" dirty="0">
                          <a:solidFill>
                            <a:srgbClr val="FF0000"/>
                          </a:solidFill>
                          <a:latin typeface="Cambria Math"/>
                          <a:cs typeface="Cambria Math"/>
                        </a:rPr>
                        <a:t>𝑡3</a:t>
                      </a:r>
                      <a:endParaRPr sz="1600">
                        <a:latin typeface="Cambria Math"/>
                        <a:cs typeface="Cambria Math"/>
                      </a:endParaRPr>
                    </a:p>
                  </a:txBody>
                  <a:tcPr marL="0" marR="0" marT="317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gn="ctr">
                        <a:lnSpc>
                          <a:spcPct val="100000"/>
                        </a:lnSpc>
                        <a:spcBef>
                          <a:spcPts val="250"/>
                        </a:spcBef>
                      </a:pPr>
                      <a:r>
                        <a:rPr sz="1600" dirty="0">
                          <a:solidFill>
                            <a:srgbClr val="FF0000"/>
                          </a:solidFill>
                          <a:latin typeface="Palatino Linotype"/>
                          <a:cs typeface="Palatino Linotype"/>
                        </a:rPr>
                        <a:t>Not</a:t>
                      </a:r>
                      <a:r>
                        <a:rPr sz="1600" spc="-20" dirty="0">
                          <a:solidFill>
                            <a:srgbClr val="FF0000"/>
                          </a:solidFill>
                          <a:latin typeface="Palatino Linotype"/>
                          <a:cs typeface="Palatino Linotype"/>
                        </a:rPr>
                        <a:t> live</a:t>
                      </a:r>
                      <a:endParaRPr sz="1600">
                        <a:latin typeface="Palatino Linotype"/>
                        <a:cs typeface="Palatino Linotype"/>
                      </a:endParaRPr>
                    </a:p>
                  </a:txBody>
                  <a:tcPr marL="0" marR="0" marT="317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nSpc>
                          <a:spcPct val="100000"/>
                        </a:lnSpc>
                      </a:pPr>
                      <a:endParaRPr sz="18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370840">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marR="42545" algn="ctr">
                        <a:lnSpc>
                          <a:spcPct val="100000"/>
                        </a:lnSpc>
                        <a:spcBef>
                          <a:spcPts val="254"/>
                        </a:spcBef>
                      </a:pPr>
                      <a:r>
                        <a:rPr sz="1600" spc="-25" dirty="0">
                          <a:latin typeface="Cambria Math"/>
                          <a:cs typeface="Cambria Math"/>
                        </a:rPr>
                        <a:t>𝑡4</a:t>
                      </a:r>
                      <a:endParaRPr sz="1600">
                        <a:latin typeface="Cambria Math"/>
                        <a:cs typeface="Cambria Math"/>
                      </a:endParaRPr>
                    </a:p>
                  </a:txBody>
                  <a:tcPr marL="0" marR="0" marT="3238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gn="ctr">
                        <a:lnSpc>
                          <a:spcPct val="100000"/>
                        </a:lnSpc>
                        <a:spcBef>
                          <a:spcPts val="254"/>
                        </a:spcBef>
                      </a:pPr>
                      <a:r>
                        <a:rPr sz="1600" dirty="0">
                          <a:latin typeface="Palatino Linotype"/>
                          <a:cs typeface="Palatino Linotype"/>
                        </a:rPr>
                        <a:t>Not</a:t>
                      </a:r>
                      <a:r>
                        <a:rPr sz="1600" spc="-20" dirty="0">
                          <a:latin typeface="Palatino Linotype"/>
                          <a:cs typeface="Palatino Linotype"/>
                        </a:rPr>
                        <a:t> live</a:t>
                      </a:r>
                      <a:endParaRPr sz="1600">
                        <a:latin typeface="Palatino Linotype"/>
                        <a:cs typeface="Palatino Linotype"/>
                      </a:endParaRPr>
                    </a:p>
                  </a:txBody>
                  <a:tcPr marL="0" marR="0" marT="3238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nSpc>
                          <a:spcPct val="100000"/>
                        </a:lnSpc>
                      </a:pPr>
                      <a:endParaRPr sz="18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7"/>
                  </a:ext>
                </a:extLst>
              </a:tr>
            </a:tbl>
          </a:graphicData>
        </a:graphic>
      </p:graphicFrame>
      <p:sp>
        <p:nvSpPr>
          <p:cNvPr id="14" name="object 6">
            <a:extLst>
              <a:ext uri="{FF2B5EF4-FFF2-40B4-BE49-F238E27FC236}">
                <a16:creationId xmlns:a16="http://schemas.microsoft.com/office/drawing/2014/main" id="{63B0CDA3-C6D4-FE68-3263-02D443BF9668}"/>
              </a:ext>
            </a:extLst>
          </p:cNvPr>
          <p:cNvSpPr/>
          <p:nvPr/>
        </p:nvSpPr>
        <p:spPr>
          <a:xfrm>
            <a:off x="6292311" y="764861"/>
            <a:ext cx="351790" cy="76200"/>
          </a:xfrm>
          <a:custGeom>
            <a:avLst/>
            <a:gdLst/>
            <a:ahLst/>
            <a:cxnLst/>
            <a:rect l="l" t="t" r="r" b="b"/>
            <a:pathLst>
              <a:path w="351790" h="76200">
                <a:moveTo>
                  <a:pt x="275337" y="0"/>
                </a:moveTo>
                <a:lnTo>
                  <a:pt x="275337" y="76200"/>
                </a:lnTo>
                <a:lnTo>
                  <a:pt x="338839" y="44450"/>
                </a:lnTo>
                <a:lnTo>
                  <a:pt x="288037" y="44450"/>
                </a:lnTo>
                <a:lnTo>
                  <a:pt x="288037" y="31750"/>
                </a:lnTo>
                <a:lnTo>
                  <a:pt x="338835" y="31750"/>
                </a:lnTo>
                <a:lnTo>
                  <a:pt x="275337" y="0"/>
                </a:lnTo>
                <a:close/>
              </a:path>
              <a:path w="351790" h="76200">
                <a:moveTo>
                  <a:pt x="275337" y="31750"/>
                </a:moveTo>
                <a:lnTo>
                  <a:pt x="0" y="31750"/>
                </a:lnTo>
                <a:lnTo>
                  <a:pt x="0" y="44450"/>
                </a:lnTo>
                <a:lnTo>
                  <a:pt x="275337" y="44450"/>
                </a:lnTo>
                <a:lnTo>
                  <a:pt x="275337" y="31750"/>
                </a:lnTo>
                <a:close/>
              </a:path>
              <a:path w="351790" h="76200">
                <a:moveTo>
                  <a:pt x="338835" y="31750"/>
                </a:moveTo>
                <a:lnTo>
                  <a:pt x="288037" y="31750"/>
                </a:lnTo>
                <a:lnTo>
                  <a:pt x="288037" y="44450"/>
                </a:lnTo>
                <a:lnTo>
                  <a:pt x="338839" y="44450"/>
                </a:lnTo>
                <a:lnTo>
                  <a:pt x="351537" y="38101"/>
                </a:lnTo>
                <a:lnTo>
                  <a:pt x="338835" y="31750"/>
                </a:lnTo>
                <a:close/>
              </a:path>
            </a:pathLst>
          </a:custGeom>
          <a:solidFill>
            <a:srgbClr val="FF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Tree>
    <p:extLst>
      <p:ext uri="{BB962C8B-B14F-4D97-AF65-F5344CB8AC3E}">
        <p14:creationId xmlns:p14="http://schemas.microsoft.com/office/powerpoint/2010/main" val="356470161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38</a:t>
            </a:fld>
            <a:endParaRPr lang="en-US"/>
          </a:p>
        </p:txBody>
      </p:sp>
      <p:sp>
        <p:nvSpPr>
          <p:cNvPr id="10" name="object 2">
            <a:extLst>
              <a:ext uri="{FF2B5EF4-FFF2-40B4-BE49-F238E27FC236}">
                <a16:creationId xmlns:a16="http://schemas.microsoft.com/office/drawing/2014/main" id="{42EF54FB-5BF4-0704-D303-517C415BBFF0}"/>
              </a:ext>
            </a:extLst>
          </p:cNvPr>
          <p:cNvSpPr txBox="1">
            <a:spLocks/>
          </p:cNvSpPr>
          <p:nvPr/>
        </p:nvSpPr>
        <p:spPr>
          <a:xfrm>
            <a:off x="707390" y="524763"/>
            <a:ext cx="7729219" cy="63500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4000" b="1" i="0" u="none" strike="noStrike" kern="0" cap="none" spc="0" normalizeH="0" baseline="0" noProof="0">
                <a:ln>
                  <a:noFill/>
                </a:ln>
                <a:solidFill>
                  <a:sysClr val="windowText" lastClr="000000"/>
                </a:solidFill>
                <a:effectLst/>
                <a:uLnTx/>
                <a:uFillTx/>
                <a:latin typeface="Palatino Linotype"/>
                <a:ea typeface="+mj-ea"/>
              </a:rPr>
              <a:t>Running</a:t>
            </a:r>
            <a:r>
              <a:rPr kumimoji="0" lang="en-US" sz="4000" b="1" i="0" u="none" strike="noStrike" kern="0" cap="none" spc="-85" normalizeH="0" baseline="0" noProof="0">
                <a:ln>
                  <a:noFill/>
                </a:ln>
                <a:solidFill>
                  <a:sysClr val="windowText" lastClr="000000"/>
                </a:solidFill>
                <a:effectLst/>
                <a:uLnTx/>
                <a:uFillTx/>
                <a:latin typeface="Palatino Linotype"/>
                <a:ea typeface="+mj-ea"/>
              </a:rPr>
              <a:t> </a:t>
            </a:r>
            <a:r>
              <a:rPr kumimoji="0" lang="en-US" sz="4000" b="1" i="0" u="none" strike="noStrike" kern="0" cap="none" spc="-10" normalizeH="0" baseline="0" noProof="0">
                <a:ln>
                  <a:noFill/>
                </a:ln>
                <a:solidFill>
                  <a:sysClr val="windowText" lastClr="000000"/>
                </a:solidFill>
                <a:effectLst/>
                <a:uLnTx/>
                <a:uFillTx/>
                <a:latin typeface="Palatino Linotype"/>
                <a:ea typeface="+mj-ea"/>
              </a:rPr>
              <a:t>Example</a:t>
            </a:r>
            <a:endParaRPr kumimoji="0" lang="en-US" sz="4000" b="1" i="0" u="none" strike="noStrike" kern="0" cap="none" spc="-10" normalizeH="0" baseline="0" noProof="0" dirty="0">
              <a:ln>
                <a:noFill/>
              </a:ln>
              <a:solidFill>
                <a:sysClr val="windowText" lastClr="000000"/>
              </a:solidFill>
              <a:effectLst/>
              <a:uLnTx/>
              <a:uFillTx/>
              <a:latin typeface="Palatino Linotype"/>
              <a:ea typeface="+mj-ea"/>
            </a:endParaRPr>
          </a:p>
        </p:txBody>
      </p:sp>
      <p:sp>
        <p:nvSpPr>
          <p:cNvPr id="11" name="object 3">
            <a:extLst>
              <a:ext uri="{FF2B5EF4-FFF2-40B4-BE49-F238E27FC236}">
                <a16:creationId xmlns:a16="http://schemas.microsoft.com/office/drawing/2014/main" id="{CC98B18F-47EA-DFB3-E3B8-CB9122F37927}"/>
              </a:ext>
            </a:extLst>
          </p:cNvPr>
          <p:cNvSpPr txBox="1"/>
          <p:nvPr/>
        </p:nvSpPr>
        <p:spPr>
          <a:xfrm>
            <a:off x="707390" y="1836420"/>
            <a:ext cx="6589395" cy="330200"/>
          </a:xfrm>
          <a:prstGeom prst="rect">
            <a:avLst/>
          </a:prstGeom>
        </p:spPr>
        <p:txBody>
          <a:bodyPr vert="horz" wrap="square" lIns="0" tIns="12700" rIns="0" bIns="0" rtlCol="0">
            <a:spAutoFit/>
          </a:bodyPr>
          <a:lstStyle/>
          <a:p>
            <a:pPr marL="242570" indent="-229870">
              <a:spcBef>
                <a:spcPts val="100"/>
              </a:spcBef>
              <a:buClr>
                <a:srgbClr val="000000"/>
              </a:buClr>
              <a:buFont typeface="Arial MT"/>
              <a:buChar char="•"/>
              <a:tabLst>
                <a:tab pos="242570" algn="l"/>
              </a:tabLst>
            </a:pPr>
            <a:r>
              <a:rPr sz="2000" b="1" dirty="0">
                <a:solidFill>
                  <a:srgbClr val="FF0000"/>
                </a:solidFill>
                <a:latin typeface="Palatino Linotype"/>
                <a:cs typeface="Palatino Linotype"/>
              </a:rPr>
              <a:t>Analyzing</a:t>
            </a:r>
            <a:r>
              <a:rPr sz="2000" b="1" spc="-30" dirty="0">
                <a:solidFill>
                  <a:srgbClr val="FF0000"/>
                </a:solidFill>
                <a:latin typeface="Palatino Linotype"/>
                <a:cs typeface="Palatino Linotype"/>
              </a:rPr>
              <a:t> </a:t>
            </a:r>
            <a:r>
              <a:rPr sz="2000" b="1" dirty="0">
                <a:solidFill>
                  <a:srgbClr val="FF0000"/>
                </a:solidFill>
                <a:latin typeface="Palatino Linotype"/>
                <a:cs typeface="Palatino Linotype"/>
              </a:rPr>
              <a:t>line</a:t>
            </a:r>
            <a:r>
              <a:rPr sz="2000" b="1" spc="-30" dirty="0">
                <a:solidFill>
                  <a:srgbClr val="FF0000"/>
                </a:solidFill>
                <a:latin typeface="Palatino Linotype"/>
                <a:cs typeface="Palatino Linotype"/>
              </a:rPr>
              <a:t> </a:t>
            </a:r>
            <a:r>
              <a:rPr sz="2000" b="1" dirty="0">
                <a:solidFill>
                  <a:srgbClr val="FF0000"/>
                </a:solidFill>
                <a:latin typeface="Palatino Linotype"/>
                <a:cs typeface="Palatino Linotype"/>
              </a:rPr>
              <a:t>4):</a:t>
            </a:r>
            <a:r>
              <a:rPr sz="2000" b="1" spc="-25" dirty="0">
                <a:solidFill>
                  <a:srgbClr val="FF0000"/>
                </a:solidFill>
                <a:latin typeface="Palatino Linotype"/>
                <a:cs typeface="Palatino Linotype"/>
              </a:rPr>
              <a:t> </a:t>
            </a:r>
            <a:r>
              <a:rPr sz="2000" dirty="0">
                <a:solidFill>
                  <a:sysClr val="windowText" lastClr="000000"/>
                </a:solidFill>
                <a:latin typeface="Palatino Linotype"/>
                <a:cs typeface="Palatino Linotype"/>
              </a:rPr>
              <a:t>attach</a:t>
            </a:r>
            <a:r>
              <a:rPr sz="2000" spc="-3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the</a:t>
            </a:r>
            <a:r>
              <a:rPr sz="2000" spc="-3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following</a:t>
            </a:r>
            <a:r>
              <a:rPr sz="2000" spc="-2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information</a:t>
            </a:r>
            <a:r>
              <a:rPr sz="2000" spc="-3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to</a:t>
            </a:r>
            <a:r>
              <a:rPr sz="2000" spc="-30" dirty="0">
                <a:solidFill>
                  <a:sysClr val="windowText" lastClr="000000"/>
                </a:solidFill>
                <a:latin typeface="Palatino Linotype"/>
                <a:cs typeface="Palatino Linotype"/>
              </a:rPr>
              <a:t> </a:t>
            </a:r>
            <a:r>
              <a:rPr sz="2000" spc="-25" dirty="0">
                <a:solidFill>
                  <a:sysClr val="windowText" lastClr="000000"/>
                </a:solidFill>
                <a:latin typeface="Palatino Linotype"/>
                <a:cs typeface="Palatino Linotype"/>
              </a:rPr>
              <a:t>4)</a:t>
            </a:r>
            <a:endParaRPr sz="2000">
              <a:solidFill>
                <a:sysClr val="windowText" lastClr="000000"/>
              </a:solidFill>
              <a:latin typeface="Palatino Linotype"/>
              <a:cs typeface="Palatino Linotype"/>
            </a:endParaRPr>
          </a:p>
        </p:txBody>
      </p:sp>
      <p:pic>
        <p:nvPicPr>
          <p:cNvPr id="12" name="object 4">
            <a:extLst>
              <a:ext uri="{FF2B5EF4-FFF2-40B4-BE49-F238E27FC236}">
                <a16:creationId xmlns:a16="http://schemas.microsoft.com/office/drawing/2014/main" id="{4D33F6EB-8C60-3E9E-DF82-F938735E8BB8}"/>
              </a:ext>
            </a:extLst>
          </p:cNvPr>
          <p:cNvPicPr/>
          <p:nvPr/>
        </p:nvPicPr>
        <p:blipFill>
          <a:blip r:embed="rId3" cstate="print"/>
          <a:stretch>
            <a:fillRect/>
          </a:stretch>
        </p:blipFill>
        <p:spPr>
          <a:xfrm>
            <a:off x="6740925" y="313327"/>
            <a:ext cx="1387753" cy="1183468"/>
          </a:xfrm>
          <a:prstGeom prst="rect">
            <a:avLst/>
          </a:prstGeom>
        </p:spPr>
      </p:pic>
      <p:graphicFrame>
        <p:nvGraphicFramePr>
          <p:cNvPr id="13" name="object 5">
            <a:extLst>
              <a:ext uri="{FF2B5EF4-FFF2-40B4-BE49-F238E27FC236}">
                <a16:creationId xmlns:a16="http://schemas.microsoft.com/office/drawing/2014/main" id="{60C48D63-8471-3890-CDD2-9D64CE4B2543}"/>
              </a:ext>
            </a:extLst>
          </p:cNvPr>
          <p:cNvGraphicFramePr>
            <a:graphicFrameLocks noGrp="1"/>
          </p:cNvGraphicFramePr>
          <p:nvPr/>
        </p:nvGraphicFramePr>
        <p:xfrm>
          <a:off x="1517650" y="2556765"/>
          <a:ext cx="6096000" cy="1483360"/>
        </p:xfrm>
        <a:graphic>
          <a:graphicData uri="http://schemas.openxmlformats.org/drawingml/2006/table">
            <a:tbl>
              <a:tblPr firstRow="1" bandRow="1"/>
              <a:tblGrid>
                <a:gridCol w="2032000">
                  <a:extLst>
                    <a:ext uri="{9D8B030D-6E8A-4147-A177-3AD203B41FA5}">
                      <a16:colId xmlns:a16="http://schemas.microsoft.com/office/drawing/2014/main" val="20000"/>
                    </a:ext>
                  </a:extLst>
                </a:gridCol>
                <a:gridCol w="2032000">
                  <a:extLst>
                    <a:ext uri="{9D8B030D-6E8A-4147-A177-3AD203B41FA5}">
                      <a16:colId xmlns:a16="http://schemas.microsoft.com/office/drawing/2014/main" val="20001"/>
                    </a:ext>
                  </a:extLst>
                </a:gridCol>
                <a:gridCol w="2032000">
                  <a:extLst>
                    <a:ext uri="{9D8B030D-6E8A-4147-A177-3AD203B41FA5}">
                      <a16:colId xmlns:a16="http://schemas.microsoft.com/office/drawing/2014/main" val="20002"/>
                    </a:ext>
                  </a:extLst>
                </a:gridCol>
              </a:tblGrid>
              <a:tr h="370840">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gn="ctr">
                        <a:lnSpc>
                          <a:spcPct val="100000"/>
                        </a:lnSpc>
                        <a:spcBef>
                          <a:spcPts val="250"/>
                        </a:spcBef>
                      </a:pPr>
                      <a:r>
                        <a:rPr sz="1600" b="1" spc="-20" dirty="0">
                          <a:latin typeface="Palatino Linotype"/>
                          <a:cs typeface="Palatino Linotype"/>
                        </a:rPr>
                        <a:t>Name</a:t>
                      </a:r>
                      <a:endParaRPr sz="1600">
                        <a:latin typeface="Palatino Linotype"/>
                        <a:cs typeface="Palatino Linotype"/>
                      </a:endParaRPr>
                    </a:p>
                  </a:txBody>
                  <a:tcPr marL="0" marR="0" marT="317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gn="ctr">
                        <a:lnSpc>
                          <a:spcPct val="100000"/>
                        </a:lnSpc>
                        <a:spcBef>
                          <a:spcPts val="250"/>
                        </a:spcBef>
                      </a:pPr>
                      <a:r>
                        <a:rPr sz="1600" b="1" spc="-10" dirty="0">
                          <a:latin typeface="Palatino Linotype"/>
                          <a:cs typeface="Palatino Linotype"/>
                        </a:rPr>
                        <a:t>Liveness</a:t>
                      </a:r>
                      <a:endParaRPr sz="1600">
                        <a:latin typeface="Palatino Linotype"/>
                        <a:cs typeface="Palatino Linotype"/>
                      </a:endParaRPr>
                    </a:p>
                  </a:txBody>
                  <a:tcPr marL="0" marR="0" marT="317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gn="ctr">
                        <a:lnSpc>
                          <a:spcPct val="100000"/>
                        </a:lnSpc>
                        <a:spcBef>
                          <a:spcPts val="250"/>
                        </a:spcBef>
                      </a:pPr>
                      <a:r>
                        <a:rPr sz="1600" b="1" spc="-10" dirty="0">
                          <a:latin typeface="Palatino Linotype"/>
                          <a:cs typeface="Palatino Linotype"/>
                        </a:rPr>
                        <a:t>Next-</a:t>
                      </a:r>
                      <a:r>
                        <a:rPr sz="1600" b="1" spc="-25" dirty="0">
                          <a:latin typeface="Palatino Linotype"/>
                          <a:cs typeface="Palatino Linotype"/>
                        </a:rPr>
                        <a:t>use</a:t>
                      </a:r>
                      <a:endParaRPr sz="1600">
                        <a:latin typeface="Palatino Linotype"/>
                        <a:cs typeface="Palatino Linotype"/>
                      </a:endParaRPr>
                    </a:p>
                  </a:txBody>
                  <a:tcPr marL="0" marR="0" marT="317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370840">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marR="46355" algn="ctr">
                        <a:lnSpc>
                          <a:spcPct val="100000"/>
                        </a:lnSpc>
                        <a:spcBef>
                          <a:spcPts val="254"/>
                        </a:spcBef>
                      </a:pPr>
                      <a:r>
                        <a:rPr sz="1600" spc="-50" dirty="0">
                          <a:latin typeface="Cambria Math"/>
                          <a:cs typeface="Cambria Math"/>
                        </a:rPr>
                        <a:t>𝑗</a:t>
                      </a:r>
                      <a:endParaRPr sz="1600">
                        <a:latin typeface="Cambria Math"/>
                        <a:cs typeface="Cambria Math"/>
                      </a:endParaRPr>
                    </a:p>
                  </a:txBody>
                  <a:tcPr marL="0" marR="0" marT="3238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gn="ctr">
                        <a:lnSpc>
                          <a:spcPct val="100000"/>
                        </a:lnSpc>
                        <a:spcBef>
                          <a:spcPts val="254"/>
                        </a:spcBef>
                      </a:pPr>
                      <a:r>
                        <a:rPr sz="1600" spc="-20" dirty="0">
                          <a:latin typeface="Palatino Linotype"/>
                          <a:cs typeface="Palatino Linotype"/>
                        </a:rPr>
                        <a:t>Live</a:t>
                      </a:r>
                      <a:endParaRPr sz="1600">
                        <a:latin typeface="Palatino Linotype"/>
                        <a:cs typeface="Palatino Linotype"/>
                      </a:endParaRPr>
                    </a:p>
                  </a:txBody>
                  <a:tcPr marL="0" marR="0" marT="3238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gn="ctr">
                        <a:lnSpc>
                          <a:spcPct val="100000"/>
                        </a:lnSpc>
                        <a:spcBef>
                          <a:spcPts val="254"/>
                        </a:spcBef>
                      </a:pPr>
                      <a:r>
                        <a:rPr sz="1600" spc="-50" dirty="0">
                          <a:latin typeface="Palatino Linotype"/>
                          <a:cs typeface="Palatino Linotype"/>
                        </a:rPr>
                        <a:t>8</a:t>
                      </a:r>
                      <a:endParaRPr sz="1600">
                        <a:latin typeface="Palatino Linotype"/>
                        <a:cs typeface="Palatino Linotype"/>
                      </a:endParaRPr>
                    </a:p>
                  </a:txBody>
                  <a:tcPr marL="0" marR="0" marT="3238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370840">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marR="42545" algn="ctr">
                        <a:lnSpc>
                          <a:spcPct val="100000"/>
                        </a:lnSpc>
                        <a:spcBef>
                          <a:spcPts val="265"/>
                        </a:spcBef>
                      </a:pPr>
                      <a:r>
                        <a:rPr sz="1600" spc="-25" dirty="0">
                          <a:latin typeface="Cambria Math"/>
                          <a:cs typeface="Cambria Math"/>
                        </a:rPr>
                        <a:t>𝑡1</a:t>
                      </a:r>
                      <a:endParaRPr sz="1600">
                        <a:latin typeface="Cambria Math"/>
                        <a:cs typeface="Cambria Math"/>
                      </a:endParaRPr>
                    </a:p>
                  </a:txBody>
                  <a:tcPr marL="0" marR="0" marT="3365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gn="ctr">
                        <a:lnSpc>
                          <a:spcPct val="100000"/>
                        </a:lnSpc>
                        <a:spcBef>
                          <a:spcPts val="265"/>
                        </a:spcBef>
                      </a:pPr>
                      <a:r>
                        <a:rPr sz="1600" dirty="0">
                          <a:latin typeface="Palatino Linotype"/>
                          <a:cs typeface="Palatino Linotype"/>
                        </a:rPr>
                        <a:t>Not</a:t>
                      </a:r>
                      <a:r>
                        <a:rPr sz="1600" spc="-20" dirty="0">
                          <a:latin typeface="Palatino Linotype"/>
                          <a:cs typeface="Palatino Linotype"/>
                        </a:rPr>
                        <a:t> live</a:t>
                      </a:r>
                      <a:endParaRPr sz="1600">
                        <a:latin typeface="Palatino Linotype"/>
                        <a:cs typeface="Palatino Linotype"/>
                      </a:endParaRPr>
                    </a:p>
                  </a:txBody>
                  <a:tcPr marL="0" marR="0" marT="3365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nSpc>
                          <a:spcPct val="100000"/>
                        </a:lnSpc>
                      </a:pPr>
                      <a:endParaRPr sz="18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370840">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marR="42545" algn="ctr">
                        <a:lnSpc>
                          <a:spcPct val="100000"/>
                        </a:lnSpc>
                        <a:spcBef>
                          <a:spcPts val="250"/>
                        </a:spcBef>
                      </a:pPr>
                      <a:r>
                        <a:rPr sz="1600" spc="-25" dirty="0">
                          <a:latin typeface="Cambria Math"/>
                          <a:cs typeface="Cambria Math"/>
                        </a:rPr>
                        <a:t>𝑡2</a:t>
                      </a:r>
                      <a:endParaRPr sz="1600">
                        <a:latin typeface="Cambria Math"/>
                        <a:cs typeface="Cambria Math"/>
                      </a:endParaRPr>
                    </a:p>
                  </a:txBody>
                  <a:tcPr marL="0" marR="0" marT="317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gn="ctr">
                        <a:lnSpc>
                          <a:spcPct val="100000"/>
                        </a:lnSpc>
                        <a:spcBef>
                          <a:spcPts val="250"/>
                        </a:spcBef>
                      </a:pPr>
                      <a:r>
                        <a:rPr sz="1600" spc="-20" dirty="0">
                          <a:latin typeface="Palatino Linotype"/>
                          <a:cs typeface="Palatino Linotype"/>
                        </a:rPr>
                        <a:t>Live</a:t>
                      </a:r>
                      <a:endParaRPr sz="1600">
                        <a:latin typeface="Palatino Linotype"/>
                        <a:cs typeface="Palatino Linotype"/>
                      </a:endParaRPr>
                    </a:p>
                  </a:txBody>
                  <a:tcPr marL="0" marR="0" marT="317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gn="ctr">
                        <a:lnSpc>
                          <a:spcPct val="100000"/>
                        </a:lnSpc>
                        <a:spcBef>
                          <a:spcPts val="250"/>
                        </a:spcBef>
                      </a:pPr>
                      <a:r>
                        <a:rPr sz="1600" spc="-50" dirty="0">
                          <a:latin typeface="Palatino Linotype"/>
                          <a:cs typeface="Palatino Linotype"/>
                        </a:rPr>
                        <a:t>5</a:t>
                      </a:r>
                      <a:endParaRPr sz="1600">
                        <a:latin typeface="Palatino Linotype"/>
                        <a:cs typeface="Palatino Linotype"/>
                      </a:endParaRPr>
                    </a:p>
                  </a:txBody>
                  <a:tcPr marL="0" marR="0" marT="317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bl>
          </a:graphicData>
        </a:graphic>
      </p:graphicFrame>
      <p:sp>
        <p:nvSpPr>
          <p:cNvPr id="14" name="object 6">
            <a:extLst>
              <a:ext uri="{FF2B5EF4-FFF2-40B4-BE49-F238E27FC236}">
                <a16:creationId xmlns:a16="http://schemas.microsoft.com/office/drawing/2014/main" id="{108B5981-F614-EE5C-CB2A-5E016040EB4C}"/>
              </a:ext>
            </a:extLst>
          </p:cNvPr>
          <p:cNvSpPr/>
          <p:nvPr/>
        </p:nvSpPr>
        <p:spPr>
          <a:xfrm>
            <a:off x="6292311" y="563385"/>
            <a:ext cx="351790" cy="76200"/>
          </a:xfrm>
          <a:custGeom>
            <a:avLst/>
            <a:gdLst/>
            <a:ahLst/>
            <a:cxnLst/>
            <a:rect l="l" t="t" r="r" b="b"/>
            <a:pathLst>
              <a:path w="351790" h="76200">
                <a:moveTo>
                  <a:pt x="275337" y="44449"/>
                </a:moveTo>
                <a:lnTo>
                  <a:pt x="275337" y="76200"/>
                </a:lnTo>
                <a:lnTo>
                  <a:pt x="338837" y="44450"/>
                </a:lnTo>
                <a:lnTo>
                  <a:pt x="275337" y="44449"/>
                </a:lnTo>
                <a:close/>
              </a:path>
              <a:path w="351790" h="76200">
                <a:moveTo>
                  <a:pt x="275337" y="31749"/>
                </a:moveTo>
                <a:lnTo>
                  <a:pt x="275337" y="44449"/>
                </a:lnTo>
                <a:lnTo>
                  <a:pt x="288037" y="44450"/>
                </a:lnTo>
                <a:lnTo>
                  <a:pt x="288037" y="31750"/>
                </a:lnTo>
                <a:lnTo>
                  <a:pt x="275337" y="31749"/>
                </a:lnTo>
                <a:close/>
              </a:path>
              <a:path w="351790" h="76200">
                <a:moveTo>
                  <a:pt x="275337" y="0"/>
                </a:moveTo>
                <a:lnTo>
                  <a:pt x="275337" y="31749"/>
                </a:lnTo>
                <a:lnTo>
                  <a:pt x="288037" y="31750"/>
                </a:lnTo>
                <a:lnTo>
                  <a:pt x="288037" y="44450"/>
                </a:lnTo>
                <a:lnTo>
                  <a:pt x="338839" y="44448"/>
                </a:lnTo>
                <a:lnTo>
                  <a:pt x="351537" y="38100"/>
                </a:lnTo>
                <a:lnTo>
                  <a:pt x="275337" y="0"/>
                </a:lnTo>
                <a:close/>
              </a:path>
              <a:path w="351790" h="76200">
                <a:moveTo>
                  <a:pt x="0" y="31748"/>
                </a:moveTo>
                <a:lnTo>
                  <a:pt x="0" y="44448"/>
                </a:lnTo>
                <a:lnTo>
                  <a:pt x="275337" y="44449"/>
                </a:lnTo>
                <a:lnTo>
                  <a:pt x="275337" y="31749"/>
                </a:lnTo>
                <a:lnTo>
                  <a:pt x="0" y="31748"/>
                </a:lnTo>
                <a:close/>
              </a:path>
            </a:pathLst>
          </a:custGeom>
          <a:solidFill>
            <a:srgbClr val="FF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Tree>
    <p:extLst>
      <p:ext uri="{BB962C8B-B14F-4D97-AF65-F5344CB8AC3E}">
        <p14:creationId xmlns:p14="http://schemas.microsoft.com/office/powerpoint/2010/main" val="22819274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39</a:t>
            </a:fld>
            <a:endParaRPr lang="en-US"/>
          </a:p>
        </p:txBody>
      </p:sp>
      <p:sp>
        <p:nvSpPr>
          <p:cNvPr id="10" name="object 2">
            <a:extLst>
              <a:ext uri="{FF2B5EF4-FFF2-40B4-BE49-F238E27FC236}">
                <a16:creationId xmlns:a16="http://schemas.microsoft.com/office/drawing/2014/main" id="{3193C60B-31D3-96F2-9C62-3147C4A601D6}"/>
              </a:ext>
            </a:extLst>
          </p:cNvPr>
          <p:cNvSpPr txBox="1">
            <a:spLocks/>
          </p:cNvSpPr>
          <p:nvPr/>
        </p:nvSpPr>
        <p:spPr>
          <a:xfrm>
            <a:off x="707390" y="524763"/>
            <a:ext cx="7729219" cy="63500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4000" b="1" i="0" u="none" strike="noStrike" kern="0" cap="none" spc="0" normalizeH="0" baseline="0" noProof="0">
                <a:ln>
                  <a:noFill/>
                </a:ln>
                <a:solidFill>
                  <a:sysClr val="windowText" lastClr="000000"/>
                </a:solidFill>
                <a:effectLst/>
                <a:uLnTx/>
                <a:uFillTx/>
                <a:latin typeface="Palatino Linotype"/>
                <a:ea typeface="+mj-ea"/>
              </a:rPr>
              <a:t>Running</a:t>
            </a:r>
            <a:r>
              <a:rPr kumimoji="0" lang="en-US" sz="4000" b="1" i="0" u="none" strike="noStrike" kern="0" cap="none" spc="-85" normalizeH="0" baseline="0" noProof="0">
                <a:ln>
                  <a:noFill/>
                </a:ln>
                <a:solidFill>
                  <a:sysClr val="windowText" lastClr="000000"/>
                </a:solidFill>
                <a:effectLst/>
                <a:uLnTx/>
                <a:uFillTx/>
                <a:latin typeface="Palatino Linotype"/>
                <a:ea typeface="+mj-ea"/>
              </a:rPr>
              <a:t> </a:t>
            </a:r>
            <a:r>
              <a:rPr kumimoji="0" lang="en-US" sz="4000" b="1" i="0" u="none" strike="noStrike" kern="0" cap="none" spc="-10" normalizeH="0" baseline="0" noProof="0">
                <a:ln>
                  <a:noFill/>
                </a:ln>
                <a:solidFill>
                  <a:sysClr val="windowText" lastClr="000000"/>
                </a:solidFill>
                <a:effectLst/>
                <a:uLnTx/>
                <a:uFillTx/>
                <a:latin typeface="Palatino Linotype"/>
                <a:ea typeface="+mj-ea"/>
              </a:rPr>
              <a:t>Example</a:t>
            </a:r>
            <a:endParaRPr kumimoji="0" lang="en-US" sz="4000" b="1" i="0" u="none" strike="noStrike" kern="0" cap="none" spc="-10" normalizeH="0" baseline="0" noProof="0" dirty="0">
              <a:ln>
                <a:noFill/>
              </a:ln>
              <a:solidFill>
                <a:sysClr val="windowText" lastClr="000000"/>
              </a:solidFill>
              <a:effectLst/>
              <a:uLnTx/>
              <a:uFillTx/>
              <a:latin typeface="Palatino Linotype"/>
              <a:ea typeface="+mj-ea"/>
            </a:endParaRPr>
          </a:p>
        </p:txBody>
      </p:sp>
      <p:sp>
        <p:nvSpPr>
          <p:cNvPr id="11" name="object 3">
            <a:extLst>
              <a:ext uri="{FF2B5EF4-FFF2-40B4-BE49-F238E27FC236}">
                <a16:creationId xmlns:a16="http://schemas.microsoft.com/office/drawing/2014/main" id="{EDDDA5C9-251A-1F90-EFB0-59605497920A}"/>
              </a:ext>
            </a:extLst>
          </p:cNvPr>
          <p:cNvSpPr txBox="1"/>
          <p:nvPr/>
        </p:nvSpPr>
        <p:spPr>
          <a:xfrm>
            <a:off x="707390" y="1836420"/>
            <a:ext cx="4678680" cy="330200"/>
          </a:xfrm>
          <a:prstGeom prst="rect">
            <a:avLst/>
          </a:prstGeom>
        </p:spPr>
        <p:txBody>
          <a:bodyPr vert="horz" wrap="square" lIns="0" tIns="12700" rIns="0" bIns="0" rtlCol="0">
            <a:spAutoFit/>
          </a:bodyPr>
          <a:lstStyle/>
          <a:p>
            <a:pPr marL="242570" indent="-229870">
              <a:spcBef>
                <a:spcPts val="100"/>
              </a:spcBef>
              <a:buClr>
                <a:srgbClr val="000000"/>
              </a:buClr>
              <a:buFont typeface="Arial MT"/>
              <a:buChar char="•"/>
              <a:tabLst>
                <a:tab pos="242570" algn="l"/>
              </a:tabLst>
            </a:pPr>
            <a:r>
              <a:rPr sz="2000" b="1" dirty="0">
                <a:solidFill>
                  <a:srgbClr val="FF0000"/>
                </a:solidFill>
                <a:latin typeface="Palatino Linotype"/>
                <a:cs typeface="Palatino Linotype"/>
              </a:rPr>
              <a:t>Analyzing</a:t>
            </a:r>
            <a:r>
              <a:rPr sz="2000" b="1" spc="-40" dirty="0">
                <a:solidFill>
                  <a:srgbClr val="FF0000"/>
                </a:solidFill>
                <a:latin typeface="Palatino Linotype"/>
                <a:cs typeface="Palatino Linotype"/>
              </a:rPr>
              <a:t> </a:t>
            </a:r>
            <a:r>
              <a:rPr sz="2000" b="1" dirty="0">
                <a:solidFill>
                  <a:srgbClr val="FF0000"/>
                </a:solidFill>
                <a:latin typeface="Palatino Linotype"/>
                <a:cs typeface="Palatino Linotype"/>
              </a:rPr>
              <a:t>line</a:t>
            </a:r>
            <a:r>
              <a:rPr sz="2000" b="1" spc="-35" dirty="0">
                <a:solidFill>
                  <a:srgbClr val="FF0000"/>
                </a:solidFill>
                <a:latin typeface="Palatino Linotype"/>
                <a:cs typeface="Palatino Linotype"/>
              </a:rPr>
              <a:t> </a:t>
            </a:r>
            <a:r>
              <a:rPr sz="2000" b="1" dirty="0">
                <a:solidFill>
                  <a:srgbClr val="FF0000"/>
                </a:solidFill>
                <a:latin typeface="Palatino Linotype"/>
                <a:cs typeface="Palatino Linotype"/>
              </a:rPr>
              <a:t>4):</a:t>
            </a:r>
            <a:r>
              <a:rPr sz="2000" b="1" spc="-35" dirty="0">
                <a:solidFill>
                  <a:srgbClr val="FF0000"/>
                </a:solidFill>
                <a:latin typeface="Palatino Linotype"/>
                <a:cs typeface="Palatino Linotype"/>
              </a:rPr>
              <a:t> </a:t>
            </a:r>
            <a:r>
              <a:rPr sz="2000" dirty="0">
                <a:solidFill>
                  <a:sysClr val="windowText" lastClr="000000"/>
                </a:solidFill>
                <a:latin typeface="Palatino Linotype"/>
                <a:cs typeface="Palatino Linotype"/>
              </a:rPr>
              <a:t>update</a:t>
            </a:r>
            <a:r>
              <a:rPr sz="2000" spc="-4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symbol</a:t>
            </a:r>
            <a:r>
              <a:rPr sz="2000" spc="-30" dirty="0">
                <a:solidFill>
                  <a:sysClr val="windowText" lastClr="000000"/>
                </a:solidFill>
                <a:latin typeface="Palatino Linotype"/>
                <a:cs typeface="Palatino Linotype"/>
              </a:rPr>
              <a:t> </a:t>
            </a:r>
            <a:r>
              <a:rPr sz="2000" spc="-10" dirty="0">
                <a:solidFill>
                  <a:sysClr val="windowText" lastClr="000000"/>
                </a:solidFill>
                <a:latin typeface="Palatino Linotype"/>
                <a:cs typeface="Palatino Linotype"/>
              </a:rPr>
              <a:t>table</a:t>
            </a:r>
            <a:endParaRPr sz="2000">
              <a:solidFill>
                <a:sysClr val="windowText" lastClr="000000"/>
              </a:solidFill>
              <a:latin typeface="Palatino Linotype"/>
              <a:cs typeface="Palatino Linotype"/>
            </a:endParaRPr>
          </a:p>
        </p:txBody>
      </p:sp>
      <p:pic>
        <p:nvPicPr>
          <p:cNvPr id="12" name="object 4">
            <a:extLst>
              <a:ext uri="{FF2B5EF4-FFF2-40B4-BE49-F238E27FC236}">
                <a16:creationId xmlns:a16="http://schemas.microsoft.com/office/drawing/2014/main" id="{A393848C-C610-59A6-8C0A-6B100F5DDACF}"/>
              </a:ext>
            </a:extLst>
          </p:cNvPr>
          <p:cNvPicPr/>
          <p:nvPr/>
        </p:nvPicPr>
        <p:blipFill>
          <a:blip r:embed="rId3" cstate="print"/>
          <a:stretch>
            <a:fillRect/>
          </a:stretch>
        </p:blipFill>
        <p:spPr>
          <a:xfrm>
            <a:off x="6740925" y="313327"/>
            <a:ext cx="1387753" cy="1183468"/>
          </a:xfrm>
          <a:prstGeom prst="rect">
            <a:avLst/>
          </a:prstGeom>
        </p:spPr>
      </p:pic>
      <p:graphicFrame>
        <p:nvGraphicFramePr>
          <p:cNvPr id="13" name="object 5">
            <a:extLst>
              <a:ext uri="{FF2B5EF4-FFF2-40B4-BE49-F238E27FC236}">
                <a16:creationId xmlns:a16="http://schemas.microsoft.com/office/drawing/2014/main" id="{587A2347-EBC6-8DF6-096A-641C5ACD9D61}"/>
              </a:ext>
            </a:extLst>
          </p:cNvPr>
          <p:cNvGraphicFramePr>
            <a:graphicFrameLocks noGrp="1"/>
          </p:cNvGraphicFramePr>
          <p:nvPr/>
        </p:nvGraphicFramePr>
        <p:xfrm>
          <a:off x="1517650" y="2556765"/>
          <a:ext cx="6096000" cy="2966720"/>
        </p:xfrm>
        <a:graphic>
          <a:graphicData uri="http://schemas.openxmlformats.org/drawingml/2006/table">
            <a:tbl>
              <a:tblPr firstRow="1" bandRow="1"/>
              <a:tblGrid>
                <a:gridCol w="2032000">
                  <a:extLst>
                    <a:ext uri="{9D8B030D-6E8A-4147-A177-3AD203B41FA5}">
                      <a16:colId xmlns:a16="http://schemas.microsoft.com/office/drawing/2014/main" val="20000"/>
                    </a:ext>
                  </a:extLst>
                </a:gridCol>
                <a:gridCol w="2032000">
                  <a:extLst>
                    <a:ext uri="{9D8B030D-6E8A-4147-A177-3AD203B41FA5}">
                      <a16:colId xmlns:a16="http://schemas.microsoft.com/office/drawing/2014/main" val="20001"/>
                    </a:ext>
                  </a:extLst>
                </a:gridCol>
                <a:gridCol w="2032000">
                  <a:extLst>
                    <a:ext uri="{9D8B030D-6E8A-4147-A177-3AD203B41FA5}">
                      <a16:colId xmlns:a16="http://schemas.microsoft.com/office/drawing/2014/main" val="20002"/>
                    </a:ext>
                  </a:extLst>
                </a:gridCol>
              </a:tblGrid>
              <a:tr h="370840">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gn="ctr">
                        <a:lnSpc>
                          <a:spcPct val="100000"/>
                        </a:lnSpc>
                        <a:spcBef>
                          <a:spcPts val="250"/>
                        </a:spcBef>
                      </a:pPr>
                      <a:r>
                        <a:rPr sz="1600" b="1" spc="-20" dirty="0">
                          <a:latin typeface="Palatino Linotype"/>
                          <a:cs typeface="Palatino Linotype"/>
                        </a:rPr>
                        <a:t>Name</a:t>
                      </a:r>
                      <a:endParaRPr sz="1600">
                        <a:latin typeface="Palatino Linotype"/>
                        <a:cs typeface="Palatino Linotype"/>
                      </a:endParaRPr>
                    </a:p>
                  </a:txBody>
                  <a:tcPr marL="0" marR="0" marT="317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gn="ctr">
                        <a:lnSpc>
                          <a:spcPct val="100000"/>
                        </a:lnSpc>
                        <a:spcBef>
                          <a:spcPts val="250"/>
                        </a:spcBef>
                      </a:pPr>
                      <a:r>
                        <a:rPr sz="1600" b="1" spc="-10" dirty="0">
                          <a:latin typeface="Palatino Linotype"/>
                          <a:cs typeface="Palatino Linotype"/>
                        </a:rPr>
                        <a:t>Liveness</a:t>
                      </a:r>
                      <a:endParaRPr sz="1600">
                        <a:latin typeface="Palatino Linotype"/>
                        <a:cs typeface="Palatino Linotype"/>
                      </a:endParaRPr>
                    </a:p>
                  </a:txBody>
                  <a:tcPr marL="0" marR="0" marT="317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gn="ctr">
                        <a:lnSpc>
                          <a:spcPct val="100000"/>
                        </a:lnSpc>
                        <a:spcBef>
                          <a:spcPts val="250"/>
                        </a:spcBef>
                      </a:pPr>
                      <a:r>
                        <a:rPr sz="1600" b="1" spc="-10" dirty="0">
                          <a:latin typeface="Palatino Linotype"/>
                          <a:cs typeface="Palatino Linotype"/>
                        </a:rPr>
                        <a:t>Next-</a:t>
                      </a:r>
                      <a:r>
                        <a:rPr sz="1600" b="1" spc="-25" dirty="0">
                          <a:latin typeface="Palatino Linotype"/>
                          <a:cs typeface="Palatino Linotype"/>
                        </a:rPr>
                        <a:t>use</a:t>
                      </a:r>
                      <a:endParaRPr sz="1600">
                        <a:latin typeface="Palatino Linotype"/>
                        <a:cs typeface="Palatino Linotype"/>
                      </a:endParaRPr>
                    </a:p>
                  </a:txBody>
                  <a:tcPr marL="0" marR="0" marT="317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370840">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marR="50165" algn="ctr">
                        <a:lnSpc>
                          <a:spcPct val="100000"/>
                        </a:lnSpc>
                        <a:spcBef>
                          <a:spcPts val="254"/>
                        </a:spcBef>
                      </a:pPr>
                      <a:r>
                        <a:rPr sz="1600" spc="-50" dirty="0">
                          <a:latin typeface="Cambria Math"/>
                          <a:cs typeface="Cambria Math"/>
                        </a:rPr>
                        <a:t>𝑖</a:t>
                      </a:r>
                      <a:endParaRPr sz="1600">
                        <a:latin typeface="Cambria Math"/>
                        <a:cs typeface="Cambria Math"/>
                      </a:endParaRPr>
                    </a:p>
                  </a:txBody>
                  <a:tcPr marL="0" marR="0" marT="3238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gn="ctr">
                        <a:lnSpc>
                          <a:spcPct val="100000"/>
                        </a:lnSpc>
                        <a:spcBef>
                          <a:spcPts val="254"/>
                        </a:spcBef>
                      </a:pPr>
                      <a:r>
                        <a:rPr sz="1600" spc="-20" dirty="0">
                          <a:latin typeface="Palatino Linotype"/>
                          <a:cs typeface="Palatino Linotype"/>
                        </a:rPr>
                        <a:t>Live</a:t>
                      </a:r>
                      <a:endParaRPr sz="1600">
                        <a:latin typeface="Palatino Linotype"/>
                        <a:cs typeface="Palatino Linotype"/>
                      </a:endParaRPr>
                    </a:p>
                  </a:txBody>
                  <a:tcPr marL="0" marR="0" marT="3238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nSpc>
                          <a:spcPct val="100000"/>
                        </a:lnSpc>
                      </a:pPr>
                      <a:endParaRPr sz="18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370840">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marR="46355" algn="ctr">
                        <a:lnSpc>
                          <a:spcPct val="100000"/>
                        </a:lnSpc>
                        <a:spcBef>
                          <a:spcPts val="265"/>
                        </a:spcBef>
                      </a:pPr>
                      <a:r>
                        <a:rPr sz="1600" spc="-50" dirty="0">
                          <a:solidFill>
                            <a:srgbClr val="FF0000"/>
                          </a:solidFill>
                          <a:latin typeface="Cambria Math"/>
                          <a:cs typeface="Cambria Math"/>
                        </a:rPr>
                        <a:t>𝑗</a:t>
                      </a:r>
                      <a:endParaRPr sz="1600">
                        <a:latin typeface="Cambria Math"/>
                        <a:cs typeface="Cambria Math"/>
                      </a:endParaRPr>
                    </a:p>
                  </a:txBody>
                  <a:tcPr marL="0" marR="0" marT="3365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gn="ctr">
                        <a:lnSpc>
                          <a:spcPct val="100000"/>
                        </a:lnSpc>
                        <a:spcBef>
                          <a:spcPts val="265"/>
                        </a:spcBef>
                      </a:pPr>
                      <a:r>
                        <a:rPr sz="1600" spc="-20" dirty="0">
                          <a:solidFill>
                            <a:srgbClr val="FF0000"/>
                          </a:solidFill>
                          <a:latin typeface="Palatino Linotype"/>
                          <a:cs typeface="Palatino Linotype"/>
                        </a:rPr>
                        <a:t>Live</a:t>
                      </a:r>
                      <a:endParaRPr sz="1600">
                        <a:latin typeface="Palatino Linotype"/>
                        <a:cs typeface="Palatino Linotype"/>
                      </a:endParaRPr>
                    </a:p>
                  </a:txBody>
                  <a:tcPr marL="0" marR="0" marT="3365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gn="ctr">
                        <a:lnSpc>
                          <a:spcPct val="100000"/>
                        </a:lnSpc>
                        <a:spcBef>
                          <a:spcPts val="265"/>
                        </a:spcBef>
                      </a:pPr>
                      <a:r>
                        <a:rPr sz="1600" spc="-50" dirty="0">
                          <a:solidFill>
                            <a:srgbClr val="FF0000"/>
                          </a:solidFill>
                          <a:latin typeface="Palatino Linotype"/>
                          <a:cs typeface="Palatino Linotype"/>
                        </a:rPr>
                        <a:t>4</a:t>
                      </a:r>
                      <a:endParaRPr sz="1600">
                        <a:latin typeface="Palatino Linotype"/>
                        <a:cs typeface="Palatino Linotype"/>
                      </a:endParaRPr>
                    </a:p>
                  </a:txBody>
                  <a:tcPr marL="0" marR="0" marT="3365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370840">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marR="47625" algn="ctr">
                        <a:lnSpc>
                          <a:spcPct val="100000"/>
                        </a:lnSpc>
                        <a:spcBef>
                          <a:spcPts val="250"/>
                        </a:spcBef>
                      </a:pPr>
                      <a:r>
                        <a:rPr sz="1600" spc="-50" dirty="0">
                          <a:latin typeface="Cambria Math"/>
                          <a:cs typeface="Cambria Math"/>
                        </a:rPr>
                        <a:t>𝑎</a:t>
                      </a:r>
                      <a:endParaRPr sz="1600">
                        <a:latin typeface="Cambria Math"/>
                        <a:cs typeface="Cambria Math"/>
                      </a:endParaRPr>
                    </a:p>
                  </a:txBody>
                  <a:tcPr marL="0" marR="0" marT="317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gn="ctr">
                        <a:lnSpc>
                          <a:spcPct val="100000"/>
                        </a:lnSpc>
                        <a:spcBef>
                          <a:spcPts val="250"/>
                        </a:spcBef>
                      </a:pPr>
                      <a:r>
                        <a:rPr sz="1600" spc="-20" dirty="0">
                          <a:latin typeface="Palatino Linotype"/>
                          <a:cs typeface="Palatino Linotype"/>
                        </a:rPr>
                        <a:t>Live</a:t>
                      </a:r>
                      <a:endParaRPr sz="1600">
                        <a:latin typeface="Palatino Linotype"/>
                        <a:cs typeface="Palatino Linotype"/>
                      </a:endParaRPr>
                    </a:p>
                  </a:txBody>
                  <a:tcPr marL="0" marR="0" marT="317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gn="ctr">
                        <a:lnSpc>
                          <a:spcPct val="100000"/>
                        </a:lnSpc>
                        <a:spcBef>
                          <a:spcPts val="250"/>
                        </a:spcBef>
                      </a:pPr>
                      <a:r>
                        <a:rPr sz="1600" spc="-50" dirty="0">
                          <a:latin typeface="Palatino Linotype"/>
                          <a:cs typeface="Palatino Linotype"/>
                        </a:rPr>
                        <a:t>7</a:t>
                      </a:r>
                      <a:endParaRPr sz="1600">
                        <a:latin typeface="Palatino Linotype"/>
                        <a:cs typeface="Palatino Linotype"/>
                      </a:endParaRPr>
                    </a:p>
                  </a:txBody>
                  <a:tcPr marL="0" marR="0" marT="317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370840">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marR="42545" algn="ctr">
                        <a:lnSpc>
                          <a:spcPct val="100000"/>
                        </a:lnSpc>
                        <a:spcBef>
                          <a:spcPts val="254"/>
                        </a:spcBef>
                      </a:pPr>
                      <a:r>
                        <a:rPr sz="1600" spc="-25" dirty="0">
                          <a:solidFill>
                            <a:srgbClr val="FF0000"/>
                          </a:solidFill>
                          <a:latin typeface="Cambria Math"/>
                          <a:cs typeface="Cambria Math"/>
                        </a:rPr>
                        <a:t>𝑡1</a:t>
                      </a:r>
                      <a:endParaRPr sz="1600">
                        <a:latin typeface="Cambria Math"/>
                        <a:cs typeface="Cambria Math"/>
                      </a:endParaRPr>
                    </a:p>
                  </a:txBody>
                  <a:tcPr marL="0" marR="0" marT="3238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gn="ctr">
                        <a:lnSpc>
                          <a:spcPct val="100000"/>
                        </a:lnSpc>
                        <a:spcBef>
                          <a:spcPts val="254"/>
                        </a:spcBef>
                      </a:pPr>
                      <a:r>
                        <a:rPr sz="1600" spc="-20" dirty="0">
                          <a:solidFill>
                            <a:srgbClr val="FF0000"/>
                          </a:solidFill>
                          <a:latin typeface="Palatino Linotype"/>
                          <a:cs typeface="Palatino Linotype"/>
                        </a:rPr>
                        <a:t>Live</a:t>
                      </a:r>
                      <a:endParaRPr sz="1600">
                        <a:latin typeface="Palatino Linotype"/>
                        <a:cs typeface="Palatino Linotype"/>
                      </a:endParaRPr>
                    </a:p>
                  </a:txBody>
                  <a:tcPr marL="0" marR="0" marT="3238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gn="ctr">
                        <a:lnSpc>
                          <a:spcPct val="100000"/>
                        </a:lnSpc>
                        <a:spcBef>
                          <a:spcPts val="254"/>
                        </a:spcBef>
                      </a:pPr>
                      <a:r>
                        <a:rPr sz="1600" spc="-50" dirty="0">
                          <a:solidFill>
                            <a:srgbClr val="FF0000"/>
                          </a:solidFill>
                          <a:latin typeface="Palatino Linotype"/>
                          <a:cs typeface="Palatino Linotype"/>
                        </a:rPr>
                        <a:t>4</a:t>
                      </a:r>
                      <a:endParaRPr sz="1600">
                        <a:latin typeface="Palatino Linotype"/>
                        <a:cs typeface="Palatino Linotype"/>
                      </a:endParaRPr>
                    </a:p>
                  </a:txBody>
                  <a:tcPr marL="0" marR="0" marT="3238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370840">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marR="42545" algn="ctr">
                        <a:lnSpc>
                          <a:spcPct val="100000"/>
                        </a:lnSpc>
                        <a:spcBef>
                          <a:spcPts val="265"/>
                        </a:spcBef>
                      </a:pPr>
                      <a:r>
                        <a:rPr sz="1600" spc="-25" dirty="0">
                          <a:solidFill>
                            <a:srgbClr val="FF0000"/>
                          </a:solidFill>
                          <a:latin typeface="Cambria Math"/>
                          <a:cs typeface="Cambria Math"/>
                        </a:rPr>
                        <a:t>𝑡2</a:t>
                      </a:r>
                      <a:endParaRPr sz="1600">
                        <a:latin typeface="Cambria Math"/>
                        <a:cs typeface="Cambria Math"/>
                      </a:endParaRPr>
                    </a:p>
                  </a:txBody>
                  <a:tcPr marL="0" marR="0" marT="3365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gn="ctr">
                        <a:lnSpc>
                          <a:spcPct val="100000"/>
                        </a:lnSpc>
                        <a:spcBef>
                          <a:spcPts val="265"/>
                        </a:spcBef>
                      </a:pPr>
                      <a:r>
                        <a:rPr sz="1600" dirty="0">
                          <a:solidFill>
                            <a:srgbClr val="FF0000"/>
                          </a:solidFill>
                          <a:latin typeface="Palatino Linotype"/>
                          <a:cs typeface="Palatino Linotype"/>
                        </a:rPr>
                        <a:t>Not</a:t>
                      </a:r>
                      <a:r>
                        <a:rPr sz="1600" spc="-20" dirty="0">
                          <a:solidFill>
                            <a:srgbClr val="FF0000"/>
                          </a:solidFill>
                          <a:latin typeface="Palatino Linotype"/>
                          <a:cs typeface="Palatino Linotype"/>
                        </a:rPr>
                        <a:t> live</a:t>
                      </a:r>
                      <a:endParaRPr sz="1600">
                        <a:latin typeface="Palatino Linotype"/>
                        <a:cs typeface="Palatino Linotype"/>
                      </a:endParaRPr>
                    </a:p>
                  </a:txBody>
                  <a:tcPr marL="0" marR="0" marT="3365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nSpc>
                          <a:spcPct val="100000"/>
                        </a:lnSpc>
                      </a:pPr>
                      <a:endParaRPr sz="18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370840">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marR="42545" algn="ctr">
                        <a:lnSpc>
                          <a:spcPct val="100000"/>
                        </a:lnSpc>
                        <a:spcBef>
                          <a:spcPts val="250"/>
                        </a:spcBef>
                      </a:pPr>
                      <a:r>
                        <a:rPr sz="1600" spc="-25" dirty="0">
                          <a:latin typeface="Cambria Math"/>
                          <a:cs typeface="Cambria Math"/>
                        </a:rPr>
                        <a:t>𝑡3</a:t>
                      </a:r>
                      <a:endParaRPr sz="1600">
                        <a:latin typeface="Cambria Math"/>
                        <a:cs typeface="Cambria Math"/>
                      </a:endParaRPr>
                    </a:p>
                  </a:txBody>
                  <a:tcPr marL="0" marR="0" marT="317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gn="ctr">
                        <a:lnSpc>
                          <a:spcPct val="100000"/>
                        </a:lnSpc>
                        <a:spcBef>
                          <a:spcPts val="250"/>
                        </a:spcBef>
                      </a:pPr>
                      <a:r>
                        <a:rPr sz="1600" dirty="0">
                          <a:latin typeface="Palatino Linotype"/>
                          <a:cs typeface="Palatino Linotype"/>
                        </a:rPr>
                        <a:t>Not</a:t>
                      </a:r>
                      <a:r>
                        <a:rPr sz="1600" spc="-20" dirty="0">
                          <a:latin typeface="Palatino Linotype"/>
                          <a:cs typeface="Palatino Linotype"/>
                        </a:rPr>
                        <a:t> live</a:t>
                      </a:r>
                      <a:endParaRPr sz="1600">
                        <a:latin typeface="Palatino Linotype"/>
                        <a:cs typeface="Palatino Linotype"/>
                      </a:endParaRPr>
                    </a:p>
                  </a:txBody>
                  <a:tcPr marL="0" marR="0" marT="317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nSpc>
                          <a:spcPct val="100000"/>
                        </a:lnSpc>
                      </a:pPr>
                      <a:endParaRPr sz="18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370840">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marR="42545" algn="ctr">
                        <a:lnSpc>
                          <a:spcPct val="100000"/>
                        </a:lnSpc>
                        <a:spcBef>
                          <a:spcPts val="254"/>
                        </a:spcBef>
                      </a:pPr>
                      <a:r>
                        <a:rPr sz="1600" spc="-25" dirty="0">
                          <a:latin typeface="Cambria Math"/>
                          <a:cs typeface="Cambria Math"/>
                        </a:rPr>
                        <a:t>𝑡4</a:t>
                      </a:r>
                      <a:endParaRPr sz="1600">
                        <a:latin typeface="Cambria Math"/>
                        <a:cs typeface="Cambria Math"/>
                      </a:endParaRPr>
                    </a:p>
                  </a:txBody>
                  <a:tcPr marL="0" marR="0" marT="3238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gn="ctr">
                        <a:lnSpc>
                          <a:spcPct val="100000"/>
                        </a:lnSpc>
                        <a:spcBef>
                          <a:spcPts val="254"/>
                        </a:spcBef>
                      </a:pPr>
                      <a:r>
                        <a:rPr sz="1600" dirty="0">
                          <a:latin typeface="Palatino Linotype"/>
                          <a:cs typeface="Palatino Linotype"/>
                        </a:rPr>
                        <a:t>Not</a:t>
                      </a:r>
                      <a:r>
                        <a:rPr sz="1600" spc="-20" dirty="0">
                          <a:latin typeface="Palatino Linotype"/>
                          <a:cs typeface="Palatino Linotype"/>
                        </a:rPr>
                        <a:t> live</a:t>
                      </a:r>
                      <a:endParaRPr sz="1600">
                        <a:latin typeface="Palatino Linotype"/>
                        <a:cs typeface="Palatino Linotype"/>
                      </a:endParaRPr>
                    </a:p>
                  </a:txBody>
                  <a:tcPr marL="0" marR="0" marT="3238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nSpc>
                          <a:spcPct val="100000"/>
                        </a:lnSpc>
                      </a:pPr>
                      <a:endParaRPr sz="18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7"/>
                  </a:ext>
                </a:extLst>
              </a:tr>
            </a:tbl>
          </a:graphicData>
        </a:graphic>
      </p:graphicFrame>
      <p:sp>
        <p:nvSpPr>
          <p:cNvPr id="14" name="object 6">
            <a:extLst>
              <a:ext uri="{FF2B5EF4-FFF2-40B4-BE49-F238E27FC236}">
                <a16:creationId xmlns:a16="http://schemas.microsoft.com/office/drawing/2014/main" id="{FAA9DF09-218E-5A34-8F16-44F3A46D2B8C}"/>
              </a:ext>
            </a:extLst>
          </p:cNvPr>
          <p:cNvSpPr/>
          <p:nvPr/>
        </p:nvSpPr>
        <p:spPr>
          <a:xfrm>
            <a:off x="6292311" y="563385"/>
            <a:ext cx="351790" cy="76200"/>
          </a:xfrm>
          <a:custGeom>
            <a:avLst/>
            <a:gdLst/>
            <a:ahLst/>
            <a:cxnLst/>
            <a:rect l="l" t="t" r="r" b="b"/>
            <a:pathLst>
              <a:path w="351790" h="76200">
                <a:moveTo>
                  <a:pt x="275337" y="44449"/>
                </a:moveTo>
                <a:lnTo>
                  <a:pt x="275337" y="76200"/>
                </a:lnTo>
                <a:lnTo>
                  <a:pt x="338837" y="44450"/>
                </a:lnTo>
                <a:lnTo>
                  <a:pt x="275337" y="44449"/>
                </a:lnTo>
                <a:close/>
              </a:path>
              <a:path w="351790" h="76200">
                <a:moveTo>
                  <a:pt x="275337" y="31749"/>
                </a:moveTo>
                <a:lnTo>
                  <a:pt x="275337" y="44449"/>
                </a:lnTo>
                <a:lnTo>
                  <a:pt x="288037" y="44450"/>
                </a:lnTo>
                <a:lnTo>
                  <a:pt x="288037" y="31750"/>
                </a:lnTo>
                <a:lnTo>
                  <a:pt x="275337" y="31749"/>
                </a:lnTo>
                <a:close/>
              </a:path>
              <a:path w="351790" h="76200">
                <a:moveTo>
                  <a:pt x="275337" y="0"/>
                </a:moveTo>
                <a:lnTo>
                  <a:pt x="275337" y="31749"/>
                </a:lnTo>
                <a:lnTo>
                  <a:pt x="288037" y="31750"/>
                </a:lnTo>
                <a:lnTo>
                  <a:pt x="288037" y="44450"/>
                </a:lnTo>
                <a:lnTo>
                  <a:pt x="338839" y="44448"/>
                </a:lnTo>
                <a:lnTo>
                  <a:pt x="351537" y="38100"/>
                </a:lnTo>
                <a:lnTo>
                  <a:pt x="275337" y="0"/>
                </a:lnTo>
                <a:close/>
              </a:path>
              <a:path w="351790" h="76200">
                <a:moveTo>
                  <a:pt x="0" y="31748"/>
                </a:moveTo>
                <a:lnTo>
                  <a:pt x="0" y="44448"/>
                </a:lnTo>
                <a:lnTo>
                  <a:pt x="275337" y="44449"/>
                </a:lnTo>
                <a:lnTo>
                  <a:pt x="275337" y="31749"/>
                </a:lnTo>
                <a:lnTo>
                  <a:pt x="0" y="31748"/>
                </a:lnTo>
                <a:close/>
              </a:path>
            </a:pathLst>
          </a:custGeom>
          <a:solidFill>
            <a:srgbClr val="FF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Tree>
    <p:extLst>
      <p:ext uri="{BB962C8B-B14F-4D97-AF65-F5344CB8AC3E}">
        <p14:creationId xmlns:p14="http://schemas.microsoft.com/office/powerpoint/2010/main" val="187104673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40</a:t>
            </a:fld>
            <a:endParaRPr lang="en-US"/>
          </a:p>
        </p:txBody>
      </p:sp>
      <p:sp>
        <p:nvSpPr>
          <p:cNvPr id="10" name="object 2">
            <a:extLst>
              <a:ext uri="{FF2B5EF4-FFF2-40B4-BE49-F238E27FC236}">
                <a16:creationId xmlns:a16="http://schemas.microsoft.com/office/drawing/2014/main" id="{01633E79-C51D-965A-9750-CDC245D2FD19}"/>
              </a:ext>
            </a:extLst>
          </p:cNvPr>
          <p:cNvSpPr txBox="1">
            <a:spLocks/>
          </p:cNvSpPr>
          <p:nvPr/>
        </p:nvSpPr>
        <p:spPr>
          <a:xfrm>
            <a:off x="707390" y="524763"/>
            <a:ext cx="7729219" cy="63500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4000" b="1" i="0" u="none" strike="noStrike" kern="0" cap="none" spc="0" normalizeH="0" baseline="0" noProof="0">
                <a:ln>
                  <a:noFill/>
                </a:ln>
                <a:solidFill>
                  <a:sysClr val="windowText" lastClr="000000"/>
                </a:solidFill>
                <a:effectLst/>
                <a:uLnTx/>
                <a:uFillTx/>
                <a:latin typeface="Palatino Linotype"/>
                <a:ea typeface="+mj-ea"/>
              </a:rPr>
              <a:t>Running</a:t>
            </a:r>
            <a:r>
              <a:rPr kumimoji="0" lang="en-US" sz="4000" b="1" i="0" u="none" strike="noStrike" kern="0" cap="none" spc="-85" normalizeH="0" baseline="0" noProof="0">
                <a:ln>
                  <a:noFill/>
                </a:ln>
                <a:solidFill>
                  <a:sysClr val="windowText" lastClr="000000"/>
                </a:solidFill>
                <a:effectLst/>
                <a:uLnTx/>
                <a:uFillTx/>
                <a:latin typeface="Palatino Linotype"/>
                <a:ea typeface="+mj-ea"/>
              </a:rPr>
              <a:t> </a:t>
            </a:r>
            <a:r>
              <a:rPr kumimoji="0" lang="en-US" sz="4000" b="1" i="0" u="none" strike="noStrike" kern="0" cap="none" spc="-10" normalizeH="0" baseline="0" noProof="0">
                <a:ln>
                  <a:noFill/>
                </a:ln>
                <a:solidFill>
                  <a:sysClr val="windowText" lastClr="000000"/>
                </a:solidFill>
                <a:effectLst/>
                <a:uLnTx/>
                <a:uFillTx/>
                <a:latin typeface="Palatino Linotype"/>
                <a:ea typeface="+mj-ea"/>
              </a:rPr>
              <a:t>Example</a:t>
            </a:r>
            <a:endParaRPr kumimoji="0" lang="en-US" sz="4000" b="1" i="0" u="none" strike="noStrike" kern="0" cap="none" spc="-10" normalizeH="0" baseline="0" noProof="0" dirty="0">
              <a:ln>
                <a:noFill/>
              </a:ln>
              <a:solidFill>
                <a:sysClr val="windowText" lastClr="000000"/>
              </a:solidFill>
              <a:effectLst/>
              <a:uLnTx/>
              <a:uFillTx/>
              <a:latin typeface="Palatino Linotype"/>
              <a:ea typeface="+mj-ea"/>
            </a:endParaRPr>
          </a:p>
        </p:txBody>
      </p:sp>
      <p:sp>
        <p:nvSpPr>
          <p:cNvPr id="11" name="object 3">
            <a:extLst>
              <a:ext uri="{FF2B5EF4-FFF2-40B4-BE49-F238E27FC236}">
                <a16:creationId xmlns:a16="http://schemas.microsoft.com/office/drawing/2014/main" id="{6C4AFE95-A6F4-A861-AFD0-14BE9C1A4125}"/>
              </a:ext>
            </a:extLst>
          </p:cNvPr>
          <p:cNvSpPr txBox="1"/>
          <p:nvPr/>
        </p:nvSpPr>
        <p:spPr>
          <a:xfrm>
            <a:off x="707390" y="1836420"/>
            <a:ext cx="6589395" cy="330200"/>
          </a:xfrm>
          <a:prstGeom prst="rect">
            <a:avLst/>
          </a:prstGeom>
        </p:spPr>
        <p:txBody>
          <a:bodyPr vert="horz" wrap="square" lIns="0" tIns="12700" rIns="0" bIns="0" rtlCol="0">
            <a:spAutoFit/>
          </a:bodyPr>
          <a:lstStyle/>
          <a:p>
            <a:pPr marL="242570" indent="-229870">
              <a:spcBef>
                <a:spcPts val="100"/>
              </a:spcBef>
              <a:buClr>
                <a:srgbClr val="000000"/>
              </a:buClr>
              <a:buFont typeface="Arial MT"/>
              <a:buChar char="•"/>
              <a:tabLst>
                <a:tab pos="242570" algn="l"/>
              </a:tabLst>
            </a:pPr>
            <a:r>
              <a:rPr sz="2000" b="1" dirty="0">
                <a:solidFill>
                  <a:srgbClr val="FF0000"/>
                </a:solidFill>
                <a:latin typeface="Palatino Linotype"/>
                <a:cs typeface="Palatino Linotype"/>
              </a:rPr>
              <a:t>Analyzing</a:t>
            </a:r>
            <a:r>
              <a:rPr sz="2000" b="1" spc="-30" dirty="0">
                <a:solidFill>
                  <a:srgbClr val="FF0000"/>
                </a:solidFill>
                <a:latin typeface="Palatino Linotype"/>
                <a:cs typeface="Palatino Linotype"/>
              </a:rPr>
              <a:t> </a:t>
            </a:r>
            <a:r>
              <a:rPr sz="2000" b="1" dirty="0">
                <a:solidFill>
                  <a:srgbClr val="FF0000"/>
                </a:solidFill>
                <a:latin typeface="Palatino Linotype"/>
                <a:cs typeface="Palatino Linotype"/>
              </a:rPr>
              <a:t>line</a:t>
            </a:r>
            <a:r>
              <a:rPr sz="2000" b="1" spc="-30" dirty="0">
                <a:solidFill>
                  <a:srgbClr val="FF0000"/>
                </a:solidFill>
                <a:latin typeface="Palatino Linotype"/>
                <a:cs typeface="Palatino Linotype"/>
              </a:rPr>
              <a:t> </a:t>
            </a:r>
            <a:r>
              <a:rPr sz="2000" b="1" dirty="0">
                <a:solidFill>
                  <a:srgbClr val="FF0000"/>
                </a:solidFill>
                <a:latin typeface="Palatino Linotype"/>
                <a:cs typeface="Palatino Linotype"/>
              </a:rPr>
              <a:t>3):</a:t>
            </a:r>
            <a:r>
              <a:rPr sz="2000" b="1" spc="-25" dirty="0">
                <a:solidFill>
                  <a:srgbClr val="FF0000"/>
                </a:solidFill>
                <a:latin typeface="Palatino Linotype"/>
                <a:cs typeface="Palatino Linotype"/>
              </a:rPr>
              <a:t> </a:t>
            </a:r>
            <a:r>
              <a:rPr sz="2000" dirty="0">
                <a:solidFill>
                  <a:sysClr val="windowText" lastClr="000000"/>
                </a:solidFill>
                <a:latin typeface="Palatino Linotype"/>
                <a:cs typeface="Palatino Linotype"/>
              </a:rPr>
              <a:t>attach</a:t>
            </a:r>
            <a:r>
              <a:rPr sz="2000" spc="-3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the</a:t>
            </a:r>
            <a:r>
              <a:rPr sz="2000" spc="-3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following</a:t>
            </a:r>
            <a:r>
              <a:rPr sz="2000" spc="-2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information</a:t>
            </a:r>
            <a:r>
              <a:rPr sz="2000" spc="-3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to</a:t>
            </a:r>
            <a:r>
              <a:rPr sz="2000" spc="-30" dirty="0">
                <a:solidFill>
                  <a:sysClr val="windowText" lastClr="000000"/>
                </a:solidFill>
                <a:latin typeface="Palatino Linotype"/>
                <a:cs typeface="Palatino Linotype"/>
              </a:rPr>
              <a:t> </a:t>
            </a:r>
            <a:r>
              <a:rPr sz="2000" spc="-25" dirty="0">
                <a:solidFill>
                  <a:sysClr val="windowText" lastClr="000000"/>
                </a:solidFill>
                <a:latin typeface="Palatino Linotype"/>
                <a:cs typeface="Palatino Linotype"/>
              </a:rPr>
              <a:t>3)</a:t>
            </a:r>
            <a:endParaRPr sz="2000">
              <a:solidFill>
                <a:sysClr val="windowText" lastClr="000000"/>
              </a:solidFill>
              <a:latin typeface="Palatino Linotype"/>
              <a:cs typeface="Palatino Linotype"/>
            </a:endParaRPr>
          </a:p>
        </p:txBody>
      </p:sp>
      <p:pic>
        <p:nvPicPr>
          <p:cNvPr id="12" name="object 4">
            <a:extLst>
              <a:ext uri="{FF2B5EF4-FFF2-40B4-BE49-F238E27FC236}">
                <a16:creationId xmlns:a16="http://schemas.microsoft.com/office/drawing/2014/main" id="{5B59023D-5F7C-1CA7-A517-5679CC53691E}"/>
              </a:ext>
            </a:extLst>
          </p:cNvPr>
          <p:cNvPicPr/>
          <p:nvPr/>
        </p:nvPicPr>
        <p:blipFill>
          <a:blip r:embed="rId3" cstate="print"/>
          <a:stretch>
            <a:fillRect/>
          </a:stretch>
        </p:blipFill>
        <p:spPr>
          <a:xfrm>
            <a:off x="6740925" y="313327"/>
            <a:ext cx="1387753" cy="1183468"/>
          </a:xfrm>
          <a:prstGeom prst="rect">
            <a:avLst/>
          </a:prstGeom>
        </p:spPr>
      </p:pic>
      <p:graphicFrame>
        <p:nvGraphicFramePr>
          <p:cNvPr id="13" name="object 5">
            <a:extLst>
              <a:ext uri="{FF2B5EF4-FFF2-40B4-BE49-F238E27FC236}">
                <a16:creationId xmlns:a16="http://schemas.microsoft.com/office/drawing/2014/main" id="{80D2B6F3-9B5A-EFF8-6236-FA0BDE2118BA}"/>
              </a:ext>
            </a:extLst>
          </p:cNvPr>
          <p:cNvGraphicFramePr>
            <a:graphicFrameLocks noGrp="1"/>
          </p:cNvGraphicFramePr>
          <p:nvPr/>
        </p:nvGraphicFramePr>
        <p:xfrm>
          <a:off x="1517650" y="2556765"/>
          <a:ext cx="6096000" cy="1112520"/>
        </p:xfrm>
        <a:graphic>
          <a:graphicData uri="http://schemas.openxmlformats.org/drawingml/2006/table">
            <a:tbl>
              <a:tblPr firstRow="1" bandRow="1"/>
              <a:tblGrid>
                <a:gridCol w="2032000">
                  <a:extLst>
                    <a:ext uri="{9D8B030D-6E8A-4147-A177-3AD203B41FA5}">
                      <a16:colId xmlns:a16="http://schemas.microsoft.com/office/drawing/2014/main" val="20000"/>
                    </a:ext>
                  </a:extLst>
                </a:gridCol>
                <a:gridCol w="2032000">
                  <a:extLst>
                    <a:ext uri="{9D8B030D-6E8A-4147-A177-3AD203B41FA5}">
                      <a16:colId xmlns:a16="http://schemas.microsoft.com/office/drawing/2014/main" val="20001"/>
                    </a:ext>
                  </a:extLst>
                </a:gridCol>
                <a:gridCol w="2032000">
                  <a:extLst>
                    <a:ext uri="{9D8B030D-6E8A-4147-A177-3AD203B41FA5}">
                      <a16:colId xmlns:a16="http://schemas.microsoft.com/office/drawing/2014/main" val="20002"/>
                    </a:ext>
                  </a:extLst>
                </a:gridCol>
              </a:tblGrid>
              <a:tr h="370840">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gn="ctr">
                        <a:lnSpc>
                          <a:spcPct val="100000"/>
                        </a:lnSpc>
                        <a:spcBef>
                          <a:spcPts val="250"/>
                        </a:spcBef>
                      </a:pPr>
                      <a:r>
                        <a:rPr sz="1600" b="1" spc="-20" dirty="0">
                          <a:latin typeface="Palatino Linotype"/>
                          <a:cs typeface="Palatino Linotype"/>
                        </a:rPr>
                        <a:t>Name</a:t>
                      </a:r>
                      <a:endParaRPr sz="1600">
                        <a:latin typeface="Palatino Linotype"/>
                        <a:cs typeface="Palatino Linotype"/>
                      </a:endParaRPr>
                    </a:p>
                  </a:txBody>
                  <a:tcPr marL="0" marR="0" marT="317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gn="ctr">
                        <a:lnSpc>
                          <a:spcPct val="100000"/>
                        </a:lnSpc>
                        <a:spcBef>
                          <a:spcPts val="250"/>
                        </a:spcBef>
                      </a:pPr>
                      <a:r>
                        <a:rPr sz="1600" b="1" spc="-10" dirty="0">
                          <a:latin typeface="Palatino Linotype"/>
                          <a:cs typeface="Palatino Linotype"/>
                        </a:rPr>
                        <a:t>Liveness</a:t>
                      </a:r>
                      <a:endParaRPr sz="1600">
                        <a:latin typeface="Palatino Linotype"/>
                        <a:cs typeface="Palatino Linotype"/>
                      </a:endParaRPr>
                    </a:p>
                  </a:txBody>
                  <a:tcPr marL="0" marR="0" marT="317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gn="ctr">
                        <a:lnSpc>
                          <a:spcPct val="100000"/>
                        </a:lnSpc>
                        <a:spcBef>
                          <a:spcPts val="250"/>
                        </a:spcBef>
                      </a:pPr>
                      <a:r>
                        <a:rPr sz="1600" b="1" spc="-10" dirty="0">
                          <a:latin typeface="Palatino Linotype"/>
                          <a:cs typeface="Palatino Linotype"/>
                        </a:rPr>
                        <a:t>Next-</a:t>
                      </a:r>
                      <a:r>
                        <a:rPr sz="1600" b="1" spc="-25" dirty="0">
                          <a:latin typeface="Palatino Linotype"/>
                          <a:cs typeface="Palatino Linotype"/>
                        </a:rPr>
                        <a:t>use</a:t>
                      </a:r>
                      <a:endParaRPr sz="1600">
                        <a:latin typeface="Palatino Linotype"/>
                        <a:cs typeface="Palatino Linotype"/>
                      </a:endParaRPr>
                    </a:p>
                  </a:txBody>
                  <a:tcPr marL="0" marR="0" marT="317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370840">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marR="50165" algn="ctr">
                        <a:lnSpc>
                          <a:spcPct val="100000"/>
                        </a:lnSpc>
                        <a:spcBef>
                          <a:spcPts val="254"/>
                        </a:spcBef>
                      </a:pPr>
                      <a:r>
                        <a:rPr sz="1600" spc="-50" dirty="0">
                          <a:latin typeface="Cambria Math"/>
                          <a:cs typeface="Cambria Math"/>
                        </a:rPr>
                        <a:t>𝑖</a:t>
                      </a:r>
                      <a:endParaRPr sz="1600">
                        <a:latin typeface="Cambria Math"/>
                        <a:cs typeface="Cambria Math"/>
                      </a:endParaRPr>
                    </a:p>
                  </a:txBody>
                  <a:tcPr marL="0" marR="0" marT="3238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gn="ctr">
                        <a:lnSpc>
                          <a:spcPct val="100000"/>
                        </a:lnSpc>
                        <a:spcBef>
                          <a:spcPts val="254"/>
                        </a:spcBef>
                      </a:pPr>
                      <a:r>
                        <a:rPr sz="1600" spc="-20" dirty="0">
                          <a:latin typeface="Palatino Linotype"/>
                          <a:cs typeface="Palatino Linotype"/>
                        </a:rPr>
                        <a:t>Live</a:t>
                      </a:r>
                      <a:endParaRPr sz="1600">
                        <a:latin typeface="Palatino Linotype"/>
                        <a:cs typeface="Palatino Linotype"/>
                      </a:endParaRPr>
                    </a:p>
                  </a:txBody>
                  <a:tcPr marL="0" marR="0" marT="3238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nSpc>
                          <a:spcPct val="100000"/>
                        </a:lnSpc>
                      </a:pPr>
                      <a:endParaRPr sz="19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370840">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marR="42545" algn="ctr">
                        <a:lnSpc>
                          <a:spcPct val="100000"/>
                        </a:lnSpc>
                        <a:spcBef>
                          <a:spcPts val="265"/>
                        </a:spcBef>
                      </a:pPr>
                      <a:r>
                        <a:rPr sz="1600" spc="-25" dirty="0">
                          <a:latin typeface="Cambria Math"/>
                          <a:cs typeface="Cambria Math"/>
                        </a:rPr>
                        <a:t>𝑡1</a:t>
                      </a:r>
                      <a:endParaRPr sz="1600">
                        <a:latin typeface="Cambria Math"/>
                        <a:cs typeface="Cambria Math"/>
                      </a:endParaRPr>
                    </a:p>
                  </a:txBody>
                  <a:tcPr marL="0" marR="0" marT="3365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gn="ctr">
                        <a:lnSpc>
                          <a:spcPct val="100000"/>
                        </a:lnSpc>
                        <a:spcBef>
                          <a:spcPts val="265"/>
                        </a:spcBef>
                      </a:pPr>
                      <a:r>
                        <a:rPr sz="1600" spc="-20" dirty="0">
                          <a:latin typeface="Palatino Linotype"/>
                          <a:cs typeface="Palatino Linotype"/>
                        </a:rPr>
                        <a:t>Live</a:t>
                      </a:r>
                      <a:endParaRPr sz="1600">
                        <a:latin typeface="Palatino Linotype"/>
                        <a:cs typeface="Palatino Linotype"/>
                      </a:endParaRPr>
                    </a:p>
                  </a:txBody>
                  <a:tcPr marL="0" marR="0" marT="3365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gn="ctr">
                        <a:lnSpc>
                          <a:spcPct val="100000"/>
                        </a:lnSpc>
                        <a:spcBef>
                          <a:spcPts val="265"/>
                        </a:spcBef>
                      </a:pPr>
                      <a:r>
                        <a:rPr sz="1600" spc="-50" dirty="0">
                          <a:latin typeface="Palatino Linotype"/>
                          <a:cs typeface="Palatino Linotype"/>
                        </a:rPr>
                        <a:t>4</a:t>
                      </a:r>
                      <a:endParaRPr sz="1600">
                        <a:latin typeface="Palatino Linotype"/>
                        <a:cs typeface="Palatino Linotype"/>
                      </a:endParaRPr>
                    </a:p>
                  </a:txBody>
                  <a:tcPr marL="0" marR="0" marT="3365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bl>
          </a:graphicData>
        </a:graphic>
      </p:graphicFrame>
      <p:sp>
        <p:nvSpPr>
          <p:cNvPr id="14" name="object 6">
            <a:extLst>
              <a:ext uri="{FF2B5EF4-FFF2-40B4-BE49-F238E27FC236}">
                <a16:creationId xmlns:a16="http://schemas.microsoft.com/office/drawing/2014/main" id="{C698AC80-834B-28DE-4357-DF6035054F83}"/>
              </a:ext>
            </a:extLst>
          </p:cNvPr>
          <p:cNvSpPr/>
          <p:nvPr/>
        </p:nvSpPr>
        <p:spPr>
          <a:xfrm>
            <a:off x="6292311" y="361909"/>
            <a:ext cx="351790" cy="76200"/>
          </a:xfrm>
          <a:custGeom>
            <a:avLst/>
            <a:gdLst/>
            <a:ahLst/>
            <a:cxnLst/>
            <a:rect l="l" t="t" r="r" b="b"/>
            <a:pathLst>
              <a:path w="351790" h="76200">
                <a:moveTo>
                  <a:pt x="275337" y="44449"/>
                </a:moveTo>
                <a:lnTo>
                  <a:pt x="275337" y="76200"/>
                </a:lnTo>
                <a:lnTo>
                  <a:pt x="338837" y="44450"/>
                </a:lnTo>
                <a:lnTo>
                  <a:pt x="275337" y="44449"/>
                </a:lnTo>
                <a:close/>
              </a:path>
              <a:path w="351790" h="76200">
                <a:moveTo>
                  <a:pt x="275337" y="31749"/>
                </a:moveTo>
                <a:lnTo>
                  <a:pt x="275337" y="44449"/>
                </a:lnTo>
                <a:lnTo>
                  <a:pt x="288037" y="44450"/>
                </a:lnTo>
                <a:lnTo>
                  <a:pt x="288037" y="31750"/>
                </a:lnTo>
                <a:lnTo>
                  <a:pt x="275337" y="31749"/>
                </a:lnTo>
                <a:close/>
              </a:path>
              <a:path w="351790" h="76200">
                <a:moveTo>
                  <a:pt x="275337" y="0"/>
                </a:moveTo>
                <a:lnTo>
                  <a:pt x="275337" y="31749"/>
                </a:lnTo>
                <a:lnTo>
                  <a:pt x="288037" y="31750"/>
                </a:lnTo>
                <a:lnTo>
                  <a:pt x="288037" y="44450"/>
                </a:lnTo>
                <a:lnTo>
                  <a:pt x="338839" y="44448"/>
                </a:lnTo>
                <a:lnTo>
                  <a:pt x="351537" y="38100"/>
                </a:lnTo>
                <a:lnTo>
                  <a:pt x="275337" y="0"/>
                </a:lnTo>
                <a:close/>
              </a:path>
              <a:path w="351790" h="76200">
                <a:moveTo>
                  <a:pt x="0" y="31748"/>
                </a:moveTo>
                <a:lnTo>
                  <a:pt x="0" y="44448"/>
                </a:lnTo>
                <a:lnTo>
                  <a:pt x="275337" y="44449"/>
                </a:lnTo>
                <a:lnTo>
                  <a:pt x="275337" y="31749"/>
                </a:lnTo>
                <a:lnTo>
                  <a:pt x="0" y="31748"/>
                </a:lnTo>
                <a:close/>
              </a:path>
            </a:pathLst>
          </a:custGeom>
          <a:solidFill>
            <a:srgbClr val="FF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Tree>
    <p:extLst>
      <p:ext uri="{BB962C8B-B14F-4D97-AF65-F5344CB8AC3E}">
        <p14:creationId xmlns:p14="http://schemas.microsoft.com/office/powerpoint/2010/main" val="123901933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41</a:t>
            </a:fld>
            <a:endParaRPr lang="en-US"/>
          </a:p>
        </p:txBody>
      </p:sp>
      <p:sp>
        <p:nvSpPr>
          <p:cNvPr id="10" name="object 2">
            <a:extLst>
              <a:ext uri="{FF2B5EF4-FFF2-40B4-BE49-F238E27FC236}">
                <a16:creationId xmlns:a16="http://schemas.microsoft.com/office/drawing/2014/main" id="{B67AB10C-F7C2-88EA-D158-86D3E24AD761}"/>
              </a:ext>
            </a:extLst>
          </p:cNvPr>
          <p:cNvSpPr txBox="1">
            <a:spLocks/>
          </p:cNvSpPr>
          <p:nvPr/>
        </p:nvSpPr>
        <p:spPr>
          <a:xfrm>
            <a:off x="707390" y="524763"/>
            <a:ext cx="7729219" cy="63500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4000" b="1" i="0" u="none" strike="noStrike" kern="0" cap="none" spc="0" normalizeH="0" baseline="0" noProof="0">
                <a:ln>
                  <a:noFill/>
                </a:ln>
                <a:solidFill>
                  <a:sysClr val="windowText" lastClr="000000"/>
                </a:solidFill>
                <a:effectLst/>
                <a:uLnTx/>
                <a:uFillTx/>
                <a:latin typeface="Palatino Linotype"/>
                <a:ea typeface="+mj-ea"/>
              </a:rPr>
              <a:t>Running</a:t>
            </a:r>
            <a:r>
              <a:rPr kumimoji="0" lang="en-US" sz="4000" b="1" i="0" u="none" strike="noStrike" kern="0" cap="none" spc="-85" normalizeH="0" baseline="0" noProof="0">
                <a:ln>
                  <a:noFill/>
                </a:ln>
                <a:solidFill>
                  <a:sysClr val="windowText" lastClr="000000"/>
                </a:solidFill>
                <a:effectLst/>
                <a:uLnTx/>
                <a:uFillTx/>
                <a:latin typeface="Palatino Linotype"/>
                <a:ea typeface="+mj-ea"/>
              </a:rPr>
              <a:t> </a:t>
            </a:r>
            <a:r>
              <a:rPr kumimoji="0" lang="en-US" sz="4000" b="1" i="0" u="none" strike="noStrike" kern="0" cap="none" spc="-10" normalizeH="0" baseline="0" noProof="0">
                <a:ln>
                  <a:noFill/>
                </a:ln>
                <a:solidFill>
                  <a:sysClr val="windowText" lastClr="000000"/>
                </a:solidFill>
                <a:effectLst/>
                <a:uLnTx/>
                <a:uFillTx/>
                <a:latin typeface="Palatino Linotype"/>
                <a:ea typeface="+mj-ea"/>
              </a:rPr>
              <a:t>Example</a:t>
            </a:r>
            <a:endParaRPr kumimoji="0" lang="en-US" sz="4000" b="1" i="0" u="none" strike="noStrike" kern="0" cap="none" spc="-10" normalizeH="0" baseline="0" noProof="0" dirty="0">
              <a:ln>
                <a:noFill/>
              </a:ln>
              <a:solidFill>
                <a:sysClr val="windowText" lastClr="000000"/>
              </a:solidFill>
              <a:effectLst/>
              <a:uLnTx/>
              <a:uFillTx/>
              <a:latin typeface="Palatino Linotype"/>
              <a:ea typeface="+mj-ea"/>
            </a:endParaRPr>
          </a:p>
        </p:txBody>
      </p:sp>
      <p:sp>
        <p:nvSpPr>
          <p:cNvPr id="11" name="object 3">
            <a:extLst>
              <a:ext uri="{FF2B5EF4-FFF2-40B4-BE49-F238E27FC236}">
                <a16:creationId xmlns:a16="http://schemas.microsoft.com/office/drawing/2014/main" id="{0CADC94D-234D-A6C8-B956-D5EE13F118B6}"/>
              </a:ext>
            </a:extLst>
          </p:cNvPr>
          <p:cNvSpPr txBox="1"/>
          <p:nvPr/>
        </p:nvSpPr>
        <p:spPr>
          <a:xfrm>
            <a:off x="707390" y="1836420"/>
            <a:ext cx="4678680" cy="330200"/>
          </a:xfrm>
          <a:prstGeom prst="rect">
            <a:avLst/>
          </a:prstGeom>
        </p:spPr>
        <p:txBody>
          <a:bodyPr vert="horz" wrap="square" lIns="0" tIns="12700" rIns="0" bIns="0" rtlCol="0">
            <a:spAutoFit/>
          </a:bodyPr>
          <a:lstStyle/>
          <a:p>
            <a:pPr marL="242570" indent="-229870">
              <a:spcBef>
                <a:spcPts val="100"/>
              </a:spcBef>
              <a:buClr>
                <a:srgbClr val="000000"/>
              </a:buClr>
              <a:buFont typeface="Arial MT"/>
              <a:buChar char="•"/>
              <a:tabLst>
                <a:tab pos="242570" algn="l"/>
              </a:tabLst>
            </a:pPr>
            <a:r>
              <a:rPr sz="2000" b="1" dirty="0">
                <a:solidFill>
                  <a:srgbClr val="FF0000"/>
                </a:solidFill>
                <a:latin typeface="Palatino Linotype"/>
                <a:cs typeface="Palatino Linotype"/>
              </a:rPr>
              <a:t>Analyzing</a:t>
            </a:r>
            <a:r>
              <a:rPr sz="2000" b="1" spc="-40" dirty="0">
                <a:solidFill>
                  <a:srgbClr val="FF0000"/>
                </a:solidFill>
                <a:latin typeface="Palatino Linotype"/>
                <a:cs typeface="Palatino Linotype"/>
              </a:rPr>
              <a:t> </a:t>
            </a:r>
            <a:r>
              <a:rPr sz="2000" b="1" dirty="0">
                <a:solidFill>
                  <a:srgbClr val="FF0000"/>
                </a:solidFill>
                <a:latin typeface="Palatino Linotype"/>
                <a:cs typeface="Palatino Linotype"/>
              </a:rPr>
              <a:t>line</a:t>
            </a:r>
            <a:r>
              <a:rPr sz="2000" b="1" spc="-35" dirty="0">
                <a:solidFill>
                  <a:srgbClr val="FF0000"/>
                </a:solidFill>
                <a:latin typeface="Palatino Linotype"/>
                <a:cs typeface="Palatino Linotype"/>
              </a:rPr>
              <a:t> </a:t>
            </a:r>
            <a:r>
              <a:rPr sz="2000" b="1" dirty="0">
                <a:solidFill>
                  <a:srgbClr val="FF0000"/>
                </a:solidFill>
                <a:latin typeface="Palatino Linotype"/>
                <a:cs typeface="Palatino Linotype"/>
              </a:rPr>
              <a:t>3):</a:t>
            </a:r>
            <a:r>
              <a:rPr sz="2000" b="1" spc="-35" dirty="0">
                <a:solidFill>
                  <a:srgbClr val="FF0000"/>
                </a:solidFill>
                <a:latin typeface="Palatino Linotype"/>
                <a:cs typeface="Palatino Linotype"/>
              </a:rPr>
              <a:t> </a:t>
            </a:r>
            <a:r>
              <a:rPr sz="2000" dirty="0">
                <a:solidFill>
                  <a:sysClr val="windowText" lastClr="000000"/>
                </a:solidFill>
                <a:latin typeface="Palatino Linotype"/>
                <a:cs typeface="Palatino Linotype"/>
              </a:rPr>
              <a:t>update</a:t>
            </a:r>
            <a:r>
              <a:rPr sz="2000" spc="-4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symbol</a:t>
            </a:r>
            <a:r>
              <a:rPr sz="2000" spc="-30" dirty="0">
                <a:solidFill>
                  <a:sysClr val="windowText" lastClr="000000"/>
                </a:solidFill>
                <a:latin typeface="Palatino Linotype"/>
                <a:cs typeface="Palatino Linotype"/>
              </a:rPr>
              <a:t> </a:t>
            </a:r>
            <a:r>
              <a:rPr sz="2000" spc="-10" dirty="0">
                <a:solidFill>
                  <a:sysClr val="windowText" lastClr="000000"/>
                </a:solidFill>
                <a:latin typeface="Palatino Linotype"/>
                <a:cs typeface="Palatino Linotype"/>
              </a:rPr>
              <a:t>table</a:t>
            </a:r>
            <a:endParaRPr sz="2000">
              <a:solidFill>
                <a:sysClr val="windowText" lastClr="000000"/>
              </a:solidFill>
              <a:latin typeface="Palatino Linotype"/>
              <a:cs typeface="Palatino Linotype"/>
            </a:endParaRPr>
          </a:p>
        </p:txBody>
      </p:sp>
      <p:pic>
        <p:nvPicPr>
          <p:cNvPr id="12" name="object 4">
            <a:extLst>
              <a:ext uri="{FF2B5EF4-FFF2-40B4-BE49-F238E27FC236}">
                <a16:creationId xmlns:a16="http://schemas.microsoft.com/office/drawing/2014/main" id="{8ABAF872-E9D6-B739-ACD7-2BB0A5DFE28C}"/>
              </a:ext>
            </a:extLst>
          </p:cNvPr>
          <p:cNvPicPr/>
          <p:nvPr/>
        </p:nvPicPr>
        <p:blipFill>
          <a:blip r:embed="rId3" cstate="print"/>
          <a:stretch>
            <a:fillRect/>
          </a:stretch>
        </p:blipFill>
        <p:spPr>
          <a:xfrm>
            <a:off x="6740925" y="313327"/>
            <a:ext cx="1387753" cy="1183468"/>
          </a:xfrm>
          <a:prstGeom prst="rect">
            <a:avLst/>
          </a:prstGeom>
        </p:spPr>
      </p:pic>
      <p:graphicFrame>
        <p:nvGraphicFramePr>
          <p:cNvPr id="13" name="object 5">
            <a:extLst>
              <a:ext uri="{FF2B5EF4-FFF2-40B4-BE49-F238E27FC236}">
                <a16:creationId xmlns:a16="http://schemas.microsoft.com/office/drawing/2014/main" id="{2866B5CE-EA3B-9ADE-1579-B810624EBA55}"/>
              </a:ext>
            </a:extLst>
          </p:cNvPr>
          <p:cNvGraphicFramePr>
            <a:graphicFrameLocks noGrp="1"/>
          </p:cNvGraphicFramePr>
          <p:nvPr/>
        </p:nvGraphicFramePr>
        <p:xfrm>
          <a:off x="1517650" y="2556765"/>
          <a:ext cx="6096000" cy="2966720"/>
        </p:xfrm>
        <a:graphic>
          <a:graphicData uri="http://schemas.openxmlformats.org/drawingml/2006/table">
            <a:tbl>
              <a:tblPr firstRow="1" bandRow="1"/>
              <a:tblGrid>
                <a:gridCol w="2032000">
                  <a:extLst>
                    <a:ext uri="{9D8B030D-6E8A-4147-A177-3AD203B41FA5}">
                      <a16:colId xmlns:a16="http://schemas.microsoft.com/office/drawing/2014/main" val="20000"/>
                    </a:ext>
                  </a:extLst>
                </a:gridCol>
                <a:gridCol w="2032000">
                  <a:extLst>
                    <a:ext uri="{9D8B030D-6E8A-4147-A177-3AD203B41FA5}">
                      <a16:colId xmlns:a16="http://schemas.microsoft.com/office/drawing/2014/main" val="20001"/>
                    </a:ext>
                  </a:extLst>
                </a:gridCol>
                <a:gridCol w="2032000">
                  <a:extLst>
                    <a:ext uri="{9D8B030D-6E8A-4147-A177-3AD203B41FA5}">
                      <a16:colId xmlns:a16="http://schemas.microsoft.com/office/drawing/2014/main" val="20002"/>
                    </a:ext>
                  </a:extLst>
                </a:gridCol>
              </a:tblGrid>
              <a:tr h="370840">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gn="ctr">
                        <a:lnSpc>
                          <a:spcPct val="100000"/>
                        </a:lnSpc>
                        <a:spcBef>
                          <a:spcPts val="250"/>
                        </a:spcBef>
                      </a:pPr>
                      <a:r>
                        <a:rPr sz="1600" b="1" spc="-20" dirty="0">
                          <a:latin typeface="Palatino Linotype"/>
                          <a:cs typeface="Palatino Linotype"/>
                        </a:rPr>
                        <a:t>Name</a:t>
                      </a:r>
                      <a:endParaRPr sz="1600">
                        <a:latin typeface="Palatino Linotype"/>
                        <a:cs typeface="Palatino Linotype"/>
                      </a:endParaRPr>
                    </a:p>
                  </a:txBody>
                  <a:tcPr marL="0" marR="0" marT="317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gn="ctr">
                        <a:lnSpc>
                          <a:spcPct val="100000"/>
                        </a:lnSpc>
                        <a:spcBef>
                          <a:spcPts val="250"/>
                        </a:spcBef>
                      </a:pPr>
                      <a:r>
                        <a:rPr sz="1600" b="1" spc="-10" dirty="0">
                          <a:latin typeface="Palatino Linotype"/>
                          <a:cs typeface="Palatino Linotype"/>
                        </a:rPr>
                        <a:t>Liveness</a:t>
                      </a:r>
                      <a:endParaRPr sz="1600">
                        <a:latin typeface="Palatino Linotype"/>
                        <a:cs typeface="Palatino Linotype"/>
                      </a:endParaRPr>
                    </a:p>
                  </a:txBody>
                  <a:tcPr marL="0" marR="0" marT="317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gn="ctr">
                        <a:lnSpc>
                          <a:spcPct val="100000"/>
                        </a:lnSpc>
                        <a:spcBef>
                          <a:spcPts val="250"/>
                        </a:spcBef>
                      </a:pPr>
                      <a:r>
                        <a:rPr sz="1600" b="1" spc="-10" dirty="0">
                          <a:latin typeface="Palatino Linotype"/>
                          <a:cs typeface="Palatino Linotype"/>
                        </a:rPr>
                        <a:t>Next-</a:t>
                      </a:r>
                      <a:r>
                        <a:rPr sz="1600" b="1" spc="-25" dirty="0">
                          <a:latin typeface="Palatino Linotype"/>
                          <a:cs typeface="Palatino Linotype"/>
                        </a:rPr>
                        <a:t>use</a:t>
                      </a:r>
                      <a:endParaRPr sz="1600">
                        <a:latin typeface="Palatino Linotype"/>
                        <a:cs typeface="Palatino Linotype"/>
                      </a:endParaRPr>
                    </a:p>
                  </a:txBody>
                  <a:tcPr marL="0" marR="0" marT="317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370840">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marR="50165" algn="ctr">
                        <a:lnSpc>
                          <a:spcPct val="100000"/>
                        </a:lnSpc>
                        <a:spcBef>
                          <a:spcPts val="254"/>
                        </a:spcBef>
                      </a:pPr>
                      <a:r>
                        <a:rPr sz="1600" spc="-50" dirty="0">
                          <a:solidFill>
                            <a:srgbClr val="FF0000"/>
                          </a:solidFill>
                          <a:latin typeface="Cambria Math"/>
                          <a:cs typeface="Cambria Math"/>
                        </a:rPr>
                        <a:t>𝑖</a:t>
                      </a:r>
                      <a:endParaRPr sz="1600">
                        <a:latin typeface="Cambria Math"/>
                        <a:cs typeface="Cambria Math"/>
                      </a:endParaRPr>
                    </a:p>
                  </a:txBody>
                  <a:tcPr marL="0" marR="0" marT="3238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gn="ctr">
                        <a:lnSpc>
                          <a:spcPct val="100000"/>
                        </a:lnSpc>
                        <a:spcBef>
                          <a:spcPts val="254"/>
                        </a:spcBef>
                      </a:pPr>
                      <a:r>
                        <a:rPr sz="1600" spc="-20" dirty="0">
                          <a:solidFill>
                            <a:srgbClr val="FF0000"/>
                          </a:solidFill>
                          <a:latin typeface="Palatino Linotype"/>
                          <a:cs typeface="Palatino Linotype"/>
                        </a:rPr>
                        <a:t>Live</a:t>
                      </a:r>
                      <a:endParaRPr sz="1600">
                        <a:latin typeface="Palatino Linotype"/>
                        <a:cs typeface="Palatino Linotype"/>
                      </a:endParaRPr>
                    </a:p>
                  </a:txBody>
                  <a:tcPr marL="0" marR="0" marT="3238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gn="ctr">
                        <a:lnSpc>
                          <a:spcPct val="100000"/>
                        </a:lnSpc>
                        <a:spcBef>
                          <a:spcPts val="254"/>
                        </a:spcBef>
                      </a:pPr>
                      <a:r>
                        <a:rPr sz="1600" spc="-50" dirty="0">
                          <a:solidFill>
                            <a:srgbClr val="FF0000"/>
                          </a:solidFill>
                          <a:latin typeface="Palatino Linotype"/>
                          <a:cs typeface="Palatino Linotype"/>
                        </a:rPr>
                        <a:t>3</a:t>
                      </a:r>
                      <a:endParaRPr sz="1600">
                        <a:latin typeface="Palatino Linotype"/>
                        <a:cs typeface="Palatino Linotype"/>
                      </a:endParaRPr>
                    </a:p>
                  </a:txBody>
                  <a:tcPr marL="0" marR="0" marT="3238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370840">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marR="46355" algn="ctr">
                        <a:lnSpc>
                          <a:spcPct val="100000"/>
                        </a:lnSpc>
                        <a:spcBef>
                          <a:spcPts val="265"/>
                        </a:spcBef>
                      </a:pPr>
                      <a:r>
                        <a:rPr sz="1600" spc="-50" dirty="0">
                          <a:latin typeface="Cambria Math"/>
                          <a:cs typeface="Cambria Math"/>
                        </a:rPr>
                        <a:t>𝑗</a:t>
                      </a:r>
                      <a:endParaRPr sz="1600">
                        <a:latin typeface="Cambria Math"/>
                        <a:cs typeface="Cambria Math"/>
                      </a:endParaRPr>
                    </a:p>
                  </a:txBody>
                  <a:tcPr marL="0" marR="0" marT="3365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gn="ctr">
                        <a:lnSpc>
                          <a:spcPct val="100000"/>
                        </a:lnSpc>
                        <a:spcBef>
                          <a:spcPts val="265"/>
                        </a:spcBef>
                      </a:pPr>
                      <a:r>
                        <a:rPr sz="1600" spc="-20" dirty="0">
                          <a:latin typeface="Palatino Linotype"/>
                          <a:cs typeface="Palatino Linotype"/>
                        </a:rPr>
                        <a:t>Live</a:t>
                      </a:r>
                      <a:endParaRPr sz="1600">
                        <a:latin typeface="Palatino Linotype"/>
                        <a:cs typeface="Palatino Linotype"/>
                      </a:endParaRPr>
                    </a:p>
                  </a:txBody>
                  <a:tcPr marL="0" marR="0" marT="3365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gn="ctr">
                        <a:lnSpc>
                          <a:spcPct val="100000"/>
                        </a:lnSpc>
                        <a:spcBef>
                          <a:spcPts val="265"/>
                        </a:spcBef>
                      </a:pPr>
                      <a:r>
                        <a:rPr sz="1600" spc="-50" dirty="0">
                          <a:latin typeface="Palatino Linotype"/>
                          <a:cs typeface="Palatino Linotype"/>
                        </a:rPr>
                        <a:t>4</a:t>
                      </a:r>
                      <a:endParaRPr sz="1600">
                        <a:latin typeface="Palatino Linotype"/>
                        <a:cs typeface="Palatino Linotype"/>
                      </a:endParaRPr>
                    </a:p>
                  </a:txBody>
                  <a:tcPr marL="0" marR="0" marT="3365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370840">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marR="47625" algn="ctr">
                        <a:lnSpc>
                          <a:spcPct val="100000"/>
                        </a:lnSpc>
                        <a:spcBef>
                          <a:spcPts val="250"/>
                        </a:spcBef>
                      </a:pPr>
                      <a:r>
                        <a:rPr sz="1600" spc="-50" dirty="0">
                          <a:latin typeface="Cambria Math"/>
                          <a:cs typeface="Cambria Math"/>
                        </a:rPr>
                        <a:t>𝑎</a:t>
                      </a:r>
                      <a:endParaRPr sz="1600">
                        <a:latin typeface="Cambria Math"/>
                        <a:cs typeface="Cambria Math"/>
                      </a:endParaRPr>
                    </a:p>
                  </a:txBody>
                  <a:tcPr marL="0" marR="0" marT="317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gn="ctr">
                        <a:lnSpc>
                          <a:spcPct val="100000"/>
                        </a:lnSpc>
                        <a:spcBef>
                          <a:spcPts val="250"/>
                        </a:spcBef>
                      </a:pPr>
                      <a:r>
                        <a:rPr sz="1600" spc="-20" dirty="0">
                          <a:latin typeface="Palatino Linotype"/>
                          <a:cs typeface="Palatino Linotype"/>
                        </a:rPr>
                        <a:t>Live</a:t>
                      </a:r>
                      <a:endParaRPr sz="1600">
                        <a:latin typeface="Palatino Linotype"/>
                        <a:cs typeface="Palatino Linotype"/>
                      </a:endParaRPr>
                    </a:p>
                  </a:txBody>
                  <a:tcPr marL="0" marR="0" marT="317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gn="ctr">
                        <a:lnSpc>
                          <a:spcPct val="100000"/>
                        </a:lnSpc>
                        <a:spcBef>
                          <a:spcPts val="250"/>
                        </a:spcBef>
                      </a:pPr>
                      <a:r>
                        <a:rPr sz="1600" spc="-50" dirty="0">
                          <a:latin typeface="Palatino Linotype"/>
                          <a:cs typeface="Palatino Linotype"/>
                        </a:rPr>
                        <a:t>7</a:t>
                      </a:r>
                      <a:endParaRPr sz="1600">
                        <a:latin typeface="Palatino Linotype"/>
                        <a:cs typeface="Palatino Linotype"/>
                      </a:endParaRPr>
                    </a:p>
                  </a:txBody>
                  <a:tcPr marL="0" marR="0" marT="317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370840">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marR="42545" algn="ctr">
                        <a:lnSpc>
                          <a:spcPct val="100000"/>
                        </a:lnSpc>
                        <a:spcBef>
                          <a:spcPts val="254"/>
                        </a:spcBef>
                      </a:pPr>
                      <a:r>
                        <a:rPr sz="1600" spc="-25" dirty="0">
                          <a:solidFill>
                            <a:srgbClr val="FF0000"/>
                          </a:solidFill>
                          <a:latin typeface="Cambria Math"/>
                          <a:cs typeface="Cambria Math"/>
                        </a:rPr>
                        <a:t>𝑡1</a:t>
                      </a:r>
                      <a:endParaRPr sz="1600">
                        <a:latin typeface="Cambria Math"/>
                        <a:cs typeface="Cambria Math"/>
                      </a:endParaRPr>
                    </a:p>
                  </a:txBody>
                  <a:tcPr marL="0" marR="0" marT="3238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gn="ctr">
                        <a:lnSpc>
                          <a:spcPct val="100000"/>
                        </a:lnSpc>
                        <a:spcBef>
                          <a:spcPts val="254"/>
                        </a:spcBef>
                      </a:pPr>
                      <a:r>
                        <a:rPr sz="1600" dirty="0">
                          <a:solidFill>
                            <a:srgbClr val="FF0000"/>
                          </a:solidFill>
                          <a:latin typeface="Palatino Linotype"/>
                          <a:cs typeface="Palatino Linotype"/>
                        </a:rPr>
                        <a:t>Not</a:t>
                      </a:r>
                      <a:r>
                        <a:rPr sz="1600" spc="-20" dirty="0">
                          <a:solidFill>
                            <a:srgbClr val="FF0000"/>
                          </a:solidFill>
                          <a:latin typeface="Palatino Linotype"/>
                          <a:cs typeface="Palatino Linotype"/>
                        </a:rPr>
                        <a:t> live</a:t>
                      </a:r>
                      <a:endParaRPr sz="1600">
                        <a:latin typeface="Palatino Linotype"/>
                        <a:cs typeface="Palatino Linotype"/>
                      </a:endParaRPr>
                    </a:p>
                  </a:txBody>
                  <a:tcPr marL="0" marR="0" marT="3238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nSpc>
                          <a:spcPct val="100000"/>
                        </a:lnSpc>
                      </a:pPr>
                      <a:endParaRPr sz="18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370840">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marR="42545" algn="ctr">
                        <a:lnSpc>
                          <a:spcPct val="100000"/>
                        </a:lnSpc>
                        <a:spcBef>
                          <a:spcPts val="265"/>
                        </a:spcBef>
                      </a:pPr>
                      <a:r>
                        <a:rPr sz="1600" spc="-25" dirty="0">
                          <a:latin typeface="Cambria Math"/>
                          <a:cs typeface="Cambria Math"/>
                        </a:rPr>
                        <a:t>𝑡2</a:t>
                      </a:r>
                      <a:endParaRPr sz="1600">
                        <a:latin typeface="Cambria Math"/>
                        <a:cs typeface="Cambria Math"/>
                      </a:endParaRPr>
                    </a:p>
                  </a:txBody>
                  <a:tcPr marL="0" marR="0" marT="3365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gn="ctr">
                        <a:lnSpc>
                          <a:spcPct val="100000"/>
                        </a:lnSpc>
                        <a:spcBef>
                          <a:spcPts val="265"/>
                        </a:spcBef>
                      </a:pPr>
                      <a:r>
                        <a:rPr sz="1600" dirty="0">
                          <a:latin typeface="Palatino Linotype"/>
                          <a:cs typeface="Palatino Linotype"/>
                        </a:rPr>
                        <a:t>Not</a:t>
                      </a:r>
                      <a:r>
                        <a:rPr sz="1600" spc="-20" dirty="0">
                          <a:latin typeface="Palatino Linotype"/>
                          <a:cs typeface="Palatino Linotype"/>
                        </a:rPr>
                        <a:t> live</a:t>
                      </a:r>
                      <a:endParaRPr sz="1600">
                        <a:latin typeface="Palatino Linotype"/>
                        <a:cs typeface="Palatino Linotype"/>
                      </a:endParaRPr>
                    </a:p>
                  </a:txBody>
                  <a:tcPr marL="0" marR="0" marT="3365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nSpc>
                          <a:spcPct val="100000"/>
                        </a:lnSpc>
                      </a:pPr>
                      <a:endParaRPr sz="18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370840">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marR="42545" algn="ctr">
                        <a:lnSpc>
                          <a:spcPct val="100000"/>
                        </a:lnSpc>
                        <a:spcBef>
                          <a:spcPts val="250"/>
                        </a:spcBef>
                      </a:pPr>
                      <a:r>
                        <a:rPr sz="1600" spc="-25" dirty="0">
                          <a:latin typeface="Cambria Math"/>
                          <a:cs typeface="Cambria Math"/>
                        </a:rPr>
                        <a:t>𝑡3</a:t>
                      </a:r>
                      <a:endParaRPr sz="1600">
                        <a:latin typeface="Cambria Math"/>
                        <a:cs typeface="Cambria Math"/>
                      </a:endParaRPr>
                    </a:p>
                  </a:txBody>
                  <a:tcPr marL="0" marR="0" marT="317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gn="ctr">
                        <a:lnSpc>
                          <a:spcPct val="100000"/>
                        </a:lnSpc>
                        <a:spcBef>
                          <a:spcPts val="250"/>
                        </a:spcBef>
                      </a:pPr>
                      <a:r>
                        <a:rPr sz="1600" dirty="0">
                          <a:latin typeface="Palatino Linotype"/>
                          <a:cs typeface="Palatino Linotype"/>
                        </a:rPr>
                        <a:t>Not</a:t>
                      </a:r>
                      <a:r>
                        <a:rPr sz="1600" spc="-20" dirty="0">
                          <a:latin typeface="Palatino Linotype"/>
                          <a:cs typeface="Palatino Linotype"/>
                        </a:rPr>
                        <a:t> live</a:t>
                      </a:r>
                      <a:endParaRPr sz="1600">
                        <a:latin typeface="Palatino Linotype"/>
                        <a:cs typeface="Palatino Linotype"/>
                      </a:endParaRPr>
                    </a:p>
                  </a:txBody>
                  <a:tcPr marL="0" marR="0" marT="317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nSpc>
                          <a:spcPct val="100000"/>
                        </a:lnSpc>
                      </a:pPr>
                      <a:endParaRPr sz="18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370840">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marR="42545" algn="ctr">
                        <a:lnSpc>
                          <a:spcPct val="100000"/>
                        </a:lnSpc>
                        <a:spcBef>
                          <a:spcPts val="254"/>
                        </a:spcBef>
                      </a:pPr>
                      <a:r>
                        <a:rPr sz="1600" spc="-25" dirty="0">
                          <a:latin typeface="Cambria Math"/>
                          <a:cs typeface="Cambria Math"/>
                        </a:rPr>
                        <a:t>𝑡4</a:t>
                      </a:r>
                      <a:endParaRPr sz="1600">
                        <a:latin typeface="Cambria Math"/>
                        <a:cs typeface="Cambria Math"/>
                      </a:endParaRPr>
                    </a:p>
                  </a:txBody>
                  <a:tcPr marL="0" marR="0" marT="3238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gn="ctr">
                        <a:lnSpc>
                          <a:spcPct val="100000"/>
                        </a:lnSpc>
                        <a:spcBef>
                          <a:spcPts val="254"/>
                        </a:spcBef>
                      </a:pPr>
                      <a:r>
                        <a:rPr sz="1600" dirty="0">
                          <a:latin typeface="Palatino Linotype"/>
                          <a:cs typeface="Palatino Linotype"/>
                        </a:rPr>
                        <a:t>Not</a:t>
                      </a:r>
                      <a:r>
                        <a:rPr sz="1600" spc="-20" dirty="0">
                          <a:latin typeface="Palatino Linotype"/>
                          <a:cs typeface="Palatino Linotype"/>
                        </a:rPr>
                        <a:t> live</a:t>
                      </a:r>
                      <a:endParaRPr sz="1600">
                        <a:latin typeface="Palatino Linotype"/>
                        <a:cs typeface="Palatino Linotype"/>
                      </a:endParaRPr>
                    </a:p>
                  </a:txBody>
                  <a:tcPr marL="0" marR="0" marT="3238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nSpc>
                          <a:spcPct val="100000"/>
                        </a:lnSpc>
                      </a:pPr>
                      <a:endParaRPr sz="18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7"/>
                  </a:ext>
                </a:extLst>
              </a:tr>
            </a:tbl>
          </a:graphicData>
        </a:graphic>
      </p:graphicFrame>
      <p:sp>
        <p:nvSpPr>
          <p:cNvPr id="14" name="object 6">
            <a:extLst>
              <a:ext uri="{FF2B5EF4-FFF2-40B4-BE49-F238E27FC236}">
                <a16:creationId xmlns:a16="http://schemas.microsoft.com/office/drawing/2014/main" id="{E5FB9549-6408-34DE-6143-6F79F727676F}"/>
              </a:ext>
            </a:extLst>
          </p:cNvPr>
          <p:cNvSpPr/>
          <p:nvPr/>
        </p:nvSpPr>
        <p:spPr>
          <a:xfrm>
            <a:off x="6292311" y="361909"/>
            <a:ext cx="351790" cy="76200"/>
          </a:xfrm>
          <a:custGeom>
            <a:avLst/>
            <a:gdLst/>
            <a:ahLst/>
            <a:cxnLst/>
            <a:rect l="l" t="t" r="r" b="b"/>
            <a:pathLst>
              <a:path w="351790" h="76200">
                <a:moveTo>
                  <a:pt x="275337" y="44449"/>
                </a:moveTo>
                <a:lnTo>
                  <a:pt x="275337" y="76200"/>
                </a:lnTo>
                <a:lnTo>
                  <a:pt x="338837" y="44450"/>
                </a:lnTo>
                <a:lnTo>
                  <a:pt x="275337" y="44449"/>
                </a:lnTo>
                <a:close/>
              </a:path>
              <a:path w="351790" h="76200">
                <a:moveTo>
                  <a:pt x="275337" y="31749"/>
                </a:moveTo>
                <a:lnTo>
                  <a:pt x="275337" y="44449"/>
                </a:lnTo>
                <a:lnTo>
                  <a:pt x="288037" y="44450"/>
                </a:lnTo>
                <a:lnTo>
                  <a:pt x="288037" y="31750"/>
                </a:lnTo>
                <a:lnTo>
                  <a:pt x="275337" y="31749"/>
                </a:lnTo>
                <a:close/>
              </a:path>
              <a:path w="351790" h="76200">
                <a:moveTo>
                  <a:pt x="275337" y="0"/>
                </a:moveTo>
                <a:lnTo>
                  <a:pt x="275337" y="31749"/>
                </a:lnTo>
                <a:lnTo>
                  <a:pt x="288037" y="31750"/>
                </a:lnTo>
                <a:lnTo>
                  <a:pt x="288037" y="44450"/>
                </a:lnTo>
                <a:lnTo>
                  <a:pt x="338839" y="44448"/>
                </a:lnTo>
                <a:lnTo>
                  <a:pt x="351537" y="38100"/>
                </a:lnTo>
                <a:lnTo>
                  <a:pt x="275337" y="0"/>
                </a:lnTo>
                <a:close/>
              </a:path>
              <a:path w="351790" h="76200">
                <a:moveTo>
                  <a:pt x="0" y="31748"/>
                </a:moveTo>
                <a:lnTo>
                  <a:pt x="0" y="44448"/>
                </a:lnTo>
                <a:lnTo>
                  <a:pt x="275337" y="44449"/>
                </a:lnTo>
                <a:lnTo>
                  <a:pt x="275337" y="31749"/>
                </a:lnTo>
                <a:lnTo>
                  <a:pt x="0" y="31748"/>
                </a:lnTo>
                <a:close/>
              </a:path>
            </a:pathLst>
          </a:custGeom>
          <a:solidFill>
            <a:srgbClr val="FF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Tree>
    <p:extLst>
      <p:ext uri="{BB962C8B-B14F-4D97-AF65-F5344CB8AC3E}">
        <p14:creationId xmlns:p14="http://schemas.microsoft.com/office/powerpoint/2010/main" val="34908730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42</a:t>
            </a:fld>
            <a:endParaRPr lang="en-US"/>
          </a:p>
        </p:txBody>
      </p:sp>
      <p:sp>
        <p:nvSpPr>
          <p:cNvPr id="7" name="object 2">
            <a:extLst>
              <a:ext uri="{FF2B5EF4-FFF2-40B4-BE49-F238E27FC236}">
                <a16:creationId xmlns:a16="http://schemas.microsoft.com/office/drawing/2014/main" id="{7EA7AE66-29B6-7855-6084-3CA2EFE30FD5}"/>
              </a:ext>
            </a:extLst>
          </p:cNvPr>
          <p:cNvSpPr txBox="1">
            <a:spLocks/>
          </p:cNvSpPr>
          <p:nvPr/>
        </p:nvSpPr>
        <p:spPr>
          <a:xfrm>
            <a:off x="707390" y="524763"/>
            <a:ext cx="7729219" cy="63500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4000" b="1" i="0" u="none" strike="noStrike" kern="0" cap="none" spc="0" normalizeH="0" baseline="0" noProof="0">
                <a:ln>
                  <a:noFill/>
                </a:ln>
                <a:solidFill>
                  <a:sysClr val="windowText" lastClr="000000"/>
                </a:solidFill>
                <a:effectLst/>
                <a:uLnTx/>
                <a:uFillTx/>
                <a:latin typeface="Palatino Linotype"/>
                <a:ea typeface="+mj-ea"/>
              </a:rPr>
              <a:t>Flow</a:t>
            </a:r>
            <a:r>
              <a:rPr kumimoji="0" lang="en-US" sz="4000" b="1" i="0" u="none" strike="noStrike" kern="0" cap="none" spc="-70" normalizeH="0" baseline="0" noProof="0">
                <a:ln>
                  <a:noFill/>
                </a:ln>
                <a:solidFill>
                  <a:sysClr val="windowText" lastClr="000000"/>
                </a:solidFill>
                <a:effectLst/>
                <a:uLnTx/>
                <a:uFillTx/>
                <a:latin typeface="Palatino Linotype"/>
                <a:ea typeface="+mj-ea"/>
              </a:rPr>
              <a:t> </a:t>
            </a:r>
            <a:r>
              <a:rPr kumimoji="0" lang="en-US" sz="4000" b="1" i="0" u="none" strike="noStrike" kern="0" cap="none" spc="-10" normalizeH="0" baseline="0" noProof="0">
                <a:ln>
                  <a:noFill/>
                </a:ln>
                <a:solidFill>
                  <a:sysClr val="windowText" lastClr="000000"/>
                </a:solidFill>
                <a:effectLst/>
                <a:uLnTx/>
                <a:uFillTx/>
                <a:latin typeface="Palatino Linotype"/>
                <a:ea typeface="+mj-ea"/>
              </a:rPr>
              <a:t>Graphs</a:t>
            </a:r>
            <a:endParaRPr kumimoji="0" lang="en-US" sz="4000" b="1" i="0" u="none" strike="noStrike" kern="0" cap="none" spc="-10" normalizeH="0" baseline="0" noProof="0" dirty="0">
              <a:ln>
                <a:noFill/>
              </a:ln>
              <a:solidFill>
                <a:sysClr val="windowText" lastClr="000000"/>
              </a:solidFill>
              <a:effectLst/>
              <a:uLnTx/>
              <a:uFillTx/>
              <a:latin typeface="Palatino Linotype"/>
              <a:ea typeface="+mj-ea"/>
            </a:endParaRPr>
          </a:p>
        </p:txBody>
      </p:sp>
      <p:sp>
        <p:nvSpPr>
          <p:cNvPr id="8" name="object 3">
            <a:extLst>
              <a:ext uri="{FF2B5EF4-FFF2-40B4-BE49-F238E27FC236}">
                <a16:creationId xmlns:a16="http://schemas.microsoft.com/office/drawing/2014/main" id="{2A216CE3-A2FF-1046-2DB9-5F46C72294AA}"/>
              </a:ext>
            </a:extLst>
          </p:cNvPr>
          <p:cNvSpPr txBox="1"/>
          <p:nvPr/>
        </p:nvSpPr>
        <p:spPr>
          <a:xfrm>
            <a:off x="687949" y="1486306"/>
            <a:ext cx="7782559" cy="4514215"/>
          </a:xfrm>
          <a:prstGeom prst="rect">
            <a:avLst/>
          </a:prstGeom>
        </p:spPr>
        <p:txBody>
          <a:bodyPr vert="horz" wrap="square" lIns="0" tIns="171450" rIns="0" bIns="0" rtlCol="0">
            <a:spAutoFit/>
          </a:bodyPr>
          <a:lstStyle/>
          <a:p>
            <a:pPr marL="242570" indent="-229870">
              <a:spcBef>
                <a:spcPts val="1350"/>
              </a:spcBef>
              <a:buClr>
                <a:srgbClr val="000000"/>
              </a:buClr>
              <a:buFont typeface="Arial MT"/>
              <a:buChar char="•"/>
              <a:tabLst>
                <a:tab pos="242570" algn="l"/>
              </a:tabLst>
            </a:pPr>
            <a:r>
              <a:rPr dirty="0">
                <a:solidFill>
                  <a:srgbClr val="FF0000"/>
                </a:solidFill>
                <a:latin typeface="Palatino Linotype"/>
                <a:cs typeface="Palatino Linotype"/>
              </a:rPr>
              <a:t>The</a:t>
            </a:r>
            <a:r>
              <a:rPr spc="-30" dirty="0">
                <a:solidFill>
                  <a:srgbClr val="FF0000"/>
                </a:solidFill>
                <a:latin typeface="Palatino Linotype"/>
                <a:cs typeface="Palatino Linotype"/>
              </a:rPr>
              <a:t> </a:t>
            </a:r>
            <a:r>
              <a:rPr dirty="0">
                <a:solidFill>
                  <a:srgbClr val="FF0000"/>
                </a:solidFill>
                <a:latin typeface="Palatino Linotype"/>
                <a:cs typeface="Palatino Linotype"/>
              </a:rPr>
              <a:t>nodes</a:t>
            </a:r>
            <a:r>
              <a:rPr spc="-30" dirty="0">
                <a:solidFill>
                  <a:srgbClr val="FF0000"/>
                </a:solidFill>
                <a:latin typeface="Palatino Linotype"/>
                <a:cs typeface="Palatino Linotype"/>
              </a:rPr>
              <a:t> </a:t>
            </a:r>
            <a:r>
              <a:rPr dirty="0">
                <a:solidFill>
                  <a:srgbClr val="FF0000"/>
                </a:solidFill>
                <a:latin typeface="Palatino Linotype"/>
                <a:cs typeface="Palatino Linotype"/>
              </a:rPr>
              <a:t>of</a:t>
            </a:r>
            <a:r>
              <a:rPr spc="-30" dirty="0">
                <a:solidFill>
                  <a:srgbClr val="FF0000"/>
                </a:solidFill>
                <a:latin typeface="Palatino Linotype"/>
                <a:cs typeface="Palatino Linotype"/>
              </a:rPr>
              <a:t> </a:t>
            </a:r>
            <a:r>
              <a:rPr dirty="0">
                <a:solidFill>
                  <a:srgbClr val="FF0000"/>
                </a:solidFill>
                <a:latin typeface="Palatino Linotype"/>
                <a:cs typeface="Palatino Linotype"/>
              </a:rPr>
              <a:t>the</a:t>
            </a:r>
            <a:r>
              <a:rPr spc="-25" dirty="0">
                <a:solidFill>
                  <a:srgbClr val="FF0000"/>
                </a:solidFill>
                <a:latin typeface="Palatino Linotype"/>
                <a:cs typeface="Palatino Linotype"/>
              </a:rPr>
              <a:t> </a:t>
            </a:r>
            <a:r>
              <a:rPr dirty="0">
                <a:solidFill>
                  <a:srgbClr val="FF0000"/>
                </a:solidFill>
                <a:latin typeface="Palatino Linotype"/>
                <a:cs typeface="Palatino Linotype"/>
              </a:rPr>
              <a:t>flow</a:t>
            </a:r>
            <a:r>
              <a:rPr spc="-35" dirty="0">
                <a:solidFill>
                  <a:srgbClr val="FF0000"/>
                </a:solidFill>
                <a:latin typeface="Palatino Linotype"/>
                <a:cs typeface="Palatino Linotype"/>
              </a:rPr>
              <a:t> </a:t>
            </a:r>
            <a:r>
              <a:rPr dirty="0">
                <a:solidFill>
                  <a:srgbClr val="FF0000"/>
                </a:solidFill>
                <a:latin typeface="Palatino Linotype"/>
                <a:cs typeface="Palatino Linotype"/>
              </a:rPr>
              <a:t>graphs</a:t>
            </a:r>
            <a:r>
              <a:rPr spc="-30" dirty="0">
                <a:solidFill>
                  <a:srgbClr val="FF0000"/>
                </a:solidFill>
                <a:latin typeface="Palatino Linotype"/>
                <a:cs typeface="Palatino Linotype"/>
              </a:rPr>
              <a:t> </a:t>
            </a:r>
            <a:r>
              <a:rPr dirty="0">
                <a:solidFill>
                  <a:srgbClr val="FF0000"/>
                </a:solidFill>
                <a:latin typeface="Palatino Linotype"/>
                <a:cs typeface="Palatino Linotype"/>
              </a:rPr>
              <a:t>are</a:t>
            </a:r>
            <a:r>
              <a:rPr spc="-30" dirty="0">
                <a:solidFill>
                  <a:srgbClr val="FF0000"/>
                </a:solidFill>
                <a:latin typeface="Palatino Linotype"/>
                <a:cs typeface="Palatino Linotype"/>
              </a:rPr>
              <a:t> </a:t>
            </a:r>
            <a:r>
              <a:rPr dirty="0">
                <a:solidFill>
                  <a:srgbClr val="FF0000"/>
                </a:solidFill>
                <a:latin typeface="Palatino Linotype"/>
                <a:cs typeface="Palatino Linotype"/>
              </a:rPr>
              <a:t>the</a:t>
            </a:r>
            <a:r>
              <a:rPr spc="-25" dirty="0">
                <a:solidFill>
                  <a:srgbClr val="FF0000"/>
                </a:solidFill>
                <a:latin typeface="Palatino Linotype"/>
                <a:cs typeface="Palatino Linotype"/>
              </a:rPr>
              <a:t> </a:t>
            </a:r>
            <a:r>
              <a:rPr dirty="0">
                <a:solidFill>
                  <a:srgbClr val="FF0000"/>
                </a:solidFill>
                <a:latin typeface="Palatino Linotype"/>
                <a:cs typeface="Palatino Linotype"/>
              </a:rPr>
              <a:t>basic</a:t>
            </a:r>
            <a:r>
              <a:rPr spc="-30" dirty="0">
                <a:solidFill>
                  <a:srgbClr val="FF0000"/>
                </a:solidFill>
                <a:latin typeface="Palatino Linotype"/>
                <a:cs typeface="Palatino Linotype"/>
              </a:rPr>
              <a:t> </a:t>
            </a:r>
            <a:r>
              <a:rPr spc="-10" dirty="0">
                <a:solidFill>
                  <a:srgbClr val="FF0000"/>
                </a:solidFill>
                <a:latin typeface="Palatino Linotype"/>
                <a:cs typeface="Palatino Linotype"/>
              </a:rPr>
              <a:t>blocks</a:t>
            </a:r>
            <a:endParaRPr>
              <a:solidFill>
                <a:sysClr val="windowText" lastClr="000000"/>
              </a:solidFill>
              <a:latin typeface="Palatino Linotype"/>
              <a:cs typeface="Palatino Linotype"/>
            </a:endParaRPr>
          </a:p>
          <a:p>
            <a:pPr marL="697865" lvl="1" indent="-227965">
              <a:spcBef>
                <a:spcPts val="1045"/>
              </a:spcBef>
              <a:buFont typeface="Wingdings"/>
              <a:buChar char=""/>
              <a:tabLst>
                <a:tab pos="697865" algn="l"/>
              </a:tabLst>
            </a:pPr>
            <a:r>
              <a:rPr sz="1500" dirty="0">
                <a:solidFill>
                  <a:sysClr val="windowText" lastClr="000000"/>
                </a:solidFill>
                <a:latin typeface="Palatino Linotype"/>
                <a:cs typeface="Palatino Linotype"/>
              </a:rPr>
              <a:t>There</a:t>
            </a:r>
            <a:r>
              <a:rPr sz="1500" spc="-30" dirty="0">
                <a:solidFill>
                  <a:sysClr val="windowText" lastClr="000000"/>
                </a:solidFill>
                <a:latin typeface="Palatino Linotype"/>
                <a:cs typeface="Palatino Linotype"/>
              </a:rPr>
              <a:t> </a:t>
            </a:r>
            <a:r>
              <a:rPr sz="1500" dirty="0">
                <a:solidFill>
                  <a:sysClr val="windowText" lastClr="000000"/>
                </a:solidFill>
                <a:latin typeface="Palatino Linotype"/>
                <a:cs typeface="Palatino Linotype"/>
              </a:rPr>
              <a:t>is</a:t>
            </a:r>
            <a:r>
              <a:rPr sz="1500" spc="-20" dirty="0">
                <a:solidFill>
                  <a:sysClr val="windowText" lastClr="000000"/>
                </a:solidFill>
                <a:latin typeface="Palatino Linotype"/>
                <a:cs typeface="Palatino Linotype"/>
              </a:rPr>
              <a:t> </a:t>
            </a:r>
            <a:r>
              <a:rPr sz="1500" dirty="0">
                <a:solidFill>
                  <a:sysClr val="windowText" lastClr="000000"/>
                </a:solidFill>
                <a:latin typeface="Palatino Linotype"/>
                <a:cs typeface="Palatino Linotype"/>
              </a:rPr>
              <a:t>an</a:t>
            </a:r>
            <a:r>
              <a:rPr sz="1500" spc="-20" dirty="0">
                <a:solidFill>
                  <a:sysClr val="windowText" lastClr="000000"/>
                </a:solidFill>
                <a:latin typeface="Palatino Linotype"/>
                <a:cs typeface="Palatino Linotype"/>
              </a:rPr>
              <a:t> </a:t>
            </a:r>
            <a:r>
              <a:rPr sz="1500" dirty="0">
                <a:solidFill>
                  <a:sysClr val="windowText" lastClr="000000"/>
                </a:solidFill>
                <a:latin typeface="Palatino Linotype"/>
                <a:cs typeface="Palatino Linotype"/>
              </a:rPr>
              <a:t>edge</a:t>
            </a:r>
            <a:r>
              <a:rPr sz="1500" spc="-30" dirty="0">
                <a:solidFill>
                  <a:sysClr val="windowText" lastClr="000000"/>
                </a:solidFill>
                <a:latin typeface="Palatino Linotype"/>
                <a:cs typeface="Palatino Linotype"/>
              </a:rPr>
              <a:t> </a:t>
            </a:r>
            <a:r>
              <a:rPr sz="1500" dirty="0">
                <a:solidFill>
                  <a:sysClr val="windowText" lastClr="000000"/>
                </a:solidFill>
                <a:latin typeface="Palatino Linotype"/>
                <a:cs typeface="Palatino Linotype"/>
              </a:rPr>
              <a:t>from</a:t>
            </a:r>
            <a:r>
              <a:rPr sz="1500" spc="-20" dirty="0">
                <a:solidFill>
                  <a:sysClr val="windowText" lastClr="000000"/>
                </a:solidFill>
                <a:latin typeface="Palatino Linotype"/>
                <a:cs typeface="Palatino Linotype"/>
              </a:rPr>
              <a:t> </a:t>
            </a:r>
            <a:r>
              <a:rPr sz="1500" dirty="0">
                <a:solidFill>
                  <a:sysClr val="windowText" lastClr="000000"/>
                </a:solidFill>
                <a:latin typeface="Palatino Linotype"/>
                <a:cs typeface="Palatino Linotype"/>
              </a:rPr>
              <a:t>block</a:t>
            </a:r>
            <a:r>
              <a:rPr sz="1500" spc="-20" dirty="0">
                <a:solidFill>
                  <a:sysClr val="windowText" lastClr="000000"/>
                </a:solidFill>
                <a:latin typeface="Palatino Linotype"/>
                <a:cs typeface="Palatino Linotype"/>
              </a:rPr>
              <a:t> </a:t>
            </a:r>
            <a:r>
              <a:rPr sz="1500" dirty="0">
                <a:solidFill>
                  <a:sysClr val="windowText" lastClr="000000"/>
                </a:solidFill>
                <a:latin typeface="Cambria Math"/>
                <a:cs typeface="Cambria Math"/>
              </a:rPr>
              <a:t>𝐵</a:t>
            </a:r>
            <a:r>
              <a:rPr sz="1500" spc="65" dirty="0">
                <a:solidFill>
                  <a:sysClr val="windowText" lastClr="000000"/>
                </a:solidFill>
                <a:latin typeface="Cambria Math"/>
                <a:cs typeface="Cambria Math"/>
              </a:rPr>
              <a:t> </a:t>
            </a:r>
            <a:r>
              <a:rPr sz="1500" dirty="0">
                <a:solidFill>
                  <a:sysClr val="windowText" lastClr="000000"/>
                </a:solidFill>
                <a:latin typeface="Palatino Linotype"/>
                <a:cs typeface="Palatino Linotype"/>
              </a:rPr>
              <a:t>to</a:t>
            </a:r>
            <a:r>
              <a:rPr sz="1500" spc="-15" dirty="0">
                <a:solidFill>
                  <a:sysClr val="windowText" lastClr="000000"/>
                </a:solidFill>
                <a:latin typeface="Palatino Linotype"/>
                <a:cs typeface="Palatino Linotype"/>
              </a:rPr>
              <a:t> </a:t>
            </a:r>
            <a:r>
              <a:rPr sz="1500" dirty="0">
                <a:solidFill>
                  <a:sysClr val="windowText" lastClr="000000"/>
                </a:solidFill>
                <a:latin typeface="Palatino Linotype"/>
                <a:cs typeface="Palatino Linotype"/>
              </a:rPr>
              <a:t>block</a:t>
            </a:r>
            <a:r>
              <a:rPr sz="1500" spc="-20" dirty="0">
                <a:solidFill>
                  <a:sysClr val="windowText" lastClr="000000"/>
                </a:solidFill>
                <a:latin typeface="Palatino Linotype"/>
                <a:cs typeface="Palatino Linotype"/>
              </a:rPr>
              <a:t> </a:t>
            </a:r>
            <a:r>
              <a:rPr sz="1500" dirty="0">
                <a:solidFill>
                  <a:sysClr val="windowText" lastClr="000000"/>
                </a:solidFill>
                <a:latin typeface="Cambria Math"/>
                <a:cs typeface="Cambria Math"/>
              </a:rPr>
              <a:t>𝐶</a:t>
            </a:r>
            <a:r>
              <a:rPr sz="1500" spc="95" dirty="0">
                <a:solidFill>
                  <a:sysClr val="windowText" lastClr="000000"/>
                </a:solidFill>
                <a:latin typeface="Cambria Math"/>
                <a:cs typeface="Cambria Math"/>
              </a:rPr>
              <a:t> </a:t>
            </a:r>
            <a:r>
              <a:rPr sz="1500" b="1" dirty="0">
                <a:solidFill>
                  <a:srgbClr val="FF0000"/>
                </a:solidFill>
                <a:latin typeface="Palatino Linotype"/>
                <a:cs typeface="Palatino Linotype"/>
              </a:rPr>
              <a:t>iff</a:t>
            </a:r>
            <a:r>
              <a:rPr sz="1500" b="1" spc="-20" dirty="0">
                <a:solidFill>
                  <a:srgbClr val="FF0000"/>
                </a:solidFill>
                <a:latin typeface="Palatino Linotype"/>
                <a:cs typeface="Palatino Linotype"/>
              </a:rPr>
              <a:t> </a:t>
            </a:r>
            <a:r>
              <a:rPr sz="1500" dirty="0">
                <a:solidFill>
                  <a:sysClr val="windowText" lastClr="000000"/>
                </a:solidFill>
                <a:latin typeface="Palatino Linotype"/>
                <a:cs typeface="Palatino Linotype"/>
              </a:rPr>
              <a:t>it</a:t>
            </a:r>
            <a:r>
              <a:rPr sz="1500" spc="-25" dirty="0">
                <a:solidFill>
                  <a:sysClr val="windowText" lastClr="000000"/>
                </a:solidFill>
                <a:latin typeface="Palatino Linotype"/>
                <a:cs typeface="Palatino Linotype"/>
              </a:rPr>
              <a:t> </a:t>
            </a:r>
            <a:r>
              <a:rPr sz="1500" dirty="0">
                <a:solidFill>
                  <a:sysClr val="windowText" lastClr="000000"/>
                </a:solidFill>
                <a:latin typeface="Palatino Linotype"/>
                <a:cs typeface="Palatino Linotype"/>
              </a:rPr>
              <a:t>is</a:t>
            </a:r>
            <a:r>
              <a:rPr sz="1500" spc="-20" dirty="0">
                <a:solidFill>
                  <a:sysClr val="windowText" lastClr="000000"/>
                </a:solidFill>
                <a:latin typeface="Palatino Linotype"/>
                <a:cs typeface="Palatino Linotype"/>
              </a:rPr>
              <a:t> </a:t>
            </a:r>
            <a:r>
              <a:rPr sz="1500" dirty="0">
                <a:solidFill>
                  <a:sysClr val="windowText" lastClr="000000"/>
                </a:solidFill>
                <a:latin typeface="Palatino Linotype"/>
                <a:cs typeface="Palatino Linotype"/>
              </a:rPr>
              <a:t>possible</a:t>
            </a:r>
            <a:r>
              <a:rPr sz="1500" spc="-30" dirty="0">
                <a:solidFill>
                  <a:sysClr val="windowText" lastClr="000000"/>
                </a:solidFill>
                <a:latin typeface="Palatino Linotype"/>
                <a:cs typeface="Palatino Linotype"/>
              </a:rPr>
              <a:t> </a:t>
            </a:r>
            <a:r>
              <a:rPr sz="1500" dirty="0">
                <a:solidFill>
                  <a:sysClr val="windowText" lastClr="000000"/>
                </a:solidFill>
                <a:latin typeface="Palatino Linotype"/>
                <a:cs typeface="Palatino Linotype"/>
              </a:rPr>
              <a:t>for</a:t>
            </a:r>
            <a:r>
              <a:rPr sz="1500" spc="-25" dirty="0">
                <a:solidFill>
                  <a:sysClr val="windowText" lastClr="000000"/>
                </a:solidFill>
                <a:latin typeface="Palatino Linotype"/>
                <a:cs typeface="Palatino Linotype"/>
              </a:rPr>
              <a:t> </a:t>
            </a:r>
            <a:r>
              <a:rPr sz="1500" dirty="0">
                <a:solidFill>
                  <a:sysClr val="windowText" lastClr="000000"/>
                </a:solidFill>
                <a:latin typeface="Palatino Linotype"/>
                <a:cs typeface="Palatino Linotype"/>
              </a:rPr>
              <a:t>the</a:t>
            </a:r>
            <a:r>
              <a:rPr sz="1500" spc="-25" dirty="0">
                <a:solidFill>
                  <a:sysClr val="windowText" lastClr="000000"/>
                </a:solidFill>
                <a:latin typeface="Palatino Linotype"/>
                <a:cs typeface="Palatino Linotype"/>
              </a:rPr>
              <a:t> </a:t>
            </a:r>
            <a:r>
              <a:rPr sz="1500" dirty="0">
                <a:solidFill>
                  <a:sysClr val="windowText" lastClr="000000"/>
                </a:solidFill>
                <a:latin typeface="Palatino Linotype"/>
                <a:cs typeface="Palatino Linotype"/>
              </a:rPr>
              <a:t>first</a:t>
            </a:r>
            <a:r>
              <a:rPr sz="1500" spc="-25" dirty="0">
                <a:solidFill>
                  <a:sysClr val="windowText" lastClr="000000"/>
                </a:solidFill>
                <a:latin typeface="Palatino Linotype"/>
                <a:cs typeface="Palatino Linotype"/>
              </a:rPr>
              <a:t> </a:t>
            </a:r>
            <a:r>
              <a:rPr sz="1500" dirty="0">
                <a:solidFill>
                  <a:sysClr val="windowText" lastClr="000000"/>
                </a:solidFill>
                <a:latin typeface="Palatino Linotype"/>
                <a:cs typeface="Palatino Linotype"/>
              </a:rPr>
              <a:t>instruction</a:t>
            </a:r>
            <a:r>
              <a:rPr sz="1500" spc="-20" dirty="0">
                <a:solidFill>
                  <a:sysClr val="windowText" lastClr="000000"/>
                </a:solidFill>
                <a:latin typeface="Palatino Linotype"/>
                <a:cs typeface="Palatino Linotype"/>
              </a:rPr>
              <a:t> </a:t>
            </a:r>
            <a:r>
              <a:rPr sz="1500" dirty="0">
                <a:solidFill>
                  <a:sysClr val="windowText" lastClr="000000"/>
                </a:solidFill>
                <a:latin typeface="Palatino Linotype"/>
                <a:cs typeface="Palatino Linotype"/>
              </a:rPr>
              <a:t>in</a:t>
            </a:r>
            <a:r>
              <a:rPr sz="1500" spc="-20" dirty="0">
                <a:solidFill>
                  <a:sysClr val="windowText" lastClr="000000"/>
                </a:solidFill>
                <a:latin typeface="Palatino Linotype"/>
                <a:cs typeface="Palatino Linotype"/>
              </a:rPr>
              <a:t> </a:t>
            </a:r>
            <a:r>
              <a:rPr sz="1500" spc="-50" dirty="0">
                <a:solidFill>
                  <a:sysClr val="windowText" lastClr="000000"/>
                </a:solidFill>
                <a:latin typeface="Cambria Math"/>
                <a:cs typeface="Cambria Math"/>
              </a:rPr>
              <a:t>𝐶</a:t>
            </a:r>
            <a:endParaRPr sz="1500">
              <a:solidFill>
                <a:sysClr val="windowText" lastClr="000000"/>
              </a:solidFill>
              <a:latin typeface="Cambria Math"/>
              <a:cs typeface="Cambria Math"/>
            </a:endParaRPr>
          </a:p>
          <a:p>
            <a:pPr marL="698500">
              <a:spcBef>
                <a:spcPts val="409"/>
              </a:spcBef>
            </a:pPr>
            <a:r>
              <a:rPr sz="1500" dirty="0">
                <a:solidFill>
                  <a:sysClr val="windowText" lastClr="000000"/>
                </a:solidFill>
                <a:latin typeface="Palatino Linotype"/>
                <a:cs typeface="Palatino Linotype"/>
              </a:rPr>
              <a:t>to</a:t>
            </a:r>
            <a:r>
              <a:rPr sz="1500" spc="-30" dirty="0">
                <a:solidFill>
                  <a:sysClr val="windowText" lastClr="000000"/>
                </a:solidFill>
                <a:latin typeface="Palatino Linotype"/>
                <a:cs typeface="Palatino Linotype"/>
              </a:rPr>
              <a:t> </a:t>
            </a:r>
            <a:r>
              <a:rPr sz="1500" dirty="0">
                <a:solidFill>
                  <a:sysClr val="windowText" lastClr="000000"/>
                </a:solidFill>
                <a:latin typeface="Palatino Linotype"/>
                <a:cs typeface="Palatino Linotype"/>
              </a:rPr>
              <a:t>immediately</a:t>
            </a:r>
            <a:r>
              <a:rPr sz="1500" spc="-30" dirty="0">
                <a:solidFill>
                  <a:sysClr val="windowText" lastClr="000000"/>
                </a:solidFill>
                <a:latin typeface="Palatino Linotype"/>
                <a:cs typeface="Palatino Linotype"/>
              </a:rPr>
              <a:t> </a:t>
            </a:r>
            <a:r>
              <a:rPr sz="1500" dirty="0">
                <a:solidFill>
                  <a:sysClr val="windowText" lastClr="000000"/>
                </a:solidFill>
                <a:latin typeface="Palatino Linotype"/>
                <a:cs typeface="Palatino Linotype"/>
              </a:rPr>
              <a:t>follow</a:t>
            </a:r>
            <a:r>
              <a:rPr sz="1500" spc="-40" dirty="0">
                <a:solidFill>
                  <a:sysClr val="windowText" lastClr="000000"/>
                </a:solidFill>
                <a:latin typeface="Palatino Linotype"/>
                <a:cs typeface="Palatino Linotype"/>
              </a:rPr>
              <a:t> </a:t>
            </a:r>
            <a:r>
              <a:rPr sz="1500" dirty="0">
                <a:solidFill>
                  <a:sysClr val="windowText" lastClr="000000"/>
                </a:solidFill>
                <a:latin typeface="Palatino Linotype"/>
                <a:cs typeface="Palatino Linotype"/>
              </a:rPr>
              <a:t>the</a:t>
            </a:r>
            <a:r>
              <a:rPr sz="1500" spc="-40" dirty="0">
                <a:solidFill>
                  <a:sysClr val="windowText" lastClr="000000"/>
                </a:solidFill>
                <a:latin typeface="Palatino Linotype"/>
                <a:cs typeface="Palatino Linotype"/>
              </a:rPr>
              <a:t> </a:t>
            </a:r>
            <a:r>
              <a:rPr sz="1500" dirty="0">
                <a:solidFill>
                  <a:sysClr val="windowText" lastClr="000000"/>
                </a:solidFill>
                <a:latin typeface="Palatino Linotype"/>
                <a:cs typeface="Palatino Linotype"/>
              </a:rPr>
              <a:t>last</a:t>
            </a:r>
            <a:r>
              <a:rPr sz="1500" spc="-35" dirty="0">
                <a:solidFill>
                  <a:sysClr val="windowText" lastClr="000000"/>
                </a:solidFill>
                <a:latin typeface="Palatino Linotype"/>
                <a:cs typeface="Palatino Linotype"/>
              </a:rPr>
              <a:t> </a:t>
            </a:r>
            <a:r>
              <a:rPr sz="1500" dirty="0">
                <a:solidFill>
                  <a:sysClr val="windowText" lastClr="000000"/>
                </a:solidFill>
                <a:latin typeface="Palatino Linotype"/>
                <a:cs typeface="Palatino Linotype"/>
              </a:rPr>
              <a:t>instruction</a:t>
            </a:r>
            <a:r>
              <a:rPr sz="1500" spc="-35" dirty="0">
                <a:solidFill>
                  <a:sysClr val="windowText" lastClr="000000"/>
                </a:solidFill>
                <a:latin typeface="Palatino Linotype"/>
                <a:cs typeface="Palatino Linotype"/>
              </a:rPr>
              <a:t> </a:t>
            </a:r>
            <a:r>
              <a:rPr sz="1500" dirty="0">
                <a:solidFill>
                  <a:sysClr val="windowText" lastClr="000000"/>
                </a:solidFill>
                <a:latin typeface="Palatino Linotype"/>
                <a:cs typeface="Palatino Linotype"/>
              </a:rPr>
              <a:t>in</a:t>
            </a:r>
            <a:r>
              <a:rPr sz="1500" spc="-30" dirty="0">
                <a:solidFill>
                  <a:sysClr val="windowText" lastClr="000000"/>
                </a:solidFill>
                <a:latin typeface="Palatino Linotype"/>
                <a:cs typeface="Palatino Linotype"/>
              </a:rPr>
              <a:t> </a:t>
            </a:r>
            <a:r>
              <a:rPr sz="1500" spc="-50" dirty="0">
                <a:solidFill>
                  <a:sysClr val="windowText" lastClr="000000"/>
                </a:solidFill>
                <a:latin typeface="Cambria Math"/>
                <a:cs typeface="Cambria Math"/>
              </a:rPr>
              <a:t>𝐵</a:t>
            </a:r>
            <a:endParaRPr sz="1500">
              <a:solidFill>
                <a:sysClr val="windowText" lastClr="000000"/>
              </a:solidFill>
              <a:latin typeface="Cambria Math"/>
              <a:cs typeface="Cambria Math"/>
            </a:endParaRPr>
          </a:p>
          <a:p>
            <a:pPr>
              <a:spcBef>
                <a:spcPts val="434"/>
              </a:spcBef>
            </a:pPr>
            <a:endParaRPr sz="1500">
              <a:solidFill>
                <a:sysClr val="windowText" lastClr="000000"/>
              </a:solidFill>
              <a:latin typeface="Cambria Math"/>
              <a:cs typeface="Cambria Math"/>
            </a:endParaRPr>
          </a:p>
          <a:p>
            <a:pPr marL="242570" indent="-229870">
              <a:buClr>
                <a:srgbClr val="000000"/>
              </a:buClr>
              <a:buFont typeface="Arial MT"/>
              <a:buChar char="•"/>
              <a:tabLst>
                <a:tab pos="242570" algn="l"/>
              </a:tabLst>
            </a:pPr>
            <a:r>
              <a:rPr spc="-10" dirty="0">
                <a:solidFill>
                  <a:srgbClr val="FF0000"/>
                </a:solidFill>
                <a:latin typeface="Palatino Linotype"/>
                <a:cs typeface="Palatino Linotype"/>
              </a:rPr>
              <a:t>Possible</a:t>
            </a:r>
            <a:r>
              <a:rPr spc="-35" dirty="0">
                <a:solidFill>
                  <a:srgbClr val="FF0000"/>
                </a:solidFill>
                <a:latin typeface="Palatino Linotype"/>
                <a:cs typeface="Palatino Linotype"/>
              </a:rPr>
              <a:t> </a:t>
            </a:r>
            <a:r>
              <a:rPr dirty="0">
                <a:solidFill>
                  <a:srgbClr val="FF0000"/>
                </a:solidFill>
                <a:latin typeface="Palatino Linotype"/>
                <a:cs typeface="Palatino Linotype"/>
              </a:rPr>
              <a:t>reasons</a:t>
            </a:r>
            <a:r>
              <a:rPr spc="-40" dirty="0">
                <a:solidFill>
                  <a:srgbClr val="FF0000"/>
                </a:solidFill>
                <a:latin typeface="Palatino Linotype"/>
                <a:cs typeface="Palatino Linotype"/>
              </a:rPr>
              <a:t> </a:t>
            </a:r>
            <a:r>
              <a:rPr dirty="0">
                <a:solidFill>
                  <a:srgbClr val="FF0000"/>
                </a:solidFill>
                <a:latin typeface="Palatino Linotype"/>
                <a:cs typeface="Palatino Linotype"/>
              </a:rPr>
              <a:t>for</a:t>
            </a:r>
            <a:r>
              <a:rPr spc="-30" dirty="0">
                <a:solidFill>
                  <a:srgbClr val="FF0000"/>
                </a:solidFill>
                <a:latin typeface="Palatino Linotype"/>
                <a:cs typeface="Palatino Linotype"/>
              </a:rPr>
              <a:t> </a:t>
            </a:r>
            <a:r>
              <a:rPr dirty="0">
                <a:solidFill>
                  <a:srgbClr val="FF0000"/>
                </a:solidFill>
                <a:latin typeface="Palatino Linotype"/>
                <a:cs typeface="Palatino Linotype"/>
              </a:rPr>
              <a:t>the</a:t>
            </a:r>
            <a:r>
              <a:rPr spc="-35" dirty="0">
                <a:solidFill>
                  <a:srgbClr val="FF0000"/>
                </a:solidFill>
                <a:latin typeface="Palatino Linotype"/>
                <a:cs typeface="Palatino Linotype"/>
              </a:rPr>
              <a:t> </a:t>
            </a:r>
            <a:r>
              <a:rPr dirty="0">
                <a:solidFill>
                  <a:srgbClr val="FF0000"/>
                </a:solidFill>
                <a:latin typeface="Palatino Linotype"/>
                <a:cs typeface="Palatino Linotype"/>
              </a:rPr>
              <a:t>introduction</a:t>
            </a:r>
            <a:r>
              <a:rPr spc="-35" dirty="0">
                <a:solidFill>
                  <a:srgbClr val="FF0000"/>
                </a:solidFill>
                <a:latin typeface="Palatino Linotype"/>
                <a:cs typeface="Palatino Linotype"/>
              </a:rPr>
              <a:t> </a:t>
            </a:r>
            <a:r>
              <a:rPr dirty="0">
                <a:solidFill>
                  <a:srgbClr val="FF0000"/>
                </a:solidFill>
                <a:latin typeface="Palatino Linotype"/>
                <a:cs typeface="Palatino Linotype"/>
              </a:rPr>
              <a:t>of</a:t>
            </a:r>
            <a:r>
              <a:rPr spc="-30" dirty="0">
                <a:solidFill>
                  <a:srgbClr val="FF0000"/>
                </a:solidFill>
                <a:latin typeface="Palatino Linotype"/>
                <a:cs typeface="Palatino Linotype"/>
              </a:rPr>
              <a:t> </a:t>
            </a:r>
            <a:r>
              <a:rPr dirty="0">
                <a:solidFill>
                  <a:srgbClr val="FF0000"/>
                </a:solidFill>
                <a:latin typeface="Palatino Linotype"/>
                <a:cs typeface="Palatino Linotype"/>
              </a:rPr>
              <a:t>edges</a:t>
            </a:r>
            <a:r>
              <a:rPr spc="-40" dirty="0">
                <a:solidFill>
                  <a:srgbClr val="FF0000"/>
                </a:solidFill>
                <a:latin typeface="Palatino Linotype"/>
                <a:cs typeface="Palatino Linotype"/>
              </a:rPr>
              <a:t> </a:t>
            </a:r>
            <a:r>
              <a:rPr dirty="0">
                <a:solidFill>
                  <a:srgbClr val="FF0000"/>
                </a:solidFill>
                <a:latin typeface="Palatino Linotype"/>
                <a:cs typeface="Palatino Linotype"/>
              </a:rPr>
              <a:t>(</a:t>
            </a:r>
            <a:r>
              <a:rPr dirty="0">
                <a:solidFill>
                  <a:srgbClr val="FF0000"/>
                </a:solidFill>
                <a:latin typeface="Cambria Math"/>
                <a:cs typeface="Cambria Math"/>
              </a:rPr>
              <a:t>𝐵</a:t>
            </a:r>
            <a:r>
              <a:rPr spc="114" dirty="0">
                <a:solidFill>
                  <a:srgbClr val="FF0000"/>
                </a:solidFill>
                <a:latin typeface="Cambria Math"/>
                <a:cs typeface="Cambria Math"/>
              </a:rPr>
              <a:t> </a:t>
            </a:r>
            <a:r>
              <a:rPr dirty="0">
                <a:solidFill>
                  <a:srgbClr val="FF0000"/>
                </a:solidFill>
                <a:latin typeface="Cambria Math"/>
                <a:cs typeface="Cambria Math"/>
              </a:rPr>
              <a:t>→</a:t>
            </a:r>
            <a:r>
              <a:rPr spc="65" dirty="0">
                <a:solidFill>
                  <a:srgbClr val="FF0000"/>
                </a:solidFill>
                <a:latin typeface="Cambria Math"/>
                <a:cs typeface="Cambria Math"/>
              </a:rPr>
              <a:t> </a:t>
            </a:r>
            <a:r>
              <a:rPr spc="-25" dirty="0">
                <a:solidFill>
                  <a:srgbClr val="FF0000"/>
                </a:solidFill>
                <a:latin typeface="Cambria Math"/>
                <a:cs typeface="Cambria Math"/>
              </a:rPr>
              <a:t>𝐶</a:t>
            </a:r>
            <a:r>
              <a:rPr spc="-25" dirty="0">
                <a:solidFill>
                  <a:srgbClr val="FF0000"/>
                </a:solidFill>
                <a:latin typeface="Palatino Linotype"/>
                <a:cs typeface="Palatino Linotype"/>
              </a:rPr>
              <a:t>)</a:t>
            </a:r>
            <a:endParaRPr>
              <a:solidFill>
                <a:sysClr val="windowText" lastClr="000000"/>
              </a:solidFill>
              <a:latin typeface="Palatino Linotype"/>
              <a:cs typeface="Palatino Linotype"/>
            </a:endParaRPr>
          </a:p>
          <a:p>
            <a:pPr marL="697865" lvl="1" indent="-227965">
              <a:spcBef>
                <a:spcPts val="925"/>
              </a:spcBef>
              <a:buClr>
                <a:srgbClr val="000000"/>
              </a:buClr>
              <a:buFont typeface="Wingdings"/>
              <a:buChar char=""/>
              <a:tabLst>
                <a:tab pos="697865" algn="l"/>
              </a:tabLst>
            </a:pPr>
            <a:r>
              <a:rPr sz="1500" b="1" dirty="0">
                <a:solidFill>
                  <a:srgbClr val="0432FF"/>
                </a:solidFill>
                <a:latin typeface="Palatino Linotype"/>
                <a:cs typeface="Palatino Linotype"/>
              </a:rPr>
              <a:t>Case</a:t>
            </a:r>
            <a:r>
              <a:rPr sz="1500" b="1" spc="-25" dirty="0">
                <a:solidFill>
                  <a:srgbClr val="0432FF"/>
                </a:solidFill>
                <a:latin typeface="Palatino Linotype"/>
                <a:cs typeface="Palatino Linotype"/>
              </a:rPr>
              <a:t> </a:t>
            </a:r>
            <a:r>
              <a:rPr sz="1500" b="1" dirty="0">
                <a:solidFill>
                  <a:srgbClr val="0432FF"/>
                </a:solidFill>
                <a:latin typeface="Palatino Linotype"/>
                <a:cs typeface="Palatino Linotype"/>
              </a:rPr>
              <a:t>1:</a:t>
            </a:r>
            <a:r>
              <a:rPr sz="1500" b="1" spc="-25" dirty="0">
                <a:solidFill>
                  <a:srgbClr val="0432FF"/>
                </a:solidFill>
                <a:latin typeface="Palatino Linotype"/>
                <a:cs typeface="Palatino Linotype"/>
              </a:rPr>
              <a:t> </a:t>
            </a:r>
            <a:r>
              <a:rPr sz="1500" dirty="0">
                <a:solidFill>
                  <a:sysClr val="windowText" lastClr="000000"/>
                </a:solidFill>
                <a:latin typeface="Palatino Linotype"/>
                <a:cs typeface="Palatino Linotype"/>
              </a:rPr>
              <a:t>There</a:t>
            </a:r>
            <a:r>
              <a:rPr sz="1500" spc="-30" dirty="0">
                <a:solidFill>
                  <a:sysClr val="windowText" lastClr="000000"/>
                </a:solidFill>
                <a:latin typeface="Palatino Linotype"/>
                <a:cs typeface="Palatino Linotype"/>
              </a:rPr>
              <a:t> </a:t>
            </a:r>
            <a:r>
              <a:rPr sz="1500" dirty="0">
                <a:solidFill>
                  <a:sysClr val="windowText" lastClr="000000"/>
                </a:solidFill>
                <a:latin typeface="Palatino Linotype"/>
                <a:cs typeface="Palatino Linotype"/>
              </a:rPr>
              <a:t>is</a:t>
            </a:r>
            <a:r>
              <a:rPr sz="1500" spc="-20" dirty="0">
                <a:solidFill>
                  <a:sysClr val="windowText" lastClr="000000"/>
                </a:solidFill>
                <a:latin typeface="Palatino Linotype"/>
                <a:cs typeface="Palatino Linotype"/>
              </a:rPr>
              <a:t> </a:t>
            </a:r>
            <a:r>
              <a:rPr sz="1500" dirty="0">
                <a:solidFill>
                  <a:sysClr val="windowText" lastClr="000000"/>
                </a:solidFill>
                <a:latin typeface="Palatino Linotype"/>
                <a:cs typeface="Palatino Linotype"/>
              </a:rPr>
              <a:t>a</a:t>
            </a:r>
            <a:r>
              <a:rPr sz="1500" spc="-25" dirty="0">
                <a:solidFill>
                  <a:sysClr val="windowText" lastClr="000000"/>
                </a:solidFill>
                <a:latin typeface="Palatino Linotype"/>
                <a:cs typeface="Palatino Linotype"/>
              </a:rPr>
              <a:t> </a:t>
            </a:r>
            <a:r>
              <a:rPr sz="1500" u="sng" dirty="0">
                <a:solidFill>
                  <a:sysClr val="windowText" lastClr="000000"/>
                </a:solidFill>
                <a:uFill>
                  <a:solidFill>
                    <a:srgbClr val="000000"/>
                  </a:solidFill>
                </a:uFill>
                <a:latin typeface="Palatino Linotype"/>
                <a:cs typeface="Palatino Linotype"/>
              </a:rPr>
              <a:t>(un)conditional</a:t>
            </a:r>
            <a:r>
              <a:rPr sz="1500" u="sng" spc="-20" dirty="0">
                <a:solidFill>
                  <a:sysClr val="windowText" lastClr="000000"/>
                </a:solidFill>
                <a:uFill>
                  <a:solidFill>
                    <a:srgbClr val="000000"/>
                  </a:solidFill>
                </a:uFill>
                <a:latin typeface="Palatino Linotype"/>
                <a:cs typeface="Palatino Linotype"/>
              </a:rPr>
              <a:t> </a:t>
            </a:r>
            <a:r>
              <a:rPr sz="1500" u="sng" dirty="0">
                <a:solidFill>
                  <a:sysClr val="windowText" lastClr="000000"/>
                </a:solidFill>
                <a:uFill>
                  <a:solidFill>
                    <a:srgbClr val="000000"/>
                  </a:solidFill>
                </a:uFill>
                <a:latin typeface="Palatino Linotype"/>
                <a:cs typeface="Palatino Linotype"/>
              </a:rPr>
              <a:t>jump</a:t>
            </a:r>
            <a:r>
              <a:rPr sz="1500" spc="-25" dirty="0">
                <a:solidFill>
                  <a:sysClr val="windowText" lastClr="000000"/>
                </a:solidFill>
                <a:latin typeface="Palatino Linotype"/>
                <a:cs typeface="Palatino Linotype"/>
              </a:rPr>
              <a:t> </a:t>
            </a:r>
            <a:r>
              <a:rPr sz="1500" dirty="0">
                <a:solidFill>
                  <a:sysClr val="windowText" lastClr="000000"/>
                </a:solidFill>
                <a:latin typeface="Palatino Linotype"/>
                <a:cs typeface="Palatino Linotype"/>
              </a:rPr>
              <a:t>from</a:t>
            </a:r>
            <a:r>
              <a:rPr sz="1500" spc="-25" dirty="0">
                <a:solidFill>
                  <a:sysClr val="windowText" lastClr="000000"/>
                </a:solidFill>
                <a:latin typeface="Palatino Linotype"/>
                <a:cs typeface="Palatino Linotype"/>
              </a:rPr>
              <a:t> </a:t>
            </a:r>
            <a:r>
              <a:rPr sz="1500" dirty="0">
                <a:solidFill>
                  <a:sysClr val="windowText" lastClr="000000"/>
                </a:solidFill>
                <a:latin typeface="Palatino Linotype"/>
                <a:cs typeface="Palatino Linotype"/>
              </a:rPr>
              <a:t>the</a:t>
            </a:r>
            <a:r>
              <a:rPr sz="1500" spc="-30" dirty="0">
                <a:solidFill>
                  <a:sysClr val="windowText" lastClr="000000"/>
                </a:solidFill>
                <a:latin typeface="Palatino Linotype"/>
                <a:cs typeface="Palatino Linotype"/>
              </a:rPr>
              <a:t> </a:t>
            </a:r>
            <a:r>
              <a:rPr sz="1500" dirty="0">
                <a:solidFill>
                  <a:sysClr val="windowText" lastClr="000000"/>
                </a:solidFill>
                <a:latin typeface="Palatino Linotype"/>
                <a:cs typeface="Palatino Linotype"/>
              </a:rPr>
              <a:t>end</a:t>
            </a:r>
            <a:r>
              <a:rPr sz="1500" spc="-25" dirty="0">
                <a:solidFill>
                  <a:sysClr val="windowText" lastClr="000000"/>
                </a:solidFill>
                <a:latin typeface="Palatino Linotype"/>
                <a:cs typeface="Palatino Linotype"/>
              </a:rPr>
              <a:t> </a:t>
            </a:r>
            <a:r>
              <a:rPr sz="1500" dirty="0">
                <a:solidFill>
                  <a:sysClr val="windowText" lastClr="000000"/>
                </a:solidFill>
                <a:latin typeface="Palatino Linotype"/>
                <a:cs typeface="Palatino Linotype"/>
              </a:rPr>
              <a:t>of</a:t>
            </a:r>
            <a:r>
              <a:rPr sz="1500" spc="-20" dirty="0">
                <a:solidFill>
                  <a:sysClr val="windowText" lastClr="000000"/>
                </a:solidFill>
                <a:latin typeface="Palatino Linotype"/>
                <a:cs typeface="Palatino Linotype"/>
              </a:rPr>
              <a:t> </a:t>
            </a:r>
            <a:r>
              <a:rPr sz="1500" dirty="0">
                <a:solidFill>
                  <a:sysClr val="windowText" lastClr="000000"/>
                </a:solidFill>
                <a:latin typeface="Cambria Math"/>
                <a:cs typeface="Cambria Math"/>
              </a:rPr>
              <a:t>𝐵</a:t>
            </a:r>
            <a:r>
              <a:rPr sz="1500" spc="65" dirty="0">
                <a:solidFill>
                  <a:sysClr val="windowText" lastClr="000000"/>
                </a:solidFill>
                <a:latin typeface="Cambria Math"/>
                <a:cs typeface="Cambria Math"/>
              </a:rPr>
              <a:t> </a:t>
            </a:r>
            <a:r>
              <a:rPr sz="1500" dirty="0">
                <a:solidFill>
                  <a:sysClr val="windowText" lastClr="000000"/>
                </a:solidFill>
                <a:latin typeface="Palatino Linotype"/>
                <a:cs typeface="Palatino Linotype"/>
              </a:rPr>
              <a:t>to</a:t>
            </a:r>
            <a:r>
              <a:rPr sz="1500" spc="-20" dirty="0">
                <a:solidFill>
                  <a:sysClr val="windowText" lastClr="000000"/>
                </a:solidFill>
                <a:latin typeface="Palatino Linotype"/>
                <a:cs typeface="Palatino Linotype"/>
              </a:rPr>
              <a:t> </a:t>
            </a:r>
            <a:r>
              <a:rPr sz="1500" dirty="0">
                <a:solidFill>
                  <a:sysClr val="windowText" lastClr="000000"/>
                </a:solidFill>
                <a:latin typeface="Palatino Linotype"/>
                <a:cs typeface="Palatino Linotype"/>
              </a:rPr>
              <a:t>the</a:t>
            </a:r>
            <a:r>
              <a:rPr sz="1500" spc="-30" dirty="0">
                <a:solidFill>
                  <a:sysClr val="windowText" lastClr="000000"/>
                </a:solidFill>
                <a:latin typeface="Palatino Linotype"/>
                <a:cs typeface="Palatino Linotype"/>
              </a:rPr>
              <a:t> </a:t>
            </a:r>
            <a:r>
              <a:rPr sz="1500" dirty="0">
                <a:solidFill>
                  <a:sysClr val="windowText" lastClr="000000"/>
                </a:solidFill>
                <a:latin typeface="Palatino Linotype"/>
                <a:cs typeface="Palatino Linotype"/>
              </a:rPr>
              <a:t>beginning</a:t>
            </a:r>
            <a:r>
              <a:rPr sz="1500" spc="-20" dirty="0">
                <a:solidFill>
                  <a:sysClr val="windowText" lastClr="000000"/>
                </a:solidFill>
                <a:latin typeface="Palatino Linotype"/>
                <a:cs typeface="Palatino Linotype"/>
              </a:rPr>
              <a:t> </a:t>
            </a:r>
            <a:r>
              <a:rPr sz="1500" dirty="0">
                <a:solidFill>
                  <a:sysClr val="windowText" lastClr="000000"/>
                </a:solidFill>
                <a:latin typeface="Palatino Linotype"/>
                <a:cs typeface="Palatino Linotype"/>
              </a:rPr>
              <a:t>of</a:t>
            </a:r>
            <a:r>
              <a:rPr sz="1500" spc="-20" dirty="0">
                <a:solidFill>
                  <a:sysClr val="windowText" lastClr="000000"/>
                </a:solidFill>
                <a:latin typeface="Palatino Linotype"/>
                <a:cs typeface="Palatino Linotype"/>
              </a:rPr>
              <a:t> </a:t>
            </a:r>
            <a:r>
              <a:rPr sz="1500" spc="-50" dirty="0">
                <a:solidFill>
                  <a:sysClr val="windowText" lastClr="000000"/>
                </a:solidFill>
                <a:latin typeface="Cambria Math"/>
                <a:cs typeface="Cambria Math"/>
              </a:rPr>
              <a:t>𝐶</a:t>
            </a:r>
            <a:endParaRPr sz="1500">
              <a:solidFill>
                <a:sysClr val="windowText" lastClr="000000"/>
              </a:solidFill>
              <a:latin typeface="Cambria Math"/>
              <a:cs typeface="Cambria Math"/>
            </a:endParaRPr>
          </a:p>
          <a:p>
            <a:pPr marL="698500" marR="111760" lvl="1" indent="-228600">
              <a:lnSpc>
                <a:spcPct val="117300"/>
              </a:lnSpc>
              <a:spcBef>
                <a:spcPts val="695"/>
              </a:spcBef>
              <a:buClr>
                <a:srgbClr val="000000"/>
              </a:buClr>
              <a:buFont typeface="Wingdings"/>
              <a:buChar char=""/>
              <a:tabLst>
                <a:tab pos="698500" algn="l"/>
              </a:tabLst>
            </a:pPr>
            <a:r>
              <a:rPr sz="1500" b="1" dirty="0">
                <a:solidFill>
                  <a:srgbClr val="0432FF"/>
                </a:solidFill>
                <a:latin typeface="Palatino Linotype"/>
                <a:cs typeface="Palatino Linotype"/>
              </a:rPr>
              <a:t>Case</a:t>
            </a:r>
            <a:r>
              <a:rPr sz="1500" b="1" spc="-25" dirty="0">
                <a:solidFill>
                  <a:srgbClr val="0432FF"/>
                </a:solidFill>
                <a:latin typeface="Palatino Linotype"/>
                <a:cs typeface="Palatino Linotype"/>
              </a:rPr>
              <a:t> </a:t>
            </a:r>
            <a:r>
              <a:rPr sz="1500" b="1" dirty="0">
                <a:solidFill>
                  <a:srgbClr val="0432FF"/>
                </a:solidFill>
                <a:latin typeface="Palatino Linotype"/>
                <a:cs typeface="Palatino Linotype"/>
              </a:rPr>
              <a:t>2:</a:t>
            </a:r>
            <a:r>
              <a:rPr sz="1500" b="1" spc="-25" dirty="0">
                <a:solidFill>
                  <a:srgbClr val="0432FF"/>
                </a:solidFill>
                <a:latin typeface="Palatino Linotype"/>
                <a:cs typeface="Palatino Linotype"/>
              </a:rPr>
              <a:t> </a:t>
            </a:r>
            <a:r>
              <a:rPr sz="1500" dirty="0">
                <a:solidFill>
                  <a:sysClr val="windowText" lastClr="000000"/>
                </a:solidFill>
                <a:latin typeface="Cambria Math"/>
                <a:cs typeface="Cambria Math"/>
              </a:rPr>
              <a:t>𝐶</a:t>
            </a:r>
            <a:r>
              <a:rPr sz="1500" spc="85" dirty="0">
                <a:solidFill>
                  <a:sysClr val="windowText" lastClr="000000"/>
                </a:solidFill>
                <a:latin typeface="Cambria Math"/>
                <a:cs typeface="Cambria Math"/>
              </a:rPr>
              <a:t> </a:t>
            </a:r>
            <a:r>
              <a:rPr sz="1500" dirty="0">
                <a:solidFill>
                  <a:sysClr val="windowText" lastClr="000000"/>
                </a:solidFill>
                <a:latin typeface="Palatino Linotype"/>
                <a:cs typeface="Palatino Linotype"/>
              </a:rPr>
              <a:t>immediately</a:t>
            </a:r>
            <a:r>
              <a:rPr sz="1500" spc="-20" dirty="0">
                <a:solidFill>
                  <a:sysClr val="windowText" lastClr="000000"/>
                </a:solidFill>
                <a:latin typeface="Palatino Linotype"/>
                <a:cs typeface="Palatino Linotype"/>
              </a:rPr>
              <a:t> </a:t>
            </a:r>
            <a:r>
              <a:rPr sz="1500" dirty="0">
                <a:solidFill>
                  <a:sysClr val="windowText" lastClr="000000"/>
                </a:solidFill>
                <a:latin typeface="Palatino Linotype"/>
                <a:cs typeface="Palatino Linotype"/>
              </a:rPr>
              <a:t>follows</a:t>
            </a:r>
            <a:r>
              <a:rPr sz="1500" spc="-20" dirty="0">
                <a:solidFill>
                  <a:sysClr val="windowText" lastClr="000000"/>
                </a:solidFill>
                <a:latin typeface="Palatino Linotype"/>
                <a:cs typeface="Palatino Linotype"/>
              </a:rPr>
              <a:t> </a:t>
            </a:r>
            <a:r>
              <a:rPr sz="1500" dirty="0">
                <a:solidFill>
                  <a:sysClr val="windowText" lastClr="000000"/>
                </a:solidFill>
                <a:latin typeface="Cambria Math"/>
                <a:cs typeface="Cambria Math"/>
              </a:rPr>
              <a:t>𝐵</a:t>
            </a:r>
            <a:r>
              <a:rPr sz="1500" spc="60" dirty="0">
                <a:solidFill>
                  <a:sysClr val="windowText" lastClr="000000"/>
                </a:solidFill>
                <a:latin typeface="Cambria Math"/>
                <a:cs typeface="Cambria Math"/>
              </a:rPr>
              <a:t> </a:t>
            </a:r>
            <a:r>
              <a:rPr sz="1500" dirty="0">
                <a:solidFill>
                  <a:sysClr val="windowText" lastClr="000000"/>
                </a:solidFill>
                <a:latin typeface="Palatino Linotype"/>
                <a:cs typeface="Palatino Linotype"/>
              </a:rPr>
              <a:t>in</a:t>
            </a:r>
            <a:r>
              <a:rPr sz="1500" spc="-25" dirty="0">
                <a:solidFill>
                  <a:sysClr val="windowText" lastClr="000000"/>
                </a:solidFill>
                <a:latin typeface="Palatino Linotype"/>
                <a:cs typeface="Palatino Linotype"/>
              </a:rPr>
              <a:t> </a:t>
            </a:r>
            <a:r>
              <a:rPr sz="1500" dirty="0">
                <a:solidFill>
                  <a:sysClr val="windowText" lastClr="000000"/>
                </a:solidFill>
                <a:latin typeface="Palatino Linotype"/>
                <a:cs typeface="Palatino Linotype"/>
              </a:rPr>
              <a:t>the</a:t>
            </a:r>
            <a:r>
              <a:rPr sz="1500" spc="-30" dirty="0">
                <a:solidFill>
                  <a:sysClr val="windowText" lastClr="000000"/>
                </a:solidFill>
                <a:latin typeface="Palatino Linotype"/>
                <a:cs typeface="Palatino Linotype"/>
              </a:rPr>
              <a:t> </a:t>
            </a:r>
            <a:r>
              <a:rPr sz="1500" dirty="0">
                <a:solidFill>
                  <a:sysClr val="windowText" lastClr="000000"/>
                </a:solidFill>
                <a:latin typeface="Palatino Linotype"/>
                <a:cs typeface="Palatino Linotype"/>
              </a:rPr>
              <a:t>original</a:t>
            </a:r>
            <a:r>
              <a:rPr sz="1500" spc="-20" dirty="0">
                <a:solidFill>
                  <a:sysClr val="windowText" lastClr="000000"/>
                </a:solidFill>
                <a:latin typeface="Palatino Linotype"/>
                <a:cs typeface="Palatino Linotype"/>
              </a:rPr>
              <a:t> </a:t>
            </a:r>
            <a:r>
              <a:rPr sz="1500" spc="-10" dirty="0">
                <a:solidFill>
                  <a:sysClr val="windowText" lastClr="000000"/>
                </a:solidFill>
                <a:latin typeface="Palatino Linotype"/>
                <a:cs typeface="Palatino Linotype"/>
              </a:rPr>
              <a:t>three-</a:t>
            </a:r>
            <a:r>
              <a:rPr sz="1500" dirty="0">
                <a:solidFill>
                  <a:sysClr val="windowText" lastClr="000000"/>
                </a:solidFill>
                <a:latin typeface="Palatino Linotype"/>
                <a:cs typeface="Palatino Linotype"/>
              </a:rPr>
              <a:t>address</a:t>
            </a:r>
            <a:r>
              <a:rPr sz="1500" spc="-25" dirty="0">
                <a:solidFill>
                  <a:sysClr val="windowText" lastClr="000000"/>
                </a:solidFill>
                <a:latin typeface="Palatino Linotype"/>
                <a:cs typeface="Palatino Linotype"/>
              </a:rPr>
              <a:t> </a:t>
            </a:r>
            <a:r>
              <a:rPr sz="1500" dirty="0">
                <a:solidFill>
                  <a:sysClr val="windowText" lastClr="000000"/>
                </a:solidFill>
                <a:latin typeface="Palatino Linotype"/>
                <a:cs typeface="Palatino Linotype"/>
              </a:rPr>
              <a:t>code,</a:t>
            </a:r>
            <a:r>
              <a:rPr sz="1500" spc="-20" dirty="0">
                <a:solidFill>
                  <a:sysClr val="windowText" lastClr="000000"/>
                </a:solidFill>
                <a:latin typeface="Palatino Linotype"/>
                <a:cs typeface="Palatino Linotype"/>
              </a:rPr>
              <a:t> </a:t>
            </a:r>
            <a:r>
              <a:rPr sz="1500" dirty="0">
                <a:solidFill>
                  <a:sysClr val="windowText" lastClr="000000"/>
                </a:solidFill>
                <a:latin typeface="Palatino Linotype"/>
                <a:cs typeface="Palatino Linotype"/>
              </a:rPr>
              <a:t>and</a:t>
            </a:r>
            <a:r>
              <a:rPr sz="1500" spc="-30" dirty="0">
                <a:solidFill>
                  <a:sysClr val="windowText" lastClr="000000"/>
                </a:solidFill>
                <a:latin typeface="Palatino Linotype"/>
                <a:cs typeface="Palatino Linotype"/>
              </a:rPr>
              <a:t> </a:t>
            </a:r>
            <a:r>
              <a:rPr sz="1500" dirty="0">
                <a:solidFill>
                  <a:sysClr val="windowText" lastClr="000000"/>
                </a:solidFill>
                <a:latin typeface="Cambria Math"/>
                <a:cs typeface="Cambria Math"/>
              </a:rPr>
              <a:t>𝐵</a:t>
            </a:r>
            <a:r>
              <a:rPr sz="1500" spc="60" dirty="0">
                <a:solidFill>
                  <a:sysClr val="windowText" lastClr="000000"/>
                </a:solidFill>
                <a:latin typeface="Cambria Math"/>
                <a:cs typeface="Cambria Math"/>
              </a:rPr>
              <a:t> </a:t>
            </a:r>
            <a:r>
              <a:rPr sz="1500" dirty="0">
                <a:solidFill>
                  <a:sysClr val="windowText" lastClr="000000"/>
                </a:solidFill>
                <a:latin typeface="Palatino Linotype"/>
                <a:cs typeface="Palatino Linotype"/>
              </a:rPr>
              <a:t>does</a:t>
            </a:r>
            <a:r>
              <a:rPr sz="1500" spc="-20" dirty="0">
                <a:solidFill>
                  <a:sysClr val="windowText" lastClr="000000"/>
                </a:solidFill>
                <a:latin typeface="Palatino Linotype"/>
                <a:cs typeface="Palatino Linotype"/>
              </a:rPr>
              <a:t> </a:t>
            </a:r>
            <a:r>
              <a:rPr sz="1500" spc="-25" dirty="0">
                <a:solidFill>
                  <a:sysClr val="windowText" lastClr="000000"/>
                </a:solidFill>
                <a:latin typeface="Palatino Linotype"/>
                <a:cs typeface="Palatino Linotype"/>
              </a:rPr>
              <a:t>not </a:t>
            </a:r>
            <a:r>
              <a:rPr sz="1500" dirty="0">
                <a:solidFill>
                  <a:sysClr val="windowText" lastClr="000000"/>
                </a:solidFill>
                <a:latin typeface="Palatino Linotype"/>
                <a:cs typeface="Palatino Linotype"/>
              </a:rPr>
              <a:t>end</a:t>
            </a:r>
            <a:r>
              <a:rPr sz="1500" spc="-35" dirty="0">
                <a:solidFill>
                  <a:sysClr val="windowText" lastClr="000000"/>
                </a:solidFill>
                <a:latin typeface="Palatino Linotype"/>
                <a:cs typeface="Palatino Linotype"/>
              </a:rPr>
              <a:t> </a:t>
            </a:r>
            <a:r>
              <a:rPr sz="1500" dirty="0">
                <a:solidFill>
                  <a:sysClr val="windowText" lastClr="000000"/>
                </a:solidFill>
                <a:latin typeface="Palatino Linotype"/>
                <a:cs typeface="Palatino Linotype"/>
              </a:rPr>
              <a:t>in</a:t>
            </a:r>
            <a:r>
              <a:rPr sz="1500" spc="-30" dirty="0">
                <a:solidFill>
                  <a:sysClr val="windowText" lastClr="000000"/>
                </a:solidFill>
                <a:latin typeface="Palatino Linotype"/>
                <a:cs typeface="Palatino Linotype"/>
              </a:rPr>
              <a:t> </a:t>
            </a:r>
            <a:r>
              <a:rPr sz="1500" dirty="0">
                <a:solidFill>
                  <a:sysClr val="windowText" lastClr="000000"/>
                </a:solidFill>
                <a:latin typeface="Palatino Linotype"/>
                <a:cs typeface="Palatino Linotype"/>
              </a:rPr>
              <a:t>an</a:t>
            </a:r>
            <a:r>
              <a:rPr sz="1500" spc="-30" dirty="0">
                <a:solidFill>
                  <a:sysClr val="windowText" lastClr="000000"/>
                </a:solidFill>
                <a:latin typeface="Palatino Linotype"/>
                <a:cs typeface="Palatino Linotype"/>
              </a:rPr>
              <a:t> </a:t>
            </a:r>
            <a:r>
              <a:rPr sz="1500" u="sng" dirty="0">
                <a:solidFill>
                  <a:sysClr val="windowText" lastClr="000000"/>
                </a:solidFill>
                <a:uFill>
                  <a:solidFill>
                    <a:srgbClr val="000000"/>
                  </a:solidFill>
                </a:uFill>
                <a:latin typeface="Palatino Linotype"/>
                <a:cs typeface="Palatino Linotype"/>
              </a:rPr>
              <a:t>unconditional</a:t>
            </a:r>
            <a:r>
              <a:rPr sz="1500" u="sng" spc="-25" dirty="0">
                <a:solidFill>
                  <a:sysClr val="windowText" lastClr="000000"/>
                </a:solidFill>
                <a:uFill>
                  <a:solidFill>
                    <a:srgbClr val="000000"/>
                  </a:solidFill>
                </a:uFill>
                <a:latin typeface="Palatino Linotype"/>
                <a:cs typeface="Palatino Linotype"/>
              </a:rPr>
              <a:t> </a:t>
            </a:r>
            <a:r>
              <a:rPr sz="1500" u="sng" spc="-20" dirty="0">
                <a:solidFill>
                  <a:sysClr val="windowText" lastClr="000000"/>
                </a:solidFill>
                <a:uFill>
                  <a:solidFill>
                    <a:srgbClr val="000000"/>
                  </a:solidFill>
                </a:uFill>
                <a:latin typeface="Palatino Linotype"/>
                <a:cs typeface="Palatino Linotype"/>
              </a:rPr>
              <a:t>jump</a:t>
            </a:r>
            <a:endParaRPr sz="1500">
              <a:solidFill>
                <a:sysClr val="windowText" lastClr="000000"/>
              </a:solidFill>
              <a:latin typeface="Palatino Linotype"/>
              <a:cs typeface="Palatino Linotype"/>
            </a:endParaRPr>
          </a:p>
          <a:p>
            <a:pPr marL="697865" lvl="1" indent="-227965">
              <a:spcBef>
                <a:spcPts val="985"/>
              </a:spcBef>
              <a:buFont typeface="Wingdings"/>
              <a:buChar char=""/>
              <a:tabLst>
                <a:tab pos="697865" algn="l"/>
              </a:tabLst>
            </a:pPr>
            <a:r>
              <a:rPr sz="1500" spc="-20" dirty="0">
                <a:solidFill>
                  <a:sysClr val="windowText" lastClr="000000"/>
                </a:solidFill>
                <a:latin typeface="Palatino Linotype"/>
                <a:cs typeface="Palatino Linotype"/>
              </a:rPr>
              <a:t>We</a:t>
            </a:r>
            <a:r>
              <a:rPr sz="1500" spc="-30" dirty="0">
                <a:solidFill>
                  <a:sysClr val="windowText" lastClr="000000"/>
                </a:solidFill>
                <a:latin typeface="Palatino Linotype"/>
                <a:cs typeface="Palatino Linotype"/>
              </a:rPr>
              <a:t> </a:t>
            </a:r>
            <a:r>
              <a:rPr sz="1500" dirty="0">
                <a:solidFill>
                  <a:sysClr val="windowText" lastClr="000000"/>
                </a:solidFill>
                <a:latin typeface="Palatino Linotype"/>
                <a:cs typeface="Palatino Linotype"/>
              </a:rPr>
              <a:t>say</a:t>
            </a:r>
            <a:r>
              <a:rPr sz="1500" spc="-15" dirty="0">
                <a:solidFill>
                  <a:sysClr val="windowText" lastClr="000000"/>
                </a:solidFill>
                <a:latin typeface="Palatino Linotype"/>
                <a:cs typeface="Palatino Linotype"/>
              </a:rPr>
              <a:t> </a:t>
            </a:r>
            <a:r>
              <a:rPr sz="1500" dirty="0">
                <a:solidFill>
                  <a:sysClr val="windowText" lastClr="000000"/>
                </a:solidFill>
                <a:latin typeface="Palatino Linotype"/>
                <a:cs typeface="Palatino Linotype"/>
              </a:rPr>
              <a:t>that</a:t>
            </a:r>
            <a:r>
              <a:rPr sz="1500" spc="-20" dirty="0">
                <a:solidFill>
                  <a:sysClr val="windowText" lastClr="000000"/>
                </a:solidFill>
                <a:latin typeface="Palatino Linotype"/>
                <a:cs typeface="Palatino Linotype"/>
              </a:rPr>
              <a:t> </a:t>
            </a:r>
            <a:r>
              <a:rPr sz="1500" dirty="0">
                <a:solidFill>
                  <a:sysClr val="windowText" lastClr="000000"/>
                </a:solidFill>
                <a:latin typeface="Cambria Math"/>
                <a:cs typeface="Cambria Math"/>
              </a:rPr>
              <a:t>𝐵</a:t>
            </a:r>
            <a:r>
              <a:rPr sz="1500" spc="70" dirty="0">
                <a:solidFill>
                  <a:sysClr val="windowText" lastClr="000000"/>
                </a:solidFill>
                <a:latin typeface="Cambria Math"/>
                <a:cs typeface="Cambria Math"/>
              </a:rPr>
              <a:t> </a:t>
            </a:r>
            <a:r>
              <a:rPr sz="1500" dirty="0">
                <a:solidFill>
                  <a:sysClr val="windowText" lastClr="000000"/>
                </a:solidFill>
                <a:latin typeface="Palatino Linotype"/>
                <a:cs typeface="Palatino Linotype"/>
              </a:rPr>
              <a:t>is</a:t>
            </a:r>
            <a:r>
              <a:rPr sz="1500" spc="-15" dirty="0">
                <a:solidFill>
                  <a:sysClr val="windowText" lastClr="000000"/>
                </a:solidFill>
                <a:latin typeface="Palatino Linotype"/>
                <a:cs typeface="Palatino Linotype"/>
              </a:rPr>
              <a:t> </a:t>
            </a:r>
            <a:r>
              <a:rPr sz="1500" dirty="0">
                <a:solidFill>
                  <a:sysClr val="windowText" lastClr="000000"/>
                </a:solidFill>
                <a:latin typeface="Palatino Linotype"/>
                <a:cs typeface="Palatino Linotype"/>
              </a:rPr>
              <a:t>the</a:t>
            </a:r>
            <a:r>
              <a:rPr sz="1500" spc="-25" dirty="0">
                <a:solidFill>
                  <a:sysClr val="windowText" lastClr="000000"/>
                </a:solidFill>
                <a:latin typeface="Palatino Linotype"/>
                <a:cs typeface="Palatino Linotype"/>
              </a:rPr>
              <a:t> </a:t>
            </a:r>
            <a:r>
              <a:rPr sz="1500" i="1" spc="-10" dirty="0">
                <a:solidFill>
                  <a:srgbClr val="0432FF"/>
                </a:solidFill>
                <a:latin typeface="Palatino Linotype"/>
                <a:cs typeface="Palatino Linotype"/>
              </a:rPr>
              <a:t>predecessor</a:t>
            </a:r>
            <a:r>
              <a:rPr sz="1500" i="1" spc="-15" dirty="0">
                <a:solidFill>
                  <a:srgbClr val="0432FF"/>
                </a:solidFill>
                <a:latin typeface="Palatino Linotype"/>
                <a:cs typeface="Palatino Linotype"/>
              </a:rPr>
              <a:t> </a:t>
            </a:r>
            <a:r>
              <a:rPr sz="1500" spc="-10" dirty="0">
                <a:solidFill>
                  <a:srgbClr val="0432FF"/>
                </a:solidFill>
                <a:latin typeface="Palatino Linotype"/>
                <a:cs typeface="Palatino Linotype"/>
              </a:rPr>
              <a:t>(</a:t>
            </a:r>
            <a:r>
              <a:rPr sz="1500" dirty="0">
                <a:solidFill>
                  <a:srgbClr val="0432FF"/>
                </a:solidFill>
                <a:latin typeface="SimSun"/>
                <a:cs typeface="SimSun"/>
              </a:rPr>
              <a:t>前驱</a:t>
            </a:r>
            <a:r>
              <a:rPr sz="1500" spc="-10" dirty="0">
                <a:solidFill>
                  <a:srgbClr val="0432FF"/>
                </a:solidFill>
                <a:latin typeface="Palatino Linotype"/>
                <a:cs typeface="Palatino Linotype"/>
              </a:rPr>
              <a:t>) </a:t>
            </a:r>
            <a:r>
              <a:rPr sz="1500" dirty="0">
                <a:solidFill>
                  <a:sysClr val="windowText" lastClr="000000"/>
                </a:solidFill>
                <a:latin typeface="Palatino Linotype"/>
                <a:cs typeface="Palatino Linotype"/>
              </a:rPr>
              <a:t>of</a:t>
            </a:r>
            <a:r>
              <a:rPr sz="1500" spc="-20" dirty="0">
                <a:solidFill>
                  <a:sysClr val="windowText" lastClr="000000"/>
                </a:solidFill>
                <a:latin typeface="Palatino Linotype"/>
                <a:cs typeface="Palatino Linotype"/>
              </a:rPr>
              <a:t> </a:t>
            </a:r>
            <a:r>
              <a:rPr sz="1500" dirty="0">
                <a:solidFill>
                  <a:sysClr val="windowText" lastClr="000000"/>
                </a:solidFill>
                <a:latin typeface="Cambria Math"/>
                <a:cs typeface="Cambria Math"/>
              </a:rPr>
              <a:t>𝐶</a:t>
            </a:r>
            <a:r>
              <a:rPr sz="1500" spc="100" dirty="0">
                <a:solidFill>
                  <a:sysClr val="windowText" lastClr="000000"/>
                </a:solidFill>
                <a:latin typeface="Cambria Math"/>
                <a:cs typeface="Cambria Math"/>
              </a:rPr>
              <a:t> </a:t>
            </a:r>
            <a:r>
              <a:rPr sz="1500" dirty="0">
                <a:solidFill>
                  <a:sysClr val="windowText" lastClr="000000"/>
                </a:solidFill>
                <a:latin typeface="Palatino Linotype"/>
                <a:cs typeface="Palatino Linotype"/>
              </a:rPr>
              <a:t>and</a:t>
            </a:r>
            <a:r>
              <a:rPr sz="1500" spc="-20" dirty="0">
                <a:solidFill>
                  <a:sysClr val="windowText" lastClr="000000"/>
                </a:solidFill>
                <a:latin typeface="Palatino Linotype"/>
                <a:cs typeface="Palatino Linotype"/>
              </a:rPr>
              <a:t> </a:t>
            </a:r>
            <a:r>
              <a:rPr sz="1500" dirty="0">
                <a:solidFill>
                  <a:sysClr val="windowText" lastClr="000000"/>
                </a:solidFill>
                <a:latin typeface="Cambria Math"/>
                <a:cs typeface="Cambria Math"/>
              </a:rPr>
              <a:t>𝐶</a:t>
            </a:r>
            <a:r>
              <a:rPr sz="1500" spc="95" dirty="0">
                <a:solidFill>
                  <a:sysClr val="windowText" lastClr="000000"/>
                </a:solidFill>
                <a:latin typeface="Cambria Math"/>
                <a:cs typeface="Cambria Math"/>
              </a:rPr>
              <a:t> </a:t>
            </a:r>
            <a:r>
              <a:rPr sz="1500" dirty="0">
                <a:solidFill>
                  <a:sysClr val="windowText" lastClr="000000"/>
                </a:solidFill>
                <a:latin typeface="Palatino Linotype"/>
                <a:cs typeface="Palatino Linotype"/>
              </a:rPr>
              <a:t>is</a:t>
            </a:r>
            <a:r>
              <a:rPr sz="1500" spc="-15" dirty="0">
                <a:solidFill>
                  <a:sysClr val="windowText" lastClr="000000"/>
                </a:solidFill>
                <a:latin typeface="Palatino Linotype"/>
                <a:cs typeface="Palatino Linotype"/>
              </a:rPr>
              <a:t> </a:t>
            </a:r>
            <a:r>
              <a:rPr sz="1500" dirty="0">
                <a:solidFill>
                  <a:sysClr val="windowText" lastClr="000000"/>
                </a:solidFill>
                <a:latin typeface="Palatino Linotype"/>
                <a:cs typeface="Palatino Linotype"/>
              </a:rPr>
              <a:t>the</a:t>
            </a:r>
            <a:r>
              <a:rPr sz="1500" spc="-25" dirty="0">
                <a:solidFill>
                  <a:sysClr val="windowText" lastClr="000000"/>
                </a:solidFill>
                <a:latin typeface="Palatino Linotype"/>
                <a:cs typeface="Palatino Linotype"/>
              </a:rPr>
              <a:t> </a:t>
            </a:r>
            <a:r>
              <a:rPr sz="1500" i="1" dirty="0">
                <a:solidFill>
                  <a:srgbClr val="0432FF"/>
                </a:solidFill>
                <a:latin typeface="Palatino Linotype"/>
                <a:cs typeface="Palatino Linotype"/>
              </a:rPr>
              <a:t>successor</a:t>
            </a:r>
            <a:r>
              <a:rPr sz="1500" i="1" spc="-20" dirty="0">
                <a:solidFill>
                  <a:srgbClr val="0432FF"/>
                </a:solidFill>
                <a:latin typeface="Palatino Linotype"/>
                <a:cs typeface="Palatino Linotype"/>
              </a:rPr>
              <a:t> </a:t>
            </a:r>
            <a:r>
              <a:rPr sz="1500" spc="-10" dirty="0">
                <a:solidFill>
                  <a:srgbClr val="0432FF"/>
                </a:solidFill>
                <a:latin typeface="Palatino Linotype"/>
                <a:cs typeface="Palatino Linotype"/>
              </a:rPr>
              <a:t>(</a:t>
            </a:r>
            <a:r>
              <a:rPr sz="1500" dirty="0">
                <a:solidFill>
                  <a:srgbClr val="0432FF"/>
                </a:solidFill>
                <a:latin typeface="SimSun"/>
                <a:cs typeface="SimSun"/>
              </a:rPr>
              <a:t>后继</a:t>
            </a:r>
            <a:r>
              <a:rPr sz="1500" spc="-10" dirty="0">
                <a:solidFill>
                  <a:srgbClr val="0432FF"/>
                </a:solidFill>
                <a:latin typeface="Palatino Linotype"/>
                <a:cs typeface="Palatino Linotype"/>
              </a:rPr>
              <a:t>) </a:t>
            </a:r>
            <a:r>
              <a:rPr sz="1500" dirty="0">
                <a:solidFill>
                  <a:sysClr val="windowText" lastClr="000000"/>
                </a:solidFill>
                <a:latin typeface="Palatino Linotype"/>
                <a:cs typeface="Palatino Linotype"/>
              </a:rPr>
              <a:t>of</a:t>
            </a:r>
            <a:r>
              <a:rPr sz="1500" spc="-15" dirty="0">
                <a:solidFill>
                  <a:sysClr val="windowText" lastClr="000000"/>
                </a:solidFill>
                <a:latin typeface="Palatino Linotype"/>
                <a:cs typeface="Palatino Linotype"/>
              </a:rPr>
              <a:t> </a:t>
            </a:r>
            <a:r>
              <a:rPr sz="1500" spc="-50" dirty="0">
                <a:solidFill>
                  <a:sysClr val="windowText" lastClr="000000"/>
                </a:solidFill>
                <a:latin typeface="Cambria Math"/>
                <a:cs typeface="Cambria Math"/>
              </a:rPr>
              <a:t>𝐵</a:t>
            </a:r>
            <a:endParaRPr sz="1500">
              <a:solidFill>
                <a:sysClr val="windowText" lastClr="000000"/>
              </a:solidFill>
              <a:latin typeface="Cambria Math"/>
              <a:cs typeface="Cambria Math"/>
            </a:endParaRPr>
          </a:p>
          <a:p>
            <a:pPr marL="0" lvl="1">
              <a:spcBef>
                <a:spcPts val="434"/>
              </a:spcBef>
              <a:buFont typeface="Wingdings"/>
              <a:buChar char=""/>
            </a:pPr>
            <a:endParaRPr sz="1500">
              <a:solidFill>
                <a:sysClr val="windowText" lastClr="000000"/>
              </a:solidFill>
              <a:latin typeface="Cambria Math"/>
              <a:cs typeface="Cambria Math"/>
            </a:endParaRPr>
          </a:p>
          <a:p>
            <a:pPr marL="242570" indent="-229870">
              <a:spcBef>
                <a:spcPts val="5"/>
              </a:spcBef>
              <a:buClr>
                <a:srgbClr val="000000"/>
              </a:buClr>
              <a:buFont typeface="Arial MT"/>
              <a:buChar char="•"/>
              <a:tabLst>
                <a:tab pos="242570" algn="l"/>
              </a:tabLst>
            </a:pPr>
            <a:r>
              <a:rPr spc="-35" dirty="0">
                <a:solidFill>
                  <a:srgbClr val="FF0000"/>
                </a:solidFill>
                <a:latin typeface="Palatino Linotype"/>
                <a:cs typeface="Palatino Linotype"/>
              </a:rPr>
              <a:t>Two </a:t>
            </a:r>
            <a:r>
              <a:rPr dirty="0">
                <a:solidFill>
                  <a:srgbClr val="FF0000"/>
                </a:solidFill>
                <a:latin typeface="Palatino Linotype"/>
                <a:cs typeface="Palatino Linotype"/>
              </a:rPr>
              <a:t>special</a:t>
            </a:r>
            <a:r>
              <a:rPr spc="-30" dirty="0">
                <a:solidFill>
                  <a:srgbClr val="FF0000"/>
                </a:solidFill>
                <a:latin typeface="Palatino Linotype"/>
                <a:cs typeface="Palatino Linotype"/>
              </a:rPr>
              <a:t> </a:t>
            </a:r>
            <a:r>
              <a:rPr dirty="0">
                <a:solidFill>
                  <a:srgbClr val="FF0000"/>
                </a:solidFill>
                <a:latin typeface="Palatino Linotype"/>
                <a:cs typeface="Palatino Linotype"/>
              </a:rPr>
              <a:t>nodes</a:t>
            </a:r>
            <a:r>
              <a:rPr spc="-20" dirty="0">
                <a:solidFill>
                  <a:srgbClr val="FF0000"/>
                </a:solidFill>
                <a:latin typeface="Palatino Linotype"/>
                <a:cs typeface="Palatino Linotype"/>
              </a:rPr>
              <a:t>: </a:t>
            </a:r>
            <a:r>
              <a:rPr i="1" dirty="0">
                <a:solidFill>
                  <a:srgbClr val="0432FF"/>
                </a:solidFill>
                <a:latin typeface="Palatino Linotype"/>
                <a:cs typeface="Palatino Linotype"/>
              </a:rPr>
              <a:t>entry</a:t>
            </a:r>
            <a:r>
              <a:rPr i="1" spc="-40" dirty="0">
                <a:solidFill>
                  <a:srgbClr val="0432FF"/>
                </a:solidFill>
                <a:latin typeface="Palatino Linotype"/>
                <a:cs typeface="Palatino Linotype"/>
              </a:rPr>
              <a:t> </a:t>
            </a:r>
            <a:r>
              <a:rPr spc="-10" dirty="0">
                <a:solidFill>
                  <a:srgbClr val="0432FF"/>
                </a:solidFill>
                <a:latin typeface="Palatino Linotype"/>
                <a:cs typeface="Palatino Linotype"/>
              </a:rPr>
              <a:t>(</a:t>
            </a:r>
            <a:r>
              <a:rPr dirty="0">
                <a:solidFill>
                  <a:srgbClr val="0432FF"/>
                </a:solidFill>
                <a:latin typeface="SimSun"/>
                <a:cs typeface="SimSun"/>
              </a:rPr>
              <a:t>入口结点</a:t>
            </a:r>
            <a:r>
              <a:rPr spc="-15" dirty="0">
                <a:solidFill>
                  <a:srgbClr val="0432FF"/>
                </a:solidFill>
                <a:latin typeface="Palatino Linotype"/>
                <a:cs typeface="Palatino Linotype"/>
              </a:rPr>
              <a:t>) </a:t>
            </a:r>
            <a:r>
              <a:rPr dirty="0">
                <a:solidFill>
                  <a:sysClr val="windowText" lastClr="000000"/>
                </a:solidFill>
                <a:latin typeface="Palatino Linotype"/>
                <a:cs typeface="Palatino Linotype"/>
              </a:rPr>
              <a:t>and</a:t>
            </a:r>
            <a:r>
              <a:rPr spc="-30" dirty="0">
                <a:solidFill>
                  <a:sysClr val="windowText" lastClr="000000"/>
                </a:solidFill>
                <a:latin typeface="Palatino Linotype"/>
                <a:cs typeface="Palatino Linotype"/>
              </a:rPr>
              <a:t> </a:t>
            </a:r>
            <a:r>
              <a:rPr i="1" dirty="0">
                <a:solidFill>
                  <a:srgbClr val="0432FF"/>
                </a:solidFill>
                <a:latin typeface="Palatino Linotype"/>
                <a:cs typeface="Palatino Linotype"/>
              </a:rPr>
              <a:t>exit</a:t>
            </a:r>
            <a:r>
              <a:rPr i="1" spc="-35" dirty="0">
                <a:solidFill>
                  <a:srgbClr val="0432FF"/>
                </a:solidFill>
                <a:latin typeface="Palatino Linotype"/>
                <a:cs typeface="Palatino Linotype"/>
              </a:rPr>
              <a:t> </a:t>
            </a:r>
            <a:r>
              <a:rPr spc="-10" dirty="0">
                <a:solidFill>
                  <a:srgbClr val="0432FF"/>
                </a:solidFill>
                <a:latin typeface="Palatino Linotype"/>
                <a:cs typeface="Palatino Linotype"/>
              </a:rPr>
              <a:t>(</a:t>
            </a:r>
            <a:r>
              <a:rPr dirty="0">
                <a:solidFill>
                  <a:srgbClr val="0432FF"/>
                </a:solidFill>
                <a:latin typeface="SimSun"/>
                <a:cs typeface="SimSun"/>
              </a:rPr>
              <a:t>出口结点</a:t>
            </a:r>
            <a:r>
              <a:rPr spc="-50" dirty="0">
                <a:solidFill>
                  <a:srgbClr val="0432FF"/>
                </a:solidFill>
                <a:latin typeface="Palatino Linotype"/>
                <a:cs typeface="Palatino Linotype"/>
              </a:rPr>
              <a:t>)</a:t>
            </a:r>
            <a:endParaRPr>
              <a:solidFill>
                <a:sysClr val="windowText" lastClr="000000"/>
              </a:solidFill>
              <a:latin typeface="Palatino Linotype"/>
              <a:cs typeface="Palatino Linotype"/>
            </a:endParaRPr>
          </a:p>
          <a:p>
            <a:pPr marL="697865" lvl="1" indent="-227965">
              <a:spcBef>
                <a:spcPts val="1040"/>
              </a:spcBef>
              <a:buFont typeface="Wingdings"/>
              <a:buChar char=""/>
              <a:tabLst>
                <a:tab pos="697865" algn="l"/>
              </a:tabLst>
            </a:pPr>
            <a:r>
              <a:rPr sz="1500" dirty="0">
                <a:solidFill>
                  <a:sysClr val="windowText" lastClr="000000"/>
                </a:solidFill>
                <a:latin typeface="Palatino Linotype"/>
                <a:cs typeface="Palatino Linotype"/>
              </a:rPr>
              <a:t>They</a:t>
            </a:r>
            <a:r>
              <a:rPr sz="1500" spc="-40" dirty="0">
                <a:solidFill>
                  <a:sysClr val="windowText" lastClr="000000"/>
                </a:solidFill>
                <a:latin typeface="Palatino Linotype"/>
                <a:cs typeface="Palatino Linotype"/>
              </a:rPr>
              <a:t> </a:t>
            </a:r>
            <a:r>
              <a:rPr sz="1500" dirty="0">
                <a:solidFill>
                  <a:sysClr val="windowText" lastClr="000000"/>
                </a:solidFill>
                <a:latin typeface="Palatino Linotype"/>
                <a:cs typeface="Palatino Linotype"/>
              </a:rPr>
              <a:t>do</a:t>
            </a:r>
            <a:r>
              <a:rPr sz="1500" spc="-30" dirty="0">
                <a:solidFill>
                  <a:sysClr val="windowText" lastClr="000000"/>
                </a:solidFill>
                <a:latin typeface="Palatino Linotype"/>
                <a:cs typeface="Palatino Linotype"/>
              </a:rPr>
              <a:t> </a:t>
            </a:r>
            <a:r>
              <a:rPr sz="1500" dirty="0">
                <a:solidFill>
                  <a:sysClr val="windowText" lastClr="000000"/>
                </a:solidFill>
                <a:latin typeface="Palatino Linotype"/>
                <a:cs typeface="Palatino Linotype"/>
              </a:rPr>
              <a:t>not</a:t>
            </a:r>
            <a:r>
              <a:rPr sz="1500" spc="-40" dirty="0">
                <a:solidFill>
                  <a:sysClr val="windowText" lastClr="000000"/>
                </a:solidFill>
                <a:latin typeface="Palatino Linotype"/>
                <a:cs typeface="Palatino Linotype"/>
              </a:rPr>
              <a:t> </a:t>
            </a:r>
            <a:r>
              <a:rPr sz="1500" dirty="0">
                <a:solidFill>
                  <a:sysClr val="windowText" lastClr="000000"/>
                </a:solidFill>
                <a:latin typeface="Palatino Linotype"/>
                <a:cs typeface="Palatino Linotype"/>
              </a:rPr>
              <a:t>correspond</a:t>
            </a:r>
            <a:r>
              <a:rPr sz="1500" spc="-45" dirty="0">
                <a:solidFill>
                  <a:sysClr val="windowText" lastClr="000000"/>
                </a:solidFill>
                <a:latin typeface="Palatino Linotype"/>
                <a:cs typeface="Palatino Linotype"/>
              </a:rPr>
              <a:t> </a:t>
            </a:r>
            <a:r>
              <a:rPr sz="1500" dirty="0">
                <a:solidFill>
                  <a:sysClr val="windowText" lastClr="000000"/>
                </a:solidFill>
                <a:latin typeface="Palatino Linotype"/>
                <a:cs typeface="Palatino Linotype"/>
              </a:rPr>
              <a:t>to</a:t>
            </a:r>
            <a:r>
              <a:rPr sz="1500" spc="-30" dirty="0">
                <a:solidFill>
                  <a:sysClr val="windowText" lastClr="000000"/>
                </a:solidFill>
                <a:latin typeface="Palatino Linotype"/>
                <a:cs typeface="Palatino Linotype"/>
              </a:rPr>
              <a:t> </a:t>
            </a:r>
            <a:r>
              <a:rPr sz="1500" dirty="0">
                <a:solidFill>
                  <a:sysClr val="windowText" lastClr="000000"/>
                </a:solidFill>
                <a:latin typeface="Palatino Linotype"/>
                <a:cs typeface="Palatino Linotype"/>
              </a:rPr>
              <a:t>executable</a:t>
            </a:r>
            <a:r>
              <a:rPr sz="1500" spc="-45" dirty="0">
                <a:solidFill>
                  <a:sysClr val="windowText" lastClr="000000"/>
                </a:solidFill>
                <a:latin typeface="Palatino Linotype"/>
                <a:cs typeface="Palatino Linotype"/>
              </a:rPr>
              <a:t> </a:t>
            </a:r>
            <a:r>
              <a:rPr sz="1500" dirty="0">
                <a:solidFill>
                  <a:sysClr val="windowText" lastClr="000000"/>
                </a:solidFill>
                <a:latin typeface="Palatino Linotype"/>
                <a:cs typeface="Palatino Linotype"/>
              </a:rPr>
              <a:t>intermediate</a:t>
            </a:r>
            <a:r>
              <a:rPr sz="1500" spc="-45" dirty="0">
                <a:solidFill>
                  <a:sysClr val="windowText" lastClr="000000"/>
                </a:solidFill>
                <a:latin typeface="Palatino Linotype"/>
                <a:cs typeface="Palatino Linotype"/>
              </a:rPr>
              <a:t> </a:t>
            </a:r>
            <a:r>
              <a:rPr sz="1500" spc="-10" dirty="0">
                <a:solidFill>
                  <a:sysClr val="windowText" lastClr="000000"/>
                </a:solidFill>
                <a:latin typeface="Palatino Linotype"/>
                <a:cs typeface="Palatino Linotype"/>
              </a:rPr>
              <a:t>instructions</a:t>
            </a:r>
            <a:endParaRPr sz="1500">
              <a:solidFill>
                <a:sysClr val="windowText" lastClr="000000"/>
              </a:solidFill>
              <a:latin typeface="Palatino Linotype"/>
              <a:cs typeface="Palatino Linotype"/>
            </a:endParaRPr>
          </a:p>
          <a:p>
            <a:pPr marL="698500" marR="414655" lvl="1" indent="-228600">
              <a:lnSpc>
                <a:spcPct val="121300"/>
              </a:lnSpc>
              <a:spcBef>
                <a:spcPts val="530"/>
              </a:spcBef>
              <a:buFont typeface="Wingdings"/>
              <a:buChar char=""/>
              <a:tabLst>
                <a:tab pos="698500" algn="l"/>
              </a:tabLst>
            </a:pPr>
            <a:r>
              <a:rPr sz="1500" dirty="0">
                <a:solidFill>
                  <a:sysClr val="windowText" lastClr="000000"/>
                </a:solidFill>
                <a:latin typeface="Palatino Linotype"/>
                <a:cs typeface="Palatino Linotype"/>
              </a:rPr>
              <a:t>There</a:t>
            </a:r>
            <a:r>
              <a:rPr sz="1500" spc="-35" dirty="0">
                <a:solidFill>
                  <a:sysClr val="windowText" lastClr="000000"/>
                </a:solidFill>
                <a:latin typeface="Palatino Linotype"/>
                <a:cs typeface="Palatino Linotype"/>
              </a:rPr>
              <a:t> </a:t>
            </a:r>
            <a:r>
              <a:rPr sz="1500" dirty="0">
                <a:solidFill>
                  <a:sysClr val="windowText" lastClr="000000"/>
                </a:solidFill>
                <a:latin typeface="Palatino Linotype"/>
                <a:cs typeface="Palatino Linotype"/>
              </a:rPr>
              <a:t>is</a:t>
            </a:r>
            <a:r>
              <a:rPr sz="1500" spc="-20" dirty="0">
                <a:solidFill>
                  <a:sysClr val="windowText" lastClr="000000"/>
                </a:solidFill>
                <a:latin typeface="Palatino Linotype"/>
                <a:cs typeface="Palatino Linotype"/>
              </a:rPr>
              <a:t> </a:t>
            </a:r>
            <a:r>
              <a:rPr sz="1500" dirty="0">
                <a:solidFill>
                  <a:sysClr val="windowText" lastClr="000000"/>
                </a:solidFill>
                <a:latin typeface="Palatino Linotype"/>
                <a:cs typeface="Palatino Linotype"/>
              </a:rPr>
              <a:t>an</a:t>
            </a:r>
            <a:r>
              <a:rPr sz="1500" spc="-20" dirty="0">
                <a:solidFill>
                  <a:sysClr val="windowText" lastClr="000000"/>
                </a:solidFill>
                <a:latin typeface="Palatino Linotype"/>
                <a:cs typeface="Palatino Linotype"/>
              </a:rPr>
              <a:t> </a:t>
            </a:r>
            <a:r>
              <a:rPr sz="1500" dirty="0">
                <a:solidFill>
                  <a:sysClr val="windowText" lastClr="000000"/>
                </a:solidFill>
                <a:latin typeface="Palatino Linotype"/>
                <a:cs typeface="Palatino Linotype"/>
              </a:rPr>
              <a:t>edge</a:t>
            </a:r>
            <a:r>
              <a:rPr sz="1500" spc="-30" dirty="0">
                <a:solidFill>
                  <a:sysClr val="windowText" lastClr="000000"/>
                </a:solidFill>
                <a:latin typeface="Palatino Linotype"/>
                <a:cs typeface="Palatino Linotype"/>
              </a:rPr>
              <a:t> </a:t>
            </a:r>
            <a:r>
              <a:rPr sz="1500" dirty="0">
                <a:solidFill>
                  <a:sysClr val="windowText" lastClr="000000"/>
                </a:solidFill>
                <a:latin typeface="Palatino Linotype"/>
                <a:cs typeface="Palatino Linotype"/>
              </a:rPr>
              <a:t>from</a:t>
            </a:r>
            <a:r>
              <a:rPr sz="1500" spc="-25" dirty="0">
                <a:solidFill>
                  <a:sysClr val="windowText" lastClr="000000"/>
                </a:solidFill>
                <a:latin typeface="Palatino Linotype"/>
                <a:cs typeface="Palatino Linotype"/>
              </a:rPr>
              <a:t> </a:t>
            </a:r>
            <a:r>
              <a:rPr sz="1500" dirty="0">
                <a:solidFill>
                  <a:sysClr val="windowText" lastClr="000000"/>
                </a:solidFill>
                <a:latin typeface="Palatino Linotype"/>
                <a:cs typeface="Palatino Linotype"/>
              </a:rPr>
              <a:t>entry</a:t>
            </a:r>
            <a:r>
              <a:rPr sz="1500" spc="-20" dirty="0">
                <a:solidFill>
                  <a:sysClr val="windowText" lastClr="000000"/>
                </a:solidFill>
                <a:latin typeface="Palatino Linotype"/>
                <a:cs typeface="Palatino Linotype"/>
              </a:rPr>
              <a:t> </a:t>
            </a:r>
            <a:r>
              <a:rPr sz="1500" dirty="0">
                <a:solidFill>
                  <a:sysClr val="windowText" lastClr="000000"/>
                </a:solidFill>
                <a:latin typeface="Palatino Linotype"/>
                <a:cs typeface="Palatino Linotype"/>
              </a:rPr>
              <a:t>node</a:t>
            </a:r>
            <a:r>
              <a:rPr sz="1500" spc="-30" dirty="0">
                <a:solidFill>
                  <a:sysClr val="windowText" lastClr="000000"/>
                </a:solidFill>
                <a:latin typeface="Palatino Linotype"/>
                <a:cs typeface="Palatino Linotype"/>
              </a:rPr>
              <a:t> </a:t>
            </a:r>
            <a:r>
              <a:rPr sz="1500" dirty="0">
                <a:solidFill>
                  <a:sysClr val="windowText" lastClr="000000"/>
                </a:solidFill>
                <a:latin typeface="Palatino Linotype"/>
                <a:cs typeface="Palatino Linotype"/>
              </a:rPr>
              <a:t>to</a:t>
            </a:r>
            <a:r>
              <a:rPr sz="1500" spc="-15" dirty="0">
                <a:solidFill>
                  <a:sysClr val="windowText" lastClr="000000"/>
                </a:solidFill>
                <a:latin typeface="Palatino Linotype"/>
                <a:cs typeface="Palatino Linotype"/>
              </a:rPr>
              <a:t> </a:t>
            </a:r>
            <a:r>
              <a:rPr sz="1500" dirty="0">
                <a:solidFill>
                  <a:sysClr val="windowText" lastClr="000000"/>
                </a:solidFill>
                <a:latin typeface="Palatino Linotype"/>
                <a:cs typeface="Palatino Linotype"/>
              </a:rPr>
              <a:t>the</a:t>
            </a:r>
            <a:r>
              <a:rPr sz="1500" spc="-30" dirty="0">
                <a:solidFill>
                  <a:sysClr val="windowText" lastClr="000000"/>
                </a:solidFill>
                <a:latin typeface="Palatino Linotype"/>
                <a:cs typeface="Palatino Linotype"/>
              </a:rPr>
              <a:t> </a:t>
            </a:r>
            <a:r>
              <a:rPr sz="1500" dirty="0">
                <a:solidFill>
                  <a:sysClr val="windowText" lastClr="000000"/>
                </a:solidFill>
                <a:latin typeface="Palatino Linotype"/>
                <a:cs typeface="Palatino Linotype"/>
              </a:rPr>
              <a:t>first</a:t>
            </a:r>
            <a:r>
              <a:rPr sz="1500" spc="-30" dirty="0">
                <a:solidFill>
                  <a:sysClr val="windowText" lastClr="000000"/>
                </a:solidFill>
                <a:latin typeface="Palatino Linotype"/>
                <a:cs typeface="Palatino Linotype"/>
              </a:rPr>
              <a:t> </a:t>
            </a:r>
            <a:r>
              <a:rPr sz="1500" dirty="0">
                <a:solidFill>
                  <a:sysClr val="windowText" lastClr="000000"/>
                </a:solidFill>
                <a:latin typeface="Palatino Linotype"/>
                <a:cs typeface="Palatino Linotype"/>
              </a:rPr>
              <a:t>executable</a:t>
            </a:r>
            <a:r>
              <a:rPr sz="1500" spc="-30" dirty="0">
                <a:solidFill>
                  <a:sysClr val="windowText" lastClr="000000"/>
                </a:solidFill>
                <a:latin typeface="Palatino Linotype"/>
                <a:cs typeface="Palatino Linotype"/>
              </a:rPr>
              <a:t> </a:t>
            </a:r>
            <a:r>
              <a:rPr sz="1500" dirty="0">
                <a:solidFill>
                  <a:sysClr val="windowText" lastClr="000000"/>
                </a:solidFill>
                <a:latin typeface="Palatino Linotype"/>
                <a:cs typeface="Palatino Linotype"/>
              </a:rPr>
              <a:t>node</a:t>
            </a:r>
            <a:r>
              <a:rPr sz="1500" spc="-30" dirty="0">
                <a:solidFill>
                  <a:sysClr val="windowText" lastClr="000000"/>
                </a:solidFill>
                <a:latin typeface="Palatino Linotype"/>
                <a:cs typeface="Palatino Linotype"/>
              </a:rPr>
              <a:t> </a:t>
            </a:r>
            <a:r>
              <a:rPr sz="1500" dirty="0">
                <a:solidFill>
                  <a:sysClr val="windowText" lastClr="000000"/>
                </a:solidFill>
                <a:latin typeface="Palatino Linotype"/>
                <a:cs typeface="Palatino Linotype"/>
              </a:rPr>
              <a:t>of</a:t>
            </a:r>
            <a:r>
              <a:rPr sz="1500" spc="-20" dirty="0">
                <a:solidFill>
                  <a:sysClr val="windowText" lastClr="000000"/>
                </a:solidFill>
                <a:latin typeface="Palatino Linotype"/>
                <a:cs typeface="Palatino Linotype"/>
              </a:rPr>
              <a:t> </a:t>
            </a:r>
            <a:r>
              <a:rPr sz="1500" dirty="0">
                <a:solidFill>
                  <a:sysClr val="windowText" lastClr="000000"/>
                </a:solidFill>
                <a:latin typeface="Palatino Linotype"/>
                <a:cs typeface="Palatino Linotype"/>
              </a:rPr>
              <a:t>the</a:t>
            </a:r>
            <a:r>
              <a:rPr sz="1500" spc="-30" dirty="0">
                <a:solidFill>
                  <a:sysClr val="windowText" lastClr="000000"/>
                </a:solidFill>
                <a:latin typeface="Palatino Linotype"/>
                <a:cs typeface="Palatino Linotype"/>
              </a:rPr>
              <a:t> </a:t>
            </a:r>
            <a:r>
              <a:rPr sz="1500" dirty="0">
                <a:solidFill>
                  <a:sysClr val="windowText" lastClr="000000"/>
                </a:solidFill>
                <a:latin typeface="Palatino Linotype"/>
                <a:cs typeface="Palatino Linotype"/>
              </a:rPr>
              <a:t>flow</a:t>
            </a:r>
            <a:r>
              <a:rPr sz="1500" spc="-30" dirty="0">
                <a:solidFill>
                  <a:sysClr val="windowText" lastClr="000000"/>
                </a:solidFill>
                <a:latin typeface="Palatino Linotype"/>
                <a:cs typeface="Palatino Linotype"/>
              </a:rPr>
              <a:t> </a:t>
            </a:r>
            <a:r>
              <a:rPr sz="1500" spc="-10" dirty="0">
                <a:solidFill>
                  <a:sysClr val="windowText" lastClr="000000"/>
                </a:solidFill>
                <a:latin typeface="Palatino Linotype"/>
                <a:cs typeface="Palatino Linotype"/>
              </a:rPr>
              <a:t>graph; </a:t>
            </a:r>
            <a:r>
              <a:rPr sz="1500" dirty="0">
                <a:solidFill>
                  <a:sysClr val="windowText" lastClr="000000"/>
                </a:solidFill>
                <a:latin typeface="Palatino Linotype"/>
                <a:cs typeface="Palatino Linotype"/>
              </a:rPr>
              <a:t>there</a:t>
            </a:r>
            <a:r>
              <a:rPr sz="1500" spc="-35" dirty="0">
                <a:solidFill>
                  <a:sysClr val="windowText" lastClr="000000"/>
                </a:solidFill>
                <a:latin typeface="Palatino Linotype"/>
                <a:cs typeface="Palatino Linotype"/>
              </a:rPr>
              <a:t> </a:t>
            </a:r>
            <a:r>
              <a:rPr sz="1500" dirty="0">
                <a:solidFill>
                  <a:sysClr val="windowText" lastClr="000000"/>
                </a:solidFill>
                <a:latin typeface="Palatino Linotype"/>
                <a:cs typeface="Palatino Linotype"/>
              </a:rPr>
              <a:t>is</a:t>
            </a:r>
            <a:r>
              <a:rPr sz="1500" spc="-20" dirty="0">
                <a:solidFill>
                  <a:sysClr val="windowText" lastClr="000000"/>
                </a:solidFill>
                <a:latin typeface="Palatino Linotype"/>
                <a:cs typeface="Palatino Linotype"/>
              </a:rPr>
              <a:t> </a:t>
            </a:r>
            <a:r>
              <a:rPr sz="1500" dirty="0">
                <a:solidFill>
                  <a:sysClr val="windowText" lastClr="000000"/>
                </a:solidFill>
                <a:latin typeface="Palatino Linotype"/>
                <a:cs typeface="Palatino Linotype"/>
              </a:rPr>
              <a:t>an</a:t>
            </a:r>
            <a:r>
              <a:rPr sz="1500" spc="-20" dirty="0">
                <a:solidFill>
                  <a:sysClr val="windowText" lastClr="000000"/>
                </a:solidFill>
                <a:latin typeface="Palatino Linotype"/>
                <a:cs typeface="Palatino Linotype"/>
              </a:rPr>
              <a:t> </a:t>
            </a:r>
            <a:r>
              <a:rPr sz="1500" dirty="0">
                <a:solidFill>
                  <a:sysClr val="windowText" lastClr="000000"/>
                </a:solidFill>
                <a:latin typeface="Palatino Linotype"/>
                <a:cs typeface="Palatino Linotype"/>
              </a:rPr>
              <a:t>edge</a:t>
            </a:r>
            <a:r>
              <a:rPr sz="1500" spc="-35" dirty="0">
                <a:solidFill>
                  <a:sysClr val="windowText" lastClr="000000"/>
                </a:solidFill>
                <a:latin typeface="Palatino Linotype"/>
                <a:cs typeface="Palatino Linotype"/>
              </a:rPr>
              <a:t> </a:t>
            </a:r>
            <a:r>
              <a:rPr sz="1500" dirty="0">
                <a:solidFill>
                  <a:sysClr val="windowText" lastClr="000000"/>
                </a:solidFill>
                <a:latin typeface="Palatino Linotype"/>
                <a:cs typeface="Palatino Linotype"/>
              </a:rPr>
              <a:t>to</a:t>
            </a:r>
            <a:r>
              <a:rPr sz="1500" spc="-15" dirty="0">
                <a:solidFill>
                  <a:sysClr val="windowText" lastClr="000000"/>
                </a:solidFill>
                <a:latin typeface="Palatino Linotype"/>
                <a:cs typeface="Palatino Linotype"/>
              </a:rPr>
              <a:t> </a:t>
            </a:r>
            <a:r>
              <a:rPr sz="1500" dirty="0">
                <a:solidFill>
                  <a:sysClr val="windowText" lastClr="000000"/>
                </a:solidFill>
                <a:latin typeface="Palatino Linotype"/>
                <a:cs typeface="Palatino Linotype"/>
              </a:rPr>
              <a:t>the</a:t>
            </a:r>
            <a:r>
              <a:rPr sz="1500" spc="-30" dirty="0">
                <a:solidFill>
                  <a:sysClr val="windowText" lastClr="000000"/>
                </a:solidFill>
                <a:latin typeface="Palatino Linotype"/>
                <a:cs typeface="Palatino Linotype"/>
              </a:rPr>
              <a:t> </a:t>
            </a:r>
            <a:r>
              <a:rPr sz="1500" dirty="0">
                <a:solidFill>
                  <a:sysClr val="windowText" lastClr="000000"/>
                </a:solidFill>
                <a:latin typeface="Palatino Linotype"/>
                <a:cs typeface="Palatino Linotype"/>
              </a:rPr>
              <a:t>exit</a:t>
            </a:r>
            <a:r>
              <a:rPr sz="1500" spc="-30" dirty="0">
                <a:solidFill>
                  <a:sysClr val="windowText" lastClr="000000"/>
                </a:solidFill>
                <a:latin typeface="Palatino Linotype"/>
                <a:cs typeface="Palatino Linotype"/>
              </a:rPr>
              <a:t> </a:t>
            </a:r>
            <a:r>
              <a:rPr sz="1500" dirty="0">
                <a:solidFill>
                  <a:sysClr val="windowText" lastClr="000000"/>
                </a:solidFill>
                <a:latin typeface="Palatino Linotype"/>
                <a:cs typeface="Palatino Linotype"/>
              </a:rPr>
              <a:t>from</a:t>
            </a:r>
            <a:r>
              <a:rPr sz="1500" spc="-20" dirty="0">
                <a:solidFill>
                  <a:sysClr val="windowText" lastClr="000000"/>
                </a:solidFill>
                <a:latin typeface="Palatino Linotype"/>
                <a:cs typeface="Palatino Linotype"/>
              </a:rPr>
              <a:t> </a:t>
            </a:r>
            <a:r>
              <a:rPr sz="1500" dirty="0">
                <a:solidFill>
                  <a:sysClr val="windowText" lastClr="000000"/>
                </a:solidFill>
                <a:latin typeface="Palatino Linotype"/>
                <a:cs typeface="Palatino Linotype"/>
              </a:rPr>
              <a:t>any</a:t>
            </a:r>
            <a:r>
              <a:rPr sz="1500" spc="-20" dirty="0">
                <a:solidFill>
                  <a:sysClr val="windowText" lastClr="000000"/>
                </a:solidFill>
                <a:latin typeface="Palatino Linotype"/>
                <a:cs typeface="Palatino Linotype"/>
              </a:rPr>
              <a:t> </a:t>
            </a:r>
            <a:r>
              <a:rPr sz="1500" dirty="0">
                <a:solidFill>
                  <a:sysClr val="windowText" lastClr="000000"/>
                </a:solidFill>
                <a:latin typeface="Palatino Linotype"/>
                <a:cs typeface="Palatino Linotype"/>
              </a:rPr>
              <a:t>basic</a:t>
            </a:r>
            <a:r>
              <a:rPr sz="1500" spc="-30" dirty="0">
                <a:solidFill>
                  <a:sysClr val="windowText" lastClr="000000"/>
                </a:solidFill>
                <a:latin typeface="Palatino Linotype"/>
                <a:cs typeface="Palatino Linotype"/>
              </a:rPr>
              <a:t> </a:t>
            </a:r>
            <a:r>
              <a:rPr sz="1500" dirty="0">
                <a:solidFill>
                  <a:sysClr val="windowText" lastClr="000000"/>
                </a:solidFill>
                <a:latin typeface="Palatino Linotype"/>
                <a:cs typeface="Palatino Linotype"/>
              </a:rPr>
              <a:t>block</a:t>
            </a:r>
            <a:r>
              <a:rPr sz="1500" spc="-20" dirty="0">
                <a:solidFill>
                  <a:sysClr val="windowText" lastClr="000000"/>
                </a:solidFill>
                <a:latin typeface="Palatino Linotype"/>
                <a:cs typeface="Palatino Linotype"/>
              </a:rPr>
              <a:t> </a:t>
            </a:r>
            <a:r>
              <a:rPr sz="1500" dirty="0">
                <a:solidFill>
                  <a:sysClr val="windowText" lastClr="000000"/>
                </a:solidFill>
                <a:latin typeface="Palatino Linotype"/>
                <a:cs typeface="Palatino Linotype"/>
              </a:rPr>
              <a:t>that</a:t>
            </a:r>
            <a:r>
              <a:rPr sz="1500" spc="-25" dirty="0">
                <a:solidFill>
                  <a:sysClr val="windowText" lastClr="000000"/>
                </a:solidFill>
                <a:latin typeface="Palatino Linotype"/>
                <a:cs typeface="Palatino Linotype"/>
              </a:rPr>
              <a:t> </a:t>
            </a:r>
            <a:r>
              <a:rPr sz="1500" dirty="0">
                <a:solidFill>
                  <a:sysClr val="windowText" lastClr="000000"/>
                </a:solidFill>
                <a:latin typeface="Palatino Linotype"/>
                <a:cs typeface="Palatino Linotype"/>
              </a:rPr>
              <a:t>could</a:t>
            </a:r>
            <a:r>
              <a:rPr sz="1500" spc="-30" dirty="0">
                <a:solidFill>
                  <a:sysClr val="windowText" lastClr="000000"/>
                </a:solidFill>
                <a:latin typeface="Palatino Linotype"/>
                <a:cs typeface="Palatino Linotype"/>
              </a:rPr>
              <a:t> </a:t>
            </a:r>
            <a:r>
              <a:rPr sz="1500" dirty="0">
                <a:solidFill>
                  <a:sysClr val="windowText" lastClr="000000"/>
                </a:solidFill>
                <a:latin typeface="Palatino Linotype"/>
                <a:cs typeface="Palatino Linotype"/>
              </a:rPr>
              <a:t>be</a:t>
            </a:r>
            <a:r>
              <a:rPr sz="1500" spc="-30" dirty="0">
                <a:solidFill>
                  <a:sysClr val="windowText" lastClr="000000"/>
                </a:solidFill>
                <a:latin typeface="Palatino Linotype"/>
                <a:cs typeface="Palatino Linotype"/>
              </a:rPr>
              <a:t> </a:t>
            </a:r>
            <a:r>
              <a:rPr sz="1500" dirty="0">
                <a:solidFill>
                  <a:sysClr val="windowText" lastClr="000000"/>
                </a:solidFill>
                <a:latin typeface="Palatino Linotype"/>
                <a:cs typeface="Palatino Linotype"/>
              </a:rPr>
              <a:t>executed</a:t>
            </a:r>
            <a:r>
              <a:rPr sz="1500" spc="-25" dirty="0">
                <a:solidFill>
                  <a:sysClr val="windowText" lastClr="000000"/>
                </a:solidFill>
                <a:latin typeface="Palatino Linotype"/>
                <a:cs typeface="Palatino Linotype"/>
              </a:rPr>
              <a:t> </a:t>
            </a:r>
            <a:r>
              <a:rPr sz="1500" spc="-20" dirty="0">
                <a:solidFill>
                  <a:sysClr val="windowText" lastClr="000000"/>
                </a:solidFill>
                <a:latin typeface="Palatino Linotype"/>
                <a:cs typeface="Palatino Linotype"/>
              </a:rPr>
              <a:t>last</a:t>
            </a:r>
            <a:endParaRPr sz="1500">
              <a:solidFill>
                <a:sysClr val="windowText" lastClr="000000"/>
              </a:solidFill>
              <a:latin typeface="Palatino Linotype"/>
              <a:cs typeface="Palatino Linotype"/>
            </a:endParaRPr>
          </a:p>
        </p:txBody>
      </p:sp>
    </p:spTree>
    <p:extLst>
      <p:ext uri="{BB962C8B-B14F-4D97-AF65-F5344CB8AC3E}">
        <p14:creationId xmlns:p14="http://schemas.microsoft.com/office/powerpoint/2010/main" val="126828826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43</a:t>
            </a:fld>
            <a:endParaRPr lang="en-US"/>
          </a:p>
        </p:txBody>
      </p:sp>
      <p:pic>
        <p:nvPicPr>
          <p:cNvPr id="8" name="object 2">
            <a:extLst>
              <a:ext uri="{FF2B5EF4-FFF2-40B4-BE49-F238E27FC236}">
                <a16:creationId xmlns:a16="http://schemas.microsoft.com/office/drawing/2014/main" id="{91C264D5-64C8-E27E-699D-122F3AAB0E9D}"/>
              </a:ext>
            </a:extLst>
          </p:cNvPr>
          <p:cNvPicPr/>
          <p:nvPr/>
        </p:nvPicPr>
        <p:blipFill>
          <a:blip r:embed="rId3" cstate="print"/>
          <a:stretch>
            <a:fillRect/>
          </a:stretch>
        </p:blipFill>
        <p:spPr>
          <a:xfrm>
            <a:off x="5628228" y="1001340"/>
            <a:ext cx="2896410" cy="4877203"/>
          </a:xfrm>
          <a:prstGeom prst="rect">
            <a:avLst/>
          </a:prstGeom>
        </p:spPr>
      </p:pic>
      <p:sp>
        <p:nvSpPr>
          <p:cNvPr id="9" name="object 3">
            <a:extLst>
              <a:ext uri="{FF2B5EF4-FFF2-40B4-BE49-F238E27FC236}">
                <a16:creationId xmlns:a16="http://schemas.microsoft.com/office/drawing/2014/main" id="{F6136F09-405D-E6FF-E239-295AC9B12706}"/>
              </a:ext>
            </a:extLst>
          </p:cNvPr>
          <p:cNvSpPr txBox="1">
            <a:spLocks/>
          </p:cNvSpPr>
          <p:nvPr/>
        </p:nvSpPr>
        <p:spPr>
          <a:xfrm>
            <a:off x="707390" y="524763"/>
            <a:ext cx="7729219" cy="63500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4000" b="1" i="0" u="none" strike="noStrike" kern="0" cap="none" spc="0" normalizeH="0" baseline="0" noProof="0">
                <a:ln>
                  <a:noFill/>
                </a:ln>
                <a:solidFill>
                  <a:sysClr val="windowText" lastClr="000000"/>
                </a:solidFill>
                <a:effectLst/>
                <a:uLnTx/>
                <a:uFillTx/>
                <a:latin typeface="Palatino Linotype"/>
                <a:ea typeface="+mj-ea"/>
              </a:rPr>
              <a:t>Flow</a:t>
            </a:r>
            <a:r>
              <a:rPr kumimoji="0" lang="en-US" sz="4000" b="1" i="0" u="none" strike="noStrike" kern="0" cap="none" spc="-60" normalizeH="0" baseline="0" noProof="0">
                <a:ln>
                  <a:noFill/>
                </a:ln>
                <a:solidFill>
                  <a:sysClr val="windowText" lastClr="000000"/>
                </a:solidFill>
                <a:effectLst/>
                <a:uLnTx/>
                <a:uFillTx/>
                <a:latin typeface="Palatino Linotype"/>
                <a:ea typeface="+mj-ea"/>
              </a:rPr>
              <a:t> </a:t>
            </a:r>
            <a:r>
              <a:rPr kumimoji="0" lang="en-US" sz="4000" b="1" i="0" u="none" strike="noStrike" kern="0" cap="none" spc="0" normalizeH="0" baseline="0" noProof="0">
                <a:ln>
                  <a:noFill/>
                </a:ln>
                <a:solidFill>
                  <a:sysClr val="windowText" lastClr="000000"/>
                </a:solidFill>
                <a:effectLst/>
                <a:uLnTx/>
                <a:uFillTx/>
                <a:latin typeface="Palatino Linotype"/>
                <a:ea typeface="+mj-ea"/>
              </a:rPr>
              <a:t>Graph</a:t>
            </a:r>
            <a:r>
              <a:rPr kumimoji="0" lang="en-US" sz="4000" b="1" i="0" u="none" strike="noStrike" kern="0" cap="none" spc="-70" normalizeH="0" baseline="0" noProof="0">
                <a:ln>
                  <a:noFill/>
                </a:ln>
                <a:solidFill>
                  <a:sysClr val="windowText" lastClr="000000"/>
                </a:solidFill>
                <a:effectLst/>
                <a:uLnTx/>
                <a:uFillTx/>
                <a:latin typeface="Palatino Linotype"/>
                <a:ea typeface="+mj-ea"/>
              </a:rPr>
              <a:t> </a:t>
            </a:r>
            <a:r>
              <a:rPr kumimoji="0" lang="en-US" sz="4000" b="1" i="0" u="none" strike="noStrike" kern="0" cap="none" spc="-10" normalizeH="0" baseline="0" noProof="0">
                <a:ln>
                  <a:noFill/>
                </a:ln>
                <a:solidFill>
                  <a:sysClr val="windowText" lastClr="000000"/>
                </a:solidFill>
                <a:effectLst/>
                <a:uLnTx/>
                <a:uFillTx/>
                <a:latin typeface="Palatino Linotype"/>
                <a:ea typeface="+mj-ea"/>
              </a:rPr>
              <a:t>Example</a:t>
            </a:r>
            <a:endParaRPr kumimoji="0" lang="en-US" sz="4000" b="1" i="0" u="none" strike="noStrike" kern="0" cap="none" spc="-10" normalizeH="0" baseline="0" noProof="0" dirty="0">
              <a:ln>
                <a:noFill/>
              </a:ln>
              <a:solidFill>
                <a:sysClr val="windowText" lastClr="000000"/>
              </a:solidFill>
              <a:effectLst/>
              <a:uLnTx/>
              <a:uFillTx/>
              <a:latin typeface="Palatino Linotype"/>
              <a:ea typeface="+mj-ea"/>
            </a:endParaRPr>
          </a:p>
        </p:txBody>
      </p:sp>
      <p:sp>
        <p:nvSpPr>
          <p:cNvPr id="10" name="object 4">
            <a:extLst>
              <a:ext uri="{FF2B5EF4-FFF2-40B4-BE49-F238E27FC236}">
                <a16:creationId xmlns:a16="http://schemas.microsoft.com/office/drawing/2014/main" id="{980E1A23-7D7A-ACF0-5145-E610BF016C3B}"/>
              </a:ext>
            </a:extLst>
          </p:cNvPr>
          <p:cNvSpPr txBox="1"/>
          <p:nvPr/>
        </p:nvSpPr>
        <p:spPr>
          <a:xfrm>
            <a:off x="681988" y="1610867"/>
            <a:ext cx="4288155" cy="2512695"/>
          </a:xfrm>
          <a:prstGeom prst="rect">
            <a:avLst/>
          </a:prstGeom>
        </p:spPr>
        <p:txBody>
          <a:bodyPr vert="horz" wrap="square" lIns="0" tIns="12700" rIns="0" bIns="0" rtlCol="0">
            <a:spAutoFit/>
          </a:bodyPr>
          <a:lstStyle/>
          <a:p>
            <a:pPr marL="268605" marR="30480" indent="-230504">
              <a:lnSpc>
                <a:spcPct val="115999"/>
              </a:lnSpc>
              <a:spcBef>
                <a:spcPts val="100"/>
              </a:spcBef>
              <a:buFont typeface="Arial MT"/>
              <a:buChar char="•"/>
              <a:tabLst>
                <a:tab pos="268605" algn="l"/>
              </a:tabLst>
            </a:pPr>
            <a:r>
              <a:rPr sz="2000" dirty="0">
                <a:solidFill>
                  <a:sysClr val="windowText" lastClr="000000"/>
                </a:solidFill>
                <a:latin typeface="Palatino Linotype"/>
                <a:cs typeface="Palatino Linotype"/>
              </a:rPr>
              <a:t>Edges</a:t>
            </a:r>
            <a:r>
              <a:rPr sz="2000" spc="-5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introduced</a:t>
            </a:r>
            <a:r>
              <a:rPr sz="2000" spc="-4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because</a:t>
            </a:r>
            <a:r>
              <a:rPr sz="2000" spc="-4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of</a:t>
            </a:r>
            <a:r>
              <a:rPr sz="2000" spc="-50" dirty="0">
                <a:solidFill>
                  <a:sysClr val="windowText" lastClr="000000"/>
                </a:solidFill>
                <a:latin typeface="Palatino Linotype"/>
                <a:cs typeface="Palatino Linotype"/>
              </a:rPr>
              <a:t> </a:t>
            </a:r>
            <a:r>
              <a:rPr sz="2000" spc="-10" dirty="0">
                <a:solidFill>
                  <a:sysClr val="windowText" lastClr="000000"/>
                </a:solidFill>
                <a:latin typeface="Palatino Linotype"/>
                <a:cs typeface="Palatino Linotype"/>
              </a:rPr>
              <a:t>jumps </a:t>
            </a:r>
            <a:r>
              <a:rPr sz="2000" dirty="0">
                <a:solidFill>
                  <a:sysClr val="windowText" lastClr="000000"/>
                </a:solidFill>
                <a:latin typeface="Palatino Linotype"/>
                <a:cs typeface="Palatino Linotype"/>
              </a:rPr>
              <a:t>(Case</a:t>
            </a:r>
            <a:r>
              <a:rPr sz="2000" spc="-45" dirty="0">
                <a:solidFill>
                  <a:sysClr val="windowText" lastClr="000000"/>
                </a:solidFill>
                <a:latin typeface="Palatino Linotype"/>
                <a:cs typeface="Palatino Linotype"/>
              </a:rPr>
              <a:t> </a:t>
            </a:r>
            <a:r>
              <a:rPr sz="2000" spc="-25" dirty="0">
                <a:solidFill>
                  <a:sysClr val="windowText" lastClr="000000"/>
                </a:solidFill>
                <a:latin typeface="Palatino Linotype"/>
                <a:cs typeface="Palatino Linotype"/>
              </a:rPr>
              <a:t>1)</a:t>
            </a:r>
            <a:endParaRPr sz="2000">
              <a:solidFill>
                <a:sysClr val="windowText" lastClr="000000"/>
              </a:solidFill>
              <a:latin typeface="Palatino Linotype"/>
              <a:cs typeface="Palatino Linotype"/>
            </a:endParaRPr>
          </a:p>
          <a:p>
            <a:pPr marL="723265" lvl="1" indent="-227965">
              <a:spcBef>
                <a:spcPts val="1095"/>
              </a:spcBef>
              <a:buFont typeface="Wingdings"/>
              <a:buChar char=""/>
              <a:tabLst>
                <a:tab pos="723265" algn="l"/>
              </a:tabLst>
            </a:pPr>
            <a:r>
              <a:rPr sz="1600" dirty="0">
                <a:solidFill>
                  <a:sysClr val="windowText" lastClr="000000"/>
                </a:solidFill>
                <a:latin typeface="Cambria Math"/>
                <a:cs typeface="Cambria Math"/>
              </a:rPr>
              <a:t>𝐵</a:t>
            </a:r>
            <a:r>
              <a:rPr baseline="-16203" dirty="0">
                <a:solidFill>
                  <a:sysClr val="windowText" lastClr="000000"/>
                </a:solidFill>
                <a:latin typeface="Cambria Math"/>
                <a:cs typeface="Cambria Math"/>
              </a:rPr>
              <a:t>3</a:t>
            </a:r>
            <a:r>
              <a:rPr spc="284" baseline="-16203" dirty="0">
                <a:solidFill>
                  <a:sysClr val="windowText" lastClr="000000"/>
                </a:solidFill>
                <a:latin typeface="Cambria Math"/>
                <a:cs typeface="Cambria Math"/>
              </a:rPr>
              <a:t> </a:t>
            </a:r>
            <a:r>
              <a:rPr sz="1600" dirty="0">
                <a:solidFill>
                  <a:sysClr val="windowText" lastClr="000000"/>
                </a:solidFill>
                <a:latin typeface="Cambria Math"/>
                <a:cs typeface="Cambria Math"/>
              </a:rPr>
              <a:t>→</a:t>
            </a:r>
            <a:r>
              <a:rPr sz="1600" spc="65" dirty="0">
                <a:solidFill>
                  <a:sysClr val="windowText" lastClr="000000"/>
                </a:solidFill>
                <a:latin typeface="Cambria Math"/>
                <a:cs typeface="Cambria Math"/>
              </a:rPr>
              <a:t> </a:t>
            </a:r>
            <a:r>
              <a:rPr sz="1600" spc="-25" dirty="0">
                <a:solidFill>
                  <a:sysClr val="windowText" lastClr="000000"/>
                </a:solidFill>
                <a:latin typeface="Cambria Math"/>
                <a:cs typeface="Cambria Math"/>
              </a:rPr>
              <a:t>𝐵</a:t>
            </a:r>
            <a:r>
              <a:rPr spc="-37" baseline="-16203" dirty="0">
                <a:solidFill>
                  <a:sysClr val="windowText" lastClr="000000"/>
                </a:solidFill>
                <a:latin typeface="Cambria Math"/>
                <a:cs typeface="Cambria Math"/>
              </a:rPr>
              <a:t>3</a:t>
            </a:r>
            <a:endParaRPr baseline="-16203">
              <a:solidFill>
                <a:sysClr val="windowText" lastClr="000000"/>
              </a:solidFill>
              <a:latin typeface="Cambria Math"/>
              <a:cs typeface="Cambria Math"/>
            </a:endParaRPr>
          </a:p>
          <a:p>
            <a:pPr marL="723265" lvl="1" indent="-227965">
              <a:spcBef>
                <a:spcPts val="985"/>
              </a:spcBef>
              <a:buFont typeface="Wingdings"/>
              <a:buChar char=""/>
              <a:tabLst>
                <a:tab pos="723265" algn="l"/>
              </a:tabLst>
            </a:pPr>
            <a:r>
              <a:rPr sz="1600" dirty="0">
                <a:solidFill>
                  <a:sysClr val="windowText" lastClr="000000"/>
                </a:solidFill>
                <a:latin typeface="Cambria Math"/>
                <a:cs typeface="Cambria Math"/>
              </a:rPr>
              <a:t>𝐵</a:t>
            </a:r>
            <a:r>
              <a:rPr baseline="-16203" dirty="0">
                <a:solidFill>
                  <a:sysClr val="windowText" lastClr="000000"/>
                </a:solidFill>
                <a:latin typeface="Cambria Math"/>
                <a:cs typeface="Cambria Math"/>
              </a:rPr>
              <a:t>4</a:t>
            </a:r>
            <a:r>
              <a:rPr spc="240" baseline="-16203" dirty="0">
                <a:solidFill>
                  <a:sysClr val="windowText" lastClr="000000"/>
                </a:solidFill>
                <a:latin typeface="Cambria Math"/>
                <a:cs typeface="Cambria Math"/>
              </a:rPr>
              <a:t> </a:t>
            </a:r>
            <a:r>
              <a:rPr sz="1600" dirty="0">
                <a:solidFill>
                  <a:sysClr val="windowText" lastClr="000000"/>
                </a:solidFill>
                <a:latin typeface="Cambria Math"/>
                <a:cs typeface="Cambria Math"/>
              </a:rPr>
              <a:t>→</a:t>
            </a:r>
            <a:r>
              <a:rPr sz="1600" spc="30" dirty="0">
                <a:solidFill>
                  <a:sysClr val="windowText" lastClr="000000"/>
                </a:solidFill>
                <a:latin typeface="Cambria Math"/>
                <a:cs typeface="Cambria Math"/>
              </a:rPr>
              <a:t> </a:t>
            </a:r>
            <a:r>
              <a:rPr sz="1600" spc="-25" dirty="0">
                <a:solidFill>
                  <a:sysClr val="windowText" lastClr="000000"/>
                </a:solidFill>
                <a:latin typeface="Cambria Math"/>
                <a:cs typeface="Cambria Math"/>
              </a:rPr>
              <a:t>𝐵</a:t>
            </a:r>
            <a:r>
              <a:rPr spc="-37" baseline="-16203" dirty="0">
                <a:solidFill>
                  <a:sysClr val="windowText" lastClr="000000"/>
                </a:solidFill>
                <a:latin typeface="Cambria Math"/>
                <a:cs typeface="Cambria Math"/>
              </a:rPr>
              <a:t>2</a:t>
            </a:r>
            <a:endParaRPr baseline="-16203">
              <a:solidFill>
                <a:sysClr val="windowText" lastClr="000000"/>
              </a:solidFill>
              <a:latin typeface="Cambria Math"/>
              <a:cs typeface="Cambria Math"/>
            </a:endParaRPr>
          </a:p>
          <a:p>
            <a:pPr marL="723265" lvl="1" indent="-227965">
              <a:spcBef>
                <a:spcPts val="985"/>
              </a:spcBef>
              <a:buFont typeface="Wingdings"/>
              <a:buChar char=""/>
              <a:tabLst>
                <a:tab pos="723265" algn="l"/>
              </a:tabLst>
            </a:pPr>
            <a:r>
              <a:rPr sz="1600" dirty="0">
                <a:solidFill>
                  <a:sysClr val="windowText" lastClr="000000"/>
                </a:solidFill>
                <a:latin typeface="Cambria Math"/>
                <a:cs typeface="Cambria Math"/>
              </a:rPr>
              <a:t>𝐵</a:t>
            </a:r>
            <a:r>
              <a:rPr baseline="-16203" dirty="0">
                <a:solidFill>
                  <a:sysClr val="windowText" lastClr="000000"/>
                </a:solidFill>
                <a:latin typeface="Cambria Math"/>
                <a:cs typeface="Cambria Math"/>
              </a:rPr>
              <a:t>6</a:t>
            </a:r>
            <a:r>
              <a:rPr spc="284" baseline="-16203" dirty="0">
                <a:solidFill>
                  <a:sysClr val="windowText" lastClr="000000"/>
                </a:solidFill>
                <a:latin typeface="Cambria Math"/>
                <a:cs typeface="Cambria Math"/>
              </a:rPr>
              <a:t> </a:t>
            </a:r>
            <a:r>
              <a:rPr sz="1600" dirty="0">
                <a:solidFill>
                  <a:sysClr val="windowText" lastClr="000000"/>
                </a:solidFill>
                <a:latin typeface="Cambria Math"/>
                <a:cs typeface="Cambria Math"/>
              </a:rPr>
              <a:t>→</a:t>
            </a:r>
            <a:r>
              <a:rPr sz="1600" spc="65" dirty="0">
                <a:solidFill>
                  <a:sysClr val="windowText" lastClr="000000"/>
                </a:solidFill>
                <a:latin typeface="Cambria Math"/>
                <a:cs typeface="Cambria Math"/>
              </a:rPr>
              <a:t> </a:t>
            </a:r>
            <a:r>
              <a:rPr sz="1600" spc="-25" dirty="0">
                <a:solidFill>
                  <a:sysClr val="windowText" lastClr="000000"/>
                </a:solidFill>
                <a:latin typeface="Cambria Math"/>
                <a:cs typeface="Cambria Math"/>
              </a:rPr>
              <a:t>𝐵</a:t>
            </a:r>
            <a:r>
              <a:rPr spc="-37" baseline="-16203" dirty="0">
                <a:solidFill>
                  <a:sysClr val="windowText" lastClr="000000"/>
                </a:solidFill>
                <a:latin typeface="Cambria Math"/>
                <a:cs typeface="Cambria Math"/>
              </a:rPr>
              <a:t>6</a:t>
            </a:r>
            <a:endParaRPr baseline="-16203">
              <a:solidFill>
                <a:sysClr val="windowText" lastClr="000000"/>
              </a:solidFill>
              <a:latin typeface="Cambria Math"/>
              <a:cs typeface="Cambria Math"/>
            </a:endParaRPr>
          </a:p>
          <a:p>
            <a:pPr marL="0" lvl="1">
              <a:spcBef>
                <a:spcPts val="915"/>
              </a:spcBef>
              <a:buFont typeface="Wingdings"/>
              <a:buChar char=""/>
            </a:pPr>
            <a:endParaRPr sz="1600">
              <a:solidFill>
                <a:sysClr val="windowText" lastClr="000000"/>
              </a:solidFill>
              <a:latin typeface="Cambria Math"/>
              <a:cs typeface="Cambria Math"/>
            </a:endParaRPr>
          </a:p>
          <a:p>
            <a:pPr marL="267970" indent="-229870">
              <a:buFont typeface="Arial MT"/>
              <a:buChar char="•"/>
              <a:tabLst>
                <a:tab pos="267970" algn="l"/>
              </a:tabLst>
            </a:pPr>
            <a:r>
              <a:rPr sz="2000" dirty="0">
                <a:solidFill>
                  <a:sysClr val="windowText" lastClr="000000"/>
                </a:solidFill>
                <a:latin typeface="Palatino Linotype"/>
                <a:cs typeface="Palatino Linotype"/>
              </a:rPr>
              <a:t>The</a:t>
            </a:r>
            <a:r>
              <a:rPr sz="2000" spc="-3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other</a:t>
            </a:r>
            <a:r>
              <a:rPr sz="2000" spc="-3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edges</a:t>
            </a:r>
            <a:r>
              <a:rPr sz="2000" spc="-3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belong</a:t>
            </a:r>
            <a:r>
              <a:rPr sz="2000" spc="-3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to</a:t>
            </a:r>
            <a:r>
              <a:rPr sz="2000" spc="-3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“Case</a:t>
            </a:r>
            <a:r>
              <a:rPr sz="2000" spc="-30" dirty="0">
                <a:solidFill>
                  <a:sysClr val="windowText" lastClr="000000"/>
                </a:solidFill>
                <a:latin typeface="Palatino Linotype"/>
                <a:cs typeface="Palatino Linotype"/>
              </a:rPr>
              <a:t> </a:t>
            </a:r>
            <a:r>
              <a:rPr sz="2000" spc="-25" dirty="0">
                <a:solidFill>
                  <a:sysClr val="windowText" lastClr="000000"/>
                </a:solidFill>
                <a:latin typeface="Palatino Linotype"/>
                <a:cs typeface="Palatino Linotype"/>
              </a:rPr>
              <a:t>2”</a:t>
            </a:r>
            <a:endParaRPr sz="2000">
              <a:solidFill>
                <a:sysClr val="windowText" lastClr="000000"/>
              </a:solidFill>
              <a:latin typeface="Palatino Linotype"/>
              <a:cs typeface="Palatino Linotype"/>
            </a:endParaRPr>
          </a:p>
        </p:txBody>
      </p:sp>
    </p:spTree>
    <p:extLst>
      <p:ext uri="{BB962C8B-B14F-4D97-AF65-F5344CB8AC3E}">
        <p14:creationId xmlns:p14="http://schemas.microsoft.com/office/powerpoint/2010/main" val="63515219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44</a:t>
            </a:fld>
            <a:endParaRPr lang="en-US"/>
          </a:p>
        </p:txBody>
      </p:sp>
      <p:sp>
        <p:nvSpPr>
          <p:cNvPr id="8" name="object 2">
            <a:extLst>
              <a:ext uri="{FF2B5EF4-FFF2-40B4-BE49-F238E27FC236}">
                <a16:creationId xmlns:a16="http://schemas.microsoft.com/office/drawing/2014/main" id="{B8AD4BB6-A436-509F-06B0-94FD4135049B}"/>
              </a:ext>
            </a:extLst>
          </p:cNvPr>
          <p:cNvSpPr txBox="1">
            <a:spLocks/>
          </p:cNvSpPr>
          <p:nvPr/>
        </p:nvSpPr>
        <p:spPr>
          <a:xfrm>
            <a:off x="707390" y="524763"/>
            <a:ext cx="7729219" cy="63500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4000" b="1" i="0" u="none" strike="noStrike" kern="0" cap="none" spc="0" normalizeH="0" baseline="0" noProof="0">
                <a:ln>
                  <a:noFill/>
                </a:ln>
                <a:solidFill>
                  <a:sysClr val="windowText" lastClr="000000"/>
                </a:solidFill>
                <a:effectLst/>
                <a:uLnTx/>
                <a:uFillTx/>
                <a:latin typeface="Palatino Linotype"/>
                <a:ea typeface="+mj-ea"/>
              </a:rPr>
              <a:t>Loops</a:t>
            </a:r>
            <a:r>
              <a:rPr kumimoji="0" lang="en-US" sz="4000" b="1" i="0" u="none" strike="noStrike" kern="0" cap="none" spc="-45" normalizeH="0" baseline="0" noProof="0">
                <a:ln>
                  <a:noFill/>
                </a:ln>
                <a:solidFill>
                  <a:sysClr val="windowText" lastClr="000000"/>
                </a:solidFill>
                <a:effectLst/>
                <a:uLnTx/>
                <a:uFillTx/>
                <a:latin typeface="Palatino Linotype"/>
                <a:ea typeface="+mj-ea"/>
              </a:rPr>
              <a:t> (</a:t>
            </a:r>
            <a:r>
              <a:rPr kumimoji="0" lang="zh-CN" altLang="en-US" sz="3900" b="0" i="0" u="none" strike="noStrike" kern="0" cap="none" spc="85" normalizeH="0" baseline="0" noProof="0">
                <a:ln>
                  <a:noFill/>
                </a:ln>
                <a:solidFill>
                  <a:sysClr val="windowText" lastClr="000000"/>
                </a:solidFill>
                <a:effectLst/>
                <a:uLnTx/>
                <a:uFillTx/>
                <a:latin typeface="SimSun"/>
                <a:ea typeface="宋体" panose="02010600030101010101" pitchFamily="2" charset="-122"/>
                <a:cs typeface="SimSun"/>
              </a:rPr>
              <a:t>循环</a:t>
            </a:r>
            <a:r>
              <a:rPr kumimoji="0" lang="en-US" altLang="zh-CN" sz="4000" b="1" i="0" u="none" strike="noStrike" kern="0" cap="none" spc="-50" normalizeH="0" baseline="0" noProof="0">
                <a:ln>
                  <a:noFill/>
                </a:ln>
                <a:solidFill>
                  <a:sysClr val="windowText" lastClr="000000"/>
                </a:solidFill>
                <a:effectLst/>
                <a:uLnTx/>
                <a:uFillTx/>
                <a:latin typeface="Palatino Linotype"/>
                <a:ea typeface="宋体" panose="02010600030101010101" pitchFamily="2" charset="-122"/>
              </a:rPr>
              <a:t>)</a:t>
            </a:r>
            <a:endParaRPr kumimoji="0" lang="zh-CN" altLang="en-US" sz="4000" b="1" i="0" u="none" strike="noStrike" kern="0" cap="none" spc="0" normalizeH="0" baseline="0" noProof="0">
              <a:ln>
                <a:noFill/>
              </a:ln>
              <a:solidFill>
                <a:sysClr val="windowText" lastClr="000000"/>
              </a:solidFill>
              <a:effectLst/>
              <a:uLnTx/>
              <a:uFillTx/>
              <a:latin typeface="SimSun"/>
              <a:ea typeface="宋体" panose="02010600030101010101" pitchFamily="2" charset="-122"/>
              <a:cs typeface="SimSun"/>
            </a:endParaRPr>
          </a:p>
        </p:txBody>
      </p:sp>
      <p:sp>
        <p:nvSpPr>
          <p:cNvPr id="9" name="object 3">
            <a:extLst>
              <a:ext uri="{FF2B5EF4-FFF2-40B4-BE49-F238E27FC236}">
                <a16:creationId xmlns:a16="http://schemas.microsoft.com/office/drawing/2014/main" id="{75D4D2FD-C29A-FDF6-B550-1B54DED9DDFD}"/>
              </a:ext>
            </a:extLst>
          </p:cNvPr>
          <p:cNvSpPr txBox="1"/>
          <p:nvPr/>
        </p:nvSpPr>
        <p:spPr>
          <a:xfrm>
            <a:off x="669290" y="1610867"/>
            <a:ext cx="7515225" cy="3706495"/>
          </a:xfrm>
          <a:prstGeom prst="rect">
            <a:avLst/>
          </a:prstGeom>
        </p:spPr>
        <p:txBody>
          <a:bodyPr vert="horz" wrap="square" lIns="0" tIns="12700" rIns="0" bIns="0" rtlCol="0">
            <a:spAutoFit/>
          </a:bodyPr>
          <a:lstStyle/>
          <a:p>
            <a:pPr marL="280670" marR="208915" indent="-230504">
              <a:lnSpc>
                <a:spcPct val="115999"/>
              </a:lnSpc>
              <a:spcBef>
                <a:spcPts val="100"/>
              </a:spcBef>
              <a:buFont typeface="Arial MT"/>
              <a:buChar char="•"/>
              <a:tabLst>
                <a:tab pos="280670" algn="l"/>
              </a:tabLst>
            </a:pPr>
            <a:r>
              <a:rPr sz="2000" dirty="0">
                <a:solidFill>
                  <a:sysClr val="windowText" lastClr="000000"/>
                </a:solidFill>
                <a:latin typeface="Palatino Linotype"/>
                <a:cs typeface="Palatino Linotype"/>
              </a:rPr>
              <a:t>Programs</a:t>
            </a:r>
            <a:r>
              <a:rPr sz="2000" spc="-2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often</a:t>
            </a:r>
            <a:r>
              <a:rPr sz="2000" spc="-3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spend</a:t>
            </a:r>
            <a:r>
              <a:rPr sz="2000" spc="-2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most</a:t>
            </a:r>
            <a:r>
              <a:rPr sz="2000" spc="-3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of</a:t>
            </a:r>
            <a:r>
              <a:rPr sz="2000" spc="-3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the</a:t>
            </a:r>
            <a:r>
              <a:rPr sz="2000" spc="-2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time</a:t>
            </a:r>
            <a:r>
              <a:rPr sz="2000" spc="-2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in</a:t>
            </a:r>
            <a:r>
              <a:rPr sz="2000" spc="-3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executing</a:t>
            </a:r>
            <a:r>
              <a:rPr sz="2000" spc="-2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loops.</a:t>
            </a:r>
            <a:r>
              <a:rPr sz="2000" spc="-2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It</a:t>
            </a:r>
            <a:r>
              <a:rPr sz="2000" spc="-30" dirty="0">
                <a:solidFill>
                  <a:sysClr val="windowText" lastClr="000000"/>
                </a:solidFill>
                <a:latin typeface="Palatino Linotype"/>
                <a:cs typeface="Palatino Linotype"/>
              </a:rPr>
              <a:t> </a:t>
            </a:r>
            <a:r>
              <a:rPr sz="2000" spc="-25" dirty="0">
                <a:solidFill>
                  <a:sysClr val="windowText" lastClr="000000"/>
                </a:solidFill>
                <a:latin typeface="Palatino Linotype"/>
                <a:cs typeface="Palatino Linotype"/>
              </a:rPr>
              <a:t>is </a:t>
            </a:r>
            <a:r>
              <a:rPr sz="2000" dirty="0">
                <a:solidFill>
                  <a:sysClr val="windowText" lastClr="000000"/>
                </a:solidFill>
                <a:latin typeface="Palatino Linotype"/>
                <a:cs typeface="Palatino Linotype"/>
              </a:rPr>
              <a:t>important</a:t>
            </a:r>
            <a:r>
              <a:rPr sz="2000" spc="-3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for</a:t>
            </a:r>
            <a:r>
              <a:rPr sz="2000" spc="-3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compilers</a:t>
            </a:r>
            <a:r>
              <a:rPr sz="2000" spc="-3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to</a:t>
            </a:r>
            <a:r>
              <a:rPr sz="2000" spc="-3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generate</a:t>
            </a:r>
            <a:r>
              <a:rPr sz="2000" spc="-3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efficient</a:t>
            </a:r>
            <a:r>
              <a:rPr sz="2000" spc="-3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code</a:t>
            </a:r>
            <a:r>
              <a:rPr sz="2000" spc="-3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for</a:t>
            </a:r>
            <a:r>
              <a:rPr sz="2000" spc="-35" dirty="0">
                <a:solidFill>
                  <a:sysClr val="windowText" lastClr="000000"/>
                </a:solidFill>
                <a:latin typeface="Palatino Linotype"/>
                <a:cs typeface="Palatino Linotype"/>
              </a:rPr>
              <a:t> </a:t>
            </a:r>
            <a:r>
              <a:rPr sz="2000" spc="-10" dirty="0">
                <a:solidFill>
                  <a:sysClr val="windowText" lastClr="000000"/>
                </a:solidFill>
                <a:latin typeface="Palatino Linotype"/>
                <a:cs typeface="Palatino Linotype"/>
              </a:rPr>
              <a:t>loops.</a:t>
            </a:r>
            <a:endParaRPr sz="2000">
              <a:solidFill>
                <a:sysClr val="windowText" lastClr="000000"/>
              </a:solidFill>
              <a:latin typeface="Palatino Linotype"/>
              <a:cs typeface="Palatino Linotype"/>
            </a:endParaRPr>
          </a:p>
          <a:p>
            <a:pPr>
              <a:spcBef>
                <a:spcPts val="1905"/>
              </a:spcBef>
              <a:buFont typeface="Arial MT"/>
              <a:buChar char="•"/>
            </a:pPr>
            <a:endParaRPr sz="2000">
              <a:solidFill>
                <a:sysClr val="windowText" lastClr="000000"/>
              </a:solidFill>
              <a:latin typeface="Palatino Linotype"/>
              <a:cs typeface="Palatino Linotype"/>
            </a:endParaRPr>
          </a:p>
          <a:p>
            <a:pPr marL="280670" indent="-229870">
              <a:spcBef>
                <a:spcPts val="5"/>
              </a:spcBef>
              <a:buClr>
                <a:srgbClr val="000000"/>
              </a:buClr>
              <a:buFont typeface="Arial MT"/>
              <a:buChar char="•"/>
              <a:tabLst>
                <a:tab pos="280670" algn="l"/>
              </a:tabLst>
            </a:pPr>
            <a:r>
              <a:rPr sz="2000" b="1" dirty="0">
                <a:solidFill>
                  <a:srgbClr val="FF0000"/>
                </a:solidFill>
                <a:latin typeface="Palatino Linotype"/>
                <a:cs typeface="Palatino Linotype"/>
              </a:rPr>
              <a:t>Definition</a:t>
            </a:r>
            <a:r>
              <a:rPr sz="2000" b="1" spc="-50" dirty="0">
                <a:solidFill>
                  <a:srgbClr val="FF0000"/>
                </a:solidFill>
                <a:latin typeface="Palatino Linotype"/>
                <a:cs typeface="Palatino Linotype"/>
              </a:rPr>
              <a:t> </a:t>
            </a:r>
            <a:r>
              <a:rPr sz="2000" b="1" dirty="0">
                <a:solidFill>
                  <a:srgbClr val="FF0000"/>
                </a:solidFill>
                <a:latin typeface="Palatino Linotype"/>
                <a:cs typeface="Palatino Linotype"/>
              </a:rPr>
              <a:t>of</a:t>
            </a:r>
            <a:r>
              <a:rPr sz="2000" b="1" spc="-50" dirty="0">
                <a:solidFill>
                  <a:srgbClr val="FF0000"/>
                </a:solidFill>
                <a:latin typeface="Palatino Linotype"/>
                <a:cs typeface="Palatino Linotype"/>
              </a:rPr>
              <a:t> </a:t>
            </a:r>
            <a:r>
              <a:rPr sz="2000" b="1" spc="-10" dirty="0">
                <a:solidFill>
                  <a:srgbClr val="FF0000"/>
                </a:solidFill>
                <a:latin typeface="Palatino Linotype"/>
                <a:cs typeface="Palatino Linotype"/>
              </a:rPr>
              <a:t>loops:</a:t>
            </a:r>
            <a:endParaRPr sz="2000">
              <a:solidFill>
                <a:sysClr val="windowText" lastClr="000000"/>
              </a:solidFill>
              <a:latin typeface="Palatino Linotype"/>
              <a:cs typeface="Palatino Linotype"/>
            </a:endParaRPr>
          </a:p>
          <a:p>
            <a:pPr marL="735965" lvl="1" indent="-227965">
              <a:spcBef>
                <a:spcPts val="1600"/>
              </a:spcBef>
              <a:buFont typeface="Wingdings"/>
              <a:buChar char=""/>
              <a:tabLst>
                <a:tab pos="735965" algn="l"/>
              </a:tabLst>
            </a:pPr>
            <a:r>
              <a:rPr sz="1600" dirty="0">
                <a:solidFill>
                  <a:sysClr val="windowText" lastClr="000000"/>
                </a:solidFill>
                <a:latin typeface="Palatino Linotype"/>
                <a:cs typeface="Palatino Linotype"/>
              </a:rPr>
              <a:t>A</a:t>
            </a:r>
            <a:r>
              <a:rPr sz="1600" spc="-100"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loop</a:t>
            </a:r>
            <a:r>
              <a:rPr sz="1600" spc="-15" dirty="0">
                <a:solidFill>
                  <a:sysClr val="windowText" lastClr="000000"/>
                </a:solidFill>
                <a:latin typeface="Palatino Linotype"/>
                <a:cs typeface="Palatino Linotype"/>
              </a:rPr>
              <a:t> </a:t>
            </a:r>
            <a:r>
              <a:rPr sz="1600" dirty="0">
                <a:solidFill>
                  <a:sysClr val="windowText" lastClr="000000"/>
                </a:solidFill>
                <a:latin typeface="Cambria Math"/>
                <a:cs typeface="Cambria Math"/>
              </a:rPr>
              <a:t>𝐿</a:t>
            </a:r>
            <a:r>
              <a:rPr sz="1600" spc="60" dirty="0">
                <a:solidFill>
                  <a:sysClr val="windowText" lastClr="000000"/>
                </a:solidFill>
                <a:latin typeface="Cambria Math"/>
                <a:cs typeface="Cambria Math"/>
              </a:rPr>
              <a:t> </a:t>
            </a:r>
            <a:r>
              <a:rPr sz="1600" dirty="0">
                <a:solidFill>
                  <a:sysClr val="windowText" lastClr="000000"/>
                </a:solidFill>
                <a:latin typeface="Palatino Linotype"/>
                <a:cs typeface="Palatino Linotype"/>
              </a:rPr>
              <a:t>is</a:t>
            </a:r>
            <a:r>
              <a:rPr sz="1600" spc="-20" dirty="0">
                <a:solidFill>
                  <a:sysClr val="windowText" lastClr="000000"/>
                </a:solidFill>
                <a:latin typeface="Palatino Linotype"/>
                <a:cs typeface="Palatino Linotype"/>
              </a:rPr>
              <a:t> </a:t>
            </a:r>
            <a:r>
              <a:rPr sz="1600" u="sng" dirty="0">
                <a:solidFill>
                  <a:sysClr val="windowText" lastClr="000000"/>
                </a:solidFill>
                <a:uFill>
                  <a:solidFill>
                    <a:srgbClr val="000000"/>
                  </a:solidFill>
                </a:uFill>
                <a:latin typeface="Palatino Linotype"/>
                <a:cs typeface="Palatino Linotype"/>
              </a:rPr>
              <a:t>a</a:t>
            </a:r>
            <a:r>
              <a:rPr sz="1600" u="sng" spc="-15" dirty="0">
                <a:solidFill>
                  <a:sysClr val="windowText" lastClr="000000"/>
                </a:solidFill>
                <a:uFill>
                  <a:solidFill>
                    <a:srgbClr val="000000"/>
                  </a:solidFill>
                </a:uFill>
                <a:latin typeface="Palatino Linotype"/>
                <a:cs typeface="Palatino Linotype"/>
              </a:rPr>
              <a:t> </a:t>
            </a:r>
            <a:r>
              <a:rPr sz="1600" u="sng" dirty="0">
                <a:solidFill>
                  <a:sysClr val="windowText" lastClr="000000"/>
                </a:solidFill>
                <a:uFill>
                  <a:solidFill>
                    <a:srgbClr val="000000"/>
                  </a:solidFill>
                </a:uFill>
                <a:latin typeface="Palatino Linotype"/>
                <a:cs typeface="Palatino Linotype"/>
              </a:rPr>
              <a:t>set</a:t>
            </a:r>
            <a:r>
              <a:rPr sz="1600" u="sng" spc="-15" dirty="0">
                <a:solidFill>
                  <a:sysClr val="windowText" lastClr="000000"/>
                </a:solidFill>
                <a:uFill>
                  <a:solidFill>
                    <a:srgbClr val="000000"/>
                  </a:solidFill>
                </a:uFill>
                <a:latin typeface="Palatino Linotype"/>
                <a:cs typeface="Palatino Linotype"/>
              </a:rPr>
              <a:t> </a:t>
            </a:r>
            <a:r>
              <a:rPr sz="1600" u="sng" dirty="0">
                <a:solidFill>
                  <a:sysClr val="windowText" lastClr="000000"/>
                </a:solidFill>
                <a:uFill>
                  <a:solidFill>
                    <a:srgbClr val="000000"/>
                  </a:solidFill>
                </a:uFill>
                <a:latin typeface="Palatino Linotype"/>
                <a:cs typeface="Palatino Linotype"/>
              </a:rPr>
              <a:t>of</a:t>
            </a:r>
            <a:r>
              <a:rPr sz="1600" u="sng" spc="-15" dirty="0">
                <a:solidFill>
                  <a:sysClr val="windowText" lastClr="000000"/>
                </a:solidFill>
                <a:uFill>
                  <a:solidFill>
                    <a:srgbClr val="000000"/>
                  </a:solidFill>
                </a:uFill>
                <a:latin typeface="Palatino Linotype"/>
                <a:cs typeface="Palatino Linotype"/>
              </a:rPr>
              <a:t> </a:t>
            </a:r>
            <a:r>
              <a:rPr sz="1600" u="sng" dirty="0">
                <a:solidFill>
                  <a:sysClr val="windowText" lastClr="000000"/>
                </a:solidFill>
                <a:uFill>
                  <a:solidFill>
                    <a:srgbClr val="000000"/>
                  </a:solidFill>
                </a:uFill>
                <a:latin typeface="Palatino Linotype"/>
                <a:cs typeface="Palatino Linotype"/>
              </a:rPr>
              <a:t>nodes</a:t>
            </a:r>
            <a:r>
              <a:rPr sz="1600" spc="-15"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in</a:t>
            </a:r>
            <a:r>
              <a:rPr sz="1600" spc="-10"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the</a:t>
            </a:r>
            <a:r>
              <a:rPr sz="1600" spc="-20"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flow</a:t>
            </a:r>
            <a:r>
              <a:rPr sz="1600" spc="-15" dirty="0">
                <a:solidFill>
                  <a:sysClr val="windowText" lastClr="000000"/>
                </a:solidFill>
                <a:latin typeface="Palatino Linotype"/>
                <a:cs typeface="Palatino Linotype"/>
              </a:rPr>
              <a:t> </a:t>
            </a:r>
            <a:r>
              <a:rPr sz="1600" spc="-10" dirty="0">
                <a:solidFill>
                  <a:sysClr val="windowText" lastClr="000000"/>
                </a:solidFill>
                <a:latin typeface="Palatino Linotype"/>
                <a:cs typeface="Palatino Linotype"/>
              </a:rPr>
              <a:t>graph</a:t>
            </a:r>
            <a:endParaRPr sz="1600">
              <a:solidFill>
                <a:sysClr val="windowText" lastClr="000000"/>
              </a:solidFill>
              <a:latin typeface="Palatino Linotype"/>
              <a:cs typeface="Palatino Linotype"/>
            </a:endParaRPr>
          </a:p>
          <a:p>
            <a:pPr marL="735965" lvl="1" indent="-227965">
              <a:spcBef>
                <a:spcPts val="1680"/>
              </a:spcBef>
              <a:buFont typeface="Wingdings"/>
              <a:buChar char=""/>
              <a:tabLst>
                <a:tab pos="735965" algn="l"/>
              </a:tabLst>
            </a:pPr>
            <a:r>
              <a:rPr sz="1600" dirty="0">
                <a:solidFill>
                  <a:sysClr val="windowText" lastClr="000000"/>
                </a:solidFill>
                <a:latin typeface="Cambria Math"/>
                <a:cs typeface="Cambria Math"/>
              </a:rPr>
              <a:t>𝐿</a:t>
            </a:r>
            <a:r>
              <a:rPr sz="1600" spc="55" dirty="0">
                <a:solidFill>
                  <a:sysClr val="windowText" lastClr="000000"/>
                </a:solidFill>
                <a:latin typeface="Cambria Math"/>
                <a:cs typeface="Cambria Math"/>
              </a:rPr>
              <a:t> </a:t>
            </a:r>
            <a:r>
              <a:rPr sz="1600" dirty="0">
                <a:solidFill>
                  <a:sysClr val="windowText" lastClr="000000"/>
                </a:solidFill>
                <a:latin typeface="Palatino Linotype"/>
                <a:cs typeface="Palatino Linotype"/>
              </a:rPr>
              <a:t>contains</a:t>
            </a:r>
            <a:r>
              <a:rPr sz="1600" spc="-15"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a</a:t>
            </a:r>
            <a:r>
              <a:rPr sz="1600" spc="-15"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node</a:t>
            </a:r>
            <a:r>
              <a:rPr sz="1600" spc="-20" dirty="0">
                <a:solidFill>
                  <a:sysClr val="windowText" lastClr="000000"/>
                </a:solidFill>
                <a:latin typeface="Palatino Linotype"/>
                <a:cs typeface="Palatino Linotype"/>
              </a:rPr>
              <a:t> </a:t>
            </a:r>
            <a:r>
              <a:rPr sz="1600" dirty="0">
                <a:solidFill>
                  <a:sysClr val="windowText" lastClr="000000"/>
                </a:solidFill>
                <a:latin typeface="Cambria Math"/>
                <a:cs typeface="Cambria Math"/>
              </a:rPr>
              <a:t>𝑒</a:t>
            </a:r>
            <a:r>
              <a:rPr sz="1600" spc="70" dirty="0">
                <a:solidFill>
                  <a:sysClr val="windowText" lastClr="000000"/>
                </a:solidFill>
                <a:latin typeface="Cambria Math"/>
                <a:cs typeface="Cambria Math"/>
              </a:rPr>
              <a:t> </a:t>
            </a:r>
            <a:r>
              <a:rPr sz="1600" dirty="0">
                <a:solidFill>
                  <a:sysClr val="windowText" lastClr="000000"/>
                </a:solidFill>
                <a:latin typeface="Palatino Linotype"/>
                <a:cs typeface="Palatino Linotype"/>
              </a:rPr>
              <a:t>called</a:t>
            </a:r>
            <a:r>
              <a:rPr sz="1600" spc="-20"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the</a:t>
            </a:r>
            <a:r>
              <a:rPr sz="1600" spc="-20" dirty="0">
                <a:solidFill>
                  <a:sysClr val="windowText" lastClr="000000"/>
                </a:solidFill>
                <a:latin typeface="Palatino Linotype"/>
                <a:cs typeface="Palatino Linotype"/>
              </a:rPr>
              <a:t> </a:t>
            </a:r>
            <a:r>
              <a:rPr sz="1600" i="1" dirty="0">
                <a:solidFill>
                  <a:srgbClr val="FF0000"/>
                </a:solidFill>
                <a:latin typeface="Palatino Linotype"/>
                <a:cs typeface="Palatino Linotype"/>
              </a:rPr>
              <a:t>loop</a:t>
            </a:r>
            <a:r>
              <a:rPr sz="1600" i="1" spc="-10" dirty="0">
                <a:solidFill>
                  <a:srgbClr val="FF0000"/>
                </a:solidFill>
                <a:latin typeface="Palatino Linotype"/>
                <a:cs typeface="Palatino Linotype"/>
              </a:rPr>
              <a:t> </a:t>
            </a:r>
            <a:r>
              <a:rPr sz="1600" i="1" dirty="0">
                <a:solidFill>
                  <a:srgbClr val="FF0000"/>
                </a:solidFill>
                <a:latin typeface="Palatino Linotype"/>
                <a:cs typeface="Palatino Linotype"/>
              </a:rPr>
              <a:t>entry</a:t>
            </a:r>
            <a:r>
              <a:rPr sz="1600" i="1" spc="-15" dirty="0">
                <a:solidFill>
                  <a:srgbClr val="FF0000"/>
                </a:solidFill>
                <a:latin typeface="Palatino Linotype"/>
                <a:cs typeface="Palatino Linotype"/>
              </a:rPr>
              <a:t> </a:t>
            </a:r>
            <a:r>
              <a:rPr sz="1600" spc="-10" dirty="0">
                <a:solidFill>
                  <a:sysClr val="windowText" lastClr="000000"/>
                </a:solidFill>
                <a:latin typeface="Palatino Linotype"/>
                <a:cs typeface="Palatino Linotype"/>
              </a:rPr>
              <a:t>(</a:t>
            </a:r>
            <a:r>
              <a:rPr sz="1600" dirty="0">
                <a:solidFill>
                  <a:srgbClr val="FF0000"/>
                </a:solidFill>
                <a:latin typeface="SimSun"/>
                <a:cs typeface="SimSun"/>
              </a:rPr>
              <a:t>循环入口</a:t>
            </a:r>
            <a:r>
              <a:rPr sz="1600" spc="-50" dirty="0">
                <a:solidFill>
                  <a:sysClr val="windowText" lastClr="000000"/>
                </a:solidFill>
                <a:latin typeface="Palatino Linotype"/>
                <a:cs typeface="Palatino Linotype"/>
              </a:rPr>
              <a:t>)</a:t>
            </a:r>
            <a:endParaRPr sz="1600">
              <a:solidFill>
                <a:sysClr val="windowText" lastClr="000000"/>
              </a:solidFill>
              <a:latin typeface="Palatino Linotype"/>
              <a:cs typeface="Palatino Linotype"/>
            </a:endParaRPr>
          </a:p>
          <a:p>
            <a:pPr marL="736600" marR="43180" lvl="1" indent="-228600">
              <a:lnSpc>
                <a:spcPct val="120000"/>
              </a:lnSpc>
              <a:spcBef>
                <a:spcPts val="1200"/>
              </a:spcBef>
              <a:buClr>
                <a:srgbClr val="000000"/>
              </a:buClr>
              <a:buFont typeface="Wingdings"/>
              <a:buChar char=""/>
              <a:tabLst>
                <a:tab pos="736600" algn="l"/>
              </a:tabLst>
            </a:pPr>
            <a:r>
              <a:rPr sz="1600" dirty="0">
                <a:solidFill>
                  <a:srgbClr val="FF0000"/>
                </a:solidFill>
                <a:latin typeface="Palatino Linotype"/>
                <a:cs typeface="Palatino Linotype"/>
              </a:rPr>
              <a:t>No</a:t>
            </a:r>
            <a:r>
              <a:rPr sz="1600" spc="-20" dirty="0">
                <a:solidFill>
                  <a:srgbClr val="FF0000"/>
                </a:solidFill>
                <a:latin typeface="Palatino Linotype"/>
                <a:cs typeface="Palatino Linotype"/>
              </a:rPr>
              <a:t> </a:t>
            </a:r>
            <a:r>
              <a:rPr sz="1600" dirty="0">
                <a:solidFill>
                  <a:srgbClr val="FF0000"/>
                </a:solidFill>
                <a:latin typeface="Palatino Linotype"/>
                <a:cs typeface="Palatino Linotype"/>
              </a:rPr>
              <a:t>node</a:t>
            </a:r>
            <a:r>
              <a:rPr sz="1600" spc="-25" dirty="0">
                <a:solidFill>
                  <a:srgbClr val="FF0000"/>
                </a:solidFill>
                <a:latin typeface="Palatino Linotype"/>
                <a:cs typeface="Palatino Linotype"/>
              </a:rPr>
              <a:t> </a:t>
            </a:r>
            <a:r>
              <a:rPr sz="1600" dirty="0">
                <a:solidFill>
                  <a:srgbClr val="FF0000"/>
                </a:solidFill>
                <a:latin typeface="Palatino Linotype"/>
                <a:cs typeface="Palatino Linotype"/>
              </a:rPr>
              <a:t>in</a:t>
            </a:r>
            <a:r>
              <a:rPr sz="1600" spc="-15" dirty="0">
                <a:solidFill>
                  <a:srgbClr val="FF0000"/>
                </a:solidFill>
                <a:latin typeface="Palatino Linotype"/>
                <a:cs typeface="Palatino Linotype"/>
              </a:rPr>
              <a:t> </a:t>
            </a:r>
            <a:r>
              <a:rPr sz="1600" dirty="0">
                <a:solidFill>
                  <a:srgbClr val="FF0000"/>
                </a:solidFill>
                <a:latin typeface="Cambria Math"/>
                <a:cs typeface="Cambria Math"/>
              </a:rPr>
              <a:t>𝐿</a:t>
            </a:r>
            <a:r>
              <a:rPr sz="1600" spc="60" dirty="0">
                <a:solidFill>
                  <a:srgbClr val="FF0000"/>
                </a:solidFill>
                <a:latin typeface="Cambria Math"/>
                <a:cs typeface="Cambria Math"/>
              </a:rPr>
              <a:t> </a:t>
            </a:r>
            <a:r>
              <a:rPr sz="1600" dirty="0">
                <a:solidFill>
                  <a:srgbClr val="FF0000"/>
                </a:solidFill>
                <a:latin typeface="Palatino Linotype"/>
                <a:cs typeface="Palatino Linotype"/>
              </a:rPr>
              <a:t>except</a:t>
            </a:r>
            <a:r>
              <a:rPr sz="1600" spc="-20" dirty="0">
                <a:solidFill>
                  <a:srgbClr val="FF0000"/>
                </a:solidFill>
                <a:latin typeface="Palatino Linotype"/>
                <a:cs typeface="Palatino Linotype"/>
              </a:rPr>
              <a:t> </a:t>
            </a:r>
            <a:r>
              <a:rPr sz="1600" dirty="0">
                <a:solidFill>
                  <a:srgbClr val="FF0000"/>
                </a:solidFill>
                <a:latin typeface="Cambria Math"/>
                <a:cs typeface="Cambria Math"/>
              </a:rPr>
              <a:t>𝑒</a:t>
            </a:r>
            <a:r>
              <a:rPr sz="1600" spc="65" dirty="0">
                <a:solidFill>
                  <a:srgbClr val="FF0000"/>
                </a:solidFill>
                <a:latin typeface="Cambria Math"/>
                <a:cs typeface="Cambria Math"/>
              </a:rPr>
              <a:t> </a:t>
            </a:r>
            <a:r>
              <a:rPr sz="1600" dirty="0">
                <a:solidFill>
                  <a:srgbClr val="FF0000"/>
                </a:solidFill>
                <a:latin typeface="Palatino Linotype"/>
                <a:cs typeface="Palatino Linotype"/>
              </a:rPr>
              <a:t>has</a:t>
            </a:r>
            <a:r>
              <a:rPr sz="1600" spc="-25" dirty="0">
                <a:solidFill>
                  <a:srgbClr val="FF0000"/>
                </a:solidFill>
                <a:latin typeface="Palatino Linotype"/>
                <a:cs typeface="Palatino Linotype"/>
              </a:rPr>
              <a:t> </a:t>
            </a:r>
            <a:r>
              <a:rPr sz="1600" dirty="0">
                <a:solidFill>
                  <a:srgbClr val="FF0000"/>
                </a:solidFill>
                <a:latin typeface="Palatino Linotype"/>
                <a:cs typeface="Palatino Linotype"/>
              </a:rPr>
              <a:t>a</a:t>
            </a:r>
            <a:r>
              <a:rPr sz="1600" spc="-20" dirty="0">
                <a:solidFill>
                  <a:srgbClr val="FF0000"/>
                </a:solidFill>
                <a:latin typeface="Palatino Linotype"/>
                <a:cs typeface="Palatino Linotype"/>
              </a:rPr>
              <a:t> </a:t>
            </a:r>
            <a:r>
              <a:rPr sz="1600" dirty="0">
                <a:solidFill>
                  <a:srgbClr val="FF0000"/>
                </a:solidFill>
                <a:latin typeface="Palatino Linotype"/>
                <a:cs typeface="Palatino Linotype"/>
              </a:rPr>
              <a:t>predecessor</a:t>
            </a:r>
            <a:r>
              <a:rPr sz="1600" spc="-10" dirty="0">
                <a:solidFill>
                  <a:srgbClr val="FF0000"/>
                </a:solidFill>
                <a:latin typeface="Palatino Linotype"/>
                <a:cs typeface="Palatino Linotype"/>
              </a:rPr>
              <a:t> </a:t>
            </a:r>
            <a:r>
              <a:rPr sz="1600" dirty="0">
                <a:solidFill>
                  <a:srgbClr val="FF0000"/>
                </a:solidFill>
                <a:latin typeface="Palatino Linotype"/>
                <a:cs typeface="Palatino Linotype"/>
              </a:rPr>
              <a:t>outside</a:t>
            </a:r>
            <a:r>
              <a:rPr sz="1600" spc="-25" dirty="0">
                <a:solidFill>
                  <a:srgbClr val="FF0000"/>
                </a:solidFill>
                <a:latin typeface="Palatino Linotype"/>
                <a:cs typeface="Palatino Linotype"/>
              </a:rPr>
              <a:t> </a:t>
            </a:r>
            <a:r>
              <a:rPr sz="1600" dirty="0">
                <a:solidFill>
                  <a:srgbClr val="FF0000"/>
                </a:solidFill>
                <a:latin typeface="Cambria Math"/>
                <a:cs typeface="Cambria Math"/>
              </a:rPr>
              <a:t>𝐿</a:t>
            </a:r>
            <a:r>
              <a:rPr sz="1600" dirty="0">
                <a:solidFill>
                  <a:sysClr val="windowText" lastClr="000000"/>
                </a:solidFill>
                <a:latin typeface="Palatino Linotype"/>
                <a:cs typeface="Palatino Linotype"/>
              </a:rPr>
              <a:t>.</a:t>
            </a:r>
            <a:r>
              <a:rPr sz="1600" spc="-20"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That</a:t>
            </a:r>
            <a:r>
              <a:rPr sz="1600" spc="-15"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is,</a:t>
            </a:r>
            <a:r>
              <a:rPr sz="1600" spc="-20"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every</a:t>
            </a:r>
            <a:r>
              <a:rPr sz="1600" spc="-25"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path</a:t>
            </a:r>
            <a:r>
              <a:rPr sz="1600" spc="-10" dirty="0">
                <a:solidFill>
                  <a:sysClr val="windowText" lastClr="000000"/>
                </a:solidFill>
                <a:latin typeface="Palatino Linotype"/>
                <a:cs typeface="Palatino Linotype"/>
              </a:rPr>
              <a:t> </a:t>
            </a:r>
            <a:r>
              <a:rPr sz="1600" spc="-20" dirty="0">
                <a:solidFill>
                  <a:sysClr val="windowText" lastClr="000000"/>
                </a:solidFill>
                <a:latin typeface="Palatino Linotype"/>
                <a:cs typeface="Palatino Linotype"/>
              </a:rPr>
              <a:t>from </a:t>
            </a:r>
            <a:r>
              <a:rPr sz="1600" dirty="0">
                <a:solidFill>
                  <a:srgbClr val="0432FF"/>
                </a:solidFill>
                <a:latin typeface="Palatino Linotype"/>
                <a:cs typeface="Palatino Linotype"/>
              </a:rPr>
              <a:t>the</a:t>
            </a:r>
            <a:r>
              <a:rPr sz="1600" spc="-25" dirty="0">
                <a:solidFill>
                  <a:srgbClr val="0432FF"/>
                </a:solidFill>
                <a:latin typeface="Palatino Linotype"/>
                <a:cs typeface="Palatino Linotype"/>
              </a:rPr>
              <a:t> </a:t>
            </a:r>
            <a:r>
              <a:rPr sz="1600" dirty="0">
                <a:solidFill>
                  <a:srgbClr val="0432FF"/>
                </a:solidFill>
                <a:latin typeface="Palatino Linotype"/>
                <a:cs typeface="Palatino Linotype"/>
              </a:rPr>
              <a:t>entry</a:t>
            </a:r>
            <a:r>
              <a:rPr sz="1600" spc="-25" dirty="0">
                <a:solidFill>
                  <a:srgbClr val="0432FF"/>
                </a:solidFill>
                <a:latin typeface="Palatino Linotype"/>
                <a:cs typeface="Palatino Linotype"/>
              </a:rPr>
              <a:t> </a:t>
            </a:r>
            <a:r>
              <a:rPr sz="1600" dirty="0">
                <a:solidFill>
                  <a:srgbClr val="0432FF"/>
                </a:solidFill>
                <a:latin typeface="Palatino Linotype"/>
                <a:cs typeface="Palatino Linotype"/>
              </a:rPr>
              <a:t>of</a:t>
            </a:r>
            <a:r>
              <a:rPr sz="1600" spc="-20" dirty="0">
                <a:solidFill>
                  <a:srgbClr val="0432FF"/>
                </a:solidFill>
                <a:latin typeface="Palatino Linotype"/>
                <a:cs typeface="Palatino Linotype"/>
              </a:rPr>
              <a:t> </a:t>
            </a:r>
            <a:r>
              <a:rPr sz="1600" dirty="0">
                <a:solidFill>
                  <a:srgbClr val="0432FF"/>
                </a:solidFill>
                <a:latin typeface="Palatino Linotype"/>
                <a:cs typeface="Palatino Linotype"/>
              </a:rPr>
              <a:t>the</a:t>
            </a:r>
            <a:r>
              <a:rPr sz="1600" spc="-20" dirty="0">
                <a:solidFill>
                  <a:srgbClr val="0432FF"/>
                </a:solidFill>
                <a:latin typeface="Palatino Linotype"/>
                <a:cs typeface="Palatino Linotype"/>
              </a:rPr>
              <a:t> </a:t>
            </a:r>
            <a:r>
              <a:rPr sz="1600" dirty="0">
                <a:solidFill>
                  <a:srgbClr val="0432FF"/>
                </a:solidFill>
                <a:latin typeface="Palatino Linotype"/>
                <a:cs typeface="Palatino Linotype"/>
              </a:rPr>
              <a:t>entire</a:t>
            </a:r>
            <a:r>
              <a:rPr sz="1600" spc="-25" dirty="0">
                <a:solidFill>
                  <a:srgbClr val="0432FF"/>
                </a:solidFill>
                <a:latin typeface="Palatino Linotype"/>
                <a:cs typeface="Palatino Linotype"/>
              </a:rPr>
              <a:t> </a:t>
            </a:r>
            <a:r>
              <a:rPr sz="1600" dirty="0">
                <a:solidFill>
                  <a:srgbClr val="0432FF"/>
                </a:solidFill>
                <a:latin typeface="Palatino Linotype"/>
                <a:cs typeface="Palatino Linotype"/>
              </a:rPr>
              <a:t>flow</a:t>
            </a:r>
            <a:r>
              <a:rPr sz="1600" spc="-20" dirty="0">
                <a:solidFill>
                  <a:srgbClr val="0432FF"/>
                </a:solidFill>
                <a:latin typeface="Palatino Linotype"/>
                <a:cs typeface="Palatino Linotype"/>
              </a:rPr>
              <a:t> </a:t>
            </a:r>
            <a:r>
              <a:rPr sz="1600" dirty="0">
                <a:solidFill>
                  <a:srgbClr val="0432FF"/>
                </a:solidFill>
                <a:latin typeface="Palatino Linotype"/>
                <a:cs typeface="Palatino Linotype"/>
              </a:rPr>
              <a:t>graph</a:t>
            </a:r>
            <a:r>
              <a:rPr sz="1600" spc="-15" dirty="0">
                <a:solidFill>
                  <a:srgbClr val="0432FF"/>
                </a:solidFill>
                <a:latin typeface="Palatino Linotype"/>
                <a:cs typeface="Palatino Linotype"/>
              </a:rPr>
              <a:t> </a:t>
            </a:r>
            <a:r>
              <a:rPr sz="1600" dirty="0">
                <a:solidFill>
                  <a:sysClr val="windowText" lastClr="000000"/>
                </a:solidFill>
                <a:latin typeface="Palatino Linotype"/>
                <a:cs typeface="Palatino Linotype"/>
              </a:rPr>
              <a:t>to</a:t>
            </a:r>
            <a:r>
              <a:rPr sz="1600" spc="-15"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any</a:t>
            </a:r>
            <a:r>
              <a:rPr sz="1600" spc="-25"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node</a:t>
            </a:r>
            <a:r>
              <a:rPr sz="1600" spc="-25"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in</a:t>
            </a:r>
            <a:r>
              <a:rPr sz="1600" spc="-15" dirty="0">
                <a:solidFill>
                  <a:sysClr val="windowText" lastClr="000000"/>
                </a:solidFill>
                <a:latin typeface="Palatino Linotype"/>
                <a:cs typeface="Palatino Linotype"/>
              </a:rPr>
              <a:t> </a:t>
            </a:r>
            <a:r>
              <a:rPr sz="1600" dirty="0">
                <a:solidFill>
                  <a:sysClr val="windowText" lastClr="000000"/>
                </a:solidFill>
                <a:latin typeface="Cambria Math"/>
                <a:cs typeface="Cambria Math"/>
              </a:rPr>
              <a:t>𝐿</a:t>
            </a:r>
            <a:r>
              <a:rPr sz="1600" spc="55" dirty="0">
                <a:solidFill>
                  <a:sysClr val="windowText" lastClr="000000"/>
                </a:solidFill>
                <a:latin typeface="Cambria Math"/>
                <a:cs typeface="Cambria Math"/>
              </a:rPr>
              <a:t> </a:t>
            </a:r>
            <a:r>
              <a:rPr sz="1600" dirty="0">
                <a:solidFill>
                  <a:sysClr val="windowText" lastClr="000000"/>
                </a:solidFill>
                <a:latin typeface="Palatino Linotype"/>
                <a:cs typeface="Palatino Linotype"/>
              </a:rPr>
              <a:t>goes</a:t>
            </a:r>
            <a:r>
              <a:rPr sz="1600" spc="-20"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through</a:t>
            </a:r>
            <a:r>
              <a:rPr sz="1600" spc="-15" dirty="0">
                <a:solidFill>
                  <a:sysClr val="windowText" lastClr="000000"/>
                </a:solidFill>
                <a:latin typeface="Palatino Linotype"/>
                <a:cs typeface="Palatino Linotype"/>
              </a:rPr>
              <a:t> </a:t>
            </a:r>
            <a:r>
              <a:rPr sz="1600" spc="-25" dirty="0">
                <a:solidFill>
                  <a:sysClr val="windowText" lastClr="000000"/>
                </a:solidFill>
                <a:latin typeface="Cambria Math"/>
                <a:cs typeface="Cambria Math"/>
              </a:rPr>
              <a:t>𝑒</a:t>
            </a:r>
            <a:r>
              <a:rPr sz="1600" spc="-25" dirty="0">
                <a:solidFill>
                  <a:sysClr val="windowText" lastClr="000000"/>
                </a:solidFill>
                <a:latin typeface="Palatino Linotype"/>
                <a:cs typeface="Palatino Linotype"/>
              </a:rPr>
              <a:t>.</a:t>
            </a:r>
            <a:r>
              <a:rPr sz="1650" spc="-37" baseline="25252" dirty="0">
                <a:solidFill>
                  <a:sysClr val="windowText" lastClr="000000"/>
                </a:solidFill>
                <a:latin typeface="Palatino Linotype"/>
                <a:cs typeface="Palatino Linotype"/>
              </a:rPr>
              <a:t>*</a:t>
            </a:r>
            <a:endParaRPr sz="1650" baseline="25252">
              <a:solidFill>
                <a:sysClr val="windowText" lastClr="000000"/>
              </a:solidFill>
              <a:latin typeface="Palatino Linotype"/>
              <a:cs typeface="Palatino Linotype"/>
            </a:endParaRPr>
          </a:p>
          <a:p>
            <a:pPr marL="735965" lvl="1" indent="-227965">
              <a:spcBef>
                <a:spcPts val="1560"/>
              </a:spcBef>
              <a:buFont typeface="Wingdings"/>
              <a:buChar char=""/>
              <a:tabLst>
                <a:tab pos="735965" algn="l"/>
              </a:tabLst>
            </a:pPr>
            <a:r>
              <a:rPr sz="1600" dirty="0">
                <a:solidFill>
                  <a:sysClr val="windowText" lastClr="000000"/>
                </a:solidFill>
                <a:latin typeface="Palatino Linotype"/>
                <a:cs typeface="Palatino Linotype"/>
              </a:rPr>
              <a:t>Every</a:t>
            </a:r>
            <a:r>
              <a:rPr sz="1600" spc="-35"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node</a:t>
            </a:r>
            <a:r>
              <a:rPr sz="1600" spc="-25"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in</a:t>
            </a:r>
            <a:r>
              <a:rPr sz="1600" spc="-15" dirty="0">
                <a:solidFill>
                  <a:sysClr val="windowText" lastClr="000000"/>
                </a:solidFill>
                <a:latin typeface="Palatino Linotype"/>
                <a:cs typeface="Palatino Linotype"/>
              </a:rPr>
              <a:t> </a:t>
            </a:r>
            <a:r>
              <a:rPr sz="1600" dirty="0">
                <a:solidFill>
                  <a:sysClr val="windowText" lastClr="000000"/>
                </a:solidFill>
                <a:latin typeface="Cambria Math"/>
                <a:cs typeface="Cambria Math"/>
              </a:rPr>
              <a:t>𝐿</a:t>
            </a:r>
            <a:r>
              <a:rPr sz="1600" spc="55" dirty="0">
                <a:solidFill>
                  <a:sysClr val="windowText" lastClr="000000"/>
                </a:solidFill>
                <a:latin typeface="Cambria Math"/>
                <a:cs typeface="Cambria Math"/>
              </a:rPr>
              <a:t> </a:t>
            </a:r>
            <a:r>
              <a:rPr sz="1600" dirty="0">
                <a:solidFill>
                  <a:sysClr val="windowText" lastClr="000000"/>
                </a:solidFill>
                <a:latin typeface="Palatino Linotype"/>
                <a:cs typeface="Palatino Linotype"/>
              </a:rPr>
              <a:t>has</a:t>
            </a:r>
            <a:r>
              <a:rPr sz="1600" spc="-25"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a</a:t>
            </a:r>
            <a:r>
              <a:rPr sz="1600" spc="-20"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nonempty</a:t>
            </a:r>
            <a:r>
              <a:rPr sz="1600" spc="-20"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path,</a:t>
            </a:r>
            <a:r>
              <a:rPr sz="1600" spc="-20" dirty="0">
                <a:solidFill>
                  <a:sysClr val="windowText" lastClr="000000"/>
                </a:solidFill>
                <a:latin typeface="Palatino Linotype"/>
                <a:cs typeface="Palatino Linotype"/>
              </a:rPr>
              <a:t> </a:t>
            </a:r>
            <a:r>
              <a:rPr sz="1600" dirty="0">
                <a:solidFill>
                  <a:srgbClr val="FF0000"/>
                </a:solidFill>
                <a:latin typeface="Palatino Linotype"/>
                <a:cs typeface="Palatino Linotype"/>
              </a:rPr>
              <a:t>completely</a:t>
            </a:r>
            <a:r>
              <a:rPr sz="1600" spc="-25" dirty="0">
                <a:solidFill>
                  <a:srgbClr val="FF0000"/>
                </a:solidFill>
                <a:latin typeface="Palatino Linotype"/>
                <a:cs typeface="Palatino Linotype"/>
              </a:rPr>
              <a:t> </a:t>
            </a:r>
            <a:r>
              <a:rPr sz="1600" dirty="0">
                <a:solidFill>
                  <a:srgbClr val="FF0000"/>
                </a:solidFill>
                <a:latin typeface="Palatino Linotype"/>
                <a:cs typeface="Palatino Linotype"/>
              </a:rPr>
              <a:t>within</a:t>
            </a:r>
            <a:r>
              <a:rPr sz="1600" spc="-15" dirty="0">
                <a:solidFill>
                  <a:srgbClr val="FF0000"/>
                </a:solidFill>
                <a:latin typeface="Palatino Linotype"/>
                <a:cs typeface="Palatino Linotype"/>
              </a:rPr>
              <a:t> </a:t>
            </a:r>
            <a:r>
              <a:rPr sz="1600" dirty="0">
                <a:solidFill>
                  <a:srgbClr val="FF0000"/>
                </a:solidFill>
                <a:latin typeface="Cambria Math"/>
                <a:cs typeface="Cambria Math"/>
              </a:rPr>
              <a:t>𝐿</a:t>
            </a:r>
            <a:r>
              <a:rPr sz="1600" dirty="0">
                <a:solidFill>
                  <a:sysClr val="windowText" lastClr="000000"/>
                </a:solidFill>
                <a:latin typeface="Palatino Linotype"/>
                <a:cs typeface="Palatino Linotype"/>
              </a:rPr>
              <a:t>,</a:t>
            </a:r>
            <a:r>
              <a:rPr sz="1600" spc="-20"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to</a:t>
            </a:r>
            <a:r>
              <a:rPr sz="1600" spc="-15" dirty="0">
                <a:solidFill>
                  <a:sysClr val="windowText" lastClr="000000"/>
                </a:solidFill>
                <a:latin typeface="Palatino Linotype"/>
                <a:cs typeface="Palatino Linotype"/>
              </a:rPr>
              <a:t> </a:t>
            </a:r>
            <a:r>
              <a:rPr sz="1600" spc="-50" dirty="0">
                <a:solidFill>
                  <a:sysClr val="windowText" lastClr="000000"/>
                </a:solidFill>
                <a:latin typeface="Cambria Math"/>
                <a:cs typeface="Cambria Math"/>
              </a:rPr>
              <a:t>𝑒</a:t>
            </a:r>
            <a:endParaRPr sz="1600">
              <a:solidFill>
                <a:sysClr val="windowText" lastClr="000000"/>
              </a:solidFill>
              <a:latin typeface="Cambria Math"/>
              <a:cs typeface="Cambria Math"/>
            </a:endParaRPr>
          </a:p>
        </p:txBody>
      </p:sp>
      <p:sp>
        <p:nvSpPr>
          <p:cNvPr id="10" name="object 4">
            <a:extLst>
              <a:ext uri="{FF2B5EF4-FFF2-40B4-BE49-F238E27FC236}">
                <a16:creationId xmlns:a16="http://schemas.microsoft.com/office/drawing/2014/main" id="{9A8F9C9B-822A-175D-F6CD-D0EA3E1C262F}"/>
              </a:ext>
            </a:extLst>
          </p:cNvPr>
          <p:cNvSpPr txBox="1"/>
          <p:nvPr/>
        </p:nvSpPr>
        <p:spPr>
          <a:xfrm>
            <a:off x="1162981" y="5829300"/>
            <a:ext cx="3275329" cy="238760"/>
          </a:xfrm>
          <a:prstGeom prst="rect">
            <a:avLst/>
          </a:prstGeom>
        </p:spPr>
        <p:txBody>
          <a:bodyPr vert="horz" wrap="square" lIns="0" tIns="12700" rIns="0" bIns="0" rtlCol="0">
            <a:spAutoFit/>
          </a:bodyPr>
          <a:lstStyle/>
          <a:p>
            <a:pPr marL="12700">
              <a:spcBef>
                <a:spcPts val="100"/>
              </a:spcBef>
            </a:pPr>
            <a:r>
              <a:rPr sz="1350" baseline="24691" dirty="0">
                <a:solidFill>
                  <a:srgbClr val="A6A6A6"/>
                </a:solidFill>
                <a:latin typeface="Palatino Linotype"/>
                <a:cs typeface="Palatino Linotype"/>
              </a:rPr>
              <a:t>*</a:t>
            </a:r>
            <a:r>
              <a:rPr sz="1350" spc="165" baseline="24691" dirty="0">
                <a:solidFill>
                  <a:srgbClr val="A6A6A6"/>
                </a:solidFill>
                <a:latin typeface="Palatino Linotype"/>
                <a:cs typeface="Palatino Linotype"/>
              </a:rPr>
              <a:t> </a:t>
            </a:r>
            <a:r>
              <a:rPr sz="1400" spc="-20" dirty="0">
                <a:solidFill>
                  <a:srgbClr val="A6A6A6"/>
                </a:solidFill>
                <a:latin typeface="Palatino Linotype"/>
                <a:cs typeface="Palatino Linotype"/>
              </a:rPr>
              <a:t>We</a:t>
            </a:r>
            <a:r>
              <a:rPr sz="1400" spc="-25" dirty="0">
                <a:solidFill>
                  <a:srgbClr val="A6A6A6"/>
                </a:solidFill>
                <a:latin typeface="Palatino Linotype"/>
                <a:cs typeface="Palatino Linotype"/>
              </a:rPr>
              <a:t> </a:t>
            </a:r>
            <a:r>
              <a:rPr sz="1400" dirty="0">
                <a:solidFill>
                  <a:srgbClr val="A6A6A6"/>
                </a:solidFill>
                <a:latin typeface="Palatino Linotype"/>
                <a:cs typeface="Palatino Linotype"/>
              </a:rPr>
              <a:t>say</a:t>
            </a:r>
            <a:r>
              <a:rPr sz="1400" spc="-25" dirty="0">
                <a:solidFill>
                  <a:srgbClr val="A6A6A6"/>
                </a:solidFill>
                <a:latin typeface="Palatino Linotype"/>
                <a:cs typeface="Palatino Linotype"/>
              </a:rPr>
              <a:t> </a:t>
            </a:r>
            <a:r>
              <a:rPr sz="1400" i="1" dirty="0">
                <a:solidFill>
                  <a:srgbClr val="A6A6A6"/>
                </a:solidFill>
                <a:latin typeface="Palatino Linotype"/>
                <a:cs typeface="Palatino Linotype"/>
              </a:rPr>
              <a:t>e</a:t>
            </a:r>
            <a:r>
              <a:rPr sz="1400" i="1" spc="-20" dirty="0">
                <a:solidFill>
                  <a:srgbClr val="A6A6A6"/>
                </a:solidFill>
                <a:latin typeface="Palatino Linotype"/>
                <a:cs typeface="Palatino Linotype"/>
              </a:rPr>
              <a:t> </a:t>
            </a:r>
            <a:r>
              <a:rPr sz="1400" dirty="0">
                <a:solidFill>
                  <a:srgbClr val="A6A6A6"/>
                </a:solidFill>
                <a:latin typeface="Palatino Linotype"/>
                <a:cs typeface="Palatino Linotype"/>
              </a:rPr>
              <a:t>dominates</a:t>
            </a:r>
            <a:r>
              <a:rPr sz="1400" spc="-30" dirty="0">
                <a:solidFill>
                  <a:srgbClr val="A6A6A6"/>
                </a:solidFill>
                <a:latin typeface="Palatino Linotype"/>
                <a:cs typeface="Palatino Linotype"/>
              </a:rPr>
              <a:t> </a:t>
            </a:r>
            <a:r>
              <a:rPr sz="1400" dirty="0">
                <a:solidFill>
                  <a:srgbClr val="A6A6A6"/>
                </a:solidFill>
                <a:latin typeface="Palatino Linotype"/>
                <a:cs typeface="Palatino Linotype"/>
              </a:rPr>
              <a:t>the</a:t>
            </a:r>
            <a:r>
              <a:rPr sz="1400" spc="-25" dirty="0">
                <a:solidFill>
                  <a:srgbClr val="A6A6A6"/>
                </a:solidFill>
                <a:latin typeface="Palatino Linotype"/>
                <a:cs typeface="Palatino Linotype"/>
              </a:rPr>
              <a:t> </a:t>
            </a:r>
            <a:r>
              <a:rPr sz="1400" dirty="0">
                <a:solidFill>
                  <a:srgbClr val="A6A6A6"/>
                </a:solidFill>
                <a:latin typeface="Palatino Linotype"/>
                <a:cs typeface="Palatino Linotype"/>
              </a:rPr>
              <a:t>other</a:t>
            </a:r>
            <a:r>
              <a:rPr sz="1400" spc="-25" dirty="0">
                <a:solidFill>
                  <a:srgbClr val="A6A6A6"/>
                </a:solidFill>
                <a:latin typeface="Palatino Linotype"/>
                <a:cs typeface="Palatino Linotype"/>
              </a:rPr>
              <a:t> </a:t>
            </a:r>
            <a:r>
              <a:rPr sz="1400" dirty="0">
                <a:solidFill>
                  <a:srgbClr val="A6A6A6"/>
                </a:solidFill>
                <a:latin typeface="Palatino Linotype"/>
                <a:cs typeface="Palatino Linotype"/>
              </a:rPr>
              <a:t>nodes</a:t>
            </a:r>
            <a:r>
              <a:rPr sz="1400" spc="-35" dirty="0">
                <a:solidFill>
                  <a:srgbClr val="A6A6A6"/>
                </a:solidFill>
                <a:latin typeface="Palatino Linotype"/>
                <a:cs typeface="Palatino Linotype"/>
              </a:rPr>
              <a:t> </a:t>
            </a:r>
            <a:r>
              <a:rPr sz="1400" dirty="0">
                <a:solidFill>
                  <a:srgbClr val="A6A6A6"/>
                </a:solidFill>
                <a:latin typeface="Palatino Linotype"/>
                <a:cs typeface="Palatino Linotype"/>
              </a:rPr>
              <a:t>in</a:t>
            </a:r>
            <a:r>
              <a:rPr sz="1400" spc="-25" dirty="0">
                <a:solidFill>
                  <a:srgbClr val="A6A6A6"/>
                </a:solidFill>
                <a:latin typeface="Palatino Linotype"/>
                <a:cs typeface="Palatino Linotype"/>
              </a:rPr>
              <a:t> </a:t>
            </a:r>
            <a:r>
              <a:rPr sz="1400" spc="-50" dirty="0">
                <a:solidFill>
                  <a:srgbClr val="A6A6A6"/>
                </a:solidFill>
                <a:latin typeface="Palatino Linotype"/>
                <a:cs typeface="Palatino Linotype"/>
              </a:rPr>
              <a:t>L</a:t>
            </a:r>
            <a:endParaRPr sz="1400">
              <a:solidFill>
                <a:sysClr val="windowText" lastClr="000000"/>
              </a:solidFill>
              <a:latin typeface="Palatino Linotype"/>
              <a:cs typeface="Palatino Linotype"/>
            </a:endParaRPr>
          </a:p>
        </p:txBody>
      </p:sp>
    </p:spTree>
    <p:extLst>
      <p:ext uri="{BB962C8B-B14F-4D97-AF65-F5344CB8AC3E}">
        <p14:creationId xmlns:p14="http://schemas.microsoft.com/office/powerpoint/2010/main" val="95612765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45</a:t>
            </a:fld>
            <a:endParaRPr lang="en-US"/>
          </a:p>
        </p:txBody>
      </p:sp>
      <p:sp>
        <p:nvSpPr>
          <p:cNvPr id="10" name="object 2">
            <a:extLst>
              <a:ext uri="{FF2B5EF4-FFF2-40B4-BE49-F238E27FC236}">
                <a16:creationId xmlns:a16="http://schemas.microsoft.com/office/drawing/2014/main" id="{8C419D52-8F47-1D08-8132-0BA40A3B7397}"/>
              </a:ext>
            </a:extLst>
          </p:cNvPr>
          <p:cNvSpPr txBox="1">
            <a:spLocks/>
          </p:cNvSpPr>
          <p:nvPr/>
        </p:nvSpPr>
        <p:spPr>
          <a:xfrm>
            <a:off x="707390" y="524763"/>
            <a:ext cx="7729219" cy="63500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4000" b="1" i="0" u="none" strike="noStrike" kern="0" cap="none" spc="0" normalizeH="0" baseline="0" noProof="0">
                <a:ln>
                  <a:noFill/>
                </a:ln>
                <a:solidFill>
                  <a:sysClr val="windowText" lastClr="000000"/>
                </a:solidFill>
                <a:effectLst/>
                <a:uLnTx/>
                <a:uFillTx/>
                <a:latin typeface="Palatino Linotype"/>
                <a:ea typeface="+mj-ea"/>
              </a:rPr>
              <a:t>Loop</a:t>
            </a:r>
            <a:r>
              <a:rPr kumimoji="0" lang="en-US" sz="4000" b="1" i="0" u="none" strike="noStrike" kern="0" cap="none" spc="-80" normalizeH="0" baseline="0" noProof="0">
                <a:ln>
                  <a:noFill/>
                </a:ln>
                <a:solidFill>
                  <a:sysClr val="windowText" lastClr="000000"/>
                </a:solidFill>
                <a:effectLst/>
                <a:uLnTx/>
                <a:uFillTx/>
                <a:latin typeface="Palatino Linotype"/>
                <a:ea typeface="+mj-ea"/>
              </a:rPr>
              <a:t> </a:t>
            </a:r>
            <a:r>
              <a:rPr kumimoji="0" lang="en-US" sz="4000" b="1" i="0" u="none" strike="noStrike" kern="0" cap="none" spc="-10" normalizeH="0" baseline="0" noProof="0">
                <a:ln>
                  <a:noFill/>
                </a:ln>
                <a:solidFill>
                  <a:sysClr val="windowText" lastClr="000000"/>
                </a:solidFill>
                <a:effectLst/>
                <a:uLnTx/>
                <a:uFillTx/>
                <a:latin typeface="Palatino Linotype"/>
                <a:ea typeface="+mj-ea"/>
              </a:rPr>
              <a:t>Examples</a:t>
            </a:r>
            <a:endParaRPr kumimoji="0" lang="en-US" sz="4000" b="1" i="0" u="none" strike="noStrike" kern="0" cap="none" spc="-10" normalizeH="0" baseline="0" noProof="0" dirty="0">
              <a:ln>
                <a:noFill/>
              </a:ln>
              <a:solidFill>
                <a:sysClr val="windowText" lastClr="000000"/>
              </a:solidFill>
              <a:effectLst/>
              <a:uLnTx/>
              <a:uFillTx/>
              <a:latin typeface="Palatino Linotype"/>
              <a:ea typeface="+mj-ea"/>
            </a:endParaRPr>
          </a:p>
        </p:txBody>
      </p:sp>
      <p:sp>
        <p:nvSpPr>
          <p:cNvPr id="11" name="object 3">
            <a:extLst>
              <a:ext uri="{FF2B5EF4-FFF2-40B4-BE49-F238E27FC236}">
                <a16:creationId xmlns:a16="http://schemas.microsoft.com/office/drawing/2014/main" id="{327EDB36-B267-5AFF-B21D-3A8072E9572C}"/>
              </a:ext>
            </a:extLst>
          </p:cNvPr>
          <p:cNvSpPr/>
          <p:nvPr/>
        </p:nvSpPr>
        <p:spPr>
          <a:xfrm>
            <a:off x="963555" y="1740847"/>
            <a:ext cx="491490" cy="260350"/>
          </a:xfrm>
          <a:custGeom>
            <a:avLst/>
            <a:gdLst/>
            <a:ahLst/>
            <a:cxnLst/>
            <a:rect l="l" t="t" r="r" b="b"/>
            <a:pathLst>
              <a:path w="491490" h="260350">
                <a:moveTo>
                  <a:pt x="407965" y="0"/>
                </a:moveTo>
                <a:lnTo>
                  <a:pt x="404418" y="0"/>
                </a:lnTo>
                <a:lnTo>
                  <a:pt x="404418" y="10368"/>
                </a:lnTo>
                <a:lnTo>
                  <a:pt x="406465" y="10368"/>
                </a:lnTo>
                <a:lnTo>
                  <a:pt x="415819" y="11011"/>
                </a:lnTo>
                <a:lnTo>
                  <a:pt x="447921" y="43677"/>
                </a:lnTo>
                <a:lnTo>
                  <a:pt x="448621" y="54706"/>
                </a:lnTo>
                <a:lnTo>
                  <a:pt x="448621" y="61073"/>
                </a:lnTo>
                <a:lnTo>
                  <a:pt x="447711" y="68940"/>
                </a:lnTo>
                <a:lnTo>
                  <a:pt x="444073" y="87675"/>
                </a:lnTo>
                <a:lnTo>
                  <a:pt x="443163" y="94361"/>
                </a:lnTo>
                <a:lnTo>
                  <a:pt x="443163" y="106093"/>
                </a:lnTo>
                <a:lnTo>
                  <a:pt x="445437" y="112436"/>
                </a:lnTo>
                <a:lnTo>
                  <a:pt x="454532" y="122350"/>
                </a:lnTo>
                <a:lnTo>
                  <a:pt x="459944" y="126011"/>
                </a:lnTo>
                <a:lnTo>
                  <a:pt x="466219" y="128376"/>
                </a:lnTo>
                <a:lnTo>
                  <a:pt x="466219" y="130831"/>
                </a:lnTo>
                <a:lnTo>
                  <a:pt x="459944" y="133196"/>
                </a:lnTo>
                <a:lnTo>
                  <a:pt x="454532" y="136857"/>
                </a:lnTo>
                <a:lnTo>
                  <a:pt x="445437" y="146771"/>
                </a:lnTo>
                <a:lnTo>
                  <a:pt x="443163" y="153115"/>
                </a:lnTo>
                <a:lnTo>
                  <a:pt x="443163" y="164847"/>
                </a:lnTo>
                <a:lnTo>
                  <a:pt x="444073" y="171532"/>
                </a:lnTo>
                <a:lnTo>
                  <a:pt x="447711" y="190267"/>
                </a:lnTo>
                <a:lnTo>
                  <a:pt x="448621" y="198135"/>
                </a:lnTo>
                <a:lnTo>
                  <a:pt x="448621" y="204501"/>
                </a:lnTo>
                <a:lnTo>
                  <a:pt x="447921" y="215948"/>
                </a:lnTo>
                <a:lnTo>
                  <a:pt x="424098" y="247220"/>
                </a:lnTo>
                <a:lnTo>
                  <a:pt x="406465" y="249795"/>
                </a:lnTo>
                <a:lnTo>
                  <a:pt x="404418" y="249795"/>
                </a:lnTo>
                <a:lnTo>
                  <a:pt x="404418" y="260163"/>
                </a:lnTo>
                <a:lnTo>
                  <a:pt x="407965" y="260163"/>
                </a:lnTo>
                <a:lnTo>
                  <a:pt x="422985" y="259042"/>
                </a:lnTo>
                <a:lnTo>
                  <a:pt x="462873" y="237486"/>
                </a:lnTo>
                <a:lnTo>
                  <a:pt x="471813" y="202045"/>
                </a:lnTo>
                <a:lnTo>
                  <a:pt x="471613" y="196187"/>
                </a:lnTo>
                <a:lnTo>
                  <a:pt x="471011" y="189938"/>
                </a:lnTo>
                <a:lnTo>
                  <a:pt x="470009" y="183296"/>
                </a:lnTo>
                <a:lnTo>
                  <a:pt x="468607" y="176262"/>
                </a:lnTo>
                <a:lnTo>
                  <a:pt x="466469" y="166621"/>
                </a:lnTo>
                <a:lnTo>
                  <a:pt x="465401" y="160163"/>
                </a:lnTo>
                <a:lnTo>
                  <a:pt x="465401" y="150613"/>
                </a:lnTo>
                <a:lnTo>
                  <a:pt x="467561" y="145497"/>
                </a:lnTo>
                <a:lnTo>
                  <a:pt x="476201" y="137585"/>
                </a:lnTo>
                <a:lnTo>
                  <a:pt x="482726" y="135470"/>
                </a:lnTo>
                <a:lnTo>
                  <a:pt x="491458" y="135197"/>
                </a:lnTo>
                <a:lnTo>
                  <a:pt x="491458" y="124010"/>
                </a:lnTo>
                <a:lnTo>
                  <a:pt x="482726" y="123737"/>
                </a:lnTo>
                <a:lnTo>
                  <a:pt x="476201" y="121622"/>
                </a:lnTo>
                <a:lnTo>
                  <a:pt x="467561" y="113710"/>
                </a:lnTo>
                <a:lnTo>
                  <a:pt x="465401" y="108593"/>
                </a:lnTo>
                <a:lnTo>
                  <a:pt x="465401" y="99044"/>
                </a:lnTo>
                <a:lnTo>
                  <a:pt x="466469" y="92586"/>
                </a:lnTo>
                <a:lnTo>
                  <a:pt x="468607" y="82946"/>
                </a:lnTo>
                <a:lnTo>
                  <a:pt x="470009" y="75911"/>
                </a:lnTo>
                <a:lnTo>
                  <a:pt x="471011" y="69269"/>
                </a:lnTo>
                <a:lnTo>
                  <a:pt x="471613" y="63019"/>
                </a:lnTo>
                <a:lnTo>
                  <a:pt x="471813" y="57161"/>
                </a:lnTo>
                <a:lnTo>
                  <a:pt x="470820" y="43864"/>
                </a:lnTo>
                <a:lnTo>
                  <a:pt x="446962" y="8453"/>
                </a:lnTo>
                <a:lnTo>
                  <a:pt x="422985" y="1120"/>
                </a:lnTo>
                <a:lnTo>
                  <a:pt x="407965" y="0"/>
                </a:lnTo>
                <a:close/>
              </a:path>
              <a:path w="491490" h="260350">
                <a:moveTo>
                  <a:pt x="87039" y="0"/>
                </a:moveTo>
                <a:lnTo>
                  <a:pt x="83492" y="0"/>
                </a:lnTo>
                <a:lnTo>
                  <a:pt x="68472" y="1120"/>
                </a:lnTo>
                <a:lnTo>
                  <a:pt x="28585" y="22608"/>
                </a:lnTo>
                <a:lnTo>
                  <a:pt x="19645" y="57025"/>
                </a:lnTo>
                <a:lnTo>
                  <a:pt x="19845" y="62883"/>
                </a:lnTo>
                <a:lnTo>
                  <a:pt x="20446" y="69133"/>
                </a:lnTo>
                <a:lnTo>
                  <a:pt x="21448" y="75775"/>
                </a:lnTo>
                <a:lnTo>
                  <a:pt x="22851" y="82810"/>
                </a:lnTo>
                <a:lnTo>
                  <a:pt x="24988" y="92450"/>
                </a:lnTo>
                <a:lnTo>
                  <a:pt x="26057" y="98908"/>
                </a:lnTo>
                <a:lnTo>
                  <a:pt x="26057" y="108458"/>
                </a:lnTo>
                <a:lnTo>
                  <a:pt x="23897" y="113573"/>
                </a:lnTo>
                <a:lnTo>
                  <a:pt x="15256" y="121486"/>
                </a:lnTo>
                <a:lnTo>
                  <a:pt x="8731" y="123601"/>
                </a:lnTo>
                <a:lnTo>
                  <a:pt x="0" y="123874"/>
                </a:lnTo>
                <a:lnTo>
                  <a:pt x="0" y="135060"/>
                </a:lnTo>
                <a:lnTo>
                  <a:pt x="8731" y="135333"/>
                </a:lnTo>
                <a:lnTo>
                  <a:pt x="15256" y="137448"/>
                </a:lnTo>
                <a:lnTo>
                  <a:pt x="23897" y="145361"/>
                </a:lnTo>
                <a:lnTo>
                  <a:pt x="26057" y="150477"/>
                </a:lnTo>
                <a:lnTo>
                  <a:pt x="26057" y="160027"/>
                </a:lnTo>
                <a:lnTo>
                  <a:pt x="24988" y="166484"/>
                </a:lnTo>
                <a:lnTo>
                  <a:pt x="22851" y="176124"/>
                </a:lnTo>
                <a:lnTo>
                  <a:pt x="21448" y="183159"/>
                </a:lnTo>
                <a:lnTo>
                  <a:pt x="20446" y="189801"/>
                </a:lnTo>
                <a:lnTo>
                  <a:pt x="19845" y="196051"/>
                </a:lnTo>
                <a:lnTo>
                  <a:pt x="19645" y="201909"/>
                </a:lnTo>
                <a:lnTo>
                  <a:pt x="20638" y="215684"/>
                </a:lnTo>
                <a:lnTo>
                  <a:pt x="44496" y="251709"/>
                </a:lnTo>
                <a:lnTo>
                  <a:pt x="83492" y="260163"/>
                </a:lnTo>
                <a:lnTo>
                  <a:pt x="87039" y="260163"/>
                </a:lnTo>
                <a:lnTo>
                  <a:pt x="87039" y="249795"/>
                </a:lnTo>
                <a:lnTo>
                  <a:pt x="84993" y="249795"/>
                </a:lnTo>
                <a:lnTo>
                  <a:pt x="75639" y="249151"/>
                </a:lnTo>
                <a:lnTo>
                  <a:pt x="45634" y="225562"/>
                </a:lnTo>
                <a:lnTo>
                  <a:pt x="42837" y="204365"/>
                </a:lnTo>
                <a:lnTo>
                  <a:pt x="42837" y="197999"/>
                </a:lnTo>
                <a:lnTo>
                  <a:pt x="43747" y="190131"/>
                </a:lnTo>
                <a:lnTo>
                  <a:pt x="47385" y="171395"/>
                </a:lnTo>
                <a:lnTo>
                  <a:pt x="48294" y="164711"/>
                </a:lnTo>
                <a:lnTo>
                  <a:pt x="48294" y="152977"/>
                </a:lnTo>
                <a:lnTo>
                  <a:pt x="46020" y="146634"/>
                </a:lnTo>
                <a:lnTo>
                  <a:pt x="36925" y="136720"/>
                </a:lnTo>
                <a:lnTo>
                  <a:pt x="31514" y="133060"/>
                </a:lnTo>
                <a:lnTo>
                  <a:pt x="25238" y="130695"/>
                </a:lnTo>
                <a:lnTo>
                  <a:pt x="25238" y="128239"/>
                </a:lnTo>
                <a:lnTo>
                  <a:pt x="31514" y="125874"/>
                </a:lnTo>
                <a:lnTo>
                  <a:pt x="36925" y="122214"/>
                </a:lnTo>
                <a:lnTo>
                  <a:pt x="46020" y="112301"/>
                </a:lnTo>
                <a:lnTo>
                  <a:pt x="48294" y="105957"/>
                </a:lnTo>
                <a:lnTo>
                  <a:pt x="48294" y="94223"/>
                </a:lnTo>
                <a:lnTo>
                  <a:pt x="47385" y="87539"/>
                </a:lnTo>
                <a:lnTo>
                  <a:pt x="43747" y="68803"/>
                </a:lnTo>
                <a:lnTo>
                  <a:pt x="42837" y="60935"/>
                </a:lnTo>
                <a:lnTo>
                  <a:pt x="42837" y="54569"/>
                </a:lnTo>
                <a:lnTo>
                  <a:pt x="43536" y="43600"/>
                </a:lnTo>
                <a:lnTo>
                  <a:pt x="67360" y="12943"/>
                </a:lnTo>
                <a:lnTo>
                  <a:pt x="84993" y="10368"/>
                </a:lnTo>
                <a:lnTo>
                  <a:pt x="87039" y="10368"/>
                </a:lnTo>
                <a:lnTo>
                  <a:pt x="87039" y="0"/>
                </a:lnTo>
                <a:close/>
              </a:path>
            </a:pathLst>
          </a:custGeom>
          <a:solidFill>
            <a:srgbClr val="FF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2" name="object 4">
            <a:extLst>
              <a:ext uri="{FF2B5EF4-FFF2-40B4-BE49-F238E27FC236}">
                <a16:creationId xmlns:a16="http://schemas.microsoft.com/office/drawing/2014/main" id="{44A4A1BB-A1F1-94D1-F8AB-F22EA642FD6B}"/>
              </a:ext>
            </a:extLst>
          </p:cNvPr>
          <p:cNvSpPr/>
          <p:nvPr/>
        </p:nvSpPr>
        <p:spPr>
          <a:xfrm>
            <a:off x="963555" y="2439347"/>
            <a:ext cx="1289050" cy="260350"/>
          </a:xfrm>
          <a:custGeom>
            <a:avLst/>
            <a:gdLst/>
            <a:ahLst/>
            <a:cxnLst/>
            <a:rect l="l" t="t" r="r" b="b"/>
            <a:pathLst>
              <a:path w="1289050" h="260350">
                <a:moveTo>
                  <a:pt x="1205398" y="0"/>
                </a:moveTo>
                <a:lnTo>
                  <a:pt x="1201851" y="0"/>
                </a:lnTo>
                <a:lnTo>
                  <a:pt x="1201851" y="10368"/>
                </a:lnTo>
                <a:lnTo>
                  <a:pt x="1203898" y="10368"/>
                </a:lnTo>
                <a:lnTo>
                  <a:pt x="1213252" y="11011"/>
                </a:lnTo>
                <a:lnTo>
                  <a:pt x="1245354" y="43677"/>
                </a:lnTo>
                <a:lnTo>
                  <a:pt x="1246054" y="54706"/>
                </a:lnTo>
                <a:lnTo>
                  <a:pt x="1246054" y="61073"/>
                </a:lnTo>
                <a:lnTo>
                  <a:pt x="1245144" y="68939"/>
                </a:lnTo>
                <a:lnTo>
                  <a:pt x="1241506" y="87675"/>
                </a:lnTo>
                <a:lnTo>
                  <a:pt x="1240596" y="94361"/>
                </a:lnTo>
                <a:lnTo>
                  <a:pt x="1240596" y="106093"/>
                </a:lnTo>
                <a:lnTo>
                  <a:pt x="1242870" y="112436"/>
                </a:lnTo>
                <a:lnTo>
                  <a:pt x="1251965" y="122350"/>
                </a:lnTo>
                <a:lnTo>
                  <a:pt x="1257377" y="126011"/>
                </a:lnTo>
                <a:lnTo>
                  <a:pt x="1263652" y="128376"/>
                </a:lnTo>
                <a:lnTo>
                  <a:pt x="1263652" y="130831"/>
                </a:lnTo>
                <a:lnTo>
                  <a:pt x="1257377" y="133196"/>
                </a:lnTo>
                <a:lnTo>
                  <a:pt x="1251965" y="136857"/>
                </a:lnTo>
                <a:lnTo>
                  <a:pt x="1242870" y="146771"/>
                </a:lnTo>
                <a:lnTo>
                  <a:pt x="1240596" y="153115"/>
                </a:lnTo>
                <a:lnTo>
                  <a:pt x="1240596" y="164847"/>
                </a:lnTo>
                <a:lnTo>
                  <a:pt x="1241506" y="171532"/>
                </a:lnTo>
                <a:lnTo>
                  <a:pt x="1245144" y="190267"/>
                </a:lnTo>
                <a:lnTo>
                  <a:pt x="1246054" y="198135"/>
                </a:lnTo>
                <a:lnTo>
                  <a:pt x="1246054" y="204501"/>
                </a:lnTo>
                <a:lnTo>
                  <a:pt x="1245354" y="215948"/>
                </a:lnTo>
                <a:lnTo>
                  <a:pt x="1221531" y="247220"/>
                </a:lnTo>
                <a:lnTo>
                  <a:pt x="1203898" y="249795"/>
                </a:lnTo>
                <a:lnTo>
                  <a:pt x="1201851" y="249795"/>
                </a:lnTo>
                <a:lnTo>
                  <a:pt x="1201851" y="260163"/>
                </a:lnTo>
                <a:lnTo>
                  <a:pt x="1205398" y="260163"/>
                </a:lnTo>
                <a:lnTo>
                  <a:pt x="1220418" y="259042"/>
                </a:lnTo>
                <a:lnTo>
                  <a:pt x="1260306" y="237486"/>
                </a:lnTo>
                <a:lnTo>
                  <a:pt x="1269246" y="202045"/>
                </a:lnTo>
                <a:lnTo>
                  <a:pt x="1269046" y="196187"/>
                </a:lnTo>
                <a:lnTo>
                  <a:pt x="1268444" y="189938"/>
                </a:lnTo>
                <a:lnTo>
                  <a:pt x="1267442" y="183296"/>
                </a:lnTo>
                <a:lnTo>
                  <a:pt x="1266040" y="176262"/>
                </a:lnTo>
                <a:lnTo>
                  <a:pt x="1263902" y="166621"/>
                </a:lnTo>
                <a:lnTo>
                  <a:pt x="1262834" y="160163"/>
                </a:lnTo>
                <a:lnTo>
                  <a:pt x="1262834" y="150613"/>
                </a:lnTo>
                <a:lnTo>
                  <a:pt x="1264994" y="145497"/>
                </a:lnTo>
                <a:lnTo>
                  <a:pt x="1273634" y="137585"/>
                </a:lnTo>
                <a:lnTo>
                  <a:pt x="1280159" y="135470"/>
                </a:lnTo>
                <a:lnTo>
                  <a:pt x="1288891" y="135197"/>
                </a:lnTo>
                <a:lnTo>
                  <a:pt x="1288891" y="124010"/>
                </a:lnTo>
                <a:lnTo>
                  <a:pt x="1280159" y="123737"/>
                </a:lnTo>
                <a:lnTo>
                  <a:pt x="1273634" y="121622"/>
                </a:lnTo>
                <a:lnTo>
                  <a:pt x="1264994" y="113710"/>
                </a:lnTo>
                <a:lnTo>
                  <a:pt x="1262834" y="108593"/>
                </a:lnTo>
                <a:lnTo>
                  <a:pt x="1262834" y="99044"/>
                </a:lnTo>
                <a:lnTo>
                  <a:pt x="1263902" y="92586"/>
                </a:lnTo>
                <a:lnTo>
                  <a:pt x="1266040" y="82946"/>
                </a:lnTo>
                <a:lnTo>
                  <a:pt x="1267442" y="75911"/>
                </a:lnTo>
                <a:lnTo>
                  <a:pt x="1268444" y="69269"/>
                </a:lnTo>
                <a:lnTo>
                  <a:pt x="1269046" y="63019"/>
                </a:lnTo>
                <a:lnTo>
                  <a:pt x="1269246" y="57161"/>
                </a:lnTo>
                <a:lnTo>
                  <a:pt x="1268253" y="43864"/>
                </a:lnTo>
                <a:lnTo>
                  <a:pt x="1244395" y="8453"/>
                </a:lnTo>
                <a:lnTo>
                  <a:pt x="1220418" y="1120"/>
                </a:lnTo>
                <a:lnTo>
                  <a:pt x="1205398" y="0"/>
                </a:lnTo>
                <a:close/>
              </a:path>
              <a:path w="1289050" h="260350">
                <a:moveTo>
                  <a:pt x="87039" y="0"/>
                </a:moveTo>
                <a:lnTo>
                  <a:pt x="83492" y="0"/>
                </a:lnTo>
                <a:lnTo>
                  <a:pt x="68472" y="1120"/>
                </a:lnTo>
                <a:lnTo>
                  <a:pt x="28585" y="22607"/>
                </a:lnTo>
                <a:lnTo>
                  <a:pt x="19645" y="57025"/>
                </a:lnTo>
                <a:lnTo>
                  <a:pt x="19845" y="62883"/>
                </a:lnTo>
                <a:lnTo>
                  <a:pt x="20446" y="69133"/>
                </a:lnTo>
                <a:lnTo>
                  <a:pt x="21448" y="75775"/>
                </a:lnTo>
                <a:lnTo>
                  <a:pt x="22851" y="82810"/>
                </a:lnTo>
                <a:lnTo>
                  <a:pt x="24988" y="92450"/>
                </a:lnTo>
                <a:lnTo>
                  <a:pt x="26057" y="98907"/>
                </a:lnTo>
                <a:lnTo>
                  <a:pt x="26057" y="108458"/>
                </a:lnTo>
                <a:lnTo>
                  <a:pt x="23897" y="113573"/>
                </a:lnTo>
                <a:lnTo>
                  <a:pt x="15256" y="121486"/>
                </a:lnTo>
                <a:lnTo>
                  <a:pt x="8731" y="123601"/>
                </a:lnTo>
                <a:lnTo>
                  <a:pt x="0" y="123874"/>
                </a:lnTo>
                <a:lnTo>
                  <a:pt x="0" y="135060"/>
                </a:lnTo>
                <a:lnTo>
                  <a:pt x="8731" y="135333"/>
                </a:lnTo>
                <a:lnTo>
                  <a:pt x="15256" y="137448"/>
                </a:lnTo>
                <a:lnTo>
                  <a:pt x="23897" y="145361"/>
                </a:lnTo>
                <a:lnTo>
                  <a:pt x="26057" y="150477"/>
                </a:lnTo>
                <a:lnTo>
                  <a:pt x="26057" y="160026"/>
                </a:lnTo>
                <a:lnTo>
                  <a:pt x="24988" y="166484"/>
                </a:lnTo>
                <a:lnTo>
                  <a:pt x="22851" y="176124"/>
                </a:lnTo>
                <a:lnTo>
                  <a:pt x="21448" y="183159"/>
                </a:lnTo>
                <a:lnTo>
                  <a:pt x="20446" y="189801"/>
                </a:lnTo>
                <a:lnTo>
                  <a:pt x="19845" y="196051"/>
                </a:lnTo>
                <a:lnTo>
                  <a:pt x="19645" y="201909"/>
                </a:lnTo>
                <a:lnTo>
                  <a:pt x="20638" y="215684"/>
                </a:lnTo>
                <a:lnTo>
                  <a:pt x="44496" y="251709"/>
                </a:lnTo>
                <a:lnTo>
                  <a:pt x="83492" y="260163"/>
                </a:lnTo>
                <a:lnTo>
                  <a:pt x="87039" y="260163"/>
                </a:lnTo>
                <a:lnTo>
                  <a:pt x="87039" y="249795"/>
                </a:lnTo>
                <a:lnTo>
                  <a:pt x="84993" y="249795"/>
                </a:lnTo>
                <a:lnTo>
                  <a:pt x="75639" y="249151"/>
                </a:lnTo>
                <a:lnTo>
                  <a:pt x="45634" y="225562"/>
                </a:lnTo>
                <a:lnTo>
                  <a:pt x="42837" y="204365"/>
                </a:lnTo>
                <a:lnTo>
                  <a:pt x="42837" y="197999"/>
                </a:lnTo>
                <a:lnTo>
                  <a:pt x="43747" y="190131"/>
                </a:lnTo>
                <a:lnTo>
                  <a:pt x="47385" y="171395"/>
                </a:lnTo>
                <a:lnTo>
                  <a:pt x="48294" y="164711"/>
                </a:lnTo>
                <a:lnTo>
                  <a:pt x="48294" y="152977"/>
                </a:lnTo>
                <a:lnTo>
                  <a:pt x="46020" y="146634"/>
                </a:lnTo>
                <a:lnTo>
                  <a:pt x="36925" y="136720"/>
                </a:lnTo>
                <a:lnTo>
                  <a:pt x="31514" y="133060"/>
                </a:lnTo>
                <a:lnTo>
                  <a:pt x="25238" y="130695"/>
                </a:lnTo>
                <a:lnTo>
                  <a:pt x="25238" y="128239"/>
                </a:lnTo>
                <a:lnTo>
                  <a:pt x="31514" y="125874"/>
                </a:lnTo>
                <a:lnTo>
                  <a:pt x="36925" y="122214"/>
                </a:lnTo>
                <a:lnTo>
                  <a:pt x="46020" y="112301"/>
                </a:lnTo>
                <a:lnTo>
                  <a:pt x="48294" y="105957"/>
                </a:lnTo>
                <a:lnTo>
                  <a:pt x="48294" y="94223"/>
                </a:lnTo>
                <a:lnTo>
                  <a:pt x="47385" y="87539"/>
                </a:lnTo>
                <a:lnTo>
                  <a:pt x="43747" y="68803"/>
                </a:lnTo>
                <a:lnTo>
                  <a:pt x="42837" y="60935"/>
                </a:lnTo>
                <a:lnTo>
                  <a:pt x="42837" y="54569"/>
                </a:lnTo>
                <a:lnTo>
                  <a:pt x="43536" y="43600"/>
                </a:lnTo>
                <a:lnTo>
                  <a:pt x="67360" y="12943"/>
                </a:lnTo>
                <a:lnTo>
                  <a:pt x="84993" y="10368"/>
                </a:lnTo>
                <a:lnTo>
                  <a:pt x="87039" y="10368"/>
                </a:lnTo>
                <a:lnTo>
                  <a:pt x="87039" y="0"/>
                </a:lnTo>
                <a:close/>
              </a:path>
            </a:pathLst>
          </a:custGeom>
          <a:solidFill>
            <a:srgbClr val="FF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3" name="object 5">
            <a:extLst>
              <a:ext uri="{FF2B5EF4-FFF2-40B4-BE49-F238E27FC236}">
                <a16:creationId xmlns:a16="http://schemas.microsoft.com/office/drawing/2014/main" id="{2E980DBB-FA81-C8E4-8F41-EC7A8735EF96}"/>
              </a:ext>
            </a:extLst>
          </p:cNvPr>
          <p:cNvSpPr txBox="1"/>
          <p:nvPr/>
        </p:nvSpPr>
        <p:spPr>
          <a:xfrm>
            <a:off x="656590" y="1658620"/>
            <a:ext cx="4459605" cy="3649979"/>
          </a:xfrm>
          <a:prstGeom prst="rect">
            <a:avLst/>
          </a:prstGeom>
        </p:spPr>
        <p:txBody>
          <a:bodyPr vert="horz" wrap="square" lIns="0" tIns="12700" rIns="0" bIns="0" rtlCol="0">
            <a:spAutoFit/>
          </a:bodyPr>
          <a:lstStyle/>
          <a:p>
            <a:pPr marL="401955" indent="-338455">
              <a:spcBef>
                <a:spcPts val="100"/>
              </a:spcBef>
              <a:buClr>
                <a:srgbClr val="000000"/>
              </a:buClr>
              <a:buFont typeface="Arial MT"/>
              <a:buChar char="•"/>
              <a:tabLst>
                <a:tab pos="401955" algn="l"/>
              </a:tabLst>
            </a:pPr>
            <a:r>
              <a:rPr sz="2200" spc="-25" dirty="0">
                <a:solidFill>
                  <a:srgbClr val="FF0000"/>
                </a:solidFill>
                <a:latin typeface="Cambria Math"/>
                <a:cs typeface="Cambria Math"/>
              </a:rPr>
              <a:t>𝐵</a:t>
            </a:r>
            <a:r>
              <a:rPr sz="2400" spc="-37" baseline="-15625" dirty="0">
                <a:solidFill>
                  <a:srgbClr val="FF0000"/>
                </a:solidFill>
                <a:latin typeface="Cambria Math"/>
                <a:cs typeface="Cambria Math"/>
              </a:rPr>
              <a:t>3</a:t>
            </a:r>
            <a:endParaRPr sz="2400" baseline="-15625">
              <a:solidFill>
                <a:sysClr val="windowText" lastClr="000000"/>
              </a:solidFill>
              <a:latin typeface="Cambria Math"/>
              <a:cs typeface="Cambria Math"/>
            </a:endParaRPr>
          </a:p>
          <a:p>
            <a:pPr>
              <a:spcBef>
                <a:spcPts val="275"/>
              </a:spcBef>
              <a:buFont typeface="Arial MT"/>
              <a:buChar char="•"/>
            </a:pPr>
            <a:endParaRPr sz="2200">
              <a:solidFill>
                <a:sysClr val="windowText" lastClr="000000"/>
              </a:solidFill>
              <a:latin typeface="Cambria Math"/>
              <a:cs typeface="Cambria Math"/>
            </a:endParaRPr>
          </a:p>
          <a:p>
            <a:pPr marL="401955" indent="-338455">
              <a:buClr>
                <a:srgbClr val="000000"/>
              </a:buClr>
              <a:buFont typeface="Arial MT"/>
              <a:buChar char="•"/>
              <a:tabLst>
                <a:tab pos="401955" algn="l"/>
              </a:tabLst>
            </a:pPr>
            <a:r>
              <a:rPr sz="2200" dirty="0">
                <a:solidFill>
                  <a:srgbClr val="FF0000"/>
                </a:solidFill>
                <a:latin typeface="Cambria Math"/>
                <a:cs typeface="Cambria Math"/>
              </a:rPr>
              <a:t>𝐵</a:t>
            </a:r>
            <a:r>
              <a:rPr sz="2400" baseline="-15625" dirty="0">
                <a:solidFill>
                  <a:srgbClr val="FF0000"/>
                </a:solidFill>
                <a:latin typeface="Cambria Math"/>
                <a:cs typeface="Cambria Math"/>
              </a:rPr>
              <a:t>2</a:t>
            </a:r>
            <a:r>
              <a:rPr sz="2200" dirty="0">
                <a:solidFill>
                  <a:srgbClr val="FF0000"/>
                </a:solidFill>
                <a:latin typeface="Cambria Math"/>
                <a:cs typeface="Cambria Math"/>
              </a:rPr>
              <a:t>,</a:t>
            </a:r>
            <a:r>
              <a:rPr sz="2200" spc="-105" dirty="0">
                <a:solidFill>
                  <a:srgbClr val="FF0000"/>
                </a:solidFill>
                <a:latin typeface="Cambria Math"/>
                <a:cs typeface="Cambria Math"/>
              </a:rPr>
              <a:t> </a:t>
            </a:r>
            <a:r>
              <a:rPr sz="2200" dirty="0">
                <a:solidFill>
                  <a:srgbClr val="FF0000"/>
                </a:solidFill>
                <a:latin typeface="Cambria Math"/>
                <a:cs typeface="Cambria Math"/>
              </a:rPr>
              <a:t>𝐵</a:t>
            </a:r>
            <a:r>
              <a:rPr sz="2400" baseline="-15625" dirty="0">
                <a:solidFill>
                  <a:srgbClr val="FF0000"/>
                </a:solidFill>
                <a:latin typeface="Cambria Math"/>
                <a:cs typeface="Cambria Math"/>
              </a:rPr>
              <a:t>3</a:t>
            </a:r>
            <a:r>
              <a:rPr sz="2200" dirty="0">
                <a:solidFill>
                  <a:srgbClr val="FF0000"/>
                </a:solidFill>
                <a:latin typeface="Cambria Math"/>
                <a:cs typeface="Cambria Math"/>
              </a:rPr>
              <a:t>,</a:t>
            </a:r>
            <a:r>
              <a:rPr sz="2200" spc="-105" dirty="0">
                <a:solidFill>
                  <a:srgbClr val="FF0000"/>
                </a:solidFill>
                <a:latin typeface="Cambria Math"/>
                <a:cs typeface="Cambria Math"/>
              </a:rPr>
              <a:t> </a:t>
            </a:r>
            <a:r>
              <a:rPr sz="2200" spc="-25" dirty="0">
                <a:solidFill>
                  <a:srgbClr val="FF0000"/>
                </a:solidFill>
                <a:latin typeface="Cambria Math"/>
                <a:cs typeface="Cambria Math"/>
              </a:rPr>
              <a:t>𝐵</a:t>
            </a:r>
            <a:r>
              <a:rPr sz="2400" spc="-37" baseline="-15625" dirty="0">
                <a:solidFill>
                  <a:srgbClr val="FF0000"/>
                </a:solidFill>
                <a:latin typeface="Cambria Math"/>
                <a:cs typeface="Cambria Math"/>
              </a:rPr>
              <a:t>4</a:t>
            </a:r>
            <a:endParaRPr sz="2400" baseline="-15625">
              <a:solidFill>
                <a:sysClr val="windowText" lastClr="000000"/>
              </a:solidFill>
              <a:latin typeface="Cambria Math"/>
              <a:cs typeface="Cambria Math"/>
            </a:endParaRPr>
          </a:p>
          <a:p>
            <a:pPr marL="748665" lvl="1" indent="-227965">
              <a:spcBef>
                <a:spcPts val="1770"/>
              </a:spcBef>
              <a:buFont typeface="Wingdings"/>
              <a:buChar char=""/>
              <a:tabLst>
                <a:tab pos="748665" algn="l"/>
              </a:tabLst>
            </a:pPr>
            <a:r>
              <a:rPr dirty="0">
                <a:solidFill>
                  <a:sysClr val="windowText" lastClr="000000"/>
                </a:solidFill>
                <a:latin typeface="Cambria Math"/>
                <a:cs typeface="Cambria Math"/>
              </a:rPr>
              <a:t>𝐵</a:t>
            </a:r>
            <a:r>
              <a:rPr sz="1950" baseline="-14957" dirty="0">
                <a:solidFill>
                  <a:sysClr val="windowText" lastClr="000000"/>
                </a:solidFill>
                <a:latin typeface="Cambria Math"/>
                <a:cs typeface="Cambria Math"/>
              </a:rPr>
              <a:t>2</a:t>
            </a:r>
            <a:r>
              <a:rPr sz="1950" spc="307" baseline="-14957" dirty="0">
                <a:solidFill>
                  <a:sysClr val="windowText" lastClr="000000"/>
                </a:solidFill>
                <a:latin typeface="Cambria Math"/>
                <a:cs typeface="Cambria Math"/>
              </a:rPr>
              <a:t> </a:t>
            </a:r>
            <a:r>
              <a:rPr dirty="0">
                <a:solidFill>
                  <a:sysClr val="windowText" lastClr="000000"/>
                </a:solidFill>
                <a:latin typeface="Palatino Linotype"/>
                <a:cs typeface="Palatino Linotype"/>
              </a:rPr>
              <a:t>is</a:t>
            </a:r>
            <a:r>
              <a:rPr spc="-35"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the</a:t>
            </a:r>
            <a:r>
              <a:rPr spc="-30"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loop</a:t>
            </a:r>
            <a:r>
              <a:rPr spc="-30" dirty="0">
                <a:solidFill>
                  <a:sysClr val="windowText" lastClr="000000"/>
                </a:solidFill>
                <a:latin typeface="Palatino Linotype"/>
                <a:cs typeface="Palatino Linotype"/>
              </a:rPr>
              <a:t> </a:t>
            </a:r>
            <a:r>
              <a:rPr spc="-20" dirty="0">
                <a:solidFill>
                  <a:sysClr val="windowText" lastClr="000000"/>
                </a:solidFill>
                <a:latin typeface="Palatino Linotype"/>
                <a:cs typeface="Palatino Linotype"/>
              </a:rPr>
              <a:t>entry</a:t>
            </a:r>
            <a:endParaRPr>
              <a:solidFill>
                <a:sysClr val="windowText" lastClr="000000"/>
              </a:solidFill>
              <a:latin typeface="Palatino Linotype"/>
              <a:cs typeface="Palatino Linotype"/>
            </a:endParaRPr>
          </a:p>
          <a:p>
            <a:pPr marL="748665" lvl="1" indent="-227965">
              <a:spcBef>
                <a:spcPts val="1630"/>
              </a:spcBef>
              <a:buFont typeface="Wingdings"/>
              <a:buChar char=""/>
              <a:tabLst>
                <a:tab pos="748665" algn="l"/>
              </a:tabLst>
            </a:pPr>
            <a:r>
              <a:rPr dirty="0">
                <a:solidFill>
                  <a:sysClr val="windowText" lastClr="000000"/>
                </a:solidFill>
                <a:latin typeface="Cambria Math"/>
                <a:cs typeface="Cambria Math"/>
              </a:rPr>
              <a:t>𝐵</a:t>
            </a:r>
            <a:r>
              <a:rPr sz="1950" baseline="-14957" dirty="0">
                <a:solidFill>
                  <a:sysClr val="windowText" lastClr="000000"/>
                </a:solidFill>
                <a:latin typeface="Cambria Math"/>
                <a:cs typeface="Cambria Math"/>
              </a:rPr>
              <a:t>1</a:t>
            </a:r>
            <a:r>
              <a:rPr dirty="0">
                <a:solidFill>
                  <a:sysClr val="windowText" lastClr="000000"/>
                </a:solidFill>
                <a:latin typeface="Palatino Linotype"/>
                <a:cs typeface="Palatino Linotype"/>
              </a:rPr>
              <a:t>,</a:t>
            </a:r>
            <a:r>
              <a:rPr spc="-25" dirty="0">
                <a:solidFill>
                  <a:sysClr val="windowText" lastClr="000000"/>
                </a:solidFill>
                <a:latin typeface="Palatino Linotype"/>
                <a:cs typeface="Palatino Linotype"/>
              </a:rPr>
              <a:t> </a:t>
            </a:r>
            <a:r>
              <a:rPr dirty="0">
                <a:solidFill>
                  <a:sysClr val="windowText" lastClr="000000"/>
                </a:solidFill>
                <a:latin typeface="Cambria Math"/>
                <a:cs typeface="Cambria Math"/>
              </a:rPr>
              <a:t>𝐵</a:t>
            </a:r>
            <a:r>
              <a:rPr sz="1950" baseline="-14957" dirty="0">
                <a:solidFill>
                  <a:sysClr val="windowText" lastClr="000000"/>
                </a:solidFill>
                <a:latin typeface="Cambria Math"/>
                <a:cs typeface="Cambria Math"/>
              </a:rPr>
              <a:t>5</a:t>
            </a:r>
            <a:r>
              <a:rPr dirty="0">
                <a:solidFill>
                  <a:sysClr val="windowText" lastClr="000000"/>
                </a:solidFill>
                <a:latin typeface="Palatino Linotype"/>
                <a:cs typeface="Palatino Linotype"/>
              </a:rPr>
              <a:t>,</a:t>
            </a:r>
            <a:r>
              <a:rPr spc="-25" dirty="0">
                <a:solidFill>
                  <a:sysClr val="windowText" lastClr="000000"/>
                </a:solidFill>
                <a:latin typeface="Palatino Linotype"/>
                <a:cs typeface="Palatino Linotype"/>
              </a:rPr>
              <a:t> </a:t>
            </a:r>
            <a:r>
              <a:rPr dirty="0">
                <a:solidFill>
                  <a:sysClr val="windowText" lastClr="000000"/>
                </a:solidFill>
                <a:latin typeface="Cambria Math"/>
                <a:cs typeface="Cambria Math"/>
              </a:rPr>
              <a:t>𝐵</a:t>
            </a:r>
            <a:r>
              <a:rPr sz="1950" baseline="-14957" dirty="0">
                <a:solidFill>
                  <a:sysClr val="windowText" lastClr="000000"/>
                </a:solidFill>
                <a:latin typeface="Cambria Math"/>
                <a:cs typeface="Cambria Math"/>
              </a:rPr>
              <a:t>6</a:t>
            </a:r>
            <a:r>
              <a:rPr sz="1950" spc="330" baseline="-14957" dirty="0">
                <a:solidFill>
                  <a:sysClr val="windowText" lastClr="000000"/>
                </a:solidFill>
                <a:latin typeface="Cambria Math"/>
                <a:cs typeface="Cambria Math"/>
              </a:rPr>
              <a:t> </a:t>
            </a:r>
            <a:r>
              <a:rPr dirty="0">
                <a:solidFill>
                  <a:sysClr val="windowText" lastClr="000000"/>
                </a:solidFill>
                <a:latin typeface="Palatino Linotype"/>
                <a:cs typeface="Palatino Linotype"/>
              </a:rPr>
              <a:t>are</a:t>
            </a:r>
            <a:r>
              <a:rPr spc="-25"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not</a:t>
            </a:r>
            <a:r>
              <a:rPr spc="-25"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in</a:t>
            </a:r>
            <a:r>
              <a:rPr spc="-20"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the</a:t>
            </a:r>
            <a:r>
              <a:rPr spc="-25" dirty="0">
                <a:solidFill>
                  <a:sysClr val="windowText" lastClr="000000"/>
                </a:solidFill>
                <a:latin typeface="Palatino Linotype"/>
                <a:cs typeface="Palatino Linotype"/>
              </a:rPr>
              <a:t> </a:t>
            </a:r>
            <a:r>
              <a:rPr spc="-20" dirty="0">
                <a:solidFill>
                  <a:sysClr val="windowText" lastClr="000000"/>
                </a:solidFill>
                <a:latin typeface="Palatino Linotype"/>
                <a:cs typeface="Palatino Linotype"/>
              </a:rPr>
              <a:t>loop</a:t>
            </a:r>
            <a:endParaRPr>
              <a:solidFill>
                <a:sysClr val="windowText" lastClr="000000"/>
              </a:solidFill>
              <a:latin typeface="Palatino Linotype"/>
              <a:cs typeface="Palatino Linotype"/>
            </a:endParaRPr>
          </a:p>
          <a:p>
            <a:pPr marL="1204595" marR="231140" lvl="2" indent="-227329">
              <a:lnSpc>
                <a:spcPct val="118600"/>
              </a:lnSpc>
              <a:spcBef>
                <a:spcPts val="640"/>
              </a:spcBef>
              <a:buFont typeface="Courier New"/>
              <a:buChar char="o"/>
              <a:tabLst>
                <a:tab pos="1205865" algn="l"/>
              </a:tabLst>
            </a:pPr>
            <a:r>
              <a:rPr sz="1400" dirty="0">
                <a:solidFill>
                  <a:sysClr val="windowText" lastClr="000000"/>
                </a:solidFill>
                <a:latin typeface="Palatino Linotype"/>
                <a:cs typeface="Palatino Linotype"/>
              </a:rPr>
              <a:t>There</a:t>
            </a:r>
            <a:r>
              <a:rPr sz="1400" spc="-25" dirty="0">
                <a:solidFill>
                  <a:sysClr val="windowText" lastClr="000000"/>
                </a:solidFill>
                <a:latin typeface="Palatino Linotype"/>
                <a:cs typeface="Palatino Linotype"/>
              </a:rPr>
              <a:t> </a:t>
            </a:r>
            <a:r>
              <a:rPr sz="1400" dirty="0">
                <a:solidFill>
                  <a:sysClr val="windowText" lastClr="000000"/>
                </a:solidFill>
                <a:latin typeface="Palatino Linotype"/>
                <a:cs typeface="Palatino Linotype"/>
              </a:rPr>
              <a:t>is</a:t>
            </a:r>
            <a:r>
              <a:rPr sz="1400" spc="-30" dirty="0">
                <a:solidFill>
                  <a:sysClr val="windowText" lastClr="000000"/>
                </a:solidFill>
                <a:latin typeface="Palatino Linotype"/>
                <a:cs typeface="Palatino Linotype"/>
              </a:rPr>
              <a:t> </a:t>
            </a:r>
            <a:r>
              <a:rPr sz="1400" dirty="0">
                <a:solidFill>
                  <a:sysClr val="windowText" lastClr="000000"/>
                </a:solidFill>
                <a:latin typeface="Palatino Linotype"/>
                <a:cs typeface="Palatino Linotype"/>
              </a:rPr>
              <a:t>a</a:t>
            </a:r>
            <a:r>
              <a:rPr sz="1400" spc="-25" dirty="0">
                <a:solidFill>
                  <a:sysClr val="windowText" lastClr="000000"/>
                </a:solidFill>
                <a:latin typeface="Palatino Linotype"/>
                <a:cs typeface="Palatino Linotype"/>
              </a:rPr>
              <a:t> </a:t>
            </a:r>
            <a:r>
              <a:rPr sz="1400" dirty="0">
                <a:solidFill>
                  <a:sysClr val="windowText" lastClr="000000"/>
                </a:solidFill>
                <a:latin typeface="Palatino Linotype"/>
                <a:cs typeface="Palatino Linotype"/>
              </a:rPr>
              <a:t>path</a:t>
            </a:r>
            <a:r>
              <a:rPr sz="1400" spc="-25" dirty="0">
                <a:solidFill>
                  <a:sysClr val="windowText" lastClr="000000"/>
                </a:solidFill>
                <a:latin typeface="Palatino Linotype"/>
                <a:cs typeface="Palatino Linotype"/>
              </a:rPr>
              <a:t> </a:t>
            </a:r>
            <a:r>
              <a:rPr sz="1400" dirty="0">
                <a:solidFill>
                  <a:sysClr val="windowText" lastClr="000000"/>
                </a:solidFill>
                <a:latin typeface="Palatino Linotype"/>
                <a:cs typeface="Palatino Linotype"/>
              </a:rPr>
              <a:t>from</a:t>
            </a:r>
            <a:r>
              <a:rPr sz="1400" spc="-20" dirty="0">
                <a:solidFill>
                  <a:sysClr val="windowText" lastClr="000000"/>
                </a:solidFill>
                <a:latin typeface="Palatino Linotype"/>
                <a:cs typeface="Palatino Linotype"/>
              </a:rPr>
              <a:t> </a:t>
            </a:r>
            <a:r>
              <a:rPr sz="1400" spc="-10" dirty="0">
                <a:solidFill>
                  <a:sysClr val="windowText" lastClr="000000"/>
                </a:solidFill>
                <a:latin typeface="Palatino Linotype"/>
                <a:cs typeface="Palatino Linotype"/>
              </a:rPr>
              <a:t>ENTRY</a:t>
            </a:r>
            <a:r>
              <a:rPr sz="1400" spc="-45" dirty="0">
                <a:solidFill>
                  <a:sysClr val="windowText" lastClr="000000"/>
                </a:solidFill>
                <a:latin typeface="Palatino Linotype"/>
                <a:cs typeface="Palatino Linotype"/>
              </a:rPr>
              <a:t> </a:t>
            </a:r>
            <a:r>
              <a:rPr sz="1400" dirty="0">
                <a:solidFill>
                  <a:sysClr val="windowText" lastClr="000000"/>
                </a:solidFill>
                <a:latin typeface="Palatino Linotype"/>
                <a:cs typeface="Palatino Linotype"/>
              </a:rPr>
              <a:t>to</a:t>
            </a:r>
            <a:r>
              <a:rPr sz="1400" spc="-30" dirty="0">
                <a:solidFill>
                  <a:sysClr val="windowText" lastClr="000000"/>
                </a:solidFill>
                <a:latin typeface="Palatino Linotype"/>
                <a:cs typeface="Palatino Linotype"/>
              </a:rPr>
              <a:t> </a:t>
            </a:r>
            <a:r>
              <a:rPr sz="1400" dirty="0">
                <a:solidFill>
                  <a:sysClr val="windowText" lastClr="000000"/>
                </a:solidFill>
                <a:latin typeface="Cambria Math"/>
                <a:cs typeface="Cambria Math"/>
              </a:rPr>
              <a:t>𝐵</a:t>
            </a:r>
            <a:r>
              <a:rPr sz="1500" baseline="-16666" dirty="0">
                <a:solidFill>
                  <a:sysClr val="windowText" lastClr="000000"/>
                </a:solidFill>
                <a:latin typeface="Cambria Math"/>
                <a:cs typeface="Cambria Math"/>
              </a:rPr>
              <a:t>1</a:t>
            </a:r>
            <a:r>
              <a:rPr sz="1500" spc="262" baseline="-16666" dirty="0">
                <a:solidFill>
                  <a:sysClr val="windowText" lastClr="000000"/>
                </a:solidFill>
                <a:latin typeface="Cambria Math"/>
                <a:cs typeface="Cambria Math"/>
              </a:rPr>
              <a:t> </a:t>
            </a:r>
            <a:r>
              <a:rPr sz="1400" spc="-20" dirty="0">
                <a:solidFill>
                  <a:sysClr val="windowText" lastClr="000000"/>
                </a:solidFill>
                <a:latin typeface="Palatino Linotype"/>
                <a:cs typeface="Palatino Linotype"/>
              </a:rPr>
              <a:t>that 	</a:t>
            </a:r>
            <a:r>
              <a:rPr sz="1400" dirty="0">
                <a:solidFill>
                  <a:sysClr val="windowText" lastClr="000000"/>
                </a:solidFill>
                <a:latin typeface="Palatino Linotype"/>
                <a:cs typeface="Palatino Linotype"/>
              </a:rPr>
              <a:t>does</a:t>
            </a:r>
            <a:r>
              <a:rPr sz="1400" spc="-30" dirty="0">
                <a:solidFill>
                  <a:sysClr val="windowText" lastClr="000000"/>
                </a:solidFill>
                <a:latin typeface="Palatino Linotype"/>
                <a:cs typeface="Palatino Linotype"/>
              </a:rPr>
              <a:t> </a:t>
            </a:r>
            <a:r>
              <a:rPr sz="1400" dirty="0">
                <a:solidFill>
                  <a:sysClr val="windowText" lastClr="000000"/>
                </a:solidFill>
                <a:latin typeface="Palatino Linotype"/>
                <a:cs typeface="Palatino Linotype"/>
              </a:rPr>
              <a:t>not</a:t>
            </a:r>
            <a:r>
              <a:rPr sz="1400" spc="-15" dirty="0">
                <a:solidFill>
                  <a:sysClr val="windowText" lastClr="000000"/>
                </a:solidFill>
                <a:latin typeface="Palatino Linotype"/>
                <a:cs typeface="Palatino Linotype"/>
              </a:rPr>
              <a:t> </a:t>
            </a:r>
            <a:r>
              <a:rPr sz="1400" dirty="0">
                <a:solidFill>
                  <a:sysClr val="windowText" lastClr="000000"/>
                </a:solidFill>
                <a:latin typeface="Palatino Linotype"/>
                <a:cs typeface="Palatino Linotype"/>
              </a:rPr>
              <a:t>go</a:t>
            </a:r>
            <a:r>
              <a:rPr sz="1400" spc="-25" dirty="0">
                <a:solidFill>
                  <a:sysClr val="windowText" lastClr="000000"/>
                </a:solidFill>
                <a:latin typeface="Palatino Linotype"/>
                <a:cs typeface="Palatino Linotype"/>
              </a:rPr>
              <a:t> </a:t>
            </a:r>
            <a:r>
              <a:rPr sz="1400" dirty="0">
                <a:solidFill>
                  <a:sysClr val="windowText" lastClr="000000"/>
                </a:solidFill>
                <a:latin typeface="Palatino Linotype"/>
                <a:cs typeface="Palatino Linotype"/>
              </a:rPr>
              <a:t>through</a:t>
            </a:r>
            <a:r>
              <a:rPr sz="1400" spc="-20" dirty="0">
                <a:solidFill>
                  <a:sysClr val="windowText" lastClr="000000"/>
                </a:solidFill>
                <a:latin typeface="Palatino Linotype"/>
                <a:cs typeface="Palatino Linotype"/>
              </a:rPr>
              <a:t> </a:t>
            </a:r>
            <a:r>
              <a:rPr sz="1400" spc="-25" dirty="0">
                <a:solidFill>
                  <a:sysClr val="windowText" lastClr="000000"/>
                </a:solidFill>
                <a:latin typeface="Cambria Math"/>
                <a:cs typeface="Cambria Math"/>
              </a:rPr>
              <a:t>𝐵</a:t>
            </a:r>
            <a:r>
              <a:rPr sz="1500" spc="-37" baseline="-16666" dirty="0">
                <a:solidFill>
                  <a:sysClr val="windowText" lastClr="000000"/>
                </a:solidFill>
                <a:latin typeface="Cambria Math"/>
                <a:cs typeface="Cambria Math"/>
              </a:rPr>
              <a:t>2</a:t>
            </a:r>
            <a:endParaRPr sz="1500" baseline="-16666">
              <a:solidFill>
                <a:sysClr val="windowText" lastClr="000000"/>
              </a:solidFill>
              <a:latin typeface="Cambria Math"/>
              <a:cs typeface="Cambria Math"/>
            </a:endParaRPr>
          </a:p>
          <a:p>
            <a:pPr marL="1204595" lvl="2" indent="-227329">
              <a:spcBef>
                <a:spcPts val="1010"/>
              </a:spcBef>
              <a:buFont typeface="Courier New"/>
              <a:buChar char="o"/>
              <a:tabLst>
                <a:tab pos="1204595" algn="l"/>
              </a:tabLst>
            </a:pPr>
            <a:r>
              <a:rPr sz="1400" dirty="0">
                <a:solidFill>
                  <a:sysClr val="windowText" lastClr="000000"/>
                </a:solidFill>
                <a:latin typeface="Cambria Math"/>
                <a:cs typeface="Cambria Math"/>
              </a:rPr>
              <a:t>𝐵</a:t>
            </a:r>
            <a:r>
              <a:rPr sz="1500" baseline="-16666" dirty="0">
                <a:solidFill>
                  <a:sysClr val="windowText" lastClr="000000"/>
                </a:solidFill>
                <a:latin typeface="Cambria Math"/>
                <a:cs typeface="Cambria Math"/>
              </a:rPr>
              <a:t>5</a:t>
            </a:r>
            <a:r>
              <a:rPr sz="1500" spc="247" baseline="-16666" dirty="0">
                <a:solidFill>
                  <a:sysClr val="windowText" lastClr="000000"/>
                </a:solidFill>
                <a:latin typeface="Cambria Math"/>
                <a:cs typeface="Cambria Math"/>
              </a:rPr>
              <a:t> </a:t>
            </a:r>
            <a:r>
              <a:rPr sz="1400" dirty="0">
                <a:solidFill>
                  <a:sysClr val="windowText" lastClr="000000"/>
                </a:solidFill>
                <a:latin typeface="Palatino Linotype"/>
                <a:cs typeface="Palatino Linotype"/>
              </a:rPr>
              <a:t>and</a:t>
            </a:r>
            <a:r>
              <a:rPr sz="1400" spc="-30" dirty="0">
                <a:solidFill>
                  <a:sysClr val="windowText" lastClr="000000"/>
                </a:solidFill>
                <a:latin typeface="Palatino Linotype"/>
                <a:cs typeface="Palatino Linotype"/>
              </a:rPr>
              <a:t> </a:t>
            </a:r>
            <a:r>
              <a:rPr sz="1400" dirty="0">
                <a:solidFill>
                  <a:sysClr val="windowText" lastClr="000000"/>
                </a:solidFill>
                <a:latin typeface="Cambria Math"/>
                <a:cs typeface="Cambria Math"/>
              </a:rPr>
              <a:t>𝐵</a:t>
            </a:r>
            <a:r>
              <a:rPr sz="1500" baseline="-16666" dirty="0">
                <a:solidFill>
                  <a:sysClr val="windowText" lastClr="000000"/>
                </a:solidFill>
                <a:latin typeface="Cambria Math"/>
                <a:cs typeface="Cambria Math"/>
              </a:rPr>
              <a:t>6</a:t>
            </a:r>
            <a:r>
              <a:rPr sz="1500" spc="195" baseline="-16666" dirty="0">
                <a:solidFill>
                  <a:sysClr val="windowText" lastClr="000000"/>
                </a:solidFill>
                <a:latin typeface="Cambria Math"/>
                <a:cs typeface="Cambria Math"/>
              </a:rPr>
              <a:t> </a:t>
            </a:r>
            <a:r>
              <a:rPr sz="1400" dirty="0">
                <a:solidFill>
                  <a:sysClr val="windowText" lastClr="000000"/>
                </a:solidFill>
                <a:latin typeface="Palatino Linotype"/>
                <a:cs typeface="Palatino Linotype"/>
              </a:rPr>
              <a:t>have</a:t>
            </a:r>
            <a:r>
              <a:rPr sz="1400" spc="-25" dirty="0">
                <a:solidFill>
                  <a:sysClr val="windowText" lastClr="000000"/>
                </a:solidFill>
                <a:latin typeface="Palatino Linotype"/>
                <a:cs typeface="Palatino Linotype"/>
              </a:rPr>
              <a:t> </a:t>
            </a:r>
            <a:r>
              <a:rPr sz="1400" dirty="0">
                <a:solidFill>
                  <a:sysClr val="windowText" lastClr="000000"/>
                </a:solidFill>
                <a:latin typeface="Palatino Linotype"/>
                <a:cs typeface="Palatino Linotype"/>
              </a:rPr>
              <a:t>no</a:t>
            </a:r>
            <a:r>
              <a:rPr sz="1400" spc="-30" dirty="0">
                <a:solidFill>
                  <a:sysClr val="windowText" lastClr="000000"/>
                </a:solidFill>
                <a:latin typeface="Palatino Linotype"/>
                <a:cs typeface="Palatino Linotype"/>
              </a:rPr>
              <a:t> </a:t>
            </a:r>
            <a:r>
              <a:rPr sz="1400" dirty="0">
                <a:solidFill>
                  <a:sysClr val="windowText" lastClr="000000"/>
                </a:solidFill>
                <a:latin typeface="Palatino Linotype"/>
                <a:cs typeface="Palatino Linotype"/>
              </a:rPr>
              <a:t>nonempty</a:t>
            </a:r>
            <a:r>
              <a:rPr sz="1400" spc="-30" dirty="0">
                <a:solidFill>
                  <a:sysClr val="windowText" lastClr="000000"/>
                </a:solidFill>
                <a:latin typeface="Palatino Linotype"/>
                <a:cs typeface="Palatino Linotype"/>
              </a:rPr>
              <a:t> </a:t>
            </a:r>
            <a:r>
              <a:rPr sz="1400" dirty="0">
                <a:solidFill>
                  <a:sysClr val="windowText" lastClr="000000"/>
                </a:solidFill>
                <a:latin typeface="Palatino Linotype"/>
                <a:cs typeface="Palatino Linotype"/>
              </a:rPr>
              <a:t>paths</a:t>
            </a:r>
            <a:r>
              <a:rPr sz="1400" spc="-30" dirty="0">
                <a:solidFill>
                  <a:sysClr val="windowText" lastClr="000000"/>
                </a:solidFill>
                <a:latin typeface="Palatino Linotype"/>
                <a:cs typeface="Palatino Linotype"/>
              </a:rPr>
              <a:t> </a:t>
            </a:r>
            <a:r>
              <a:rPr sz="1400" dirty="0">
                <a:solidFill>
                  <a:sysClr val="windowText" lastClr="000000"/>
                </a:solidFill>
                <a:latin typeface="Palatino Linotype"/>
                <a:cs typeface="Palatino Linotype"/>
              </a:rPr>
              <a:t>to</a:t>
            </a:r>
            <a:r>
              <a:rPr sz="1400" spc="-30" dirty="0">
                <a:solidFill>
                  <a:sysClr val="windowText" lastClr="000000"/>
                </a:solidFill>
                <a:latin typeface="Palatino Linotype"/>
                <a:cs typeface="Palatino Linotype"/>
              </a:rPr>
              <a:t> </a:t>
            </a:r>
            <a:r>
              <a:rPr sz="1400" spc="-25" dirty="0">
                <a:solidFill>
                  <a:sysClr val="windowText" lastClr="000000"/>
                </a:solidFill>
                <a:latin typeface="Cambria Math"/>
                <a:cs typeface="Cambria Math"/>
              </a:rPr>
              <a:t>𝐵</a:t>
            </a:r>
            <a:r>
              <a:rPr sz="1500" spc="-37" baseline="-16666" dirty="0">
                <a:solidFill>
                  <a:sysClr val="windowText" lastClr="000000"/>
                </a:solidFill>
                <a:latin typeface="Cambria Math"/>
                <a:cs typeface="Cambria Math"/>
              </a:rPr>
              <a:t>2</a:t>
            </a:r>
            <a:endParaRPr sz="1500" baseline="-16666">
              <a:solidFill>
                <a:sysClr val="windowText" lastClr="000000"/>
              </a:solidFill>
              <a:latin typeface="Cambria Math"/>
              <a:cs typeface="Cambria Math"/>
            </a:endParaRPr>
          </a:p>
          <a:p>
            <a:pPr marL="0" lvl="2">
              <a:spcBef>
                <a:spcPts val="1085"/>
              </a:spcBef>
              <a:buFont typeface="Courier New"/>
              <a:buChar char="o"/>
            </a:pPr>
            <a:endParaRPr sz="1400">
              <a:solidFill>
                <a:sysClr val="windowText" lastClr="000000"/>
              </a:solidFill>
              <a:latin typeface="Cambria Math"/>
              <a:cs typeface="Cambria Math"/>
            </a:endParaRPr>
          </a:p>
          <a:p>
            <a:pPr marL="293370" indent="-229870">
              <a:buClr>
                <a:srgbClr val="000000"/>
              </a:buClr>
              <a:buFont typeface="Arial MT"/>
              <a:buChar char="•"/>
              <a:tabLst>
                <a:tab pos="293370" algn="l"/>
              </a:tabLst>
            </a:pPr>
            <a:r>
              <a:rPr sz="2200" spc="-20" dirty="0">
                <a:solidFill>
                  <a:srgbClr val="FF0000"/>
                </a:solidFill>
                <a:latin typeface="Cambria Math"/>
                <a:cs typeface="Cambria Math"/>
              </a:rPr>
              <a:t>{𝐵</a:t>
            </a:r>
            <a:r>
              <a:rPr sz="2400" spc="-30" baseline="-15625" dirty="0">
                <a:solidFill>
                  <a:srgbClr val="FF0000"/>
                </a:solidFill>
                <a:latin typeface="Cambria Math"/>
                <a:cs typeface="Cambria Math"/>
              </a:rPr>
              <a:t>6</a:t>
            </a:r>
            <a:r>
              <a:rPr sz="2200" spc="-20" dirty="0">
                <a:solidFill>
                  <a:srgbClr val="FF0000"/>
                </a:solidFill>
                <a:latin typeface="Cambria Math"/>
                <a:cs typeface="Cambria Math"/>
              </a:rPr>
              <a:t>}</a:t>
            </a:r>
            <a:endParaRPr sz="2200">
              <a:solidFill>
                <a:sysClr val="windowText" lastClr="000000"/>
              </a:solidFill>
              <a:latin typeface="Cambria Math"/>
              <a:cs typeface="Cambria Math"/>
            </a:endParaRPr>
          </a:p>
        </p:txBody>
      </p:sp>
      <p:pic>
        <p:nvPicPr>
          <p:cNvPr id="14" name="object 6">
            <a:extLst>
              <a:ext uri="{FF2B5EF4-FFF2-40B4-BE49-F238E27FC236}">
                <a16:creationId xmlns:a16="http://schemas.microsoft.com/office/drawing/2014/main" id="{75C2815C-30E3-AF11-5A08-FF851EB99501}"/>
              </a:ext>
            </a:extLst>
          </p:cNvPr>
          <p:cNvPicPr/>
          <p:nvPr/>
        </p:nvPicPr>
        <p:blipFill>
          <a:blip r:embed="rId3" cstate="print"/>
          <a:stretch>
            <a:fillRect/>
          </a:stretch>
        </p:blipFill>
        <p:spPr>
          <a:xfrm>
            <a:off x="5628228" y="1001340"/>
            <a:ext cx="2896410" cy="4877203"/>
          </a:xfrm>
          <a:prstGeom prst="rect">
            <a:avLst/>
          </a:prstGeom>
        </p:spPr>
      </p:pic>
    </p:spTree>
    <p:extLst>
      <p:ext uri="{BB962C8B-B14F-4D97-AF65-F5344CB8AC3E}">
        <p14:creationId xmlns:p14="http://schemas.microsoft.com/office/powerpoint/2010/main" val="333096172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46</a:t>
            </a:fld>
            <a:endParaRPr lang="en-US"/>
          </a:p>
        </p:txBody>
      </p:sp>
      <p:sp>
        <p:nvSpPr>
          <p:cNvPr id="10" name="object 2">
            <a:extLst>
              <a:ext uri="{FF2B5EF4-FFF2-40B4-BE49-F238E27FC236}">
                <a16:creationId xmlns:a16="http://schemas.microsoft.com/office/drawing/2014/main" id="{BA3E2463-B344-F80F-6DE3-E85C51F25B60}"/>
              </a:ext>
            </a:extLst>
          </p:cNvPr>
          <p:cNvSpPr txBox="1">
            <a:spLocks/>
          </p:cNvSpPr>
          <p:nvPr/>
        </p:nvSpPr>
        <p:spPr>
          <a:xfrm>
            <a:off x="707390" y="524763"/>
            <a:ext cx="7729219" cy="63500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4000" b="1" i="0" u="none" strike="noStrike" kern="0" cap="none" spc="-10" normalizeH="0" baseline="0" noProof="0">
                <a:ln>
                  <a:noFill/>
                </a:ln>
                <a:solidFill>
                  <a:sysClr val="windowText" lastClr="000000"/>
                </a:solidFill>
                <a:effectLst/>
                <a:uLnTx/>
                <a:uFillTx/>
                <a:latin typeface="Palatino Linotype"/>
                <a:ea typeface="+mj-ea"/>
              </a:rPr>
              <a:t>Outline</a:t>
            </a:r>
            <a:endParaRPr kumimoji="0" lang="en-US" sz="4000" b="1" i="0" u="none" strike="noStrike" kern="0" cap="none" spc="-10" normalizeH="0" baseline="0" noProof="0" dirty="0">
              <a:ln>
                <a:noFill/>
              </a:ln>
              <a:solidFill>
                <a:sysClr val="windowText" lastClr="000000"/>
              </a:solidFill>
              <a:effectLst/>
              <a:uLnTx/>
              <a:uFillTx/>
              <a:latin typeface="Palatino Linotype"/>
              <a:ea typeface="+mj-ea"/>
            </a:endParaRPr>
          </a:p>
        </p:txBody>
      </p:sp>
      <p:sp>
        <p:nvSpPr>
          <p:cNvPr id="11" name="object 3">
            <a:extLst>
              <a:ext uri="{FF2B5EF4-FFF2-40B4-BE49-F238E27FC236}">
                <a16:creationId xmlns:a16="http://schemas.microsoft.com/office/drawing/2014/main" id="{0C616537-FAAF-9842-A1AD-1560DCA3DBF8}"/>
              </a:ext>
            </a:extLst>
          </p:cNvPr>
          <p:cNvSpPr txBox="1">
            <a:spLocks/>
          </p:cNvSpPr>
          <p:nvPr/>
        </p:nvSpPr>
        <p:spPr>
          <a:xfrm>
            <a:off x="707390" y="1631188"/>
            <a:ext cx="3895090" cy="3509645"/>
          </a:xfrm>
          <a:prstGeom prst="rect">
            <a:avLst/>
          </a:prstGeom>
        </p:spPr>
        <p:txBody>
          <a:bodyPr vert="horz" wrap="square" lIns="0" tIns="12700" rIns="0" bIns="0" rtlCol="0">
            <a:spAutoFit/>
          </a:bodyPr>
          <a:lstStyle>
            <a:lvl1pPr marL="0">
              <a:defRPr sz="2200" b="0" i="0">
                <a:solidFill>
                  <a:srgbClr val="A6A6A6"/>
                </a:solidFill>
                <a:latin typeface="Palatino Linotype"/>
                <a:ea typeface="+mn-ea"/>
                <a:cs typeface="Palatino Linotype"/>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242570" marR="0" lvl="0" indent="-229870" defTabSz="914400" eaLnBrk="1" fontAlgn="auto" latinLnBrk="0" hangingPunct="1">
              <a:lnSpc>
                <a:spcPct val="100000"/>
              </a:lnSpc>
              <a:spcBef>
                <a:spcPts val="100"/>
              </a:spcBef>
              <a:spcAft>
                <a:spcPts val="0"/>
              </a:spcAft>
              <a:buClr>
                <a:srgbClr val="000000"/>
              </a:buClr>
              <a:buSzTx/>
              <a:buFont typeface="Arial MT"/>
              <a:buChar char="•"/>
              <a:tabLst>
                <a:tab pos="242570" algn="l"/>
              </a:tabLst>
              <a:defRPr/>
            </a:pPr>
            <a:r>
              <a:rPr kumimoji="0" lang="en-US" sz="2200" b="0" i="0" u="none" strike="noStrike" kern="0" cap="none" spc="0" normalizeH="0" baseline="0" noProof="0">
                <a:ln>
                  <a:noFill/>
                </a:ln>
                <a:solidFill>
                  <a:srgbClr val="A6A6A6"/>
                </a:solidFill>
                <a:effectLst/>
                <a:uLnTx/>
                <a:uFillTx/>
                <a:latin typeface="Palatino Linotype"/>
                <a:ea typeface="+mn-ea"/>
              </a:rPr>
              <a:t>Design</a:t>
            </a:r>
            <a:r>
              <a:rPr kumimoji="0" lang="en-US" sz="2200" b="0" i="0" u="none" strike="noStrike" kern="0" cap="none" spc="-45" normalizeH="0" baseline="0" noProof="0">
                <a:ln>
                  <a:noFill/>
                </a:ln>
                <a:solidFill>
                  <a:srgbClr val="A6A6A6"/>
                </a:solidFill>
                <a:effectLst/>
                <a:uLnTx/>
                <a:uFillTx/>
                <a:latin typeface="Palatino Linotype"/>
                <a:ea typeface="+mn-ea"/>
              </a:rPr>
              <a:t> </a:t>
            </a:r>
            <a:r>
              <a:rPr kumimoji="0" lang="en-US" sz="2200" b="0" i="0" u="none" strike="noStrike" kern="0" cap="none" spc="-10" normalizeH="0" baseline="0" noProof="0">
                <a:ln>
                  <a:noFill/>
                </a:ln>
                <a:solidFill>
                  <a:srgbClr val="A6A6A6"/>
                </a:solidFill>
                <a:effectLst/>
                <a:uLnTx/>
                <a:uFillTx/>
                <a:latin typeface="Palatino Linotype"/>
                <a:ea typeface="+mn-ea"/>
              </a:rPr>
              <a:t>Issues</a:t>
            </a:r>
          </a:p>
          <a:p>
            <a:pPr marL="242570" marR="0" lvl="0" indent="-229870" defTabSz="914400" eaLnBrk="1" fontAlgn="auto" latinLnBrk="0" hangingPunct="1">
              <a:lnSpc>
                <a:spcPct val="100000"/>
              </a:lnSpc>
              <a:spcBef>
                <a:spcPts val="2255"/>
              </a:spcBef>
              <a:spcAft>
                <a:spcPts val="0"/>
              </a:spcAft>
              <a:buClr>
                <a:srgbClr val="000000"/>
              </a:buClr>
              <a:buSzTx/>
              <a:buFont typeface="Arial MT"/>
              <a:buChar char="•"/>
              <a:tabLst>
                <a:tab pos="242570" algn="l"/>
              </a:tabLst>
              <a:defRPr/>
            </a:pPr>
            <a:r>
              <a:rPr kumimoji="0" lang="en-US" sz="2200" b="0" i="0" u="none" strike="noStrike" kern="0" cap="none" spc="0" normalizeH="0" baseline="0" noProof="0">
                <a:ln>
                  <a:noFill/>
                </a:ln>
                <a:solidFill>
                  <a:srgbClr val="A6A6A6"/>
                </a:solidFill>
                <a:effectLst/>
                <a:uLnTx/>
                <a:uFillTx/>
                <a:latin typeface="Palatino Linotype"/>
                <a:ea typeface="+mn-ea"/>
              </a:rPr>
              <a:t>The</a:t>
            </a:r>
            <a:r>
              <a:rPr kumimoji="0" lang="en-US" sz="2200" b="0" i="0" u="none" strike="noStrike" kern="0" cap="none" spc="-55" normalizeH="0" baseline="0" noProof="0">
                <a:ln>
                  <a:noFill/>
                </a:ln>
                <a:solidFill>
                  <a:srgbClr val="A6A6A6"/>
                </a:solidFill>
                <a:effectLst/>
                <a:uLnTx/>
                <a:uFillTx/>
                <a:latin typeface="Palatino Linotype"/>
                <a:ea typeface="+mn-ea"/>
              </a:rPr>
              <a:t> </a:t>
            </a:r>
            <a:r>
              <a:rPr kumimoji="0" lang="en-US" sz="2200" b="0" i="0" u="none" strike="noStrike" kern="0" cap="none" spc="-25" normalizeH="0" baseline="0" noProof="0">
                <a:ln>
                  <a:noFill/>
                </a:ln>
                <a:solidFill>
                  <a:srgbClr val="A6A6A6"/>
                </a:solidFill>
                <a:effectLst/>
                <a:uLnTx/>
                <a:uFillTx/>
                <a:latin typeface="Palatino Linotype"/>
                <a:ea typeface="+mn-ea"/>
              </a:rPr>
              <a:t>Target</a:t>
            </a:r>
            <a:r>
              <a:rPr kumimoji="0" lang="en-US" sz="2200" b="0" i="0" u="none" strike="noStrike" kern="0" cap="none" spc="-55" normalizeH="0" baseline="0" noProof="0">
                <a:ln>
                  <a:noFill/>
                </a:ln>
                <a:solidFill>
                  <a:srgbClr val="A6A6A6"/>
                </a:solidFill>
                <a:effectLst/>
                <a:uLnTx/>
                <a:uFillTx/>
                <a:latin typeface="Palatino Linotype"/>
                <a:ea typeface="+mn-ea"/>
              </a:rPr>
              <a:t> </a:t>
            </a:r>
            <a:r>
              <a:rPr kumimoji="0" lang="en-US" sz="2200" b="0" i="0" u="none" strike="noStrike" kern="0" cap="none" spc="-10" normalizeH="0" baseline="0" noProof="0">
                <a:ln>
                  <a:noFill/>
                </a:ln>
                <a:solidFill>
                  <a:srgbClr val="A6A6A6"/>
                </a:solidFill>
                <a:effectLst/>
                <a:uLnTx/>
                <a:uFillTx/>
                <a:latin typeface="Palatino Linotype"/>
                <a:ea typeface="+mn-ea"/>
              </a:rPr>
              <a:t>Language</a:t>
            </a:r>
          </a:p>
          <a:p>
            <a:pPr marL="242570" marR="0" lvl="0" indent="-229870" defTabSz="914400" eaLnBrk="1" fontAlgn="auto" latinLnBrk="0" hangingPunct="1">
              <a:lnSpc>
                <a:spcPct val="100000"/>
              </a:lnSpc>
              <a:spcBef>
                <a:spcPts val="2350"/>
              </a:spcBef>
              <a:spcAft>
                <a:spcPts val="0"/>
              </a:spcAft>
              <a:buClr>
                <a:srgbClr val="000000"/>
              </a:buClr>
              <a:buSzTx/>
              <a:buFont typeface="Arial MT"/>
              <a:buChar char="•"/>
              <a:tabLst>
                <a:tab pos="242570" algn="l"/>
              </a:tabLst>
              <a:defRPr/>
            </a:pPr>
            <a:r>
              <a:rPr kumimoji="0" lang="en-US" sz="2200" b="0" i="0" u="none" strike="noStrike" kern="0" cap="none" spc="0" normalizeH="0" baseline="0" noProof="0">
                <a:ln>
                  <a:noFill/>
                </a:ln>
                <a:solidFill>
                  <a:srgbClr val="A6A6A6"/>
                </a:solidFill>
                <a:effectLst/>
                <a:uLnTx/>
                <a:uFillTx/>
                <a:latin typeface="Palatino Linotype"/>
                <a:ea typeface="+mn-ea"/>
              </a:rPr>
              <a:t>Addresses</a:t>
            </a:r>
            <a:r>
              <a:rPr kumimoji="0" lang="en-US" sz="2200" b="0" i="0" u="none" strike="noStrike" kern="0" cap="none" spc="-40" normalizeH="0" baseline="0" noProof="0">
                <a:ln>
                  <a:noFill/>
                </a:ln>
                <a:solidFill>
                  <a:srgbClr val="A6A6A6"/>
                </a:solidFill>
                <a:effectLst/>
                <a:uLnTx/>
                <a:uFillTx/>
                <a:latin typeface="Palatino Linotype"/>
                <a:ea typeface="+mn-ea"/>
              </a:rPr>
              <a:t> </a:t>
            </a:r>
            <a:r>
              <a:rPr kumimoji="0" lang="en-US" sz="2200" b="0" i="0" u="none" strike="noStrike" kern="0" cap="none" spc="0" normalizeH="0" baseline="0" noProof="0">
                <a:ln>
                  <a:noFill/>
                </a:ln>
                <a:solidFill>
                  <a:srgbClr val="A6A6A6"/>
                </a:solidFill>
                <a:effectLst/>
                <a:uLnTx/>
                <a:uFillTx/>
                <a:latin typeface="Palatino Linotype"/>
                <a:ea typeface="+mn-ea"/>
              </a:rPr>
              <a:t>in</a:t>
            </a:r>
            <a:r>
              <a:rPr kumimoji="0" lang="en-US" sz="2200" b="0" i="0" u="none" strike="noStrike" kern="0" cap="none" spc="-50" normalizeH="0" baseline="0" noProof="0">
                <a:ln>
                  <a:noFill/>
                </a:ln>
                <a:solidFill>
                  <a:srgbClr val="A6A6A6"/>
                </a:solidFill>
                <a:effectLst/>
                <a:uLnTx/>
                <a:uFillTx/>
                <a:latin typeface="Palatino Linotype"/>
                <a:ea typeface="+mn-ea"/>
              </a:rPr>
              <a:t> </a:t>
            </a:r>
            <a:r>
              <a:rPr kumimoji="0" lang="en-US" sz="2200" b="0" i="0" u="none" strike="noStrike" kern="0" cap="none" spc="0" normalizeH="0" baseline="0" noProof="0">
                <a:ln>
                  <a:noFill/>
                </a:ln>
                <a:solidFill>
                  <a:srgbClr val="A6A6A6"/>
                </a:solidFill>
                <a:effectLst/>
                <a:uLnTx/>
                <a:uFillTx/>
                <a:latin typeface="Palatino Linotype"/>
                <a:ea typeface="+mn-ea"/>
              </a:rPr>
              <a:t>the</a:t>
            </a:r>
            <a:r>
              <a:rPr kumimoji="0" lang="en-US" sz="2200" b="0" i="0" u="none" strike="noStrike" kern="0" cap="none" spc="-45" normalizeH="0" baseline="0" noProof="0">
                <a:ln>
                  <a:noFill/>
                </a:ln>
                <a:solidFill>
                  <a:srgbClr val="A6A6A6"/>
                </a:solidFill>
                <a:effectLst/>
                <a:uLnTx/>
                <a:uFillTx/>
                <a:latin typeface="Palatino Linotype"/>
                <a:ea typeface="+mn-ea"/>
              </a:rPr>
              <a:t> </a:t>
            </a:r>
            <a:r>
              <a:rPr kumimoji="0" lang="en-US" sz="2200" b="0" i="0" u="none" strike="noStrike" kern="0" cap="none" spc="-25" normalizeH="0" baseline="0" noProof="0">
                <a:ln>
                  <a:noFill/>
                </a:ln>
                <a:solidFill>
                  <a:srgbClr val="A6A6A6"/>
                </a:solidFill>
                <a:effectLst/>
                <a:uLnTx/>
                <a:uFillTx/>
                <a:latin typeface="Palatino Linotype"/>
                <a:ea typeface="+mn-ea"/>
              </a:rPr>
              <a:t>Target</a:t>
            </a:r>
            <a:r>
              <a:rPr kumimoji="0" lang="en-US" sz="2200" b="0" i="0" u="none" strike="noStrike" kern="0" cap="none" spc="-45" normalizeH="0" baseline="0" noProof="0">
                <a:ln>
                  <a:noFill/>
                </a:ln>
                <a:solidFill>
                  <a:srgbClr val="A6A6A6"/>
                </a:solidFill>
                <a:effectLst/>
                <a:uLnTx/>
                <a:uFillTx/>
                <a:latin typeface="Palatino Linotype"/>
                <a:ea typeface="+mn-ea"/>
              </a:rPr>
              <a:t> </a:t>
            </a:r>
            <a:r>
              <a:rPr kumimoji="0" lang="en-US" sz="2200" b="0" i="0" u="none" strike="noStrike" kern="0" cap="none" spc="-20" normalizeH="0" baseline="0" noProof="0">
                <a:ln>
                  <a:noFill/>
                </a:ln>
                <a:solidFill>
                  <a:srgbClr val="A6A6A6"/>
                </a:solidFill>
                <a:effectLst/>
                <a:uLnTx/>
                <a:uFillTx/>
                <a:latin typeface="Palatino Linotype"/>
                <a:ea typeface="+mn-ea"/>
              </a:rPr>
              <a:t>Code</a:t>
            </a:r>
          </a:p>
          <a:p>
            <a:pPr marL="242570" marR="0" lvl="0" indent="-229870" defTabSz="914400" eaLnBrk="1" fontAlgn="auto" latinLnBrk="0" hangingPunct="1">
              <a:lnSpc>
                <a:spcPct val="100000"/>
              </a:lnSpc>
              <a:spcBef>
                <a:spcPts val="2375"/>
              </a:spcBef>
              <a:spcAft>
                <a:spcPts val="0"/>
              </a:spcAft>
              <a:buClr>
                <a:srgbClr val="000000"/>
              </a:buClr>
              <a:buSzTx/>
              <a:buFont typeface="Arial MT"/>
              <a:buChar char="•"/>
              <a:tabLst>
                <a:tab pos="242570" algn="l"/>
              </a:tabLst>
              <a:defRPr/>
            </a:pPr>
            <a:r>
              <a:rPr kumimoji="0" lang="en-US" sz="2200" b="0" i="0" u="none" strike="noStrike" kern="0" cap="none" spc="0" normalizeH="0" baseline="0" noProof="0">
                <a:ln>
                  <a:noFill/>
                </a:ln>
                <a:solidFill>
                  <a:srgbClr val="A6A6A6"/>
                </a:solidFill>
                <a:effectLst/>
                <a:uLnTx/>
                <a:uFillTx/>
                <a:latin typeface="Palatino Linotype"/>
                <a:ea typeface="+mn-ea"/>
              </a:rPr>
              <a:t>Basic</a:t>
            </a:r>
            <a:r>
              <a:rPr kumimoji="0" lang="en-US" sz="2200" b="0" i="0" u="none" strike="noStrike" kern="0" cap="none" spc="-45" normalizeH="0" baseline="0" noProof="0">
                <a:ln>
                  <a:noFill/>
                </a:ln>
                <a:solidFill>
                  <a:srgbClr val="A6A6A6"/>
                </a:solidFill>
                <a:effectLst/>
                <a:uLnTx/>
                <a:uFillTx/>
                <a:latin typeface="Palatino Linotype"/>
                <a:ea typeface="+mn-ea"/>
              </a:rPr>
              <a:t> </a:t>
            </a:r>
            <a:r>
              <a:rPr kumimoji="0" lang="en-US" sz="2200" b="0" i="0" u="none" strike="noStrike" kern="0" cap="none" spc="0" normalizeH="0" baseline="0" noProof="0">
                <a:ln>
                  <a:noFill/>
                </a:ln>
                <a:solidFill>
                  <a:srgbClr val="A6A6A6"/>
                </a:solidFill>
                <a:effectLst/>
                <a:uLnTx/>
                <a:uFillTx/>
                <a:latin typeface="Palatino Linotype"/>
                <a:ea typeface="+mn-ea"/>
              </a:rPr>
              <a:t>Blocks</a:t>
            </a:r>
            <a:r>
              <a:rPr kumimoji="0" lang="en-US" sz="2200" b="0" i="0" u="none" strike="noStrike" kern="0" cap="none" spc="-30" normalizeH="0" baseline="0" noProof="0">
                <a:ln>
                  <a:noFill/>
                </a:ln>
                <a:solidFill>
                  <a:srgbClr val="A6A6A6"/>
                </a:solidFill>
                <a:effectLst/>
                <a:uLnTx/>
                <a:uFillTx/>
                <a:latin typeface="Palatino Linotype"/>
                <a:ea typeface="+mn-ea"/>
              </a:rPr>
              <a:t> </a:t>
            </a:r>
            <a:r>
              <a:rPr kumimoji="0" lang="en-US" sz="2200" b="0" i="0" u="none" strike="noStrike" kern="0" cap="none" spc="0" normalizeH="0" baseline="0" noProof="0">
                <a:ln>
                  <a:noFill/>
                </a:ln>
                <a:solidFill>
                  <a:srgbClr val="A6A6A6"/>
                </a:solidFill>
                <a:effectLst/>
                <a:uLnTx/>
                <a:uFillTx/>
                <a:latin typeface="Palatino Linotype"/>
                <a:ea typeface="+mn-ea"/>
              </a:rPr>
              <a:t>and</a:t>
            </a:r>
            <a:r>
              <a:rPr kumimoji="0" lang="en-US" sz="2200" b="0" i="0" u="none" strike="noStrike" kern="0" cap="none" spc="-30" normalizeH="0" baseline="0" noProof="0">
                <a:ln>
                  <a:noFill/>
                </a:ln>
                <a:solidFill>
                  <a:srgbClr val="A6A6A6"/>
                </a:solidFill>
                <a:effectLst/>
                <a:uLnTx/>
                <a:uFillTx/>
                <a:latin typeface="Palatino Linotype"/>
                <a:ea typeface="+mn-ea"/>
              </a:rPr>
              <a:t> </a:t>
            </a:r>
            <a:r>
              <a:rPr kumimoji="0" lang="en-US" sz="2200" b="0" i="0" u="none" strike="noStrike" kern="0" cap="none" spc="0" normalizeH="0" baseline="0" noProof="0">
                <a:ln>
                  <a:noFill/>
                </a:ln>
                <a:solidFill>
                  <a:srgbClr val="A6A6A6"/>
                </a:solidFill>
                <a:effectLst/>
                <a:uLnTx/>
                <a:uFillTx/>
                <a:latin typeface="Palatino Linotype"/>
                <a:ea typeface="+mn-ea"/>
              </a:rPr>
              <a:t>Flow</a:t>
            </a:r>
            <a:r>
              <a:rPr kumimoji="0" lang="en-US" sz="2200" b="0" i="0" u="none" strike="noStrike" kern="0" cap="none" spc="-35" normalizeH="0" baseline="0" noProof="0">
                <a:ln>
                  <a:noFill/>
                </a:ln>
                <a:solidFill>
                  <a:srgbClr val="A6A6A6"/>
                </a:solidFill>
                <a:effectLst/>
                <a:uLnTx/>
                <a:uFillTx/>
                <a:latin typeface="Palatino Linotype"/>
                <a:ea typeface="+mn-ea"/>
              </a:rPr>
              <a:t> </a:t>
            </a:r>
            <a:r>
              <a:rPr kumimoji="0" lang="en-US" sz="2200" b="0" i="0" u="none" strike="noStrike" kern="0" cap="none" spc="-10" normalizeH="0" baseline="0" noProof="0">
                <a:ln>
                  <a:noFill/>
                </a:ln>
                <a:solidFill>
                  <a:srgbClr val="A6A6A6"/>
                </a:solidFill>
                <a:effectLst/>
                <a:uLnTx/>
                <a:uFillTx/>
                <a:latin typeface="Palatino Linotype"/>
                <a:ea typeface="+mn-ea"/>
              </a:rPr>
              <a:t>Graph</a:t>
            </a:r>
          </a:p>
          <a:p>
            <a:pPr marL="242570" marR="0" lvl="0" indent="-229870" defTabSz="914400" eaLnBrk="1" fontAlgn="auto" latinLnBrk="0" hangingPunct="1">
              <a:lnSpc>
                <a:spcPct val="100000"/>
              </a:lnSpc>
              <a:spcBef>
                <a:spcPts val="2260"/>
              </a:spcBef>
              <a:spcAft>
                <a:spcPts val="0"/>
              </a:spcAft>
              <a:buClrTx/>
              <a:buSzTx/>
              <a:buFont typeface="Arial MT"/>
              <a:buChar char="•"/>
              <a:tabLst>
                <a:tab pos="242570" algn="l"/>
              </a:tabLst>
              <a:defRPr/>
            </a:pPr>
            <a:r>
              <a:rPr kumimoji="0" lang="en-US" sz="2200" b="0" i="0" u="none" strike="noStrike" kern="0" cap="none" spc="0" normalizeH="0" baseline="0" noProof="0">
                <a:ln>
                  <a:noFill/>
                </a:ln>
                <a:solidFill>
                  <a:srgbClr val="000000"/>
                </a:solidFill>
                <a:effectLst/>
                <a:uLnTx/>
                <a:uFillTx/>
                <a:latin typeface="Palatino Linotype"/>
                <a:ea typeface="+mn-ea"/>
              </a:rPr>
              <a:t>Optimization</a:t>
            </a:r>
            <a:r>
              <a:rPr kumimoji="0" lang="en-US" sz="2200" b="0" i="0" u="none" strike="noStrike" kern="0" cap="none" spc="-45" normalizeH="0" baseline="0" noProof="0">
                <a:ln>
                  <a:noFill/>
                </a:ln>
                <a:solidFill>
                  <a:srgbClr val="000000"/>
                </a:solidFill>
                <a:effectLst/>
                <a:uLnTx/>
                <a:uFillTx/>
                <a:latin typeface="Palatino Linotype"/>
                <a:ea typeface="+mn-ea"/>
              </a:rPr>
              <a:t> </a:t>
            </a:r>
            <a:r>
              <a:rPr kumimoji="0" lang="en-US" sz="2200" b="0" i="0" u="none" strike="noStrike" kern="0" cap="none" spc="0" normalizeH="0" baseline="0" noProof="0">
                <a:ln>
                  <a:noFill/>
                </a:ln>
                <a:solidFill>
                  <a:srgbClr val="000000"/>
                </a:solidFill>
                <a:effectLst/>
                <a:uLnTx/>
                <a:uFillTx/>
                <a:latin typeface="Palatino Linotype"/>
                <a:ea typeface="+mn-ea"/>
              </a:rPr>
              <a:t>of</a:t>
            </a:r>
            <a:r>
              <a:rPr kumimoji="0" lang="en-US" sz="2200" b="0" i="0" u="none" strike="noStrike" kern="0" cap="none" spc="-35" normalizeH="0" baseline="0" noProof="0">
                <a:ln>
                  <a:noFill/>
                </a:ln>
                <a:solidFill>
                  <a:srgbClr val="000000"/>
                </a:solidFill>
                <a:effectLst/>
                <a:uLnTx/>
                <a:uFillTx/>
                <a:latin typeface="Palatino Linotype"/>
                <a:ea typeface="+mn-ea"/>
              </a:rPr>
              <a:t> </a:t>
            </a:r>
            <a:r>
              <a:rPr kumimoji="0" lang="en-US" sz="2200" b="0" i="0" u="none" strike="noStrike" kern="0" cap="none" spc="0" normalizeH="0" baseline="0" noProof="0">
                <a:ln>
                  <a:noFill/>
                </a:ln>
                <a:solidFill>
                  <a:srgbClr val="000000"/>
                </a:solidFill>
                <a:effectLst/>
                <a:uLnTx/>
                <a:uFillTx/>
                <a:latin typeface="Palatino Linotype"/>
                <a:ea typeface="+mn-ea"/>
              </a:rPr>
              <a:t>Basic</a:t>
            </a:r>
            <a:r>
              <a:rPr kumimoji="0" lang="en-US" sz="2200" b="0" i="0" u="none" strike="noStrike" kern="0" cap="none" spc="-40" normalizeH="0" baseline="0" noProof="0">
                <a:ln>
                  <a:noFill/>
                </a:ln>
                <a:solidFill>
                  <a:srgbClr val="000000"/>
                </a:solidFill>
                <a:effectLst/>
                <a:uLnTx/>
                <a:uFillTx/>
                <a:latin typeface="Palatino Linotype"/>
                <a:ea typeface="+mn-ea"/>
              </a:rPr>
              <a:t> </a:t>
            </a:r>
            <a:r>
              <a:rPr kumimoji="0" lang="en-US" sz="2200" b="0" i="0" u="none" strike="noStrike" kern="0" cap="none" spc="-10" normalizeH="0" baseline="0" noProof="0">
                <a:ln>
                  <a:noFill/>
                </a:ln>
                <a:solidFill>
                  <a:srgbClr val="000000"/>
                </a:solidFill>
                <a:effectLst/>
                <a:uLnTx/>
                <a:uFillTx/>
                <a:latin typeface="Palatino Linotype"/>
                <a:ea typeface="+mn-ea"/>
              </a:rPr>
              <a:t>Blocks</a:t>
            </a:r>
          </a:p>
          <a:p>
            <a:pPr marL="242570" marR="0" lvl="0" indent="-229870" defTabSz="914400" eaLnBrk="1" fontAlgn="auto" latinLnBrk="0" hangingPunct="1">
              <a:lnSpc>
                <a:spcPct val="100000"/>
              </a:lnSpc>
              <a:spcBef>
                <a:spcPts val="2350"/>
              </a:spcBef>
              <a:spcAft>
                <a:spcPts val="0"/>
              </a:spcAft>
              <a:buClr>
                <a:srgbClr val="000000"/>
              </a:buClr>
              <a:buSzTx/>
              <a:buFont typeface="Arial MT"/>
              <a:buChar char="•"/>
              <a:tabLst>
                <a:tab pos="242570" algn="l"/>
              </a:tabLst>
              <a:defRPr/>
            </a:pPr>
            <a:r>
              <a:rPr kumimoji="0" lang="en-US" sz="2200" b="0" i="0" u="none" strike="noStrike" kern="0" cap="none" spc="-20" normalizeH="0" baseline="0" noProof="0">
                <a:ln>
                  <a:noFill/>
                </a:ln>
                <a:solidFill>
                  <a:srgbClr val="A6A6A6"/>
                </a:solidFill>
                <a:effectLst/>
                <a:uLnTx/>
                <a:uFillTx/>
                <a:latin typeface="Palatino Linotype"/>
                <a:ea typeface="+mn-ea"/>
              </a:rPr>
              <a:t>A</a:t>
            </a:r>
            <a:r>
              <a:rPr kumimoji="0" lang="en-US" sz="2200" b="0" i="0" u="none" strike="noStrike" kern="0" cap="none" spc="-125" normalizeH="0" baseline="0" noProof="0">
                <a:ln>
                  <a:noFill/>
                </a:ln>
                <a:solidFill>
                  <a:srgbClr val="A6A6A6"/>
                </a:solidFill>
                <a:effectLst/>
                <a:uLnTx/>
                <a:uFillTx/>
                <a:latin typeface="Palatino Linotype"/>
                <a:ea typeface="+mn-ea"/>
              </a:rPr>
              <a:t> </a:t>
            </a:r>
            <a:r>
              <a:rPr kumimoji="0" lang="en-US" sz="2200" b="0" i="0" u="none" strike="noStrike" kern="0" cap="none" spc="0" normalizeH="0" baseline="0" noProof="0">
                <a:ln>
                  <a:noFill/>
                </a:ln>
                <a:solidFill>
                  <a:srgbClr val="A6A6A6"/>
                </a:solidFill>
                <a:effectLst/>
                <a:uLnTx/>
                <a:uFillTx/>
                <a:latin typeface="Palatino Linotype"/>
                <a:ea typeface="+mn-ea"/>
              </a:rPr>
              <a:t>Simple</a:t>
            </a:r>
            <a:r>
              <a:rPr kumimoji="0" lang="en-US" sz="2200" b="0" i="0" u="none" strike="noStrike" kern="0" cap="none" spc="-45" normalizeH="0" baseline="0" noProof="0">
                <a:ln>
                  <a:noFill/>
                </a:ln>
                <a:solidFill>
                  <a:srgbClr val="A6A6A6"/>
                </a:solidFill>
                <a:effectLst/>
                <a:uLnTx/>
                <a:uFillTx/>
                <a:latin typeface="Palatino Linotype"/>
                <a:ea typeface="+mn-ea"/>
              </a:rPr>
              <a:t> </a:t>
            </a:r>
            <a:r>
              <a:rPr kumimoji="0" lang="en-US" sz="2200" b="0" i="0" u="none" strike="noStrike" kern="0" cap="none" spc="0" normalizeH="0" baseline="0" noProof="0">
                <a:ln>
                  <a:noFill/>
                </a:ln>
                <a:solidFill>
                  <a:srgbClr val="A6A6A6"/>
                </a:solidFill>
                <a:effectLst/>
                <a:uLnTx/>
                <a:uFillTx/>
                <a:latin typeface="Palatino Linotype"/>
                <a:ea typeface="+mn-ea"/>
              </a:rPr>
              <a:t>Code</a:t>
            </a:r>
            <a:r>
              <a:rPr kumimoji="0" lang="en-US" sz="2200" b="0" i="0" u="none" strike="noStrike" kern="0" cap="none" spc="-25" normalizeH="0" baseline="0" noProof="0">
                <a:ln>
                  <a:noFill/>
                </a:ln>
                <a:solidFill>
                  <a:srgbClr val="A6A6A6"/>
                </a:solidFill>
                <a:effectLst/>
                <a:uLnTx/>
                <a:uFillTx/>
                <a:latin typeface="Palatino Linotype"/>
                <a:ea typeface="+mn-ea"/>
              </a:rPr>
              <a:t> </a:t>
            </a:r>
            <a:r>
              <a:rPr kumimoji="0" lang="en-US" sz="2200" b="0" i="0" u="none" strike="noStrike" kern="0" cap="none" spc="-10" normalizeH="0" baseline="0" noProof="0">
                <a:ln>
                  <a:noFill/>
                </a:ln>
                <a:solidFill>
                  <a:srgbClr val="A6A6A6"/>
                </a:solidFill>
                <a:effectLst/>
                <a:uLnTx/>
                <a:uFillTx/>
                <a:latin typeface="Palatino Linotype"/>
                <a:ea typeface="+mn-ea"/>
              </a:rPr>
              <a:t>Generator</a:t>
            </a:r>
            <a:endParaRPr kumimoji="0" lang="en-US" sz="2200" b="0" i="0" u="none" strike="noStrike" kern="0" cap="none" spc="-10" normalizeH="0" baseline="0" noProof="0" dirty="0">
              <a:ln>
                <a:noFill/>
              </a:ln>
              <a:solidFill>
                <a:srgbClr val="A6A6A6"/>
              </a:solidFill>
              <a:effectLst/>
              <a:uLnTx/>
              <a:uFillTx/>
              <a:latin typeface="Palatino Linotype"/>
              <a:ea typeface="+mn-ea"/>
            </a:endParaRPr>
          </a:p>
        </p:txBody>
      </p:sp>
      <p:sp>
        <p:nvSpPr>
          <p:cNvPr id="12" name="object 4">
            <a:extLst>
              <a:ext uri="{FF2B5EF4-FFF2-40B4-BE49-F238E27FC236}">
                <a16:creationId xmlns:a16="http://schemas.microsoft.com/office/drawing/2014/main" id="{68F8150D-7302-A5B7-CAF2-ED64A2164397}"/>
              </a:ext>
            </a:extLst>
          </p:cNvPr>
          <p:cNvSpPr txBox="1"/>
          <p:nvPr/>
        </p:nvSpPr>
        <p:spPr>
          <a:xfrm>
            <a:off x="707390" y="5416803"/>
            <a:ext cx="4697730" cy="360680"/>
          </a:xfrm>
          <a:prstGeom prst="rect">
            <a:avLst/>
          </a:prstGeom>
        </p:spPr>
        <p:txBody>
          <a:bodyPr vert="horz" wrap="square" lIns="0" tIns="12700" rIns="0" bIns="0" rtlCol="0">
            <a:spAutoFit/>
          </a:bodyPr>
          <a:lstStyle/>
          <a:p>
            <a:pPr marL="242570" indent="-229870">
              <a:spcBef>
                <a:spcPts val="100"/>
              </a:spcBef>
              <a:buClr>
                <a:srgbClr val="000000"/>
              </a:buClr>
              <a:buFont typeface="Arial MT"/>
              <a:buChar char="•"/>
              <a:tabLst>
                <a:tab pos="242570" algn="l"/>
              </a:tabLst>
            </a:pPr>
            <a:r>
              <a:rPr sz="2200" dirty="0">
                <a:solidFill>
                  <a:srgbClr val="A6A6A6"/>
                </a:solidFill>
                <a:latin typeface="Palatino Linotype"/>
                <a:cs typeface="Palatino Linotype"/>
              </a:rPr>
              <a:t>Register</a:t>
            </a:r>
            <a:r>
              <a:rPr sz="2200" spc="-120" dirty="0">
                <a:solidFill>
                  <a:srgbClr val="A6A6A6"/>
                </a:solidFill>
                <a:latin typeface="Palatino Linotype"/>
                <a:cs typeface="Palatino Linotype"/>
              </a:rPr>
              <a:t> </a:t>
            </a:r>
            <a:r>
              <a:rPr sz="2200" dirty="0">
                <a:solidFill>
                  <a:srgbClr val="A6A6A6"/>
                </a:solidFill>
                <a:latin typeface="Palatino Linotype"/>
                <a:cs typeface="Palatino Linotype"/>
              </a:rPr>
              <a:t>Allocation</a:t>
            </a:r>
            <a:r>
              <a:rPr sz="2200" spc="-65" dirty="0">
                <a:solidFill>
                  <a:srgbClr val="A6A6A6"/>
                </a:solidFill>
                <a:latin typeface="Palatino Linotype"/>
                <a:cs typeface="Palatino Linotype"/>
              </a:rPr>
              <a:t> </a:t>
            </a:r>
            <a:r>
              <a:rPr sz="2200" dirty="0">
                <a:solidFill>
                  <a:srgbClr val="A6A6A6"/>
                </a:solidFill>
                <a:latin typeface="Palatino Linotype"/>
                <a:cs typeface="Palatino Linotype"/>
              </a:rPr>
              <a:t>and</a:t>
            </a:r>
            <a:r>
              <a:rPr sz="2200" spc="-120" dirty="0">
                <a:solidFill>
                  <a:srgbClr val="A6A6A6"/>
                </a:solidFill>
                <a:latin typeface="Palatino Linotype"/>
                <a:cs typeface="Palatino Linotype"/>
              </a:rPr>
              <a:t> </a:t>
            </a:r>
            <a:r>
              <a:rPr sz="2200" spc="-10" dirty="0">
                <a:solidFill>
                  <a:srgbClr val="A6A6A6"/>
                </a:solidFill>
                <a:latin typeface="Palatino Linotype"/>
                <a:cs typeface="Palatino Linotype"/>
              </a:rPr>
              <a:t>Assignment</a:t>
            </a:r>
            <a:endParaRPr sz="2200">
              <a:solidFill>
                <a:sysClr val="windowText" lastClr="000000"/>
              </a:solidFill>
              <a:latin typeface="Palatino Linotype"/>
              <a:cs typeface="Palatino Linotype"/>
            </a:endParaRPr>
          </a:p>
        </p:txBody>
      </p:sp>
      <p:sp>
        <p:nvSpPr>
          <p:cNvPr id="13" name="object 5">
            <a:extLst>
              <a:ext uri="{FF2B5EF4-FFF2-40B4-BE49-F238E27FC236}">
                <a16:creationId xmlns:a16="http://schemas.microsoft.com/office/drawing/2014/main" id="{DEFB6C2E-EF71-85D6-43C5-A0CFFE54A280}"/>
              </a:ext>
            </a:extLst>
          </p:cNvPr>
          <p:cNvSpPr/>
          <p:nvPr/>
        </p:nvSpPr>
        <p:spPr>
          <a:xfrm>
            <a:off x="4475564" y="3031893"/>
            <a:ext cx="821690" cy="1248410"/>
          </a:xfrm>
          <a:custGeom>
            <a:avLst/>
            <a:gdLst/>
            <a:ahLst/>
            <a:cxnLst/>
            <a:rect l="l" t="t" r="r" b="b"/>
            <a:pathLst>
              <a:path w="821689" h="1248410">
                <a:moveTo>
                  <a:pt x="821507" y="0"/>
                </a:moveTo>
                <a:lnTo>
                  <a:pt x="0" y="1247922"/>
                </a:lnTo>
              </a:path>
            </a:pathLst>
          </a:custGeom>
          <a:ln w="12700">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4" name="object 6">
            <a:extLst>
              <a:ext uri="{FF2B5EF4-FFF2-40B4-BE49-F238E27FC236}">
                <a16:creationId xmlns:a16="http://schemas.microsoft.com/office/drawing/2014/main" id="{077F9782-969B-3ABB-3D2D-AFF6D050FAC0}"/>
              </a:ext>
            </a:extLst>
          </p:cNvPr>
          <p:cNvSpPr txBox="1"/>
          <p:nvPr/>
        </p:nvSpPr>
        <p:spPr>
          <a:xfrm>
            <a:off x="5319484" y="2494917"/>
            <a:ext cx="3491865" cy="1586865"/>
          </a:xfrm>
          <a:prstGeom prst="rect">
            <a:avLst/>
          </a:prstGeom>
          <a:solidFill>
            <a:srgbClr val="FFF2CC"/>
          </a:solidFill>
          <a:ln w="12700">
            <a:solidFill>
              <a:srgbClr val="000000"/>
            </a:solidFill>
          </a:ln>
        </p:spPr>
        <p:txBody>
          <a:bodyPr vert="horz" wrap="square" lIns="0" tIns="182880" rIns="0" bIns="0" rtlCol="0">
            <a:spAutoFit/>
          </a:bodyPr>
          <a:lstStyle/>
          <a:p>
            <a:pPr marL="90805" marR="130810">
              <a:lnSpc>
                <a:spcPct val="119600"/>
              </a:lnSpc>
              <a:spcBef>
                <a:spcPts val="1440"/>
              </a:spcBef>
            </a:pPr>
            <a:r>
              <a:rPr sz="1600" spc="-20" dirty="0">
                <a:solidFill>
                  <a:srgbClr val="0432FF"/>
                </a:solidFill>
                <a:latin typeface="Palatino Linotype"/>
                <a:cs typeface="Palatino Linotype"/>
              </a:rPr>
              <a:t>We</a:t>
            </a:r>
            <a:r>
              <a:rPr sz="1600" spc="-40" dirty="0">
                <a:solidFill>
                  <a:srgbClr val="0432FF"/>
                </a:solidFill>
                <a:latin typeface="Palatino Linotype"/>
                <a:cs typeface="Palatino Linotype"/>
              </a:rPr>
              <a:t> </a:t>
            </a:r>
            <a:r>
              <a:rPr sz="1600" dirty="0">
                <a:solidFill>
                  <a:srgbClr val="0432FF"/>
                </a:solidFill>
                <a:latin typeface="Palatino Linotype"/>
                <a:cs typeface="Palatino Linotype"/>
              </a:rPr>
              <a:t>can</a:t>
            </a:r>
            <a:r>
              <a:rPr sz="1600" spc="-30" dirty="0">
                <a:solidFill>
                  <a:srgbClr val="0432FF"/>
                </a:solidFill>
                <a:latin typeface="Palatino Linotype"/>
                <a:cs typeface="Palatino Linotype"/>
              </a:rPr>
              <a:t> </a:t>
            </a:r>
            <a:r>
              <a:rPr sz="1600" dirty="0">
                <a:solidFill>
                  <a:srgbClr val="0432FF"/>
                </a:solidFill>
                <a:latin typeface="Palatino Linotype"/>
                <a:cs typeface="Palatino Linotype"/>
              </a:rPr>
              <a:t>often</a:t>
            </a:r>
            <a:r>
              <a:rPr sz="1600" spc="-30" dirty="0">
                <a:solidFill>
                  <a:srgbClr val="0432FF"/>
                </a:solidFill>
                <a:latin typeface="Palatino Linotype"/>
                <a:cs typeface="Palatino Linotype"/>
              </a:rPr>
              <a:t> </a:t>
            </a:r>
            <a:r>
              <a:rPr sz="1600" dirty="0">
                <a:solidFill>
                  <a:srgbClr val="0432FF"/>
                </a:solidFill>
                <a:latin typeface="Palatino Linotype"/>
                <a:cs typeface="Palatino Linotype"/>
              </a:rPr>
              <a:t>obtain</a:t>
            </a:r>
            <a:r>
              <a:rPr sz="1600" spc="-30" dirty="0">
                <a:solidFill>
                  <a:srgbClr val="0432FF"/>
                </a:solidFill>
                <a:latin typeface="Palatino Linotype"/>
                <a:cs typeface="Palatino Linotype"/>
              </a:rPr>
              <a:t> </a:t>
            </a:r>
            <a:r>
              <a:rPr sz="1600" dirty="0">
                <a:solidFill>
                  <a:srgbClr val="0432FF"/>
                </a:solidFill>
                <a:latin typeface="Palatino Linotype"/>
                <a:cs typeface="Palatino Linotype"/>
              </a:rPr>
              <a:t>a</a:t>
            </a:r>
            <a:r>
              <a:rPr sz="1600" spc="-35" dirty="0">
                <a:solidFill>
                  <a:srgbClr val="0432FF"/>
                </a:solidFill>
                <a:latin typeface="Palatino Linotype"/>
                <a:cs typeface="Palatino Linotype"/>
              </a:rPr>
              <a:t> </a:t>
            </a:r>
            <a:r>
              <a:rPr sz="1600" spc="-10" dirty="0">
                <a:solidFill>
                  <a:srgbClr val="0432FF"/>
                </a:solidFill>
                <a:latin typeface="Palatino Linotype"/>
                <a:cs typeface="Palatino Linotype"/>
              </a:rPr>
              <a:t>substantial </a:t>
            </a:r>
            <a:r>
              <a:rPr sz="1600" dirty="0">
                <a:solidFill>
                  <a:srgbClr val="0432FF"/>
                </a:solidFill>
                <a:latin typeface="Palatino Linotype"/>
                <a:cs typeface="Palatino Linotype"/>
              </a:rPr>
              <a:t>improvement</a:t>
            </a:r>
            <a:r>
              <a:rPr sz="1600" spc="-30" dirty="0">
                <a:solidFill>
                  <a:srgbClr val="0432FF"/>
                </a:solidFill>
                <a:latin typeface="Palatino Linotype"/>
                <a:cs typeface="Palatino Linotype"/>
              </a:rPr>
              <a:t> </a:t>
            </a:r>
            <a:r>
              <a:rPr sz="1600" dirty="0">
                <a:solidFill>
                  <a:srgbClr val="0432FF"/>
                </a:solidFill>
                <a:latin typeface="Palatino Linotype"/>
                <a:cs typeface="Palatino Linotype"/>
              </a:rPr>
              <a:t>in</a:t>
            </a:r>
            <a:r>
              <a:rPr sz="1600" spc="-25" dirty="0">
                <a:solidFill>
                  <a:srgbClr val="0432FF"/>
                </a:solidFill>
                <a:latin typeface="Palatino Linotype"/>
                <a:cs typeface="Palatino Linotype"/>
              </a:rPr>
              <a:t> </a:t>
            </a:r>
            <a:r>
              <a:rPr sz="1600" dirty="0">
                <a:solidFill>
                  <a:srgbClr val="0432FF"/>
                </a:solidFill>
                <a:latin typeface="Palatino Linotype"/>
                <a:cs typeface="Palatino Linotype"/>
              </a:rPr>
              <a:t>the</a:t>
            </a:r>
            <a:r>
              <a:rPr sz="1600" spc="-30" dirty="0">
                <a:solidFill>
                  <a:srgbClr val="0432FF"/>
                </a:solidFill>
                <a:latin typeface="Palatino Linotype"/>
                <a:cs typeface="Palatino Linotype"/>
              </a:rPr>
              <a:t> </a:t>
            </a:r>
            <a:r>
              <a:rPr sz="1600" dirty="0">
                <a:solidFill>
                  <a:srgbClr val="0432FF"/>
                </a:solidFill>
                <a:latin typeface="Palatino Linotype"/>
                <a:cs typeface="Palatino Linotype"/>
              </a:rPr>
              <a:t>running</a:t>
            </a:r>
            <a:r>
              <a:rPr sz="1600" spc="-35" dirty="0">
                <a:solidFill>
                  <a:srgbClr val="0432FF"/>
                </a:solidFill>
                <a:latin typeface="Palatino Linotype"/>
                <a:cs typeface="Palatino Linotype"/>
              </a:rPr>
              <a:t> </a:t>
            </a:r>
            <a:r>
              <a:rPr sz="1600" dirty="0">
                <a:solidFill>
                  <a:srgbClr val="0432FF"/>
                </a:solidFill>
                <a:latin typeface="Palatino Linotype"/>
                <a:cs typeface="Palatino Linotype"/>
              </a:rPr>
              <a:t>time</a:t>
            </a:r>
            <a:r>
              <a:rPr sz="1600" spc="-30" dirty="0">
                <a:solidFill>
                  <a:srgbClr val="0432FF"/>
                </a:solidFill>
                <a:latin typeface="Palatino Linotype"/>
                <a:cs typeface="Palatino Linotype"/>
              </a:rPr>
              <a:t> </a:t>
            </a:r>
            <a:r>
              <a:rPr sz="1600" spc="-35" dirty="0">
                <a:solidFill>
                  <a:srgbClr val="0432FF"/>
                </a:solidFill>
                <a:latin typeface="Palatino Linotype"/>
                <a:cs typeface="Palatino Linotype"/>
              </a:rPr>
              <a:t>of </a:t>
            </a:r>
            <a:r>
              <a:rPr sz="1600" dirty="0">
                <a:solidFill>
                  <a:srgbClr val="0432FF"/>
                </a:solidFill>
                <a:latin typeface="Palatino Linotype"/>
                <a:cs typeface="Palatino Linotype"/>
              </a:rPr>
              <a:t>code</a:t>
            </a:r>
            <a:r>
              <a:rPr sz="1600" spc="-30" dirty="0">
                <a:solidFill>
                  <a:srgbClr val="0432FF"/>
                </a:solidFill>
                <a:latin typeface="Palatino Linotype"/>
                <a:cs typeface="Palatino Linotype"/>
              </a:rPr>
              <a:t> </a:t>
            </a:r>
            <a:r>
              <a:rPr sz="1600" dirty="0">
                <a:solidFill>
                  <a:srgbClr val="0432FF"/>
                </a:solidFill>
                <a:latin typeface="Palatino Linotype"/>
                <a:cs typeface="Palatino Linotype"/>
              </a:rPr>
              <a:t>merely</a:t>
            </a:r>
            <a:r>
              <a:rPr sz="1600" spc="-25" dirty="0">
                <a:solidFill>
                  <a:srgbClr val="0432FF"/>
                </a:solidFill>
                <a:latin typeface="Palatino Linotype"/>
                <a:cs typeface="Palatino Linotype"/>
              </a:rPr>
              <a:t> </a:t>
            </a:r>
            <a:r>
              <a:rPr sz="1600" dirty="0">
                <a:solidFill>
                  <a:srgbClr val="0432FF"/>
                </a:solidFill>
                <a:latin typeface="Palatino Linotype"/>
                <a:cs typeface="Palatino Linotype"/>
              </a:rPr>
              <a:t>by</a:t>
            </a:r>
            <a:r>
              <a:rPr sz="1600" spc="-30" dirty="0">
                <a:solidFill>
                  <a:srgbClr val="0432FF"/>
                </a:solidFill>
                <a:latin typeface="Palatino Linotype"/>
                <a:cs typeface="Palatino Linotype"/>
              </a:rPr>
              <a:t> </a:t>
            </a:r>
            <a:r>
              <a:rPr sz="1600" dirty="0">
                <a:solidFill>
                  <a:srgbClr val="0432FF"/>
                </a:solidFill>
                <a:latin typeface="Palatino Linotype"/>
                <a:cs typeface="Palatino Linotype"/>
              </a:rPr>
              <a:t>performing</a:t>
            </a:r>
            <a:r>
              <a:rPr sz="1600" spc="-25" dirty="0">
                <a:solidFill>
                  <a:srgbClr val="0432FF"/>
                </a:solidFill>
                <a:latin typeface="Palatino Linotype"/>
                <a:cs typeface="Palatino Linotype"/>
              </a:rPr>
              <a:t> </a:t>
            </a:r>
            <a:r>
              <a:rPr sz="1600" i="1" spc="-20" dirty="0">
                <a:solidFill>
                  <a:srgbClr val="FF0000"/>
                </a:solidFill>
                <a:latin typeface="Palatino Linotype"/>
                <a:cs typeface="Palatino Linotype"/>
              </a:rPr>
              <a:t>local </a:t>
            </a:r>
            <a:r>
              <a:rPr sz="1600" i="1" dirty="0">
                <a:solidFill>
                  <a:srgbClr val="FF0000"/>
                </a:solidFill>
                <a:latin typeface="Palatino Linotype"/>
                <a:cs typeface="Palatino Linotype"/>
              </a:rPr>
              <a:t>optimizations</a:t>
            </a:r>
            <a:r>
              <a:rPr sz="1600" i="1" spc="-45" dirty="0">
                <a:solidFill>
                  <a:srgbClr val="FF0000"/>
                </a:solidFill>
                <a:latin typeface="Palatino Linotype"/>
                <a:cs typeface="Palatino Linotype"/>
              </a:rPr>
              <a:t> </a:t>
            </a:r>
            <a:r>
              <a:rPr sz="1600" dirty="0">
                <a:solidFill>
                  <a:srgbClr val="0432FF"/>
                </a:solidFill>
                <a:latin typeface="Palatino Linotype"/>
                <a:cs typeface="Palatino Linotype"/>
              </a:rPr>
              <a:t>within</a:t>
            </a:r>
            <a:r>
              <a:rPr sz="1600" spc="-40" dirty="0">
                <a:solidFill>
                  <a:srgbClr val="0432FF"/>
                </a:solidFill>
                <a:latin typeface="Palatino Linotype"/>
                <a:cs typeface="Palatino Linotype"/>
              </a:rPr>
              <a:t> </a:t>
            </a:r>
            <a:r>
              <a:rPr sz="1600" dirty="0">
                <a:solidFill>
                  <a:srgbClr val="0432FF"/>
                </a:solidFill>
                <a:latin typeface="Palatino Linotype"/>
                <a:cs typeface="Palatino Linotype"/>
              </a:rPr>
              <a:t>each</a:t>
            </a:r>
            <a:r>
              <a:rPr sz="1600" spc="-40" dirty="0">
                <a:solidFill>
                  <a:srgbClr val="0432FF"/>
                </a:solidFill>
                <a:latin typeface="Palatino Linotype"/>
                <a:cs typeface="Palatino Linotype"/>
              </a:rPr>
              <a:t> </a:t>
            </a:r>
            <a:r>
              <a:rPr sz="1600" dirty="0">
                <a:solidFill>
                  <a:srgbClr val="0432FF"/>
                </a:solidFill>
                <a:latin typeface="Palatino Linotype"/>
                <a:cs typeface="Palatino Linotype"/>
              </a:rPr>
              <a:t>basic</a:t>
            </a:r>
            <a:r>
              <a:rPr sz="1600" spc="-45" dirty="0">
                <a:solidFill>
                  <a:srgbClr val="0432FF"/>
                </a:solidFill>
                <a:latin typeface="Palatino Linotype"/>
                <a:cs typeface="Palatino Linotype"/>
              </a:rPr>
              <a:t> </a:t>
            </a:r>
            <a:r>
              <a:rPr sz="1600" spc="-10" dirty="0">
                <a:solidFill>
                  <a:srgbClr val="0432FF"/>
                </a:solidFill>
                <a:latin typeface="Palatino Linotype"/>
                <a:cs typeface="Palatino Linotype"/>
              </a:rPr>
              <a:t>block</a:t>
            </a:r>
            <a:endParaRPr sz="1600">
              <a:solidFill>
                <a:sysClr val="windowText" lastClr="000000"/>
              </a:solidFill>
              <a:latin typeface="Palatino Linotype"/>
              <a:cs typeface="Palatino Linotype"/>
            </a:endParaRPr>
          </a:p>
        </p:txBody>
      </p:sp>
    </p:spTree>
    <p:extLst>
      <p:ext uri="{BB962C8B-B14F-4D97-AF65-F5344CB8AC3E}">
        <p14:creationId xmlns:p14="http://schemas.microsoft.com/office/powerpoint/2010/main" val="168266068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47</a:t>
            </a:fld>
            <a:endParaRPr lang="en-US"/>
          </a:p>
        </p:txBody>
      </p:sp>
      <p:pic>
        <p:nvPicPr>
          <p:cNvPr id="9" name="object 2">
            <a:extLst>
              <a:ext uri="{FF2B5EF4-FFF2-40B4-BE49-F238E27FC236}">
                <a16:creationId xmlns:a16="http://schemas.microsoft.com/office/drawing/2014/main" id="{2CB731A9-3A5C-D187-A04B-096F9106A00C}"/>
              </a:ext>
            </a:extLst>
          </p:cNvPr>
          <p:cNvPicPr/>
          <p:nvPr/>
        </p:nvPicPr>
        <p:blipFill>
          <a:blip r:embed="rId3" cstate="print"/>
          <a:stretch>
            <a:fillRect/>
          </a:stretch>
        </p:blipFill>
        <p:spPr>
          <a:xfrm>
            <a:off x="4783181" y="4730006"/>
            <a:ext cx="2097666" cy="1514608"/>
          </a:xfrm>
          <a:prstGeom prst="rect">
            <a:avLst/>
          </a:prstGeom>
        </p:spPr>
      </p:pic>
      <p:sp>
        <p:nvSpPr>
          <p:cNvPr id="10" name="object 3">
            <a:extLst>
              <a:ext uri="{FF2B5EF4-FFF2-40B4-BE49-F238E27FC236}">
                <a16:creationId xmlns:a16="http://schemas.microsoft.com/office/drawing/2014/main" id="{F857C678-9419-5446-8B61-8EF35E4A0B68}"/>
              </a:ext>
            </a:extLst>
          </p:cNvPr>
          <p:cNvSpPr txBox="1">
            <a:spLocks/>
          </p:cNvSpPr>
          <p:nvPr/>
        </p:nvSpPr>
        <p:spPr>
          <a:xfrm>
            <a:off x="1295400" y="247395"/>
            <a:ext cx="6553200" cy="124460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833880" marR="5080" lvl="0" indent="-1821814" defTabSz="914400" eaLnBrk="1" fontAlgn="auto" latinLnBrk="0" hangingPunct="1">
              <a:lnSpc>
                <a:spcPct val="100000"/>
              </a:lnSpc>
              <a:spcBef>
                <a:spcPts val="100"/>
              </a:spcBef>
              <a:spcAft>
                <a:spcPts val="0"/>
              </a:spcAft>
              <a:buClrTx/>
              <a:buSzTx/>
              <a:buFontTx/>
              <a:buNone/>
              <a:tabLst/>
              <a:defRPr/>
            </a:pPr>
            <a:r>
              <a:rPr kumimoji="0" lang="en-US" sz="4000" b="1" i="0" u="none" strike="noStrike" kern="0" cap="none" spc="0" normalizeH="0" baseline="0" noProof="0">
                <a:ln>
                  <a:noFill/>
                </a:ln>
                <a:solidFill>
                  <a:sysClr val="windowText" lastClr="000000"/>
                </a:solidFill>
                <a:effectLst/>
                <a:uLnTx/>
                <a:uFillTx/>
                <a:latin typeface="Palatino Linotype"/>
                <a:ea typeface="+mj-ea"/>
              </a:rPr>
              <a:t>The</a:t>
            </a:r>
            <a:r>
              <a:rPr kumimoji="0" lang="en-US" sz="4000" b="1" i="0" u="none" strike="noStrike" kern="0" cap="none" spc="-80" normalizeH="0" baseline="0" noProof="0">
                <a:ln>
                  <a:noFill/>
                </a:ln>
                <a:solidFill>
                  <a:sysClr val="windowText" lastClr="000000"/>
                </a:solidFill>
                <a:effectLst/>
                <a:uLnTx/>
                <a:uFillTx/>
                <a:latin typeface="Palatino Linotype"/>
                <a:ea typeface="+mj-ea"/>
              </a:rPr>
              <a:t> </a:t>
            </a:r>
            <a:r>
              <a:rPr kumimoji="0" lang="en-US" sz="4000" b="1" i="0" u="none" strike="noStrike" kern="0" cap="none" spc="0" normalizeH="0" baseline="0" noProof="0">
                <a:ln>
                  <a:noFill/>
                </a:ln>
                <a:solidFill>
                  <a:sysClr val="windowText" lastClr="000000"/>
                </a:solidFill>
                <a:effectLst/>
                <a:uLnTx/>
                <a:uFillTx/>
                <a:latin typeface="Palatino Linotype"/>
                <a:ea typeface="+mj-ea"/>
              </a:rPr>
              <a:t>DAG</a:t>
            </a:r>
            <a:r>
              <a:rPr kumimoji="0" lang="en-US" sz="4000" b="1" i="0" u="none" strike="noStrike" kern="0" cap="none" spc="-70" normalizeH="0" baseline="0" noProof="0">
                <a:ln>
                  <a:noFill/>
                </a:ln>
                <a:solidFill>
                  <a:sysClr val="windowText" lastClr="000000"/>
                </a:solidFill>
                <a:effectLst/>
                <a:uLnTx/>
                <a:uFillTx/>
                <a:latin typeface="Palatino Linotype"/>
                <a:ea typeface="+mj-ea"/>
              </a:rPr>
              <a:t> </a:t>
            </a:r>
            <a:r>
              <a:rPr kumimoji="0" lang="en-US" sz="4000" b="1" i="0" u="none" strike="noStrike" kern="0" cap="none" spc="0" normalizeH="0" baseline="0" noProof="0">
                <a:ln>
                  <a:noFill/>
                </a:ln>
                <a:solidFill>
                  <a:sysClr val="windowText" lastClr="000000"/>
                </a:solidFill>
                <a:effectLst/>
                <a:uLnTx/>
                <a:uFillTx/>
                <a:latin typeface="Palatino Linotype"/>
                <a:ea typeface="+mj-ea"/>
              </a:rPr>
              <a:t>Representation</a:t>
            </a:r>
            <a:r>
              <a:rPr kumimoji="0" lang="en-US" sz="4000" b="1" i="0" u="none" strike="noStrike" kern="0" cap="none" spc="-90" normalizeH="0" baseline="0" noProof="0">
                <a:ln>
                  <a:noFill/>
                </a:ln>
                <a:solidFill>
                  <a:sysClr val="windowText" lastClr="000000"/>
                </a:solidFill>
                <a:effectLst/>
                <a:uLnTx/>
                <a:uFillTx/>
                <a:latin typeface="Palatino Linotype"/>
                <a:ea typeface="+mj-ea"/>
              </a:rPr>
              <a:t> </a:t>
            </a:r>
            <a:r>
              <a:rPr kumimoji="0" lang="en-US" sz="4000" b="1" i="0" u="none" strike="noStrike" kern="0" cap="none" spc="-35" normalizeH="0" baseline="0" noProof="0">
                <a:ln>
                  <a:noFill/>
                </a:ln>
                <a:solidFill>
                  <a:sysClr val="windowText" lastClr="000000"/>
                </a:solidFill>
                <a:effectLst/>
                <a:uLnTx/>
                <a:uFillTx/>
                <a:latin typeface="Palatino Linotype"/>
                <a:ea typeface="+mj-ea"/>
              </a:rPr>
              <a:t>of </a:t>
            </a:r>
            <a:r>
              <a:rPr kumimoji="0" lang="en-US" sz="4000" b="1" i="0" u="none" strike="noStrike" kern="0" cap="none" spc="0" normalizeH="0" baseline="0" noProof="0">
                <a:ln>
                  <a:noFill/>
                </a:ln>
                <a:solidFill>
                  <a:sysClr val="windowText" lastClr="000000"/>
                </a:solidFill>
                <a:effectLst/>
                <a:uLnTx/>
                <a:uFillTx/>
                <a:latin typeface="Palatino Linotype"/>
                <a:ea typeface="+mj-ea"/>
              </a:rPr>
              <a:t>Basic</a:t>
            </a:r>
            <a:r>
              <a:rPr kumimoji="0" lang="en-US" sz="4000" b="1" i="0" u="none" strike="noStrike" kern="0" cap="none" spc="-25" normalizeH="0" baseline="0" noProof="0">
                <a:ln>
                  <a:noFill/>
                </a:ln>
                <a:solidFill>
                  <a:sysClr val="windowText" lastClr="000000"/>
                </a:solidFill>
                <a:effectLst/>
                <a:uLnTx/>
                <a:uFillTx/>
                <a:latin typeface="Palatino Linotype"/>
                <a:ea typeface="+mj-ea"/>
              </a:rPr>
              <a:t> </a:t>
            </a:r>
            <a:r>
              <a:rPr kumimoji="0" lang="en-US" sz="4000" b="1" i="0" u="none" strike="noStrike" kern="0" cap="none" spc="-10" normalizeH="0" baseline="0" noProof="0">
                <a:ln>
                  <a:noFill/>
                </a:ln>
                <a:solidFill>
                  <a:sysClr val="windowText" lastClr="000000"/>
                </a:solidFill>
                <a:effectLst/>
                <a:uLnTx/>
                <a:uFillTx/>
                <a:latin typeface="Palatino Linotype"/>
                <a:ea typeface="+mj-ea"/>
              </a:rPr>
              <a:t>Blocks</a:t>
            </a:r>
            <a:endParaRPr kumimoji="0" lang="en-US" sz="4000" b="1" i="0" u="none" strike="noStrike" kern="0" cap="none" spc="-10" normalizeH="0" baseline="0" noProof="0" dirty="0">
              <a:ln>
                <a:noFill/>
              </a:ln>
              <a:solidFill>
                <a:sysClr val="windowText" lastClr="000000"/>
              </a:solidFill>
              <a:effectLst/>
              <a:uLnTx/>
              <a:uFillTx/>
              <a:latin typeface="Palatino Linotype"/>
              <a:ea typeface="+mj-ea"/>
            </a:endParaRPr>
          </a:p>
        </p:txBody>
      </p:sp>
      <p:sp>
        <p:nvSpPr>
          <p:cNvPr id="11" name="object 4">
            <a:extLst>
              <a:ext uri="{FF2B5EF4-FFF2-40B4-BE49-F238E27FC236}">
                <a16:creationId xmlns:a16="http://schemas.microsoft.com/office/drawing/2014/main" id="{C7BED19F-2D7D-BAA7-ED5E-697456F7B1FB}"/>
              </a:ext>
            </a:extLst>
          </p:cNvPr>
          <p:cNvSpPr txBox="1"/>
          <p:nvPr/>
        </p:nvSpPr>
        <p:spPr>
          <a:xfrm>
            <a:off x="707390" y="1732787"/>
            <a:ext cx="7229475" cy="2822575"/>
          </a:xfrm>
          <a:prstGeom prst="rect">
            <a:avLst/>
          </a:prstGeom>
        </p:spPr>
        <p:txBody>
          <a:bodyPr vert="horz" wrap="square" lIns="0" tIns="8255" rIns="0" bIns="0" rtlCol="0">
            <a:spAutoFit/>
          </a:bodyPr>
          <a:lstStyle/>
          <a:p>
            <a:pPr marL="242570" marR="5080" indent="-230504">
              <a:lnSpc>
                <a:spcPct val="118500"/>
              </a:lnSpc>
              <a:spcBef>
                <a:spcPts val="65"/>
              </a:spcBef>
              <a:buFont typeface="Arial MT"/>
              <a:buChar char="•"/>
              <a:tabLst>
                <a:tab pos="242570" algn="l"/>
              </a:tabLst>
            </a:pPr>
            <a:r>
              <a:rPr sz="2000" dirty="0">
                <a:solidFill>
                  <a:sysClr val="windowText" lastClr="000000"/>
                </a:solidFill>
                <a:latin typeface="Palatino Linotype"/>
                <a:cs typeface="Palatino Linotype"/>
              </a:rPr>
              <a:t>The</a:t>
            </a:r>
            <a:r>
              <a:rPr sz="2000" spc="-30" dirty="0">
                <a:solidFill>
                  <a:sysClr val="windowText" lastClr="000000"/>
                </a:solidFill>
                <a:latin typeface="Palatino Linotype"/>
                <a:cs typeface="Palatino Linotype"/>
              </a:rPr>
              <a:t> </a:t>
            </a:r>
            <a:r>
              <a:rPr sz="2000" dirty="0">
                <a:solidFill>
                  <a:srgbClr val="FF0000"/>
                </a:solidFill>
                <a:latin typeface="Palatino Linotype"/>
                <a:cs typeface="Palatino Linotype"/>
              </a:rPr>
              <a:t>DAG</a:t>
            </a:r>
            <a:r>
              <a:rPr sz="2000" spc="-35" dirty="0">
                <a:solidFill>
                  <a:srgbClr val="FF0000"/>
                </a:solidFill>
                <a:latin typeface="Palatino Linotype"/>
                <a:cs typeface="Palatino Linotype"/>
              </a:rPr>
              <a:t> </a:t>
            </a:r>
            <a:r>
              <a:rPr sz="2000" dirty="0">
                <a:solidFill>
                  <a:srgbClr val="FF0000"/>
                </a:solidFill>
                <a:latin typeface="Palatino Linotype"/>
                <a:cs typeface="Palatino Linotype"/>
              </a:rPr>
              <a:t>(directed</a:t>
            </a:r>
            <a:r>
              <a:rPr sz="2000" spc="-30" dirty="0">
                <a:solidFill>
                  <a:srgbClr val="FF0000"/>
                </a:solidFill>
                <a:latin typeface="Palatino Linotype"/>
                <a:cs typeface="Palatino Linotype"/>
              </a:rPr>
              <a:t> </a:t>
            </a:r>
            <a:r>
              <a:rPr sz="2000" dirty="0">
                <a:solidFill>
                  <a:srgbClr val="FF0000"/>
                </a:solidFill>
                <a:latin typeface="Palatino Linotype"/>
                <a:cs typeface="Palatino Linotype"/>
              </a:rPr>
              <a:t>acyclic</a:t>
            </a:r>
            <a:r>
              <a:rPr sz="2000" spc="-35" dirty="0">
                <a:solidFill>
                  <a:srgbClr val="FF0000"/>
                </a:solidFill>
                <a:latin typeface="Palatino Linotype"/>
                <a:cs typeface="Palatino Linotype"/>
              </a:rPr>
              <a:t> </a:t>
            </a:r>
            <a:r>
              <a:rPr sz="2000" dirty="0">
                <a:solidFill>
                  <a:srgbClr val="FF0000"/>
                </a:solidFill>
                <a:latin typeface="Palatino Linotype"/>
                <a:cs typeface="Palatino Linotype"/>
              </a:rPr>
              <a:t>graph)</a:t>
            </a:r>
            <a:r>
              <a:rPr sz="2000" spc="-35" dirty="0">
                <a:solidFill>
                  <a:srgbClr val="FF0000"/>
                </a:solidFill>
                <a:latin typeface="Palatino Linotype"/>
                <a:cs typeface="Palatino Linotype"/>
              </a:rPr>
              <a:t> </a:t>
            </a:r>
            <a:r>
              <a:rPr sz="2000" dirty="0">
                <a:solidFill>
                  <a:sysClr val="windowText" lastClr="000000"/>
                </a:solidFill>
                <a:latin typeface="Palatino Linotype"/>
                <a:cs typeface="Palatino Linotype"/>
              </a:rPr>
              <a:t>of</a:t>
            </a:r>
            <a:r>
              <a:rPr sz="2000" spc="-3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a</a:t>
            </a:r>
            <a:r>
              <a:rPr sz="2000" spc="-2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basic</a:t>
            </a:r>
            <a:r>
              <a:rPr sz="2000" spc="-3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block</a:t>
            </a:r>
            <a:r>
              <a:rPr sz="2000" spc="-3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depicts</a:t>
            </a:r>
            <a:r>
              <a:rPr sz="2000" spc="-30" dirty="0">
                <a:solidFill>
                  <a:sysClr val="windowText" lastClr="000000"/>
                </a:solidFill>
                <a:latin typeface="Palatino Linotype"/>
                <a:cs typeface="Palatino Linotype"/>
              </a:rPr>
              <a:t> </a:t>
            </a:r>
            <a:r>
              <a:rPr sz="2000" spc="-25" dirty="0">
                <a:solidFill>
                  <a:sysClr val="windowText" lastClr="000000"/>
                </a:solidFill>
                <a:latin typeface="Palatino Linotype"/>
                <a:cs typeface="Palatino Linotype"/>
              </a:rPr>
              <a:t>the </a:t>
            </a:r>
            <a:r>
              <a:rPr sz="2000" u="sng" dirty="0">
                <a:solidFill>
                  <a:sysClr val="windowText" lastClr="000000"/>
                </a:solidFill>
                <a:uFill>
                  <a:solidFill>
                    <a:srgbClr val="000000"/>
                  </a:solidFill>
                </a:uFill>
                <a:latin typeface="Palatino Linotype"/>
                <a:cs typeface="Palatino Linotype"/>
              </a:rPr>
              <a:t>relationships</a:t>
            </a:r>
            <a:r>
              <a:rPr sz="2000" u="sng" spc="-40" dirty="0">
                <a:solidFill>
                  <a:sysClr val="windowText" lastClr="000000"/>
                </a:solidFill>
                <a:uFill>
                  <a:solidFill>
                    <a:srgbClr val="000000"/>
                  </a:solidFill>
                </a:uFill>
                <a:latin typeface="Palatino Linotype"/>
                <a:cs typeface="Palatino Linotype"/>
              </a:rPr>
              <a:t> </a:t>
            </a:r>
            <a:r>
              <a:rPr sz="2000" u="sng" dirty="0">
                <a:solidFill>
                  <a:sysClr val="windowText" lastClr="000000"/>
                </a:solidFill>
                <a:uFill>
                  <a:solidFill>
                    <a:srgbClr val="000000"/>
                  </a:solidFill>
                </a:uFill>
                <a:latin typeface="Palatino Linotype"/>
                <a:cs typeface="Palatino Linotype"/>
              </a:rPr>
              <a:t>among</a:t>
            </a:r>
            <a:r>
              <a:rPr sz="2000" u="sng" spc="-35" dirty="0">
                <a:solidFill>
                  <a:sysClr val="windowText" lastClr="000000"/>
                </a:solidFill>
                <a:uFill>
                  <a:solidFill>
                    <a:srgbClr val="000000"/>
                  </a:solidFill>
                </a:uFill>
                <a:latin typeface="Palatino Linotype"/>
                <a:cs typeface="Palatino Linotype"/>
              </a:rPr>
              <a:t> </a:t>
            </a:r>
            <a:r>
              <a:rPr sz="2000" u="sng" dirty="0">
                <a:solidFill>
                  <a:sysClr val="windowText" lastClr="000000"/>
                </a:solidFill>
                <a:uFill>
                  <a:solidFill>
                    <a:srgbClr val="000000"/>
                  </a:solidFill>
                </a:uFill>
                <a:latin typeface="Palatino Linotype"/>
                <a:cs typeface="Palatino Linotype"/>
              </a:rPr>
              <a:t>the</a:t>
            </a:r>
            <a:r>
              <a:rPr sz="2000" u="sng" spc="-35" dirty="0">
                <a:solidFill>
                  <a:sysClr val="windowText" lastClr="000000"/>
                </a:solidFill>
                <a:uFill>
                  <a:solidFill>
                    <a:srgbClr val="000000"/>
                  </a:solidFill>
                </a:uFill>
                <a:latin typeface="Palatino Linotype"/>
                <a:cs typeface="Palatino Linotype"/>
              </a:rPr>
              <a:t> </a:t>
            </a:r>
            <a:r>
              <a:rPr sz="2000" u="sng" dirty="0">
                <a:solidFill>
                  <a:sysClr val="windowText" lastClr="000000"/>
                </a:solidFill>
                <a:uFill>
                  <a:solidFill>
                    <a:srgbClr val="000000"/>
                  </a:solidFill>
                </a:uFill>
                <a:latin typeface="Palatino Linotype"/>
                <a:cs typeface="Palatino Linotype"/>
              </a:rPr>
              <a:t>values</a:t>
            </a:r>
            <a:r>
              <a:rPr sz="2000" u="sng" spc="-40" dirty="0">
                <a:solidFill>
                  <a:sysClr val="windowText" lastClr="000000"/>
                </a:solidFill>
                <a:uFill>
                  <a:solidFill>
                    <a:srgbClr val="000000"/>
                  </a:solidFill>
                </a:uFill>
                <a:latin typeface="Palatino Linotype"/>
                <a:cs typeface="Palatino Linotype"/>
              </a:rPr>
              <a:t> </a:t>
            </a:r>
            <a:r>
              <a:rPr sz="2000" u="sng" dirty="0">
                <a:solidFill>
                  <a:sysClr val="windowText" lastClr="000000"/>
                </a:solidFill>
                <a:uFill>
                  <a:solidFill>
                    <a:srgbClr val="000000"/>
                  </a:solidFill>
                </a:uFill>
                <a:latin typeface="Palatino Linotype"/>
                <a:cs typeface="Palatino Linotype"/>
              </a:rPr>
              <a:t>of</a:t>
            </a:r>
            <a:r>
              <a:rPr sz="2000" u="sng" spc="-40" dirty="0">
                <a:solidFill>
                  <a:sysClr val="windowText" lastClr="000000"/>
                </a:solidFill>
                <a:uFill>
                  <a:solidFill>
                    <a:srgbClr val="000000"/>
                  </a:solidFill>
                </a:uFill>
                <a:latin typeface="Palatino Linotype"/>
                <a:cs typeface="Palatino Linotype"/>
              </a:rPr>
              <a:t> </a:t>
            </a:r>
            <a:r>
              <a:rPr sz="2000" u="sng" dirty="0">
                <a:solidFill>
                  <a:sysClr val="windowText" lastClr="000000"/>
                </a:solidFill>
                <a:uFill>
                  <a:solidFill>
                    <a:srgbClr val="000000"/>
                  </a:solidFill>
                </a:uFill>
                <a:latin typeface="Palatino Linotype"/>
                <a:cs typeface="Palatino Linotype"/>
              </a:rPr>
              <a:t>all</a:t>
            </a:r>
            <a:r>
              <a:rPr sz="2000" u="sng" spc="-30" dirty="0">
                <a:solidFill>
                  <a:sysClr val="windowText" lastClr="000000"/>
                </a:solidFill>
                <a:uFill>
                  <a:solidFill>
                    <a:srgbClr val="000000"/>
                  </a:solidFill>
                </a:uFill>
                <a:latin typeface="Palatino Linotype"/>
                <a:cs typeface="Palatino Linotype"/>
              </a:rPr>
              <a:t> </a:t>
            </a:r>
            <a:r>
              <a:rPr sz="2000" u="sng" dirty="0">
                <a:solidFill>
                  <a:sysClr val="windowText" lastClr="000000"/>
                </a:solidFill>
                <a:uFill>
                  <a:solidFill>
                    <a:srgbClr val="000000"/>
                  </a:solidFill>
                </a:uFill>
                <a:latin typeface="Palatino Linotype"/>
                <a:cs typeface="Palatino Linotype"/>
              </a:rPr>
              <a:t>variables</a:t>
            </a:r>
            <a:r>
              <a:rPr sz="2000" spc="-3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in</a:t>
            </a:r>
            <a:r>
              <a:rPr sz="2000" spc="-4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a</a:t>
            </a:r>
            <a:r>
              <a:rPr sz="2000" spc="-3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basic</a:t>
            </a:r>
            <a:r>
              <a:rPr sz="2000" spc="-40" dirty="0">
                <a:solidFill>
                  <a:sysClr val="windowText" lastClr="000000"/>
                </a:solidFill>
                <a:latin typeface="Palatino Linotype"/>
                <a:cs typeface="Palatino Linotype"/>
              </a:rPr>
              <a:t> </a:t>
            </a:r>
            <a:r>
              <a:rPr sz="2000" spc="-10" dirty="0">
                <a:solidFill>
                  <a:sysClr val="windowText" lastClr="000000"/>
                </a:solidFill>
                <a:latin typeface="Palatino Linotype"/>
                <a:cs typeface="Palatino Linotype"/>
              </a:rPr>
              <a:t>block </a:t>
            </a:r>
            <a:r>
              <a:rPr sz="2000" dirty="0">
                <a:solidFill>
                  <a:sysClr val="windowText" lastClr="000000"/>
                </a:solidFill>
                <a:latin typeface="Palatino Linotype"/>
                <a:cs typeface="Palatino Linotype"/>
              </a:rPr>
              <a:t>when</a:t>
            </a:r>
            <a:r>
              <a:rPr sz="2000" spc="-3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it</a:t>
            </a:r>
            <a:r>
              <a:rPr sz="2000" spc="-3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executes</a:t>
            </a:r>
            <a:r>
              <a:rPr sz="2000" spc="-3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a:t>
            </a:r>
            <a:r>
              <a:rPr sz="2000" dirty="0">
                <a:solidFill>
                  <a:srgbClr val="0432FF"/>
                </a:solidFill>
                <a:latin typeface="Palatino Linotype"/>
                <a:cs typeface="Palatino Linotype"/>
              </a:rPr>
              <a:t>data</a:t>
            </a:r>
            <a:r>
              <a:rPr sz="2000" spc="-30" dirty="0">
                <a:solidFill>
                  <a:srgbClr val="0432FF"/>
                </a:solidFill>
                <a:latin typeface="Palatino Linotype"/>
                <a:cs typeface="Palatino Linotype"/>
              </a:rPr>
              <a:t> </a:t>
            </a:r>
            <a:r>
              <a:rPr sz="2000" spc="-10" dirty="0">
                <a:solidFill>
                  <a:srgbClr val="0432FF"/>
                </a:solidFill>
                <a:latin typeface="Palatino Linotype"/>
                <a:cs typeface="Palatino Linotype"/>
              </a:rPr>
              <a:t>dependence</a:t>
            </a:r>
            <a:r>
              <a:rPr sz="2000" spc="-10" dirty="0">
                <a:solidFill>
                  <a:sysClr val="windowText" lastClr="000000"/>
                </a:solidFill>
                <a:latin typeface="Palatino Linotype"/>
                <a:cs typeface="Palatino Linotype"/>
              </a:rPr>
              <a:t>)</a:t>
            </a:r>
            <a:endParaRPr sz="2000">
              <a:solidFill>
                <a:sysClr val="windowText" lastClr="000000"/>
              </a:solidFill>
              <a:latin typeface="Palatino Linotype"/>
              <a:cs typeface="Palatino Linotype"/>
            </a:endParaRPr>
          </a:p>
          <a:p>
            <a:pPr marL="242570" indent="-229870">
              <a:spcBef>
                <a:spcPts val="2300"/>
              </a:spcBef>
              <a:buClr>
                <a:srgbClr val="000000"/>
              </a:buClr>
              <a:buFont typeface="Arial MT"/>
              <a:buChar char="•"/>
              <a:tabLst>
                <a:tab pos="242570" algn="l"/>
              </a:tabLst>
            </a:pPr>
            <a:r>
              <a:rPr sz="2000" dirty="0">
                <a:solidFill>
                  <a:srgbClr val="FF0000"/>
                </a:solidFill>
                <a:latin typeface="Palatino Linotype"/>
                <a:cs typeface="Palatino Linotype"/>
              </a:rPr>
              <a:t>DAG</a:t>
            </a:r>
            <a:r>
              <a:rPr sz="2000" spc="-55" dirty="0">
                <a:solidFill>
                  <a:srgbClr val="FF0000"/>
                </a:solidFill>
                <a:latin typeface="Palatino Linotype"/>
                <a:cs typeface="Palatino Linotype"/>
              </a:rPr>
              <a:t> </a:t>
            </a:r>
            <a:r>
              <a:rPr sz="2000" dirty="0">
                <a:solidFill>
                  <a:srgbClr val="FF0000"/>
                </a:solidFill>
                <a:latin typeface="Palatino Linotype"/>
                <a:cs typeface="Palatino Linotype"/>
              </a:rPr>
              <a:t>enables</a:t>
            </a:r>
            <a:r>
              <a:rPr sz="2000" spc="-50" dirty="0">
                <a:solidFill>
                  <a:srgbClr val="FF0000"/>
                </a:solidFill>
                <a:latin typeface="Palatino Linotype"/>
                <a:cs typeface="Palatino Linotype"/>
              </a:rPr>
              <a:t> </a:t>
            </a:r>
            <a:r>
              <a:rPr sz="2000" dirty="0">
                <a:solidFill>
                  <a:srgbClr val="FF0000"/>
                </a:solidFill>
                <a:latin typeface="Palatino Linotype"/>
                <a:cs typeface="Palatino Linotype"/>
              </a:rPr>
              <a:t>several</a:t>
            </a:r>
            <a:r>
              <a:rPr sz="2000" spc="-45" dirty="0">
                <a:solidFill>
                  <a:srgbClr val="FF0000"/>
                </a:solidFill>
                <a:latin typeface="Palatino Linotype"/>
                <a:cs typeface="Palatino Linotype"/>
              </a:rPr>
              <a:t> </a:t>
            </a:r>
            <a:r>
              <a:rPr sz="2000" spc="-10" dirty="0">
                <a:solidFill>
                  <a:srgbClr val="FF0000"/>
                </a:solidFill>
                <a:latin typeface="Palatino Linotype"/>
                <a:cs typeface="Palatino Linotype"/>
              </a:rPr>
              <a:t>code-</a:t>
            </a:r>
            <a:r>
              <a:rPr sz="2000" dirty="0">
                <a:solidFill>
                  <a:srgbClr val="FF0000"/>
                </a:solidFill>
                <a:latin typeface="Palatino Linotype"/>
                <a:cs typeface="Palatino Linotype"/>
              </a:rPr>
              <a:t>improving</a:t>
            </a:r>
            <a:r>
              <a:rPr sz="2000" spc="-50" dirty="0">
                <a:solidFill>
                  <a:srgbClr val="FF0000"/>
                </a:solidFill>
                <a:latin typeface="Palatino Linotype"/>
                <a:cs typeface="Palatino Linotype"/>
              </a:rPr>
              <a:t> </a:t>
            </a:r>
            <a:r>
              <a:rPr sz="2000" spc="-10" dirty="0">
                <a:solidFill>
                  <a:srgbClr val="FF0000"/>
                </a:solidFill>
                <a:latin typeface="Palatino Linotype"/>
                <a:cs typeface="Palatino Linotype"/>
              </a:rPr>
              <a:t>transformations:</a:t>
            </a:r>
            <a:endParaRPr sz="2000">
              <a:solidFill>
                <a:sysClr val="windowText" lastClr="000000"/>
              </a:solidFill>
              <a:latin typeface="Palatino Linotype"/>
              <a:cs typeface="Palatino Linotype"/>
            </a:endParaRPr>
          </a:p>
          <a:p>
            <a:pPr marL="697865" lvl="1" indent="-227965">
              <a:spcBef>
                <a:spcPts val="1000"/>
              </a:spcBef>
              <a:buFont typeface="Wingdings"/>
              <a:buChar char=""/>
              <a:tabLst>
                <a:tab pos="697865" algn="l"/>
              </a:tabLst>
            </a:pPr>
            <a:r>
              <a:rPr sz="1600" dirty="0">
                <a:solidFill>
                  <a:sysClr val="windowText" lastClr="000000"/>
                </a:solidFill>
                <a:latin typeface="Palatino Linotype"/>
                <a:cs typeface="Palatino Linotype"/>
              </a:rPr>
              <a:t>Eliminate</a:t>
            </a:r>
            <a:r>
              <a:rPr sz="1600" spc="-50"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local</a:t>
            </a:r>
            <a:r>
              <a:rPr sz="1600" spc="-45"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common</a:t>
            </a:r>
            <a:r>
              <a:rPr sz="1600" spc="-35"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subexpressions</a:t>
            </a:r>
            <a:r>
              <a:rPr sz="1600" spc="-30" dirty="0">
                <a:solidFill>
                  <a:sysClr val="windowText" lastClr="000000"/>
                </a:solidFill>
                <a:latin typeface="Palatino Linotype"/>
                <a:cs typeface="Palatino Linotype"/>
              </a:rPr>
              <a:t> (</a:t>
            </a:r>
            <a:r>
              <a:rPr sz="1600" dirty="0">
                <a:solidFill>
                  <a:srgbClr val="0432FF"/>
                </a:solidFill>
                <a:latin typeface="SimSun"/>
                <a:cs typeface="SimSun"/>
              </a:rPr>
              <a:t>局部公共子表达式</a:t>
            </a:r>
            <a:r>
              <a:rPr sz="1600" spc="-50" dirty="0">
                <a:solidFill>
                  <a:sysClr val="windowText" lastClr="000000"/>
                </a:solidFill>
                <a:latin typeface="Palatino Linotype"/>
                <a:cs typeface="Palatino Linotype"/>
              </a:rPr>
              <a:t>)</a:t>
            </a:r>
            <a:endParaRPr sz="1600">
              <a:solidFill>
                <a:sysClr val="windowText" lastClr="000000"/>
              </a:solidFill>
              <a:latin typeface="Palatino Linotype"/>
              <a:cs typeface="Palatino Linotype"/>
            </a:endParaRPr>
          </a:p>
          <a:p>
            <a:pPr marL="697865" lvl="1" indent="-227965">
              <a:spcBef>
                <a:spcPts val="1080"/>
              </a:spcBef>
              <a:buFont typeface="Wingdings"/>
              <a:buChar char=""/>
              <a:tabLst>
                <a:tab pos="697865" algn="l"/>
              </a:tabLst>
            </a:pPr>
            <a:r>
              <a:rPr sz="1600" dirty="0">
                <a:solidFill>
                  <a:sysClr val="windowText" lastClr="000000"/>
                </a:solidFill>
                <a:latin typeface="Palatino Linotype"/>
                <a:cs typeface="Palatino Linotype"/>
              </a:rPr>
              <a:t>Eliminate</a:t>
            </a:r>
            <a:r>
              <a:rPr sz="1600" spc="-30"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dead</a:t>
            </a:r>
            <a:r>
              <a:rPr sz="1600" spc="-30"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code</a:t>
            </a:r>
            <a:r>
              <a:rPr sz="1600" spc="-20" dirty="0">
                <a:solidFill>
                  <a:sysClr val="windowText" lastClr="000000"/>
                </a:solidFill>
                <a:latin typeface="Palatino Linotype"/>
                <a:cs typeface="Palatino Linotype"/>
              </a:rPr>
              <a:t> (</a:t>
            </a:r>
            <a:r>
              <a:rPr sz="1600" dirty="0">
                <a:solidFill>
                  <a:srgbClr val="0432FF"/>
                </a:solidFill>
                <a:latin typeface="SimSun"/>
                <a:cs typeface="SimSun"/>
              </a:rPr>
              <a:t>死代码</a:t>
            </a:r>
            <a:r>
              <a:rPr sz="1600" spc="-50" dirty="0">
                <a:solidFill>
                  <a:sysClr val="windowText" lastClr="000000"/>
                </a:solidFill>
                <a:latin typeface="Palatino Linotype"/>
                <a:cs typeface="Palatino Linotype"/>
              </a:rPr>
              <a:t>)</a:t>
            </a:r>
            <a:endParaRPr sz="1600">
              <a:solidFill>
                <a:sysClr val="windowText" lastClr="000000"/>
              </a:solidFill>
              <a:latin typeface="Palatino Linotype"/>
              <a:cs typeface="Palatino Linotype"/>
            </a:endParaRPr>
          </a:p>
          <a:p>
            <a:pPr marL="697865" lvl="1" indent="-227965">
              <a:spcBef>
                <a:spcPts val="985"/>
              </a:spcBef>
              <a:buFont typeface="Wingdings"/>
              <a:buChar char=""/>
              <a:tabLst>
                <a:tab pos="697865" algn="l"/>
              </a:tabLst>
            </a:pPr>
            <a:r>
              <a:rPr sz="1600" dirty="0">
                <a:solidFill>
                  <a:sysClr val="windowText" lastClr="000000"/>
                </a:solidFill>
                <a:latin typeface="Palatino Linotype"/>
                <a:cs typeface="Palatino Linotype"/>
              </a:rPr>
              <a:t>Apply</a:t>
            </a:r>
            <a:r>
              <a:rPr sz="1600" spc="-35"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algebraic</a:t>
            </a:r>
            <a:r>
              <a:rPr sz="1600" spc="-25"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laws</a:t>
            </a:r>
            <a:r>
              <a:rPr sz="1600" spc="-20" dirty="0">
                <a:solidFill>
                  <a:sysClr val="windowText" lastClr="000000"/>
                </a:solidFill>
                <a:latin typeface="Palatino Linotype"/>
                <a:cs typeface="Palatino Linotype"/>
              </a:rPr>
              <a:t> (</a:t>
            </a:r>
            <a:r>
              <a:rPr sz="1600" dirty="0">
                <a:solidFill>
                  <a:srgbClr val="0432FF"/>
                </a:solidFill>
                <a:latin typeface="SimSun"/>
                <a:cs typeface="SimSun"/>
              </a:rPr>
              <a:t>代数恒等式</a:t>
            </a:r>
            <a:r>
              <a:rPr sz="1600" spc="-15"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to</a:t>
            </a:r>
            <a:r>
              <a:rPr sz="1600" spc="-25"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reorder</a:t>
            </a:r>
            <a:r>
              <a:rPr sz="1600" spc="-20"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operands</a:t>
            </a:r>
            <a:r>
              <a:rPr sz="1600" spc="-30"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of</a:t>
            </a:r>
            <a:r>
              <a:rPr sz="1600" spc="-25" dirty="0">
                <a:solidFill>
                  <a:sysClr val="windowText" lastClr="000000"/>
                </a:solidFill>
                <a:latin typeface="Palatino Linotype"/>
                <a:cs typeface="Palatino Linotype"/>
              </a:rPr>
              <a:t> </a:t>
            </a:r>
            <a:r>
              <a:rPr sz="1600" spc="-10" dirty="0">
                <a:solidFill>
                  <a:sysClr val="windowText" lastClr="000000"/>
                </a:solidFill>
                <a:latin typeface="Palatino Linotype"/>
                <a:cs typeface="Palatino Linotype"/>
              </a:rPr>
              <a:t>instructions</a:t>
            </a:r>
            <a:endParaRPr sz="1600">
              <a:solidFill>
                <a:sysClr val="windowText" lastClr="000000"/>
              </a:solidFill>
              <a:latin typeface="Palatino Linotype"/>
              <a:cs typeface="Palatino Linotype"/>
            </a:endParaRPr>
          </a:p>
        </p:txBody>
      </p:sp>
      <p:pic>
        <p:nvPicPr>
          <p:cNvPr id="12" name="object 5">
            <a:extLst>
              <a:ext uri="{FF2B5EF4-FFF2-40B4-BE49-F238E27FC236}">
                <a16:creationId xmlns:a16="http://schemas.microsoft.com/office/drawing/2014/main" id="{959AF61F-96EE-81A6-43E8-82EEC13EB25D}"/>
              </a:ext>
            </a:extLst>
          </p:cNvPr>
          <p:cNvPicPr/>
          <p:nvPr/>
        </p:nvPicPr>
        <p:blipFill>
          <a:blip r:embed="rId4" cstate="print"/>
          <a:stretch>
            <a:fillRect/>
          </a:stretch>
        </p:blipFill>
        <p:spPr>
          <a:xfrm>
            <a:off x="2555684" y="5077393"/>
            <a:ext cx="728933" cy="683611"/>
          </a:xfrm>
          <a:prstGeom prst="rect">
            <a:avLst/>
          </a:prstGeom>
        </p:spPr>
      </p:pic>
    </p:spTree>
    <p:extLst>
      <p:ext uri="{BB962C8B-B14F-4D97-AF65-F5344CB8AC3E}">
        <p14:creationId xmlns:p14="http://schemas.microsoft.com/office/powerpoint/2010/main" val="302295403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48</a:t>
            </a:fld>
            <a:endParaRPr lang="en-US"/>
          </a:p>
        </p:txBody>
      </p:sp>
      <p:sp>
        <p:nvSpPr>
          <p:cNvPr id="10" name="object 2">
            <a:extLst>
              <a:ext uri="{FF2B5EF4-FFF2-40B4-BE49-F238E27FC236}">
                <a16:creationId xmlns:a16="http://schemas.microsoft.com/office/drawing/2014/main" id="{A9499E40-1421-7CB2-2FCB-AE95372883BA}"/>
              </a:ext>
            </a:extLst>
          </p:cNvPr>
          <p:cNvSpPr txBox="1">
            <a:spLocks/>
          </p:cNvSpPr>
          <p:nvPr/>
        </p:nvSpPr>
        <p:spPr>
          <a:xfrm>
            <a:off x="707390" y="524763"/>
            <a:ext cx="4752340" cy="63500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4000" b="1" i="0" u="none" strike="noStrike" kern="0" cap="none" spc="0" normalizeH="0" baseline="0" noProof="0">
                <a:ln>
                  <a:noFill/>
                </a:ln>
                <a:solidFill>
                  <a:sysClr val="windowText" lastClr="000000"/>
                </a:solidFill>
                <a:effectLst/>
                <a:uLnTx/>
                <a:uFillTx/>
                <a:latin typeface="Palatino Linotype"/>
                <a:ea typeface="+mj-ea"/>
              </a:rPr>
              <a:t>Constructing</a:t>
            </a:r>
            <a:r>
              <a:rPr kumimoji="0" lang="en-US" sz="4000" b="1" i="0" u="none" strike="noStrike" kern="0" cap="none" spc="-130" normalizeH="0" baseline="0" noProof="0">
                <a:ln>
                  <a:noFill/>
                </a:ln>
                <a:solidFill>
                  <a:sysClr val="windowText" lastClr="000000"/>
                </a:solidFill>
                <a:effectLst/>
                <a:uLnTx/>
                <a:uFillTx/>
                <a:latin typeface="Palatino Linotype"/>
                <a:ea typeface="+mj-ea"/>
              </a:rPr>
              <a:t> </a:t>
            </a:r>
            <a:r>
              <a:rPr kumimoji="0" lang="en-US" sz="4000" b="1" i="0" u="none" strike="noStrike" kern="0" cap="none" spc="-10" normalizeH="0" baseline="0" noProof="0">
                <a:ln>
                  <a:noFill/>
                </a:ln>
                <a:solidFill>
                  <a:sysClr val="windowText" lastClr="000000"/>
                </a:solidFill>
                <a:effectLst/>
                <a:uLnTx/>
                <a:uFillTx/>
                <a:latin typeface="Palatino Linotype"/>
                <a:ea typeface="+mj-ea"/>
              </a:rPr>
              <a:t>DAG’s</a:t>
            </a:r>
            <a:endParaRPr kumimoji="0" lang="en-US" sz="4000" b="1" i="0" u="none" strike="noStrike" kern="0" cap="none" spc="-10" normalizeH="0" baseline="0" noProof="0" dirty="0">
              <a:ln>
                <a:noFill/>
              </a:ln>
              <a:solidFill>
                <a:sysClr val="windowText" lastClr="000000"/>
              </a:solidFill>
              <a:effectLst/>
              <a:uLnTx/>
              <a:uFillTx/>
              <a:latin typeface="Palatino Linotype"/>
              <a:ea typeface="+mj-ea"/>
            </a:endParaRPr>
          </a:p>
        </p:txBody>
      </p:sp>
      <p:pic>
        <p:nvPicPr>
          <p:cNvPr id="11" name="object 3">
            <a:extLst>
              <a:ext uri="{FF2B5EF4-FFF2-40B4-BE49-F238E27FC236}">
                <a16:creationId xmlns:a16="http://schemas.microsoft.com/office/drawing/2014/main" id="{5448A21A-2AD5-6A6A-AC65-315AD1DAEDC9}"/>
              </a:ext>
            </a:extLst>
          </p:cNvPr>
          <p:cNvPicPr/>
          <p:nvPr/>
        </p:nvPicPr>
        <p:blipFill>
          <a:blip r:embed="rId3" cstate="print"/>
          <a:stretch>
            <a:fillRect/>
          </a:stretch>
        </p:blipFill>
        <p:spPr>
          <a:xfrm>
            <a:off x="6803341" y="436512"/>
            <a:ext cx="925691" cy="868135"/>
          </a:xfrm>
          <a:prstGeom prst="rect">
            <a:avLst/>
          </a:prstGeom>
        </p:spPr>
      </p:pic>
      <p:sp>
        <p:nvSpPr>
          <p:cNvPr id="12" name="object 4">
            <a:extLst>
              <a:ext uri="{FF2B5EF4-FFF2-40B4-BE49-F238E27FC236}">
                <a16:creationId xmlns:a16="http://schemas.microsoft.com/office/drawing/2014/main" id="{49BC3FD4-044F-CD5A-1627-B09EFA9B1D8B}"/>
              </a:ext>
            </a:extLst>
          </p:cNvPr>
          <p:cNvSpPr txBox="1"/>
          <p:nvPr/>
        </p:nvSpPr>
        <p:spPr>
          <a:xfrm>
            <a:off x="847398" y="4281932"/>
            <a:ext cx="964565" cy="299720"/>
          </a:xfrm>
          <a:prstGeom prst="rect">
            <a:avLst/>
          </a:prstGeom>
        </p:spPr>
        <p:txBody>
          <a:bodyPr vert="horz" wrap="square" lIns="0" tIns="12700" rIns="0" bIns="0" rtlCol="0">
            <a:spAutoFit/>
          </a:bodyPr>
          <a:lstStyle/>
          <a:p>
            <a:pPr marL="50800">
              <a:spcBef>
                <a:spcPts val="100"/>
              </a:spcBef>
              <a:tabLst>
                <a:tab pos="692150" algn="l"/>
              </a:tabLst>
            </a:pPr>
            <a:r>
              <a:rPr spc="-25" dirty="0">
                <a:solidFill>
                  <a:sysClr val="windowText" lastClr="000000"/>
                </a:solidFill>
                <a:latin typeface="Cambria Math"/>
                <a:cs typeface="Cambria Math"/>
              </a:rPr>
              <a:t>a</a:t>
            </a:r>
            <a:r>
              <a:rPr sz="1950" spc="-37" baseline="-14957" dirty="0">
                <a:solidFill>
                  <a:sysClr val="windowText" lastClr="000000"/>
                </a:solidFill>
                <a:latin typeface="Cambria Math"/>
                <a:cs typeface="Cambria Math"/>
              </a:rPr>
              <a:t>0</a:t>
            </a:r>
            <a:r>
              <a:rPr sz="1950" baseline="-14957" dirty="0">
                <a:solidFill>
                  <a:sysClr val="windowText" lastClr="000000"/>
                </a:solidFill>
                <a:latin typeface="Cambria Math"/>
                <a:cs typeface="Cambria Math"/>
              </a:rPr>
              <a:t>	</a:t>
            </a:r>
            <a:r>
              <a:rPr spc="-25" dirty="0">
                <a:solidFill>
                  <a:sysClr val="windowText" lastClr="000000"/>
                </a:solidFill>
                <a:latin typeface="Cambria Math"/>
                <a:cs typeface="Cambria Math"/>
              </a:rPr>
              <a:t>b</a:t>
            </a:r>
            <a:r>
              <a:rPr sz="1950" spc="-37" baseline="-14957" dirty="0">
                <a:solidFill>
                  <a:sysClr val="windowText" lastClr="000000"/>
                </a:solidFill>
                <a:latin typeface="Cambria Math"/>
                <a:cs typeface="Cambria Math"/>
              </a:rPr>
              <a:t>0</a:t>
            </a:r>
            <a:endParaRPr sz="1950" baseline="-14957">
              <a:solidFill>
                <a:sysClr val="windowText" lastClr="000000"/>
              </a:solidFill>
              <a:latin typeface="Cambria Math"/>
              <a:cs typeface="Cambria Math"/>
            </a:endParaRPr>
          </a:p>
        </p:txBody>
      </p:sp>
      <p:sp>
        <p:nvSpPr>
          <p:cNvPr id="13" name="object 5">
            <a:extLst>
              <a:ext uri="{FF2B5EF4-FFF2-40B4-BE49-F238E27FC236}">
                <a16:creationId xmlns:a16="http://schemas.microsoft.com/office/drawing/2014/main" id="{2E5E40FA-5ACE-7A67-C88D-0C07DE56E7B5}"/>
              </a:ext>
            </a:extLst>
          </p:cNvPr>
          <p:cNvSpPr txBox="1"/>
          <p:nvPr/>
        </p:nvSpPr>
        <p:spPr>
          <a:xfrm>
            <a:off x="2136331" y="4278883"/>
            <a:ext cx="944880" cy="299720"/>
          </a:xfrm>
          <a:prstGeom prst="rect">
            <a:avLst/>
          </a:prstGeom>
        </p:spPr>
        <p:txBody>
          <a:bodyPr vert="horz" wrap="square" lIns="0" tIns="12700" rIns="0" bIns="0" rtlCol="0">
            <a:spAutoFit/>
          </a:bodyPr>
          <a:lstStyle/>
          <a:p>
            <a:pPr marL="50800">
              <a:spcBef>
                <a:spcPts val="100"/>
              </a:spcBef>
              <a:tabLst>
                <a:tab pos="671195" algn="l"/>
              </a:tabLst>
            </a:pPr>
            <a:r>
              <a:rPr spc="-25" dirty="0">
                <a:solidFill>
                  <a:sysClr val="windowText" lastClr="000000"/>
                </a:solidFill>
                <a:latin typeface="Cambria Math"/>
                <a:cs typeface="Cambria Math"/>
              </a:rPr>
              <a:t>c</a:t>
            </a:r>
            <a:r>
              <a:rPr sz="1950" spc="-37" baseline="-14957" dirty="0">
                <a:solidFill>
                  <a:sysClr val="windowText" lastClr="000000"/>
                </a:solidFill>
                <a:latin typeface="Cambria Math"/>
                <a:cs typeface="Cambria Math"/>
              </a:rPr>
              <a:t>0</a:t>
            </a:r>
            <a:r>
              <a:rPr sz="1950" baseline="-14957" dirty="0">
                <a:solidFill>
                  <a:sysClr val="windowText" lastClr="000000"/>
                </a:solidFill>
                <a:latin typeface="Cambria Math"/>
                <a:cs typeface="Cambria Math"/>
              </a:rPr>
              <a:t>	</a:t>
            </a:r>
            <a:r>
              <a:rPr spc="-25" dirty="0">
                <a:solidFill>
                  <a:sysClr val="windowText" lastClr="000000"/>
                </a:solidFill>
                <a:latin typeface="Cambria Math"/>
                <a:cs typeface="Cambria Math"/>
              </a:rPr>
              <a:t>d</a:t>
            </a:r>
            <a:r>
              <a:rPr sz="1950" spc="-37" baseline="-14957" dirty="0">
                <a:solidFill>
                  <a:sysClr val="windowText" lastClr="000000"/>
                </a:solidFill>
                <a:latin typeface="Cambria Math"/>
                <a:cs typeface="Cambria Math"/>
              </a:rPr>
              <a:t>0</a:t>
            </a:r>
            <a:endParaRPr sz="1950" baseline="-14957">
              <a:solidFill>
                <a:sysClr val="windowText" lastClr="000000"/>
              </a:solidFill>
              <a:latin typeface="Cambria Math"/>
              <a:cs typeface="Cambria Math"/>
            </a:endParaRPr>
          </a:p>
        </p:txBody>
      </p:sp>
      <p:sp>
        <p:nvSpPr>
          <p:cNvPr id="14" name="object 6">
            <a:extLst>
              <a:ext uri="{FF2B5EF4-FFF2-40B4-BE49-F238E27FC236}">
                <a16:creationId xmlns:a16="http://schemas.microsoft.com/office/drawing/2014/main" id="{BECE6E1D-F1EF-E767-2841-A222AAF508B8}"/>
              </a:ext>
            </a:extLst>
          </p:cNvPr>
          <p:cNvSpPr txBox="1"/>
          <p:nvPr/>
        </p:nvSpPr>
        <p:spPr>
          <a:xfrm>
            <a:off x="3854406" y="4118635"/>
            <a:ext cx="4661535" cy="646430"/>
          </a:xfrm>
          <a:prstGeom prst="rect">
            <a:avLst/>
          </a:prstGeom>
          <a:solidFill>
            <a:srgbClr val="FFF2CC"/>
          </a:solidFill>
          <a:ln w="9525">
            <a:solidFill>
              <a:srgbClr val="000000"/>
            </a:solidFill>
          </a:ln>
        </p:spPr>
        <p:txBody>
          <a:bodyPr vert="horz" wrap="square" lIns="0" tIns="46990" rIns="0" bIns="0" rtlCol="0">
            <a:spAutoFit/>
          </a:bodyPr>
          <a:lstStyle/>
          <a:p>
            <a:pPr marL="90805" marR="264160">
              <a:lnSpc>
                <a:spcPts val="2110"/>
              </a:lnSpc>
              <a:spcBef>
                <a:spcPts val="370"/>
              </a:spcBef>
            </a:pPr>
            <a:r>
              <a:rPr b="1" dirty="0">
                <a:solidFill>
                  <a:srgbClr val="FF0000"/>
                </a:solidFill>
                <a:latin typeface="Palatino Linotype"/>
                <a:cs typeface="Palatino Linotype"/>
              </a:rPr>
              <a:t>Step</a:t>
            </a:r>
            <a:r>
              <a:rPr b="1" spc="-30" dirty="0">
                <a:solidFill>
                  <a:srgbClr val="FF0000"/>
                </a:solidFill>
                <a:latin typeface="Palatino Linotype"/>
                <a:cs typeface="Palatino Linotype"/>
              </a:rPr>
              <a:t> </a:t>
            </a:r>
            <a:r>
              <a:rPr b="1" dirty="0">
                <a:solidFill>
                  <a:srgbClr val="FF0000"/>
                </a:solidFill>
                <a:latin typeface="Palatino Linotype"/>
                <a:cs typeface="Palatino Linotype"/>
              </a:rPr>
              <a:t>1:</a:t>
            </a:r>
            <a:r>
              <a:rPr b="1" spc="-30" dirty="0">
                <a:solidFill>
                  <a:srgbClr val="FF0000"/>
                </a:solidFill>
                <a:latin typeface="Palatino Linotype"/>
                <a:cs typeface="Palatino Linotype"/>
              </a:rPr>
              <a:t> </a:t>
            </a:r>
            <a:r>
              <a:rPr dirty="0">
                <a:solidFill>
                  <a:srgbClr val="FF0000"/>
                </a:solidFill>
                <a:latin typeface="Palatino Linotype"/>
                <a:cs typeface="Palatino Linotype"/>
              </a:rPr>
              <a:t>Create</a:t>
            </a:r>
            <a:r>
              <a:rPr spc="-25" dirty="0">
                <a:solidFill>
                  <a:srgbClr val="FF0000"/>
                </a:solidFill>
                <a:latin typeface="Palatino Linotype"/>
                <a:cs typeface="Palatino Linotype"/>
              </a:rPr>
              <a:t> </a:t>
            </a:r>
            <a:r>
              <a:rPr dirty="0">
                <a:solidFill>
                  <a:srgbClr val="FF0000"/>
                </a:solidFill>
                <a:latin typeface="Palatino Linotype"/>
                <a:cs typeface="Palatino Linotype"/>
              </a:rPr>
              <a:t>a</a:t>
            </a:r>
            <a:r>
              <a:rPr spc="-25" dirty="0">
                <a:solidFill>
                  <a:srgbClr val="FF0000"/>
                </a:solidFill>
                <a:latin typeface="Palatino Linotype"/>
                <a:cs typeface="Palatino Linotype"/>
              </a:rPr>
              <a:t> </a:t>
            </a:r>
            <a:r>
              <a:rPr dirty="0">
                <a:solidFill>
                  <a:srgbClr val="FF0000"/>
                </a:solidFill>
                <a:latin typeface="Palatino Linotype"/>
                <a:cs typeface="Palatino Linotype"/>
              </a:rPr>
              <a:t>node</a:t>
            </a:r>
            <a:r>
              <a:rPr spc="-25" dirty="0">
                <a:solidFill>
                  <a:srgbClr val="FF0000"/>
                </a:solidFill>
                <a:latin typeface="Palatino Linotype"/>
                <a:cs typeface="Palatino Linotype"/>
              </a:rPr>
              <a:t> </a:t>
            </a:r>
            <a:r>
              <a:rPr dirty="0">
                <a:solidFill>
                  <a:srgbClr val="FF0000"/>
                </a:solidFill>
                <a:latin typeface="Palatino Linotype"/>
                <a:cs typeface="Palatino Linotype"/>
              </a:rPr>
              <a:t>for</a:t>
            </a:r>
            <a:r>
              <a:rPr spc="-25" dirty="0">
                <a:solidFill>
                  <a:srgbClr val="FF0000"/>
                </a:solidFill>
                <a:latin typeface="Palatino Linotype"/>
                <a:cs typeface="Palatino Linotype"/>
              </a:rPr>
              <a:t> </a:t>
            </a:r>
            <a:r>
              <a:rPr dirty="0">
                <a:solidFill>
                  <a:srgbClr val="FF0000"/>
                </a:solidFill>
                <a:latin typeface="Palatino Linotype"/>
                <a:cs typeface="Palatino Linotype"/>
              </a:rPr>
              <a:t>each</a:t>
            </a:r>
            <a:r>
              <a:rPr spc="-25" dirty="0">
                <a:solidFill>
                  <a:srgbClr val="FF0000"/>
                </a:solidFill>
                <a:latin typeface="Palatino Linotype"/>
                <a:cs typeface="Palatino Linotype"/>
              </a:rPr>
              <a:t> </a:t>
            </a:r>
            <a:r>
              <a:rPr dirty="0">
                <a:solidFill>
                  <a:srgbClr val="FF0000"/>
                </a:solidFill>
                <a:latin typeface="Palatino Linotype"/>
                <a:cs typeface="Palatino Linotype"/>
              </a:rPr>
              <a:t>of</a:t>
            </a:r>
            <a:r>
              <a:rPr spc="-25" dirty="0">
                <a:solidFill>
                  <a:srgbClr val="FF0000"/>
                </a:solidFill>
                <a:latin typeface="Palatino Linotype"/>
                <a:cs typeface="Palatino Linotype"/>
              </a:rPr>
              <a:t> </a:t>
            </a:r>
            <a:r>
              <a:rPr dirty="0">
                <a:solidFill>
                  <a:srgbClr val="FF0000"/>
                </a:solidFill>
                <a:latin typeface="Palatino Linotype"/>
                <a:cs typeface="Palatino Linotype"/>
              </a:rPr>
              <a:t>the</a:t>
            </a:r>
            <a:r>
              <a:rPr spc="-25" dirty="0">
                <a:solidFill>
                  <a:srgbClr val="FF0000"/>
                </a:solidFill>
                <a:latin typeface="Palatino Linotype"/>
                <a:cs typeface="Palatino Linotype"/>
              </a:rPr>
              <a:t> </a:t>
            </a:r>
            <a:r>
              <a:rPr spc="-10" dirty="0">
                <a:solidFill>
                  <a:srgbClr val="FF0000"/>
                </a:solidFill>
                <a:latin typeface="Palatino Linotype"/>
                <a:cs typeface="Palatino Linotype"/>
              </a:rPr>
              <a:t>initial </a:t>
            </a:r>
            <a:r>
              <a:rPr dirty="0">
                <a:solidFill>
                  <a:srgbClr val="FF0000"/>
                </a:solidFill>
                <a:latin typeface="Palatino Linotype"/>
                <a:cs typeface="Palatino Linotype"/>
              </a:rPr>
              <a:t>values</a:t>
            </a:r>
            <a:r>
              <a:rPr spc="-40" dirty="0">
                <a:solidFill>
                  <a:srgbClr val="FF0000"/>
                </a:solidFill>
                <a:latin typeface="Palatino Linotype"/>
                <a:cs typeface="Palatino Linotype"/>
              </a:rPr>
              <a:t> </a:t>
            </a:r>
            <a:r>
              <a:rPr dirty="0">
                <a:solidFill>
                  <a:srgbClr val="FF0000"/>
                </a:solidFill>
                <a:latin typeface="Palatino Linotype"/>
                <a:cs typeface="Palatino Linotype"/>
              </a:rPr>
              <a:t>of</a:t>
            </a:r>
            <a:r>
              <a:rPr spc="-30" dirty="0">
                <a:solidFill>
                  <a:srgbClr val="FF0000"/>
                </a:solidFill>
                <a:latin typeface="Palatino Linotype"/>
                <a:cs typeface="Palatino Linotype"/>
              </a:rPr>
              <a:t> </a:t>
            </a:r>
            <a:r>
              <a:rPr dirty="0">
                <a:solidFill>
                  <a:srgbClr val="FF0000"/>
                </a:solidFill>
                <a:latin typeface="Palatino Linotype"/>
                <a:cs typeface="Palatino Linotype"/>
              </a:rPr>
              <a:t>the</a:t>
            </a:r>
            <a:r>
              <a:rPr spc="-35" dirty="0">
                <a:solidFill>
                  <a:srgbClr val="FF0000"/>
                </a:solidFill>
                <a:latin typeface="Palatino Linotype"/>
                <a:cs typeface="Palatino Linotype"/>
              </a:rPr>
              <a:t> </a:t>
            </a:r>
            <a:r>
              <a:rPr spc="-10" dirty="0">
                <a:solidFill>
                  <a:srgbClr val="FF0000"/>
                </a:solidFill>
                <a:latin typeface="Palatino Linotype"/>
                <a:cs typeface="Palatino Linotype"/>
              </a:rPr>
              <a:t>variables</a:t>
            </a:r>
            <a:r>
              <a:rPr spc="-35" dirty="0">
                <a:solidFill>
                  <a:srgbClr val="FF0000"/>
                </a:solidFill>
                <a:latin typeface="Palatino Linotype"/>
                <a:cs typeface="Palatino Linotype"/>
              </a:rPr>
              <a:t> </a:t>
            </a:r>
            <a:r>
              <a:rPr dirty="0">
                <a:solidFill>
                  <a:srgbClr val="FF0000"/>
                </a:solidFill>
                <a:latin typeface="Palatino Linotype"/>
                <a:cs typeface="Palatino Linotype"/>
              </a:rPr>
              <a:t>in</a:t>
            </a:r>
            <a:r>
              <a:rPr spc="-30" dirty="0">
                <a:solidFill>
                  <a:srgbClr val="FF0000"/>
                </a:solidFill>
                <a:latin typeface="Palatino Linotype"/>
                <a:cs typeface="Palatino Linotype"/>
              </a:rPr>
              <a:t> </a:t>
            </a:r>
            <a:r>
              <a:rPr dirty="0">
                <a:solidFill>
                  <a:srgbClr val="FF0000"/>
                </a:solidFill>
                <a:latin typeface="Palatino Linotype"/>
                <a:cs typeface="Palatino Linotype"/>
              </a:rPr>
              <a:t>the</a:t>
            </a:r>
            <a:r>
              <a:rPr spc="-35" dirty="0">
                <a:solidFill>
                  <a:srgbClr val="FF0000"/>
                </a:solidFill>
                <a:latin typeface="Palatino Linotype"/>
                <a:cs typeface="Palatino Linotype"/>
              </a:rPr>
              <a:t> </a:t>
            </a:r>
            <a:r>
              <a:rPr dirty="0">
                <a:solidFill>
                  <a:srgbClr val="FF0000"/>
                </a:solidFill>
                <a:latin typeface="Palatino Linotype"/>
                <a:cs typeface="Palatino Linotype"/>
              </a:rPr>
              <a:t>basic</a:t>
            </a:r>
            <a:r>
              <a:rPr spc="-30" dirty="0">
                <a:solidFill>
                  <a:srgbClr val="FF0000"/>
                </a:solidFill>
                <a:latin typeface="Palatino Linotype"/>
                <a:cs typeface="Palatino Linotype"/>
              </a:rPr>
              <a:t> </a:t>
            </a:r>
            <a:r>
              <a:rPr spc="-10" dirty="0">
                <a:solidFill>
                  <a:srgbClr val="FF0000"/>
                </a:solidFill>
                <a:latin typeface="Palatino Linotype"/>
                <a:cs typeface="Palatino Linotype"/>
              </a:rPr>
              <a:t>block</a:t>
            </a:r>
            <a:endParaRPr>
              <a:solidFill>
                <a:sysClr val="windowText" lastClr="000000"/>
              </a:solidFill>
              <a:latin typeface="Palatino Linotype"/>
              <a:cs typeface="Palatino Linotype"/>
            </a:endParaRPr>
          </a:p>
        </p:txBody>
      </p:sp>
    </p:spTree>
    <p:extLst>
      <p:ext uri="{BB962C8B-B14F-4D97-AF65-F5344CB8AC3E}">
        <p14:creationId xmlns:p14="http://schemas.microsoft.com/office/powerpoint/2010/main" val="69185329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49</a:t>
            </a:fld>
            <a:endParaRPr lang="en-US"/>
          </a:p>
        </p:txBody>
      </p:sp>
      <p:sp>
        <p:nvSpPr>
          <p:cNvPr id="15" name="object 2">
            <a:extLst>
              <a:ext uri="{FF2B5EF4-FFF2-40B4-BE49-F238E27FC236}">
                <a16:creationId xmlns:a16="http://schemas.microsoft.com/office/drawing/2014/main" id="{81E9205A-E078-2F49-7101-12C2F74F9FE4}"/>
              </a:ext>
            </a:extLst>
          </p:cNvPr>
          <p:cNvSpPr txBox="1">
            <a:spLocks/>
          </p:cNvSpPr>
          <p:nvPr/>
        </p:nvSpPr>
        <p:spPr>
          <a:xfrm>
            <a:off x="707390" y="524763"/>
            <a:ext cx="4752340" cy="63500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4000" b="1" i="0" u="none" strike="noStrike" kern="0" cap="none" spc="0" normalizeH="0" baseline="0" noProof="0">
                <a:ln>
                  <a:noFill/>
                </a:ln>
                <a:solidFill>
                  <a:sysClr val="windowText" lastClr="000000"/>
                </a:solidFill>
                <a:effectLst/>
                <a:uLnTx/>
                <a:uFillTx/>
                <a:latin typeface="Palatino Linotype"/>
                <a:ea typeface="+mj-ea"/>
              </a:rPr>
              <a:t>Constructing</a:t>
            </a:r>
            <a:r>
              <a:rPr kumimoji="0" lang="en-US" sz="4000" b="1" i="0" u="none" strike="noStrike" kern="0" cap="none" spc="-130" normalizeH="0" baseline="0" noProof="0">
                <a:ln>
                  <a:noFill/>
                </a:ln>
                <a:solidFill>
                  <a:sysClr val="windowText" lastClr="000000"/>
                </a:solidFill>
                <a:effectLst/>
                <a:uLnTx/>
                <a:uFillTx/>
                <a:latin typeface="Palatino Linotype"/>
                <a:ea typeface="+mj-ea"/>
              </a:rPr>
              <a:t> </a:t>
            </a:r>
            <a:r>
              <a:rPr kumimoji="0" lang="en-US" sz="4000" b="1" i="0" u="none" strike="noStrike" kern="0" cap="none" spc="-10" normalizeH="0" baseline="0" noProof="0">
                <a:ln>
                  <a:noFill/>
                </a:ln>
                <a:solidFill>
                  <a:sysClr val="windowText" lastClr="000000"/>
                </a:solidFill>
                <a:effectLst/>
                <a:uLnTx/>
                <a:uFillTx/>
                <a:latin typeface="Palatino Linotype"/>
                <a:ea typeface="+mj-ea"/>
              </a:rPr>
              <a:t>DAG’s</a:t>
            </a:r>
            <a:endParaRPr kumimoji="0" lang="en-US" sz="4000" b="1" i="0" u="none" strike="noStrike" kern="0" cap="none" spc="-10" normalizeH="0" baseline="0" noProof="0" dirty="0">
              <a:ln>
                <a:noFill/>
              </a:ln>
              <a:solidFill>
                <a:sysClr val="windowText" lastClr="000000"/>
              </a:solidFill>
              <a:effectLst/>
              <a:uLnTx/>
              <a:uFillTx/>
              <a:latin typeface="Palatino Linotype"/>
              <a:ea typeface="+mj-ea"/>
            </a:endParaRPr>
          </a:p>
        </p:txBody>
      </p:sp>
      <p:pic>
        <p:nvPicPr>
          <p:cNvPr id="16" name="object 3">
            <a:extLst>
              <a:ext uri="{FF2B5EF4-FFF2-40B4-BE49-F238E27FC236}">
                <a16:creationId xmlns:a16="http://schemas.microsoft.com/office/drawing/2014/main" id="{D80A79FE-120D-635D-B528-69D0BB5A9904}"/>
              </a:ext>
            </a:extLst>
          </p:cNvPr>
          <p:cNvPicPr/>
          <p:nvPr/>
        </p:nvPicPr>
        <p:blipFill>
          <a:blip r:embed="rId3" cstate="print"/>
          <a:stretch>
            <a:fillRect/>
          </a:stretch>
        </p:blipFill>
        <p:spPr>
          <a:xfrm>
            <a:off x="6803341" y="436512"/>
            <a:ext cx="925691" cy="868135"/>
          </a:xfrm>
          <a:prstGeom prst="rect">
            <a:avLst/>
          </a:prstGeom>
        </p:spPr>
      </p:pic>
      <p:sp>
        <p:nvSpPr>
          <p:cNvPr id="17" name="object 4">
            <a:extLst>
              <a:ext uri="{FF2B5EF4-FFF2-40B4-BE49-F238E27FC236}">
                <a16:creationId xmlns:a16="http://schemas.microsoft.com/office/drawing/2014/main" id="{2A74A88E-3604-85C7-CCF0-04F402D5F658}"/>
              </a:ext>
            </a:extLst>
          </p:cNvPr>
          <p:cNvSpPr txBox="1"/>
          <p:nvPr/>
        </p:nvSpPr>
        <p:spPr>
          <a:xfrm>
            <a:off x="4006639" y="3149734"/>
            <a:ext cx="4707255" cy="2178050"/>
          </a:xfrm>
          <a:prstGeom prst="rect">
            <a:avLst/>
          </a:prstGeom>
          <a:solidFill>
            <a:srgbClr val="FFF2CC"/>
          </a:solidFill>
          <a:ln w="9525">
            <a:solidFill>
              <a:srgbClr val="000000"/>
            </a:solidFill>
          </a:ln>
        </p:spPr>
        <p:txBody>
          <a:bodyPr vert="horz" wrap="square" lIns="0" tIns="59690" rIns="0" bIns="0" rtlCol="0">
            <a:spAutoFit/>
          </a:bodyPr>
          <a:lstStyle/>
          <a:p>
            <a:pPr marL="90805">
              <a:spcBef>
                <a:spcPts val="470"/>
              </a:spcBef>
            </a:pPr>
            <a:r>
              <a:rPr b="1" dirty="0">
                <a:solidFill>
                  <a:srgbClr val="FF0000"/>
                </a:solidFill>
                <a:latin typeface="Palatino Linotype"/>
                <a:cs typeface="Palatino Linotype"/>
              </a:rPr>
              <a:t>Step</a:t>
            </a:r>
            <a:r>
              <a:rPr b="1" spc="-20" dirty="0">
                <a:solidFill>
                  <a:srgbClr val="FF0000"/>
                </a:solidFill>
                <a:latin typeface="Palatino Linotype"/>
                <a:cs typeface="Palatino Linotype"/>
              </a:rPr>
              <a:t> </a:t>
            </a:r>
            <a:r>
              <a:rPr b="1" dirty="0">
                <a:solidFill>
                  <a:srgbClr val="FF0000"/>
                </a:solidFill>
                <a:latin typeface="Palatino Linotype"/>
                <a:cs typeface="Palatino Linotype"/>
              </a:rPr>
              <a:t>2:</a:t>
            </a:r>
            <a:r>
              <a:rPr b="1" spc="-25" dirty="0">
                <a:solidFill>
                  <a:srgbClr val="FF0000"/>
                </a:solidFill>
                <a:latin typeface="Palatino Linotype"/>
                <a:cs typeface="Palatino Linotype"/>
              </a:rPr>
              <a:t> </a:t>
            </a:r>
            <a:r>
              <a:rPr dirty="0">
                <a:solidFill>
                  <a:srgbClr val="FF0000"/>
                </a:solidFill>
                <a:latin typeface="Palatino Linotype"/>
                <a:cs typeface="Palatino Linotype"/>
              </a:rPr>
              <a:t>Process</a:t>
            </a:r>
            <a:r>
              <a:rPr spc="-15" dirty="0">
                <a:solidFill>
                  <a:srgbClr val="FF0000"/>
                </a:solidFill>
                <a:latin typeface="Palatino Linotype"/>
                <a:cs typeface="Palatino Linotype"/>
              </a:rPr>
              <a:t> </a:t>
            </a:r>
            <a:r>
              <a:rPr dirty="0">
                <a:solidFill>
                  <a:srgbClr val="FF0000"/>
                </a:solidFill>
                <a:latin typeface="Cambria Math"/>
                <a:cs typeface="Cambria Math"/>
              </a:rPr>
              <a:t>𝑎</a:t>
            </a:r>
            <a:r>
              <a:rPr spc="114" dirty="0">
                <a:solidFill>
                  <a:srgbClr val="FF0000"/>
                </a:solidFill>
                <a:latin typeface="Cambria Math"/>
                <a:cs typeface="Cambria Math"/>
              </a:rPr>
              <a:t> </a:t>
            </a:r>
            <a:r>
              <a:rPr dirty="0">
                <a:solidFill>
                  <a:srgbClr val="FF0000"/>
                </a:solidFill>
                <a:latin typeface="Cambria Math"/>
                <a:cs typeface="Cambria Math"/>
              </a:rPr>
              <a:t>=</a:t>
            </a:r>
            <a:r>
              <a:rPr spc="85" dirty="0">
                <a:solidFill>
                  <a:srgbClr val="FF0000"/>
                </a:solidFill>
                <a:latin typeface="Cambria Math"/>
                <a:cs typeface="Cambria Math"/>
              </a:rPr>
              <a:t> </a:t>
            </a:r>
            <a:r>
              <a:rPr dirty="0">
                <a:solidFill>
                  <a:srgbClr val="FF0000"/>
                </a:solidFill>
                <a:latin typeface="Cambria Math"/>
                <a:cs typeface="Cambria Math"/>
              </a:rPr>
              <a:t>𝑏</a:t>
            </a:r>
            <a:r>
              <a:rPr spc="30" dirty="0">
                <a:solidFill>
                  <a:srgbClr val="FF0000"/>
                </a:solidFill>
                <a:latin typeface="Cambria Math"/>
                <a:cs typeface="Cambria Math"/>
              </a:rPr>
              <a:t> </a:t>
            </a:r>
            <a:r>
              <a:rPr dirty="0">
                <a:solidFill>
                  <a:srgbClr val="FF0000"/>
                </a:solidFill>
                <a:latin typeface="Cambria Math"/>
                <a:cs typeface="Cambria Math"/>
              </a:rPr>
              <a:t>+</a:t>
            </a:r>
            <a:r>
              <a:rPr spc="-15" dirty="0">
                <a:solidFill>
                  <a:srgbClr val="FF0000"/>
                </a:solidFill>
                <a:latin typeface="Cambria Math"/>
                <a:cs typeface="Cambria Math"/>
              </a:rPr>
              <a:t> </a:t>
            </a:r>
            <a:r>
              <a:rPr spc="-50" dirty="0">
                <a:solidFill>
                  <a:srgbClr val="FF0000"/>
                </a:solidFill>
                <a:latin typeface="Cambria Math"/>
                <a:cs typeface="Cambria Math"/>
              </a:rPr>
              <a:t>𝑐</a:t>
            </a:r>
            <a:endParaRPr>
              <a:solidFill>
                <a:sysClr val="windowText" lastClr="000000"/>
              </a:solidFill>
              <a:latin typeface="Cambria Math"/>
              <a:cs typeface="Cambria Math"/>
            </a:endParaRPr>
          </a:p>
          <a:p>
            <a:pPr marL="376555" indent="-285750">
              <a:spcBef>
                <a:spcPts val="1040"/>
              </a:spcBef>
              <a:buFont typeface="Arial MT"/>
              <a:buChar char="•"/>
              <a:tabLst>
                <a:tab pos="376555" algn="l"/>
              </a:tabLst>
            </a:pPr>
            <a:r>
              <a:rPr sz="1600" dirty="0">
                <a:solidFill>
                  <a:sysClr val="windowText" lastClr="000000"/>
                </a:solidFill>
                <a:latin typeface="Palatino Linotype"/>
                <a:cs typeface="Palatino Linotype"/>
              </a:rPr>
              <a:t>Create</a:t>
            </a:r>
            <a:r>
              <a:rPr sz="1600" spc="-25"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a</a:t>
            </a:r>
            <a:r>
              <a:rPr sz="1600" spc="-15"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node</a:t>
            </a:r>
            <a:r>
              <a:rPr sz="1600" spc="-20" dirty="0">
                <a:solidFill>
                  <a:sysClr val="windowText" lastClr="000000"/>
                </a:solidFill>
                <a:latin typeface="Palatino Linotype"/>
                <a:cs typeface="Palatino Linotype"/>
              </a:rPr>
              <a:t> </a:t>
            </a:r>
            <a:r>
              <a:rPr sz="1600" dirty="0">
                <a:solidFill>
                  <a:sysClr val="windowText" lastClr="000000"/>
                </a:solidFill>
                <a:latin typeface="Cambria Math"/>
                <a:cs typeface="Cambria Math"/>
              </a:rPr>
              <a:t>𝑁</a:t>
            </a:r>
            <a:r>
              <a:rPr sz="1600" spc="70" dirty="0">
                <a:solidFill>
                  <a:sysClr val="windowText" lastClr="000000"/>
                </a:solidFill>
                <a:latin typeface="Cambria Math"/>
                <a:cs typeface="Cambria Math"/>
              </a:rPr>
              <a:t> </a:t>
            </a:r>
            <a:r>
              <a:rPr sz="1600" dirty="0">
                <a:solidFill>
                  <a:sysClr val="windowText" lastClr="000000"/>
                </a:solidFill>
                <a:latin typeface="Palatino Linotype"/>
                <a:cs typeface="Palatino Linotype"/>
              </a:rPr>
              <a:t>for</a:t>
            </a:r>
            <a:r>
              <a:rPr sz="1600" spc="-15"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the</a:t>
            </a:r>
            <a:r>
              <a:rPr sz="1600" spc="-20" dirty="0">
                <a:solidFill>
                  <a:sysClr val="windowText" lastClr="000000"/>
                </a:solidFill>
                <a:latin typeface="Palatino Linotype"/>
                <a:cs typeface="Palatino Linotype"/>
              </a:rPr>
              <a:t> </a:t>
            </a:r>
            <a:r>
              <a:rPr sz="1600" spc="-10" dirty="0">
                <a:solidFill>
                  <a:sysClr val="windowText" lastClr="000000"/>
                </a:solidFill>
                <a:latin typeface="Palatino Linotype"/>
                <a:cs typeface="Palatino Linotype"/>
              </a:rPr>
              <a:t>statement</a:t>
            </a:r>
            <a:endParaRPr sz="1600">
              <a:solidFill>
                <a:sysClr val="windowText" lastClr="000000"/>
              </a:solidFill>
              <a:latin typeface="Palatino Linotype"/>
              <a:cs typeface="Palatino Linotype"/>
            </a:endParaRPr>
          </a:p>
          <a:p>
            <a:pPr marL="376555" indent="-285750">
              <a:spcBef>
                <a:spcPts val="960"/>
              </a:spcBef>
              <a:buFont typeface="Arial MT"/>
              <a:buChar char="•"/>
              <a:tabLst>
                <a:tab pos="376555" algn="l"/>
              </a:tabLst>
            </a:pPr>
            <a:r>
              <a:rPr sz="1600" dirty="0">
                <a:solidFill>
                  <a:sysClr val="windowText" lastClr="000000"/>
                </a:solidFill>
                <a:latin typeface="Palatino Linotype"/>
                <a:cs typeface="Palatino Linotype"/>
              </a:rPr>
              <a:t>Label</a:t>
            </a:r>
            <a:r>
              <a:rPr sz="1600" spc="-30"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it</a:t>
            </a:r>
            <a:r>
              <a:rPr sz="1600" spc="-25"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with</a:t>
            </a:r>
            <a:r>
              <a:rPr sz="1600" spc="-25" dirty="0">
                <a:solidFill>
                  <a:sysClr val="windowText" lastClr="000000"/>
                </a:solidFill>
                <a:latin typeface="Palatino Linotype"/>
                <a:cs typeface="Palatino Linotype"/>
              </a:rPr>
              <a:t> </a:t>
            </a:r>
            <a:r>
              <a:rPr sz="1600" spc="-50" dirty="0">
                <a:solidFill>
                  <a:sysClr val="windowText" lastClr="000000"/>
                </a:solidFill>
                <a:latin typeface="Cambria Math"/>
                <a:cs typeface="Cambria Math"/>
              </a:rPr>
              <a:t>+</a:t>
            </a:r>
            <a:endParaRPr sz="1600">
              <a:solidFill>
                <a:sysClr val="windowText" lastClr="000000"/>
              </a:solidFill>
              <a:latin typeface="Cambria Math"/>
              <a:cs typeface="Cambria Math"/>
            </a:endParaRPr>
          </a:p>
          <a:p>
            <a:pPr marL="376555" indent="-285750">
              <a:spcBef>
                <a:spcPts val="985"/>
              </a:spcBef>
              <a:buFont typeface="Arial MT"/>
              <a:buChar char="•"/>
              <a:tabLst>
                <a:tab pos="376555" algn="l"/>
              </a:tabLst>
            </a:pPr>
            <a:r>
              <a:rPr sz="1600" dirty="0">
                <a:solidFill>
                  <a:sysClr val="windowText" lastClr="000000"/>
                </a:solidFill>
                <a:latin typeface="Palatino Linotype"/>
                <a:cs typeface="Palatino Linotype"/>
              </a:rPr>
              <a:t>Attach</a:t>
            </a:r>
            <a:r>
              <a:rPr sz="1600" spc="-15" dirty="0">
                <a:solidFill>
                  <a:sysClr val="windowText" lastClr="000000"/>
                </a:solidFill>
                <a:latin typeface="Palatino Linotype"/>
                <a:cs typeface="Palatino Linotype"/>
              </a:rPr>
              <a:t> </a:t>
            </a:r>
            <a:r>
              <a:rPr sz="1600" dirty="0">
                <a:solidFill>
                  <a:sysClr val="windowText" lastClr="000000"/>
                </a:solidFill>
                <a:latin typeface="Cambria Math"/>
                <a:cs typeface="Cambria Math"/>
              </a:rPr>
              <a:t>𝑎</a:t>
            </a:r>
            <a:r>
              <a:rPr sz="1600" spc="60" dirty="0">
                <a:solidFill>
                  <a:sysClr val="windowText" lastClr="000000"/>
                </a:solidFill>
                <a:latin typeface="Cambria Math"/>
                <a:cs typeface="Cambria Math"/>
              </a:rPr>
              <a:t> </a:t>
            </a:r>
            <a:r>
              <a:rPr sz="1600" dirty="0">
                <a:solidFill>
                  <a:sysClr val="windowText" lastClr="000000"/>
                </a:solidFill>
                <a:latin typeface="Palatino Linotype"/>
                <a:cs typeface="Palatino Linotype"/>
              </a:rPr>
              <a:t>to</a:t>
            </a:r>
            <a:r>
              <a:rPr sz="1600" spc="-20" dirty="0">
                <a:solidFill>
                  <a:sysClr val="windowText" lastClr="000000"/>
                </a:solidFill>
                <a:latin typeface="Palatino Linotype"/>
                <a:cs typeface="Palatino Linotype"/>
              </a:rPr>
              <a:t> </a:t>
            </a:r>
            <a:r>
              <a:rPr sz="1600" spc="-50" dirty="0">
                <a:solidFill>
                  <a:sysClr val="windowText" lastClr="000000"/>
                </a:solidFill>
                <a:latin typeface="Cambria Math"/>
                <a:cs typeface="Cambria Math"/>
              </a:rPr>
              <a:t>𝑁</a:t>
            </a:r>
            <a:endParaRPr sz="1600">
              <a:solidFill>
                <a:sysClr val="windowText" lastClr="000000"/>
              </a:solidFill>
              <a:latin typeface="Cambria Math"/>
              <a:cs typeface="Cambria Math"/>
            </a:endParaRPr>
          </a:p>
          <a:p>
            <a:pPr marL="376555" marR="131445" indent="-285750">
              <a:lnSpc>
                <a:spcPct val="120000"/>
              </a:lnSpc>
              <a:spcBef>
                <a:spcPts val="600"/>
              </a:spcBef>
              <a:buFont typeface="Arial MT"/>
              <a:buChar char="•"/>
              <a:tabLst>
                <a:tab pos="376555" algn="l"/>
              </a:tabLst>
            </a:pPr>
            <a:r>
              <a:rPr sz="1600" dirty="0">
                <a:solidFill>
                  <a:sysClr val="windowText" lastClr="000000"/>
                </a:solidFill>
                <a:latin typeface="Palatino Linotype"/>
                <a:cs typeface="Palatino Linotype"/>
              </a:rPr>
              <a:t>The</a:t>
            </a:r>
            <a:r>
              <a:rPr sz="1600" spc="-25"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children</a:t>
            </a:r>
            <a:r>
              <a:rPr sz="1600" spc="-15"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of</a:t>
            </a:r>
            <a:r>
              <a:rPr sz="1600" spc="-20" dirty="0">
                <a:solidFill>
                  <a:sysClr val="windowText" lastClr="000000"/>
                </a:solidFill>
                <a:latin typeface="Palatino Linotype"/>
                <a:cs typeface="Palatino Linotype"/>
              </a:rPr>
              <a:t> </a:t>
            </a:r>
            <a:r>
              <a:rPr sz="1600" dirty="0">
                <a:solidFill>
                  <a:sysClr val="windowText" lastClr="000000"/>
                </a:solidFill>
                <a:latin typeface="Cambria Math"/>
                <a:cs typeface="Cambria Math"/>
              </a:rPr>
              <a:t>𝑁</a:t>
            </a:r>
            <a:r>
              <a:rPr sz="1600" spc="65" dirty="0">
                <a:solidFill>
                  <a:sysClr val="windowText" lastClr="000000"/>
                </a:solidFill>
                <a:latin typeface="Cambria Math"/>
                <a:cs typeface="Cambria Math"/>
              </a:rPr>
              <a:t> </a:t>
            </a:r>
            <a:r>
              <a:rPr sz="1600" dirty="0">
                <a:solidFill>
                  <a:sysClr val="windowText" lastClr="000000"/>
                </a:solidFill>
                <a:latin typeface="Palatino Linotype"/>
                <a:cs typeface="Palatino Linotype"/>
              </a:rPr>
              <a:t>are</a:t>
            </a:r>
            <a:r>
              <a:rPr sz="1600" spc="-25"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those</a:t>
            </a:r>
            <a:r>
              <a:rPr sz="1600" spc="-25" dirty="0">
                <a:solidFill>
                  <a:sysClr val="windowText" lastClr="000000"/>
                </a:solidFill>
                <a:latin typeface="Palatino Linotype"/>
                <a:cs typeface="Palatino Linotype"/>
              </a:rPr>
              <a:t> </a:t>
            </a:r>
            <a:r>
              <a:rPr sz="1600" spc="-20" dirty="0">
                <a:solidFill>
                  <a:sysClr val="windowText" lastClr="000000"/>
                </a:solidFill>
                <a:latin typeface="Palatino Linotype"/>
                <a:cs typeface="Palatino Linotype"/>
              </a:rPr>
              <a:t>nodes </a:t>
            </a:r>
            <a:r>
              <a:rPr sz="1600" dirty="0">
                <a:solidFill>
                  <a:sysClr val="windowText" lastClr="000000"/>
                </a:solidFill>
                <a:latin typeface="Palatino Linotype"/>
                <a:cs typeface="Palatino Linotype"/>
              </a:rPr>
              <a:t>corresponding</a:t>
            </a:r>
            <a:r>
              <a:rPr sz="1600" spc="-30"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to</a:t>
            </a:r>
            <a:r>
              <a:rPr sz="1600" spc="-25"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the</a:t>
            </a:r>
            <a:r>
              <a:rPr sz="1600" spc="-30" dirty="0">
                <a:solidFill>
                  <a:sysClr val="windowText" lastClr="000000"/>
                </a:solidFill>
                <a:latin typeface="Palatino Linotype"/>
                <a:cs typeface="Palatino Linotype"/>
              </a:rPr>
              <a:t> </a:t>
            </a:r>
            <a:r>
              <a:rPr sz="1600" dirty="0">
                <a:solidFill>
                  <a:srgbClr val="FF0000"/>
                </a:solidFill>
                <a:latin typeface="Palatino Linotype"/>
                <a:cs typeface="Palatino Linotype"/>
              </a:rPr>
              <a:t>last</a:t>
            </a:r>
            <a:r>
              <a:rPr sz="1600" spc="-20" dirty="0">
                <a:solidFill>
                  <a:srgbClr val="FF0000"/>
                </a:solidFill>
                <a:latin typeface="Palatino Linotype"/>
                <a:cs typeface="Palatino Linotype"/>
              </a:rPr>
              <a:t> </a:t>
            </a:r>
            <a:r>
              <a:rPr sz="1600" dirty="0">
                <a:solidFill>
                  <a:srgbClr val="FF0000"/>
                </a:solidFill>
                <a:latin typeface="Palatino Linotype"/>
                <a:cs typeface="Palatino Linotype"/>
              </a:rPr>
              <a:t>definitions</a:t>
            </a:r>
            <a:r>
              <a:rPr sz="1600" spc="-30" dirty="0">
                <a:solidFill>
                  <a:srgbClr val="FF0000"/>
                </a:solidFill>
                <a:latin typeface="Palatino Linotype"/>
                <a:cs typeface="Palatino Linotype"/>
              </a:rPr>
              <a:t> </a:t>
            </a:r>
            <a:r>
              <a:rPr sz="1600" dirty="0">
                <a:solidFill>
                  <a:sysClr val="windowText" lastClr="000000"/>
                </a:solidFill>
                <a:latin typeface="Palatino Linotype"/>
                <a:cs typeface="Palatino Linotype"/>
              </a:rPr>
              <a:t>of</a:t>
            </a:r>
            <a:r>
              <a:rPr sz="1600" spc="-25" dirty="0">
                <a:solidFill>
                  <a:sysClr val="windowText" lastClr="000000"/>
                </a:solidFill>
                <a:latin typeface="Palatino Linotype"/>
                <a:cs typeface="Palatino Linotype"/>
              </a:rPr>
              <a:t> </a:t>
            </a:r>
            <a:r>
              <a:rPr sz="1600" dirty="0">
                <a:solidFill>
                  <a:sysClr val="windowText" lastClr="000000"/>
                </a:solidFill>
                <a:latin typeface="Cambria Math"/>
                <a:cs typeface="Cambria Math"/>
              </a:rPr>
              <a:t>𝑏</a:t>
            </a:r>
            <a:r>
              <a:rPr sz="1600" spc="55" dirty="0">
                <a:solidFill>
                  <a:sysClr val="windowText" lastClr="000000"/>
                </a:solidFill>
                <a:latin typeface="Cambria Math"/>
                <a:cs typeface="Cambria Math"/>
              </a:rPr>
              <a:t> </a:t>
            </a:r>
            <a:r>
              <a:rPr sz="1600" dirty="0">
                <a:solidFill>
                  <a:sysClr val="windowText" lastClr="000000"/>
                </a:solidFill>
                <a:latin typeface="Palatino Linotype"/>
                <a:cs typeface="Palatino Linotype"/>
              </a:rPr>
              <a:t>and</a:t>
            </a:r>
            <a:r>
              <a:rPr sz="1600" spc="-25" dirty="0">
                <a:solidFill>
                  <a:sysClr val="windowText" lastClr="000000"/>
                </a:solidFill>
                <a:latin typeface="Palatino Linotype"/>
                <a:cs typeface="Palatino Linotype"/>
              </a:rPr>
              <a:t> </a:t>
            </a:r>
            <a:r>
              <a:rPr sz="1600" spc="-50" dirty="0">
                <a:solidFill>
                  <a:sysClr val="windowText" lastClr="000000"/>
                </a:solidFill>
                <a:latin typeface="Cambria Math"/>
                <a:cs typeface="Cambria Math"/>
              </a:rPr>
              <a:t>𝑐</a:t>
            </a:r>
            <a:endParaRPr sz="1600">
              <a:solidFill>
                <a:sysClr val="windowText" lastClr="000000"/>
              </a:solidFill>
              <a:latin typeface="Cambria Math"/>
              <a:cs typeface="Cambria Math"/>
            </a:endParaRPr>
          </a:p>
        </p:txBody>
      </p:sp>
      <p:grpSp>
        <p:nvGrpSpPr>
          <p:cNvPr id="18" name="object 5">
            <a:extLst>
              <a:ext uri="{FF2B5EF4-FFF2-40B4-BE49-F238E27FC236}">
                <a16:creationId xmlns:a16="http://schemas.microsoft.com/office/drawing/2014/main" id="{221E974E-9F4F-E151-D2D6-0FA391741476}"/>
              </a:ext>
            </a:extLst>
          </p:cNvPr>
          <p:cNvGrpSpPr/>
          <p:nvPr/>
        </p:nvGrpSpPr>
        <p:grpSpPr>
          <a:xfrm>
            <a:off x="1650288" y="3678937"/>
            <a:ext cx="647065" cy="635635"/>
            <a:chOff x="1650288" y="3678937"/>
            <a:chExt cx="647065" cy="635635"/>
          </a:xfrm>
        </p:grpSpPr>
        <p:sp>
          <p:nvSpPr>
            <p:cNvPr id="19" name="object 6">
              <a:extLst>
                <a:ext uri="{FF2B5EF4-FFF2-40B4-BE49-F238E27FC236}">
                  <a16:creationId xmlns:a16="http://schemas.microsoft.com/office/drawing/2014/main" id="{4986243C-BF8A-7E62-941D-D99F8420DF61}"/>
                </a:ext>
              </a:extLst>
            </p:cNvPr>
            <p:cNvSpPr/>
            <p:nvPr/>
          </p:nvSpPr>
          <p:spPr>
            <a:xfrm>
              <a:off x="1838227" y="3685287"/>
              <a:ext cx="260985" cy="260985"/>
            </a:xfrm>
            <a:custGeom>
              <a:avLst/>
              <a:gdLst/>
              <a:ahLst/>
              <a:cxnLst/>
              <a:rect l="l" t="t" r="r" b="b"/>
              <a:pathLst>
                <a:path w="260985" h="260985">
                  <a:moveTo>
                    <a:pt x="0" y="130263"/>
                  </a:moveTo>
                  <a:lnTo>
                    <a:pt x="10236" y="79558"/>
                  </a:lnTo>
                  <a:lnTo>
                    <a:pt x="38153" y="38153"/>
                  </a:lnTo>
                  <a:lnTo>
                    <a:pt x="79558" y="10236"/>
                  </a:lnTo>
                  <a:lnTo>
                    <a:pt x="130263" y="0"/>
                  </a:lnTo>
                  <a:lnTo>
                    <a:pt x="180967" y="10236"/>
                  </a:lnTo>
                  <a:lnTo>
                    <a:pt x="222372" y="38153"/>
                  </a:lnTo>
                  <a:lnTo>
                    <a:pt x="250289" y="79558"/>
                  </a:lnTo>
                  <a:lnTo>
                    <a:pt x="260526" y="130263"/>
                  </a:lnTo>
                  <a:lnTo>
                    <a:pt x="250289" y="180967"/>
                  </a:lnTo>
                  <a:lnTo>
                    <a:pt x="222372" y="222372"/>
                  </a:lnTo>
                  <a:lnTo>
                    <a:pt x="180967" y="250289"/>
                  </a:lnTo>
                  <a:lnTo>
                    <a:pt x="130263" y="260526"/>
                  </a:lnTo>
                  <a:lnTo>
                    <a:pt x="79558" y="250289"/>
                  </a:lnTo>
                  <a:lnTo>
                    <a:pt x="38153" y="222372"/>
                  </a:lnTo>
                  <a:lnTo>
                    <a:pt x="10236" y="180967"/>
                  </a:lnTo>
                  <a:lnTo>
                    <a:pt x="0" y="130263"/>
                  </a:lnTo>
                  <a:close/>
                </a:path>
              </a:pathLst>
            </a:custGeom>
            <a:ln w="12700">
              <a:solidFill>
                <a:srgbClr val="FF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0" name="object 7">
              <a:extLst>
                <a:ext uri="{FF2B5EF4-FFF2-40B4-BE49-F238E27FC236}">
                  <a16:creationId xmlns:a16="http://schemas.microsoft.com/office/drawing/2014/main" id="{082C8FA8-3A06-C4AF-3C20-A6DF1D270216}"/>
                </a:ext>
              </a:extLst>
            </p:cNvPr>
            <p:cNvSpPr/>
            <p:nvPr/>
          </p:nvSpPr>
          <p:spPr>
            <a:xfrm>
              <a:off x="1656638" y="3907660"/>
              <a:ext cx="220345" cy="400685"/>
            </a:xfrm>
            <a:custGeom>
              <a:avLst/>
              <a:gdLst/>
              <a:ahLst/>
              <a:cxnLst/>
              <a:rect l="l" t="t" r="r" b="b"/>
              <a:pathLst>
                <a:path w="220344" h="400685">
                  <a:moveTo>
                    <a:pt x="219742" y="0"/>
                  </a:moveTo>
                  <a:lnTo>
                    <a:pt x="0" y="400185"/>
                  </a:lnTo>
                </a:path>
              </a:pathLst>
            </a:custGeom>
            <a:ln w="12700">
              <a:solidFill>
                <a:srgbClr val="FF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1" name="object 8">
              <a:extLst>
                <a:ext uri="{FF2B5EF4-FFF2-40B4-BE49-F238E27FC236}">
                  <a16:creationId xmlns:a16="http://schemas.microsoft.com/office/drawing/2014/main" id="{F46A08CF-DF15-C853-C0E9-7AB6F33D7FD4}"/>
                </a:ext>
              </a:extLst>
            </p:cNvPr>
            <p:cNvSpPr/>
            <p:nvPr/>
          </p:nvSpPr>
          <p:spPr>
            <a:xfrm>
              <a:off x="2060600" y="3907660"/>
              <a:ext cx="230504" cy="396240"/>
            </a:xfrm>
            <a:custGeom>
              <a:avLst/>
              <a:gdLst/>
              <a:ahLst/>
              <a:cxnLst/>
              <a:rect l="l" t="t" r="r" b="b"/>
              <a:pathLst>
                <a:path w="230505" h="396239">
                  <a:moveTo>
                    <a:pt x="0" y="0"/>
                  </a:moveTo>
                  <a:lnTo>
                    <a:pt x="230157" y="395642"/>
                  </a:lnTo>
                </a:path>
              </a:pathLst>
            </a:custGeom>
            <a:ln w="12700">
              <a:solidFill>
                <a:srgbClr val="FF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22" name="object 9">
            <a:extLst>
              <a:ext uri="{FF2B5EF4-FFF2-40B4-BE49-F238E27FC236}">
                <a16:creationId xmlns:a16="http://schemas.microsoft.com/office/drawing/2014/main" id="{2EA85A1F-F79F-9D2C-5725-469DDF65E50D}"/>
              </a:ext>
            </a:extLst>
          </p:cNvPr>
          <p:cNvSpPr txBox="1"/>
          <p:nvPr/>
        </p:nvSpPr>
        <p:spPr>
          <a:xfrm>
            <a:off x="1898639" y="3654044"/>
            <a:ext cx="440055" cy="299720"/>
          </a:xfrm>
          <a:prstGeom prst="rect">
            <a:avLst/>
          </a:prstGeom>
        </p:spPr>
        <p:txBody>
          <a:bodyPr vert="horz" wrap="square" lIns="0" tIns="12700" rIns="0" bIns="0" rtlCol="0">
            <a:spAutoFit/>
          </a:bodyPr>
          <a:lstStyle/>
          <a:p>
            <a:pPr marL="12700">
              <a:spcBef>
                <a:spcPts val="100"/>
              </a:spcBef>
              <a:tabLst>
                <a:tab pos="314960" algn="l"/>
              </a:tabLst>
            </a:pPr>
            <a:r>
              <a:rPr spc="-50" dirty="0">
                <a:solidFill>
                  <a:srgbClr val="FF0000"/>
                </a:solidFill>
                <a:cs typeface="Calibri"/>
              </a:rPr>
              <a:t>+</a:t>
            </a:r>
            <a:r>
              <a:rPr dirty="0">
                <a:solidFill>
                  <a:srgbClr val="FF0000"/>
                </a:solidFill>
                <a:cs typeface="Calibri"/>
              </a:rPr>
              <a:t>	</a:t>
            </a:r>
            <a:r>
              <a:rPr spc="-50" dirty="0">
                <a:solidFill>
                  <a:srgbClr val="FF0000"/>
                </a:solidFill>
                <a:latin typeface="Cambria Math"/>
                <a:cs typeface="Cambria Math"/>
              </a:rPr>
              <a:t>a</a:t>
            </a:r>
            <a:endParaRPr>
              <a:solidFill>
                <a:sysClr val="windowText" lastClr="000000"/>
              </a:solidFill>
              <a:latin typeface="Cambria Math"/>
              <a:cs typeface="Cambria Math"/>
            </a:endParaRPr>
          </a:p>
        </p:txBody>
      </p:sp>
      <p:sp>
        <p:nvSpPr>
          <p:cNvPr id="23" name="object 10">
            <a:extLst>
              <a:ext uri="{FF2B5EF4-FFF2-40B4-BE49-F238E27FC236}">
                <a16:creationId xmlns:a16="http://schemas.microsoft.com/office/drawing/2014/main" id="{F479D485-6E77-617C-E778-7346E0428583}"/>
              </a:ext>
            </a:extLst>
          </p:cNvPr>
          <p:cNvSpPr/>
          <p:nvPr/>
        </p:nvSpPr>
        <p:spPr>
          <a:xfrm>
            <a:off x="580570" y="4470400"/>
            <a:ext cx="762000" cy="0"/>
          </a:xfrm>
          <a:custGeom>
            <a:avLst/>
            <a:gdLst/>
            <a:ahLst/>
            <a:cxnLst/>
            <a:rect l="l" t="t" r="r" b="b"/>
            <a:pathLst>
              <a:path w="762000">
                <a:moveTo>
                  <a:pt x="0" y="0"/>
                </a:moveTo>
                <a:lnTo>
                  <a:pt x="762000" y="1"/>
                </a:lnTo>
              </a:path>
            </a:pathLst>
          </a:custGeom>
          <a:ln w="34925">
            <a:solidFill>
              <a:srgbClr val="FF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4" name="object 11">
            <a:extLst>
              <a:ext uri="{FF2B5EF4-FFF2-40B4-BE49-F238E27FC236}">
                <a16:creationId xmlns:a16="http://schemas.microsoft.com/office/drawing/2014/main" id="{06B62B9F-0CD8-D7F2-8397-57ABE87553EF}"/>
              </a:ext>
            </a:extLst>
          </p:cNvPr>
          <p:cNvSpPr txBox="1"/>
          <p:nvPr/>
        </p:nvSpPr>
        <p:spPr>
          <a:xfrm>
            <a:off x="495625" y="4281932"/>
            <a:ext cx="3147060" cy="1090295"/>
          </a:xfrm>
          <a:prstGeom prst="rect">
            <a:avLst/>
          </a:prstGeom>
        </p:spPr>
        <p:txBody>
          <a:bodyPr vert="horz" wrap="square" lIns="0" tIns="12700" rIns="0" bIns="0" rtlCol="0">
            <a:spAutoFit/>
          </a:bodyPr>
          <a:lstStyle/>
          <a:p>
            <a:pPr marL="401955">
              <a:spcBef>
                <a:spcPts val="100"/>
              </a:spcBef>
              <a:tabLst>
                <a:tab pos="1043940" algn="l"/>
                <a:tab pos="1691005" algn="l"/>
                <a:tab pos="2311400" algn="l"/>
              </a:tabLst>
            </a:pPr>
            <a:r>
              <a:rPr spc="-25" dirty="0">
                <a:solidFill>
                  <a:sysClr val="windowText" lastClr="000000"/>
                </a:solidFill>
                <a:latin typeface="Cambria Math"/>
                <a:cs typeface="Cambria Math"/>
              </a:rPr>
              <a:t>a</a:t>
            </a:r>
            <a:r>
              <a:rPr sz="1950" spc="-37" baseline="-14957" dirty="0">
                <a:solidFill>
                  <a:sysClr val="windowText" lastClr="000000"/>
                </a:solidFill>
                <a:latin typeface="Cambria Math"/>
                <a:cs typeface="Cambria Math"/>
              </a:rPr>
              <a:t>0</a:t>
            </a:r>
            <a:r>
              <a:rPr sz="1950" baseline="-14957" dirty="0">
                <a:solidFill>
                  <a:sysClr val="windowText" lastClr="000000"/>
                </a:solidFill>
                <a:latin typeface="Cambria Math"/>
                <a:cs typeface="Cambria Math"/>
              </a:rPr>
              <a:t>	</a:t>
            </a:r>
            <a:r>
              <a:rPr spc="-25" dirty="0">
                <a:solidFill>
                  <a:sysClr val="windowText" lastClr="000000"/>
                </a:solidFill>
                <a:latin typeface="Cambria Math"/>
                <a:cs typeface="Cambria Math"/>
              </a:rPr>
              <a:t>b</a:t>
            </a:r>
            <a:r>
              <a:rPr sz="1950" spc="-37" baseline="-14957" dirty="0">
                <a:solidFill>
                  <a:sysClr val="windowText" lastClr="000000"/>
                </a:solidFill>
                <a:latin typeface="Cambria Math"/>
                <a:cs typeface="Cambria Math"/>
              </a:rPr>
              <a:t>0</a:t>
            </a:r>
            <a:r>
              <a:rPr sz="1950" baseline="-14957" dirty="0">
                <a:solidFill>
                  <a:sysClr val="windowText" lastClr="000000"/>
                </a:solidFill>
                <a:latin typeface="Cambria Math"/>
                <a:cs typeface="Cambria Math"/>
              </a:rPr>
              <a:t>	</a:t>
            </a:r>
            <a:r>
              <a:rPr spc="-25" dirty="0">
                <a:solidFill>
                  <a:sysClr val="windowText" lastClr="000000"/>
                </a:solidFill>
                <a:latin typeface="Cambria Math"/>
                <a:cs typeface="Cambria Math"/>
              </a:rPr>
              <a:t>c</a:t>
            </a:r>
            <a:r>
              <a:rPr sz="1950" spc="-37" baseline="-14957" dirty="0">
                <a:solidFill>
                  <a:sysClr val="windowText" lastClr="000000"/>
                </a:solidFill>
                <a:latin typeface="Cambria Math"/>
                <a:cs typeface="Cambria Math"/>
              </a:rPr>
              <a:t>0</a:t>
            </a:r>
            <a:r>
              <a:rPr sz="1950" baseline="-14957" dirty="0">
                <a:solidFill>
                  <a:sysClr val="windowText" lastClr="000000"/>
                </a:solidFill>
                <a:latin typeface="Cambria Math"/>
                <a:cs typeface="Cambria Math"/>
              </a:rPr>
              <a:t>	</a:t>
            </a:r>
            <a:r>
              <a:rPr spc="-25" dirty="0">
                <a:solidFill>
                  <a:sysClr val="windowText" lastClr="000000"/>
                </a:solidFill>
                <a:latin typeface="Cambria Math"/>
                <a:cs typeface="Cambria Math"/>
              </a:rPr>
              <a:t>d</a:t>
            </a:r>
            <a:r>
              <a:rPr sz="1950" spc="-37" baseline="-14957" dirty="0">
                <a:solidFill>
                  <a:sysClr val="windowText" lastClr="000000"/>
                </a:solidFill>
                <a:latin typeface="Cambria Math"/>
                <a:cs typeface="Cambria Math"/>
              </a:rPr>
              <a:t>0</a:t>
            </a:r>
            <a:endParaRPr sz="1950" baseline="-14957">
              <a:solidFill>
                <a:sysClr val="windowText" lastClr="000000"/>
              </a:solidFill>
              <a:latin typeface="Cambria Math"/>
              <a:cs typeface="Cambria Math"/>
            </a:endParaRPr>
          </a:p>
          <a:p>
            <a:pPr>
              <a:spcBef>
                <a:spcPts val="855"/>
              </a:spcBef>
            </a:pPr>
            <a:endParaRPr sz="1300">
              <a:solidFill>
                <a:sysClr val="windowText" lastClr="000000"/>
              </a:solidFill>
              <a:latin typeface="Cambria Math"/>
              <a:cs typeface="Cambria Math"/>
            </a:endParaRPr>
          </a:p>
          <a:p>
            <a:pPr marL="184150">
              <a:spcBef>
                <a:spcPts val="5"/>
              </a:spcBef>
            </a:pPr>
            <a:r>
              <a:rPr sz="1600" dirty="0">
                <a:solidFill>
                  <a:srgbClr val="FF0000"/>
                </a:solidFill>
                <a:latin typeface="Palatino Linotype"/>
                <a:cs typeface="Palatino Linotype"/>
              </a:rPr>
              <a:t>The</a:t>
            </a:r>
            <a:r>
              <a:rPr sz="1600" spc="-55" dirty="0">
                <a:solidFill>
                  <a:srgbClr val="FF0000"/>
                </a:solidFill>
                <a:latin typeface="Palatino Linotype"/>
                <a:cs typeface="Palatino Linotype"/>
              </a:rPr>
              <a:t> </a:t>
            </a:r>
            <a:r>
              <a:rPr sz="1600" dirty="0">
                <a:solidFill>
                  <a:srgbClr val="FF0000"/>
                </a:solidFill>
                <a:latin typeface="Palatino Linotype"/>
                <a:cs typeface="Palatino Linotype"/>
              </a:rPr>
              <a:t>variable</a:t>
            </a:r>
            <a:r>
              <a:rPr sz="1600" spc="-30" dirty="0">
                <a:solidFill>
                  <a:srgbClr val="FF0000"/>
                </a:solidFill>
                <a:latin typeface="Palatino Linotype"/>
                <a:cs typeface="Palatino Linotype"/>
              </a:rPr>
              <a:t> </a:t>
            </a:r>
            <a:r>
              <a:rPr sz="1600" dirty="0">
                <a:solidFill>
                  <a:srgbClr val="FF0000"/>
                </a:solidFill>
                <a:latin typeface="Consolas"/>
                <a:cs typeface="Consolas"/>
              </a:rPr>
              <a:t>a</a:t>
            </a:r>
            <a:r>
              <a:rPr sz="1600" spc="-484" dirty="0">
                <a:solidFill>
                  <a:srgbClr val="FF0000"/>
                </a:solidFill>
                <a:latin typeface="Consolas"/>
                <a:cs typeface="Consolas"/>
              </a:rPr>
              <a:t> </a:t>
            </a:r>
            <a:r>
              <a:rPr sz="1600" dirty="0">
                <a:solidFill>
                  <a:srgbClr val="FF0000"/>
                </a:solidFill>
                <a:latin typeface="Palatino Linotype"/>
                <a:cs typeface="Palatino Linotype"/>
              </a:rPr>
              <a:t>get</a:t>
            </a:r>
            <a:r>
              <a:rPr sz="1600" spc="-25" dirty="0">
                <a:solidFill>
                  <a:srgbClr val="FF0000"/>
                </a:solidFill>
                <a:latin typeface="Palatino Linotype"/>
                <a:cs typeface="Palatino Linotype"/>
              </a:rPr>
              <a:t> </a:t>
            </a:r>
            <a:r>
              <a:rPr sz="1600" dirty="0">
                <a:solidFill>
                  <a:srgbClr val="FF0000"/>
                </a:solidFill>
                <a:latin typeface="Palatino Linotype"/>
                <a:cs typeface="Palatino Linotype"/>
              </a:rPr>
              <a:t>a</a:t>
            </a:r>
            <a:r>
              <a:rPr sz="1600" spc="-20" dirty="0">
                <a:solidFill>
                  <a:srgbClr val="FF0000"/>
                </a:solidFill>
                <a:latin typeface="Palatino Linotype"/>
                <a:cs typeface="Palatino Linotype"/>
              </a:rPr>
              <a:t> </a:t>
            </a:r>
            <a:r>
              <a:rPr sz="1600" dirty="0">
                <a:solidFill>
                  <a:srgbClr val="FF0000"/>
                </a:solidFill>
                <a:latin typeface="Palatino Linotype"/>
                <a:cs typeface="Palatino Linotype"/>
              </a:rPr>
              <a:t>new</a:t>
            </a:r>
            <a:r>
              <a:rPr sz="1600" spc="-25" dirty="0">
                <a:solidFill>
                  <a:srgbClr val="FF0000"/>
                </a:solidFill>
                <a:latin typeface="Palatino Linotype"/>
                <a:cs typeface="Palatino Linotype"/>
              </a:rPr>
              <a:t> </a:t>
            </a:r>
            <a:r>
              <a:rPr sz="1600" spc="-10" dirty="0">
                <a:solidFill>
                  <a:srgbClr val="FF0000"/>
                </a:solidFill>
                <a:latin typeface="Palatino Linotype"/>
                <a:cs typeface="Palatino Linotype"/>
              </a:rPr>
              <a:t>value.</a:t>
            </a:r>
            <a:endParaRPr sz="1600">
              <a:solidFill>
                <a:sysClr val="windowText" lastClr="000000"/>
              </a:solidFill>
              <a:latin typeface="Palatino Linotype"/>
              <a:cs typeface="Palatino Linotype"/>
            </a:endParaRPr>
          </a:p>
          <a:p>
            <a:pPr marL="50800"/>
            <a:r>
              <a:rPr sz="1600" dirty="0">
                <a:solidFill>
                  <a:srgbClr val="FF0000"/>
                </a:solidFill>
                <a:latin typeface="Palatino Linotype"/>
                <a:cs typeface="Palatino Linotype"/>
              </a:rPr>
              <a:t>Old</a:t>
            </a:r>
            <a:r>
              <a:rPr sz="1600" spc="-55" dirty="0">
                <a:solidFill>
                  <a:srgbClr val="FF0000"/>
                </a:solidFill>
                <a:latin typeface="Palatino Linotype"/>
                <a:cs typeface="Palatino Linotype"/>
              </a:rPr>
              <a:t> </a:t>
            </a:r>
            <a:r>
              <a:rPr sz="1600" dirty="0">
                <a:solidFill>
                  <a:srgbClr val="FF0000"/>
                </a:solidFill>
                <a:latin typeface="Palatino Linotype"/>
                <a:cs typeface="Palatino Linotype"/>
              </a:rPr>
              <a:t>value</a:t>
            </a:r>
            <a:r>
              <a:rPr sz="1600" spc="-25" dirty="0">
                <a:solidFill>
                  <a:srgbClr val="FF0000"/>
                </a:solidFill>
                <a:latin typeface="Palatino Linotype"/>
                <a:cs typeface="Palatino Linotype"/>
              </a:rPr>
              <a:t> </a:t>
            </a:r>
            <a:r>
              <a:rPr sz="1600" spc="-10" dirty="0">
                <a:solidFill>
                  <a:srgbClr val="FF0000"/>
                </a:solidFill>
                <a:latin typeface="Consolas"/>
                <a:cs typeface="Consolas"/>
              </a:rPr>
              <a:t>a</a:t>
            </a:r>
            <a:r>
              <a:rPr sz="1650" spc="-15" baseline="-15151" dirty="0">
                <a:solidFill>
                  <a:srgbClr val="FF0000"/>
                </a:solidFill>
                <a:latin typeface="Consolas"/>
                <a:cs typeface="Consolas"/>
              </a:rPr>
              <a:t>0</a:t>
            </a:r>
            <a:r>
              <a:rPr sz="1650" spc="-337" baseline="-15151" dirty="0">
                <a:solidFill>
                  <a:srgbClr val="FF0000"/>
                </a:solidFill>
                <a:latin typeface="Consolas"/>
                <a:cs typeface="Consolas"/>
              </a:rPr>
              <a:t> </a:t>
            </a:r>
            <a:r>
              <a:rPr sz="1600" dirty="0">
                <a:solidFill>
                  <a:srgbClr val="FF0000"/>
                </a:solidFill>
                <a:latin typeface="Palatino Linotype"/>
                <a:cs typeface="Palatino Linotype"/>
              </a:rPr>
              <a:t>is</a:t>
            </a:r>
            <a:r>
              <a:rPr sz="1600" spc="-30" dirty="0">
                <a:solidFill>
                  <a:srgbClr val="FF0000"/>
                </a:solidFill>
                <a:latin typeface="Palatino Linotype"/>
                <a:cs typeface="Palatino Linotype"/>
              </a:rPr>
              <a:t> </a:t>
            </a:r>
            <a:r>
              <a:rPr sz="1600" dirty="0">
                <a:solidFill>
                  <a:srgbClr val="FF0000"/>
                </a:solidFill>
                <a:latin typeface="Palatino Linotype"/>
                <a:cs typeface="Palatino Linotype"/>
              </a:rPr>
              <a:t>never</a:t>
            </a:r>
            <a:r>
              <a:rPr sz="1600" spc="-20" dirty="0">
                <a:solidFill>
                  <a:srgbClr val="FF0000"/>
                </a:solidFill>
                <a:latin typeface="Palatino Linotype"/>
                <a:cs typeface="Palatino Linotype"/>
              </a:rPr>
              <a:t> </a:t>
            </a:r>
            <a:r>
              <a:rPr sz="1600" dirty="0">
                <a:solidFill>
                  <a:srgbClr val="FF0000"/>
                </a:solidFill>
                <a:latin typeface="Palatino Linotype"/>
                <a:cs typeface="Palatino Linotype"/>
              </a:rPr>
              <a:t>used</a:t>
            </a:r>
            <a:r>
              <a:rPr sz="1600" spc="-25" dirty="0">
                <a:solidFill>
                  <a:srgbClr val="FF0000"/>
                </a:solidFill>
                <a:latin typeface="Palatino Linotype"/>
                <a:cs typeface="Palatino Linotype"/>
              </a:rPr>
              <a:t> </a:t>
            </a:r>
            <a:r>
              <a:rPr sz="1600" spc="-10" dirty="0">
                <a:solidFill>
                  <a:srgbClr val="FF0000"/>
                </a:solidFill>
                <a:latin typeface="Palatino Linotype"/>
                <a:cs typeface="Palatino Linotype"/>
              </a:rPr>
              <a:t>(killed)</a:t>
            </a:r>
            <a:endParaRPr sz="1600">
              <a:solidFill>
                <a:sysClr val="windowText" lastClr="000000"/>
              </a:solidFill>
              <a:latin typeface="Palatino Linotype"/>
              <a:cs typeface="Palatino Linotype"/>
            </a:endParaRPr>
          </a:p>
        </p:txBody>
      </p:sp>
    </p:spTree>
    <p:extLst>
      <p:ext uri="{BB962C8B-B14F-4D97-AF65-F5344CB8AC3E}">
        <p14:creationId xmlns:p14="http://schemas.microsoft.com/office/powerpoint/2010/main" val="405696472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50</a:t>
            </a:fld>
            <a:endParaRPr lang="en-US"/>
          </a:p>
        </p:txBody>
      </p:sp>
      <p:sp>
        <p:nvSpPr>
          <p:cNvPr id="20" name="object 2">
            <a:extLst>
              <a:ext uri="{FF2B5EF4-FFF2-40B4-BE49-F238E27FC236}">
                <a16:creationId xmlns:a16="http://schemas.microsoft.com/office/drawing/2014/main" id="{2832BB8D-EB7F-F3AD-EBCA-4DCB159696EC}"/>
              </a:ext>
            </a:extLst>
          </p:cNvPr>
          <p:cNvSpPr txBox="1">
            <a:spLocks/>
          </p:cNvSpPr>
          <p:nvPr/>
        </p:nvSpPr>
        <p:spPr>
          <a:xfrm>
            <a:off x="707390" y="524763"/>
            <a:ext cx="4752340" cy="63500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4000" b="1" i="0" u="none" strike="noStrike" kern="0" cap="none" spc="0" normalizeH="0" baseline="0" noProof="0">
                <a:ln>
                  <a:noFill/>
                </a:ln>
                <a:solidFill>
                  <a:sysClr val="windowText" lastClr="000000"/>
                </a:solidFill>
                <a:effectLst/>
                <a:uLnTx/>
                <a:uFillTx/>
                <a:latin typeface="Palatino Linotype"/>
                <a:ea typeface="+mj-ea"/>
              </a:rPr>
              <a:t>Constructing</a:t>
            </a:r>
            <a:r>
              <a:rPr kumimoji="0" lang="en-US" sz="4000" b="1" i="0" u="none" strike="noStrike" kern="0" cap="none" spc="-130" normalizeH="0" baseline="0" noProof="0">
                <a:ln>
                  <a:noFill/>
                </a:ln>
                <a:solidFill>
                  <a:sysClr val="windowText" lastClr="000000"/>
                </a:solidFill>
                <a:effectLst/>
                <a:uLnTx/>
                <a:uFillTx/>
                <a:latin typeface="Palatino Linotype"/>
                <a:ea typeface="+mj-ea"/>
              </a:rPr>
              <a:t> </a:t>
            </a:r>
            <a:r>
              <a:rPr kumimoji="0" lang="en-US" sz="4000" b="1" i="0" u="none" strike="noStrike" kern="0" cap="none" spc="-10" normalizeH="0" baseline="0" noProof="0">
                <a:ln>
                  <a:noFill/>
                </a:ln>
                <a:solidFill>
                  <a:sysClr val="windowText" lastClr="000000"/>
                </a:solidFill>
                <a:effectLst/>
                <a:uLnTx/>
                <a:uFillTx/>
                <a:latin typeface="Palatino Linotype"/>
                <a:ea typeface="+mj-ea"/>
              </a:rPr>
              <a:t>DAG’s</a:t>
            </a:r>
            <a:endParaRPr kumimoji="0" lang="en-US" sz="4000" b="1" i="0" u="none" strike="noStrike" kern="0" cap="none" spc="-10" normalizeH="0" baseline="0" noProof="0" dirty="0">
              <a:ln>
                <a:noFill/>
              </a:ln>
              <a:solidFill>
                <a:sysClr val="windowText" lastClr="000000"/>
              </a:solidFill>
              <a:effectLst/>
              <a:uLnTx/>
              <a:uFillTx/>
              <a:latin typeface="Palatino Linotype"/>
              <a:ea typeface="+mj-ea"/>
            </a:endParaRPr>
          </a:p>
        </p:txBody>
      </p:sp>
      <p:pic>
        <p:nvPicPr>
          <p:cNvPr id="21" name="object 3">
            <a:extLst>
              <a:ext uri="{FF2B5EF4-FFF2-40B4-BE49-F238E27FC236}">
                <a16:creationId xmlns:a16="http://schemas.microsoft.com/office/drawing/2014/main" id="{A04EB3F9-EA83-B34A-E1A9-5D74A546548A}"/>
              </a:ext>
            </a:extLst>
          </p:cNvPr>
          <p:cNvPicPr/>
          <p:nvPr/>
        </p:nvPicPr>
        <p:blipFill>
          <a:blip r:embed="rId3" cstate="print"/>
          <a:stretch>
            <a:fillRect/>
          </a:stretch>
        </p:blipFill>
        <p:spPr>
          <a:xfrm>
            <a:off x="6803341" y="436512"/>
            <a:ext cx="925691" cy="868135"/>
          </a:xfrm>
          <a:prstGeom prst="rect">
            <a:avLst/>
          </a:prstGeom>
        </p:spPr>
      </p:pic>
      <p:sp>
        <p:nvSpPr>
          <p:cNvPr id="22" name="object 4">
            <a:extLst>
              <a:ext uri="{FF2B5EF4-FFF2-40B4-BE49-F238E27FC236}">
                <a16:creationId xmlns:a16="http://schemas.microsoft.com/office/drawing/2014/main" id="{74E82500-8F06-B63E-1F43-0C0451A6FBF2}"/>
              </a:ext>
            </a:extLst>
          </p:cNvPr>
          <p:cNvSpPr txBox="1"/>
          <p:nvPr/>
        </p:nvSpPr>
        <p:spPr>
          <a:xfrm>
            <a:off x="4006639" y="3149734"/>
            <a:ext cx="4707255" cy="2178050"/>
          </a:xfrm>
          <a:prstGeom prst="rect">
            <a:avLst/>
          </a:prstGeom>
          <a:solidFill>
            <a:srgbClr val="FFF2CC"/>
          </a:solidFill>
          <a:ln w="9525">
            <a:solidFill>
              <a:srgbClr val="000000"/>
            </a:solidFill>
          </a:ln>
        </p:spPr>
        <p:txBody>
          <a:bodyPr vert="horz" wrap="square" lIns="0" tIns="59690" rIns="0" bIns="0" rtlCol="0">
            <a:spAutoFit/>
          </a:bodyPr>
          <a:lstStyle/>
          <a:p>
            <a:pPr marL="90805">
              <a:spcBef>
                <a:spcPts val="470"/>
              </a:spcBef>
            </a:pPr>
            <a:r>
              <a:rPr b="1" dirty="0">
                <a:solidFill>
                  <a:srgbClr val="FF0000"/>
                </a:solidFill>
                <a:latin typeface="Palatino Linotype"/>
                <a:cs typeface="Palatino Linotype"/>
              </a:rPr>
              <a:t>Step</a:t>
            </a:r>
            <a:r>
              <a:rPr b="1" spc="-20" dirty="0">
                <a:solidFill>
                  <a:srgbClr val="FF0000"/>
                </a:solidFill>
                <a:latin typeface="Palatino Linotype"/>
                <a:cs typeface="Palatino Linotype"/>
              </a:rPr>
              <a:t> </a:t>
            </a:r>
            <a:r>
              <a:rPr b="1" dirty="0">
                <a:solidFill>
                  <a:srgbClr val="FF0000"/>
                </a:solidFill>
                <a:latin typeface="Palatino Linotype"/>
                <a:cs typeface="Palatino Linotype"/>
              </a:rPr>
              <a:t>3:</a:t>
            </a:r>
            <a:r>
              <a:rPr b="1" spc="-25" dirty="0">
                <a:solidFill>
                  <a:srgbClr val="FF0000"/>
                </a:solidFill>
                <a:latin typeface="Palatino Linotype"/>
                <a:cs typeface="Palatino Linotype"/>
              </a:rPr>
              <a:t> </a:t>
            </a:r>
            <a:r>
              <a:rPr dirty="0">
                <a:solidFill>
                  <a:srgbClr val="FF0000"/>
                </a:solidFill>
                <a:latin typeface="Palatino Linotype"/>
                <a:cs typeface="Palatino Linotype"/>
              </a:rPr>
              <a:t>Process</a:t>
            </a:r>
            <a:r>
              <a:rPr spc="-15" dirty="0">
                <a:solidFill>
                  <a:srgbClr val="FF0000"/>
                </a:solidFill>
                <a:latin typeface="Palatino Linotype"/>
                <a:cs typeface="Palatino Linotype"/>
              </a:rPr>
              <a:t> </a:t>
            </a:r>
            <a:r>
              <a:rPr dirty="0">
                <a:solidFill>
                  <a:srgbClr val="FF0000"/>
                </a:solidFill>
                <a:latin typeface="Cambria Math"/>
                <a:cs typeface="Cambria Math"/>
              </a:rPr>
              <a:t>𝑏</a:t>
            </a:r>
            <a:r>
              <a:rPr spc="120" dirty="0">
                <a:solidFill>
                  <a:srgbClr val="FF0000"/>
                </a:solidFill>
                <a:latin typeface="Cambria Math"/>
                <a:cs typeface="Cambria Math"/>
              </a:rPr>
              <a:t> </a:t>
            </a:r>
            <a:r>
              <a:rPr dirty="0">
                <a:solidFill>
                  <a:srgbClr val="FF0000"/>
                </a:solidFill>
                <a:latin typeface="Cambria Math"/>
                <a:cs typeface="Cambria Math"/>
              </a:rPr>
              <a:t>=</a:t>
            </a:r>
            <a:r>
              <a:rPr spc="85" dirty="0">
                <a:solidFill>
                  <a:srgbClr val="FF0000"/>
                </a:solidFill>
                <a:latin typeface="Cambria Math"/>
                <a:cs typeface="Cambria Math"/>
              </a:rPr>
              <a:t> </a:t>
            </a:r>
            <a:r>
              <a:rPr dirty="0">
                <a:solidFill>
                  <a:srgbClr val="FF0000"/>
                </a:solidFill>
                <a:latin typeface="Cambria Math"/>
                <a:cs typeface="Cambria Math"/>
              </a:rPr>
              <a:t>𝑎</a:t>
            </a:r>
            <a:r>
              <a:rPr spc="25" dirty="0">
                <a:solidFill>
                  <a:srgbClr val="FF0000"/>
                </a:solidFill>
                <a:latin typeface="Cambria Math"/>
                <a:cs typeface="Cambria Math"/>
              </a:rPr>
              <a:t> </a:t>
            </a:r>
            <a:r>
              <a:rPr dirty="0">
                <a:solidFill>
                  <a:srgbClr val="FF0000"/>
                </a:solidFill>
                <a:latin typeface="Cambria Math"/>
                <a:cs typeface="Cambria Math"/>
              </a:rPr>
              <a:t>−</a:t>
            </a:r>
            <a:r>
              <a:rPr spc="-15" dirty="0">
                <a:solidFill>
                  <a:srgbClr val="FF0000"/>
                </a:solidFill>
                <a:latin typeface="Cambria Math"/>
                <a:cs typeface="Cambria Math"/>
              </a:rPr>
              <a:t> </a:t>
            </a:r>
            <a:r>
              <a:rPr spc="-50" dirty="0">
                <a:solidFill>
                  <a:srgbClr val="FF0000"/>
                </a:solidFill>
                <a:latin typeface="Cambria Math"/>
                <a:cs typeface="Cambria Math"/>
              </a:rPr>
              <a:t>𝑑</a:t>
            </a:r>
            <a:endParaRPr>
              <a:solidFill>
                <a:sysClr val="windowText" lastClr="000000"/>
              </a:solidFill>
              <a:latin typeface="Cambria Math"/>
              <a:cs typeface="Cambria Math"/>
            </a:endParaRPr>
          </a:p>
          <a:p>
            <a:pPr marL="376555" indent="-285750">
              <a:spcBef>
                <a:spcPts val="1040"/>
              </a:spcBef>
              <a:buFont typeface="Arial MT"/>
              <a:buChar char="•"/>
              <a:tabLst>
                <a:tab pos="376555" algn="l"/>
              </a:tabLst>
            </a:pPr>
            <a:r>
              <a:rPr sz="1600" dirty="0">
                <a:solidFill>
                  <a:sysClr val="windowText" lastClr="000000"/>
                </a:solidFill>
                <a:latin typeface="Palatino Linotype"/>
                <a:cs typeface="Palatino Linotype"/>
              </a:rPr>
              <a:t>Create</a:t>
            </a:r>
            <a:r>
              <a:rPr sz="1600" spc="-25"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a</a:t>
            </a:r>
            <a:r>
              <a:rPr sz="1600" spc="-15"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node</a:t>
            </a:r>
            <a:r>
              <a:rPr sz="1600" spc="-20" dirty="0">
                <a:solidFill>
                  <a:sysClr val="windowText" lastClr="000000"/>
                </a:solidFill>
                <a:latin typeface="Palatino Linotype"/>
                <a:cs typeface="Palatino Linotype"/>
              </a:rPr>
              <a:t> </a:t>
            </a:r>
            <a:r>
              <a:rPr sz="1600" dirty="0">
                <a:solidFill>
                  <a:sysClr val="windowText" lastClr="000000"/>
                </a:solidFill>
                <a:latin typeface="Cambria Math"/>
                <a:cs typeface="Cambria Math"/>
              </a:rPr>
              <a:t>𝑁</a:t>
            </a:r>
            <a:r>
              <a:rPr sz="1600" spc="70" dirty="0">
                <a:solidFill>
                  <a:sysClr val="windowText" lastClr="000000"/>
                </a:solidFill>
                <a:latin typeface="Cambria Math"/>
                <a:cs typeface="Cambria Math"/>
              </a:rPr>
              <a:t> </a:t>
            </a:r>
            <a:r>
              <a:rPr sz="1600" dirty="0">
                <a:solidFill>
                  <a:sysClr val="windowText" lastClr="000000"/>
                </a:solidFill>
                <a:latin typeface="Palatino Linotype"/>
                <a:cs typeface="Palatino Linotype"/>
              </a:rPr>
              <a:t>for</a:t>
            </a:r>
            <a:r>
              <a:rPr sz="1600" spc="-15"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the</a:t>
            </a:r>
            <a:r>
              <a:rPr sz="1600" spc="-20" dirty="0">
                <a:solidFill>
                  <a:sysClr val="windowText" lastClr="000000"/>
                </a:solidFill>
                <a:latin typeface="Palatino Linotype"/>
                <a:cs typeface="Palatino Linotype"/>
              </a:rPr>
              <a:t> </a:t>
            </a:r>
            <a:r>
              <a:rPr sz="1600" spc="-10" dirty="0">
                <a:solidFill>
                  <a:sysClr val="windowText" lastClr="000000"/>
                </a:solidFill>
                <a:latin typeface="Palatino Linotype"/>
                <a:cs typeface="Palatino Linotype"/>
              </a:rPr>
              <a:t>statement</a:t>
            </a:r>
            <a:endParaRPr sz="1600">
              <a:solidFill>
                <a:sysClr val="windowText" lastClr="000000"/>
              </a:solidFill>
              <a:latin typeface="Palatino Linotype"/>
              <a:cs typeface="Palatino Linotype"/>
            </a:endParaRPr>
          </a:p>
          <a:p>
            <a:pPr marL="376555" indent="-285750">
              <a:spcBef>
                <a:spcPts val="960"/>
              </a:spcBef>
              <a:buFont typeface="Arial MT"/>
              <a:buChar char="•"/>
              <a:tabLst>
                <a:tab pos="376555" algn="l"/>
              </a:tabLst>
            </a:pPr>
            <a:r>
              <a:rPr sz="1600" dirty="0">
                <a:solidFill>
                  <a:sysClr val="windowText" lastClr="000000"/>
                </a:solidFill>
                <a:latin typeface="Palatino Linotype"/>
                <a:cs typeface="Palatino Linotype"/>
              </a:rPr>
              <a:t>Label</a:t>
            </a:r>
            <a:r>
              <a:rPr sz="1600" spc="-30"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it</a:t>
            </a:r>
            <a:r>
              <a:rPr sz="1600" spc="-25"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with</a:t>
            </a:r>
            <a:r>
              <a:rPr sz="1600" spc="-25" dirty="0">
                <a:solidFill>
                  <a:sysClr val="windowText" lastClr="000000"/>
                </a:solidFill>
                <a:latin typeface="Palatino Linotype"/>
                <a:cs typeface="Palatino Linotype"/>
              </a:rPr>
              <a:t> </a:t>
            </a:r>
            <a:r>
              <a:rPr sz="1600" spc="-50" dirty="0">
                <a:solidFill>
                  <a:sysClr val="windowText" lastClr="000000"/>
                </a:solidFill>
                <a:latin typeface="Cambria Math"/>
                <a:cs typeface="Cambria Math"/>
              </a:rPr>
              <a:t>−</a:t>
            </a:r>
            <a:endParaRPr sz="1600">
              <a:solidFill>
                <a:sysClr val="windowText" lastClr="000000"/>
              </a:solidFill>
              <a:latin typeface="Cambria Math"/>
              <a:cs typeface="Cambria Math"/>
            </a:endParaRPr>
          </a:p>
          <a:p>
            <a:pPr marL="376555" indent="-285750">
              <a:spcBef>
                <a:spcPts val="985"/>
              </a:spcBef>
              <a:buFont typeface="Arial MT"/>
              <a:buChar char="•"/>
              <a:tabLst>
                <a:tab pos="376555" algn="l"/>
              </a:tabLst>
            </a:pPr>
            <a:r>
              <a:rPr sz="1600" dirty="0">
                <a:solidFill>
                  <a:sysClr val="windowText" lastClr="000000"/>
                </a:solidFill>
                <a:latin typeface="Palatino Linotype"/>
                <a:cs typeface="Palatino Linotype"/>
              </a:rPr>
              <a:t>Attach</a:t>
            </a:r>
            <a:r>
              <a:rPr sz="1600" spc="-15" dirty="0">
                <a:solidFill>
                  <a:sysClr val="windowText" lastClr="000000"/>
                </a:solidFill>
                <a:latin typeface="Palatino Linotype"/>
                <a:cs typeface="Palatino Linotype"/>
              </a:rPr>
              <a:t> </a:t>
            </a:r>
            <a:r>
              <a:rPr sz="1600" dirty="0">
                <a:solidFill>
                  <a:sysClr val="windowText" lastClr="000000"/>
                </a:solidFill>
                <a:latin typeface="Cambria Math"/>
                <a:cs typeface="Cambria Math"/>
              </a:rPr>
              <a:t>𝑏</a:t>
            </a:r>
            <a:r>
              <a:rPr sz="1600" spc="60" dirty="0">
                <a:solidFill>
                  <a:sysClr val="windowText" lastClr="000000"/>
                </a:solidFill>
                <a:latin typeface="Cambria Math"/>
                <a:cs typeface="Cambria Math"/>
              </a:rPr>
              <a:t> </a:t>
            </a:r>
            <a:r>
              <a:rPr sz="1600" dirty="0">
                <a:solidFill>
                  <a:sysClr val="windowText" lastClr="000000"/>
                </a:solidFill>
                <a:latin typeface="Palatino Linotype"/>
                <a:cs typeface="Palatino Linotype"/>
              </a:rPr>
              <a:t>to</a:t>
            </a:r>
            <a:r>
              <a:rPr sz="1600" spc="-20" dirty="0">
                <a:solidFill>
                  <a:sysClr val="windowText" lastClr="000000"/>
                </a:solidFill>
                <a:latin typeface="Palatino Linotype"/>
                <a:cs typeface="Palatino Linotype"/>
              </a:rPr>
              <a:t> </a:t>
            </a:r>
            <a:r>
              <a:rPr sz="1600" spc="-50" dirty="0">
                <a:solidFill>
                  <a:sysClr val="windowText" lastClr="000000"/>
                </a:solidFill>
                <a:latin typeface="Cambria Math"/>
                <a:cs typeface="Cambria Math"/>
              </a:rPr>
              <a:t>𝑁</a:t>
            </a:r>
            <a:endParaRPr sz="1600">
              <a:solidFill>
                <a:sysClr val="windowText" lastClr="000000"/>
              </a:solidFill>
              <a:latin typeface="Cambria Math"/>
              <a:cs typeface="Cambria Math"/>
            </a:endParaRPr>
          </a:p>
          <a:p>
            <a:pPr marL="376555" marR="103505" indent="-285750">
              <a:lnSpc>
                <a:spcPct val="120000"/>
              </a:lnSpc>
              <a:spcBef>
                <a:spcPts val="600"/>
              </a:spcBef>
              <a:buFont typeface="Arial MT"/>
              <a:buChar char="•"/>
              <a:tabLst>
                <a:tab pos="376555" algn="l"/>
              </a:tabLst>
            </a:pPr>
            <a:r>
              <a:rPr sz="1600" dirty="0">
                <a:solidFill>
                  <a:sysClr val="windowText" lastClr="000000"/>
                </a:solidFill>
                <a:latin typeface="Palatino Linotype"/>
                <a:cs typeface="Palatino Linotype"/>
              </a:rPr>
              <a:t>The</a:t>
            </a:r>
            <a:r>
              <a:rPr sz="1600" spc="-25"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children</a:t>
            </a:r>
            <a:r>
              <a:rPr sz="1600" spc="-15"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of</a:t>
            </a:r>
            <a:r>
              <a:rPr sz="1600" spc="-20" dirty="0">
                <a:solidFill>
                  <a:sysClr val="windowText" lastClr="000000"/>
                </a:solidFill>
                <a:latin typeface="Palatino Linotype"/>
                <a:cs typeface="Palatino Linotype"/>
              </a:rPr>
              <a:t> </a:t>
            </a:r>
            <a:r>
              <a:rPr sz="1600" dirty="0">
                <a:solidFill>
                  <a:sysClr val="windowText" lastClr="000000"/>
                </a:solidFill>
                <a:latin typeface="Cambria Math"/>
                <a:cs typeface="Cambria Math"/>
              </a:rPr>
              <a:t>𝑁</a:t>
            </a:r>
            <a:r>
              <a:rPr sz="1600" spc="65" dirty="0">
                <a:solidFill>
                  <a:sysClr val="windowText" lastClr="000000"/>
                </a:solidFill>
                <a:latin typeface="Cambria Math"/>
                <a:cs typeface="Cambria Math"/>
              </a:rPr>
              <a:t> </a:t>
            </a:r>
            <a:r>
              <a:rPr sz="1600" dirty="0">
                <a:solidFill>
                  <a:sysClr val="windowText" lastClr="000000"/>
                </a:solidFill>
                <a:latin typeface="Palatino Linotype"/>
                <a:cs typeface="Palatino Linotype"/>
              </a:rPr>
              <a:t>are</a:t>
            </a:r>
            <a:r>
              <a:rPr sz="1600" spc="-25"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those</a:t>
            </a:r>
            <a:r>
              <a:rPr sz="1600" spc="-25" dirty="0">
                <a:solidFill>
                  <a:sysClr val="windowText" lastClr="000000"/>
                </a:solidFill>
                <a:latin typeface="Palatino Linotype"/>
                <a:cs typeface="Palatino Linotype"/>
              </a:rPr>
              <a:t> </a:t>
            </a:r>
            <a:r>
              <a:rPr sz="1600" spc="-20" dirty="0">
                <a:solidFill>
                  <a:sysClr val="windowText" lastClr="000000"/>
                </a:solidFill>
                <a:latin typeface="Palatino Linotype"/>
                <a:cs typeface="Palatino Linotype"/>
              </a:rPr>
              <a:t>nodes </a:t>
            </a:r>
            <a:r>
              <a:rPr sz="1600" dirty="0">
                <a:solidFill>
                  <a:sysClr val="windowText" lastClr="000000"/>
                </a:solidFill>
                <a:latin typeface="Palatino Linotype"/>
                <a:cs typeface="Palatino Linotype"/>
              </a:rPr>
              <a:t>corresponding</a:t>
            </a:r>
            <a:r>
              <a:rPr sz="1600" spc="-30"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to</a:t>
            </a:r>
            <a:r>
              <a:rPr sz="1600" spc="-25"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the</a:t>
            </a:r>
            <a:r>
              <a:rPr sz="1600" spc="-30" dirty="0">
                <a:solidFill>
                  <a:sysClr val="windowText" lastClr="000000"/>
                </a:solidFill>
                <a:latin typeface="Palatino Linotype"/>
                <a:cs typeface="Palatino Linotype"/>
              </a:rPr>
              <a:t> </a:t>
            </a:r>
            <a:r>
              <a:rPr sz="1600" dirty="0">
                <a:solidFill>
                  <a:srgbClr val="FF0000"/>
                </a:solidFill>
                <a:latin typeface="Palatino Linotype"/>
                <a:cs typeface="Palatino Linotype"/>
              </a:rPr>
              <a:t>last</a:t>
            </a:r>
            <a:r>
              <a:rPr sz="1600" spc="-20" dirty="0">
                <a:solidFill>
                  <a:srgbClr val="FF0000"/>
                </a:solidFill>
                <a:latin typeface="Palatino Linotype"/>
                <a:cs typeface="Palatino Linotype"/>
              </a:rPr>
              <a:t> </a:t>
            </a:r>
            <a:r>
              <a:rPr sz="1600" dirty="0">
                <a:solidFill>
                  <a:srgbClr val="FF0000"/>
                </a:solidFill>
                <a:latin typeface="Palatino Linotype"/>
                <a:cs typeface="Palatino Linotype"/>
              </a:rPr>
              <a:t>definitions</a:t>
            </a:r>
            <a:r>
              <a:rPr sz="1600" spc="-30" dirty="0">
                <a:solidFill>
                  <a:srgbClr val="FF0000"/>
                </a:solidFill>
                <a:latin typeface="Palatino Linotype"/>
                <a:cs typeface="Palatino Linotype"/>
              </a:rPr>
              <a:t> </a:t>
            </a:r>
            <a:r>
              <a:rPr sz="1600" dirty="0">
                <a:solidFill>
                  <a:sysClr val="windowText" lastClr="000000"/>
                </a:solidFill>
                <a:latin typeface="Palatino Linotype"/>
                <a:cs typeface="Palatino Linotype"/>
              </a:rPr>
              <a:t>of</a:t>
            </a:r>
            <a:r>
              <a:rPr sz="1600" spc="-25" dirty="0">
                <a:solidFill>
                  <a:sysClr val="windowText" lastClr="000000"/>
                </a:solidFill>
                <a:latin typeface="Palatino Linotype"/>
                <a:cs typeface="Palatino Linotype"/>
              </a:rPr>
              <a:t> </a:t>
            </a:r>
            <a:r>
              <a:rPr sz="1600" dirty="0">
                <a:solidFill>
                  <a:sysClr val="windowText" lastClr="000000"/>
                </a:solidFill>
                <a:latin typeface="Cambria Math"/>
                <a:cs typeface="Cambria Math"/>
              </a:rPr>
              <a:t>𝑎</a:t>
            </a:r>
            <a:r>
              <a:rPr sz="1600" spc="55" dirty="0">
                <a:solidFill>
                  <a:sysClr val="windowText" lastClr="000000"/>
                </a:solidFill>
                <a:latin typeface="Cambria Math"/>
                <a:cs typeface="Cambria Math"/>
              </a:rPr>
              <a:t> </a:t>
            </a:r>
            <a:r>
              <a:rPr sz="1600" dirty="0">
                <a:solidFill>
                  <a:sysClr val="windowText" lastClr="000000"/>
                </a:solidFill>
                <a:latin typeface="Palatino Linotype"/>
                <a:cs typeface="Palatino Linotype"/>
              </a:rPr>
              <a:t>and</a:t>
            </a:r>
            <a:r>
              <a:rPr sz="1600" spc="-25" dirty="0">
                <a:solidFill>
                  <a:sysClr val="windowText" lastClr="000000"/>
                </a:solidFill>
                <a:latin typeface="Palatino Linotype"/>
                <a:cs typeface="Palatino Linotype"/>
              </a:rPr>
              <a:t> </a:t>
            </a:r>
            <a:r>
              <a:rPr sz="1600" spc="-50" dirty="0">
                <a:solidFill>
                  <a:sysClr val="windowText" lastClr="000000"/>
                </a:solidFill>
                <a:latin typeface="Cambria Math"/>
                <a:cs typeface="Cambria Math"/>
              </a:rPr>
              <a:t>𝑑</a:t>
            </a:r>
            <a:endParaRPr sz="1600">
              <a:solidFill>
                <a:sysClr val="windowText" lastClr="000000"/>
              </a:solidFill>
              <a:latin typeface="Cambria Math"/>
              <a:cs typeface="Cambria Math"/>
            </a:endParaRPr>
          </a:p>
        </p:txBody>
      </p:sp>
      <p:sp>
        <p:nvSpPr>
          <p:cNvPr id="23" name="object 5">
            <a:extLst>
              <a:ext uri="{FF2B5EF4-FFF2-40B4-BE49-F238E27FC236}">
                <a16:creationId xmlns:a16="http://schemas.microsoft.com/office/drawing/2014/main" id="{58613691-8211-FA94-0C7F-411C0633BCCB}"/>
              </a:ext>
            </a:extLst>
          </p:cNvPr>
          <p:cNvSpPr/>
          <p:nvPr/>
        </p:nvSpPr>
        <p:spPr>
          <a:xfrm>
            <a:off x="1838227" y="3685287"/>
            <a:ext cx="260985" cy="260985"/>
          </a:xfrm>
          <a:custGeom>
            <a:avLst/>
            <a:gdLst/>
            <a:ahLst/>
            <a:cxnLst/>
            <a:rect l="l" t="t" r="r" b="b"/>
            <a:pathLst>
              <a:path w="260985" h="260985">
                <a:moveTo>
                  <a:pt x="0" y="130263"/>
                </a:moveTo>
                <a:lnTo>
                  <a:pt x="10236" y="79558"/>
                </a:lnTo>
                <a:lnTo>
                  <a:pt x="38153" y="38153"/>
                </a:lnTo>
                <a:lnTo>
                  <a:pt x="79558" y="10236"/>
                </a:lnTo>
                <a:lnTo>
                  <a:pt x="130263" y="0"/>
                </a:lnTo>
                <a:lnTo>
                  <a:pt x="180967" y="10236"/>
                </a:lnTo>
                <a:lnTo>
                  <a:pt x="222372" y="38153"/>
                </a:lnTo>
                <a:lnTo>
                  <a:pt x="250289" y="79558"/>
                </a:lnTo>
                <a:lnTo>
                  <a:pt x="260526" y="130263"/>
                </a:lnTo>
                <a:lnTo>
                  <a:pt x="250289" y="180967"/>
                </a:lnTo>
                <a:lnTo>
                  <a:pt x="222372" y="222372"/>
                </a:lnTo>
                <a:lnTo>
                  <a:pt x="180967" y="250289"/>
                </a:lnTo>
                <a:lnTo>
                  <a:pt x="130263" y="260526"/>
                </a:lnTo>
                <a:lnTo>
                  <a:pt x="79558" y="250289"/>
                </a:lnTo>
                <a:lnTo>
                  <a:pt x="38153" y="222372"/>
                </a:lnTo>
                <a:lnTo>
                  <a:pt x="10236" y="180967"/>
                </a:lnTo>
                <a:lnTo>
                  <a:pt x="0" y="130263"/>
                </a:lnTo>
                <a:close/>
              </a:path>
            </a:pathLst>
          </a:custGeom>
          <a:ln w="12700">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4" name="object 6">
            <a:extLst>
              <a:ext uri="{FF2B5EF4-FFF2-40B4-BE49-F238E27FC236}">
                <a16:creationId xmlns:a16="http://schemas.microsoft.com/office/drawing/2014/main" id="{5C41FB36-C25C-12E8-4A38-CB2F7B3DAD88}"/>
              </a:ext>
            </a:extLst>
          </p:cNvPr>
          <p:cNvSpPr txBox="1"/>
          <p:nvPr/>
        </p:nvSpPr>
        <p:spPr>
          <a:xfrm>
            <a:off x="1502088" y="4281932"/>
            <a:ext cx="297180" cy="299720"/>
          </a:xfrm>
          <a:prstGeom prst="rect">
            <a:avLst/>
          </a:prstGeom>
        </p:spPr>
        <p:txBody>
          <a:bodyPr vert="horz" wrap="square" lIns="0" tIns="12700" rIns="0" bIns="0" rtlCol="0">
            <a:spAutoFit/>
          </a:bodyPr>
          <a:lstStyle/>
          <a:p>
            <a:pPr marL="38100">
              <a:spcBef>
                <a:spcPts val="100"/>
              </a:spcBef>
            </a:pPr>
            <a:r>
              <a:rPr spc="-25" dirty="0">
                <a:solidFill>
                  <a:sysClr val="windowText" lastClr="000000"/>
                </a:solidFill>
                <a:latin typeface="Cambria Math"/>
                <a:cs typeface="Cambria Math"/>
              </a:rPr>
              <a:t>b</a:t>
            </a:r>
            <a:r>
              <a:rPr sz="1950" spc="-37" baseline="-14957" dirty="0">
                <a:solidFill>
                  <a:sysClr val="windowText" lastClr="000000"/>
                </a:solidFill>
                <a:latin typeface="Cambria Math"/>
                <a:cs typeface="Cambria Math"/>
              </a:rPr>
              <a:t>0</a:t>
            </a:r>
            <a:endParaRPr sz="1950" baseline="-14957">
              <a:solidFill>
                <a:sysClr val="windowText" lastClr="000000"/>
              </a:solidFill>
              <a:latin typeface="Cambria Math"/>
              <a:cs typeface="Cambria Math"/>
            </a:endParaRPr>
          </a:p>
        </p:txBody>
      </p:sp>
      <p:sp>
        <p:nvSpPr>
          <p:cNvPr id="25" name="object 7">
            <a:extLst>
              <a:ext uri="{FF2B5EF4-FFF2-40B4-BE49-F238E27FC236}">
                <a16:creationId xmlns:a16="http://schemas.microsoft.com/office/drawing/2014/main" id="{A2FA1FC9-9CB1-2985-3232-61932A372373}"/>
              </a:ext>
            </a:extLst>
          </p:cNvPr>
          <p:cNvSpPr txBox="1"/>
          <p:nvPr/>
        </p:nvSpPr>
        <p:spPr>
          <a:xfrm>
            <a:off x="2136331" y="4278883"/>
            <a:ext cx="944880" cy="299720"/>
          </a:xfrm>
          <a:prstGeom prst="rect">
            <a:avLst/>
          </a:prstGeom>
        </p:spPr>
        <p:txBody>
          <a:bodyPr vert="horz" wrap="square" lIns="0" tIns="12700" rIns="0" bIns="0" rtlCol="0">
            <a:spAutoFit/>
          </a:bodyPr>
          <a:lstStyle/>
          <a:p>
            <a:pPr marL="50800">
              <a:spcBef>
                <a:spcPts val="100"/>
              </a:spcBef>
              <a:tabLst>
                <a:tab pos="671195" algn="l"/>
              </a:tabLst>
            </a:pPr>
            <a:r>
              <a:rPr spc="-25" dirty="0">
                <a:solidFill>
                  <a:sysClr val="windowText" lastClr="000000"/>
                </a:solidFill>
                <a:latin typeface="Cambria Math"/>
                <a:cs typeface="Cambria Math"/>
              </a:rPr>
              <a:t>c</a:t>
            </a:r>
            <a:r>
              <a:rPr sz="1950" spc="-37" baseline="-14957" dirty="0">
                <a:solidFill>
                  <a:sysClr val="windowText" lastClr="000000"/>
                </a:solidFill>
                <a:latin typeface="Cambria Math"/>
                <a:cs typeface="Cambria Math"/>
              </a:rPr>
              <a:t>0</a:t>
            </a:r>
            <a:r>
              <a:rPr sz="1950" baseline="-14957" dirty="0">
                <a:solidFill>
                  <a:sysClr val="windowText" lastClr="000000"/>
                </a:solidFill>
                <a:latin typeface="Cambria Math"/>
                <a:cs typeface="Cambria Math"/>
              </a:rPr>
              <a:t>	</a:t>
            </a:r>
            <a:r>
              <a:rPr spc="-25" dirty="0">
                <a:solidFill>
                  <a:sysClr val="windowText" lastClr="000000"/>
                </a:solidFill>
                <a:latin typeface="Cambria Math"/>
                <a:cs typeface="Cambria Math"/>
              </a:rPr>
              <a:t>d</a:t>
            </a:r>
            <a:r>
              <a:rPr sz="1950" spc="-37" baseline="-14957" dirty="0">
                <a:solidFill>
                  <a:sysClr val="windowText" lastClr="000000"/>
                </a:solidFill>
                <a:latin typeface="Cambria Math"/>
                <a:cs typeface="Cambria Math"/>
              </a:rPr>
              <a:t>0</a:t>
            </a:r>
            <a:endParaRPr sz="1950" baseline="-14957">
              <a:solidFill>
                <a:sysClr val="windowText" lastClr="000000"/>
              </a:solidFill>
              <a:latin typeface="Cambria Math"/>
              <a:cs typeface="Cambria Math"/>
            </a:endParaRPr>
          </a:p>
        </p:txBody>
      </p:sp>
      <p:grpSp>
        <p:nvGrpSpPr>
          <p:cNvPr id="26" name="object 8">
            <a:extLst>
              <a:ext uri="{FF2B5EF4-FFF2-40B4-BE49-F238E27FC236}">
                <a16:creationId xmlns:a16="http://schemas.microsoft.com/office/drawing/2014/main" id="{CC02D145-E150-1721-4B79-3E9F1014178D}"/>
              </a:ext>
            </a:extLst>
          </p:cNvPr>
          <p:cNvGrpSpPr/>
          <p:nvPr/>
        </p:nvGrpSpPr>
        <p:grpSpPr>
          <a:xfrm>
            <a:off x="1650288" y="3901310"/>
            <a:ext cx="647065" cy="413384"/>
            <a:chOff x="1650288" y="3901310"/>
            <a:chExt cx="647065" cy="413384"/>
          </a:xfrm>
        </p:grpSpPr>
        <p:sp>
          <p:nvSpPr>
            <p:cNvPr id="27" name="object 9">
              <a:extLst>
                <a:ext uri="{FF2B5EF4-FFF2-40B4-BE49-F238E27FC236}">
                  <a16:creationId xmlns:a16="http://schemas.microsoft.com/office/drawing/2014/main" id="{BC37ABAC-2355-9C62-7E8A-FD4E102AC20D}"/>
                </a:ext>
              </a:extLst>
            </p:cNvPr>
            <p:cNvSpPr/>
            <p:nvPr/>
          </p:nvSpPr>
          <p:spPr>
            <a:xfrm>
              <a:off x="1656638" y="3907660"/>
              <a:ext cx="220345" cy="400685"/>
            </a:xfrm>
            <a:custGeom>
              <a:avLst/>
              <a:gdLst/>
              <a:ahLst/>
              <a:cxnLst/>
              <a:rect l="l" t="t" r="r" b="b"/>
              <a:pathLst>
                <a:path w="220344" h="400685">
                  <a:moveTo>
                    <a:pt x="219742" y="0"/>
                  </a:moveTo>
                  <a:lnTo>
                    <a:pt x="0" y="400185"/>
                  </a:lnTo>
                </a:path>
              </a:pathLst>
            </a:custGeom>
            <a:ln w="12700">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8" name="object 10">
              <a:extLst>
                <a:ext uri="{FF2B5EF4-FFF2-40B4-BE49-F238E27FC236}">
                  <a16:creationId xmlns:a16="http://schemas.microsoft.com/office/drawing/2014/main" id="{E0483BFD-E067-B74D-226E-CD7A1FBF0376}"/>
                </a:ext>
              </a:extLst>
            </p:cNvPr>
            <p:cNvSpPr/>
            <p:nvPr/>
          </p:nvSpPr>
          <p:spPr>
            <a:xfrm>
              <a:off x="2060600" y="3907660"/>
              <a:ext cx="230504" cy="396240"/>
            </a:xfrm>
            <a:custGeom>
              <a:avLst/>
              <a:gdLst/>
              <a:ahLst/>
              <a:cxnLst/>
              <a:rect l="l" t="t" r="r" b="b"/>
              <a:pathLst>
                <a:path w="230505" h="396239">
                  <a:moveTo>
                    <a:pt x="0" y="0"/>
                  </a:moveTo>
                  <a:lnTo>
                    <a:pt x="230157" y="395642"/>
                  </a:lnTo>
                </a:path>
              </a:pathLst>
            </a:custGeom>
            <a:ln w="12700">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29" name="object 11">
            <a:extLst>
              <a:ext uri="{FF2B5EF4-FFF2-40B4-BE49-F238E27FC236}">
                <a16:creationId xmlns:a16="http://schemas.microsoft.com/office/drawing/2014/main" id="{D97F2962-F993-D8E3-AD08-86B8EAFB810E}"/>
              </a:ext>
            </a:extLst>
          </p:cNvPr>
          <p:cNvSpPr txBox="1"/>
          <p:nvPr/>
        </p:nvSpPr>
        <p:spPr>
          <a:xfrm>
            <a:off x="1898639" y="3654044"/>
            <a:ext cx="440055" cy="299720"/>
          </a:xfrm>
          <a:prstGeom prst="rect">
            <a:avLst/>
          </a:prstGeom>
        </p:spPr>
        <p:txBody>
          <a:bodyPr vert="horz" wrap="square" lIns="0" tIns="12700" rIns="0" bIns="0" rtlCol="0">
            <a:spAutoFit/>
          </a:bodyPr>
          <a:lstStyle/>
          <a:p>
            <a:pPr marL="12700">
              <a:spcBef>
                <a:spcPts val="100"/>
              </a:spcBef>
              <a:tabLst>
                <a:tab pos="314960" algn="l"/>
              </a:tabLst>
            </a:pPr>
            <a:r>
              <a:rPr spc="-50" dirty="0">
                <a:solidFill>
                  <a:sysClr val="windowText" lastClr="000000"/>
                </a:solidFill>
                <a:cs typeface="Calibri"/>
              </a:rPr>
              <a:t>+</a:t>
            </a:r>
            <a:r>
              <a:rPr dirty="0">
                <a:solidFill>
                  <a:sysClr val="windowText" lastClr="000000"/>
                </a:solidFill>
                <a:cs typeface="Calibri"/>
              </a:rPr>
              <a:t>	</a:t>
            </a:r>
            <a:r>
              <a:rPr spc="-50" dirty="0">
                <a:solidFill>
                  <a:sysClr val="windowText" lastClr="000000"/>
                </a:solidFill>
                <a:latin typeface="Cambria Math"/>
                <a:cs typeface="Cambria Math"/>
              </a:rPr>
              <a:t>a</a:t>
            </a:r>
            <a:endParaRPr>
              <a:solidFill>
                <a:sysClr val="windowText" lastClr="000000"/>
              </a:solidFill>
              <a:latin typeface="Cambria Math"/>
              <a:cs typeface="Cambria Math"/>
            </a:endParaRPr>
          </a:p>
        </p:txBody>
      </p:sp>
      <p:grpSp>
        <p:nvGrpSpPr>
          <p:cNvPr id="30" name="object 12">
            <a:extLst>
              <a:ext uri="{FF2B5EF4-FFF2-40B4-BE49-F238E27FC236}">
                <a16:creationId xmlns:a16="http://schemas.microsoft.com/office/drawing/2014/main" id="{D56FC6BB-E023-0247-3446-DC3DA24816EA}"/>
              </a:ext>
            </a:extLst>
          </p:cNvPr>
          <p:cNvGrpSpPr/>
          <p:nvPr/>
        </p:nvGrpSpPr>
        <p:grpSpPr>
          <a:xfrm>
            <a:off x="1962139" y="2965383"/>
            <a:ext cx="969644" cy="1344295"/>
            <a:chOff x="1962139" y="2965383"/>
            <a:chExt cx="969644" cy="1344295"/>
          </a:xfrm>
        </p:grpSpPr>
        <p:sp>
          <p:nvSpPr>
            <p:cNvPr id="31" name="object 13">
              <a:extLst>
                <a:ext uri="{FF2B5EF4-FFF2-40B4-BE49-F238E27FC236}">
                  <a16:creationId xmlns:a16="http://schemas.microsoft.com/office/drawing/2014/main" id="{44E8E13C-58F3-6494-4F5C-7D8EB80B33AF}"/>
                </a:ext>
              </a:extLst>
            </p:cNvPr>
            <p:cNvSpPr/>
            <p:nvPr/>
          </p:nvSpPr>
          <p:spPr>
            <a:xfrm>
              <a:off x="2526968" y="2971733"/>
              <a:ext cx="260985" cy="260985"/>
            </a:xfrm>
            <a:custGeom>
              <a:avLst/>
              <a:gdLst/>
              <a:ahLst/>
              <a:cxnLst/>
              <a:rect l="l" t="t" r="r" b="b"/>
              <a:pathLst>
                <a:path w="260985" h="260985">
                  <a:moveTo>
                    <a:pt x="0" y="130263"/>
                  </a:moveTo>
                  <a:lnTo>
                    <a:pt x="10236" y="79558"/>
                  </a:lnTo>
                  <a:lnTo>
                    <a:pt x="38153" y="38153"/>
                  </a:lnTo>
                  <a:lnTo>
                    <a:pt x="79558" y="10236"/>
                  </a:lnTo>
                  <a:lnTo>
                    <a:pt x="130263" y="0"/>
                  </a:lnTo>
                  <a:lnTo>
                    <a:pt x="180967" y="10236"/>
                  </a:lnTo>
                  <a:lnTo>
                    <a:pt x="222372" y="38153"/>
                  </a:lnTo>
                  <a:lnTo>
                    <a:pt x="250289" y="79558"/>
                  </a:lnTo>
                  <a:lnTo>
                    <a:pt x="260526" y="130263"/>
                  </a:lnTo>
                  <a:lnTo>
                    <a:pt x="250289" y="180967"/>
                  </a:lnTo>
                  <a:lnTo>
                    <a:pt x="222372" y="222372"/>
                  </a:lnTo>
                  <a:lnTo>
                    <a:pt x="180967" y="250289"/>
                  </a:lnTo>
                  <a:lnTo>
                    <a:pt x="130263" y="260526"/>
                  </a:lnTo>
                  <a:lnTo>
                    <a:pt x="79558" y="250289"/>
                  </a:lnTo>
                  <a:lnTo>
                    <a:pt x="38153" y="222372"/>
                  </a:lnTo>
                  <a:lnTo>
                    <a:pt x="10236" y="180967"/>
                  </a:lnTo>
                  <a:lnTo>
                    <a:pt x="0" y="130263"/>
                  </a:lnTo>
                  <a:close/>
                </a:path>
              </a:pathLst>
            </a:custGeom>
            <a:ln w="12700">
              <a:solidFill>
                <a:srgbClr val="FF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32" name="object 14">
              <a:extLst>
                <a:ext uri="{FF2B5EF4-FFF2-40B4-BE49-F238E27FC236}">
                  <a16:creationId xmlns:a16="http://schemas.microsoft.com/office/drawing/2014/main" id="{33EA9B64-B81D-F992-11FE-8C47F3520BFC}"/>
                </a:ext>
              </a:extLst>
            </p:cNvPr>
            <p:cNvSpPr/>
            <p:nvPr/>
          </p:nvSpPr>
          <p:spPr>
            <a:xfrm>
              <a:off x="2749341" y="3194107"/>
              <a:ext cx="175895" cy="1109345"/>
            </a:xfrm>
            <a:custGeom>
              <a:avLst/>
              <a:gdLst/>
              <a:ahLst/>
              <a:cxnLst/>
              <a:rect l="l" t="t" r="r" b="b"/>
              <a:pathLst>
                <a:path w="175894" h="1109345">
                  <a:moveTo>
                    <a:pt x="0" y="0"/>
                  </a:moveTo>
                  <a:lnTo>
                    <a:pt x="175534" y="1109195"/>
                  </a:lnTo>
                </a:path>
              </a:pathLst>
            </a:custGeom>
            <a:ln w="12700">
              <a:solidFill>
                <a:srgbClr val="FF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33" name="object 15">
              <a:extLst>
                <a:ext uri="{FF2B5EF4-FFF2-40B4-BE49-F238E27FC236}">
                  <a16:creationId xmlns:a16="http://schemas.microsoft.com/office/drawing/2014/main" id="{E010D7B3-0918-99F0-A975-847E3909078B}"/>
                </a:ext>
              </a:extLst>
            </p:cNvPr>
            <p:cNvSpPr/>
            <p:nvPr/>
          </p:nvSpPr>
          <p:spPr>
            <a:xfrm>
              <a:off x="1968489" y="3194106"/>
              <a:ext cx="596900" cy="491490"/>
            </a:xfrm>
            <a:custGeom>
              <a:avLst/>
              <a:gdLst/>
              <a:ahLst/>
              <a:cxnLst/>
              <a:rect l="l" t="t" r="r" b="b"/>
              <a:pathLst>
                <a:path w="596900" h="491489">
                  <a:moveTo>
                    <a:pt x="0" y="491181"/>
                  </a:moveTo>
                  <a:lnTo>
                    <a:pt x="596632" y="0"/>
                  </a:lnTo>
                </a:path>
              </a:pathLst>
            </a:custGeom>
            <a:ln w="12700">
              <a:solidFill>
                <a:srgbClr val="FF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34" name="object 16">
            <a:extLst>
              <a:ext uri="{FF2B5EF4-FFF2-40B4-BE49-F238E27FC236}">
                <a16:creationId xmlns:a16="http://schemas.microsoft.com/office/drawing/2014/main" id="{A26A67BF-2E0E-893D-E4F3-42C7043F5D0C}"/>
              </a:ext>
            </a:extLst>
          </p:cNvPr>
          <p:cNvSpPr txBox="1"/>
          <p:nvPr/>
        </p:nvSpPr>
        <p:spPr>
          <a:xfrm>
            <a:off x="2587382" y="2940811"/>
            <a:ext cx="534035" cy="299720"/>
          </a:xfrm>
          <a:prstGeom prst="rect">
            <a:avLst/>
          </a:prstGeom>
        </p:spPr>
        <p:txBody>
          <a:bodyPr vert="horz" wrap="square" lIns="0" tIns="12700" rIns="0" bIns="0" rtlCol="0">
            <a:spAutoFit/>
          </a:bodyPr>
          <a:lstStyle/>
          <a:p>
            <a:pPr marL="12700">
              <a:spcBef>
                <a:spcPts val="100"/>
              </a:spcBef>
              <a:tabLst>
                <a:tab pos="395605" algn="l"/>
              </a:tabLst>
            </a:pPr>
            <a:r>
              <a:rPr spc="-50" dirty="0">
                <a:solidFill>
                  <a:srgbClr val="FF0000"/>
                </a:solidFill>
                <a:cs typeface="Calibri"/>
              </a:rPr>
              <a:t>−</a:t>
            </a:r>
            <a:r>
              <a:rPr dirty="0">
                <a:solidFill>
                  <a:srgbClr val="FF0000"/>
                </a:solidFill>
                <a:cs typeface="Calibri"/>
              </a:rPr>
              <a:t>	</a:t>
            </a:r>
            <a:r>
              <a:rPr spc="-50" dirty="0">
                <a:solidFill>
                  <a:srgbClr val="FF0000"/>
                </a:solidFill>
                <a:latin typeface="Cambria Math"/>
                <a:cs typeface="Cambria Math"/>
              </a:rPr>
              <a:t>b</a:t>
            </a:r>
            <a:endParaRPr>
              <a:solidFill>
                <a:sysClr val="windowText" lastClr="000000"/>
              </a:solidFill>
              <a:latin typeface="Cambria Math"/>
              <a:cs typeface="Cambria Math"/>
            </a:endParaRPr>
          </a:p>
        </p:txBody>
      </p:sp>
    </p:spTree>
    <p:extLst>
      <p:ext uri="{BB962C8B-B14F-4D97-AF65-F5344CB8AC3E}">
        <p14:creationId xmlns:p14="http://schemas.microsoft.com/office/powerpoint/2010/main" val="59342338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51</a:t>
            </a:fld>
            <a:endParaRPr lang="en-US"/>
          </a:p>
        </p:txBody>
      </p:sp>
      <p:sp>
        <p:nvSpPr>
          <p:cNvPr id="23" name="object 2">
            <a:extLst>
              <a:ext uri="{FF2B5EF4-FFF2-40B4-BE49-F238E27FC236}">
                <a16:creationId xmlns:a16="http://schemas.microsoft.com/office/drawing/2014/main" id="{447FC0B1-1DBC-A10A-E78F-A15C115D9DCA}"/>
              </a:ext>
            </a:extLst>
          </p:cNvPr>
          <p:cNvSpPr txBox="1">
            <a:spLocks/>
          </p:cNvSpPr>
          <p:nvPr/>
        </p:nvSpPr>
        <p:spPr>
          <a:xfrm>
            <a:off x="707390" y="524763"/>
            <a:ext cx="4752340" cy="63500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4000" b="1" i="0" u="none" strike="noStrike" kern="0" cap="none" spc="0" normalizeH="0" baseline="0" noProof="0">
                <a:ln>
                  <a:noFill/>
                </a:ln>
                <a:solidFill>
                  <a:sysClr val="windowText" lastClr="000000"/>
                </a:solidFill>
                <a:effectLst/>
                <a:uLnTx/>
                <a:uFillTx/>
                <a:latin typeface="Palatino Linotype"/>
                <a:ea typeface="+mj-ea"/>
              </a:rPr>
              <a:t>Constructing</a:t>
            </a:r>
            <a:r>
              <a:rPr kumimoji="0" lang="en-US" sz="4000" b="1" i="0" u="none" strike="noStrike" kern="0" cap="none" spc="-130" normalizeH="0" baseline="0" noProof="0">
                <a:ln>
                  <a:noFill/>
                </a:ln>
                <a:solidFill>
                  <a:sysClr val="windowText" lastClr="000000"/>
                </a:solidFill>
                <a:effectLst/>
                <a:uLnTx/>
                <a:uFillTx/>
                <a:latin typeface="Palatino Linotype"/>
                <a:ea typeface="+mj-ea"/>
              </a:rPr>
              <a:t> </a:t>
            </a:r>
            <a:r>
              <a:rPr kumimoji="0" lang="en-US" sz="4000" b="1" i="0" u="none" strike="noStrike" kern="0" cap="none" spc="-10" normalizeH="0" baseline="0" noProof="0">
                <a:ln>
                  <a:noFill/>
                </a:ln>
                <a:solidFill>
                  <a:sysClr val="windowText" lastClr="000000"/>
                </a:solidFill>
                <a:effectLst/>
                <a:uLnTx/>
                <a:uFillTx/>
                <a:latin typeface="Palatino Linotype"/>
                <a:ea typeface="+mj-ea"/>
              </a:rPr>
              <a:t>DAG’s</a:t>
            </a:r>
            <a:endParaRPr kumimoji="0" lang="en-US" sz="4000" b="1" i="0" u="none" strike="noStrike" kern="0" cap="none" spc="-10" normalizeH="0" baseline="0" noProof="0" dirty="0">
              <a:ln>
                <a:noFill/>
              </a:ln>
              <a:solidFill>
                <a:sysClr val="windowText" lastClr="000000"/>
              </a:solidFill>
              <a:effectLst/>
              <a:uLnTx/>
              <a:uFillTx/>
              <a:latin typeface="Palatino Linotype"/>
              <a:ea typeface="+mj-ea"/>
            </a:endParaRPr>
          </a:p>
        </p:txBody>
      </p:sp>
      <p:pic>
        <p:nvPicPr>
          <p:cNvPr id="24" name="object 3">
            <a:extLst>
              <a:ext uri="{FF2B5EF4-FFF2-40B4-BE49-F238E27FC236}">
                <a16:creationId xmlns:a16="http://schemas.microsoft.com/office/drawing/2014/main" id="{951C080E-D4C0-070C-EC19-1AD33EDBC7FD}"/>
              </a:ext>
            </a:extLst>
          </p:cNvPr>
          <p:cNvPicPr/>
          <p:nvPr/>
        </p:nvPicPr>
        <p:blipFill>
          <a:blip r:embed="rId3" cstate="print"/>
          <a:stretch>
            <a:fillRect/>
          </a:stretch>
        </p:blipFill>
        <p:spPr>
          <a:xfrm>
            <a:off x="6803341" y="371197"/>
            <a:ext cx="925691" cy="868135"/>
          </a:xfrm>
          <a:prstGeom prst="rect">
            <a:avLst/>
          </a:prstGeom>
        </p:spPr>
      </p:pic>
      <p:sp>
        <p:nvSpPr>
          <p:cNvPr id="25" name="object 4">
            <a:extLst>
              <a:ext uri="{FF2B5EF4-FFF2-40B4-BE49-F238E27FC236}">
                <a16:creationId xmlns:a16="http://schemas.microsoft.com/office/drawing/2014/main" id="{3CD7345D-8AC6-904C-16AA-1799BC8291FA}"/>
              </a:ext>
            </a:extLst>
          </p:cNvPr>
          <p:cNvSpPr txBox="1"/>
          <p:nvPr/>
        </p:nvSpPr>
        <p:spPr>
          <a:xfrm>
            <a:off x="4006639" y="3149734"/>
            <a:ext cx="4707255" cy="2178050"/>
          </a:xfrm>
          <a:prstGeom prst="rect">
            <a:avLst/>
          </a:prstGeom>
          <a:solidFill>
            <a:srgbClr val="FFF2CC"/>
          </a:solidFill>
          <a:ln w="9525">
            <a:solidFill>
              <a:srgbClr val="000000"/>
            </a:solidFill>
          </a:ln>
        </p:spPr>
        <p:txBody>
          <a:bodyPr vert="horz" wrap="square" lIns="0" tIns="59690" rIns="0" bIns="0" rtlCol="0">
            <a:spAutoFit/>
          </a:bodyPr>
          <a:lstStyle/>
          <a:p>
            <a:pPr marL="90805">
              <a:spcBef>
                <a:spcPts val="470"/>
              </a:spcBef>
            </a:pPr>
            <a:r>
              <a:rPr b="1" dirty="0">
                <a:solidFill>
                  <a:srgbClr val="FF0000"/>
                </a:solidFill>
                <a:latin typeface="Palatino Linotype"/>
                <a:cs typeface="Palatino Linotype"/>
              </a:rPr>
              <a:t>Step</a:t>
            </a:r>
            <a:r>
              <a:rPr b="1" spc="-20" dirty="0">
                <a:solidFill>
                  <a:srgbClr val="FF0000"/>
                </a:solidFill>
                <a:latin typeface="Palatino Linotype"/>
                <a:cs typeface="Palatino Linotype"/>
              </a:rPr>
              <a:t> </a:t>
            </a:r>
            <a:r>
              <a:rPr b="1" dirty="0">
                <a:solidFill>
                  <a:srgbClr val="FF0000"/>
                </a:solidFill>
                <a:latin typeface="Palatino Linotype"/>
                <a:cs typeface="Palatino Linotype"/>
              </a:rPr>
              <a:t>4:</a:t>
            </a:r>
            <a:r>
              <a:rPr b="1" spc="-25" dirty="0">
                <a:solidFill>
                  <a:srgbClr val="FF0000"/>
                </a:solidFill>
                <a:latin typeface="Palatino Linotype"/>
                <a:cs typeface="Palatino Linotype"/>
              </a:rPr>
              <a:t> </a:t>
            </a:r>
            <a:r>
              <a:rPr dirty="0">
                <a:solidFill>
                  <a:srgbClr val="FF0000"/>
                </a:solidFill>
                <a:latin typeface="Palatino Linotype"/>
                <a:cs typeface="Palatino Linotype"/>
              </a:rPr>
              <a:t>Process</a:t>
            </a:r>
            <a:r>
              <a:rPr spc="-15" dirty="0">
                <a:solidFill>
                  <a:srgbClr val="FF0000"/>
                </a:solidFill>
                <a:latin typeface="Palatino Linotype"/>
                <a:cs typeface="Palatino Linotype"/>
              </a:rPr>
              <a:t> </a:t>
            </a:r>
            <a:r>
              <a:rPr dirty="0">
                <a:solidFill>
                  <a:srgbClr val="FF0000"/>
                </a:solidFill>
                <a:latin typeface="Cambria Math"/>
                <a:cs typeface="Cambria Math"/>
              </a:rPr>
              <a:t>𝑐</a:t>
            </a:r>
            <a:r>
              <a:rPr spc="130" dirty="0">
                <a:solidFill>
                  <a:srgbClr val="FF0000"/>
                </a:solidFill>
                <a:latin typeface="Cambria Math"/>
                <a:cs typeface="Cambria Math"/>
              </a:rPr>
              <a:t> </a:t>
            </a:r>
            <a:r>
              <a:rPr dirty="0">
                <a:solidFill>
                  <a:srgbClr val="FF0000"/>
                </a:solidFill>
                <a:latin typeface="Cambria Math"/>
                <a:cs typeface="Cambria Math"/>
              </a:rPr>
              <a:t>=</a:t>
            </a:r>
            <a:r>
              <a:rPr spc="85" dirty="0">
                <a:solidFill>
                  <a:srgbClr val="FF0000"/>
                </a:solidFill>
                <a:latin typeface="Cambria Math"/>
                <a:cs typeface="Cambria Math"/>
              </a:rPr>
              <a:t> </a:t>
            </a:r>
            <a:r>
              <a:rPr dirty="0">
                <a:solidFill>
                  <a:srgbClr val="FF0000"/>
                </a:solidFill>
                <a:latin typeface="Cambria Math"/>
                <a:cs typeface="Cambria Math"/>
              </a:rPr>
              <a:t>𝑏</a:t>
            </a:r>
            <a:r>
              <a:rPr spc="30" dirty="0">
                <a:solidFill>
                  <a:srgbClr val="FF0000"/>
                </a:solidFill>
                <a:latin typeface="Cambria Math"/>
                <a:cs typeface="Cambria Math"/>
              </a:rPr>
              <a:t> </a:t>
            </a:r>
            <a:r>
              <a:rPr dirty="0">
                <a:solidFill>
                  <a:srgbClr val="FF0000"/>
                </a:solidFill>
                <a:latin typeface="Cambria Math"/>
                <a:cs typeface="Cambria Math"/>
              </a:rPr>
              <a:t>+</a:t>
            </a:r>
            <a:r>
              <a:rPr spc="-15" dirty="0">
                <a:solidFill>
                  <a:srgbClr val="FF0000"/>
                </a:solidFill>
                <a:latin typeface="Cambria Math"/>
                <a:cs typeface="Cambria Math"/>
              </a:rPr>
              <a:t> </a:t>
            </a:r>
            <a:r>
              <a:rPr spc="-50" dirty="0">
                <a:solidFill>
                  <a:srgbClr val="FF0000"/>
                </a:solidFill>
                <a:latin typeface="Cambria Math"/>
                <a:cs typeface="Cambria Math"/>
              </a:rPr>
              <a:t>𝑐</a:t>
            </a:r>
            <a:endParaRPr>
              <a:solidFill>
                <a:sysClr val="windowText" lastClr="000000"/>
              </a:solidFill>
              <a:latin typeface="Cambria Math"/>
              <a:cs typeface="Cambria Math"/>
            </a:endParaRPr>
          </a:p>
          <a:p>
            <a:pPr marL="376555" indent="-285750">
              <a:spcBef>
                <a:spcPts val="1040"/>
              </a:spcBef>
              <a:buFont typeface="Arial MT"/>
              <a:buChar char="•"/>
              <a:tabLst>
                <a:tab pos="376555" algn="l"/>
              </a:tabLst>
            </a:pPr>
            <a:r>
              <a:rPr sz="1600" dirty="0">
                <a:solidFill>
                  <a:sysClr val="windowText" lastClr="000000"/>
                </a:solidFill>
                <a:latin typeface="Palatino Linotype"/>
                <a:cs typeface="Palatino Linotype"/>
              </a:rPr>
              <a:t>Create</a:t>
            </a:r>
            <a:r>
              <a:rPr sz="1600" spc="-25"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a</a:t>
            </a:r>
            <a:r>
              <a:rPr sz="1600" spc="-15"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node</a:t>
            </a:r>
            <a:r>
              <a:rPr sz="1600" spc="-20" dirty="0">
                <a:solidFill>
                  <a:sysClr val="windowText" lastClr="000000"/>
                </a:solidFill>
                <a:latin typeface="Palatino Linotype"/>
                <a:cs typeface="Palatino Linotype"/>
              </a:rPr>
              <a:t> </a:t>
            </a:r>
            <a:r>
              <a:rPr sz="1600" dirty="0">
                <a:solidFill>
                  <a:sysClr val="windowText" lastClr="000000"/>
                </a:solidFill>
                <a:latin typeface="Cambria Math"/>
                <a:cs typeface="Cambria Math"/>
              </a:rPr>
              <a:t>𝑁</a:t>
            </a:r>
            <a:r>
              <a:rPr sz="1600" spc="70" dirty="0">
                <a:solidFill>
                  <a:sysClr val="windowText" lastClr="000000"/>
                </a:solidFill>
                <a:latin typeface="Cambria Math"/>
                <a:cs typeface="Cambria Math"/>
              </a:rPr>
              <a:t> </a:t>
            </a:r>
            <a:r>
              <a:rPr sz="1600" dirty="0">
                <a:solidFill>
                  <a:sysClr val="windowText" lastClr="000000"/>
                </a:solidFill>
                <a:latin typeface="Palatino Linotype"/>
                <a:cs typeface="Palatino Linotype"/>
              </a:rPr>
              <a:t>for</a:t>
            </a:r>
            <a:r>
              <a:rPr sz="1600" spc="-15"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the</a:t>
            </a:r>
            <a:r>
              <a:rPr sz="1600" spc="-20" dirty="0">
                <a:solidFill>
                  <a:sysClr val="windowText" lastClr="000000"/>
                </a:solidFill>
                <a:latin typeface="Palatino Linotype"/>
                <a:cs typeface="Palatino Linotype"/>
              </a:rPr>
              <a:t> </a:t>
            </a:r>
            <a:r>
              <a:rPr sz="1600" spc="-10" dirty="0">
                <a:solidFill>
                  <a:sysClr val="windowText" lastClr="000000"/>
                </a:solidFill>
                <a:latin typeface="Palatino Linotype"/>
                <a:cs typeface="Palatino Linotype"/>
              </a:rPr>
              <a:t>statement</a:t>
            </a:r>
            <a:endParaRPr sz="1600">
              <a:solidFill>
                <a:sysClr val="windowText" lastClr="000000"/>
              </a:solidFill>
              <a:latin typeface="Palatino Linotype"/>
              <a:cs typeface="Palatino Linotype"/>
            </a:endParaRPr>
          </a:p>
          <a:p>
            <a:pPr marL="376555" indent="-285750">
              <a:spcBef>
                <a:spcPts val="960"/>
              </a:spcBef>
              <a:buFont typeface="Arial MT"/>
              <a:buChar char="•"/>
              <a:tabLst>
                <a:tab pos="376555" algn="l"/>
              </a:tabLst>
            </a:pPr>
            <a:r>
              <a:rPr sz="1600" dirty="0">
                <a:solidFill>
                  <a:sysClr val="windowText" lastClr="000000"/>
                </a:solidFill>
                <a:latin typeface="Palatino Linotype"/>
                <a:cs typeface="Palatino Linotype"/>
              </a:rPr>
              <a:t>Label</a:t>
            </a:r>
            <a:r>
              <a:rPr sz="1600" spc="-30"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it</a:t>
            </a:r>
            <a:r>
              <a:rPr sz="1600" spc="-25"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with</a:t>
            </a:r>
            <a:r>
              <a:rPr sz="1600" spc="-25" dirty="0">
                <a:solidFill>
                  <a:sysClr val="windowText" lastClr="000000"/>
                </a:solidFill>
                <a:latin typeface="Palatino Linotype"/>
                <a:cs typeface="Palatino Linotype"/>
              </a:rPr>
              <a:t> </a:t>
            </a:r>
            <a:r>
              <a:rPr sz="1600" spc="-50" dirty="0">
                <a:solidFill>
                  <a:sysClr val="windowText" lastClr="000000"/>
                </a:solidFill>
                <a:latin typeface="Cambria Math"/>
                <a:cs typeface="Cambria Math"/>
              </a:rPr>
              <a:t>+</a:t>
            </a:r>
            <a:endParaRPr sz="1600">
              <a:solidFill>
                <a:sysClr val="windowText" lastClr="000000"/>
              </a:solidFill>
              <a:latin typeface="Cambria Math"/>
              <a:cs typeface="Cambria Math"/>
            </a:endParaRPr>
          </a:p>
          <a:p>
            <a:pPr marL="376555" indent="-285750">
              <a:spcBef>
                <a:spcPts val="985"/>
              </a:spcBef>
              <a:buFont typeface="Arial MT"/>
              <a:buChar char="•"/>
              <a:tabLst>
                <a:tab pos="376555" algn="l"/>
              </a:tabLst>
            </a:pPr>
            <a:r>
              <a:rPr sz="1600" dirty="0">
                <a:solidFill>
                  <a:sysClr val="windowText" lastClr="000000"/>
                </a:solidFill>
                <a:latin typeface="Palatino Linotype"/>
                <a:cs typeface="Palatino Linotype"/>
              </a:rPr>
              <a:t>Attach</a:t>
            </a:r>
            <a:r>
              <a:rPr sz="1600" spc="-20" dirty="0">
                <a:solidFill>
                  <a:sysClr val="windowText" lastClr="000000"/>
                </a:solidFill>
                <a:latin typeface="Palatino Linotype"/>
                <a:cs typeface="Palatino Linotype"/>
              </a:rPr>
              <a:t> </a:t>
            </a:r>
            <a:r>
              <a:rPr sz="1600" dirty="0">
                <a:solidFill>
                  <a:sysClr val="windowText" lastClr="000000"/>
                </a:solidFill>
                <a:latin typeface="Cambria Math"/>
                <a:cs typeface="Cambria Math"/>
              </a:rPr>
              <a:t>𝑐</a:t>
            </a:r>
            <a:r>
              <a:rPr sz="1600" spc="80" dirty="0">
                <a:solidFill>
                  <a:sysClr val="windowText" lastClr="000000"/>
                </a:solidFill>
                <a:latin typeface="Cambria Math"/>
                <a:cs typeface="Cambria Math"/>
              </a:rPr>
              <a:t> </a:t>
            </a:r>
            <a:r>
              <a:rPr sz="1600" dirty="0">
                <a:solidFill>
                  <a:sysClr val="windowText" lastClr="000000"/>
                </a:solidFill>
                <a:latin typeface="Palatino Linotype"/>
                <a:cs typeface="Palatino Linotype"/>
              </a:rPr>
              <a:t>to</a:t>
            </a:r>
            <a:r>
              <a:rPr sz="1600" spc="-20" dirty="0">
                <a:solidFill>
                  <a:sysClr val="windowText" lastClr="000000"/>
                </a:solidFill>
                <a:latin typeface="Palatino Linotype"/>
                <a:cs typeface="Palatino Linotype"/>
              </a:rPr>
              <a:t> </a:t>
            </a:r>
            <a:r>
              <a:rPr sz="1600" spc="-50" dirty="0">
                <a:solidFill>
                  <a:sysClr val="windowText" lastClr="000000"/>
                </a:solidFill>
                <a:latin typeface="Cambria Math"/>
                <a:cs typeface="Cambria Math"/>
              </a:rPr>
              <a:t>𝑁</a:t>
            </a:r>
            <a:endParaRPr sz="1600">
              <a:solidFill>
                <a:sysClr val="windowText" lastClr="000000"/>
              </a:solidFill>
              <a:latin typeface="Cambria Math"/>
              <a:cs typeface="Cambria Math"/>
            </a:endParaRPr>
          </a:p>
          <a:p>
            <a:pPr marL="376555" marR="131445" indent="-285750">
              <a:lnSpc>
                <a:spcPct val="120000"/>
              </a:lnSpc>
              <a:spcBef>
                <a:spcPts val="600"/>
              </a:spcBef>
              <a:buFont typeface="Arial MT"/>
              <a:buChar char="•"/>
              <a:tabLst>
                <a:tab pos="376555" algn="l"/>
              </a:tabLst>
            </a:pPr>
            <a:r>
              <a:rPr sz="1600" dirty="0">
                <a:solidFill>
                  <a:sysClr val="windowText" lastClr="000000"/>
                </a:solidFill>
                <a:latin typeface="Palatino Linotype"/>
                <a:cs typeface="Palatino Linotype"/>
              </a:rPr>
              <a:t>The</a:t>
            </a:r>
            <a:r>
              <a:rPr sz="1600" spc="-25"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children</a:t>
            </a:r>
            <a:r>
              <a:rPr sz="1600" spc="-15"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of</a:t>
            </a:r>
            <a:r>
              <a:rPr sz="1600" spc="-20" dirty="0">
                <a:solidFill>
                  <a:sysClr val="windowText" lastClr="000000"/>
                </a:solidFill>
                <a:latin typeface="Palatino Linotype"/>
                <a:cs typeface="Palatino Linotype"/>
              </a:rPr>
              <a:t> </a:t>
            </a:r>
            <a:r>
              <a:rPr sz="1600" dirty="0">
                <a:solidFill>
                  <a:sysClr val="windowText" lastClr="000000"/>
                </a:solidFill>
                <a:latin typeface="Cambria Math"/>
                <a:cs typeface="Cambria Math"/>
              </a:rPr>
              <a:t>𝑁</a:t>
            </a:r>
            <a:r>
              <a:rPr sz="1600" spc="65" dirty="0">
                <a:solidFill>
                  <a:sysClr val="windowText" lastClr="000000"/>
                </a:solidFill>
                <a:latin typeface="Cambria Math"/>
                <a:cs typeface="Cambria Math"/>
              </a:rPr>
              <a:t> </a:t>
            </a:r>
            <a:r>
              <a:rPr sz="1600" dirty="0">
                <a:solidFill>
                  <a:sysClr val="windowText" lastClr="000000"/>
                </a:solidFill>
                <a:latin typeface="Palatino Linotype"/>
                <a:cs typeface="Palatino Linotype"/>
              </a:rPr>
              <a:t>are</a:t>
            </a:r>
            <a:r>
              <a:rPr sz="1600" spc="-25"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those</a:t>
            </a:r>
            <a:r>
              <a:rPr sz="1600" spc="-25" dirty="0">
                <a:solidFill>
                  <a:sysClr val="windowText" lastClr="000000"/>
                </a:solidFill>
                <a:latin typeface="Palatino Linotype"/>
                <a:cs typeface="Palatino Linotype"/>
              </a:rPr>
              <a:t> </a:t>
            </a:r>
            <a:r>
              <a:rPr sz="1600" spc="-20" dirty="0">
                <a:solidFill>
                  <a:sysClr val="windowText" lastClr="000000"/>
                </a:solidFill>
                <a:latin typeface="Palatino Linotype"/>
                <a:cs typeface="Palatino Linotype"/>
              </a:rPr>
              <a:t>nodes </a:t>
            </a:r>
            <a:r>
              <a:rPr sz="1600" dirty="0">
                <a:solidFill>
                  <a:sysClr val="windowText" lastClr="000000"/>
                </a:solidFill>
                <a:latin typeface="Palatino Linotype"/>
                <a:cs typeface="Palatino Linotype"/>
              </a:rPr>
              <a:t>corresponding</a:t>
            </a:r>
            <a:r>
              <a:rPr sz="1600" spc="-30"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to</a:t>
            </a:r>
            <a:r>
              <a:rPr sz="1600" spc="-25"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the</a:t>
            </a:r>
            <a:r>
              <a:rPr sz="1600" spc="-30" dirty="0">
                <a:solidFill>
                  <a:sysClr val="windowText" lastClr="000000"/>
                </a:solidFill>
                <a:latin typeface="Palatino Linotype"/>
                <a:cs typeface="Palatino Linotype"/>
              </a:rPr>
              <a:t> </a:t>
            </a:r>
            <a:r>
              <a:rPr sz="1600" dirty="0">
                <a:solidFill>
                  <a:srgbClr val="FF0000"/>
                </a:solidFill>
                <a:latin typeface="Palatino Linotype"/>
                <a:cs typeface="Palatino Linotype"/>
              </a:rPr>
              <a:t>last</a:t>
            </a:r>
            <a:r>
              <a:rPr sz="1600" spc="-20" dirty="0">
                <a:solidFill>
                  <a:srgbClr val="FF0000"/>
                </a:solidFill>
                <a:latin typeface="Palatino Linotype"/>
                <a:cs typeface="Palatino Linotype"/>
              </a:rPr>
              <a:t> </a:t>
            </a:r>
            <a:r>
              <a:rPr sz="1600" dirty="0">
                <a:solidFill>
                  <a:srgbClr val="FF0000"/>
                </a:solidFill>
                <a:latin typeface="Palatino Linotype"/>
                <a:cs typeface="Palatino Linotype"/>
              </a:rPr>
              <a:t>definitions</a:t>
            </a:r>
            <a:r>
              <a:rPr sz="1600" spc="-30" dirty="0">
                <a:solidFill>
                  <a:srgbClr val="FF0000"/>
                </a:solidFill>
                <a:latin typeface="Palatino Linotype"/>
                <a:cs typeface="Palatino Linotype"/>
              </a:rPr>
              <a:t> </a:t>
            </a:r>
            <a:r>
              <a:rPr sz="1600" dirty="0">
                <a:solidFill>
                  <a:sysClr val="windowText" lastClr="000000"/>
                </a:solidFill>
                <a:latin typeface="Palatino Linotype"/>
                <a:cs typeface="Palatino Linotype"/>
              </a:rPr>
              <a:t>of</a:t>
            </a:r>
            <a:r>
              <a:rPr sz="1600" spc="-25" dirty="0">
                <a:solidFill>
                  <a:sysClr val="windowText" lastClr="000000"/>
                </a:solidFill>
                <a:latin typeface="Palatino Linotype"/>
                <a:cs typeface="Palatino Linotype"/>
              </a:rPr>
              <a:t> </a:t>
            </a:r>
            <a:r>
              <a:rPr sz="1600" dirty="0">
                <a:solidFill>
                  <a:sysClr val="windowText" lastClr="000000"/>
                </a:solidFill>
                <a:latin typeface="Cambria Math"/>
                <a:cs typeface="Cambria Math"/>
              </a:rPr>
              <a:t>𝑏</a:t>
            </a:r>
            <a:r>
              <a:rPr sz="1600" spc="55" dirty="0">
                <a:solidFill>
                  <a:sysClr val="windowText" lastClr="000000"/>
                </a:solidFill>
                <a:latin typeface="Cambria Math"/>
                <a:cs typeface="Cambria Math"/>
              </a:rPr>
              <a:t> </a:t>
            </a:r>
            <a:r>
              <a:rPr sz="1600" dirty="0">
                <a:solidFill>
                  <a:sysClr val="windowText" lastClr="000000"/>
                </a:solidFill>
                <a:latin typeface="Palatino Linotype"/>
                <a:cs typeface="Palatino Linotype"/>
              </a:rPr>
              <a:t>and</a:t>
            </a:r>
            <a:r>
              <a:rPr sz="1600" spc="-25" dirty="0">
                <a:solidFill>
                  <a:sysClr val="windowText" lastClr="000000"/>
                </a:solidFill>
                <a:latin typeface="Palatino Linotype"/>
                <a:cs typeface="Palatino Linotype"/>
              </a:rPr>
              <a:t> </a:t>
            </a:r>
            <a:r>
              <a:rPr sz="1600" spc="-50" dirty="0">
                <a:solidFill>
                  <a:sysClr val="windowText" lastClr="000000"/>
                </a:solidFill>
                <a:latin typeface="Cambria Math"/>
                <a:cs typeface="Cambria Math"/>
              </a:rPr>
              <a:t>𝑐</a:t>
            </a:r>
            <a:endParaRPr sz="1600">
              <a:solidFill>
                <a:sysClr val="windowText" lastClr="000000"/>
              </a:solidFill>
              <a:latin typeface="Cambria Math"/>
              <a:cs typeface="Cambria Math"/>
            </a:endParaRPr>
          </a:p>
        </p:txBody>
      </p:sp>
      <p:sp>
        <p:nvSpPr>
          <p:cNvPr id="26" name="object 5">
            <a:extLst>
              <a:ext uri="{FF2B5EF4-FFF2-40B4-BE49-F238E27FC236}">
                <a16:creationId xmlns:a16="http://schemas.microsoft.com/office/drawing/2014/main" id="{9767592E-6E73-595F-4841-76BC149B2B2C}"/>
              </a:ext>
            </a:extLst>
          </p:cNvPr>
          <p:cNvSpPr/>
          <p:nvPr/>
        </p:nvSpPr>
        <p:spPr>
          <a:xfrm>
            <a:off x="1838227" y="3685287"/>
            <a:ext cx="260985" cy="260985"/>
          </a:xfrm>
          <a:custGeom>
            <a:avLst/>
            <a:gdLst/>
            <a:ahLst/>
            <a:cxnLst/>
            <a:rect l="l" t="t" r="r" b="b"/>
            <a:pathLst>
              <a:path w="260985" h="260985">
                <a:moveTo>
                  <a:pt x="0" y="130263"/>
                </a:moveTo>
                <a:lnTo>
                  <a:pt x="10236" y="79558"/>
                </a:lnTo>
                <a:lnTo>
                  <a:pt x="38153" y="38153"/>
                </a:lnTo>
                <a:lnTo>
                  <a:pt x="79558" y="10236"/>
                </a:lnTo>
                <a:lnTo>
                  <a:pt x="130263" y="0"/>
                </a:lnTo>
                <a:lnTo>
                  <a:pt x="180967" y="10236"/>
                </a:lnTo>
                <a:lnTo>
                  <a:pt x="222372" y="38153"/>
                </a:lnTo>
                <a:lnTo>
                  <a:pt x="250289" y="79558"/>
                </a:lnTo>
                <a:lnTo>
                  <a:pt x="260526" y="130263"/>
                </a:lnTo>
                <a:lnTo>
                  <a:pt x="250289" y="180967"/>
                </a:lnTo>
                <a:lnTo>
                  <a:pt x="222372" y="222372"/>
                </a:lnTo>
                <a:lnTo>
                  <a:pt x="180967" y="250289"/>
                </a:lnTo>
                <a:lnTo>
                  <a:pt x="130263" y="260526"/>
                </a:lnTo>
                <a:lnTo>
                  <a:pt x="79558" y="250289"/>
                </a:lnTo>
                <a:lnTo>
                  <a:pt x="38153" y="222372"/>
                </a:lnTo>
                <a:lnTo>
                  <a:pt x="10236" y="180967"/>
                </a:lnTo>
                <a:lnTo>
                  <a:pt x="0" y="130263"/>
                </a:lnTo>
                <a:close/>
              </a:path>
            </a:pathLst>
          </a:custGeom>
          <a:ln w="12700">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7" name="object 6">
            <a:extLst>
              <a:ext uri="{FF2B5EF4-FFF2-40B4-BE49-F238E27FC236}">
                <a16:creationId xmlns:a16="http://schemas.microsoft.com/office/drawing/2014/main" id="{5D5CD143-32EF-91F6-CE26-775D0DC63742}"/>
              </a:ext>
            </a:extLst>
          </p:cNvPr>
          <p:cNvSpPr txBox="1"/>
          <p:nvPr/>
        </p:nvSpPr>
        <p:spPr>
          <a:xfrm>
            <a:off x="1502088" y="4281932"/>
            <a:ext cx="297180" cy="299720"/>
          </a:xfrm>
          <a:prstGeom prst="rect">
            <a:avLst/>
          </a:prstGeom>
        </p:spPr>
        <p:txBody>
          <a:bodyPr vert="horz" wrap="square" lIns="0" tIns="12700" rIns="0" bIns="0" rtlCol="0">
            <a:spAutoFit/>
          </a:bodyPr>
          <a:lstStyle/>
          <a:p>
            <a:pPr marL="38100">
              <a:spcBef>
                <a:spcPts val="100"/>
              </a:spcBef>
            </a:pPr>
            <a:r>
              <a:rPr spc="-25" dirty="0">
                <a:solidFill>
                  <a:sysClr val="windowText" lastClr="000000"/>
                </a:solidFill>
                <a:latin typeface="Cambria Math"/>
                <a:cs typeface="Cambria Math"/>
              </a:rPr>
              <a:t>b</a:t>
            </a:r>
            <a:r>
              <a:rPr sz="1950" spc="-37" baseline="-14957" dirty="0">
                <a:solidFill>
                  <a:sysClr val="windowText" lastClr="000000"/>
                </a:solidFill>
                <a:latin typeface="Cambria Math"/>
                <a:cs typeface="Cambria Math"/>
              </a:rPr>
              <a:t>0</a:t>
            </a:r>
            <a:endParaRPr sz="1950" baseline="-14957">
              <a:solidFill>
                <a:sysClr val="windowText" lastClr="000000"/>
              </a:solidFill>
              <a:latin typeface="Cambria Math"/>
              <a:cs typeface="Cambria Math"/>
            </a:endParaRPr>
          </a:p>
        </p:txBody>
      </p:sp>
      <p:sp>
        <p:nvSpPr>
          <p:cNvPr id="28" name="object 7">
            <a:extLst>
              <a:ext uri="{FF2B5EF4-FFF2-40B4-BE49-F238E27FC236}">
                <a16:creationId xmlns:a16="http://schemas.microsoft.com/office/drawing/2014/main" id="{76FE2832-E080-078C-CA6E-5868E6126423}"/>
              </a:ext>
            </a:extLst>
          </p:cNvPr>
          <p:cNvSpPr txBox="1"/>
          <p:nvPr/>
        </p:nvSpPr>
        <p:spPr>
          <a:xfrm>
            <a:off x="2136331" y="4278883"/>
            <a:ext cx="944880" cy="299720"/>
          </a:xfrm>
          <a:prstGeom prst="rect">
            <a:avLst/>
          </a:prstGeom>
        </p:spPr>
        <p:txBody>
          <a:bodyPr vert="horz" wrap="square" lIns="0" tIns="12700" rIns="0" bIns="0" rtlCol="0">
            <a:spAutoFit/>
          </a:bodyPr>
          <a:lstStyle/>
          <a:p>
            <a:pPr marL="50800">
              <a:spcBef>
                <a:spcPts val="100"/>
              </a:spcBef>
              <a:tabLst>
                <a:tab pos="671195" algn="l"/>
              </a:tabLst>
            </a:pPr>
            <a:r>
              <a:rPr spc="-25" dirty="0">
                <a:solidFill>
                  <a:sysClr val="windowText" lastClr="000000"/>
                </a:solidFill>
                <a:latin typeface="Cambria Math"/>
                <a:cs typeface="Cambria Math"/>
              </a:rPr>
              <a:t>c</a:t>
            </a:r>
            <a:r>
              <a:rPr sz="1950" spc="-37" baseline="-14957" dirty="0">
                <a:solidFill>
                  <a:sysClr val="windowText" lastClr="000000"/>
                </a:solidFill>
                <a:latin typeface="Cambria Math"/>
                <a:cs typeface="Cambria Math"/>
              </a:rPr>
              <a:t>0</a:t>
            </a:r>
            <a:r>
              <a:rPr sz="1950" baseline="-14957" dirty="0">
                <a:solidFill>
                  <a:sysClr val="windowText" lastClr="000000"/>
                </a:solidFill>
                <a:latin typeface="Cambria Math"/>
                <a:cs typeface="Cambria Math"/>
              </a:rPr>
              <a:t>	</a:t>
            </a:r>
            <a:r>
              <a:rPr spc="-25" dirty="0">
                <a:solidFill>
                  <a:sysClr val="windowText" lastClr="000000"/>
                </a:solidFill>
                <a:latin typeface="Cambria Math"/>
                <a:cs typeface="Cambria Math"/>
              </a:rPr>
              <a:t>d</a:t>
            </a:r>
            <a:r>
              <a:rPr sz="1950" spc="-37" baseline="-14957" dirty="0">
                <a:solidFill>
                  <a:sysClr val="windowText" lastClr="000000"/>
                </a:solidFill>
                <a:latin typeface="Cambria Math"/>
                <a:cs typeface="Cambria Math"/>
              </a:rPr>
              <a:t>0</a:t>
            </a:r>
            <a:endParaRPr sz="1950" baseline="-14957">
              <a:solidFill>
                <a:sysClr val="windowText" lastClr="000000"/>
              </a:solidFill>
              <a:latin typeface="Cambria Math"/>
              <a:cs typeface="Cambria Math"/>
            </a:endParaRPr>
          </a:p>
        </p:txBody>
      </p:sp>
      <p:grpSp>
        <p:nvGrpSpPr>
          <p:cNvPr id="29" name="object 8">
            <a:extLst>
              <a:ext uri="{FF2B5EF4-FFF2-40B4-BE49-F238E27FC236}">
                <a16:creationId xmlns:a16="http://schemas.microsoft.com/office/drawing/2014/main" id="{B782A449-1B56-02DA-3CF7-0194F3298C70}"/>
              </a:ext>
            </a:extLst>
          </p:cNvPr>
          <p:cNvGrpSpPr/>
          <p:nvPr/>
        </p:nvGrpSpPr>
        <p:grpSpPr>
          <a:xfrm>
            <a:off x="1650288" y="3901310"/>
            <a:ext cx="647065" cy="413384"/>
            <a:chOff x="1650288" y="3901310"/>
            <a:chExt cx="647065" cy="413384"/>
          </a:xfrm>
        </p:grpSpPr>
        <p:sp>
          <p:nvSpPr>
            <p:cNvPr id="30" name="object 9">
              <a:extLst>
                <a:ext uri="{FF2B5EF4-FFF2-40B4-BE49-F238E27FC236}">
                  <a16:creationId xmlns:a16="http://schemas.microsoft.com/office/drawing/2014/main" id="{096F88D6-7A0C-A039-DAEF-9D80921CE52E}"/>
                </a:ext>
              </a:extLst>
            </p:cNvPr>
            <p:cNvSpPr/>
            <p:nvPr/>
          </p:nvSpPr>
          <p:spPr>
            <a:xfrm>
              <a:off x="1656638" y="3907660"/>
              <a:ext cx="220345" cy="400685"/>
            </a:xfrm>
            <a:custGeom>
              <a:avLst/>
              <a:gdLst/>
              <a:ahLst/>
              <a:cxnLst/>
              <a:rect l="l" t="t" r="r" b="b"/>
              <a:pathLst>
                <a:path w="220344" h="400685">
                  <a:moveTo>
                    <a:pt x="219742" y="0"/>
                  </a:moveTo>
                  <a:lnTo>
                    <a:pt x="0" y="400185"/>
                  </a:lnTo>
                </a:path>
              </a:pathLst>
            </a:custGeom>
            <a:ln w="12700">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31" name="object 10">
              <a:extLst>
                <a:ext uri="{FF2B5EF4-FFF2-40B4-BE49-F238E27FC236}">
                  <a16:creationId xmlns:a16="http://schemas.microsoft.com/office/drawing/2014/main" id="{D77D4120-220A-63D2-25CD-5708C6330725}"/>
                </a:ext>
              </a:extLst>
            </p:cNvPr>
            <p:cNvSpPr/>
            <p:nvPr/>
          </p:nvSpPr>
          <p:spPr>
            <a:xfrm>
              <a:off x="2060600" y="3907660"/>
              <a:ext cx="230504" cy="396240"/>
            </a:xfrm>
            <a:custGeom>
              <a:avLst/>
              <a:gdLst/>
              <a:ahLst/>
              <a:cxnLst/>
              <a:rect l="l" t="t" r="r" b="b"/>
              <a:pathLst>
                <a:path w="230505" h="396239">
                  <a:moveTo>
                    <a:pt x="0" y="0"/>
                  </a:moveTo>
                  <a:lnTo>
                    <a:pt x="230157" y="395642"/>
                  </a:lnTo>
                </a:path>
              </a:pathLst>
            </a:custGeom>
            <a:ln w="12700">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32" name="object 11">
            <a:extLst>
              <a:ext uri="{FF2B5EF4-FFF2-40B4-BE49-F238E27FC236}">
                <a16:creationId xmlns:a16="http://schemas.microsoft.com/office/drawing/2014/main" id="{501D0540-504C-BE8C-0B94-82D26A1B396B}"/>
              </a:ext>
            </a:extLst>
          </p:cNvPr>
          <p:cNvSpPr txBox="1"/>
          <p:nvPr/>
        </p:nvSpPr>
        <p:spPr>
          <a:xfrm>
            <a:off x="1898639" y="3654044"/>
            <a:ext cx="440055" cy="299720"/>
          </a:xfrm>
          <a:prstGeom prst="rect">
            <a:avLst/>
          </a:prstGeom>
        </p:spPr>
        <p:txBody>
          <a:bodyPr vert="horz" wrap="square" lIns="0" tIns="12700" rIns="0" bIns="0" rtlCol="0">
            <a:spAutoFit/>
          </a:bodyPr>
          <a:lstStyle/>
          <a:p>
            <a:pPr marL="12700">
              <a:spcBef>
                <a:spcPts val="100"/>
              </a:spcBef>
              <a:tabLst>
                <a:tab pos="314960" algn="l"/>
              </a:tabLst>
            </a:pPr>
            <a:r>
              <a:rPr spc="-50" dirty="0">
                <a:solidFill>
                  <a:sysClr val="windowText" lastClr="000000"/>
                </a:solidFill>
                <a:cs typeface="Calibri"/>
              </a:rPr>
              <a:t>+</a:t>
            </a:r>
            <a:r>
              <a:rPr dirty="0">
                <a:solidFill>
                  <a:sysClr val="windowText" lastClr="000000"/>
                </a:solidFill>
                <a:cs typeface="Calibri"/>
              </a:rPr>
              <a:t>	</a:t>
            </a:r>
            <a:r>
              <a:rPr spc="-50" dirty="0">
                <a:solidFill>
                  <a:sysClr val="windowText" lastClr="000000"/>
                </a:solidFill>
                <a:latin typeface="Cambria Math"/>
                <a:cs typeface="Cambria Math"/>
              </a:rPr>
              <a:t>a</a:t>
            </a:r>
            <a:endParaRPr>
              <a:solidFill>
                <a:sysClr val="windowText" lastClr="000000"/>
              </a:solidFill>
              <a:latin typeface="Cambria Math"/>
              <a:cs typeface="Cambria Math"/>
            </a:endParaRPr>
          </a:p>
        </p:txBody>
      </p:sp>
      <p:grpSp>
        <p:nvGrpSpPr>
          <p:cNvPr id="33" name="object 12">
            <a:extLst>
              <a:ext uri="{FF2B5EF4-FFF2-40B4-BE49-F238E27FC236}">
                <a16:creationId xmlns:a16="http://schemas.microsoft.com/office/drawing/2014/main" id="{93D6FB75-1914-DAD1-CA93-A31A5A16ECFE}"/>
              </a:ext>
            </a:extLst>
          </p:cNvPr>
          <p:cNvGrpSpPr/>
          <p:nvPr/>
        </p:nvGrpSpPr>
        <p:grpSpPr>
          <a:xfrm>
            <a:off x="1962139" y="2157445"/>
            <a:ext cx="1254125" cy="2152650"/>
            <a:chOff x="1962139" y="2157445"/>
            <a:chExt cx="1254125" cy="2152650"/>
          </a:xfrm>
        </p:grpSpPr>
        <p:sp>
          <p:nvSpPr>
            <p:cNvPr id="34" name="object 13">
              <a:extLst>
                <a:ext uri="{FF2B5EF4-FFF2-40B4-BE49-F238E27FC236}">
                  <a16:creationId xmlns:a16="http://schemas.microsoft.com/office/drawing/2014/main" id="{53D11212-0C22-DB36-B3C7-31B14A042FA3}"/>
                </a:ext>
              </a:extLst>
            </p:cNvPr>
            <p:cNvSpPr/>
            <p:nvPr/>
          </p:nvSpPr>
          <p:spPr>
            <a:xfrm>
              <a:off x="2526968" y="2971733"/>
              <a:ext cx="260985" cy="260985"/>
            </a:xfrm>
            <a:custGeom>
              <a:avLst/>
              <a:gdLst/>
              <a:ahLst/>
              <a:cxnLst/>
              <a:rect l="l" t="t" r="r" b="b"/>
              <a:pathLst>
                <a:path w="260985" h="260985">
                  <a:moveTo>
                    <a:pt x="0" y="130263"/>
                  </a:moveTo>
                  <a:lnTo>
                    <a:pt x="10236" y="79558"/>
                  </a:lnTo>
                  <a:lnTo>
                    <a:pt x="38153" y="38153"/>
                  </a:lnTo>
                  <a:lnTo>
                    <a:pt x="79558" y="10236"/>
                  </a:lnTo>
                  <a:lnTo>
                    <a:pt x="130263" y="0"/>
                  </a:lnTo>
                  <a:lnTo>
                    <a:pt x="180967" y="10236"/>
                  </a:lnTo>
                  <a:lnTo>
                    <a:pt x="222372" y="38153"/>
                  </a:lnTo>
                  <a:lnTo>
                    <a:pt x="250289" y="79558"/>
                  </a:lnTo>
                  <a:lnTo>
                    <a:pt x="260526" y="130263"/>
                  </a:lnTo>
                  <a:lnTo>
                    <a:pt x="250289" y="180967"/>
                  </a:lnTo>
                  <a:lnTo>
                    <a:pt x="222372" y="222372"/>
                  </a:lnTo>
                  <a:lnTo>
                    <a:pt x="180967" y="250289"/>
                  </a:lnTo>
                  <a:lnTo>
                    <a:pt x="130263" y="260526"/>
                  </a:lnTo>
                  <a:lnTo>
                    <a:pt x="79558" y="250289"/>
                  </a:lnTo>
                  <a:lnTo>
                    <a:pt x="38153" y="222372"/>
                  </a:lnTo>
                  <a:lnTo>
                    <a:pt x="10236" y="180967"/>
                  </a:lnTo>
                  <a:lnTo>
                    <a:pt x="0" y="130263"/>
                  </a:lnTo>
                  <a:close/>
                </a:path>
              </a:pathLst>
            </a:custGeom>
            <a:ln w="12700">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35" name="object 14">
              <a:extLst>
                <a:ext uri="{FF2B5EF4-FFF2-40B4-BE49-F238E27FC236}">
                  <a16:creationId xmlns:a16="http://schemas.microsoft.com/office/drawing/2014/main" id="{682A6F62-E253-FF68-15DE-9A9AB4914167}"/>
                </a:ext>
              </a:extLst>
            </p:cNvPr>
            <p:cNvSpPr/>
            <p:nvPr/>
          </p:nvSpPr>
          <p:spPr>
            <a:xfrm>
              <a:off x="2749341" y="3194107"/>
              <a:ext cx="175895" cy="1109345"/>
            </a:xfrm>
            <a:custGeom>
              <a:avLst/>
              <a:gdLst/>
              <a:ahLst/>
              <a:cxnLst/>
              <a:rect l="l" t="t" r="r" b="b"/>
              <a:pathLst>
                <a:path w="175894" h="1109345">
                  <a:moveTo>
                    <a:pt x="0" y="0"/>
                  </a:moveTo>
                  <a:lnTo>
                    <a:pt x="175534" y="1109195"/>
                  </a:lnTo>
                </a:path>
              </a:pathLst>
            </a:custGeom>
            <a:ln w="12700">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36" name="object 15">
              <a:extLst>
                <a:ext uri="{FF2B5EF4-FFF2-40B4-BE49-F238E27FC236}">
                  <a16:creationId xmlns:a16="http://schemas.microsoft.com/office/drawing/2014/main" id="{52CD4DD2-D644-EBBB-E110-CB0C7A62B29E}"/>
                </a:ext>
              </a:extLst>
            </p:cNvPr>
            <p:cNvSpPr/>
            <p:nvPr/>
          </p:nvSpPr>
          <p:spPr>
            <a:xfrm>
              <a:off x="1968489" y="3194106"/>
              <a:ext cx="596900" cy="491490"/>
            </a:xfrm>
            <a:custGeom>
              <a:avLst/>
              <a:gdLst/>
              <a:ahLst/>
              <a:cxnLst/>
              <a:rect l="l" t="t" r="r" b="b"/>
              <a:pathLst>
                <a:path w="596900" h="491489">
                  <a:moveTo>
                    <a:pt x="0" y="491181"/>
                  </a:moveTo>
                  <a:lnTo>
                    <a:pt x="596632" y="0"/>
                  </a:lnTo>
                </a:path>
              </a:pathLst>
            </a:custGeom>
            <a:ln w="12700">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37" name="object 16">
              <a:extLst>
                <a:ext uri="{FF2B5EF4-FFF2-40B4-BE49-F238E27FC236}">
                  <a16:creationId xmlns:a16="http://schemas.microsoft.com/office/drawing/2014/main" id="{B08836BF-F0CF-47DD-5993-58ACE9330B65}"/>
                </a:ext>
              </a:extLst>
            </p:cNvPr>
            <p:cNvSpPr/>
            <p:nvPr/>
          </p:nvSpPr>
          <p:spPr>
            <a:xfrm>
              <a:off x="2949013" y="2163795"/>
              <a:ext cx="260985" cy="260985"/>
            </a:xfrm>
            <a:custGeom>
              <a:avLst/>
              <a:gdLst/>
              <a:ahLst/>
              <a:cxnLst/>
              <a:rect l="l" t="t" r="r" b="b"/>
              <a:pathLst>
                <a:path w="260985" h="260985">
                  <a:moveTo>
                    <a:pt x="0" y="130263"/>
                  </a:moveTo>
                  <a:lnTo>
                    <a:pt x="10236" y="79558"/>
                  </a:lnTo>
                  <a:lnTo>
                    <a:pt x="38153" y="38153"/>
                  </a:lnTo>
                  <a:lnTo>
                    <a:pt x="79558" y="10236"/>
                  </a:lnTo>
                  <a:lnTo>
                    <a:pt x="130263" y="0"/>
                  </a:lnTo>
                  <a:lnTo>
                    <a:pt x="180967" y="10236"/>
                  </a:lnTo>
                  <a:lnTo>
                    <a:pt x="222372" y="38153"/>
                  </a:lnTo>
                  <a:lnTo>
                    <a:pt x="250289" y="79558"/>
                  </a:lnTo>
                  <a:lnTo>
                    <a:pt x="260526" y="130263"/>
                  </a:lnTo>
                  <a:lnTo>
                    <a:pt x="250289" y="180967"/>
                  </a:lnTo>
                  <a:lnTo>
                    <a:pt x="222372" y="222372"/>
                  </a:lnTo>
                  <a:lnTo>
                    <a:pt x="180967" y="250289"/>
                  </a:lnTo>
                  <a:lnTo>
                    <a:pt x="130263" y="260526"/>
                  </a:lnTo>
                  <a:lnTo>
                    <a:pt x="79558" y="250289"/>
                  </a:lnTo>
                  <a:lnTo>
                    <a:pt x="38153" y="222372"/>
                  </a:lnTo>
                  <a:lnTo>
                    <a:pt x="10236" y="180967"/>
                  </a:lnTo>
                  <a:lnTo>
                    <a:pt x="0" y="130263"/>
                  </a:lnTo>
                  <a:close/>
                </a:path>
              </a:pathLst>
            </a:custGeom>
            <a:ln w="12700">
              <a:solidFill>
                <a:srgbClr val="FF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38" name="object 17">
              <a:extLst>
                <a:ext uri="{FF2B5EF4-FFF2-40B4-BE49-F238E27FC236}">
                  <a16:creationId xmlns:a16="http://schemas.microsoft.com/office/drawing/2014/main" id="{722653A9-8D19-84DD-3506-9C7FBF98C548}"/>
                </a:ext>
              </a:extLst>
            </p:cNvPr>
            <p:cNvSpPr/>
            <p:nvPr/>
          </p:nvSpPr>
          <p:spPr>
            <a:xfrm>
              <a:off x="2657232" y="2386168"/>
              <a:ext cx="330200" cy="586105"/>
            </a:xfrm>
            <a:custGeom>
              <a:avLst/>
              <a:gdLst/>
              <a:ahLst/>
              <a:cxnLst/>
              <a:rect l="l" t="t" r="r" b="b"/>
              <a:pathLst>
                <a:path w="330200" h="586105">
                  <a:moveTo>
                    <a:pt x="0" y="585565"/>
                  </a:moveTo>
                  <a:lnTo>
                    <a:pt x="329935" y="0"/>
                  </a:lnTo>
                </a:path>
              </a:pathLst>
            </a:custGeom>
            <a:ln w="12700">
              <a:solidFill>
                <a:srgbClr val="FF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39" name="object 18">
            <a:extLst>
              <a:ext uri="{FF2B5EF4-FFF2-40B4-BE49-F238E27FC236}">
                <a16:creationId xmlns:a16="http://schemas.microsoft.com/office/drawing/2014/main" id="{47A03844-659A-BFB8-2418-4580B3AFDB86}"/>
              </a:ext>
            </a:extLst>
          </p:cNvPr>
          <p:cNvSpPr txBox="1"/>
          <p:nvPr/>
        </p:nvSpPr>
        <p:spPr>
          <a:xfrm>
            <a:off x="2587382" y="2133091"/>
            <a:ext cx="913765" cy="1107440"/>
          </a:xfrm>
          <a:prstGeom prst="rect">
            <a:avLst/>
          </a:prstGeom>
        </p:spPr>
        <p:txBody>
          <a:bodyPr vert="horz" wrap="square" lIns="0" tIns="12700" rIns="0" bIns="0" rtlCol="0">
            <a:spAutoFit/>
          </a:bodyPr>
          <a:lstStyle/>
          <a:p>
            <a:pPr marL="434340">
              <a:spcBef>
                <a:spcPts val="100"/>
              </a:spcBef>
              <a:tabLst>
                <a:tab pos="799465" algn="l"/>
              </a:tabLst>
            </a:pPr>
            <a:r>
              <a:rPr spc="-50" dirty="0">
                <a:solidFill>
                  <a:srgbClr val="FF0000"/>
                </a:solidFill>
                <a:cs typeface="Calibri"/>
              </a:rPr>
              <a:t>+</a:t>
            </a:r>
            <a:r>
              <a:rPr dirty="0">
                <a:solidFill>
                  <a:srgbClr val="FF0000"/>
                </a:solidFill>
                <a:cs typeface="Calibri"/>
              </a:rPr>
              <a:t>	</a:t>
            </a:r>
            <a:r>
              <a:rPr spc="-50" dirty="0">
                <a:solidFill>
                  <a:srgbClr val="FF0000"/>
                </a:solidFill>
                <a:latin typeface="Cambria Math"/>
                <a:cs typeface="Cambria Math"/>
              </a:rPr>
              <a:t>c</a:t>
            </a:r>
            <a:endParaRPr>
              <a:solidFill>
                <a:sysClr val="windowText" lastClr="000000"/>
              </a:solidFill>
              <a:latin typeface="Cambria Math"/>
              <a:cs typeface="Cambria Math"/>
            </a:endParaRPr>
          </a:p>
          <a:p>
            <a:pPr>
              <a:spcBef>
                <a:spcPts val="2085"/>
              </a:spcBef>
            </a:pPr>
            <a:endParaRPr>
              <a:solidFill>
                <a:sysClr val="windowText" lastClr="000000"/>
              </a:solidFill>
              <a:latin typeface="Cambria Math"/>
              <a:cs typeface="Cambria Math"/>
            </a:endParaRPr>
          </a:p>
          <a:p>
            <a:pPr marL="12700">
              <a:spcBef>
                <a:spcPts val="5"/>
              </a:spcBef>
              <a:tabLst>
                <a:tab pos="395605" algn="l"/>
              </a:tabLst>
            </a:pPr>
            <a:r>
              <a:rPr spc="-50" dirty="0">
                <a:solidFill>
                  <a:sysClr val="windowText" lastClr="000000"/>
                </a:solidFill>
                <a:cs typeface="Calibri"/>
              </a:rPr>
              <a:t>−</a:t>
            </a:r>
            <a:r>
              <a:rPr dirty="0">
                <a:solidFill>
                  <a:sysClr val="windowText" lastClr="000000"/>
                </a:solidFill>
                <a:cs typeface="Calibri"/>
              </a:rPr>
              <a:t>	</a:t>
            </a:r>
            <a:r>
              <a:rPr spc="-50" dirty="0">
                <a:solidFill>
                  <a:sysClr val="windowText" lastClr="000000"/>
                </a:solidFill>
                <a:latin typeface="Cambria Math"/>
                <a:cs typeface="Cambria Math"/>
              </a:rPr>
              <a:t>b</a:t>
            </a:r>
            <a:endParaRPr>
              <a:solidFill>
                <a:sysClr val="windowText" lastClr="000000"/>
              </a:solidFill>
              <a:latin typeface="Cambria Math"/>
              <a:cs typeface="Cambria Math"/>
            </a:endParaRPr>
          </a:p>
        </p:txBody>
      </p:sp>
      <p:sp>
        <p:nvSpPr>
          <p:cNvPr id="40" name="object 19">
            <a:extLst>
              <a:ext uri="{FF2B5EF4-FFF2-40B4-BE49-F238E27FC236}">
                <a16:creationId xmlns:a16="http://schemas.microsoft.com/office/drawing/2014/main" id="{5EE4DE45-2F1D-955F-BB3B-463D0FA3D3F1}"/>
              </a:ext>
            </a:extLst>
          </p:cNvPr>
          <p:cNvSpPr/>
          <p:nvPr/>
        </p:nvSpPr>
        <p:spPr>
          <a:xfrm>
            <a:off x="2379861" y="2391973"/>
            <a:ext cx="1309370" cy="2453640"/>
          </a:xfrm>
          <a:custGeom>
            <a:avLst/>
            <a:gdLst/>
            <a:ahLst/>
            <a:cxnLst/>
            <a:rect l="l" t="t" r="r" b="b"/>
            <a:pathLst>
              <a:path w="1309370" h="2453640">
                <a:moveTo>
                  <a:pt x="793288" y="0"/>
                </a:moveTo>
                <a:lnTo>
                  <a:pt x="812964" y="60743"/>
                </a:lnTo>
                <a:lnTo>
                  <a:pt x="832615" y="121453"/>
                </a:lnTo>
                <a:lnTo>
                  <a:pt x="852215" y="182095"/>
                </a:lnTo>
                <a:lnTo>
                  <a:pt x="871739" y="242634"/>
                </a:lnTo>
                <a:lnTo>
                  <a:pt x="891161" y="303036"/>
                </a:lnTo>
                <a:lnTo>
                  <a:pt x="910456" y="363268"/>
                </a:lnTo>
                <a:lnTo>
                  <a:pt x="929598" y="423296"/>
                </a:lnTo>
                <a:lnTo>
                  <a:pt x="948561" y="483084"/>
                </a:lnTo>
                <a:lnTo>
                  <a:pt x="967321" y="542600"/>
                </a:lnTo>
                <a:lnTo>
                  <a:pt x="985852" y="601808"/>
                </a:lnTo>
                <a:lnTo>
                  <a:pt x="1004128" y="660675"/>
                </a:lnTo>
                <a:lnTo>
                  <a:pt x="1022125" y="719167"/>
                </a:lnTo>
                <a:lnTo>
                  <a:pt x="1039815" y="777250"/>
                </a:lnTo>
                <a:lnTo>
                  <a:pt x="1057175" y="834889"/>
                </a:lnTo>
                <a:lnTo>
                  <a:pt x="1074178" y="892050"/>
                </a:lnTo>
                <a:lnTo>
                  <a:pt x="1090800" y="948699"/>
                </a:lnTo>
                <a:lnTo>
                  <a:pt x="1107014" y="1004803"/>
                </a:lnTo>
                <a:lnTo>
                  <a:pt x="1122795" y="1060326"/>
                </a:lnTo>
                <a:lnTo>
                  <a:pt x="1138118" y="1115235"/>
                </a:lnTo>
                <a:lnTo>
                  <a:pt x="1152957" y="1169496"/>
                </a:lnTo>
                <a:lnTo>
                  <a:pt x="1167287" y="1223074"/>
                </a:lnTo>
                <a:lnTo>
                  <a:pt x="1181083" y="1275936"/>
                </a:lnTo>
                <a:lnTo>
                  <a:pt x="1194318" y="1328048"/>
                </a:lnTo>
                <a:lnTo>
                  <a:pt x="1206968" y="1379374"/>
                </a:lnTo>
                <a:lnTo>
                  <a:pt x="1219006" y="1429882"/>
                </a:lnTo>
                <a:lnTo>
                  <a:pt x="1230409" y="1479536"/>
                </a:lnTo>
                <a:lnTo>
                  <a:pt x="1241149" y="1528304"/>
                </a:lnTo>
                <a:lnTo>
                  <a:pt x="1251202" y="1576150"/>
                </a:lnTo>
                <a:lnTo>
                  <a:pt x="1260542" y="1623040"/>
                </a:lnTo>
                <a:lnTo>
                  <a:pt x="1269143" y="1668942"/>
                </a:lnTo>
                <a:lnTo>
                  <a:pt x="1276981" y="1713819"/>
                </a:lnTo>
                <a:lnTo>
                  <a:pt x="1284030" y="1757639"/>
                </a:lnTo>
                <a:lnTo>
                  <a:pt x="1290264" y="1800367"/>
                </a:lnTo>
                <a:lnTo>
                  <a:pt x="1295658" y="1841969"/>
                </a:lnTo>
                <a:lnTo>
                  <a:pt x="1300186" y="1882411"/>
                </a:lnTo>
                <a:lnTo>
                  <a:pt x="1303823" y="1921659"/>
                </a:lnTo>
                <a:lnTo>
                  <a:pt x="1306543" y="1959678"/>
                </a:lnTo>
                <a:lnTo>
                  <a:pt x="1309133" y="2031895"/>
                </a:lnTo>
                <a:lnTo>
                  <a:pt x="1308951" y="2066024"/>
                </a:lnTo>
                <a:lnTo>
                  <a:pt x="1305507" y="2130155"/>
                </a:lnTo>
                <a:lnTo>
                  <a:pt x="1297785" y="2188553"/>
                </a:lnTo>
                <a:lnTo>
                  <a:pt x="1285583" y="2240945"/>
                </a:lnTo>
                <a:lnTo>
                  <a:pt x="1264065" y="2296966"/>
                </a:lnTo>
                <a:lnTo>
                  <a:pt x="1229299" y="2351344"/>
                </a:lnTo>
                <a:lnTo>
                  <a:pt x="1185176" y="2393181"/>
                </a:lnTo>
                <a:lnTo>
                  <a:pt x="1132340" y="2423342"/>
                </a:lnTo>
                <a:lnTo>
                  <a:pt x="1071438" y="2442692"/>
                </a:lnTo>
                <a:lnTo>
                  <a:pt x="1003115" y="2452096"/>
                </a:lnTo>
                <a:lnTo>
                  <a:pt x="966372" y="2453339"/>
                </a:lnTo>
                <a:lnTo>
                  <a:pt x="928016" y="2452419"/>
                </a:lnTo>
                <a:lnTo>
                  <a:pt x="888127" y="2449446"/>
                </a:lnTo>
                <a:lnTo>
                  <a:pt x="846786" y="2444526"/>
                </a:lnTo>
                <a:lnTo>
                  <a:pt x="804073" y="2437768"/>
                </a:lnTo>
                <a:lnTo>
                  <a:pt x="760070" y="2429281"/>
                </a:lnTo>
                <a:lnTo>
                  <a:pt x="714857" y="2419172"/>
                </a:lnTo>
                <a:lnTo>
                  <a:pt x="668515" y="2407549"/>
                </a:lnTo>
                <a:lnTo>
                  <a:pt x="621124" y="2394521"/>
                </a:lnTo>
                <a:lnTo>
                  <a:pt x="572765" y="2380196"/>
                </a:lnTo>
                <a:lnTo>
                  <a:pt x="523519" y="2364681"/>
                </a:lnTo>
                <a:lnTo>
                  <a:pt x="473466" y="2348086"/>
                </a:lnTo>
                <a:lnTo>
                  <a:pt x="422687" y="2330517"/>
                </a:lnTo>
                <a:lnTo>
                  <a:pt x="371263" y="2312084"/>
                </a:lnTo>
                <a:lnTo>
                  <a:pt x="319274" y="2292894"/>
                </a:lnTo>
                <a:lnTo>
                  <a:pt x="266801" y="2273055"/>
                </a:lnTo>
                <a:lnTo>
                  <a:pt x="213924" y="2252675"/>
                </a:lnTo>
                <a:lnTo>
                  <a:pt x="160726" y="2231864"/>
                </a:lnTo>
                <a:lnTo>
                  <a:pt x="107285" y="2210727"/>
                </a:lnTo>
                <a:lnTo>
                  <a:pt x="53682" y="2189375"/>
                </a:lnTo>
                <a:lnTo>
                  <a:pt x="0" y="2167915"/>
                </a:lnTo>
              </a:path>
            </a:pathLst>
          </a:custGeom>
          <a:ln w="12700">
            <a:solidFill>
              <a:srgbClr val="FF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Tree>
    <p:extLst>
      <p:ext uri="{BB962C8B-B14F-4D97-AF65-F5344CB8AC3E}">
        <p14:creationId xmlns:p14="http://schemas.microsoft.com/office/powerpoint/2010/main" val="27909768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52</a:t>
            </a:fld>
            <a:endParaRPr lang="en-US"/>
          </a:p>
        </p:txBody>
      </p:sp>
      <p:sp>
        <p:nvSpPr>
          <p:cNvPr id="16" name="object 2">
            <a:extLst>
              <a:ext uri="{FF2B5EF4-FFF2-40B4-BE49-F238E27FC236}">
                <a16:creationId xmlns:a16="http://schemas.microsoft.com/office/drawing/2014/main" id="{38148164-65E9-5CAE-8FFF-0578B2DCB522}"/>
              </a:ext>
            </a:extLst>
          </p:cNvPr>
          <p:cNvSpPr txBox="1">
            <a:spLocks/>
          </p:cNvSpPr>
          <p:nvPr/>
        </p:nvSpPr>
        <p:spPr>
          <a:xfrm>
            <a:off x="615950" y="560832"/>
            <a:ext cx="7912734" cy="55880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3500" b="1" i="0" u="none" strike="noStrike" kern="0" cap="none" spc="0" normalizeH="0" baseline="0" noProof="0">
                <a:ln>
                  <a:noFill/>
                </a:ln>
                <a:solidFill>
                  <a:sysClr val="windowText" lastClr="000000"/>
                </a:solidFill>
                <a:effectLst/>
                <a:uLnTx/>
                <a:uFillTx/>
                <a:latin typeface="Palatino Linotype"/>
                <a:ea typeface="+mj-ea"/>
              </a:rPr>
              <a:t>Finding</a:t>
            </a:r>
            <a:r>
              <a:rPr kumimoji="0" lang="en-US" sz="3500" b="1" i="0" u="none" strike="noStrike" kern="0" cap="none" spc="-65" normalizeH="0" baseline="0" noProof="0">
                <a:ln>
                  <a:noFill/>
                </a:ln>
                <a:solidFill>
                  <a:sysClr val="windowText" lastClr="000000"/>
                </a:solidFill>
                <a:effectLst/>
                <a:uLnTx/>
                <a:uFillTx/>
                <a:latin typeface="Palatino Linotype"/>
                <a:ea typeface="+mj-ea"/>
              </a:rPr>
              <a:t> </a:t>
            </a:r>
            <a:r>
              <a:rPr kumimoji="0" lang="en-US" sz="3500" b="1" i="0" u="none" strike="noStrike" kern="0" cap="none" spc="0" normalizeH="0" baseline="0" noProof="0">
                <a:ln>
                  <a:noFill/>
                </a:ln>
                <a:solidFill>
                  <a:sysClr val="windowText" lastClr="000000"/>
                </a:solidFill>
                <a:effectLst/>
                <a:uLnTx/>
                <a:uFillTx/>
                <a:latin typeface="Palatino Linotype"/>
                <a:ea typeface="+mj-ea"/>
              </a:rPr>
              <a:t>Local</a:t>
            </a:r>
            <a:r>
              <a:rPr kumimoji="0" lang="en-US" sz="3500" b="1" i="0" u="none" strike="noStrike" kern="0" cap="none" spc="-70" normalizeH="0" baseline="0" noProof="0">
                <a:ln>
                  <a:noFill/>
                </a:ln>
                <a:solidFill>
                  <a:sysClr val="windowText" lastClr="000000"/>
                </a:solidFill>
                <a:effectLst/>
                <a:uLnTx/>
                <a:uFillTx/>
                <a:latin typeface="Palatino Linotype"/>
                <a:ea typeface="+mj-ea"/>
              </a:rPr>
              <a:t> </a:t>
            </a:r>
            <a:r>
              <a:rPr kumimoji="0" lang="en-US" sz="3500" b="1" i="0" u="none" strike="noStrike" kern="0" cap="none" spc="0" normalizeH="0" baseline="0" noProof="0">
                <a:ln>
                  <a:noFill/>
                </a:ln>
                <a:solidFill>
                  <a:sysClr val="windowText" lastClr="000000"/>
                </a:solidFill>
                <a:effectLst/>
                <a:uLnTx/>
                <a:uFillTx/>
                <a:latin typeface="Palatino Linotype"/>
                <a:ea typeface="+mj-ea"/>
              </a:rPr>
              <a:t>Common</a:t>
            </a:r>
            <a:r>
              <a:rPr kumimoji="0" lang="en-US" sz="3500" b="1" i="0" u="none" strike="noStrike" kern="0" cap="none" spc="-75" normalizeH="0" baseline="0" noProof="0">
                <a:ln>
                  <a:noFill/>
                </a:ln>
                <a:solidFill>
                  <a:sysClr val="windowText" lastClr="000000"/>
                </a:solidFill>
                <a:effectLst/>
                <a:uLnTx/>
                <a:uFillTx/>
                <a:latin typeface="Palatino Linotype"/>
                <a:ea typeface="+mj-ea"/>
              </a:rPr>
              <a:t> </a:t>
            </a:r>
            <a:r>
              <a:rPr kumimoji="0" lang="en-US" sz="3500" b="1" i="0" u="none" strike="noStrike" kern="0" cap="none" spc="-10" normalizeH="0" baseline="0" noProof="0">
                <a:ln>
                  <a:noFill/>
                </a:ln>
                <a:solidFill>
                  <a:sysClr val="windowText" lastClr="000000"/>
                </a:solidFill>
                <a:effectLst/>
                <a:uLnTx/>
                <a:uFillTx/>
                <a:latin typeface="Palatino Linotype"/>
                <a:ea typeface="+mj-ea"/>
              </a:rPr>
              <a:t>Subexpression</a:t>
            </a:r>
            <a:endParaRPr kumimoji="0" lang="en-US" sz="3500" b="1" i="0" u="none" strike="noStrike" kern="0" cap="none" spc="0" normalizeH="0" baseline="0" noProof="0">
              <a:ln>
                <a:noFill/>
              </a:ln>
              <a:solidFill>
                <a:sysClr val="windowText" lastClr="000000"/>
              </a:solidFill>
              <a:effectLst/>
              <a:uLnTx/>
              <a:uFillTx/>
              <a:latin typeface="Palatino Linotype"/>
              <a:ea typeface="+mj-ea"/>
            </a:endParaRPr>
          </a:p>
        </p:txBody>
      </p:sp>
      <p:sp>
        <p:nvSpPr>
          <p:cNvPr id="17" name="object 3">
            <a:extLst>
              <a:ext uri="{FF2B5EF4-FFF2-40B4-BE49-F238E27FC236}">
                <a16:creationId xmlns:a16="http://schemas.microsoft.com/office/drawing/2014/main" id="{C5B572DB-9A79-CD6B-3ECB-58A07356FE1B}"/>
              </a:ext>
            </a:extLst>
          </p:cNvPr>
          <p:cNvSpPr txBox="1"/>
          <p:nvPr/>
        </p:nvSpPr>
        <p:spPr>
          <a:xfrm>
            <a:off x="707390" y="1479804"/>
            <a:ext cx="7656830" cy="1701800"/>
          </a:xfrm>
          <a:prstGeom prst="rect">
            <a:avLst/>
          </a:prstGeom>
        </p:spPr>
        <p:txBody>
          <a:bodyPr vert="horz" wrap="square" lIns="0" tIns="12700" rIns="0" bIns="0" rtlCol="0">
            <a:spAutoFit/>
          </a:bodyPr>
          <a:lstStyle/>
          <a:p>
            <a:pPr marL="242570" marR="5080" indent="-230504">
              <a:lnSpc>
                <a:spcPct val="117000"/>
              </a:lnSpc>
              <a:spcBef>
                <a:spcPts val="100"/>
              </a:spcBef>
              <a:buFont typeface="Arial MT"/>
              <a:buChar char="•"/>
              <a:tabLst>
                <a:tab pos="242570" algn="l"/>
              </a:tabLst>
            </a:pPr>
            <a:r>
              <a:rPr sz="2000" dirty="0">
                <a:solidFill>
                  <a:sysClr val="windowText" lastClr="000000"/>
                </a:solidFill>
                <a:latin typeface="Palatino Linotype"/>
                <a:cs typeface="Palatino Linotype"/>
              </a:rPr>
              <a:t>When</a:t>
            </a:r>
            <a:r>
              <a:rPr sz="2000" spc="-2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creating</a:t>
            </a:r>
            <a:r>
              <a:rPr sz="2000" spc="-1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a</a:t>
            </a:r>
            <a:r>
              <a:rPr sz="2000" spc="-1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node</a:t>
            </a:r>
            <a:r>
              <a:rPr sz="2000" spc="-15" dirty="0">
                <a:solidFill>
                  <a:sysClr val="windowText" lastClr="000000"/>
                </a:solidFill>
                <a:latin typeface="Palatino Linotype"/>
                <a:cs typeface="Palatino Linotype"/>
              </a:rPr>
              <a:t> </a:t>
            </a:r>
            <a:r>
              <a:rPr sz="2000" dirty="0">
                <a:solidFill>
                  <a:sysClr val="windowText" lastClr="000000"/>
                </a:solidFill>
                <a:latin typeface="Cambria Math"/>
                <a:cs typeface="Cambria Math"/>
              </a:rPr>
              <a:t>𝑀</a:t>
            </a:r>
            <a:r>
              <a:rPr sz="2000" dirty="0">
                <a:solidFill>
                  <a:sysClr val="windowText" lastClr="000000"/>
                </a:solidFill>
                <a:latin typeface="Palatino Linotype"/>
                <a:cs typeface="Palatino Linotype"/>
              </a:rPr>
              <a:t>,</a:t>
            </a:r>
            <a:r>
              <a:rPr sz="2000" spc="-15" dirty="0">
                <a:solidFill>
                  <a:sysClr val="windowText" lastClr="000000"/>
                </a:solidFill>
                <a:latin typeface="Palatino Linotype"/>
                <a:cs typeface="Palatino Linotype"/>
              </a:rPr>
              <a:t> </a:t>
            </a:r>
            <a:r>
              <a:rPr sz="2000" dirty="0">
                <a:solidFill>
                  <a:srgbClr val="FF0000"/>
                </a:solidFill>
                <a:latin typeface="Palatino Linotype"/>
                <a:cs typeface="Palatino Linotype"/>
              </a:rPr>
              <a:t>check</a:t>
            </a:r>
            <a:r>
              <a:rPr sz="2000" spc="-10" dirty="0">
                <a:solidFill>
                  <a:srgbClr val="FF0000"/>
                </a:solidFill>
                <a:latin typeface="Palatino Linotype"/>
                <a:cs typeface="Palatino Linotype"/>
              </a:rPr>
              <a:t> </a:t>
            </a:r>
            <a:r>
              <a:rPr sz="2000" dirty="0">
                <a:solidFill>
                  <a:srgbClr val="FF0000"/>
                </a:solidFill>
                <a:latin typeface="Palatino Linotype"/>
                <a:cs typeface="Palatino Linotype"/>
              </a:rPr>
              <a:t>if</a:t>
            </a:r>
            <a:r>
              <a:rPr sz="2000" spc="-20" dirty="0">
                <a:solidFill>
                  <a:srgbClr val="FF0000"/>
                </a:solidFill>
                <a:latin typeface="Palatino Linotype"/>
                <a:cs typeface="Palatino Linotype"/>
              </a:rPr>
              <a:t> </a:t>
            </a:r>
            <a:r>
              <a:rPr sz="2000" dirty="0">
                <a:solidFill>
                  <a:srgbClr val="FF0000"/>
                </a:solidFill>
                <a:latin typeface="Palatino Linotype"/>
                <a:cs typeface="Palatino Linotype"/>
              </a:rPr>
              <a:t>there</a:t>
            </a:r>
            <a:r>
              <a:rPr sz="2000" spc="-10" dirty="0">
                <a:solidFill>
                  <a:srgbClr val="FF0000"/>
                </a:solidFill>
                <a:latin typeface="Palatino Linotype"/>
                <a:cs typeface="Palatino Linotype"/>
              </a:rPr>
              <a:t> </a:t>
            </a:r>
            <a:r>
              <a:rPr sz="2000" dirty="0">
                <a:solidFill>
                  <a:srgbClr val="FF0000"/>
                </a:solidFill>
                <a:latin typeface="Palatino Linotype"/>
                <a:cs typeface="Palatino Linotype"/>
              </a:rPr>
              <a:t>exists</a:t>
            </a:r>
            <a:r>
              <a:rPr sz="2000" spc="-15" dirty="0">
                <a:solidFill>
                  <a:srgbClr val="FF0000"/>
                </a:solidFill>
                <a:latin typeface="Palatino Linotype"/>
                <a:cs typeface="Palatino Linotype"/>
              </a:rPr>
              <a:t> </a:t>
            </a:r>
            <a:r>
              <a:rPr sz="2000" dirty="0">
                <a:solidFill>
                  <a:srgbClr val="FF0000"/>
                </a:solidFill>
                <a:latin typeface="Palatino Linotype"/>
                <a:cs typeface="Palatino Linotype"/>
              </a:rPr>
              <a:t>a</a:t>
            </a:r>
            <a:r>
              <a:rPr sz="2000" spc="-15" dirty="0">
                <a:solidFill>
                  <a:srgbClr val="FF0000"/>
                </a:solidFill>
                <a:latin typeface="Palatino Linotype"/>
                <a:cs typeface="Palatino Linotype"/>
              </a:rPr>
              <a:t> </a:t>
            </a:r>
            <a:r>
              <a:rPr sz="2000" dirty="0">
                <a:solidFill>
                  <a:srgbClr val="FF0000"/>
                </a:solidFill>
                <a:latin typeface="Palatino Linotype"/>
                <a:cs typeface="Palatino Linotype"/>
              </a:rPr>
              <a:t>node</a:t>
            </a:r>
            <a:r>
              <a:rPr sz="2000" spc="-10" dirty="0">
                <a:solidFill>
                  <a:srgbClr val="FF0000"/>
                </a:solidFill>
                <a:latin typeface="Palatino Linotype"/>
                <a:cs typeface="Palatino Linotype"/>
              </a:rPr>
              <a:t> </a:t>
            </a:r>
            <a:r>
              <a:rPr sz="2000" dirty="0">
                <a:solidFill>
                  <a:srgbClr val="FF0000"/>
                </a:solidFill>
                <a:latin typeface="Cambria Math"/>
                <a:cs typeface="Cambria Math"/>
              </a:rPr>
              <a:t>𝑁</a:t>
            </a:r>
            <a:r>
              <a:rPr sz="2000" dirty="0">
                <a:solidFill>
                  <a:sysClr val="windowText" lastClr="000000"/>
                </a:solidFill>
                <a:latin typeface="Palatino Linotype"/>
                <a:cs typeface="Palatino Linotype"/>
              </a:rPr>
              <a:t>,</a:t>
            </a:r>
            <a:r>
              <a:rPr sz="2000" spc="-1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which</a:t>
            </a:r>
            <a:r>
              <a:rPr sz="2000" spc="-15" dirty="0">
                <a:solidFill>
                  <a:sysClr val="windowText" lastClr="000000"/>
                </a:solidFill>
                <a:latin typeface="Palatino Linotype"/>
                <a:cs typeface="Palatino Linotype"/>
              </a:rPr>
              <a:t> </a:t>
            </a:r>
            <a:r>
              <a:rPr sz="2000" spc="-25" dirty="0">
                <a:solidFill>
                  <a:sysClr val="windowText" lastClr="000000"/>
                </a:solidFill>
                <a:latin typeface="Palatino Linotype"/>
                <a:cs typeface="Palatino Linotype"/>
              </a:rPr>
              <a:t>has </a:t>
            </a:r>
            <a:r>
              <a:rPr sz="2000" dirty="0">
                <a:solidFill>
                  <a:sysClr val="windowText" lastClr="000000"/>
                </a:solidFill>
                <a:latin typeface="Palatino Linotype"/>
                <a:cs typeface="Palatino Linotype"/>
              </a:rPr>
              <a:t>the</a:t>
            </a:r>
            <a:r>
              <a:rPr sz="2000" spc="-3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same</a:t>
            </a:r>
            <a:r>
              <a:rPr sz="2000" spc="-3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operator</a:t>
            </a:r>
            <a:r>
              <a:rPr sz="2000" spc="-3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and</a:t>
            </a:r>
            <a:r>
              <a:rPr sz="2000" spc="-3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children</a:t>
            </a:r>
            <a:r>
              <a:rPr sz="2000" spc="-4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nodes</a:t>
            </a:r>
            <a:r>
              <a:rPr sz="2000" spc="-3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a:t>
            </a:r>
            <a:r>
              <a:rPr sz="2000" dirty="0">
                <a:solidFill>
                  <a:srgbClr val="0432FF"/>
                </a:solidFill>
                <a:latin typeface="Palatino Linotype"/>
                <a:cs typeface="Palatino Linotype"/>
              </a:rPr>
              <a:t>order</a:t>
            </a:r>
            <a:r>
              <a:rPr sz="2000" spc="-35" dirty="0">
                <a:solidFill>
                  <a:srgbClr val="0432FF"/>
                </a:solidFill>
                <a:latin typeface="Palatino Linotype"/>
                <a:cs typeface="Palatino Linotype"/>
              </a:rPr>
              <a:t> </a:t>
            </a:r>
            <a:r>
              <a:rPr sz="2000" dirty="0">
                <a:solidFill>
                  <a:srgbClr val="0432FF"/>
                </a:solidFill>
                <a:latin typeface="Palatino Linotype"/>
                <a:cs typeface="Palatino Linotype"/>
              </a:rPr>
              <a:t>matters</a:t>
            </a:r>
            <a:r>
              <a:rPr sz="2000" dirty="0">
                <a:solidFill>
                  <a:sysClr val="windowText" lastClr="000000"/>
                </a:solidFill>
                <a:latin typeface="Palatino Linotype"/>
                <a:cs typeface="Palatino Linotype"/>
              </a:rPr>
              <a:t>)</a:t>
            </a:r>
            <a:r>
              <a:rPr sz="2000" spc="-3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with</a:t>
            </a:r>
            <a:r>
              <a:rPr sz="2000" spc="-35" dirty="0">
                <a:solidFill>
                  <a:sysClr val="windowText" lastClr="000000"/>
                </a:solidFill>
                <a:latin typeface="Palatino Linotype"/>
                <a:cs typeface="Palatino Linotype"/>
              </a:rPr>
              <a:t> </a:t>
            </a:r>
            <a:r>
              <a:rPr sz="2000" spc="-50" dirty="0">
                <a:solidFill>
                  <a:sysClr val="windowText" lastClr="000000"/>
                </a:solidFill>
                <a:latin typeface="Cambria Math"/>
                <a:cs typeface="Cambria Math"/>
              </a:rPr>
              <a:t>𝑀</a:t>
            </a:r>
            <a:endParaRPr sz="2000">
              <a:solidFill>
                <a:sysClr val="windowText" lastClr="000000"/>
              </a:solidFill>
              <a:latin typeface="Cambria Math"/>
              <a:cs typeface="Cambria Math"/>
            </a:endParaRPr>
          </a:p>
          <a:p>
            <a:pPr marL="242570" marR="306070" indent="-230504">
              <a:lnSpc>
                <a:spcPct val="121000"/>
              </a:lnSpc>
              <a:spcBef>
                <a:spcPts val="1775"/>
              </a:spcBef>
              <a:buFont typeface="Arial MT"/>
              <a:buChar char="•"/>
              <a:tabLst>
                <a:tab pos="242570" algn="l"/>
              </a:tabLst>
            </a:pPr>
            <a:r>
              <a:rPr sz="2000" dirty="0">
                <a:solidFill>
                  <a:sysClr val="windowText" lastClr="000000"/>
                </a:solidFill>
                <a:latin typeface="Palatino Linotype"/>
                <a:cs typeface="Palatino Linotype"/>
              </a:rPr>
              <a:t>If</a:t>
            </a:r>
            <a:r>
              <a:rPr sz="2000" spc="-2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such</a:t>
            </a:r>
            <a:r>
              <a:rPr sz="2000" spc="-2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a</a:t>
            </a:r>
            <a:r>
              <a:rPr sz="2000" spc="-2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node</a:t>
            </a:r>
            <a:r>
              <a:rPr sz="2000" spc="-20" dirty="0">
                <a:solidFill>
                  <a:sysClr val="windowText" lastClr="000000"/>
                </a:solidFill>
                <a:latin typeface="Palatino Linotype"/>
                <a:cs typeface="Palatino Linotype"/>
              </a:rPr>
              <a:t> </a:t>
            </a:r>
            <a:r>
              <a:rPr sz="2000" dirty="0">
                <a:solidFill>
                  <a:sysClr val="windowText" lastClr="000000"/>
                </a:solidFill>
                <a:latin typeface="Cambria Math"/>
                <a:cs typeface="Cambria Math"/>
              </a:rPr>
              <a:t>𝑁</a:t>
            </a:r>
            <a:r>
              <a:rPr sz="2000" spc="85" dirty="0">
                <a:solidFill>
                  <a:sysClr val="windowText" lastClr="000000"/>
                </a:solidFill>
                <a:latin typeface="Cambria Math"/>
                <a:cs typeface="Cambria Math"/>
              </a:rPr>
              <a:t> </a:t>
            </a:r>
            <a:r>
              <a:rPr sz="2000" dirty="0">
                <a:solidFill>
                  <a:sysClr val="windowText" lastClr="000000"/>
                </a:solidFill>
                <a:latin typeface="Palatino Linotype"/>
                <a:cs typeface="Palatino Linotype"/>
              </a:rPr>
              <a:t>exists,</a:t>
            </a:r>
            <a:r>
              <a:rPr sz="2000" spc="-2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we</a:t>
            </a:r>
            <a:r>
              <a:rPr sz="2000" spc="-2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do</a:t>
            </a:r>
            <a:r>
              <a:rPr sz="2000" spc="-2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not</a:t>
            </a:r>
            <a:r>
              <a:rPr sz="2000" spc="-2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create</a:t>
            </a:r>
            <a:r>
              <a:rPr sz="2000" spc="-2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the</a:t>
            </a:r>
            <a:r>
              <a:rPr sz="2000" spc="-2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node</a:t>
            </a:r>
            <a:r>
              <a:rPr sz="2000" spc="-20" dirty="0">
                <a:solidFill>
                  <a:sysClr val="windowText" lastClr="000000"/>
                </a:solidFill>
                <a:latin typeface="Palatino Linotype"/>
                <a:cs typeface="Palatino Linotype"/>
              </a:rPr>
              <a:t> </a:t>
            </a:r>
            <a:r>
              <a:rPr sz="2000" dirty="0">
                <a:solidFill>
                  <a:sysClr val="windowText" lastClr="000000"/>
                </a:solidFill>
                <a:latin typeface="Cambria Math"/>
                <a:cs typeface="Cambria Math"/>
              </a:rPr>
              <a:t>𝑀</a:t>
            </a:r>
            <a:r>
              <a:rPr sz="2000" spc="85" dirty="0">
                <a:solidFill>
                  <a:sysClr val="windowText" lastClr="000000"/>
                </a:solidFill>
                <a:latin typeface="Cambria Math"/>
                <a:cs typeface="Cambria Math"/>
              </a:rPr>
              <a:t> </a:t>
            </a:r>
            <a:r>
              <a:rPr sz="2000" dirty="0">
                <a:solidFill>
                  <a:sysClr val="windowText" lastClr="000000"/>
                </a:solidFill>
                <a:latin typeface="Palatino Linotype"/>
                <a:cs typeface="Palatino Linotype"/>
              </a:rPr>
              <a:t>but</a:t>
            </a:r>
            <a:r>
              <a:rPr sz="2000" spc="-25" dirty="0">
                <a:solidFill>
                  <a:sysClr val="windowText" lastClr="000000"/>
                </a:solidFill>
                <a:latin typeface="Palatino Linotype"/>
                <a:cs typeface="Palatino Linotype"/>
              </a:rPr>
              <a:t> </a:t>
            </a:r>
            <a:r>
              <a:rPr sz="2000" spc="-10" dirty="0">
                <a:solidFill>
                  <a:sysClr val="windowText" lastClr="000000"/>
                </a:solidFill>
                <a:latin typeface="Palatino Linotype"/>
                <a:cs typeface="Palatino Linotype"/>
              </a:rPr>
              <a:t>simply </a:t>
            </a:r>
            <a:r>
              <a:rPr sz="2000" dirty="0">
                <a:solidFill>
                  <a:srgbClr val="FF0000"/>
                </a:solidFill>
                <a:latin typeface="Palatino Linotype"/>
                <a:cs typeface="Palatino Linotype"/>
              </a:rPr>
              <a:t>use</a:t>
            </a:r>
            <a:r>
              <a:rPr sz="2000" spc="-25" dirty="0">
                <a:solidFill>
                  <a:srgbClr val="FF0000"/>
                </a:solidFill>
                <a:latin typeface="Palatino Linotype"/>
                <a:cs typeface="Palatino Linotype"/>
              </a:rPr>
              <a:t> </a:t>
            </a:r>
            <a:r>
              <a:rPr sz="2000" dirty="0">
                <a:solidFill>
                  <a:srgbClr val="FF0000"/>
                </a:solidFill>
                <a:latin typeface="Cambria Math"/>
                <a:cs typeface="Cambria Math"/>
              </a:rPr>
              <a:t>𝑁</a:t>
            </a:r>
            <a:r>
              <a:rPr sz="2000" spc="85" dirty="0">
                <a:solidFill>
                  <a:srgbClr val="FF0000"/>
                </a:solidFill>
                <a:latin typeface="Cambria Math"/>
                <a:cs typeface="Cambria Math"/>
              </a:rPr>
              <a:t> </a:t>
            </a:r>
            <a:r>
              <a:rPr sz="2000" dirty="0">
                <a:solidFill>
                  <a:srgbClr val="FF0000"/>
                </a:solidFill>
                <a:latin typeface="Palatino Linotype"/>
                <a:cs typeface="Palatino Linotype"/>
              </a:rPr>
              <a:t>to</a:t>
            </a:r>
            <a:r>
              <a:rPr sz="2000" spc="-25" dirty="0">
                <a:solidFill>
                  <a:srgbClr val="FF0000"/>
                </a:solidFill>
                <a:latin typeface="Palatino Linotype"/>
                <a:cs typeface="Palatino Linotype"/>
              </a:rPr>
              <a:t> </a:t>
            </a:r>
            <a:r>
              <a:rPr sz="2000" dirty="0">
                <a:solidFill>
                  <a:srgbClr val="FF0000"/>
                </a:solidFill>
                <a:latin typeface="Palatino Linotype"/>
                <a:cs typeface="Palatino Linotype"/>
              </a:rPr>
              <a:t>represent</a:t>
            </a:r>
            <a:r>
              <a:rPr sz="2000" spc="-25" dirty="0">
                <a:solidFill>
                  <a:srgbClr val="FF0000"/>
                </a:solidFill>
                <a:latin typeface="Palatino Linotype"/>
                <a:cs typeface="Palatino Linotype"/>
              </a:rPr>
              <a:t> </a:t>
            </a:r>
            <a:r>
              <a:rPr sz="2000" spc="-50" dirty="0">
                <a:solidFill>
                  <a:srgbClr val="FF0000"/>
                </a:solidFill>
                <a:latin typeface="Cambria Math"/>
                <a:cs typeface="Cambria Math"/>
              </a:rPr>
              <a:t>𝑀</a:t>
            </a:r>
            <a:endParaRPr sz="2000">
              <a:solidFill>
                <a:sysClr val="windowText" lastClr="000000"/>
              </a:solidFill>
              <a:latin typeface="Cambria Math"/>
              <a:cs typeface="Cambria Math"/>
            </a:endParaRPr>
          </a:p>
        </p:txBody>
      </p:sp>
      <p:pic>
        <p:nvPicPr>
          <p:cNvPr id="18" name="object 4">
            <a:extLst>
              <a:ext uri="{FF2B5EF4-FFF2-40B4-BE49-F238E27FC236}">
                <a16:creationId xmlns:a16="http://schemas.microsoft.com/office/drawing/2014/main" id="{B4276871-DD37-A4A7-2F0E-B44C41A4DCBE}"/>
              </a:ext>
            </a:extLst>
          </p:cNvPr>
          <p:cNvPicPr/>
          <p:nvPr/>
        </p:nvPicPr>
        <p:blipFill>
          <a:blip r:embed="rId3" cstate="print"/>
          <a:stretch>
            <a:fillRect/>
          </a:stretch>
        </p:blipFill>
        <p:spPr>
          <a:xfrm>
            <a:off x="2087879" y="3621023"/>
            <a:ext cx="838200" cy="1094232"/>
          </a:xfrm>
          <a:prstGeom prst="rect">
            <a:avLst/>
          </a:prstGeom>
        </p:spPr>
      </p:pic>
      <p:sp>
        <p:nvSpPr>
          <p:cNvPr id="19" name="object 5">
            <a:extLst>
              <a:ext uri="{FF2B5EF4-FFF2-40B4-BE49-F238E27FC236}">
                <a16:creationId xmlns:a16="http://schemas.microsoft.com/office/drawing/2014/main" id="{614887A3-6F79-A114-3CAF-72F2D1D2218E}"/>
              </a:ext>
            </a:extLst>
          </p:cNvPr>
          <p:cNvSpPr/>
          <p:nvPr/>
        </p:nvSpPr>
        <p:spPr>
          <a:xfrm>
            <a:off x="5015344" y="4763055"/>
            <a:ext cx="260985" cy="260985"/>
          </a:xfrm>
          <a:custGeom>
            <a:avLst/>
            <a:gdLst/>
            <a:ahLst/>
            <a:cxnLst/>
            <a:rect l="l" t="t" r="r" b="b"/>
            <a:pathLst>
              <a:path w="260985" h="260985">
                <a:moveTo>
                  <a:pt x="0" y="130263"/>
                </a:moveTo>
                <a:lnTo>
                  <a:pt x="10236" y="79558"/>
                </a:lnTo>
                <a:lnTo>
                  <a:pt x="38153" y="38153"/>
                </a:lnTo>
                <a:lnTo>
                  <a:pt x="79558" y="10236"/>
                </a:lnTo>
                <a:lnTo>
                  <a:pt x="130263" y="0"/>
                </a:lnTo>
                <a:lnTo>
                  <a:pt x="180967" y="10236"/>
                </a:lnTo>
                <a:lnTo>
                  <a:pt x="222372" y="38153"/>
                </a:lnTo>
                <a:lnTo>
                  <a:pt x="250289" y="79558"/>
                </a:lnTo>
                <a:lnTo>
                  <a:pt x="260526" y="130263"/>
                </a:lnTo>
                <a:lnTo>
                  <a:pt x="250289" y="180967"/>
                </a:lnTo>
                <a:lnTo>
                  <a:pt x="222372" y="222372"/>
                </a:lnTo>
                <a:lnTo>
                  <a:pt x="180967" y="250289"/>
                </a:lnTo>
                <a:lnTo>
                  <a:pt x="130263" y="260526"/>
                </a:lnTo>
                <a:lnTo>
                  <a:pt x="79558" y="250289"/>
                </a:lnTo>
                <a:lnTo>
                  <a:pt x="38153" y="222372"/>
                </a:lnTo>
                <a:lnTo>
                  <a:pt x="10236" y="180967"/>
                </a:lnTo>
                <a:lnTo>
                  <a:pt x="0" y="130263"/>
                </a:lnTo>
                <a:close/>
              </a:path>
            </a:pathLst>
          </a:custGeom>
          <a:ln w="12700">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0" name="object 6">
            <a:extLst>
              <a:ext uri="{FF2B5EF4-FFF2-40B4-BE49-F238E27FC236}">
                <a16:creationId xmlns:a16="http://schemas.microsoft.com/office/drawing/2014/main" id="{A8F2E9EA-50B8-C65A-9735-4779E92AB292}"/>
              </a:ext>
            </a:extLst>
          </p:cNvPr>
          <p:cNvSpPr txBox="1"/>
          <p:nvPr/>
        </p:nvSpPr>
        <p:spPr>
          <a:xfrm>
            <a:off x="4679205" y="5360923"/>
            <a:ext cx="297180" cy="299720"/>
          </a:xfrm>
          <a:prstGeom prst="rect">
            <a:avLst/>
          </a:prstGeom>
        </p:spPr>
        <p:txBody>
          <a:bodyPr vert="horz" wrap="square" lIns="0" tIns="12700" rIns="0" bIns="0" rtlCol="0">
            <a:spAutoFit/>
          </a:bodyPr>
          <a:lstStyle/>
          <a:p>
            <a:pPr marL="38100">
              <a:spcBef>
                <a:spcPts val="100"/>
              </a:spcBef>
            </a:pPr>
            <a:r>
              <a:rPr spc="-25" dirty="0">
                <a:solidFill>
                  <a:sysClr val="windowText" lastClr="000000"/>
                </a:solidFill>
                <a:latin typeface="Cambria Math"/>
                <a:cs typeface="Cambria Math"/>
              </a:rPr>
              <a:t>b</a:t>
            </a:r>
            <a:r>
              <a:rPr sz="1950" spc="-37" baseline="-14957" dirty="0">
                <a:solidFill>
                  <a:sysClr val="windowText" lastClr="000000"/>
                </a:solidFill>
                <a:latin typeface="Cambria Math"/>
                <a:cs typeface="Cambria Math"/>
              </a:rPr>
              <a:t>0</a:t>
            </a:r>
            <a:endParaRPr sz="1950" baseline="-14957">
              <a:solidFill>
                <a:sysClr val="windowText" lastClr="000000"/>
              </a:solidFill>
              <a:latin typeface="Cambria Math"/>
              <a:cs typeface="Cambria Math"/>
            </a:endParaRPr>
          </a:p>
        </p:txBody>
      </p:sp>
      <p:sp>
        <p:nvSpPr>
          <p:cNvPr id="21" name="object 7">
            <a:extLst>
              <a:ext uri="{FF2B5EF4-FFF2-40B4-BE49-F238E27FC236}">
                <a16:creationId xmlns:a16="http://schemas.microsoft.com/office/drawing/2014/main" id="{74275CEB-431F-5204-543C-AA8EF9BCA094}"/>
              </a:ext>
            </a:extLst>
          </p:cNvPr>
          <p:cNvSpPr txBox="1"/>
          <p:nvPr/>
        </p:nvSpPr>
        <p:spPr>
          <a:xfrm>
            <a:off x="5326148" y="5354828"/>
            <a:ext cx="271780" cy="299720"/>
          </a:xfrm>
          <a:prstGeom prst="rect">
            <a:avLst/>
          </a:prstGeom>
        </p:spPr>
        <p:txBody>
          <a:bodyPr vert="horz" wrap="square" lIns="0" tIns="12700" rIns="0" bIns="0" rtlCol="0">
            <a:spAutoFit/>
          </a:bodyPr>
          <a:lstStyle/>
          <a:p>
            <a:pPr marL="38100">
              <a:spcBef>
                <a:spcPts val="100"/>
              </a:spcBef>
            </a:pPr>
            <a:r>
              <a:rPr spc="-25" dirty="0">
                <a:solidFill>
                  <a:sysClr val="windowText" lastClr="000000"/>
                </a:solidFill>
                <a:latin typeface="Cambria Math"/>
                <a:cs typeface="Cambria Math"/>
              </a:rPr>
              <a:t>c</a:t>
            </a:r>
            <a:r>
              <a:rPr sz="1950" spc="-37" baseline="-17094" dirty="0">
                <a:solidFill>
                  <a:sysClr val="windowText" lastClr="000000"/>
                </a:solidFill>
                <a:latin typeface="Cambria Math"/>
                <a:cs typeface="Cambria Math"/>
              </a:rPr>
              <a:t>0</a:t>
            </a:r>
            <a:endParaRPr sz="1950" baseline="-17094">
              <a:solidFill>
                <a:sysClr val="windowText" lastClr="000000"/>
              </a:solidFill>
              <a:latin typeface="Cambria Math"/>
              <a:cs typeface="Cambria Math"/>
            </a:endParaRPr>
          </a:p>
        </p:txBody>
      </p:sp>
      <p:grpSp>
        <p:nvGrpSpPr>
          <p:cNvPr id="22" name="object 8">
            <a:extLst>
              <a:ext uri="{FF2B5EF4-FFF2-40B4-BE49-F238E27FC236}">
                <a16:creationId xmlns:a16="http://schemas.microsoft.com/office/drawing/2014/main" id="{D128A3A6-9E2A-6EBC-84C5-1877A263C9AD}"/>
              </a:ext>
            </a:extLst>
          </p:cNvPr>
          <p:cNvGrpSpPr/>
          <p:nvPr/>
        </p:nvGrpSpPr>
        <p:grpSpPr>
          <a:xfrm>
            <a:off x="4827405" y="4979078"/>
            <a:ext cx="647065" cy="413384"/>
            <a:chOff x="4827405" y="4979078"/>
            <a:chExt cx="647065" cy="413384"/>
          </a:xfrm>
        </p:grpSpPr>
        <p:sp>
          <p:nvSpPr>
            <p:cNvPr id="23" name="object 9">
              <a:extLst>
                <a:ext uri="{FF2B5EF4-FFF2-40B4-BE49-F238E27FC236}">
                  <a16:creationId xmlns:a16="http://schemas.microsoft.com/office/drawing/2014/main" id="{82C7E69F-C223-E129-3F46-B2B47CAC20B2}"/>
                </a:ext>
              </a:extLst>
            </p:cNvPr>
            <p:cNvSpPr/>
            <p:nvPr/>
          </p:nvSpPr>
          <p:spPr>
            <a:xfrm>
              <a:off x="4833755" y="4985428"/>
              <a:ext cx="220345" cy="400685"/>
            </a:xfrm>
            <a:custGeom>
              <a:avLst/>
              <a:gdLst/>
              <a:ahLst/>
              <a:cxnLst/>
              <a:rect l="l" t="t" r="r" b="b"/>
              <a:pathLst>
                <a:path w="220345" h="400685">
                  <a:moveTo>
                    <a:pt x="219742" y="0"/>
                  </a:moveTo>
                  <a:lnTo>
                    <a:pt x="0" y="400185"/>
                  </a:lnTo>
                </a:path>
              </a:pathLst>
            </a:custGeom>
            <a:ln w="12700">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4" name="object 10">
              <a:extLst>
                <a:ext uri="{FF2B5EF4-FFF2-40B4-BE49-F238E27FC236}">
                  <a16:creationId xmlns:a16="http://schemas.microsoft.com/office/drawing/2014/main" id="{0F37F302-6A48-EBD2-5608-006C4B1C8266}"/>
                </a:ext>
              </a:extLst>
            </p:cNvPr>
            <p:cNvSpPr/>
            <p:nvPr/>
          </p:nvSpPr>
          <p:spPr>
            <a:xfrm>
              <a:off x="5237717" y="4985428"/>
              <a:ext cx="230504" cy="396240"/>
            </a:xfrm>
            <a:custGeom>
              <a:avLst/>
              <a:gdLst/>
              <a:ahLst/>
              <a:cxnLst/>
              <a:rect l="l" t="t" r="r" b="b"/>
              <a:pathLst>
                <a:path w="230504" h="396239">
                  <a:moveTo>
                    <a:pt x="0" y="0"/>
                  </a:moveTo>
                  <a:lnTo>
                    <a:pt x="230157" y="395642"/>
                  </a:lnTo>
                </a:path>
              </a:pathLst>
            </a:custGeom>
            <a:ln w="12700">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25" name="object 11">
            <a:extLst>
              <a:ext uri="{FF2B5EF4-FFF2-40B4-BE49-F238E27FC236}">
                <a16:creationId xmlns:a16="http://schemas.microsoft.com/office/drawing/2014/main" id="{7AB685C7-8193-6491-1F1D-41F75B1273AC}"/>
              </a:ext>
            </a:extLst>
          </p:cNvPr>
          <p:cNvSpPr txBox="1"/>
          <p:nvPr/>
        </p:nvSpPr>
        <p:spPr>
          <a:xfrm>
            <a:off x="5075758" y="4729988"/>
            <a:ext cx="440055" cy="299720"/>
          </a:xfrm>
          <a:prstGeom prst="rect">
            <a:avLst/>
          </a:prstGeom>
        </p:spPr>
        <p:txBody>
          <a:bodyPr vert="horz" wrap="square" lIns="0" tIns="12700" rIns="0" bIns="0" rtlCol="0">
            <a:spAutoFit/>
          </a:bodyPr>
          <a:lstStyle/>
          <a:p>
            <a:pPr marL="12700">
              <a:spcBef>
                <a:spcPts val="100"/>
              </a:spcBef>
              <a:tabLst>
                <a:tab pos="314960" algn="l"/>
              </a:tabLst>
            </a:pPr>
            <a:r>
              <a:rPr spc="-50" dirty="0">
                <a:solidFill>
                  <a:sysClr val="windowText" lastClr="000000"/>
                </a:solidFill>
                <a:cs typeface="Calibri"/>
              </a:rPr>
              <a:t>+</a:t>
            </a:r>
            <a:r>
              <a:rPr dirty="0">
                <a:solidFill>
                  <a:sysClr val="windowText" lastClr="000000"/>
                </a:solidFill>
                <a:cs typeface="Calibri"/>
              </a:rPr>
              <a:t>	</a:t>
            </a:r>
            <a:r>
              <a:rPr spc="-50" dirty="0">
                <a:solidFill>
                  <a:sysClr val="windowText" lastClr="000000"/>
                </a:solidFill>
                <a:latin typeface="Cambria Math"/>
                <a:cs typeface="Cambria Math"/>
              </a:rPr>
              <a:t>a</a:t>
            </a:r>
            <a:endParaRPr>
              <a:solidFill>
                <a:sysClr val="windowText" lastClr="000000"/>
              </a:solidFill>
              <a:latin typeface="Cambria Math"/>
              <a:cs typeface="Cambria Math"/>
            </a:endParaRPr>
          </a:p>
        </p:txBody>
      </p:sp>
      <p:sp>
        <p:nvSpPr>
          <p:cNvPr id="26" name="object 12">
            <a:extLst>
              <a:ext uri="{FF2B5EF4-FFF2-40B4-BE49-F238E27FC236}">
                <a16:creationId xmlns:a16="http://schemas.microsoft.com/office/drawing/2014/main" id="{7C00F499-CF0D-B175-6614-6F0A58EE8125}"/>
              </a:ext>
            </a:extLst>
          </p:cNvPr>
          <p:cNvSpPr/>
          <p:nvPr/>
        </p:nvSpPr>
        <p:spPr>
          <a:xfrm>
            <a:off x="1504950" y="3706586"/>
            <a:ext cx="457200" cy="76200"/>
          </a:xfrm>
          <a:custGeom>
            <a:avLst/>
            <a:gdLst/>
            <a:ahLst/>
            <a:cxnLst/>
            <a:rect l="l" t="t" r="r" b="b"/>
            <a:pathLst>
              <a:path w="457200" h="76200">
                <a:moveTo>
                  <a:pt x="381000" y="0"/>
                </a:moveTo>
                <a:lnTo>
                  <a:pt x="381000" y="76199"/>
                </a:lnTo>
                <a:lnTo>
                  <a:pt x="444500" y="44449"/>
                </a:lnTo>
                <a:lnTo>
                  <a:pt x="393700" y="44449"/>
                </a:lnTo>
                <a:lnTo>
                  <a:pt x="393700" y="31749"/>
                </a:lnTo>
                <a:lnTo>
                  <a:pt x="444500" y="31749"/>
                </a:lnTo>
                <a:lnTo>
                  <a:pt x="381000" y="0"/>
                </a:lnTo>
                <a:close/>
              </a:path>
              <a:path w="457200" h="76200">
                <a:moveTo>
                  <a:pt x="381000" y="31749"/>
                </a:moveTo>
                <a:lnTo>
                  <a:pt x="0" y="31749"/>
                </a:lnTo>
                <a:lnTo>
                  <a:pt x="0" y="44449"/>
                </a:lnTo>
                <a:lnTo>
                  <a:pt x="381000" y="44449"/>
                </a:lnTo>
                <a:lnTo>
                  <a:pt x="381000" y="31749"/>
                </a:lnTo>
                <a:close/>
              </a:path>
              <a:path w="457200" h="76200">
                <a:moveTo>
                  <a:pt x="444500" y="31749"/>
                </a:moveTo>
                <a:lnTo>
                  <a:pt x="393700" y="31749"/>
                </a:lnTo>
                <a:lnTo>
                  <a:pt x="393700" y="44449"/>
                </a:lnTo>
                <a:lnTo>
                  <a:pt x="444500" y="44449"/>
                </a:lnTo>
                <a:lnTo>
                  <a:pt x="457200" y="38099"/>
                </a:lnTo>
                <a:lnTo>
                  <a:pt x="444500" y="31749"/>
                </a:lnTo>
                <a:close/>
              </a:path>
            </a:pathLst>
          </a:custGeom>
          <a:solidFill>
            <a:srgbClr val="FF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Tree>
    <p:extLst>
      <p:ext uri="{BB962C8B-B14F-4D97-AF65-F5344CB8AC3E}">
        <p14:creationId xmlns:p14="http://schemas.microsoft.com/office/powerpoint/2010/main" val="223298226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53</a:t>
            </a:fld>
            <a:endParaRPr lang="en-US"/>
          </a:p>
        </p:txBody>
      </p:sp>
      <p:sp>
        <p:nvSpPr>
          <p:cNvPr id="19" name="object 2">
            <a:extLst>
              <a:ext uri="{FF2B5EF4-FFF2-40B4-BE49-F238E27FC236}">
                <a16:creationId xmlns:a16="http://schemas.microsoft.com/office/drawing/2014/main" id="{74CEF60C-EDE5-E27D-4529-BBDB178B1390}"/>
              </a:ext>
            </a:extLst>
          </p:cNvPr>
          <p:cNvSpPr txBox="1">
            <a:spLocks/>
          </p:cNvSpPr>
          <p:nvPr/>
        </p:nvSpPr>
        <p:spPr>
          <a:xfrm>
            <a:off x="615950" y="560832"/>
            <a:ext cx="7912734" cy="55880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3500" b="1" i="0" u="none" strike="noStrike" kern="0" cap="none" spc="0" normalizeH="0" baseline="0" noProof="0">
                <a:ln>
                  <a:noFill/>
                </a:ln>
                <a:solidFill>
                  <a:sysClr val="windowText" lastClr="000000"/>
                </a:solidFill>
                <a:effectLst/>
                <a:uLnTx/>
                <a:uFillTx/>
                <a:latin typeface="Palatino Linotype"/>
                <a:ea typeface="+mj-ea"/>
              </a:rPr>
              <a:t>Finding</a:t>
            </a:r>
            <a:r>
              <a:rPr kumimoji="0" lang="en-US" sz="3500" b="1" i="0" u="none" strike="noStrike" kern="0" cap="none" spc="-65" normalizeH="0" baseline="0" noProof="0">
                <a:ln>
                  <a:noFill/>
                </a:ln>
                <a:solidFill>
                  <a:sysClr val="windowText" lastClr="000000"/>
                </a:solidFill>
                <a:effectLst/>
                <a:uLnTx/>
                <a:uFillTx/>
                <a:latin typeface="Palatino Linotype"/>
                <a:ea typeface="+mj-ea"/>
              </a:rPr>
              <a:t> </a:t>
            </a:r>
            <a:r>
              <a:rPr kumimoji="0" lang="en-US" sz="3500" b="1" i="0" u="none" strike="noStrike" kern="0" cap="none" spc="0" normalizeH="0" baseline="0" noProof="0">
                <a:ln>
                  <a:noFill/>
                </a:ln>
                <a:solidFill>
                  <a:sysClr val="windowText" lastClr="000000"/>
                </a:solidFill>
                <a:effectLst/>
                <a:uLnTx/>
                <a:uFillTx/>
                <a:latin typeface="Palatino Linotype"/>
                <a:ea typeface="+mj-ea"/>
              </a:rPr>
              <a:t>Local</a:t>
            </a:r>
            <a:r>
              <a:rPr kumimoji="0" lang="en-US" sz="3500" b="1" i="0" u="none" strike="noStrike" kern="0" cap="none" spc="-70" normalizeH="0" baseline="0" noProof="0">
                <a:ln>
                  <a:noFill/>
                </a:ln>
                <a:solidFill>
                  <a:sysClr val="windowText" lastClr="000000"/>
                </a:solidFill>
                <a:effectLst/>
                <a:uLnTx/>
                <a:uFillTx/>
                <a:latin typeface="Palatino Linotype"/>
                <a:ea typeface="+mj-ea"/>
              </a:rPr>
              <a:t> </a:t>
            </a:r>
            <a:r>
              <a:rPr kumimoji="0" lang="en-US" sz="3500" b="1" i="0" u="none" strike="noStrike" kern="0" cap="none" spc="0" normalizeH="0" baseline="0" noProof="0">
                <a:ln>
                  <a:noFill/>
                </a:ln>
                <a:solidFill>
                  <a:sysClr val="windowText" lastClr="000000"/>
                </a:solidFill>
                <a:effectLst/>
                <a:uLnTx/>
                <a:uFillTx/>
                <a:latin typeface="Palatino Linotype"/>
                <a:ea typeface="+mj-ea"/>
              </a:rPr>
              <a:t>Common</a:t>
            </a:r>
            <a:r>
              <a:rPr kumimoji="0" lang="en-US" sz="3500" b="1" i="0" u="none" strike="noStrike" kern="0" cap="none" spc="-75" normalizeH="0" baseline="0" noProof="0">
                <a:ln>
                  <a:noFill/>
                </a:ln>
                <a:solidFill>
                  <a:sysClr val="windowText" lastClr="000000"/>
                </a:solidFill>
                <a:effectLst/>
                <a:uLnTx/>
                <a:uFillTx/>
                <a:latin typeface="Palatino Linotype"/>
                <a:ea typeface="+mj-ea"/>
              </a:rPr>
              <a:t> </a:t>
            </a:r>
            <a:r>
              <a:rPr kumimoji="0" lang="en-US" sz="3500" b="1" i="0" u="none" strike="noStrike" kern="0" cap="none" spc="-10" normalizeH="0" baseline="0" noProof="0">
                <a:ln>
                  <a:noFill/>
                </a:ln>
                <a:solidFill>
                  <a:sysClr val="windowText" lastClr="000000"/>
                </a:solidFill>
                <a:effectLst/>
                <a:uLnTx/>
                <a:uFillTx/>
                <a:latin typeface="Palatino Linotype"/>
                <a:ea typeface="+mj-ea"/>
              </a:rPr>
              <a:t>Subexpression</a:t>
            </a:r>
            <a:endParaRPr kumimoji="0" lang="en-US" sz="3500" b="1" i="0" u="none" strike="noStrike" kern="0" cap="none" spc="0" normalizeH="0" baseline="0" noProof="0">
              <a:ln>
                <a:noFill/>
              </a:ln>
              <a:solidFill>
                <a:sysClr val="windowText" lastClr="000000"/>
              </a:solidFill>
              <a:effectLst/>
              <a:uLnTx/>
              <a:uFillTx/>
              <a:latin typeface="Palatino Linotype"/>
              <a:ea typeface="+mj-ea"/>
            </a:endParaRPr>
          </a:p>
        </p:txBody>
      </p:sp>
      <p:sp>
        <p:nvSpPr>
          <p:cNvPr id="20" name="object 3">
            <a:extLst>
              <a:ext uri="{FF2B5EF4-FFF2-40B4-BE49-F238E27FC236}">
                <a16:creationId xmlns:a16="http://schemas.microsoft.com/office/drawing/2014/main" id="{84544D80-85EE-67E1-C687-5ED9CB1F425D}"/>
              </a:ext>
            </a:extLst>
          </p:cNvPr>
          <p:cNvSpPr txBox="1"/>
          <p:nvPr/>
        </p:nvSpPr>
        <p:spPr>
          <a:xfrm>
            <a:off x="707390" y="1479804"/>
            <a:ext cx="7656830" cy="1701800"/>
          </a:xfrm>
          <a:prstGeom prst="rect">
            <a:avLst/>
          </a:prstGeom>
        </p:spPr>
        <p:txBody>
          <a:bodyPr vert="horz" wrap="square" lIns="0" tIns="12700" rIns="0" bIns="0" rtlCol="0">
            <a:spAutoFit/>
          </a:bodyPr>
          <a:lstStyle/>
          <a:p>
            <a:pPr marL="242570" marR="5080" indent="-230504">
              <a:lnSpc>
                <a:spcPct val="117000"/>
              </a:lnSpc>
              <a:spcBef>
                <a:spcPts val="100"/>
              </a:spcBef>
              <a:buFont typeface="Arial MT"/>
              <a:buChar char="•"/>
              <a:tabLst>
                <a:tab pos="242570" algn="l"/>
              </a:tabLst>
            </a:pPr>
            <a:r>
              <a:rPr sz="2000" dirty="0">
                <a:solidFill>
                  <a:sysClr val="windowText" lastClr="000000"/>
                </a:solidFill>
                <a:latin typeface="Palatino Linotype"/>
                <a:cs typeface="Palatino Linotype"/>
              </a:rPr>
              <a:t>When</a:t>
            </a:r>
            <a:r>
              <a:rPr sz="2000" spc="-2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creating</a:t>
            </a:r>
            <a:r>
              <a:rPr sz="2000" spc="-1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a</a:t>
            </a:r>
            <a:r>
              <a:rPr sz="2000" spc="-1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node</a:t>
            </a:r>
            <a:r>
              <a:rPr sz="2000" spc="-15" dirty="0">
                <a:solidFill>
                  <a:sysClr val="windowText" lastClr="000000"/>
                </a:solidFill>
                <a:latin typeface="Palatino Linotype"/>
                <a:cs typeface="Palatino Linotype"/>
              </a:rPr>
              <a:t> </a:t>
            </a:r>
            <a:r>
              <a:rPr sz="2000" dirty="0">
                <a:solidFill>
                  <a:sysClr val="windowText" lastClr="000000"/>
                </a:solidFill>
                <a:latin typeface="Cambria Math"/>
                <a:cs typeface="Cambria Math"/>
              </a:rPr>
              <a:t>𝑀</a:t>
            </a:r>
            <a:r>
              <a:rPr sz="2000" dirty="0">
                <a:solidFill>
                  <a:sysClr val="windowText" lastClr="000000"/>
                </a:solidFill>
                <a:latin typeface="Palatino Linotype"/>
                <a:cs typeface="Palatino Linotype"/>
              </a:rPr>
              <a:t>,</a:t>
            </a:r>
            <a:r>
              <a:rPr sz="2000" spc="-15" dirty="0">
                <a:solidFill>
                  <a:sysClr val="windowText" lastClr="000000"/>
                </a:solidFill>
                <a:latin typeface="Palatino Linotype"/>
                <a:cs typeface="Palatino Linotype"/>
              </a:rPr>
              <a:t> </a:t>
            </a:r>
            <a:r>
              <a:rPr sz="2000" dirty="0">
                <a:solidFill>
                  <a:srgbClr val="FF0000"/>
                </a:solidFill>
                <a:latin typeface="Palatino Linotype"/>
                <a:cs typeface="Palatino Linotype"/>
              </a:rPr>
              <a:t>check</a:t>
            </a:r>
            <a:r>
              <a:rPr sz="2000" spc="-10" dirty="0">
                <a:solidFill>
                  <a:srgbClr val="FF0000"/>
                </a:solidFill>
                <a:latin typeface="Palatino Linotype"/>
                <a:cs typeface="Palatino Linotype"/>
              </a:rPr>
              <a:t> </a:t>
            </a:r>
            <a:r>
              <a:rPr sz="2000" dirty="0">
                <a:solidFill>
                  <a:srgbClr val="FF0000"/>
                </a:solidFill>
                <a:latin typeface="Palatino Linotype"/>
                <a:cs typeface="Palatino Linotype"/>
              </a:rPr>
              <a:t>if</a:t>
            </a:r>
            <a:r>
              <a:rPr sz="2000" spc="-20" dirty="0">
                <a:solidFill>
                  <a:srgbClr val="FF0000"/>
                </a:solidFill>
                <a:latin typeface="Palatino Linotype"/>
                <a:cs typeface="Palatino Linotype"/>
              </a:rPr>
              <a:t> </a:t>
            </a:r>
            <a:r>
              <a:rPr sz="2000" dirty="0">
                <a:solidFill>
                  <a:srgbClr val="FF0000"/>
                </a:solidFill>
                <a:latin typeface="Palatino Linotype"/>
                <a:cs typeface="Palatino Linotype"/>
              </a:rPr>
              <a:t>there</a:t>
            </a:r>
            <a:r>
              <a:rPr sz="2000" spc="-10" dirty="0">
                <a:solidFill>
                  <a:srgbClr val="FF0000"/>
                </a:solidFill>
                <a:latin typeface="Palatino Linotype"/>
                <a:cs typeface="Palatino Linotype"/>
              </a:rPr>
              <a:t> </a:t>
            </a:r>
            <a:r>
              <a:rPr sz="2000" dirty="0">
                <a:solidFill>
                  <a:srgbClr val="FF0000"/>
                </a:solidFill>
                <a:latin typeface="Palatino Linotype"/>
                <a:cs typeface="Palatino Linotype"/>
              </a:rPr>
              <a:t>exists</a:t>
            </a:r>
            <a:r>
              <a:rPr sz="2000" spc="-15" dirty="0">
                <a:solidFill>
                  <a:srgbClr val="FF0000"/>
                </a:solidFill>
                <a:latin typeface="Palatino Linotype"/>
                <a:cs typeface="Palatino Linotype"/>
              </a:rPr>
              <a:t> </a:t>
            </a:r>
            <a:r>
              <a:rPr sz="2000" dirty="0">
                <a:solidFill>
                  <a:srgbClr val="FF0000"/>
                </a:solidFill>
                <a:latin typeface="Palatino Linotype"/>
                <a:cs typeface="Palatino Linotype"/>
              </a:rPr>
              <a:t>a</a:t>
            </a:r>
            <a:r>
              <a:rPr sz="2000" spc="-15" dirty="0">
                <a:solidFill>
                  <a:srgbClr val="FF0000"/>
                </a:solidFill>
                <a:latin typeface="Palatino Linotype"/>
                <a:cs typeface="Palatino Linotype"/>
              </a:rPr>
              <a:t> </a:t>
            </a:r>
            <a:r>
              <a:rPr sz="2000" dirty="0">
                <a:solidFill>
                  <a:srgbClr val="FF0000"/>
                </a:solidFill>
                <a:latin typeface="Palatino Linotype"/>
                <a:cs typeface="Palatino Linotype"/>
              </a:rPr>
              <a:t>node</a:t>
            </a:r>
            <a:r>
              <a:rPr sz="2000" spc="-10" dirty="0">
                <a:solidFill>
                  <a:srgbClr val="FF0000"/>
                </a:solidFill>
                <a:latin typeface="Palatino Linotype"/>
                <a:cs typeface="Palatino Linotype"/>
              </a:rPr>
              <a:t> </a:t>
            </a:r>
            <a:r>
              <a:rPr sz="2000" dirty="0">
                <a:solidFill>
                  <a:srgbClr val="FF0000"/>
                </a:solidFill>
                <a:latin typeface="Cambria Math"/>
                <a:cs typeface="Cambria Math"/>
              </a:rPr>
              <a:t>𝑁</a:t>
            </a:r>
            <a:r>
              <a:rPr sz="2000" dirty="0">
                <a:solidFill>
                  <a:sysClr val="windowText" lastClr="000000"/>
                </a:solidFill>
                <a:latin typeface="Palatino Linotype"/>
                <a:cs typeface="Palatino Linotype"/>
              </a:rPr>
              <a:t>,</a:t>
            </a:r>
            <a:r>
              <a:rPr sz="2000" spc="-1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which</a:t>
            </a:r>
            <a:r>
              <a:rPr sz="2000" spc="-15" dirty="0">
                <a:solidFill>
                  <a:sysClr val="windowText" lastClr="000000"/>
                </a:solidFill>
                <a:latin typeface="Palatino Linotype"/>
                <a:cs typeface="Palatino Linotype"/>
              </a:rPr>
              <a:t> </a:t>
            </a:r>
            <a:r>
              <a:rPr sz="2000" spc="-25" dirty="0">
                <a:solidFill>
                  <a:sysClr val="windowText" lastClr="000000"/>
                </a:solidFill>
                <a:latin typeface="Palatino Linotype"/>
                <a:cs typeface="Palatino Linotype"/>
              </a:rPr>
              <a:t>has </a:t>
            </a:r>
            <a:r>
              <a:rPr sz="2000" dirty="0">
                <a:solidFill>
                  <a:sysClr val="windowText" lastClr="000000"/>
                </a:solidFill>
                <a:latin typeface="Palatino Linotype"/>
                <a:cs typeface="Palatino Linotype"/>
              </a:rPr>
              <a:t>the</a:t>
            </a:r>
            <a:r>
              <a:rPr sz="2000" spc="-3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same</a:t>
            </a:r>
            <a:r>
              <a:rPr sz="2000" spc="-3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operator</a:t>
            </a:r>
            <a:r>
              <a:rPr sz="2000" spc="-3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and</a:t>
            </a:r>
            <a:r>
              <a:rPr sz="2000" spc="-3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children</a:t>
            </a:r>
            <a:r>
              <a:rPr sz="2000" spc="-4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nodes</a:t>
            </a:r>
            <a:r>
              <a:rPr sz="2000" spc="-3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(order</a:t>
            </a:r>
            <a:r>
              <a:rPr sz="2000" spc="-3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matters)</a:t>
            </a:r>
            <a:r>
              <a:rPr sz="2000" spc="-3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with</a:t>
            </a:r>
            <a:r>
              <a:rPr sz="2000" spc="-35" dirty="0">
                <a:solidFill>
                  <a:sysClr val="windowText" lastClr="000000"/>
                </a:solidFill>
                <a:latin typeface="Palatino Linotype"/>
                <a:cs typeface="Palatino Linotype"/>
              </a:rPr>
              <a:t> </a:t>
            </a:r>
            <a:r>
              <a:rPr sz="2000" spc="-50" dirty="0">
                <a:solidFill>
                  <a:sysClr val="windowText" lastClr="000000"/>
                </a:solidFill>
                <a:latin typeface="Cambria Math"/>
                <a:cs typeface="Cambria Math"/>
              </a:rPr>
              <a:t>𝑀</a:t>
            </a:r>
            <a:endParaRPr sz="2000">
              <a:solidFill>
                <a:sysClr val="windowText" lastClr="000000"/>
              </a:solidFill>
              <a:latin typeface="Cambria Math"/>
              <a:cs typeface="Cambria Math"/>
            </a:endParaRPr>
          </a:p>
          <a:p>
            <a:pPr marL="242570" marR="306070" indent="-230504">
              <a:lnSpc>
                <a:spcPct val="121000"/>
              </a:lnSpc>
              <a:spcBef>
                <a:spcPts val="1775"/>
              </a:spcBef>
              <a:buFont typeface="Arial MT"/>
              <a:buChar char="•"/>
              <a:tabLst>
                <a:tab pos="242570" algn="l"/>
              </a:tabLst>
            </a:pPr>
            <a:r>
              <a:rPr sz="2000" dirty="0">
                <a:solidFill>
                  <a:sysClr val="windowText" lastClr="000000"/>
                </a:solidFill>
                <a:latin typeface="Palatino Linotype"/>
                <a:cs typeface="Palatino Linotype"/>
              </a:rPr>
              <a:t>If</a:t>
            </a:r>
            <a:r>
              <a:rPr sz="2000" spc="-2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such</a:t>
            </a:r>
            <a:r>
              <a:rPr sz="2000" spc="-2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a</a:t>
            </a:r>
            <a:r>
              <a:rPr sz="2000" spc="-2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node</a:t>
            </a:r>
            <a:r>
              <a:rPr sz="2000" spc="-20" dirty="0">
                <a:solidFill>
                  <a:sysClr val="windowText" lastClr="000000"/>
                </a:solidFill>
                <a:latin typeface="Palatino Linotype"/>
                <a:cs typeface="Palatino Linotype"/>
              </a:rPr>
              <a:t> </a:t>
            </a:r>
            <a:r>
              <a:rPr sz="2000" dirty="0">
                <a:solidFill>
                  <a:sysClr val="windowText" lastClr="000000"/>
                </a:solidFill>
                <a:latin typeface="Cambria Math"/>
                <a:cs typeface="Cambria Math"/>
              </a:rPr>
              <a:t>𝑁</a:t>
            </a:r>
            <a:r>
              <a:rPr sz="2000" spc="85" dirty="0">
                <a:solidFill>
                  <a:sysClr val="windowText" lastClr="000000"/>
                </a:solidFill>
                <a:latin typeface="Cambria Math"/>
                <a:cs typeface="Cambria Math"/>
              </a:rPr>
              <a:t> </a:t>
            </a:r>
            <a:r>
              <a:rPr sz="2000" dirty="0">
                <a:solidFill>
                  <a:sysClr val="windowText" lastClr="000000"/>
                </a:solidFill>
                <a:latin typeface="Palatino Linotype"/>
                <a:cs typeface="Palatino Linotype"/>
              </a:rPr>
              <a:t>exists,</a:t>
            </a:r>
            <a:r>
              <a:rPr sz="2000" spc="-2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we</a:t>
            </a:r>
            <a:r>
              <a:rPr sz="2000" spc="-2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do</a:t>
            </a:r>
            <a:r>
              <a:rPr sz="2000" spc="-2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not</a:t>
            </a:r>
            <a:r>
              <a:rPr sz="2000" spc="-2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create</a:t>
            </a:r>
            <a:r>
              <a:rPr sz="2000" spc="-2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the</a:t>
            </a:r>
            <a:r>
              <a:rPr sz="2000" spc="-2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node</a:t>
            </a:r>
            <a:r>
              <a:rPr sz="2000" spc="-20" dirty="0">
                <a:solidFill>
                  <a:sysClr val="windowText" lastClr="000000"/>
                </a:solidFill>
                <a:latin typeface="Palatino Linotype"/>
                <a:cs typeface="Palatino Linotype"/>
              </a:rPr>
              <a:t> </a:t>
            </a:r>
            <a:r>
              <a:rPr sz="2000" dirty="0">
                <a:solidFill>
                  <a:sysClr val="windowText" lastClr="000000"/>
                </a:solidFill>
                <a:latin typeface="Cambria Math"/>
                <a:cs typeface="Cambria Math"/>
              </a:rPr>
              <a:t>𝑀</a:t>
            </a:r>
            <a:r>
              <a:rPr sz="2000" spc="85" dirty="0">
                <a:solidFill>
                  <a:sysClr val="windowText" lastClr="000000"/>
                </a:solidFill>
                <a:latin typeface="Cambria Math"/>
                <a:cs typeface="Cambria Math"/>
              </a:rPr>
              <a:t> </a:t>
            </a:r>
            <a:r>
              <a:rPr sz="2000" dirty="0">
                <a:solidFill>
                  <a:sysClr val="windowText" lastClr="000000"/>
                </a:solidFill>
                <a:latin typeface="Palatino Linotype"/>
                <a:cs typeface="Palatino Linotype"/>
              </a:rPr>
              <a:t>but</a:t>
            </a:r>
            <a:r>
              <a:rPr sz="2000" spc="-25" dirty="0">
                <a:solidFill>
                  <a:sysClr val="windowText" lastClr="000000"/>
                </a:solidFill>
                <a:latin typeface="Palatino Linotype"/>
                <a:cs typeface="Palatino Linotype"/>
              </a:rPr>
              <a:t> </a:t>
            </a:r>
            <a:r>
              <a:rPr sz="2000" spc="-10" dirty="0">
                <a:solidFill>
                  <a:sysClr val="windowText" lastClr="000000"/>
                </a:solidFill>
                <a:latin typeface="Palatino Linotype"/>
                <a:cs typeface="Palatino Linotype"/>
              </a:rPr>
              <a:t>simply </a:t>
            </a:r>
            <a:r>
              <a:rPr sz="2000" dirty="0">
                <a:solidFill>
                  <a:srgbClr val="FF0000"/>
                </a:solidFill>
                <a:latin typeface="Palatino Linotype"/>
                <a:cs typeface="Palatino Linotype"/>
              </a:rPr>
              <a:t>use</a:t>
            </a:r>
            <a:r>
              <a:rPr sz="2000" spc="-25" dirty="0">
                <a:solidFill>
                  <a:srgbClr val="FF0000"/>
                </a:solidFill>
                <a:latin typeface="Palatino Linotype"/>
                <a:cs typeface="Palatino Linotype"/>
              </a:rPr>
              <a:t> </a:t>
            </a:r>
            <a:r>
              <a:rPr sz="2000" dirty="0">
                <a:solidFill>
                  <a:srgbClr val="FF0000"/>
                </a:solidFill>
                <a:latin typeface="Cambria Math"/>
                <a:cs typeface="Cambria Math"/>
              </a:rPr>
              <a:t>𝑁</a:t>
            </a:r>
            <a:r>
              <a:rPr sz="2000" spc="85" dirty="0">
                <a:solidFill>
                  <a:srgbClr val="FF0000"/>
                </a:solidFill>
                <a:latin typeface="Cambria Math"/>
                <a:cs typeface="Cambria Math"/>
              </a:rPr>
              <a:t> </a:t>
            </a:r>
            <a:r>
              <a:rPr sz="2000" dirty="0">
                <a:solidFill>
                  <a:srgbClr val="FF0000"/>
                </a:solidFill>
                <a:latin typeface="Palatino Linotype"/>
                <a:cs typeface="Palatino Linotype"/>
              </a:rPr>
              <a:t>to</a:t>
            </a:r>
            <a:r>
              <a:rPr sz="2000" spc="-25" dirty="0">
                <a:solidFill>
                  <a:srgbClr val="FF0000"/>
                </a:solidFill>
                <a:latin typeface="Palatino Linotype"/>
                <a:cs typeface="Palatino Linotype"/>
              </a:rPr>
              <a:t> </a:t>
            </a:r>
            <a:r>
              <a:rPr sz="2000" dirty="0">
                <a:solidFill>
                  <a:srgbClr val="FF0000"/>
                </a:solidFill>
                <a:latin typeface="Palatino Linotype"/>
                <a:cs typeface="Palatino Linotype"/>
              </a:rPr>
              <a:t>represent</a:t>
            </a:r>
            <a:r>
              <a:rPr sz="2000" spc="-25" dirty="0">
                <a:solidFill>
                  <a:srgbClr val="FF0000"/>
                </a:solidFill>
                <a:latin typeface="Palatino Linotype"/>
                <a:cs typeface="Palatino Linotype"/>
              </a:rPr>
              <a:t> </a:t>
            </a:r>
            <a:r>
              <a:rPr sz="2000" spc="-50" dirty="0">
                <a:solidFill>
                  <a:srgbClr val="FF0000"/>
                </a:solidFill>
                <a:latin typeface="Cambria Math"/>
                <a:cs typeface="Cambria Math"/>
              </a:rPr>
              <a:t>𝑀</a:t>
            </a:r>
            <a:endParaRPr sz="2000">
              <a:solidFill>
                <a:sysClr val="windowText" lastClr="000000"/>
              </a:solidFill>
              <a:latin typeface="Cambria Math"/>
              <a:cs typeface="Cambria Math"/>
            </a:endParaRPr>
          </a:p>
        </p:txBody>
      </p:sp>
      <p:pic>
        <p:nvPicPr>
          <p:cNvPr id="21" name="object 4">
            <a:extLst>
              <a:ext uri="{FF2B5EF4-FFF2-40B4-BE49-F238E27FC236}">
                <a16:creationId xmlns:a16="http://schemas.microsoft.com/office/drawing/2014/main" id="{F27AF7F6-73CA-E17A-8113-923DA3A183B9}"/>
              </a:ext>
            </a:extLst>
          </p:cNvPr>
          <p:cNvPicPr/>
          <p:nvPr/>
        </p:nvPicPr>
        <p:blipFill>
          <a:blip r:embed="rId3" cstate="print"/>
          <a:stretch>
            <a:fillRect/>
          </a:stretch>
        </p:blipFill>
        <p:spPr>
          <a:xfrm>
            <a:off x="2087879" y="3621023"/>
            <a:ext cx="838200" cy="1094232"/>
          </a:xfrm>
          <a:prstGeom prst="rect">
            <a:avLst/>
          </a:prstGeom>
        </p:spPr>
      </p:pic>
      <p:sp>
        <p:nvSpPr>
          <p:cNvPr id="22" name="object 5">
            <a:extLst>
              <a:ext uri="{FF2B5EF4-FFF2-40B4-BE49-F238E27FC236}">
                <a16:creationId xmlns:a16="http://schemas.microsoft.com/office/drawing/2014/main" id="{D127187B-FB34-22A0-A19D-31AC68438AB4}"/>
              </a:ext>
            </a:extLst>
          </p:cNvPr>
          <p:cNvSpPr/>
          <p:nvPr/>
        </p:nvSpPr>
        <p:spPr>
          <a:xfrm>
            <a:off x="5015344" y="4763055"/>
            <a:ext cx="260985" cy="260985"/>
          </a:xfrm>
          <a:custGeom>
            <a:avLst/>
            <a:gdLst/>
            <a:ahLst/>
            <a:cxnLst/>
            <a:rect l="l" t="t" r="r" b="b"/>
            <a:pathLst>
              <a:path w="260985" h="260985">
                <a:moveTo>
                  <a:pt x="0" y="130263"/>
                </a:moveTo>
                <a:lnTo>
                  <a:pt x="10236" y="79558"/>
                </a:lnTo>
                <a:lnTo>
                  <a:pt x="38153" y="38153"/>
                </a:lnTo>
                <a:lnTo>
                  <a:pt x="79558" y="10236"/>
                </a:lnTo>
                <a:lnTo>
                  <a:pt x="130263" y="0"/>
                </a:lnTo>
                <a:lnTo>
                  <a:pt x="180967" y="10236"/>
                </a:lnTo>
                <a:lnTo>
                  <a:pt x="222372" y="38153"/>
                </a:lnTo>
                <a:lnTo>
                  <a:pt x="250289" y="79558"/>
                </a:lnTo>
                <a:lnTo>
                  <a:pt x="260526" y="130263"/>
                </a:lnTo>
                <a:lnTo>
                  <a:pt x="250289" y="180967"/>
                </a:lnTo>
                <a:lnTo>
                  <a:pt x="222372" y="222372"/>
                </a:lnTo>
                <a:lnTo>
                  <a:pt x="180967" y="250289"/>
                </a:lnTo>
                <a:lnTo>
                  <a:pt x="130263" y="260526"/>
                </a:lnTo>
                <a:lnTo>
                  <a:pt x="79558" y="250289"/>
                </a:lnTo>
                <a:lnTo>
                  <a:pt x="38153" y="222372"/>
                </a:lnTo>
                <a:lnTo>
                  <a:pt x="10236" y="180967"/>
                </a:lnTo>
                <a:lnTo>
                  <a:pt x="0" y="130263"/>
                </a:lnTo>
                <a:close/>
              </a:path>
            </a:pathLst>
          </a:custGeom>
          <a:ln w="12700">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3" name="object 6">
            <a:extLst>
              <a:ext uri="{FF2B5EF4-FFF2-40B4-BE49-F238E27FC236}">
                <a16:creationId xmlns:a16="http://schemas.microsoft.com/office/drawing/2014/main" id="{2DD2A24F-D536-17A5-0AC0-764DE2F34E30}"/>
              </a:ext>
            </a:extLst>
          </p:cNvPr>
          <p:cNvSpPr txBox="1"/>
          <p:nvPr/>
        </p:nvSpPr>
        <p:spPr>
          <a:xfrm>
            <a:off x="4679205" y="5360923"/>
            <a:ext cx="297180" cy="299720"/>
          </a:xfrm>
          <a:prstGeom prst="rect">
            <a:avLst/>
          </a:prstGeom>
        </p:spPr>
        <p:txBody>
          <a:bodyPr vert="horz" wrap="square" lIns="0" tIns="12700" rIns="0" bIns="0" rtlCol="0">
            <a:spAutoFit/>
          </a:bodyPr>
          <a:lstStyle/>
          <a:p>
            <a:pPr marL="38100">
              <a:spcBef>
                <a:spcPts val="100"/>
              </a:spcBef>
            </a:pPr>
            <a:r>
              <a:rPr spc="-25" dirty="0">
                <a:solidFill>
                  <a:sysClr val="windowText" lastClr="000000"/>
                </a:solidFill>
                <a:latin typeface="Cambria Math"/>
                <a:cs typeface="Cambria Math"/>
              </a:rPr>
              <a:t>b</a:t>
            </a:r>
            <a:r>
              <a:rPr sz="1950" spc="-37" baseline="-14957" dirty="0">
                <a:solidFill>
                  <a:sysClr val="windowText" lastClr="000000"/>
                </a:solidFill>
                <a:latin typeface="Cambria Math"/>
                <a:cs typeface="Cambria Math"/>
              </a:rPr>
              <a:t>0</a:t>
            </a:r>
            <a:endParaRPr sz="1950" baseline="-14957">
              <a:solidFill>
                <a:sysClr val="windowText" lastClr="000000"/>
              </a:solidFill>
              <a:latin typeface="Cambria Math"/>
              <a:cs typeface="Cambria Math"/>
            </a:endParaRPr>
          </a:p>
        </p:txBody>
      </p:sp>
      <p:sp>
        <p:nvSpPr>
          <p:cNvPr id="24" name="object 7">
            <a:extLst>
              <a:ext uri="{FF2B5EF4-FFF2-40B4-BE49-F238E27FC236}">
                <a16:creationId xmlns:a16="http://schemas.microsoft.com/office/drawing/2014/main" id="{7CB1EDB9-D4B1-8E1E-755A-53FAC2140E1F}"/>
              </a:ext>
            </a:extLst>
          </p:cNvPr>
          <p:cNvSpPr txBox="1"/>
          <p:nvPr/>
        </p:nvSpPr>
        <p:spPr>
          <a:xfrm>
            <a:off x="5313448" y="5354828"/>
            <a:ext cx="944880" cy="299720"/>
          </a:xfrm>
          <a:prstGeom prst="rect">
            <a:avLst/>
          </a:prstGeom>
        </p:spPr>
        <p:txBody>
          <a:bodyPr vert="horz" wrap="square" lIns="0" tIns="12700" rIns="0" bIns="0" rtlCol="0">
            <a:spAutoFit/>
          </a:bodyPr>
          <a:lstStyle/>
          <a:p>
            <a:pPr marL="50800">
              <a:spcBef>
                <a:spcPts val="100"/>
              </a:spcBef>
              <a:tabLst>
                <a:tab pos="671195" algn="l"/>
              </a:tabLst>
            </a:pPr>
            <a:r>
              <a:rPr spc="-25" dirty="0">
                <a:solidFill>
                  <a:sysClr val="windowText" lastClr="000000"/>
                </a:solidFill>
                <a:latin typeface="Cambria Math"/>
                <a:cs typeface="Cambria Math"/>
              </a:rPr>
              <a:t>c</a:t>
            </a:r>
            <a:r>
              <a:rPr sz="1950" spc="-37" baseline="-17094" dirty="0">
                <a:solidFill>
                  <a:sysClr val="windowText" lastClr="000000"/>
                </a:solidFill>
                <a:latin typeface="Cambria Math"/>
                <a:cs typeface="Cambria Math"/>
              </a:rPr>
              <a:t>0</a:t>
            </a:r>
            <a:r>
              <a:rPr sz="1950" baseline="-17094" dirty="0">
                <a:solidFill>
                  <a:sysClr val="windowText" lastClr="000000"/>
                </a:solidFill>
                <a:latin typeface="Cambria Math"/>
                <a:cs typeface="Cambria Math"/>
              </a:rPr>
              <a:t>	</a:t>
            </a:r>
            <a:r>
              <a:rPr spc="-25" dirty="0">
                <a:solidFill>
                  <a:sysClr val="windowText" lastClr="000000"/>
                </a:solidFill>
                <a:latin typeface="Cambria Math"/>
                <a:cs typeface="Cambria Math"/>
              </a:rPr>
              <a:t>d</a:t>
            </a:r>
            <a:r>
              <a:rPr sz="1950" spc="-37" baseline="-17094" dirty="0">
                <a:solidFill>
                  <a:sysClr val="windowText" lastClr="000000"/>
                </a:solidFill>
                <a:latin typeface="Cambria Math"/>
                <a:cs typeface="Cambria Math"/>
              </a:rPr>
              <a:t>0</a:t>
            </a:r>
            <a:endParaRPr sz="1950" baseline="-17094">
              <a:solidFill>
                <a:sysClr val="windowText" lastClr="000000"/>
              </a:solidFill>
              <a:latin typeface="Cambria Math"/>
              <a:cs typeface="Cambria Math"/>
            </a:endParaRPr>
          </a:p>
        </p:txBody>
      </p:sp>
      <p:grpSp>
        <p:nvGrpSpPr>
          <p:cNvPr id="25" name="object 8">
            <a:extLst>
              <a:ext uri="{FF2B5EF4-FFF2-40B4-BE49-F238E27FC236}">
                <a16:creationId xmlns:a16="http://schemas.microsoft.com/office/drawing/2014/main" id="{CD7EF549-C4BF-A860-42AD-7FC19F9B4F31}"/>
              </a:ext>
            </a:extLst>
          </p:cNvPr>
          <p:cNvGrpSpPr/>
          <p:nvPr/>
        </p:nvGrpSpPr>
        <p:grpSpPr>
          <a:xfrm>
            <a:off x="4827405" y="4043150"/>
            <a:ext cx="1281430" cy="1349375"/>
            <a:chOff x="4827405" y="4043150"/>
            <a:chExt cx="1281430" cy="1349375"/>
          </a:xfrm>
        </p:grpSpPr>
        <p:sp>
          <p:nvSpPr>
            <p:cNvPr id="26" name="object 9">
              <a:extLst>
                <a:ext uri="{FF2B5EF4-FFF2-40B4-BE49-F238E27FC236}">
                  <a16:creationId xmlns:a16="http://schemas.microsoft.com/office/drawing/2014/main" id="{76FB942D-C1CB-4224-0A42-BABF20F70299}"/>
                </a:ext>
              </a:extLst>
            </p:cNvPr>
            <p:cNvSpPr/>
            <p:nvPr/>
          </p:nvSpPr>
          <p:spPr>
            <a:xfrm>
              <a:off x="4833755" y="4985428"/>
              <a:ext cx="220345" cy="400685"/>
            </a:xfrm>
            <a:custGeom>
              <a:avLst/>
              <a:gdLst/>
              <a:ahLst/>
              <a:cxnLst/>
              <a:rect l="l" t="t" r="r" b="b"/>
              <a:pathLst>
                <a:path w="220345" h="400685">
                  <a:moveTo>
                    <a:pt x="219742" y="0"/>
                  </a:moveTo>
                  <a:lnTo>
                    <a:pt x="0" y="400185"/>
                  </a:lnTo>
                </a:path>
              </a:pathLst>
            </a:custGeom>
            <a:ln w="12700">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7" name="object 10">
              <a:extLst>
                <a:ext uri="{FF2B5EF4-FFF2-40B4-BE49-F238E27FC236}">
                  <a16:creationId xmlns:a16="http://schemas.microsoft.com/office/drawing/2014/main" id="{9716FD18-63E6-F016-643A-35D99C0DEFF4}"/>
                </a:ext>
              </a:extLst>
            </p:cNvPr>
            <p:cNvSpPr/>
            <p:nvPr/>
          </p:nvSpPr>
          <p:spPr>
            <a:xfrm>
              <a:off x="5237717" y="4985428"/>
              <a:ext cx="230504" cy="396240"/>
            </a:xfrm>
            <a:custGeom>
              <a:avLst/>
              <a:gdLst/>
              <a:ahLst/>
              <a:cxnLst/>
              <a:rect l="l" t="t" r="r" b="b"/>
              <a:pathLst>
                <a:path w="230504" h="396239">
                  <a:moveTo>
                    <a:pt x="0" y="0"/>
                  </a:moveTo>
                  <a:lnTo>
                    <a:pt x="230157" y="395642"/>
                  </a:lnTo>
                </a:path>
              </a:pathLst>
            </a:custGeom>
            <a:ln w="12700">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8" name="object 11">
              <a:extLst>
                <a:ext uri="{FF2B5EF4-FFF2-40B4-BE49-F238E27FC236}">
                  <a16:creationId xmlns:a16="http://schemas.microsoft.com/office/drawing/2014/main" id="{CD131822-28FD-422A-3281-06D8AD1863F3}"/>
                </a:ext>
              </a:extLst>
            </p:cNvPr>
            <p:cNvSpPr/>
            <p:nvPr/>
          </p:nvSpPr>
          <p:spPr>
            <a:xfrm>
              <a:off x="5704087" y="4049500"/>
              <a:ext cx="260985" cy="260985"/>
            </a:xfrm>
            <a:custGeom>
              <a:avLst/>
              <a:gdLst/>
              <a:ahLst/>
              <a:cxnLst/>
              <a:rect l="l" t="t" r="r" b="b"/>
              <a:pathLst>
                <a:path w="260985" h="260985">
                  <a:moveTo>
                    <a:pt x="0" y="130263"/>
                  </a:moveTo>
                  <a:lnTo>
                    <a:pt x="10236" y="79558"/>
                  </a:lnTo>
                  <a:lnTo>
                    <a:pt x="38153" y="38153"/>
                  </a:lnTo>
                  <a:lnTo>
                    <a:pt x="79558" y="10236"/>
                  </a:lnTo>
                  <a:lnTo>
                    <a:pt x="130263" y="0"/>
                  </a:lnTo>
                  <a:lnTo>
                    <a:pt x="180967" y="10236"/>
                  </a:lnTo>
                  <a:lnTo>
                    <a:pt x="222372" y="38153"/>
                  </a:lnTo>
                  <a:lnTo>
                    <a:pt x="250289" y="79558"/>
                  </a:lnTo>
                  <a:lnTo>
                    <a:pt x="260526" y="130263"/>
                  </a:lnTo>
                  <a:lnTo>
                    <a:pt x="250289" y="180967"/>
                  </a:lnTo>
                  <a:lnTo>
                    <a:pt x="222372" y="222372"/>
                  </a:lnTo>
                  <a:lnTo>
                    <a:pt x="180967" y="250289"/>
                  </a:lnTo>
                  <a:lnTo>
                    <a:pt x="130263" y="260526"/>
                  </a:lnTo>
                  <a:lnTo>
                    <a:pt x="79558" y="250289"/>
                  </a:lnTo>
                  <a:lnTo>
                    <a:pt x="38153" y="222372"/>
                  </a:lnTo>
                  <a:lnTo>
                    <a:pt x="10236" y="180967"/>
                  </a:lnTo>
                  <a:lnTo>
                    <a:pt x="0" y="130263"/>
                  </a:lnTo>
                  <a:close/>
                </a:path>
              </a:pathLst>
            </a:custGeom>
            <a:ln w="12700">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9" name="object 12">
              <a:extLst>
                <a:ext uri="{FF2B5EF4-FFF2-40B4-BE49-F238E27FC236}">
                  <a16:creationId xmlns:a16="http://schemas.microsoft.com/office/drawing/2014/main" id="{EF4C332F-764B-AA96-FA27-F8472F9A92B8}"/>
                </a:ext>
              </a:extLst>
            </p:cNvPr>
            <p:cNvSpPr/>
            <p:nvPr/>
          </p:nvSpPr>
          <p:spPr>
            <a:xfrm>
              <a:off x="5926460" y="4271873"/>
              <a:ext cx="175895" cy="1109345"/>
            </a:xfrm>
            <a:custGeom>
              <a:avLst/>
              <a:gdLst/>
              <a:ahLst/>
              <a:cxnLst/>
              <a:rect l="l" t="t" r="r" b="b"/>
              <a:pathLst>
                <a:path w="175895" h="1109345">
                  <a:moveTo>
                    <a:pt x="0" y="0"/>
                  </a:moveTo>
                  <a:lnTo>
                    <a:pt x="175534" y="1109195"/>
                  </a:lnTo>
                </a:path>
              </a:pathLst>
            </a:custGeom>
            <a:ln w="12700">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30" name="object 13">
              <a:extLst>
                <a:ext uri="{FF2B5EF4-FFF2-40B4-BE49-F238E27FC236}">
                  <a16:creationId xmlns:a16="http://schemas.microsoft.com/office/drawing/2014/main" id="{BE1B633E-6E08-5C97-0C05-D58D69FF51ED}"/>
                </a:ext>
              </a:extLst>
            </p:cNvPr>
            <p:cNvSpPr/>
            <p:nvPr/>
          </p:nvSpPr>
          <p:spPr>
            <a:xfrm>
              <a:off x="5145608" y="4271874"/>
              <a:ext cx="596900" cy="491490"/>
            </a:xfrm>
            <a:custGeom>
              <a:avLst/>
              <a:gdLst/>
              <a:ahLst/>
              <a:cxnLst/>
              <a:rect l="l" t="t" r="r" b="b"/>
              <a:pathLst>
                <a:path w="596900" h="491489">
                  <a:moveTo>
                    <a:pt x="0" y="491181"/>
                  </a:moveTo>
                  <a:lnTo>
                    <a:pt x="596632" y="0"/>
                  </a:lnTo>
                </a:path>
              </a:pathLst>
            </a:custGeom>
            <a:ln w="12700">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31" name="object 14">
            <a:extLst>
              <a:ext uri="{FF2B5EF4-FFF2-40B4-BE49-F238E27FC236}">
                <a16:creationId xmlns:a16="http://schemas.microsoft.com/office/drawing/2014/main" id="{A072BF6A-C10F-0A27-CC79-9619D9D5D5FF}"/>
              </a:ext>
            </a:extLst>
          </p:cNvPr>
          <p:cNvSpPr txBox="1"/>
          <p:nvPr/>
        </p:nvSpPr>
        <p:spPr>
          <a:xfrm>
            <a:off x="5075758" y="4016755"/>
            <a:ext cx="1223010" cy="1013460"/>
          </a:xfrm>
          <a:prstGeom prst="rect">
            <a:avLst/>
          </a:prstGeom>
        </p:spPr>
        <p:txBody>
          <a:bodyPr vert="horz" wrap="square" lIns="0" tIns="12700" rIns="0" bIns="0" rtlCol="0">
            <a:spAutoFit/>
          </a:bodyPr>
          <a:lstStyle/>
          <a:p>
            <a:pPr marL="701040">
              <a:spcBef>
                <a:spcPts val="100"/>
              </a:spcBef>
              <a:tabLst>
                <a:tab pos="1084580" algn="l"/>
              </a:tabLst>
            </a:pPr>
            <a:r>
              <a:rPr spc="-50" dirty="0">
                <a:solidFill>
                  <a:sysClr val="windowText" lastClr="000000"/>
                </a:solidFill>
                <a:cs typeface="Calibri"/>
              </a:rPr>
              <a:t>−</a:t>
            </a:r>
            <a:r>
              <a:rPr dirty="0">
                <a:solidFill>
                  <a:sysClr val="windowText" lastClr="000000"/>
                </a:solidFill>
                <a:cs typeface="Calibri"/>
              </a:rPr>
              <a:t>	</a:t>
            </a:r>
            <a:r>
              <a:rPr spc="-50" dirty="0">
                <a:solidFill>
                  <a:sysClr val="windowText" lastClr="000000"/>
                </a:solidFill>
                <a:latin typeface="Cambria Math"/>
                <a:cs typeface="Cambria Math"/>
              </a:rPr>
              <a:t>b</a:t>
            </a:r>
            <a:endParaRPr>
              <a:solidFill>
                <a:sysClr val="windowText" lastClr="000000"/>
              </a:solidFill>
              <a:latin typeface="Cambria Math"/>
              <a:cs typeface="Cambria Math"/>
            </a:endParaRPr>
          </a:p>
          <a:p>
            <a:pPr>
              <a:spcBef>
                <a:spcPts val="1345"/>
              </a:spcBef>
            </a:pPr>
            <a:endParaRPr>
              <a:solidFill>
                <a:sysClr val="windowText" lastClr="000000"/>
              </a:solidFill>
              <a:latin typeface="Cambria Math"/>
              <a:cs typeface="Cambria Math"/>
            </a:endParaRPr>
          </a:p>
          <a:p>
            <a:pPr marL="12700">
              <a:tabLst>
                <a:tab pos="314960" algn="l"/>
              </a:tabLst>
            </a:pPr>
            <a:r>
              <a:rPr spc="-50" dirty="0">
                <a:solidFill>
                  <a:sysClr val="windowText" lastClr="000000"/>
                </a:solidFill>
                <a:cs typeface="Calibri"/>
              </a:rPr>
              <a:t>+</a:t>
            </a:r>
            <a:r>
              <a:rPr dirty="0">
                <a:solidFill>
                  <a:sysClr val="windowText" lastClr="000000"/>
                </a:solidFill>
                <a:cs typeface="Calibri"/>
              </a:rPr>
              <a:t>	</a:t>
            </a:r>
            <a:r>
              <a:rPr spc="-50" dirty="0">
                <a:solidFill>
                  <a:sysClr val="windowText" lastClr="000000"/>
                </a:solidFill>
                <a:latin typeface="Cambria Math"/>
                <a:cs typeface="Cambria Math"/>
              </a:rPr>
              <a:t>a</a:t>
            </a:r>
            <a:endParaRPr>
              <a:solidFill>
                <a:sysClr val="windowText" lastClr="000000"/>
              </a:solidFill>
              <a:latin typeface="Cambria Math"/>
              <a:cs typeface="Cambria Math"/>
            </a:endParaRPr>
          </a:p>
        </p:txBody>
      </p:sp>
      <p:sp>
        <p:nvSpPr>
          <p:cNvPr id="32" name="object 15">
            <a:extLst>
              <a:ext uri="{FF2B5EF4-FFF2-40B4-BE49-F238E27FC236}">
                <a16:creationId xmlns:a16="http://schemas.microsoft.com/office/drawing/2014/main" id="{B1A723AE-4B54-5457-DB0F-66A94F90709B}"/>
              </a:ext>
            </a:extLst>
          </p:cNvPr>
          <p:cNvSpPr/>
          <p:nvPr/>
        </p:nvSpPr>
        <p:spPr>
          <a:xfrm>
            <a:off x="1504950" y="3975100"/>
            <a:ext cx="457200" cy="76200"/>
          </a:xfrm>
          <a:custGeom>
            <a:avLst/>
            <a:gdLst/>
            <a:ahLst/>
            <a:cxnLst/>
            <a:rect l="l" t="t" r="r" b="b"/>
            <a:pathLst>
              <a:path w="457200" h="76200">
                <a:moveTo>
                  <a:pt x="381000" y="44451"/>
                </a:moveTo>
                <a:lnTo>
                  <a:pt x="381000" y="76200"/>
                </a:lnTo>
                <a:lnTo>
                  <a:pt x="444499" y="44451"/>
                </a:lnTo>
                <a:lnTo>
                  <a:pt x="381000" y="44451"/>
                </a:lnTo>
                <a:close/>
              </a:path>
              <a:path w="457200" h="76200">
                <a:moveTo>
                  <a:pt x="381000" y="31751"/>
                </a:moveTo>
                <a:lnTo>
                  <a:pt x="381000" y="44451"/>
                </a:lnTo>
                <a:lnTo>
                  <a:pt x="393700" y="44451"/>
                </a:lnTo>
                <a:lnTo>
                  <a:pt x="393700" y="31751"/>
                </a:lnTo>
                <a:lnTo>
                  <a:pt x="381000" y="31751"/>
                </a:lnTo>
                <a:close/>
              </a:path>
              <a:path w="457200" h="76200">
                <a:moveTo>
                  <a:pt x="381000" y="0"/>
                </a:moveTo>
                <a:lnTo>
                  <a:pt x="381000" y="31751"/>
                </a:lnTo>
                <a:lnTo>
                  <a:pt x="393700" y="31751"/>
                </a:lnTo>
                <a:lnTo>
                  <a:pt x="393700" y="44451"/>
                </a:lnTo>
                <a:lnTo>
                  <a:pt x="444502" y="44450"/>
                </a:lnTo>
                <a:lnTo>
                  <a:pt x="457200" y="38101"/>
                </a:lnTo>
                <a:lnTo>
                  <a:pt x="381000" y="0"/>
                </a:lnTo>
                <a:close/>
              </a:path>
              <a:path w="457200" h="76200">
                <a:moveTo>
                  <a:pt x="0" y="31750"/>
                </a:moveTo>
                <a:lnTo>
                  <a:pt x="0" y="44450"/>
                </a:lnTo>
                <a:lnTo>
                  <a:pt x="381000" y="44451"/>
                </a:lnTo>
                <a:lnTo>
                  <a:pt x="381000" y="31751"/>
                </a:lnTo>
                <a:lnTo>
                  <a:pt x="0" y="31750"/>
                </a:lnTo>
                <a:close/>
              </a:path>
            </a:pathLst>
          </a:custGeom>
          <a:solidFill>
            <a:srgbClr val="FF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Tree>
    <p:extLst>
      <p:ext uri="{BB962C8B-B14F-4D97-AF65-F5344CB8AC3E}">
        <p14:creationId xmlns:p14="http://schemas.microsoft.com/office/powerpoint/2010/main" val="13963006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54</a:t>
            </a:fld>
            <a:endParaRPr lang="en-US"/>
          </a:p>
        </p:txBody>
      </p:sp>
      <p:pic>
        <p:nvPicPr>
          <p:cNvPr id="32" name="object 2">
            <a:extLst>
              <a:ext uri="{FF2B5EF4-FFF2-40B4-BE49-F238E27FC236}">
                <a16:creationId xmlns:a16="http://schemas.microsoft.com/office/drawing/2014/main" id="{C78E69B2-54D1-089D-F046-95AC38937EAC}"/>
              </a:ext>
            </a:extLst>
          </p:cNvPr>
          <p:cNvPicPr/>
          <p:nvPr/>
        </p:nvPicPr>
        <p:blipFill>
          <a:blip r:embed="rId3" cstate="print"/>
          <a:stretch>
            <a:fillRect/>
          </a:stretch>
        </p:blipFill>
        <p:spPr>
          <a:xfrm>
            <a:off x="2087879" y="3621023"/>
            <a:ext cx="838200" cy="1094232"/>
          </a:xfrm>
          <a:prstGeom prst="rect">
            <a:avLst/>
          </a:prstGeom>
        </p:spPr>
      </p:pic>
      <p:sp>
        <p:nvSpPr>
          <p:cNvPr id="33" name="object 3">
            <a:extLst>
              <a:ext uri="{FF2B5EF4-FFF2-40B4-BE49-F238E27FC236}">
                <a16:creationId xmlns:a16="http://schemas.microsoft.com/office/drawing/2014/main" id="{B2270F43-1425-6B29-0BCC-A6F69DCC20E9}"/>
              </a:ext>
            </a:extLst>
          </p:cNvPr>
          <p:cNvSpPr txBox="1">
            <a:spLocks/>
          </p:cNvSpPr>
          <p:nvPr/>
        </p:nvSpPr>
        <p:spPr>
          <a:xfrm>
            <a:off x="615950" y="560832"/>
            <a:ext cx="7912734" cy="55880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3500" b="1" i="0" u="none" strike="noStrike" kern="0" cap="none" spc="0" normalizeH="0" baseline="0" noProof="0">
                <a:ln>
                  <a:noFill/>
                </a:ln>
                <a:solidFill>
                  <a:sysClr val="windowText" lastClr="000000"/>
                </a:solidFill>
                <a:effectLst/>
                <a:uLnTx/>
                <a:uFillTx/>
                <a:latin typeface="Palatino Linotype"/>
                <a:ea typeface="+mj-ea"/>
              </a:rPr>
              <a:t>Finding</a:t>
            </a:r>
            <a:r>
              <a:rPr kumimoji="0" lang="en-US" sz="3500" b="1" i="0" u="none" strike="noStrike" kern="0" cap="none" spc="-65" normalizeH="0" baseline="0" noProof="0">
                <a:ln>
                  <a:noFill/>
                </a:ln>
                <a:solidFill>
                  <a:sysClr val="windowText" lastClr="000000"/>
                </a:solidFill>
                <a:effectLst/>
                <a:uLnTx/>
                <a:uFillTx/>
                <a:latin typeface="Palatino Linotype"/>
                <a:ea typeface="+mj-ea"/>
              </a:rPr>
              <a:t> </a:t>
            </a:r>
            <a:r>
              <a:rPr kumimoji="0" lang="en-US" sz="3500" b="1" i="0" u="none" strike="noStrike" kern="0" cap="none" spc="0" normalizeH="0" baseline="0" noProof="0">
                <a:ln>
                  <a:noFill/>
                </a:ln>
                <a:solidFill>
                  <a:sysClr val="windowText" lastClr="000000"/>
                </a:solidFill>
                <a:effectLst/>
                <a:uLnTx/>
                <a:uFillTx/>
                <a:latin typeface="Palatino Linotype"/>
                <a:ea typeface="+mj-ea"/>
              </a:rPr>
              <a:t>Local</a:t>
            </a:r>
            <a:r>
              <a:rPr kumimoji="0" lang="en-US" sz="3500" b="1" i="0" u="none" strike="noStrike" kern="0" cap="none" spc="-70" normalizeH="0" baseline="0" noProof="0">
                <a:ln>
                  <a:noFill/>
                </a:ln>
                <a:solidFill>
                  <a:sysClr val="windowText" lastClr="000000"/>
                </a:solidFill>
                <a:effectLst/>
                <a:uLnTx/>
                <a:uFillTx/>
                <a:latin typeface="Palatino Linotype"/>
                <a:ea typeface="+mj-ea"/>
              </a:rPr>
              <a:t> </a:t>
            </a:r>
            <a:r>
              <a:rPr kumimoji="0" lang="en-US" sz="3500" b="1" i="0" u="none" strike="noStrike" kern="0" cap="none" spc="0" normalizeH="0" baseline="0" noProof="0">
                <a:ln>
                  <a:noFill/>
                </a:ln>
                <a:solidFill>
                  <a:sysClr val="windowText" lastClr="000000"/>
                </a:solidFill>
                <a:effectLst/>
                <a:uLnTx/>
                <a:uFillTx/>
                <a:latin typeface="Palatino Linotype"/>
                <a:ea typeface="+mj-ea"/>
              </a:rPr>
              <a:t>Common</a:t>
            </a:r>
            <a:r>
              <a:rPr kumimoji="0" lang="en-US" sz="3500" b="1" i="0" u="none" strike="noStrike" kern="0" cap="none" spc="-75" normalizeH="0" baseline="0" noProof="0">
                <a:ln>
                  <a:noFill/>
                </a:ln>
                <a:solidFill>
                  <a:sysClr val="windowText" lastClr="000000"/>
                </a:solidFill>
                <a:effectLst/>
                <a:uLnTx/>
                <a:uFillTx/>
                <a:latin typeface="Palatino Linotype"/>
                <a:ea typeface="+mj-ea"/>
              </a:rPr>
              <a:t> </a:t>
            </a:r>
            <a:r>
              <a:rPr kumimoji="0" lang="en-US" sz="3500" b="1" i="0" u="none" strike="noStrike" kern="0" cap="none" spc="-10" normalizeH="0" baseline="0" noProof="0">
                <a:ln>
                  <a:noFill/>
                </a:ln>
                <a:solidFill>
                  <a:sysClr val="windowText" lastClr="000000"/>
                </a:solidFill>
                <a:effectLst/>
                <a:uLnTx/>
                <a:uFillTx/>
                <a:latin typeface="Palatino Linotype"/>
                <a:ea typeface="+mj-ea"/>
              </a:rPr>
              <a:t>Subexpression</a:t>
            </a:r>
            <a:endParaRPr kumimoji="0" lang="en-US" sz="3500" b="1" i="0" u="none" strike="noStrike" kern="0" cap="none" spc="0" normalizeH="0" baseline="0" noProof="0">
              <a:ln>
                <a:noFill/>
              </a:ln>
              <a:solidFill>
                <a:sysClr val="windowText" lastClr="000000"/>
              </a:solidFill>
              <a:effectLst/>
              <a:uLnTx/>
              <a:uFillTx/>
              <a:latin typeface="Palatino Linotype"/>
              <a:ea typeface="+mj-ea"/>
            </a:endParaRPr>
          </a:p>
        </p:txBody>
      </p:sp>
      <p:sp>
        <p:nvSpPr>
          <p:cNvPr id="34" name="object 4">
            <a:extLst>
              <a:ext uri="{FF2B5EF4-FFF2-40B4-BE49-F238E27FC236}">
                <a16:creationId xmlns:a16="http://schemas.microsoft.com/office/drawing/2014/main" id="{3BDDF375-957A-FD04-497C-D0892B644195}"/>
              </a:ext>
            </a:extLst>
          </p:cNvPr>
          <p:cNvSpPr/>
          <p:nvPr/>
        </p:nvSpPr>
        <p:spPr>
          <a:xfrm>
            <a:off x="5015344" y="4763055"/>
            <a:ext cx="260985" cy="260985"/>
          </a:xfrm>
          <a:custGeom>
            <a:avLst/>
            <a:gdLst/>
            <a:ahLst/>
            <a:cxnLst/>
            <a:rect l="l" t="t" r="r" b="b"/>
            <a:pathLst>
              <a:path w="260985" h="260985">
                <a:moveTo>
                  <a:pt x="0" y="130263"/>
                </a:moveTo>
                <a:lnTo>
                  <a:pt x="10236" y="79558"/>
                </a:lnTo>
                <a:lnTo>
                  <a:pt x="38153" y="38153"/>
                </a:lnTo>
                <a:lnTo>
                  <a:pt x="79558" y="10236"/>
                </a:lnTo>
                <a:lnTo>
                  <a:pt x="130263" y="0"/>
                </a:lnTo>
                <a:lnTo>
                  <a:pt x="180967" y="10236"/>
                </a:lnTo>
                <a:lnTo>
                  <a:pt x="222372" y="38153"/>
                </a:lnTo>
                <a:lnTo>
                  <a:pt x="250289" y="79558"/>
                </a:lnTo>
                <a:lnTo>
                  <a:pt x="260526" y="130263"/>
                </a:lnTo>
                <a:lnTo>
                  <a:pt x="250289" y="180967"/>
                </a:lnTo>
                <a:lnTo>
                  <a:pt x="222372" y="222372"/>
                </a:lnTo>
                <a:lnTo>
                  <a:pt x="180967" y="250289"/>
                </a:lnTo>
                <a:lnTo>
                  <a:pt x="130263" y="260526"/>
                </a:lnTo>
                <a:lnTo>
                  <a:pt x="79558" y="250289"/>
                </a:lnTo>
                <a:lnTo>
                  <a:pt x="38153" y="222372"/>
                </a:lnTo>
                <a:lnTo>
                  <a:pt x="10236" y="180967"/>
                </a:lnTo>
                <a:lnTo>
                  <a:pt x="0" y="130263"/>
                </a:lnTo>
                <a:close/>
              </a:path>
            </a:pathLst>
          </a:custGeom>
          <a:ln w="12700">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35" name="object 5">
            <a:extLst>
              <a:ext uri="{FF2B5EF4-FFF2-40B4-BE49-F238E27FC236}">
                <a16:creationId xmlns:a16="http://schemas.microsoft.com/office/drawing/2014/main" id="{6BC45885-4CE2-CED7-E95E-66723F9D0ECB}"/>
              </a:ext>
            </a:extLst>
          </p:cNvPr>
          <p:cNvSpPr txBox="1"/>
          <p:nvPr/>
        </p:nvSpPr>
        <p:spPr>
          <a:xfrm>
            <a:off x="4679205" y="5360923"/>
            <a:ext cx="297180" cy="299720"/>
          </a:xfrm>
          <a:prstGeom prst="rect">
            <a:avLst/>
          </a:prstGeom>
        </p:spPr>
        <p:txBody>
          <a:bodyPr vert="horz" wrap="square" lIns="0" tIns="12700" rIns="0" bIns="0" rtlCol="0">
            <a:spAutoFit/>
          </a:bodyPr>
          <a:lstStyle/>
          <a:p>
            <a:pPr marL="38100">
              <a:spcBef>
                <a:spcPts val="100"/>
              </a:spcBef>
            </a:pPr>
            <a:r>
              <a:rPr spc="-25" dirty="0">
                <a:solidFill>
                  <a:sysClr val="windowText" lastClr="000000"/>
                </a:solidFill>
                <a:latin typeface="Cambria Math"/>
                <a:cs typeface="Cambria Math"/>
              </a:rPr>
              <a:t>b</a:t>
            </a:r>
            <a:r>
              <a:rPr sz="1950" spc="-37" baseline="-14957" dirty="0">
                <a:solidFill>
                  <a:sysClr val="windowText" lastClr="000000"/>
                </a:solidFill>
                <a:latin typeface="Cambria Math"/>
                <a:cs typeface="Cambria Math"/>
              </a:rPr>
              <a:t>0</a:t>
            </a:r>
            <a:endParaRPr sz="1950" baseline="-14957">
              <a:solidFill>
                <a:sysClr val="windowText" lastClr="000000"/>
              </a:solidFill>
              <a:latin typeface="Cambria Math"/>
              <a:cs typeface="Cambria Math"/>
            </a:endParaRPr>
          </a:p>
        </p:txBody>
      </p:sp>
      <p:sp>
        <p:nvSpPr>
          <p:cNvPr id="36" name="object 6">
            <a:extLst>
              <a:ext uri="{FF2B5EF4-FFF2-40B4-BE49-F238E27FC236}">
                <a16:creationId xmlns:a16="http://schemas.microsoft.com/office/drawing/2014/main" id="{88539CCB-76F4-6248-8AB8-DA097A67E9FA}"/>
              </a:ext>
            </a:extLst>
          </p:cNvPr>
          <p:cNvSpPr txBox="1"/>
          <p:nvPr/>
        </p:nvSpPr>
        <p:spPr>
          <a:xfrm>
            <a:off x="5313448" y="5354828"/>
            <a:ext cx="944880" cy="299720"/>
          </a:xfrm>
          <a:prstGeom prst="rect">
            <a:avLst/>
          </a:prstGeom>
        </p:spPr>
        <p:txBody>
          <a:bodyPr vert="horz" wrap="square" lIns="0" tIns="12700" rIns="0" bIns="0" rtlCol="0">
            <a:spAutoFit/>
          </a:bodyPr>
          <a:lstStyle/>
          <a:p>
            <a:pPr marL="50800">
              <a:spcBef>
                <a:spcPts val="100"/>
              </a:spcBef>
              <a:tabLst>
                <a:tab pos="671195" algn="l"/>
              </a:tabLst>
            </a:pPr>
            <a:r>
              <a:rPr spc="-25" dirty="0">
                <a:solidFill>
                  <a:sysClr val="windowText" lastClr="000000"/>
                </a:solidFill>
                <a:latin typeface="Cambria Math"/>
                <a:cs typeface="Cambria Math"/>
              </a:rPr>
              <a:t>c</a:t>
            </a:r>
            <a:r>
              <a:rPr sz="1950" spc="-37" baseline="-17094" dirty="0">
                <a:solidFill>
                  <a:sysClr val="windowText" lastClr="000000"/>
                </a:solidFill>
                <a:latin typeface="Cambria Math"/>
                <a:cs typeface="Cambria Math"/>
              </a:rPr>
              <a:t>0</a:t>
            </a:r>
            <a:r>
              <a:rPr sz="1950" baseline="-17094" dirty="0">
                <a:solidFill>
                  <a:sysClr val="windowText" lastClr="000000"/>
                </a:solidFill>
                <a:latin typeface="Cambria Math"/>
                <a:cs typeface="Cambria Math"/>
              </a:rPr>
              <a:t>	</a:t>
            </a:r>
            <a:r>
              <a:rPr spc="-25" dirty="0">
                <a:solidFill>
                  <a:sysClr val="windowText" lastClr="000000"/>
                </a:solidFill>
                <a:latin typeface="Cambria Math"/>
                <a:cs typeface="Cambria Math"/>
              </a:rPr>
              <a:t>d</a:t>
            </a:r>
            <a:r>
              <a:rPr sz="1950" spc="-37" baseline="-17094" dirty="0">
                <a:solidFill>
                  <a:sysClr val="windowText" lastClr="000000"/>
                </a:solidFill>
                <a:latin typeface="Cambria Math"/>
                <a:cs typeface="Cambria Math"/>
              </a:rPr>
              <a:t>0</a:t>
            </a:r>
            <a:endParaRPr sz="1950" baseline="-17094">
              <a:solidFill>
                <a:sysClr val="windowText" lastClr="000000"/>
              </a:solidFill>
              <a:latin typeface="Cambria Math"/>
              <a:cs typeface="Cambria Math"/>
            </a:endParaRPr>
          </a:p>
        </p:txBody>
      </p:sp>
      <p:grpSp>
        <p:nvGrpSpPr>
          <p:cNvPr id="37" name="object 7">
            <a:extLst>
              <a:ext uri="{FF2B5EF4-FFF2-40B4-BE49-F238E27FC236}">
                <a16:creationId xmlns:a16="http://schemas.microsoft.com/office/drawing/2014/main" id="{5C776425-B118-6883-9C27-46A682FC627B}"/>
              </a:ext>
            </a:extLst>
          </p:cNvPr>
          <p:cNvGrpSpPr/>
          <p:nvPr/>
        </p:nvGrpSpPr>
        <p:grpSpPr>
          <a:xfrm>
            <a:off x="4827405" y="3235213"/>
            <a:ext cx="1565910" cy="2157095"/>
            <a:chOff x="4827405" y="3235213"/>
            <a:chExt cx="1565910" cy="2157095"/>
          </a:xfrm>
        </p:grpSpPr>
        <p:sp>
          <p:nvSpPr>
            <p:cNvPr id="38" name="object 8">
              <a:extLst>
                <a:ext uri="{FF2B5EF4-FFF2-40B4-BE49-F238E27FC236}">
                  <a16:creationId xmlns:a16="http://schemas.microsoft.com/office/drawing/2014/main" id="{4DDE6FF3-868D-72C5-FBB6-FC56521C54F7}"/>
                </a:ext>
              </a:extLst>
            </p:cNvPr>
            <p:cNvSpPr/>
            <p:nvPr/>
          </p:nvSpPr>
          <p:spPr>
            <a:xfrm>
              <a:off x="4833755" y="4985428"/>
              <a:ext cx="220345" cy="400685"/>
            </a:xfrm>
            <a:custGeom>
              <a:avLst/>
              <a:gdLst/>
              <a:ahLst/>
              <a:cxnLst/>
              <a:rect l="l" t="t" r="r" b="b"/>
              <a:pathLst>
                <a:path w="220345" h="400685">
                  <a:moveTo>
                    <a:pt x="219742" y="0"/>
                  </a:moveTo>
                  <a:lnTo>
                    <a:pt x="0" y="400185"/>
                  </a:lnTo>
                </a:path>
              </a:pathLst>
            </a:custGeom>
            <a:ln w="12700">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39" name="object 9">
              <a:extLst>
                <a:ext uri="{FF2B5EF4-FFF2-40B4-BE49-F238E27FC236}">
                  <a16:creationId xmlns:a16="http://schemas.microsoft.com/office/drawing/2014/main" id="{3ADF6A8C-9271-6190-1CFA-B5CCFB10A185}"/>
                </a:ext>
              </a:extLst>
            </p:cNvPr>
            <p:cNvSpPr/>
            <p:nvPr/>
          </p:nvSpPr>
          <p:spPr>
            <a:xfrm>
              <a:off x="5237717" y="4985428"/>
              <a:ext cx="230504" cy="396240"/>
            </a:xfrm>
            <a:custGeom>
              <a:avLst/>
              <a:gdLst/>
              <a:ahLst/>
              <a:cxnLst/>
              <a:rect l="l" t="t" r="r" b="b"/>
              <a:pathLst>
                <a:path w="230504" h="396239">
                  <a:moveTo>
                    <a:pt x="0" y="0"/>
                  </a:moveTo>
                  <a:lnTo>
                    <a:pt x="230157" y="395642"/>
                  </a:lnTo>
                </a:path>
              </a:pathLst>
            </a:custGeom>
            <a:ln w="12700">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0" name="object 10">
              <a:extLst>
                <a:ext uri="{FF2B5EF4-FFF2-40B4-BE49-F238E27FC236}">
                  <a16:creationId xmlns:a16="http://schemas.microsoft.com/office/drawing/2014/main" id="{B2F5B8DE-006F-F950-9592-148FAF028485}"/>
                </a:ext>
              </a:extLst>
            </p:cNvPr>
            <p:cNvSpPr/>
            <p:nvPr/>
          </p:nvSpPr>
          <p:spPr>
            <a:xfrm>
              <a:off x="5704087" y="4049500"/>
              <a:ext cx="260985" cy="260985"/>
            </a:xfrm>
            <a:custGeom>
              <a:avLst/>
              <a:gdLst/>
              <a:ahLst/>
              <a:cxnLst/>
              <a:rect l="l" t="t" r="r" b="b"/>
              <a:pathLst>
                <a:path w="260985" h="260985">
                  <a:moveTo>
                    <a:pt x="0" y="130263"/>
                  </a:moveTo>
                  <a:lnTo>
                    <a:pt x="10236" y="79558"/>
                  </a:lnTo>
                  <a:lnTo>
                    <a:pt x="38153" y="38153"/>
                  </a:lnTo>
                  <a:lnTo>
                    <a:pt x="79558" y="10236"/>
                  </a:lnTo>
                  <a:lnTo>
                    <a:pt x="130263" y="0"/>
                  </a:lnTo>
                  <a:lnTo>
                    <a:pt x="180967" y="10236"/>
                  </a:lnTo>
                  <a:lnTo>
                    <a:pt x="222372" y="38153"/>
                  </a:lnTo>
                  <a:lnTo>
                    <a:pt x="250289" y="79558"/>
                  </a:lnTo>
                  <a:lnTo>
                    <a:pt x="260526" y="130263"/>
                  </a:lnTo>
                  <a:lnTo>
                    <a:pt x="250289" y="180967"/>
                  </a:lnTo>
                  <a:lnTo>
                    <a:pt x="222372" y="222372"/>
                  </a:lnTo>
                  <a:lnTo>
                    <a:pt x="180967" y="250289"/>
                  </a:lnTo>
                  <a:lnTo>
                    <a:pt x="130263" y="260526"/>
                  </a:lnTo>
                  <a:lnTo>
                    <a:pt x="79558" y="250289"/>
                  </a:lnTo>
                  <a:lnTo>
                    <a:pt x="38153" y="222372"/>
                  </a:lnTo>
                  <a:lnTo>
                    <a:pt x="10236" y="180967"/>
                  </a:lnTo>
                  <a:lnTo>
                    <a:pt x="0" y="130263"/>
                  </a:lnTo>
                  <a:close/>
                </a:path>
              </a:pathLst>
            </a:custGeom>
            <a:ln w="12700">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1" name="object 11">
              <a:extLst>
                <a:ext uri="{FF2B5EF4-FFF2-40B4-BE49-F238E27FC236}">
                  <a16:creationId xmlns:a16="http://schemas.microsoft.com/office/drawing/2014/main" id="{614FE2F2-D311-75BC-0319-84F429A1CA8C}"/>
                </a:ext>
              </a:extLst>
            </p:cNvPr>
            <p:cNvSpPr/>
            <p:nvPr/>
          </p:nvSpPr>
          <p:spPr>
            <a:xfrm>
              <a:off x="5926460" y="4271873"/>
              <a:ext cx="175895" cy="1109345"/>
            </a:xfrm>
            <a:custGeom>
              <a:avLst/>
              <a:gdLst/>
              <a:ahLst/>
              <a:cxnLst/>
              <a:rect l="l" t="t" r="r" b="b"/>
              <a:pathLst>
                <a:path w="175895" h="1109345">
                  <a:moveTo>
                    <a:pt x="0" y="0"/>
                  </a:moveTo>
                  <a:lnTo>
                    <a:pt x="175534" y="1109195"/>
                  </a:lnTo>
                </a:path>
              </a:pathLst>
            </a:custGeom>
            <a:ln w="12700">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2" name="object 12">
              <a:extLst>
                <a:ext uri="{FF2B5EF4-FFF2-40B4-BE49-F238E27FC236}">
                  <a16:creationId xmlns:a16="http://schemas.microsoft.com/office/drawing/2014/main" id="{6A3D9648-2A17-058E-8B7E-C5B8AC62C4D3}"/>
                </a:ext>
              </a:extLst>
            </p:cNvPr>
            <p:cNvSpPr/>
            <p:nvPr/>
          </p:nvSpPr>
          <p:spPr>
            <a:xfrm>
              <a:off x="5145608" y="4271873"/>
              <a:ext cx="596900" cy="491490"/>
            </a:xfrm>
            <a:custGeom>
              <a:avLst/>
              <a:gdLst/>
              <a:ahLst/>
              <a:cxnLst/>
              <a:rect l="l" t="t" r="r" b="b"/>
              <a:pathLst>
                <a:path w="596900" h="491489">
                  <a:moveTo>
                    <a:pt x="0" y="491181"/>
                  </a:moveTo>
                  <a:lnTo>
                    <a:pt x="596632" y="0"/>
                  </a:lnTo>
                </a:path>
              </a:pathLst>
            </a:custGeom>
            <a:ln w="12700">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3" name="object 13">
              <a:extLst>
                <a:ext uri="{FF2B5EF4-FFF2-40B4-BE49-F238E27FC236}">
                  <a16:creationId xmlns:a16="http://schemas.microsoft.com/office/drawing/2014/main" id="{64C3A633-F379-6988-255C-CE27FA3FFA50}"/>
                </a:ext>
              </a:extLst>
            </p:cNvPr>
            <p:cNvSpPr/>
            <p:nvPr/>
          </p:nvSpPr>
          <p:spPr>
            <a:xfrm>
              <a:off x="6126132" y="3241563"/>
              <a:ext cx="260985" cy="260985"/>
            </a:xfrm>
            <a:custGeom>
              <a:avLst/>
              <a:gdLst/>
              <a:ahLst/>
              <a:cxnLst/>
              <a:rect l="l" t="t" r="r" b="b"/>
              <a:pathLst>
                <a:path w="260985" h="260985">
                  <a:moveTo>
                    <a:pt x="0" y="130263"/>
                  </a:moveTo>
                  <a:lnTo>
                    <a:pt x="10236" y="79558"/>
                  </a:lnTo>
                  <a:lnTo>
                    <a:pt x="38153" y="38153"/>
                  </a:lnTo>
                  <a:lnTo>
                    <a:pt x="79558" y="10236"/>
                  </a:lnTo>
                  <a:lnTo>
                    <a:pt x="130263" y="0"/>
                  </a:lnTo>
                  <a:lnTo>
                    <a:pt x="180967" y="10236"/>
                  </a:lnTo>
                  <a:lnTo>
                    <a:pt x="222372" y="38153"/>
                  </a:lnTo>
                  <a:lnTo>
                    <a:pt x="250289" y="79558"/>
                  </a:lnTo>
                  <a:lnTo>
                    <a:pt x="260526" y="130263"/>
                  </a:lnTo>
                  <a:lnTo>
                    <a:pt x="250289" y="180967"/>
                  </a:lnTo>
                  <a:lnTo>
                    <a:pt x="222372" y="222372"/>
                  </a:lnTo>
                  <a:lnTo>
                    <a:pt x="180967" y="250289"/>
                  </a:lnTo>
                  <a:lnTo>
                    <a:pt x="130263" y="260526"/>
                  </a:lnTo>
                  <a:lnTo>
                    <a:pt x="79558" y="250289"/>
                  </a:lnTo>
                  <a:lnTo>
                    <a:pt x="38153" y="222372"/>
                  </a:lnTo>
                  <a:lnTo>
                    <a:pt x="10236" y="180967"/>
                  </a:lnTo>
                  <a:lnTo>
                    <a:pt x="0" y="130263"/>
                  </a:lnTo>
                  <a:close/>
                </a:path>
              </a:pathLst>
            </a:custGeom>
            <a:ln w="12700">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4" name="object 14">
              <a:extLst>
                <a:ext uri="{FF2B5EF4-FFF2-40B4-BE49-F238E27FC236}">
                  <a16:creationId xmlns:a16="http://schemas.microsoft.com/office/drawing/2014/main" id="{CEEFBE70-5761-EAB8-C8B2-37CFD2C83518}"/>
                </a:ext>
              </a:extLst>
            </p:cNvPr>
            <p:cNvSpPr/>
            <p:nvPr/>
          </p:nvSpPr>
          <p:spPr>
            <a:xfrm>
              <a:off x="5834349" y="3463935"/>
              <a:ext cx="330200" cy="586105"/>
            </a:xfrm>
            <a:custGeom>
              <a:avLst/>
              <a:gdLst/>
              <a:ahLst/>
              <a:cxnLst/>
              <a:rect l="l" t="t" r="r" b="b"/>
              <a:pathLst>
                <a:path w="330200" h="586104">
                  <a:moveTo>
                    <a:pt x="0" y="585565"/>
                  </a:moveTo>
                  <a:lnTo>
                    <a:pt x="329935" y="0"/>
                  </a:lnTo>
                </a:path>
              </a:pathLst>
            </a:custGeom>
            <a:ln w="12700">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45" name="object 15">
            <a:extLst>
              <a:ext uri="{FF2B5EF4-FFF2-40B4-BE49-F238E27FC236}">
                <a16:creationId xmlns:a16="http://schemas.microsoft.com/office/drawing/2014/main" id="{B0970B4A-17A0-890B-47D8-60B0952BC12D}"/>
              </a:ext>
            </a:extLst>
          </p:cNvPr>
          <p:cNvSpPr txBox="1"/>
          <p:nvPr/>
        </p:nvSpPr>
        <p:spPr>
          <a:xfrm>
            <a:off x="707390" y="1479804"/>
            <a:ext cx="7656830" cy="3550285"/>
          </a:xfrm>
          <a:prstGeom prst="rect">
            <a:avLst/>
          </a:prstGeom>
        </p:spPr>
        <p:txBody>
          <a:bodyPr vert="horz" wrap="square" lIns="0" tIns="12700" rIns="0" bIns="0" rtlCol="0">
            <a:spAutoFit/>
          </a:bodyPr>
          <a:lstStyle/>
          <a:p>
            <a:pPr marL="242570" marR="5080" indent="-230504">
              <a:lnSpc>
                <a:spcPct val="117000"/>
              </a:lnSpc>
              <a:spcBef>
                <a:spcPts val="100"/>
              </a:spcBef>
              <a:buFont typeface="Arial MT"/>
              <a:buChar char="•"/>
              <a:tabLst>
                <a:tab pos="242570" algn="l"/>
              </a:tabLst>
            </a:pPr>
            <a:r>
              <a:rPr sz="2000" dirty="0">
                <a:solidFill>
                  <a:sysClr val="windowText" lastClr="000000"/>
                </a:solidFill>
                <a:latin typeface="Palatino Linotype"/>
                <a:cs typeface="Palatino Linotype"/>
              </a:rPr>
              <a:t>When</a:t>
            </a:r>
            <a:r>
              <a:rPr sz="2000" spc="-2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creating</a:t>
            </a:r>
            <a:r>
              <a:rPr sz="2000" spc="-1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a</a:t>
            </a:r>
            <a:r>
              <a:rPr sz="2000" spc="-1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node</a:t>
            </a:r>
            <a:r>
              <a:rPr sz="2000" spc="-15" dirty="0">
                <a:solidFill>
                  <a:sysClr val="windowText" lastClr="000000"/>
                </a:solidFill>
                <a:latin typeface="Palatino Linotype"/>
                <a:cs typeface="Palatino Linotype"/>
              </a:rPr>
              <a:t> </a:t>
            </a:r>
            <a:r>
              <a:rPr sz="2000" dirty="0">
                <a:solidFill>
                  <a:sysClr val="windowText" lastClr="000000"/>
                </a:solidFill>
                <a:latin typeface="Cambria Math"/>
                <a:cs typeface="Cambria Math"/>
              </a:rPr>
              <a:t>𝑀</a:t>
            </a:r>
            <a:r>
              <a:rPr sz="2000" dirty="0">
                <a:solidFill>
                  <a:sysClr val="windowText" lastClr="000000"/>
                </a:solidFill>
                <a:latin typeface="Palatino Linotype"/>
                <a:cs typeface="Palatino Linotype"/>
              </a:rPr>
              <a:t>,</a:t>
            </a:r>
            <a:r>
              <a:rPr sz="2000" spc="-15" dirty="0">
                <a:solidFill>
                  <a:sysClr val="windowText" lastClr="000000"/>
                </a:solidFill>
                <a:latin typeface="Palatino Linotype"/>
                <a:cs typeface="Palatino Linotype"/>
              </a:rPr>
              <a:t> </a:t>
            </a:r>
            <a:r>
              <a:rPr sz="2000" dirty="0">
                <a:solidFill>
                  <a:srgbClr val="FF0000"/>
                </a:solidFill>
                <a:latin typeface="Palatino Linotype"/>
                <a:cs typeface="Palatino Linotype"/>
              </a:rPr>
              <a:t>check</a:t>
            </a:r>
            <a:r>
              <a:rPr sz="2000" spc="-10" dirty="0">
                <a:solidFill>
                  <a:srgbClr val="FF0000"/>
                </a:solidFill>
                <a:latin typeface="Palatino Linotype"/>
                <a:cs typeface="Palatino Linotype"/>
              </a:rPr>
              <a:t> </a:t>
            </a:r>
            <a:r>
              <a:rPr sz="2000" dirty="0">
                <a:solidFill>
                  <a:srgbClr val="FF0000"/>
                </a:solidFill>
                <a:latin typeface="Palatino Linotype"/>
                <a:cs typeface="Palatino Linotype"/>
              </a:rPr>
              <a:t>if</a:t>
            </a:r>
            <a:r>
              <a:rPr sz="2000" spc="-20" dirty="0">
                <a:solidFill>
                  <a:srgbClr val="FF0000"/>
                </a:solidFill>
                <a:latin typeface="Palatino Linotype"/>
                <a:cs typeface="Palatino Linotype"/>
              </a:rPr>
              <a:t> </a:t>
            </a:r>
            <a:r>
              <a:rPr sz="2000" dirty="0">
                <a:solidFill>
                  <a:srgbClr val="FF0000"/>
                </a:solidFill>
                <a:latin typeface="Palatino Linotype"/>
                <a:cs typeface="Palatino Linotype"/>
              </a:rPr>
              <a:t>there</a:t>
            </a:r>
            <a:r>
              <a:rPr sz="2000" spc="-10" dirty="0">
                <a:solidFill>
                  <a:srgbClr val="FF0000"/>
                </a:solidFill>
                <a:latin typeface="Palatino Linotype"/>
                <a:cs typeface="Palatino Linotype"/>
              </a:rPr>
              <a:t> </a:t>
            </a:r>
            <a:r>
              <a:rPr sz="2000" dirty="0">
                <a:solidFill>
                  <a:srgbClr val="FF0000"/>
                </a:solidFill>
                <a:latin typeface="Palatino Linotype"/>
                <a:cs typeface="Palatino Linotype"/>
              </a:rPr>
              <a:t>exists</a:t>
            </a:r>
            <a:r>
              <a:rPr sz="2000" spc="-15" dirty="0">
                <a:solidFill>
                  <a:srgbClr val="FF0000"/>
                </a:solidFill>
                <a:latin typeface="Palatino Linotype"/>
                <a:cs typeface="Palatino Linotype"/>
              </a:rPr>
              <a:t> </a:t>
            </a:r>
            <a:r>
              <a:rPr sz="2000" dirty="0">
                <a:solidFill>
                  <a:srgbClr val="FF0000"/>
                </a:solidFill>
                <a:latin typeface="Palatino Linotype"/>
                <a:cs typeface="Palatino Linotype"/>
              </a:rPr>
              <a:t>a</a:t>
            </a:r>
            <a:r>
              <a:rPr sz="2000" spc="-15" dirty="0">
                <a:solidFill>
                  <a:srgbClr val="FF0000"/>
                </a:solidFill>
                <a:latin typeface="Palatino Linotype"/>
                <a:cs typeface="Palatino Linotype"/>
              </a:rPr>
              <a:t> </a:t>
            </a:r>
            <a:r>
              <a:rPr sz="2000" dirty="0">
                <a:solidFill>
                  <a:srgbClr val="FF0000"/>
                </a:solidFill>
                <a:latin typeface="Palatino Linotype"/>
                <a:cs typeface="Palatino Linotype"/>
              </a:rPr>
              <a:t>node</a:t>
            </a:r>
            <a:r>
              <a:rPr sz="2000" spc="-10" dirty="0">
                <a:solidFill>
                  <a:srgbClr val="FF0000"/>
                </a:solidFill>
                <a:latin typeface="Palatino Linotype"/>
                <a:cs typeface="Palatino Linotype"/>
              </a:rPr>
              <a:t> </a:t>
            </a:r>
            <a:r>
              <a:rPr sz="2000" dirty="0">
                <a:solidFill>
                  <a:srgbClr val="FF0000"/>
                </a:solidFill>
                <a:latin typeface="Cambria Math"/>
                <a:cs typeface="Cambria Math"/>
              </a:rPr>
              <a:t>𝑁</a:t>
            </a:r>
            <a:r>
              <a:rPr sz="2000" dirty="0">
                <a:solidFill>
                  <a:sysClr val="windowText" lastClr="000000"/>
                </a:solidFill>
                <a:latin typeface="Palatino Linotype"/>
                <a:cs typeface="Palatino Linotype"/>
              </a:rPr>
              <a:t>,</a:t>
            </a:r>
            <a:r>
              <a:rPr sz="2000" spc="-1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which</a:t>
            </a:r>
            <a:r>
              <a:rPr sz="2000" spc="-15" dirty="0">
                <a:solidFill>
                  <a:sysClr val="windowText" lastClr="000000"/>
                </a:solidFill>
                <a:latin typeface="Palatino Linotype"/>
                <a:cs typeface="Palatino Linotype"/>
              </a:rPr>
              <a:t> </a:t>
            </a:r>
            <a:r>
              <a:rPr sz="2000" spc="-25" dirty="0">
                <a:solidFill>
                  <a:sysClr val="windowText" lastClr="000000"/>
                </a:solidFill>
                <a:latin typeface="Palatino Linotype"/>
                <a:cs typeface="Palatino Linotype"/>
              </a:rPr>
              <a:t>has </a:t>
            </a:r>
            <a:r>
              <a:rPr sz="2000" dirty="0">
                <a:solidFill>
                  <a:sysClr val="windowText" lastClr="000000"/>
                </a:solidFill>
                <a:latin typeface="Palatino Linotype"/>
                <a:cs typeface="Palatino Linotype"/>
              </a:rPr>
              <a:t>the</a:t>
            </a:r>
            <a:r>
              <a:rPr sz="2000" spc="-3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same</a:t>
            </a:r>
            <a:r>
              <a:rPr sz="2000" spc="-3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operator</a:t>
            </a:r>
            <a:r>
              <a:rPr sz="2000" spc="-3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and</a:t>
            </a:r>
            <a:r>
              <a:rPr sz="2000" spc="-3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children</a:t>
            </a:r>
            <a:r>
              <a:rPr sz="2000" spc="-4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nodes</a:t>
            </a:r>
            <a:r>
              <a:rPr sz="2000" spc="-3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(order</a:t>
            </a:r>
            <a:r>
              <a:rPr sz="2000" spc="-3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matters)</a:t>
            </a:r>
            <a:r>
              <a:rPr sz="2000" spc="-3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with</a:t>
            </a:r>
            <a:r>
              <a:rPr sz="2000" spc="-35" dirty="0">
                <a:solidFill>
                  <a:sysClr val="windowText" lastClr="000000"/>
                </a:solidFill>
                <a:latin typeface="Palatino Linotype"/>
                <a:cs typeface="Palatino Linotype"/>
              </a:rPr>
              <a:t> </a:t>
            </a:r>
            <a:r>
              <a:rPr sz="2000" spc="-50" dirty="0">
                <a:solidFill>
                  <a:sysClr val="windowText" lastClr="000000"/>
                </a:solidFill>
                <a:latin typeface="Cambria Math"/>
                <a:cs typeface="Cambria Math"/>
              </a:rPr>
              <a:t>𝑀</a:t>
            </a:r>
            <a:endParaRPr sz="2000">
              <a:solidFill>
                <a:sysClr val="windowText" lastClr="000000"/>
              </a:solidFill>
              <a:latin typeface="Cambria Math"/>
              <a:cs typeface="Cambria Math"/>
            </a:endParaRPr>
          </a:p>
          <a:p>
            <a:pPr marL="242570" marR="306070" indent="-230504">
              <a:lnSpc>
                <a:spcPct val="121000"/>
              </a:lnSpc>
              <a:spcBef>
                <a:spcPts val="1775"/>
              </a:spcBef>
              <a:buFont typeface="Arial MT"/>
              <a:buChar char="•"/>
              <a:tabLst>
                <a:tab pos="242570" algn="l"/>
              </a:tabLst>
            </a:pPr>
            <a:r>
              <a:rPr sz="2000" dirty="0">
                <a:solidFill>
                  <a:sysClr val="windowText" lastClr="000000"/>
                </a:solidFill>
                <a:latin typeface="Palatino Linotype"/>
                <a:cs typeface="Palatino Linotype"/>
              </a:rPr>
              <a:t>If</a:t>
            </a:r>
            <a:r>
              <a:rPr sz="2000" spc="-2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such</a:t>
            </a:r>
            <a:r>
              <a:rPr sz="2000" spc="-2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a</a:t>
            </a:r>
            <a:r>
              <a:rPr sz="2000" spc="-2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node</a:t>
            </a:r>
            <a:r>
              <a:rPr sz="2000" spc="-20" dirty="0">
                <a:solidFill>
                  <a:sysClr val="windowText" lastClr="000000"/>
                </a:solidFill>
                <a:latin typeface="Palatino Linotype"/>
                <a:cs typeface="Palatino Linotype"/>
              </a:rPr>
              <a:t> </a:t>
            </a:r>
            <a:r>
              <a:rPr sz="2000" dirty="0">
                <a:solidFill>
                  <a:sysClr val="windowText" lastClr="000000"/>
                </a:solidFill>
                <a:latin typeface="Cambria Math"/>
                <a:cs typeface="Cambria Math"/>
              </a:rPr>
              <a:t>𝑁</a:t>
            </a:r>
            <a:r>
              <a:rPr sz="2000" spc="85" dirty="0">
                <a:solidFill>
                  <a:sysClr val="windowText" lastClr="000000"/>
                </a:solidFill>
                <a:latin typeface="Cambria Math"/>
                <a:cs typeface="Cambria Math"/>
              </a:rPr>
              <a:t> </a:t>
            </a:r>
            <a:r>
              <a:rPr sz="2000" dirty="0">
                <a:solidFill>
                  <a:sysClr val="windowText" lastClr="000000"/>
                </a:solidFill>
                <a:latin typeface="Palatino Linotype"/>
                <a:cs typeface="Palatino Linotype"/>
              </a:rPr>
              <a:t>exists,</a:t>
            </a:r>
            <a:r>
              <a:rPr sz="2000" spc="-2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we</a:t>
            </a:r>
            <a:r>
              <a:rPr sz="2000" spc="-2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do</a:t>
            </a:r>
            <a:r>
              <a:rPr sz="2000" spc="-2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not</a:t>
            </a:r>
            <a:r>
              <a:rPr sz="2000" spc="-2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create</a:t>
            </a:r>
            <a:r>
              <a:rPr sz="2000" spc="-2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the</a:t>
            </a:r>
            <a:r>
              <a:rPr sz="2000" spc="-2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node</a:t>
            </a:r>
            <a:r>
              <a:rPr sz="2000" spc="-20" dirty="0">
                <a:solidFill>
                  <a:sysClr val="windowText" lastClr="000000"/>
                </a:solidFill>
                <a:latin typeface="Palatino Linotype"/>
                <a:cs typeface="Palatino Linotype"/>
              </a:rPr>
              <a:t> </a:t>
            </a:r>
            <a:r>
              <a:rPr sz="2000" dirty="0">
                <a:solidFill>
                  <a:sysClr val="windowText" lastClr="000000"/>
                </a:solidFill>
                <a:latin typeface="Cambria Math"/>
                <a:cs typeface="Cambria Math"/>
              </a:rPr>
              <a:t>𝑀</a:t>
            </a:r>
            <a:r>
              <a:rPr sz="2000" spc="85" dirty="0">
                <a:solidFill>
                  <a:sysClr val="windowText" lastClr="000000"/>
                </a:solidFill>
                <a:latin typeface="Cambria Math"/>
                <a:cs typeface="Cambria Math"/>
              </a:rPr>
              <a:t> </a:t>
            </a:r>
            <a:r>
              <a:rPr sz="2000" dirty="0">
                <a:solidFill>
                  <a:sysClr val="windowText" lastClr="000000"/>
                </a:solidFill>
                <a:latin typeface="Palatino Linotype"/>
                <a:cs typeface="Palatino Linotype"/>
              </a:rPr>
              <a:t>but</a:t>
            </a:r>
            <a:r>
              <a:rPr sz="2000" spc="-25" dirty="0">
                <a:solidFill>
                  <a:sysClr val="windowText" lastClr="000000"/>
                </a:solidFill>
                <a:latin typeface="Palatino Linotype"/>
                <a:cs typeface="Palatino Linotype"/>
              </a:rPr>
              <a:t> </a:t>
            </a:r>
            <a:r>
              <a:rPr sz="2000" spc="-10" dirty="0">
                <a:solidFill>
                  <a:sysClr val="windowText" lastClr="000000"/>
                </a:solidFill>
                <a:latin typeface="Palatino Linotype"/>
                <a:cs typeface="Palatino Linotype"/>
              </a:rPr>
              <a:t>simply </a:t>
            </a:r>
            <a:r>
              <a:rPr sz="2000" dirty="0">
                <a:solidFill>
                  <a:srgbClr val="FF0000"/>
                </a:solidFill>
                <a:latin typeface="Palatino Linotype"/>
                <a:cs typeface="Palatino Linotype"/>
              </a:rPr>
              <a:t>use</a:t>
            </a:r>
            <a:r>
              <a:rPr sz="2000" spc="-25" dirty="0">
                <a:solidFill>
                  <a:srgbClr val="FF0000"/>
                </a:solidFill>
                <a:latin typeface="Palatino Linotype"/>
                <a:cs typeface="Palatino Linotype"/>
              </a:rPr>
              <a:t> </a:t>
            </a:r>
            <a:r>
              <a:rPr sz="2000" dirty="0">
                <a:solidFill>
                  <a:srgbClr val="FF0000"/>
                </a:solidFill>
                <a:latin typeface="Cambria Math"/>
                <a:cs typeface="Cambria Math"/>
              </a:rPr>
              <a:t>𝑁</a:t>
            </a:r>
            <a:r>
              <a:rPr sz="2000" spc="85" dirty="0">
                <a:solidFill>
                  <a:srgbClr val="FF0000"/>
                </a:solidFill>
                <a:latin typeface="Cambria Math"/>
                <a:cs typeface="Cambria Math"/>
              </a:rPr>
              <a:t> </a:t>
            </a:r>
            <a:r>
              <a:rPr sz="2000" dirty="0">
                <a:solidFill>
                  <a:srgbClr val="FF0000"/>
                </a:solidFill>
                <a:latin typeface="Palatino Linotype"/>
                <a:cs typeface="Palatino Linotype"/>
              </a:rPr>
              <a:t>to</a:t>
            </a:r>
            <a:r>
              <a:rPr sz="2000" spc="-25" dirty="0">
                <a:solidFill>
                  <a:srgbClr val="FF0000"/>
                </a:solidFill>
                <a:latin typeface="Palatino Linotype"/>
                <a:cs typeface="Palatino Linotype"/>
              </a:rPr>
              <a:t> </a:t>
            </a:r>
            <a:r>
              <a:rPr sz="2000" dirty="0">
                <a:solidFill>
                  <a:srgbClr val="FF0000"/>
                </a:solidFill>
                <a:latin typeface="Palatino Linotype"/>
                <a:cs typeface="Palatino Linotype"/>
              </a:rPr>
              <a:t>represent</a:t>
            </a:r>
            <a:r>
              <a:rPr sz="2000" spc="-25" dirty="0">
                <a:solidFill>
                  <a:srgbClr val="FF0000"/>
                </a:solidFill>
                <a:latin typeface="Palatino Linotype"/>
                <a:cs typeface="Palatino Linotype"/>
              </a:rPr>
              <a:t> </a:t>
            </a:r>
            <a:r>
              <a:rPr sz="2000" spc="-50" dirty="0">
                <a:solidFill>
                  <a:srgbClr val="FF0000"/>
                </a:solidFill>
                <a:latin typeface="Cambria Math"/>
                <a:cs typeface="Cambria Math"/>
              </a:rPr>
              <a:t>𝑀</a:t>
            </a:r>
            <a:endParaRPr sz="2000">
              <a:solidFill>
                <a:sysClr val="windowText" lastClr="000000"/>
              </a:solidFill>
              <a:latin typeface="Cambria Math"/>
              <a:cs typeface="Cambria Math"/>
            </a:endParaRPr>
          </a:p>
          <a:p>
            <a:pPr marR="1690370" algn="r">
              <a:spcBef>
                <a:spcPts val="415"/>
              </a:spcBef>
              <a:tabLst>
                <a:tab pos="365125" algn="l"/>
              </a:tabLst>
            </a:pPr>
            <a:r>
              <a:rPr spc="-50" dirty="0">
                <a:solidFill>
                  <a:sysClr val="windowText" lastClr="000000"/>
                </a:solidFill>
                <a:cs typeface="Calibri"/>
              </a:rPr>
              <a:t>+</a:t>
            </a:r>
            <a:r>
              <a:rPr dirty="0">
                <a:solidFill>
                  <a:sysClr val="windowText" lastClr="000000"/>
                </a:solidFill>
                <a:cs typeface="Calibri"/>
              </a:rPr>
              <a:t>	</a:t>
            </a:r>
            <a:r>
              <a:rPr spc="-50" dirty="0">
                <a:solidFill>
                  <a:sysClr val="windowText" lastClr="000000"/>
                </a:solidFill>
                <a:latin typeface="Cambria Math"/>
                <a:cs typeface="Cambria Math"/>
              </a:rPr>
              <a:t>c</a:t>
            </a:r>
            <a:endParaRPr>
              <a:solidFill>
                <a:sysClr val="windowText" lastClr="000000"/>
              </a:solidFill>
              <a:latin typeface="Cambria Math"/>
              <a:cs typeface="Cambria Math"/>
            </a:endParaRPr>
          </a:p>
          <a:p>
            <a:pPr>
              <a:spcBef>
                <a:spcPts val="2090"/>
              </a:spcBef>
            </a:pPr>
            <a:endParaRPr>
              <a:solidFill>
                <a:sysClr val="windowText" lastClr="000000"/>
              </a:solidFill>
              <a:latin typeface="Cambria Math"/>
              <a:cs typeface="Cambria Math"/>
            </a:endParaRPr>
          </a:p>
          <a:p>
            <a:pPr marL="5069205">
              <a:tabLst>
                <a:tab pos="5452745" algn="l"/>
              </a:tabLst>
            </a:pPr>
            <a:r>
              <a:rPr spc="-50" dirty="0">
                <a:solidFill>
                  <a:sysClr val="windowText" lastClr="000000"/>
                </a:solidFill>
                <a:cs typeface="Calibri"/>
              </a:rPr>
              <a:t>−</a:t>
            </a:r>
            <a:r>
              <a:rPr dirty="0">
                <a:solidFill>
                  <a:sysClr val="windowText" lastClr="000000"/>
                </a:solidFill>
                <a:cs typeface="Calibri"/>
              </a:rPr>
              <a:t>	</a:t>
            </a:r>
            <a:r>
              <a:rPr spc="-50" dirty="0">
                <a:solidFill>
                  <a:sysClr val="windowText" lastClr="000000"/>
                </a:solidFill>
                <a:latin typeface="Cambria Math"/>
                <a:cs typeface="Cambria Math"/>
              </a:rPr>
              <a:t>b</a:t>
            </a:r>
            <a:endParaRPr>
              <a:solidFill>
                <a:sysClr val="windowText" lastClr="000000"/>
              </a:solidFill>
              <a:latin typeface="Cambria Math"/>
              <a:cs typeface="Cambria Math"/>
            </a:endParaRPr>
          </a:p>
          <a:p>
            <a:pPr>
              <a:spcBef>
                <a:spcPts val="1345"/>
              </a:spcBef>
            </a:pPr>
            <a:endParaRPr>
              <a:solidFill>
                <a:sysClr val="windowText" lastClr="000000"/>
              </a:solidFill>
              <a:latin typeface="Cambria Math"/>
              <a:cs typeface="Cambria Math"/>
            </a:endParaRPr>
          </a:p>
          <a:p>
            <a:pPr marL="1519555" algn="ctr">
              <a:tabLst>
                <a:tab pos="1821814" algn="l"/>
              </a:tabLst>
            </a:pPr>
            <a:r>
              <a:rPr spc="-50" dirty="0">
                <a:solidFill>
                  <a:sysClr val="windowText" lastClr="000000"/>
                </a:solidFill>
                <a:cs typeface="Calibri"/>
              </a:rPr>
              <a:t>+</a:t>
            </a:r>
            <a:r>
              <a:rPr dirty="0">
                <a:solidFill>
                  <a:sysClr val="windowText" lastClr="000000"/>
                </a:solidFill>
                <a:cs typeface="Calibri"/>
              </a:rPr>
              <a:t>	</a:t>
            </a:r>
            <a:r>
              <a:rPr spc="-50" dirty="0">
                <a:solidFill>
                  <a:sysClr val="windowText" lastClr="000000"/>
                </a:solidFill>
                <a:latin typeface="Cambria Math"/>
                <a:cs typeface="Cambria Math"/>
              </a:rPr>
              <a:t>a</a:t>
            </a:r>
            <a:endParaRPr>
              <a:solidFill>
                <a:sysClr val="windowText" lastClr="000000"/>
              </a:solidFill>
              <a:latin typeface="Cambria Math"/>
              <a:cs typeface="Cambria Math"/>
            </a:endParaRPr>
          </a:p>
        </p:txBody>
      </p:sp>
      <p:sp>
        <p:nvSpPr>
          <p:cNvPr id="46" name="object 16">
            <a:extLst>
              <a:ext uri="{FF2B5EF4-FFF2-40B4-BE49-F238E27FC236}">
                <a16:creationId xmlns:a16="http://schemas.microsoft.com/office/drawing/2014/main" id="{79E50169-A2F2-EEF4-5631-08DCFD829E53}"/>
              </a:ext>
            </a:extLst>
          </p:cNvPr>
          <p:cNvSpPr/>
          <p:nvPr/>
        </p:nvSpPr>
        <p:spPr>
          <a:xfrm>
            <a:off x="1504950" y="4294412"/>
            <a:ext cx="457200" cy="76200"/>
          </a:xfrm>
          <a:custGeom>
            <a:avLst/>
            <a:gdLst/>
            <a:ahLst/>
            <a:cxnLst/>
            <a:rect l="l" t="t" r="r" b="b"/>
            <a:pathLst>
              <a:path w="457200" h="76200">
                <a:moveTo>
                  <a:pt x="381000" y="0"/>
                </a:moveTo>
                <a:lnTo>
                  <a:pt x="381000" y="76200"/>
                </a:lnTo>
                <a:lnTo>
                  <a:pt x="444502" y="44450"/>
                </a:lnTo>
                <a:lnTo>
                  <a:pt x="393700" y="44450"/>
                </a:lnTo>
                <a:lnTo>
                  <a:pt x="393700" y="31750"/>
                </a:lnTo>
                <a:lnTo>
                  <a:pt x="444497" y="31750"/>
                </a:lnTo>
                <a:lnTo>
                  <a:pt x="381000" y="0"/>
                </a:lnTo>
                <a:close/>
              </a:path>
              <a:path w="457200" h="76200">
                <a:moveTo>
                  <a:pt x="381000" y="31750"/>
                </a:moveTo>
                <a:lnTo>
                  <a:pt x="0" y="31750"/>
                </a:lnTo>
                <a:lnTo>
                  <a:pt x="0" y="44450"/>
                </a:lnTo>
                <a:lnTo>
                  <a:pt x="381000" y="44450"/>
                </a:lnTo>
                <a:lnTo>
                  <a:pt x="381000" y="31750"/>
                </a:lnTo>
                <a:close/>
              </a:path>
              <a:path w="457200" h="76200">
                <a:moveTo>
                  <a:pt x="444497" y="31750"/>
                </a:moveTo>
                <a:lnTo>
                  <a:pt x="393700" y="31750"/>
                </a:lnTo>
                <a:lnTo>
                  <a:pt x="393700" y="44450"/>
                </a:lnTo>
                <a:lnTo>
                  <a:pt x="444502" y="44450"/>
                </a:lnTo>
                <a:lnTo>
                  <a:pt x="457200" y="38101"/>
                </a:lnTo>
                <a:lnTo>
                  <a:pt x="444497" y="31750"/>
                </a:lnTo>
                <a:close/>
              </a:path>
            </a:pathLst>
          </a:custGeom>
          <a:solidFill>
            <a:srgbClr val="FF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nvGrpSpPr>
          <p:cNvPr id="47" name="object 17">
            <a:extLst>
              <a:ext uri="{FF2B5EF4-FFF2-40B4-BE49-F238E27FC236}">
                <a16:creationId xmlns:a16="http://schemas.microsoft.com/office/drawing/2014/main" id="{9051C486-D808-AC9A-FFBF-BA177858959B}"/>
              </a:ext>
            </a:extLst>
          </p:cNvPr>
          <p:cNvGrpSpPr/>
          <p:nvPr/>
        </p:nvGrpSpPr>
        <p:grpSpPr>
          <a:xfrm>
            <a:off x="2381248" y="3575758"/>
            <a:ext cx="582295" cy="894080"/>
            <a:chOff x="2381248" y="3575758"/>
            <a:chExt cx="582295" cy="894080"/>
          </a:xfrm>
        </p:grpSpPr>
        <p:sp>
          <p:nvSpPr>
            <p:cNvPr id="48" name="object 18">
              <a:extLst>
                <a:ext uri="{FF2B5EF4-FFF2-40B4-BE49-F238E27FC236}">
                  <a16:creationId xmlns:a16="http://schemas.microsoft.com/office/drawing/2014/main" id="{4B742B39-7D3C-F035-A267-174B20D0D7DA}"/>
                </a:ext>
              </a:extLst>
            </p:cNvPr>
            <p:cNvSpPr/>
            <p:nvPr/>
          </p:nvSpPr>
          <p:spPr>
            <a:xfrm>
              <a:off x="2387598" y="4194629"/>
              <a:ext cx="548640" cy="268605"/>
            </a:xfrm>
            <a:custGeom>
              <a:avLst/>
              <a:gdLst/>
              <a:ahLst/>
              <a:cxnLst/>
              <a:rect l="l" t="t" r="r" b="b"/>
              <a:pathLst>
                <a:path w="548639" h="268604">
                  <a:moveTo>
                    <a:pt x="0" y="0"/>
                  </a:moveTo>
                  <a:lnTo>
                    <a:pt x="548640" y="0"/>
                  </a:lnTo>
                  <a:lnTo>
                    <a:pt x="548640" y="268514"/>
                  </a:lnTo>
                  <a:lnTo>
                    <a:pt x="0" y="268514"/>
                  </a:lnTo>
                  <a:lnTo>
                    <a:pt x="0" y="0"/>
                  </a:lnTo>
                  <a:close/>
                </a:path>
              </a:pathLst>
            </a:custGeom>
            <a:ln w="12700">
              <a:solidFill>
                <a:srgbClr val="FF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9" name="object 19">
              <a:extLst>
                <a:ext uri="{FF2B5EF4-FFF2-40B4-BE49-F238E27FC236}">
                  <a16:creationId xmlns:a16="http://schemas.microsoft.com/office/drawing/2014/main" id="{3EEAE427-6E5C-7FBA-A7B2-17442F9BE371}"/>
                </a:ext>
              </a:extLst>
            </p:cNvPr>
            <p:cNvSpPr/>
            <p:nvPr/>
          </p:nvSpPr>
          <p:spPr>
            <a:xfrm>
              <a:off x="2408539" y="3582108"/>
              <a:ext cx="548640" cy="268605"/>
            </a:xfrm>
            <a:custGeom>
              <a:avLst/>
              <a:gdLst/>
              <a:ahLst/>
              <a:cxnLst/>
              <a:rect l="l" t="t" r="r" b="b"/>
              <a:pathLst>
                <a:path w="548639" h="268604">
                  <a:moveTo>
                    <a:pt x="0" y="0"/>
                  </a:moveTo>
                  <a:lnTo>
                    <a:pt x="548640" y="0"/>
                  </a:lnTo>
                  <a:lnTo>
                    <a:pt x="548640" y="268514"/>
                  </a:lnTo>
                  <a:lnTo>
                    <a:pt x="0" y="268514"/>
                  </a:lnTo>
                  <a:lnTo>
                    <a:pt x="0" y="0"/>
                  </a:lnTo>
                  <a:close/>
                </a:path>
              </a:pathLst>
            </a:custGeom>
            <a:ln w="12700">
              <a:solidFill>
                <a:srgbClr val="FF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grpSp>
        <p:nvGrpSpPr>
          <p:cNvPr id="50" name="object 20">
            <a:extLst>
              <a:ext uri="{FF2B5EF4-FFF2-40B4-BE49-F238E27FC236}">
                <a16:creationId xmlns:a16="http://schemas.microsoft.com/office/drawing/2014/main" id="{786E38D5-E75A-E555-C796-2EAB422EC5F4}"/>
              </a:ext>
            </a:extLst>
          </p:cNvPr>
          <p:cNvGrpSpPr/>
          <p:nvPr/>
        </p:nvGrpSpPr>
        <p:grpSpPr>
          <a:xfrm>
            <a:off x="896294" y="5298931"/>
            <a:ext cx="2839085" cy="655955"/>
            <a:chOff x="896294" y="5298931"/>
            <a:chExt cx="2839085" cy="655955"/>
          </a:xfrm>
        </p:grpSpPr>
        <p:sp>
          <p:nvSpPr>
            <p:cNvPr id="51" name="object 21">
              <a:extLst>
                <a:ext uri="{FF2B5EF4-FFF2-40B4-BE49-F238E27FC236}">
                  <a16:creationId xmlns:a16="http://schemas.microsoft.com/office/drawing/2014/main" id="{D941AAB1-B2CF-863F-00DD-2C66B5FB3694}"/>
                </a:ext>
              </a:extLst>
            </p:cNvPr>
            <p:cNvSpPr/>
            <p:nvPr/>
          </p:nvSpPr>
          <p:spPr>
            <a:xfrm>
              <a:off x="901057" y="5303694"/>
              <a:ext cx="2829560" cy="646430"/>
            </a:xfrm>
            <a:custGeom>
              <a:avLst/>
              <a:gdLst/>
              <a:ahLst/>
              <a:cxnLst/>
              <a:rect l="l" t="t" r="r" b="b"/>
              <a:pathLst>
                <a:path w="2829560" h="646429">
                  <a:moveTo>
                    <a:pt x="2829184" y="0"/>
                  </a:moveTo>
                  <a:lnTo>
                    <a:pt x="0" y="0"/>
                  </a:lnTo>
                  <a:lnTo>
                    <a:pt x="0" y="646331"/>
                  </a:lnTo>
                  <a:lnTo>
                    <a:pt x="2829184" y="646331"/>
                  </a:lnTo>
                  <a:lnTo>
                    <a:pt x="2829184" y="0"/>
                  </a:lnTo>
                  <a:close/>
                </a:path>
              </a:pathLst>
            </a:custGeom>
            <a:solidFill>
              <a:srgbClr val="FFF2CC"/>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52" name="object 22">
              <a:extLst>
                <a:ext uri="{FF2B5EF4-FFF2-40B4-BE49-F238E27FC236}">
                  <a16:creationId xmlns:a16="http://schemas.microsoft.com/office/drawing/2014/main" id="{81000A2F-38A1-C3BA-2074-A684BFB9F03C}"/>
                </a:ext>
              </a:extLst>
            </p:cNvPr>
            <p:cNvSpPr/>
            <p:nvPr/>
          </p:nvSpPr>
          <p:spPr>
            <a:xfrm>
              <a:off x="901057" y="5303694"/>
              <a:ext cx="2829560" cy="646430"/>
            </a:xfrm>
            <a:custGeom>
              <a:avLst/>
              <a:gdLst/>
              <a:ahLst/>
              <a:cxnLst/>
              <a:rect l="l" t="t" r="r" b="b"/>
              <a:pathLst>
                <a:path w="2829560" h="646429">
                  <a:moveTo>
                    <a:pt x="0" y="0"/>
                  </a:moveTo>
                  <a:lnTo>
                    <a:pt x="2829184" y="0"/>
                  </a:lnTo>
                  <a:lnTo>
                    <a:pt x="2829184" y="646331"/>
                  </a:lnTo>
                  <a:lnTo>
                    <a:pt x="0" y="646331"/>
                  </a:lnTo>
                  <a:lnTo>
                    <a:pt x="0" y="0"/>
                  </a:lnTo>
                  <a:close/>
                </a:path>
              </a:pathLst>
            </a:custGeom>
            <a:ln w="952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grpSp>
        <p:nvGrpSpPr>
          <p:cNvPr id="53" name="object 23">
            <a:extLst>
              <a:ext uri="{FF2B5EF4-FFF2-40B4-BE49-F238E27FC236}">
                <a16:creationId xmlns:a16="http://schemas.microsoft.com/office/drawing/2014/main" id="{E228756A-40F7-8326-8EAE-F09365453B30}"/>
              </a:ext>
            </a:extLst>
          </p:cNvPr>
          <p:cNvGrpSpPr/>
          <p:nvPr/>
        </p:nvGrpSpPr>
        <p:grpSpPr>
          <a:xfrm>
            <a:off x="4610633" y="3463390"/>
            <a:ext cx="2261870" cy="2466340"/>
            <a:chOff x="4610633" y="3463390"/>
            <a:chExt cx="2261870" cy="2466340"/>
          </a:xfrm>
        </p:grpSpPr>
        <p:sp>
          <p:nvSpPr>
            <p:cNvPr id="54" name="object 24">
              <a:extLst>
                <a:ext uri="{FF2B5EF4-FFF2-40B4-BE49-F238E27FC236}">
                  <a16:creationId xmlns:a16="http://schemas.microsoft.com/office/drawing/2014/main" id="{C00EA6E6-623A-93BF-6627-363AE6528C9E}"/>
                </a:ext>
              </a:extLst>
            </p:cNvPr>
            <p:cNvSpPr/>
            <p:nvPr/>
          </p:nvSpPr>
          <p:spPr>
            <a:xfrm>
              <a:off x="5556980" y="3469740"/>
              <a:ext cx="1309370" cy="2453640"/>
            </a:xfrm>
            <a:custGeom>
              <a:avLst/>
              <a:gdLst/>
              <a:ahLst/>
              <a:cxnLst/>
              <a:rect l="l" t="t" r="r" b="b"/>
              <a:pathLst>
                <a:path w="1309370" h="2453640">
                  <a:moveTo>
                    <a:pt x="793288" y="0"/>
                  </a:moveTo>
                  <a:lnTo>
                    <a:pt x="812964" y="60743"/>
                  </a:lnTo>
                  <a:lnTo>
                    <a:pt x="832615" y="121453"/>
                  </a:lnTo>
                  <a:lnTo>
                    <a:pt x="852215" y="182095"/>
                  </a:lnTo>
                  <a:lnTo>
                    <a:pt x="871739" y="242634"/>
                  </a:lnTo>
                  <a:lnTo>
                    <a:pt x="891161" y="303036"/>
                  </a:lnTo>
                  <a:lnTo>
                    <a:pt x="910456" y="363268"/>
                  </a:lnTo>
                  <a:lnTo>
                    <a:pt x="929598" y="423296"/>
                  </a:lnTo>
                  <a:lnTo>
                    <a:pt x="948561" y="483084"/>
                  </a:lnTo>
                  <a:lnTo>
                    <a:pt x="967321" y="542600"/>
                  </a:lnTo>
                  <a:lnTo>
                    <a:pt x="985852" y="601808"/>
                  </a:lnTo>
                  <a:lnTo>
                    <a:pt x="1004128" y="660675"/>
                  </a:lnTo>
                  <a:lnTo>
                    <a:pt x="1022125" y="719167"/>
                  </a:lnTo>
                  <a:lnTo>
                    <a:pt x="1039815" y="777250"/>
                  </a:lnTo>
                  <a:lnTo>
                    <a:pt x="1057175" y="834889"/>
                  </a:lnTo>
                  <a:lnTo>
                    <a:pt x="1074178" y="892050"/>
                  </a:lnTo>
                  <a:lnTo>
                    <a:pt x="1090800" y="948699"/>
                  </a:lnTo>
                  <a:lnTo>
                    <a:pt x="1107014" y="1004803"/>
                  </a:lnTo>
                  <a:lnTo>
                    <a:pt x="1122795" y="1060326"/>
                  </a:lnTo>
                  <a:lnTo>
                    <a:pt x="1138118" y="1115235"/>
                  </a:lnTo>
                  <a:lnTo>
                    <a:pt x="1152957" y="1169496"/>
                  </a:lnTo>
                  <a:lnTo>
                    <a:pt x="1167287" y="1223074"/>
                  </a:lnTo>
                  <a:lnTo>
                    <a:pt x="1181083" y="1275936"/>
                  </a:lnTo>
                  <a:lnTo>
                    <a:pt x="1194318" y="1328048"/>
                  </a:lnTo>
                  <a:lnTo>
                    <a:pt x="1206968" y="1379374"/>
                  </a:lnTo>
                  <a:lnTo>
                    <a:pt x="1219006" y="1429882"/>
                  </a:lnTo>
                  <a:lnTo>
                    <a:pt x="1230409" y="1479536"/>
                  </a:lnTo>
                  <a:lnTo>
                    <a:pt x="1241149" y="1528304"/>
                  </a:lnTo>
                  <a:lnTo>
                    <a:pt x="1251202" y="1576150"/>
                  </a:lnTo>
                  <a:lnTo>
                    <a:pt x="1260542" y="1623040"/>
                  </a:lnTo>
                  <a:lnTo>
                    <a:pt x="1269143" y="1668942"/>
                  </a:lnTo>
                  <a:lnTo>
                    <a:pt x="1276981" y="1713819"/>
                  </a:lnTo>
                  <a:lnTo>
                    <a:pt x="1284030" y="1757639"/>
                  </a:lnTo>
                  <a:lnTo>
                    <a:pt x="1290264" y="1800367"/>
                  </a:lnTo>
                  <a:lnTo>
                    <a:pt x="1295658" y="1841969"/>
                  </a:lnTo>
                  <a:lnTo>
                    <a:pt x="1300186" y="1882411"/>
                  </a:lnTo>
                  <a:lnTo>
                    <a:pt x="1303823" y="1921659"/>
                  </a:lnTo>
                  <a:lnTo>
                    <a:pt x="1306543" y="1959678"/>
                  </a:lnTo>
                  <a:lnTo>
                    <a:pt x="1309133" y="2031895"/>
                  </a:lnTo>
                  <a:lnTo>
                    <a:pt x="1308951" y="2066024"/>
                  </a:lnTo>
                  <a:lnTo>
                    <a:pt x="1305507" y="2130155"/>
                  </a:lnTo>
                  <a:lnTo>
                    <a:pt x="1297785" y="2188553"/>
                  </a:lnTo>
                  <a:lnTo>
                    <a:pt x="1285583" y="2240945"/>
                  </a:lnTo>
                  <a:lnTo>
                    <a:pt x="1264065" y="2296966"/>
                  </a:lnTo>
                  <a:lnTo>
                    <a:pt x="1229299" y="2351344"/>
                  </a:lnTo>
                  <a:lnTo>
                    <a:pt x="1185176" y="2393181"/>
                  </a:lnTo>
                  <a:lnTo>
                    <a:pt x="1132340" y="2423342"/>
                  </a:lnTo>
                  <a:lnTo>
                    <a:pt x="1071438" y="2442692"/>
                  </a:lnTo>
                  <a:lnTo>
                    <a:pt x="1003115" y="2452096"/>
                  </a:lnTo>
                  <a:lnTo>
                    <a:pt x="966372" y="2453339"/>
                  </a:lnTo>
                  <a:lnTo>
                    <a:pt x="928016" y="2452419"/>
                  </a:lnTo>
                  <a:lnTo>
                    <a:pt x="888127" y="2449446"/>
                  </a:lnTo>
                  <a:lnTo>
                    <a:pt x="846786" y="2444526"/>
                  </a:lnTo>
                  <a:lnTo>
                    <a:pt x="804073" y="2437768"/>
                  </a:lnTo>
                  <a:lnTo>
                    <a:pt x="760070" y="2429281"/>
                  </a:lnTo>
                  <a:lnTo>
                    <a:pt x="714857" y="2419172"/>
                  </a:lnTo>
                  <a:lnTo>
                    <a:pt x="668515" y="2407549"/>
                  </a:lnTo>
                  <a:lnTo>
                    <a:pt x="621124" y="2394521"/>
                  </a:lnTo>
                  <a:lnTo>
                    <a:pt x="572765" y="2380196"/>
                  </a:lnTo>
                  <a:lnTo>
                    <a:pt x="523519" y="2364681"/>
                  </a:lnTo>
                  <a:lnTo>
                    <a:pt x="473466" y="2348086"/>
                  </a:lnTo>
                  <a:lnTo>
                    <a:pt x="422687" y="2330517"/>
                  </a:lnTo>
                  <a:lnTo>
                    <a:pt x="371263" y="2312084"/>
                  </a:lnTo>
                  <a:lnTo>
                    <a:pt x="319274" y="2292894"/>
                  </a:lnTo>
                  <a:lnTo>
                    <a:pt x="266801" y="2273055"/>
                  </a:lnTo>
                  <a:lnTo>
                    <a:pt x="213924" y="2252675"/>
                  </a:lnTo>
                  <a:lnTo>
                    <a:pt x="160726" y="2231864"/>
                  </a:lnTo>
                  <a:lnTo>
                    <a:pt x="107285" y="2210727"/>
                  </a:lnTo>
                  <a:lnTo>
                    <a:pt x="53682" y="2189375"/>
                  </a:lnTo>
                  <a:lnTo>
                    <a:pt x="0" y="2167915"/>
                  </a:lnTo>
                </a:path>
              </a:pathLst>
            </a:custGeom>
            <a:ln w="12700">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55" name="object 25">
              <a:extLst>
                <a:ext uri="{FF2B5EF4-FFF2-40B4-BE49-F238E27FC236}">
                  <a16:creationId xmlns:a16="http://schemas.microsoft.com/office/drawing/2014/main" id="{8492188D-611F-8952-581A-05B44DCF7D8A}"/>
                </a:ext>
              </a:extLst>
            </p:cNvPr>
            <p:cNvSpPr/>
            <p:nvPr/>
          </p:nvSpPr>
          <p:spPr>
            <a:xfrm>
              <a:off x="6000897" y="3995097"/>
              <a:ext cx="422275" cy="369570"/>
            </a:xfrm>
            <a:custGeom>
              <a:avLst/>
              <a:gdLst/>
              <a:ahLst/>
              <a:cxnLst/>
              <a:rect l="l" t="t" r="r" b="b"/>
              <a:pathLst>
                <a:path w="422275" h="369570">
                  <a:moveTo>
                    <a:pt x="0" y="184666"/>
                  </a:moveTo>
                  <a:lnTo>
                    <a:pt x="5573" y="142323"/>
                  </a:lnTo>
                  <a:lnTo>
                    <a:pt x="21448" y="103454"/>
                  </a:lnTo>
                  <a:lnTo>
                    <a:pt x="46359" y="69166"/>
                  </a:lnTo>
                  <a:lnTo>
                    <a:pt x="79038" y="40569"/>
                  </a:lnTo>
                  <a:lnTo>
                    <a:pt x="118220" y="18769"/>
                  </a:lnTo>
                  <a:lnTo>
                    <a:pt x="162636" y="4877"/>
                  </a:lnTo>
                  <a:lnTo>
                    <a:pt x="211022" y="0"/>
                  </a:lnTo>
                  <a:lnTo>
                    <a:pt x="259408" y="4877"/>
                  </a:lnTo>
                  <a:lnTo>
                    <a:pt x="303824" y="18769"/>
                  </a:lnTo>
                  <a:lnTo>
                    <a:pt x="343006" y="40569"/>
                  </a:lnTo>
                  <a:lnTo>
                    <a:pt x="375685" y="69166"/>
                  </a:lnTo>
                  <a:lnTo>
                    <a:pt x="400596" y="103454"/>
                  </a:lnTo>
                  <a:lnTo>
                    <a:pt x="416471" y="142323"/>
                  </a:lnTo>
                  <a:lnTo>
                    <a:pt x="422045" y="184666"/>
                  </a:lnTo>
                  <a:lnTo>
                    <a:pt x="416471" y="227008"/>
                  </a:lnTo>
                  <a:lnTo>
                    <a:pt x="400596" y="265877"/>
                  </a:lnTo>
                  <a:lnTo>
                    <a:pt x="375685" y="300165"/>
                  </a:lnTo>
                  <a:lnTo>
                    <a:pt x="343006" y="328762"/>
                  </a:lnTo>
                  <a:lnTo>
                    <a:pt x="303824" y="350562"/>
                  </a:lnTo>
                  <a:lnTo>
                    <a:pt x="259408" y="364454"/>
                  </a:lnTo>
                  <a:lnTo>
                    <a:pt x="211022" y="369332"/>
                  </a:lnTo>
                  <a:lnTo>
                    <a:pt x="162636" y="364454"/>
                  </a:lnTo>
                  <a:lnTo>
                    <a:pt x="118220" y="350562"/>
                  </a:lnTo>
                  <a:lnTo>
                    <a:pt x="79038" y="328762"/>
                  </a:lnTo>
                  <a:lnTo>
                    <a:pt x="46359" y="300165"/>
                  </a:lnTo>
                  <a:lnTo>
                    <a:pt x="21448" y="265877"/>
                  </a:lnTo>
                  <a:lnTo>
                    <a:pt x="5573" y="227008"/>
                  </a:lnTo>
                  <a:lnTo>
                    <a:pt x="0" y="184666"/>
                  </a:lnTo>
                  <a:close/>
                </a:path>
              </a:pathLst>
            </a:custGeom>
            <a:ln w="12700">
              <a:solidFill>
                <a:srgbClr val="FF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56" name="object 26">
              <a:extLst>
                <a:ext uri="{FF2B5EF4-FFF2-40B4-BE49-F238E27FC236}">
                  <a16:creationId xmlns:a16="http://schemas.microsoft.com/office/drawing/2014/main" id="{8C2E6369-FF81-7D5D-AF36-0F37EA535A9A}"/>
                </a:ext>
              </a:extLst>
            </p:cNvPr>
            <p:cNvSpPr/>
            <p:nvPr/>
          </p:nvSpPr>
          <p:spPr>
            <a:xfrm>
              <a:off x="4616983" y="5369418"/>
              <a:ext cx="422275" cy="369570"/>
            </a:xfrm>
            <a:custGeom>
              <a:avLst/>
              <a:gdLst/>
              <a:ahLst/>
              <a:cxnLst/>
              <a:rect l="l" t="t" r="r" b="b"/>
              <a:pathLst>
                <a:path w="422275" h="369570">
                  <a:moveTo>
                    <a:pt x="0" y="184666"/>
                  </a:moveTo>
                  <a:lnTo>
                    <a:pt x="5573" y="142323"/>
                  </a:lnTo>
                  <a:lnTo>
                    <a:pt x="21448" y="103454"/>
                  </a:lnTo>
                  <a:lnTo>
                    <a:pt x="46359" y="69166"/>
                  </a:lnTo>
                  <a:lnTo>
                    <a:pt x="79038" y="40569"/>
                  </a:lnTo>
                  <a:lnTo>
                    <a:pt x="118220" y="18769"/>
                  </a:lnTo>
                  <a:lnTo>
                    <a:pt x="162636" y="4877"/>
                  </a:lnTo>
                  <a:lnTo>
                    <a:pt x="211022" y="0"/>
                  </a:lnTo>
                  <a:lnTo>
                    <a:pt x="259408" y="4877"/>
                  </a:lnTo>
                  <a:lnTo>
                    <a:pt x="303824" y="18769"/>
                  </a:lnTo>
                  <a:lnTo>
                    <a:pt x="343006" y="40569"/>
                  </a:lnTo>
                  <a:lnTo>
                    <a:pt x="375685" y="69166"/>
                  </a:lnTo>
                  <a:lnTo>
                    <a:pt x="400596" y="103454"/>
                  </a:lnTo>
                  <a:lnTo>
                    <a:pt x="416471" y="142323"/>
                  </a:lnTo>
                  <a:lnTo>
                    <a:pt x="422045" y="184666"/>
                  </a:lnTo>
                  <a:lnTo>
                    <a:pt x="416471" y="227008"/>
                  </a:lnTo>
                  <a:lnTo>
                    <a:pt x="400596" y="265877"/>
                  </a:lnTo>
                  <a:lnTo>
                    <a:pt x="375685" y="300165"/>
                  </a:lnTo>
                  <a:lnTo>
                    <a:pt x="343006" y="328762"/>
                  </a:lnTo>
                  <a:lnTo>
                    <a:pt x="303824" y="350562"/>
                  </a:lnTo>
                  <a:lnTo>
                    <a:pt x="259408" y="364454"/>
                  </a:lnTo>
                  <a:lnTo>
                    <a:pt x="211022" y="369332"/>
                  </a:lnTo>
                  <a:lnTo>
                    <a:pt x="162636" y="364454"/>
                  </a:lnTo>
                  <a:lnTo>
                    <a:pt x="118220" y="350562"/>
                  </a:lnTo>
                  <a:lnTo>
                    <a:pt x="79038" y="328762"/>
                  </a:lnTo>
                  <a:lnTo>
                    <a:pt x="46359" y="300165"/>
                  </a:lnTo>
                  <a:lnTo>
                    <a:pt x="21448" y="265877"/>
                  </a:lnTo>
                  <a:lnTo>
                    <a:pt x="5573" y="227008"/>
                  </a:lnTo>
                  <a:lnTo>
                    <a:pt x="0" y="184666"/>
                  </a:lnTo>
                  <a:close/>
                </a:path>
              </a:pathLst>
            </a:custGeom>
            <a:ln w="12700">
              <a:solidFill>
                <a:srgbClr val="FF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57" name="object 27">
            <a:extLst>
              <a:ext uri="{FF2B5EF4-FFF2-40B4-BE49-F238E27FC236}">
                <a16:creationId xmlns:a16="http://schemas.microsoft.com/office/drawing/2014/main" id="{CEBBCE68-7A21-8817-B42E-6A82CC987B0B}"/>
              </a:ext>
            </a:extLst>
          </p:cNvPr>
          <p:cNvSpPr txBox="1"/>
          <p:nvPr/>
        </p:nvSpPr>
        <p:spPr>
          <a:xfrm>
            <a:off x="979796" y="5324347"/>
            <a:ext cx="2616200" cy="565150"/>
          </a:xfrm>
          <a:prstGeom prst="rect">
            <a:avLst/>
          </a:prstGeom>
        </p:spPr>
        <p:txBody>
          <a:bodyPr vert="horz" wrap="square" lIns="0" tIns="28575" rIns="0" bIns="0" rtlCol="0">
            <a:spAutoFit/>
          </a:bodyPr>
          <a:lstStyle/>
          <a:p>
            <a:pPr marL="12700" marR="5080">
              <a:lnSpc>
                <a:spcPts val="2090"/>
              </a:lnSpc>
              <a:spcBef>
                <a:spcPts val="225"/>
              </a:spcBef>
            </a:pPr>
            <a:r>
              <a:rPr dirty="0">
                <a:solidFill>
                  <a:srgbClr val="FF0000"/>
                </a:solidFill>
                <a:latin typeface="Palatino Linotype"/>
                <a:cs typeface="Palatino Linotype"/>
              </a:rPr>
              <a:t>Are</a:t>
            </a:r>
            <a:r>
              <a:rPr spc="-25" dirty="0">
                <a:solidFill>
                  <a:srgbClr val="FF0000"/>
                </a:solidFill>
                <a:latin typeface="Palatino Linotype"/>
                <a:cs typeface="Palatino Linotype"/>
              </a:rPr>
              <a:t> </a:t>
            </a:r>
            <a:r>
              <a:rPr dirty="0">
                <a:solidFill>
                  <a:srgbClr val="FF0000"/>
                </a:solidFill>
                <a:latin typeface="Palatino Linotype"/>
                <a:cs typeface="Palatino Linotype"/>
              </a:rPr>
              <a:t>the</a:t>
            </a:r>
            <a:r>
              <a:rPr spc="-20" dirty="0">
                <a:solidFill>
                  <a:srgbClr val="FF0000"/>
                </a:solidFill>
                <a:latin typeface="Palatino Linotype"/>
                <a:cs typeface="Palatino Linotype"/>
              </a:rPr>
              <a:t> </a:t>
            </a:r>
            <a:r>
              <a:rPr dirty="0">
                <a:solidFill>
                  <a:srgbClr val="FF0000"/>
                </a:solidFill>
                <a:latin typeface="Palatino Linotype"/>
                <a:cs typeface="Palatino Linotype"/>
              </a:rPr>
              <a:t>two</a:t>
            </a:r>
            <a:r>
              <a:rPr spc="-20" dirty="0">
                <a:solidFill>
                  <a:srgbClr val="FF0000"/>
                </a:solidFill>
                <a:latin typeface="Palatino Linotype"/>
                <a:cs typeface="Palatino Linotype"/>
              </a:rPr>
              <a:t> </a:t>
            </a:r>
            <a:r>
              <a:rPr dirty="0">
                <a:solidFill>
                  <a:srgbClr val="0432FF"/>
                </a:solidFill>
                <a:latin typeface="Palatino Linotype"/>
                <a:cs typeface="Palatino Linotype"/>
              </a:rPr>
              <a:t>b</a:t>
            </a:r>
            <a:r>
              <a:rPr spc="-25" dirty="0">
                <a:solidFill>
                  <a:srgbClr val="0432FF"/>
                </a:solidFill>
                <a:latin typeface="Palatino Linotype"/>
                <a:cs typeface="Palatino Linotype"/>
              </a:rPr>
              <a:t> </a:t>
            </a:r>
            <a:r>
              <a:rPr dirty="0">
                <a:solidFill>
                  <a:srgbClr val="0432FF"/>
                </a:solidFill>
                <a:latin typeface="Palatino Linotype"/>
                <a:cs typeface="Palatino Linotype"/>
              </a:rPr>
              <a:t>+</a:t>
            </a:r>
            <a:r>
              <a:rPr spc="-20" dirty="0">
                <a:solidFill>
                  <a:srgbClr val="0432FF"/>
                </a:solidFill>
                <a:latin typeface="Palatino Linotype"/>
                <a:cs typeface="Palatino Linotype"/>
              </a:rPr>
              <a:t> </a:t>
            </a:r>
            <a:r>
              <a:rPr spc="-50" dirty="0">
                <a:solidFill>
                  <a:srgbClr val="0432FF"/>
                </a:solidFill>
                <a:latin typeface="Palatino Linotype"/>
                <a:cs typeface="Palatino Linotype"/>
              </a:rPr>
              <a:t>c </a:t>
            </a:r>
            <a:r>
              <a:rPr dirty="0">
                <a:solidFill>
                  <a:srgbClr val="FF0000"/>
                </a:solidFill>
                <a:latin typeface="Palatino Linotype"/>
                <a:cs typeface="Palatino Linotype"/>
              </a:rPr>
              <a:t>common</a:t>
            </a:r>
            <a:r>
              <a:rPr spc="-50" dirty="0">
                <a:solidFill>
                  <a:srgbClr val="FF0000"/>
                </a:solidFill>
                <a:latin typeface="Palatino Linotype"/>
                <a:cs typeface="Palatino Linotype"/>
              </a:rPr>
              <a:t> </a:t>
            </a:r>
            <a:r>
              <a:rPr spc="-10" dirty="0">
                <a:solidFill>
                  <a:srgbClr val="FF0000"/>
                </a:solidFill>
                <a:latin typeface="Palatino Linotype"/>
                <a:cs typeface="Palatino Linotype"/>
              </a:rPr>
              <a:t>subexpressions?</a:t>
            </a:r>
            <a:endParaRPr>
              <a:solidFill>
                <a:sysClr val="windowText" lastClr="000000"/>
              </a:solidFill>
              <a:latin typeface="Palatino Linotype"/>
              <a:cs typeface="Palatino Linotype"/>
            </a:endParaRPr>
          </a:p>
        </p:txBody>
      </p:sp>
      <p:pic>
        <p:nvPicPr>
          <p:cNvPr id="58" name="object 28">
            <a:extLst>
              <a:ext uri="{FF2B5EF4-FFF2-40B4-BE49-F238E27FC236}">
                <a16:creationId xmlns:a16="http://schemas.microsoft.com/office/drawing/2014/main" id="{2524786D-EC0A-A300-7E9D-067AB4BA8F4B}"/>
              </a:ext>
            </a:extLst>
          </p:cNvPr>
          <p:cNvPicPr/>
          <p:nvPr/>
        </p:nvPicPr>
        <p:blipFill>
          <a:blip r:embed="rId4" cstate="print"/>
          <a:stretch>
            <a:fillRect/>
          </a:stretch>
        </p:blipFill>
        <p:spPr>
          <a:xfrm>
            <a:off x="3378757" y="4920552"/>
            <a:ext cx="697000" cy="697001"/>
          </a:xfrm>
          <a:prstGeom prst="rect">
            <a:avLst/>
          </a:prstGeom>
        </p:spPr>
      </p:pic>
    </p:spTree>
    <p:extLst>
      <p:ext uri="{BB962C8B-B14F-4D97-AF65-F5344CB8AC3E}">
        <p14:creationId xmlns:p14="http://schemas.microsoft.com/office/powerpoint/2010/main" val="147662704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55</a:t>
            </a:fld>
            <a:endParaRPr lang="en-US"/>
          </a:p>
        </p:txBody>
      </p:sp>
      <p:sp>
        <p:nvSpPr>
          <p:cNvPr id="26" name="object 2">
            <a:extLst>
              <a:ext uri="{FF2B5EF4-FFF2-40B4-BE49-F238E27FC236}">
                <a16:creationId xmlns:a16="http://schemas.microsoft.com/office/drawing/2014/main" id="{7FA034C6-1A54-8617-C773-369DEA4F8E09}"/>
              </a:ext>
            </a:extLst>
          </p:cNvPr>
          <p:cNvSpPr txBox="1">
            <a:spLocks/>
          </p:cNvSpPr>
          <p:nvPr/>
        </p:nvSpPr>
        <p:spPr>
          <a:xfrm>
            <a:off x="615950" y="560832"/>
            <a:ext cx="7912734" cy="55880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3500" b="1" i="0" u="none" strike="noStrike" kern="0" cap="none" spc="0" normalizeH="0" baseline="0" noProof="0">
                <a:ln>
                  <a:noFill/>
                </a:ln>
                <a:solidFill>
                  <a:sysClr val="windowText" lastClr="000000"/>
                </a:solidFill>
                <a:effectLst/>
                <a:uLnTx/>
                <a:uFillTx/>
                <a:latin typeface="Palatino Linotype"/>
                <a:ea typeface="+mj-ea"/>
              </a:rPr>
              <a:t>Finding</a:t>
            </a:r>
            <a:r>
              <a:rPr kumimoji="0" lang="en-US" sz="3500" b="1" i="0" u="none" strike="noStrike" kern="0" cap="none" spc="-65" normalizeH="0" baseline="0" noProof="0">
                <a:ln>
                  <a:noFill/>
                </a:ln>
                <a:solidFill>
                  <a:sysClr val="windowText" lastClr="000000"/>
                </a:solidFill>
                <a:effectLst/>
                <a:uLnTx/>
                <a:uFillTx/>
                <a:latin typeface="Palatino Linotype"/>
                <a:ea typeface="+mj-ea"/>
              </a:rPr>
              <a:t> </a:t>
            </a:r>
            <a:r>
              <a:rPr kumimoji="0" lang="en-US" sz="3500" b="1" i="0" u="none" strike="noStrike" kern="0" cap="none" spc="0" normalizeH="0" baseline="0" noProof="0">
                <a:ln>
                  <a:noFill/>
                </a:ln>
                <a:solidFill>
                  <a:sysClr val="windowText" lastClr="000000"/>
                </a:solidFill>
                <a:effectLst/>
                <a:uLnTx/>
                <a:uFillTx/>
                <a:latin typeface="Palatino Linotype"/>
                <a:ea typeface="+mj-ea"/>
              </a:rPr>
              <a:t>Local</a:t>
            </a:r>
            <a:r>
              <a:rPr kumimoji="0" lang="en-US" sz="3500" b="1" i="0" u="none" strike="noStrike" kern="0" cap="none" spc="-70" normalizeH="0" baseline="0" noProof="0">
                <a:ln>
                  <a:noFill/>
                </a:ln>
                <a:solidFill>
                  <a:sysClr val="windowText" lastClr="000000"/>
                </a:solidFill>
                <a:effectLst/>
                <a:uLnTx/>
                <a:uFillTx/>
                <a:latin typeface="Palatino Linotype"/>
                <a:ea typeface="+mj-ea"/>
              </a:rPr>
              <a:t> </a:t>
            </a:r>
            <a:r>
              <a:rPr kumimoji="0" lang="en-US" sz="3500" b="1" i="0" u="none" strike="noStrike" kern="0" cap="none" spc="0" normalizeH="0" baseline="0" noProof="0">
                <a:ln>
                  <a:noFill/>
                </a:ln>
                <a:solidFill>
                  <a:sysClr val="windowText" lastClr="000000"/>
                </a:solidFill>
                <a:effectLst/>
                <a:uLnTx/>
                <a:uFillTx/>
                <a:latin typeface="Palatino Linotype"/>
                <a:ea typeface="+mj-ea"/>
              </a:rPr>
              <a:t>Common</a:t>
            </a:r>
            <a:r>
              <a:rPr kumimoji="0" lang="en-US" sz="3500" b="1" i="0" u="none" strike="noStrike" kern="0" cap="none" spc="-75" normalizeH="0" baseline="0" noProof="0">
                <a:ln>
                  <a:noFill/>
                </a:ln>
                <a:solidFill>
                  <a:sysClr val="windowText" lastClr="000000"/>
                </a:solidFill>
                <a:effectLst/>
                <a:uLnTx/>
                <a:uFillTx/>
                <a:latin typeface="Palatino Linotype"/>
                <a:ea typeface="+mj-ea"/>
              </a:rPr>
              <a:t> </a:t>
            </a:r>
            <a:r>
              <a:rPr kumimoji="0" lang="en-US" sz="3500" b="1" i="0" u="none" strike="noStrike" kern="0" cap="none" spc="-10" normalizeH="0" baseline="0" noProof="0">
                <a:ln>
                  <a:noFill/>
                </a:ln>
                <a:solidFill>
                  <a:sysClr val="windowText" lastClr="000000"/>
                </a:solidFill>
                <a:effectLst/>
                <a:uLnTx/>
                <a:uFillTx/>
                <a:latin typeface="Palatino Linotype"/>
                <a:ea typeface="+mj-ea"/>
              </a:rPr>
              <a:t>Subexpression</a:t>
            </a:r>
            <a:endParaRPr kumimoji="0" lang="en-US" sz="3500" b="1" i="0" u="none" strike="noStrike" kern="0" cap="none" spc="0" normalizeH="0" baseline="0" noProof="0">
              <a:ln>
                <a:noFill/>
              </a:ln>
              <a:solidFill>
                <a:sysClr val="windowText" lastClr="000000"/>
              </a:solidFill>
              <a:effectLst/>
              <a:uLnTx/>
              <a:uFillTx/>
              <a:latin typeface="Palatino Linotype"/>
              <a:ea typeface="+mj-ea"/>
            </a:endParaRPr>
          </a:p>
        </p:txBody>
      </p:sp>
      <p:pic>
        <p:nvPicPr>
          <p:cNvPr id="27" name="object 3">
            <a:extLst>
              <a:ext uri="{FF2B5EF4-FFF2-40B4-BE49-F238E27FC236}">
                <a16:creationId xmlns:a16="http://schemas.microsoft.com/office/drawing/2014/main" id="{22184343-5642-A371-07B1-92BD249707C5}"/>
              </a:ext>
            </a:extLst>
          </p:cNvPr>
          <p:cNvPicPr/>
          <p:nvPr/>
        </p:nvPicPr>
        <p:blipFill>
          <a:blip r:embed="rId3" cstate="print"/>
          <a:stretch>
            <a:fillRect/>
          </a:stretch>
        </p:blipFill>
        <p:spPr>
          <a:xfrm>
            <a:off x="2087879" y="3621023"/>
            <a:ext cx="838200" cy="1094232"/>
          </a:xfrm>
          <a:prstGeom prst="rect">
            <a:avLst/>
          </a:prstGeom>
        </p:spPr>
      </p:pic>
      <p:sp>
        <p:nvSpPr>
          <p:cNvPr id="28" name="object 4">
            <a:extLst>
              <a:ext uri="{FF2B5EF4-FFF2-40B4-BE49-F238E27FC236}">
                <a16:creationId xmlns:a16="http://schemas.microsoft.com/office/drawing/2014/main" id="{5481B391-9EDA-B8D2-64A8-F721D10DC93C}"/>
              </a:ext>
            </a:extLst>
          </p:cNvPr>
          <p:cNvSpPr/>
          <p:nvPr/>
        </p:nvSpPr>
        <p:spPr>
          <a:xfrm>
            <a:off x="5015344" y="4763055"/>
            <a:ext cx="260985" cy="260985"/>
          </a:xfrm>
          <a:custGeom>
            <a:avLst/>
            <a:gdLst/>
            <a:ahLst/>
            <a:cxnLst/>
            <a:rect l="l" t="t" r="r" b="b"/>
            <a:pathLst>
              <a:path w="260985" h="260985">
                <a:moveTo>
                  <a:pt x="0" y="130263"/>
                </a:moveTo>
                <a:lnTo>
                  <a:pt x="10236" y="79558"/>
                </a:lnTo>
                <a:lnTo>
                  <a:pt x="38153" y="38153"/>
                </a:lnTo>
                <a:lnTo>
                  <a:pt x="79558" y="10236"/>
                </a:lnTo>
                <a:lnTo>
                  <a:pt x="130263" y="0"/>
                </a:lnTo>
                <a:lnTo>
                  <a:pt x="180967" y="10236"/>
                </a:lnTo>
                <a:lnTo>
                  <a:pt x="222372" y="38153"/>
                </a:lnTo>
                <a:lnTo>
                  <a:pt x="250289" y="79558"/>
                </a:lnTo>
                <a:lnTo>
                  <a:pt x="260526" y="130263"/>
                </a:lnTo>
                <a:lnTo>
                  <a:pt x="250289" y="180967"/>
                </a:lnTo>
                <a:lnTo>
                  <a:pt x="222372" y="222372"/>
                </a:lnTo>
                <a:lnTo>
                  <a:pt x="180967" y="250289"/>
                </a:lnTo>
                <a:lnTo>
                  <a:pt x="130263" y="260526"/>
                </a:lnTo>
                <a:lnTo>
                  <a:pt x="79558" y="250289"/>
                </a:lnTo>
                <a:lnTo>
                  <a:pt x="38153" y="222372"/>
                </a:lnTo>
                <a:lnTo>
                  <a:pt x="10236" y="180967"/>
                </a:lnTo>
                <a:lnTo>
                  <a:pt x="0" y="130263"/>
                </a:lnTo>
                <a:close/>
              </a:path>
            </a:pathLst>
          </a:custGeom>
          <a:ln w="12700">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9" name="object 5">
            <a:extLst>
              <a:ext uri="{FF2B5EF4-FFF2-40B4-BE49-F238E27FC236}">
                <a16:creationId xmlns:a16="http://schemas.microsoft.com/office/drawing/2014/main" id="{B4D343FC-6780-6503-4CB4-95C891C4D449}"/>
              </a:ext>
            </a:extLst>
          </p:cNvPr>
          <p:cNvSpPr txBox="1"/>
          <p:nvPr/>
        </p:nvSpPr>
        <p:spPr>
          <a:xfrm>
            <a:off x="4679205" y="5360923"/>
            <a:ext cx="297180" cy="299720"/>
          </a:xfrm>
          <a:prstGeom prst="rect">
            <a:avLst/>
          </a:prstGeom>
        </p:spPr>
        <p:txBody>
          <a:bodyPr vert="horz" wrap="square" lIns="0" tIns="12700" rIns="0" bIns="0" rtlCol="0">
            <a:spAutoFit/>
          </a:bodyPr>
          <a:lstStyle/>
          <a:p>
            <a:pPr marL="38100">
              <a:spcBef>
                <a:spcPts val="100"/>
              </a:spcBef>
            </a:pPr>
            <a:r>
              <a:rPr spc="-25" dirty="0">
                <a:solidFill>
                  <a:sysClr val="windowText" lastClr="000000"/>
                </a:solidFill>
                <a:latin typeface="Cambria Math"/>
                <a:cs typeface="Cambria Math"/>
              </a:rPr>
              <a:t>b</a:t>
            </a:r>
            <a:r>
              <a:rPr sz="1950" spc="-37" baseline="-14957" dirty="0">
                <a:solidFill>
                  <a:sysClr val="windowText" lastClr="000000"/>
                </a:solidFill>
                <a:latin typeface="Cambria Math"/>
                <a:cs typeface="Cambria Math"/>
              </a:rPr>
              <a:t>0</a:t>
            </a:r>
            <a:endParaRPr sz="1950" baseline="-14957">
              <a:solidFill>
                <a:sysClr val="windowText" lastClr="000000"/>
              </a:solidFill>
              <a:latin typeface="Cambria Math"/>
              <a:cs typeface="Cambria Math"/>
            </a:endParaRPr>
          </a:p>
        </p:txBody>
      </p:sp>
      <p:sp>
        <p:nvSpPr>
          <p:cNvPr id="30" name="object 6">
            <a:extLst>
              <a:ext uri="{FF2B5EF4-FFF2-40B4-BE49-F238E27FC236}">
                <a16:creationId xmlns:a16="http://schemas.microsoft.com/office/drawing/2014/main" id="{A8D9E642-E463-9CDF-F146-0D4698C97809}"/>
              </a:ext>
            </a:extLst>
          </p:cNvPr>
          <p:cNvSpPr txBox="1"/>
          <p:nvPr/>
        </p:nvSpPr>
        <p:spPr>
          <a:xfrm>
            <a:off x="5313448" y="5354828"/>
            <a:ext cx="944880" cy="299720"/>
          </a:xfrm>
          <a:prstGeom prst="rect">
            <a:avLst/>
          </a:prstGeom>
        </p:spPr>
        <p:txBody>
          <a:bodyPr vert="horz" wrap="square" lIns="0" tIns="12700" rIns="0" bIns="0" rtlCol="0">
            <a:spAutoFit/>
          </a:bodyPr>
          <a:lstStyle/>
          <a:p>
            <a:pPr marL="50800">
              <a:spcBef>
                <a:spcPts val="100"/>
              </a:spcBef>
              <a:tabLst>
                <a:tab pos="671195" algn="l"/>
              </a:tabLst>
            </a:pPr>
            <a:r>
              <a:rPr spc="-25" dirty="0">
                <a:solidFill>
                  <a:sysClr val="windowText" lastClr="000000"/>
                </a:solidFill>
                <a:latin typeface="Cambria Math"/>
                <a:cs typeface="Cambria Math"/>
              </a:rPr>
              <a:t>c</a:t>
            </a:r>
            <a:r>
              <a:rPr sz="1950" spc="-37" baseline="-17094" dirty="0">
                <a:solidFill>
                  <a:sysClr val="windowText" lastClr="000000"/>
                </a:solidFill>
                <a:latin typeface="Cambria Math"/>
                <a:cs typeface="Cambria Math"/>
              </a:rPr>
              <a:t>0</a:t>
            </a:r>
            <a:r>
              <a:rPr sz="1950" baseline="-17094" dirty="0">
                <a:solidFill>
                  <a:sysClr val="windowText" lastClr="000000"/>
                </a:solidFill>
                <a:latin typeface="Cambria Math"/>
                <a:cs typeface="Cambria Math"/>
              </a:rPr>
              <a:t>	</a:t>
            </a:r>
            <a:r>
              <a:rPr spc="-25" dirty="0">
                <a:solidFill>
                  <a:sysClr val="windowText" lastClr="000000"/>
                </a:solidFill>
                <a:latin typeface="Cambria Math"/>
                <a:cs typeface="Cambria Math"/>
              </a:rPr>
              <a:t>d</a:t>
            </a:r>
            <a:r>
              <a:rPr sz="1950" spc="-37" baseline="-17094" dirty="0">
                <a:solidFill>
                  <a:sysClr val="windowText" lastClr="000000"/>
                </a:solidFill>
                <a:latin typeface="Cambria Math"/>
                <a:cs typeface="Cambria Math"/>
              </a:rPr>
              <a:t>0</a:t>
            </a:r>
            <a:endParaRPr sz="1950" baseline="-17094">
              <a:solidFill>
                <a:sysClr val="windowText" lastClr="000000"/>
              </a:solidFill>
              <a:latin typeface="Cambria Math"/>
              <a:cs typeface="Cambria Math"/>
            </a:endParaRPr>
          </a:p>
        </p:txBody>
      </p:sp>
      <p:grpSp>
        <p:nvGrpSpPr>
          <p:cNvPr id="31" name="object 7">
            <a:extLst>
              <a:ext uri="{FF2B5EF4-FFF2-40B4-BE49-F238E27FC236}">
                <a16:creationId xmlns:a16="http://schemas.microsoft.com/office/drawing/2014/main" id="{641FF515-4B10-2CF7-89EF-032205869AE7}"/>
              </a:ext>
            </a:extLst>
          </p:cNvPr>
          <p:cNvGrpSpPr/>
          <p:nvPr/>
        </p:nvGrpSpPr>
        <p:grpSpPr>
          <a:xfrm>
            <a:off x="4827405" y="3235213"/>
            <a:ext cx="2045335" cy="2694305"/>
            <a:chOff x="4827405" y="3235213"/>
            <a:chExt cx="2045335" cy="2694305"/>
          </a:xfrm>
        </p:grpSpPr>
        <p:sp>
          <p:nvSpPr>
            <p:cNvPr id="32" name="object 8">
              <a:extLst>
                <a:ext uri="{FF2B5EF4-FFF2-40B4-BE49-F238E27FC236}">
                  <a16:creationId xmlns:a16="http://schemas.microsoft.com/office/drawing/2014/main" id="{5F8A6B3C-A180-2919-0CFB-8BD6181BE13A}"/>
                </a:ext>
              </a:extLst>
            </p:cNvPr>
            <p:cNvSpPr/>
            <p:nvPr/>
          </p:nvSpPr>
          <p:spPr>
            <a:xfrm>
              <a:off x="4833755" y="4985428"/>
              <a:ext cx="220345" cy="400685"/>
            </a:xfrm>
            <a:custGeom>
              <a:avLst/>
              <a:gdLst/>
              <a:ahLst/>
              <a:cxnLst/>
              <a:rect l="l" t="t" r="r" b="b"/>
              <a:pathLst>
                <a:path w="220345" h="400685">
                  <a:moveTo>
                    <a:pt x="219742" y="0"/>
                  </a:moveTo>
                  <a:lnTo>
                    <a:pt x="0" y="400185"/>
                  </a:lnTo>
                </a:path>
              </a:pathLst>
            </a:custGeom>
            <a:ln w="12700">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33" name="object 9">
              <a:extLst>
                <a:ext uri="{FF2B5EF4-FFF2-40B4-BE49-F238E27FC236}">
                  <a16:creationId xmlns:a16="http://schemas.microsoft.com/office/drawing/2014/main" id="{E0DD18E5-0B36-29A9-7735-E85E026844EF}"/>
                </a:ext>
              </a:extLst>
            </p:cNvPr>
            <p:cNvSpPr/>
            <p:nvPr/>
          </p:nvSpPr>
          <p:spPr>
            <a:xfrm>
              <a:off x="5237717" y="4985428"/>
              <a:ext cx="230504" cy="396240"/>
            </a:xfrm>
            <a:custGeom>
              <a:avLst/>
              <a:gdLst/>
              <a:ahLst/>
              <a:cxnLst/>
              <a:rect l="l" t="t" r="r" b="b"/>
              <a:pathLst>
                <a:path w="230504" h="396239">
                  <a:moveTo>
                    <a:pt x="0" y="0"/>
                  </a:moveTo>
                  <a:lnTo>
                    <a:pt x="230157" y="395642"/>
                  </a:lnTo>
                </a:path>
              </a:pathLst>
            </a:custGeom>
            <a:ln w="12700">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34" name="object 10">
              <a:extLst>
                <a:ext uri="{FF2B5EF4-FFF2-40B4-BE49-F238E27FC236}">
                  <a16:creationId xmlns:a16="http://schemas.microsoft.com/office/drawing/2014/main" id="{979F9971-371D-0404-DF44-0D6FF901397A}"/>
                </a:ext>
              </a:extLst>
            </p:cNvPr>
            <p:cNvSpPr/>
            <p:nvPr/>
          </p:nvSpPr>
          <p:spPr>
            <a:xfrm>
              <a:off x="5704087" y="4049500"/>
              <a:ext cx="260985" cy="260985"/>
            </a:xfrm>
            <a:custGeom>
              <a:avLst/>
              <a:gdLst/>
              <a:ahLst/>
              <a:cxnLst/>
              <a:rect l="l" t="t" r="r" b="b"/>
              <a:pathLst>
                <a:path w="260985" h="260985">
                  <a:moveTo>
                    <a:pt x="0" y="130263"/>
                  </a:moveTo>
                  <a:lnTo>
                    <a:pt x="10236" y="79558"/>
                  </a:lnTo>
                  <a:lnTo>
                    <a:pt x="38153" y="38153"/>
                  </a:lnTo>
                  <a:lnTo>
                    <a:pt x="79558" y="10236"/>
                  </a:lnTo>
                  <a:lnTo>
                    <a:pt x="130263" y="0"/>
                  </a:lnTo>
                  <a:lnTo>
                    <a:pt x="180967" y="10236"/>
                  </a:lnTo>
                  <a:lnTo>
                    <a:pt x="222372" y="38153"/>
                  </a:lnTo>
                  <a:lnTo>
                    <a:pt x="250289" y="79558"/>
                  </a:lnTo>
                  <a:lnTo>
                    <a:pt x="260526" y="130263"/>
                  </a:lnTo>
                  <a:lnTo>
                    <a:pt x="250289" y="180967"/>
                  </a:lnTo>
                  <a:lnTo>
                    <a:pt x="222372" y="222372"/>
                  </a:lnTo>
                  <a:lnTo>
                    <a:pt x="180967" y="250289"/>
                  </a:lnTo>
                  <a:lnTo>
                    <a:pt x="130263" y="260526"/>
                  </a:lnTo>
                  <a:lnTo>
                    <a:pt x="79558" y="250289"/>
                  </a:lnTo>
                  <a:lnTo>
                    <a:pt x="38153" y="222372"/>
                  </a:lnTo>
                  <a:lnTo>
                    <a:pt x="10236" y="180967"/>
                  </a:lnTo>
                  <a:lnTo>
                    <a:pt x="0" y="130263"/>
                  </a:lnTo>
                  <a:close/>
                </a:path>
              </a:pathLst>
            </a:custGeom>
            <a:ln w="12700">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35" name="object 11">
              <a:extLst>
                <a:ext uri="{FF2B5EF4-FFF2-40B4-BE49-F238E27FC236}">
                  <a16:creationId xmlns:a16="http://schemas.microsoft.com/office/drawing/2014/main" id="{D84F6E86-EACA-8505-B25F-1F41C490C493}"/>
                </a:ext>
              </a:extLst>
            </p:cNvPr>
            <p:cNvSpPr/>
            <p:nvPr/>
          </p:nvSpPr>
          <p:spPr>
            <a:xfrm>
              <a:off x="5926460" y="4271873"/>
              <a:ext cx="175895" cy="1109345"/>
            </a:xfrm>
            <a:custGeom>
              <a:avLst/>
              <a:gdLst/>
              <a:ahLst/>
              <a:cxnLst/>
              <a:rect l="l" t="t" r="r" b="b"/>
              <a:pathLst>
                <a:path w="175895" h="1109345">
                  <a:moveTo>
                    <a:pt x="0" y="0"/>
                  </a:moveTo>
                  <a:lnTo>
                    <a:pt x="175534" y="1109195"/>
                  </a:lnTo>
                </a:path>
              </a:pathLst>
            </a:custGeom>
            <a:ln w="12700">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36" name="object 12">
              <a:extLst>
                <a:ext uri="{FF2B5EF4-FFF2-40B4-BE49-F238E27FC236}">
                  <a16:creationId xmlns:a16="http://schemas.microsoft.com/office/drawing/2014/main" id="{9FE8E687-1017-BA89-BBC4-F3455BA2072E}"/>
                </a:ext>
              </a:extLst>
            </p:cNvPr>
            <p:cNvSpPr/>
            <p:nvPr/>
          </p:nvSpPr>
          <p:spPr>
            <a:xfrm>
              <a:off x="5145608" y="4271873"/>
              <a:ext cx="596900" cy="491490"/>
            </a:xfrm>
            <a:custGeom>
              <a:avLst/>
              <a:gdLst/>
              <a:ahLst/>
              <a:cxnLst/>
              <a:rect l="l" t="t" r="r" b="b"/>
              <a:pathLst>
                <a:path w="596900" h="491489">
                  <a:moveTo>
                    <a:pt x="0" y="491181"/>
                  </a:moveTo>
                  <a:lnTo>
                    <a:pt x="596632" y="0"/>
                  </a:lnTo>
                </a:path>
              </a:pathLst>
            </a:custGeom>
            <a:ln w="12700">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37" name="object 13">
              <a:extLst>
                <a:ext uri="{FF2B5EF4-FFF2-40B4-BE49-F238E27FC236}">
                  <a16:creationId xmlns:a16="http://schemas.microsoft.com/office/drawing/2014/main" id="{E0E2D1A9-7538-05AF-1013-266040590AC9}"/>
                </a:ext>
              </a:extLst>
            </p:cNvPr>
            <p:cNvSpPr/>
            <p:nvPr/>
          </p:nvSpPr>
          <p:spPr>
            <a:xfrm>
              <a:off x="6126132" y="3241563"/>
              <a:ext cx="260985" cy="260985"/>
            </a:xfrm>
            <a:custGeom>
              <a:avLst/>
              <a:gdLst/>
              <a:ahLst/>
              <a:cxnLst/>
              <a:rect l="l" t="t" r="r" b="b"/>
              <a:pathLst>
                <a:path w="260985" h="260985">
                  <a:moveTo>
                    <a:pt x="0" y="130263"/>
                  </a:moveTo>
                  <a:lnTo>
                    <a:pt x="10236" y="79558"/>
                  </a:lnTo>
                  <a:lnTo>
                    <a:pt x="38153" y="38153"/>
                  </a:lnTo>
                  <a:lnTo>
                    <a:pt x="79558" y="10236"/>
                  </a:lnTo>
                  <a:lnTo>
                    <a:pt x="130263" y="0"/>
                  </a:lnTo>
                  <a:lnTo>
                    <a:pt x="180967" y="10236"/>
                  </a:lnTo>
                  <a:lnTo>
                    <a:pt x="222372" y="38153"/>
                  </a:lnTo>
                  <a:lnTo>
                    <a:pt x="250289" y="79558"/>
                  </a:lnTo>
                  <a:lnTo>
                    <a:pt x="260526" y="130263"/>
                  </a:lnTo>
                  <a:lnTo>
                    <a:pt x="250289" y="180967"/>
                  </a:lnTo>
                  <a:lnTo>
                    <a:pt x="222372" y="222372"/>
                  </a:lnTo>
                  <a:lnTo>
                    <a:pt x="180967" y="250289"/>
                  </a:lnTo>
                  <a:lnTo>
                    <a:pt x="130263" y="260526"/>
                  </a:lnTo>
                  <a:lnTo>
                    <a:pt x="79558" y="250289"/>
                  </a:lnTo>
                  <a:lnTo>
                    <a:pt x="38153" y="222372"/>
                  </a:lnTo>
                  <a:lnTo>
                    <a:pt x="10236" y="180967"/>
                  </a:lnTo>
                  <a:lnTo>
                    <a:pt x="0" y="130263"/>
                  </a:lnTo>
                  <a:close/>
                </a:path>
              </a:pathLst>
            </a:custGeom>
            <a:ln w="12700">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38" name="object 14">
              <a:extLst>
                <a:ext uri="{FF2B5EF4-FFF2-40B4-BE49-F238E27FC236}">
                  <a16:creationId xmlns:a16="http://schemas.microsoft.com/office/drawing/2014/main" id="{E25FDB7A-24F6-ABFB-F73D-6B57D4B0485C}"/>
                </a:ext>
              </a:extLst>
            </p:cNvPr>
            <p:cNvSpPr/>
            <p:nvPr/>
          </p:nvSpPr>
          <p:spPr>
            <a:xfrm>
              <a:off x="5834349" y="3463935"/>
              <a:ext cx="330200" cy="586105"/>
            </a:xfrm>
            <a:custGeom>
              <a:avLst/>
              <a:gdLst/>
              <a:ahLst/>
              <a:cxnLst/>
              <a:rect l="l" t="t" r="r" b="b"/>
              <a:pathLst>
                <a:path w="330200" h="586104">
                  <a:moveTo>
                    <a:pt x="0" y="585565"/>
                  </a:moveTo>
                  <a:lnTo>
                    <a:pt x="329935" y="0"/>
                  </a:lnTo>
                </a:path>
              </a:pathLst>
            </a:custGeom>
            <a:ln w="12700">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39" name="object 15">
              <a:extLst>
                <a:ext uri="{FF2B5EF4-FFF2-40B4-BE49-F238E27FC236}">
                  <a16:creationId xmlns:a16="http://schemas.microsoft.com/office/drawing/2014/main" id="{7A614133-B812-B6B4-D8A2-D704F5CD88EB}"/>
                </a:ext>
              </a:extLst>
            </p:cNvPr>
            <p:cNvSpPr/>
            <p:nvPr/>
          </p:nvSpPr>
          <p:spPr>
            <a:xfrm>
              <a:off x="5556980" y="3469740"/>
              <a:ext cx="1309370" cy="2453640"/>
            </a:xfrm>
            <a:custGeom>
              <a:avLst/>
              <a:gdLst/>
              <a:ahLst/>
              <a:cxnLst/>
              <a:rect l="l" t="t" r="r" b="b"/>
              <a:pathLst>
                <a:path w="1309370" h="2453640">
                  <a:moveTo>
                    <a:pt x="793288" y="0"/>
                  </a:moveTo>
                  <a:lnTo>
                    <a:pt x="812964" y="60743"/>
                  </a:lnTo>
                  <a:lnTo>
                    <a:pt x="832615" y="121453"/>
                  </a:lnTo>
                  <a:lnTo>
                    <a:pt x="852215" y="182095"/>
                  </a:lnTo>
                  <a:lnTo>
                    <a:pt x="871739" y="242634"/>
                  </a:lnTo>
                  <a:lnTo>
                    <a:pt x="891161" y="303036"/>
                  </a:lnTo>
                  <a:lnTo>
                    <a:pt x="910456" y="363268"/>
                  </a:lnTo>
                  <a:lnTo>
                    <a:pt x="929598" y="423296"/>
                  </a:lnTo>
                  <a:lnTo>
                    <a:pt x="948561" y="483084"/>
                  </a:lnTo>
                  <a:lnTo>
                    <a:pt x="967321" y="542600"/>
                  </a:lnTo>
                  <a:lnTo>
                    <a:pt x="985852" y="601808"/>
                  </a:lnTo>
                  <a:lnTo>
                    <a:pt x="1004128" y="660675"/>
                  </a:lnTo>
                  <a:lnTo>
                    <a:pt x="1022125" y="719167"/>
                  </a:lnTo>
                  <a:lnTo>
                    <a:pt x="1039815" y="777250"/>
                  </a:lnTo>
                  <a:lnTo>
                    <a:pt x="1057175" y="834889"/>
                  </a:lnTo>
                  <a:lnTo>
                    <a:pt x="1074178" y="892050"/>
                  </a:lnTo>
                  <a:lnTo>
                    <a:pt x="1090800" y="948699"/>
                  </a:lnTo>
                  <a:lnTo>
                    <a:pt x="1107014" y="1004803"/>
                  </a:lnTo>
                  <a:lnTo>
                    <a:pt x="1122795" y="1060326"/>
                  </a:lnTo>
                  <a:lnTo>
                    <a:pt x="1138118" y="1115235"/>
                  </a:lnTo>
                  <a:lnTo>
                    <a:pt x="1152957" y="1169496"/>
                  </a:lnTo>
                  <a:lnTo>
                    <a:pt x="1167287" y="1223074"/>
                  </a:lnTo>
                  <a:lnTo>
                    <a:pt x="1181083" y="1275936"/>
                  </a:lnTo>
                  <a:lnTo>
                    <a:pt x="1194318" y="1328048"/>
                  </a:lnTo>
                  <a:lnTo>
                    <a:pt x="1206968" y="1379374"/>
                  </a:lnTo>
                  <a:lnTo>
                    <a:pt x="1219006" y="1429882"/>
                  </a:lnTo>
                  <a:lnTo>
                    <a:pt x="1230409" y="1479536"/>
                  </a:lnTo>
                  <a:lnTo>
                    <a:pt x="1241149" y="1528304"/>
                  </a:lnTo>
                  <a:lnTo>
                    <a:pt x="1251202" y="1576150"/>
                  </a:lnTo>
                  <a:lnTo>
                    <a:pt x="1260542" y="1623040"/>
                  </a:lnTo>
                  <a:lnTo>
                    <a:pt x="1269143" y="1668942"/>
                  </a:lnTo>
                  <a:lnTo>
                    <a:pt x="1276981" y="1713819"/>
                  </a:lnTo>
                  <a:lnTo>
                    <a:pt x="1284030" y="1757639"/>
                  </a:lnTo>
                  <a:lnTo>
                    <a:pt x="1290264" y="1800367"/>
                  </a:lnTo>
                  <a:lnTo>
                    <a:pt x="1295658" y="1841969"/>
                  </a:lnTo>
                  <a:lnTo>
                    <a:pt x="1300186" y="1882411"/>
                  </a:lnTo>
                  <a:lnTo>
                    <a:pt x="1303823" y="1921659"/>
                  </a:lnTo>
                  <a:lnTo>
                    <a:pt x="1306543" y="1959678"/>
                  </a:lnTo>
                  <a:lnTo>
                    <a:pt x="1309133" y="2031895"/>
                  </a:lnTo>
                  <a:lnTo>
                    <a:pt x="1308951" y="2066024"/>
                  </a:lnTo>
                  <a:lnTo>
                    <a:pt x="1305507" y="2130155"/>
                  </a:lnTo>
                  <a:lnTo>
                    <a:pt x="1297785" y="2188553"/>
                  </a:lnTo>
                  <a:lnTo>
                    <a:pt x="1285583" y="2240945"/>
                  </a:lnTo>
                  <a:lnTo>
                    <a:pt x="1264065" y="2296966"/>
                  </a:lnTo>
                  <a:lnTo>
                    <a:pt x="1229299" y="2351344"/>
                  </a:lnTo>
                  <a:lnTo>
                    <a:pt x="1185176" y="2393181"/>
                  </a:lnTo>
                  <a:lnTo>
                    <a:pt x="1132340" y="2423342"/>
                  </a:lnTo>
                  <a:lnTo>
                    <a:pt x="1071438" y="2442692"/>
                  </a:lnTo>
                  <a:lnTo>
                    <a:pt x="1003115" y="2452096"/>
                  </a:lnTo>
                  <a:lnTo>
                    <a:pt x="966372" y="2453339"/>
                  </a:lnTo>
                  <a:lnTo>
                    <a:pt x="928016" y="2452419"/>
                  </a:lnTo>
                  <a:lnTo>
                    <a:pt x="888127" y="2449446"/>
                  </a:lnTo>
                  <a:lnTo>
                    <a:pt x="846786" y="2444526"/>
                  </a:lnTo>
                  <a:lnTo>
                    <a:pt x="804073" y="2437768"/>
                  </a:lnTo>
                  <a:lnTo>
                    <a:pt x="760070" y="2429281"/>
                  </a:lnTo>
                  <a:lnTo>
                    <a:pt x="714857" y="2419172"/>
                  </a:lnTo>
                  <a:lnTo>
                    <a:pt x="668515" y="2407549"/>
                  </a:lnTo>
                  <a:lnTo>
                    <a:pt x="621124" y="2394521"/>
                  </a:lnTo>
                  <a:lnTo>
                    <a:pt x="572765" y="2380196"/>
                  </a:lnTo>
                  <a:lnTo>
                    <a:pt x="523519" y="2364681"/>
                  </a:lnTo>
                  <a:lnTo>
                    <a:pt x="473466" y="2348086"/>
                  </a:lnTo>
                  <a:lnTo>
                    <a:pt x="422687" y="2330517"/>
                  </a:lnTo>
                  <a:lnTo>
                    <a:pt x="371263" y="2312084"/>
                  </a:lnTo>
                  <a:lnTo>
                    <a:pt x="319274" y="2292894"/>
                  </a:lnTo>
                  <a:lnTo>
                    <a:pt x="266801" y="2273055"/>
                  </a:lnTo>
                  <a:lnTo>
                    <a:pt x="213924" y="2252675"/>
                  </a:lnTo>
                  <a:lnTo>
                    <a:pt x="160726" y="2231864"/>
                  </a:lnTo>
                  <a:lnTo>
                    <a:pt x="107285" y="2210727"/>
                  </a:lnTo>
                  <a:lnTo>
                    <a:pt x="53682" y="2189375"/>
                  </a:lnTo>
                  <a:lnTo>
                    <a:pt x="0" y="2167915"/>
                  </a:lnTo>
                </a:path>
              </a:pathLst>
            </a:custGeom>
            <a:ln w="12700">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40" name="object 16">
            <a:extLst>
              <a:ext uri="{FF2B5EF4-FFF2-40B4-BE49-F238E27FC236}">
                <a16:creationId xmlns:a16="http://schemas.microsoft.com/office/drawing/2014/main" id="{5F41835A-51EA-1472-5A61-D1084251466A}"/>
              </a:ext>
            </a:extLst>
          </p:cNvPr>
          <p:cNvSpPr/>
          <p:nvPr/>
        </p:nvSpPr>
        <p:spPr>
          <a:xfrm>
            <a:off x="1504950" y="4591956"/>
            <a:ext cx="457200" cy="76200"/>
          </a:xfrm>
          <a:custGeom>
            <a:avLst/>
            <a:gdLst/>
            <a:ahLst/>
            <a:cxnLst/>
            <a:rect l="l" t="t" r="r" b="b"/>
            <a:pathLst>
              <a:path w="457200" h="76200">
                <a:moveTo>
                  <a:pt x="381000" y="44449"/>
                </a:moveTo>
                <a:lnTo>
                  <a:pt x="381000" y="76199"/>
                </a:lnTo>
                <a:lnTo>
                  <a:pt x="444500" y="44449"/>
                </a:lnTo>
                <a:lnTo>
                  <a:pt x="381000" y="44449"/>
                </a:lnTo>
                <a:close/>
              </a:path>
              <a:path w="457200" h="76200">
                <a:moveTo>
                  <a:pt x="381000" y="31749"/>
                </a:moveTo>
                <a:lnTo>
                  <a:pt x="381000" y="44449"/>
                </a:lnTo>
                <a:lnTo>
                  <a:pt x="393700" y="44449"/>
                </a:lnTo>
                <a:lnTo>
                  <a:pt x="393700" y="31749"/>
                </a:lnTo>
                <a:lnTo>
                  <a:pt x="381000" y="31749"/>
                </a:lnTo>
                <a:close/>
              </a:path>
              <a:path w="457200" h="76200">
                <a:moveTo>
                  <a:pt x="381000" y="0"/>
                </a:moveTo>
                <a:lnTo>
                  <a:pt x="381000" y="31749"/>
                </a:lnTo>
                <a:lnTo>
                  <a:pt x="393700" y="31749"/>
                </a:lnTo>
                <a:lnTo>
                  <a:pt x="393700" y="44449"/>
                </a:lnTo>
                <a:lnTo>
                  <a:pt x="444502" y="44448"/>
                </a:lnTo>
                <a:lnTo>
                  <a:pt x="457200" y="38099"/>
                </a:lnTo>
                <a:lnTo>
                  <a:pt x="381000" y="0"/>
                </a:lnTo>
                <a:close/>
              </a:path>
              <a:path w="457200" h="76200">
                <a:moveTo>
                  <a:pt x="0" y="31748"/>
                </a:moveTo>
                <a:lnTo>
                  <a:pt x="0" y="44448"/>
                </a:lnTo>
                <a:lnTo>
                  <a:pt x="381000" y="44449"/>
                </a:lnTo>
                <a:lnTo>
                  <a:pt x="381000" y="31749"/>
                </a:lnTo>
                <a:lnTo>
                  <a:pt x="0" y="31748"/>
                </a:lnTo>
                <a:close/>
              </a:path>
            </a:pathLst>
          </a:custGeom>
          <a:solidFill>
            <a:srgbClr val="FF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nvGrpSpPr>
          <p:cNvPr id="41" name="object 17">
            <a:extLst>
              <a:ext uri="{FF2B5EF4-FFF2-40B4-BE49-F238E27FC236}">
                <a16:creationId xmlns:a16="http://schemas.microsoft.com/office/drawing/2014/main" id="{BEF25C38-73DC-53B8-C9FA-028417D29EF7}"/>
              </a:ext>
            </a:extLst>
          </p:cNvPr>
          <p:cNvGrpSpPr/>
          <p:nvPr/>
        </p:nvGrpSpPr>
        <p:grpSpPr>
          <a:xfrm>
            <a:off x="896294" y="5298931"/>
            <a:ext cx="2839085" cy="655955"/>
            <a:chOff x="896294" y="5298931"/>
            <a:chExt cx="2839085" cy="655955"/>
          </a:xfrm>
        </p:grpSpPr>
        <p:sp>
          <p:nvSpPr>
            <p:cNvPr id="42" name="object 18">
              <a:extLst>
                <a:ext uri="{FF2B5EF4-FFF2-40B4-BE49-F238E27FC236}">
                  <a16:creationId xmlns:a16="http://schemas.microsoft.com/office/drawing/2014/main" id="{9E6651A3-1414-F198-1071-1AF38D10FC60}"/>
                </a:ext>
              </a:extLst>
            </p:cNvPr>
            <p:cNvSpPr/>
            <p:nvPr/>
          </p:nvSpPr>
          <p:spPr>
            <a:xfrm>
              <a:off x="901057" y="5303694"/>
              <a:ext cx="2829560" cy="646430"/>
            </a:xfrm>
            <a:custGeom>
              <a:avLst/>
              <a:gdLst/>
              <a:ahLst/>
              <a:cxnLst/>
              <a:rect l="l" t="t" r="r" b="b"/>
              <a:pathLst>
                <a:path w="2829560" h="646429">
                  <a:moveTo>
                    <a:pt x="2829184" y="0"/>
                  </a:moveTo>
                  <a:lnTo>
                    <a:pt x="0" y="0"/>
                  </a:lnTo>
                  <a:lnTo>
                    <a:pt x="0" y="646331"/>
                  </a:lnTo>
                  <a:lnTo>
                    <a:pt x="2829184" y="646331"/>
                  </a:lnTo>
                  <a:lnTo>
                    <a:pt x="2829184" y="0"/>
                  </a:lnTo>
                  <a:close/>
                </a:path>
              </a:pathLst>
            </a:custGeom>
            <a:solidFill>
              <a:srgbClr val="FFF2CC"/>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43" name="object 19">
              <a:extLst>
                <a:ext uri="{FF2B5EF4-FFF2-40B4-BE49-F238E27FC236}">
                  <a16:creationId xmlns:a16="http://schemas.microsoft.com/office/drawing/2014/main" id="{62CB7E96-1FC3-F11C-D6D5-FFD94C5B2C1E}"/>
                </a:ext>
              </a:extLst>
            </p:cNvPr>
            <p:cNvSpPr/>
            <p:nvPr/>
          </p:nvSpPr>
          <p:spPr>
            <a:xfrm>
              <a:off x="901057" y="5303694"/>
              <a:ext cx="2829560" cy="646430"/>
            </a:xfrm>
            <a:custGeom>
              <a:avLst/>
              <a:gdLst/>
              <a:ahLst/>
              <a:cxnLst/>
              <a:rect l="l" t="t" r="r" b="b"/>
              <a:pathLst>
                <a:path w="2829560" h="646429">
                  <a:moveTo>
                    <a:pt x="0" y="0"/>
                  </a:moveTo>
                  <a:lnTo>
                    <a:pt x="2829184" y="0"/>
                  </a:lnTo>
                  <a:lnTo>
                    <a:pt x="2829184" y="646331"/>
                  </a:lnTo>
                  <a:lnTo>
                    <a:pt x="0" y="646331"/>
                  </a:lnTo>
                  <a:lnTo>
                    <a:pt x="0" y="0"/>
                  </a:lnTo>
                  <a:close/>
                </a:path>
              </a:pathLst>
            </a:custGeom>
            <a:ln w="952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44" name="object 20">
            <a:extLst>
              <a:ext uri="{FF2B5EF4-FFF2-40B4-BE49-F238E27FC236}">
                <a16:creationId xmlns:a16="http://schemas.microsoft.com/office/drawing/2014/main" id="{685A39A3-F875-8D4E-D12B-4B79B243B84C}"/>
              </a:ext>
            </a:extLst>
          </p:cNvPr>
          <p:cNvSpPr txBox="1"/>
          <p:nvPr/>
        </p:nvSpPr>
        <p:spPr>
          <a:xfrm>
            <a:off x="979796" y="5324347"/>
            <a:ext cx="2616200" cy="565150"/>
          </a:xfrm>
          <a:prstGeom prst="rect">
            <a:avLst/>
          </a:prstGeom>
        </p:spPr>
        <p:txBody>
          <a:bodyPr vert="horz" wrap="square" lIns="0" tIns="28575" rIns="0" bIns="0" rtlCol="0">
            <a:spAutoFit/>
          </a:bodyPr>
          <a:lstStyle/>
          <a:p>
            <a:pPr marL="12700" marR="5080">
              <a:lnSpc>
                <a:spcPts val="2090"/>
              </a:lnSpc>
              <a:spcBef>
                <a:spcPts val="225"/>
              </a:spcBef>
            </a:pPr>
            <a:r>
              <a:rPr dirty="0">
                <a:solidFill>
                  <a:srgbClr val="FF0000"/>
                </a:solidFill>
                <a:latin typeface="Palatino Linotype"/>
                <a:cs typeface="Palatino Linotype"/>
              </a:rPr>
              <a:t>Are</a:t>
            </a:r>
            <a:r>
              <a:rPr spc="-25" dirty="0">
                <a:solidFill>
                  <a:srgbClr val="FF0000"/>
                </a:solidFill>
                <a:latin typeface="Palatino Linotype"/>
                <a:cs typeface="Palatino Linotype"/>
              </a:rPr>
              <a:t> </a:t>
            </a:r>
            <a:r>
              <a:rPr dirty="0">
                <a:solidFill>
                  <a:srgbClr val="FF0000"/>
                </a:solidFill>
                <a:latin typeface="Palatino Linotype"/>
                <a:cs typeface="Palatino Linotype"/>
              </a:rPr>
              <a:t>the</a:t>
            </a:r>
            <a:r>
              <a:rPr spc="-20" dirty="0">
                <a:solidFill>
                  <a:srgbClr val="FF0000"/>
                </a:solidFill>
                <a:latin typeface="Palatino Linotype"/>
                <a:cs typeface="Palatino Linotype"/>
              </a:rPr>
              <a:t> </a:t>
            </a:r>
            <a:r>
              <a:rPr dirty="0">
                <a:solidFill>
                  <a:srgbClr val="FF0000"/>
                </a:solidFill>
                <a:latin typeface="Palatino Linotype"/>
                <a:cs typeface="Palatino Linotype"/>
              </a:rPr>
              <a:t>two</a:t>
            </a:r>
            <a:r>
              <a:rPr spc="-20" dirty="0">
                <a:solidFill>
                  <a:srgbClr val="FF0000"/>
                </a:solidFill>
                <a:latin typeface="Palatino Linotype"/>
                <a:cs typeface="Palatino Linotype"/>
              </a:rPr>
              <a:t> </a:t>
            </a:r>
            <a:r>
              <a:rPr dirty="0">
                <a:solidFill>
                  <a:srgbClr val="0432FF"/>
                </a:solidFill>
                <a:latin typeface="Palatino Linotype"/>
                <a:cs typeface="Palatino Linotype"/>
              </a:rPr>
              <a:t>a</a:t>
            </a:r>
            <a:r>
              <a:rPr spc="-20" dirty="0">
                <a:solidFill>
                  <a:srgbClr val="0432FF"/>
                </a:solidFill>
                <a:latin typeface="Palatino Linotype"/>
                <a:cs typeface="Palatino Linotype"/>
              </a:rPr>
              <a:t> </a:t>
            </a:r>
            <a:r>
              <a:rPr dirty="0">
                <a:solidFill>
                  <a:srgbClr val="0432FF"/>
                </a:solidFill>
                <a:latin typeface="Palatino Linotype"/>
                <a:cs typeface="Palatino Linotype"/>
              </a:rPr>
              <a:t>-</a:t>
            </a:r>
            <a:r>
              <a:rPr spc="-20" dirty="0">
                <a:solidFill>
                  <a:srgbClr val="0432FF"/>
                </a:solidFill>
                <a:latin typeface="Palatino Linotype"/>
                <a:cs typeface="Palatino Linotype"/>
              </a:rPr>
              <a:t> </a:t>
            </a:r>
            <a:r>
              <a:rPr spc="-50" dirty="0">
                <a:solidFill>
                  <a:srgbClr val="0432FF"/>
                </a:solidFill>
                <a:latin typeface="Palatino Linotype"/>
                <a:cs typeface="Palatino Linotype"/>
              </a:rPr>
              <a:t>d </a:t>
            </a:r>
            <a:r>
              <a:rPr dirty="0">
                <a:solidFill>
                  <a:srgbClr val="FF0000"/>
                </a:solidFill>
                <a:latin typeface="Palatino Linotype"/>
                <a:cs typeface="Palatino Linotype"/>
              </a:rPr>
              <a:t>common</a:t>
            </a:r>
            <a:r>
              <a:rPr spc="-50" dirty="0">
                <a:solidFill>
                  <a:srgbClr val="FF0000"/>
                </a:solidFill>
                <a:latin typeface="Palatino Linotype"/>
                <a:cs typeface="Palatino Linotype"/>
              </a:rPr>
              <a:t> </a:t>
            </a:r>
            <a:r>
              <a:rPr spc="-10" dirty="0">
                <a:solidFill>
                  <a:srgbClr val="FF0000"/>
                </a:solidFill>
                <a:latin typeface="Palatino Linotype"/>
                <a:cs typeface="Palatino Linotype"/>
              </a:rPr>
              <a:t>subexpressions?</a:t>
            </a:r>
            <a:endParaRPr>
              <a:solidFill>
                <a:sysClr val="windowText" lastClr="000000"/>
              </a:solidFill>
              <a:latin typeface="Palatino Linotype"/>
              <a:cs typeface="Palatino Linotype"/>
            </a:endParaRPr>
          </a:p>
        </p:txBody>
      </p:sp>
      <p:pic>
        <p:nvPicPr>
          <p:cNvPr id="45" name="object 21">
            <a:extLst>
              <a:ext uri="{FF2B5EF4-FFF2-40B4-BE49-F238E27FC236}">
                <a16:creationId xmlns:a16="http://schemas.microsoft.com/office/drawing/2014/main" id="{F5555090-1EFA-4C53-13A4-04BC98DE341B}"/>
              </a:ext>
            </a:extLst>
          </p:cNvPr>
          <p:cNvPicPr/>
          <p:nvPr/>
        </p:nvPicPr>
        <p:blipFill>
          <a:blip r:embed="rId4" cstate="print"/>
          <a:stretch>
            <a:fillRect/>
          </a:stretch>
        </p:blipFill>
        <p:spPr>
          <a:xfrm>
            <a:off x="3378757" y="4920552"/>
            <a:ext cx="697000" cy="697001"/>
          </a:xfrm>
          <a:prstGeom prst="rect">
            <a:avLst/>
          </a:prstGeom>
        </p:spPr>
      </p:pic>
      <p:sp>
        <p:nvSpPr>
          <p:cNvPr id="46" name="object 22">
            <a:extLst>
              <a:ext uri="{FF2B5EF4-FFF2-40B4-BE49-F238E27FC236}">
                <a16:creationId xmlns:a16="http://schemas.microsoft.com/office/drawing/2014/main" id="{76247B74-54D6-3E48-508A-25487B01CAE4}"/>
              </a:ext>
            </a:extLst>
          </p:cNvPr>
          <p:cNvSpPr txBox="1"/>
          <p:nvPr/>
        </p:nvSpPr>
        <p:spPr>
          <a:xfrm>
            <a:off x="707390" y="1479804"/>
            <a:ext cx="7656830" cy="3550285"/>
          </a:xfrm>
          <a:prstGeom prst="rect">
            <a:avLst/>
          </a:prstGeom>
        </p:spPr>
        <p:txBody>
          <a:bodyPr vert="horz" wrap="square" lIns="0" tIns="12700" rIns="0" bIns="0" rtlCol="0">
            <a:spAutoFit/>
          </a:bodyPr>
          <a:lstStyle/>
          <a:p>
            <a:pPr marL="242570" marR="5080" indent="-230504">
              <a:lnSpc>
                <a:spcPct val="117000"/>
              </a:lnSpc>
              <a:spcBef>
                <a:spcPts val="100"/>
              </a:spcBef>
              <a:buFont typeface="Arial MT"/>
              <a:buChar char="•"/>
              <a:tabLst>
                <a:tab pos="242570" algn="l"/>
              </a:tabLst>
            </a:pPr>
            <a:r>
              <a:rPr sz="2000" dirty="0">
                <a:solidFill>
                  <a:sysClr val="windowText" lastClr="000000"/>
                </a:solidFill>
                <a:latin typeface="Palatino Linotype"/>
                <a:cs typeface="Palatino Linotype"/>
              </a:rPr>
              <a:t>When</a:t>
            </a:r>
            <a:r>
              <a:rPr sz="2000" spc="-2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creating</a:t>
            </a:r>
            <a:r>
              <a:rPr sz="2000" spc="-1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a</a:t>
            </a:r>
            <a:r>
              <a:rPr sz="2000" spc="-1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node</a:t>
            </a:r>
            <a:r>
              <a:rPr sz="2000" spc="-15" dirty="0">
                <a:solidFill>
                  <a:sysClr val="windowText" lastClr="000000"/>
                </a:solidFill>
                <a:latin typeface="Palatino Linotype"/>
                <a:cs typeface="Palatino Linotype"/>
              </a:rPr>
              <a:t> </a:t>
            </a:r>
            <a:r>
              <a:rPr sz="2000" dirty="0">
                <a:solidFill>
                  <a:sysClr val="windowText" lastClr="000000"/>
                </a:solidFill>
                <a:latin typeface="Cambria Math"/>
                <a:cs typeface="Cambria Math"/>
              </a:rPr>
              <a:t>𝑀</a:t>
            </a:r>
            <a:r>
              <a:rPr sz="2000" dirty="0">
                <a:solidFill>
                  <a:sysClr val="windowText" lastClr="000000"/>
                </a:solidFill>
                <a:latin typeface="Palatino Linotype"/>
                <a:cs typeface="Palatino Linotype"/>
              </a:rPr>
              <a:t>,</a:t>
            </a:r>
            <a:r>
              <a:rPr sz="2000" spc="-15" dirty="0">
                <a:solidFill>
                  <a:sysClr val="windowText" lastClr="000000"/>
                </a:solidFill>
                <a:latin typeface="Palatino Linotype"/>
                <a:cs typeface="Palatino Linotype"/>
              </a:rPr>
              <a:t> </a:t>
            </a:r>
            <a:r>
              <a:rPr sz="2000" dirty="0">
                <a:solidFill>
                  <a:srgbClr val="FF0000"/>
                </a:solidFill>
                <a:latin typeface="Palatino Linotype"/>
                <a:cs typeface="Palatino Linotype"/>
              </a:rPr>
              <a:t>check</a:t>
            </a:r>
            <a:r>
              <a:rPr sz="2000" spc="-10" dirty="0">
                <a:solidFill>
                  <a:srgbClr val="FF0000"/>
                </a:solidFill>
                <a:latin typeface="Palatino Linotype"/>
                <a:cs typeface="Palatino Linotype"/>
              </a:rPr>
              <a:t> </a:t>
            </a:r>
            <a:r>
              <a:rPr sz="2000" dirty="0">
                <a:solidFill>
                  <a:srgbClr val="FF0000"/>
                </a:solidFill>
                <a:latin typeface="Palatino Linotype"/>
                <a:cs typeface="Palatino Linotype"/>
              </a:rPr>
              <a:t>if</a:t>
            </a:r>
            <a:r>
              <a:rPr sz="2000" spc="-20" dirty="0">
                <a:solidFill>
                  <a:srgbClr val="FF0000"/>
                </a:solidFill>
                <a:latin typeface="Palatino Linotype"/>
                <a:cs typeface="Palatino Linotype"/>
              </a:rPr>
              <a:t> </a:t>
            </a:r>
            <a:r>
              <a:rPr sz="2000" dirty="0">
                <a:solidFill>
                  <a:srgbClr val="FF0000"/>
                </a:solidFill>
                <a:latin typeface="Palatino Linotype"/>
                <a:cs typeface="Palatino Linotype"/>
              </a:rPr>
              <a:t>there</a:t>
            </a:r>
            <a:r>
              <a:rPr sz="2000" spc="-10" dirty="0">
                <a:solidFill>
                  <a:srgbClr val="FF0000"/>
                </a:solidFill>
                <a:latin typeface="Palatino Linotype"/>
                <a:cs typeface="Palatino Linotype"/>
              </a:rPr>
              <a:t> </a:t>
            </a:r>
            <a:r>
              <a:rPr sz="2000" dirty="0">
                <a:solidFill>
                  <a:srgbClr val="FF0000"/>
                </a:solidFill>
                <a:latin typeface="Palatino Linotype"/>
                <a:cs typeface="Palatino Linotype"/>
              </a:rPr>
              <a:t>exists</a:t>
            </a:r>
            <a:r>
              <a:rPr sz="2000" spc="-15" dirty="0">
                <a:solidFill>
                  <a:srgbClr val="FF0000"/>
                </a:solidFill>
                <a:latin typeface="Palatino Linotype"/>
                <a:cs typeface="Palatino Linotype"/>
              </a:rPr>
              <a:t> </a:t>
            </a:r>
            <a:r>
              <a:rPr sz="2000" dirty="0">
                <a:solidFill>
                  <a:srgbClr val="FF0000"/>
                </a:solidFill>
                <a:latin typeface="Palatino Linotype"/>
                <a:cs typeface="Palatino Linotype"/>
              </a:rPr>
              <a:t>a</a:t>
            </a:r>
            <a:r>
              <a:rPr sz="2000" spc="-15" dirty="0">
                <a:solidFill>
                  <a:srgbClr val="FF0000"/>
                </a:solidFill>
                <a:latin typeface="Palatino Linotype"/>
                <a:cs typeface="Palatino Linotype"/>
              </a:rPr>
              <a:t> </a:t>
            </a:r>
            <a:r>
              <a:rPr sz="2000" dirty="0">
                <a:solidFill>
                  <a:srgbClr val="FF0000"/>
                </a:solidFill>
                <a:latin typeface="Palatino Linotype"/>
                <a:cs typeface="Palatino Linotype"/>
              </a:rPr>
              <a:t>node</a:t>
            </a:r>
            <a:r>
              <a:rPr sz="2000" spc="-10" dirty="0">
                <a:solidFill>
                  <a:srgbClr val="FF0000"/>
                </a:solidFill>
                <a:latin typeface="Palatino Linotype"/>
                <a:cs typeface="Palatino Linotype"/>
              </a:rPr>
              <a:t> </a:t>
            </a:r>
            <a:r>
              <a:rPr sz="2000" dirty="0">
                <a:solidFill>
                  <a:srgbClr val="FF0000"/>
                </a:solidFill>
                <a:latin typeface="Cambria Math"/>
                <a:cs typeface="Cambria Math"/>
              </a:rPr>
              <a:t>𝑁</a:t>
            </a:r>
            <a:r>
              <a:rPr sz="2000" dirty="0">
                <a:solidFill>
                  <a:sysClr val="windowText" lastClr="000000"/>
                </a:solidFill>
                <a:latin typeface="Palatino Linotype"/>
                <a:cs typeface="Palatino Linotype"/>
              </a:rPr>
              <a:t>,</a:t>
            </a:r>
            <a:r>
              <a:rPr sz="2000" spc="-1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which</a:t>
            </a:r>
            <a:r>
              <a:rPr sz="2000" spc="-15" dirty="0">
                <a:solidFill>
                  <a:sysClr val="windowText" lastClr="000000"/>
                </a:solidFill>
                <a:latin typeface="Palatino Linotype"/>
                <a:cs typeface="Palatino Linotype"/>
              </a:rPr>
              <a:t> </a:t>
            </a:r>
            <a:r>
              <a:rPr sz="2000" spc="-25" dirty="0">
                <a:solidFill>
                  <a:sysClr val="windowText" lastClr="000000"/>
                </a:solidFill>
                <a:latin typeface="Palatino Linotype"/>
                <a:cs typeface="Palatino Linotype"/>
              </a:rPr>
              <a:t>has </a:t>
            </a:r>
            <a:r>
              <a:rPr sz="2000" dirty="0">
                <a:solidFill>
                  <a:sysClr val="windowText" lastClr="000000"/>
                </a:solidFill>
                <a:latin typeface="Palatino Linotype"/>
                <a:cs typeface="Palatino Linotype"/>
              </a:rPr>
              <a:t>the</a:t>
            </a:r>
            <a:r>
              <a:rPr sz="2000" spc="-3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same</a:t>
            </a:r>
            <a:r>
              <a:rPr sz="2000" spc="-3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operator</a:t>
            </a:r>
            <a:r>
              <a:rPr sz="2000" spc="-3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and</a:t>
            </a:r>
            <a:r>
              <a:rPr sz="2000" spc="-3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children</a:t>
            </a:r>
            <a:r>
              <a:rPr sz="2000" spc="-4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nodes</a:t>
            </a:r>
            <a:r>
              <a:rPr sz="2000" spc="-3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(order</a:t>
            </a:r>
            <a:r>
              <a:rPr sz="2000" spc="-3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matters)</a:t>
            </a:r>
            <a:r>
              <a:rPr sz="2000" spc="-3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with</a:t>
            </a:r>
            <a:r>
              <a:rPr sz="2000" spc="-35" dirty="0">
                <a:solidFill>
                  <a:sysClr val="windowText" lastClr="000000"/>
                </a:solidFill>
                <a:latin typeface="Palatino Linotype"/>
                <a:cs typeface="Palatino Linotype"/>
              </a:rPr>
              <a:t> </a:t>
            </a:r>
            <a:r>
              <a:rPr sz="2000" spc="-50" dirty="0">
                <a:solidFill>
                  <a:sysClr val="windowText" lastClr="000000"/>
                </a:solidFill>
                <a:latin typeface="Cambria Math"/>
                <a:cs typeface="Cambria Math"/>
              </a:rPr>
              <a:t>𝑀</a:t>
            </a:r>
            <a:endParaRPr sz="2000">
              <a:solidFill>
                <a:sysClr val="windowText" lastClr="000000"/>
              </a:solidFill>
              <a:latin typeface="Cambria Math"/>
              <a:cs typeface="Cambria Math"/>
            </a:endParaRPr>
          </a:p>
          <a:p>
            <a:pPr marL="242570" marR="306070" indent="-230504">
              <a:lnSpc>
                <a:spcPct val="121000"/>
              </a:lnSpc>
              <a:spcBef>
                <a:spcPts val="1775"/>
              </a:spcBef>
              <a:buFont typeface="Arial MT"/>
              <a:buChar char="•"/>
              <a:tabLst>
                <a:tab pos="242570" algn="l"/>
              </a:tabLst>
            </a:pPr>
            <a:r>
              <a:rPr sz="2000" dirty="0">
                <a:solidFill>
                  <a:sysClr val="windowText" lastClr="000000"/>
                </a:solidFill>
                <a:latin typeface="Palatino Linotype"/>
                <a:cs typeface="Palatino Linotype"/>
              </a:rPr>
              <a:t>If</a:t>
            </a:r>
            <a:r>
              <a:rPr sz="2000" spc="-2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such</a:t>
            </a:r>
            <a:r>
              <a:rPr sz="2000" spc="-2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a</a:t>
            </a:r>
            <a:r>
              <a:rPr sz="2000" spc="-2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node</a:t>
            </a:r>
            <a:r>
              <a:rPr sz="2000" spc="-20" dirty="0">
                <a:solidFill>
                  <a:sysClr val="windowText" lastClr="000000"/>
                </a:solidFill>
                <a:latin typeface="Palatino Linotype"/>
                <a:cs typeface="Palatino Linotype"/>
              </a:rPr>
              <a:t> </a:t>
            </a:r>
            <a:r>
              <a:rPr sz="2000" dirty="0">
                <a:solidFill>
                  <a:sysClr val="windowText" lastClr="000000"/>
                </a:solidFill>
                <a:latin typeface="Cambria Math"/>
                <a:cs typeface="Cambria Math"/>
              </a:rPr>
              <a:t>𝑁</a:t>
            </a:r>
            <a:r>
              <a:rPr sz="2000" spc="85" dirty="0">
                <a:solidFill>
                  <a:sysClr val="windowText" lastClr="000000"/>
                </a:solidFill>
                <a:latin typeface="Cambria Math"/>
                <a:cs typeface="Cambria Math"/>
              </a:rPr>
              <a:t> </a:t>
            </a:r>
            <a:r>
              <a:rPr sz="2000" dirty="0">
                <a:solidFill>
                  <a:sysClr val="windowText" lastClr="000000"/>
                </a:solidFill>
                <a:latin typeface="Palatino Linotype"/>
                <a:cs typeface="Palatino Linotype"/>
              </a:rPr>
              <a:t>exists,</a:t>
            </a:r>
            <a:r>
              <a:rPr sz="2000" spc="-2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we</a:t>
            </a:r>
            <a:r>
              <a:rPr sz="2000" spc="-2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do</a:t>
            </a:r>
            <a:r>
              <a:rPr sz="2000" spc="-2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not</a:t>
            </a:r>
            <a:r>
              <a:rPr sz="2000" spc="-2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create</a:t>
            </a:r>
            <a:r>
              <a:rPr sz="2000" spc="-2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the</a:t>
            </a:r>
            <a:r>
              <a:rPr sz="2000" spc="-2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node</a:t>
            </a:r>
            <a:r>
              <a:rPr sz="2000" spc="-20" dirty="0">
                <a:solidFill>
                  <a:sysClr val="windowText" lastClr="000000"/>
                </a:solidFill>
                <a:latin typeface="Palatino Linotype"/>
                <a:cs typeface="Palatino Linotype"/>
              </a:rPr>
              <a:t> </a:t>
            </a:r>
            <a:r>
              <a:rPr sz="2000" dirty="0">
                <a:solidFill>
                  <a:sysClr val="windowText" lastClr="000000"/>
                </a:solidFill>
                <a:latin typeface="Cambria Math"/>
                <a:cs typeface="Cambria Math"/>
              </a:rPr>
              <a:t>𝑀</a:t>
            </a:r>
            <a:r>
              <a:rPr sz="2000" spc="85" dirty="0">
                <a:solidFill>
                  <a:sysClr val="windowText" lastClr="000000"/>
                </a:solidFill>
                <a:latin typeface="Cambria Math"/>
                <a:cs typeface="Cambria Math"/>
              </a:rPr>
              <a:t> </a:t>
            </a:r>
            <a:r>
              <a:rPr sz="2000" dirty="0">
                <a:solidFill>
                  <a:sysClr val="windowText" lastClr="000000"/>
                </a:solidFill>
                <a:latin typeface="Palatino Linotype"/>
                <a:cs typeface="Palatino Linotype"/>
              </a:rPr>
              <a:t>but</a:t>
            </a:r>
            <a:r>
              <a:rPr sz="2000" spc="-25" dirty="0">
                <a:solidFill>
                  <a:sysClr val="windowText" lastClr="000000"/>
                </a:solidFill>
                <a:latin typeface="Palatino Linotype"/>
                <a:cs typeface="Palatino Linotype"/>
              </a:rPr>
              <a:t> </a:t>
            </a:r>
            <a:r>
              <a:rPr sz="2000" spc="-10" dirty="0">
                <a:solidFill>
                  <a:sysClr val="windowText" lastClr="000000"/>
                </a:solidFill>
                <a:latin typeface="Palatino Linotype"/>
                <a:cs typeface="Palatino Linotype"/>
              </a:rPr>
              <a:t>simply </a:t>
            </a:r>
            <a:r>
              <a:rPr sz="2000" dirty="0">
                <a:solidFill>
                  <a:srgbClr val="FF0000"/>
                </a:solidFill>
                <a:latin typeface="Palatino Linotype"/>
                <a:cs typeface="Palatino Linotype"/>
              </a:rPr>
              <a:t>use</a:t>
            </a:r>
            <a:r>
              <a:rPr sz="2000" spc="-25" dirty="0">
                <a:solidFill>
                  <a:srgbClr val="FF0000"/>
                </a:solidFill>
                <a:latin typeface="Palatino Linotype"/>
                <a:cs typeface="Palatino Linotype"/>
              </a:rPr>
              <a:t> </a:t>
            </a:r>
            <a:r>
              <a:rPr sz="2000" dirty="0">
                <a:solidFill>
                  <a:srgbClr val="FF0000"/>
                </a:solidFill>
                <a:latin typeface="Cambria Math"/>
                <a:cs typeface="Cambria Math"/>
              </a:rPr>
              <a:t>𝑁</a:t>
            </a:r>
            <a:r>
              <a:rPr sz="2000" spc="85" dirty="0">
                <a:solidFill>
                  <a:srgbClr val="FF0000"/>
                </a:solidFill>
                <a:latin typeface="Cambria Math"/>
                <a:cs typeface="Cambria Math"/>
              </a:rPr>
              <a:t> </a:t>
            </a:r>
            <a:r>
              <a:rPr sz="2000" dirty="0">
                <a:solidFill>
                  <a:srgbClr val="FF0000"/>
                </a:solidFill>
                <a:latin typeface="Palatino Linotype"/>
                <a:cs typeface="Palatino Linotype"/>
              </a:rPr>
              <a:t>to</a:t>
            </a:r>
            <a:r>
              <a:rPr sz="2000" spc="-25" dirty="0">
                <a:solidFill>
                  <a:srgbClr val="FF0000"/>
                </a:solidFill>
                <a:latin typeface="Palatino Linotype"/>
                <a:cs typeface="Palatino Linotype"/>
              </a:rPr>
              <a:t> </a:t>
            </a:r>
            <a:r>
              <a:rPr sz="2000" dirty="0">
                <a:solidFill>
                  <a:srgbClr val="FF0000"/>
                </a:solidFill>
                <a:latin typeface="Palatino Linotype"/>
                <a:cs typeface="Palatino Linotype"/>
              </a:rPr>
              <a:t>represent</a:t>
            </a:r>
            <a:r>
              <a:rPr sz="2000" spc="-25" dirty="0">
                <a:solidFill>
                  <a:srgbClr val="FF0000"/>
                </a:solidFill>
                <a:latin typeface="Palatino Linotype"/>
                <a:cs typeface="Palatino Linotype"/>
              </a:rPr>
              <a:t> </a:t>
            </a:r>
            <a:r>
              <a:rPr sz="2000" spc="-50" dirty="0">
                <a:solidFill>
                  <a:srgbClr val="FF0000"/>
                </a:solidFill>
                <a:latin typeface="Cambria Math"/>
                <a:cs typeface="Cambria Math"/>
              </a:rPr>
              <a:t>𝑀</a:t>
            </a:r>
            <a:endParaRPr sz="2000">
              <a:solidFill>
                <a:sysClr val="windowText" lastClr="000000"/>
              </a:solidFill>
              <a:latin typeface="Cambria Math"/>
              <a:cs typeface="Cambria Math"/>
            </a:endParaRPr>
          </a:p>
          <a:p>
            <a:pPr marR="1690370" algn="r">
              <a:spcBef>
                <a:spcPts val="415"/>
              </a:spcBef>
              <a:tabLst>
                <a:tab pos="365125" algn="l"/>
              </a:tabLst>
            </a:pPr>
            <a:r>
              <a:rPr spc="-50" dirty="0">
                <a:solidFill>
                  <a:sysClr val="windowText" lastClr="000000"/>
                </a:solidFill>
                <a:cs typeface="Calibri"/>
              </a:rPr>
              <a:t>+</a:t>
            </a:r>
            <a:r>
              <a:rPr dirty="0">
                <a:solidFill>
                  <a:sysClr val="windowText" lastClr="000000"/>
                </a:solidFill>
                <a:cs typeface="Calibri"/>
              </a:rPr>
              <a:t>	</a:t>
            </a:r>
            <a:r>
              <a:rPr spc="-50" dirty="0">
                <a:solidFill>
                  <a:sysClr val="windowText" lastClr="000000"/>
                </a:solidFill>
                <a:latin typeface="Cambria Math"/>
                <a:cs typeface="Cambria Math"/>
              </a:rPr>
              <a:t>c</a:t>
            </a:r>
            <a:endParaRPr>
              <a:solidFill>
                <a:sysClr val="windowText" lastClr="000000"/>
              </a:solidFill>
              <a:latin typeface="Cambria Math"/>
              <a:cs typeface="Cambria Math"/>
            </a:endParaRPr>
          </a:p>
          <a:p>
            <a:pPr>
              <a:spcBef>
                <a:spcPts val="2090"/>
              </a:spcBef>
            </a:pPr>
            <a:endParaRPr>
              <a:solidFill>
                <a:sysClr val="windowText" lastClr="000000"/>
              </a:solidFill>
              <a:latin typeface="Cambria Math"/>
              <a:cs typeface="Cambria Math"/>
            </a:endParaRPr>
          </a:p>
          <a:p>
            <a:pPr marL="5069205">
              <a:tabLst>
                <a:tab pos="5452745" algn="l"/>
              </a:tabLst>
            </a:pPr>
            <a:r>
              <a:rPr spc="-50" dirty="0">
                <a:solidFill>
                  <a:sysClr val="windowText" lastClr="000000"/>
                </a:solidFill>
                <a:cs typeface="Calibri"/>
              </a:rPr>
              <a:t>−</a:t>
            </a:r>
            <a:r>
              <a:rPr dirty="0">
                <a:solidFill>
                  <a:sysClr val="windowText" lastClr="000000"/>
                </a:solidFill>
                <a:cs typeface="Calibri"/>
              </a:rPr>
              <a:t>	</a:t>
            </a:r>
            <a:r>
              <a:rPr spc="60" dirty="0">
                <a:solidFill>
                  <a:sysClr val="windowText" lastClr="000000"/>
                </a:solidFill>
                <a:latin typeface="Cambria Math"/>
                <a:cs typeface="Cambria Math"/>
              </a:rPr>
              <a:t>b,</a:t>
            </a:r>
            <a:r>
              <a:rPr spc="-90" dirty="0">
                <a:solidFill>
                  <a:sysClr val="windowText" lastClr="000000"/>
                </a:solidFill>
                <a:latin typeface="Cambria Math"/>
                <a:cs typeface="Cambria Math"/>
              </a:rPr>
              <a:t> </a:t>
            </a:r>
            <a:r>
              <a:rPr spc="-50" dirty="0">
                <a:solidFill>
                  <a:srgbClr val="FF0000"/>
                </a:solidFill>
                <a:latin typeface="Cambria Math"/>
                <a:cs typeface="Cambria Math"/>
              </a:rPr>
              <a:t>d</a:t>
            </a:r>
            <a:endParaRPr>
              <a:solidFill>
                <a:sysClr val="windowText" lastClr="000000"/>
              </a:solidFill>
              <a:latin typeface="Cambria Math"/>
              <a:cs typeface="Cambria Math"/>
            </a:endParaRPr>
          </a:p>
          <a:p>
            <a:pPr>
              <a:spcBef>
                <a:spcPts val="1345"/>
              </a:spcBef>
            </a:pPr>
            <a:endParaRPr>
              <a:solidFill>
                <a:sysClr val="windowText" lastClr="000000"/>
              </a:solidFill>
              <a:latin typeface="Cambria Math"/>
              <a:cs typeface="Cambria Math"/>
            </a:endParaRPr>
          </a:p>
          <a:p>
            <a:pPr marL="1519555" algn="ctr">
              <a:tabLst>
                <a:tab pos="1821814" algn="l"/>
              </a:tabLst>
            </a:pPr>
            <a:r>
              <a:rPr spc="-50" dirty="0">
                <a:solidFill>
                  <a:sysClr val="windowText" lastClr="000000"/>
                </a:solidFill>
                <a:cs typeface="Calibri"/>
              </a:rPr>
              <a:t>+</a:t>
            </a:r>
            <a:r>
              <a:rPr dirty="0">
                <a:solidFill>
                  <a:sysClr val="windowText" lastClr="000000"/>
                </a:solidFill>
                <a:cs typeface="Calibri"/>
              </a:rPr>
              <a:t>	</a:t>
            </a:r>
            <a:r>
              <a:rPr spc="-50" dirty="0">
                <a:solidFill>
                  <a:sysClr val="windowText" lastClr="000000"/>
                </a:solidFill>
                <a:latin typeface="Cambria Math"/>
                <a:cs typeface="Cambria Math"/>
              </a:rPr>
              <a:t>a</a:t>
            </a:r>
            <a:endParaRPr>
              <a:solidFill>
                <a:sysClr val="windowText" lastClr="000000"/>
              </a:solidFill>
              <a:latin typeface="Cambria Math"/>
              <a:cs typeface="Cambria Math"/>
            </a:endParaRPr>
          </a:p>
        </p:txBody>
      </p:sp>
    </p:spTree>
    <p:extLst>
      <p:ext uri="{BB962C8B-B14F-4D97-AF65-F5344CB8AC3E}">
        <p14:creationId xmlns:p14="http://schemas.microsoft.com/office/powerpoint/2010/main" val="157202391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56</a:t>
            </a:fld>
            <a:endParaRPr lang="en-US"/>
          </a:p>
        </p:txBody>
      </p:sp>
      <p:grpSp>
        <p:nvGrpSpPr>
          <p:cNvPr id="16" name="object 2">
            <a:extLst>
              <a:ext uri="{FF2B5EF4-FFF2-40B4-BE49-F238E27FC236}">
                <a16:creationId xmlns:a16="http://schemas.microsoft.com/office/drawing/2014/main" id="{CAA29FEA-63FA-E51C-ED88-05932F405119}"/>
              </a:ext>
            </a:extLst>
          </p:cNvPr>
          <p:cNvGrpSpPr/>
          <p:nvPr/>
        </p:nvGrpSpPr>
        <p:grpSpPr>
          <a:xfrm>
            <a:off x="3739508" y="4966522"/>
            <a:ext cx="2774950" cy="874394"/>
            <a:chOff x="3739508" y="4966522"/>
            <a:chExt cx="2774950" cy="874394"/>
          </a:xfrm>
        </p:grpSpPr>
        <p:pic>
          <p:nvPicPr>
            <p:cNvPr id="17" name="object 3">
              <a:extLst>
                <a:ext uri="{FF2B5EF4-FFF2-40B4-BE49-F238E27FC236}">
                  <a16:creationId xmlns:a16="http://schemas.microsoft.com/office/drawing/2014/main" id="{514E705F-A852-3512-4366-2313CB3CB3FA}"/>
                </a:ext>
              </a:extLst>
            </p:cNvPr>
            <p:cNvPicPr/>
            <p:nvPr/>
          </p:nvPicPr>
          <p:blipFill>
            <a:blip r:embed="rId3" cstate="print"/>
            <a:stretch>
              <a:fillRect/>
            </a:stretch>
          </p:blipFill>
          <p:spPr>
            <a:xfrm>
              <a:off x="3739508" y="4966522"/>
              <a:ext cx="1958285" cy="874000"/>
            </a:xfrm>
            <a:prstGeom prst="rect">
              <a:avLst/>
            </a:prstGeom>
          </p:spPr>
        </p:pic>
        <p:sp>
          <p:nvSpPr>
            <p:cNvPr id="18" name="object 4">
              <a:extLst>
                <a:ext uri="{FF2B5EF4-FFF2-40B4-BE49-F238E27FC236}">
                  <a16:creationId xmlns:a16="http://schemas.microsoft.com/office/drawing/2014/main" id="{8F1BC779-C486-3E05-22D7-F251FDB7F7CC}"/>
                </a:ext>
              </a:extLst>
            </p:cNvPr>
            <p:cNvSpPr/>
            <p:nvPr/>
          </p:nvSpPr>
          <p:spPr>
            <a:xfrm>
              <a:off x="5709926" y="5452323"/>
              <a:ext cx="804545" cy="103505"/>
            </a:xfrm>
            <a:custGeom>
              <a:avLst/>
              <a:gdLst/>
              <a:ahLst/>
              <a:cxnLst/>
              <a:rect l="l" t="t" r="r" b="b"/>
              <a:pathLst>
                <a:path w="804545" h="103504">
                  <a:moveTo>
                    <a:pt x="715905" y="0"/>
                  </a:moveTo>
                  <a:lnTo>
                    <a:pt x="712016" y="1023"/>
                  </a:lnTo>
                  <a:lnTo>
                    <a:pt x="708482" y="7081"/>
                  </a:lnTo>
                  <a:lnTo>
                    <a:pt x="709505" y="10970"/>
                  </a:lnTo>
                  <a:lnTo>
                    <a:pt x="768447" y="45352"/>
                  </a:lnTo>
                  <a:lnTo>
                    <a:pt x="791935" y="45352"/>
                  </a:lnTo>
                  <a:lnTo>
                    <a:pt x="791935" y="58052"/>
                  </a:lnTo>
                  <a:lnTo>
                    <a:pt x="768445" y="58052"/>
                  </a:lnTo>
                  <a:lnTo>
                    <a:pt x="709505" y="92434"/>
                  </a:lnTo>
                  <a:lnTo>
                    <a:pt x="708482" y="96323"/>
                  </a:lnTo>
                  <a:lnTo>
                    <a:pt x="712016" y="102381"/>
                  </a:lnTo>
                  <a:lnTo>
                    <a:pt x="715905" y="103404"/>
                  </a:lnTo>
                  <a:lnTo>
                    <a:pt x="793651" y="58052"/>
                  </a:lnTo>
                  <a:lnTo>
                    <a:pt x="791935" y="58052"/>
                  </a:lnTo>
                  <a:lnTo>
                    <a:pt x="793653" y="58051"/>
                  </a:lnTo>
                  <a:lnTo>
                    <a:pt x="804537" y="51702"/>
                  </a:lnTo>
                  <a:lnTo>
                    <a:pt x="715905" y="0"/>
                  </a:lnTo>
                  <a:close/>
                </a:path>
                <a:path w="804545" h="103504">
                  <a:moveTo>
                    <a:pt x="779332" y="51702"/>
                  </a:moveTo>
                  <a:lnTo>
                    <a:pt x="768445" y="58052"/>
                  </a:lnTo>
                  <a:lnTo>
                    <a:pt x="791935" y="58052"/>
                  </a:lnTo>
                  <a:lnTo>
                    <a:pt x="791935" y="57186"/>
                  </a:lnTo>
                  <a:lnTo>
                    <a:pt x="788734" y="57186"/>
                  </a:lnTo>
                  <a:lnTo>
                    <a:pt x="779332" y="51702"/>
                  </a:lnTo>
                  <a:close/>
                </a:path>
                <a:path w="804545" h="103504">
                  <a:moveTo>
                    <a:pt x="0" y="45351"/>
                  </a:moveTo>
                  <a:lnTo>
                    <a:pt x="0" y="58051"/>
                  </a:lnTo>
                  <a:lnTo>
                    <a:pt x="768448" y="58051"/>
                  </a:lnTo>
                  <a:lnTo>
                    <a:pt x="779332" y="51702"/>
                  </a:lnTo>
                  <a:lnTo>
                    <a:pt x="768447" y="45352"/>
                  </a:lnTo>
                  <a:lnTo>
                    <a:pt x="0" y="45351"/>
                  </a:lnTo>
                  <a:close/>
                </a:path>
                <a:path w="804545" h="103504">
                  <a:moveTo>
                    <a:pt x="788734" y="46217"/>
                  </a:moveTo>
                  <a:lnTo>
                    <a:pt x="779332" y="51702"/>
                  </a:lnTo>
                  <a:lnTo>
                    <a:pt x="788734" y="57186"/>
                  </a:lnTo>
                  <a:lnTo>
                    <a:pt x="788734" y="46217"/>
                  </a:lnTo>
                  <a:close/>
                </a:path>
                <a:path w="804545" h="103504">
                  <a:moveTo>
                    <a:pt x="791935" y="46217"/>
                  </a:moveTo>
                  <a:lnTo>
                    <a:pt x="788734" y="46217"/>
                  </a:lnTo>
                  <a:lnTo>
                    <a:pt x="788734" y="57186"/>
                  </a:lnTo>
                  <a:lnTo>
                    <a:pt x="791935" y="57186"/>
                  </a:lnTo>
                  <a:lnTo>
                    <a:pt x="791935" y="46217"/>
                  </a:lnTo>
                  <a:close/>
                </a:path>
                <a:path w="804545" h="103504">
                  <a:moveTo>
                    <a:pt x="768447" y="45352"/>
                  </a:moveTo>
                  <a:lnTo>
                    <a:pt x="779332" y="51702"/>
                  </a:lnTo>
                  <a:lnTo>
                    <a:pt x="788734" y="46217"/>
                  </a:lnTo>
                  <a:lnTo>
                    <a:pt x="791935" y="46217"/>
                  </a:lnTo>
                  <a:lnTo>
                    <a:pt x="791935" y="45352"/>
                  </a:lnTo>
                  <a:lnTo>
                    <a:pt x="768447" y="45352"/>
                  </a:lnTo>
                  <a:close/>
                </a:path>
              </a:pathLst>
            </a:custGeom>
            <a:solidFill>
              <a:srgbClr val="FF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19" name="object 5">
            <a:extLst>
              <a:ext uri="{FF2B5EF4-FFF2-40B4-BE49-F238E27FC236}">
                <a16:creationId xmlns:a16="http://schemas.microsoft.com/office/drawing/2014/main" id="{A9A48A57-56BD-FB8D-2D8D-CBB675143AD1}"/>
              </a:ext>
            </a:extLst>
          </p:cNvPr>
          <p:cNvSpPr txBox="1">
            <a:spLocks/>
          </p:cNvSpPr>
          <p:nvPr/>
        </p:nvSpPr>
        <p:spPr>
          <a:xfrm>
            <a:off x="707390" y="524763"/>
            <a:ext cx="7729219" cy="63500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4000" b="1" i="0" u="none" strike="noStrike" kern="0" cap="none" spc="0" normalizeH="0" baseline="0" noProof="0">
                <a:ln>
                  <a:noFill/>
                </a:ln>
                <a:solidFill>
                  <a:sysClr val="windowText" lastClr="000000"/>
                </a:solidFill>
                <a:effectLst/>
                <a:uLnTx/>
                <a:uFillTx/>
                <a:latin typeface="Palatino Linotype"/>
                <a:ea typeface="+mj-ea"/>
              </a:rPr>
              <a:t>Dead</a:t>
            </a:r>
            <a:r>
              <a:rPr kumimoji="0" lang="en-US" sz="4000" b="1" i="0" u="none" strike="noStrike" kern="0" cap="none" spc="-50" normalizeH="0" baseline="0" noProof="0">
                <a:ln>
                  <a:noFill/>
                </a:ln>
                <a:solidFill>
                  <a:sysClr val="windowText" lastClr="000000"/>
                </a:solidFill>
                <a:effectLst/>
                <a:uLnTx/>
                <a:uFillTx/>
                <a:latin typeface="Palatino Linotype"/>
                <a:ea typeface="+mj-ea"/>
              </a:rPr>
              <a:t> </a:t>
            </a:r>
            <a:r>
              <a:rPr kumimoji="0" lang="en-US" sz="4000" b="1" i="0" u="none" strike="noStrike" kern="0" cap="none" spc="0" normalizeH="0" baseline="0" noProof="0">
                <a:ln>
                  <a:noFill/>
                </a:ln>
                <a:solidFill>
                  <a:sysClr val="windowText" lastClr="000000"/>
                </a:solidFill>
                <a:effectLst/>
                <a:uLnTx/>
                <a:uFillTx/>
                <a:latin typeface="Palatino Linotype"/>
                <a:ea typeface="+mj-ea"/>
              </a:rPr>
              <a:t>Code</a:t>
            </a:r>
            <a:r>
              <a:rPr kumimoji="0" lang="en-US" sz="4000" b="1" i="0" u="none" strike="noStrike" kern="0" cap="none" spc="-35" normalizeH="0" baseline="0" noProof="0">
                <a:ln>
                  <a:noFill/>
                </a:ln>
                <a:solidFill>
                  <a:sysClr val="windowText" lastClr="000000"/>
                </a:solidFill>
                <a:effectLst/>
                <a:uLnTx/>
                <a:uFillTx/>
                <a:latin typeface="Palatino Linotype"/>
                <a:ea typeface="+mj-ea"/>
              </a:rPr>
              <a:t> </a:t>
            </a:r>
            <a:r>
              <a:rPr kumimoji="0" lang="en-US" sz="4000" b="1" i="0" u="none" strike="noStrike" kern="0" cap="none" spc="-10" normalizeH="0" baseline="0" noProof="0">
                <a:ln>
                  <a:noFill/>
                </a:ln>
                <a:solidFill>
                  <a:sysClr val="windowText" lastClr="000000"/>
                </a:solidFill>
                <a:effectLst/>
                <a:uLnTx/>
                <a:uFillTx/>
                <a:latin typeface="Palatino Linotype"/>
                <a:ea typeface="+mj-ea"/>
              </a:rPr>
              <a:t>Elimination</a:t>
            </a:r>
            <a:endParaRPr kumimoji="0" lang="en-US" sz="4000" b="1" i="0" u="none" strike="noStrike" kern="0" cap="none" spc="-10" normalizeH="0" baseline="0" noProof="0" dirty="0">
              <a:ln>
                <a:noFill/>
              </a:ln>
              <a:solidFill>
                <a:sysClr val="windowText" lastClr="000000"/>
              </a:solidFill>
              <a:effectLst/>
              <a:uLnTx/>
              <a:uFillTx/>
              <a:latin typeface="Palatino Linotype"/>
              <a:ea typeface="+mj-ea"/>
            </a:endParaRPr>
          </a:p>
        </p:txBody>
      </p:sp>
      <p:sp>
        <p:nvSpPr>
          <p:cNvPr id="20" name="object 6">
            <a:extLst>
              <a:ext uri="{FF2B5EF4-FFF2-40B4-BE49-F238E27FC236}">
                <a16:creationId xmlns:a16="http://schemas.microsoft.com/office/drawing/2014/main" id="{84E6599C-972E-F66D-78DE-55C1BD81C046}"/>
              </a:ext>
            </a:extLst>
          </p:cNvPr>
          <p:cNvSpPr txBox="1"/>
          <p:nvPr/>
        </p:nvSpPr>
        <p:spPr>
          <a:xfrm>
            <a:off x="707390" y="1610867"/>
            <a:ext cx="7623175" cy="2512695"/>
          </a:xfrm>
          <a:prstGeom prst="rect">
            <a:avLst/>
          </a:prstGeom>
        </p:spPr>
        <p:txBody>
          <a:bodyPr vert="horz" wrap="square" lIns="0" tIns="12700" rIns="0" bIns="0" rtlCol="0">
            <a:spAutoFit/>
          </a:bodyPr>
          <a:lstStyle/>
          <a:p>
            <a:pPr marL="242570" marR="5080" indent="-230504">
              <a:lnSpc>
                <a:spcPct val="115999"/>
              </a:lnSpc>
              <a:spcBef>
                <a:spcPts val="100"/>
              </a:spcBef>
              <a:buFont typeface="Arial MT"/>
              <a:buChar char="•"/>
              <a:tabLst>
                <a:tab pos="242570" algn="l"/>
              </a:tabLst>
            </a:pPr>
            <a:r>
              <a:rPr sz="2000" spc="-20" dirty="0">
                <a:solidFill>
                  <a:sysClr val="windowText" lastClr="000000"/>
                </a:solidFill>
                <a:latin typeface="Palatino Linotype"/>
                <a:cs typeface="Palatino Linotype"/>
              </a:rPr>
              <a:t>We</a:t>
            </a:r>
            <a:r>
              <a:rPr sz="2000" spc="-3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can</a:t>
            </a:r>
            <a:r>
              <a:rPr sz="2000" spc="-4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delete</a:t>
            </a:r>
            <a:r>
              <a:rPr sz="2000" spc="-3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from</a:t>
            </a:r>
            <a:r>
              <a:rPr sz="2000" spc="-3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a</a:t>
            </a:r>
            <a:r>
              <a:rPr sz="2000" spc="-3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DAG</a:t>
            </a:r>
            <a:r>
              <a:rPr sz="2000" spc="-4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any</a:t>
            </a:r>
            <a:r>
              <a:rPr sz="2000" spc="-30" dirty="0">
                <a:solidFill>
                  <a:sysClr val="windowText" lastClr="000000"/>
                </a:solidFill>
                <a:latin typeface="Palatino Linotype"/>
                <a:cs typeface="Palatino Linotype"/>
              </a:rPr>
              <a:t> </a:t>
            </a:r>
            <a:r>
              <a:rPr sz="2000" dirty="0">
                <a:solidFill>
                  <a:srgbClr val="FF0000"/>
                </a:solidFill>
                <a:latin typeface="Palatino Linotype"/>
                <a:cs typeface="Palatino Linotype"/>
              </a:rPr>
              <a:t>root</a:t>
            </a:r>
            <a:r>
              <a:rPr sz="2000" spc="-40" dirty="0">
                <a:solidFill>
                  <a:srgbClr val="FF0000"/>
                </a:solidFill>
                <a:latin typeface="Palatino Linotype"/>
                <a:cs typeface="Palatino Linotype"/>
              </a:rPr>
              <a:t> </a:t>
            </a:r>
            <a:r>
              <a:rPr sz="2000" dirty="0">
                <a:solidFill>
                  <a:sysClr val="windowText" lastClr="000000"/>
                </a:solidFill>
                <a:latin typeface="Palatino Linotype"/>
                <a:cs typeface="Palatino Linotype"/>
              </a:rPr>
              <a:t>(node</a:t>
            </a:r>
            <a:r>
              <a:rPr sz="2000" spc="-3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without</a:t>
            </a:r>
            <a:r>
              <a:rPr sz="2000" spc="-3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ancestors)</a:t>
            </a:r>
            <a:r>
              <a:rPr sz="2000" spc="-40" dirty="0">
                <a:solidFill>
                  <a:sysClr val="windowText" lastClr="000000"/>
                </a:solidFill>
                <a:latin typeface="Palatino Linotype"/>
                <a:cs typeface="Palatino Linotype"/>
              </a:rPr>
              <a:t> </a:t>
            </a:r>
            <a:r>
              <a:rPr sz="2000" spc="-20" dirty="0">
                <a:solidFill>
                  <a:sysClr val="windowText" lastClr="000000"/>
                </a:solidFill>
                <a:latin typeface="Palatino Linotype"/>
                <a:cs typeface="Palatino Linotype"/>
              </a:rPr>
              <a:t>that </a:t>
            </a:r>
            <a:r>
              <a:rPr sz="2000" dirty="0">
                <a:solidFill>
                  <a:sysClr val="windowText" lastClr="000000"/>
                </a:solidFill>
                <a:latin typeface="Palatino Linotype"/>
                <a:cs typeface="Palatino Linotype"/>
              </a:rPr>
              <a:t>has</a:t>
            </a:r>
            <a:r>
              <a:rPr sz="2000" spc="-50" dirty="0">
                <a:solidFill>
                  <a:sysClr val="windowText" lastClr="000000"/>
                </a:solidFill>
                <a:latin typeface="Palatino Linotype"/>
                <a:cs typeface="Palatino Linotype"/>
              </a:rPr>
              <a:t> </a:t>
            </a:r>
            <a:r>
              <a:rPr sz="2000" dirty="0">
                <a:solidFill>
                  <a:srgbClr val="FF0000"/>
                </a:solidFill>
                <a:latin typeface="Palatino Linotype"/>
                <a:cs typeface="Palatino Linotype"/>
              </a:rPr>
              <a:t>no</a:t>
            </a:r>
            <a:r>
              <a:rPr sz="2000" spc="-50" dirty="0">
                <a:solidFill>
                  <a:srgbClr val="FF0000"/>
                </a:solidFill>
                <a:latin typeface="Palatino Linotype"/>
                <a:cs typeface="Palatino Linotype"/>
              </a:rPr>
              <a:t> </a:t>
            </a:r>
            <a:r>
              <a:rPr sz="2000" dirty="0">
                <a:solidFill>
                  <a:srgbClr val="FF0000"/>
                </a:solidFill>
                <a:latin typeface="Palatino Linotype"/>
                <a:cs typeface="Palatino Linotype"/>
              </a:rPr>
              <a:t>live</a:t>
            </a:r>
            <a:r>
              <a:rPr sz="2000" spc="-45" dirty="0">
                <a:solidFill>
                  <a:srgbClr val="FF0000"/>
                </a:solidFill>
                <a:latin typeface="Palatino Linotype"/>
                <a:cs typeface="Palatino Linotype"/>
              </a:rPr>
              <a:t> </a:t>
            </a:r>
            <a:r>
              <a:rPr sz="2000" dirty="0">
                <a:solidFill>
                  <a:srgbClr val="FF0000"/>
                </a:solidFill>
                <a:latin typeface="Palatino Linotype"/>
                <a:cs typeface="Palatino Linotype"/>
              </a:rPr>
              <a:t>variables</a:t>
            </a:r>
            <a:r>
              <a:rPr sz="2000" spc="-50" dirty="0">
                <a:solidFill>
                  <a:srgbClr val="FF0000"/>
                </a:solidFill>
                <a:latin typeface="Palatino Linotype"/>
                <a:cs typeface="Palatino Linotype"/>
              </a:rPr>
              <a:t> </a:t>
            </a:r>
            <a:r>
              <a:rPr sz="2000" spc="-10" dirty="0">
                <a:solidFill>
                  <a:sysClr val="windowText" lastClr="000000"/>
                </a:solidFill>
                <a:latin typeface="Palatino Linotype"/>
                <a:cs typeface="Palatino Linotype"/>
              </a:rPr>
              <a:t>attached</a:t>
            </a:r>
            <a:endParaRPr sz="2000">
              <a:solidFill>
                <a:sysClr val="windowText" lastClr="000000"/>
              </a:solidFill>
              <a:latin typeface="Palatino Linotype"/>
              <a:cs typeface="Palatino Linotype"/>
            </a:endParaRPr>
          </a:p>
          <a:p>
            <a:pPr marL="242570" marR="389890" indent="-230504">
              <a:lnSpc>
                <a:spcPct val="121000"/>
              </a:lnSpc>
              <a:spcBef>
                <a:spcPts val="1200"/>
              </a:spcBef>
              <a:buClr>
                <a:srgbClr val="000000"/>
              </a:buClr>
              <a:buFont typeface="Arial MT"/>
              <a:buChar char="•"/>
              <a:tabLst>
                <a:tab pos="242570" algn="l"/>
              </a:tabLst>
            </a:pPr>
            <a:r>
              <a:rPr sz="2000" dirty="0">
                <a:solidFill>
                  <a:srgbClr val="FF0000"/>
                </a:solidFill>
                <a:latin typeface="Palatino Linotype"/>
                <a:cs typeface="Palatino Linotype"/>
              </a:rPr>
              <a:t>Repeatedly</a:t>
            </a:r>
            <a:r>
              <a:rPr sz="2000" spc="-55" dirty="0">
                <a:solidFill>
                  <a:srgbClr val="FF0000"/>
                </a:solidFill>
                <a:latin typeface="Palatino Linotype"/>
                <a:cs typeface="Palatino Linotype"/>
              </a:rPr>
              <a:t> </a:t>
            </a:r>
            <a:r>
              <a:rPr sz="2000" dirty="0">
                <a:solidFill>
                  <a:srgbClr val="FF0000"/>
                </a:solidFill>
                <a:latin typeface="Palatino Linotype"/>
                <a:cs typeface="Palatino Linotype"/>
              </a:rPr>
              <a:t>applying</a:t>
            </a:r>
            <a:r>
              <a:rPr sz="2000" spc="-55" dirty="0">
                <a:solidFill>
                  <a:srgbClr val="FF0000"/>
                </a:solidFill>
                <a:latin typeface="Palatino Linotype"/>
                <a:cs typeface="Palatino Linotype"/>
              </a:rPr>
              <a:t> </a:t>
            </a:r>
            <a:r>
              <a:rPr sz="2000" dirty="0">
                <a:solidFill>
                  <a:srgbClr val="FF0000"/>
                </a:solidFill>
                <a:latin typeface="Palatino Linotype"/>
                <a:cs typeface="Palatino Linotype"/>
              </a:rPr>
              <a:t>the</a:t>
            </a:r>
            <a:r>
              <a:rPr sz="2000" spc="-55" dirty="0">
                <a:solidFill>
                  <a:srgbClr val="FF0000"/>
                </a:solidFill>
                <a:latin typeface="Palatino Linotype"/>
                <a:cs typeface="Palatino Linotype"/>
              </a:rPr>
              <a:t> </a:t>
            </a:r>
            <a:r>
              <a:rPr sz="2000" dirty="0">
                <a:solidFill>
                  <a:srgbClr val="FF0000"/>
                </a:solidFill>
                <a:latin typeface="Palatino Linotype"/>
                <a:cs typeface="Palatino Linotype"/>
              </a:rPr>
              <a:t>above</a:t>
            </a:r>
            <a:r>
              <a:rPr sz="2000" spc="-55" dirty="0">
                <a:solidFill>
                  <a:srgbClr val="FF0000"/>
                </a:solidFill>
                <a:latin typeface="Palatino Linotype"/>
                <a:cs typeface="Palatino Linotype"/>
              </a:rPr>
              <a:t> </a:t>
            </a:r>
            <a:r>
              <a:rPr sz="2000" dirty="0">
                <a:solidFill>
                  <a:srgbClr val="FF0000"/>
                </a:solidFill>
                <a:latin typeface="Palatino Linotype"/>
                <a:cs typeface="Palatino Linotype"/>
              </a:rPr>
              <a:t>transformation</a:t>
            </a:r>
            <a:r>
              <a:rPr sz="2000" spc="-55" dirty="0">
                <a:solidFill>
                  <a:srgbClr val="FF0000"/>
                </a:solidFill>
                <a:latin typeface="Palatino Linotype"/>
                <a:cs typeface="Palatino Linotype"/>
              </a:rPr>
              <a:t> </a:t>
            </a:r>
            <a:r>
              <a:rPr sz="2000" dirty="0">
                <a:solidFill>
                  <a:sysClr val="windowText" lastClr="000000"/>
                </a:solidFill>
                <a:latin typeface="Palatino Linotype"/>
                <a:cs typeface="Palatino Linotype"/>
              </a:rPr>
              <a:t>will</a:t>
            </a:r>
            <a:r>
              <a:rPr sz="2000" spc="-5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remove</a:t>
            </a:r>
            <a:r>
              <a:rPr sz="2000" spc="-55" dirty="0">
                <a:solidFill>
                  <a:sysClr val="windowText" lastClr="000000"/>
                </a:solidFill>
                <a:latin typeface="Palatino Linotype"/>
                <a:cs typeface="Palatino Linotype"/>
              </a:rPr>
              <a:t> </a:t>
            </a:r>
            <a:r>
              <a:rPr sz="2000" spc="-25" dirty="0">
                <a:solidFill>
                  <a:sysClr val="windowText" lastClr="000000"/>
                </a:solidFill>
                <a:latin typeface="Palatino Linotype"/>
                <a:cs typeface="Palatino Linotype"/>
              </a:rPr>
              <a:t>all </a:t>
            </a:r>
            <a:r>
              <a:rPr sz="2000" dirty="0">
                <a:solidFill>
                  <a:sysClr val="windowText" lastClr="000000"/>
                </a:solidFill>
                <a:latin typeface="Palatino Linotype"/>
                <a:cs typeface="Palatino Linotype"/>
              </a:rPr>
              <a:t>nodes</a:t>
            </a:r>
            <a:r>
              <a:rPr sz="2000" spc="-4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corresponding</a:t>
            </a:r>
            <a:r>
              <a:rPr sz="2000" spc="-4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to</a:t>
            </a:r>
            <a:r>
              <a:rPr sz="2000" spc="-4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dead</a:t>
            </a:r>
            <a:r>
              <a:rPr sz="2000" spc="-45" dirty="0">
                <a:solidFill>
                  <a:sysClr val="windowText" lastClr="000000"/>
                </a:solidFill>
                <a:latin typeface="Palatino Linotype"/>
                <a:cs typeface="Palatino Linotype"/>
              </a:rPr>
              <a:t> </a:t>
            </a:r>
            <a:r>
              <a:rPr sz="2000" spc="-20" dirty="0">
                <a:solidFill>
                  <a:sysClr val="windowText" lastClr="000000"/>
                </a:solidFill>
                <a:latin typeface="Palatino Linotype"/>
                <a:cs typeface="Palatino Linotype"/>
              </a:rPr>
              <a:t>code</a:t>
            </a:r>
            <a:endParaRPr sz="2000">
              <a:solidFill>
                <a:sysClr val="windowText" lastClr="000000"/>
              </a:solidFill>
              <a:latin typeface="Palatino Linotype"/>
              <a:cs typeface="Palatino Linotype"/>
            </a:endParaRPr>
          </a:p>
          <a:p>
            <a:pPr marL="242570" marR="116839" indent="-230504">
              <a:lnSpc>
                <a:spcPct val="121000"/>
              </a:lnSpc>
              <a:spcBef>
                <a:spcPts val="1200"/>
              </a:spcBef>
              <a:buFont typeface="Arial MT"/>
              <a:buChar char="•"/>
              <a:tabLst>
                <a:tab pos="242570" algn="l"/>
              </a:tabLst>
            </a:pPr>
            <a:r>
              <a:rPr sz="2000" dirty="0">
                <a:solidFill>
                  <a:sysClr val="windowText" lastClr="000000"/>
                </a:solidFill>
                <a:latin typeface="Palatino Linotype"/>
                <a:cs typeface="Palatino Linotype"/>
              </a:rPr>
              <a:t>Suppose</a:t>
            </a:r>
            <a:r>
              <a:rPr sz="2000" spc="-3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in</a:t>
            </a:r>
            <a:r>
              <a:rPr sz="2000" spc="-3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the</a:t>
            </a:r>
            <a:r>
              <a:rPr sz="2000" spc="-3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example</a:t>
            </a:r>
            <a:r>
              <a:rPr sz="2000" spc="-30" dirty="0">
                <a:solidFill>
                  <a:sysClr val="windowText" lastClr="000000"/>
                </a:solidFill>
                <a:latin typeface="Palatino Linotype"/>
                <a:cs typeface="Palatino Linotype"/>
              </a:rPr>
              <a:t> </a:t>
            </a:r>
            <a:r>
              <a:rPr sz="2000" spc="-25" dirty="0">
                <a:solidFill>
                  <a:sysClr val="windowText" lastClr="000000"/>
                </a:solidFill>
                <a:latin typeface="Palatino Linotype"/>
                <a:cs typeface="Palatino Linotype"/>
              </a:rPr>
              <a:t>below,</a:t>
            </a:r>
            <a:r>
              <a:rPr sz="2000" spc="-30" dirty="0">
                <a:solidFill>
                  <a:sysClr val="windowText" lastClr="000000"/>
                </a:solidFill>
                <a:latin typeface="Palatino Linotype"/>
                <a:cs typeface="Palatino Linotype"/>
              </a:rPr>
              <a:t> </a:t>
            </a:r>
            <a:r>
              <a:rPr sz="2000" dirty="0">
                <a:solidFill>
                  <a:srgbClr val="0432FF"/>
                </a:solidFill>
                <a:latin typeface="Cambria Math"/>
                <a:cs typeface="Cambria Math"/>
              </a:rPr>
              <a:t>𝑐</a:t>
            </a:r>
            <a:r>
              <a:rPr sz="2000" spc="95" dirty="0">
                <a:solidFill>
                  <a:srgbClr val="0432FF"/>
                </a:solidFill>
                <a:latin typeface="Cambria Math"/>
                <a:cs typeface="Cambria Math"/>
              </a:rPr>
              <a:t> </a:t>
            </a:r>
            <a:r>
              <a:rPr sz="2000" dirty="0">
                <a:solidFill>
                  <a:srgbClr val="0432FF"/>
                </a:solidFill>
                <a:latin typeface="Palatino Linotype"/>
                <a:cs typeface="Palatino Linotype"/>
              </a:rPr>
              <a:t>and</a:t>
            </a:r>
            <a:r>
              <a:rPr sz="2000" spc="-30" dirty="0">
                <a:solidFill>
                  <a:srgbClr val="0432FF"/>
                </a:solidFill>
                <a:latin typeface="Palatino Linotype"/>
                <a:cs typeface="Palatino Linotype"/>
              </a:rPr>
              <a:t> </a:t>
            </a:r>
            <a:r>
              <a:rPr sz="2000" dirty="0">
                <a:solidFill>
                  <a:srgbClr val="0432FF"/>
                </a:solidFill>
                <a:latin typeface="Cambria Math"/>
                <a:cs typeface="Cambria Math"/>
              </a:rPr>
              <a:t>𝑒</a:t>
            </a:r>
            <a:r>
              <a:rPr sz="2000" spc="65" dirty="0">
                <a:solidFill>
                  <a:srgbClr val="0432FF"/>
                </a:solidFill>
                <a:latin typeface="Cambria Math"/>
                <a:cs typeface="Cambria Math"/>
              </a:rPr>
              <a:t> </a:t>
            </a:r>
            <a:r>
              <a:rPr sz="2000" dirty="0">
                <a:solidFill>
                  <a:srgbClr val="0432FF"/>
                </a:solidFill>
                <a:latin typeface="Palatino Linotype"/>
                <a:cs typeface="Palatino Linotype"/>
              </a:rPr>
              <a:t>are</a:t>
            </a:r>
            <a:r>
              <a:rPr sz="2000" spc="-25" dirty="0">
                <a:solidFill>
                  <a:srgbClr val="0432FF"/>
                </a:solidFill>
                <a:latin typeface="Palatino Linotype"/>
                <a:cs typeface="Palatino Linotype"/>
              </a:rPr>
              <a:t> </a:t>
            </a:r>
            <a:r>
              <a:rPr sz="2000" dirty="0">
                <a:solidFill>
                  <a:srgbClr val="0432FF"/>
                </a:solidFill>
                <a:latin typeface="Palatino Linotype"/>
                <a:cs typeface="Palatino Linotype"/>
              </a:rPr>
              <a:t>not</a:t>
            </a:r>
            <a:r>
              <a:rPr sz="2000" spc="-35" dirty="0">
                <a:solidFill>
                  <a:srgbClr val="0432FF"/>
                </a:solidFill>
                <a:latin typeface="Palatino Linotype"/>
                <a:cs typeface="Palatino Linotype"/>
              </a:rPr>
              <a:t> </a:t>
            </a:r>
            <a:r>
              <a:rPr sz="2000" dirty="0">
                <a:solidFill>
                  <a:srgbClr val="0432FF"/>
                </a:solidFill>
                <a:latin typeface="Palatino Linotype"/>
                <a:cs typeface="Palatino Linotype"/>
              </a:rPr>
              <a:t>live</a:t>
            </a:r>
            <a:r>
              <a:rPr sz="2000" spc="-25" dirty="0">
                <a:solidFill>
                  <a:srgbClr val="0432FF"/>
                </a:solidFill>
                <a:latin typeface="Palatino Linotype"/>
                <a:cs typeface="Palatino Linotype"/>
              </a:rPr>
              <a:t> </a:t>
            </a:r>
            <a:r>
              <a:rPr sz="2000" dirty="0">
                <a:solidFill>
                  <a:sysClr val="windowText" lastClr="000000"/>
                </a:solidFill>
                <a:latin typeface="Palatino Linotype"/>
                <a:cs typeface="Palatino Linotype"/>
              </a:rPr>
              <a:t>(they</a:t>
            </a:r>
            <a:r>
              <a:rPr sz="2000" spc="-3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have</a:t>
            </a:r>
            <a:r>
              <a:rPr sz="2000" spc="-25" dirty="0">
                <a:solidFill>
                  <a:sysClr val="windowText" lastClr="000000"/>
                </a:solidFill>
                <a:latin typeface="Palatino Linotype"/>
                <a:cs typeface="Palatino Linotype"/>
              </a:rPr>
              <a:t> no </a:t>
            </a:r>
            <a:r>
              <a:rPr sz="2000" dirty="0">
                <a:solidFill>
                  <a:sysClr val="windowText" lastClr="000000"/>
                </a:solidFill>
                <a:latin typeface="Palatino Linotype"/>
                <a:cs typeface="Palatino Linotype"/>
              </a:rPr>
              <a:t>next</a:t>
            </a:r>
            <a:r>
              <a:rPr sz="2000" spc="-2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uses),</a:t>
            </a:r>
            <a:r>
              <a:rPr sz="2000" spc="-1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but</a:t>
            </a:r>
            <a:r>
              <a:rPr sz="2000" spc="-20" dirty="0">
                <a:solidFill>
                  <a:sysClr val="windowText" lastClr="000000"/>
                </a:solidFill>
                <a:latin typeface="Palatino Linotype"/>
                <a:cs typeface="Palatino Linotype"/>
              </a:rPr>
              <a:t> </a:t>
            </a:r>
            <a:r>
              <a:rPr sz="2000" dirty="0">
                <a:solidFill>
                  <a:srgbClr val="0432FF"/>
                </a:solidFill>
                <a:latin typeface="Cambria Math"/>
                <a:cs typeface="Cambria Math"/>
              </a:rPr>
              <a:t>𝑎</a:t>
            </a:r>
            <a:r>
              <a:rPr sz="2000" spc="85" dirty="0">
                <a:solidFill>
                  <a:srgbClr val="0432FF"/>
                </a:solidFill>
                <a:latin typeface="Cambria Math"/>
                <a:cs typeface="Cambria Math"/>
              </a:rPr>
              <a:t> </a:t>
            </a:r>
            <a:r>
              <a:rPr sz="2000" dirty="0">
                <a:solidFill>
                  <a:srgbClr val="0432FF"/>
                </a:solidFill>
                <a:latin typeface="Palatino Linotype"/>
                <a:cs typeface="Palatino Linotype"/>
              </a:rPr>
              <a:t>and</a:t>
            </a:r>
            <a:r>
              <a:rPr sz="2000" spc="-15" dirty="0">
                <a:solidFill>
                  <a:srgbClr val="0432FF"/>
                </a:solidFill>
                <a:latin typeface="Palatino Linotype"/>
                <a:cs typeface="Palatino Linotype"/>
              </a:rPr>
              <a:t> </a:t>
            </a:r>
            <a:r>
              <a:rPr sz="2000" dirty="0">
                <a:solidFill>
                  <a:srgbClr val="0432FF"/>
                </a:solidFill>
                <a:latin typeface="Cambria Math"/>
                <a:cs typeface="Cambria Math"/>
              </a:rPr>
              <a:t>𝑏</a:t>
            </a:r>
            <a:r>
              <a:rPr sz="2000" spc="85" dirty="0">
                <a:solidFill>
                  <a:srgbClr val="0432FF"/>
                </a:solidFill>
                <a:latin typeface="Cambria Math"/>
                <a:cs typeface="Cambria Math"/>
              </a:rPr>
              <a:t> </a:t>
            </a:r>
            <a:r>
              <a:rPr sz="2000" dirty="0">
                <a:solidFill>
                  <a:srgbClr val="0432FF"/>
                </a:solidFill>
                <a:latin typeface="Palatino Linotype"/>
                <a:cs typeface="Palatino Linotype"/>
              </a:rPr>
              <a:t>are</a:t>
            </a:r>
            <a:r>
              <a:rPr sz="2000" spc="-15" dirty="0">
                <a:solidFill>
                  <a:srgbClr val="0432FF"/>
                </a:solidFill>
                <a:latin typeface="Palatino Linotype"/>
                <a:cs typeface="Palatino Linotype"/>
              </a:rPr>
              <a:t> </a:t>
            </a:r>
            <a:r>
              <a:rPr sz="2000" spc="-20" dirty="0">
                <a:solidFill>
                  <a:srgbClr val="0432FF"/>
                </a:solidFill>
                <a:latin typeface="Palatino Linotype"/>
                <a:cs typeface="Palatino Linotype"/>
              </a:rPr>
              <a:t>live</a:t>
            </a:r>
            <a:endParaRPr sz="2000">
              <a:solidFill>
                <a:sysClr val="windowText" lastClr="000000"/>
              </a:solidFill>
              <a:latin typeface="Palatino Linotype"/>
              <a:cs typeface="Palatino Linotype"/>
            </a:endParaRPr>
          </a:p>
        </p:txBody>
      </p:sp>
      <p:grpSp>
        <p:nvGrpSpPr>
          <p:cNvPr id="21" name="object 7">
            <a:extLst>
              <a:ext uri="{FF2B5EF4-FFF2-40B4-BE49-F238E27FC236}">
                <a16:creationId xmlns:a16="http://schemas.microsoft.com/office/drawing/2014/main" id="{DFCAFE45-3013-A78E-1CED-605B01C64C0C}"/>
              </a:ext>
            </a:extLst>
          </p:cNvPr>
          <p:cNvGrpSpPr/>
          <p:nvPr/>
        </p:nvGrpSpPr>
        <p:grpSpPr>
          <a:xfrm>
            <a:off x="872658" y="4480237"/>
            <a:ext cx="2795270" cy="1380490"/>
            <a:chOff x="872658" y="4480237"/>
            <a:chExt cx="2795270" cy="1380490"/>
          </a:xfrm>
        </p:grpSpPr>
        <p:pic>
          <p:nvPicPr>
            <p:cNvPr id="22" name="object 8">
              <a:extLst>
                <a:ext uri="{FF2B5EF4-FFF2-40B4-BE49-F238E27FC236}">
                  <a16:creationId xmlns:a16="http://schemas.microsoft.com/office/drawing/2014/main" id="{C27DF996-DA23-B7A6-C99B-F7C40B36C8FD}"/>
                </a:ext>
              </a:extLst>
            </p:cNvPr>
            <p:cNvPicPr/>
            <p:nvPr/>
          </p:nvPicPr>
          <p:blipFill>
            <a:blip r:embed="rId4" cstate="print"/>
            <a:stretch>
              <a:fillRect/>
            </a:stretch>
          </p:blipFill>
          <p:spPr>
            <a:xfrm>
              <a:off x="872658" y="4480237"/>
              <a:ext cx="1958285" cy="1379999"/>
            </a:xfrm>
            <a:prstGeom prst="rect">
              <a:avLst/>
            </a:prstGeom>
          </p:spPr>
        </p:pic>
        <p:sp>
          <p:nvSpPr>
            <p:cNvPr id="23" name="object 9">
              <a:extLst>
                <a:ext uri="{FF2B5EF4-FFF2-40B4-BE49-F238E27FC236}">
                  <a16:creationId xmlns:a16="http://schemas.microsoft.com/office/drawing/2014/main" id="{AF45BF74-B8B4-52F1-7792-A89EDAF702C6}"/>
                </a:ext>
              </a:extLst>
            </p:cNvPr>
            <p:cNvSpPr/>
            <p:nvPr/>
          </p:nvSpPr>
          <p:spPr>
            <a:xfrm>
              <a:off x="2863115" y="5452323"/>
              <a:ext cx="804545" cy="103505"/>
            </a:xfrm>
            <a:custGeom>
              <a:avLst/>
              <a:gdLst/>
              <a:ahLst/>
              <a:cxnLst/>
              <a:rect l="l" t="t" r="r" b="b"/>
              <a:pathLst>
                <a:path w="804545" h="103504">
                  <a:moveTo>
                    <a:pt x="715905" y="0"/>
                  </a:moveTo>
                  <a:lnTo>
                    <a:pt x="712016" y="1023"/>
                  </a:lnTo>
                  <a:lnTo>
                    <a:pt x="708483" y="7081"/>
                  </a:lnTo>
                  <a:lnTo>
                    <a:pt x="709505" y="10970"/>
                  </a:lnTo>
                  <a:lnTo>
                    <a:pt x="768448" y="45352"/>
                  </a:lnTo>
                  <a:lnTo>
                    <a:pt x="791935" y="45352"/>
                  </a:lnTo>
                  <a:lnTo>
                    <a:pt x="791935" y="58052"/>
                  </a:lnTo>
                  <a:lnTo>
                    <a:pt x="768446" y="58052"/>
                  </a:lnTo>
                  <a:lnTo>
                    <a:pt x="709505" y="92434"/>
                  </a:lnTo>
                  <a:lnTo>
                    <a:pt x="708483" y="96323"/>
                  </a:lnTo>
                  <a:lnTo>
                    <a:pt x="712016" y="102381"/>
                  </a:lnTo>
                  <a:lnTo>
                    <a:pt x="715905" y="103404"/>
                  </a:lnTo>
                  <a:lnTo>
                    <a:pt x="793651" y="58052"/>
                  </a:lnTo>
                  <a:lnTo>
                    <a:pt x="791935" y="58052"/>
                  </a:lnTo>
                  <a:lnTo>
                    <a:pt x="793653" y="58051"/>
                  </a:lnTo>
                  <a:lnTo>
                    <a:pt x="804537" y="51702"/>
                  </a:lnTo>
                  <a:lnTo>
                    <a:pt x="715905" y="0"/>
                  </a:lnTo>
                  <a:close/>
                </a:path>
                <a:path w="804545" h="103504">
                  <a:moveTo>
                    <a:pt x="779333" y="51702"/>
                  </a:moveTo>
                  <a:lnTo>
                    <a:pt x="768446" y="58052"/>
                  </a:lnTo>
                  <a:lnTo>
                    <a:pt x="791935" y="58052"/>
                  </a:lnTo>
                  <a:lnTo>
                    <a:pt x="791935" y="57186"/>
                  </a:lnTo>
                  <a:lnTo>
                    <a:pt x="788736" y="57186"/>
                  </a:lnTo>
                  <a:lnTo>
                    <a:pt x="779333" y="51702"/>
                  </a:lnTo>
                  <a:close/>
                </a:path>
                <a:path w="804545" h="103504">
                  <a:moveTo>
                    <a:pt x="0" y="45351"/>
                  </a:moveTo>
                  <a:lnTo>
                    <a:pt x="0" y="58051"/>
                  </a:lnTo>
                  <a:lnTo>
                    <a:pt x="768448" y="58051"/>
                  </a:lnTo>
                  <a:lnTo>
                    <a:pt x="779333" y="51702"/>
                  </a:lnTo>
                  <a:lnTo>
                    <a:pt x="768448" y="45352"/>
                  </a:lnTo>
                  <a:lnTo>
                    <a:pt x="0" y="45351"/>
                  </a:lnTo>
                  <a:close/>
                </a:path>
                <a:path w="804545" h="103504">
                  <a:moveTo>
                    <a:pt x="788736" y="46217"/>
                  </a:moveTo>
                  <a:lnTo>
                    <a:pt x="779333" y="51702"/>
                  </a:lnTo>
                  <a:lnTo>
                    <a:pt x="788736" y="57186"/>
                  </a:lnTo>
                  <a:lnTo>
                    <a:pt x="788736" y="46217"/>
                  </a:lnTo>
                  <a:close/>
                </a:path>
                <a:path w="804545" h="103504">
                  <a:moveTo>
                    <a:pt x="791935" y="46217"/>
                  </a:moveTo>
                  <a:lnTo>
                    <a:pt x="788736" y="46217"/>
                  </a:lnTo>
                  <a:lnTo>
                    <a:pt x="788736" y="57186"/>
                  </a:lnTo>
                  <a:lnTo>
                    <a:pt x="791935" y="57186"/>
                  </a:lnTo>
                  <a:lnTo>
                    <a:pt x="791935" y="46217"/>
                  </a:lnTo>
                  <a:close/>
                </a:path>
                <a:path w="804545" h="103504">
                  <a:moveTo>
                    <a:pt x="768448" y="45352"/>
                  </a:moveTo>
                  <a:lnTo>
                    <a:pt x="779333" y="51702"/>
                  </a:lnTo>
                  <a:lnTo>
                    <a:pt x="788736" y="46217"/>
                  </a:lnTo>
                  <a:lnTo>
                    <a:pt x="791935" y="46217"/>
                  </a:lnTo>
                  <a:lnTo>
                    <a:pt x="791935" y="45352"/>
                  </a:lnTo>
                  <a:lnTo>
                    <a:pt x="768448" y="45352"/>
                  </a:lnTo>
                  <a:close/>
                </a:path>
              </a:pathLst>
            </a:custGeom>
            <a:solidFill>
              <a:srgbClr val="FF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pic>
        <p:nvPicPr>
          <p:cNvPr id="24" name="object 10">
            <a:extLst>
              <a:ext uri="{FF2B5EF4-FFF2-40B4-BE49-F238E27FC236}">
                <a16:creationId xmlns:a16="http://schemas.microsoft.com/office/drawing/2014/main" id="{AC377D6D-7D2D-3A42-2256-AD2EDBA009B5}"/>
              </a:ext>
            </a:extLst>
          </p:cNvPr>
          <p:cNvPicPr/>
          <p:nvPr/>
        </p:nvPicPr>
        <p:blipFill>
          <a:blip r:embed="rId5" cstate="print"/>
          <a:stretch>
            <a:fillRect/>
          </a:stretch>
        </p:blipFill>
        <p:spPr>
          <a:xfrm>
            <a:off x="6591024" y="4973094"/>
            <a:ext cx="1693238" cy="873999"/>
          </a:xfrm>
          <a:prstGeom prst="rect">
            <a:avLst/>
          </a:prstGeom>
        </p:spPr>
      </p:pic>
      <p:sp>
        <p:nvSpPr>
          <p:cNvPr id="25" name="object 11">
            <a:extLst>
              <a:ext uri="{FF2B5EF4-FFF2-40B4-BE49-F238E27FC236}">
                <a16:creationId xmlns:a16="http://schemas.microsoft.com/office/drawing/2014/main" id="{9239EDEE-2C30-49D5-1745-71E766A74453}"/>
              </a:ext>
            </a:extLst>
          </p:cNvPr>
          <p:cNvSpPr txBox="1"/>
          <p:nvPr/>
        </p:nvSpPr>
        <p:spPr>
          <a:xfrm>
            <a:off x="2852529" y="5161788"/>
            <a:ext cx="800100" cy="238760"/>
          </a:xfrm>
          <a:prstGeom prst="rect">
            <a:avLst/>
          </a:prstGeom>
        </p:spPr>
        <p:txBody>
          <a:bodyPr vert="horz" wrap="square" lIns="0" tIns="12700" rIns="0" bIns="0" rtlCol="0">
            <a:spAutoFit/>
          </a:bodyPr>
          <a:lstStyle/>
          <a:p>
            <a:pPr marL="12700">
              <a:spcBef>
                <a:spcPts val="100"/>
              </a:spcBef>
            </a:pPr>
            <a:r>
              <a:rPr sz="1400" dirty="0">
                <a:solidFill>
                  <a:srgbClr val="FF0000"/>
                </a:solidFill>
                <a:latin typeface="Palatino Linotype"/>
                <a:cs typeface="Palatino Linotype"/>
              </a:rPr>
              <a:t>Remove</a:t>
            </a:r>
            <a:r>
              <a:rPr sz="1400" spc="-70" dirty="0">
                <a:solidFill>
                  <a:srgbClr val="FF0000"/>
                </a:solidFill>
                <a:latin typeface="Palatino Linotype"/>
                <a:cs typeface="Palatino Linotype"/>
              </a:rPr>
              <a:t> </a:t>
            </a:r>
            <a:r>
              <a:rPr sz="1400" spc="-50" dirty="0">
                <a:solidFill>
                  <a:srgbClr val="FF0000"/>
                </a:solidFill>
                <a:latin typeface="Cambria Math"/>
                <a:cs typeface="Cambria Math"/>
              </a:rPr>
              <a:t>𝑒</a:t>
            </a:r>
            <a:endParaRPr sz="1400">
              <a:solidFill>
                <a:sysClr val="windowText" lastClr="000000"/>
              </a:solidFill>
              <a:latin typeface="Cambria Math"/>
              <a:cs typeface="Cambria Math"/>
            </a:endParaRPr>
          </a:p>
        </p:txBody>
      </p:sp>
      <p:sp>
        <p:nvSpPr>
          <p:cNvPr id="26" name="object 12">
            <a:extLst>
              <a:ext uri="{FF2B5EF4-FFF2-40B4-BE49-F238E27FC236}">
                <a16:creationId xmlns:a16="http://schemas.microsoft.com/office/drawing/2014/main" id="{6EC70F46-C1D9-F92D-8F41-1232B13AF79A}"/>
              </a:ext>
            </a:extLst>
          </p:cNvPr>
          <p:cNvSpPr txBox="1"/>
          <p:nvPr/>
        </p:nvSpPr>
        <p:spPr>
          <a:xfrm>
            <a:off x="5699338" y="5161788"/>
            <a:ext cx="793115" cy="238760"/>
          </a:xfrm>
          <a:prstGeom prst="rect">
            <a:avLst/>
          </a:prstGeom>
        </p:spPr>
        <p:txBody>
          <a:bodyPr vert="horz" wrap="square" lIns="0" tIns="12700" rIns="0" bIns="0" rtlCol="0">
            <a:spAutoFit/>
          </a:bodyPr>
          <a:lstStyle/>
          <a:p>
            <a:pPr marL="12700">
              <a:spcBef>
                <a:spcPts val="100"/>
              </a:spcBef>
            </a:pPr>
            <a:r>
              <a:rPr sz="1400" dirty="0">
                <a:solidFill>
                  <a:srgbClr val="FF0000"/>
                </a:solidFill>
                <a:latin typeface="Palatino Linotype"/>
                <a:cs typeface="Palatino Linotype"/>
              </a:rPr>
              <a:t>Remove</a:t>
            </a:r>
            <a:r>
              <a:rPr sz="1400" spc="-70" dirty="0">
                <a:solidFill>
                  <a:srgbClr val="FF0000"/>
                </a:solidFill>
                <a:latin typeface="Palatino Linotype"/>
                <a:cs typeface="Palatino Linotype"/>
              </a:rPr>
              <a:t> </a:t>
            </a:r>
            <a:r>
              <a:rPr sz="1400" spc="-50" dirty="0">
                <a:solidFill>
                  <a:srgbClr val="FF0000"/>
                </a:solidFill>
                <a:latin typeface="Cambria Math"/>
                <a:cs typeface="Cambria Math"/>
              </a:rPr>
              <a:t>𝑐</a:t>
            </a:r>
            <a:endParaRPr sz="1400">
              <a:solidFill>
                <a:sysClr val="windowText" lastClr="000000"/>
              </a:solidFill>
              <a:latin typeface="Cambria Math"/>
              <a:cs typeface="Cambria Math"/>
            </a:endParaRPr>
          </a:p>
        </p:txBody>
      </p:sp>
    </p:spTree>
    <p:extLst>
      <p:ext uri="{BB962C8B-B14F-4D97-AF65-F5344CB8AC3E}">
        <p14:creationId xmlns:p14="http://schemas.microsoft.com/office/powerpoint/2010/main" val="371452523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57</a:t>
            </a:fld>
            <a:endParaRPr lang="en-US"/>
          </a:p>
        </p:txBody>
      </p:sp>
      <p:sp>
        <p:nvSpPr>
          <p:cNvPr id="11" name="object 2">
            <a:extLst>
              <a:ext uri="{FF2B5EF4-FFF2-40B4-BE49-F238E27FC236}">
                <a16:creationId xmlns:a16="http://schemas.microsoft.com/office/drawing/2014/main" id="{4A3E2996-C33D-D872-B42D-23D5C0D52416}"/>
              </a:ext>
            </a:extLst>
          </p:cNvPr>
          <p:cNvSpPr txBox="1">
            <a:spLocks/>
          </p:cNvSpPr>
          <p:nvPr/>
        </p:nvSpPr>
        <p:spPr>
          <a:xfrm>
            <a:off x="707390" y="475995"/>
            <a:ext cx="7280909" cy="63500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4000" b="1" i="0" u="none" strike="noStrike" kern="0" cap="none" spc="0" normalizeH="0" baseline="0" noProof="0">
                <a:ln>
                  <a:noFill/>
                </a:ln>
                <a:solidFill>
                  <a:sysClr val="windowText" lastClr="000000"/>
                </a:solidFill>
                <a:effectLst/>
                <a:uLnTx/>
                <a:uFillTx/>
                <a:latin typeface="Palatino Linotype"/>
                <a:ea typeface="+mj-ea"/>
              </a:rPr>
              <a:t>The</a:t>
            </a:r>
            <a:r>
              <a:rPr kumimoji="0" lang="en-US" sz="4000" b="1" i="0" u="none" strike="noStrike" kern="0" cap="none" spc="-55" normalizeH="0" baseline="0" noProof="0">
                <a:ln>
                  <a:noFill/>
                </a:ln>
                <a:solidFill>
                  <a:sysClr val="windowText" lastClr="000000"/>
                </a:solidFill>
                <a:effectLst/>
                <a:uLnTx/>
                <a:uFillTx/>
                <a:latin typeface="Palatino Linotype"/>
                <a:ea typeface="+mj-ea"/>
              </a:rPr>
              <a:t> </a:t>
            </a:r>
            <a:r>
              <a:rPr kumimoji="0" lang="en-US" sz="4000" b="1" i="0" u="none" strike="noStrike" kern="0" cap="none" spc="0" normalizeH="0" baseline="0" noProof="0">
                <a:ln>
                  <a:noFill/>
                </a:ln>
                <a:solidFill>
                  <a:sysClr val="windowText" lastClr="000000"/>
                </a:solidFill>
                <a:effectLst/>
                <a:uLnTx/>
                <a:uFillTx/>
                <a:latin typeface="Palatino Linotype"/>
                <a:ea typeface="+mj-ea"/>
              </a:rPr>
              <a:t>Use</a:t>
            </a:r>
            <a:r>
              <a:rPr kumimoji="0" lang="en-US" sz="4000" b="1" i="0" u="none" strike="noStrike" kern="0" cap="none" spc="-50" normalizeH="0" baseline="0" noProof="0">
                <a:ln>
                  <a:noFill/>
                </a:ln>
                <a:solidFill>
                  <a:sysClr val="windowText" lastClr="000000"/>
                </a:solidFill>
                <a:effectLst/>
                <a:uLnTx/>
                <a:uFillTx/>
                <a:latin typeface="Palatino Linotype"/>
                <a:ea typeface="+mj-ea"/>
              </a:rPr>
              <a:t> </a:t>
            </a:r>
            <a:r>
              <a:rPr kumimoji="0" lang="en-US" sz="4000" b="1" i="0" u="none" strike="noStrike" kern="0" cap="none" spc="0" normalizeH="0" baseline="0" noProof="0">
                <a:ln>
                  <a:noFill/>
                </a:ln>
                <a:solidFill>
                  <a:sysClr val="windowText" lastClr="000000"/>
                </a:solidFill>
                <a:effectLst/>
                <a:uLnTx/>
                <a:uFillTx/>
                <a:latin typeface="Palatino Linotype"/>
                <a:ea typeface="+mj-ea"/>
              </a:rPr>
              <a:t>of</a:t>
            </a:r>
            <a:r>
              <a:rPr kumimoji="0" lang="en-US" sz="4000" b="1" i="0" u="none" strike="noStrike" kern="0" cap="none" spc="-45" normalizeH="0" baseline="0" noProof="0">
                <a:ln>
                  <a:noFill/>
                </a:ln>
                <a:solidFill>
                  <a:sysClr val="windowText" lastClr="000000"/>
                </a:solidFill>
                <a:effectLst/>
                <a:uLnTx/>
                <a:uFillTx/>
                <a:latin typeface="Palatino Linotype"/>
                <a:ea typeface="+mj-ea"/>
              </a:rPr>
              <a:t> </a:t>
            </a:r>
            <a:r>
              <a:rPr kumimoji="0" lang="en-US" sz="4000" b="1" i="0" u="none" strike="noStrike" kern="0" cap="none" spc="0" normalizeH="0" baseline="0" noProof="0">
                <a:ln>
                  <a:noFill/>
                </a:ln>
                <a:solidFill>
                  <a:sysClr val="windowText" lastClr="000000"/>
                </a:solidFill>
                <a:effectLst/>
                <a:uLnTx/>
                <a:uFillTx/>
                <a:latin typeface="Palatino Linotype"/>
                <a:ea typeface="+mj-ea"/>
              </a:rPr>
              <a:t>Algebraic</a:t>
            </a:r>
            <a:r>
              <a:rPr kumimoji="0" lang="en-US" sz="4000" b="1" i="0" u="none" strike="noStrike" kern="0" cap="none" spc="-55" normalizeH="0" baseline="0" noProof="0">
                <a:ln>
                  <a:noFill/>
                </a:ln>
                <a:solidFill>
                  <a:sysClr val="windowText" lastClr="000000"/>
                </a:solidFill>
                <a:effectLst/>
                <a:uLnTx/>
                <a:uFillTx/>
                <a:latin typeface="Palatino Linotype"/>
                <a:ea typeface="+mj-ea"/>
              </a:rPr>
              <a:t> </a:t>
            </a:r>
            <a:r>
              <a:rPr kumimoji="0" lang="en-US" sz="4000" b="1" i="0" u="none" strike="noStrike" kern="0" cap="none" spc="-10" normalizeH="0" baseline="0" noProof="0">
                <a:ln>
                  <a:noFill/>
                </a:ln>
                <a:solidFill>
                  <a:sysClr val="windowText" lastClr="000000"/>
                </a:solidFill>
                <a:effectLst/>
                <a:uLnTx/>
                <a:uFillTx/>
                <a:latin typeface="Palatino Linotype"/>
                <a:ea typeface="+mj-ea"/>
              </a:rPr>
              <a:t>Identities</a:t>
            </a:r>
            <a:endParaRPr kumimoji="0" lang="en-US" sz="4000" b="1" i="0" u="none" strike="noStrike" kern="0" cap="none" spc="-10" normalizeH="0" baseline="0" noProof="0" dirty="0">
              <a:ln>
                <a:noFill/>
              </a:ln>
              <a:solidFill>
                <a:sysClr val="windowText" lastClr="000000"/>
              </a:solidFill>
              <a:effectLst/>
              <a:uLnTx/>
              <a:uFillTx/>
              <a:latin typeface="Palatino Linotype"/>
              <a:ea typeface="+mj-ea"/>
            </a:endParaRPr>
          </a:p>
        </p:txBody>
      </p:sp>
      <p:sp>
        <p:nvSpPr>
          <p:cNvPr id="12" name="object 3">
            <a:extLst>
              <a:ext uri="{FF2B5EF4-FFF2-40B4-BE49-F238E27FC236}">
                <a16:creationId xmlns:a16="http://schemas.microsoft.com/office/drawing/2014/main" id="{4FFE72C7-FC3B-C85D-869C-C410A9F9D6AB}"/>
              </a:ext>
            </a:extLst>
          </p:cNvPr>
          <p:cNvSpPr txBox="1"/>
          <p:nvPr/>
        </p:nvSpPr>
        <p:spPr>
          <a:xfrm>
            <a:off x="707390" y="1521459"/>
            <a:ext cx="7446009" cy="360680"/>
          </a:xfrm>
          <a:prstGeom prst="rect">
            <a:avLst/>
          </a:prstGeom>
        </p:spPr>
        <p:txBody>
          <a:bodyPr vert="horz" wrap="square" lIns="0" tIns="12700" rIns="0" bIns="0" rtlCol="0">
            <a:spAutoFit/>
          </a:bodyPr>
          <a:lstStyle/>
          <a:p>
            <a:pPr marL="242570" indent="-229870">
              <a:spcBef>
                <a:spcPts val="100"/>
              </a:spcBef>
              <a:buClr>
                <a:srgbClr val="000000"/>
              </a:buClr>
              <a:buFont typeface="Arial MT"/>
              <a:buChar char="•"/>
              <a:tabLst>
                <a:tab pos="242570" algn="l"/>
              </a:tabLst>
            </a:pPr>
            <a:r>
              <a:rPr sz="2200" dirty="0">
                <a:solidFill>
                  <a:srgbClr val="FF0000"/>
                </a:solidFill>
                <a:latin typeface="Palatino Linotype"/>
                <a:cs typeface="Palatino Linotype"/>
              </a:rPr>
              <a:t>Eliminate</a:t>
            </a:r>
            <a:r>
              <a:rPr sz="2200" spc="-35" dirty="0">
                <a:solidFill>
                  <a:srgbClr val="FF0000"/>
                </a:solidFill>
                <a:latin typeface="Palatino Linotype"/>
                <a:cs typeface="Palatino Linotype"/>
              </a:rPr>
              <a:t> </a:t>
            </a:r>
            <a:r>
              <a:rPr sz="2200" dirty="0">
                <a:solidFill>
                  <a:srgbClr val="FF0000"/>
                </a:solidFill>
                <a:latin typeface="Palatino Linotype"/>
                <a:cs typeface="Palatino Linotype"/>
              </a:rPr>
              <a:t>computations</a:t>
            </a:r>
            <a:r>
              <a:rPr sz="2200" spc="-20" dirty="0">
                <a:solidFill>
                  <a:srgbClr val="FF0000"/>
                </a:solidFill>
                <a:latin typeface="Palatino Linotype"/>
                <a:cs typeface="Palatino Linotype"/>
              </a:rPr>
              <a:t> (</a:t>
            </a:r>
            <a:r>
              <a:rPr sz="2200" dirty="0">
                <a:solidFill>
                  <a:srgbClr val="FF0000"/>
                </a:solidFill>
                <a:latin typeface="SimSun"/>
                <a:cs typeface="SimSun"/>
              </a:rPr>
              <a:t>消除计算步骤</a:t>
            </a:r>
            <a:r>
              <a:rPr sz="2200" spc="-15" dirty="0">
                <a:solidFill>
                  <a:srgbClr val="FF0000"/>
                </a:solidFill>
                <a:latin typeface="Palatino Linotype"/>
                <a:cs typeface="Palatino Linotype"/>
              </a:rPr>
              <a:t>) </a:t>
            </a:r>
            <a:r>
              <a:rPr sz="2200" dirty="0">
                <a:solidFill>
                  <a:sysClr val="windowText" lastClr="000000"/>
                </a:solidFill>
                <a:latin typeface="Palatino Linotype"/>
                <a:cs typeface="Palatino Linotype"/>
              </a:rPr>
              <a:t>from</a:t>
            </a:r>
            <a:r>
              <a:rPr sz="2200" spc="-35" dirty="0">
                <a:solidFill>
                  <a:sysClr val="windowText" lastClr="000000"/>
                </a:solidFill>
                <a:latin typeface="Palatino Linotype"/>
                <a:cs typeface="Palatino Linotype"/>
              </a:rPr>
              <a:t> </a:t>
            </a:r>
            <a:r>
              <a:rPr sz="2200" dirty="0">
                <a:solidFill>
                  <a:sysClr val="windowText" lastClr="000000"/>
                </a:solidFill>
                <a:latin typeface="Palatino Linotype"/>
                <a:cs typeface="Palatino Linotype"/>
              </a:rPr>
              <a:t>a</a:t>
            </a:r>
            <a:r>
              <a:rPr sz="2200" spc="-25" dirty="0">
                <a:solidFill>
                  <a:sysClr val="windowText" lastClr="000000"/>
                </a:solidFill>
                <a:latin typeface="Palatino Linotype"/>
                <a:cs typeface="Palatino Linotype"/>
              </a:rPr>
              <a:t> </a:t>
            </a:r>
            <a:r>
              <a:rPr sz="2200" dirty="0">
                <a:solidFill>
                  <a:sysClr val="windowText" lastClr="000000"/>
                </a:solidFill>
                <a:latin typeface="Palatino Linotype"/>
                <a:cs typeface="Palatino Linotype"/>
              </a:rPr>
              <a:t>basic</a:t>
            </a:r>
            <a:r>
              <a:rPr sz="2200" spc="-35" dirty="0">
                <a:solidFill>
                  <a:sysClr val="windowText" lastClr="000000"/>
                </a:solidFill>
                <a:latin typeface="Palatino Linotype"/>
                <a:cs typeface="Palatino Linotype"/>
              </a:rPr>
              <a:t> </a:t>
            </a:r>
            <a:r>
              <a:rPr sz="2200" spc="-10" dirty="0">
                <a:solidFill>
                  <a:sysClr val="windowText" lastClr="000000"/>
                </a:solidFill>
                <a:latin typeface="Palatino Linotype"/>
                <a:cs typeface="Palatino Linotype"/>
              </a:rPr>
              <a:t>block</a:t>
            </a:r>
            <a:endParaRPr sz="2200">
              <a:solidFill>
                <a:sysClr val="windowText" lastClr="000000"/>
              </a:solidFill>
              <a:latin typeface="Palatino Linotype"/>
              <a:cs typeface="Palatino Linotype"/>
            </a:endParaRPr>
          </a:p>
        </p:txBody>
      </p:sp>
      <p:sp>
        <p:nvSpPr>
          <p:cNvPr id="13" name="object 4">
            <a:extLst>
              <a:ext uri="{FF2B5EF4-FFF2-40B4-BE49-F238E27FC236}">
                <a16:creationId xmlns:a16="http://schemas.microsoft.com/office/drawing/2014/main" id="{AB1799C9-682C-D142-F8A7-FD51A4EF5B95}"/>
              </a:ext>
            </a:extLst>
          </p:cNvPr>
          <p:cNvSpPr txBox="1"/>
          <p:nvPr/>
        </p:nvSpPr>
        <p:spPr>
          <a:xfrm>
            <a:off x="1164589" y="1855723"/>
            <a:ext cx="2031364" cy="842644"/>
          </a:xfrm>
          <a:prstGeom prst="rect">
            <a:avLst/>
          </a:prstGeom>
        </p:spPr>
        <p:txBody>
          <a:bodyPr vert="horz" wrap="square" lIns="0" tIns="146685" rIns="0" bIns="0" rtlCol="0">
            <a:spAutoFit/>
          </a:bodyPr>
          <a:lstStyle/>
          <a:p>
            <a:pPr marL="240665" indent="-227965">
              <a:spcBef>
                <a:spcPts val="1155"/>
              </a:spcBef>
              <a:buFont typeface="Wingdings"/>
              <a:buChar char=""/>
              <a:tabLst>
                <a:tab pos="240665" algn="l"/>
              </a:tabLst>
            </a:pPr>
            <a:r>
              <a:rPr dirty="0">
                <a:solidFill>
                  <a:sysClr val="windowText" lastClr="000000"/>
                </a:solidFill>
                <a:latin typeface="Cambria Math"/>
                <a:cs typeface="Cambria Math"/>
              </a:rPr>
              <a:t>𝑥</a:t>
            </a:r>
            <a:r>
              <a:rPr spc="45" dirty="0">
                <a:solidFill>
                  <a:sysClr val="windowText" lastClr="000000"/>
                </a:solidFill>
                <a:latin typeface="Cambria Math"/>
                <a:cs typeface="Cambria Math"/>
              </a:rPr>
              <a:t> </a:t>
            </a:r>
            <a:r>
              <a:rPr dirty="0">
                <a:solidFill>
                  <a:sysClr val="windowText" lastClr="000000"/>
                </a:solidFill>
                <a:latin typeface="Cambria Math"/>
                <a:cs typeface="Cambria Math"/>
              </a:rPr>
              <a:t>+</a:t>
            </a:r>
            <a:r>
              <a:rPr spc="-5" dirty="0">
                <a:solidFill>
                  <a:sysClr val="windowText" lastClr="000000"/>
                </a:solidFill>
                <a:latin typeface="Cambria Math"/>
                <a:cs typeface="Cambria Math"/>
              </a:rPr>
              <a:t> </a:t>
            </a:r>
            <a:r>
              <a:rPr dirty="0">
                <a:solidFill>
                  <a:sysClr val="windowText" lastClr="000000"/>
                </a:solidFill>
                <a:latin typeface="Cambria Math"/>
                <a:cs typeface="Cambria Math"/>
              </a:rPr>
              <a:t>0</a:t>
            </a:r>
            <a:r>
              <a:rPr spc="95" dirty="0">
                <a:solidFill>
                  <a:sysClr val="windowText" lastClr="000000"/>
                </a:solidFill>
                <a:latin typeface="Cambria Math"/>
                <a:cs typeface="Cambria Math"/>
              </a:rPr>
              <a:t> </a:t>
            </a:r>
            <a:r>
              <a:rPr dirty="0">
                <a:solidFill>
                  <a:sysClr val="windowText" lastClr="000000"/>
                </a:solidFill>
                <a:latin typeface="Cambria Math"/>
                <a:cs typeface="Cambria Math"/>
              </a:rPr>
              <a:t>=</a:t>
            </a:r>
            <a:r>
              <a:rPr spc="90" dirty="0">
                <a:solidFill>
                  <a:sysClr val="windowText" lastClr="000000"/>
                </a:solidFill>
                <a:latin typeface="Cambria Math"/>
                <a:cs typeface="Cambria Math"/>
              </a:rPr>
              <a:t> </a:t>
            </a:r>
            <a:r>
              <a:rPr dirty="0">
                <a:solidFill>
                  <a:sysClr val="windowText" lastClr="000000"/>
                </a:solidFill>
                <a:latin typeface="Cambria Math"/>
                <a:cs typeface="Cambria Math"/>
              </a:rPr>
              <a:t>0</a:t>
            </a:r>
            <a:r>
              <a:rPr spc="-5" dirty="0">
                <a:solidFill>
                  <a:sysClr val="windowText" lastClr="000000"/>
                </a:solidFill>
                <a:latin typeface="Cambria Math"/>
                <a:cs typeface="Cambria Math"/>
              </a:rPr>
              <a:t> </a:t>
            </a:r>
            <a:r>
              <a:rPr dirty="0">
                <a:solidFill>
                  <a:sysClr val="windowText" lastClr="000000"/>
                </a:solidFill>
                <a:latin typeface="Cambria Math"/>
                <a:cs typeface="Cambria Math"/>
              </a:rPr>
              <a:t>+</a:t>
            </a:r>
            <a:r>
              <a:rPr spc="-5" dirty="0">
                <a:solidFill>
                  <a:sysClr val="windowText" lastClr="000000"/>
                </a:solidFill>
                <a:latin typeface="Cambria Math"/>
                <a:cs typeface="Cambria Math"/>
              </a:rPr>
              <a:t> </a:t>
            </a:r>
            <a:r>
              <a:rPr dirty="0">
                <a:solidFill>
                  <a:sysClr val="windowText" lastClr="000000"/>
                </a:solidFill>
                <a:latin typeface="Cambria Math"/>
                <a:cs typeface="Cambria Math"/>
              </a:rPr>
              <a:t>𝑥</a:t>
            </a:r>
            <a:r>
              <a:rPr spc="145" dirty="0">
                <a:solidFill>
                  <a:sysClr val="windowText" lastClr="000000"/>
                </a:solidFill>
                <a:latin typeface="Cambria Math"/>
                <a:cs typeface="Cambria Math"/>
              </a:rPr>
              <a:t> </a:t>
            </a:r>
            <a:r>
              <a:rPr dirty="0">
                <a:solidFill>
                  <a:sysClr val="windowText" lastClr="000000"/>
                </a:solidFill>
                <a:latin typeface="Cambria Math"/>
                <a:cs typeface="Cambria Math"/>
              </a:rPr>
              <a:t>=</a:t>
            </a:r>
            <a:r>
              <a:rPr spc="95" dirty="0">
                <a:solidFill>
                  <a:sysClr val="windowText" lastClr="000000"/>
                </a:solidFill>
                <a:latin typeface="Cambria Math"/>
                <a:cs typeface="Cambria Math"/>
              </a:rPr>
              <a:t> </a:t>
            </a:r>
            <a:r>
              <a:rPr spc="-50" dirty="0">
                <a:solidFill>
                  <a:sysClr val="windowText" lastClr="000000"/>
                </a:solidFill>
                <a:latin typeface="Cambria Math"/>
                <a:cs typeface="Cambria Math"/>
              </a:rPr>
              <a:t>𝑥</a:t>
            </a:r>
            <a:endParaRPr>
              <a:solidFill>
                <a:sysClr val="windowText" lastClr="000000"/>
              </a:solidFill>
              <a:latin typeface="Cambria Math"/>
              <a:cs typeface="Cambria Math"/>
            </a:endParaRPr>
          </a:p>
          <a:p>
            <a:pPr marL="240665" indent="-227965">
              <a:spcBef>
                <a:spcPts val="1055"/>
              </a:spcBef>
              <a:buFont typeface="Wingdings"/>
              <a:buChar char=""/>
              <a:tabLst>
                <a:tab pos="240665" algn="l"/>
              </a:tabLst>
            </a:pPr>
            <a:r>
              <a:rPr dirty="0">
                <a:solidFill>
                  <a:sysClr val="windowText" lastClr="000000"/>
                </a:solidFill>
                <a:latin typeface="Cambria Math"/>
                <a:cs typeface="Cambria Math"/>
              </a:rPr>
              <a:t>𝑥×1</a:t>
            </a:r>
            <a:r>
              <a:rPr spc="95" dirty="0">
                <a:solidFill>
                  <a:sysClr val="windowText" lastClr="000000"/>
                </a:solidFill>
                <a:latin typeface="Cambria Math"/>
                <a:cs typeface="Cambria Math"/>
              </a:rPr>
              <a:t> </a:t>
            </a:r>
            <a:r>
              <a:rPr dirty="0">
                <a:solidFill>
                  <a:sysClr val="windowText" lastClr="000000"/>
                </a:solidFill>
                <a:latin typeface="Cambria Math"/>
                <a:cs typeface="Cambria Math"/>
              </a:rPr>
              <a:t>=</a:t>
            </a:r>
            <a:r>
              <a:rPr spc="95" dirty="0">
                <a:solidFill>
                  <a:sysClr val="windowText" lastClr="000000"/>
                </a:solidFill>
                <a:latin typeface="Cambria Math"/>
                <a:cs typeface="Cambria Math"/>
              </a:rPr>
              <a:t> </a:t>
            </a:r>
            <a:r>
              <a:rPr dirty="0">
                <a:solidFill>
                  <a:sysClr val="windowText" lastClr="000000"/>
                </a:solidFill>
                <a:latin typeface="Cambria Math"/>
                <a:cs typeface="Cambria Math"/>
              </a:rPr>
              <a:t>1×𝑥</a:t>
            </a:r>
            <a:r>
              <a:rPr spc="150" dirty="0">
                <a:solidFill>
                  <a:sysClr val="windowText" lastClr="000000"/>
                </a:solidFill>
                <a:latin typeface="Cambria Math"/>
                <a:cs typeface="Cambria Math"/>
              </a:rPr>
              <a:t> </a:t>
            </a:r>
            <a:r>
              <a:rPr dirty="0">
                <a:solidFill>
                  <a:sysClr val="windowText" lastClr="000000"/>
                </a:solidFill>
                <a:latin typeface="Cambria Math"/>
                <a:cs typeface="Cambria Math"/>
              </a:rPr>
              <a:t>=</a:t>
            </a:r>
            <a:r>
              <a:rPr spc="95" dirty="0">
                <a:solidFill>
                  <a:sysClr val="windowText" lastClr="000000"/>
                </a:solidFill>
                <a:latin typeface="Cambria Math"/>
                <a:cs typeface="Cambria Math"/>
              </a:rPr>
              <a:t> </a:t>
            </a:r>
            <a:r>
              <a:rPr spc="-50" dirty="0">
                <a:solidFill>
                  <a:sysClr val="windowText" lastClr="000000"/>
                </a:solidFill>
                <a:latin typeface="Cambria Math"/>
                <a:cs typeface="Cambria Math"/>
              </a:rPr>
              <a:t>𝑥</a:t>
            </a:r>
            <a:endParaRPr>
              <a:solidFill>
                <a:sysClr val="windowText" lastClr="000000"/>
              </a:solidFill>
              <a:latin typeface="Cambria Math"/>
              <a:cs typeface="Cambria Math"/>
            </a:endParaRPr>
          </a:p>
        </p:txBody>
      </p:sp>
      <p:sp>
        <p:nvSpPr>
          <p:cNvPr id="14" name="object 5">
            <a:extLst>
              <a:ext uri="{FF2B5EF4-FFF2-40B4-BE49-F238E27FC236}">
                <a16:creationId xmlns:a16="http://schemas.microsoft.com/office/drawing/2014/main" id="{A81CC436-8918-C227-160F-14883015B446}"/>
              </a:ext>
            </a:extLst>
          </p:cNvPr>
          <p:cNvSpPr txBox="1"/>
          <p:nvPr/>
        </p:nvSpPr>
        <p:spPr>
          <a:xfrm>
            <a:off x="3450590" y="1855723"/>
            <a:ext cx="974725" cy="842644"/>
          </a:xfrm>
          <a:prstGeom prst="rect">
            <a:avLst/>
          </a:prstGeom>
        </p:spPr>
        <p:txBody>
          <a:bodyPr vert="horz" wrap="square" lIns="0" tIns="146685" rIns="0" bIns="0" rtlCol="0">
            <a:spAutoFit/>
          </a:bodyPr>
          <a:lstStyle/>
          <a:p>
            <a:pPr marL="12700">
              <a:spcBef>
                <a:spcPts val="1155"/>
              </a:spcBef>
            </a:pPr>
            <a:r>
              <a:rPr dirty="0">
                <a:solidFill>
                  <a:sysClr val="windowText" lastClr="000000"/>
                </a:solidFill>
                <a:latin typeface="Cambria Math"/>
                <a:cs typeface="Cambria Math"/>
              </a:rPr>
              <a:t>𝑥</a:t>
            </a:r>
            <a:r>
              <a:rPr spc="45" dirty="0">
                <a:solidFill>
                  <a:sysClr val="windowText" lastClr="000000"/>
                </a:solidFill>
                <a:latin typeface="Cambria Math"/>
                <a:cs typeface="Cambria Math"/>
              </a:rPr>
              <a:t> </a:t>
            </a:r>
            <a:r>
              <a:rPr dirty="0">
                <a:solidFill>
                  <a:sysClr val="windowText" lastClr="000000"/>
                </a:solidFill>
                <a:latin typeface="Cambria Math"/>
                <a:cs typeface="Cambria Math"/>
              </a:rPr>
              <a:t>−</a:t>
            </a:r>
            <a:r>
              <a:rPr spc="-5" dirty="0">
                <a:solidFill>
                  <a:sysClr val="windowText" lastClr="000000"/>
                </a:solidFill>
                <a:latin typeface="Cambria Math"/>
                <a:cs typeface="Cambria Math"/>
              </a:rPr>
              <a:t> </a:t>
            </a:r>
            <a:r>
              <a:rPr dirty="0">
                <a:solidFill>
                  <a:sysClr val="windowText" lastClr="000000"/>
                </a:solidFill>
                <a:latin typeface="Cambria Math"/>
                <a:cs typeface="Cambria Math"/>
              </a:rPr>
              <a:t>0</a:t>
            </a:r>
            <a:r>
              <a:rPr spc="95" dirty="0">
                <a:solidFill>
                  <a:sysClr val="windowText" lastClr="000000"/>
                </a:solidFill>
                <a:latin typeface="Cambria Math"/>
                <a:cs typeface="Cambria Math"/>
              </a:rPr>
              <a:t> </a:t>
            </a:r>
            <a:r>
              <a:rPr dirty="0">
                <a:solidFill>
                  <a:sysClr val="windowText" lastClr="000000"/>
                </a:solidFill>
                <a:latin typeface="Cambria Math"/>
                <a:cs typeface="Cambria Math"/>
              </a:rPr>
              <a:t>=</a:t>
            </a:r>
            <a:r>
              <a:rPr spc="90" dirty="0">
                <a:solidFill>
                  <a:sysClr val="windowText" lastClr="000000"/>
                </a:solidFill>
                <a:latin typeface="Cambria Math"/>
                <a:cs typeface="Cambria Math"/>
              </a:rPr>
              <a:t> </a:t>
            </a:r>
            <a:r>
              <a:rPr spc="-50" dirty="0">
                <a:solidFill>
                  <a:sysClr val="windowText" lastClr="000000"/>
                </a:solidFill>
                <a:latin typeface="Cambria Math"/>
                <a:cs typeface="Cambria Math"/>
              </a:rPr>
              <a:t>𝑥</a:t>
            </a:r>
            <a:endParaRPr>
              <a:solidFill>
                <a:sysClr val="windowText" lastClr="000000"/>
              </a:solidFill>
              <a:latin typeface="Cambria Math"/>
              <a:cs typeface="Cambria Math"/>
            </a:endParaRPr>
          </a:p>
          <a:p>
            <a:pPr marL="12700">
              <a:spcBef>
                <a:spcPts val="1055"/>
              </a:spcBef>
            </a:pPr>
            <a:r>
              <a:rPr dirty="0">
                <a:solidFill>
                  <a:sysClr val="windowText" lastClr="000000"/>
                </a:solidFill>
                <a:latin typeface="Cambria Math"/>
                <a:cs typeface="Cambria Math"/>
              </a:rPr>
              <a:t>𝑥/1</a:t>
            </a:r>
            <a:r>
              <a:rPr spc="110" dirty="0">
                <a:solidFill>
                  <a:sysClr val="windowText" lastClr="000000"/>
                </a:solidFill>
                <a:latin typeface="Cambria Math"/>
                <a:cs typeface="Cambria Math"/>
              </a:rPr>
              <a:t> </a:t>
            </a:r>
            <a:r>
              <a:rPr dirty="0">
                <a:solidFill>
                  <a:sysClr val="windowText" lastClr="000000"/>
                </a:solidFill>
                <a:latin typeface="Cambria Math"/>
                <a:cs typeface="Cambria Math"/>
              </a:rPr>
              <a:t>=</a:t>
            </a:r>
            <a:r>
              <a:rPr spc="114" dirty="0">
                <a:solidFill>
                  <a:sysClr val="windowText" lastClr="000000"/>
                </a:solidFill>
                <a:latin typeface="Cambria Math"/>
                <a:cs typeface="Cambria Math"/>
              </a:rPr>
              <a:t> </a:t>
            </a:r>
            <a:r>
              <a:rPr spc="-50" dirty="0">
                <a:solidFill>
                  <a:sysClr val="windowText" lastClr="000000"/>
                </a:solidFill>
                <a:latin typeface="Cambria Math"/>
                <a:cs typeface="Cambria Math"/>
              </a:rPr>
              <a:t>𝑥</a:t>
            </a:r>
            <a:endParaRPr>
              <a:solidFill>
                <a:sysClr val="windowText" lastClr="000000"/>
              </a:solidFill>
              <a:latin typeface="Cambria Math"/>
              <a:cs typeface="Cambria Math"/>
            </a:endParaRPr>
          </a:p>
        </p:txBody>
      </p:sp>
      <p:sp>
        <p:nvSpPr>
          <p:cNvPr id="15" name="object 6">
            <a:extLst>
              <a:ext uri="{FF2B5EF4-FFF2-40B4-BE49-F238E27FC236}">
                <a16:creationId xmlns:a16="http://schemas.microsoft.com/office/drawing/2014/main" id="{05C5DDFF-27AE-FF9D-4940-FE38463512C7}"/>
              </a:ext>
            </a:extLst>
          </p:cNvPr>
          <p:cNvSpPr txBox="1"/>
          <p:nvPr/>
        </p:nvSpPr>
        <p:spPr>
          <a:xfrm>
            <a:off x="707390" y="2886963"/>
            <a:ext cx="6990715" cy="2286000"/>
          </a:xfrm>
          <a:prstGeom prst="rect">
            <a:avLst/>
          </a:prstGeom>
        </p:spPr>
        <p:txBody>
          <a:bodyPr vert="horz" wrap="square" lIns="0" tIns="12700" rIns="0" bIns="0" rtlCol="0">
            <a:spAutoFit/>
          </a:bodyPr>
          <a:lstStyle/>
          <a:p>
            <a:pPr marL="242570" marR="5080" indent="-230504">
              <a:lnSpc>
                <a:spcPct val="120900"/>
              </a:lnSpc>
              <a:spcBef>
                <a:spcPts val="100"/>
              </a:spcBef>
              <a:buClr>
                <a:srgbClr val="000000"/>
              </a:buClr>
              <a:buFont typeface="Arial MT"/>
              <a:buChar char="•"/>
              <a:tabLst>
                <a:tab pos="242570" algn="l"/>
              </a:tabLst>
            </a:pPr>
            <a:r>
              <a:rPr sz="2200" dirty="0">
                <a:solidFill>
                  <a:srgbClr val="FF0000"/>
                </a:solidFill>
                <a:latin typeface="Palatino Linotype"/>
                <a:cs typeface="Palatino Linotype"/>
              </a:rPr>
              <a:t>Reduction</a:t>
            </a:r>
            <a:r>
              <a:rPr sz="2200" spc="-40" dirty="0">
                <a:solidFill>
                  <a:srgbClr val="FF0000"/>
                </a:solidFill>
                <a:latin typeface="Palatino Linotype"/>
                <a:cs typeface="Palatino Linotype"/>
              </a:rPr>
              <a:t> </a:t>
            </a:r>
            <a:r>
              <a:rPr sz="2200" dirty="0">
                <a:solidFill>
                  <a:srgbClr val="FF0000"/>
                </a:solidFill>
                <a:latin typeface="Palatino Linotype"/>
                <a:cs typeface="Palatino Linotype"/>
              </a:rPr>
              <a:t>in</a:t>
            </a:r>
            <a:r>
              <a:rPr sz="2200" spc="-35" dirty="0">
                <a:solidFill>
                  <a:srgbClr val="FF0000"/>
                </a:solidFill>
                <a:latin typeface="Palatino Linotype"/>
                <a:cs typeface="Palatino Linotype"/>
              </a:rPr>
              <a:t> </a:t>
            </a:r>
            <a:r>
              <a:rPr sz="2200" dirty="0">
                <a:solidFill>
                  <a:srgbClr val="FF0000"/>
                </a:solidFill>
                <a:latin typeface="Palatino Linotype"/>
                <a:cs typeface="Palatino Linotype"/>
              </a:rPr>
              <a:t>strength</a:t>
            </a:r>
            <a:r>
              <a:rPr sz="2200" spc="-35" dirty="0">
                <a:solidFill>
                  <a:srgbClr val="FF0000"/>
                </a:solidFill>
                <a:latin typeface="Palatino Linotype"/>
                <a:cs typeface="Palatino Linotype"/>
              </a:rPr>
              <a:t> </a:t>
            </a:r>
            <a:r>
              <a:rPr sz="2200" spc="-10" dirty="0">
                <a:solidFill>
                  <a:sysClr val="windowText" lastClr="000000"/>
                </a:solidFill>
                <a:latin typeface="Palatino Linotype"/>
                <a:cs typeface="Palatino Linotype"/>
              </a:rPr>
              <a:t>(</a:t>
            </a:r>
            <a:r>
              <a:rPr sz="2200" dirty="0">
                <a:solidFill>
                  <a:srgbClr val="FF0000"/>
                </a:solidFill>
                <a:latin typeface="SimSun"/>
                <a:cs typeface="SimSun"/>
              </a:rPr>
              <a:t>降低计算强度</a:t>
            </a:r>
            <a:r>
              <a:rPr sz="2200" spc="-15" dirty="0">
                <a:solidFill>
                  <a:sysClr val="windowText" lastClr="000000"/>
                </a:solidFill>
                <a:latin typeface="Palatino Linotype"/>
                <a:cs typeface="Palatino Linotype"/>
              </a:rPr>
              <a:t>, </a:t>
            </a:r>
            <a:r>
              <a:rPr sz="2200" dirty="0">
                <a:solidFill>
                  <a:sysClr val="windowText" lastClr="000000"/>
                </a:solidFill>
                <a:latin typeface="Palatino Linotype"/>
                <a:cs typeface="Palatino Linotype"/>
              </a:rPr>
              <a:t>replacing</a:t>
            </a:r>
            <a:r>
              <a:rPr sz="2200" spc="-25" dirty="0">
                <a:solidFill>
                  <a:sysClr val="windowText" lastClr="000000"/>
                </a:solidFill>
                <a:latin typeface="Palatino Linotype"/>
                <a:cs typeface="Palatino Linotype"/>
              </a:rPr>
              <a:t> </a:t>
            </a:r>
            <a:r>
              <a:rPr sz="2200" dirty="0">
                <a:solidFill>
                  <a:sysClr val="windowText" lastClr="000000"/>
                </a:solidFill>
                <a:latin typeface="Palatino Linotype"/>
                <a:cs typeface="Palatino Linotype"/>
              </a:rPr>
              <a:t>a</a:t>
            </a:r>
            <a:r>
              <a:rPr sz="2200" spc="-30" dirty="0">
                <a:solidFill>
                  <a:sysClr val="windowText" lastClr="000000"/>
                </a:solidFill>
                <a:latin typeface="Palatino Linotype"/>
                <a:cs typeface="Palatino Linotype"/>
              </a:rPr>
              <a:t> </a:t>
            </a:r>
            <a:r>
              <a:rPr sz="2200" spc="-20" dirty="0">
                <a:solidFill>
                  <a:sysClr val="windowText" lastClr="000000"/>
                </a:solidFill>
                <a:latin typeface="Palatino Linotype"/>
                <a:cs typeface="Palatino Linotype"/>
              </a:rPr>
              <a:t>more </a:t>
            </a:r>
            <a:r>
              <a:rPr sz="2200" dirty="0">
                <a:solidFill>
                  <a:srgbClr val="0432FF"/>
                </a:solidFill>
                <a:latin typeface="Palatino Linotype"/>
                <a:cs typeface="Palatino Linotype"/>
              </a:rPr>
              <a:t>expensive</a:t>
            </a:r>
            <a:r>
              <a:rPr sz="2200" spc="-50" dirty="0">
                <a:solidFill>
                  <a:srgbClr val="0432FF"/>
                </a:solidFill>
                <a:latin typeface="Palatino Linotype"/>
                <a:cs typeface="Palatino Linotype"/>
              </a:rPr>
              <a:t> </a:t>
            </a:r>
            <a:r>
              <a:rPr sz="2200" dirty="0">
                <a:solidFill>
                  <a:sysClr val="windowText" lastClr="000000"/>
                </a:solidFill>
                <a:latin typeface="Palatino Linotype"/>
                <a:cs typeface="Palatino Linotype"/>
              </a:rPr>
              <a:t>operator</a:t>
            </a:r>
            <a:r>
              <a:rPr sz="2200" spc="-40" dirty="0">
                <a:solidFill>
                  <a:sysClr val="windowText" lastClr="000000"/>
                </a:solidFill>
                <a:latin typeface="Palatino Linotype"/>
                <a:cs typeface="Palatino Linotype"/>
              </a:rPr>
              <a:t> </a:t>
            </a:r>
            <a:r>
              <a:rPr sz="2200" dirty="0">
                <a:solidFill>
                  <a:sysClr val="windowText" lastClr="000000"/>
                </a:solidFill>
                <a:latin typeface="Palatino Linotype"/>
                <a:cs typeface="Palatino Linotype"/>
              </a:rPr>
              <a:t>by</a:t>
            </a:r>
            <a:r>
              <a:rPr sz="2200" spc="-45" dirty="0">
                <a:solidFill>
                  <a:sysClr val="windowText" lastClr="000000"/>
                </a:solidFill>
                <a:latin typeface="Palatino Linotype"/>
                <a:cs typeface="Palatino Linotype"/>
              </a:rPr>
              <a:t> </a:t>
            </a:r>
            <a:r>
              <a:rPr sz="2200" dirty="0">
                <a:solidFill>
                  <a:sysClr val="windowText" lastClr="000000"/>
                </a:solidFill>
                <a:latin typeface="Palatino Linotype"/>
                <a:cs typeface="Palatino Linotype"/>
              </a:rPr>
              <a:t>a</a:t>
            </a:r>
            <a:r>
              <a:rPr sz="2200" spc="-40" dirty="0">
                <a:solidFill>
                  <a:sysClr val="windowText" lastClr="000000"/>
                </a:solidFill>
                <a:latin typeface="Palatino Linotype"/>
                <a:cs typeface="Palatino Linotype"/>
              </a:rPr>
              <a:t> </a:t>
            </a:r>
            <a:r>
              <a:rPr sz="2200" dirty="0">
                <a:solidFill>
                  <a:srgbClr val="0432FF"/>
                </a:solidFill>
                <a:latin typeface="Palatino Linotype"/>
                <a:cs typeface="Palatino Linotype"/>
              </a:rPr>
              <a:t>cheaper</a:t>
            </a:r>
            <a:r>
              <a:rPr sz="2200" spc="-40" dirty="0">
                <a:solidFill>
                  <a:srgbClr val="0432FF"/>
                </a:solidFill>
                <a:latin typeface="Palatino Linotype"/>
                <a:cs typeface="Palatino Linotype"/>
              </a:rPr>
              <a:t> </a:t>
            </a:r>
            <a:r>
              <a:rPr sz="2200" spc="-20" dirty="0">
                <a:solidFill>
                  <a:sysClr val="windowText" lastClr="000000"/>
                </a:solidFill>
                <a:latin typeface="Palatino Linotype"/>
                <a:cs typeface="Palatino Linotype"/>
              </a:rPr>
              <a:t>one)</a:t>
            </a:r>
            <a:endParaRPr sz="2200">
              <a:solidFill>
                <a:sysClr val="windowText" lastClr="000000"/>
              </a:solidFill>
              <a:latin typeface="Palatino Linotype"/>
              <a:cs typeface="Palatino Linotype"/>
            </a:endParaRPr>
          </a:p>
          <a:p>
            <a:pPr marL="697865" lvl="1" indent="-227965">
              <a:spcBef>
                <a:spcPts val="1045"/>
              </a:spcBef>
              <a:buFont typeface="Wingdings"/>
              <a:buChar char=""/>
              <a:tabLst>
                <a:tab pos="697865" algn="l"/>
                <a:tab pos="2755265" algn="l"/>
              </a:tabLst>
            </a:pPr>
            <a:r>
              <a:rPr dirty="0">
                <a:solidFill>
                  <a:sysClr val="windowText" lastClr="000000"/>
                </a:solidFill>
                <a:latin typeface="Cambria Math"/>
                <a:cs typeface="Cambria Math"/>
              </a:rPr>
              <a:t>2×𝑥</a:t>
            </a:r>
            <a:r>
              <a:rPr spc="135" dirty="0">
                <a:solidFill>
                  <a:sysClr val="windowText" lastClr="000000"/>
                </a:solidFill>
                <a:latin typeface="Cambria Math"/>
                <a:cs typeface="Cambria Math"/>
              </a:rPr>
              <a:t> </a:t>
            </a:r>
            <a:r>
              <a:rPr dirty="0">
                <a:solidFill>
                  <a:sysClr val="windowText" lastClr="000000"/>
                </a:solidFill>
                <a:latin typeface="Cambria Math"/>
                <a:cs typeface="Cambria Math"/>
              </a:rPr>
              <a:t>=</a:t>
            </a:r>
            <a:r>
              <a:rPr spc="90" dirty="0">
                <a:solidFill>
                  <a:sysClr val="windowText" lastClr="000000"/>
                </a:solidFill>
                <a:latin typeface="Cambria Math"/>
                <a:cs typeface="Cambria Math"/>
              </a:rPr>
              <a:t> </a:t>
            </a:r>
            <a:r>
              <a:rPr dirty="0">
                <a:solidFill>
                  <a:sysClr val="windowText" lastClr="000000"/>
                </a:solidFill>
                <a:latin typeface="Cambria Math"/>
                <a:cs typeface="Cambria Math"/>
              </a:rPr>
              <a:t>𝑥</a:t>
            </a:r>
            <a:r>
              <a:rPr spc="45" dirty="0">
                <a:solidFill>
                  <a:sysClr val="windowText" lastClr="000000"/>
                </a:solidFill>
                <a:latin typeface="Cambria Math"/>
                <a:cs typeface="Cambria Math"/>
              </a:rPr>
              <a:t> </a:t>
            </a:r>
            <a:r>
              <a:rPr dirty="0">
                <a:solidFill>
                  <a:sysClr val="windowText" lastClr="000000"/>
                </a:solidFill>
                <a:latin typeface="Cambria Math"/>
                <a:cs typeface="Cambria Math"/>
              </a:rPr>
              <a:t>+</a:t>
            </a:r>
            <a:r>
              <a:rPr spc="-10" dirty="0">
                <a:solidFill>
                  <a:sysClr val="windowText" lastClr="000000"/>
                </a:solidFill>
                <a:latin typeface="Cambria Math"/>
                <a:cs typeface="Cambria Math"/>
              </a:rPr>
              <a:t> </a:t>
            </a:r>
            <a:r>
              <a:rPr spc="-50" dirty="0">
                <a:solidFill>
                  <a:sysClr val="windowText" lastClr="000000"/>
                </a:solidFill>
                <a:latin typeface="Cambria Math"/>
                <a:cs typeface="Cambria Math"/>
              </a:rPr>
              <a:t>𝑥</a:t>
            </a:r>
            <a:r>
              <a:rPr dirty="0">
                <a:solidFill>
                  <a:sysClr val="windowText" lastClr="000000"/>
                </a:solidFill>
                <a:latin typeface="Cambria Math"/>
                <a:cs typeface="Cambria Math"/>
              </a:rPr>
              <a:t>	𝑥/2</a:t>
            </a:r>
            <a:r>
              <a:rPr spc="110" dirty="0">
                <a:solidFill>
                  <a:sysClr val="windowText" lastClr="000000"/>
                </a:solidFill>
                <a:latin typeface="Cambria Math"/>
                <a:cs typeface="Cambria Math"/>
              </a:rPr>
              <a:t> </a:t>
            </a:r>
            <a:r>
              <a:rPr dirty="0">
                <a:solidFill>
                  <a:sysClr val="windowText" lastClr="000000"/>
                </a:solidFill>
                <a:latin typeface="Cambria Math"/>
                <a:cs typeface="Cambria Math"/>
              </a:rPr>
              <a:t>=</a:t>
            </a:r>
            <a:r>
              <a:rPr spc="114" dirty="0">
                <a:solidFill>
                  <a:sysClr val="windowText" lastClr="000000"/>
                </a:solidFill>
                <a:latin typeface="Cambria Math"/>
                <a:cs typeface="Cambria Math"/>
              </a:rPr>
              <a:t> </a:t>
            </a:r>
            <a:r>
              <a:rPr spc="-10" dirty="0">
                <a:solidFill>
                  <a:sysClr val="windowText" lastClr="000000"/>
                </a:solidFill>
                <a:latin typeface="Cambria Math"/>
                <a:cs typeface="Cambria Math"/>
              </a:rPr>
              <a:t>𝑥×0.5</a:t>
            </a:r>
            <a:endParaRPr>
              <a:solidFill>
                <a:sysClr val="windowText" lastClr="000000"/>
              </a:solidFill>
              <a:latin typeface="Cambria Math"/>
              <a:cs typeface="Cambria Math"/>
            </a:endParaRPr>
          </a:p>
          <a:p>
            <a:pPr marL="0" lvl="1">
              <a:spcBef>
                <a:spcPts val="250"/>
              </a:spcBef>
              <a:buFont typeface="Wingdings"/>
              <a:buChar char=""/>
            </a:pPr>
            <a:endParaRPr>
              <a:solidFill>
                <a:sysClr val="windowText" lastClr="000000"/>
              </a:solidFill>
              <a:latin typeface="Cambria Math"/>
              <a:cs typeface="Cambria Math"/>
            </a:endParaRPr>
          </a:p>
          <a:p>
            <a:pPr marL="242570" indent="-229870">
              <a:buClr>
                <a:srgbClr val="000000"/>
              </a:buClr>
              <a:buFont typeface="Arial MT"/>
              <a:buChar char="•"/>
              <a:tabLst>
                <a:tab pos="242570" algn="l"/>
              </a:tabLst>
            </a:pPr>
            <a:r>
              <a:rPr sz="2200" dirty="0">
                <a:solidFill>
                  <a:srgbClr val="FF0000"/>
                </a:solidFill>
                <a:latin typeface="Palatino Linotype"/>
                <a:cs typeface="Palatino Linotype"/>
              </a:rPr>
              <a:t>Constant</a:t>
            </a:r>
            <a:r>
              <a:rPr sz="2200" spc="-55" dirty="0">
                <a:solidFill>
                  <a:srgbClr val="FF0000"/>
                </a:solidFill>
                <a:latin typeface="Palatino Linotype"/>
                <a:cs typeface="Palatino Linotype"/>
              </a:rPr>
              <a:t> </a:t>
            </a:r>
            <a:r>
              <a:rPr sz="2200" dirty="0">
                <a:solidFill>
                  <a:srgbClr val="FF0000"/>
                </a:solidFill>
                <a:latin typeface="Palatino Linotype"/>
                <a:cs typeface="Palatino Linotype"/>
              </a:rPr>
              <a:t>folding</a:t>
            </a:r>
            <a:r>
              <a:rPr sz="2200" spc="-35" dirty="0">
                <a:solidFill>
                  <a:srgbClr val="FF0000"/>
                </a:solidFill>
                <a:latin typeface="Palatino Linotype"/>
                <a:cs typeface="Palatino Linotype"/>
              </a:rPr>
              <a:t> (</a:t>
            </a:r>
            <a:r>
              <a:rPr sz="2200" dirty="0">
                <a:solidFill>
                  <a:srgbClr val="FF0000"/>
                </a:solidFill>
                <a:latin typeface="SimSun"/>
                <a:cs typeface="SimSun"/>
              </a:rPr>
              <a:t>常量合并</a:t>
            </a:r>
            <a:r>
              <a:rPr sz="2200" spc="-50" dirty="0">
                <a:solidFill>
                  <a:srgbClr val="FF0000"/>
                </a:solidFill>
                <a:latin typeface="Palatino Linotype"/>
                <a:cs typeface="Palatino Linotype"/>
              </a:rPr>
              <a:t>)</a:t>
            </a:r>
            <a:endParaRPr sz="2200">
              <a:solidFill>
                <a:sysClr val="windowText" lastClr="000000"/>
              </a:solidFill>
              <a:latin typeface="Palatino Linotype"/>
              <a:cs typeface="Palatino Linotype"/>
            </a:endParaRPr>
          </a:p>
          <a:p>
            <a:pPr marL="697865" lvl="1" indent="-227965">
              <a:spcBef>
                <a:spcPts val="1050"/>
              </a:spcBef>
              <a:buFont typeface="Wingdings"/>
              <a:buChar char=""/>
              <a:tabLst>
                <a:tab pos="697865" algn="l"/>
              </a:tabLst>
            </a:pPr>
            <a:r>
              <a:rPr dirty="0">
                <a:solidFill>
                  <a:sysClr val="windowText" lastClr="000000"/>
                </a:solidFill>
                <a:latin typeface="Cambria Math"/>
                <a:cs typeface="Cambria Math"/>
              </a:rPr>
              <a:t>2×3.14</a:t>
            </a:r>
            <a:r>
              <a:rPr spc="70" dirty="0">
                <a:solidFill>
                  <a:sysClr val="windowText" lastClr="000000"/>
                </a:solidFill>
                <a:latin typeface="Cambria Math"/>
                <a:cs typeface="Cambria Math"/>
              </a:rPr>
              <a:t> </a:t>
            </a:r>
            <a:r>
              <a:rPr dirty="0">
                <a:solidFill>
                  <a:sysClr val="windowText" lastClr="000000"/>
                </a:solidFill>
                <a:latin typeface="Cambria Math"/>
                <a:cs typeface="Cambria Math"/>
              </a:rPr>
              <a:t>=</a:t>
            </a:r>
            <a:r>
              <a:rPr spc="70" dirty="0">
                <a:solidFill>
                  <a:sysClr val="windowText" lastClr="000000"/>
                </a:solidFill>
                <a:latin typeface="Cambria Math"/>
                <a:cs typeface="Cambria Math"/>
              </a:rPr>
              <a:t> </a:t>
            </a:r>
            <a:r>
              <a:rPr spc="-20" dirty="0">
                <a:solidFill>
                  <a:sysClr val="windowText" lastClr="000000"/>
                </a:solidFill>
                <a:latin typeface="Cambria Math"/>
                <a:cs typeface="Cambria Math"/>
              </a:rPr>
              <a:t>6.28</a:t>
            </a:r>
            <a:endParaRPr>
              <a:solidFill>
                <a:sysClr val="windowText" lastClr="000000"/>
              </a:solidFill>
              <a:latin typeface="Cambria Math"/>
              <a:cs typeface="Cambria Math"/>
            </a:endParaRPr>
          </a:p>
        </p:txBody>
      </p:sp>
      <p:sp>
        <p:nvSpPr>
          <p:cNvPr id="16" name="object 7">
            <a:extLst>
              <a:ext uri="{FF2B5EF4-FFF2-40B4-BE49-F238E27FC236}">
                <a16:creationId xmlns:a16="http://schemas.microsoft.com/office/drawing/2014/main" id="{C7ECE6B9-6535-3E6F-E89C-8B505AD44E6C}"/>
              </a:ext>
            </a:extLst>
          </p:cNvPr>
          <p:cNvSpPr txBox="1"/>
          <p:nvPr/>
        </p:nvSpPr>
        <p:spPr>
          <a:xfrm>
            <a:off x="800657" y="5525846"/>
            <a:ext cx="7543165" cy="588010"/>
          </a:xfrm>
          <a:prstGeom prst="rect">
            <a:avLst/>
          </a:prstGeom>
          <a:solidFill>
            <a:srgbClr val="FFF2CC"/>
          </a:solidFill>
          <a:ln w="9525">
            <a:solidFill>
              <a:srgbClr val="000000"/>
            </a:solidFill>
          </a:ln>
        </p:spPr>
        <p:txBody>
          <a:bodyPr vert="horz" wrap="square" lIns="0" tIns="143510" rIns="0" bIns="0" rtlCol="0">
            <a:spAutoFit/>
          </a:bodyPr>
          <a:lstStyle/>
          <a:p>
            <a:pPr marL="90805">
              <a:spcBef>
                <a:spcPts val="1130"/>
              </a:spcBef>
            </a:pPr>
            <a:r>
              <a:rPr spc="-20" dirty="0">
                <a:solidFill>
                  <a:srgbClr val="0432FF"/>
                </a:solidFill>
                <a:latin typeface="Palatino Linotype"/>
                <a:cs typeface="Palatino Linotype"/>
              </a:rPr>
              <a:t>We</a:t>
            </a:r>
            <a:r>
              <a:rPr spc="-45" dirty="0">
                <a:solidFill>
                  <a:srgbClr val="0432FF"/>
                </a:solidFill>
                <a:latin typeface="Palatino Linotype"/>
                <a:cs typeface="Palatino Linotype"/>
              </a:rPr>
              <a:t> </a:t>
            </a:r>
            <a:r>
              <a:rPr dirty="0">
                <a:solidFill>
                  <a:srgbClr val="0432FF"/>
                </a:solidFill>
                <a:latin typeface="Palatino Linotype"/>
                <a:cs typeface="Palatino Linotype"/>
              </a:rPr>
              <a:t>can</a:t>
            </a:r>
            <a:r>
              <a:rPr spc="-40" dirty="0">
                <a:solidFill>
                  <a:srgbClr val="0432FF"/>
                </a:solidFill>
                <a:latin typeface="Palatino Linotype"/>
                <a:cs typeface="Palatino Linotype"/>
              </a:rPr>
              <a:t> </a:t>
            </a:r>
            <a:r>
              <a:rPr dirty="0">
                <a:solidFill>
                  <a:srgbClr val="0432FF"/>
                </a:solidFill>
                <a:latin typeface="Palatino Linotype"/>
                <a:cs typeface="Palatino Linotype"/>
              </a:rPr>
              <a:t>implement</a:t>
            </a:r>
            <a:r>
              <a:rPr spc="-45" dirty="0">
                <a:solidFill>
                  <a:srgbClr val="0432FF"/>
                </a:solidFill>
                <a:latin typeface="Palatino Linotype"/>
                <a:cs typeface="Palatino Linotype"/>
              </a:rPr>
              <a:t> </a:t>
            </a:r>
            <a:r>
              <a:rPr dirty="0">
                <a:solidFill>
                  <a:srgbClr val="0432FF"/>
                </a:solidFill>
                <a:latin typeface="Palatino Linotype"/>
                <a:cs typeface="Palatino Linotype"/>
              </a:rPr>
              <a:t>such</a:t>
            </a:r>
            <a:r>
              <a:rPr spc="-40" dirty="0">
                <a:solidFill>
                  <a:srgbClr val="0432FF"/>
                </a:solidFill>
                <a:latin typeface="Palatino Linotype"/>
                <a:cs typeface="Palatino Linotype"/>
              </a:rPr>
              <a:t> </a:t>
            </a:r>
            <a:r>
              <a:rPr dirty="0">
                <a:solidFill>
                  <a:srgbClr val="0432FF"/>
                </a:solidFill>
                <a:latin typeface="Palatino Linotype"/>
                <a:cs typeface="Palatino Linotype"/>
              </a:rPr>
              <a:t>optimizations</a:t>
            </a:r>
            <a:r>
              <a:rPr spc="-50" dirty="0">
                <a:solidFill>
                  <a:srgbClr val="0432FF"/>
                </a:solidFill>
                <a:latin typeface="Palatino Linotype"/>
                <a:cs typeface="Palatino Linotype"/>
              </a:rPr>
              <a:t> </a:t>
            </a:r>
            <a:r>
              <a:rPr dirty="0">
                <a:solidFill>
                  <a:srgbClr val="0432FF"/>
                </a:solidFill>
                <a:latin typeface="Palatino Linotype"/>
                <a:cs typeface="Palatino Linotype"/>
              </a:rPr>
              <a:t>by</a:t>
            </a:r>
            <a:r>
              <a:rPr spc="-45" dirty="0">
                <a:solidFill>
                  <a:srgbClr val="0432FF"/>
                </a:solidFill>
                <a:latin typeface="Palatino Linotype"/>
                <a:cs typeface="Palatino Linotype"/>
              </a:rPr>
              <a:t> </a:t>
            </a:r>
            <a:r>
              <a:rPr dirty="0">
                <a:solidFill>
                  <a:srgbClr val="0432FF"/>
                </a:solidFill>
                <a:latin typeface="Palatino Linotype"/>
                <a:cs typeface="Palatino Linotype"/>
              </a:rPr>
              <a:t>looking</a:t>
            </a:r>
            <a:r>
              <a:rPr spc="-50" dirty="0">
                <a:solidFill>
                  <a:srgbClr val="0432FF"/>
                </a:solidFill>
                <a:latin typeface="Palatino Linotype"/>
                <a:cs typeface="Palatino Linotype"/>
              </a:rPr>
              <a:t> </a:t>
            </a:r>
            <a:r>
              <a:rPr dirty="0">
                <a:solidFill>
                  <a:srgbClr val="0432FF"/>
                </a:solidFill>
                <a:latin typeface="Palatino Linotype"/>
                <a:cs typeface="Palatino Linotype"/>
              </a:rPr>
              <a:t>for</a:t>
            </a:r>
            <a:r>
              <a:rPr spc="-40" dirty="0">
                <a:solidFill>
                  <a:srgbClr val="0432FF"/>
                </a:solidFill>
                <a:latin typeface="Palatino Linotype"/>
                <a:cs typeface="Palatino Linotype"/>
              </a:rPr>
              <a:t> </a:t>
            </a:r>
            <a:r>
              <a:rPr dirty="0">
                <a:solidFill>
                  <a:srgbClr val="0432FF"/>
                </a:solidFill>
                <a:latin typeface="Palatino Linotype"/>
                <a:cs typeface="Palatino Linotype"/>
              </a:rPr>
              <a:t>patterns</a:t>
            </a:r>
            <a:r>
              <a:rPr spc="-45" dirty="0">
                <a:solidFill>
                  <a:srgbClr val="0432FF"/>
                </a:solidFill>
                <a:latin typeface="Palatino Linotype"/>
                <a:cs typeface="Palatino Linotype"/>
              </a:rPr>
              <a:t> </a:t>
            </a:r>
            <a:r>
              <a:rPr dirty="0">
                <a:solidFill>
                  <a:srgbClr val="0432FF"/>
                </a:solidFill>
                <a:latin typeface="Palatino Linotype"/>
                <a:cs typeface="Palatino Linotype"/>
              </a:rPr>
              <a:t>in</a:t>
            </a:r>
            <a:r>
              <a:rPr spc="-45" dirty="0">
                <a:solidFill>
                  <a:srgbClr val="0432FF"/>
                </a:solidFill>
                <a:latin typeface="Palatino Linotype"/>
                <a:cs typeface="Palatino Linotype"/>
              </a:rPr>
              <a:t> </a:t>
            </a:r>
            <a:r>
              <a:rPr dirty="0">
                <a:solidFill>
                  <a:srgbClr val="0432FF"/>
                </a:solidFill>
                <a:latin typeface="Palatino Linotype"/>
                <a:cs typeface="Palatino Linotype"/>
              </a:rPr>
              <a:t>a</a:t>
            </a:r>
            <a:r>
              <a:rPr spc="-40" dirty="0">
                <a:solidFill>
                  <a:srgbClr val="0432FF"/>
                </a:solidFill>
                <a:latin typeface="Palatino Linotype"/>
                <a:cs typeface="Palatino Linotype"/>
              </a:rPr>
              <a:t> </a:t>
            </a:r>
            <a:r>
              <a:rPr spc="-25" dirty="0">
                <a:solidFill>
                  <a:srgbClr val="0432FF"/>
                </a:solidFill>
                <a:latin typeface="Palatino Linotype"/>
                <a:cs typeface="Palatino Linotype"/>
              </a:rPr>
              <a:t>DAG</a:t>
            </a:r>
            <a:endParaRPr>
              <a:solidFill>
                <a:sysClr val="windowText" lastClr="000000"/>
              </a:solidFill>
              <a:latin typeface="Palatino Linotype"/>
              <a:cs typeface="Palatino Linotype"/>
            </a:endParaRPr>
          </a:p>
        </p:txBody>
      </p:sp>
    </p:spTree>
    <p:extLst>
      <p:ext uri="{BB962C8B-B14F-4D97-AF65-F5344CB8AC3E}">
        <p14:creationId xmlns:p14="http://schemas.microsoft.com/office/powerpoint/2010/main" val="361260383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58</a:t>
            </a:fld>
            <a:endParaRPr lang="en-US"/>
          </a:p>
        </p:txBody>
      </p:sp>
      <p:sp>
        <p:nvSpPr>
          <p:cNvPr id="7" name="object 2">
            <a:extLst>
              <a:ext uri="{FF2B5EF4-FFF2-40B4-BE49-F238E27FC236}">
                <a16:creationId xmlns:a16="http://schemas.microsoft.com/office/drawing/2014/main" id="{012A142E-7D54-79C5-AA4B-B1CAC92FD25E}"/>
              </a:ext>
            </a:extLst>
          </p:cNvPr>
          <p:cNvSpPr txBox="1">
            <a:spLocks/>
          </p:cNvSpPr>
          <p:nvPr/>
        </p:nvSpPr>
        <p:spPr>
          <a:xfrm>
            <a:off x="707390" y="524763"/>
            <a:ext cx="7729219" cy="63500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4000" b="1" i="0" u="none" strike="noStrike" kern="0" cap="none" spc="-10" normalizeH="0" baseline="0" noProof="0">
                <a:ln>
                  <a:noFill/>
                </a:ln>
                <a:solidFill>
                  <a:sysClr val="windowText" lastClr="000000"/>
                </a:solidFill>
                <a:effectLst/>
                <a:uLnTx/>
                <a:uFillTx/>
                <a:latin typeface="Palatino Linotype"/>
                <a:ea typeface="+mj-ea"/>
              </a:rPr>
              <a:t>Outline</a:t>
            </a:r>
            <a:endParaRPr kumimoji="0" lang="en-US" sz="4000" b="1" i="0" u="none" strike="noStrike" kern="0" cap="none" spc="-10" normalizeH="0" baseline="0" noProof="0" dirty="0">
              <a:ln>
                <a:noFill/>
              </a:ln>
              <a:solidFill>
                <a:sysClr val="windowText" lastClr="000000"/>
              </a:solidFill>
              <a:effectLst/>
              <a:uLnTx/>
              <a:uFillTx/>
              <a:latin typeface="Palatino Linotype"/>
              <a:ea typeface="+mj-ea"/>
            </a:endParaRPr>
          </a:p>
        </p:txBody>
      </p:sp>
      <p:sp>
        <p:nvSpPr>
          <p:cNvPr id="8" name="object 3">
            <a:extLst>
              <a:ext uri="{FF2B5EF4-FFF2-40B4-BE49-F238E27FC236}">
                <a16:creationId xmlns:a16="http://schemas.microsoft.com/office/drawing/2014/main" id="{E753D2E2-220D-9465-22D5-9825EA80C7F1}"/>
              </a:ext>
            </a:extLst>
          </p:cNvPr>
          <p:cNvSpPr txBox="1"/>
          <p:nvPr/>
        </p:nvSpPr>
        <p:spPr>
          <a:xfrm>
            <a:off x="707390" y="1631188"/>
            <a:ext cx="4697730" cy="4146550"/>
          </a:xfrm>
          <a:prstGeom prst="rect">
            <a:avLst/>
          </a:prstGeom>
        </p:spPr>
        <p:txBody>
          <a:bodyPr vert="horz" wrap="square" lIns="0" tIns="12700" rIns="0" bIns="0" rtlCol="0">
            <a:spAutoFit/>
          </a:bodyPr>
          <a:lstStyle/>
          <a:p>
            <a:pPr marL="242570" indent="-229870">
              <a:spcBef>
                <a:spcPts val="100"/>
              </a:spcBef>
              <a:buClr>
                <a:srgbClr val="000000"/>
              </a:buClr>
              <a:buFont typeface="Arial MT"/>
              <a:buChar char="•"/>
              <a:tabLst>
                <a:tab pos="242570" algn="l"/>
              </a:tabLst>
            </a:pPr>
            <a:r>
              <a:rPr sz="2200" dirty="0">
                <a:solidFill>
                  <a:srgbClr val="A6A6A6"/>
                </a:solidFill>
                <a:latin typeface="Palatino Linotype"/>
                <a:cs typeface="Palatino Linotype"/>
              </a:rPr>
              <a:t>Design</a:t>
            </a:r>
            <a:r>
              <a:rPr sz="2200" spc="-45" dirty="0">
                <a:solidFill>
                  <a:srgbClr val="A6A6A6"/>
                </a:solidFill>
                <a:latin typeface="Palatino Linotype"/>
                <a:cs typeface="Palatino Linotype"/>
              </a:rPr>
              <a:t> </a:t>
            </a:r>
            <a:r>
              <a:rPr sz="2200" spc="-10" dirty="0">
                <a:solidFill>
                  <a:srgbClr val="A6A6A6"/>
                </a:solidFill>
                <a:latin typeface="Palatino Linotype"/>
                <a:cs typeface="Palatino Linotype"/>
              </a:rPr>
              <a:t>Issues</a:t>
            </a:r>
            <a:endParaRPr sz="2200">
              <a:solidFill>
                <a:sysClr val="windowText" lastClr="000000"/>
              </a:solidFill>
              <a:latin typeface="Palatino Linotype"/>
              <a:cs typeface="Palatino Linotype"/>
            </a:endParaRPr>
          </a:p>
          <a:p>
            <a:pPr marL="242570" indent="-229870">
              <a:spcBef>
                <a:spcPts val="2255"/>
              </a:spcBef>
              <a:buClr>
                <a:srgbClr val="000000"/>
              </a:buClr>
              <a:buFont typeface="Arial MT"/>
              <a:buChar char="•"/>
              <a:tabLst>
                <a:tab pos="242570" algn="l"/>
              </a:tabLst>
            </a:pPr>
            <a:r>
              <a:rPr sz="2200" dirty="0">
                <a:solidFill>
                  <a:srgbClr val="A6A6A6"/>
                </a:solidFill>
                <a:latin typeface="Palatino Linotype"/>
                <a:cs typeface="Palatino Linotype"/>
              </a:rPr>
              <a:t>The</a:t>
            </a:r>
            <a:r>
              <a:rPr sz="2200" spc="-55" dirty="0">
                <a:solidFill>
                  <a:srgbClr val="A6A6A6"/>
                </a:solidFill>
                <a:latin typeface="Palatino Linotype"/>
                <a:cs typeface="Palatino Linotype"/>
              </a:rPr>
              <a:t> </a:t>
            </a:r>
            <a:r>
              <a:rPr sz="2200" spc="-25" dirty="0">
                <a:solidFill>
                  <a:srgbClr val="A6A6A6"/>
                </a:solidFill>
                <a:latin typeface="Palatino Linotype"/>
                <a:cs typeface="Palatino Linotype"/>
              </a:rPr>
              <a:t>Target</a:t>
            </a:r>
            <a:r>
              <a:rPr sz="2200" spc="-55" dirty="0">
                <a:solidFill>
                  <a:srgbClr val="A6A6A6"/>
                </a:solidFill>
                <a:latin typeface="Palatino Linotype"/>
                <a:cs typeface="Palatino Linotype"/>
              </a:rPr>
              <a:t> </a:t>
            </a:r>
            <a:r>
              <a:rPr sz="2200" spc="-10" dirty="0">
                <a:solidFill>
                  <a:srgbClr val="A6A6A6"/>
                </a:solidFill>
                <a:latin typeface="Palatino Linotype"/>
                <a:cs typeface="Palatino Linotype"/>
              </a:rPr>
              <a:t>Language</a:t>
            </a:r>
            <a:endParaRPr sz="2200">
              <a:solidFill>
                <a:sysClr val="windowText" lastClr="000000"/>
              </a:solidFill>
              <a:latin typeface="Palatino Linotype"/>
              <a:cs typeface="Palatino Linotype"/>
            </a:endParaRPr>
          </a:p>
          <a:p>
            <a:pPr marL="242570" indent="-229870">
              <a:spcBef>
                <a:spcPts val="2350"/>
              </a:spcBef>
              <a:buClr>
                <a:srgbClr val="000000"/>
              </a:buClr>
              <a:buFont typeface="Arial MT"/>
              <a:buChar char="•"/>
              <a:tabLst>
                <a:tab pos="242570" algn="l"/>
              </a:tabLst>
            </a:pPr>
            <a:r>
              <a:rPr sz="2200" dirty="0">
                <a:solidFill>
                  <a:srgbClr val="A6A6A6"/>
                </a:solidFill>
                <a:latin typeface="Palatino Linotype"/>
                <a:cs typeface="Palatino Linotype"/>
              </a:rPr>
              <a:t>Addresses</a:t>
            </a:r>
            <a:r>
              <a:rPr sz="2200" spc="-40" dirty="0">
                <a:solidFill>
                  <a:srgbClr val="A6A6A6"/>
                </a:solidFill>
                <a:latin typeface="Palatino Linotype"/>
                <a:cs typeface="Palatino Linotype"/>
              </a:rPr>
              <a:t> </a:t>
            </a:r>
            <a:r>
              <a:rPr sz="2200" dirty="0">
                <a:solidFill>
                  <a:srgbClr val="A6A6A6"/>
                </a:solidFill>
                <a:latin typeface="Palatino Linotype"/>
                <a:cs typeface="Palatino Linotype"/>
              </a:rPr>
              <a:t>in</a:t>
            </a:r>
            <a:r>
              <a:rPr sz="2200" spc="-50" dirty="0">
                <a:solidFill>
                  <a:srgbClr val="A6A6A6"/>
                </a:solidFill>
                <a:latin typeface="Palatino Linotype"/>
                <a:cs typeface="Palatino Linotype"/>
              </a:rPr>
              <a:t> </a:t>
            </a:r>
            <a:r>
              <a:rPr sz="2200" dirty="0">
                <a:solidFill>
                  <a:srgbClr val="A6A6A6"/>
                </a:solidFill>
                <a:latin typeface="Palatino Linotype"/>
                <a:cs typeface="Palatino Linotype"/>
              </a:rPr>
              <a:t>the</a:t>
            </a:r>
            <a:r>
              <a:rPr sz="2200" spc="-45" dirty="0">
                <a:solidFill>
                  <a:srgbClr val="A6A6A6"/>
                </a:solidFill>
                <a:latin typeface="Palatino Linotype"/>
                <a:cs typeface="Palatino Linotype"/>
              </a:rPr>
              <a:t> </a:t>
            </a:r>
            <a:r>
              <a:rPr sz="2200" spc="-25" dirty="0">
                <a:solidFill>
                  <a:srgbClr val="A6A6A6"/>
                </a:solidFill>
                <a:latin typeface="Palatino Linotype"/>
                <a:cs typeface="Palatino Linotype"/>
              </a:rPr>
              <a:t>Target</a:t>
            </a:r>
            <a:r>
              <a:rPr sz="2200" spc="-45" dirty="0">
                <a:solidFill>
                  <a:srgbClr val="A6A6A6"/>
                </a:solidFill>
                <a:latin typeface="Palatino Linotype"/>
                <a:cs typeface="Palatino Linotype"/>
              </a:rPr>
              <a:t> </a:t>
            </a:r>
            <a:r>
              <a:rPr sz="2200" spc="-20" dirty="0">
                <a:solidFill>
                  <a:srgbClr val="A6A6A6"/>
                </a:solidFill>
                <a:latin typeface="Palatino Linotype"/>
                <a:cs typeface="Palatino Linotype"/>
              </a:rPr>
              <a:t>Code</a:t>
            </a:r>
            <a:endParaRPr sz="2200">
              <a:solidFill>
                <a:sysClr val="windowText" lastClr="000000"/>
              </a:solidFill>
              <a:latin typeface="Palatino Linotype"/>
              <a:cs typeface="Palatino Linotype"/>
            </a:endParaRPr>
          </a:p>
          <a:p>
            <a:pPr marL="242570" indent="-229870">
              <a:spcBef>
                <a:spcPts val="2375"/>
              </a:spcBef>
              <a:buClr>
                <a:srgbClr val="000000"/>
              </a:buClr>
              <a:buFont typeface="Arial MT"/>
              <a:buChar char="•"/>
              <a:tabLst>
                <a:tab pos="242570" algn="l"/>
              </a:tabLst>
            </a:pPr>
            <a:r>
              <a:rPr sz="2200" dirty="0">
                <a:solidFill>
                  <a:srgbClr val="A6A6A6"/>
                </a:solidFill>
                <a:latin typeface="Palatino Linotype"/>
                <a:cs typeface="Palatino Linotype"/>
              </a:rPr>
              <a:t>Basic</a:t>
            </a:r>
            <a:r>
              <a:rPr sz="2200" spc="-45" dirty="0">
                <a:solidFill>
                  <a:srgbClr val="A6A6A6"/>
                </a:solidFill>
                <a:latin typeface="Palatino Linotype"/>
                <a:cs typeface="Palatino Linotype"/>
              </a:rPr>
              <a:t> </a:t>
            </a:r>
            <a:r>
              <a:rPr sz="2200" dirty="0">
                <a:solidFill>
                  <a:srgbClr val="A6A6A6"/>
                </a:solidFill>
                <a:latin typeface="Palatino Linotype"/>
                <a:cs typeface="Palatino Linotype"/>
              </a:rPr>
              <a:t>Blocks</a:t>
            </a:r>
            <a:r>
              <a:rPr sz="2200" spc="-30" dirty="0">
                <a:solidFill>
                  <a:srgbClr val="A6A6A6"/>
                </a:solidFill>
                <a:latin typeface="Palatino Linotype"/>
                <a:cs typeface="Palatino Linotype"/>
              </a:rPr>
              <a:t> </a:t>
            </a:r>
            <a:r>
              <a:rPr sz="2200" dirty="0">
                <a:solidFill>
                  <a:srgbClr val="A6A6A6"/>
                </a:solidFill>
                <a:latin typeface="Palatino Linotype"/>
                <a:cs typeface="Palatino Linotype"/>
              </a:rPr>
              <a:t>and</a:t>
            </a:r>
            <a:r>
              <a:rPr sz="2200" spc="-30" dirty="0">
                <a:solidFill>
                  <a:srgbClr val="A6A6A6"/>
                </a:solidFill>
                <a:latin typeface="Palatino Linotype"/>
                <a:cs typeface="Palatino Linotype"/>
              </a:rPr>
              <a:t> </a:t>
            </a:r>
            <a:r>
              <a:rPr sz="2200" dirty="0">
                <a:solidFill>
                  <a:srgbClr val="A6A6A6"/>
                </a:solidFill>
                <a:latin typeface="Palatino Linotype"/>
                <a:cs typeface="Palatino Linotype"/>
              </a:rPr>
              <a:t>Flow</a:t>
            </a:r>
            <a:r>
              <a:rPr sz="2200" spc="-35" dirty="0">
                <a:solidFill>
                  <a:srgbClr val="A6A6A6"/>
                </a:solidFill>
                <a:latin typeface="Palatino Linotype"/>
                <a:cs typeface="Palatino Linotype"/>
              </a:rPr>
              <a:t> </a:t>
            </a:r>
            <a:r>
              <a:rPr sz="2200" spc="-10" dirty="0">
                <a:solidFill>
                  <a:srgbClr val="A6A6A6"/>
                </a:solidFill>
                <a:latin typeface="Palatino Linotype"/>
                <a:cs typeface="Palatino Linotype"/>
              </a:rPr>
              <a:t>Graph</a:t>
            </a:r>
            <a:endParaRPr sz="2200">
              <a:solidFill>
                <a:sysClr val="windowText" lastClr="000000"/>
              </a:solidFill>
              <a:latin typeface="Palatino Linotype"/>
              <a:cs typeface="Palatino Linotype"/>
            </a:endParaRPr>
          </a:p>
          <a:p>
            <a:pPr marL="242570" indent="-229870">
              <a:spcBef>
                <a:spcPts val="2260"/>
              </a:spcBef>
              <a:buClr>
                <a:srgbClr val="000000"/>
              </a:buClr>
              <a:buFont typeface="Arial MT"/>
              <a:buChar char="•"/>
              <a:tabLst>
                <a:tab pos="242570" algn="l"/>
              </a:tabLst>
            </a:pPr>
            <a:r>
              <a:rPr sz="2200" dirty="0">
                <a:solidFill>
                  <a:srgbClr val="A6A6A6"/>
                </a:solidFill>
                <a:latin typeface="Palatino Linotype"/>
                <a:cs typeface="Palatino Linotype"/>
              </a:rPr>
              <a:t>Optimization</a:t>
            </a:r>
            <a:r>
              <a:rPr sz="2200" spc="-45" dirty="0">
                <a:solidFill>
                  <a:srgbClr val="A6A6A6"/>
                </a:solidFill>
                <a:latin typeface="Palatino Linotype"/>
                <a:cs typeface="Palatino Linotype"/>
              </a:rPr>
              <a:t> </a:t>
            </a:r>
            <a:r>
              <a:rPr sz="2200" dirty="0">
                <a:solidFill>
                  <a:srgbClr val="A6A6A6"/>
                </a:solidFill>
                <a:latin typeface="Palatino Linotype"/>
                <a:cs typeface="Palatino Linotype"/>
              </a:rPr>
              <a:t>of</a:t>
            </a:r>
            <a:r>
              <a:rPr sz="2200" spc="-35" dirty="0">
                <a:solidFill>
                  <a:srgbClr val="A6A6A6"/>
                </a:solidFill>
                <a:latin typeface="Palatino Linotype"/>
                <a:cs typeface="Palatino Linotype"/>
              </a:rPr>
              <a:t> </a:t>
            </a:r>
            <a:r>
              <a:rPr sz="2200" dirty="0">
                <a:solidFill>
                  <a:srgbClr val="A6A6A6"/>
                </a:solidFill>
                <a:latin typeface="Palatino Linotype"/>
                <a:cs typeface="Palatino Linotype"/>
              </a:rPr>
              <a:t>Basic</a:t>
            </a:r>
            <a:r>
              <a:rPr sz="2200" spc="-40" dirty="0">
                <a:solidFill>
                  <a:srgbClr val="A6A6A6"/>
                </a:solidFill>
                <a:latin typeface="Palatino Linotype"/>
                <a:cs typeface="Palatino Linotype"/>
              </a:rPr>
              <a:t> </a:t>
            </a:r>
            <a:r>
              <a:rPr sz="2200" spc="-10" dirty="0">
                <a:solidFill>
                  <a:srgbClr val="A6A6A6"/>
                </a:solidFill>
                <a:latin typeface="Palatino Linotype"/>
                <a:cs typeface="Palatino Linotype"/>
              </a:rPr>
              <a:t>Blocks</a:t>
            </a:r>
            <a:endParaRPr sz="2200">
              <a:solidFill>
                <a:sysClr val="windowText" lastClr="000000"/>
              </a:solidFill>
              <a:latin typeface="Palatino Linotype"/>
              <a:cs typeface="Palatino Linotype"/>
            </a:endParaRPr>
          </a:p>
          <a:p>
            <a:pPr marL="242570" indent="-229870">
              <a:spcBef>
                <a:spcPts val="2350"/>
              </a:spcBef>
              <a:buFont typeface="Arial MT"/>
              <a:buChar char="•"/>
              <a:tabLst>
                <a:tab pos="242570" algn="l"/>
              </a:tabLst>
            </a:pPr>
            <a:r>
              <a:rPr sz="2200" spc="-20" dirty="0">
                <a:solidFill>
                  <a:sysClr val="windowText" lastClr="000000"/>
                </a:solidFill>
                <a:latin typeface="Palatino Linotype"/>
                <a:cs typeface="Palatino Linotype"/>
              </a:rPr>
              <a:t>A</a:t>
            </a:r>
            <a:r>
              <a:rPr sz="2200" spc="-125" dirty="0">
                <a:solidFill>
                  <a:sysClr val="windowText" lastClr="000000"/>
                </a:solidFill>
                <a:latin typeface="Palatino Linotype"/>
                <a:cs typeface="Palatino Linotype"/>
              </a:rPr>
              <a:t> </a:t>
            </a:r>
            <a:r>
              <a:rPr sz="2200" dirty="0">
                <a:solidFill>
                  <a:sysClr val="windowText" lastClr="000000"/>
                </a:solidFill>
                <a:latin typeface="Palatino Linotype"/>
                <a:cs typeface="Palatino Linotype"/>
              </a:rPr>
              <a:t>Simple</a:t>
            </a:r>
            <a:r>
              <a:rPr sz="2200" spc="-45" dirty="0">
                <a:solidFill>
                  <a:sysClr val="windowText" lastClr="000000"/>
                </a:solidFill>
                <a:latin typeface="Palatino Linotype"/>
                <a:cs typeface="Palatino Linotype"/>
              </a:rPr>
              <a:t> </a:t>
            </a:r>
            <a:r>
              <a:rPr sz="2200" dirty="0">
                <a:solidFill>
                  <a:sysClr val="windowText" lastClr="000000"/>
                </a:solidFill>
                <a:latin typeface="Palatino Linotype"/>
                <a:cs typeface="Palatino Linotype"/>
              </a:rPr>
              <a:t>Code</a:t>
            </a:r>
            <a:r>
              <a:rPr sz="2200" spc="-25" dirty="0">
                <a:solidFill>
                  <a:sysClr val="windowText" lastClr="000000"/>
                </a:solidFill>
                <a:latin typeface="Palatino Linotype"/>
                <a:cs typeface="Palatino Linotype"/>
              </a:rPr>
              <a:t> </a:t>
            </a:r>
            <a:r>
              <a:rPr sz="2200" spc="-10" dirty="0">
                <a:solidFill>
                  <a:sysClr val="windowText" lastClr="000000"/>
                </a:solidFill>
                <a:latin typeface="Palatino Linotype"/>
                <a:cs typeface="Palatino Linotype"/>
              </a:rPr>
              <a:t>Generator</a:t>
            </a:r>
            <a:endParaRPr sz="2200">
              <a:solidFill>
                <a:sysClr val="windowText" lastClr="000000"/>
              </a:solidFill>
              <a:latin typeface="Palatino Linotype"/>
              <a:cs typeface="Palatino Linotype"/>
            </a:endParaRPr>
          </a:p>
          <a:p>
            <a:pPr marL="242570" indent="-229870">
              <a:spcBef>
                <a:spcPts val="2375"/>
              </a:spcBef>
              <a:buClr>
                <a:srgbClr val="000000"/>
              </a:buClr>
              <a:buFont typeface="Arial MT"/>
              <a:buChar char="•"/>
              <a:tabLst>
                <a:tab pos="242570" algn="l"/>
              </a:tabLst>
            </a:pPr>
            <a:r>
              <a:rPr sz="2200" dirty="0">
                <a:solidFill>
                  <a:srgbClr val="A6A6A6"/>
                </a:solidFill>
                <a:latin typeface="Palatino Linotype"/>
                <a:cs typeface="Palatino Linotype"/>
              </a:rPr>
              <a:t>Register</a:t>
            </a:r>
            <a:r>
              <a:rPr sz="2200" spc="-120" dirty="0">
                <a:solidFill>
                  <a:srgbClr val="A6A6A6"/>
                </a:solidFill>
                <a:latin typeface="Palatino Linotype"/>
                <a:cs typeface="Palatino Linotype"/>
              </a:rPr>
              <a:t> </a:t>
            </a:r>
            <a:r>
              <a:rPr sz="2200" dirty="0">
                <a:solidFill>
                  <a:srgbClr val="A6A6A6"/>
                </a:solidFill>
                <a:latin typeface="Palatino Linotype"/>
                <a:cs typeface="Palatino Linotype"/>
              </a:rPr>
              <a:t>Allocation</a:t>
            </a:r>
            <a:r>
              <a:rPr sz="2200" spc="-65" dirty="0">
                <a:solidFill>
                  <a:srgbClr val="A6A6A6"/>
                </a:solidFill>
                <a:latin typeface="Palatino Linotype"/>
                <a:cs typeface="Palatino Linotype"/>
              </a:rPr>
              <a:t> </a:t>
            </a:r>
            <a:r>
              <a:rPr sz="2200" dirty="0">
                <a:solidFill>
                  <a:srgbClr val="A6A6A6"/>
                </a:solidFill>
                <a:latin typeface="Palatino Linotype"/>
                <a:cs typeface="Palatino Linotype"/>
              </a:rPr>
              <a:t>and</a:t>
            </a:r>
            <a:r>
              <a:rPr sz="2200" spc="-120" dirty="0">
                <a:solidFill>
                  <a:srgbClr val="A6A6A6"/>
                </a:solidFill>
                <a:latin typeface="Palatino Linotype"/>
                <a:cs typeface="Palatino Linotype"/>
              </a:rPr>
              <a:t> </a:t>
            </a:r>
            <a:r>
              <a:rPr sz="2200" spc="-10" dirty="0">
                <a:solidFill>
                  <a:srgbClr val="A6A6A6"/>
                </a:solidFill>
                <a:latin typeface="Palatino Linotype"/>
                <a:cs typeface="Palatino Linotype"/>
              </a:rPr>
              <a:t>Assignment</a:t>
            </a:r>
            <a:endParaRPr sz="2200">
              <a:solidFill>
                <a:sysClr val="windowText" lastClr="000000"/>
              </a:solidFill>
              <a:latin typeface="Palatino Linotype"/>
              <a:cs typeface="Palatino Linotype"/>
            </a:endParaRPr>
          </a:p>
        </p:txBody>
      </p:sp>
    </p:spTree>
    <p:extLst>
      <p:ext uri="{BB962C8B-B14F-4D97-AF65-F5344CB8AC3E}">
        <p14:creationId xmlns:p14="http://schemas.microsoft.com/office/powerpoint/2010/main" val="257459756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59</a:t>
            </a:fld>
            <a:endParaRPr lang="en-US"/>
          </a:p>
        </p:txBody>
      </p:sp>
      <p:sp>
        <p:nvSpPr>
          <p:cNvPr id="7" name="object 2">
            <a:extLst>
              <a:ext uri="{FF2B5EF4-FFF2-40B4-BE49-F238E27FC236}">
                <a16:creationId xmlns:a16="http://schemas.microsoft.com/office/drawing/2014/main" id="{694C3FDD-BCA4-632A-8886-8F4E33DBB509}"/>
              </a:ext>
            </a:extLst>
          </p:cNvPr>
          <p:cNvSpPr txBox="1">
            <a:spLocks/>
          </p:cNvSpPr>
          <p:nvPr/>
        </p:nvSpPr>
        <p:spPr>
          <a:xfrm>
            <a:off x="707390" y="524763"/>
            <a:ext cx="7729219" cy="63500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4000" b="1" i="0" u="none" strike="noStrike" kern="0" cap="none" spc="0" normalizeH="0" baseline="0" noProof="0">
                <a:ln>
                  <a:noFill/>
                </a:ln>
                <a:solidFill>
                  <a:sysClr val="windowText" lastClr="000000"/>
                </a:solidFill>
                <a:effectLst/>
                <a:uLnTx/>
                <a:uFillTx/>
                <a:latin typeface="Palatino Linotype"/>
                <a:ea typeface="+mj-ea"/>
              </a:rPr>
              <a:t>Code</a:t>
            </a:r>
            <a:r>
              <a:rPr kumimoji="0" lang="en-US" sz="4000" b="1" i="0" u="none" strike="noStrike" kern="0" cap="none" spc="-10" normalizeH="0" baseline="0" noProof="0">
                <a:ln>
                  <a:noFill/>
                </a:ln>
                <a:solidFill>
                  <a:sysClr val="windowText" lastClr="000000"/>
                </a:solidFill>
                <a:effectLst/>
                <a:uLnTx/>
                <a:uFillTx/>
                <a:latin typeface="Palatino Linotype"/>
                <a:ea typeface="+mj-ea"/>
              </a:rPr>
              <a:t> Generator</a:t>
            </a:r>
            <a:endParaRPr kumimoji="0" lang="en-US" sz="4000" b="1" i="0" u="none" strike="noStrike" kern="0" cap="none" spc="-10" normalizeH="0" baseline="0" noProof="0" dirty="0">
              <a:ln>
                <a:noFill/>
              </a:ln>
              <a:solidFill>
                <a:sysClr val="windowText" lastClr="000000"/>
              </a:solidFill>
              <a:effectLst/>
              <a:uLnTx/>
              <a:uFillTx/>
              <a:latin typeface="Palatino Linotype"/>
              <a:ea typeface="+mj-ea"/>
            </a:endParaRPr>
          </a:p>
        </p:txBody>
      </p:sp>
      <p:sp>
        <p:nvSpPr>
          <p:cNvPr id="8" name="object 3">
            <a:extLst>
              <a:ext uri="{FF2B5EF4-FFF2-40B4-BE49-F238E27FC236}">
                <a16:creationId xmlns:a16="http://schemas.microsoft.com/office/drawing/2014/main" id="{41B7FAC5-6E4C-1F62-8872-CD4CB2094E0C}"/>
              </a:ext>
            </a:extLst>
          </p:cNvPr>
          <p:cNvSpPr txBox="1"/>
          <p:nvPr/>
        </p:nvSpPr>
        <p:spPr>
          <a:xfrm>
            <a:off x="707390" y="1391158"/>
            <a:ext cx="7602220" cy="4264660"/>
          </a:xfrm>
          <a:prstGeom prst="rect">
            <a:avLst/>
          </a:prstGeom>
        </p:spPr>
        <p:txBody>
          <a:bodyPr vert="horz" wrap="square" lIns="0" tIns="171450" rIns="0" bIns="0" rtlCol="0">
            <a:spAutoFit/>
          </a:bodyPr>
          <a:lstStyle/>
          <a:p>
            <a:pPr marL="242570" indent="-229870">
              <a:spcBef>
                <a:spcPts val="1350"/>
              </a:spcBef>
              <a:buClr>
                <a:srgbClr val="000000"/>
              </a:buClr>
              <a:buFont typeface="Arial MT"/>
              <a:buChar char="•"/>
              <a:tabLst>
                <a:tab pos="242570" algn="l"/>
              </a:tabLst>
            </a:pPr>
            <a:r>
              <a:rPr sz="2000" dirty="0">
                <a:solidFill>
                  <a:srgbClr val="0432FF"/>
                </a:solidFill>
                <a:latin typeface="Palatino Linotype"/>
                <a:cs typeface="Palatino Linotype"/>
              </a:rPr>
              <a:t>Generate</a:t>
            </a:r>
            <a:r>
              <a:rPr sz="2000" spc="-45" dirty="0">
                <a:solidFill>
                  <a:srgbClr val="0432FF"/>
                </a:solidFill>
                <a:latin typeface="Palatino Linotype"/>
                <a:cs typeface="Palatino Linotype"/>
              </a:rPr>
              <a:t> </a:t>
            </a:r>
            <a:r>
              <a:rPr sz="2000" dirty="0">
                <a:solidFill>
                  <a:srgbClr val="0432FF"/>
                </a:solidFill>
                <a:latin typeface="Palatino Linotype"/>
                <a:cs typeface="Palatino Linotype"/>
              </a:rPr>
              <a:t>machine</a:t>
            </a:r>
            <a:r>
              <a:rPr sz="2000" spc="-40" dirty="0">
                <a:solidFill>
                  <a:srgbClr val="0432FF"/>
                </a:solidFill>
                <a:latin typeface="Palatino Linotype"/>
                <a:cs typeface="Palatino Linotype"/>
              </a:rPr>
              <a:t> </a:t>
            </a:r>
            <a:r>
              <a:rPr sz="2000" dirty="0">
                <a:solidFill>
                  <a:srgbClr val="0432FF"/>
                </a:solidFill>
                <a:latin typeface="Palatino Linotype"/>
                <a:cs typeface="Palatino Linotype"/>
              </a:rPr>
              <a:t>instructions</a:t>
            </a:r>
            <a:r>
              <a:rPr sz="2000" spc="-45" dirty="0">
                <a:solidFill>
                  <a:srgbClr val="0432FF"/>
                </a:solidFill>
                <a:latin typeface="Palatino Linotype"/>
                <a:cs typeface="Palatino Linotype"/>
              </a:rPr>
              <a:t> </a:t>
            </a:r>
            <a:r>
              <a:rPr sz="2000" dirty="0">
                <a:solidFill>
                  <a:srgbClr val="0432FF"/>
                </a:solidFill>
                <a:latin typeface="Palatino Linotype"/>
                <a:cs typeface="Palatino Linotype"/>
              </a:rPr>
              <a:t>from</a:t>
            </a:r>
            <a:r>
              <a:rPr sz="2000" spc="-45" dirty="0">
                <a:solidFill>
                  <a:srgbClr val="0432FF"/>
                </a:solidFill>
                <a:latin typeface="Palatino Linotype"/>
                <a:cs typeface="Palatino Linotype"/>
              </a:rPr>
              <a:t> </a:t>
            </a:r>
            <a:r>
              <a:rPr sz="2000" spc="-10" dirty="0">
                <a:solidFill>
                  <a:srgbClr val="0432FF"/>
                </a:solidFill>
                <a:latin typeface="Palatino Linotype"/>
                <a:cs typeface="Palatino Linotype"/>
              </a:rPr>
              <a:t>three-</a:t>
            </a:r>
            <a:r>
              <a:rPr sz="2000" dirty="0">
                <a:solidFill>
                  <a:srgbClr val="0432FF"/>
                </a:solidFill>
                <a:latin typeface="Palatino Linotype"/>
                <a:cs typeface="Palatino Linotype"/>
              </a:rPr>
              <a:t>address</a:t>
            </a:r>
            <a:r>
              <a:rPr sz="2000" spc="-40" dirty="0">
                <a:solidFill>
                  <a:srgbClr val="0432FF"/>
                </a:solidFill>
                <a:latin typeface="Palatino Linotype"/>
                <a:cs typeface="Palatino Linotype"/>
              </a:rPr>
              <a:t> </a:t>
            </a:r>
            <a:r>
              <a:rPr sz="2000" spc="-20" dirty="0">
                <a:solidFill>
                  <a:srgbClr val="0432FF"/>
                </a:solidFill>
                <a:latin typeface="Palatino Linotype"/>
                <a:cs typeface="Palatino Linotype"/>
              </a:rPr>
              <a:t>code</a:t>
            </a:r>
            <a:endParaRPr sz="2000">
              <a:solidFill>
                <a:sysClr val="windowText" lastClr="000000"/>
              </a:solidFill>
              <a:latin typeface="Palatino Linotype"/>
              <a:cs typeface="Palatino Linotype"/>
            </a:endParaRPr>
          </a:p>
          <a:p>
            <a:pPr marL="697865" lvl="1" indent="-227965">
              <a:spcBef>
                <a:spcPts val="1000"/>
              </a:spcBef>
              <a:buFont typeface="Wingdings"/>
              <a:buChar char=""/>
              <a:tabLst>
                <a:tab pos="697865" algn="l"/>
              </a:tabLst>
            </a:pPr>
            <a:r>
              <a:rPr sz="1600" dirty="0">
                <a:solidFill>
                  <a:sysClr val="windowText" lastClr="000000"/>
                </a:solidFill>
                <a:latin typeface="Palatino Linotype"/>
                <a:cs typeface="Palatino Linotype"/>
              </a:rPr>
              <a:t>Assume</a:t>
            </a:r>
            <a:r>
              <a:rPr sz="1600" spc="-35"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there</a:t>
            </a:r>
            <a:r>
              <a:rPr sz="1600" spc="-30"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is</a:t>
            </a:r>
            <a:r>
              <a:rPr sz="1600" spc="-30"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exactly</a:t>
            </a:r>
            <a:r>
              <a:rPr sz="1600" spc="-30"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one</a:t>
            </a:r>
            <a:r>
              <a:rPr sz="1600" spc="-30"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machine</a:t>
            </a:r>
            <a:r>
              <a:rPr sz="1600" spc="-30"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instruction</a:t>
            </a:r>
            <a:r>
              <a:rPr sz="1600" spc="-20"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for</a:t>
            </a:r>
            <a:r>
              <a:rPr sz="1600" spc="-25"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each</a:t>
            </a:r>
            <a:r>
              <a:rPr sz="1600" spc="-20" dirty="0">
                <a:solidFill>
                  <a:sysClr val="windowText" lastClr="000000"/>
                </a:solidFill>
                <a:latin typeface="Palatino Linotype"/>
                <a:cs typeface="Palatino Linotype"/>
              </a:rPr>
              <a:t> </a:t>
            </a:r>
            <a:r>
              <a:rPr sz="1600" spc="-10" dirty="0">
                <a:solidFill>
                  <a:sysClr val="windowText" lastClr="000000"/>
                </a:solidFill>
                <a:latin typeface="Palatino Linotype"/>
                <a:cs typeface="Palatino Linotype"/>
              </a:rPr>
              <a:t>operator</a:t>
            </a:r>
            <a:endParaRPr sz="1600">
              <a:solidFill>
                <a:sysClr val="windowText" lastClr="000000"/>
              </a:solidFill>
              <a:latin typeface="Palatino Linotype"/>
              <a:cs typeface="Palatino Linotype"/>
            </a:endParaRPr>
          </a:p>
          <a:p>
            <a:pPr marL="697865" lvl="1" indent="-227965">
              <a:spcBef>
                <a:spcPts val="980"/>
              </a:spcBef>
              <a:buFont typeface="Wingdings"/>
              <a:buChar char=""/>
              <a:tabLst>
                <a:tab pos="697865" algn="l"/>
              </a:tabLst>
            </a:pPr>
            <a:r>
              <a:rPr sz="1600" dirty="0">
                <a:solidFill>
                  <a:sysClr val="windowText" lastClr="000000"/>
                </a:solidFill>
                <a:latin typeface="Palatino Linotype"/>
                <a:cs typeface="Palatino Linotype"/>
              </a:rPr>
              <a:t>Assume</a:t>
            </a:r>
            <a:r>
              <a:rPr sz="1600" spc="-35"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some</a:t>
            </a:r>
            <a:r>
              <a:rPr sz="1600" spc="-30"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registers</a:t>
            </a:r>
            <a:r>
              <a:rPr sz="1600" spc="-30"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are</a:t>
            </a:r>
            <a:r>
              <a:rPr sz="1600" spc="-30"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available</a:t>
            </a:r>
            <a:r>
              <a:rPr sz="1600" spc="-30"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to</a:t>
            </a:r>
            <a:r>
              <a:rPr sz="1600" spc="-25"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hold</a:t>
            </a:r>
            <a:r>
              <a:rPr sz="1600" spc="-30"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the</a:t>
            </a:r>
            <a:r>
              <a:rPr sz="1600" spc="-30"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values</a:t>
            </a:r>
            <a:r>
              <a:rPr sz="1600" spc="-30"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used</a:t>
            </a:r>
            <a:r>
              <a:rPr sz="1600" spc="-30"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in</a:t>
            </a:r>
            <a:r>
              <a:rPr sz="1600" spc="-20"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a</a:t>
            </a:r>
            <a:r>
              <a:rPr sz="1600" spc="-25"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basic</a:t>
            </a:r>
            <a:r>
              <a:rPr sz="1600" spc="-25" dirty="0">
                <a:solidFill>
                  <a:sysClr val="windowText" lastClr="000000"/>
                </a:solidFill>
                <a:latin typeface="Palatino Linotype"/>
                <a:cs typeface="Palatino Linotype"/>
              </a:rPr>
              <a:t> </a:t>
            </a:r>
            <a:r>
              <a:rPr sz="1600" spc="-10" dirty="0">
                <a:solidFill>
                  <a:sysClr val="windowText" lastClr="000000"/>
                </a:solidFill>
                <a:latin typeface="Palatino Linotype"/>
                <a:cs typeface="Palatino Linotype"/>
              </a:rPr>
              <a:t>block</a:t>
            </a:r>
            <a:endParaRPr sz="1600">
              <a:solidFill>
                <a:sysClr val="windowText" lastClr="000000"/>
              </a:solidFill>
              <a:latin typeface="Palatino Linotype"/>
              <a:cs typeface="Palatino Linotype"/>
            </a:endParaRPr>
          </a:p>
          <a:p>
            <a:pPr marL="242570" marR="5080" indent="-230504">
              <a:lnSpc>
                <a:spcPct val="121000"/>
              </a:lnSpc>
              <a:spcBef>
                <a:spcPts val="1689"/>
              </a:spcBef>
              <a:buClr>
                <a:srgbClr val="000000"/>
              </a:buClr>
              <a:buFont typeface="Arial MT"/>
              <a:buChar char="•"/>
              <a:tabLst>
                <a:tab pos="242570" algn="l"/>
              </a:tabLst>
            </a:pPr>
            <a:r>
              <a:rPr sz="2000" dirty="0">
                <a:solidFill>
                  <a:srgbClr val="FF0000"/>
                </a:solidFill>
                <a:latin typeface="Palatino Linotype"/>
                <a:cs typeface="Palatino Linotype"/>
              </a:rPr>
              <a:t>Primary</a:t>
            </a:r>
            <a:r>
              <a:rPr sz="2000" spc="-50" dirty="0">
                <a:solidFill>
                  <a:srgbClr val="FF0000"/>
                </a:solidFill>
                <a:latin typeface="Palatino Linotype"/>
                <a:cs typeface="Palatino Linotype"/>
              </a:rPr>
              <a:t> </a:t>
            </a:r>
            <a:r>
              <a:rPr sz="2000" dirty="0">
                <a:solidFill>
                  <a:srgbClr val="FF0000"/>
                </a:solidFill>
                <a:latin typeface="Palatino Linotype"/>
                <a:cs typeface="Palatino Linotype"/>
              </a:rPr>
              <a:t>goal:</a:t>
            </a:r>
            <a:r>
              <a:rPr sz="2000" spc="-45" dirty="0">
                <a:solidFill>
                  <a:srgbClr val="FF0000"/>
                </a:solidFill>
                <a:latin typeface="Palatino Linotype"/>
                <a:cs typeface="Palatino Linotype"/>
              </a:rPr>
              <a:t> </a:t>
            </a:r>
            <a:r>
              <a:rPr sz="2000" dirty="0">
                <a:solidFill>
                  <a:sysClr val="windowText" lastClr="000000"/>
                </a:solidFill>
                <a:latin typeface="Palatino Linotype"/>
                <a:cs typeface="Palatino Linotype"/>
              </a:rPr>
              <a:t>avoid</a:t>
            </a:r>
            <a:r>
              <a:rPr sz="2000" spc="-4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generating</a:t>
            </a:r>
            <a:r>
              <a:rPr sz="2000" spc="-4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unnecessary</a:t>
            </a:r>
            <a:r>
              <a:rPr sz="2000" spc="-5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loads</a:t>
            </a:r>
            <a:r>
              <a:rPr sz="2000" spc="-4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and</a:t>
            </a:r>
            <a:r>
              <a:rPr sz="2000" spc="-4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stores,</a:t>
            </a:r>
            <a:r>
              <a:rPr sz="2000" spc="-45" dirty="0">
                <a:solidFill>
                  <a:sysClr val="windowText" lastClr="000000"/>
                </a:solidFill>
                <a:latin typeface="Palatino Linotype"/>
                <a:cs typeface="Palatino Linotype"/>
              </a:rPr>
              <a:t> </a:t>
            </a:r>
            <a:r>
              <a:rPr sz="2000" spc="-10" dirty="0">
                <a:solidFill>
                  <a:sysClr val="windowText" lastClr="000000"/>
                </a:solidFill>
                <a:latin typeface="Palatino Linotype"/>
                <a:cs typeface="Palatino Linotype"/>
              </a:rPr>
              <a:t>i.e., </a:t>
            </a:r>
            <a:r>
              <a:rPr sz="2000" dirty="0">
                <a:solidFill>
                  <a:sysClr val="windowText" lastClr="000000"/>
                </a:solidFill>
                <a:latin typeface="Palatino Linotype"/>
                <a:cs typeface="Palatino Linotype"/>
              </a:rPr>
              <a:t>making</a:t>
            </a:r>
            <a:r>
              <a:rPr sz="2000" spc="-3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the</a:t>
            </a:r>
            <a:r>
              <a:rPr sz="2000" spc="-2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best</a:t>
            </a:r>
            <a:r>
              <a:rPr sz="2000" spc="-3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use</a:t>
            </a:r>
            <a:r>
              <a:rPr sz="2000" spc="-2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of</a:t>
            </a:r>
            <a:r>
              <a:rPr sz="2000" spc="-30" dirty="0">
                <a:solidFill>
                  <a:sysClr val="windowText" lastClr="000000"/>
                </a:solidFill>
                <a:latin typeface="Palatino Linotype"/>
                <a:cs typeface="Palatino Linotype"/>
              </a:rPr>
              <a:t> </a:t>
            </a:r>
            <a:r>
              <a:rPr sz="2000" spc="-10" dirty="0">
                <a:solidFill>
                  <a:sysClr val="windowText" lastClr="000000"/>
                </a:solidFill>
                <a:latin typeface="Palatino Linotype"/>
                <a:cs typeface="Palatino Linotype"/>
              </a:rPr>
              <a:t>registers</a:t>
            </a:r>
            <a:endParaRPr sz="2000">
              <a:solidFill>
                <a:sysClr val="windowText" lastClr="000000"/>
              </a:solidFill>
              <a:latin typeface="Palatino Linotype"/>
              <a:cs typeface="Palatino Linotype"/>
            </a:endParaRPr>
          </a:p>
          <a:p>
            <a:pPr marL="242570" indent="-229870">
              <a:spcBef>
                <a:spcPts val="2280"/>
              </a:spcBef>
              <a:buClr>
                <a:srgbClr val="000000"/>
              </a:buClr>
              <a:buFont typeface="Arial MT"/>
              <a:buChar char="•"/>
              <a:tabLst>
                <a:tab pos="242570" algn="l"/>
              </a:tabLst>
            </a:pPr>
            <a:r>
              <a:rPr sz="2000" dirty="0">
                <a:solidFill>
                  <a:srgbClr val="0432FF"/>
                </a:solidFill>
                <a:latin typeface="Palatino Linotype"/>
                <a:cs typeface="Palatino Linotype"/>
              </a:rPr>
              <a:t>Four</a:t>
            </a:r>
            <a:r>
              <a:rPr sz="2000" spc="-35" dirty="0">
                <a:solidFill>
                  <a:srgbClr val="0432FF"/>
                </a:solidFill>
                <a:latin typeface="Palatino Linotype"/>
                <a:cs typeface="Palatino Linotype"/>
              </a:rPr>
              <a:t> </a:t>
            </a:r>
            <a:r>
              <a:rPr sz="2000" dirty="0">
                <a:solidFill>
                  <a:srgbClr val="0432FF"/>
                </a:solidFill>
                <a:latin typeface="Palatino Linotype"/>
                <a:cs typeface="Palatino Linotype"/>
              </a:rPr>
              <a:t>principal</a:t>
            </a:r>
            <a:r>
              <a:rPr sz="2000" spc="-25" dirty="0">
                <a:solidFill>
                  <a:srgbClr val="0432FF"/>
                </a:solidFill>
                <a:latin typeface="Palatino Linotype"/>
                <a:cs typeface="Palatino Linotype"/>
              </a:rPr>
              <a:t> </a:t>
            </a:r>
            <a:r>
              <a:rPr sz="2000" dirty="0">
                <a:solidFill>
                  <a:srgbClr val="0432FF"/>
                </a:solidFill>
                <a:latin typeface="Palatino Linotype"/>
                <a:cs typeface="Palatino Linotype"/>
              </a:rPr>
              <a:t>uses</a:t>
            </a:r>
            <a:r>
              <a:rPr sz="2000" spc="-25" dirty="0">
                <a:solidFill>
                  <a:srgbClr val="0432FF"/>
                </a:solidFill>
                <a:latin typeface="Palatino Linotype"/>
                <a:cs typeface="Palatino Linotype"/>
              </a:rPr>
              <a:t> </a:t>
            </a:r>
            <a:r>
              <a:rPr sz="2000" dirty="0">
                <a:solidFill>
                  <a:srgbClr val="0432FF"/>
                </a:solidFill>
                <a:latin typeface="Palatino Linotype"/>
                <a:cs typeface="Palatino Linotype"/>
              </a:rPr>
              <a:t>of</a:t>
            </a:r>
            <a:r>
              <a:rPr sz="2000" spc="-35" dirty="0">
                <a:solidFill>
                  <a:srgbClr val="0432FF"/>
                </a:solidFill>
                <a:latin typeface="Palatino Linotype"/>
                <a:cs typeface="Palatino Linotype"/>
              </a:rPr>
              <a:t> </a:t>
            </a:r>
            <a:r>
              <a:rPr sz="2000" spc="-10" dirty="0">
                <a:solidFill>
                  <a:srgbClr val="0432FF"/>
                </a:solidFill>
                <a:latin typeface="Palatino Linotype"/>
                <a:cs typeface="Palatino Linotype"/>
              </a:rPr>
              <a:t>registers:</a:t>
            </a:r>
            <a:endParaRPr sz="2000">
              <a:solidFill>
                <a:sysClr val="windowText" lastClr="000000"/>
              </a:solidFill>
              <a:latin typeface="Palatino Linotype"/>
              <a:cs typeface="Palatino Linotype"/>
            </a:endParaRPr>
          </a:p>
          <a:p>
            <a:pPr marL="812165" indent="-342265">
              <a:spcBef>
                <a:spcPts val="1120"/>
              </a:spcBef>
              <a:buFontTx/>
              <a:buAutoNum type="arabicPeriod"/>
              <a:tabLst>
                <a:tab pos="812165" algn="l"/>
              </a:tabLst>
            </a:pPr>
            <a:r>
              <a:rPr sz="1600" dirty="0">
                <a:solidFill>
                  <a:sysClr val="windowText" lastClr="000000"/>
                </a:solidFill>
                <a:latin typeface="Palatino Linotype"/>
                <a:cs typeface="Palatino Linotype"/>
              </a:rPr>
              <a:t>Hold</a:t>
            </a:r>
            <a:r>
              <a:rPr sz="1600" spc="-30"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the</a:t>
            </a:r>
            <a:r>
              <a:rPr sz="1600" spc="-30"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operands</a:t>
            </a:r>
            <a:r>
              <a:rPr sz="1600" spc="-30"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to</a:t>
            </a:r>
            <a:r>
              <a:rPr sz="1600" spc="-25"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perform</a:t>
            </a:r>
            <a:r>
              <a:rPr sz="1600" spc="-25" dirty="0">
                <a:solidFill>
                  <a:sysClr val="windowText" lastClr="000000"/>
                </a:solidFill>
                <a:latin typeface="Palatino Linotype"/>
                <a:cs typeface="Palatino Linotype"/>
              </a:rPr>
              <a:t> </a:t>
            </a:r>
            <a:r>
              <a:rPr sz="1600" spc="-10" dirty="0">
                <a:solidFill>
                  <a:sysClr val="windowText" lastClr="000000"/>
                </a:solidFill>
                <a:latin typeface="Palatino Linotype"/>
                <a:cs typeface="Palatino Linotype"/>
              </a:rPr>
              <a:t>operations</a:t>
            </a:r>
            <a:endParaRPr sz="1600">
              <a:solidFill>
                <a:sysClr val="windowText" lastClr="000000"/>
              </a:solidFill>
              <a:latin typeface="Palatino Linotype"/>
              <a:cs typeface="Palatino Linotype"/>
            </a:endParaRPr>
          </a:p>
          <a:p>
            <a:pPr marL="812165" indent="-342265">
              <a:spcBef>
                <a:spcPts val="960"/>
              </a:spcBef>
              <a:buFontTx/>
              <a:buAutoNum type="arabicPeriod"/>
              <a:tabLst>
                <a:tab pos="812165" algn="l"/>
              </a:tabLst>
            </a:pPr>
            <a:r>
              <a:rPr sz="1600" dirty="0">
                <a:solidFill>
                  <a:sysClr val="windowText" lastClr="000000"/>
                </a:solidFill>
                <a:latin typeface="Palatino Linotype"/>
                <a:cs typeface="Palatino Linotype"/>
              </a:rPr>
              <a:t>Hold</a:t>
            </a:r>
            <a:r>
              <a:rPr sz="1600" spc="-30" dirty="0">
                <a:solidFill>
                  <a:sysClr val="windowText" lastClr="000000"/>
                </a:solidFill>
                <a:latin typeface="Palatino Linotype"/>
                <a:cs typeface="Palatino Linotype"/>
              </a:rPr>
              <a:t> </a:t>
            </a:r>
            <a:r>
              <a:rPr sz="1600" spc="-10" dirty="0">
                <a:solidFill>
                  <a:sysClr val="windowText" lastClr="000000"/>
                </a:solidFill>
                <a:latin typeface="Palatino Linotype"/>
                <a:cs typeface="Palatino Linotype"/>
              </a:rPr>
              <a:t>temporaries</a:t>
            </a:r>
            <a:endParaRPr sz="1600">
              <a:solidFill>
                <a:sysClr val="windowText" lastClr="000000"/>
              </a:solidFill>
              <a:latin typeface="Palatino Linotype"/>
              <a:cs typeface="Palatino Linotype"/>
            </a:endParaRPr>
          </a:p>
          <a:p>
            <a:pPr marL="812165" indent="-342265">
              <a:spcBef>
                <a:spcPts val="985"/>
              </a:spcBef>
              <a:buFontTx/>
              <a:buAutoNum type="arabicPeriod"/>
              <a:tabLst>
                <a:tab pos="812165" algn="l"/>
              </a:tabLst>
            </a:pPr>
            <a:r>
              <a:rPr sz="1600" dirty="0">
                <a:solidFill>
                  <a:sysClr val="windowText" lastClr="000000"/>
                </a:solidFill>
                <a:latin typeface="Palatino Linotype"/>
                <a:cs typeface="Palatino Linotype"/>
              </a:rPr>
              <a:t>Hold</a:t>
            </a:r>
            <a:r>
              <a:rPr sz="1600" spc="-30"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global</a:t>
            </a:r>
            <a:r>
              <a:rPr sz="1600" spc="-30" dirty="0">
                <a:solidFill>
                  <a:sysClr val="windowText" lastClr="000000"/>
                </a:solidFill>
                <a:latin typeface="Palatino Linotype"/>
                <a:cs typeface="Palatino Linotype"/>
              </a:rPr>
              <a:t> </a:t>
            </a:r>
            <a:r>
              <a:rPr sz="1600" spc="-10" dirty="0">
                <a:solidFill>
                  <a:sysClr val="windowText" lastClr="000000"/>
                </a:solidFill>
                <a:latin typeface="Palatino Linotype"/>
                <a:cs typeface="Palatino Linotype"/>
              </a:rPr>
              <a:t>values</a:t>
            </a:r>
            <a:endParaRPr sz="1600">
              <a:solidFill>
                <a:sysClr val="windowText" lastClr="000000"/>
              </a:solidFill>
              <a:latin typeface="Palatino Linotype"/>
              <a:cs typeface="Palatino Linotype"/>
            </a:endParaRPr>
          </a:p>
          <a:p>
            <a:pPr marL="812165" indent="-342265">
              <a:spcBef>
                <a:spcPts val="985"/>
              </a:spcBef>
              <a:buFontTx/>
              <a:buAutoNum type="arabicPeriod"/>
              <a:tabLst>
                <a:tab pos="812165" algn="l"/>
              </a:tabLst>
            </a:pPr>
            <a:r>
              <a:rPr sz="1600" dirty="0">
                <a:solidFill>
                  <a:sysClr val="windowText" lastClr="000000"/>
                </a:solidFill>
                <a:latin typeface="Palatino Linotype"/>
                <a:cs typeface="Palatino Linotype"/>
              </a:rPr>
              <a:t>Help</a:t>
            </a:r>
            <a:r>
              <a:rPr sz="1600" spc="-30"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with</a:t>
            </a:r>
            <a:r>
              <a:rPr sz="1600" spc="-20" dirty="0">
                <a:solidFill>
                  <a:sysClr val="windowText" lastClr="000000"/>
                </a:solidFill>
                <a:latin typeface="Palatino Linotype"/>
                <a:cs typeface="Palatino Linotype"/>
              </a:rPr>
              <a:t> </a:t>
            </a:r>
            <a:r>
              <a:rPr sz="1600" spc="-10" dirty="0">
                <a:solidFill>
                  <a:sysClr val="windowText" lastClr="000000"/>
                </a:solidFill>
                <a:latin typeface="Palatino Linotype"/>
                <a:cs typeface="Palatino Linotype"/>
              </a:rPr>
              <a:t>run-</a:t>
            </a:r>
            <a:r>
              <a:rPr sz="1600" dirty="0">
                <a:solidFill>
                  <a:sysClr val="windowText" lastClr="000000"/>
                </a:solidFill>
                <a:latin typeface="Palatino Linotype"/>
                <a:cs typeface="Palatino Linotype"/>
              </a:rPr>
              <a:t>time</a:t>
            </a:r>
            <a:r>
              <a:rPr sz="1600" spc="-30"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storage</a:t>
            </a:r>
            <a:r>
              <a:rPr sz="1600" spc="-30"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management</a:t>
            </a:r>
            <a:r>
              <a:rPr sz="1600" spc="-25"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(e.g.,</a:t>
            </a:r>
            <a:r>
              <a:rPr sz="1600" spc="-25"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holding</a:t>
            </a:r>
            <a:r>
              <a:rPr sz="1600" spc="-30"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stack</a:t>
            </a:r>
            <a:r>
              <a:rPr sz="1600" spc="-30" dirty="0">
                <a:solidFill>
                  <a:sysClr val="windowText" lastClr="000000"/>
                </a:solidFill>
                <a:latin typeface="Palatino Linotype"/>
                <a:cs typeface="Palatino Linotype"/>
              </a:rPr>
              <a:t> </a:t>
            </a:r>
            <a:r>
              <a:rPr sz="1600" spc="-10" dirty="0">
                <a:solidFill>
                  <a:sysClr val="windowText" lastClr="000000"/>
                </a:solidFill>
                <a:latin typeface="Palatino Linotype"/>
                <a:cs typeface="Palatino Linotype"/>
              </a:rPr>
              <a:t>pointers)</a:t>
            </a:r>
            <a:endParaRPr sz="1600">
              <a:solidFill>
                <a:sysClr val="windowText" lastClr="000000"/>
              </a:solidFill>
              <a:latin typeface="Palatino Linotype"/>
              <a:cs typeface="Palatino Linotype"/>
            </a:endParaRPr>
          </a:p>
        </p:txBody>
      </p:sp>
    </p:spTree>
    <p:extLst>
      <p:ext uri="{BB962C8B-B14F-4D97-AF65-F5344CB8AC3E}">
        <p14:creationId xmlns:p14="http://schemas.microsoft.com/office/powerpoint/2010/main" val="224640112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60</a:t>
            </a:fld>
            <a:endParaRPr lang="en-US"/>
          </a:p>
        </p:txBody>
      </p:sp>
      <p:sp>
        <p:nvSpPr>
          <p:cNvPr id="8" name="object 2">
            <a:extLst>
              <a:ext uri="{FF2B5EF4-FFF2-40B4-BE49-F238E27FC236}">
                <a16:creationId xmlns:a16="http://schemas.microsoft.com/office/drawing/2014/main" id="{FAA3932B-E3BD-6050-1489-B6477CA130E5}"/>
              </a:ext>
            </a:extLst>
          </p:cNvPr>
          <p:cNvSpPr txBox="1">
            <a:spLocks/>
          </p:cNvSpPr>
          <p:nvPr/>
        </p:nvSpPr>
        <p:spPr>
          <a:xfrm>
            <a:off x="615950" y="560832"/>
            <a:ext cx="7840980" cy="55880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3500" b="1" i="0" u="none" strike="noStrike" kern="0" cap="none" spc="0" normalizeH="0" baseline="0" noProof="0">
                <a:ln>
                  <a:noFill/>
                </a:ln>
                <a:solidFill>
                  <a:sysClr val="windowText" lastClr="000000"/>
                </a:solidFill>
                <a:effectLst/>
                <a:uLnTx/>
                <a:uFillTx/>
                <a:latin typeface="Palatino Linotype"/>
                <a:ea typeface="+mj-ea"/>
              </a:rPr>
              <a:t>Code</a:t>
            </a:r>
            <a:r>
              <a:rPr kumimoji="0" lang="en-US" sz="3500" b="1" i="0" u="none" strike="noStrike" kern="0" cap="none" spc="-80" normalizeH="0" baseline="0" noProof="0">
                <a:ln>
                  <a:noFill/>
                </a:ln>
                <a:solidFill>
                  <a:sysClr val="windowText" lastClr="000000"/>
                </a:solidFill>
                <a:effectLst/>
                <a:uLnTx/>
                <a:uFillTx/>
                <a:latin typeface="Palatino Linotype"/>
                <a:ea typeface="+mj-ea"/>
              </a:rPr>
              <a:t> </a:t>
            </a:r>
            <a:r>
              <a:rPr kumimoji="0" lang="en-US" sz="3500" b="1" i="0" u="none" strike="noStrike" kern="0" cap="none" spc="0" normalizeH="0" baseline="0" noProof="0">
                <a:ln>
                  <a:noFill/>
                </a:ln>
                <a:solidFill>
                  <a:sysClr val="windowText" lastClr="000000"/>
                </a:solidFill>
                <a:effectLst/>
                <a:uLnTx/>
                <a:uFillTx/>
                <a:latin typeface="Palatino Linotype"/>
                <a:ea typeface="+mj-ea"/>
              </a:rPr>
              <a:t>Generation</a:t>
            </a:r>
            <a:r>
              <a:rPr kumimoji="0" lang="en-US" sz="3500" b="1" i="0" u="none" strike="noStrike" kern="0" cap="none" spc="-80" normalizeH="0" baseline="0" noProof="0">
                <a:ln>
                  <a:noFill/>
                </a:ln>
                <a:solidFill>
                  <a:sysClr val="windowText" lastClr="000000"/>
                </a:solidFill>
                <a:effectLst/>
                <a:uLnTx/>
                <a:uFillTx/>
                <a:latin typeface="Palatino Linotype"/>
                <a:ea typeface="+mj-ea"/>
              </a:rPr>
              <a:t> </a:t>
            </a:r>
            <a:r>
              <a:rPr kumimoji="0" lang="en-US" sz="3500" b="1" i="0" u="none" strike="noStrike" kern="0" cap="none" spc="0" normalizeH="0" baseline="0" noProof="0">
                <a:ln>
                  <a:noFill/>
                </a:ln>
                <a:solidFill>
                  <a:sysClr val="windowText" lastClr="000000"/>
                </a:solidFill>
                <a:effectLst/>
                <a:uLnTx/>
                <a:uFillTx/>
                <a:latin typeface="Palatino Linotype"/>
                <a:ea typeface="+mj-ea"/>
              </a:rPr>
              <a:t>Algorithm</a:t>
            </a:r>
            <a:r>
              <a:rPr kumimoji="0" lang="en-US" sz="3500" b="1" i="0" u="none" strike="noStrike" kern="0" cap="none" spc="-80" normalizeH="0" baseline="0" noProof="0">
                <a:ln>
                  <a:noFill/>
                </a:ln>
                <a:solidFill>
                  <a:sysClr val="windowText" lastClr="000000"/>
                </a:solidFill>
                <a:effectLst/>
                <a:uLnTx/>
                <a:uFillTx/>
                <a:latin typeface="Palatino Linotype"/>
                <a:ea typeface="+mj-ea"/>
              </a:rPr>
              <a:t> </a:t>
            </a:r>
            <a:r>
              <a:rPr kumimoji="0" lang="en-US" sz="3500" b="1" i="0" u="none" strike="noStrike" kern="0" cap="none" spc="-10" normalizeH="0" baseline="0" noProof="0">
                <a:ln>
                  <a:noFill/>
                </a:ln>
                <a:solidFill>
                  <a:sysClr val="windowText" lastClr="000000"/>
                </a:solidFill>
                <a:effectLst/>
                <a:uLnTx/>
                <a:uFillTx/>
                <a:latin typeface="Palatino Linotype"/>
                <a:ea typeface="+mj-ea"/>
              </a:rPr>
              <a:t>Overview</a:t>
            </a:r>
            <a:endParaRPr kumimoji="0" lang="en-US" sz="3500" b="1" i="0" u="none" strike="noStrike" kern="0" cap="none" spc="0" normalizeH="0" baseline="0" noProof="0">
              <a:ln>
                <a:noFill/>
              </a:ln>
              <a:solidFill>
                <a:sysClr val="windowText" lastClr="000000"/>
              </a:solidFill>
              <a:effectLst/>
              <a:uLnTx/>
              <a:uFillTx/>
              <a:latin typeface="Palatino Linotype"/>
              <a:ea typeface="+mj-ea"/>
            </a:endParaRPr>
          </a:p>
        </p:txBody>
      </p:sp>
      <p:sp>
        <p:nvSpPr>
          <p:cNvPr id="9" name="object 3">
            <a:extLst>
              <a:ext uri="{FF2B5EF4-FFF2-40B4-BE49-F238E27FC236}">
                <a16:creationId xmlns:a16="http://schemas.microsoft.com/office/drawing/2014/main" id="{BCCC8969-FDD0-65D9-6BB6-27C37AC002AE}"/>
              </a:ext>
            </a:extLst>
          </p:cNvPr>
          <p:cNvSpPr txBox="1"/>
          <p:nvPr/>
        </p:nvSpPr>
        <p:spPr>
          <a:xfrm>
            <a:off x="707390" y="1658620"/>
            <a:ext cx="7649845" cy="2700655"/>
          </a:xfrm>
          <a:prstGeom prst="rect">
            <a:avLst/>
          </a:prstGeom>
        </p:spPr>
        <p:txBody>
          <a:bodyPr vert="horz" wrap="square" lIns="0" tIns="12700" rIns="0" bIns="0" rtlCol="0">
            <a:spAutoFit/>
          </a:bodyPr>
          <a:lstStyle/>
          <a:p>
            <a:pPr marL="242570" indent="-229870">
              <a:spcBef>
                <a:spcPts val="100"/>
              </a:spcBef>
              <a:buClr>
                <a:srgbClr val="000000"/>
              </a:buClr>
              <a:buFont typeface="Arial MT"/>
              <a:buChar char="•"/>
              <a:tabLst>
                <a:tab pos="242570" algn="l"/>
              </a:tabLst>
            </a:pPr>
            <a:r>
              <a:rPr sz="2200" dirty="0">
                <a:solidFill>
                  <a:srgbClr val="0432FF"/>
                </a:solidFill>
                <a:latin typeface="Palatino Linotype"/>
                <a:cs typeface="Palatino Linotype"/>
              </a:rPr>
              <a:t>The</a:t>
            </a:r>
            <a:r>
              <a:rPr sz="2200" spc="-30" dirty="0">
                <a:solidFill>
                  <a:srgbClr val="0432FF"/>
                </a:solidFill>
                <a:latin typeface="Palatino Linotype"/>
                <a:cs typeface="Palatino Linotype"/>
              </a:rPr>
              <a:t> </a:t>
            </a:r>
            <a:r>
              <a:rPr sz="2200" dirty="0">
                <a:solidFill>
                  <a:srgbClr val="0432FF"/>
                </a:solidFill>
                <a:latin typeface="Palatino Linotype"/>
                <a:cs typeface="Palatino Linotype"/>
              </a:rPr>
              <a:t>basic</a:t>
            </a:r>
            <a:r>
              <a:rPr sz="2200" spc="-30" dirty="0">
                <a:solidFill>
                  <a:srgbClr val="0432FF"/>
                </a:solidFill>
                <a:latin typeface="Palatino Linotype"/>
                <a:cs typeface="Palatino Linotype"/>
              </a:rPr>
              <a:t> </a:t>
            </a:r>
            <a:r>
              <a:rPr sz="2200" spc="-10" dirty="0">
                <a:solidFill>
                  <a:srgbClr val="0432FF"/>
                </a:solidFill>
                <a:latin typeface="Palatino Linotype"/>
                <a:cs typeface="Palatino Linotype"/>
              </a:rPr>
              <a:t>process:</a:t>
            </a:r>
            <a:endParaRPr sz="2200">
              <a:solidFill>
                <a:sysClr val="windowText" lastClr="000000"/>
              </a:solidFill>
              <a:latin typeface="Palatino Linotype"/>
              <a:cs typeface="Palatino Linotype"/>
            </a:endParaRPr>
          </a:p>
          <a:p>
            <a:pPr marL="812800" marR="45085" lvl="1" indent="-342900">
              <a:lnSpc>
                <a:spcPct val="121100"/>
              </a:lnSpc>
              <a:spcBef>
                <a:spcPts val="1789"/>
              </a:spcBef>
              <a:buClr>
                <a:srgbClr val="000000"/>
              </a:buClr>
              <a:buFontTx/>
              <a:buAutoNum type="arabicPeriod"/>
              <a:tabLst>
                <a:tab pos="812800" algn="l"/>
              </a:tabLst>
            </a:pPr>
            <a:r>
              <a:rPr b="1" dirty="0">
                <a:solidFill>
                  <a:srgbClr val="FF0000"/>
                </a:solidFill>
                <a:latin typeface="Palatino Linotype"/>
                <a:cs typeface="Palatino Linotype"/>
              </a:rPr>
              <a:t>Load:</a:t>
            </a:r>
            <a:r>
              <a:rPr b="1" spc="-50" dirty="0">
                <a:solidFill>
                  <a:srgbClr val="FF0000"/>
                </a:solidFill>
                <a:latin typeface="Palatino Linotype"/>
                <a:cs typeface="Palatino Linotype"/>
              </a:rPr>
              <a:t> </a:t>
            </a:r>
            <a:r>
              <a:rPr dirty="0">
                <a:solidFill>
                  <a:sysClr val="windowText" lastClr="000000"/>
                </a:solidFill>
                <a:latin typeface="Palatino Linotype"/>
                <a:cs typeface="Palatino Linotype"/>
              </a:rPr>
              <a:t>Considers</a:t>
            </a:r>
            <a:r>
              <a:rPr spc="-45"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each</a:t>
            </a:r>
            <a:r>
              <a:rPr spc="-45" dirty="0">
                <a:solidFill>
                  <a:sysClr val="windowText" lastClr="000000"/>
                </a:solidFill>
                <a:latin typeface="Palatino Linotype"/>
                <a:cs typeface="Palatino Linotype"/>
              </a:rPr>
              <a:t> </a:t>
            </a:r>
            <a:r>
              <a:rPr spc="-10" dirty="0">
                <a:solidFill>
                  <a:sysClr val="windowText" lastClr="000000"/>
                </a:solidFill>
                <a:latin typeface="Palatino Linotype"/>
                <a:cs typeface="Palatino Linotype"/>
              </a:rPr>
              <a:t>three-</a:t>
            </a:r>
            <a:r>
              <a:rPr dirty="0">
                <a:solidFill>
                  <a:sysClr val="windowText" lastClr="000000"/>
                </a:solidFill>
                <a:latin typeface="Palatino Linotype"/>
                <a:cs typeface="Palatino Linotype"/>
              </a:rPr>
              <a:t>address</a:t>
            </a:r>
            <a:r>
              <a:rPr spc="-45"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instruction</a:t>
            </a:r>
            <a:r>
              <a:rPr spc="-40"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in</a:t>
            </a:r>
            <a:r>
              <a:rPr spc="-45"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turn</a:t>
            </a:r>
            <a:r>
              <a:rPr spc="-40"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and</a:t>
            </a:r>
            <a:r>
              <a:rPr spc="-45" dirty="0">
                <a:solidFill>
                  <a:sysClr val="windowText" lastClr="000000"/>
                </a:solidFill>
                <a:latin typeface="Palatino Linotype"/>
                <a:cs typeface="Palatino Linotype"/>
              </a:rPr>
              <a:t> </a:t>
            </a:r>
            <a:r>
              <a:rPr spc="-10" dirty="0">
                <a:solidFill>
                  <a:sysClr val="windowText" lastClr="000000"/>
                </a:solidFill>
                <a:latin typeface="Palatino Linotype"/>
                <a:cs typeface="Palatino Linotype"/>
              </a:rPr>
              <a:t>decides </a:t>
            </a:r>
            <a:r>
              <a:rPr dirty="0">
                <a:solidFill>
                  <a:sysClr val="windowText" lastClr="000000"/>
                </a:solidFill>
                <a:latin typeface="Palatino Linotype"/>
                <a:cs typeface="Palatino Linotype"/>
              </a:rPr>
              <a:t>what</a:t>
            </a:r>
            <a:r>
              <a:rPr spc="-40"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loads</a:t>
            </a:r>
            <a:r>
              <a:rPr spc="-40"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are</a:t>
            </a:r>
            <a:r>
              <a:rPr spc="-40"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necessary</a:t>
            </a:r>
            <a:r>
              <a:rPr spc="-40"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to</a:t>
            </a:r>
            <a:r>
              <a:rPr spc="-40"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get</a:t>
            </a:r>
            <a:r>
              <a:rPr spc="-35"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the</a:t>
            </a:r>
            <a:r>
              <a:rPr spc="-40"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needed</a:t>
            </a:r>
            <a:r>
              <a:rPr spc="-35"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operands</a:t>
            </a:r>
            <a:r>
              <a:rPr spc="-45"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into</a:t>
            </a:r>
            <a:r>
              <a:rPr spc="-35" dirty="0">
                <a:solidFill>
                  <a:sysClr val="windowText" lastClr="000000"/>
                </a:solidFill>
                <a:latin typeface="Palatino Linotype"/>
                <a:cs typeface="Palatino Linotype"/>
              </a:rPr>
              <a:t> </a:t>
            </a:r>
            <a:r>
              <a:rPr spc="-10" dirty="0">
                <a:solidFill>
                  <a:sysClr val="windowText" lastClr="000000"/>
                </a:solidFill>
                <a:latin typeface="Palatino Linotype"/>
                <a:cs typeface="Palatino Linotype"/>
              </a:rPr>
              <a:t>registers</a:t>
            </a:r>
            <a:endParaRPr>
              <a:solidFill>
                <a:sysClr val="windowText" lastClr="000000"/>
              </a:solidFill>
              <a:latin typeface="Palatino Linotype"/>
              <a:cs typeface="Palatino Linotype"/>
            </a:endParaRPr>
          </a:p>
          <a:p>
            <a:pPr marL="812165" lvl="1" indent="-342265">
              <a:spcBef>
                <a:spcPts val="2235"/>
              </a:spcBef>
              <a:buClr>
                <a:srgbClr val="000000"/>
              </a:buClr>
              <a:buFontTx/>
              <a:buAutoNum type="arabicPeriod"/>
              <a:tabLst>
                <a:tab pos="812165" algn="l"/>
              </a:tabLst>
            </a:pPr>
            <a:r>
              <a:rPr b="1" spc="-10" dirty="0">
                <a:solidFill>
                  <a:srgbClr val="FF0000"/>
                </a:solidFill>
                <a:latin typeface="Palatino Linotype"/>
                <a:cs typeface="Palatino Linotype"/>
              </a:rPr>
              <a:t>Computation:</a:t>
            </a:r>
            <a:r>
              <a:rPr b="1" spc="-95" dirty="0">
                <a:solidFill>
                  <a:srgbClr val="FF0000"/>
                </a:solidFill>
                <a:latin typeface="Palatino Linotype"/>
                <a:cs typeface="Palatino Linotype"/>
              </a:rPr>
              <a:t> </a:t>
            </a:r>
            <a:r>
              <a:rPr dirty="0">
                <a:solidFill>
                  <a:sysClr val="windowText" lastClr="000000"/>
                </a:solidFill>
                <a:latin typeface="Palatino Linotype"/>
                <a:cs typeface="Palatino Linotype"/>
              </a:rPr>
              <a:t>After</a:t>
            </a:r>
            <a:r>
              <a:rPr spc="-30"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generating</a:t>
            </a:r>
            <a:r>
              <a:rPr spc="-30"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the</a:t>
            </a:r>
            <a:r>
              <a:rPr spc="-30"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loads,</a:t>
            </a:r>
            <a:r>
              <a:rPr spc="-30"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it</a:t>
            </a:r>
            <a:r>
              <a:rPr spc="-30"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generates</a:t>
            </a:r>
            <a:r>
              <a:rPr spc="-35"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the</a:t>
            </a:r>
            <a:r>
              <a:rPr spc="-30" dirty="0">
                <a:solidFill>
                  <a:sysClr val="windowText" lastClr="000000"/>
                </a:solidFill>
                <a:latin typeface="Palatino Linotype"/>
                <a:cs typeface="Palatino Linotype"/>
              </a:rPr>
              <a:t> </a:t>
            </a:r>
            <a:r>
              <a:rPr spc="-10" dirty="0">
                <a:solidFill>
                  <a:sysClr val="windowText" lastClr="000000"/>
                </a:solidFill>
                <a:latin typeface="Palatino Linotype"/>
                <a:cs typeface="Palatino Linotype"/>
              </a:rPr>
              <a:t>operation</a:t>
            </a:r>
            <a:endParaRPr>
              <a:solidFill>
                <a:sysClr val="windowText" lastClr="000000"/>
              </a:solidFill>
              <a:latin typeface="Palatino Linotype"/>
              <a:cs typeface="Palatino Linotype"/>
            </a:endParaRPr>
          </a:p>
          <a:p>
            <a:pPr marL="812800" marR="518159" lvl="1" indent="-342900">
              <a:lnSpc>
                <a:spcPct val="121100"/>
              </a:lnSpc>
              <a:spcBef>
                <a:spcPts val="1775"/>
              </a:spcBef>
              <a:buClr>
                <a:srgbClr val="000000"/>
              </a:buClr>
              <a:buFontTx/>
              <a:buAutoNum type="arabicPeriod"/>
              <a:tabLst>
                <a:tab pos="812800" algn="l"/>
              </a:tabLst>
            </a:pPr>
            <a:r>
              <a:rPr b="1" dirty="0">
                <a:solidFill>
                  <a:srgbClr val="FF0000"/>
                </a:solidFill>
                <a:latin typeface="Palatino Linotype"/>
                <a:cs typeface="Palatino Linotype"/>
              </a:rPr>
              <a:t>Store:</a:t>
            </a:r>
            <a:r>
              <a:rPr b="1" spc="-25" dirty="0">
                <a:solidFill>
                  <a:srgbClr val="FF0000"/>
                </a:solidFill>
                <a:latin typeface="Palatino Linotype"/>
                <a:cs typeface="Palatino Linotype"/>
              </a:rPr>
              <a:t> </a:t>
            </a:r>
            <a:r>
              <a:rPr dirty="0">
                <a:solidFill>
                  <a:sysClr val="windowText" lastClr="000000"/>
                </a:solidFill>
                <a:latin typeface="Palatino Linotype"/>
                <a:cs typeface="Palatino Linotype"/>
              </a:rPr>
              <a:t>Then,</a:t>
            </a:r>
            <a:r>
              <a:rPr spc="-25"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if</a:t>
            </a:r>
            <a:r>
              <a:rPr spc="-25"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there</a:t>
            </a:r>
            <a:r>
              <a:rPr spc="-25"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is</a:t>
            </a:r>
            <a:r>
              <a:rPr spc="-25"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a</a:t>
            </a:r>
            <a:r>
              <a:rPr spc="-25"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need</a:t>
            </a:r>
            <a:r>
              <a:rPr spc="-25"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to</a:t>
            </a:r>
            <a:r>
              <a:rPr spc="-25"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store</a:t>
            </a:r>
            <a:r>
              <a:rPr spc="-20"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the</a:t>
            </a:r>
            <a:r>
              <a:rPr spc="-25"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result</a:t>
            </a:r>
            <a:r>
              <a:rPr spc="-25"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into</a:t>
            </a:r>
            <a:r>
              <a:rPr spc="-25"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a</a:t>
            </a:r>
            <a:r>
              <a:rPr spc="-20" dirty="0">
                <a:solidFill>
                  <a:sysClr val="windowText" lastClr="000000"/>
                </a:solidFill>
                <a:latin typeface="Palatino Linotype"/>
                <a:cs typeface="Palatino Linotype"/>
              </a:rPr>
              <a:t> </a:t>
            </a:r>
            <a:r>
              <a:rPr spc="-10" dirty="0">
                <a:solidFill>
                  <a:sysClr val="windowText" lastClr="000000"/>
                </a:solidFill>
                <a:latin typeface="Palatino Linotype"/>
                <a:cs typeface="Palatino Linotype"/>
              </a:rPr>
              <a:t>memory </a:t>
            </a:r>
            <a:r>
              <a:rPr dirty="0">
                <a:solidFill>
                  <a:sysClr val="windowText" lastClr="000000"/>
                </a:solidFill>
                <a:latin typeface="Palatino Linotype"/>
                <a:cs typeface="Palatino Linotype"/>
              </a:rPr>
              <a:t>location,</a:t>
            </a:r>
            <a:r>
              <a:rPr spc="-40"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it</a:t>
            </a:r>
            <a:r>
              <a:rPr spc="-40"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also</a:t>
            </a:r>
            <a:r>
              <a:rPr spc="-40"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generates</a:t>
            </a:r>
            <a:r>
              <a:rPr spc="-45"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the</a:t>
            </a:r>
            <a:r>
              <a:rPr spc="-40"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store</a:t>
            </a:r>
            <a:r>
              <a:rPr spc="-40" dirty="0">
                <a:solidFill>
                  <a:sysClr val="windowText" lastClr="000000"/>
                </a:solidFill>
                <a:latin typeface="Palatino Linotype"/>
                <a:cs typeface="Palatino Linotype"/>
              </a:rPr>
              <a:t> </a:t>
            </a:r>
            <a:r>
              <a:rPr spc="-10" dirty="0">
                <a:solidFill>
                  <a:sysClr val="windowText" lastClr="000000"/>
                </a:solidFill>
                <a:latin typeface="Palatino Linotype"/>
                <a:cs typeface="Palatino Linotype"/>
              </a:rPr>
              <a:t>instruction</a:t>
            </a:r>
            <a:endParaRPr>
              <a:solidFill>
                <a:sysClr val="windowText" lastClr="000000"/>
              </a:solidFill>
              <a:latin typeface="Palatino Linotype"/>
              <a:cs typeface="Palatino Linotype"/>
            </a:endParaRPr>
          </a:p>
        </p:txBody>
      </p:sp>
      <p:sp>
        <p:nvSpPr>
          <p:cNvPr id="10" name="object 4">
            <a:extLst>
              <a:ext uri="{FF2B5EF4-FFF2-40B4-BE49-F238E27FC236}">
                <a16:creationId xmlns:a16="http://schemas.microsoft.com/office/drawing/2014/main" id="{A444135E-FF8A-30DD-3780-CCAC235F3FEE}"/>
              </a:ext>
            </a:extLst>
          </p:cNvPr>
          <p:cNvSpPr txBox="1"/>
          <p:nvPr/>
        </p:nvSpPr>
        <p:spPr>
          <a:xfrm>
            <a:off x="1402134" y="4856240"/>
            <a:ext cx="6339840" cy="1114425"/>
          </a:xfrm>
          <a:prstGeom prst="rect">
            <a:avLst/>
          </a:prstGeom>
          <a:solidFill>
            <a:srgbClr val="FFF2CC"/>
          </a:solidFill>
          <a:ln w="9525">
            <a:solidFill>
              <a:srgbClr val="000000"/>
            </a:solidFill>
          </a:ln>
        </p:spPr>
        <p:txBody>
          <a:bodyPr vert="horz" wrap="square" lIns="0" tIns="206375" rIns="0" bIns="0" rtlCol="0">
            <a:spAutoFit/>
          </a:bodyPr>
          <a:lstStyle/>
          <a:p>
            <a:pPr marL="90805">
              <a:spcBef>
                <a:spcPts val="1625"/>
              </a:spcBef>
            </a:pPr>
            <a:r>
              <a:rPr dirty="0">
                <a:solidFill>
                  <a:srgbClr val="FF0000"/>
                </a:solidFill>
                <a:latin typeface="Palatino Linotype"/>
                <a:cs typeface="Palatino Linotype"/>
              </a:rPr>
              <a:t>Only</a:t>
            </a:r>
            <a:r>
              <a:rPr spc="-45" dirty="0">
                <a:solidFill>
                  <a:srgbClr val="FF0000"/>
                </a:solidFill>
                <a:latin typeface="Palatino Linotype"/>
                <a:cs typeface="Palatino Linotype"/>
              </a:rPr>
              <a:t> </a:t>
            </a:r>
            <a:r>
              <a:rPr dirty="0">
                <a:solidFill>
                  <a:srgbClr val="FF0000"/>
                </a:solidFill>
                <a:latin typeface="Palatino Linotype"/>
                <a:cs typeface="Palatino Linotype"/>
              </a:rPr>
              <a:t>generates</a:t>
            </a:r>
            <a:r>
              <a:rPr spc="-45" dirty="0">
                <a:solidFill>
                  <a:srgbClr val="FF0000"/>
                </a:solidFill>
                <a:latin typeface="Palatino Linotype"/>
                <a:cs typeface="Palatino Linotype"/>
              </a:rPr>
              <a:t> </a:t>
            </a:r>
            <a:r>
              <a:rPr dirty="0">
                <a:solidFill>
                  <a:srgbClr val="FF0000"/>
                </a:solidFill>
                <a:latin typeface="Palatino Linotype"/>
                <a:cs typeface="Palatino Linotype"/>
              </a:rPr>
              <a:t>loads</a:t>
            </a:r>
            <a:r>
              <a:rPr spc="-45" dirty="0">
                <a:solidFill>
                  <a:srgbClr val="FF0000"/>
                </a:solidFill>
                <a:latin typeface="Palatino Linotype"/>
                <a:cs typeface="Palatino Linotype"/>
              </a:rPr>
              <a:t> </a:t>
            </a:r>
            <a:r>
              <a:rPr dirty="0">
                <a:solidFill>
                  <a:srgbClr val="FF0000"/>
                </a:solidFill>
                <a:latin typeface="Palatino Linotype"/>
                <a:cs typeface="Palatino Linotype"/>
              </a:rPr>
              <a:t>when</a:t>
            </a:r>
            <a:r>
              <a:rPr spc="-40" dirty="0">
                <a:solidFill>
                  <a:srgbClr val="FF0000"/>
                </a:solidFill>
                <a:latin typeface="Palatino Linotype"/>
                <a:cs typeface="Palatino Linotype"/>
              </a:rPr>
              <a:t> </a:t>
            </a:r>
            <a:r>
              <a:rPr spc="-10" dirty="0">
                <a:solidFill>
                  <a:srgbClr val="FF0000"/>
                </a:solidFill>
                <a:latin typeface="Palatino Linotype"/>
                <a:cs typeface="Palatino Linotype"/>
              </a:rPr>
              <a:t>necessary</a:t>
            </a:r>
            <a:endParaRPr>
              <a:solidFill>
                <a:sysClr val="windowText" lastClr="000000"/>
              </a:solidFill>
              <a:latin typeface="Palatino Linotype"/>
              <a:cs typeface="Palatino Linotype"/>
            </a:endParaRPr>
          </a:p>
          <a:p>
            <a:pPr marL="90805">
              <a:spcBef>
                <a:spcPts val="1150"/>
              </a:spcBef>
            </a:pPr>
            <a:r>
              <a:rPr spc="-20" dirty="0">
                <a:solidFill>
                  <a:srgbClr val="FF0000"/>
                </a:solidFill>
                <a:latin typeface="Palatino Linotype"/>
                <a:cs typeface="Palatino Linotype"/>
              </a:rPr>
              <a:t>Try</a:t>
            </a:r>
            <a:r>
              <a:rPr spc="-50" dirty="0">
                <a:solidFill>
                  <a:srgbClr val="FF0000"/>
                </a:solidFill>
                <a:latin typeface="Palatino Linotype"/>
                <a:cs typeface="Palatino Linotype"/>
              </a:rPr>
              <a:t> </a:t>
            </a:r>
            <a:r>
              <a:rPr dirty="0">
                <a:solidFill>
                  <a:srgbClr val="FF0000"/>
                </a:solidFill>
                <a:latin typeface="Palatino Linotype"/>
                <a:cs typeface="Palatino Linotype"/>
              </a:rPr>
              <a:t>not</a:t>
            </a:r>
            <a:r>
              <a:rPr spc="-45" dirty="0">
                <a:solidFill>
                  <a:srgbClr val="FF0000"/>
                </a:solidFill>
                <a:latin typeface="Palatino Linotype"/>
                <a:cs typeface="Palatino Linotype"/>
              </a:rPr>
              <a:t> </a:t>
            </a:r>
            <a:r>
              <a:rPr dirty="0">
                <a:solidFill>
                  <a:srgbClr val="FF0000"/>
                </a:solidFill>
                <a:latin typeface="Palatino Linotype"/>
                <a:cs typeface="Palatino Linotype"/>
              </a:rPr>
              <a:t>to</a:t>
            </a:r>
            <a:r>
              <a:rPr spc="-40" dirty="0">
                <a:solidFill>
                  <a:srgbClr val="FF0000"/>
                </a:solidFill>
                <a:latin typeface="Palatino Linotype"/>
                <a:cs typeface="Palatino Linotype"/>
              </a:rPr>
              <a:t> </a:t>
            </a:r>
            <a:r>
              <a:rPr dirty="0">
                <a:solidFill>
                  <a:srgbClr val="FF0000"/>
                </a:solidFill>
                <a:latin typeface="Palatino Linotype"/>
                <a:cs typeface="Palatino Linotype"/>
              </a:rPr>
              <a:t>overwrite</a:t>
            </a:r>
            <a:r>
              <a:rPr spc="-45" dirty="0">
                <a:solidFill>
                  <a:srgbClr val="FF0000"/>
                </a:solidFill>
                <a:latin typeface="Palatino Linotype"/>
                <a:cs typeface="Palatino Linotype"/>
              </a:rPr>
              <a:t> </a:t>
            </a:r>
            <a:r>
              <a:rPr dirty="0">
                <a:solidFill>
                  <a:srgbClr val="FF0000"/>
                </a:solidFill>
                <a:latin typeface="Palatino Linotype"/>
                <a:cs typeface="Palatino Linotype"/>
              </a:rPr>
              <a:t>the</a:t>
            </a:r>
            <a:r>
              <a:rPr spc="-45" dirty="0">
                <a:solidFill>
                  <a:srgbClr val="FF0000"/>
                </a:solidFill>
                <a:latin typeface="Palatino Linotype"/>
                <a:cs typeface="Palatino Linotype"/>
              </a:rPr>
              <a:t> </a:t>
            </a:r>
            <a:r>
              <a:rPr dirty="0">
                <a:solidFill>
                  <a:srgbClr val="FF0000"/>
                </a:solidFill>
                <a:latin typeface="Palatino Linotype"/>
                <a:cs typeface="Palatino Linotype"/>
              </a:rPr>
              <a:t>register</a:t>
            </a:r>
            <a:r>
              <a:rPr spc="-40" dirty="0">
                <a:solidFill>
                  <a:srgbClr val="FF0000"/>
                </a:solidFill>
                <a:latin typeface="Palatino Linotype"/>
                <a:cs typeface="Palatino Linotype"/>
              </a:rPr>
              <a:t> </a:t>
            </a:r>
            <a:r>
              <a:rPr dirty="0">
                <a:solidFill>
                  <a:srgbClr val="FF0000"/>
                </a:solidFill>
                <a:latin typeface="Palatino Linotype"/>
                <a:cs typeface="Palatino Linotype"/>
              </a:rPr>
              <a:t>whose</a:t>
            </a:r>
            <a:r>
              <a:rPr spc="-45" dirty="0">
                <a:solidFill>
                  <a:srgbClr val="FF0000"/>
                </a:solidFill>
                <a:latin typeface="Palatino Linotype"/>
                <a:cs typeface="Palatino Linotype"/>
              </a:rPr>
              <a:t> </a:t>
            </a:r>
            <a:r>
              <a:rPr dirty="0">
                <a:solidFill>
                  <a:srgbClr val="FF0000"/>
                </a:solidFill>
                <a:latin typeface="Palatino Linotype"/>
                <a:cs typeface="Palatino Linotype"/>
              </a:rPr>
              <a:t>value</a:t>
            </a:r>
            <a:r>
              <a:rPr spc="-45" dirty="0">
                <a:solidFill>
                  <a:srgbClr val="FF0000"/>
                </a:solidFill>
                <a:latin typeface="Palatino Linotype"/>
                <a:cs typeface="Palatino Linotype"/>
              </a:rPr>
              <a:t> </a:t>
            </a:r>
            <a:r>
              <a:rPr dirty="0">
                <a:solidFill>
                  <a:srgbClr val="FF0000"/>
                </a:solidFill>
                <a:latin typeface="Palatino Linotype"/>
                <a:cs typeface="Palatino Linotype"/>
              </a:rPr>
              <a:t>is</a:t>
            </a:r>
            <a:r>
              <a:rPr spc="-45" dirty="0">
                <a:solidFill>
                  <a:srgbClr val="FF0000"/>
                </a:solidFill>
                <a:latin typeface="Palatino Linotype"/>
                <a:cs typeface="Palatino Linotype"/>
              </a:rPr>
              <a:t> </a:t>
            </a:r>
            <a:r>
              <a:rPr dirty="0">
                <a:solidFill>
                  <a:srgbClr val="FF0000"/>
                </a:solidFill>
                <a:latin typeface="Palatino Linotype"/>
                <a:cs typeface="Palatino Linotype"/>
              </a:rPr>
              <a:t>still</a:t>
            </a:r>
            <a:r>
              <a:rPr spc="-45" dirty="0">
                <a:solidFill>
                  <a:srgbClr val="FF0000"/>
                </a:solidFill>
                <a:latin typeface="Palatino Linotype"/>
                <a:cs typeface="Palatino Linotype"/>
              </a:rPr>
              <a:t> </a:t>
            </a:r>
            <a:r>
              <a:rPr dirty="0">
                <a:solidFill>
                  <a:srgbClr val="FF0000"/>
                </a:solidFill>
                <a:latin typeface="Palatino Linotype"/>
                <a:cs typeface="Palatino Linotype"/>
              </a:rPr>
              <a:t>of</a:t>
            </a:r>
            <a:r>
              <a:rPr spc="-40" dirty="0">
                <a:solidFill>
                  <a:srgbClr val="FF0000"/>
                </a:solidFill>
                <a:latin typeface="Palatino Linotype"/>
                <a:cs typeface="Palatino Linotype"/>
              </a:rPr>
              <a:t> </a:t>
            </a:r>
            <a:r>
              <a:rPr spc="-25" dirty="0">
                <a:solidFill>
                  <a:srgbClr val="FF0000"/>
                </a:solidFill>
                <a:latin typeface="Palatino Linotype"/>
                <a:cs typeface="Palatino Linotype"/>
              </a:rPr>
              <a:t>use</a:t>
            </a:r>
            <a:endParaRPr>
              <a:solidFill>
                <a:sysClr val="windowText" lastClr="000000"/>
              </a:solidFill>
              <a:latin typeface="Palatino Linotype"/>
              <a:cs typeface="Palatino Linotype"/>
            </a:endParaRPr>
          </a:p>
        </p:txBody>
      </p:sp>
    </p:spTree>
    <p:extLst>
      <p:ext uri="{BB962C8B-B14F-4D97-AF65-F5344CB8AC3E}">
        <p14:creationId xmlns:p14="http://schemas.microsoft.com/office/powerpoint/2010/main" val="416274795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61</a:t>
            </a:fld>
            <a:endParaRPr lang="en-US"/>
          </a:p>
        </p:txBody>
      </p:sp>
      <p:sp>
        <p:nvSpPr>
          <p:cNvPr id="7" name="object 2">
            <a:extLst>
              <a:ext uri="{FF2B5EF4-FFF2-40B4-BE49-F238E27FC236}">
                <a16:creationId xmlns:a16="http://schemas.microsoft.com/office/drawing/2014/main" id="{37A35204-B8A3-3041-99B9-7E04A5496F36}"/>
              </a:ext>
            </a:extLst>
          </p:cNvPr>
          <p:cNvSpPr txBox="1"/>
          <p:nvPr/>
        </p:nvSpPr>
        <p:spPr>
          <a:xfrm>
            <a:off x="707390" y="1657603"/>
            <a:ext cx="7753350" cy="3463925"/>
          </a:xfrm>
          <a:prstGeom prst="rect">
            <a:avLst/>
          </a:prstGeom>
        </p:spPr>
        <p:txBody>
          <a:bodyPr vert="horz" wrap="square" lIns="0" tIns="12700" rIns="0" bIns="0" rtlCol="0">
            <a:spAutoFit/>
          </a:bodyPr>
          <a:lstStyle/>
          <a:p>
            <a:pPr marL="241935" indent="-229235">
              <a:spcBef>
                <a:spcPts val="100"/>
              </a:spcBef>
              <a:buClr>
                <a:srgbClr val="000000"/>
              </a:buClr>
              <a:buFont typeface="Arial MT"/>
              <a:buChar char="•"/>
              <a:tabLst>
                <a:tab pos="241935" algn="l"/>
              </a:tabLst>
            </a:pPr>
            <a:r>
              <a:rPr sz="2400" spc="-45" dirty="0">
                <a:solidFill>
                  <a:srgbClr val="0432FF"/>
                </a:solidFill>
                <a:latin typeface="Palatino Linotype"/>
                <a:cs typeface="Palatino Linotype"/>
              </a:rPr>
              <a:t>Two</a:t>
            </a:r>
            <a:r>
              <a:rPr sz="2400" spc="-75" dirty="0">
                <a:solidFill>
                  <a:srgbClr val="0432FF"/>
                </a:solidFill>
                <a:latin typeface="Palatino Linotype"/>
                <a:cs typeface="Palatino Linotype"/>
              </a:rPr>
              <a:t> </a:t>
            </a:r>
            <a:r>
              <a:rPr sz="2400" dirty="0">
                <a:solidFill>
                  <a:srgbClr val="0432FF"/>
                </a:solidFill>
                <a:latin typeface="Palatino Linotype"/>
                <a:cs typeface="Palatino Linotype"/>
              </a:rPr>
              <a:t>important</a:t>
            </a:r>
            <a:r>
              <a:rPr sz="2400" spc="-75" dirty="0">
                <a:solidFill>
                  <a:srgbClr val="0432FF"/>
                </a:solidFill>
                <a:latin typeface="Palatino Linotype"/>
                <a:cs typeface="Palatino Linotype"/>
              </a:rPr>
              <a:t> </a:t>
            </a:r>
            <a:r>
              <a:rPr sz="2400" dirty="0">
                <a:solidFill>
                  <a:srgbClr val="0432FF"/>
                </a:solidFill>
                <a:latin typeface="Palatino Linotype"/>
                <a:cs typeface="Palatino Linotype"/>
              </a:rPr>
              <a:t>data</a:t>
            </a:r>
            <a:r>
              <a:rPr sz="2400" spc="-75" dirty="0">
                <a:solidFill>
                  <a:srgbClr val="0432FF"/>
                </a:solidFill>
                <a:latin typeface="Palatino Linotype"/>
                <a:cs typeface="Palatino Linotype"/>
              </a:rPr>
              <a:t> </a:t>
            </a:r>
            <a:r>
              <a:rPr sz="2400" spc="-10" dirty="0">
                <a:solidFill>
                  <a:srgbClr val="0432FF"/>
                </a:solidFill>
                <a:latin typeface="Palatino Linotype"/>
                <a:cs typeface="Palatino Linotype"/>
              </a:rPr>
              <a:t>structures</a:t>
            </a:r>
            <a:endParaRPr sz="2400">
              <a:solidFill>
                <a:sysClr val="windowText" lastClr="000000"/>
              </a:solidFill>
              <a:latin typeface="Palatino Linotype"/>
              <a:cs typeface="Palatino Linotype"/>
            </a:endParaRPr>
          </a:p>
          <a:p>
            <a:pPr marL="926465" marR="188595" lvl="1" indent="-457200">
              <a:lnSpc>
                <a:spcPct val="121000"/>
              </a:lnSpc>
              <a:spcBef>
                <a:spcPts val="1814"/>
              </a:spcBef>
              <a:buClr>
                <a:srgbClr val="000000"/>
              </a:buClr>
              <a:buFontTx/>
              <a:buAutoNum type="arabicPeriod"/>
              <a:tabLst>
                <a:tab pos="926465" algn="l"/>
              </a:tabLst>
            </a:pPr>
            <a:r>
              <a:rPr sz="2000" dirty="0">
                <a:solidFill>
                  <a:srgbClr val="FF0000"/>
                </a:solidFill>
                <a:latin typeface="Palatino Linotype"/>
                <a:cs typeface="Palatino Linotype"/>
              </a:rPr>
              <a:t>Register</a:t>
            </a:r>
            <a:r>
              <a:rPr sz="2000" spc="-35" dirty="0">
                <a:solidFill>
                  <a:srgbClr val="FF0000"/>
                </a:solidFill>
                <a:latin typeface="Palatino Linotype"/>
                <a:cs typeface="Palatino Linotype"/>
              </a:rPr>
              <a:t> </a:t>
            </a:r>
            <a:r>
              <a:rPr sz="2000" dirty="0">
                <a:solidFill>
                  <a:srgbClr val="FF0000"/>
                </a:solidFill>
                <a:latin typeface="Palatino Linotype"/>
                <a:cs typeface="Palatino Linotype"/>
              </a:rPr>
              <a:t>descriptor</a:t>
            </a:r>
            <a:r>
              <a:rPr sz="2000" spc="-25" dirty="0">
                <a:solidFill>
                  <a:srgbClr val="FF0000"/>
                </a:solidFill>
                <a:latin typeface="Palatino Linotype"/>
                <a:cs typeface="Palatino Linotype"/>
              </a:rPr>
              <a:t> (</a:t>
            </a:r>
            <a:r>
              <a:rPr sz="2000" dirty="0">
                <a:solidFill>
                  <a:srgbClr val="FF0000"/>
                </a:solidFill>
                <a:latin typeface="SimSun"/>
                <a:cs typeface="SimSun"/>
              </a:rPr>
              <a:t>寄存器描述符</a:t>
            </a:r>
            <a:r>
              <a:rPr sz="2000" spc="-15" dirty="0">
                <a:solidFill>
                  <a:srgbClr val="FF0000"/>
                </a:solidFill>
                <a:latin typeface="Palatino Linotype"/>
                <a:cs typeface="Palatino Linotype"/>
              </a:rPr>
              <a:t>): </a:t>
            </a:r>
            <a:r>
              <a:rPr sz="2000" dirty="0">
                <a:solidFill>
                  <a:sysClr val="windowText" lastClr="000000"/>
                </a:solidFill>
                <a:latin typeface="Palatino Linotype"/>
                <a:cs typeface="Palatino Linotype"/>
              </a:rPr>
              <a:t>For</a:t>
            </a:r>
            <a:r>
              <a:rPr sz="2000" spc="-3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each</a:t>
            </a:r>
            <a:r>
              <a:rPr sz="2000" spc="-35" dirty="0">
                <a:solidFill>
                  <a:sysClr val="windowText" lastClr="000000"/>
                </a:solidFill>
                <a:latin typeface="Palatino Linotype"/>
                <a:cs typeface="Palatino Linotype"/>
              </a:rPr>
              <a:t> </a:t>
            </a:r>
            <a:r>
              <a:rPr sz="2000" spc="-10" dirty="0">
                <a:solidFill>
                  <a:sysClr val="windowText" lastClr="000000"/>
                </a:solidFill>
                <a:latin typeface="Palatino Linotype"/>
                <a:cs typeface="Palatino Linotype"/>
              </a:rPr>
              <a:t>available register</a:t>
            </a:r>
            <a:r>
              <a:rPr sz="2000" spc="-2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keeping</a:t>
            </a:r>
            <a:r>
              <a:rPr sz="2000" spc="-4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track</a:t>
            </a:r>
            <a:r>
              <a:rPr sz="2000" spc="-4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of</a:t>
            </a:r>
            <a:r>
              <a:rPr sz="2000" spc="-4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the</a:t>
            </a:r>
            <a:r>
              <a:rPr sz="2000" spc="-3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variable</a:t>
            </a:r>
            <a:r>
              <a:rPr sz="2000" spc="-4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names</a:t>
            </a:r>
            <a:r>
              <a:rPr sz="2000" spc="-4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whose</a:t>
            </a:r>
            <a:r>
              <a:rPr sz="2000" spc="-40" dirty="0">
                <a:solidFill>
                  <a:sysClr val="windowText" lastClr="000000"/>
                </a:solidFill>
                <a:latin typeface="Palatino Linotype"/>
                <a:cs typeface="Palatino Linotype"/>
              </a:rPr>
              <a:t> </a:t>
            </a:r>
            <a:r>
              <a:rPr sz="2000" spc="-10" dirty="0">
                <a:solidFill>
                  <a:sysClr val="windowText" lastClr="000000"/>
                </a:solidFill>
                <a:latin typeface="Palatino Linotype"/>
                <a:cs typeface="Palatino Linotype"/>
              </a:rPr>
              <a:t>current </a:t>
            </a:r>
            <a:r>
              <a:rPr sz="2000" dirty="0">
                <a:solidFill>
                  <a:sysClr val="windowText" lastClr="000000"/>
                </a:solidFill>
                <a:latin typeface="Palatino Linotype"/>
                <a:cs typeface="Palatino Linotype"/>
              </a:rPr>
              <a:t>value</a:t>
            </a:r>
            <a:r>
              <a:rPr sz="2000" spc="-3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is</a:t>
            </a:r>
            <a:r>
              <a:rPr sz="2000" spc="-3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in</a:t>
            </a:r>
            <a:r>
              <a:rPr sz="2000" spc="-3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that</a:t>
            </a:r>
            <a:r>
              <a:rPr sz="2000" spc="-35" dirty="0">
                <a:solidFill>
                  <a:sysClr val="windowText" lastClr="000000"/>
                </a:solidFill>
                <a:latin typeface="Palatino Linotype"/>
                <a:cs typeface="Palatino Linotype"/>
              </a:rPr>
              <a:t> </a:t>
            </a:r>
            <a:r>
              <a:rPr sz="2000" spc="-10" dirty="0">
                <a:solidFill>
                  <a:sysClr val="windowText" lastClr="000000"/>
                </a:solidFill>
                <a:latin typeface="Palatino Linotype"/>
                <a:cs typeface="Palatino Linotype"/>
              </a:rPr>
              <a:t>register</a:t>
            </a:r>
            <a:endParaRPr sz="2000">
              <a:solidFill>
                <a:sysClr val="windowText" lastClr="000000"/>
              </a:solidFill>
              <a:latin typeface="Palatino Linotype"/>
              <a:cs typeface="Palatino Linotype"/>
            </a:endParaRPr>
          </a:p>
          <a:p>
            <a:pPr marL="926465" marR="5080" lvl="1" indent="-457200">
              <a:lnSpc>
                <a:spcPct val="118500"/>
              </a:lnSpc>
              <a:spcBef>
                <a:spcPts val="1860"/>
              </a:spcBef>
              <a:buClr>
                <a:srgbClr val="000000"/>
              </a:buClr>
              <a:buFontTx/>
              <a:buAutoNum type="arabicPeriod"/>
              <a:tabLst>
                <a:tab pos="926465" algn="l"/>
              </a:tabLst>
            </a:pPr>
            <a:r>
              <a:rPr sz="2000" dirty="0">
                <a:solidFill>
                  <a:srgbClr val="FF0000"/>
                </a:solidFill>
                <a:latin typeface="Palatino Linotype"/>
                <a:cs typeface="Palatino Linotype"/>
              </a:rPr>
              <a:t>Address</a:t>
            </a:r>
            <a:r>
              <a:rPr sz="2000" spc="-30" dirty="0">
                <a:solidFill>
                  <a:srgbClr val="FF0000"/>
                </a:solidFill>
                <a:latin typeface="Palatino Linotype"/>
                <a:cs typeface="Palatino Linotype"/>
              </a:rPr>
              <a:t> </a:t>
            </a:r>
            <a:r>
              <a:rPr sz="2000" dirty="0">
                <a:solidFill>
                  <a:srgbClr val="FF0000"/>
                </a:solidFill>
                <a:latin typeface="Palatino Linotype"/>
                <a:cs typeface="Palatino Linotype"/>
              </a:rPr>
              <a:t>descriptor</a:t>
            </a:r>
            <a:r>
              <a:rPr sz="2000" spc="-20" dirty="0">
                <a:solidFill>
                  <a:srgbClr val="FF0000"/>
                </a:solidFill>
                <a:latin typeface="Palatino Linotype"/>
                <a:cs typeface="Palatino Linotype"/>
              </a:rPr>
              <a:t> (</a:t>
            </a:r>
            <a:r>
              <a:rPr sz="2000" dirty="0">
                <a:solidFill>
                  <a:srgbClr val="FF0000"/>
                </a:solidFill>
                <a:latin typeface="SimSun"/>
                <a:cs typeface="SimSun"/>
              </a:rPr>
              <a:t>地址描述符</a:t>
            </a:r>
            <a:r>
              <a:rPr sz="2000" spc="-15" dirty="0">
                <a:solidFill>
                  <a:srgbClr val="FF0000"/>
                </a:solidFill>
                <a:latin typeface="Palatino Linotype"/>
                <a:cs typeface="Palatino Linotype"/>
              </a:rPr>
              <a:t>): </a:t>
            </a:r>
            <a:r>
              <a:rPr sz="2000" dirty="0">
                <a:solidFill>
                  <a:sysClr val="windowText" lastClr="000000"/>
                </a:solidFill>
                <a:latin typeface="Palatino Linotype"/>
                <a:cs typeface="Palatino Linotype"/>
              </a:rPr>
              <a:t>For</a:t>
            </a:r>
            <a:r>
              <a:rPr sz="2000" spc="-3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each</a:t>
            </a:r>
            <a:r>
              <a:rPr sz="2000" spc="-3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program</a:t>
            </a:r>
            <a:r>
              <a:rPr sz="2000" spc="-35" dirty="0">
                <a:solidFill>
                  <a:sysClr val="windowText" lastClr="000000"/>
                </a:solidFill>
                <a:latin typeface="Palatino Linotype"/>
                <a:cs typeface="Palatino Linotype"/>
              </a:rPr>
              <a:t> </a:t>
            </a:r>
            <a:r>
              <a:rPr sz="2000" spc="-10" dirty="0">
                <a:solidFill>
                  <a:sysClr val="windowText" lastClr="000000"/>
                </a:solidFill>
                <a:latin typeface="Palatino Linotype"/>
                <a:cs typeface="Palatino Linotype"/>
              </a:rPr>
              <a:t>variable, </a:t>
            </a:r>
            <a:r>
              <a:rPr sz="2000" dirty="0">
                <a:solidFill>
                  <a:sysClr val="windowText" lastClr="000000"/>
                </a:solidFill>
                <a:latin typeface="Palatino Linotype"/>
                <a:cs typeface="Palatino Linotype"/>
              </a:rPr>
              <a:t>keeping</a:t>
            </a:r>
            <a:r>
              <a:rPr sz="2000" spc="-4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track</a:t>
            </a:r>
            <a:r>
              <a:rPr sz="2000" spc="-3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of</a:t>
            </a:r>
            <a:r>
              <a:rPr sz="2000" spc="-4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the</a:t>
            </a:r>
            <a:r>
              <a:rPr sz="2000" spc="-3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locations</a:t>
            </a:r>
            <a:r>
              <a:rPr sz="2000" spc="-3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where</a:t>
            </a:r>
            <a:r>
              <a:rPr sz="2000" spc="-4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the</a:t>
            </a:r>
            <a:r>
              <a:rPr sz="2000" spc="-3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current</a:t>
            </a:r>
            <a:r>
              <a:rPr sz="2000" spc="-4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value</a:t>
            </a:r>
            <a:r>
              <a:rPr sz="2000" spc="-35" dirty="0">
                <a:solidFill>
                  <a:sysClr val="windowText" lastClr="000000"/>
                </a:solidFill>
                <a:latin typeface="Palatino Linotype"/>
                <a:cs typeface="Palatino Linotype"/>
              </a:rPr>
              <a:t> </a:t>
            </a:r>
            <a:r>
              <a:rPr sz="2000" spc="-25" dirty="0">
                <a:solidFill>
                  <a:sysClr val="windowText" lastClr="000000"/>
                </a:solidFill>
                <a:latin typeface="Palatino Linotype"/>
                <a:cs typeface="Palatino Linotype"/>
              </a:rPr>
              <a:t>of</a:t>
            </a:r>
            <a:r>
              <a:rPr sz="2000" spc="50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that</a:t>
            </a:r>
            <a:r>
              <a:rPr sz="2000" spc="-4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variable</a:t>
            </a:r>
            <a:r>
              <a:rPr sz="2000" spc="-3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can</a:t>
            </a:r>
            <a:r>
              <a:rPr sz="2000" spc="-4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be</a:t>
            </a:r>
            <a:r>
              <a:rPr sz="2000" spc="-35" dirty="0">
                <a:solidFill>
                  <a:sysClr val="windowText" lastClr="000000"/>
                </a:solidFill>
                <a:latin typeface="Palatino Linotype"/>
                <a:cs typeface="Palatino Linotype"/>
              </a:rPr>
              <a:t> </a:t>
            </a:r>
            <a:r>
              <a:rPr sz="2000" spc="-20" dirty="0">
                <a:solidFill>
                  <a:sysClr val="windowText" lastClr="000000"/>
                </a:solidFill>
                <a:latin typeface="Palatino Linotype"/>
                <a:cs typeface="Palatino Linotype"/>
              </a:rPr>
              <a:t>found</a:t>
            </a:r>
            <a:endParaRPr sz="2000">
              <a:solidFill>
                <a:sysClr val="windowText" lastClr="000000"/>
              </a:solidFill>
              <a:latin typeface="Palatino Linotype"/>
              <a:cs typeface="Palatino Linotype"/>
            </a:endParaRPr>
          </a:p>
          <a:p>
            <a:pPr marL="1153795" lvl="2" indent="-227329">
              <a:spcBef>
                <a:spcPts val="1110"/>
              </a:spcBef>
              <a:buFont typeface="Courier New"/>
              <a:buChar char="o"/>
              <a:tabLst>
                <a:tab pos="1153795" algn="l"/>
              </a:tabLst>
            </a:pPr>
            <a:r>
              <a:rPr dirty="0">
                <a:solidFill>
                  <a:sysClr val="windowText" lastClr="000000"/>
                </a:solidFill>
                <a:latin typeface="Palatino Linotype"/>
                <a:cs typeface="Palatino Linotype"/>
              </a:rPr>
              <a:t>A</a:t>
            </a:r>
            <a:r>
              <a:rPr spc="-114" dirty="0">
                <a:solidFill>
                  <a:sysClr val="windowText" lastClr="000000"/>
                </a:solidFill>
                <a:latin typeface="Palatino Linotype"/>
                <a:cs typeface="Palatino Linotype"/>
              </a:rPr>
              <a:t> </a:t>
            </a:r>
            <a:r>
              <a:rPr dirty="0">
                <a:solidFill>
                  <a:srgbClr val="0432FF"/>
                </a:solidFill>
                <a:latin typeface="Palatino Linotype"/>
                <a:cs typeface="Palatino Linotype"/>
              </a:rPr>
              <a:t>location</a:t>
            </a:r>
            <a:r>
              <a:rPr spc="-35" dirty="0">
                <a:solidFill>
                  <a:srgbClr val="0432FF"/>
                </a:solidFill>
                <a:latin typeface="Palatino Linotype"/>
                <a:cs typeface="Palatino Linotype"/>
              </a:rPr>
              <a:t> </a:t>
            </a:r>
            <a:r>
              <a:rPr dirty="0">
                <a:solidFill>
                  <a:sysClr val="windowText" lastClr="000000"/>
                </a:solidFill>
                <a:latin typeface="Palatino Linotype"/>
                <a:cs typeface="Palatino Linotype"/>
              </a:rPr>
              <a:t>may</a:t>
            </a:r>
            <a:r>
              <a:rPr spc="-25"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be</a:t>
            </a:r>
            <a:r>
              <a:rPr spc="-25"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a</a:t>
            </a:r>
            <a:r>
              <a:rPr spc="-25" dirty="0">
                <a:solidFill>
                  <a:sysClr val="windowText" lastClr="000000"/>
                </a:solidFill>
                <a:latin typeface="Palatino Linotype"/>
                <a:cs typeface="Palatino Linotype"/>
              </a:rPr>
              <a:t> </a:t>
            </a:r>
            <a:r>
              <a:rPr spc="-10" dirty="0">
                <a:solidFill>
                  <a:sysClr val="windowText" lastClr="000000"/>
                </a:solidFill>
                <a:latin typeface="Palatino Linotype"/>
                <a:cs typeface="Palatino Linotype"/>
              </a:rPr>
              <a:t>register,</a:t>
            </a:r>
            <a:r>
              <a:rPr spc="-20"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a</a:t>
            </a:r>
            <a:r>
              <a:rPr spc="-25"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memory</a:t>
            </a:r>
            <a:r>
              <a:rPr spc="-30"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address,</a:t>
            </a:r>
            <a:r>
              <a:rPr spc="-20"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a</a:t>
            </a:r>
            <a:r>
              <a:rPr spc="-25"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stack</a:t>
            </a:r>
            <a:r>
              <a:rPr spc="-30" dirty="0">
                <a:solidFill>
                  <a:sysClr val="windowText" lastClr="000000"/>
                </a:solidFill>
                <a:latin typeface="Palatino Linotype"/>
                <a:cs typeface="Palatino Linotype"/>
              </a:rPr>
              <a:t> </a:t>
            </a:r>
            <a:r>
              <a:rPr spc="-10" dirty="0">
                <a:solidFill>
                  <a:sysClr val="windowText" lastClr="000000"/>
                </a:solidFill>
                <a:latin typeface="Palatino Linotype"/>
                <a:cs typeface="Palatino Linotype"/>
              </a:rPr>
              <a:t>location</a:t>
            </a:r>
            <a:endParaRPr>
              <a:solidFill>
                <a:sysClr val="windowText" lastClr="000000"/>
              </a:solidFill>
              <a:latin typeface="Palatino Linotype"/>
              <a:cs typeface="Palatino Linotype"/>
            </a:endParaRPr>
          </a:p>
        </p:txBody>
      </p:sp>
      <p:sp>
        <p:nvSpPr>
          <p:cNvPr id="8" name="object 3">
            <a:extLst>
              <a:ext uri="{FF2B5EF4-FFF2-40B4-BE49-F238E27FC236}">
                <a16:creationId xmlns:a16="http://schemas.microsoft.com/office/drawing/2014/main" id="{54AC4682-C381-AF01-FD3D-A7318217591B}"/>
              </a:ext>
            </a:extLst>
          </p:cNvPr>
          <p:cNvSpPr txBox="1">
            <a:spLocks/>
          </p:cNvSpPr>
          <p:nvPr/>
        </p:nvSpPr>
        <p:spPr>
          <a:xfrm>
            <a:off x="615950" y="560832"/>
            <a:ext cx="7840980" cy="55880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3500" b="1" i="0" u="none" strike="noStrike" kern="0" cap="none" spc="0" normalizeH="0" baseline="0" noProof="0">
                <a:ln>
                  <a:noFill/>
                </a:ln>
                <a:solidFill>
                  <a:sysClr val="windowText" lastClr="000000"/>
                </a:solidFill>
                <a:effectLst/>
                <a:uLnTx/>
                <a:uFillTx/>
                <a:latin typeface="Palatino Linotype"/>
                <a:ea typeface="+mj-ea"/>
              </a:rPr>
              <a:t>Code</a:t>
            </a:r>
            <a:r>
              <a:rPr kumimoji="0" lang="en-US" sz="3500" b="1" i="0" u="none" strike="noStrike" kern="0" cap="none" spc="-80" normalizeH="0" baseline="0" noProof="0">
                <a:ln>
                  <a:noFill/>
                </a:ln>
                <a:solidFill>
                  <a:sysClr val="windowText" lastClr="000000"/>
                </a:solidFill>
                <a:effectLst/>
                <a:uLnTx/>
                <a:uFillTx/>
                <a:latin typeface="Palatino Linotype"/>
                <a:ea typeface="+mj-ea"/>
              </a:rPr>
              <a:t> </a:t>
            </a:r>
            <a:r>
              <a:rPr kumimoji="0" lang="en-US" sz="3500" b="1" i="0" u="none" strike="noStrike" kern="0" cap="none" spc="0" normalizeH="0" baseline="0" noProof="0">
                <a:ln>
                  <a:noFill/>
                </a:ln>
                <a:solidFill>
                  <a:sysClr val="windowText" lastClr="000000"/>
                </a:solidFill>
                <a:effectLst/>
                <a:uLnTx/>
                <a:uFillTx/>
                <a:latin typeface="Palatino Linotype"/>
                <a:ea typeface="+mj-ea"/>
              </a:rPr>
              <a:t>Generation</a:t>
            </a:r>
            <a:r>
              <a:rPr kumimoji="0" lang="en-US" sz="3500" b="1" i="0" u="none" strike="noStrike" kern="0" cap="none" spc="-80" normalizeH="0" baseline="0" noProof="0">
                <a:ln>
                  <a:noFill/>
                </a:ln>
                <a:solidFill>
                  <a:sysClr val="windowText" lastClr="000000"/>
                </a:solidFill>
                <a:effectLst/>
                <a:uLnTx/>
                <a:uFillTx/>
                <a:latin typeface="Palatino Linotype"/>
                <a:ea typeface="+mj-ea"/>
              </a:rPr>
              <a:t> </a:t>
            </a:r>
            <a:r>
              <a:rPr kumimoji="0" lang="en-US" sz="3500" b="1" i="0" u="none" strike="noStrike" kern="0" cap="none" spc="0" normalizeH="0" baseline="0" noProof="0">
                <a:ln>
                  <a:noFill/>
                </a:ln>
                <a:solidFill>
                  <a:sysClr val="windowText" lastClr="000000"/>
                </a:solidFill>
                <a:effectLst/>
                <a:uLnTx/>
                <a:uFillTx/>
                <a:latin typeface="Palatino Linotype"/>
                <a:ea typeface="+mj-ea"/>
              </a:rPr>
              <a:t>Algorithm</a:t>
            </a:r>
            <a:r>
              <a:rPr kumimoji="0" lang="en-US" sz="3500" b="1" i="0" u="none" strike="noStrike" kern="0" cap="none" spc="-80" normalizeH="0" baseline="0" noProof="0">
                <a:ln>
                  <a:noFill/>
                </a:ln>
                <a:solidFill>
                  <a:sysClr val="windowText" lastClr="000000"/>
                </a:solidFill>
                <a:effectLst/>
                <a:uLnTx/>
                <a:uFillTx/>
                <a:latin typeface="Palatino Linotype"/>
                <a:ea typeface="+mj-ea"/>
              </a:rPr>
              <a:t> </a:t>
            </a:r>
            <a:r>
              <a:rPr kumimoji="0" lang="en-US" sz="3500" b="1" i="0" u="none" strike="noStrike" kern="0" cap="none" spc="-10" normalizeH="0" baseline="0" noProof="0">
                <a:ln>
                  <a:noFill/>
                </a:ln>
                <a:solidFill>
                  <a:sysClr val="windowText" lastClr="000000"/>
                </a:solidFill>
                <a:effectLst/>
                <a:uLnTx/>
                <a:uFillTx/>
                <a:latin typeface="Palatino Linotype"/>
                <a:ea typeface="+mj-ea"/>
              </a:rPr>
              <a:t>Overview</a:t>
            </a:r>
            <a:endParaRPr kumimoji="0" lang="en-US" sz="3500" b="1" i="0" u="none" strike="noStrike" kern="0" cap="none" spc="0" normalizeH="0" baseline="0" noProof="0">
              <a:ln>
                <a:noFill/>
              </a:ln>
              <a:solidFill>
                <a:sysClr val="windowText" lastClr="000000"/>
              </a:solidFill>
              <a:effectLst/>
              <a:uLnTx/>
              <a:uFillTx/>
              <a:latin typeface="Palatino Linotype"/>
              <a:ea typeface="+mj-ea"/>
            </a:endParaRPr>
          </a:p>
        </p:txBody>
      </p:sp>
    </p:spTree>
    <p:extLst>
      <p:ext uri="{BB962C8B-B14F-4D97-AF65-F5344CB8AC3E}">
        <p14:creationId xmlns:p14="http://schemas.microsoft.com/office/powerpoint/2010/main" val="172025759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62</a:t>
            </a:fld>
            <a:endParaRPr lang="en-US"/>
          </a:p>
        </p:txBody>
      </p:sp>
      <p:sp>
        <p:nvSpPr>
          <p:cNvPr id="8" name="object 2">
            <a:extLst>
              <a:ext uri="{FF2B5EF4-FFF2-40B4-BE49-F238E27FC236}">
                <a16:creationId xmlns:a16="http://schemas.microsoft.com/office/drawing/2014/main" id="{D1E4AD58-B658-EF67-8242-3B6781017714}"/>
              </a:ext>
            </a:extLst>
          </p:cNvPr>
          <p:cNvSpPr txBox="1">
            <a:spLocks/>
          </p:cNvSpPr>
          <p:nvPr/>
        </p:nvSpPr>
        <p:spPr>
          <a:xfrm>
            <a:off x="707390" y="524763"/>
            <a:ext cx="7729219" cy="63500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4000" b="1" i="0" u="none" strike="noStrike" kern="0" cap="none" spc="0" normalizeH="0" baseline="0" noProof="0">
                <a:ln>
                  <a:noFill/>
                </a:ln>
                <a:solidFill>
                  <a:sysClr val="windowText" lastClr="000000"/>
                </a:solidFill>
                <a:effectLst/>
                <a:uLnTx/>
                <a:uFillTx/>
                <a:latin typeface="Palatino Linotype"/>
                <a:ea typeface="+mj-ea"/>
              </a:rPr>
              <a:t>Algorithm</a:t>
            </a:r>
            <a:r>
              <a:rPr kumimoji="0" lang="en-US" sz="4000" b="1" i="0" u="none" strike="noStrike" kern="0" cap="none" spc="-125" normalizeH="0" baseline="0" noProof="0">
                <a:ln>
                  <a:noFill/>
                </a:ln>
                <a:solidFill>
                  <a:sysClr val="windowText" lastClr="000000"/>
                </a:solidFill>
                <a:effectLst/>
                <a:uLnTx/>
                <a:uFillTx/>
                <a:latin typeface="Palatino Linotype"/>
                <a:ea typeface="+mj-ea"/>
              </a:rPr>
              <a:t> </a:t>
            </a:r>
            <a:r>
              <a:rPr kumimoji="0" lang="en-US" sz="4000" b="1" i="0" u="none" strike="noStrike" kern="0" cap="none" spc="0" normalizeH="0" baseline="0" noProof="0">
                <a:ln>
                  <a:noFill/>
                </a:ln>
                <a:solidFill>
                  <a:sysClr val="windowText" lastClr="000000"/>
                </a:solidFill>
                <a:effectLst/>
                <a:uLnTx/>
                <a:uFillTx/>
                <a:latin typeface="Palatino Linotype"/>
                <a:ea typeface="+mj-ea"/>
              </a:rPr>
              <a:t>Details</a:t>
            </a:r>
            <a:r>
              <a:rPr kumimoji="0" lang="en-US" sz="4000" b="1" i="0" u="none" strike="noStrike" kern="0" cap="none" spc="-135" normalizeH="0" baseline="0" noProof="0">
                <a:ln>
                  <a:noFill/>
                </a:ln>
                <a:solidFill>
                  <a:sysClr val="windowText" lastClr="000000"/>
                </a:solidFill>
                <a:effectLst/>
                <a:uLnTx/>
                <a:uFillTx/>
                <a:latin typeface="Palatino Linotype"/>
                <a:ea typeface="+mj-ea"/>
              </a:rPr>
              <a:t> </a:t>
            </a:r>
            <a:r>
              <a:rPr kumimoji="0" lang="en-US" sz="4000" b="1" i="0" u="none" strike="noStrike" kern="0" cap="none" spc="-25" normalizeH="0" baseline="0" noProof="0">
                <a:ln>
                  <a:noFill/>
                </a:ln>
                <a:solidFill>
                  <a:sysClr val="windowText" lastClr="000000"/>
                </a:solidFill>
                <a:effectLst/>
                <a:uLnTx/>
                <a:uFillTx/>
                <a:latin typeface="Palatino Linotype"/>
                <a:ea typeface="+mj-ea"/>
              </a:rPr>
              <a:t>(1)</a:t>
            </a:r>
            <a:endParaRPr kumimoji="0" lang="en-US" sz="4000" b="1" i="0" u="none" strike="noStrike" kern="0" cap="none" spc="-25" normalizeH="0" baseline="0" noProof="0" dirty="0">
              <a:ln>
                <a:noFill/>
              </a:ln>
              <a:solidFill>
                <a:sysClr val="windowText" lastClr="000000"/>
              </a:solidFill>
              <a:effectLst/>
              <a:uLnTx/>
              <a:uFillTx/>
              <a:latin typeface="Palatino Linotype"/>
              <a:ea typeface="+mj-ea"/>
            </a:endParaRPr>
          </a:p>
        </p:txBody>
      </p:sp>
      <p:sp>
        <p:nvSpPr>
          <p:cNvPr id="9" name="object 3">
            <a:extLst>
              <a:ext uri="{FF2B5EF4-FFF2-40B4-BE49-F238E27FC236}">
                <a16:creationId xmlns:a16="http://schemas.microsoft.com/office/drawing/2014/main" id="{54E7BF1E-F60E-4E17-5704-BE08DA7822B9}"/>
              </a:ext>
            </a:extLst>
          </p:cNvPr>
          <p:cNvSpPr txBox="1"/>
          <p:nvPr/>
        </p:nvSpPr>
        <p:spPr>
          <a:xfrm>
            <a:off x="707390" y="1485721"/>
            <a:ext cx="7506334" cy="1548130"/>
          </a:xfrm>
          <a:prstGeom prst="rect">
            <a:avLst/>
          </a:prstGeom>
        </p:spPr>
        <p:txBody>
          <a:bodyPr vert="horz" wrap="square" lIns="0" tIns="185420" rIns="0" bIns="0" rtlCol="0">
            <a:spAutoFit/>
          </a:bodyPr>
          <a:lstStyle/>
          <a:p>
            <a:pPr marL="242570" indent="-229870">
              <a:spcBef>
                <a:spcPts val="1460"/>
              </a:spcBef>
              <a:buFont typeface="Arial MT"/>
              <a:buChar char="•"/>
              <a:tabLst>
                <a:tab pos="242570" algn="l"/>
              </a:tabLst>
            </a:pPr>
            <a:r>
              <a:rPr sz="2200" dirty="0">
                <a:solidFill>
                  <a:sysClr val="windowText" lastClr="000000"/>
                </a:solidFill>
                <a:latin typeface="Palatino Linotype"/>
                <a:cs typeface="Palatino Linotype"/>
              </a:rPr>
              <a:t>An</a:t>
            </a:r>
            <a:r>
              <a:rPr sz="2200" spc="-40" dirty="0">
                <a:solidFill>
                  <a:sysClr val="windowText" lastClr="000000"/>
                </a:solidFill>
                <a:latin typeface="Palatino Linotype"/>
                <a:cs typeface="Palatino Linotype"/>
              </a:rPr>
              <a:t> </a:t>
            </a:r>
            <a:r>
              <a:rPr sz="2200" dirty="0">
                <a:solidFill>
                  <a:sysClr val="windowText" lastClr="000000"/>
                </a:solidFill>
                <a:latin typeface="Palatino Linotype"/>
                <a:cs typeface="Palatino Linotype"/>
              </a:rPr>
              <a:t>essential</a:t>
            </a:r>
            <a:r>
              <a:rPr sz="2200" spc="-30" dirty="0">
                <a:solidFill>
                  <a:sysClr val="windowText" lastClr="000000"/>
                </a:solidFill>
                <a:latin typeface="Palatino Linotype"/>
                <a:cs typeface="Palatino Linotype"/>
              </a:rPr>
              <a:t> </a:t>
            </a:r>
            <a:r>
              <a:rPr sz="2200" dirty="0">
                <a:solidFill>
                  <a:sysClr val="windowText" lastClr="000000"/>
                </a:solidFill>
                <a:latin typeface="Palatino Linotype"/>
                <a:cs typeface="Palatino Linotype"/>
              </a:rPr>
              <a:t>part</a:t>
            </a:r>
            <a:r>
              <a:rPr sz="2200" spc="-35" dirty="0">
                <a:solidFill>
                  <a:sysClr val="windowText" lastClr="000000"/>
                </a:solidFill>
                <a:latin typeface="Palatino Linotype"/>
                <a:cs typeface="Palatino Linotype"/>
              </a:rPr>
              <a:t> </a:t>
            </a:r>
            <a:r>
              <a:rPr sz="2200" dirty="0">
                <a:solidFill>
                  <a:sysClr val="windowText" lastClr="000000"/>
                </a:solidFill>
                <a:latin typeface="Palatino Linotype"/>
                <a:cs typeface="Palatino Linotype"/>
              </a:rPr>
              <a:t>of</a:t>
            </a:r>
            <a:r>
              <a:rPr sz="2200" spc="-25" dirty="0">
                <a:solidFill>
                  <a:sysClr val="windowText" lastClr="000000"/>
                </a:solidFill>
                <a:latin typeface="Palatino Linotype"/>
                <a:cs typeface="Palatino Linotype"/>
              </a:rPr>
              <a:t> </a:t>
            </a:r>
            <a:r>
              <a:rPr sz="2200" dirty="0">
                <a:solidFill>
                  <a:sysClr val="windowText" lastClr="000000"/>
                </a:solidFill>
                <a:latin typeface="Palatino Linotype"/>
                <a:cs typeface="Palatino Linotype"/>
              </a:rPr>
              <a:t>the</a:t>
            </a:r>
            <a:r>
              <a:rPr sz="2200" spc="-35" dirty="0">
                <a:solidFill>
                  <a:sysClr val="windowText" lastClr="000000"/>
                </a:solidFill>
                <a:latin typeface="Palatino Linotype"/>
                <a:cs typeface="Palatino Linotype"/>
              </a:rPr>
              <a:t> </a:t>
            </a:r>
            <a:r>
              <a:rPr sz="2200" dirty="0">
                <a:solidFill>
                  <a:sysClr val="windowText" lastClr="000000"/>
                </a:solidFill>
                <a:latin typeface="Palatino Linotype"/>
                <a:cs typeface="Palatino Linotype"/>
              </a:rPr>
              <a:t>algorithm:</a:t>
            </a:r>
            <a:r>
              <a:rPr sz="2200" spc="-30" dirty="0">
                <a:solidFill>
                  <a:sysClr val="windowText" lastClr="000000"/>
                </a:solidFill>
                <a:latin typeface="Palatino Linotype"/>
                <a:cs typeface="Palatino Linotype"/>
              </a:rPr>
              <a:t> </a:t>
            </a:r>
            <a:r>
              <a:rPr sz="2200" spc="-10" dirty="0">
                <a:solidFill>
                  <a:srgbClr val="FF0000"/>
                </a:solidFill>
                <a:latin typeface="Cambria Math"/>
                <a:cs typeface="Cambria Math"/>
              </a:rPr>
              <a:t>𝑔𝑒𝑡𝑅𝑒𝑔(𝐼)</a:t>
            </a:r>
            <a:endParaRPr sz="2200">
              <a:solidFill>
                <a:sysClr val="windowText" lastClr="000000"/>
              </a:solidFill>
              <a:latin typeface="Cambria Math"/>
              <a:cs typeface="Cambria Math"/>
            </a:endParaRPr>
          </a:p>
          <a:p>
            <a:pPr marL="698500" marR="5080" lvl="1" indent="-228600">
              <a:lnSpc>
                <a:spcPct val="120000"/>
              </a:lnSpc>
              <a:spcBef>
                <a:spcPts val="645"/>
              </a:spcBef>
              <a:buClr>
                <a:srgbClr val="000000"/>
              </a:buClr>
              <a:buFont typeface="Wingdings"/>
              <a:buChar char=""/>
              <a:tabLst>
                <a:tab pos="698500" algn="l"/>
              </a:tabLst>
            </a:pPr>
            <a:r>
              <a:rPr sz="1700" dirty="0">
                <a:solidFill>
                  <a:srgbClr val="0432FF"/>
                </a:solidFill>
                <a:latin typeface="Palatino Linotype"/>
                <a:cs typeface="Palatino Linotype"/>
              </a:rPr>
              <a:t>Select</a:t>
            </a:r>
            <a:r>
              <a:rPr sz="1700" spc="-35" dirty="0">
                <a:solidFill>
                  <a:srgbClr val="0432FF"/>
                </a:solidFill>
                <a:latin typeface="Palatino Linotype"/>
                <a:cs typeface="Palatino Linotype"/>
              </a:rPr>
              <a:t> </a:t>
            </a:r>
            <a:r>
              <a:rPr sz="1700" dirty="0">
                <a:solidFill>
                  <a:srgbClr val="0432FF"/>
                </a:solidFill>
                <a:latin typeface="Palatino Linotype"/>
                <a:cs typeface="Palatino Linotype"/>
              </a:rPr>
              <a:t>registers</a:t>
            </a:r>
            <a:r>
              <a:rPr sz="1700" spc="-30" dirty="0">
                <a:solidFill>
                  <a:srgbClr val="0432FF"/>
                </a:solidFill>
                <a:latin typeface="Palatino Linotype"/>
                <a:cs typeface="Palatino Linotype"/>
              </a:rPr>
              <a:t> </a:t>
            </a:r>
            <a:r>
              <a:rPr sz="1700" dirty="0">
                <a:solidFill>
                  <a:srgbClr val="0432FF"/>
                </a:solidFill>
                <a:latin typeface="Palatino Linotype"/>
                <a:cs typeface="Palatino Linotype"/>
              </a:rPr>
              <a:t>for</a:t>
            </a:r>
            <a:r>
              <a:rPr sz="1700" spc="-30" dirty="0">
                <a:solidFill>
                  <a:srgbClr val="0432FF"/>
                </a:solidFill>
                <a:latin typeface="Palatino Linotype"/>
                <a:cs typeface="Palatino Linotype"/>
              </a:rPr>
              <a:t> </a:t>
            </a:r>
            <a:r>
              <a:rPr sz="1700" dirty="0">
                <a:solidFill>
                  <a:srgbClr val="0432FF"/>
                </a:solidFill>
                <a:latin typeface="Palatino Linotype"/>
                <a:cs typeface="Palatino Linotype"/>
              </a:rPr>
              <a:t>each</a:t>
            </a:r>
            <a:r>
              <a:rPr sz="1700" spc="-35" dirty="0">
                <a:solidFill>
                  <a:srgbClr val="0432FF"/>
                </a:solidFill>
                <a:latin typeface="Palatino Linotype"/>
                <a:cs typeface="Palatino Linotype"/>
              </a:rPr>
              <a:t> </a:t>
            </a:r>
            <a:r>
              <a:rPr sz="1700" dirty="0">
                <a:solidFill>
                  <a:srgbClr val="0432FF"/>
                </a:solidFill>
                <a:latin typeface="Palatino Linotype"/>
                <a:cs typeface="Palatino Linotype"/>
              </a:rPr>
              <a:t>memory</a:t>
            </a:r>
            <a:r>
              <a:rPr sz="1700" spc="-30" dirty="0">
                <a:solidFill>
                  <a:srgbClr val="0432FF"/>
                </a:solidFill>
                <a:latin typeface="Palatino Linotype"/>
                <a:cs typeface="Palatino Linotype"/>
              </a:rPr>
              <a:t> </a:t>
            </a:r>
            <a:r>
              <a:rPr sz="1700" dirty="0">
                <a:solidFill>
                  <a:srgbClr val="0432FF"/>
                </a:solidFill>
                <a:latin typeface="Palatino Linotype"/>
                <a:cs typeface="Palatino Linotype"/>
              </a:rPr>
              <a:t>location</a:t>
            </a:r>
            <a:r>
              <a:rPr sz="1700" spc="-35" dirty="0">
                <a:solidFill>
                  <a:srgbClr val="0432FF"/>
                </a:solidFill>
                <a:latin typeface="Palatino Linotype"/>
                <a:cs typeface="Palatino Linotype"/>
              </a:rPr>
              <a:t> </a:t>
            </a:r>
            <a:r>
              <a:rPr sz="1700" dirty="0">
                <a:solidFill>
                  <a:sysClr val="windowText" lastClr="000000"/>
                </a:solidFill>
                <a:latin typeface="Palatino Linotype"/>
                <a:cs typeface="Palatino Linotype"/>
              </a:rPr>
              <a:t>associated</a:t>
            </a:r>
            <a:r>
              <a:rPr sz="1700" spc="-35" dirty="0">
                <a:solidFill>
                  <a:sysClr val="windowText" lastClr="000000"/>
                </a:solidFill>
                <a:latin typeface="Palatino Linotype"/>
                <a:cs typeface="Palatino Linotype"/>
              </a:rPr>
              <a:t> </a:t>
            </a:r>
            <a:r>
              <a:rPr sz="1700" dirty="0">
                <a:solidFill>
                  <a:sysClr val="windowText" lastClr="000000"/>
                </a:solidFill>
                <a:latin typeface="Palatino Linotype"/>
                <a:cs typeface="Palatino Linotype"/>
              </a:rPr>
              <a:t>with</a:t>
            </a:r>
            <a:r>
              <a:rPr sz="1700" spc="-30" dirty="0">
                <a:solidFill>
                  <a:sysClr val="windowText" lastClr="000000"/>
                </a:solidFill>
                <a:latin typeface="Palatino Linotype"/>
                <a:cs typeface="Palatino Linotype"/>
              </a:rPr>
              <a:t> </a:t>
            </a:r>
            <a:r>
              <a:rPr sz="1700" dirty="0">
                <a:solidFill>
                  <a:sysClr val="windowText" lastClr="000000"/>
                </a:solidFill>
                <a:latin typeface="Palatino Linotype"/>
                <a:cs typeface="Palatino Linotype"/>
              </a:rPr>
              <a:t>the</a:t>
            </a:r>
            <a:r>
              <a:rPr sz="1700" spc="-35" dirty="0">
                <a:solidFill>
                  <a:sysClr val="windowText" lastClr="000000"/>
                </a:solidFill>
                <a:latin typeface="Palatino Linotype"/>
                <a:cs typeface="Palatino Linotype"/>
              </a:rPr>
              <a:t> </a:t>
            </a:r>
            <a:r>
              <a:rPr sz="1700" spc="-10" dirty="0">
                <a:solidFill>
                  <a:sysClr val="windowText" lastClr="000000"/>
                </a:solidFill>
                <a:latin typeface="Palatino Linotype"/>
                <a:cs typeface="Palatino Linotype"/>
              </a:rPr>
              <a:t>three- </a:t>
            </a:r>
            <a:r>
              <a:rPr sz="1700" dirty="0">
                <a:solidFill>
                  <a:sysClr val="windowText" lastClr="000000"/>
                </a:solidFill>
                <a:latin typeface="Palatino Linotype"/>
                <a:cs typeface="Palatino Linotype"/>
              </a:rPr>
              <a:t>address</a:t>
            </a:r>
            <a:r>
              <a:rPr sz="1700" spc="-25" dirty="0">
                <a:solidFill>
                  <a:sysClr val="windowText" lastClr="000000"/>
                </a:solidFill>
                <a:latin typeface="Palatino Linotype"/>
                <a:cs typeface="Palatino Linotype"/>
              </a:rPr>
              <a:t> </a:t>
            </a:r>
            <a:r>
              <a:rPr sz="1700" dirty="0">
                <a:solidFill>
                  <a:sysClr val="windowText" lastClr="000000"/>
                </a:solidFill>
                <a:latin typeface="Palatino Linotype"/>
                <a:cs typeface="Palatino Linotype"/>
              </a:rPr>
              <a:t>instruction</a:t>
            </a:r>
            <a:r>
              <a:rPr sz="1700" spc="-25" dirty="0">
                <a:solidFill>
                  <a:sysClr val="windowText" lastClr="000000"/>
                </a:solidFill>
                <a:latin typeface="Palatino Linotype"/>
                <a:cs typeface="Palatino Linotype"/>
              </a:rPr>
              <a:t> </a:t>
            </a:r>
            <a:r>
              <a:rPr sz="1700" dirty="0">
                <a:solidFill>
                  <a:sysClr val="windowText" lastClr="000000"/>
                </a:solidFill>
                <a:latin typeface="Cambria Math"/>
                <a:cs typeface="Cambria Math"/>
              </a:rPr>
              <a:t>𝐼</a:t>
            </a:r>
            <a:r>
              <a:rPr sz="1700" dirty="0">
                <a:solidFill>
                  <a:sysClr val="windowText" lastClr="000000"/>
                </a:solidFill>
                <a:latin typeface="Palatino Linotype"/>
                <a:cs typeface="Palatino Linotype"/>
              </a:rPr>
              <a:t>,</a:t>
            </a:r>
            <a:r>
              <a:rPr sz="1700" spc="-25" dirty="0">
                <a:solidFill>
                  <a:sysClr val="windowText" lastClr="000000"/>
                </a:solidFill>
                <a:latin typeface="Palatino Linotype"/>
                <a:cs typeface="Palatino Linotype"/>
              </a:rPr>
              <a:t> </a:t>
            </a:r>
            <a:r>
              <a:rPr sz="1700" dirty="0">
                <a:solidFill>
                  <a:sysClr val="windowText" lastClr="000000"/>
                </a:solidFill>
                <a:latin typeface="Palatino Linotype"/>
                <a:cs typeface="Palatino Linotype"/>
              </a:rPr>
              <a:t>according</a:t>
            </a:r>
            <a:r>
              <a:rPr sz="1700" spc="-20" dirty="0">
                <a:solidFill>
                  <a:sysClr val="windowText" lastClr="000000"/>
                </a:solidFill>
                <a:latin typeface="Palatino Linotype"/>
                <a:cs typeface="Palatino Linotype"/>
              </a:rPr>
              <a:t> </a:t>
            </a:r>
            <a:r>
              <a:rPr sz="1700" dirty="0">
                <a:solidFill>
                  <a:sysClr val="windowText" lastClr="000000"/>
                </a:solidFill>
                <a:latin typeface="Palatino Linotype"/>
                <a:cs typeface="Palatino Linotype"/>
              </a:rPr>
              <a:t>to</a:t>
            </a:r>
            <a:r>
              <a:rPr sz="1700" spc="-30" dirty="0">
                <a:solidFill>
                  <a:sysClr val="windowText" lastClr="000000"/>
                </a:solidFill>
                <a:latin typeface="Palatino Linotype"/>
                <a:cs typeface="Palatino Linotype"/>
              </a:rPr>
              <a:t> </a:t>
            </a:r>
            <a:r>
              <a:rPr sz="1700" dirty="0">
                <a:solidFill>
                  <a:sysClr val="windowText" lastClr="000000"/>
                </a:solidFill>
                <a:latin typeface="Palatino Linotype"/>
                <a:cs typeface="Palatino Linotype"/>
              </a:rPr>
              <a:t>the</a:t>
            </a:r>
            <a:r>
              <a:rPr sz="1700" spc="-25" dirty="0">
                <a:solidFill>
                  <a:sysClr val="windowText" lastClr="000000"/>
                </a:solidFill>
                <a:latin typeface="Palatino Linotype"/>
                <a:cs typeface="Palatino Linotype"/>
              </a:rPr>
              <a:t> </a:t>
            </a:r>
            <a:r>
              <a:rPr sz="1700" dirty="0">
                <a:solidFill>
                  <a:sysClr val="windowText" lastClr="000000"/>
                </a:solidFill>
                <a:latin typeface="Palatino Linotype"/>
                <a:cs typeface="Palatino Linotype"/>
              </a:rPr>
              <a:t>register</a:t>
            </a:r>
            <a:r>
              <a:rPr sz="1700" spc="-25" dirty="0">
                <a:solidFill>
                  <a:sysClr val="windowText" lastClr="000000"/>
                </a:solidFill>
                <a:latin typeface="Palatino Linotype"/>
                <a:cs typeface="Palatino Linotype"/>
              </a:rPr>
              <a:t> </a:t>
            </a:r>
            <a:r>
              <a:rPr sz="1700" dirty="0">
                <a:solidFill>
                  <a:sysClr val="windowText" lastClr="000000"/>
                </a:solidFill>
                <a:latin typeface="Palatino Linotype"/>
                <a:cs typeface="Palatino Linotype"/>
              </a:rPr>
              <a:t>and</a:t>
            </a:r>
            <a:r>
              <a:rPr sz="1700" spc="-25" dirty="0">
                <a:solidFill>
                  <a:sysClr val="windowText" lastClr="000000"/>
                </a:solidFill>
                <a:latin typeface="Palatino Linotype"/>
                <a:cs typeface="Palatino Linotype"/>
              </a:rPr>
              <a:t> </a:t>
            </a:r>
            <a:r>
              <a:rPr sz="1700" dirty="0">
                <a:solidFill>
                  <a:sysClr val="windowText" lastClr="000000"/>
                </a:solidFill>
                <a:latin typeface="Palatino Linotype"/>
                <a:cs typeface="Palatino Linotype"/>
              </a:rPr>
              <a:t>address</a:t>
            </a:r>
            <a:r>
              <a:rPr sz="1700" spc="-20" dirty="0">
                <a:solidFill>
                  <a:sysClr val="windowText" lastClr="000000"/>
                </a:solidFill>
                <a:latin typeface="Palatino Linotype"/>
                <a:cs typeface="Palatino Linotype"/>
              </a:rPr>
              <a:t> </a:t>
            </a:r>
            <a:r>
              <a:rPr sz="1700" spc="-10" dirty="0">
                <a:solidFill>
                  <a:sysClr val="windowText" lastClr="000000"/>
                </a:solidFill>
                <a:latin typeface="Palatino Linotype"/>
                <a:cs typeface="Palatino Linotype"/>
              </a:rPr>
              <a:t>descriptors, </a:t>
            </a:r>
            <a:r>
              <a:rPr sz="1700" dirty="0">
                <a:solidFill>
                  <a:sysClr val="windowText" lastClr="000000"/>
                </a:solidFill>
                <a:latin typeface="Palatino Linotype"/>
                <a:cs typeface="Palatino Linotype"/>
              </a:rPr>
              <a:t>and</a:t>
            </a:r>
            <a:r>
              <a:rPr sz="1700" spc="-45" dirty="0">
                <a:solidFill>
                  <a:sysClr val="windowText" lastClr="000000"/>
                </a:solidFill>
                <a:latin typeface="Palatino Linotype"/>
                <a:cs typeface="Palatino Linotype"/>
              </a:rPr>
              <a:t> </a:t>
            </a:r>
            <a:r>
              <a:rPr sz="1700" spc="-10" dirty="0">
                <a:solidFill>
                  <a:sysClr val="windowText" lastClr="000000"/>
                </a:solidFill>
                <a:latin typeface="Palatino Linotype"/>
                <a:cs typeface="Palatino Linotype"/>
              </a:rPr>
              <a:t>data-</a:t>
            </a:r>
            <a:r>
              <a:rPr sz="1700" dirty="0">
                <a:solidFill>
                  <a:sysClr val="windowText" lastClr="000000"/>
                </a:solidFill>
                <a:latin typeface="Palatino Linotype"/>
                <a:cs typeface="Palatino Linotype"/>
              </a:rPr>
              <a:t>flow</a:t>
            </a:r>
            <a:r>
              <a:rPr sz="1700" spc="-40" dirty="0">
                <a:solidFill>
                  <a:sysClr val="windowText" lastClr="000000"/>
                </a:solidFill>
                <a:latin typeface="Palatino Linotype"/>
                <a:cs typeface="Palatino Linotype"/>
              </a:rPr>
              <a:t> </a:t>
            </a:r>
            <a:r>
              <a:rPr sz="1700" dirty="0">
                <a:solidFill>
                  <a:sysClr val="windowText" lastClr="000000"/>
                </a:solidFill>
                <a:latin typeface="Palatino Linotype"/>
                <a:cs typeface="Palatino Linotype"/>
              </a:rPr>
              <a:t>info</a:t>
            </a:r>
            <a:r>
              <a:rPr sz="1700" spc="-30" dirty="0">
                <a:solidFill>
                  <a:sysClr val="windowText" lastClr="000000"/>
                </a:solidFill>
                <a:latin typeface="Palatino Linotype"/>
                <a:cs typeface="Palatino Linotype"/>
              </a:rPr>
              <a:t> </a:t>
            </a:r>
            <a:r>
              <a:rPr sz="1700" dirty="0">
                <a:solidFill>
                  <a:sysClr val="windowText" lastClr="000000"/>
                </a:solidFill>
                <a:latin typeface="Palatino Linotype"/>
                <a:cs typeface="Palatino Linotype"/>
              </a:rPr>
              <a:t>(e.g.,</a:t>
            </a:r>
            <a:r>
              <a:rPr sz="1700" spc="-30" dirty="0">
                <a:solidFill>
                  <a:sysClr val="windowText" lastClr="000000"/>
                </a:solidFill>
                <a:latin typeface="Palatino Linotype"/>
                <a:cs typeface="Palatino Linotype"/>
              </a:rPr>
              <a:t> </a:t>
            </a:r>
            <a:r>
              <a:rPr sz="1700" dirty="0">
                <a:solidFill>
                  <a:sysClr val="windowText" lastClr="000000"/>
                </a:solidFill>
                <a:latin typeface="Palatino Linotype"/>
                <a:cs typeface="Palatino Linotype"/>
              </a:rPr>
              <a:t>variables</a:t>
            </a:r>
            <a:r>
              <a:rPr sz="1700" spc="-30" dirty="0">
                <a:solidFill>
                  <a:sysClr val="windowText" lastClr="000000"/>
                </a:solidFill>
                <a:latin typeface="Palatino Linotype"/>
                <a:cs typeface="Palatino Linotype"/>
              </a:rPr>
              <a:t> </a:t>
            </a:r>
            <a:r>
              <a:rPr sz="1700" dirty="0">
                <a:solidFill>
                  <a:sysClr val="windowText" lastClr="000000"/>
                </a:solidFill>
                <a:latin typeface="Palatino Linotype"/>
                <a:cs typeface="Palatino Linotype"/>
              </a:rPr>
              <a:t>live</a:t>
            </a:r>
            <a:r>
              <a:rPr sz="1700" spc="-30" dirty="0">
                <a:solidFill>
                  <a:sysClr val="windowText" lastClr="000000"/>
                </a:solidFill>
                <a:latin typeface="Palatino Linotype"/>
                <a:cs typeface="Palatino Linotype"/>
              </a:rPr>
              <a:t> </a:t>
            </a:r>
            <a:r>
              <a:rPr sz="1700" dirty="0">
                <a:solidFill>
                  <a:sysClr val="windowText" lastClr="000000"/>
                </a:solidFill>
                <a:latin typeface="Palatino Linotype"/>
                <a:cs typeface="Palatino Linotype"/>
              </a:rPr>
              <a:t>on</a:t>
            </a:r>
            <a:r>
              <a:rPr sz="1700" spc="-35" dirty="0">
                <a:solidFill>
                  <a:sysClr val="windowText" lastClr="000000"/>
                </a:solidFill>
                <a:latin typeface="Palatino Linotype"/>
                <a:cs typeface="Palatino Linotype"/>
              </a:rPr>
              <a:t> </a:t>
            </a:r>
            <a:r>
              <a:rPr sz="1700" dirty="0">
                <a:solidFill>
                  <a:sysClr val="windowText" lastClr="000000"/>
                </a:solidFill>
                <a:latin typeface="Palatino Linotype"/>
                <a:cs typeface="Palatino Linotype"/>
              </a:rPr>
              <a:t>block</a:t>
            </a:r>
            <a:r>
              <a:rPr sz="1700" spc="-25" dirty="0">
                <a:solidFill>
                  <a:sysClr val="windowText" lastClr="000000"/>
                </a:solidFill>
                <a:latin typeface="Palatino Linotype"/>
                <a:cs typeface="Palatino Linotype"/>
              </a:rPr>
              <a:t> </a:t>
            </a:r>
            <a:r>
              <a:rPr sz="1700" spc="-10" dirty="0">
                <a:solidFill>
                  <a:sysClr val="windowText" lastClr="000000"/>
                </a:solidFill>
                <a:latin typeface="Palatino Linotype"/>
                <a:cs typeface="Palatino Linotype"/>
              </a:rPr>
              <a:t>exit)</a:t>
            </a:r>
            <a:endParaRPr sz="1700">
              <a:solidFill>
                <a:sysClr val="windowText" lastClr="000000"/>
              </a:solidFill>
              <a:latin typeface="Palatino Linotype"/>
              <a:cs typeface="Palatino Linotype"/>
            </a:endParaRPr>
          </a:p>
        </p:txBody>
      </p:sp>
      <p:sp>
        <p:nvSpPr>
          <p:cNvPr id="10" name="object 4">
            <a:extLst>
              <a:ext uri="{FF2B5EF4-FFF2-40B4-BE49-F238E27FC236}">
                <a16:creationId xmlns:a16="http://schemas.microsoft.com/office/drawing/2014/main" id="{DC65C66D-B497-C047-A557-5743D99AB545}"/>
              </a:ext>
            </a:extLst>
          </p:cNvPr>
          <p:cNvSpPr txBox="1"/>
          <p:nvPr/>
        </p:nvSpPr>
        <p:spPr>
          <a:xfrm>
            <a:off x="965805" y="4114655"/>
            <a:ext cx="7212965" cy="716280"/>
          </a:xfrm>
          <a:prstGeom prst="rect">
            <a:avLst/>
          </a:prstGeom>
          <a:solidFill>
            <a:srgbClr val="FFF2CC"/>
          </a:solidFill>
          <a:ln w="9525">
            <a:solidFill>
              <a:srgbClr val="000000"/>
            </a:solidFill>
          </a:ln>
        </p:spPr>
        <p:txBody>
          <a:bodyPr vert="horz" wrap="square" lIns="0" tIns="15240" rIns="0" bIns="0" rtlCol="0">
            <a:spAutoFit/>
          </a:bodyPr>
          <a:lstStyle/>
          <a:p>
            <a:pPr algn="ctr">
              <a:spcBef>
                <a:spcPts val="120"/>
              </a:spcBef>
            </a:pPr>
            <a:r>
              <a:rPr spc="-20" dirty="0">
                <a:solidFill>
                  <a:srgbClr val="FF0000"/>
                </a:solidFill>
                <a:latin typeface="Palatino Linotype"/>
                <a:cs typeface="Palatino Linotype"/>
              </a:rPr>
              <a:t>Obviously,</a:t>
            </a:r>
            <a:r>
              <a:rPr spc="-40" dirty="0">
                <a:solidFill>
                  <a:srgbClr val="FF0000"/>
                </a:solidFill>
                <a:latin typeface="Palatino Linotype"/>
                <a:cs typeface="Palatino Linotype"/>
              </a:rPr>
              <a:t> </a:t>
            </a:r>
            <a:r>
              <a:rPr dirty="0">
                <a:solidFill>
                  <a:srgbClr val="FF0000"/>
                </a:solidFill>
                <a:latin typeface="Palatino Linotype"/>
                <a:cs typeface="Palatino Linotype"/>
              </a:rPr>
              <a:t>how</a:t>
            </a:r>
            <a:r>
              <a:rPr spc="-40" dirty="0">
                <a:solidFill>
                  <a:srgbClr val="FF0000"/>
                </a:solidFill>
                <a:latin typeface="Palatino Linotype"/>
                <a:cs typeface="Palatino Linotype"/>
              </a:rPr>
              <a:t> </a:t>
            </a:r>
            <a:r>
              <a:rPr dirty="0">
                <a:solidFill>
                  <a:srgbClr val="FF0000"/>
                </a:solidFill>
                <a:latin typeface="Cambria Math"/>
                <a:cs typeface="Cambria Math"/>
              </a:rPr>
              <a:t>𝑔𝑒𝑡𝑅𝑒𝑔()</a:t>
            </a:r>
            <a:r>
              <a:rPr spc="15" dirty="0">
                <a:solidFill>
                  <a:srgbClr val="FF0000"/>
                </a:solidFill>
                <a:latin typeface="Cambria Math"/>
                <a:cs typeface="Cambria Math"/>
              </a:rPr>
              <a:t> </a:t>
            </a:r>
            <a:r>
              <a:rPr dirty="0">
                <a:solidFill>
                  <a:srgbClr val="FF0000"/>
                </a:solidFill>
                <a:latin typeface="Palatino Linotype"/>
                <a:cs typeface="Palatino Linotype"/>
              </a:rPr>
              <a:t>selects</a:t>
            </a:r>
            <a:r>
              <a:rPr spc="-40" dirty="0">
                <a:solidFill>
                  <a:srgbClr val="FF0000"/>
                </a:solidFill>
                <a:latin typeface="Palatino Linotype"/>
                <a:cs typeface="Palatino Linotype"/>
              </a:rPr>
              <a:t> </a:t>
            </a:r>
            <a:r>
              <a:rPr dirty="0">
                <a:solidFill>
                  <a:srgbClr val="FF0000"/>
                </a:solidFill>
                <a:latin typeface="Palatino Linotype"/>
                <a:cs typeface="Palatino Linotype"/>
              </a:rPr>
              <a:t>registers</a:t>
            </a:r>
            <a:r>
              <a:rPr spc="-45" dirty="0">
                <a:solidFill>
                  <a:srgbClr val="FF0000"/>
                </a:solidFill>
                <a:latin typeface="Palatino Linotype"/>
                <a:cs typeface="Palatino Linotype"/>
              </a:rPr>
              <a:t> </a:t>
            </a:r>
            <a:r>
              <a:rPr dirty="0">
                <a:solidFill>
                  <a:srgbClr val="FF0000"/>
                </a:solidFill>
                <a:latin typeface="Palatino Linotype"/>
                <a:cs typeface="Palatino Linotype"/>
              </a:rPr>
              <a:t>affects</a:t>
            </a:r>
            <a:r>
              <a:rPr spc="-40" dirty="0">
                <a:solidFill>
                  <a:srgbClr val="FF0000"/>
                </a:solidFill>
                <a:latin typeface="Palatino Linotype"/>
                <a:cs typeface="Palatino Linotype"/>
              </a:rPr>
              <a:t> </a:t>
            </a:r>
            <a:r>
              <a:rPr dirty="0">
                <a:solidFill>
                  <a:srgbClr val="FF0000"/>
                </a:solidFill>
                <a:latin typeface="Palatino Linotype"/>
                <a:cs typeface="Palatino Linotype"/>
              </a:rPr>
              <a:t>the</a:t>
            </a:r>
            <a:r>
              <a:rPr spc="-40" dirty="0">
                <a:solidFill>
                  <a:srgbClr val="FF0000"/>
                </a:solidFill>
                <a:latin typeface="Palatino Linotype"/>
                <a:cs typeface="Palatino Linotype"/>
              </a:rPr>
              <a:t> </a:t>
            </a:r>
            <a:r>
              <a:rPr dirty="0">
                <a:solidFill>
                  <a:srgbClr val="FF0000"/>
                </a:solidFill>
                <a:latin typeface="Palatino Linotype"/>
                <a:cs typeface="Palatino Linotype"/>
              </a:rPr>
              <a:t>quality</a:t>
            </a:r>
            <a:r>
              <a:rPr spc="-40" dirty="0">
                <a:solidFill>
                  <a:srgbClr val="FF0000"/>
                </a:solidFill>
                <a:latin typeface="Palatino Linotype"/>
                <a:cs typeface="Palatino Linotype"/>
              </a:rPr>
              <a:t> </a:t>
            </a:r>
            <a:r>
              <a:rPr dirty="0">
                <a:solidFill>
                  <a:srgbClr val="FF0000"/>
                </a:solidFill>
                <a:latin typeface="Palatino Linotype"/>
                <a:cs typeface="Palatino Linotype"/>
              </a:rPr>
              <a:t>of</a:t>
            </a:r>
            <a:r>
              <a:rPr spc="-35" dirty="0">
                <a:solidFill>
                  <a:srgbClr val="FF0000"/>
                </a:solidFill>
                <a:latin typeface="Palatino Linotype"/>
                <a:cs typeface="Palatino Linotype"/>
              </a:rPr>
              <a:t> </a:t>
            </a:r>
            <a:r>
              <a:rPr spc="-25" dirty="0">
                <a:solidFill>
                  <a:srgbClr val="FF0000"/>
                </a:solidFill>
                <a:latin typeface="Palatino Linotype"/>
                <a:cs typeface="Palatino Linotype"/>
              </a:rPr>
              <a:t>the</a:t>
            </a:r>
            <a:endParaRPr>
              <a:solidFill>
                <a:sysClr val="windowText" lastClr="000000"/>
              </a:solidFill>
              <a:latin typeface="Palatino Linotype"/>
              <a:cs typeface="Palatino Linotype"/>
            </a:endParaRPr>
          </a:p>
          <a:p>
            <a:pPr algn="ctr">
              <a:spcBef>
                <a:spcPts val="455"/>
              </a:spcBef>
            </a:pPr>
            <a:r>
              <a:rPr dirty="0">
                <a:solidFill>
                  <a:srgbClr val="FF0000"/>
                </a:solidFill>
                <a:latin typeface="Palatino Linotype"/>
                <a:cs typeface="Palatino Linotype"/>
              </a:rPr>
              <a:t>generated</a:t>
            </a:r>
            <a:r>
              <a:rPr spc="-70" dirty="0">
                <a:solidFill>
                  <a:srgbClr val="FF0000"/>
                </a:solidFill>
                <a:latin typeface="Palatino Linotype"/>
                <a:cs typeface="Palatino Linotype"/>
              </a:rPr>
              <a:t> </a:t>
            </a:r>
            <a:r>
              <a:rPr dirty="0">
                <a:solidFill>
                  <a:srgbClr val="FF0000"/>
                </a:solidFill>
                <a:latin typeface="Palatino Linotype"/>
                <a:cs typeface="Palatino Linotype"/>
              </a:rPr>
              <a:t>machine</a:t>
            </a:r>
            <a:r>
              <a:rPr spc="-70" dirty="0">
                <a:solidFill>
                  <a:srgbClr val="FF0000"/>
                </a:solidFill>
                <a:latin typeface="Palatino Linotype"/>
                <a:cs typeface="Palatino Linotype"/>
              </a:rPr>
              <a:t> </a:t>
            </a:r>
            <a:r>
              <a:rPr spc="-20" dirty="0">
                <a:solidFill>
                  <a:srgbClr val="FF0000"/>
                </a:solidFill>
                <a:latin typeface="Palatino Linotype"/>
                <a:cs typeface="Palatino Linotype"/>
              </a:rPr>
              <a:t>code</a:t>
            </a:r>
            <a:endParaRPr>
              <a:solidFill>
                <a:sysClr val="windowText" lastClr="000000"/>
              </a:solidFill>
              <a:latin typeface="Palatino Linotype"/>
              <a:cs typeface="Palatino Linotype"/>
            </a:endParaRPr>
          </a:p>
        </p:txBody>
      </p:sp>
    </p:spTree>
    <p:extLst>
      <p:ext uri="{BB962C8B-B14F-4D97-AF65-F5344CB8AC3E}">
        <p14:creationId xmlns:p14="http://schemas.microsoft.com/office/powerpoint/2010/main" val="213887768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63</a:t>
            </a:fld>
            <a:endParaRPr lang="en-US"/>
          </a:p>
        </p:txBody>
      </p:sp>
      <p:sp>
        <p:nvSpPr>
          <p:cNvPr id="7" name="object 2">
            <a:extLst>
              <a:ext uri="{FF2B5EF4-FFF2-40B4-BE49-F238E27FC236}">
                <a16:creationId xmlns:a16="http://schemas.microsoft.com/office/drawing/2014/main" id="{56FF7C25-F5D3-7BA9-3A7D-2801A0250635}"/>
              </a:ext>
            </a:extLst>
          </p:cNvPr>
          <p:cNvSpPr txBox="1">
            <a:spLocks/>
          </p:cNvSpPr>
          <p:nvPr/>
        </p:nvSpPr>
        <p:spPr>
          <a:xfrm>
            <a:off x="707390" y="524763"/>
            <a:ext cx="7729219" cy="63500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4000" b="1" i="0" u="none" strike="noStrike" kern="0" cap="none" spc="0" normalizeH="0" baseline="0" noProof="0">
                <a:ln>
                  <a:noFill/>
                </a:ln>
                <a:solidFill>
                  <a:sysClr val="windowText" lastClr="000000"/>
                </a:solidFill>
                <a:effectLst/>
                <a:uLnTx/>
                <a:uFillTx/>
                <a:latin typeface="Palatino Linotype"/>
                <a:ea typeface="+mj-ea"/>
              </a:rPr>
              <a:t>Algorithm</a:t>
            </a:r>
            <a:r>
              <a:rPr kumimoji="0" lang="en-US" sz="4000" b="1" i="0" u="none" strike="noStrike" kern="0" cap="none" spc="-125" normalizeH="0" baseline="0" noProof="0">
                <a:ln>
                  <a:noFill/>
                </a:ln>
                <a:solidFill>
                  <a:sysClr val="windowText" lastClr="000000"/>
                </a:solidFill>
                <a:effectLst/>
                <a:uLnTx/>
                <a:uFillTx/>
                <a:latin typeface="Palatino Linotype"/>
                <a:ea typeface="+mj-ea"/>
              </a:rPr>
              <a:t> </a:t>
            </a:r>
            <a:r>
              <a:rPr kumimoji="0" lang="en-US" sz="4000" b="1" i="0" u="none" strike="noStrike" kern="0" cap="none" spc="0" normalizeH="0" baseline="0" noProof="0">
                <a:ln>
                  <a:noFill/>
                </a:ln>
                <a:solidFill>
                  <a:sysClr val="windowText" lastClr="000000"/>
                </a:solidFill>
                <a:effectLst/>
                <a:uLnTx/>
                <a:uFillTx/>
                <a:latin typeface="Palatino Linotype"/>
                <a:ea typeface="+mj-ea"/>
              </a:rPr>
              <a:t>Details</a:t>
            </a:r>
            <a:r>
              <a:rPr kumimoji="0" lang="en-US" sz="4000" b="1" i="0" u="none" strike="noStrike" kern="0" cap="none" spc="-135" normalizeH="0" baseline="0" noProof="0">
                <a:ln>
                  <a:noFill/>
                </a:ln>
                <a:solidFill>
                  <a:sysClr val="windowText" lastClr="000000"/>
                </a:solidFill>
                <a:effectLst/>
                <a:uLnTx/>
                <a:uFillTx/>
                <a:latin typeface="Palatino Linotype"/>
                <a:ea typeface="+mj-ea"/>
              </a:rPr>
              <a:t> </a:t>
            </a:r>
            <a:r>
              <a:rPr kumimoji="0" lang="en-US" sz="4000" b="1" i="0" u="none" strike="noStrike" kern="0" cap="none" spc="-25" normalizeH="0" baseline="0" noProof="0">
                <a:ln>
                  <a:noFill/>
                </a:ln>
                <a:solidFill>
                  <a:sysClr val="windowText" lastClr="000000"/>
                </a:solidFill>
                <a:effectLst/>
                <a:uLnTx/>
                <a:uFillTx/>
                <a:latin typeface="Palatino Linotype"/>
                <a:ea typeface="+mj-ea"/>
              </a:rPr>
              <a:t>(2)</a:t>
            </a:r>
            <a:endParaRPr kumimoji="0" lang="en-US" sz="4000" b="1" i="0" u="none" strike="noStrike" kern="0" cap="none" spc="-25" normalizeH="0" baseline="0" noProof="0" dirty="0">
              <a:ln>
                <a:noFill/>
              </a:ln>
              <a:solidFill>
                <a:sysClr val="windowText" lastClr="000000"/>
              </a:solidFill>
              <a:effectLst/>
              <a:uLnTx/>
              <a:uFillTx/>
              <a:latin typeface="Palatino Linotype"/>
              <a:ea typeface="+mj-ea"/>
            </a:endParaRPr>
          </a:p>
        </p:txBody>
      </p:sp>
      <p:sp>
        <p:nvSpPr>
          <p:cNvPr id="8" name="object 3">
            <a:extLst>
              <a:ext uri="{FF2B5EF4-FFF2-40B4-BE49-F238E27FC236}">
                <a16:creationId xmlns:a16="http://schemas.microsoft.com/office/drawing/2014/main" id="{346B5556-0B95-4CFD-8EB0-62A1819FBD4F}"/>
              </a:ext>
            </a:extLst>
          </p:cNvPr>
          <p:cNvSpPr txBox="1"/>
          <p:nvPr/>
        </p:nvSpPr>
        <p:spPr>
          <a:xfrm>
            <a:off x="669290" y="1610867"/>
            <a:ext cx="7521575" cy="4068445"/>
          </a:xfrm>
          <a:prstGeom prst="rect">
            <a:avLst/>
          </a:prstGeom>
        </p:spPr>
        <p:txBody>
          <a:bodyPr vert="horz" wrap="square" lIns="0" tIns="12700" rIns="0" bIns="0" rtlCol="0">
            <a:spAutoFit/>
          </a:bodyPr>
          <a:lstStyle/>
          <a:p>
            <a:pPr marL="280670" marR="274955" indent="-230504">
              <a:lnSpc>
                <a:spcPct val="115999"/>
              </a:lnSpc>
              <a:spcBef>
                <a:spcPts val="100"/>
              </a:spcBef>
              <a:buFont typeface="Arial MT"/>
              <a:buChar char="•"/>
              <a:tabLst>
                <a:tab pos="280670" algn="l"/>
                <a:tab pos="4065904" algn="l"/>
              </a:tabLst>
            </a:pPr>
            <a:r>
              <a:rPr sz="2000" dirty="0">
                <a:solidFill>
                  <a:sysClr val="windowText" lastClr="000000"/>
                </a:solidFill>
                <a:latin typeface="Palatino Linotype"/>
                <a:cs typeface="Palatino Linotype"/>
              </a:rPr>
              <a:t>For</a:t>
            </a:r>
            <a:r>
              <a:rPr sz="2000" spc="-3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a</a:t>
            </a:r>
            <a:r>
              <a:rPr sz="2000" spc="-30" dirty="0">
                <a:solidFill>
                  <a:sysClr val="windowText" lastClr="000000"/>
                </a:solidFill>
                <a:latin typeface="Palatino Linotype"/>
                <a:cs typeface="Palatino Linotype"/>
              </a:rPr>
              <a:t> </a:t>
            </a:r>
            <a:r>
              <a:rPr sz="2000" spc="-10" dirty="0">
                <a:solidFill>
                  <a:sysClr val="windowText" lastClr="000000"/>
                </a:solidFill>
                <a:latin typeface="Palatino Linotype"/>
                <a:cs typeface="Palatino Linotype"/>
              </a:rPr>
              <a:t>three-</a:t>
            </a:r>
            <a:r>
              <a:rPr sz="2000" dirty="0">
                <a:solidFill>
                  <a:sysClr val="windowText" lastClr="000000"/>
                </a:solidFill>
                <a:latin typeface="Palatino Linotype"/>
                <a:cs typeface="Palatino Linotype"/>
              </a:rPr>
              <a:t>address</a:t>
            </a:r>
            <a:r>
              <a:rPr sz="2000" spc="-2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instruction</a:t>
            </a:r>
            <a:r>
              <a:rPr sz="2000" spc="-35" dirty="0">
                <a:solidFill>
                  <a:sysClr val="windowText" lastClr="000000"/>
                </a:solidFill>
                <a:latin typeface="Palatino Linotype"/>
                <a:cs typeface="Palatino Linotype"/>
              </a:rPr>
              <a:t> </a:t>
            </a:r>
            <a:r>
              <a:rPr sz="2000" spc="-50" dirty="0">
                <a:solidFill>
                  <a:srgbClr val="FF0000"/>
                </a:solidFill>
                <a:latin typeface="Cambria Math"/>
                <a:cs typeface="Cambria Math"/>
              </a:rPr>
              <a:t>𝑥</a:t>
            </a:r>
            <a:r>
              <a:rPr sz="2000" dirty="0">
                <a:solidFill>
                  <a:srgbClr val="FF0000"/>
                </a:solidFill>
                <a:latin typeface="Cambria Math"/>
                <a:cs typeface="Cambria Math"/>
              </a:rPr>
              <a:t>	=</a:t>
            </a:r>
            <a:r>
              <a:rPr sz="2000" spc="45" dirty="0">
                <a:solidFill>
                  <a:srgbClr val="FF0000"/>
                </a:solidFill>
                <a:latin typeface="Cambria Math"/>
                <a:cs typeface="Cambria Math"/>
              </a:rPr>
              <a:t>  </a:t>
            </a:r>
            <a:r>
              <a:rPr sz="2000" dirty="0">
                <a:solidFill>
                  <a:srgbClr val="FF0000"/>
                </a:solidFill>
                <a:latin typeface="Cambria Math"/>
                <a:cs typeface="Cambria Math"/>
              </a:rPr>
              <a:t>𝑦</a:t>
            </a:r>
            <a:r>
              <a:rPr sz="2000" spc="25" dirty="0">
                <a:solidFill>
                  <a:srgbClr val="FF0000"/>
                </a:solidFill>
                <a:latin typeface="Cambria Math"/>
                <a:cs typeface="Cambria Math"/>
              </a:rPr>
              <a:t> </a:t>
            </a:r>
            <a:r>
              <a:rPr sz="2000" dirty="0">
                <a:solidFill>
                  <a:srgbClr val="FF0000"/>
                </a:solidFill>
                <a:latin typeface="Cambria Math"/>
                <a:cs typeface="Cambria Math"/>
              </a:rPr>
              <a:t>+</a:t>
            </a:r>
            <a:r>
              <a:rPr sz="2000" spc="-5" dirty="0">
                <a:solidFill>
                  <a:srgbClr val="FF0000"/>
                </a:solidFill>
                <a:latin typeface="Cambria Math"/>
                <a:cs typeface="Cambria Math"/>
              </a:rPr>
              <a:t> </a:t>
            </a:r>
            <a:r>
              <a:rPr sz="2000" dirty="0">
                <a:solidFill>
                  <a:srgbClr val="FF0000"/>
                </a:solidFill>
                <a:latin typeface="Cambria Math"/>
                <a:cs typeface="Cambria Math"/>
              </a:rPr>
              <a:t>𝑧</a:t>
            </a:r>
            <a:r>
              <a:rPr sz="2000" spc="75" dirty="0">
                <a:solidFill>
                  <a:srgbClr val="FF0000"/>
                </a:solidFill>
                <a:latin typeface="Cambria Math"/>
                <a:cs typeface="Cambria Math"/>
              </a:rPr>
              <a:t> </a:t>
            </a:r>
            <a:r>
              <a:rPr sz="2000" dirty="0">
                <a:solidFill>
                  <a:sysClr val="windowText" lastClr="000000"/>
                </a:solidFill>
                <a:latin typeface="Palatino Linotype"/>
                <a:cs typeface="Palatino Linotype"/>
              </a:rPr>
              <a:t>(here,</a:t>
            </a:r>
            <a:r>
              <a:rPr sz="2000" spc="-15" dirty="0">
                <a:solidFill>
                  <a:sysClr val="windowText" lastClr="000000"/>
                </a:solidFill>
                <a:latin typeface="Palatino Linotype"/>
                <a:cs typeface="Palatino Linotype"/>
              </a:rPr>
              <a:t> </a:t>
            </a:r>
            <a:r>
              <a:rPr sz="2000" dirty="0">
                <a:solidFill>
                  <a:sysClr val="windowText" lastClr="000000"/>
                </a:solidFill>
                <a:latin typeface="Cambria Math"/>
                <a:cs typeface="Cambria Math"/>
              </a:rPr>
              <a:t>+</a:t>
            </a:r>
            <a:r>
              <a:rPr sz="2000" spc="55" dirty="0">
                <a:solidFill>
                  <a:sysClr val="windowText" lastClr="000000"/>
                </a:solidFill>
                <a:latin typeface="Cambria Math"/>
                <a:cs typeface="Cambria Math"/>
              </a:rPr>
              <a:t> </a:t>
            </a:r>
            <a:r>
              <a:rPr sz="2000" dirty="0">
                <a:solidFill>
                  <a:sysClr val="windowText" lastClr="000000"/>
                </a:solidFill>
                <a:latin typeface="Palatino Linotype"/>
                <a:cs typeface="Palatino Linotype"/>
              </a:rPr>
              <a:t>is</a:t>
            </a:r>
            <a:r>
              <a:rPr sz="2000" spc="-1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a</a:t>
            </a:r>
            <a:r>
              <a:rPr sz="2000" spc="-15" dirty="0">
                <a:solidFill>
                  <a:sysClr val="windowText" lastClr="000000"/>
                </a:solidFill>
                <a:latin typeface="Palatino Linotype"/>
                <a:cs typeface="Palatino Linotype"/>
              </a:rPr>
              <a:t> </a:t>
            </a:r>
            <a:r>
              <a:rPr sz="2000" spc="-10" dirty="0">
                <a:solidFill>
                  <a:srgbClr val="FF0000"/>
                </a:solidFill>
                <a:latin typeface="Palatino Linotype"/>
                <a:cs typeface="Palatino Linotype"/>
              </a:rPr>
              <a:t>generic </a:t>
            </a:r>
            <a:r>
              <a:rPr sz="2000" dirty="0">
                <a:solidFill>
                  <a:srgbClr val="FF0000"/>
                </a:solidFill>
                <a:latin typeface="Palatino Linotype"/>
                <a:cs typeface="Palatino Linotype"/>
              </a:rPr>
              <a:t>operator</a:t>
            </a:r>
            <a:r>
              <a:rPr sz="2000" dirty="0">
                <a:solidFill>
                  <a:sysClr val="windowText" lastClr="000000"/>
                </a:solidFill>
                <a:latin typeface="Palatino Linotype"/>
                <a:cs typeface="Palatino Linotype"/>
              </a:rPr>
              <a:t>),</a:t>
            </a:r>
            <a:r>
              <a:rPr sz="2000" spc="-3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do</a:t>
            </a:r>
            <a:r>
              <a:rPr sz="2000" spc="-3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the</a:t>
            </a:r>
            <a:r>
              <a:rPr sz="2000" spc="-30" dirty="0">
                <a:solidFill>
                  <a:sysClr val="windowText" lastClr="000000"/>
                </a:solidFill>
                <a:latin typeface="Palatino Linotype"/>
                <a:cs typeface="Palatino Linotype"/>
              </a:rPr>
              <a:t> </a:t>
            </a:r>
            <a:r>
              <a:rPr sz="2000" spc="-10" dirty="0">
                <a:solidFill>
                  <a:sysClr val="windowText" lastClr="000000"/>
                </a:solidFill>
                <a:latin typeface="Palatino Linotype"/>
                <a:cs typeface="Palatino Linotype"/>
              </a:rPr>
              <a:t>following:</a:t>
            </a:r>
            <a:endParaRPr sz="2000">
              <a:solidFill>
                <a:sysClr val="windowText" lastClr="000000"/>
              </a:solidFill>
              <a:latin typeface="Palatino Linotype"/>
              <a:cs typeface="Palatino Linotype"/>
            </a:endParaRPr>
          </a:p>
          <a:p>
            <a:pPr>
              <a:spcBef>
                <a:spcPts val="305"/>
              </a:spcBef>
              <a:buFont typeface="Arial MT"/>
              <a:buChar char="•"/>
            </a:pPr>
            <a:endParaRPr sz="2000">
              <a:solidFill>
                <a:sysClr val="windowText" lastClr="000000"/>
              </a:solidFill>
              <a:latin typeface="Palatino Linotype"/>
              <a:cs typeface="Palatino Linotype"/>
            </a:endParaRPr>
          </a:p>
          <a:p>
            <a:pPr marL="850265" lvl="1" indent="-342265">
              <a:spcBef>
                <a:spcPts val="5"/>
              </a:spcBef>
              <a:buFontTx/>
              <a:buAutoNum type="arabicPeriod"/>
              <a:tabLst>
                <a:tab pos="850265" algn="l"/>
              </a:tabLst>
            </a:pPr>
            <a:r>
              <a:rPr dirty="0">
                <a:solidFill>
                  <a:sysClr val="windowText" lastClr="000000"/>
                </a:solidFill>
                <a:latin typeface="Palatino Linotype"/>
                <a:cs typeface="Palatino Linotype"/>
              </a:rPr>
              <a:t>Use </a:t>
            </a:r>
            <a:r>
              <a:rPr dirty="0">
                <a:solidFill>
                  <a:sysClr val="windowText" lastClr="000000"/>
                </a:solidFill>
                <a:latin typeface="Cambria Math"/>
                <a:cs typeface="Cambria Math"/>
              </a:rPr>
              <a:t>𝑔𝑒𝑡𝑅𝑒𝑔()</a:t>
            </a:r>
            <a:r>
              <a:rPr spc="55" dirty="0">
                <a:solidFill>
                  <a:sysClr val="windowText" lastClr="000000"/>
                </a:solidFill>
                <a:latin typeface="Cambria Math"/>
                <a:cs typeface="Cambria Math"/>
              </a:rPr>
              <a:t> </a:t>
            </a:r>
            <a:r>
              <a:rPr dirty="0">
                <a:solidFill>
                  <a:sysClr val="windowText" lastClr="000000"/>
                </a:solidFill>
                <a:latin typeface="Palatino Linotype"/>
                <a:cs typeface="Palatino Linotype"/>
              </a:rPr>
              <a:t>to </a:t>
            </a:r>
            <a:r>
              <a:rPr dirty="0">
                <a:solidFill>
                  <a:srgbClr val="0432FF"/>
                </a:solidFill>
                <a:latin typeface="Palatino Linotype"/>
                <a:cs typeface="Palatino Linotype"/>
              </a:rPr>
              <a:t>select registers</a:t>
            </a:r>
            <a:r>
              <a:rPr spc="-5" dirty="0">
                <a:solidFill>
                  <a:srgbClr val="0432FF"/>
                </a:solidFill>
                <a:latin typeface="Palatino Linotype"/>
                <a:cs typeface="Palatino Linotype"/>
              </a:rPr>
              <a:t> </a:t>
            </a:r>
            <a:r>
              <a:rPr dirty="0">
                <a:solidFill>
                  <a:sysClr val="windowText" lastClr="000000"/>
                </a:solidFill>
                <a:latin typeface="Cambria Math"/>
                <a:cs typeface="Cambria Math"/>
              </a:rPr>
              <a:t>𝑅</a:t>
            </a:r>
            <a:r>
              <a:rPr sz="1950" baseline="-14957" dirty="0">
                <a:solidFill>
                  <a:sysClr val="windowText" lastClr="000000"/>
                </a:solidFill>
                <a:latin typeface="Cambria Math"/>
                <a:cs typeface="Cambria Math"/>
              </a:rPr>
              <a:t>𝑥</a:t>
            </a:r>
            <a:r>
              <a:rPr dirty="0">
                <a:solidFill>
                  <a:sysClr val="windowText" lastClr="000000"/>
                </a:solidFill>
                <a:latin typeface="Palatino Linotype"/>
                <a:cs typeface="Palatino Linotype"/>
              </a:rPr>
              <a:t>, </a:t>
            </a:r>
            <a:r>
              <a:rPr spc="55" dirty="0">
                <a:solidFill>
                  <a:sysClr val="windowText" lastClr="000000"/>
                </a:solidFill>
                <a:latin typeface="Cambria Math"/>
                <a:cs typeface="Cambria Math"/>
              </a:rPr>
              <a:t>𝑅</a:t>
            </a:r>
            <a:r>
              <a:rPr sz="1950" spc="82" baseline="-14957" dirty="0">
                <a:solidFill>
                  <a:sysClr val="windowText" lastClr="000000"/>
                </a:solidFill>
                <a:latin typeface="Cambria Math"/>
                <a:cs typeface="Cambria Math"/>
              </a:rPr>
              <a:t>𝑦</a:t>
            </a:r>
            <a:r>
              <a:rPr spc="55" dirty="0">
                <a:solidFill>
                  <a:sysClr val="windowText" lastClr="000000"/>
                </a:solidFill>
                <a:latin typeface="Palatino Linotype"/>
                <a:cs typeface="Palatino Linotype"/>
              </a:rPr>
              <a:t>,</a:t>
            </a:r>
            <a:r>
              <a:rPr dirty="0">
                <a:solidFill>
                  <a:sysClr val="windowText" lastClr="000000"/>
                </a:solidFill>
                <a:latin typeface="Palatino Linotype"/>
                <a:cs typeface="Palatino Linotype"/>
              </a:rPr>
              <a:t> and </a:t>
            </a:r>
            <a:r>
              <a:rPr dirty="0">
                <a:solidFill>
                  <a:sysClr val="windowText" lastClr="000000"/>
                </a:solidFill>
                <a:latin typeface="Cambria Math"/>
                <a:cs typeface="Cambria Math"/>
              </a:rPr>
              <a:t>𝑅</a:t>
            </a:r>
            <a:r>
              <a:rPr sz="1950" baseline="-14957" dirty="0">
                <a:solidFill>
                  <a:sysClr val="windowText" lastClr="000000"/>
                </a:solidFill>
                <a:latin typeface="Cambria Math"/>
                <a:cs typeface="Cambria Math"/>
              </a:rPr>
              <a:t>𝑧</a:t>
            </a:r>
            <a:r>
              <a:rPr sz="1950" spc="412" baseline="-14957" dirty="0">
                <a:solidFill>
                  <a:sysClr val="windowText" lastClr="000000"/>
                </a:solidFill>
                <a:latin typeface="Cambria Math"/>
                <a:cs typeface="Cambria Math"/>
              </a:rPr>
              <a:t> </a:t>
            </a:r>
            <a:r>
              <a:rPr dirty="0">
                <a:solidFill>
                  <a:sysClr val="windowText" lastClr="000000"/>
                </a:solidFill>
                <a:latin typeface="Palatino Linotype"/>
                <a:cs typeface="Palatino Linotype"/>
              </a:rPr>
              <a:t>for </a:t>
            </a:r>
            <a:r>
              <a:rPr dirty="0">
                <a:solidFill>
                  <a:sysClr val="windowText" lastClr="000000"/>
                </a:solidFill>
                <a:latin typeface="Cambria Math"/>
                <a:cs typeface="Cambria Math"/>
              </a:rPr>
              <a:t>𝑥</a:t>
            </a:r>
            <a:r>
              <a:rPr dirty="0">
                <a:solidFill>
                  <a:sysClr val="windowText" lastClr="000000"/>
                </a:solidFill>
                <a:latin typeface="Palatino Linotype"/>
                <a:cs typeface="Palatino Linotype"/>
              </a:rPr>
              <a:t>, </a:t>
            </a:r>
            <a:r>
              <a:rPr dirty="0">
                <a:solidFill>
                  <a:sysClr val="windowText" lastClr="000000"/>
                </a:solidFill>
                <a:latin typeface="Cambria Math"/>
                <a:cs typeface="Cambria Math"/>
              </a:rPr>
              <a:t>𝑦</a:t>
            </a:r>
            <a:r>
              <a:rPr dirty="0">
                <a:solidFill>
                  <a:sysClr val="windowText" lastClr="000000"/>
                </a:solidFill>
                <a:latin typeface="Palatino Linotype"/>
                <a:cs typeface="Palatino Linotype"/>
              </a:rPr>
              <a:t>, and </a:t>
            </a:r>
            <a:r>
              <a:rPr spc="-50" dirty="0">
                <a:solidFill>
                  <a:sysClr val="windowText" lastClr="000000"/>
                </a:solidFill>
                <a:latin typeface="Cambria Math"/>
                <a:cs typeface="Cambria Math"/>
              </a:rPr>
              <a:t>𝑧</a:t>
            </a:r>
            <a:endParaRPr>
              <a:solidFill>
                <a:sysClr val="windowText" lastClr="000000"/>
              </a:solidFill>
              <a:latin typeface="Cambria Math"/>
              <a:cs typeface="Cambria Math"/>
            </a:endParaRPr>
          </a:p>
          <a:p>
            <a:pPr marL="0" lvl="1">
              <a:spcBef>
                <a:spcPts val="409"/>
              </a:spcBef>
              <a:buFont typeface="Palatino Linotype"/>
              <a:buAutoNum type="arabicPeriod"/>
            </a:pPr>
            <a:endParaRPr>
              <a:solidFill>
                <a:sysClr val="windowText" lastClr="000000"/>
              </a:solidFill>
              <a:latin typeface="Cambria Math"/>
              <a:cs typeface="Cambria Math"/>
            </a:endParaRPr>
          </a:p>
          <a:p>
            <a:pPr marL="850900" marR="238760" lvl="1" indent="-342900">
              <a:lnSpc>
                <a:spcPct val="124400"/>
              </a:lnSpc>
              <a:buFontTx/>
              <a:buAutoNum type="arabicPeriod"/>
              <a:tabLst>
                <a:tab pos="850900" algn="l"/>
              </a:tabLst>
            </a:pPr>
            <a:r>
              <a:rPr dirty="0">
                <a:solidFill>
                  <a:sysClr val="windowText" lastClr="000000"/>
                </a:solidFill>
                <a:latin typeface="Palatino Linotype"/>
                <a:cs typeface="Palatino Linotype"/>
              </a:rPr>
              <a:t>If</a:t>
            </a:r>
            <a:r>
              <a:rPr spc="-25" dirty="0">
                <a:solidFill>
                  <a:sysClr val="windowText" lastClr="000000"/>
                </a:solidFill>
                <a:latin typeface="Palatino Linotype"/>
                <a:cs typeface="Palatino Linotype"/>
              </a:rPr>
              <a:t> </a:t>
            </a:r>
            <a:r>
              <a:rPr dirty="0">
                <a:solidFill>
                  <a:sysClr val="windowText" lastClr="000000"/>
                </a:solidFill>
                <a:latin typeface="Cambria Math"/>
                <a:cs typeface="Cambria Math"/>
              </a:rPr>
              <a:t>𝑦</a:t>
            </a:r>
            <a:r>
              <a:rPr spc="60" dirty="0">
                <a:solidFill>
                  <a:sysClr val="windowText" lastClr="000000"/>
                </a:solidFill>
                <a:latin typeface="Cambria Math"/>
                <a:cs typeface="Cambria Math"/>
              </a:rPr>
              <a:t> </a:t>
            </a:r>
            <a:r>
              <a:rPr dirty="0">
                <a:solidFill>
                  <a:sysClr val="windowText" lastClr="000000"/>
                </a:solidFill>
                <a:latin typeface="Palatino Linotype"/>
                <a:cs typeface="Palatino Linotype"/>
              </a:rPr>
              <a:t>is</a:t>
            </a:r>
            <a:r>
              <a:rPr spc="-30"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not</a:t>
            </a:r>
            <a:r>
              <a:rPr spc="-25"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in</a:t>
            </a:r>
            <a:r>
              <a:rPr spc="-20" dirty="0">
                <a:solidFill>
                  <a:sysClr val="windowText" lastClr="000000"/>
                </a:solidFill>
                <a:latin typeface="Palatino Linotype"/>
                <a:cs typeface="Palatino Linotype"/>
              </a:rPr>
              <a:t> </a:t>
            </a:r>
            <a:r>
              <a:rPr spc="55" dirty="0">
                <a:solidFill>
                  <a:sysClr val="windowText" lastClr="000000"/>
                </a:solidFill>
                <a:latin typeface="Cambria Math"/>
                <a:cs typeface="Cambria Math"/>
              </a:rPr>
              <a:t>𝑅</a:t>
            </a:r>
            <a:r>
              <a:rPr sz="1950" spc="82" baseline="-14957" dirty="0">
                <a:solidFill>
                  <a:sysClr val="windowText" lastClr="000000"/>
                </a:solidFill>
                <a:latin typeface="Cambria Math"/>
                <a:cs typeface="Cambria Math"/>
              </a:rPr>
              <a:t>𝑦</a:t>
            </a:r>
            <a:r>
              <a:rPr spc="55" dirty="0">
                <a:solidFill>
                  <a:sysClr val="windowText" lastClr="000000"/>
                </a:solidFill>
                <a:latin typeface="Palatino Linotype"/>
                <a:cs typeface="Palatino Linotype"/>
              </a:rPr>
              <a:t>,</a:t>
            </a:r>
            <a:r>
              <a:rPr spc="-25"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according</a:t>
            </a:r>
            <a:r>
              <a:rPr spc="-30"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to</a:t>
            </a:r>
            <a:r>
              <a:rPr spc="-20"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the</a:t>
            </a:r>
            <a:r>
              <a:rPr spc="-25" dirty="0">
                <a:solidFill>
                  <a:sysClr val="windowText" lastClr="000000"/>
                </a:solidFill>
                <a:latin typeface="Palatino Linotype"/>
                <a:cs typeface="Palatino Linotype"/>
              </a:rPr>
              <a:t> </a:t>
            </a:r>
            <a:r>
              <a:rPr dirty="0">
                <a:solidFill>
                  <a:srgbClr val="FF0000"/>
                </a:solidFill>
                <a:latin typeface="Palatino Linotype"/>
                <a:cs typeface="Palatino Linotype"/>
              </a:rPr>
              <a:t>register</a:t>
            </a:r>
            <a:r>
              <a:rPr spc="-25" dirty="0">
                <a:solidFill>
                  <a:srgbClr val="FF0000"/>
                </a:solidFill>
                <a:latin typeface="Palatino Linotype"/>
                <a:cs typeface="Palatino Linotype"/>
              </a:rPr>
              <a:t> </a:t>
            </a:r>
            <a:r>
              <a:rPr dirty="0">
                <a:solidFill>
                  <a:srgbClr val="FF0000"/>
                </a:solidFill>
                <a:latin typeface="Palatino Linotype"/>
                <a:cs typeface="Palatino Linotype"/>
              </a:rPr>
              <a:t>descriptor</a:t>
            </a:r>
            <a:r>
              <a:rPr spc="-25" dirty="0">
                <a:solidFill>
                  <a:srgbClr val="FF0000"/>
                </a:solidFill>
                <a:latin typeface="Palatino Linotype"/>
                <a:cs typeface="Palatino Linotype"/>
              </a:rPr>
              <a:t> </a:t>
            </a:r>
            <a:r>
              <a:rPr dirty="0">
                <a:solidFill>
                  <a:sysClr val="windowText" lastClr="000000"/>
                </a:solidFill>
                <a:latin typeface="Palatino Linotype"/>
                <a:cs typeface="Palatino Linotype"/>
              </a:rPr>
              <a:t>for</a:t>
            </a:r>
            <a:r>
              <a:rPr spc="-20" dirty="0">
                <a:solidFill>
                  <a:sysClr val="windowText" lastClr="000000"/>
                </a:solidFill>
                <a:latin typeface="Palatino Linotype"/>
                <a:cs typeface="Palatino Linotype"/>
              </a:rPr>
              <a:t> </a:t>
            </a:r>
            <a:r>
              <a:rPr spc="55" dirty="0">
                <a:solidFill>
                  <a:sysClr val="windowText" lastClr="000000"/>
                </a:solidFill>
                <a:latin typeface="Cambria Math"/>
                <a:cs typeface="Cambria Math"/>
              </a:rPr>
              <a:t>𝑅</a:t>
            </a:r>
            <a:r>
              <a:rPr sz="1950" spc="82" baseline="-14957" dirty="0">
                <a:solidFill>
                  <a:sysClr val="windowText" lastClr="000000"/>
                </a:solidFill>
                <a:latin typeface="Cambria Math"/>
                <a:cs typeface="Cambria Math"/>
              </a:rPr>
              <a:t>𝑦</a:t>
            </a:r>
            <a:r>
              <a:rPr spc="55" dirty="0">
                <a:solidFill>
                  <a:sysClr val="windowText" lastClr="000000"/>
                </a:solidFill>
                <a:latin typeface="Palatino Linotype"/>
                <a:cs typeface="Palatino Linotype"/>
              </a:rPr>
              <a:t>,</a:t>
            </a:r>
            <a:r>
              <a:rPr spc="-25" dirty="0">
                <a:solidFill>
                  <a:sysClr val="windowText" lastClr="000000"/>
                </a:solidFill>
                <a:latin typeface="Palatino Linotype"/>
                <a:cs typeface="Palatino Linotype"/>
              </a:rPr>
              <a:t> </a:t>
            </a:r>
            <a:r>
              <a:rPr spc="-20" dirty="0">
                <a:solidFill>
                  <a:sysClr val="windowText" lastClr="000000"/>
                </a:solidFill>
                <a:latin typeface="Palatino Linotype"/>
                <a:cs typeface="Palatino Linotype"/>
              </a:rPr>
              <a:t>then </a:t>
            </a:r>
            <a:r>
              <a:rPr dirty="0">
                <a:solidFill>
                  <a:sysClr val="windowText" lastClr="000000"/>
                </a:solidFill>
                <a:latin typeface="Palatino Linotype"/>
                <a:cs typeface="Palatino Linotype"/>
              </a:rPr>
              <a:t>generate</a:t>
            </a:r>
            <a:r>
              <a:rPr spc="-50"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an</a:t>
            </a:r>
            <a:r>
              <a:rPr spc="-45" dirty="0">
                <a:solidFill>
                  <a:sysClr val="windowText" lastClr="000000"/>
                </a:solidFill>
                <a:latin typeface="Palatino Linotype"/>
                <a:cs typeface="Palatino Linotype"/>
              </a:rPr>
              <a:t> </a:t>
            </a:r>
            <a:r>
              <a:rPr spc="-10" dirty="0">
                <a:solidFill>
                  <a:sysClr val="windowText" lastClr="000000"/>
                </a:solidFill>
                <a:latin typeface="Palatino Linotype"/>
                <a:cs typeface="Palatino Linotype"/>
              </a:rPr>
              <a:t>instruction</a:t>
            </a:r>
            <a:endParaRPr>
              <a:solidFill>
                <a:sysClr val="windowText" lastClr="000000"/>
              </a:solidFill>
              <a:latin typeface="Palatino Linotype"/>
              <a:cs typeface="Palatino Linotype"/>
            </a:endParaRPr>
          </a:p>
          <a:p>
            <a:pPr marL="1192530" lvl="2" indent="-227965">
              <a:spcBef>
                <a:spcPts val="1135"/>
              </a:spcBef>
              <a:buClr>
                <a:srgbClr val="000000"/>
              </a:buClr>
              <a:buFont typeface="Courier New"/>
              <a:buChar char="o"/>
              <a:tabLst>
                <a:tab pos="1192530" algn="l"/>
                <a:tab pos="2272030" algn="l"/>
              </a:tabLst>
            </a:pPr>
            <a:r>
              <a:rPr sz="1600" dirty="0">
                <a:solidFill>
                  <a:srgbClr val="0432FF"/>
                </a:solidFill>
                <a:latin typeface="Palatino Linotype"/>
                <a:cs typeface="Palatino Linotype"/>
              </a:rPr>
              <a:t>LD</a:t>
            </a:r>
            <a:r>
              <a:rPr sz="1600" spc="50" dirty="0">
                <a:solidFill>
                  <a:srgbClr val="0432FF"/>
                </a:solidFill>
                <a:latin typeface="Palatino Linotype"/>
                <a:cs typeface="Palatino Linotype"/>
              </a:rPr>
              <a:t> </a:t>
            </a:r>
            <a:r>
              <a:rPr sz="1600" dirty="0">
                <a:solidFill>
                  <a:srgbClr val="0432FF"/>
                </a:solidFill>
                <a:latin typeface="Cambria Math"/>
                <a:cs typeface="Cambria Math"/>
              </a:rPr>
              <a:t>𝑅</a:t>
            </a:r>
            <a:r>
              <a:rPr baseline="-16203" dirty="0">
                <a:solidFill>
                  <a:srgbClr val="0432FF"/>
                </a:solidFill>
                <a:latin typeface="Cambria Math"/>
                <a:cs typeface="Cambria Math"/>
              </a:rPr>
              <a:t>𝑦</a:t>
            </a:r>
            <a:r>
              <a:rPr sz="1600" dirty="0">
                <a:solidFill>
                  <a:srgbClr val="0432FF"/>
                </a:solidFill>
                <a:latin typeface="Palatino Linotype"/>
                <a:cs typeface="Palatino Linotype"/>
              </a:rPr>
              <a:t>,</a:t>
            </a:r>
            <a:r>
              <a:rPr sz="1600" spc="55" dirty="0">
                <a:solidFill>
                  <a:srgbClr val="0432FF"/>
                </a:solidFill>
                <a:latin typeface="Palatino Linotype"/>
                <a:cs typeface="Palatino Linotype"/>
              </a:rPr>
              <a:t> </a:t>
            </a:r>
            <a:r>
              <a:rPr sz="1600" spc="-25" dirty="0">
                <a:solidFill>
                  <a:srgbClr val="0432FF"/>
                </a:solidFill>
                <a:latin typeface="Cambria Math"/>
                <a:cs typeface="Cambria Math"/>
              </a:rPr>
              <a:t>𝑦’</a:t>
            </a:r>
            <a:r>
              <a:rPr sz="1600" dirty="0">
                <a:solidFill>
                  <a:srgbClr val="0432FF"/>
                </a:solidFill>
                <a:latin typeface="Cambria Math"/>
                <a:cs typeface="Cambria Math"/>
              </a:rPr>
              <a:t>	</a:t>
            </a:r>
            <a:r>
              <a:rPr sz="1600" dirty="0">
                <a:solidFill>
                  <a:sysClr val="windowText" lastClr="000000"/>
                </a:solidFill>
                <a:latin typeface="Palatino Linotype"/>
                <a:cs typeface="Palatino Linotype"/>
              </a:rPr>
              <a:t>//</a:t>
            </a:r>
            <a:r>
              <a:rPr sz="1600" spc="-20" dirty="0">
                <a:solidFill>
                  <a:sysClr val="windowText" lastClr="000000"/>
                </a:solidFill>
                <a:latin typeface="Palatino Linotype"/>
                <a:cs typeface="Palatino Linotype"/>
              </a:rPr>
              <a:t> </a:t>
            </a:r>
            <a:r>
              <a:rPr sz="1600" dirty="0">
                <a:solidFill>
                  <a:sysClr val="windowText" lastClr="000000"/>
                </a:solidFill>
                <a:latin typeface="Cambria Math"/>
                <a:cs typeface="Cambria Math"/>
              </a:rPr>
              <a:t>𝑦’</a:t>
            </a:r>
            <a:r>
              <a:rPr sz="1600" spc="25" dirty="0">
                <a:solidFill>
                  <a:sysClr val="windowText" lastClr="000000"/>
                </a:solidFill>
                <a:latin typeface="Cambria Math"/>
                <a:cs typeface="Cambria Math"/>
              </a:rPr>
              <a:t> </a:t>
            </a:r>
            <a:r>
              <a:rPr sz="1600" dirty="0">
                <a:solidFill>
                  <a:sysClr val="windowText" lastClr="000000"/>
                </a:solidFill>
                <a:latin typeface="Palatino Linotype"/>
                <a:cs typeface="Palatino Linotype"/>
              </a:rPr>
              <a:t>is</a:t>
            </a:r>
            <a:r>
              <a:rPr sz="1600" spc="-20" dirty="0">
                <a:solidFill>
                  <a:sysClr val="windowText" lastClr="000000"/>
                </a:solidFill>
                <a:latin typeface="Palatino Linotype"/>
                <a:cs typeface="Palatino Linotype"/>
              </a:rPr>
              <a:t> </a:t>
            </a:r>
            <a:r>
              <a:rPr sz="1600" u="sng" dirty="0">
                <a:solidFill>
                  <a:sysClr val="windowText" lastClr="000000"/>
                </a:solidFill>
                <a:uFill>
                  <a:solidFill>
                    <a:srgbClr val="000000"/>
                  </a:solidFill>
                </a:uFill>
                <a:latin typeface="Palatino Linotype"/>
                <a:cs typeface="Palatino Linotype"/>
              </a:rPr>
              <a:t>a</a:t>
            </a:r>
            <a:r>
              <a:rPr sz="1600" u="sng" spc="-15" dirty="0">
                <a:solidFill>
                  <a:sysClr val="windowText" lastClr="000000"/>
                </a:solidFill>
                <a:uFill>
                  <a:solidFill>
                    <a:srgbClr val="000000"/>
                  </a:solidFill>
                </a:uFill>
                <a:latin typeface="Palatino Linotype"/>
                <a:cs typeface="Palatino Linotype"/>
              </a:rPr>
              <a:t> </a:t>
            </a:r>
            <a:r>
              <a:rPr sz="1600" u="sng" dirty="0">
                <a:solidFill>
                  <a:sysClr val="windowText" lastClr="000000"/>
                </a:solidFill>
                <a:uFill>
                  <a:solidFill>
                    <a:srgbClr val="000000"/>
                  </a:solidFill>
                </a:uFill>
                <a:latin typeface="Palatino Linotype"/>
                <a:cs typeface="Palatino Linotype"/>
              </a:rPr>
              <a:t>mem</a:t>
            </a:r>
            <a:r>
              <a:rPr sz="1600" u="sng" spc="-20" dirty="0">
                <a:solidFill>
                  <a:sysClr val="windowText" lastClr="000000"/>
                </a:solidFill>
                <a:uFill>
                  <a:solidFill>
                    <a:srgbClr val="000000"/>
                  </a:solidFill>
                </a:uFill>
                <a:latin typeface="Palatino Linotype"/>
                <a:cs typeface="Palatino Linotype"/>
              </a:rPr>
              <a:t> </a:t>
            </a:r>
            <a:r>
              <a:rPr sz="1600" u="sng" dirty="0">
                <a:solidFill>
                  <a:sysClr val="windowText" lastClr="000000"/>
                </a:solidFill>
                <a:uFill>
                  <a:solidFill>
                    <a:srgbClr val="000000"/>
                  </a:solidFill>
                </a:uFill>
                <a:latin typeface="Palatino Linotype"/>
                <a:cs typeface="Palatino Linotype"/>
              </a:rPr>
              <a:t>loc</a:t>
            </a:r>
            <a:r>
              <a:rPr sz="1600" spc="-15"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for</a:t>
            </a:r>
            <a:r>
              <a:rPr sz="1600" spc="-10" dirty="0">
                <a:solidFill>
                  <a:sysClr val="windowText" lastClr="000000"/>
                </a:solidFill>
                <a:latin typeface="Palatino Linotype"/>
                <a:cs typeface="Palatino Linotype"/>
              </a:rPr>
              <a:t> </a:t>
            </a:r>
            <a:r>
              <a:rPr sz="1600" dirty="0">
                <a:solidFill>
                  <a:sysClr val="windowText" lastClr="000000"/>
                </a:solidFill>
                <a:latin typeface="Cambria Math"/>
                <a:cs typeface="Cambria Math"/>
              </a:rPr>
              <a:t>𝑦</a:t>
            </a:r>
            <a:r>
              <a:rPr sz="1600" spc="55" dirty="0">
                <a:solidFill>
                  <a:sysClr val="windowText" lastClr="000000"/>
                </a:solidFill>
                <a:latin typeface="Cambria Math"/>
                <a:cs typeface="Cambria Math"/>
              </a:rPr>
              <a:t> </a:t>
            </a:r>
            <a:r>
              <a:rPr sz="1600" dirty="0">
                <a:solidFill>
                  <a:sysClr val="windowText" lastClr="000000"/>
                </a:solidFill>
                <a:latin typeface="Palatino Linotype"/>
                <a:cs typeface="Palatino Linotype"/>
              </a:rPr>
              <a:t>according</a:t>
            </a:r>
            <a:r>
              <a:rPr sz="1600" spc="-20"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to</a:t>
            </a:r>
            <a:r>
              <a:rPr sz="1600" spc="-15" dirty="0">
                <a:solidFill>
                  <a:sysClr val="windowText" lastClr="000000"/>
                </a:solidFill>
                <a:latin typeface="Palatino Linotype"/>
                <a:cs typeface="Palatino Linotype"/>
              </a:rPr>
              <a:t> </a:t>
            </a:r>
            <a:r>
              <a:rPr sz="1600" spc="-40" dirty="0">
                <a:solidFill>
                  <a:sysClr val="windowText" lastClr="000000"/>
                </a:solidFill>
                <a:latin typeface="Cambria Math"/>
                <a:cs typeface="Cambria Math"/>
              </a:rPr>
              <a:t>𝑦</a:t>
            </a:r>
            <a:r>
              <a:rPr sz="1600" spc="-40" dirty="0">
                <a:solidFill>
                  <a:sysClr val="windowText" lastClr="000000"/>
                </a:solidFill>
                <a:latin typeface="Palatino Linotype"/>
                <a:cs typeface="Palatino Linotype"/>
              </a:rPr>
              <a:t>’s</a:t>
            </a:r>
            <a:r>
              <a:rPr sz="1600" spc="-20" dirty="0">
                <a:solidFill>
                  <a:sysClr val="windowText" lastClr="000000"/>
                </a:solidFill>
                <a:latin typeface="Palatino Linotype"/>
                <a:cs typeface="Palatino Linotype"/>
              </a:rPr>
              <a:t> </a:t>
            </a:r>
            <a:r>
              <a:rPr sz="1600" dirty="0">
                <a:solidFill>
                  <a:srgbClr val="FF0000"/>
                </a:solidFill>
                <a:latin typeface="Palatino Linotype"/>
                <a:cs typeface="Palatino Linotype"/>
              </a:rPr>
              <a:t>address</a:t>
            </a:r>
            <a:r>
              <a:rPr sz="1600" spc="-25" dirty="0">
                <a:solidFill>
                  <a:srgbClr val="FF0000"/>
                </a:solidFill>
                <a:latin typeface="Palatino Linotype"/>
                <a:cs typeface="Palatino Linotype"/>
              </a:rPr>
              <a:t> </a:t>
            </a:r>
            <a:r>
              <a:rPr sz="1600" spc="-10" dirty="0">
                <a:solidFill>
                  <a:srgbClr val="FF0000"/>
                </a:solidFill>
                <a:latin typeface="Palatino Linotype"/>
                <a:cs typeface="Palatino Linotype"/>
              </a:rPr>
              <a:t>descriptor</a:t>
            </a:r>
            <a:endParaRPr sz="1600">
              <a:solidFill>
                <a:sysClr val="windowText" lastClr="000000"/>
              </a:solidFill>
              <a:latin typeface="Palatino Linotype"/>
              <a:cs typeface="Palatino Linotype"/>
            </a:endParaRPr>
          </a:p>
          <a:p>
            <a:pPr marL="0" lvl="2">
              <a:spcBef>
                <a:spcPts val="735"/>
              </a:spcBef>
              <a:buFont typeface="Courier New"/>
              <a:buChar char="o"/>
            </a:pPr>
            <a:endParaRPr sz="1600">
              <a:solidFill>
                <a:sysClr val="windowText" lastClr="000000"/>
              </a:solidFill>
              <a:latin typeface="Palatino Linotype"/>
              <a:cs typeface="Palatino Linotype"/>
            </a:endParaRPr>
          </a:p>
          <a:p>
            <a:pPr marL="850265" lvl="1" indent="-342265">
              <a:buFontTx/>
              <a:buAutoNum type="arabicPeriod"/>
              <a:tabLst>
                <a:tab pos="850265" algn="l"/>
              </a:tabLst>
            </a:pPr>
            <a:r>
              <a:rPr dirty="0">
                <a:solidFill>
                  <a:sysClr val="windowText" lastClr="000000"/>
                </a:solidFill>
                <a:latin typeface="Palatino Linotype"/>
                <a:cs typeface="Palatino Linotype"/>
              </a:rPr>
              <a:t>Similar</a:t>
            </a:r>
            <a:r>
              <a:rPr spc="-5"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to</a:t>
            </a:r>
            <a:r>
              <a:rPr spc="-5"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step 2,</a:t>
            </a:r>
            <a:r>
              <a:rPr spc="-5"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generate </a:t>
            </a:r>
            <a:r>
              <a:rPr dirty="0">
                <a:solidFill>
                  <a:srgbClr val="0432FF"/>
                </a:solidFill>
                <a:latin typeface="Palatino Linotype"/>
                <a:cs typeface="Palatino Linotype"/>
              </a:rPr>
              <a:t>LD</a:t>
            </a:r>
            <a:r>
              <a:rPr spc="-15" dirty="0">
                <a:solidFill>
                  <a:srgbClr val="0432FF"/>
                </a:solidFill>
                <a:latin typeface="Palatino Linotype"/>
                <a:cs typeface="Palatino Linotype"/>
              </a:rPr>
              <a:t> </a:t>
            </a:r>
            <a:r>
              <a:rPr dirty="0">
                <a:solidFill>
                  <a:srgbClr val="0432FF"/>
                </a:solidFill>
                <a:latin typeface="Cambria Math"/>
                <a:cs typeface="Cambria Math"/>
              </a:rPr>
              <a:t>𝑅</a:t>
            </a:r>
            <a:r>
              <a:rPr sz="1950" baseline="-14957" dirty="0">
                <a:solidFill>
                  <a:srgbClr val="0432FF"/>
                </a:solidFill>
                <a:latin typeface="Cambria Math"/>
                <a:cs typeface="Cambria Math"/>
              </a:rPr>
              <a:t>𝑧</a:t>
            </a:r>
            <a:r>
              <a:rPr dirty="0">
                <a:solidFill>
                  <a:srgbClr val="0432FF"/>
                </a:solidFill>
                <a:latin typeface="Palatino Linotype"/>
                <a:cs typeface="Palatino Linotype"/>
              </a:rPr>
              <a:t>,</a:t>
            </a:r>
            <a:r>
              <a:rPr spc="-5" dirty="0">
                <a:solidFill>
                  <a:srgbClr val="0432FF"/>
                </a:solidFill>
                <a:latin typeface="Palatino Linotype"/>
                <a:cs typeface="Palatino Linotype"/>
              </a:rPr>
              <a:t> </a:t>
            </a:r>
            <a:r>
              <a:rPr dirty="0">
                <a:solidFill>
                  <a:srgbClr val="0432FF"/>
                </a:solidFill>
                <a:latin typeface="Palatino Linotype"/>
                <a:cs typeface="Palatino Linotype"/>
              </a:rPr>
              <a:t>z</a:t>
            </a:r>
            <a:r>
              <a:rPr dirty="0">
                <a:solidFill>
                  <a:srgbClr val="0432FF"/>
                </a:solidFill>
                <a:latin typeface="Cambria Math"/>
                <a:cs typeface="Cambria Math"/>
              </a:rPr>
              <a:t>’</a:t>
            </a:r>
            <a:r>
              <a:rPr spc="50" dirty="0">
                <a:solidFill>
                  <a:srgbClr val="0432FF"/>
                </a:solidFill>
                <a:latin typeface="Cambria Math"/>
                <a:cs typeface="Cambria Math"/>
              </a:rPr>
              <a:t> </a:t>
            </a:r>
            <a:r>
              <a:rPr dirty="0">
                <a:solidFill>
                  <a:sysClr val="windowText" lastClr="000000"/>
                </a:solidFill>
                <a:latin typeface="Palatino Linotype"/>
                <a:cs typeface="Palatino Linotype"/>
              </a:rPr>
              <a:t>if</a:t>
            </a:r>
            <a:r>
              <a:rPr spc="-5" dirty="0">
                <a:solidFill>
                  <a:sysClr val="windowText" lastClr="000000"/>
                </a:solidFill>
                <a:latin typeface="Palatino Linotype"/>
                <a:cs typeface="Palatino Linotype"/>
              </a:rPr>
              <a:t> </a:t>
            </a:r>
            <a:r>
              <a:rPr spc="-10" dirty="0">
                <a:solidFill>
                  <a:sysClr val="windowText" lastClr="000000"/>
                </a:solidFill>
                <a:latin typeface="Palatino Linotype"/>
                <a:cs typeface="Palatino Linotype"/>
              </a:rPr>
              <a:t>necessary</a:t>
            </a:r>
            <a:endParaRPr>
              <a:solidFill>
                <a:sysClr val="windowText" lastClr="000000"/>
              </a:solidFill>
              <a:latin typeface="Palatino Linotype"/>
              <a:cs typeface="Palatino Linotype"/>
            </a:endParaRPr>
          </a:p>
          <a:p>
            <a:pPr marL="0" lvl="1">
              <a:spcBef>
                <a:spcPts val="500"/>
              </a:spcBef>
              <a:buFont typeface="Palatino Linotype"/>
              <a:buAutoNum type="arabicPeriod"/>
            </a:pPr>
            <a:endParaRPr>
              <a:solidFill>
                <a:sysClr val="windowText" lastClr="000000"/>
              </a:solidFill>
              <a:latin typeface="Palatino Linotype"/>
              <a:cs typeface="Palatino Linotype"/>
            </a:endParaRPr>
          </a:p>
          <a:p>
            <a:pPr marL="850265" lvl="1" indent="-342265">
              <a:buFontTx/>
              <a:buAutoNum type="arabicPeriod"/>
              <a:tabLst>
                <a:tab pos="850265" algn="l"/>
              </a:tabLst>
            </a:pPr>
            <a:r>
              <a:rPr dirty="0">
                <a:solidFill>
                  <a:sysClr val="windowText" lastClr="000000"/>
                </a:solidFill>
                <a:latin typeface="Palatino Linotype"/>
                <a:cs typeface="Palatino Linotype"/>
              </a:rPr>
              <a:t>Generate</a:t>
            </a:r>
            <a:r>
              <a:rPr spc="15" dirty="0">
                <a:solidFill>
                  <a:sysClr val="windowText" lastClr="000000"/>
                </a:solidFill>
                <a:latin typeface="Palatino Linotype"/>
                <a:cs typeface="Palatino Linotype"/>
              </a:rPr>
              <a:t> </a:t>
            </a:r>
            <a:r>
              <a:rPr spc="-10" dirty="0">
                <a:solidFill>
                  <a:sysClr val="windowText" lastClr="000000"/>
                </a:solidFill>
                <a:latin typeface="Palatino Linotype"/>
                <a:cs typeface="Palatino Linotype"/>
              </a:rPr>
              <a:t>instruction</a:t>
            </a:r>
            <a:r>
              <a:rPr spc="-50" dirty="0">
                <a:solidFill>
                  <a:sysClr val="windowText" lastClr="000000"/>
                </a:solidFill>
                <a:latin typeface="Palatino Linotype"/>
                <a:cs typeface="Palatino Linotype"/>
              </a:rPr>
              <a:t> </a:t>
            </a:r>
            <a:r>
              <a:rPr dirty="0">
                <a:solidFill>
                  <a:srgbClr val="0432FF"/>
                </a:solidFill>
                <a:latin typeface="Palatino Linotype"/>
                <a:cs typeface="Palatino Linotype"/>
              </a:rPr>
              <a:t>ADD</a:t>
            </a:r>
            <a:r>
              <a:rPr spc="10" dirty="0">
                <a:solidFill>
                  <a:srgbClr val="0432FF"/>
                </a:solidFill>
                <a:latin typeface="Palatino Linotype"/>
                <a:cs typeface="Palatino Linotype"/>
              </a:rPr>
              <a:t> </a:t>
            </a:r>
            <a:r>
              <a:rPr dirty="0">
                <a:solidFill>
                  <a:srgbClr val="0432FF"/>
                </a:solidFill>
                <a:latin typeface="Cambria Math"/>
                <a:cs typeface="Cambria Math"/>
              </a:rPr>
              <a:t>𝑅</a:t>
            </a:r>
            <a:r>
              <a:rPr sz="1950" baseline="-14957" dirty="0">
                <a:solidFill>
                  <a:srgbClr val="0432FF"/>
                </a:solidFill>
                <a:latin typeface="Cambria Math"/>
                <a:cs typeface="Cambria Math"/>
              </a:rPr>
              <a:t>𝑥</a:t>
            </a:r>
            <a:r>
              <a:rPr dirty="0">
                <a:solidFill>
                  <a:srgbClr val="0432FF"/>
                </a:solidFill>
                <a:latin typeface="Palatino Linotype"/>
                <a:cs typeface="Palatino Linotype"/>
              </a:rPr>
              <a:t>,</a:t>
            </a:r>
            <a:r>
              <a:rPr spc="20" dirty="0">
                <a:solidFill>
                  <a:srgbClr val="0432FF"/>
                </a:solidFill>
                <a:latin typeface="Palatino Linotype"/>
                <a:cs typeface="Palatino Linotype"/>
              </a:rPr>
              <a:t> </a:t>
            </a:r>
            <a:r>
              <a:rPr spc="55" dirty="0">
                <a:solidFill>
                  <a:srgbClr val="0432FF"/>
                </a:solidFill>
                <a:latin typeface="Cambria Math"/>
                <a:cs typeface="Cambria Math"/>
              </a:rPr>
              <a:t>𝑅</a:t>
            </a:r>
            <a:r>
              <a:rPr sz="1950" spc="82" baseline="-14957" dirty="0">
                <a:solidFill>
                  <a:srgbClr val="0432FF"/>
                </a:solidFill>
                <a:latin typeface="Cambria Math"/>
                <a:cs typeface="Cambria Math"/>
              </a:rPr>
              <a:t>𝑦</a:t>
            </a:r>
            <a:r>
              <a:rPr spc="55" dirty="0">
                <a:solidFill>
                  <a:srgbClr val="0432FF"/>
                </a:solidFill>
                <a:latin typeface="Palatino Linotype"/>
                <a:cs typeface="Palatino Linotype"/>
              </a:rPr>
              <a:t>,</a:t>
            </a:r>
            <a:r>
              <a:rPr spc="20" dirty="0">
                <a:solidFill>
                  <a:srgbClr val="0432FF"/>
                </a:solidFill>
                <a:latin typeface="Palatino Linotype"/>
                <a:cs typeface="Palatino Linotype"/>
              </a:rPr>
              <a:t> </a:t>
            </a:r>
            <a:r>
              <a:rPr spc="-25" dirty="0">
                <a:solidFill>
                  <a:srgbClr val="0432FF"/>
                </a:solidFill>
                <a:latin typeface="Cambria Math"/>
                <a:cs typeface="Cambria Math"/>
              </a:rPr>
              <a:t>𝑅</a:t>
            </a:r>
            <a:r>
              <a:rPr sz="1950" spc="-37" baseline="-14957" dirty="0">
                <a:solidFill>
                  <a:srgbClr val="0432FF"/>
                </a:solidFill>
                <a:latin typeface="Cambria Math"/>
                <a:cs typeface="Cambria Math"/>
              </a:rPr>
              <a:t>𝑧</a:t>
            </a:r>
            <a:endParaRPr sz="1950" baseline="-14957">
              <a:solidFill>
                <a:sysClr val="windowText" lastClr="000000"/>
              </a:solidFill>
              <a:latin typeface="Cambria Math"/>
              <a:cs typeface="Cambria Math"/>
            </a:endParaRPr>
          </a:p>
        </p:txBody>
      </p:sp>
    </p:spTree>
    <p:extLst>
      <p:ext uri="{BB962C8B-B14F-4D97-AF65-F5344CB8AC3E}">
        <p14:creationId xmlns:p14="http://schemas.microsoft.com/office/powerpoint/2010/main" val="381174825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64</a:t>
            </a:fld>
            <a:endParaRPr lang="en-US"/>
          </a:p>
        </p:txBody>
      </p:sp>
      <p:sp>
        <p:nvSpPr>
          <p:cNvPr id="7" name="object 2">
            <a:extLst>
              <a:ext uri="{FF2B5EF4-FFF2-40B4-BE49-F238E27FC236}">
                <a16:creationId xmlns:a16="http://schemas.microsoft.com/office/drawing/2014/main" id="{C6E45CED-198A-651B-C822-3FFE42A3C107}"/>
              </a:ext>
            </a:extLst>
          </p:cNvPr>
          <p:cNvSpPr txBox="1">
            <a:spLocks/>
          </p:cNvSpPr>
          <p:nvPr/>
        </p:nvSpPr>
        <p:spPr>
          <a:xfrm>
            <a:off x="707390" y="524763"/>
            <a:ext cx="7729219" cy="63500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4000" b="1" i="0" u="none" strike="noStrike" kern="0" cap="none" spc="0" normalizeH="0" baseline="0" noProof="0">
                <a:ln>
                  <a:noFill/>
                </a:ln>
                <a:solidFill>
                  <a:sysClr val="windowText" lastClr="000000"/>
                </a:solidFill>
                <a:effectLst/>
                <a:uLnTx/>
                <a:uFillTx/>
                <a:latin typeface="Palatino Linotype"/>
                <a:ea typeface="+mj-ea"/>
              </a:rPr>
              <a:t>Algorithm</a:t>
            </a:r>
            <a:r>
              <a:rPr kumimoji="0" lang="en-US" sz="4000" b="1" i="0" u="none" strike="noStrike" kern="0" cap="none" spc="-125" normalizeH="0" baseline="0" noProof="0">
                <a:ln>
                  <a:noFill/>
                </a:ln>
                <a:solidFill>
                  <a:sysClr val="windowText" lastClr="000000"/>
                </a:solidFill>
                <a:effectLst/>
                <a:uLnTx/>
                <a:uFillTx/>
                <a:latin typeface="Palatino Linotype"/>
                <a:ea typeface="+mj-ea"/>
              </a:rPr>
              <a:t> </a:t>
            </a:r>
            <a:r>
              <a:rPr kumimoji="0" lang="en-US" sz="4000" b="1" i="0" u="none" strike="noStrike" kern="0" cap="none" spc="0" normalizeH="0" baseline="0" noProof="0">
                <a:ln>
                  <a:noFill/>
                </a:ln>
                <a:solidFill>
                  <a:sysClr val="windowText" lastClr="000000"/>
                </a:solidFill>
                <a:effectLst/>
                <a:uLnTx/>
                <a:uFillTx/>
                <a:latin typeface="Palatino Linotype"/>
                <a:ea typeface="+mj-ea"/>
              </a:rPr>
              <a:t>Details</a:t>
            </a:r>
            <a:r>
              <a:rPr kumimoji="0" lang="en-US" sz="4000" b="1" i="0" u="none" strike="noStrike" kern="0" cap="none" spc="-135" normalizeH="0" baseline="0" noProof="0">
                <a:ln>
                  <a:noFill/>
                </a:ln>
                <a:solidFill>
                  <a:sysClr val="windowText" lastClr="000000"/>
                </a:solidFill>
                <a:effectLst/>
                <a:uLnTx/>
                <a:uFillTx/>
                <a:latin typeface="Palatino Linotype"/>
                <a:ea typeface="+mj-ea"/>
              </a:rPr>
              <a:t> </a:t>
            </a:r>
            <a:r>
              <a:rPr kumimoji="0" lang="en-US" sz="4000" b="1" i="0" u="none" strike="noStrike" kern="0" cap="none" spc="-25" normalizeH="0" baseline="0" noProof="0">
                <a:ln>
                  <a:noFill/>
                </a:ln>
                <a:solidFill>
                  <a:sysClr val="windowText" lastClr="000000"/>
                </a:solidFill>
                <a:effectLst/>
                <a:uLnTx/>
                <a:uFillTx/>
                <a:latin typeface="Palatino Linotype"/>
                <a:ea typeface="+mj-ea"/>
              </a:rPr>
              <a:t>(3)</a:t>
            </a:r>
            <a:endParaRPr kumimoji="0" lang="en-US" sz="4000" b="1" i="0" u="none" strike="noStrike" kern="0" cap="none" spc="-25" normalizeH="0" baseline="0" noProof="0" dirty="0">
              <a:ln>
                <a:noFill/>
              </a:ln>
              <a:solidFill>
                <a:sysClr val="windowText" lastClr="000000"/>
              </a:solidFill>
              <a:effectLst/>
              <a:uLnTx/>
              <a:uFillTx/>
              <a:latin typeface="Palatino Linotype"/>
              <a:ea typeface="+mj-ea"/>
            </a:endParaRPr>
          </a:p>
        </p:txBody>
      </p:sp>
      <p:sp>
        <p:nvSpPr>
          <p:cNvPr id="8" name="object 3">
            <a:extLst>
              <a:ext uri="{FF2B5EF4-FFF2-40B4-BE49-F238E27FC236}">
                <a16:creationId xmlns:a16="http://schemas.microsoft.com/office/drawing/2014/main" id="{BC25DA32-E3B7-A2BC-643F-691E6FB8A622}"/>
              </a:ext>
            </a:extLst>
          </p:cNvPr>
          <p:cNvSpPr txBox="1"/>
          <p:nvPr/>
        </p:nvSpPr>
        <p:spPr>
          <a:xfrm>
            <a:off x="669290" y="1659635"/>
            <a:ext cx="7767955" cy="4272280"/>
          </a:xfrm>
          <a:prstGeom prst="rect">
            <a:avLst/>
          </a:prstGeom>
        </p:spPr>
        <p:txBody>
          <a:bodyPr vert="horz" wrap="square" lIns="0" tIns="12700" rIns="0" bIns="0" rtlCol="0">
            <a:spAutoFit/>
          </a:bodyPr>
          <a:lstStyle/>
          <a:p>
            <a:pPr marL="280670" indent="-229870">
              <a:spcBef>
                <a:spcPts val="100"/>
              </a:spcBef>
              <a:buFont typeface="Arial MT"/>
              <a:buChar char="•"/>
              <a:tabLst>
                <a:tab pos="280670" algn="l"/>
                <a:tab pos="3075305" algn="l"/>
              </a:tabLst>
            </a:pPr>
            <a:r>
              <a:rPr sz="2000" dirty="0">
                <a:solidFill>
                  <a:sysClr val="windowText" lastClr="000000"/>
                </a:solidFill>
                <a:latin typeface="Palatino Linotype"/>
                <a:cs typeface="Palatino Linotype"/>
              </a:rPr>
              <a:t>For</a:t>
            </a:r>
            <a:r>
              <a:rPr sz="2000" spc="-3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a</a:t>
            </a:r>
            <a:r>
              <a:rPr sz="2000" spc="-2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copy</a:t>
            </a:r>
            <a:r>
              <a:rPr sz="2000" spc="-2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instruction</a:t>
            </a:r>
            <a:r>
              <a:rPr sz="2000" spc="-30" dirty="0">
                <a:solidFill>
                  <a:sysClr val="windowText" lastClr="000000"/>
                </a:solidFill>
                <a:latin typeface="Palatino Linotype"/>
                <a:cs typeface="Palatino Linotype"/>
              </a:rPr>
              <a:t> </a:t>
            </a:r>
            <a:r>
              <a:rPr sz="2000" spc="-50" dirty="0">
                <a:solidFill>
                  <a:srgbClr val="FF0000"/>
                </a:solidFill>
                <a:latin typeface="Cambria Math"/>
                <a:cs typeface="Cambria Math"/>
              </a:rPr>
              <a:t>𝑥</a:t>
            </a:r>
            <a:r>
              <a:rPr sz="2000" dirty="0">
                <a:solidFill>
                  <a:srgbClr val="FF0000"/>
                </a:solidFill>
                <a:latin typeface="Cambria Math"/>
                <a:cs typeface="Cambria Math"/>
              </a:rPr>
              <a:t>	=</a:t>
            </a:r>
            <a:r>
              <a:rPr sz="2000" spc="50" dirty="0">
                <a:solidFill>
                  <a:srgbClr val="FF0000"/>
                </a:solidFill>
                <a:latin typeface="Cambria Math"/>
                <a:cs typeface="Cambria Math"/>
              </a:rPr>
              <a:t>  </a:t>
            </a:r>
            <a:r>
              <a:rPr sz="2000" dirty="0">
                <a:solidFill>
                  <a:srgbClr val="FF0000"/>
                </a:solidFill>
                <a:latin typeface="Cambria Math"/>
                <a:cs typeface="Cambria Math"/>
              </a:rPr>
              <a:t>𝑦</a:t>
            </a:r>
            <a:r>
              <a:rPr sz="2000" dirty="0">
                <a:solidFill>
                  <a:sysClr val="windowText" lastClr="000000"/>
                </a:solidFill>
                <a:latin typeface="Palatino Linotype"/>
                <a:cs typeface="Palatino Linotype"/>
              </a:rPr>
              <a:t>,</a:t>
            </a:r>
            <a:r>
              <a:rPr sz="2000" spc="-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do</a:t>
            </a:r>
            <a:r>
              <a:rPr sz="2000" spc="-1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the</a:t>
            </a:r>
            <a:r>
              <a:rPr sz="2000" spc="-5" dirty="0">
                <a:solidFill>
                  <a:sysClr val="windowText" lastClr="000000"/>
                </a:solidFill>
                <a:latin typeface="Palatino Linotype"/>
                <a:cs typeface="Palatino Linotype"/>
              </a:rPr>
              <a:t> </a:t>
            </a:r>
            <a:r>
              <a:rPr sz="2000" spc="-10" dirty="0">
                <a:solidFill>
                  <a:sysClr val="windowText" lastClr="000000"/>
                </a:solidFill>
                <a:latin typeface="Palatino Linotype"/>
                <a:cs typeface="Palatino Linotype"/>
              </a:rPr>
              <a:t>following:</a:t>
            </a:r>
            <a:endParaRPr sz="2000">
              <a:solidFill>
                <a:sysClr val="windowText" lastClr="000000"/>
              </a:solidFill>
              <a:latin typeface="Palatino Linotype"/>
              <a:cs typeface="Palatino Linotype"/>
            </a:endParaRPr>
          </a:p>
          <a:p>
            <a:pPr marL="735965" lvl="1" indent="-227965">
              <a:spcBef>
                <a:spcPts val="1590"/>
              </a:spcBef>
              <a:buFont typeface="Wingdings"/>
              <a:buChar char=""/>
              <a:tabLst>
                <a:tab pos="735965" algn="l"/>
              </a:tabLst>
            </a:pPr>
            <a:r>
              <a:rPr spc="-20" dirty="0">
                <a:solidFill>
                  <a:sysClr val="windowText" lastClr="000000"/>
                </a:solidFill>
                <a:latin typeface="Palatino Linotype"/>
                <a:cs typeface="Palatino Linotype"/>
              </a:rPr>
              <a:t>We</a:t>
            </a:r>
            <a:r>
              <a:rPr spc="-40"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assume</a:t>
            </a:r>
            <a:r>
              <a:rPr spc="-45" dirty="0">
                <a:solidFill>
                  <a:sysClr val="windowText" lastClr="000000"/>
                </a:solidFill>
                <a:latin typeface="Palatino Linotype"/>
                <a:cs typeface="Palatino Linotype"/>
              </a:rPr>
              <a:t> </a:t>
            </a:r>
            <a:r>
              <a:rPr dirty="0">
                <a:solidFill>
                  <a:sysClr val="windowText" lastClr="000000"/>
                </a:solidFill>
                <a:latin typeface="Cambria Math"/>
                <a:cs typeface="Cambria Math"/>
              </a:rPr>
              <a:t>𝑔𝑒𝑡𝑅𝑒𝑔()</a:t>
            </a:r>
            <a:r>
              <a:rPr spc="20" dirty="0">
                <a:solidFill>
                  <a:sysClr val="windowText" lastClr="000000"/>
                </a:solidFill>
                <a:latin typeface="Cambria Math"/>
                <a:cs typeface="Cambria Math"/>
              </a:rPr>
              <a:t> </a:t>
            </a:r>
            <a:r>
              <a:rPr dirty="0">
                <a:solidFill>
                  <a:sysClr val="windowText" lastClr="000000"/>
                </a:solidFill>
                <a:latin typeface="Palatino Linotype"/>
                <a:cs typeface="Palatino Linotype"/>
              </a:rPr>
              <a:t>will</a:t>
            </a:r>
            <a:r>
              <a:rPr spc="-40"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always</a:t>
            </a:r>
            <a:r>
              <a:rPr spc="-40" dirty="0">
                <a:solidFill>
                  <a:sysClr val="windowText" lastClr="000000"/>
                </a:solidFill>
                <a:latin typeface="Palatino Linotype"/>
                <a:cs typeface="Palatino Linotype"/>
              </a:rPr>
              <a:t> </a:t>
            </a:r>
            <a:r>
              <a:rPr dirty="0">
                <a:solidFill>
                  <a:srgbClr val="0432FF"/>
                </a:solidFill>
                <a:latin typeface="Palatino Linotype"/>
                <a:cs typeface="Palatino Linotype"/>
              </a:rPr>
              <a:t>select</a:t>
            </a:r>
            <a:r>
              <a:rPr spc="-40" dirty="0">
                <a:solidFill>
                  <a:srgbClr val="0432FF"/>
                </a:solidFill>
                <a:latin typeface="Palatino Linotype"/>
                <a:cs typeface="Palatino Linotype"/>
              </a:rPr>
              <a:t> </a:t>
            </a:r>
            <a:r>
              <a:rPr dirty="0">
                <a:solidFill>
                  <a:srgbClr val="0432FF"/>
                </a:solidFill>
                <a:latin typeface="Palatino Linotype"/>
                <a:cs typeface="Palatino Linotype"/>
              </a:rPr>
              <a:t>the</a:t>
            </a:r>
            <a:r>
              <a:rPr spc="-35" dirty="0">
                <a:solidFill>
                  <a:srgbClr val="0432FF"/>
                </a:solidFill>
                <a:latin typeface="Palatino Linotype"/>
                <a:cs typeface="Palatino Linotype"/>
              </a:rPr>
              <a:t> </a:t>
            </a:r>
            <a:r>
              <a:rPr dirty="0">
                <a:solidFill>
                  <a:srgbClr val="0432FF"/>
                </a:solidFill>
                <a:latin typeface="Palatino Linotype"/>
                <a:cs typeface="Palatino Linotype"/>
              </a:rPr>
              <a:t>same</a:t>
            </a:r>
            <a:r>
              <a:rPr spc="-40" dirty="0">
                <a:solidFill>
                  <a:srgbClr val="0432FF"/>
                </a:solidFill>
                <a:latin typeface="Palatino Linotype"/>
                <a:cs typeface="Palatino Linotype"/>
              </a:rPr>
              <a:t> </a:t>
            </a:r>
            <a:r>
              <a:rPr dirty="0">
                <a:solidFill>
                  <a:srgbClr val="0432FF"/>
                </a:solidFill>
                <a:latin typeface="Palatino Linotype"/>
                <a:cs typeface="Palatino Linotype"/>
              </a:rPr>
              <a:t>registers</a:t>
            </a:r>
            <a:r>
              <a:rPr spc="-40" dirty="0">
                <a:solidFill>
                  <a:srgbClr val="0432FF"/>
                </a:solidFill>
                <a:latin typeface="Palatino Linotype"/>
                <a:cs typeface="Palatino Linotype"/>
              </a:rPr>
              <a:t> </a:t>
            </a:r>
            <a:r>
              <a:rPr dirty="0">
                <a:solidFill>
                  <a:sysClr val="windowText" lastClr="000000"/>
                </a:solidFill>
                <a:latin typeface="Palatino Linotype"/>
                <a:cs typeface="Palatino Linotype"/>
              </a:rPr>
              <a:t>for</a:t>
            </a:r>
            <a:r>
              <a:rPr spc="-40" dirty="0">
                <a:solidFill>
                  <a:sysClr val="windowText" lastClr="000000"/>
                </a:solidFill>
                <a:latin typeface="Palatino Linotype"/>
                <a:cs typeface="Palatino Linotype"/>
              </a:rPr>
              <a:t> </a:t>
            </a:r>
            <a:r>
              <a:rPr dirty="0">
                <a:solidFill>
                  <a:sysClr val="windowText" lastClr="000000"/>
                </a:solidFill>
                <a:latin typeface="Cambria Math"/>
                <a:cs typeface="Cambria Math"/>
              </a:rPr>
              <a:t>𝑥</a:t>
            </a:r>
            <a:r>
              <a:rPr spc="70" dirty="0">
                <a:solidFill>
                  <a:sysClr val="windowText" lastClr="000000"/>
                </a:solidFill>
                <a:latin typeface="Cambria Math"/>
                <a:cs typeface="Cambria Math"/>
              </a:rPr>
              <a:t> </a:t>
            </a:r>
            <a:r>
              <a:rPr dirty="0">
                <a:solidFill>
                  <a:sysClr val="windowText" lastClr="000000"/>
                </a:solidFill>
                <a:latin typeface="Palatino Linotype"/>
                <a:cs typeface="Palatino Linotype"/>
              </a:rPr>
              <a:t>and</a:t>
            </a:r>
            <a:r>
              <a:rPr spc="-40" dirty="0">
                <a:solidFill>
                  <a:sysClr val="windowText" lastClr="000000"/>
                </a:solidFill>
                <a:latin typeface="Palatino Linotype"/>
                <a:cs typeface="Palatino Linotype"/>
              </a:rPr>
              <a:t> </a:t>
            </a:r>
            <a:r>
              <a:rPr spc="-50" dirty="0">
                <a:solidFill>
                  <a:sysClr val="windowText" lastClr="000000"/>
                </a:solidFill>
                <a:latin typeface="Cambria Math"/>
                <a:cs typeface="Cambria Math"/>
              </a:rPr>
              <a:t>𝑦</a:t>
            </a:r>
            <a:endParaRPr>
              <a:solidFill>
                <a:sysClr val="windowText" lastClr="000000"/>
              </a:solidFill>
              <a:latin typeface="Cambria Math"/>
              <a:cs typeface="Cambria Math"/>
            </a:endParaRPr>
          </a:p>
          <a:p>
            <a:pPr marL="735965" lvl="1" indent="-227965">
              <a:spcBef>
                <a:spcPts val="1730"/>
              </a:spcBef>
              <a:buFont typeface="Wingdings"/>
              <a:buChar char=""/>
              <a:tabLst>
                <a:tab pos="735965" algn="l"/>
              </a:tabLst>
            </a:pPr>
            <a:r>
              <a:rPr dirty="0">
                <a:solidFill>
                  <a:sysClr val="windowText" lastClr="000000"/>
                </a:solidFill>
                <a:latin typeface="Palatino Linotype"/>
                <a:cs typeface="Palatino Linotype"/>
              </a:rPr>
              <a:t>If</a:t>
            </a:r>
            <a:r>
              <a:rPr spc="-25" dirty="0">
                <a:solidFill>
                  <a:sysClr val="windowText" lastClr="000000"/>
                </a:solidFill>
                <a:latin typeface="Palatino Linotype"/>
                <a:cs typeface="Palatino Linotype"/>
              </a:rPr>
              <a:t> </a:t>
            </a:r>
            <a:r>
              <a:rPr dirty="0">
                <a:solidFill>
                  <a:sysClr val="windowText" lastClr="000000"/>
                </a:solidFill>
                <a:latin typeface="Cambria Math"/>
                <a:cs typeface="Cambria Math"/>
              </a:rPr>
              <a:t>𝑦</a:t>
            </a:r>
            <a:r>
              <a:rPr spc="55" dirty="0">
                <a:solidFill>
                  <a:sysClr val="windowText" lastClr="000000"/>
                </a:solidFill>
                <a:latin typeface="Cambria Math"/>
                <a:cs typeface="Cambria Math"/>
              </a:rPr>
              <a:t> </a:t>
            </a:r>
            <a:r>
              <a:rPr dirty="0">
                <a:solidFill>
                  <a:sysClr val="windowText" lastClr="000000"/>
                </a:solidFill>
                <a:latin typeface="Palatino Linotype"/>
                <a:cs typeface="Palatino Linotype"/>
              </a:rPr>
              <a:t>is</a:t>
            </a:r>
            <a:r>
              <a:rPr spc="-30"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not</a:t>
            </a:r>
            <a:r>
              <a:rPr spc="-25"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in</a:t>
            </a:r>
            <a:r>
              <a:rPr spc="-25"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that</a:t>
            </a:r>
            <a:r>
              <a:rPr spc="-25"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register</a:t>
            </a:r>
            <a:r>
              <a:rPr spc="-25" dirty="0">
                <a:solidFill>
                  <a:sysClr val="windowText" lastClr="000000"/>
                </a:solidFill>
                <a:latin typeface="Palatino Linotype"/>
                <a:cs typeface="Palatino Linotype"/>
              </a:rPr>
              <a:t> </a:t>
            </a:r>
            <a:r>
              <a:rPr spc="55" dirty="0">
                <a:solidFill>
                  <a:sysClr val="windowText" lastClr="000000"/>
                </a:solidFill>
                <a:latin typeface="Cambria Math"/>
                <a:cs typeface="Cambria Math"/>
              </a:rPr>
              <a:t>𝑅</a:t>
            </a:r>
            <a:r>
              <a:rPr sz="1950" spc="82" baseline="-17094" dirty="0">
                <a:solidFill>
                  <a:sysClr val="windowText" lastClr="000000"/>
                </a:solidFill>
                <a:latin typeface="Cambria Math"/>
                <a:cs typeface="Cambria Math"/>
              </a:rPr>
              <a:t>𝑦</a:t>
            </a:r>
            <a:r>
              <a:rPr spc="55" dirty="0">
                <a:solidFill>
                  <a:sysClr val="windowText" lastClr="000000"/>
                </a:solidFill>
                <a:latin typeface="Palatino Linotype"/>
                <a:cs typeface="Palatino Linotype"/>
              </a:rPr>
              <a:t>,</a:t>
            </a:r>
            <a:r>
              <a:rPr spc="-25"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then</a:t>
            </a:r>
            <a:r>
              <a:rPr spc="-25"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generate</a:t>
            </a:r>
            <a:r>
              <a:rPr spc="-25"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an</a:t>
            </a:r>
            <a:r>
              <a:rPr spc="-25"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instruction</a:t>
            </a:r>
            <a:r>
              <a:rPr spc="-25" dirty="0">
                <a:solidFill>
                  <a:sysClr val="windowText" lastClr="000000"/>
                </a:solidFill>
                <a:latin typeface="Palatino Linotype"/>
                <a:cs typeface="Palatino Linotype"/>
              </a:rPr>
              <a:t> </a:t>
            </a:r>
            <a:r>
              <a:rPr dirty="0">
                <a:solidFill>
                  <a:srgbClr val="0432FF"/>
                </a:solidFill>
                <a:latin typeface="Palatino Linotype"/>
                <a:cs typeface="Palatino Linotype"/>
              </a:rPr>
              <a:t>LD</a:t>
            </a:r>
            <a:r>
              <a:rPr spc="-35" dirty="0">
                <a:solidFill>
                  <a:srgbClr val="0432FF"/>
                </a:solidFill>
                <a:latin typeface="Palatino Linotype"/>
                <a:cs typeface="Palatino Linotype"/>
              </a:rPr>
              <a:t> </a:t>
            </a:r>
            <a:r>
              <a:rPr spc="55" dirty="0">
                <a:solidFill>
                  <a:srgbClr val="0432FF"/>
                </a:solidFill>
                <a:latin typeface="Cambria Math"/>
                <a:cs typeface="Cambria Math"/>
              </a:rPr>
              <a:t>𝑅</a:t>
            </a:r>
            <a:r>
              <a:rPr sz="1950" spc="82" baseline="-17094" dirty="0">
                <a:solidFill>
                  <a:srgbClr val="0432FF"/>
                </a:solidFill>
                <a:latin typeface="Cambria Math"/>
                <a:cs typeface="Cambria Math"/>
              </a:rPr>
              <a:t>𝑦</a:t>
            </a:r>
            <a:r>
              <a:rPr spc="55" dirty="0">
                <a:solidFill>
                  <a:srgbClr val="0432FF"/>
                </a:solidFill>
                <a:latin typeface="Palatino Linotype"/>
                <a:cs typeface="Palatino Linotype"/>
              </a:rPr>
              <a:t>,</a:t>
            </a:r>
            <a:r>
              <a:rPr spc="-25" dirty="0">
                <a:solidFill>
                  <a:srgbClr val="0432FF"/>
                </a:solidFill>
                <a:latin typeface="Palatino Linotype"/>
                <a:cs typeface="Palatino Linotype"/>
              </a:rPr>
              <a:t> </a:t>
            </a:r>
            <a:r>
              <a:rPr spc="-50" dirty="0">
                <a:solidFill>
                  <a:srgbClr val="0432FF"/>
                </a:solidFill>
                <a:latin typeface="Cambria Math"/>
                <a:cs typeface="Cambria Math"/>
              </a:rPr>
              <a:t>𝑦</a:t>
            </a:r>
            <a:endParaRPr>
              <a:solidFill>
                <a:sysClr val="windowText" lastClr="000000"/>
              </a:solidFill>
              <a:latin typeface="Cambria Math"/>
              <a:cs typeface="Cambria Math"/>
            </a:endParaRPr>
          </a:p>
          <a:p>
            <a:pPr marL="0" lvl="1">
              <a:spcBef>
                <a:spcPts val="830"/>
              </a:spcBef>
              <a:buFont typeface="Wingdings"/>
              <a:buChar char=""/>
            </a:pPr>
            <a:endParaRPr>
              <a:solidFill>
                <a:sysClr val="windowText" lastClr="000000"/>
              </a:solidFill>
              <a:latin typeface="Cambria Math"/>
              <a:cs typeface="Cambria Math"/>
            </a:endParaRPr>
          </a:p>
          <a:p>
            <a:pPr marL="280670" indent="-229870">
              <a:buFont typeface="Arial MT"/>
              <a:buChar char="•"/>
              <a:tabLst>
                <a:tab pos="280670" algn="l"/>
              </a:tabLst>
            </a:pPr>
            <a:r>
              <a:rPr sz="2000" dirty="0">
                <a:solidFill>
                  <a:sysClr val="windowText" lastClr="000000"/>
                </a:solidFill>
                <a:latin typeface="Palatino Linotype"/>
                <a:cs typeface="Palatino Linotype"/>
              </a:rPr>
              <a:t>Ending</a:t>
            </a:r>
            <a:r>
              <a:rPr sz="2000" spc="-2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a</a:t>
            </a:r>
            <a:r>
              <a:rPr sz="2000" spc="-2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basic</a:t>
            </a:r>
            <a:r>
              <a:rPr sz="2000" spc="-30" dirty="0">
                <a:solidFill>
                  <a:sysClr val="windowText" lastClr="000000"/>
                </a:solidFill>
                <a:latin typeface="Palatino Linotype"/>
                <a:cs typeface="Palatino Linotype"/>
              </a:rPr>
              <a:t> </a:t>
            </a:r>
            <a:r>
              <a:rPr sz="2000" spc="-20" dirty="0">
                <a:solidFill>
                  <a:sysClr val="windowText" lastClr="000000"/>
                </a:solidFill>
                <a:latin typeface="Palatino Linotype"/>
                <a:cs typeface="Palatino Linotype"/>
              </a:rPr>
              <a:t>block</a:t>
            </a:r>
            <a:endParaRPr sz="2000">
              <a:solidFill>
                <a:sysClr val="windowText" lastClr="000000"/>
              </a:solidFill>
              <a:latin typeface="Palatino Linotype"/>
              <a:cs typeface="Palatino Linotype"/>
            </a:endParaRPr>
          </a:p>
          <a:p>
            <a:pPr marL="736600" marR="88900" lvl="1" indent="-228600">
              <a:lnSpc>
                <a:spcPct val="120000"/>
              </a:lnSpc>
              <a:spcBef>
                <a:spcPts val="1280"/>
              </a:spcBef>
              <a:buClr>
                <a:srgbClr val="000000"/>
              </a:buClr>
              <a:buFont typeface="Wingdings"/>
              <a:buChar char=""/>
              <a:tabLst>
                <a:tab pos="736600" algn="l"/>
              </a:tabLst>
            </a:pPr>
            <a:r>
              <a:rPr dirty="0">
                <a:solidFill>
                  <a:srgbClr val="FF0000"/>
                </a:solidFill>
                <a:latin typeface="Palatino Linotype"/>
                <a:cs typeface="Palatino Linotype"/>
              </a:rPr>
              <a:t>For</a:t>
            </a:r>
            <a:r>
              <a:rPr spc="-35" dirty="0">
                <a:solidFill>
                  <a:srgbClr val="FF0000"/>
                </a:solidFill>
                <a:latin typeface="Palatino Linotype"/>
                <a:cs typeface="Palatino Linotype"/>
              </a:rPr>
              <a:t> </a:t>
            </a:r>
            <a:r>
              <a:rPr dirty="0">
                <a:solidFill>
                  <a:srgbClr val="FF0000"/>
                </a:solidFill>
                <a:latin typeface="Palatino Linotype"/>
                <a:cs typeface="Palatino Linotype"/>
              </a:rPr>
              <a:t>temporary</a:t>
            </a:r>
            <a:r>
              <a:rPr spc="-40" dirty="0">
                <a:solidFill>
                  <a:srgbClr val="FF0000"/>
                </a:solidFill>
                <a:latin typeface="Palatino Linotype"/>
                <a:cs typeface="Palatino Linotype"/>
              </a:rPr>
              <a:t> </a:t>
            </a:r>
            <a:r>
              <a:rPr spc="-10" dirty="0">
                <a:solidFill>
                  <a:srgbClr val="FF0000"/>
                </a:solidFill>
                <a:latin typeface="Palatino Linotype"/>
                <a:cs typeface="Palatino Linotype"/>
              </a:rPr>
              <a:t>variables</a:t>
            </a:r>
            <a:r>
              <a:rPr spc="-40" dirty="0">
                <a:solidFill>
                  <a:srgbClr val="FF0000"/>
                </a:solidFill>
                <a:latin typeface="Palatino Linotype"/>
                <a:cs typeface="Palatino Linotype"/>
              </a:rPr>
              <a:t> </a:t>
            </a:r>
            <a:r>
              <a:rPr dirty="0">
                <a:solidFill>
                  <a:sysClr val="windowText" lastClr="000000"/>
                </a:solidFill>
                <a:latin typeface="Palatino Linotype"/>
                <a:cs typeface="Palatino Linotype"/>
              </a:rPr>
              <a:t>used</a:t>
            </a:r>
            <a:r>
              <a:rPr spc="-35"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within</a:t>
            </a:r>
            <a:r>
              <a:rPr spc="-30"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the</a:t>
            </a:r>
            <a:r>
              <a:rPr spc="-35"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block,</a:t>
            </a:r>
            <a:r>
              <a:rPr spc="-35"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when</a:t>
            </a:r>
            <a:r>
              <a:rPr spc="-35"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the</a:t>
            </a:r>
            <a:r>
              <a:rPr spc="-30"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block</a:t>
            </a:r>
            <a:r>
              <a:rPr spc="-40" dirty="0">
                <a:solidFill>
                  <a:sysClr val="windowText" lastClr="000000"/>
                </a:solidFill>
                <a:latin typeface="Palatino Linotype"/>
                <a:cs typeface="Palatino Linotype"/>
              </a:rPr>
              <a:t> </a:t>
            </a:r>
            <a:r>
              <a:rPr spc="-10" dirty="0">
                <a:solidFill>
                  <a:sysClr val="windowText" lastClr="000000"/>
                </a:solidFill>
                <a:latin typeface="Palatino Linotype"/>
                <a:cs typeface="Palatino Linotype"/>
              </a:rPr>
              <a:t>ends, </a:t>
            </a:r>
            <a:r>
              <a:rPr dirty="0">
                <a:solidFill>
                  <a:sysClr val="windowText" lastClr="000000"/>
                </a:solidFill>
                <a:latin typeface="Palatino Linotype"/>
                <a:cs typeface="Palatino Linotype"/>
              </a:rPr>
              <a:t>we</a:t>
            </a:r>
            <a:r>
              <a:rPr spc="-45"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can</a:t>
            </a:r>
            <a:r>
              <a:rPr spc="-40"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forget</a:t>
            </a:r>
            <a:r>
              <a:rPr spc="-45"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about</a:t>
            </a:r>
            <a:r>
              <a:rPr spc="-40"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their</a:t>
            </a:r>
            <a:r>
              <a:rPr spc="-40"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value</a:t>
            </a:r>
            <a:r>
              <a:rPr spc="-45"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and</a:t>
            </a:r>
            <a:r>
              <a:rPr spc="-40"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assume</a:t>
            </a:r>
            <a:r>
              <a:rPr spc="-45"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their</a:t>
            </a:r>
            <a:r>
              <a:rPr spc="-40"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register</a:t>
            </a:r>
            <a:r>
              <a:rPr spc="-40"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is</a:t>
            </a:r>
            <a:r>
              <a:rPr spc="-50" dirty="0">
                <a:solidFill>
                  <a:sysClr val="windowText" lastClr="000000"/>
                </a:solidFill>
                <a:latin typeface="Palatino Linotype"/>
                <a:cs typeface="Palatino Linotype"/>
              </a:rPr>
              <a:t> </a:t>
            </a:r>
            <a:r>
              <a:rPr spc="-10" dirty="0">
                <a:solidFill>
                  <a:sysClr val="windowText" lastClr="000000"/>
                </a:solidFill>
                <a:latin typeface="Palatino Linotype"/>
                <a:cs typeface="Palatino Linotype"/>
              </a:rPr>
              <a:t>empty</a:t>
            </a:r>
            <a:endParaRPr>
              <a:solidFill>
                <a:sysClr val="windowText" lastClr="000000"/>
              </a:solidFill>
              <a:latin typeface="Palatino Linotype"/>
              <a:cs typeface="Palatino Linotype"/>
            </a:endParaRPr>
          </a:p>
          <a:p>
            <a:pPr marL="736600" marR="268605" lvl="1" indent="-228600">
              <a:lnSpc>
                <a:spcPct val="120400"/>
              </a:lnSpc>
              <a:spcBef>
                <a:spcPts val="1195"/>
              </a:spcBef>
              <a:buClr>
                <a:srgbClr val="000000"/>
              </a:buClr>
              <a:buFont typeface="Wingdings"/>
              <a:buChar char=""/>
              <a:tabLst>
                <a:tab pos="736600" algn="l"/>
              </a:tabLst>
            </a:pPr>
            <a:r>
              <a:rPr dirty="0">
                <a:solidFill>
                  <a:srgbClr val="FF0000"/>
                </a:solidFill>
                <a:latin typeface="Palatino Linotype"/>
                <a:cs typeface="Palatino Linotype"/>
              </a:rPr>
              <a:t>If</a:t>
            </a:r>
            <a:r>
              <a:rPr spc="-30" dirty="0">
                <a:solidFill>
                  <a:srgbClr val="FF0000"/>
                </a:solidFill>
                <a:latin typeface="Palatino Linotype"/>
                <a:cs typeface="Palatino Linotype"/>
              </a:rPr>
              <a:t> </a:t>
            </a:r>
            <a:r>
              <a:rPr dirty="0">
                <a:solidFill>
                  <a:srgbClr val="FF0000"/>
                </a:solidFill>
                <a:latin typeface="Palatino Linotype"/>
                <a:cs typeface="Palatino Linotype"/>
              </a:rPr>
              <a:t>a</a:t>
            </a:r>
            <a:r>
              <a:rPr spc="-25" dirty="0">
                <a:solidFill>
                  <a:srgbClr val="FF0000"/>
                </a:solidFill>
                <a:latin typeface="Palatino Linotype"/>
                <a:cs typeface="Palatino Linotype"/>
              </a:rPr>
              <a:t> </a:t>
            </a:r>
            <a:r>
              <a:rPr spc="-10" dirty="0">
                <a:solidFill>
                  <a:srgbClr val="FF0000"/>
                </a:solidFill>
                <a:latin typeface="Palatino Linotype"/>
                <a:cs typeface="Palatino Linotype"/>
              </a:rPr>
              <a:t>variable</a:t>
            </a:r>
            <a:r>
              <a:rPr spc="-30" dirty="0">
                <a:solidFill>
                  <a:srgbClr val="FF0000"/>
                </a:solidFill>
                <a:latin typeface="Palatino Linotype"/>
                <a:cs typeface="Palatino Linotype"/>
              </a:rPr>
              <a:t> </a:t>
            </a:r>
            <a:r>
              <a:rPr dirty="0">
                <a:solidFill>
                  <a:srgbClr val="FF0000"/>
                </a:solidFill>
                <a:latin typeface="Palatino Linotype"/>
                <a:cs typeface="Palatino Linotype"/>
              </a:rPr>
              <a:t>is</a:t>
            </a:r>
            <a:r>
              <a:rPr spc="-30" dirty="0">
                <a:solidFill>
                  <a:srgbClr val="FF0000"/>
                </a:solidFill>
                <a:latin typeface="Palatino Linotype"/>
                <a:cs typeface="Palatino Linotype"/>
              </a:rPr>
              <a:t> </a:t>
            </a:r>
            <a:r>
              <a:rPr dirty="0">
                <a:solidFill>
                  <a:srgbClr val="FF0000"/>
                </a:solidFill>
                <a:latin typeface="Palatino Linotype"/>
                <a:cs typeface="Palatino Linotype"/>
              </a:rPr>
              <a:t>live</a:t>
            </a:r>
            <a:r>
              <a:rPr spc="-25" dirty="0">
                <a:solidFill>
                  <a:srgbClr val="FF0000"/>
                </a:solidFill>
                <a:latin typeface="Palatino Linotype"/>
                <a:cs typeface="Palatino Linotype"/>
              </a:rPr>
              <a:t> </a:t>
            </a:r>
            <a:r>
              <a:rPr dirty="0">
                <a:solidFill>
                  <a:srgbClr val="FF0000"/>
                </a:solidFill>
                <a:latin typeface="Palatino Linotype"/>
                <a:cs typeface="Palatino Linotype"/>
              </a:rPr>
              <a:t>on</a:t>
            </a:r>
            <a:r>
              <a:rPr spc="-30" dirty="0">
                <a:solidFill>
                  <a:srgbClr val="FF0000"/>
                </a:solidFill>
                <a:latin typeface="Palatino Linotype"/>
                <a:cs typeface="Palatino Linotype"/>
              </a:rPr>
              <a:t> </a:t>
            </a:r>
            <a:r>
              <a:rPr dirty="0">
                <a:solidFill>
                  <a:srgbClr val="FF0000"/>
                </a:solidFill>
                <a:latin typeface="Palatino Linotype"/>
                <a:cs typeface="Palatino Linotype"/>
              </a:rPr>
              <a:t>block</a:t>
            </a:r>
            <a:r>
              <a:rPr spc="-30" dirty="0">
                <a:solidFill>
                  <a:srgbClr val="FF0000"/>
                </a:solidFill>
                <a:latin typeface="Palatino Linotype"/>
                <a:cs typeface="Palatino Linotype"/>
              </a:rPr>
              <a:t> </a:t>
            </a:r>
            <a:r>
              <a:rPr dirty="0">
                <a:solidFill>
                  <a:srgbClr val="FF0000"/>
                </a:solidFill>
                <a:latin typeface="Palatino Linotype"/>
                <a:cs typeface="Palatino Linotype"/>
              </a:rPr>
              <a:t>exit</a:t>
            </a:r>
            <a:r>
              <a:rPr spc="-25" dirty="0">
                <a:solidFill>
                  <a:srgbClr val="FF0000"/>
                </a:solidFill>
                <a:latin typeface="Palatino Linotype"/>
                <a:cs typeface="Palatino Linotype"/>
              </a:rPr>
              <a:t> </a:t>
            </a:r>
            <a:r>
              <a:rPr dirty="0">
                <a:solidFill>
                  <a:sysClr val="windowText" lastClr="000000"/>
                </a:solidFill>
                <a:latin typeface="Palatino Linotype"/>
                <a:cs typeface="Palatino Linotype"/>
              </a:rPr>
              <a:t>(or</a:t>
            </a:r>
            <a:r>
              <a:rPr spc="-30"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if</a:t>
            </a:r>
            <a:r>
              <a:rPr spc="-25"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we</a:t>
            </a:r>
            <a:r>
              <a:rPr spc="-25" dirty="0">
                <a:solidFill>
                  <a:sysClr val="windowText" lastClr="000000"/>
                </a:solidFill>
                <a:latin typeface="Palatino Linotype"/>
                <a:cs typeface="Palatino Linotype"/>
              </a:rPr>
              <a:t> </a:t>
            </a:r>
            <a:r>
              <a:rPr spc="-20" dirty="0">
                <a:solidFill>
                  <a:sysClr val="windowText" lastClr="000000"/>
                </a:solidFill>
                <a:latin typeface="Palatino Linotype"/>
                <a:cs typeface="Palatino Linotype"/>
              </a:rPr>
              <a:t>don’t</a:t>
            </a:r>
            <a:r>
              <a:rPr spc="-30"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know</a:t>
            </a:r>
            <a:r>
              <a:rPr spc="-30"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the</a:t>
            </a:r>
            <a:r>
              <a:rPr spc="-25" dirty="0">
                <a:solidFill>
                  <a:sysClr val="windowText" lastClr="000000"/>
                </a:solidFill>
                <a:latin typeface="Palatino Linotype"/>
                <a:cs typeface="Palatino Linotype"/>
              </a:rPr>
              <a:t> </a:t>
            </a:r>
            <a:r>
              <a:rPr spc="-10" dirty="0">
                <a:solidFill>
                  <a:sysClr val="windowText" lastClr="000000"/>
                </a:solidFill>
                <a:latin typeface="Palatino Linotype"/>
                <a:cs typeface="Palatino Linotype"/>
              </a:rPr>
              <a:t>liveness), </a:t>
            </a:r>
            <a:r>
              <a:rPr dirty="0">
                <a:solidFill>
                  <a:sysClr val="windowText" lastClr="000000"/>
                </a:solidFill>
                <a:latin typeface="Palatino Linotype"/>
                <a:cs typeface="Palatino Linotype"/>
              </a:rPr>
              <a:t>generate</a:t>
            </a:r>
            <a:r>
              <a:rPr spc="-25" dirty="0">
                <a:solidFill>
                  <a:sysClr val="windowText" lastClr="000000"/>
                </a:solidFill>
                <a:latin typeface="Palatino Linotype"/>
                <a:cs typeface="Palatino Linotype"/>
              </a:rPr>
              <a:t> </a:t>
            </a:r>
            <a:r>
              <a:rPr dirty="0">
                <a:solidFill>
                  <a:srgbClr val="0432FF"/>
                </a:solidFill>
                <a:latin typeface="Palatino Linotype"/>
                <a:cs typeface="Palatino Linotype"/>
              </a:rPr>
              <a:t>ST</a:t>
            </a:r>
            <a:r>
              <a:rPr spc="-30" dirty="0">
                <a:solidFill>
                  <a:srgbClr val="0432FF"/>
                </a:solidFill>
                <a:latin typeface="Palatino Linotype"/>
                <a:cs typeface="Palatino Linotype"/>
              </a:rPr>
              <a:t> </a:t>
            </a:r>
            <a:r>
              <a:rPr dirty="0">
                <a:solidFill>
                  <a:srgbClr val="0432FF"/>
                </a:solidFill>
                <a:latin typeface="Cambria Math"/>
                <a:cs typeface="Cambria Math"/>
              </a:rPr>
              <a:t>𝑥</a:t>
            </a:r>
            <a:r>
              <a:rPr dirty="0">
                <a:solidFill>
                  <a:srgbClr val="0432FF"/>
                </a:solidFill>
                <a:latin typeface="Palatino Linotype"/>
                <a:cs typeface="Palatino Linotype"/>
              </a:rPr>
              <a:t>,</a:t>
            </a:r>
            <a:r>
              <a:rPr spc="-25" dirty="0">
                <a:solidFill>
                  <a:srgbClr val="0432FF"/>
                </a:solidFill>
                <a:latin typeface="Palatino Linotype"/>
                <a:cs typeface="Palatino Linotype"/>
              </a:rPr>
              <a:t> </a:t>
            </a:r>
            <a:r>
              <a:rPr dirty="0">
                <a:solidFill>
                  <a:srgbClr val="0432FF"/>
                </a:solidFill>
                <a:latin typeface="Cambria Math"/>
                <a:cs typeface="Cambria Math"/>
              </a:rPr>
              <a:t>𝑅</a:t>
            </a:r>
            <a:r>
              <a:rPr sz="1950" baseline="-14957" dirty="0">
                <a:solidFill>
                  <a:srgbClr val="0432FF"/>
                </a:solidFill>
                <a:latin typeface="Cambria Math"/>
                <a:cs typeface="Cambria Math"/>
              </a:rPr>
              <a:t>𝑥</a:t>
            </a:r>
            <a:r>
              <a:rPr sz="1950" spc="367" baseline="-14957" dirty="0">
                <a:solidFill>
                  <a:srgbClr val="0432FF"/>
                </a:solidFill>
                <a:latin typeface="Cambria Math"/>
                <a:cs typeface="Cambria Math"/>
              </a:rPr>
              <a:t> </a:t>
            </a:r>
            <a:r>
              <a:rPr dirty="0">
                <a:solidFill>
                  <a:sysClr val="windowText" lastClr="000000"/>
                </a:solidFill>
                <a:latin typeface="Palatino Linotype"/>
                <a:cs typeface="Palatino Linotype"/>
              </a:rPr>
              <a:t>for</a:t>
            </a:r>
            <a:r>
              <a:rPr spc="-20"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each</a:t>
            </a:r>
            <a:r>
              <a:rPr spc="-25" dirty="0">
                <a:solidFill>
                  <a:sysClr val="windowText" lastClr="000000"/>
                </a:solidFill>
                <a:latin typeface="Palatino Linotype"/>
                <a:cs typeface="Palatino Linotype"/>
              </a:rPr>
              <a:t> </a:t>
            </a:r>
            <a:r>
              <a:rPr dirty="0">
                <a:solidFill>
                  <a:sysClr val="windowText" lastClr="000000"/>
                </a:solidFill>
                <a:latin typeface="Cambria Math"/>
                <a:cs typeface="Cambria Math"/>
              </a:rPr>
              <a:t>𝑥</a:t>
            </a:r>
            <a:r>
              <a:rPr spc="80" dirty="0">
                <a:solidFill>
                  <a:sysClr val="windowText" lastClr="000000"/>
                </a:solidFill>
                <a:latin typeface="Cambria Math"/>
                <a:cs typeface="Cambria Math"/>
              </a:rPr>
              <a:t> </a:t>
            </a:r>
            <a:r>
              <a:rPr dirty="0">
                <a:solidFill>
                  <a:sysClr val="windowText" lastClr="000000"/>
                </a:solidFill>
                <a:latin typeface="Palatino Linotype"/>
                <a:cs typeface="Palatino Linotype"/>
              </a:rPr>
              <a:t>whose</a:t>
            </a:r>
            <a:r>
              <a:rPr spc="-20"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address</a:t>
            </a:r>
            <a:r>
              <a:rPr spc="-30"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descriptor</a:t>
            </a:r>
            <a:r>
              <a:rPr spc="-25"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does</a:t>
            </a:r>
            <a:r>
              <a:rPr spc="-25"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not</a:t>
            </a:r>
            <a:r>
              <a:rPr spc="-25" dirty="0">
                <a:solidFill>
                  <a:sysClr val="windowText" lastClr="000000"/>
                </a:solidFill>
                <a:latin typeface="Palatino Linotype"/>
                <a:cs typeface="Palatino Linotype"/>
              </a:rPr>
              <a:t> say </a:t>
            </a:r>
            <a:r>
              <a:rPr dirty="0">
                <a:solidFill>
                  <a:sysClr val="windowText" lastClr="000000"/>
                </a:solidFill>
                <a:latin typeface="Palatino Linotype"/>
                <a:cs typeface="Palatino Linotype"/>
              </a:rPr>
              <a:t>that</a:t>
            </a:r>
            <a:r>
              <a:rPr spc="-40"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its</a:t>
            </a:r>
            <a:r>
              <a:rPr spc="-45"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current</a:t>
            </a:r>
            <a:r>
              <a:rPr spc="-35"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value</a:t>
            </a:r>
            <a:r>
              <a:rPr spc="-40"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is</a:t>
            </a:r>
            <a:r>
              <a:rPr spc="-40"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in</a:t>
            </a:r>
            <a:r>
              <a:rPr spc="-40"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the</a:t>
            </a:r>
            <a:r>
              <a:rPr spc="-35"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memory</a:t>
            </a:r>
            <a:r>
              <a:rPr spc="-45"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location</a:t>
            </a:r>
            <a:r>
              <a:rPr spc="-40"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for</a:t>
            </a:r>
            <a:r>
              <a:rPr spc="-35" dirty="0">
                <a:solidFill>
                  <a:sysClr val="windowText" lastClr="000000"/>
                </a:solidFill>
                <a:latin typeface="Palatino Linotype"/>
                <a:cs typeface="Palatino Linotype"/>
              </a:rPr>
              <a:t> </a:t>
            </a:r>
            <a:r>
              <a:rPr dirty="0">
                <a:solidFill>
                  <a:sysClr val="windowText" lastClr="000000"/>
                </a:solidFill>
                <a:latin typeface="Cambria Math"/>
                <a:cs typeface="Cambria Math"/>
              </a:rPr>
              <a:t>𝑥</a:t>
            </a:r>
            <a:r>
              <a:rPr spc="65" dirty="0">
                <a:solidFill>
                  <a:sysClr val="windowText" lastClr="000000"/>
                </a:solidFill>
                <a:latin typeface="Cambria Math"/>
                <a:cs typeface="Cambria Math"/>
              </a:rPr>
              <a:t> </a:t>
            </a:r>
            <a:r>
              <a:rPr dirty="0">
                <a:solidFill>
                  <a:sysClr val="windowText" lastClr="000000"/>
                </a:solidFill>
                <a:latin typeface="Palatino Linotype"/>
                <a:cs typeface="Palatino Linotype"/>
              </a:rPr>
              <a:t>(</a:t>
            </a:r>
            <a:r>
              <a:rPr dirty="0">
                <a:solidFill>
                  <a:srgbClr val="0432FF"/>
                </a:solidFill>
                <a:latin typeface="Palatino Linotype"/>
                <a:cs typeface="Palatino Linotype"/>
              </a:rPr>
              <a:t>the</a:t>
            </a:r>
            <a:r>
              <a:rPr spc="-35" dirty="0">
                <a:solidFill>
                  <a:srgbClr val="0432FF"/>
                </a:solidFill>
                <a:latin typeface="Palatino Linotype"/>
                <a:cs typeface="Palatino Linotype"/>
              </a:rPr>
              <a:t> </a:t>
            </a:r>
            <a:r>
              <a:rPr dirty="0">
                <a:solidFill>
                  <a:srgbClr val="0432FF"/>
                </a:solidFill>
                <a:latin typeface="Palatino Linotype"/>
                <a:cs typeface="Palatino Linotype"/>
              </a:rPr>
              <a:t>value</a:t>
            </a:r>
            <a:r>
              <a:rPr spc="-40" dirty="0">
                <a:solidFill>
                  <a:srgbClr val="0432FF"/>
                </a:solidFill>
                <a:latin typeface="Palatino Linotype"/>
                <a:cs typeface="Palatino Linotype"/>
              </a:rPr>
              <a:t> </a:t>
            </a:r>
            <a:r>
              <a:rPr spc="-25" dirty="0">
                <a:solidFill>
                  <a:srgbClr val="0432FF"/>
                </a:solidFill>
                <a:latin typeface="Palatino Linotype"/>
                <a:cs typeface="Palatino Linotype"/>
              </a:rPr>
              <a:t>in </a:t>
            </a:r>
            <a:r>
              <a:rPr dirty="0">
                <a:solidFill>
                  <a:srgbClr val="0432FF"/>
                </a:solidFill>
                <a:latin typeface="Palatino Linotype"/>
                <a:cs typeface="Palatino Linotype"/>
              </a:rPr>
              <a:t>register</a:t>
            </a:r>
            <a:r>
              <a:rPr spc="-40" dirty="0">
                <a:solidFill>
                  <a:srgbClr val="0432FF"/>
                </a:solidFill>
                <a:latin typeface="Palatino Linotype"/>
                <a:cs typeface="Palatino Linotype"/>
              </a:rPr>
              <a:t> </a:t>
            </a:r>
            <a:r>
              <a:rPr dirty="0">
                <a:solidFill>
                  <a:srgbClr val="0432FF"/>
                </a:solidFill>
                <a:latin typeface="Palatino Linotype"/>
                <a:cs typeface="Palatino Linotype"/>
              </a:rPr>
              <a:t>is</a:t>
            </a:r>
            <a:r>
              <a:rPr spc="-40" dirty="0">
                <a:solidFill>
                  <a:srgbClr val="0432FF"/>
                </a:solidFill>
                <a:latin typeface="Palatino Linotype"/>
                <a:cs typeface="Palatino Linotype"/>
              </a:rPr>
              <a:t> </a:t>
            </a:r>
            <a:r>
              <a:rPr dirty="0">
                <a:solidFill>
                  <a:srgbClr val="0432FF"/>
                </a:solidFill>
                <a:latin typeface="Palatino Linotype"/>
                <a:cs typeface="Palatino Linotype"/>
              </a:rPr>
              <a:t>newer</a:t>
            </a:r>
            <a:r>
              <a:rPr spc="-40" dirty="0">
                <a:solidFill>
                  <a:srgbClr val="0432FF"/>
                </a:solidFill>
                <a:latin typeface="Palatino Linotype"/>
                <a:cs typeface="Palatino Linotype"/>
              </a:rPr>
              <a:t> </a:t>
            </a:r>
            <a:r>
              <a:rPr dirty="0">
                <a:solidFill>
                  <a:srgbClr val="0432FF"/>
                </a:solidFill>
                <a:latin typeface="Palatino Linotype"/>
                <a:cs typeface="Palatino Linotype"/>
              </a:rPr>
              <a:t>than</a:t>
            </a:r>
            <a:r>
              <a:rPr spc="-35" dirty="0">
                <a:solidFill>
                  <a:srgbClr val="0432FF"/>
                </a:solidFill>
                <a:latin typeface="Palatino Linotype"/>
                <a:cs typeface="Palatino Linotype"/>
              </a:rPr>
              <a:t> </a:t>
            </a:r>
            <a:r>
              <a:rPr dirty="0">
                <a:solidFill>
                  <a:srgbClr val="0432FF"/>
                </a:solidFill>
                <a:latin typeface="Palatino Linotype"/>
                <a:cs typeface="Palatino Linotype"/>
              </a:rPr>
              <a:t>that</a:t>
            </a:r>
            <a:r>
              <a:rPr spc="-35" dirty="0">
                <a:solidFill>
                  <a:srgbClr val="0432FF"/>
                </a:solidFill>
                <a:latin typeface="Palatino Linotype"/>
                <a:cs typeface="Palatino Linotype"/>
              </a:rPr>
              <a:t> </a:t>
            </a:r>
            <a:r>
              <a:rPr dirty="0">
                <a:solidFill>
                  <a:srgbClr val="0432FF"/>
                </a:solidFill>
                <a:latin typeface="Palatino Linotype"/>
                <a:cs typeface="Palatino Linotype"/>
              </a:rPr>
              <a:t>in</a:t>
            </a:r>
            <a:r>
              <a:rPr spc="-40" dirty="0">
                <a:solidFill>
                  <a:srgbClr val="0432FF"/>
                </a:solidFill>
                <a:latin typeface="Palatino Linotype"/>
                <a:cs typeface="Palatino Linotype"/>
              </a:rPr>
              <a:t> </a:t>
            </a:r>
            <a:r>
              <a:rPr spc="-10" dirty="0">
                <a:solidFill>
                  <a:srgbClr val="0432FF"/>
                </a:solidFill>
                <a:latin typeface="Palatino Linotype"/>
                <a:cs typeface="Palatino Linotype"/>
              </a:rPr>
              <a:t>memory</a:t>
            </a:r>
            <a:r>
              <a:rPr spc="-10" dirty="0">
                <a:solidFill>
                  <a:sysClr val="windowText" lastClr="000000"/>
                </a:solidFill>
                <a:latin typeface="Palatino Linotype"/>
                <a:cs typeface="Palatino Linotype"/>
              </a:rPr>
              <a:t>)</a:t>
            </a:r>
            <a:endParaRPr>
              <a:solidFill>
                <a:sysClr val="windowText" lastClr="000000"/>
              </a:solidFill>
              <a:latin typeface="Palatino Linotype"/>
              <a:cs typeface="Palatino Linotype"/>
            </a:endParaRPr>
          </a:p>
        </p:txBody>
      </p:sp>
    </p:spTree>
    <p:extLst>
      <p:ext uri="{BB962C8B-B14F-4D97-AF65-F5344CB8AC3E}">
        <p14:creationId xmlns:p14="http://schemas.microsoft.com/office/powerpoint/2010/main" val="290919612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65</a:t>
            </a:fld>
            <a:endParaRPr lang="en-US"/>
          </a:p>
        </p:txBody>
      </p:sp>
      <p:sp>
        <p:nvSpPr>
          <p:cNvPr id="8" name="object 2">
            <a:extLst>
              <a:ext uri="{FF2B5EF4-FFF2-40B4-BE49-F238E27FC236}">
                <a16:creationId xmlns:a16="http://schemas.microsoft.com/office/drawing/2014/main" id="{163832FC-4687-6BD6-A810-28919F44E6F3}"/>
              </a:ext>
            </a:extLst>
          </p:cNvPr>
          <p:cNvSpPr txBox="1">
            <a:spLocks/>
          </p:cNvSpPr>
          <p:nvPr/>
        </p:nvSpPr>
        <p:spPr>
          <a:xfrm>
            <a:off x="707390" y="524763"/>
            <a:ext cx="7729219" cy="63500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4000" b="1" i="0" u="none" strike="noStrike" kern="0" cap="none" spc="0" normalizeH="0" baseline="0" noProof="0">
                <a:ln>
                  <a:noFill/>
                </a:ln>
                <a:solidFill>
                  <a:sysClr val="windowText" lastClr="000000"/>
                </a:solidFill>
                <a:effectLst/>
                <a:uLnTx/>
                <a:uFillTx/>
                <a:latin typeface="Palatino Linotype"/>
                <a:ea typeface="+mj-ea"/>
              </a:rPr>
              <a:t>Algorithm</a:t>
            </a:r>
            <a:r>
              <a:rPr kumimoji="0" lang="en-US" sz="4000" b="1" i="0" u="none" strike="noStrike" kern="0" cap="none" spc="-125" normalizeH="0" baseline="0" noProof="0">
                <a:ln>
                  <a:noFill/>
                </a:ln>
                <a:solidFill>
                  <a:sysClr val="windowText" lastClr="000000"/>
                </a:solidFill>
                <a:effectLst/>
                <a:uLnTx/>
                <a:uFillTx/>
                <a:latin typeface="Palatino Linotype"/>
                <a:ea typeface="+mj-ea"/>
              </a:rPr>
              <a:t> </a:t>
            </a:r>
            <a:r>
              <a:rPr kumimoji="0" lang="en-US" sz="4000" b="1" i="0" u="none" strike="noStrike" kern="0" cap="none" spc="0" normalizeH="0" baseline="0" noProof="0">
                <a:ln>
                  <a:noFill/>
                </a:ln>
                <a:solidFill>
                  <a:sysClr val="windowText" lastClr="000000"/>
                </a:solidFill>
                <a:effectLst/>
                <a:uLnTx/>
                <a:uFillTx/>
                <a:latin typeface="Palatino Linotype"/>
                <a:ea typeface="+mj-ea"/>
              </a:rPr>
              <a:t>Details</a:t>
            </a:r>
            <a:r>
              <a:rPr kumimoji="0" lang="en-US" sz="4000" b="1" i="0" u="none" strike="noStrike" kern="0" cap="none" spc="-135" normalizeH="0" baseline="0" noProof="0">
                <a:ln>
                  <a:noFill/>
                </a:ln>
                <a:solidFill>
                  <a:sysClr val="windowText" lastClr="000000"/>
                </a:solidFill>
                <a:effectLst/>
                <a:uLnTx/>
                <a:uFillTx/>
                <a:latin typeface="Palatino Linotype"/>
                <a:ea typeface="+mj-ea"/>
              </a:rPr>
              <a:t> </a:t>
            </a:r>
            <a:r>
              <a:rPr kumimoji="0" lang="en-US" sz="4000" b="1" i="0" u="none" strike="noStrike" kern="0" cap="none" spc="-25" normalizeH="0" baseline="0" noProof="0">
                <a:ln>
                  <a:noFill/>
                </a:ln>
                <a:solidFill>
                  <a:sysClr val="windowText" lastClr="000000"/>
                </a:solidFill>
                <a:effectLst/>
                <a:uLnTx/>
                <a:uFillTx/>
                <a:latin typeface="Palatino Linotype"/>
                <a:ea typeface="+mj-ea"/>
              </a:rPr>
              <a:t>(4)</a:t>
            </a:r>
            <a:endParaRPr kumimoji="0" lang="en-US" sz="4000" b="1" i="0" u="none" strike="noStrike" kern="0" cap="none" spc="-25" normalizeH="0" baseline="0" noProof="0" dirty="0">
              <a:ln>
                <a:noFill/>
              </a:ln>
              <a:solidFill>
                <a:sysClr val="windowText" lastClr="000000"/>
              </a:solidFill>
              <a:effectLst/>
              <a:uLnTx/>
              <a:uFillTx/>
              <a:latin typeface="Palatino Linotype"/>
              <a:ea typeface="+mj-ea"/>
            </a:endParaRPr>
          </a:p>
        </p:txBody>
      </p:sp>
      <p:sp>
        <p:nvSpPr>
          <p:cNvPr id="9" name="object 3">
            <a:extLst>
              <a:ext uri="{FF2B5EF4-FFF2-40B4-BE49-F238E27FC236}">
                <a16:creationId xmlns:a16="http://schemas.microsoft.com/office/drawing/2014/main" id="{B42C7A35-E015-C0DD-A08A-DF0CF8BBF6D3}"/>
              </a:ext>
            </a:extLst>
          </p:cNvPr>
          <p:cNvSpPr txBox="1"/>
          <p:nvPr/>
        </p:nvSpPr>
        <p:spPr>
          <a:xfrm>
            <a:off x="615754" y="1658620"/>
            <a:ext cx="7912734" cy="2875280"/>
          </a:xfrm>
          <a:prstGeom prst="rect">
            <a:avLst/>
          </a:prstGeom>
        </p:spPr>
        <p:txBody>
          <a:bodyPr vert="horz" wrap="square" lIns="0" tIns="12700" rIns="0" bIns="0" rtlCol="0">
            <a:spAutoFit/>
          </a:bodyPr>
          <a:lstStyle/>
          <a:p>
            <a:pPr marL="48895">
              <a:spcBef>
                <a:spcPts val="100"/>
              </a:spcBef>
            </a:pPr>
            <a:r>
              <a:rPr sz="2200" dirty="0">
                <a:solidFill>
                  <a:srgbClr val="FF0000"/>
                </a:solidFill>
                <a:latin typeface="Palatino Linotype"/>
                <a:cs typeface="Palatino Linotype"/>
              </a:rPr>
              <a:t>Update</a:t>
            </a:r>
            <a:r>
              <a:rPr sz="2200" spc="-50" dirty="0">
                <a:solidFill>
                  <a:srgbClr val="FF0000"/>
                </a:solidFill>
                <a:latin typeface="Palatino Linotype"/>
                <a:cs typeface="Palatino Linotype"/>
              </a:rPr>
              <a:t> </a:t>
            </a:r>
            <a:r>
              <a:rPr sz="2200" dirty="0">
                <a:solidFill>
                  <a:srgbClr val="FF0000"/>
                </a:solidFill>
                <a:latin typeface="Palatino Linotype"/>
                <a:cs typeface="Palatino Linotype"/>
              </a:rPr>
              <a:t>register</a:t>
            </a:r>
            <a:r>
              <a:rPr sz="2200" spc="-40" dirty="0">
                <a:solidFill>
                  <a:srgbClr val="FF0000"/>
                </a:solidFill>
                <a:latin typeface="Palatino Linotype"/>
                <a:cs typeface="Palatino Linotype"/>
              </a:rPr>
              <a:t> </a:t>
            </a:r>
            <a:r>
              <a:rPr sz="2200" dirty="0">
                <a:solidFill>
                  <a:srgbClr val="FF0000"/>
                </a:solidFill>
                <a:latin typeface="Palatino Linotype"/>
                <a:cs typeface="Palatino Linotype"/>
              </a:rPr>
              <a:t>and</a:t>
            </a:r>
            <a:r>
              <a:rPr sz="2200" spc="-35" dirty="0">
                <a:solidFill>
                  <a:srgbClr val="FF0000"/>
                </a:solidFill>
                <a:latin typeface="Palatino Linotype"/>
                <a:cs typeface="Palatino Linotype"/>
              </a:rPr>
              <a:t> </a:t>
            </a:r>
            <a:r>
              <a:rPr sz="2200" dirty="0">
                <a:solidFill>
                  <a:srgbClr val="FF0000"/>
                </a:solidFill>
                <a:latin typeface="Palatino Linotype"/>
                <a:cs typeface="Palatino Linotype"/>
              </a:rPr>
              <a:t>address</a:t>
            </a:r>
            <a:r>
              <a:rPr sz="2200" spc="-40" dirty="0">
                <a:solidFill>
                  <a:srgbClr val="FF0000"/>
                </a:solidFill>
                <a:latin typeface="Palatino Linotype"/>
                <a:cs typeface="Palatino Linotype"/>
              </a:rPr>
              <a:t> </a:t>
            </a:r>
            <a:r>
              <a:rPr sz="2200" dirty="0">
                <a:solidFill>
                  <a:srgbClr val="FF0000"/>
                </a:solidFill>
                <a:latin typeface="Palatino Linotype"/>
                <a:cs typeface="Palatino Linotype"/>
              </a:rPr>
              <a:t>descriptors</a:t>
            </a:r>
            <a:r>
              <a:rPr sz="2200" spc="-35" dirty="0">
                <a:solidFill>
                  <a:srgbClr val="FF0000"/>
                </a:solidFill>
                <a:latin typeface="Palatino Linotype"/>
                <a:cs typeface="Palatino Linotype"/>
              </a:rPr>
              <a:t> </a:t>
            </a:r>
            <a:r>
              <a:rPr sz="2200" dirty="0">
                <a:solidFill>
                  <a:srgbClr val="FF0000"/>
                </a:solidFill>
                <a:latin typeface="Palatino Linotype"/>
                <a:cs typeface="Palatino Linotype"/>
              </a:rPr>
              <a:t>with</a:t>
            </a:r>
            <a:r>
              <a:rPr sz="2200" spc="-55" dirty="0">
                <a:solidFill>
                  <a:srgbClr val="FF0000"/>
                </a:solidFill>
                <a:latin typeface="Palatino Linotype"/>
                <a:cs typeface="Palatino Linotype"/>
              </a:rPr>
              <a:t> </a:t>
            </a:r>
            <a:r>
              <a:rPr sz="2200" dirty="0">
                <a:solidFill>
                  <a:srgbClr val="FF0000"/>
                </a:solidFill>
                <a:latin typeface="Palatino Linotype"/>
                <a:cs typeface="Palatino Linotype"/>
              </a:rPr>
              <a:t>four</a:t>
            </a:r>
            <a:r>
              <a:rPr sz="2200" spc="-35" dirty="0">
                <a:solidFill>
                  <a:srgbClr val="FF0000"/>
                </a:solidFill>
                <a:latin typeface="Palatino Linotype"/>
                <a:cs typeface="Palatino Linotype"/>
              </a:rPr>
              <a:t> </a:t>
            </a:r>
            <a:r>
              <a:rPr sz="2200" spc="-10" dirty="0">
                <a:solidFill>
                  <a:srgbClr val="FF0000"/>
                </a:solidFill>
                <a:latin typeface="Palatino Linotype"/>
                <a:cs typeface="Palatino Linotype"/>
              </a:rPr>
              <a:t>rules:</a:t>
            </a:r>
            <a:endParaRPr sz="2200">
              <a:solidFill>
                <a:sysClr val="windowText" lastClr="000000"/>
              </a:solidFill>
              <a:latin typeface="Palatino Linotype"/>
              <a:cs typeface="Palatino Linotype"/>
            </a:endParaRPr>
          </a:p>
          <a:p>
            <a:pPr marL="393065" indent="-342265">
              <a:spcBef>
                <a:spcPts val="2865"/>
              </a:spcBef>
              <a:buFontTx/>
              <a:buAutoNum type="arabicPeriod"/>
              <a:tabLst>
                <a:tab pos="393065" algn="l"/>
              </a:tabLst>
            </a:pPr>
            <a:r>
              <a:rPr sz="2000" dirty="0">
                <a:solidFill>
                  <a:sysClr val="windowText" lastClr="000000"/>
                </a:solidFill>
                <a:latin typeface="Palatino Linotype"/>
                <a:cs typeface="Palatino Linotype"/>
              </a:rPr>
              <a:t>For</a:t>
            </a:r>
            <a:r>
              <a:rPr sz="2000" spc="-2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the</a:t>
            </a:r>
            <a:r>
              <a:rPr sz="2000" spc="-1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instruction</a:t>
            </a:r>
            <a:r>
              <a:rPr sz="2000" spc="-20" dirty="0">
                <a:solidFill>
                  <a:sysClr val="windowText" lastClr="000000"/>
                </a:solidFill>
                <a:latin typeface="Palatino Linotype"/>
                <a:cs typeface="Palatino Linotype"/>
              </a:rPr>
              <a:t> </a:t>
            </a:r>
            <a:r>
              <a:rPr sz="2000" dirty="0">
                <a:solidFill>
                  <a:srgbClr val="0432FF"/>
                </a:solidFill>
                <a:latin typeface="Palatino Linotype"/>
                <a:cs typeface="Palatino Linotype"/>
              </a:rPr>
              <a:t>LD</a:t>
            </a:r>
            <a:r>
              <a:rPr sz="2000" spc="-15" dirty="0">
                <a:solidFill>
                  <a:srgbClr val="0432FF"/>
                </a:solidFill>
                <a:latin typeface="Palatino Linotype"/>
                <a:cs typeface="Palatino Linotype"/>
              </a:rPr>
              <a:t> </a:t>
            </a:r>
            <a:r>
              <a:rPr sz="2000" dirty="0">
                <a:solidFill>
                  <a:srgbClr val="0432FF"/>
                </a:solidFill>
                <a:latin typeface="Cambria Math"/>
                <a:cs typeface="Cambria Math"/>
              </a:rPr>
              <a:t>𝑅</a:t>
            </a:r>
            <a:r>
              <a:rPr sz="2000" dirty="0">
                <a:solidFill>
                  <a:srgbClr val="0432FF"/>
                </a:solidFill>
                <a:latin typeface="Palatino Linotype"/>
                <a:cs typeface="Palatino Linotype"/>
              </a:rPr>
              <a:t>,</a:t>
            </a:r>
            <a:r>
              <a:rPr sz="2000" spc="-15" dirty="0">
                <a:solidFill>
                  <a:srgbClr val="0432FF"/>
                </a:solidFill>
                <a:latin typeface="Palatino Linotype"/>
                <a:cs typeface="Palatino Linotype"/>
              </a:rPr>
              <a:t> </a:t>
            </a:r>
            <a:r>
              <a:rPr sz="2000" spc="-25" dirty="0">
                <a:solidFill>
                  <a:srgbClr val="0432FF"/>
                </a:solidFill>
                <a:latin typeface="Cambria Math"/>
                <a:cs typeface="Cambria Math"/>
              </a:rPr>
              <a:t>𝑥</a:t>
            </a:r>
            <a:r>
              <a:rPr sz="2000" spc="-25" dirty="0">
                <a:solidFill>
                  <a:sysClr val="windowText" lastClr="000000"/>
                </a:solidFill>
                <a:latin typeface="Palatino Linotype"/>
                <a:cs typeface="Palatino Linotype"/>
              </a:rPr>
              <a:t>:</a:t>
            </a:r>
            <a:endParaRPr sz="2000">
              <a:solidFill>
                <a:sysClr val="windowText" lastClr="000000"/>
              </a:solidFill>
              <a:latin typeface="Palatino Linotype"/>
              <a:cs typeface="Palatino Linotype"/>
            </a:endParaRPr>
          </a:p>
          <a:p>
            <a:pPr marL="848360" lvl="1" indent="-342265">
              <a:spcBef>
                <a:spcPts val="1090"/>
              </a:spcBef>
              <a:buFontTx/>
              <a:buAutoNum type="alphaLcParenR"/>
              <a:tabLst>
                <a:tab pos="848360" algn="l"/>
              </a:tabLst>
            </a:pPr>
            <a:r>
              <a:rPr sz="1700" dirty="0">
                <a:solidFill>
                  <a:sysClr val="windowText" lastClr="000000"/>
                </a:solidFill>
                <a:latin typeface="Palatino Linotype"/>
                <a:cs typeface="Palatino Linotype"/>
              </a:rPr>
              <a:t>Change</a:t>
            </a:r>
            <a:r>
              <a:rPr sz="1700" spc="-30" dirty="0">
                <a:solidFill>
                  <a:sysClr val="windowText" lastClr="000000"/>
                </a:solidFill>
                <a:latin typeface="Palatino Linotype"/>
                <a:cs typeface="Palatino Linotype"/>
              </a:rPr>
              <a:t> </a:t>
            </a:r>
            <a:r>
              <a:rPr sz="1700" dirty="0">
                <a:solidFill>
                  <a:sysClr val="windowText" lastClr="000000"/>
                </a:solidFill>
                <a:latin typeface="Palatino Linotype"/>
                <a:cs typeface="Palatino Linotype"/>
              </a:rPr>
              <a:t>the</a:t>
            </a:r>
            <a:r>
              <a:rPr sz="1700" spc="-30" dirty="0">
                <a:solidFill>
                  <a:sysClr val="windowText" lastClr="000000"/>
                </a:solidFill>
                <a:latin typeface="Palatino Linotype"/>
                <a:cs typeface="Palatino Linotype"/>
              </a:rPr>
              <a:t> </a:t>
            </a:r>
            <a:r>
              <a:rPr sz="1700" dirty="0">
                <a:solidFill>
                  <a:srgbClr val="FF0000"/>
                </a:solidFill>
                <a:latin typeface="Palatino Linotype"/>
                <a:cs typeface="Palatino Linotype"/>
              </a:rPr>
              <a:t>register</a:t>
            </a:r>
            <a:r>
              <a:rPr sz="1700" spc="-25" dirty="0">
                <a:solidFill>
                  <a:srgbClr val="FF0000"/>
                </a:solidFill>
                <a:latin typeface="Palatino Linotype"/>
                <a:cs typeface="Palatino Linotype"/>
              </a:rPr>
              <a:t> </a:t>
            </a:r>
            <a:r>
              <a:rPr sz="1700" dirty="0">
                <a:solidFill>
                  <a:srgbClr val="FF0000"/>
                </a:solidFill>
                <a:latin typeface="Palatino Linotype"/>
                <a:cs typeface="Palatino Linotype"/>
              </a:rPr>
              <a:t>descriptor</a:t>
            </a:r>
            <a:r>
              <a:rPr sz="1700" spc="-20" dirty="0">
                <a:solidFill>
                  <a:srgbClr val="FF0000"/>
                </a:solidFill>
                <a:latin typeface="Palatino Linotype"/>
                <a:cs typeface="Palatino Linotype"/>
              </a:rPr>
              <a:t> </a:t>
            </a:r>
            <a:r>
              <a:rPr sz="1700" dirty="0">
                <a:solidFill>
                  <a:sysClr val="windowText" lastClr="000000"/>
                </a:solidFill>
                <a:latin typeface="Palatino Linotype"/>
                <a:cs typeface="Palatino Linotype"/>
              </a:rPr>
              <a:t>for</a:t>
            </a:r>
            <a:r>
              <a:rPr sz="1700" spc="-25" dirty="0">
                <a:solidFill>
                  <a:sysClr val="windowText" lastClr="000000"/>
                </a:solidFill>
                <a:latin typeface="Palatino Linotype"/>
                <a:cs typeface="Palatino Linotype"/>
              </a:rPr>
              <a:t> </a:t>
            </a:r>
            <a:r>
              <a:rPr sz="1700" dirty="0">
                <a:solidFill>
                  <a:sysClr val="windowText" lastClr="000000"/>
                </a:solidFill>
                <a:latin typeface="Cambria Math"/>
                <a:cs typeface="Cambria Math"/>
              </a:rPr>
              <a:t>𝑅</a:t>
            </a:r>
            <a:r>
              <a:rPr sz="1700" spc="70" dirty="0">
                <a:solidFill>
                  <a:sysClr val="windowText" lastClr="000000"/>
                </a:solidFill>
                <a:latin typeface="Cambria Math"/>
                <a:cs typeface="Cambria Math"/>
              </a:rPr>
              <a:t> </a:t>
            </a:r>
            <a:r>
              <a:rPr sz="1700" dirty="0">
                <a:solidFill>
                  <a:sysClr val="windowText" lastClr="000000"/>
                </a:solidFill>
                <a:latin typeface="Palatino Linotype"/>
                <a:cs typeface="Palatino Linotype"/>
              </a:rPr>
              <a:t>so</a:t>
            </a:r>
            <a:r>
              <a:rPr sz="1700" spc="-25" dirty="0">
                <a:solidFill>
                  <a:sysClr val="windowText" lastClr="000000"/>
                </a:solidFill>
                <a:latin typeface="Palatino Linotype"/>
                <a:cs typeface="Palatino Linotype"/>
              </a:rPr>
              <a:t> </a:t>
            </a:r>
            <a:r>
              <a:rPr sz="1700" dirty="0">
                <a:solidFill>
                  <a:sysClr val="windowText" lastClr="000000"/>
                </a:solidFill>
                <a:latin typeface="Palatino Linotype"/>
                <a:cs typeface="Palatino Linotype"/>
              </a:rPr>
              <a:t>it</a:t>
            </a:r>
            <a:r>
              <a:rPr sz="1700" spc="-30" dirty="0">
                <a:solidFill>
                  <a:sysClr val="windowText" lastClr="000000"/>
                </a:solidFill>
                <a:latin typeface="Palatino Linotype"/>
                <a:cs typeface="Palatino Linotype"/>
              </a:rPr>
              <a:t> </a:t>
            </a:r>
            <a:r>
              <a:rPr sz="1700" dirty="0">
                <a:solidFill>
                  <a:sysClr val="windowText" lastClr="000000"/>
                </a:solidFill>
                <a:latin typeface="Palatino Linotype"/>
                <a:cs typeface="Palatino Linotype"/>
              </a:rPr>
              <a:t>holds</a:t>
            </a:r>
            <a:r>
              <a:rPr sz="1700" spc="-25" dirty="0">
                <a:solidFill>
                  <a:sysClr val="windowText" lastClr="000000"/>
                </a:solidFill>
                <a:latin typeface="Palatino Linotype"/>
                <a:cs typeface="Palatino Linotype"/>
              </a:rPr>
              <a:t> </a:t>
            </a:r>
            <a:r>
              <a:rPr sz="1700" dirty="0">
                <a:solidFill>
                  <a:sysClr val="windowText" lastClr="000000"/>
                </a:solidFill>
                <a:latin typeface="Palatino Linotype"/>
                <a:cs typeface="Palatino Linotype"/>
              </a:rPr>
              <a:t>only</a:t>
            </a:r>
            <a:r>
              <a:rPr sz="1700" spc="-25" dirty="0">
                <a:solidFill>
                  <a:sysClr val="windowText" lastClr="000000"/>
                </a:solidFill>
                <a:latin typeface="Palatino Linotype"/>
                <a:cs typeface="Palatino Linotype"/>
              </a:rPr>
              <a:t> </a:t>
            </a:r>
            <a:r>
              <a:rPr sz="1700" spc="-50" dirty="0">
                <a:solidFill>
                  <a:sysClr val="windowText" lastClr="000000"/>
                </a:solidFill>
                <a:latin typeface="Cambria Math"/>
                <a:cs typeface="Cambria Math"/>
              </a:rPr>
              <a:t>𝑥</a:t>
            </a:r>
            <a:endParaRPr sz="1700">
              <a:solidFill>
                <a:sysClr val="windowText" lastClr="000000"/>
              </a:solidFill>
              <a:latin typeface="Cambria Math"/>
              <a:cs typeface="Cambria Math"/>
            </a:endParaRPr>
          </a:p>
          <a:p>
            <a:pPr marL="848360" lvl="1" indent="-342265">
              <a:spcBef>
                <a:spcPts val="960"/>
              </a:spcBef>
              <a:buFontTx/>
              <a:buAutoNum type="alphaLcParenR"/>
              <a:tabLst>
                <a:tab pos="848360" algn="l"/>
              </a:tabLst>
            </a:pPr>
            <a:r>
              <a:rPr sz="1700" dirty="0">
                <a:solidFill>
                  <a:sysClr val="windowText" lastClr="000000"/>
                </a:solidFill>
                <a:latin typeface="Palatino Linotype"/>
                <a:cs typeface="Palatino Linotype"/>
              </a:rPr>
              <a:t>Change</a:t>
            </a:r>
            <a:r>
              <a:rPr sz="1700" spc="-30" dirty="0">
                <a:solidFill>
                  <a:sysClr val="windowText" lastClr="000000"/>
                </a:solidFill>
                <a:latin typeface="Palatino Linotype"/>
                <a:cs typeface="Palatino Linotype"/>
              </a:rPr>
              <a:t> </a:t>
            </a:r>
            <a:r>
              <a:rPr sz="1700" dirty="0">
                <a:solidFill>
                  <a:sysClr val="windowText" lastClr="000000"/>
                </a:solidFill>
                <a:latin typeface="Palatino Linotype"/>
                <a:cs typeface="Palatino Linotype"/>
              </a:rPr>
              <a:t>the</a:t>
            </a:r>
            <a:r>
              <a:rPr sz="1700" spc="-25" dirty="0">
                <a:solidFill>
                  <a:sysClr val="windowText" lastClr="000000"/>
                </a:solidFill>
                <a:latin typeface="Palatino Linotype"/>
                <a:cs typeface="Palatino Linotype"/>
              </a:rPr>
              <a:t> </a:t>
            </a:r>
            <a:r>
              <a:rPr sz="1700" dirty="0">
                <a:solidFill>
                  <a:srgbClr val="FF0000"/>
                </a:solidFill>
                <a:latin typeface="Palatino Linotype"/>
                <a:cs typeface="Palatino Linotype"/>
              </a:rPr>
              <a:t>address</a:t>
            </a:r>
            <a:r>
              <a:rPr sz="1700" spc="-25" dirty="0">
                <a:solidFill>
                  <a:srgbClr val="FF0000"/>
                </a:solidFill>
                <a:latin typeface="Palatino Linotype"/>
                <a:cs typeface="Palatino Linotype"/>
              </a:rPr>
              <a:t> </a:t>
            </a:r>
            <a:r>
              <a:rPr sz="1700" dirty="0">
                <a:solidFill>
                  <a:srgbClr val="FF0000"/>
                </a:solidFill>
                <a:latin typeface="Palatino Linotype"/>
                <a:cs typeface="Palatino Linotype"/>
              </a:rPr>
              <a:t>descriptor</a:t>
            </a:r>
            <a:r>
              <a:rPr sz="1700" spc="-20" dirty="0">
                <a:solidFill>
                  <a:srgbClr val="FF0000"/>
                </a:solidFill>
                <a:latin typeface="Palatino Linotype"/>
                <a:cs typeface="Palatino Linotype"/>
              </a:rPr>
              <a:t> </a:t>
            </a:r>
            <a:r>
              <a:rPr sz="1700" dirty="0">
                <a:solidFill>
                  <a:sysClr val="windowText" lastClr="000000"/>
                </a:solidFill>
                <a:latin typeface="Palatino Linotype"/>
                <a:cs typeface="Palatino Linotype"/>
              </a:rPr>
              <a:t>for</a:t>
            </a:r>
            <a:r>
              <a:rPr sz="1700" spc="-25" dirty="0">
                <a:solidFill>
                  <a:sysClr val="windowText" lastClr="000000"/>
                </a:solidFill>
                <a:latin typeface="Palatino Linotype"/>
                <a:cs typeface="Palatino Linotype"/>
              </a:rPr>
              <a:t> </a:t>
            </a:r>
            <a:r>
              <a:rPr sz="1700" dirty="0">
                <a:solidFill>
                  <a:sysClr val="windowText" lastClr="000000"/>
                </a:solidFill>
                <a:latin typeface="Cambria Math"/>
                <a:cs typeface="Cambria Math"/>
              </a:rPr>
              <a:t>𝑥</a:t>
            </a:r>
            <a:r>
              <a:rPr sz="1700" spc="70" dirty="0">
                <a:solidFill>
                  <a:sysClr val="windowText" lastClr="000000"/>
                </a:solidFill>
                <a:latin typeface="Cambria Math"/>
                <a:cs typeface="Cambria Math"/>
              </a:rPr>
              <a:t> </a:t>
            </a:r>
            <a:r>
              <a:rPr sz="1700" dirty="0">
                <a:solidFill>
                  <a:sysClr val="windowText" lastClr="000000"/>
                </a:solidFill>
                <a:latin typeface="Palatino Linotype"/>
                <a:cs typeface="Palatino Linotype"/>
              </a:rPr>
              <a:t>by</a:t>
            </a:r>
            <a:r>
              <a:rPr sz="1700" spc="-25" dirty="0">
                <a:solidFill>
                  <a:sysClr val="windowText" lastClr="000000"/>
                </a:solidFill>
                <a:latin typeface="Palatino Linotype"/>
                <a:cs typeface="Palatino Linotype"/>
              </a:rPr>
              <a:t> </a:t>
            </a:r>
            <a:r>
              <a:rPr sz="1700" dirty="0">
                <a:solidFill>
                  <a:sysClr val="windowText" lastClr="000000"/>
                </a:solidFill>
                <a:latin typeface="Palatino Linotype"/>
                <a:cs typeface="Palatino Linotype"/>
              </a:rPr>
              <a:t>adding</a:t>
            </a:r>
            <a:r>
              <a:rPr sz="1700" spc="-20" dirty="0">
                <a:solidFill>
                  <a:sysClr val="windowText" lastClr="000000"/>
                </a:solidFill>
                <a:latin typeface="Palatino Linotype"/>
                <a:cs typeface="Palatino Linotype"/>
              </a:rPr>
              <a:t> </a:t>
            </a:r>
            <a:r>
              <a:rPr sz="1700" dirty="0">
                <a:solidFill>
                  <a:sysClr val="windowText" lastClr="000000"/>
                </a:solidFill>
                <a:latin typeface="Cambria Math"/>
                <a:cs typeface="Cambria Math"/>
              </a:rPr>
              <a:t>𝑅</a:t>
            </a:r>
            <a:r>
              <a:rPr sz="1700" spc="75" dirty="0">
                <a:solidFill>
                  <a:sysClr val="windowText" lastClr="000000"/>
                </a:solidFill>
                <a:latin typeface="Cambria Math"/>
                <a:cs typeface="Cambria Math"/>
              </a:rPr>
              <a:t> </a:t>
            </a:r>
            <a:r>
              <a:rPr sz="1700" dirty="0">
                <a:solidFill>
                  <a:sysClr val="windowText" lastClr="000000"/>
                </a:solidFill>
                <a:latin typeface="Palatino Linotype"/>
                <a:cs typeface="Palatino Linotype"/>
              </a:rPr>
              <a:t>as</a:t>
            </a:r>
            <a:r>
              <a:rPr sz="1700" spc="-25" dirty="0">
                <a:solidFill>
                  <a:sysClr val="windowText" lastClr="000000"/>
                </a:solidFill>
                <a:latin typeface="Palatino Linotype"/>
                <a:cs typeface="Palatino Linotype"/>
              </a:rPr>
              <a:t> </a:t>
            </a:r>
            <a:r>
              <a:rPr sz="1700" dirty="0">
                <a:solidFill>
                  <a:sysClr val="windowText" lastClr="000000"/>
                </a:solidFill>
                <a:latin typeface="Palatino Linotype"/>
                <a:cs typeface="Palatino Linotype"/>
              </a:rPr>
              <a:t>an</a:t>
            </a:r>
            <a:r>
              <a:rPr sz="1700" spc="-25" dirty="0">
                <a:solidFill>
                  <a:sysClr val="windowText" lastClr="000000"/>
                </a:solidFill>
                <a:latin typeface="Palatino Linotype"/>
                <a:cs typeface="Palatino Linotype"/>
              </a:rPr>
              <a:t> </a:t>
            </a:r>
            <a:r>
              <a:rPr sz="1700" dirty="0">
                <a:solidFill>
                  <a:sysClr val="windowText" lastClr="000000"/>
                </a:solidFill>
                <a:latin typeface="Palatino Linotype"/>
                <a:cs typeface="Palatino Linotype"/>
              </a:rPr>
              <a:t>additional</a:t>
            </a:r>
            <a:r>
              <a:rPr sz="1700" spc="-20" dirty="0">
                <a:solidFill>
                  <a:sysClr val="windowText" lastClr="000000"/>
                </a:solidFill>
                <a:latin typeface="Palatino Linotype"/>
                <a:cs typeface="Palatino Linotype"/>
              </a:rPr>
              <a:t> </a:t>
            </a:r>
            <a:r>
              <a:rPr sz="1700" spc="-10" dirty="0">
                <a:solidFill>
                  <a:sysClr val="windowText" lastClr="000000"/>
                </a:solidFill>
                <a:latin typeface="Palatino Linotype"/>
                <a:cs typeface="Palatino Linotype"/>
              </a:rPr>
              <a:t>location</a:t>
            </a:r>
            <a:endParaRPr sz="1700">
              <a:solidFill>
                <a:sysClr val="windowText" lastClr="000000"/>
              </a:solidFill>
              <a:latin typeface="Palatino Linotype"/>
              <a:cs typeface="Palatino Linotype"/>
            </a:endParaRPr>
          </a:p>
          <a:p>
            <a:pPr marL="0" lvl="1">
              <a:spcBef>
                <a:spcPts val="575"/>
              </a:spcBef>
              <a:buFont typeface="Palatino Linotype"/>
              <a:buAutoNum type="alphaLcParenR"/>
            </a:pPr>
            <a:endParaRPr sz="1700">
              <a:solidFill>
                <a:sysClr val="windowText" lastClr="000000"/>
              </a:solidFill>
              <a:latin typeface="Palatino Linotype"/>
              <a:cs typeface="Palatino Linotype"/>
            </a:endParaRPr>
          </a:p>
          <a:p>
            <a:pPr marL="393065" indent="-342265">
              <a:buFontTx/>
              <a:buAutoNum type="arabicPeriod"/>
              <a:tabLst>
                <a:tab pos="393065" algn="l"/>
              </a:tabLst>
            </a:pPr>
            <a:r>
              <a:rPr sz="2000" dirty="0">
                <a:solidFill>
                  <a:sysClr val="windowText" lastClr="000000"/>
                </a:solidFill>
                <a:latin typeface="Palatino Linotype"/>
                <a:cs typeface="Palatino Linotype"/>
              </a:rPr>
              <a:t>For</a:t>
            </a:r>
            <a:r>
              <a:rPr sz="2000" spc="-1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the</a:t>
            </a:r>
            <a:r>
              <a:rPr sz="2000" spc="-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instruction</a:t>
            </a:r>
            <a:r>
              <a:rPr sz="2000" spc="-10" dirty="0">
                <a:solidFill>
                  <a:sysClr val="windowText" lastClr="000000"/>
                </a:solidFill>
                <a:latin typeface="Palatino Linotype"/>
                <a:cs typeface="Palatino Linotype"/>
              </a:rPr>
              <a:t> </a:t>
            </a:r>
            <a:r>
              <a:rPr sz="2000" dirty="0">
                <a:solidFill>
                  <a:srgbClr val="0432FF"/>
                </a:solidFill>
                <a:latin typeface="Palatino Linotype"/>
                <a:cs typeface="Palatino Linotype"/>
              </a:rPr>
              <a:t>ST</a:t>
            </a:r>
            <a:r>
              <a:rPr sz="2000" spc="-10" dirty="0">
                <a:solidFill>
                  <a:srgbClr val="0432FF"/>
                </a:solidFill>
                <a:latin typeface="Palatino Linotype"/>
                <a:cs typeface="Palatino Linotype"/>
              </a:rPr>
              <a:t> </a:t>
            </a:r>
            <a:r>
              <a:rPr sz="2000" dirty="0">
                <a:solidFill>
                  <a:srgbClr val="0432FF"/>
                </a:solidFill>
                <a:latin typeface="Cambria Math"/>
                <a:cs typeface="Cambria Math"/>
              </a:rPr>
              <a:t>𝑥</a:t>
            </a:r>
            <a:r>
              <a:rPr sz="2000" dirty="0">
                <a:solidFill>
                  <a:srgbClr val="0432FF"/>
                </a:solidFill>
                <a:latin typeface="Palatino Linotype"/>
                <a:cs typeface="Palatino Linotype"/>
              </a:rPr>
              <a:t>,</a:t>
            </a:r>
            <a:r>
              <a:rPr sz="2000" spc="-10" dirty="0">
                <a:solidFill>
                  <a:srgbClr val="0432FF"/>
                </a:solidFill>
                <a:latin typeface="Palatino Linotype"/>
                <a:cs typeface="Palatino Linotype"/>
              </a:rPr>
              <a:t> </a:t>
            </a:r>
            <a:r>
              <a:rPr sz="2000" spc="-25" dirty="0">
                <a:solidFill>
                  <a:srgbClr val="0432FF"/>
                </a:solidFill>
                <a:latin typeface="Cambria Math"/>
                <a:cs typeface="Cambria Math"/>
              </a:rPr>
              <a:t>𝑅</a:t>
            </a:r>
            <a:r>
              <a:rPr sz="2000" spc="-25" dirty="0">
                <a:solidFill>
                  <a:sysClr val="windowText" lastClr="000000"/>
                </a:solidFill>
                <a:latin typeface="Palatino Linotype"/>
                <a:cs typeface="Palatino Linotype"/>
              </a:rPr>
              <a:t>:</a:t>
            </a:r>
            <a:endParaRPr sz="2000">
              <a:solidFill>
                <a:sysClr val="windowText" lastClr="000000"/>
              </a:solidFill>
              <a:latin typeface="Palatino Linotype"/>
              <a:cs typeface="Palatino Linotype"/>
            </a:endParaRPr>
          </a:p>
          <a:p>
            <a:pPr marL="848360" lvl="1" indent="-342265">
              <a:spcBef>
                <a:spcPts val="1090"/>
              </a:spcBef>
              <a:buFontTx/>
              <a:buAutoNum type="alphaLcParenR"/>
              <a:tabLst>
                <a:tab pos="848360" algn="l"/>
              </a:tabLst>
            </a:pPr>
            <a:r>
              <a:rPr sz="1700" dirty="0">
                <a:solidFill>
                  <a:sysClr val="windowText" lastClr="000000"/>
                </a:solidFill>
                <a:latin typeface="Palatino Linotype"/>
                <a:cs typeface="Palatino Linotype"/>
              </a:rPr>
              <a:t>Change</a:t>
            </a:r>
            <a:r>
              <a:rPr sz="1700" spc="-30" dirty="0">
                <a:solidFill>
                  <a:sysClr val="windowText" lastClr="000000"/>
                </a:solidFill>
                <a:latin typeface="Palatino Linotype"/>
                <a:cs typeface="Palatino Linotype"/>
              </a:rPr>
              <a:t> </a:t>
            </a:r>
            <a:r>
              <a:rPr sz="1700" dirty="0">
                <a:solidFill>
                  <a:sysClr val="windowText" lastClr="000000"/>
                </a:solidFill>
                <a:latin typeface="Palatino Linotype"/>
                <a:cs typeface="Palatino Linotype"/>
              </a:rPr>
              <a:t>the</a:t>
            </a:r>
            <a:r>
              <a:rPr sz="1700" spc="-30" dirty="0">
                <a:solidFill>
                  <a:sysClr val="windowText" lastClr="000000"/>
                </a:solidFill>
                <a:latin typeface="Palatino Linotype"/>
                <a:cs typeface="Palatino Linotype"/>
              </a:rPr>
              <a:t> </a:t>
            </a:r>
            <a:r>
              <a:rPr sz="1700" dirty="0">
                <a:solidFill>
                  <a:srgbClr val="FF0000"/>
                </a:solidFill>
                <a:latin typeface="Palatino Linotype"/>
                <a:cs typeface="Palatino Linotype"/>
              </a:rPr>
              <a:t>address</a:t>
            </a:r>
            <a:r>
              <a:rPr sz="1700" spc="-20" dirty="0">
                <a:solidFill>
                  <a:srgbClr val="FF0000"/>
                </a:solidFill>
                <a:latin typeface="Palatino Linotype"/>
                <a:cs typeface="Palatino Linotype"/>
              </a:rPr>
              <a:t> </a:t>
            </a:r>
            <a:r>
              <a:rPr sz="1700" dirty="0">
                <a:solidFill>
                  <a:srgbClr val="FF0000"/>
                </a:solidFill>
                <a:latin typeface="Palatino Linotype"/>
                <a:cs typeface="Palatino Linotype"/>
              </a:rPr>
              <a:t>descriptor</a:t>
            </a:r>
            <a:r>
              <a:rPr sz="1700" spc="-25" dirty="0">
                <a:solidFill>
                  <a:srgbClr val="FF0000"/>
                </a:solidFill>
                <a:latin typeface="Palatino Linotype"/>
                <a:cs typeface="Palatino Linotype"/>
              </a:rPr>
              <a:t> </a:t>
            </a:r>
            <a:r>
              <a:rPr sz="1700" dirty="0">
                <a:solidFill>
                  <a:sysClr val="windowText" lastClr="000000"/>
                </a:solidFill>
                <a:latin typeface="Palatino Linotype"/>
                <a:cs typeface="Palatino Linotype"/>
              </a:rPr>
              <a:t>for</a:t>
            </a:r>
            <a:r>
              <a:rPr sz="1700" spc="-20" dirty="0">
                <a:solidFill>
                  <a:sysClr val="windowText" lastClr="000000"/>
                </a:solidFill>
                <a:latin typeface="Palatino Linotype"/>
                <a:cs typeface="Palatino Linotype"/>
              </a:rPr>
              <a:t> </a:t>
            </a:r>
            <a:r>
              <a:rPr sz="1700" dirty="0">
                <a:solidFill>
                  <a:sysClr val="windowText" lastClr="000000"/>
                </a:solidFill>
                <a:latin typeface="Cambria Math"/>
                <a:cs typeface="Cambria Math"/>
              </a:rPr>
              <a:t>𝑥</a:t>
            </a:r>
            <a:r>
              <a:rPr sz="1700" spc="65" dirty="0">
                <a:solidFill>
                  <a:sysClr val="windowText" lastClr="000000"/>
                </a:solidFill>
                <a:latin typeface="Cambria Math"/>
                <a:cs typeface="Cambria Math"/>
              </a:rPr>
              <a:t> </a:t>
            </a:r>
            <a:r>
              <a:rPr sz="1700" dirty="0">
                <a:solidFill>
                  <a:sysClr val="windowText" lastClr="000000"/>
                </a:solidFill>
                <a:latin typeface="Palatino Linotype"/>
                <a:cs typeface="Palatino Linotype"/>
              </a:rPr>
              <a:t>to</a:t>
            </a:r>
            <a:r>
              <a:rPr sz="1700" spc="-25" dirty="0">
                <a:solidFill>
                  <a:sysClr val="windowText" lastClr="000000"/>
                </a:solidFill>
                <a:latin typeface="Palatino Linotype"/>
                <a:cs typeface="Palatino Linotype"/>
              </a:rPr>
              <a:t> </a:t>
            </a:r>
            <a:r>
              <a:rPr sz="1700" dirty="0">
                <a:solidFill>
                  <a:sysClr val="windowText" lastClr="000000"/>
                </a:solidFill>
                <a:latin typeface="Palatino Linotype"/>
                <a:cs typeface="Palatino Linotype"/>
              </a:rPr>
              <a:t>include</a:t>
            </a:r>
            <a:r>
              <a:rPr sz="1700" spc="-30" dirty="0">
                <a:solidFill>
                  <a:sysClr val="windowText" lastClr="000000"/>
                </a:solidFill>
                <a:latin typeface="Palatino Linotype"/>
                <a:cs typeface="Palatino Linotype"/>
              </a:rPr>
              <a:t> </a:t>
            </a:r>
            <a:r>
              <a:rPr sz="1700" dirty="0">
                <a:solidFill>
                  <a:sysClr val="windowText" lastClr="000000"/>
                </a:solidFill>
                <a:latin typeface="Palatino Linotype"/>
                <a:cs typeface="Palatino Linotype"/>
              </a:rPr>
              <a:t>its</a:t>
            </a:r>
            <a:r>
              <a:rPr sz="1700" spc="-20" dirty="0">
                <a:solidFill>
                  <a:sysClr val="windowText" lastClr="000000"/>
                </a:solidFill>
                <a:latin typeface="Palatino Linotype"/>
                <a:cs typeface="Palatino Linotype"/>
              </a:rPr>
              <a:t> </a:t>
            </a:r>
            <a:r>
              <a:rPr sz="1700" dirty="0">
                <a:solidFill>
                  <a:sysClr val="windowText" lastClr="000000"/>
                </a:solidFill>
                <a:latin typeface="Palatino Linotype"/>
                <a:cs typeface="Palatino Linotype"/>
              </a:rPr>
              <a:t>own</a:t>
            </a:r>
            <a:r>
              <a:rPr sz="1700" spc="-30" dirty="0">
                <a:solidFill>
                  <a:sysClr val="windowText" lastClr="000000"/>
                </a:solidFill>
                <a:latin typeface="Palatino Linotype"/>
                <a:cs typeface="Palatino Linotype"/>
              </a:rPr>
              <a:t> </a:t>
            </a:r>
            <a:r>
              <a:rPr sz="1700" dirty="0">
                <a:solidFill>
                  <a:sysClr val="windowText" lastClr="000000"/>
                </a:solidFill>
                <a:latin typeface="Palatino Linotype"/>
                <a:cs typeface="Palatino Linotype"/>
              </a:rPr>
              <a:t>memory</a:t>
            </a:r>
            <a:r>
              <a:rPr sz="1700" spc="-25" dirty="0">
                <a:solidFill>
                  <a:sysClr val="windowText" lastClr="000000"/>
                </a:solidFill>
                <a:latin typeface="Palatino Linotype"/>
                <a:cs typeface="Palatino Linotype"/>
              </a:rPr>
              <a:t> </a:t>
            </a:r>
            <a:r>
              <a:rPr sz="1700" spc="-10" dirty="0">
                <a:solidFill>
                  <a:sysClr val="windowText" lastClr="000000"/>
                </a:solidFill>
                <a:latin typeface="Palatino Linotype"/>
                <a:cs typeface="Palatino Linotype"/>
              </a:rPr>
              <a:t>location</a:t>
            </a:r>
            <a:r>
              <a:rPr sz="1650" spc="-15" baseline="25252" dirty="0">
                <a:solidFill>
                  <a:sysClr val="windowText" lastClr="000000"/>
                </a:solidFill>
                <a:latin typeface="Palatino Linotype"/>
                <a:cs typeface="Palatino Linotype"/>
              </a:rPr>
              <a:t>*</a:t>
            </a:r>
            <a:endParaRPr sz="1650" baseline="25252">
              <a:solidFill>
                <a:sysClr val="windowText" lastClr="000000"/>
              </a:solidFill>
              <a:latin typeface="Palatino Linotype"/>
              <a:cs typeface="Palatino Linotype"/>
            </a:endParaRPr>
          </a:p>
        </p:txBody>
      </p:sp>
      <p:sp>
        <p:nvSpPr>
          <p:cNvPr id="10" name="object 4">
            <a:extLst>
              <a:ext uri="{FF2B5EF4-FFF2-40B4-BE49-F238E27FC236}">
                <a16:creationId xmlns:a16="http://schemas.microsoft.com/office/drawing/2014/main" id="{B194BB15-1E82-4780-F3F0-7DC70A1E9943}"/>
              </a:ext>
            </a:extLst>
          </p:cNvPr>
          <p:cNvSpPr txBox="1"/>
          <p:nvPr/>
        </p:nvSpPr>
        <p:spPr>
          <a:xfrm>
            <a:off x="947419" y="5296916"/>
            <a:ext cx="3954145" cy="208279"/>
          </a:xfrm>
          <a:prstGeom prst="rect">
            <a:avLst/>
          </a:prstGeom>
        </p:spPr>
        <p:txBody>
          <a:bodyPr vert="horz" wrap="square" lIns="0" tIns="12700" rIns="0" bIns="0" rtlCol="0">
            <a:spAutoFit/>
          </a:bodyPr>
          <a:lstStyle/>
          <a:p>
            <a:pPr marL="12700">
              <a:spcBef>
                <a:spcPts val="100"/>
              </a:spcBef>
            </a:pPr>
            <a:r>
              <a:rPr sz="1200" baseline="27777" dirty="0">
                <a:solidFill>
                  <a:srgbClr val="A6A6A6"/>
                </a:solidFill>
                <a:latin typeface="Palatino Linotype"/>
                <a:cs typeface="Palatino Linotype"/>
              </a:rPr>
              <a:t>*</a:t>
            </a:r>
            <a:r>
              <a:rPr sz="1200" spc="120" baseline="27777" dirty="0">
                <a:solidFill>
                  <a:srgbClr val="A6A6A6"/>
                </a:solidFill>
                <a:latin typeface="Palatino Linotype"/>
                <a:cs typeface="Palatino Linotype"/>
              </a:rPr>
              <a:t> </a:t>
            </a:r>
            <a:r>
              <a:rPr sz="1200" spc="-20" dirty="0">
                <a:solidFill>
                  <a:srgbClr val="A6A6A6"/>
                </a:solidFill>
                <a:latin typeface="Palatino Linotype"/>
                <a:cs typeface="Palatino Linotype"/>
              </a:rPr>
              <a:t>Values </a:t>
            </a:r>
            <a:r>
              <a:rPr sz="1200" dirty="0">
                <a:solidFill>
                  <a:srgbClr val="A6A6A6"/>
                </a:solidFill>
                <a:latin typeface="Palatino Linotype"/>
                <a:cs typeface="Palatino Linotype"/>
              </a:rPr>
              <a:t>in</a:t>
            </a:r>
            <a:r>
              <a:rPr sz="1200" spc="-20" dirty="0">
                <a:solidFill>
                  <a:srgbClr val="A6A6A6"/>
                </a:solidFill>
                <a:latin typeface="Palatino Linotype"/>
                <a:cs typeface="Palatino Linotype"/>
              </a:rPr>
              <a:t> </a:t>
            </a:r>
            <a:r>
              <a:rPr sz="1200" dirty="0">
                <a:solidFill>
                  <a:srgbClr val="A6A6A6"/>
                </a:solidFill>
                <a:latin typeface="Palatino Linotype"/>
                <a:cs typeface="Palatino Linotype"/>
              </a:rPr>
              <a:t>registers</a:t>
            </a:r>
            <a:r>
              <a:rPr sz="1200" spc="-15" dirty="0">
                <a:solidFill>
                  <a:srgbClr val="A6A6A6"/>
                </a:solidFill>
                <a:latin typeface="Palatino Linotype"/>
                <a:cs typeface="Palatino Linotype"/>
              </a:rPr>
              <a:t> </a:t>
            </a:r>
            <a:r>
              <a:rPr sz="1200" dirty="0">
                <a:solidFill>
                  <a:srgbClr val="A6A6A6"/>
                </a:solidFill>
                <a:latin typeface="Palatino Linotype"/>
                <a:cs typeface="Palatino Linotype"/>
              </a:rPr>
              <a:t>cannot</a:t>
            </a:r>
            <a:r>
              <a:rPr sz="1200" spc="-25" dirty="0">
                <a:solidFill>
                  <a:srgbClr val="A6A6A6"/>
                </a:solidFill>
                <a:latin typeface="Palatino Linotype"/>
                <a:cs typeface="Palatino Linotype"/>
              </a:rPr>
              <a:t> </a:t>
            </a:r>
            <a:r>
              <a:rPr sz="1200" dirty="0">
                <a:solidFill>
                  <a:srgbClr val="A6A6A6"/>
                </a:solidFill>
                <a:latin typeface="Palatino Linotype"/>
                <a:cs typeface="Palatino Linotype"/>
              </a:rPr>
              <a:t>be</a:t>
            </a:r>
            <a:r>
              <a:rPr sz="1200" spc="-20" dirty="0">
                <a:solidFill>
                  <a:srgbClr val="A6A6A6"/>
                </a:solidFill>
                <a:latin typeface="Palatino Linotype"/>
                <a:cs typeface="Palatino Linotype"/>
              </a:rPr>
              <a:t> </a:t>
            </a:r>
            <a:r>
              <a:rPr sz="1200" dirty="0">
                <a:solidFill>
                  <a:srgbClr val="A6A6A6"/>
                </a:solidFill>
                <a:latin typeface="Palatino Linotype"/>
                <a:cs typeface="Palatino Linotype"/>
              </a:rPr>
              <a:t>older</a:t>
            </a:r>
            <a:r>
              <a:rPr sz="1200" spc="-20" dirty="0">
                <a:solidFill>
                  <a:srgbClr val="A6A6A6"/>
                </a:solidFill>
                <a:latin typeface="Palatino Linotype"/>
                <a:cs typeface="Palatino Linotype"/>
              </a:rPr>
              <a:t> </a:t>
            </a:r>
            <a:r>
              <a:rPr sz="1200" dirty="0">
                <a:solidFill>
                  <a:srgbClr val="A6A6A6"/>
                </a:solidFill>
                <a:latin typeface="Palatino Linotype"/>
                <a:cs typeface="Palatino Linotype"/>
              </a:rPr>
              <a:t>than</a:t>
            </a:r>
            <a:r>
              <a:rPr sz="1200" spc="-15" dirty="0">
                <a:solidFill>
                  <a:srgbClr val="A6A6A6"/>
                </a:solidFill>
                <a:latin typeface="Palatino Linotype"/>
                <a:cs typeface="Palatino Linotype"/>
              </a:rPr>
              <a:t> </a:t>
            </a:r>
            <a:r>
              <a:rPr sz="1200" dirty="0">
                <a:solidFill>
                  <a:srgbClr val="A6A6A6"/>
                </a:solidFill>
                <a:latin typeface="Palatino Linotype"/>
                <a:cs typeface="Palatino Linotype"/>
              </a:rPr>
              <a:t>those</a:t>
            </a:r>
            <a:r>
              <a:rPr sz="1200" spc="-20" dirty="0">
                <a:solidFill>
                  <a:srgbClr val="A6A6A6"/>
                </a:solidFill>
                <a:latin typeface="Palatino Linotype"/>
                <a:cs typeface="Palatino Linotype"/>
              </a:rPr>
              <a:t> </a:t>
            </a:r>
            <a:r>
              <a:rPr sz="1200" dirty="0">
                <a:solidFill>
                  <a:srgbClr val="A6A6A6"/>
                </a:solidFill>
                <a:latin typeface="Palatino Linotype"/>
                <a:cs typeface="Palatino Linotype"/>
              </a:rPr>
              <a:t>in</a:t>
            </a:r>
            <a:r>
              <a:rPr sz="1200" spc="-20" dirty="0">
                <a:solidFill>
                  <a:srgbClr val="A6A6A6"/>
                </a:solidFill>
                <a:latin typeface="Palatino Linotype"/>
                <a:cs typeface="Palatino Linotype"/>
              </a:rPr>
              <a:t> </a:t>
            </a:r>
            <a:r>
              <a:rPr sz="1200" spc="-10" dirty="0">
                <a:solidFill>
                  <a:srgbClr val="A6A6A6"/>
                </a:solidFill>
                <a:latin typeface="Palatino Linotype"/>
                <a:cs typeface="Palatino Linotype"/>
              </a:rPr>
              <a:t>memory.</a:t>
            </a:r>
            <a:endParaRPr sz="1200">
              <a:solidFill>
                <a:sysClr val="windowText" lastClr="000000"/>
              </a:solidFill>
              <a:latin typeface="Palatino Linotype"/>
              <a:cs typeface="Palatino Linotype"/>
            </a:endParaRPr>
          </a:p>
        </p:txBody>
      </p:sp>
    </p:spTree>
    <p:extLst>
      <p:ext uri="{BB962C8B-B14F-4D97-AF65-F5344CB8AC3E}">
        <p14:creationId xmlns:p14="http://schemas.microsoft.com/office/powerpoint/2010/main" val="405779495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66</a:t>
            </a:fld>
            <a:endParaRPr lang="en-US"/>
          </a:p>
        </p:txBody>
      </p:sp>
      <p:sp>
        <p:nvSpPr>
          <p:cNvPr id="7" name="object 2">
            <a:extLst>
              <a:ext uri="{FF2B5EF4-FFF2-40B4-BE49-F238E27FC236}">
                <a16:creationId xmlns:a16="http://schemas.microsoft.com/office/drawing/2014/main" id="{51BE3DA6-8B3E-1887-5F6F-38081D8D4631}"/>
              </a:ext>
            </a:extLst>
          </p:cNvPr>
          <p:cNvSpPr txBox="1">
            <a:spLocks/>
          </p:cNvSpPr>
          <p:nvPr/>
        </p:nvSpPr>
        <p:spPr>
          <a:xfrm>
            <a:off x="707390" y="524763"/>
            <a:ext cx="7729219" cy="63500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4000" b="1" i="0" u="none" strike="noStrike" kern="0" cap="none" spc="0" normalizeH="0" baseline="0" noProof="0">
                <a:ln>
                  <a:noFill/>
                </a:ln>
                <a:solidFill>
                  <a:sysClr val="windowText" lastClr="000000"/>
                </a:solidFill>
                <a:effectLst/>
                <a:uLnTx/>
                <a:uFillTx/>
                <a:latin typeface="Palatino Linotype"/>
                <a:ea typeface="+mj-ea"/>
              </a:rPr>
              <a:t>Algorithm</a:t>
            </a:r>
            <a:r>
              <a:rPr kumimoji="0" lang="en-US" sz="4000" b="1" i="0" u="none" strike="noStrike" kern="0" cap="none" spc="-125" normalizeH="0" baseline="0" noProof="0">
                <a:ln>
                  <a:noFill/>
                </a:ln>
                <a:solidFill>
                  <a:sysClr val="windowText" lastClr="000000"/>
                </a:solidFill>
                <a:effectLst/>
                <a:uLnTx/>
                <a:uFillTx/>
                <a:latin typeface="Palatino Linotype"/>
                <a:ea typeface="+mj-ea"/>
              </a:rPr>
              <a:t> </a:t>
            </a:r>
            <a:r>
              <a:rPr kumimoji="0" lang="en-US" sz="4000" b="1" i="0" u="none" strike="noStrike" kern="0" cap="none" spc="0" normalizeH="0" baseline="0" noProof="0">
                <a:ln>
                  <a:noFill/>
                </a:ln>
                <a:solidFill>
                  <a:sysClr val="windowText" lastClr="000000"/>
                </a:solidFill>
                <a:effectLst/>
                <a:uLnTx/>
                <a:uFillTx/>
                <a:latin typeface="Palatino Linotype"/>
                <a:ea typeface="+mj-ea"/>
              </a:rPr>
              <a:t>Details</a:t>
            </a:r>
            <a:r>
              <a:rPr kumimoji="0" lang="en-US" sz="4000" b="1" i="0" u="none" strike="noStrike" kern="0" cap="none" spc="-135" normalizeH="0" baseline="0" noProof="0">
                <a:ln>
                  <a:noFill/>
                </a:ln>
                <a:solidFill>
                  <a:sysClr val="windowText" lastClr="000000"/>
                </a:solidFill>
                <a:effectLst/>
                <a:uLnTx/>
                <a:uFillTx/>
                <a:latin typeface="Palatino Linotype"/>
                <a:ea typeface="+mj-ea"/>
              </a:rPr>
              <a:t> </a:t>
            </a:r>
            <a:r>
              <a:rPr kumimoji="0" lang="en-US" sz="4000" b="1" i="0" u="none" strike="noStrike" kern="0" cap="none" spc="-25" normalizeH="0" baseline="0" noProof="0">
                <a:ln>
                  <a:noFill/>
                </a:ln>
                <a:solidFill>
                  <a:sysClr val="windowText" lastClr="000000"/>
                </a:solidFill>
                <a:effectLst/>
                <a:uLnTx/>
                <a:uFillTx/>
                <a:latin typeface="Palatino Linotype"/>
                <a:ea typeface="+mj-ea"/>
              </a:rPr>
              <a:t>(5)</a:t>
            </a:r>
            <a:endParaRPr kumimoji="0" lang="en-US" sz="4000" b="1" i="0" u="none" strike="noStrike" kern="0" cap="none" spc="-25" normalizeH="0" baseline="0" noProof="0" dirty="0">
              <a:ln>
                <a:noFill/>
              </a:ln>
              <a:solidFill>
                <a:sysClr val="windowText" lastClr="000000"/>
              </a:solidFill>
              <a:effectLst/>
              <a:uLnTx/>
              <a:uFillTx/>
              <a:latin typeface="Palatino Linotype"/>
              <a:ea typeface="+mj-ea"/>
            </a:endParaRPr>
          </a:p>
        </p:txBody>
      </p:sp>
      <p:sp>
        <p:nvSpPr>
          <p:cNvPr id="8" name="object 3">
            <a:extLst>
              <a:ext uri="{FF2B5EF4-FFF2-40B4-BE49-F238E27FC236}">
                <a16:creationId xmlns:a16="http://schemas.microsoft.com/office/drawing/2014/main" id="{FF89E6A9-8873-33CB-42EE-CD6696BBB3FD}"/>
              </a:ext>
            </a:extLst>
          </p:cNvPr>
          <p:cNvSpPr txBox="1"/>
          <p:nvPr/>
        </p:nvSpPr>
        <p:spPr>
          <a:xfrm>
            <a:off x="590354" y="1658620"/>
            <a:ext cx="7452359" cy="4349750"/>
          </a:xfrm>
          <a:prstGeom prst="rect">
            <a:avLst/>
          </a:prstGeom>
        </p:spPr>
        <p:txBody>
          <a:bodyPr vert="horz" wrap="square" lIns="0" tIns="12700" rIns="0" bIns="0" rtlCol="0">
            <a:spAutoFit/>
          </a:bodyPr>
          <a:lstStyle/>
          <a:p>
            <a:pPr marL="74295">
              <a:spcBef>
                <a:spcPts val="100"/>
              </a:spcBef>
            </a:pPr>
            <a:r>
              <a:rPr sz="2200" dirty="0">
                <a:solidFill>
                  <a:srgbClr val="FF0000"/>
                </a:solidFill>
                <a:latin typeface="Palatino Linotype"/>
                <a:cs typeface="Palatino Linotype"/>
              </a:rPr>
              <a:t>Update</a:t>
            </a:r>
            <a:r>
              <a:rPr sz="2200" spc="-50" dirty="0">
                <a:solidFill>
                  <a:srgbClr val="FF0000"/>
                </a:solidFill>
                <a:latin typeface="Palatino Linotype"/>
                <a:cs typeface="Palatino Linotype"/>
              </a:rPr>
              <a:t> </a:t>
            </a:r>
            <a:r>
              <a:rPr sz="2200" dirty="0">
                <a:solidFill>
                  <a:srgbClr val="FF0000"/>
                </a:solidFill>
                <a:latin typeface="Palatino Linotype"/>
                <a:cs typeface="Palatino Linotype"/>
              </a:rPr>
              <a:t>register</a:t>
            </a:r>
            <a:r>
              <a:rPr sz="2200" spc="-40" dirty="0">
                <a:solidFill>
                  <a:srgbClr val="FF0000"/>
                </a:solidFill>
                <a:latin typeface="Palatino Linotype"/>
                <a:cs typeface="Palatino Linotype"/>
              </a:rPr>
              <a:t> </a:t>
            </a:r>
            <a:r>
              <a:rPr sz="2200" dirty="0">
                <a:solidFill>
                  <a:srgbClr val="FF0000"/>
                </a:solidFill>
                <a:latin typeface="Palatino Linotype"/>
                <a:cs typeface="Palatino Linotype"/>
              </a:rPr>
              <a:t>and</a:t>
            </a:r>
            <a:r>
              <a:rPr sz="2200" spc="-35" dirty="0">
                <a:solidFill>
                  <a:srgbClr val="FF0000"/>
                </a:solidFill>
                <a:latin typeface="Palatino Linotype"/>
                <a:cs typeface="Palatino Linotype"/>
              </a:rPr>
              <a:t> </a:t>
            </a:r>
            <a:r>
              <a:rPr sz="2200" dirty="0">
                <a:solidFill>
                  <a:srgbClr val="FF0000"/>
                </a:solidFill>
                <a:latin typeface="Palatino Linotype"/>
                <a:cs typeface="Palatino Linotype"/>
              </a:rPr>
              <a:t>address</a:t>
            </a:r>
            <a:r>
              <a:rPr sz="2200" spc="-40" dirty="0">
                <a:solidFill>
                  <a:srgbClr val="FF0000"/>
                </a:solidFill>
                <a:latin typeface="Palatino Linotype"/>
                <a:cs typeface="Palatino Linotype"/>
              </a:rPr>
              <a:t> </a:t>
            </a:r>
            <a:r>
              <a:rPr sz="2200" dirty="0">
                <a:solidFill>
                  <a:srgbClr val="FF0000"/>
                </a:solidFill>
                <a:latin typeface="Palatino Linotype"/>
                <a:cs typeface="Palatino Linotype"/>
              </a:rPr>
              <a:t>descriptors</a:t>
            </a:r>
            <a:r>
              <a:rPr sz="2200" spc="-35" dirty="0">
                <a:solidFill>
                  <a:srgbClr val="FF0000"/>
                </a:solidFill>
                <a:latin typeface="Palatino Linotype"/>
                <a:cs typeface="Palatino Linotype"/>
              </a:rPr>
              <a:t> </a:t>
            </a:r>
            <a:r>
              <a:rPr sz="2200" dirty="0">
                <a:solidFill>
                  <a:srgbClr val="FF0000"/>
                </a:solidFill>
                <a:latin typeface="Palatino Linotype"/>
                <a:cs typeface="Palatino Linotype"/>
              </a:rPr>
              <a:t>with</a:t>
            </a:r>
            <a:r>
              <a:rPr sz="2200" spc="-55" dirty="0">
                <a:solidFill>
                  <a:srgbClr val="FF0000"/>
                </a:solidFill>
                <a:latin typeface="Palatino Linotype"/>
                <a:cs typeface="Palatino Linotype"/>
              </a:rPr>
              <a:t> </a:t>
            </a:r>
            <a:r>
              <a:rPr sz="2200" dirty="0">
                <a:solidFill>
                  <a:srgbClr val="FF0000"/>
                </a:solidFill>
                <a:latin typeface="Palatino Linotype"/>
                <a:cs typeface="Palatino Linotype"/>
              </a:rPr>
              <a:t>four</a:t>
            </a:r>
            <a:r>
              <a:rPr sz="2200" spc="-35" dirty="0">
                <a:solidFill>
                  <a:srgbClr val="FF0000"/>
                </a:solidFill>
                <a:latin typeface="Palatino Linotype"/>
                <a:cs typeface="Palatino Linotype"/>
              </a:rPr>
              <a:t> </a:t>
            </a:r>
            <a:r>
              <a:rPr sz="2200" spc="-10" dirty="0">
                <a:solidFill>
                  <a:srgbClr val="FF0000"/>
                </a:solidFill>
                <a:latin typeface="Palatino Linotype"/>
                <a:cs typeface="Palatino Linotype"/>
              </a:rPr>
              <a:t>rules:</a:t>
            </a:r>
            <a:endParaRPr sz="2200">
              <a:solidFill>
                <a:sysClr val="windowText" lastClr="000000"/>
              </a:solidFill>
              <a:latin typeface="Palatino Linotype"/>
              <a:cs typeface="Palatino Linotype"/>
            </a:endParaRPr>
          </a:p>
          <a:p>
            <a:pPr marL="533400" marR="131445" indent="-457200">
              <a:lnSpc>
                <a:spcPct val="121000"/>
              </a:lnSpc>
              <a:spcBef>
                <a:spcPts val="1950"/>
              </a:spcBef>
              <a:buFontTx/>
              <a:buAutoNum type="arabicPeriod" startAt="3"/>
              <a:tabLst>
                <a:tab pos="533400" algn="l"/>
                <a:tab pos="3684904" algn="l"/>
              </a:tabLst>
            </a:pPr>
            <a:r>
              <a:rPr sz="2000" dirty="0">
                <a:solidFill>
                  <a:sysClr val="windowText" lastClr="000000"/>
                </a:solidFill>
                <a:latin typeface="Palatino Linotype"/>
                <a:cs typeface="Palatino Linotype"/>
              </a:rPr>
              <a:t>For</a:t>
            </a:r>
            <a:r>
              <a:rPr sz="2000" spc="-1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an</a:t>
            </a:r>
            <a:r>
              <a:rPr sz="2000" spc="-1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operation</a:t>
            </a:r>
            <a:r>
              <a:rPr sz="2000" spc="-1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such</a:t>
            </a:r>
            <a:r>
              <a:rPr sz="2000" spc="-1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as</a:t>
            </a:r>
            <a:r>
              <a:rPr sz="2000" spc="-75" dirty="0">
                <a:solidFill>
                  <a:sysClr val="windowText" lastClr="000000"/>
                </a:solidFill>
                <a:latin typeface="Palatino Linotype"/>
                <a:cs typeface="Palatino Linotype"/>
              </a:rPr>
              <a:t> </a:t>
            </a:r>
            <a:r>
              <a:rPr sz="2000" dirty="0">
                <a:solidFill>
                  <a:srgbClr val="0432FF"/>
                </a:solidFill>
                <a:latin typeface="Palatino Linotype"/>
                <a:cs typeface="Palatino Linotype"/>
              </a:rPr>
              <a:t>ADD</a:t>
            </a:r>
            <a:r>
              <a:rPr sz="2000" spc="-5" dirty="0">
                <a:solidFill>
                  <a:srgbClr val="0432FF"/>
                </a:solidFill>
                <a:latin typeface="Palatino Linotype"/>
                <a:cs typeface="Palatino Linotype"/>
              </a:rPr>
              <a:t> </a:t>
            </a:r>
            <a:r>
              <a:rPr sz="2000" dirty="0">
                <a:solidFill>
                  <a:srgbClr val="0432FF"/>
                </a:solidFill>
                <a:latin typeface="Cambria Math"/>
                <a:cs typeface="Cambria Math"/>
              </a:rPr>
              <a:t>𝑅</a:t>
            </a:r>
            <a:r>
              <a:rPr sz="2250" baseline="-14814" dirty="0">
                <a:solidFill>
                  <a:srgbClr val="0432FF"/>
                </a:solidFill>
                <a:latin typeface="Cambria Math"/>
                <a:cs typeface="Cambria Math"/>
              </a:rPr>
              <a:t>𝑥</a:t>
            </a:r>
            <a:r>
              <a:rPr sz="2000" dirty="0">
                <a:solidFill>
                  <a:srgbClr val="0432FF"/>
                </a:solidFill>
                <a:latin typeface="Palatino Linotype"/>
                <a:cs typeface="Palatino Linotype"/>
              </a:rPr>
              <a:t>,</a:t>
            </a:r>
            <a:r>
              <a:rPr sz="2000" spc="-5" dirty="0">
                <a:solidFill>
                  <a:srgbClr val="0432FF"/>
                </a:solidFill>
                <a:latin typeface="Palatino Linotype"/>
                <a:cs typeface="Palatino Linotype"/>
              </a:rPr>
              <a:t> </a:t>
            </a:r>
            <a:r>
              <a:rPr sz="2000" spc="50" dirty="0">
                <a:solidFill>
                  <a:srgbClr val="0432FF"/>
                </a:solidFill>
                <a:latin typeface="Cambria Math"/>
                <a:cs typeface="Cambria Math"/>
              </a:rPr>
              <a:t>𝑅</a:t>
            </a:r>
            <a:r>
              <a:rPr sz="2250" spc="75" baseline="-14814" dirty="0">
                <a:solidFill>
                  <a:srgbClr val="0432FF"/>
                </a:solidFill>
                <a:latin typeface="Cambria Math"/>
                <a:cs typeface="Cambria Math"/>
              </a:rPr>
              <a:t>𝑦</a:t>
            </a:r>
            <a:r>
              <a:rPr sz="2000" spc="50" dirty="0">
                <a:solidFill>
                  <a:srgbClr val="0432FF"/>
                </a:solidFill>
                <a:latin typeface="Palatino Linotype"/>
                <a:cs typeface="Palatino Linotype"/>
              </a:rPr>
              <a:t>,</a:t>
            </a:r>
            <a:r>
              <a:rPr sz="2000" spc="-5" dirty="0">
                <a:solidFill>
                  <a:srgbClr val="0432FF"/>
                </a:solidFill>
                <a:latin typeface="Palatino Linotype"/>
                <a:cs typeface="Palatino Linotype"/>
              </a:rPr>
              <a:t> </a:t>
            </a:r>
            <a:r>
              <a:rPr sz="2000" dirty="0">
                <a:solidFill>
                  <a:srgbClr val="0432FF"/>
                </a:solidFill>
                <a:latin typeface="Cambria Math"/>
                <a:cs typeface="Cambria Math"/>
              </a:rPr>
              <a:t>𝑅</a:t>
            </a:r>
            <a:r>
              <a:rPr sz="2250" baseline="-14814" dirty="0">
                <a:solidFill>
                  <a:srgbClr val="0432FF"/>
                </a:solidFill>
                <a:latin typeface="Cambria Math"/>
                <a:cs typeface="Cambria Math"/>
              </a:rPr>
              <a:t>𝑧</a:t>
            </a:r>
            <a:r>
              <a:rPr sz="2250" spc="375" baseline="-14814" dirty="0">
                <a:solidFill>
                  <a:srgbClr val="0432FF"/>
                </a:solidFill>
                <a:latin typeface="Cambria Math"/>
                <a:cs typeface="Cambria Math"/>
              </a:rPr>
              <a:t> </a:t>
            </a:r>
            <a:r>
              <a:rPr sz="2000" dirty="0">
                <a:solidFill>
                  <a:sysClr val="windowText" lastClr="000000"/>
                </a:solidFill>
                <a:latin typeface="Palatino Linotype"/>
                <a:cs typeface="Palatino Linotype"/>
              </a:rPr>
              <a:t>for</a:t>
            </a:r>
            <a:r>
              <a:rPr sz="2000" spc="-1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implementing</a:t>
            </a:r>
            <a:r>
              <a:rPr sz="2000" spc="-5" dirty="0">
                <a:solidFill>
                  <a:sysClr val="windowText" lastClr="000000"/>
                </a:solidFill>
                <a:latin typeface="Palatino Linotype"/>
                <a:cs typeface="Palatino Linotype"/>
              </a:rPr>
              <a:t> </a:t>
            </a:r>
            <a:r>
              <a:rPr sz="2000" spc="-50" dirty="0">
                <a:solidFill>
                  <a:sysClr val="windowText" lastClr="000000"/>
                </a:solidFill>
                <a:latin typeface="Palatino Linotype"/>
                <a:cs typeface="Palatino Linotype"/>
              </a:rPr>
              <a:t>a </a:t>
            </a:r>
            <a:r>
              <a:rPr sz="2000" spc="-10" dirty="0">
                <a:solidFill>
                  <a:sysClr val="windowText" lastClr="000000"/>
                </a:solidFill>
                <a:latin typeface="Palatino Linotype"/>
                <a:cs typeface="Palatino Linotype"/>
              </a:rPr>
              <a:t>three-</a:t>
            </a:r>
            <a:r>
              <a:rPr sz="2000" dirty="0">
                <a:solidFill>
                  <a:sysClr val="windowText" lastClr="000000"/>
                </a:solidFill>
                <a:latin typeface="Palatino Linotype"/>
                <a:cs typeface="Palatino Linotype"/>
              </a:rPr>
              <a:t>address</a:t>
            </a:r>
            <a:r>
              <a:rPr sz="2000" spc="-4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instruction</a:t>
            </a:r>
            <a:r>
              <a:rPr sz="2000" spc="-50" dirty="0">
                <a:solidFill>
                  <a:sysClr val="windowText" lastClr="000000"/>
                </a:solidFill>
                <a:latin typeface="Palatino Linotype"/>
                <a:cs typeface="Palatino Linotype"/>
              </a:rPr>
              <a:t> </a:t>
            </a:r>
            <a:r>
              <a:rPr sz="2000" spc="-50" dirty="0">
                <a:solidFill>
                  <a:sysClr val="windowText" lastClr="000000"/>
                </a:solidFill>
                <a:latin typeface="Cambria Math"/>
                <a:cs typeface="Cambria Math"/>
              </a:rPr>
              <a:t>𝑥</a:t>
            </a:r>
            <a:r>
              <a:rPr sz="2000" dirty="0">
                <a:solidFill>
                  <a:sysClr val="windowText" lastClr="000000"/>
                </a:solidFill>
                <a:latin typeface="Cambria Math"/>
                <a:cs typeface="Cambria Math"/>
              </a:rPr>
              <a:t>	=</a:t>
            </a:r>
            <a:r>
              <a:rPr sz="2000" spc="45" dirty="0">
                <a:solidFill>
                  <a:sysClr val="windowText" lastClr="000000"/>
                </a:solidFill>
                <a:latin typeface="Cambria Math"/>
                <a:cs typeface="Cambria Math"/>
              </a:rPr>
              <a:t>  </a:t>
            </a:r>
            <a:r>
              <a:rPr sz="2000" dirty="0">
                <a:solidFill>
                  <a:sysClr val="windowText" lastClr="000000"/>
                </a:solidFill>
                <a:latin typeface="Cambria Math"/>
                <a:cs typeface="Cambria Math"/>
              </a:rPr>
              <a:t>𝑦</a:t>
            </a:r>
            <a:r>
              <a:rPr sz="2000" spc="465" dirty="0">
                <a:solidFill>
                  <a:sysClr val="windowText" lastClr="000000"/>
                </a:solidFill>
                <a:latin typeface="Cambria Math"/>
                <a:cs typeface="Cambria Math"/>
              </a:rPr>
              <a:t> </a:t>
            </a:r>
            <a:r>
              <a:rPr sz="2000" dirty="0">
                <a:solidFill>
                  <a:sysClr val="windowText" lastClr="000000"/>
                </a:solidFill>
                <a:latin typeface="Cambria Math"/>
                <a:cs typeface="Cambria Math"/>
              </a:rPr>
              <a:t>+</a:t>
            </a:r>
            <a:r>
              <a:rPr sz="2000" spc="430" dirty="0">
                <a:solidFill>
                  <a:sysClr val="windowText" lastClr="000000"/>
                </a:solidFill>
                <a:latin typeface="Cambria Math"/>
                <a:cs typeface="Cambria Math"/>
              </a:rPr>
              <a:t> </a:t>
            </a:r>
            <a:r>
              <a:rPr sz="2000" spc="-25" dirty="0">
                <a:solidFill>
                  <a:sysClr val="windowText" lastClr="000000"/>
                </a:solidFill>
                <a:latin typeface="Cambria Math"/>
                <a:cs typeface="Cambria Math"/>
              </a:rPr>
              <a:t>𝑧</a:t>
            </a:r>
            <a:r>
              <a:rPr sz="2000" spc="-25" dirty="0">
                <a:solidFill>
                  <a:sysClr val="windowText" lastClr="000000"/>
                </a:solidFill>
                <a:latin typeface="Palatino Linotype"/>
                <a:cs typeface="Palatino Linotype"/>
              </a:rPr>
              <a:t>:</a:t>
            </a:r>
            <a:endParaRPr sz="2000">
              <a:solidFill>
                <a:sysClr val="windowText" lastClr="000000"/>
              </a:solidFill>
              <a:latin typeface="Palatino Linotype"/>
              <a:cs typeface="Palatino Linotype"/>
            </a:endParaRPr>
          </a:p>
          <a:p>
            <a:pPr marL="873760" lvl="1" indent="-342265">
              <a:spcBef>
                <a:spcPts val="1090"/>
              </a:spcBef>
              <a:buFontTx/>
              <a:buAutoNum type="alphaLcParenR"/>
              <a:tabLst>
                <a:tab pos="873760" algn="l"/>
              </a:tabLst>
            </a:pPr>
            <a:r>
              <a:rPr sz="1700" dirty="0">
                <a:solidFill>
                  <a:sysClr val="windowText" lastClr="000000"/>
                </a:solidFill>
                <a:latin typeface="Palatino Linotype"/>
                <a:cs typeface="Palatino Linotype"/>
              </a:rPr>
              <a:t>Change</a:t>
            </a:r>
            <a:r>
              <a:rPr sz="1700" spc="-25" dirty="0">
                <a:solidFill>
                  <a:sysClr val="windowText" lastClr="000000"/>
                </a:solidFill>
                <a:latin typeface="Palatino Linotype"/>
                <a:cs typeface="Palatino Linotype"/>
              </a:rPr>
              <a:t> </a:t>
            </a:r>
            <a:r>
              <a:rPr sz="1700" dirty="0">
                <a:solidFill>
                  <a:sysClr val="windowText" lastClr="000000"/>
                </a:solidFill>
                <a:latin typeface="Palatino Linotype"/>
                <a:cs typeface="Palatino Linotype"/>
              </a:rPr>
              <a:t>the</a:t>
            </a:r>
            <a:r>
              <a:rPr sz="1700" spc="-25" dirty="0">
                <a:solidFill>
                  <a:sysClr val="windowText" lastClr="000000"/>
                </a:solidFill>
                <a:latin typeface="Palatino Linotype"/>
                <a:cs typeface="Palatino Linotype"/>
              </a:rPr>
              <a:t> </a:t>
            </a:r>
            <a:r>
              <a:rPr sz="1700" dirty="0">
                <a:solidFill>
                  <a:srgbClr val="FF0000"/>
                </a:solidFill>
                <a:latin typeface="Palatino Linotype"/>
                <a:cs typeface="Palatino Linotype"/>
              </a:rPr>
              <a:t>register</a:t>
            </a:r>
            <a:r>
              <a:rPr sz="1700" spc="-20" dirty="0">
                <a:solidFill>
                  <a:srgbClr val="FF0000"/>
                </a:solidFill>
                <a:latin typeface="Palatino Linotype"/>
                <a:cs typeface="Palatino Linotype"/>
              </a:rPr>
              <a:t> </a:t>
            </a:r>
            <a:r>
              <a:rPr sz="1700" dirty="0">
                <a:solidFill>
                  <a:srgbClr val="FF0000"/>
                </a:solidFill>
                <a:latin typeface="Palatino Linotype"/>
                <a:cs typeface="Palatino Linotype"/>
              </a:rPr>
              <a:t>descriptor</a:t>
            </a:r>
            <a:r>
              <a:rPr sz="1700" spc="-20" dirty="0">
                <a:solidFill>
                  <a:srgbClr val="FF0000"/>
                </a:solidFill>
                <a:latin typeface="Palatino Linotype"/>
                <a:cs typeface="Palatino Linotype"/>
              </a:rPr>
              <a:t> </a:t>
            </a:r>
            <a:r>
              <a:rPr sz="1700" dirty="0">
                <a:solidFill>
                  <a:sysClr val="windowText" lastClr="000000"/>
                </a:solidFill>
                <a:latin typeface="Palatino Linotype"/>
                <a:cs typeface="Palatino Linotype"/>
              </a:rPr>
              <a:t>for</a:t>
            </a:r>
            <a:r>
              <a:rPr sz="1700" spc="-15" dirty="0">
                <a:solidFill>
                  <a:sysClr val="windowText" lastClr="000000"/>
                </a:solidFill>
                <a:latin typeface="Palatino Linotype"/>
                <a:cs typeface="Palatino Linotype"/>
              </a:rPr>
              <a:t> </a:t>
            </a:r>
            <a:r>
              <a:rPr sz="1700" dirty="0">
                <a:solidFill>
                  <a:srgbClr val="0432FF"/>
                </a:solidFill>
                <a:latin typeface="Cambria Math"/>
                <a:cs typeface="Cambria Math"/>
              </a:rPr>
              <a:t>𝑅</a:t>
            </a:r>
            <a:r>
              <a:rPr baseline="-16203" dirty="0">
                <a:solidFill>
                  <a:srgbClr val="0432FF"/>
                </a:solidFill>
                <a:latin typeface="Cambria Math"/>
                <a:cs typeface="Cambria Math"/>
              </a:rPr>
              <a:t>𝑥</a:t>
            </a:r>
            <a:r>
              <a:rPr spc="390" baseline="-16203" dirty="0">
                <a:solidFill>
                  <a:srgbClr val="0432FF"/>
                </a:solidFill>
                <a:latin typeface="Cambria Math"/>
                <a:cs typeface="Cambria Math"/>
              </a:rPr>
              <a:t> </a:t>
            </a:r>
            <a:r>
              <a:rPr sz="1700" dirty="0">
                <a:solidFill>
                  <a:sysClr val="windowText" lastClr="000000"/>
                </a:solidFill>
                <a:latin typeface="Palatino Linotype"/>
                <a:cs typeface="Palatino Linotype"/>
              </a:rPr>
              <a:t>so</a:t>
            </a:r>
            <a:r>
              <a:rPr sz="1700" spc="-25" dirty="0">
                <a:solidFill>
                  <a:sysClr val="windowText" lastClr="000000"/>
                </a:solidFill>
                <a:latin typeface="Palatino Linotype"/>
                <a:cs typeface="Palatino Linotype"/>
              </a:rPr>
              <a:t> </a:t>
            </a:r>
            <a:r>
              <a:rPr sz="1700" dirty="0">
                <a:solidFill>
                  <a:sysClr val="windowText" lastClr="000000"/>
                </a:solidFill>
                <a:latin typeface="Palatino Linotype"/>
                <a:cs typeface="Palatino Linotype"/>
              </a:rPr>
              <a:t>it</a:t>
            </a:r>
            <a:r>
              <a:rPr sz="1700" spc="-25" dirty="0">
                <a:solidFill>
                  <a:sysClr val="windowText" lastClr="000000"/>
                </a:solidFill>
                <a:latin typeface="Palatino Linotype"/>
                <a:cs typeface="Palatino Linotype"/>
              </a:rPr>
              <a:t> </a:t>
            </a:r>
            <a:r>
              <a:rPr sz="1700" dirty="0">
                <a:solidFill>
                  <a:sysClr val="windowText" lastClr="000000"/>
                </a:solidFill>
                <a:latin typeface="Palatino Linotype"/>
                <a:cs typeface="Palatino Linotype"/>
              </a:rPr>
              <a:t>holds</a:t>
            </a:r>
            <a:r>
              <a:rPr sz="1700" spc="-20" dirty="0">
                <a:solidFill>
                  <a:sysClr val="windowText" lastClr="000000"/>
                </a:solidFill>
                <a:latin typeface="Palatino Linotype"/>
                <a:cs typeface="Palatino Linotype"/>
              </a:rPr>
              <a:t> </a:t>
            </a:r>
            <a:r>
              <a:rPr sz="1700" dirty="0">
                <a:solidFill>
                  <a:sysClr val="windowText" lastClr="000000"/>
                </a:solidFill>
                <a:latin typeface="Palatino Linotype"/>
                <a:cs typeface="Palatino Linotype"/>
              </a:rPr>
              <a:t>only</a:t>
            </a:r>
            <a:r>
              <a:rPr sz="1700" spc="-20" dirty="0">
                <a:solidFill>
                  <a:sysClr val="windowText" lastClr="000000"/>
                </a:solidFill>
                <a:latin typeface="Palatino Linotype"/>
                <a:cs typeface="Palatino Linotype"/>
              </a:rPr>
              <a:t> </a:t>
            </a:r>
            <a:r>
              <a:rPr sz="1700" spc="-50" dirty="0">
                <a:solidFill>
                  <a:sysClr val="windowText" lastClr="000000"/>
                </a:solidFill>
                <a:latin typeface="Cambria Math"/>
                <a:cs typeface="Cambria Math"/>
              </a:rPr>
              <a:t>𝑥</a:t>
            </a:r>
            <a:endParaRPr sz="1700">
              <a:solidFill>
                <a:sysClr val="windowText" lastClr="000000"/>
              </a:solidFill>
              <a:latin typeface="Cambria Math"/>
              <a:cs typeface="Cambria Math"/>
            </a:endParaRPr>
          </a:p>
          <a:p>
            <a:pPr marL="873760" lvl="1" indent="-342265">
              <a:spcBef>
                <a:spcPts val="960"/>
              </a:spcBef>
              <a:buFontTx/>
              <a:buAutoNum type="alphaLcParenR"/>
              <a:tabLst>
                <a:tab pos="873760" algn="l"/>
              </a:tabLst>
            </a:pPr>
            <a:r>
              <a:rPr sz="1700" dirty="0">
                <a:solidFill>
                  <a:sysClr val="windowText" lastClr="000000"/>
                </a:solidFill>
                <a:latin typeface="Palatino Linotype"/>
                <a:cs typeface="Palatino Linotype"/>
              </a:rPr>
              <a:t>Change</a:t>
            </a:r>
            <a:r>
              <a:rPr sz="1700" spc="-30" dirty="0">
                <a:solidFill>
                  <a:sysClr val="windowText" lastClr="000000"/>
                </a:solidFill>
                <a:latin typeface="Palatino Linotype"/>
                <a:cs typeface="Palatino Linotype"/>
              </a:rPr>
              <a:t> </a:t>
            </a:r>
            <a:r>
              <a:rPr sz="1700" dirty="0">
                <a:solidFill>
                  <a:sysClr val="windowText" lastClr="000000"/>
                </a:solidFill>
                <a:latin typeface="Palatino Linotype"/>
                <a:cs typeface="Palatino Linotype"/>
              </a:rPr>
              <a:t>the</a:t>
            </a:r>
            <a:r>
              <a:rPr sz="1700" spc="-25" dirty="0">
                <a:solidFill>
                  <a:sysClr val="windowText" lastClr="000000"/>
                </a:solidFill>
                <a:latin typeface="Palatino Linotype"/>
                <a:cs typeface="Palatino Linotype"/>
              </a:rPr>
              <a:t> </a:t>
            </a:r>
            <a:r>
              <a:rPr sz="1700" dirty="0">
                <a:solidFill>
                  <a:srgbClr val="FF0000"/>
                </a:solidFill>
                <a:latin typeface="Palatino Linotype"/>
                <a:cs typeface="Palatino Linotype"/>
              </a:rPr>
              <a:t>address</a:t>
            </a:r>
            <a:r>
              <a:rPr sz="1700" spc="-20" dirty="0">
                <a:solidFill>
                  <a:srgbClr val="FF0000"/>
                </a:solidFill>
                <a:latin typeface="Palatino Linotype"/>
                <a:cs typeface="Palatino Linotype"/>
              </a:rPr>
              <a:t> </a:t>
            </a:r>
            <a:r>
              <a:rPr sz="1700" dirty="0">
                <a:solidFill>
                  <a:srgbClr val="FF0000"/>
                </a:solidFill>
                <a:latin typeface="Palatino Linotype"/>
                <a:cs typeface="Palatino Linotype"/>
              </a:rPr>
              <a:t>descriptor</a:t>
            </a:r>
            <a:r>
              <a:rPr sz="1700" spc="-25" dirty="0">
                <a:solidFill>
                  <a:srgbClr val="FF0000"/>
                </a:solidFill>
                <a:latin typeface="Palatino Linotype"/>
                <a:cs typeface="Palatino Linotype"/>
              </a:rPr>
              <a:t> </a:t>
            </a:r>
            <a:r>
              <a:rPr sz="1700" dirty="0">
                <a:solidFill>
                  <a:sysClr val="windowText" lastClr="000000"/>
                </a:solidFill>
                <a:latin typeface="Palatino Linotype"/>
                <a:cs typeface="Palatino Linotype"/>
              </a:rPr>
              <a:t>for</a:t>
            </a:r>
            <a:r>
              <a:rPr sz="1700" spc="-20" dirty="0">
                <a:solidFill>
                  <a:sysClr val="windowText" lastClr="000000"/>
                </a:solidFill>
                <a:latin typeface="Palatino Linotype"/>
                <a:cs typeface="Palatino Linotype"/>
              </a:rPr>
              <a:t> </a:t>
            </a:r>
            <a:r>
              <a:rPr sz="1700" dirty="0">
                <a:solidFill>
                  <a:sysClr val="windowText" lastClr="000000"/>
                </a:solidFill>
                <a:latin typeface="Cambria Math"/>
                <a:cs typeface="Cambria Math"/>
              </a:rPr>
              <a:t>𝑥</a:t>
            </a:r>
            <a:r>
              <a:rPr sz="1700" spc="70" dirty="0">
                <a:solidFill>
                  <a:sysClr val="windowText" lastClr="000000"/>
                </a:solidFill>
                <a:latin typeface="Cambria Math"/>
                <a:cs typeface="Cambria Math"/>
              </a:rPr>
              <a:t> </a:t>
            </a:r>
            <a:r>
              <a:rPr sz="1700" dirty="0">
                <a:solidFill>
                  <a:sysClr val="windowText" lastClr="000000"/>
                </a:solidFill>
                <a:latin typeface="Palatino Linotype"/>
                <a:cs typeface="Palatino Linotype"/>
              </a:rPr>
              <a:t>so</a:t>
            </a:r>
            <a:r>
              <a:rPr sz="1700" spc="-25" dirty="0">
                <a:solidFill>
                  <a:sysClr val="windowText" lastClr="000000"/>
                </a:solidFill>
                <a:latin typeface="Palatino Linotype"/>
                <a:cs typeface="Palatino Linotype"/>
              </a:rPr>
              <a:t> </a:t>
            </a:r>
            <a:r>
              <a:rPr sz="1700" dirty="0">
                <a:solidFill>
                  <a:sysClr val="windowText" lastClr="000000"/>
                </a:solidFill>
                <a:latin typeface="Palatino Linotype"/>
                <a:cs typeface="Palatino Linotype"/>
              </a:rPr>
              <a:t>that</a:t>
            </a:r>
            <a:r>
              <a:rPr sz="1700" spc="-30" dirty="0">
                <a:solidFill>
                  <a:sysClr val="windowText" lastClr="000000"/>
                </a:solidFill>
                <a:latin typeface="Palatino Linotype"/>
                <a:cs typeface="Palatino Linotype"/>
              </a:rPr>
              <a:t> </a:t>
            </a:r>
            <a:r>
              <a:rPr sz="1700" dirty="0">
                <a:solidFill>
                  <a:sysClr val="windowText" lastClr="000000"/>
                </a:solidFill>
                <a:latin typeface="Palatino Linotype"/>
                <a:cs typeface="Palatino Linotype"/>
              </a:rPr>
              <a:t>its</a:t>
            </a:r>
            <a:r>
              <a:rPr sz="1700" spc="-20" dirty="0">
                <a:solidFill>
                  <a:sysClr val="windowText" lastClr="000000"/>
                </a:solidFill>
                <a:latin typeface="Palatino Linotype"/>
                <a:cs typeface="Palatino Linotype"/>
              </a:rPr>
              <a:t> </a:t>
            </a:r>
            <a:r>
              <a:rPr sz="1700" dirty="0">
                <a:solidFill>
                  <a:sysClr val="windowText" lastClr="000000"/>
                </a:solidFill>
                <a:latin typeface="Palatino Linotype"/>
                <a:cs typeface="Palatino Linotype"/>
              </a:rPr>
              <a:t>only</a:t>
            </a:r>
            <a:r>
              <a:rPr sz="1700" spc="-20" dirty="0">
                <a:solidFill>
                  <a:sysClr val="windowText" lastClr="000000"/>
                </a:solidFill>
                <a:latin typeface="Palatino Linotype"/>
                <a:cs typeface="Palatino Linotype"/>
              </a:rPr>
              <a:t> </a:t>
            </a:r>
            <a:r>
              <a:rPr sz="1700" dirty="0">
                <a:solidFill>
                  <a:sysClr val="windowText" lastClr="000000"/>
                </a:solidFill>
                <a:latin typeface="Palatino Linotype"/>
                <a:cs typeface="Palatino Linotype"/>
              </a:rPr>
              <a:t>location</a:t>
            </a:r>
            <a:r>
              <a:rPr sz="1700" spc="-30" dirty="0">
                <a:solidFill>
                  <a:sysClr val="windowText" lastClr="000000"/>
                </a:solidFill>
                <a:latin typeface="Palatino Linotype"/>
                <a:cs typeface="Palatino Linotype"/>
              </a:rPr>
              <a:t> </a:t>
            </a:r>
            <a:r>
              <a:rPr sz="1700" dirty="0">
                <a:solidFill>
                  <a:sysClr val="windowText" lastClr="000000"/>
                </a:solidFill>
                <a:latin typeface="Palatino Linotype"/>
                <a:cs typeface="Palatino Linotype"/>
              </a:rPr>
              <a:t>is</a:t>
            </a:r>
            <a:r>
              <a:rPr sz="1700" spc="-15" dirty="0">
                <a:solidFill>
                  <a:sysClr val="windowText" lastClr="000000"/>
                </a:solidFill>
                <a:latin typeface="Palatino Linotype"/>
                <a:cs typeface="Palatino Linotype"/>
              </a:rPr>
              <a:t> </a:t>
            </a:r>
            <a:r>
              <a:rPr sz="1700" spc="-25" dirty="0">
                <a:solidFill>
                  <a:srgbClr val="0432FF"/>
                </a:solidFill>
                <a:latin typeface="Cambria Math"/>
                <a:cs typeface="Cambria Math"/>
              </a:rPr>
              <a:t>𝑅</a:t>
            </a:r>
            <a:r>
              <a:rPr spc="-37" baseline="-16203" dirty="0">
                <a:solidFill>
                  <a:srgbClr val="0432FF"/>
                </a:solidFill>
                <a:latin typeface="Cambria Math"/>
                <a:cs typeface="Cambria Math"/>
              </a:rPr>
              <a:t>𝑥</a:t>
            </a:r>
            <a:endParaRPr baseline="-16203">
              <a:solidFill>
                <a:sysClr val="windowText" lastClr="000000"/>
              </a:solidFill>
              <a:latin typeface="Cambria Math"/>
              <a:cs typeface="Cambria Math"/>
            </a:endParaRPr>
          </a:p>
          <a:p>
            <a:pPr marL="873760" lvl="1" indent="-342265">
              <a:spcBef>
                <a:spcPts val="1060"/>
              </a:spcBef>
              <a:buFontTx/>
              <a:buAutoNum type="alphaLcParenR"/>
              <a:tabLst>
                <a:tab pos="873760" algn="l"/>
              </a:tabLst>
            </a:pPr>
            <a:r>
              <a:rPr sz="1700" dirty="0">
                <a:solidFill>
                  <a:sysClr val="windowText" lastClr="000000"/>
                </a:solidFill>
                <a:latin typeface="Palatino Linotype"/>
                <a:cs typeface="Palatino Linotype"/>
              </a:rPr>
              <a:t>Remove</a:t>
            </a:r>
            <a:r>
              <a:rPr sz="1700" spc="-35" dirty="0">
                <a:solidFill>
                  <a:sysClr val="windowText" lastClr="000000"/>
                </a:solidFill>
                <a:latin typeface="Palatino Linotype"/>
                <a:cs typeface="Palatino Linotype"/>
              </a:rPr>
              <a:t> </a:t>
            </a:r>
            <a:r>
              <a:rPr sz="1700" dirty="0">
                <a:solidFill>
                  <a:srgbClr val="0432FF"/>
                </a:solidFill>
                <a:latin typeface="Cambria Math"/>
                <a:cs typeface="Cambria Math"/>
              </a:rPr>
              <a:t>𝑅</a:t>
            </a:r>
            <a:r>
              <a:rPr baseline="-16203" dirty="0">
                <a:solidFill>
                  <a:srgbClr val="0432FF"/>
                </a:solidFill>
                <a:latin typeface="Cambria Math"/>
                <a:cs typeface="Cambria Math"/>
              </a:rPr>
              <a:t>𝑥</a:t>
            </a:r>
            <a:r>
              <a:rPr spc="375" baseline="-16203" dirty="0">
                <a:solidFill>
                  <a:srgbClr val="0432FF"/>
                </a:solidFill>
                <a:latin typeface="Cambria Math"/>
                <a:cs typeface="Cambria Math"/>
              </a:rPr>
              <a:t> </a:t>
            </a:r>
            <a:r>
              <a:rPr sz="1700" dirty="0">
                <a:solidFill>
                  <a:sysClr val="windowText" lastClr="000000"/>
                </a:solidFill>
                <a:latin typeface="Palatino Linotype"/>
                <a:cs typeface="Palatino Linotype"/>
              </a:rPr>
              <a:t>from</a:t>
            </a:r>
            <a:r>
              <a:rPr sz="1700" spc="-30" dirty="0">
                <a:solidFill>
                  <a:sysClr val="windowText" lastClr="000000"/>
                </a:solidFill>
                <a:latin typeface="Palatino Linotype"/>
                <a:cs typeface="Palatino Linotype"/>
              </a:rPr>
              <a:t> </a:t>
            </a:r>
            <a:r>
              <a:rPr sz="1700" dirty="0">
                <a:solidFill>
                  <a:sysClr val="windowText" lastClr="000000"/>
                </a:solidFill>
                <a:latin typeface="Palatino Linotype"/>
                <a:cs typeface="Palatino Linotype"/>
              </a:rPr>
              <a:t>the</a:t>
            </a:r>
            <a:r>
              <a:rPr sz="1700" spc="-30" dirty="0">
                <a:solidFill>
                  <a:sysClr val="windowText" lastClr="000000"/>
                </a:solidFill>
                <a:latin typeface="Palatino Linotype"/>
                <a:cs typeface="Palatino Linotype"/>
              </a:rPr>
              <a:t> </a:t>
            </a:r>
            <a:r>
              <a:rPr sz="1700" dirty="0">
                <a:solidFill>
                  <a:srgbClr val="FF0000"/>
                </a:solidFill>
                <a:latin typeface="Palatino Linotype"/>
                <a:cs typeface="Palatino Linotype"/>
              </a:rPr>
              <a:t>address</a:t>
            </a:r>
            <a:r>
              <a:rPr sz="1700" spc="-30" dirty="0">
                <a:solidFill>
                  <a:srgbClr val="FF0000"/>
                </a:solidFill>
                <a:latin typeface="Palatino Linotype"/>
                <a:cs typeface="Palatino Linotype"/>
              </a:rPr>
              <a:t> </a:t>
            </a:r>
            <a:r>
              <a:rPr sz="1700" dirty="0">
                <a:solidFill>
                  <a:srgbClr val="FF0000"/>
                </a:solidFill>
                <a:latin typeface="Palatino Linotype"/>
                <a:cs typeface="Palatino Linotype"/>
              </a:rPr>
              <a:t>descriptor</a:t>
            </a:r>
            <a:r>
              <a:rPr sz="1700" spc="-25" dirty="0">
                <a:solidFill>
                  <a:srgbClr val="FF0000"/>
                </a:solidFill>
                <a:latin typeface="Palatino Linotype"/>
                <a:cs typeface="Palatino Linotype"/>
              </a:rPr>
              <a:t> </a:t>
            </a:r>
            <a:r>
              <a:rPr sz="1700" dirty="0">
                <a:solidFill>
                  <a:sysClr val="windowText" lastClr="000000"/>
                </a:solidFill>
                <a:latin typeface="Palatino Linotype"/>
                <a:cs typeface="Palatino Linotype"/>
              </a:rPr>
              <a:t>of</a:t>
            </a:r>
            <a:r>
              <a:rPr sz="1700" spc="-30" dirty="0">
                <a:solidFill>
                  <a:sysClr val="windowText" lastClr="000000"/>
                </a:solidFill>
                <a:latin typeface="Palatino Linotype"/>
                <a:cs typeface="Palatino Linotype"/>
              </a:rPr>
              <a:t> </a:t>
            </a:r>
            <a:r>
              <a:rPr sz="1700" dirty="0">
                <a:solidFill>
                  <a:sysClr val="windowText" lastClr="000000"/>
                </a:solidFill>
                <a:latin typeface="Palatino Linotype"/>
                <a:cs typeface="Palatino Linotype"/>
              </a:rPr>
              <a:t>any</a:t>
            </a:r>
            <a:r>
              <a:rPr sz="1700" spc="-30" dirty="0">
                <a:solidFill>
                  <a:sysClr val="windowText" lastClr="000000"/>
                </a:solidFill>
                <a:latin typeface="Palatino Linotype"/>
                <a:cs typeface="Palatino Linotype"/>
              </a:rPr>
              <a:t> </a:t>
            </a:r>
            <a:r>
              <a:rPr sz="1700" dirty="0">
                <a:solidFill>
                  <a:sysClr val="windowText" lastClr="000000"/>
                </a:solidFill>
                <a:latin typeface="Palatino Linotype"/>
                <a:cs typeface="Palatino Linotype"/>
              </a:rPr>
              <a:t>variable</a:t>
            </a:r>
            <a:r>
              <a:rPr sz="1700" spc="-30" dirty="0">
                <a:solidFill>
                  <a:sysClr val="windowText" lastClr="000000"/>
                </a:solidFill>
                <a:latin typeface="Palatino Linotype"/>
                <a:cs typeface="Palatino Linotype"/>
              </a:rPr>
              <a:t> </a:t>
            </a:r>
            <a:r>
              <a:rPr sz="1700" dirty="0">
                <a:solidFill>
                  <a:sysClr val="windowText" lastClr="000000"/>
                </a:solidFill>
                <a:latin typeface="Palatino Linotype"/>
                <a:cs typeface="Palatino Linotype"/>
              </a:rPr>
              <a:t>other</a:t>
            </a:r>
            <a:r>
              <a:rPr sz="1700" spc="-25" dirty="0">
                <a:solidFill>
                  <a:sysClr val="windowText" lastClr="000000"/>
                </a:solidFill>
                <a:latin typeface="Palatino Linotype"/>
                <a:cs typeface="Palatino Linotype"/>
              </a:rPr>
              <a:t> </a:t>
            </a:r>
            <a:r>
              <a:rPr sz="1700" dirty="0">
                <a:solidFill>
                  <a:sysClr val="windowText" lastClr="000000"/>
                </a:solidFill>
                <a:latin typeface="Palatino Linotype"/>
                <a:cs typeface="Palatino Linotype"/>
              </a:rPr>
              <a:t>than</a:t>
            </a:r>
            <a:r>
              <a:rPr sz="1700" spc="-35" dirty="0">
                <a:solidFill>
                  <a:sysClr val="windowText" lastClr="000000"/>
                </a:solidFill>
                <a:latin typeface="Palatino Linotype"/>
                <a:cs typeface="Palatino Linotype"/>
              </a:rPr>
              <a:t> </a:t>
            </a:r>
            <a:r>
              <a:rPr sz="1700" spc="-50" dirty="0">
                <a:solidFill>
                  <a:sysClr val="windowText" lastClr="000000"/>
                </a:solidFill>
                <a:latin typeface="Cambria Math"/>
                <a:cs typeface="Cambria Math"/>
              </a:rPr>
              <a:t>𝑥</a:t>
            </a:r>
            <a:endParaRPr sz="1700">
              <a:solidFill>
                <a:sysClr val="windowText" lastClr="000000"/>
              </a:solidFill>
              <a:latin typeface="Cambria Math"/>
              <a:cs typeface="Cambria Math"/>
            </a:endParaRPr>
          </a:p>
          <a:p>
            <a:pPr marL="0" lvl="1">
              <a:spcBef>
                <a:spcPts val="275"/>
              </a:spcBef>
              <a:buFont typeface="Palatino Linotype"/>
              <a:buAutoNum type="alphaLcParenR"/>
            </a:pPr>
            <a:endParaRPr sz="1700">
              <a:solidFill>
                <a:sysClr val="windowText" lastClr="000000"/>
              </a:solidFill>
              <a:latin typeface="Cambria Math"/>
              <a:cs typeface="Cambria Math"/>
            </a:endParaRPr>
          </a:p>
          <a:p>
            <a:pPr marL="532765" indent="-456565">
              <a:buFontTx/>
              <a:buAutoNum type="arabicPeriod" startAt="3"/>
              <a:tabLst>
                <a:tab pos="532765" algn="l"/>
              </a:tabLst>
            </a:pPr>
            <a:r>
              <a:rPr sz="2000" dirty="0">
                <a:solidFill>
                  <a:sysClr val="windowText" lastClr="000000"/>
                </a:solidFill>
                <a:latin typeface="Palatino Linotype"/>
                <a:cs typeface="Palatino Linotype"/>
              </a:rPr>
              <a:t>When</a:t>
            </a:r>
            <a:r>
              <a:rPr sz="2000" spc="-3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processing</a:t>
            </a:r>
            <a:r>
              <a:rPr sz="2000" spc="-2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a</a:t>
            </a:r>
            <a:r>
              <a:rPr sz="2000" spc="-2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copy</a:t>
            </a:r>
            <a:r>
              <a:rPr sz="2000" spc="-2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statement</a:t>
            </a:r>
            <a:r>
              <a:rPr sz="2000" spc="-30" dirty="0">
                <a:solidFill>
                  <a:sysClr val="windowText" lastClr="000000"/>
                </a:solidFill>
                <a:latin typeface="Palatino Linotype"/>
                <a:cs typeface="Palatino Linotype"/>
              </a:rPr>
              <a:t> </a:t>
            </a:r>
            <a:r>
              <a:rPr sz="2000" dirty="0">
                <a:solidFill>
                  <a:srgbClr val="0432FF"/>
                </a:solidFill>
                <a:latin typeface="Cambria Math"/>
                <a:cs typeface="Cambria Math"/>
              </a:rPr>
              <a:t>𝑥</a:t>
            </a:r>
            <a:r>
              <a:rPr sz="2000" spc="140" dirty="0">
                <a:solidFill>
                  <a:srgbClr val="0432FF"/>
                </a:solidFill>
                <a:latin typeface="Cambria Math"/>
                <a:cs typeface="Cambria Math"/>
              </a:rPr>
              <a:t> </a:t>
            </a:r>
            <a:r>
              <a:rPr sz="2000" dirty="0">
                <a:solidFill>
                  <a:srgbClr val="0432FF"/>
                </a:solidFill>
                <a:latin typeface="Cambria Math"/>
                <a:cs typeface="Cambria Math"/>
              </a:rPr>
              <a:t>=</a:t>
            </a:r>
            <a:r>
              <a:rPr sz="2000" spc="95" dirty="0">
                <a:solidFill>
                  <a:srgbClr val="0432FF"/>
                </a:solidFill>
                <a:latin typeface="Cambria Math"/>
                <a:cs typeface="Cambria Math"/>
              </a:rPr>
              <a:t> </a:t>
            </a:r>
            <a:r>
              <a:rPr sz="2000" spc="-25" dirty="0">
                <a:solidFill>
                  <a:srgbClr val="0432FF"/>
                </a:solidFill>
                <a:latin typeface="Cambria Math"/>
                <a:cs typeface="Cambria Math"/>
              </a:rPr>
              <a:t>𝑦</a:t>
            </a:r>
            <a:r>
              <a:rPr sz="2000" spc="-25" dirty="0">
                <a:solidFill>
                  <a:sysClr val="windowText" lastClr="000000"/>
                </a:solidFill>
                <a:latin typeface="Palatino Linotype"/>
                <a:cs typeface="Palatino Linotype"/>
              </a:rPr>
              <a:t>:</a:t>
            </a:r>
            <a:endParaRPr sz="2000">
              <a:solidFill>
                <a:sysClr val="windowText" lastClr="000000"/>
              </a:solidFill>
              <a:latin typeface="Palatino Linotype"/>
              <a:cs typeface="Palatino Linotype"/>
            </a:endParaRPr>
          </a:p>
          <a:p>
            <a:pPr marL="873760" lvl="1" indent="-342265">
              <a:spcBef>
                <a:spcPts val="1110"/>
              </a:spcBef>
              <a:buFontTx/>
              <a:buAutoNum type="alphaLcParenR"/>
              <a:tabLst>
                <a:tab pos="873760" algn="l"/>
              </a:tabLst>
            </a:pPr>
            <a:r>
              <a:rPr sz="1700" dirty="0">
                <a:solidFill>
                  <a:sysClr val="windowText" lastClr="000000"/>
                </a:solidFill>
                <a:latin typeface="Palatino Linotype"/>
                <a:cs typeface="Palatino Linotype"/>
              </a:rPr>
              <a:t>If</a:t>
            </a:r>
            <a:r>
              <a:rPr sz="1700" spc="-30" dirty="0">
                <a:solidFill>
                  <a:sysClr val="windowText" lastClr="000000"/>
                </a:solidFill>
                <a:latin typeface="Palatino Linotype"/>
                <a:cs typeface="Palatino Linotype"/>
              </a:rPr>
              <a:t> </a:t>
            </a:r>
            <a:r>
              <a:rPr dirty="0">
                <a:solidFill>
                  <a:srgbClr val="0432FF"/>
                </a:solidFill>
                <a:latin typeface="Palatino Linotype"/>
                <a:cs typeface="Palatino Linotype"/>
              </a:rPr>
              <a:t>LD</a:t>
            </a:r>
            <a:r>
              <a:rPr spc="-30" dirty="0">
                <a:solidFill>
                  <a:srgbClr val="0432FF"/>
                </a:solidFill>
                <a:latin typeface="Palatino Linotype"/>
                <a:cs typeface="Palatino Linotype"/>
              </a:rPr>
              <a:t> </a:t>
            </a:r>
            <a:r>
              <a:rPr spc="55" dirty="0">
                <a:solidFill>
                  <a:srgbClr val="0432FF"/>
                </a:solidFill>
                <a:latin typeface="Cambria Math"/>
                <a:cs typeface="Cambria Math"/>
              </a:rPr>
              <a:t>𝑅</a:t>
            </a:r>
            <a:r>
              <a:rPr sz="1950" spc="82" baseline="-14957" dirty="0">
                <a:solidFill>
                  <a:srgbClr val="0432FF"/>
                </a:solidFill>
                <a:latin typeface="Cambria Math"/>
                <a:cs typeface="Cambria Math"/>
              </a:rPr>
              <a:t>𝑦</a:t>
            </a:r>
            <a:r>
              <a:rPr spc="55" dirty="0">
                <a:solidFill>
                  <a:srgbClr val="0432FF"/>
                </a:solidFill>
                <a:latin typeface="Palatino Linotype"/>
                <a:cs typeface="Palatino Linotype"/>
              </a:rPr>
              <a:t>,</a:t>
            </a:r>
            <a:r>
              <a:rPr spc="-25" dirty="0">
                <a:solidFill>
                  <a:srgbClr val="0432FF"/>
                </a:solidFill>
                <a:latin typeface="Palatino Linotype"/>
                <a:cs typeface="Palatino Linotype"/>
              </a:rPr>
              <a:t> </a:t>
            </a:r>
            <a:r>
              <a:rPr dirty="0">
                <a:solidFill>
                  <a:srgbClr val="0432FF"/>
                </a:solidFill>
                <a:latin typeface="Cambria Math"/>
                <a:cs typeface="Cambria Math"/>
              </a:rPr>
              <a:t>𝑦</a:t>
            </a:r>
            <a:r>
              <a:rPr spc="35" dirty="0">
                <a:solidFill>
                  <a:srgbClr val="0432FF"/>
                </a:solidFill>
                <a:latin typeface="Cambria Math"/>
                <a:cs typeface="Cambria Math"/>
              </a:rPr>
              <a:t> </a:t>
            </a:r>
            <a:r>
              <a:rPr sz="1700" dirty="0">
                <a:solidFill>
                  <a:sysClr val="windowText" lastClr="000000"/>
                </a:solidFill>
                <a:latin typeface="Palatino Linotype"/>
                <a:cs typeface="Palatino Linotype"/>
              </a:rPr>
              <a:t>is</a:t>
            </a:r>
            <a:r>
              <a:rPr sz="1700" spc="-20" dirty="0">
                <a:solidFill>
                  <a:sysClr val="windowText" lastClr="000000"/>
                </a:solidFill>
                <a:latin typeface="Palatino Linotype"/>
                <a:cs typeface="Palatino Linotype"/>
              </a:rPr>
              <a:t> </a:t>
            </a:r>
            <a:r>
              <a:rPr sz="1700" dirty="0">
                <a:solidFill>
                  <a:sysClr val="windowText" lastClr="000000"/>
                </a:solidFill>
                <a:latin typeface="Palatino Linotype"/>
                <a:cs typeface="Palatino Linotype"/>
              </a:rPr>
              <a:t>generated,</a:t>
            </a:r>
            <a:r>
              <a:rPr sz="1700" spc="-20" dirty="0">
                <a:solidFill>
                  <a:sysClr val="windowText" lastClr="000000"/>
                </a:solidFill>
                <a:latin typeface="Palatino Linotype"/>
                <a:cs typeface="Palatino Linotype"/>
              </a:rPr>
              <a:t> </a:t>
            </a:r>
            <a:r>
              <a:rPr sz="1700" dirty="0">
                <a:solidFill>
                  <a:sysClr val="windowText" lastClr="000000"/>
                </a:solidFill>
                <a:latin typeface="Palatino Linotype"/>
                <a:cs typeface="Palatino Linotype"/>
              </a:rPr>
              <a:t>manage</a:t>
            </a:r>
            <a:r>
              <a:rPr sz="1700" spc="-30" dirty="0">
                <a:solidFill>
                  <a:sysClr val="windowText" lastClr="000000"/>
                </a:solidFill>
                <a:latin typeface="Palatino Linotype"/>
                <a:cs typeface="Palatino Linotype"/>
              </a:rPr>
              <a:t> </a:t>
            </a:r>
            <a:r>
              <a:rPr sz="1700" dirty="0">
                <a:solidFill>
                  <a:sysClr val="windowText" lastClr="000000"/>
                </a:solidFill>
                <a:latin typeface="Palatino Linotype"/>
                <a:cs typeface="Palatino Linotype"/>
              </a:rPr>
              <a:t>descriptors</a:t>
            </a:r>
            <a:r>
              <a:rPr sz="1700" spc="-20" dirty="0">
                <a:solidFill>
                  <a:sysClr val="windowText" lastClr="000000"/>
                </a:solidFill>
                <a:latin typeface="Palatino Linotype"/>
                <a:cs typeface="Palatino Linotype"/>
              </a:rPr>
              <a:t> </a:t>
            </a:r>
            <a:r>
              <a:rPr sz="1700" dirty="0">
                <a:solidFill>
                  <a:sysClr val="windowText" lastClr="000000"/>
                </a:solidFill>
                <a:latin typeface="Palatino Linotype"/>
                <a:cs typeface="Palatino Linotype"/>
              </a:rPr>
              <a:t>using</a:t>
            </a:r>
            <a:r>
              <a:rPr sz="1700" spc="-20" dirty="0">
                <a:solidFill>
                  <a:sysClr val="windowText" lastClr="000000"/>
                </a:solidFill>
                <a:latin typeface="Palatino Linotype"/>
                <a:cs typeface="Palatino Linotype"/>
              </a:rPr>
              <a:t> </a:t>
            </a:r>
            <a:r>
              <a:rPr sz="1700" dirty="0">
                <a:solidFill>
                  <a:sysClr val="windowText" lastClr="000000"/>
                </a:solidFill>
                <a:latin typeface="Palatino Linotype"/>
                <a:cs typeface="Palatino Linotype"/>
              </a:rPr>
              <a:t>rule</a:t>
            </a:r>
            <a:r>
              <a:rPr sz="1700" spc="-30" dirty="0">
                <a:solidFill>
                  <a:sysClr val="windowText" lastClr="000000"/>
                </a:solidFill>
                <a:latin typeface="Palatino Linotype"/>
                <a:cs typeface="Palatino Linotype"/>
              </a:rPr>
              <a:t> </a:t>
            </a:r>
            <a:r>
              <a:rPr sz="1700" spc="-50" dirty="0">
                <a:solidFill>
                  <a:sysClr val="windowText" lastClr="000000"/>
                </a:solidFill>
                <a:latin typeface="Palatino Linotype"/>
                <a:cs typeface="Palatino Linotype"/>
              </a:rPr>
              <a:t>1</a:t>
            </a:r>
            <a:endParaRPr sz="1700">
              <a:solidFill>
                <a:sysClr val="windowText" lastClr="000000"/>
              </a:solidFill>
              <a:latin typeface="Palatino Linotype"/>
              <a:cs typeface="Palatino Linotype"/>
            </a:endParaRPr>
          </a:p>
          <a:p>
            <a:pPr marL="873760" lvl="1" indent="-342265">
              <a:spcBef>
                <a:spcPts val="1130"/>
              </a:spcBef>
              <a:buFontTx/>
              <a:buAutoNum type="alphaLcParenR"/>
              <a:tabLst>
                <a:tab pos="873760" algn="l"/>
              </a:tabLst>
            </a:pPr>
            <a:r>
              <a:rPr sz="1700" dirty="0">
                <a:solidFill>
                  <a:sysClr val="windowText" lastClr="000000"/>
                </a:solidFill>
                <a:latin typeface="Palatino Linotype"/>
                <a:cs typeface="Palatino Linotype"/>
              </a:rPr>
              <a:t>Add</a:t>
            </a:r>
            <a:r>
              <a:rPr sz="1700" spc="-30" dirty="0">
                <a:solidFill>
                  <a:sysClr val="windowText" lastClr="000000"/>
                </a:solidFill>
                <a:latin typeface="Palatino Linotype"/>
                <a:cs typeface="Palatino Linotype"/>
              </a:rPr>
              <a:t> </a:t>
            </a:r>
            <a:r>
              <a:rPr sz="1700" dirty="0">
                <a:solidFill>
                  <a:sysClr val="windowText" lastClr="000000"/>
                </a:solidFill>
                <a:latin typeface="Cambria Math"/>
                <a:cs typeface="Cambria Math"/>
              </a:rPr>
              <a:t>𝑥</a:t>
            </a:r>
            <a:r>
              <a:rPr sz="1700" spc="70" dirty="0">
                <a:solidFill>
                  <a:sysClr val="windowText" lastClr="000000"/>
                </a:solidFill>
                <a:latin typeface="Cambria Math"/>
                <a:cs typeface="Cambria Math"/>
              </a:rPr>
              <a:t> </a:t>
            </a:r>
            <a:r>
              <a:rPr sz="1700" dirty="0">
                <a:solidFill>
                  <a:sysClr val="windowText" lastClr="000000"/>
                </a:solidFill>
                <a:latin typeface="Palatino Linotype"/>
                <a:cs typeface="Palatino Linotype"/>
              </a:rPr>
              <a:t>to</a:t>
            </a:r>
            <a:r>
              <a:rPr sz="1700" spc="-30" dirty="0">
                <a:solidFill>
                  <a:sysClr val="windowText" lastClr="000000"/>
                </a:solidFill>
                <a:latin typeface="Palatino Linotype"/>
                <a:cs typeface="Palatino Linotype"/>
              </a:rPr>
              <a:t> </a:t>
            </a:r>
            <a:r>
              <a:rPr sz="1700" dirty="0">
                <a:solidFill>
                  <a:sysClr val="windowText" lastClr="000000"/>
                </a:solidFill>
                <a:latin typeface="Palatino Linotype"/>
                <a:cs typeface="Palatino Linotype"/>
              </a:rPr>
              <a:t>the</a:t>
            </a:r>
            <a:r>
              <a:rPr sz="1700" spc="-25" dirty="0">
                <a:solidFill>
                  <a:sysClr val="windowText" lastClr="000000"/>
                </a:solidFill>
                <a:latin typeface="Palatino Linotype"/>
                <a:cs typeface="Palatino Linotype"/>
              </a:rPr>
              <a:t> </a:t>
            </a:r>
            <a:r>
              <a:rPr sz="1700" dirty="0">
                <a:solidFill>
                  <a:srgbClr val="FF0000"/>
                </a:solidFill>
                <a:latin typeface="Palatino Linotype"/>
                <a:cs typeface="Palatino Linotype"/>
              </a:rPr>
              <a:t>register</a:t>
            </a:r>
            <a:r>
              <a:rPr sz="1700" spc="-25" dirty="0">
                <a:solidFill>
                  <a:srgbClr val="FF0000"/>
                </a:solidFill>
                <a:latin typeface="Palatino Linotype"/>
                <a:cs typeface="Palatino Linotype"/>
              </a:rPr>
              <a:t> </a:t>
            </a:r>
            <a:r>
              <a:rPr sz="1700" dirty="0">
                <a:solidFill>
                  <a:srgbClr val="FF0000"/>
                </a:solidFill>
                <a:latin typeface="Palatino Linotype"/>
                <a:cs typeface="Palatino Linotype"/>
              </a:rPr>
              <a:t>descriptor</a:t>
            </a:r>
            <a:r>
              <a:rPr sz="1700" spc="-25" dirty="0">
                <a:solidFill>
                  <a:srgbClr val="FF0000"/>
                </a:solidFill>
                <a:latin typeface="Palatino Linotype"/>
                <a:cs typeface="Palatino Linotype"/>
              </a:rPr>
              <a:t> </a:t>
            </a:r>
            <a:r>
              <a:rPr sz="1700" dirty="0">
                <a:solidFill>
                  <a:sysClr val="windowText" lastClr="000000"/>
                </a:solidFill>
                <a:latin typeface="Palatino Linotype"/>
                <a:cs typeface="Palatino Linotype"/>
              </a:rPr>
              <a:t>for</a:t>
            </a:r>
            <a:r>
              <a:rPr sz="1700" spc="-20" dirty="0">
                <a:solidFill>
                  <a:sysClr val="windowText" lastClr="000000"/>
                </a:solidFill>
                <a:latin typeface="Palatino Linotype"/>
                <a:cs typeface="Palatino Linotype"/>
              </a:rPr>
              <a:t> </a:t>
            </a:r>
            <a:r>
              <a:rPr sz="1600" spc="-25" dirty="0">
                <a:solidFill>
                  <a:srgbClr val="0432FF"/>
                </a:solidFill>
                <a:latin typeface="Cambria Math"/>
                <a:cs typeface="Cambria Math"/>
              </a:rPr>
              <a:t>𝑅</a:t>
            </a:r>
            <a:r>
              <a:rPr spc="-37" baseline="-16203" dirty="0">
                <a:solidFill>
                  <a:srgbClr val="0432FF"/>
                </a:solidFill>
                <a:latin typeface="Cambria Math"/>
                <a:cs typeface="Cambria Math"/>
              </a:rPr>
              <a:t>𝑦</a:t>
            </a:r>
            <a:endParaRPr baseline="-16203">
              <a:solidFill>
                <a:sysClr val="windowText" lastClr="000000"/>
              </a:solidFill>
              <a:latin typeface="Cambria Math"/>
              <a:cs typeface="Cambria Math"/>
            </a:endParaRPr>
          </a:p>
          <a:p>
            <a:pPr marL="873760" lvl="1" indent="-342265">
              <a:spcBef>
                <a:spcPts val="1150"/>
              </a:spcBef>
              <a:buFontTx/>
              <a:buAutoNum type="alphaLcParenR"/>
              <a:tabLst>
                <a:tab pos="873760" algn="l"/>
              </a:tabLst>
            </a:pPr>
            <a:r>
              <a:rPr sz="1700" dirty="0">
                <a:solidFill>
                  <a:sysClr val="windowText" lastClr="000000"/>
                </a:solidFill>
                <a:latin typeface="Palatino Linotype"/>
                <a:cs typeface="Palatino Linotype"/>
              </a:rPr>
              <a:t>Change</a:t>
            </a:r>
            <a:r>
              <a:rPr sz="1700" spc="-30" dirty="0">
                <a:solidFill>
                  <a:sysClr val="windowText" lastClr="000000"/>
                </a:solidFill>
                <a:latin typeface="Palatino Linotype"/>
                <a:cs typeface="Palatino Linotype"/>
              </a:rPr>
              <a:t> </a:t>
            </a:r>
            <a:r>
              <a:rPr sz="1700" dirty="0">
                <a:solidFill>
                  <a:sysClr val="windowText" lastClr="000000"/>
                </a:solidFill>
                <a:latin typeface="Palatino Linotype"/>
                <a:cs typeface="Palatino Linotype"/>
              </a:rPr>
              <a:t>the</a:t>
            </a:r>
            <a:r>
              <a:rPr sz="1700" spc="-25" dirty="0">
                <a:solidFill>
                  <a:sysClr val="windowText" lastClr="000000"/>
                </a:solidFill>
                <a:latin typeface="Palatino Linotype"/>
                <a:cs typeface="Palatino Linotype"/>
              </a:rPr>
              <a:t> </a:t>
            </a:r>
            <a:r>
              <a:rPr sz="1700" dirty="0">
                <a:solidFill>
                  <a:srgbClr val="FF0000"/>
                </a:solidFill>
                <a:latin typeface="Palatino Linotype"/>
                <a:cs typeface="Palatino Linotype"/>
              </a:rPr>
              <a:t>address</a:t>
            </a:r>
            <a:r>
              <a:rPr sz="1700" spc="-20" dirty="0">
                <a:solidFill>
                  <a:srgbClr val="FF0000"/>
                </a:solidFill>
                <a:latin typeface="Palatino Linotype"/>
                <a:cs typeface="Palatino Linotype"/>
              </a:rPr>
              <a:t> </a:t>
            </a:r>
            <a:r>
              <a:rPr sz="1700" dirty="0">
                <a:solidFill>
                  <a:srgbClr val="FF0000"/>
                </a:solidFill>
                <a:latin typeface="Palatino Linotype"/>
                <a:cs typeface="Palatino Linotype"/>
              </a:rPr>
              <a:t>descriptor</a:t>
            </a:r>
            <a:r>
              <a:rPr sz="1700" spc="-25" dirty="0">
                <a:solidFill>
                  <a:srgbClr val="FF0000"/>
                </a:solidFill>
                <a:latin typeface="Palatino Linotype"/>
                <a:cs typeface="Palatino Linotype"/>
              </a:rPr>
              <a:t> </a:t>
            </a:r>
            <a:r>
              <a:rPr sz="1700" dirty="0">
                <a:solidFill>
                  <a:sysClr val="windowText" lastClr="000000"/>
                </a:solidFill>
                <a:latin typeface="Palatino Linotype"/>
                <a:cs typeface="Palatino Linotype"/>
              </a:rPr>
              <a:t>for</a:t>
            </a:r>
            <a:r>
              <a:rPr sz="1700" spc="-20" dirty="0">
                <a:solidFill>
                  <a:sysClr val="windowText" lastClr="000000"/>
                </a:solidFill>
                <a:latin typeface="Palatino Linotype"/>
                <a:cs typeface="Palatino Linotype"/>
              </a:rPr>
              <a:t> </a:t>
            </a:r>
            <a:r>
              <a:rPr sz="1700" dirty="0">
                <a:solidFill>
                  <a:sysClr val="windowText" lastClr="000000"/>
                </a:solidFill>
                <a:latin typeface="Cambria Math"/>
                <a:cs typeface="Cambria Math"/>
              </a:rPr>
              <a:t>𝑥</a:t>
            </a:r>
            <a:r>
              <a:rPr sz="1700" spc="70" dirty="0">
                <a:solidFill>
                  <a:sysClr val="windowText" lastClr="000000"/>
                </a:solidFill>
                <a:latin typeface="Cambria Math"/>
                <a:cs typeface="Cambria Math"/>
              </a:rPr>
              <a:t> </a:t>
            </a:r>
            <a:r>
              <a:rPr sz="1700" dirty="0">
                <a:solidFill>
                  <a:sysClr val="windowText" lastClr="000000"/>
                </a:solidFill>
                <a:latin typeface="Palatino Linotype"/>
                <a:cs typeface="Palatino Linotype"/>
              </a:rPr>
              <a:t>so</a:t>
            </a:r>
            <a:r>
              <a:rPr sz="1700" spc="-25" dirty="0">
                <a:solidFill>
                  <a:sysClr val="windowText" lastClr="000000"/>
                </a:solidFill>
                <a:latin typeface="Palatino Linotype"/>
                <a:cs typeface="Palatino Linotype"/>
              </a:rPr>
              <a:t> </a:t>
            </a:r>
            <a:r>
              <a:rPr sz="1700" dirty="0">
                <a:solidFill>
                  <a:sysClr val="windowText" lastClr="000000"/>
                </a:solidFill>
                <a:latin typeface="Palatino Linotype"/>
                <a:cs typeface="Palatino Linotype"/>
              </a:rPr>
              <a:t>that</a:t>
            </a:r>
            <a:r>
              <a:rPr sz="1700" spc="-30" dirty="0">
                <a:solidFill>
                  <a:sysClr val="windowText" lastClr="000000"/>
                </a:solidFill>
                <a:latin typeface="Palatino Linotype"/>
                <a:cs typeface="Palatino Linotype"/>
              </a:rPr>
              <a:t> </a:t>
            </a:r>
            <a:r>
              <a:rPr sz="1700" dirty="0">
                <a:solidFill>
                  <a:sysClr val="windowText" lastClr="000000"/>
                </a:solidFill>
                <a:latin typeface="Palatino Linotype"/>
                <a:cs typeface="Palatino Linotype"/>
              </a:rPr>
              <a:t>its</a:t>
            </a:r>
            <a:r>
              <a:rPr sz="1700" spc="-20" dirty="0">
                <a:solidFill>
                  <a:sysClr val="windowText" lastClr="000000"/>
                </a:solidFill>
                <a:latin typeface="Palatino Linotype"/>
                <a:cs typeface="Palatino Linotype"/>
              </a:rPr>
              <a:t> </a:t>
            </a:r>
            <a:r>
              <a:rPr sz="1700" dirty="0">
                <a:solidFill>
                  <a:sysClr val="windowText" lastClr="000000"/>
                </a:solidFill>
                <a:latin typeface="Palatino Linotype"/>
                <a:cs typeface="Palatino Linotype"/>
              </a:rPr>
              <a:t>only</a:t>
            </a:r>
            <a:r>
              <a:rPr sz="1700" spc="-20" dirty="0">
                <a:solidFill>
                  <a:sysClr val="windowText" lastClr="000000"/>
                </a:solidFill>
                <a:latin typeface="Palatino Linotype"/>
                <a:cs typeface="Palatino Linotype"/>
              </a:rPr>
              <a:t> </a:t>
            </a:r>
            <a:r>
              <a:rPr sz="1700" dirty="0">
                <a:solidFill>
                  <a:sysClr val="windowText" lastClr="000000"/>
                </a:solidFill>
                <a:latin typeface="Palatino Linotype"/>
                <a:cs typeface="Palatino Linotype"/>
              </a:rPr>
              <a:t>location</a:t>
            </a:r>
            <a:r>
              <a:rPr sz="1700" spc="-30" dirty="0">
                <a:solidFill>
                  <a:sysClr val="windowText" lastClr="000000"/>
                </a:solidFill>
                <a:latin typeface="Palatino Linotype"/>
                <a:cs typeface="Palatino Linotype"/>
              </a:rPr>
              <a:t> </a:t>
            </a:r>
            <a:r>
              <a:rPr sz="1700" dirty="0">
                <a:solidFill>
                  <a:sysClr val="windowText" lastClr="000000"/>
                </a:solidFill>
                <a:latin typeface="Palatino Linotype"/>
                <a:cs typeface="Palatino Linotype"/>
              </a:rPr>
              <a:t>is</a:t>
            </a:r>
            <a:r>
              <a:rPr sz="1700" spc="-15" dirty="0">
                <a:solidFill>
                  <a:sysClr val="windowText" lastClr="000000"/>
                </a:solidFill>
                <a:latin typeface="Palatino Linotype"/>
                <a:cs typeface="Palatino Linotype"/>
              </a:rPr>
              <a:t> </a:t>
            </a:r>
            <a:r>
              <a:rPr spc="-25" dirty="0">
                <a:solidFill>
                  <a:srgbClr val="0432FF"/>
                </a:solidFill>
                <a:latin typeface="Cambria Math"/>
                <a:cs typeface="Cambria Math"/>
              </a:rPr>
              <a:t>𝑅</a:t>
            </a:r>
            <a:r>
              <a:rPr sz="1950" spc="-37" baseline="-17094" dirty="0">
                <a:solidFill>
                  <a:srgbClr val="0432FF"/>
                </a:solidFill>
                <a:latin typeface="Cambria Math"/>
                <a:cs typeface="Cambria Math"/>
              </a:rPr>
              <a:t>𝑦</a:t>
            </a:r>
            <a:endParaRPr sz="1950" baseline="-17094">
              <a:solidFill>
                <a:sysClr val="windowText" lastClr="000000"/>
              </a:solidFill>
              <a:latin typeface="Cambria Math"/>
              <a:cs typeface="Cambria Math"/>
            </a:endParaRPr>
          </a:p>
        </p:txBody>
      </p:sp>
    </p:spTree>
    <p:extLst>
      <p:ext uri="{BB962C8B-B14F-4D97-AF65-F5344CB8AC3E}">
        <p14:creationId xmlns:p14="http://schemas.microsoft.com/office/powerpoint/2010/main" val="217929751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67</a:t>
            </a:fld>
            <a:endParaRPr lang="en-US"/>
          </a:p>
        </p:txBody>
      </p:sp>
      <p:sp>
        <p:nvSpPr>
          <p:cNvPr id="8" name="object 2">
            <a:extLst>
              <a:ext uri="{FF2B5EF4-FFF2-40B4-BE49-F238E27FC236}">
                <a16:creationId xmlns:a16="http://schemas.microsoft.com/office/drawing/2014/main" id="{91AADFF1-F233-ADF5-9E56-8AE524914A68}"/>
              </a:ext>
            </a:extLst>
          </p:cNvPr>
          <p:cNvSpPr txBox="1">
            <a:spLocks/>
          </p:cNvSpPr>
          <p:nvPr/>
        </p:nvSpPr>
        <p:spPr>
          <a:xfrm>
            <a:off x="707390" y="524763"/>
            <a:ext cx="7729219" cy="63500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4000" b="1" i="0" u="none" strike="noStrike" kern="0" cap="none" spc="-10" normalizeH="0" baseline="0" noProof="0">
                <a:ln>
                  <a:noFill/>
                </a:ln>
                <a:solidFill>
                  <a:sysClr val="windowText" lastClr="000000"/>
                </a:solidFill>
                <a:effectLst/>
                <a:uLnTx/>
                <a:uFillTx/>
                <a:latin typeface="Palatino Linotype"/>
                <a:ea typeface="+mj-ea"/>
              </a:rPr>
              <a:t>Example</a:t>
            </a:r>
            <a:endParaRPr kumimoji="0" lang="en-US" sz="4000" b="1" i="0" u="none" strike="noStrike" kern="0" cap="none" spc="-10" normalizeH="0" baseline="0" noProof="0" dirty="0">
              <a:ln>
                <a:noFill/>
              </a:ln>
              <a:solidFill>
                <a:sysClr val="windowText" lastClr="000000"/>
              </a:solidFill>
              <a:effectLst/>
              <a:uLnTx/>
              <a:uFillTx/>
              <a:latin typeface="Palatino Linotype"/>
              <a:ea typeface="+mj-ea"/>
            </a:endParaRPr>
          </a:p>
        </p:txBody>
      </p:sp>
      <p:sp>
        <p:nvSpPr>
          <p:cNvPr id="9" name="object 3">
            <a:extLst>
              <a:ext uri="{FF2B5EF4-FFF2-40B4-BE49-F238E27FC236}">
                <a16:creationId xmlns:a16="http://schemas.microsoft.com/office/drawing/2014/main" id="{2E5E950F-15F9-0B18-85B6-240703447DC0}"/>
              </a:ext>
            </a:extLst>
          </p:cNvPr>
          <p:cNvSpPr txBox="1"/>
          <p:nvPr/>
        </p:nvSpPr>
        <p:spPr>
          <a:xfrm>
            <a:off x="707390" y="1658620"/>
            <a:ext cx="5229860" cy="982980"/>
          </a:xfrm>
          <a:prstGeom prst="rect">
            <a:avLst/>
          </a:prstGeom>
        </p:spPr>
        <p:txBody>
          <a:bodyPr vert="horz" wrap="square" lIns="0" tIns="12700" rIns="0" bIns="0" rtlCol="0">
            <a:spAutoFit/>
          </a:bodyPr>
          <a:lstStyle/>
          <a:p>
            <a:pPr marL="242570" indent="-229870">
              <a:spcBef>
                <a:spcPts val="100"/>
              </a:spcBef>
              <a:buFont typeface="Arial MT"/>
              <a:buChar char="•"/>
              <a:tabLst>
                <a:tab pos="242570" algn="l"/>
              </a:tabLst>
            </a:pPr>
            <a:r>
              <a:rPr sz="2200" dirty="0">
                <a:solidFill>
                  <a:sysClr val="windowText" lastClr="000000"/>
                </a:solidFill>
                <a:latin typeface="Consolas"/>
                <a:cs typeface="Consolas"/>
              </a:rPr>
              <a:t>a</a:t>
            </a:r>
            <a:r>
              <a:rPr sz="2200" dirty="0">
                <a:solidFill>
                  <a:sysClr val="windowText" lastClr="000000"/>
                </a:solidFill>
                <a:latin typeface="Palatino Linotype"/>
                <a:cs typeface="Palatino Linotype"/>
              </a:rPr>
              <a:t>,</a:t>
            </a:r>
            <a:r>
              <a:rPr sz="2200" spc="-20" dirty="0">
                <a:solidFill>
                  <a:sysClr val="windowText" lastClr="000000"/>
                </a:solidFill>
                <a:latin typeface="Palatino Linotype"/>
                <a:cs typeface="Palatino Linotype"/>
              </a:rPr>
              <a:t> </a:t>
            </a:r>
            <a:r>
              <a:rPr sz="2200" dirty="0">
                <a:solidFill>
                  <a:sysClr val="windowText" lastClr="000000"/>
                </a:solidFill>
                <a:latin typeface="Consolas"/>
                <a:cs typeface="Consolas"/>
              </a:rPr>
              <a:t>b</a:t>
            </a:r>
            <a:r>
              <a:rPr sz="2200" dirty="0">
                <a:solidFill>
                  <a:sysClr val="windowText" lastClr="000000"/>
                </a:solidFill>
                <a:latin typeface="Palatino Linotype"/>
                <a:cs typeface="Palatino Linotype"/>
              </a:rPr>
              <a:t>,</a:t>
            </a:r>
            <a:r>
              <a:rPr sz="2200" spc="-20" dirty="0">
                <a:solidFill>
                  <a:sysClr val="windowText" lastClr="000000"/>
                </a:solidFill>
                <a:latin typeface="Palatino Linotype"/>
                <a:cs typeface="Palatino Linotype"/>
              </a:rPr>
              <a:t> </a:t>
            </a:r>
            <a:r>
              <a:rPr sz="2200" dirty="0">
                <a:solidFill>
                  <a:sysClr val="windowText" lastClr="000000"/>
                </a:solidFill>
                <a:latin typeface="Consolas"/>
                <a:cs typeface="Consolas"/>
              </a:rPr>
              <a:t>c</a:t>
            </a:r>
            <a:r>
              <a:rPr sz="2200" dirty="0">
                <a:solidFill>
                  <a:sysClr val="windowText" lastClr="000000"/>
                </a:solidFill>
                <a:latin typeface="Palatino Linotype"/>
                <a:cs typeface="Palatino Linotype"/>
              </a:rPr>
              <a:t>,</a:t>
            </a:r>
            <a:r>
              <a:rPr sz="2200" spc="-20" dirty="0">
                <a:solidFill>
                  <a:sysClr val="windowText" lastClr="000000"/>
                </a:solidFill>
                <a:latin typeface="Palatino Linotype"/>
                <a:cs typeface="Palatino Linotype"/>
              </a:rPr>
              <a:t> </a:t>
            </a:r>
            <a:r>
              <a:rPr sz="2200" dirty="0">
                <a:solidFill>
                  <a:sysClr val="windowText" lastClr="000000"/>
                </a:solidFill>
                <a:latin typeface="Palatino Linotype"/>
                <a:cs typeface="Palatino Linotype"/>
              </a:rPr>
              <a:t>d</a:t>
            </a:r>
            <a:r>
              <a:rPr sz="2200" spc="-15" dirty="0">
                <a:solidFill>
                  <a:sysClr val="windowText" lastClr="000000"/>
                </a:solidFill>
                <a:latin typeface="Palatino Linotype"/>
                <a:cs typeface="Palatino Linotype"/>
              </a:rPr>
              <a:t> </a:t>
            </a:r>
            <a:r>
              <a:rPr sz="2200" dirty="0">
                <a:solidFill>
                  <a:sysClr val="windowText" lastClr="000000"/>
                </a:solidFill>
                <a:latin typeface="Palatino Linotype"/>
                <a:cs typeface="Palatino Linotype"/>
              </a:rPr>
              <a:t>are</a:t>
            </a:r>
            <a:r>
              <a:rPr sz="2200" spc="-25" dirty="0">
                <a:solidFill>
                  <a:sysClr val="windowText" lastClr="000000"/>
                </a:solidFill>
                <a:latin typeface="Palatino Linotype"/>
                <a:cs typeface="Palatino Linotype"/>
              </a:rPr>
              <a:t> </a:t>
            </a:r>
            <a:r>
              <a:rPr sz="2200" dirty="0">
                <a:solidFill>
                  <a:sysClr val="windowText" lastClr="000000"/>
                </a:solidFill>
                <a:latin typeface="Palatino Linotype"/>
                <a:cs typeface="Palatino Linotype"/>
              </a:rPr>
              <a:t>live</a:t>
            </a:r>
            <a:r>
              <a:rPr sz="2200" spc="-20" dirty="0">
                <a:solidFill>
                  <a:sysClr val="windowText" lastClr="000000"/>
                </a:solidFill>
                <a:latin typeface="Palatino Linotype"/>
                <a:cs typeface="Palatino Linotype"/>
              </a:rPr>
              <a:t> </a:t>
            </a:r>
            <a:r>
              <a:rPr sz="2200" dirty="0">
                <a:solidFill>
                  <a:sysClr val="windowText" lastClr="000000"/>
                </a:solidFill>
                <a:latin typeface="Palatino Linotype"/>
                <a:cs typeface="Palatino Linotype"/>
              </a:rPr>
              <a:t>at</a:t>
            </a:r>
            <a:r>
              <a:rPr sz="2200" spc="-25" dirty="0">
                <a:solidFill>
                  <a:sysClr val="windowText" lastClr="000000"/>
                </a:solidFill>
                <a:latin typeface="Palatino Linotype"/>
                <a:cs typeface="Palatino Linotype"/>
              </a:rPr>
              <a:t> </a:t>
            </a:r>
            <a:r>
              <a:rPr sz="2200" dirty="0">
                <a:solidFill>
                  <a:sysClr val="windowText" lastClr="000000"/>
                </a:solidFill>
                <a:latin typeface="Palatino Linotype"/>
                <a:cs typeface="Palatino Linotype"/>
              </a:rPr>
              <a:t>the</a:t>
            </a:r>
            <a:r>
              <a:rPr sz="2200" spc="-25" dirty="0">
                <a:solidFill>
                  <a:sysClr val="windowText" lastClr="000000"/>
                </a:solidFill>
                <a:latin typeface="Palatino Linotype"/>
                <a:cs typeface="Palatino Linotype"/>
              </a:rPr>
              <a:t> </a:t>
            </a:r>
            <a:r>
              <a:rPr sz="2200" dirty="0">
                <a:solidFill>
                  <a:sysClr val="windowText" lastClr="000000"/>
                </a:solidFill>
                <a:latin typeface="Palatino Linotype"/>
                <a:cs typeface="Palatino Linotype"/>
              </a:rPr>
              <a:t>block</a:t>
            </a:r>
            <a:r>
              <a:rPr sz="2200" spc="-20" dirty="0">
                <a:solidFill>
                  <a:sysClr val="windowText" lastClr="000000"/>
                </a:solidFill>
                <a:latin typeface="Palatino Linotype"/>
                <a:cs typeface="Palatino Linotype"/>
              </a:rPr>
              <a:t> exit</a:t>
            </a:r>
            <a:endParaRPr sz="2200">
              <a:solidFill>
                <a:sysClr val="windowText" lastClr="000000"/>
              </a:solidFill>
              <a:latin typeface="Palatino Linotype"/>
              <a:cs typeface="Palatino Linotype"/>
            </a:endParaRPr>
          </a:p>
          <a:p>
            <a:pPr marL="242570" indent="-229870">
              <a:spcBef>
                <a:spcPts val="2255"/>
              </a:spcBef>
              <a:buFont typeface="Arial MT"/>
              <a:buChar char="•"/>
              <a:tabLst>
                <a:tab pos="242570" algn="l"/>
              </a:tabLst>
            </a:pPr>
            <a:r>
              <a:rPr sz="2200" dirty="0">
                <a:solidFill>
                  <a:sysClr val="windowText" lastClr="000000"/>
                </a:solidFill>
                <a:latin typeface="Consolas"/>
                <a:cs typeface="Consolas"/>
              </a:rPr>
              <a:t>t</a:t>
            </a:r>
            <a:r>
              <a:rPr sz="2200" dirty="0">
                <a:solidFill>
                  <a:sysClr val="windowText" lastClr="000000"/>
                </a:solidFill>
                <a:latin typeface="Palatino Linotype"/>
                <a:cs typeface="Palatino Linotype"/>
              </a:rPr>
              <a:t>,</a:t>
            </a:r>
            <a:r>
              <a:rPr sz="2200" spc="-35" dirty="0">
                <a:solidFill>
                  <a:sysClr val="windowText" lastClr="000000"/>
                </a:solidFill>
                <a:latin typeface="Palatino Linotype"/>
                <a:cs typeface="Palatino Linotype"/>
              </a:rPr>
              <a:t> </a:t>
            </a:r>
            <a:r>
              <a:rPr sz="2200" dirty="0">
                <a:solidFill>
                  <a:sysClr val="windowText" lastClr="000000"/>
                </a:solidFill>
                <a:latin typeface="Consolas"/>
                <a:cs typeface="Consolas"/>
              </a:rPr>
              <a:t>u</a:t>
            </a:r>
            <a:r>
              <a:rPr sz="2200" dirty="0">
                <a:solidFill>
                  <a:sysClr val="windowText" lastClr="000000"/>
                </a:solidFill>
                <a:latin typeface="Palatino Linotype"/>
                <a:cs typeface="Palatino Linotype"/>
              </a:rPr>
              <a:t>,</a:t>
            </a:r>
            <a:r>
              <a:rPr sz="2200" spc="-15" dirty="0">
                <a:solidFill>
                  <a:sysClr val="windowText" lastClr="000000"/>
                </a:solidFill>
                <a:latin typeface="Palatino Linotype"/>
                <a:cs typeface="Palatino Linotype"/>
              </a:rPr>
              <a:t> </a:t>
            </a:r>
            <a:r>
              <a:rPr sz="2200" spc="-20" dirty="0">
                <a:solidFill>
                  <a:sysClr val="windowText" lastClr="000000"/>
                </a:solidFill>
                <a:latin typeface="Consolas"/>
                <a:cs typeface="Consolas"/>
              </a:rPr>
              <a:t>v</a:t>
            </a:r>
            <a:r>
              <a:rPr sz="2200" spc="-660" dirty="0">
                <a:solidFill>
                  <a:sysClr val="windowText" lastClr="000000"/>
                </a:solidFill>
                <a:latin typeface="Consolas"/>
                <a:cs typeface="Consolas"/>
              </a:rPr>
              <a:t> </a:t>
            </a:r>
            <a:r>
              <a:rPr sz="2200" dirty="0">
                <a:solidFill>
                  <a:sysClr val="windowText" lastClr="000000"/>
                </a:solidFill>
                <a:latin typeface="Palatino Linotype"/>
                <a:cs typeface="Palatino Linotype"/>
              </a:rPr>
              <a:t>are</a:t>
            </a:r>
            <a:r>
              <a:rPr sz="2200" spc="-25" dirty="0">
                <a:solidFill>
                  <a:sysClr val="windowText" lastClr="000000"/>
                </a:solidFill>
                <a:latin typeface="Palatino Linotype"/>
                <a:cs typeface="Palatino Linotype"/>
              </a:rPr>
              <a:t> </a:t>
            </a:r>
            <a:r>
              <a:rPr sz="2200" dirty="0">
                <a:solidFill>
                  <a:sysClr val="windowText" lastClr="000000"/>
                </a:solidFill>
                <a:latin typeface="Palatino Linotype"/>
                <a:cs typeface="Palatino Linotype"/>
              </a:rPr>
              <a:t>temporaries,</a:t>
            </a:r>
            <a:r>
              <a:rPr sz="2200" spc="-15" dirty="0">
                <a:solidFill>
                  <a:sysClr val="windowText" lastClr="000000"/>
                </a:solidFill>
                <a:latin typeface="Palatino Linotype"/>
                <a:cs typeface="Palatino Linotype"/>
              </a:rPr>
              <a:t> </a:t>
            </a:r>
            <a:r>
              <a:rPr sz="2200" dirty="0">
                <a:solidFill>
                  <a:sysClr val="windowText" lastClr="000000"/>
                </a:solidFill>
                <a:latin typeface="Palatino Linotype"/>
                <a:cs typeface="Palatino Linotype"/>
              </a:rPr>
              <a:t>local</a:t>
            </a:r>
            <a:r>
              <a:rPr sz="2200" spc="-20" dirty="0">
                <a:solidFill>
                  <a:sysClr val="windowText" lastClr="000000"/>
                </a:solidFill>
                <a:latin typeface="Palatino Linotype"/>
                <a:cs typeface="Palatino Linotype"/>
              </a:rPr>
              <a:t> </a:t>
            </a:r>
            <a:r>
              <a:rPr sz="2200" dirty="0">
                <a:solidFill>
                  <a:sysClr val="windowText" lastClr="000000"/>
                </a:solidFill>
                <a:latin typeface="Palatino Linotype"/>
                <a:cs typeface="Palatino Linotype"/>
              </a:rPr>
              <a:t>to</a:t>
            </a:r>
            <a:r>
              <a:rPr sz="2200" spc="-25" dirty="0">
                <a:solidFill>
                  <a:sysClr val="windowText" lastClr="000000"/>
                </a:solidFill>
                <a:latin typeface="Palatino Linotype"/>
                <a:cs typeface="Palatino Linotype"/>
              </a:rPr>
              <a:t> </a:t>
            </a:r>
            <a:r>
              <a:rPr sz="2200" dirty="0">
                <a:solidFill>
                  <a:sysClr val="windowText" lastClr="000000"/>
                </a:solidFill>
                <a:latin typeface="Palatino Linotype"/>
                <a:cs typeface="Palatino Linotype"/>
              </a:rPr>
              <a:t>the</a:t>
            </a:r>
            <a:r>
              <a:rPr sz="2200" spc="-20" dirty="0">
                <a:solidFill>
                  <a:sysClr val="windowText" lastClr="000000"/>
                </a:solidFill>
                <a:latin typeface="Palatino Linotype"/>
                <a:cs typeface="Palatino Linotype"/>
              </a:rPr>
              <a:t> </a:t>
            </a:r>
            <a:r>
              <a:rPr sz="2200" spc="-10" dirty="0">
                <a:solidFill>
                  <a:sysClr val="windowText" lastClr="000000"/>
                </a:solidFill>
                <a:latin typeface="Palatino Linotype"/>
                <a:cs typeface="Palatino Linotype"/>
              </a:rPr>
              <a:t>block</a:t>
            </a:r>
            <a:endParaRPr sz="2200">
              <a:solidFill>
                <a:sysClr val="windowText" lastClr="000000"/>
              </a:solidFill>
              <a:latin typeface="Palatino Linotype"/>
              <a:cs typeface="Palatino Linotype"/>
            </a:endParaRPr>
          </a:p>
        </p:txBody>
      </p:sp>
      <p:graphicFrame>
        <p:nvGraphicFramePr>
          <p:cNvPr id="10" name="object 4">
            <a:extLst>
              <a:ext uri="{FF2B5EF4-FFF2-40B4-BE49-F238E27FC236}">
                <a16:creationId xmlns:a16="http://schemas.microsoft.com/office/drawing/2014/main" id="{4FDF84F2-29CB-8C34-206A-80F573581F36}"/>
              </a:ext>
            </a:extLst>
          </p:cNvPr>
          <p:cNvGraphicFramePr>
            <a:graphicFrameLocks noGrp="1"/>
          </p:cNvGraphicFramePr>
          <p:nvPr/>
        </p:nvGraphicFramePr>
        <p:xfrm>
          <a:off x="3818143" y="3303792"/>
          <a:ext cx="1448435" cy="2182495"/>
        </p:xfrm>
        <a:graphic>
          <a:graphicData uri="http://schemas.openxmlformats.org/drawingml/2006/table">
            <a:tbl>
              <a:tblPr firstRow="1" bandRow="1"/>
              <a:tblGrid>
                <a:gridCol w="262255">
                  <a:extLst>
                    <a:ext uri="{9D8B030D-6E8A-4147-A177-3AD203B41FA5}">
                      <a16:colId xmlns:a16="http://schemas.microsoft.com/office/drawing/2014/main" val="20000"/>
                    </a:ext>
                  </a:extLst>
                </a:gridCol>
                <a:gridCol w="307975">
                  <a:extLst>
                    <a:ext uri="{9D8B030D-6E8A-4147-A177-3AD203B41FA5}">
                      <a16:colId xmlns:a16="http://schemas.microsoft.com/office/drawing/2014/main" val="20001"/>
                    </a:ext>
                  </a:extLst>
                </a:gridCol>
                <a:gridCol w="307975">
                  <a:extLst>
                    <a:ext uri="{9D8B030D-6E8A-4147-A177-3AD203B41FA5}">
                      <a16:colId xmlns:a16="http://schemas.microsoft.com/office/drawing/2014/main" val="20002"/>
                    </a:ext>
                  </a:extLst>
                </a:gridCol>
                <a:gridCol w="307975">
                  <a:extLst>
                    <a:ext uri="{9D8B030D-6E8A-4147-A177-3AD203B41FA5}">
                      <a16:colId xmlns:a16="http://schemas.microsoft.com/office/drawing/2014/main" val="20003"/>
                    </a:ext>
                  </a:extLst>
                </a:gridCol>
                <a:gridCol w="262255">
                  <a:extLst>
                    <a:ext uri="{9D8B030D-6E8A-4147-A177-3AD203B41FA5}">
                      <a16:colId xmlns:a16="http://schemas.microsoft.com/office/drawing/2014/main" val="20004"/>
                    </a:ext>
                  </a:extLst>
                </a:gridCol>
              </a:tblGrid>
              <a:tr h="374015">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marR="37465" algn="ctr">
                        <a:lnSpc>
                          <a:spcPts val="2075"/>
                        </a:lnSpc>
                      </a:pPr>
                      <a:r>
                        <a:rPr sz="2200" spc="-50" dirty="0">
                          <a:solidFill>
                            <a:srgbClr val="FF0000"/>
                          </a:solidFill>
                          <a:latin typeface="Consolas"/>
                          <a:cs typeface="Consolas"/>
                        </a:rPr>
                        <a:t>t</a:t>
                      </a:r>
                      <a:endParaRPr sz="2200">
                        <a:latin typeface="Consolas"/>
                        <a:cs typeface="Consolas"/>
                      </a:endParaRPr>
                    </a:p>
                  </a:txBody>
                  <a:tcPr marL="0" marR="0" marT="0" marB="0">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gn="ctr">
                        <a:lnSpc>
                          <a:spcPts val="2075"/>
                        </a:lnSpc>
                      </a:pPr>
                      <a:r>
                        <a:rPr sz="2200" spc="-50" dirty="0">
                          <a:latin typeface="Consolas"/>
                          <a:cs typeface="Consolas"/>
                        </a:rPr>
                        <a:t>=</a:t>
                      </a:r>
                      <a:endParaRPr sz="2200">
                        <a:latin typeface="Consolas"/>
                        <a:cs typeface="Consolas"/>
                      </a:endParaRPr>
                    </a:p>
                  </a:txBody>
                  <a:tcPr marL="0" marR="0" marT="0" marB="0">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gn="ctr">
                        <a:lnSpc>
                          <a:spcPts val="2075"/>
                        </a:lnSpc>
                      </a:pPr>
                      <a:r>
                        <a:rPr sz="2200" spc="-50" dirty="0">
                          <a:latin typeface="Consolas"/>
                          <a:cs typeface="Consolas"/>
                        </a:rPr>
                        <a:t>a</a:t>
                      </a:r>
                      <a:endParaRPr sz="2200">
                        <a:latin typeface="Consolas"/>
                        <a:cs typeface="Consolas"/>
                      </a:endParaRPr>
                    </a:p>
                  </a:txBody>
                  <a:tcPr marL="0" marR="0" marT="0" marB="0">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gn="ctr">
                        <a:lnSpc>
                          <a:spcPts val="2075"/>
                        </a:lnSpc>
                      </a:pPr>
                      <a:r>
                        <a:rPr sz="2200" spc="-50" dirty="0">
                          <a:latin typeface="Consolas"/>
                          <a:cs typeface="Consolas"/>
                        </a:rPr>
                        <a:t>–</a:t>
                      </a:r>
                      <a:endParaRPr sz="2200">
                        <a:latin typeface="Consolas"/>
                        <a:cs typeface="Consolas"/>
                      </a:endParaRPr>
                    </a:p>
                  </a:txBody>
                  <a:tcPr marL="0" marR="0" marT="0" marB="0">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marL="45085" algn="ctr">
                        <a:lnSpc>
                          <a:spcPts val="2075"/>
                        </a:lnSpc>
                      </a:pPr>
                      <a:r>
                        <a:rPr sz="2200" spc="-50" dirty="0">
                          <a:latin typeface="Consolas"/>
                          <a:cs typeface="Consolas"/>
                        </a:rPr>
                        <a:t>b</a:t>
                      </a:r>
                      <a:endParaRPr sz="2200">
                        <a:latin typeface="Consolas"/>
                        <a:cs typeface="Consolas"/>
                      </a:endParaRPr>
                    </a:p>
                  </a:txBody>
                  <a:tcPr marL="0" marR="0" marT="0" marB="0">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474980">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marR="37465" algn="ctr">
                        <a:lnSpc>
                          <a:spcPct val="100000"/>
                        </a:lnSpc>
                        <a:spcBef>
                          <a:spcPts val="180"/>
                        </a:spcBef>
                      </a:pPr>
                      <a:r>
                        <a:rPr sz="2200" spc="-50" dirty="0">
                          <a:solidFill>
                            <a:srgbClr val="FF0000"/>
                          </a:solidFill>
                          <a:latin typeface="Consolas"/>
                          <a:cs typeface="Consolas"/>
                        </a:rPr>
                        <a:t>u</a:t>
                      </a:r>
                      <a:endParaRPr sz="2200">
                        <a:latin typeface="Consolas"/>
                        <a:cs typeface="Consolas"/>
                      </a:endParaRPr>
                    </a:p>
                  </a:txBody>
                  <a:tcPr marL="0" marR="0" marT="22860" marB="0">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gn="ctr">
                        <a:lnSpc>
                          <a:spcPct val="100000"/>
                        </a:lnSpc>
                        <a:spcBef>
                          <a:spcPts val="180"/>
                        </a:spcBef>
                      </a:pPr>
                      <a:r>
                        <a:rPr sz="2200" spc="-50" dirty="0">
                          <a:latin typeface="Consolas"/>
                          <a:cs typeface="Consolas"/>
                        </a:rPr>
                        <a:t>=</a:t>
                      </a:r>
                      <a:endParaRPr sz="2200">
                        <a:latin typeface="Consolas"/>
                        <a:cs typeface="Consolas"/>
                      </a:endParaRPr>
                    </a:p>
                  </a:txBody>
                  <a:tcPr marL="0" marR="0" marT="22860" marB="0">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gn="ctr">
                        <a:lnSpc>
                          <a:spcPct val="100000"/>
                        </a:lnSpc>
                        <a:spcBef>
                          <a:spcPts val="180"/>
                        </a:spcBef>
                      </a:pPr>
                      <a:r>
                        <a:rPr sz="2200" spc="-50" dirty="0">
                          <a:latin typeface="Consolas"/>
                          <a:cs typeface="Consolas"/>
                        </a:rPr>
                        <a:t>a</a:t>
                      </a:r>
                      <a:endParaRPr sz="2200">
                        <a:latin typeface="Consolas"/>
                        <a:cs typeface="Consolas"/>
                      </a:endParaRPr>
                    </a:p>
                  </a:txBody>
                  <a:tcPr marL="0" marR="0" marT="22860" marB="0">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gn="ctr">
                        <a:lnSpc>
                          <a:spcPct val="100000"/>
                        </a:lnSpc>
                        <a:spcBef>
                          <a:spcPts val="180"/>
                        </a:spcBef>
                      </a:pPr>
                      <a:r>
                        <a:rPr sz="2200" spc="-50" dirty="0">
                          <a:latin typeface="Consolas"/>
                          <a:cs typeface="Consolas"/>
                        </a:rPr>
                        <a:t>–</a:t>
                      </a:r>
                      <a:endParaRPr sz="2200">
                        <a:latin typeface="Consolas"/>
                        <a:cs typeface="Consolas"/>
                      </a:endParaRPr>
                    </a:p>
                  </a:txBody>
                  <a:tcPr marL="0" marR="0" marT="22860" marB="0">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marL="45085" algn="ctr">
                        <a:lnSpc>
                          <a:spcPct val="100000"/>
                        </a:lnSpc>
                        <a:spcBef>
                          <a:spcPts val="180"/>
                        </a:spcBef>
                      </a:pPr>
                      <a:r>
                        <a:rPr sz="2200" spc="-50" dirty="0">
                          <a:latin typeface="Consolas"/>
                          <a:cs typeface="Consolas"/>
                        </a:rPr>
                        <a:t>c</a:t>
                      </a:r>
                      <a:endParaRPr sz="2200">
                        <a:latin typeface="Consolas"/>
                        <a:cs typeface="Consolas"/>
                      </a:endParaRPr>
                    </a:p>
                  </a:txBody>
                  <a:tcPr marL="0" marR="0" marT="22860" marB="0">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482600">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marR="37465" algn="ctr">
                        <a:lnSpc>
                          <a:spcPct val="100000"/>
                        </a:lnSpc>
                        <a:spcBef>
                          <a:spcPts val="229"/>
                        </a:spcBef>
                      </a:pPr>
                      <a:r>
                        <a:rPr sz="2200" spc="-50" dirty="0">
                          <a:solidFill>
                            <a:srgbClr val="FF0000"/>
                          </a:solidFill>
                          <a:latin typeface="Consolas"/>
                          <a:cs typeface="Consolas"/>
                        </a:rPr>
                        <a:t>v</a:t>
                      </a:r>
                      <a:endParaRPr sz="2200">
                        <a:latin typeface="Consolas"/>
                        <a:cs typeface="Consolas"/>
                      </a:endParaRPr>
                    </a:p>
                  </a:txBody>
                  <a:tcPr marL="0" marR="0" marT="29209" marB="0">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gn="ctr">
                        <a:lnSpc>
                          <a:spcPct val="100000"/>
                        </a:lnSpc>
                        <a:spcBef>
                          <a:spcPts val="229"/>
                        </a:spcBef>
                      </a:pPr>
                      <a:r>
                        <a:rPr sz="2200" spc="-50" dirty="0">
                          <a:latin typeface="Consolas"/>
                          <a:cs typeface="Consolas"/>
                        </a:rPr>
                        <a:t>=</a:t>
                      </a:r>
                      <a:endParaRPr sz="2200">
                        <a:latin typeface="Consolas"/>
                        <a:cs typeface="Consolas"/>
                      </a:endParaRPr>
                    </a:p>
                  </a:txBody>
                  <a:tcPr marL="0" marR="0" marT="29209" marB="0">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gn="ctr">
                        <a:lnSpc>
                          <a:spcPct val="100000"/>
                        </a:lnSpc>
                        <a:spcBef>
                          <a:spcPts val="229"/>
                        </a:spcBef>
                      </a:pPr>
                      <a:r>
                        <a:rPr sz="2200" spc="-50" dirty="0">
                          <a:solidFill>
                            <a:srgbClr val="FF0000"/>
                          </a:solidFill>
                          <a:latin typeface="Consolas"/>
                          <a:cs typeface="Consolas"/>
                        </a:rPr>
                        <a:t>t</a:t>
                      </a:r>
                      <a:endParaRPr sz="2200">
                        <a:latin typeface="Consolas"/>
                        <a:cs typeface="Consolas"/>
                      </a:endParaRPr>
                    </a:p>
                  </a:txBody>
                  <a:tcPr marL="0" marR="0" marT="29209" marB="0">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gn="ctr">
                        <a:lnSpc>
                          <a:spcPct val="100000"/>
                        </a:lnSpc>
                        <a:spcBef>
                          <a:spcPts val="229"/>
                        </a:spcBef>
                      </a:pPr>
                      <a:r>
                        <a:rPr sz="2200" spc="-50" dirty="0">
                          <a:latin typeface="Consolas"/>
                          <a:cs typeface="Consolas"/>
                        </a:rPr>
                        <a:t>+</a:t>
                      </a:r>
                      <a:endParaRPr sz="2200">
                        <a:latin typeface="Consolas"/>
                        <a:cs typeface="Consolas"/>
                      </a:endParaRPr>
                    </a:p>
                  </a:txBody>
                  <a:tcPr marL="0" marR="0" marT="29209" marB="0">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marL="45085" algn="ctr">
                        <a:lnSpc>
                          <a:spcPct val="100000"/>
                        </a:lnSpc>
                        <a:spcBef>
                          <a:spcPts val="229"/>
                        </a:spcBef>
                      </a:pPr>
                      <a:r>
                        <a:rPr sz="2200" spc="-50" dirty="0">
                          <a:solidFill>
                            <a:srgbClr val="FF0000"/>
                          </a:solidFill>
                          <a:latin typeface="Consolas"/>
                          <a:cs typeface="Consolas"/>
                        </a:rPr>
                        <a:t>u</a:t>
                      </a:r>
                      <a:endParaRPr sz="2200">
                        <a:latin typeface="Consolas"/>
                        <a:cs typeface="Consolas"/>
                      </a:endParaRPr>
                    </a:p>
                  </a:txBody>
                  <a:tcPr marL="0" marR="0" marT="29209" marB="0">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850900">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marL="31750">
                        <a:lnSpc>
                          <a:spcPct val="100000"/>
                        </a:lnSpc>
                        <a:spcBef>
                          <a:spcPts val="240"/>
                        </a:spcBef>
                      </a:pPr>
                      <a:r>
                        <a:rPr sz="2200" spc="-50" dirty="0">
                          <a:latin typeface="Consolas"/>
                          <a:cs typeface="Consolas"/>
                        </a:rPr>
                        <a:t>a</a:t>
                      </a:r>
                      <a:endParaRPr sz="2200">
                        <a:latin typeface="Consolas"/>
                        <a:cs typeface="Consolas"/>
                      </a:endParaRPr>
                    </a:p>
                    <a:p>
                      <a:pPr marL="31750">
                        <a:lnSpc>
                          <a:spcPct val="100000"/>
                        </a:lnSpc>
                        <a:spcBef>
                          <a:spcPts val="1055"/>
                        </a:spcBef>
                      </a:pPr>
                      <a:r>
                        <a:rPr sz="2200" spc="-50" dirty="0">
                          <a:latin typeface="Consolas"/>
                          <a:cs typeface="Consolas"/>
                        </a:rPr>
                        <a:t>d</a:t>
                      </a:r>
                      <a:endParaRPr sz="2200">
                        <a:latin typeface="Consolas"/>
                        <a:cs typeface="Consolas"/>
                      </a:endParaRPr>
                    </a:p>
                  </a:txBody>
                  <a:tcPr marL="0" marR="0" marT="30480" marB="0">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marL="76835">
                        <a:lnSpc>
                          <a:spcPct val="100000"/>
                        </a:lnSpc>
                        <a:spcBef>
                          <a:spcPts val="240"/>
                        </a:spcBef>
                      </a:pPr>
                      <a:r>
                        <a:rPr sz="2200" spc="-50" dirty="0">
                          <a:latin typeface="Consolas"/>
                          <a:cs typeface="Consolas"/>
                        </a:rPr>
                        <a:t>=</a:t>
                      </a:r>
                      <a:endParaRPr sz="2200">
                        <a:latin typeface="Consolas"/>
                        <a:cs typeface="Consolas"/>
                      </a:endParaRPr>
                    </a:p>
                    <a:p>
                      <a:pPr marL="76835">
                        <a:lnSpc>
                          <a:spcPct val="100000"/>
                        </a:lnSpc>
                        <a:spcBef>
                          <a:spcPts val="1055"/>
                        </a:spcBef>
                      </a:pPr>
                      <a:r>
                        <a:rPr sz="2200" spc="-50" dirty="0">
                          <a:latin typeface="Consolas"/>
                          <a:cs typeface="Consolas"/>
                        </a:rPr>
                        <a:t>=</a:t>
                      </a:r>
                      <a:endParaRPr sz="2200">
                        <a:latin typeface="Consolas"/>
                        <a:cs typeface="Consolas"/>
                      </a:endParaRPr>
                    </a:p>
                  </a:txBody>
                  <a:tcPr marL="0" marR="0" marT="30480" marB="0">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marL="76835">
                        <a:lnSpc>
                          <a:spcPct val="100000"/>
                        </a:lnSpc>
                        <a:spcBef>
                          <a:spcPts val="240"/>
                        </a:spcBef>
                      </a:pPr>
                      <a:r>
                        <a:rPr sz="2200" spc="-50" dirty="0">
                          <a:latin typeface="Consolas"/>
                          <a:cs typeface="Consolas"/>
                        </a:rPr>
                        <a:t>d</a:t>
                      </a:r>
                      <a:endParaRPr sz="2200">
                        <a:latin typeface="Consolas"/>
                        <a:cs typeface="Consolas"/>
                      </a:endParaRPr>
                    </a:p>
                    <a:p>
                      <a:pPr marL="76835">
                        <a:lnSpc>
                          <a:spcPct val="100000"/>
                        </a:lnSpc>
                        <a:spcBef>
                          <a:spcPts val="1055"/>
                        </a:spcBef>
                      </a:pPr>
                      <a:r>
                        <a:rPr sz="2200" spc="-50" dirty="0">
                          <a:solidFill>
                            <a:srgbClr val="FF0000"/>
                          </a:solidFill>
                          <a:latin typeface="Consolas"/>
                          <a:cs typeface="Consolas"/>
                        </a:rPr>
                        <a:t>v</a:t>
                      </a:r>
                      <a:endParaRPr sz="2200">
                        <a:latin typeface="Consolas"/>
                        <a:cs typeface="Consolas"/>
                      </a:endParaRPr>
                    </a:p>
                  </a:txBody>
                  <a:tcPr marL="0" marR="0" marT="30480" marB="0">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nSpc>
                          <a:spcPct val="100000"/>
                        </a:lnSpc>
                        <a:spcBef>
                          <a:spcPts val="1405"/>
                        </a:spcBef>
                      </a:pPr>
                      <a:endParaRPr sz="2200">
                        <a:latin typeface="Times New Roman"/>
                        <a:cs typeface="Times New Roman"/>
                      </a:endParaRPr>
                    </a:p>
                    <a:p>
                      <a:pPr algn="ctr">
                        <a:lnSpc>
                          <a:spcPct val="100000"/>
                        </a:lnSpc>
                      </a:pPr>
                      <a:r>
                        <a:rPr sz="2200" spc="-50" dirty="0">
                          <a:latin typeface="Consolas"/>
                          <a:cs typeface="Consolas"/>
                        </a:rPr>
                        <a:t>+</a:t>
                      </a:r>
                      <a:endParaRPr sz="2200">
                        <a:latin typeface="Consolas"/>
                        <a:cs typeface="Consolas"/>
                      </a:endParaRPr>
                    </a:p>
                  </a:txBody>
                  <a:tcPr marL="0" marR="0" marT="178435" marB="0">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a:defRPr sz="1800">
                          <a:solidFill>
                            <a:schemeClr val="tx1"/>
                          </a:solidFill>
                          <a:latin typeface="Calibri"/>
                        </a:defRPr>
                      </a:lvl1pPr>
                      <a:lvl2pPr marL="457200" algn="l" defTabSz="914400">
                        <a:defRPr sz="1800">
                          <a:solidFill>
                            <a:schemeClr val="tx1"/>
                          </a:solidFill>
                          <a:latin typeface="Calibri"/>
                        </a:defRPr>
                      </a:lvl2pPr>
                      <a:lvl3pPr marL="914400" algn="l" defTabSz="914400">
                        <a:defRPr sz="1800">
                          <a:solidFill>
                            <a:schemeClr val="tx1"/>
                          </a:solidFill>
                          <a:latin typeface="Calibri"/>
                        </a:defRPr>
                      </a:lvl3pPr>
                      <a:lvl4pPr marL="1371600" algn="l" defTabSz="914400">
                        <a:defRPr sz="1800">
                          <a:solidFill>
                            <a:schemeClr val="tx1"/>
                          </a:solidFill>
                          <a:latin typeface="Calibri"/>
                        </a:defRPr>
                      </a:lvl4pPr>
                      <a:lvl5pPr marL="1828800" algn="l" defTabSz="914400">
                        <a:defRPr sz="1800">
                          <a:solidFill>
                            <a:schemeClr val="tx1"/>
                          </a:solidFill>
                          <a:latin typeface="Calibri"/>
                        </a:defRPr>
                      </a:lvl5pPr>
                      <a:lvl6pPr marL="2286000" algn="l" defTabSz="914400">
                        <a:defRPr sz="1800">
                          <a:solidFill>
                            <a:schemeClr val="tx1"/>
                          </a:solidFill>
                          <a:latin typeface="Calibri"/>
                        </a:defRPr>
                      </a:lvl6pPr>
                      <a:lvl7pPr marL="2743200" algn="l" defTabSz="914400">
                        <a:defRPr sz="1800">
                          <a:solidFill>
                            <a:schemeClr val="tx1"/>
                          </a:solidFill>
                          <a:latin typeface="Calibri"/>
                        </a:defRPr>
                      </a:lvl7pPr>
                      <a:lvl8pPr marL="3200400" algn="l" defTabSz="914400">
                        <a:defRPr sz="1800">
                          <a:solidFill>
                            <a:schemeClr val="tx1"/>
                          </a:solidFill>
                          <a:latin typeface="Calibri"/>
                        </a:defRPr>
                      </a:lvl8pPr>
                      <a:lvl9pPr marL="3657600" algn="l" defTabSz="914400">
                        <a:defRPr sz="1800">
                          <a:solidFill>
                            <a:schemeClr val="tx1"/>
                          </a:solidFill>
                          <a:latin typeface="Calibri"/>
                        </a:defRPr>
                      </a:lvl9pPr>
                    </a:lstStyle>
                    <a:p>
                      <a:pPr>
                        <a:lnSpc>
                          <a:spcPct val="100000"/>
                        </a:lnSpc>
                        <a:spcBef>
                          <a:spcPts val="1405"/>
                        </a:spcBef>
                      </a:pPr>
                      <a:endParaRPr sz="2200">
                        <a:latin typeface="Times New Roman"/>
                        <a:cs typeface="Times New Roman"/>
                      </a:endParaRPr>
                    </a:p>
                    <a:p>
                      <a:pPr marL="45085" algn="ctr">
                        <a:lnSpc>
                          <a:spcPct val="100000"/>
                        </a:lnSpc>
                      </a:pPr>
                      <a:r>
                        <a:rPr sz="2200" spc="-50" dirty="0">
                          <a:solidFill>
                            <a:srgbClr val="FF0000"/>
                          </a:solidFill>
                          <a:latin typeface="Consolas"/>
                          <a:cs typeface="Consolas"/>
                        </a:rPr>
                        <a:t>u</a:t>
                      </a:r>
                      <a:endParaRPr sz="2200">
                        <a:latin typeface="Consolas"/>
                        <a:cs typeface="Consolas"/>
                      </a:endParaRPr>
                    </a:p>
                  </a:txBody>
                  <a:tcPr marL="0" marR="0" marT="178435" marB="0">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69026463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68</a:t>
            </a:fld>
            <a:endParaRPr lang="en-US"/>
          </a:p>
        </p:txBody>
      </p:sp>
      <p:sp>
        <p:nvSpPr>
          <p:cNvPr id="32" name="object 2">
            <a:extLst>
              <a:ext uri="{FF2B5EF4-FFF2-40B4-BE49-F238E27FC236}">
                <a16:creationId xmlns:a16="http://schemas.microsoft.com/office/drawing/2014/main" id="{A3F40535-6800-3549-F01E-46306A9D57AD}"/>
              </a:ext>
            </a:extLst>
          </p:cNvPr>
          <p:cNvSpPr txBox="1">
            <a:spLocks/>
          </p:cNvSpPr>
          <p:nvPr/>
        </p:nvSpPr>
        <p:spPr>
          <a:xfrm>
            <a:off x="707390" y="524763"/>
            <a:ext cx="2027555" cy="63500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4000" b="1" i="0" u="none" strike="noStrike" kern="0" cap="none" spc="-10" normalizeH="0" baseline="0" noProof="0">
                <a:ln>
                  <a:noFill/>
                </a:ln>
                <a:solidFill>
                  <a:sysClr val="windowText" lastClr="000000"/>
                </a:solidFill>
                <a:effectLst/>
                <a:uLnTx/>
                <a:uFillTx/>
                <a:latin typeface="Palatino Linotype"/>
                <a:ea typeface="+mj-ea"/>
              </a:rPr>
              <a:t>Example</a:t>
            </a:r>
            <a:endParaRPr kumimoji="0" lang="en-US" sz="4000" b="1" i="0" u="none" strike="noStrike" kern="0" cap="none" spc="-10" normalizeH="0" baseline="0" noProof="0" dirty="0">
              <a:ln>
                <a:noFill/>
              </a:ln>
              <a:solidFill>
                <a:sysClr val="windowText" lastClr="000000"/>
              </a:solidFill>
              <a:effectLst/>
              <a:uLnTx/>
              <a:uFillTx/>
              <a:latin typeface="Palatino Linotype"/>
              <a:ea typeface="+mj-ea"/>
            </a:endParaRPr>
          </a:p>
        </p:txBody>
      </p:sp>
      <p:grpSp>
        <p:nvGrpSpPr>
          <p:cNvPr id="33" name="object 3">
            <a:extLst>
              <a:ext uri="{FF2B5EF4-FFF2-40B4-BE49-F238E27FC236}">
                <a16:creationId xmlns:a16="http://schemas.microsoft.com/office/drawing/2014/main" id="{89A42031-1C9A-CD63-B75B-1F06247AB574}"/>
              </a:ext>
            </a:extLst>
          </p:cNvPr>
          <p:cNvGrpSpPr/>
          <p:nvPr/>
        </p:nvGrpSpPr>
        <p:grpSpPr>
          <a:xfrm>
            <a:off x="853801" y="1245349"/>
            <a:ext cx="7552690" cy="4466590"/>
            <a:chOff x="853801" y="1245349"/>
            <a:chExt cx="7552690" cy="4466590"/>
          </a:xfrm>
        </p:grpSpPr>
        <p:pic>
          <p:nvPicPr>
            <p:cNvPr id="34" name="object 4">
              <a:extLst>
                <a:ext uri="{FF2B5EF4-FFF2-40B4-BE49-F238E27FC236}">
                  <a16:creationId xmlns:a16="http://schemas.microsoft.com/office/drawing/2014/main" id="{DD1F4E1C-4817-9217-2DF4-0140D9E91A2B}"/>
                </a:ext>
              </a:extLst>
            </p:cNvPr>
            <p:cNvPicPr/>
            <p:nvPr/>
          </p:nvPicPr>
          <p:blipFill>
            <a:blip r:embed="rId3" cstate="print"/>
            <a:stretch>
              <a:fillRect/>
            </a:stretch>
          </p:blipFill>
          <p:spPr>
            <a:xfrm>
              <a:off x="922451" y="1728315"/>
              <a:ext cx="7419872" cy="3983055"/>
            </a:xfrm>
            <a:prstGeom prst="rect">
              <a:avLst/>
            </a:prstGeom>
          </p:spPr>
        </p:pic>
        <p:sp>
          <p:nvSpPr>
            <p:cNvPr id="35" name="object 5">
              <a:extLst>
                <a:ext uri="{FF2B5EF4-FFF2-40B4-BE49-F238E27FC236}">
                  <a16:creationId xmlns:a16="http://schemas.microsoft.com/office/drawing/2014/main" id="{3D672E3C-E202-F5C3-8A51-989CA8D9A859}"/>
                </a:ext>
              </a:extLst>
            </p:cNvPr>
            <p:cNvSpPr/>
            <p:nvPr/>
          </p:nvSpPr>
          <p:spPr>
            <a:xfrm>
              <a:off x="914400" y="3766089"/>
              <a:ext cx="7486015" cy="0"/>
            </a:xfrm>
            <a:custGeom>
              <a:avLst/>
              <a:gdLst/>
              <a:ahLst/>
              <a:cxnLst/>
              <a:rect l="l" t="t" r="r" b="b"/>
              <a:pathLst>
                <a:path w="7486015">
                  <a:moveTo>
                    <a:pt x="0" y="0"/>
                  </a:moveTo>
                  <a:lnTo>
                    <a:pt x="7485687" y="1"/>
                  </a:lnTo>
                </a:path>
              </a:pathLst>
            </a:custGeom>
            <a:ln w="12700">
              <a:solidFill>
                <a:srgbClr val="FF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36" name="object 6">
              <a:extLst>
                <a:ext uri="{FF2B5EF4-FFF2-40B4-BE49-F238E27FC236}">
                  <a16:creationId xmlns:a16="http://schemas.microsoft.com/office/drawing/2014/main" id="{901A1EC8-90A5-1325-7033-10AE91E0C01B}"/>
                </a:ext>
              </a:extLst>
            </p:cNvPr>
            <p:cNvSpPr/>
            <p:nvPr/>
          </p:nvSpPr>
          <p:spPr>
            <a:xfrm>
              <a:off x="860151" y="2415155"/>
              <a:ext cx="7486015" cy="0"/>
            </a:xfrm>
            <a:custGeom>
              <a:avLst/>
              <a:gdLst/>
              <a:ahLst/>
              <a:cxnLst/>
              <a:rect l="l" t="t" r="r" b="b"/>
              <a:pathLst>
                <a:path w="7486015">
                  <a:moveTo>
                    <a:pt x="0" y="0"/>
                  </a:moveTo>
                  <a:lnTo>
                    <a:pt x="7485687" y="1"/>
                  </a:lnTo>
                </a:path>
              </a:pathLst>
            </a:custGeom>
            <a:ln w="12700">
              <a:solidFill>
                <a:srgbClr val="FF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37" name="object 7">
              <a:extLst>
                <a:ext uri="{FF2B5EF4-FFF2-40B4-BE49-F238E27FC236}">
                  <a16:creationId xmlns:a16="http://schemas.microsoft.com/office/drawing/2014/main" id="{C3DA3A33-66DB-B5A2-66D3-88F5FB43E948}"/>
                </a:ext>
              </a:extLst>
            </p:cNvPr>
            <p:cNvSpPr/>
            <p:nvPr/>
          </p:nvSpPr>
          <p:spPr>
            <a:xfrm>
              <a:off x="860151" y="4863886"/>
              <a:ext cx="7486015" cy="0"/>
            </a:xfrm>
            <a:custGeom>
              <a:avLst/>
              <a:gdLst/>
              <a:ahLst/>
              <a:cxnLst/>
              <a:rect l="l" t="t" r="r" b="b"/>
              <a:pathLst>
                <a:path w="7486015">
                  <a:moveTo>
                    <a:pt x="0" y="0"/>
                  </a:moveTo>
                  <a:lnTo>
                    <a:pt x="7485687" y="1"/>
                  </a:lnTo>
                </a:path>
              </a:pathLst>
            </a:custGeom>
            <a:ln w="12700">
              <a:solidFill>
                <a:srgbClr val="FF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38" name="object 8">
              <a:extLst>
                <a:ext uri="{FF2B5EF4-FFF2-40B4-BE49-F238E27FC236}">
                  <a16:creationId xmlns:a16="http://schemas.microsoft.com/office/drawing/2014/main" id="{DB70808E-D688-FDE6-A53A-248A317DD22E}"/>
                </a:ext>
              </a:extLst>
            </p:cNvPr>
            <p:cNvSpPr/>
            <p:nvPr/>
          </p:nvSpPr>
          <p:spPr>
            <a:xfrm>
              <a:off x="3789680" y="1245349"/>
              <a:ext cx="2875915" cy="556260"/>
            </a:xfrm>
            <a:custGeom>
              <a:avLst/>
              <a:gdLst/>
              <a:ahLst/>
              <a:cxnLst/>
              <a:rect l="l" t="t" r="r" b="b"/>
              <a:pathLst>
                <a:path w="2875915" h="556260">
                  <a:moveTo>
                    <a:pt x="431355" y="8661"/>
                  </a:moveTo>
                  <a:lnTo>
                    <a:pt x="422071" y="0"/>
                  </a:lnTo>
                  <a:lnTo>
                    <a:pt x="47320" y="401916"/>
                  </a:lnTo>
                  <a:lnTo>
                    <a:pt x="24091" y="380263"/>
                  </a:lnTo>
                  <a:lnTo>
                    <a:pt x="0" y="461975"/>
                  </a:lnTo>
                  <a:lnTo>
                    <a:pt x="79819" y="432231"/>
                  </a:lnTo>
                  <a:lnTo>
                    <a:pt x="66560" y="419874"/>
                  </a:lnTo>
                  <a:lnTo>
                    <a:pt x="56603" y="410578"/>
                  </a:lnTo>
                  <a:lnTo>
                    <a:pt x="431355" y="8661"/>
                  </a:lnTo>
                  <a:close/>
                </a:path>
                <a:path w="2875915" h="556260">
                  <a:moveTo>
                    <a:pt x="2875369" y="471081"/>
                  </a:moveTo>
                  <a:lnTo>
                    <a:pt x="2845473" y="481749"/>
                  </a:lnTo>
                  <a:lnTo>
                    <a:pt x="2674239" y="2197"/>
                  </a:lnTo>
                  <a:lnTo>
                    <a:pt x="2662288" y="6477"/>
                  </a:lnTo>
                  <a:lnTo>
                    <a:pt x="2833509" y="486029"/>
                  </a:lnTo>
                  <a:lnTo>
                    <a:pt x="2803614" y="496697"/>
                  </a:lnTo>
                  <a:lnTo>
                    <a:pt x="2865120" y="555650"/>
                  </a:lnTo>
                  <a:lnTo>
                    <a:pt x="2872105" y="497979"/>
                  </a:lnTo>
                  <a:lnTo>
                    <a:pt x="2875369" y="471081"/>
                  </a:lnTo>
                  <a:close/>
                </a:path>
              </a:pathLst>
            </a:custGeom>
            <a:solidFill>
              <a:srgbClr val="0432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39" name="object 9">
            <a:extLst>
              <a:ext uri="{FF2B5EF4-FFF2-40B4-BE49-F238E27FC236}">
                <a16:creationId xmlns:a16="http://schemas.microsoft.com/office/drawing/2014/main" id="{C84236AB-AD19-3F86-3B9B-013BD19C8A65}"/>
              </a:ext>
            </a:extLst>
          </p:cNvPr>
          <p:cNvSpPr txBox="1"/>
          <p:nvPr/>
        </p:nvSpPr>
        <p:spPr>
          <a:xfrm>
            <a:off x="3070961" y="819403"/>
            <a:ext cx="1943100" cy="299720"/>
          </a:xfrm>
          <a:prstGeom prst="rect">
            <a:avLst/>
          </a:prstGeom>
        </p:spPr>
        <p:txBody>
          <a:bodyPr vert="horz" wrap="square" lIns="0" tIns="12700" rIns="0" bIns="0" rtlCol="0">
            <a:spAutoFit/>
          </a:bodyPr>
          <a:lstStyle/>
          <a:p>
            <a:pPr marL="12700">
              <a:spcBef>
                <a:spcPts val="100"/>
              </a:spcBef>
            </a:pPr>
            <a:r>
              <a:rPr dirty="0">
                <a:solidFill>
                  <a:srgbClr val="0432FF"/>
                </a:solidFill>
                <a:latin typeface="Palatino Linotype"/>
                <a:cs typeface="Palatino Linotype"/>
              </a:rPr>
              <a:t>Register</a:t>
            </a:r>
            <a:r>
              <a:rPr spc="-55" dirty="0">
                <a:solidFill>
                  <a:srgbClr val="0432FF"/>
                </a:solidFill>
                <a:latin typeface="Palatino Linotype"/>
                <a:cs typeface="Palatino Linotype"/>
              </a:rPr>
              <a:t> </a:t>
            </a:r>
            <a:r>
              <a:rPr spc="-10" dirty="0">
                <a:solidFill>
                  <a:srgbClr val="0432FF"/>
                </a:solidFill>
                <a:latin typeface="Palatino Linotype"/>
                <a:cs typeface="Palatino Linotype"/>
              </a:rPr>
              <a:t>descriptor</a:t>
            </a:r>
            <a:endParaRPr>
              <a:solidFill>
                <a:sysClr val="windowText" lastClr="000000"/>
              </a:solidFill>
              <a:latin typeface="Palatino Linotype"/>
              <a:cs typeface="Palatino Linotype"/>
            </a:endParaRPr>
          </a:p>
        </p:txBody>
      </p:sp>
      <p:sp>
        <p:nvSpPr>
          <p:cNvPr id="40" name="object 10">
            <a:extLst>
              <a:ext uri="{FF2B5EF4-FFF2-40B4-BE49-F238E27FC236}">
                <a16:creationId xmlns:a16="http://schemas.microsoft.com/office/drawing/2014/main" id="{3B020DC8-61DC-64F2-317A-19F7C2BF5ECC}"/>
              </a:ext>
            </a:extLst>
          </p:cNvPr>
          <p:cNvSpPr txBox="1"/>
          <p:nvPr/>
        </p:nvSpPr>
        <p:spPr>
          <a:xfrm>
            <a:off x="5476143" y="819403"/>
            <a:ext cx="1967230" cy="299720"/>
          </a:xfrm>
          <a:prstGeom prst="rect">
            <a:avLst/>
          </a:prstGeom>
        </p:spPr>
        <p:txBody>
          <a:bodyPr vert="horz" wrap="square" lIns="0" tIns="12700" rIns="0" bIns="0" rtlCol="0">
            <a:spAutoFit/>
          </a:bodyPr>
          <a:lstStyle/>
          <a:p>
            <a:pPr marL="12700">
              <a:spcBef>
                <a:spcPts val="100"/>
              </a:spcBef>
            </a:pPr>
            <a:r>
              <a:rPr dirty="0">
                <a:solidFill>
                  <a:srgbClr val="0432FF"/>
                </a:solidFill>
                <a:latin typeface="Palatino Linotype"/>
                <a:cs typeface="Palatino Linotype"/>
              </a:rPr>
              <a:t>Address</a:t>
            </a:r>
            <a:r>
              <a:rPr spc="-55" dirty="0">
                <a:solidFill>
                  <a:srgbClr val="0432FF"/>
                </a:solidFill>
                <a:latin typeface="Palatino Linotype"/>
                <a:cs typeface="Palatino Linotype"/>
              </a:rPr>
              <a:t> </a:t>
            </a:r>
            <a:r>
              <a:rPr spc="-10" dirty="0">
                <a:solidFill>
                  <a:srgbClr val="0432FF"/>
                </a:solidFill>
                <a:latin typeface="Palatino Linotype"/>
                <a:cs typeface="Palatino Linotype"/>
              </a:rPr>
              <a:t>descriptor</a:t>
            </a:r>
            <a:endParaRPr>
              <a:solidFill>
                <a:sysClr val="windowText" lastClr="000000"/>
              </a:solidFill>
              <a:latin typeface="Palatino Linotype"/>
              <a:cs typeface="Palatino Linotype"/>
            </a:endParaRPr>
          </a:p>
        </p:txBody>
      </p:sp>
      <p:sp>
        <p:nvSpPr>
          <p:cNvPr id="41" name="object 11">
            <a:extLst>
              <a:ext uri="{FF2B5EF4-FFF2-40B4-BE49-F238E27FC236}">
                <a16:creationId xmlns:a16="http://schemas.microsoft.com/office/drawing/2014/main" id="{9D147C2A-7643-D085-EBCE-A8036963DFF7}"/>
              </a:ext>
            </a:extLst>
          </p:cNvPr>
          <p:cNvSpPr txBox="1"/>
          <p:nvPr/>
        </p:nvSpPr>
        <p:spPr>
          <a:xfrm>
            <a:off x="3309620" y="2800603"/>
            <a:ext cx="5206365" cy="208279"/>
          </a:xfrm>
          <a:prstGeom prst="rect">
            <a:avLst/>
          </a:prstGeom>
        </p:spPr>
        <p:txBody>
          <a:bodyPr vert="horz" wrap="square" lIns="0" tIns="12700" rIns="0" bIns="0" rtlCol="0">
            <a:spAutoFit/>
          </a:bodyPr>
          <a:lstStyle/>
          <a:p>
            <a:pPr marL="12700">
              <a:spcBef>
                <a:spcPts val="100"/>
              </a:spcBef>
            </a:pPr>
            <a:r>
              <a:rPr sz="1200" dirty="0">
                <a:solidFill>
                  <a:srgbClr val="FF0000"/>
                </a:solidFill>
                <a:latin typeface="Palatino Linotype"/>
                <a:cs typeface="Palatino Linotype"/>
              </a:rPr>
              <a:t>The</a:t>
            </a:r>
            <a:r>
              <a:rPr sz="1200" spc="-60" dirty="0">
                <a:solidFill>
                  <a:srgbClr val="FF0000"/>
                </a:solidFill>
                <a:latin typeface="Palatino Linotype"/>
                <a:cs typeface="Palatino Linotype"/>
              </a:rPr>
              <a:t> </a:t>
            </a:r>
            <a:r>
              <a:rPr sz="1200" dirty="0">
                <a:solidFill>
                  <a:srgbClr val="FF0000"/>
                </a:solidFill>
                <a:latin typeface="Palatino Linotype"/>
                <a:cs typeface="Palatino Linotype"/>
              </a:rPr>
              <a:t>lastest</a:t>
            </a:r>
            <a:r>
              <a:rPr sz="1200" spc="-25" dirty="0">
                <a:solidFill>
                  <a:srgbClr val="FF0000"/>
                </a:solidFill>
                <a:latin typeface="Palatino Linotype"/>
                <a:cs typeface="Palatino Linotype"/>
              </a:rPr>
              <a:t> </a:t>
            </a:r>
            <a:r>
              <a:rPr sz="1200" dirty="0">
                <a:solidFill>
                  <a:srgbClr val="FF0000"/>
                </a:solidFill>
                <a:latin typeface="Palatino Linotype"/>
                <a:cs typeface="Palatino Linotype"/>
              </a:rPr>
              <a:t>value</a:t>
            </a:r>
            <a:r>
              <a:rPr sz="1200" spc="-20" dirty="0">
                <a:solidFill>
                  <a:srgbClr val="FF0000"/>
                </a:solidFill>
                <a:latin typeface="Palatino Linotype"/>
                <a:cs typeface="Palatino Linotype"/>
              </a:rPr>
              <a:t> </a:t>
            </a:r>
            <a:r>
              <a:rPr sz="1200" dirty="0">
                <a:solidFill>
                  <a:srgbClr val="FF0000"/>
                </a:solidFill>
                <a:latin typeface="Palatino Linotype"/>
                <a:cs typeface="Palatino Linotype"/>
              </a:rPr>
              <a:t>of</a:t>
            </a:r>
            <a:r>
              <a:rPr sz="1200" spc="-15" dirty="0">
                <a:solidFill>
                  <a:srgbClr val="FF0000"/>
                </a:solidFill>
                <a:latin typeface="Palatino Linotype"/>
                <a:cs typeface="Palatino Linotype"/>
              </a:rPr>
              <a:t> </a:t>
            </a:r>
            <a:r>
              <a:rPr sz="1200" spc="-10" dirty="0">
                <a:solidFill>
                  <a:srgbClr val="0432FF"/>
                </a:solidFill>
                <a:latin typeface="Consolas"/>
                <a:cs typeface="Consolas"/>
              </a:rPr>
              <a:t>a</a:t>
            </a:r>
            <a:r>
              <a:rPr sz="1200" spc="-360" dirty="0">
                <a:solidFill>
                  <a:srgbClr val="0432FF"/>
                </a:solidFill>
                <a:latin typeface="Consolas"/>
                <a:cs typeface="Consolas"/>
              </a:rPr>
              <a:t> </a:t>
            </a:r>
            <a:r>
              <a:rPr sz="1200" dirty="0">
                <a:solidFill>
                  <a:srgbClr val="FF0000"/>
                </a:solidFill>
                <a:latin typeface="Palatino Linotype"/>
                <a:cs typeface="Palatino Linotype"/>
              </a:rPr>
              <a:t>and</a:t>
            </a:r>
            <a:r>
              <a:rPr sz="1200" spc="-20" dirty="0">
                <a:solidFill>
                  <a:srgbClr val="FF0000"/>
                </a:solidFill>
                <a:latin typeface="Palatino Linotype"/>
                <a:cs typeface="Palatino Linotype"/>
              </a:rPr>
              <a:t> </a:t>
            </a:r>
            <a:r>
              <a:rPr sz="1200" spc="-10" dirty="0">
                <a:solidFill>
                  <a:srgbClr val="0432FF"/>
                </a:solidFill>
                <a:latin typeface="Consolas"/>
                <a:cs typeface="Consolas"/>
              </a:rPr>
              <a:t>b</a:t>
            </a:r>
            <a:r>
              <a:rPr sz="1200" spc="-360" dirty="0">
                <a:solidFill>
                  <a:srgbClr val="0432FF"/>
                </a:solidFill>
                <a:latin typeface="Consolas"/>
                <a:cs typeface="Consolas"/>
              </a:rPr>
              <a:t> </a:t>
            </a:r>
            <a:r>
              <a:rPr sz="1200" dirty="0">
                <a:solidFill>
                  <a:srgbClr val="FF0000"/>
                </a:solidFill>
                <a:latin typeface="Palatino Linotype"/>
                <a:cs typeface="Palatino Linotype"/>
              </a:rPr>
              <a:t>are</a:t>
            </a:r>
            <a:r>
              <a:rPr sz="1200" spc="-20" dirty="0">
                <a:solidFill>
                  <a:srgbClr val="FF0000"/>
                </a:solidFill>
                <a:latin typeface="Palatino Linotype"/>
                <a:cs typeface="Palatino Linotype"/>
              </a:rPr>
              <a:t> </a:t>
            </a:r>
            <a:r>
              <a:rPr sz="1200" dirty="0">
                <a:solidFill>
                  <a:srgbClr val="FF0000"/>
                </a:solidFill>
                <a:latin typeface="Palatino Linotype"/>
                <a:cs typeface="Palatino Linotype"/>
              </a:rPr>
              <a:t>still</a:t>
            </a:r>
            <a:r>
              <a:rPr sz="1200" spc="-20" dirty="0">
                <a:solidFill>
                  <a:srgbClr val="FF0000"/>
                </a:solidFill>
                <a:latin typeface="Palatino Linotype"/>
                <a:cs typeface="Palatino Linotype"/>
              </a:rPr>
              <a:t> </a:t>
            </a:r>
            <a:r>
              <a:rPr sz="1200" dirty="0">
                <a:solidFill>
                  <a:srgbClr val="FF0000"/>
                </a:solidFill>
                <a:latin typeface="Palatino Linotype"/>
                <a:cs typeface="Palatino Linotype"/>
              </a:rPr>
              <a:t>in</a:t>
            </a:r>
            <a:r>
              <a:rPr sz="1200" spc="-20" dirty="0">
                <a:solidFill>
                  <a:srgbClr val="FF0000"/>
                </a:solidFill>
                <a:latin typeface="Palatino Linotype"/>
                <a:cs typeface="Palatino Linotype"/>
              </a:rPr>
              <a:t> memory. </a:t>
            </a:r>
            <a:r>
              <a:rPr sz="1200" dirty="0">
                <a:solidFill>
                  <a:srgbClr val="FF0000"/>
                </a:solidFill>
                <a:latin typeface="Palatino Linotype"/>
                <a:cs typeface="Palatino Linotype"/>
              </a:rPr>
              <a:t>So</a:t>
            </a:r>
            <a:r>
              <a:rPr sz="1200" spc="-20" dirty="0">
                <a:solidFill>
                  <a:srgbClr val="FF0000"/>
                </a:solidFill>
                <a:latin typeface="Palatino Linotype"/>
                <a:cs typeface="Palatino Linotype"/>
              </a:rPr>
              <a:t> </a:t>
            </a:r>
            <a:r>
              <a:rPr sz="1200" dirty="0">
                <a:solidFill>
                  <a:srgbClr val="FF0000"/>
                </a:solidFill>
                <a:latin typeface="Palatino Linotype"/>
                <a:cs typeface="Palatino Linotype"/>
              </a:rPr>
              <a:t>we</a:t>
            </a:r>
            <a:r>
              <a:rPr sz="1200" spc="-20" dirty="0">
                <a:solidFill>
                  <a:srgbClr val="FF0000"/>
                </a:solidFill>
                <a:latin typeface="Palatino Linotype"/>
                <a:cs typeface="Palatino Linotype"/>
              </a:rPr>
              <a:t> </a:t>
            </a:r>
            <a:r>
              <a:rPr sz="1200" dirty="0">
                <a:solidFill>
                  <a:srgbClr val="FF0000"/>
                </a:solidFill>
                <a:latin typeface="Palatino Linotype"/>
                <a:cs typeface="Palatino Linotype"/>
              </a:rPr>
              <a:t>need</a:t>
            </a:r>
            <a:r>
              <a:rPr sz="1200" spc="-20" dirty="0">
                <a:solidFill>
                  <a:srgbClr val="FF0000"/>
                </a:solidFill>
                <a:latin typeface="Palatino Linotype"/>
                <a:cs typeface="Palatino Linotype"/>
              </a:rPr>
              <a:t> </a:t>
            </a:r>
            <a:r>
              <a:rPr sz="1200" dirty="0">
                <a:solidFill>
                  <a:srgbClr val="FF0000"/>
                </a:solidFill>
                <a:latin typeface="Palatino Linotype"/>
                <a:cs typeface="Palatino Linotype"/>
              </a:rPr>
              <a:t>load</a:t>
            </a:r>
            <a:r>
              <a:rPr sz="1200" spc="-20" dirty="0">
                <a:solidFill>
                  <a:srgbClr val="FF0000"/>
                </a:solidFill>
                <a:latin typeface="Palatino Linotype"/>
                <a:cs typeface="Palatino Linotype"/>
              </a:rPr>
              <a:t> </a:t>
            </a:r>
            <a:r>
              <a:rPr sz="1200" spc="-10" dirty="0">
                <a:solidFill>
                  <a:srgbClr val="FF0000"/>
                </a:solidFill>
                <a:latin typeface="Palatino Linotype"/>
                <a:cs typeface="Palatino Linotype"/>
              </a:rPr>
              <a:t>instructions.</a:t>
            </a:r>
            <a:endParaRPr sz="1200">
              <a:solidFill>
                <a:sysClr val="windowText" lastClr="000000"/>
              </a:solidFill>
              <a:latin typeface="Palatino Linotype"/>
              <a:cs typeface="Palatino Linotype"/>
            </a:endParaRPr>
          </a:p>
        </p:txBody>
      </p:sp>
      <p:grpSp>
        <p:nvGrpSpPr>
          <p:cNvPr id="42" name="object 12">
            <a:extLst>
              <a:ext uri="{FF2B5EF4-FFF2-40B4-BE49-F238E27FC236}">
                <a16:creationId xmlns:a16="http://schemas.microsoft.com/office/drawing/2014/main" id="{2AEF8223-547A-3338-C1B2-6014FFEACC9D}"/>
              </a:ext>
            </a:extLst>
          </p:cNvPr>
          <p:cNvGrpSpPr/>
          <p:nvPr/>
        </p:nvGrpSpPr>
        <p:grpSpPr>
          <a:xfrm>
            <a:off x="3345179" y="3307079"/>
            <a:ext cx="4749800" cy="2167890"/>
            <a:chOff x="3345179" y="3307079"/>
            <a:chExt cx="4749800" cy="2167890"/>
          </a:xfrm>
        </p:grpSpPr>
        <p:pic>
          <p:nvPicPr>
            <p:cNvPr id="43" name="object 13">
              <a:extLst>
                <a:ext uri="{FF2B5EF4-FFF2-40B4-BE49-F238E27FC236}">
                  <a16:creationId xmlns:a16="http://schemas.microsoft.com/office/drawing/2014/main" id="{4A59E0AD-4D6C-4A55-BA2E-1EA4F2AEF8FD}"/>
                </a:ext>
              </a:extLst>
            </p:cNvPr>
            <p:cNvPicPr/>
            <p:nvPr/>
          </p:nvPicPr>
          <p:blipFill>
            <a:blip r:embed="rId4" cstate="print"/>
            <a:stretch>
              <a:fillRect/>
            </a:stretch>
          </p:blipFill>
          <p:spPr>
            <a:xfrm>
              <a:off x="3375659" y="3312159"/>
              <a:ext cx="76200" cy="203200"/>
            </a:xfrm>
            <a:prstGeom prst="rect">
              <a:avLst/>
            </a:prstGeom>
          </p:spPr>
        </p:pic>
        <p:pic>
          <p:nvPicPr>
            <p:cNvPr id="44" name="object 14">
              <a:extLst>
                <a:ext uri="{FF2B5EF4-FFF2-40B4-BE49-F238E27FC236}">
                  <a16:creationId xmlns:a16="http://schemas.microsoft.com/office/drawing/2014/main" id="{5B969B79-6DE6-A4F1-E050-63ECEF8AAA17}"/>
                </a:ext>
              </a:extLst>
            </p:cNvPr>
            <p:cNvPicPr/>
            <p:nvPr/>
          </p:nvPicPr>
          <p:blipFill>
            <a:blip r:embed="rId4" cstate="print"/>
            <a:stretch>
              <a:fillRect/>
            </a:stretch>
          </p:blipFill>
          <p:spPr>
            <a:xfrm>
              <a:off x="3853179" y="3312159"/>
              <a:ext cx="76200" cy="203200"/>
            </a:xfrm>
            <a:prstGeom prst="rect">
              <a:avLst/>
            </a:prstGeom>
          </p:spPr>
        </p:pic>
        <p:pic>
          <p:nvPicPr>
            <p:cNvPr id="45" name="object 15">
              <a:extLst>
                <a:ext uri="{FF2B5EF4-FFF2-40B4-BE49-F238E27FC236}">
                  <a16:creationId xmlns:a16="http://schemas.microsoft.com/office/drawing/2014/main" id="{B756498A-15B4-0D9C-56CC-5DA103984147}"/>
                </a:ext>
              </a:extLst>
            </p:cNvPr>
            <p:cNvPicPr/>
            <p:nvPr/>
          </p:nvPicPr>
          <p:blipFill>
            <a:blip r:embed="rId4" cstate="print"/>
            <a:stretch>
              <a:fillRect/>
            </a:stretch>
          </p:blipFill>
          <p:spPr>
            <a:xfrm>
              <a:off x="5075214" y="3312159"/>
              <a:ext cx="76200" cy="203200"/>
            </a:xfrm>
            <a:prstGeom prst="rect">
              <a:avLst/>
            </a:prstGeom>
          </p:spPr>
        </p:pic>
        <p:pic>
          <p:nvPicPr>
            <p:cNvPr id="46" name="object 16">
              <a:extLst>
                <a:ext uri="{FF2B5EF4-FFF2-40B4-BE49-F238E27FC236}">
                  <a16:creationId xmlns:a16="http://schemas.microsoft.com/office/drawing/2014/main" id="{981C13E1-F8B7-F27D-759D-1064F9E83F97}"/>
                </a:ext>
              </a:extLst>
            </p:cNvPr>
            <p:cNvPicPr/>
            <p:nvPr/>
          </p:nvPicPr>
          <p:blipFill>
            <a:blip r:embed="rId4" cstate="print"/>
            <a:stretch>
              <a:fillRect/>
            </a:stretch>
          </p:blipFill>
          <p:spPr>
            <a:xfrm>
              <a:off x="7053581" y="3307079"/>
              <a:ext cx="76200" cy="203200"/>
            </a:xfrm>
            <a:prstGeom prst="rect">
              <a:avLst/>
            </a:prstGeom>
          </p:spPr>
        </p:pic>
        <p:pic>
          <p:nvPicPr>
            <p:cNvPr id="47" name="object 17">
              <a:extLst>
                <a:ext uri="{FF2B5EF4-FFF2-40B4-BE49-F238E27FC236}">
                  <a16:creationId xmlns:a16="http://schemas.microsoft.com/office/drawing/2014/main" id="{5206972D-B05A-17F7-C0CD-255BBD16741F}"/>
                </a:ext>
              </a:extLst>
            </p:cNvPr>
            <p:cNvPicPr/>
            <p:nvPr/>
          </p:nvPicPr>
          <p:blipFill>
            <a:blip r:embed="rId4" cstate="print"/>
            <a:stretch>
              <a:fillRect/>
            </a:stretch>
          </p:blipFill>
          <p:spPr>
            <a:xfrm>
              <a:off x="3345179" y="4409439"/>
              <a:ext cx="76200" cy="203200"/>
            </a:xfrm>
            <a:prstGeom prst="rect">
              <a:avLst/>
            </a:prstGeom>
          </p:spPr>
        </p:pic>
        <p:pic>
          <p:nvPicPr>
            <p:cNvPr id="48" name="object 18">
              <a:extLst>
                <a:ext uri="{FF2B5EF4-FFF2-40B4-BE49-F238E27FC236}">
                  <a16:creationId xmlns:a16="http://schemas.microsoft.com/office/drawing/2014/main" id="{5EA80845-E6F0-6566-03BD-8BA69564B56C}"/>
                </a:ext>
              </a:extLst>
            </p:cNvPr>
            <p:cNvPicPr/>
            <p:nvPr/>
          </p:nvPicPr>
          <p:blipFill>
            <a:blip r:embed="rId4" cstate="print"/>
            <a:stretch>
              <a:fillRect/>
            </a:stretch>
          </p:blipFill>
          <p:spPr>
            <a:xfrm>
              <a:off x="4320539" y="4409439"/>
              <a:ext cx="76200" cy="203200"/>
            </a:xfrm>
            <a:prstGeom prst="rect">
              <a:avLst/>
            </a:prstGeom>
          </p:spPr>
        </p:pic>
        <p:pic>
          <p:nvPicPr>
            <p:cNvPr id="49" name="object 19">
              <a:extLst>
                <a:ext uri="{FF2B5EF4-FFF2-40B4-BE49-F238E27FC236}">
                  <a16:creationId xmlns:a16="http://schemas.microsoft.com/office/drawing/2014/main" id="{F39DA38B-89B9-1909-90E7-27CEFE3717B0}"/>
                </a:ext>
              </a:extLst>
            </p:cNvPr>
            <p:cNvPicPr/>
            <p:nvPr/>
          </p:nvPicPr>
          <p:blipFill>
            <a:blip r:embed="rId5" cstate="print"/>
            <a:stretch>
              <a:fillRect/>
            </a:stretch>
          </p:blipFill>
          <p:spPr>
            <a:xfrm>
              <a:off x="5075214" y="4399279"/>
              <a:ext cx="76200" cy="203200"/>
            </a:xfrm>
            <a:prstGeom prst="rect">
              <a:avLst/>
            </a:prstGeom>
          </p:spPr>
        </p:pic>
        <p:pic>
          <p:nvPicPr>
            <p:cNvPr id="50" name="object 20">
              <a:extLst>
                <a:ext uri="{FF2B5EF4-FFF2-40B4-BE49-F238E27FC236}">
                  <a16:creationId xmlns:a16="http://schemas.microsoft.com/office/drawing/2014/main" id="{292E0B15-FC42-68F7-DC29-34E4691CFB8D}"/>
                </a:ext>
              </a:extLst>
            </p:cNvPr>
            <p:cNvPicPr/>
            <p:nvPr/>
          </p:nvPicPr>
          <p:blipFill>
            <a:blip r:embed="rId5" cstate="print"/>
            <a:stretch>
              <a:fillRect/>
            </a:stretch>
          </p:blipFill>
          <p:spPr>
            <a:xfrm>
              <a:off x="6066789" y="4399279"/>
              <a:ext cx="76200" cy="203200"/>
            </a:xfrm>
            <a:prstGeom prst="rect">
              <a:avLst/>
            </a:prstGeom>
          </p:spPr>
        </p:pic>
        <p:pic>
          <p:nvPicPr>
            <p:cNvPr id="51" name="object 21">
              <a:extLst>
                <a:ext uri="{FF2B5EF4-FFF2-40B4-BE49-F238E27FC236}">
                  <a16:creationId xmlns:a16="http://schemas.microsoft.com/office/drawing/2014/main" id="{C0F1FC08-9BEB-0E4C-7A02-E2CAEFDC9837}"/>
                </a:ext>
              </a:extLst>
            </p:cNvPr>
            <p:cNvPicPr/>
            <p:nvPr/>
          </p:nvPicPr>
          <p:blipFill>
            <a:blip r:embed="rId5" cstate="print"/>
            <a:stretch>
              <a:fillRect/>
            </a:stretch>
          </p:blipFill>
          <p:spPr>
            <a:xfrm>
              <a:off x="7562150" y="4399279"/>
              <a:ext cx="76200" cy="203200"/>
            </a:xfrm>
            <a:prstGeom prst="rect">
              <a:avLst/>
            </a:prstGeom>
          </p:spPr>
        </p:pic>
        <p:pic>
          <p:nvPicPr>
            <p:cNvPr id="52" name="object 22">
              <a:extLst>
                <a:ext uri="{FF2B5EF4-FFF2-40B4-BE49-F238E27FC236}">
                  <a16:creationId xmlns:a16="http://schemas.microsoft.com/office/drawing/2014/main" id="{7924CCE2-DFB5-85A4-43DC-C737037995F7}"/>
                </a:ext>
              </a:extLst>
            </p:cNvPr>
            <p:cNvPicPr/>
            <p:nvPr/>
          </p:nvPicPr>
          <p:blipFill>
            <a:blip r:embed="rId4" cstate="print"/>
            <a:stretch>
              <a:fillRect/>
            </a:stretch>
          </p:blipFill>
          <p:spPr>
            <a:xfrm>
              <a:off x="4320539" y="5271328"/>
              <a:ext cx="76200" cy="203200"/>
            </a:xfrm>
            <a:prstGeom prst="rect">
              <a:avLst/>
            </a:prstGeom>
          </p:spPr>
        </p:pic>
        <p:pic>
          <p:nvPicPr>
            <p:cNvPr id="53" name="object 23">
              <a:extLst>
                <a:ext uri="{FF2B5EF4-FFF2-40B4-BE49-F238E27FC236}">
                  <a16:creationId xmlns:a16="http://schemas.microsoft.com/office/drawing/2014/main" id="{F5E4D90B-D478-067A-1E47-E2756BE398B0}"/>
                </a:ext>
              </a:extLst>
            </p:cNvPr>
            <p:cNvPicPr/>
            <p:nvPr/>
          </p:nvPicPr>
          <p:blipFill>
            <a:blip r:embed="rId4" cstate="print"/>
            <a:stretch>
              <a:fillRect/>
            </a:stretch>
          </p:blipFill>
          <p:spPr>
            <a:xfrm>
              <a:off x="6056629" y="5271328"/>
              <a:ext cx="76200" cy="203200"/>
            </a:xfrm>
            <a:prstGeom prst="rect">
              <a:avLst/>
            </a:prstGeom>
          </p:spPr>
        </p:pic>
        <p:pic>
          <p:nvPicPr>
            <p:cNvPr id="54" name="object 24">
              <a:extLst>
                <a:ext uri="{FF2B5EF4-FFF2-40B4-BE49-F238E27FC236}">
                  <a16:creationId xmlns:a16="http://schemas.microsoft.com/office/drawing/2014/main" id="{6483744E-7BE2-F0CE-BF7D-F066FA24F659}"/>
                </a:ext>
              </a:extLst>
            </p:cNvPr>
            <p:cNvPicPr/>
            <p:nvPr/>
          </p:nvPicPr>
          <p:blipFill>
            <a:blip r:embed="rId5" cstate="print"/>
            <a:stretch>
              <a:fillRect/>
            </a:stretch>
          </p:blipFill>
          <p:spPr>
            <a:xfrm>
              <a:off x="8018779" y="5261168"/>
              <a:ext cx="76200" cy="203200"/>
            </a:xfrm>
            <a:prstGeom prst="rect">
              <a:avLst/>
            </a:prstGeom>
          </p:spPr>
        </p:pic>
      </p:grpSp>
      <p:sp>
        <p:nvSpPr>
          <p:cNvPr id="55" name="object 25">
            <a:extLst>
              <a:ext uri="{FF2B5EF4-FFF2-40B4-BE49-F238E27FC236}">
                <a16:creationId xmlns:a16="http://schemas.microsoft.com/office/drawing/2014/main" id="{47036CC8-D407-50B3-73FF-4EBCE2812C91}"/>
              </a:ext>
            </a:extLst>
          </p:cNvPr>
          <p:cNvSpPr txBox="1"/>
          <p:nvPr/>
        </p:nvSpPr>
        <p:spPr>
          <a:xfrm>
            <a:off x="3309620" y="4074667"/>
            <a:ext cx="4398010" cy="208279"/>
          </a:xfrm>
          <a:prstGeom prst="rect">
            <a:avLst/>
          </a:prstGeom>
        </p:spPr>
        <p:txBody>
          <a:bodyPr vert="horz" wrap="square" lIns="0" tIns="12700" rIns="0" bIns="0" rtlCol="0">
            <a:spAutoFit/>
          </a:bodyPr>
          <a:lstStyle/>
          <a:p>
            <a:pPr marL="12700">
              <a:spcBef>
                <a:spcPts val="100"/>
              </a:spcBef>
            </a:pPr>
            <a:r>
              <a:rPr sz="1200" dirty="0">
                <a:solidFill>
                  <a:srgbClr val="FF0000"/>
                </a:solidFill>
                <a:latin typeface="Palatino Linotype"/>
                <a:cs typeface="Palatino Linotype"/>
              </a:rPr>
              <a:t>There</a:t>
            </a:r>
            <a:r>
              <a:rPr sz="1200" spc="-55" dirty="0">
                <a:solidFill>
                  <a:srgbClr val="FF0000"/>
                </a:solidFill>
                <a:latin typeface="Palatino Linotype"/>
                <a:cs typeface="Palatino Linotype"/>
              </a:rPr>
              <a:t> </a:t>
            </a:r>
            <a:r>
              <a:rPr sz="1200" dirty="0">
                <a:solidFill>
                  <a:srgbClr val="FF0000"/>
                </a:solidFill>
                <a:latin typeface="Palatino Linotype"/>
                <a:cs typeface="Palatino Linotype"/>
              </a:rPr>
              <a:t>is</a:t>
            </a:r>
            <a:r>
              <a:rPr sz="1200" spc="-15" dirty="0">
                <a:solidFill>
                  <a:srgbClr val="FF0000"/>
                </a:solidFill>
                <a:latin typeface="Palatino Linotype"/>
                <a:cs typeface="Palatino Linotype"/>
              </a:rPr>
              <a:t> </a:t>
            </a:r>
            <a:r>
              <a:rPr sz="1200" dirty="0">
                <a:solidFill>
                  <a:srgbClr val="FF0000"/>
                </a:solidFill>
                <a:latin typeface="Palatino Linotype"/>
                <a:cs typeface="Palatino Linotype"/>
              </a:rPr>
              <a:t>no</a:t>
            </a:r>
            <a:r>
              <a:rPr sz="1200" spc="-20" dirty="0">
                <a:solidFill>
                  <a:srgbClr val="FF0000"/>
                </a:solidFill>
                <a:latin typeface="Palatino Linotype"/>
                <a:cs typeface="Palatino Linotype"/>
              </a:rPr>
              <a:t> </a:t>
            </a:r>
            <a:r>
              <a:rPr sz="1200" dirty="0">
                <a:solidFill>
                  <a:srgbClr val="FF0000"/>
                </a:solidFill>
                <a:latin typeface="Palatino Linotype"/>
                <a:cs typeface="Palatino Linotype"/>
              </a:rPr>
              <a:t>need</a:t>
            </a:r>
            <a:r>
              <a:rPr sz="1200" spc="-20" dirty="0">
                <a:solidFill>
                  <a:srgbClr val="FF0000"/>
                </a:solidFill>
                <a:latin typeface="Palatino Linotype"/>
                <a:cs typeface="Palatino Linotype"/>
              </a:rPr>
              <a:t> </a:t>
            </a:r>
            <a:r>
              <a:rPr sz="1200" dirty="0">
                <a:solidFill>
                  <a:srgbClr val="FF0000"/>
                </a:solidFill>
                <a:latin typeface="Palatino Linotype"/>
                <a:cs typeface="Palatino Linotype"/>
              </a:rPr>
              <a:t>to</a:t>
            </a:r>
            <a:r>
              <a:rPr sz="1200" spc="-20" dirty="0">
                <a:solidFill>
                  <a:srgbClr val="FF0000"/>
                </a:solidFill>
                <a:latin typeface="Palatino Linotype"/>
                <a:cs typeface="Palatino Linotype"/>
              </a:rPr>
              <a:t> </a:t>
            </a:r>
            <a:r>
              <a:rPr sz="1200" dirty="0">
                <a:solidFill>
                  <a:srgbClr val="FF0000"/>
                </a:solidFill>
                <a:latin typeface="Palatino Linotype"/>
                <a:cs typeface="Palatino Linotype"/>
              </a:rPr>
              <a:t>load</a:t>
            </a:r>
            <a:r>
              <a:rPr sz="1200" spc="-15" dirty="0">
                <a:solidFill>
                  <a:srgbClr val="FF0000"/>
                </a:solidFill>
                <a:latin typeface="Palatino Linotype"/>
                <a:cs typeface="Palatino Linotype"/>
              </a:rPr>
              <a:t> </a:t>
            </a:r>
            <a:r>
              <a:rPr sz="1200" spc="-10" dirty="0">
                <a:solidFill>
                  <a:srgbClr val="0432FF"/>
                </a:solidFill>
                <a:latin typeface="Consolas"/>
                <a:cs typeface="Consolas"/>
              </a:rPr>
              <a:t>a</a:t>
            </a:r>
            <a:r>
              <a:rPr sz="1200" spc="-360" dirty="0">
                <a:solidFill>
                  <a:srgbClr val="0432FF"/>
                </a:solidFill>
                <a:latin typeface="Consolas"/>
                <a:cs typeface="Consolas"/>
              </a:rPr>
              <a:t> </a:t>
            </a:r>
            <a:r>
              <a:rPr sz="1200" dirty="0">
                <a:solidFill>
                  <a:srgbClr val="FF0000"/>
                </a:solidFill>
                <a:latin typeface="Palatino Linotype"/>
                <a:cs typeface="Palatino Linotype"/>
              </a:rPr>
              <a:t>before</a:t>
            </a:r>
            <a:r>
              <a:rPr sz="1200" spc="-25" dirty="0">
                <a:solidFill>
                  <a:srgbClr val="FF0000"/>
                </a:solidFill>
                <a:latin typeface="Palatino Linotype"/>
                <a:cs typeface="Palatino Linotype"/>
              </a:rPr>
              <a:t> </a:t>
            </a:r>
            <a:r>
              <a:rPr sz="1200" spc="-10" dirty="0">
                <a:solidFill>
                  <a:srgbClr val="0432FF"/>
                </a:solidFill>
                <a:latin typeface="Consolas"/>
                <a:cs typeface="Consolas"/>
              </a:rPr>
              <a:t>SUB</a:t>
            </a:r>
            <a:r>
              <a:rPr sz="1200" spc="-360" dirty="0">
                <a:solidFill>
                  <a:srgbClr val="0432FF"/>
                </a:solidFill>
                <a:latin typeface="Consolas"/>
                <a:cs typeface="Consolas"/>
              </a:rPr>
              <a:t> </a:t>
            </a:r>
            <a:r>
              <a:rPr sz="1200" dirty="0">
                <a:solidFill>
                  <a:srgbClr val="FF0000"/>
                </a:solidFill>
                <a:latin typeface="Palatino Linotype"/>
                <a:cs typeface="Palatino Linotype"/>
              </a:rPr>
              <a:t>as</a:t>
            </a:r>
            <a:r>
              <a:rPr sz="1200" spc="-15" dirty="0">
                <a:solidFill>
                  <a:srgbClr val="FF0000"/>
                </a:solidFill>
                <a:latin typeface="Palatino Linotype"/>
                <a:cs typeface="Palatino Linotype"/>
              </a:rPr>
              <a:t> </a:t>
            </a:r>
            <a:r>
              <a:rPr sz="1200" spc="-40" dirty="0">
                <a:solidFill>
                  <a:srgbClr val="0432FF"/>
                </a:solidFill>
                <a:latin typeface="Consolas"/>
                <a:cs typeface="Consolas"/>
              </a:rPr>
              <a:t>a</a:t>
            </a:r>
            <a:r>
              <a:rPr sz="1200" spc="-40" dirty="0">
                <a:solidFill>
                  <a:srgbClr val="FF0000"/>
                </a:solidFill>
                <a:latin typeface="Palatino Linotype"/>
                <a:cs typeface="Palatino Linotype"/>
              </a:rPr>
              <a:t>’s</a:t>
            </a:r>
            <a:r>
              <a:rPr sz="1200" spc="-15" dirty="0">
                <a:solidFill>
                  <a:srgbClr val="FF0000"/>
                </a:solidFill>
                <a:latin typeface="Palatino Linotype"/>
                <a:cs typeface="Palatino Linotype"/>
              </a:rPr>
              <a:t> </a:t>
            </a:r>
            <a:r>
              <a:rPr sz="1200" dirty="0">
                <a:solidFill>
                  <a:srgbClr val="FF0000"/>
                </a:solidFill>
                <a:latin typeface="Palatino Linotype"/>
                <a:cs typeface="Palatino Linotype"/>
              </a:rPr>
              <a:t>value</a:t>
            </a:r>
            <a:r>
              <a:rPr sz="1200" spc="-20" dirty="0">
                <a:solidFill>
                  <a:srgbClr val="FF0000"/>
                </a:solidFill>
                <a:latin typeface="Palatino Linotype"/>
                <a:cs typeface="Palatino Linotype"/>
              </a:rPr>
              <a:t> </a:t>
            </a:r>
            <a:r>
              <a:rPr sz="1200" dirty="0">
                <a:solidFill>
                  <a:srgbClr val="FF0000"/>
                </a:solidFill>
                <a:latin typeface="Palatino Linotype"/>
                <a:cs typeface="Palatino Linotype"/>
              </a:rPr>
              <a:t>is</a:t>
            </a:r>
            <a:r>
              <a:rPr sz="1200" spc="-15" dirty="0">
                <a:solidFill>
                  <a:srgbClr val="FF0000"/>
                </a:solidFill>
                <a:latin typeface="Palatino Linotype"/>
                <a:cs typeface="Palatino Linotype"/>
              </a:rPr>
              <a:t> </a:t>
            </a:r>
            <a:r>
              <a:rPr sz="1200" dirty="0">
                <a:solidFill>
                  <a:srgbClr val="FF0000"/>
                </a:solidFill>
                <a:latin typeface="Palatino Linotype"/>
                <a:cs typeface="Palatino Linotype"/>
              </a:rPr>
              <a:t>already</a:t>
            </a:r>
            <a:r>
              <a:rPr sz="1200" spc="-20" dirty="0">
                <a:solidFill>
                  <a:srgbClr val="FF0000"/>
                </a:solidFill>
                <a:latin typeface="Palatino Linotype"/>
                <a:cs typeface="Palatino Linotype"/>
              </a:rPr>
              <a:t> </a:t>
            </a:r>
            <a:r>
              <a:rPr sz="1200" dirty="0">
                <a:solidFill>
                  <a:srgbClr val="FF0000"/>
                </a:solidFill>
                <a:latin typeface="Palatino Linotype"/>
                <a:cs typeface="Palatino Linotype"/>
              </a:rPr>
              <a:t>in</a:t>
            </a:r>
            <a:r>
              <a:rPr sz="1200" spc="-20" dirty="0">
                <a:solidFill>
                  <a:srgbClr val="FF0000"/>
                </a:solidFill>
                <a:latin typeface="Palatino Linotype"/>
                <a:cs typeface="Palatino Linotype"/>
              </a:rPr>
              <a:t> </a:t>
            </a:r>
            <a:r>
              <a:rPr sz="1200" spc="-25" dirty="0">
                <a:solidFill>
                  <a:srgbClr val="FF0000"/>
                </a:solidFill>
                <a:latin typeface="Palatino Linotype"/>
                <a:cs typeface="Palatino Linotype"/>
              </a:rPr>
              <a:t>R1</a:t>
            </a:r>
            <a:endParaRPr sz="1200">
              <a:solidFill>
                <a:sysClr val="windowText" lastClr="000000"/>
              </a:solidFill>
              <a:latin typeface="Palatino Linotype"/>
              <a:cs typeface="Palatino Linotype"/>
            </a:endParaRPr>
          </a:p>
        </p:txBody>
      </p:sp>
      <p:sp>
        <p:nvSpPr>
          <p:cNvPr id="56" name="object 26">
            <a:extLst>
              <a:ext uri="{FF2B5EF4-FFF2-40B4-BE49-F238E27FC236}">
                <a16:creationId xmlns:a16="http://schemas.microsoft.com/office/drawing/2014/main" id="{91202DFC-8A43-73FE-C73A-212AC7B9A916}"/>
              </a:ext>
            </a:extLst>
          </p:cNvPr>
          <p:cNvSpPr txBox="1"/>
          <p:nvPr/>
        </p:nvSpPr>
        <p:spPr>
          <a:xfrm>
            <a:off x="3281973" y="5013452"/>
            <a:ext cx="5519420" cy="208279"/>
          </a:xfrm>
          <a:prstGeom prst="rect">
            <a:avLst/>
          </a:prstGeom>
        </p:spPr>
        <p:txBody>
          <a:bodyPr vert="horz" wrap="square" lIns="0" tIns="12700" rIns="0" bIns="0" rtlCol="0">
            <a:spAutoFit/>
          </a:bodyPr>
          <a:lstStyle/>
          <a:p>
            <a:pPr marL="12700">
              <a:spcBef>
                <a:spcPts val="100"/>
              </a:spcBef>
            </a:pPr>
            <a:r>
              <a:rPr sz="1200" dirty="0">
                <a:solidFill>
                  <a:srgbClr val="FF0000"/>
                </a:solidFill>
                <a:latin typeface="Palatino Linotype"/>
                <a:cs typeface="Palatino Linotype"/>
              </a:rPr>
              <a:t>There</a:t>
            </a:r>
            <a:r>
              <a:rPr sz="1200" spc="-65" dirty="0">
                <a:solidFill>
                  <a:srgbClr val="FF0000"/>
                </a:solidFill>
                <a:latin typeface="Palatino Linotype"/>
                <a:cs typeface="Palatino Linotype"/>
              </a:rPr>
              <a:t> </a:t>
            </a:r>
            <a:r>
              <a:rPr sz="1200" dirty="0">
                <a:solidFill>
                  <a:srgbClr val="FF0000"/>
                </a:solidFill>
                <a:latin typeface="Palatino Linotype"/>
                <a:cs typeface="Palatino Linotype"/>
              </a:rPr>
              <a:t>is</a:t>
            </a:r>
            <a:r>
              <a:rPr sz="1200" spc="-15" dirty="0">
                <a:solidFill>
                  <a:srgbClr val="FF0000"/>
                </a:solidFill>
                <a:latin typeface="Palatino Linotype"/>
                <a:cs typeface="Palatino Linotype"/>
              </a:rPr>
              <a:t> </a:t>
            </a:r>
            <a:r>
              <a:rPr sz="1200" dirty="0">
                <a:solidFill>
                  <a:srgbClr val="FF0000"/>
                </a:solidFill>
                <a:latin typeface="Palatino Linotype"/>
                <a:cs typeface="Palatino Linotype"/>
              </a:rPr>
              <a:t>no</a:t>
            </a:r>
            <a:r>
              <a:rPr sz="1200" spc="-20" dirty="0">
                <a:solidFill>
                  <a:srgbClr val="FF0000"/>
                </a:solidFill>
                <a:latin typeface="Palatino Linotype"/>
                <a:cs typeface="Palatino Linotype"/>
              </a:rPr>
              <a:t> </a:t>
            </a:r>
            <a:r>
              <a:rPr sz="1200" dirty="0">
                <a:solidFill>
                  <a:srgbClr val="FF0000"/>
                </a:solidFill>
                <a:latin typeface="Palatino Linotype"/>
                <a:cs typeface="Palatino Linotype"/>
              </a:rPr>
              <a:t>need</a:t>
            </a:r>
            <a:r>
              <a:rPr sz="1200" spc="-15" dirty="0">
                <a:solidFill>
                  <a:srgbClr val="FF0000"/>
                </a:solidFill>
                <a:latin typeface="Palatino Linotype"/>
                <a:cs typeface="Palatino Linotype"/>
              </a:rPr>
              <a:t> </a:t>
            </a:r>
            <a:r>
              <a:rPr sz="1200" dirty="0">
                <a:solidFill>
                  <a:srgbClr val="FF0000"/>
                </a:solidFill>
                <a:latin typeface="Palatino Linotype"/>
                <a:cs typeface="Palatino Linotype"/>
              </a:rPr>
              <a:t>to</a:t>
            </a:r>
            <a:r>
              <a:rPr sz="1200" spc="-20" dirty="0">
                <a:solidFill>
                  <a:srgbClr val="FF0000"/>
                </a:solidFill>
                <a:latin typeface="Palatino Linotype"/>
                <a:cs typeface="Palatino Linotype"/>
              </a:rPr>
              <a:t> </a:t>
            </a:r>
            <a:r>
              <a:rPr sz="1200" dirty="0">
                <a:solidFill>
                  <a:srgbClr val="FF0000"/>
                </a:solidFill>
                <a:latin typeface="Palatino Linotype"/>
                <a:cs typeface="Palatino Linotype"/>
              </a:rPr>
              <a:t>load</a:t>
            </a:r>
            <a:r>
              <a:rPr sz="1200" spc="-15" dirty="0">
                <a:solidFill>
                  <a:srgbClr val="FF0000"/>
                </a:solidFill>
                <a:latin typeface="Palatino Linotype"/>
                <a:cs typeface="Palatino Linotype"/>
              </a:rPr>
              <a:t> </a:t>
            </a:r>
            <a:r>
              <a:rPr sz="1200" spc="-10" dirty="0">
                <a:solidFill>
                  <a:srgbClr val="0432FF"/>
                </a:solidFill>
                <a:latin typeface="Consolas"/>
                <a:cs typeface="Consolas"/>
              </a:rPr>
              <a:t>u</a:t>
            </a:r>
            <a:r>
              <a:rPr sz="1200" spc="-360" dirty="0">
                <a:solidFill>
                  <a:srgbClr val="0432FF"/>
                </a:solidFill>
                <a:latin typeface="Consolas"/>
                <a:cs typeface="Consolas"/>
              </a:rPr>
              <a:t> </a:t>
            </a:r>
            <a:r>
              <a:rPr sz="1200" dirty="0">
                <a:solidFill>
                  <a:srgbClr val="FF0000"/>
                </a:solidFill>
                <a:latin typeface="Palatino Linotype"/>
                <a:cs typeface="Palatino Linotype"/>
              </a:rPr>
              <a:t>or</a:t>
            </a:r>
            <a:r>
              <a:rPr sz="1200" spc="-20" dirty="0">
                <a:solidFill>
                  <a:srgbClr val="FF0000"/>
                </a:solidFill>
                <a:latin typeface="Palatino Linotype"/>
                <a:cs typeface="Palatino Linotype"/>
              </a:rPr>
              <a:t> </a:t>
            </a:r>
            <a:r>
              <a:rPr sz="1200" spc="-10" dirty="0">
                <a:solidFill>
                  <a:srgbClr val="0432FF"/>
                </a:solidFill>
                <a:latin typeface="Consolas"/>
                <a:cs typeface="Consolas"/>
              </a:rPr>
              <a:t>t</a:t>
            </a:r>
            <a:r>
              <a:rPr sz="1200" spc="-360" dirty="0">
                <a:solidFill>
                  <a:srgbClr val="0432FF"/>
                </a:solidFill>
                <a:latin typeface="Consolas"/>
                <a:cs typeface="Consolas"/>
              </a:rPr>
              <a:t> </a:t>
            </a:r>
            <a:r>
              <a:rPr sz="1200" dirty="0">
                <a:solidFill>
                  <a:srgbClr val="FF0000"/>
                </a:solidFill>
                <a:latin typeface="Palatino Linotype"/>
                <a:cs typeface="Palatino Linotype"/>
              </a:rPr>
              <a:t>before</a:t>
            </a:r>
            <a:r>
              <a:rPr sz="1200" spc="-20" dirty="0">
                <a:solidFill>
                  <a:srgbClr val="FF0000"/>
                </a:solidFill>
                <a:latin typeface="Palatino Linotype"/>
                <a:cs typeface="Palatino Linotype"/>
              </a:rPr>
              <a:t> </a:t>
            </a:r>
            <a:r>
              <a:rPr sz="1200" spc="-10" dirty="0">
                <a:solidFill>
                  <a:srgbClr val="0432FF"/>
                </a:solidFill>
                <a:latin typeface="Consolas"/>
                <a:cs typeface="Consolas"/>
              </a:rPr>
              <a:t>ADD</a:t>
            </a:r>
            <a:r>
              <a:rPr sz="1200" spc="-360" dirty="0">
                <a:solidFill>
                  <a:srgbClr val="0432FF"/>
                </a:solidFill>
                <a:latin typeface="Consolas"/>
                <a:cs typeface="Consolas"/>
              </a:rPr>
              <a:t> </a:t>
            </a:r>
            <a:r>
              <a:rPr sz="1200" dirty="0">
                <a:solidFill>
                  <a:srgbClr val="FF0000"/>
                </a:solidFill>
                <a:latin typeface="Palatino Linotype"/>
                <a:cs typeface="Palatino Linotype"/>
              </a:rPr>
              <a:t>as</a:t>
            </a:r>
            <a:r>
              <a:rPr sz="1200" spc="-15" dirty="0">
                <a:solidFill>
                  <a:srgbClr val="FF0000"/>
                </a:solidFill>
                <a:latin typeface="Palatino Linotype"/>
                <a:cs typeface="Palatino Linotype"/>
              </a:rPr>
              <a:t> </a:t>
            </a:r>
            <a:r>
              <a:rPr sz="1200" dirty="0">
                <a:solidFill>
                  <a:srgbClr val="FF0000"/>
                </a:solidFill>
                <a:latin typeface="Palatino Linotype"/>
                <a:cs typeface="Palatino Linotype"/>
              </a:rPr>
              <a:t>their</a:t>
            </a:r>
            <a:r>
              <a:rPr sz="1200" spc="-15" dirty="0">
                <a:solidFill>
                  <a:srgbClr val="FF0000"/>
                </a:solidFill>
                <a:latin typeface="Palatino Linotype"/>
                <a:cs typeface="Palatino Linotype"/>
              </a:rPr>
              <a:t> </a:t>
            </a:r>
            <a:r>
              <a:rPr sz="1200" dirty="0">
                <a:solidFill>
                  <a:srgbClr val="FF0000"/>
                </a:solidFill>
                <a:latin typeface="Palatino Linotype"/>
                <a:cs typeface="Palatino Linotype"/>
              </a:rPr>
              <a:t>values</a:t>
            </a:r>
            <a:r>
              <a:rPr sz="1200" spc="-15" dirty="0">
                <a:solidFill>
                  <a:srgbClr val="FF0000"/>
                </a:solidFill>
                <a:latin typeface="Palatino Linotype"/>
                <a:cs typeface="Palatino Linotype"/>
              </a:rPr>
              <a:t> </a:t>
            </a:r>
            <a:r>
              <a:rPr sz="1200" dirty="0">
                <a:solidFill>
                  <a:srgbClr val="FF0000"/>
                </a:solidFill>
                <a:latin typeface="Palatino Linotype"/>
                <a:cs typeface="Palatino Linotype"/>
              </a:rPr>
              <a:t>are</a:t>
            </a:r>
            <a:r>
              <a:rPr sz="1200" spc="-15" dirty="0">
                <a:solidFill>
                  <a:srgbClr val="FF0000"/>
                </a:solidFill>
                <a:latin typeface="Palatino Linotype"/>
                <a:cs typeface="Palatino Linotype"/>
              </a:rPr>
              <a:t> </a:t>
            </a:r>
            <a:r>
              <a:rPr sz="1200" dirty="0">
                <a:solidFill>
                  <a:srgbClr val="FF0000"/>
                </a:solidFill>
                <a:latin typeface="Palatino Linotype"/>
                <a:cs typeface="Palatino Linotype"/>
              </a:rPr>
              <a:t>already</a:t>
            </a:r>
            <a:r>
              <a:rPr sz="1200" spc="-20" dirty="0">
                <a:solidFill>
                  <a:srgbClr val="FF0000"/>
                </a:solidFill>
                <a:latin typeface="Palatino Linotype"/>
                <a:cs typeface="Palatino Linotype"/>
              </a:rPr>
              <a:t> </a:t>
            </a:r>
            <a:r>
              <a:rPr sz="1200" dirty="0">
                <a:solidFill>
                  <a:srgbClr val="FF0000"/>
                </a:solidFill>
                <a:latin typeface="Palatino Linotype"/>
                <a:cs typeface="Palatino Linotype"/>
              </a:rPr>
              <a:t>in</a:t>
            </a:r>
            <a:r>
              <a:rPr sz="1200" spc="-15" dirty="0">
                <a:solidFill>
                  <a:srgbClr val="FF0000"/>
                </a:solidFill>
                <a:latin typeface="Palatino Linotype"/>
                <a:cs typeface="Palatino Linotype"/>
              </a:rPr>
              <a:t> </a:t>
            </a:r>
            <a:r>
              <a:rPr sz="1200" dirty="0">
                <a:solidFill>
                  <a:srgbClr val="FF0000"/>
                </a:solidFill>
                <a:latin typeface="Palatino Linotype"/>
                <a:cs typeface="Palatino Linotype"/>
              </a:rPr>
              <a:t>R1</a:t>
            </a:r>
            <a:r>
              <a:rPr sz="1200" spc="-15" dirty="0">
                <a:solidFill>
                  <a:srgbClr val="FF0000"/>
                </a:solidFill>
                <a:latin typeface="Palatino Linotype"/>
                <a:cs typeface="Palatino Linotype"/>
              </a:rPr>
              <a:t> </a:t>
            </a:r>
            <a:r>
              <a:rPr sz="1200" dirty="0">
                <a:solidFill>
                  <a:srgbClr val="FF0000"/>
                </a:solidFill>
                <a:latin typeface="Palatino Linotype"/>
                <a:cs typeface="Palatino Linotype"/>
              </a:rPr>
              <a:t>and</a:t>
            </a:r>
            <a:r>
              <a:rPr sz="1200" spc="-15" dirty="0">
                <a:solidFill>
                  <a:srgbClr val="FF0000"/>
                </a:solidFill>
                <a:latin typeface="Palatino Linotype"/>
                <a:cs typeface="Palatino Linotype"/>
              </a:rPr>
              <a:t> </a:t>
            </a:r>
            <a:r>
              <a:rPr sz="1200" spc="-25" dirty="0">
                <a:solidFill>
                  <a:srgbClr val="FF0000"/>
                </a:solidFill>
                <a:latin typeface="Palatino Linotype"/>
                <a:cs typeface="Palatino Linotype"/>
              </a:rPr>
              <a:t>R2</a:t>
            </a:r>
            <a:endParaRPr sz="1200">
              <a:solidFill>
                <a:sysClr val="windowText" lastClr="000000"/>
              </a:solidFill>
              <a:latin typeface="Palatino Linotype"/>
              <a:cs typeface="Palatino Linotype"/>
            </a:endParaRPr>
          </a:p>
        </p:txBody>
      </p:sp>
      <p:pic>
        <p:nvPicPr>
          <p:cNvPr id="57" name="object 27">
            <a:extLst>
              <a:ext uri="{FF2B5EF4-FFF2-40B4-BE49-F238E27FC236}">
                <a16:creationId xmlns:a16="http://schemas.microsoft.com/office/drawing/2014/main" id="{98234665-827D-2699-5D8D-17F22F8E3C26}"/>
              </a:ext>
            </a:extLst>
          </p:cNvPr>
          <p:cNvPicPr/>
          <p:nvPr/>
        </p:nvPicPr>
        <p:blipFill>
          <a:blip r:embed="rId4" cstate="print"/>
          <a:stretch>
            <a:fillRect/>
          </a:stretch>
        </p:blipFill>
        <p:spPr>
          <a:xfrm>
            <a:off x="885444" y="6034023"/>
            <a:ext cx="76200" cy="203200"/>
          </a:xfrm>
          <a:prstGeom prst="rect">
            <a:avLst/>
          </a:prstGeom>
        </p:spPr>
      </p:pic>
      <p:sp>
        <p:nvSpPr>
          <p:cNvPr id="58" name="object 28">
            <a:extLst>
              <a:ext uri="{FF2B5EF4-FFF2-40B4-BE49-F238E27FC236}">
                <a16:creationId xmlns:a16="http://schemas.microsoft.com/office/drawing/2014/main" id="{359A6E8F-C149-5475-961A-9FD4FBA5BC5B}"/>
              </a:ext>
            </a:extLst>
          </p:cNvPr>
          <p:cNvSpPr txBox="1"/>
          <p:nvPr/>
        </p:nvSpPr>
        <p:spPr>
          <a:xfrm>
            <a:off x="1102867" y="5996940"/>
            <a:ext cx="4107179" cy="238760"/>
          </a:xfrm>
          <a:prstGeom prst="rect">
            <a:avLst/>
          </a:prstGeom>
        </p:spPr>
        <p:txBody>
          <a:bodyPr vert="horz" wrap="square" lIns="0" tIns="12700" rIns="0" bIns="0" rtlCol="0">
            <a:spAutoFit/>
          </a:bodyPr>
          <a:lstStyle/>
          <a:p>
            <a:pPr marL="12700">
              <a:spcBef>
                <a:spcPts val="100"/>
              </a:spcBef>
            </a:pPr>
            <a:r>
              <a:rPr sz="1400" dirty="0">
                <a:solidFill>
                  <a:sysClr val="windowText" lastClr="000000"/>
                </a:solidFill>
                <a:latin typeface="Palatino Linotype"/>
                <a:cs typeface="Palatino Linotype"/>
              </a:rPr>
              <a:t>annotates</a:t>
            </a:r>
            <a:r>
              <a:rPr sz="1400" spc="-15" dirty="0">
                <a:solidFill>
                  <a:sysClr val="windowText" lastClr="000000"/>
                </a:solidFill>
                <a:latin typeface="Palatino Linotype"/>
                <a:cs typeface="Palatino Linotype"/>
              </a:rPr>
              <a:t> </a:t>
            </a:r>
            <a:r>
              <a:rPr sz="1400" dirty="0">
                <a:solidFill>
                  <a:sysClr val="windowText" lastClr="000000"/>
                </a:solidFill>
                <a:latin typeface="Palatino Linotype"/>
                <a:cs typeface="Palatino Linotype"/>
              </a:rPr>
              <a:t>the</a:t>
            </a:r>
            <a:r>
              <a:rPr sz="1400" spc="-5" dirty="0">
                <a:solidFill>
                  <a:sysClr val="windowText" lastClr="000000"/>
                </a:solidFill>
                <a:latin typeface="Palatino Linotype"/>
                <a:cs typeface="Palatino Linotype"/>
              </a:rPr>
              <a:t> </a:t>
            </a:r>
            <a:r>
              <a:rPr sz="1400" dirty="0">
                <a:solidFill>
                  <a:sysClr val="windowText" lastClr="000000"/>
                </a:solidFill>
                <a:latin typeface="Palatino Linotype"/>
                <a:cs typeface="Palatino Linotype"/>
              </a:rPr>
              <a:t>changes</a:t>
            </a:r>
            <a:r>
              <a:rPr sz="1400" spc="-15" dirty="0">
                <a:solidFill>
                  <a:sysClr val="windowText" lastClr="000000"/>
                </a:solidFill>
                <a:latin typeface="Palatino Linotype"/>
                <a:cs typeface="Palatino Linotype"/>
              </a:rPr>
              <a:t> </a:t>
            </a:r>
            <a:r>
              <a:rPr sz="1400" dirty="0">
                <a:solidFill>
                  <a:sysClr val="windowText" lastClr="000000"/>
                </a:solidFill>
                <a:latin typeface="Palatino Linotype"/>
                <a:cs typeface="Palatino Linotype"/>
              </a:rPr>
              <a:t>in</a:t>
            </a:r>
            <a:r>
              <a:rPr sz="1400" spc="-5" dirty="0">
                <a:solidFill>
                  <a:sysClr val="windowText" lastClr="000000"/>
                </a:solidFill>
                <a:latin typeface="Palatino Linotype"/>
                <a:cs typeface="Palatino Linotype"/>
              </a:rPr>
              <a:t> </a:t>
            </a:r>
            <a:r>
              <a:rPr sz="1400" spc="-10" dirty="0">
                <a:solidFill>
                  <a:sysClr val="windowText" lastClr="000000"/>
                </a:solidFill>
                <a:latin typeface="Palatino Linotype"/>
                <a:cs typeface="Palatino Linotype"/>
              </a:rPr>
              <a:t>register/address</a:t>
            </a:r>
            <a:r>
              <a:rPr sz="1400" spc="-15" dirty="0">
                <a:solidFill>
                  <a:sysClr val="windowText" lastClr="000000"/>
                </a:solidFill>
                <a:latin typeface="Palatino Linotype"/>
                <a:cs typeface="Palatino Linotype"/>
              </a:rPr>
              <a:t> </a:t>
            </a:r>
            <a:r>
              <a:rPr sz="1400" spc="-10" dirty="0">
                <a:solidFill>
                  <a:sysClr val="windowText" lastClr="000000"/>
                </a:solidFill>
                <a:latin typeface="Palatino Linotype"/>
                <a:cs typeface="Palatino Linotype"/>
              </a:rPr>
              <a:t>descriptor</a:t>
            </a:r>
            <a:endParaRPr sz="1400">
              <a:solidFill>
                <a:sysClr val="windowText" lastClr="000000"/>
              </a:solidFill>
              <a:latin typeface="Palatino Linotype"/>
              <a:cs typeface="Palatino Linotype"/>
            </a:endParaRPr>
          </a:p>
        </p:txBody>
      </p:sp>
    </p:spTree>
    <p:extLst>
      <p:ext uri="{BB962C8B-B14F-4D97-AF65-F5344CB8AC3E}">
        <p14:creationId xmlns:p14="http://schemas.microsoft.com/office/powerpoint/2010/main" val="189598182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69</a:t>
            </a:fld>
            <a:endParaRPr lang="en-US"/>
          </a:p>
        </p:txBody>
      </p:sp>
      <p:sp>
        <p:nvSpPr>
          <p:cNvPr id="20" name="object 2">
            <a:extLst>
              <a:ext uri="{FF2B5EF4-FFF2-40B4-BE49-F238E27FC236}">
                <a16:creationId xmlns:a16="http://schemas.microsoft.com/office/drawing/2014/main" id="{DD6D6ADE-063A-EF75-1750-FB69697706DA}"/>
              </a:ext>
            </a:extLst>
          </p:cNvPr>
          <p:cNvSpPr txBox="1">
            <a:spLocks/>
          </p:cNvSpPr>
          <p:nvPr/>
        </p:nvSpPr>
        <p:spPr>
          <a:xfrm>
            <a:off x="707390" y="524763"/>
            <a:ext cx="2027555" cy="63500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4000" b="1" i="0" u="none" strike="noStrike" kern="0" cap="none" spc="-10" normalizeH="0" baseline="0" noProof="0">
                <a:ln>
                  <a:noFill/>
                </a:ln>
                <a:solidFill>
                  <a:sysClr val="windowText" lastClr="000000"/>
                </a:solidFill>
                <a:effectLst/>
                <a:uLnTx/>
                <a:uFillTx/>
                <a:latin typeface="Palatino Linotype"/>
                <a:ea typeface="+mj-ea"/>
              </a:rPr>
              <a:t>Example</a:t>
            </a:r>
            <a:endParaRPr kumimoji="0" lang="en-US" sz="4000" b="1" i="0" u="none" strike="noStrike" kern="0" cap="none" spc="-10" normalizeH="0" baseline="0" noProof="0" dirty="0">
              <a:ln>
                <a:noFill/>
              </a:ln>
              <a:solidFill>
                <a:sysClr val="windowText" lastClr="000000"/>
              </a:solidFill>
              <a:effectLst/>
              <a:uLnTx/>
              <a:uFillTx/>
              <a:latin typeface="Palatino Linotype"/>
              <a:ea typeface="+mj-ea"/>
            </a:endParaRPr>
          </a:p>
        </p:txBody>
      </p:sp>
      <p:grpSp>
        <p:nvGrpSpPr>
          <p:cNvPr id="21" name="object 3">
            <a:extLst>
              <a:ext uri="{FF2B5EF4-FFF2-40B4-BE49-F238E27FC236}">
                <a16:creationId xmlns:a16="http://schemas.microsoft.com/office/drawing/2014/main" id="{AB620D55-EAE0-0D88-1B0C-5F2C35397615}"/>
              </a:ext>
            </a:extLst>
          </p:cNvPr>
          <p:cNvGrpSpPr/>
          <p:nvPr/>
        </p:nvGrpSpPr>
        <p:grpSpPr>
          <a:xfrm>
            <a:off x="743912" y="1707325"/>
            <a:ext cx="7656195" cy="3587750"/>
            <a:chOff x="743912" y="1707325"/>
            <a:chExt cx="7656195" cy="3587750"/>
          </a:xfrm>
        </p:grpSpPr>
        <p:pic>
          <p:nvPicPr>
            <p:cNvPr id="22" name="object 4">
              <a:extLst>
                <a:ext uri="{FF2B5EF4-FFF2-40B4-BE49-F238E27FC236}">
                  <a16:creationId xmlns:a16="http://schemas.microsoft.com/office/drawing/2014/main" id="{C0B9A904-6D15-CD88-F0E2-D441BD1D0D03}"/>
                </a:ext>
              </a:extLst>
            </p:cNvPr>
            <p:cNvPicPr/>
            <p:nvPr/>
          </p:nvPicPr>
          <p:blipFill>
            <a:blip r:embed="rId3" cstate="print"/>
            <a:stretch>
              <a:fillRect/>
            </a:stretch>
          </p:blipFill>
          <p:spPr>
            <a:xfrm>
              <a:off x="743912" y="1707325"/>
              <a:ext cx="7656174" cy="3587636"/>
            </a:xfrm>
            <a:prstGeom prst="rect">
              <a:avLst/>
            </a:prstGeom>
          </p:spPr>
        </p:pic>
        <p:sp>
          <p:nvSpPr>
            <p:cNvPr id="23" name="object 5">
              <a:extLst>
                <a:ext uri="{FF2B5EF4-FFF2-40B4-BE49-F238E27FC236}">
                  <a16:creationId xmlns:a16="http://schemas.microsoft.com/office/drawing/2014/main" id="{B7F0E001-A0A9-1400-BFD3-59DF54DC3DEE}"/>
                </a:ext>
              </a:extLst>
            </p:cNvPr>
            <p:cNvSpPr/>
            <p:nvPr/>
          </p:nvSpPr>
          <p:spPr>
            <a:xfrm>
              <a:off x="860151" y="2430653"/>
              <a:ext cx="7486015" cy="0"/>
            </a:xfrm>
            <a:custGeom>
              <a:avLst/>
              <a:gdLst/>
              <a:ahLst/>
              <a:cxnLst/>
              <a:rect l="l" t="t" r="r" b="b"/>
              <a:pathLst>
                <a:path w="7486015">
                  <a:moveTo>
                    <a:pt x="0" y="0"/>
                  </a:moveTo>
                  <a:lnTo>
                    <a:pt x="7485687" y="1"/>
                  </a:lnTo>
                </a:path>
              </a:pathLst>
            </a:custGeom>
            <a:ln w="12700">
              <a:solidFill>
                <a:srgbClr val="FF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4" name="object 6">
              <a:extLst>
                <a:ext uri="{FF2B5EF4-FFF2-40B4-BE49-F238E27FC236}">
                  <a16:creationId xmlns:a16="http://schemas.microsoft.com/office/drawing/2014/main" id="{FCA3FC7E-0EBE-7482-8F53-FE680FB8398D}"/>
                </a:ext>
              </a:extLst>
            </p:cNvPr>
            <p:cNvSpPr/>
            <p:nvPr/>
          </p:nvSpPr>
          <p:spPr>
            <a:xfrm>
              <a:off x="860151" y="3280477"/>
              <a:ext cx="7486015" cy="0"/>
            </a:xfrm>
            <a:custGeom>
              <a:avLst/>
              <a:gdLst/>
              <a:ahLst/>
              <a:cxnLst/>
              <a:rect l="l" t="t" r="r" b="b"/>
              <a:pathLst>
                <a:path w="7486015">
                  <a:moveTo>
                    <a:pt x="0" y="0"/>
                  </a:moveTo>
                  <a:lnTo>
                    <a:pt x="7485687" y="1"/>
                  </a:lnTo>
                </a:path>
              </a:pathLst>
            </a:custGeom>
            <a:ln w="12700">
              <a:solidFill>
                <a:srgbClr val="FF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5" name="object 7">
              <a:extLst>
                <a:ext uri="{FF2B5EF4-FFF2-40B4-BE49-F238E27FC236}">
                  <a16:creationId xmlns:a16="http://schemas.microsoft.com/office/drawing/2014/main" id="{7CB29C99-0BF5-434E-A628-C7107DF5022C}"/>
                </a:ext>
              </a:extLst>
            </p:cNvPr>
            <p:cNvSpPr/>
            <p:nvPr/>
          </p:nvSpPr>
          <p:spPr>
            <a:xfrm>
              <a:off x="860151" y="4148381"/>
              <a:ext cx="7486015" cy="0"/>
            </a:xfrm>
            <a:custGeom>
              <a:avLst/>
              <a:gdLst/>
              <a:ahLst/>
              <a:cxnLst/>
              <a:rect l="l" t="t" r="r" b="b"/>
              <a:pathLst>
                <a:path w="7486015">
                  <a:moveTo>
                    <a:pt x="0" y="0"/>
                  </a:moveTo>
                  <a:lnTo>
                    <a:pt x="7485687" y="1"/>
                  </a:lnTo>
                </a:path>
              </a:pathLst>
            </a:custGeom>
            <a:ln w="12700">
              <a:solidFill>
                <a:srgbClr val="FF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grpSp>
        <p:nvGrpSpPr>
          <p:cNvPr id="26" name="object 8">
            <a:extLst>
              <a:ext uri="{FF2B5EF4-FFF2-40B4-BE49-F238E27FC236}">
                <a16:creationId xmlns:a16="http://schemas.microsoft.com/office/drawing/2014/main" id="{AEB1F765-D8A5-C7EE-A7C1-B841D76DEFDD}"/>
              </a:ext>
            </a:extLst>
          </p:cNvPr>
          <p:cNvGrpSpPr/>
          <p:nvPr/>
        </p:nvGrpSpPr>
        <p:grpSpPr>
          <a:xfrm>
            <a:off x="3205797" y="607565"/>
            <a:ext cx="4957445" cy="655955"/>
            <a:chOff x="3205797" y="607565"/>
            <a:chExt cx="4957445" cy="655955"/>
          </a:xfrm>
        </p:grpSpPr>
        <p:sp>
          <p:nvSpPr>
            <p:cNvPr id="27" name="object 9">
              <a:extLst>
                <a:ext uri="{FF2B5EF4-FFF2-40B4-BE49-F238E27FC236}">
                  <a16:creationId xmlns:a16="http://schemas.microsoft.com/office/drawing/2014/main" id="{1510CE2D-F68B-A453-2162-BDCAD81E13D1}"/>
                </a:ext>
              </a:extLst>
            </p:cNvPr>
            <p:cNvSpPr/>
            <p:nvPr/>
          </p:nvSpPr>
          <p:spPr>
            <a:xfrm>
              <a:off x="3210560" y="612327"/>
              <a:ext cx="4947920" cy="646430"/>
            </a:xfrm>
            <a:custGeom>
              <a:avLst/>
              <a:gdLst/>
              <a:ahLst/>
              <a:cxnLst/>
              <a:rect l="l" t="t" r="r" b="b"/>
              <a:pathLst>
                <a:path w="4947920" h="646430">
                  <a:moveTo>
                    <a:pt x="4947920" y="0"/>
                  </a:moveTo>
                  <a:lnTo>
                    <a:pt x="0" y="0"/>
                  </a:lnTo>
                  <a:lnTo>
                    <a:pt x="0" y="646330"/>
                  </a:lnTo>
                  <a:lnTo>
                    <a:pt x="4947920" y="646330"/>
                  </a:lnTo>
                  <a:lnTo>
                    <a:pt x="4947920" y="0"/>
                  </a:lnTo>
                  <a:close/>
                </a:path>
              </a:pathLst>
            </a:custGeom>
            <a:solidFill>
              <a:srgbClr val="FFF2CC"/>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8" name="object 10">
              <a:extLst>
                <a:ext uri="{FF2B5EF4-FFF2-40B4-BE49-F238E27FC236}">
                  <a16:creationId xmlns:a16="http://schemas.microsoft.com/office/drawing/2014/main" id="{DDE469CF-C10A-07E6-B3B0-5CBF57507A50}"/>
                </a:ext>
              </a:extLst>
            </p:cNvPr>
            <p:cNvSpPr/>
            <p:nvPr/>
          </p:nvSpPr>
          <p:spPr>
            <a:xfrm>
              <a:off x="3210560" y="612327"/>
              <a:ext cx="4947920" cy="646430"/>
            </a:xfrm>
            <a:custGeom>
              <a:avLst/>
              <a:gdLst/>
              <a:ahLst/>
              <a:cxnLst/>
              <a:rect l="l" t="t" r="r" b="b"/>
              <a:pathLst>
                <a:path w="4947920" h="646430">
                  <a:moveTo>
                    <a:pt x="0" y="0"/>
                  </a:moveTo>
                  <a:lnTo>
                    <a:pt x="4947920" y="0"/>
                  </a:lnTo>
                  <a:lnTo>
                    <a:pt x="4947920" y="646331"/>
                  </a:lnTo>
                  <a:lnTo>
                    <a:pt x="0" y="646331"/>
                  </a:lnTo>
                  <a:lnTo>
                    <a:pt x="0" y="0"/>
                  </a:lnTo>
                  <a:close/>
                </a:path>
              </a:pathLst>
            </a:custGeom>
            <a:ln w="952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29" name="object 11">
            <a:extLst>
              <a:ext uri="{FF2B5EF4-FFF2-40B4-BE49-F238E27FC236}">
                <a16:creationId xmlns:a16="http://schemas.microsoft.com/office/drawing/2014/main" id="{8142529E-D462-335F-24D4-0E55FDC369BD}"/>
              </a:ext>
            </a:extLst>
          </p:cNvPr>
          <p:cNvSpPr txBox="1"/>
          <p:nvPr/>
        </p:nvSpPr>
        <p:spPr>
          <a:xfrm>
            <a:off x="3289300" y="633476"/>
            <a:ext cx="4584065" cy="565150"/>
          </a:xfrm>
          <a:prstGeom prst="rect">
            <a:avLst/>
          </a:prstGeom>
        </p:spPr>
        <p:txBody>
          <a:bodyPr vert="horz" wrap="square" lIns="0" tIns="28575" rIns="0" bIns="0" rtlCol="0">
            <a:spAutoFit/>
          </a:bodyPr>
          <a:lstStyle/>
          <a:p>
            <a:pPr marL="12700" marR="5080">
              <a:lnSpc>
                <a:spcPts val="2090"/>
              </a:lnSpc>
              <a:spcBef>
                <a:spcPts val="225"/>
              </a:spcBef>
            </a:pPr>
            <a:r>
              <a:rPr dirty="0">
                <a:solidFill>
                  <a:srgbClr val="FF0000"/>
                </a:solidFill>
                <a:latin typeface="Palatino Linotype"/>
                <a:cs typeface="Palatino Linotype"/>
              </a:rPr>
              <a:t>Why</a:t>
            </a:r>
            <a:r>
              <a:rPr spc="-50" dirty="0">
                <a:solidFill>
                  <a:srgbClr val="FF0000"/>
                </a:solidFill>
                <a:latin typeface="Palatino Linotype"/>
                <a:cs typeface="Palatino Linotype"/>
              </a:rPr>
              <a:t> </a:t>
            </a:r>
            <a:r>
              <a:rPr dirty="0">
                <a:solidFill>
                  <a:srgbClr val="FF0000"/>
                </a:solidFill>
                <a:latin typeface="Palatino Linotype"/>
                <a:cs typeface="Palatino Linotype"/>
              </a:rPr>
              <a:t>do</a:t>
            </a:r>
            <a:r>
              <a:rPr spc="-45" dirty="0">
                <a:solidFill>
                  <a:srgbClr val="FF0000"/>
                </a:solidFill>
                <a:latin typeface="Palatino Linotype"/>
                <a:cs typeface="Palatino Linotype"/>
              </a:rPr>
              <a:t> </a:t>
            </a:r>
            <a:r>
              <a:rPr dirty="0">
                <a:solidFill>
                  <a:srgbClr val="FF0000"/>
                </a:solidFill>
                <a:latin typeface="Palatino Linotype"/>
                <a:cs typeface="Palatino Linotype"/>
              </a:rPr>
              <a:t>we</a:t>
            </a:r>
            <a:r>
              <a:rPr spc="-45" dirty="0">
                <a:solidFill>
                  <a:srgbClr val="FF0000"/>
                </a:solidFill>
                <a:latin typeface="Palatino Linotype"/>
                <a:cs typeface="Palatino Linotype"/>
              </a:rPr>
              <a:t> </a:t>
            </a:r>
            <a:r>
              <a:rPr dirty="0">
                <a:solidFill>
                  <a:srgbClr val="FF0000"/>
                </a:solidFill>
                <a:latin typeface="Palatino Linotype"/>
                <a:cs typeface="Palatino Linotype"/>
              </a:rPr>
              <a:t>generate</a:t>
            </a:r>
            <a:r>
              <a:rPr spc="-45" dirty="0">
                <a:solidFill>
                  <a:srgbClr val="FF0000"/>
                </a:solidFill>
                <a:latin typeface="Palatino Linotype"/>
                <a:cs typeface="Palatino Linotype"/>
              </a:rPr>
              <a:t> </a:t>
            </a:r>
            <a:r>
              <a:rPr dirty="0">
                <a:solidFill>
                  <a:srgbClr val="FF0000"/>
                </a:solidFill>
                <a:latin typeface="Palatino Linotype"/>
                <a:cs typeface="Palatino Linotype"/>
              </a:rPr>
              <a:t>store</a:t>
            </a:r>
            <a:r>
              <a:rPr spc="-45" dirty="0">
                <a:solidFill>
                  <a:srgbClr val="FF0000"/>
                </a:solidFill>
                <a:latin typeface="Palatino Linotype"/>
                <a:cs typeface="Palatino Linotype"/>
              </a:rPr>
              <a:t> </a:t>
            </a:r>
            <a:r>
              <a:rPr dirty="0">
                <a:solidFill>
                  <a:srgbClr val="FF0000"/>
                </a:solidFill>
                <a:latin typeface="Palatino Linotype"/>
                <a:cs typeface="Palatino Linotype"/>
              </a:rPr>
              <a:t>instruction</a:t>
            </a:r>
            <a:r>
              <a:rPr spc="-45" dirty="0">
                <a:solidFill>
                  <a:srgbClr val="FF0000"/>
                </a:solidFill>
                <a:latin typeface="Palatino Linotype"/>
                <a:cs typeface="Palatino Linotype"/>
              </a:rPr>
              <a:t> </a:t>
            </a:r>
            <a:r>
              <a:rPr dirty="0">
                <a:solidFill>
                  <a:srgbClr val="FF0000"/>
                </a:solidFill>
                <a:latin typeface="Palatino Linotype"/>
                <a:cs typeface="Palatino Linotype"/>
              </a:rPr>
              <a:t>only</a:t>
            </a:r>
            <a:r>
              <a:rPr spc="-50" dirty="0">
                <a:solidFill>
                  <a:srgbClr val="FF0000"/>
                </a:solidFill>
                <a:latin typeface="Palatino Linotype"/>
                <a:cs typeface="Palatino Linotype"/>
              </a:rPr>
              <a:t> </a:t>
            </a:r>
            <a:r>
              <a:rPr spc="-25" dirty="0">
                <a:solidFill>
                  <a:srgbClr val="FF0000"/>
                </a:solidFill>
                <a:latin typeface="Palatino Linotype"/>
                <a:cs typeface="Palatino Linotype"/>
              </a:rPr>
              <a:t>at </a:t>
            </a:r>
            <a:r>
              <a:rPr dirty="0">
                <a:solidFill>
                  <a:srgbClr val="FF0000"/>
                </a:solidFill>
                <a:latin typeface="Palatino Linotype"/>
                <a:cs typeface="Palatino Linotype"/>
              </a:rPr>
              <a:t>block</a:t>
            </a:r>
            <a:r>
              <a:rPr spc="-60" dirty="0">
                <a:solidFill>
                  <a:srgbClr val="FF0000"/>
                </a:solidFill>
                <a:latin typeface="Palatino Linotype"/>
                <a:cs typeface="Palatino Linotype"/>
              </a:rPr>
              <a:t> </a:t>
            </a:r>
            <a:r>
              <a:rPr dirty="0">
                <a:solidFill>
                  <a:srgbClr val="FF0000"/>
                </a:solidFill>
                <a:latin typeface="Palatino Linotype"/>
                <a:cs typeface="Palatino Linotype"/>
              </a:rPr>
              <a:t>exit?</a:t>
            </a:r>
            <a:r>
              <a:rPr spc="-25" dirty="0">
                <a:solidFill>
                  <a:srgbClr val="FF0000"/>
                </a:solidFill>
                <a:latin typeface="Palatino Linotype"/>
                <a:cs typeface="Palatino Linotype"/>
              </a:rPr>
              <a:t> </a:t>
            </a:r>
            <a:r>
              <a:rPr dirty="0">
                <a:solidFill>
                  <a:srgbClr val="FF0000"/>
                </a:solidFill>
                <a:latin typeface="Palatino Linotype"/>
                <a:cs typeface="Palatino Linotype"/>
              </a:rPr>
              <a:t>Why</a:t>
            </a:r>
            <a:r>
              <a:rPr spc="-30" dirty="0">
                <a:solidFill>
                  <a:srgbClr val="FF0000"/>
                </a:solidFill>
                <a:latin typeface="Palatino Linotype"/>
                <a:cs typeface="Palatino Linotype"/>
              </a:rPr>
              <a:t> </a:t>
            </a:r>
            <a:r>
              <a:rPr dirty="0">
                <a:solidFill>
                  <a:srgbClr val="FF0000"/>
                </a:solidFill>
                <a:latin typeface="Palatino Linotype"/>
                <a:cs typeface="Palatino Linotype"/>
              </a:rPr>
              <a:t>only</a:t>
            </a:r>
            <a:r>
              <a:rPr spc="-35" dirty="0">
                <a:solidFill>
                  <a:srgbClr val="FF0000"/>
                </a:solidFill>
                <a:latin typeface="Palatino Linotype"/>
                <a:cs typeface="Palatino Linotype"/>
              </a:rPr>
              <a:t> </a:t>
            </a:r>
            <a:r>
              <a:rPr dirty="0">
                <a:solidFill>
                  <a:srgbClr val="FF0000"/>
                </a:solidFill>
                <a:latin typeface="Palatino Linotype"/>
                <a:cs typeface="Palatino Linotype"/>
              </a:rPr>
              <a:t>for</a:t>
            </a:r>
            <a:r>
              <a:rPr spc="-25" dirty="0">
                <a:solidFill>
                  <a:srgbClr val="FF0000"/>
                </a:solidFill>
                <a:latin typeface="Palatino Linotype"/>
                <a:cs typeface="Palatino Linotype"/>
              </a:rPr>
              <a:t> </a:t>
            </a:r>
            <a:r>
              <a:rPr dirty="0">
                <a:solidFill>
                  <a:srgbClr val="FF0000"/>
                </a:solidFill>
                <a:latin typeface="Consolas"/>
                <a:cs typeface="Consolas"/>
              </a:rPr>
              <a:t>a</a:t>
            </a:r>
            <a:r>
              <a:rPr spc="-545" dirty="0">
                <a:solidFill>
                  <a:srgbClr val="FF0000"/>
                </a:solidFill>
                <a:latin typeface="Consolas"/>
                <a:cs typeface="Consolas"/>
              </a:rPr>
              <a:t> </a:t>
            </a:r>
            <a:r>
              <a:rPr dirty="0">
                <a:solidFill>
                  <a:srgbClr val="FF0000"/>
                </a:solidFill>
                <a:latin typeface="Palatino Linotype"/>
                <a:cs typeface="Palatino Linotype"/>
              </a:rPr>
              <a:t>and</a:t>
            </a:r>
            <a:r>
              <a:rPr spc="-25" dirty="0">
                <a:solidFill>
                  <a:srgbClr val="FF0000"/>
                </a:solidFill>
                <a:latin typeface="Palatino Linotype"/>
                <a:cs typeface="Palatino Linotype"/>
              </a:rPr>
              <a:t> </a:t>
            </a:r>
            <a:r>
              <a:rPr spc="-25" dirty="0">
                <a:solidFill>
                  <a:srgbClr val="FF0000"/>
                </a:solidFill>
                <a:latin typeface="Consolas"/>
                <a:cs typeface="Consolas"/>
              </a:rPr>
              <a:t>d</a:t>
            </a:r>
            <a:r>
              <a:rPr spc="-25" dirty="0">
                <a:solidFill>
                  <a:srgbClr val="FF0000"/>
                </a:solidFill>
                <a:latin typeface="Palatino Linotype"/>
                <a:cs typeface="Palatino Linotype"/>
              </a:rPr>
              <a:t>?</a:t>
            </a:r>
            <a:endParaRPr>
              <a:solidFill>
                <a:sysClr val="windowText" lastClr="000000"/>
              </a:solidFill>
              <a:latin typeface="Palatino Linotype"/>
              <a:cs typeface="Palatino Linotype"/>
            </a:endParaRPr>
          </a:p>
        </p:txBody>
      </p:sp>
      <p:pic>
        <p:nvPicPr>
          <p:cNvPr id="30" name="object 12">
            <a:extLst>
              <a:ext uri="{FF2B5EF4-FFF2-40B4-BE49-F238E27FC236}">
                <a16:creationId xmlns:a16="http://schemas.microsoft.com/office/drawing/2014/main" id="{79D04BD9-0A74-C6F9-4628-FA634EF78B23}"/>
              </a:ext>
            </a:extLst>
          </p:cNvPr>
          <p:cNvPicPr/>
          <p:nvPr/>
        </p:nvPicPr>
        <p:blipFill>
          <a:blip r:embed="rId4" cstate="print"/>
          <a:stretch>
            <a:fillRect/>
          </a:stretch>
        </p:blipFill>
        <p:spPr>
          <a:xfrm>
            <a:off x="7874943" y="279132"/>
            <a:ext cx="697000" cy="697001"/>
          </a:xfrm>
          <a:prstGeom prst="rect">
            <a:avLst/>
          </a:prstGeom>
        </p:spPr>
      </p:pic>
      <p:sp>
        <p:nvSpPr>
          <p:cNvPr id="31" name="object 13">
            <a:extLst>
              <a:ext uri="{FF2B5EF4-FFF2-40B4-BE49-F238E27FC236}">
                <a16:creationId xmlns:a16="http://schemas.microsoft.com/office/drawing/2014/main" id="{E5490A9C-25AA-AC05-50A0-BAC63EB93BA6}"/>
              </a:ext>
            </a:extLst>
          </p:cNvPr>
          <p:cNvSpPr txBox="1"/>
          <p:nvPr/>
        </p:nvSpPr>
        <p:spPr>
          <a:xfrm>
            <a:off x="2764789" y="4470907"/>
            <a:ext cx="5939155" cy="208279"/>
          </a:xfrm>
          <a:prstGeom prst="rect">
            <a:avLst/>
          </a:prstGeom>
        </p:spPr>
        <p:txBody>
          <a:bodyPr vert="horz" wrap="square" lIns="0" tIns="12700" rIns="0" bIns="0" rtlCol="0">
            <a:spAutoFit/>
          </a:bodyPr>
          <a:lstStyle/>
          <a:p>
            <a:pPr marL="12700">
              <a:spcBef>
                <a:spcPts val="100"/>
              </a:spcBef>
            </a:pPr>
            <a:r>
              <a:rPr sz="1200" dirty="0">
                <a:solidFill>
                  <a:srgbClr val="FF0000"/>
                </a:solidFill>
                <a:latin typeface="Palatino Linotype"/>
                <a:cs typeface="Palatino Linotype"/>
              </a:rPr>
              <a:t>There</a:t>
            </a:r>
            <a:r>
              <a:rPr sz="1200" spc="-60" dirty="0">
                <a:solidFill>
                  <a:srgbClr val="FF0000"/>
                </a:solidFill>
                <a:latin typeface="Palatino Linotype"/>
                <a:cs typeface="Palatino Linotype"/>
              </a:rPr>
              <a:t> </a:t>
            </a:r>
            <a:r>
              <a:rPr sz="1200" dirty="0">
                <a:solidFill>
                  <a:srgbClr val="FF0000"/>
                </a:solidFill>
                <a:latin typeface="Palatino Linotype"/>
                <a:cs typeface="Palatino Linotype"/>
              </a:rPr>
              <a:t>is</a:t>
            </a:r>
            <a:r>
              <a:rPr sz="1200" spc="-15" dirty="0">
                <a:solidFill>
                  <a:srgbClr val="FF0000"/>
                </a:solidFill>
                <a:latin typeface="Palatino Linotype"/>
                <a:cs typeface="Palatino Linotype"/>
              </a:rPr>
              <a:t> </a:t>
            </a:r>
            <a:r>
              <a:rPr sz="1200" dirty="0">
                <a:solidFill>
                  <a:srgbClr val="FF0000"/>
                </a:solidFill>
                <a:latin typeface="Palatino Linotype"/>
                <a:cs typeface="Palatino Linotype"/>
              </a:rPr>
              <a:t>no</a:t>
            </a:r>
            <a:r>
              <a:rPr sz="1200" spc="-25" dirty="0">
                <a:solidFill>
                  <a:srgbClr val="FF0000"/>
                </a:solidFill>
                <a:latin typeface="Palatino Linotype"/>
                <a:cs typeface="Palatino Linotype"/>
              </a:rPr>
              <a:t> </a:t>
            </a:r>
            <a:r>
              <a:rPr sz="1200" dirty="0">
                <a:solidFill>
                  <a:srgbClr val="FF0000"/>
                </a:solidFill>
                <a:latin typeface="Palatino Linotype"/>
                <a:cs typeface="Palatino Linotype"/>
              </a:rPr>
              <a:t>need</a:t>
            </a:r>
            <a:r>
              <a:rPr sz="1200" spc="-20" dirty="0">
                <a:solidFill>
                  <a:srgbClr val="FF0000"/>
                </a:solidFill>
                <a:latin typeface="Palatino Linotype"/>
                <a:cs typeface="Palatino Linotype"/>
              </a:rPr>
              <a:t> </a:t>
            </a:r>
            <a:r>
              <a:rPr sz="1200" dirty="0">
                <a:solidFill>
                  <a:srgbClr val="FF0000"/>
                </a:solidFill>
                <a:latin typeface="Palatino Linotype"/>
                <a:cs typeface="Palatino Linotype"/>
              </a:rPr>
              <a:t>to</a:t>
            </a:r>
            <a:r>
              <a:rPr sz="1200" spc="-25" dirty="0">
                <a:solidFill>
                  <a:srgbClr val="FF0000"/>
                </a:solidFill>
                <a:latin typeface="Palatino Linotype"/>
                <a:cs typeface="Palatino Linotype"/>
              </a:rPr>
              <a:t> </a:t>
            </a:r>
            <a:r>
              <a:rPr sz="1200" dirty="0">
                <a:solidFill>
                  <a:srgbClr val="FF0000"/>
                </a:solidFill>
                <a:latin typeface="Palatino Linotype"/>
                <a:cs typeface="Palatino Linotype"/>
              </a:rPr>
              <a:t>generate</a:t>
            </a:r>
            <a:r>
              <a:rPr sz="1200" spc="-15" dirty="0">
                <a:solidFill>
                  <a:srgbClr val="FF0000"/>
                </a:solidFill>
                <a:latin typeface="Palatino Linotype"/>
                <a:cs typeface="Palatino Linotype"/>
              </a:rPr>
              <a:t> </a:t>
            </a:r>
            <a:r>
              <a:rPr sz="1200" dirty="0">
                <a:solidFill>
                  <a:srgbClr val="FF0000"/>
                </a:solidFill>
                <a:latin typeface="Palatino Linotype"/>
                <a:cs typeface="Palatino Linotype"/>
              </a:rPr>
              <a:t>stores</a:t>
            </a:r>
            <a:r>
              <a:rPr sz="1200" spc="-20" dirty="0">
                <a:solidFill>
                  <a:srgbClr val="FF0000"/>
                </a:solidFill>
                <a:latin typeface="Palatino Linotype"/>
                <a:cs typeface="Palatino Linotype"/>
              </a:rPr>
              <a:t> </a:t>
            </a:r>
            <a:r>
              <a:rPr sz="1200" dirty="0">
                <a:solidFill>
                  <a:srgbClr val="FF0000"/>
                </a:solidFill>
                <a:latin typeface="Palatino Linotype"/>
                <a:cs typeface="Palatino Linotype"/>
              </a:rPr>
              <a:t>for</a:t>
            </a:r>
            <a:r>
              <a:rPr sz="1200" spc="-20" dirty="0">
                <a:solidFill>
                  <a:srgbClr val="FF0000"/>
                </a:solidFill>
                <a:latin typeface="Palatino Linotype"/>
                <a:cs typeface="Palatino Linotype"/>
              </a:rPr>
              <a:t> </a:t>
            </a:r>
            <a:r>
              <a:rPr sz="1200" spc="-10" dirty="0">
                <a:solidFill>
                  <a:srgbClr val="0432FF"/>
                </a:solidFill>
                <a:latin typeface="Consolas"/>
                <a:cs typeface="Consolas"/>
              </a:rPr>
              <a:t>b</a:t>
            </a:r>
            <a:r>
              <a:rPr sz="1200" spc="-360" dirty="0">
                <a:solidFill>
                  <a:srgbClr val="0432FF"/>
                </a:solidFill>
                <a:latin typeface="Consolas"/>
                <a:cs typeface="Consolas"/>
              </a:rPr>
              <a:t> </a:t>
            </a:r>
            <a:r>
              <a:rPr sz="1200" dirty="0">
                <a:solidFill>
                  <a:srgbClr val="FF0000"/>
                </a:solidFill>
                <a:latin typeface="Palatino Linotype"/>
                <a:cs typeface="Palatino Linotype"/>
              </a:rPr>
              <a:t>and</a:t>
            </a:r>
            <a:r>
              <a:rPr sz="1200" spc="-20" dirty="0">
                <a:solidFill>
                  <a:srgbClr val="FF0000"/>
                </a:solidFill>
                <a:latin typeface="Palatino Linotype"/>
                <a:cs typeface="Palatino Linotype"/>
              </a:rPr>
              <a:t> </a:t>
            </a:r>
            <a:r>
              <a:rPr sz="1200" spc="-10" dirty="0">
                <a:solidFill>
                  <a:srgbClr val="0432FF"/>
                </a:solidFill>
                <a:latin typeface="Consolas"/>
                <a:cs typeface="Consolas"/>
              </a:rPr>
              <a:t>c</a:t>
            </a:r>
            <a:r>
              <a:rPr sz="1200" spc="-360" dirty="0">
                <a:solidFill>
                  <a:srgbClr val="0432FF"/>
                </a:solidFill>
                <a:latin typeface="Consolas"/>
                <a:cs typeface="Consolas"/>
              </a:rPr>
              <a:t> </a:t>
            </a:r>
            <a:r>
              <a:rPr sz="1200" dirty="0">
                <a:solidFill>
                  <a:srgbClr val="FF0000"/>
                </a:solidFill>
                <a:latin typeface="Palatino Linotype"/>
                <a:cs typeface="Palatino Linotype"/>
              </a:rPr>
              <a:t>as</a:t>
            </a:r>
            <a:r>
              <a:rPr sz="1200" spc="-15" dirty="0">
                <a:solidFill>
                  <a:srgbClr val="FF0000"/>
                </a:solidFill>
                <a:latin typeface="Palatino Linotype"/>
                <a:cs typeface="Palatino Linotype"/>
              </a:rPr>
              <a:t> </a:t>
            </a:r>
            <a:r>
              <a:rPr sz="1200" dirty="0">
                <a:solidFill>
                  <a:srgbClr val="FF0000"/>
                </a:solidFill>
                <a:latin typeface="Palatino Linotype"/>
                <a:cs typeface="Palatino Linotype"/>
              </a:rPr>
              <a:t>their</a:t>
            </a:r>
            <a:r>
              <a:rPr sz="1200" spc="-20" dirty="0">
                <a:solidFill>
                  <a:srgbClr val="FF0000"/>
                </a:solidFill>
                <a:latin typeface="Palatino Linotype"/>
                <a:cs typeface="Palatino Linotype"/>
              </a:rPr>
              <a:t> </a:t>
            </a:r>
            <a:r>
              <a:rPr sz="1200" dirty="0">
                <a:solidFill>
                  <a:srgbClr val="FF0000"/>
                </a:solidFill>
                <a:latin typeface="Palatino Linotype"/>
                <a:cs typeface="Palatino Linotype"/>
              </a:rPr>
              <a:t>latest</a:t>
            </a:r>
            <a:r>
              <a:rPr sz="1200" spc="-25" dirty="0">
                <a:solidFill>
                  <a:srgbClr val="FF0000"/>
                </a:solidFill>
                <a:latin typeface="Palatino Linotype"/>
                <a:cs typeface="Palatino Linotype"/>
              </a:rPr>
              <a:t> </a:t>
            </a:r>
            <a:r>
              <a:rPr sz="1200" dirty="0">
                <a:solidFill>
                  <a:srgbClr val="FF0000"/>
                </a:solidFill>
                <a:latin typeface="Palatino Linotype"/>
                <a:cs typeface="Palatino Linotype"/>
              </a:rPr>
              <a:t>value</a:t>
            </a:r>
            <a:r>
              <a:rPr sz="1200" spc="-15" dirty="0">
                <a:solidFill>
                  <a:srgbClr val="FF0000"/>
                </a:solidFill>
                <a:latin typeface="Palatino Linotype"/>
                <a:cs typeface="Palatino Linotype"/>
              </a:rPr>
              <a:t> </a:t>
            </a:r>
            <a:r>
              <a:rPr sz="1200" dirty="0">
                <a:solidFill>
                  <a:srgbClr val="FF0000"/>
                </a:solidFill>
                <a:latin typeface="Palatino Linotype"/>
                <a:cs typeface="Palatino Linotype"/>
              </a:rPr>
              <a:t>is</a:t>
            </a:r>
            <a:r>
              <a:rPr sz="1200" spc="-20" dirty="0">
                <a:solidFill>
                  <a:srgbClr val="FF0000"/>
                </a:solidFill>
                <a:latin typeface="Palatino Linotype"/>
                <a:cs typeface="Palatino Linotype"/>
              </a:rPr>
              <a:t> </a:t>
            </a:r>
            <a:r>
              <a:rPr sz="1200" dirty="0">
                <a:solidFill>
                  <a:srgbClr val="FF0000"/>
                </a:solidFill>
                <a:latin typeface="Palatino Linotype"/>
                <a:cs typeface="Palatino Linotype"/>
              </a:rPr>
              <a:t>already</a:t>
            </a:r>
            <a:r>
              <a:rPr sz="1200" spc="-25" dirty="0">
                <a:solidFill>
                  <a:srgbClr val="FF0000"/>
                </a:solidFill>
                <a:latin typeface="Palatino Linotype"/>
                <a:cs typeface="Palatino Linotype"/>
              </a:rPr>
              <a:t> </a:t>
            </a:r>
            <a:r>
              <a:rPr sz="1200" dirty="0">
                <a:solidFill>
                  <a:srgbClr val="FF0000"/>
                </a:solidFill>
                <a:latin typeface="Palatino Linotype"/>
                <a:cs typeface="Palatino Linotype"/>
              </a:rPr>
              <a:t>in</a:t>
            </a:r>
            <a:r>
              <a:rPr sz="1200" spc="-20" dirty="0">
                <a:solidFill>
                  <a:srgbClr val="FF0000"/>
                </a:solidFill>
                <a:latin typeface="Palatino Linotype"/>
                <a:cs typeface="Palatino Linotype"/>
              </a:rPr>
              <a:t> </a:t>
            </a:r>
            <a:r>
              <a:rPr sz="1200" spc="-10" dirty="0">
                <a:solidFill>
                  <a:srgbClr val="FF0000"/>
                </a:solidFill>
                <a:latin typeface="Palatino Linotype"/>
                <a:cs typeface="Palatino Linotype"/>
              </a:rPr>
              <a:t>memory</a:t>
            </a:r>
            <a:endParaRPr sz="1200">
              <a:solidFill>
                <a:sysClr val="windowText" lastClr="000000"/>
              </a:solidFill>
              <a:latin typeface="Palatino Linotype"/>
              <a:cs typeface="Palatino Linotype"/>
            </a:endParaRPr>
          </a:p>
        </p:txBody>
      </p:sp>
      <p:grpSp>
        <p:nvGrpSpPr>
          <p:cNvPr id="32" name="object 14">
            <a:extLst>
              <a:ext uri="{FF2B5EF4-FFF2-40B4-BE49-F238E27FC236}">
                <a16:creationId xmlns:a16="http://schemas.microsoft.com/office/drawing/2014/main" id="{195B9F81-7E98-ED8B-2F57-AEE50AFB9951}"/>
              </a:ext>
            </a:extLst>
          </p:cNvPr>
          <p:cNvGrpSpPr/>
          <p:nvPr/>
        </p:nvGrpSpPr>
        <p:grpSpPr>
          <a:xfrm>
            <a:off x="5408929" y="3783329"/>
            <a:ext cx="957580" cy="668655"/>
            <a:chOff x="5408929" y="3783329"/>
            <a:chExt cx="957580" cy="668655"/>
          </a:xfrm>
        </p:grpSpPr>
        <p:sp>
          <p:nvSpPr>
            <p:cNvPr id="33" name="object 15">
              <a:extLst>
                <a:ext uri="{FF2B5EF4-FFF2-40B4-BE49-F238E27FC236}">
                  <a16:creationId xmlns:a16="http://schemas.microsoft.com/office/drawing/2014/main" id="{44D0D771-B86E-38AD-8508-2EF2B6204814}"/>
                </a:ext>
              </a:extLst>
            </p:cNvPr>
            <p:cNvSpPr/>
            <p:nvPr/>
          </p:nvSpPr>
          <p:spPr>
            <a:xfrm>
              <a:off x="5415279" y="3789679"/>
              <a:ext cx="944880" cy="467359"/>
            </a:xfrm>
            <a:custGeom>
              <a:avLst/>
              <a:gdLst/>
              <a:ahLst/>
              <a:cxnLst/>
              <a:rect l="l" t="t" r="r" b="b"/>
              <a:pathLst>
                <a:path w="944879" h="467360">
                  <a:moveTo>
                    <a:pt x="0" y="0"/>
                  </a:moveTo>
                  <a:lnTo>
                    <a:pt x="944880" y="0"/>
                  </a:lnTo>
                  <a:lnTo>
                    <a:pt x="944880" y="467360"/>
                  </a:lnTo>
                  <a:lnTo>
                    <a:pt x="0" y="467360"/>
                  </a:lnTo>
                  <a:lnTo>
                    <a:pt x="0" y="0"/>
                  </a:lnTo>
                  <a:close/>
                </a:path>
              </a:pathLst>
            </a:custGeom>
            <a:ln w="12700">
              <a:solidFill>
                <a:srgbClr val="0432FF"/>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pic>
          <p:nvPicPr>
            <p:cNvPr id="34" name="object 16">
              <a:extLst>
                <a:ext uri="{FF2B5EF4-FFF2-40B4-BE49-F238E27FC236}">
                  <a16:creationId xmlns:a16="http://schemas.microsoft.com/office/drawing/2014/main" id="{BB171A4C-FA05-C090-FAF2-A34A8FBE666B}"/>
                </a:ext>
              </a:extLst>
            </p:cNvPr>
            <p:cNvPicPr/>
            <p:nvPr/>
          </p:nvPicPr>
          <p:blipFill>
            <a:blip r:embed="rId5" cstate="print"/>
            <a:stretch>
              <a:fillRect/>
            </a:stretch>
          </p:blipFill>
          <p:spPr>
            <a:xfrm>
              <a:off x="5763527" y="4253623"/>
              <a:ext cx="129545" cy="198009"/>
            </a:xfrm>
            <a:prstGeom prst="rect">
              <a:avLst/>
            </a:prstGeom>
          </p:spPr>
        </p:pic>
      </p:grpSp>
    </p:spTree>
    <p:extLst>
      <p:ext uri="{BB962C8B-B14F-4D97-AF65-F5344CB8AC3E}">
        <p14:creationId xmlns:p14="http://schemas.microsoft.com/office/powerpoint/2010/main" val="98455195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70</a:t>
            </a:fld>
            <a:endParaRPr lang="en-US"/>
          </a:p>
        </p:txBody>
      </p:sp>
      <p:sp>
        <p:nvSpPr>
          <p:cNvPr id="7" name="object 2">
            <a:extLst>
              <a:ext uri="{FF2B5EF4-FFF2-40B4-BE49-F238E27FC236}">
                <a16:creationId xmlns:a16="http://schemas.microsoft.com/office/drawing/2014/main" id="{579E66AC-8943-E1AB-7E68-F28E6EFBA66B}"/>
              </a:ext>
            </a:extLst>
          </p:cNvPr>
          <p:cNvSpPr txBox="1">
            <a:spLocks/>
          </p:cNvSpPr>
          <p:nvPr/>
        </p:nvSpPr>
        <p:spPr>
          <a:xfrm>
            <a:off x="707390" y="524763"/>
            <a:ext cx="7729219" cy="63500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4000" b="1" i="0" u="none" strike="noStrike" kern="0" cap="none" spc="0" normalizeH="0" baseline="0" noProof="0">
                <a:ln>
                  <a:noFill/>
                </a:ln>
                <a:solidFill>
                  <a:sysClr val="windowText" lastClr="000000"/>
                </a:solidFill>
                <a:effectLst/>
                <a:uLnTx/>
                <a:uFillTx/>
                <a:latin typeface="Palatino Linotype"/>
                <a:ea typeface="+mj-ea"/>
              </a:rPr>
              <a:t>Design</a:t>
            </a:r>
            <a:r>
              <a:rPr kumimoji="0" lang="en-US" sz="4000" b="1" i="0" u="none" strike="noStrike" kern="0" cap="none" spc="-60" normalizeH="0" baseline="0" noProof="0">
                <a:ln>
                  <a:noFill/>
                </a:ln>
                <a:solidFill>
                  <a:sysClr val="windowText" lastClr="000000"/>
                </a:solidFill>
                <a:effectLst/>
                <a:uLnTx/>
                <a:uFillTx/>
                <a:latin typeface="Palatino Linotype"/>
                <a:ea typeface="+mj-ea"/>
              </a:rPr>
              <a:t> </a:t>
            </a:r>
            <a:r>
              <a:rPr kumimoji="0" lang="en-US" sz="4000" b="1" i="0" u="none" strike="noStrike" kern="0" cap="none" spc="0" normalizeH="0" baseline="0" noProof="0">
                <a:ln>
                  <a:noFill/>
                </a:ln>
                <a:solidFill>
                  <a:sysClr val="windowText" lastClr="000000"/>
                </a:solidFill>
                <a:effectLst/>
                <a:uLnTx/>
                <a:uFillTx/>
                <a:latin typeface="Palatino Linotype"/>
                <a:ea typeface="+mj-ea"/>
              </a:rPr>
              <a:t>of</a:t>
            </a:r>
            <a:r>
              <a:rPr kumimoji="0" lang="en-US" sz="4000" b="1" i="0" u="none" strike="noStrike" kern="0" cap="none" spc="-45" normalizeH="0" baseline="0" noProof="0">
                <a:ln>
                  <a:noFill/>
                </a:ln>
                <a:solidFill>
                  <a:sysClr val="windowText" lastClr="000000"/>
                </a:solidFill>
                <a:effectLst/>
                <a:uLnTx/>
                <a:uFillTx/>
                <a:latin typeface="Palatino Linotype"/>
                <a:ea typeface="+mj-ea"/>
              </a:rPr>
              <a:t> </a:t>
            </a:r>
            <a:r>
              <a:rPr kumimoji="0" lang="en-US" sz="4000" b="1" i="0" u="none" strike="noStrike" kern="0" cap="none" spc="0" normalizeH="0" baseline="0" noProof="0">
                <a:ln>
                  <a:noFill/>
                </a:ln>
                <a:solidFill>
                  <a:sysClr val="windowText" lastClr="000000"/>
                </a:solidFill>
                <a:effectLst/>
                <a:uLnTx/>
                <a:uFillTx/>
                <a:latin typeface="Palatino Linotype"/>
                <a:ea typeface="+mj-ea"/>
              </a:rPr>
              <a:t>the</a:t>
            </a:r>
            <a:r>
              <a:rPr kumimoji="0" lang="en-US" sz="4000" b="1" i="0" u="none" strike="noStrike" kern="0" cap="none" spc="-50" normalizeH="0" baseline="0" noProof="0">
                <a:ln>
                  <a:noFill/>
                </a:ln>
                <a:solidFill>
                  <a:sysClr val="windowText" lastClr="000000"/>
                </a:solidFill>
                <a:effectLst/>
                <a:uLnTx/>
                <a:uFillTx/>
                <a:latin typeface="Palatino Linotype"/>
                <a:ea typeface="+mj-ea"/>
              </a:rPr>
              <a:t> </a:t>
            </a:r>
            <a:r>
              <a:rPr kumimoji="0" lang="en-US" sz="4000" b="1" i="0" u="none" strike="noStrike" kern="0" cap="none" spc="0" normalizeH="0" baseline="0" noProof="0">
                <a:ln>
                  <a:noFill/>
                </a:ln>
                <a:solidFill>
                  <a:sysClr val="windowText" lastClr="000000"/>
                </a:solidFill>
                <a:effectLst/>
                <a:uLnTx/>
                <a:uFillTx/>
                <a:latin typeface="Palatino Linotype"/>
                <a:ea typeface="+mj-ea"/>
              </a:rPr>
              <a:t>Function</a:t>
            </a:r>
            <a:r>
              <a:rPr kumimoji="0" lang="en-US" sz="4000" b="1" i="0" u="none" strike="noStrike" kern="0" cap="none" spc="-60" normalizeH="0" baseline="0" noProof="0">
                <a:ln>
                  <a:noFill/>
                </a:ln>
                <a:solidFill>
                  <a:sysClr val="windowText" lastClr="000000"/>
                </a:solidFill>
                <a:effectLst/>
                <a:uLnTx/>
                <a:uFillTx/>
                <a:latin typeface="Palatino Linotype"/>
                <a:ea typeface="+mj-ea"/>
              </a:rPr>
              <a:t> </a:t>
            </a:r>
            <a:r>
              <a:rPr kumimoji="0" lang="en-US" sz="4000" b="0" i="0" u="none" strike="noStrike" kern="0" cap="none" spc="-10" normalizeH="0" baseline="0" noProof="0">
                <a:ln>
                  <a:noFill/>
                </a:ln>
                <a:solidFill>
                  <a:sysClr val="windowText" lastClr="000000"/>
                </a:solidFill>
                <a:effectLst/>
                <a:uLnTx/>
                <a:uFillTx/>
                <a:latin typeface="Cambria Math"/>
                <a:ea typeface="+mj-ea"/>
                <a:cs typeface="Cambria Math"/>
              </a:rPr>
              <a:t>𝑔𝑒𝑡𝑅𝑒𝑔</a:t>
            </a:r>
            <a:endParaRPr kumimoji="0" lang="en-US" sz="4000" b="0" i="0" u="none" strike="noStrike" kern="0" cap="none" spc="-10" normalizeH="0" baseline="0" noProof="0" dirty="0">
              <a:ln>
                <a:noFill/>
              </a:ln>
              <a:solidFill>
                <a:sysClr val="windowText" lastClr="000000"/>
              </a:solidFill>
              <a:effectLst/>
              <a:uLnTx/>
              <a:uFillTx/>
              <a:latin typeface="Cambria Math"/>
              <a:ea typeface="+mj-ea"/>
              <a:cs typeface="Cambria Math"/>
            </a:endParaRPr>
          </a:p>
        </p:txBody>
      </p:sp>
      <p:sp>
        <p:nvSpPr>
          <p:cNvPr id="8" name="object 3">
            <a:extLst>
              <a:ext uri="{FF2B5EF4-FFF2-40B4-BE49-F238E27FC236}">
                <a16:creationId xmlns:a16="http://schemas.microsoft.com/office/drawing/2014/main" id="{341F3ABE-B75F-2747-E7F5-3D063AD468FA}"/>
              </a:ext>
            </a:extLst>
          </p:cNvPr>
          <p:cNvSpPr txBox="1"/>
          <p:nvPr/>
        </p:nvSpPr>
        <p:spPr>
          <a:xfrm>
            <a:off x="588449" y="1659635"/>
            <a:ext cx="7897495" cy="4130040"/>
          </a:xfrm>
          <a:prstGeom prst="rect">
            <a:avLst/>
          </a:prstGeom>
        </p:spPr>
        <p:txBody>
          <a:bodyPr vert="horz" wrap="square" lIns="0" tIns="12700" rIns="0" bIns="0" rtlCol="0">
            <a:spAutoFit/>
          </a:bodyPr>
          <a:lstStyle/>
          <a:p>
            <a:pPr marL="306070" indent="-229870">
              <a:spcBef>
                <a:spcPts val="100"/>
              </a:spcBef>
              <a:buFont typeface="Arial MT"/>
              <a:buChar char="•"/>
              <a:tabLst>
                <a:tab pos="306070" algn="l"/>
              </a:tabLst>
            </a:pPr>
            <a:r>
              <a:rPr sz="2000" b="1" dirty="0">
                <a:solidFill>
                  <a:sysClr val="windowText" lastClr="000000"/>
                </a:solidFill>
                <a:latin typeface="Palatino Linotype"/>
                <a:cs typeface="Palatino Linotype"/>
              </a:rPr>
              <a:t>Goal:</a:t>
            </a:r>
            <a:r>
              <a:rPr sz="2000" b="1" spc="-40" dirty="0">
                <a:solidFill>
                  <a:sysClr val="windowText" lastClr="000000"/>
                </a:solidFill>
                <a:latin typeface="Palatino Linotype"/>
                <a:cs typeface="Palatino Linotype"/>
              </a:rPr>
              <a:t> </a:t>
            </a:r>
            <a:r>
              <a:rPr sz="2000" spc="-25" dirty="0">
                <a:solidFill>
                  <a:sysClr val="windowText" lastClr="000000"/>
                </a:solidFill>
                <a:latin typeface="Palatino Linotype"/>
                <a:cs typeface="Palatino Linotype"/>
              </a:rPr>
              <a:t>Avoid</a:t>
            </a:r>
            <a:r>
              <a:rPr sz="2000" spc="-3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too</a:t>
            </a:r>
            <a:r>
              <a:rPr sz="2000" spc="-3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much</a:t>
            </a:r>
            <a:r>
              <a:rPr sz="2000" spc="-3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data</a:t>
            </a:r>
            <a:r>
              <a:rPr sz="2000" spc="-3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exchange</a:t>
            </a:r>
            <a:r>
              <a:rPr sz="2000" spc="-3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with</a:t>
            </a:r>
            <a:r>
              <a:rPr sz="2000" spc="-3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memory</a:t>
            </a:r>
            <a:r>
              <a:rPr sz="2000" spc="-3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(by</a:t>
            </a:r>
            <a:r>
              <a:rPr sz="2000" spc="-30" dirty="0">
                <a:solidFill>
                  <a:sysClr val="windowText" lastClr="000000"/>
                </a:solidFill>
                <a:latin typeface="Palatino Linotype"/>
                <a:cs typeface="Palatino Linotype"/>
              </a:rPr>
              <a:t> </a:t>
            </a:r>
            <a:r>
              <a:rPr sz="2000" dirty="0">
                <a:solidFill>
                  <a:srgbClr val="0432FF"/>
                </a:solidFill>
                <a:latin typeface="Palatino Linotype"/>
                <a:cs typeface="Palatino Linotype"/>
              </a:rPr>
              <a:t>LD</a:t>
            </a:r>
            <a:r>
              <a:rPr sz="2000" spc="-30" dirty="0">
                <a:solidFill>
                  <a:srgbClr val="0432FF"/>
                </a:solidFill>
                <a:latin typeface="Palatino Linotype"/>
                <a:cs typeface="Palatino Linotype"/>
              </a:rPr>
              <a:t> </a:t>
            </a:r>
            <a:r>
              <a:rPr sz="2000" dirty="0">
                <a:solidFill>
                  <a:sysClr val="windowText" lastClr="000000"/>
                </a:solidFill>
                <a:latin typeface="Palatino Linotype"/>
                <a:cs typeface="Palatino Linotype"/>
              </a:rPr>
              <a:t>and</a:t>
            </a:r>
            <a:r>
              <a:rPr sz="2000" spc="-35" dirty="0">
                <a:solidFill>
                  <a:sysClr val="windowText" lastClr="000000"/>
                </a:solidFill>
                <a:latin typeface="Palatino Linotype"/>
                <a:cs typeface="Palatino Linotype"/>
              </a:rPr>
              <a:t> </a:t>
            </a:r>
            <a:r>
              <a:rPr sz="2000" spc="-25" dirty="0">
                <a:solidFill>
                  <a:srgbClr val="0432FF"/>
                </a:solidFill>
                <a:latin typeface="Palatino Linotype"/>
                <a:cs typeface="Palatino Linotype"/>
              </a:rPr>
              <a:t>ST</a:t>
            </a:r>
            <a:r>
              <a:rPr sz="2000" spc="-25" dirty="0">
                <a:solidFill>
                  <a:sysClr val="windowText" lastClr="000000"/>
                </a:solidFill>
                <a:latin typeface="Palatino Linotype"/>
                <a:cs typeface="Palatino Linotype"/>
              </a:rPr>
              <a:t>)</a:t>
            </a:r>
            <a:endParaRPr sz="2000">
              <a:solidFill>
                <a:sysClr val="windowText" lastClr="000000"/>
              </a:solidFill>
              <a:latin typeface="Palatino Linotype"/>
              <a:cs typeface="Palatino Linotype"/>
            </a:endParaRPr>
          </a:p>
          <a:p>
            <a:pPr>
              <a:spcBef>
                <a:spcPts val="85"/>
              </a:spcBef>
              <a:buFont typeface="Arial MT"/>
              <a:buChar char="•"/>
            </a:pPr>
            <a:endParaRPr sz="2000">
              <a:solidFill>
                <a:sysClr val="windowText" lastClr="000000"/>
              </a:solidFill>
              <a:latin typeface="Palatino Linotype"/>
              <a:cs typeface="Palatino Linotype"/>
            </a:endParaRPr>
          </a:p>
          <a:p>
            <a:pPr marL="306070" indent="-229870">
              <a:buFont typeface="Arial MT"/>
              <a:buChar char="•"/>
              <a:tabLst>
                <a:tab pos="306070" algn="l"/>
              </a:tabLst>
            </a:pPr>
            <a:r>
              <a:rPr sz="2000" b="1" spc="-25" dirty="0">
                <a:solidFill>
                  <a:sysClr val="windowText" lastClr="000000"/>
                </a:solidFill>
                <a:latin typeface="Palatino Linotype"/>
                <a:cs typeface="Palatino Linotype"/>
              </a:rPr>
              <a:t>Task:</a:t>
            </a:r>
            <a:r>
              <a:rPr sz="2000" b="1" spc="-40" dirty="0">
                <a:solidFill>
                  <a:sysClr val="windowText" lastClr="000000"/>
                </a:solidFill>
                <a:latin typeface="Palatino Linotype"/>
                <a:cs typeface="Palatino Linotype"/>
              </a:rPr>
              <a:t> </a:t>
            </a:r>
            <a:r>
              <a:rPr sz="2000" dirty="0">
                <a:solidFill>
                  <a:srgbClr val="0432FF"/>
                </a:solidFill>
                <a:latin typeface="Palatino Linotype"/>
                <a:cs typeface="Palatino Linotype"/>
              </a:rPr>
              <a:t>Pick</a:t>
            </a:r>
            <a:r>
              <a:rPr sz="2000" spc="-35" dirty="0">
                <a:solidFill>
                  <a:srgbClr val="0432FF"/>
                </a:solidFill>
                <a:latin typeface="Palatino Linotype"/>
                <a:cs typeface="Palatino Linotype"/>
              </a:rPr>
              <a:t> </a:t>
            </a:r>
            <a:r>
              <a:rPr sz="2000" dirty="0">
                <a:solidFill>
                  <a:srgbClr val="0432FF"/>
                </a:solidFill>
                <a:latin typeface="Palatino Linotype"/>
                <a:cs typeface="Palatino Linotype"/>
              </a:rPr>
              <a:t>registers</a:t>
            </a:r>
            <a:r>
              <a:rPr sz="2000" spc="-35" dirty="0">
                <a:solidFill>
                  <a:srgbClr val="0432FF"/>
                </a:solidFill>
                <a:latin typeface="Palatino Linotype"/>
                <a:cs typeface="Palatino Linotype"/>
              </a:rPr>
              <a:t> </a:t>
            </a:r>
            <a:r>
              <a:rPr sz="2000" dirty="0">
                <a:solidFill>
                  <a:sysClr val="windowText" lastClr="000000"/>
                </a:solidFill>
                <a:latin typeface="Palatino Linotype"/>
                <a:cs typeface="Palatino Linotype"/>
              </a:rPr>
              <a:t>for</a:t>
            </a:r>
            <a:r>
              <a:rPr sz="2000" spc="-40" dirty="0">
                <a:solidFill>
                  <a:sysClr val="windowText" lastClr="000000"/>
                </a:solidFill>
                <a:latin typeface="Palatino Linotype"/>
                <a:cs typeface="Palatino Linotype"/>
              </a:rPr>
              <a:t> </a:t>
            </a:r>
            <a:r>
              <a:rPr sz="2000" u="sng" dirty="0">
                <a:solidFill>
                  <a:srgbClr val="FF0000"/>
                </a:solidFill>
                <a:uFill>
                  <a:solidFill>
                    <a:srgbClr val="FF0000"/>
                  </a:solidFill>
                </a:uFill>
                <a:latin typeface="Palatino Linotype"/>
                <a:cs typeface="Palatino Linotype"/>
              </a:rPr>
              <a:t>operands</a:t>
            </a:r>
            <a:r>
              <a:rPr sz="2000" spc="-35" dirty="0">
                <a:solidFill>
                  <a:srgbClr val="FF0000"/>
                </a:solidFill>
                <a:latin typeface="Palatino Linotype"/>
                <a:cs typeface="Palatino Linotype"/>
              </a:rPr>
              <a:t> </a:t>
            </a:r>
            <a:r>
              <a:rPr sz="2000" dirty="0">
                <a:solidFill>
                  <a:sysClr val="windowText" lastClr="000000"/>
                </a:solidFill>
                <a:latin typeface="Palatino Linotype"/>
                <a:cs typeface="Palatino Linotype"/>
              </a:rPr>
              <a:t>and</a:t>
            </a:r>
            <a:r>
              <a:rPr sz="2000" spc="-35" dirty="0">
                <a:solidFill>
                  <a:sysClr val="windowText" lastClr="000000"/>
                </a:solidFill>
                <a:latin typeface="Palatino Linotype"/>
                <a:cs typeface="Palatino Linotype"/>
              </a:rPr>
              <a:t> </a:t>
            </a:r>
            <a:r>
              <a:rPr sz="2000" u="sng" dirty="0">
                <a:solidFill>
                  <a:srgbClr val="FF0000"/>
                </a:solidFill>
                <a:uFill>
                  <a:solidFill>
                    <a:srgbClr val="FF0000"/>
                  </a:solidFill>
                </a:uFill>
                <a:latin typeface="Palatino Linotype"/>
                <a:cs typeface="Palatino Linotype"/>
              </a:rPr>
              <a:t>result</a:t>
            </a:r>
            <a:r>
              <a:rPr sz="2000" spc="-40" dirty="0">
                <a:solidFill>
                  <a:srgbClr val="FF0000"/>
                </a:solidFill>
                <a:latin typeface="Palatino Linotype"/>
                <a:cs typeface="Palatino Linotype"/>
              </a:rPr>
              <a:t> </a:t>
            </a:r>
            <a:r>
              <a:rPr sz="2000" dirty="0">
                <a:solidFill>
                  <a:sysClr val="windowText" lastClr="000000"/>
                </a:solidFill>
                <a:latin typeface="Palatino Linotype"/>
                <a:cs typeface="Palatino Linotype"/>
              </a:rPr>
              <a:t>of</a:t>
            </a:r>
            <a:r>
              <a:rPr sz="2000" spc="-4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each</a:t>
            </a:r>
            <a:r>
              <a:rPr sz="2000" spc="-40" dirty="0">
                <a:solidFill>
                  <a:sysClr val="windowText" lastClr="000000"/>
                </a:solidFill>
                <a:latin typeface="Palatino Linotype"/>
                <a:cs typeface="Palatino Linotype"/>
              </a:rPr>
              <a:t> </a:t>
            </a:r>
            <a:r>
              <a:rPr sz="2000" spc="-10" dirty="0">
                <a:solidFill>
                  <a:sysClr val="windowText" lastClr="000000"/>
                </a:solidFill>
                <a:latin typeface="Palatino Linotype"/>
                <a:cs typeface="Palatino Linotype"/>
              </a:rPr>
              <a:t>three-</a:t>
            </a:r>
            <a:r>
              <a:rPr sz="2000" dirty="0">
                <a:solidFill>
                  <a:sysClr val="windowText" lastClr="000000"/>
                </a:solidFill>
                <a:latin typeface="Palatino Linotype"/>
                <a:cs typeface="Palatino Linotype"/>
              </a:rPr>
              <a:t>addr</a:t>
            </a:r>
            <a:r>
              <a:rPr sz="2000" spc="-40" dirty="0">
                <a:solidFill>
                  <a:sysClr val="windowText" lastClr="000000"/>
                </a:solidFill>
                <a:latin typeface="Palatino Linotype"/>
                <a:cs typeface="Palatino Linotype"/>
              </a:rPr>
              <a:t> </a:t>
            </a:r>
            <a:r>
              <a:rPr sz="2000" spc="-20" dirty="0">
                <a:solidFill>
                  <a:sysClr val="windowText" lastClr="000000"/>
                </a:solidFill>
                <a:latin typeface="Palatino Linotype"/>
                <a:cs typeface="Palatino Linotype"/>
              </a:rPr>
              <a:t>inst</a:t>
            </a:r>
            <a:endParaRPr sz="2000">
              <a:solidFill>
                <a:sysClr val="windowText" lastClr="000000"/>
              </a:solidFill>
              <a:latin typeface="Palatino Linotype"/>
              <a:cs typeface="Palatino Linotype"/>
            </a:endParaRPr>
          </a:p>
          <a:p>
            <a:pPr>
              <a:spcBef>
                <a:spcPts val="395"/>
              </a:spcBef>
              <a:buFont typeface="Arial MT"/>
              <a:buChar char="•"/>
            </a:pPr>
            <a:endParaRPr sz="2000">
              <a:solidFill>
                <a:sysClr val="windowText" lastClr="000000"/>
              </a:solidFill>
              <a:latin typeface="Palatino Linotype"/>
              <a:cs typeface="Palatino Linotype"/>
            </a:endParaRPr>
          </a:p>
          <a:p>
            <a:pPr marL="306070" indent="-229870">
              <a:buClr>
                <a:srgbClr val="000000"/>
              </a:buClr>
              <a:buFont typeface="Arial MT"/>
              <a:buChar char="•"/>
              <a:tabLst>
                <a:tab pos="306070" algn="l"/>
              </a:tabLst>
            </a:pPr>
            <a:r>
              <a:rPr sz="2000" dirty="0">
                <a:solidFill>
                  <a:srgbClr val="FF0000"/>
                </a:solidFill>
                <a:latin typeface="Palatino Linotype"/>
                <a:cs typeface="Palatino Linotype"/>
              </a:rPr>
              <a:t>For</a:t>
            </a:r>
            <a:r>
              <a:rPr sz="2000" spc="-25" dirty="0">
                <a:solidFill>
                  <a:srgbClr val="FF0000"/>
                </a:solidFill>
                <a:latin typeface="Palatino Linotype"/>
                <a:cs typeface="Palatino Linotype"/>
              </a:rPr>
              <a:t> </a:t>
            </a:r>
            <a:r>
              <a:rPr sz="2000" dirty="0">
                <a:solidFill>
                  <a:srgbClr val="FF0000"/>
                </a:solidFill>
                <a:latin typeface="Palatino Linotype"/>
                <a:cs typeface="Palatino Linotype"/>
              </a:rPr>
              <a:t>the</a:t>
            </a:r>
            <a:r>
              <a:rPr sz="2000" spc="-20" dirty="0">
                <a:solidFill>
                  <a:srgbClr val="FF0000"/>
                </a:solidFill>
                <a:latin typeface="Palatino Linotype"/>
                <a:cs typeface="Palatino Linotype"/>
              </a:rPr>
              <a:t> </a:t>
            </a:r>
            <a:r>
              <a:rPr sz="2000" dirty="0">
                <a:solidFill>
                  <a:srgbClr val="FF0000"/>
                </a:solidFill>
                <a:latin typeface="Palatino Linotype"/>
                <a:cs typeface="Palatino Linotype"/>
              </a:rPr>
              <a:t>generic</a:t>
            </a:r>
            <a:r>
              <a:rPr sz="2000" spc="-20" dirty="0">
                <a:solidFill>
                  <a:srgbClr val="FF0000"/>
                </a:solidFill>
                <a:latin typeface="Palatino Linotype"/>
                <a:cs typeface="Palatino Linotype"/>
              </a:rPr>
              <a:t> </a:t>
            </a:r>
            <a:r>
              <a:rPr sz="2000" dirty="0">
                <a:solidFill>
                  <a:srgbClr val="FF0000"/>
                </a:solidFill>
                <a:latin typeface="Palatino Linotype"/>
                <a:cs typeface="Palatino Linotype"/>
              </a:rPr>
              <a:t>example</a:t>
            </a:r>
            <a:r>
              <a:rPr sz="2000" spc="-20" dirty="0">
                <a:solidFill>
                  <a:srgbClr val="FF0000"/>
                </a:solidFill>
                <a:latin typeface="Palatino Linotype"/>
                <a:cs typeface="Palatino Linotype"/>
              </a:rPr>
              <a:t> </a:t>
            </a:r>
            <a:r>
              <a:rPr sz="2000" dirty="0">
                <a:solidFill>
                  <a:srgbClr val="FF0000"/>
                </a:solidFill>
                <a:latin typeface="Cambria Math"/>
                <a:cs typeface="Cambria Math"/>
              </a:rPr>
              <a:t>𝑥</a:t>
            </a:r>
            <a:r>
              <a:rPr sz="2000" spc="150" dirty="0">
                <a:solidFill>
                  <a:srgbClr val="FF0000"/>
                </a:solidFill>
                <a:latin typeface="Cambria Math"/>
                <a:cs typeface="Cambria Math"/>
              </a:rPr>
              <a:t> </a:t>
            </a:r>
            <a:r>
              <a:rPr sz="2000" dirty="0">
                <a:solidFill>
                  <a:srgbClr val="FF0000"/>
                </a:solidFill>
                <a:latin typeface="Cambria Math"/>
                <a:cs typeface="Cambria Math"/>
              </a:rPr>
              <a:t>=</a:t>
            </a:r>
            <a:r>
              <a:rPr sz="2000" spc="100" dirty="0">
                <a:solidFill>
                  <a:srgbClr val="FF0000"/>
                </a:solidFill>
                <a:latin typeface="Cambria Math"/>
                <a:cs typeface="Cambria Math"/>
              </a:rPr>
              <a:t> </a:t>
            </a:r>
            <a:r>
              <a:rPr sz="2000" dirty="0">
                <a:solidFill>
                  <a:srgbClr val="FF0000"/>
                </a:solidFill>
                <a:latin typeface="Cambria Math"/>
                <a:cs typeface="Cambria Math"/>
              </a:rPr>
              <a:t>𝑦</a:t>
            </a:r>
            <a:r>
              <a:rPr sz="2000" spc="20" dirty="0">
                <a:solidFill>
                  <a:srgbClr val="FF0000"/>
                </a:solidFill>
                <a:latin typeface="Cambria Math"/>
                <a:cs typeface="Cambria Math"/>
              </a:rPr>
              <a:t> </a:t>
            </a:r>
            <a:r>
              <a:rPr sz="2000" dirty="0">
                <a:solidFill>
                  <a:srgbClr val="FF0000"/>
                </a:solidFill>
                <a:latin typeface="Cambria Math"/>
                <a:cs typeface="Cambria Math"/>
              </a:rPr>
              <a:t>+</a:t>
            </a:r>
            <a:r>
              <a:rPr sz="2000" spc="-10" dirty="0">
                <a:solidFill>
                  <a:srgbClr val="FF0000"/>
                </a:solidFill>
                <a:latin typeface="Cambria Math"/>
                <a:cs typeface="Cambria Math"/>
              </a:rPr>
              <a:t> </a:t>
            </a:r>
            <a:r>
              <a:rPr sz="2000" dirty="0">
                <a:solidFill>
                  <a:srgbClr val="FF0000"/>
                </a:solidFill>
                <a:latin typeface="Cambria Math"/>
                <a:cs typeface="Cambria Math"/>
              </a:rPr>
              <a:t>𝑧</a:t>
            </a:r>
            <a:r>
              <a:rPr sz="2000" dirty="0">
                <a:solidFill>
                  <a:sysClr val="windowText" lastClr="000000"/>
                </a:solidFill>
                <a:latin typeface="Palatino Linotype"/>
                <a:cs typeface="Palatino Linotype"/>
              </a:rPr>
              <a:t>,</a:t>
            </a:r>
            <a:r>
              <a:rPr sz="2000" spc="-1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pick</a:t>
            </a:r>
            <a:r>
              <a:rPr sz="2000" spc="-2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register</a:t>
            </a:r>
            <a:r>
              <a:rPr sz="2000" spc="-20" dirty="0">
                <a:solidFill>
                  <a:sysClr val="windowText" lastClr="000000"/>
                </a:solidFill>
                <a:latin typeface="Palatino Linotype"/>
                <a:cs typeface="Palatino Linotype"/>
              </a:rPr>
              <a:t> </a:t>
            </a:r>
            <a:r>
              <a:rPr sz="2000" spc="90" dirty="0">
                <a:solidFill>
                  <a:sysClr val="windowText" lastClr="000000"/>
                </a:solidFill>
                <a:latin typeface="Cambria Math"/>
                <a:cs typeface="Cambria Math"/>
              </a:rPr>
              <a:t>R</a:t>
            </a:r>
            <a:r>
              <a:rPr sz="2250" spc="135" baseline="-14814" dirty="0">
                <a:solidFill>
                  <a:sysClr val="windowText" lastClr="000000"/>
                </a:solidFill>
                <a:latin typeface="Cambria Math"/>
                <a:cs typeface="Cambria Math"/>
              </a:rPr>
              <a:t>y</a:t>
            </a:r>
            <a:r>
              <a:rPr sz="2250" spc="300" baseline="-14814" dirty="0">
                <a:solidFill>
                  <a:sysClr val="windowText" lastClr="000000"/>
                </a:solidFill>
                <a:latin typeface="Cambria Math"/>
                <a:cs typeface="Cambria Math"/>
              </a:rPr>
              <a:t> </a:t>
            </a:r>
            <a:r>
              <a:rPr sz="2000" dirty="0">
                <a:solidFill>
                  <a:sysClr val="windowText" lastClr="000000"/>
                </a:solidFill>
                <a:latin typeface="Palatino Linotype"/>
                <a:cs typeface="Palatino Linotype"/>
              </a:rPr>
              <a:t>for</a:t>
            </a:r>
            <a:r>
              <a:rPr sz="2000" spc="-2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operand</a:t>
            </a:r>
            <a:r>
              <a:rPr sz="2000" spc="-15" dirty="0">
                <a:solidFill>
                  <a:sysClr val="windowText" lastClr="000000"/>
                </a:solidFill>
                <a:latin typeface="Palatino Linotype"/>
                <a:cs typeface="Palatino Linotype"/>
              </a:rPr>
              <a:t> </a:t>
            </a:r>
            <a:r>
              <a:rPr sz="2000" spc="-25" dirty="0">
                <a:solidFill>
                  <a:sysClr val="windowText" lastClr="000000"/>
                </a:solidFill>
                <a:latin typeface="Cambria Math"/>
                <a:cs typeface="Cambria Math"/>
              </a:rPr>
              <a:t>y</a:t>
            </a:r>
            <a:r>
              <a:rPr sz="2000" spc="-25" dirty="0">
                <a:solidFill>
                  <a:sysClr val="windowText" lastClr="000000"/>
                </a:solidFill>
                <a:latin typeface="Palatino Linotype"/>
                <a:cs typeface="Palatino Linotype"/>
              </a:rPr>
              <a:t>:</a:t>
            </a:r>
            <a:endParaRPr sz="2000">
              <a:solidFill>
                <a:sysClr val="windowText" lastClr="000000"/>
              </a:solidFill>
              <a:latin typeface="Palatino Linotype"/>
              <a:cs typeface="Palatino Linotype"/>
            </a:endParaRPr>
          </a:p>
          <a:p>
            <a:pPr marL="761365" marR="138430" lvl="1" indent="-228600">
              <a:lnSpc>
                <a:spcPct val="125000"/>
              </a:lnSpc>
              <a:spcBef>
                <a:spcPts val="1340"/>
              </a:spcBef>
              <a:buClr>
                <a:srgbClr val="000000"/>
              </a:buClr>
              <a:buFont typeface="Wingdings"/>
              <a:buChar char=""/>
              <a:tabLst>
                <a:tab pos="761365" algn="l"/>
              </a:tabLst>
            </a:pPr>
            <a:r>
              <a:rPr sz="1600" b="1" dirty="0">
                <a:solidFill>
                  <a:srgbClr val="0432FF"/>
                </a:solidFill>
                <a:latin typeface="Palatino Linotype"/>
                <a:cs typeface="Palatino Linotype"/>
              </a:rPr>
              <a:t>Case</a:t>
            </a:r>
            <a:r>
              <a:rPr sz="1600" b="1" spc="-25" dirty="0">
                <a:solidFill>
                  <a:srgbClr val="0432FF"/>
                </a:solidFill>
                <a:latin typeface="Palatino Linotype"/>
                <a:cs typeface="Palatino Linotype"/>
              </a:rPr>
              <a:t> </a:t>
            </a:r>
            <a:r>
              <a:rPr sz="1600" b="1" dirty="0">
                <a:solidFill>
                  <a:srgbClr val="0432FF"/>
                </a:solidFill>
                <a:latin typeface="Palatino Linotype"/>
                <a:cs typeface="Palatino Linotype"/>
              </a:rPr>
              <a:t>1:</a:t>
            </a:r>
            <a:r>
              <a:rPr sz="1600" b="1" spc="-25" dirty="0">
                <a:solidFill>
                  <a:srgbClr val="0432FF"/>
                </a:solidFill>
                <a:latin typeface="Palatino Linotype"/>
                <a:cs typeface="Palatino Linotype"/>
              </a:rPr>
              <a:t> </a:t>
            </a:r>
            <a:r>
              <a:rPr sz="1600" dirty="0">
                <a:solidFill>
                  <a:sysClr val="windowText" lastClr="000000"/>
                </a:solidFill>
                <a:latin typeface="Palatino Linotype"/>
                <a:cs typeface="Palatino Linotype"/>
              </a:rPr>
              <a:t>If</a:t>
            </a:r>
            <a:r>
              <a:rPr sz="1600" spc="-20" dirty="0">
                <a:solidFill>
                  <a:sysClr val="windowText" lastClr="000000"/>
                </a:solidFill>
                <a:latin typeface="Palatino Linotype"/>
                <a:cs typeface="Palatino Linotype"/>
              </a:rPr>
              <a:t> </a:t>
            </a:r>
            <a:r>
              <a:rPr sz="1600" dirty="0">
                <a:solidFill>
                  <a:sysClr val="windowText" lastClr="000000"/>
                </a:solidFill>
                <a:latin typeface="Cambria Math"/>
                <a:cs typeface="Cambria Math"/>
              </a:rPr>
              <a:t>y</a:t>
            </a:r>
            <a:r>
              <a:rPr sz="1600" spc="30" dirty="0">
                <a:solidFill>
                  <a:sysClr val="windowText" lastClr="000000"/>
                </a:solidFill>
                <a:latin typeface="Cambria Math"/>
                <a:cs typeface="Cambria Math"/>
              </a:rPr>
              <a:t> </a:t>
            </a:r>
            <a:r>
              <a:rPr sz="1600" dirty="0">
                <a:solidFill>
                  <a:sysClr val="windowText" lastClr="000000"/>
                </a:solidFill>
                <a:latin typeface="Palatino Linotype"/>
                <a:cs typeface="Palatino Linotype"/>
              </a:rPr>
              <a:t>is</a:t>
            </a:r>
            <a:r>
              <a:rPr sz="1600" spc="-25"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currently</a:t>
            </a:r>
            <a:r>
              <a:rPr sz="1600" spc="-25"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in</a:t>
            </a:r>
            <a:r>
              <a:rPr sz="1600" spc="-15"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a</a:t>
            </a:r>
            <a:r>
              <a:rPr sz="1600" spc="-20"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register,</a:t>
            </a:r>
            <a:r>
              <a:rPr sz="1600" spc="-25"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pick</a:t>
            </a:r>
            <a:r>
              <a:rPr sz="1600" spc="-25"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a</a:t>
            </a:r>
            <a:r>
              <a:rPr sz="1600" spc="-20"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register</a:t>
            </a:r>
            <a:r>
              <a:rPr sz="1600" spc="-15"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already</a:t>
            </a:r>
            <a:r>
              <a:rPr sz="1600" spc="-25"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containing</a:t>
            </a:r>
            <a:r>
              <a:rPr sz="1600" spc="-25" dirty="0">
                <a:solidFill>
                  <a:sysClr val="windowText" lastClr="000000"/>
                </a:solidFill>
                <a:latin typeface="Palatino Linotype"/>
                <a:cs typeface="Palatino Linotype"/>
              </a:rPr>
              <a:t> </a:t>
            </a:r>
            <a:r>
              <a:rPr sz="1600" dirty="0">
                <a:solidFill>
                  <a:sysClr val="windowText" lastClr="000000"/>
                </a:solidFill>
                <a:latin typeface="Cambria Math"/>
                <a:cs typeface="Cambria Math"/>
              </a:rPr>
              <a:t>y</a:t>
            </a:r>
            <a:r>
              <a:rPr sz="1600" spc="30" dirty="0">
                <a:solidFill>
                  <a:sysClr val="windowText" lastClr="000000"/>
                </a:solidFill>
                <a:latin typeface="Cambria Math"/>
                <a:cs typeface="Cambria Math"/>
              </a:rPr>
              <a:t> </a:t>
            </a:r>
            <a:r>
              <a:rPr sz="1600" dirty="0">
                <a:solidFill>
                  <a:sysClr val="windowText" lastClr="000000"/>
                </a:solidFill>
                <a:latin typeface="Palatino Linotype"/>
                <a:cs typeface="Palatino Linotype"/>
              </a:rPr>
              <a:t>as</a:t>
            </a:r>
            <a:r>
              <a:rPr sz="1600" spc="-25" dirty="0">
                <a:solidFill>
                  <a:sysClr val="windowText" lastClr="000000"/>
                </a:solidFill>
                <a:latin typeface="Palatino Linotype"/>
                <a:cs typeface="Palatino Linotype"/>
              </a:rPr>
              <a:t> </a:t>
            </a:r>
            <a:r>
              <a:rPr sz="1600" spc="40" dirty="0">
                <a:solidFill>
                  <a:sysClr val="windowText" lastClr="000000"/>
                </a:solidFill>
                <a:latin typeface="Cambria Math"/>
                <a:cs typeface="Cambria Math"/>
              </a:rPr>
              <a:t>R</a:t>
            </a:r>
            <a:r>
              <a:rPr spc="60" baseline="-13888" dirty="0">
                <a:solidFill>
                  <a:sysClr val="windowText" lastClr="000000"/>
                </a:solidFill>
                <a:latin typeface="Cambria Math"/>
                <a:cs typeface="Cambria Math"/>
              </a:rPr>
              <a:t>y</a:t>
            </a:r>
            <a:r>
              <a:rPr sz="1600" spc="40"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Nothing</a:t>
            </a:r>
            <a:r>
              <a:rPr sz="1600" spc="-25"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else</a:t>
            </a:r>
            <a:r>
              <a:rPr sz="1600" spc="-25"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needs</a:t>
            </a:r>
            <a:r>
              <a:rPr sz="1600" spc="-20"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to</a:t>
            </a:r>
            <a:r>
              <a:rPr sz="1600" spc="-20"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be</a:t>
            </a:r>
            <a:r>
              <a:rPr sz="1600" spc="-20" dirty="0">
                <a:solidFill>
                  <a:sysClr val="windowText" lastClr="000000"/>
                </a:solidFill>
                <a:latin typeface="Palatino Linotype"/>
                <a:cs typeface="Palatino Linotype"/>
              </a:rPr>
              <a:t> done.</a:t>
            </a:r>
            <a:endParaRPr sz="1600">
              <a:solidFill>
                <a:sysClr val="windowText" lastClr="000000"/>
              </a:solidFill>
              <a:latin typeface="Palatino Linotype"/>
              <a:cs typeface="Palatino Linotype"/>
            </a:endParaRPr>
          </a:p>
          <a:p>
            <a:pPr marL="761365" marR="367665" lvl="1" indent="-228600">
              <a:lnSpc>
                <a:spcPct val="125000"/>
              </a:lnSpc>
              <a:spcBef>
                <a:spcPts val="1800"/>
              </a:spcBef>
              <a:buClr>
                <a:srgbClr val="000000"/>
              </a:buClr>
              <a:buFont typeface="Wingdings"/>
              <a:buChar char=""/>
              <a:tabLst>
                <a:tab pos="761365" algn="l"/>
              </a:tabLst>
            </a:pPr>
            <a:r>
              <a:rPr sz="1600" b="1" dirty="0">
                <a:solidFill>
                  <a:srgbClr val="0432FF"/>
                </a:solidFill>
                <a:latin typeface="Palatino Linotype"/>
                <a:cs typeface="Palatino Linotype"/>
              </a:rPr>
              <a:t>Case</a:t>
            </a:r>
            <a:r>
              <a:rPr sz="1600" b="1" spc="-20" dirty="0">
                <a:solidFill>
                  <a:srgbClr val="0432FF"/>
                </a:solidFill>
                <a:latin typeface="Palatino Linotype"/>
                <a:cs typeface="Palatino Linotype"/>
              </a:rPr>
              <a:t> </a:t>
            </a:r>
            <a:r>
              <a:rPr sz="1600" b="1" dirty="0">
                <a:solidFill>
                  <a:srgbClr val="0432FF"/>
                </a:solidFill>
                <a:latin typeface="Palatino Linotype"/>
                <a:cs typeface="Palatino Linotype"/>
              </a:rPr>
              <a:t>2:</a:t>
            </a:r>
            <a:r>
              <a:rPr sz="1600" b="1" spc="-25" dirty="0">
                <a:solidFill>
                  <a:srgbClr val="0432FF"/>
                </a:solidFill>
                <a:latin typeface="Palatino Linotype"/>
                <a:cs typeface="Palatino Linotype"/>
              </a:rPr>
              <a:t> </a:t>
            </a:r>
            <a:r>
              <a:rPr sz="1600" dirty="0">
                <a:solidFill>
                  <a:sysClr val="windowText" lastClr="000000"/>
                </a:solidFill>
                <a:latin typeface="Palatino Linotype"/>
                <a:cs typeface="Palatino Linotype"/>
              </a:rPr>
              <a:t>If</a:t>
            </a:r>
            <a:r>
              <a:rPr sz="1600" spc="-20" dirty="0">
                <a:solidFill>
                  <a:sysClr val="windowText" lastClr="000000"/>
                </a:solidFill>
                <a:latin typeface="Palatino Linotype"/>
                <a:cs typeface="Palatino Linotype"/>
              </a:rPr>
              <a:t> </a:t>
            </a:r>
            <a:r>
              <a:rPr sz="1600" dirty="0">
                <a:solidFill>
                  <a:sysClr val="windowText" lastClr="000000"/>
                </a:solidFill>
                <a:latin typeface="Cambria Math"/>
                <a:cs typeface="Cambria Math"/>
              </a:rPr>
              <a:t>y</a:t>
            </a:r>
            <a:r>
              <a:rPr sz="1600" spc="30" dirty="0">
                <a:solidFill>
                  <a:sysClr val="windowText" lastClr="000000"/>
                </a:solidFill>
                <a:latin typeface="Cambria Math"/>
                <a:cs typeface="Cambria Math"/>
              </a:rPr>
              <a:t> </a:t>
            </a:r>
            <a:r>
              <a:rPr sz="1600" dirty="0">
                <a:solidFill>
                  <a:sysClr val="windowText" lastClr="000000"/>
                </a:solidFill>
                <a:latin typeface="Palatino Linotype"/>
                <a:cs typeface="Palatino Linotype"/>
              </a:rPr>
              <a:t>is</a:t>
            </a:r>
            <a:r>
              <a:rPr sz="1600" spc="-25"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not</a:t>
            </a:r>
            <a:r>
              <a:rPr sz="1600" spc="-20"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in</a:t>
            </a:r>
            <a:r>
              <a:rPr sz="1600" spc="-15"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a</a:t>
            </a:r>
            <a:r>
              <a:rPr sz="1600" spc="-20"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register,</a:t>
            </a:r>
            <a:r>
              <a:rPr sz="1600" spc="-20"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but</a:t>
            </a:r>
            <a:r>
              <a:rPr sz="1600" spc="-15"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there</a:t>
            </a:r>
            <a:r>
              <a:rPr sz="1600" spc="-25"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is</a:t>
            </a:r>
            <a:r>
              <a:rPr sz="1600" spc="-25"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a</a:t>
            </a:r>
            <a:r>
              <a:rPr sz="1600" spc="-20"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register</a:t>
            </a:r>
            <a:r>
              <a:rPr sz="1600" spc="-15"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that</a:t>
            </a:r>
            <a:r>
              <a:rPr sz="1600" spc="-20"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is</a:t>
            </a:r>
            <a:r>
              <a:rPr sz="1600" spc="-25"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currently</a:t>
            </a:r>
            <a:r>
              <a:rPr sz="1600" spc="-25" dirty="0">
                <a:solidFill>
                  <a:sysClr val="windowText" lastClr="000000"/>
                </a:solidFill>
                <a:latin typeface="Palatino Linotype"/>
                <a:cs typeface="Palatino Linotype"/>
              </a:rPr>
              <a:t> </a:t>
            </a:r>
            <a:r>
              <a:rPr sz="1600" spc="-10" dirty="0">
                <a:solidFill>
                  <a:sysClr val="windowText" lastClr="000000"/>
                </a:solidFill>
                <a:latin typeface="Palatino Linotype"/>
                <a:cs typeface="Palatino Linotype"/>
              </a:rPr>
              <a:t>empty, </a:t>
            </a:r>
            <a:r>
              <a:rPr sz="1600" dirty="0">
                <a:solidFill>
                  <a:sysClr val="windowText" lastClr="000000"/>
                </a:solidFill>
                <a:latin typeface="Palatino Linotype"/>
                <a:cs typeface="Palatino Linotype"/>
              </a:rPr>
              <a:t>pick</a:t>
            </a:r>
            <a:r>
              <a:rPr sz="1600" spc="-25"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one</a:t>
            </a:r>
            <a:r>
              <a:rPr sz="1600" spc="-25"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such</a:t>
            </a:r>
            <a:r>
              <a:rPr sz="1600" spc="-15"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register</a:t>
            </a:r>
            <a:r>
              <a:rPr sz="1600" spc="-15"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as</a:t>
            </a:r>
            <a:r>
              <a:rPr sz="1600" spc="-25" dirty="0">
                <a:solidFill>
                  <a:sysClr val="windowText" lastClr="000000"/>
                </a:solidFill>
                <a:latin typeface="Palatino Linotype"/>
                <a:cs typeface="Palatino Linotype"/>
              </a:rPr>
              <a:t> </a:t>
            </a:r>
            <a:r>
              <a:rPr sz="1600" spc="45" dirty="0">
                <a:solidFill>
                  <a:sysClr val="windowText" lastClr="000000"/>
                </a:solidFill>
                <a:latin typeface="Cambria Math"/>
                <a:cs typeface="Cambria Math"/>
              </a:rPr>
              <a:t>R</a:t>
            </a:r>
            <a:r>
              <a:rPr spc="67" baseline="-13888" dirty="0">
                <a:solidFill>
                  <a:sysClr val="windowText" lastClr="000000"/>
                </a:solidFill>
                <a:latin typeface="Cambria Math"/>
                <a:cs typeface="Cambria Math"/>
              </a:rPr>
              <a:t>y</a:t>
            </a:r>
            <a:endParaRPr baseline="-13888">
              <a:solidFill>
                <a:sysClr val="windowText" lastClr="000000"/>
              </a:solidFill>
              <a:latin typeface="Cambria Math"/>
              <a:cs typeface="Cambria Math"/>
            </a:endParaRPr>
          </a:p>
          <a:p>
            <a:pPr marL="0" lvl="1">
              <a:spcBef>
                <a:spcPts val="15"/>
              </a:spcBef>
              <a:buFont typeface="Wingdings"/>
              <a:buChar char=""/>
            </a:pPr>
            <a:endParaRPr sz="1600">
              <a:solidFill>
                <a:sysClr val="windowText" lastClr="000000"/>
              </a:solidFill>
              <a:latin typeface="Cambria Math"/>
              <a:cs typeface="Cambria Math"/>
            </a:endParaRPr>
          </a:p>
          <a:p>
            <a:pPr marL="761365" marR="132080" lvl="1" indent="-228600">
              <a:lnSpc>
                <a:spcPct val="120000"/>
              </a:lnSpc>
              <a:spcBef>
                <a:spcPts val="5"/>
              </a:spcBef>
              <a:buClr>
                <a:srgbClr val="000000"/>
              </a:buClr>
              <a:buFont typeface="Wingdings"/>
              <a:buChar char=""/>
              <a:tabLst>
                <a:tab pos="761365" algn="l"/>
              </a:tabLst>
            </a:pPr>
            <a:r>
              <a:rPr sz="1600" b="1" dirty="0">
                <a:solidFill>
                  <a:srgbClr val="FF0000"/>
                </a:solidFill>
                <a:latin typeface="Palatino Linotype"/>
                <a:cs typeface="Palatino Linotype"/>
              </a:rPr>
              <a:t>Case</a:t>
            </a:r>
            <a:r>
              <a:rPr sz="1600" b="1" spc="-20" dirty="0">
                <a:solidFill>
                  <a:srgbClr val="FF0000"/>
                </a:solidFill>
                <a:latin typeface="Palatino Linotype"/>
                <a:cs typeface="Palatino Linotype"/>
              </a:rPr>
              <a:t> </a:t>
            </a:r>
            <a:r>
              <a:rPr sz="1600" b="1" dirty="0">
                <a:solidFill>
                  <a:srgbClr val="FF0000"/>
                </a:solidFill>
                <a:latin typeface="Palatino Linotype"/>
                <a:cs typeface="Palatino Linotype"/>
              </a:rPr>
              <a:t>3:</a:t>
            </a:r>
            <a:r>
              <a:rPr sz="1600" b="1" spc="-25" dirty="0">
                <a:solidFill>
                  <a:srgbClr val="FF0000"/>
                </a:solidFill>
                <a:latin typeface="Palatino Linotype"/>
                <a:cs typeface="Palatino Linotype"/>
              </a:rPr>
              <a:t> </a:t>
            </a:r>
            <a:r>
              <a:rPr sz="1600" dirty="0">
                <a:solidFill>
                  <a:srgbClr val="FF0000"/>
                </a:solidFill>
                <a:latin typeface="Palatino Linotype"/>
                <a:cs typeface="Palatino Linotype"/>
              </a:rPr>
              <a:t>What</a:t>
            </a:r>
            <a:r>
              <a:rPr sz="1600" spc="-15" dirty="0">
                <a:solidFill>
                  <a:srgbClr val="FF0000"/>
                </a:solidFill>
                <a:latin typeface="Palatino Linotype"/>
                <a:cs typeface="Palatino Linotype"/>
              </a:rPr>
              <a:t> </a:t>
            </a:r>
            <a:r>
              <a:rPr sz="1600" dirty="0">
                <a:solidFill>
                  <a:srgbClr val="FF0000"/>
                </a:solidFill>
                <a:latin typeface="Palatino Linotype"/>
                <a:cs typeface="Palatino Linotype"/>
              </a:rPr>
              <a:t>if</a:t>
            </a:r>
            <a:r>
              <a:rPr sz="1600" spc="-15" dirty="0">
                <a:solidFill>
                  <a:srgbClr val="FF0000"/>
                </a:solidFill>
                <a:latin typeface="Palatino Linotype"/>
                <a:cs typeface="Palatino Linotype"/>
              </a:rPr>
              <a:t> </a:t>
            </a:r>
            <a:r>
              <a:rPr sz="1600" dirty="0">
                <a:solidFill>
                  <a:srgbClr val="FF0000"/>
                </a:solidFill>
                <a:latin typeface="Cambria Math"/>
                <a:cs typeface="Cambria Math"/>
              </a:rPr>
              <a:t>y</a:t>
            </a:r>
            <a:r>
              <a:rPr sz="1600" spc="35" dirty="0">
                <a:solidFill>
                  <a:srgbClr val="FF0000"/>
                </a:solidFill>
                <a:latin typeface="Cambria Math"/>
                <a:cs typeface="Cambria Math"/>
              </a:rPr>
              <a:t> </a:t>
            </a:r>
            <a:r>
              <a:rPr sz="1600" dirty="0">
                <a:solidFill>
                  <a:srgbClr val="FF0000"/>
                </a:solidFill>
                <a:latin typeface="Palatino Linotype"/>
                <a:cs typeface="Palatino Linotype"/>
              </a:rPr>
              <a:t>is</a:t>
            </a:r>
            <a:r>
              <a:rPr sz="1600" spc="-25" dirty="0">
                <a:solidFill>
                  <a:srgbClr val="FF0000"/>
                </a:solidFill>
                <a:latin typeface="Palatino Linotype"/>
                <a:cs typeface="Palatino Linotype"/>
              </a:rPr>
              <a:t> </a:t>
            </a:r>
            <a:r>
              <a:rPr sz="1600" dirty="0">
                <a:solidFill>
                  <a:srgbClr val="FF0000"/>
                </a:solidFill>
                <a:latin typeface="Palatino Linotype"/>
                <a:cs typeface="Palatino Linotype"/>
              </a:rPr>
              <a:t>not</a:t>
            </a:r>
            <a:r>
              <a:rPr sz="1600" spc="-15" dirty="0">
                <a:solidFill>
                  <a:srgbClr val="FF0000"/>
                </a:solidFill>
                <a:latin typeface="Palatino Linotype"/>
                <a:cs typeface="Palatino Linotype"/>
              </a:rPr>
              <a:t> </a:t>
            </a:r>
            <a:r>
              <a:rPr sz="1600" dirty="0">
                <a:solidFill>
                  <a:srgbClr val="FF0000"/>
                </a:solidFill>
                <a:latin typeface="Palatino Linotype"/>
                <a:cs typeface="Palatino Linotype"/>
              </a:rPr>
              <a:t>in</a:t>
            </a:r>
            <a:r>
              <a:rPr sz="1600" spc="-15" dirty="0">
                <a:solidFill>
                  <a:srgbClr val="FF0000"/>
                </a:solidFill>
                <a:latin typeface="Palatino Linotype"/>
                <a:cs typeface="Palatino Linotype"/>
              </a:rPr>
              <a:t> </a:t>
            </a:r>
            <a:r>
              <a:rPr sz="1600" dirty="0">
                <a:solidFill>
                  <a:srgbClr val="FF0000"/>
                </a:solidFill>
                <a:latin typeface="Palatino Linotype"/>
                <a:cs typeface="Palatino Linotype"/>
              </a:rPr>
              <a:t>any</a:t>
            </a:r>
            <a:r>
              <a:rPr sz="1600" spc="-25" dirty="0">
                <a:solidFill>
                  <a:srgbClr val="FF0000"/>
                </a:solidFill>
                <a:latin typeface="Palatino Linotype"/>
                <a:cs typeface="Palatino Linotype"/>
              </a:rPr>
              <a:t> </a:t>
            </a:r>
            <a:r>
              <a:rPr sz="1600" dirty="0">
                <a:solidFill>
                  <a:srgbClr val="FF0000"/>
                </a:solidFill>
                <a:latin typeface="Palatino Linotype"/>
                <a:cs typeface="Palatino Linotype"/>
              </a:rPr>
              <a:t>register</a:t>
            </a:r>
            <a:r>
              <a:rPr sz="1600" spc="-10" dirty="0">
                <a:solidFill>
                  <a:srgbClr val="FF0000"/>
                </a:solidFill>
                <a:latin typeface="Palatino Linotype"/>
                <a:cs typeface="Palatino Linotype"/>
              </a:rPr>
              <a:t> </a:t>
            </a:r>
            <a:r>
              <a:rPr sz="1600" dirty="0">
                <a:solidFill>
                  <a:srgbClr val="FF0000"/>
                </a:solidFill>
                <a:latin typeface="Palatino Linotype"/>
                <a:cs typeface="Palatino Linotype"/>
              </a:rPr>
              <a:t>and</a:t>
            </a:r>
            <a:r>
              <a:rPr sz="1600" spc="-25" dirty="0">
                <a:solidFill>
                  <a:srgbClr val="FF0000"/>
                </a:solidFill>
                <a:latin typeface="Palatino Linotype"/>
                <a:cs typeface="Palatino Linotype"/>
              </a:rPr>
              <a:t> </a:t>
            </a:r>
            <a:r>
              <a:rPr sz="1600" dirty="0">
                <a:solidFill>
                  <a:srgbClr val="FF0000"/>
                </a:solidFill>
                <a:latin typeface="Palatino Linotype"/>
                <a:cs typeface="Palatino Linotype"/>
              </a:rPr>
              <a:t>there</a:t>
            </a:r>
            <a:r>
              <a:rPr sz="1600" spc="-20" dirty="0">
                <a:solidFill>
                  <a:srgbClr val="FF0000"/>
                </a:solidFill>
                <a:latin typeface="Palatino Linotype"/>
                <a:cs typeface="Palatino Linotype"/>
              </a:rPr>
              <a:t> </a:t>
            </a:r>
            <a:r>
              <a:rPr sz="1600" dirty="0">
                <a:solidFill>
                  <a:srgbClr val="FF0000"/>
                </a:solidFill>
                <a:latin typeface="Palatino Linotype"/>
                <a:cs typeface="Palatino Linotype"/>
              </a:rPr>
              <a:t>is</a:t>
            </a:r>
            <a:r>
              <a:rPr sz="1600" spc="-25" dirty="0">
                <a:solidFill>
                  <a:srgbClr val="FF0000"/>
                </a:solidFill>
                <a:latin typeface="Palatino Linotype"/>
                <a:cs typeface="Palatino Linotype"/>
              </a:rPr>
              <a:t> </a:t>
            </a:r>
            <a:r>
              <a:rPr sz="1600" dirty="0">
                <a:solidFill>
                  <a:srgbClr val="FF0000"/>
                </a:solidFill>
                <a:latin typeface="Palatino Linotype"/>
                <a:cs typeface="Palatino Linotype"/>
              </a:rPr>
              <a:t>no</a:t>
            </a:r>
            <a:r>
              <a:rPr sz="1600" spc="-15" dirty="0">
                <a:solidFill>
                  <a:srgbClr val="FF0000"/>
                </a:solidFill>
                <a:latin typeface="Palatino Linotype"/>
                <a:cs typeface="Palatino Linotype"/>
              </a:rPr>
              <a:t> </a:t>
            </a:r>
            <a:r>
              <a:rPr sz="1600" dirty="0">
                <a:solidFill>
                  <a:srgbClr val="FF0000"/>
                </a:solidFill>
                <a:latin typeface="Palatino Linotype"/>
                <a:cs typeface="Palatino Linotype"/>
              </a:rPr>
              <a:t>register</a:t>
            </a:r>
            <a:r>
              <a:rPr sz="1600" spc="-15" dirty="0">
                <a:solidFill>
                  <a:srgbClr val="FF0000"/>
                </a:solidFill>
                <a:latin typeface="Palatino Linotype"/>
                <a:cs typeface="Palatino Linotype"/>
              </a:rPr>
              <a:t> </a:t>
            </a:r>
            <a:r>
              <a:rPr sz="1600" dirty="0">
                <a:solidFill>
                  <a:srgbClr val="FF0000"/>
                </a:solidFill>
                <a:latin typeface="Palatino Linotype"/>
                <a:cs typeface="Palatino Linotype"/>
              </a:rPr>
              <a:t>that</a:t>
            </a:r>
            <a:r>
              <a:rPr sz="1600" spc="-20" dirty="0">
                <a:solidFill>
                  <a:srgbClr val="FF0000"/>
                </a:solidFill>
                <a:latin typeface="Palatino Linotype"/>
                <a:cs typeface="Palatino Linotype"/>
              </a:rPr>
              <a:t> </a:t>
            </a:r>
            <a:r>
              <a:rPr sz="1600" dirty="0">
                <a:solidFill>
                  <a:srgbClr val="FF0000"/>
                </a:solidFill>
                <a:latin typeface="Palatino Linotype"/>
                <a:cs typeface="Palatino Linotype"/>
              </a:rPr>
              <a:t>is</a:t>
            </a:r>
            <a:r>
              <a:rPr sz="1600" spc="-20" dirty="0">
                <a:solidFill>
                  <a:srgbClr val="FF0000"/>
                </a:solidFill>
                <a:latin typeface="Palatino Linotype"/>
                <a:cs typeface="Palatino Linotype"/>
              </a:rPr>
              <a:t> </a:t>
            </a:r>
            <a:r>
              <a:rPr sz="1600" spc="-10" dirty="0">
                <a:solidFill>
                  <a:srgbClr val="FF0000"/>
                </a:solidFill>
                <a:latin typeface="Palatino Linotype"/>
                <a:cs typeface="Palatino Linotype"/>
              </a:rPr>
              <a:t>currently empty?</a:t>
            </a:r>
            <a:endParaRPr sz="1600">
              <a:solidFill>
                <a:sysClr val="windowText" lastClr="000000"/>
              </a:solidFill>
              <a:latin typeface="Palatino Linotype"/>
              <a:cs typeface="Palatino Linotype"/>
            </a:endParaRPr>
          </a:p>
        </p:txBody>
      </p:sp>
    </p:spTree>
    <p:extLst>
      <p:ext uri="{BB962C8B-B14F-4D97-AF65-F5344CB8AC3E}">
        <p14:creationId xmlns:p14="http://schemas.microsoft.com/office/powerpoint/2010/main" val="410013229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71</a:t>
            </a:fld>
            <a:endParaRPr lang="en-US"/>
          </a:p>
        </p:txBody>
      </p:sp>
      <p:sp>
        <p:nvSpPr>
          <p:cNvPr id="8" name="object 2">
            <a:extLst>
              <a:ext uri="{FF2B5EF4-FFF2-40B4-BE49-F238E27FC236}">
                <a16:creationId xmlns:a16="http://schemas.microsoft.com/office/drawing/2014/main" id="{B9021E73-D33D-4CF8-E38F-0D3DD62564C6}"/>
              </a:ext>
            </a:extLst>
          </p:cNvPr>
          <p:cNvSpPr txBox="1">
            <a:spLocks/>
          </p:cNvSpPr>
          <p:nvPr/>
        </p:nvSpPr>
        <p:spPr>
          <a:xfrm>
            <a:off x="707390" y="524763"/>
            <a:ext cx="7729219" cy="63500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4000" b="1" i="0" u="none" strike="noStrike" kern="0" cap="none" spc="0" normalizeH="0" baseline="0" noProof="0">
                <a:ln>
                  <a:noFill/>
                </a:ln>
                <a:solidFill>
                  <a:sysClr val="windowText" lastClr="000000"/>
                </a:solidFill>
                <a:effectLst/>
                <a:uLnTx/>
                <a:uFillTx/>
                <a:latin typeface="Palatino Linotype"/>
                <a:ea typeface="+mj-ea"/>
              </a:rPr>
              <a:t>Design</a:t>
            </a:r>
            <a:r>
              <a:rPr kumimoji="0" lang="en-US" sz="4000" b="1" i="0" u="none" strike="noStrike" kern="0" cap="none" spc="-60" normalizeH="0" baseline="0" noProof="0">
                <a:ln>
                  <a:noFill/>
                </a:ln>
                <a:solidFill>
                  <a:sysClr val="windowText" lastClr="000000"/>
                </a:solidFill>
                <a:effectLst/>
                <a:uLnTx/>
                <a:uFillTx/>
                <a:latin typeface="Palatino Linotype"/>
                <a:ea typeface="+mj-ea"/>
              </a:rPr>
              <a:t> </a:t>
            </a:r>
            <a:r>
              <a:rPr kumimoji="0" lang="en-US" sz="4000" b="1" i="0" u="none" strike="noStrike" kern="0" cap="none" spc="0" normalizeH="0" baseline="0" noProof="0">
                <a:ln>
                  <a:noFill/>
                </a:ln>
                <a:solidFill>
                  <a:sysClr val="windowText" lastClr="000000"/>
                </a:solidFill>
                <a:effectLst/>
                <a:uLnTx/>
                <a:uFillTx/>
                <a:latin typeface="Palatino Linotype"/>
                <a:ea typeface="+mj-ea"/>
              </a:rPr>
              <a:t>of</a:t>
            </a:r>
            <a:r>
              <a:rPr kumimoji="0" lang="en-US" sz="4000" b="1" i="0" u="none" strike="noStrike" kern="0" cap="none" spc="-45" normalizeH="0" baseline="0" noProof="0">
                <a:ln>
                  <a:noFill/>
                </a:ln>
                <a:solidFill>
                  <a:sysClr val="windowText" lastClr="000000"/>
                </a:solidFill>
                <a:effectLst/>
                <a:uLnTx/>
                <a:uFillTx/>
                <a:latin typeface="Palatino Linotype"/>
                <a:ea typeface="+mj-ea"/>
              </a:rPr>
              <a:t> </a:t>
            </a:r>
            <a:r>
              <a:rPr kumimoji="0" lang="en-US" sz="4000" b="1" i="0" u="none" strike="noStrike" kern="0" cap="none" spc="0" normalizeH="0" baseline="0" noProof="0">
                <a:ln>
                  <a:noFill/>
                </a:ln>
                <a:solidFill>
                  <a:sysClr val="windowText" lastClr="000000"/>
                </a:solidFill>
                <a:effectLst/>
                <a:uLnTx/>
                <a:uFillTx/>
                <a:latin typeface="Palatino Linotype"/>
                <a:ea typeface="+mj-ea"/>
              </a:rPr>
              <a:t>the</a:t>
            </a:r>
            <a:r>
              <a:rPr kumimoji="0" lang="en-US" sz="4000" b="1" i="0" u="none" strike="noStrike" kern="0" cap="none" spc="-50" normalizeH="0" baseline="0" noProof="0">
                <a:ln>
                  <a:noFill/>
                </a:ln>
                <a:solidFill>
                  <a:sysClr val="windowText" lastClr="000000"/>
                </a:solidFill>
                <a:effectLst/>
                <a:uLnTx/>
                <a:uFillTx/>
                <a:latin typeface="Palatino Linotype"/>
                <a:ea typeface="+mj-ea"/>
              </a:rPr>
              <a:t> </a:t>
            </a:r>
            <a:r>
              <a:rPr kumimoji="0" lang="en-US" sz="4000" b="1" i="0" u="none" strike="noStrike" kern="0" cap="none" spc="0" normalizeH="0" baseline="0" noProof="0">
                <a:ln>
                  <a:noFill/>
                </a:ln>
                <a:solidFill>
                  <a:sysClr val="windowText" lastClr="000000"/>
                </a:solidFill>
                <a:effectLst/>
                <a:uLnTx/>
                <a:uFillTx/>
                <a:latin typeface="Palatino Linotype"/>
                <a:ea typeface="+mj-ea"/>
              </a:rPr>
              <a:t>Function</a:t>
            </a:r>
            <a:r>
              <a:rPr kumimoji="0" lang="en-US" sz="4000" b="1" i="0" u="none" strike="noStrike" kern="0" cap="none" spc="-60" normalizeH="0" baseline="0" noProof="0">
                <a:ln>
                  <a:noFill/>
                </a:ln>
                <a:solidFill>
                  <a:sysClr val="windowText" lastClr="000000"/>
                </a:solidFill>
                <a:effectLst/>
                <a:uLnTx/>
                <a:uFillTx/>
                <a:latin typeface="Palatino Linotype"/>
                <a:ea typeface="+mj-ea"/>
              </a:rPr>
              <a:t> </a:t>
            </a:r>
            <a:r>
              <a:rPr kumimoji="0" lang="en-US" sz="4000" b="0" i="0" u="none" strike="noStrike" kern="0" cap="none" spc="-10" normalizeH="0" baseline="0" noProof="0">
                <a:ln>
                  <a:noFill/>
                </a:ln>
                <a:solidFill>
                  <a:sysClr val="windowText" lastClr="000000"/>
                </a:solidFill>
                <a:effectLst/>
                <a:uLnTx/>
                <a:uFillTx/>
                <a:latin typeface="Cambria Math"/>
                <a:ea typeface="+mj-ea"/>
                <a:cs typeface="Cambria Math"/>
              </a:rPr>
              <a:t>𝑔𝑒𝑡𝑅𝑒𝑔</a:t>
            </a:r>
            <a:endParaRPr kumimoji="0" lang="en-US" sz="4000" b="0" i="0" u="none" strike="noStrike" kern="0" cap="none" spc="-10" normalizeH="0" baseline="0" noProof="0" dirty="0">
              <a:ln>
                <a:noFill/>
              </a:ln>
              <a:solidFill>
                <a:sysClr val="windowText" lastClr="000000"/>
              </a:solidFill>
              <a:effectLst/>
              <a:uLnTx/>
              <a:uFillTx/>
              <a:latin typeface="Cambria Math"/>
              <a:ea typeface="+mj-ea"/>
              <a:cs typeface="Cambria Math"/>
            </a:endParaRPr>
          </a:p>
        </p:txBody>
      </p:sp>
      <p:sp>
        <p:nvSpPr>
          <p:cNvPr id="9" name="object 3">
            <a:extLst>
              <a:ext uri="{FF2B5EF4-FFF2-40B4-BE49-F238E27FC236}">
                <a16:creationId xmlns:a16="http://schemas.microsoft.com/office/drawing/2014/main" id="{78DBB6EE-DA22-5A99-207D-6A81A73C4B44}"/>
              </a:ext>
            </a:extLst>
          </p:cNvPr>
          <p:cNvSpPr txBox="1"/>
          <p:nvPr/>
        </p:nvSpPr>
        <p:spPr>
          <a:xfrm>
            <a:off x="626549" y="1659635"/>
            <a:ext cx="7722234" cy="4048760"/>
          </a:xfrm>
          <a:prstGeom prst="rect">
            <a:avLst/>
          </a:prstGeom>
        </p:spPr>
        <p:txBody>
          <a:bodyPr vert="horz" wrap="square" lIns="0" tIns="12700" rIns="0" bIns="0" rtlCol="0">
            <a:spAutoFit/>
          </a:bodyPr>
          <a:lstStyle/>
          <a:p>
            <a:pPr marL="38100">
              <a:spcBef>
                <a:spcPts val="100"/>
              </a:spcBef>
            </a:pPr>
            <a:r>
              <a:rPr sz="2000" dirty="0">
                <a:solidFill>
                  <a:srgbClr val="0432FF"/>
                </a:solidFill>
                <a:latin typeface="Cambria Math"/>
                <a:cs typeface="Cambria Math"/>
              </a:rPr>
              <a:t>y</a:t>
            </a:r>
            <a:r>
              <a:rPr sz="2000" spc="35" dirty="0">
                <a:solidFill>
                  <a:srgbClr val="0432FF"/>
                </a:solidFill>
                <a:latin typeface="Cambria Math"/>
                <a:cs typeface="Cambria Math"/>
              </a:rPr>
              <a:t> </a:t>
            </a:r>
            <a:r>
              <a:rPr sz="2000" dirty="0">
                <a:solidFill>
                  <a:srgbClr val="0432FF"/>
                </a:solidFill>
                <a:latin typeface="Palatino Linotype"/>
                <a:cs typeface="Palatino Linotype"/>
              </a:rPr>
              <a:t>is</a:t>
            </a:r>
            <a:r>
              <a:rPr sz="2000" spc="-20" dirty="0">
                <a:solidFill>
                  <a:srgbClr val="0432FF"/>
                </a:solidFill>
                <a:latin typeface="Palatino Linotype"/>
                <a:cs typeface="Palatino Linotype"/>
              </a:rPr>
              <a:t> </a:t>
            </a:r>
            <a:r>
              <a:rPr sz="2000" dirty="0">
                <a:solidFill>
                  <a:srgbClr val="0432FF"/>
                </a:solidFill>
                <a:latin typeface="Palatino Linotype"/>
                <a:cs typeface="Palatino Linotype"/>
              </a:rPr>
              <a:t>not</a:t>
            </a:r>
            <a:r>
              <a:rPr sz="2000" spc="-25" dirty="0">
                <a:solidFill>
                  <a:srgbClr val="0432FF"/>
                </a:solidFill>
                <a:latin typeface="Palatino Linotype"/>
                <a:cs typeface="Palatino Linotype"/>
              </a:rPr>
              <a:t> </a:t>
            </a:r>
            <a:r>
              <a:rPr sz="2000" dirty="0">
                <a:solidFill>
                  <a:srgbClr val="0432FF"/>
                </a:solidFill>
                <a:latin typeface="Palatino Linotype"/>
                <a:cs typeface="Palatino Linotype"/>
              </a:rPr>
              <a:t>in</a:t>
            </a:r>
            <a:r>
              <a:rPr sz="2000" spc="-30" dirty="0">
                <a:solidFill>
                  <a:srgbClr val="0432FF"/>
                </a:solidFill>
                <a:latin typeface="Palatino Linotype"/>
                <a:cs typeface="Palatino Linotype"/>
              </a:rPr>
              <a:t> </a:t>
            </a:r>
            <a:r>
              <a:rPr sz="2000" dirty="0">
                <a:solidFill>
                  <a:srgbClr val="0432FF"/>
                </a:solidFill>
                <a:latin typeface="Palatino Linotype"/>
                <a:cs typeface="Palatino Linotype"/>
              </a:rPr>
              <a:t>register</a:t>
            </a:r>
            <a:r>
              <a:rPr sz="2000" spc="-25" dirty="0">
                <a:solidFill>
                  <a:srgbClr val="0432FF"/>
                </a:solidFill>
                <a:latin typeface="Palatino Linotype"/>
                <a:cs typeface="Palatino Linotype"/>
              </a:rPr>
              <a:t> </a:t>
            </a:r>
            <a:r>
              <a:rPr sz="2000" dirty="0">
                <a:solidFill>
                  <a:srgbClr val="0432FF"/>
                </a:solidFill>
                <a:latin typeface="Palatino Linotype"/>
                <a:cs typeface="Palatino Linotype"/>
              </a:rPr>
              <a:t>and</a:t>
            </a:r>
            <a:r>
              <a:rPr sz="2000" spc="-20" dirty="0">
                <a:solidFill>
                  <a:srgbClr val="0432FF"/>
                </a:solidFill>
                <a:latin typeface="Palatino Linotype"/>
                <a:cs typeface="Palatino Linotype"/>
              </a:rPr>
              <a:t> </a:t>
            </a:r>
            <a:r>
              <a:rPr sz="2000" dirty="0">
                <a:solidFill>
                  <a:srgbClr val="0432FF"/>
                </a:solidFill>
                <a:latin typeface="Palatino Linotype"/>
                <a:cs typeface="Palatino Linotype"/>
              </a:rPr>
              <a:t>there</a:t>
            </a:r>
            <a:r>
              <a:rPr sz="2000" spc="-25" dirty="0">
                <a:solidFill>
                  <a:srgbClr val="0432FF"/>
                </a:solidFill>
                <a:latin typeface="Palatino Linotype"/>
                <a:cs typeface="Palatino Linotype"/>
              </a:rPr>
              <a:t> </a:t>
            </a:r>
            <a:r>
              <a:rPr sz="2000" dirty="0">
                <a:solidFill>
                  <a:srgbClr val="0432FF"/>
                </a:solidFill>
                <a:latin typeface="Palatino Linotype"/>
                <a:cs typeface="Palatino Linotype"/>
              </a:rPr>
              <a:t>is</a:t>
            </a:r>
            <a:r>
              <a:rPr sz="2000" spc="-20" dirty="0">
                <a:solidFill>
                  <a:srgbClr val="0432FF"/>
                </a:solidFill>
                <a:latin typeface="Palatino Linotype"/>
                <a:cs typeface="Palatino Linotype"/>
              </a:rPr>
              <a:t> </a:t>
            </a:r>
            <a:r>
              <a:rPr sz="2000" dirty="0">
                <a:solidFill>
                  <a:srgbClr val="0432FF"/>
                </a:solidFill>
                <a:latin typeface="Palatino Linotype"/>
                <a:cs typeface="Palatino Linotype"/>
              </a:rPr>
              <a:t>no</a:t>
            </a:r>
            <a:r>
              <a:rPr sz="2000" spc="-30" dirty="0">
                <a:solidFill>
                  <a:srgbClr val="0432FF"/>
                </a:solidFill>
                <a:latin typeface="Palatino Linotype"/>
                <a:cs typeface="Palatino Linotype"/>
              </a:rPr>
              <a:t> </a:t>
            </a:r>
            <a:r>
              <a:rPr sz="2000" dirty="0">
                <a:solidFill>
                  <a:srgbClr val="0432FF"/>
                </a:solidFill>
                <a:latin typeface="Palatino Linotype"/>
                <a:cs typeface="Palatino Linotype"/>
              </a:rPr>
              <a:t>register</a:t>
            </a:r>
            <a:r>
              <a:rPr sz="2000" spc="-25" dirty="0">
                <a:solidFill>
                  <a:srgbClr val="0432FF"/>
                </a:solidFill>
                <a:latin typeface="Palatino Linotype"/>
                <a:cs typeface="Palatino Linotype"/>
              </a:rPr>
              <a:t> </a:t>
            </a:r>
            <a:r>
              <a:rPr sz="2000" dirty="0">
                <a:solidFill>
                  <a:srgbClr val="0432FF"/>
                </a:solidFill>
                <a:latin typeface="Palatino Linotype"/>
                <a:cs typeface="Palatino Linotype"/>
              </a:rPr>
              <a:t>that</a:t>
            </a:r>
            <a:r>
              <a:rPr sz="2000" spc="-25" dirty="0">
                <a:solidFill>
                  <a:srgbClr val="0432FF"/>
                </a:solidFill>
                <a:latin typeface="Palatino Linotype"/>
                <a:cs typeface="Palatino Linotype"/>
              </a:rPr>
              <a:t> </a:t>
            </a:r>
            <a:r>
              <a:rPr sz="2000" dirty="0">
                <a:solidFill>
                  <a:srgbClr val="0432FF"/>
                </a:solidFill>
                <a:latin typeface="Palatino Linotype"/>
                <a:cs typeface="Palatino Linotype"/>
              </a:rPr>
              <a:t>is</a:t>
            </a:r>
            <a:r>
              <a:rPr sz="2000" spc="-20" dirty="0">
                <a:solidFill>
                  <a:srgbClr val="0432FF"/>
                </a:solidFill>
                <a:latin typeface="Palatino Linotype"/>
                <a:cs typeface="Palatino Linotype"/>
              </a:rPr>
              <a:t> </a:t>
            </a:r>
            <a:r>
              <a:rPr sz="2000" dirty="0">
                <a:solidFill>
                  <a:srgbClr val="0432FF"/>
                </a:solidFill>
                <a:latin typeface="Palatino Linotype"/>
                <a:cs typeface="Palatino Linotype"/>
              </a:rPr>
              <a:t>currently</a:t>
            </a:r>
            <a:r>
              <a:rPr sz="2000" spc="-25" dirty="0">
                <a:solidFill>
                  <a:srgbClr val="0432FF"/>
                </a:solidFill>
                <a:latin typeface="Palatino Linotype"/>
                <a:cs typeface="Palatino Linotype"/>
              </a:rPr>
              <a:t> </a:t>
            </a:r>
            <a:r>
              <a:rPr sz="2000" spc="-10" dirty="0">
                <a:solidFill>
                  <a:srgbClr val="0432FF"/>
                </a:solidFill>
                <a:latin typeface="Palatino Linotype"/>
                <a:cs typeface="Palatino Linotype"/>
              </a:rPr>
              <a:t>empty:</a:t>
            </a:r>
            <a:endParaRPr sz="2000" dirty="0">
              <a:solidFill>
                <a:sysClr val="windowText" lastClr="000000"/>
              </a:solidFill>
              <a:latin typeface="Palatino Linotype"/>
              <a:cs typeface="Palatino Linotype"/>
            </a:endParaRPr>
          </a:p>
          <a:p>
            <a:pPr marL="267970" indent="-229870">
              <a:spcBef>
                <a:spcPts val="2190"/>
              </a:spcBef>
              <a:buClr>
                <a:srgbClr val="000000"/>
              </a:buClr>
              <a:buFont typeface="Arial MT"/>
              <a:buChar char="•"/>
              <a:tabLst>
                <a:tab pos="267970" algn="l"/>
              </a:tabLst>
            </a:pPr>
            <a:r>
              <a:rPr dirty="0">
                <a:solidFill>
                  <a:srgbClr val="FF0000"/>
                </a:solidFill>
                <a:latin typeface="Palatino Linotype"/>
                <a:cs typeface="Palatino Linotype"/>
              </a:rPr>
              <a:t>Basic</a:t>
            </a:r>
            <a:r>
              <a:rPr spc="-30" dirty="0">
                <a:solidFill>
                  <a:srgbClr val="FF0000"/>
                </a:solidFill>
                <a:latin typeface="Palatino Linotype"/>
                <a:cs typeface="Palatino Linotype"/>
              </a:rPr>
              <a:t> </a:t>
            </a:r>
            <a:r>
              <a:rPr dirty="0">
                <a:solidFill>
                  <a:srgbClr val="FF0000"/>
                </a:solidFill>
                <a:latin typeface="Palatino Linotype"/>
                <a:cs typeface="Palatino Linotype"/>
              </a:rPr>
              <a:t>idea:</a:t>
            </a:r>
            <a:r>
              <a:rPr spc="-30" dirty="0">
                <a:solidFill>
                  <a:srgbClr val="FF0000"/>
                </a:solidFill>
                <a:latin typeface="Palatino Linotype"/>
                <a:cs typeface="Palatino Linotype"/>
              </a:rPr>
              <a:t> </a:t>
            </a:r>
            <a:r>
              <a:rPr dirty="0">
                <a:solidFill>
                  <a:sysClr val="windowText" lastClr="000000"/>
                </a:solidFill>
                <a:latin typeface="Palatino Linotype"/>
                <a:cs typeface="Palatino Linotype"/>
              </a:rPr>
              <a:t>pick</a:t>
            </a:r>
            <a:r>
              <a:rPr spc="-35"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one</a:t>
            </a:r>
            <a:r>
              <a:rPr spc="-25" dirty="0">
                <a:solidFill>
                  <a:sysClr val="windowText" lastClr="000000"/>
                </a:solidFill>
                <a:latin typeface="Palatino Linotype"/>
                <a:cs typeface="Palatino Linotype"/>
              </a:rPr>
              <a:t> </a:t>
            </a:r>
            <a:r>
              <a:rPr spc="-10" dirty="0">
                <a:solidFill>
                  <a:sysClr val="windowText" lastClr="000000"/>
                </a:solidFill>
                <a:latin typeface="Palatino Linotype"/>
                <a:cs typeface="Palatino Linotype"/>
              </a:rPr>
              <a:t>allowable</a:t>
            </a:r>
            <a:r>
              <a:rPr spc="-25"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register</a:t>
            </a:r>
            <a:r>
              <a:rPr spc="-30"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and</a:t>
            </a:r>
            <a:r>
              <a:rPr spc="-25"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make</a:t>
            </a:r>
            <a:r>
              <a:rPr spc="-30"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it</a:t>
            </a:r>
            <a:r>
              <a:rPr spc="-25" dirty="0">
                <a:solidFill>
                  <a:sysClr val="windowText" lastClr="000000"/>
                </a:solidFill>
                <a:latin typeface="Palatino Linotype"/>
                <a:cs typeface="Palatino Linotype"/>
              </a:rPr>
              <a:t> </a:t>
            </a:r>
            <a:r>
              <a:rPr dirty="0">
                <a:solidFill>
                  <a:srgbClr val="FF0000"/>
                </a:solidFill>
                <a:latin typeface="Palatino Linotype"/>
                <a:cs typeface="Palatino Linotype"/>
              </a:rPr>
              <a:t>“safe”</a:t>
            </a:r>
            <a:r>
              <a:rPr spc="-30" dirty="0">
                <a:solidFill>
                  <a:srgbClr val="FF0000"/>
                </a:solidFill>
                <a:latin typeface="Palatino Linotype"/>
                <a:cs typeface="Palatino Linotype"/>
              </a:rPr>
              <a:t> </a:t>
            </a:r>
            <a:r>
              <a:rPr dirty="0">
                <a:solidFill>
                  <a:sysClr val="windowText" lastClr="000000"/>
                </a:solidFill>
                <a:latin typeface="Palatino Linotype"/>
                <a:cs typeface="Palatino Linotype"/>
              </a:rPr>
              <a:t>to</a:t>
            </a:r>
            <a:r>
              <a:rPr spc="-30" dirty="0">
                <a:solidFill>
                  <a:sysClr val="windowText" lastClr="000000"/>
                </a:solidFill>
                <a:latin typeface="Palatino Linotype"/>
                <a:cs typeface="Palatino Linotype"/>
              </a:rPr>
              <a:t> </a:t>
            </a:r>
            <a:r>
              <a:rPr spc="-10" dirty="0">
                <a:solidFill>
                  <a:sysClr val="windowText" lastClr="000000"/>
                </a:solidFill>
                <a:latin typeface="Palatino Linotype"/>
                <a:cs typeface="Palatino Linotype"/>
              </a:rPr>
              <a:t>reuse</a:t>
            </a:r>
            <a:endParaRPr dirty="0">
              <a:solidFill>
                <a:sysClr val="windowText" lastClr="000000"/>
              </a:solidFill>
              <a:latin typeface="Palatino Linotype"/>
              <a:cs typeface="Palatino Linotype"/>
            </a:endParaRPr>
          </a:p>
          <a:p>
            <a:pPr marL="267970" indent="-229870">
              <a:spcBef>
                <a:spcPts val="2230"/>
              </a:spcBef>
              <a:buFont typeface="Arial MT"/>
              <a:buChar char="•"/>
              <a:tabLst>
                <a:tab pos="267970" algn="l"/>
              </a:tabLst>
            </a:pPr>
            <a:r>
              <a:rPr dirty="0">
                <a:solidFill>
                  <a:sysClr val="windowText" lastClr="000000"/>
                </a:solidFill>
                <a:latin typeface="Palatino Linotype"/>
                <a:cs typeface="Palatino Linotype"/>
              </a:rPr>
              <a:t>Let</a:t>
            </a:r>
            <a:r>
              <a:rPr spc="-30" dirty="0">
                <a:solidFill>
                  <a:sysClr val="windowText" lastClr="000000"/>
                </a:solidFill>
                <a:latin typeface="Palatino Linotype"/>
                <a:cs typeface="Palatino Linotype"/>
              </a:rPr>
              <a:t> </a:t>
            </a:r>
            <a:r>
              <a:rPr dirty="0">
                <a:solidFill>
                  <a:sysClr val="windowText" lastClr="000000"/>
                </a:solidFill>
                <a:latin typeface="Cambria Math"/>
                <a:cs typeface="Cambria Math"/>
              </a:rPr>
              <a:t>𝑅</a:t>
            </a:r>
            <a:r>
              <a:rPr spc="70" dirty="0">
                <a:solidFill>
                  <a:sysClr val="windowText" lastClr="000000"/>
                </a:solidFill>
                <a:latin typeface="Cambria Math"/>
                <a:cs typeface="Cambria Math"/>
              </a:rPr>
              <a:t> </a:t>
            </a:r>
            <a:r>
              <a:rPr dirty="0">
                <a:solidFill>
                  <a:sysClr val="windowText" lastClr="000000"/>
                </a:solidFill>
                <a:latin typeface="Palatino Linotype"/>
                <a:cs typeface="Palatino Linotype"/>
              </a:rPr>
              <a:t>be</a:t>
            </a:r>
            <a:r>
              <a:rPr spc="-30"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a</a:t>
            </a:r>
            <a:r>
              <a:rPr spc="-25"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candidate,</a:t>
            </a:r>
            <a:r>
              <a:rPr spc="-30"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and</a:t>
            </a:r>
            <a:r>
              <a:rPr spc="-30"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suppose</a:t>
            </a:r>
            <a:r>
              <a:rPr spc="-30" dirty="0">
                <a:solidFill>
                  <a:sysClr val="windowText" lastClr="000000"/>
                </a:solidFill>
                <a:latin typeface="Palatino Linotype"/>
                <a:cs typeface="Palatino Linotype"/>
              </a:rPr>
              <a:t> </a:t>
            </a:r>
            <a:r>
              <a:rPr dirty="0">
                <a:solidFill>
                  <a:sysClr val="windowText" lastClr="000000"/>
                </a:solidFill>
                <a:latin typeface="Cambria Math"/>
                <a:cs typeface="Cambria Math"/>
              </a:rPr>
              <a:t>𝑣</a:t>
            </a:r>
            <a:r>
              <a:rPr spc="70" dirty="0">
                <a:solidFill>
                  <a:sysClr val="windowText" lastClr="000000"/>
                </a:solidFill>
                <a:latin typeface="Cambria Math"/>
                <a:cs typeface="Cambria Math"/>
              </a:rPr>
              <a:t> </a:t>
            </a:r>
            <a:r>
              <a:rPr dirty="0">
                <a:solidFill>
                  <a:sysClr val="windowText" lastClr="000000"/>
                </a:solidFill>
                <a:latin typeface="Palatino Linotype"/>
                <a:cs typeface="Palatino Linotype"/>
              </a:rPr>
              <a:t>is</a:t>
            </a:r>
            <a:r>
              <a:rPr spc="-35"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a</a:t>
            </a:r>
            <a:r>
              <a:rPr spc="-25" dirty="0">
                <a:solidFill>
                  <a:sysClr val="windowText" lastClr="000000"/>
                </a:solidFill>
                <a:latin typeface="Palatino Linotype"/>
                <a:cs typeface="Palatino Linotype"/>
              </a:rPr>
              <a:t> </a:t>
            </a:r>
            <a:r>
              <a:rPr spc="-10" dirty="0">
                <a:solidFill>
                  <a:sysClr val="windowText" lastClr="000000"/>
                </a:solidFill>
                <a:latin typeface="Palatino Linotype"/>
                <a:cs typeface="Palatino Linotype"/>
              </a:rPr>
              <a:t>variable</a:t>
            </a:r>
            <a:r>
              <a:rPr spc="-30"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in</a:t>
            </a:r>
            <a:r>
              <a:rPr spc="-30" dirty="0">
                <a:solidFill>
                  <a:sysClr val="windowText" lastClr="000000"/>
                </a:solidFill>
                <a:latin typeface="Palatino Linotype"/>
                <a:cs typeface="Palatino Linotype"/>
              </a:rPr>
              <a:t> </a:t>
            </a:r>
            <a:r>
              <a:rPr spc="-30" dirty="0">
                <a:solidFill>
                  <a:sysClr val="windowText" lastClr="000000"/>
                </a:solidFill>
                <a:latin typeface="Cambria Math"/>
                <a:cs typeface="Cambria Math"/>
              </a:rPr>
              <a:t>𝑅</a:t>
            </a:r>
            <a:r>
              <a:rPr spc="-30" dirty="0">
                <a:solidFill>
                  <a:sysClr val="windowText" lastClr="000000"/>
                </a:solidFill>
                <a:latin typeface="Palatino Linotype"/>
                <a:cs typeface="Palatino Linotype"/>
              </a:rPr>
              <a:t>’s</a:t>
            </a:r>
            <a:r>
              <a:rPr spc="-35"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register</a:t>
            </a:r>
            <a:r>
              <a:rPr spc="-25" dirty="0">
                <a:solidFill>
                  <a:sysClr val="windowText" lastClr="000000"/>
                </a:solidFill>
                <a:latin typeface="Palatino Linotype"/>
                <a:cs typeface="Palatino Linotype"/>
              </a:rPr>
              <a:t> </a:t>
            </a:r>
            <a:r>
              <a:rPr spc="-10" dirty="0">
                <a:solidFill>
                  <a:sysClr val="windowText" lastClr="000000"/>
                </a:solidFill>
                <a:latin typeface="Palatino Linotype"/>
                <a:cs typeface="Palatino Linotype"/>
              </a:rPr>
              <a:t>descriptor</a:t>
            </a:r>
            <a:endParaRPr dirty="0">
              <a:solidFill>
                <a:sysClr val="windowText" lastClr="000000"/>
              </a:solidFill>
              <a:latin typeface="Palatino Linotype"/>
              <a:cs typeface="Palatino Linotype"/>
            </a:endParaRPr>
          </a:p>
          <a:p>
            <a:pPr marL="723265" lvl="1" indent="-227965">
              <a:spcBef>
                <a:spcPts val="1240"/>
              </a:spcBef>
              <a:buFont typeface="Wingdings"/>
              <a:buChar char=""/>
              <a:tabLst>
                <a:tab pos="723265" algn="l"/>
              </a:tabLst>
            </a:pPr>
            <a:r>
              <a:rPr sz="1400" dirty="0">
                <a:solidFill>
                  <a:sysClr val="windowText" lastClr="000000"/>
                </a:solidFill>
                <a:latin typeface="Palatino Linotype"/>
                <a:cs typeface="Palatino Linotype"/>
              </a:rPr>
              <a:t>If</a:t>
            </a:r>
            <a:r>
              <a:rPr sz="1400" spc="-30" dirty="0">
                <a:solidFill>
                  <a:sysClr val="windowText" lastClr="000000"/>
                </a:solidFill>
                <a:latin typeface="Palatino Linotype"/>
                <a:cs typeface="Palatino Linotype"/>
              </a:rPr>
              <a:t> </a:t>
            </a:r>
            <a:r>
              <a:rPr sz="1400" spc="-25" dirty="0">
                <a:solidFill>
                  <a:sysClr val="windowText" lastClr="000000"/>
                </a:solidFill>
                <a:latin typeface="Cambria Math"/>
                <a:cs typeface="Cambria Math"/>
              </a:rPr>
              <a:t>𝑣</a:t>
            </a:r>
            <a:r>
              <a:rPr sz="1400" spc="-25" dirty="0">
                <a:solidFill>
                  <a:sysClr val="windowText" lastClr="000000"/>
                </a:solidFill>
                <a:latin typeface="Palatino Linotype"/>
                <a:cs typeface="Palatino Linotype"/>
              </a:rPr>
              <a:t>’s</a:t>
            </a:r>
            <a:r>
              <a:rPr sz="1400" spc="-30" dirty="0">
                <a:solidFill>
                  <a:sysClr val="windowText" lastClr="000000"/>
                </a:solidFill>
                <a:latin typeface="Palatino Linotype"/>
                <a:cs typeface="Palatino Linotype"/>
              </a:rPr>
              <a:t> </a:t>
            </a:r>
            <a:r>
              <a:rPr sz="1400" dirty="0">
                <a:solidFill>
                  <a:sysClr val="windowText" lastClr="000000"/>
                </a:solidFill>
                <a:latin typeface="Palatino Linotype"/>
                <a:cs typeface="Palatino Linotype"/>
              </a:rPr>
              <a:t>address</a:t>
            </a:r>
            <a:r>
              <a:rPr sz="1400" spc="-30" dirty="0">
                <a:solidFill>
                  <a:sysClr val="windowText" lastClr="000000"/>
                </a:solidFill>
                <a:latin typeface="Palatino Linotype"/>
                <a:cs typeface="Palatino Linotype"/>
              </a:rPr>
              <a:t> </a:t>
            </a:r>
            <a:r>
              <a:rPr sz="1400" dirty="0">
                <a:solidFill>
                  <a:sysClr val="windowText" lastClr="000000"/>
                </a:solidFill>
                <a:latin typeface="Palatino Linotype"/>
                <a:cs typeface="Palatino Linotype"/>
              </a:rPr>
              <a:t>descriptor</a:t>
            </a:r>
            <a:r>
              <a:rPr sz="1400" spc="-30" dirty="0">
                <a:solidFill>
                  <a:sysClr val="windowText" lastClr="000000"/>
                </a:solidFill>
                <a:latin typeface="Palatino Linotype"/>
                <a:cs typeface="Palatino Linotype"/>
              </a:rPr>
              <a:t> </a:t>
            </a:r>
            <a:r>
              <a:rPr sz="1400" dirty="0">
                <a:solidFill>
                  <a:sysClr val="windowText" lastClr="000000"/>
                </a:solidFill>
                <a:latin typeface="Palatino Linotype"/>
                <a:cs typeface="Palatino Linotype"/>
              </a:rPr>
              <a:t>says</a:t>
            </a:r>
            <a:r>
              <a:rPr sz="1400" spc="-30" dirty="0">
                <a:solidFill>
                  <a:sysClr val="windowText" lastClr="000000"/>
                </a:solidFill>
                <a:latin typeface="Palatino Linotype"/>
                <a:cs typeface="Palatino Linotype"/>
              </a:rPr>
              <a:t> </a:t>
            </a:r>
            <a:r>
              <a:rPr sz="1400" dirty="0">
                <a:solidFill>
                  <a:srgbClr val="FF0000"/>
                </a:solidFill>
                <a:latin typeface="Palatino Linotype"/>
                <a:cs typeface="Palatino Linotype"/>
              </a:rPr>
              <a:t>we</a:t>
            </a:r>
            <a:r>
              <a:rPr sz="1400" spc="-25" dirty="0">
                <a:solidFill>
                  <a:srgbClr val="FF0000"/>
                </a:solidFill>
                <a:latin typeface="Palatino Linotype"/>
                <a:cs typeface="Palatino Linotype"/>
              </a:rPr>
              <a:t> </a:t>
            </a:r>
            <a:r>
              <a:rPr sz="1400" dirty="0">
                <a:solidFill>
                  <a:srgbClr val="FF0000"/>
                </a:solidFill>
                <a:latin typeface="Palatino Linotype"/>
                <a:cs typeface="Palatino Linotype"/>
              </a:rPr>
              <a:t>can</a:t>
            </a:r>
            <a:r>
              <a:rPr sz="1400" spc="-25" dirty="0">
                <a:solidFill>
                  <a:srgbClr val="FF0000"/>
                </a:solidFill>
                <a:latin typeface="Palatino Linotype"/>
                <a:cs typeface="Palatino Linotype"/>
              </a:rPr>
              <a:t> </a:t>
            </a:r>
            <a:r>
              <a:rPr sz="1400" dirty="0">
                <a:solidFill>
                  <a:srgbClr val="FF0000"/>
                </a:solidFill>
                <a:latin typeface="Palatino Linotype"/>
                <a:cs typeface="Palatino Linotype"/>
              </a:rPr>
              <a:t>find</a:t>
            </a:r>
            <a:r>
              <a:rPr sz="1400" spc="-30" dirty="0">
                <a:solidFill>
                  <a:srgbClr val="FF0000"/>
                </a:solidFill>
                <a:latin typeface="Palatino Linotype"/>
                <a:cs typeface="Palatino Linotype"/>
              </a:rPr>
              <a:t> </a:t>
            </a:r>
            <a:r>
              <a:rPr sz="1400" dirty="0">
                <a:solidFill>
                  <a:srgbClr val="FF0000"/>
                </a:solidFill>
                <a:latin typeface="Cambria Math"/>
                <a:cs typeface="Cambria Math"/>
              </a:rPr>
              <a:t>𝑣</a:t>
            </a:r>
            <a:r>
              <a:rPr sz="1400" spc="55" dirty="0">
                <a:solidFill>
                  <a:srgbClr val="FF0000"/>
                </a:solidFill>
                <a:latin typeface="Cambria Math"/>
                <a:cs typeface="Cambria Math"/>
              </a:rPr>
              <a:t> </a:t>
            </a:r>
            <a:r>
              <a:rPr sz="1400" dirty="0">
                <a:solidFill>
                  <a:srgbClr val="FF0000"/>
                </a:solidFill>
                <a:latin typeface="Palatino Linotype"/>
                <a:cs typeface="Palatino Linotype"/>
              </a:rPr>
              <a:t>somewhere</a:t>
            </a:r>
            <a:r>
              <a:rPr sz="1400" spc="-25" dirty="0">
                <a:solidFill>
                  <a:srgbClr val="FF0000"/>
                </a:solidFill>
                <a:latin typeface="Palatino Linotype"/>
                <a:cs typeface="Palatino Linotype"/>
              </a:rPr>
              <a:t> </a:t>
            </a:r>
            <a:r>
              <a:rPr sz="1400" dirty="0">
                <a:solidFill>
                  <a:srgbClr val="FF0000"/>
                </a:solidFill>
                <a:latin typeface="Palatino Linotype"/>
                <a:cs typeface="Palatino Linotype"/>
              </a:rPr>
              <a:t>besides</a:t>
            </a:r>
            <a:r>
              <a:rPr sz="1400" spc="-30" dirty="0">
                <a:solidFill>
                  <a:srgbClr val="FF0000"/>
                </a:solidFill>
                <a:latin typeface="Palatino Linotype"/>
                <a:cs typeface="Palatino Linotype"/>
              </a:rPr>
              <a:t> </a:t>
            </a:r>
            <a:r>
              <a:rPr sz="1400" dirty="0">
                <a:solidFill>
                  <a:srgbClr val="FF0000"/>
                </a:solidFill>
                <a:latin typeface="Cambria Math"/>
                <a:cs typeface="Cambria Math"/>
              </a:rPr>
              <a:t>𝑅</a:t>
            </a:r>
            <a:r>
              <a:rPr sz="1400" dirty="0">
                <a:solidFill>
                  <a:sysClr val="windowText" lastClr="000000"/>
                </a:solidFill>
                <a:latin typeface="Palatino Linotype"/>
                <a:cs typeface="Palatino Linotype"/>
              </a:rPr>
              <a:t>,</a:t>
            </a:r>
            <a:r>
              <a:rPr sz="1400" spc="-20" dirty="0">
                <a:solidFill>
                  <a:sysClr val="windowText" lastClr="000000"/>
                </a:solidFill>
                <a:latin typeface="Palatino Linotype"/>
                <a:cs typeface="Palatino Linotype"/>
              </a:rPr>
              <a:t> </a:t>
            </a:r>
            <a:r>
              <a:rPr sz="1400" dirty="0">
                <a:solidFill>
                  <a:sysClr val="windowText" lastClr="000000"/>
                </a:solidFill>
                <a:latin typeface="Palatino Linotype"/>
                <a:cs typeface="Palatino Linotype"/>
              </a:rPr>
              <a:t>it</a:t>
            </a:r>
            <a:r>
              <a:rPr sz="1400" spc="-20" dirty="0">
                <a:solidFill>
                  <a:sysClr val="windowText" lastClr="000000"/>
                </a:solidFill>
                <a:latin typeface="Palatino Linotype"/>
                <a:cs typeface="Palatino Linotype"/>
              </a:rPr>
              <a:t> </a:t>
            </a:r>
            <a:r>
              <a:rPr sz="1400" dirty="0">
                <a:solidFill>
                  <a:sysClr val="windowText" lastClr="000000"/>
                </a:solidFill>
                <a:latin typeface="Palatino Linotype"/>
                <a:cs typeface="Palatino Linotype"/>
              </a:rPr>
              <a:t>is</a:t>
            </a:r>
            <a:r>
              <a:rPr sz="1400" spc="-30" dirty="0">
                <a:solidFill>
                  <a:sysClr val="windowText" lastClr="000000"/>
                </a:solidFill>
                <a:latin typeface="Palatino Linotype"/>
                <a:cs typeface="Palatino Linotype"/>
              </a:rPr>
              <a:t> </a:t>
            </a:r>
            <a:r>
              <a:rPr sz="1400" dirty="0">
                <a:solidFill>
                  <a:sysClr val="windowText" lastClr="000000"/>
                </a:solidFill>
                <a:latin typeface="Palatino Linotype"/>
                <a:cs typeface="Palatino Linotype"/>
              </a:rPr>
              <a:t>safe</a:t>
            </a:r>
            <a:r>
              <a:rPr sz="1400" spc="-25" dirty="0">
                <a:solidFill>
                  <a:sysClr val="windowText" lastClr="000000"/>
                </a:solidFill>
                <a:latin typeface="Palatino Linotype"/>
                <a:cs typeface="Palatino Linotype"/>
              </a:rPr>
              <a:t> </a:t>
            </a:r>
            <a:r>
              <a:rPr sz="1400" dirty="0">
                <a:solidFill>
                  <a:sysClr val="windowText" lastClr="000000"/>
                </a:solidFill>
                <a:latin typeface="Palatino Linotype"/>
                <a:cs typeface="Palatino Linotype"/>
              </a:rPr>
              <a:t>to</a:t>
            </a:r>
            <a:r>
              <a:rPr sz="1400" spc="-25" dirty="0">
                <a:solidFill>
                  <a:sysClr val="windowText" lastClr="000000"/>
                </a:solidFill>
                <a:latin typeface="Palatino Linotype"/>
                <a:cs typeface="Palatino Linotype"/>
              </a:rPr>
              <a:t> </a:t>
            </a:r>
            <a:r>
              <a:rPr sz="1400" dirty="0">
                <a:solidFill>
                  <a:sysClr val="windowText" lastClr="000000"/>
                </a:solidFill>
                <a:latin typeface="Palatino Linotype"/>
                <a:cs typeface="Palatino Linotype"/>
              </a:rPr>
              <a:t>reuse</a:t>
            </a:r>
            <a:r>
              <a:rPr sz="1400" spc="-20" dirty="0">
                <a:solidFill>
                  <a:sysClr val="windowText" lastClr="000000"/>
                </a:solidFill>
                <a:latin typeface="Palatino Linotype"/>
                <a:cs typeface="Palatino Linotype"/>
              </a:rPr>
              <a:t> </a:t>
            </a:r>
            <a:r>
              <a:rPr sz="1400" spc="-50" dirty="0">
                <a:solidFill>
                  <a:sysClr val="windowText" lastClr="000000"/>
                </a:solidFill>
                <a:latin typeface="Cambria Math"/>
                <a:cs typeface="Cambria Math"/>
              </a:rPr>
              <a:t>𝑅</a:t>
            </a:r>
            <a:endParaRPr sz="1400" dirty="0">
              <a:solidFill>
                <a:sysClr val="windowText" lastClr="000000"/>
              </a:solidFill>
              <a:latin typeface="Cambria Math"/>
              <a:cs typeface="Cambria Math"/>
            </a:endParaRPr>
          </a:p>
          <a:p>
            <a:pPr marL="723265" lvl="1" indent="-227965">
              <a:spcBef>
                <a:spcPts val="1130"/>
              </a:spcBef>
              <a:buFont typeface="Wingdings"/>
              <a:buChar char=""/>
              <a:tabLst>
                <a:tab pos="723265" algn="l"/>
              </a:tabLst>
            </a:pPr>
            <a:r>
              <a:rPr sz="1400" dirty="0">
                <a:solidFill>
                  <a:sysClr val="windowText" lastClr="000000"/>
                </a:solidFill>
                <a:latin typeface="Palatino Linotype"/>
                <a:cs typeface="Palatino Linotype"/>
              </a:rPr>
              <a:t>If</a:t>
            </a:r>
            <a:r>
              <a:rPr sz="1400" spc="-20" dirty="0">
                <a:solidFill>
                  <a:sysClr val="windowText" lastClr="000000"/>
                </a:solidFill>
                <a:latin typeface="Palatino Linotype"/>
                <a:cs typeface="Palatino Linotype"/>
              </a:rPr>
              <a:t> </a:t>
            </a:r>
            <a:r>
              <a:rPr sz="1400" dirty="0">
                <a:solidFill>
                  <a:srgbClr val="FF0000"/>
                </a:solidFill>
                <a:latin typeface="Cambria Math"/>
                <a:cs typeface="Cambria Math"/>
              </a:rPr>
              <a:t>𝑣</a:t>
            </a:r>
            <a:r>
              <a:rPr sz="1400" spc="70" dirty="0">
                <a:solidFill>
                  <a:srgbClr val="FF0000"/>
                </a:solidFill>
                <a:latin typeface="Cambria Math"/>
                <a:cs typeface="Cambria Math"/>
              </a:rPr>
              <a:t> </a:t>
            </a:r>
            <a:r>
              <a:rPr sz="1400" dirty="0">
                <a:solidFill>
                  <a:srgbClr val="FF0000"/>
                </a:solidFill>
                <a:latin typeface="Palatino Linotype"/>
                <a:cs typeface="Palatino Linotype"/>
              </a:rPr>
              <a:t>is</a:t>
            </a:r>
            <a:r>
              <a:rPr sz="1400" spc="-20" dirty="0">
                <a:solidFill>
                  <a:srgbClr val="FF0000"/>
                </a:solidFill>
                <a:latin typeface="Palatino Linotype"/>
                <a:cs typeface="Palatino Linotype"/>
              </a:rPr>
              <a:t> </a:t>
            </a:r>
            <a:r>
              <a:rPr sz="1400" dirty="0">
                <a:solidFill>
                  <a:srgbClr val="FF0000"/>
                </a:solidFill>
                <a:latin typeface="Cambria Math"/>
                <a:cs typeface="Cambria Math"/>
              </a:rPr>
              <a:t>𝑥</a:t>
            </a:r>
            <a:r>
              <a:rPr sz="1400" spc="75" dirty="0">
                <a:solidFill>
                  <a:srgbClr val="FF0000"/>
                </a:solidFill>
                <a:latin typeface="Cambria Math"/>
                <a:cs typeface="Cambria Math"/>
              </a:rPr>
              <a:t> </a:t>
            </a:r>
            <a:r>
              <a:rPr sz="1400" dirty="0">
                <a:solidFill>
                  <a:sysClr val="windowText" lastClr="000000"/>
                </a:solidFill>
                <a:latin typeface="Palatino Linotype"/>
                <a:cs typeface="Palatino Linotype"/>
              </a:rPr>
              <a:t>and</a:t>
            </a:r>
            <a:r>
              <a:rPr sz="1400" spc="-20" dirty="0">
                <a:solidFill>
                  <a:sysClr val="windowText" lastClr="000000"/>
                </a:solidFill>
                <a:latin typeface="Palatino Linotype"/>
                <a:cs typeface="Palatino Linotype"/>
              </a:rPr>
              <a:t> </a:t>
            </a:r>
            <a:r>
              <a:rPr sz="1400" dirty="0">
                <a:solidFill>
                  <a:srgbClr val="FF0000"/>
                </a:solidFill>
                <a:latin typeface="Cambria Math"/>
                <a:cs typeface="Cambria Math"/>
              </a:rPr>
              <a:t>𝑥</a:t>
            </a:r>
            <a:r>
              <a:rPr sz="1400" spc="75" dirty="0">
                <a:solidFill>
                  <a:srgbClr val="FF0000"/>
                </a:solidFill>
                <a:latin typeface="Cambria Math"/>
                <a:cs typeface="Cambria Math"/>
              </a:rPr>
              <a:t> </a:t>
            </a:r>
            <a:r>
              <a:rPr sz="1400" dirty="0">
                <a:solidFill>
                  <a:srgbClr val="FF0000"/>
                </a:solidFill>
                <a:latin typeface="Palatino Linotype"/>
                <a:cs typeface="Palatino Linotype"/>
              </a:rPr>
              <a:t>is</a:t>
            </a:r>
            <a:r>
              <a:rPr sz="1400" spc="-20" dirty="0">
                <a:solidFill>
                  <a:srgbClr val="FF0000"/>
                </a:solidFill>
                <a:latin typeface="Palatino Linotype"/>
                <a:cs typeface="Palatino Linotype"/>
              </a:rPr>
              <a:t> </a:t>
            </a:r>
            <a:r>
              <a:rPr sz="1400" dirty="0">
                <a:solidFill>
                  <a:srgbClr val="FF0000"/>
                </a:solidFill>
                <a:latin typeface="Palatino Linotype"/>
                <a:cs typeface="Palatino Linotype"/>
              </a:rPr>
              <a:t>not</a:t>
            </a:r>
            <a:r>
              <a:rPr sz="1400" spc="-5" dirty="0">
                <a:solidFill>
                  <a:srgbClr val="FF0000"/>
                </a:solidFill>
                <a:latin typeface="Palatino Linotype"/>
                <a:cs typeface="Palatino Linotype"/>
              </a:rPr>
              <a:t> </a:t>
            </a:r>
            <a:r>
              <a:rPr sz="1400" dirty="0">
                <a:solidFill>
                  <a:srgbClr val="FF0000"/>
                </a:solidFill>
                <a:latin typeface="Palatino Linotype"/>
                <a:cs typeface="Palatino Linotype"/>
              </a:rPr>
              <a:t>the</a:t>
            </a:r>
            <a:r>
              <a:rPr sz="1400" spc="-10" dirty="0">
                <a:solidFill>
                  <a:srgbClr val="FF0000"/>
                </a:solidFill>
                <a:latin typeface="Palatino Linotype"/>
                <a:cs typeface="Palatino Linotype"/>
              </a:rPr>
              <a:t> </a:t>
            </a:r>
            <a:r>
              <a:rPr sz="1400" dirty="0">
                <a:solidFill>
                  <a:srgbClr val="FF0000"/>
                </a:solidFill>
                <a:latin typeface="Palatino Linotype"/>
                <a:cs typeface="Palatino Linotype"/>
              </a:rPr>
              <a:t>other</a:t>
            </a:r>
            <a:r>
              <a:rPr sz="1400" spc="-10" dirty="0">
                <a:solidFill>
                  <a:srgbClr val="FF0000"/>
                </a:solidFill>
                <a:latin typeface="Palatino Linotype"/>
                <a:cs typeface="Palatino Linotype"/>
              </a:rPr>
              <a:t> </a:t>
            </a:r>
            <a:r>
              <a:rPr sz="1400" dirty="0">
                <a:solidFill>
                  <a:srgbClr val="FF0000"/>
                </a:solidFill>
                <a:latin typeface="Palatino Linotype"/>
                <a:cs typeface="Palatino Linotype"/>
              </a:rPr>
              <a:t>operand</a:t>
            </a:r>
            <a:r>
              <a:rPr sz="1400" spc="-20" dirty="0">
                <a:solidFill>
                  <a:srgbClr val="FF0000"/>
                </a:solidFill>
                <a:latin typeface="Palatino Linotype"/>
                <a:cs typeface="Palatino Linotype"/>
              </a:rPr>
              <a:t> </a:t>
            </a:r>
            <a:r>
              <a:rPr sz="1400" dirty="0">
                <a:solidFill>
                  <a:srgbClr val="FF0000"/>
                </a:solidFill>
                <a:latin typeface="Cambria Math"/>
                <a:cs typeface="Cambria Math"/>
              </a:rPr>
              <a:t>𝑧</a:t>
            </a:r>
            <a:r>
              <a:rPr sz="1400" dirty="0">
                <a:solidFill>
                  <a:sysClr val="windowText" lastClr="000000"/>
                </a:solidFill>
                <a:latin typeface="Palatino Linotype"/>
                <a:cs typeface="Palatino Linotype"/>
              </a:rPr>
              <a:t>,</a:t>
            </a:r>
            <a:r>
              <a:rPr sz="1400" spc="-10" dirty="0">
                <a:solidFill>
                  <a:sysClr val="windowText" lastClr="000000"/>
                </a:solidFill>
                <a:latin typeface="Palatino Linotype"/>
                <a:cs typeface="Palatino Linotype"/>
              </a:rPr>
              <a:t> </a:t>
            </a:r>
            <a:r>
              <a:rPr sz="1400" dirty="0">
                <a:solidFill>
                  <a:sysClr val="windowText" lastClr="000000"/>
                </a:solidFill>
                <a:latin typeface="Palatino Linotype"/>
                <a:cs typeface="Palatino Linotype"/>
              </a:rPr>
              <a:t>it</a:t>
            </a:r>
            <a:r>
              <a:rPr sz="1400" spc="-5" dirty="0">
                <a:solidFill>
                  <a:sysClr val="windowText" lastClr="000000"/>
                </a:solidFill>
                <a:latin typeface="Palatino Linotype"/>
                <a:cs typeface="Palatino Linotype"/>
              </a:rPr>
              <a:t> </a:t>
            </a:r>
            <a:r>
              <a:rPr sz="1400" dirty="0">
                <a:solidFill>
                  <a:sysClr val="windowText" lastClr="000000"/>
                </a:solidFill>
                <a:latin typeface="Palatino Linotype"/>
                <a:cs typeface="Palatino Linotype"/>
              </a:rPr>
              <a:t>is</a:t>
            </a:r>
            <a:r>
              <a:rPr sz="1400" spc="-20" dirty="0">
                <a:solidFill>
                  <a:sysClr val="windowText" lastClr="000000"/>
                </a:solidFill>
                <a:latin typeface="Palatino Linotype"/>
                <a:cs typeface="Palatino Linotype"/>
              </a:rPr>
              <a:t> </a:t>
            </a:r>
            <a:r>
              <a:rPr sz="1400" dirty="0">
                <a:solidFill>
                  <a:sysClr val="windowText" lastClr="000000"/>
                </a:solidFill>
                <a:latin typeface="Palatino Linotype"/>
                <a:cs typeface="Palatino Linotype"/>
              </a:rPr>
              <a:t>safe</a:t>
            </a:r>
            <a:r>
              <a:rPr sz="1400" spc="-5" dirty="0">
                <a:solidFill>
                  <a:sysClr val="windowText" lastClr="000000"/>
                </a:solidFill>
                <a:latin typeface="Palatino Linotype"/>
                <a:cs typeface="Palatino Linotype"/>
              </a:rPr>
              <a:t> </a:t>
            </a:r>
            <a:r>
              <a:rPr sz="1400" dirty="0">
                <a:solidFill>
                  <a:sysClr val="windowText" lastClr="000000"/>
                </a:solidFill>
                <a:latin typeface="Palatino Linotype"/>
                <a:cs typeface="Palatino Linotype"/>
              </a:rPr>
              <a:t>to</a:t>
            </a:r>
            <a:r>
              <a:rPr sz="1400" spc="-15" dirty="0">
                <a:solidFill>
                  <a:sysClr val="windowText" lastClr="000000"/>
                </a:solidFill>
                <a:latin typeface="Palatino Linotype"/>
                <a:cs typeface="Palatino Linotype"/>
              </a:rPr>
              <a:t> </a:t>
            </a:r>
            <a:r>
              <a:rPr sz="1400" dirty="0">
                <a:solidFill>
                  <a:sysClr val="windowText" lastClr="000000"/>
                </a:solidFill>
                <a:latin typeface="Palatino Linotype"/>
                <a:cs typeface="Palatino Linotype"/>
              </a:rPr>
              <a:t>reuse</a:t>
            </a:r>
            <a:r>
              <a:rPr sz="1400" spc="-10" dirty="0">
                <a:solidFill>
                  <a:sysClr val="windowText" lastClr="000000"/>
                </a:solidFill>
                <a:latin typeface="Palatino Linotype"/>
                <a:cs typeface="Palatino Linotype"/>
              </a:rPr>
              <a:t> </a:t>
            </a:r>
            <a:r>
              <a:rPr sz="1400" dirty="0">
                <a:solidFill>
                  <a:sysClr val="windowText" lastClr="000000"/>
                </a:solidFill>
                <a:latin typeface="Cambria Math"/>
                <a:cs typeface="Cambria Math"/>
              </a:rPr>
              <a:t>𝑅</a:t>
            </a:r>
            <a:r>
              <a:rPr sz="1400" spc="-110" dirty="0">
                <a:solidFill>
                  <a:sysClr val="windowText" lastClr="000000"/>
                </a:solidFill>
                <a:latin typeface="Cambria Math"/>
                <a:cs typeface="Cambria Math"/>
              </a:rPr>
              <a:t> </a:t>
            </a:r>
            <a:r>
              <a:rPr sz="1050" spc="-75" baseline="23809" dirty="0">
                <a:solidFill>
                  <a:sysClr val="windowText" lastClr="000000"/>
                </a:solidFill>
                <a:latin typeface="Palatino Linotype"/>
                <a:cs typeface="Palatino Linotype"/>
              </a:rPr>
              <a:t>*</a:t>
            </a:r>
            <a:endParaRPr sz="1050" baseline="23809" dirty="0">
              <a:solidFill>
                <a:sysClr val="windowText" lastClr="000000"/>
              </a:solidFill>
              <a:latin typeface="Palatino Linotype"/>
              <a:cs typeface="Palatino Linotype"/>
            </a:endParaRPr>
          </a:p>
          <a:p>
            <a:pPr marL="723265" lvl="1" indent="-227965">
              <a:spcBef>
                <a:spcPts val="1130"/>
              </a:spcBef>
              <a:buFont typeface="Wingdings"/>
              <a:buChar char=""/>
              <a:tabLst>
                <a:tab pos="723265" algn="l"/>
              </a:tabLst>
            </a:pPr>
            <a:r>
              <a:rPr sz="1400" dirty="0">
                <a:solidFill>
                  <a:sysClr val="windowText" lastClr="000000"/>
                </a:solidFill>
                <a:latin typeface="Palatino Linotype"/>
                <a:cs typeface="Palatino Linotype"/>
              </a:rPr>
              <a:t>If</a:t>
            </a:r>
            <a:r>
              <a:rPr sz="1400" spc="-35" dirty="0">
                <a:solidFill>
                  <a:sysClr val="windowText" lastClr="000000"/>
                </a:solidFill>
                <a:latin typeface="Palatino Linotype"/>
                <a:cs typeface="Palatino Linotype"/>
              </a:rPr>
              <a:t> </a:t>
            </a:r>
            <a:r>
              <a:rPr sz="1400" dirty="0">
                <a:solidFill>
                  <a:srgbClr val="FF0000"/>
                </a:solidFill>
                <a:latin typeface="Cambria Math"/>
                <a:cs typeface="Cambria Math"/>
              </a:rPr>
              <a:t>𝑣</a:t>
            </a:r>
            <a:r>
              <a:rPr sz="1400" spc="55" dirty="0">
                <a:solidFill>
                  <a:srgbClr val="FF0000"/>
                </a:solidFill>
                <a:latin typeface="Cambria Math"/>
                <a:cs typeface="Cambria Math"/>
              </a:rPr>
              <a:t> </a:t>
            </a:r>
            <a:r>
              <a:rPr sz="1400" dirty="0">
                <a:solidFill>
                  <a:srgbClr val="FF0000"/>
                </a:solidFill>
                <a:latin typeface="Palatino Linotype"/>
                <a:cs typeface="Palatino Linotype"/>
              </a:rPr>
              <a:t>is</a:t>
            </a:r>
            <a:r>
              <a:rPr sz="1400" spc="-25" dirty="0">
                <a:solidFill>
                  <a:srgbClr val="FF0000"/>
                </a:solidFill>
                <a:latin typeface="Palatino Linotype"/>
                <a:cs typeface="Palatino Linotype"/>
              </a:rPr>
              <a:t> </a:t>
            </a:r>
            <a:r>
              <a:rPr sz="1400" dirty="0">
                <a:solidFill>
                  <a:srgbClr val="FF0000"/>
                </a:solidFill>
                <a:latin typeface="Palatino Linotype"/>
                <a:cs typeface="Palatino Linotype"/>
              </a:rPr>
              <a:t>not</a:t>
            </a:r>
            <a:r>
              <a:rPr sz="1400" spc="-15" dirty="0">
                <a:solidFill>
                  <a:srgbClr val="FF0000"/>
                </a:solidFill>
                <a:latin typeface="Palatino Linotype"/>
                <a:cs typeface="Palatino Linotype"/>
              </a:rPr>
              <a:t> </a:t>
            </a:r>
            <a:r>
              <a:rPr sz="1400" dirty="0">
                <a:solidFill>
                  <a:srgbClr val="FF0000"/>
                </a:solidFill>
                <a:latin typeface="Palatino Linotype"/>
                <a:cs typeface="Palatino Linotype"/>
              </a:rPr>
              <a:t>used</a:t>
            </a:r>
            <a:r>
              <a:rPr sz="1400" spc="-30" dirty="0">
                <a:solidFill>
                  <a:srgbClr val="FF0000"/>
                </a:solidFill>
                <a:latin typeface="Palatino Linotype"/>
                <a:cs typeface="Palatino Linotype"/>
              </a:rPr>
              <a:t> </a:t>
            </a:r>
            <a:r>
              <a:rPr sz="1400" dirty="0">
                <a:solidFill>
                  <a:srgbClr val="FF0000"/>
                </a:solidFill>
                <a:latin typeface="Palatino Linotype"/>
                <a:cs typeface="Palatino Linotype"/>
              </a:rPr>
              <a:t>later</a:t>
            </a:r>
            <a:r>
              <a:rPr sz="1400" spc="-25" dirty="0">
                <a:solidFill>
                  <a:srgbClr val="FF0000"/>
                </a:solidFill>
                <a:latin typeface="Palatino Linotype"/>
                <a:cs typeface="Palatino Linotype"/>
              </a:rPr>
              <a:t> </a:t>
            </a:r>
            <a:r>
              <a:rPr sz="1400" dirty="0">
                <a:solidFill>
                  <a:sysClr val="windowText" lastClr="000000"/>
                </a:solidFill>
                <a:latin typeface="Palatino Linotype"/>
                <a:cs typeface="Palatino Linotype"/>
              </a:rPr>
              <a:t>(not</a:t>
            </a:r>
            <a:r>
              <a:rPr sz="1400" spc="-10" dirty="0">
                <a:solidFill>
                  <a:sysClr val="windowText" lastClr="000000"/>
                </a:solidFill>
                <a:latin typeface="Palatino Linotype"/>
                <a:cs typeface="Palatino Linotype"/>
              </a:rPr>
              <a:t> </a:t>
            </a:r>
            <a:r>
              <a:rPr sz="1400" dirty="0">
                <a:solidFill>
                  <a:sysClr val="windowText" lastClr="000000"/>
                </a:solidFill>
                <a:latin typeface="Palatino Linotype"/>
                <a:cs typeface="Palatino Linotype"/>
              </a:rPr>
              <a:t>live</a:t>
            </a:r>
            <a:r>
              <a:rPr sz="1400" spc="-20" dirty="0">
                <a:solidFill>
                  <a:sysClr val="windowText" lastClr="000000"/>
                </a:solidFill>
                <a:latin typeface="Palatino Linotype"/>
                <a:cs typeface="Palatino Linotype"/>
              </a:rPr>
              <a:t> </a:t>
            </a:r>
            <a:r>
              <a:rPr sz="1400" dirty="0">
                <a:solidFill>
                  <a:sysClr val="windowText" lastClr="000000"/>
                </a:solidFill>
                <a:latin typeface="Palatino Linotype"/>
                <a:cs typeface="Palatino Linotype"/>
              </a:rPr>
              <a:t>after</a:t>
            </a:r>
            <a:r>
              <a:rPr sz="1400" spc="-25" dirty="0">
                <a:solidFill>
                  <a:sysClr val="windowText" lastClr="000000"/>
                </a:solidFill>
                <a:latin typeface="Palatino Linotype"/>
                <a:cs typeface="Palatino Linotype"/>
              </a:rPr>
              <a:t> </a:t>
            </a:r>
            <a:r>
              <a:rPr sz="1400" dirty="0">
                <a:solidFill>
                  <a:sysClr val="windowText" lastClr="000000"/>
                </a:solidFill>
                <a:latin typeface="Palatino Linotype"/>
                <a:cs typeface="Palatino Linotype"/>
              </a:rPr>
              <a:t>the</a:t>
            </a:r>
            <a:r>
              <a:rPr sz="1400" spc="-20" dirty="0">
                <a:solidFill>
                  <a:sysClr val="windowText" lastClr="000000"/>
                </a:solidFill>
                <a:latin typeface="Palatino Linotype"/>
                <a:cs typeface="Palatino Linotype"/>
              </a:rPr>
              <a:t> </a:t>
            </a:r>
            <a:r>
              <a:rPr sz="1400" dirty="0">
                <a:solidFill>
                  <a:sysClr val="windowText" lastClr="000000"/>
                </a:solidFill>
                <a:latin typeface="Palatino Linotype"/>
                <a:cs typeface="Palatino Linotype"/>
              </a:rPr>
              <a:t>instruction),</a:t>
            </a:r>
            <a:r>
              <a:rPr sz="1400" spc="-20" dirty="0">
                <a:solidFill>
                  <a:sysClr val="windowText" lastClr="000000"/>
                </a:solidFill>
                <a:latin typeface="Palatino Linotype"/>
                <a:cs typeface="Palatino Linotype"/>
              </a:rPr>
              <a:t> </a:t>
            </a:r>
            <a:r>
              <a:rPr sz="1400" dirty="0">
                <a:solidFill>
                  <a:sysClr val="windowText" lastClr="000000"/>
                </a:solidFill>
                <a:latin typeface="Palatino Linotype"/>
                <a:cs typeface="Palatino Linotype"/>
              </a:rPr>
              <a:t>it</a:t>
            </a:r>
            <a:r>
              <a:rPr sz="1400" spc="-10" dirty="0">
                <a:solidFill>
                  <a:sysClr val="windowText" lastClr="000000"/>
                </a:solidFill>
                <a:latin typeface="Palatino Linotype"/>
                <a:cs typeface="Palatino Linotype"/>
              </a:rPr>
              <a:t> </a:t>
            </a:r>
            <a:r>
              <a:rPr sz="1400" dirty="0">
                <a:solidFill>
                  <a:sysClr val="windowText" lastClr="000000"/>
                </a:solidFill>
                <a:latin typeface="Palatino Linotype"/>
                <a:cs typeface="Palatino Linotype"/>
              </a:rPr>
              <a:t>is</a:t>
            </a:r>
            <a:r>
              <a:rPr sz="1400" spc="-30" dirty="0">
                <a:solidFill>
                  <a:sysClr val="windowText" lastClr="000000"/>
                </a:solidFill>
                <a:latin typeface="Palatino Linotype"/>
                <a:cs typeface="Palatino Linotype"/>
              </a:rPr>
              <a:t> </a:t>
            </a:r>
            <a:r>
              <a:rPr sz="1400" dirty="0">
                <a:solidFill>
                  <a:sysClr val="windowText" lastClr="000000"/>
                </a:solidFill>
                <a:latin typeface="Palatino Linotype"/>
                <a:cs typeface="Palatino Linotype"/>
              </a:rPr>
              <a:t>safe</a:t>
            </a:r>
            <a:r>
              <a:rPr sz="1400" spc="-20" dirty="0">
                <a:solidFill>
                  <a:sysClr val="windowText" lastClr="000000"/>
                </a:solidFill>
                <a:latin typeface="Palatino Linotype"/>
                <a:cs typeface="Palatino Linotype"/>
              </a:rPr>
              <a:t> </a:t>
            </a:r>
            <a:r>
              <a:rPr sz="1400" dirty="0">
                <a:solidFill>
                  <a:sysClr val="windowText" lastClr="000000"/>
                </a:solidFill>
                <a:latin typeface="Palatino Linotype"/>
                <a:cs typeface="Palatino Linotype"/>
              </a:rPr>
              <a:t>to</a:t>
            </a:r>
            <a:r>
              <a:rPr sz="1400" spc="-25" dirty="0">
                <a:solidFill>
                  <a:sysClr val="windowText" lastClr="000000"/>
                </a:solidFill>
                <a:latin typeface="Palatino Linotype"/>
                <a:cs typeface="Palatino Linotype"/>
              </a:rPr>
              <a:t> </a:t>
            </a:r>
            <a:r>
              <a:rPr sz="1400" dirty="0">
                <a:solidFill>
                  <a:sysClr val="windowText" lastClr="000000"/>
                </a:solidFill>
                <a:latin typeface="Palatino Linotype"/>
                <a:cs typeface="Palatino Linotype"/>
              </a:rPr>
              <a:t>reuse</a:t>
            </a:r>
            <a:r>
              <a:rPr sz="1400" spc="-15" dirty="0">
                <a:solidFill>
                  <a:sysClr val="windowText" lastClr="000000"/>
                </a:solidFill>
                <a:latin typeface="Palatino Linotype"/>
                <a:cs typeface="Palatino Linotype"/>
              </a:rPr>
              <a:t> </a:t>
            </a:r>
            <a:r>
              <a:rPr sz="1400" spc="-50" dirty="0">
                <a:solidFill>
                  <a:sysClr val="windowText" lastClr="000000"/>
                </a:solidFill>
                <a:latin typeface="Cambria Math"/>
                <a:cs typeface="Cambria Math"/>
              </a:rPr>
              <a:t>𝑅</a:t>
            </a:r>
            <a:endParaRPr sz="1400" dirty="0">
              <a:solidFill>
                <a:sysClr val="windowText" lastClr="000000"/>
              </a:solidFill>
              <a:latin typeface="Cambria Math"/>
              <a:cs typeface="Cambria Math"/>
            </a:endParaRPr>
          </a:p>
          <a:p>
            <a:pPr marL="723265" lvl="1" indent="-227965">
              <a:spcBef>
                <a:spcPts val="1105"/>
              </a:spcBef>
              <a:buFont typeface="Wingdings"/>
              <a:buChar char=""/>
              <a:tabLst>
                <a:tab pos="723265" algn="l"/>
              </a:tabLst>
            </a:pPr>
            <a:r>
              <a:rPr sz="1400" dirty="0">
                <a:solidFill>
                  <a:sysClr val="windowText" lastClr="000000"/>
                </a:solidFill>
                <a:latin typeface="Palatino Linotype"/>
                <a:cs typeface="Palatino Linotype"/>
              </a:rPr>
              <a:t>Otherwise</a:t>
            </a:r>
            <a:r>
              <a:rPr sz="1400" spc="-15" dirty="0">
                <a:solidFill>
                  <a:sysClr val="windowText" lastClr="000000"/>
                </a:solidFill>
                <a:latin typeface="Palatino Linotype"/>
                <a:cs typeface="Palatino Linotype"/>
              </a:rPr>
              <a:t>, </a:t>
            </a:r>
            <a:r>
              <a:rPr sz="1400" dirty="0">
                <a:solidFill>
                  <a:sysClr val="windowText" lastClr="000000"/>
                </a:solidFill>
                <a:latin typeface="Palatino Linotype"/>
                <a:cs typeface="Palatino Linotype"/>
              </a:rPr>
              <a:t>generate</a:t>
            </a:r>
            <a:r>
              <a:rPr sz="1400" spc="-15" dirty="0">
                <a:solidFill>
                  <a:sysClr val="windowText" lastClr="000000"/>
                </a:solidFill>
                <a:latin typeface="Palatino Linotype"/>
                <a:cs typeface="Palatino Linotype"/>
              </a:rPr>
              <a:t> </a:t>
            </a:r>
            <a:r>
              <a:rPr sz="1400" dirty="0">
                <a:solidFill>
                  <a:srgbClr val="0432FF"/>
                </a:solidFill>
                <a:latin typeface="Palatino Linotype"/>
                <a:cs typeface="Palatino Linotype"/>
              </a:rPr>
              <a:t>ST</a:t>
            </a:r>
            <a:r>
              <a:rPr sz="1400" spc="-15" dirty="0">
                <a:solidFill>
                  <a:srgbClr val="0432FF"/>
                </a:solidFill>
                <a:latin typeface="Palatino Linotype"/>
                <a:cs typeface="Palatino Linotype"/>
              </a:rPr>
              <a:t> </a:t>
            </a:r>
            <a:r>
              <a:rPr sz="1400" dirty="0">
                <a:solidFill>
                  <a:srgbClr val="0432FF"/>
                </a:solidFill>
                <a:latin typeface="Cambria Math"/>
                <a:cs typeface="Cambria Math"/>
              </a:rPr>
              <a:t>𝑣</a:t>
            </a:r>
            <a:r>
              <a:rPr sz="1400" spc="-10" dirty="0">
                <a:solidFill>
                  <a:srgbClr val="0432FF"/>
                </a:solidFill>
                <a:latin typeface="Palatino Linotype"/>
                <a:cs typeface="Palatino Linotype"/>
              </a:rPr>
              <a:t>, </a:t>
            </a:r>
            <a:r>
              <a:rPr sz="1400" dirty="0">
                <a:solidFill>
                  <a:srgbClr val="0432FF"/>
                </a:solidFill>
                <a:latin typeface="Cambria Math"/>
                <a:cs typeface="Cambria Math"/>
              </a:rPr>
              <a:t>𝑅</a:t>
            </a:r>
            <a:r>
              <a:rPr sz="1400" spc="60" dirty="0">
                <a:solidFill>
                  <a:srgbClr val="0432FF"/>
                </a:solidFill>
                <a:latin typeface="Cambria Math"/>
                <a:cs typeface="Cambria Math"/>
              </a:rPr>
              <a:t> </a:t>
            </a:r>
            <a:r>
              <a:rPr sz="1400" dirty="0">
                <a:solidFill>
                  <a:sysClr val="windowText" lastClr="000000"/>
                </a:solidFill>
                <a:latin typeface="Palatino Linotype"/>
                <a:cs typeface="Palatino Linotype"/>
              </a:rPr>
              <a:t>to</a:t>
            </a:r>
            <a:r>
              <a:rPr sz="1400" spc="-20" dirty="0">
                <a:solidFill>
                  <a:sysClr val="windowText" lastClr="000000"/>
                </a:solidFill>
                <a:latin typeface="Palatino Linotype"/>
                <a:cs typeface="Palatino Linotype"/>
              </a:rPr>
              <a:t> </a:t>
            </a:r>
            <a:r>
              <a:rPr sz="1400" dirty="0">
                <a:solidFill>
                  <a:sysClr val="windowText" lastClr="000000"/>
                </a:solidFill>
                <a:latin typeface="Palatino Linotype"/>
                <a:cs typeface="Palatino Linotype"/>
              </a:rPr>
              <a:t>place</a:t>
            </a:r>
            <a:r>
              <a:rPr sz="1400" spc="-15" dirty="0">
                <a:solidFill>
                  <a:sysClr val="windowText" lastClr="000000"/>
                </a:solidFill>
                <a:latin typeface="Palatino Linotype"/>
                <a:cs typeface="Palatino Linotype"/>
              </a:rPr>
              <a:t> </a:t>
            </a:r>
            <a:r>
              <a:rPr sz="1400" dirty="0">
                <a:solidFill>
                  <a:sysClr val="windowText" lastClr="000000"/>
                </a:solidFill>
                <a:latin typeface="Palatino Linotype"/>
                <a:cs typeface="Palatino Linotype"/>
              </a:rPr>
              <a:t>a</a:t>
            </a:r>
            <a:r>
              <a:rPr sz="1400" spc="-15" dirty="0">
                <a:solidFill>
                  <a:sysClr val="windowText" lastClr="000000"/>
                </a:solidFill>
                <a:latin typeface="Palatino Linotype"/>
                <a:cs typeface="Palatino Linotype"/>
              </a:rPr>
              <a:t> </a:t>
            </a:r>
            <a:r>
              <a:rPr sz="1400" dirty="0">
                <a:solidFill>
                  <a:sysClr val="windowText" lastClr="000000"/>
                </a:solidFill>
                <a:latin typeface="Palatino Linotype"/>
                <a:cs typeface="Palatino Linotype"/>
              </a:rPr>
              <a:t>copy</a:t>
            </a:r>
            <a:r>
              <a:rPr sz="1400" spc="-20" dirty="0">
                <a:solidFill>
                  <a:sysClr val="windowText" lastClr="000000"/>
                </a:solidFill>
                <a:latin typeface="Palatino Linotype"/>
                <a:cs typeface="Palatino Linotype"/>
              </a:rPr>
              <a:t> </a:t>
            </a:r>
            <a:r>
              <a:rPr sz="1400" dirty="0">
                <a:solidFill>
                  <a:sysClr val="windowText" lastClr="000000"/>
                </a:solidFill>
                <a:latin typeface="Palatino Linotype"/>
                <a:cs typeface="Palatino Linotype"/>
              </a:rPr>
              <a:t>of</a:t>
            </a:r>
            <a:r>
              <a:rPr sz="1400" spc="-20" dirty="0">
                <a:solidFill>
                  <a:sysClr val="windowText" lastClr="000000"/>
                </a:solidFill>
                <a:latin typeface="Palatino Linotype"/>
                <a:cs typeface="Palatino Linotype"/>
              </a:rPr>
              <a:t> </a:t>
            </a:r>
            <a:r>
              <a:rPr sz="1400" dirty="0">
                <a:solidFill>
                  <a:sysClr val="windowText" lastClr="000000"/>
                </a:solidFill>
                <a:latin typeface="Cambria Math"/>
                <a:cs typeface="Cambria Math"/>
              </a:rPr>
              <a:t>𝑣</a:t>
            </a:r>
            <a:r>
              <a:rPr sz="1400" spc="60" dirty="0">
                <a:solidFill>
                  <a:sysClr val="windowText" lastClr="000000"/>
                </a:solidFill>
                <a:latin typeface="Cambria Math"/>
                <a:cs typeface="Cambria Math"/>
              </a:rPr>
              <a:t> </a:t>
            </a:r>
            <a:r>
              <a:rPr sz="1400" dirty="0">
                <a:solidFill>
                  <a:sysClr val="windowText" lastClr="000000"/>
                </a:solidFill>
                <a:latin typeface="Palatino Linotype"/>
                <a:cs typeface="Palatino Linotype"/>
              </a:rPr>
              <a:t>in</a:t>
            </a:r>
            <a:r>
              <a:rPr sz="1400" spc="-20" dirty="0">
                <a:solidFill>
                  <a:sysClr val="windowText" lastClr="000000"/>
                </a:solidFill>
                <a:latin typeface="Palatino Linotype"/>
                <a:cs typeface="Palatino Linotype"/>
              </a:rPr>
              <a:t> </a:t>
            </a:r>
            <a:r>
              <a:rPr sz="1400" dirty="0">
                <a:solidFill>
                  <a:sysClr val="windowText" lastClr="000000"/>
                </a:solidFill>
                <a:latin typeface="Palatino Linotype"/>
                <a:cs typeface="Palatino Linotype"/>
              </a:rPr>
              <a:t>its</a:t>
            </a:r>
            <a:r>
              <a:rPr sz="1400" spc="-20" dirty="0">
                <a:solidFill>
                  <a:sysClr val="windowText" lastClr="000000"/>
                </a:solidFill>
                <a:latin typeface="Palatino Linotype"/>
                <a:cs typeface="Palatino Linotype"/>
              </a:rPr>
              <a:t> </a:t>
            </a:r>
            <a:r>
              <a:rPr sz="1400" dirty="0">
                <a:solidFill>
                  <a:sysClr val="windowText" lastClr="000000"/>
                </a:solidFill>
                <a:latin typeface="Palatino Linotype"/>
                <a:cs typeface="Palatino Linotype"/>
              </a:rPr>
              <a:t>own</a:t>
            </a:r>
            <a:r>
              <a:rPr sz="1400" spc="-20" dirty="0">
                <a:solidFill>
                  <a:sysClr val="windowText" lastClr="000000"/>
                </a:solidFill>
                <a:latin typeface="Palatino Linotype"/>
                <a:cs typeface="Palatino Linotype"/>
              </a:rPr>
              <a:t> </a:t>
            </a:r>
            <a:r>
              <a:rPr sz="1400" dirty="0">
                <a:solidFill>
                  <a:sysClr val="windowText" lastClr="000000"/>
                </a:solidFill>
                <a:latin typeface="Palatino Linotype"/>
                <a:cs typeface="Palatino Linotype"/>
              </a:rPr>
              <a:t>memory</a:t>
            </a:r>
            <a:r>
              <a:rPr sz="1400" spc="-20" dirty="0">
                <a:solidFill>
                  <a:sysClr val="windowText" lastClr="000000"/>
                </a:solidFill>
                <a:latin typeface="Palatino Linotype"/>
                <a:cs typeface="Palatino Linotype"/>
              </a:rPr>
              <a:t> </a:t>
            </a:r>
            <a:r>
              <a:rPr sz="1400" dirty="0">
                <a:solidFill>
                  <a:sysClr val="windowText" lastClr="000000"/>
                </a:solidFill>
                <a:latin typeface="Palatino Linotype"/>
                <a:cs typeface="Palatino Linotype"/>
              </a:rPr>
              <a:t>location</a:t>
            </a:r>
            <a:r>
              <a:rPr sz="1400" spc="-10" dirty="0">
                <a:solidFill>
                  <a:sysClr val="windowText" lastClr="000000"/>
                </a:solidFill>
                <a:latin typeface="Palatino Linotype"/>
                <a:cs typeface="Palatino Linotype"/>
              </a:rPr>
              <a:t> (</a:t>
            </a:r>
            <a:r>
              <a:rPr sz="1400" i="1" dirty="0">
                <a:solidFill>
                  <a:srgbClr val="0432FF"/>
                </a:solidFill>
                <a:latin typeface="Palatino Linotype"/>
                <a:cs typeface="Palatino Linotype"/>
              </a:rPr>
              <a:t>spill</a:t>
            </a:r>
            <a:r>
              <a:rPr sz="1400" spc="-10" dirty="0">
                <a:solidFill>
                  <a:sysClr val="windowText" lastClr="000000"/>
                </a:solidFill>
                <a:latin typeface="Palatino Linotype"/>
                <a:cs typeface="Palatino Linotype"/>
              </a:rPr>
              <a:t>, </a:t>
            </a:r>
            <a:r>
              <a:rPr sz="1400" dirty="0">
                <a:solidFill>
                  <a:srgbClr val="0432FF"/>
                </a:solidFill>
                <a:latin typeface="SimSun"/>
                <a:cs typeface="SimSun"/>
              </a:rPr>
              <a:t>溢出</a:t>
            </a:r>
            <a:r>
              <a:rPr sz="1400" spc="-50" dirty="0">
                <a:solidFill>
                  <a:sysClr val="windowText" lastClr="000000"/>
                </a:solidFill>
                <a:latin typeface="Palatino Linotype"/>
                <a:cs typeface="Palatino Linotype"/>
              </a:rPr>
              <a:t>)</a:t>
            </a:r>
            <a:endParaRPr sz="1400" dirty="0">
              <a:solidFill>
                <a:sysClr val="windowText" lastClr="000000"/>
              </a:solidFill>
              <a:latin typeface="Palatino Linotype"/>
              <a:cs typeface="Palatino Linotype"/>
            </a:endParaRPr>
          </a:p>
          <a:p>
            <a:pPr marL="0" lvl="1">
              <a:spcBef>
                <a:spcPts val="325"/>
              </a:spcBef>
              <a:buFont typeface="Wingdings"/>
              <a:buChar char=""/>
            </a:pPr>
            <a:endParaRPr sz="1400" dirty="0">
              <a:solidFill>
                <a:sysClr val="windowText" lastClr="000000"/>
              </a:solidFill>
              <a:latin typeface="Palatino Linotype"/>
              <a:cs typeface="Palatino Linotype"/>
            </a:endParaRPr>
          </a:p>
          <a:p>
            <a:pPr marL="267970" indent="-229870">
              <a:buFont typeface="Arial MT"/>
              <a:buChar char="•"/>
              <a:tabLst>
                <a:tab pos="267970" algn="l"/>
              </a:tabLst>
            </a:pPr>
            <a:r>
              <a:rPr dirty="0">
                <a:solidFill>
                  <a:sysClr val="windowText" lastClr="000000"/>
                </a:solidFill>
                <a:latin typeface="Palatino Linotype"/>
                <a:cs typeface="Palatino Linotype"/>
              </a:rPr>
              <a:t>If</a:t>
            </a:r>
            <a:r>
              <a:rPr spc="-35" dirty="0">
                <a:solidFill>
                  <a:sysClr val="windowText" lastClr="000000"/>
                </a:solidFill>
                <a:latin typeface="Palatino Linotype"/>
                <a:cs typeface="Palatino Linotype"/>
              </a:rPr>
              <a:t> </a:t>
            </a:r>
            <a:r>
              <a:rPr dirty="0">
                <a:solidFill>
                  <a:sysClr val="windowText" lastClr="000000"/>
                </a:solidFill>
                <a:latin typeface="Cambria Math"/>
                <a:cs typeface="Cambria Math"/>
              </a:rPr>
              <a:t>𝑅</a:t>
            </a:r>
            <a:r>
              <a:rPr spc="70" dirty="0">
                <a:solidFill>
                  <a:sysClr val="windowText" lastClr="000000"/>
                </a:solidFill>
                <a:latin typeface="Cambria Math"/>
                <a:cs typeface="Cambria Math"/>
              </a:rPr>
              <a:t> </a:t>
            </a:r>
            <a:r>
              <a:rPr dirty="0">
                <a:solidFill>
                  <a:sysClr val="windowText" lastClr="000000"/>
                </a:solidFill>
                <a:latin typeface="Palatino Linotype"/>
                <a:cs typeface="Palatino Linotype"/>
              </a:rPr>
              <a:t>holds</a:t>
            </a:r>
            <a:r>
              <a:rPr spc="-35"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multiple</a:t>
            </a:r>
            <a:r>
              <a:rPr spc="-30" dirty="0">
                <a:solidFill>
                  <a:sysClr val="windowText" lastClr="000000"/>
                </a:solidFill>
                <a:latin typeface="Palatino Linotype"/>
                <a:cs typeface="Palatino Linotype"/>
              </a:rPr>
              <a:t> </a:t>
            </a:r>
            <a:r>
              <a:rPr spc="-10" dirty="0">
                <a:solidFill>
                  <a:sysClr val="windowText" lastClr="000000"/>
                </a:solidFill>
                <a:latin typeface="Palatino Linotype"/>
                <a:cs typeface="Palatino Linotype"/>
              </a:rPr>
              <a:t>variables,</a:t>
            </a:r>
            <a:r>
              <a:rPr spc="-30"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repeat</a:t>
            </a:r>
            <a:r>
              <a:rPr spc="-30"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the</a:t>
            </a:r>
            <a:r>
              <a:rPr spc="-30"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process</a:t>
            </a:r>
            <a:r>
              <a:rPr spc="-40"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for</a:t>
            </a:r>
            <a:r>
              <a:rPr spc="-30"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each</a:t>
            </a:r>
            <a:r>
              <a:rPr spc="-30"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such</a:t>
            </a:r>
            <a:r>
              <a:rPr spc="-30" dirty="0">
                <a:solidFill>
                  <a:sysClr val="windowText" lastClr="000000"/>
                </a:solidFill>
                <a:latin typeface="Palatino Linotype"/>
                <a:cs typeface="Palatino Linotype"/>
              </a:rPr>
              <a:t> </a:t>
            </a:r>
            <a:r>
              <a:rPr spc="-10" dirty="0">
                <a:solidFill>
                  <a:sysClr val="windowText" lastClr="000000"/>
                </a:solidFill>
                <a:latin typeface="Palatino Linotype"/>
                <a:cs typeface="Palatino Linotype"/>
              </a:rPr>
              <a:t>variable</a:t>
            </a:r>
            <a:r>
              <a:rPr spc="-30" dirty="0">
                <a:solidFill>
                  <a:sysClr val="windowText" lastClr="000000"/>
                </a:solidFill>
                <a:latin typeface="Palatino Linotype"/>
                <a:cs typeface="Palatino Linotype"/>
              </a:rPr>
              <a:t> </a:t>
            </a:r>
            <a:r>
              <a:rPr spc="-50" dirty="0">
                <a:solidFill>
                  <a:sysClr val="windowText" lastClr="000000"/>
                </a:solidFill>
                <a:latin typeface="Cambria Math"/>
                <a:cs typeface="Cambria Math"/>
              </a:rPr>
              <a:t>𝑣</a:t>
            </a:r>
            <a:endParaRPr dirty="0">
              <a:solidFill>
                <a:sysClr val="windowText" lastClr="000000"/>
              </a:solidFill>
              <a:latin typeface="Cambria Math"/>
              <a:cs typeface="Cambria Math"/>
            </a:endParaRPr>
          </a:p>
          <a:p>
            <a:pPr marL="723265" marR="502920" lvl="1" indent="-228600">
              <a:lnSpc>
                <a:spcPct val="120000"/>
              </a:lnSpc>
              <a:spcBef>
                <a:spcPts val="810"/>
              </a:spcBef>
              <a:buFont typeface="Wingdings"/>
              <a:buChar char=""/>
              <a:tabLst>
                <a:tab pos="723265" algn="l"/>
              </a:tabLst>
            </a:pPr>
            <a:r>
              <a:rPr sz="1400" dirty="0">
                <a:solidFill>
                  <a:sysClr val="windowText" lastClr="000000"/>
                </a:solidFill>
                <a:latin typeface="Palatino Linotype"/>
                <a:cs typeface="Palatino Linotype"/>
              </a:rPr>
              <a:t>At</a:t>
            </a:r>
            <a:r>
              <a:rPr sz="1400" spc="-25" dirty="0">
                <a:solidFill>
                  <a:sysClr val="windowText" lastClr="000000"/>
                </a:solidFill>
                <a:latin typeface="Palatino Linotype"/>
                <a:cs typeface="Palatino Linotype"/>
              </a:rPr>
              <a:t> </a:t>
            </a:r>
            <a:r>
              <a:rPr sz="1400" dirty="0">
                <a:solidFill>
                  <a:sysClr val="windowText" lastClr="000000"/>
                </a:solidFill>
                <a:latin typeface="Palatino Linotype"/>
                <a:cs typeface="Palatino Linotype"/>
              </a:rPr>
              <a:t>the</a:t>
            </a:r>
            <a:r>
              <a:rPr sz="1400" spc="-25" dirty="0">
                <a:solidFill>
                  <a:sysClr val="windowText" lastClr="000000"/>
                </a:solidFill>
                <a:latin typeface="Palatino Linotype"/>
                <a:cs typeface="Palatino Linotype"/>
              </a:rPr>
              <a:t> </a:t>
            </a:r>
            <a:r>
              <a:rPr sz="1400" dirty="0">
                <a:solidFill>
                  <a:sysClr val="windowText" lastClr="000000"/>
                </a:solidFill>
                <a:latin typeface="Palatino Linotype"/>
                <a:cs typeface="Palatino Linotype"/>
              </a:rPr>
              <a:t>end,</a:t>
            </a:r>
            <a:r>
              <a:rPr sz="1400" spc="-35" dirty="0">
                <a:solidFill>
                  <a:sysClr val="windowText" lastClr="000000"/>
                </a:solidFill>
                <a:latin typeface="Palatino Linotype"/>
                <a:cs typeface="Palatino Linotype"/>
              </a:rPr>
              <a:t> </a:t>
            </a:r>
            <a:r>
              <a:rPr sz="1400" spc="-30" dirty="0">
                <a:solidFill>
                  <a:sysClr val="windowText" lastClr="000000"/>
                </a:solidFill>
                <a:latin typeface="Cambria Math"/>
                <a:cs typeface="Cambria Math"/>
              </a:rPr>
              <a:t>𝑅</a:t>
            </a:r>
            <a:r>
              <a:rPr sz="1400" spc="-30" dirty="0">
                <a:solidFill>
                  <a:sysClr val="windowText" lastClr="000000"/>
                </a:solidFill>
                <a:latin typeface="Palatino Linotype"/>
                <a:cs typeface="Palatino Linotype"/>
              </a:rPr>
              <a:t>’s</a:t>
            </a:r>
            <a:r>
              <a:rPr sz="1400" spc="-35" dirty="0">
                <a:solidFill>
                  <a:sysClr val="windowText" lastClr="000000"/>
                </a:solidFill>
                <a:latin typeface="Palatino Linotype"/>
                <a:cs typeface="Palatino Linotype"/>
              </a:rPr>
              <a:t> </a:t>
            </a:r>
            <a:r>
              <a:rPr sz="1400" dirty="0">
                <a:solidFill>
                  <a:sysClr val="windowText" lastClr="000000"/>
                </a:solidFill>
                <a:latin typeface="Palatino Linotype"/>
                <a:cs typeface="Palatino Linotype"/>
              </a:rPr>
              <a:t>score</a:t>
            </a:r>
            <a:r>
              <a:rPr sz="1400" spc="-25" dirty="0">
                <a:solidFill>
                  <a:sysClr val="windowText" lastClr="000000"/>
                </a:solidFill>
                <a:latin typeface="Palatino Linotype"/>
                <a:cs typeface="Palatino Linotype"/>
              </a:rPr>
              <a:t> </a:t>
            </a:r>
            <a:r>
              <a:rPr sz="1400" dirty="0">
                <a:solidFill>
                  <a:sysClr val="windowText" lastClr="000000"/>
                </a:solidFill>
                <a:latin typeface="Palatino Linotype"/>
                <a:cs typeface="Palatino Linotype"/>
              </a:rPr>
              <a:t>is</a:t>
            </a:r>
            <a:r>
              <a:rPr sz="1400" spc="-35" dirty="0">
                <a:solidFill>
                  <a:sysClr val="windowText" lastClr="000000"/>
                </a:solidFill>
                <a:latin typeface="Palatino Linotype"/>
                <a:cs typeface="Palatino Linotype"/>
              </a:rPr>
              <a:t> </a:t>
            </a:r>
            <a:r>
              <a:rPr sz="1400" dirty="0">
                <a:solidFill>
                  <a:sysClr val="windowText" lastClr="000000"/>
                </a:solidFill>
                <a:latin typeface="Palatino Linotype"/>
                <a:cs typeface="Palatino Linotype"/>
              </a:rPr>
              <a:t>the</a:t>
            </a:r>
            <a:r>
              <a:rPr sz="1400" spc="-30" dirty="0">
                <a:solidFill>
                  <a:sysClr val="windowText" lastClr="000000"/>
                </a:solidFill>
                <a:latin typeface="Palatino Linotype"/>
                <a:cs typeface="Palatino Linotype"/>
              </a:rPr>
              <a:t> </a:t>
            </a:r>
            <a:r>
              <a:rPr sz="1400" dirty="0">
                <a:solidFill>
                  <a:sysClr val="windowText" lastClr="000000"/>
                </a:solidFill>
                <a:latin typeface="Palatino Linotype"/>
                <a:cs typeface="Palatino Linotype"/>
              </a:rPr>
              <a:t>number</a:t>
            </a:r>
            <a:r>
              <a:rPr sz="1400" spc="-30" dirty="0">
                <a:solidFill>
                  <a:sysClr val="windowText" lastClr="000000"/>
                </a:solidFill>
                <a:latin typeface="Palatino Linotype"/>
                <a:cs typeface="Palatino Linotype"/>
              </a:rPr>
              <a:t> </a:t>
            </a:r>
            <a:r>
              <a:rPr sz="1400" dirty="0">
                <a:solidFill>
                  <a:sysClr val="windowText" lastClr="000000"/>
                </a:solidFill>
                <a:latin typeface="Palatino Linotype"/>
                <a:cs typeface="Palatino Linotype"/>
              </a:rPr>
              <a:t>of</a:t>
            </a:r>
            <a:r>
              <a:rPr sz="1400" spc="-30" dirty="0">
                <a:solidFill>
                  <a:sysClr val="windowText" lastClr="000000"/>
                </a:solidFill>
                <a:latin typeface="Palatino Linotype"/>
                <a:cs typeface="Palatino Linotype"/>
              </a:rPr>
              <a:t> </a:t>
            </a:r>
            <a:r>
              <a:rPr sz="1400" dirty="0">
                <a:solidFill>
                  <a:sysClr val="windowText" lastClr="000000"/>
                </a:solidFill>
                <a:latin typeface="Palatino Linotype"/>
                <a:cs typeface="Palatino Linotype"/>
              </a:rPr>
              <a:t>generated</a:t>
            </a:r>
            <a:r>
              <a:rPr sz="1400" spc="-40" dirty="0">
                <a:solidFill>
                  <a:sysClr val="windowText" lastClr="000000"/>
                </a:solidFill>
                <a:latin typeface="Palatino Linotype"/>
                <a:cs typeface="Palatino Linotype"/>
              </a:rPr>
              <a:t> </a:t>
            </a:r>
            <a:r>
              <a:rPr sz="1400" dirty="0">
                <a:solidFill>
                  <a:sysClr val="windowText" lastClr="000000"/>
                </a:solidFill>
                <a:latin typeface="Palatino Linotype"/>
                <a:cs typeface="Palatino Linotype"/>
              </a:rPr>
              <a:t>store</a:t>
            </a:r>
            <a:r>
              <a:rPr sz="1400" spc="-25" dirty="0">
                <a:solidFill>
                  <a:sysClr val="windowText" lastClr="000000"/>
                </a:solidFill>
                <a:latin typeface="Palatino Linotype"/>
                <a:cs typeface="Palatino Linotype"/>
              </a:rPr>
              <a:t> </a:t>
            </a:r>
            <a:r>
              <a:rPr sz="1400" dirty="0">
                <a:solidFill>
                  <a:sysClr val="windowText" lastClr="000000"/>
                </a:solidFill>
                <a:latin typeface="Palatino Linotype"/>
                <a:cs typeface="Palatino Linotype"/>
              </a:rPr>
              <a:t>instructions.</a:t>
            </a:r>
            <a:r>
              <a:rPr sz="1400" spc="-25" dirty="0">
                <a:solidFill>
                  <a:sysClr val="windowText" lastClr="000000"/>
                </a:solidFill>
                <a:latin typeface="Palatino Linotype"/>
                <a:cs typeface="Palatino Linotype"/>
              </a:rPr>
              <a:t> </a:t>
            </a:r>
            <a:r>
              <a:rPr sz="1400" spc="-20" dirty="0">
                <a:solidFill>
                  <a:sysClr val="windowText" lastClr="000000"/>
                </a:solidFill>
                <a:latin typeface="Palatino Linotype"/>
                <a:cs typeface="Palatino Linotype"/>
              </a:rPr>
              <a:t>We</a:t>
            </a:r>
            <a:r>
              <a:rPr sz="1400" spc="-30" dirty="0">
                <a:solidFill>
                  <a:sysClr val="windowText" lastClr="000000"/>
                </a:solidFill>
                <a:latin typeface="Palatino Linotype"/>
                <a:cs typeface="Palatino Linotype"/>
              </a:rPr>
              <a:t> </a:t>
            </a:r>
            <a:r>
              <a:rPr sz="1400" dirty="0">
                <a:solidFill>
                  <a:sysClr val="windowText" lastClr="000000"/>
                </a:solidFill>
                <a:latin typeface="Palatino Linotype"/>
                <a:cs typeface="Palatino Linotype"/>
              </a:rPr>
              <a:t>can</a:t>
            </a:r>
            <a:r>
              <a:rPr sz="1400" spc="-30" dirty="0">
                <a:solidFill>
                  <a:sysClr val="windowText" lastClr="000000"/>
                </a:solidFill>
                <a:latin typeface="Palatino Linotype"/>
                <a:cs typeface="Palatino Linotype"/>
              </a:rPr>
              <a:t> </a:t>
            </a:r>
            <a:r>
              <a:rPr sz="1400" dirty="0">
                <a:solidFill>
                  <a:sysClr val="windowText" lastClr="000000"/>
                </a:solidFill>
                <a:latin typeface="Palatino Linotype"/>
                <a:cs typeface="Palatino Linotype"/>
              </a:rPr>
              <a:t>pick</a:t>
            </a:r>
            <a:r>
              <a:rPr sz="1400" spc="-30" dirty="0">
                <a:solidFill>
                  <a:sysClr val="windowText" lastClr="000000"/>
                </a:solidFill>
                <a:latin typeface="Palatino Linotype"/>
                <a:cs typeface="Palatino Linotype"/>
              </a:rPr>
              <a:t> </a:t>
            </a:r>
            <a:r>
              <a:rPr sz="1400" spc="-25" dirty="0">
                <a:solidFill>
                  <a:sysClr val="windowText" lastClr="000000"/>
                </a:solidFill>
                <a:latin typeface="Palatino Linotype"/>
                <a:cs typeface="Palatino Linotype"/>
              </a:rPr>
              <a:t>the </a:t>
            </a:r>
            <a:r>
              <a:rPr sz="1400" dirty="0">
                <a:solidFill>
                  <a:sysClr val="windowText" lastClr="000000"/>
                </a:solidFill>
                <a:latin typeface="Palatino Linotype"/>
                <a:cs typeface="Palatino Linotype"/>
              </a:rPr>
              <a:t>candidate</a:t>
            </a:r>
            <a:r>
              <a:rPr sz="1400" spc="-40" dirty="0">
                <a:solidFill>
                  <a:sysClr val="windowText" lastClr="000000"/>
                </a:solidFill>
                <a:latin typeface="Palatino Linotype"/>
                <a:cs typeface="Palatino Linotype"/>
              </a:rPr>
              <a:t> </a:t>
            </a:r>
            <a:r>
              <a:rPr sz="1400" dirty="0">
                <a:solidFill>
                  <a:sysClr val="windowText" lastClr="000000"/>
                </a:solidFill>
                <a:latin typeface="Palatino Linotype"/>
                <a:cs typeface="Palatino Linotype"/>
              </a:rPr>
              <a:t>with</a:t>
            </a:r>
            <a:r>
              <a:rPr sz="1400" spc="-40" dirty="0">
                <a:solidFill>
                  <a:sysClr val="windowText" lastClr="000000"/>
                </a:solidFill>
                <a:latin typeface="Palatino Linotype"/>
                <a:cs typeface="Palatino Linotype"/>
              </a:rPr>
              <a:t> </a:t>
            </a:r>
            <a:r>
              <a:rPr sz="1400" dirty="0">
                <a:solidFill>
                  <a:sysClr val="windowText" lastClr="000000"/>
                </a:solidFill>
                <a:latin typeface="Palatino Linotype"/>
                <a:cs typeface="Palatino Linotype"/>
              </a:rPr>
              <a:t>the</a:t>
            </a:r>
            <a:r>
              <a:rPr sz="1400" spc="-35" dirty="0">
                <a:solidFill>
                  <a:sysClr val="windowText" lastClr="000000"/>
                </a:solidFill>
                <a:latin typeface="Palatino Linotype"/>
                <a:cs typeface="Palatino Linotype"/>
              </a:rPr>
              <a:t> </a:t>
            </a:r>
            <a:r>
              <a:rPr sz="1400" dirty="0">
                <a:solidFill>
                  <a:sysClr val="windowText" lastClr="000000"/>
                </a:solidFill>
                <a:latin typeface="Palatino Linotype"/>
                <a:cs typeface="Palatino Linotype"/>
              </a:rPr>
              <a:t>lowest</a:t>
            </a:r>
            <a:r>
              <a:rPr sz="1400" spc="-35" dirty="0">
                <a:solidFill>
                  <a:sysClr val="windowText" lastClr="000000"/>
                </a:solidFill>
                <a:latin typeface="Palatino Linotype"/>
                <a:cs typeface="Palatino Linotype"/>
              </a:rPr>
              <a:t> </a:t>
            </a:r>
            <a:r>
              <a:rPr sz="1400" spc="-20" dirty="0">
                <a:solidFill>
                  <a:sysClr val="windowText" lastClr="000000"/>
                </a:solidFill>
                <a:latin typeface="Palatino Linotype"/>
                <a:cs typeface="Palatino Linotype"/>
              </a:rPr>
              <a:t>score</a:t>
            </a:r>
            <a:endParaRPr sz="1400" dirty="0">
              <a:solidFill>
                <a:sysClr val="windowText" lastClr="000000"/>
              </a:solidFill>
              <a:latin typeface="Palatino Linotype"/>
              <a:cs typeface="Palatino Linotype"/>
            </a:endParaRPr>
          </a:p>
        </p:txBody>
      </p:sp>
      <p:sp>
        <p:nvSpPr>
          <p:cNvPr id="10" name="object 4">
            <a:extLst>
              <a:ext uri="{FF2B5EF4-FFF2-40B4-BE49-F238E27FC236}">
                <a16:creationId xmlns:a16="http://schemas.microsoft.com/office/drawing/2014/main" id="{EA53AF30-F869-C237-E8A3-12FB4261D8F1}"/>
              </a:ext>
            </a:extLst>
          </p:cNvPr>
          <p:cNvSpPr txBox="1"/>
          <p:nvPr/>
        </p:nvSpPr>
        <p:spPr>
          <a:xfrm>
            <a:off x="836547" y="5908040"/>
            <a:ext cx="7489190" cy="302895"/>
          </a:xfrm>
          <a:prstGeom prst="rect">
            <a:avLst/>
          </a:prstGeom>
        </p:spPr>
        <p:txBody>
          <a:bodyPr vert="horz" wrap="square" lIns="0" tIns="9525" rIns="0" bIns="0" rtlCol="0">
            <a:spAutoFit/>
          </a:bodyPr>
          <a:lstStyle/>
          <a:p>
            <a:pPr marL="12700" marR="5080">
              <a:lnSpc>
                <a:spcPct val="102200"/>
              </a:lnSpc>
              <a:spcBef>
                <a:spcPts val="75"/>
              </a:spcBef>
            </a:pPr>
            <a:r>
              <a:rPr sz="900" baseline="27777" dirty="0">
                <a:solidFill>
                  <a:srgbClr val="A6A6A6"/>
                </a:solidFill>
                <a:latin typeface="Palatino Linotype"/>
                <a:cs typeface="Palatino Linotype"/>
              </a:rPr>
              <a:t>*</a:t>
            </a:r>
            <a:r>
              <a:rPr sz="900" spc="89" baseline="27777" dirty="0">
                <a:solidFill>
                  <a:srgbClr val="A6A6A6"/>
                </a:solidFill>
                <a:latin typeface="Palatino Linotype"/>
                <a:cs typeface="Palatino Linotype"/>
              </a:rPr>
              <a:t> </a:t>
            </a:r>
            <a:r>
              <a:rPr sz="900" dirty="0">
                <a:solidFill>
                  <a:srgbClr val="A6A6A6"/>
                </a:solidFill>
                <a:latin typeface="Palatino Linotype"/>
                <a:cs typeface="Palatino Linotype"/>
              </a:rPr>
              <a:t>If</a:t>
            </a:r>
            <a:r>
              <a:rPr sz="900" spc="-10" dirty="0">
                <a:solidFill>
                  <a:srgbClr val="A6A6A6"/>
                </a:solidFill>
                <a:latin typeface="Palatino Linotype"/>
                <a:cs typeface="Palatino Linotype"/>
              </a:rPr>
              <a:t> </a:t>
            </a:r>
            <a:r>
              <a:rPr sz="900" dirty="0">
                <a:solidFill>
                  <a:srgbClr val="A6A6A6"/>
                </a:solidFill>
                <a:latin typeface="Cambria Math"/>
                <a:cs typeface="Cambria Math"/>
              </a:rPr>
              <a:t>𝑣</a:t>
            </a:r>
            <a:r>
              <a:rPr sz="900" spc="35" dirty="0">
                <a:solidFill>
                  <a:srgbClr val="A6A6A6"/>
                </a:solidFill>
                <a:latin typeface="Cambria Math"/>
                <a:cs typeface="Cambria Math"/>
              </a:rPr>
              <a:t> </a:t>
            </a:r>
            <a:r>
              <a:rPr sz="900" dirty="0">
                <a:solidFill>
                  <a:srgbClr val="A6A6A6"/>
                </a:solidFill>
                <a:latin typeface="Palatino Linotype"/>
                <a:cs typeface="Palatino Linotype"/>
              </a:rPr>
              <a:t>is</a:t>
            </a:r>
            <a:r>
              <a:rPr sz="900" spc="-5" dirty="0">
                <a:solidFill>
                  <a:srgbClr val="A6A6A6"/>
                </a:solidFill>
                <a:latin typeface="Palatino Linotype"/>
                <a:cs typeface="Palatino Linotype"/>
              </a:rPr>
              <a:t> </a:t>
            </a:r>
            <a:r>
              <a:rPr sz="900" dirty="0">
                <a:solidFill>
                  <a:srgbClr val="A6A6A6"/>
                </a:solidFill>
                <a:latin typeface="Cambria Math"/>
                <a:cs typeface="Cambria Math"/>
              </a:rPr>
              <a:t>𝑥</a:t>
            </a:r>
            <a:r>
              <a:rPr sz="900" dirty="0">
                <a:solidFill>
                  <a:srgbClr val="A6A6A6"/>
                </a:solidFill>
                <a:latin typeface="Palatino Linotype"/>
                <a:cs typeface="Palatino Linotype"/>
              </a:rPr>
              <a:t>,</a:t>
            </a:r>
            <a:r>
              <a:rPr sz="900" spc="-10" dirty="0">
                <a:solidFill>
                  <a:srgbClr val="A6A6A6"/>
                </a:solidFill>
                <a:latin typeface="Palatino Linotype"/>
                <a:cs typeface="Palatino Linotype"/>
              </a:rPr>
              <a:t> </a:t>
            </a:r>
            <a:r>
              <a:rPr sz="900" dirty="0">
                <a:solidFill>
                  <a:srgbClr val="A6A6A6"/>
                </a:solidFill>
                <a:latin typeface="Palatino Linotype"/>
                <a:cs typeface="Palatino Linotype"/>
              </a:rPr>
              <a:t>since</a:t>
            </a:r>
            <a:r>
              <a:rPr sz="900" spc="-25" dirty="0">
                <a:solidFill>
                  <a:srgbClr val="A6A6A6"/>
                </a:solidFill>
                <a:latin typeface="Palatino Linotype"/>
                <a:cs typeface="Palatino Linotype"/>
              </a:rPr>
              <a:t> </a:t>
            </a:r>
            <a:r>
              <a:rPr sz="900" i="1" dirty="0">
                <a:solidFill>
                  <a:srgbClr val="A6A6A6"/>
                </a:solidFill>
                <a:latin typeface="Palatino Linotype"/>
                <a:cs typeface="Palatino Linotype"/>
              </a:rPr>
              <a:t>x</a:t>
            </a:r>
            <a:r>
              <a:rPr sz="900" i="1" spc="-10" dirty="0">
                <a:solidFill>
                  <a:srgbClr val="A6A6A6"/>
                </a:solidFill>
                <a:latin typeface="Palatino Linotype"/>
                <a:cs typeface="Palatino Linotype"/>
              </a:rPr>
              <a:t> </a:t>
            </a:r>
            <a:r>
              <a:rPr sz="900" dirty="0">
                <a:solidFill>
                  <a:srgbClr val="A6A6A6"/>
                </a:solidFill>
                <a:latin typeface="Palatino Linotype"/>
                <a:cs typeface="Palatino Linotype"/>
              </a:rPr>
              <a:t>is</a:t>
            </a:r>
            <a:r>
              <a:rPr sz="900" spc="-5" dirty="0">
                <a:solidFill>
                  <a:srgbClr val="A6A6A6"/>
                </a:solidFill>
                <a:latin typeface="Palatino Linotype"/>
                <a:cs typeface="Palatino Linotype"/>
              </a:rPr>
              <a:t> </a:t>
            </a:r>
            <a:r>
              <a:rPr sz="900" dirty="0">
                <a:solidFill>
                  <a:srgbClr val="A6A6A6"/>
                </a:solidFill>
                <a:latin typeface="Palatino Linotype"/>
                <a:cs typeface="Palatino Linotype"/>
              </a:rPr>
              <a:t>going</a:t>
            </a:r>
            <a:r>
              <a:rPr sz="900" spc="-15" dirty="0">
                <a:solidFill>
                  <a:srgbClr val="A6A6A6"/>
                </a:solidFill>
                <a:latin typeface="Palatino Linotype"/>
                <a:cs typeface="Palatino Linotype"/>
              </a:rPr>
              <a:t> </a:t>
            </a:r>
            <a:r>
              <a:rPr sz="900" dirty="0">
                <a:solidFill>
                  <a:srgbClr val="A6A6A6"/>
                </a:solidFill>
                <a:latin typeface="Palatino Linotype"/>
                <a:cs typeface="Palatino Linotype"/>
              </a:rPr>
              <a:t>to</a:t>
            </a:r>
            <a:r>
              <a:rPr sz="900" spc="-20" dirty="0">
                <a:solidFill>
                  <a:srgbClr val="A6A6A6"/>
                </a:solidFill>
                <a:latin typeface="Palatino Linotype"/>
                <a:cs typeface="Palatino Linotype"/>
              </a:rPr>
              <a:t> </a:t>
            </a:r>
            <a:r>
              <a:rPr sz="900" dirty="0">
                <a:solidFill>
                  <a:srgbClr val="A6A6A6"/>
                </a:solidFill>
                <a:latin typeface="Palatino Linotype"/>
                <a:cs typeface="Palatino Linotype"/>
              </a:rPr>
              <a:t>be</a:t>
            </a:r>
            <a:r>
              <a:rPr sz="900" spc="-20" dirty="0">
                <a:solidFill>
                  <a:srgbClr val="A6A6A6"/>
                </a:solidFill>
                <a:latin typeface="Palatino Linotype"/>
                <a:cs typeface="Palatino Linotype"/>
              </a:rPr>
              <a:t> </a:t>
            </a:r>
            <a:r>
              <a:rPr sz="900" dirty="0">
                <a:solidFill>
                  <a:srgbClr val="A6A6A6"/>
                </a:solidFill>
                <a:latin typeface="Palatino Linotype"/>
                <a:cs typeface="Palatino Linotype"/>
              </a:rPr>
              <a:t>redefined,</a:t>
            </a:r>
            <a:r>
              <a:rPr sz="900" spc="-10" dirty="0">
                <a:solidFill>
                  <a:srgbClr val="A6A6A6"/>
                </a:solidFill>
                <a:latin typeface="Palatino Linotype"/>
                <a:cs typeface="Palatino Linotype"/>
              </a:rPr>
              <a:t> </a:t>
            </a:r>
            <a:r>
              <a:rPr sz="900" dirty="0">
                <a:solidFill>
                  <a:srgbClr val="A6A6A6"/>
                </a:solidFill>
                <a:latin typeface="Palatino Linotype"/>
                <a:cs typeface="Palatino Linotype"/>
              </a:rPr>
              <a:t>it</a:t>
            </a:r>
            <a:r>
              <a:rPr sz="900" spc="-20" dirty="0">
                <a:solidFill>
                  <a:srgbClr val="A6A6A6"/>
                </a:solidFill>
                <a:latin typeface="Palatino Linotype"/>
                <a:cs typeface="Palatino Linotype"/>
              </a:rPr>
              <a:t> </a:t>
            </a:r>
            <a:r>
              <a:rPr sz="900" dirty="0">
                <a:solidFill>
                  <a:srgbClr val="A6A6A6"/>
                </a:solidFill>
                <a:latin typeface="Palatino Linotype"/>
                <a:cs typeface="Palatino Linotype"/>
              </a:rPr>
              <a:t>is</a:t>
            </a:r>
            <a:r>
              <a:rPr sz="900" spc="-10" dirty="0">
                <a:solidFill>
                  <a:srgbClr val="A6A6A6"/>
                </a:solidFill>
                <a:latin typeface="Palatino Linotype"/>
                <a:cs typeface="Palatino Linotype"/>
              </a:rPr>
              <a:t> </a:t>
            </a:r>
            <a:r>
              <a:rPr sz="900" dirty="0">
                <a:solidFill>
                  <a:srgbClr val="A6A6A6"/>
                </a:solidFill>
                <a:latin typeface="Palatino Linotype"/>
                <a:cs typeface="Palatino Linotype"/>
              </a:rPr>
              <a:t>ok</a:t>
            </a:r>
            <a:r>
              <a:rPr sz="900" spc="-15" dirty="0">
                <a:solidFill>
                  <a:srgbClr val="A6A6A6"/>
                </a:solidFill>
                <a:latin typeface="Palatino Linotype"/>
                <a:cs typeface="Palatino Linotype"/>
              </a:rPr>
              <a:t> </a:t>
            </a:r>
            <a:r>
              <a:rPr sz="900" dirty="0">
                <a:solidFill>
                  <a:srgbClr val="A6A6A6"/>
                </a:solidFill>
                <a:latin typeface="Palatino Linotype"/>
                <a:cs typeface="Palatino Linotype"/>
              </a:rPr>
              <a:t>to</a:t>
            </a:r>
            <a:r>
              <a:rPr sz="900" spc="-15" dirty="0">
                <a:solidFill>
                  <a:srgbClr val="A6A6A6"/>
                </a:solidFill>
                <a:latin typeface="Palatino Linotype"/>
                <a:cs typeface="Palatino Linotype"/>
              </a:rPr>
              <a:t> </a:t>
            </a:r>
            <a:r>
              <a:rPr sz="900" dirty="0">
                <a:solidFill>
                  <a:srgbClr val="A6A6A6"/>
                </a:solidFill>
                <a:latin typeface="Palatino Linotype"/>
                <a:cs typeface="Palatino Linotype"/>
              </a:rPr>
              <a:t>discard</a:t>
            </a:r>
            <a:r>
              <a:rPr sz="900" spc="-15" dirty="0">
                <a:solidFill>
                  <a:srgbClr val="A6A6A6"/>
                </a:solidFill>
                <a:latin typeface="Palatino Linotype"/>
                <a:cs typeface="Palatino Linotype"/>
              </a:rPr>
              <a:t> </a:t>
            </a:r>
            <a:r>
              <a:rPr sz="900" dirty="0">
                <a:solidFill>
                  <a:srgbClr val="A6A6A6"/>
                </a:solidFill>
                <a:latin typeface="Palatino Linotype"/>
                <a:cs typeface="Palatino Linotype"/>
              </a:rPr>
              <a:t>its</a:t>
            </a:r>
            <a:r>
              <a:rPr sz="900" spc="-5" dirty="0">
                <a:solidFill>
                  <a:srgbClr val="A6A6A6"/>
                </a:solidFill>
                <a:latin typeface="Palatino Linotype"/>
                <a:cs typeface="Palatino Linotype"/>
              </a:rPr>
              <a:t> </a:t>
            </a:r>
            <a:r>
              <a:rPr sz="900" dirty="0">
                <a:solidFill>
                  <a:srgbClr val="A6A6A6"/>
                </a:solidFill>
                <a:latin typeface="Palatino Linotype"/>
                <a:cs typeface="Palatino Linotype"/>
              </a:rPr>
              <a:t>old</a:t>
            </a:r>
            <a:r>
              <a:rPr sz="900" spc="-10" dirty="0">
                <a:solidFill>
                  <a:srgbClr val="A6A6A6"/>
                </a:solidFill>
                <a:latin typeface="Palatino Linotype"/>
                <a:cs typeface="Palatino Linotype"/>
              </a:rPr>
              <a:t> </a:t>
            </a:r>
            <a:r>
              <a:rPr sz="900" dirty="0">
                <a:solidFill>
                  <a:srgbClr val="A6A6A6"/>
                </a:solidFill>
                <a:latin typeface="Palatino Linotype"/>
                <a:cs typeface="Palatino Linotype"/>
              </a:rPr>
              <a:t>value.</a:t>
            </a:r>
            <a:r>
              <a:rPr sz="900" spc="-20" dirty="0">
                <a:solidFill>
                  <a:srgbClr val="A6A6A6"/>
                </a:solidFill>
                <a:latin typeface="Palatino Linotype"/>
                <a:cs typeface="Palatino Linotype"/>
              </a:rPr>
              <a:t> </a:t>
            </a:r>
            <a:r>
              <a:rPr sz="900" dirty="0">
                <a:solidFill>
                  <a:srgbClr val="A6A6A6"/>
                </a:solidFill>
                <a:latin typeface="Palatino Linotype"/>
                <a:cs typeface="Palatino Linotype"/>
              </a:rPr>
              <a:t>Why</a:t>
            </a:r>
            <a:r>
              <a:rPr sz="900" spc="-15" dirty="0">
                <a:solidFill>
                  <a:srgbClr val="A6A6A6"/>
                </a:solidFill>
                <a:latin typeface="Palatino Linotype"/>
                <a:cs typeface="Palatino Linotype"/>
              </a:rPr>
              <a:t> </a:t>
            </a:r>
            <a:r>
              <a:rPr sz="900" dirty="0">
                <a:solidFill>
                  <a:srgbClr val="A6A6A6"/>
                </a:solidFill>
                <a:latin typeface="Palatino Linotype"/>
                <a:cs typeface="Palatino Linotype"/>
              </a:rPr>
              <a:t>requiring</a:t>
            </a:r>
            <a:r>
              <a:rPr sz="900" spc="-15" dirty="0">
                <a:solidFill>
                  <a:srgbClr val="A6A6A6"/>
                </a:solidFill>
                <a:latin typeface="Palatino Linotype"/>
                <a:cs typeface="Palatino Linotype"/>
              </a:rPr>
              <a:t> </a:t>
            </a:r>
            <a:r>
              <a:rPr sz="900" i="1" dirty="0">
                <a:solidFill>
                  <a:srgbClr val="A6A6A6"/>
                </a:solidFill>
                <a:latin typeface="Palatino Linotype"/>
                <a:cs typeface="Palatino Linotype"/>
              </a:rPr>
              <a:t>x</a:t>
            </a:r>
            <a:r>
              <a:rPr sz="900" i="1" spc="-10" dirty="0">
                <a:solidFill>
                  <a:srgbClr val="A6A6A6"/>
                </a:solidFill>
                <a:latin typeface="Palatino Linotype"/>
                <a:cs typeface="Palatino Linotype"/>
              </a:rPr>
              <a:t> </a:t>
            </a:r>
            <a:r>
              <a:rPr sz="900" dirty="0">
                <a:solidFill>
                  <a:srgbClr val="A6A6A6"/>
                </a:solidFill>
                <a:latin typeface="Palatino Linotype"/>
                <a:cs typeface="Palatino Linotype"/>
              </a:rPr>
              <a:t>is</a:t>
            </a:r>
            <a:r>
              <a:rPr sz="900" spc="-10" dirty="0">
                <a:solidFill>
                  <a:srgbClr val="A6A6A6"/>
                </a:solidFill>
                <a:latin typeface="Palatino Linotype"/>
                <a:cs typeface="Palatino Linotype"/>
              </a:rPr>
              <a:t> </a:t>
            </a:r>
            <a:r>
              <a:rPr sz="900" dirty="0">
                <a:solidFill>
                  <a:srgbClr val="A6A6A6"/>
                </a:solidFill>
                <a:latin typeface="Palatino Linotype"/>
                <a:cs typeface="Palatino Linotype"/>
              </a:rPr>
              <a:t>not</a:t>
            </a:r>
            <a:r>
              <a:rPr sz="900" spc="-20" dirty="0">
                <a:solidFill>
                  <a:srgbClr val="A6A6A6"/>
                </a:solidFill>
                <a:latin typeface="Palatino Linotype"/>
                <a:cs typeface="Palatino Linotype"/>
              </a:rPr>
              <a:t> </a:t>
            </a:r>
            <a:r>
              <a:rPr sz="900" i="1" dirty="0">
                <a:solidFill>
                  <a:srgbClr val="A6A6A6"/>
                </a:solidFill>
                <a:latin typeface="Palatino Linotype"/>
                <a:cs typeface="Palatino Linotype"/>
              </a:rPr>
              <a:t>z</a:t>
            </a:r>
            <a:r>
              <a:rPr sz="900" dirty="0">
                <a:solidFill>
                  <a:srgbClr val="A6A6A6"/>
                </a:solidFill>
                <a:latin typeface="Palatino Linotype"/>
                <a:cs typeface="Palatino Linotype"/>
              </a:rPr>
              <a:t>?</a:t>
            </a:r>
            <a:r>
              <a:rPr sz="900" spc="-10" dirty="0">
                <a:solidFill>
                  <a:srgbClr val="A6A6A6"/>
                </a:solidFill>
                <a:latin typeface="Palatino Linotype"/>
                <a:cs typeface="Palatino Linotype"/>
              </a:rPr>
              <a:t> </a:t>
            </a:r>
            <a:r>
              <a:rPr sz="900" dirty="0">
                <a:solidFill>
                  <a:srgbClr val="A6A6A6"/>
                </a:solidFill>
                <a:latin typeface="Palatino Linotype"/>
                <a:cs typeface="Palatino Linotype"/>
              </a:rPr>
              <a:t>Because</a:t>
            </a:r>
            <a:r>
              <a:rPr sz="900" spc="-25" dirty="0">
                <a:solidFill>
                  <a:srgbClr val="A6A6A6"/>
                </a:solidFill>
                <a:latin typeface="Palatino Linotype"/>
                <a:cs typeface="Palatino Linotype"/>
              </a:rPr>
              <a:t> </a:t>
            </a:r>
            <a:r>
              <a:rPr sz="900" dirty="0">
                <a:solidFill>
                  <a:srgbClr val="A6A6A6"/>
                </a:solidFill>
                <a:latin typeface="Palatino Linotype"/>
                <a:cs typeface="Palatino Linotype"/>
              </a:rPr>
              <a:t>as</a:t>
            </a:r>
            <a:r>
              <a:rPr sz="900" spc="-5" dirty="0">
                <a:solidFill>
                  <a:srgbClr val="A6A6A6"/>
                </a:solidFill>
                <a:latin typeface="Palatino Linotype"/>
                <a:cs typeface="Palatino Linotype"/>
              </a:rPr>
              <a:t> </a:t>
            </a:r>
            <a:r>
              <a:rPr sz="900" i="1" dirty="0">
                <a:solidFill>
                  <a:srgbClr val="A6A6A6"/>
                </a:solidFill>
                <a:latin typeface="Palatino Linotype"/>
                <a:cs typeface="Palatino Linotype"/>
              </a:rPr>
              <a:t>R</a:t>
            </a:r>
            <a:r>
              <a:rPr sz="900" i="1" spc="-15" dirty="0">
                <a:solidFill>
                  <a:srgbClr val="A6A6A6"/>
                </a:solidFill>
                <a:latin typeface="Palatino Linotype"/>
                <a:cs typeface="Palatino Linotype"/>
              </a:rPr>
              <a:t> </a:t>
            </a:r>
            <a:r>
              <a:rPr sz="900" dirty="0">
                <a:solidFill>
                  <a:srgbClr val="A6A6A6"/>
                </a:solidFill>
                <a:latin typeface="Palatino Linotype"/>
                <a:cs typeface="Palatino Linotype"/>
              </a:rPr>
              <a:t>is</a:t>
            </a:r>
            <a:r>
              <a:rPr sz="900" spc="-10" dirty="0">
                <a:solidFill>
                  <a:srgbClr val="A6A6A6"/>
                </a:solidFill>
                <a:latin typeface="Palatino Linotype"/>
                <a:cs typeface="Palatino Linotype"/>
              </a:rPr>
              <a:t> </a:t>
            </a:r>
            <a:r>
              <a:rPr sz="900" dirty="0">
                <a:solidFill>
                  <a:srgbClr val="A6A6A6"/>
                </a:solidFill>
                <a:latin typeface="Palatino Linotype"/>
                <a:cs typeface="Palatino Linotype"/>
              </a:rPr>
              <a:t>chosen</a:t>
            </a:r>
            <a:r>
              <a:rPr sz="900" spc="-10" dirty="0">
                <a:solidFill>
                  <a:srgbClr val="A6A6A6"/>
                </a:solidFill>
                <a:latin typeface="Palatino Linotype"/>
                <a:cs typeface="Palatino Linotype"/>
              </a:rPr>
              <a:t> </a:t>
            </a:r>
            <a:r>
              <a:rPr sz="900" dirty="0">
                <a:solidFill>
                  <a:srgbClr val="A6A6A6"/>
                </a:solidFill>
                <a:latin typeface="Palatino Linotype"/>
                <a:cs typeface="Palatino Linotype"/>
              </a:rPr>
              <a:t>to</a:t>
            </a:r>
            <a:r>
              <a:rPr sz="900" spc="-15" dirty="0">
                <a:solidFill>
                  <a:srgbClr val="A6A6A6"/>
                </a:solidFill>
                <a:latin typeface="Palatino Linotype"/>
                <a:cs typeface="Palatino Linotype"/>
              </a:rPr>
              <a:t> </a:t>
            </a:r>
            <a:r>
              <a:rPr sz="900" dirty="0">
                <a:solidFill>
                  <a:srgbClr val="A6A6A6"/>
                </a:solidFill>
                <a:latin typeface="Palatino Linotype"/>
                <a:cs typeface="Palatino Linotype"/>
              </a:rPr>
              <a:t>be</a:t>
            </a:r>
            <a:r>
              <a:rPr sz="900" spc="-20" dirty="0">
                <a:solidFill>
                  <a:srgbClr val="A6A6A6"/>
                </a:solidFill>
                <a:latin typeface="Palatino Linotype"/>
                <a:cs typeface="Palatino Linotype"/>
              </a:rPr>
              <a:t> </a:t>
            </a:r>
            <a:r>
              <a:rPr sz="900" dirty="0">
                <a:solidFill>
                  <a:srgbClr val="A6A6A6"/>
                </a:solidFill>
                <a:latin typeface="Palatino Linotype"/>
                <a:cs typeface="Palatino Linotype"/>
              </a:rPr>
              <a:t>reused,</a:t>
            </a:r>
            <a:r>
              <a:rPr sz="900" spc="-15" dirty="0">
                <a:solidFill>
                  <a:srgbClr val="A6A6A6"/>
                </a:solidFill>
                <a:latin typeface="Palatino Linotype"/>
                <a:cs typeface="Palatino Linotype"/>
              </a:rPr>
              <a:t> </a:t>
            </a:r>
            <a:r>
              <a:rPr sz="900" i="1" dirty="0">
                <a:solidFill>
                  <a:srgbClr val="A6A6A6"/>
                </a:solidFill>
                <a:latin typeface="Palatino Linotype"/>
                <a:cs typeface="Palatino Linotype"/>
              </a:rPr>
              <a:t>y</a:t>
            </a:r>
            <a:r>
              <a:rPr sz="900" dirty="0">
                <a:solidFill>
                  <a:srgbClr val="A6A6A6"/>
                </a:solidFill>
                <a:latin typeface="Palatino Linotype"/>
                <a:cs typeface="Palatino Linotype"/>
              </a:rPr>
              <a:t>’s</a:t>
            </a:r>
            <a:r>
              <a:rPr sz="900" spc="-5" dirty="0">
                <a:solidFill>
                  <a:srgbClr val="A6A6A6"/>
                </a:solidFill>
                <a:latin typeface="Palatino Linotype"/>
                <a:cs typeface="Palatino Linotype"/>
              </a:rPr>
              <a:t> </a:t>
            </a:r>
            <a:r>
              <a:rPr sz="900" dirty="0">
                <a:solidFill>
                  <a:srgbClr val="A6A6A6"/>
                </a:solidFill>
                <a:latin typeface="Palatino Linotype"/>
                <a:cs typeface="Palatino Linotype"/>
              </a:rPr>
              <a:t>value</a:t>
            </a:r>
            <a:r>
              <a:rPr sz="900" spc="-20" dirty="0">
                <a:solidFill>
                  <a:srgbClr val="A6A6A6"/>
                </a:solidFill>
                <a:latin typeface="Palatino Linotype"/>
                <a:cs typeface="Palatino Linotype"/>
              </a:rPr>
              <a:t> will </a:t>
            </a:r>
            <a:r>
              <a:rPr sz="900" dirty="0">
                <a:solidFill>
                  <a:srgbClr val="A6A6A6"/>
                </a:solidFill>
                <a:latin typeface="Palatino Linotype"/>
                <a:cs typeface="Palatino Linotype"/>
              </a:rPr>
              <a:t>be</a:t>
            </a:r>
            <a:r>
              <a:rPr sz="900" spc="-25" dirty="0">
                <a:solidFill>
                  <a:srgbClr val="A6A6A6"/>
                </a:solidFill>
                <a:latin typeface="Palatino Linotype"/>
                <a:cs typeface="Palatino Linotype"/>
              </a:rPr>
              <a:t> </a:t>
            </a:r>
            <a:r>
              <a:rPr sz="900" dirty="0">
                <a:solidFill>
                  <a:srgbClr val="A6A6A6"/>
                </a:solidFill>
                <a:latin typeface="Palatino Linotype"/>
                <a:cs typeface="Palatino Linotype"/>
              </a:rPr>
              <a:t>loaded</a:t>
            </a:r>
            <a:r>
              <a:rPr sz="900" spc="-10" dirty="0">
                <a:solidFill>
                  <a:srgbClr val="A6A6A6"/>
                </a:solidFill>
                <a:latin typeface="Palatino Linotype"/>
                <a:cs typeface="Palatino Linotype"/>
              </a:rPr>
              <a:t> </a:t>
            </a:r>
            <a:r>
              <a:rPr sz="900" dirty="0">
                <a:solidFill>
                  <a:srgbClr val="A6A6A6"/>
                </a:solidFill>
                <a:latin typeface="Palatino Linotype"/>
                <a:cs typeface="Palatino Linotype"/>
              </a:rPr>
              <a:t>into</a:t>
            </a:r>
            <a:r>
              <a:rPr sz="900" spc="-20" dirty="0">
                <a:solidFill>
                  <a:srgbClr val="A6A6A6"/>
                </a:solidFill>
                <a:latin typeface="Palatino Linotype"/>
                <a:cs typeface="Palatino Linotype"/>
              </a:rPr>
              <a:t> </a:t>
            </a:r>
            <a:r>
              <a:rPr sz="900" i="1" dirty="0">
                <a:solidFill>
                  <a:srgbClr val="A6A6A6"/>
                </a:solidFill>
                <a:latin typeface="Palatino Linotype"/>
                <a:cs typeface="Palatino Linotype"/>
              </a:rPr>
              <a:t>R</a:t>
            </a:r>
            <a:r>
              <a:rPr sz="900" dirty="0">
                <a:solidFill>
                  <a:srgbClr val="A6A6A6"/>
                </a:solidFill>
                <a:latin typeface="Palatino Linotype"/>
                <a:cs typeface="Palatino Linotype"/>
              </a:rPr>
              <a:t>.</a:t>
            </a:r>
            <a:r>
              <a:rPr sz="900" spc="-10" dirty="0">
                <a:solidFill>
                  <a:srgbClr val="A6A6A6"/>
                </a:solidFill>
                <a:latin typeface="Palatino Linotype"/>
                <a:cs typeface="Palatino Linotype"/>
              </a:rPr>
              <a:t> </a:t>
            </a:r>
            <a:r>
              <a:rPr sz="900" dirty="0">
                <a:solidFill>
                  <a:srgbClr val="A6A6A6"/>
                </a:solidFill>
                <a:latin typeface="Palatino Linotype"/>
                <a:cs typeface="Palatino Linotype"/>
              </a:rPr>
              <a:t>If</a:t>
            </a:r>
            <a:r>
              <a:rPr sz="900" spc="-15" dirty="0">
                <a:solidFill>
                  <a:srgbClr val="A6A6A6"/>
                </a:solidFill>
                <a:latin typeface="Palatino Linotype"/>
                <a:cs typeface="Palatino Linotype"/>
              </a:rPr>
              <a:t> </a:t>
            </a:r>
            <a:r>
              <a:rPr sz="900" i="1" dirty="0">
                <a:solidFill>
                  <a:srgbClr val="A6A6A6"/>
                </a:solidFill>
                <a:latin typeface="Palatino Linotype"/>
                <a:cs typeface="Palatino Linotype"/>
              </a:rPr>
              <a:t>x</a:t>
            </a:r>
            <a:r>
              <a:rPr sz="900" i="1" spc="-10" dirty="0">
                <a:solidFill>
                  <a:srgbClr val="A6A6A6"/>
                </a:solidFill>
                <a:latin typeface="Palatino Linotype"/>
                <a:cs typeface="Palatino Linotype"/>
              </a:rPr>
              <a:t> </a:t>
            </a:r>
            <a:r>
              <a:rPr sz="900" dirty="0">
                <a:solidFill>
                  <a:srgbClr val="A6A6A6"/>
                </a:solidFill>
                <a:latin typeface="Palatino Linotype"/>
                <a:cs typeface="Palatino Linotype"/>
              </a:rPr>
              <a:t>is</a:t>
            </a:r>
            <a:r>
              <a:rPr sz="900" spc="-10" dirty="0">
                <a:solidFill>
                  <a:srgbClr val="A6A6A6"/>
                </a:solidFill>
                <a:latin typeface="Palatino Linotype"/>
                <a:cs typeface="Palatino Linotype"/>
              </a:rPr>
              <a:t> </a:t>
            </a:r>
            <a:r>
              <a:rPr sz="900" i="1" dirty="0">
                <a:solidFill>
                  <a:srgbClr val="A6A6A6"/>
                </a:solidFill>
                <a:latin typeface="Palatino Linotype"/>
                <a:cs typeface="Palatino Linotype"/>
              </a:rPr>
              <a:t>z</a:t>
            </a:r>
            <a:r>
              <a:rPr sz="900" dirty="0">
                <a:solidFill>
                  <a:srgbClr val="A6A6A6"/>
                </a:solidFill>
                <a:latin typeface="Palatino Linotype"/>
                <a:cs typeface="Palatino Linotype"/>
              </a:rPr>
              <a:t>,</a:t>
            </a:r>
            <a:r>
              <a:rPr sz="900" spc="-10" dirty="0">
                <a:solidFill>
                  <a:srgbClr val="A6A6A6"/>
                </a:solidFill>
                <a:latin typeface="Palatino Linotype"/>
                <a:cs typeface="Palatino Linotype"/>
              </a:rPr>
              <a:t> </a:t>
            </a:r>
            <a:r>
              <a:rPr sz="900" dirty="0">
                <a:solidFill>
                  <a:srgbClr val="A6A6A6"/>
                </a:solidFill>
                <a:latin typeface="Palatino Linotype"/>
                <a:cs typeface="Palatino Linotype"/>
              </a:rPr>
              <a:t>that</a:t>
            </a:r>
            <a:r>
              <a:rPr sz="900" spc="-20" dirty="0">
                <a:solidFill>
                  <a:srgbClr val="A6A6A6"/>
                </a:solidFill>
                <a:latin typeface="Palatino Linotype"/>
                <a:cs typeface="Palatino Linotype"/>
              </a:rPr>
              <a:t> </a:t>
            </a:r>
            <a:r>
              <a:rPr sz="900" dirty="0">
                <a:solidFill>
                  <a:srgbClr val="A6A6A6"/>
                </a:solidFill>
                <a:latin typeface="Palatino Linotype"/>
                <a:cs typeface="Palatino Linotype"/>
              </a:rPr>
              <a:t>means</a:t>
            </a:r>
            <a:r>
              <a:rPr sz="900" spc="-10" dirty="0">
                <a:solidFill>
                  <a:srgbClr val="A6A6A6"/>
                </a:solidFill>
                <a:latin typeface="Palatino Linotype"/>
                <a:cs typeface="Palatino Linotype"/>
              </a:rPr>
              <a:t> </a:t>
            </a:r>
            <a:r>
              <a:rPr sz="900" dirty="0">
                <a:solidFill>
                  <a:srgbClr val="A6A6A6"/>
                </a:solidFill>
                <a:latin typeface="Palatino Linotype"/>
                <a:cs typeface="Palatino Linotype"/>
              </a:rPr>
              <a:t>the</a:t>
            </a:r>
            <a:r>
              <a:rPr sz="900" spc="-20" dirty="0">
                <a:solidFill>
                  <a:srgbClr val="A6A6A6"/>
                </a:solidFill>
                <a:latin typeface="Palatino Linotype"/>
                <a:cs typeface="Palatino Linotype"/>
              </a:rPr>
              <a:t> </a:t>
            </a:r>
            <a:r>
              <a:rPr sz="900" dirty="0">
                <a:solidFill>
                  <a:srgbClr val="A6A6A6"/>
                </a:solidFill>
                <a:latin typeface="Palatino Linotype"/>
                <a:cs typeface="Palatino Linotype"/>
              </a:rPr>
              <a:t>current</a:t>
            </a:r>
            <a:r>
              <a:rPr sz="900" spc="-25" dirty="0">
                <a:solidFill>
                  <a:srgbClr val="A6A6A6"/>
                </a:solidFill>
                <a:latin typeface="Palatino Linotype"/>
                <a:cs typeface="Palatino Linotype"/>
              </a:rPr>
              <a:t> </a:t>
            </a:r>
            <a:r>
              <a:rPr sz="900" dirty="0">
                <a:solidFill>
                  <a:srgbClr val="A6A6A6"/>
                </a:solidFill>
                <a:latin typeface="Palatino Linotype"/>
                <a:cs typeface="Palatino Linotype"/>
              </a:rPr>
              <a:t>value</a:t>
            </a:r>
            <a:r>
              <a:rPr sz="900" spc="-20" dirty="0">
                <a:solidFill>
                  <a:srgbClr val="A6A6A6"/>
                </a:solidFill>
                <a:latin typeface="Palatino Linotype"/>
                <a:cs typeface="Palatino Linotype"/>
              </a:rPr>
              <a:t> </a:t>
            </a:r>
            <a:r>
              <a:rPr sz="900" dirty="0">
                <a:solidFill>
                  <a:srgbClr val="A6A6A6"/>
                </a:solidFill>
                <a:latin typeface="Palatino Linotype"/>
                <a:cs typeface="Palatino Linotype"/>
              </a:rPr>
              <a:t>of</a:t>
            </a:r>
            <a:r>
              <a:rPr sz="900" spc="-15" dirty="0">
                <a:solidFill>
                  <a:srgbClr val="A6A6A6"/>
                </a:solidFill>
                <a:latin typeface="Palatino Linotype"/>
                <a:cs typeface="Palatino Linotype"/>
              </a:rPr>
              <a:t> </a:t>
            </a:r>
            <a:r>
              <a:rPr sz="900" i="1" dirty="0">
                <a:solidFill>
                  <a:srgbClr val="A6A6A6"/>
                </a:solidFill>
                <a:latin typeface="Palatino Linotype"/>
                <a:cs typeface="Palatino Linotype"/>
              </a:rPr>
              <a:t>z</a:t>
            </a:r>
            <a:r>
              <a:rPr sz="900" i="1" spc="-10" dirty="0">
                <a:solidFill>
                  <a:srgbClr val="A6A6A6"/>
                </a:solidFill>
                <a:latin typeface="Palatino Linotype"/>
                <a:cs typeface="Palatino Linotype"/>
              </a:rPr>
              <a:t> </a:t>
            </a:r>
            <a:r>
              <a:rPr sz="900" dirty="0">
                <a:solidFill>
                  <a:srgbClr val="A6A6A6"/>
                </a:solidFill>
                <a:latin typeface="Palatino Linotype"/>
                <a:cs typeface="Palatino Linotype"/>
              </a:rPr>
              <a:t>is</a:t>
            </a:r>
            <a:r>
              <a:rPr sz="900" spc="-10" dirty="0">
                <a:solidFill>
                  <a:srgbClr val="A6A6A6"/>
                </a:solidFill>
                <a:latin typeface="Palatino Linotype"/>
                <a:cs typeface="Palatino Linotype"/>
              </a:rPr>
              <a:t> </a:t>
            </a:r>
            <a:r>
              <a:rPr sz="900" dirty="0">
                <a:solidFill>
                  <a:srgbClr val="A6A6A6"/>
                </a:solidFill>
                <a:latin typeface="Palatino Linotype"/>
                <a:cs typeface="Palatino Linotype"/>
              </a:rPr>
              <a:t>in</a:t>
            </a:r>
            <a:r>
              <a:rPr sz="900" spc="-10" dirty="0">
                <a:solidFill>
                  <a:srgbClr val="A6A6A6"/>
                </a:solidFill>
                <a:latin typeface="Palatino Linotype"/>
                <a:cs typeface="Palatino Linotype"/>
              </a:rPr>
              <a:t> </a:t>
            </a:r>
            <a:r>
              <a:rPr sz="900" i="1" dirty="0">
                <a:solidFill>
                  <a:srgbClr val="A6A6A6"/>
                </a:solidFill>
                <a:latin typeface="Palatino Linotype"/>
                <a:cs typeface="Palatino Linotype"/>
              </a:rPr>
              <a:t>R</a:t>
            </a:r>
            <a:r>
              <a:rPr sz="900" dirty="0">
                <a:solidFill>
                  <a:srgbClr val="A6A6A6"/>
                </a:solidFill>
                <a:latin typeface="Palatino Linotype"/>
                <a:cs typeface="Palatino Linotype"/>
              </a:rPr>
              <a:t>,</a:t>
            </a:r>
            <a:r>
              <a:rPr sz="900" spc="-15" dirty="0">
                <a:solidFill>
                  <a:srgbClr val="A6A6A6"/>
                </a:solidFill>
                <a:latin typeface="Palatino Linotype"/>
                <a:cs typeface="Palatino Linotype"/>
              </a:rPr>
              <a:t> </a:t>
            </a:r>
            <a:r>
              <a:rPr sz="900" dirty="0">
                <a:solidFill>
                  <a:srgbClr val="A6A6A6"/>
                </a:solidFill>
                <a:latin typeface="Palatino Linotype"/>
                <a:cs typeface="Palatino Linotype"/>
              </a:rPr>
              <a:t>then</a:t>
            </a:r>
            <a:r>
              <a:rPr sz="900" spc="-10" dirty="0">
                <a:solidFill>
                  <a:srgbClr val="A6A6A6"/>
                </a:solidFill>
                <a:latin typeface="Palatino Linotype"/>
                <a:cs typeface="Palatino Linotype"/>
              </a:rPr>
              <a:t> </a:t>
            </a:r>
            <a:r>
              <a:rPr sz="900" dirty="0">
                <a:solidFill>
                  <a:srgbClr val="A6A6A6"/>
                </a:solidFill>
                <a:latin typeface="Palatino Linotype"/>
                <a:cs typeface="Palatino Linotype"/>
              </a:rPr>
              <a:t>it</a:t>
            </a:r>
            <a:r>
              <a:rPr sz="900" spc="-20" dirty="0">
                <a:solidFill>
                  <a:srgbClr val="A6A6A6"/>
                </a:solidFill>
                <a:latin typeface="Palatino Linotype"/>
                <a:cs typeface="Palatino Linotype"/>
              </a:rPr>
              <a:t> </a:t>
            </a:r>
            <a:r>
              <a:rPr sz="900" dirty="0">
                <a:solidFill>
                  <a:srgbClr val="A6A6A6"/>
                </a:solidFill>
                <a:latin typeface="Palatino Linotype"/>
                <a:cs typeface="Palatino Linotype"/>
              </a:rPr>
              <a:t>needs</a:t>
            </a:r>
            <a:r>
              <a:rPr sz="900" spc="-10" dirty="0">
                <a:solidFill>
                  <a:srgbClr val="A6A6A6"/>
                </a:solidFill>
                <a:latin typeface="Palatino Linotype"/>
                <a:cs typeface="Palatino Linotype"/>
              </a:rPr>
              <a:t> </a:t>
            </a:r>
            <a:r>
              <a:rPr sz="900" dirty="0">
                <a:solidFill>
                  <a:srgbClr val="A6A6A6"/>
                </a:solidFill>
                <a:latin typeface="Palatino Linotype"/>
                <a:cs typeface="Palatino Linotype"/>
              </a:rPr>
              <a:t>to</a:t>
            </a:r>
            <a:r>
              <a:rPr sz="900" spc="-15" dirty="0">
                <a:solidFill>
                  <a:srgbClr val="A6A6A6"/>
                </a:solidFill>
                <a:latin typeface="Palatino Linotype"/>
                <a:cs typeface="Palatino Linotype"/>
              </a:rPr>
              <a:t> </a:t>
            </a:r>
            <a:r>
              <a:rPr sz="900" dirty="0">
                <a:solidFill>
                  <a:srgbClr val="A6A6A6"/>
                </a:solidFill>
                <a:latin typeface="Palatino Linotype"/>
                <a:cs typeface="Palatino Linotype"/>
              </a:rPr>
              <a:t>be</a:t>
            </a:r>
            <a:r>
              <a:rPr sz="900" spc="-25" dirty="0">
                <a:solidFill>
                  <a:srgbClr val="A6A6A6"/>
                </a:solidFill>
                <a:latin typeface="Palatino Linotype"/>
                <a:cs typeface="Palatino Linotype"/>
              </a:rPr>
              <a:t> </a:t>
            </a:r>
            <a:r>
              <a:rPr sz="900" dirty="0">
                <a:solidFill>
                  <a:srgbClr val="A6A6A6"/>
                </a:solidFill>
                <a:latin typeface="Palatino Linotype"/>
                <a:cs typeface="Palatino Linotype"/>
              </a:rPr>
              <a:t>stored</a:t>
            </a:r>
            <a:r>
              <a:rPr sz="900" spc="-10" dirty="0">
                <a:solidFill>
                  <a:srgbClr val="A6A6A6"/>
                </a:solidFill>
                <a:latin typeface="Palatino Linotype"/>
                <a:cs typeface="Palatino Linotype"/>
              </a:rPr>
              <a:t> </a:t>
            </a:r>
            <a:r>
              <a:rPr sz="900" dirty="0">
                <a:solidFill>
                  <a:srgbClr val="A6A6A6"/>
                </a:solidFill>
                <a:latin typeface="Palatino Linotype"/>
                <a:cs typeface="Palatino Linotype"/>
              </a:rPr>
              <a:t>to</a:t>
            </a:r>
            <a:r>
              <a:rPr sz="900" spc="-20" dirty="0">
                <a:solidFill>
                  <a:srgbClr val="A6A6A6"/>
                </a:solidFill>
                <a:latin typeface="Palatino Linotype"/>
                <a:cs typeface="Palatino Linotype"/>
              </a:rPr>
              <a:t> </a:t>
            </a:r>
            <a:r>
              <a:rPr sz="900" dirty="0">
                <a:solidFill>
                  <a:srgbClr val="A6A6A6"/>
                </a:solidFill>
                <a:latin typeface="Palatino Linotype"/>
                <a:cs typeface="Palatino Linotype"/>
              </a:rPr>
              <a:t>avoid</a:t>
            </a:r>
            <a:r>
              <a:rPr sz="900" spc="-10" dirty="0">
                <a:solidFill>
                  <a:srgbClr val="A6A6A6"/>
                </a:solidFill>
                <a:latin typeface="Palatino Linotype"/>
                <a:cs typeface="Palatino Linotype"/>
              </a:rPr>
              <a:t> </a:t>
            </a:r>
            <a:r>
              <a:rPr sz="900" dirty="0">
                <a:solidFill>
                  <a:srgbClr val="A6A6A6"/>
                </a:solidFill>
                <a:latin typeface="Palatino Linotype"/>
                <a:cs typeface="Palatino Linotype"/>
              </a:rPr>
              <a:t>data</a:t>
            </a:r>
            <a:r>
              <a:rPr sz="900" spc="-10" dirty="0">
                <a:solidFill>
                  <a:srgbClr val="A6A6A6"/>
                </a:solidFill>
                <a:latin typeface="Palatino Linotype"/>
                <a:cs typeface="Palatino Linotype"/>
              </a:rPr>
              <a:t> loss.</a:t>
            </a:r>
            <a:endParaRPr sz="900">
              <a:solidFill>
                <a:sysClr val="windowText" lastClr="000000"/>
              </a:solidFill>
              <a:latin typeface="Palatino Linotype"/>
              <a:cs typeface="Palatino Linotype"/>
            </a:endParaRPr>
          </a:p>
        </p:txBody>
      </p:sp>
    </p:spTree>
    <p:extLst>
      <p:ext uri="{BB962C8B-B14F-4D97-AF65-F5344CB8AC3E}">
        <p14:creationId xmlns:p14="http://schemas.microsoft.com/office/powerpoint/2010/main" val="179224515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72</a:t>
            </a:fld>
            <a:endParaRPr lang="en-US"/>
          </a:p>
        </p:txBody>
      </p:sp>
      <p:sp>
        <p:nvSpPr>
          <p:cNvPr id="7" name="object 2">
            <a:extLst>
              <a:ext uri="{FF2B5EF4-FFF2-40B4-BE49-F238E27FC236}">
                <a16:creationId xmlns:a16="http://schemas.microsoft.com/office/drawing/2014/main" id="{8057211F-8BA3-7BCA-E919-E5EEA6D15A65}"/>
              </a:ext>
            </a:extLst>
          </p:cNvPr>
          <p:cNvSpPr txBox="1">
            <a:spLocks/>
          </p:cNvSpPr>
          <p:nvPr/>
        </p:nvSpPr>
        <p:spPr>
          <a:xfrm>
            <a:off x="707390" y="524763"/>
            <a:ext cx="7729219" cy="63500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4000" b="1" i="0" u="none" strike="noStrike" kern="0" cap="none" spc="0" normalizeH="0" baseline="0" noProof="0">
                <a:ln>
                  <a:noFill/>
                </a:ln>
                <a:solidFill>
                  <a:sysClr val="windowText" lastClr="000000"/>
                </a:solidFill>
                <a:effectLst/>
                <a:uLnTx/>
                <a:uFillTx/>
                <a:latin typeface="Palatino Linotype"/>
                <a:ea typeface="+mj-ea"/>
              </a:rPr>
              <a:t>Design</a:t>
            </a:r>
            <a:r>
              <a:rPr kumimoji="0" lang="en-US" sz="4000" b="1" i="0" u="none" strike="noStrike" kern="0" cap="none" spc="-60" normalizeH="0" baseline="0" noProof="0">
                <a:ln>
                  <a:noFill/>
                </a:ln>
                <a:solidFill>
                  <a:sysClr val="windowText" lastClr="000000"/>
                </a:solidFill>
                <a:effectLst/>
                <a:uLnTx/>
                <a:uFillTx/>
                <a:latin typeface="Palatino Linotype"/>
                <a:ea typeface="+mj-ea"/>
              </a:rPr>
              <a:t> </a:t>
            </a:r>
            <a:r>
              <a:rPr kumimoji="0" lang="en-US" sz="4000" b="1" i="0" u="none" strike="noStrike" kern="0" cap="none" spc="0" normalizeH="0" baseline="0" noProof="0">
                <a:ln>
                  <a:noFill/>
                </a:ln>
                <a:solidFill>
                  <a:sysClr val="windowText" lastClr="000000"/>
                </a:solidFill>
                <a:effectLst/>
                <a:uLnTx/>
                <a:uFillTx/>
                <a:latin typeface="Palatino Linotype"/>
                <a:ea typeface="+mj-ea"/>
              </a:rPr>
              <a:t>of</a:t>
            </a:r>
            <a:r>
              <a:rPr kumimoji="0" lang="en-US" sz="4000" b="1" i="0" u="none" strike="noStrike" kern="0" cap="none" spc="-45" normalizeH="0" baseline="0" noProof="0">
                <a:ln>
                  <a:noFill/>
                </a:ln>
                <a:solidFill>
                  <a:sysClr val="windowText" lastClr="000000"/>
                </a:solidFill>
                <a:effectLst/>
                <a:uLnTx/>
                <a:uFillTx/>
                <a:latin typeface="Palatino Linotype"/>
                <a:ea typeface="+mj-ea"/>
              </a:rPr>
              <a:t> </a:t>
            </a:r>
            <a:r>
              <a:rPr kumimoji="0" lang="en-US" sz="4000" b="1" i="0" u="none" strike="noStrike" kern="0" cap="none" spc="0" normalizeH="0" baseline="0" noProof="0">
                <a:ln>
                  <a:noFill/>
                </a:ln>
                <a:solidFill>
                  <a:sysClr val="windowText" lastClr="000000"/>
                </a:solidFill>
                <a:effectLst/>
                <a:uLnTx/>
                <a:uFillTx/>
                <a:latin typeface="Palatino Linotype"/>
                <a:ea typeface="+mj-ea"/>
              </a:rPr>
              <a:t>the</a:t>
            </a:r>
            <a:r>
              <a:rPr kumimoji="0" lang="en-US" sz="4000" b="1" i="0" u="none" strike="noStrike" kern="0" cap="none" spc="-50" normalizeH="0" baseline="0" noProof="0">
                <a:ln>
                  <a:noFill/>
                </a:ln>
                <a:solidFill>
                  <a:sysClr val="windowText" lastClr="000000"/>
                </a:solidFill>
                <a:effectLst/>
                <a:uLnTx/>
                <a:uFillTx/>
                <a:latin typeface="Palatino Linotype"/>
                <a:ea typeface="+mj-ea"/>
              </a:rPr>
              <a:t> </a:t>
            </a:r>
            <a:r>
              <a:rPr kumimoji="0" lang="en-US" sz="4000" b="1" i="0" u="none" strike="noStrike" kern="0" cap="none" spc="0" normalizeH="0" baseline="0" noProof="0">
                <a:ln>
                  <a:noFill/>
                </a:ln>
                <a:solidFill>
                  <a:sysClr val="windowText" lastClr="000000"/>
                </a:solidFill>
                <a:effectLst/>
                <a:uLnTx/>
                <a:uFillTx/>
                <a:latin typeface="Palatino Linotype"/>
                <a:ea typeface="+mj-ea"/>
              </a:rPr>
              <a:t>Function</a:t>
            </a:r>
            <a:r>
              <a:rPr kumimoji="0" lang="en-US" sz="4000" b="1" i="0" u="none" strike="noStrike" kern="0" cap="none" spc="-60" normalizeH="0" baseline="0" noProof="0">
                <a:ln>
                  <a:noFill/>
                </a:ln>
                <a:solidFill>
                  <a:sysClr val="windowText" lastClr="000000"/>
                </a:solidFill>
                <a:effectLst/>
                <a:uLnTx/>
                <a:uFillTx/>
                <a:latin typeface="Palatino Linotype"/>
                <a:ea typeface="+mj-ea"/>
              </a:rPr>
              <a:t> </a:t>
            </a:r>
            <a:r>
              <a:rPr kumimoji="0" lang="en-US" sz="4000" b="0" i="0" u="none" strike="noStrike" kern="0" cap="none" spc="-10" normalizeH="0" baseline="0" noProof="0">
                <a:ln>
                  <a:noFill/>
                </a:ln>
                <a:solidFill>
                  <a:sysClr val="windowText" lastClr="000000"/>
                </a:solidFill>
                <a:effectLst/>
                <a:uLnTx/>
                <a:uFillTx/>
                <a:latin typeface="Cambria Math"/>
                <a:ea typeface="+mj-ea"/>
                <a:cs typeface="Cambria Math"/>
              </a:rPr>
              <a:t>𝑔𝑒𝑡𝑅𝑒𝑔</a:t>
            </a:r>
            <a:endParaRPr kumimoji="0" lang="en-US" sz="4000" b="0" i="0" u="none" strike="noStrike" kern="0" cap="none" spc="-10" normalizeH="0" baseline="0" noProof="0" dirty="0">
              <a:ln>
                <a:noFill/>
              </a:ln>
              <a:solidFill>
                <a:sysClr val="windowText" lastClr="000000"/>
              </a:solidFill>
              <a:effectLst/>
              <a:uLnTx/>
              <a:uFillTx/>
              <a:latin typeface="Cambria Math"/>
              <a:ea typeface="+mj-ea"/>
              <a:cs typeface="Cambria Math"/>
            </a:endParaRPr>
          </a:p>
        </p:txBody>
      </p:sp>
      <p:sp>
        <p:nvSpPr>
          <p:cNvPr id="8" name="object 3">
            <a:extLst>
              <a:ext uri="{FF2B5EF4-FFF2-40B4-BE49-F238E27FC236}">
                <a16:creationId xmlns:a16="http://schemas.microsoft.com/office/drawing/2014/main" id="{B0F0BA14-97EF-0561-FBB7-59146B0D2925}"/>
              </a:ext>
            </a:extLst>
          </p:cNvPr>
          <p:cNvSpPr txBox="1"/>
          <p:nvPr/>
        </p:nvSpPr>
        <p:spPr>
          <a:xfrm>
            <a:off x="613849" y="1492560"/>
            <a:ext cx="7761605" cy="3571875"/>
          </a:xfrm>
          <a:prstGeom prst="rect">
            <a:avLst/>
          </a:prstGeom>
        </p:spPr>
        <p:txBody>
          <a:bodyPr vert="horz" wrap="square" lIns="0" tIns="179705" rIns="0" bIns="0" rtlCol="0">
            <a:spAutoFit/>
          </a:bodyPr>
          <a:lstStyle/>
          <a:p>
            <a:pPr marL="280670" indent="-229870">
              <a:spcBef>
                <a:spcPts val="1415"/>
              </a:spcBef>
              <a:buClr>
                <a:srgbClr val="000000"/>
              </a:buClr>
              <a:buFont typeface="Arial MT"/>
              <a:buChar char="•"/>
              <a:tabLst>
                <a:tab pos="280670" algn="l"/>
              </a:tabLst>
            </a:pPr>
            <a:r>
              <a:rPr sz="2000" dirty="0">
                <a:solidFill>
                  <a:srgbClr val="FF0000"/>
                </a:solidFill>
                <a:latin typeface="Palatino Linotype"/>
                <a:cs typeface="Palatino Linotype"/>
              </a:rPr>
              <a:t>Picking</a:t>
            </a:r>
            <a:r>
              <a:rPr sz="2000" spc="-15" dirty="0">
                <a:solidFill>
                  <a:srgbClr val="FF0000"/>
                </a:solidFill>
                <a:latin typeface="Palatino Linotype"/>
                <a:cs typeface="Palatino Linotype"/>
              </a:rPr>
              <a:t> </a:t>
            </a:r>
            <a:r>
              <a:rPr sz="2000" dirty="0">
                <a:solidFill>
                  <a:srgbClr val="FF0000"/>
                </a:solidFill>
                <a:latin typeface="Palatino Linotype"/>
                <a:cs typeface="Palatino Linotype"/>
              </a:rPr>
              <a:t>register</a:t>
            </a:r>
            <a:r>
              <a:rPr sz="2000" spc="-20" dirty="0">
                <a:solidFill>
                  <a:srgbClr val="FF0000"/>
                </a:solidFill>
                <a:latin typeface="Palatino Linotype"/>
                <a:cs typeface="Palatino Linotype"/>
              </a:rPr>
              <a:t> </a:t>
            </a:r>
            <a:r>
              <a:rPr sz="2000" dirty="0">
                <a:solidFill>
                  <a:srgbClr val="0432FF"/>
                </a:solidFill>
                <a:latin typeface="Cambria Math"/>
                <a:cs typeface="Cambria Math"/>
              </a:rPr>
              <a:t>𝑅</a:t>
            </a:r>
            <a:r>
              <a:rPr sz="2250" baseline="-14814" dirty="0">
                <a:solidFill>
                  <a:srgbClr val="0432FF"/>
                </a:solidFill>
                <a:latin typeface="Cambria Math"/>
                <a:cs typeface="Cambria Math"/>
              </a:rPr>
              <a:t>𝑥</a:t>
            </a:r>
            <a:r>
              <a:rPr sz="2250" spc="367" baseline="-14814" dirty="0">
                <a:solidFill>
                  <a:srgbClr val="0432FF"/>
                </a:solidFill>
                <a:latin typeface="Cambria Math"/>
                <a:cs typeface="Cambria Math"/>
              </a:rPr>
              <a:t> </a:t>
            </a:r>
            <a:r>
              <a:rPr sz="2000" dirty="0">
                <a:solidFill>
                  <a:srgbClr val="FF0000"/>
                </a:solidFill>
                <a:latin typeface="Palatino Linotype"/>
                <a:cs typeface="Palatino Linotype"/>
              </a:rPr>
              <a:t>for</a:t>
            </a:r>
            <a:r>
              <a:rPr sz="2000" spc="-20" dirty="0">
                <a:solidFill>
                  <a:srgbClr val="FF0000"/>
                </a:solidFill>
                <a:latin typeface="Palatino Linotype"/>
                <a:cs typeface="Palatino Linotype"/>
              </a:rPr>
              <a:t> </a:t>
            </a:r>
            <a:r>
              <a:rPr sz="2000" dirty="0">
                <a:solidFill>
                  <a:srgbClr val="FF0000"/>
                </a:solidFill>
                <a:latin typeface="Palatino Linotype"/>
                <a:cs typeface="Palatino Linotype"/>
              </a:rPr>
              <a:t>result</a:t>
            </a:r>
            <a:r>
              <a:rPr sz="2000" spc="-20" dirty="0">
                <a:solidFill>
                  <a:srgbClr val="FF0000"/>
                </a:solidFill>
                <a:latin typeface="Palatino Linotype"/>
                <a:cs typeface="Palatino Linotype"/>
              </a:rPr>
              <a:t> </a:t>
            </a:r>
            <a:r>
              <a:rPr sz="2000" dirty="0">
                <a:solidFill>
                  <a:srgbClr val="FF0000"/>
                </a:solidFill>
                <a:latin typeface="Cambria Math"/>
                <a:cs typeface="Cambria Math"/>
              </a:rPr>
              <a:t>𝑥</a:t>
            </a:r>
            <a:r>
              <a:rPr sz="2000" spc="100" dirty="0">
                <a:solidFill>
                  <a:srgbClr val="FF0000"/>
                </a:solidFill>
                <a:latin typeface="Cambria Math"/>
                <a:cs typeface="Cambria Math"/>
              </a:rPr>
              <a:t> </a:t>
            </a:r>
            <a:r>
              <a:rPr sz="2000" dirty="0">
                <a:solidFill>
                  <a:srgbClr val="FF0000"/>
                </a:solidFill>
                <a:latin typeface="Palatino Linotype"/>
                <a:cs typeface="Palatino Linotype"/>
              </a:rPr>
              <a:t>in</a:t>
            </a:r>
            <a:r>
              <a:rPr sz="2000" spc="-20" dirty="0">
                <a:solidFill>
                  <a:srgbClr val="FF0000"/>
                </a:solidFill>
                <a:latin typeface="Palatino Linotype"/>
                <a:cs typeface="Palatino Linotype"/>
              </a:rPr>
              <a:t> </a:t>
            </a:r>
            <a:r>
              <a:rPr sz="2000" dirty="0">
                <a:solidFill>
                  <a:srgbClr val="FF0000"/>
                </a:solidFill>
                <a:latin typeface="Cambria Math"/>
                <a:cs typeface="Cambria Math"/>
              </a:rPr>
              <a:t>𝑥</a:t>
            </a:r>
            <a:r>
              <a:rPr sz="2000" spc="155" dirty="0">
                <a:solidFill>
                  <a:srgbClr val="FF0000"/>
                </a:solidFill>
                <a:latin typeface="Cambria Math"/>
                <a:cs typeface="Cambria Math"/>
              </a:rPr>
              <a:t> </a:t>
            </a:r>
            <a:r>
              <a:rPr sz="2000" dirty="0">
                <a:solidFill>
                  <a:srgbClr val="FF0000"/>
                </a:solidFill>
                <a:latin typeface="Cambria Math"/>
                <a:cs typeface="Cambria Math"/>
              </a:rPr>
              <a:t>=</a:t>
            </a:r>
            <a:r>
              <a:rPr sz="2000" spc="100" dirty="0">
                <a:solidFill>
                  <a:srgbClr val="FF0000"/>
                </a:solidFill>
                <a:latin typeface="Cambria Math"/>
                <a:cs typeface="Cambria Math"/>
              </a:rPr>
              <a:t> </a:t>
            </a:r>
            <a:r>
              <a:rPr sz="2000" dirty="0">
                <a:solidFill>
                  <a:srgbClr val="FF0000"/>
                </a:solidFill>
                <a:latin typeface="Cambria Math"/>
                <a:cs typeface="Cambria Math"/>
              </a:rPr>
              <a:t>𝑦</a:t>
            </a:r>
            <a:r>
              <a:rPr sz="2000" spc="30" dirty="0">
                <a:solidFill>
                  <a:srgbClr val="FF0000"/>
                </a:solidFill>
                <a:latin typeface="Cambria Math"/>
                <a:cs typeface="Cambria Math"/>
              </a:rPr>
              <a:t> </a:t>
            </a:r>
            <a:r>
              <a:rPr sz="2000" dirty="0">
                <a:solidFill>
                  <a:srgbClr val="FF0000"/>
                </a:solidFill>
                <a:latin typeface="Cambria Math"/>
                <a:cs typeface="Cambria Math"/>
              </a:rPr>
              <a:t>+</a:t>
            </a:r>
            <a:r>
              <a:rPr sz="2000" spc="-10" dirty="0">
                <a:solidFill>
                  <a:srgbClr val="FF0000"/>
                </a:solidFill>
                <a:latin typeface="Cambria Math"/>
                <a:cs typeface="Cambria Math"/>
              </a:rPr>
              <a:t> </a:t>
            </a:r>
            <a:r>
              <a:rPr sz="2000" spc="-25" dirty="0">
                <a:solidFill>
                  <a:srgbClr val="FF0000"/>
                </a:solidFill>
                <a:latin typeface="Cambria Math"/>
                <a:cs typeface="Cambria Math"/>
              </a:rPr>
              <a:t>𝑧</a:t>
            </a:r>
            <a:r>
              <a:rPr sz="2000" spc="-25" dirty="0">
                <a:solidFill>
                  <a:srgbClr val="FF0000"/>
                </a:solidFill>
                <a:latin typeface="Palatino Linotype"/>
                <a:cs typeface="Palatino Linotype"/>
              </a:rPr>
              <a:t>:</a:t>
            </a:r>
            <a:endParaRPr sz="2000">
              <a:solidFill>
                <a:sysClr val="windowText" lastClr="000000"/>
              </a:solidFill>
              <a:latin typeface="Palatino Linotype"/>
              <a:cs typeface="Palatino Linotype"/>
            </a:endParaRPr>
          </a:p>
          <a:p>
            <a:pPr marL="735965" lvl="1" indent="-227965">
              <a:spcBef>
                <a:spcPts val="1185"/>
              </a:spcBef>
              <a:buFont typeface="Wingdings"/>
              <a:buChar char=""/>
              <a:tabLst>
                <a:tab pos="735965" algn="l"/>
              </a:tabLst>
            </a:pPr>
            <a:r>
              <a:rPr dirty="0">
                <a:solidFill>
                  <a:sysClr val="windowText" lastClr="000000"/>
                </a:solidFill>
                <a:latin typeface="Palatino Linotype"/>
                <a:cs typeface="Palatino Linotype"/>
              </a:rPr>
              <a:t>Since</a:t>
            </a:r>
            <a:r>
              <a:rPr spc="-35"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a</a:t>
            </a:r>
            <a:r>
              <a:rPr spc="-30"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new</a:t>
            </a:r>
            <a:r>
              <a:rPr spc="-35"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value</a:t>
            </a:r>
            <a:r>
              <a:rPr spc="-30"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of</a:t>
            </a:r>
            <a:r>
              <a:rPr spc="-30" dirty="0">
                <a:solidFill>
                  <a:sysClr val="windowText" lastClr="000000"/>
                </a:solidFill>
                <a:latin typeface="Palatino Linotype"/>
                <a:cs typeface="Palatino Linotype"/>
              </a:rPr>
              <a:t> </a:t>
            </a:r>
            <a:r>
              <a:rPr dirty="0">
                <a:solidFill>
                  <a:sysClr val="windowText" lastClr="000000"/>
                </a:solidFill>
                <a:latin typeface="Cambria Math"/>
                <a:cs typeface="Cambria Math"/>
              </a:rPr>
              <a:t>𝑥</a:t>
            </a:r>
            <a:r>
              <a:rPr spc="75" dirty="0">
                <a:solidFill>
                  <a:sysClr val="windowText" lastClr="000000"/>
                </a:solidFill>
                <a:latin typeface="Cambria Math"/>
                <a:cs typeface="Cambria Math"/>
              </a:rPr>
              <a:t> </a:t>
            </a:r>
            <a:r>
              <a:rPr dirty="0">
                <a:solidFill>
                  <a:sysClr val="windowText" lastClr="000000"/>
                </a:solidFill>
                <a:latin typeface="Palatino Linotype"/>
                <a:cs typeface="Palatino Linotype"/>
              </a:rPr>
              <a:t>is</a:t>
            </a:r>
            <a:r>
              <a:rPr spc="-35"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being</a:t>
            </a:r>
            <a:r>
              <a:rPr spc="-35"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computed,</a:t>
            </a:r>
            <a:r>
              <a:rPr spc="-30"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a</a:t>
            </a:r>
            <a:r>
              <a:rPr spc="-30"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register</a:t>
            </a:r>
            <a:r>
              <a:rPr spc="-30"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that</a:t>
            </a:r>
            <a:r>
              <a:rPr spc="-30"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holds</a:t>
            </a:r>
            <a:r>
              <a:rPr spc="-35"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only</a:t>
            </a:r>
            <a:r>
              <a:rPr spc="-35" dirty="0">
                <a:solidFill>
                  <a:sysClr val="windowText" lastClr="000000"/>
                </a:solidFill>
                <a:latin typeface="Palatino Linotype"/>
                <a:cs typeface="Palatino Linotype"/>
              </a:rPr>
              <a:t> </a:t>
            </a:r>
            <a:r>
              <a:rPr spc="-50" dirty="0">
                <a:solidFill>
                  <a:sysClr val="windowText" lastClr="000000"/>
                </a:solidFill>
                <a:latin typeface="Cambria Math"/>
                <a:cs typeface="Cambria Math"/>
              </a:rPr>
              <a:t>𝑥</a:t>
            </a:r>
            <a:endParaRPr>
              <a:solidFill>
                <a:sysClr val="windowText" lastClr="000000"/>
              </a:solidFill>
              <a:latin typeface="Cambria Math"/>
              <a:cs typeface="Cambria Math"/>
            </a:endParaRPr>
          </a:p>
          <a:p>
            <a:pPr marL="735965">
              <a:spcBef>
                <a:spcPts val="455"/>
              </a:spcBef>
            </a:pPr>
            <a:r>
              <a:rPr dirty="0">
                <a:solidFill>
                  <a:sysClr val="windowText" lastClr="000000"/>
                </a:solidFill>
                <a:latin typeface="Palatino Linotype"/>
                <a:cs typeface="Palatino Linotype"/>
              </a:rPr>
              <a:t>is</a:t>
            </a:r>
            <a:r>
              <a:rPr spc="-50"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always</a:t>
            </a:r>
            <a:r>
              <a:rPr spc="-50"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an</a:t>
            </a:r>
            <a:r>
              <a:rPr spc="-40"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acceptable</a:t>
            </a:r>
            <a:r>
              <a:rPr spc="-45"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choice</a:t>
            </a:r>
            <a:r>
              <a:rPr spc="-45"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for</a:t>
            </a:r>
            <a:r>
              <a:rPr spc="-45" dirty="0">
                <a:solidFill>
                  <a:sysClr val="windowText" lastClr="000000"/>
                </a:solidFill>
                <a:latin typeface="Palatino Linotype"/>
                <a:cs typeface="Palatino Linotype"/>
              </a:rPr>
              <a:t> </a:t>
            </a:r>
            <a:r>
              <a:rPr spc="-50" dirty="0">
                <a:solidFill>
                  <a:sysClr val="windowText" lastClr="000000"/>
                </a:solidFill>
                <a:latin typeface="Cambria Math"/>
                <a:cs typeface="Cambria Math"/>
              </a:rPr>
              <a:t>𝑥</a:t>
            </a:r>
            <a:endParaRPr>
              <a:solidFill>
                <a:sysClr val="windowText" lastClr="000000"/>
              </a:solidFill>
              <a:latin typeface="Cambria Math"/>
              <a:cs typeface="Cambria Math"/>
            </a:endParaRPr>
          </a:p>
          <a:p>
            <a:pPr marL="735965" marR="35560" lvl="1" indent="-228600">
              <a:lnSpc>
                <a:spcPct val="125600"/>
              </a:lnSpc>
              <a:spcBef>
                <a:spcPts val="765"/>
              </a:spcBef>
              <a:buFont typeface="Wingdings"/>
              <a:buChar char=""/>
              <a:tabLst>
                <a:tab pos="735965" algn="l"/>
              </a:tabLst>
            </a:pPr>
            <a:r>
              <a:rPr dirty="0">
                <a:solidFill>
                  <a:sysClr val="windowText" lastClr="000000"/>
                </a:solidFill>
                <a:latin typeface="Palatino Linotype"/>
                <a:cs typeface="Palatino Linotype"/>
              </a:rPr>
              <a:t>If</a:t>
            </a:r>
            <a:r>
              <a:rPr spc="-15" dirty="0">
                <a:solidFill>
                  <a:sysClr val="windowText" lastClr="000000"/>
                </a:solidFill>
                <a:latin typeface="Palatino Linotype"/>
                <a:cs typeface="Palatino Linotype"/>
              </a:rPr>
              <a:t> </a:t>
            </a:r>
            <a:r>
              <a:rPr dirty="0">
                <a:solidFill>
                  <a:sysClr val="windowText" lastClr="000000"/>
                </a:solidFill>
                <a:latin typeface="Cambria Math"/>
                <a:cs typeface="Cambria Math"/>
              </a:rPr>
              <a:t>𝑦</a:t>
            </a:r>
            <a:r>
              <a:rPr spc="65" dirty="0">
                <a:solidFill>
                  <a:sysClr val="windowText" lastClr="000000"/>
                </a:solidFill>
                <a:latin typeface="Cambria Math"/>
                <a:cs typeface="Cambria Math"/>
              </a:rPr>
              <a:t> </a:t>
            </a:r>
            <a:r>
              <a:rPr dirty="0">
                <a:solidFill>
                  <a:sysClr val="windowText" lastClr="000000"/>
                </a:solidFill>
                <a:latin typeface="Palatino Linotype"/>
                <a:cs typeface="Palatino Linotype"/>
              </a:rPr>
              <a:t>is</a:t>
            </a:r>
            <a:r>
              <a:rPr spc="-20"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not</a:t>
            </a:r>
            <a:r>
              <a:rPr spc="-15"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used</a:t>
            </a:r>
            <a:r>
              <a:rPr spc="-15"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after</a:t>
            </a:r>
            <a:r>
              <a:rPr spc="-15"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the</a:t>
            </a:r>
            <a:r>
              <a:rPr spc="-15"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instruction,</a:t>
            </a:r>
            <a:r>
              <a:rPr spc="-15"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and</a:t>
            </a:r>
            <a:r>
              <a:rPr spc="-15" dirty="0">
                <a:solidFill>
                  <a:sysClr val="windowText" lastClr="000000"/>
                </a:solidFill>
                <a:latin typeface="Palatino Linotype"/>
                <a:cs typeface="Palatino Linotype"/>
              </a:rPr>
              <a:t> </a:t>
            </a:r>
            <a:r>
              <a:rPr dirty="0">
                <a:solidFill>
                  <a:sysClr val="windowText" lastClr="000000"/>
                </a:solidFill>
                <a:latin typeface="Cambria Math"/>
                <a:cs typeface="Cambria Math"/>
              </a:rPr>
              <a:t>𝑅</a:t>
            </a:r>
            <a:r>
              <a:rPr sz="1950" baseline="-17094" dirty="0">
                <a:solidFill>
                  <a:sysClr val="windowText" lastClr="000000"/>
                </a:solidFill>
                <a:latin typeface="Cambria Math"/>
                <a:cs typeface="Cambria Math"/>
              </a:rPr>
              <a:t>𝑦</a:t>
            </a:r>
            <a:r>
              <a:rPr sz="1950" spc="397" baseline="-17094" dirty="0">
                <a:solidFill>
                  <a:sysClr val="windowText" lastClr="000000"/>
                </a:solidFill>
                <a:latin typeface="Cambria Math"/>
                <a:cs typeface="Cambria Math"/>
              </a:rPr>
              <a:t> </a:t>
            </a:r>
            <a:r>
              <a:rPr dirty="0">
                <a:solidFill>
                  <a:sysClr val="windowText" lastClr="000000"/>
                </a:solidFill>
                <a:latin typeface="Palatino Linotype"/>
                <a:cs typeface="Palatino Linotype"/>
              </a:rPr>
              <a:t>holds</a:t>
            </a:r>
            <a:r>
              <a:rPr spc="-20"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only</a:t>
            </a:r>
            <a:r>
              <a:rPr spc="-20" dirty="0">
                <a:solidFill>
                  <a:sysClr val="windowText" lastClr="000000"/>
                </a:solidFill>
                <a:latin typeface="Palatino Linotype"/>
                <a:cs typeface="Palatino Linotype"/>
              </a:rPr>
              <a:t> </a:t>
            </a:r>
            <a:r>
              <a:rPr dirty="0">
                <a:solidFill>
                  <a:sysClr val="windowText" lastClr="000000"/>
                </a:solidFill>
                <a:latin typeface="Cambria Math"/>
                <a:cs typeface="Cambria Math"/>
              </a:rPr>
              <a:t>𝑦</a:t>
            </a:r>
            <a:r>
              <a:rPr dirty="0">
                <a:solidFill>
                  <a:sysClr val="windowText" lastClr="000000"/>
                </a:solidFill>
                <a:latin typeface="Palatino Linotype"/>
                <a:cs typeface="Palatino Linotype"/>
              </a:rPr>
              <a:t>,</a:t>
            </a:r>
            <a:r>
              <a:rPr spc="-15"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then</a:t>
            </a:r>
            <a:r>
              <a:rPr spc="-15" dirty="0">
                <a:solidFill>
                  <a:sysClr val="windowText" lastClr="000000"/>
                </a:solidFill>
                <a:latin typeface="Palatino Linotype"/>
                <a:cs typeface="Palatino Linotype"/>
              </a:rPr>
              <a:t> </a:t>
            </a:r>
            <a:r>
              <a:rPr dirty="0">
                <a:solidFill>
                  <a:sysClr val="windowText" lastClr="000000"/>
                </a:solidFill>
                <a:latin typeface="Cambria Math"/>
                <a:cs typeface="Cambria Math"/>
              </a:rPr>
              <a:t>𝑅</a:t>
            </a:r>
            <a:r>
              <a:rPr sz="1950" baseline="-17094" dirty="0">
                <a:solidFill>
                  <a:sysClr val="windowText" lastClr="000000"/>
                </a:solidFill>
                <a:latin typeface="Cambria Math"/>
                <a:cs typeface="Cambria Math"/>
              </a:rPr>
              <a:t>𝑦</a:t>
            </a:r>
            <a:r>
              <a:rPr sz="1950" spc="390" baseline="-17094" dirty="0">
                <a:solidFill>
                  <a:sysClr val="windowText" lastClr="000000"/>
                </a:solidFill>
                <a:latin typeface="Cambria Math"/>
                <a:cs typeface="Cambria Math"/>
              </a:rPr>
              <a:t> </a:t>
            </a:r>
            <a:r>
              <a:rPr spc="-25" dirty="0">
                <a:solidFill>
                  <a:sysClr val="windowText" lastClr="000000"/>
                </a:solidFill>
                <a:latin typeface="Palatino Linotype"/>
                <a:cs typeface="Palatino Linotype"/>
              </a:rPr>
              <a:t>can </a:t>
            </a:r>
            <a:r>
              <a:rPr dirty="0">
                <a:solidFill>
                  <a:sysClr val="windowText" lastClr="000000"/>
                </a:solidFill>
                <a:latin typeface="Palatino Linotype"/>
                <a:cs typeface="Palatino Linotype"/>
              </a:rPr>
              <a:t>also</a:t>
            </a:r>
            <a:r>
              <a:rPr spc="-15"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be</a:t>
            </a:r>
            <a:r>
              <a:rPr spc="-15"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used</a:t>
            </a:r>
            <a:r>
              <a:rPr spc="-15"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as</a:t>
            </a:r>
            <a:r>
              <a:rPr spc="-15" dirty="0">
                <a:solidFill>
                  <a:sysClr val="windowText" lastClr="000000"/>
                </a:solidFill>
                <a:latin typeface="Palatino Linotype"/>
                <a:cs typeface="Palatino Linotype"/>
              </a:rPr>
              <a:t> </a:t>
            </a:r>
            <a:r>
              <a:rPr dirty="0">
                <a:solidFill>
                  <a:sysClr val="windowText" lastClr="000000"/>
                </a:solidFill>
                <a:latin typeface="Cambria Math"/>
                <a:cs typeface="Cambria Math"/>
              </a:rPr>
              <a:t>𝑅</a:t>
            </a:r>
            <a:r>
              <a:rPr sz="1950" baseline="-14957" dirty="0">
                <a:solidFill>
                  <a:sysClr val="windowText" lastClr="000000"/>
                </a:solidFill>
                <a:latin typeface="Cambria Math"/>
                <a:cs typeface="Cambria Math"/>
              </a:rPr>
              <a:t>𝑥</a:t>
            </a:r>
            <a:r>
              <a:rPr sz="1950" spc="390" baseline="-14957" dirty="0">
                <a:solidFill>
                  <a:sysClr val="windowText" lastClr="000000"/>
                </a:solidFill>
                <a:latin typeface="Cambria Math"/>
                <a:cs typeface="Cambria Math"/>
              </a:rPr>
              <a:t> </a:t>
            </a:r>
            <a:r>
              <a:rPr dirty="0">
                <a:solidFill>
                  <a:sysClr val="windowText" lastClr="000000"/>
                </a:solidFill>
                <a:latin typeface="Palatino Linotype"/>
                <a:cs typeface="Palatino Linotype"/>
              </a:rPr>
              <a:t>(same</a:t>
            </a:r>
            <a:r>
              <a:rPr spc="-15"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for</a:t>
            </a:r>
            <a:r>
              <a:rPr spc="-15" dirty="0">
                <a:solidFill>
                  <a:sysClr val="windowText" lastClr="000000"/>
                </a:solidFill>
                <a:latin typeface="Palatino Linotype"/>
                <a:cs typeface="Palatino Linotype"/>
              </a:rPr>
              <a:t> </a:t>
            </a:r>
            <a:r>
              <a:rPr spc="-25" dirty="0">
                <a:solidFill>
                  <a:sysClr val="windowText" lastClr="000000"/>
                </a:solidFill>
                <a:latin typeface="Cambria Math"/>
                <a:cs typeface="Cambria Math"/>
              </a:rPr>
              <a:t>𝑅</a:t>
            </a:r>
            <a:r>
              <a:rPr sz="1950" spc="-37" baseline="-14957" dirty="0">
                <a:solidFill>
                  <a:sysClr val="windowText" lastClr="000000"/>
                </a:solidFill>
                <a:latin typeface="Cambria Math"/>
                <a:cs typeface="Cambria Math"/>
              </a:rPr>
              <a:t>𝑧</a:t>
            </a:r>
            <a:r>
              <a:rPr spc="-25" dirty="0">
                <a:solidFill>
                  <a:sysClr val="windowText" lastClr="000000"/>
                </a:solidFill>
                <a:latin typeface="Palatino Linotype"/>
                <a:cs typeface="Palatino Linotype"/>
              </a:rPr>
              <a:t>)</a:t>
            </a:r>
            <a:endParaRPr>
              <a:solidFill>
                <a:sysClr val="windowText" lastClr="000000"/>
              </a:solidFill>
              <a:latin typeface="Palatino Linotype"/>
              <a:cs typeface="Palatino Linotype"/>
            </a:endParaRPr>
          </a:p>
          <a:p>
            <a:pPr marL="0" lvl="1">
              <a:spcBef>
                <a:spcPts val="515"/>
              </a:spcBef>
              <a:buFont typeface="Wingdings"/>
              <a:buChar char=""/>
            </a:pPr>
            <a:endParaRPr>
              <a:solidFill>
                <a:sysClr val="windowText" lastClr="000000"/>
              </a:solidFill>
              <a:latin typeface="Palatino Linotype"/>
              <a:cs typeface="Palatino Linotype"/>
            </a:endParaRPr>
          </a:p>
          <a:p>
            <a:pPr marL="280670" indent="-229870">
              <a:buClr>
                <a:srgbClr val="000000"/>
              </a:buClr>
              <a:buFont typeface="Arial MT"/>
              <a:buChar char="•"/>
              <a:tabLst>
                <a:tab pos="280670" algn="l"/>
              </a:tabLst>
            </a:pPr>
            <a:r>
              <a:rPr sz="2000" dirty="0">
                <a:solidFill>
                  <a:srgbClr val="FF0000"/>
                </a:solidFill>
                <a:latin typeface="Palatino Linotype"/>
                <a:cs typeface="Palatino Linotype"/>
              </a:rPr>
              <a:t>Pick</a:t>
            </a:r>
            <a:r>
              <a:rPr sz="2000" spc="-10" dirty="0">
                <a:solidFill>
                  <a:srgbClr val="FF0000"/>
                </a:solidFill>
                <a:latin typeface="Palatino Linotype"/>
                <a:cs typeface="Palatino Linotype"/>
              </a:rPr>
              <a:t> </a:t>
            </a:r>
            <a:r>
              <a:rPr sz="2000" dirty="0">
                <a:solidFill>
                  <a:srgbClr val="FF0000"/>
                </a:solidFill>
                <a:latin typeface="Palatino Linotype"/>
                <a:cs typeface="Palatino Linotype"/>
              </a:rPr>
              <a:t>registers</a:t>
            </a:r>
            <a:r>
              <a:rPr sz="2000" spc="-5" dirty="0">
                <a:solidFill>
                  <a:srgbClr val="FF0000"/>
                </a:solidFill>
                <a:latin typeface="Palatino Linotype"/>
                <a:cs typeface="Palatino Linotype"/>
              </a:rPr>
              <a:t> </a:t>
            </a:r>
            <a:r>
              <a:rPr sz="2000" dirty="0">
                <a:solidFill>
                  <a:srgbClr val="0432FF"/>
                </a:solidFill>
                <a:latin typeface="Cambria Math"/>
                <a:cs typeface="Cambria Math"/>
              </a:rPr>
              <a:t>𝑅</a:t>
            </a:r>
            <a:r>
              <a:rPr sz="2250" baseline="-14814" dirty="0">
                <a:solidFill>
                  <a:srgbClr val="0432FF"/>
                </a:solidFill>
                <a:latin typeface="Cambria Math"/>
                <a:cs typeface="Cambria Math"/>
              </a:rPr>
              <a:t>𝑥</a:t>
            </a:r>
            <a:r>
              <a:rPr sz="2250" spc="382" baseline="-14814" dirty="0">
                <a:solidFill>
                  <a:srgbClr val="0432FF"/>
                </a:solidFill>
                <a:latin typeface="Cambria Math"/>
                <a:cs typeface="Cambria Math"/>
              </a:rPr>
              <a:t> </a:t>
            </a:r>
            <a:r>
              <a:rPr sz="2000" dirty="0">
                <a:solidFill>
                  <a:srgbClr val="FF0000"/>
                </a:solidFill>
                <a:latin typeface="Palatino Linotype"/>
                <a:cs typeface="Palatino Linotype"/>
              </a:rPr>
              <a:t>and</a:t>
            </a:r>
            <a:r>
              <a:rPr sz="2000" spc="-5" dirty="0">
                <a:solidFill>
                  <a:srgbClr val="FF0000"/>
                </a:solidFill>
                <a:latin typeface="Palatino Linotype"/>
                <a:cs typeface="Palatino Linotype"/>
              </a:rPr>
              <a:t> </a:t>
            </a:r>
            <a:r>
              <a:rPr sz="2000" dirty="0">
                <a:solidFill>
                  <a:srgbClr val="0432FF"/>
                </a:solidFill>
                <a:latin typeface="Cambria Math"/>
                <a:cs typeface="Cambria Math"/>
              </a:rPr>
              <a:t>𝑅</a:t>
            </a:r>
            <a:r>
              <a:rPr sz="2250" baseline="-14814" dirty="0">
                <a:solidFill>
                  <a:srgbClr val="0432FF"/>
                </a:solidFill>
                <a:latin typeface="Cambria Math"/>
                <a:cs typeface="Cambria Math"/>
              </a:rPr>
              <a:t>𝑦</a:t>
            </a:r>
            <a:r>
              <a:rPr sz="2250" spc="367" baseline="-14814" dirty="0">
                <a:solidFill>
                  <a:srgbClr val="0432FF"/>
                </a:solidFill>
                <a:latin typeface="Cambria Math"/>
                <a:cs typeface="Cambria Math"/>
              </a:rPr>
              <a:t> </a:t>
            </a:r>
            <a:r>
              <a:rPr sz="2000" dirty="0">
                <a:solidFill>
                  <a:srgbClr val="FF0000"/>
                </a:solidFill>
                <a:latin typeface="Palatino Linotype"/>
                <a:cs typeface="Palatino Linotype"/>
              </a:rPr>
              <a:t>for</a:t>
            </a:r>
            <a:r>
              <a:rPr sz="2000" spc="-10" dirty="0">
                <a:solidFill>
                  <a:srgbClr val="FF0000"/>
                </a:solidFill>
                <a:latin typeface="Palatino Linotype"/>
                <a:cs typeface="Palatino Linotype"/>
              </a:rPr>
              <a:t> </a:t>
            </a:r>
            <a:r>
              <a:rPr sz="2000" dirty="0">
                <a:solidFill>
                  <a:srgbClr val="FF0000"/>
                </a:solidFill>
                <a:latin typeface="Cambria Math"/>
                <a:cs typeface="Cambria Math"/>
              </a:rPr>
              <a:t>𝑥</a:t>
            </a:r>
            <a:r>
              <a:rPr sz="2000" spc="165" dirty="0">
                <a:solidFill>
                  <a:srgbClr val="FF0000"/>
                </a:solidFill>
                <a:latin typeface="Cambria Math"/>
                <a:cs typeface="Cambria Math"/>
              </a:rPr>
              <a:t> </a:t>
            </a:r>
            <a:r>
              <a:rPr sz="2000" dirty="0">
                <a:solidFill>
                  <a:srgbClr val="FF0000"/>
                </a:solidFill>
                <a:latin typeface="Cambria Math"/>
                <a:cs typeface="Cambria Math"/>
              </a:rPr>
              <a:t>=</a:t>
            </a:r>
            <a:r>
              <a:rPr sz="2000" spc="110" dirty="0">
                <a:solidFill>
                  <a:srgbClr val="FF0000"/>
                </a:solidFill>
                <a:latin typeface="Cambria Math"/>
                <a:cs typeface="Cambria Math"/>
              </a:rPr>
              <a:t> </a:t>
            </a:r>
            <a:r>
              <a:rPr sz="2000" spc="-25" dirty="0">
                <a:solidFill>
                  <a:srgbClr val="FF0000"/>
                </a:solidFill>
                <a:latin typeface="Cambria Math"/>
                <a:cs typeface="Cambria Math"/>
              </a:rPr>
              <a:t>𝑦</a:t>
            </a:r>
            <a:r>
              <a:rPr sz="2000" spc="-25" dirty="0">
                <a:solidFill>
                  <a:srgbClr val="FF0000"/>
                </a:solidFill>
                <a:latin typeface="Palatino Linotype"/>
                <a:cs typeface="Palatino Linotype"/>
              </a:rPr>
              <a:t>:</a:t>
            </a:r>
            <a:endParaRPr sz="2000">
              <a:solidFill>
                <a:sysClr val="windowText" lastClr="000000"/>
              </a:solidFill>
              <a:latin typeface="Palatino Linotype"/>
              <a:cs typeface="Palatino Linotype"/>
            </a:endParaRPr>
          </a:p>
          <a:p>
            <a:pPr marL="735965" lvl="1" indent="-227965">
              <a:spcBef>
                <a:spcPts val="1505"/>
              </a:spcBef>
              <a:buFont typeface="Wingdings"/>
              <a:buChar char=""/>
              <a:tabLst>
                <a:tab pos="735965" algn="l"/>
              </a:tabLst>
            </a:pPr>
            <a:r>
              <a:rPr sz="1600" dirty="0">
                <a:solidFill>
                  <a:sysClr val="windowText" lastClr="000000"/>
                </a:solidFill>
                <a:latin typeface="Palatino Linotype"/>
                <a:cs typeface="Palatino Linotype"/>
              </a:rPr>
              <a:t>Pick</a:t>
            </a:r>
            <a:r>
              <a:rPr sz="1600" spc="-5" dirty="0">
                <a:solidFill>
                  <a:sysClr val="windowText" lastClr="000000"/>
                </a:solidFill>
                <a:latin typeface="Palatino Linotype"/>
                <a:cs typeface="Palatino Linotype"/>
              </a:rPr>
              <a:t> </a:t>
            </a:r>
            <a:r>
              <a:rPr sz="1600" dirty="0">
                <a:solidFill>
                  <a:srgbClr val="0432FF"/>
                </a:solidFill>
                <a:latin typeface="Cambria Math"/>
                <a:cs typeface="Cambria Math"/>
              </a:rPr>
              <a:t>𝑅</a:t>
            </a:r>
            <a:r>
              <a:rPr baseline="-13888" dirty="0">
                <a:solidFill>
                  <a:srgbClr val="0432FF"/>
                </a:solidFill>
                <a:latin typeface="Cambria Math"/>
                <a:cs typeface="Cambria Math"/>
              </a:rPr>
              <a:t>𝑦</a:t>
            </a:r>
            <a:r>
              <a:rPr spc="300" baseline="-13888" dirty="0">
                <a:solidFill>
                  <a:srgbClr val="0432FF"/>
                </a:solidFill>
                <a:latin typeface="Cambria Math"/>
                <a:cs typeface="Cambria Math"/>
              </a:rPr>
              <a:t> </a:t>
            </a:r>
            <a:r>
              <a:rPr sz="1600" dirty="0">
                <a:solidFill>
                  <a:sysClr val="windowText" lastClr="000000"/>
                </a:solidFill>
                <a:latin typeface="Palatino Linotype"/>
                <a:cs typeface="Palatino Linotype"/>
              </a:rPr>
              <a:t>first (as</a:t>
            </a:r>
            <a:r>
              <a:rPr sz="1600" spc="-5" dirty="0">
                <a:solidFill>
                  <a:sysClr val="windowText" lastClr="000000"/>
                </a:solidFill>
                <a:latin typeface="Palatino Linotype"/>
                <a:cs typeface="Palatino Linotype"/>
              </a:rPr>
              <a:t> </a:t>
            </a:r>
            <a:r>
              <a:rPr sz="1600" spc="-10" dirty="0">
                <a:solidFill>
                  <a:sysClr val="windowText" lastClr="000000"/>
                </a:solidFill>
                <a:latin typeface="Palatino Linotype"/>
                <a:cs typeface="Palatino Linotype"/>
              </a:rPr>
              <a:t>above)</a:t>
            </a:r>
            <a:endParaRPr sz="1600">
              <a:solidFill>
                <a:sysClr val="windowText" lastClr="000000"/>
              </a:solidFill>
              <a:latin typeface="Palatino Linotype"/>
              <a:cs typeface="Palatino Linotype"/>
            </a:endParaRPr>
          </a:p>
          <a:p>
            <a:pPr marL="735965" lvl="1" indent="-227965">
              <a:spcBef>
                <a:spcPts val="1370"/>
              </a:spcBef>
              <a:buFont typeface="Wingdings"/>
              <a:buChar char=""/>
              <a:tabLst>
                <a:tab pos="735965" algn="l"/>
              </a:tabLst>
            </a:pPr>
            <a:r>
              <a:rPr sz="1600" dirty="0">
                <a:solidFill>
                  <a:sysClr val="windowText" lastClr="000000"/>
                </a:solidFill>
                <a:latin typeface="Palatino Linotype"/>
                <a:cs typeface="Palatino Linotype"/>
              </a:rPr>
              <a:t>Then</a:t>
            </a:r>
            <a:r>
              <a:rPr sz="1600" spc="-5"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choose</a:t>
            </a:r>
            <a:r>
              <a:rPr sz="1600" spc="-15" dirty="0">
                <a:solidFill>
                  <a:sysClr val="windowText" lastClr="000000"/>
                </a:solidFill>
                <a:latin typeface="Palatino Linotype"/>
                <a:cs typeface="Palatino Linotype"/>
              </a:rPr>
              <a:t> </a:t>
            </a:r>
            <a:r>
              <a:rPr sz="1600" dirty="0">
                <a:solidFill>
                  <a:srgbClr val="0432FF"/>
                </a:solidFill>
                <a:latin typeface="Cambria Math"/>
                <a:cs typeface="Cambria Math"/>
              </a:rPr>
              <a:t>𝑅</a:t>
            </a:r>
            <a:r>
              <a:rPr baseline="-16203" dirty="0">
                <a:solidFill>
                  <a:srgbClr val="0432FF"/>
                </a:solidFill>
                <a:latin typeface="Cambria Math"/>
                <a:cs typeface="Cambria Math"/>
              </a:rPr>
              <a:t>𝑥</a:t>
            </a:r>
            <a:r>
              <a:rPr spc="359" baseline="-16203" dirty="0">
                <a:solidFill>
                  <a:srgbClr val="0432FF"/>
                </a:solidFill>
                <a:latin typeface="Cambria Math"/>
                <a:cs typeface="Cambria Math"/>
              </a:rPr>
              <a:t> </a:t>
            </a:r>
            <a:r>
              <a:rPr sz="1600" dirty="0">
                <a:solidFill>
                  <a:srgbClr val="0432FF"/>
                </a:solidFill>
                <a:latin typeface="Cambria Math"/>
                <a:cs typeface="Cambria Math"/>
              </a:rPr>
              <a:t>=</a:t>
            </a:r>
            <a:r>
              <a:rPr sz="1600" spc="85" dirty="0">
                <a:solidFill>
                  <a:srgbClr val="0432FF"/>
                </a:solidFill>
                <a:latin typeface="Cambria Math"/>
                <a:cs typeface="Cambria Math"/>
              </a:rPr>
              <a:t> </a:t>
            </a:r>
            <a:r>
              <a:rPr sz="1600" spc="-25" dirty="0">
                <a:solidFill>
                  <a:srgbClr val="0432FF"/>
                </a:solidFill>
                <a:latin typeface="Cambria Math"/>
                <a:cs typeface="Cambria Math"/>
              </a:rPr>
              <a:t>𝑅</a:t>
            </a:r>
            <a:r>
              <a:rPr spc="-37" baseline="-16203" dirty="0">
                <a:solidFill>
                  <a:srgbClr val="0432FF"/>
                </a:solidFill>
                <a:latin typeface="Cambria Math"/>
                <a:cs typeface="Cambria Math"/>
              </a:rPr>
              <a:t>𝑦</a:t>
            </a:r>
            <a:endParaRPr baseline="-16203">
              <a:solidFill>
                <a:sysClr val="windowText" lastClr="000000"/>
              </a:solidFill>
              <a:latin typeface="Cambria Math"/>
              <a:cs typeface="Cambria Math"/>
            </a:endParaRPr>
          </a:p>
        </p:txBody>
      </p:sp>
    </p:spTree>
    <p:extLst>
      <p:ext uri="{BB962C8B-B14F-4D97-AF65-F5344CB8AC3E}">
        <p14:creationId xmlns:p14="http://schemas.microsoft.com/office/powerpoint/2010/main" val="203566738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73</a:t>
            </a:fld>
            <a:endParaRPr lang="en-US"/>
          </a:p>
        </p:txBody>
      </p:sp>
      <p:sp>
        <p:nvSpPr>
          <p:cNvPr id="7" name="object 2">
            <a:extLst>
              <a:ext uri="{FF2B5EF4-FFF2-40B4-BE49-F238E27FC236}">
                <a16:creationId xmlns:a16="http://schemas.microsoft.com/office/drawing/2014/main" id="{AA03821D-5882-0994-F15B-A83295EA9365}"/>
              </a:ext>
            </a:extLst>
          </p:cNvPr>
          <p:cNvSpPr txBox="1">
            <a:spLocks/>
          </p:cNvSpPr>
          <p:nvPr/>
        </p:nvSpPr>
        <p:spPr>
          <a:xfrm>
            <a:off x="707390" y="524763"/>
            <a:ext cx="7729219" cy="63500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3900" b="1" i="0" u="none" strike="noStrike" kern="0" cap="none" spc="0" normalizeH="0" baseline="0" noProof="0">
                <a:ln>
                  <a:noFill/>
                </a:ln>
                <a:solidFill>
                  <a:sysClr val="windowText" lastClr="000000"/>
                </a:solidFill>
                <a:effectLst/>
                <a:uLnTx/>
                <a:uFillTx/>
                <a:latin typeface="Palatino Linotype"/>
                <a:ea typeface="+mj-ea"/>
              </a:rPr>
              <a:t>Peephole</a:t>
            </a:r>
            <a:r>
              <a:rPr kumimoji="0" lang="en-US" sz="3900" b="1" i="0" u="none" strike="noStrike" kern="0" cap="none" spc="-160" normalizeH="0" baseline="0" noProof="0">
                <a:ln>
                  <a:noFill/>
                </a:ln>
                <a:solidFill>
                  <a:sysClr val="windowText" lastClr="000000"/>
                </a:solidFill>
                <a:effectLst/>
                <a:uLnTx/>
                <a:uFillTx/>
                <a:latin typeface="Palatino Linotype"/>
                <a:ea typeface="+mj-ea"/>
              </a:rPr>
              <a:t> </a:t>
            </a:r>
            <a:r>
              <a:rPr kumimoji="0" lang="en-US" sz="3900" b="1" i="0" u="none" strike="noStrike" kern="0" cap="none" spc="0" normalizeH="0" baseline="0" noProof="0">
                <a:ln>
                  <a:noFill/>
                </a:ln>
                <a:solidFill>
                  <a:sysClr val="windowText" lastClr="000000"/>
                </a:solidFill>
                <a:effectLst/>
                <a:uLnTx/>
                <a:uFillTx/>
                <a:latin typeface="Palatino Linotype"/>
                <a:ea typeface="+mj-ea"/>
              </a:rPr>
              <a:t>Optimization</a:t>
            </a:r>
            <a:r>
              <a:rPr kumimoji="0" lang="en-US" sz="3900" b="1" i="0" u="none" strike="noStrike" kern="0" cap="none" spc="-85" normalizeH="0" baseline="0" noProof="0">
                <a:ln>
                  <a:noFill/>
                </a:ln>
                <a:solidFill>
                  <a:sysClr val="windowText" lastClr="000000"/>
                </a:solidFill>
                <a:effectLst/>
                <a:uLnTx/>
                <a:uFillTx/>
                <a:latin typeface="Palatino Linotype"/>
                <a:ea typeface="+mj-ea"/>
              </a:rPr>
              <a:t> (</a:t>
            </a:r>
            <a:r>
              <a:rPr kumimoji="0" lang="zh-CN" altLang="en-US" sz="3800" b="0" i="0" u="none" strike="noStrike" kern="0" cap="none" spc="85" normalizeH="0" baseline="0" noProof="0">
                <a:ln>
                  <a:noFill/>
                </a:ln>
                <a:solidFill>
                  <a:sysClr val="windowText" lastClr="000000"/>
                </a:solidFill>
                <a:effectLst/>
                <a:uLnTx/>
                <a:uFillTx/>
                <a:latin typeface="SimSun"/>
                <a:ea typeface="宋体" panose="02010600030101010101" pitchFamily="2" charset="-122"/>
                <a:cs typeface="SimSun"/>
              </a:rPr>
              <a:t>窥孔优化</a:t>
            </a:r>
            <a:r>
              <a:rPr kumimoji="0" lang="en-US" altLang="zh-CN" sz="3900" b="1" i="0" u="none" strike="noStrike" kern="0" cap="none" spc="-50" normalizeH="0" baseline="0" noProof="0">
                <a:ln>
                  <a:noFill/>
                </a:ln>
                <a:solidFill>
                  <a:sysClr val="windowText" lastClr="000000"/>
                </a:solidFill>
                <a:effectLst/>
                <a:uLnTx/>
                <a:uFillTx/>
                <a:latin typeface="Palatino Linotype"/>
                <a:ea typeface="宋体" panose="02010600030101010101" pitchFamily="2" charset="-122"/>
              </a:rPr>
              <a:t>)</a:t>
            </a:r>
            <a:endParaRPr kumimoji="0" lang="zh-CN" altLang="en-US" sz="3900" b="1" i="0" u="none" strike="noStrike" kern="0" cap="none" spc="0" normalizeH="0" baseline="0" noProof="0">
              <a:ln>
                <a:noFill/>
              </a:ln>
              <a:solidFill>
                <a:sysClr val="windowText" lastClr="000000"/>
              </a:solidFill>
              <a:effectLst/>
              <a:uLnTx/>
              <a:uFillTx/>
              <a:latin typeface="SimSun"/>
              <a:ea typeface="宋体" panose="02010600030101010101" pitchFamily="2" charset="-122"/>
              <a:cs typeface="SimSun"/>
            </a:endParaRPr>
          </a:p>
        </p:txBody>
      </p:sp>
      <p:sp>
        <p:nvSpPr>
          <p:cNvPr id="8" name="object 3">
            <a:extLst>
              <a:ext uri="{FF2B5EF4-FFF2-40B4-BE49-F238E27FC236}">
                <a16:creationId xmlns:a16="http://schemas.microsoft.com/office/drawing/2014/main" id="{BA76D389-3103-C96C-CE09-B1C66140665F}"/>
              </a:ext>
            </a:extLst>
          </p:cNvPr>
          <p:cNvSpPr txBox="1"/>
          <p:nvPr/>
        </p:nvSpPr>
        <p:spPr>
          <a:xfrm>
            <a:off x="643890" y="1610867"/>
            <a:ext cx="7834630" cy="4286885"/>
          </a:xfrm>
          <a:prstGeom prst="rect">
            <a:avLst/>
          </a:prstGeom>
        </p:spPr>
        <p:txBody>
          <a:bodyPr vert="horz" wrap="square" lIns="0" tIns="2540" rIns="0" bIns="0" rtlCol="0">
            <a:spAutoFit/>
          </a:bodyPr>
          <a:lstStyle/>
          <a:p>
            <a:pPr marL="304165" marR="68580" indent="-228600" algn="just">
              <a:lnSpc>
                <a:spcPct val="119300"/>
              </a:lnSpc>
              <a:spcBef>
                <a:spcPts val="20"/>
              </a:spcBef>
              <a:buFont typeface="Arial MT"/>
              <a:buChar char="•"/>
              <a:tabLst>
                <a:tab pos="306070" algn="l"/>
              </a:tabLst>
            </a:pPr>
            <a:r>
              <a:rPr sz="2000" dirty="0">
                <a:solidFill>
                  <a:sysClr val="windowText" lastClr="000000"/>
                </a:solidFill>
                <a:latin typeface="Palatino Linotype"/>
                <a:cs typeface="Palatino Linotype"/>
              </a:rPr>
              <a:t>A</a:t>
            </a:r>
            <a:r>
              <a:rPr sz="2000" spc="-12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simple</a:t>
            </a:r>
            <a:r>
              <a:rPr sz="2000" spc="-6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but</a:t>
            </a:r>
            <a:r>
              <a:rPr sz="2000" spc="-4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effective</a:t>
            </a:r>
            <a:r>
              <a:rPr sz="2000" spc="-4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technique</a:t>
            </a:r>
            <a:r>
              <a:rPr sz="2000" spc="-3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for</a:t>
            </a:r>
            <a:r>
              <a:rPr sz="2000" spc="-40" dirty="0">
                <a:solidFill>
                  <a:sysClr val="windowText" lastClr="000000"/>
                </a:solidFill>
                <a:latin typeface="Palatino Linotype"/>
                <a:cs typeface="Palatino Linotype"/>
              </a:rPr>
              <a:t> </a:t>
            </a:r>
            <a:r>
              <a:rPr sz="2000" dirty="0">
                <a:solidFill>
                  <a:srgbClr val="FF0000"/>
                </a:solidFill>
                <a:latin typeface="Palatino Linotype"/>
                <a:cs typeface="Palatino Linotype"/>
              </a:rPr>
              <a:t>locally</a:t>
            </a:r>
            <a:r>
              <a:rPr sz="2000" spc="-35" dirty="0">
                <a:solidFill>
                  <a:srgbClr val="FF0000"/>
                </a:solidFill>
                <a:latin typeface="Palatino Linotype"/>
                <a:cs typeface="Palatino Linotype"/>
              </a:rPr>
              <a:t> </a:t>
            </a:r>
            <a:r>
              <a:rPr sz="2000" dirty="0">
                <a:solidFill>
                  <a:srgbClr val="FF0000"/>
                </a:solidFill>
                <a:latin typeface="Palatino Linotype"/>
                <a:cs typeface="Palatino Linotype"/>
              </a:rPr>
              <a:t>improving</a:t>
            </a:r>
            <a:r>
              <a:rPr sz="2000" spc="-35" dirty="0">
                <a:solidFill>
                  <a:srgbClr val="FF0000"/>
                </a:solidFill>
                <a:latin typeface="Palatino Linotype"/>
                <a:cs typeface="Palatino Linotype"/>
              </a:rPr>
              <a:t> </a:t>
            </a:r>
            <a:r>
              <a:rPr sz="2000" dirty="0">
                <a:solidFill>
                  <a:srgbClr val="FF0000"/>
                </a:solidFill>
                <a:latin typeface="Palatino Linotype"/>
                <a:cs typeface="Palatino Linotype"/>
              </a:rPr>
              <a:t>target</a:t>
            </a:r>
            <a:r>
              <a:rPr sz="2000" spc="-40" dirty="0">
                <a:solidFill>
                  <a:srgbClr val="FF0000"/>
                </a:solidFill>
                <a:latin typeface="Palatino Linotype"/>
                <a:cs typeface="Palatino Linotype"/>
              </a:rPr>
              <a:t> </a:t>
            </a:r>
            <a:r>
              <a:rPr sz="2000" spc="-20" dirty="0">
                <a:solidFill>
                  <a:srgbClr val="FF0000"/>
                </a:solidFill>
                <a:latin typeface="Palatino Linotype"/>
                <a:cs typeface="Palatino Linotype"/>
              </a:rPr>
              <a:t>code 	</a:t>
            </a:r>
            <a:r>
              <a:rPr sz="2000" dirty="0">
                <a:solidFill>
                  <a:sysClr val="windowText" lastClr="000000"/>
                </a:solidFill>
                <a:latin typeface="Palatino Linotype"/>
                <a:cs typeface="Palatino Linotype"/>
              </a:rPr>
              <a:t>by</a:t>
            </a:r>
            <a:r>
              <a:rPr sz="2000" spc="-3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examining</a:t>
            </a:r>
            <a:r>
              <a:rPr sz="2000" spc="-3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a</a:t>
            </a:r>
            <a:r>
              <a:rPr sz="2000" spc="-35" dirty="0">
                <a:solidFill>
                  <a:sysClr val="windowText" lastClr="000000"/>
                </a:solidFill>
                <a:latin typeface="Palatino Linotype"/>
                <a:cs typeface="Palatino Linotype"/>
              </a:rPr>
              <a:t> </a:t>
            </a:r>
            <a:r>
              <a:rPr sz="2000" dirty="0">
                <a:solidFill>
                  <a:srgbClr val="FF0000"/>
                </a:solidFill>
                <a:latin typeface="Palatino Linotype"/>
                <a:cs typeface="Palatino Linotype"/>
              </a:rPr>
              <a:t>sliding</a:t>
            </a:r>
            <a:r>
              <a:rPr sz="2000" spc="-30" dirty="0">
                <a:solidFill>
                  <a:srgbClr val="FF0000"/>
                </a:solidFill>
                <a:latin typeface="Palatino Linotype"/>
                <a:cs typeface="Palatino Linotype"/>
              </a:rPr>
              <a:t> </a:t>
            </a:r>
            <a:r>
              <a:rPr sz="2000" dirty="0">
                <a:solidFill>
                  <a:srgbClr val="FF0000"/>
                </a:solidFill>
                <a:latin typeface="Palatino Linotype"/>
                <a:cs typeface="Palatino Linotype"/>
              </a:rPr>
              <a:t>window</a:t>
            </a:r>
            <a:r>
              <a:rPr sz="2000" spc="-40" dirty="0">
                <a:solidFill>
                  <a:srgbClr val="FF0000"/>
                </a:solidFill>
                <a:latin typeface="Palatino Linotype"/>
                <a:cs typeface="Palatino Linotype"/>
              </a:rPr>
              <a:t> </a:t>
            </a:r>
            <a:r>
              <a:rPr sz="2000" dirty="0">
                <a:solidFill>
                  <a:sysClr val="windowText" lastClr="000000"/>
                </a:solidFill>
                <a:latin typeface="Palatino Linotype"/>
                <a:cs typeface="Palatino Linotype"/>
              </a:rPr>
              <a:t>of</a:t>
            </a:r>
            <a:r>
              <a:rPr sz="2000" spc="-3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target</a:t>
            </a:r>
            <a:r>
              <a:rPr sz="2000" spc="-3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instructions</a:t>
            </a:r>
            <a:r>
              <a:rPr sz="2000" spc="-1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the</a:t>
            </a:r>
            <a:r>
              <a:rPr sz="2000" spc="-30" dirty="0">
                <a:solidFill>
                  <a:sysClr val="windowText" lastClr="000000"/>
                </a:solidFill>
                <a:latin typeface="Palatino Linotype"/>
                <a:cs typeface="Palatino Linotype"/>
              </a:rPr>
              <a:t> </a:t>
            </a:r>
            <a:r>
              <a:rPr sz="2000" i="1" spc="-10" dirty="0">
                <a:solidFill>
                  <a:srgbClr val="0432FF"/>
                </a:solidFill>
                <a:latin typeface="Palatino Linotype"/>
                <a:cs typeface="Palatino Linotype"/>
              </a:rPr>
              <a:t>peephole</a:t>
            </a:r>
            <a:r>
              <a:rPr sz="2000" spc="-10" dirty="0">
                <a:solidFill>
                  <a:sysClr val="windowText" lastClr="000000"/>
                </a:solidFill>
                <a:latin typeface="Palatino Linotype"/>
                <a:cs typeface="Palatino Linotype"/>
              </a:rPr>
              <a:t>,	</a:t>
            </a:r>
            <a:r>
              <a:rPr sz="2000" dirty="0">
                <a:solidFill>
                  <a:srgbClr val="0432FF"/>
                </a:solidFill>
                <a:latin typeface="SimSun"/>
                <a:cs typeface="SimSun"/>
              </a:rPr>
              <a:t>窥孔</a:t>
            </a:r>
            <a:r>
              <a:rPr sz="2000" spc="-2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and</a:t>
            </a:r>
            <a:r>
              <a:rPr sz="2000" spc="-3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replacing</a:t>
            </a:r>
            <a:r>
              <a:rPr sz="2000" spc="-3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the</a:t>
            </a:r>
            <a:r>
              <a:rPr sz="2000" spc="-3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instruction</a:t>
            </a:r>
            <a:r>
              <a:rPr sz="2000" spc="-3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sequences</a:t>
            </a:r>
            <a:r>
              <a:rPr sz="2000" spc="-3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within</a:t>
            </a:r>
            <a:r>
              <a:rPr sz="2000" spc="-4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the</a:t>
            </a:r>
            <a:r>
              <a:rPr sz="2000" spc="-30" dirty="0">
                <a:solidFill>
                  <a:sysClr val="windowText" lastClr="000000"/>
                </a:solidFill>
                <a:latin typeface="Palatino Linotype"/>
                <a:cs typeface="Palatino Linotype"/>
              </a:rPr>
              <a:t> </a:t>
            </a:r>
            <a:r>
              <a:rPr sz="2000" spc="-10" dirty="0">
                <a:solidFill>
                  <a:sysClr val="windowText" lastClr="000000"/>
                </a:solidFill>
                <a:latin typeface="Palatino Linotype"/>
                <a:cs typeface="Palatino Linotype"/>
              </a:rPr>
              <a:t>peephole 	</a:t>
            </a:r>
            <a:r>
              <a:rPr sz="2000" dirty="0">
                <a:solidFill>
                  <a:sysClr val="windowText" lastClr="000000"/>
                </a:solidFill>
                <a:latin typeface="Palatino Linotype"/>
                <a:cs typeface="Palatino Linotype"/>
              </a:rPr>
              <a:t>with</a:t>
            </a:r>
            <a:r>
              <a:rPr sz="2000" spc="-25" dirty="0">
                <a:solidFill>
                  <a:sysClr val="windowText" lastClr="000000"/>
                </a:solidFill>
                <a:latin typeface="Palatino Linotype"/>
                <a:cs typeface="Palatino Linotype"/>
              </a:rPr>
              <a:t> </a:t>
            </a:r>
            <a:r>
              <a:rPr sz="2000" i="1" dirty="0">
                <a:solidFill>
                  <a:srgbClr val="FF0000"/>
                </a:solidFill>
                <a:latin typeface="Palatino Linotype"/>
                <a:cs typeface="Palatino Linotype"/>
              </a:rPr>
              <a:t>shorter</a:t>
            </a:r>
            <a:r>
              <a:rPr sz="2000" i="1" spc="-20" dirty="0">
                <a:solidFill>
                  <a:srgbClr val="FF0000"/>
                </a:solidFill>
                <a:latin typeface="Palatino Linotype"/>
                <a:cs typeface="Palatino Linotype"/>
              </a:rPr>
              <a:t> </a:t>
            </a:r>
            <a:r>
              <a:rPr sz="2000" dirty="0">
                <a:solidFill>
                  <a:sysClr val="windowText" lastClr="000000"/>
                </a:solidFill>
                <a:latin typeface="Palatino Linotype"/>
                <a:cs typeface="Palatino Linotype"/>
              </a:rPr>
              <a:t>or</a:t>
            </a:r>
            <a:r>
              <a:rPr sz="2000" spc="-20" dirty="0">
                <a:solidFill>
                  <a:sysClr val="windowText" lastClr="000000"/>
                </a:solidFill>
                <a:latin typeface="Palatino Linotype"/>
                <a:cs typeface="Palatino Linotype"/>
              </a:rPr>
              <a:t> </a:t>
            </a:r>
            <a:r>
              <a:rPr sz="2000" i="1" dirty="0">
                <a:solidFill>
                  <a:srgbClr val="FF0000"/>
                </a:solidFill>
                <a:latin typeface="Palatino Linotype"/>
                <a:cs typeface="Palatino Linotype"/>
              </a:rPr>
              <a:t>faster</a:t>
            </a:r>
            <a:r>
              <a:rPr sz="2000" i="1" spc="-25" dirty="0">
                <a:solidFill>
                  <a:srgbClr val="FF0000"/>
                </a:solidFill>
                <a:latin typeface="Palatino Linotype"/>
                <a:cs typeface="Palatino Linotype"/>
              </a:rPr>
              <a:t> </a:t>
            </a:r>
            <a:r>
              <a:rPr sz="2000" spc="-10" dirty="0">
                <a:solidFill>
                  <a:sysClr val="windowText" lastClr="000000"/>
                </a:solidFill>
                <a:latin typeface="Palatino Linotype"/>
                <a:cs typeface="Palatino Linotype"/>
              </a:rPr>
              <a:t>sequences</a:t>
            </a:r>
            <a:r>
              <a:rPr sz="1950" spc="-15" baseline="25641" dirty="0">
                <a:solidFill>
                  <a:sysClr val="windowText" lastClr="000000"/>
                </a:solidFill>
                <a:latin typeface="Palatino Linotype"/>
                <a:cs typeface="Palatino Linotype"/>
              </a:rPr>
              <a:t>*</a:t>
            </a:r>
            <a:endParaRPr sz="1950" baseline="25641">
              <a:solidFill>
                <a:sysClr val="windowText" lastClr="000000"/>
              </a:solidFill>
              <a:latin typeface="Palatino Linotype"/>
              <a:cs typeface="Palatino Linotype"/>
            </a:endParaRPr>
          </a:p>
          <a:p>
            <a:pPr marL="761365" lvl="1" indent="-227965">
              <a:spcBef>
                <a:spcPts val="2200"/>
              </a:spcBef>
              <a:buFont typeface="Wingdings"/>
              <a:buChar char=""/>
              <a:tabLst>
                <a:tab pos="761365" algn="l"/>
              </a:tabLst>
            </a:pPr>
            <a:r>
              <a:rPr sz="1600" spc="-10" dirty="0">
                <a:solidFill>
                  <a:sysClr val="windowText" lastClr="000000"/>
                </a:solidFill>
                <a:latin typeface="Palatino Linotype"/>
                <a:cs typeface="Palatino Linotype"/>
              </a:rPr>
              <a:t>Redundant-</a:t>
            </a:r>
            <a:r>
              <a:rPr sz="1600" dirty="0">
                <a:solidFill>
                  <a:sysClr val="windowText" lastClr="000000"/>
                </a:solidFill>
                <a:latin typeface="Palatino Linotype"/>
                <a:cs typeface="Palatino Linotype"/>
              </a:rPr>
              <a:t>instruction</a:t>
            </a:r>
            <a:r>
              <a:rPr sz="1600" spc="-40"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elimination</a:t>
            </a:r>
            <a:r>
              <a:rPr sz="1600" spc="-25" dirty="0">
                <a:solidFill>
                  <a:sysClr val="windowText" lastClr="000000"/>
                </a:solidFill>
                <a:latin typeface="Palatino Linotype"/>
                <a:cs typeface="Palatino Linotype"/>
              </a:rPr>
              <a:t> (</a:t>
            </a:r>
            <a:r>
              <a:rPr sz="1600" dirty="0">
                <a:solidFill>
                  <a:sysClr val="windowText" lastClr="000000"/>
                </a:solidFill>
                <a:latin typeface="SimSun"/>
                <a:cs typeface="SimSun"/>
              </a:rPr>
              <a:t>冗余指令消除</a:t>
            </a:r>
            <a:r>
              <a:rPr sz="1600" spc="-50" dirty="0">
                <a:solidFill>
                  <a:sysClr val="windowText" lastClr="000000"/>
                </a:solidFill>
                <a:latin typeface="Palatino Linotype"/>
                <a:cs typeface="Palatino Linotype"/>
              </a:rPr>
              <a:t>)</a:t>
            </a:r>
            <a:endParaRPr sz="1600">
              <a:solidFill>
                <a:sysClr val="windowText" lastClr="000000"/>
              </a:solidFill>
              <a:latin typeface="Palatino Linotype"/>
              <a:cs typeface="Palatino Linotype"/>
            </a:endParaRPr>
          </a:p>
          <a:p>
            <a:pPr marL="0" lvl="1">
              <a:spcBef>
                <a:spcPts val="120"/>
              </a:spcBef>
              <a:buFont typeface="Wingdings"/>
              <a:buChar char=""/>
            </a:pPr>
            <a:endParaRPr sz="1600">
              <a:solidFill>
                <a:sysClr val="windowText" lastClr="000000"/>
              </a:solidFill>
              <a:latin typeface="Palatino Linotype"/>
              <a:cs typeface="Palatino Linotype"/>
            </a:endParaRPr>
          </a:p>
          <a:p>
            <a:pPr marL="761365" lvl="1" indent="-227965">
              <a:buFont typeface="Wingdings"/>
              <a:buChar char=""/>
              <a:tabLst>
                <a:tab pos="761365" algn="l"/>
              </a:tabLst>
            </a:pPr>
            <a:r>
              <a:rPr sz="1600" spc="-10" dirty="0">
                <a:solidFill>
                  <a:sysClr val="windowText" lastClr="000000"/>
                </a:solidFill>
                <a:latin typeface="Palatino Linotype"/>
                <a:cs typeface="Palatino Linotype"/>
              </a:rPr>
              <a:t>Flow-of-</a:t>
            </a:r>
            <a:r>
              <a:rPr sz="1600" dirty="0">
                <a:solidFill>
                  <a:sysClr val="windowText" lastClr="000000"/>
                </a:solidFill>
                <a:latin typeface="Palatino Linotype"/>
                <a:cs typeface="Palatino Linotype"/>
              </a:rPr>
              <a:t>control</a:t>
            </a:r>
            <a:r>
              <a:rPr sz="1600" spc="-50"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optimizations</a:t>
            </a:r>
            <a:r>
              <a:rPr sz="1600" spc="-30" dirty="0">
                <a:solidFill>
                  <a:sysClr val="windowText" lastClr="000000"/>
                </a:solidFill>
                <a:latin typeface="Palatino Linotype"/>
                <a:cs typeface="Palatino Linotype"/>
              </a:rPr>
              <a:t> (</a:t>
            </a:r>
            <a:r>
              <a:rPr sz="1600" dirty="0">
                <a:solidFill>
                  <a:sysClr val="windowText" lastClr="000000"/>
                </a:solidFill>
                <a:latin typeface="SimSun"/>
                <a:cs typeface="SimSun"/>
              </a:rPr>
              <a:t>控制流优化</a:t>
            </a:r>
            <a:r>
              <a:rPr sz="1600" spc="-50" dirty="0">
                <a:solidFill>
                  <a:sysClr val="windowText" lastClr="000000"/>
                </a:solidFill>
                <a:latin typeface="Palatino Linotype"/>
                <a:cs typeface="Palatino Linotype"/>
              </a:rPr>
              <a:t>)</a:t>
            </a:r>
            <a:endParaRPr sz="1600">
              <a:solidFill>
                <a:sysClr val="windowText" lastClr="000000"/>
              </a:solidFill>
              <a:latin typeface="Palatino Linotype"/>
              <a:cs typeface="Palatino Linotype"/>
            </a:endParaRPr>
          </a:p>
          <a:p>
            <a:pPr marL="0" lvl="1">
              <a:spcBef>
                <a:spcPts val="25"/>
              </a:spcBef>
              <a:buFont typeface="Wingdings"/>
              <a:buChar char=""/>
            </a:pPr>
            <a:endParaRPr sz="1600">
              <a:solidFill>
                <a:sysClr val="windowText" lastClr="000000"/>
              </a:solidFill>
              <a:latin typeface="Palatino Linotype"/>
              <a:cs typeface="Palatino Linotype"/>
            </a:endParaRPr>
          </a:p>
          <a:p>
            <a:pPr marL="761365" lvl="1" indent="-227965">
              <a:buClr>
                <a:srgbClr val="000000"/>
              </a:buClr>
              <a:buFont typeface="Wingdings"/>
              <a:buChar char=""/>
              <a:tabLst>
                <a:tab pos="761365" algn="l"/>
              </a:tabLst>
            </a:pPr>
            <a:r>
              <a:rPr sz="1600" dirty="0">
                <a:solidFill>
                  <a:srgbClr val="A6A6A6"/>
                </a:solidFill>
                <a:latin typeface="Palatino Linotype"/>
                <a:cs typeface="Palatino Linotype"/>
              </a:rPr>
              <a:t>Algebraic</a:t>
            </a:r>
            <a:r>
              <a:rPr sz="1600" spc="-65" dirty="0">
                <a:solidFill>
                  <a:srgbClr val="A6A6A6"/>
                </a:solidFill>
                <a:latin typeface="Palatino Linotype"/>
                <a:cs typeface="Palatino Linotype"/>
              </a:rPr>
              <a:t> </a:t>
            </a:r>
            <a:r>
              <a:rPr sz="1600" dirty="0">
                <a:solidFill>
                  <a:srgbClr val="A6A6A6"/>
                </a:solidFill>
                <a:latin typeface="Palatino Linotype"/>
                <a:cs typeface="Palatino Linotype"/>
              </a:rPr>
              <a:t>simplifications</a:t>
            </a:r>
            <a:r>
              <a:rPr sz="1600" spc="-40" dirty="0">
                <a:solidFill>
                  <a:srgbClr val="A6A6A6"/>
                </a:solidFill>
                <a:latin typeface="Palatino Linotype"/>
                <a:cs typeface="Palatino Linotype"/>
              </a:rPr>
              <a:t> (</a:t>
            </a:r>
            <a:r>
              <a:rPr sz="1600" dirty="0">
                <a:solidFill>
                  <a:srgbClr val="A6A6A6"/>
                </a:solidFill>
                <a:latin typeface="SimSun"/>
                <a:cs typeface="SimSun"/>
              </a:rPr>
              <a:t>代数简化</a:t>
            </a:r>
            <a:r>
              <a:rPr sz="1600" spc="-50" dirty="0">
                <a:solidFill>
                  <a:srgbClr val="A6A6A6"/>
                </a:solidFill>
                <a:latin typeface="Palatino Linotype"/>
                <a:cs typeface="Palatino Linotype"/>
              </a:rPr>
              <a:t>)</a:t>
            </a:r>
            <a:endParaRPr sz="1600">
              <a:solidFill>
                <a:sysClr val="windowText" lastClr="000000"/>
              </a:solidFill>
              <a:latin typeface="Palatino Linotype"/>
              <a:cs typeface="Palatino Linotype"/>
            </a:endParaRPr>
          </a:p>
          <a:p>
            <a:pPr marL="0" lvl="1">
              <a:spcBef>
                <a:spcPts val="25"/>
              </a:spcBef>
              <a:buFont typeface="Wingdings"/>
              <a:buChar char=""/>
            </a:pPr>
            <a:endParaRPr sz="1600">
              <a:solidFill>
                <a:sysClr val="windowText" lastClr="000000"/>
              </a:solidFill>
              <a:latin typeface="Palatino Linotype"/>
              <a:cs typeface="Palatino Linotype"/>
            </a:endParaRPr>
          </a:p>
          <a:p>
            <a:pPr marL="761365" lvl="1" indent="-227965">
              <a:buClr>
                <a:srgbClr val="000000"/>
              </a:buClr>
              <a:buFont typeface="Wingdings"/>
              <a:buChar char=""/>
              <a:tabLst>
                <a:tab pos="761365" algn="l"/>
              </a:tabLst>
            </a:pPr>
            <a:r>
              <a:rPr sz="1600" dirty="0">
                <a:solidFill>
                  <a:srgbClr val="A6A6A6"/>
                </a:solidFill>
                <a:latin typeface="Palatino Linotype"/>
                <a:cs typeface="Palatino Linotype"/>
              </a:rPr>
              <a:t>Use</a:t>
            </a:r>
            <a:r>
              <a:rPr sz="1600" spc="-25" dirty="0">
                <a:solidFill>
                  <a:srgbClr val="A6A6A6"/>
                </a:solidFill>
                <a:latin typeface="Palatino Linotype"/>
                <a:cs typeface="Palatino Linotype"/>
              </a:rPr>
              <a:t> </a:t>
            </a:r>
            <a:r>
              <a:rPr sz="1600" dirty="0">
                <a:solidFill>
                  <a:srgbClr val="A6A6A6"/>
                </a:solidFill>
                <a:latin typeface="Palatino Linotype"/>
                <a:cs typeface="Palatino Linotype"/>
              </a:rPr>
              <a:t>of</a:t>
            </a:r>
            <a:r>
              <a:rPr sz="1600" spc="-20" dirty="0">
                <a:solidFill>
                  <a:srgbClr val="A6A6A6"/>
                </a:solidFill>
                <a:latin typeface="Palatino Linotype"/>
                <a:cs typeface="Palatino Linotype"/>
              </a:rPr>
              <a:t> </a:t>
            </a:r>
            <a:r>
              <a:rPr sz="1600" dirty="0">
                <a:solidFill>
                  <a:srgbClr val="A6A6A6"/>
                </a:solidFill>
                <a:latin typeface="Palatino Linotype"/>
                <a:cs typeface="Palatino Linotype"/>
              </a:rPr>
              <a:t>machine</a:t>
            </a:r>
            <a:r>
              <a:rPr sz="1600" spc="-25" dirty="0">
                <a:solidFill>
                  <a:srgbClr val="A6A6A6"/>
                </a:solidFill>
                <a:latin typeface="Palatino Linotype"/>
                <a:cs typeface="Palatino Linotype"/>
              </a:rPr>
              <a:t> </a:t>
            </a:r>
            <a:r>
              <a:rPr sz="1600" dirty="0">
                <a:solidFill>
                  <a:srgbClr val="A6A6A6"/>
                </a:solidFill>
                <a:latin typeface="Palatino Linotype"/>
                <a:cs typeface="Palatino Linotype"/>
              </a:rPr>
              <a:t>idioms</a:t>
            </a:r>
            <a:r>
              <a:rPr sz="1600" spc="-20" dirty="0">
                <a:solidFill>
                  <a:srgbClr val="A6A6A6"/>
                </a:solidFill>
                <a:latin typeface="Palatino Linotype"/>
                <a:cs typeface="Palatino Linotype"/>
              </a:rPr>
              <a:t> (</a:t>
            </a:r>
            <a:r>
              <a:rPr sz="1600" dirty="0">
                <a:solidFill>
                  <a:srgbClr val="A6A6A6"/>
                </a:solidFill>
                <a:latin typeface="SimSun"/>
                <a:cs typeface="SimSun"/>
              </a:rPr>
              <a:t>机器特有指令的使用</a:t>
            </a:r>
            <a:r>
              <a:rPr sz="1600" spc="-50" dirty="0">
                <a:solidFill>
                  <a:srgbClr val="A6A6A6"/>
                </a:solidFill>
                <a:latin typeface="Palatino Linotype"/>
                <a:cs typeface="Palatino Linotype"/>
              </a:rPr>
              <a:t>)</a:t>
            </a:r>
            <a:endParaRPr sz="1600">
              <a:solidFill>
                <a:sysClr val="windowText" lastClr="000000"/>
              </a:solidFill>
              <a:latin typeface="Palatino Linotype"/>
              <a:cs typeface="Palatino Linotype"/>
            </a:endParaRPr>
          </a:p>
          <a:p>
            <a:pPr>
              <a:spcBef>
                <a:spcPts val="1810"/>
              </a:spcBef>
            </a:pPr>
            <a:endParaRPr sz="1600">
              <a:solidFill>
                <a:sysClr val="windowText" lastClr="000000"/>
              </a:solidFill>
              <a:latin typeface="Palatino Linotype"/>
              <a:cs typeface="Palatino Linotype"/>
            </a:endParaRPr>
          </a:p>
          <a:p>
            <a:pPr marL="340995"/>
            <a:r>
              <a:rPr sz="1350" baseline="24691" dirty="0">
                <a:solidFill>
                  <a:srgbClr val="A6A6A6"/>
                </a:solidFill>
                <a:latin typeface="Palatino Linotype"/>
                <a:cs typeface="Palatino Linotype"/>
              </a:rPr>
              <a:t>* </a:t>
            </a:r>
            <a:r>
              <a:rPr sz="1400" dirty="0">
                <a:solidFill>
                  <a:srgbClr val="A6A6A6"/>
                </a:solidFill>
                <a:latin typeface="Palatino Linotype"/>
                <a:cs typeface="Palatino Linotype"/>
              </a:rPr>
              <a:t>Can</a:t>
            </a:r>
            <a:r>
              <a:rPr sz="1400" spc="-35" dirty="0">
                <a:solidFill>
                  <a:srgbClr val="A6A6A6"/>
                </a:solidFill>
                <a:latin typeface="Palatino Linotype"/>
                <a:cs typeface="Palatino Linotype"/>
              </a:rPr>
              <a:t> </a:t>
            </a:r>
            <a:r>
              <a:rPr sz="1400" dirty="0">
                <a:solidFill>
                  <a:srgbClr val="A6A6A6"/>
                </a:solidFill>
                <a:latin typeface="Palatino Linotype"/>
                <a:cs typeface="Palatino Linotype"/>
              </a:rPr>
              <a:t>also</a:t>
            </a:r>
            <a:r>
              <a:rPr sz="1400" spc="-35" dirty="0">
                <a:solidFill>
                  <a:srgbClr val="A6A6A6"/>
                </a:solidFill>
                <a:latin typeface="Palatino Linotype"/>
                <a:cs typeface="Palatino Linotype"/>
              </a:rPr>
              <a:t> </a:t>
            </a:r>
            <a:r>
              <a:rPr sz="1400" dirty="0">
                <a:solidFill>
                  <a:srgbClr val="A6A6A6"/>
                </a:solidFill>
                <a:latin typeface="Palatino Linotype"/>
                <a:cs typeface="Palatino Linotype"/>
              </a:rPr>
              <a:t>be</a:t>
            </a:r>
            <a:r>
              <a:rPr sz="1400" spc="-25" dirty="0">
                <a:solidFill>
                  <a:srgbClr val="A6A6A6"/>
                </a:solidFill>
                <a:latin typeface="Palatino Linotype"/>
                <a:cs typeface="Palatino Linotype"/>
              </a:rPr>
              <a:t> </a:t>
            </a:r>
            <a:r>
              <a:rPr sz="1400" dirty="0">
                <a:solidFill>
                  <a:srgbClr val="A6A6A6"/>
                </a:solidFill>
                <a:latin typeface="Palatino Linotype"/>
                <a:cs typeface="Palatino Linotype"/>
              </a:rPr>
              <a:t>applied</a:t>
            </a:r>
            <a:r>
              <a:rPr sz="1400" spc="-40" dirty="0">
                <a:solidFill>
                  <a:srgbClr val="A6A6A6"/>
                </a:solidFill>
                <a:latin typeface="Palatino Linotype"/>
                <a:cs typeface="Palatino Linotype"/>
              </a:rPr>
              <a:t> </a:t>
            </a:r>
            <a:r>
              <a:rPr sz="1400" dirty="0">
                <a:solidFill>
                  <a:srgbClr val="A6A6A6"/>
                </a:solidFill>
                <a:latin typeface="Palatino Linotype"/>
                <a:cs typeface="Palatino Linotype"/>
              </a:rPr>
              <a:t>directly</a:t>
            </a:r>
            <a:r>
              <a:rPr sz="1400" spc="-30" dirty="0">
                <a:solidFill>
                  <a:srgbClr val="A6A6A6"/>
                </a:solidFill>
                <a:latin typeface="Palatino Linotype"/>
                <a:cs typeface="Palatino Linotype"/>
              </a:rPr>
              <a:t> </a:t>
            </a:r>
            <a:r>
              <a:rPr sz="1400" dirty="0">
                <a:solidFill>
                  <a:srgbClr val="A6A6A6"/>
                </a:solidFill>
                <a:latin typeface="Palatino Linotype"/>
                <a:cs typeface="Palatino Linotype"/>
              </a:rPr>
              <a:t>after</a:t>
            </a:r>
            <a:r>
              <a:rPr sz="1400" spc="-35" dirty="0">
                <a:solidFill>
                  <a:srgbClr val="A6A6A6"/>
                </a:solidFill>
                <a:latin typeface="Palatino Linotype"/>
                <a:cs typeface="Palatino Linotype"/>
              </a:rPr>
              <a:t> </a:t>
            </a:r>
            <a:r>
              <a:rPr sz="1400" dirty="0">
                <a:solidFill>
                  <a:srgbClr val="A6A6A6"/>
                </a:solidFill>
                <a:latin typeface="Palatino Linotype"/>
                <a:cs typeface="Palatino Linotype"/>
              </a:rPr>
              <a:t>intermediate</a:t>
            </a:r>
            <a:r>
              <a:rPr sz="1400" spc="-30" dirty="0">
                <a:solidFill>
                  <a:srgbClr val="A6A6A6"/>
                </a:solidFill>
                <a:latin typeface="Palatino Linotype"/>
                <a:cs typeface="Palatino Linotype"/>
              </a:rPr>
              <a:t> </a:t>
            </a:r>
            <a:r>
              <a:rPr sz="1400" dirty="0">
                <a:solidFill>
                  <a:srgbClr val="A6A6A6"/>
                </a:solidFill>
                <a:latin typeface="Palatino Linotype"/>
                <a:cs typeface="Palatino Linotype"/>
              </a:rPr>
              <a:t>code</a:t>
            </a:r>
            <a:r>
              <a:rPr sz="1400" spc="-25" dirty="0">
                <a:solidFill>
                  <a:srgbClr val="A6A6A6"/>
                </a:solidFill>
                <a:latin typeface="Palatino Linotype"/>
                <a:cs typeface="Palatino Linotype"/>
              </a:rPr>
              <a:t> </a:t>
            </a:r>
            <a:r>
              <a:rPr sz="1400" dirty="0">
                <a:solidFill>
                  <a:srgbClr val="A6A6A6"/>
                </a:solidFill>
                <a:latin typeface="Palatino Linotype"/>
                <a:cs typeface="Palatino Linotype"/>
              </a:rPr>
              <a:t>generation</a:t>
            </a:r>
            <a:r>
              <a:rPr sz="1400" spc="-35" dirty="0">
                <a:solidFill>
                  <a:srgbClr val="A6A6A6"/>
                </a:solidFill>
                <a:latin typeface="Palatino Linotype"/>
                <a:cs typeface="Palatino Linotype"/>
              </a:rPr>
              <a:t> </a:t>
            </a:r>
            <a:r>
              <a:rPr sz="1400" dirty="0">
                <a:solidFill>
                  <a:srgbClr val="A6A6A6"/>
                </a:solidFill>
                <a:latin typeface="Palatino Linotype"/>
                <a:cs typeface="Palatino Linotype"/>
              </a:rPr>
              <a:t>to</a:t>
            </a:r>
            <a:r>
              <a:rPr sz="1400" spc="-35" dirty="0">
                <a:solidFill>
                  <a:srgbClr val="A6A6A6"/>
                </a:solidFill>
                <a:latin typeface="Palatino Linotype"/>
                <a:cs typeface="Palatino Linotype"/>
              </a:rPr>
              <a:t> </a:t>
            </a:r>
            <a:r>
              <a:rPr sz="1400" dirty="0">
                <a:solidFill>
                  <a:srgbClr val="A6A6A6"/>
                </a:solidFill>
                <a:latin typeface="Palatino Linotype"/>
                <a:cs typeface="Palatino Linotype"/>
              </a:rPr>
              <a:t>improve</a:t>
            </a:r>
            <a:r>
              <a:rPr sz="1400" spc="-25" dirty="0">
                <a:solidFill>
                  <a:srgbClr val="A6A6A6"/>
                </a:solidFill>
                <a:latin typeface="Palatino Linotype"/>
                <a:cs typeface="Palatino Linotype"/>
              </a:rPr>
              <a:t> </a:t>
            </a:r>
            <a:r>
              <a:rPr sz="1400" dirty="0">
                <a:solidFill>
                  <a:srgbClr val="A6A6A6"/>
                </a:solidFill>
                <a:latin typeface="Palatino Linotype"/>
                <a:cs typeface="Palatino Linotype"/>
              </a:rPr>
              <a:t>the</a:t>
            </a:r>
            <a:r>
              <a:rPr sz="1400" spc="-30" dirty="0">
                <a:solidFill>
                  <a:srgbClr val="A6A6A6"/>
                </a:solidFill>
                <a:latin typeface="Palatino Linotype"/>
                <a:cs typeface="Palatino Linotype"/>
              </a:rPr>
              <a:t> </a:t>
            </a:r>
            <a:r>
              <a:rPr sz="1400" spc="-25" dirty="0">
                <a:solidFill>
                  <a:srgbClr val="A6A6A6"/>
                </a:solidFill>
                <a:latin typeface="Palatino Linotype"/>
                <a:cs typeface="Palatino Linotype"/>
              </a:rPr>
              <a:t>IR</a:t>
            </a:r>
            <a:endParaRPr sz="1400">
              <a:solidFill>
                <a:sysClr val="windowText" lastClr="000000"/>
              </a:solidFill>
              <a:latin typeface="Palatino Linotype"/>
              <a:cs typeface="Palatino Linotype"/>
            </a:endParaRPr>
          </a:p>
        </p:txBody>
      </p:sp>
    </p:spTree>
    <p:extLst>
      <p:ext uri="{BB962C8B-B14F-4D97-AF65-F5344CB8AC3E}">
        <p14:creationId xmlns:p14="http://schemas.microsoft.com/office/powerpoint/2010/main" val="83643144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74</a:t>
            </a:fld>
            <a:endParaRPr lang="en-US"/>
          </a:p>
        </p:txBody>
      </p:sp>
      <p:sp>
        <p:nvSpPr>
          <p:cNvPr id="7" name="object 2">
            <a:extLst>
              <a:ext uri="{FF2B5EF4-FFF2-40B4-BE49-F238E27FC236}">
                <a16:creationId xmlns:a16="http://schemas.microsoft.com/office/drawing/2014/main" id="{8A1CD5E1-5318-BD82-DC3D-333F74C548C1}"/>
              </a:ext>
            </a:extLst>
          </p:cNvPr>
          <p:cNvSpPr txBox="1">
            <a:spLocks/>
          </p:cNvSpPr>
          <p:nvPr/>
        </p:nvSpPr>
        <p:spPr>
          <a:xfrm>
            <a:off x="707390" y="524763"/>
            <a:ext cx="7729219" cy="63500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4000" b="1" i="0" u="none" strike="noStrike" kern="0" cap="none" spc="0" normalizeH="0" baseline="0" noProof="0">
                <a:ln>
                  <a:noFill/>
                </a:ln>
                <a:solidFill>
                  <a:sysClr val="windowText" lastClr="000000"/>
                </a:solidFill>
                <a:effectLst/>
                <a:uLnTx/>
                <a:uFillTx/>
                <a:latin typeface="Palatino Linotype"/>
                <a:ea typeface="+mj-ea"/>
              </a:rPr>
              <a:t>Redundant</a:t>
            </a:r>
            <a:r>
              <a:rPr kumimoji="0" lang="en-US" sz="4000" b="1" i="0" u="none" strike="noStrike" kern="0" cap="none" spc="-45" normalizeH="0" baseline="0" noProof="0">
                <a:ln>
                  <a:noFill/>
                </a:ln>
                <a:solidFill>
                  <a:sysClr val="windowText" lastClr="000000"/>
                </a:solidFill>
                <a:effectLst/>
                <a:uLnTx/>
                <a:uFillTx/>
                <a:latin typeface="Palatino Linotype"/>
                <a:ea typeface="+mj-ea"/>
              </a:rPr>
              <a:t> </a:t>
            </a:r>
            <a:r>
              <a:rPr kumimoji="0" lang="en-US" sz="4000" b="1" i="0" u="none" strike="noStrike" kern="0" cap="none" spc="0" normalizeH="0" baseline="0" noProof="0">
                <a:ln>
                  <a:noFill/>
                </a:ln>
                <a:solidFill>
                  <a:sysClr val="windowText" lastClr="000000"/>
                </a:solidFill>
                <a:effectLst/>
                <a:uLnTx/>
                <a:uFillTx/>
                <a:latin typeface="Palatino Linotype"/>
                <a:ea typeface="+mj-ea"/>
              </a:rPr>
              <a:t>Loads</a:t>
            </a:r>
            <a:r>
              <a:rPr kumimoji="0" lang="en-US" sz="4000" b="1" i="0" u="none" strike="noStrike" kern="0" cap="none" spc="-50" normalizeH="0" baseline="0" noProof="0">
                <a:ln>
                  <a:noFill/>
                </a:ln>
                <a:solidFill>
                  <a:sysClr val="windowText" lastClr="000000"/>
                </a:solidFill>
                <a:effectLst/>
                <a:uLnTx/>
                <a:uFillTx/>
                <a:latin typeface="Palatino Linotype"/>
                <a:ea typeface="+mj-ea"/>
              </a:rPr>
              <a:t> </a:t>
            </a:r>
            <a:r>
              <a:rPr kumimoji="0" lang="en-US" sz="4000" b="1" i="0" u="none" strike="noStrike" kern="0" cap="none" spc="0" normalizeH="0" baseline="0" noProof="0">
                <a:ln>
                  <a:noFill/>
                </a:ln>
                <a:solidFill>
                  <a:sysClr val="windowText" lastClr="000000"/>
                </a:solidFill>
                <a:effectLst/>
                <a:uLnTx/>
                <a:uFillTx/>
                <a:latin typeface="Palatino Linotype"/>
                <a:ea typeface="+mj-ea"/>
              </a:rPr>
              <a:t>and</a:t>
            </a:r>
            <a:r>
              <a:rPr kumimoji="0" lang="en-US" sz="4000" b="1" i="0" u="none" strike="noStrike" kern="0" cap="none" spc="-55" normalizeH="0" baseline="0" noProof="0">
                <a:ln>
                  <a:noFill/>
                </a:ln>
                <a:solidFill>
                  <a:sysClr val="windowText" lastClr="000000"/>
                </a:solidFill>
                <a:effectLst/>
                <a:uLnTx/>
                <a:uFillTx/>
                <a:latin typeface="Palatino Linotype"/>
                <a:ea typeface="+mj-ea"/>
              </a:rPr>
              <a:t> </a:t>
            </a:r>
            <a:r>
              <a:rPr kumimoji="0" lang="en-US" sz="4000" b="1" i="0" u="none" strike="noStrike" kern="0" cap="none" spc="-10" normalizeH="0" baseline="0" noProof="0">
                <a:ln>
                  <a:noFill/>
                </a:ln>
                <a:solidFill>
                  <a:sysClr val="windowText" lastClr="000000"/>
                </a:solidFill>
                <a:effectLst/>
                <a:uLnTx/>
                <a:uFillTx/>
                <a:latin typeface="Palatino Linotype"/>
                <a:ea typeface="+mj-ea"/>
              </a:rPr>
              <a:t>Stores</a:t>
            </a:r>
            <a:endParaRPr kumimoji="0" lang="en-US" sz="4000" b="1" i="0" u="none" strike="noStrike" kern="0" cap="none" spc="-10" normalizeH="0" baseline="0" noProof="0" dirty="0">
              <a:ln>
                <a:noFill/>
              </a:ln>
              <a:solidFill>
                <a:sysClr val="windowText" lastClr="000000"/>
              </a:solidFill>
              <a:effectLst/>
              <a:uLnTx/>
              <a:uFillTx/>
              <a:latin typeface="Palatino Linotype"/>
              <a:ea typeface="+mj-ea"/>
            </a:endParaRPr>
          </a:p>
        </p:txBody>
      </p:sp>
      <p:sp>
        <p:nvSpPr>
          <p:cNvPr id="8" name="object 3">
            <a:extLst>
              <a:ext uri="{FF2B5EF4-FFF2-40B4-BE49-F238E27FC236}">
                <a16:creationId xmlns:a16="http://schemas.microsoft.com/office/drawing/2014/main" id="{38C4C819-C345-FAC2-C6DF-A8FFE13FB638}"/>
              </a:ext>
            </a:extLst>
          </p:cNvPr>
          <p:cNvSpPr txBox="1"/>
          <p:nvPr/>
        </p:nvSpPr>
        <p:spPr>
          <a:xfrm>
            <a:off x="694690" y="1610867"/>
            <a:ext cx="7658100" cy="3401695"/>
          </a:xfrm>
          <a:prstGeom prst="rect">
            <a:avLst/>
          </a:prstGeom>
        </p:spPr>
        <p:txBody>
          <a:bodyPr vert="horz" wrap="square" lIns="0" tIns="12700" rIns="0" bIns="0" rtlCol="0">
            <a:spAutoFit/>
          </a:bodyPr>
          <a:lstStyle/>
          <a:p>
            <a:pPr marL="255270" marR="179705" indent="-230504">
              <a:lnSpc>
                <a:spcPct val="115999"/>
              </a:lnSpc>
              <a:spcBef>
                <a:spcPts val="100"/>
              </a:spcBef>
              <a:buFont typeface="Arial MT"/>
              <a:buChar char="•"/>
              <a:tabLst>
                <a:tab pos="255270" algn="l"/>
              </a:tabLst>
            </a:pPr>
            <a:r>
              <a:rPr sz="2000" dirty="0">
                <a:solidFill>
                  <a:sysClr val="windowText" lastClr="000000"/>
                </a:solidFill>
                <a:latin typeface="Palatino Linotype"/>
                <a:cs typeface="Palatino Linotype"/>
              </a:rPr>
              <a:t>A</a:t>
            </a:r>
            <a:r>
              <a:rPr sz="2000" spc="-12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naïve</a:t>
            </a:r>
            <a:r>
              <a:rPr sz="2000" spc="-6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algorithm</a:t>
            </a:r>
            <a:r>
              <a:rPr sz="2000" spc="-4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(not</a:t>
            </a:r>
            <a:r>
              <a:rPr sz="2000" spc="-4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the</a:t>
            </a:r>
            <a:r>
              <a:rPr sz="2000" spc="-4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one</a:t>
            </a:r>
            <a:r>
              <a:rPr sz="2000" spc="-4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we</a:t>
            </a:r>
            <a:r>
              <a:rPr sz="2000" spc="-3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introduced)</a:t>
            </a:r>
            <a:r>
              <a:rPr sz="2000" spc="-4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may</a:t>
            </a:r>
            <a:r>
              <a:rPr sz="2000" spc="-4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generate</a:t>
            </a:r>
            <a:r>
              <a:rPr sz="2000" spc="-40" dirty="0">
                <a:solidFill>
                  <a:sysClr val="windowText" lastClr="000000"/>
                </a:solidFill>
                <a:latin typeface="Palatino Linotype"/>
                <a:cs typeface="Palatino Linotype"/>
              </a:rPr>
              <a:t> </a:t>
            </a:r>
            <a:r>
              <a:rPr sz="2000" spc="-25" dirty="0">
                <a:solidFill>
                  <a:sysClr val="windowText" lastClr="000000"/>
                </a:solidFill>
                <a:latin typeface="Palatino Linotype"/>
                <a:cs typeface="Palatino Linotype"/>
              </a:rPr>
              <a:t>the </a:t>
            </a:r>
            <a:r>
              <a:rPr sz="2000" dirty="0">
                <a:solidFill>
                  <a:sysClr val="windowText" lastClr="000000"/>
                </a:solidFill>
                <a:latin typeface="Palatino Linotype"/>
                <a:cs typeface="Palatino Linotype"/>
              </a:rPr>
              <a:t>following</a:t>
            </a:r>
            <a:r>
              <a:rPr sz="2000" spc="-45" dirty="0">
                <a:solidFill>
                  <a:sysClr val="windowText" lastClr="000000"/>
                </a:solidFill>
                <a:latin typeface="Palatino Linotype"/>
                <a:cs typeface="Palatino Linotype"/>
              </a:rPr>
              <a:t> </a:t>
            </a:r>
            <a:r>
              <a:rPr sz="2000" spc="-20" dirty="0">
                <a:solidFill>
                  <a:sysClr val="windowText" lastClr="000000"/>
                </a:solidFill>
                <a:latin typeface="Palatino Linotype"/>
                <a:cs typeface="Palatino Linotype"/>
              </a:rPr>
              <a:t>code:</a:t>
            </a:r>
            <a:endParaRPr sz="2000" dirty="0">
              <a:solidFill>
                <a:sysClr val="windowText" lastClr="000000"/>
              </a:solidFill>
              <a:latin typeface="Palatino Linotype"/>
              <a:cs typeface="Palatino Linotype"/>
            </a:endParaRPr>
          </a:p>
          <a:p>
            <a:pPr marL="710565" lvl="1" indent="-227965">
              <a:spcBef>
                <a:spcPts val="1095"/>
              </a:spcBef>
              <a:buClr>
                <a:srgbClr val="000000"/>
              </a:buClr>
              <a:buFont typeface="Wingdings"/>
              <a:buChar char=""/>
              <a:tabLst>
                <a:tab pos="710565" algn="l"/>
              </a:tabLst>
            </a:pPr>
            <a:r>
              <a:rPr sz="1600" dirty="0">
                <a:solidFill>
                  <a:srgbClr val="0432FF"/>
                </a:solidFill>
                <a:latin typeface="Palatino Linotype"/>
                <a:cs typeface="Palatino Linotype"/>
              </a:rPr>
              <a:t>LD</a:t>
            </a:r>
            <a:r>
              <a:rPr sz="1600" spc="-10" dirty="0">
                <a:solidFill>
                  <a:srgbClr val="0432FF"/>
                </a:solidFill>
                <a:latin typeface="Palatino Linotype"/>
                <a:cs typeface="Palatino Linotype"/>
              </a:rPr>
              <a:t> </a:t>
            </a:r>
            <a:r>
              <a:rPr sz="1600" spc="65" dirty="0">
                <a:solidFill>
                  <a:srgbClr val="0432FF"/>
                </a:solidFill>
                <a:latin typeface="Cambria Math"/>
                <a:cs typeface="Cambria Math"/>
              </a:rPr>
              <a:t>𝑅</a:t>
            </a:r>
            <a:r>
              <a:rPr lang="en-US" spc="97" baseline="-16203" dirty="0">
                <a:solidFill>
                  <a:srgbClr val="0432FF"/>
                </a:solidFill>
                <a:latin typeface="Cambria Math"/>
                <a:cs typeface="Cambria Math"/>
              </a:rPr>
              <a:t>0</a:t>
            </a:r>
            <a:r>
              <a:rPr sz="1600" spc="65" dirty="0">
                <a:solidFill>
                  <a:srgbClr val="0432FF"/>
                </a:solidFill>
                <a:latin typeface="Palatino Linotype"/>
                <a:cs typeface="Palatino Linotype"/>
              </a:rPr>
              <a:t>,</a:t>
            </a:r>
            <a:r>
              <a:rPr sz="1600" dirty="0">
                <a:solidFill>
                  <a:srgbClr val="0432FF"/>
                </a:solidFill>
                <a:latin typeface="Palatino Linotype"/>
                <a:cs typeface="Palatino Linotype"/>
              </a:rPr>
              <a:t> </a:t>
            </a:r>
            <a:r>
              <a:rPr sz="1600" spc="-50" dirty="0">
                <a:solidFill>
                  <a:srgbClr val="0432FF"/>
                </a:solidFill>
                <a:latin typeface="Palatino Linotype"/>
                <a:cs typeface="Palatino Linotype"/>
              </a:rPr>
              <a:t>a</a:t>
            </a:r>
            <a:endParaRPr sz="1600" dirty="0">
              <a:solidFill>
                <a:sysClr val="windowText" lastClr="000000"/>
              </a:solidFill>
              <a:latin typeface="Palatino Linotype"/>
              <a:cs typeface="Palatino Linotype"/>
            </a:endParaRPr>
          </a:p>
          <a:p>
            <a:pPr marL="710565" lvl="1" indent="-227965">
              <a:spcBef>
                <a:spcPts val="985"/>
              </a:spcBef>
              <a:buClr>
                <a:srgbClr val="000000"/>
              </a:buClr>
              <a:buFont typeface="Wingdings"/>
              <a:buChar char=""/>
              <a:tabLst>
                <a:tab pos="710565" algn="l"/>
              </a:tabLst>
            </a:pPr>
            <a:r>
              <a:rPr sz="1600" dirty="0">
                <a:solidFill>
                  <a:srgbClr val="0432FF"/>
                </a:solidFill>
                <a:latin typeface="Palatino Linotype"/>
                <a:cs typeface="Palatino Linotype"/>
              </a:rPr>
              <a:t>ST</a:t>
            </a:r>
            <a:r>
              <a:rPr sz="1600" spc="-25" dirty="0">
                <a:solidFill>
                  <a:srgbClr val="0432FF"/>
                </a:solidFill>
                <a:latin typeface="Palatino Linotype"/>
                <a:cs typeface="Palatino Linotype"/>
              </a:rPr>
              <a:t> </a:t>
            </a:r>
            <a:r>
              <a:rPr sz="1600" dirty="0">
                <a:solidFill>
                  <a:srgbClr val="0432FF"/>
                </a:solidFill>
                <a:latin typeface="Palatino Linotype"/>
                <a:cs typeface="Palatino Linotype"/>
              </a:rPr>
              <a:t>a, </a:t>
            </a:r>
            <a:r>
              <a:rPr sz="1600" spc="50" dirty="0">
                <a:solidFill>
                  <a:srgbClr val="0432FF"/>
                </a:solidFill>
                <a:latin typeface="Cambria Math"/>
                <a:cs typeface="Cambria Math"/>
              </a:rPr>
              <a:t>𝑅</a:t>
            </a:r>
            <a:r>
              <a:rPr lang="en-US" spc="75" baseline="-16203" dirty="0">
                <a:solidFill>
                  <a:srgbClr val="0432FF"/>
                </a:solidFill>
                <a:latin typeface="Cambria Math"/>
                <a:cs typeface="Cambria Math"/>
              </a:rPr>
              <a:t>0</a:t>
            </a:r>
            <a:endParaRPr baseline="-16203" dirty="0">
              <a:solidFill>
                <a:sysClr val="windowText" lastClr="000000"/>
              </a:solidFill>
              <a:latin typeface="Cambria Math"/>
              <a:cs typeface="Cambria Math"/>
            </a:endParaRPr>
          </a:p>
          <a:p>
            <a:pPr marL="255270" marR="17780" indent="-230504">
              <a:lnSpc>
                <a:spcPct val="121000"/>
              </a:lnSpc>
              <a:spcBef>
                <a:spcPts val="1685"/>
              </a:spcBef>
              <a:buClr>
                <a:srgbClr val="000000"/>
              </a:buClr>
              <a:buFont typeface="Arial MT"/>
              <a:buChar char="•"/>
              <a:tabLst>
                <a:tab pos="255270" algn="l"/>
              </a:tabLst>
            </a:pPr>
            <a:r>
              <a:rPr sz="2000" spc="-20" dirty="0">
                <a:solidFill>
                  <a:srgbClr val="FF0000"/>
                </a:solidFill>
                <a:latin typeface="Palatino Linotype"/>
                <a:cs typeface="Palatino Linotype"/>
              </a:rPr>
              <a:t>We</a:t>
            </a:r>
            <a:r>
              <a:rPr sz="2000" spc="-30" dirty="0">
                <a:solidFill>
                  <a:srgbClr val="FF0000"/>
                </a:solidFill>
                <a:latin typeface="Palatino Linotype"/>
                <a:cs typeface="Palatino Linotype"/>
              </a:rPr>
              <a:t> </a:t>
            </a:r>
            <a:r>
              <a:rPr sz="2000" dirty="0">
                <a:solidFill>
                  <a:srgbClr val="FF0000"/>
                </a:solidFill>
                <a:latin typeface="Palatino Linotype"/>
                <a:cs typeface="Palatino Linotype"/>
              </a:rPr>
              <a:t>can</a:t>
            </a:r>
            <a:r>
              <a:rPr sz="2000" spc="-30" dirty="0">
                <a:solidFill>
                  <a:srgbClr val="FF0000"/>
                </a:solidFill>
                <a:latin typeface="Palatino Linotype"/>
                <a:cs typeface="Palatino Linotype"/>
              </a:rPr>
              <a:t> </a:t>
            </a:r>
            <a:r>
              <a:rPr sz="2000" dirty="0">
                <a:solidFill>
                  <a:srgbClr val="FF0000"/>
                </a:solidFill>
                <a:latin typeface="Palatino Linotype"/>
                <a:cs typeface="Palatino Linotype"/>
              </a:rPr>
              <a:t>delete</a:t>
            </a:r>
            <a:r>
              <a:rPr sz="2000" spc="-25" dirty="0">
                <a:solidFill>
                  <a:srgbClr val="FF0000"/>
                </a:solidFill>
                <a:latin typeface="Palatino Linotype"/>
                <a:cs typeface="Palatino Linotype"/>
              </a:rPr>
              <a:t> </a:t>
            </a:r>
            <a:r>
              <a:rPr sz="2000" dirty="0">
                <a:solidFill>
                  <a:srgbClr val="FF0000"/>
                </a:solidFill>
                <a:latin typeface="Palatino Linotype"/>
                <a:cs typeface="Palatino Linotype"/>
              </a:rPr>
              <a:t>the</a:t>
            </a:r>
            <a:r>
              <a:rPr sz="2000" spc="-25" dirty="0">
                <a:solidFill>
                  <a:srgbClr val="FF0000"/>
                </a:solidFill>
                <a:latin typeface="Palatino Linotype"/>
                <a:cs typeface="Palatino Linotype"/>
              </a:rPr>
              <a:t> </a:t>
            </a:r>
            <a:r>
              <a:rPr sz="2000" dirty="0">
                <a:solidFill>
                  <a:srgbClr val="FF0000"/>
                </a:solidFill>
                <a:latin typeface="Palatino Linotype"/>
                <a:cs typeface="Palatino Linotype"/>
              </a:rPr>
              <a:t>store</a:t>
            </a:r>
            <a:r>
              <a:rPr sz="2000" spc="-25" dirty="0">
                <a:solidFill>
                  <a:srgbClr val="FF0000"/>
                </a:solidFill>
                <a:latin typeface="Palatino Linotype"/>
                <a:cs typeface="Palatino Linotype"/>
              </a:rPr>
              <a:t> </a:t>
            </a:r>
            <a:r>
              <a:rPr sz="2000" dirty="0">
                <a:solidFill>
                  <a:srgbClr val="FF0000"/>
                </a:solidFill>
                <a:latin typeface="Palatino Linotype"/>
                <a:cs typeface="Palatino Linotype"/>
              </a:rPr>
              <a:t>instruction</a:t>
            </a:r>
            <a:r>
              <a:rPr sz="2000" spc="-30" dirty="0">
                <a:solidFill>
                  <a:srgbClr val="FF0000"/>
                </a:solidFill>
                <a:latin typeface="Palatino Linotype"/>
                <a:cs typeface="Palatino Linotype"/>
              </a:rPr>
              <a:t> </a:t>
            </a:r>
            <a:r>
              <a:rPr sz="2000" dirty="0">
                <a:solidFill>
                  <a:srgbClr val="FF0000"/>
                </a:solidFill>
                <a:latin typeface="Palatino Linotype"/>
                <a:cs typeface="Palatino Linotype"/>
              </a:rPr>
              <a:t>if</a:t>
            </a:r>
            <a:r>
              <a:rPr sz="2000" spc="-35" dirty="0">
                <a:solidFill>
                  <a:srgbClr val="FF0000"/>
                </a:solidFill>
                <a:latin typeface="Palatino Linotype"/>
                <a:cs typeface="Palatino Linotype"/>
              </a:rPr>
              <a:t> </a:t>
            </a:r>
            <a:r>
              <a:rPr sz="2000" dirty="0">
                <a:solidFill>
                  <a:srgbClr val="FF0000"/>
                </a:solidFill>
                <a:latin typeface="Palatino Linotype"/>
                <a:cs typeface="Palatino Linotype"/>
              </a:rPr>
              <a:t>there</a:t>
            </a:r>
            <a:r>
              <a:rPr sz="2000" spc="-25" dirty="0">
                <a:solidFill>
                  <a:srgbClr val="FF0000"/>
                </a:solidFill>
                <a:latin typeface="Palatino Linotype"/>
                <a:cs typeface="Palatino Linotype"/>
              </a:rPr>
              <a:t> </a:t>
            </a:r>
            <a:r>
              <a:rPr sz="2000" dirty="0">
                <a:solidFill>
                  <a:srgbClr val="FF0000"/>
                </a:solidFill>
                <a:latin typeface="Palatino Linotype"/>
                <a:cs typeface="Palatino Linotype"/>
              </a:rPr>
              <a:t>is</a:t>
            </a:r>
            <a:r>
              <a:rPr sz="2000" spc="-25" dirty="0">
                <a:solidFill>
                  <a:srgbClr val="FF0000"/>
                </a:solidFill>
                <a:latin typeface="Palatino Linotype"/>
                <a:cs typeface="Palatino Linotype"/>
              </a:rPr>
              <a:t> </a:t>
            </a:r>
            <a:r>
              <a:rPr sz="2000" dirty="0">
                <a:solidFill>
                  <a:srgbClr val="FF0000"/>
                </a:solidFill>
                <a:latin typeface="Palatino Linotype"/>
                <a:cs typeface="Palatino Linotype"/>
              </a:rPr>
              <a:t>no</a:t>
            </a:r>
            <a:r>
              <a:rPr sz="2000" spc="-30" dirty="0">
                <a:solidFill>
                  <a:srgbClr val="FF0000"/>
                </a:solidFill>
                <a:latin typeface="Palatino Linotype"/>
                <a:cs typeface="Palatino Linotype"/>
              </a:rPr>
              <a:t> </a:t>
            </a:r>
            <a:r>
              <a:rPr sz="2000" dirty="0">
                <a:solidFill>
                  <a:srgbClr val="FF0000"/>
                </a:solidFill>
                <a:latin typeface="Palatino Linotype"/>
                <a:cs typeface="Palatino Linotype"/>
              </a:rPr>
              <a:t>jump</a:t>
            </a:r>
            <a:r>
              <a:rPr sz="2000" spc="-30" dirty="0">
                <a:solidFill>
                  <a:srgbClr val="FF0000"/>
                </a:solidFill>
                <a:latin typeface="Palatino Linotype"/>
                <a:cs typeface="Palatino Linotype"/>
              </a:rPr>
              <a:t> </a:t>
            </a:r>
            <a:r>
              <a:rPr sz="2000" dirty="0">
                <a:solidFill>
                  <a:srgbClr val="FF0000"/>
                </a:solidFill>
                <a:latin typeface="Palatino Linotype"/>
                <a:cs typeface="Palatino Linotype"/>
              </a:rPr>
              <a:t>to</a:t>
            </a:r>
            <a:r>
              <a:rPr sz="2000" spc="-30" dirty="0">
                <a:solidFill>
                  <a:srgbClr val="FF0000"/>
                </a:solidFill>
                <a:latin typeface="Palatino Linotype"/>
                <a:cs typeface="Palatino Linotype"/>
              </a:rPr>
              <a:t> </a:t>
            </a:r>
            <a:r>
              <a:rPr sz="2000" dirty="0">
                <a:solidFill>
                  <a:srgbClr val="FF0000"/>
                </a:solidFill>
                <a:latin typeface="Palatino Linotype"/>
                <a:cs typeface="Palatino Linotype"/>
              </a:rPr>
              <a:t>it</a:t>
            </a:r>
            <a:r>
              <a:rPr sz="2000" spc="-30" dirty="0">
                <a:solidFill>
                  <a:srgbClr val="FF0000"/>
                </a:solidFill>
                <a:latin typeface="Palatino Linotype"/>
                <a:cs typeface="Palatino Linotype"/>
              </a:rPr>
              <a:t> </a:t>
            </a:r>
            <a:r>
              <a:rPr sz="2000" dirty="0">
                <a:solidFill>
                  <a:sysClr val="windowText" lastClr="000000"/>
                </a:solidFill>
                <a:latin typeface="Palatino Linotype"/>
                <a:cs typeface="Palatino Linotype"/>
              </a:rPr>
              <a:t>(that</a:t>
            </a:r>
            <a:r>
              <a:rPr sz="2000" spc="-35" dirty="0">
                <a:solidFill>
                  <a:sysClr val="windowText" lastClr="000000"/>
                </a:solidFill>
                <a:latin typeface="Palatino Linotype"/>
                <a:cs typeface="Palatino Linotype"/>
              </a:rPr>
              <a:t> </a:t>
            </a:r>
            <a:r>
              <a:rPr sz="2000" spc="-25" dirty="0">
                <a:solidFill>
                  <a:sysClr val="windowText" lastClr="000000"/>
                </a:solidFill>
                <a:latin typeface="Palatino Linotype"/>
                <a:cs typeface="Palatino Linotype"/>
              </a:rPr>
              <a:t>is, </a:t>
            </a:r>
            <a:r>
              <a:rPr sz="2000" dirty="0">
                <a:solidFill>
                  <a:sysClr val="windowText" lastClr="000000"/>
                </a:solidFill>
                <a:latin typeface="Palatino Linotype"/>
                <a:cs typeface="Palatino Linotype"/>
              </a:rPr>
              <a:t>the</a:t>
            </a:r>
            <a:r>
              <a:rPr sz="2000" spc="-3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two</a:t>
            </a:r>
            <a:r>
              <a:rPr sz="2000" spc="-3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instructions</a:t>
            </a:r>
            <a:r>
              <a:rPr sz="2000" spc="-2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are</a:t>
            </a:r>
            <a:r>
              <a:rPr sz="2000" spc="-3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in</a:t>
            </a:r>
            <a:r>
              <a:rPr sz="2000" spc="-3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the</a:t>
            </a:r>
            <a:r>
              <a:rPr sz="2000" spc="-2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same</a:t>
            </a:r>
            <a:r>
              <a:rPr sz="2000" spc="-3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basic</a:t>
            </a:r>
            <a:r>
              <a:rPr sz="2000" spc="-30" dirty="0">
                <a:solidFill>
                  <a:sysClr val="windowText" lastClr="000000"/>
                </a:solidFill>
                <a:latin typeface="Palatino Linotype"/>
                <a:cs typeface="Palatino Linotype"/>
              </a:rPr>
              <a:t> </a:t>
            </a:r>
            <a:r>
              <a:rPr sz="2000" spc="-10" dirty="0">
                <a:solidFill>
                  <a:sysClr val="windowText" lastClr="000000"/>
                </a:solidFill>
                <a:latin typeface="Palatino Linotype"/>
                <a:cs typeface="Palatino Linotype"/>
              </a:rPr>
              <a:t>block)</a:t>
            </a:r>
            <a:endParaRPr sz="2000" dirty="0">
              <a:solidFill>
                <a:sysClr val="windowText" lastClr="000000"/>
              </a:solidFill>
              <a:latin typeface="Palatino Linotype"/>
              <a:cs typeface="Palatino Linotype"/>
            </a:endParaRPr>
          </a:p>
          <a:p>
            <a:pPr marL="711200" marR="299720" lvl="1" indent="-228600" algn="just">
              <a:lnSpc>
                <a:spcPct val="119400"/>
              </a:lnSpc>
              <a:spcBef>
                <a:spcPts val="725"/>
              </a:spcBef>
              <a:buFont typeface="Wingdings"/>
              <a:buChar char=""/>
              <a:tabLst>
                <a:tab pos="711200" algn="l"/>
              </a:tabLst>
            </a:pPr>
            <a:r>
              <a:rPr sz="1600" dirty="0">
                <a:solidFill>
                  <a:sysClr val="windowText" lastClr="000000"/>
                </a:solidFill>
                <a:latin typeface="Palatino Linotype"/>
                <a:cs typeface="Palatino Linotype"/>
              </a:rPr>
              <a:t>If</a:t>
            </a:r>
            <a:r>
              <a:rPr sz="1600" spc="-20"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there</a:t>
            </a:r>
            <a:r>
              <a:rPr sz="1600" spc="-25"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is</a:t>
            </a:r>
            <a:r>
              <a:rPr sz="1600" spc="-20"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a</a:t>
            </a:r>
            <a:r>
              <a:rPr sz="1600" spc="-20"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jump</a:t>
            </a:r>
            <a:r>
              <a:rPr sz="1600" spc="-20"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to</a:t>
            </a:r>
            <a:r>
              <a:rPr sz="1600" spc="-15"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the</a:t>
            </a:r>
            <a:r>
              <a:rPr sz="1600" spc="-25"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store</a:t>
            </a:r>
            <a:r>
              <a:rPr sz="1600" spc="-25"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instruction,</a:t>
            </a:r>
            <a:r>
              <a:rPr sz="1600" spc="-15"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we</a:t>
            </a:r>
            <a:r>
              <a:rPr sz="1600" spc="-25"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could</a:t>
            </a:r>
            <a:r>
              <a:rPr sz="1600" spc="-20"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not</a:t>
            </a:r>
            <a:r>
              <a:rPr sz="1600" spc="-20"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be</a:t>
            </a:r>
            <a:r>
              <a:rPr sz="1600" spc="-25"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sure</a:t>
            </a:r>
            <a:r>
              <a:rPr sz="1600" spc="-20"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that</a:t>
            </a:r>
            <a:r>
              <a:rPr sz="1600" spc="-20"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the</a:t>
            </a:r>
            <a:r>
              <a:rPr sz="1600" spc="-25" dirty="0">
                <a:solidFill>
                  <a:sysClr val="windowText" lastClr="000000"/>
                </a:solidFill>
                <a:latin typeface="Palatino Linotype"/>
                <a:cs typeface="Palatino Linotype"/>
              </a:rPr>
              <a:t> </a:t>
            </a:r>
            <a:r>
              <a:rPr sz="1600" spc="-35" dirty="0">
                <a:solidFill>
                  <a:sysClr val="windowText" lastClr="000000"/>
                </a:solidFill>
                <a:latin typeface="Palatino Linotype"/>
                <a:cs typeface="Palatino Linotype"/>
              </a:rPr>
              <a:t>LD </a:t>
            </a:r>
            <a:r>
              <a:rPr sz="1600" dirty="0">
                <a:solidFill>
                  <a:sysClr val="windowText" lastClr="000000"/>
                </a:solidFill>
                <a:latin typeface="Palatino Linotype"/>
                <a:cs typeface="Palatino Linotype"/>
              </a:rPr>
              <a:t>instruction</a:t>
            </a:r>
            <a:r>
              <a:rPr sz="1600" spc="-30"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is</a:t>
            </a:r>
            <a:r>
              <a:rPr sz="1600" spc="-40"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always</a:t>
            </a:r>
            <a:r>
              <a:rPr sz="1600" spc="-40"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executed</a:t>
            </a:r>
            <a:r>
              <a:rPr sz="1600" spc="-35"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before</a:t>
            </a:r>
            <a:r>
              <a:rPr sz="1600" spc="-40"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the</a:t>
            </a:r>
            <a:r>
              <a:rPr sz="1600" spc="-40"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store</a:t>
            </a:r>
            <a:r>
              <a:rPr sz="1600" spc="-35"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instruction</a:t>
            </a:r>
            <a:r>
              <a:rPr sz="1600" spc="-30"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(there</a:t>
            </a:r>
            <a:r>
              <a:rPr sz="1600" spc="-40"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might</a:t>
            </a:r>
            <a:r>
              <a:rPr sz="1600" spc="-30" dirty="0">
                <a:solidFill>
                  <a:sysClr val="windowText" lastClr="000000"/>
                </a:solidFill>
                <a:latin typeface="Palatino Linotype"/>
                <a:cs typeface="Palatino Linotype"/>
              </a:rPr>
              <a:t> </a:t>
            </a:r>
            <a:r>
              <a:rPr sz="1600" spc="-25" dirty="0">
                <a:solidFill>
                  <a:sysClr val="windowText" lastClr="000000"/>
                </a:solidFill>
                <a:latin typeface="Palatino Linotype"/>
                <a:cs typeface="Palatino Linotype"/>
              </a:rPr>
              <a:t>be </a:t>
            </a:r>
            <a:r>
              <a:rPr sz="1600" dirty="0">
                <a:solidFill>
                  <a:sysClr val="windowText" lastClr="000000"/>
                </a:solidFill>
                <a:latin typeface="Palatino Linotype"/>
                <a:cs typeface="Palatino Linotype"/>
              </a:rPr>
              <a:t>other</a:t>
            </a:r>
            <a:r>
              <a:rPr sz="1600" spc="-50"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instructions</a:t>
            </a:r>
            <a:r>
              <a:rPr sz="1600" spc="-35"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putting</a:t>
            </a:r>
            <a:r>
              <a:rPr sz="1600" spc="-30"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a</a:t>
            </a:r>
            <a:r>
              <a:rPr sz="1600" spc="-30"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new</a:t>
            </a:r>
            <a:r>
              <a:rPr sz="1600" spc="-25"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value</a:t>
            </a:r>
            <a:r>
              <a:rPr sz="1600" spc="-35"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of</a:t>
            </a:r>
            <a:r>
              <a:rPr sz="1600" spc="-25" dirty="0">
                <a:solidFill>
                  <a:sysClr val="windowText" lastClr="000000"/>
                </a:solidFill>
                <a:latin typeface="Palatino Linotype"/>
                <a:cs typeface="Palatino Linotype"/>
              </a:rPr>
              <a:t> </a:t>
            </a:r>
            <a:r>
              <a:rPr sz="1600" dirty="0">
                <a:solidFill>
                  <a:sysClr val="windowText" lastClr="000000"/>
                </a:solidFill>
                <a:latin typeface="Consolas"/>
                <a:cs typeface="Consolas"/>
              </a:rPr>
              <a:t>a</a:t>
            </a:r>
            <a:r>
              <a:rPr sz="1600" spc="-484" dirty="0">
                <a:solidFill>
                  <a:sysClr val="windowText" lastClr="000000"/>
                </a:solidFill>
                <a:latin typeface="Consolas"/>
                <a:cs typeface="Consolas"/>
              </a:rPr>
              <a:t> </a:t>
            </a:r>
            <a:r>
              <a:rPr sz="1600" dirty="0">
                <a:solidFill>
                  <a:sysClr val="windowText" lastClr="000000"/>
                </a:solidFill>
                <a:latin typeface="Palatino Linotype"/>
                <a:cs typeface="Palatino Linotype"/>
              </a:rPr>
              <a:t>into</a:t>
            </a:r>
            <a:r>
              <a:rPr sz="1600" spc="-30" dirty="0">
                <a:solidFill>
                  <a:sysClr val="windowText" lastClr="000000"/>
                </a:solidFill>
                <a:latin typeface="Palatino Linotype"/>
                <a:cs typeface="Palatino Linotype"/>
              </a:rPr>
              <a:t> </a:t>
            </a:r>
            <a:r>
              <a:rPr sz="1600" i="1" spc="-25" dirty="0">
                <a:solidFill>
                  <a:sysClr val="windowText" lastClr="000000"/>
                </a:solidFill>
                <a:latin typeface="Palatino Linotype"/>
                <a:cs typeface="Palatino Linotype"/>
              </a:rPr>
              <a:t>R</a:t>
            </a:r>
            <a:r>
              <a:rPr sz="1650" spc="-37" baseline="-15151" dirty="0">
                <a:solidFill>
                  <a:sysClr val="windowText" lastClr="000000"/>
                </a:solidFill>
                <a:latin typeface="Palatino Linotype"/>
                <a:cs typeface="Palatino Linotype"/>
              </a:rPr>
              <a:t>0</a:t>
            </a:r>
            <a:r>
              <a:rPr sz="1600" spc="-25" dirty="0">
                <a:solidFill>
                  <a:sysClr val="windowText" lastClr="000000"/>
                </a:solidFill>
                <a:latin typeface="Palatino Linotype"/>
                <a:cs typeface="Palatino Linotype"/>
              </a:rPr>
              <a:t>)</a:t>
            </a:r>
            <a:endParaRPr sz="1600" dirty="0">
              <a:solidFill>
                <a:sysClr val="windowText" lastClr="000000"/>
              </a:solidFill>
              <a:latin typeface="Palatino Linotype"/>
              <a:cs typeface="Palatino Linotype"/>
            </a:endParaRPr>
          </a:p>
        </p:txBody>
      </p:sp>
    </p:spTree>
    <p:extLst>
      <p:ext uri="{BB962C8B-B14F-4D97-AF65-F5344CB8AC3E}">
        <p14:creationId xmlns:p14="http://schemas.microsoft.com/office/powerpoint/2010/main" val="21592215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75</a:t>
            </a:fld>
            <a:endParaRPr lang="en-US"/>
          </a:p>
        </p:txBody>
      </p:sp>
      <p:sp>
        <p:nvSpPr>
          <p:cNvPr id="15" name="object 2">
            <a:extLst>
              <a:ext uri="{FF2B5EF4-FFF2-40B4-BE49-F238E27FC236}">
                <a16:creationId xmlns:a16="http://schemas.microsoft.com/office/drawing/2014/main" id="{767F23E0-10F1-3EC3-1CBF-D2406D894A2B}"/>
              </a:ext>
            </a:extLst>
          </p:cNvPr>
          <p:cNvSpPr txBox="1">
            <a:spLocks/>
          </p:cNvSpPr>
          <p:nvPr/>
        </p:nvSpPr>
        <p:spPr>
          <a:xfrm>
            <a:off x="707390" y="524763"/>
            <a:ext cx="7729219" cy="63500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4000" b="1" i="0" u="none" strike="noStrike" kern="0" cap="none" spc="0" normalizeH="0" baseline="0" noProof="0">
                <a:ln>
                  <a:noFill/>
                </a:ln>
                <a:solidFill>
                  <a:sysClr val="windowText" lastClr="000000"/>
                </a:solidFill>
                <a:effectLst/>
                <a:uLnTx/>
                <a:uFillTx/>
                <a:latin typeface="Palatino Linotype"/>
                <a:ea typeface="+mj-ea"/>
              </a:rPr>
              <a:t>Unreachable</a:t>
            </a:r>
            <a:r>
              <a:rPr kumimoji="0" lang="en-US" sz="4000" b="1" i="0" u="none" strike="noStrike" kern="0" cap="none" spc="-90" normalizeH="0" baseline="0" noProof="0">
                <a:ln>
                  <a:noFill/>
                </a:ln>
                <a:solidFill>
                  <a:sysClr val="windowText" lastClr="000000"/>
                </a:solidFill>
                <a:effectLst/>
                <a:uLnTx/>
                <a:uFillTx/>
                <a:latin typeface="Palatino Linotype"/>
                <a:ea typeface="+mj-ea"/>
              </a:rPr>
              <a:t> </a:t>
            </a:r>
            <a:r>
              <a:rPr kumimoji="0" lang="en-US" sz="4000" b="1" i="0" u="none" strike="noStrike" kern="0" cap="none" spc="-20" normalizeH="0" baseline="0" noProof="0">
                <a:ln>
                  <a:noFill/>
                </a:ln>
                <a:solidFill>
                  <a:sysClr val="windowText" lastClr="000000"/>
                </a:solidFill>
                <a:effectLst/>
                <a:uLnTx/>
                <a:uFillTx/>
                <a:latin typeface="Palatino Linotype"/>
                <a:ea typeface="+mj-ea"/>
              </a:rPr>
              <a:t>Code</a:t>
            </a:r>
            <a:endParaRPr kumimoji="0" lang="en-US" sz="4000" b="1" i="0" u="none" strike="noStrike" kern="0" cap="none" spc="-20" normalizeH="0" baseline="0" noProof="0" dirty="0">
              <a:ln>
                <a:noFill/>
              </a:ln>
              <a:solidFill>
                <a:sysClr val="windowText" lastClr="000000"/>
              </a:solidFill>
              <a:effectLst/>
              <a:uLnTx/>
              <a:uFillTx/>
              <a:latin typeface="Palatino Linotype"/>
              <a:ea typeface="+mj-ea"/>
            </a:endParaRPr>
          </a:p>
        </p:txBody>
      </p:sp>
      <p:sp>
        <p:nvSpPr>
          <p:cNvPr id="16" name="object 3">
            <a:extLst>
              <a:ext uri="{FF2B5EF4-FFF2-40B4-BE49-F238E27FC236}">
                <a16:creationId xmlns:a16="http://schemas.microsoft.com/office/drawing/2014/main" id="{854726CF-B5E8-397C-27AD-40B9087BC98A}"/>
              </a:ext>
            </a:extLst>
          </p:cNvPr>
          <p:cNvSpPr txBox="1"/>
          <p:nvPr/>
        </p:nvSpPr>
        <p:spPr>
          <a:xfrm>
            <a:off x="707390" y="1610867"/>
            <a:ext cx="7333615" cy="1330325"/>
          </a:xfrm>
          <a:prstGeom prst="rect">
            <a:avLst/>
          </a:prstGeom>
        </p:spPr>
        <p:txBody>
          <a:bodyPr vert="horz" wrap="square" lIns="0" tIns="12700" rIns="0" bIns="0" rtlCol="0">
            <a:spAutoFit/>
          </a:bodyPr>
          <a:lstStyle/>
          <a:p>
            <a:pPr marL="242570" marR="5080" indent="-230504">
              <a:lnSpc>
                <a:spcPct val="115999"/>
              </a:lnSpc>
              <a:spcBef>
                <a:spcPts val="100"/>
              </a:spcBef>
              <a:buClr>
                <a:srgbClr val="000000"/>
              </a:buClr>
              <a:buFont typeface="Arial MT"/>
              <a:buChar char="•"/>
              <a:tabLst>
                <a:tab pos="242570" algn="l"/>
              </a:tabLst>
            </a:pPr>
            <a:r>
              <a:rPr sz="2000" dirty="0">
                <a:solidFill>
                  <a:srgbClr val="0432FF"/>
                </a:solidFill>
                <a:latin typeface="Palatino Linotype"/>
                <a:cs typeface="Palatino Linotype"/>
              </a:rPr>
              <a:t>Example</a:t>
            </a:r>
            <a:r>
              <a:rPr sz="2000" spc="-45" dirty="0">
                <a:solidFill>
                  <a:srgbClr val="0432FF"/>
                </a:solidFill>
                <a:latin typeface="Palatino Linotype"/>
                <a:cs typeface="Palatino Linotype"/>
              </a:rPr>
              <a:t> </a:t>
            </a:r>
            <a:r>
              <a:rPr sz="2000" dirty="0">
                <a:solidFill>
                  <a:srgbClr val="0432FF"/>
                </a:solidFill>
                <a:latin typeface="Palatino Linotype"/>
                <a:cs typeface="Palatino Linotype"/>
              </a:rPr>
              <a:t>1:</a:t>
            </a:r>
            <a:r>
              <a:rPr sz="2000" spc="-105" dirty="0">
                <a:solidFill>
                  <a:srgbClr val="0432FF"/>
                </a:solidFill>
                <a:latin typeface="Palatino Linotype"/>
                <a:cs typeface="Palatino Linotype"/>
              </a:rPr>
              <a:t> </a:t>
            </a:r>
            <a:r>
              <a:rPr sz="2000" dirty="0">
                <a:solidFill>
                  <a:sysClr val="windowText" lastClr="000000"/>
                </a:solidFill>
                <a:latin typeface="Palatino Linotype"/>
                <a:cs typeface="Palatino Linotype"/>
              </a:rPr>
              <a:t>An</a:t>
            </a:r>
            <a:r>
              <a:rPr sz="2000" spc="-5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unlabeled</a:t>
            </a:r>
            <a:r>
              <a:rPr sz="2000" spc="-4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instruction</a:t>
            </a:r>
            <a:r>
              <a:rPr sz="2000" spc="-4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immediately</a:t>
            </a:r>
            <a:r>
              <a:rPr sz="2000" spc="-4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following</a:t>
            </a:r>
            <a:r>
              <a:rPr sz="2000" spc="-40" dirty="0">
                <a:solidFill>
                  <a:sysClr val="windowText" lastClr="000000"/>
                </a:solidFill>
                <a:latin typeface="Palatino Linotype"/>
                <a:cs typeface="Palatino Linotype"/>
              </a:rPr>
              <a:t> </a:t>
            </a:r>
            <a:r>
              <a:rPr sz="2000" spc="-25" dirty="0">
                <a:solidFill>
                  <a:sysClr val="windowText" lastClr="000000"/>
                </a:solidFill>
                <a:latin typeface="Palatino Linotype"/>
                <a:cs typeface="Palatino Linotype"/>
              </a:rPr>
              <a:t>an </a:t>
            </a:r>
            <a:r>
              <a:rPr sz="2000" dirty="0">
                <a:solidFill>
                  <a:sysClr val="windowText" lastClr="000000"/>
                </a:solidFill>
                <a:latin typeface="Palatino Linotype"/>
                <a:cs typeface="Palatino Linotype"/>
              </a:rPr>
              <a:t>unconditional</a:t>
            </a:r>
            <a:r>
              <a:rPr sz="2000" spc="-3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jump</a:t>
            </a:r>
            <a:r>
              <a:rPr sz="2000" spc="-3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can</a:t>
            </a:r>
            <a:r>
              <a:rPr sz="2000" spc="-3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be</a:t>
            </a:r>
            <a:r>
              <a:rPr sz="2000" spc="-30" dirty="0">
                <a:solidFill>
                  <a:sysClr val="windowText" lastClr="000000"/>
                </a:solidFill>
                <a:latin typeface="Palatino Linotype"/>
                <a:cs typeface="Palatino Linotype"/>
              </a:rPr>
              <a:t> </a:t>
            </a:r>
            <a:r>
              <a:rPr sz="2000" spc="-10" dirty="0">
                <a:solidFill>
                  <a:sysClr val="windowText" lastClr="000000"/>
                </a:solidFill>
                <a:latin typeface="Palatino Linotype"/>
                <a:cs typeface="Palatino Linotype"/>
              </a:rPr>
              <a:t>removed</a:t>
            </a:r>
            <a:endParaRPr sz="2000">
              <a:solidFill>
                <a:sysClr val="windowText" lastClr="000000"/>
              </a:solidFill>
              <a:latin typeface="Palatino Linotype"/>
              <a:cs typeface="Palatino Linotype"/>
            </a:endParaRPr>
          </a:p>
          <a:p>
            <a:pPr marL="242570" indent="-229870">
              <a:spcBef>
                <a:spcPts val="2305"/>
              </a:spcBef>
              <a:buClr>
                <a:srgbClr val="000000"/>
              </a:buClr>
              <a:buFont typeface="Arial MT"/>
              <a:buChar char="•"/>
              <a:tabLst>
                <a:tab pos="242570" algn="l"/>
              </a:tabLst>
            </a:pPr>
            <a:r>
              <a:rPr sz="2000" dirty="0">
                <a:solidFill>
                  <a:srgbClr val="0432FF"/>
                </a:solidFill>
                <a:latin typeface="Palatino Linotype"/>
                <a:cs typeface="Palatino Linotype"/>
              </a:rPr>
              <a:t>Example</a:t>
            </a:r>
            <a:r>
              <a:rPr sz="2000" spc="-35" dirty="0">
                <a:solidFill>
                  <a:srgbClr val="0432FF"/>
                </a:solidFill>
                <a:latin typeface="Palatino Linotype"/>
                <a:cs typeface="Palatino Linotype"/>
              </a:rPr>
              <a:t> </a:t>
            </a:r>
            <a:r>
              <a:rPr sz="2000" dirty="0">
                <a:solidFill>
                  <a:srgbClr val="0432FF"/>
                </a:solidFill>
                <a:latin typeface="Palatino Linotype"/>
                <a:cs typeface="Palatino Linotype"/>
              </a:rPr>
              <a:t>2:</a:t>
            </a:r>
            <a:r>
              <a:rPr sz="2000" spc="-35" dirty="0">
                <a:solidFill>
                  <a:srgbClr val="0432FF"/>
                </a:solidFill>
                <a:latin typeface="Palatino Linotype"/>
                <a:cs typeface="Palatino Linotype"/>
              </a:rPr>
              <a:t> </a:t>
            </a:r>
            <a:r>
              <a:rPr sz="2000" dirty="0">
                <a:solidFill>
                  <a:sysClr val="windowText" lastClr="000000"/>
                </a:solidFill>
                <a:latin typeface="Palatino Linotype"/>
                <a:cs typeface="Palatino Linotype"/>
              </a:rPr>
              <a:t>Jumps</a:t>
            </a:r>
            <a:r>
              <a:rPr sz="2000" spc="-3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over</a:t>
            </a:r>
            <a:r>
              <a:rPr sz="2000" spc="-3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jumps</a:t>
            </a:r>
            <a:r>
              <a:rPr sz="2000" spc="-25" dirty="0">
                <a:solidFill>
                  <a:sysClr val="windowText" lastClr="000000"/>
                </a:solidFill>
                <a:latin typeface="Palatino Linotype"/>
                <a:cs typeface="Palatino Linotype"/>
              </a:rPr>
              <a:t> (</a:t>
            </a:r>
            <a:r>
              <a:rPr sz="2000" dirty="0">
                <a:solidFill>
                  <a:srgbClr val="FF0000"/>
                </a:solidFill>
                <a:latin typeface="SimSun"/>
                <a:cs typeface="SimSun"/>
              </a:rPr>
              <a:t>级联跳转</a:t>
            </a:r>
            <a:r>
              <a:rPr sz="2000" spc="-50" dirty="0">
                <a:solidFill>
                  <a:sysClr val="windowText" lastClr="000000"/>
                </a:solidFill>
                <a:latin typeface="Palatino Linotype"/>
                <a:cs typeface="Palatino Linotype"/>
              </a:rPr>
              <a:t>)</a:t>
            </a:r>
            <a:endParaRPr sz="2000">
              <a:solidFill>
                <a:sysClr val="windowText" lastClr="000000"/>
              </a:solidFill>
              <a:latin typeface="Palatino Linotype"/>
              <a:cs typeface="Palatino Linotype"/>
            </a:endParaRPr>
          </a:p>
        </p:txBody>
      </p:sp>
      <p:sp>
        <p:nvSpPr>
          <p:cNvPr id="17" name="object 4">
            <a:extLst>
              <a:ext uri="{FF2B5EF4-FFF2-40B4-BE49-F238E27FC236}">
                <a16:creationId xmlns:a16="http://schemas.microsoft.com/office/drawing/2014/main" id="{EA4F17C9-2E15-AC8E-E93D-945B82B6C7C0}"/>
              </a:ext>
            </a:extLst>
          </p:cNvPr>
          <p:cNvSpPr txBox="1"/>
          <p:nvPr/>
        </p:nvSpPr>
        <p:spPr>
          <a:xfrm>
            <a:off x="873760" y="3330235"/>
            <a:ext cx="3398520" cy="1350645"/>
          </a:xfrm>
          <a:prstGeom prst="rect">
            <a:avLst/>
          </a:prstGeom>
          <a:ln w="9525">
            <a:solidFill>
              <a:srgbClr val="000000"/>
            </a:solidFill>
          </a:ln>
        </p:spPr>
        <p:txBody>
          <a:bodyPr vert="horz" wrap="square" lIns="0" tIns="6350" rIns="0" bIns="0" rtlCol="0">
            <a:spAutoFit/>
          </a:bodyPr>
          <a:lstStyle/>
          <a:p>
            <a:pPr marL="485140" marR="838200">
              <a:lnSpc>
                <a:spcPct val="148600"/>
              </a:lnSpc>
              <a:spcBef>
                <a:spcPts val="50"/>
              </a:spcBef>
            </a:pPr>
            <a:r>
              <a:rPr sz="1400" dirty="0">
                <a:solidFill>
                  <a:sysClr val="windowText" lastClr="000000"/>
                </a:solidFill>
                <a:latin typeface="Consolas"/>
                <a:cs typeface="Consolas"/>
              </a:rPr>
              <a:t>if</a:t>
            </a:r>
            <a:r>
              <a:rPr sz="1400" spc="-5" dirty="0">
                <a:solidFill>
                  <a:sysClr val="windowText" lastClr="000000"/>
                </a:solidFill>
                <a:latin typeface="Consolas"/>
                <a:cs typeface="Consolas"/>
              </a:rPr>
              <a:t> </a:t>
            </a:r>
            <a:r>
              <a:rPr sz="1400" dirty="0">
                <a:solidFill>
                  <a:sysClr val="windowText" lastClr="000000"/>
                </a:solidFill>
                <a:latin typeface="Consolas"/>
                <a:cs typeface="Consolas"/>
              </a:rPr>
              <a:t>debug</a:t>
            </a:r>
            <a:r>
              <a:rPr sz="1400" spc="-5" dirty="0">
                <a:solidFill>
                  <a:sysClr val="windowText" lastClr="000000"/>
                </a:solidFill>
                <a:latin typeface="Consolas"/>
                <a:cs typeface="Consolas"/>
              </a:rPr>
              <a:t> </a:t>
            </a:r>
            <a:r>
              <a:rPr sz="1400" dirty="0">
                <a:solidFill>
                  <a:sysClr val="windowText" lastClr="000000"/>
                </a:solidFill>
                <a:latin typeface="Consolas"/>
                <a:cs typeface="Consolas"/>
              </a:rPr>
              <a:t>== 1</a:t>
            </a:r>
            <a:r>
              <a:rPr sz="1400" spc="-5" dirty="0">
                <a:solidFill>
                  <a:sysClr val="windowText" lastClr="000000"/>
                </a:solidFill>
                <a:latin typeface="Consolas"/>
                <a:cs typeface="Consolas"/>
              </a:rPr>
              <a:t> </a:t>
            </a:r>
            <a:r>
              <a:rPr sz="1400" dirty="0">
                <a:solidFill>
                  <a:srgbClr val="FF0000"/>
                </a:solidFill>
                <a:latin typeface="Consolas"/>
                <a:cs typeface="Consolas"/>
              </a:rPr>
              <a:t>goto </a:t>
            </a:r>
            <a:r>
              <a:rPr sz="1400" spc="-25" dirty="0">
                <a:solidFill>
                  <a:srgbClr val="FF0000"/>
                </a:solidFill>
                <a:latin typeface="Consolas"/>
                <a:cs typeface="Consolas"/>
              </a:rPr>
              <a:t>L1 </a:t>
            </a:r>
            <a:r>
              <a:rPr sz="1400" dirty="0">
                <a:solidFill>
                  <a:srgbClr val="FF0000"/>
                </a:solidFill>
                <a:latin typeface="Consolas"/>
                <a:cs typeface="Consolas"/>
              </a:rPr>
              <a:t>goto</a:t>
            </a:r>
            <a:r>
              <a:rPr sz="1400" spc="-10" dirty="0">
                <a:solidFill>
                  <a:srgbClr val="FF0000"/>
                </a:solidFill>
                <a:latin typeface="Consolas"/>
                <a:cs typeface="Consolas"/>
              </a:rPr>
              <a:t> </a:t>
            </a:r>
            <a:r>
              <a:rPr sz="1400" spc="-25" dirty="0">
                <a:solidFill>
                  <a:srgbClr val="FF0000"/>
                </a:solidFill>
                <a:latin typeface="Consolas"/>
                <a:cs typeface="Consolas"/>
              </a:rPr>
              <a:t>L2</a:t>
            </a:r>
            <a:endParaRPr sz="1400" dirty="0">
              <a:solidFill>
                <a:sysClr val="windowText" lastClr="000000"/>
              </a:solidFill>
              <a:latin typeface="Consolas"/>
              <a:cs typeface="Consolas"/>
            </a:endParaRPr>
          </a:p>
          <a:p>
            <a:pPr marL="91440" marR="247650">
              <a:lnSpc>
                <a:spcPts val="2590"/>
              </a:lnSpc>
              <a:spcBef>
                <a:spcPts val="140"/>
              </a:spcBef>
            </a:pPr>
            <a:r>
              <a:rPr sz="1400" dirty="0">
                <a:solidFill>
                  <a:sysClr val="windowText" lastClr="000000"/>
                </a:solidFill>
                <a:latin typeface="Consolas"/>
                <a:cs typeface="Consolas"/>
              </a:rPr>
              <a:t>L1:</a:t>
            </a:r>
            <a:r>
              <a:rPr sz="1400" spc="-15" dirty="0">
                <a:solidFill>
                  <a:sysClr val="windowText" lastClr="000000"/>
                </a:solidFill>
                <a:latin typeface="Consolas"/>
                <a:cs typeface="Consolas"/>
              </a:rPr>
              <a:t> </a:t>
            </a:r>
            <a:r>
              <a:rPr sz="1400" dirty="0">
                <a:solidFill>
                  <a:sysClr val="windowText" lastClr="000000"/>
                </a:solidFill>
                <a:latin typeface="Consolas"/>
                <a:cs typeface="Consolas"/>
              </a:rPr>
              <a:t>print</a:t>
            </a:r>
            <a:r>
              <a:rPr sz="1400" spc="-10" dirty="0">
                <a:solidFill>
                  <a:sysClr val="windowText" lastClr="000000"/>
                </a:solidFill>
                <a:latin typeface="Consolas"/>
                <a:cs typeface="Consolas"/>
              </a:rPr>
              <a:t> </a:t>
            </a:r>
            <a:r>
              <a:rPr sz="1400" dirty="0">
                <a:solidFill>
                  <a:sysClr val="windowText" lastClr="000000"/>
                </a:solidFill>
                <a:latin typeface="Consolas"/>
                <a:cs typeface="Consolas"/>
              </a:rPr>
              <a:t>debugging</a:t>
            </a:r>
            <a:r>
              <a:rPr sz="1400" spc="-10" dirty="0">
                <a:solidFill>
                  <a:sysClr val="windowText" lastClr="000000"/>
                </a:solidFill>
                <a:latin typeface="Consolas"/>
                <a:cs typeface="Consolas"/>
              </a:rPr>
              <a:t> information </a:t>
            </a:r>
            <a:r>
              <a:rPr sz="1400" spc="-25" dirty="0">
                <a:solidFill>
                  <a:sysClr val="windowText" lastClr="000000"/>
                </a:solidFill>
                <a:latin typeface="Consolas"/>
                <a:cs typeface="Consolas"/>
              </a:rPr>
              <a:t>L2:</a:t>
            </a:r>
            <a:endParaRPr sz="1400" dirty="0">
              <a:solidFill>
                <a:sysClr val="windowText" lastClr="000000"/>
              </a:solidFill>
              <a:latin typeface="Consolas"/>
              <a:cs typeface="Consolas"/>
            </a:endParaRPr>
          </a:p>
        </p:txBody>
      </p:sp>
      <p:sp>
        <p:nvSpPr>
          <p:cNvPr id="18" name="object 5">
            <a:extLst>
              <a:ext uri="{FF2B5EF4-FFF2-40B4-BE49-F238E27FC236}">
                <a16:creationId xmlns:a16="http://schemas.microsoft.com/office/drawing/2014/main" id="{C716783C-B788-F8DB-5A2D-EEC46B7AB4D6}"/>
              </a:ext>
            </a:extLst>
          </p:cNvPr>
          <p:cNvSpPr txBox="1"/>
          <p:nvPr/>
        </p:nvSpPr>
        <p:spPr>
          <a:xfrm>
            <a:off x="5116829" y="3491819"/>
            <a:ext cx="3398520" cy="1027430"/>
          </a:xfrm>
          <a:prstGeom prst="rect">
            <a:avLst/>
          </a:prstGeom>
          <a:ln w="9525">
            <a:solidFill>
              <a:srgbClr val="000000"/>
            </a:solidFill>
          </a:ln>
        </p:spPr>
        <p:txBody>
          <a:bodyPr vert="horz" wrap="square" lIns="0" tIns="109855" rIns="0" bIns="0" rtlCol="0">
            <a:spAutoFit/>
          </a:bodyPr>
          <a:lstStyle/>
          <a:p>
            <a:pPr marL="485140">
              <a:spcBef>
                <a:spcPts val="865"/>
              </a:spcBef>
            </a:pPr>
            <a:r>
              <a:rPr sz="1400" dirty="0">
                <a:solidFill>
                  <a:sysClr val="windowText" lastClr="000000"/>
                </a:solidFill>
                <a:latin typeface="Consolas"/>
                <a:cs typeface="Consolas"/>
              </a:rPr>
              <a:t>if</a:t>
            </a:r>
            <a:r>
              <a:rPr sz="1400" spc="-5" dirty="0">
                <a:solidFill>
                  <a:sysClr val="windowText" lastClr="000000"/>
                </a:solidFill>
                <a:latin typeface="Consolas"/>
                <a:cs typeface="Consolas"/>
              </a:rPr>
              <a:t> </a:t>
            </a:r>
            <a:r>
              <a:rPr sz="1400" dirty="0">
                <a:solidFill>
                  <a:sysClr val="windowText" lastClr="000000"/>
                </a:solidFill>
                <a:latin typeface="Consolas"/>
                <a:cs typeface="Consolas"/>
              </a:rPr>
              <a:t>debug</a:t>
            </a:r>
            <a:r>
              <a:rPr sz="1400" spc="-5" dirty="0">
                <a:solidFill>
                  <a:sysClr val="windowText" lastClr="000000"/>
                </a:solidFill>
                <a:latin typeface="Consolas"/>
                <a:cs typeface="Consolas"/>
              </a:rPr>
              <a:t> </a:t>
            </a:r>
            <a:r>
              <a:rPr sz="1400" dirty="0">
                <a:solidFill>
                  <a:srgbClr val="FF0000"/>
                </a:solidFill>
                <a:latin typeface="Consolas"/>
                <a:cs typeface="Consolas"/>
              </a:rPr>
              <a:t>!= 1</a:t>
            </a:r>
            <a:r>
              <a:rPr sz="1400" spc="-5" dirty="0">
                <a:solidFill>
                  <a:srgbClr val="FF0000"/>
                </a:solidFill>
                <a:latin typeface="Consolas"/>
                <a:cs typeface="Consolas"/>
              </a:rPr>
              <a:t> </a:t>
            </a:r>
            <a:r>
              <a:rPr sz="1400" dirty="0">
                <a:solidFill>
                  <a:sysClr val="windowText" lastClr="000000"/>
                </a:solidFill>
                <a:latin typeface="Consolas"/>
                <a:cs typeface="Consolas"/>
              </a:rPr>
              <a:t>goto </a:t>
            </a:r>
            <a:r>
              <a:rPr sz="1400" spc="-25" dirty="0">
                <a:solidFill>
                  <a:srgbClr val="FF0000"/>
                </a:solidFill>
                <a:latin typeface="Consolas"/>
                <a:cs typeface="Consolas"/>
              </a:rPr>
              <a:t>L2</a:t>
            </a:r>
            <a:endParaRPr sz="1400">
              <a:solidFill>
                <a:sysClr val="windowText" lastClr="000000"/>
              </a:solidFill>
              <a:latin typeface="Consolas"/>
              <a:cs typeface="Consolas"/>
            </a:endParaRPr>
          </a:p>
          <a:p>
            <a:pPr marL="485140">
              <a:spcBef>
                <a:spcPts val="815"/>
              </a:spcBef>
            </a:pPr>
            <a:r>
              <a:rPr sz="1400" dirty="0">
                <a:solidFill>
                  <a:sysClr val="windowText" lastClr="000000"/>
                </a:solidFill>
                <a:latin typeface="Consolas"/>
                <a:cs typeface="Consolas"/>
              </a:rPr>
              <a:t>print</a:t>
            </a:r>
            <a:r>
              <a:rPr sz="1400" spc="-15" dirty="0">
                <a:solidFill>
                  <a:sysClr val="windowText" lastClr="000000"/>
                </a:solidFill>
                <a:latin typeface="Consolas"/>
                <a:cs typeface="Consolas"/>
              </a:rPr>
              <a:t> </a:t>
            </a:r>
            <a:r>
              <a:rPr sz="1400" dirty="0">
                <a:solidFill>
                  <a:sysClr val="windowText" lastClr="000000"/>
                </a:solidFill>
                <a:latin typeface="Consolas"/>
                <a:cs typeface="Consolas"/>
              </a:rPr>
              <a:t>debugging</a:t>
            </a:r>
            <a:r>
              <a:rPr sz="1400" spc="-15" dirty="0">
                <a:solidFill>
                  <a:sysClr val="windowText" lastClr="000000"/>
                </a:solidFill>
                <a:latin typeface="Consolas"/>
                <a:cs typeface="Consolas"/>
              </a:rPr>
              <a:t> </a:t>
            </a:r>
            <a:r>
              <a:rPr sz="1400" spc="-10" dirty="0">
                <a:solidFill>
                  <a:sysClr val="windowText" lastClr="000000"/>
                </a:solidFill>
                <a:latin typeface="Consolas"/>
                <a:cs typeface="Consolas"/>
              </a:rPr>
              <a:t>information</a:t>
            </a:r>
            <a:endParaRPr sz="1400">
              <a:solidFill>
                <a:sysClr val="windowText" lastClr="000000"/>
              </a:solidFill>
              <a:latin typeface="Consolas"/>
              <a:cs typeface="Consolas"/>
            </a:endParaRPr>
          </a:p>
          <a:p>
            <a:pPr marL="91440">
              <a:spcBef>
                <a:spcPts val="815"/>
              </a:spcBef>
            </a:pPr>
            <a:r>
              <a:rPr sz="1400" spc="-25" dirty="0">
                <a:solidFill>
                  <a:sysClr val="windowText" lastClr="000000"/>
                </a:solidFill>
                <a:latin typeface="Consolas"/>
                <a:cs typeface="Consolas"/>
              </a:rPr>
              <a:t>L2:</a:t>
            </a:r>
            <a:endParaRPr sz="1400">
              <a:solidFill>
                <a:sysClr val="windowText" lastClr="000000"/>
              </a:solidFill>
              <a:latin typeface="Consolas"/>
              <a:cs typeface="Consolas"/>
            </a:endParaRPr>
          </a:p>
        </p:txBody>
      </p:sp>
      <p:grpSp>
        <p:nvGrpSpPr>
          <p:cNvPr id="19" name="object 6">
            <a:extLst>
              <a:ext uri="{FF2B5EF4-FFF2-40B4-BE49-F238E27FC236}">
                <a16:creationId xmlns:a16="http://schemas.microsoft.com/office/drawing/2014/main" id="{1FE5601C-07E4-ADB2-5EE1-91228BD38EEC}"/>
              </a:ext>
            </a:extLst>
          </p:cNvPr>
          <p:cNvGrpSpPr/>
          <p:nvPr/>
        </p:nvGrpSpPr>
        <p:grpSpPr>
          <a:xfrm>
            <a:off x="4411343" y="3877151"/>
            <a:ext cx="566420" cy="256540"/>
            <a:chOff x="4411343" y="3877151"/>
            <a:chExt cx="566420" cy="256540"/>
          </a:xfrm>
        </p:grpSpPr>
        <p:sp>
          <p:nvSpPr>
            <p:cNvPr id="20" name="object 7">
              <a:extLst>
                <a:ext uri="{FF2B5EF4-FFF2-40B4-BE49-F238E27FC236}">
                  <a16:creationId xmlns:a16="http://schemas.microsoft.com/office/drawing/2014/main" id="{89EF050B-DAAB-7519-077A-0B6E16AEFB58}"/>
                </a:ext>
              </a:extLst>
            </p:cNvPr>
            <p:cNvSpPr/>
            <p:nvPr/>
          </p:nvSpPr>
          <p:spPr>
            <a:xfrm>
              <a:off x="4417693" y="3883501"/>
              <a:ext cx="553720" cy="243840"/>
            </a:xfrm>
            <a:custGeom>
              <a:avLst/>
              <a:gdLst/>
              <a:ahLst/>
              <a:cxnLst/>
              <a:rect l="l" t="t" r="r" b="b"/>
              <a:pathLst>
                <a:path w="553720" h="243839">
                  <a:moveTo>
                    <a:pt x="431802" y="0"/>
                  </a:moveTo>
                  <a:lnTo>
                    <a:pt x="431802" y="60959"/>
                  </a:lnTo>
                  <a:lnTo>
                    <a:pt x="0" y="60959"/>
                  </a:lnTo>
                  <a:lnTo>
                    <a:pt x="0" y="182879"/>
                  </a:lnTo>
                  <a:lnTo>
                    <a:pt x="431802" y="182879"/>
                  </a:lnTo>
                  <a:lnTo>
                    <a:pt x="431802" y="243839"/>
                  </a:lnTo>
                  <a:lnTo>
                    <a:pt x="553722" y="121919"/>
                  </a:lnTo>
                  <a:lnTo>
                    <a:pt x="431802" y="0"/>
                  </a:lnTo>
                  <a:close/>
                </a:path>
              </a:pathLst>
            </a:custGeom>
            <a:solidFill>
              <a:srgbClr val="4472C4"/>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1" name="object 8">
              <a:extLst>
                <a:ext uri="{FF2B5EF4-FFF2-40B4-BE49-F238E27FC236}">
                  <a16:creationId xmlns:a16="http://schemas.microsoft.com/office/drawing/2014/main" id="{73FF2A15-49DE-D998-573B-F1A15E2DC5D5}"/>
                </a:ext>
              </a:extLst>
            </p:cNvPr>
            <p:cNvSpPr/>
            <p:nvPr/>
          </p:nvSpPr>
          <p:spPr>
            <a:xfrm>
              <a:off x="4417693" y="3883501"/>
              <a:ext cx="553720" cy="243840"/>
            </a:xfrm>
            <a:custGeom>
              <a:avLst/>
              <a:gdLst/>
              <a:ahLst/>
              <a:cxnLst/>
              <a:rect l="l" t="t" r="r" b="b"/>
              <a:pathLst>
                <a:path w="553720" h="243839">
                  <a:moveTo>
                    <a:pt x="0" y="60960"/>
                  </a:moveTo>
                  <a:lnTo>
                    <a:pt x="431802" y="60960"/>
                  </a:lnTo>
                  <a:lnTo>
                    <a:pt x="431802" y="0"/>
                  </a:lnTo>
                  <a:lnTo>
                    <a:pt x="553722" y="121920"/>
                  </a:lnTo>
                  <a:lnTo>
                    <a:pt x="431802" y="243840"/>
                  </a:lnTo>
                  <a:lnTo>
                    <a:pt x="431802" y="182880"/>
                  </a:lnTo>
                  <a:lnTo>
                    <a:pt x="0" y="182880"/>
                  </a:lnTo>
                  <a:lnTo>
                    <a:pt x="0" y="60960"/>
                  </a:lnTo>
                  <a:close/>
                </a:path>
              </a:pathLst>
            </a:custGeom>
            <a:ln w="12700">
              <a:solidFill>
                <a:srgbClr val="2F528F"/>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pic>
        <p:nvPicPr>
          <p:cNvPr id="22" name="object 9">
            <a:extLst>
              <a:ext uri="{FF2B5EF4-FFF2-40B4-BE49-F238E27FC236}">
                <a16:creationId xmlns:a16="http://schemas.microsoft.com/office/drawing/2014/main" id="{AC8931D6-841B-42DF-D8CD-51EB380123D0}"/>
              </a:ext>
            </a:extLst>
          </p:cNvPr>
          <p:cNvPicPr/>
          <p:nvPr/>
        </p:nvPicPr>
        <p:blipFill>
          <a:blip r:embed="rId3" cstate="print"/>
          <a:stretch>
            <a:fillRect/>
          </a:stretch>
        </p:blipFill>
        <p:spPr>
          <a:xfrm>
            <a:off x="7580855" y="5158001"/>
            <a:ext cx="934494" cy="934495"/>
          </a:xfrm>
          <a:prstGeom prst="rect">
            <a:avLst/>
          </a:prstGeom>
        </p:spPr>
      </p:pic>
      <p:sp>
        <p:nvSpPr>
          <p:cNvPr id="23" name="object 10">
            <a:extLst>
              <a:ext uri="{FF2B5EF4-FFF2-40B4-BE49-F238E27FC236}">
                <a16:creationId xmlns:a16="http://schemas.microsoft.com/office/drawing/2014/main" id="{6563531D-BF36-596F-09B1-BE499D62D9DD}"/>
              </a:ext>
            </a:extLst>
          </p:cNvPr>
          <p:cNvSpPr txBox="1"/>
          <p:nvPr/>
        </p:nvSpPr>
        <p:spPr>
          <a:xfrm>
            <a:off x="924342" y="5338319"/>
            <a:ext cx="6315075" cy="576580"/>
          </a:xfrm>
          <a:prstGeom prst="rect">
            <a:avLst/>
          </a:prstGeom>
          <a:solidFill>
            <a:srgbClr val="FFF2CC"/>
          </a:solidFill>
          <a:ln w="9525">
            <a:solidFill>
              <a:srgbClr val="000000"/>
            </a:solidFill>
          </a:ln>
        </p:spPr>
        <p:txBody>
          <a:bodyPr vert="horz" wrap="square" lIns="0" tIns="138430" rIns="0" bIns="0" rtlCol="0">
            <a:spAutoFit/>
          </a:bodyPr>
          <a:lstStyle/>
          <a:p>
            <a:pPr marL="91440">
              <a:spcBef>
                <a:spcPts val="1090"/>
              </a:spcBef>
            </a:pPr>
            <a:r>
              <a:rPr dirty="0">
                <a:solidFill>
                  <a:srgbClr val="FF0000"/>
                </a:solidFill>
                <a:latin typeface="Palatino Linotype"/>
                <a:cs typeface="Palatino Linotype"/>
              </a:rPr>
              <a:t>How</a:t>
            </a:r>
            <a:r>
              <a:rPr spc="-55" dirty="0">
                <a:solidFill>
                  <a:srgbClr val="FF0000"/>
                </a:solidFill>
                <a:latin typeface="Palatino Linotype"/>
                <a:cs typeface="Palatino Linotype"/>
              </a:rPr>
              <a:t> </a:t>
            </a:r>
            <a:r>
              <a:rPr dirty="0">
                <a:solidFill>
                  <a:srgbClr val="FF0000"/>
                </a:solidFill>
                <a:latin typeface="Palatino Linotype"/>
                <a:cs typeface="Palatino Linotype"/>
              </a:rPr>
              <a:t>to</a:t>
            </a:r>
            <a:r>
              <a:rPr spc="-25" dirty="0">
                <a:solidFill>
                  <a:srgbClr val="FF0000"/>
                </a:solidFill>
                <a:latin typeface="Palatino Linotype"/>
                <a:cs typeface="Palatino Linotype"/>
              </a:rPr>
              <a:t> </a:t>
            </a:r>
            <a:r>
              <a:rPr dirty="0">
                <a:solidFill>
                  <a:srgbClr val="FF0000"/>
                </a:solidFill>
                <a:latin typeface="Palatino Linotype"/>
                <a:cs typeface="Palatino Linotype"/>
              </a:rPr>
              <a:t>optimize</a:t>
            </a:r>
            <a:r>
              <a:rPr spc="-20" dirty="0">
                <a:solidFill>
                  <a:srgbClr val="FF0000"/>
                </a:solidFill>
                <a:latin typeface="Palatino Linotype"/>
                <a:cs typeface="Palatino Linotype"/>
              </a:rPr>
              <a:t> </a:t>
            </a:r>
            <a:r>
              <a:rPr dirty="0">
                <a:solidFill>
                  <a:srgbClr val="FF0000"/>
                </a:solidFill>
                <a:latin typeface="Palatino Linotype"/>
                <a:cs typeface="Palatino Linotype"/>
              </a:rPr>
              <a:t>the</a:t>
            </a:r>
            <a:r>
              <a:rPr spc="-25" dirty="0">
                <a:solidFill>
                  <a:srgbClr val="FF0000"/>
                </a:solidFill>
                <a:latin typeface="Palatino Linotype"/>
                <a:cs typeface="Palatino Linotype"/>
              </a:rPr>
              <a:t> </a:t>
            </a:r>
            <a:r>
              <a:rPr dirty="0">
                <a:solidFill>
                  <a:srgbClr val="FF0000"/>
                </a:solidFill>
                <a:latin typeface="Palatino Linotype"/>
                <a:cs typeface="Palatino Linotype"/>
              </a:rPr>
              <a:t>code</a:t>
            </a:r>
            <a:r>
              <a:rPr spc="-25" dirty="0">
                <a:solidFill>
                  <a:srgbClr val="FF0000"/>
                </a:solidFill>
                <a:latin typeface="Palatino Linotype"/>
                <a:cs typeface="Palatino Linotype"/>
              </a:rPr>
              <a:t> </a:t>
            </a:r>
            <a:r>
              <a:rPr dirty="0">
                <a:solidFill>
                  <a:srgbClr val="FF0000"/>
                </a:solidFill>
                <a:latin typeface="Palatino Linotype"/>
                <a:cs typeface="Palatino Linotype"/>
              </a:rPr>
              <a:t>if</a:t>
            </a:r>
            <a:r>
              <a:rPr spc="-25" dirty="0">
                <a:solidFill>
                  <a:srgbClr val="FF0000"/>
                </a:solidFill>
                <a:latin typeface="Palatino Linotype"/>
                <a:cs typeface="Palatino Linotype"/>
              </a:rPr>
              <a:t> </a:t>
            </a:r>
            <a:r>
              <a:rPr dirty="0">
                <a:solidFill>
                  <a:srgbClr val="FF0000"/>
                </a:solidFill>
                <a:latin typeface="Palatino Linotype"/>
                <a:cs typeface="Palatino Linotype"/>
              </a:rPr>
              <a:t>we</a:t>
            </a:r>
            <a:r>
              <a:rPr spc="-20" dirty="0">
                <a:solidFill>
                  <a:srgbClr val="FF0000"/>
                </a:solidFill>
                <a:latin typeface="Palatino Linotype"/>
                <a:cs typeface="Palatino Linotype"/>
              </a:rPr>
              <a:t> </a:t>
            </a:r>
            <a:r>
              <a:rPr dirty="0">
                <a:solidFill>
                  <a:srgbClr val="FF0000"/>
                </a:solidFill>
                <a:latin typeface="Palatino Linotype"/>
                <a:cs typeface="Palatino Linotype"/>
              </a:rPr>
              <a:t>know</a:t>
            </a:r>
            <a:r>
              <a:rPr spc="-30" dirty="0">
                <a:solidFill>
                  <a:srgbClr val="FF0000"/>
                </a:solidFill>
                <a:latin typeface="Palatino Linotype"/>
                <a:cs typeface="Palatino Linotype"/>
              </a:rPr>
              <a:t> </a:t>
            </a:r>
            <a:r>
              <a:rPr spc="-10" dirty="0">
                <a:solidFill>
                  <a:srgbClr val="FF0000"/>
                </a:solidFill>
                <a:latin typeface="Consolas"/>
                <a:cs typeface="Consolas"/>
              </a:rPr>
              <a:t>debug</a:t>
            </a:r>
            <a:r>
              <a:rPr spc="-545" dirty="0">
                <a:solidFill>
                  <a:srgbClr val="FF0000"/>
                </a:solidFill>
                <a:latin typeface="Consolas"/>
                <a:cs typeface="Consolas"/>
              </a:rPr>
              <a:t> </a:t>
            </a:r>
            <a:r>
              <a:rPr dirty="0">
                <a:solidFill>
                  <a:srgbClr val="FF0000"/>
                </a:solidFill>
                <a:latin typeface="Palatino Linotype"/>
                <a:cs typeface="Palatino Linotype"/>
              </a:rPr>
              <a:t>is</a:t>
            </a:r>
            <a:r>
              <a:rPr spc="-30" dirty="0">
                <a:solidFill>
                  <a:srgbClr val="FF0000"/>
                </a:solidFill>
                <a:latin typeface="Palatino Linotype"/>
                <a:cs typeface="Palatino Linotype"/>
              </a:rPr>
              <a:t> </a:t>
            </a:r>
            <a:r>
              <a:rPr dirty="0">
                <a:solidFill>
                  <a:srgbClr val="FF0000"/>
                </a:solidFill>
                <a:latin typeface="Palatino Linotype"/>
                <a:cs typeface="Palatino Linotype"/>
              </a:rPr>
              <a:t>a</a:t>
            </a:r>
            <a:r>
              <a:rPr spc="-20" dirty="0">
                <a:solidFill>
                  <a:srgbClr val="FF0000"/>
                </a:solidFill>
                <a:latin typeface="Palatino Linotype"/>
                <a:cs typeface="Palatino Linotype"/>
              </a:rPr>
              <a:t> </a:t>
            </a:r>
            <a:r>
              <a:rPr dirty="0">
                <a:solidFill>
                  <a:srgbClr val="FF0000"/>
                </a:solidFill>
                <a:latin typeface="Palatino Linotype"/>
                <a:cs typeface="Palatino Linotype"/>
              </a:rPr>
              <a:t>constant</a:t>
            </a:r>
            <a:r>
              <a:rPr spc="-25" dirty="0">
                <a:solidFill>
                  <a:srgbClr val="FF0000"/>
                </a:solidFill>
                <a:latin typeface="Palatino Linotype"/>
                <a:cs typeface="Palatino Linotype"/>
              </a:rPr>
              <a:t> 0?</a:t>
            </a:r>
            <a:endParaRPr dirty="0">
              <a:solidFill>
                <a:sysClr val="windowText" lastClr="000000"/>
              </a:solidFill>
              <a:latin typeface="Palatino Linotype"/>
              <a:cs typeface="Palatino Linotype"/>
            </a:endParaRPr>
          </a:p>
        </p:txBody>
      </p:sp>
      <p:sp>
        <p:nvSpPr>
          <p:cNvPr id="24" name="object 11">
            <a:extLst>
              <a:ext uri="{FF2B5EF4-FFF2-40B4-BE49-F238E27FC236}">
                <a16:creationId xmlns:a16="http://schemas.microsoft.com/office/drawing/2014/main" id="{4480AE19-5CFC-DE8B-4013-CE6D16194402}"/>
              </a:ext>
            </a:extLst>
          </p:cNvPr>
          <p:cNvSpPr txBox="1"/>
          <p:nvPr/>
        </p:nvSpPr>
        <p:spPr>
          <a:xfrm>
            <a:off x="843698" y="4762500"/>
            <a:ext cx="3053080" cy="238760"/>
          </a:xfrm>
          <a:prstGeom prst="rect">
            <a:avLst/>
          </a:prstGeom>
        </p:spPr>
        <p:txBody>
          <a:bodyPr vert="horz" wrap="square" lIns="0" tIns="12700" rIns="0" bIns="0" rtlCol="0">
            <a:spAutoFit/>
          </a:bodyPr>
          <a:lstStyle/>
          <a:p>
            <a:pPr marL="12700">
              <a:spcBef>
                <a:spcPts val="100"/>
              </a:spcBef>
            </a:pPr>
            <a:r>
              <a:rPr sz="1400" dirty="0">
                <a:solidFill>
                  <a:srgbClr val="A6A6A6"/>
                </a:solidFill>
                <a:latin typeface="Palatino Linotype"/>
                <a:cs typeface="Palatino Linotype"/>
              </a:rPr>
              <a:t>Assuming</a:t>
            </a:r>
            <a:r>
              <a:rPr sz="1400" spc="-25" dirty="0">
                <a:solidFill>
                  <a:srgbClr val="A6A6A6"/>
                </a:solidFill>
                <a:latin typeface="Palatino Linotype"/>
                <a:cs typeface="Palatino Linotype"/>
              </a:rPr>
              <a:t> </a:t>
            </a:r>
            <a:r>
              <a:rPr sz="1400" dirty="0">
                <a:solidFill>
                  <a:srgbClr val="A6A6A6"/>
                </a:solidFill>
                <a:latin typeface="Palatino Linotype"/>
                <a:cs typeface="Palatino Linotype"/>
              </a:rPr>
              <a:t>there</a:t>
            </a:r>
            <a:r>
              <a:rPr sz="1400" spc="-20" dirty="0">
                <a:solidFill>
                  <a:srgbClr val="A6A6A6"/>
                </a:solidFill>
                <a:latin typeface="Palatino Linotype"/>
                <a:cs typeface="Palatino Linotype"/>
              </a:rPr>
              <a:t> </a:t>
            </a:r>
            <a:r>
              <a:rPr sz="1400" dirty="0">
                <a:solidFill>
                  <a:srgbClr val="A6A6A6"/>
                </a:solidFill>
                <a:latin typeface="Palatino Linotype"/>
                <a:cs typeface="Palatino Linotype"/>
              </a:rPr>
              <a:t>is</a:t>
            </a:r>
            <a:r>
              <a:rPr sz="1400" spc="-30" dirty="0">
                <a:solidFill>
                  <a:srgbClr val="A6A6A6"/>
                </a:solidFill>
                <a:latin typeface="Palatino Linotype"/>
                <a:cs typeface="Palatino Linotype"/>
              </a:rPr>
              <a:t> </a:t>
            </a:r>
            <a:r>
              <a:rPr sz="1400" dirty="0">
                <a:solidFill>
                  <a:srgbClr val="A6A6A6"/>
                </a:solidFill>
                <a:latin typeface="Palatino Linotype"/>
                <a:cs typeface="Palatino Linotype"/>
              </a:rPr>
              <a:t>no</a:t>
            </a:r>
            <a:r>
              <a:rPr sz="1400" spc="-20" dirty="0">
                <a:solidFill>
                  <a:srgbClr val="A6A6A6"/>
                </a:solidFill>
                <a:latin typeface="Palatino Linotype"/>
                <a:cs typeface="Palatino Linotype"/>
              </a:rPr>
              <a:t> </a:t>
            </a:r>
            <a:r>
              <a:rPr sz="1400" dirty="0">
                <a:solidFill>
                  <a:srgbClr val="A6A6A6"/>
                </a:solidFill>
                <a:latin typeface="Palatino Linotype"/>
                <a:cs typeface="Palatino Linotype"/>
              </a:rPr>
              <a:t>other</a:t>
            </a:r>
            <a:r>
              <a:rPr sz="1400" spc="-25" dirty="0">
                <a:solidFill>
                  <a:srgbClr val="A6A6A6"/>
                </a:solidFill>
                <a:latin typeface="Palatino Linotype"/>
                <a:cs typeface="Palatino Linotype"/>
              </a:rPr>
              <a:t> </a:t>
            </a:r>
            <a:r>
              <a:rPr sz="1400" dirty="0">
                <a:solidFill>
                  <a:srgbClr val="A6A6A6"/>
                </a:solidFill>
                <a:latin typeface="Palatino Linotype"/>
                <a:cs typeface="Palatino Linotype"/>
              </a:rPr>
              <a:t>jump</a:t>
            </a:r>
            <a:r>
              <a:rPr sz="1400" spc="-25" dirty="0">
                <a:solidFill>
                  <a:srgbClr val="A6A6A6"/>
                </a:solidFill>
                <a:latin typeface="Palatino Linotype"/>
                <a:cs typeface="Palatino Linotype"/>
              </a:rPr>
              <a:t> </a:t>
            </a:r>
            <a:r>
              <a:rPr sz="1400" dirty="0">
                <a:solidFill>
                  <a:srgbClr val="A6A6A6"/>
                </a:solidFill>
                <a:latin typeface="Palatino Linotype"/>
                <a:cs typeface="Palatino Linotype"/>
              </a:rPr>
              <a:t>to</a:t>
            </a:r>
            <a:r>
              <a:rPr sz="1400" spc="-25" dirty="0">
                <a:solidFill>
                  <a:srgbClr val="A6A6A6"/>
                </a:solidFill>
                <a:latin typeface="Palatino Linotype"/>
                <a:cs typeface="Palatino Linotype"/>
              </a:rPr>
              <a:t> L1</a:t>
            </a:r>
            <a:endParaRPr sz="1400">
              <a:solidFill>
                <a:sysClr val="windowText" lastClr="000000"/>
              </a:solidFill>
              <a:latin typeface="Palatino Linotype"/>
              <a:cs typeface="Palatino Linotype"/>
            </a:endParaRPr>
          </a:p>
        </p:txBody>
      </p:sp>
    </p:spTree>
    <p:extLst>
      <p:ext uri="{BB962C8B-B14F-4D97-AF65-F5344CB8AC3E}">
        <p14:creationId xmlns:p14="http://schemas.microsoft.com/office/powerpoint/2010/main" val="371470751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76</a:t>
            </a:fld>
            <a:endParaRPr lang="en-US"/>
          </a:p>
        </p:txBody>
      </p:sp>
      <p:sp>
        <p:nvSpPr>
          <p:cNvPr id="19" name="object 2">
            <a:extLst>
              <a:ext uri="{FF2B5EF4-FFF2-40B4-BE49-F238E27FC236}">
                <a16:creationId xmlns:a16="http://schemas.microsoft.com/office/drawing/2014/main" id="{C745542A-452F-2177-0A6B-A58385431673}"/>
              </a:ext>
            </a:extLst>
          </p:cNvPr>
          <p:cNvSpPr txBox="1">
            <a:spLocks/>
          </p:cNvSpPr>
          <p:nvPr/>
        </p:nvSpPr>
        <p:spPr>
          <a:xfrm>
            <a:off x="707390" y="524763"/>
            <a:ext cx="7729219" cy="63500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065" marR="0" lvl="0" indent="0" defTabSz="914400" eaLnBrk="1" fontAlgn="auto" latinLnBrk="0" hangingPunct="1">
              <a:lnSpc>
                <a:spcPct val="100000"/>
              </a:lnSpc>
              <a:spcBef>
                <a:spcPts val="100"/>
              </a:spcBef>
              <a:spcAft>
                <a:spcPts val="0"/>
              </a:spcAft>
              <a:buClrTx/>
              <a:buSzTx/>
              <a:buFontTx/>
              <a:buNone/>
              <a:tabLst/>
              <a:defRPr/>
            </a:pPr>
            <a:r>
              <a:rPr kumimoji="0" lang="en-US" sz="4000" b="1" i="0" u="none" strike="noStrike" kern="0" cap="none" spc="-20" normalizeH="0" baseline="0" noProof="0">
                <a:ln>
                  <a:noFill/>
                </a:ln>
                <a:solidFill>
                  <a:sysClr val="windowText" lastClr="000000"/>
                </a:solidFill>
                <a:effectLst/>
                <a:uLnTx/>
                <a:uFillTx/>
                <a:latin typeface="Palatino Linotype"/>
                <a:ea typeface="+mj-ea"/>
              </a:rPr>
              <a:t>Flow-of-</a:t>
            </a:r>
            <a:r>
              <a:rPr kumimoji="0" lang="en-US" sz="4000" b="1" i="0" u="none" strike="noStrike" kern="0" cap="none" spc="0" normalizeH="0" baseline="0" noProof="0">
                <a:ln>
                  <a:noFill/>
                </a:ln>
                <a:solidFill>
                  <a:sysClr val="windowText" lastClr="000000"/>
                </a:solidFill>
                <a:effectLst/>
                <a:uLnTx/>
                <a:uFillTx/>
                <a:latin typeface="Palatino Linotype"/>
                <a:ea typeface="+mj-ea"/>
              </a:rPr>
              <a:t>Control</a:t>
            </a:r>
            <a:r>
              <a:rPr kumimoji="0" lang="en-US" sz="4000" b="1" i="0" u="none" strike="noStrike" kern="0" cap="none" spc="-35" normalizeH="0" baseline="0" noProof="0">
                <a:ln>
                  <a:noFill/>
                </a:ln>
                <a:solidFill>
                  <a:sysClr val="windowText" lastClr="000000"/>
                </a:solidFill>
                <a:effectLst/>
                <a:uLnTx/>
                <a:uFillTx/>
                <a:latin typeface="Palatino Linotype"/>
                <a:ea typeface="+mj-ea"/>
              </a:rPr>
              <a:t> </a:t>
            </a:r>
            <a:r>
              <a:rPr kumimoji="0" lang="en-US" sz="4000" b="1" i="0" u="none" strike="noStrike" kern="0" cap="none" spc="-10" normalizeH="0" baseline="0" noProof="0">
                <a:ln>
                  <a:noFill/>
                </a:ln>
                <a:solidFill>
                  <a:sysClr val="windowText" lastClr="000000"/>
                </a:solidFill>
                <a:effectLst/>
                <a:uLnTx/>
                <a:uFillTx/>
                <a:latin typeface="Palatino Linotype"/>
                <a:ea typeface="+mj-ea"/>
              </a:rPr>
              <a:t>Optimizations</a:t>
            </a:r>
            <a:endParaRPr kumimoji="0" lang="en-US" sz="4000" b="1" i="0" u="none" strike="noStrike" kern="0" cap="none" spc="-10" normalizeH="0" baseline="0" noProof="0" dirty="0">
              <a:ln>
                <a:noFill/>
              </a:ln>
              <a:solidFill>
                <a:sysClr val="windowText" lastClr="000000"/>
              </a:solidFill>
              <a:effectLst/>
              <a:uLnTx/>
              <a:uFillTx/>
              <a:latin typeface="Palatino Linotype"/>
              <a:ea typeface="+mj-ea"/>
            </a:endParaRPr>
          </a:p>
        </p:txBody>
      </p:sp>
      <p:sp>
        <p:nvSpPr>
          <p:cNvPr id="20" name="object 3">
            <a:extLst>
              <a:ext uri="{FF2B5EF4-FFF2-40B4-BE49-F238E27FC236}">
                <a16:creationId xmlns:a16="http://schemas.microsoft.com/office/drawing/2014/main" id="{DB8226AB-6206-EB77-D40B-3135D1529DED}"/>
              </a:ext>
            </a:extLst>
          </p:cNvPr>
          <p:cNvSpPr txBox="1"/>
          <p:nvPr/>
        </p:nvSpPr>
        <p:spPr>
          <a:xfrm>
            <a:off x="707390" y="1658620"/>
            <a:ext cx="2668270" cy="360680"/>
          </a:xfrm>
          <a:prstGeom prst="rect">
            <a:avLst/>
          </a:prstGeom>
        </p:spPr>
        <p:txBody>
          <a:bodyPr vert="horz" wrap="square" lIns="0" tIns="12700" rIns="0" bIns="0" rtlCol="0">
            <a:spAutoFit/>
          </a:bodyPr>
          <a:lstStyle/>
          <a:p>
            <a:pPr marL="242570" indent="-229870">
              <a:spcBef>
                <a:spcPts val="100"/>
              </a:spcBef>
              <a:buFont typeface="Arial MT"/>
              <a:buChar char="•"/>
              <a:tabLst>
                <a:tab pos="242570" algn="l"/>
              </a:tabLst>
            </a:pPr>
            <a:r>
              <a:rPr sz="2200" dirty="0">
                <a:solidFill>
                  <a:sysClr val="windowText" lastClr="000000"/>
                </a:solidFill>
                <a:latin typeface="Palatino Linotype"/>
                <a:cs typeface="Palatino Linotype"/>
              </a:rPr>
              <a:t>Unnecessary</a:t>
            </a:r>
            <a:r>
              <a:rPr sz="2200" spc="-90" dirty="0">
                <a:solidFill>
                  <a:sysClr val="windowText" lastClr="000000"/>
                </a:solidFill>
                <a:latin typeface="Palatino Linotype"/>
                <a:cs typeface="Palatino Linotype"/>
              </a:rPr>
              <a:t> </a:t>
            </a:r>
            <a:r>
              <a:rPr sz="2200" spc="-20" dirty="0">
                <a:solidFill>
                  <a:sysClr val="windowText" lastClr="000000"/>
                </a:solidFill>
                <a:latin typeface="Palatino Linotype"/>
                <a:cs typeface="Palatino Linotype"/>
              </a:rPr>
              <a:t>jumps</a:t>
            </a:r>
            <a:endParaRPr sz="2200">
              <a:solidFill>
                <a:sysClr val="windowText" lastClr="000000"/>
              </a:solidFill>
              <a:latin typeface="Palatino Linotype"/>
              <a:cs typeface="Palatino Linotype"/>
            </a:endParaRPr>
          </a:p>
        </p:txBody>
      </p:sp>
      <p:sp>
        <p:nvSpPr>
          <p:cNvPr id="21" name="object 4">
            <a:extLst>
              <a:ext uri="{FF2B5EF4-FFF2-40B4-BE49-F238E27FC236}">
                <a16:creationId xmlns:a16="http://schemas.microsoft.com/office/drawing/2014/main" id="{4E9AAB8B-DBFE-826D-8F87-9CB0684337A5}"/>
              </a:ext>
            </a:extLst>
          </p:cNvPr>
          <p:cNvSpPr txBox="1"/>
          <p:nvPr/>
        </p:nvSpPr>
        <p:spPr>
          <a:xfrm>
            <a:off x="873760" y="2401796"/>
            <a:ext cx="3398520" cy="1027430"/>
          </a:xfrm>
          <a:prstGeom prst="rect">
            <a:avLst/>
          </a:prstGeom>
          <a:ln w="9525">
            <a:solidFill>
              <a:srgbClr val="000000"/>
            </a:solidFill>
          </a:ln>
        </p:spPr>
        <p:txBody>
          <a:bodyPr vert="horz" wrap="square" lIns="0" tIns="108585" rIns="0" bIns="0" rtlCol="0">
            <a:spAutoFit/>
          </a:bodyPr>
          <a:lstStyle/>
          <a:p>
            <a:pPr marL="485140">
              <a:spcBef>
                <a:spcPts val="855"/>
              </a:spcBef>
            </a:pPr>
            <a:r>
              <a:rPr sz="1400" dirty="0">
                <a:solidFill>
                  <a:sysClr val="windowText" lastClr="000000"/>
                </a:solidFill>
                <a:latin typeface="Consolas"/>
                <a:cs typeface="Consolas"/>
              </a:rPr>
              <a:t>goto</a:t>
            </a:r>
            <a:r>
              <a:rPr sz="1400" spc="-10" dirty="0">
                <a:solidFill>
                  <a:sysClr val="windowText" lastClr="000000"/>
                </a:solidFill>
                <a:latin typeface="Consolas"/>
                <a:cs typeface="Consolas"/>
              </a:rPr>
              <a:t> </a:t>
            </a:r>
            <a:r>
              <a:rPr sz="1400" spc="-25" dirty="0">
                <a:solidFill>
                  <a:sysClr val="windowText" lastClr="000000"/>
                </a:solidFill>
                <a:latin typeface="Consolas"/>
                <a:cs typeface="Consolas"/>
              </a:rPr>
              <a:t>L1</a:t>
            </a:r>
            <a:endParaRPr sz="1400">
              <a:solidFill>
                <a:sysClr val="windowText" lastClr="000000"/>
              </a:solidFill>
              <a:latin typeface="Consolas"/>
              <a:cs typeface="Consolas"/>
            </a:endParaRPr>
          </a:p>
          <a:p>
            <a:pPr marL="485140">
              <a:spcBef>
                <a:spcPts val="815"/>
              </a:spcBef>
            </a:pPr>
            <a:r>
              <a:rPr sz="1400" spc="-25" dirty="0">
                <a:solidFill>
                  <a:sysClr val="windowText" lastClr="000000"/>
                </a:solidFill>
                <a:latin typeface="Consolas"/>
                <a:cs typeface="Consolas"/>
              </a:rPr>
              <a:t>...</a:t>
            </a:r>
            <a:endParaRPr sz="1400">
              <a:solidFill>
                <a:sysClr val="windowText" lastClr="000000"/>
              </a:solidFill>
              <a:latin typeface="Consolas"/>
              <a:cs typeface="Consolas"/>
            </a:endParaRPr>
          </a:p>
          <a:p>
            <a:pPr marL="91440">
              <a:spcBef>
                <a:spcPts val="815"/>
              </a:spcBef>
            </a:pPr>
            <a:r>
              <a:rPr sz="1400" dirty="0">
                <a:solidFill>
                  <a:sysClr val="windowText" lastClr="000000"/>
                </a:solidFill>
                <a:latin typeface="Consolas"/>
                <a:cs typeface="Consolas"/>
              </a:rPr>
              <a:t>L1:</a:t>
            </a:r>
            <a:r>
              <a:rPr sz="1400" spc="-5" dirty="0">
                <a:solidFill>
                  <a:sysClr val="windowText" lastClr="000000"/>
                </a:solidFill>
                <a:latin typeface="Consolas"/>
                <a:cs typeface="Consolas"/>
              </a:rPr>
              <a:t> </a:t>
            </a:r>
            <a:r>
              <a:rPr sz="1400" dirty="0">
                <a:solidFill>
                  <a:sysClr val="windowText" lastClr="000000"/>
                </a:solidFill>
                <a:latin typeface="Consolas"/>
                <a:cs typeface="Consolas"/>
              </a:rPr>
              <a:t>goto</a:t>
            </a:r>
            <a:r>
              <a:rPr sz="1400" spc="-5" dirty="0">
                <a:solidFill>
                  <a:sysClr val="windowText" lastClr="000000"/>
                </a:solidFill>
                <a:latin typeface="Consolas"/>
                <a:cs typeface="Consolas"/>
              </a:rPr>
              <a:t> </a:t>
            </a:r>
            <a:r>
              <a:rPr sz="1400" spc="-25" dirty="0">
                <a:solidFill>
                  <a:sysClr val="windowText" lastClr="000000"/>
                </a:solidFill>
                <a:latin typeface="Consolas"/>
                <a:cs typeface="Consolas"/>
              </a:rPr>
              <a:t>L2</a:t>
            </a:r>
            <a:endParaRPr sz="1400">
              <a:solidFill>
                <a:sysClr val="windowText" lastClr="000000"/>
              </a:solidFill>
              <a:latin typeface="Consolas"/>
              <a:cs typeface="Consolas"/>
            </a:endParaRPr>
          </a:p>
        </p:txBody>
      </p:sp>
      <p:sp>
        <p:nvSpPr>
          <p:cNvPr id="22" name="object 5">
            <a:extLst>
              <a:ext uri="{FF2B5EF4-FFF2-40B4-BE49-F238E27FC236}">
                <a16:creationId xmlns:a16="http://schemas.microsoft.com/office/drawing/2014/main" id="{163D9E20-CD04-D902-EC25-61AB51AAB2FB}"/>
              </a:ext>
            </a:extLst>
          </p:cNvPr>
          <p:cNvSpPr txBox="1"/>
          <p:nvPr/>
        </p:nvSpPr>
        <p:spPr>
          <a:xfrm>
            <a:off x="5116829" y="2401796"/>
            <a:ext cx="3398520" cy="1027430"/>
          </a:xfrm>
          <a:prstGeom prst="rect">
            <a:avLst/>
          </a:prstGeom>
          <a:ln w="9525">
            <a:solidFill>
              <a:srgbClr val="000000"/>
            </a:solidFill>
          </a:ln>
        </p:spPr>
        <p:txBody>
          <a:bodyPr vert="horz" wrap="square" lIns="0" tIns="108585" rIns="0" bIns="0" rtlCol="0">
            <a:spAutoFit/>
          </a:bodyPr>
          <a:lstStyle/>
          <a:p>
            <a:pPr marL="485140">
              <a:spcBef>
                <a:spcPts val="855"/>
              </a:spcBef>
            </a:pPr>
            <a:r>
              <a:rPr sz="1400" dirty="0">
                <a:solidFill>
                  <a:sysClr val="windowText" lastClr="000000"/>
                </a:solidFill>
                <a:latin typeface="Consolas"/>
                <a:cs typeface="Consolas"/>
              </a:rPr>
              <a:t>goto</a:t>
            </a:r>
            <a:r>
              <a:rPr sz="1400" spc="-10" dirty="0">
                <a:solidFill>
                  <a:sysClr val="windowText" lastClr="000000"/>
                </a:solidFill>
                <a:latin typeface="Consolas"/>
                <a:cs typeface="Consolas"/>
              </a:rPr>
              <a:t> </a:t>
            </a:r>
            <a:r>
              <a:rPr sz="1400" spc="-25" dirty="0">
                <a:solidFill>
                  <a:srgbClr val="FF0000"/>
                </a:solidFill>
                <a:latin typeface="Consolas"/>
                <a:cs typeface="Consolas"/>
              </a:rPr>
              <a:t>L2</a:t>
            </a:r>
            <a:endParaRPr sz="1400">
              <a:solidFill>
                <a:sysClr val="windowText" lastClr="000000"/>
              </a:solidFill>
              <a:latin typeface="Consolas"/>
              <a:cs typeface="Consolas"/>
            </a:endParaRPr>
          </a:p>
          <a:p>
            <a:pPr marL="485140">
              <a:spcBef>
                <a:spcPts val="815"/>
              </a:spcBef>
            </a:pPr>
            <a:r>
              <a:rPr sz="1400" spc="-25" dirty="0">
                <a:solidFill>
                  <a:sysClr val="windowText" lastClr="000000"/>
                </a:solidFill>
                <a:latin typeface="Consolas"/>
                <a:cs typeface="Consolas"/>
              </a:rPr>
              <a:t>...</a:t>
            </a:r>
            <a:endParaRPr sz="1400">
              <a:solidFill>
                <a:sysClr val="windowText" lastClr="000000"/>
              </a:solidFill>
              <a:latin typeface="Consolas"/>
              <a:cs typeface="Consolas"/>
            </a:endParaRPr>
          </a:p>
          <a:p>
            <a:pPr marL="91440">
              <a:spcBef>
                <a:spcPts val="815"/>
              </a:spcBef>
            </a:pPr>
            <a:r>
              <a:rPr sz="1400" dirty="0">
                <a:solidFill>
                  <a:sysClr val="windowText" lastClr="000000"/>
                </a:solidFill>
                <a:latin typeface="Consolas"/>
                <a:cs typeface="Consolas"/>
              </a:rPr>
              <a:t>L1:</a:t>
            </a:r>
            <a:r>
              <a:rPr sz="1400" spc="-5" dirty="0">
                <a:solidFill>
                  <a:sysClr val="windowText" lastClr="000000"/>
                </a:solidFill>
                <a:latin typeface="Consolas"/>
                <a:cs typeface="Consolas"/>
              </a:rPr>
              <a:t> </a:t>
            </a:r>
            <a:r>
              <a:rPr sz="1400" dirty="0">
                <a:solidFill>
                  <a:sysClr val="windowText" lastClr="000000"/>
                </a:solidFill>
                <a:latin typeface="Consolas"/>
                <a:cs typeface="Consolas"/>
              </a:rPr>
              <a:t>goto</a:t>
            </a:r>
            <a:r>
              <a:rPr sz="1400" spc="-5" dirty="0">
                <a:solidFill>
                  <a:sysClr val="windowText" lastClr="000000"/>
                </a:solidFill>
                <a:latin typeface="Consolas"/>
                <a:cs typeface="Consolas"/>
              </a:rPr>
              <a:t> </a:t>
            </a:r>
            <a:r>
              <a:rPr sz="1400" spc="-25" dirty="0">
                <a:solidFill>
                  <a:sysClr val="windowText" lastClr="000000"/>
                </a:solidFill>
                <a:latin typeface="Consolas"/>
                <a:cs typeface="Consolas"/>
              </a:rPr>
              <a:t>L2</a:t>
            </a:r>
            <a:endParaRPr sz="1400">
              <a:solidFill>
                <a:sysClr val="windowText" lastClr="000000"/>
              </a:solidFill>
              <a:latin typeface="Consolas"/>
              <a:cs typeface="Consolas"/>
            </a:endParaRPr>
          </a:p>
        </p:txBody>
      </p:sp>
      <p:grpSp>
        <p:nvGrpSpPr>
          <p:cNvPr id="23" name="object 6">
            <a:extLst>
              <a:ext uri="{FF2B5EF4-FFF2-40B4-BE49-F238E27FC236}">
                <a16:creationId xmlns:a16="http://schemas.microsoft.com/office/drawing/2014/main" id="{9958ACC3-CA49-D78E-96FC-65CBA39C9C11}"/>
              </a:ext>
            </a:extLst>
          </p:cNvPr>
          <p:cNvGrpSpPr/>
          <p:nvPr/>
        </p:nvGrpSpPr>
        <p:grpSpPr>
          <a:xfrm>
            <a:off x="4411343" y="2787127"/>
            <a:ext cx="566420" cy="256540"/>
            <a:chOff x="4411343" y="2787127"/>
            <a:chExt cx="566420" cy="256540"/>
          </a:xfrm>
        </p:grpSpPr>
        <p:sp>
          <p:nvSpPr>
            <p:cNvPr id="24" name="object 7">
              <a:extLst>
                <a:ext uri="{FF2B5EF4-FFF2-40B4-BE49-F238E27FC236}">
                  <a16:creationId xmlns:a16="http://schemas.microsoft.com/office/drawing/2014/main" id="{C265B951-0A9B-37F3-7412-A3C6E538F87B}"/>
                </a:ext>
              </a:extLst>
            </p:cNvPr>
            <p:cNvSpPr/>
            <p:nvPr/>
          </p:nvSpPr>
          <p:spPr>
            <a:xfrm>
              <a:off x="4417693" y="2793477"/>
              <a:ext cx="553720" cy="243840"/>
            </a:xfrm>
            <a:custGeom>
              <a:avLst/>
              <a:gdLst/>
              <a:ahLst/>
              <a:cxnLst/>
              <a:rect l="l" t="t" r="r" b="b"/>
              <a:pathLst>
                <a:path w="553720" h="243839">
                  <a:moveTo>
                    <a:pt x="431802" y="0"/>
                  </a:moveTo>
                  <a:lnTo>
                    <a:pt x="431802" y="60959"/>
                  </a:lnTo>
                  <a:lnTo>
                    <a:pt x="0" y="60959"/>
                  </a:lnTo>
                  <a:lnTo>
                    <a:pt x="0" y="182879"/>
                  </a:lnTo>
                  <a:lnTo>
                    <a:pt x="431802" y="182879"/>
                  </a:lnTo>
                  <a:lnTo>
                    <a:pt x="431802" y="243839"/>
                  </a:lnTo>
                  <a:lnTo>
                    <a:pt x="553722" y="121919"/>
                  </a:lnTo>
                  <a:lnTo>
                    <a:pt x="431802" y="0"/>
                  </a:lnTo>
                  <a:close/>
                </a:path>
              </a:pathLst>
            </a:custGeom>
            <a:solidFill>
              <a:srgbClr val="4472C4"/>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5" name="object 8">
              <a:extLst>
                <a:ext uri="{FF2B5EF4-FFF2-40B4-BE49-F238E27FC236}">
                  <a16:creationId xmlns:a16="http://schemas.microsoft.com/office/drawing/2014/main" id="{5C1858AE-98D2-BDC2-3014-FAB8797EC43C}"/>
                </a:ext>
              </a:extLst>
            </p:cNvPr>
            <p:cNvSpPr/>
            <p:nvPr/>
          </p:nvSpPr>
          <p:spPr>
            <a:xfrm>
              <a:off x="4417693" y="2793477"/>
              <a:ext cx="553720" cy="243840"/>
            </a:xfrm>
            <a:custGeom>
              <a:avLst/>
              <a:gdLst/>
              <a:ahLst/>
              <a:cxnLst/>
              <a:rect l="l" t="t" r="r" b="b"/>
              <a:pathLst>
                <a:path w="553720" h="243839">
                  <a:moveTo>
                    <a:pt x="0" y="60960"/>
                  </a:moveTo>
                  <a:lnTo>
                    <a:pt x="431802" y="60960"/>
                  </a:lnTo>
                  <a:lnTo>
                    <a:pt x="431802" y="0"/>
                  </a:lnTo>
                  <a:lnTo>
                    <a:pt x="553722" y="121920"/>
                  </a:lnTo>
                  <a:lnTo>
                    <a:pt x="431802" y="243840"/>
                  </a:lnTo>
                  <a:lnTo>
                    <a:pt x="431802" y="182880"/>
                  </a:lnTo>
                  <a:lnTo>
                    <a:pt x="0" y="182880"/>
                  </a:lnTo>
                  <a:lnTo>
                    <a:pt x="0" y="60960"/>
                  </a:lnTo>
                  <a:close/>
                </a:path>
              </a:pathLst>
            </a:custGeom>
            <a:ln w="12700">
              <a:solidFill>
                <a:srgbClr val="2F528F"/>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pic>
        <p:nvPicPr>
          <p:cNvPr id="26" name="object 9">
            <a:extLst>
              <a:ext uri="{FF2B5EF4-FFF2-40B4-BE49-F238E27FC236}">
                <a16:creationId xmlns:a16="http://schemas.microsoft.com/office/drawing/2014/main" id="{21009831-694E-2955-DA39-59495D232654}"/>
              </a:ext>
            </a:extLst>
          </p:cNvPr>
          <p:cNvPicPr/>
          <p:nvPr/>
        </p:nvPicPr>
        <p:blipFill>
          <a:blip r:embed="rId3" cstate="print"/>
          <a:stretch>
            <a:fillRect/>
          </a:stretch>
        </p:blipFill>
        <p:spPr>
          <a:xfrm>
            <a:off x="6656142" y="5216353"/>
            <a:ext cx="1050611" cy="934495"/>
          </a:xfrm>
          <a:prstGeom prst="rect">
            <a:avLst/>
          </a:prstGeom>
        </p:spPr>
      </p:pic>
      <p:sp>
        <p:nvSpPr>
          <p:cNvPr id="27" name="object 10">
            <a:extLst>
              <a:ext uri="{FF2B5EF4-FFF2-40B4-BE49-F238E27FC236}">
                <a16:creationId xmlns:a16="http://schemas.microsoft.com/office/drawing/2014/main" id="{285BECE9-4E7A-E5E9-D5A9-36B32BA84118}"/>
              </a:ext>
            </a:extLst>
          </p:cNvPr>
          <p:cNvSpPr txBox="1"/>
          <p:nvPr/>
        </p:nvSpPr>
        <p:spPr>
          <a:xfrm>
            <a:off x="1437242" y="5395601"/>
            <a:ext cx="4693920" cy="576580"/>
          </a:xfrm>
          <a:prstGeom prst="rect">
            <a:avLst/>
          </a:prstGeom>
          <a:solidFill>
            <a:srgbClr val="FFF2CC"/>
          </a:solidFill>
          <a:ln w="9525">
            <a:solidFill>
              <a:srgbClr val="000000"/>
            </a:solidFill>
          </a:ln>
        </p:spPr>
        <p:txBody>
          <a:bodyPr vert="horz" wrap="square" lIns="0" tIns="139065" rIns="0" bIns="0" rtlCol="0">
            <a:spAutoFit/>
          </a:bodyPr>
          <a:lstStyle/>
          <a:p>
            <a:pPr marL="310515">
              <a:spcBef>
                <a:spcPts val="1095"/>
              </a:spcBef>
            </a:pPr>
            <a:r>
              <a:rPr dirty="0">
                <a:solidFill>
                  <a:srgbClr val="FF0000"/>
                </a:solidFill>
                <a:latin typeface="Palatino Linotype"/>
                <a:cs typeface="Palatino Linotype"/>
              </a:rPr>
              <a:t>Can</a:t>
            </a:r>
            <a:r>
              <a:rPr spc="-30" dirty="0">
                <a:solidFill>
                  <a:srgbClr val="FF0000"/>
                </a:solidFill>
                <a:latin typeface="Palatino Linotype"/>
                <a:cs typeface="Palatino Linotype"/>
              </a:rPr>
              <a:t> </a:t>
            </a:r>
            <a:r>
              <a:rPr dirty="0">
                <a:solidFill>
                  <a:srgbClr val="FF0000"/>
                </a:solidFill>
                <a:latin typeface="Palatino Linotype"/>
                <a:cs typeface="Palatino Linotype"/>
              </a:rPr>
              <a:t>we</a:t>
            </a:r>
            <a:r>
              <a:rPr spc="-25" dirty="0">
                <a:solidFill>
                  <a:srgbClr val="FF0000"/>
                </a:solidFill>
                <a:latin typeface="Palatino Linotype"/>
                <a:cs typeface="Palatino Linotype"/>
              </a:rPr>
              <a:t> </a:t>
            </a:r>
            <a:r>
              <a:rPr dirty="0">
                <a:solidFill>
                  <a:srgbClr val="FF0000"/>
                </a:solidFill>
                <a:latin typeface="Palatino Linotype"/>
                <a:cs typeface="Palatino Linotype"/>
              </a:rPr>
              <a:t>further</a:t>
            </a:r>
            <a:r>
              <a:rPr spc="-25" dirty="0">
                <a:solidFill>
                  <a:srgbClr val="FF0000"/>
                </a:solidFill>
                <a:latin typeface="Palatino Linotype"/>
                <a:cs typeface="Palatino Linotype"/>
              </a:rPr>
              <a:t> </a:t>
            </a:r>
            <a:r>
              <a:rPr dirty="0">
                <a:solidFill>
                  <a:srgbClr val="FF0000"/>
                </a:solidFill>
                <a:latin typeface="Palatino Linotype"/>
                <a:cs typeface="Palatino Linotype"/>
              </a:rPr>
              <a:t>eliminate</a:t>
            </a:r>
            <a:r>
              <a:rPr spc="-30" dirty="0">
                <a:solidFill>
                  <a:srgbClr val="FF0000"/>
                </a:solidFill>
                <a:latin typeface="Palatino Linotype"/>
                <a:cs typeface="Palatino Linotype"/>
              </a:rPr>
              <a:t> </a:t>
            </a:r>
            <a:r>
              <a:rPr dirty="0">
                <a:solidFill>
                  <a:srgbClr val="FF0000"/>
                </a:solidFill>
                <a:latin typeface="Consolas"/>
                <a:cs typeface="Consolas"/>
              </a:rPr>
              <a:t>L1:</a:t>
            </a:r>
            <a:r>
              <a:rPr spc="-60" dirty="0">
                <a:solidFill>
                  <a:srgbClr val="FF0000"/>
                </a:solidFill>
                <a:latin typeface="Consolas"/>
                <a:cs typeface="Consolas"/>
              </a:rPr>
              <a:t> </a:t>
            </a:r>
            <a:r>
              <a:rPr dirty="0">
                <a:solidFill>
                  <a:srgbClr val="FF0000"/>
                </a:solidFill>
                <a:latin typeface="Consolas"/>
                <a:cs typeface="Consolas"/>
              </a:rPr>
              <a:t>goto</a:t>
            </a:r>
            <a:r>
              <a:rPr spc="-65" dirty="0">
                <a:solidFill>
                  <a:srgbClr val="FF0000"/>
                </a:solidFill>
                <a:latin typeface="Consolas"/>
                <a:cs typeface="Consolas"/>
              </a:rPr>
              <a:t> </a:t>
            </a:r>
            <a:r>
              <a:rPr spc="-25" dirty="0">
                <a:solidFill>
                  <a:srgbClr val="FF0000"/>
                </a:solidFill>
                <a:latin typeface="Consolas"/>
                <a:cs typeface="Consolas"/>
              </a:rPr>
              <a:t>L2</a:t>
            </a:r>
            <a:r>
              <a:rPr spc="-25" dirty="0">
                <a:solidFill>
                  <a:srgbClr val="FF0000"/>
                </a:solidFill>
                <a:latin typeface="Palatino Linotype"/>
                <a:cs typeface="Palatino Linotype"/>
              </a:rPr>
              <a:t>?</a:t>
            </a:r>
            <a:endParaRPr dirty="0">
              <a:solidFill>
                <a:sysClr val="windowText" lastClr="000000"/>
              </a:solidFill>
              <a:latin typeface="Palatino Linotype"/>
              <a:cs typeface="Palatino Linotype"/>
            </a:endParaRPr>
          </a:p>
        </p:txBody>
      </p:sp>
      <p:sp>
        <p:nvSpPr>
          <p:cNvPr id="28" name="object 11">
            <a:extLst>
              <a:ext uri="{FF2B5EF4-FFF2-40B4-BE49-F238E27FC236}">
                <a16:creationId xmlns:a16="http://schemas.microsoft.com/office/drawing/2014/main" id="{63E97841-8D1A-B052-9CF3-5AE4B116D604}"/>
              </a:ext>
            </a:extLst>
          </p:cNvPr>
          <p:cNvSpPr txBox="1"/>
          <p:nvPr/>
        </p:nvSpPr>
        <p:spPr>
          <a:xfrm>
            <a:off x="873760" y="3809075"/>
            <a:ext cx="3398520" cy="1027430"/>
          </a:xfrm>
          <a:prstGeom prst="rect">
            <a:avLst/>
          </a:prstGeom>
          <a:ln w="9525">
            <a:solidFill>
              <a:srgbClr val="000000"/>
            </a:solidFill>
          </a:ln>
        </p:spPr>
        <p:txBody>
          <a:bodyPr vert="horz" wrap="square" lIns="0" tIns="109220" rIns="0" bIns="0" rtlCol="0">
            <a:spAutoFit/>
          </a:bodyPr>
          <a:lstStyle/>
          <a:p>
            <a:pPr marL="485140">
              <a:spcBef>
                <a:spcPts val="860"/>
              </a:spcBef>
            </a:pPr>
            <a:r>
              <a:rPr sz="1400" dirty="0">
                <a:solidFill>
                  <a:sysClr val="windowText" lastClr="000000"/>
                </a:solidFill>
                <a:latin typeface="Consolas"/>
                <a:cs typeface="Consolas"/>
              </a:rPr>
              <a:t>if a &lt; b goto </a:t>
            </a:r>
            <a:r>
              <a:rPr sz="1400" spc="-35" dirty="0">
                <a:solidFill>
                  <a:sysClr val="windowText" lastClr="000000"/>
                </a:solidFill>
                <a:latin typeface="Consolas"/>
                <a:cs typeface="Consolas"/>
              </a:rPr>
              <a:t>L1</a:t>
            </a:r>
            <a:endParaRPr sz="1400">
              <a:solidFill>
                <a:sysClr val="windowText" lastClr="000000"/>
              </a:solidFill>
              <a:latin typeface="Consolas"/>
              <a:cs typeface="Consolas"/>
            </a:endParaRPr>
          </a:p>
          <a:p>
            <a:pPr marL="485140">
              <a:spcBef>
                <a:spcPts val="820"/>
              </a:spcBef>
            </a:pPr>
            <a:r>
              <a:rPr sz="1400" spc="-25" dirty="0">
                <a:solidFill>
                  <a:sysClr val="windowText" lastClr="000000"/>
                </a:solidFill>
                <a:latin typeface="Consolas"/>
                <a:cs typeface="Consolas"/>
              </a:rPr>
              <a:t>...</a:t>
            </a:r>
            <a:endParaRPr sz="1400">
              <a:solidFill>
                <a:sysClr val="windowText" lastClr="000000"/>
              </a:solidFill>
              <a:latin typeface="Consolas"/>
              <a:cs typeface="Consolas"/>
            </a:endParaRPr>
          </a:p>
          <a:p>
            <a:pPr marL="91440">
              <a:spcBef>
                <a:spcPts val="815"/>
              </a:spcBef>
            </a:pPr>
            <a:r>
              <a:rPr sz="1400" dirty="0">
                <a:solidFill>
                  <a:sysClr val="windowText" lastClr="000000"/>
                </a:solidFill>
                <a:latin typeface="Consolas"/>
                <a:cs typeface="Consolas"/>
              </a:rPr>
              <a:t>L1:</a:t>
            </a:r>
            <a:r>
              <a:rPr sz="1400" spc="-5" dirty="0">
                <a:solidFill>
                  <a:sysClr val="windowText" lastClr="000000"/>
                </a:solidFill>
                <a:latin typeface="Consolas"/>
                <a:cs typeface="Consolas"/>
              </a:rPr>
              <a:t> </a:t>
            </a:r>
            <a:r>
              <a:rPr sz="1400" dirty="0">
                <a:solidFill>
                  <a:sysClr val="windowText" lastClr="000000"/>
                </a:solidFill>
                <a:latin typeface="Consolas"/>
                <a:cs typeface="Consolas"/>
              </a:rPr>
              <a:t>goto</a:t>
            </a:r>
            <a:r>
              <a:rPr sz="1400" spc="-5" dirty="0">
                <a:solidFill>
                  <a:sysClr val="windowText" lastClr="000000"/>
                </a:solidFill>
                <a:latin typeface="Consolas"/>
                <a:cs typeface="Consolas"/>
              </a:rPr>
              <a:t> </a:t>
            </a:r>
            <a:r>
              <a:rPr sz="1400" spc="-25" dirty="0">
                <a:solidFill>
                  <a:sysClr val="windowText" lastClr="000000"/>
                </a:solidFill>
                <a:latin typeface="Consolas"/>
                <a:cs typeface="Consolas"/>
              </a:rPr>
              <a:t>L2</a:t>
            </a:r>
            <a:endParaRPr sz="1400">
              <a:solidFill>
                <a:sysClr val="windowText" lastClr="000000"/>
              </a:solidFill>
              <a:latin typeface="Consolas"/>
              <a:cs typeface="Consolas"/>
            </a:endParaRPr>
          </a:p>
        </p:txBody>
      </p:sp>
      <p:sp>
        <p:nvSpPr>
          <p:cNvPr id="29" name="object 12">
            <a:extLst>
              <a:ext uri="{FF2B5EF4-FFF2-40B4-BE49-F238E27FC236}">
                <a16:creationId xmlns:a16="http://schemas.microsoft.com/office/drawing/2014/main" id="{47F7BFAF-E2C6-FAE5-E480-A2CBCE999A56}"/>
              </a:ext>
            </a:extLst>
          </p:cNvPr>
          <p:cNvSpPr txBox="1"/>
          <p:nvPr/>
        </p:nvSpPr>
        <p:spPr>
          <a:xfrm>
            <a:off x="5116829" y="3809075"/>
            <a:ext cx="3398520" cy="1027430"/>
          </a:xfrm>
          <a:prstGeom prst="rect">
            <a:avLst/>
          </a:prstGeom>
          <a:ln w="9525">
            <a:solidFill>
              <a:srgbClr val="000000"/>
            </a:solidFill>
          </a:ln>
        </p:spPr>
        <p:txBody>
          <a:bodyPr vert="horz" wrap="square" lIns="0" tIns="109220" rIns="0" bIns="0" rtlCol="0">
            <a:spAutoFit/>
          </a:bodyPr>
          <a:lstStyle/>
          <a:p>
            <a:pPr marL="485140">
              <a:spcBef>
                <a:spcPts val="860"/>
              </a:spcBef>
            </a:pPr>
            <a:r>
              <a:rPr sz="1400" dirty="0">
                <a:solidFill>
                  <a:sysClr val="windowText" lastClr="000000"/>
                </a:solidFill>
                <a:latin typeface="Consolas"/>
                <a:cs typeface="Consolas"/>
              </a:rPr>
              <a:t>if a &lt; b goto </a:t>
            </a:r>
            <a:r>
              <a:rPr sz="1400" spc="-35" dirty="0">
                <a:solidFill>
                  <a:srgbClr val="FF0000"/>
                </a:solidFill>
                <a:latin typeface="Consolas"/>
                <a:cs typeface="Consolas"/>
              </a:rPr>
              <a:t>L2</a:t>
            </a:r>
            <a:endParaRPr sz="1400">
              <a:solidFill>
                <a:sysClr val="windowText" lastClr="000000"/>
              </a:solidFill>
              <a:latin typeface="Consolas"/>
              <a:cs typeface="Consolas"/>
            </a:endParaRPr>
          </a:p>
          <a:p>
            <a:pPr marL="485140">
              <a:spcBef>
                <a:spcPts val="820"/>
              </a:spcBef>
            </a:pPr>
            <a:r>
              <a:rPr sz="1400" spc="-25" dirty="0">
                <a:solidFill>
                  <a:sysClr val="windowText" lastClr="000000"/>
                </a:solidFill>
                <a:latin typeface="Consolas"/>
                <a:cs typeface="Consolas"/>
              </a:rPr>
              <a:t>...</a:t>
            </a:r>
            <a:endParaRPr sz="1400">
              <a:solidFill>
                <a:sysClr val="windowText" lastClr="000000"/>
              </a:solidFill>
              <a:latin typeface="Consolas"/>
              <a:cs typeface="Consolas"/>
            </a:endParaRPr>
          </a:p>
          <a:p>
            <a:pPr marL="91440">
              <a:spcBef>
                <a:spcPts val="815"/>
              </a:spcBef>
            </a:pPr>
            <a:r>
              <a:rPr sz="1400" dirty="0">
                <a:solidFill>
                  <a:sysClr val="windowText" lastClr="000000"/>
                </a:solidFill>
                <a:latin typeface="Consolas"/>
                <a:cs typeface="Consolas"/>
              </a:rPr>
              <a:t>L1:</a:t>
            </a:r>
            <a:r>
              <a:rPr sz="1400" spc="-5" dirty="0">
                <a:solidFill>
                  <a:sysClr val="windowText" lastClr="000000"/>
                </a:solidFill>
                <a:latin typeface="Consolas"/>
                <a:cs typeface="Consolas"/>
              </a:rPr>
              <a:t> </a:t>
            </a:r>
            <a:r>
              <a:rPr sz="1400" dirty="0">
                <a:solidFill>
                  <a:sysClr val="windowText" lastClr="000000"/>
                </a:solidFill>
                <a:latin typeface="Consolas"/>
                <a:cs typeface="Consolas"/>
              </a:rPr>
              <a:t>goto</a:t>
            </a:r>
            <a:r>
              <a:rPr sz="1400" spc="-5" dirty="0">
                <a:solidFill>
                  <a:sysClr val="windowText" lastClr="000000"/>
                </a:solidFill>
                <a:latin typeface="Consolas"/>
                <a:cs typeface="Consolas"/>
              </a:rPr>
              <a:t> </a:t>
            </a:r>
            <a:r>
              <a:rPr sz="1400" spc="-25" dirty="0">
                <a:solidFill>
                  <a:sysClr val="windowText" lastClr="000000"/>
                </a:solidFill>
                <a:latin typeface="Consolas"/>
                <a:cs typeface="Consolas"/>
              </a:rPr>
              <a:t>L2</a:t>
            </a:r>
            <a:endParaRPr sz="1400">
              <a:solidFill>
                <a:sysClr val="windowText" lastClr="000000"/>
              </a:solidFill>
              <a:latin typeface="Consolas"/>
              <a:cs typeface="Consolas"/>
            </a:endParaRPr>
          </a:p>
        </p:txBody>
      </p:sp>
      <p:grpSp>
        <p:nvGrpSpPr>
          <p:cNvPr id="30" name="object 13">
            <a:extLst>
              <a:ext uri="{FF2B5EF4-FFF2-40B4-BE49-F238E27FC236}">
                <a16:creationId xmlns:a16="http://schemas.microsoft.com/office/drawing/2014/main" id="{0C254154-2FC1-3D48-F885-527D419C36AD}"/>
              </a:ext>
            </a:extLst>
          </p:cNvPr>
          <p:cNvGrpSpPr/>
          <p:nvPr/>
        </p:nvGrpSpPr>
        <p:grpSpPr>
          <a:xfrm>
            <a:off x="4411343" y="4194407"/>
            <a:ext cx="566420" cy="256540"/>
            <a:chOff x="4411343" y="4194407"/>
            <a:chExt cx="566420" cy="256540"/>
          </a:xfrm>
        </p:grpSpPr>
        <p:sp>
          <p:nvSpPr>
            <p:cNvPr id="31" name="object 14">
              <a:extLst>
                <a:ext uri="{FF2B5EF4-FFF2-40B4-BE49-F238E27FC236}">
                  <a16:creationId xmlns:a16="http://schemas.microsoft.com/office/drawing/2014/main" id="{B7221E3F-B8A5-902E-EF83-ED843AF7384E}"/>
                </a:ext>
              </a:extLst>
            </p:cNvPr>
            <p:cNvSpPr/>
            <p:nvPr/>
          </p:nvSpPr>
          <p:spPr>
            <a:xfrm>
              <a:off x="4417693" y="4200757"/>
              <a:ext cx="553720" cy="243840"/>
            </a:xfrm>
            <a:custGeom>
              <a:avLst/>
              <a:gdLst/>
              <a:ahLst/>
              <a:cxnLst/>
              <a:rect l="l" t="t" r="r" b="b"/>
              <a:pathLst>
                <a:path w="553720" h="243839">
                  <a:moveTo>
                    <a:pt x="431802" y="0"/>
                  </a:moveTo>
                  <a:lnTo>
                    <a:pt x="431802" y="60959"/>
                  </a:lnTo>
                  <a:lnTo>
                    <a:pt x="0" y="60959"/>
                  </a:lnTo>
                  <a:lnTo>
                    <a:pt x="0" y="182879"/>
                  </a:lnTo>
                  <a:lnTo>
                    <a:pt x="431802" y="182879"/>
                  </a:lnTo>
                  <a:lnTo>
                    <a:pt x="431802" y="243839"/>
                  </a:lnTo>
                  <a:lnTo>
                    <a:pt x="553722" y="121919"/>
                  </a:lnTo>
                  <a:lnTo>
                    <a:pt x="431802" y="0"/>
                  </a:lnTo>
                  <a:close/>
                </a:path>
              </a:pathLst>
            </a:custGeom>
            <a:solidFill>
              <a:srgbClr val="4472C4"/>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32" name="object 15">
              <a:extLst>
                <a:ext uri="{FF2B5EF4-FFF2-40B4-BE49-F238E27FC236}">
                  <a16:creationId xmlns:a16="http://schemas.microsoft.com/office/drawing/2014/main" id="{FDD3807E-523D-780B-0FEA-B53E550D088F}"/>
                </a:ext>
              </a:extLst>
            </p:cNvPr>
            <p:cNvSpPr/>
            <p:nvPr/>
          </p:nvSpPr>
          <p:spPr>
            <a:xfrm>
              <a:off x="4417693" y="4200757"/>
              <a:ext cx="553720" cy="243840"/>
            </a:xfrm>
            <a:custGeom>
              <a:avLst/>
              <a:gdLst/>
              <a:ahLst/>
              <a:cxnLst/>
              <a:rect l="l" t="t" r="r" b="b"/>
              <a:pathLst>
                <a:path w="553720" h="243839">
                  <a:moveTo>
                    <a:pt x="0" y="60960"/>
                  </a:moveTo>
                  <a:lnTo>
                    <a:pt x="431802" y="60960"/>
                  </a:lnTo>
                  <a:lnTo>
                    <a:pt x="431802" y="0"/>
                  </a:lnTo>
                  <a:lnTo>
                    <a:pt x="553722" y="121920"/>
                  </a:lnTo>
                  <a:lnTo>
                    <a:pt x="431802" y="243840"/>
                  </a:lnTo>
                  <a:lnTo>
                    <a:pt x="431802" y="182880"/>
                  </a:lnTo>
                  <a:lnTo>
                    <a:pt x="0" y="182880"/>
                  </a:lnTo>
                  <a:lnTo>
                    <a:pt x="0" y="60960"/>
                  </a:lnTo>
                  <a:close/>
                </a:path>
              </a:pathLst>
            </a:custGeom>
            <a:ln w="12700">
              <a:solidFill>
                <a:srgbClr val="2F528F"/>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Tree>
    <p:extLst>
      <p:ext uri="{BB962C8B-B14F-4D97-AF65-F5344CB8AC3E}">
        <p14:creationId xmlns:p14="http://schemas.microsoft.com/office/powerpoint/2010/main" val="3214819883"/>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77</a:t>
            </a:fld>
            <a:endParaRPr lang="en-US"/>
          </a:p>
        </p:txBody>
      </p:sp>
      <p:sp>
        <p:nvSpPr>
          <p:cNvPr id="7" name="object 2">
            <a:extLst>
              <a:ext uri="{FF2B5EF4-FFF2-40B4-BE49-F238E27FC236}">
                <a16:creationId xmlns:a16="http://schemas.microsoft.com/office/drawing/2014/main" id="{1F32F594-2939-D992-75C0-D58BD23F585A}"/>
              </a:ext>
            </a:extLst>
          </p:cNvPr>
          <p:cNvSpPr txBox="1">
            <a:spLocks/>
          </p:cNvSpPr>
          <p:nvPr/>
        </p:nvSpPr>
        <p:spPr>
          <a:xfrm>
            <a:off x="707390" y="524763"/>
            <a:ext cx="7729219" cy="63500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4000" b="1" i="0" u="none" strike="noStrike" kern="0" cap="none" spc="-10" normalizeH="0" baseline="0" noProof="0">
                <a:ln>
                  <a:noFill/>
                </a:ln>
                <a:solidFill>
                  <a:sysClr val="windowText" lastClr="000000"/>
                </a:solidFill>
                <a:effectLst/>
                <a:uLnTx/>
                <a:uFillTx/>
                <a:latin typeface="Palatino Linotype"/>
                <a:ea typeface="+mj-ea"/>
              </a:rPr>
              <a:t>Outline</a:t>
            </a:r>
            <a:endParaRPr kumimoji="0" lang="en-US" sz="4000" b="1" i="0" u="none" strike="noStrike" kern="0" cap="none" spc="-10" normalizeH="0" baseline="0" noProof="0" dirty="0">
              <a:ln>
                <a:noFill/>
              </a:ln>
              <a:solidFill>
                <a:sysClr val="windowText" lastClr="000000"/>
              </a:solidFill>
              <a:effectLst/>
              <a:uLnTx/>
              <a:uFillTx/>
              <a:latin typeface="Palatino Linotype"/>
              <a:ea typeface="+mj-ea"/>
            </a:endParaRPr>
          </a:p>
        </p:txBody>
      </p:sp>
      <p:sp>
        <p:nvSpPr>
          <p:cNvPr id="8" name="object 3">
            <a:extLst>
              <a:ext uri="{FF2B5EF4-FFF2-40B4-BE49-F238E27FC236}">
                <a16:creationId xmlns:a16="http://schemas.microsoft.com/office/drawing/2014/main" id="{943326EB-63C7-1AAF-1CD0-C664CCB96F28}"/>
              </a:ext>
            </a:extLst>
          </p:cNvPr>
          <p:cNvSpPr txBox="1"/>
          <p:nvPr/>
        </p:nvSpPr>
        <p:spPr>
          <a:xfrm>
            <a:off x="707390" y="1631188"/>
            <a:ext cx="4697730" cy="4146550"/>
          </a:xfrm>
          <a:prstGeom prst="rect">
            <a:avLst/>
          </a:prstGeom>
        </p:spPr>
        <p:txBody>
          <a:bodyPr vert="horz" wrap="square" lIns="0" tIns="12700" rIns="0" bIns="0" rtlCol="0">
            <a:spAutoFit/>
          </a:bodyPr>
          <a:lstStyle/>
          <a:p>
            <a:pPr marL="242570" indent="-229870">
              <a:spcBef>
                <a:spcPts val="100"/>
              </a:spcBef>
              <a:buClr>
                <a:srgbClr val="000000"/>
              </a:buClr>
              <a:buFont typeface="Arial MT"/>
              <a:buChar char="•"/>
              <a:tabLst>
                <a:tab pos="242570" algn="l"/>
              </a:tabLst>
            </a:pPr>
            <a:r>
              <a:rPr sz="2200" dirty="0">
                <a:solidFill>
                  <a:srgbClr val="A6A6A6"/>
                </a:solidFill>
                <a:latin typeface="Palatino Linotype"/>
                <a:cs typeface="Palatino Linotype"/>
              </a:rPr>
              <a:t>Design</a:t>
            </a:r>
            <a:r>
              <a:rPr sz="2200" spc="-45" dirty="0">
                <a:solidFill>
                  <a:srgbClr val="A6A6A6"/>
                </a:solidFill>
                <a:latin typeface="Palatino Linotype"/>
                <a:cs typeface="Palatino Linotype"/>
              </a:rPr>
              <a:t> </a:t>
            </a:r>
            <a:r>
              <a:rPr sz="2200" spc="-10" dirty="0">
                <a:solidFill>
                  <a:srgbClr val="A6A6A6"/>
                </a:solidFill>
                <a:latin typeface="Palatino Linotype"/>
                <a:cs typeface="Palatino Linotype"/>
              </a:rPr>
              <a:t>Issues</a:t>
            </a:r>
            <a:endParaRPr sz="2200">
              <a:solidFill>
                <a:sysClr val="windowText" lastClr="000000"/>
              </a:solidFill>
              <a:latin typeface="Palatino Linotype"/>
              <a:cs typeface="Palatino Linotype"/>
            </a:endParaRPr>
          </a:p>
          <a:p>
            <a:pPr marL="242570" indent="-229870">
              <a:spcBef>
                <a:spcPts val="2255"/>
              </a:spcBef>
              <a:buClr>
                <a:srgbClr val="000000"/>
              </a:buClr>
              <a:buFont typeface="Arial MT"/>
              <a:buChar char="•"/>
              <a:tabLst>
                <a:tab pos="242570" algn="l"/>
              </a:tabLst>
            </a:pPr>
            <a:r>
              <a:rPr sz="2200" dirty="0">
                <a:solidFill>
                  <a:srgbClr val="A6A6A6"/>
                </a:solidFill>
                <a:latin typeface="Palatino Linotype"/>
                <a:cs typeface="Palatino Linotype"/>
              </a:rPr>
              <a:t>The</a:t>
            </a:r>
            <a:r>
              <a:rPr sz="2200" spc="-55" dirty="0">
                <a:solidFill>
                  <a:srgbClr val="A6A6A6"/>
                </a:solidFill>
                <a:latin typeface="Palatino Linotype"/>
                <a:cs typeface="Palatino Linotype"/>
              </a:rPr>
              <a:t> </a:t>
            </a:r>
            <a:r>
              <a:rPr sz="2200" spc="-25" dirty="0">
                <a:solidFill>
                  <a:srgbClr val="A6A6A6"/>
                </a:solidFill>
                <a:latin typeface="Palatino Linotype"/>
                <a:cs typeface="Palatino Linotype"/>
              </a:rPr>
              <a:t>Target</a:t>
            </a:r>
            <a:r>
              <a:rPr sz="2200" spc="-55" dirty="0">
                <a:solidFill>
                  <a:srgbClr val="A6A6A6"/>
                </a:solidFill>
                <a:latin typeface="Palatino Linotype"/>
                <a:cs typeface="Palatino Linotype"/>
              </a:rPr>
              <a:t> </a:t>
            </a:r>
            <a:r>
              <a:rPr sz="2200" spc="-10" dirty="0">
                <a:solidFill>
                  <a:srgbClr val="A6A6A6"/>
                </a:solidFill>
                <a:latin typeface="Palatino Linotype"/>
                <a:cs typeface="Palatino Linotype"/>
              </a:rPr>
              <a:t>Language</a:t>
            </a:r>
            <a:endParaRPr sz="2200">
              <a:solidFill>
                <a:sysClr val="windowText" lastClr="000000"/>
              </a:solidFill>
              <a:latin typeface="Palatino Linotype"/>
              <a:cs typeface="Palatino Linotype"/>
            </a:endParaRPr>
          </a:p>
          <a:p>
            <a:pPr marL="242570" indent="-229870">
              <a:spcBef>
                <a:spcPts val="2350"/>
              </a:spcBef>
              <a:buClr>
                <a:srgbClr val="000000"/>
              </a:buClr>
              <a:buFont typeface="Arial MT"/>
              <a:buChar char="•"/>
              <a:tabLst>
                <a:tab pos="242570" algn="l"/>
              </a:tabLst>
            </a:pPr>
            <a:r>
              <a:rPr sz="2200" dirty="0">
                <a:solidFill>
                  <a:srgbClr val="A6A6A6"/>
                </a:solidFill>
                <a:latin typeface="Palatino Linotype"/>
                <a:cs typeface="Palatino Linotype"/>
              </a:rPr>
              <a:t>Addresses</a:t>
            </a:r>
            <a:r>
              <a:rPr sz="2200" spc="-40" dirty="0">
                <a:solidFill>
                  <a:srgbClr val="A6A6A6"/>
                </a:solidFill>
                <a:latin typeface="Palatino Linotype"/>
                <a:cs typeface="Palatino Linotype"/>
              </a:rPr>
              <a:t> </a:t>
            </a:r>
            <a:r>
              <a:rPr sz="2200" dirty="0">
                <a:solidFill>
                  <a:srgbClr val="A6A6A6"/>
                </a:solidFill>
                <a:latin typeface="Palatino Linotype"/>
                <a:cs typeface="Palatino Linotype"/>
              </a:rPr>
              <a:t>in</a:t>
            </a:r>
            <a:r>
              <a:rPr sz="2200" spc="-50" dirty="0">
                <a:solidFill>
                  <a:srgbClr val="A6A6A6"/>
                </a:solidFill>
                <a:latin typeface="Palatino Linotype"/>
                <a:cs typeface="Palatino Linotype"/>
              </a:rPr>
              <a:t> </a:t>
            </a:r>
            <a:r>
              <a:rPr sz="2200" dirty="0">
                <a:solidFill>
                  <a:srgbClr val="A6A6A6"/>
                </a:solidFill>
                <a:latin typeface="Palatino Linotype"/>
                <a:cs typeface="Palatino Linotype"/>
              </a:rPr>
              <a:t>the</a:t>
            </a:r>
            <a:r>
              <a:rPr sz="2200" spc="-45" dirty="0">
                <a:solidFill>
                  <a:srgbClr val="A6A6A6"/>
                </a:solidFill>
                <a:latin typeface="Palatino Linotype"/>
                <a:cs typeface="Palatino Linotype"/>
              </a:rPr>
              <a:t> </a:t>
            </a:r>
            <a:r>
              <a:rPr sz="2200" spc="-25" dirty="0">
                <a:solidFill>
                  <a:srgbClr val="A6A6A6"/>
                </a:solidFill>
                <a:latin typeface="Palatino Linotype"/>
                <a:cs typeface="Palatino Linotype"/>
              </a:rPr>
              <a:t>Target</a:t>
            </a:r>
            <a:r>
              <a:rPr sz="2200" spc="-45" dirty="0">
                <a:solidFill>
                  <a:srgbClr val="A6A6A6"/>
                </a:solidFill>
                <a:latin typeface="Palatino Linotype"/>
                <a:cs typeface="Palatino Linotype"/>
              </a:rPr>
              <a:t> </a:t>
            </a:r>
            <a:r>
              <a:rPr sz="2200" spc="-20" dirty="0">
                <a:solidFill>
                  <a:srgbClr val="A6A6A6"/>
                </a:solidFill>
                <a:latin typeface="Palatino Linotype"/>
                <a:cs typeface="Palatino Linotype"/>
              </a:rPr>
              <a:t>Code</a:t>
            </a:r>
            <a:endParaRPr sz="2200">
              <a:solidFill>
                <a:sysClr val="windowText" lastClr="000000"/>
              </a:solidFill>
              <a:latin typeface="Palatino Linotype"/>
              <a:cs typeface="Palatino Linotype"/>
            </a:endParaRPr>
          </a:p>
          <a:p>
            <a:pPr marL="242570" indent="-229870">
              <a:spcBef>
                <a:spcPts val="2375"/>
              </a:spcBef>
              <a:buClr>
                <a:srgbClr val="000000"/>
              </a:buClr>
              <a:buFont typeface="Arial MT"/>
              <a:buChar char="•"/>
              <a:tabLst>
                <a:tab pos="242570" algn="l"/>
              </a:tabLst>
            </a:pPr>
            <a:r>
              <a:rPr sz="2200" dirty="0">
                <a:solidFill>
                  <a:srgbClr val="A6A6A6"/>
                </a:solidFill>
                <a:latin typeface="Palatino Linotype"/>
                <a:cs typeface="Palatino Linotype"/>
              </a:rPr>
              <a:t>Basic</a:t>
            </a:r>
            <a:r>
              <a:rPr sz="2200" spc="-45" dirty="0">
                <a:solidFill>
                  <a:srgbClr val="A6A6A6"/>
                </a:solidFill>
                <a:latin typeface="Palatino Linotype"/>
                <a:cs typeface="Palatino Linotype"/>
              </a:rPr>
              <a:t> </a:t>
            </a:r>
            <a:r>
              <a:rPr sz="2200" dirty="0">
                <a:solidFill>
                  <a:srgbClr val="A6A6A6"/>
                </a:solidFill>
                <a:latin typeface="Palatino Linotype"/>
                <a:cs typeface="Palatino Linotype"/>
              </a:rPr>
              <a:t>Blocks</a:t>
            </a:r>
            <a:r>
              <a:rPr sz="2200" spc="-30" dirty="0">
                <a:solidFill>
                  <a:srgbClr val="A6A6A6"/>
                </a:solidFill>
                <a:latin typeface="Palatino Linotype"/>
                <a:cs typeface="Palatino Linotype"/>
              </a:rPr>
              <a:t> </a:t>
            </a:r>
            <a:r>
              <a:rPr sz="2200" dirty="0">
                <a:solidFill>
                  <a:srgbClr val="A6A6A6"/>
                </a:solidFill>
                <a:latin typeface="Palatino Linotype"/>
                <a:cs typeface="Palatino Linotype"/>
              </a:rPr>
              <a:t>and</a:t>
            </a:r>
            <a:r>
              <a:rPr sz="2200" spc="-30" dirty="0">
                <a:solidFill>
                  <a:srgbClr val="A6A6A6"/>
                </a:solidFill>
                <a:latin typeface="Palatino Linotype"/>
                <a:cs typeface="Palatino Linotype"/>
              </a:rPr>
              <a:t> </a:t>
            </a:r>
            <a:r>
              <a:rPr sz="2200" dirty="0">
                <a:solidFill>
                  <a:srgbClr val="A6A6A6"/>
                </a:solidFill>
                <a:latin typeface="Palatino Linotype"/>
                <a:cs typeface="Palatino Linotype"/>
              </a:rPr>
              <a:t>Flow</a:t>
            </a:r>
            <a:r>
              <a:rPr sz="2200" spc="-35" dirty="0">
                <a:solidFill>
                  <a:srgbClr val="A6A6A6"/>
                </a:solidFill>
                <a:latin typeface="Palatino Linotype"/>
                <a:cs typeface="Palatino Linotype"/>
              </a:rPr>
              <a:t> </a:t>
            </a:r>
            <a:r>
              <a:rPr sz="2200" spc="-10" dirty="0">
                <a:solidFill>
                  <a:srgbClr val="A6A6A6"/>
                </a:solidFill>
                <a:latin typeface="Palatino Linotype"/>
                <a:cs typeface="Palatino Linotype"/>
              </a:rPr>
              <a:t>Graph</a:t>
            </a:r>
            <a:endParaRPr sz="2200">
              <a:solidFill>
                <a:sysClr val="windowText" lastClr="000000"/>
              </a:solidFill>
              <a:latin typeface="Palatino Linotype"/>
              <a:cs typeface="Palatino Linotype"/>
            </a:endParaRPr>
          </a:p>
          <a:p>
            <a:pPr marL="242570" indent="-229870">
              <a:spcBef>
                <a:spcPts val="2260"/>
              </a:spcBef>
              <a:buClr>
                <a:srgbClr val="000000"/>
              </a:buClr>
              <a:buFont typeface="Arial MT"/>
              <a:buChar char="•"/>
              <a:tabLst>
                <a:tab pos="242570" algn="l"/>
              </a:tabLst>
            </a:pPr>
            <a:r>
              <a:rPr sz="2200" dirty="0">
                <a:solidFill>
                  <a:srgbClr val="A6A6A6"/>
                </a:solidFill>
                <a:latin typeface="Palatino Linotype"/>
                <a:cs typeface="Palatino Linotype"/>
              </a:rPr>
              <a:t>Optimization</a:t>
            </a:r>
            <a:r>
              <a:rPr sz="2200" spc="-45" dirty="0">
                <a:solidFill>
                  <a:srgbClr val="A6A6A6"/>
                </a:solidFill>
                <a:latin typeface="Palatino Linotype"/>
                <a:cs typeface="Palatino Linotype"/>
              </a:rPr>
              <a:t> </a:t>
            </a:r>
            <a:r>
              <a:rPr sz="2200" dirty="0">
                <a:solidFill>
                  <a:srgbClr val="A6A6A6"/>
                </a:solidFill>
                <a:latin typeface="Palatino Linotype"/>
                <a:cs typeface="Palatino Linotype"/>
              </a:rPr>
              <a:t>of</a:t>
            </a:r>
            <a:r>
              <a:rPr sz="2200" spc="-35" dirty="0">
                <a:solidFill>
                  <a:srgbClr val="A6A6A6"/>
                </a:solidFill>
                <a:latin typeface="Palatino Linotype"/>
                <a:cs typeface="Palatino Linotype"/>
              </a:rPr>
              <a:t> </a:t>
            </a:r>
            <a:r>
              <a:rPr sz="2200" dirty="0">
                <a:solidFill>
                  <a:srgbClr val="A6A6A6"/>
                </a:solidFill>
                <a:latin typeface="Palatino Linotype"/>
                <a:cs typeface="Palatino Linotype"/>
              </a:rPr>
              <a:t>Basic</a:t>
            </a:r>
            <a:r>
              <a:rPr sz="2200" spc="-40" dirty="0">
                <a:solidFill>
                  <a:srgbClr val="A6A6A6"/>
                </a:solidFill>
                <a:latin typeface="Palatino Linotype"/>
                <a:cs typeface="Palatino Linotype"/>
              </a:rPr>
              <a:t> </a:t>
            </a:r>
            <a:r>
              <a:rPr sz="2200" spc="-10" dirty="0">
                <a:solidFill>
                  <a:srgbClr val="A6A6A6"/>
                </a:solidFill>
                <a:latin typeface="Palatino Linotype"/>
                <a:cs typeface="Palatino Linotype"/>
              </a:rPr>
              <a:t>Blocks</a:t>
            </a:r>
            <a:endParaRPr sz="2200">
              <a:solidFill>
                <a:sysClr val="windowText" lastClr="000000"/>
              </a:solidFill>
              <a:latin typeface="Palatino Linotype"/>
              <a:cs typeface="Palatino Linotype"/>
            </a:endParaRPr>
          </a:p>
          <a:p>
            <a:pPr marL="242570" indent="-229870">
              <a:spcBef>
                <a:spcPts val="2350"/>
              </a:spcBef>
              <a:buClr>
                <a:srgbClr val="000000"/>
              </a:buClr>
              <a:buFont typeface="Arial MT"/>
              <a:buChar char="•"/>
              <a:tabLst>
                <a:tab pos="242570" algn="l"/>
              </a:tabLst>
            </a:pPr>
            <a:r>
              <a:rPr sz="2200" spc="-20" dirty="0">
                <a:solidFill>
                  <a:srgbClr val="A6A6A6"/>
                </a:solidFill>
                <a:latin typeface="Palatino Linotype"/>
                <a:cs typeface="Palatino Linotype"/>
              </a:rPr>
              <a:t>A</a:t>
            </a:r>
            <a:r>
              <a:rPr sz="2200" spc="-125" dirty="0">
                <a:solidFill>
                  <a:srgbClr val="A6A6A6"/>
                </a:solidFill>
                <a:latin typeface="Palatino Linotype"/>
                <a:cs typeface="Palatino Linotype"/>
              </a:rPr>
              <a:t> </a:t>
            </a:r>
            <a:r>
              <a:rPr sz="2200" dirty="0">
                <a:solidFill>
                  <a:srgbClr val="A6A6A6"/>
                </a:solidFill>
                <a:latin typeface="Palatino Linotype"/>
                <a:cs typeface="Palatino Linotype"/>
              </a:rPr>
              <a:t>Simple</a:t>
            </a:r>
            <a:r>
              <a:rPr sz="2200" spc="-45" dirty="0">
                <a:solidFill>
                  <a:srgbClr val="A6A6A6"/>
                </a:solidFill>
                <a:latin typeface="Palatino Linotype"/>
                <a:cs typeface="Palatino Linotype"/>
              </a:rPr>
              <a:t> </a:t>
            </a:r>
            <a:r>
              <a:rPr sz="2200" dirty="0">
                <a:solidFill>
                  <a:srgbClr val="A6A6A6"/>
                </a:solidFill>
                <a:latin typeface="Palatino Linotype"/>
                <a:cs typeface="Palatino Linotype"/>
              </a:rPr>
              <a:t>Code</a:t>
            </a:r>
            <a:r>
              <a:rPr sz="2200" spc="-25" dirty="0">
                <a:solidFill>
                  <a:srgbClr val="A6A6A6"/>
                </a:solidFill>
                <a:latin typeface="Palatino Linotype"/>
                <a:cs typeface="Palatino Linotype"/>
              </a:rPr>
              <a:t> </a:t>
            </a:r>
            <a:r>
              <a:rPr sz="2200" spc="-10" dirty="0">
                <a:solidFill>
                  <a:srgbClr val="A6A6A6"/>
                </a:solidFill>
                <a:latin typeface="Palatino Linotype"/>
                <a:cs typeface="Palatino Linotype"/>
              </a:rPr>
              <a:t>Generator</a:t>
            </a:r>
            <a:endParaRPr sz="2200">
              <a:solidFill>
                <a:sysClr val="windowText" lastClr="000000"/>
              </a:solidFill>
              <a:latin typeface="Palatino Linotype"/>
              <a:cs typeface="Palatino Linotype"/>
            </a:endParaRPr>
          </a:p>
          <a:p>
            <a:pPr marL="242570" indent="-229870">
              <a:spcBef>
                <a:spcPts val="2375"/>
              </a:spcBef>
              <a:buFont typeface="Arial MT"/>
              <a:buChar char="•"/>
              <a:tabLst>
                <a:tab pos="242570" algn="l"/>
              </a:tabLst>
            </a:pPr>
            <a:r>
              <a:rPr sz="2200" dirty="0">
                <a:solidFill>
                  <a:sysClr val="windowText" lastClr="000000"/>
                </a:solidFill>
                <a:latin typeface="Palatino Linotype"/>
                <a:cs typeface="Palatino Linotype"/>
              </a:rPr>
              <a:t>Register</a:t>
            </a:r>
            <a:r>
              <a:rPr sz="2200" spc="-120" dirty="0">
                <a:solidFill>
                  <a:sysClr val="windowText" lastClr="000000"/>
                </a:solidFill>
                <a:latin typeface="Palatino Linotype"/>
                <a:cs typeface="Palatino Linotype"/>
              </a:rPr>
              <a:t> </a:t>
            </a:r>
            <a:r>
              <a:rPr sz="2200" dirty="0">
                <a:solidFill>
                  <a:sysClr val="windowText" lastClr="000000"/>
                </a:solidFill>
                <a:latin typeface="Palatino Linotype"/>
                <a:cs typeface="Palatino Linotype"/>
              </a:rPr>
              <a:t>Allocation</a:t>
            </a:r>
            <a:r>
              <a:rPr sz="2200" spc="-65" dirty="0">
                <a:solidFill>
                  <a:sysClr val="windowText" lastClr="000000"/>
                </a:solidFill>
                <a:latin typeface="Palatino Linotype"/>
                <a:cs typeface="Palatino Linotype"/>
              </a:rPr>
              <a:t> </a:t>
            </a:r>
            <a:r>
              <a:rPr sz="2200" dirty="0">
                <a:solidFill>
                  <a:sysClr val="windowText" lastClr="000000"/>
                </a:solidFill>
                <a:latin typeface="Palatino Linotype"/>
                <a:cs typeface="Palatino Linotype"/>
              </a:rPr>
              <a:t>and</a:t>
            </a:r>
            <a:r>
              <a:rPr sz="2200" spc="-120" dirty="0">
                <a:solidFill>
                  <a:sysClr val="windowText" lastClr="000000"/>
                </a:solidFill>
                <a:latin typeface="Palatino Linotype"/>
                <a:cs typeface="Palatino Linotype"/>
              </a:rPr>
              <a:t> </a:t>
            </a:r>
            <a:r>
              <a:rPr sz="2200" spc="-10" dirty="0">
                <a:solidFill>
                  <a:sysClr val="windowText" lastClr="000000"/>
                </a:solidFill>
                <a:latin typeface="Palatino Linotype"/>
                <a:cs typeface="Palatino Linotype"/>
              </a:rPr>
              <a:t>Assignment</a:t>
            </a:r>
            <a:endParaRPr sz="2200">
              <a:solidFill>
                <a:sysClr val="windowText" lastClr="000000"/>
              </a:solidFill>
              <a:latin typeface="Palatino Linotype"/>
              <a:cs typeface="Palatino Linotype"/>
            </a:endParaRPr>
          </a:p>
        </p:txBody>
      </p:sp>
    </p:spTree>
    <p:extLst>
      <p:ext uri="{BB962C8B-B14F-4D97-AF65-F5344CB8AC3E}">
        <p14:creationId xmlns:p14="http://schemas.microsoft.com/office/powerpoint/2010/main" val="371260762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78</a:t>
            </a:fld>
            <a:endParaRPr lang="en-US"/>
          </a:p>
        </p:txBody>
      </p:sp>
      <p:sp>
        <p:nvSpPr>
          <p:cNvPr id="7" name="object 2">
            <a:extLst>
              <a:ext uri="{FF2B5EF4-FFF2-40B4-BE49-F238E27FC236}">
                <a16:creationId xmlns:a16="http://schemas.microsoft.com/office/drawing/2014/main" id="{2BE4E622-5B02-A0F7-F3BE-7F2D130E442B}"/>
              </a:ext>
            </a:extLst>
          </p:cNvPr>
          <p:cNvSpPr txBox="1">
            <a:spLocks/>
          </p:cNvSpPr>
          <p:nvPr/>
        </p:nvSpPr>
        <p:spPr>
          <a:xfrm>
            <a:off x="707390" y="524763"/>
            <a:ext cx="7729219" cy="63500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3600" b="1" i="0" u="none" strike="noStrike" kern="0" cap="none" spc="0" normalizeH="0" baseline="0" noProof="0">
                <a:ln>
                  <a:noFill/>
                </a:ln>
                <a:solidFill>
                  <a:sysClr val="windowText" lastClr="000000"/>
                </a:solidFill>
                <a:effectLst/>
                <a:uLnTx/>
                <a:uFillTx/>
                <a:latin typeface="Palatino Linotype"/>
                <a:ea typeface="+mj-ea"/>
              </a:rPr>
              <a:t>Register</a:t>
            </a:r>
            <a:r>
              <a:rPr kumimoji="0" lang="en-US" sz="3600" b="1" i="0" u="none" strike="noStrike" kern="0" cap="none" spc="-90" normalizeH="0" baseline="0" noProof="0">
                <a:ln>
                  <a:noFill/>
                </a:ln>
                <a:solidFill>
                  <a:sysClr val="windowText" lastClr="000000"/>
                </a:solidFill>
                <a:effectLst/>
                <a:uLnTx/>
                <a:uFillTx/>
                <a:latin typeface="Palatino Linotype"/>
                <a:ea typeface="+mj-ea"/>
              </a:rPr>
              <a:t> </a:t>
            </a:r>
            <a:r>
              <a:rPr kumimoji="0" lang="en-US" sz="3600" b="1" i="0" u="none" strike="noStrike" kern="0" cap="none" spc="0" normalizeH="0" baseline="0" noProof="0">
                <a:ln>
                  <a:noFill/>
                </a:ln>
                <a:solidFill>
                  <a:sysClr val="windowText" lastClr="000000"/>
                </a:solidFill>
                <a:effectLst/>
                <a:uLnTx/>
                <a:uFillTx/>
                <a:latin typeface="Palatino Linotype"/>
                <a:ea typeface="+mj-ea"/>
              </a:rPr>
              <a:t>Allocation</a:t>
            </a:r>
            <a:r>
              <a:rPr kumimoji="0" lang="en-US" sz="3600" b="1" i="0" u="none" strike="noStrike" kern="0" cap="none" spc="-85" normalizeH="0" baseline="0" noProof="0">
                <a:ln>
                  <a:noFill/>
                </a:ln>
                <a:solidFill>
                  <a:sysClr val="windowText" lastClr="000000"/>
                </a:solidFill>
                <a:effectLst/>
                <a:uLnTx/>
                <a:uFillTx/>
                <a:latin typeface="Palatino Linotype"/>
                <a:ea typeface="+mj-ea"/>
              </a:rPr>
              <a:t> </a:t>
            </a:r>
            <a:r>
              <a:rPr kumimoji="0" lang="en-US" sz="3600" b="1" i="0" u="none" strike="noStrike" kern="0" cap="none" spc="0" normalizeH="0" baseline="0" noProof="0">
                <a:ln>
                  <a:noFill/>
                </a:ln>
                <a:solidFill>
                  <a:sysClr val="windowText" lastClr="000000"/>
                </a:solidFill>
                <a:effectLst/>
                <a:uLnTx/>
                <a:uFillTx/>
                <a:latin typeface="Palatino Linotype"/>
                <a:ea typeface="+mj-ea"/>
              </a:rPr>
              <a:t>and</a:t>
            </a:r>
            <a:r>
              <a:rPr kumimoji="0" lang="en-US" sz="3600" b="1" i="0" u="none" strike="noStrike" kern="0" cap="none" spc="-85" normalizeH="0" baseline="0" noProof="0">
                <a:ln>
                  <a:noFill/>
                </a:ln>
                <a:solidFill>
                  <a:sysClr val="windowText" lastClr="000000"/>
                </a:solidFill>
                <a:effectLst/>
                <a:uLnTx/>
                <a:uFillTx/>
                <a:latin typeface="Palatino Linotype"/>
                <a:ea typeface="+mj-ea"/>
              </a:rPr>
              <a:t> </a:t>
            </a:r>
            <a:r>
              <a:rPr kumimoji="0" lang="en-US" sz="3600" b="1" i="0" u="none" strike="noStrike" kern="0" cap="none" spc="-10" normalizeH="0" baseline="0" noProof="0">
                <a:ln>
                  <a:noFill/>
                </a:ln>
                <a:solidFill>
                  <a:sysClr val="windowText" lastClr="000000"/>
                </a:solidFill>
                <a:effectLst/>
                <a:uLnTx/>
                <a:uFillTx/>
                <a:latin typeface="Palatino Linotype"/>
                <a:ea typeface="+mj-ea"/>
              </a:rPr>
              <a:t>Assignment</a:t>
            </a:r>
            <a:endParaRPr kumimoji="0" lang="en-US" sz="3600" b="1" i="0" u="none" strike="noStrike" kern="0" cap="none" spc="0" normalizeH="0" baseline="0" noProof="0">
              <a:ln>
                <a:noFill/>
              </a:ln>
              <a:solidFill>
                <a:sysClr val="windowText" lastClr="000000"/>
              </a:solidFill>
              <a:effectLst/>
              <a:uLnTx/>
              <a:uFillTx/>
              <a:latin typeface="Palatino Linotype"/>
              <a:ea typeface="+mj-ea"/>
            </a:endParaRPr>
          </a:p>
        </p:txBody>
      </p:sp>
      <p:sp>
        <p:nvSpPr>
          <p:cNvPr id="8" name="object 3">
            <a:extLst>
              <a:ext uri="{FF2B5EF4-FFF2-40B4-BE49-F238E27FC236}">
                <a16:creationId xmlns:a16="http://schemas.microsoft.com/office/drawing/2014/main" id="{505A5794-CA97-ABB6-3005-6F9FA7399015}"/>
              </a:ext>
            </a:extLst>
          </p:cNvPr>
          <p:cNvSpPr txBox="1"/>
          <p:nvPr/>
        </p:nvSpPr>
        <p:spPr>
          <a:xfrm>
            <a:off x="707390" y="1610867"/>
            <a:ext cx="7663815" cy="4085590"/>
          </a:xfrm>
          <a:prstGeom prst="rect">
            <a:avLst/>
          </a:prstGeom>
        </p:spPr>
        <p:txBody>
          <a:bodyPr vert="horz" wrap="square" lIns="0" tIns="12700" rIns="0" bIns="0" rtlCol="0">
            <a:spAutoFit/>
          </a:bodyPr>
          <a:lstStyle/>
          <a:p>
            <a:pPr marL="242570" marR="5080" indent="-230504">
              <a:lnSpc>
                <a:spcPct val="115999"/>
              </a:lnSpc>
              <a:spcBef>
                <a:spcPts val="100"/>
              </a:spcBef>
              <a:buFont typeface="Arial MT"/>
              <a:buChar char="•"/>
              <a:tabLst>
                <a:tab pos="242570" algn="l"/>
              </a:tabLst>
            </a:pPr>
            <a:r>
              <a:rPr sz="2000" dirty="0">
                <a:solidFill>
                  <a:sysClr val="windowText" lastClr="000000"/>
                </a:solidFill>
                <a:latin typeface="Palatino Linotype"/>
                <a:cs typeface="Palatino Linotype"/>
              </a:rPr>
              <a:t>Instructions</a:t>
            </a:r>
            <a:r>
              <a:rPr sz="2000" spc="-4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involving</a:t>
            </a:r>
            <a:r>
              <a:rPr sz="2000" spc="-4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only</a:t>
            </a:r>
            <a:r>
              <a:rPr sz="2000" spc="-4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register</a:t>
            </a:r>
            <a:r>
              <a:rPr sz="2000" spc="-4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operands</a:t>
            </a:r>
            <a:r>
              <a:rPr sz="2000" spc="-4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are</a:t>
            </a:r>
            <a:r>
              <a:rPr sz="2000" spc="-4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faster</a:t>
            </a:r>
            <a:r>
              <a:rPr sz="2000" spc="-5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than</a:t>
            </a:r>
            <a:r>
              <a:rPr sz="2000" spc="-45" dirty="0">
                <a:solidFill>
                  <a:sysClr val="windowText" lastClr="000000"/>
                </a:solidFill>
                <a:latin typeface="Palatino Linotype"/>
                <a:cs typeface="Palatino Linotype"/>
              </a:rPr>
              <a:t> </a:t>
            </a:r>
            <a:r>
              <a:rPr sz="2000" spc="-10" dirty="0">
                <a:solidFill>
                  <a:sysClr val="windowText" lastClr="000000"/>
                </a:solidFill>
                <a:latin typeface="Palatino Linotype"/>
                <a:cs typeface="Palatino Linotype"/>
              </a:rPr>
              <a:t>those </a:t>
            </a:r>
            <a:r>
              <a:rPr sz="2000" dirty="0">
                <a:solidFill>
                  <a:sysClr val="windowText" lastClr="000000"/>
                </a:solidFill>
                <a:latin typeface="Palatino Linotype"/>
                <a:cs typeface="Palatino Linotype"/>
              </a:rPr>
              <a:t>involving</a:t>
            </a:r>
            <a:r>
              <a:rPr sz="2000" spc="-6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memory</a:t>
            </a:r>
            <a:r>
              <a:rPr sz="2000" spc="-55" dirty="0">
                <a:solidFill>
                  <a:sysClr val="windowText" lastClr="000000"/>
                </a:solidFill>
                <a:latin typeface="Palatino Linotype"/>
                <a:cs typeface="Palatino Linotype"/>
              </a:rPr>
              <a:t> </a:t>
            </a:r>
            <a:r>
              <a:rPr sz="2000" spc="-10" dirty="0">
                <a:solidFill>
                  <a:sysClr val="windowText" lastClr="000000"/>
                </a:solidFill>
                <a:latin typeface="Palatino Linotype"/>
                <a:cs typeface="Palatino Linotype"/>
              </a:rPr>
              <a:t>operands</a:t>
            </a:r>
            <a:endParaRPr sz="2000">
              <a:solidFill>
                <a:sysClr val="windowText" lastClr="000000"/>
              </a:solidFill>
              <a:latin typeface="Palatino Linotype"/>
              <a:cs typeface="Palatino Linotype"/>
            </a:endParaRPr>
          </a:p>
          <a:p>
            <a:pPr marL="697865" lvl="1" indent="-227965">
              <a:spcBef>
                <a:spcPts val="1095"/>
              </a:spcBef>
              <a:buFont typeface="Wingdings"/>
              <a:buChar char=""/>
              <a:tabLst>
                <a:tab pos="697865" algn="l"/>
              </a:tabLst>
            </a:pPr>
            <a:r>
              <a:rPr sz="1600" dirty="0">
                <a:solidFill>
                  <a:sysClr val="windowText" lastClr="000000"/>
                </a:solidFill>
                <a:latin typeface="Palatino Linotype"/>
                <a:cs typeface="Palatino Linotype"/>
              </a:rPr>
              <a:t>Efficient</a:t>
            </a:r>
            <a:r>
              <a:rPr sz="1600" spc="-35"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utilization</a:t>
            </a:r>
            <a:r>
              <a:rPr sz="1600" spc="-30"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of</a:t>
            </a:r>
            <a:r>
              <a:rPr sz="1600" spc="-35"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registers</a:t>
            </a:r>
            <a:r>
              <a:rPr sz="1600" spc="-40"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is</a:t>
            </a:r>
            <a:r>
              <a:rPr sz="1600" spc="-40"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vitally</a:t>
            </a:r>
            <a:r>
              <a:rPr sz="1600" spc="-40"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important</a:t>
            </a:r>
            <a:r>
              <a:rPr sz="1600" spc="-30"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in</a:t>
            </a:r>
            <a:r>
              <a:rPr sz="1600" spc="-30"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generating</a:t>
            </a:r>
            <a:r>
              <a:rPr sz="1600" spc="-40"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good</a:t>
            </a:r>
            <a:r>
              <a:rPr sz="1600" spc="-40" dirty="0">
                <a:solidFill>
                  <a:sysClr val="windowText" lastClr="000000"/>
                </a:solidFill>
                <a:latin typeface="Palatino Linotype"/>
                <a:cs typeface="Palatino Linotype"/>
              </a:rPr>
              <a:t> </a:t>
            </a:r>
            <a:r>
              <a:rPr sz="1600" spc="-20" dirty="0">
                <a:solidFill>
                  <a:sysClr val="windowText" lastClr="000000"/>
                </a:solidFill>
                <a:latin typeface="Palatino Linotype"/>
                <a:cs typeface="Palatino Linotype"/>
              </a:rPr>
              <a:t>code</a:t>
            </a:r>
            <a:endParaRPr sz="1600">
              <a:solidFill>
                <a:sysClr val="windowText" lastClr="000000"/>
              </a:solidFill>
              <a:latin typeface="Palatino Linotype"/>
              <a:cs typeface="Palatino Linotype"/>
            </a:endParaRPr>
          </a:p>
          <a:p>
            <a:pPr marL="0" lvl="1">
              <a:spcBef>
                <a:spcPts val="1230"/>
              </a:spcBef>
              <a:buFont typeface="Wingdings"/>
              <a:buChar char=""/>
            </a:pPr>
            <a:endParaRPr sz="1600">
              <a:solidFill>
                <a:sysClr val="windowText" lastClr="000000"/>
              </a:solidFill>
              <a:latin typeface="Palatino Linotype"/>
              <a:cs typeface="Palatino Linotype"/>
            </a:endParaRPr>
          </a:p>
          <a:p>
            <a:pPr marL="242570" indent="-229870">
              <a:spcBef>
                <a:spcPts val="5"/>
              </a:spcBef>
              <a:buClr>
                <a:srgbClr val="000000"/>
              </a:buClr>
              <a:buFont typeface="Arial MT"/>
              <a:buChar char="•"/>
              <a:tabLst>
                <a:tab pos="242570" algn="l"/>
              </a:tabLst>
            </a:pPr>
            <a:r>
              <a:rPr sz="2000" dirty="0">
                <a:solidFill>
                  <a:srgbClr val="FF0000"/>
                </a:solidFill>
                <a:latin typeface="Palatino Linotype"/>
                <a:cs typeface="Palatino Linotype"/>
              </a:rPr>
              <a:t>Register</a:t>
            </a:r>
            <a:r>
              <a:rPr sz="2000" spc="-55" dirty="0">
                <a:solidFill>
                  <a:srgbClr val="FF0000"/>
                </a:solidFill>
                <a:latin typeface="Palatino Linotype"/>
                <a:cs typeface="Palatino Linotype"/>
              </a:rPr>
              <a:t> </a:t>
            </a:r>
            <a:r>
              <a:rPr sz="2000" dirty="0">
                <a:solidFill>
                  <a:srgbClr val="FF0000"/>
                </a:solidFill>
                <a:latin typeface="Palatino Linotype"/>
                <a:cs typeface="Palatino Linotype"/>
              </a:rPr>
              <a:t>allocation</a:t>
            </a:r>
            <a:r>
              <a:rPr sz="2000" spc="-50" dirty="0">
                <a:solidFill>
                  <a:srgbClr val="FF0000"/>
                </a:solidFill>
                <a:latin typeface="Palatino Linotype"/>
                <a:cs typeface="Palatino Linotype"/>
              </a:rPr>
              <a:t> </a:t>
            </a:r>
            <a:r>
              <a:rPr sz="2000" spc="-10" dirty="0">
                <a:solidFill>
                  <a:sysClr val="windowText" lastClr="000000"/>
                </a:solidFill>
                <a:latin typeface="Palatino Linotype"/>
                <a:cs typeface="Palatino Linotype"/>
              </a:rPr>
              <a:t>(</a:t>
            </a:r>
            <a:r>
              <a:rPr sz="2000" dirty="0">
                <a:solidFill>
                  <a:srgbClr val="FF0000"/>
                </a:solidFill>
                <a:latin typeface="SimSun"/>
                <a:cs typeface="SimSun"/>
              </a:rPr>
              <a:t>寄存器分配</a:t>
            </a:r>
            <a:r>
              <a:rPr sz="2000" spc="-50" dirty="0">
                <a:solidFill>
                  <a:sysClr val="windowText" lastClr="000000"/>
                </a:solidFill>
                <a:latin typeface="Palatino Linotype"/>
                <a:cs typeface="Palatino Linotype"/>
              </a:rPr>
              <a:t>)</a:t>
            </a:r>
            <a:endParaRPr sz="2000">
              <a:solidFill>
                <a:sysClr val="windowText" lastClr="000000"/>
              </a:solidFill>
              <a:latin typeface="Palatino Linotype"/>
              <a:cs typeface="Palatino Linotype"/>
            </a:endParaRPr>
          </a:p>
          <a:p>
            <a:pPr marL="697865" lvl="1" indent="-227965">
              <a:spcBef>
                <a:spcPts val="1095"/>
              </a:spcBef>
              <a:buFont typeface="Wingdings"/>
              <a:buChar char=""/>
              <a:tabLst>
                <a:tab pos="697865" algn="l"/>
              </a:tabLst>
            </a:pPr>
            <a:r>
              <a:rPr sz="1600" dirty="0">
                <a:solidFill>
                  <a:sysClr val="windowText" lastClr="000000"/>
                </a:solidFill>
                <a:latin typeface="Palatino Linotype"/>
                <a:cs typeface="Palatino Linotype"/>
              </a:rPr>
              <a:t>Decide</a:t>
            </a:r>
            <a:r>
              <a:rPr sz="1600" spc="-35"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at</a:t>
            </a:r>
            <a:r>
              <a:rPr sz="1600" spc="-25"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each</a:t>
            </a:r>
            <a:r>
              <a:rPr sz="1600" spc="-20"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point</a:t>
            </a:r>
            <a:r>
              <a:rPr sz="1600" spc="-25"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of</a:t>
            </a:r>
            <a:r>
              <a:rPr sz="1600" spc="-30"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a</a:t>
            </a:r>
            <a:r>
              <a:rPr sz="1600" spc="-25"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program</a:t>
            </a:r>
            <a:r>
              <a:rPr sz="1600" spc="-25"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what</a:t>
            </a:r>
            <a:r>
              <a:rPr sz="1600" spc="-25"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values</a:t>
            </a:r>
            <a:r>
              <a:rPr sz="1600" spc="-30"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should</a:t>
            </a:r>
            <a:r>
              <a:rPr sz="1600" spc="-35"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reside</a:t>
            </a:r>
            <a:r>
              <a:rPr sz="1600" spc="-30"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in</a:t>
            </a:r>
            <a:r>
              <a:rPr sz="1600" spc="-20" dirty="0">
                <a:solidFill>
                  <a:sysClr val="windowText" lastClr="000000"/>
                </a:solidFill>
                <a:latin typeface="Palatino Linotype"/>
                <a:cs typeface="Palatino Linotype"/>
              </a:rPr>
              <a:t> </a:t>
            </a:r>
            <a:r>
              <a:rPr sz="1600" spc="-10" dirty="0">
                <a:solidFill>
                  <a:sysClr val="windowText" lastClr="000000"/>
                </a:solidFill>
                <a:latin typeface="Palatino Linotype"/>
                <a:cs typeface="Palatino Linotype"/>
              </a:rPr>
              <a:t>registers</a:t>
            </a:r>
            <a:endParaRPr sz="1600">
              <a:solidFill>
                <a:sysClr val="windowText" lastClr="000000"/>
              </a:solidFill>
              <a:latin typeface="Palatino Linotype"/>
              <a:cs typeface="Palatino Linotype"/>
            </a:endParaRPr>
          </a:p>
          <a:p>
            <a:pPr marL="0" lvl="1">
              <a:spcBef>
                <a:spcPts val="1230"/>
              </a:spcBef>
              <a:buFont typeface="Wingdings"/>
              <a:buChar char=""/>
            </a:pPr>
            <a:endParaRPr sz="1600">
              <a:solidFill>
                <a:sysClr val="windowText" lastClr="000000"/>
              </a:solidFill>
              <a:latin typeface="Palatino Linotype"/>
              <a:cs typeface="Palatino Linotype"/>
            </a:endParaRPr>
          </a:p>
          <a:p>
            <a:pPr marL="242570" indent="-229870">
              <a:buClr>
                <a:srgbClr val="000000"/>
              </a:buClr>
              <a:buFont typeface="Arial MT"/>
              <a:buChar char="•"/>
              <a:tabLst>
                <a:tab pos="242570" algn="l"/>
              </a:tabLst>
            </a:pPr>
            <a:r>
              <a:rPr sz="2000" dirty="0">
                <a:solidFill>
                  <a:srgbClr val="FF0000"/>
                </a:solidFill>
                <a:latin typeface="Palatino Linotype"/>
                <a:cs typeface="Palatino Linotype"/>
              </a:rPr>
              <a:t>Register</a:t>
            </a:r>
            <a:r>
              <a:rPr sz="2000" spc="-65" dirty="0">
                <a:solidFill>
                  <a:srgbClr val="FF0000"/>
                </a:solidFill>
                <a:latin typeface="Palatino Linotype"/>
                <a:cs typeface="Palatino Linotype"/>
              </a:rPr>
              <a:t> </a:t>
            </a:r>
            <a:r>
              <a:rPr sz="2000" dirty="0">
                <a:solidFill>
                  <a:srgbClr val="FF0000"/>
                </a:solidFill>
                <a:latin typeface="Palatino Linotype"/>
                <a:cs typeface="Palatino Linotype"/>
              </a:rPr>
              <a:t>assignment</a:t>
            </a:r>
            <a:r>
              <a:rPr sz="2000" spc="-65" dirty="0">
                <a:solidFill>
                  <a:srgbClr val="FF0000"/>
                </a:solidFill>
                <a:latin typeface="Palatino Linotype"/>
                <a:cs typeface="Palatino Linotype"/>
              </a:rPr>
              <a:t> </a:t>
            </a:r>
            <a:r>
              <a:rPr sz="2000" spc="-10" dirty="0">
                <a:solidFill>
                  <a:sysClr val="windowText" lastClr="000000"/>
                </a:solidFill>
                <a:latin typeface="Palatino Linotype"/>
                <a:cs typeface="Palatino Linotype"/>
              </a:rPr>
              <a:t>(</a:t>
            </a:r>
            <a:r>
              <a:rPr sz="2000" dirty="0">
                <a:solidFill>
                  <a:srgbClr val="FF0000"/>
                </a:solidFill>
                <a:latin typeface="SimSun"/>
                <a:cs typeface="SimSun"/>
              </a:rPr>
              <a:t>寄存器指派</a:t>
            </a:r>
            <a:r>
              <a:rPr sz="2000" spc="-50" dirty="0">
                <a:solidFill>
                  <a:sysClr val="windowText" lastClr="000000"/>
                </a:solidFill>
                <a:latin typeface="Palatino Linotype"/>
                <a:cs typeface="Palatino Linotype"/>
              </a:rPr>
              <a:t>)</a:t>
            </a:r>
            <a:endParaRPr sz="2000">
              <a:solidFill>
                <a:sysClr val="windowText" lastClr="000000"/>
              </a:solidFill>
              <a:latin typeface="Palatino Linotype"/>
              <a:cs typeface="Palatino Linotype"/>
            </a:endParaRPr>
          </a:p>
          <a:p>
            <a:pPr marL="697865" lvl="1" indent="-227965">
              <a:spcBef>
                <a:spcPts val="1100"/>
              </a:spcBef>
              <a:buFont typeface="Wingdings"/>
              <a:buChar char=""/>
              <a:tabLst>
                <a:tab pos="697865" algn="l"/>
              </a:tabLst>
            </a:pPr>
            <a:r>
              <a:rPr sz="1600" dirty="0">
                <a:solidFill>
                  <a:sysClr val="windowText" lastClr="000000"/>
                </a:solidFill>
                <a:latin typeface="Palatino Linotype"/>
                <a:cs typeface="Palatino Linotype"/>
              </a:rPr>
              <a:t>Decide</a:t>
            </a:r>
            <a:r>
              <a:rPr sz="1600" spc="-35"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at</a:t>
            </a:r>
            <a:r>
              <a:rPr sz="1600" spc="-25"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each</a:t>
            </a:r>
            <a:r>
              <a:rPr sz="1600" spc="-25"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point</a:t>
            </a:r>
            <a:r>
              <a:rPr sz="1600" spc="-25"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of</a:t>
            </a:r>
            <a:r>
              <a:rPr sz="1600" spc="-30"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a</a:t>
            </a:r>
            <a:r>
              <a:rPr sz="1600" spc="-25"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program</a:t>
            </a:r>
            <a:r>
              <a:rPr sz="1600" spc="-30"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in</a:t>
            </a:r>
            <a:r>
              <a:rPr sz="1600" spc="-20"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which</a:t>
            </a:r>
            <a:r>
              <a:rPr sz="1600" spc="-25"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register</a:t>
            </a:r>
            <a:r>
              <a:rPr sz="1600" spc="-25"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each</a:t>
            </a:r>
            <a:r>
              <a:rPr sz="1600" spc="-20"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value</a:t>
            </a:r>
            <a:r>
              <a:rPr sz="1600" spc="-35"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should</a:t>
            </a:r>
            <a:r>
              <a:rPr sz="1600" spc="-30" dirty="0">
                <a:solidFill>
                  <a:sysClr val="windowText" lastClr="000000"/>
                </a:solidFill>
                <a:latin typeface="Palatino Linotype"/>
                <a:cs typeface="Palatino Linotype"/>
              </a:rPr>
              <a:t> </a:t>
            </a:r>
            <a:r>
              <a:rPr sz="1600" spc="-10" dirty="0">
                <a:solidFill>
                  <a:sysClr val="windowText" lastClr="000000"/>
                </a:solidFill>
                <a:latin typeface="Palatino Linotype"/>
                <a:cs typeface="Palatino Linotype"/>
              </a:rPr>
              <a:t>reside</a:t>
            </a:r>
            <a:endParaRPr sz="1600">
              <a:solidFill>
                <a:sysClr val="windowText" lastClr="000000"/>
              </a:solidFill>
              <a:latin typeface="Palatino Linotype"/>
              <a:cs typeface="Palatino Linotype"/>
            </a:endParaRPr>
          </a:p>
          <a:p>
            <a:pPr marL="0" lvl="1">
              <a:spcBef>
                <a:spcPts val="1205"/>
              </a:spcBef>
              <a:buFont typeface="Wingdings"/>
              <a:buChar char=""/>
            </a:pPr>
            <a:endParaRPr sz="1600">
              <a:solidFill>
                <a:sysClr val="windowText" lastClr="000000"/>
              </a:solidFill>
              <a:latin typeface="Palatino Linotype"/>
              <a:cs typeface="Palatino Linotype"/>
            </a:endParaRPr>
          </a:p>
          <a:p>
            <a:pPr marL="242570" indent="-229870">
              <a:spcBef>
                <a:spcPts val="5"/>
              </a:spcBef>
              <a:buClr>
                <a:srgbClr val="000000"/>
              </a:buClr>
              <a:buFont typeface="Arial MT"/>
              <a:buChar char="•"/>
              <a:tabLst>
                <a:tab pos="242570" algn="l"/>
              </a:tabLst>
            </a:pPr>
            <a:r>
              <a:rPr sz="2000" dirty="0">
                <a:solidFill>
                  <a:srgbClr val="0432FF"/>
                </a:solidFill>
                <a:latin typeface="Palatino Linotype"/>
                <a:cs typeface="Palatino Linotype"/>
              </a:rPr>
              <a:t>There</a:t>
            </a:r>
            <a:r>
              <a:rPr sz="2000" spc="-35" dirty="0">
                <a:solidFill>
                  <a:srgbClr val="0432FF"/>
                </a:solidFill>
                <a:latin typeface="Palatino Linotype"/>
                <a:cs typeface="Palatino Linotype"/>
              </a:rPr>
              <a:t> </a:t>
            </a:r>
            <a:r>
              <a:rPr sz="2000" dirty="0">
                <a:solidFill>
                  <a:srgbClr val="0432FF"/>
                </a:solidFill>
                <a:latin typeface="Palatino Linotype"/>
                <a:cs typeface="Palatino Linotype"/>
              </a:rPr>
              <a:t>exist</a:t>
            </a:r>
            <a:r>
              <a:rPr sz="2000" spc="-40" dirty="0">
                <a:solidFill>
                  <a:srgbClr val="0432FF"/>
                </a:solidFill>
                <a:latin typeface="Palatino Linotype"/>
                <a:cs typeface="Palatino Linotype"/>
              </a:rPr>
              <a:t> </a:t>
            </a:r>
            <a:r>
              <a:rPr sz="2000" dirty="0">
                <a:solidFill>
                  <a:srgbClr val="0432FF"/>
                </a:solidFill>
                <a:latin typeface="Palatino Linotype"/>
                <a:cs typeface="Palatino Linotype"/>
              </a:rPr>
              <a:t>many</a:t>
            </a:r>
            <a:r>
              <a:rPr sz="2000" spc="-35" dirty="0">
                <a:solidFill>
                  <a:srgbClr val="0432FF"/>
                </a:solidFill>
                <a:latin typeface="Palatino Linotype"/>
                <a:cs typeface="Palatino Linotype"/>
              </a:rPr>
              <a:t> </a:t>
            </a:r>
            <a:r>
              <a:rPr sz="2000" dirty="0">
                <a:solidFill>
                  <a:srgbClr val="0432FF"/>
                </a:solidFill>
                <a:latin typeface="Palatino Linotype"/>
                <a:cs typeface="Palatino Linotype"/>
              </a:rPr>
              <a:t>strategies</a:t>
            </a:r>
            <a:r>
              <a:rPr sz="2000" spc="-35" dirty="0">
                <a:solidFill>
                  <a:srgbClr val="0432FF"/>
                </a:solidFill>
                <a:latin typeface="Palatino Linotype"/>
                <a:cs typeface="Palatino Linotype"/>
              </a:rPr>
              <a:t> </a:t>
            </a:r>
            <a:r>
              <a:rPr sz="2000" dirty="0">
                <a:solidFill>
                  <a:sysClr val="windowText" lastClr="000000"/>
                </a:solidFill>
                <a:latin typeface="Palatino Linotype"/>
                <a:cs typeface="Palatino Linotype"/>
              </a:rPr>
              <a:t>for</a:t>
            </a:r>
            <a:r>
              <a:rPr sz="2000" spc="-4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register</a:t>
            </a:r>
            <a:r>
              <a:rPr sz="2000" spc="-3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allocation</a:t>
            </a:r>
            <a:r>
              <a:rPr sz="2000" spc="-4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and</a:t>
            </a:r>
            <a:r>
              <a:rPr sz="2000" spc="-35" dirty="0">
                <a:solidFill>
                  <a:sysClr val="windowText" lastClr="000000"/>
                </a:solidFill>
                <a:latin typeface="Palatino Linotype"/>
                <a:cs typeface="Palatino Linotype"/>
              </a:rPr>
              <a:t> </a:t>
            </a:r>
            <a:r>
              <a:rPr sz="2000" spc="-10" dirty="0">
                <a:solidFill>
                  <a:sysClr val="windowText" lastClr="000000"/>
                </a:solidFill>
                <a:latin typeface="Palatino Linotype"/>
                <a:cs typeface="Palatino Linotype"/>
              </a:rPr>
              <a:t>assignment</a:t>
            </a:r>
            <a:endParaRPr sz="2000">
              <a:solidFill>
                <a:sysClr val="windowText" lastClr="000000"/>
              </a:solidFill>
              <a:latin typeface="Palatino Linotype"/>
              <a:cs typeface="Palatino Linotype"/>
            </a:endParaRPr>
          </a:p>
        </p:txBody>
      </p:sp>
    </p:spTree>
    <p:extLst>
      <p:ext uri="{BB962C8B-B14F-4D97-AF65-F5344CB8AC3E}">
        <p14:creationId xmlns:p14="http://schemas.microsoft.com/office/powerpoint/2010/main" val="3998139934"/>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79</a:t>
            </a:fld>
            <a:endParaRPr lang="en-US"/>
          </a:p>
        </p:txBody>
      </p:sp>
      <p:sp>
        <p:nvSpPr>
          <p:cNvPr id="7" name="object 2">
            <a:extLst>
              <a:ext uri="{FF2B5EF4-FFF2-40B4-BE49-F238E27FC236}">
                <a16:creationId xmlns:a16="http://schemas.microsoft.com/office/drawing/2014/main" id="{05F333F6-6D34-1C07-8DA1-C0CB6D7CBA11}"/>
              </a:ext>
            </a:extLst>
          </p:cNvPr>
          <p:cNvSpPr txBox="1">
            <a:spLocks/>
          </p:cNvSpPr>
          <p:nvPr/>
        </p:nvSpPr>
        <p:spPr>
          <a:xfrm>
            <a:off x="707390" y="524763"/>
            <a:ext cx="7729219" cy="63500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4000" b="1" i="0" u="none" strike="noStrike" kern="0" cap="none" spc="0" normalizeH="0" baseline="0" noProof="0">
                <a:ln>
                  <a:noFill/>
                </a:ln>
                <a:solidFill>
                  <a:sysClr val="windowText" lastClr="000000"/>
                </a:solidFill>
                <a:effectLst/>
                <a:uLnTx/>
                <a:uFillTx/>
                <a:latin typeface="Palatino Linotype"/>
                <a:ea typeface="+mj-ea"/>
              </a:rPr>
              <a:t>The</a:t>
            </a:r>
            <a:r>
              <a:rPr kumimoji="0" lang="en-US" sz="4000" b="1" i="0" u="none" strike="noStrike" kern="0" cap="none" spc="-40" normalizeH="0" baseline="0" noProof="0">
                <a:ln>
                  <a:noFill/>
                </a:ln>
                <a:solidFill>
                  <a:sysClr val="windowText" lastClr="000000"/>
                </a:solidFill>
                <a:effectLst/>
                <a:uLnTx/>
                <a:uFillTx/>
                <a:latin typeface="Palatino Linotype"/>
                <a:ea typeface="+mj-ea"/>
              </a:rPr>
              <a:t> </a:t>
            </a:r>
            <a:r>
              <a:rPr kumimoji="0" lang="en-US" sz="4000" b="1" i="0" u="none" strike="noStrike" kern="0" cap="none" spc="0" normalizeH="0" baseline="0" noProof="0">
                <a:ln>
                  <a:noFill/>
                </a:ln>
                <a:solidFill>
                  <a:sysClr val="windowText" lastClr="000000"/>
                </a:solidFill>
                <a:effectLst/>
                <a:uLnTx/>
                <a:uFillTx/>
                <a:latin typeface="Palatino Linotype"/>
                <a:ea typeface="+mj-ea"/>
              </a:rPr>
              <a:t>Simple</a:t>
            </a:r>
            <a:r>
              <a:rPr kumimoji="0" lang="en-US" sz="4000" b="1" i="0" u="none" strike="noStrike" kern="0" cap="none" spc="-30" normalizeH="0" baseline="0" noProof="0">
                <a:ln>
                  <a:noFill/>
                </a:ln>
                <a:solidFill>
                  <a:sysClr val="windowText" lastClr="000000"/>
                </a:solidFill>
                <a:effectLst/>
                <a:uLnTx/>
                <a:uFillTx/>
                <a:latin typeface="Palatino Linotype"/>
                <a:ea typeface="+mj-ea"/>
              </a:rPr>
              <a:t> </a:t>
            </a:r>
            <a:r>
              <a:rPr kumimoji="0" lang="en-US" sz="4000" b="1" i="0" u="none" strike="noStrike" kern="0" cap="none" spc="-10" normalizeH="0" baseline="0" noProof="0">
                <a:ln>
                  <a:noFill/>
                </a:ln>
                <a:solidFill>
                  <a:sysClr val="windowText" lastClr="000000"/>
                </a:solidFill>
                <a:effectLst/>
                <a:uLnTx/>
                <a:uFillTx/>
                <a:latin typeface="Palatino Linotype"/>
                <a:ea typeface="+mj-ea"/>
              </a:rPr>
              <a:t>Strategy</a:t>
            </a:r>
            <a:endParaRPr kumimoji="0" lang="en-US" sz="4000" b="1" i="0" u="none" strike="noStrike" kern="0" cap="none" spc="-10" normalizeH="0" baseline="0" noProof="0" dirty="0">
              <a:ln>
                <a:noFill/>
              </a:ln>
              <a:solidFill>
                <a:sysClr val="windowText" lastClr="000000"/>
              </a:solidFill>
              <a:effectLst/>
              <a:uLnTx/>
              <a:uFillTx/>
              <a:latin typeface="Palatino Linotype"/>
              <a:ea typeface="+mj-ea"/>
            </a:endParaRPr>
          </a:p>
        </p:txBody>
      </p:sp>
      <p:sp>
        <p:nvSpPr>
          <p:cNvPr id="8" name="object 3">
            <a:extLst>
              <a:ext uri="{FF2B5EF4-FFF2-40B4-BE49-F238E27FC236}">
                <a16:creationId xmlns:a16="http://schemas.microsoft.com/office/drawing/2014/main" id="{89FC5203-185E-53CE-E557-612207C0F719}"/>
              </a:ext>
            </a:extLst>
          </p:cNvPr>
          <p:cNvSpPr txBox="1"/>
          <p:nvPr/>
        </p:nvSpPr>
        <p:spPr>
          <a:xfrm>
            <a:off x="707388" y="1500885"/>
            <a:ext cx="7860030" cy="4476115"/>
          </a:xfrm>
          <a:prstGeom prst="rect">
            <a:avLst/>
          </a:prstGeom>
        </p:spPr>
        <p:txBody>
          <a:bodyPr vert="horz" wrap="square" lIns="0" tIns="171450" rIns="0" bIns="0" rtlCol="0">
            <a:spAutoFit/>
          </a:bodyPr>
          <a:lstStyle/>
          <a:p>
            <a:pPr marL="242570" indent="-229870">
              <a:spcBef>
                <a:spcPts val="1350"/>
              </a:spcBef>
              <a:buClr>
                <a:srgbClr val="000000"/>
              </a:buClr>
              <a:buFont typeface="Arial MT"/>
              <a:buChar char="•"/>
              <a:tabLst>
                <a:tab pos="242570" algn="l"/>
              </a:tabLst>
            </a:pPr>
            <a:r>
              <a:rPr sz="2000" dirty="0">
                <a:solidFill>
                  <a:srgbClr val="FF0000"/>
                </a:solidFill>
                <a:latin typeface="Palatino Linotype"/>
                <a:cs typeface="Palatino Linotype"/>
              </a:rPr>
              <a:t>Assign</a:t>
            </a:r>
            <a:r>
              <a:rPr sz="2000" spc="-50" dirty="0">
                <a:solidFill>
                  <a:srgbClr val="FF0000"/>
                </a:solidFill>
                <a:latin typeface="Palatino Linotype"/>
                <a:cs typeface="Palatino Linotype"/>
              </a:rPr>
              <a:t> </a:t>
            </a:r>
            <a:r>
              <a:rPr sz="2000" dirty="0">
                <a:solidFill>
                  <a:srgbClr val="FF0000"/>
                </a:solidFill>
                <a:latin typeface="Palatino Linotype"/>
                <a:cs typeface="Palatino Linotype"/>
              </a:rPr>
              <a:t>specific</a:t>
            </a:r>
            <a:r>
              <a:rPr sz="2000" spc="-50" dirty="0">
                <a:solidFill>
                  <a:srgbClr val="FF0000"/>
                </a:solidFill>
                <a:latin typeface="Palatino Linotype"/>
                <a:cs typeface="Palatino Linotype"/>
              </a:rPr>
              <a:t> </a:t>
            </a:r>
            <a:r>
              <a:rPr sz="2000" dirty="0">
                <a:solidFill>
                  <a:srgbClr val="FF0000"/>
                </a:solidFill>
                <a:latin typeface="Palatino Linotype"/>
                <a:cs typeface="Palatino Linotype"/>
              </a:rPr>
              <a:t>values</a:t>
            </a:r>
            <a:r>
              <a:rPr sz="2000" spc="-40" dirty="0">
                <a:solidFill>
                  <a:srgbClr val="FF0000"/>
                </a:solidFill>
                <a:latin typeface="Palatino Linotype"/>
                <a:cs typeface="Palatino Linotype"/>
              </a:rPr>
              <a:t> </a:t>
            </a:r>
            <a:r>
              <a:rPr sz="2000" dirty="0">
                <a:solidFill>
                  <a:srgbClr val="FF0000"/>
                </a:solidFill>
                <a:latin typeface="Palatino Linotype"/>
                <a:cs typeface="Palatino Linotype"/>
              </a:rPr>
              <a:t>to</a:t>
            </a:r>
            <a:r>
              <a:rPr sz="2000" spc="-50" dirty="0">
                <a:solidFill>
                  <a:srgbClr val="FF0000"/>
                </a:solidFill>
                <a:latin typeface="Palatino Linotype"/>
                <a:cs typeface="Palatino Linotype"/>
              </a:rPr>
              <a:t> </a:t>
            </a:r>
            <a:r>
              <a:rPr sz="2000" dirty="0">
                <a:solidFill>
                  <a:srgbClr val="FF0000"/>
                </a:solidFill>
                <a:latin typeface="Palatino Linotype"/>
                <a:cs typeface="Palatino Linotype"/>
              </a:rPr>
              <a:t>certain</a:t>
            </a:r>
            <a:r>
              <a:rPr sz="2000" spc="-45" dirty="0">
                <a:solidFill>
                  <a:srgbClr val="FF0000"/>
                </a:solidFill>
                <a:latin typeface="Palatino Linotype"/>
                <a:cs typeface="Palatino Linotype"/>
              </a:rPr>
              <a:t> </a:t>
            </a:r>
            <a:r>
              <a:rPr sz="2000" spc="-10" dirty="0">
                <a:solidFill>
                  <a:srgbClr val="FF0000"/>
                </a:solidFill>
                <a:latin typeface="Palatino Linotype"/>
                <a:cs typeface="Palatino Linotype"/>
              </a:rPr>
              <a:t>registers</a:t>
            </a:r>
            <a:endParaRPr sz="2000">
              <a:solidFill>
                <a:sysClr val="windowText" lastClr="000000"/>
              </a:solidFill>
              <a:latin typeface="Palatino Linotype"/>
              <a:cs typeface="Palatino Linotype"/>
            </a:endParaRPr>
          </a:p>
          <a:p>
            <a:pPr marL="697865" lvl="1" indent="-227965">
              <a:spcBef>
                <a:spcPts val="1000"/>
              </a:spcBef>
              <a:buFont typeface="Wingdings"/>
              <a:buChar char=""/>
              <a:tabLst>
                <a:tab pos="697865" algn="l"/>
              </a:tabLst>
            </a:pPr>
            <a:r>
              <a:rPr sz="1600" dirty="0">
                <a:solidFill>
                  <a:sysClr val="windowText" lastClr="000000"/>
                </a:solidFill>
                <a:latin typeface="Palatino Linotype"/>
                <a:cs typeface="Palatino Linotype"/>
              </a:rPr>
              <a:t>Assign</a:t>
            </a:r>
            <a:r>
              <a:rPr sz="1600" spc="-15"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array</a:t>
            </a:r>
            <a:r>
              <a:rPr sz="1600" spc="-25"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base</a:t>
            </a:r>
            <a:r>
              <a:rPr sz="1600" spc="-25"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addresses</a:t>
            </a:r>
            <a:r>
              <a:rPr sz="1600" spc="-25"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to</a:t>
            </a:r>
            <a:r>
              <a:rPr sz="1600" spc="-20"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a</a:t>
            </a:r>
            <a:r>
              <a:rPr sz="1600" spc="-20"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group</a:t>
            </a:r>
            <a:r>
              <a:rPr sz="1600" spc="-20"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of</a:t>
            </a:r>
            <a:r>
              <a:rPr sz="1600" spc="-20" dirty="0">
                <a:solidFill>
                  <a:sysClr val="windowText" lastClr="000000"/>
                </a:solidFill>
                <a:latin typeface="Palatino Linotype"/>
                <a:cs typeface="Palatino Linotype"/>
              </a:rPr>
              <a:t> </a:t>
            </a:r>
            <a:r>
              <a:rPr sz="1600" spc="-10" dirty="0">
                <a:solidFill>
                  <a:sysClr val="windowText" lastClr="000000"/>
                </a:solidFill>
                <a:latin typeface="Palatino Linotype"/>
                <a:cs typeface="Palatino Linotype"/>
              </a:rPr>
              <a:t>registers</a:t>
            </a:r>
            <a:endParaRPr sz="1600">
              <a:solidFill>
                <a:sysClr val="windowText" lastClr="000000"/>
              </a:solidFill>
              <a:latin typeface="Palatino Linotype"/>
              <a:cs typeface="Palatino Linotype"/>
            </a:endParaRPr>
          </a:p>
          <a:p>
            <a:pPr marL="697865" lvl="1" indent="-227965">
              <a:spcBef>
                <a:spcPts val="960"/>
              </a:spcBef>
              <a:buFont typeface="Wingdings"/>
              <a:buChar char=""/>
              <a:tabLst>
                <a:tab pos="697865" algn="l"/>
              </a:tabLst>
            </a:pPr>
            <a:r>
              <a:rPr sz="1600" dirty="0">
                <a:solidFill>
                  <a:sysClr val="windowText" lastClr="000000"/>
                </a:solidFill>
                <a:latin typeface="Palatino Linotype"/>
                <a:cs typeface="Palatino Linotype"/>
              </a:rPr>
              <a:t>Assign</a:t>
            </a:r>
            <a:r>
              <a:rPr sz="1600" spc="-45"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arithmetic</a:t>
            </a:r>
            <a:r>
              <a:rPr sz="1600" spc="-45"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computational</a:t>
            </a:r>
            <a:r>
              <a:rPr sz="1600" spc="-55"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values</a:t>
            </a:r>
            <a:r>
              <a:rPr sz="1600" spc="-50"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to</a:t>
            </a:r>
            <a:r>
              <a:rPr sz="1600" spc="-45"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another</a:t>
            </a:r>
            <a:r>
              <a:rPr sz="1600" spc="-45" dirty="0">
                <a:solidFill>
                  <a:sysClr val="windowText" lastClr="000000"/>
                </a:solidFill>
                <a:latin typeface="Palatino Linotype"/>
                <a:cs typeface="Palatino Linotype"/>
              </a:rPr>
              <a:t> </a:t>
            </a:r>
            <a:r>
              <a:rPr sz="1600" spc="-10" dirty="0">
                <a:solidFill>
                  <a:sysClr val="windowText" lastClr="000000"/>
                </a:solidFill>
                <a:latin typeface="Palatino Linotype"/>
                <a:cs typeface="Palatino Linotype"/>
              </a:rPr>
              <a:t>group</a:t>
            </a:r>
            <a:endParaRPr sz="1600">
              <a:solidFill>
                <a:sysClr val="windowText" lastClr="000000"/>
              </a:solidFill>
              <a:latin typeface="Palatino Linotype"/>
              <a:cs typeface="Palatino Linotype"/>
            </a:endParaRPr>
          </a:p>
          <a:p>
            <a:pPr marL="697865" lvl="1" indent="-227965">
              <a:spcBef>
                <a:spcPts val="980"/>
              </a:spcBef>
              <a:buFont typeface="Wingdings"/>
              <a:buChar char=""/>
              <a:tabLst>
                <a:tab pos="697865" algn="l"/>
              </a:tabLst>
            </a:pPr>
            <a:r>
              <a:rPr sz="1600" dirty="0">
                <a:solidFill>
                  <a:sysClr val="windowText" lastClr="000000"/>
                </a:solidFill>
                <a:latin typeface="Palatino Linotype"/>
                <a:cs typeface="Palatino Linotype"/>
              </a:rPr>
              <a:t>Assign</a:t>
            </a:r>
            <a:r>
              <a:rPr sz="1600" spc="-15"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the</a:t>
            </a:r>
            <a:r>
              <a:rPr sz="1600" spc="-25"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top</a:t>
            </a:r>
            <a:r>
              <a:rPr sz="1600" spc="-20"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of</a:t>
            </a:r>
            <a:r>
              <a:rPr sz="1600" spc="-20"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the</a:t>
            </a:r>
            <a:r>
              <a:rPr sz="1600" spc="-25"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stack</a:t>
            </a:r>
            <a:r>
              <a:rPr sz="1600" spc="-20"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to</a:t>
            </a:r>
            <a:r>
              <a:rPr sz="1600" spc="-20"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a</a:t>
            </a:r>
            <a:r>
              <a:rPr sz="1600" spc="-20"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fixed</a:t>
            </a:r>
            <a:r>
              <a:rPr sz="1600" spc="-25"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register</a:t>
            </a:r>
            <a:r>
              <a:rPr sz="1600" spc="-15" dirty="0">
                <a:solidFill>
                  <a:sysClr val="windowText" lastClr="000000"/>
                </a:solidFill>
                <a:latin typeface="Palatino Linotype"/>
                <a:cs typeface="Palatino Linotype"/>
              </a:rPr>
              <a:t> </a:t>
            </a:r>
            <a:r>
              <a:rPr sz="1600" spc="-50" dirty="0">
                <a:solidFill>
                  <a:sysClr val="windowText" lastClr="000000"/>
                </a:solidFill>
                <a:latin typeface="Palatino Linotype"/>
                <a:cs typeface="Palatino Linotype"/>
              </a:rPr>
              <a:t>…</a:t>
            </a:r>
            <a:endParaRPr sz="1600">
              <a:solidFill>
                <a:sysClr val="windowText" lastClr="000000"/>
              </a:solidFill>
              <a:latin typeface="Palatino Linotype"/>
              <a:cs typeface="Palatino Linotype"/>
            </a:endParaRPr>
          </a:p>
          <a:p>
            <a:pPr marL="0" lvl="1">
              <a:spcBef>
                <a:spcPts val="130"/>
              </a:spcBef>
              <a:buFont typeface="Wingdings"/>
              <a:buChar char=""/>
            </a:pPr>
            <a:endParaRPr sz="1600">
              <a:solidFill>
                <a:sysClr val="windowText" lastClr="000000"/>
              </a:solidFill>
              <a:latin typeface="Palatino Linotype"/>
              <a:cs typeface="Palatino Linotype"/>
            </a:endParaRPr>
          </a:p>
          <a:p>
            <a:pPr marL="242570" indent="-229870">
              <a:buClr>
                <a:srgbClr val="000000"/>
              </a:buClr>
              <a:buFont typeface="Arial MT"/>
              <a:buChar char="•"/>
              <a:tabLst>
                <a:tab pos="242570" algn="l"/>
              </a:tabLst>
            </a:pPr>
            <a:r>
              <a:rPr sz="2000" spc="-10" dirty="0">
                <a:solidFill>
                  <a:srgbClr val="0432FF"/>
                </a:solidFill>
                <a:latin typeface="Palatino Linotype"/>
                <a:cs typeface="Palatino Linotype"/>
              </a:rPr>
              <a:t>Advantage:</a:t>
            </a:r>
            <a:r>
              <a:rPr sz="2000" spc="-30" dirty="0">
                <a:solidFill>
                  <a:srgbClr val="0432FF"/>
                </a:solidFill>
                <a:latin typeface="Palatino Linotype"/>
                <a:cs typeface="Palatino Linotype"/>
              </a:rPr>
              <a:t> </a:t>
            </a:r>
            <a:r>
              <a:rPr sz="2000" dirty="0">
                <a:solidFill>
                  <a:sysClr val="windowText" lastClr="000000"/>
                </a:solidFill>
                <a:latin typeface="Palatino Linotype"/>
                <a:cs typeface="Palatino Linotype"/>
              </a:rPr>
              <a:t>Simplifies</a:t>
            </a:r>
            <a:r>
              <a:rPr sz="2000" spc="-3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the</a:t>
            </a:r>
            <a:r>
              <a:rPr sz="2000" spc="-3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design</a:t>
            </a:r>
            <a:r>
              <a:rPr sz="2000" spc="-3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and</a:t>
            </a:r>
            <a:r>
              <a:rPr sz="2000" spc="-2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implementation</a:t>
            </a:r>
            <a:r>
              <a:rPr sz="2000" spc="-3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of</a:t>
            </a:r>
            <a:r>
              <a:rPr sz="2000" spc="-3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a</a:t>
            </a:r>
            <a:r>
              <a:rPr sz="2000" spc="-30" dirty="0">
                <a:solidFill>
                  <a:sysClr val="windowText" lastClr="000000"/>
                </a:solidFill>
                <a:latin typeface="Palatino Linotype"/>
                <a:cs typeface="Palatino Linotype"/>
              </a:rPr>
              <a:t> </a:t>
            </a:r>
            <a:r>
              <a:rPr sz="2000" spc="-10" dirty="0">
                <a:solidFill>
                  <a:sysClr val="windowText" lastClr="000000"/>
                </a:solidFill>
                <a:latin typeface="Palatino Linotype"/>
                <a:cs typeface="Palatino Linotype"/>
              </a:rPr>
              <a:t>compiler</a:t>
            </a:r>
            <a:endParaRPr sz="2000">
              <a:solidFill>
                <a:sysClr val="windowText" lastClr="000000"/>
              </a:solidFill>
              <a:latin typeface="Palatino Linotype"/>
              <a:cs typeface="Palatino Linotype"/>
            </a:endParaRPr>
          </a:p>
          <a:p>
            <a:pPr marL="242570" indent="-229870">
              <a:spcBef>
                <a:spcPts val="2210"/>
              </a:spcBef>
              <a:buClr>
                <a:srgbClr val="000000"/>
              </a:buClr>
              <a:buFont typeface="Arial MT"/>
              <a:buChar char="•"/>
              <a:tabLst>
                <a:tab pos="242570" algn="l"/>
              </a:tabLst>
            </a:pPr>
            <a:r>
              <a:rPr sz="2000" spc="-10" dirty="0">
                <a:solidFill>
                  <a:srgbClr val="FF0000"/>
                </a:solidFill>
                <a:latin typeface="Palatino Linotype"/>
                <a:cs typeface="Palatino Linotype"/>
              </a:rPr>
              <a:t>Disadvantage:</a:t>
            </a:r>
            <a:r>
              <a:rPr sz="2000" spc="-35" dirty="0">
                <a:solidFill>
                  <a:srgbClr val="FF0000"/>
                </a:solidFill>
                <a:latin typeface="Palatino Linotype"/>
                <a:cs typeface="Palatino Linotype"/>
              </a:rPr>
              <a:t> </a:t>
            </a:r>
            <a:r>
              <a:rPr sz="2000" dirty="0">
                <a:solidFill>
                  <a:sysClr val="windowText" lastClr="000000"/>
                </a:solidFill>
                <a:latin typeface="Palatino Linotype"/>
                <a:cs typeface="Palatino Linotype"/>
              </a:rPr>
              <a:t>Inefficient</a:t>
            </a:r>
            <a:r>
              <a:rPr sz="2000" spc="-3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uses</a:t>
            </a:r>
            <a:r>
              <a:rPr sz="2000" spc="-3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of</a:t>
            </a:r>
            <a:r>
              <a:rPr sz="2000" spc="-35" dirty="0">
                <a:solidFill>
                  <a:sysClr val="windowText" lastClr="000000"/>
                </a:solidFill>
                <a:latin typeface="Palatino Linotype"/>
                <a:cs typeface="Palatino Linotype"/>
              </a:rPr>
              <a:t> </a:t>
            </a:r>
            <a:r>
              <a:rPr sz="2000" spc="-10" dirty="0">
                <a:solidFill>
                  <a:sysClr val="windowText" lastClr="000000"/>
                </a:solidFill>
                <a:latin typeface="Palatino Linotype"/>
                <a:cs typeface="Palatino Linotype"/>
              </a:rPr>
              <a:t>registers</a:t>
            </a:r>
            <a:endParaRPr sz="2000">
              <a:solidFill>
                <a:sysClr val="windowText" lastClr="000000"/>
              </a:solidFill>
              <a:latin typeface="Palatino Linotype"/>
              <a:cs typeface="Palatino Linotype"/>
            </a:endParaRPr>
          </a:p>
          <a:p>
            <a:pPr marL="697865" marR="479425" lvl="1" indent="-228600">
              <a:lnSpc>
                <a:spcPct val="120000"/>
              </a:lnSpc>
              <a:spcBef>
                <a:spcPts val="655"/>
              </a:spcBef>
              <a:buFont typeface="Wingdings"/>
              <a:buChar char=""/>
              <a:tabLst>
                <a:tab pos="697865" algn="l"/>
              </a:tabLst>
            </a:pPr>
            <a:r>
              <a:rPr dirty="0">
                <a:solidFill>
                  <a:sysClr val="windowText" lastClr="000000"/>
                </a:solidFill>
                <a:latin typeface="Palatino Linotype"/>
                <a:cs typeface="Palatino Linotype"/>
              </a:rPr>
              <a:t>Certain</a:t>
            </a:r>
            <a:r>
              <a:rPr spc="-40"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registers</a:t>
            </a:r>
            <a:r>
              <a:rPr spc="-40"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may</a:t>
            </a:r>
            <a:r>
              <a:rPr spc="-40"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go</a:t>
            </a:r>
            <a:r>
              <a:rPr spc="-35"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unused,</a:t>
            </a:r>
            <a:r>
              <a:rPr spc="-35"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while</a:t>
            </a:r>
            <a:r>
              <a:rPr spc="-35"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many</a:t>
            </a:r>
            <a:r>
              <a:rPr spc="-45"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loads</a:t>
            </a:r>
            <a:r>
              <a:rPr spc="-40"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and</a:t>
            </a:r>
            <a:r>
              <a:rPr spc="-35"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stores</a:t>
            </a:r>
            <a:r>
              <a:rPr spc="-40" dirty="0">
                <a:solidFill>
                  <a:sysClr val="windowText" lastClr="000000"/>
                </a:solidFill>
                <a:latin typeface="Palatino Linotype"/>
                <a:cs typeface="Palatino Linotype"/>
              </a:rPr>
              <a:t> </a:t>
            </a:r>
            <a:r>
              <a:rPr spc="-25" dirty="0">
                <a:solidFill>
                  <a:sysClr val="windowText" lastClr="000000"/>
                </a:solidFill>
                <a:latin typeface="Palatino Linotype"/>
                <a:cs typeface="Palatino Linotype"/>
              </a:rPr>
              <a:t>are </a:t>
            </a:r>
            <a:r>
              <a:rPr dirty="0">
                <a:solidFill>
                  <a:sysClr val="windowText" lastClr="000000"/>
                </a:solidFill>
                <a:latin typeface="Palatino Linotype"/>
                <a:cs typeface="Palatino Linotype"/>
              </a:rPr>
              <a:t>generated</a:t>
            </a:r>
            <a:r>
              <a:rPr spc="-45"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for</a:t>
            </a:r>
            <a:r>
              <a:rPr spc="-40"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the</a:t>
            </a:r>
            <a:r>
              <a:rPr spc="-45"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other</a:t>
            </a:r>
            <a:r>
              <a:rPr spc="-40" dirty="0">
                <a:solidFill>
                  <a:sysClr val="windowText" lastClr="000000"/>
                </a:solidFill>
                <a:latin typeface="Palatino Linotype"/>
                <a:cs typeface="Palatino Linotype"/>
              </a:rPr>
              <a:t> </a:t>
            </a:r>
            <a:r>
              <a:rPr spc="-10" dirty="0">
                <a:solidFill>
                  <a:sysClr val="windowText" lastClr="000000"/>
                </a:solidFill>
                <a:latin typeface="Palatino Linotype"/>
                <a:cs typeface="Palatino Linotype"/>
              </a:rPr>
              <a:t>registers</a:t>
            </a:r>
            <a:endParaRPr>
              <a:solidFill>
                <a:sysClr val="windowText" lastClr="000000"/>
              </a:solidFill>
              <a:latin typeface="Palatino Linotype"/>
              <a:cs typeface="Palatino Linotype"/>
            </a:endParaRPr>
          </a:p>
          <a:p>
            <a:pPr marL="243204" marR="251460" indent="-230504">
              <a:lnSpc>
                <a:spcPct val="121000"/>
              </a:lnSpc>
              <a:spcBef>
                <a:spcPts val="1745"/>
              </a:spcBef>
              <a:buClr>
                <a:srgbClr val="000000"/>
              </a:buClr>
              <a:buFont typeface="Arial MT"/>
              <a:buChar char="•"/>
              <a:tabLst>
                <a:tab pos="243204" algn="l"/>
              </a:tabLst>
            </a:pPr>
            <a:r>
              <a:rPr sz="2000" dirty="0">
                <a:solidFill>
                  <a:srgbClr val="A6A6A6"/>
                </a:solidFill>
                <a:latin typeface="Palatino Linotype"/>
                <a:cs typeface="Palatino Linotype"/>
              </a:rPr>
              <a:t>It</a:t>
            </a:r>
            <a:r>
              <a:rPr sz="2000" spc="-45" dirty="0">
                <a:solidFill>
                  <a:srgbClr val="A6A6A6"/>
                </a:solidFill>
                <a:latin typeface="Palatino Linotype"/>
                <a:cs typeface="Palatino Linotype"/>
              </a:rPr>
              <a:t> </a:t>
            </a:r>
            <a:r>
              <a:rPr sz="2000" dirty="0">
                <a:solidFill>
                  <a:srgbClr val="A6A6A6"/>
                </a:solidFill>
                <a:latin typeface="Palatino Linotype"/>
                <a:cs typeface="Palatino Linotype"/>
              </a:rPr>
              <a:t>is</a:t>
            </a:r>
            <a:r>
              <a:rPr sz="2000" spc="-35" dirty="0">
                <a:solidFill>
                  <a:srgbClr val="A6A6A6"/>
                </a:solidFill>
                <a:latin typeface="Palatino Linotype"/>
                <a:cs typeface="Palatino Linotype"/>
              </a:rPr>
              <a:t> </a:t>
            </a:r>
            <a:r>
              <a:rPr sz="2000" dirty="0">
                <a:solidFill>
                  <a:srgbClr val="A6A6A6"/>
                </a:solidFill>
                <a:latin typeface="Palatino Linotype"/>
                <a:cs typeface="Palatino Linotype"/>
              </a:rPr>
              <a:t>reasonable</a:t>
            </a:r>
            <a:r>
              <a:rPr sz="2000" spc="-35" dirty="0">
                <a:solidFill>
                  <a:srgbClr val="A6A6A6"/>
                </a:solidFill>
                <a:latin typeface="Palatino Linotype"/>
                <a:cs typeface="Palatino Linotype"/>
              </a:rPr>
              <a:t> </a:t>
            </a:r>
            <a:r>
              <a:rPr sz="2000" dirty="0">
                <a:solidFill>
                  <a:srgbClr val="A6A6A6"/>
                </a:solidFill>
                <a:latin typeface="Palatino Linotype"/>
                <a:cs typeface="Palatino Linotype"/>
              </a:rPr>
              <a:t>to</a:t>
            </a:r>
            <a:r>
              <a:rPr sz="2000" spc="-40" dirty="0">
                <a:solidFill>
                  <a:srgbClr val="A6A6A6"/>
                </a:solidFill>
                <a:latin typeface="Palatino Linotype"/>
                <a:cs typeface="Palatino Linotype"/>
              </a:rPr>
              <a:t> </a:t>
            </a:r>
            <a:r>
              <a:rPr sz="2000" dirty="0">
                <a:solidFill>
                  <a:srgbClr val="A6A6A6"/>
                </a:solidFill>
                <a:latin typeface="Palatino Linotype"/>
                <a:cs typeface="Palatino Linotype"/>
              </a:rPr>
              <a:t>reserve</a:t>
            </a:r>
            <a:r>
              <a:rPr sz="2000" spc="-35" dirty="0">
                <a:solidFill>
                  <a:srgbClr val="A6A6A6"/>
                </a:solidFill>
                <a:latin typeface="Palatino Linotype"/>
                <a:cs typeface="Palatino Linotype"/>
              </a:rPr>
              <a:t> </a:t>
            </a:r>
            <a:r>
              <a:rPr sz="2000" dirty="0">
                <a:solidFill>
                  <a:srgbClr val="A6A6A6"/>
                </a:solidFill>
                <a:latin typeface="Palatino Linotype"/>
                <a:cs typeface="Palatino Linotype"/>
              </a:rPr>
              <a:t>a</a:t>
            </a:r>
            <a:r>
              <a:rPr sz="2000" spc="-35" dirty="0">
                <a:solidFill>
                  <a:srgbClr val="A6A6A6"/>
                </a:solidFill>
                <a:latin typeface="Palatino Linotype"/>
                <a:cs typeface="Palatino Linotype"/>
              </a:rPr>
              <a:t> </a:t>
            </a:r>
            <a:r>
              <a:rPr sz="2000" dirty="0">
                <a:solidFill>
                  <a:srgbClr val="A6A6A6"/>
                </a:solidFill>
                <a:latin typeface="Palatino Linotype"/>
                <a:cs typeface="Palatino Linotype"/>
              </a:rPr>
              <a:t>few</a:t>
            </a:r>
            <a:r>
              <a:rPr sz="2000" spc="-45" dirty="0">
                <a:solidFill>
                  <a:srgbClr val="A6A6A6"/>
                </a:solidFill>
                <a:latin typeface="Palatino Linotype"/>
                <a:cs typeface="Palatino Linotype"/>
              </a:rPr>
              <a:t> </a:t>
            </a:r>
            <a:r>
              <a:rPr sz="2000" dirty="0">
                <a:solidFill>
                  <a:srgbClr val="A6A6A6"/>
                </a:solidFill>
                <a:latin typeface="Palatino Linotype"/>
                <a:cs typeface="Palatino Linotype"/>
              </a:rPr>
              <a:t>registers</a:t>
            </a:r>
            <a:r>
              <a:rPr sz="2000" spc="-35" dirty="0">
                <a:solidFill>
                  <a:srgbClr val="A6A6A6"/>
                </a:solidFill>
                <a:latin typeface="Palatino Linotype"/>
                <a:cs typeface="Palatino Linotype"/>
              </a:rPr>
              <a:t> </a:t>
            </a:r>
            <a:r>
              <a:rPr sz="2000" dirty="0">
                <a:solidFill>
                  <a:srgbClr val="A6A6A6"/>
                </a:solidFill>
                <a:latin typeface="Palatino Linotype"/>
                <a:cs typeface="Palatino Linotype"/>
              </a:rPr>
              <a:t>for</a:t>
            </a:r>
            <a:r>
              <a:rPr sz="2000" spc="-40" dirty="0">
                <a:solidFill>
                  <a:srgbClr val="A6A6A6"/>
                </a:solidFill>
                <a:latin typeface="Palatino Linotype"/>
                <a:cs typeface="Palatino Linotype"/>
              </a:rPr>
              <a:t> </a:t>
            </a:r>
            <a:r>
              <a:rPr sz="2000" dirty="0">
                <a:solidFill>
                  <a:srgbClr val="A6A6A6"/>
                </a:solidFill>
                <a:latin typeface="Palatino Linotype"/>
                <a:cs typeface="Palatino Linotype"/>
              </a:rPr>
              <a:t>base</a:t>
            </a:r>
            <a:r>
              <a:rPr sz="2000" spc="-35" dirty="0">
                <a:solidFill>
                  <a:srgbClr val="A6A6A6"/>
                </a:solidFill>
                <a:latin typeface="Palatino Linotype"/>
                <a:cs typeface="Palatino Linotype"/>
              </a:rPr>
              <a:t> </a:t>
            </a:r>
            <a:r>
              <a:rPr sz="2000" dirty="0">
                <a:solidFill>
                  <a:srgbClr val="A6A6A6"/>
                </a:solidFill>
                <a:latin typeface="Palatino Linotype"/>
                <a:cs typeface="Palatino Linotype"/>
              </a:rPr>
              <a:t>addresses,</a:t>
            </a:r>
            <a:r>
              <a:rPr sz="2000" spc="-35" dirty="0">
                <a:solidFill>
                  <a:srgbClr val="A6A6A6"/>
                </a:solidFill>
                <a:latin typeface="Palatino Linotype"/>
                <a:cs typeface="Palatino Linotype"/>
              </a:rPr>
              <a:t> </a:t>
            </a:r>
            <a:r>
              <a:rPr sz="2000" spc="-10" dirty="0">
                <a:solidFill>
                  <a:srgbClr val="A6A6A6"/>
                </a:solidFill>
                <a:latin typeface="Palatino Linotype"/>
                <a:cs typeface="Palatino Linotype"/>
              </a:rPr>
              <a:t>stack </a:t>
            </a:r>
            <a:r>
              <a:rPr sz="2000" dirty="0">
                <a:solidFill>
                  <a:srgbClr val="A6A6A6"/>
                </a:solidFill>
                <a:latin typeface="Palatino Linotype"/>
                <a:cs typeface="Palatino Linotype"/>
              </a:rPr>
              <a:t>pointers,</a:t>
            </a:r>
            <a:r>
              <a:rPr sz="2000" spc="-30" dirty="0">
                <a:solidFill>
                  <a:srgbClr val="A6A6A6"/>
                </a:solidFill>
                <a:latin typeface="Palatino Linotype"/>
                <a:cs typeface="Palatino Linotype"/>
              </a:rPr>
              <a:t> </a:t>
            </a:r>
            <a:r>
              <a:rPr sz="2000" dirty="0">
                <a:solidFill>
                  <a:srgbClr val="A6A6A6"/>
                </a:solidFill>
                <a:latin typeface="Palatino Linotype"/>
                <a:cs typeface="Palatino Linotype"/>
              </a:rPr>
              <a:t>and</a:t>
            </a:r>
            <a:r>
              <a:rPr sz="2000" spc="-30" dirty="0">
                <a:solidFill>
                  <a:srgbClr val="A6A6A6"/>
                </a:solidFill>
                <a:latin typeface="Palatino Linotype"/>
                <a:cs typeface="Palatino Linotype"/>
              </a:rPr>
              <a:t> </a:t>
            </a:r>
            <a:r>
              <a:rPr sz="2000" dirty="0">
                <a:solidFill>
                  <a:srgbClr val="A6A6A6"/>
                </a:solidFill>
                <a:latin typeface="Palatino Linotype"/>
                <a:cs typeface="Palatino Linotype"/>
              </a:rPr>
              <a:t>the</a:t>
            </a:r>
            <a:r>
              <a:rPr sz="2000" spc="-30" dirty="0">
                <a:solidFill>
                  <a:srgbClr val="A6A6A6"/>
                </a:solidFill>
                <a:latin typeface="Palatino Linotype"/>
                <a:cs typeface="Palatino Linotype"/>
              </a:rPr>
              <a:t> </a:t>
            </a:r>
            <a:r>
              <a:rPr sz="2000" spc="-20" dirty="0">
                <a:solidFill>
                  <a:srgbClr val="A6A6A6"/>
                </a:solidFill>
                <a:latin typeface="Palatino Linotype"/>
                <a:cs typeface="Palatino Linotype"/>
              </a:rPr>
              <a:t>like</a:t>
            </a:r>
            <a:endParaRPr sz="2000">
              <a:solidFill>
                <a:sysClr val="windowText" lastClr="000000"/>
              </a:solidFill>
              <a:latin typeface="Palatino Linotype"/>
              <a:cs typeface="Palatino Linotype"/>
            </a:endParaRPr>
          </a:p>
        </p:txBody>
      </p:sp>
    </p:spTree>
    <p:extLst>
      <p:ext uri="{BB962C8B-B14F-4D97-AF65-F5344CB8AC3E}">
        <p14:creationId xmlns:p14="http://schemas.microsoft.com/office/powerpoint/2010/main" val="2173309053"/>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日期占位符 2"/>
          <p:cNvSpPr>
            <a:spLocks noGrp="1"/>
          </p:cNvSpPr>
          <p:nvPr>
            <p:ph type="dt" sz="half" idx="10"/>
          </p:nvPr>
        </p:nvSpPr>
        <p:spPr bwMode="auto"/>
        <p:txBody>
          <a:bodyPr/>
          <a:lstStyle/>
          <a:p>
            <a:pPr>
              <a:defRPr/>
            </a:pPr>
            <a:r>
              <a:rPr lang="en-US" altLang="zh-CN"/>
              <a:t>Fall 2024</a:t>
            </a:r>
            <a:endParaRPr/>
          </a:p>
        </p:txBody>
      </p:sp>
      <p:sp>
        <p:nvSpPr>
          <p:cNvPr id="4" name="页脚占位符 3"/>
          <p:cNvSpPr>
            <a:spLocks noGrp="1"/>
          </p:cNvSpPr>
          <p:nvPr>
            <p:ph type="ftr" sz="quarter" idx="11"/>
          </p:nvPr>
        </p:nvSpPr>
        <p:spPr bwMode="auto"/>
        <p:txBody>
          <a:bodyPr/>
          <a:lstStyle/>
          <a:p>
            <a:pPr>
              <a:defRPr/>
            </a:pPr>
            <a:r>
              <a:rPr lang="en-US"/>
              <a:t>BUPT Compilers</a:t>
            </a:r>
            <a:endParaRPr/>
          </a:p>
        </p:txBody>
      </p:sp>
      <p:sp>
        <p:nvSpPr>
          <p:cNvPr id="5" name="灯片编号占位符 4"/>
          <p:cNvSpPr>
            <a:spLocks noGrp="1"/>
          </p:cNvSpPr>
          <p:nvPr>
            <p:ph type="sldNum" sz="quarter" idx="12"/>
          </p:nvPr>
        </p:nvSpPr>
        <p:spPr bwMode="auto"/>
        <p:txBody>
          <a:bodyPr/>
          <a:lstStyle/>
          <a:p>
            <a:pPr>
              <a:defRPr/>
            </a:pPr>
            <a:fld id="{2FBC720A-3716-234A-B2DF-CBC7E48049F5}" type="slidenum">
              <a:rPr lang="en-US"/>
              <a:t>80</a:t>
            </a:fld>
            <a:endParaRPr lang="en-US"/>
          </a:p>
        </p:txBody>
      </p:sp>
      <p:sp>
        <p:nvSpPr>
          <p:cNvPr id="9" name="object 2">
            <a:extLst>
              <a:ext uri="{FF2B5EF4-FFF2-40B4-BE49-F238E27FC236}">
                <a16:creationId xmlns:a16="http://schemas.microsoft.com/office/drawing/2014/main" id="{AA6EBEED-6B6E-DDCB-315B-FA1BCBEBB341}"/>
              </a:ext>
            </a:extLst>
          </p:cNvPr>
          <p:cNvSpPr txBox="1">
            <a:spLocks/>
          </p:cNvSpPr>
          <p:nvPr/>
        </p:nvSpPr>
        <p:spPr>
          <a:xfrm>
            <a:off x="707390" y="524763"/>
            <a:ext cx="7729219" cy="635000"/>
          </a:xfrm>
          <a:prstGeom prst="rect">
            <a:avLst/>
          </a:prstGeom>
        </p:spPr>
        <p:txBody>
          <a:bodyPr vert="horz" wrap="square" lIns="0" tIns="12700" rIns="0" bIns="0" rtlCol="0">
            <a:spAutoFit/>
          </a:bodyPr>
          <a:lstStyle>
            <a:lvl1pPr>
              <a:defRPr sz="4000" b="1" i="0">
                <a:solidFill>
                  <a:schemeClr val="tx1"/>
                </a:solidFill>
                <a:latin typeface="Palatino Linotype"/>
                <a:ea typeface="+mj-ea"/>
                <a:cs typeface="Palatino Linotype"/>
              </a:defRPr>
            </a:lvl1p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4000" b="1" i="0" u="none" strike="noStrike" kern="0" cap="none" spc="0" normalizeH="0" baseline="0" noProof="0">
                <a:ln>
                  <a:noFill/>
                </a:ln>
                <a:solidFill>
                  <a:sysClr val="windowText" lastClr="000000"/>
                </a:solidFill>
                <a:effectLst/>
                <a:uLnTx/>
                <a:uFillTx/>
                <a:latin typeface="Palatino Linotype"/>
                <a:ea typeface="+mj-ea"/>
              </a:rPr>
              <a:t>Global</a:t>
            </a:r>
            <a:r>
              <a:rPr kumimoji="0" lang="en-US" sz="4000" b="1" i="0" u="none" strike="noStrike" kern="0" cap="none" spc="-105" normalizeH="0" baseline="0" noProof="0">
                <a:ln>
                  <a:noFill/>
                </a:ln>
                <a:solidFill>
                  <a:sysClr val="windowText" lastClr="000000"/>
                </a:solidFill>
                <a:effectLst/>
                <a:uLnTx/>
                <a:uFillTx/>
                <a:latin typeface="Palatino Linotype"/>
                <a:ea typeface="+mj-ea"/>
              </a:rPr>
              <a:t> </a:t>
            </a:r>
            <a:r>
              <a:rPr kumimoji="0" lang="en-US" sz="4000" b="1" i="0" u="none" strike="noStrike" kern="0" cap="none" spc="0" normalizeH="0" baseline="0" noProof="0">
                <a:ln>
                  <a:noFill/>
                </a:ln>
                <a:solidFill>
                  <a:sysClr val="windowText" lastClr="000000"/>
                </a:solidFill>
                <a:effectLst/>
                <a:uLnTx/>
                <a:uFillTx/>
                <a:latin typeface="Palatino Linotype"/>
                <a:ea typeface="+mj-ea"/>
              </a:rPr>
              <a:t>Register</a:t>
            </a:r>
            <a:r>
              <a:rPr kumimoji="0" lang="en-US" sz="4000" b="1" i="0" u="none" strike="noStrike" kern="0" cap="none" spc="-105" normalizeH="0" baseline="0" noProof="0">
                <a:ln>
                  <a:noFill/>
                </a:ln>
                <a:solidFill>
                  <a:sysClr val="windowText" lastClr="000000"/>
                </a:solidFill>
                <a:effectLst/>
                <a:uLnTx/>
                <a:uFillTx/>
                <a:latin typeface="Palatino Linotype"/>
                <a:ea typeface="+mj-ea"/>
              </a:rPr>
              <a:t> </a:t>
            </a:r>
            <a:r>
              <a:rPr kumimoji="0" lang="en-US" sz="4000" b="1" i="0" u="none" strike="noStrike" kern="0" cap="none" spc="-10" normalizeH="0" baseline="0" noProof="0">
                <a:ln>
                  <a:noFill/>
                </a:ln>
                <a:solidFill>
                  <a:sysClr val="windowText" lastClr="000000"/>
                </a:solidFill>
                <a:effectLst/>
                <a:uLnTx/>
                <a:uFillTx/>
                <a:latin typeface="Palatino Linotype"/>
                <a:ea typeface="+mj-ea"/>
              </a:rPr>
              <a:t>Allocation</a:t>
            </a:r>
            <a:endParaRPr kumimoji="0" lang="en-US" sz="4000" b="1" i="0" u="none" strike="noStrike" kern="0" cap="none" spc="-10" normalizeH="0" baseline="0" noProof="0" dirty="0">
              <a:ln>
                <a:noFill/>
              </a:ln>
              <a:solidFill>
                <a:sysClr val="windowText" lastClr="000000"/>
              </a:solidFill>
              <a:effectLst/>
              <a:uLnTx/>
              <a:uFillTx/>
              <a:latin typeface="Palatino Linotype"/>
              <a:ea typeface="+mj-ea"/>
            </a:endParaRPr>
          </a:p>
        </p:txBody>
      </p:sp>
      <p:sp>
        <p:nvSpPr>
          <p:cNvPr id="10" name="object 3">
            <a:extLst>
              <a:ext uri="{FF2B5EF4-FFF2-40B4-BE49-F238E27FC236}">
                <a16:creationId xmlns:a16="http://schemas.microsoft.com/office/drawing/2014/main" id="{FDC5ACAE-8036-397C-24BE-317C4B28D7C5}"/>
              </a:ext>
            </a:extLst>
          </p:cNvPr>
          <p:cNvSpPr txBox="1"/>
          <p:nvPr/>
        </p:nvSpPr>
        <p:spPr>
          <a:xfrm>
            <a:off x="707390" y="1610867"/>
            <a:ext cx="7706359" cy="4466590"/>
          </a:xfrm>
          <a:prstGeom prst="rect">
            <a:avLst/>
          </a:prstGeom>
        </p:spPr>
        <p:txBody>
          <a:bodyPr vert="horz" wrap="square" lIns="0" tIns="12700" rIns="0" bIns="0" rtlCol="0">
            <a:spAutoFit/>
          </a:bodyPr>
          <a:lstStyle/>
          <a:p>
            <a:pPr marL="242570" marR="5080" indent="-230504">
              <a:lnSpc>
                <a:spcPct val="115999"/>
              </a:lnSpc>
              <a:spcBef>
                <a:spcPts val="100"/>
              </a:spcBef>
              <a:buFont typeface="Arial MT"/>
              <a:buChar char="•"/>
              <a:tabLst>
                <a:tab pos="242570" algn="l"/>
              </a:tabLst>
            </a:pPr>
            <a:r>
              <a:rPr sz="2000" dirty="0">
                <a:solidFill>
                  <a:sysClr val="windowText" lastClr="000000"/>
                </a:solidFill>
                <a:latin typeface="Palatino Linotype"/>
                <a:cs typeface="Palatino Linotype"/>
              </a:rPr>
              <a:t>The</a:t>
            </a:r>
            <a:r>
              <a:rPr sz="2000" spc="-3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earlier</a:t>
            </a:r>
            <a:r>
              <a:rPr sz="2000" spc="-4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algorithm</a:t>
            </a:r>
            <a:r>
              <a:rPr sz="2000" spc="-4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uses</a:t>
            </a:r>
            <a:r>
              <a:rPr sz="2000" spc="-3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registers</a:t>
            </a:r>
            <a:r>
              <a:rPr sz="2000" spc="-3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to</a:t>
            </a:r>
            <a:r>
              <a:rPr sz="2000" spc="-4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hold</a:t>
            </a:r>
            <a:r>
              <a:rPr sz="2000" spc="-3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values</a:t>
            </a:r>
            <a:r>
              <a:rPr sz="2000" spc="-3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for</a:t>
            </a:r>
            <a:r>
              <a:rPr sz="2000" spc="-4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the</a:t>
            </a:r>
            <a:r>
              <a:rPr sz="2000" spc="-35" dirty="0">
                <a:solidFill>
                  <a:sysClr val="windowText" lastClr="000000"/>
                </a:solidFill>
                <a:latin typeface="Palatino Linotype"/>
                <a:cs typeface="Palatino Linotype"/>
              </a:rPr>
              <a:t> </a:t>
            </a:r>
            <a:r>
              <a:rPr sz="2000" spc="-10" dirty="0">
                <a:solidFill>
                  <a:sysClr val="windowText" lastClr="000000"/>
                </a:solidFill>
                <a:latin typeface="Palatino Linotype"/>
                <a:cs typeface="Palatino Linotype"/>
              </a:rPr>
              <a:t>duration </a:t>
            </a:r>
            <a:r>
              <a:rPr sz="2000" dirty="0">
                <a:solidFill>
                  <a:sysClr val="windowText" lastClr="000000"/>
                </a:solidFill>
                <a:latin typeface="Palatino Linotype"/>
                <a:cs typeface="Palatino Linotype"/>
              </a:rPr>
              <a:t>of</a:t>
            </a:r>
            <a:r>
              <a:rPr sz="2000" spc="-2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a</a:t>
            </a:r>
            <a:r>
              <a:rPr sz="2000" spc="-1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single</a:t>
            </a:r>
            <a:r>
              <a:rPr sz="2000" spc="-1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basic</a:t>
            </a:r>
            <a:r>
              <a:rPr sz="2000" spc="-25" dirty="0">
                <a:solidFill>
                  <a:sysClr val="windowText" lastClr="000000"/>
                </a:solidFill>
                <a:latin typeface="Palatino Linotype"/>
                <a:cs typeface="Palatino Linotype"/>
              </a:rPr>
              <a:t> </a:t>
            </a:r>
            <a:r>
              <a:rPr sz="2000" spc="-20" dirty="0">
                <a:solidFill>
                  <a:sysClr val="windowText" lastClr="000000"/>
                </a:solidFill>
                <a:latin typeface="Palatino Linotype"/>
                <a:cs typeface="Palatino Linotype"/>
              </a:rPr>
              <a:t>block</a:t>
            </a:r>
            <a:endParaRPr sz="2000">
              <a:solidFill>
                <a:sysClr val="windowText" lastClr="000000"/>
              </a:solidFill>
              <a:latin typeface="Palatino Linotype"/>
              <a:cs typeface="Palatino Linotype"/>
            </a:endParaRPr>
          </a:p>
          <a:p>
            <a:pPr marL="697865" lvl="1" indent="-227965">
              <a:spcBef>
                <a:spcPts val="1710"/>
              </a:spcBef>
              <a:buFont typeface="Wingdings"/>
              <a:buChar char=""/>
              <a:tabLst>
                <a:tab pos="697865" algn="l"/>
              </a:tabLst>
            </a:pPr>
            <a:r>
              <a:rPr dirty="0">
                <a:solidFill>
                  <a:sysClr val="windowText" lastClr="000000"/>
                </a:solidFill>
                <a:latin typeface="Palatino Linotype"/>
                <a:cs typeface="Palatino Linotype"/>
              </a:rPr>
              <a:t>All</a:t>
            </a:r>
            <a:r>
              <a:rPr spc="-40"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live</a:t>
            </a:r>
            <a:r>
              <a:rPr spc="-35" dirty="0">
                <a:solidFill>
                  <a:sysClr val="windowText" lastClr="000000"/>
                </a:solidFill>
                <a:latin typeface="Palatino Linotype"/>
                <a:cs typeface="Palatino Linotype"/>
              </a:rPr>
              <a:t> </a:t>
            </a:r>
            <a:r>
              <a:rPr spc="-10" dirty="0">
                <a:solidFill>
                  <a:sysClr val="windowText" lastClr="000000"/>
                </a:solidFill>
                <a:latin typeface="Palatino Linotype"/>
                <a:cs typeface="Palatino Linotype"/>
              </a:rPr>
              <a:t>variables</a:t>
            </a:r>
            <a:r>
              <a:rPr spc="-40"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were</a:t>
            </a:r>
            <a:r>
              <a:rPr spc="-35"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stored</a:t>
            </a:r>
            <a:r>
              <a:rPr spc="-35"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(if</a:t>
            </a:r>
            <a:r>
              <a:rPr spc="-35"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necessary)</a:t>
            </a:r>
            <a:r>
              <a:rPr spc="-35"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at</a:t>
            </a:r>
            <a:r>
              <a:rPr spc="-35"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the</a:t>
            </a:r>
            <a:r>
              <a:rPr spc="-35"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end</a:t>
            </a:r>
            <a:r>
              <a:rPr spc="-35"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of</a:t>
            </a:r>
            <a:r>
              <a:rPr spc="-35" dirty="0">
                <a:solidFill>
                  <a:sysClr val="windowText" lastClr="000000"/>
                </a:solidFill>
                <a:latin typeface="Palatino Linotype"/>
                <a:cs typeface="Palatino Linotype"/>
              </a:rPr>
              <a:t> </a:t>
            </a:r>
            <a:r>
              <a:rPr dirty="0">
                <a:solidFill>
                  <a:sysClr val="windowText" lastClr="000000"/>
                </a:solidFill>
                <a:latin typeface="Palatino Linotype"/>
                <a:cs typeface="Palatino Linotype"/>
              </a:rPr>
              <a:t>each</a:t>
            </a:r>
            <a:r>
              <a:rPr spc="-35" dirty="0">
                <a:solidFill>
                  <a:sysClr val="windowText" lastClr="000000"/>
                </a:solidFill>
                <a:latin typeface="Palatino Linotype"/>
                <a:cs typeface="Palatino Linotype"/>
              </a:rPr>
              <a:t> </a:t>
            </a:r>
            <a:r>
              <a:rPr spc="-10" dirty="0">
                <a:solidFill>
                  <a:sysClr val="windowText" lastClr="000000"/>
                </a:solidFill>
                <a:latin typeface="Palatino Linotype"/>
                <a:cs typeface="Palatino Linotype"/>
              </a:rPr>
              <a:t>block</a:t>
            </a:r>
            <a:endParaRPr>
              <a:solidFill>
                <a:sysClr val="windowText" lastClr="000000"/>
              </a:solidFill>
              <a:latin typeface="Palatino Linotype"/>
              <a:cs typeface="Palatino Linotype"/>
            </a:endParaRPr>
          </a:p>
          <a:p>
            <a:pPr marL="240665" marR="462280" indent="-228600" algn="just">
              <a:lnSpc>
                <a:spcPct val="121000"/>
              </a:lnSpc>
              <a:spcBef>
                <a:spcPts val="2320"/>
              </a:spcBef>
              <a:buFont typeface="Arial MT"/>
              <a:buChar char="•"/>
              <a:tabLst>
                <a:tab pos="242570" algn="l"/>
              </a:tabLst>
            </a:pPr>
            <a:r>
              <a:rPr sz="2000" spc="-30" dirty="0">
                <a:solidFill>
                  <a:sysClr val="windowText" lastClr="000000"/>
                </a:solidFill>
                <a:latin typeface="Palatino Linotype"/>
                <a:cs typeface="Palatino Linotype"/>
              </a:rPr>
              <a:t>To</a:t>
            </a:r>
            <a:r>
              <a:rPr sz="2000" spc="-5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save</a:t>
            </a:r>
            <a:r>
              <a:rPr sz="2000" spc="-4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stores</a:t>
            </a:r>
            <a:r>
              <a:rPr sz="2000" spc="-4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and</a:t>
            </a:r>
            <a:r>
              <a:rPr sz="2000" spc="-4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loads,</a:t>
            </a:r>
            <a:r>
              <a:rPr sz="2000" spc="-4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we</a:t>
            </a:r>
            <a:r>
              <a:rPr sz="2000" spc="-4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can</a:t>
            </a:r>
            <a:r>
              <a:rPr sz="2000" spc="-45" dirty="0">
                <a:solidFill>
                  <a:sysClr val="windowText" lastClr="000000"/>
                </a:solidFill>
                <a:latin typeface="Palatino Linotype"/>
                <a:cs typeface="Palatino Linotype"/>
              </a:rPr>
              <a:t> </a:t>
            </a:r>
            <a:r>
              <a:rPr sz="2000" dirty="0">
                <a:solidFill>
                  <a:srgbClr val="FF0000"/>
                </a:solidFill>
                <a:latin typeface="Palatino Linotype"/>
                <a:cs typeface="Palatino Linotype"/>
              </a:rPr>
              <a:t>assign</a:t>
            </a:r>
            <a:r>
              <a:rPr sz="2000" spc="-45" dirty="0">
                <a:solidFill>
                  <a:srgbClr val="FF0000"/>
                </a:solidFill>
                <a:latin typeface="Palatino Linotype"/>
                <a:cs typeface="Palatino Linotype"/>
              </a:rPr>
              <a:t> </a:t>
            </a:r>
            <a:r>
              <a:rPr sz="2000" dirty="0">
                <a:solidFill>
                  <a:srgbClr val="FF0000"/>
                </a:solidFill>
                <a:latin typeface="Palatino Linotype"/>
                <a:cs typeface="Palatino Linotype"/>
              </a:rPr>
              <a:t>registers</a:t>
            </a:r>
            <a:r>
              <a:rPr sz="2000" spc="-40" dirty="0">
                <a:solidFill>
                  <a:srgbClr val="FF0000"/>
                </a:solidFill>
                <a:latin typeface="Palatino Linotype"/>
                <a:cs typeface="Palatino Linotype"/>
              </a:rPr>
              <a:t> </a:t>
            </a:r>
            <a:r>
              <a:rPr sz="2000" dirty="0">
                <a:solidFill>
                  <a:srgbClr val="FF0000"/>
                </a:solidFill>
                <a:latin typeface="Palatino Linotype"/>
                <a:cs typeface="Palatino Linotype"/>
              </a:rPr>
              <a:t>to</a:t>
            </a:r>
            <a:r>
              <a:rPr sz="2000" spc="-50" dirty="0">
                <a:solidFill>
                  <a:srgbClr val="FF0000"/>
                </a:solidFill>
                <a:latin typeface="Palatino Linotype"/>
                <a:cs typeface="Palatino Linotype"/>
              </a:rPr>
              <a:t> </a:t>
            </a:r>
            <a:r>
              <a:rPr sz="2000" spc="-10" dirty="0">
                <a:solidFill>
                  <a:srgbClr val="FF0000"/>
                </a:solidFill>
                <a:latin typeface="Palatino Linotype"/>
                <a:cs typeface="Palatino Linotype"/>
              </a:rPr>
              <a:t>frequently 	</a:t>
            </a:r>
            <a:r>
              <a:rPr sz="2000" dirty="0">
                <a:solidFill>
                  <a:srgbClr val="FF0000"/>
                </a:solidFill>
                <a:latin typeface="Palatino Linotype"/>
                <a:cs typeface="Palatino Linotype"/>
              </a:rPr>
              <a:t>used</a:t>
            </a:r>
            <a:r>
              <a:rPr sz="2000" spc="-50" dirty="0">
                <a:solidFill>
                  <a:srgbClr val="FF0000"/>
                </a:solidFill>
                <a:latin typeface="Palatino Linotype"/>
                <a:cs typeface="Palatino Linotype"/>
              </a:rPr>
              <a:t> </a:t>
            </a:r>
            <a:r>
              <a:rPr sz="2000" dirty="0">
                <a:solidFill>
                  <a:srgbClr val="FF0000"/>
                </a:solidFill>
                <a:latin typeface="Palatino Linotype"/>
                <a:cs typeface="Palatino Linotype"/>
              </a:rPr>
              <a:t>variables</a:t>
            </a:r>
            <a:r>
              <a:rPr sz="2000" spc="-50" dirty="0">
                <a:solidFill>
                  <a:srgbClr val="FF0000"/>
                </a:solidFill>
                <a:latin typeface="Palatino Linotype"/>
                <a:cs typeface="Palatino Linotype"/>
              </a:rPr>
              <a:t> </a:t>
            </a:r>
            <a:r>
              <a:rPr sz="2000" dirty="0">
                <a:solidFill>
                  <a:sysClr val="windowText" lastClr="000000"/>
                </a:solidFill>
                <a:latin typeface="Palatino Linotype"/>
                <a:cs typeface="Palatino Linotype"/>
              </a:rPr>
              <a:t>and</a:t>
            </a:r>
            <a:r>
              <a:rPr sz="2000" spc="-4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keep</a:t>
            </a:r>
            <a:r>
              <a:rPr sz="2000" spc="-5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these</a:t>
            </a:r>
            <a:r>
              <a:rPr sz="2000" spc="-5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registers</a:t>
            </a:r>
            <a:r>
              <a:rPr sz="2000" spc="-4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consistent</a:t>
            </a:r>
            <a:r>
              <a:rPr sz="2000" spc="-5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across</a:t>
            </a:r>
            <a:r>
              <a:rPr sz="2000" spc="-45" dirty="0">
                <a:solidFill>
                  <a:sysClr val="windowText" lastClr="000000"/>
                </a:solidFill>
                <a:latin typeface="Palatino Linotype"/>
                <a:cs typeface="Palatino Linotype"/>
              </a:rPr>
              <a:t> </a:t>
            </a:r>
            <a:r>
              <a:rPr sz="2000" spc="-10" dirty="0">
                <a:solidFill>
                  <a:sysClr val="windowText" lastClr="000000"/>
                </a:solidFill>
                <a:latin typeface="Palatino Linotype"/>
                <a:cs typeface="Palatino Linotype"/>
              </a:rPr>
              <a:t>block 	</a:t>
            </a:r>
            <a:r>
              <a:rPr sz="2000" dirty="0">
                <a:solidFill>
                  <a:sysClr val="windowText" lastClr="000000"/>
                </a:solidFill>
                <a:latin typeface="Palatino Linotype"/>
                <a:cs typeface="Palatino Linotype"/>
              </a:rPr>
              <a:t>boundaries</a:t>
            </a:r>
            <a:r>
              <a:rPr sz="2000" spc="-65" dirty="0">
                <a:solidFill>
                  <a:sysClr val="windowText" lastClr="000000"/>
                </a:solidFill>
                <a:latin typeface="Palatino Linotype"/>
                <a:cs typeface="Palatino Linotype"/>
              </a:rPr>
              <a:t> </a:t>
            </a:r>
            <a:r>
              <a:rPr sz="2000" spc="-10" dirty="0">
                <a:solidFill>
                  <a:sysClr val="windowText" lastClr="000000"/>
                </a:solidFill>
                <a:latin typeface="Palatino Linotype"/>
                <a:cs typeface="Palatino Linotype"/>
              </a:rPr>
              <a:t>(</a:t>
            </a:r>
            <a:r>
              <a:rPr sz="2000" spc="-10" dirty="0">
                <a:solidFill>
                  <a:srgbClr val="FF0000"/>
                </a:solidFill>
                <a:latin typeface="Palatino Linotype"/>
                <a:cs typeface="Palatino Linotype"/>
              </a:rPr>
              <a:t>globally</a:t>
            </a:r>
            <a:r>
              <a:rPr sz="2000" spc="-10" dirty="0">
                <a:solidFill>
                  <a:sysClr val="windowText" lastClr="000000"/>
                </a:solidFill>
                <a:latin typeface="Palatino Linotype"/>
                <a:cs typeface="Palatino Linotype"/>
              </a:rPr>
              <a:t>)</a:t>
            </a:r>
            <a:endParaRPr sz="2000">
              <a:solidFill>
                <a:sysClr val="windowText" lastClr="000000"/>
              </a:solidFill>
              <a:latin typeface="Palatino Linotype"/>
              <a:cs typeface="Palatino Linotype"/>
            </a:endParaRPr>
          </a:p>
          <a:p>
            <a:pPr marL="697865" lvl="1" indent="-227965">
              <a:spcBef>
                <a:spcPts val="1600"/>
              </a:spcBef>
              <a:buFont typeface="Wingdings"/>
              <a:buChar char=""/>
              <a:tabLst>
                <a:tab pos="697865" algn="l"/>
              </a:tabLst>
            </a:pPr>
            <a:r>
              <a:rPr sz="1600" dirty="0">
                <a:solidFill>
                  <a:sysClr val="windowText" lastClr="000000"/>
                </a:solidFill>
                <a:latin typeface="Palatino Linotype"/>
                <a:cs typeface="Palatino Linotype"/>
              </a:rPr>
              <a:t>E.g.,</a:t>
            </a:r>
            <a:r>
              <a:rPr sz="1600" spc="-30"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assign</a:t>
            </a:r>
            <a:r>
              <a:rPr sz="1600" spc="-20"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certain</a:t>
            </a:r>
            <a:r>
              <a:rPr sz="1600" spc="-20"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registers</a:t>
            </a:r>
            <a:r>
              <a:rPr sz="1600" spc="-30"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to</a:t>
            </a:r>
            <a:r>
              <a:rPr sz="1600" spc="-30"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hold</a:t>
            </a:r>
            <a:r>
              <a:rPr sz="1600" spc="-30"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the</a:t>
            </a:r>
            <a:r>
              <a:rPr sz="1600" spc="-30"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most</a:t>
            </a:r>
            <a:r>
              <a:rPr sz="1600" spc="-25"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active</a:t>
            </a:r>
            <a:r>
              <a:rPr sz="1600" spc="-30"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values</a:t>
            </a:r>
            <a:r>
              <a:rPr sz="1600" spc="-30"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in</a:t>
            </a:r>
            <a:r>
              <a:rPr sz="1600" spc="-20" dirty="0">
                <a:solidFill>
                  <a:sysClr val="windowText" lastClr="000000"/>
                </a:solidFill>
                <a:latin typeface="Palatino Linotype"/>
                <a:cs typeface="Palatino Linotype"/>
              </a:rPr>
              <a:t> </a:t>
            </a:r>
            <a:r>
              <a:rPr sz="1600" dirty="0">
                <a:solidFill>
                  <a:sysClr val="windowText" lastClr="000000"/>
                </a:solidFill>
                <a:latin typeface="Palatino Linotype"/>
                <a:cs typeface="Palatino Linotype"/>
              </a:rPr>
              <a:t>a</a:t>
            </a:r>
            <a:r>
              <a:rPr sz="1600" spc="-30" dirty="0">
                <a:solidFill>
                  <a:sysClr val="windowText" lastClr="000000"/>
                </a:solidFill>
                <a:latin typeface="Palatino Linotype"/>
                <a:cs typeface="Palatino Linotype"/>
              </a:rPr>
              <a:t> </a:t>
            </a:r>
            <a:r>
              <a:rPr sz="1600" spc="-20" dirty="0">
                <a:solidFill>
                  <a:sysClr val="windowText" lastClr="000000"/>
                </a:solidFill>
                <a:latin typeface="Palatino Linotype"/>
                <a:cs typeface="Palatino Linotype"/>
              </a:rPr>
              <a:t>loop</a:t>
            </a:r>
            <a:endParaRPr sz="1600">
              <a:solidFill>
                <a:sysClr val="windowText" lastClr="000000"/>
              </a:solidFill>
              <a:latin typeface="Palatino Linotype"/>
              <a:cs typeface="Palatino Linotype"/>
            </a:endParaRPr>
          </a:p>
          <a:p>
            <a:pPr marL="0" lvl="1">
              <a:spcBef>
                <a:spcPts val="285"/>
              </a:spcBef>
              <a:buFont typeface="Wingdings"/>
              <a:buChar char=""/>
            </a:pPr>
            <a:endParaRPr sz="1600">
              <a:solidFill>
                <a:sysClr val="windowText" lastClr="000000"/>
              </a:solidFill>
              <a:latin typeface="Palatino Linotype"/>
              <a:cs typeface="Palatino Linotype"/>
            </a:endParaRPr>
          </a:p>
          <a:p>
            <a:pPr marL="242570" marR="27305" indent="-230504">
              <a:lnSpc>
                <a:spcPct val="118500"/>
              </a:lnSpc>
              <a:buFont typeface="Arial MT"/>
              <a:buChar char="•"/>
              <a:tabLst>
                <a:tab pos="242570" algn="l"/>
              </a:tabLst>
            </a:pPr>
            <a:r>
              <a:rPr sz="2000" dirty="0">
                <a:solidFill>
                  <a:sysClr val="windowText" lastClr="000000"/>
                </a:solidFill>
                <a:latin typeface="Palatino Linotype"/>
                <a:cs typeface="Palatino Linotype"/>
              </a:rPr>
              <a:t>Another</a:t>
            </a:r>
            <a:r>
              <a:rPr sz="2000" spc="-4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strategy</a:t>
            </a:r>
            <a:r>
              <a:rPr sz="2000" spc="-3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is</a:t>
            </a:r>
            <a:r>
              <a:rPr sz="2000" spc="-3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to</a:t>
            </a:r>
            <a:r>
              <a:rPr sz="2000" spc="-4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estimate</a:t>
            </a:r>
            <a:r>
              <a:rPr sz="2000" spc="-3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the</a:t>
            </a:r>
            <a:r>
              <a:rPr sz="2000" spc="-3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benefits</a:t>
            </a:r>
            <a:r>
              <a:rPr sz="2000" spc="-3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of</a:t>
            </a:r>
            <a:r>
              <a:rPr sz="2000" spc="-4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putting</a:t>
            </a:r>
            <a:r>
              <a:rPr sz="2000" spc="-3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a</a:t>
            </a:r>
            <a:r>
              <a:rPr sz="2000" spc="-3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variable</a:t>
            </a:r>
            <a:r>
              <a:rPr sz="2000" spc="-35" dirty="0">
                <a:solidFill>
                  <a:sysClr val="windowText" lastClr="000000"/>
                </a:solidFill>
                <a:latin typeface="Palatino Linotype"/>
                <a:cs typeface="Palatino Linotype"/>
              </a:rPr>
              <a:t> </a:t>
            </a:r>
            <a:r>
              <a:rPr sz="2000" spc="-25" dirty="0">
                <a:solidFill>
                  <a:sysClr val="windowText" lastClr="000000"/>
                </a:solidFill>
                <a:latin typeface="Palatino Linotype"/>
                <a:cs typeface="Palatino Linotype"/>
              </a:rPr>
              <a:t>in </a:t>
            </a:r>
            <a:r>
              <a:rPr sz="2000" dirty="0">
                <a:solidFill>
                  <a:sysClr val="windowText" lastClr="000000"/>
                </a:solidFill>
                <a:latin typeface="Palatino Linotype"/>
                <a:cs typeface="Palatino Linotype"/>
              </a:rPr>
              <a:t>register</a:t>
            </a:r>
            <a:r>
              <a:rPr sz="2000" spc="-4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(via</a:t>
            </a:r>
            <a:r>
              <a:rPr sz="2000" spc="-3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static</a:t>
            </a:r>
            <a:r>
              <a:rPr sz="2000" spc="-3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analysis</a:t>
            </a:r>
            <a:r>
              <a:rPr sz="2000" spc="-3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or</a:t>
            </a:r>
            <a:r>
              <a:rPr sz="2000" spc="-3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profiling)</a:t>
            </a:r>
            <a:r>
              <a:rPr sz="2000" spc="-3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and</a:t>
            </a:r>
            <a:r>
              <a:rPr sz="2000" spc="-3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allocate</a:t>
            </a:r>
            <a:r>
              <a:rPr sz="2000" spc="-30" dirty="0">
                <a:solidFill>
                  <a:sysClr val="windowText" lastClr="000000"/>
                </a:solidFill>
                <a:latin typeface="Palatino Linotype"/>
                <a:cs typeface="Palatino Linotype"/>
              </a:rPr>
              <a:t> </a:t>
            </a:r>
            <a:r>
              <a:rPr sz="2000" spc="-10" dirty="0">
                <a:solidFill>
                  <a:sysClr val="windowText" lastClr="000000"/>
                </a:solidFill>
                <a:latin typeface="Palatino Linotype"/>
                <a:cs typeface="Palatino Linotype"/>
              </a:rPr>
              <a:t>registers </a:t>
            </a:r>
            <a:r>
              <a:rPr sz="2000" dirty="0">
                <a:solidFill>
                  <a:sysClr val="windowText" lastClr="000000"/>
                </a:solidFill>
                <a:latin typeface="Palatino Linotype"/>
                <a:cs typeface="Palatino Linotype"/>
              </a:rPr>
              <a:t>according</a:t>
            </a:r>
            <a:r>
              <a:rPr sz="2000" spc="-25"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to</a:t>
            </a:r>
            <a:r>
              <a:rPr sz="2000" spc="-30" dirty="0">
                <a:solidFill>
                  <a:sysClr val="windowText" lastClr="000000"/>
                </a:solidFill>
                <a:latin typeface="Palatino Linotype"/>
                <a:cs typeface="Palatino Linotype"/>
              </a:rPr>
              <a:t> </a:t>
            </a:r>
            <a:r>
              <a:rPr sz="2000" dirty="0">
                <a:solidFill>
                  <a:sysClr val="windowText" lastClr="000000"/>
                </a:solidFill>
                <a:latin typeface="Palatino Linotype"/>
                <a:cs typeface="Palatino Linotype"/>
              </a:rPr>
              <a:t>the</a:t>
            </a:r>
            <a:r>
              <a:rPr sz="2000" spc="-25" dirty="0">
                <a:solidFill>
                  <a:sysClr val="windowText" lastClr="000000"/>
                </a:solidFill>
                <a:latin typeface="Palatino Linotype"/>
                <a:cs typeface="Palatino Linotype"/>
              </a:rPr>
              <a:t> </a:t>
            </a:r>
            <a:r>
              <a:rPr sz="2000" spc="-10" dirty="0">
                <a:solidFill>
                  <a:sysClr val="windowText" lastClr="000000"/>
                </a:solidFill>
                <a:latin typeface="Palatino Linotype"/>
                <a:cs typeface="Palatino Linotype"/>
              </a:rPr>
              <a:t>estimations</a:t>
            </a:r>
            <a:endParaRPr sz="2000">
              <a:solidFill>
                <a:sysClr val="windowText" lastClr="000000"/>
              </a:solidFill>
              <a:latin typeface="Palatino Linotype"/>
              <a:cs typeface="Palatino Linotype"/>
            </a:endParaRPr>
          </a:p>
        </p:txBody>
      </p:sp>
    </p:spTree>
    <p:extLst>
      <p:ext uri="{BB962C8B-B14F-4D97-AF65-F5344CB8AC3E}">
        <p14:creationId xmlns:p14="http://schemas.microsoft.com/office/powerpoint/2010/main" val="360915792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Arial"/>
        <a:cs typeface="Arial"/>
      </a:majorFont>
      <a:minorFont>
        <a:latin typeface="Calibri"/>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5699</TotalTime>
  <Words>19226</Words>
  <Application>Microsoft Office PowerPoint</Application>
  <DocSecurity>0</DocSecurity>
  <PresentationFormat>全屏显示(4:3)</PresentationFormat>
  <Paragraphs>1473</Paragraphs>
  <Slides>80</Slides>
  <Notes>80</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80</vt:i4>
      </vt:variant>
    </vt:vector>
  </HeadingPairs>
  <TitlesOfParts>
    <vt:vector size="94" baseType="lpstr">
      <vt:lpstr>Arial MT</vt:lpstr>
      <vt:lpstr>Ubuntu Mono derivative Powerlin</vt:lpstr>
      <vt:lpstr>等线</vt:lpstr>
      <vt:lpstr>黑体</vt:lpstr>
      <vt:lpstr>SimSun</vt:lpstr>
      <vt:lpstr>Arial</vt:lpstr>
      <vt:lpstr>Calibri</vt:lpstr>
      <vt:lpstr>Cambria Math</vt:lpstr>
      <vt:lpstr>Consolas</vt:lpstr>
      <vt:lpstr>Courier New</vt:lpstr>
      <vt:lpstr>Palatino Linotype</vt:lpstr>
      <vt:lpstr>Times New Roman</vt:lpstr>
      <vt:lpstr>Wingdings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0 xxx </dc:title>
  <dc:subject/>
  <dc:creator>胡 玉斌</dc:creator>
  <cp:keywords/>
  <dc:description/>
  <cp:lastModifiedBy>枫 项</cp:lastModifiedBy>
  <cp:revision>461</cp:revision>
  <dcterms:created xsi:type="dcterms:W3CDTF">2023-06-02T10:23:24Z</dcterms:created>
  <dcterms:modified xsi:type="dcterms:W3CDTF">2024-12-18T06:00:01Z</dcterms:modified>
  <cp:category/>
  <dc:identifier/>
  <cp:contentStatus/>
  <dc:language/>
  <cp:version/>
</cp:coreProperties>
</file>